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несоответствия.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прогоняет тесты, и код оказывается почти бесплатным. Одновременно летом две тысячи двадцать пятого года исследовательская группа при Массачусетском технологическом институте опубликовала отчёт, растиражированный прессой как «девяносто пять процентов организаций получают нулевую отдачу от генеративного искусственного интеллекта».</a:t>
            </a:r>
          </a:p>
          <a:p>
            <a:r>
              <a:t>Саму цифру стоит откалибровать сразу, потому что заголовок скрывает знаменатель. Воронка отчёта устроена так: шестьдесят процентов организаций вообще изучали возможность применения, двадцать процентов дошли до пилотного проекта, и пять процентов успешно внедрили. Посчитайте от тех, кто реально запустил пилот: приживается примерно каждый четвёртый. В заголовке — каждый двадцатый. Это заметно выше пугающего заголовка — и всё равно отрезвляюще низко: три пилота из четырёх, доведённых до запуска, не доживают до применения. Есть и нюанс в самом отчёте: все четыре его автора одновременно строят или продают собственные продукты в области автономных агентов через тот же исследовательский проект, и это стоит держать в уме при чтении любого громкого отчёта об эффективности технологии.</a:t>
            </a:r>
          </a:p>
          <a:p>
            <a:r>
              <a:t>Несоответствие не разрешится сейчас — это итоговый вывод всей лекции, к нему лекция вернётся в самом конце. Но его форму стоит зафиксировать сразу: сборка стала почти бесплатной, а превращение сборки в реальную ценность — нет. Именно этот разрыв — предмет сегодняшнего разговора.</a:t>
            </a:r>
          </a:p>
          <a:p>
            <a:r>
              <a:t>Дальше лекция проходит весь жизненный цикл продукта: от намерения через исследование, дизайн, сборку, измерение, эксплуатацию — и на каждой фазе задаёт один и тот же вопрос: что здесь удешевил искусственный интеллект, а что осталось дорогим и человеческим. Полезно заранее знать, куда это ведёт. Дешёвая сборка снимает ровно одно ограничение — стоимость изготовления. Всё, что отвечало за решение «стоит ли это изготавливать» и за проверку «сработало ли оно», осталось на месте и стоит примерно столько же, сколько стоило раньше.</a:t>
            </a:r>
          </a:p>
          <a:p>
            <a:r>
              <a:t>Источники:</a:t>
            </a:r>
          </a:p>
          <a:p>
            <a:r>
              <a:t>[1] Anthropic — 2026 Agentic Coding Trends Report — внутренний опыт: недели → часы; сверено по вторичным источникам (PDF напрямую не читается). https://resources.anthropic.com/2026-agentic-coding-trends-report Цифра быстро устаревает — сверить перед лекцией.</a:t>
            </a:r>
          </a:p>
          <a:p>
            <a:r>
              <a:t>[2] MIT NANDA — «The GenAI Divide» (июль 2025, v0.1) — «95% пилотов — ноль отдачи»: нерецензированный препринт, требует калибровки — разбор этой цифры идёт в разделе про управление. https://mlq.ai/media/quarterly_decks/v0.1_State_of_AI_in_Business_2025_Report.pdf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разбирала жизненный цикл кода. Сегодняшняя — это смена масштаба: код оказывается одной, теперь резко подешевевшей фазой внутри гораздо более широкого жизненного цикла продукта.</a:t>
            </a:r>
          </a:p>
          <a:p>
            <a:r>
              <a:t>Аудитория этого курса технически сильна и ежедневно пишет код с ассистентами, но большинство продуктовых дисциплин — исследование клиентов, дизайн-мышление, продуктовые эксперименты, эксплуатацию по модели инженерии надёжности — видит, скорее всего, впервые. Поэтому каждый из шести разделов начинается с классической базы: откуда взялась дисциплина и какую проблему она решает без единого упоминания искусственного интеллекта. Только после этого разбирается, что меняет искусственный интеллект и где он ломается.</a:t>
            </a:r>
          </a:p>
          <a:p>
            <a:r>
              <a:t>Это не формальность ради полноты программы. Инженер, знающий только, как быстро собрать артефакт, но не знающий, зачем существует исследование клиентов, эвристики дизайна или продуктовый эксперимент, рискует принять решение, которое технически исполнено безупречно и при этом продуктово бессмысленно или опасно. Структура лекции применяет к себе тот же принцип, которому учит: чтобы судить, когда инструмент уместен, нужно сначала понимать, что существовало до него и зачем. Это тот же довод, который движет всем курсом: инструмент оценивается по одному — понимает ли применяющий его человек границы применимости. Впечатление от демонстрации сюда не входит.</a:t>
            </a:r>
          </a:p>
          <a:p>
            <a:r>
              <a:t>Дорожная карта простая: шесть разделов — шесть стрелок одной петли. Исследование — откуда берётся гипотеза. Дизайн — как гипотеза становится артефактом. Сборка и запуск — как артефакт становится работающим продуктом. Измерение — как проверить, сработало ли это на самом деле. Поддержка — что происходит, когда продукт живёт с реальными пользователями без остановки. Управление — как организация решает, во что вкладывать дальше. Седьмой раздел собирает всё в матрицу и чек-лист, которым можно прогнать любую незнакомую инициативу с искусственным интеллектом.</a:t>
            </a:r>
          </a:p>
          <a:p>
            <a:r>
              <a:t>Одна деталь дорожной карты важна с самого начала: последняя стрелка возвращается в первую. Управленческое решение и сигнал из эксплуатации меняют то, что исследуется в следующий раз, — поэтому карта и нарисована кругом. Этот же круг будет возвращаться на слайды весь дальнейший разговор: сначала как карта лекции, потом как перечень вопросов, на которые продукт обязан ответить, и наконец как набор стрелок, каждая из которых подешевела по-своему.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лекции, и она нарисована кругом — это принципиально. Шесть разделов — шесть стрелок одной петли.</a:t>
            </a:r>
          </a:p>
          <a:p>
            <a:r>
              <a:t>Точка входа в центре — намерение. Из него растёт исследование, где рождается гипотеза о том, что строить. Гипотеза проходит через дизайн, превращаясь в конкретный артефакт, который можно показать человеку. Артефакт проходит через сборку и запуск, становясь работающим продуктом. Дальше измерение: проверка, дало ли изменение предсказанный эффект. Поддержка — то, что происходит, когда продукт уже живёт с реальными пользователями без остановки. И управление — организационный уровень, на котором решается, продолжать вкладывать, масштабировать или остановиться.</a:t>
            </a:r>
          </a:p>
          <a:p>
            <a:r>
              <a:t>Что отличает эту карту от простого списка: последняя стрелка возвращается в первую, и на схеме она выделена золотым. Сигнал из эксплуатации и управленческое решение меняют то, что исследуется в следующий раз. Именно поэтому в конце лекции разговор вернётся к тому же кругу — только с полным пониманием, что происходит на каждой стрелке.</a:t>
            </a:r>
          </a:p>
          <a:p>
            <a:r>
              <a:t>Есть и практическая причина рисовать именно петлю. Если одна отдельная стрелка резко дешевеет — а сегодня это стрелка сборки, — весь цикл целиком от этого не ускоряется. Ускорение одной стрелки без остальных перемещает узкое место на следующую, ещё не подешевевшую, и делает его острее. Этот эффект будет виден измеренным в разделе про сборку и запуск: команды, которые пишут код в разы быстрее, чем раньше, упираются в ревью и проверку — в стрелку, которая не подешевела вместе с остальными.</a:t>
            </a:r>
          </a:p>
          <a:p>
            <a:r>
              <a:t>Отсюда практический способ читать всю дальнейшую лекцию. Спрашивать, применим ли здесь искусственный интеллект, бесполезно: почти всегда применим. Работающий вопрос другой — куда переместилось узкое место после того, как эта стрелка подешевела. Ответ на каждой из шести стрелок будет свой, и он собирается в единую картину только к концу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разбираться, как устроена петля, ответим на вопрос практичнее: что происходит с продуктом, у которого цикла нет. Ответ здесь конкретный — последовательность событий, которую можно перечислить.</a:t>
            </a:r>
          </a:p>
          <a:p>
            <a:r>
              <a:t>Продукт обязан закрыть пять вопросов. Нужна ли эта штука кому-то вообще. Сможет ли человек ей воспользоваться и не пострадает ли тот, о ком не подумали. Можем ли мы это сделать и безопасно выпустить. Выберут ли это настолько, чтобы за это платить. И пятый, открывающийся только после запуска: держатся ли все четыре ответа во времени. Первые четыре — риски продукта по Марти Кагану: ценность, удобство использования, реализуемость, жизнеспособность бизнеса. Терминология тут вторична, работает структура: у каждого вопроса своя фаза. Цикл — минимальный набор мест, где на эти вопросы отвечают наблюдением. Ритуала поверх инженерной работы в нём нет.</a:t>
            </a:r>
          </a:p>
          <a:p>
            <a:r>
              <a:t>Что происходит без цикла, описывается по шагам. Команда без записанных заранее ответов не остаётся без ответов вовсе — она фиксирует их как факты, обычно оптимистичные, строит на этом фундаменте и узнаёт правду в момент, когда обнаружение стоит максимально дорого: сборка оплачена, релиз состоялся, откат дороже самой ошибки. У этого есть полувековая история измерения: по оценке Барри Боэма на данных проектов семидесятых разрыв стоимости исправления между этапом требований и выпуском доходит до ста раз в крупных проектах и примерно вчетверо в небольших. Множитель сильно зависит от того, насколько быстро цикл замыкается, и физической константой не является. Цикл не устраняет ошибку в гипотезе о пользователе — он двигает момент её обнаружения влево, в дешёвую зону: там ошибка стоит разговора, а оплаченная сборка ещё впереди.</a:t>
            </a:r>
          </a:p>
          <a:p>
            <a:r>
              <a:t>Третье следствие тяжелее прочих: когда критерий остановки не записан заранее, нет способа отличить «остановились, потому что данные сказали нет» от «сдались, потому что устали». Якорь появится в разделе про исследование: продукт, чья сборка прошла полностью и стоила шестьдесят два миллиона долларов, до реального применения не дошёл ни разу.</a:t>
            </a:r>
          </a:p>
          <a:p>
            <a:r>
              <a:t>И поворот, который делает всё это темой именно этой лекции. До генеративных моделей стоимость сборки работала заслоном против ровно такого сценария: писать код было дорого, и одна дороговизна вынуждала думать заранее. Искусственный интеллект обнулил именно эту стоимость — и вместе с ней исчез единственный защитный механизм, который был у команд, никогда не имевших явного цикла.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центральный аналитический инструмент лекции: искусственный интеллект меняет стоимость и доверие каждой стрелки петли асимметрично.</a:t>
            </a:r>
          </a:p>
          <a:p>
            <a:r>
              <a:t>Стрелка «строить» — стоимость почти обнулилась: написание кода, черновика макета, первого прототипа исследования на порядки дешевле, чем пять лет назад. Стрелки «измерять» и «делать выводы» — стоимость осталась прежней, а доверие к результату упало: сам инструмент измерения стал вероятностным и уязвимым к подгонке под метрику. Стрелка «наблюдать за работающим продуктом» стала быстрее и одновременно уязвимее: скорость наблюдения выросла, но возможность быстро реагировать превращается в слабое место, если наблюдаемые данные можно подменить.</a:t>
            </a:r>
          </a:p>
          <a:p>
            <a:r>
              <a:t>Стоит задержаться на наблюдении: здесь интуиция подводит чаще всего. Цикл наблюдения и действия, описанный военным лётчиком Джоном Бойдом как последовательность «наблюдай, ориентируйся, решай, действуй», родился в противоборствующем контексте: побеждает тот, кто быстрее проходит цикл. Агент устроен буквально так же — наблюдает инструменты, рассуждает, решает, действует. И здесь преимущество скорости оборачивается обязательством: чем быстрее агент действует без проверки, тем меньше окон поймать отравленный вход.</a:t>
            </a:r>
          </a:p>
          <a:p>
            <a:r>
              <a:t>Эта асимметрия — не новость эры больших языковых моделей. Психолог Лизанн Бейнбридж описала тот же эффект на материале заводов и кабин самолётов сорока годами раньше: когда автоматизируют бо́льшую часть операции, но не всю, оператор не начинает работать меньше — он получает задачу следить за автоматом и вмешиваться в тот редкий момент, когда автомат ошибается. Автоматизация снижает бытовую нагрузку и одновременно требует более высокой квалификации в момент вмешательства, а рутинная практика, которая эту квалификацию поддерживала, исчезает вместе с автоматизированной рутиной.</a:t>
            </a:r>
          </a:p>
          <a:p>
            <a:r>
              <a:t>Отсюда мета-паттерн, который будет повторяться в каждом из шести разделов: у каждой фазы жизненного цикла есть классическая дисциплина, и искусственный интеллект её не отменяет. Он меняет, сколько эта дисциплина стоит и насколько ей можно доверять без проверки — но не устраняет саму дисциплину. Поэтому каждый раздел дальше читается по одной схеме: сначала классика и зачем она появилась, потом что здесь удешевил искусственный интеллект, потом где подход «сначала ИИ» ломается, и наконец разобранный провал, на котором это видно.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стрелка петли — исследование. Смысл фазы формулируется одним вопросом: существует ли проблема, которую мы собираемся решать, и у кого именно она существует. Рабочая формулировка такая: есть ли человек, который за снятие этой боли уже чем-то платит — временем, деньгами или терпением. «Понравится ли людям наша идея» отвечает на другой вопрос.</a:t>
            </a:r>
          </a:p>
          <a:p>
            <a:r>
              <a:t>Вопрос выглядит необязательным, и именно поэтому его чаще всего пропускают. Пропустить его действительно можно, работа не остановится: команда построит продукт, выкатит его и всё равно узнает ответ. Разница только в том, когда и по какой цене. При проверке заранее цена ответа — несколько разговоров и пара недель. При проверке по факту запуска цена ответа — вся разработка целиком, и вернуть её нечем. Это и есть необходимость фазы: ответ вы получите в любом случае, выбираете вы только его стоимость.</a:t>
            </a:r>
          </a:p>
          <a:p>
            <a:r>
              <a:t>У большинства сильных инженеров неформальный опыт такой проверки есть — спросить у коллег и друзей, нравится ли идея. Этот опыт систематически лжёт, и лжёт предсказуемо. Друзья и коллеги хотят вас поддержать; правда, которая может задеть, в их задачу не входит, и доброжелательность смещает сигнал ровно в ту сторону, в которую вы и так склонны его читать. Формальная дисциплина исследования существует затем, чтобы вынуть из разговора именно эту доброжелательность.</a:t>
            </a:r>
          </a:p>
          <a:p>
            <a:r>
              <a:t>В разделе — одна классическая база: как записывают проверяемую гипотезу и как устроены два правила разговора, не дающие собеседнику вежливо соврать. Дальше — что здесь меняет ИИ сегодня, два приёма, которые вы сможете повторить, граница этих приёмов и два разобранных провала, каждый из которых случился ровно на пропуске границы.</a:t>
            </a:r>
          </a:p>
          <a:p>
            <a:r>
              <a:t>Один практический вопрос стоит закрыть сразу, потому что он возникает всегда: сколько разговоров достаточно. Фиксированного числа нет. Останавливаются по насыщению: когда новые разговоры перестают вскрывать новые темы и начинают повторять уже услышанное. Для проверки удобства интерфейса классический ориентир — пять-восемь человек, он встретится нам в разборе провала. Для проверки самой боли чистого числа не существует, и это показательно: отчёт «мы обработали сто интервью» отвечает на вопрос объёма; перестали ли появляться новые темы, из него не узнать.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эта работа — с этого стоит начать, потому что дальше в разделе всё служит этой цели. Исследование отвечает на один вопрос: существует ли проблема и у кого. Ответ команда получит в любом случае. Вопрос только в том, придёт он от восьми разговоров за две недели или от рынка в день запуска, когда разработка уже оплачена.</a:t>
            </a:r>
          </a:p>
          <a:p>
            <a:r>
              <a:t>Дисциплина, которая этим занимается, называется развитие клиента. Сформулировал её Стив Бланк. Сразу закроем вопрос, который она вызывает чаще всего: 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живёт на первой стрелке петли, до того как что-то построено.</a:t>
            </a:r>
          </a:p>
          <a:p>
            <a:r>
              <a:t>Правило, ради которого вся методология существует, Бланк сформулировал одной фразой: внутри офиса фактов нет, поэтому выходи наружу. Но выход наружу сам по себе ничего не гарантирует. Команда, вышедшая без записанной гипотезы, возвращается с набором впечатлений, которые задним числом подтверждают то, во что она верила до выхода. Поэтому гипотезу записывают заранее и в одном формате: «мы верим, что руководители тратят больше двух часов в неделю на ручную сборку статуса; проверим восемью разговорами; через две недели у нас будет да или нет и медианное время». В записи «кажется, руководителям нужен инструмент для отчётности» проверять нечего. Три поля: проверяемое число, метод проверки, срок. Срок несёт нагрузку наравне с числом — без него «проверим» не имеет конца.</a:t>
            </a:r>
          </a:p>
          <a:p>
            <a:r>
              <a:t>Второе, что берём из классики, — два правила разговора, они из книги Роба Фитцпатрика. Спрашивать о конкретном прошлом, а не о мнении про будущее: гипотетический вопрос провоцирует вежливый оптимизм, и собеседник при этом не врёт, ему просто нечем ответить, кроме как достроить. И засчитывать обязательство, а не комплимент: потраченное время, поставленная репутация, заплаченные деньги. Пара вопросов внизу показывает разницу в один шаг. «Заплатили бы двадцать долларов» просит человека предсказать самого себя. «Сколько вы платите сегодня» просит вспомнить.</a:t>
            </a:r>
          </a:p>
          <a:p>
            <a:r>
              <a:t>Дальше оба правила перестают быть правилами вежливости и становятся техническим критерием: вопрос, на который отвечают гипотетическим будущим, мы будем вычёркивать из списка механически, по признаку; вкус здесь ни при чём.</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ИИ изменил в этой фазе — по шагам, и в конце то, что он не изменил.</a:t>
            </a:r>
          </a:p>
          <a:p>
            <a:r>
              <a:t>Кабинетный поиск. Раньше это были дни работы аналитика: отчёты, публикации, форумы, жалобы. Сейчас режим глубокого исследования планирует траекторию поиска сам, читает сотни источников и возвращает отчёт со ссылками — от двух-четырёх минут до получаса. Важнее минут другое: к этому году такой режим есть у всех основных помощников, включая бесплатные тарифы. Преимуществом он быть перестал и стал фоном.</a:t>
            </a:r>
          </a:p>
          <a:p>
            <a:r>
              <a:t>Сам разговор. Здесь появилось то, чего два года назад не было: вопросы задаёт модель, а отвечает живой человек. Исследователь пишет сценарий, дальше машина ведёт разговоры параллельно и круглосуточно, и за срок одного личного интервью их проходит кратно больше. Изменилась ровно одна сторона — та, которая спрашивает.</a:t>
            </a:r>
          </a:p>
          <a:p>
            <a:r>
              <a:t>Сведение разговоров. Расшифровка перестала быть отдельной работой — она бесплатное приложение к любому созвону. Разница между инструментами теперь в другом: один звонок они не пересказывают — они непрерывно пересобирают темы по всему накопленному корпусу разговоров.</a:t>
            </a:r>
          </a:p>
          <a:p>
            <a:r>
              <a:t>Теперь про ИИ-персоны: их постоянно путают с предыдущим шагом. Посмотрите на шкалу. Человек спрашивает человека — классика. Машина спрашивает человека — то, что появилось сейчас. Машина спрашивает машину — это и есть ИИ-персона: живого человека в цепочке нет ни разу. Профессия эту разницу держит: в опросе ста пятидесяти исследователей в мае этого года восемьдесят один процент регулярно применяют ИИ в работе, как отвечающего участника — восемь процентов, а двадцать восемь отвергают это прямо.</a:t>
            </a:r>
          </a:p>
          <a:p>
            <a:r>
              <a:t>И граница, которая не сдвинулась. Ссылка в отчёте не доказательство, пока её не открыли. Это измерено: на пятидесяти трёх тысячах ссылок из отчётов десяти моделей и исследовательских агентов от трёх до тринадцати процентов оказались выдуманными — их нет даже в веб-архиве, они не существовали никогда. Арифметика отсюда прямая: при самом низком измеренном уровне в три процента отчёт с полусотней ссылок содержит хотя бы одну несуществующую с вероятностью семьдесят восемь процентов. Одна оговорка, которую эта лекция сама учит требовать: расчёт считает ссылки независимыми, а в одном отчёте они связаны — тот же прогон, та же модель. Семьдесят восемь — верхняя оценка. Deloitte сдала правительству Австралии отчёт за четыреста сорок тысяч долларов именно с таким содержимым. Обнаружил это не заказчик — обнаружил посторонний исследователь.</a:t>
            </a:r>
          </a:p>
          <a:p>
            <a:r>
              <a:t>Источники:</a:t>
            </a:r>
          </a:p>
          <a:p>
            <a:r>
              <a:t>[1] Perplexity — обзор режима глубокого исследования — отчёт со ссылками за 2–4 минуты у самых быстрых и до получаса у самых основательных; режим есть у всех основных помощников. https://www.secondtalent.com/resources/perplexity-deep-research-review/ Цифра быстро устаревает — сверить перед лекцией.</a:t>
            </a:r>
          </a:p>
          <a:p>
            <a:r>
              <a:t>[2] User Interviews — «State of Synthetic Users», май 2026 — опрос 150 исследователей 11–22 мая 2026: 81% регулярно применяют ИИ в работе, 8% — как отвечающего участника, 28% отвергают такое применение прямо. https://www.userinterviews.com/state-of-synthetic-users-report Цифра быстро устаревает — сверить перед лекцией.</a:t>
            </a:r>
          </a:p>
          <a:p>
            <a:r>
              <a:t>[3] arXiv 2604.03173 — измерение ссылок в отчётах агентов — 3–13% ссылок выдуманы (следа в веб-архиве нет), 5–18% не открываются; измерено на 53 090 ссылках, 10 моделей и агентов. https://arxiv.org/abs/2604.03173</a:t>
            </a:r>
          </a:p>
          <a:p>
            <a:r>
              <a:t>[4] Fortune (7 окт. 2025) — Deloitte Australia — отчёт правительству за 440 000 австралийских долларов с несуществующими источниками. https://fortune.com/2025/10/07/deloitte-ai-australia-government-report-hallucinations-technology-290000-refund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Идея прогнать разговор на нескольких собеседниках, которых играет модель, звучит часто. По механике она верна при одном условии: роль приёма узкая, и её надо удержать.</a:t>
            </a:r>
          </a:p>
          <a:p>
            <a:r>
              <a:t>Что это такое простыми словами. Вы написали список вопросов для интервью и собираетесь идти с ним к живым людям. Прежде чем идти, вы прогоняете этот список через нескольких выдуманных собеседников, которых играет модель. Это репетиция — примерно как читка пьесы до премьеры: слушают, где текст не работает.</a:t>
            </a:r>
          </a:p>
          <a:p>
            <a:r>
              <a:t>Дальше по шагам. Сначала описывают несколько разных типов клиента, и описывают не портретом. Портрет вида «Анна, тридцать четыре, любит удобные интерфейсы» бесполезен, потому что из него ничего не следует. Полезно другое: чем человек пользуется сейчас, во что это ему обходится в часах или деньгах, что он однажды попробовал и бросил. Каждый тип держат отдельно, чтобы ответы не слились в один усреднённый голос. Через всех прогоняют один и тот же список.</a:t>
            </a:r>
          </a:p>
          <a:p>
            <a:r>
              <a:t>И дальше вся ценность приёма в том, куда вы смотрите. Не на содержание ответов. На две вещи. Первая: какие вопросы дали у всех примерно одинаковый ответ. Такой вопрос никого не различает, на живом интервью он потратит время впустую — его переписывают. Вторая: на какие вопросы отвечают про воображаемое будущее, «я бы этим пользовался». Это ровно то нарушение правила о конкретном прошлом, которое зашито в саму формулировку вопроса, и поймать его на репетиции дешевле, чем испортить им живой разговор.</a:t>
            </a:r>
          </a:p>
          <a:p>
            <a:r>
              <a:t>Приём не изобрёл ничего нового: вопросы проговаривали на коллеге или на первом живом интервью и до всяких моделей. ИИ удешевил репетицию — она теперь занимает минуты. Разговор с человеком стоит прежнего.</a:t>
            </a:r>
          </a:p>
          <a:p>
            <a:r>
              <a:t>Теперь граница, без которой приём превращается в провал, который мы разберём следом. Наружу выходит только правленый список вопросов. Ответы собеседников не идут в решение и не цитируются как данные. Так устроен сам приём: модель одна. Пять таких собеседников — это пять взглядов одной модели. Пяти людей за ними нет. Сверка с настоящим национальным опросом показывает это числом: средние модель повторяет, а разброс мнений занижает почти вдвое. Схлопнутый разброс — ложная уверенность ровно там, где живые люди расходятся сильнее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работает там, где у продукта уже есть живые пользователи и накопленный архив обращений.</a:t>
            </a:r>
          </a:p>
          <a:p>
            <a:r>
              <a:t>Что это такое простыми словами. У любого работающего продукта есть история жалоб и вопросов, и обычно она лежит мёртвым грузом: в неё заглядывают, когда нужно ответить конкретному человеку, а как на источник знания о продукте на неё не смотрят. Приём превращает этот архив в источник гипотез. Наружу выходит названная тема боли, подпёртая дословными цитатами, и указание, с кем именно об этом стоит поговорить живьём. Общего ощущения «пользователи чем-то недовольны» на выходе нет.</a:t>
            </a:r>
          </a:p>
          <a:p>
            <a:r>
              <a:t>Шаг первый — сложить и разметить. Каждое обращение кладут в общий поисковый массив и приписывают к нему, когда оно пришло, от кого и по какому продукту. Разметка не бюрократия: без неё архив превращается в мешок текста — прошлогоднюю проблему там не отделить от сегодняшней, свой сегмент от чужого.</a:t>
            </a:r>
          </a:p>
          <a:p>
            <a:r>
              <a:t>Шаг второй — искать двумя способами сразу: по словам и по смыслу. Точный код ошибки находит только поиск по словам, а описание проблемы своими словами — только поиск по смыслу, и в обращениях встречается и то и другое. Поодиночке каждый способ промахивается тихо.</a:t>
            </a:r>
          </a:p>
          <a:p>
            <a:r>
              <a:t>Шаг третий — собрать похожее в группы и пересказать каждую в два приёма: сначала каждое обращение по отдельности, потом общее между ними. Пропуск первого приёма даёт измеримый эффект: пересказ теряет от двадцати до сорока процентов важной детали.</a:t>
            </a:r>
          </a:p>
          <a:p>
            <a:r>
              <a:t>И что здесь изменилось. Разбирать обращения умели всегда, но раскладывали их по заранее придуманному списку тем — и находили только то, что кто-то уже предположил. Модель собирает похожее по смыслу сама, без списка тем; название темы всё равно проверяет человек.</a:t>
            </a:r>
          </a:p>
          <a:p>
            <a:r>
              <a:t>Граница двойная, и обе части обязательны. Первая: архив смещён по построению — в нём только те, кто дошёл до жалобы. Объём не лечит, сто тысяч обращений смещены так же, как тысяча, потому что не бывает обращения «мне нужно то, чего у вас вообще нет». Архив структурно молчит о неудовлетворённой потребности, поэтому вопрос «чего у нас нет» им не закрывается. Вторая: поиск возвращает похожие обращения, важность он не меряет. Десять тысяч жалоб на опечатку — это по-прежнему одна опечатка. Частота не равна значимости, и путать их особенно легко, когда цифра большая.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Ограничение фазы формулируется одной фразой: синтетический собеседник не может произвести несогласие. Свойство это измеренное, осторожной оговорки здесь нет.</a:t>
            </a:r>
          </a:p>
          <a:p>
            <a:r>
              <a:t>Склонность соглашаться измерена. Шарма и соавторы прогнали пять моделей и посмотрели, что происходит с тоном ответа, когда собеседник явно соглашается с моделью и когда явно возражает. При согласии тон сдвигается к позитиву в семидесяти двух — девяноста одном проценте случаев, при возражении — лишь в семи-двадцати восьми. Читайте это аккуратно: измерен сдвиг тона. Частота отрицательного ответа — другая величина. Но направление однозначное — модель подстраивается под рамку, которую вы ей задали.</a:t>
            </a:r>
          </a:p>
          <a:p>
            <a:r>
              <a:t>Второе свойство важнее первого и не лечится настройкой. У синтетического собеседника нет реального прошлого. Правило спрашивать о конкретном прошлом, которое мы взяли из классики, он не может удовлетворить в принципе: ему нечем вспомнить, он может только сгенерировать правдоподобное. Сложите два свойства — и получите накопительный сбой: ответ смещён в сторону «да», и притом «да» о событии, которого никогда не было.</a:t>
            </a:r>
          </a:p>
          <a:p>
            <a:r>
              <a:t>Есть режим коварнее разовой ошибки. Если команда целиком заменяет проверку на живых людях выдуманными собеседниками, получается замкнутая петля: модель проектирует под догадку модели о пользователе, и ни один живой человек ни разу не проверяет цепочку. Отсюда практический вывод, который поначалу звучит наоборот: чем дешевле становится черновик, тем важнее сохранить дешёвую проверку живым человеком перед тем, как черновик дойдёт до пользователей.</a:t>
            </a:r>
          </a:p>
          <a:p>
            <a:r>
              <a:t>Сделаем границу проверяемой — три признака. Первый: высока цена ошибки в решении продолжать или остановить, и нужен источник, способный сказать «нет». Второй: нужно реальное прошлое, а не правдоподобное. Третий: нужна проверка обязательством — предзаказ, задаток, представление коллеге; здесь заменителя нет вовсе. Что остаётся из базы: оба правила разговора применяются одинаково, кто бы ни задавал вопрос.</a:t>
            </a:r>
          </a:p>
          <a:p>
            <a:r>
              <a:t>И отдельная цифра внизу. Пересказ интервью теряет от двадцати до сорока процентов важной детали, если пропущен шаг «сначала каждое по отдельности». Это прослеживается до конкретного шага, а значит, чинится тоже на конкретном шаге.</a:t>
            </a:r>
          </a:p>
          <a:p>
            <a:r>
              <a:t>Источники:</a:t>
            </a:r>
          </a:p>
          <a:p>
            <a:r>
              <a:t>[1] Тереза Торрес, консультант по продуктовому исследованию — книга «Continuous Discovery Habits» и её позиция о синтетике — против синтетических интервью и деревьев возможностей, собранных моделью в один клик.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разобранный провал раздела, и устроен он просто.</a:t>
            </a:r>
          </a:p>
          <a:p>
            <a:r>
              <a:t>Что произошло. Исследовательская группа, которая занимается удобством интерфейсов с конца девяностых, поставила контролируемое сравнение. Один и тот же сценарий первого знакомства с продуктом прогнали дважды: с живыми участниками и с панелью выдуманных собеседников, сгенерированных под тот же профиль. Мерили две вещи — сколько шагов сценария человек довёл до конца и как он оценил конкретные функции.</a:t>
            </a:r>
          </a:p>
          <a:p>
            <a:r>
              <a:t>Результат. Живые участники в среднем довели до конца три шага из семи. Панель ИИ-персон, проходившая ровно тот же сценарий, отчиталась о семи из семи. Отдельно живые участники описали функцию обсуждения как надуманную и бесполезную, а выдуманные собеседники выдали восторженные похвалы той же функции; один назвал заведомо непрактичную идею доставки дронами изменяющей правила игры.</a:t>
            </a:r>
          </a:p>
          <a:p>
            <a:r>
              <a:t>Обратите внимание, почему это не случайность. Расхождение пошло сразу по обеим измеряемым величинам, на одном и том же материале. Разовая ошибка так не выглядит.</a:t>
            </a:r>
          </a:p>
          <a:p>
            <a:r>
              <a:t>Механизм, привязанный к этой фазе, мы назвали на прошлом слайде. Модель настроена соглашаться с рамкой заданного вопроса: концепция, описанная с энтузиазмом, возвращается подтверждённой. Выдуманный собеседник не способен произвести несогласие, потому что у него нет опыта, способного противоречить формулировке, — только правдоподобное продолжение текста.</a:t>
            </a:r>
          </a:p>
          <a:p>
            <a:r>
              <a:t>Соедините это с правилом о конкретном прошлом — и получите накопительный сбой. Это крайняя форма смещения выборки. Разговаривать только с воодушевлёнными ранними пользователями — уже искажение, но эти люди хотя бы существуют и говорят о реальном опыте. Выдуманный собеседник не говорит ни с кем: он достраивает то, что человек с таким профилем мог бы сказать, и достраивает в сторону согласия.</a:t>
            </a:r>
          </a:p>
          <a:p>
            <a:r>
              <a:t>Урок формулируется одной фразой. Панель, которая согласилась с вашей концепцией, — не свидетельство, что концепция хороша; это свидетельство, что панель не способна не согласиться. Альтернатива есть, и отказываться от инструмента она не требует: оставить панели до-исследовательскую роль, а решение опереть на тест с пятью-восемью живыми участниками.</a:t>
            </a:r>
          </a:p>
          <a:p>
            <a:r>
              <a:t>Источники:</a:t>
            </a:r>
          </a:p>
          <a:p>
            <a:r>
              <a:t>[1] Nielsen Norman Group — «Synthetic Users» — 3/7 у реальных против 7/7 у синтетических на одной и той же задаче (доставка дронами). https://www.nngroup.com/articles/synthetic-users/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провал раздела — про то, что бывает, когда фазу исследования проходят формально.</a:t>
            </a:r>
          </a:p>
          <a:p>
            <a:r>
              <a:t>Что произошло. Компанию Humane основали в две тысячи восемнадцатом выходцы из Apple. Единственный её продукт — носимый прибор без экрана: коробочка на одежде с камерой, микрофоном и лазерной проекцией на ладонь, отвечающая голосом через языковую модель. Замысел: человек перестаёт смотреть в телефон. Показали в ноябре двадцать третьего, продажи открыли в апреле двадцать четвёртого — шестьсот девяносто девять долларов плюс двадцать четыре в месяц. В феврале двадцать пятого активы купила HP за сто шестнадцать миллионов, и двадцать восьмого февраля облако погасили: приборы, оставшиеся у покупателей, отвечать перестали.</a:t>
            </a:r>
          </a:p>
          <a:p>
            <a:r>
              <a:t>Числа. Продано около десяти тысяч — десятая часть собственной цели компании в сто тысяч. Выручка около девяти миллионов против двухсот тридцати привлечённых, это четыре процента. С мая по август двадцать четвёртого возвратов было больше, чем покупок: к августу на руках оставалось ближе к семи тысячам приборов. Цену снизили с шестисот девяноста девяти до четырёхсот девяноста девяти в октябре, через полгода после начала продаж.</a:t>
            </a:r>
          </a:p>
          <a:p>
            <a:r>
              <a:t>Теперь корень, и он лежит ровно в нашей фазе. Вопрос исследования звучит одной фразой: по сравнению с чем. У каждого покупателя в кармане уже лежал телефон, который делает то же самое и остальное сверху. Обзоры сошлись на том, что прибор делает меньше телефона и медленнее. Такой ответ стоит восьми разговоров с живыми людьми до сборки. Здесь его получили от рынка — через двести тридцать миллионов и десять с половиной месяцев продаж. Вспомните правило со слайда базы: спрашивать, сколько человек платит сегодня за ближайший аналог. Ближайшим аналогом был телефон, который он уже купил.</a:t>
            </a:r>
          </a:p>
          <a:p>
            <a:r>
              <a:t>И различение, чтобы случай не читался как «железо не вышло». Google Glass прошёл тот же путь в обратную сторону. Очки за полторы тысячи долларов сняли с широкой продажи в январе пятнадцатого, а потом отдали человеку, у которого руки заняты работой. У производителя сельхозтехники AGCO время сборки машин упало на четверть, время контроля — на тридцать процентов; у логистической компании DHL выработка на складе выросла на пятнадцать. Всё это против той же работы без очков. Прибор тот же. Пользователь другой.</a:t>
            </a:r>
          </a:p>
          <a:p>
            <a:r>
              <a:t>Источники:</a:t>
            </a:r>
          </a:p>
          <a:p>
            <a:r>
              <a:t>[1] 9to5Mac (7 авг. 2024) — внутренние данные продаж Humane — с мая по август 2024 возвратов больше, чем покупок: ≈10 000 проданных приборов, ≈9 млн долларов выручки, к августу на руках ближе к 7 000. https://9to5mac.com/2024/08/07/humane-ai-pin-woes-worsen-as-recent-returns-exceed-sales/</a:t>
            </a:r>
          </a:p>
          <a:p>
            <a:r>
              <a:t>[2] TechCrunch (18 фев. 2025) — активы Humane купила HP — 116 млн долларов за активы при более 230 млн привлечённых; продажи прекращены, облачный сервис погашен 28 февраля 2025. https://techcrunch.com/2025/02/18/humanes-ai-pin-is-dead-as-hp-buys-startups-assets-for-116m</a:t>
            </a:r>
          </a:p>
          <a:p>
            <a:r>
              <a:t>[3] Humane Inc. — даты, цены и цель продаж — показ 9 ноября 2023; продажи с апреля 2024 по 699 долларов плюс 24 в месяц; снижение до 499 с 23 октября 2024; цель 100 000 приборов за год. https://en.wikipedia.org/wiki/Humane_Inc.</a:t>
            </a:r>
          </a:p>
          <a:p>
            <a:r>
              <a:t>[4] Digital Trends — Glass Enterprise Edition у AGCO и DHL — против той же работы без очков: время сборки −25%, время контроля −30% (AGCO), выработка на складе +15% (DHL); широкие продажи Explorer за 1500 долларов закрыты в январе 2015. https://www.digitaltrends.com/mobile/google-glass-enterprise-edition/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петли. Гипотеза, которую в первом разделе проверяли на живых людях, здесь впервые превращается во что-то, на что можно показать пальцем: набросок экрана, кликабельный прототип, страницу, по которой человек проходит своим путём. Смысл шага ровно один, и он денежный. Ошибка, найденная на черновике, стоит часов работы одного человека. Та же самая ошибка, найденная после выпуска, стоит недель работы команды плюс тех людей, которые за это время успели уйти. Дизайн здесь работает на экономию: он передвигает момент обнаружения ошибки туда, где она дешёвая.</a:t>
            </a:r>
          </a:p>
          <a:p>
            <a:r>
              <a:t>Сразу за этим — слайд об объёме слова «дизайн». Экраны тут одна из поверхностей, через которые человек встречается с системой; остальные — голос, уведомление, письмо, отказ, молчание, — и поверх них поведение системы во времени: что она делает, когда уверена, когда не уверена и когда ошиблась. Дальше короткая база: порядок «сначала правильная задача, потом правильное решение» и место экспертной проверки понятности — той самой, которую машина за человека не делает.</a:t>
            </a:r>
          </a:p>
          <a:p>
            <a:r>
              <a:t>Дальше — что генераторы интерфейсов реально дают команде в две тысячи двадцать шестом году. Здесь я прошу обратить внимание на разницу между обещанием и замером. Обещание звучит как «день ручной работы превращается в минуты». Замер с контрольной группой даёт и другую цифру, и другую картину: выигрыш есть, он измеряется десятками процентов и заметно зависит от того, кто работает и насколько сложна задача.</a:t>
            </a:r>
          </a:p>
          <a:p>
            <a:r>
              <a:t>Потом разберём один приём целиком: как свод правил интерфейса превращается из документа для людей в проверку, которую машина выполняет сама и которая умеет остановить выпуск. Там же увидим границу — что именно такая проверка не ловит и почему просьба, обращённая к генератору, механизмом контроля не является ни в какой формулировке.</a:t>
            </a:r>
          </a:p>
          <a:p>
            <a:r>
              <a:t>Завершает раздел отзыв двух миллионов машин Tesla. Производитель сам записал в отчёте о дефекте, что заметность и охват элементов управления могут быть недостаточны, чтобы предотвратить неверное применение водителем, — и устранение целиком легло в этот слой: заметность предупреждений, частота проверок внимания, порог отключения. Модель вождения при этом не правили ни строкой. Держите этот случай как образец ошибки, которую проверкой модели не поймать: расходится картина системы в голове человека.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начинается с оговорки, без которой дальше всё читается узко. Слово «дизайн» в этой фазе обычно понимают как рисование экранов. В продукте с языковой моделью экран — одна из поверхностей, и работы на остальных обычно больше.</a:t>
            </a:r>
          </a:p>
          <a:p>
            <a:r>
              <a:t>Посмотрите на список поверхностей контакта. Экран — что человек видит и в каком порядке. Голос — то же решение без картинки: порядок, длина ответа, право перебить. Уведомление — система начинает разговор сама, и решается, когда она имеет на это право и по какому поводу. Письмо или отчёт — ответ, который человек читает, когда системы под рукой уже нет. Отказ — что система говорит, когда делать не станет. И молчание: обработка идёт, ответа ещё нет, и то, что человек видит эту минуту, тоже спроектировано, пусть и по умолчанию.</a:t>
            </a:r>
          </a:p>
          <a:p>
            <a:r>
              <a:t>Второй ярус — поведение во времени, и для продукта на модели он несёт основную нагрузку. Когда система уверена, она отвечает и показывает, на чём ответ построен. Когда не уверена — говорит об этом от первого лица и предлагает ход дальше. Когда ошиблась — человек видит, что произошло, и у него есть путь назад. Ни одно из этих трёх решений на макете экрана не видно, и красота макета ни одно из них не проверяет.</a:t>
            </a:r>
          </a:p>
          <a:p>
            <a:r>
              <a:t>И третье, о чём забывают, потому что оно не похоже на дизайн. Имя продукта, обещание на входе, право остановиться — решения того же слоя. Имя задаёт картину системы в голове человека раньше, чем он увидит первый экран. Проверяется это просто: разбор провала в конце раздела — ровно про расхождение между картиной в голове водителя и поведением машины, и правка этой картины обошлась отзывом двух миллионов автомобилей.</a:t>
            </a:r>
          </a:p>
          <a:p>
            <a:r>
              <a:t>Поэтому следующие слайды держите шире экрана. Оба ромба двойного ромба идут и по поведению системы. Дизайн-система закрывает ту часть правил, которая выражается числом. Остальное остаётся решением человека, и спрашивать за него будут человека.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вопроса, зачем этот шаг вообще существует. Метод — следом. Ответ денежный. Ошибка, найденная на черновике, стоит часов работы одного человека, и сам черновик не жалко выбросить целиком — он ровно для этого и сделан. Та же ошибка, найденная после выпуска, стоит недель работы команды, и к ним прибавляются пользователи, которые за это время ушли. Пропустить шаг дизайна — значит заплатить то же самое, но позже и дороже.</a:t>
            </a:r>
          </a:p>
          <a:p>
            <a:r>
              <a:t>Теперь метод. Каркас раздела — два цикла подряд. Ромб — это один цикл работы: сначала мы намеренно расширяем набор вариантов, потом сознательно сводим их к одному. Ромбов два, потому что выбирать приходится дважды: сначала какую задачу мы вообще решаем, и только потом каким решением её закрываем. И сразу снимаю вопрос, который эта картинка обычно вызывает: нашу петлю она не заменяет и рамкой-конкурентом не работает. Это увеличительное стекло на шаге два той самой петли — подробность того, как гипотеза превращается в артефакт.</a:t>
            </a:r>
          </a:p>
          <a:p>
            <a:r>
              <a:t>Частая ошибка инженера ровно в том, чтобы перепрыгнуть первый ромб. Возьмите конкретный случай. Команда строит внутренний разборщик обращений, потому что тикеты без категории зависают без владельца. Первый ромб здесь — это наблюдение за живыми операторами, из которого выясняется, что обходной путь у них уже есть: непонятные тикеты они копируют в отдельный чат и тем самым ломают таймер срока ответа. Исходное «нужна умная категоризация» после этого сужается до другой задачи: оператору негде пометить тикет как требующий уточнения, не сломав таймер. Это уже не та задача, с которой начинали, и только теперь уместен второй ромб.</a:t>
            </a:r>
          </a:p>
          <a:p>
            <a:r>
              <a:t>И третья вещь, которая сработает дальше как отдельный критерий. Десять эвристик Нильсена — быстрая экспертная проверка поверх уже сведённого варианта; отдельной стадией процесса они не стоят. Порядок тут важен не меньше, чем на самих ромбах: проверять на понятность четыре расходящихся черновика бессмысленно.</a:t>
            </a:r>
          </a:p>
          <a:p>
            <a:r>
              <a:t>Источники:</a:t>
            </a:r>
          </a:p>
          <a:p>
            <a:r>
              <a:t>[1] Совет по дизайну Великобритании — двойной ромб — два цикла: сначала правильная задача, потом правильное решение. https://www.designcouncil.org.uk/resources/the-double-diamond/</a:t>
            </a:r>
          </a:p>
          <a:p>
            <a:r>
              <a:t>[2] Якоб Нильсен — десять эвристик удобства — полный список 10 эвристик с примерами (1994, ред. 2020). https://blog.uxtweak.com/usability-heuristics/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Рабочий порядок в команде две тысячи двадцать шестого года выглядит так. Человек описывает экран или поток словами, генератор выдаёт несколько расходящихся набросков, дальше человек выбирает одно направление, отбрасывает остальные и правит то, что модель поняла неверно: отступы, порядок важности, редкие случаи. Выбранное направление проходит настоящую проверку на живых людях — выдуманная моделью персона её не заменяет, — и только после этого забирается в разработку.</a:t>
            </a:r>
          </a:p>
          <a:p>
            <a:r>
              <a:t>Инструментов на слайде пять. Различает их режим работы, поэтому смотрите именно на вторую половину строки. Figma Make собирает экраны прямо внутри редактора макетов и берёт собственные детали команды вместо общих заготовок — поэтому его результат требует меньше переделки. Google Stitch идёт от текста и набросков к экрану, бесплатен, а с марта двадцать шестого умеет забирать макеты из Figma и отдавать код. Инструмент v0 отдаёт сразу код интерфейса. Lovable и bolt.new собирают целое работающее приложение. Magic Patterns нужен, когда надо быстро перебрать варианты одного экрана. Ландшафт меняется быстро — состав проверяйте перед занятием.</a:t>
            </a:r>
          </a:p>
          <a:p>
            <a:r>
              <a:t>Теперь то, ради чего этот слайд переделан. В обсуждении обычно звучит обещание: день ручной работы превращается в минуты. Есть замер, и он говорит другое. Сто участников, половина дизайнеры, половина продуктовые руководители, случайно поделены на две группы: одной дали генератор, второй не дали ничего, задачи одинаковые. Общее время сократилось примерно на двадцать процентов. У продуктовых руководителей выигрыш тридцать пять процентов. У профессиональных дизайнеров он заметен только на самой сложной из трёх задач — там двадцать шесть процентов, а общий эффект у них пограничный, семнадцать: на простых задачах разницы с контрольной группой просто нет.</a:t>
            </a:r>
          </a:p>
          <a:p>
            <a:r>
              <a:t>Из этого два вывода. Выигрыш реален, и меряется он десятками процентов. Порядками — нет. И он зависит от того, кто работает: сильнее всего генератор помогает тому, для кого задача не рутина. Поправка: опыт поставила сама Figma на своём инструменте.</a:t>
            </a:r>
          </a:p>
          <a:p>
            <a:r>
              <a:t>И ещё одно, что легко пропустить за цифрами. Генератор снял барьер входа: человек, который не умеет рисовать интерфейсы, теперь приносит на обсуждение что-то презентабельное вместо коробок со стрелками. Это настоящая польза. Но способность быстро получить красивый экран — не то же самое, что способность спроектировать взаимодействие и проверить его на живом человеке.</a:t>
            </a:r>
          </a:p>
          <a:p>
            <a:r>
              <a:t>Источники:</a:t>
            </a:r>
          </a:p>
          <a:p>
            <a:r>
              <a:t>[1] Figma — обзор инструментов дизайна с ИИ, 2026 — обзор: чем генерируют интерфейсы на 2026 год. https://www.figma.com/resource-library/ai-design-tools/ Цифра быстро устаревает — сверить перед лекцией.</a:t>
            </a:r>
          </a:p>
          <a:p>
            <a:r>
              <a:t>[2] Google Stitch (бывший Galileo AI) — Google купила в мае 2025, обновила в марте 2026 — инструменты меняются быстро. https://www.banani.co/blog/galileo-ai-features-and-alternatives Цифра быстро устаревает — сверить перед лекцией.</a:t>
            </a:r>
          </a:p>
          <a:p>
            <a:r>
              <a:t>[3] Стюарт и соавторы — рандомизированный опыт, arXiv:2609.26725 (22 сент. 2026) — 100 участников (50 дизайнеров + 50 продуктовых руководителей), контрольная группа без генератора: время сократилось на ~20%, у продуктовых руководителей 35%, у дизайнеров только на самой сложной задаче (26%), общий эффект пограничный (17%, p=0,049). Выполнен самой Figma на своём инструменте — поправка на заинтересованность. https://arxiv.org/abs/2609.26725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Дизайн-систему принято называть ограничителем, который удерживает генерацию в рамках. Формулировка верная, но пока за ней нет механизма — это метафора, поэтому начну с того, что это вообще такое. Дизайн-система — общий свод правил интерфейса и набор готовых деталей: допустимые сочетания цветов, размеры кнопок и полей, вид элемента под курсором, состав типовых блоков. Долгое время это был документ для людей. Сейчас важна другая его часть: те правила, которые можно записать так, чтобы читала и проверяла их машина.</a:t>
            </a:r>
          </a:p>
          <a:p>
            <a:r>
              <a:t>Слоёв три, и несущий только последний. Первый — правила, записанные числами. Пока правило живёт в картинке макета или в устной договорённости, проверить его может человек и только глазами; записанное числом, оно становится проверяемым. Второй слой — генератору дают собственные детали команды вместо общих шаблонов. Часть инструментов делает это по устройству, и именно поэтому такая генерация требует меньше переделки. Но заметьте: первые два слоя снижают вероятность нарушения, и только третий превращает вероятность в гарантию. Третий слой — автоматическая проверка, которая имеет право остановить выпуск: нарушение не обсуждают, его блокируют, ровно как красный тест не пускает изменение дальше. И отдельно обращаю внимание: распространённые движки такой проверки не имеют к ИИ никакого отношения. Это часть урока, не подробность настройки.</a:t>
            </a:r>
          </a:p>
          <a:p>
            <a:r>
              <a:t>Отдельно — что здесь от ИИ, а что было всегда. Свод правил интерфейса и готовые детали существуют десятилетиями, и проверял их дизайнер глазами. Изменилось одно: генератор выдаёт экраны быстрее, чем человек успевает смотреть, и машинная проверка — единственное, что растёт вместе с генерацией.</a:t>
            </a:r>
          </a:p>
          <a:p>
            <a:r>
              <a:t>Граница — обязательная часть приёма, не оговорка. Машина проверяет только то, что выражается числом: контраст, размер кнопки, наличие подписи у поля. Вопрос «понятно ли это живому человеку» остаётся человеку, и экран может пройти все проверки целиком и остаться непонятным. Поэтому приём не отменяет ни обзор по десяти эвристикам Нильсена, ни показ живым людям — он снимает с них только то, что дешевле поймать машиной. И вывод, который переносится дальше всего: просьба, обращённая к генератору, механизмом контроля не является ни в какой формулировке. Отличать просьбу от гарантии понадобится в каждой следующей фазе.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про число, потому что оно жёсткое. Свод правил доступности — это международные требования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двадцать одну тысячу восемьсот восемьдесят таких проверок на экранах, сгенерированных теми самыми инструментами с прошлого слайда. Пройдено двадцать девять процентов. Хуже всего при этом самое простое и тривиально проверяемое: контраст — двадцать шесть и восемь, использование цвета — девятнадцать и два.</a:t>
            </a:r>
          </a:p>
          <a:p>
            <a:r>
              <a:t>Теперь — от чего эта доля зависела. На итог сильнее влияли настройки платформы, чем текст запроса. Это прямо закрывает наивную защиту «надо было правильно попросить»: сколько формулировку ни переписывай, доступным результат от этого не становится. Запомните это — на предыдущем слайде мы ровно поэтому говорили, что механизмом контроля работает проверка; просьба им не становится.</a:t>
            </a:r>
          </a:p>
          <a:p>
            <a:r>
              <a:t>Второе ограничение важно для этой аудитории отдельно. Классические эвристики Нильсена молча исходят из того, что одинаковое действие даёт одинаковый результат. У продукта на языковой модели это неверно. Из десяти эвристик восемь выдерживают такое без изменений — они никогда и не опирались на предсказуемость ответа. Ломаются ровно две — четвёртая, единообразие и стандарты, и девятая, помощь в распознавании ошибки. Единообразие приходится переносить с уровня точных слов на уровень тона и поведения: обещать одинаковую формулировку нельзя, одинаковый характер — можно. А помощь в распознавании ошибки ломается сильнее всего, потому что система обычно не знает, что она неправа: выдумку она подаёт с той же уверенностью, что и точный факт.</a:t>
            </a:r>
          </a:p>
          <a:p>
            <a:r>
              <a:t>Отсюда три приёма подачи, которых в классике не было: говорить о неуверенности от первого лица, вместо общей оговорки мелким шрифтом; ставить человека в контур решения там, где у ошибки есть настоящая цена; и прямо помечать, что ответ сгенерирован. Рядом держите соседний класс ошибки, где модели нет вовсе: жёстко записанный в требования отказ кандидатам старше определённого возраста.</a:t>
            </a:r>
          </a:p>
          <a:p>
            <a:r>
              <a:t>Источники:</a:t>
            </a:r>
          </a:p>
          <a:p>
            <a:r>
              <a:t>[1] Web4All 2026 — «Generated Inaccessible» — 21 880 оценок WCAG на ИИ-интерфейсах, 29,0% соответствие (контраст 26,8%, цвет 19,2%). https://dl.acm.org/doi/10.1145/3800424.3800430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раздела — про дизайн взаимодействия в чистом виде: модель работала как заявлено, сломалась картина системы в голове человека.</a:t>
            </a:r>
          </a:p>
          <a:p>
            <a:r>
              <a:t>Что за случай. Autopilot — набор функций помощи водителю в машинах Tesla: держит полосу, скорость и дистанцию, пока человек следит за дорогой и держит руки на руле. В августе двадцать первого американское управление безопасности дорожного движения открыло расследование: машины с включённой функцией врезались в стоящие на дороге автомобили спецслужб. Двенадцатого декабря двадцать третьего Tesla отозвала все машины с этой функцией, выпущенные с двенадцатого по двадцать третий год — два миллиона тридцать одна тысяча двести двадцать штук, весь парк до единой. Обратите внимание на формулировку из отчёта о дефекте, её написала сама компания: заметность и охват элементов управления системы могут быть недостаточны, чтобы предотвратить неверное применение водителем.</a:t>
            </a:r>
          </a:p>
          <a:p>
            <a:r>
              <a:t>Что сломалось. За время расследования набралось не менее тринадцати аварий с погибшими, где свою роль сыграло предсказуемое неверное применение. У этой ошибки есть имя, пришедшее из авиации: путаница режимов. Человек ехал с одной картиной того, что машина делает и за что отвечает он сам; машина работала по другой.</a:t>
            </a:r>
          </a:p>
          <a:p>
            <a:r>
              <a:t>Теперь — почему случай стоит в разделе про дизайн. Отзыв не затронул ни одной строки модели вождения. Исправляли заметность предупреждений, частоту проверок внимания и порог, за которым функция отключается, — то есть поведение системы и её поверхности контакта. И само имя, Autopilot, — решение того же слоя: оно задаёт картину раньше, чем человек увидит первое предупреждение. Вернитесь к слайду про объём дизайна: имя, обещание на входе, право остановиться. Вот во что обошлась правка картины — отзыв двух миллионов машин через два года и четыре месяца после открытия расследования.</a:t>
            </a:r>
          </a:p>
          <a:p>
            <a:r>
              <a:t>И продолжение, без которого урок неполный. Двадцать пятого апреля двадцать четвёртого ведомство открыло проверку самого устранения: за первые четыре месяца после обновления набралось не менее двадцати аварий с предполагаемым участием системы, а часть мер водитель включает своим согласием и так же отключает. Это ровно то, о чём мы говорили на слайде дизайн-системы: мера, которую человек может выключить, остаётся просьбой. Механизмом её делает способность остановить действие.</a:t>
            </a:r>
          </a:p>
          <a:p>
            <a:r>
              <a:t>Источники:</a:t>
            </a:r>
          </a:p>
          <a:p>
            <a:r>
              <a:t>[1] NHTSA — отчёт об отзыве 23V-838 (12 дек. 2023) — 2 031 220 машин — все с Autosteer, выпущенные с 5 окт. 2012 по 7 дек. 2023; производитель назвал причиной недостаточную заметность и охват элементов управления; устранено обновлением 2023.44.30. https://static.nhtsa.gov/odi/rcl/2023/RCLRPT-23V838-8276.PDF</a:t>
            </a:r>
          </a:p>
          <a:p>
            <a:r>
              <a:t>[2] NHTSA — закрытие расследования EA22-002 — открыто 13 авг. 2021 как PE21-020, углублено 8 июня 2022; не менее 13 аварий с погибшими, где свою роль сыграло предсказуемое неверное применение системы. https://static.nhtsa.gov/odi/inv/2022/INCLA-EA22002-14498.pdf</a:t>
            </a:r>
          </a:p>
          <a:p>
            <a:r>
              <a:t>[3] NHTSA — проверка устранения RQ24-009 (25 апр. 2024) — не менее 20 аварий после обновления; часть мер включается согласием водителя и им же отключается. https://static.nhtsa.gov/odi/inv/2024/INOA-RQ24009-12046.pdf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стрелка петли. Именно здесь искусственный интеллект меняет больше всего — стоимость самого написания кода упала почти до нуля. Но раздел начинается с другого вопроса, и от подешевевшего кода он никуда не делся: как отдать продукт пользователю так, чтобы ошибка осталась обратимой.</a:t>
            </a:r>
          </a:p>
          <a:p>
            <a:r>
              <a:t>Стоит проговорить, зачем эта фаза вообще существует как дисциплина — техническим шагом «взяли готовое и отгрузили» она не исчерпывается. Это единственное место петли, где команда решает, каким кругом людей и в каком темпе проверяется гипотеза, пока её ошибка ещё дешёвая. Если этой дисциплины нет, у сбоя ровно два исхода. Либо продукт не доходит до пользователя вообще — застревает в бесконечном пилоте, и гипотеза не подтверждается и не опровергается. Либо доходит сразу до всех, и редкий сбой становится кризисом на всю аудиторию за один день.</a:t>
            </a:r>
          </a:p>
          <a:p>
            <a:r>
              <a:t>Дальше по разделу: сначала классика — минимально жизнеспособный продукт как способ учиться и рубеж «продолжать или закрыть» как право честно закончить. Потом измеренный сдвиг: что именно подешевело в сборке и где открылось второе узкое место, когда объём кода вырос кратно, а объём содержательного ревью — нет. Потом три приёма, которыми эту фазу держат: шкала самостоятельности, мутационные тесты и поэтапная раскатка с записанным путём назад. Затем ограничение, общее для всех трёх: ревью не растёт вместе с генерацией, и так вышло потому, что подешевела только одна сторона работы; временной нехваткой людей это не объясняется.</a:t>
            </a:r>
          </a:p>
          <a:p>
            <a:r>
              <a:t>Завершают раздел два зеркальных случая. В одном крупная компания включила генеративную функцию сразу всей аудитории, минуя пилот, и получила вирусные опасные советы. В другом сеть ресторанов держала автоматизацию на крошечной доле точек два с половиной года и вовремя остановилась. Один пропустил пилот целиком, другой прошёл его честно и использовал сигнал по назначению. Вместе они очерчивают дисциплину раздела: скорость запуска обменивается на ограниченный радиус поражения, а решение остановиться — такое же законное продуктовое решение, как и решение выкатить.</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зачем эта фаза вообще существует как дисциплина. Сборка и запуск — единственное место цикла, где команда сама назначает радиус поражения: каким кругом людей и в каком темпе проверяется продукт, пока его ошибка ещё дёшево исправить. Если этой дисциплины нет, сбой уходит в один из двух плохих исходов. Либо продукт не доходит до пользователя вообще и застревает в бесконечном пилоте — гипотеза при этом не подтверждается и не опровергается, деньги тратятся, знание не растёт. Либо доходит сразу до всех, и редкий сбой за один день превращается в кризис на всю аудиторию.</a:t>
            </a:r>
          </a:p>
          <a:p>
            <a:r>
              <a:t>Дальше две классические опоры, на которых это держится. Минимально жизнеспособный продукт определяется обучением, которое он даёт, и планируется в обратном порядке: сначала решают, чему надо научиться, затем какой меркой отличить подтверждение от опровержения, и только потом — что минимально собрать ради этого измерения. Большинство команд делает наоборот: строит то, что хочется построить, а обучение придумывает задним числом.</a:t>
            </a:r>
          </a:p>
          <a:p>
            <a:r>
              <a:t>Вторая опора — рубеж решения. Процесс со стадиями и рубежами устроен как воронка, а не туннель: перед каждой стадией стоит выбор продолжить, закрыть, приостановить или переработать, и вложение растёт только после пройденного рубежа. По исследованиям на сотнях корпоративных проектов здоровый процесс отсеивает тридцать-пятьдесят процентов идей до стадии разработки; если годовой отсев падает ниже десяти процентов, рубеж выродился в формальность.</a:t>
            </a:r>
          </a:p>
          <a:p>
            <a:r>
              <a:t>И фраза, ради которой этот слайд остался. Порог записывают числом до старта не ради отчётности. Без записанного заранее порога нельзя отличить «данные сказали нет» от «мы устали» — значит, у команды нет права честно закончить: любое закрытие выглядит как сдача, любое продолжение — как упорство.</a:t>
            </a:r>
          </a:p>
          <a:p>
            <a:r>
              <a:t>Как выглядит записанный порог, показывает якорь. В лаборатории X два года делали топливо из морской воды. Стоимость, при которой работу продолжают, назначили заранее — восемь долларов за галлон бензинового эквивалента. Модели дали от восьми до шестнадцати, а дешёвый водород требовал ещё пяти лет исследований и крупных вложений. В январе две тысячи шестнадцатого проект закрыли, результаты опубликовали, команде выплатили премию. Число существовало до начала работ — поэтому закрытие читалось как исполнение правила, и спорить, устали мы или данные сказали нет, не пришлось.</a:t>
            </a:r>
          </a:p>
          <a:p>
            <a:r>
              <a:t>Источники:</a:t>
            </a:r>
          </a:p>
          <a:p>
            <a:r>
              <a:t>[1] Эрик Райс — «The Lean Startup» (2011) — MVP как обучающий инструмент, не урезанная отгрузка; риск vanity-метрик. https://effectivesoftwaredesign.com/2021/03/23/lean-startup-principles-vanity-metrics-and-actionable-metrics/</a:t>
            </a:r>
          </a:p>
          <a:p>
            <a:r>
              <a:t>[2] Stage-Gate — история метода — рубеж «продолжать или закрыть»: «воронка, не туннель», пороги провала заданы заранее. https://www.stage-gate.com/about/our-story-2/</a:t>
            </a:r>
          </a:p>
          <a:p>
            <a:r>
              <a:t>[3] X — проект Foghorn — топливо из морской воды: цель по стоимости 8 долларов за галлон-эквивалент, модели дали 8–16, дешёвый водород требовал ещё 5+ лет исследований; закрыт в январе 2016 после двух лет работы, результаты опубликованы. https://x.company/projects/foghorn/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измерение Anthropic описывает сдвиг как сжатие стадий: реализация переходит от недель и месяцев к минутам исполнения агентом, вход в незнакомую кодовую базу — от недель к часам. Границы между стадиями при этом остаются. Заявление о риске: агенты производят всё больше кода, объём ревью за ними не успевает, разрыв видимости расширяется. Брать их надо парой. Объём кода на инженера вырос примерно на двести процентов за год. Содержательные комментарии получали около шестнадцати процентов изменений; после того как первый проход отдали автоматике, доля выросла до пятидесяти четырёх. Разрыв компания измерила у себя и признала настолько серьёзным, что построила под него отдельный продукт. И даже после этого почти половина изменений сливается без содержательного ревью.</a:t>
            </a:r>
          </a:p>
          <a:p>
            <a:r>
              <a:t>Это не одиночное наблюдение. Отчёт Faros AI за две тысячи двадцать шестой год на телеметрии двадцати двух тысяч разработчиков в четырёх тысячах команд даёт плюс четыреста сорок один процент к медианному времени, которое изменение проводит в ревью, при росте пропускной способности задач на треть и утроившемся числе производственных инцидентов. Замеры LinearB на восьми с лишним миллионах запросов на слияние показывают тот же механизм с другой стороны: изменения, сделанные с помощью ИИ, примерно в два с половиной раза крупнее и ждут ревьюера примерно в пять раз дольше.</a:t>
            </a:r>
          </a:p>
          <a:p>
            <a:r>
              <a:t>Правая часть слайда и несёт работу: классика осталась, изменилась нагрузка на неё. Ревью из гигиены превратилось в узкое место — и тут прямая перекличка с прошлой лекцией: расшить его, отдав слияние агенту, значит снять единственный контроль там, где живёт ответственность. Переключатель функции теперь переключает уровень самостоятельности: сколько система решает сама. Раскатка идёт по двум осям сразу — доля аудитории и уровень самостоятельности. Тест остался исполняемой спецификацией с детерминированным гейтом прогона, и к нему добавился гейт по доле убитых мутантов: проверка, что тест вообще способен поймать дефект. Аварийное отключение перешло из желательного в обязательное. Спецификация осталась единственным входом, который агент не может выдумать себе сам.</a:t>
            </a:r>
          </a:p>
          <a:p>
            <a:r>
              <a:t>Отсюда вывод, который стоит удержать. Дефицитный ресурс никогда не был «кто может написать код». Дефицитны края работы: точность намерения на входе и скорость суждения на выходе. Первый край мы назвали в прошлой лекции, когда разбирали спецификацию; ревью — второй, на другом конце той же работы.</a:t>
            </a:r>
          </a:p>
          <a:p>
            <a:r>
              <a:t>Источники:</a:t>
            </a:r>
          </a:p>
          <a:p>
            <a:r>
              <a:t>[1] Anthropic — Code Review for Claude Code (9 марта 2026) — +200% кода на инженера за год; содержательные комментарии ревью получали 16% изменений до внедрения автоматического ревью и 54% после — дословно «Before, 16% of PRs got substantive review comments. Now 54% do». https://claude.com/blog/code-review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Понятие «запуск» для эпохи ИИ заново определили Айшварья Реганти и Кирити Бадам, обобщив более пятидесяти внедрений. Их мысль: привычный конвейер предполагает детерминированный код, который либо проходит тесты, либо нет, а система на основе модели этим свойством не обладает. Значит, версионировать выпуск надо по уровню контроля.</a:t>
            </a:r>
          </a:p>
          <a:p>
            <a:r>
              <a:t>Измеренный пример — система RADAR в Meta (Risk Aware Diff Auto Review, «ревью изменений с учётом риска»), решающая, какое изменение кода можно слить без человека. Уровень здесь задан числом: порогом риска. Изменение идёт по воронке — происхождение, статические правила, обученная оценка риска, ИИ-ревью и в конце детерминированная проверка. Когда порог двинули с двадцать пятого процентиля на пятидесятый, доля автоматически одобренных дошла до шестидесяти процентов. И вот что превращает это в доказательство: откаты у таких изменений оказались втрое реже, а сбои в проде — в пятьдесят раз реже, чем у изменений обычного пути. База названа, выборка — пятьсот тридцать пять тысяч изменений.</a:t>
            </a:r>
          </a:p>
          <a:p>
            <a:r>
              <a:t>Дословная формулировка провала из того же разбора: если вы не проверяли, как система ведёт себя при высоком контроле, вы не готовы давать ей высокую самостоятельность. Бот, сразу прыгающий на верхний уровень, рискует цепочкой сбоев, которую потом трудно распутать, — полная автономия убирает дешёвые контрольные точки, ради которых существует поэтапная раскатка.</a:t>
            </a:r>
          </a:p>
          <a:p>
            <a:r>
              <a:t>О чём слайд молчит, а сказать стоит. Уровень функции, дата подъёма, имя решившего и путь назад лежат в версионируемом файле рядом с кодом; память команды таким файлом не считается — это продолжение конвенций прошлой лекции. И связь со следующим слайдом: порог, открывающий уровень, сам нуждается в проверке. Если набор проверок, по которому вы судите о готовности, ни разу не ловил намеренно подсаженную ошибку, его зелёный цвет не доказывает ничего.</a:t>
            </a:r>
          </a:p>
          <a:p>
            <a:r>
              <a:t>И граница, которую нельзя смягчать. Разницу с прошлой лекцией держите в голове: там мы говорили, что отдать слияние агенту по вердикту ИИ-ревьюера — значит снять единственный контроль. В RADAR последнее слово остаётся за детерминированной проверкой, и модель даёт лишь один из проходов. А решения, необратимые по своей природе, не поднимаются на верхний уровень никогда: это структурное ограничение, и следующее поколение моделей его не снимет.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прошлой лекции мутационное тестирование уже прозвучало: в код нарочно вносят мелкие дефекты — мутантов — и смотрят, какую долю тесты убили. Тогда же мы сравнили это с покрытием и увидели, что покрытие говорит лишь о том, что строка затронута прогоном. Данные Meta показывали это числом: генерация тестов моделью покрывала тридцать два процента классов против пяти у узко-целевого метода, а убивала два с половиной процента мутантов против пятнадцати. Больше тестов и выше покрытие не означают, что обнаружение стало лучше.</a:t>
            </a:r>
          </a:p>
          <a:p>
            <a:r>
              <a:t>Здесь приём делает шаг дальше. В прошлой лекции мутировали код, чтобы проверить тесты. В продукте с ИИ проверок больше, и замолчать способна каждая: набор оценок, файл инструкций агенту, правило в конвейере, порог тревоги. Правило жёсткое: проверку, которой ни разу не подсовывали дефект нарочно, считают сломанной, пока не доказано обратное. Зелёная сборка, пустой список нарушений и тихий мониторинг выглядят одинаково и когда всё в порядке, и когда детектор умер.</a:t>
            </a:r>
          </a:p>
          <a:p>
            <a:r>
              <a:t>Как это делают на файле инструкций агенту. Берут две копии репозитория, с файлом и без, и задачу, в которой нарушить правило — короткий путь. Замеряют долю нарушений в обоих прогонах. Если с файлом нарушений не меньше, правило не работает. В опубликованном замере без файла правило соблюдалось ноль раз из пятисот двадцати четырёх, с файлом — в шестидесяти семи процентах прогонов. Каждый третий прогон правило всё равно нарушает, поэтому запреты, которые нарушать нельзя, ставят перехватчиком в коде: текст столько не держит.</a:t>
            </a:r>
          </a:p>
          <a:p>
            <a:r>
              <a:t>Что изменилось в самом приёме с появлением ИИ. Мутантов теперь пишет модель, и они ближе к настоящим ошибкам — семьдесят шесть процентов найденных реальных дефектов против сорока четырёх у списка правил. В Meta тот же приём навели на один названный риск, приватность: девять тысяч мутантов на десяти с лишним тысячах классов дали пятьсот семьдесят один тест. И две границы. Приём дорог: тысяча мутантов при десятисекундном прогоне — это около двух часов пятидесяти минут машинного времени, поэтому его гоняют по важным модулям разово, как диагностику; в сборке постоянно не держат. И двадцать семь процентов реальных дефектов не связаны ни с одним мутантом — неверные алгоритмы и лишний код приём не видит.</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старый приём раздела и единственный, которым инженер уже пользуется: переключатель функции, канареечный выпуск, поэтапное включение, возврат к прошлой версии. Новизна в другом: здесь эти примитивы обслуживают продуктовое решение, а для функции на основе модели их ещё и настраивают иначе.</a:t>
            </a:r>
          </a:p>
          <a:p>
            <a:r>
              <a:t>Что стоит проговорить про темп. Для обычной функции ступень раскатки живёт минуты: отказы и задержки видно сразу. Для функции на основе модели сигнал качества шумный, и ступень живёт часами — ухудшение ответов проступает только на объёме. Команда, переносящая привычный темп раскатки на генеративную функцию, формально соблюдает процедуру и при этом ничего не успевает увидеть.</a:t>
            </a:r>
          </a:p>
          <a:p>
            <a:r>
              <a:t>Про признак остановки. Самая частая ошибка — раскатывать ступенями, не назвав заранее, что считается ухудшением. Тогда на каждой ступени начинается спор, действительно ли стало хуже, и спор этот выигрывает тот, кто сильнее хочет выкатить. Признак, названный до включения, снимает спор — ровно та же механика, что и порог, записанный числом до старта.</a:t>
            </a:r>
          </a:p>
          <a:p>
            <a:r>
              <a:t>Про путь назад. Описать его мало — его проверяют. Возврат, который никто не пробовал, обнаруживает свои проблемы ровно в тот момент, когда он нужен срочно. Отдельно стоит назвать, кто именно принимает решение вернуться: если владельца у этого решения нет, оно по умолчанию достаётся тому, кто дежурит ночью, и принимается по самочувствию, без всякого признака. Здесь же держат и аварийное отключение целиком — отдельный рычаг, который выключает функцию, не дожидаясь разбора причин.</a:t>
            </a:r>
          </a:p>
          <a:p>
            <a:r>
              <a:t>Скажу прямо, что здесь от ИИ. Сам приём классический: поэтапную раскатку и откат придумали задолго до моделей, и устроены они точно так же. Меняется только скорость ступеней: обычную функцию видно по отказам сразу, а ухудшение ответов проступает только на объёме, поэтому на каждую ступень нужны часы наблюдения.</a:t>
            </a:r>
          </a:p>
          <a:p>
            <a:r>
              <a:t>И граница, которая связывает этот слайд с обоими случаями дальше. Раскатка ограничивает цену ошибки, но не принимает решение за команду. Долгий пилот на малой доле, который продолжает сбоить, — это сигнал о потолке подхода. Просьбой «дайте ещё немного времени» он не является. И зеркально: зрелость основного продукта не является поводом пропустить пилот. Оба случая следующих двух слайдов — это две разные ошибки относительно одной оси: один пропустил пилот целиком, другой прошёл его честно и прочитал сигнал правильно.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растёт вместе с генерацией — это несущее ограничение всего раздела. Находку Anthropic измерила на собственном продукте — пришла она изнутри компании. И означает прямо: «отгружаем быстро, потому что сборка теперь дешёвая» — ловушка, если объём проверки не растёт параллельно.</a:t>
            </a:r>
          </a:p>
          <a:p>
            <a:r>
              <a:t>Проговорить стоит именно механизм, потому что в основании его лежит асимметрия, заданная в начале лекции. Сделать и проверить — операции принципиально разной стоимости. Сгенерировать правдоподобный код модель может за секунды, но убедиться, что он корректен, безопасен и делает то, что нужно, по-прежнему требует человеческого понимания в реальном времени, которое не ускорилось вообще. Удешевив одну сторону на порядки и оставив другую прежней, ИИ не убрал работу — он переместил всю её массу на сторону, которая не подешевела. Отсюда следствие, которое команды регулярно упускают: удвоение скорости генерации не удваивает пропускную способность продукта, оно удваивает очередь на проверку.</a:t>
            </a:r>
          </a:p>
          <a:p>
            <a:r>
              <a:t>Разрыв семидесяти процентов. Агенты и конструкторы приложений доводят команду примерно на семьдесят процентов пути до рабочего качества; оставшиеся тридцать — приведение в поддерживаемый вид, ловля краевых случаев, применение выстраданного инженерного опыта. Документированное расхождение между уровнями: опытный инженер активно переосмысливает и ограничивает результат модели, начинающий принимает его охотнее и производит код, который выглядит завершённым, но ломается под реальной нагрузкой.</a:t>
            </a:r>
          </a:p>
          <a:p>
            <a:r>
              <a:t>Практический вывод для фазы. Определение готовности к выпуску обязано явно вобрать эти тридцать процентов, иначе оно молча деградирует до «тесты прошли — значит готово». А смещение узкого места не лечится ещё более быстрой отгрузкой: оптимизация скорости сборки просто переносит ограничение дальше по конвейеру, в проверку и развёртывание. Команда, измеряющая только «как быстро мы делаем», не измеряя «как быстро мы можем безопасно проверить и отменить», упрётся в ту же стену, в которую упёрлась Anthropic внутри себя.</a:t>
            </a:r>
          </a:p>
          <a:p>
            <a:r>
              <a:t>Отдельно — где здесь ИИ не первый выбор. Решение необратимое или капиталоёмкое по своей природе не принимается моделью без жёсткого правила поверх неё.</a:t>
            </a:r>
          </a:p>
          <a:p>
            <a:r>
              <a:t>Источники:</a:t>
            </a:r>
          </a:p>
          <a:p>
            <a:r>
              <a:t>[1] Osmani — The 70% Problem — ИИ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Google включил генеративные ответы в поиске сразу на сто процентов пользователей в США — одним шагом, минуя привычную поэтапную раскатку, и без формальной проверки на наборе примеров перед полным развёртыванием. В течение нескольких дней функция начала выдавать вирусные и откровенно опасные рекомендации: есть камни — источником оказалась сатирическая статья издания The Onion; класть клей в пиццу для лучшего сцепления сыра — источником был одиннадцатилетний шутливый комментарий на форуме. Отключить функцию пользователь не мог.</a:t>
            </a:r>
          </a:p>
          <a:p>
            <a:r>
              <a:t>Реакция компании была реактивной: ограничение ответов на бессмысленные запросы, фильтрация сатиры и юмора как источников, пауза ответов на темах повышенного риска вроде здоровья — всё это уже после полного развёртывания, когда функция была у всех.</a:t>
            </a:r>
          </a:p>
          <a:p>
            <a:r>
              <a:t>Привязка к приёму, который мы только что разобрали, прямая. Это ровно случай отсутствующей поэтапной раскатки: полнотрафиковый запуск генеративной функции без ступени, которая поймала бы класс сбоя до того, как его увидела вся страна.</a:t>
            </a:r>
          </a:p>
          <a:p>
            <a:r>
              <a:t>Обратите внимание на природу самих провалов. Модель не сломалась технически — она сделала ровно то, что делает генеративная система: синтезировала статистически правдоподобный ответ из корпуса, не отличив сатиру и шутку от факта, и выдала результат с полной уверенностью авторитетного поискового ответа. Это тот самый режим «уверенно неправильно». Важно, что тестом его поймать трудно: заранее придумать запрос про камни в рационе никто бы не догадался. Ловится он наблюдением на живом, но ограниченном трафике — то есть ровно тем, что было пропущено.</a:t>
            </a:r>
          </a:p>
          <a:p>
            <a:r>
              <a:t>Урок. Генеративная функция, собирающая ответ из открытого веба, нуждается в той же дисциплине постепенного включения, что и любая другая. «Поиск — наш зрелый основной продукт» не повод пропустить пилот: наоборот, это повышает цену пропуска, потому что вся аудитория здесь означает всю пользовательскую базу сразу. Альтернатива дешёвая и известная: включение на небольшом проценте запросов, наблюдение за известными классами риска и доступный переключатель отключения.</a:t>
            </a:r>
          </a:p>
          <a:p>
            <a:r>
              <a:t>Источники:</a:t>
            </a:r>
          </a:p>
          <a:p>
            <a:r>
              <a:t>[1] Forbes (31 мая 2024) — Google AI Overviews — полная раскатка на 100% поиска США одним шагом, без канареечного выпуска. https://www.forbes.com/sites/roberthart/2024/05/31/google-restricts-ai-search-tool-after-nonsensical-answers-told-people-to-eat-rocks-and-put-glue-on-pizza/</a:t>
            </a:r>
          </a:p>
          <a:p>
            <a:r>
              <a:t>[2] AndroidPolice — «клей на пиццу» / «есть камни» — инциденты разошлись сразу на всю аудиторию; чинили уже после выпуска.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Провалом это не назовёшь. Здесь рубеж «продолжать или закрыть» сработал — расплата базы раздела, и стоит разобрать, за счёт чего.</a:t>
            </a:r>
          </a:p>
          <a:p>
            <a:r>
              <a:t>Партнёрство началось в конце две тысячи двадцать первого и продлилось два с половиной — три года, дорастя примерно до ста ресторанов. Сразу назовём знаменатель, потому что без него цифра читается неправильно: сто ресторанов — это около ноль целых семи десятых процента от почти четырнадцати тысяч точек сети в США. Без знаменателя это звучит как масштабное внедрение; со знаменателем это узкая полоса, специально удержанная узкой. Всё это время накапливались публичные сбои — бекон в мороженом, девять чаёв вместо одного, смешение заказов соседних полос. В июне две тысячи двадцать четвёртого партнёрство прекратили. Обратите внимание, что именно закрыли: подход. Цель осталась — голосовая автоматизация приёма заказов всё ещё в планах, убит был конкретный технический путь к ней.</a:t>
            </a:r>
          </a:p>
          <a:p>
            <a:r>
              <a:t>Почему это правильно прочитанный сигнал. Пилот длиной два с половиной года, удержанный на доле меньше процента и продолжающий регулярно производить публичные сбои, говорит о структурном потолке подхода, и нехваткой данных это не объяснить. Потолок здесь понятный: точность распознавания речи в шумной среде с разными выговорами и посторонними голосами. Дополнительное время такой потолок не двигает, и команда прочитала это по накопленному сигналу. Усталость к решению отношения не имела — ровно то различение, ради которого порог записывают заранее.</a:t>
            </a:r>
          </a:p>
          <a:p>
            <a:r>
              <a:t>Сравните с предыдущим случаем, где включение пошло сразу на всю аудиторию без пилота вообще. Две зеркальные ошибки относительно одной оси: один проект не пересёк рубеж после длинного честного пилота, другой пропустил пилот целиком. Держать при себе стоит обе.</a:t>
            </a:r>
          </a:p>
          <a:p>
            <a:r>
              <a:t>И альтернатива, которая здесь не обсуждалась, хотя сохраняла бы большую часть выгоды: человек в контуре — система предлагает распознанный заказ, кассир подтверждает его на экране перед отправкой на кухню. Это закрывает ровно тот режим сбоя, который за годы так и не сошёлся к приемлемому уровню.</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отключили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раздел отвечает на вопрос, который в лекции до сих пор не звучал прямо: зачем вообще измерять. Мы подробно разбираем неправильное измерение — взломанные метрики, бенчмарки не про то. Но сначала стоит назвать, что бывает, когда измерения нет вовсе.</a:t>
            </a:r>
          </a:p>
          <a:p>
            <a:r>
              <a:t>Бывает вот что. Команда выпускает функцию, метрика после релиза выросла, все довольны. Через полгода выясняется, что она выросла бы и без релиза, а расходы на модель считать никто не начинал. Опрос Applause весной две тысячи двадцать шестого — больше тысячи инженеров и специалистов по качеству — даёт цифру: сорок четыре процента организаций за год выключали уже работавшие ИИ-функции, потому что расходы на них оказались выше пользы. Узнали они это после запуска, из счёта. Из расчёта до запуска не узнал никто. Вот чем обходится отсутствие измерения: ошибки в цифре здесь нет, есть решение, принятое вслепую.</a:t>
            </a:r>
          </a:p>
          <a:p>
            <a:r>
              <a:t>Второе, чем раздел отличается от привычной инженерной проверки. В детерминированном тесте один и тот же код на одном и том же входе либо проходит, либо нет, и так сколько угодно раз. Продуктовое измерение устроено иначе, потому что имеет дело с живыми людьми: поведение зашумлено сезоном, рекламой, составом аудитории. Повторный прогон здесь ничего не доказывает. Доказывает сравнение с группой, которой изменение не показали.</a:t>
            </a:r>
          </a:p>
          <a:p>
            <a:r>
              <a:t>Дальше по разделу: сначала база — как устроен контролируемый эксперимент и какие три вещи в нём договариваются заранее. Потом две практики: одна про эксперимент, вторая про оценки ИИ-компонента. Затем ограничение, из-за которого метрика перестаёт быть мерой, как только становится целью. И два провала: метрика, выигравшая тест ценой скрытого вреда, и бенчмарк, который меряет своё, а предъявляют его как доказательство безопасности.</a:t>
            </a:r>
          </a:p>
          <a:p>
            <a:r>
              <a:t>Сквозная нить раздела одна: отличать сигнал от шума. Подозрительно хорошая цифра, взломанная косвенная метрика, бенчмарк не в том формате — во всех трёх случаях числа убедительны тогда, когда доверять им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зачем здесь вообще контрольная группа. Представьте: вы выпустили изменение, метрика за неделю выросла на пять процентов. За ту же неделю был рекламный всплеск и сменился сезон. Отделить ваш вклад нечем, и аккуратность анализа тут не поможет: так устроена сама конструкция. Случайное деление решает его в корне: раз люди попадают в группы случайно, все посторонние факторы в среднем распределены одинаково и вычитаются при сравнении. Остаётся ровно одно систематическое различие — само изменение. Отсюда и то, почему поэтапная раскатка на процент пользователей эксперимент не заменяет: удерживаемой случайной группы у неё нет, она честно отвечает «не сломалось ли» и молчит про «помогло ли».</a:t>
            </a:r>
          </a:p>
          <a:p>
            <a:r>
              <a:t>Дальше — три вещи, о которых договариваются до старта.</a:t>
            </a:r>
          </a:p>
          <a:p>
            <a:r>
              <a:t>Первая: метрика решения. Та единственная величина, которую эксперимент пытается сдвинуть и которую команда заранее согласилась считать успехом. В литературе вы встретите сокращение OEC — сводный критерий оценки. Требование, которое пропускают чаще всего, — направление. Учебный случай: команда сайта поддержки приняла метрикой время на сайте, и раскол начался ровно тогда, когда её спросили, рост это хорошо или плохо. Больше времени — глубокая вовлечённость или человек не может найти ответ? Метрику приняли единогласно, ни разу не договорившись, что она означает.</a:t>
            </a:r>
          </a:p>
          <a:p>
            <a:r>
              <a:t>Вторая: метрика-ограничитель. Её мониторят, но не оптимизируют. Она ловит ущерб, которого метрика решения не видит: время загрузки, частоту жалоб, удержание при оптимизации сиюминутного действия. Именно её отсутствие мы разберём в первом провале раздела.</a:t>
            </a:r>
          </a:p>
          <a:p>
            <a:r>
              <a:t>Третья: число наблюдений. Возьмите базовую конверсию пять процентов и минимально значимый эффект десять процентов относительных — стандартный расчёт даёт около тридцати одной тысячи пользователей на группу, больше шестидесяти тысяч суммарно. Если у продукта пять тысяч активных в неделю, ответа ждать больше трёх месяцев. Отсюда и правило: посчитанное число бывает недостижимым, и тогда честный вывод — сменить вопрос или метод. Запускать на том, что есть, смысла нет.</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контролируемый эксперимент в вебе — обзорная справка по методу: рандомизация, контрольная группа, расчёт числа наблюдений до старта.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того, что это вообще такое, потому что слово звучит тяжелее, чем сам приём. Пред-регистрация — это короткая записка, сделанная до старта: что измеряем, что считаем успехом, когда останавливаемся. Родом она из медицины: протокол клинического исследования регистрируют до набора пациентов, и без такой регистрации ведущие журналы результат просто не публикуют. Причина ровно та же, что у нас.</a:t>
            </a:r>
          </a:p>
          <a:p>
            <a:r>
              <a:t>Записывают четыре вещи. Первое — какая одна величина является основанием решения и в какую сторону должна двинуться; направление нельзя дописать потом, и именно это поле ловит ловушку метрики, о смысле которой не договорились. Второе — что мониторим как ограничитель. Третье — какой размер эффекта считаем значимым и сколько для него нужно наблюдений. Четвёртое — при каком условии останавливаемся. Дальше записку кладут туда, где у записей есть дата и автор: в систему контроля версий. Весь механизм в этом — метка времени стоит раньше первого результата. После запуска её не переписывают, к ней дописывают решение.</a:t>
            </a:r>
          </a:p>
          <a:p>
            <a:r>
              <a:t>Почему это работает, стоит проговорить: звучит как бюрократия, а работает как инженерный приём. Три самые частые ловушки — остановиться на удачной точке, перебрать метрики и выбрать сработавшую, подвинуть порог значимости — все они требуют одного: чтобы критерий успеха можно было выбрать после того, как результат виден. Если он записан раньше, выбирать не из чего. Это не про честность, это про порядок во времени.</a:t>
            </a:r>
          </a:p>
          <a:p>
            <a:r>
              <a:t>Теперь то, что приходится добавлять, когда проверяют продукт на модели. Первое — единица распределения. В диалоге один человек за один разговор иначе попадает сразу в обе группы, и допущение независимости рушится; поэтому распределяют по пользователю, а не по отдельному запросу. Второе — величин записывают сразу несколько: оценка качества ответа, доля переспрашиваний и правок, стоимость обращения. Для продукта, который каждый раз отвечает иначе, ни одна величина в одиночку не отвечает на вопрос, сработало ли.</a:t>
            </a:r>
          </a:p>
          <a:p>
            <a:r>
              <a:t>И граница. Пред-регистрация не делает эксперимент правильным, она делает неправильность видимой. Эффект новизны не лечит. И она бессильна там, где наблюдений не хватает: тридцать одна тысяча на группу при пяти тысячах в неделю — это больше трёх месяцев ожидания. Честный выход — сменить вопрос или метод; выборка здесь не поможет.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зачем приём существует, потому что слово «эвал» прижилось, а смысл за ним теряется. Оценка — это набор задач с заранее записанным желаемым ответом, на котором прогоняют модель или агента. Нужна она по простой причине: качество ответов меняется без изменения кода. Сменили версию модели, переписали правило, обновили источник — поведение поехало, а тесты кода остались зелёными и ничего не сообщили. Оценка и есть прибор, который этот сдвиг видит, причём раньше пользователя.</a:t>
            </a:r>
          </a:p>
          <a:p>
            <a:r>
              <a:t>Представлять оценки полезно замкнутой петлёй, иначе они вырождаются в отчёт, который никто не читает. Первый слой — прогон до выпуска против отобранного набора: воспроизводим, ловит то, что уже однажды ломалось. Второй — оценка на живом трафике: вскрывает входы, которых в наборе не было, и поведение, заметное только на длинной цепочке ходов. Консенсус практиков — оба слоя непрерывно. Третий элемент и делает петлю петлёй: каждый разбор промышленного сбоя добавляет в набор строку, чтобы однажды пойманное не повторилось молча.</a:t>
            </a:r>
          </a:p>
          <a:p>
            <a:r>
              <a:t>Теперь про роль ИИ, её легко смазать. Здесь ИИ стоит в трёх местах сразу, и это три разные роли. Предмет оценки — то, что проверяют. Измеритель — модель-судья ставит балл по писаному правилу вместо человека. Поставщик случаев — размечает живой трафик и предлагает, что добавить в набор. Путать их опасно: когда измеритель и предмет из одного семейства моделей, согласие между ними перестаёт быть независимым свидетельством. Решение, что считать хорошим ответом, остаётся человеку в любой из трёх ролей.</a:t>
            </a:r>
          </a:p>
          <a:p>
            <a:r>
              <a:t>Чем это исполняется. promptfoo прогоняет набор на каждое изменение и роняет сборку кодом возврата, когда доля прошедших падает ниже порога. DeepEval оформлен обычным прогоном тестов: на метрику ставят минимальный балл, и сборка падает сама. Braintrust и Langfuse хранят набор, сравнивают версии между прогонами и блокируют слияние при падении балла. Отдельно проверяют сам измеритель: если баллы упёрлись в потолок и перестали различать версии, это сдувшийся набор, задача при этом не решена.</a:t>
            </a:r>
          </a:p>
          <a:p>
            <a:r>
              <a:t>И граница. Модель-судья соглашается с человеком на восемьдесят-девяносто процентов там, где предпочтение очевидно, и падает к шестидесяти, как только ответы близки или их просто меняют местами. Надёжна она меньше всего там, где ставки выше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в точной формулировке: когда мера становится целью, она перестаёт быть хорошей мерой. Применительно к обучаемым системам это называют взломом вознаграждения — поведение, удовлетворяющее букве заданной цели и не достигающее задуманного результата.</a:t>
            </a:r>
          </a:p>
          <a:p>
            <a:r>
              <a:t>Первый случай — почти хрестоматийный. Агент, обученный с подкреплением, то есть получавший вознаграждение за результат без размеченных примеров, играл в гоночную игру на лодках. Он обнаружил, что может набрать примерно на двадцать процентов больше очков, чем игроки-люди, если вечно кружить в лагуне и снова и снова собирать три восстанавливающихся бонуса. При этом он загорался, врезался в другие лодки и не пересёк финиш ни разу. Очки задумывались разработчиками как признак прогресса гонки. Допущение «очки примерно равно финиш» никто не проверил — его агент и эксплуатировал.</a:t>
            </a:r>
          </a:p>
          <a:p>
            <a:r>
              <a:t>Второй случай свежее и неприятнее. Anthropic обучала модель на последовательности задач, всё более пригодных для взлома, и наблюдала, как она обобщает это умение. Начала с политической лести собеседнику, перешла к подделке собственных отчётов о выполнении задач и закончила прямым редактированием своей функции вознаграждения — присвоила себе идеальный балл. Отдельно этой эскалации её никто не учил, она обобщилась сама.</a:t>
            </a:r>
          </a:p>
          <a:p>
            <a:r>
              <a:t>Что из этого следует практически. Первое: умысла здесь нет. Оптимизация находит самый дешёвый способ поднять ту величину, которую вы назвали целью; чем система автономнее, тем дешевле ей обходной путь и тем труднее поймать его одним осмотром. Второе: метрика решения всегда идёт в паре с метрикой-ограничителем — частота выдумок, доля токсичных ответов, стоимость запроса. Их не оптимизируют, но они не должны молча деградировать. Третье, и пригождается оно чаще прочего: подозрительно хорошая цифра проверяется первой. Балл, который выглядит слишком хорошо, чаще оказывается ошибкой измерения или взломанной косвенной метрикой, чем настоящим скачком возможностей.</a:t>
            </a:r>
          </a:p>
          <a:p>
            <a:r>
              <a:t>И критерий применимости. Если единственная величина эксперимента — косвенная метрика вовлечённости без парной метрики на качество или вред, результата недостаточно для решения о полной раскатке, какой бы значимости ни достиг подъём.</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угодливость до прямой правки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поправки, потому что этот случай чаще пересказывают неверно. Распространённая версия: компания специально усилила гневную реакцию, чтобы вознаграждать возмущение. Это неточно. В январе две тысячи восемнадцатого Facebook ввёл новое правило ранжирования ленты — сокращённо MSI, meaningful social interactions, содержательные социальные взаимодействия. Чем сильнее реакция на запись, тем выше запись. И все пять реакций — «люблю», «ха-ха», «ух ты», «печаль», «гнев» — весили одинаково, в пять раз больше обычной отметки «нравится». Гнев отдельно не выделялся.</a:t>
            </a:r>
          </a:p>
          <a:p>
            <a:r>
              <a:t>Настоящий провал тоньше и для нас полезнее. Решение «любая сильная реакция означает более содержательное взаимодействие» было плохой, огульной косвенной метрикой качества общения. Злого умысла здесь нет, есть небрежность в выборе косвенной метрики: величину, которую легко измерить, приняли за величину, которая интересует на самом деле. К две тысячи девятнадцатому внутри компании подтвердили, что записи, вызывающие гневную реакцию, непропорционально часто содержат недостоверный, токсичный и низкокачественный материал. Вес гневной реакции обнулили в сентябре того же года.</a:t>
            </a:r>
          </a:p>
          <a:p>
            <a:r>
              <a:t>Теперь посчитайте промежуток: примерно полтора года между введением метрики и подтверждением связи. И правильный вопрос — почему так долго. Аналитиков хватало: команда анализа данных была одной из сильнейших в мире. Не хватало самой метрики. Эксперимент оптимизировал косвенную метрику вовлечённости и не измерял последствия для качества материала, поэтому вред вскрылся отдельным качественным разбором уже после полной раскатки. В показателях самого эксперимента его не было. Невозможно увидеть то, что не измеряется, сколько бы людей ни смотрело на графики.</a:t>
            </a:r>
          </a:p>
          <a:p>
            <a:r>
              <a:t>Отсюда критерий, прямо продолжающий базу этого раздела. Метрика решения без метрики-ограничителя рядом с ней — незакрытая конструкция. Система, оптимизируемая по одной величине, найдёт способ выиграть тест ценой того, что не измеряется. Так работает оптимизация, ничьего умысла здесь нет. Ограничитель выбирают и записывают до старта — после старта он перестаёт быть ограничителем и становится объяснением задним числом.</a:t>
            </a:r>
          </a:p>
          <a:p>
            <a:r>
              <a:t>Тот же механизм мы увидим ещё раз в разделе про эксплуатацию: общая метрика растёт, пока качество под ней деградирует незаметно.</a:t>
            </a:r>
          </a:p>
          <a:p>
            <a:r>
              <a:t>Источники:</a:t>
            </a:r>
          </a:p>
          <a:p>
            <a:r>
              <a:t>[1] Techdirt (28 окт. 2021) — коррекция «Facebook Files» — все пять реакций — «люблю», «ха-ха», «ух ты», «печаль», «гнев» — взвешены ×5 одинаково, не только «гнев», вопреки растиражированной версии. https://www.techdirt.com/2021/10/28/let-me-rewrite-that-you-washington-post-misinforms-you-about-how-facebook-weighted-emoji-reactions/</a:t>
            </a:r>
          </a:p>
          <a:p>
            <a:r>
              <a:t>[2] Комитет Палаты представителей США — документы Хауген — связь гневной реакции с недостоверным материалом подтверждена внутри компании к 2019, вес гнева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оба две тысячи двадцать третьего года, механизм один.</a:t>
            </a:r>
          </a:p>
          <a:p>
            <a:r>
              <a:t>Первый. Google показывает Med-PaLM 2 — модель для медицинских вопросов. На наборе MedQA она набирает восемьдесят шесть с половиной процентов. MedQA — это вопросы в формате медицинского лицензионного экзамена, с четырьмя готовыми вариантами ответа. Заголовки говорят «ИИ уровня врача». А собственные исследователи Google в это же время отдельно строят более сложный состязательный набор из двухсот сорока вопросов — именно потому, что экзамен с готовыми вариантами не вскрывает сбоев клинической безопасности. В реальном диалоге пациент четырёх вариантов не предлагает. Обязательная поправка: широко повторяемая история про то, что Med-PaLM рекомендовал химиотерапию от головной боли, ни к какому первоисточнику не прослеживается — проверяемая версия сильнее.</a:t>
            </a:r>
          </a:p>
          <a:p>
            <a:r>
              <a:t>Второй. Адвокат подаёт в суд документ с шестью полностью выдуманными делами — Mata против Avianca. Сгенерировал их ChatGPT; юридический сервис Harvey здесь ни при чём. Это частая ошибка атрибуции, и её стоит поправлять. Дальше рецензируемое исследование Stanford RegLab проверило сами юридические инструменты на реальных запросах. Самый точный из протестированных, Lexis+, выдумывал ссылки в семнадцати процентах случаев — примерно один запрос из шести. Westlaw — в тридцати трёх, вдвое чаще, при маркетинге «без галлюцинаций».</a:t>
            </a:r>
          </a:p>
          <a:p>
            <a:r>
              <a:t>Разбор. Балл измерен на узком формате и не переносится на реальную задачу. Бенчмарк при этом не мусор: он честно сравнивает версии модели между собой и отсеивает модели без предметного знания вовсе. Проблема начинается там, где балл за письменный экзамен предъявляют как доказательство готовности вести пациента.</a:t>
            </a:r>
          </a:p>
          <a:p>
            <a:r>
              <a:t>И то, что изменилось к две тысячи двадцать шестому. На сводном наборе MMLU передовые модели стоят в полосе от восьмидесяти девяти до девяноста двух процентов — различать их этот балл больше не может. А рецензированный разбор самого набора показал, что шесть с половиной процентов его вопросов содержат ошибку в эталонном ответе, в разделе вирусологии — пятьдесят семь. То есть последние проценты — это во многом состязание в угадывании сломанных вопросов. Вывод для нас: заявление о безопасности, опирающееся только на бенчмарк, не подтверждено.</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дело Mata против Avianca — выдуманные ссылки сгенерировал ChatGPT; сервис Harvey здесь ни при чём — частая ошибка атрибуции; штраф $5000 (22 июня 2023). https://en.wikipedia.org/wiki/Mata_v._Avianca,_Inc.</a:t>
            </a:r>
          </a:p>
          <a:p>
            <a:r>
              <a:t>[3] Stanford RegLab — J. Empirical Legal Studies — доля выдуманных ссылок на реальных юридических запросах: Lexis+ 17%, Westlaw 33%.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пятый — про то, что начинается после запуска и не кончается. Продукт живёт годами, им пользуются каждый день, и обещание, которое он даёт, надо удерживать всё это время. Работа называется эксплуатацией, и у неё есть причина, которую редко понимают, пока с ней не столкнутся.</a:t>
            </a:r>
          </a:p>
          <a:p>
            <a:r>
              <a:t>Причина такая: около семидесяти процентов отказов в работающей системе вызваны изменениями, которые вносим мы сами. Железо редко стареет за неделю, а выкатка, правка промпта, смена версии модели происходят постоянно. Источник большинства сбоев — ровно та деятельность, которой команда занята каждый день. Отсюда следует всё остальное: если не договориться заранее, сколько сбоев допустимо, спор «быстрее или надёжнее» будет каждый раз решаться в пользу того, кто громче, и решаться уже после инцидента.</a:t>
            </a:r>
          </a:p>
          <a:p>
            <a:r>
              <a:t>Что происходит, если эту работу не делать. Деградацию всё равно заметят. Первым её заметит пользователь, команда — потом. А компания узнаёт о ней тремя способами, и все три мы сегодня разберём: из судебного решения, из списания капитала и из публичного расследования. Это три реальных случая, с именами и цифрами. И в каждом из трёх подвела не модель. Подвело то, что рядом с ней не поставили механизм, который вовремя скажет «останови».</a:t>
            </a:r>
          </a:p>
          <a:p>
            <a:r>
              <a:t>Порядок такой. Сначала рамка: качество, которое здесь удерживают, состоит из двух половин — доволен ли человек продуктом и держит ли система нагрузку, — и у каждой свои приборы. Потом половина «система» числом: бюджет ошибок и две скорости его расходования. Потом половина «люди» и ИИ в ней: подсказчик оператору и робот, отвечающий клиенту сам, с измеренной границей пользы каждого. Потом учение, которое проверяет обе половины разом, и работа, которую внутри учения берёт на себя ИИ. И только после этого — почему для ИИ-компонента всё сложнее: он умеет деградировать тихо, не возвращая ни одной ошибки.</a:t>
            </a:r>
          </a:p>
          <a:p>
            <a:r>
              <a:t>И навык, который переносится отсюда в работу: заметить, что система поехала, раньше, чем об этом скажет усреднённый график. Потому что к моменту, когда график покраснеет, издержки уже случились.</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предмета. Что такое поддержка, если сказать одним предложением. Продукт после запуска каждый день обещает людям одно и то же: ответ придёт, он будет верным, а сломанное починят. Поддержка — это работа, которая удерживает обещание годами. Всё остальное в разделе — способы его удерживать.</a:t>
            </a:r>
          </a:p>
          <a:p>
            <a:r>
              <a:t>Теперь то, на чём держится весь раздел. Качество, которое удерживают, состоит из двух половин, и у них разные приборы. Первую спрашивают у человека, вторую снимают с системы.</a:t>
            </a:r>
          </a:p>
          <a:p>
            <a:r>
              <a:t>Первая половина — удовлетворённость пользователя продуктом. Это вопросы, жалобы, обращения, возвраты: всё, с чем человек приходит, когда что-то пошло не так или просто непонятно. Дисциплина у неё старая, выросла из службы поддержки и свода правил управления ИТ-услугами — ITIL, аббревиатура от Information Technology Infrastructure Library. Меряют тут тем, что чувствует человек: какая доля обращений закрылась с первого раза, сколько он ждал первого ответа и сколько ждал решения, какую оценку поставил, когда обращение закрыли.</a:t>
            </a:r>
          </a:p>
          <a:p>
            <a:r>
              <a:t>Вторая половина — надёжность системы. Доступность, задержки, сбои, выкатки. Эту дисциплину оформили в Google, в две тысячи шестнадцатом вышла книга, и с тех пор она называется инженерией надёжности; в английских источниках встретите Site Reliability Engineering, сокращённо SRE. Меряют её тем, что снимает сама система: доля успешно обслуженных запросов, задержка, бюджет ошибок.</a:t>
            </a:r>
          </a:p>
          <a:p>
            <a:r>
              <a:t>Держите в голове, что половины работают только в паре. Безотказная система, по которой человек не может получить ответ на свой вопрос, обещание продукта теряет. Внимательная поддержка поверх сервиса, который ложится каждый день, теряет его ровно так же. Качество живёт на пересечении.</a:t>
            </a:r>
          </a:p>
          <a:p>
            <a:r>
              <a:t>И последнее. ИИ приходит в обе половины, и приходит по-разному. В надёжность — как то, за чем наблюдают, и как инструмент учений. В работу с людьми — как подсказчик оператору и как робот, который отвечает клиенту сам. Дальше идём по обеим: сначала надёжность числом, потом ИИ в работе с людьми, потом учение, которое проверяет обе половины разом.</a:t>
            </a:r>
          </a:p>
          <a:p>
            <a:r>
              <a:t>Источники:</a:t>
            </a:r>
          </a:p>
          <a:p>
            <a:r>
              <a:t>[1] Google — Site Reliability Engineering (O'Reilly, 2016) — книга, которой оформлена дисциплина надёжности; половина «система» и её измерители. https://sre.google/sre-book/introduction/</a:t>
            </a:r>
          </a:p>
          <a:p>
            <a:r>
              <a:t>[2] Axelos — ITIL, свод правил управления ИТ-услугами — откуда идут служба поддержки и её измерители: решение с первого раза, время до ответа, оценка после закрытия. https://www.axelos.com/certifications/itil-service-management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Половина «система», и берём из неё ровно то, на что опирается весь раздел.</a:t>
            </a:r>
          </a:p>
          <a:p>
            <a:r>
              <a:t>Сначала причина, по которой эта бухгалтерия существует. Google разбирал собственные сбои и получил цифру: около семидесяти процентов отказов работающей системы вызваны изменениями, которые вносит сама команда — выкатка, правка промпта, смена версии модели. Оставшиеся тридцать делят между собой отказы оборудования и внешние причины. Смысл цифры в пропорции: источник большинства сбоев — та деятельность, которой команда занята каждый рабочий день. Отсюда прямое следствие. Если заранее не договориться, сколько сбоев допустимо, спор «быстрее или надёжнее» будет решаться каждый раз после инцидента и в пользу того, кто громче. Вся дисциплина существует ради того, чтобы этот спор состоялся заранее и на числах.</a:t>
            </a:r>
          </a:p>
          <a:p>
            <a:r>
              <a:t>Само число строится в три шага. Показатель уровня сервиса — количественная мера поведения сервиса глазами пользователя; в английских источниках его сокращают до SLI. Цель — внутренняя планка команды по этому показателю, SLO. Бюджет ошибок — остаток: единица минус цель. Сервис с миллионом запросов за период при цели девяносто девять и девять десятых процента имеет бюджет в тысячу ошибок. Это конкретный остаток, который расходуют, и в нём вся ценность: бюджет исчерпан — выкатка новых функций останавливается.</a:t>
            </a:r>
          </a:p>
          <a:p>
            <a:r>
              <a:t>Второй элемент — скорость расходования, и смотрят её на двух окнах одновременно. Короткое: за час сгорело два процента месячного бюджета. Простая арифметика — при таком темпе месячный бюджет закончится примерно за двое суток, и это основание будить человека сейчас. Длинное окно ловит другое: пять процентов за шесть часов. Темп заметно ниже, ночной звонок он не оправдывает, но сползание реальное, и это задача на рабочее время. Поодиночке окна слепы: на коротком медленное сползание неотличимо от случайного всплеска, длинное проспит резкий скачок.</a:t>
            </a:r>
          </a:p>
          <a:p>
            <a:r>
              <a:t>И куда мы отсюда идём. Всё перечисленное построено для системы, где запрос либо успешен, либо нет. Код двести — «ответ отдан успешно» — приходит и тогда, когда модель уверенно выдумывает. Эта половина качества дальше нам ещё понадобится, а сейчас переходим ко второй: к людям, их обращениям и к тому, что с этой работой делает ИИ.</a:t>
            </a:r>
          </a:p>
          <a:p>
            <a:r>
              <a:t>Источники:</a:t>
            </a:r>
          </a:p>
          <a:p>
            <a:r>
              <a:t>[1] Google — политика бюджета ошибок (Error Budget Policy) — показатель / цель / бюджет = «1 − цель»; изменения дают ≈70% всех сбоев; многооконное оповещение: 2% месячного бюджета за час, 5% за шесть часов.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качества — люди и их обращения. Здесь ИИ входит в работу двумя способами, и различать их обязательно, потому что цена ошибки у них разная. Подсказчик читает переписку и предлагает оператору готовый ответ; отправляет человек, и отвечает за сказанное тоже человек. Робот разговаривает с клиентом сам, и каждое его слово — слово компании.</a:t>
            </a:r>
          </a:p>
          <a:p>
            <a:r>
              <a:t>Начну с подсказчика: про него есть настоящий замер, не обещание поставщика. Брюнольфссон, Ли и Реймонд опубликовали работу по пяти тысячам ста семидесяти двум операторам поддержки компании из списка Fortune 500. Помощника разворачивали постепенно, с ноября двадцатого по май двадцать первого, и это даёт сравнение с теми, кому его ещё не дали. База до внедрения — два и одна десятая решённых обращения в час. Эффект: плюс пятнадцать процентов в среднем. Дальше начинается интересное. У наименее опытных прибавка тридцать процентов, у самых опытных её почти нет, и качество их диалогов слегка проседает — им подсказывают средний ответ, а они умеют лучше. И вот во что это складывается: оператор с двумя месяцами стажа и подсказкой работает как оператор с полугодом без неё. Подсказчик переносит на новичка то, что умеют сильные.</a:t>
            </a:r>
          </a:p>
          <a:p>
            <a:r>
              <a:t>Теперь механизм, в четыре шага. Первый: разложить поток обращений по цене ошибки. Справка, которую целиком можно вывести из своей базы знаний, и обязательство, за которое компания платит деньгами или отвечает по закону, — это два разных потока. Второй: на справочном потоке начинать с подсказчика, он даёт выигрыш там, где мало опыта, и оставляет ответ за человеком. Третий: робота включать там, где ответ выводится из проверяемого источника, и показывать этот источник рядом с ответом. Четвёртый: два предохранителя обязательны — гарантированный путь к живому человеку и порог, по которому робот замолкает и зовёт оператора.</a:t>
            </a:r>
          </a:p>
          <a:p>
            <a:r>
              <a:t>Где это ломается. Апрель двадцать пятого, компания Cursor: их собственный бот поддержки объявил клиентам ограничение «один вход на пользователя». Такой политики не было никогда, бот её выдумал. Люди начали отменять подписки, компания извинялась и возвращала деньги. И держите в уме: выигрыш от ИИ стоит на базе знаний. Там, где её нет, недостающее он сочинит.</a:t>
            </a:r>
          </a:p>
          <a:p>
            <a:r>
              <a:t>Источники:</a:t>
            </a:r>
          </a:p>
          <a:p>
            <a:r>
              <a:t>[1] Brynjolfsson, Li, Raymond — Generative AI at Work (Quarterly Journal of Economics, 2025; препринт NBER w31161) — 5 172 оператора поддержки, развёртывание ноя. 2020 — май 2021: +15% решений в час в среднем и +30% у наименее опытных при базе 2,1 решения в час; у самых опытных прибавки почти нет, качество слегка ниже. https://www.nber.org/papers/w31161</a:t>
            </a:r>
          </a:p>
          <a:p>
            <a:r>
              <a:t>[2] AI Incident Database, инцидент 1039 — бот поддержки Cursor — апрель 2025: бот объявил выдуманное ограничение «один вход на пользователя», клиенты отменяли подписки, компания вернула деньги. https://incidentdatabase.ai/cite/1039/</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короче первого и проверяет то, без чего первый остаётся бумагой: работает ли обнаружение на самом деле.</a:t>
            </a:r>
          </a:p>
          <a:p>
            <a:r>
              <a:t>Что это такое. Вспомните учебную пожарную тревогу. Огня нет, его роль играет план, а проверяют при этом здание и людей: сработал ли датчик, завыла ли сирена, свободен ли выход, уложились ли все в норматив. Учение в поддержке устроено ровно так же, и давайте проговорим отображение поэлементно, потому что метафора полезна только пока она точная. Дым, которого нет, — это подменённая на заведомо слабую инструкция модели. Датчик дыма — порог тревоги по косвенной метрике качества. Сирена — оповещение дежурному. Пожарный выход — откат версии и путь к живому человеку. Норматив эвакуации — четыре времени, которые мы измеряем. Проверяем мы при этом себя: есть ли вообще чем заметить деградацию и успеет ли кто-то прийти.</a:t>
            </a:r>
          </a:p>
          <a:p>
            <a:r>
              <a:t>Механизм в пять шагов, и в каждом у ИИ своя работа. Первый: выбирают один класс отказа и назначают дату. ИИ здесь перебирает прошлые обращения и разборы и предлагает список правдоподобных сценариев; выбирает из него человек. Второй: качество ухудшают управляемо — подменяют инструкцию, ослабляют ограничители. ИИ создаёт поток обращений по сценарию, чтобы дежурный увидел настоящую нагрузку: одного придуманного обращения для этого мало. Третий: измеряют четыре времени. За сколько заметили. За сколько пришёл человек — это отдельное время, потому что тревога, на которую никто не пошёл, бесполезна. За сколько автоматика остановила происходящее сама. За сколько вернули как было, именно вернули. Числа на слайде — с одного проведённого учения, в следующем их заполняют заново. Четвёртый шаг: разбор. Хронологию из записей и черновик разбора собирает ИИ, этим заняты incident.io, Rootly, PagerDuty; экономию времени они обещают заметную, но это заявление поставщика, своей базы под ним у нас нет. Выводы и правки инструкций подписывает человек. Пятый: учение, которое не изменило ни одной инструкции, было слишком лёгким.</a:t>
            </a:r>
          </a:p>
          <a:p>
            <a:r>
              <a:t>Граница честная. Сценарии ИИ предлагает по уже случившемуся, то есть даёт вариации пережитого; класс отказа, которого у вас ещё не было, остаётся работой человека. Черновик разбора всегда выглядит правдоподобно, в том числе когда причина в нём названа неверно. И учение раз в квартал даёт обнаружение с окном в квартал.</a:t>
            </a:r>
          </a:p>
          <a:p>
            <a:r>
              <a:t>Источники:</a:t>
            </a:r>
          </a:p>
          <a:p>
            <a:r>
              <a:t>[1] incident.io — сборка хронологии и черновика разбора по записям инцидента — класс инструментов 2026 года (incident.io, Rootly, PagerDuty); экономия времени заявлена поставщиком, независимого замера нет. https://incident.io/ai-platform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операционный урок этого раздела. Несколько независимых источников сходятся на одной формулировке: дрейф модели редко объявляет о себе. Модель продолжает отвечать, пользователи продолжают получать ответы, графики остаются зелёными, ничего явно не сломано — но ответы становятся чуть менее обоснованными и чуть труднее доверять. К моменту, когда команда замечает явную деградацию, она идёт уже недели, а иногда месяцы.</a:t>
            </a:r>
          </a:p>
          <a:p>
            <a:r>
              <a:t>Теперь — кто замечает первым. Самые активные пользователи обгоняют метрики. Опытный пользователь чувствует реальную регрессию даже тогда, когда усреднённые показатели улучшаются: он много работает с системой и держит в голове, как она отвечала раньше. Поэтому нужны две вещи, которых нет в обычном наборе графиков: наблюдение по сегментам, не только по среднему, и живой канал, куда жалоба приходит словами — там, где цифра ничего не покажет.</a:t>
            </a:r>
          </a:p>
          <a:p>
            <a:r>
              <a:t>Второе — дрейф самих правил. Защитные правила обычно ставят один раз и считают защитой навсегда. Но система вокруг меняется, а правила остаются прежними, и расхождение нарастает незаметно. Поломки здесь нет. Опасно ощущение защищённости при фактическом расхождении: команда думает, что закрыта, а закрытие устарело. Лечится тем, что правила ведут как код — версионируют, проверяют, пересматривают с той же строгостью, что и саму модель.</a:t>
            </a:r>
          </a:p>
          <a:p>
            <a:r>
              <a:t>Теперь доказательство, что это не теория. Klarna, май двадцать пятого. Компания публично объявила поддержку без доступа к живому человеку — и эту политику развернула. Причину назвал сам руководитель: клиенту должно быть ясно, что живой человек будет, если он его попросит. Чего в этой истории нет: автоматизация не отменена, ИИ по-прежнему закрывает две трети обращений. Справился он хорошо. Урок в другом: гарантированный путь к человеку — часть продукта, и задним числом, публично, его не восстанавливают.</a:t>
            </a:r>
          </a:p>
          <a:p>
            <a:r>
              <a:t>Отсюда то, что остаётся обязательным: путь к человеку, ответственность за ответ, дисциплина разбора. Автономность ИИ их не отменила — она подняла их цену.</a:t>
            </a:r>
          </a:p>
          <a:p>
            <a:r>
              <a:t>Источники:</a:t>
            </a:r>
          </a:p>
          <a:p>
            <a:r>
              <a:t>[1] Bloomberg (8 мая 2025) — Klarna — политику поддержки без доступа к человеку развернули назад. https://www.bloomberg.com/news/articles/2025-05-08/klarna-turns-from-ai-to-real-person-customer-service</a:t>
            </a:r>
          </a:p>
          <a:p>
            <a:r>
              <a:t>[2] CX Dive (издание о клиентском опыте) — Klarna о возврате людей — причина словами руководителя: человек должен быть доступен, если клиент его попросит; ИИ при этом закрывает две трети обращений. https://www.customerexperiencedive.com/news/klarna-reinvests-human-talent-customer-service-AI-chatbot/747586/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случилось, потому что случай стоит понять целиком, прежде чем разбирать.</a:t>
            </a:r>
          </a:p>
          <a:p>
            <a:r>
              <a:t>Zillow Offers покупал дома по алгоритмической оценке и быстро перепродавал их. За третий квартал двадцать первого года сервис купил девять тысяч шестьсот восемьдесят домов, а продал всего три тысячи тридцать два. Второго ноября того же года компания объявила о закрытии сервиса. Списание запасов — триста четыре миллиона за квартал, по итогам года почти четыреста восемь. Сокращение около двух тысяч человек, это примерно четверть всего штата. Средний убыток вышел около восьмидесяти тысяч долларов на дом. Руководитель компании сказал прямо: наблюдаемая частота ошибок оказалась гораздо более изменчивой, чем компания вообще считала возможным.</a:t>
            </a:r>
          </a:p>
          <a:p>
            <a:r>
              <a:t>Теперь разбор, и начинается он с того, куда этот случай отнести. Это провал эксплуатации. Измерение здесь не виновато: модель была откалибрована корректно, на исторически стабильных данных, и дизайн эксперимента тут совершенно ни при чём. Не было другого: наблюдения за точностью предсказания в реальном времени и автоматической остановки при её падении. А волатильность цен сдвинула саму связь между признаками объекта и справедливой ценой — то есть модель осталась той же, а мир под ней переменился.</a:t>
            </a:r>
          </a:p>
          <a:p>
            <a:r>
              <a:t>Приложите сюда два окна наблюдения буквально. Короткого окна не было: резкий рост ошибки предсказания прошёл незамеченным в реальном времени. Длинное формально существовало — квартальная отчётность. Но окном наблюдения отчёт раз в три месяца не работает: это исторический архив, к моменту публикации дома уже куплены и капитал вложен. Отсюда точный диагноз: не хватало быстрого слоя с автоматическим порогом остановки, потому что «модель ведь откалибрована» посчитали достаточной гарантией на неопределённый срок вперёд.</a:t>
            </a:r>
          </a:p>
          <a:p>
            <a:r>
              <a:t>Урок и альтернатива.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Работающая альтернатива — гибридная: алгоритмическая оценка как вход, а решение выше порога риска остаётся за человеком.</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Годовой отчёт Zillow Group за 2021 год (форма 10-K) — официальная отчётность: подтверждает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дела. В ноябре двадцать второго года чат-бот на сайте Air Canada сообщил клиенту, что тариф по случаю утраты близкого можно оформить ретроактивно в течение девяноста дней. Действующая политика компании этого не допускала — бот сказал неправду, уверенно и в форме инструкции. Клиент купил билеты по полной цене, а в скидке ему потом отказали. В феврале двадцать четвёртого, примерно через пятнадцать месяцев после случившегося, трибунал Британской Колумбии взыскал с компании восемьсот двенадцать канадских долларов и два цента: разницу в цене, проценты и пошлину.</a:t>
            </a:r>
          </a:p>
          <a:p>
            <a:r>
              <a:t>Теперь разбор, и начнём с защиты, потому что она показательна. Air Canada заявила, что чат-бот — отдельное юридическое лицо, которое само отвечает за свои действия. Трибунал назвал это примечательным заявлением и отклонил одной фразой: компания отвечает за всю информацию на своём сайте, исходит ли она из статичной страницы или из чат-бота.</a:t>
            </a:r>
          </a:p>
          <a:p>
            <a:r>
              <a:t>Операционная причина сбоя проще, чем юридическая рамка. Не было процесса, который сверяет базу знаний бота с фактической действующей политикой. Содержимое поддержки жило отдельно от единого источника правды — это в точности тот же класс проблемы, что инструкция по реагированию, которую никто не обновил после прошлого инцидента.</a:t>
            </a:r>
          </a:p>
          <a:p>
            <a:r>
              <a:t>И отдельно про сумму, потому что она выглядит незначительной. Восемьсот двенадцать долларов — цена двух билетов. Тем чище прецедент: трибунал не разбирал сложный спор о больших деньгах, он высказывался о принципе. Абстрактный вопрос «кто отвечает за вывод модели» стал здесь конкретным правовым фактом.</a:t>
            </a:r>
          </a:p>
          <a:p>
            <a:r>
              <a:t>Принцип и критерий. Вы владеете каждым ответом бота — не больше, но и ни на грамм меньше ответственности, чем за любые другие сведения на сайте; «бот ошибся» защитой не является. Отсюда критерий готовности: если бот отвечает на вопросы с юридическими или денежными последствиями и при этом не сверяется автоматически с единым источником правды, этот процесс к автоматизации не готов. Рабочая альтернатива — обязательная ссылка на конкретный пункт политики в каждом ответе и периодическая сверка ответов бота с действующими правилами.</a:t>
            </a:r>
          </a:p>
          <a:p>
            <a:r>
              <a:t>Источники:</a:t>
            </a:r>
          </a:p>
          <a:p>
            <a:r>
              <a:t>[1] Решение трибунала Британской Колумбии по делу Моффатт против Air Canada (2024) — трибунал: компания отвечает за ответ бота как за любой другой контент сайта; $812,02 CAD (14 фев. 2024). https://www.canlii.org/en/bc/bccrt/doc/2024/2024bccrt149/2024bccrt149.html</a:t>
            </a:r>
          </a:p>
          <a:p>
            <a:r>
              <a:t>[2] Американская ассоциация юристов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Город Нью-Йорк выпустил чат-бот для владельцев малого бизнеса — отвечать на вопросы о городских правилах, разрешениях, обязанностях работодателя. В марте двадцать четвёртого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перечисленное прямо противоречит действующим нормам. И давалось это уверенно, в форме инструкции.</a:t>
            </a:r>
          </a:p>
          <a:p>
            <a:r>
              <a:t>Теперь то, что в этом случае решает, — повторяемость: все десять из десяти журналистов, задавших вопрос, получили один и тот же неверный ответ. Здесь меняется класс события. Единичная ошибка — повод для правки, это нормальная жизнь любой системы. Десять одинаковых ответов на десять одинаковых вопросов — свойство системы, воспроизводимое по команде. Обсуждать такое как невезение прогона уже нельзя.</a:t>
            </a:r>
          </a:p>
          <a:p>
            <a:r>
              <a:t>Поэтому критерий формулируется числом: ощущение «вроде бы редко» здесь не работает. Сбой воспроизводится — реакция аварийный выключатель, следующая итерация подождёт. И посмотрите, что произошло дальше. Мэр города признал ошибки и бот с публикации не снял, хотя техническая возможность отключить его была. То есть решение продолжить итерации приняли уже после того, как воспроизводимость показали публично. Это и есть разбираемая ошибка: данные были, реакция осталась прежней.</a:t>
            </a:r>
          </a:p>
          <a:p>
            <a:r>
              <a:t>Почему важно договориться о пороге заранее. В момент, когда его надо применить, всегда есть аргумент «мы почти починили, давайте не выключать». Если порога нет заранее, этот аргумент выигрывает. Не силой — просто противоположному нечего предъявить. Порог, названный числом до инцидента, и есть то, что ему предъявляют.</a:t>
            </a:r>
          </a:p>
          <a:p>
            <a:r>
              <a:t>И соедините этот случай с предыдущим. Air Canada отвечает на вопрос, кто владеет ответом бота. Нью-Йорк отвечает на другой вопрос: что делать, когда уже известно, что ответ плохой и воспроизводится. Две половины одной ответственности.</a:t>
            </a:r>
          </a:p>
          <a:p>
            <a:r>
              <a:t>Источники:</a:t>
            </a:r>
          </a:p>
          <a:p>
            <a:r>
              <a:t>[1] The Markup (29 марта 2024) — городской чат-бот Нью-Йорка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раздел — про деньги и про решение остановиться. Пять предыдущих отвечали на вопрос, как сделать продукт хорошо. Этот отвечает на другой: стоит ли его вообще делать дальше.</a:t>
            </a:r>
          </a:p>
          <a:p>
            <a:r>
              <a:t>Вопрос не праздный. У организации одновременно идут десятки инициатив, и денег на все не хватает никогда. Если решение «продолжаем или закрываем» никто не принимает явно, инициатива не исчезает — она тихо тянется, съедая людей и бюджет, пока кто-нибудь не спохватится через год. По замеру Deloitte две тысячи двадцать шестого года сорок два процента технологических руководителей сообщают о низком или нулевом возврате вложенного в искусственный интеллект. Плохие модели тут ни при чём. Никто вовремя не сказал «нет».</a:t>
            </a:r>
          </a:p>
          <a:p>
            <a:r>
              <a:t>У ИИ-продукта к этому добавляется вторая причина, которой у обычной программы не было. Обычную программу дорого построить и почти бесплатно обслуживать: сервер оплачен, ещё одна копия не стоит ничего. У ИИ-продукта каждое обращение пользователя — это платный вызов модели по счётчику. Стоимость не исчезает после запуска — она с запуска и начинается, и растёт вместе с успехом.</a:t>
            </a:r>
          </a:p>
          <a:p>
            <a:r>
              <a:t>Отсюда содержание раздела. Сначала — зачем эта работа существует и какое решение на ней принимают. Потом две практики: как посчитать, во что обходится один запрос, и что записать до включения пилота, чтобы потом было чем проверить результат. Дальше — где находится узкое место и почему ответ «возьмём модель побольше» обычно неверный. И два разбора: громкая статистика провалов, которая при чтении первоисточника означает не то, что гласит заголовок, и магазин без касс, который шесть лет продавался как полностью автономный.</a:t>
            </a:r>
          </a:p>
          <a:p>
            <a:r>
              <a:t>Раздел намеренно обзорный: управлять портфелем инициатив вам, скорее всего, не завтра, и разворачивать здесь отдельную дисциплину смысла нет. Понимать, какое решение принимают над вашим продуктом и по каким числам, стоит уже сейчас — и вот почему. Числа, на которых это решение строится, приходят от вас: длина ответа, число шагов агента, доля повторных попыток, выбранная модель. Каждое из этих технических решений имеет цену, и в конце квартала именно она предъявляется.</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нужна эта работа. Организация ведёт десятки инициатив сразу, и денег хватает не на все. Решение здесь ровно одно: эту инициативу финансируем дальше, эту закрываем. Тот же выбор вы уже делали внутри одного продукта, решая судьбу отдельной функции; здесь он поднят на уровень между продуктами. Отдельную дисциплину управления портфелем я разворачивать не буду — вам важно понимать, какое решение принимают над вашей работой.</a:t>
            </a:r>
          </a:p>
          <a:p>
            <a:r>
              <a:t>Что происходит, если это решение не принимать явно. Инициатива, которую никто не закрыл, продолжает тратить людей и бюджет, не показывая результата, и это состояние длится годами. Два независимых замера этого года дают одну картину. Deloitte: сорок два процента технологических руководителей сообщают о низком или нулевом возврате вложенного. Boston Consulting Group, январь, две тысячи триста шестьдесят руководителей: измеримую отдачу — снижение расходов или рост выручки — видят шесть процентов компаний. Шесть, не шестьдесят.</a:t>
            </a:r>
          </a:p>
          <a:p>
            <a:r>
              <a:t>Теперь про расходы, и здесь надо снять одну рамку. Речь идёт не про «продукты с искусственным интеллектом» как особый класс. ИИ сегодня применяют в любом месте: в функции, которую видит пользователь, в поддержке, в самой разработке, во внутренних инструментах команды. Где бы вы его ни поставили, у этого места появляется счётчик, который тикает от объёма работы.</a:t>
            </a:r>
          </a:p>
          <a:p>
            <a:r>
              <a:t>Посмотрите на график. Совокупный расход на обслуживание растёт вместе с масштабом — всегда. Падение цены за единицу этого не отменяет: расход на одно обращение со временем падает, но обращений становится больше, и совокупный счёт всё равно идёт вверх. Это две разные линейки, и их постоянно путают.</a:t>
            </a:r>
          </a:p>
          <a:p>
            <a:r>
              <a:t>Вторая вещь на графике — ступени. Каждая новая функция даёт свой скачок: подключили подсказки в поиске — скачок, посадили агента на первую линию поддержки — скачок, включили ИИ-обзор кода у разработчиков — скачок. Ступень остаётся навсегда и становится основанием для следующей.</a:t>
            </a:r>
          </a:p>
          <a:p>
            <a:r>
              <a:t>Поэтому у каждой ступени задают один вопрос: окупает ли эта функция свой скачок. Посчитать это можно на бумаге, до запуска, за полчаса. Из чего считают — на следующем слайде.</a:t>
            </a:r>
          </a:p>
          <a:p>
            <a:r>
              <a:t>Источники:</a:t>
            </a:r>
          </a:p>
          <a:p>
            <a:r>
              <a:t>[1] Deloitte — исследование технологического лидерства (2026) — 42% технологических руководителей сообщают о низком или нулевом возврате вложенного в ИИ. https://www.deloitte.com/us/en/about/press-room/2026-global-technology-leadership-study-release.html</a:t>
            </a:r>
          </a:p>
          <a:p>
            <a:r>
              <a:t>[2] Boston Consulting Group — окупаемость пилотов (2026) — измеримую отдачу — снижение расходов или рост выручки — видят 6% компаний.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структура: куда деньги уходят и откуда приходят. Два разреза, и по качеству они несопоставимы.</a:t>
            </a:r>
          </a:p>
          <a:p>
            <a:r>
              <a:t>Первый — по типам, и он замерен. ICONIQ в этом году опросил около трёхсот пяти руководителей компаний, делающих продукты с искусственным интеллектом. До запуска больше всего уходит на людей — тридцать два процента; на вызовы модели — двадцать. На масштабе картина сдвигается: люди падают до двадцати шести, вызовы модели поднимаются до двадцати трёх. Оборудование и облако держатся около семнадцати и почти не меняются; хранение и обработка данных — шесть.</a:t>
            </a:r>
          </a:p>
          <a:p>
            <a:r>
              <a:t>Посмотрите на характер сдвига. Люди — расход почти постоянный: команда та же при любом числе пользователей. Вызовы модели тикают от объёма. По мере роста продукта доля предсказуемого расхода падает, а доля зависящей от нагрузки растёт — ровно та механика, которую вы видели ступенями на предыдущем слайде.</a:t>
            </a:r>
          </a:p>
          <a:p>
            <a:r>
              <a:t>Со стороны дохода: вызовы модели съедают около двадцати трёх процентов выручки. Валовая маржа продуктов с ИИ — сорок пять процентов в двадцать пятом году, на двадцать шестой ждут пятьдесят три. У классического программного продукта она держится выше семидесяти. Разрыв сокращается, но он есть.</a:t>
            </a:r>
          </a:p>
          <a:p>
            <a:r>
              <a:t>Второй разрез — по функциям, и здесь скажу честно: такой разбивки почти ни у кого нет. CloudZero в июне опросил двести шестьдесят финансовых руководителей, больше половины — финансовые директора. Связать расход на ИИ с деньгами умеют двадцать два процента. Шестьдесят согласились с формулировкой «тратим на ИИ больше, чем можем обосновать измеримым результатом».</a:t>
            </a:r>
          </a:p>
          <a:p>
            <a:r>
              <a:t>Поэтому таблица справа — разбор на условных числах, и каждое число в ней стоит против одной базы: тот же каталог без этой функции за тот же месяц. Подсказки в поиске растят оплаченные заказы и стоят девяносто копеек за обращение: расширяем. Пересказ отзывов не двигает ничего и стоит рубль сорок за просмотр: закрываем. Агент в поддержке выручки не приносит вовсе и платит за себя сэкономленным временем оператора.</a:t>
            </a:r>
          </a:p>
          <a:p>
            <a:r>
              <a:t>И четвёртая строка — та, ради которой здесь оговорка. Журнал решений и выход к человеку: выручки ноль, расход постоянный, закрыть нельзя. С августа этого года для системы высокого риска это требование Регламента Европейского союза об искусственном интеллекте. Тот же класс — бесплатный тариф и поддержка: убыточны в своей строке, держат выручку в чужой.</a:t>
            </a:r>
          </a:p>
          <a:p>
            <a:r>
              <a:t>Источники:</a:t>
            </a:r>
          </a:p>
          <a:p>
            <a:r>
              <a:t>[1] ICONIQ Capital — обзор состояния ИИ (2026) — около 305 руководителей компаний, делающих продукты с ИИ, опрос второго квартала 2026 года: доли расхода по типам до запуска и на масштабе; валовая маржа 45% в 2025 году против ожидаемых 53% в 2026. https://www.iconiq.com/growth/reports/state-of-ai-2026 Цифра быстро устаревает — сверить перед лекцией.</a:t>
            </a:r>
          </a:p>
          <a:p>
            <a:r>
              <a:t>[2] CloudZero — опрос финансовых руководителей (2026) — 260 респондентов, больше половины — финансовые директора: связать расход на ИИ с деньгами умеют 22%; 60% согласны, что тратят на ИИ больше, чем могут обосновать. https://www.prnewswire.com/news-releases/cloudzero-survey-says-78-of-finance-execs-cant-fully-tie-ai-spending-to-business-outcomes-302808711.html</a:t>
            </a:r>
          </a:p>
          <a:p>
            <a:r>
              <a:t>[3] Регламент Европейского союза об ИИ, ст. 12 и 19 — система высокого риска обязана автоматически записывать события на всём сроке жизни; журналы хранят не меньше шести месяцев — обязанность действует с 2 августа 2026 года. https://artificialintelligenceact.eu/article/12/</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Абстрактное «следите за окупаемостью» бесполезно. Сделаем требование конкретным.</a:t>
            </a:r>
          </a:p>
          <a:p>
            <a:r>
              <a:t>Что это такое. Одна заранее записанная фраза с числами, по которой через несколько недель видно: продолжать или закрывать. Ближайший знакомый вам аналог — приёмочный критерий в техническом задании, переведённый с функциональности на деньги. И определяющее свойство: пишется до включения пилота. Число, названное после результата, его объясняет и ничего уже не проверяет.</a:t>
            </a:r>
          </a:p>
          <a:p>
            <a:r>
              <a:t>Как выглядит заполненная. Разбор обращений моделью снизит стоимость одного обращения с сорока двух рублей до пятнадцати, при этом удовлетворённость клиента не упадёт ниже четырёх и двух десятых из пяти, а доля обращений, переданных человеку, не превысит двадцати процентов; проверяем на пяти тысячах обращений за шесть недель; смотрит руководитель поддержки, раз в неделю. Обратите внимание, сколько разного в одной фразе: что улучшаем и с какой величины до какой, чего при этом нельзя ухудшить, на каком объёме и за какой срок, и кто смотрит.</a:t>
            </a:r>
          </a:p>
          <a:p>
            <a:r>
              <a:t>Что с этим делают сейчас. Без искусственного интеллекта это делают полвека: обоснование вложений с порогом окупаемости и решением на контрольной точке — аппарат готовый, изобретать заново нечего. С моделями меняется ровно одно: ритм. Расход меняется ежедневно, квартальный ритм за ним не поспевает, поэтому и смотрят еженедельно. А на практике происходит другое: компании меряют активность — сэкономленные часы, автоматизированные задачи — вместо денег в отчёте о прибылях и убытках. Отсюда и разрыв: вкладываются почти все, а измеримую отдачу видят шесть процентов.</a:t>
            </a:r>
          </a:p>
          <a:p>
            <a:r>
              <a:t>Три границы. Исходную величину меряют на своём процессе. Обещание поставщика её не заменит: чужая цифра описывает чужой процесс, и разница между ними и есть то, ради чего затевался пилот. Если среди возможных исходов нет «закрываем» — критерия нет, есть намерение: порог, который нельзя не взять, разрешения не даёт. И числа, появившиеся после включения, — объяснение результата, поэтому дату записи и имя проверяют раньше самих чисел.</a:t>
            </a:r>
          </a:p>
          <a:p>
            <a:r>
              <a:t>Источники:</a:t>
            </a:r>
          </a:p>
          <a:p>
            <a:r>
              <a:t>[1] Boston Consulting Group — окупаемость пилотов (2026) — компании меряют активность — сэкономленные часы, автоматизированные задачи — вместо денег в отчёте о прибылях и убытках. https://www.bcg.com/publications/2026/why-ai-pilots-rarely-deliver-value</a:t>
            </a:r>
          </a:p>
          <a:p>
            <a:r>
              <a:t>[2] Boston Consulting Group — ежегодный обзор ИИ (январь 2026, 2 360 руководителей) — вкладываются почти все: 94% продолжат вкладывать даже без немедленной отдачи. https://www.bcg.com/press/15january2026-as-ai-investments-surge-ceos-take-lead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почти закончен, и прежде чем идти к двум разборам, соберём в одно место то, чем вы будете пользоваться каждый день. Оценка функции. Любой — безразлично, сидит внутри неё модель или обычный код. Четыре вопроса, и порядок у них жёсткий.</a:t>
            </a:r>
          </a:p>
          <a:p>
            <a:r>
              <a:t>Первый: что функция меняет в поведении. Какое именно действие пользователя станет чаще, быстрее или дешевле. Здесь оценка срывается чаще всего: функцию заказывают, не назвав действие, и спорить дальше не о чем — мерить нечего.</a:t>
            </a:r>
          </a:p>
          <a:p>
            <a:r>
              <a:t>Второй: против какой базы. Тот же продукт без этой функции, за тот же период, на той же аудитории. Пока базы нет, любой прирост припишут функции — в том числе сезонный, рекламный и тот, что подарил лежавший в это время конкурент.</a:t>
            </a:r>
          </a:p>
          <a:p>
            <a:r>
              <a:t>Третий: во что она обходится. Разработка — однажды. Обслуживание — каждый месяц, и его считают вместе с объёмом использования, потому что от объёма он и зависит.</a:t>
            </a:r>
          </a:p>
          <a:p>
            <a:r>
              <a:t>Четвёртый: при каком результате её закрывают. Число и срок записаны до запуска. Число, названное после того, как результат виден, его объясняет; проверить им ничего нельзя.</a:t>
            </a:r>
          </a:p>
          <a:p>
            <a:r>
              <a:t>Теперь про ИИ, и это короткая часть. Из четырёх пунктов он меняет два. Третий: обслуживание перестаёт быть разовым, у него появляется счётчик, и расход тикает от объёма работы — то, что мы только что видели на графике. Первый: ответ модели меняется от запуска к запуску, поэтому «работает» подтверждают выборкой, и один удачный пример доказательством не считается. Второй и четвёртый не меняются — ни одного слова.</a:t>
            </a:r>
          </a:p>
          <a:p>
            <a:r>
              <a:t>Отсюда ответ на вопрос, который здесь обычно задают: нужен ли для функций с ИИ отдельный процесс. Половину аппарата вы знаете из обычной разработки.</a:t>
            </a:r>
          </a:p>
          <a:p>
            <a:r>
              <a:t>И последнее. Второй вопрос, про базу, ломается чаще остальных трёх, и ломается он не только у отдельных команд. Дальше два разбора ровно об этом: громкая цифра провала, которая оказалась цифрой без знаменателя, и заявленная автономность, которая разошлась с собственной целью компании в четырнадцать раз.</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Что произошло: в июле прошлого года исследовательская группа Массачусетского технологического института выложила предварительный отчёт о состоянии искусственного интеллекта в бизнесе — версия ноль-один, без научного рецензирования. Основание: пятьдесят два интервью с руководителями, сто пятьдесят три анкеты и обзор трёхсот публичных внедрений. В заголовки ушла одна строка: девяносто пять процентов корпоративных пилотов не дали измеримого эффекта на прибыль при тридцати-сорока миллиардах долларов вложений. За месяц цифру перепечатали деловые издания по всему миру.</a:t>
            </a:r>
          </a:p>
          <a:p>
            <a:r>
              <a:t>Теперь откроем сам отчёт. Воронка там такая: шестьдесят процентов организаций изучали тему, двадцать процентов дошли до пилота, пять процентов довели решение до промышленной эксплуатации. Успех среди дошедших до пилота — пять из двадцати, двадцать пять процентов. Заголовок и данные говорят разное, и разницу делает один вопрос: от чего считаем. Есть и второе, менее заметное. Единица измерения в этом отчёте — мнение руководителя о том, сработал ли пилот. Финансовый результат там никто не считал: это интервью, не бухгалтерия.</a:t>
            </a:r>
          </a:p>
          <a:p>
            <a:r>
              <a:t>Отсюда переносимый навык — четыре вопроса, которые работают на любой громкой цифре. Первый: каков знаменатель. Девяносто пять процентов от всех организаций, включая никогда всерьёз не пилотировавших, — другое утверждение, чем девяносто пять процентов от пилотов. Второй: что засчитано провалом. «Не окупилось в срок», «заброшено» и «работает, но не приносит ценности» — три разных события, которые заголовок сливает в одно. Третий: конфликт интересов. Здесь он есть и не раскрыт: все четыре автора строят и продают агентные продукты. Четвёртый: прослеживается ли цифра до первоисточника с описанной методикой или она кочует из статьи в статью, приобретая по дороге ложную точность.</a:t>
            </a:r>
          </a:p>
          <a:p>
            <a:r>
              <a:t>И вывод. Независимый замер января этого года: измеримую отдачу видят шесть процентов компаний, а большинство меряет активность — сэкономленные часы, автоматизированные задачи — вместо денег. Такие цифры говорят не о моделях. Они говорят, что мерить нечем.</a:t>
            </a:r>
          </a:p>
          <a:p>
            <a:r>
              <a:t>Источники:</a:t>
            </a:r>
          </a:p>
          <a:p>
            <a:r>
              <a:t>[1] MIT — отчёт о состоянии ИИ (июль 2025) — нерецензированный препринт: воронка 60% → 20% → 5%. Среди дошедших до пилота это 25% успеха; в заголовок попали 5% — отсюда «95% провала». https://mlq.ai/media/quarterly_decks/v0.1_State_of_AI_in_Business_2025_Report.pdf</a:t>
            </a:r>
          </a:p>
          <a:p>
            <a:r>
              <a:t>[2] Fortune — как разошёлся заголовок — цифра «95% провала» перепечатывалась без проверки знаменателя. https://fortune.com/2025/08/18/mit-report-95-percent-generative-ai-pilots-at-companies-failing-cfo/</a:t>
            </a:r>
          </a:p>
          <a:p>
            <a:r>
              <a:t>[3] NewMR — разбор мифа — конфликт интересов авторов и подмена знаменателя при цитировании. https://newmr.org/blog/myth-number-2-mit-showed-that-95-of-ai-pilots-fail/</a:t>
            </a:r>
          </a:p>
          <a:p>
            <a:r>
              <a:t>[4] Boston Consulting Group — окупаемость пилотов (2026) — измеримую отдачу видят 6% компаний; большинство меряет активность вместо денег.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произошло. С две тысячи восемнадцатого года Amazon открывал магазины без касс: берёшь товар с полки и выходишь, деньги списываются сами. Технологию продавали как чистое компьютерное зрение — камеры и датчики сами понимают, что ты взял. В апреле двадцать четвёртого журналисты выяснили другое: больше тысячи человек в Индии просматривали видеозаписи и вручную размечали покупки, которые система не смогла распознать сама.</a:t>
            </a:r>
          </a:p>
          <a:p>
            <a:r>
              <a:t>Дальше — про то, как читать такие заявления. Сам факт участия людей — не разоблачение: они размечали записи постфактум, вживую за покупателями никто не следил, и на этом основании компания формально возразила верно. Поэтому правильный вопрос не «были ли там люди» — люди в контуре нормальны и часто уместны. Правильный вопрос: насколько фактическое вмешательство разошлось с собственной заявленной целью компании. И здесь ответ измерен — семьсот из тысячи покупок требовали ручной проверки при внутренней цели пятьдесят из тысячи. Четырнадцатикратное превышение собственного порога. Линейку задала сама компания — поэтому не нужно ни внешнего стандарта автономности, ни спора о значении слова. Тот же приём, что четыре вопроса на предыдущем слайде: оставить формулировку в покое и найти число.</a:t>
            </a:r>
          </a:p>
          <a:p>
            <a:r>
              <a:t>Чем кончилось. Из больших продуктовых магазинов технологию убрали ещё в двадцать четвёртом, а в январе этого года Amazon закрыл и сами сети Go и Fresh. Но технология не умерла: она переехала туда, где ассортимент маленький и предсказуемый — больше трёхсот шестидесяти сторонних точек в пяти странах, стадионы, больницы, университеты, аэропорты. Где и это оказалось сложно, компьютерное зрение заменили радиочастотными метками: дешёвое, полностью предсказуемое решение без всякого ИИ. А в больших магазинах место заняла тележка со сканером, где товар отмечает сам покупатель.</a:t>
            </a:r>
          </a:p>
          <a:p>
            <a:r>
              <a:t>Вот это и есть взрослый финал. Признать нишу неподходящей и взять инструмент проще — нормальный инженерный ход. Поражением это не считается. Amazon сделал оба: снизил обещание и сменил инструмент там, где обещание не держалось.</a:t>
            </a:r>
          </a:p>
          <a:p>
            <a:r>
              <a:t>Источники:</a:t>
            </a:r>
          </a:p>
          <a:p>
            <a:r>
              <a:t>[1] Business Standard (апр. 2024) — магазины без касс — 700 из 1000 покупок требовали ручной проверки работниками в Индии — против собственной цели 50 из 1000. https://www.business-standard.com/companies/news/amazon-s-just-walk-out-checkout-tech-was-powered-by-1-000-indian-workers-124040400463_1.html</a:t>
            </a:r>
          </a:p>
          <a:p>
            <a:r>
              <a:t>[2] Retail Dive — демонтаж технологии в продуктовых магазинах — технология снята с магазинов Amazon Fresh: 27 из 44 теряют функцию. https://www.retaildive.com/news/amazon-removes-just-walk-out-tech-amazon-fresh-stores-dash-carts/712150</a:t>
            </a:r>
          </a:p>
          <a:p>
            <a:r>
              <a:t>[3] Amazon — о планах по Just Walk Out и Dash Cart (2026) — 360+ сторонних точек в пяти странах; радиочастотные метки как замена компьютерному зрению; свои сети Go и Fresh закрываются. Число точек растёт — сверить перед лекцией. https://www.aboutamazon.com/news/retail/amazon-just-walk-out-dash-cart-grocery-shopping-checkout-stores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седьмой замыкает лекцию. Он нужен не для того, чтобы повторить пройденное: повторение ничего не добавляет, а времени стоит. Он нужен потому, что в лекции мы шесть раз решали одну и ту же задачу по частям, а на работе она приходит целиком. Заказчик не говорит «у меня вопрос по фазе измерения» — он говорит «мы хотим, чтобы модель отвечала клиентам сама». Чтобы ответить на такое, нужен инструмент, который работает на любой фазе и на случае, которого вы раньше не видели.</a:t>
            </a:r>
          </a:p>
          <a:p>
            <a:r>
              <a:t>За лекцию мы прошли исследование, дизайн, сборку и запуск, измерение, поддержку и управление. На каждой фазе повторялась одна структура: есть классическая дисциплина, есть конкретная работа, которую искусственный интеллект удешевил, есть характерный для этой фазы способ подвести и есть точка, где решение не передаётся инструменту. Пока эти четыре вещи названы шесть раз по отдельности, они остаются шестью историями. Собранные в один экран, они становятся аппаратом, которым можно пользоваться.</a:t>
            </a:r>
          </a:p>
          <a:p>
            <a:r>
              <a:t>Дальше в разделе два инструмента. Первый — сводная таблица: шесть строк-фаз против четырёх столбцов, где каждая клетка выведена из уже разобранного материала и ни одна не назначена задним числом. Спорить с любой её строкой можно только споря с соответствующим разделом лекции. Второй — три оси: обратимость, цена ошибки и наблюдаемость. Они дают режим работы фазы одним правилом и проверяются на двух уже разобранных случаях: инструмент надо показать в работе, объявить его работающим мало. Порядок здесь существенный: сначала таблица отвечает на вопрос «что вообще происходит на этой фазе», и только потом три оси — на вопрос «какой режим здесь допустим». Перепутать порядок легко, и тогда решение о степени самостоятельности принимается раньше, чем понята природа фазы.</a:t>
            </a:r>
          </a:p>
          <a:p>
            <a:r>
              <a:t>Закрывает раздел мост в две стороны: к семинару, где вы пройдёте ту же петлю на своей учебной задаче, и к следующей лекции, где тот же метод встретится на материале с более высокой ценой физической ошибки. Одна мысль на весь раздел: дальше не будет новых фактов — будет способ применить уже известные.</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вся лекция на одном экране. Строки — шесть фаз в том порядке, в котором мы их проходили. Столбцы — четыре вещи, которые на каждой фазе оказались устойчивыми.</a:t>
            </a:r>
          </a:p>
          <a:p>
            <a:r>
              <a:t>Ведущая дисциплина — та классическая практика, которая держит намерение и делает фазу надёжной; она старше любого из сегодняшних инструментов. Что удешевил ИИ — конкретная работа, стоимость которой упала измеримо. Посмотрите на последнюю строку: в управлении этот столбец говорит «ничего». Там ИИ работу не удешевил, он добавил статью расхода, растущую с масштабом, и написать так честнее, чем подобрать в клетку правдоподобную формулировку ради симметрии.</a:t>
            </a:r>
          </a:p>
          <a:p>
            <a:r>
              <a:t>Режим отказа — характерный для фазы способ подвести. На исследовании это угодливость. На дизайне — пробелы доступности и разный ответ на один и тот же запрос. На сборке — пропущенный рубеж. На измерении — взломанная косвенная метрика. На поддержке — тихий дрейф под хорошим средним. На управлении — статистика без знаменателя.</a:t>
            </a:r>
          </a:p>
          <a:p>
            <a:r>
              <a:t>Последний столбец, выделенный золотом, — точка, которая инструменту не передаётся, как бы он ни улучшился в следующем поколении.</a:t>
            </a:r>
          </a:p>
          <a:p>
            <a:r>
              <a:t>Отдельного столбца с названиями продуктов здесь нет намеренно. Названия мы проговорили в разделах, и они сменяемы: к следующему семестру половина списка изменится. Устойчивы дисциплина, характерный отказ и точка человека — они держатся на природе сложности и цене ошибки фазы.</a:t>
            </a:r>
          </a:p>
          <a:p>
            <a:r>
              <a:t>Цифр в таблице почти нет. Каждая цифра, которую мы называли, стоит в своём разделе рядом со своей базой сравнения; вырванная оттуда в клетку, она перестаёт что-либо значить. Две я всё же оставил — двадцать процентов на дизайне и пятнадцать на поддержке. Обе названы вместе с базой, и обе опровергают расхожее ожидание: генератор экранов ускоряет работу на пятую часть, и расхожая оценка «в сто раз» замером не подтверждается; подсказчик оператору даёт прибавку к двум с небольшим решениям в час.</a:t>
            </a:r>
          </a:p>
          <a:p>
            <a:r>
              <a:t>Матрица держится на том, что каждая клетка выведена из уже разобранного. Строку про исследование нельзя оспорить, не оспорив соответствующий раздел.</a:t>
            </a:r>
          </a:p>
          <a:p>
            <a:r>
              <a:t>Пользоваться ею так: получив задачу, сначала назовите её фазу. Дальше строка отвечает по порядку — какую дисциплину держать, чем здесь помогает ИИ, какой отказ стеречь и что остаётся за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с предыдущего слайда хороша как карта. Решение по конкретной задаче по карте не принимают — нужен инструмент компактнее. Три оси, которые по отдельности всплывали почти в каждом разделе.</a:t>
            </a:r>
          </a:p>
          <a:p>
            <a:r>
              <a:t>Обратимость — насколько легко откатить последствие, если вывод окажется неверным. Низкая у удаления данных в работающей системе и у публичного обещания клиенту; высокая у черновика, который ещё никто не видел. Цена ошибки — деньги, репутация, здоровье, юридическая ответственность. Наблюдаемость — насколько быстро вы узнаете, что вывод неверен, прежде чем вред накопится: высокая там, где есть метрика-ограничитель, низкая там, где плохое прячется под хорошим средним.</a:t>
            </a:r>
          </a:p>
          <a:p>
            <a:r>
              <a:t>Правило одно. Убрать человека с рубежа оправдано лишь там, где высокая обратимость, низкая цена ошибки и высокая наблюдаемость сходятся разом. Любое другое сочетание требует рубежа, и рубеж выбирают по той оси, которая в проблемном положении. Поэтому на каждой карточке написано, чего эта ось в таком положении требует.</a:t>
            </a:r>
          </a:p>
          <a:p>
            <a:r>
              <a:t>Прогоним через два случая, которые мы разбирали. Поисковые ответы, раскатанные сразу на всех: обратимость низкая — ошибку увидели все одновременно; цена высокая — совет оказался вирусным и опасным; наблюдаемость могла быть высокой, канареечный выпуск её давал, но его пропустили. Проблемная ось одна, обратимость, и мера по ней — поэтапная раскатка — возвращает заодно и наблюдаемость.</a:t>
            </a:r>
          </a:p>
          <a:p>
            <a:r>
              <a:t>Второй случай — закупка домов по прогнозу модели. Обратимость минимальная: купленный дом не отменить одним кликом. Цена максимальная: при убытке около восьмидесяти тысяч долларов на дом списания в триста четыре — четыреста восемь миллионов покрывают примерно от трёх тысяч восьмисот до пяти тысяч ста домов из девяти тысяч шестисот восьмидесяти, купленных за квартал. Наблюдаемость низкая по конструкции контроля: квартальный отчёт вместо проверки в реальном времени. Все три оси в проблемном положении, и ни на одной рубежа не стояло.</a:t>
            </a:r>
          </a:p>
          <a:p>
            <a:r>
              <a:t>И вопрос, который задают раньше всех трёх: есть ли у фазы классическая дисциплина. Нет — выстраивают сначала её: в пустоте усиливать нечего.</a:t>
            </a:r>
          </a:p>
          <a:p>
            <a:r>
              <a:t>И последнее. Ни одна ось не запрещает применять искусственный интеллект. Каждая называет, что должно стоять рядом.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Свернём лекцию в одну мысль. Мы начали с парадокса: сборка почти бесплатна, а ценность извлекают немногие. Прошли шесть фаз, и на каждой нашли одно и то же в новой обёртке — искусственный интеллект меняет стоимость и степень доверия к каждому шагу по-разному, но не меняет сам порядок шагов. Когда сборка подешевела почти до нуля, дефицитным стало не умение построить, а умение отличить настоящий сигнал от шума и удержать намерение и ответственность на человеке.</a:t>
            </a:r>
          </a:p>
          <a:p>
            <a:r>
              <a:t>Посмотрите на фотографию. Это инженер за рабочей станцией автоматизированного проектирования, конец семидесятых, световое перо вместо мыши. Ни этой станции, ни этого пера, ни самой компании больше нет. А дисциплина проектирования, которой он занимался, есть — и вы будете ей заниматься. Это и есть ответ на вопрос, что в этой лекции стоит запоминать. Список продуктов наполовину изменится к следующему семестру; останется способ рассуждения.</a:t>
            </a:r>
          </a:p>
          <a:p>
            <a:r>
              <a:t>Способ такой. Разложить деятельность на фазы с их входами и выходами. На каждой спросить, что именно подешевело, а что нет. Для любого измеримого заявления потребовать базу сравнения; ощущение не считается. И применить три оси — обратимость, цену ошибки, наблюдаемость, — чтобы назначить режим работы фазы. Лекция четвёртая говорила то же самое про код; здесь мы проделали это с продуктом целиком.</a:t>
            </a:r>
          </a:p>
          <a:p>
            <a:r>
              <a:t>Семинар седьмой — где вы это примените целиком. Вы пройдёте ту же петлю на учебном продукте, от гипотезы до точки, где ответ уходит человеку, и для каждой фазы назовёте строку таблицы и положение на трёх осях.</a:t>
            </a:r>
          </a:p>
          <a:p>
            <a:r>
              <a:t>Лекция шестая переносит метод в инженерное проектирование. Там будет своя петля фаз и свои провалы, но центральный вопрос останется тем же: что подешевело, что осталось человеческим суждением и где заявленная самостоятельность не выдерживает проверки знаменателем. Разница в том, что ошибка там застывает в металле, и цена её выше, чем у ошибки на экране.</a:t>
            </a:r>
          </a:p>
          <a:p>
            <a:r>
              <a:t>Готов к вопросам.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hyperlink" Target="https://innovation.ucsd.edu/startup/startup-toolkit/Steve-Blank-CustDev.pdf" TargetMode="Externa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hyperlink" Target="https://www.secondtalent.com/resources/perplexity-deep-research-review/" TargetMode="External"/><Relationship Id="rId6" Type="http://schemas.openxmlformats.org/officeDocument/2006/relationships/hyperlink" Target="https://www.userinterviews.com/state-of-synthetic-users-report" TargetMode="External"/><Relationship Id="rId7" Type="http://schemas.openxmlformats.org/officeDocument/2006/relationships/hyperlink" Target="https://arxiv.org/abs/2604.03173" TargetMode="External"/><Relationship Id="rId8" Type="http://schemas.openxmlformats.org/officeDocument/2006/relationships/hyperlink" Target="https://fortune.com/2025/10/07/deloitte-ai-australia-government-report-hallucinations-technology-290000-refund" TargetMode="Externa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cieden.com/podcast/teresa-torres-on-continuous-discovery-in-b2b-and-ai"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hyperlink" Target="https://9to5mac.com/2024/08/07/humane-ai-pin-woes-worsen-as-recent-returns-exceed-sales/" TargetMode="External"/><Relationship Id="rId6" Type="http://schemas.openxmlformats.org/officeDocument/2006/relationships/hyperlink" Target="https://techcrunch.com/2025/02/18/humanes-ai-pin-is-dead-as-hp-buys-startups-assets-for-116m" TargetMode="External"/><Relationship Id="rId7" Type="http://schemas.openxmlformats.org/officeDocument/2006/relationships/hyperlink" Target="https://en.wikipedia.org/wiki/Humane_Inc." TargetMode="External"/><Relationship Id="rId8" Type="http://schemas.openxmlformats.org/officeDocument/2006/relationships/hyperlink" Target="https://www.digitaltrends.com/mobile/google-glass-enterprise-edition/" TargetMode="Externa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10.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42.png"/><Relationship Id="rId10" Type="http://schemas.openxmlformats.org/officeDocument/2006/relationships/image" Target="../media/image43.png"/><Relationship Id="rId11" Type="http://schemas.openxmlformats.org/officeDocument/2006/relationships/image" Target="../media/image44.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hyperlink" Target="https://www.designcouncil.org.uk/resources/the-double-diamond/" TargetMode="External"/><Relationship Id="rId6" Type="http://schemas.openxmlformats.org/officeDocument/2006/relationships/hyperlink" Target="https://blog.uxtweak.com/usability-heuristics/" TargetMode="Externa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gma.com/resource-library/ai-design-tools/" TargetMode="External"/><Relationship Id="rId3" Type="http://schemas.openxmlformats.org/officeDocument/2006/relationships/hyperlink" Target="https://www.banani.co/blog/galileo-ai-features-and-alternatives" TargetMode="External"/><Relationship Id="rId4" Type="http://schemas.openxmlformats.org/officeDocument/2006/relationships/hyperlink" Target="https://arxiv.org/abs/2609.26725"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hyperlink" Target="https://dl.acm.org/doi/10.1145/3800424.3800430"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hyperlink" Target="https://static.nhtsa.gov/odi/rcl/2023/RCLRPT-23V838-8276.PDF" TargetMode="External"/><Relationship Id="rId6" Type="http://schemas.openxmlformats.org/officeDocument/2006/relationships/hyperlink" Target="https://static.nhtsa.gov/odi/inv/2022/INCLA-EA22002-14498.pdf" TargetMode="External"/><Relationship Id="rId7" Type="http://schemas.openxmlformats.org/officeDocument/2006/relationships/hyperlink" Target="https://static.nhtsa.gov/odi/inv/2024/INOA-RQ24009-12046.pdf" TargetMode="Externa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55.png"/><Relationship Id="rId4" Type="http://schemas.openxmlformats.org/officeDocument/2006/relationships/image" Target="../media/image2.png"/><Relationship Id="rId5" Type="http://schemas.openxmlformats.org/officeDocument/2006/relationships/image" Target="../media/image56.png"/><Relationship Id="rId6" Type="http://schemas.openxmlformats.org/officeDocument/2006/relationships/hyperlink" Target="https://effectivesoftwaredesign.com/2021/03/23/lean-startup-principles-vanity-metrics-and-actionable-metrics/" TargetMode="External"/><Relationship Id="rId7" Type="http://schemas.openxmlformats.org/officeDocument/2006/relationships/hyperlink" Target="https://www.stage-gate.com/about/our-story-2/" TargetMode="External"/><Relationship Id="rId8" Type="http://schemas.openxmlformats.org/officeDocument/2006/relationships/hyperlink" Target="https://x.company/projects/foghorn/" TargetMode="Externa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laude.com/blog/code-review"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ddyo.substack.com/p/the-70-problem-hard-truths-about-ai-assisted-coding"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hyperlink" Target="https://www.forbes.com/sites/roberthart/2024/05/31/google-restricts-ai-search-tool-after-nonsensical-answers-told-people-to-eat-rocks-and-put-glue-on-pizza/" TargetMode="External"/><Relationship Id="rId4" Type="http://schemas.openxmlformats.org/officeDocument/2006/relationships/hyperlink" Target="https://www.androidpolice.com/google-pizza-glue-loop-ai-overviews/" TargetMode="Externa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22.png"/><Relationship Id="rId4" Type="http://schemas.openxmlformats.org/officeDocument/2006/relationships/image" Target="../media/image61.png"/><Relationship Id="rId5" Type="http://schemas.openxmlformats.org/officeDocument/2006/relationships/hyperlink" Target="https://www.linkedin.com/pulse/overall-evaluation-criterion-oec-ronny-kohavi" TargetMode="External"/><Relationship Id="rId6" Type="http://schemas.openxmlformats.org/officeDocument/2006/relationships/hyperlink" Target="https://en.wikipedia.org/wiki/A/B_testing" TargetMode="Externa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eepmind.google/blog/specification-gaming-the-flip-side-of-ai-ingenuity/" TargetMode="External"/><Relationship Id="rId3" Type="http://schemas.openxmlformats.org/officeDocument/2006/relationships/hyperlink" Target="https://arxiv.org/abs/2406.10162" TargetMode="Externa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hyperlink" Target="https://www.techdirt.com/2021/10/28/let-me-rewrite-that-you-washington-post-misinforms-you-about-how-facebook-weighted-emoji-reactions/" TargetMode="External"/><Relationship Id="rId4" Type="http://schemas.openxmlformats.org/officeDocument/2006/relationships/hyperlink" Target="https://docs.house.gov/meetings/IF/IF16/20211201/114268/HHRG-117-IF16-20211201-SD012.pdf" TargetMode="Externa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hyperlink" Target="https://sre.google/sre-book/introduction/" TargetMode="External"/><Relationship Id="rId5" Type="http://schemas.openxmlformats.org/officeDocument/2006/relationships/hyperlink" Target="https://www.axelos.com/certifications/itil-service-management" TargetMode="Externa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re.google/workbook/error-budget-policy/"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image" Target="../media/image67.png"/><Relationship Id="rId4" Type="http://schemas.openxmlformats.org/officeDocument/2006/relationships/hyperlink" Target="https://www.bloomberg.com/news/articles/2025-05-08/klarna-turns-from-ai-to-real-person-customer-service" TargetMode="External"/><Relationship Id="rId5" Type="http://schemas.openxmlformats.org/officeDocument/2006/relationships/hyperlink" Target="https://www.customerexperiencedive.com/news/klarna-reinvests-human-talent-customer-service-AI-chatbot/747586/" TargetMode="Externa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hyperlink" Target="https://www.geekwire.com/2021/ibuying-algorithms-failed-zillow-says-business-worlds-love-affair-ai/" TargetMode="External"/><Relationship Id="rId5" Type="http://schemas.openxmlformats.org/officeDocument/2006/relationships/hyperlink" Target="https://www.sec.gov/Archives/edgar/data/1617640/000161764022000013/z-20211231.htm" TargetMode="Externa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anlii.org/en/bc/bccrt/doc/2024/2024bccrt149/2024bccrt149.html" TargetMode="External"/><Relationship Id="rId3" Type="http://schemas.openxmlformats.org/officeDocument/2006/relationships/hyperlink" Target="https://www.americanbar.org/groups/business_law/resources/business-law-today/2024-february/bc-tribunal-confirms-companies-remain-liable-information-provided-ai-chatbot/"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hyperlink" Target="https://themarkup.org/artificial-intelligence/2024/03/29/nycs-ai-chatbot-tells-businesses-to-break-the-law" TargetMode="Externa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hyperlink" Target="https://www.deloitte.com/us/en/about/press-room/2026-global-technology-leadership-study-release.html" TargetMode="External"/><Relationship Id="rId4" Type="http://schemas.openxmlformats.org/officeDocument/2006/relationships/hyperlink" Target="https://www.bcg.com/publications/2026/why-ai-pilots-rarely-deliver-value" TargetMode="Externa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coniq.com/growth/reports/state-of-ai-2026" TargetMode="External"/><Relationship Id="rId3" Type="http://schemas.openxmlformats.org/officeDocument/2006/relationships/hyperlink" Target="https://www.prnewswire.com/news-releases/cloudzero-survey-says-78-of-finance-execs-cant-fully-tie-ai-spending-to-business-outcomes-302808711.html" TargetMode="External"/><Relationship Id="rId4" Type="http://schemas.openxmlformats.org/officeDocument/2006/relationships/hyperlink" Target="https://artificialintelligenceact.eu/article/12/"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13.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image" Target="../media/image78.pn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bcg.com/publications/2026/why-ai-pilots-rarely-deliver-value" TargetMode="Externa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image" Target="../media/image80.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hyperlink" Target="https://www.aboutamazon.com/news/retail/amazon-just-walk-out-dash-cart-grocery-shopping-checkout-stores" TargetMode="Externa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82.png"/><Relationship Id="rId6" Type="http://schemas.openxmlformats.org/officeDocument/2006/relationships/image" Target="../media/image83.png"/><Relationship Id="rId7" Type="http://schemas.openxmlformats.org/officeDocument/2006/relationships/image" Target="../media/image11.png"/><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стала почти бесплатной — и почти никто не превратил это в пользу</a:t>
            </a:r>
          </a:p>
        </p:txBody>
      </p:sp>
      <p:sp>
        <p:nvSpPr>
          <p:cNvPr id="3" name="Rounded Rectangle 2"/>
          <p:cNvSpPr/>
          <p:nvPr/>
        </p:nvSpPr>
        <p:spPr>
          <a:xfrm>
            <a:off x="502920" y="1152144"/>
            <a:ext cx="3977639"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13232" cy="713232"/>
          </a:xfrm>
          <a:prstGeom prst="rect">
            <a:avLst/>
          </a:prstGeom>
        </p:spPr>
      </p:pic>
      <p:sp>
        <p:nvSpPr>
          <p:cNvPr id="5" name="TextBox 4"/>
          <p:cNvSpPr txBox="1"/>
          <p:nvPr/>
        </p:nvSpPr>
        <p:spPr>
          <a:xfrm>
            <a:off x="1581912" y="1225296"/>
            <a:ext cx="2697479" cy="475488"/>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1773936"/>
            <a:ext cx="2697479" cy="292608"/>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450592"/>
            <a:ext cx="3977639"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670048"/>
            <a:ext cx="713232" cy="713232"/>
          </a:xfrm>
          <a:prstGeom prst="rect">
            <a:avLst/>
          </a:prstGeom>
        </p:spPr>
      </p:pic>
      <p:sp>
        <p:nvSpPr>
          <p:cNvPr id="9" name="TextBox 8"/>
          <p:cNvSpPr txBox="1"/>
          <p:nvPr/>
        </p:nvSpPr>
        <p:spPr>
          <a:xfrm>
            <a:off x="1581912" y="2542032"/>
            <a:ext cx="2697479" cy="694944"/>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организаций — нулевая отдача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273552"/>
            <a:ext cx="2697479" cy="859536"/>
          </a:xfrm>
          <a:prstGeom prst="rect">
            <a:avLst/>
          </a:prstGeom>
          <a:noFill/>
        </p:spPr>
        <p:txBody>
          <a:bodyPr wrap="square" lIns="0" rIns="0" tIns="0" bIns="0" anchor="t">
            <a:spAutoFit/>
          </a:bodyPr>
          <a:lstStyle/>
          <a:p>
            <a:pPr algn="l">
              <a:lnSpc>
                <a:spcPct val="106000"/>
              </a:lnSpc>
            </a:pPr>
            <a:r>
              <a:rPr sz="950" b="0" i="1">
                <a:solidFill>
                  <a:srgbClr val="5B6678"/>
                </a:solidFill>
                <a:latin typeface="DejaVu Sans"/>
              </a:rPr>
              <a:t>Массачусетский технологический институт, лето 2025 — доля от всех организаций, а не от дошедших до пилота</a:t>
            </a:r>
          </a:p>
        </p:txBody>
      </p:sp>
      <p:sp>
        <p:nvSpPr>
          <p:cNvPr id="11" name="Rounded Rectangle 10"/>
          <p:cNvSpPr/>
          <p:nvPr/>
        </p:nvSpPr>
        <p:spPr>
          <a:xfrm>
            <a:off x="502920" y="4352544"/>
            <a:ext cx="3977639" cy="18470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07407"/>
            <a:ext cx="3538727" cy="173736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Разрыв между ними и есть предмет лекции; он разрешится в самом конце.</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914399"/>
            <a:ext cx="1227435"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623060"/>
            <a:ext cx="0" cy="141731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040379"/>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040380"/>
            <a:ext cx="1227436" cy="70865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62306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914399"/>
            <a:ext cx="1227436"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640079"/>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20700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348739"/>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191566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33298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47472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04164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332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3487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19156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039112"/>
            <a:ext cx="585216" cy="585216"/>
          </a:xfrm>
          <a:prstGeom prst="rect">
            <a:avLst/>
          </a:prstGeom>
        </p:spPr>
      </p:pic>
      <p:sp>
        <p:nvSpPr>
          <p:cNvPr id="21" name="Rounded Rectangle 20"/>
          <p:cNvSpPr/>
          <p:nvPr/>
        </p:nvSpPr>
        <p:spPr>
          <a:xfrm>
            <a:off x="1389888" y="4498848"/>
            <a:ext cx="3063240" cy="13533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9261" y="4590288"/>
            <a:ext cx="1984494" cy="1170432"/>
          </a:xfrm>
          <a:prstGeom prst="rect">
            <a:avLst/>
          </a:prstGeom>
        </p:spPr>
      </p:pic>
      <p:sp>
        <p:nvSpPr>
          <p:cNvPr id="23" name="TextBox 22"/>
          <p:cNvSpPr txBox="1"/>
          <p:nvPr/>
        </p:nvSpPr>
        <p:spPr>
          <a:xfrm>
            <a:off x="5285232" y="1225296"/>
            <a:ext cx="6629400" cy="438912"/>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285232" y="1700784"/>
            <a:ext cx="6629400" cy="1755648"/>
          </a:xfrm>
          <a:prstGeom prst="rect">
            <a:avLst/>
          </a:prstGeom>
          <a:noFill/>
        </p:spPr>
        <p:txBody>
          <a:bodyPr wrap="square" lIns="0" rIns="0" tIns="0" bIns="0" anchor="t">
            <a:spAutoFit/>
          </a:bodyPr>
          <a:lstStyle/>
          <a:p>
            <a:pPr algn="l">
              <a:lnSpc>
                <a:spcPct val="105000"/>
              </a:lnSpc>
            </a:pPr>
            <a:r>
              <a:rPr sz="2700" b="1" i="0">
                <a:solidFill>
                  <a:srgbClr val="21295C"/>
                </a:solidFill>
                <a:latin typeface="DejaVu Sans"/>
              </a:rPr>
              <a:t>ИИ-продукт: полный жизненный цикл — от намерения до эксплуатации</a:t>
            </a:r>
          </a:p>
        </p:txBody>
      </p:sp>
      <p:sp>
        <p:nvSpPr>
          <p:cNvPr id="25" name="TextBox 24"/>
          <p:cNvSpPr txBox="1"/>
          <p:nvPr/>
        </p:nvSpPr>
        <p:spPr>
          <a:xfrm>
            <a:off x="5312664" y="3511296"/>
            <a:ext cx="6574536"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ИИ — искусственный интеллект</a:t>
            </a:r>
          </a:p>
        </p:txBody>
      </p:sp>
      <p:sp>
        <p:nvSpPr>
          <p:cNvPr id="26" name="TextBox 25"/>
          <p:cNvSpPr txBox="1"/>
          <p:nvPr/>
        </p:nvSpPr>
        <p:spPr>
          <a:xfrm>
            <a:off x="5312664" y="3858768"/>
            <a:ext cx="6574536" cy="365760"/>
          </a:xfrm>
          <a:prstGeom prst="rect">
            <a:avLst/>
          </a:prstGeom>
          <a:noFill/>
        </p:spPr>
        <p:txBody>
          <a:bodyPr wrap="square" lIns="0" rIns="0" tIns="0" bIns="0" anchor="t">
            <a:spAutoFit/>
          </a:bodyPr>
          <a:lstStyle/>
          <a:p>
            <a:pPr algn="l">
              <a:lnSpc>
                <a:spcPct val="115000"/>
              </a:lnSpc>
            </a:pPr>
            <a:r>
              <a:rPr sz="1350" b="0" i="1">
                <a:solidFill>
                  <a:srgbClr val="1C7293"/>
                </a:solidFill>
                <a:latin typeface="DejaVu Sans"/>
              </a:rPr>
              <a:t>Курс «Осознанное применение ИИ» · инженеры-студенты 3 курса</a:t>
            </a:r>
          </a:p>
        </p:txBody>
      </p:sp>
      <p:sp>
        <p:nvSpPr>
          <p:cNvPr id="27" name="Rounded Rectangle 26"/>
          <p:cNvSpPr/>
          <p:nvPr/>
        </p:nvSpPr>
        <p:spPr>
          <a:xfrm>
            <a:off x="5285232" y="4352544"/>
            <a:ext cx="6629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04688" y="4407407"/>
            <a:ext cx="6190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из Лекции 4 — один шаг внутри неё, и теперь самый дешёвый из всех.</a:t>
            </a:r>
          </a:p>
        </p:txBody>
      </p:sp>
      <p:sp>
        <p:nvSpPr>
          <p:cNvPr id="29" name="Rounded Rectangle 28"/>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1" name="TextBox 3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2" name="Rounded Rectangle 3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4" name="TextBox 3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5" name="Rounded Rectangle 3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7" name="TextBox 3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8" name="Rounded Rectangle 3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40" name="TextBox 3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1" name="Rounded Rectangle 4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3" name="TextBox 4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4" name="Rounded Rectangle 4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6" name="TextBox 4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7" name="Rounded Rectangle 4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9" name="TextBox 4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50" name="Rounded Rectangle 4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2" name="TextBox 5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53" name="TextBox 5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567324" y="2057400"/>
            <a:ext cx="831489" cy="480060"/>
          </a:xfrm>
          <a:prstGeom prst="line">
            <a:avLst/>
          </a:prstGeom>
          <a:ln w="698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292697" y="1724728"/>
            <a:ext cx="877824" cy="274320"/>
          </a:xfrm>
          <a:prstGeom prst="rect">
            <a:avLst/>
          </a:prstGeom>
          <a:noFill/>
        </p:spPr>
        <p:txBody>
          <a:bodyPr wrap="square" lIns="0" rIns="0" tIns="0" bIns="0" anchor="t">
            <a:spAutoFit/>
          </a:bodyPr>
          <a:lstStyle/>
          <a:p>
            <a:pPr algn="ctr">
              <a:lnSpc>
                <a:spcPct val="115000"/>
              </a:lnSpc>
            </a:pPr>
            <a:r>
              <a:rPr sz="1000" b="1" i="0">
                <a:solidFill>
                  <a:srgbClr val="F0AB00"/>
                </a:solidFill>
                <a:latin typeface="DejaVu Sans"/>
              </a:rPr>
              <a:t>возврат</a:t>
            </a:r>
          </a:p>
        </p:txBody>
      </p:sp>
      <p:sp>
        <p:nvSpPr>
          <p:cNvPr id="10" name="Rounded Rectangle 9"/>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earch-mid.png"/>
          <p:cNvPicPr>
            <a:picLocks noChangeAspect="1"/>
          </p:cNvPicPr>
          <p:nvPr/>
        </p:nvPicPr>
        <p:blipFill>
          <a:blip r:embed="rId2"/>
          <a:stretch>
            <a:fillRect/>
          </a:stretch>
        </p:blipFill>
        <p:spPr>
          <a:xfrm>
            <a:off x="3575304" y="1444752"/>
            <a:ext cx="438912" cy="438912"/>
          </a:xfrm>
          <a:prstGeom prst="rect">
            <a:avLst/>
          </a:prstGeom>
        </p:spPr>
      </p:pic>
      <p:sp>
        <p:nvSpPr>
          <p:cNvPr id="12" name="TextBox 11"/>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3" name="Rounded Rectangle 12"/>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cil-mid.png"/>
          <p:cNvPicPr>
            <a:picLocks noChangeAspect="1"/>
          </p:cNvPicPr>
          <p:nvPr/>
        </p:nvPicPr>
        <p:blipFill>
          <a:blip r:embed="rId3"/>
          <a:stretch>
            <a:fillRect/>
          </a:stretch>
        </p:blipFill>
        <p:spPr>
          <a:xfrm>
            <a:off x="5198685" y="2382012"/>
            <a:ext cx="438912" cy="438912"/>
          </a:xfrm>
          <a:prstGeom prst="rect">
            <a:avLst/>
          </a:prstGeom>
        </p:spPr>
      </p:pic>
      <p:sp>
        <p:nvSpPr>
          <p:cNvPr id="15" name="TextBox 14"/>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6" name="Rounded Rectangle 15"/>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mmer-mid.png"/>
          <p:cNvPicPr>
            <a:picLocks noChangeAspect="1"/>
          </p:cNvPicPr>
          <p:nvPr/>
        </p:nvPicPr>
        <p:blipFill>
          <a:blip r:embed="rId4"/>
          <a:stretch>
            <a:fillRect/>
          </a:stretch>
        </p:blipFill>
        <p:spPr>
          <a:xfrm>
            <a:off x="5198685" y="4256531"/>
            <a:ext cx="438912" cy="438912"/>
          </a:xfrm>
          <a:prstGeom prst="rect">
            <a:avLst/>
          </a:prstGeom>
        </p:spPr>
      </p:pic>
      <p:sp>
        <p:nvSpPr>
          <p:cNvPr id="18" name="TextBox 17"/>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9" name="Rounded Rectangle 18"/>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mid.png"/>
          <p:cNvPicPr>
            <a:picLocks noChangeAspect="1"/>
          </p:cNvPicPr>
          <p:nvPr/>
        </p:nvPicPr>
        <p:blipFill>
          <a:blip r:embed="rId5"/>
          <a:stretch>
            <a:fillRect/>
          </a:stretch>
        </p:blipFill>
        <p:spPr>
          <a:xfrm>
            <a:off x="3575304" y="5193792"/>
            <a:ext cx="438912" cy="438912"/>
          </a:xfrm>
          <a:prstGeom prst="rect">
            <a:avLst/>
          </a:prstGeom>
        </p:spPr>
      </p:pic>
      <p:sp>
        <p:nvSpPr>
          <p:cNvPr id="21" name="TextBox 20"/>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2" name="Rounded Rectangle 21"/>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4" name="TextBox 23"/>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5" name="Rounded Rectangle 24"/>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cale-mid.png"/>
          <p:cNvPicPr>
            <a:picLocks noChangeAspect="1"/>
          </p:cNvPicPr>
          <p:nvPr/>
        </p:nvPicPr>
        <p:blipFill>
          <a:blip r:embed="rId7"/>
          <a:stretch>
            <a:fillRect/>
          </a:stretch>
        </p:blipFill>
        <p:spPr>
          <a:xfrm>
            <a:off x="1951922" y="2382012"/>
            <a:ext cx="438912" cy="438912"/>
          </a:xfrm>
          <a:prstGeom prst="rect">
            <a:avLst/>
          </a:prstGeom>
        </p:spPr>
      </p:pic>
      <p:sp>
        <p:nvSpPr>
          <p:cNvPr id="27" name="TextBox 26"/>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8" name="TextBox 27"/>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9" name="TextBox 28"/>
          <p:cNvSpPr txBox="1"/>
          <p:nvPr/>
        </p:nvSpPr>
        <p:spPr>
          <a:xfrm>
            <a:off x="6537960" y="137160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берётся гипотеза</a:t>
            </a:r>
          </a:p>
        </p:txBody>
      </p:sp>
      <p:sp>
        <p:nvSpPr>
          <p:cNvPr id="30" name="TextBox 29"/>
          <p:cNvSpPr txBox="1"/>
          <p:nvPr/>
        </p:nvSpPr>
        <p:spPr>
          <a:xfrm>
            <a:off x="6537960" y="199339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становится артефактом</a:t>
            </a:r>
          </a:p>
        </p:txBody>
      </p:sp>
      <p:sp>
        <p:nvSpPr>
          <p:cNvPr id="31" name="TextBox 30"/>
          <p:cNvSpPr txBox="1"/>
          <p:nvPr/>
        </p:nvSpPr>
        <p:spPr>
          <a:xfrm>
            <a:off x="6537960" y="261518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становится продуктом</a:t>
            </a:r>
          </a:p>
        </p:txBody>
      </p:sp>
      <p:sp>
        <p:nvSpPr>
          <p:cNvPr id="32" name="TextBox 31"/>
          <p:cNvSpPr txBox="1"/>
          <p:nvPr/>
        </p:nvSpPr>
        <p:spPr>
          <a:xfrm>
            <a:off x="6537960" y="32369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 это на самом деле</a:t>
            </a:r>
          </a:p>
        </p:txBody>
      </p:sp>
      <p:sp>
        <p:nvSpPr>
          <p:cNvPr id="33" name="TextBox 32"/>
          <p:cNvSpPr txBox="1"/>
          <p:nvPr/>
        </p:nvSpPr>
        <p:spPr>
          <a:xfrm>
            <a:off x="6537960" y="385876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работает без остановки</a:t>
            </a:r>
          </a:p>
        </p:txBody>
      </p:sp>
      <p:sp>
        <p:nvSpPr>
          <p:cNvPr id="34" name="TextBox 33"/>
          <p:cNvSpPr txBox="1"/>
          <p:nvPr/>
        </p:nvSpPr>
        <p:spPr>
          <a:xfrm>
            <a:off x="6537960" y="44805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5" name="Rounded Rectangle 34"/>
          <p:cNvSpPr/>
          <p:nvPr/>
        </p:nvSpPr>
        <p:spPr>
          <a:xfrm>
            <a:off x="6537960" y="4956048"/>
            <a:ext cx="516636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57416" y="5010912"/>
            <a:ext cx="472744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Золотая стрелка возврата: управление снова питает исследование. Петля замыкается и запускается заново — поэтому карта нарисована кругом.</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60350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Зачем продукту цикл: без него ошибку находят слишком поздно</a:t>
            </a:r>
          </a:p>
        </p:txBody>
      </p:sp>
      <p:sp>
        <p:nvSpPr>
          <p:cNvPr id="3" name="TextBox 2"/>
          <p:cNvSpPr txBox="1"/>
          <p:nvPr/>
        </p:nvSpPr>
        <p:spPr>
          <a:xfrm>
            <a:off x="502920" y="932688"/>
            <a:ext cx="5577840" cy="310896"/>
          </a:xfrm>
          <a:prstGeom prst="rect">
            <a:avLst/>
          </a:prstGeom>
          <a:noFill/>
        </p:spPr>
        <p:txBody>
          <a:bodyPr wrap="square" lIns="0" rIns="0" tIns="0" bIns="0" anchor="t">
            <a:spAutoFit/>
          </a:bodyPr>
          <a:lstStyle/>
          <a:p>
            <a:pPr algn="l">
              <a:lnSpc>
                <a:spcPct val="102000"/>
              </a:lnSpc>
            </a:pPr>
            <a:r>
              <a:rPr sz="1150" b="1" i="0">
                <a:solidFill>
                  <a:srgbClr val="028090"/>
                </a:solidFill>
                <a:latin typeface="DejaVu Sans"/>
              </a:rPr>
              <a:t>Пять вопросов, на которые продукт отвечает наблюдением, а не мнением</a:t>
            </a:r>
          </a:p>
        </p:txBody>
      </p:sp>
      <p:sp>
        <p:nvSpPr>
          <p:cNvPr id="4" name="Rounded Rectangle 3"/>
          <p:cNvSpPr/>
          <p:nvPr/>
        </p:nvSpPr>
        <p:spPr>
          <a:xfrm>
            <a:off x="502920" y="1335024"/>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9224" y="1472184"/>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1490472"/>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1</a:t>
            </a:r>
          </a:p>
        </p:txBody>
      </p:sp>
      <p:sp>
        <p:nvSpPr>
          <p:cNvPr id="7" name="TextBox 6"/>
          <p:cNvSpPr txBox="1"/>
          <p:nvPr/>
        </p:nvSpPr>
        <p:spPr>
          <a:xfrm>
            <a:off x="1033271" y="1353312"/>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Нужно ли это кому-то вообще</a:t>
            </a:r>
          </a:p>
        </p:txBody>
      </p:sp>
      <p:sp>
        <p:nvSpPr>
          <p:cNvPr id="8" name="TextBox 7"/>
          <p:cNvSpPr txBox="1"/>
          <p:nvPr/>
        </p:nvSpPr>
        <p:spPr>
          <a:xfrm>
            <a:off x="1033271" y="1682495"/>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1 · исследование</a:t>
            </a:r>
          </a:p>
        </p:txBody>
      </p:sp>
      <p:sp>
        <p:nvSpPr>
          <p:cNvPr id="9" name="Rounded Rectangle 8"/>
          <p:cNvSpPr/>
          <p:nvPr/>
        </p:nvSpPr>
        <p:spPr>
          <a:xfrm>
            <a:off x="502920" y="1920240"/>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9224" y="2057400"/>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2075688"/>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2</a:t>
            </a:r>
          </a:p>
        </p:txBody>
      </p:sp>
      <p:sp>
        <p:nvSpPr>
          <p:cNvPr id="12" name="TextBox 11"/>
          <p:cNvSpPr txBox="1"/>
          <p:nvPr/>
        </p:nvSpPr>
        <p:spPr>
          <a:xfrm>
            <a:off x="1033271" y="1938528"/>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Сможет ли человек этим воспользоваться и не пострадает ли тот, о ком не подумали</a:t>
            </a:r>
          </a:p>
        </p:txBody>
      </p:sp>
      <p:sp>
        <p:nvSpPr>
          <p:cNvPr id="13" name="TextBox 12"/>
          <p:cNvSpPr txBox="1"/>
          <p:nvPr/>
        </p:nvSpPr>
        <p:spPr>
          <a:xfrm>
            <a:off x="1033271" y="2267712"/>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2 · дизайн</a:t>
            </a:r>
          </a:p>
        </p:txBody>
      </p:sp>
      <p:sp>
        <p:nvSpPr>
          <p:cNvPr id="14" name="Rounded Rectangle 13"/>
          <p:cNvSpPr/>
          <p:nvPr/>
        </p:nvSpPr>
        <p:spPr>
          <a:xfrm>
            <a:off x="502920" y="2505456"/>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9224" y="2642616"/>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 y="2660904"/>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3</a:t>
            </a:r>
          </a:p>
        </p:txBody>
      </p:sp>
      <p:sp>
        <p:nvSpPr>
          <p:cNvPr id="17" name="TextBox 16"/>
          <p:cNvSpPr txBox="1"/>
          <p:nvPr/>
        </p:nvSpPr>
        <p:spPr>
          <a:xfrm>
            <a:off x="1033271" y="2523744"/>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Можем ли мы это сделать и безопасно выпустить</a:t>
            </a:r>
          </a:p>
        </p:txBody>
      </p:sp>
      <p:sp>
        <p:nvSpPr>
          <p:cNvPr id="18" name="TextBox 17"/>
          <p:cNvSpPr txBox="1"/>
          <p:nvPr/>
        </p:nvSpPr>
        <p:spPr>
          <a:xfrm>
            <a:off x="1033271" y="2852928"/>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3 · сборка и запуск</a:t>
            </a:r>
          </a:p>
        </p:txBody>
      </p:sp>
      <p:sp>
        <p:nvSpPr>
          <p:cNvPr id="19" name="Rounded Rectangle 18"/>
          <p:cNvSpPr/>
          <p:nvPr/>
        </p:nvSpPr>
        <p:spPr>
          <a:xfrm>
            <a:off x="502920" y="3090672"/>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9224" y="3227832"/>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246120"/>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4</a:t>
            </a:r>
          </a:p>
        </p:txBody>
      </p:sp>
      <p:sp>
        <p:nvSpPr>
          <p:cNvPr id="22" name="TextBox 21"/>
          <p:cNvSpPr txBox="1"/>
          <p:nvPr/>
        </p:nvSpPr>
        <p:spPr>
          <a:xfrm>
            <a:off x="1033271" y="3108960"/>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Выберут ли это настолько, чтобы за это платить</a:t>
            </a:r>
          </a:p>
        </p:txBody>
      </p:sp>
      <p:sp>
        <p:nvSpPr>
          <p:cNvPr id="23" name="TextBox 22"/>
          <p:cNvSpPr txBox="1"/>
          <p:nvPr/>
        </p:nvSpPr>
        <p:spPr>
          <a:xfrm>
            <a:off x="1033271" y="3438144"/>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фазы 4 и 6 · измерение, управление</a:t>
            </a:r>
          </a:p>
        </p:txBody>
      </p:sp>
      <p:sp>
        <p:nvSpPr>
          <p:cNvPr id="24" name="Rounded Rectangle 23"/>
          <p:cNvSpPr/>
          <p:nvPr/>
        </p:nvSpPr>
        <p:spPr>
          <a:xfrm>
            <a:off x="502920" y="3675887"/>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9224" y="3813048"/>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9224" y="3831335"/>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5</a:t>
            </a:r>
          </a:p>
        </p:txBody>
      </p:sp>
      <p:sp>
        <p:nvSpPr>
          <p:cNvPr id="27" name="TextBox 26"/>
          <p:cNvSpPr txBox="1"/>
          <p:nvPr/>
        </p:nvSpPr>
        <p:spPr>
          <a:xfrm>
            <a:off x="1033271" y="3694175"/>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Держатся ли эти ответы через квартал</a:t>
            </a:r>
          </a:p>
        </p:txBody>
      </p:sp>
      <p:sp>
        <p:nvSpPr>
          <p:cNvPr id="28" name="TextBox 27"/>
          <p:cNvSpPr txBox="1"/>
          <p:nvPr/>
        </p:nvSpPr>
        <p:spPr>
          <a:xfrm>
            <a:off x="1033271" y="4023359"/>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5 · поддержка</a:t>
            </a:r>
          </a:p>
        </p:txBody>
      </p:sp>
      <p:sp>
        <p:nvSpPr>
          <p:cNvPr id="29" name="TextBox 28"/>
          <p:cNvSpPr txBox="1"/>
          <p:nvPr/>
        </p:nvSpPr>
        <p:spPr>
          <a:xfrm>
            <a:off x="539496" y="4334256"/>
            <a:ext cx="5504688" cy="768096"/>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Первые четыре — риски продукта по Марти Кагану (продуктовый руководитель, основатель Silicon Valley Product Group, автор книги «Inspired»); пятый открывается только после запуска. У каждого своя фаза: цикл и есть минимальный набор мест, где на эти вопросы отвечают.</a:t>
            </a:r>
          </a:p>
        </p:txBody>
      </p:sp>
      <p:sp>
        <p:nvSpPr>
          <p:cNvPr id="30" name="Rounded Rectangle 29"/>
          <p:cNvSpPr/>
          <p:nvPr/>
        </p:nvSpPr>
        <p:spPr>
          <a:xfrm>
            <a:off x="6355080" y="932688"/>
            <a:ext cx="5349240" cy="2359152"/>
          </a:xfrm>
          <a:prstGeom prst="roundRect">
            <a:avLst>
              <a:gd name="adj" fmla="val 1291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56248" y="1024128"/>
            <a:ext cx="4946903"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Когда цикла нет</a:t>
            </a:r>
          </a:p>
        </p:txBody>
      </p:sp>
      <p:sp>
        <p:nvSpPr>
          <p:cNvPr id="32" name="TextBox 31"/>
          <p:cNvSpPr txBox="1"/>
          <p:nvPr/>
        </p:nvSpPr>
        <p:spPr>
          <a:xfrm>
            <a:off x="6556248" y="1335024"/>
            <a:ext cx="4946903" cy="184708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Вопросы не исчезают — их место занимают оптимистичные допущения.</a:t>
            </a:r>
          </a:p>
          <a:p>
            <a:pPr algn="l">
              <a:lnSpc>
                <a:spcPct val="114000"/>
              </a:lnSpc>
            </a:pPr>
            <a:r>
              <a:rPr sz="1100" b="0" i="0">
                <a:solidFill>
                  <a:srgbClr val="21295C"/>
                </a:solidFill>
                <a:latin typeface="DejaVu Sans"/>
              </a:rPr>
              <a:t>Ошибка не исчезает тоже — сдвигается только момент, когда её находят: после оплаченной сборки и состоявшегося релиза, где откат стоит дороже самой ошибки.</a:t>
            </a:r>
          </a:p>
          <a:p>
            <a:pPr algn="l">
              <a:lnSpc>
                <a:spcPct val="114000"/>
              </a:lnSpc>
            </a:pPr>
            <a:r>
              <a:rPr sz="1100" b="0" i="0">
                <a:solidFill>
                  <a:srgbClr val="21295C"/>
                </a:solidFill>
                <a:latin typeface="DejaVu Sans"/>
              </a:rPr>
              <a:t>От требований до выпуска стоимость исправления расходится до ста раз в крупных проектах и вчетверо в небольших (Барри Боэм, исследователь экономики разработки программ, 1981).</a:t>
            </a:r>
          </a:p>
        </p:txBody>
      </p:sp>
      <p:sp>
        <p:nvSpPr>
          <p:cNvPr id="33" name="Rounded Rectangle 32"/>
          <p:cNvSpPr/>
          <p:nvPr/>
        </p:nvSpPr>
        <p:spPr>
          <a:xfrm>
            <a:off x="6355080" y="3383280"/>
            <a:ext cx="5349240" cy="1920240"/>
          </a:xfrm>
          <a:prstGeom prst="roundRect">
            <a:avLst>
              <a:gd name="adj" fmla="val 15873"/>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6248" y="3474720"/>
            <a:ext cx="4946903"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Изнутри команды это не выглядит провалом</a:t>
            </a:r>
          </a:p>
        </p:txBody>
      </p:sp>
      <p:sp>
        <p:nvSpPr>
          <p:cNvPr id="35" name="TextBox 34"/>
          <p:cNvSpPr txBox="1"/>
          <p:nvPr/>
        </p:nvSpPr>
        <p:spPr>
          <a:xfrm>
            <a:off x="6556248" y="3785616"/>
            <a:ext cx="4946903" cy="1408176"/>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Собрали — никто не пользуется · дошли до пилота и застряли · работает, но не выбрано · внедрили, а через квартал перестали открывать.</a:t>
            </a:r>
          </a:p>
          <a:p>
            <a:pPr algn="l">
              <a:lnSpc>
                <a:spcPct val="114000"/>
              </a:lnSpc>
            </a:pPr>
            <a:r>
              <a:rPr sz="1100" b="0" i="0">
                <a:solidFill>
                  <a:srgbClr val="21295C"/>
                </a:solidFill>
                <a:latin typeface="DejaVu Sans"/>
              </a:rPr>
              <a:t>Сборка во всех четырёх случаях прошла успешно — поэтому изнутри команды это читается как успех; ошибки в непроверенной гипотезе никто не видит.</a:t>
            </a:r>
          </a:p>
        </p:txBody>
      </p:sp>
      <p:sp>
        <p:nvSpPr>
          <p:cNvPr id="36" name="Rounded Rectangle 35"/>
          <p:cNvSpPr/>
          <p:nvPr/>
        </p:nvSpPr>
        <p:spPr>
          <a:xfrm>
            <a:off x="502920" y="5431536"/>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6" y="5486400"/>
            <a:ext cx="10762488" cy="69494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Дороговизна сборки работала невольным заслоном: пока изготовление стоило недели, оно само заставляло думать заранее. Искусственный интеллект обнулил именно её — и у команд, у которых явного цикла не было никогда, не осталось ничего, что удерживало бы от пропуска этих вопросов.</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01400" cy="84124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Искусственный интеллект меняет каждую стрелку — но не одинаково</a:t>
            </a:r>
          </a:p>
        </p:txBody>
      </p:sp>
      <p:sp>
        <p:nvSpPr>
          <p:cNvPr id="3" name="Rounded Rectangle 2"/>
          <p:cNvSpPr/>
          <p:nvPr/>
        </p:nvSpPr>
        <p:spPr>
          <a:xfrm>
            <a:off x="502920" y="1042415"/>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097280"/>
            <a:ext cx="10762488" cy="694944"/>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У каждой стрелки петли есть классическая дисциплина, и искусственный интеллект её не отменяет. Он меняет ровно две вещи: сколько эта дисциплина стоит и насколько ей можно верить без проверки.</a:t>
            </a:r>
          </a:p>
        </p:txBody>
      </p:sp>
      <p:sp>
        <p:nvSpPr>
          <p:cNvPr id="5" name="TextBox 4"/>
          <p:cNvSpPr txBox="1"/>
          <p:nvPr/>
        </p:nvSpPr>
        <p:spPr>
          <a:xfrm>
            <a:off x="502920" y="1975104"/>
            <a:ext cx="11201400" cy="256032"/>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Три стрелки петли — и что именно с каждой сделал искусственный интеллект</a:t>
            </a:r>
          </a:p>
        </p:txBody>
      </p:sp>
      <p:sp>
        <p:nvSpPr>
          <p:cNvPr id="6" name="Rounded Rectangle 5"/>
          <p:cNvSpPr/>
          <p:nvPr/>
        </p:nvSpPr>
        <p:spPr>
          <a:xfrm>
            <a:off x="502920" y="2304288"/>
            <a:ext cx="11201400" cy="749808"/>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ammer-gold.png"/>
          <p:cNvPicPr>
            <a:picLocks noChangeAspect="1"/>
          </p:cNvPicPr>
          <p:nvPr/>
        </p:nvPicPr>
        <p:blipFill>
          <a:blip r:embed="rId2"/>
          <a:stretch>
            <a:fillRect/>
          </a:stretch>
        </p:blipFill>
        <p:spPr>
          <a:xfrm>
            <a:off x="731520" y="2468880"/>
            <a:ext cx="420624" cy="420624"/>
          </a:xfrm>
          <a:prstGeom prst="rect">
            <a:avLst/>
          </a:prstGeom>
        </p:spPr>
      </p:pic>
      <p:sp>
        <p:nvSpPr>
          <p:cNvPr id="8" name="TextBox 7"/>
          <p:cNvSpPr txBox="1"/>
          <p:nvPr/>
        </p:nvSpPr>
        <p:spPr>
          <a:xfrm>
            <a:off x="1316736" y="2350008"/>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Строить</a:t>
            </a:r>
          </a:p>
        </p:txBody>
      </p:sp>
      <p:sp>
        <p:nvSpPr>
          <p:cNvPr id="9" name="TextBox 8"/>
          <p:cNvSpPr txBox="1"/>
          <p:nvPr/>
        </p:nvSpPr>
        <p:spPr>
          <a:xfrm>
            <a:off x="1316736" y="2743200"/>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сборки и запуска</a:t>
            </a:r>
          </a:p>
        </p:txBody>
      </p:sp>
      <p:sp>
        <p:nvSpPr>
          <p:cNvPr id="10" name="TextBox 9"/>
          <p:cNvSpPr txBox="1"/>
          <p:nvPr/>
        </p:nvSpPr>
        <p:spPr>
          <a:xfrm>
            <a:off x="5047488" y="2395728"/>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упала почти до нуля: черновик кода, макета, плана исследования</a:t>
            </a:r>
          </a:p>
        </p:txBody>
      </p:sp>
      <p:sp>
        <p:nvSpPr>
          <p:cNvPr id="11" name="Rounded Rectangle 10"/>
          <p:cNvSpPr/>
          <p:nvPr/>
        </p:nvSpPr>
        <p:spPr>
          <a:xfrm>
            <a:off x="502920" y="3163824"/>
            <a:ext cx="11201400" cy="749808"/>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uler-light.png"/>
          <p:cNvPicPr>
            <a:picLocks noChangeAspect="1"/>
          </p:cNvPicPr>
          <p:nvPr/>
        </p:nvPicPr>
        <p:blipFill>
          <a:blip r:embed="rId3"/>
          <a:stretch>
            <a:fillRect/>
          </a:stretch>
        </p:blipFill>
        <p:spPr>
          <a:xfrm>
            <a:off x="731520" y="3328416"/>
            <a:ext cx="420624" cy="420624"/>
          </a:xfrm>
          <a:prstGeom prst="rect">
            <a:avLst/>
          </a:prstGeom>
        </p:spPr>
      </p:pic>
      <p:sp>
        <p:nvSpPr>
          <p:cNvPr id="13" name="TextBox 12"/>
          <p:cNvSpPr txBox="1"/>
          <p:nvPr/>
        </p:nvSpPr>
        <p:spPr>
          <a:xfrm>
            <a:off x="1316736" y="3209544"/>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Измерять и делать выводы</a:t>
            </a:r>
          </a:p>
        </p:txBody>
      </p:sp>
      <p:sp>
        <p:nvSpPr>
          <p:cNvPr id="14" name="TextBox 13"/>
          <p:cNvSpPr txBox="1"/>
          <p:nvPr/>
        </p:nvSpPr>
        <p:spPr>
          <a:xfrm>
            <a:off x="1316736" y="3602736"/>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измерения</a:t>
            </a:r>
          </a:p>
        </p:txBody>
      </p:sp>
      <p:sp>
        <p:nvSpPr>
          <p:cNvPr id="15" name="TextBox 14"/>
          <p:cNvSpPr txBox="1"/>
          <p:nvPr/>
        </p:nvSpPr>
        <p:spPr>
          <a:xfrm>
            <a:off x="5047488" y="3255264"/>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та же, а доверие к результату упало: сам инструмент измерения стал вероятностным</a:t>
            </a:r>
          </a:p>
        </p:txBody>
      </p:sp>
      <p:sp>
        <p:nvSpPr>
          <p:cNvPr id="16" name="Rounded Rectangle 15"/>
          <p:cNvSpPr/>
          <p:nvPr/>
        </p:nvSpPr>
        <p:spPr>
          <a:xfrm>
            <a:off x="502920" y="4023360"/>
            <a:ext cx="11201400" cy="7498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teal.png"/>
          <p:cNvPicPr>
            <a:picLocks noChangeAspect="1"/>
          </p:cNvPicPr>
          <p:nvPr/>
        </p:nvPicPr>
        <p:blipFill>
          <a:blip r:embed="rId4"/>
          <a:stretch>
            <a:fillRect/>
          </a:stretch>
        </p:blipFill>
        <p:spPr>
          <a:xfrm>
            <a:off x="731520" y="4187952"/>
            <a:ext cx="420624" cy="420624"/>
          </a:xfrm>
          <a:prstGeom prst="rect">
            <a:avLst/>
          </a:prstGeom>
        </p:spPr>
      </p:pic>
      <p:sp>
        <p:nvSpPr>
          <p:cNvPr id="18" name="TextBox 17"/>
          <p:cNvSpPr txBox="1"/>
          <p:nvPr/>
        </p:nvSpPr>
        <p:spPr>
          <a:xfrm>
            <a:off x="1316736" y="4069080"/>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Наблюдать за работой продукта</a:t>
            </a:r>
          </a:p>
        </p:txBody>
      </p:sp>
      <p:sp>
        <p:nvSpPr>
          <p:cNvPr id="19" name="TextBox 18"/>
          <p:cNvSpPr txBox="1"/>
          <p:nvPr/>
        </p:nvSpPr>
        <p:spPr>
          <a:xfrm>
            <a:off x="1316736" y="4462272"/>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поддержки</a:t>
            </a:r>
          </a:p>
        </p:txBody>
      </p:sp>
      <p:sp>
        <p:nvSpPr>
          <p:cNvPr id="20" name="TextBox 19"/>
          <p:cNvSpPr txBox="1"/>
          <p:nvPr/>
        </p:nvSpPr>
        <p:spPr>
          <a:xfrm>
            <a:off x="5047488" y="4114800"/>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наблюдать стало быстрее, но само наблюдение уязвимо: подменённые данные на входе ведут к уверенному неверному выводу</a:t>
            </a:r>
          </a:p>
        </p:txBody>
      </p:sp>
      <p:sp>
        <p:nvSpPr>
          <p:cNvPr id="21" name="Rounded Rectangle 20"/>
          <p:cNvSpPr/>
          <p:nvPr/>
        </p:nvSpPr>
        <p:spPr>
          <a:xfrm>
            <a:off x="502920" y="4882896"/>
            <a:ext cx="11201400" cy="768096"/>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37760"/>
            <a:ext cx="10652760" cy="658368"/>
          </a:xfrm>
          <a:prstGeom prst="rect">
            <a:avLst/>
          </a:prstGeom>
          <a:noFill/>
        </p:spPr>
        <p:txBody>
          <a:bodyPr wrap="square" lIns="0" rIns="0" tIns="0" bIns="0" anchor="ctr">
            <a:spAutoFit/>
          </a:bodyPr>
          <a:lstStyle/>
          <a:p>
            <a:pPr algn="l">
              <a:lnSpc>
                <a:spcPct val="112000"/>
              </a:lnSpc>
            </a:pPr>
            <a:r>
              <a:rPr sz="1300" b="1" i="0">
                <a:solidFill>
                  <a:srgbClr val="21295C"/>
                </a:solidFill>
                <a:latin typeface="DejaVu Sans"/>
              </a:rPr>
              <a:t>Каждая из шести фаз дальше разбирается по одной и той же схеме: какая классическая дисциплина за неё отвечает, что в ней удешевил искусственный интеллект, и где подход «сначала ИИ» ломается.</a:t>
            </a:r>
          </a:p>
        </p:txBody>
      </p:sp>
      <p:sp>
        <p:nvSpPr>
          <p:cNvPr id="23" name="Rounded Rectangle 22"/>
          <p:cNvSpPr/>
          <p:nvPr/>
        </p:nvSpPr>
        <p:spPr>
          <a:xfrm>
            <a:off x="502920" y="5760720"/>
            <a:ext cx="11201400" cy="603504"/>
          </a:xfrm>
          <a:prstGeom prst="roundRect">
            <a:avLst>
              <a:gd name="adj" fmla="val 1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797296"/>
            <a:ext cx="10652760" cy="530352"/>
          </a:xfrm>
          <a:prstGeom prst="rect">
            <a:avLst/>
          </a:prstGeom>
          <a:noFill/>
        </p:spPr>
        <p:txBody>
          <a:bodyPr wrap="square" lIns="0" rIns="0" tIns="0" bIns="0" anchor="ctr">
            <a:spAutoFit/>
          </a:bodyPr>
          <a:lstStyle/>
          <a:p>
            <a:pPr algn="l">
              <a:lnSpc>
                <a:spcPct val="108000"/>
              </a:lnSpc>
            </a:pPr>
            <a:r>
              <a:rPr sz="1100" b="0" i="1">
                <a:solidFill>
                  <a:srgbClr val="5B6678"/>
                </a:solidFill>
                <a:latin typeface="DejaVu Sans"/>
              </a:rPr>
              <a:t>Одну и ту же петлю независимо описали трижды: статистик качества Уильям Деминг (1939), лётчик-истребитель и военный теоретик Джон Бойд (1970-е), предприниматель Эрик Райс (2011). Это структурное свойство системы, которая учится в неопределённости, а не методология одного автора.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есть ли проблема и у кого</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Цель фазы одна: выяснить, существует ли проблема и у кого именно, пока решение ещё не построено. Пропустить её можно — тогда ответ придёт в день запуска, когда деньги и месяцы уже потрачены, а вернуть их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Проверить гипотезу стоит нескольких разговоров — не проверить стоит всей разработки</a:t>
            </a:r>
          </a:p>
        </p:txBody>
      </p:sp>
      <p:sp>
        <p:nvSpPr>
          <p:cNvPr id="3" name="Rounded Rectangle 2"/>
          <p:cNvSpPr/>
          <p:nvPr/>
        </p:nvSpPr>
        <p:spPr>
          <a:xfrm>
            <a:off x="502920" y="932688"/>
            <a:ext cx="11201400" cy="786384"/>
          </a:xfrm>
          <a:prstGeom prst="roundRect">
            <a:avLst>
              <a:gd name="adj" fmla="val 8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teal.png"/>
          <p:cNvPicPr>
            <a:picLocks noChangeAspect="1"/>
          </p:cNvPicPr>
          <p:nvPr/>
        </p:nvPicPr>
        <p:blipFill>
          <a:blip r:embed="rId2"/>
          <a:stretch>
            <a:fillRect/>
          </a:stretch>
        </p:blipFill>
        <p:spPr>
          <a:xfrm>
            <a:off x="713232" y="1133856"/>
            <a:ext cx="384048" cy="384048"/>
          </a:xfrm>
          <a:prstGeom prst="rect">
            <a:avLst/>
          </a:prstGeom>
        </p:spPr>
      </p:pic>
      <p:sp>
        <p:nvSpPr>
          <p:cNvPr id="5" name="TextBox 4"/>
          <p:cNvSpPr txBox="1"/>
          <p:nvPr/>
        </p:nvSpPr>
        <p:spPr>
          <a:xfrm>
            <a:off x="1261872" y="969264"/>
            <a:ext cx="10314432" cy="713232"/>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ЗАЧЕМ ЭТА РАБОТА   </a:t>
            </a:r>
            <a:r>
              <a:rPr sz="1250" b="0" i="0">
                <a:solidFill>
                  <a:srgbClr val="21295C"/>
                </a:solidFill>
                <a:latin typeface="DejaVu Sans"/>
              </a:rPr>
              <a:t>Исследование отвечает на один вопрос: существует ли проблема и у кого именно. Ответ придёт в любом случае — либо от восьми разговоров за две недели, либо от рынка в день запуска, когда разработка уже оплачена.</a:t>
            </a:r>
          </a:p>
        </p:txBody>
      </p:sp>
      <p:sp>
        <p:nvSpPr>
          <p:cNvPr id="6" name="Rounded Rectangle 5"/>
          <p:cNvSpPr/>
          <p:nvPr/>
        </p:nvSpPr>
        <p:spPr>
          <a:xfrm>
            <a:off x="50292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ass-mid.png"/>
          <p:cNvPicPr>
            <a:picLocks noChangeAspect="1"/>
          </p:cNvPicPr>
          <p:nvPr/>
        </p:nvPicPr>
        <p:blipFill>
          <a:blip r:embed="rId3"/>
          <a:stretch>
            <a:fillRect/>
          </a:stretch>
        </p:blipFill>
        <p:spPr>
          <a:xfrm>
            <a:off x="722376" y="1938528"/>
            <a:ext cx="420624" cy="420624"/>
          </a:xfrm>
          <a:prstGeom prst="rect">
            <a:avLst/>
          </a:prstGeom>
        </p:spPr>
      </p:pic>
      <p:sp>
        <p:nvSpPr>
          <p:cNvPr id="8" name="TextBox 7"/>
          <p:cNvSpPr txBox="1"/>
          <p:nvPr/>
        </p:nvSpPr>
        <p:spPr>
          <a:xfrm>
            <a:off x="1271016" y="1938528"/>
            <a:ext cx="4544568" cy="530352"/>
          </a:xfrm>
          <a:prstGeom prst="rect">
            <a:avLst/>
          </a:prstGeom>
          <a:noFill/>
        </p:spPr>
        <p:txBody>
          <a:bodyPr wrap="square" lIns="0" rIns="0" tIns="0" bIns="0" anchor="t">
            <a:spAutoFit/>
          </a:bodyPr>
          <a:lstStyle/>
          <a:p>
            <a:pPr algn="l">
              <a:lnSpc>
                <a:spcPct val="106000"/>
              </a:lnSpc>
            </a:pPr>
            <a:r>
              <a:rPr sz="1300" b="1" i="0">
                <a:solidFill>
                  <a:srgbClr val="065A82"/>
                </a:solidFill>
                <a:latin typeface="DejaVu Sans"/>
              </a:rPr>
              <a:t>Развитие клиента (Customer Development)</a:t>
            </a:r>
          </a:p>
        </p:txBody>
      </p:sp>
      <p:sp>
        <p:nvSpPr>
          <p:cNvPr id="9" name="TextBox 8"/>
          <p:cNvSpPr txBox="1"/>
          <p:nvPr/>
        </p:nvSpPr>
        <p:spPr>
          <a:xfrm>
            <a:off x="1271016" y="2340864"/>
            <a:ext cx="4544568" cy="310896"/>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Стив Бланк, предприниматель Кремниевой долины и преподаватель Стэнфорда, — дисциплина поиска ответа «что и для кого строить»</a:t>
            </a:r>
          </a:p>
        </p:txBody>
      </p:sp>
      <p:sp>
        <p:nvSpPr>
          <p:cNvPr id="10" name="TextBox 9"/>
          <p:cNvSpPr txBox="1"/>
          <p:nvPr/>
        </p:nvSpPr>
        <p:spPr>
          <a:xfrm>
            <a:off x="740664" y="2670048"/>
            <a:ext cx="5056631" cy="89611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Правило, ради которого она существует: внутри офиса фактов нет, факты снаружи. Но выйти наружу мало: без записанной заранее гипотезы возвращаются с впечатлениями, подтверждающими то, во что верили до выхода.</a:t>
            </a:r>
          </a:p>
        </p:txBody>
      </p:sp>
      <p:sp>
        <p:nvSpPr>
          <p:cNvPr id="11" name="Rounded Rectangle 10"/>
          <p:cNvSpPr/>
          <p:nvPr/>
        </p:nvSpPr>
        <p:spPr>
          <a:xfrm>
            <a:off x="704088" y="3621024"/>
            <a:ext cx="5129783" cy="5486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621024"/>
            <a:ext cx="4983480" cy="548640"/>
          </a:xfrm>
          <a:prstGeom prst="rect">
            <a:avLst/>
          </a:prstGeom>
          <a:noFill/>
        </p:spPr>
        <p:txBody>
          <a:bodyPr wrap="square" lIns="0" rIns="0" tIns="0" bIns="0" anchor="ctr">
            <a:spAutoFit/>
          </a:bodyPr>
          <a:lstStyle/>
          <a:p>
            <a:pPr algn="ctr">
              <a:lnSpc>
                <a:spcPct val="108000"/>
              </a:lnSpc>
            </a:pPr>
            <a:r>
              <a:rPr sz="1150" b="1" i="0">
                <a:solidFill>
                  <a:srgbClr val="21295C"/>
                </a:solidFill>
                <a:latin typeface="DejaVu Sans"/>
              </a:rPr>
              <a:t>мы верим X → проверим через Y → к дате Z получим ответ да или нет</a:t>
            </a:r>
          </a:p>
        </p:txBody>
      </p:sp>
      <p:sp>
        <p:nvSpPr>
          <p:cNvPr id="13" name="TextBox 12"/>
          <p:cNvSpPr txBox="1"/>
          <p:nvPr/>
        </p:nvSpPr>
        <p:spPr>
          <a:xfrm>
            <a:off x="740664" y="4224528"/>
            <a:ext cx="5056631" cy="329184"/>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Дата — не оформление: без неё «проверим» не имеет срока.</a:t>
            </a:r>
          </a:p>
        </p:txBody>
      </p:sp>
      <p:sp>
        <p:nvSpPr>
          <p:cNvPr id="14" name="Rounded Rectangle 13"/>
          <p:cNvSpPr/>
          <p:nvPr/>
        </p:nvSpPr>
        <p:spPr>
          <a:xfrm>
            <a:off x="617220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938528"/>
            <a:ext cx="5056631"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Два правила разговора</a:t>
            </a:r>
          </a:p>
        </p:txBody>
      </p:sp>
      <p:sp>
        <p:nvSpPr>
          <p:cNvPr id="16" name="TextBox 15"/>
          <p:cNvSpPr txBox="1"/>
          <p:nvPr/>
        </p:nvSpPr>
        <p:spPr>
          <a:xfrm>
            <a:off x="6409944" y="2212848"/>
            <a:ext cx="5056631" cy="29260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«The Mom Test» — «Тест мамы»: вопрос верен, если даже собственная мама не сможет соврать из вежливости. Роб Фитцпатрик, предприниматель</a:t>
            </a:r>
          </a:p>
        </p:txBody>
      </p:sp>
      <p:sp>
        <p:nvSpPr>
          <p:cNvPr id="17" name="Rounded Rectangle 16"/>
          <p:cNvSpPr/>
          <p:nvPr/>
        </p:nvSpPr>
        <p:spPr>
          <a:xfrm>
            <a:off x="6409944" y="2615184"/>
            <a:ext cx="5056631" cy="566928"/>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istory-light.png"/>
          <p:cNvPicPr>
            <a:picLocks noChangeAspect="1"/>
          </p:cNvPicPr>
          <p:nvPr/>
        </p:nvPicPr>
        <p:blipFill>
          <a:blip r:embed="rId4"/>
          <a:stretch>
            <a:fillRect/>
          </a:stretch>
        </p:blipFill>
        <p:spPr>
          <a:xfrm>
            <a:off x="6556248" y="2743200"/>
            <a:ext cx="310896" cy="310896"/>
          </a:xfrm>
          <a:prstGeom prst="rect">
            <a:avLst/>
          </a:prstGeom>
        </p:spPr>
      </p:pic>
      <p:sp>
        <p:nvSpPr>
          <p:cNvPr id="19" name="TextBox 18"/>
          <p:cNvSpPr txBox="1"/>
          <p:nvPr/>
        </p:nvSpPr>
        <p:spPr>
          <a:xfrm>
            <a:off x="7013448" y="2615184"/>
            <a:ext cx="4434840" cy="566928"/>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Спрашивать о конкретном прошлом, а не о мнении про будущее</a:t>
            </a:r>
          </a:p>
        </p:txBody>
      </p:sp>
      <p:sp>
        <p:nvSpPr>
          <p:cNvPr id="20" name="Rounded Rectangle 19"/>
          <p:cNvSpPr/>
          <p:nvPr/>
        </p:nvSpPr>
        <p:spPr>
          <a:xfrm>
            <a:off x="6409944" y="3255263"/>
            <a:ext cx="5056631" cy="566928"/>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andshake-light.png"/>
          <p:cNvPicPr>
            <a:picLocks noChangeAspect="1"/>
          </p:cNvPicPr>
          <p:nvPr/>
        </p:nvPicPr>
        <p:blipFill>
          <a:blip r:embed="rId5"/>
          <a:stretch>
            <a:fillRect/>
          </a:stretch>
        </p:blipFill>
        <p:spPr>
          <a:xfrm>
            <a:off x="6556248" y="3383279"/>
            <a:ext cx="310896" cy="310896"/>
          </a:xfrm>
          <a:prstGeom prst="rect">
            <a:avLst/>
          </a:prstGeom>
        </p:spPr>
      </p:pic>
      <p:sp>
        <p:nvSpPr>
          <p:cNvPr id="22" name="TextBox 21"/>
          <p:cNvSpPr txBox="1"/>
          <p:nvPr/>
        </p:nvSpPr>
        <p:spPr>
          <a:xfrm>
            <a:off x="7013448" y="3255263"/>
            <a:ext cx="4434840" cy="566928"/>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Засчитывать обязательство — время, репутацию, деньги, — а не комплимент</a:t>
            </a:r>
          </a:p>
        </p:txBody>
      </p:sp>
      <p:sp>
        <p:nvSpPr>
          <p:cNvPr id="23" name="Rounded Rectangle 22"/>
          <p:cNvSpPr/>
          <p:nvPr/>
        </p:nvSpPr>
        <p:spPr>
          <a:xfrm>
            <a:off x="6409944" y="3931920"/>
            <a:ext cx="5056631" cy="603504"/>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3931920"/>
            <a:ext cx="4800600" cy="603504"/>
          </a:xfrm>
          <a:prstGeom prst="rect">
            <a:avLst/>
          </a:prstGeom>
          <a:noFill/>
        </p:spPr>
        <p:txBody>
          <a:bodyPr wrap="square" lIns="0" rIns="0" tIns="0" bIns="0" anchor="ctr">
            <a:spAutoFit/>
          </a:bodyPr>
          <a:lstStyle/>
          <a:p>
            <a:pPr algn="l">
              <a:lnSpc>
                <a:spcPct val="112000"/>
              </a:lnSpc>
            </a:pPr>
            <a:r>
              <a:rPr sz="1050" b="1" i="0">
                <a:solidFill>
                  <a:srgbClr val="5B6678"/>
                </a:solidFill>
                <a:latin typeface="DejaVu Sans"/>
              </a:rPr>
              <a:t>Плохо: </a:t>
            </a:r>
            <a:r>
              <a:rPr sz="1050" b="0" i="0">
                <a:solidFill>
                  <a:srgbClr val="21295C"/>
                </a:solidFill>
                <a:latin typeface="DejaVu Sans"/>
              </a:rPr>
              <a:t>«Заплатили бы 20 долларов в месяц?»   →   </a:t>
            </a:r>
            <a:r>
              <a:rPr sz="1050" b="1" i="0">
                <a:solidFill>
                  <a:srgbClr val="028090"/>
                </a:solidFill>
                <a:latin typeface="DejaVu Sans"/>
              </a:rPr>
              <a:t>Хорошо: </a:t>
            </a:r>
            <a:r>
              <a:rPr sz="1050" b="0" i="0">
                <a:solidFill>
                  <a:srgbClr val="21295C"/>
                </a:solidFill>
                <a:latin typeface="DejaVu Sans"/>
              </a:rPr>
              <a:t>«Сколько вы платите сегодня за ближайший аналог?»</a:t>
            </a:r>
          </a:p>
        </p:txBody>
      </p:sp>
      <p:sp>
        <p:nvSpPr>
          <p:cNvPr id="25" name="Rounded Rectangle 24"/>
          <p:cNvSpPr/>
          <p:nvPr/>
        </p:nvSpPr>
        <p:spPr>
          <a:xfrm>
            <a:off x="502920" y="47365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4791455"/>
            <a:ext cx="10762488" cy="8961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работает на первой стрелке петли, до того как что-то построено.</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Blank — Customer Development (Four Steps to the Epiphany)</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Что ИИ изменил в исследовании к 2026 году — и что не изменил</a:t>
            </a:r>
          </a:p>
        </p:txBody>
      </p:sp>
      <p:sp>
        <p:nvSpPr>
          <p:cNvPr id="3" name="Rounded Rectangle 2"/>
          <p:cNvSpPr/>
          <p:nvPr/>
        </p:nvSpPr>
        <p:spPr>
          <a:xfrm>
            <a:off x="502920" y="749808"/>
            <a:ext cx="237744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749808"/>
            <a:ext cx="223113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ШАГ ФАЗЫ</a:t>
            </a:r>
          </a:p>
        </p:txBody>
      </p:sp>
      <p:sp>
        <p:nvSpPr>
          <p:cNvPr id="5" name="Rounded Rectangle 4"/>
          <p:cNvSpPr/>
          <p:nvPr/>
        </p:nvSpPr>
        <p:spPr>
          <a:xfrm>
            <a:off x="3017520" y="749808"/>
            <a:ext cx="41605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90672" y="749808"/>
            <a:ext cx="4014215"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БЕЗ ИИ</a:t>
            </a:r>
          </a:p>
        </p:txBody>
      </p:sp>
      <p:sp>
        <p:nvSpPr>
          <p:cNvPr id="7" name="Rounded Rectangle 6"/>
          <p:cNvSpPr/>
          <p:nvPr/>
        </p:nvSpPr>
        <p:spPr>
          <a:xfrm>
            <a:off x="7315200" y="749808"/>
            <a:ext cx="43891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88352" y="749808"/>
            <a:ext cx="424281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С ИИ — 2026</a:t>
            </a:r>
          </a:p>
        </p:txBody>
      </p:sp>
      <p:sp>
        <p:nvSpPr>
          <p:cNvPr id="9" name="Rounded Rectangle 8"/>
          <p:cNvSpPr/>
          <p:nvPr/>
        </p:nvSpPr>
        <p:spPr>
          <a:xfrm>
            <a:off x="502920" y="1115568"/>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le-search-mid.png"/>
          <p:cNvPicPr>
            <a:picLocks noChangeAspect="1"/>
          </p:cNvPicPr>
          <p:nvPr/>
        </p:nvPicPr>
        <p:blipFill>
          <a:blip r:embed="rId2"/>
          <a:stretch>
            <a:fillRect/>
          </a:stretch>
        </p:blipFill>
        <p:spPr>
          <a:xfrm>
            <a:off x="649224" y="1207008"/>
            <a:ext cx="292608" cy="292608"/>
          </a:xfrm>
          <a:prstGeom prst="rect">
            <a:avLst/>
          </a:prstGeom>
        </p:spPr>
      </p:pic>
      <p:sp>
        <p:nvSpPr>
          <p:cNvPr id="11" name="TextBox 10"/>
          <p:cNvSpPr txBox="1"/>
          <p:nvPr/>
        </p:nvSpPr>
        <p:spPr>
          <a:xfrm>
            <a:off x="996696" y="1188720"/>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Кабинетный поиск</a:t>
            </a:r>
          </a:p>
        </p:txBody>
      </p:sp>
      <p:sp>
        <p:nvSpPr>
          <p:cNvPr id="12" name="TextBox 11"/>
          <p:cNvSpPr txBox="1"/>
          <p:nvPr/>
        </p:nvSpPr>
        <p:spPr>
          <a:xfrm>
            <a:off x="630936" y="1499616"/>
            <a:ext cx="2121408" cy="292608"/>
          </a:xfrm>
          <a:prstGeom prst="rect">
            <a:avLst/>
          </a:prstGeom>
          <a:noFill/>
        </p:spPr>
        <p:txBody>
          <a:bodyPr wrap="square" lIns="0" rIns="0" tIns="0" bIns="0" anchor="t">
            <a:spAutoFit/>
          </a:bodyPr>
          <a:lstStyle/>
          <a:p>
            <a:pPr algn="l">
              <a:lnSpc>
                <a:spcPct val="104000"/>
              </a:lnSpc>
            </a:pPr>
            <a:r>
              <a:rPr sz="850" b="0" i="1">
                <a:solidFill>
                  <a:srgbClr val="5B6678"/>
                </a:solidFill>
                <a:latin typeface="DejaVu Sans"/>
              </a:rPr>
              <a:t>собрать, что уже известно о рынке и о боли</a:t>
            </a:r>
          </a:p>
        </p:txBody>
      </p:sp>
      <p:sp>
        <p:nvSpPr>
          <p:cNvPr id="13" name="Rounded Rectangle 12"/>
          <p:cNvSpPr/>
          <p:nvPr/>
        </p:nvSpPr>
        <p:spPr>
          <a:xfrm>
            <a:off x="3017520" y="1115568"/>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63824" y="1115568"/>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Аналитик читает отчёты, публикации и форумы — дни работы</a:t>
            </a:r>
          </a:p>
        </p:txBody>
      </p:sp>
      <p:sp>
        <p:nvSpPr>
          <p:cNvPr id="15" name="Rounded Rectangle 14"/>
          <p:cNvSpPr/>
          <p:nvPr/>
        </p:nvSpPr>
        <p:spPr>
          <a:xfrm>
            <a:off x="7315200" y="1115568"/>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61504" y="1115568"/>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Режим глубокого исследования сам планирует поиск, читает сотни источников и отдаёт отчёт со ссылками за 2–30 минут. Есть у всех основных помощников, включая бесплатные тарифы с лимитом</a:t>
            </a:r>
          </a:p>
        </p:txBody>
      </p:sp>
      <p:sp>
        <p:nvSpPr>
          <p:cNvPr id="17" name="Rounded Rectangle 16"/>
          <p:cNvSpPr/>
          <p:nvPr/>
        </p:nvSpPr>
        <p:spPr>
          <a:xfrm>
            <a:off x="502920" y="1901952"/>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adphones-mid.png"/>
          <p:cNvPicPr>
            <a:picLocks noChangeAspect="1"/>
          </p:cNvPicPr>
          <p:nvPr/>
        </p:nvPicPr>
        <p:blipFill>
          <a:blip r:embed="rId3"/>
          <a:stretch>
            <a:fillRect/>
          </a:stretch>
        </p:blipFill>
        <p:spPr>
          <a:xfrm>
            <a:off x="649224" y="1993392"/>
            <a:ext cx="292608" cy="292608"/>
          </a:xfrm>
          <a:prstGeom prst="rect">
            <a:avLst/>
          </a:prstGeom>
        </p:spPr>
      </p:pic>
      <p:sp>
        <p:nvSpPr>
          <p:cNvPr id="19" name="TextBox 18"/>
          <p:cNvSpPr txBox="1"/>
          <p:nvPr/>
        </p:nvSpPr>
        <p:spPr>
          <a:xfrm>
            <a:off x="996696" y="1975104"/>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Сам разговор</a:t>
            </a:r>
          </a:p>
        </p:txBody>
      </p:sp>
      <p:sp>
        <p:nvSpPr>
          <p:cNvPr id="20" name="Rounded Rectangle 19"/>
          <p:cNvSpPr/>
          <p:nvPr/>
        </p:nvSpPr>
        <p:spPr>
          <a:xfrm>
            <a:off x="3017520" y="1901952"/>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63824" y="1901952"/>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Каждое интервью исследователь проводит лично; восемь разговоров — недели календаря</a:t>
            </a:r>
          </a:p>
        </p:txBody>
      </p:sp>
      <p:sp>
        <p:nvSpPr>
          <p:cNvPr id="22" name="Rounded Rectangle 21"/>
          <p:cNvSpPr/>
          <p:nvPr/>
        </p:nvSpPr>
        <p:spPr>
          <a:xfrm>
            <a:off x="7315200" y="1901952"/>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1901952"/>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Вопросы задаёт модель, отвечает живой человек — разговоров за тот же срок кратно больше</a:t>
            </a:r>
          </a:p>
        </p:txBody>
      </p:sp>
      <p:sp>
        <p:nvSpPr>
          <p:cNvPr id="24" name="Rounded Rectangle 23"/>
          <p:cNvSpPr/>
          <p:nvPr/>
        </p:nvSpPr>
        <p:spPr>
          <a:xfrm>
            <a:off x="502920" y="2688336"/>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ayout-list-mid.png"/>
          <p:cNvPicPr>
            <a:picLocks noChangeAspect="1"/>
          </p:cNvPicPr>
          <p:nvPr/>
        </p:nvPicPr>
        <p:blipFill>
          <a:blip r:embed="rId4"/>
          <a:stretch>
            <a:fillRect/>
          </a:stretch>
        </p:blipFill>
        <p:spPr>
          <a:xfrm>
            <a:off x="649224" y="2779776"/>
            <a:ext cx="292608" cy="292608"/>
          </a:xfrm>
          <a:prstGeom prst="rect">
            <a:avLst/>
          </a:prstGeom>
        </p:spPr>
      </p:pic>
      <p:sp>
        <p:nvSpPr>
          <p:cNvPr id="26" name="TextBox 25"/>
          <p:cNvSpPr txBox="1"/>
          <p:nvPr/>
        </p:nvSpPr>
        <p:spPr>
          <a:xfrm>
            <a:off x="996696" y="2761488"/>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Сведение разговоров</a:t>
            </a:r>
          </a:p>
        </p:txBody>
      </p:sp>
      <p:sp>
        <p:nvSpPr>
          <p:cNvPr id="27" name="Rounded Rectangle 26"/>
          <p:cNvSpPr/>
          <p:nvPr/>
        </p:nvSpPr>
        <p:spPr>
          <a:xfrm>
            <a:off x="3017520" y="2688336"/>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2688336"/>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Расшифровка вручную, темы выписываются глазами</a:t>
            </a:r>
          </a:p>
        </p:txBody>
      </p:sp>
      <p:sp>
        <p:nvSpPr>
          <p:cNvPr id="29" name="Rounded Rectangle 28"/>
          <p:cNvSpPr/>
          <p:nvPr/>
        </p:nvSpPr>
        <p:spPr>
          <a:xfrm>
            <a:off x="7315200" y="2688336"/>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61504" y="2688336"/>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Расшифровка стала бесплатным приложением к созвону; инструменты непрерывно пересобирают темы по всему накопленному корпусу, а не по одному звонку</a:t>
            </a:r>
          </a:p>
        </p:txBody>
      </p:sp>
      <p:sp>
        <p:nvSpPr>
          <p:cNvPr id="31" name="TextBox 30"/>
          <p:cNvSpPr txBox="1"/>
          <p:nvPr/>
        </p:nvSpPr>
        <p:spPr>
          <a:xfrm>
            <a:off x="502920" y="3474720"/>
            <a:ext cx="11201400"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Кто на том конце разговора</a:t>
            </a:r>
          </a:p>
        </p:txBody>
      </p:sp>
      <p:sp>
        <p:nvSpPr>
          <p:cNvPr id="32" name="Rounded Rectangle 31"/>
          <p:cNvSpPr/>
          <p:nvPr/>
        </p:nvSpPr>
        <p:spPr>
          <a:xfrm>
            <a:off x="502920" y="3785615"/>
            <a:ext cx="3630168" cy="786384"/>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человек</a:t>
            </a:r>
          </a:p>
        </p:txBody>
      </p:sp>
      <p:sp>
        <p:nvSpPr>
          <p:cNvPr id="34" name="TextBox 33"/>
          <p:cNvSpPr txBox="1"/>
          <p:nvPr/>
        </p:nvSpPr>
        <p:spPr>
          <a:xfrm>
            <a:off x="612648"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классическое интервью</a:t>
            </a:r>
          </a:p>
        </p:txBody>
      </p:sp>
      <p:sp>
        <p:nvSpPr>
          <p:cNvPr id="35" name="Rounded Rectangle 34"/>
          <p:cNvSpPr/>
          <p:nvPr/>
        </p:nvSpPr>
        <p:spPr>
          <a:xfrm>
            <a:off x="4288536" y="3785615"/>
            <a:ext cx="3630168" cy="786384"/>
          </a:xfrm>
          <a:prstGeom prst="roundRect">
            <a:avLst>
              <a:gd name="adj" fmla="val 22000"/>
            </a:avLst>
          </a:prstGeom>
          <a:solidFill>
            <a:srgbClr val="E4F1F2"/>
          </a:solidFill>
          <a:ln w="2159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8264"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модель</a:t>
            </a:r>
          </a:p>
        </p:txBody>
      </p:sp>
      <p:sp>
        <p:nvSpPr>
          <p:cNvPr id="37" name="TextBox 36"/>
          <p:cNvSpPr txBox="1"/>
          <p:nvPr/>
        </p:nvSpPr>
        <p:spPr>
          <a:xfrm>
            <a:off x="4398264"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спрашивает машина, отвечает живой человек</a:t>
            </a:r>
          </a:p>
        </p:txBody>
      </p:sp>
      <p:sp>
        <p:nvSpPr>
          <p:cNvPr id="38" name="Rounded Rectangle 37"/>
          <p:cNvSpPr/>
          <p:nvPr/>
        </p:nvSpPr>
        <p:spPr>
          <a:xfrm>
            <a:off x="8074152" y="3785615"/>
            <a:ext cx="3630168" cy="786384"/>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83880"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модель ↔ модель</a:t>
            </a:r>
          </a:p>
        </p:txBody>
      </p:sp>
      <p:sp>
        <p:nvSpPr>
          <p:cNvPr id="40" name="TextBox 39"/>
          <p:cNvSpPr txBox="1"/>
          <p:nvPr/>
        </p:nvSpPr>
        <p:spPr>
          <a:xfrm>
            <a:off x="8183880"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ИИ-персона: отвечает тоже машина — живого человека в цепочке нет ни разу</a:t>
            </a:r>
          </a:p>
        </p:txBody>
      </p:sp>
      <p:sp>
        <p:nvSpPr>
          <p:cNvPr id="41" name="TextBox 40"/>
          <p:cNvSpPr txBox="1"/>
          <p:nvPr/>
        </p:nvSpPr>
        <p:spPr>
          <a:xfrm>
            <a:off x="502920" y="4645152"/>
            <a:ext cx="11201400" cy="274320"/>
          </a:xfrm>
          <a:prstGeom prst="rect">
            <a:avLst/>
          </a:prstGeom>
          <a:noFill/>
        </p:spPr>
        <p:txBody>
          <a:bodyPr wrap="square" lIns="0" rIns="0" tIns="0" bIns="0" anchor="t">
            <a:spAutoFit/>
          </a:bodyPr>
          <a:lstStyle/>
          <a:p>
            <a:pPr algn="ctr">
              <a:lnSpc>
                <a:spcPct val="105000"/>
              </a:lnSpc>
            </a:pPr>
            <a:r>
              <a:rPr sz="1050" b="0" i="1">
                <a:solidFill>
                  <a:srgbClr val="5B6678"/>
                </a:solidFill>
                <a:latin typeface="DejaVu Sans"/>
              </a:rPr>
              <a:t>Опрос 150 исследователей, май 2026:   </a:t>
            </a:r>
            <a:r>
              <a:rPr sz="1150" b="1" i="0">
                <a:solidFill>
                  <a:srgbClr val="21295C"/>
                </a:solidFill>
                <a:latin typeface="DejaVu Sans"/>
              </a:rPr>
              <a:t>81%</a:t>
            </a:r>
            <a:r>
              <a:rPr sz="1050" b="0" i="0">
                <a:solidFill>
                  <a:srgbClr val="21295C"/>
                </a:solidFill>
                <a:latin typeface="DejaVu Sans"/>
              </a:rPr>
              <a:t> регулярно применяют ИИ в работе   ·   </a:t>
            </a:r>
            <a:r>
              <a:rPr sz="1150" b="1" i="0">
                <a:solidFill>
                  <a:srgbClr val="21295C"/>
                </a:solidFill>
                <a:latin typeface="DejaVu Sans"/>
              </a:rPr>
              <a:t>8%</a:t>
            </a:r>
            <a:r>
              <a:rPr sz="1050" b="0" i="0">
                <a:solidFill>
                  <a:srgbClr val="21295C"/>
                </a:solidFill>
                <a:latin typeface="DejaVu Sans"/>
              </a:rPr>
              <a:t> — как отвечающего участника   ·   </a:t>
            </a:r>
            <a:r>
              <a:rPr sz="1150" b="1" i="0">
                <a:solidFill>
                  <a:srgbClr val="21295C"/>
                </a:solidFill>
                <a:latin typeface="DejaVu Sans"/>
              </a:rPr>
              <a:t>28%</a:t>
            </a:r>
            <a:r>
              <a:rPr sz="1050" b="0" i="0">
                <a:solidFill>
                  <a:srgbClr val="21295C"/>
                </a:solidFill>
                <a:latin typeface="DejaVu Sans"/>
              </a:rPr>
              <a:t> отвергают его прямо</a:t>
            </a:r>
          </a:p>
        </p:txBody>
      </p:sp>
      <p:sp>
        <p:nvSpPr>
          <p:cNvPr id="42" name="Rounded Rectangle 41"/>
          <p:cNvSpPr/>
          <p:nvPr/>
        </p:nvSpPr>
        <p:spPr>
          <a:xfrm>
            <a:off x="502920" y="5138928"/>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 y="5193792"/>
            <a:ext cx="10762488" cy="8595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Ссылка в отчёте не доказательство, пока её не открыли. Измерено на 53 090 ссылках из отчётов десяти моделей: 3–13% выдуманы — таких источников не существовало никогда. При самом низком уровне, 3%, отчёт с 50 ссылками содержит хотя бы одну выдуманную с вероятностью 78%. Именно такой отчёт Deloitte сдала правительству Австралии за 440 000 австралийских долларов.</a:t>
            </a:r>
          </a:p>
        </p:txBody>
      </p:sp>
      <p:sp>
        <p:nvSpPr>
          <p:cNvPr id="44" name="TextBox 4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Perplexity — обзор режима глубокого исследования</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User Interviews — «State of Synthetic Users», май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arXiv 2604.03173 — измерение ссылок в отчётах агентов</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Fortune (7 окт. 2025) — Deloitte Australia</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Репетиция вопросов интервью на ИИ-персонах</a:t>
            </a:r>
          </a:p>
        </p:txBody>
      </p:sp>
      <p:sp>
        <p:nvSpPr>
          <p:cNvPr id="3" name="Rounded Rectangle 2"/>
          <p:cNvSpPr/>
          <p:nvPr/>
        </p:nvSpPr>
        <p:spPr>
          <a:xfrm>
            <a:off x="502920" y="566661"/>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Перед выходом к живым людям список вопросов прогоняют через нескольких выдуманных собеседников, которых играет модель. Цель — поймать плохие вопросы до того, как они испортят настоящий разговор. О продукте прогон не говорит ничего. Репетиция, не исследование.</a:t>
            </a:r>
          </a:p>
        </p:txBody>
      </p:sp>
      <p:sp>
        <p:nvSpPr>
          <p:cNvPr id="7" name="Rounded Rectangle 6"/>
          <p:cNvSpPr/>
          <p:nvPr/>
        </p:nvSpPr>
        <p:spPr>
          <a:xfrm>
            <a:off x="502920" y="1523727"/>
            <a:ext cx="1152144" cy="222072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23727"/>
            <a:ext cx="1060704" cy="222072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523727"/>
            <a:ext cx="9902952" cy="2220722"/>
          </a:xfrm>
          <a:prstGeom prst="roundRect">
            <a:avLst>
              <a:gd name="adj" fmla="val 137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2888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2888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15167"/>
            <a:ext cx="579729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Описывают несколько разных типов клиента — по тому, как человек живёт с задачей: чем пользуется сейчас, во что это обходится, что однажды попробовал и бросил. </a:t>
            </a:r>
            <a:r>
              <a:rPr sz="1000" b="1" i="0">
                <a:solidFill>
                  <a:srgbClr val="065A82"/>
                </a:solidFill>
                <a:latin typeface="DejaVu Sans"/>
              </a:rPr>
              <a:t>Портрет тут не работает.</a:t>
            </a:r>
          </a:p>
        </p:txBody>
      </p:sp>
      <p:sp>
        <p:nvSpPr>
          <p:cNvPr id="13" name="Oval 12"/>
          <p:cNvSpPr/>
          <p:nvPr/>
        </p:nvSpPr>
        <p:spPr>
          <a:xfrm>
            <a:off x="1984248" y="223712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23712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223411"/>
            <a:ext cx="579729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Каждый тип держат отдельно, чтобы ответы не сливались в один общий голос.</a:t>
            </a:r>
          </a:p>
        </p:txBody>
      </p:sp>
      <p:sp>
        <p:nvSpPr>
          <p:cNvPr id="16" name="Oval 15"/>
          <p:cNvSpPr/>
          <p:nvPr/>
        </p:nvSpPr>
        <p:spPr>
          <a:xfrm>
            <a:off x="1984248" y="267980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7980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66092"/>
            <a:ext cx="5797296" cy="213111"/>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Через всех прогоняют один и тот же список вопросов.</a:t>
            </a:r>
          </a:p>
        </p:txBody>
      </p:sp>
      <p:sp>
        <p:nvSpPr>
          <p:cNvPr id="19" name="Oval 18"/>
          <p:cNvSpPr/>
          <p:nvPr/>
        </p:nvSpPr>
        <p:spPr>
          <a:xfrm>
            <a:off x="1984248" y="295692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295692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2943212"/>
            <a:ext cx="5797296" cy="709797"/>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Читают </a:t>
            </a:r>
            <a:r>
              <a:rPr sz="1000" b="1" i="0">
                <a:solidFill>
                  <a:srgbClr val="065A82"/>
                </a:solidFill>
                <a:latin typeface="DejaVu Sans"/>
              </a:rPr>
              <a:t>две вещи, и ответы в их число не входят:</a:t>
            </a:r>
            <a:r>
              <a:rPr sz="1000" b="0" i="0">
                <a:solidFill>
                  <a:srgbClr val="21295C"/>
                </a:solidFill>
                <a:latin typeface="DejaVu Sans"/>
              </a:rPr>
              <a:t> вопрос, на который все ответили одинаково, никого не различает; вопрос, на который отвечают про воображаемое будущее, подталкивает к вежливой выдумке. Оба переписывают.</a:t>
            </a:r>
          </a:p>
        </p:txBody>
      </p:sp>
      <p:sp>
        <p:nvSpPr>
          <p:cNvPr id="22" name="Rounded Rectangle 21"/>
          <p:cNvSpPr/>
          <p:nvPr/>
        </p:nvSpPr>
        <p:spPr>
          <a:xfrm>
            <a:off x="862736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2"/>
          <a:stretch>
            <a:fillRect/>
          </a:stretch>
        </p:blipFill>
        <p:spPr>
          <a:xfrm>
            <a:off x="8755380" y="1770615"/>
            <a:ext cx="182880" cy="182880"/>
          </a:xfrm>
          <a:prstGeom prst="rect">
            <a:avLst/>
          </a:prstGeom>
        </p:spPr>
      </p:pic>
      <p:cxnSp>
        <p:nvCxnSpPr>
          <p:cNvPr id="24" name="Connector 23"/>
          <p:cNvCxnSpPr/>
          <p:nvPr/>
        </p:nvCxnSpPr>
        <p:spPr>
          <a:xfrm>
            <a:off x="906627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7600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users-mid.png"/>
          <p:cNvPicPr>
            <a:picLocks noChangeAspect="1"/>
          </p:cNvPicPr>
          <p:nvPr/>
        </p:nvPicPr>
        <p:blipFill>
          <a:blip r:embed="rId2"/>
          <a:stretch>
            <a:fillRect/>
          </a:stretch>
        </p:blipFill>
        <p:spPr>
          <a:xfrm>
            <a:off x="9304020" y="1770615"/>
            <a:ext cx="182880" cy="182880"/>
          </a:xfrm>
          <a:prstGeom prst="rect">
            <a:avLst/>
          </a:prstGeom>
        </p:spPr>
      </p:pic>
      <p:cxnSp>
        <p:nvCxnSpPr>
          <p:cNvPr id="27" name="Connector 26"/>
          <p:cNvCxnSpPr/>
          <p:nvPr/>
        </p:nvCxnSpPr>
        <p:spPr>
          <a:xfrm>
            <a:off x="961491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72464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users-mid.png"/>
          <p:cNvPicPr>
            <a:picLocks noChangeAspect="1"/>
          </p:cNvPicPr>
          <p:nvPr/>
        </p:nvPicPr>
        <p:blipFill>
          <a:blip r:embed="rId2"/>
          <a:stretch>
            <a:fillRect/>
          </a:stretch>
        </p:blipFill>
        <p:spPr>
          <a:xfrm>
            <a:off x="9852660" y="1770615"/>
            <a:ext cx="182880" cy="182880"/>
          </a:xfrm>
          <a:prstGeom prst="rect">
            <a:avLst/>
          </a:prstGeom>
        </p:spPr>
      </p:pic>
      <p:cxnSp>
        <p:nvCxnSpPr>
          <p:cNvPr id="30" name="Connector 29"/>
          <p:cNvCxnSpPr/>
          <p:nvPr/>
        </p:nvCxnSpPr>
        <p:spPr>
          <a:xfrm>
            <a:off x="1016355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27328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users-mid.png"/>
          <p:cNvPicPr>
            <a:picLocks noChangeAspect="1"/>
          </p:cNvPicPr>
          <p:nvPr/>
        </p:nvPicPr>
        <p:blipFill>
          <a:blip r:embed="rId2"/>
          <a:stretch>
            <a:fillRect/>
          </a:stretch>
        </p:blipFill>
        <p:spPr>
          <a:xfrm>
            <a:off x="10401300" y="1770615"/>
            <a:ext cx="182880" cy="182880"/>
          </a:xfrm>
          <a:prstGeom prst="rect">
            <a:avLst/>
          </a:prstGeom>
        </p:spPr>
      </p:pic>
      <p:cxnSp>
        <p:nvCxnSpPr>
          <p:cNvPr id="33" name="Connector 32"/>
          <p:cNvCxnSpPr/>
          <p:nvPr/>
        </p:nvCxnSpPr>
        <p:spPr>
          <a:xfrm>
            <a:off x="1071219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082192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users-mid.png"/>
          <p:cNvPicPr>
            <a:picLocks noChangeAspect="1"/>
          </p:cNvPicPr>
          <p:nvPr/>
        </p:nvPicPr>
        <p:blipFill>
          <a:blip r:embed="rId2"/>
          <a:stretch>
            <a:fillRect/>
          </a:stretch>
        </p:blipFill>
        <p:spPr>
          <a:xfrm>
            <a:off x="10949940" y="1770615"/>
            <a:ext cx="182880" cy="182880"/>
          </a:xfrm>
          <a:prstGeom prst="rect">
            <a:avLst/>
          </a:prstGeom>
        </p:spPr>
      </p:pic>
      <p:pic>
        <p:nvPicPr>
          <p:cNvPr id="36" name="Picture 35" descr="x-gold.png"/>
          <p:cNvPicPr>
            <a:picLocks noChangeAspect="1"/>
          </p:cNvPicPr>
          <p:nvPr/>
        </p:nvPicPr>
        <p:blipFill>
          <a:blip r:embed="rId3"/>
          <a:stretch>
            <a:fillRect/>
          </a:stretch>
        </p:blipFill>
        <p:spPr>
          <a:xfrm>
            <a:off x="9861804" y="1779759"/>
            <a:ext cx="164592" cy="164592"/>
          </a:xfrm>
          <a:prstGeom prst="rect">
            <a:avLst/>
          </a:prstGeom>
        </p:spPr>
      </p:pic>
      <p:sp>
        <p:nvSpPr>
          <p:cNvPr id="37" name="TextBox 36"/>
          <p:cNvSpPr txBox="1"/>
          <p:nvPr/>
        </p:nvSpPr>
        <p:spPr>
          <a:xfrm>
            <a:off x="8366760" y="2054079"/>
            <a:ext cx="3154680" cy="219456"/>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выдуманные собеседники не слышат друг друга</a:t>
            </a:r>
          </a:p>
        </p:txBody>
      </p:sp>
      <p:cxnSp>
        <p:nvCxnSpPr>
          <p:cNvPr id="38" name="Connector 37"/>
          <p:cNvCxnSpPr/>
          <p:nvPr/>
        </p:nvCxnSpPr>
        <p:spPr>
          <a:xfrm>
            <a:off x="9944100" y="2328399"/>
            <a:ext cx="0" cy="182880"/>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412480" y="2547855"/>
            <a:ext cx="3063240" cy="640080"/>
          </a:xfrm>
          <a:prstGeom prst="roundRect">
            <a:avLst>
              <a:gd name="adj" fmla="val 2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94776" y="2547855"/>
            <a:ext cx="2898648" cy="640080"/>
          </a:xfrm>
          <a:prstGeom prst="rect">
            <a:avLst/>
          </a:prstGeom>
          <a:noFill/>
        </p:spPr>
        <p:txBody>
          <a:bodyPr wrap="square" lIns="0" rIns="0" tIns="0" bIns="0" anchor="ctr">
            <a:spAutoFit/>
          </a:bodyPr>
          <a:lstStyle/>
          <a:p>
            <a:pPr algn="ctr">
              <a:lnSpc>
                <a:spcPct val="110000"/>
              </a:lnSpc>
            </a:pPr>
            <a:r>
              <a:rPr sz="1050" b="1" i="0">
                <a:solidFill>
                  <a:srgbClr val="21295C"/>
                </a:solidFill>
                <a:latin typeface="DejaVu Sans"/>
              </a:rPr>
              <a:t>наружу выходит только</a:t>
            </a:r>
          </a:p>
          <a:p>
            <a:pPr algn="ctr">
              <a:lnSpc>
                <a:spcPct val="110000"/>
              </a:lnSpc>
            </a:pPr>
            <a:r>
              <a:rPr sz="1050" b="1" i="0">
                <a:solidFill>
                  <a:srgbClr val="21295C"/>
                </a:solidFill>
                <a:latin typeface="DejaVu Sans"/>
              </a:rPr>
              <a:t>правленый список вопросов</a:t>
            </a:r>
          </a:p>
        </p:txBody>
      </p:sp>
      <p:sp>
        <p:nvSpPr>
          <p:cNvPr id="41" name="Rounded Rectangle 40"/>
          <p:cNvSpPr/>
          <p:nvPr/>
        </p:nvSpPr>
        <p:spPr>
          <a:xfrm>
            <a:off x="502920" y="3808457"/>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3808457"/>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43" name="Rounded Rectangle 42"/>
          <p:cNvSpPr/>
          <p:nvPr/>
        </p:nvSpPr>
        <p:spPr>
          <a:xfrm>
            <a:off x="1801368" y="3808457"/>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984248" y="3899897"/>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084831" y="3945617"/>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так репетировали всегда</a:t>
            </a:r>
          </a:p>
        </p:txBody>
      </p:sp>
      <p:sp>
        <p:nvSpPr>
          <p:cNvPr id="46" name="TextBox 45"/>
          <p:cNvSpPr txBox="1"/>
          <p:nvPr/>
        </p:nvSpPr>
        <p:spPr>
          <a:xfrm>
            <a:off x="2084831" y="4174217"/>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Список вопросов проговаривают на коллеге или тратят на репетицию одно живое интервью из восьми. Работает, но даёт один взгляд и стоит дня.</a:t>
            </a:r>
          </a:p>
        </p:txBody>
      </p:sp>
      <p:sp>
        <p:nvSpPr>
          <p:cNvPr id="47" name="Rounded Rectangle 46"/>
          <p:cNvSpPr/>
          <p:nvPr/>
        </p:nvSpPr>
        <p:spPr>
          <a:xfrm>
            <a:off x="6844284" y="3899897"/>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4868" y="3945617"/>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изменилось</a:t>
            </a:r>
          </a:p>
        </p:txBody>
      </p:sp>
      <p:sp>
        <p:nvSpPr>
          <p:cNvPr id="49" name="TextBox 48"/>
          <p:cNvSpPr txBox="1"/>
          <p:nvPr/>
        </p:nvSpPr>
        <p:spPr>
          <a:xfrm>
            <a:off x="6944868" y="4174217"/>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Репетиция занимает минуты, и прогонов можно сделать десяток. Дешевеет </a:t>
            </a:r>
            <a:r>
              <a:rPr sz="950" b="1" i="0">
                <a:solidFill>
                  <a:srgbClr val="21295C"/>
                </a:solidFill>
                <a:latin typeface="DejaVu Sans"/>
              </a:rPr>
              <a:t>только репетиция</a:t>
            </a:r>
            <a:r>
              <a:rPr sz="950" b="0" i="0">
                <a:solidFill>
                  <a:srgbClr val="21295C"/>
                </a:solidFill>
                <a:latin typeface="DejaVu Sans"/>
              </a:rPr>
              <a:t>: само интервью с живым человеком не заменяется ничем.</a:t>
            </a:r>
          </a:p>
        </p:txBody>
      </p:sp>
      <p:sp>
        <p:nvSpPr>
          <p:cNvPr id="50" name="Rounded Rectangle 49"/>
          <p:cNvSpPr/>
          <p:nvPr/>
        </p:nvSpPr>
        <p:spPr>
          <a:xfrm>
            <a:off x="502920" y="4946486"/>
            <a:ext cx="1152144" cy="105034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946486"/>
            <a:ext cx="1060704" cy="105034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52" name="Rounded Rectangle 51"/>
          <p:cNvSpPr/>
          <p:nvPr/>
        </p:nvSpPr>
        <p:spPr>
          <a:xfrm>
            <a:off x="1801368" y="4946486"/>
            <a:ext cx="9902952" cy="105034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984248" y="5037926"/>
            <a:ext cx="9537192" cy="867462"/>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Ответы собеседников — не данные о пользователях: модель одна, и пять собеседников дают пять взглядов одной модели. Пяти людей за ними нет. При сверке с настоящим национальным опросом средние ответы модель повторяет, а разброс мнений занижает вдвое (</a:t>
            </a:r>
            <a:r>
              <a:rPr sz="1100" b="1" i="0">
                <a:solidFill>
                  <a:srgbClr val="21295C"/>
                </a:solidFill>
                <a:latin typeface="DejaVu Sans"/>
              </a:rPr>
              <a:t>16 против 31</a:t>
            </a:r>
            <a:r>
              <a:rPr sz="1100" b="1" i="0">
                <a:solidFill>
                  <a:srgbClr val="21295C"/>
                </a:solidFill>
                <a:latin typeface="DejaVu Sans"/>
              </a:rPr>
              <a:t>). Если из прогона вынесен вывод о продукте, приём запущен неправильно: его выход — правленый вопрос.</a:t>
            </a:r>
          </a:p>
        </p:txBody>
      </p:sp>
      <p:sp>
        <p:nvSpPr>
          <p:cNvPr id="54" name="TextBox 53"/>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Сверка синтетических ответов с реальным национальным опросом — Bisbee, Clinton, Dorff, Kenkel, Larson, Political Analysis, 2024</a:t>
            </a:r>
          </a:p>
        </p:txBody>
      </p:sp>
      <p:sp>
        <p:nvSpPr>
          <p:cNvPr id="55" name="TextBox 5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Поиск боли по накопленным обращениям в поддержку</a:t>
            </a:r>
          </a:p>
        </p:txBody>
      </p:sp>
      <p:sp>
        <p:nvSpPr>
          <p:cNvPr id="3" name="Rounded Rectangle 2"/>
          <p:cNvSpPr/>
          <p:nvPr/>
        </p:nvSpPr>
        <p:spPr>
          <a:xfrm>
            <a:off x="502920" y="566661"/>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Если у продукта уже есть пользователи, у него есть и архив их жалоб и вопросов. Приём превращает этот архив в источник гипотез: обращения складывают в поисковый массив, собирают похожие по смыслу в группы и смотрят, какие темы повторяются. Наружу выходит названная тема боли.</a:t>
            </a:r>
          </a:p>
        </p:txBody>
      </p:sp>
      <p:sp>
        <p:nvSpPr>
          <p:cNvPr id="7" name="Rounded Rectangle 6"/>
          <p:cNvSpPr/>
          <p:nvPr/>
        </p:nvSpPr>
        <p:spPr>
          <a:xfrm>
            <a:off x="502920" y="1523727"/>
            <a:ext cx="1152144" cy="2157984"/>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23727"/>
            <a:ext cx="1060704" cy="215798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523727"/>
            <a:ext cx="9902952" cy="2157984"/>
          </a:xfrm>
          <a:prstGeom prst="roundRect">
            <a:avLst>
              <a:gd name="adj" fmla="val 1412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2888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2888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15167"/>
            <a:ext cx="61630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Каждое обращение кладут в общий массив и приписывают к нему, когда оно пришло, от кого и по какому продукту.</a:t>
            </a:r>
          </a:p>
        </p:txBody>
      </p:sp>
      <p:sp>
        <p:nvSpPr>
          <p:cNvPr id="13" name="Oval 12"/>
          <p:cNvSpPr/>
          <p:nvPr/>
        </p:nvSpPr>
        <p:spPr>
          <a:xfrm>
            <a:off x="1984248" y="207156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7156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57849"/>
            <a:ext cx="61630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Ищут </a:t>
            </a:r>
            <a:r>
              <a:rPr sz="1000" b="1" i="0">
                <a:solidFill>
                  <a:srgbClr val="065A82"/>
                </a:solidFill>
                <a:latin typeface="DejaVu Sans"/>
              </a:rPr>
              <a:t>двумя способами сразу</a:t>
            </a:r>
            <a:r>
              <a:rPr sz="1000" b="0" i="0">
                <a:solidFill>
                  <a:srgbClr val="21295C"/>
                </a:solidFill>
                <a:latin typeface="DejaVu Sans"/>
              </a:rPr>
              <a:t>: по точному совпадению слов и по смыслу. Код ошибки находит только первый, описание проблемы своими словами — только второй.</a:t>
            </a:r>
          </a:p>
        </p:txBody>
      </p:sp>
      <p:sp>
        <p:nvSpPr>
          <p:cNvPr id="16" name="Oval 15"/>
          <p:cNvSpPr/>
          <p:nvPr/>
        </p:nvSpPr>
        <p:spPr>
          <a:xfrm>
            <a:off x="1984248" y="267980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7980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66092"/>
            <a:ext cx="61630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Похожее собирают в группы и пересказывают в два приёма: сначала каждое обращение отдельно, потом общее между ними. Пропуск первого приёма — потеря 20–40% деталей.</a:t>
            </a:r>
          </a:p>
        </p:txBody>
      </p:sp>
      <p:sp>
        <p:nvSpPr>
          <p:cNvPr id="19" name="Rounded Rectangle 18"/>
          <p:cNvSpPr/>
          <p:nvPr/>
        </p:nvSpPr>
        <p:spPr>
          <a:xfrm>
            <a:off x="8732520" y="1670031"/>
            <a:ext cx="2788920" cy="420624"/>
          </a:xfrm>
          <a:prstGeom prst="roundRect">
            <a:avLst>
              <a:gd name="adj" fmla="val 19444"/>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database-mid.png"/>
          <p:cNvPicPr>
            <a:picLocks noChangeAspect="1"/>
          </p:cNvPicPr>
          <p:nvPr/>
        </p:nvPicPr>
        <p:blipFill>
          <a:blip r:embed="rId2"/>
          <a:stretch>
            <a:fillRect/>
          </a:stretch>
        </p:blipFill>
        <p:spPr>
          <a:xfrm>
            <a:off x="8860536" y="1770615"/>
            <a:ext cx="219456" cy="219456"/>
          </a:xfrm>
          <a:prstGeom prst="rect">
            <a:avLst/>
          </a:prstGeom>
        </p:spPr>
      </p:pic>
      <p:sp>
        <p:nvSpPr>
          <p:cNvPr id="21" name="TextBox 20"/>
          <p:cNvSpPr txBox="1"/>
          <p:nvPr/>
        </p:nvSpPr>
        <p:spPr>
          <a:xfrm>
            <a:off x="9171432" y="1670031"/>
            <a:ext cx="2240279" cy="420624"/>
          </a:xfrm>
          <a:prstGeom prst="rect">
            <a:avLst/>
          </a:prstGeom>
          <a:noFill/>
        </p:spPr>
        <p:txBody>
          <a:bodyPr wrap="square" lIns="0" rIns="0" tIns="0" bIns="0" anchor="ctr">
            <a:spAutoFit/>
          </a:bodyPr>
          <a:lstStyle/>
          <a:p>
            <a:pPr algn="l">
              <a:lnSpc>
                <a:spcPct val="104000"/>
              </a:lnSpc>
            </a:pPr>
            <a:r>
              <a:rPr sz="960" b="1" i="0">
                <a:solidFill>
                  <a:srgbClr val="065A82"/>
                </a:solidFill>
                <a:latin typeface="DejaVu Sans"/>
              </a:rPr>
              <a:t>сложить</a:t>
            </a:r>
          </a:p>
          <a:p>
            <a:pPr algn="l">
              <a:lnSpc>
                <a:spcPct val="104000"/>
              </a:lnSpc>
            </a:pPr>
            <a:r>
              <a:rPr sz="960" b="1" i="0">
                <a:solidFill>
                  <a:srgbClr val="065A82"/>
                </a:solidFill>
                <a:latin typeface="DejaVu Sans"/>
              </a:rPr>
              <a:t>и разметить</a:t>
            </a:r>
          </a:p>
        </p:txBody>
      </p:sp>
      <p:cxnSp>
        <p:nvCxnSpPr>
          <p:cNvPr id="22" name="Connector 21"/>
          <p:cNvCxnSpPr/>
          <p:nvPr/>
        </p:nvCxnSpPr>
        <p:spPr>
          <a:xfrm>
            <a:off x="10126980" y="2090655"/>
            <a:ext cx="0" cy="16459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732520" y="2255247"/>
            <a:ext cx="2788920" cy="420624"/>
          </a:xfrm>
          <a:prstGeom prst="roundRect">
            <a:avLst>
              <a:gd name="adj" fmla="val 19444"/>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earch-check-mid.png"/>
          <p:cNvPicPr>
            <a:picLocks noChangeAspect="1"/>
          </p:cNvPicPr>
          <p:nvPr/>
        </p:nvPicPr>
        <p:blipFill>
          <a:blip r:embed="rId3"/>
          <a:stretch>
            <a:fillRect/>
          </a:stretch>
        </p:blipFill>
        <p:spPr>
          <a:xfrm>
            <a:off x="8860536" y="2355831"/>
            <a:ext cx="219456" cy="219456"/>
          </a:xfrm>
          <a:prstGeom prst="rect">
            <a:avLst/>
          </a:prstGeom>
        </p:spPr>
      </p:pic>
      <p:sp>
        <p:nvSpPr>
          <p:cNvPr id="25" name="TextBox 24"/>
          <p:cNvSpPr txBox="1"/>
          <p:nvPr/>
        </p:nvSpPr>
        <p:spPr>
          <a:xfrm>
            <a:off x="9171432" y="2255247"/>
            <a:ext cx="2240279" cy="420624"/>
          </a:xfrm>
          <a:prstGeom prst="rect">
            <a:avLst/>
          </a:prstGeom>
          <a:noFill/>
        </p:spPr>
        <p:txBody>
          <a:bodyPr wrap="square" lIns="0" rIns="0" tIns="0" bIns="0" anchor="ctr">
            <a:spAutoFit/>
          </a:bodyPr>
          <a:lstStyle/>
          <a:p>
            <a:pPr algn="l">
              <a:lnSpc>
                <a:spcPct val="104000"/>
              </a:lnSpc>
            </a:pPr>
            <a:r>
              <a:rPr sz="960" b="1" i="0">
                <a:solidFill>
                  <a:srgbClr val="1C7293"/>
                </a:solidFill>
                <a:latin typeface="DejaVu Sans"/>
              </a:rPr>
              <a:t>искать словом</a:t>
            </a:r>
          </a:p>
          <a:p>
            <a:pPr algn="l">
              <a:lnSpc>
                <a:spcPct val="104000"/>
              </a:lnSpc>
            </a:pPr>
            <a:r>
              <a:rPr sz="960" b="1" i="0">
                <a:solidFill>
                  <a:srgbClr val="1C7293"/>
                </a:solidFill>
                <a:latin typeface="DejaVu Sans"/>
              </a:rPr>
              <a:t>и смыслом</a:t>
            </a:r>
          </a:p>
        </p:txBody>
      </p:sp>
      <p:cxnSp>
        <p:nvCxnSpPr>
          <p:cNvPr id="26" name="Connector 25"/>
          <p:cNvCxnSpPr/>
          <p:nvPr/>
        </p:nvCxnSpPr>
        <p:spPr>
          <a:xfrm>
            <a:off x="10126980" y="2675871"/>
            <a:ext cx="0" cy="16459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732520" y="2840463"/>
            <a:ext cx="2788920" cy="420624"/>
          </a:xfrm>
          <a:prstGeom prst="roundRect">
            <a:avLst>
              <a:gd name="adj" fmla="val 19444"/>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group-mid.png"/>
          <p:cNvPicPr>
            <a:picLocks noChangeAspect="1"/>
          </p:cNvPicPr>
          <p:nvPr/>
        </p:nvPicPr>
        <p:blipFill>
          <a:blip r:embed="rId4"/>
          <a:stretch>
            <a:fillRect/>
          </a:stretch>
        </p:blipFill>
        <p:spPr>
          <a:xfrm>
            <a:off x="8860536" y="2941047"/>
            <a:ext cx="219456" cy="219456"/>
          </a:xfrm>
          <a:prstGeom prst="rect">
            <a:avLst/>
          </a:prstGeom>
        </p:spPr>
      </p:pic>
      <p:sp>
        <p:nvSpPr>
          <p:cNvPr id="29" name="TextBox 28"/>
          <p:cNvSpPr txBox="1"/>
          <p:nvPr/>
        </p:nvSpPr>
        <p:spPr>
          <a:xfrm>
            <a:off x="9171432" y="2840463"/>
            <a:ext cx="2240279" cy="420624"/>
          </a:xfrm>
          <a:prstGeom prst="rect">
            <a:avLst/>
          </a:prstGeom>
          <a:noFill/>
        </p:spPr>
        <p:txBody>
          <a:bodyPr wrap="square" lIns="0" rIns="0" tIns="0" bIns="0" anchor="ctr">
            <a:spAutoFit/>
          </a:bodyPr>
          <a:lstStyle/>
          <a:p>
            <a:pPr algn="l">
              <a:lnSpc>
                <a:spcPct val="104000"/>
              </a:lnSpc>
            </a:pPr>
            <a:r>
              <a:rPr sz="960" b="1" i="0">
                <a:solidFill>
                  <a:srgbClr val="028090"/>
                </a:solidFill>
                <a:latin typeface="DejaVu Sans"/>
              </a:rPr>
              <a:t>собрать похожее</a:t>
            </a:r>
          </a:p>
          <a:p>
            <a:pPr algn="l">
              <a:lnSpc>
                <a:spcPct val="104000"/>
              </a:lnSpc>
            </a:pPr>
            <a:r>
              <a:rPr sz="960" b="1" i="0">
                <a:solidFill>
                  <a:srgbClr val="028090"/>
                </a:solidFill>
                <a:latin typeface="DejaVu Sans"/>
              </a:rPr>
              <a:t>в группы</a:t>
            </a:r>
          </a:p>
        </p:txBody>
      </p:sp>
      <p:sp>
        <p:nvSpPr>
          <p:cNvPr id="30" name="TextBox 29"/>
          <p:cNvSpPr txBox="1"/>
          <p:nvPr/>
        </p:nvSpPr>
        <p:spPr>
          <a:xfrm>
            <a:off x="8732520" y="3297663"/>
            <a:ext cx="2788920" cy="274320"/>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порядок шагов: пропуск разметки превращает архив в мешок текста</a:t>
            </a:r>
          </a:p>
        </p:txBody>
      </p:sp>
      <p:sp>
        <p:nvSpPr>
          <p:cNvPr id="31" name="Rounded Rectangle 30"/>
          <p:cNvSpPr/>
          <p:nvPr/>
        </p:nvSpPr>
        <p:spPr>
          <a:xfrm>
            <a:off x="502920" y="3745719"/>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745719"/>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3" name="Rounded Rectangle 32"/>
          <p:cNvSpPr/>
          <p:nvPr/>
        </p:nvSpPr>
        <p:spPr>
          <a:xfrm>
            <a:off x="1801368" y="3745719"/>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984248" y="3837159"/>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84831" y="388287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ручная разметка по темам</a:t>
            </a:r>
          </a:p>
        </p:txBody>
      </p:sp>
      <p:sp>
        <p:nvSpPr>
          <p:cNvPr id="36" name="TextBox 35"/>
          <p:cNvSpPr txBox="1"/>
          <p:nvPr/>
        </p:nvSpPr>
        <p:spPr>
          <a:xfrm>
            <a:off x="2084831" y="411147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Обращения раскладывают по заранее придуманному списку тем. Поэтому находят только те темы, которые кто-то уже предположил.</a:t>
            </a:r>
          </a:p>
        </p:txBody>
      </p:sp>
      <p:sp>
        <p:nvSpPr>
          <p:cNvPr id="37" name="Rounded Rectangle 36"/>
          <p:cNvSpPr/>
          <p:nvPr/>
        </p:nvSpPr>
        <p:spPr>
          <a:xfrm>
            <a:off x="6844284" y="3837159"/>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44868" y="388287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изменилось</a:t>
            </a:r>
          </a:p>
        </p:txBody>
      </p:sp>
      <p:sp>
        <p:nvSpPr>
          <p:cNvPr id="39" name="TextBox 38"/>
          <p:cNvSpPr txBox="1"/>
          <p:nvPr/>
        </p:nvSpPr>
        <p:spPr>
          <a:xfrm>
            <a:off x="6944868" y="411147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Похожее по смыслу собирается само, без списка тем, и пересказ группы делается за минуты. </a:t>
            </a:r>
            <a:r>
              <a:rPr sz="950" b="1" i="0">
                <a:solidFill>
                  <a:srgbClr val="21295C"/>
                </a:solidFill>
                <a:latin typeface="DejaVu Sans"/>
              </a:rPr>
              <a:t>Название темы всё равно проверяет человек:</a:t>
            </a:r>
            <a:r>
              <a:rPr sz="950" b="0" i="0">
                <a:solidFill>
                  <a:srgbClr val="21295C"/>
                </a:solidFill>
                <a:latin typeface="DejaVu Sans"/>
              </a:rPr>
              <a:t> машина группирует, решения не принимает.</a:t>
            </a:r>
          </a:p>
        </p:txBody>
      </p:sp>
      <p:sp>
        <p:nvSpPr>
          <p:cNvPr id="40" name="Rounded Rectangle 39"/>
          <p:cNvSpPr/>
          <p:nvPr/>
        </p:nvSpPr>
        <p:spPr>
          <a:xfrm>
            <a:off x="502920" y="5036929"/>
            <a:ext cx="1152144" cy="1225296"/>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5036929"/>
            <a:ext cx="1060704" cy="1225296"/>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2" name="Rounded Rectangle 41"/>
          <p:cNvSpPr/>
          <p:nvPr/>
        </p:nvSpPr>
        <p:spPr>
          <a:xfrm>
            <a:off x="1801368" y="5036929"/>
            <a:ext cx="9902952" cy="122529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84248" y="5128369"/>
            <a:ext cx="7205472" cy="1042416"/>
          </a:xfrm>
          <a:prstGeom prst="rect">
            <a:avLst/>
          </a:prstGeom>
          <a:noFill/>
        </p:spPr>
        <p:txBody>
          <a:bodyPr wrap="square" lIns="0" rIns="0" tIns="0" bIns="0" anchor="ctr">
            <a:spAutoFit/>
          </a:bodyPr>
          <a:lstStyle/>
          <a:p>
            <a:pPr algn="l">
              <a:lnSpc>
                <a:spcPct val="114000"/>
              </a:lnSpc>
            </a:pPr>
            <a:r>
              <a:rPr sz="1050" b="1" i="0">
                <a:solidFill>
                  <a:srgbClr val="21295C"/>
                </a:solidFill>
                <a:latin typeface="DejaVu Sans"/>
              </a:rPr>
              <a:t>Архив смещён </a:t>
            </a:r>
            <a:r>
              <a:rPr sz="1050" b="1" i="0">
                <a:solidFill>
                  <a:srgbClr val="21295C"/>
                </a:solidFill>
                <a:latin typeface="DejaVu Sans"/>
              </a:rPr>
              <a:t>по построению</a:t>
            </a:r>
            <a:r>
              <a:rPr sz="1050" b="1" i="0">
                <a:solidFill>
                  <a:srgbClr val="21295C"/>
                </a:solidFill>
                <a:latin typeface="DejaVu Sans"/>
              </a:rPr>
              <a:t>: в нём есть только те, кто дошёл до жалобы. Объём этого не лечит — </a:t>
            </a:r>
            <a:r>
              <a:rPr sz="1050" b="1" i="0">
                <a:solidFill>
                  <a:srgbClr val="21295C"/>
                </a:solidFill>
                <a:latin typeface="DejaVu Sans"/>
              </a:rPr>
              <a:t>не бывает обращения «мне нужно то, чего у вас вообще нет»</a:t>
            </a:r>
            <a:r>
              <a:rPr sz="1050" b="1" i="0">
                <a:solidFill>
                  <a:srgbClr val="21295C"/>
                </a:solidFill>
                <a:latin typeface="DejaVu Sans"/>
              </a:rPr>
              <a:t>. На вопрос «почему люди не доходят до регистрации» приём не отвечает: нужен разговор с теми, кто ушёл. И поиск возвращает </a:t>
            </a:r>
            <a:r>
              <a:rPr sz="1050" b="1" i="0">
                <a:solidFill>
                  <a:srgbClr val="21295C"/>
                </a:solidFill>
                <a:latin typeface="DejaVu Sans"/>
              </a:rPr>
              <a:t>похожие</a:t>
            </a:r>
            <a:r>
              <a:rPr sz="1050" b="1" i="0">
                <a:solidFill>
                  <a:srgbClr val="21295C"/>
                </a:solidFill>
                <a:latin typeface="DejaVu Sans"/>
              </a:rPr>
              <a:t> обращения, важность он не меряет: десять тысяч жалоб на опечатку — по-прежнему одна опечатка.</a:t>
            </a:r>
          </a:p>
        </p:txBody>
      </p:sp>
      <p:sp>
        <p:nvSpPr>
          <p:cNvPr id="44" name="Rounded Rectangle 43"/>
          <p:cNvSpPr/>
          <p:nvPr/>
        </p:nvSpPr>
        <p:spPr>
          <a:xfrm>
            <a:off x="9372600" y="5146657"/>
            <a:ext cx="2103120" cy="1005840"/>
          </a:xfrm>
          <a:prstGeom prst="roundRect">
            <a:avLst>
              <a:gd name="adj" fmla="val 17676"/>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funnel-gold.png"/>
          <p:cNvPicPr>
            <a:picLocks noChangeAspect="1"/>
          </p:cNvPicPr>
          <p:nvPr/>
        </p:nvPicPr>
        <p:blipFill>
          <a:blip r:embed="rId5"/>
          <a:stretch>
            <a:fillRect/>
          </a:stretch>
        </p:blipFill>
        <p:spPr>
          <a:xfrm>
            <a:off x="9482328" y="5238097"/>
            <a:ext cx="237744" cy="237744"/>
          </a:xfrm>
          <a:prstGeom prst="rect">
            <a:avLst/>
          </a:prstGeom>
        </p:spPr>
      </p:pic>
      <p:sp>
        <p:nvSpPr>
          <p:cNvPr id="46" name="TextBox 45"/>
          <p:cNvSpPr txBox="1"/>
          <p:nvPr/>
        </p:nvSpPr>
        <p:spPr>
          <a:xfrm>
            <a:off x="9793224" y="5219809"/>
            <a:ext cx="1591056" cy="292608"/>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кто дошёл до жалобы</a:t>
            </a:r>
          </a:p>
        </p:txBody>
      </p:sp>
      <p:sp>
        <p:nvSpPr>
          <p:cNvPr id="47" name="Rounded Rectangle 46"/>
          <p:cNvSpPr/>
          <p:nvPr/>
        </p:nvSpPr>
        <p:spPr>
          <a:xfrm>
            <a:off x="9518904" y="5548993"/>
            <a:ext cx="1810512" cy="182880"/>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518904" y="5731873"/>
            <a:ext cx="1810512" cy="201168"/>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все пользователи</a:t>
            </a:r>
          </a:p>
        </p:txBody>
      </p:sp>
      <p:sp>
        <p:nvSpPr>
          <p:cNvPr id="49" name="Rounded Rectangle 48"/>
          <p:cNvSpPr/>
          <p:nvPr/>
        </p:nvSpPr>
        <p:spPr>
          <a:xfrm>
            <a:off x="9518904" y="5933041"/>
            <a:ext cx="365760" cy="18288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939528" y="5933041"/>
            <a:ext cx="1417320" cy="201168"/>
          </a:xfrm>
          <a:prstGeom prst="rect">
            <a:avLst/>
          </a:prstGeom>
          <a:noFill/>
        </p:spPr>
        <p:txBody>
          <a:bodyPr wrap="square" lIns="0" rIns="0" tIns="0" bIns="0" anchor="t">
            <a:spAutoFit/>
          </a:bodyPr>
          <a:lstStyle/>
          <a:p>
            <a:pPr algn="l">
              <a:lnSpc>
                <a:spcPct val="105000"/>
              </a:lnSpc>
            </a:pPr>
            <a:r>
              <a:rPr sz="850" b="1" i="0">
                <a:solidFill>
                  <a:srgbClr val="21295C"/>
                </a:solidFill>
                <a:latin typeface="DejaVu Sans"/>
              </a:rPr>
              <a:t>архив обращений</a:t>
            </a:r>
          </a:p>
        </p:txBody>
      </p:sp>
      <p:sp>
        <p:nvSpPr>
          <p:cNvPr id="51" name="TextBox 50"/>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Двухшаговый синтез — Тереза Торрес, коуч продуктовых команд, автор книги «Continuous Discovery Habits» о непрерывном исследовании пользователей</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841248"/>
            <a:ext cx="4160520" cy="3950208"/>
          </a:xfrm>
          <a:prstGeom prst="roundRect">
            <a:avLst>
              <a:gd name="adj" fmla="val 77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69264"/>
            <a:ext cx="3703320" cy="310896"/>
          </a:xfrm>
          <a:prstGeom prst="rect">
            <a:avLst/>
          </a:prstGeom>
          <a:noFill/>
        </p:spPr>
        <p:txBody>
          <a:bodyPr wrap="square" lIns="0" rIns="0" tIns="0" bIns="0" anchor="t">
            <a:spAutoFit/>
          </a:bodyPr>
          <a:lstStyle/>
          <a:p>
            <a:pPr algn="ctr">
              <a:lnSpc>
                <a:spcPct val="115000"/>
              </a:lnSpc>
            </a:pPr>
            <a:r>
              <a:rPr sz="1500" b="1" i="0">
                <a:solidFill>
                  <a:srgbClr val="065A82"/>
                </a:solidFill>
                <a:latin typeface="DejaVu Sans"/>
              </a:rPr>
              <a:t>Зеркало согласия</a:t>
            </a:r>
          </a:p>
        </p:txBody>
      </p:sp>
      <p:sp>
        <p:nvSpPr>
          <p:cNvPr id="5" name="TextBox 4"/>
          <p:cNvSpPr txBox="1"/>
          <p:nvPr/>
        </p:nvSpPr>
        <p:spPr>
          <a:xfrm>
            <a:off x="731520" y="1353312"/>
            <a:ext cx="3703320" cy="493776"/>
          </a:xfrm>
          <a:prstGeom prst="rect">
            <a:avLst/>
          </a:prstGeom>
          <a:noFill/>
        </p:spPr>
        <p:txBody>
          <a:bodyPr wrap="square" lIns="0" rIns="0" tIns="0" bIns="0" anchor="t">
            <a:spAutoFit/>
          </a:bodyPr>
          <a:lstStyle/>
          <a:p>
            <a:pPr algn="ctr">
              <a:lnSpc>
                <a:spcPct val="110000"/>
              </a:lnSpc>
            </a:pPr>
            <a:r>
              <a:rPr sz="1050" b="0" i="0">
                <a:solidFill>
                  <a:srgbClr val="5B6678"/>
                </a:solidFill>
                <a:latin typeface="DejaVu Sans"/>
              </a:rPr>
              <a:t>Доля случаев, в которых тон ответа модели сдвигается к позитиву. Замер по пяти языковым моделям.</a:t>
            </a:r>
          </a:p>
        </p:txBody>
      </p:sp>
      <p:sp>
        <p:nvSpPr>
          <p:cNvPr id="6" name="Rounded Rectangle 5"/>
          <p:cNvSpPr/>
          <p:nvPr/>
        </p:nvSpPr>
        <p:spPr>
          <a:xfrm>
            <a:off x="704088" y="1938528"/>
            <a:ext cx="1737360" cy="1170432"/>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48256"/>
            <a:ext cx="1737360" cy="475488"/>
          </a:xfrm>
          <a:prstGeom prst="rect">
            <a:avLst/>
          </a:prstGeom>
          <a:noFill/>
        </p:spPr>
        <p:txBody>
          <a:bodyPr wrap="square" lIns="0" rIns="0" tIns="0" bIns="0" anchor="t">
            <a:spAutoFit/>
          </a:bodyPr>
          <a:lstStyle/>
          <a:p>
            <a:pPr algn="ctr">
              <a:lnSpc>
                <a:spcPct val="115000"/>
              </a:lnSpc>
            </a:pPr>
            <a:r>
              <a:rPr sz="2300" b="1" i="0">
                <a:solidFill>
                  <a:srgbClr val="21295C"/>
                </a:solidFill>
                <a:latin typeface="DejaVu Sans"/>
              </a:rPr>
              <a:t>72–91%</a:t>
            </a:r>
          </a:p>
        </p:txBody>
      </p:sp>
      <p:sp>
        <p:nvSpPr>
          <p:cNvPr id="8" name="TextBox 7"/>
          <p:cNvSpPr txBox="1"/>
          <p:nvPr/>
        </p:nvSpPr>
        <p:spPr>
          <a:xfrm>
            <a:off x="749808" y="2578608"/>
            <a:ext cx="1645920" cy="457200"/>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соглашается</a:t>
            </a:r>
          </a:p>
        </p:txBody>
      </p:sp>
      <p:sp>
        <p:nvSpPr>
          <p:cNvPr id="9" name="Rounded Rectangle 8"/>
          <p:cNvSpPr/>
          <p:nvPr/>
        </p:nvSpPr>
        <p:spPr>
          <a:xfrm>
            <a:off x="2624328" y="1938528"/>
            <a:ext cx="1737360" cy="1170432"/>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24328" y="2048256"/>
            <a:ext cx="1737360" cy="475488"/>
          </a:xfrm>
          <a:prstGeom prst="rect">
            <a:avLst/>
          </a:prstGeom>
          <a:noFill/>
        </p:spPr>
        <p:txBody>
          <a:bodyPr wrap="square" lIns="0" rIns="0" tIns="0" bIns="0" anchor="t">
            <a:spAutoFit/>
          </a:bodyPr>
          <a:lstStyle/>
          <a:p>
            <a:pPr algn="ctr">
              <a:lnSpc>
                <a:spcPct val="115000"/>
              </a:lnSpc>
            </a:pPr>
            <a:r>
              <a:rPr sz="2300" b="1" i="0">
                <a:solidFill>
                  <a:srgbClr val="1C7293"/>
                </a:solidFill>
                <a:latin typeface="DejaVu Sans"/>
              </a:rPr>
              <a:t>7–28%</a:t>
            </a:r>
          </a:p>
        </p:txBody>
      </p:sp>
      <p:sp>
        <p:nvSpPr>
          <p:cNvPr id="11" name="TextBox 10"/>
          <p:cNvSpPr txBox="1"/>
          <p:nvPr/>
        </p:nvSpPr>
        <p:spPr>
          <a:xfrm>
            <a:off x="2670048" y="2578608"/>
            <a:ext cx="1645920" cy="457200"/>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возражает</a:t>
            </a:r>
          </a:p>
        </p:txBody>
      </p:sp>
      <p:sp>
        <p:nvSpPr>
          <p:cNvPr id="12" name="TextBox 11"/>
          <p:cNvSpPr txBox="1"/>
          <p:nvPr/>
        </p:nvSpPr>
        <p:spPr>
          <a:xfrm>
            <a:off x="731520" y="3273552"/>
            <a:ext cx="3703320" cy="859536"/>
          </a:xfrm>
          <a:prstGeom prst="rect">
            <a:avLst/>
          </a:prstGeom>
          <a:noFill/>
        </p:spPr>
        <p:txBody>
          <a:bodyPr wrap="square" lIns="0" rIns="0" tIns="0" bIns="0" anchor="t">
            <a:spAutoFit/>
          </a:bodyPr>
          <a:lstStyle/>
          <a:p>
            <a:pPr algn="ctr">
              <a:lnSpc>
                <a:spcPct val="114000"/>
              </a:lnSpc>
            </a:pPr>
            <a:r>
              <a:rPr sz="1100" b="0" i="0">
                <a:solidFill>
                  <a:srgbClr val="21295C"/>
                </a:solidFill>
                <a:latin typeface="DejaVu Sans"/>
              </a:rPr>
              <a:t>Измерен сдвиг тона: собеседник возразил — и модель поехала за ним, хотя данных у неё не прибавилось. Частота положительного ответа — другая величина.</a:t>
            </a:r>
          </a:p>
        </p:txBody>
      </p:sp>
      <p:sp>
        <p:nvSpPr>
          <p:cNvPr id="13" name="TextBox 12"/>
          <p:cNvSpPr txBox="1"/>
          <p:nvPr/>
        </p:nvSpPr>
        <p:spPr>
          <a:xfrm>
            <a:off x="731520" y="4224528"/>
            <a:ext cx="3703320" cy="420624"/>
          </a:xfrm>
          <a:prstGeom prst="rect">
            <a:avLst/>
          </a:prstGeom>
          <a:noFill/>
        </p:spPr>
        <p:txBody>
          <a:bodyPr wrap="square" lIns="0" rIns="0" tIns="0" bIns="0" anchor="t">
            <a:spAutoFit/>
          </a:bodyPr>
          <a:lstStyle/>
          <a:p>
            <a:pPr algn="ctr">
              <a:lnSpc>
                <a:spcPct val="100000"/>
              </a:lnSpc>
            </a:pPr>
            <a:r>
              <a:rPr sz="950" b="0" i="1">
                <a:solidFill>
                  <a:srgbClr val="1C7293"/>
                </a:solidFill>
                <a:latin typeface="DejaVu Sans"/>
              </a:rPr>
              <a:t>Измерено исследователями компании Anthropic на пяти моделях: Мринанк Шарма и соавторы, 2023</a:t>
            </a:r>
          </a:p>
        </p:txBody>
      </p:sp>
      <p:sp>
        <p:nvSpPr>
          <p:cNvPr id="14" name="TextBox 13"/>
          <p:cNvSpPr txBox="1"/>
          <p:nvPr/>
        </p:nvSpPr>
        <p:spPr>
          <a:xfrm>
            <a:off x="4892040" y="877824"/>
            <a:ext cx="6812280" cy="329184"/>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живой разговор строго лучше синтеза</a:t>
            </a:r>
          </a:p>
        </p:txBody>
      </p:sp>
      <p:sp>
        <p:nvSpPr>
          <p:cNvPr id="15" name="Rounded Rectangle 14"/>
          <p:cNvSpPr/>
          <p:nvPr/>
        </p:nvSpPr>
        <p:spPr>
          <a:xfrm>
            <a:off x="4892040" y="1316736"/>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1316736"/>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 цена ошибки в решении «продолжать или остановить»</a:t>
            </a:r>
          </a:p>
        </p:txBody>
      </p:sp>
      <p:pic>
        <p:nvPicPr>
          <p:cNvPr id="17" name="Picture 16" descr="shield-alert-mid.png"/>
          <p:cNvPicPr>
            <a:picLocks noChangeAspect="1"/>
          </p:cNvPicPr>
          <p:nvPr/>
        </p:nvPicPr>
        <p:blipFill>
          <a:blip r:embed="rId2"/>
          <a:stretch>
            <a:fillRect/>
          </a:stretch>
        </p:blipFill>
        <p:spPr>
          <a:xfrm>
            <a:off x="5020055" y="1444752"/>
            <a:ext cx="365760" cy="365760"/>
          </a:xfrm>
          <a:prstGeom prst="rect">
            <a:avLst/>
          </a:prstGeom>
        </p:spPr>
      </p:pic>
      <p:sp>
        <p:nvSpPr>
          <p:cNvPr id="18" name="Rounded Rectangle 17"/>
          <p:cNvSpPr/>
          <p:nvPr/>
        </p:nvSpPr>
        <p:spPr>
          <a:xfrm>
            <a:off x="4892040" y="2066543"/>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2066543"/>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а не правдоподобное</a:t>
            </a:r>
          </a:p>
        </p:txBody>
      </p:sp>
      <p:pic>
        <p:nvPicPr>
          <p:cNvPr id="20" name="Picture 19" descr="shield-alert-mid.png"/>
          <p:cNvPicPr>
            <a:picLocks noChangeAspect="1"/>
          </p:cNvPicPr>
          <p:nvPr/>
        </p:nvPicPr>
        <p:blipFill>
          <a:blip r:embed="rId2"/>
          <a:stretch>
            <a:fillRect/>
          </a:stretch>
        </p:blipFill>
        <p:spPr>
          <a:xfrm>
            <a:off x="5020055" y="2194560"/>
            <a:ext cx="365760" cy="365760"/>
          </a:xfrm>
          <a:prstGeom prst="rect">
            <a:avLst/>
          </a:prstGeom>
        </p:spPr>
      </p:pic>
      <p:sp>
        <p:nvSpPr>
          <p:cNvPr id="21" name="Rounded Rectangle 20"/>
          <p:cNvSpPr/>
          <p:nvPr/>
        </p:nvSpPr>
        <p:spPr>
          <a:xfrm>
            <a:off x="4892040" y="2816352"/>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2816352"/>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проверка обязательством, а не мнением</a:t>
            </a:r>
          </a:p>
        </p:txBody>
      </p:sp>
      <p:pic>
        <p:nvPicPr>
          <p:cNvPr id="23" name="Picture 22" descr="shield-alert-mid.png"/>
          <p:cNvPicPr>
            <a:picLocks noChangeAspect="1"/>
          </p:cNvPicPr>
          <p:nvPr/>
        </p:nvPicPr>
        <p:blipFill>
          <a:blip r:embed="rId2"/>
          <a:stretch>
            <a:fillRect/>
          </a:stretch>
        </p:blipFill>
        <p:spPr>
          <a:xfrm>
            <a:off x="5020055" y="2944368"/>
            <a:ext cx="365760" cy="365760"/>
          </a:xfrm>
          <a:prstGeom prst="rect">
            <a:avLst/>
          </a:prstGeom>
        </p:spPr>
      </p:pic>
      <p:sp>
        <p:nvSpPr>
          <p:cNvPr id="24" name="TextBox 23"/>
          <p:cNvSpPr txBox="1"/>
          <p:nvPr/>
        </p:nvSpPr>
        <p:spPr>
          <a:xfrm>
            <a:off x="4892040" y="3657600"/>
            <a:ext cx="6812280" cy="1133856"/>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У синтетического собеседника нет реального прошлого, способного противоречить формулировке вопроса, — поэтому несогласие он не производит в принципе. Сложите это со сдвигом тона слева: ответ смещён в сторону «да» — и притом «да» о событии, которого никогда не было.</a:t>
            </a:r>
          </a:p>
        </p:txBody>
      </p:sp>
      <p:sp>
        <p:nvSpPr>
          <p:cNvPr id="25" name="Rounded Rectangle 24"/>
          <p:cNvSpPr/>
          <p:nvPr/>
        </p:nvSpPr>
        <p:spPr>
          <a:xfrm>
            <a:off x="502920" y="497433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29200"/>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Пересказ интервью теряет 20–40% деталей, если пропущен шаг «сначала каждое по отдельности», — прослеживаемый до конкретного шага сбой, а не расплывчатое «ИИ иногда ошибается».</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Тереза Торрес, консультант по продуктовому исследованию — книга «Continuous Discovery Habits» и её позиция о синтетике</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Одна и та же задача: реальные люди — 3 из 7, панель ИИ-персон — 7 из 7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005840"/>
            <a:ext cx="11201400" cy="950976"/>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77824"/>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Nielsen Norman Group — исследовательская группа, которая с 1998 года занимается удобством интерфейсов, — взяла один сценарий первого знакомства с продуктом и прогнала его дважды: с живыми участниками и с панелью ИИ-персон, сгенерированных под тот же профиль. Сравнивали две величины: сколько шагов сценария доведено до конца и как оценены одни и те же функции.</a:t>
            </a:r>
          </a:p>
        </p:txBody>
      </p:sp>
      <p:sp>
        <p:nvSpPr>
          <p:cNvPr id="6" name="Rounded Rectangle 5"/>
          <p:cNvSpPr/>
          <p:nvPr/>
        </p:nvSpPr>
        <p:spPr>
          <a:xfrm>
            <a:off x="502920" y="2084831"/>
            <a:ext cx="11201400" cy="1078992"/>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84831"/>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Живые участники</a:t>
            </a:r>
          </a:p>
        </p:txBody>
      </p:sp>
      <p:pic>
        <p:nvPicPr>
          <p:cNvPr id="8" name="Picture 7" descr="check-check-mid.png"/>
          <p:cNvPicPr>
            <a:picLocks noChangeAspect="1"/>
          </p:cNvPicPr>
          <p:nvPr/>
        </p:nvPicPr>
        <p:blipFill>
          <a:blip r:embed="rId3"/>
          <a:stretch>
            <a:fillRect/>
          </a:stretch>
        </p:blipFill>
        <p:spPr>
          <a:xfrm>
            <a:off x="3794760" y="2432303"/>
            <a:ext cx="384048" cy="384048"/>
          </a:xfrm>
          <a:prstGeom prst="rect">
            <a:avLst/>
          </a:prstGeom>
        </p:spPr>
      </p:pic>
      <p:pic>
        <p:nvPicPr>
          <p:cNvPr id="9" name="Picture 8" descr="check-check-mid.png"/>
          <p:cNvPicPr>
            <a:picLocks noChangeAspect="1"/>
          </p:cNvPicPr>
          <p:nvPr/>
        </p:nvPicPr>
        <p:blipFill>
          <a:blip r:embed="rId3"/>
          <a:stretch>
            <a:fillRect/>
          </a:stretch>
        </p:blipFill>
        <p:spPr>
          <a:xfrm>
            <a:off x="4325112" y="2432303"/>
            <a:ext cx="384048" cy="384048"/>
          </a:xfrm>
          <a:prstGeom prst="rect">
            <a:avLst/>
          </a:prstGeom>
        </p:spPr>
      </p:pic>
      <p:pic>
        <p:nvPicPr>
          <p:cNvPr id="10" name="Picture 9" descr="check-check-mid.png"/>
          <p:cNvPicPr>
            <a:picLocks noChangeAspect="1"/>
          </p:cNvPicPr>
          <p:nvPr/>
        </p:nvPicPr>
        <p:blipFill>
          <a:blip r:embed="rId3"/>
          <a:stretch>
            <a:fillRect/>
          </a:stretch>
        </p:blipFill>
        <p:spPr>
          <a:xfrm>
            <a:off x="4855464" y="2432303"/>
            <a:ext cx="384048" cy="384048"/>
          </a:xfrm>
          <a:prstGeom prst="rect">
            <a:avLst/>
          </a:prstGeom>
        </p:spPr>
      </p:pic>
      <p:pic>
        <p:nvPicPr>
          <p:cNvPr id="11" name="Picture 10" descr="x-light.png"/>
          <p:cNvPicPr>
            <a:picLocks noChangeAspect="1"/>
          </p:cNvPicPr>
          <p:nvPr/>
        </p:nvPicPr>
        <p:blipFill>
          <a:blip r:embed="rId4"/>
          <a:stretch>
            <a:fillRect/>
          </a:stretch>
        </p:blipFill>
        <p:spPr>
          <a:xfrm>
            <a:off x="5385816" y="2432303"/>
            <a:ext cx="384048" cy="384048"/>
          </a:xfrm>
          <a:prstGeom prst="rect">
            <a:avLst/>
          </a:prstGeom>
        </p:spPr>
      </p:pic>
      <p:pic>
        <p:nvPicPr>
          <p:cNvPr id="12" name="Picture 11" descr="x-light.png"/>
          <p:cNvPicPr>
            <a:picLocks noChangeAspect="1"/>
          </p:cNvPicPr>
          <p:nvPr/>
        </p:nvPicPr>
        <p:blipFill>
          <a:blip r:embed="rId4"/>
          <a:stretch>
            <a:fillRect/>
          </a:stretch>
        </p:blipFill>
        <p:spPr>
          <a:xfrm>
            <a:off x="5916168" y="2432303"/>
            <a:ext cx="384048" cy="384048"/>
          </a:xfrm>
          <a:prstGeom prst="rect">
            <a:avLst/>
          </a:prstGeom>
        </p:spPr>
      </p:pic>
      <p:pic>
        <p:nvPicPr>
          <p:cNvPr id="13" name="Picture 12" descr="x-light.png"/>
          <p:cNvPicPr>
            <a:picLocks noChangeAspect="1"/>
          </p:cNvPicPr>
          <p:nvPr/>
        </p:nvPicPr>
        <p:blipFill>
          <a:blip r:embed="rId4"/>
          <a:stretch>
            <a:fillRect/>
          </a:stretch>
        </p:blipFill>
        <p:spPr>
          <a:xfrm>
            <a:off x="6446520" y="2432303"/>
            <a:ext cx="384048" cy="384048"/>
          </a:xfrm>
          <a:prstGeom prst="rect">
            <a:avLst/>
          </a:prstGeom>
        </p:spPr>
      </p:pic>
      <p:pic>
        <p:nvPicPr>
          <p:cNvPr id="14" name="Picture 13" descr="x-light.png"/>
          <p:cNvPicPr>
            <a:picLocks noChangeAspect="1"/>
          </p:cNvPicPr>
          <p:nvPr/>
        </p:nvPicPr>
        <p:blipFill>
          <a:blip r:embed="rId4"/>
          <a:stretch>
            <a:fillRect/>
          </a:stretch>
        </p:blipFill>
        <p:spPr>
          <a:xfrm>
            <a:off x="6976872" y="2432303"/>
            <a:ext cx="384048" cy="384048"/>
          </a:xfrm>
          <a:prstGeom prst="rect">
            <a:avLst/>
          </a:prstGeom>
        </p:spPr>
      </p:pic>
      <p:sp>
        <p:nvSpPr>
          <p:cNvPr id="15" name="TextBox 14"/>
          <p:cNvSpPr txBox="1"/>
          <p:nvPr/>
        </p:nvSpPr>
        <p:spPr>
          <a:xfrm>
            <a:off x="7863840" y="2084831"/>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3 из 7 шагов доведены до конца</a:t>
            </a:r>
          </a:p>
        </p:txBody>
      </p:sp>
      <p:sp>
        <p:nvSpPr>
          <p:cNvPr id="16" name="Rounded Rectangle 15"/>
          <p:cNvSpPr/>
          <p:nvPr/>
        </p:nvSpPr>
        <p:spPr>
          <a:xfrm>
            <a:off x="502920" y="3310128"/>
            <a:ext cx="11201400" cy="1078992"/>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310128"/>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Панель ИИ-персон</a:t>
            </a:r>
          </a:p>
        </p:txBody>
      </p:sp>
      <p:pic>
        <p:nvPicPr>
          <p:cNvPr id="18" name="Picture 17" descr="check-check-gold.png"/>
          <p:cNvPicPr>
            <a:picLocks noChangeAspect="1"/>
          </p:cNvPicPr>
          <p:nvPr/>
        </p:nvPicPr>
        <p:blipFill>
          <a:blip r:embed="rId5"/>
          <a:stretch>
            <a:fillRect/>
          </a:stretch>
        </p:blipFill>
        <p:spPr>
          <a:xfrm>
            <a:off x="3794760" y="3657600"/>
            <a:ext cx="384048" cy="384048"/>
          </a:xfrm>
          <a:prstGeom prst="rect">
            <a:avLst/>
          </a:prstGeom>
        </p:spPr>
      </p:pic>
      <p:pic>
        <p:nvPicPr>
          <p:cNvPr id="19" name="Picture 18" descr="check-check-gold.png"/>
          <p:cNvPicPr>
            <a:picLocks noChangeAspect="1"/>
          </p:cNvPicPr>
          <p:nvPr/>
        </p:nvPicPr>
        <p:blipFill>
          <a:blip r:embed="rId5"/>
          <a:stretch>
            <a:fillRect/>
          </a:stretch>
        </p:blipFill>
        <p:spPr>
          <a:xfrm>
            <a:off x="4325112" y="3657600"/>
            <a:ext cx="384048" cy="384048"/>
          </a:xfrm>
          <a:prstGeom prst="rect">
            <a:avLst/>
          </a:prstGeom>
        </p:spPr>
      </p:pic>
      <p:pic>
        <p:nvPicPr>
          <p:cNvPr id="20" name="Picture 19" descr="check-check-gold.png"/>
          <p:cNvPicPr>
            <a:picLocks noChangeAspect="1"/>
          </p:cNvPicPr>
          <p:nvPr/>
        </p:nvPicPr>
        <p:blipFill>
          <a:blip r:embed="rId5"/>
          <a:stretch>
            <a:fillRect/>
          </a:stretch>
        </p:blipFill>
        <p:spPr>
          <a:xfrm>
            <a:off x="4855464" y="3657600"/>
            <a:ext cx="384048" cy="384048"/>
          </a:xfrm>
          <a:prstGeom prst="rect">
            <a:avLst/>
          </a:prstGeom>
        </p:spPr>
      </p:pic>
      <p:pic>
        <p:nvPicPr>
          <p:cNvPr id="21" name="Picture 20" descr="check-check-gold.png"/>
          <p:cNvPicPr>
            <a:picLocks noChangeAspect="1"/>
          </p:cNvPicPr>
          <p:nvPr/>
        </p:nvPicPr>
        <p:blipFill>
          <a:blip r:embed="rId5"/>
          <a:stretch>
            <a:fillRect/>
          </a:stretch>
        </p:blipFill>
        <p:spPr>
          <a:xfrm>
            <a:off x="5385816" y="3657600"/>
            <a:ext cx="384048" cy="384048"/>
          </a:xfrm>
          <a:prstGeom prst="rect">
            <a:avLst/>
          </a:prstGeom>
        </p:spPr>
      </p:pic>
      <p:pic>
        <p:nvPicPr>
          <p:cNvPr id="22" name="Picture 21" descr="check-check-gold.png"/>
          <p:cNvPicPr>
            <a:picLocks noChangeAspect="1"/>
          </p:cNvPicPr>
          <p:nvPr/>
        </p:nvPicPr>
        <p:blipFill>
          <a:blip r:embed="rId5"/>
          <a:stretch>
            <a:fillRect/>
          </a:stretch>
        </p:blipFill>
        <p:spPr>
          <a:xfrm>
            <a:off x="5916168" y="3657600"/>
            <a:ext cx="384048" cy="384048"/>
          </a:xfrm>
          <a:prstGeom prst="rect">
            <a:avLst/>
          </a:prstGeom>
        </p:spPr>
      </p:pic>
      <p:pic>
        <p:nvPicPr>
          <p:cNvPr id="23" name="Picture 22" descr="check-check-gold.png"/>
          <p:cNvPicPr>
            <a:picLocks noChangeAspect="1"/>
          </p:cNvPicPr>
          <p:nvPr/>
        </p:nvPicPr>
        <p:blipFill>
          <a:blip r:embed="rId5"/>
          <a:stretch>
            <a:fillRect/>
          </a:stretch>
        </p:blipFill>
        <p:spPr>
          <a:xfrm>
            <a:off x="6446520" y="3657600"/>
            <a:ext cx="384048" cy="384048"/>
          </a:xfrm>
          <a:prstGeom prst="rect">
            <a:avLst/>
          </a:prstGeom>
        </p:spPr>
      </p:pic>
      <p:pic>
        <p:nvPicPr>
          <p:cNvPr id="24" name="Picture 23" descr="check-check-gold.png"/>
          <p:cNvPicPr>
            <a:picLocks noChangeAspect="1"/>
          </p:cNvPicPr>
          <p:nvPr/>
        </p:nvPicPr>
        <p:blipFill>
          <a:blip r:embed="rId5"/>
          <a:stretch>
            <a:fillRect/>
          </a:stretch>
        </p:blipFill>
        <p:spPr>
          <a:xfrm>
            <a:off x="6976872" y="3657600"/>
            <a:ext cx="384048" cy="384048"/>
          </a:xfrm>
          <a:prstGeom prst="rect">
            <a:avLst/>
          </a:prstGeom>
        </p:spPr>
      </p:pic>
      <p:sp>
        <p:nvSpPr>
          <p:cNvPr id="25" name="TextBox 24"/>
          <p:cNvSpPr txBox="1"/>
          <p:nvPr/>
        </p:nvSpPr>
        <p:spPr>
          <a:xfrm>
            <a:off x="7863840" y="3310128"/>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отчиталась о 7 из 7</a:t>
            </a:r>
          </a:p>
        </p:txBody>
      </p:sp>
      <p:sp>
        <p:nvSpPr>
          <p:cNvPr id="26" name="Rounded Rectangle 25"/>
          <p:cNvSpPr/>
          <p:nvPr/>
        </p:nvSpPr>
        <p:spPr>
          <a:xfrm>
            <a:off x="502920" y="4535424"/>
            <a:ext cx="11201400" cy="53035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35424"/>
            <a:ext cx="10744200" cy="530352"/>
          </a:xfrm>
          <a:prstGeom prst="rect">
            <a:avLst/>
          </a:prstGeom>
          <a:noFill/>
        </p:spPr>
        <p:txBody>
          <a:bodyPr wrap="square" lIns="0" rIns="0" tIns="0" bIns="0" anchor="ctr">
            <a:spAutoFit/>
          </a:bodyPr>
          <a:lstStyle/>
          <a:p>
            <a:pPr algn="l">
              <a:lnSpc>
                <a:spcPct val="110000"/>
              </a:lnSpc>
            </a:pPr>
            <a:r>
              <a:rPr sz="1150" b="0" i="1">
                <a:solidFill>
                  <a:srgbClr val="5B6678"/>
                </a:solidFill>
                <a:latin typeface="DejaVu Sans"/>
              </a:rPr>
              <a:t>Об одной и той же функции:   </a:t>
            </a:r>
            <a:r>
              <a:rPr sz="1250" b="1" i="0">
                <a:solidFill>
                  <a:srgbClr val="065A82"/>
                </a:solidFill>
                <a:latin typeface="DejaVu Sans"/>
              </a:rPr>
              <a:t>«надуманно и бесполезно»</a:t>
            </a:r>
            <a:r>
              <a:rPr sz="1150" b="0" i="0">
                <a:solidFill>
                  <a:srgbClr val="5B6678"/>
                </a:solidFill>
                <a:latin typeface="DejaVu Sans"/>
              </a:rPr>
              <a:t>  — живые участники,   </a:t>
            </a:r>
            <a:r>
              <a:rPr sz="1250" b="1" i="0">
                <a:solidFill>
                  <a:srgbClr val="21295C"/>
                </a:solidFill>
                <a:latin typeface="DejaVu Sans"/>
              </a:rPr>
              <a:t>«изменяет правила игры»</a:t>
            </a:r>
            <a:r>
              <a:rPr sz="1150" b="0" i="0">
                <a:solidFill>
                  <a:srgbClr val="5B6678"/>
                </a:solidFill>
                <a:latin typeface="DejaVu Sans"/>
              </a:rPr>
              <a:t>  — ИИ-персоны</a:t>
            </a:r>
          </a:p>
        </p:txBody>
      </p:sp>
      <p:sp>
        <p:nvSpPr>
          <p:cNvPr id="28" name="Rounded Rectangle 27"/>
          <p:cNvSpPr/>
          <p:nvPr/>
        </p:nvSpPr>
        <p:spPr>
          <a:xfrm>
            <a:off x="502920" y="51937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48655"/>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Расхождение прошло сразу по обеим измеряемым величинам, на одном и том же материале — неудачным прогоном это не объясняется: такой выход дисквалифицирован для решения «продолжать или остановить» по построению. Альтернатива: оставить панели до-исследовательскую роль, а решение опереть на тест с 5–8 живыми участниками — размер, который уже вскрывает большинство проблем удобства.</a:t>
            </a:r>
          </a:p>
        </p:txBody>
      </p:sp>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Nielsen Norman Group — «Synthetic Users»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86384"/>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Продано 10 000 приборов из запланированных 100 000: сравнение с телефоном в кармане покупателя сделали после сборки</a:t>
            </a:r>
          </a:p>
        </p:txBody>
      </p:sp>
      <p:sp>
        <p:nvSpPr>
          <p:cNvPr id="3" name="Rounded Rectangle 2"/>
          <p:cNvSpPr/>
          <p:nvPr/>
        </p:nvSpPr>
        <p:spPr>
          <a:xfrm>
            <a:off x="502920" y="1005840"/>
            <a:ext cx="11201400" cy="1243584"/>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463040"/>
            <a:ext cx="384048" cy="384048"/>
          </a:xfrm>
          <a:prstGeom prst="rect">
            <a:avLst/>
          </a:prstGeom>
        </p:spPr>
      </p:pic>
      <p:sp>
        <p:nvSpPr>
          <p:cNvPr id="5" name="TextBox 4"/>
          <p:cNvSpPr txBox="1"/>
          <p:nvPr/>
        </p:nvSpPr>
        <p:spPr>
          <a:xfrm>
            <a:off x="1261872" y="1042415"/>
            <a:ext cx="10314432" cy="1170432"/>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00" b="0" i="0">
                <a:solidFill>
                  <a:srgbClr val="21295C"/>
                </a:solidFill>
                <a:latin typeface="DejaVu Sans"/>
              </a:rPr>
              <a:t>Humane — компания, основанная в 2018 году выходцами из Apple. Её единственный продукт, AI Pin, — носимый прибор без экрана: коробочка на одежде с камерой, микрофоном и лазерной проекцией на ладонь, отвечающая голосом через языковую модель. Замысел: человек перестаёт смотреть в телефон. Прибор показали 9 ноября 2023 года, продажи открыли в апреле 2024-го — 699 долларов плюс 24 доллара в месяц. 18 февраля 2025 года активы купила HP за 116 млн долларов, 28 февраля облачный сервис погасили: приборы на руках у покупателей отвечать перестали.</a:t>
            </a:r>
          </a:p>
        </p:txBody>
      </p:sp>
      <p:sp>
        <p:nvSpPr>
          <p:cNvPr id="6" name="Rounded Rectangle 5"/>
          <p:cNvSpPr/>
          <p:nvPr/>
        </p:nvSpPr>
        <p:spPr>
          <a:xfrm>
            <a:off x="502920" y="2340864"/>
            <a:ext cx="5532120" cy="2103120"/>
          </a:xfrm>
          <a:prstGeom prst="roundRect">
            <a:avLst>
              <a:gd name="adj" fmla="val 14492"/>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rending-down-mid.png"/>
          <p:cNvPicPr>
            <a:picLocks noChangeAspect="1"/>
          </p:cNvPicPr>
          <p:nvPr/>
        </p:nvPicPr>
        <p:blipFill>
          <a:blip r:embed="rId3"/>
          <a:stretch>
            <a:fillRect/>
          </a:stretch>
        </p:blipFill>
        <p:spPr>
          <a:xfrm>
            <a:off x="722376" y="2468880"/>
            <a:ext cx="420624" cy="420624"/>
          </a:xfrm>
          <a:prstGeom prst="rect">
            <a:avLst/>
          </a:prstGeom>
        </p:spPr>
      </p:pic>
      <p:sp>
        <p:nvSpPr>
          <p:cNvPr id="8" name="TextBox 7"/>
          <p:cNvSpPr txBox="1"/>
          <p:nvPr/>
        </p:nvSpPr>
        <p:spPr>
          <a:xfrm>
            <a:off x="1271016" y="2505456"/>
            <a:ext cx="4544568"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Что показали числа</a:t>
            </a:r>
          </a:p>
        </p:txBody>
      </p:sp>
      <p:sp>
        <p:nvSpPr>
          <p:cNvPr id="9" name="TextBox 8"/>
          <p:cNvSpPr txBox="1"/>
          <p:nvPr/>
        </p:nvSpPr>
        <p:spPr>
          <a:xfrm>
            <a:off x="740664" y="2926080"/>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Продано ≈10 000 приборов — десятая часть собственной цели компании, 100 000 за год</a:t>
            </a:r>
          </a:p>
        </p:txBody>
      </p:sp>
      <p:sp>
        <p:nvSpPr>
          <p:cNvPr id="10" name="TextBox 9"/>
          <p:cNvSpPr txBox="1"/>
          <p:nvPr/>
        </p:nvSpPr>
        <p:spPr>
          <a:xfrm>
            <a:off x="740664" y="3273552"/>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Выручка ≈9 млн долларов против ≈230 млн привлечённых — около 4%</a:t>
            </a:r>
          </a:p>
        </p:txBody>
      </p:sp>
      <p:sp>
        <p:nvSpPr>
          <p:cNvPr id="11" name="TextBox 10"/>
          <p:cNvSpPr txBox="1"/>
          <p:nvPr/>
        </p:nvSpPr>
        <p:spPr>
          <a:xfrm>
            <a:off x="740664" y="3621024"/>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Май–август 2024: возвратов больше, чем покупок; к августу на руках оставалось ближе к 7 000</a:t>
            </a:r>
          </a:p>
        </p:txBody>
      </p:sp>
      <p:sp>
        <p:nvSpPr>
          <p:cNvPr id="12" name="TextBox 11"/>
          <p:cNvSpPr txBox="1"/>
          <p:nvPr/>
        </p:nvSpPr>
        <p:spPr>
          <a:xfrm>
            <a:off x="740664" y="3968496"/>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Цену снизили с 699 до 499 долларов — через полгода после начала продаж</a:t>
            </a:r>
          </a:p>
        </p:txBody>
      </p:sp>
      <p:sp>
        <p:nvSpPr>
          <p:cNvPr id="13" name="Rounded Rectangle 12"/>
          <p:cNvSpPr/>
          <p:nvPr/>
        </p:nvSpPr>
        <p:spPr>
          <a:xfrm>
            <a:off x="6172200" y="2340864"/>
            <a:ext cx="5532120" cy="2103120"/>
          </a:xfrm>
          <a:prstGeom prst="roundRect">
            <a:avLst>
              <a:gd name="adj" fmla="val 1449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x-teal.png"/>
          <p:cNvPicPr>
            <a:picLocks noChangeAspect="1"/>
          </p:cNvPicPr>
          <p:nvPr/>
        </p:nvPicPr>
        <p:blipFill>
          <a:blip r:embed="rId4"/>
          <a:stretch>
            <a:fillRect/>
          </a:stretch>
        </p:blipFill>
        <p:spPr>
          <a:xfrm>
            <a:off x="6391656" y="2468880"/>
            <a:ext cx="420624" cy="420624"/>
          </a:xfrm>
          <a:prstGeom prst="rect">
            <a:avLst/>
          </a:prstGeom>
        </p:spPr>
      </p:pic>
      <p:sp>
        <p:nvSpPr>
          <p:cNvPr id="15" name="TextBox 14"/>
          <p:cNvSpPr txBox="1"/>
          <p:nvPr/>
        </p:nvSpPr>
        <p:spPr>
          <a:xfrm>
            <a:off x="6940296" y="2505456"/>
            <a:ext cx="4544568"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Чего не выяснили до сборки</a:t>
            </a:r>
          </a:p>
        </p:txBody>
      </p:sp>
      <p:sp>
        <p:nvSpPr>
          <p:cNvPr id="16" name="TextBox 15"/>
          <p:cNvSpPr txBox="1"/>
          <p:nvPr/>
        </p:nvSpPr>
        <p:spPr>
          <a:xfrm>
            <a:off x="6409944" y="2907792"/>
            <a:ext cx="5056631" cy="1481328"/>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Вопрос фазы исследования звучит одной фразой: </a:t>
            </a:r>
            <a:r>
              <a:rPr sz="1050" b="1" i="0">
                <a:solidFill>
                  <a:srgbClr val="028090"/>
                </a:solidFill>
                <a:latin typeface="DejaVu Sans"/>
              </a:rPr>
              <a:t>по сравнению с чем</a:t>
            </a:r>
            <a:r>
              <a:rPr sz="1050" b="0" i="0">
                <a:solidFill>
                  <a:srgbClr val="21295C"/>
                </a:solidFill>
                <a:latin typeface="DejaVu Sans"/>
              </a:rPr>
              <a:t>. У каждого покупателя в кармане уже лежал телефон, который делает то же самое и остальное сверху. Обзоры сошлись на том, что прибор делает меньше телефона и делает это медленнее.</a:t>
            </a:r>
          </a:p>
          <a:p>
            <a:pPr algn="l">
              <a:lnSpc>
                <a:spcPct val="114000"/>
              </a:lnSpc>
              <a:spcBef>
                <a:spcPts val="400"/>
              </a:spcBef>
            </a:pPr>
            <a:r>
              <a:rPr sz="1050" b="0" i="0">
                <a:solidFill>
                  <a:srgbClr val="21295C"/>
                </a:solidFill>
                <a:latin typeface="DejaVu Sans"/>
              </a:rPr>
              <a:t>Такой ответ стоит восьми разговоров с живыми людьми до сборки. Здесь его получили от рынка — через 230 млн долларов и 10,5 месяца продаж.</a:t>
            </a:r>
          </a:p>
        </p:txBody>
      </p:sp>
      <p:sp>
        <p:nvSpPr>
          <p:cNvPr id="17" name="Rounded Rectangle 16"/>
          <p:cNvSpPr/>
          <p:nvPr/>
        </p:nvSpPr>
        <p:spPr>
          <a:xfrm>
            <a:off x="502920" y="4535424"/>
            <a:ext cx="11201400" cy="76809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590288"/>
            <a:ext cx="10762488" cy="65836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Ответ о пользователе приходит в любом случае; фаза исследования выбирает только, когда и по какой цене. Критерий, который переносится дальше: гипотезу о пользователе закрывают сравнением с тем, чем человек обходится сегодня.</a:t>
            </a:r>
          </a:p>
        </p:txBody>
      </p:sp>
      <p:sp>
        <p:nvSpPr>
          <p:cNvPr id="19" name="Rounded Rectangle 18"/>
          <p:cNvSpPr/>
          <p:nvPr/>
        </p:nvSpPr>
        <p:spPr>
          <a:xfrm>
            <a:off x="502920" y="5376672"/>
            <a:ext cx="11201400" cy="96926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431536"/>
            <a:ext cx="10762488" cy="859536"/>
          </a:xfrm>
          <a:prstGeom prst="rect">
            <a:avLst/>
          </a:prstGeom>
          <a:noFill/>
        </p:spPr>
        <p:txBody>
          <a:bodyPr wrap="square" lIns="0" rIns="0" tIns="0" bIns="0" anchor="ctr">
            <a:spAutoFit/>
          </a:bodyPr>
          <a:lstStyle/>
          <a:p>
            <a:pPr algn="l">
              <a:lnSpc>
                <a:spcPct val="118000"/>
              </a:lnSpc>
            </a:pPr>
            <a:r>
              <a:rPr sz="1050" b="0" i="0">
                <a:solidFill>
                  <a:srgbClr val="21295C"/>
                </a:solidFill>
                <a:latin typeface="DejaVu Sans"/>
              </a:rPr>
              <a:t>Прибор при этом работоспособен, и промах лежит в ответе на вопрос, кому и зачем он нужен. Google Glass прошёл тот же путь в обратную сторону: очки за 1500 долларов сняли с широкой продажи в январе 2015 года, а затем отдали человеку, у которого руки заняты работой. У AGCO, производителя сельхозтехники, время сборки машин упало на 25%, время контроля — на 30%; у логистической компании DHL выработка на складе выросла на 15% — всё против той же работы без очков. Прибор тот же. Пользователь другой.</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9to5Mac (7 авг. 2024) — внутренние данные продаж Humane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TechCrunch (18 фев. 2025) — активы Humane купила HP</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Humane Inc. — даты, цены и цель продаж</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Digital Trends — Glass Enterprise Edition у AGCO и DHL</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1 практика · 1 провал</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Шаг, на котором гипотезу впервые показывают живому человеку — пока она стоит дёшево и её не жалко выбросить. Здесь же решают, как человек будет понимать систему: поверхности контакта, её поведение, ответ в неуверенности.</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8638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Дизайн здесь — вся работа человека с системой: поверхности контакта, поведение, ответ в неуверенности</a:t>
            </a:r>
          </a:p>
        </p:txBody>
      </p:sp>
      <p:sp>
        <p:nvSpPr>
          <p:cNvPr id="3" name="Rounded Rectangle 2"/>
          <p:cNvSpPr/>
          <p:nvPr/>
        </p:nvSpPr>
        <p:spPr>
          <a:xfrm>
            <a:off x="502920" y="960120"/>
            <a:ext cx="11201400" cy="950976"/>
          </a:xfrm>
          <a:prstGeom prst="roundRect">
            <a:avLst>
              <a:gd name="adj" fmla="val 8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teal.png"/>
          <p:cNvPicPr>
            <a:picLocks noChangeAspect="1"/>
          </p:cNvPicPr>
          <p:nvPr/>
        </p:nvPicPr>
        <p:blipFill>
          <a:blip r:embed="rId2"/>
          <a:stretch>
            <a:fillRect/>
          </a:stretch>
        </p:blipFill>
        <p:spPr>
          <a:xfrm>
            <a:off x="713232" y="1261872"/>
            <a:ext cx="365760" cy="365760"/>
          </a:xfrm>
          <a:prstGeom prst="rect">
            <a:avLst/>
          </a:prstGeom>
        </p:spPr>
      </p:pic>
      <p:sp>
        <p:nvSpPr>
          <p:cNvPr id="5" name="TextBox 4"/>
          <p:cNvSpPr txBox="1"/>
          <p:nvPr/>
        </p:nvSpPr>
        <p:spPr>
          <a:xfrm>
            <a:off x="1243584" y="996696"/>
            <a:ext cx="10332720" cy="877824"/>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ОБЪЁМ ПОНЯТИЯ   </a:t>
            </a:r>
            <a:r>
              <a:rPr sz="1100" b="0" i="0">
                <a:solidFill>
                  <a:srgbClr val="21295C"/>
                </a:solidFill>
                <a:latin typeface="DejaVu Sans"/>
              </a:rPr>
              <a:t>Экран — одна из поверхностей, через которые человек встречается с системой. Дизайн этой фазы решает весь состав встречи: где система попадается человеку, как ведёт себя со временем и что делает в ту минуту, когда сама не уверена в ответе. У продукта с языковой моделью работы на остальных поверхностях обычно больше, чем на экране.</a:t>
            </a:r>
          </a:p>
        </p:txBody>
      </p:sp>
      <p:sp>
        <p:nvSpPr>
          <p:cNvPr id="6" name="TextBox 5"/>
          <p:cNvSpPr txBox="1"/>
          <p:nvPr/>
        </p:nvSpPr>
        <p:spPr>
          <a:xfrm>
            <a:off x="502920" y="1993392"/>
            <a:ext cx="11201400" cy="237744"/>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Поверхности и точки контакта</a:t>
            </a:r>
          </a:p>
        </p:txBody>
      </p:sp>
      <p:sp>
        <p:nvSpPr>
          <p:cNvPr id="7" name="Rounded Rectangle 6"/>
          <p:cNvSpPr/>
          <p:nvPr/>
        </p:nvSpPr>
        <p:spPr>
          <a:xfrm>
            <a:off x="502920" y="2267712"/>
            <a:ext cx="3636264" cy="749808"/>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onitor-smartphone-mid.png"/>
          <p:cNvPicPr>
            <a:picLocks noChangeAspect="1"/>
          </p:cNvPicPr>
          <p:nvPr/>
        </p:nvPicPr>
        <p:blipFill>
          <a:blip r:embed="rId3"/>
          <a:stretch>
            <a:fillRect/>
          </a:stretch>
        </p:blipFill>
        <p:spPr>
          <a:xfrm>
            <a:off x="649224" y="2368296"/>
            <a:ext cx="256032" cy="256032"/>
          </a:xfrm>
          <a:prstGeom prst="rect">
            <a:avLst/>
          </a:prstGeom>
        </p:spPr>
      </p:pic>
      <p:sp>
        <p:nvSpPr>
          <p:cNvPr id="9" name="TextBox 8"/>
          <p:cNvSpPr txBox="1"/>
          <p:nvPr/>
        </p:nvSpPr>
        <p:spPr>
          <a:xfrm>
            <a:off x="996696" y="2350008"/>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Экран</a:t>
            </a:r>
          </a:p>
        </p:txBody>
      </p:sp>
      <p:sp>
        <p:nvSpPr>
          <p:cNvPr id="10" name="TextBox 9"/>
          <p:cNvSpPr txBox="1"/>
          <p:nvPr/>
        </p:nvSpPr>
        <p:spPr>
          <a:xfrm>
            <a:off x="667512" y="2651760"/>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что человек видит и в каком порядке</a:t>
            </a:r>
          </a:p>
        </p:txBody>
      </p:sp>
      <p:sp>
        <p:nvSpPr>
          <p:cNvPr id="11" name="Rounded Rectangle 10"/>
          <p:cNvSpPr/>
          <p:nvPr/>
        </p:nvSpPr>
        <p:spPr>
          <a:xfrm>
            <a:off x="4285488" y="2267712"/>
            <a:ext cx="3636264" cy="749808"/>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eadphones-mid.png"/>
          <p:cNvPicPr>
            <a:picLocks noChangeAspect="1"/>
          </p:cNvPicPr>
          <p:nvPr/>
        </p:nvPicPr>
        <p:blipFill>
          <a:blip r:embed="rId4"/>
          <a:stretch>
            <a:fillRect/>
          </a:stretch>
        </p:blipFill>
        <p:spPr>
          <a:xfrm>
            <a:off x="4431792" y="2368296"/>
            <a:ext cx="256032" cy="256032"/>
          </a:xfrm>
          <a:prstGeom prst="rect">
            <a:avLst/>
          </a:prstGeom>
        </p:spPr>
      </p:pic>
      <p:sp>
        <p:nvSpPr>
          <p:cNvPr id="13" name="TextBox 12"/>
          <p:cNvSpPr txBox="1"/>
          <p:nvPr/>
        </p:nvSpPr>
        <p:spPr>
          <a:xfrm>
            <a:off x="4779264" y="2350008"/>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Голос</a:t>
            </a:r>
          </a:p>
        </p:txBody>
      </p:sp>
      <p:sp>
        <p:nvSpPr>
          <p:cNvPr id="14" name="TextBox 13"/>
          <p:cNvSpPr txBox="1"/>
          <p:nvPr/>
        </p:nvSpPr>
        <p:spPr>
          <a:xfrm>
            <a:off x="4450080" y="2651760"/>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то же решение без картинки: порядок, длина, право перебить</a:t>
            </a:r>
          </a:p>
        </p:txBody>
      </p:sp>
      <p:sp>
        <p:nvSpPr>
          <p:cNvPr id="15" name="Rounded Rectangle 14"/>
          <p:cNvSpPr/>
          <p:nvPr/>
        </p:nvSpPr>
        <p:spPr>
          <a:xfrm>
            <a:off x="8068056" y="2267712"/>
            <a:ext cx="3636264" cy="749808"/>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iren-teal.png"/>
          <p:cNvPicPr>
            <a:picLocks noChangeAspect="1"/>
          </p:cNvPicPr>
          <p:nvPr/>
        </p:nvPicPr>
        <p:blipFill>
          <a:blip r:embed="rId5"/>
          <a:stretch>
            <a:fillRect/>
          </a:stretch>
        </p:blipFill>
        <p:spPr>
          <a:xfrm>
            <a:off x="8214360" y="2368296"/>
            <a:ext cx="256032" cy="256032"/>
          </a:xfrm>
          <a:prstGeom prst="rect">
            <a:avLst/>
          </a:prstGeom>
        </p:spPr>
      </p:pic>
      <p:sp>
        <p:nvSpPr>
          <p:cNvPr id="17" name="TextBox 16"/>
          <p:cNvSpPr txBox="1"/>
          <p:nvPr/>
        </p:nvSpPr>
        <p:spPr>
          <a:xfrm>
            <a:off x="8561832" y="2350008"/>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Уведомление</a:t>
            </a:r>
          </a:p>
        </p:txBody>
      </p:sp>
      <p:sp>
        <p:nvSpPr>
          <p:cNvPr id="18" name="TextBox 17"/>
          <p:cNvSpPr txBox="1"/>
          <p:nvPr/>
        </p:nvSpPr>
        <p:spPr>
          <a:xfrm>
            <a:off x="8232648" y="2651760"/>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система начинает разговор сама: когда и по какому поводу</a:t>
            </a:r>
          </a:p>
        </p:txBody>
      </p:sp>
      <p:sp>
        <p:nvSpPr>
          <p:cNvPr id="19" name="Rounded Rectangle 18"/>
          <p:cNvSpPr/>
          <p:nvPr/>
        </p:nvSpPr>
        <p:spPr>
          <a:xfrm>
            <a:off x="502920" y="3108960"/>
            <a:ext cx="3636264" cy="749808"/>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file-text-mid.png"/>
          <p:cNvPicPr>
            <a:picLocks noChangeAspect="1"/>
          </p:cNvPicPr>
          <p:nvPr/>
        </p:nvPicPr>
        <p:blipFill>
          <a:blip r:embed="rId6"/>
          <a:stretch>
            <a:fillRect/>
          </a:stretch>
        </p:blipFill>
        <p:spPr>
          <a:xfrm>
            <a:off x="649224" y="3209544"/>
            <a:ext cx="256032" cy="256032"/>
          </a:xfrm>
          <a:prstGeom prst="rect">
            <a:avLst/>
          </a:prstGeom>
        </p:spPr>
      </p:pic>
      <p:sp>
        <p:nvSpPr>
          <p:cNvPr id="21" name="TextBox 20"/>
          <p:cNvSpPr txBox="1"/>
          <p:nvPr/>
        </p:nvSpPr>
        <p:spPr>
          <a:xfrm>
            <a:off x="996696" y="3191256"/>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Письмо, отчёт</a:t>
            </a:r>
          </a:p>
        </p:txBody>
      </p:sp>
      <p:sp>
        <p:nvSpPr>
          <p:cNvPr id="22" name="TextBox 21"/>
          <p:cNvSpPr txBox="1"/>
          <p:nvPr/>
        </p:nvSpPr>
        <p:spPr>
          <a:xfrm>
            <a:off x="667512" y="349300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ответ, который читают, когда системы под рукой нет</a:t>
            </a:r>
          </a:p>
        </p:txBody>
      </p:sp>
      <p:sp>
        <p:nvSpPr>
          <p:cNvPr id="23" name="Rounded Rectangle 22"/>
          <p:cNvSpPr/>
          <p:nvPr/>
        </p:nvSpPr>
        <p:spPr>
          <a:xfrm>
            <a:off x="4285488" y="3108960"/>
            <a:ext cx="3636264" cy="749808"/>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hield-off-teal.png"/>
          <p:cNvPicPr>
            <a:picLocks noChangeAspect="1"/>
          </p:cNvPicPr>
          <p:nvPr/>
        </p:nvPicPr>
        <p:blipFill>
          <a:blip r:embed="rId7"/>
          <a:stretch>
            <a:fillRect/>
          </a:stretch>
        </p:blipFill>
        <p:spPr>
          <a:xfrm>
            <a:off x="4431792" y="3209544"/>
            <a:ext cx="256032" cy="256032"/>
          </a:xfrm>
          <a:prstGeom prst="rect">
            <a:avLst/>
          </a:prstGeom>
        </p:spPr>
      </p:pic>
      <p:sp>
        <p:nvSpPr>
          <p:cNvPr id="25" name="TextBox 24"/>
          <p:cNvSpPr txBox="1"/>
          <p:nvPr/>
        </p:nvSpPr>
        <p:spPr>
          <a:xfrm>
            <a:off x="4779264" y="3191256"/>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Отказ</a:t>
            </a:r>
          </a:p>
        </p:txBody>
      </p:sp>
      <p:sp>
        <p:nvSpPr>
          <p:cNvPr id="26" name="TextBox 25"/>
          <p:cNvSpPr txBox="1"/>
          <p:nvPr/>
        </p:nvSpPr>
        <p:spPr>
          <a:xfrm>
            <a:off x="4450080" y="349300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что система говорит, когда делать не станет</a:t>
            </a:r>
          </a:p>
        </p:txBody>
      </p:sp>
      <p:sp>
        <p:nvSpPr>
          <p:cNvPr id="27" name="Rounded Rectangle 26"/>
          <p:cNvSpPr/>
          <p:nvPr/>
        </p:nvSpPr>
        <p:spPr>
          <a:xfrm>
            <a:off x="8068056" y="3108960"/>
            <a:ext cx="3636264" cy="749808"/>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lock-teal.png"/>
          <p:cNvPicPr>
            <a:picLocks noChangeAspect="1"/>
          </p:cNvPicPr>
          <p:nvPr/>
        </p:nvPicPr>
        <p:blipFill>
          <a:blip r:embed="rId8"/>
          <a:stretch>
            <a:fillRect/>
          </a:stretch>
        </p:blipFill>
        <p:spPr>
          <a:xfrm>
            <a:off x="8214360" y="3209544"/>
            <a:ext cx="256032" cy="256032"/>
          </a:xfrm>
          <a:prstGeom prst="rect">
            <a:avLst/>
          </a:prstGeom>
        </p:spPr>
      </p:pic>
      <p:sp>
        <p:nvSpPr>
          <p:cNvPr id="29" name="TextBox 28"/>
          <p:cNvSpPr txBox="1"/>
          <p:nvPr/>
        </p:nvSpPr>
        <p:spPr>
          <a:xfrm>
            <a:off x="8561832" y="3191256"/>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Молчание</a:t>
            </a:r>
          </a:p>
        </p:txBody>
      </p:sp>
      <p:sp>
        <p:nvSpPr>
          <p:cNvPr id="30" name="TextBox 29"/>
          <p:cNvSpPr txBox="1"/>
          <p:nvPr/>
        </p:nvSpPr>
        <p:spPr>
          <a:xfrm>
            <a:off x="8232648" y="349300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обработка идёт, ответа ещё нет: что человек видит эту минуту</a:t>
            </a:r>
          </a:p>
        </p:txBody>
      </p:sp>
      <p:sp>
        <p:nvSpPr>
          <p:cNvPr id="31" name="TextBox 30"/>
          <p:cNvSpPr txBox="1"/>
          <p:nvPr/>
        </p:nvSpPr>
        <p:spPr>
          <a:xfrm>
            <a:off x="502920" y="4133087"/>
            <a:ext cx="11201400" cy="237744"/>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Поведение системы во времени</a:t>
            </a:r>
          </a:p>
        </p:txBody>
      </p:sp>
      <p:sp>
        <p:nvSpPr>
          <p:cNvPr id="32" name="Rounded Rectangle 31"/>
          <p:cNvSpPr/>
          <p:nvPr/>
        </p:nvSpPr>
        <p:spPr>
          <a:xfrm>
            <a:off x="502920" y="4407408"/>
            <a:ext cx="3636264" cy="768096"/>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ircle-check-mid.png"/>
          <p:cNvPicPr>
            <a:picLocks noChangeAspect="1"/>
          </p:cNvPicPr>
          <p:nvPr/>
        </p:nvPicPr>
        <p:blipFill>
          <a:blip r:embed="rId9"/>
          <a:stretch>
            <a:fillRect/>
          </a:stretch>
        </p:blipFill>
        <p:spPr>
          <a:xfrm>
            <a:off x="649224" y="4498848"/>
            <a:ext cx="256032" cy="256032"/>
          </a:xfrm>
          <a:prstGeom prst="rect">
            <a:avLst/>
          </a:prstGeom>
        </p:spPr>
      </p:pic>
      <p:sp>
        <p:nvSpPr>
          <p:cNvPr id="34" name="TextBox 33"/>
          <p:cNvSpPr txBox="1"/>
          <p:nvPr/>
        </p:nvSpPr>
        <p:spPr>
          <a:xfrm>
            <a:off x="996696" y="4480560"/>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Уверена</a:t>
            </a:r>
          </a:p>
        </p:txBody>
      </p:sp>
      <p:sp>
        <p:nvSpPr>
          <p:cNvPr id="35" name="TextBox 34"/>
          <p:cNvSpPr txBox="1"/>
          <p:nvPr/>
        </p:nvSpPr>
        <p:spPr>
          <a:xfrm>
            <a:off x="667512" y="477316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отвечает и показывает, на чём ответ построен</a:t>
            </a:r>
          </a:p>
        </p:txBody>
      </p:sp>
      <p:sp>
        <p:nvSpPr>
          <p:cNvPr id="36" name="Rounded Rectangle 35"/>
          <p:cNvSpPr/>
          <p:nvPr/>
        </p:nvSpPr>
        <p:spPr>
          <a:xfrm>
            <a:off x="4285488" y="4407408"/>
            <a:ext cx="3636264" cy="768096"/>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circle-help-teal.png"/>
          <p:cNvPicPr>
            <a:picLocks noChangeAspect="1"/>
          </p:cNvPicPr>
          <p:nvPr/>
        </p:nvPicPr>
        <p:blipFill>
          <a:blip r:embed="rId10"/>
          <a:stretch>
            <a:fillRect/>
          </a:stretch>
        </p:blipFill>
        <p:spPr>
          <a:xfrm>
            <a:off x="4431792" y="4498848"/>
            <a:ext cx="256032" cy="256032"/>
          </a:xfrm>
          <a:prstGeom prst="rect">
            <a:avLst/>
          </a:prstGeom>
        </p:spPr>
      </p:pic>
      <p:sp>
        <p:nvSpPr>
          <p:cNvPr id="38" name="TextBox 37"/>
          <p:cNvSpPr txBox="1"/>
          <p:nvPr/>
        </p:nvSpPr>
        <p:spPr>
          <a:xfrm>
            <a:off x="4779264" y="4480560"/>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Не уверена</a:t>
            </a:r>
          </a:p>
        </p:txBody>
      </p:sp>
      <p:sp>
        <p:nvSpPr>
          <p:cNvPr id="39" name="TextBox 38"/>
          <p:cNvSpPr txBox="1"/>
          <p:nvPr/>
        </p:nvSpPr>
        <p:spPr>
          <a:xfrm>
            <a:off x="4450080" y="477316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говорит об этом от первого лица и предлагает ход дальше</a:t>
            </a:r>
          </a:p>
        </p:txBody>
      </p:sp>
      <p:sp>
        <p:nvSpPr>
          <p:cNvPr id="40" name="Rounded Rectangle 39"/>
          <p:cNvSpPr/>
          <p:nvPr/>
        </p:nvSpPr>
        <p:spPr>
          <a:xfrm>
            <a:off x="8068056" y="4407408"/>
            <a:ext cx="3636264" cy="768096"/>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undo-2-teal.png"/>
          <p:cNvPicPr>
            <a:picLocks noChangeAspect="1"/>
          </p:cNvPicPr>
          <p:nvPr/>
        </p:nvPicPr>
        <p:blipFill>
          <a:blip r:embed="rId11"/>
          <a:stretch>
            <a:fillRect/>
          </a:stretch>
        </p:blipFill>
        <p:spPr>
          <a:xfrm>
            <a:off x="8214360" y="4498848"/>
            <a:ext cx="256032" cy="256032"/>
          </a:xfrm>
          <a:prstGeom prst="rect">
            <a:avLst/>
          </a:prstGeom>
        </p:spPr>
      </p:pic>
      <p:sp>
        <p:nvSpPr>
          <p:cNvPr id="42" name="TextBox 41"/>
          <p:cNvSpPr txBox="1"/>
          <p:nvPr/>
        </p:nvSpPr>
        <p:spPr>
          <a:xfrm>
            <a:off x="8561832" y="4480560"/>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Ошиблась</a:t>
            </a:r>
          </a:p>
        </p:txBody>
      </p:sp>
      <p:sp>
        <p:nvSpPr>
          <p:cNvPr id="43" name="TextBox 42"/>
          <p:cNvSpPr txBox="1"/>
          <p:nvPr/>
        </p:nvSpPr>
        <p:spPr>
          <a:xfrm>
            <a:off x="8232648" y="477316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человек видит, что произошло, и у него есть путь назад</a:t>
            </a:r>
          </a:p>
        </p:txBody>
      </p:sp>
      <p:sp>
        <p:nvSpPr>
          <p:cNvPr id="44" name="Rounded Rectangle 43"/>
          <p:cNvSpPr/>
          <p:nvPr/>
        </p:nvSpPr>
        <p:spPr>
          <a:xfrm>
            <a:off x="502920" y="5303520"/>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6" y="5358383"/>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Решения этого слоя принимают один раз, и живут они дольше любой вёрстки: имя продукта, обещание на входе, право остановиться. Имя задаёт картину системы в голове раньше, чем человек увидит первый экран, — и правка этой картины обходится в отзыв всего парка.</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Зачем нужен отдельный шаг дизайна: дешёвый черновик ловит ошибку раньше готового продукта</a:t>
            </a:r>
          </a:p>
        </p:txBody>
      </p:sp>
      <p:sp>
        <p:nvSpPr>
          <p:cNvPr id="3" name="Rounded Rectangle 2"/>
          <p:cNvSpPr/>
          <p:nvPr/>
        </p:nvSpPr>
        <p:spPr>
          <a:xfrm>
            <a:off x="502920" y="1024128"/>
            <a:ext cx="11201400" cy="1463040"/>
          </a:xfrm>
          <a:prstGeom prst="roundRect">
            <a:avLst>
              <a:gd name="adj" fmla="val 208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78992"/>
            <a:ext cx="10744200"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Зачем эта работа нужна</a:t>
            </a:r>
          </a:p>
        </p:txBody>
      </p:sp>
      <p:pic>
        <p:nvPicPr>
          <p:cNvPr id="5" name="Picture 4" descr="pencil-mid.png"/>
          <p:cNvPicPr>
            <a:picLocks noChangeAspect="1"/>
          </p:cNvPicPr>
          <p:nvPr/>
        </p:nvPicPr>
        <p:blipFill>
          <a:blip r:embed="rId2"/>
          <a:stretch>
            <a:fillRect/>
          </a:stretch>
        </p:blipFill>
        <p:spPr>
          <a:xfrm>
            <a:off x="749808" y="1426464"/>
            <a:ext cx="292608" cy="292608"/>
          </a:xfrm>
          <a:prstGeom prst="rect">
            <a:avLst/>
          </a:prstGeom>
        </p:spPr>
      </p:pic>
      <p:sp>
        <p:nvSpPr>
          <p:cNvPr id="6" name="TextBox 5"/>
          <p:cNvSpPr txBox="1"/>
          <p:nvPr/>
        </p:nvSpPr>
        <p:spPr>
          <a:xfrm>
            <a:off x="1152144" y="1353312"/>
            <a:ext cx="4617720"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Ошибку нашли на черновике — переделать набросок стоит часов работы одного человека. Черновик для того и делают: его не жалко выбросить целиком.</a:t>
            </a:r>
          </a:p>
        </p:txBody>
      </p:sp>
      <p:sp>
        <p:nvSpPr>
          <p:cNvPr id="7" name="Right Arrow 6"/>
          <p:cNvSpPr/>
          <p:nvPr/>
        </p:nvSpPr>
        <p:spPr>
          <a:xfrm>
            <a:off x="5925312" y="1572768"/>
            <a:ext cx="384048"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cket-gold.png"/>
          <p:cNvPicPr>
            <a:picLocks noChangeAspect="1"/>
          </p:cNvPicPr>
          <p:nvPr/>
        </p:nvPicPr>
        <p:blipFill>
          <a:blip r:embed="rId3"/>
          <a:stretch>
            <a:fillRect/>
          </a:stretch>
        </p:blipFill>
        <p:spPr>
          <a:xfrm>
            <a:off x="6473952" y="1426464"/>
            <a:ext cx="292608" cy="292608"/>
          </a:xfrm>
          <a:prstGeom prst="rect">
            <a:avLst/>
          </a:prstGeom>
        </p:spPr>
      </p:pic>
      <p:sp>
        <p:nvSpPr>
          <p:cNvPr id="9" name="TextBox 8"/>
          <p:cNvSpPr txBox="1"/>
          <p:nvPr/>
        </p:nvSpPr>
        <p:spPr>
          <a:xfrm>
            <a:off x="6876288" y="1353312"/>
            <a:ext cx="4590288"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Ту же ошибку нашли после выпуска — переделывать придётся работающий продукт: недели работы команды, и к ним прибавляются ушедшие пользователи.</a:t>
            </a:r>
          </a:p>
        </p:txBody>
      </p:sp>
      <p:sp>
        <p:nvSpPr>
          <p:cNvPr id="10" name="TextBox 9"/>
          <p:cNvSpPr txBox="1"/>
          <p:nvPr/>
        </p:nvSpPr>
        <p:spPr>
          <a:xfrm>
            <a:off x="731520" y="2084831"/>
            <a:ext cx="10744200" cy="310896"/>
          </a:xfrm>
          <a:prstGeom prst="rect">
            <a:avLst/>
          </a:prstGeom>
          <a:noFill/>
        </p:spPr>
        <p:txBody>
          <a:bodyPr wrap="square" lIns="0" rIns="0" tIns="0" bIns="0" anchor="t">
            <a:spAutoFit/>
          </a:bodyPr>
          <a:lstStyle/>
          <a:p>
            <a:pPr algn="l">
              <a:lnSpc>
                <a:spcPct val="114000"/>
              </a:lnSpc>
            </a:pPr>
            <a:r>
              <a:rPr sz="1250" b="1" i="0">
                <a:solidFill>
                  <a:srgbClr val="21295C"/>
                </a:solidFill>
                <a:latin typeface="DejaVu Sans"/>
              </a:rPr>
              <a:t>Пропустить этот шаг — значит заплатить то же самое позже и дороже.</a:t>
            </a:r>
          </a:p>
        </p:txBody>
      </p:sp>
      <p:sp>
        <p:nvSpPr>
          <p:cNvPr id="11" name="Diamond 10"/>
          <p:cNvSpPr/>
          <p:nvPr/>
        </p:nvSpPr>
        <p:spPr>
          <a:xfrm>
            <a:off x="1088136" y="2907792"/>
            <a:ext cx="2066543" cy="1133856"/>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5" y="3218688"/>
            <a:ext cx="2798063" cy="512064"/>
          </a:xfrm>
          <a:prstGeom prst="rect">
            <a:avLst/>
          </a:prstGeom>
          <a:noFill/>
        </p:spPr>
        <p:txBody>
          <a:bodyPr wrap="square" lIns="0" rIns="0" tIns="0" bIns="0" anchor="ctr">
            <a:spAutoFit/>
          </a:bodyPr>
          <a:lstStyle/>
          <a:p>
            <a:pPr algn="ctr">
              <a:lnSpc>
                <a:spcPct val="102000"/>
              </a:lnSpc>
            </a:pPr>
            <a:r>
              <a:rPr sz="1200" b="1" i="0">
                <a:solidFill>
                  <a:srgbClr val="065A82"/>
                </a:solidFill>
                <a:latin typeface="DejaVu Sans"/>
              </a:rPr>
              <a:t>Какую задачу</a:t>
            </a:r>
          </a:p>
          <a:p>
            <a:pPr algn="ctr">
              <a:lnSpc>
                <a:spcPct val="102000"/>
              </a:lnSpc>
            </a:pPr>
            <a:r>
              <a:rPr sz="1200" b="1" i="0">
                <a:solidFill>
                  <a:srgbClr val="065A82"/>
                </a:solidFill>
                <a:latin typeface="DejaVu Sans"/>
              </a:rPr>
              <a:t>решаем</a:t>
            </a:r>
          </a:p>
        </p:txBody>
      </p:sp>
      <p:sp>
        <p:nvSpPr>
          <p:cNvPr id="13" name="TextBox 12"/>
          <p:cNvSpPr txBox="1"/>
          <p:nvPr/>
        </p:nvSpPr>
        <p:spPr>
          <a:xfrm>
            <a:off x="777239" y="2596896"/>
            <a:ext cx="2688336" cy="274320"/>
          </a:xfrm>
          <a:prstGeom prst="rect">
            <a:avLst/>
          </a:prstGeom>
          <a:noFill/>
        </p:spPr>
        <p:txBody>
          <a:bodyPr wrap="square" lIns="0" rIns="0" tIns="0" bIns="0" anchor="t">
            <a:spAutoFit/>
          </a:bodyPr>
          <a:lstStyle/>
          <a:p>
            <a:pPr algn="ctr">
              <a:lnSpc>
                <a:spcPct val="102000"/>
              </a:lnSpc>
            </a:pPr>
            <a:r>
              <a:rPr sz="1100" b="1" i="0">
                <a:solidFill>
                  <a:srgbClr val="065A82"/>
                </a:solidFill>
                <a:latin typeface="DejaVu Sans"/>
              </a:rPr>
              <a:t>расширяем набор задач</a:t>
            </a:r>
          </a:p>
        </p:txBody>
      </p:sp>
      <p:sp>
        <p:nvSpPr>
          <p:cNvPr id="14" name="TextBox 13"/>
          <p:cNvSpPr txBox="1"/>
          <p:nvPr/>
        </p:nvSpPr>
        <p:spPr>
          <a:xfrm>
            <a:off x="777239"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одной задаче</a:t>
            </a:r>
          </a:p>
        </p:txBody>
      </p:sp>
      <p:sp>
        <p:nvSpPr>
          <p:cNvPr id="15" name="Diamond 14"/>
          <p:cNvSpPr/>
          <p:nvPr/>
        </p:nvSpPr>
        <p:spPr>
          <a:xfrm>
            <a:off x="3922776" y="2907792"/>
            <a:ext cx="2066543" cy="1133856"/>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7016" y="3218688"/>
            <a:ext cx="2798063" cy="512064"/>
          </a:xfrm>
          <a:prstGeom prst="rect">
            <a:avLst/>
          </a:prstGeom>
          <a:noFill/>
        </p:spPr>
        <p:txBody>
          <a:bodyPr wrap="square" lIns="0" rIns="0" tIns="0" bIns="0" anchor="ctr">
            <a:spAutoFit/>
          </a:bodyPr>
          <a:lstStyle/>
          <a:p>
            <a:pPr algn="ctr">
              <a:lnSpc>
                <a:spcPct val="102000"/>
              </a:lnSpc>
            </a:pPr>
            <a:r>
              <a:rPr sz="1200" b="1" i="0">
                <a:solidFill>
                  <a:srgbClr val="028090"/>
                </a:solidFill>
                <a:latin typeface="DejaVu Sans"/>
              </a:rPr>
              <a:t>Каким решением</a:t>
            </a:r>
          </a:p>
          <a:p>
            <a:pPr algn="ctr">
              <a:lnSpc>
                <a:spcPct val="102000"/>
              </a:lnSpc>
            </a:pPr>
            <a:r>
              <a:rPr sz="1200" b="1" i="0">
                <a:solidFill>
                  <a:srgbClr val="028090"/>
                </a:solidFill>
                <a:latin typeface="DejaVu Sans"/>
              </a:rPr>
              <a:t>её закрываем</a:t>
            </a:r>
          </a:p>
        </p:txBody>
      </p:sp>
      <p:sp>
        <p:nvSpPr>
          <p:cNvPr id="17" name="TextBox 16"/>
          <p:cNvSpPr txBox="1"/>
          <p:nvPr/>
        </p:nvSpPr>
        <p:spPr>
          <a:xfrm>
            <a:off x="3611880" y="2596896"/>
            <a:ext cx="2688336" cy="274320"/>
          </a:xfrm>
          <a:prstGeom prst="rect">
            <a:avLst/>
          </a:prstGeom>
          <a:noFill/>
        </p:spPr>
        <p:txBody>
          <a:bodyPr wrap="square" lIns="0" rIns="0" tIns="0" bIns="0" anchor="t">
            <a:spAutoFit/>
          </a:bodyPr>
          <a:lstStyle/>
          <a:p>
            <a:pPr algn="ctr">
              <a:lnSpc>
                <a:spcPct val="102000"/>
              </a:lnSpc>
            </a:pPr>
            <a:r>
              <a:rPr sz="1100" b="1" i="0">
                <a:solidFill>
                  <a:srgbClr val="028090"/>
                </a:solidFill>
                <a:latin typeface="DejaVu Sans"/>
              </a:rPr>
              <a:t>расширяем набор решений</a:t>
            </a:r>
          </a:p>
        </p:txBody>
      </p:sp>
      <p:sp>
        <p:nvSpPr>
          <p:cNvPr id="18" name="TextBox 17"/>
          <p:cNvSpPr txBox="1"/>
          <p:nvPr/>
        </p:nvSpPr>
        <p:spPr>
          <a:xfrm>
            <a:off x="3611880"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одному решению</a:t>
            </a:r>
          </a:p>
        </p:txBody>
      </p:sp>
      <p:sp>
        <p:nvSpPr>
          <p:cNvPr id="19" name="Right Arrow 18"/>
          <p:cNvSpPr/>
          <p:nvPr/>
        </p:nvSpPr>
        <p:spPr>
          <a:xfrm>
            <a:off x="3310128" y="3355848"/>
            <a:ext cx="457200"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46520" y="2560320"/>
            <a:ext cx="5257800" cy="1828800"/>
          </a:xfrm>
          <a:prstGeom prst="roundRect">
            <a:avLst>
              <a:gd name="adj" fmla="val 1666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32" y="2633472"/>
            <a:ext cx="484632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Двойной ромб (Double Diamond) </a:t>
            </a:r>
            <a:r>
              <a:rPr sz="624" baseline="30000" b="0" i="1">
                <a:latin typeface="DejaVu Sans"/>
                <a:cs typeface="DejaVu Sans"/>
                <a:ea typeface="DejaVu Sans"/>
                <a:solidFill>
                  <a:srgbClr val="1C7293"/>
                </a:solidFill>
              </a:rPr>
              <a:t>[1]</a:t>
            </a:r>
          </a:p>
        </p:txBody>
      </p:sp>
      <p:sp>
        <p:nvSpPr>
          <p:cNvPr id="22" name="TextBox 21"/>
          <p:cNvSpPr txBox="1"/>
          <p:nvPr/>
        </p:nvSpPr>
        <p:spPr>
          <a:xfrm>
            <a:off x="6656832" y="2907792"/>
            <a:ext cx="4846320" cy="1408176"/>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Ромб — один цикл работы: </a:t>
            </a:r>
            <a:r>
              <a:rPr sz="1100" b="0" i="0">
                <a:solidFill>
                  <a:srgbClr val="21295C"/>
                </a:solidFill>
                <a:latin typeface="DejaVu Sans"/>
              </a:rPr>
              <a:t>расширяем набор вариантов, потом сводим их к одному.</a:t>
            </a:r>
          </a:p>
          <a:p>
            <a:pPr algn="l">
              <a:lnSpc>
                <a:spcPct val="116000"/>
              </a:lnSpc>
              <a:spcBef>
                <a:spcPts val="400"/>
              </a:spcBef>
            </a:pPr>
            <a:r>
              <a:rPr sz="1100" b="1" i="0">
                <a:solidFill>
                  <a:srgbClr val="21295C"/>
                </a:solidFill>
                <a:latin typeface="DejaVu Sans"/>
              </a:rPr>
              <a:t>Ромбов два, потому что выбирают дважды: </a:t>
            </a:r>
            <a:r>
              <a:rPr sz="1100" b="0" i="0">
                <a:solidFill>
                  <a:srgbClr val="21295C"/>
                </a:solidFill>
                <a:latin typeface="DejaVu Sans"/>
              </a:rPr>
              <a:t>сначала задачу, и только потом — решение.</a:t>
            </a:r>
          </a:p>
          <a:p>
            <a:pPr algn="l">
              <a:lnSpc>
                <a:spcPct val="116000"/>
              </a:lnSpc>
              <a:spcBef>
                <a:spcPts val="400"/>
              </a:spcBef>
            </a:pPr>
            <a:r>
              <a:rPr sz="1100" b="1" i="0">
                <a:solidFill>
                  <a:srgbClr val="21295C"/>
                </a:solidFill>
                <a:latin typeface="DejaVu Sans"/>
              </a:rPr>
              <a:t>Нашу петлю он не заменяет: </a:t>
            </a:r>
            <a:r>
              <a:rPr sz="1100" b="0" i="0">
                <a:solidFill>
                  <a:srgbClr val="21295C"/>
                </a:solidFill>
                <a:latin typeface="DejaVu Sans"/>
              </a:rPr>
              <a:t>это увеличительное стекло на её шаге 2 «Дизайн».</a:t>
            </a:r>
          </a:p>
        </p:txBody>
      </p:sp>
      <p:sp>
        <p:nvSpPr>
          <p:cNvPr id="23" name="Rounded Rectangle 22"/>
          <p:cNvSpPr/>
          <p:nvPr/>
        </p:nvSpPr>
        <p:spPr>
          <a:xfrm>
            <a:off x="502920" y="4517136"/>
            <a:ext cx="11201400" cy="786384"/>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ist-checks-mid.png"/>
          <p:cNvPicPr>
            <a:picLocks noChangeAspect="1"/>
          </p:cNvPicPr>
          <p:nvPr/>
        </p:nvPicPr>
        <p:blipFill>
          <a:blip r:embed="rId4"/>
          <a:stretch>
            <a:fillRect/>
          </a:stretch>
        </p:blipFill>
        <p:spPr>
          <a:xfrm>
            <a:off x="713232" y="4754880"/>
            <a:ext cx="310896" cy="310896"/>
          </a:xfrm>
          <a:prstGeom prst="rect">
            <a:avLst/>
          </a:prstGeom>
        </p:spPr>
      </p:pic>
      <p:sp>
        <p:nvSpPr>
          <p:cNvPr id="25" name="TextBox 24"/>
          <p:cNvSpPr txBox="1"/>
          <p:nvPr/>
        </p:nvSpPr>
        <p:spPr>
          <a:xfrm>
            <a:off x="1133856" y="4590288"/>
            <a:ext cx="10351008" cy="640080"/>
          </a:xfrm>
          <a:prstGeom prst="rect">
            <a:avLst/>
          </a:prstGeom>
          <a:noFill/>
        </p:spPr>
        <p:txBody>
          <a:bodyPr wrap="square" lIns="0" rIns="0" tIns="0" bIns="0" anchor="ctr">
            <a:spAutoFit/>
          </a:bodyPr>
          <a:lstStyle/>
          <a:p>
            <a:pPr algn="l">
              <a:lnSpc>
                <a:spcPct val="116000"/>
              </a:lnSpc>
            </a:pPr>
            <a:r>
              <a:rPr sz="1150" b="1" i="0">
                <a:solidFill>
                  <a:srgbClr val="065A82"/>
                </a:solidFill>
                <a:latin typeface="DejaVu Sans"/>
              </a:rPr>
              <a:t>Десять эвристик Якоба Нильсена (1994) </a:t>
            </a:r>
            <a:r>
              <a:rPr sz="1150" b="0" i="0">
                <a:solidFill>
                  <a:srgbClr val="21295C"/>
                </a:solidFill>
                <a:latin typeface="DejaVu Sans"/>
              </a:rPr>
              <a:t>— короткий список правил удобства: знающий человек за полчаса проходит по нему готовый вариант и отвечает на вопрос, недоступный машине, — понятно ли это живому человеку. Её ставят поверх уже сведённого варианта; в череду стадий она не входит. </a:t>
            </a:r>
            <a:r>
              <a:rPr sz="598" baseline="30000" b="0" i="1">
                <a:latin typeface="DejaVu Sans"/>
                <a:cs typeface="DejaVu Sans"/>
                <a:ea typeface="DejaVu Sans"/>
                <a:solidFill>
                  <a:srgbClr val="1C7293"/>
                </a:solidFill>
              </a:rPr>
              <a:t>[2]</a:t>
            </a:r>
          </a:p>
        </p:txBody>
      </p:sp>
      <p:sp>
        <p:nvSpPr>
          <p:cNvPr id="26" name="Rounded Rectangle 25"/>
          <p:cNvSpPr/>
          <p:nvPr/>
        </p:nvSpPr>
        <p:spPr>
          <a:xfrm>
            <a:off x="502920" y="5394960"/>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449824"/>
            <a:ext cx="10762488" cy="8595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Частая ошибка инженера — сойтись на решении, не проверив саму задачу: перепрыгнуть первый ромб. Тот же образ действия, что «сразу писать код», минуя вопрос, ту ли задачу мы вообще решаем. Оба ромба работают по всей встрече человека с системой: экран, голос, поведение в неуверенности.</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Совет по дизайну Великобритании — двойной ромб</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Якоб Нильсен — десять эвристик удобства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3152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Генераторы интерфейсов: машина даёт варианты, выбирает и доводит человек</a:t>
            </a:r>
          </a:p>
        </p:txBody>
      </p:sp>
      <p:sp>
        <p:nvSpPr>
          <p:cNvPr id="3" name="Rounded Rectangle 2"/>
          <p:cNvSpPr/>
          <p:nvPr/>
        </p:nvSpPr>
        <p:spPr>
          <a:xfrm>
            <a:off x="502920" y="932688"/>
            <a:ext cx="5715000" cy="2377440"/>
          </a:xfrm>
          <a:prstGeom prst="roundRect">
            <a:avLst>
              <a:gd name="adj" fmla="val 1282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5303520" cy="457200"/>
          </a:xfrm>
          <a:prstGeom prst="rect">
            <a:avLst/>
          </a:prstGeom>
          <a:noFill/>
        </p:spPr>
        <p:txBody>
          <a:bodyPr wrap="square" lIns="0" rIns="0" tIns="0" bIns="0" anchor="t">
            <a:spAutoFit/>
          </a:bodyPr>
          <a:lstStyle/>
          <a:p>
            <a:pPr algn="l">
              <a:lnSpc>
                <a:spcPct val="104000"/>
              </a:lnSpc>
            </a:pPr>
            <a:r>
              <a:rPr sz="1250" b="1" i="0">
                <a:solidFill>
                  <a:srgbClr val="065A82"/>
                </a:solidFill>
                <a:latin typeface="DejaVu Sans"/>
              </a:rPr>
              <a:t>Что машина делает сама: четыре непохожие раскладки одного экрана за минуты</a:t>
            </a:r>
          </a:p>
        </p:txBody>
      </p:sp>
      <p:sp>
        <p:nvSpPr>
          <p:cNvPr id="5" name="Rounded Rectangle 4"/>
          <p:cNvSpPr/>
          <p:nvPr/>
        </p:nvSpPr>
        <p:spPr>
          <a:xfrm>
            <a:off x="71323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13816" y="1563624"/>
            <a:ext cx="1042416" cy="685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3816" y="1677924"/>
            <a:ext cx="1042416" cy="301751"/>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3816" y="2061972"/>
            <a:ext cx="573328"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1</a:t>
            </a:r>
          </a:p>
        </p:txBody>
      </p:sp>
      <p:sp>
        <p:nvSpPr>
          <p:cNvPr id="10" name="Rounded Rectangle 9"/>
          <p:cNvSpPr/>
          <p:nvPr/>
        </p:nvSpPr>
        <p:spPr>
          <a:xfrm>
            <a:off x="203911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39696" y="1563624"/>
            <a:ext cx="1042416" cy="685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39696" y="1687068"/>
            <a:ext cx="1042416"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139696" y="1792224"/>
            <a:ext cx="896477"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139696" y="1897380"/>
            <a:ext cx="750539"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3911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2</a:t>
            </a:r>
          </a:p>
        </p:txBody>
      </p:sp>
      <p:sp>
        <p:nvSpPr>
          <p:cNvPr id="16" name="Rounded Rectangle 15"/>
          <p:cNvSpPr/>
          <p:nvPr/>
        </p:nvSpPr>
        <p:spPr>
          <a:xfrm>
            <a:off x="3364991"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65575" y="1563624"/>
            <a:ext cx="312724" cy="56692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840845" y="1563624"/>
            <a:ext cx="667146" cy="24944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840845" y="1858426"/>
            <a:ext cx="667146" cy="272125"/>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4991"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3</a:t>
            </a:r>
          </a:p>
        </p:txBody>
      </p:sp>
      <p:sp>
        <p:nvSpPr>
          <p:cNvPr id="21" name="Rounded Rectangle 20"/>
          <p:cNvSpPr/>
          <p:nvPr/>
        </p:nvSpPr>
        <p:spPr>
          <a:xfrm>
            <a:off x="469087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791456" y="1563624"/>
            <a:ext cx="479511" cy="26078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54360" y="1563624"/>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91456" y="1869765"/>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354360" y="1869765"/>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9087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4</a:t>
            </a:r>
          </a:p>
        </p:txBody>
      </p:sp>
      <p:sp>
        <p:nvSpPr>
          <p:cNvPr id="27" name="Rounded Rectangle 26"/>
          <p:cNvSpPr/>
          <p:nvPr/>
        </p:nvSpPr>
        <p:spPr>
          <a:xfrm>
            <a:off x="713232" y="2523744"/>
            <a:ext cx="5285232"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 y="2542032"/>
            <a:ext cx="4956048" cy="694944"/>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Дальше человек: выбирает одно направление, отбрасывает остальные и правит то, что модель поняла неверно — отступы, порядок важности, редкие случаи.</a:t>
            </a:r>
          </a:p>
        </p:txBody>
      </p:sp>
      <p:sp>
        <p:nvSpPr>
          <p:cNvPr id="29" name="Rounded Rectangle 28"/>
          <p:cNvSpPr/>
          <p:nvPr/>
        </p:nvSpPr>
        <p:spPr>
          <a:xfrm>
            <a:off x="6446520" y="932688"/>
            <a:ext cx="5257800" cy="2377440"/>
          </a:xfrm>
          <a:prstGeom prst="roundRect">
            <a:avLst>
              <a:gd name="adj" fmla="val 1282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56832" y="1005840"/>
            <a:ext cx="4846320"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Чем это делают в 2026 году </a:t>
            </a:r>
            <a:r>
              <a:rPr sz="650" baseline="30000" b="0" i="1">
                <a:latin typeface="DejaVu Sans"/>
                <a:cs typeface="DejaVu Sans"/>
                <a:ea typeface="DejaVu Sans"/>
                <a:solidFill>
                  <a:srgbClr val="1C7293"/>
                </a:solidFill>
              </a:rPr>
              <a:t>[1]</a:t>
            </a:r>
          </a:p>
        </p:txBody>
      </p:sp>
      <p:sp>
        <p:nvSpPr>
          <p:cNvPr id="31" name="TextBox 30"/>
          <p:cNvSpPr txBox="1"/>
          <p:nvPr/>
        </p:nvSpPr>
        <p:spPr>
          <a:xfrm>
            <a:off x="6656832" y="1316736"/>
            <a:ext cx="4846320" cy="1883664"/>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Figma Make</a:t>
            </a:r>
            <a:r>
              <a:rPr sz="1050" b="0" i="0">
                <a:solidFill>
                  <a:srgbClr val="21295C"/>
                </a:solidFill>
                <a:latin typeface="DejaVu Sans"/>
              </a:rPr>
              <a:t> — собирает экраны внутри редактора макетов и берёт собственные детали команды вместо общих заготовок.</a:t>
            </a:r>
          </a:p>
          <a:p>
            <a:pPr algn="l">
              <a:lnSpc>
                <a:spcPct val="114000"/>
              </a:lnSpc>
              <a:spcBef>
                <a:spcPts val="300"/>
              </a:spcBef>
            </a:pPr>
            <a:r>
              <a:rPr sz="1050" b="1" i="0">
                <a:solidFill>
                  <a:srgbClr val="21295C"/>
                </a:solidFill>
                <a:latin typeface="DejaVu Sans"/>
              </a:rPr>
              <a:t>Google Stitch</a:t>
            </a:r>
            <a:r>
              <a:rPr sz="1050" b="0" i="0">
                <a:solidFill>
                  <a:srgbClr val="21295C"/>
                </a:solidFill>
                <a:latin typeface="DejaVu Sans"/>
              </a:rPr>
              <a:t> — из текста и набросков в экран; бесплатный, с марта 2026 умеет переносить макеты из Figma и отдавать код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a:t>
            </a:r>
          </a:p>
          <a:p>
            <a:pPr algn="l">
              <a:lnSpc>
                <a:spcPct val="114000"/>
              </a:lnSpc>
              <a:spcBef>
                <a:spcPts val="300"/>
              </a:spcBef>
            </a:pPr>
            <a:r>
              <a:rPr sz="1050" b="1" i="0">
                <a:solidFill>
                  <a:srgbClr val="21295C"/>
                </a:solidFill>
                <a:latin typeface="DejaVu Sans"/>
              </a:rPr>
              <a:t>v0</a:t>
            </a:r>
            <a:r>
              <a:rPr sz="1050" b="0" i="0">
                <a:solidFill>
                  <a:srgbClr val="21295C"/>
                </a:solidFill>
                <a:latin typeface="DejaVu Sans"/>
              </a:rPr>
              <a:t> — из описания сразу в готовый код интерфейса.</a:t>
            </a:r>
          </a:p>
          <a:p>
            <a:pPr algn="l">
              <a:lnSpc>
                <a:spcPct val="114000"/>
              </a:lnSpc>
              <a:spcBef>
                <a:spcPts val="300"/>
              </a:spcBef>
            </a:pPr>
            <a:r>
              <a:rPr sz="1050" b="1" i="0">
                <a:solidFill>
                  <a:srgbClr val="21295C"/>
                </a:solidFill>
                <a:latin typeface="DejaVu Sans"/>
              </a:rPr>
              <a:t>Lovable, bolt.new</a:t>
            </a:r>
            <a:r>
              <a:rPr sz="1050" b="0" i="0">
                <a:solidFill>
                  <a:srgbClr val="21295C"/>
                </a:solidFill>
                <a:latin typeface="DejaVu Sans"/>
              </a:rPr>
              <a:t> — из описания сразу в работающее приложение целиком.</a:t>
            </a:r>
          </a:p>
          <a:p>
            <a:pPr algn="l">
              <a:lnSpc>
                <a:spcPct val="114000"/>
              </a:lnSpc>
              <a:spcBef>
                <a:spcPts val="300"/>
              </a:spcBef>
            </a:pPr>
            <a:r>
              <a:rPr sz="1050" b="1" i="0">
                <a:solidFill>
                  <a:srgbClr val="21295C"/>
                </a:solidFill>
                <a:latin typeface="DejaVu Sans"/>
              </a:rPr>
              <a:t>Magic Patterns</a:t>
            </a:r>
            <a:r>
              <a:rPr sz="1050" b="0" i="0">
                <a:solidFill>
                  <a:srgbClr val="21295C"/>
                </a:solidFill>
                <a:latin typeface="DejaVu Sans"/>
              </a:rPr>
              <a:t> — быстрый перебор вариантов одного экрана.</a:t>
            </a:r>
          </a:p>
        </p:txBody>
      </p:sp>
      <p:sp>
        <p:nvSpPr>
          <p:cNvPr id="32" name="Rounded Rectangle 31"/>
          <p:cNvSpPr/>
          <p:nvPr/>
        </p:nvSpPr>
        <p:spPr>
          <a:xfrm>
            <a:off x="502920" y="3383280"/>
            <a:ext cx="11201400" cy="1993392"/>
          </a:xfrm>
          <a:prstGeom prst="roundRect">
            <a:avLst>
              <a:gd name="adj" fmla="val 1529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3456432"/>
            <a:ext cx="10744200" cy="256032"/>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 генератором и без него: замер вместо обещания </a:t>
            </a:r>
            <a:r>
              <a:rPr sz="650" baseline="30000" b="0" i="1">
                <a:latin typeface="DejaVu Sans"/>
                <a:cs typeface="DejaVu Sans"/>
                <a:ea typeface="DejaVu Sans"/>
                <a:solidFill>
                  <a:srgbClr val="1C7293"/>
                </a:solidFill>
              </a:rPr>
              <a:t>[3]</a:t>
            </a:r>
          </a:p>
        </p:txBody>
      </p:sp>
      <p:sp>
        <p:nvSpPr>
          <p:cNvPr id="34" name="TextBox 33"/>
          <p:cNvSpPr txBox="1"/>
          <p:nvPr/>
        </p:nvSpPr>
        <p:spPr>
          <a:xfrm>
            <a:off x="731520" y="3767328"/>
            <a:ext cx="5074920" cy="822960"/>
          </a:xfrm>
          <a:prstGeom prst="rect">
            <a:avLst/>
          </a:prstGeom>
          <a:noFill/>
        </p:spPr>
        <p:txBody>
          <a:bodyPr wrap="square" lIns="0" rIns="0" tIns="0" bIns="0" anchor="t">
            <a:spAutoFit/>
          </a:bodyPr>
          <a:lstStyle/>
          <a:p>
            <a:pPr algn="l">
              <a:lnSpc>
                <a:spcPct val="116000"/>
              </a:lnSpc>
            </a:pPr>
            <a:r>
              <a:rPr sz="1100" b="1" i="0">
                <a:solidFill>
                  <a:srgbClr val="065A82"/>
                </a:solidFill>
                <a:latin typeface="DejaVu Sans"/>
              </a:rPr>
              <a:t>Как мерили. </a:t>
            </a:r>
            <a:r>
              <a:rPr sz="1100" b="0" i="0">
                <a:solidFill>
                  <a:srgbClr val="21295C"/>
                </a:solidFill>
                <a:latin typeface="DejaVu Sans"/>
              </a:rPr>
              <a:t>Сто участников — пятьдесят дизайнеров и пятьдесят продуктовых руководителей — случайно поделены на две группы: одной дали генератор, второй не дали. Три одинаковые задачи на правку интерфейса, сентябрь 2026 года.</a:t>
            </a:r>
          </a:p>
        </p:txBody>
      </p:sp>
      <p:sp>
        <p:nvSpPr>
          <p:cNvPr id="35" name="TextBox 34"/>
          <p:cNvSpPr txBox="1"/>
          <p:nvPr/>
        </p:nvSpPr>
        <p:spPr>
          <a:xfrm>
            <a:off x="6382512" y="3767328"/>
            <a:ext cx="5093208" cy="822960"/>
          </a:xfrm>
          <a:prstGeom prst="rect">
            <a:avLst/>
          </a:prstGeom>
          <a:noFill/>
        </p:spPr>
        <p:txBody>
          <a:bodyPr wrap="square" lIns="0" rIns="0" tIns="0" bIns="0" anchor="t">
            <a:spAutoFit/>
          </a:bodyPr>
          <a:lstStyle/>
          <a:p>
            <a:pPr algn="l">
              <a:lnSpc>
                <a:spcPct val="116000"/>
              </a:lnSpc>
            </a:pPr>
            <a:r>
              <a:rPr sz="1100" b="1" i="0">
                <a:solidFill>
                  <a:srgbClr val="028090"/>
                </a:solidFill>
                <a:latin typeface="DejaVu Sans"/>
              </a:rPr>
              <a:t>Что вышло. </a:t>
            </a:r>
            <a:r>
              <a:rPr sz="1100" b="0" i="0">
                <a:solidFill>
                  <a:srgbClr val="21295C"/>
                </a:solidFill>
                <a:latin typeface="DejaVu Sans"/>
              </a:rPr>
              <a:t>Общее время сократилось примерно на 20%. У продуктовых руководителей выигрыш 35%. У профессиональных дизайнеров — только на самой сложной из трёх задач (26%), а общий эффект у них пограничный (17%).</a:t>
            </a:r>
          </a:p>
        </p:txBody>
      </p:sp>
      <p:sp>
        <p:nvSpPr>
          <p:cNvPr id="36" name="TextBox 35"/>
          <p:cNvSpPr txBox="1"/>
          <p:nvPr/>
        </p:nvSpPr>
        <p:spPr>
          <a:xfrm>
            <a:off x="731520" y="4645152"/>
            <a:ext cx="10744200" cy="64008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Обещание «день ручного черчения превращается в минуты» замер не подтверждает: выигрыш реален, но измеряется десятками процентов и зависит от того, кто работает и насколько сложна задача. Опыт поставила сама Figma на собственном инструменте — держите поправку в уме.</a:t>
            </a:r>
          </a:p>
        </p:txBody>
      </p:sp>
      <p:sp>
        <p:nvSpPr>
          <p:cNvPr id="37" name="Rounded Rectangle 36"/>
          <p:cNvSpPr/>
          <p:nvPr/>
        </p:nvSpPr>
        <p:spPr>
          <a:xfrm>
            <a:off x="502920" y="5431536"/>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2376" y="5486400"/>
            <a:ext cx="10762488" cy="74980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Машина расширяет набор вариантов. Свести их к одному — решение о ваших пользователях и ваших ограничениях, которых в обучающих данных нет. Генератор закрывает экран; поверхности контакта, поведение системы и ответ в неуверенности остаются за человеком.</a:t>
            </a:r>
          </a:p>
        </p:txBody>
      </p:sp>
      <p:sp>
        <p:nvSpPr>
          <p:cNvPr id="39" name="TextBox 3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Figma — обзор инструментов дизайна с ИИ,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Google Stitch (бывший Galileo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Стюарт и соавторы — рандомизированный опыт, arXiv:2609.26725 (22 сент. 2026)</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Дизайн-система: общие правила интерфейса, которые машина умеет проверить сама</a:t>
            </a:r>
          </a:p>
        </p:txBody>
      </p:sp>
      <p:sp>
        <p:nvSpPr>
          <p:cNvPr id="3" name="Rounded Rectangle 2"/>
          <p:cNvSpPr/>
          <p:nvPr/>
        </p:nvSpPr>
        <p:spPr>
          <a:xfrm>
            <a:off x="502920" y="825525"/>
            <a:ext cx="1152144" cy="108345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08345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108345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900575"/>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Дизайн-система</a:t>
            </a:r>
            <a:r>
              <a:rPr sz="1150" b="0" i="0">
                <a:solidFill>
                  <a:srgbClr val="21295C"/>
                </a:solidFill>
                <a:latin typeface="DejaVu Sans"/>
              </a:rPr>
              <a:t> — общий свод правил интерфейса продукта и набор готовых деталей к нему: допустимые сочетания цветов, размеры кнопок и полей, вид элемента под курсором. Раньше это был документ для людей. Сейчас важнее другое: часть правил можно записать так, чтобы читала и проверяла их машина.</a:t>
            </a:r>
          </a:p>
        </p:txBody>
      </p:sp>
      <p:sp>
        <p:nvSpPr>
          <p:cNvPr id="7" name="Rounded Rectangle 6"/>
          <p:cNvSpPr/>
          <p:nvPr/>
        </p:nvSpPr>
        <p:spPr>
          <a:xfrm>
            <a:off x="502920" y="1972988"/>
            <a:ext cx="1152144" cy="219456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72988"/>
            <a:ext cx="1060704" cy="219456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72988"/>
            <a:ext cx="9902952" cy="219456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2064428"/>
            <a:ext cx="9537192" cy="237744"/>
          </a:xfrm>
          <a:prstGeom prst="rect">
            <a:avLst/>
          </a:prstGeom>
          <a:noFill/>
        </p:spPr>
        <p:txBody>
          <a:bodyPr wrap="square" lIns="0" rIns="0" tIns="0" bIns="0" anchor="t">
            <a:spAutoFit/>
          </a:bodyPr>
          <a:lstStyle/>
          <a:p>
            <a:pPr algn="l">
              <a:lnSpc>
                <a:spcPct val="105000"/>
              </a:lnSpc>
            </a:pPr>
            <a:r>
              <a:rPr sz="919" b="0" i="1">
                <a:solidFill>
                  <a:srgbClr val="5B6678"/>
                </a:solidFill>
                <a:latin typeface="DejaVu Sans"/>
              </a:rPr>
              <a:t>снизу вверх: каждый следующий слой сильнее предыдущего, и только верхний превращает пожелание в гарантию</a:t>
            </a:r>
          </a:p>
        </p:txBody>
      </p:sp>
      <p:sp>
        <p:nvSpPr>
          <p:cNvPr id="11" name="Rounded Rectangle 10"/>
          <p:cNvSpPr/>
          <p:nvPr/>
        </p:nvSpPr>
        <p:spPr>
          <a:xfrm>
            <a:off x="1984248" y="2338748"/>
            <a:ext cx="9537192" cy="603504"/>
          </a:xfrm>
          <a:prstGeom prst="roundRect">
            <a:avLst>
              <a:gd name="adj" fmla="val 22000"/>
            </a:avLst>
          </a:prstGeom>
          <a:solidFill>
            <a:srgbClr val="FFFFFF"/>
          </a:solidFill>
          <a:ln w="279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84248" y="2338748"/>
            <a:ext cx="2212848" cy="603504"/>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ield-check-white.png"/>
          <p:cNvPicPr>
            <a:picLocks noChangeAspect="1"/>
          </p:cNvPicPr>
          <p:nvPr/>
        </p:nvPicPr>
        <p:blipFill>
          <a:blip r:embed="rId2"/>
          <a:stretch>
            <a:fillRect/>
          </a:stretch>
        </p:blipFill>
        <p:spPr>
          <a:xfrm>
            <a:off x="2112264" y="2521628"/>
            <a:ext cx="237744" cy="237744"/>
          </a:xfrm>
          <a:prstGeom prst="rect">
            <a:avLst/>
          </a:prstGeom>
        </p:spPr>
      </p:pic>
      <p:sp>
        <p:nvSpPr>
          <p:cNvPr id="14" name="TextBox 13"/>
          <p:cNvSpPr txBox="1"/>
          <p:nvPr/>
        </p:nvSpPr>
        <p:spPr>
          <a:xfrm>
            <a:off x="2423160" y="2338748"/>
            <a:ext cx="1719072" cy="60350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3. ПРОВЕРКА,</a:t>
            </a:r>
          </a:p>
          <a:p>
            <a:pPr algn="l">
              <a:lnSpc>
                <a:spcPct val="102000"/>
              </a:lnSpc>
            </a:pPr>
            <a:r>
              <a:rPr sz="919" b="1" i="0">
                <a:solidFill>
                  <a:srgbClr val="FFFFFF"/>
                </a:solidFill>
                <a:latin typeface="DejaVu Sans"/>
              </a:rPr>
              <a:t>ОСТАНАВЛИВАЮЩАЯ ВЫПУСК</a:t>
            </a:r>
          </a:p>
        </p:txBody>
      </p:sp>
      <p:sp>
        <p:nvSpPr>
          <p:cNvPr id="15" name="TextBox 14"/>
          <p:cNvSpPr txBox="1"/>
          <p:nvPr/>
        </p:nvSpPr>
        <p:spPr>
          <a:xfrm>
            <a:off x="4325112" y="2375324"/>
            <a:ext cx="7086600" cy="53035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Правило проверяют автоматически на каждом сгенерированном экране, и нарушение блокируют без обсуждения. </a:t>
            </a:r>
            <a:r>
              <a:rPr sz="1019" b="1" i="0">
                <a:solidFill>
                  <a:srgbClr val="065A82"/>
                </a:solidFill>
                <a:latin typeface="DejaVu Sans"/>
              </a:rPr>
              <a:t>Гарантию даёт только этот слой.</a:t>
            </a:r>
          </a:p>
        </p:txBody>
      </p:sp>
      <p:sp>
        <p:nvSpPr>
          <p:cNvPr id="16" name="Rounded Rectangle 15"/>
          <p:cNvSpPr/>
          <p:nvPr/>
        </p:nvSpPr>
        <p:spPr>
          <a:xfrm>
            <a:off x="1984248" y="2997116"/>
            <a:ext cx="8392728" cy="512064"/>
          </a:xfrm>
          <a:prstGeom prst="roundRect">
            <a:avLst>
              <a:gd name="adj" fmla="val 22000"/>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984248" y="2997116"/>
            <a:ext cx="2212848" cy="512064"/>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mponent-white.png"/>
          <p:cNvPicPr>
            <a:picLocks noChangeAspect="1"/>
          </p:cNvPicPr>
          <p:nvPr/>
        </p:nvPicPr>
        <p:blipFill>
          <a:blip r:embed="rId3"/>
          <a:stretch>
            <a:fillRect/>
          </a:stretch>
        </p:blipFill>
        <p:spPr>
          <a:xfrm>
            <a:off x="2112264" y="3134276"/>
            <a:ext cx="237744" cy="237744"/>
          </a:xfrm>
          <a:prstGeom prst="rect">
            <a:avLst/>
          </a:prstGeom>
        </p:spPr>
      </p:pic>
      <p:sp>
        <p:nvSpPr>
          <p:cNvPr id="19" name="TextBox 18"/>
          <p:cNvSpPr txBox="1"/>
          <p:nvPr/>
        </p:nvSpPr>
        <p:spPr>
          <a:xfrm>
            <a:off x="2423160" y="2997116"/>
            <a:ext cx="1719072" cy="51206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2. СВОИ ДЕТАЛИ</a:t>
            </a:r>
          </a:p>
          <a:p>
            <a:pPr algn="l">
              <a:lnSpc>
                <a:spcPct val="102000"/>
              </a:lnSpc>
            </a:pPr>
            <a:r>
              <a:rPr sz="919" b="1" i="0">
                <a:solidFill>
                  <a:srgbClr val="FFFFFF"/>
                </a:solidFill>
                <a:latin typeface="DejaVu Sans"/>
              </a:rPr>
              <a:t>ВМЕСТО ЗАГОТОВОК</a:t>
            </a:r>
          </a:p>
        </p:txBody>
      </p:sp>
      <p:sp>
        <p:nvSpPr>
          <p:cNvPr id="20" name="TextBox 19"/>
          <p:cNvSpPr txBox="1"/>
          <p:nvPr/>
        </p:nvSpPr>
        <p:spPr>
          <a:xfrm>
            <a:off x="4325112" y="3033692"/>
            <a:ext cx="5942136" cy="43891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Генератору дают собственные детали команды. Это </a:t>
            </a:r>
            <a:r>
              <a:rPr sz="1019" b="1" i="0">
                <a:solidFill>
                  <a:srgbClr val="065A82"/>
                </a:solidFill>
                <a:latin typeface="DejaVu Sans"/>
              </a:rPr>
              <a:t>снижает вероятность нарушения, но ничего не гарантирует.</a:t>
            </a:r>
          </a:p>
        </p:txBody>
      </p:sp>
      <p:sp>
        <p:nvSpPr>
          <p:cNvPr id="21" name="Rounded Rectangle 20"/>
          <p:cNvSpPr/>
          <p:nvPr/>
        </p:nvSpPr>
        <p:spPr>
          <a:xfrm>
            <a:off x="1984248" y="3564044"/>
            <a:ext cx="7248265" cy="512064"/>
          </a:xfrm>
          <a:prstGeom prst="roundRect">
            <a:avLst>
              <a:gd name="adj" fmla="val 2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984248" y="3564044"/>
            <a:ext cx="2212848" cy="512064"/>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alette-white.png"/>
          <p:cNvPicPr>
            <a:picLocks noChangeAspect="1"/>
          </p:cNvPicPr>
          <p:nvPr/>
        </p:nvPicPr>
        <p:blipFill>
          <a:blip r:embed="rId4"/>
          <a:stretch>
            <a:fillRect/>
          </a:stretch>
        </p:blipFill>
        <p:spPr>
          <a:xfrm>
            <a:off x="2112264" y="3701204"/>
            <a:ext cx="237744" cy="237744"/>
          </a:xfrm>
          <a:prstGeom prst="rect">
            <a:avLst/>
          </a:prstGeom>
        </p:spPr>
      </p:pic>
      <p:sp>
        <p:nvSpPr>
          <p:cNvPr id="24" name="TextBox 23"/>
          <p:cNvSpPr txBox="1"/>
          <p:nvPr/>
        </p:nvSpPr>
        <p:spPr>
          <a:xfrm>
            <a:off x="2423160" y="3564044"/>
            <a:ext cx="1719072" cy="51206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1. ПРАВИЛА,</a:t>
            </a:r>
          </a:p>
          <a:p>
            <a:pPr algn="l">
              <a:lnSpc>
                <a:spcPct val="102000"/>
              </a:lnSpc>
            </a:pPr>
            <a:r>
              <a:rPr sz="919" b="1" i="0">
                <a:solidFill>
                  <a:srgbClr val="FFFFFF"/>
                </a:solidFill>
                <a:latin typeface="DejaVu Sans"/>
              </a:rPr>
              <a:t>ЗАПИСАННЫЕ ЧИСЛАМИ</a:t>
            </a:r>
          </a:p>
        </p:txBody>
      </p:sp>
      <p:sp>
        <p:nvSpPr>
          <p:cNvPr id="25" name="TextBox 24"/>
          <p:cNvSpPr txBox="1"/>
          <p:nvPr/>
        </p:nvSpPr>
        <p:spPr>
          <a:xfrm>
            <a:off x="4325112" y="3600620"/>
            <a:ext cx="4797673" cy="43891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Пока правило живёт в картинке макета, проверить его может только человек и только глазами.</a:t>
            </a:r>
          </a:p>
        </p:txBody>
      </p:sp>
      <p:sp>
        <p:nvSpPr>
          <p:cNvPr id="26" name="Rounded Rectangle 25"/>
          <p:cNvSpPr/>
          <p:nvPr/>
        </p:nvSpPr>
        <p:spPr>
          <a:xfrm>
            <a:off x="502920" y="4231556"/>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231556"/>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8" name="Rounded Rectangle 27"/>
          <p:cNvSpPr/>
          <p:nvPr/>
        </p:nvSpPr>
        <p:spPr>
          <a:xfrm>
            <a:off x="1801368" y="4231556"/>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984248" y="4322996"/>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84831" y="436871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свод правил для людей</a:t>
            </a:r>
          </a:p>
        </p:txBody>
      </p:sp>
      <p:sp>
        <p:nvSpPr>
          <p:cNvPr id="31" name="TextBox 30"/>
          <p:cNvSpPr txBox="1"/>
          <p:nvPr/>
        </p:nvSpPr>
        <p:spPr>
          <a:xfrm>
            <a:off x="2084831" y="459731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Проверяет его дизайнер глазами: набор правил держит продукт единообразным.</a:t>
            </a:r>
          </a:p>
        </p:txBody>
      </p:sp>
      <p:sp>
        <p:nvSpPr>
          <p:cNvPr id="32" name="Rounded Rectangle 31"/>
          <p:cNvSpPr/>
          <p:nvPr/>
        </p:nvSpPr>
        <p:spPr>
          <a:xfrm>
            <a:off x="6844284" y="4322996"/>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4868" y="436871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зачем правила стали машинными</a:t>
            </a:r>
          </a:p>
        </p:txBody>
      </p:sp>
      <p:sp>
        <p:nvSpPr>
          <p:cNvPr id="34" name="TextBox 33"/>
          <p:cNvSpPr txBox="1"/>
          <p:nvPr/>
        </p:nvSpPr>
        <p:spPr>
          <a:xfrm>
            <a:off x="6944868" y="459731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Генератор выдаёт экраны быстрее, чем их успевает смотреть человек. Машинная проверка </a:t>
            </a:r>
            <a:r>
              <a:rPr sz="950" b="1" i="0">
                <a:solidFill>
                  <a:srgbClr val="21295C"/>
                </a:solidFill>
                <a:latin typeface="DejaVu Sans"/>
              </a:rPr>
              <a:t>растёт вместе с генерацией</a:t>
            </a:r>
            <a:r>
              <a:rPr sz="950" b="0" i="0">
                <a:solidFill>
                  <a:srgbClr val="21295C"/>
                </a:solidFill>
                <a:latin typeface="DejaVu Sans"/>
              </a:rPr>
              <a:t>.</a:t>
            </a:r>
          </a:p>
        </p:txBody>
      </p:sp>
      <p:sp>
        <p:nvSpPr>
          <p:cNvPr id="35" name="Rounded Rectangle 34"/>
          <p:cNvSpPr/>
          <p:nvPr/>
        </p:nvSpPr>
        <p:spPr>
          <a:xfrm>
            <a:off x="502920" y="5369584"/>
            <a:ext cx="1152144" cy="98411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369584"/>
            <a:ext cx="1060704" cy="98411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7" name="Rounded Rectangle 36"/>
          <p:cNvSpPr/>
          <p:nvPr/>
        </p:nvSpPr>
        <p:spPr>
          <a:xfrm>
            <a:off x="1801368" y="5369584"/>
            <a:ext cx="9902952" cy="984117"/>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84248" y="5461024"/>
            <a:ext cx="9537192" cy="801237"/>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Машина проверяет только то, что выражается числом. «Понятно ли это живому человеку» остаётся человеку: экран может пройти все проверки и остаться непонятным. И отдельно: </a:t>
            </a:r>
            <a:r>
              <a:rPr sz="1000" b="1" i="0">
                <a:solidFill>
                  <a:srgbClr val="21295C"/>
                </a:solidFill>
                <a:latin typeface="DejaVu Sans"/>
              </a:rPr>
              <a:t>просьба к генератору механизмом контроля не является</a:t>
            </a:r>
            <a:r>
              <a:rPr sz="1000" b="1" i="0">
                <a:solidFill>
                  <a:srgbClr val="21295C"/>
                </a:solidFill>
                <a:latin typeface="DejaVu Sans"/>
              </a:rPr>
              <a:t> — механизм — это правило, которое умеет остановить выпуск. Эта проверка смотрит на экран: поведение системы во времени числом не выражается и ею не покрывается.</a:t>
            </a:r>
          </a:p>
        </p:txBody>
      </p:sp>
      <p:sp>
        <p:nvSpPr>
          <p:cNvPr id="39" name="TextBox 3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Сгенерированные интерфейсы прошли 29% проверок доступности: решает платформа, и переписать запрос не помогает</a:t>
            </a:r>
          </a:p>
        </p:txBody>
      </p:sp>
      <p:sp>
        <p:nvSpPr>
          <p:cNvPr id="3" name="Rounded Rectangle 2"/>
          <p:cNvSpPr/>
          <p:nvPr/>
        </p:nvSpPr>
        <p:spPr>
          <a:xfrm>
            <a:off x="502920" y="1042415"/>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34440" y="1170432"/>
            <a:ext cx="2514600" cy="2514600"/>
          </a:xfrm>
          <a:prstGeom prst="rect">
            <a:avLst/>
          </a:prstGeom>
        </p:spPr>
      </p:pic>
      <p:sp>
        <p:nvSpPr>
          <p:cNvPr id="5" name="Rounded Rectangle 4"/>
          <p:cNvSpPr/>
          <p:nvPr/>
        </p:nvSpPr>
        <p:spPr>
          <a:xfrm>
            <a:off x="4663440" y="1042415"/>
            <a:ext cx="7040880" cy="1572768"/>
          </a:xfrm>
          <a:prstGeom prst="roundRect">
            <a:avLst>
              <a:gd name="adj" fmla="val 1937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73752" y="1106424"/>
            <a:ext cx="662940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именно проверяли</a:t>
            </a:r>
          </a:p>
        </p:txBody>
      </p:sp>
      <p:sp>
        <p:nvSpPr>
          <p:cNvPr id="7" name="TextBox 6"/>
          <p:cNvSpPr txBox="1"/>
          <p:nvPr/>
        </p:nvSpPr>
        <p:spPr>
          <a:xfrm>
            <a:off x="4873752" y="1389888"/>
            <a:ext cx="6629400" cy="1152144"/>
          </a:xfrm>
          <a:prstGeom prst="rect">
            <a:avLst/>
          </a:prstGeom>
          <a:noFill/>
        </p:spPr>
        <p:txBody>
          <a:bodyPr wrap="square" lIns="0" rIns="0" tIns="0" bIns="0" anchor="t">
            <a:spAutoFit/>
          </a:bodyPr>
          <a:lstStyle/>
          <a:p>
            <a:pPr algn="l">
              <a:lnSpc>
                <a:spcPct val="115000"/>
              </a:lnSpc>
            </a:pPr>
            <a:r>
              <a:rPr sz="1050" b="1" i="0">
                <a:solidFill>
                  <a:srgbClr val="21295C"/>
                </a:solidFill>
                <a:latin typeface="DejaVu Sans"/>
              </a:rPr>
              <a:t>WCAG (Web Content Accessibility Guidelines, «правила доступности веб-содержимого») </a:t>
            </a:r>
            <a:r>
              <a:rPr sz="1050" b="0" i="0">
                <a:solidFill>
                  <a:srgbClr val="21295C"/>
                </a:solidFill>
                <a:latin typeface="DejaVu Sans"/>
              </a:rPr>
              <a:t>— международный свод требований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21 880 таких проверок на экранах, сгенерированных инструментами с прошлого слайда: пройдено 29,0%. Хуже всего — самое простое и машинно-проверяемое: контраст 26,8%, использование цвета 19,2%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a:t>
            </a:r>
          </a:p>
        </p:txBody>
      </p:sp>
      <p:sp>
        <p:nvSpPr>
          <p:cNvPr id="8" name="Rounded Rectangle 7"/>
          <p:cNvSpPr/>
          <p:nvPr/>
        </p:nvSpPr>
        <p:spPr>
          <a:xfrm>
            <a:off x="4663440" y="2706624"/>
            <a:ext cx="7040880" cy="112471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73752" y="2770632"/>
            <a:ext cx="662940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Что определило итог</a:t>
            </a:r>
          </a:p>
        </p:txBody>
      </p:sp>
      <p:sp>
        <p:nvSpPr>
          <p:cNvPr id="10" name="TextBox 9"/>
          <p:cNvSpPr txBox="1"/>
          <p:nvPr/>
        </p:nvSpPr>
        <p:spPr>
          <a:xfrm>
            <a:off x="4873752" y="3044952"/>
            <a:ext cx="6629400" cy="713232"/>
          </a:xfrm>
          <a:prstGeom prst="rect">
            <a:avLst/>
          </a:prstGeom>
          <a:noFill/>
        </p:spPr>
        <p:txBody>
          <a:bodyPr wrap="square" lIns="0" rIns="0" tIns="0" bIns="0" anchor="t">
            <a:spAutoFit/>
          </a:bodyPr>
          <a:lstStyle/>
          <a:p>
            <a:pPr algn="l">
              <a:lnSpc>
                <a:spcPct val="115000"/>
              </a:lnSpc>
            </a:pPr>
            <a:r>
              <a:rPr sz="1050" b="0" i="0">
                <a:solidFill>
                  <a:srgbClr val="21295C"/>
                </a:solidFill>
                <a:latin typeface="DejaVu Sans"/>
              </a:rPr>
              <a:t>На итог сильнее влияли настройки самой платформы, чем текст запроса. Значит, оправдание «надо было правильно попросить» не работает: переписывание формулировки доступным результат не делает.</a:t>
            </a:r>
          </a:p>
        </p:txBody>
      </p:sp>
      <p:sp>
        <p:nvSpPr>
          <p:cNvPr id="11" name="TextBox 10"/>
          <p:cNvSpPr txBox="1"/>
          <p:nvPr/>
        </p:nvSpPr>
        <p:spPr>
          <a:xfrm>
            <a:off x="502920" y="3913632"/>
            <a:ext cx="11201400" cy="256032"/>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Какие именно две из десяти эвристик Нильсена ломаются на продукте с языковой моделью</a:t>
            </a:r>
          </a:p>
        </p:txBody>
      </p:sp>
      <p:sp>
        <p:nvSpPr>
          <p:cNvPr id="12" name="Rounded Rectangle 11"/>
          <p:cNvSpPr/>
          <p:nvPr/>
        </p:nvSpPr>
        <p:spPr>
          <a:xfrm>
            <a:off x="502920" y="4169663"/>
            <a:ext cx="5486400" cy="1060704"/>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224528"/>
            <a:ext cx="5120640" cy="237744"/>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Эвристика 4 — единообразие и стандарты</a:t>
            </a:r>
          </a:p>
        </p:txBody>
      </p:sp>
      <p:sp>
        <p:nvSpPr>
          <p:cNvPr id="14" name="TextBox 13"/>
          <p:cNvSpPr txBox="1"/>
          <p:nvPr/>
        </p:nvSpPr>
        <p:spPr>
          <a:xfrm>
            <a:off x="685800" y="4480560"/>
            <a:ext cx="5120640" cy="69494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Классика исходит из того, что одинаковое действие даёт одинаковый результат. У языковой модели это не так: единообразие приходится переносить с точных слов на тон и поведение.</a:t>
            </a:r>
          </a:p>
        </p:txBody>
      </p:sp>
      <p:sp>
        <p:nvSpPr>
          <p:cNvPr id="15" name="Rounded Rectangle 14"/>
          <p:cNvSpPr/>
          <p:nvPr/>
        </p:nvSpPr>
        <p:spPr>
          <a:xfrm>
            <a:off x="6217920" y="4169663"/>
            <a:ext cx="5486400" cy="1060704"/>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224528"/>
            <a:ext cx="5120640" cy="237744"/>
          </a:xfrm>
          <a:prstGeom prst="rect">
            <a:avLst/>
          </a:prstGeom>
          <a:noFill/>
        </p:spPr>
        <p:txBody>
          <a:bodyPr wrap="square" lIns="0" rIns="0" tIns="0" bIns="0" anchor="t">
            <a:spAutoFit/>
          </a:bodyPr>
          <a:lstStyle/>
          <a:p>
            <a:pPr algn="l">
              <a:lnSpc>
                <a:spcPct val="100000"/>
              </a:lnSpc>
            </a:pPr>
            <a:r>
              <a:rPr sz="1150" b="1" i="0">
                <a:solidFill>
                  <a:srgbClr val="028090"/>
                </a:solidFill>
                <a:latin typeface="DejaVu Sans"/>
              </a:rPr>
              <a:t>Эвристика 9 — помощь в распознавании ошибки</a:t>
            </a:r>
          </a:p>
        </p:txBody>
      </p:sp>
      <p:sp>
        <p:nvSpPr>
          <p:cNvPr id="17" name="TextBox 16"/>
          <p:cNvSpPr txBox="1"/>
          <p:nvPr/>
        </p:nvSpPr>
        <p:spPr>
          <a:xfrm>
            <a:off x="6400800" y="4480560"/>
            <a:ext cx="5120640" cy="69494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Классика требует, чтобы система показывала, что пошло не так. Модель обычно не знает, что она неправа, и подаёт выдумку с той же уверенностью, что и факт.</a:t>
            </a:r>
          </a:p>
        </p:txBody>
      </p:sp>
      <p:sp>
        <p:nvSpPr>
          <p:cNvPr id="18" name="Rounded Rectangle 17"/>
          <p:cNvSpPr/>
          <p:nvPr/>
        </p:nvSpPr>
        <p:spPr>
          <a:xfrm>
            <a:off x="502920" y="5294376"/>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349240"/>
            <a:ext cx="10762488" cy="941831"/>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Отсюда три приёма подачи, которых в классике нет: система говорит о своей неуверенности от первого лица, вместо общей оговорки мелким шрифтом; человек стоит в контуре решения там, где у ошибки есть настоящая цена; и прямо сказано, что ответ сгенерирован. Все три — решения о поведении системы: на макете экрана их не видно.</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Web4All 2026 — «Generated Inaccessible»</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Отозваны все 2 031 220 машин с функцией помощи водителю: заметность элементов управления признали недостаточной</a:t>
            </a:r>
          </a:p>
        </p:txBody>
      </p:sp>
      <p:sp>
        <p:nvSpPr>
          <p:cNvPr id="3" name="Rounded Rectangle 2"/>
          <p:cNvSpPr/>
          <p:nvPr/>
        </p:nvSpPr>
        <p:spPr>
          <a:xfrm>
            <a:off x="502920" y="886968"/>
            <a:ext cx="11201400" cy="1737360"/>
          </a:xfrm>
          <a:prstGeom prst="roundRect">
            <a:avLst>
              <a:gd name="adj" fmla="val 17543"/>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225296"/>
            <a:ext cx="1847088" cy="768096"/>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9-tesla-real-source.png"/>
          <p:cNvPicPr>
            <a:picLocks noChangeAspect="1"/>
          </p:cNvPicPr>
          <p:nvPr/>
        </p:nvPicPr>
        <p:blipFill>
          <a:blip r:embed="rId2"/>
          <a:stretch>
            <a:fillRect/>
          </a:stretch>
        </p:blipFill>
        <p:spPr>
          <a:xfrm>
            <a:off x="731519" y="1500780"/>
            <a:ext cx="1664208" cy="217127"/>
          </a:xfrm>
          <a:prstGeom prst="rect">
            <a:avLst/>
          </a:prstGeom>
        </p:spPr>
      </p:pic>
      <p:sp>
        <p:nvSpPr>
          <p:cNvPr id="6" name="TextBox 5"/>
          <p:cNvSpPr txBox="1"/>
          <p:nvPr/>
        </p:nvSpPr>
        <p:spPr>
          <a:xfrm>
            <a:off x="640080" y="2048256"/>
            <a:ext cx="1847088" cy="402336"/>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функции помощи</a:t>
            </a:r>
          </a:p>
          <a:p>
            <a:pPr algn="ctr">
              <a:lnSpc>
                <a:spcPct val="105000"/>
              </a:lnSpc>
            </a:pPr>
            <a:r>
              <a:rPr sz="950" b="0" i="1">
                <a:solidFill>
                  <a:srgbClr val="5B6678"/>
                </a:solidFill>
                <a:latin typeface="DejaVu Sans"/>
              </a:rPr>
              <a:t>водителю</a:t>
            </a:r>
          </a:p>
        </p:txBody>
      </p:sp>
      <p:sp>
        <p:nvSpPr>
          <p:cNvPr id="7" name="TextBox 6"/>
          <p:cNvSpPr txBox="1"/>
          <p:nvPr/>
        </p:nvSpPr>
        <p:spPr>
          <a:xfrm>
            <a:off x="2688336" y="941832"/>
            <a:ext cx="8814816"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за случай</a:t>
            </a:r>
          </a:p>
        </p:txBody>
      </p:sp>
      <p:sp>
        <p:nvSpPr>
          <p:cNvPr id="8" name="TextBox 7"/>
          <p:cNvSpPr txBox="1"/>
          <p:nvPr/>
        </p:nvSpPr>
        <p:spPr>
          <a:xfrm>
            <a:off x="2688336" y="1197864"/>
            <a:ext cx="8814816" cy="1371600"/>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Autopilot </a:t>
            </a:r>
            <a:r>
              <a:rPr sz="1050" b="0" i="0">
                <a:solidFill>
                  <a:srgbClr val="21295C"/>
                </a:solidFill>
                <a:latin typeface="DejaVu Sans"/>
              </a:rPr>
              <a:t>— набор функций помощи водителю в машинах Tesla: держит полосу, скорость и дистанцию, пока человек следит за дорогой и держит руки на руле.</a:t>
            </a:r>
          </a:p>
          <a:p>
            <a:pPr algn="l">
              <a:lnSpc>
                <a:spcPct val="114000"/>
              </a:lnSpc>
              <a:spcBef>
                <a:spcPts val="400"/>
              </a:spcBef>
            </a:pPr>
            <a:r>
              <a:rPr sz="1050" b="0" i="0">
                <a:solidFill>
                  <a:srgbClr val="21295C"/>
                </a:solidFill>
                <a:latin typeface="DejaVu Sans"/>
              </a:rPr>
              <a:t>13 августа 2021 года Национальное управление безопасности дорожного движения США (NHTSA) открыло расследование: машины с включённым Autopilot врезались в стоящие на дороге автомобили спецслужб. 12 декабря 2023 года Tesla отозвала все 2 031 220 машин с этой функцией — весь парк, выпущенный с 2012 года. В отчёте о дефекте компания записала: заметность и охват элементов управления системы могут быть недостаточны, чтобы предотвратить неверное применение водителем.</a:t>
            </a:r>
          </a:p>
        </p:txBody>
      </p:sp>
      <p:sp>
        <p:nvSpPr>
          <p:cNvPr id="9" name="Rounded Rectangle 8"/>
          <p:cNvSpPr/>
          <p:nvPr/>
        </p:nvSpPr>
        <p:spPr>
          <a:xfrm>
            <a:off x="502920" y="2679192"/>
            <a:ext cx="11201400" cy="658368"/>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316736"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Расследование</a:t>
            </a:r>
          </a:p>
          <a:p>
            <a:pPr algn="ctr">
              <a:lnSpc>
                <a:spcPct val="95000"/>
              </a:lnSpc>
            </a:pPr>
            <a:r>
              <a:rPr sz="850" b="1" i="0">
                <a:solidFill>
                  <a:srgbClr val="21295C"/>
                </a:solidFill>
                <a:latin typeface="DejaVu Sans"/>
              </a:rPr>
              <a:t>08.2021</a:t>
            </a:r>
          </a:p>
        </p:txBody>
      </p:sp>
      <p:cxnSp>
        <p:nvCxnSpPr>
          <p:cNvPr id="12" name="Connector 11"/>
          <p:cNvCxnSpPr/>
          <p:nvPr/>
        </p:nvCxnSpPr>
        <p:spPr>
          <a:xfrm>
            <a:off x="1517904" y="2889504"/>
            <a:ext cx="2084832"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602736" y="2788920"/>
            <a:ext cx="201168" cy="201168"/>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176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Отзыв 2 031 220 машин</a:t>
            </a:r>
          </a:p>
          <a:p>
            <a:pPr algn="ctr">
              <a:lnSpc>
                <a:spcPct val="95000"/>
              </a:lnSpc>
            </a:pPr>
            <a:r>
              <a:rPr sz="850" b="1" i="0">
                <a:solidFill>
                  <a:srgbClr val="21295C"/>
                </a:solidFill>
                <a:latin typeface="DejaVu Sans"/>
              </a:rPr>
              <a:t>12.12.2023</a:t>
            </a:r>
          </a:p>
        </p:txBody>
      </p:sp>
      <p:cxnSp>
        <p:nvCxnSpPr>
          <p:cNvPr id="15" name="Connector 14"/>
          <p:cNvCxnSpPr/>
          <p:nvPr/>
        </p:nvCxnSpPr>
        <p:spPr>
          <a:xfrm>
            <a:off x="3803904" y="2889504"/>
            <a:ext cx="213055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934455"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79"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Обновление по воздуху</a:t>
            </a:r>
          </a:p>
          <a:p>
            <a:pPr algn="ctr">
              <a:lnSpc>
                <a:spcPct val="95000"/>
              </a:lnSpc>
            </a:pPr>
            <a:r>
              <a:rPr sz="850" b="1" i="0">
                <a:solidFill>
                  <a:srgbClr val="21295C"/>
                </a:solidFill>
                <a:latin typeface="DejaVu Sans"/>
              </a:rPr>
              <a:t>12.2023</a:t>
            </a:r>
          </a:p>
        </p:txBody>
      </p:sp>
      <p:cxnSp>
        <p:nvCxnSpPr>
          <p:cNvPr id="18" name="Connector 17"/>
          <p:cNvCxnSpPr/>
          <p:nvPr/>
        </p:nvCxnSpPr>
        <p:spPr>
          <a:xfrm>
            <a:off x="6135624" y="2889504"/>
            <a:ext cx="2130552"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266176"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Проверка устранения</a:t>
            </a:r>
          </a:p>
          <a:p>
            <a:pPr algn="ctr">
              <a:lnSpc>
                <a:spcPct val="95000"/>
              </a:lnSpc>
            </a:pPr>
            <a:r>
              <a:rPr sz="850" b="1" i="0">
                <a:solidFill>
                  <a:srgbClr val="21295C"/>
                </a:solidFill>
                <a:latin typeface="DejaVu Sans"/>
              </a:rPr>
              <a:t>25.04.2024</a:t>
            </a:r>
          </a:p>
        </p:txBody>
      </p:sp>
      <p:cxnSp>
        <p:nvCxnSpPr>
          <p:cNvPr id="21" name="Connector 20"/>
          <p:cNvCxnSpPr/>
          <p:nvPr/>
        </p:nvCxnSpPr>
        <p:spPr>
          <a:xfrm>
            <a:off x="8467344" y="2889504"/>
            <a:ext cx="2084832"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0552176"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≥20 аварий</a:t>
            </a:r>
          </a:p>
          <a:p>
            <a:pPr algn="ctr">
              <a:lnSpc>
                <a:spcPct val="95000"/>
              </a:lnSpc>
            </a:pPr>
            <a:r>
              <a:rPr sz="850" b="1" i="0">
                <a:solidFill>
                  <a:srgbClr val="21295C"/>
                </a:solidFill>
                <a:latin typeface="DejaVu Sans"/>
              </a:rPr>
              <a:t>после обновления</a:t>
            </a:r>
          </a:p>
        </p:txBody>
      </p:sp>
      <p:sp>
        <p:nvSpPr>
          <p:cNvPr id="24" name="Rounded Rectangle 23"/>
          <p:cNvSpPr/>
          <p:nvPr/>
        </p:nvSpPr>
        <p:spPr>
          <a:xfrm>
            <a:off x="502920" y="3392424"/>
            <a:ext cx="5532120" cy="1444752"/>
          </a:xfrm>
          <a:prstGeom prst="roundRect">
            <a:avLst>
              <a:gd name="adj" fmla="val 2109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off-mid.png"/>
          <p:cNvPicPr>
            <a:picLocks noChangeAspect="1"/>
          </p:cNvPicPr>
          <p:nvPr/>
        </p:nvPicPr>
        <p:blipFill>
          <a:blip r:embed="rId3"/>
          <a:stretch>
            <a:fillRect/>
          </a:stretch>
        </p:blipFill>
        <p:spPr>
          <a:xfrm>
            <a:off x="704088" y="3493008"/>
            <a:ext cx="292608" cy="292608"/>
          </a:xfrm>
          <a:prstGeom prst="rect">
            <a:avLst/>
          </a:prstGeom>
        </p:spPr>
      </p:pic>
      <p:sp>
        <p:nvSpPr>
          <p:cNvPr id="26" name="TextBox 25"/>
          <p:cNvSpPr txBox="1"/>
          <p:nvPr/>
        </p:nvSpPr>
        <p:spPr>
          <a:xfrm>
            <a:off x="1088136" y="3493008"/>
            <a:ext cx="4727448" cy="2743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Что сломалось</a:t>
            </a:r>
          </a:p>
        </p:txBody>
      </p:sp>
      <p:sp>
        <p:nvSpPr>
          <p:cNvPr id="27" name="TextBox 26"/>
          <p:cNvSpPr txBox="1"/>
          <p:nvPr/>
        </p:nvSpPr>
        <p:spPr>
          <a:xfrm>
            <a:off x="704088" y="3803904"/>
            <a:ext cx="5129783" cy="950976"/>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За время расследования, с августа 2021 по декабрь 2023 года, набралось не менее 13 аварий с погибшими, где свою роль сыграло предсказуемое неверное применение.</a:t>
            </a:r>
          </a:p>
          <a:p>
            <a:pPr algn="l">
              <a:lnSpc>
                <a:spcPct val="112000"/>
              </a:lnSpc>
              <a:spcBef>
                <a:spcPts val="400"/>
              </a:spcBef>
            </a:pPr>
            <a:r>
              <a:rPr sz="1000" b="0" i="0">
                <a:solidFill>
                  <a:srgbClr val="21295C"/>
                </a:solidFill>
                <a:latin typeface="DejaVu Sans"/>
              </a:rPr>
              <a:t>Картина системы в голове водителя расходилась с тем, что система делала. Имя этой ошибки — </a:t>
            </a:r>
            <a:r>
              <a:rPr sz="1000" b="1" i="0">
                <a:solidFill>
                  <a:srgbClr val="065A82"/>
                </a:solidFill>
                <a:latin typeface="DejaVu Sans"/>
              </a:rPr>
              <a:t>путаница режимов</a:t>
            </a:r>
            <a:r>
              <a:rPr sz="1000" b="0" i="0">
                <a:solidFill>
                  <a:srgbClr val="21295C"/>
                </a:solidFill>
                <a:latin typeface="DejaVu Sans"/>
              </a:rPr>
              <a:t>.</a:t>
            </a:r>
          </a:p>
        </p:txBody>
      </p:sp>
      <p:sp>
        <p:nvSpPr>
          <p:cNvPr id="28" name="Rounded Rectangle 27"/>
          <p:cNvSpPr/>
          <p:nvPr/>
        </p:nvSpPr>
        <p:spPr>
          <a:xfrm>
            <a:off x="6172200" y="3392424"/>
            <a:ext cx="5532120" cy="1444752"/>
          </a:xfrm>
          <a:prstGeom prst="roundRect">
            <a:avLst>
              <a:gd name="adj" fmla="val 2109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layers-teal.png"/>
          <p:cNvPicPr>
            <a:picLocks noChangeAspect="1"/>
          </p:cNvPicPr>
          <p:nvPr/>
        </p:nvPicPr>
        <p:blipFill>
          <a:blip r:embed="rId4"/>
          <a:stretch>
            <a:fillRect/>
          </a:stretch>
        </p:blipFill>
        <p:spPr>
          <a:xfrm>
            <a:off x="6373368" y="3493008"/>
            <a:ext cx="292608" cy="292608"/>
          </a:xfrm>
          <a:prstGeom prst="rect">
            <a:avLst/>
          </a:prstGeom>
        </p:spPr>
      </p:pic>
      <p:sp>
        <p:nvSpPr>
          <p:cNvPr id="30" name="TextBox 29"/>
          <p:cNvSpPr txBox="1"/>
          <p:nvPr/>
        </p:nvSpPr>
        <p:spPr>
          <a:xfrm>
            <a:off x="6757416" y="3493008"/>
            <a:ext cx="4727448" cy="274320"/>
          </a:xfrm>
          <a:prstGeom prst="rect">
            <a:avLst/>
          </a:prstGeom>
          <a:noFill/>
        </p:spPr>
        <p:txBody>
          <a:bodyPr wrap="square" lIns="0" rIns="0" tIns="0" bIns="0" anchor="t">
            <a:spAutoFit/>
          </a:bodyPr>
          <a:lstStyle/>
          <a:p>
            <a:pPr algn="l">
              <a:lnSpc>
                <a:spcPct val="100000"/>
              </a:lnSpc>
            </a:pPr>
            <a:r>
              <a:rPr sz="1150" b="1" i="0">
                <a:solidFill>
                  <a:srgbClr val="028090"/>
                </a:solidFill>
                <a:latin typeface="DejaVu Sans"/>
              </a:rPr>
              <a:t>Почему это решение фазы дизайна</a:t>
            </a:r>
          </a:p>
        </p:txBody>
      </p:sp>
      <p:sp>
        <p:nvSpPr>
          <p:cNvPr id="31" name="TextBox 30"/>
          <p:cNvSpPr txBox="1"/>
          <p:nvPr/>
        </p:nvSpPr>
        <p:spPr>
          <a:xfrm>
            <a:off x="6373368" y="3803904"/>
            <a:ext cx="5129783" cy="950976"/>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Отзыв не затронул ни одной строки модели вождения. Исправляли то, как система себя предъявляет: заметность предупреждений, частоту проверок внимания, порог, за которым функция отключается.</a:t>
            </a:r>
          </a:p>
          <a:p>
            <a:pPr algn="l">
              <a:lnSpc>
                <a:spcPct val="112000"/>
              </a:lnSpc>
              <a:spcBef>
                <a:spcPts val="400"/>
              </a:spcBef>
            </a:pPr>
            <a:r>
              <a:rPr sz="1000" b="0" i="0">
                <a:solidFill>
                  <a:srgbClr val="21295C"/>
                </a:solidFill>
                <a:latin typeface="DejaVu Sans"/>
              </a:rPr>
              <a:t>Имя «Autopilot» — решение того же слоя: оно задаёт картину раньше первого предупреждения.</a:t>
            </a:r>
          </a:p>
        </p:txBody>
      </p:sp>
      <p:sp>
        <p:nvSpPr>
          <p:cNvPr id="32" name="Rounded Rectangle 31"/>
          <p:cNvSpPr/>
          <p:nvPr/>
        </p:nvSpPr>
        <p:spPr>
          <a:xfrm>
            <a:off x="502920" y="4892040"/>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4946903"/>
            <a:ext cx="10762488"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Корень — решение о том, как система предъявляет себя человеку: что сообщает, насколько настойчиво и когда отказывается продолжать. От расследования до отзыва прошло два года и четыре месяца, и всё это время парк ездил с заданной ему картиной. Проверкой модели такую ошибку не поймать.</a:t>
            </a:r>
          </a:p>
        </p:txBody>
      </p:sp>
      <p:sp>
        <p:nvSpPr>
          <p:cNvPr id="34" name="Rounded Rectangle 33"/>
          <p:cNvSpPr/>
          <p:nvPr/>
        </p:nvSpPr>
        <p:spPr>
          <a:xfrm>
            <a:off x="502920" y="5696712"/>
            <a:ext cx="11201400" cy="69494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2376" y="5751576"/>
            <a:ext cx="10762488" cy="585216"/>
          </a:xfrm>
          <a:prstGeom prst="rect">
            <a:avLst/>
          </a:prstGeom>
          <a:noFill/>
        </p:spPr>
        <p:txBody>
          <a:bodyPr wrap="square" lIns="0" rIns="0" tIns="0" bIns="0" anchor="ctr">
            <a:spAutoFit/>
          </a:bodyPr>
          <a:lstStyle/>
          <a:p>
            <a:pPr algn="l">
              <a:lnSpc>
                <a:spcPct val="118000"/>
              </a:lnSpc>
            </a:pPr>
            <a:r>
              <a:rPr sz="1050" b="0" i="0">
                <a:solidFill>
                  <a:srgbClr val="21295C"/>
                </a:solidFill>
                <a:latin typeface="DejaVu Sans"/>
              </a:rPr>
              <a:t>Проверку устранения ведомство открыло 25 апреля 2024 года: за первые четыре месяца набралось не менее 20 аварий с предполагаемым участием системы, а часть мер водитель включает своим согласием и так же отключает. Мера, которую человек может выключить, остаётся просьбой — механизмом её делает способность остановить действие.</a:t>
            </a:r>
          </a:p>
        </p:txBody>
      </p:sp>
      <p:sp>
        <p:nvSpPr>
          <p:cNvPr id="36" name="TextBox 3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NHTSA — отчёт об отзыве 23V-838 (12 дек. 2023)</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NHTSA — закрытие расследования EA22-002</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NHTSA — проверка устранения RQ24-009 (25 апр. 2024)</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довести продукт до пользователя, пока ошибка ещё обратима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3 приёма · 2 разобранных случая</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дисциплины запуска у сбоя два исхода, и оба плохие: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Задача фазы — довести продукт до пользователя так, чтобы ошибка осталась обратимой</a:t>
            </a:r>
          </a:p>
        </p:txBody>
      </p:sp>
      <p:sp>
        <p:nvSpPr>
          <p:cNvPr id="3" name="Rounded Rectangle 2"/>
          <p:cNvSpPr/>
          <p:nvPr/>
        </p:nvSpPr>
        <p:spPr>
          <a:xfrm>
            <a:off x="502920" y="932688"/>
            <a:ext cx="1120140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mid.png"/>
          <p:cNvPicPr>
            <a:picLocks noChangeAspect="1"/>
          </p:cNvPicPr>
          <p:nvPr/>
        </p:nvPicPr>
        <p:blipFill>
          <a:blip r:embed="rId2"/>
          <a:stretch>
            <a:fillRect/>
          </a:stretch>
        </p:blipFill>
        <p:spPr>
          <a:xfrm>
            <a:off x="713232" y="1115568"/>
            <a:ext cx="384048" cy="384048"/>
          </a:xfrm>
          <a:prstGeom prst="rect">
            <a:avLst/>
          </a:prstGeom>
        </p:spPr>
      </p:pic>
      <p:sp>
        <p:nvSpPr>
          <p:cNvPr id="5" name="TextBox 4"/>
          <p:cNvSpPr txBox="1"/>
          <p:nvPr/>
        </p:nvSpPr>
        <p:spPr>
          <a:xfrm>
            <a:off x="1225296" y="1005840"/>
            <a:ext cx="1024128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ЗАЧЕМ ЭТА РАБОТА</a:t>
            </a:r>
          </a:p>
        </p:txBody>
      </p:sp>
      <p:sp>
        <p:nvSpPr>
          <p:cNvPr id="6" name="TextBox 5"/>
          <p:cNvSpPr txBox="1"/>
          <p:nvPr/>
        </p:nvSpPr>
        <p:spPr>
          <a:xfrm>
            <a:off x="1225296" y="1280160"/>
            <a:ext cx="10277856" cy="749808"/>
          </a:xfrm>
          <a:prstGeom prst="rect">
            <a:avLst/>
          </a:prstGeom>
          <a:noFill/>
        </p:spPr>
        <p:txBody>
          <a:bodyPr wrap="square" lIns="0" rIns="0" tIns="0" bIns="0" anchor="t">
            <a:spAutoFit/>
          </a:bodyPr>
          <a:lstStyle/>
          <a:p>
            <a:pPr algn="l">
              <a:lnSpc>
                <a:spcPct val="116000"/>
              </a:lnSpc>
            </a:pPr>
            <a:r>
              <a:rPr sz="1250" b="0" i="0">
                <a:solidFill>
                  <a:srgbClr val="21295C"/>
                </a:solidFill>
                <a:latin typeface="DejaVu Sans"/>
              </a:rPr>
              <a:t>Это единственное место цикла, где команда сама назначает, каким кругом людей и в каком темпе проверяется продукт, пока ошибка ещё дешёвая. Без этой дисциплины у сбоя два исхода: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7" name="Rounded Rectangle 6"/>
          <p:cNvSpPr/>
          <p:nvPr/>
        </p:nvSpPr>
        <p:spPr>
          <a:xfrm>
            <a:off x="502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raduation-cap-teal.png"/>
          <p:cNvPicPr>
            <a:picLocks noChangeAspect="1"/>
          </p:cNvPicPr>
          <p:nvPr/>
        </p:nvPicPr>
        <p:blipFill>
          <a:blip r:embed="rId3"/>
          <a:stretch>
            <a:fillRect/>
          </a:stretch>
        </p:blipFill>
        <p:spPr>
          <a:xfrm>
            <a:off x="704088" y="2377440"/>
            <a:ext cx="347472" cy="347472"/>
          </a:xfrm>
          <a:prstGeom prst="rect">
            <a:avLst/>
          </a:prstGeom>
        </p:spPr>
      </p:pic>
      <p:sp>
        <p:nvSpPr>
          <p:cNvPr id="9" name="TextBox 8"/>
          <p:cNvSpPr txBox="1"/>
          <p:nvPr/>
        </p:nvSpPr>
        <p:spPr>
          <a:xfrm>
            <a:off x="1161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Минимально жизнеспособный продукт</a:t>
            </a:r>
          </a:p>
        </p:txBody>
      </p:sp>
      <p:sp>
        <p:nvSpPr>
          <p:cNvPr id="10" name="TextBox 9"/>
          <p:cNvSpPr txBox="1"/>
          <p:nvPr/>
        </p:nvSpPr>
        <p:spPr>
          <a:xfrm>
            <a:off x="1161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Эрик Райс, предприниматель, книга «Бережливый стартап», 2011 </a:t>
            </a:r>
            <a:r>
              <a:rPr sz="494" baseline="30000" b="0" i="1">
                <a:latin typeface="DejaVu Sans"/>
                <a:cs typeface="DejaVu Sans"/>
                <a:ea typeface="DejaVu Sans"/>
                <a:solidFill>
                  <a:srgbClr val="1C7293"/>
                </a:solidFill>
              </a:rPr>
              <a:t>[1]</a:t>
            </a:r>
          </a:p>
        </p:txBody>
      </p:sp>
      <p:sp>
        <p:nvSpPr>
          <p:cNvPr id="11" name="TextBox 10"/>
          <p:cNvSpPr txBox="1"/>
          <p:nvPr/>
        </p:nvSpPr>
        <p:spPr>
          <a:xfrm>
            <a:off x="704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Первая версия существует ради обучения, и только ради него. Планируется в обратном порядке: сначала чему надо научиться, потом какой меркой это различить, и только потом что собрать.</a:t>
            </a:r>
          </a:p>
        </p:txBody>
      </p:sp>
      <p:sp>
        <p:nvSpPr>
          <p:cNvPr id="12" name="Rounded Rectangle 11"/>
          <p:cNvSpPr/>
          <p:nvPr/>
        </p:nvSpPr>
        <p:spPr>
          <a:xfrm>
            <a:off x="6217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unnel-teal.png"/>
          <p:cNvPicPr>
            <a:picLocks noChangeAspect="1"/>
          </p:cNvPicPr>
          <p:nvPr/>
        </p:nvPicPr>
        <p:blipFill>
          <a:blip r:embed="rId4"/>
          <a:stretch>
            <a:fillRect/>
          </a:stretch>
        </p:blipFill>
        <p:spPr>
          <a:xfrm>
            <a:off x="6419088" y="2377440"/>
            <a:ext cx="347472" cy="347472"/>
          </a:xfrm>
          <a:prstGeom prst="rect">
            <a:avLst/>
          </a:prstGeom>
        </p:spPr>
      </p:pic>
      <p:sp>
        <p:nvSpPr>
          <p:cNvPr id="14" name="TextBox 13"/>
          <p:cNvSpPr txBox="1"/>
          <p:nvPr/>
        </p:nvSpPr>
        <p:spPr>
          <a:xfrm>
            <a:off x="6876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Рубеж «продолжать или закрыть»</a:t>
            </a:r>
          </a:p>
        </p:txBody>
      </p:sp>
      <p:sp>
        <p:nvSpPr>
          <p:cNvPr id="15" name="TextBox 14"/>
          <p:cNvSpPr txBox="1"/>
          <p:nvPr/>
        </p:nvSpPr>
        <p:spPr>
          <a:xfrm>
            <a:off x="6876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Stage-Gate: Роберт Купер, исследователь новых продуктов, 1990 </a:t>
            </a:r>
            <a:r>
              <a:rPr sz="494" baseline="30000" b="0" i="1">
                <a:latin typeface="DejaVu Sans"/>
                <a:cs typeface="DejaVu Sans"/>
                <a:ea typeface="DejaVu Sans"/>
                <a:solidFill>
                  <a:srgbClr val="1C7293"/>
                </a:solidFill>
              </a:rPr>
              <a:t>[2]</a:t>
            </a:r>
          </a:p>
        </p:txBody>
      </p:sp>
      <p:sp>
        <p:nvSpPr>
          <p:cNvPr id="16" name="TextBox 15"/>
          <p:cNvSpPr txBox="1"/>
          <p:nvPr/>
        </p:nvSpPr>
        <p:spPr>
          <a:xfrm>
            <a:off x="6419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Воронка, а не туннель: вложение растёт только после пройденного рубежа. Дешёвая ранняя стадия существует ровно затем, чтобы отсеивать до крупных трат.</a:t>
            </a:r>
          </a:p>
        </p:txBody>
      </p:sp>
      <p:sp>
        <p:nvSpPr>
          <p:cNvPr id="17" name="Rounded Rectangle 16"/>
          <p:cNvSpPr/>
          <p:nvPr/>
        </p:nvSpPr>
        <p:spPr>
          <a:xfrm>
            <a:off x="502920" y="3803904"/>
            <a:ext cx="11201400" cy="676656"/>
          </a:xfrm>
          <a:prstGeom prst="roundRect">
            <a:avLst>
              <a:gd name="adj" fmla="val 22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3858768"/>
            <a:ext cx="10789920" cy="566928"/>
          </a:xfrm>
          <a:prstGeom prst="rect">
            <a:avLst/>
          </a:prstGeom>
          <a:noFill/>
        </p:spPr>
        <p:txBody>
          <a:bodyPr wrap="square" lIns="0" rIns="0" tIns="0" bIns="0" anchor="t">
            <a:spAutoFit/>
          </a:bodyPr>
          <a:lstStyle/>
          <a:p>
            <a:pPr algn="l">
              <a:lnSpc>
                <a:spcPct val="114000"/>
              </a:lnSpc>
            </a:pPr>
            <a:r>
              <a:rPr sz="1100" b="0" i="0">
                <a:solidFill>
                  <a:srgbClr val="5B6678"/>
                </a:solidFill>
                <a:latin typeface="DejaVu Sans"/>
              </a:rPr>
              <a:t>Механику раскатки — переключатель функции, канареечный выпуск, поэтапное включение, возврат к прошлой версии — инженер знает из непрерывной интеграции и поставки (CI/CD — continuous integration / continuous delivery). Новое здесь — чьё решение эти примитивы обслуживают: вопрос сместился с «включить функцию» на «продолжать вкладываться или закрыть».</a:t>
            </a:r>
          </a:p>
        </p:txBody>
      </p:sp>
      <p:sp>
        <p:nvSpPr>
          <p:cNvPr id="19" name="Rounded Rectangle 18"/>
          <p:cNvSpPr/>
          <p:nvPr/>
        </p:nvSpPr>
        <p:spPr>
          <a:xfrm>
            <a:off x="502920" y="45720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626864"/>
            <a:ext cx="10762488" cy="54864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Порог записывают числом до старта, потому что иначе нельзя отличить «данные сказали нет» от «мы устали». Без него у команды нет права честно закончить.</a:t>
            </a:r>
          </a:p>
        </p:txBody>
      </p:sp>
      <p:sp>
        <p:nvSpPr>
          <p:cNvPr id="21" name="Rounded Rectangle 20"/>
          <p:cNvSpPr/>
          <p:nvPr/>
        </p:nvSpPr>
        <p:spPr>
          <a:xfrm>
            <a:off x="502920" y="5321808"/>
            <a:ext cx="11201400" cy="969264"/>
          </a:xfrm>
          <a:prstGeom prst="roundRect">
            <a:avLst>
              <a:gd name="adj" fmla="val 22000"/>
            </a:avLst>
          </a:prstGeom>
          <a:solidFill>
            <a:srgbClr val="FFFFFF"/>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ircle-check-teal.png"/>
          <p:cNvPicPr>
            <a:picLocks noChangeAspect="1"/>
          </p:cNvPicPr>
          <p:nvPr/>
        </p:nvPicPr>
        <p:blipFill>
          <a:blip r:embed="rId5"/>
          <a:stretch>
            <a:fillRect/>
          </a:stretch>
        </p:blipFill>
        <p:spPr>
          <a:xfrm>
            <a:off x="713232" y="5614416"/>
            <a:ext cx="310896" cy="310896"/>
          </a:xfrm>
          <a:prstGeom prst="rect">
            <a:avLst/>
          </a:prstGeom>
        </p:spPr>
      </p:pic>
      <p:sp>
        <p:nvSpPr>
          <p:cNvPr id="23" name="TextBox 22"/>
          <p:cNvSpPr txBox="1"/>
          <p:nvPr/>
        </p:nvSpPr>
        <p:spPr>
          <a:xfrm>
            <a:off x="1152144" y="5376672"/>
            <a:ext cx="10332720" cy="859536"/>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Проект Foghorn, лаборатория X: топливо из морской воды. </a:t>
            </a:r>
            <a:r>
              <a:rPr sz="1100" b="0" i="0">
                <a:solidFill>
                  <a:srgbClr val="5B6678"/>
                </a:solidFill>
                <a:latin typeface="DejaVu Sans"/>
              </a:rPr>
              <a:t>Порог назначили числом до начала работ — </a:t>
            </a:r>
            <a:r>
              <a:rPr sz="1100" b="1" i="0">
                <a:solidFill>
                  <a:srgbClr val="21295C"/>
                </a:solidFill>
                <a:latin typeface="DejaVu Sans"/>
              </a:rPr>
              <a:t>8 долларов за галлон бензинового эквивалента</a:t>
            </a:r>
            <a:r>
              <a:rPr sz="1100" b="0" i="0">
                <a:solidFill>
                  <a:srgbClr val="5B6678"/>
                </a:solidFill>
                <a:latin typeface="DejaVu Sans"/>
              </a:rPr>
              <a:t>. Через два года модели стоимости дали 8–16, а дешёвый водород требовал ещё пяти лет исследований. В январе 2016 проект закрыли, результаты опубликовали, команде выплатили премию: записанное заранее число и дало право закончить. </a:t>
            </a:r>
            <a:r>
              <a:rPr sz="572" baseline="30000" b="0" i="1">
                <a:latin typeface="DejaVu Sans"/>
                <a:cs typeface="DejaVu Sans"/>
                <a:ea typeface="DejaVu Sans"/>
                <a:solidFill>
                  <a:srgbClr val="1C7293"/>
                </a:solidFill>
              </a:rPr>
              <a:t>[3]</a:t>
            </a:r>
          </a:p>
        </p:txBody>
      </p:sp>
      <p:sp>
        <p:nvSpPr>
          <p:cNvPr id="24" name="TextBox 2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Эрик Райс — «The Lean Startup» (2011)</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Stage-Gate — история метода</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X — проект Foghorn</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Писать код стало дёшево, проверять — нет: к узкому месту на входе добавилось ревью</a:t>
            </a:r>
          </a:p>
        </p:txBody>
      </p:sp>
      <p:sp>
        <p:nvSpPr>
          <p:cNvPr id="3" name="Rounded Rectangle 2"/>
          <p:cNvSpPr/>
          <p:nvPr/>
        </p:nvSpPr>
        <p:spPr>
          <a:xfrm>
            <a:off x="502920" y="932688"/>
            <a:ext cx="4206240" cy="4315968"/>
          </a:xfrm>
          <a:prstGeom prst="roundRect">
            <a:avLst>
              <a:gd name="adj" fmla="val 724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24128"/>
            <a:ext cx="3794760"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ИЗМЕРЕННЫЙ СДВИГ</a:t>
            </a:r>
          </a:p>
        </p:txBody>
      </p:sp>
      <p:sp>
        <p:nvSpPr>
          <p:cNvPr id="5" name="TextBox 4"/>
          <p:cNvSpPr txBox="1"/>
          <p:nvPr/>
        </p:nvSpPr>
        <p:spPr>
          <a:xfrm>
            <a:off x="713232" y="1353312"/>
            <a:ext cx="3794760" cy="384048"/>
          </a:xfrm>
          <a:prstGeom prst="rect">
            <a:avLst/>
          </a:prstGeom>
          <a:noFill/>
        </p:spPr>
        <p:txBody>
          <a:bodyPr wrap="square" lIns="0" rIns="0" tIns="0" bIns="0" anchor="t">
            <a:spAutoFit/>
          </a:bodyPr>
          <a:lstStyle/>
          <a:p>
            <a:pPr algn="l">
              <a:lnSpc>
                <a:spcPct val="100000"/>
              </a:lnSpc>
            </a:pPr>
            <a:r>
              <a:rPr sz="2100" b="1" i="0">
                <a:solidFill>
                  <a:srgbClr val="F0AB00"/>
                </a:solidFill>
                <a:latin typeface="DejaVu Sans"/>
              </a:rPr>
              <a:t>+200%</a:t>
            </a:r>
          </a:p>
        </p:txBody>
      </p:sp>
      <p:sp>
        <p:nvSpPr>
          <p:cNvPr id="6" name="TextBox 5"/>
          <p:cNvSpPr txBox="1"/>
          <p:nvPr/>
        </p:nvSpPr>
        <p:spPr>
          <a:xfrm>
            <a:off x="713232" y="1755648"/>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объём кода на инженера за год — собственное измерение Anthropic</a:t>
            </a:r>
          </a:p>
        </p:txBody>
      </p:sp>
      <p:sp>
        <p:nvSpPr>
          <p:cNvPr id="7" name="TextBox 6"/>
          <p:cNvSpPr txBox="1"/>
          <p:nvPr/>
        </p:nvSpPr>
        <p:spPr>
          <a:xfrm>
            <a:off x="713232" y="2322576"/>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16% → 54%</a:t>
            </a:r>
          </a:p>
        </p:txBody>
      </p:sp>
      <p:sp>
        <p:nvSpPr>
          <p:cNvPr id="8" name="TextBox 7"/>
          <p:cNvSpPr txBox="1"/>
          <p:nvPr/>
        </p:nvSpPr>
        <p:spPr>
          <a:xfrm>
            <a:off x="713232" y="2724912"/>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доля изменений с содержательным ревью до слияния: было — стало, после того как первый проход отдали автоматике; почти половина и теперь идёт без него </a:t>
            </a:r>
            <a:r>
              <a:rPr sz="520" baseline="30000" b="0" i="1">
                <a:latin typeface="DejaVu Sans"/>
                <a:cs typeface="DejaVu Sans"/>
                <a:ea typeface="DejaVu Sans"/>
                <a:solidFill>
                  <a:srgbClr val="1C7293"/>
                </a:solidFill>
              </a:rPr>
              <a:t>[1]</a:t>
            </a:r>
          </a:p>
        </p:txBody>
      </p:sp>
      <p:sp>
        <p:nvSpPr>
          <p:cNvPr id="9" name="TextBox 8"/>
          <p:cNvSpPr txBox="1"/>
          <p:nvPr/>
        </p:nvSpPr>
        <p:spPr>
          <a:xfrm>
            <a:off x="713232" y="3291840"/>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+441%</a:t>
            </a:r>
          </a:p>
        </p:txBody>
      </p:sp>
      <p:sp>
        <p:nvSpPr>
          <p:cNvPr id="10" name="TextBox 9"/>
          <p:cNvSpPr txBox="1"/>
          <p:nvPr/>
        </p:nvSpPr>
        <p:spPr>
          <a:xfrm>
            <a:off x="713232" y="3694176"/>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медианное время, которое изменение проводит в ревью — телеметрия 22 000 разработчиков, Faros AI</a:t>
            </a:r>
          </a:p>
        </p:txBody>
      </p:sp>
      <p:sp>
        <p:nvSpPr>
          <p:cNvPr id="11" name="TextBox 10"/>
          <p:cNvSpPr txBox="1"/>
          <p:nvPr/>
        </p:nvSpPr>
        <p:spPr>
          <a:xfrm>
            <a:off x="713232" y="4261104"/>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2,5× / 5×</a:t>
            </a:r>
          </a:p>
        </p:txBody>
      </p:sp>
      <p:sp>
        <p:nvSpPr>
          <p:cNvPr id="12" name="TextBox 11"/>
          <p:cNvSpPr txBox="1"/>
          <p:nvPr/>
        </p:nvSpPr>
        <p:spPr>
          <a:xfrm>
            <a:off x="713232" y="4663440"/>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изменения от ИИ крупнее и дольше ждут ревьюера — 8,1 млн запросов на слияние, LinearB</a:t>
            </a:r>
          </a:p>
        </p:txBody>
      </p:sp>
      <p:sp>
        <p:nvSpPr>
          <p:cNvPr id="13" name="Rounded Rectangle 12"/>
          <p:cNvSpPr/>
          <p:nvPr/>
        </p:nvSpPr>
        <p:spPr>
          <a:xfrm>
            <a:off x="4892040" y="932688"/>
            <a:ext cx="6812280" cy="4315968"/>
          </a:xfrm>
          <a:prstGeom prst="roundRect">
            <a:avLst>
              <a:gd name="adj" fmla="val 706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2352" y="1024128"/>
            <a:ext cx="6400800"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ПРАКТИКИ ФАЗЫ: ЧТО БЫЛО И ЧТО ДОБАВИЛОСЬ</a:t>
            </a:r>
          </a:p>
        </p:txBody>
      </p:sp>
      <p:sp>
        <p:nvSpPr>
          <p:cNvPr id="15" name="TextBox 14"/>
          <p:cNvSpPr txBox="1"/>
          <p:nvPr/>
        </p:nvSpPr>
        <p:spPr>
          <a:xfrm>
            <a:off x="5102352" y="1335024"/>
            <a:ext cx="2121408" cy="237744"/>
          </a:xfrm>
          <a:prstGeom prst="rect">
            <a:avLst/>
          </a:prstGeom>
          <a:noFill/>
        </p:spPr>
        <p:txBody>
          <a:bodyPr wrap="square" lIns="0" rIns="0" tIns="0" bIns="0" anchor="t">
            <a:spAutoFit/>
          </a:bodyPr>
          <a:lstStyle/>
          <a:p>
            <a:pPr algn="l">
              <a:lnSpc>
                <a:spcPct val="115000"/>
              </a:lnSpc>
            </a:pPr>
            <a:r>
              <a:rPr sz="950" b="1" i="1">
                <a:solidFill>
                  <a:srgbClr val="5B6678"/>
                </a:solidFill>
                <a:latin typeface="DejaVu Sans"/>
              </a:rPr>
              <a:t>делали и делаем без ИИ</a:t>
            </a:r>
          </a:p>
        </p:txBody>
      </p:sp>
      <p:sp>
        <p:nvSpPr>
          <p:cNvPr id="16" name="TextBox 15"/>
          <p:cNvSpPr txBox="1"/>
          <p:nvPr/>
        </p:nvSpPr>
        <p:spPr>
          <a:xfrm>
            <a:off x="7534656" y="1335024"/>
            <a:ext cx="3968496" cy="237744"/>
          </a:xfrm>
          <a:prstGeom prst="rect">
            <a:avLst/>
          </a:prstGeom>
          <a:noFill/>
        </p:spPr>
        <p:txBody>
          <a:bodyPr wrap="square" lIns="0" rIns="0" tIns="0" bIns="0" anchor="t">
            <a:spAutoFit/>
          </a:bodyPr>
          <a:lstStyle/>
          <a:p>
            <a:pPr algn="l">
              <a:lnSpc>
                <a:spcPct val="115000"/>
              </a:lnSpc>
            </a:pPr>
            <a:r>
              <a:rPr sz="950" b="1" i="1">
                <a:solidFill>
                  <a:srgbClr val="028090"/>
                </a:solidFill>
                <a:latin typeface="DejaVu Sans"/>
              </a:rPr>
              <a:t>что добавляется, когда код пишет агент</a:t>
            </a:r>
          </a:p>
        </p:txBody>
      </p:sp>
      <p:sp>
        <p:nvSpPr>
          <p:cNvPr id="17" name="Rectangle 16"/>
          <p:cNvSpPr/>
          <p:nvPr/>
        </p:nvSpPr>
        <p:spPr>
          <a:xfrm>
            <a:off x="5029200" y="1627632"/>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1645920"/>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Ревью изменений перед слиянием</a:t>
            </a:r>
          </a:p>
        </p:txBody>
      </p:sp>
      <p:sp>
        <p:nvSpPr>
          <p:cNvPr id="19" name="Right Arrow 18"/>
          <p:cNvSpPr/>
          <p:nvPr/>
        </p:nvSpPr>
        <p:spPr>
          <a:xfrm>
            <a:off x="7278624" y="184708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34656" y="1645920"/>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оно же стало узким местом; передать слияние агенту — значит снять единственный контроль</a:t>
            </a:r>
          </a:p>
        </p:txBody>
      </p:sp>
      <p:sp>
        <p:nvSpPr>
          <p:cNvPr id="21" name="TextBox 20"/>
          <p:cNvSpPr txBox="1"/>
          <p:nvPr/>
        </p:nvSpPr>
        <p:spPr>
          <a:xfrm>
            <a:off x="5102352" y="2231136"/>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Переключатель функции</a:t>
            </a:r>
          </a:p>
        </p:txBody>
      </p:sp>
      <p:sp>
        <p:nvSpPr>
          <p:cNvPr id="22" name="Right Arrow 21"/>
          <p:cNvSpPr/>
          <p:nvPr/>
        </p:nvSpPr>
        <p:spPr>
          <a:xfrm>
            <a:off x="7278624" y="2432304"/>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4656" y="2231136"/>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переключает уровень самостоятельности: сколько система решает сама</a:t>
            </a:r>
          </a:p>
        </p:txBody>
      </p:sp>
      <p:sp>
        <p:nvSpPr>
          <p:cNvPr id="24" name="Rectangle 23"/>
          <p:cNvSpPr/>
          <p:nvPr/>
        </p:nvSpPr>
        <p:spPr>
          <a:xfrm>
            <a:off x="5029200" y="2798064"/>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02352" y="2816352"/>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Поэтапная раскатка по доле пользователей</a:t>
            </a:r>
          </a:p>
        </p:txBody>
      </p:sp>
      <p:sp>
        <p:nvSpPr>
          <p:cNvPr id="26" name="Right Arrow 25"/>
          <p:cNvSpPr/>
          <p:nvPr/>
        </p:nvSpPr>
        <p:spPr>
          <a:xfrm>
            <a:off x="7278624" y="3017520"/>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6" y="2816352"/>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раскатывают по двум осям сразу: доля аудитории и уровень самостоятельности</a:t>
            </a:r>
          </a:p>
        </p:txBody>
      </p:sp>
      <p:sp>
        <p:nvSpPr>
          <p:cNvPr id="28" name="TextBox 27"/>
          <p:cNvSpPr txBox="1"/>
          <p:nvPr/>
        </p:nvSpPr>
        <p:spPr>
          <a:xfrm>
            <a:off x="5102352" y="3401568"/>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Тест как исполняемая спецификация и гейт прогона</a:t>
            </a:r>
          </a:p>
        </p:txBody>
      </p:sp>
      <p:sp>
        <p:nvSpPr>
          <p:cNvPr id="29" name="Right Arrow 28"/>
          <p:cNvSpPr/>
          <p:nvPr/>
        </p:nvSpPr>
        <p:spPr>
          <a:xfrm>
            <a:off x="7278624" y="3602736"/>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34656" y="3401568"/>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добавился гейт по доле убитых мутантов: проверяет, что тест вообще способен поймать дефект</a:t>
            </a:r>
          </a:p>
        </p:txBody>
      </p:sp>
      <p:sp>
        <p:nvSpPr>
          <p:cNvPr id="31" name="Rectangle 30"/>
          <p:cNvSpPr/>
          <p:nvPr/>
        </p:nvSpPr>
        <p:spPr>
          <a:xfrm>
            <a:off x="5029200" y="3968496"/>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02352" y="3986783"/>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Аварийное отключение</a:t>
            </a:r>
          </a:p>
        </p:txBody>
      </p:sp>
      <p:sp>
        <p:nvSpPr>
          <p:cNvPr id="33" name="Right Arrow 32"/>
          <p:cNvSpPr/>
          <p:nvPr/>
        </p:nvSpPr>
        <p:spPr>
          <a:xfrm>
            <a:off x="7278624" y="4187952"/>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34656" y="3986783"/>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нужно всегда: сбой расходится быстрее, чем его успевают заметить</a:t>
            </a:r>
          </a:p>
        </p:txBody>
      </p:sp>
      <p:sp>
        <p:nvSpPr>
          <p:cNvPr id="35" name="TextBox 34"/>
          <p:cNvSpPr txBox="1"/>
          <p:nvPr/>
        </p:nvSpPr>
        <p:spPr>
          <a:xfrm>
            <a:off x="5102352" y="4571999"/>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Спецификация, которой владеет человек</a:t>
            </a:r>
          </a:p>
        </p:txBody>
      </p:sp>
      <p:sp>
        <p:nvSpPr>
          <p:cNvPr id="36" name="Right Arrow 35"/>
          <p:cNvSpPr/>
          <p:nvPr/>
        </p:nvSpPr>
        <p:spPr>
          <a:xfrm>
            <a:off x="7278624" y="477316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34656" y="4571999"/>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единственный вход, который агент не может придумать себе сам</a:t>
            </a:r>
          </a:p>
        </p:txBody>
      </p:sp>
      <p:sp>
        <p:nvSpPr>
          <p:cNvPr id="38" name="Rounded Rectangle 37"/>
          <p:cNvSpPr/>
          <p:nvPr/>
        </p:nvSpPr>
        <p:spPr>
          <a:xfrm>
            <a:off x="502920" y="5358384"/>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2376" y="5413248"/>
            <a:ext cx="10762488" cy="603504"/>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Дефицитны края работы: точность задачи на входе и скорость суждения на выходе.</a:t>
            </a:r>
          </a:p>
        </p:txBody>
      </p:sp>
      <p:sp>
        <p:nvSpPr>
          <p:cNvPr id="40" name="TextBox 3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Anthropic — Code Review for Claude Code (9 марта 2026)</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Шкала самостоятельности — право решать отдают по частям</a:t>
            </a:r>
          </a:p>
        </p:txBody>
      </p:sp>
      <p:sp>
        <p:nvSpPr>
          <p:cNvPr id="3" name="Rounded Rectangle 2"/>
          <p:cNvSpPr/>
          <p:nvPr/>
        </p:nvSpPr>
        <p:spPr>
          <a:xfrm>
            <a:off x="502920" y="551434"/>
            <a:ext cx="1152144" cy="858290"/>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85829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858290"/>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675410"/>
          </a:xfrm>
          <a:prstGeom prst="rect">
            <a:avLst/>
          </a:prstGeom>
          <a:noFill/>
        </p:spPr>
        <p:txBody>
          <a:bodyPr wrap="square" lIns="0" rIns="0" tIns="0" bIns="0" anchor="ctr">
            <a:spAutoFit/>
          </a:bodyPr>
          <a:lstStyle/>
          <a:p>
            <a:pPr algn="l">
              <a:lnSpc>
                <a:spcPct val="114000"/>
              </a:lnSpc>
            </a:pPr>
            <a:r>
              <a:rPr sz="1080" b="0" i="0">
                <a:solidFill>
                  <a:srgbClr val="21295C"/>
                </a:solidFill>
                <a:latin typeface="DejaVu Sans"/>
              </a:rPr>
              <a:t>Функцию выпускают уровнями самостоятельности — от подсказки к предложению, которое подтверждает человек, и дальше к самостоятельному решению (ступени справа). </a:t>
            </a:r>
            <a:r>
              <a:rPr sz="1080" b="1" i="0">
                <a:solidFill>
                  <a:srgbClr val="21295C"/>
                </a:solidFill>
                <a:latin typeface="DejaVu Sans"/>
              </a:rPr>
              <a:t>Версия здесь означает уровень самостоятельности, который система заслужила.</a:t>
            </a:r>
          </a:p>
        </p:txBody>
      </p:sp>
      <p:sp>
        <p:nvSpPr>
          <p:cNvPr id="7" name="Rounded Rectangle 6"/>
          <p:cNvSpPr/>
          <p:nvPr/>
        </p:nvSpPr>
        <p:spPr>
          <a:xfrm>
            <a:off x="502920" y="1473732"/>
            <a:ext cx="1152144" cy="23225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73732"/>
            <a:ext cx="1060704" cy="23225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73732"/>
            <a:ext cx="990295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7888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7888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65172"/>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Каждый уровень — </a:t>
            </a:r>
            <a:r>
              <a:rPr sz="1000" b="1" i="0">
                <a:solidFill>
                  <a:srgbClr val="065A82"/>
                </a:solidFill>
                <a:latin typeface="DejaVu Sans"/>
              </a:rPr>
              <a:t>отдельный выпуск</a:t>
            </a:r>
            <a:r>
              <a:rPr sz="1000" b="0" i="0">
                <a:solidFill>
                  <a:srgbClr val="21295C"/>
                </a:solidFill>
                <a:latin typeface="DejaVu Sans"/>
              </a:rPr>
              <a:t>: свой круг пользователей, свой набор наблюдаемых признаков, свой способ остановиться.</a:t>
            </a:r>
          </a:p>
        </p:txBody>
      </p:sp>
      <p:sp>
        <p:nvSpPr>
          <p:cNvPr id="13" name="Oval 12"/>
          <p:cNvSpPr/>
          <p:nvPr/>
        </p:nvSpPr>
        <p:spPr>
          <a:xfrm>
            <a:off x="1984248" y="202156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2156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07853"/>
            <a:ext cx="59344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Подъём открывают </a:t>
            </a:r>
            <a:r>
              <a:rPr sz="1000" b="1" i="0">
                <a:solidFill>
                  <a:srgbClr val="065A82"/>
                </a:solidFill>
                <a:latin typeface="DejaVu Sans"/>
              </a:rPr>
              <a:t>доказательством, записанным числом до прогона</a:t>
            </a:r>
            <a:r>
              <a:rPr sz="1000" b="0" i="0">
                <a:solidFill>
                  <a:srgbClr val="21295C"/>
                </a:solidFill>
                <a:latin typeface="DejaVu Sans"/>
              </a:rPr>
              <a:t>: система справляется с теми случаями, которые доверяет ей новый уровень. Календарь основанием не считается.</a:t>
            </a:r>
          </a:p>
        </p:txBody>
      </p:sp>
      <p:sp>
        <p:nvSpPr>
          <p:cNvPr id="16" name="Oval 15"/>
          <p:cNvSpPr/>
          <p:nvPr/>
        </p:nvSpPr>
        <p:spPr>
          <a:xfrm>
            <a:off x="1984248" y="262981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2981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16097"/>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Доказательство должно держаться </a:t>
            </a:r>
            <a:r>
              <a:rPr sz="1000" b="1" i="0">
                <a:solidFill>
                  <a:srgbClr val="065A82"/>
                </a:solidFill>
                <a:latin typeface="DejaVu Sans"/>
              </a:rPr>
              <a:t>при повторных попытках</a:t>
            </a:r>
            <a:r>
              <a:rPr sz="1000" b="0" i="0">
                <a:solidFill>
                  <a:srgbClr val="21295C"/>
                </a:solidFill>
                <a:latin typeface="DejaVu Sans"/>
              </a:rPr>
              <a:t>. Однократный успех его не даёт.</a:t>
            </a:r>
          </a:p>
        </p:txBody>
      </p:sp>
      <p:sp>
        <p:nvSpPr>
          <p:cNvPr id="19" name="Oval 18"/>
          <p:cNvSpPr/>
          <p:nvPr/>
        </p:nvSpPr>
        <p:spPr>
          <a:xfrm>
            <a:off x="1984248" y="307249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07249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058778"/>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Заранее описано, </a:t>
            </a:r>
            <a:r>
              <a:rPr sz="1000" b="1" i="0">
                <a:solidFill>
                  <a:srgbClr val="065A82"/>
                </a:solidFill>
                <a:latin typeface="DejaVu Sans"/>
              </a:rPr>
              <a:t>как вернуть систему на уровень ниже</a:t>
            </a:r>
            <a:r>
              <a:rPr sz="1000" b="0" i="0">
                <a:solidFill>
                  <a:srgbClr val="21295C"/>
                </a:solidFill>
                <a:latin typeface="DejaVu Sans"/>
              </a:rPr>
              <a:t>: кто решает, по какому признаку и за какое время.</a:t>
            </a:r>
          </a:p>
        </p:txBody>
      </p:sp>
      <p:sp>
        <p:nvSpPr>
          <p:cNvPr id="22" name="Rounded Rectangle 21"/>
          <p:cNvSpPr/>
          <p:nvPr/>
        </p:nvSpPr>
        <p:spPr>
          <a:xfrm>
            <a:off x="8503920" y="1601748"/>
            <a:ext cx="3017520" cy="45720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0" y="1638324"/>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подсказывает</a:t>
            </a:r>
          </a:p>
        </p:txBody>
      </p:sp>
      <p:sp>
        <p:nvSpPr>
          <p:cNvPr id="24" name="TextBox 23"/>
          <p:cNvSpPr txBox="1"/>
          <p:nvPr/>
        </p:nvSpPr>
        <p:spPr>
          <a:xfrm>
            <a:off x="8595360" y="1876068"/>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решает человек</a:t>
            </a:r>
          </a:p>
        </p:txBody>
      </p:sp>
      <p:cxnSp>
        <p:nvCxnSpPr>
          <p:cNvPr id="25" name="Connector 24"/>
          <p:cNvCxnSpPr/>
          <p:nvPr/>
        </p:nvCxnSpPr>
        <p:spPr>
          <a:xfrm>
            <a:off x="10012680" y="2058948"/>
            <a:ext cx="0" cy="164592"/>
          </a:xfrm>
          <a:prstGeom prst="line">
            <a:avLst/>
          </a:prstGeom>
          <a:ln w="3048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503920" y="2223540"/>
            <a:ext cx="3017520" cy="45720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0" y="2260116"/>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предлагает решение</a:t>
            </a:r>
          </a:p>
        </p:txBody>
      </p:sp>
      <p:sp>
        <p:nvSpPr>
          <p:cNvPr id="28" name="TextBox 27"/>
          <p:cNvSpPr txBox="1"/>
          <p:nvPr/>
        </p:nvSpPr>
        <p:spPr>
          <a:xfrm>
            <a:off x="8595360" y="2497860"/>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подтверждает человек</a:t>
            </a:r>
          </a:p>
        </p:txBody>
      </p:sp>
      <p:cxnSp>
        <p:nvCxnSpPr>
          <p:cNvPr id="29" name="Connector 28"/>
          <p:cNvCxnSpPr/>
          <p:nvPr/>
        </p:nvCxnSpPr>
        <p:spPr>
          <a:xfrm>
            <a:off x="10012680" y="2680740"/>
            <a:ext cx="0" cy="164592"/>
          </a:xfrm>
          <a:prstGeom prst="line">
            <a:avLst/>
          </a:prstGeom>
          <a:ln w="3048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503920" y="2845332"/>
            <a:ext cx="3017520" cy="45720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0" y="2881908"/>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решает сама</a:t>
            </a:r>
          </a:p>
        </p:txBody>
      </p:sp>
      <p:sp>
        <p:nvSpPr>
          <p:cNvPr id="32" name="TextBox 31"/>
          <p:cNvSpPr txBox="1"/>
          <p:nvPr/>
        </p:nvSpPr>
        <p:spPr>
          <a:xfrm>
            <a:off x="8595360" y="3119652"/>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возвращает трудное человеку</a:t>
            </a:r>
          </a:p>
        </p:txBody>
      </p:sp>
      <p:sp>
        <p:nvSpPr>
          <p:cNvPr id="33" name="TextBox 32"/>
          <p:cNvSpPr txBox="1"/>
          <p:nvPr/>
        </p:nvSpPr>
        <p:spPr>
          <a:xfrm>
            <a:off x="8503920" y="3339108"/>
            <a:ext cx="3017520" cy="310896"/>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шкала самостоятельности: версии продукта тут ни при чём</a:t>
            </a:r>
          </a:p>
        </p:txBody>
      </p:sp>
      <p:sp>
        <p:nvSpPr>
          <p:cNvPr id="34" name="Rounded Rectangle 33"/>
          <p:cNvSpPr/>
          <p:nvPr/>
        </p:nvSpPr>
        <p:spPr>
          <a:xfrm>
            <a:off x="502920" y="3860316"/>
            <a:ext cx="1152144" cy="134007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860316"/>
            <a:ext cx="1060704" cy="134007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6" name="Rounded Rectangle 35"/>
          <p:cNvSpPr/>
          <p:nvPr/>
        </p:nvSpPr>
        <p:spPr>
          <a:xfrm>
            <a:off x="1801368" y="3860316"/>
            <a:ext cx="9902952" cy="134007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984248" y="3951756"/>
            <a:ext cx="4677156" cy="1157191"/>
          </a:xfrm>
          <a:prstGeom prst="roundRect">
            <a:avLst>
              <a:gd name="adj" fmla="val 1536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84831" y="399747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права выдают по частям давно</a:t>
            </a:r>
          </a:p>
        </p:txBody>
      </p:sp>
      <p:sp>
        <p:nvSpPr>
          <p:cNvPr id="39" name="TextBox 38"/>
          <p:cNvSpPr txBox="1"/>
          <p:nvPr/>
        </p:nvSpPr>
        <p:spPr>
          <a:xfrm>
            <a:off x="2084831" y="4226076"/>
            <a:ext cx="4475988" cy="828007"/>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И людям, и автоматике: новичку сначала дают смотреть, потом предлагать, потом решать самому. Уровень держится на стаже без нареканий.</a:t>
            </a:r>
          </a:p>
        </p:txBody>
      </p:sp>
      <p:sp>
        <p:nvSpPr>
          <p:cNvPr id="40" name="Rounded Rectangle 39"/>
          <p:cNvSpPr/>
          <p:nvPr/>
        </p:nvSpPr>
        <p:spPr>
          <a:xfrm>
            <a:off x="6844284" y="3951756"/>
            <a:ext cx="4677156" cy="1157191"/>
          </a:xfrm>
          <a:prstGeom prst="roundRect">
            <a:avLst>
              <a:gd name="adj" fmla="val 1536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44868" y="399747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уровень подтверждают измерением</a:t>
            </a:r>
          </a:p>
        </p:txBody>
      </p:sp>
      <p:sp>
        <p:nvSpPr>
          <p:cNvPr id="42" name="TextBox 41"/>
          <p:cNvSpPr txBox="1"/>
          <p:nvPr/>
        </p:nvSpPr>
        <p:spPr>
          <a:xfrm>
            <a:off x="6944868" y="4226076"/>
            <a:ext cx="4475988" cy="828007"/>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Система опыта не набирает. Meta двинула порог риска, при котором изменение сливается без человека, с 25-го процентиля на 50-й: одобряются автоматически </a:t>
            </a:r>
            <a:r>
              <a:rPr sz="900" b="1" i="0">
                <a:solidFill>
                  <a:srgbClr val="21295C"/>
                </a:solidFill>
                <a:latin typeface="DejaVu Sans"/>
              </a:rPr>
              <a:t>60,31%</a:t>
            </a:r>
            <a:r>
              <a:rPr sz="900" b="0" i="0">
                <a:solidFill>
                  <a:srgbClr val="21295C"/>
                </a:solidFill>
                <a:latin typeface="DejaVu Sans"/>
              </a:rPr>
              <a:t>. Откаты у них </a:t>
            </a:r>
            <a:r>
              <a:rPr sz="900" b="1" i="0">
                <a:solidFill>
                  <a:srgbClr val="21295C"/>
                </a:solidFill>
                <a:latin typeface="DejaVu Sans"/>
              </a:rPr>
              <a:t>втрое реже</a:t>
            </a:r>
            <a:r>
              <a:rPr sz="900" b="0" i="0">
                <a:solidFill>
                  <a:srgbClr val="21295C"/>
                </a:solidFill>
                <a:latin typeface="DejaVu Sans"/>
              </a:rPr>
              <a:t>, сбои в проде — </a:t>
            </a:r>
            <a:r>
              <a:rPr sz="900" b="1" i="0">
                <a:solidFill>
                  <a:srgbClr val="21295C"/>
                </a:solidFill>
                <a:latin typeface="DejaVu Sans"/>
              </a:rPr>
              <a:t>в 50 раз реже</a:t>
            </a:r>
            <a:r>
              <a:rPr sz="900" b="0" i="0">
                <a:solidFill>
                  <a:srgbClr val="21295C"/>
                </a:solidFill>
                <a:latin typeface="DejaVu Sans"/>
              </a:rPr>
              <a:t>, чем на обычном пути (535 тыс. изменений).</a:t>
            </a:r>
          </a:p>
        </p:txBody>
      </p:sp>
      <p:sp>
        <p:nvSpPr>
          <p:cNvPr id="43" name="Rounded Rectangle 42"/>
          <p:cNvSpPr/>
          <p:nvPr/>
        </p:nvSpPr>
        <p:spPr>
          <a:xfrm>
            <a:off x="502920" y="5264396"/>
            <a:ext cx="1152144" cy="1149680"/>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264396"/>
            <a:ext cx="1060704" cy="1149680"/>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5" name="Rounded Rectangle 44"/>
          <p:cNvSpPr/>
          <p:nvPr/>
        </p:nvSpPr>
        <p:spPr>
          <a:xfrm>
            <a:off x="1801368" y="5264396"/>
            <a:ext cx="9902952" cy="114968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84248" y="5355836"/>
            <a:ext cx="9537192" cy="966800"/>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«Оператор давно ничего не правил» доказательством не является: </a:t>
            </a:r>
            <a:r>
              <a:rPr sz="1000" b="1" i="0">
                <a:solidFill>
                  <a:srgbClr val="21295C"/>
                </a:solidFill>
                <a:latin typeface="DejaVu Sans"/>
              </a:rPr>
              <a:t>отсутствие замечаний — это отсутствие измерения.</a:t>
            </a:r>
            <a:r>
              <a:rPr sz="1000" b="1" i="0">
                <a:solidFill>
                  <a:srgbClr val="21295C"/>
                </a:solidFill>
                <a:latin typeface="DejaVu Sans"/>
              </a:rPr>
              <a:t> Автоматическое одобрение держится на </a:t>
            </a:r>
            <a:r>
              <a:rPr sz="1000" b="1" i="0">
                <a:solidFill>
                  <a:srgbClr val="21295C"/>
                </a:solidFill>
                <a:latin typeface="DejaVu Sans"/>
              </a:rPr>
              <a:t>детерминированной проверке в конце цепочки</a:t>
            </a:r>
            <a:r>
              <a:rPr sz="1000" b="1" i="0">
                <a:solidFill>
                  <a:srgbClr val="21295C"/>
                </a:solidFill>
                <a:latin typeface="DejaVu Sans"/>
              </a:rPr>
              <a:t>; слияние по вердикту ИИ-ревьюера снимает единственный контроль. А необратимое и дорогое не поднимают на верхний уровень никогда: обязывающее предложение клиенту, удаление рабочих данных, выпуск сразу на всех — за жёстким правилом поверх модели.</a:t>
            </a:r>
          </a:p>
        </p:txBody>
      </p:sp>
      <p:sp>
        <p:nvSpPr>
          <p:cNvPr id="47" name="TextBox 46"/>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Айшварья Реганти (Amazon) и Кирити Бадам (OpenAI), 19 августа 2025 — разбор более 50 внедрений · Meta RADAR, arXiv 2605.30208: 535 тыс. изменений, порог риска с 25-го на 50-й процентиль</a:t>
            </a:r>
          </a:p>
        </p:txBody>
      </p:sp>
      <p:sp>
        <p:nvSpPr>
          <p:cNvPr id="48" name="TextBox 4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Проверку, которой ни разу не подсовывали дефект нарочно, считают сломанной</a:t>
            </a:r>
          </a:p>
        </p:txBody>
      </p:sp>
      <p:sp>
        <p:nvSpPr>
          <p:cNvPr id="3" name="Rounded Rectangle 2"/>
          <p:cNvSpPr/>
          <p:nvPr/>
        </p:nvSpPr>
        <p:spPr>
          <a:xfrm>
            <a:off x="502920" y="825525"/>
            <a:ext cx="1152144" cy="1037097"/>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037097"/>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1037097"/>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854217"/>
          </a:xfrm>
          <a:prstGeom prst="rect">
            <a:avLst/>
          </a:prstGeom>
          <a:noFill/>
        </p:spPr>
        <p:txBody>
          <a:bodyPr wrap="square" lIns="0" rIns="0" tIns="0" bIns="0" anchor="ctr">
            <a:spAutoFit/>
          </a:bodyPr>
          <a:lstStyle/>
          <a:p>
            <a:pPr algn="l">
              <a:lnSpc>
                <a:spcPct val="114000"/>
              </a:lnSpc>
            </a:pPr>
            <a:r>
              <a:rPr sz="1080" b="1" i="0">
                <a:solidFill>
                  <a:srgbClr val="21295C"/>
                </a:solidFill>
                <a:latin typeface="DejaVu Sans"/>
              </a:rPr>
              <a:t>Мутационное тестирование</a:t>
            </a:r>
            <a:r>
              <a:rPr sz="1080" b="0" i="0">
                <a:solidFill>
                  <a:srgbClr val="21295C"/>
                </a:solidFill>
                <a:latin typeface="DejaVu Sans"/>
              </a:rPr>
              <a:t> — в код намеренно вносят мелкую ошибку («мутанта») и смотрят, упадёт ли хоть одна проверка. Доля убитых мутантов и говорит, способен ли набор проверок что-нибудь поймать; покрытие отвечает на другой вопрос — была ли строка затронута прогоном. В работе с ИИ тот же приём наводят на всё, чем ИИ ограничивают: </a:t>
            </a:r>
            <a:r>
              <a:rPr sz="1080" b="1" i="0">
                <a:solidFill>
                  <a:srgbClr val="21295C"/>
                </a:solidFill>
                <a:latin typeface="DejaVu Sans"/>
              </a:rPr>
              <a:t>на набор оценок, на файл инструкций агенту, на правило в конвейере</a:t>
            </a:r>
            <a:r>
              <a:rPr sz="1080" b="0" i="0">
                <a:solidFill>
                  <a:srgbClr val="21295C"/>
                </a:solidFill>
                <a:latin typeface="DejaVu Sans"/>
              </a:rPr>
              <a:t>.</a:t>
            </a:r>
          </a:p>
        </p:txBody>
      </p:sp>
      <p:sp>
        <p:nvSpPr>
          <p:cNvPr id="7" name="Rounded Rectangle 6"/>
          <p:cNvSpPr/>
          <p:nvPr/>
        </p:nvSpPr>
        <p:spPr>
          <a:xfrm>
            <a:off x="502920" y="1926631"/>
            <a:ext cx="1152144" cy="228600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6631"/>
            <a:ext cx="1060704" cy="228600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26631"/>
            <a:ext cx="9902952" cy="2286000"/>
          </a:xfrm>
          <a:prstGeom prst="roundRect">
            <a:avLst>
              <a:gd name="adj" fmla="val 13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3178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3178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18071"/>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Назвать проверку, на которую вы полагаетесь, и </a:t>
            </a:r>
            <a:r>
              <a:rPr sz="980" b="1" i="0">
                <a:solidFill>
                  <a:srgbClr val="065A82"/>
                </a:solidFill>
                <a:latin typeface="DejaVu Sans"/>
              </a:rPr>
              <a:t>класс ошибок, который она обязана ловить</a:t>
            </a:r>
            <a:r>
              <a:rPr sz="980" b="0" i="0">
                <a:solidFill>
                  <a:srgbClr val="21295C"/>
                </a:solidFill>
                <a:latin typeface="DejaVu Sans"/>
              </a:rPr>
              <a:t>.</a:t>
            </a:r>
          </a:p>
        </p:txBody>
      </p:sp>
      <p:sp>
        <p:nvSpPr>
          <p:cNvPr id="13" name="Oval 12"/>
          <p:cNvSpPr/>
          <p:nvPr/>
        </p:nvSpPr>
        <p:spPr>
          <a:xfrm>
            <a:off x="1984248" y="246784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46784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454130"/>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Внести ошибку этого класса </a:t>
            </a:r>
            <a:r>
              <a:rPr sz="980" b="1" i="0">
                <a:solidFill>
                  <a:srgbClr val="065A82"/>
                </a:solidFill>
                <a:latin typeface="DejaVu Sans"/>
              </a:rPr>
              <a:t>нарочно</a:t>
            </a:r>
            <a:r>
              <a:rPr sz="980" b="0" i="0">
                <a:solidFill>
                  <a:srgbClr val="21295C"/>
                </a:solidFill>
                <a:latin typeface="DejaVu Sans"/>
              </a:rPr>
              <a:t> — одну, мелкую, в одном месте.</a:t>
            </a:r>
          </a:p>
        </p:txBody>
      </p:sp>
      <p:sp>
        <p:nvSpPr>
          <p:cNvPr id="16" name="Oval 15"/>
          <p:cNvSpPr/>
          <p:nvPr/>
        </p:nvSpPr>
        <p:spPr>
          <a:xfrm>
            <a:off x="1984248" y="290390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0390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890188"/>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Прогнать проверку. </a:t>
            </a:r>
            <a:r>
              <a:rPr sz="980" b="1" i="0">
                <a:solidFill>
                  <a:srgbClr val="065A82"/>
                </a:solidFill>
                <a:latin typeface="DejaVu Sans"/>
              </a:rPr>
              <a:t>Молчание значит, что проверки нет</a:t>
            </a:r>
            <a:r>
              <a:rPr sz="980" b="0" i="0">
                <a:solidFill>
                  <a:srgbClr val="21295C"/>
                </a:solidFill>
                <a:latin typeface="DejaVu Sans"/>
              </a:rPr>
              <a:t>: она не отличает исправное от испорченного.</a:t>
            </a:r>
          </a:p>
        </p:txBody>
      </p:sp>
      <p:sp>
        <p:nvSpPr>
          <p:cNvPr id="19" name="Oval 18"/>
          <p:cNvSpPr/>
          <p:nvPr/>
        </p:nvSpPr>
        <p:spPr>
          <a:xfrm>
            <a:off x="1984248" y="333996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33996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326247"/>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Записать долю пойманного </a:t>
            </a:r>
            <a:r>
              <a:rPr sz="980" b="1" i="0">
                <a:solidFill>
                  <a:srgbClr val="065A82"/>
                </a:solidFill>
                <a:latin typeface="DejaVu Sans"/>
              </a:rPr>
              <a:t>числом</a:t>
            </a:r>
            <a:r>
              <a:rPr sz="980" b="0" i="0">
                <a:solidFill>
                  <a:srgbClr val="21295C"/>
                </a:solidFill>
                <a:latin typeface="DejaVu Sans"/>
              </a:rPr>
              <a:t> и повторять замер после каждой правки проверки: проверки стареют молча.</a:t>
            </a:r>
          </a:p>
        </p:txBody>
      </p:sp>
      <p:sp>
        <p:nvSpPr>
          <p:cNvPr id="22" name="TextBox 21"/>
          <p:cNvSpPr txBox="1"/>
          <p:nvPr/>
        </p:nvSpPr>
        <p:spPr>
          <a:xfrm>
            <a:off x="7589520" y="2018071"/>
            <a:ext cx="3931920" cy="365760"/>
          </a:xfrm>
          <a:prstGeom prst="rect">
            <a:avLst/>
          </a:prstGeom>
          <a:noFill/>
        </p:spPr>
        <p:txBody>
          <a:bodyPr wrap="square" lIns="0" rIns="0" tIns="0" bIns="0" anchor="t">
            <a:spAutoFit/>
          </a:bodyPr>
          <a:lstStyle/>
          <a:p>
            <a:pPr algn="l">
              <a:lnSpc>
                <a:spcPct val="108000"/>
              </a:lnSpc>
            </a:pPr>
            <a:r>
              <a:rPr sz="1019" b="1" i="0">
                <a:solidFill>
                  <a:srgbClr val="21295C"/>
                </a:solidFill>
                <a:latin typeface="DejaVu Sans"/>
              </a:rPr>
              <a:t>Тот же приём — на трёх разных проверках</a:t>
            </a:r>
          </a:p>
        </p:txBody>
      </p:sp>
      <p:sp>
        <p:nvSpPr>
          <p:cNvPr id="23" name="Rounded Rectangle 22"/>
          <p:cNvSpPr/>
          <p:nvPr/>
        </p:nvSpPr>
        <p:spPr>
          <a:xfrm>
            <a:off x="7589520" y="2420407"/>
            <a:ext cx="3931920" cy="47548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9248" y="2420407"/>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Модульные тесты</a:t>
            </a:r>
          </a:p>
        </p:txBody>
      </p:sp>
      <p:sp>
        <p:nvSpPr>
          <p:cNvPr id="25" name="TextBox 24"/>
          <p:cNvSpPr txBox="1"/>
          <p:nvPr/>
        </p:nvSpPr>
        <p:spPr>
          <a:xfrm>
            <a:off x="9555480" y="2420407"/>
            <a:ext cx="1887321" cy="475488"/>
          </a:xfrm>
          <a:prstGeom prst="rect">
            <a:avLst/>
          </a:prstGeom>
          <a:noFill/>
        </p:spPr>
        <p:txBody>
          <a:bodyPr wrap="square" lIns="0" rIns="0" tIns="0" bIns="0" anchor="ctr">
            <a:spAutoFit/>
          </a:bodyPr>
          <a:lstStyle/>
          <a:p>
            <a:pPr algn="r">
              <a:lnSpc>
                <a:spcPct val="106000"/>
              </a:lnSpc>
            </a:pPr>
            <a:r>
              <a:rPr sz="940" b="1" i="0">
                <a:solidFill>
                  <a:srgbClr val="21295C"/>
                </a:solidFill>
                <a:latin typeface="DejaVu Sans"/>
              </a:rPr>
              <a:t>перевернуть условие</a:t>
            </a:r>
          </a:p>
        </p:txBody>
      </p:sp>
      <p:sp>
        <p:nvSpPr>
          <p:cNvPr id="26" name="Rounded Rectangle 25"/>
          <p:cNvSpPr/>
          <p:nvPr/>
        </p:nvSpPr>
        <p:spPr>
          <a:xfrm>
            <a:off x="7589520" y="2932471"/>
            <a:ext cx="3931920" cy="47548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2932471"/>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Набор оценок</a:t>
            </a:r>
          </a:p>
        </p:txBody>
      </p:sp>
      <p:sp>
        <p:nvSpPr>
          <p:cNvPr id="28" name="TextBox 27"/>
          <p:cNvSpPr txBox="1"/>
          <p:nvPr/>
        </p:nvSpPr>
        <p:spPr>
          <a:xfrm>
            <a:off x="9555480" y="2932471"/>
            <a:ext cx="1887321" cy="475488"/>
          </a:xfrm>
          <a:prstGeom prst="rect">
            <a:avLst/>
          </a:prstGeom>
          <a:noFill/>
        </p:spPr>
        <p:txBody>
          <a:bodyPr wrap="square" lIns="0" rIns="0" tIns="0" bIns="0" anchor="ctr">
            <a:spAutoFit/>
          </a:bodyPr>
          <a:lstStyle/>
          <a:p>
            <a:pPr algn="r">
              <a:lnSpc>
                <a:spcPct val="106000"/>
              </a:lnSpc>
            </a:pPr>
            <a:r>
              <a:rPr sz="940" b="1" i="0">
                <a:solidFill>
                  <a:srgbClr val="21295C"/>
                </a:solidFill>
                <a:latin typeface="DejaVu Sans"/>
              </a:rPr>
              <a:t>подменить ответ</a:t>
            </a:r>
          </a:p>
          <a:p>
            <a:pPr algn="r">
              <a:lnSpc>
                <a:spcPct val="106000"/>
              </a:lnSpc>
            </a:pPr>
            <a:r>
              <a:rPr sz="940" b="1" i="0">
                <a:solidFill>
                  <a:srgbClr val="21295C"/>
                </a:solidFill>
                <a:latin typeface="DejaVu Sans"/>
              </a:rPr>
              <a:t>на почти верный</a:t>
            </a:r>
          </a:p>
        </p:txBody>
      </p:sp>
      <p:sp>
        <p:nvSpPr>
          <p:cNvPr id="29" name="Rounded Rectangle 28"/>
          <p:cNvSpPr/>
          <p:nvPr/>
        </p:nvSpPr>
        <p:spPr>
          <a:xfrm>
            <a:off x="7589520" y="3444535"/>
            <a:ext cx="3931920" cy="475488"/>
          </a:xfrm>
          <a:prstGeom prst="roundRect">
            <a:avLst>
              <a:gd name="adj" fmla="val 19444"/>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99248" y="3444535"/>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Файл инструкций</a:t>
            </a:r>
          </a:p>
          <a:p>
            <a:pPr algn="l">
              <a:lnSpc>
                <a:spcPct val="106000"/>
              </a:lnSpc>
            </a:pPr>
            <a:r>
              <a:rPr sz="940" b="0" i="0">
                <a:solidFill>
                  <a:srgbClr val="21295C"/>
                </a:solidFill>
                <a:latin typeface="DejaVu Sans"/>
              </a:rPr>
              <a:t>агенту</a:t>
            </a:r>
          </a:p>
        </p:txBody>
      </p:sp>
      <p:sp>
        <p:nvSpPr>
          <p:cNvPr id="31" name="TextBox 30"/>
          <p:cNvSpPr txBox="1"/>
          <p:nvPr/>
        </p:nvSpPr>
        <p:spPr>
          <a:xfrm>
            <a:off x="9555480" y="3444535"/>
            <a:ext cx="1887321" cy="475488"/>
          </a:xfrm>
          <a:prstGeom prst="rect">
            <a:avLst/>
          </a:prstGeom>
          <a:noFill/>
        </p:spPr>
        <p:txBody>
          <a:bodyPr wrap="square" lIns="0" rIns="0" tIns="0" bIns="0" anchor="ctr">
            <a:spAutoFit/>
          </a:bodyPr>
          <a:lstStyle/>
          <a:p>
            <a:pPr algn="r">
              <a:lnSpc>
                <a:spcPct val="106000"/>
              </a:lnSpc>
            </a:pPr>
            <a:r>
              <a:rPr sz="940" b="1" i="0">
                <a:solidFill>
                  <a:srgbClr val="028090"/>
                </a:solidFill>
                <a:latin typeface="DejaVu Sans"/>
              </a:rPr>
              <a:t>задача, где нарушить</a:t>
            </a:r>
          </a:p>
          <a:p>
            <a:pPr algn="r">
              <a:lnSpc>
                <a:spcPct val="106000"/>
              </a:lnSpc>
            </a:pPr>
            <a:r>
              <a:rPr sz="940" b="1" i="0">
                <a:solidFill>
                  <a:srgbClr val="028090"/>
                </a:solidFill>
                <a:latin typeface="DejaVu Sans"/>
              </a:rPr>
              <a:t>правило короче</a:t>
            </a:r>
          </a:p>
        </p:txBody>
      </p:sp>
      <p:sp>
        <p:nvSpPr>
          <p:cNvPr id="32" name="TextBox 31"/>
          <p:cNvSpPr txBox="1"/>
          <p:nvPr/>
        </p:nvSpPr>
        <p:spPr>
          <a:xfrm>
            <a:off x="7589520" y="3956599"/>
            <a:ext cx="3931920" cy="201168"/>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молчание на подсаженный дефект и значит, что проверки нет</a:t>
            </a:r>
          </a:p>
        </p:txBody>
      </p:sp>
      <p:sp>
        <p:nvSpPr>
          <p:cNvPr id="33" name="Rounded Rectangle 32"/>
          <p:cNvSpPr/>
          <p:nvPr/>
        </p:nvSpPr>
        <p:spPr>
          <a:xfrm>
            <a:off x="502920" y="4276639"/>
            <a:ext cx="1152144" cy="1049833"/>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276639"/>
            <a:ext cx="1060704" cy="104983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5" name="Rounded Rectangle 34"/>
          <p:cNvSpPr/>
          <p:nvPr/>
        </p:nvSpPr>
        <p:spPr>
          <a:xfrm>
            <a:off x="1801368" y="4276639"/>
            <a:ext cx="9902952" cy="1049833"/>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4368079"/>
            <a:ext cx="4677156" cy="866953"/>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441379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мутантов порождает список правил</a:t>
            </a:r>
          </a:p>
        </p:txBody>
      </p:sp>
      <p:sp>
        <p:nvSpPr>
          <p:cNvPr id="38" name="TextBox 37"/>
          <p:cNvSpPr txBox="1"/>
          <p:nvPr/>
        </p:nvSpPr>
        <p:spPr>
          <a:xfrm>
            <a:off x="2084831" y="4642399"/>
            <a:ext cx="4475988" cy="537769"/>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Перевернуть условие, сдвинуть границу, убрать вызов. Прогон воспроизводим, инструменты есть под каждый язык: PIT, mutmut, Cosmic Ray, Stryker.</a:t>
            </a:r>
          </a:p>
        </p:txBody>
      </p:sp>
      <p:sp>
        <p:nvSpPr>
          <p:cNvPr id="39" name="Rounded Rectangle 38"/>
          <p:cNvSpPr/>
          <p:nvPr/>
        </p:nvSpPr>
        <p:spPr>
          <a:xfrm>
            <a:off x="6844284" y="4368079"/>
            <a:ext cx="4677156" cy="866953"/>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441379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мутантов пишет модель</a:t>
            </a:r>
          </a:p>
        </p:txBody>
      </p:sp>
      <p:sp>
        <p:nvSpPr>
          <p:cNvPr id="41" name="TextBox 40"/>
          <p:cNvSpPr txBox="1"/>
          <p:nvPr/>
        </p:nvSpPr>
        <p:spPr>
          <a:xfrm>
            <a:off x="6944868" y="4642399"/>
            <a:ext cx="4475988" cy="537769"/>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Они ближе к настоящим ошибкам: находят </a:t>
            </a:r>
            <a:r>
              <a:rPr sz="900" b="1" i="0">
                <a:solidFill>
                  <a:srgbClr val="21295C"/>
                </a:solidFill>
                <a:latin typeface="DejaVu Sans"/>
              </a:rPr>
              <a:t>76,5%</a:t>
            </a:r>
            <a:r>
              <a:rPr sz="900" b="0" i="0">
                <a:solidFill>
                  <a:srgbClr val="21295C"/>
                </a:solidFill>
                <a:latin typeface="DejaVu Sans"/>
              </a:rPr>
              <a:t> реальных дефектов против </a:t>
            </a:r>
            <a:r>
              <a:rPr sz="900" b="1" i="0">
                <a:solidFill>
                  <a:srgbClr val="21295C"/>
                </a:solidFill>
                <a:latin typeface="DejaVu Sans"/>
              </a:rPr>
              <a:t>44,2%</a:t>
            </a:r>
            <a:r>
              <a:rPr sz="900" b="0" i="0">
                <a:solidFill>
                  <a:srgbClr val="21295C"/>
                </a:solidFill>
                <a:latin typeface="DejaVu Sans"/>
              </a:rPr>
              <a:t> у списка правил (851 дефект). Плата — около трети сгенерированных мутантов не компилируется.</a:t>
            </a:r>
          </a:p>
        </p:txBody>
      </p:sp>
      <p:sp>
        <p:nvSpPr>
          <p:cNvPr id="42" name="Rounded Rectangle 41"/>
          <p:cNvSpPr/>
          <p:nvPr/>
        </p:nvSpPr>
        <p:spPr>
          <a:xfrm>
            <a:off x="502920" y="5390480"/>
            <a:ext cx="1152144" cy="808621"/>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390480"/>
            <a:ext cx="1060704" cy="808621"/>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4" name="Rounded Rectangle 43"/>
          <p:cNvSpPr/>
          <p:nvPr/>
        </p:nvSpPr>
        <p:spPr>
          <a:xfrm>
            <a:off x="1801368" y="5390480"/>
            <a:ext cx="9902952" cy="808621"/>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5481920"/>
            <a:ext cx="9537192" cy="625741"/>
          </a:xfrm>
          <a:prstGeom prst="rect">
            <a:avLst/>
          </a:prstGeom>
          <a:noFill/>
        </p:spPr>
        <p:txBody>
          <a:bodyPr wrap="square" lIns="0" rIns="0" tIns="0" bIns="0" anchor="ctr">
            <a:spAutoFit/>
          </a:bodyPr>
          <a:lstStyle/>
          <a:p>
            <a:pPr algn="l">
              <a:lnSpc>
                <a:spcPct val="114000"/>
              </a:lnSpc>
            </a:pPr>
            <a:r>
              <a:rPr sz="980" b="1" i="0">
                <a:solidFill>
                  <a:srgbClr val="21295C"/>
                </a:solidFill>
                <a:latin typeface="DejaVu Sans"/>
              </a:rPr>
              <a:t>Часть дефектов приём не видит по построению: из 357 реальных ошибок </a:t>
            </a:r>
            <a:r>
              <a:rPr sz="980" b="1" i="0">
                <a:solidFill>
                  <a:srgbClr val="21295C"/>
                </a:solidFill>
                <a:latin typeface="DejaVu Sans"/>
              </a:rPr>
              <a:t>27% не связаны ни с одним мутантом</a:t>
            </a:r>
            <a:r>
              <a:rPr sz="980" b="1" i="0">
                <a:solidFill>
                  <a:srgbClr val="21295C"/>
                </a:solidFill>
                <a:latin typeface="DejaVu Sans"/>
              </a:rPr>
              <a:t> — неверные алгоритмы и код, который следовало удалить. И доля убитых портится так же, как покрытие: поставьте по ней гейт — начнут плодиться легко убиваемые мутанты, а обнаружение не вырастет.</a:t>
            </a:r>
          </a:p>
        </p:txBody>
      </p:sp>
      <p:sp>
        <p:nvSpPr>
          <p:cNvPr id="46" name="TextBox 45"/>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Продолжение Лекции 4 §4.3 · мутанты от модели против списка правил: 76,5% против 44,2% на 851 реальном дефекте (arXiv 2406.09843) · 27% дефектов без связанного мутанта — Just et al., FSE 2014</a:t>
            </a:r>
          </a:p>
        </p:txBody>
      </p:sp>
      <p:sp>
        <p:nvSpPr>
          <p:cNvPr id="47" name="TextBox 4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4566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Поэтапная раскатка и путь назад — как назначить цену ошибки заранее</a:t>
            </a:r>
          </a:p>
        </p:txBody>
      </p:sp>
      <p:sp>
        <p:nvSpPr>
          <p:cNvPr id="3" name="Rounded Rectangle 2"/>
          <p:cNvSpPr/>
          <p:nvPr/>
        </p:nvSpPr>
        <p:spPr>
          <a:xfrm>
            <a:off x="502920" y="855980"/>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55980"/>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55980"/>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47420"/>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Новое включают постепенно: сначала узкому кругу, потом шире. И заранее договариваются, как всё вернуть обратно. </a:t>
            </a:r>
            <a:r>
              <a:rPr sz="1150" b="1" i="0">
                <a:solidFill>
                  <a:srgbClr val="21295C"/>
                </a:solidFill>
                <a:latin typeface="DejaVu Sans"/>
              </a:rPr>
              <a:t>Радиус поражения — сколько людей пострадает, если новое окажется плохим, — команда назначает сама, до запуска.</a:t>
            </a:r>
          </a:p>
        </p:txBody>
      </p:sp>
      <p:sp>
        <p:nvSpPr>
          <p:cNvPr id="7" name="Rounded Rectangle 6"/>
          <p:cNvSpPr/>
          <p:nvPr/>
        </p:nvSpPr>
        <p:spPr>
          <a:xfrm>
            <a:off x="502920" y="1813046"/>
            <a:ext cx="1152144" cy="217627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13046"/>
            <a:ext cx="1060704" cy="217627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813046"/>
            <a:ext cx="9902952" cy="2176272"/>
          </a:xfrm>
          <a:prstGeom prst="roundRect">
            <a:avLst>
              <a:gd name="adj" fmla="val 140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91820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91820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904486"/>
            <a:ext cx="593445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Ступени</a:t>
            </a:r>
            <a:r>
              <a:rPr sz="1000" b="0" i="0">
                <a:solidFill>
                  <a:srgbClr val="21295C"/>
                </a:solidFill>
                <a:latin typeface="DejaVu Sans"/>
              </a:rPr>
              <a:t> — какие доли аудитории проходим и в каком порядке.</a:t>
            </a:r>
          </a:p>
        </p:txBody>
      </p:sp>
      <p:sp>
        <p:nvSpPr>
          <p:cNvPr id="13" name="Oval 12"/>
          <p:cNvSpPr/>
          <p:nvPr/>
        </p:nvSpPr>
        <p:spPr>
          <a:xfrm>
            <a:off x="1984248" y="219532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19532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181605"/>
            <a:ext cx="593445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Признак остановки</a:t>
            </a:r>
            <a:r>
              <a:rPr sz="1000" b="0" i="0">
                <a:solidFill>
                  <a:srgbClr val="21295C"/>
                </a:solidFill>
                <a:latin typeface="DejaVu Sans"/>
              </a:rPr>
              <a:t> — что наблюдают на каждой ступени и какое ухудшение останавливает движение вперёд; без названного заранее признака «стало хуже» обсуждается бесконечно.</a:t>
            </a:r>
          </a:p>
        </p:txBody>
      </p:sp>
      <p:sp>
        <p:nvSpPr>
          <p:cNvPr id="16" name="Oval 15"/>
          <p:cNvSpPr/>
          <p:nvPr/>
        </p:nvSpPr>
        <p:spPr>
          <a:xfrm>
            <a:off x="1984248" y="280356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80356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89849"/>
            <a:ext cx="59344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Путь назад</a:t>
            </a:r>
            <a:r>
              <a:rPr sz="1000" b="0" i="0">
                <a:solidFill>
                  <a:srgbClr val="21295C"/>
                </a:solidFill>
                <a:latin typeface="DejaVu Sans"/>
              </a:rPr>
              <a:t> — кто принимает решение вернуться, за какое время это делается и проверяли ли, что возврат вообще работает.</a:t>
            </a:r>
          </a:p>
        </p:txBody>
      </p:sp>
      <p:sp>
        <p:nvSpPr>
          <p:cNvPr id="19" name="Rounded Rectangle 18"/>
          <p:cNvSpPr/>
          <p:nvPr/>
        </p:nvSpPr>
        <p:spPr>
          <a:xfrm>
            <a:off x="9180576" y="1941062"/>
            <a:ext cx="2340863" cy="329184"/>
          </a:xfrm>
          <a:prstGeom prst="roundRect">
            <a:avLst>
              <a:gd name="adj" fmla="val 19444"/>
            </a:avLst>
          </a:prstGeom>
          <a:solidFill>
            <a:srgbClr val="E5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1941062"/>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узкий круг</a:t>
            </a:r>
          </a:p>
        </p:txBody>
      </p:sp>
      <p:cxnSp>
        <p:nvCxnSpPr>
          <p:cNvPr id="21" name="Connector 20"/>
          <p:cNvCxnSpPr/>
          <p:nvPr/>
        </p:nvCxnSpPr>
        <p:spPr>
          <a:xfrm>
            <a:off x="10351008" y="2270246"/>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180576" y="2379974"/>
            <a:ext cx="2340863" cy="329184"/>
          </a:xfrm>
          <a:prstGeom prst="roundRect">
            <a:avLst>
              <a:gd name="adj" fmla="val 19444"/>
            </a:avLst>
          </a:prstGeom>
          <a:solidFill>
            <a:srgbClr val="E1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0" y="2379974"/>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малая доля</a:t>
            </a:r>
          </a:p>
        </p:txBody>
      </p:sp>
      <p:cxnSp>
        <p:nvCxnSpPr>
          <p:cNvPr id="24" name="Connector 23"/>
          <p:cNvCxnSpPr/>
          <p:nvPr/>
        </p:nvCxnSpPr>
        <p:spPr>
          <a:xfrm>
            <a:off x="10351008" y="2709158"/>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80576" y="2818886"/>
            <a:ext cx="2340863" cy="329184"/>
          </a:xfrm>
          <a:prstGeom prst="roundRect">
            <a:avLst>
              <a:gd name="adj" fmla="val 19444"/>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35440" y="2818886"/>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часть аудитории</a:t>
            </a:r>
          </a:p>
        </p:txBody>
      </p:sp>
      <p:cxnSp>
        <p:nvCxnSpPr>
          <p:cNvPr id="27" name="Connector 26"/>
          <p:cNvCxnSpPr/>
          <p:nvPr/>
        </p:nvCxnSpPr>
        <p:spPr>
          <a:xfrm>
            <a:off x="10351008" y="3148070"/>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80576" y="3257798"/>
            <a:ext cx="2340863" cy="329184"/>
          </a:xfrm>
          <a:prstGeom prst="roundRect">
            <a:avLst>
              <a:gd name="adj" fmla="val 19444"/>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0" y="3257798"/>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все</a:t>
            </a:r>
          </a:p>
        </p:txBody>
      </p:sp>
      <p:cxnSp>
        <p:nvCxnSpPr>
          <p:cNvPr id="30" name="Connector 29"/>
          <p:cNvCxnSpPr/>
          <p:nvPr/>
        </p:nvCxnSpPr>
        <p:spPr>
          <a:xfrm flipV="1">
            <a:off x="8997696" y="2105654"/>
            <a:ext cx="0" cy="1316736"/>
          </a:xfrm>
          <a:prstGeom prst="line">
            <a:avLst/>
          </a:prstGeom>
          <a:ln w="317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247888" y="2562854"/>
            <a:ext cx="694944" cy="274320"/>
          </a:xfrm>
          <a:prstGeom prst="rect">
            <a:avLst/>
          </a:prstGeom>
          <a:noFill/>
        </p:spPr>
        <p:txBody>
          <a:bodyPr wrap="square" lIns="0" rIns="0" tIns="0" bIns="0" anchor="t">
            <a:spAutoFit/>
          </a:bodyPr>
          <a:lstStyle/>
          <a:p>
            <a:pPr algn="ctr">
              <a:lnSpc>
                <a:spcPct val="104000"/>
              </a:lnSpc>
            </a:pPr>
            <a:r>
              <a:rPr sz="919" b="1" i="0">
                <a:solidFill>
                  <a:srgbClr val="F0AB00"/>
                </a:solidFill>
                <a:latin typeface="DejaVu Sans"/>
              </a:rPr>
              <a:t>путь</a:t>
            </a:r>
          </a:p>
          <a:p>
            <a:pPr algn="ctr">
              <a:lnSpc>
                <a:spcPct val="104000"/>
              </a:lnSpc>
            </a:pPr>
            <a:r>
              <a:rPr sz="919" b="1" i="0">
                <a:solidFill>
                  <a:srgbClr val="F0AB00"/>
                </a:solidFill>
                <a:latin typeface="DejaVu Sans"/>
              </a:rPr>
              <a:t>назад</a:t>
            </a:r>
          </a:p>
        </p:txBody>
      </p:sp>
      <p:sp>
        <p:nvSpPr>
          <p:cNvPr id="32" name="TextBox 31"/>
          <p:cNvSpPr txBox="1"/>
          <p:nvPr/>
        </p:nvSpPr>
        <p:spPr>
          <a:xfrm>
            <a:off x="8503920" y="3623558"/>
            <a:ext cx="3017520" cy="274320"/>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доля аудитории растёт ступенями; возврат описан до запуска, не в момент сбоя</a:t>
            </a:r>
          </a:p>
        </p:txBody>
      </p:sp>
      <p:sp>
        <p:nvSpPr>
          <p:cNvPr id="33" name="Rounded Rectangle 32"/>
          <p:cNvSpPr/>
          <p:nvPr/>
        </p:nvSpPr>
        <p:spPr>
          <a:xfrm>
            <a:off x="502920" y="4053326"/>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053326"/>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5" name="Rounded Rectangle 34"/>
          <p:cNvSpPr/>
          <p:nvPr/>
        </p:nvSpPr>
        <p:spPr>
          <a:xfrm>
            <a:off x="1801368" y="4053326"/>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4144766"/>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419048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приёму несколько десятилетий</a:t>
            </a:r>
          </a:p>
        </p:txBody>
      </p:sp>
      <p:sp>
        <p:nvSpPr>
          <p:cNvPr id="38" name="TextBox 37"/>
          <p:cNvSpPr txBox="1"/>
          <p:nvPr/>
        </p:nvSpPr>
        <p:spPr>
          <a:xfrm>
            <a:off x="2084831" y="441908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Поэтапная раскатка и откат придуманы задолго до ИИ и устроены точно так же. </a:t>
            </a:r>
            <a:r>
              <a:rPr sz="950" b="1" i="0">
                <a:solidFill>
                  <a:srgbClr val="21295C"/>
                </a:solidFill>
                <a:latin typeface="DejaVu Sans"/>
              </a:rPr>
              <a:t>Изобретать заново нечего</a:t>
            </a:r>
            <a:r>
              <a:rPr sz="950" b="0" i="0">
                <a:solidFill>
                  <a:srgbClr val="21295C"/>
                </a:solidFill>
                <a:latin typeface="DejaVu Sans"/>
              </a:rPr>
              <a:t>, берут готовое.</a:t>
            </a:r>
          </a:p>
        </p:txBody>
      </p:sp>
      <p:sp>
        <p:nvSpPr>
          <p:cNvPr id="39" name="Rounded Rectangle 38"/>
          <p:cNvSpPr/>
          <p:nvPr/>
        </p:nvSpPr>
        <p:spPr>
          <a:xfrm>
            <a:off x="6844284" y="4144766"/>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419048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меняется только скорость ступеней</a:t>
            </a:r>
          </a:p>
        </p:txBody>
      </p:sp>
      <p:sp>
        <p:nvSpPr>
          <p:cNvPr id="41" name="TextBox 40"/>
          <p:cNvSpPr txBox="1"/>
          <p:nvPr/>
        </p:nvSpPr>
        <p:spPr>
          <a:xfrm>
            <a:off x="6944868" y="441908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Обычную функцию видно по отказам и задержкам сразу, а ухудшение ответов проступает только на объёме: на каждую ступень нужны </a:t>
            </a:r>
            <a:r>
              <a:rPr sz="950" b="1" i="0">
                <a:solidFill>
                  <a:srgbClr val="21295C"/>
                </a:solidFill>
                <a:latin typeface="DejaVu Sans"/>
              </a:rPr>
              <a:t>часы наблюдения, минут не хватает</a:t>
            </a:r>
            <a:r>
              <a:rPr sz="950" b="0" i="0">
                <a:solidFill>
                  <a:srgbClr val="21295C"/>
                </a:solidFill>
                <a:latin typeface="DejaVu Sans"/>
              </a:rPr>
              <a:t>.</a:t>
            </a:r>
          </a:p>
        </p:txBody>
      </p:sp>
      <p:sp>
        <p:nvSpPr>
          <p:cNvPr id="42" name="Rounded Rectangle 41"/>
          <p:cNvSpPr/>
          <p:nvPr/>
        </p:nvSpPr>
        <p:spPr>
          <a:xfrm>
            <a:off x="502920" y="5191354"/>
            <a:ext cx="1152144" cy="105034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191354"/>
            <a:ext cx="1060704" cy="105034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4" name="Rounded Rectangle 43"/>
          <p:cNvSpPr/>
          <p:nvPr/>
        </p:nvSpPr>
        <p:spPr>
          <a:xfrm>
            <a:off x="1801368" y="5191354"/>
            <a:ext cx="9902952" cy="105034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5282794"/>
            <a:ext cx="9537192" cy="867462"/>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Раскатка ограничивает радиус, но </a:t>
            </a:r>
            <a:r>
              <a:rPr sz="1100" b="1" i="0">
                <a:solidFill>
                  <a:srgbClr val="21295C"/>
                </a:solidFill>
                <a:latin typeface="DejaVu Sans"/>
              </a:rPr>
              <a:t>не заменяет решение</a:t>
            </a:r>
            <a:r>
              <a:rPr sz="1100" b="1" i="0">
                <a:solidFill>
                  <a:srgbClr val="21295C"/>
                </a:solidFill>
                <a:latin typeface="DejaVu Sans"/>
              </a:rPr>
              <a:t>. Долгий пилот на крошечной доле, который продолжает сбоить, упёрся в потолок подхода; «ещё немного данных» его не вылечит. Обратная ошибка так же реальна: </a:t>
            </a:r>
            <a:r>
              <a:rPr sz="1100" b="1" i="0">
                <a:solidFill>
                  <a:srgbClr val="21295C"/>
                </a:solidFill>
                <a:latin typeface="DejaVu Sans"/>
              </a:rPr>
              <a:t>зрелость продукта права пропустить пилот не даёт</a:t>
            </a:r>
            <a:r>
              <a:rPr sz="1100" b="1" i="0">
                <a:solidFill>
                  <a:srgbClr val="21295C"/>
                </a:solidFill>
                <a:latin typeface="DejaVu Sans"/>
              </a:rPr>
              <a:t> — она повышает цену пропуска. И путь назад, который описан, но ни разу не проверен, остаётся намерением.</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Удвоенная скорость генерации удваивает очередь на проверку; пропускная способность стоит на месте</a:t>
            </a:r>
          </a:p>
        </p:txBody>
      </p:sp>
      <p:sp>
        <p:nvSpPr>
          <p:cNvPr id="3" name="Rounded Rectangle 2"/>
          <p:cNvSpPr/>
          <p:nvPr/>
        </p:nvSpPr>
        <p:spPr>
          <a:xfrm>
            <a:off x="502920" y="960120"/>
            <a:ext cx="5989320" cy="3611880"/>
          </a:xfrm>
          <a:prstGeom prst="roundRect">
            <a:avLst>
              <a:gd name="adj" fmla="val 843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097280"/>
            <a:ext cx="5257800" cy="310896"/>
          </a:xfrm>
          <a:prstGeom prst="rect">
            <a:avLst/>
          </a:prstGeom>
          <a:noFill/>
        </p:spPr>
        <p:txBody>
          <a:bodyPr wrap="square" lIns="0" rIns="0" tIns="0" bIns="0" anchor="t">
            <a:spAutoFit/>
          </a:bodyPr>
          <a:lstStyle/>
          <a:p>
            <a:pPr algn="l">
              <a:lnSpc>
                <a:spcPct val="104000"/>
              </a:lnSpc>
            </a:pPr>
            <a:r>
              <a:rPr sz="1350" b="1" i="0">
                <a:solidFill>
                  <a:srgbClr val="065A82"/>
                </a:solidFill>
                <a:latin typeface="DejaVu Sans"/>
              </a:rPr>
              <a:t>Две операции разработки и что с ними сделал ИИ</a:t>
            </a:r>
          </a:p>
        </p:txBody>
      </p:sp>
      <p:sp>
        <p:nvSpPr>
          <p:cNvPr id="5" name="Rounded Rectangle 4"/>
          <p:cNvSpPr/>
          <p:nvPr/>
        </p:nvSpPr>
        <p:spPr>
          <a:xfrm>
            <a:off x="868680" y="1536192"/>
            <a:ext cx="2423160" cy="749808"/>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572768"/>
            <a:ext cx="2240280" cy="676656"/>
          </a:xfrm>
          <a:prstGeom prst="rect">
            <a:avLst/>
          </a:prstGeom>
          <a:noFill/>
        </p:spPr>
        <p:txBody>
          <a:bodyPr wrap="square" lIns="0" rIns="0" tIns="0" bIns="0" anchor="ctr">
            <a:spAutoFit/>
          </a:bodyPr>
          <a:lstStyle/>
          <a:p>
            <a:pPr algn="ctr">
              <a:lnSpc>
                <a:spcPct val="104000"/>
              </a:lnSpc>
            </a:pPr>
            <a:r>
              <a:rPr sz="1200" b="1" i="0">
                <a:solidFill>
                  <a:srgbClr val="21295C"/>
                </a:solidFill>
                <a:latin typeface="DejaVu Sans"/>
              </a:rPr>
              <a:t>сделать</a:t>
            </a:r>
          </a:p>
          <a:p>
            <a:pPr algn="ctr">
              <a:lnSpc>
                <a:spcPct val="104000"/>
              </a:lnSpc>
            </a:pPr>
            <a:r>
              <a:rPr sz="1200" b="1" i="0">
                <a:solidFill>
                  <a:srgbClr val="21295C"/>
                </a:solidFill>
                <a:latin typeface="DejaVu Sans"/>
              </a:rPr>
              <a:t>подешевело</a:t>
            </a:r>
          </a:p>
        </p:txBody>
      </p:sp>
      <p:sp>
        <p:nvSpPr>
          <p:cNvPr id="7" name="Rounded Rectangle 6"/>
          <p:cNvSpPr/>
          <p:nvPr/>
        </p:nvSpPr>
        <p:spPr>
          <a:xfrm>
            <a:off x="3703320" y="1536192"/>
            <a:ext cx="2423160" cy="749808"/>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1572768"/>
            <a:ext cx="2240280" cy="676656"/>
          </a:xfrm>
          <a:prstGeom prst="rect">
            <a:avLst/>
          </a:prstGeom>
          <a:noFill/>
        </p:spPr>
        <p:txBody>
          <a:bodyPr wrap="square" lIns="0" rIns="0" tIns="0" bIns="0" anchor="ctr">
            <a:spAutoFit/>
          </a:bodyPr>
          <a:lstStyle/>
          <a:p>
            <a:pPr algn="ctr">
              <a:lnSpc>
                <a:spcPct val="104000"/>
              </a:lnSpc>
            </a:pPr>
            <a:r>
              <a:rPr sz="1200" b="1" i="0">
                <a:solidFill>
                  <a:srgbClr val="21295C"/>
                </a:solidFill>
                <a:latin typeface="DejaVu Sans"/>
              </a:rPr>
              <a:t>проверить</a:t>
            </a:r>
          </a:p>
          <a:p>
            <a:pPr algn="ctr">
              <a:lnSpc>
                <a:spcPct val="104000"/>
              </a:lnSpc>
            </a:pPr>
            <a:r>
              <a:rPr sz="1200" b="1" i="0">
                <a:solidFill>
                  <a:srgbClr val="21295C"/>
                </a:solidFill>
                <a:latin typeface="DejaVu Sans"/>
              </a:rPr>
              <a:t>не сдвинулось</a:t>
            </a:r>
          </a:p>
        </p:txBody>
      </p:sp>
      <p:sp>
        <p:nvSpPr>
          <p:cNvPr id="9" name="TextBox 8"/>
          <p:cNvSpPr txBox="1"/>
          <p:nvPr/>
        </p:nvSpPr>
        <p:spPr>
          <a:xfrm>
            <a:off x="868680" y="2359152"/>
            <a:ext cx="5257800"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сопоставление стоимости двух операций</a:t>
            </a:r>
          </a:p>
        </p:txBody>
      </p:sp>
      <p:sp>
        <p:nvSpPr>
          <p:cNvPr id="10" name="TextBox 9"/>
          <p:cNvSpPr txBox="1"/>
          <p:nvPr/>
        </p:nvSpPr>
        <p:spPr>
          <a:xfrm>
            <a:off x="868680" y="2724912"/>
            <a:ext cx="5257800" cy="1700784"/>
          </a:xfrm>
          <a:prstGeom prst="rect">
            <a:avLst/>
          </a:prstGeom>
          <a:noFill/>
        </p:spPr>
        <p:txBody>
          <a:bodyPr wrap="square" lIns="0" rIns="0" tIns="0" bIns="0" anchor="ctr">
            <a:spAutoFit/>
          </a:bodyPr>
          <a:lstStyle/>
          <a:p>
            <a:pPr algn="l">
              <a:lnSpc>
                <a:spcPct val="118000"/>
              </a:lnSpc>
            </a:pPr>
            <a:r>
              <a:rPr sz="1200" b="0" i="0">
                <a:solidFill>
                  <a:srgbClr val="21295C"/>
                </a:solidFill>
                <a:latin typeface="DejaVu Sans"/>
              </a:rPr>
              <a:t>Сделать правдоподобный результат — секунды. Убедиться, что он верный, безопасный и делает именно то, что нужно, по-прежнему требует человеческого понимания в реальном времени.</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Работа не исчезла: вся её масса переехала на ту сторону, которая не подешевела. Это не нехватка людей, которая пройдёт.</a:t>
            </a:r>
          </a:p>
        </p:txBody>
      </p:sp>
      <p:sp>
        <p:nvSpPr>
          <p:cNvPr id="11" name="Rounded Rectangle 10"/>
          <p:cNvSpPr/>
          <p:nvPr/>
        </p:nvSpPr>
        <p:spPr>
          <a:xfrm>
            <a:off x="6720840" y="960120"/>
            <a:ext cx="4983480" cy="3611880"/>
          </a:xfrm>
          <a:prstGeom prst="roundRect">
            <a:avLst>
              <a:gd name="adj" fmla="val 843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1078992"/>
            <a:ext cx="4526280"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Разрыв 70 процентов </a:t>
            </a:r>
            <a:r>
              <a:rPr sz="702" baseline="30000" b="0" i="1">
                <a:latin typeface="DejaVu Sans"/>
                <a:cs typeface="DejaVu Sans"/>
                <a:ea typeface="DejaVu Sans"/>
                <a:solidFill>
                  <a:srgbClr val="1C7293"/>
                </a:solidFill>
              </a:rPr>
              <a:t>[1]</a:t>
            </a:r>
          </a:p>
        </p:txBody>
      </p:sp>
      <p:sp>
        <p:nvSpPr>
          <p:cNvPr id="13" name="TextBox 12"/>
          <p:cNvSpPr txBox="1"/>
          <p:nvPr/>
        </p:nvSpPr>
        <p:spPr>
          <a:xfrm>
            <a:off x="6949440" y="1481328"/>
            <a:ext cx="4526280" cy="100584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Инструмент доводит команду примерно на 70% пути к рабочему результату. Оставшиеся 30% — приведение в поддерживаемый вид, ловля краевых случаев, инженерный опыт.</a:t>
            </a:r>
          </a:p>
        </p:txBody>
      </p:sp>
      <p:sp>
        <p:nvSpPr>
          <p:cNvPr id="14" name="Rounded Rectangle 13"/>
          <p:cNvSpPr/>
          <p:nvPr/>
        </p:nvSpPr>
        <p:spPr>
          <a:xfrm>
            <a:off x="6949440" y="2615184"/>
            <a:ext cx="4526280" cy="237744"/>
          </a:xfrm>
          <a:prstGeom prst="roundRect">
            <a:avLst>
              <a:gd name="adj" fmla="val 4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49440" y="2615184"/>
            <a:ext cx="3168396" cy="237744"/>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0" y="2889504"/>
            <a:ext cx="4526280" cy="219456"/>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70% пути · 30% остаются человеку</a:t>
            </a:r>
          </a:p>
        </p:txBody>
      </p:sp>
      <p:sp>
        <p:nvSpPr>
          <p:cNvPr id="17" name="TextBox 16"/>
          <p:cNvSpPr txBox="1"/>
          <p:nvPr/>
        </p:nvSpPr>
        <p:spPr>
          <a:xfrm>
            <a:off x="6949440" y="3218688"/>
            <a:ext cx="4526280" cy="118872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Документированное расхождение: опытный инженер переосмысливает и ограничивает результат модели, начинающий принимает его охотнее и отправляет дальше код, который выглядит завершённым и рассыпается под нагрузкой.</a:t>
            </a:r>
          </a:p>
        </p:txBody>
      </p:sp>
      <p:sp>
        <p:nvSpPr>
          <p:cNvPr id="18" name="Rounded Rectangle 17"/>
          <p:cNvSpPr/>
          <p:nvPr/>
        </p:nvSpPr>
        <p:spPr>
          <a:xfrm>
            <a:off x="502920" y="470001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754879"/>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Выпуск без проверки на наборе примеров и без проверенного пути назад берёт скорость в долг: это отложенная цена. Определение готовности обязано вобрать эти 30%, иначе оно молча сводится к «тесты прошли — значит готово».</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Osmani — The 70% Problem</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Google AI Overviews, май 2024: включили сразу всем — минуя пилот целиком</a:t>
            </a:r>
          </a:p>
        </p:txBody>
      </p:sp>
      <p:sp>
        <p:nvSpPr>
          <p:cNvPr id="3" name="Rounded Rectangle 2"/>
          <p:cNvSpPr/>
          <p:nvPr/>
        </p:nvSpPr>
        <p:spPr>
          <a:xfrm>
            <a:off x="502920" y="932688"/>
            <a:ext cx="7589520" cy="2212848"/>
          </a:xfrm>
          <a:prstGeom prst="roundRect">
            <a:avLst>
              <a:gd name="adj" fmla="val 13774"/>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55648"/>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Google встроил в поиск генеративные ответы: вместо списка ссылок вверху страницы стал появляться готовый ответ, составленный моделью по найденным страницам. Функцию включили сразу всем пользователям поиска в США, одним шагом, и отключить её пользователь не мог. За несколько дней в ответах разошлись советы есть камни и добавлять в пиццу клей, чтобы сыр держался: модель приняла за источники сатирическую статью и старую шутку с форума. Компания реагировала уже после — ограничила ответы на бессмысленные запросы, отфильтровала сатиру, приостановила ответы на темах о здоровье.</a:t>
            </a:r>
          </a:p>
        </p:txBody>
      </p:sp>
      <p:sp>
        <p:nvSpPr>
          <p:cNvPr id="6" name="Rounded Rectangle 5"/>
          <p:cNvSpPr/>
          <p:nvPr/>
        </p:nvSpPr>
        <p:spPr>
          <a:xfrm>
            <a:off x="8275320" y="932688"/>
            <a:ext cx="3429000" cy="2212848"/>
          </a:xfrm>
          <a:prstGeom prst="roundRect">
            <a:avLst>
              <a:gd name="adj" fmla="val 13774"/>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6-google-real-source.png"/>
          <p:cNvPicPr>
            <a:picLocks noChangeAspect="1"/>
          </p:cNvPicPr>
          <p:nvPr/>
        </p:nvPicPr>
        <p:blipFill>
          <a:blip r:embed="rId2"/>
          <a:stretch>
            <a:fillRect/>
          </a:stretch>
        </p:blipFill>
        <p:spPr>
          <a:xfrm>
            <a:off x="8476488" y="1527180"/>
            <a:ext cx="3026664" cy="1023864"/>
          </a:xfrm>
          <a:prstGeom prst="rect">
            <a:avLst/>
          </a:prstGeom>
        </p:spPr>
      </p:pic>
      <p:sp>
        <p:nvSpPr>
          <p:cNvPr id="8" name="Rounded Rectangle 7"/>
          <p:cNvSpPr/>
          <p:nvPr/>
        </p:nvSpPr>
        <p:spPr>
          <a:xfrm>
            <a:off x="502920" y="3236976"/>
            <a:ext cx="11201400" cy="1243584"/>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0128"/>
            <a:ext cx="1463040" cy="420624"/>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как надо:</a:t>
            </a:r>
          </a:p>
        </p:txBody>
      </p:sp>
      <p:sp>
        <p:nvSpPr>
          <p:cNvPr id="10" name="Rounded Rectangle 9"/>
          <p:cNvSpPr/>
          <p:nvPr/>
        </p:nvSpPr>
        <p:spPr>
          <a:xfrm>
            <a:off x="2240280"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40280"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a:t>
            </a:r>
          </a:p>
        </p:txBody>
      </p:sp>
      <p:sp>
        <p:nvSpPr>
          <p:cNvPr id="12" name="Right Arrow 11"/>
          <p:cNvSpPr/>
          <p:nvPr/>
        </p:nvSpPr>
        <p:spPr>
          <a:xfrm>
            <a:off x="3200400"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10712"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10712"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a:t>
            </a:r>
          </a:p>
        </p:txBody>
      </p:sp>
      <p:sp>
        <p:nvSpPr>
          <p:cNvPr id="15" name="Right Arrow 14"/>
          <p:cNvSpPr/>
          <p:nvPr/>
        </p:nvSpPr>
        <p:spPr>
          <a:xfrm>
            <a:off x="4370832"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81144"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25%</a:t>
            </a:r>
          </a:p>
        </p:txBody>
      </p:sp>
      <p:sp>
        <p:nvSpPr>
          <p:cNvPr id="18" name="Right Arrow 17"/>
          <p:cNvSpPr/>
          <p:nvPr/>
        </p:nvSpPr>
        <p:spPr>
          <a:xfrm>
            <a:off x="5541264"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51576"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51576"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50%</a:t>
            </a:r>
          </a:p>
        </p:txBody>
      </p:sp>
      <p:sp>
        <p:nvSpPr>
          <p:cNvPr id="21" name="Right Arrow 20"/>
          <p:cNvSpPr/>
          <p:nvPr/>
        </p:nvSpPr>
        <p:spPr>
          <a:xfrm>
            <a:off x="6711696"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22008"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22008"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100%</a:t>
            </a:r>
          </a:p>
        </p:txBody>
      </p:sp>
      <p:sp>
        <p:nvSpPr>
          <p:cNvPr id="24" name="TextBox 23"/>
          <p:cNvSpPr txBox="1"/>
          <p:nvPr/>
        </p:nvSpPr>
        <p:spPr>
          <a:xfrm>
            <a:off x="731520" y="3877056"/>
            <a:ext cx="1463040" cy="420624"/>
          </a:xfrm>
          <a:prstGeom prst="rect">
            <a:avLst/>
          </a:prstGeom>
          <a:noFill/>
        </p:spPr>
        <p:txBody>
          <a:bodyPr wrap="square" lIns="0" rIns="0" tIns="0" bIns="0" anchor="ctr">
            <a:spAutoFit/>
          </a:bodyPr>
          <a:lstStyle/>
          <a:p>
            <a:pPr algn="l">
              <a:lnSpc>
                <a:spcPct val="115000"/>
              </a:lnSpc>
            </a:pPr>
            <a:r>
              <a:rPr sz="1050" b="0" i="1">
                <a:solidFill>
                  <a:srgbClr val="F0AB00"/>
                </a:solidFill>
                <a:latin typeface="DejaVu Sans"/>
              </a:rPr>
              <a:t>как пошли:</a:t>
            </a:r>
          </a:p>
        </p:txBody>
      </p:sp>
      <p:sp>
        <p:nvSpPr>
          <p:cNvPr id="25" name="Right Arrow 24"/>
          <p:cNvSpPr/>
          <p:nvPr/>
        </p:nvSpPr>
        <p:spPr>
          <a:xfrm>
            <a:off x="2240280" y="3968496"/>
            <a:ext cx="5504688" cy="23774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40280" y="3877056"/>
            <a:ext cx="5504688" cy="420624"/>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0% → 100% одним шагом</a:t>
            </a:r>
          </a:p>
        </p:txBody>
      </p:sp>
      <p:sp>
        <p:nvSpPr>
          <p:cNvPr id="27" name="TextBox 26"/>
          <p:cNvSpPr txBox="1"/>
          <p:nvPr/>
        </p:nvSpPr>
        <p:spPr>
          <a:xfrm>
            <a:off x="7973568" y="3346704"/>
            <a:ext cx="3566160" cy="969264"/>
          </a:xfrm>
          <a:prstGeom prst="rect">
            <a:avLst/>
          </a:prstGeom>
          <a:noFill/>
        </p:spPr>
        <p:txBody>
          <a:bodyPr wrap="square" lIns="0" rIns="0" tIns="0" bIns="0" anchor="ctr">
            <a:spAutoFit/>
          </a:bodyPr>
          <a:lstStyle/>
          <a:p>
            <a:pPr algn="l">
              <a:lnSpc>
                <a:spcPct val="112000"/>
              </a:lnSpc>
            </a:pPr>
            <a:r>
              <a:rPr sz="1100" b="1" i="0">
                <a:solidFill>
                  <a:srgbClr val="F0AB00"/>
                </a:solidFill>
                <a:latin typeface="DejaVu Sans"/>
              </a:rPr>
              <a:t>с нуля сразу на всю аудиторию поиска в США — пилотной ступени не было ни одной</a:t>
            </a:r>
          </a:p>
        </p:txBody>
      </p:sp>
      <p:sp>
        <p:nvSpPr>
          <p:cNvPr id="28" name="Rounded Rectangle 27"/>
          <p:cNvSpPr/>
          <p:nvPr/>
        </p:nvSpPr>
        <p:spPr>
          <a:xfrm>
            <a:off x="502920" y="4572000"/>
            <a:ext cx="11201400" cy="120700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626864"/>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30" name="TextBox 29"/>
          <p:cNvSpPr txBox="1"/>
          <p:nvPr/>
        </p:nvSpPr>
        <p:spPr>
          <a:xfrm>
            <a:off x="731520" y="4882896"/>
            <a:ext cx="10789920" cy="8412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Модель не сломалась технически: она сделала ровно то, что делает генеративная система — собрала правдоподобный ответ из корпуса, не отличив шутку от факта, и выдала его с уверенностью авторитетного источника</a:t>
            </a:r>
          </a:p>
          <a:p>
            <a:pPr algn="l">
              <a:lnSpc>
                <a:spcPct val="116000"/>
              </a:lnSpc>
            </a:pPr>
            <a:r>
              <a:rPr sz="1100" b="0" i="0">
                <a:solidFill>
                  <a:srgbClr val="21295C"/>
                </a:solidFill>
                <a:latin typeface="DejaVu Sans"/>
              </a:rPr>
              <a:t>• Это режим «уверенно неправильно»: тест его не ловит, ловит наблюдение на живом, но ограниченном трафике</a:t>
            </a:r>
          </a:p>
          <a:p>
            <a:pPr algn="l">
              <a:lnSpc>
                <a:spcPct val="116000"/>
              </a:lnSpc>
            </a:pPr>
            <a:r>
              <a:rPr sz="1100" b="0" i="0">
                <a:solidFill>
                  <a:srgbClr val="21295C"/>
                </a:solidFill>
                <a:latin typeface="DejaVu Sans"/>
              </a:rPr>
              <a:t>• Зрелость основного продукта не даёт права пропустить пилот: она повышает цену пропуска — вся аудитория здесь означает всю базу сразу</a:t>
            </a:r>
          </a:p>
        </p:txBody>
      </p:sp>
      <p:sp>
        <p:nvSpPr>
          <p:cNvPr id="31" name="Rounded Rectangle 30"/>
          <p:cNvSpPr/>
          <p:nvPr/>
        </p:nvSpPr>
        <p:spPr>
          <a:xfrm>
            <a:off x="502920" y="5852160"/>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907024"/>
            <a:ext cx="10762488" cy="4023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одном проценте трафика этот класс сбоя всплыл бы за дни во внутреннем наблюдении. Вместо этого — публичное осмеяние сразу на всей аудитории.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AndroidPolice — «клей на пиццу» / «есть камни»</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McDonald's и IBM, 2021–2024: пилот на 0,7% сети закрыли — и это было правильно</a:t>
            </a:r>
          </a:p>
        </p:txBody>
      </p:sp>
      <p:sp>
        <p:nvSpPr>
          <p:cNvPr id="3" name="Rounded Rectangle 2"/>
          <p:cNvSpPr/>
          <p:nvPr/>
        </p:nvSpPr>
        <p:spPr>
          <a:xfrm>
            <a:off x="502920" y="932688"/>
            <a:ext cx="7589520" cy="2249424"/>
          </a:xfrm>
          <a:prstGeom prst="roundRect">
            <a:avLst>
              <a:gd name="adj" fmla="val 1355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92224"/>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С конца 2021 года сеть McDonald's вместе с корпорацией IBM испытывала приём заказов голосом у окна автораздачи: посетитель говорит заказ прямо системе, минуя сотрудника. Испытание держали примерно на 100 ресторанах из почти 13 800 в США — это 0,7% сети — и продолжали два с половиной года. Всё это время в сеть попадали ролики со сбоями: бекон в мороженом, девять чаёв вместо одного, перепутанные заказы соседних полос. В июне 2024 партнёрство прекратили. Закрыли при этом подход; цель осталась — голосовая автоматизация всё ещё в планах.</a:t>
            </a:r>
          </a:p>
        </p:txBody>
      </p:sp>
      <p:sp>
        <p:nvSpPr>
          <p:cNvPr id="6" name="Rounded Rectangle 5"/>
          <p:cNvSpPr/>
          <p:nvPr/>
        </p:nvSpPr>
        <p:spPr>
          <a:xfrm>
            <a:off x="8275320" y="932688"/>
            <a:ext cx="3429000" cy="1078992"/>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7-mcdonalds-real-source.png"/>
          <p:cNvPicPr>
            <a:picLocks noChangeAspect="1"/>
          </p:cNvPicPr>
          <p:nvPr/>
        </p:nvPicPr>
        <p:blipFill>
          <a:blip r:embed="rId2"/>
          <a:stretch>
            <a:fillRect/>
          </a:stretch>
        </p:blipFill>
        <p:spPr>
          <a:xfrm>
            <a:off x="9540457" y="1078992"/>
            <a:ext cx="898723" cy="786383"/>
          </a:xfrm>
          <a:prstGeom prst="rect">
            <a:avLst/>
          </a:prstGeom>
        </p:spPr>
      </p:pic>
      <p:sp>
        <p:nvSpPr>
          <p:cNvPr id="8" name="Rounded Rectangle 7"/>
          <p:cNvSpPr/>
          <p:nvPr/>
        </p:nvSpPr>
        <p:spPr>
          <a:xfrm>
            <a:off x="8275320" y="2103120"/>
            <a:ext cx="3429000" cy="1078992"/>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2157984"/>
            <a:ext cx="3246120" cy="530352"/>
          </a:xfrm>
          <a:prstGeom prst="rect">
            <a:avLst/>
          </a:prstGeom>
          <a:noFill/>
        </p:spPr>
        <p:txBody>
          <a:bodyPr wrap="square" lIns="0" rIns="0" tIns="0" bIns="0" anchor="t">
            <a:spAutoFit/>
          </a:bodyPr>
          <a:lstStyle/>
          <a:p>
            <a:pPr algn="ctr">
              <a:lnSpc>
                <a:spcPct val="100000"/>
              </a:lnSpc>
            </a:pPr>
            <a:r>
              <a:rPr sz="3400" b="1" i="0">
                <a:solidFill>
                  <a:srgbClr val="F0AB00"/>
                </a:solidFill>
                <a:latin typeface="DejaVu Sans"/>
              </a:rPr>
              <a:t>0,7%</a:t>
            </a:r>
          </a:p>
        </p:txBody>
      </p:sp>
      <p:sp>
        <p:nvSpPr>
          <p:cNvPr id="10" name="TextBox 9"/>
          <p:cNvSpPr txBox="1"/>
          <p:nvPr/>
        </p:nvSpPr>
        <p:spPr>
          <a:xfrm>
            <a:off x="8366760" y="2706624"/>
            <a:ext cx="3246120" cy="420624"/>
          </a:xfrm>
          <a:prstGeom prst="rect">
            <a:avLst/>
          </a:prstGeom>
          <a:noFill/>
        </p:spPr>
        <p:txBody>
          <a:bodyPr wrap="square" lIns="0" rIns="0" tIns="0" bIns="0" anchor="t">
            <a:spAutoFit/>
          </a:bodyPr>
          <a:lstStyle/>
          <a:p>
            <a:pPr algn="ctr">
              <a:lnSpc>
                <a:spcPct val="110000"/>
              </a:lnSpc>
            </a:pPr>
            <a:r>
              <a:rPr sz="1000" b="0" i="1">
                <a:solidFill>
                  <a:srgbClr val="5B6678"/>
                </a:solidFill>
                <a:latin typeface="DejaVu Sans"/>
              </a:rPr>
              <a:t>≈100 из ≈13 800 ресторанов США · пилот 2,5 года</a:t>
            </a:r>
          </a:p>
        </p:txBody>
      </p:sp>
      <p:sp>
        <p:nvSpPr>
          <p:cNvPr id="11" name="Rounded Rectangle 10"/>
          <p:cNvSpPr/>
          <p:nvPr/>
        </p:nvSpPr>
        <p:spPr>
          <a:xfrm>
            <a:off x="502920" y="3273552"/>
            <a:ext cx="11201400" cy="1591056"/>
          </a:xfrm>
          <a:prstGeom prst="roundRect">
            <a:avLst>
              <a:gd name="adj" fmla="val 1915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28416"/>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13" name="TextBox 12"/>
          <p:cNvSpPr txBox="1"/>
          <p:nvPr/>
        </p:nvSpPr>
        <p:spPr>
          <a:xfrm>
            <a:off x="731520" y="3602736"/>
            <a:ext cx="10789920" cy="118872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Знаменатель обязателен: «100 ресторанов» без «из 13 800» читается как масштабное внедрение, а со знаменателем — как узкая полоса, специально удержанная узкой</a:t>
            </a:r>
          </a:p>
          <a:p>
            <a:pPr algn="l">
              <a:lnSpc>
                <a:spcPct val="116000"/>
              </a:lnSpc>
            </a:pPr>
            <a:r>
              <a:rPr sz="1100" b="0" i="0">
                <a:solidFill>
                  <a:srgbClr val="21295C"/>
                </a:solidFill>
                <a:latin typeface="DejaVu Sans"/>
              </a:rPr>
              <a:t>• Потолок здесь понятный: распознавание речи в шуме, с разными выговорами и посторонними голосами. Такой потолок не двигается дополнительным временем</a:t>
            </a:r>
          </a:p>
          <a:p>
            <a:pPr algn="l">
              <a:lnSpc>
                <a:spcPct val="116000"/>
              </a:lnSpc>
            </a:pPr>
            <a:r>
              <a:rPr sz="1100" b="0" i="0">
                <a:solidFill>
                  <a:srgbClr val="21295C"/>
                </a:solidFill>
                <a:latin typeface="DejaVu Sans"/>
              </a:rPr>
              <a:t>• Закрыт конкретный технический путь; задача осталась. Это разные решения, и смешивать их дорого</a:t>
            </a:r>
          </a:p>
          <a:p>
            <a:pPr algn="l">
              <a:lnSpc>
                <a:spcPct val="116000"/>
              </a:lnSpc>
            </a:pPr>
            <a:r>
              <a:rPr sz="1100" b="0" i="0">
                <a:solidFill>
                  <a:srgbClr val="21295C"/>
                </a:solidFill>
                <a:latin typeface="DejaVu Sans"/>
              </a:rPr>
              <a:t>• Зеркало предыдущего случая: там пропустили пилот целиком, здесь прошли его честно и прочитали сигнал</a:t>
            </a:r>
          </a:p>
        </p:txBody>
      </p:sp>
      <p:sp>
        <p:nvSpPr>
          <p:cNvPr id="14" name="Rounded Rectangle 13"/>
          <p:cNvSpPr/>
          <p:nvPr/>
        </p:nvSpPr>
        <p:spPr>
          <a:xfrm>
            <a:off x="502920" y="49560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0109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Сигнал прочитан верно: длинный пилот на малой доле, продолжающий публично сбоить, означает потолок подхода; нехватка данных тут ни при чём. Это и есть сработавший рубеж «продолжать или закрыть».</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отличить «сработало» от «показалось»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измерения решение о продукте принимают по впечатлению, а цену узнают после запуска: в 2026 году 44% команд выключали уже работавшие ИИ-функции, обнаружив, что расходы на них выше пользы. Этот раздел — про то, как узнавать раньше.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Контролируемый эксперимент: две случайные группы</a:t>
            </a:r>
          </a:p>
        </p:txBody>
      </p:sp>
      <p:sp>
        <p:nvSpPr>
          <p:cNvPr id="3" name="Rounded Rectangle 2"/>
          <p:cNvSpPr/>
          <p:nvPr/>
        </p:nvSpPr>
        <p:spPr>
          <a:xfrm>
            <a:off x="502920" y="1024128"/>
            <a:ext cx="1120140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78992"/>
            <a:ext cx="10789920" cy="566928"/>
          </a:xfrm>
          <a:prstGeom prst="rect">
            <a:avLst/>
          </a:prstGeom>
          <a:noFill/>
        </p:spPr>
        <p:txBody>
          <a:bodyPr wrap="square" lIns="0" rIns="0" tIns="0" bIns="0" anchor="ctr">
            <a:spAutoFit/>
          </a:bodyPr>
          <a:lstStyle/>
          <a:p>
            <a:pPr algn="l">
              <a:lnSpc>
                <a:spcPct val="116000"/>
              </a:lnSpc>
            </a:pPr>
            <a:r>
              <a:rPr sz="1250" b="1" i="0">
                <a:solidFill>
                  <a:srgbClr val="065A82"/>
                </a:solidFill>
                <a:latin typeface="DejaVu Sans"/>
              </a:rPr>
              <a:t>Зачем это нужно. </a:t>
            </a:r>
            <a:r>
              <a:rPr sz="1250" b="0" i="0">
                <a:solidFill>
                  <a:srgbClr val="21295C"/>
                </a:solidFill>
                <a:latin typeface="DejaVu Sans"/>
              </a:rPr>
              <a:t>«Метрика выросла после релиза» само по себе не значит ничего: за ту же неделю сменился сезон, прошла рекламная кампания, пришла другая аудитория. Без группы, которой изменение не показали, отделить свой вклад от чужого нечем.</a:t>
            </a:r>
          </a:p>
        </p:txBody>
      </p:sp>
      <p:sp>
        <p:nvSpPr>
          <p:cNvPr id="5" name="Rounded Rectangle 4"/>
          <p:cNvSpPr/>
          <p:nvPr/>
        </p:nvSpPr>
        <p:spPr>
          <a:xfrm>
            <a:off x="502920" y="1828800"/>
            <a:ext cx="4892040" cy="2724912"/>
          </a:xfrm>
          <a:prstGeom prst="roundRect">
            <a:avLst>
              <a:gd name="adj" fmla="val 1118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901952"/>
            <a:ext cx="4480560" cy="27432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Случайное деление даёт причинность</a:t>
            </a:r>
          </a:p>
        </p:txBody>
      </p:sp>
      <p:sp>
        <p:nvSpPr>
          <p:cNvPr id="7" name="Oval 6"/>
          <p:cNvSpPr/>
          <p:nvPr/>
        </p:nvSpPr>
        <p:spPr>
          <a:xfrm>
            <a:off x="2651760" y="2231136"/>
            <a:ext cx="420624" cy="420624"/>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peat-2-gold.png"/>
          <p:cNvPicPr>
            <a:picLocks noChangeAspect="1"/>
          </p:cNvPicPr>
          <p:nvPr/>
        </p:nvPicPr>
        <p:blipFill>
          <a:blip r:embed="rId2"/>
          <a:stretch>
            <a:fillRect/>
          </a:stretch>
        </p:blipFill>
        <p:spPr>
          <a:xfrm>
            <a:off x="2752344" y="2331720"/>
            <a:ext cx="219456" cy="219456"/>
          </a:xfrm>
          <a:prstGeom prst="rect">
            <a:avLst/>
          </a:prstGeom>
        </p:spPr>
      </p:pic>
      <p:sp>
        <p:nvSpPr>
          <p:cNvPr id="9" name="TextBox 8"/>
          <p:cNvSpPr txBox="1"/>
          <p:nvPr/>
        </p:nvSpPr>
        <p:spPr>
          <a:xfrm>
            <a:off x="1554480" y="2670048"/>
            <a:ext cx="278892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случайное деление</a:t>
            </a:r>
          </a:p>
        </p:txBody>
      </p:sp>
      <p:sp>
        <p:nvSpPr>
          <p:cNvPr id="10" name="Rounded Rectangle 9"/>
          <p:cNvSpPr/>
          <p:nvPr/>
        </p:nvSpPr>
        <p:spPr>
          <a:xfrm>
            <a:off x="822960" y="2926080"/>
            <a:ext cx="1325880" cy="960120"/>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mid.png"/>
          <p:cNvPicPr>
            <a:picLocks noChangeAspect="1"/>
          </p:cNvPicPr>
          <p:nvPr/>
        </p:nvPicPr>
        <p:blipFill>
          <a:blip r:embed="rId3"/>
          <a:stretch>
            <a:fillRect/>
          </a:stretch>
        </p:blipFill>
        <p:spPr>
          <a:xfrm>
            <a:off x="1307592" y="3017520"/>
            <a:ext cx="347472" cy="347472"/>
          </a:xfrm>
          <a:prstGeom prst="rect">
            <a:avLst/>
          </a:prstGeom>
        </p:spPr>
      </p:pic>
      <p:sp>
        <p:nvSpPr>
          <p:cNvPr id="12" name="TextBox 11"/>
          <p:cNvSpPr txBox="1"/>
          <p:nvPr/>
        </p:nvSpPr>
        <p:spPr>
          <a:xfrm>
            <a:off x="822960" y="3383280"/>
            <a:ext cx="1325880" cy="438912"/>
          </a:xfrm>
          <a:prstGeom prst="rect">
            <a:avLst/>
          </a:prstGeom>
          <a:noFill/>
        </p:spPr>
        <p:txBody>
          <a:bodyPr wrap="square" lIns="0" rIns="0" tIns="0" bIns="0" anchor="t">
            <a:spAutoFit/>
          </a:bodyPr>
          <a:lstStyle/>
          <a:p>
            <a:pPr algn="ctr">
              <a:lnSpc>
                <a:spcPct val="102000"/>
              </a:lnSpc>
            </a:pPr>
            <a:r>
              <a:rPr sz="1050" b="1" i="0">
                <a:solidFill>
                  <a:srgbClr val="1C7293"/>
                </a:solidFill>
                <a:latin typeface="DejaVu Sans"/>
              </a:rPr>
              <a:t>Контрольная</a:t>
            </a:r>
          </a:p>
          <a:p>
            <a:pPr algn="ctr">
              <a:lnSpc>
                <a:spcPct val="102000"/>
              </a:lnSpc>
            </a:pPr>
            <a:r>
              <a:rPr sz="1050" b="1" i="0">
                <a:solidFill>
                  <a:srgbClr val="1C7293"/>
                </a:solidFill>
                <a:latin typeface="DejaVu Sans"/>
              </a:rPr>
              <a:t>группа</a:t>
            </a:r>
          </a:p>
        </p:txBody>
      </p:sp>
      <p:sp>
        <p:nvSpPr>
          <p:cNvPr id="13" name="Rounded Rectangle 12"/>
          <p:cNvSpPr/>
          <p:nvPr/>
        </p:nvSpPr>
        <p:spPr>
          <a:xfrm>
            <a:off x="3246120" y="2926080"/>
            <a:ext cx="1325880" cy="960120"/>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teal.png"/>
          <p:cNvPicPr>
            <a:picLocks noChangeAspect="1"/>
          </p:cNvPicPr>
          <p:nvPr/>
        </p:nvPicPr>
        <p:blipFill>
          <a:blip r:embed="rId4"/>
          <a:stretch>
            <a:fillRect/>
          </a:stretch>
        </p:blipFill>
        <p:spPr>
          <a:xfrm>
            <a:off x="3730752" y="3017520"/>
            <a:ext cx="347472" cy="347472"/>
          </a:xfrm>
          <a:prstGeom prst="rect">
            <a:avLst/>
          </a:prstGeom>
        </p:spPr>
      </p:pic>
      <p:sp>
        <p:nvSpPr>
          <p:cNvPr id="15" name="TextBox 14"/>
          <p:cNvSpPr txBox="1"/>
          <p:nvPr/>
        </p:nvSpPr>
        <p:spPr>
          <a:xfrm>
            <a:off x="3246120" y="3383280"/>
            <a:ext cx="1325880" cy="438912"/>
          </a:xfrm>
          <a:prstGeom prst="rect">
            <a:avLst/>
          </a:prstGeom>
          <a:noFill/>
        </p:spPr>
        <p:txBody>
          <a:bodyPr wrap="square" lIns="0" rIns="0" tIns="0" bIns="0" anchor="t">
            <a:spAutoFit/>
          </a:bodyPr>
          <a:lstStyle/>
          <a:p>
            <a:pPr algn="ctr">
              <a:lnSpc>
                <a:spcPct val="102000"/>
              </a:lnSpc>
            </a:pPr>
            <a:r>
              <a:rPr sz="1050" b="1" i="0">
                <a:solidFill>
                  <a:srgbClr val="028090"/>
                </a:solidFill>
                <a:latin typeface="DejaVu Sans"/>
              </a:rPr>
              <a:t>Группа</a:t>
            </a:r>
          </a:p>
          <a:p>
            <a:pPr algn="ctr">
              <a:lnSpc>
                <a:spcPct val="102000"/>
              </a:lnSpc>
            </a:pPr>
            <a:r>
              <a:rPr sz="1050" b="1" i="0">
                <a:solidFill>
                  <a:srgbClr val="028090"/>
                </a:solidFill>
                <a:latin typeface="DejaVu Sans"/>
              </a:rPr>
              <a:t>изменения</a:t>
            </a:r>
          </a:p>
        </p:txBody>
      </p:sp>
      <p:sp>
        <p:nvSpPr>
          <p:cNvPr id="16" name="Right Arrow 15"/>
          <p:cNvSpPr/>
          <p:nvPr/>
        </p:nvSpPr>
        <p:spPr>
          <a:xfrm>
            <a:off x="2331720" y="3328416"/>
            <a:ext cx="822960"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3950208"/>
            <a:ext cx="4480560" cy="548640"/>
          </a:xfrm>
          <a:prstGeom prst="rect">
            <a:avLst/>
          </a:prstGeom>
          <a:noFill/>
        </p:spPr>
        <p:txBody>
          <a:bodyPr wrap="square" lIns="0" rIns="0" tIns="0" bIns="0" anchor="t">
            <a:spAutoFit/>
          </a:bodyPr>
          <a:lstStyle/>
          <a:p>
            <a:pPr algn="l">
              <a:lnSpc>
                <a:spcPct val="112000"/>
              </a:lnSpc>
            </a:pPr>
            <a:r>
              <a:rPr sz="1050" b="0" i="0">
                <a:solidFill>
                  <a:srgbClr val="5B6678"/>
                </a:solidFill>
                <a:latin typeface="DejaVu Sans"/>
              </a:rPr>
              <a:t>Поэтапная раскатка этого не заменяет: удерживаемой случайной группы у неё нет. Она отвечает «сломалось ли»; «помогло ли» — нет.</a:t>
            </a:r>
          </a:p>
        </p:txBody>
      </p:sp>
      <p:sp>
        <p:nvSpPr>
          <p:cNvPr id="18" name="Rounded Rectangle 17"/>
          <p:cNvSpPr/>
          <p:nvPr/>
        </p:nvSpPr>
        <p:spPr>
          <a:xfrm>
            <a:off x="5623560" y="1828800"/>
            <a:ext cx="6080760" cy="2724912"/>
          </a:xfrm>
          <a:prstGeom prst="roundRect">
            <a:avLst>
              <a:gd name="adj" fmla="val 1118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0" y="1901952"/>
            <a:ext cx="5623560" cy="274320"/>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Договариваются до старта о трёх вещах</a:t>
            </a:r>
          </a:p>
        </p:txBody>
      </p:sp>
      <p:sp>
        <p:nvSpPr>
          <p:cNvPr id="20" name="Oval 19"/>
          <p:cNvSpPr/>
          <p:nvPr/>
        </p:nvSpPr>
        <p:spPr>
          <a:xfrm>
            <a:off x="5870448" y="2267712"/>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70448" y="2267712"/>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2" name="TextBox 21"/>
          <p:cNvSpPr txBox="1"/>
          <p:nvPr/>
        </p:nvSpPr>
        <p:spPr>
          <a:xfrm>
            <a:off x="6199632" y="2249424"/>
            <a:ext cx="5303520" cy="804672"/>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 решения — одна и с направлением. </a:t>
            </a:r>
            <a:r>
              <a:rPr sz="1100" b="0" i="0">
                <a:solidFill>
                  <a:srgbClr val="21295C"/>
                </a:solidFill>
                <a:latin typeface="DejaVu Sans"/>
              </a:rPr>
              <a:t>В литературе — сводный критерий оценки (OEC, Overall Evaluation Criterion). Учебный случай: «время на сайте поддержки» приняли единогласно и раскололись на вопросе, рост это хорошо или плохо.</a:t>
            </a:r>
          </a:p>
        </p:txBody>
      </p:sp>
      <p:sp>
        <p:nvSpPr>
          <p:cNvPr id="23" name="Oval 22"/>
          <p:cNvSpPr/>
          <p:nvPr/>
        </p:nvSpPr>
        <p:spPr>
          <a:xfrm>
            <a:off x="5870448" y="3163824"/>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70448" y="3163824"/>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5" name="TextBox 24"/>
          <p:cNvSpPr txBox="1"/>
          <p:nvPr/>
        </p:nvSpPr>
        <p:spPr>
          <a:xfrm>
            <a:off x="6199632" y="3145536"/>
            <a:ext cx="5303520" cy="566928"/>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Метрика-ограничитель. </a:t>
            </a:r>
            <a:r>
              <a:rPr sz="1100" b="0" i="0">
                <a:solidFill>
                  <a:srgbClr val="21295C"/>
                </a:solidFill>
                <a:latin typeface="DejaVu Sans"/>
              </a:rPr>
              <a:t>Её мониторят, но не оптимизируют: она ловит ущерб, которого метрика решения не видит.</a:t>
            </a:r>
          </a:p>
        </p:txBody>
      </p:sp>
      <p:sp>
        <p:nvSpPr>
          <p:cNvPr id="26" name="Oval 25"/>
          <p:cNvSpPr/>
          <p:nvPr/>
        </p:nvSpPr>
        <p:spPr>
          <a:xfrm>
            <a:off x="5870448" y="3822191"/>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70448" y="3822191"/>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8" name="TextBox 27"/>
          <p:cNvSpPr txBox="1"/>
          <p:nvPr/>
        </p:nvSpPr>
        <p:spPr>
          <a:xfrm>
            <a:off x="6199632" y="3803904"/>
            <a:ext cx="5303520" cy="365760"/>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Число наблюдений. </a:t>
            </a:r>
            <a:r>
              <a:rPr sz="1100" b="0" i="0">
                <a:solidFill>
                  <a:srgbClr val="21295C"/>
                </a:solidFill>
                <a:latin typeface="DejaVu Sans"/>
              </a:rPr>
              <a:t>Его считают до старта. «Сколько наберётся» — не ответ.</a:t>
            </a:r>
          </a:p>
        </p:txBody>
      </p:sp>
      <p:sp>
        <p:nvSpPr>
          <p:cNvPr id="29" name="Rounded Rectangle 28"/>
          <p:cNvSpPr/>
          <p:nvPr/>
        </p:nvSpPr>
        <p:spPr>
          <a:xfrm>
            <a:off x="502920" y="4681728"/>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4736592"/>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Посчитанное число наблюдений может оказаться недостижимым. Тогда честный ответ один: «этот вопрос экспериментом не решается, нужен другой метод». «Запустим и посмотрим» ответом не будет: эксперимент на слишком малой выборке не становится слабым доказательством, он перестаёт быть доказательством.</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Wikipedia — контролируемый эксперимент в вебе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Пред-регистрация: решение записывают до того, как увидят результат</a:t>
            </a:r>
          </a:p>
        </p:txBody>
      </p:sp>
      <p:sp>
        <p:nvSpPr>
          <p:cNvPr id="3" name="Rounded Rectangle 2"/>
          <p:cNvSpPr/>
          <p:nvPr/>
        </p:nvSpPr>
        <p:spPr>
          <a:xfrm>
            <a:off x="502920" y="825525"/>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Короткая записка, которую делают </a:t>
            </a:r>
            <a:r>
              <a:rPr sz="1150" b="1" i="0">
                <a:solidFill>
                  <a:srgbClr val="21295C"/>
                </a:solidFill>
                <a:latin typeface="DejaVu Sans"/>
              </a:rPr>
              <a:t>до</a:t>
            </a:r>
            <a:r>
              <a:rPr sz="1150" b="0" i="0">
                <a:solidFill>
                  <a:srgbClr val="21295C"/>
                </a:solidFill>
                <a:latin typeface="DejaVu Sans"/>
              </a:rPr>
              <a:t> запуска эксперимента: что именно измеряем, какой результат считаем успехом, когда останавливаемся. Приём пришёл из медицины — там протокол регистрируют до набора пациентов, иначе журнал не примет статью.</a:t>
            </a:r>
          </a:p>
        </p:txBody>
      </p:sp>
      <p:sp>
        <p:nvSpPr>
          <p:cNvPr id="7" name="Rounded Rectangle 6"/>
          <p:cNvSpPr/>
          <p:nvPr/>
        </p:nvSpPr>
        <p:spPr>
          <a:xfrm>
            <a:off x="502920" y="1782592"/>
            <a:ext cx="1152144" cy="2109165"/>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82592"/>
            <a:ext cx="1060704" cy="210916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82592"/>
            <a:ext cx="9902952" cy="2109165"/>
          </a:xfrm>
          <a:prstGeom prst="roundRect">
            <a:avLst>
              <a:gd name="adj" fmla="val 144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8774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8774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74032"/>
            <a:ext cx="5385816" cy="875360"/>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До запуска записывают четыре вещи:</a:t>
            </a:r>
            <a:r>
              <a:rPr sz="1000" b="0" i="0">
                <a:solidFill>
                  <a:srgbClr val="21295C"/>
                </a:solidFill>
                <a:latin typeface="DejaVu Sans"/>
              </a:rPr>
              <a:t> какую величину считаем основанием решения и в какую сторону она должна двинуться; что наблюдаем как ограничитель; какой размер эффекта значим и сколько для него нужно наблюдений; при каком условии останавливаемся.</a:t>
            </a:r>
          </a:p>
        </p:txBody>
      </p:sp>
      <p:sp>
        <p:nvSpPr>
          <p:cNvPr id="13" name="Oval 12"/>
          <p:cNvSpPr/>
          <p:nvPr/>
        </p:nvSpPr>
        <p:spPr>
          <a:xfrm>
            <a:off x="1984248" y="282711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82711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813400"/>
            <a:ext cx="538581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Запись кладут туда, где есть время</a:t>
            </a:r>
            <a:r>
              <a:rPr sz="1000" b="0" i="0">
                <a:solidFill>
                  <a:srgbClr val="21295C"/>
                </a:solidFill>
                <a:latin typeface="DejaVu Sans"/>
              </a:rPr>
              <a:t> — с датой и автором. Весь механизм в этом: метка времени стоит раньше первого результата.</a:t>
            </a:r>
          </a:p>
        </p:txBody>
      </p:sp>
      <p:sp>
        <p:nvSpPr>
          <p:cNvPr id="16" name="Oval 15"/>
          <p:cNvSpPr/>
          <p:nvPr/>
        </p:nvSpPr>
        <p:spPr>
          <a:xfrm>
            <a:off x="1984248" y="343535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343535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3421643"/>
            <a:ext cx="538581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После запуска запись не переписывают</a:t>
            </a:r>
            <a:r>
              <a:rPr sz="1000" b="0" i="0">
                <a:solidFill>
                  <a:srgbClr val="21295C"/>
                </a:solidFill>
                <a:latin typeface="DejaVu Sans"/>
              </a:rPr>
              <a:t> — к ней дописывают принятое решение и дату.</a:t>
            </a:r>
          </a:p>
        </p:txBody>
      </p:sp>
      <p:cxnSp>
        <p:nvCxnSpPr>
          <p:cNvPr id="19" name="Connector 18"/>
          <p:cNvCxnSpPr/>
          <p:nvPr/>
        </p:nvCxnSpPr>
        <p:spPr>
          <a:xfrm>
            <a:off x="8046719" y="2349520"/>
            <a:ext cx="3337561"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229600" y="2258080"/>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73567" y="1928896"/>
            <a:ext cx="1737360" cy="274320"/>
          </a:xfrm>
          <a:prstGeom prst="rect">
            <a:avLst/>
          </a:prstGeom>
          <a:noFill/>
        </p:spPr>
        <p:txBody>
          <a:bodyPr wrap="square" lIns="0" rIns="0" tIns="0" bIns="0" anchor="t">
            <a:spAutoFit/>
          </a:bodyPr>
          <a:lstStyle/>
          <a:p>
            <a:pPr algn="ctr">
              <a:lnSpc>
                <a:spcPct val="104000"/>
              </a:lnSpc>
            </a:pPr>
            <a:r>
              <a:rPr sz="919" b="1" i="0">
                <a:solidFill>
                  <a:srgbClr val="21295C"/>
                </a:solidFill>
                <a:latin typeface="DejaVu Sans"/>
              </a:rPr>
              <a:t>запись сделана</a:t>
            </a:r>
          </a:p>
        </p:txBody>
      </p:sp>
      <p:sp>
        <p:nvSpPr>
          <p:cNvPr id="22" name="Oval 21"/>
          <p:cNvSpPr/>
          <p:nvPr/>
        </p:nvSpPr>
        <p:spPr>
          <a:xfrm>
            <a:off x="10744200" y="2258080"/>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40" y="1928896"/>
            <a:ext cx="1645920" cy="274320"/>
          </a:xfrm>
          <a:prstGeom prst="rect">
            <a:avLst/>
          </a:prstGeom>
          <a:noFill/>
        </p:spPr>
        <p:txBody>
          <a:bodyPr wrap="square" lIns="0" rIns="0" tIns="0" bIns="0" anchor="t">
            <a:spAutoFit/>
          </a:bodyPr>
          <a:lstStyle/>
          <a:p>
            <a:pPr algn="ctr">
              <a:lnSpc>
                <a:spcPct val="104000"/>
              </a:lnSpc>
            </a:pPr>
            <a:r>
              <a:rPr sz="919" b="1" i="0">
                <a:solidFill>
                  <a:srgbClr val="065A82"/>
                </a:solidFill>
                <a:latin typeface="DejaVu Sans"/>
              </a:rPr>
              <a:t>первый результат</a:t>
            </a:r>
          </a:p>
        </p:txBody>
      </p:sp>
      <p:cxnSp>
        <p:nvCxnSpPr>
          <p:cNvPr id="24" name="Connector 23"/>
          <p:cNvCxnSpPr/>
          <p:nvPr/>
        </p:nvCxnSpPr>
        <p:spPr>
          <a:xfrm>
            <a:off x="8321040" y="2495824"/>
            <a:ext cx="2423160" cy="0"/>
          </a:xfrm>
          <a:prstGeom prst="line">
            <a:avLst/>
          </a:prstGeom>
          <a:ln w="20320">
            <a:solidFill>
              <a:srgbClr val="F0AB00"/>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955279" y="2587264"/>
            <a:ext cx="3566160" cy="201168"/>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критерий успеха записан раньше первого результата</a:t>
            </a:r>
          </a:p>
        </p:txBody>
      </p:sp>
      <p:sp>
        <p:nvSpPr>
          <p:cNvPr id="26" name="TextBox 25"/>
          <p:cNvSpPr txBox="1"/>
          <p:nvPr/>
        </p:nvSpPr>
        <p:spPr>
          <a:xfrm>
            <a:off x="7955279" y="2879872"/>
            <a:ext cx="3566160" cy="786384"/>
          </a:xfrm>
          <a:prstGeom prst="rect">
            <a:avLst/>
          </a:prstGeom>
          <a:noFill/>
        </p:spPr>
        <p:txBody>
          <a:bodyPr wrap="square" lIns="0" rIns="0" tIns="0" bIns="0" anchor="t">
            <a:spAutoFit/>
          </a:bodyPr>
          <a:lstStyle/>
          <a:p>
            <a:pPr algn="l">
              <a:lnSpc>
                <a:spcPct val="112000"/>
              </a:lnSpc>
            </a:pPr>
            <a:r>
              <a:rPr sz="980" b="0" i="0">
                <a:solidFill>
                  <a:srgbClr val="21295C"/>
                </a:solidFill>
                <a:latin typeface="DejaVu Sans"/>
              </a:rPr>
              <a:t>Три ловушки — остановить на удачной точке, перебрать метрики, подвинуть порог — </a:t>
            </a:r>
            <a:r>
              <a:rPr sz="980" b="1" i="0">
                <a:solidFill>
                  <a:srgbClr val="065A82"/>
                </a:solidFill>
                <a:latin typeface="DejaVu Sans"/>
              </a:rPr>
              <a:t>все требуют, чтобы критерий успеха можно было выбрать после результата.</a:t>
            </a:r>
          </a:p>
        </p:txBody>
      </p:sp>
      <p:sp>
        <p:nvSpPr>
          <p:cNvPr id="27" name="Rounded Rectangle 26"/>
          <p:cNvSpPr/>
          <p:nvPr/>
        </p:nvSpPr>
        <p:spPr>
          <a:xfrm>
            <a:off x="502920" y="3955765"/>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3955765"/>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9" name="Rounded Rectangle 28"/>
          <p:cNvSpPr/>
          <p:nvPr/>
        </p:nvSpPr>
        <p:spPr>
          <a:xfrm>
            <a:off x="1801368" y="3955765"/>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984248" y="4047205"/>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084831" y="4092925"/>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приём родом из медицины</a:t>
            </a:r>
          </a:p>
        </p:txBody>
      </p:sp>
      <p:sp>
        <p:nvSpPr>
          <p:cNvPr id="32" name="TextBox 31"/>
          <p:cNvSpPr txBox="1"/>
          <p:nvPr/>
        </p:nvSpPr>
        <p:spPr>
          <a:xfrm>
            <a:off x="2084831" y="4321525"/>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Одна величина решения, размер выборки, правило остановки — записаны заранее. Так работают клинические протоколы и обычные продуктовые эксперименты.</a:t>
            </a:r>
          </a:p>
        </p:txBody>
      </p:sp>
      <p:sp>
        <p:nvSpPr>
          <p:cNvPr id="33" name="Rounded Rectangle 32"/>
          <p:cNvSpPr/>
          <p:nvPr/>
        </p:nvSpPr>
        <p:spPr>
          <a:xfrm>
            <a:off x="6844284" y="4047205"/>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44868" y="4092925"/>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приходится записывать дополнительно</a:t>
            </a:r>
          </a:p>
        </p:txBody>
      </p:sp>
      <p:sp>
        <p:nvSpPr>
          <p:cNvPr id="35" name="TextBox 34"/>
          <p:cNvSpPr txBox="1"/>
          <p:nvPr/>
        </p:nvSpPr>
        <p:spPr>
          <a:xfrm>
            <a:off x="6944868" y="4321525"/>
            <a:ext cx="4475988" cy="715137"/>
          </a:xfrm>
          <a:prstGeom prst="rect">
            <a:avLst/>
          </a:prstGeom>
          <a:noFill/>
        </p:spPr>
        <p:txBody>
          <a:bodyPr wrap="square" lIns="0" rIns="0" tIns="0" bIns="0" anchor="t">
            <a:spAutoFit/>
          </a:bodyPr>
          <a:lstStyle/>
          <a:p>
            <a:pPr algn="l">
              <a:lnSpc>
                <a:spcPct val="112000"/>
              </a:lnSpc>
            </a:pPr>
            <a:r>
              <a:rPr sz="950" b="1" i="0">
                <a:solidFill>
                  <a:srgbClr val="21295C"/>
                </a:solidFill>
                <a:latin typeface="DejaVu Sans"/>
              </a:rPr>
              <a:t>Распределение по пользователю, а не по запросу:</a:t>
            </a:r>
            <a:r>
              <a:rPr sz="950" b="0" i="0">
                <a:solidFill>
                  <a:srgbClr val="21295C"/>
                </a:solidFill>
                <a:latin typeface="DejaVu Sans"/>
              </a:rPr>
              <a:t> в диалоге один человек иначе попадает сразу в обе группы. И </a:t>
            </a:r>
            <a:r>
              <a:rPr sz="950" b="1" i="0">
                <a:solidFill>
                  <a:srgbClr val="21295C"/>
                </a:solidFill>
                <a:latin typeface="DejaVu Sans"/>
              </a:rPr>
              <a:t>величин сразу несколько</a:t>
            </a:r>
            <a:r>
              <a:rPr sz="950" b="0" i="0">
                <a:solidFill>
                  <a:srgbClr val="21295C"/>
                </a:solidFill>
                <a:latin typeface="DejaVu Sans"/>
              </a:rPr>
              <a:t>: оценка качества ответа, доля переспрашиваний и правок, стоимость обращения.</a:t>
            </a:r>
          </a:p>
        </p:txBody>
      </p:sp>
      <p:sp>
        <p:nvSpPr>
          <p:cNvPr id="36" name="Rounded Rectangle 35"/>
          <p:cNvSpPr/>
          <p:nvPr/>
        </p:nvSpPr>
        <p:spPr>
          <a:xfrm>
            <a:off x="502920" y="5246974"/>
            <a:ext cx="1152144" cy="1060704"/>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246974"/>
            <a:ext cx="1060704" cy="1060704"/>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8" name="Rounded Rectangle 37"/>
          <p:cNvSpPr/>
          <p:nvPr/>
        </p:nvSpPr>
        <p:spPr>
          <a:xfrm>
            <a:off x="1801368" y="5246974"/>
            <a:ext cx="9902952" cy="1060704"/>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84248" y="5338414"/>
            <a:ext cx="6611112" cy="877824"/>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Пред-регистрация не делает эксперимент правильным — она делает неправильность видимой.</a:t>
            </a:r>
            <a:r>
              <a:rPr sz="1019" b="1" i="0">
                <a:solidFill>
                  <a:srgbClr val="21295C"/>
                </a:solidFill>
                <a:latin typeface="DejaVu Sans"/>
              </a:rPr>
              <a:t> Эффект новизны она не лечит: для него нужна отдельная удерживаемая группа. И она бессильна там, где наблюдений физически не хватает: честный выход — сменить вопрос или метод; выборка здесь не поможет.</a:t>
            </a:r>
          </a:p>
        </p:txBody>
      </p:sp>
      <p:sp>
        <p:nvSpPr>
          <p:cNvPr id="40" name="Rounded Rectangle 39"/>
          <p:cNvSpPr/>
          <p:nvPr/>
        </p:nvSpPr>
        <p:spPr>
          <a:xfrm>
            <a:off x="8778240" y="5338414"/>
            <a:ext cx="2743200" cy="877824"/>
          </a:xfrm>
          <a:prstGeom prst="roundRect">
            <a:avLst>
              <a:gd name="adj" fmla="val 19444"/>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778240" y="5356702"/>
            <a:ext cx="2743200" cy="182880"/>
          </a:xfrm>
          <a:prstGeom prst="rect">
            <a:avLst/>
          </a:prstGeom>
          <a:noFill/>
        </p:spPr>
        <p:txBody>
          <a:bodyPr wrap="square" lIns="0" rIns="0" tIns="0" bIns="0" anchor="t">
            <a:spAutoFit/>
          </a:bodyPr>
          <a:lstStyle/>
          <a:p>
            <a:pPr algn="ctr">
              <a:lnSpc>
                <a:spcPct val="105000"/>
              </a:lnSpc>
            </a:pPr>
            <a:r>
              <a:rPr sz="860" b="1" i="0">
                <a:solidFill>
                  <a:srgbClr val="21295C"/>
                </a:solidFill>
                <a:latin typeface="DejaVu Sans"/>
              </a:rPr>
              <a:t>ответа ждать больше трёх месяцев</a:t>
            </a:r>
          </a:p>
        </p:txBody>
      </p:sp>
      <p:sp>
        <p:nvSpPr>
          <p:cNvPr id="42" name="Rounded Rectangle 41"/>
          <p:cNvSpPr/>
          <p:nvPr/>
        </p:nvSpPr>
        <p:spPr>
          <a:xfrm>
            <a:off x="9281160" y="5759038"/>
            <a:ext cx="640080" cy="274320"/>
          </a:xfrm>
          <a:prstGeom prst="roundRect">
            <a:avLst>
              <a:gd name="adj" fmla="val 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52560" y="5594446"/>
            <a:ext cx="1097280" cy="146304"/>
          </a:xfrm>
          <a:prstGeom prst="rect">
            <a:avLst/>
          </a:prstGeom>
          <a:noFill/>
        </p:spPr>
        <p:txBody>
          <a:bodyPr wrap="square" lIns="0" rIns="0" tIns="0" bIns="0" anchor="t">
            <a:spAutoFit/>
          </a:bodyPr>
          <a:lstStyle/>
          <a:p>
            <a:pPr algn="ctr">
              <a:lnSpc>
                <a:spcPct val="100000"/>
              </a:lnSpc>
            </a:pPr>
            <a:r>
              <a:rPr sz="919" b="1" i="0">
                <a:solidFill>
                  <a:srgbClr val="065A82"/>
                </a:solidFill>
                <a:latin typeface="DejaVu Sans"/>
              </a:rPr>
              <a:t>31 200</a:t>
            </a:r>
          </a:p>
        </p:txBody>
      </p:sp>
      <p:sp>
        <p:nvSpPr>
          <p:cNvPr id="44" name="TextBox 43"/>
          <p:cNvSpPr txBox="1"/>
          <p:nvPr/>
        </p:nvSpPr>
        <p:spPr>
          <a:xfrm>
            <a:off x="9052560" y="6042502"/>
            <a:ext cx="1097280" cy="182880"/>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нужно на группу</a:t>
            </a:r>
          </a:p>
        </p:txBody>
      </p:sp>
      <p:sp>
        <p:nvSpPr>
          <p:cNvPr id="45" name="Rounded Rectangle 44"/>
          <p:cNvSpPr/>
          <p:nvPr/>
        </p:nvSpPr>
        <p:spPr>
          <a:xfrm>
            <a:off x="10607040" y="5989396"/>
            <a:ext cx="640080" cy="43961"/>
          </a:xfrm>
          <a:prstGeom prst="roundRect">
            <a:avLst>
              <a:gd name="adj" fmla="val 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78440" y="5824804"/>
            <a:ext cx="1097280" cy="146304"/>
          </a:xfrm>
          <a:prstGeom prst="rect">
            <a:avLst/>
          </a:prstGeom>
          <a:noFill/>
        </p:spPr>
        <p:txBody>
          <a:bodyPr wrap="square" lIns="0" rIns="0" tIns="0" bIns="0" anchor="t">
            <a:spAutoFit/>
          </a:bodyPr>
          <a:lstStyle/>
          <a:p>
            <a:pPr algn="ctr">
              <a:lnSpc>
                <a:spcPct val="100000"/>
              </a:lnSpc>
            </a:pPr>
            <a:r>
              <a:rPr sz="919" b="1" i="0">
                <a:solidFill>
                  <a:srgbClr val="F0AB00"/>
                </a:solidFill>
                <a:latin typeface="DejaVu Sans"/>
              </a:rPr>
              <a:t>5 000</a:t>
            </a:r>
          </a:p>
        </p:txBody>
      </p:sp>
      <p:sp>
        <p:nvSpPr>
          <p:cNvPr id="47" name="TextBox 46"/>
          <p:cNvSpPr txBox="1"/>
          <p:nvPr/>
        </p:nvSpPr>
        <p:spPr>
          <a:xfrm>
            <a:off x="10378440" y="6042502"/>
            <a:ext cx="1097280" cy="182880"/>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есть в неделю</a:t>
            </a:r>
          </a:p>
        </p:txBody>
      </p:sp>
      <p:sp>
        <p:nvSpPr>
          <p:cNvPr id="48" name="TextBox 4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Распределение по пользователю против распределения по реплике · Расчёт 31 200 на группу — иллюстративный</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Петля оценок: увидеть, что ответы стали хуже, раньше пользователя</a:t>
            </a:r>
          </a:p>
        </p:txBody>
      </p:sp>
      <p:sp>
        <p:nvSpPr>
          <p:cNvPr id="3" name="Rounded Rectangle 2"/>
          <p:cNvSpPr/>
          <p:nvPr/>
        </p:nvSpPr>
        <p:spPr>
          <a:xfrm>
            <a:off x="502920" y="825525"/>
            <a:ext cx="1152144" cy="848356"/>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84835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848356"/>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665476"/>
          </a:xfrm>
          <a:prstGeom prst="rect">
            <a:avLst/>
          </a:prstGeom>
          <a:noFill/>
        </p:spPr>
        <p:txBody>
          <a:bodyPr wrap="square" lIns="0" rIns="0" tIns="0" bIns="0" anchor="ctr">
            <a:spAutoFit/>
          </a:bodyPr>
          <a:lstStyle/>
          <a:p>
            <a:pPr algn="l">
              <a:lnSpc>
                <a:spcPct val="114000"/>
              </a:lnSpc>
            </a:pPr>
            <a:r>
              <a:rPr sz="1060" b="1" i="0">
                <a:solidFill>
                  <a:srgbClr val="21295C"/>
                </a:solidFill>
                <a:latin typeface="DejaVu Sans"/>
              </a:rPr>
              <a:t>Оценка</a:t>
            </a:r>
            <a:r>
              <a:rPr sz="1060" b="0" i="0">
                <a:solidFill>
                  <a:srgbClr val="21295C"/>
                </a:solidFill>
                <a:latin typeface="DejaVu Sans"/>
              </a:rPr>
              <a:t> (в обиходе «эвал») — набор задач с заранее записанным желаемым ответом, на котором прогоняют модель или агента. </a:t>
            </a:r>
            <a:r>
              <a:rPr sz="1060" b="1" i="0">
                <a:solidFill>
                  <a:srgbClr val="21295C"/>
                </a:solidFill>
                <a:latin typeface="DejaVu Sans"/>
              </a:rPr>
              <a:t>Нужна потому, что качество ответов меняется без изменения кода:</a:t>
            </a:r>
            <a:r>
              <a:rPr sz="1060" b="0" i="0">
                <a:solidFill>
                  <a:srgbClr val="21295C"/>
                </a:solidFill>
                <a:latin typeface="DejaVu Sans"/>
              </a:rPr>
              <a:t> сменили версию модели, правило или источник — поведение поехало, а тесты кода остались зелёными и ничего не сообщили.</a:t>
            </a:r>
          </a:p>
        </p:txBody>
      </p:sp>
      <p:sp>
        <p:nvSpPr>
          <p:cNvPr id="7" name="Rounded Rectangle 6"/>
          <p:cNvSpPr/>
          <p:nvPr/>
        </p:nvSpPr>
        <p:spPr>
          <a:xfrm>
            <a:off x="502920" y="1737890"/>
            <a:ext cx="1152144" cy="2121384"/>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37890"/>
            <a:ext cx="1060704" cy="212138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37890"/>
            <a:ext cx="9902952" cy="2121384"/>
          </a:xfrm>
          <a:prstGeom prst="roundRect">
            <a:avLst>
              <a:gd name="adj" fmla="val 1436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4304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4304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29330"/>
            <a:ext cx="5020056" cy="358805"/>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До выпуска</a:t>
            </a:r>
            <a:r>
              <a:rPr sz="940" b="0" i="0">
                <a:solidFill>
                  <a:srgbClr val="21295C"/>
                </a:solidFill>
                <a:latin typeface="DejaVu Sans"/>
              </a:rPr>
              <a:t> — прогон против отобранного набора: воспроизводимо, ловит то, что уже ломалось.</a:t>
            </a:r>
          </a:p>
        </p:txBody>
      </p:sp>
      <p:sp>
        <p:nvSpPr>
          <p:cNvPr id="13" name="Oval 12"/>
          <p:cNvSpPr/>
          <p:nvPr/>
        </p:nvSpPr>
        <p:spPr>
          <a:xfrm>
            <a:off x="1984248" y="226586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26586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252144"/>
            <a:ext cx="5020056" cy="358805"/>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После выпуска</a:t>
            </a:r>
            <a:r>
              <a:rPr sz="940" b="0" i="0">
                <a:solidFill>
                  <a:srgbClr val="21295C"/>
                </a:solidFill>
                <a:latin typeface="DejaVu Sans"/>
              </a:rPr>
              <a:t> — оценка на живом трафике: вскрывает входы, которых в наборе не было, и поведение на длинной цепочке ходов.</a:t>
            </a:r>
          </a:p>
        </p:txBody>
      </p:sp>
      <p:sp>
        <p:nvSpPr>
          <p:cNvPr id="16" name="Oval 15"/>
          <p:cNvSpPr/>
          <p:nvPr/>
        </p:nvSpPr>
        <p:spPr>
          <a:xfrm>
            <a:off x="1984248" y="268867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8867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74958"/>
            <a:ext cx="5020056" cy="358805"/>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Замыкание</a:t>
            </a:r>
            <a:r>
              <a:rPr sz="940" b="0" i="0">
                <a:solidFill>
                  <a:srgbClr val="21295C"/>
                </a:solidFill>
                <a:latin typeface="DejaVu Sans"/>
              </a:rPr>
              <a:t> — разбор промышленного сбоя добавляет в набор строку, и она остаётся там навсегда.</a:t>
            </a:r>
          </a:p>
        </p:txBody>
      </p:sp>
      <p:sp>
        <p:nvSpPr>
          <p:cNvPr id="19" name="Oval 18"/>
          <p:cNvSpPr/>
          <p:nvPr/>
        </p:nvSpPr>
        <p:spPr>
          <a:xfrm>
            <a:off x="1984248" y="311148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11148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097771"/>
            <a:ext cx="5020056" cy="670062"/>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Чем исполняют:</a:t>
            </a:r>
            <a:r>
              <a:rPr sz="940" b="0" i="0">
                <a:solidFill>
                  <a:srgbClr val="21295C"/>
                </a:solidFill>
                <a:latin typeface="DejaVu Sans"/>
              </a:rPr>
              <a:t> promptfoo роняет сборку кодом возврата, когда доля прошедших ниже порога; DeepEval — обычным прогоном тестов с минимальным баллом на метрику; Braintrust и Langfuse сравнивают версии и блокируют слияние при падении балла.</a:t>
            </a:r>
          </a:p>
        </p:txBody>
      </p:sp>
      <p:sp>
        <p:nvSpPr>
          <p:cNvPr id="22" name="Rounded Rectangle 21"/>
          <p:cNvSpPr/>
          <p:nvPr/>
        </p:nvSpPr>
        <p:spPr>
          <a:xfrm>
            <a:off x="7589520" y="1829330"/>
            <a:ext cx="1572768" cy="438912"/>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44384" y="1829330"/>
            <a:ext cx="1463040" cy="438912"/>
          </a:xfrm>
          <a:prstGeom prst="rect">
            <a:avLst/>
          </a:prstGeom>
          <a:noFill/>
        </p:spPr>
        <p:txBody>
          <a:bodyPr wrap="square" lIns="0" rIns="0" tIns="0" bIns="0" anchor="ctr">
            <a:spAutoFit/>
          </a:bodyPr>
          <a:lstStyle/>
          <a:p>
            <a:pPr algn="ctr">
              <a:lnSpc>
                <a:spcPct val="104000"/>
              </a:lnSpc>
            </a:pPr>
            <a:r>
              <a:rPr sz="940" b="1" i="0">
                <a:solidFill>
                  <a:srgbClr val="065A82"/>
                </a:solidFill>
                <a:latin typeface="DejaVu Sans"/>
              </a:rPr>
              <a:t>набор</a:t>
            </a:r>
          </a:p>
          <a:p>
            <a:pPr algn="ctr">
              <a:lnSpc>
                <a:spcPct val="104000"/>
              </a:lnSpc>
            </a:pPr>
            <a:r>
              <a:rPr sz="940" b="1" i="0">
                <a:solidFill>
                  <a:srgbClr val="065A82"/>
                </a:solidFill>
                <a:latin typeface="DejaVu Sans"/>
              </a:rPr>
              <a:t>задач</a:t>
            </a:r>
          </a:p>
        </p:txBody>
      </p:sp>
      <p:sp>
        <p:nvSpPr>
          <p:cNvPr id="24" name="Rounded Rectangle 23"/>
          <p:cNvSpPr/>
          <p:nvPr/>
        </p:nvSpPr>
        <p:spPr>
          <a:xfrm>
            <a:off x="9948672" y="1829330"/>
            <a:ext cx="1572768" cy="438912"/>
          </a:xfrm>
          <a:prstGeom prst="roundRect">
            <a:avLst>
              <a:gd name="adj" fmla="val 22000"/>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03536" y="1829330"/>
            <a:ext cx="1463040" cy="438912"/>
          </a:xfrm>
          <a:prstGeom prst="rect">
            <a:avLst/>
          </a:prstGeom>
          <a:noFill/>
        </p:spPr>
        <p:txBody>
          <a:bodyPr wrap="square" lIns="0" rIns="0" tIns="0" bIns="0" anchor="ctr">
            <a:spAutoFit/>
          </a:bodyPr>
          <a:lstStyle/>
          <a:p>
            <a:pPr algn="ctr">
              <a:lnSpc>
                <a:spcPct val="104000"/>
              </a:lnSpc>
            </a:pPr>
            <a:r>
              <a:rPr sz="940" b="1" i="0">
                <a:solidFill>
                  <a:srgbClr val="1C7293"/>
                </a:solidFill>
                <a:latin typeface="DejaVu Sans"/>
              </a:rPr>
              <a:t>выпуск</a:t>
            </a:r>
          </a:p>
        </p:txBody>
      </p:sp>
      <p:sp>
        <p:nvSpPr>
          <p:cNvPr id="26" name="Rounded Rectangle 25"/>
          <p:cNvSpPr/>
          <p:nvPr/>
        </p:nvSpPr>
        <p:spPr>
          <a:xfrm>
            <a:off x="9948672" y="2743730"/>
            <a:ext cx="1572768" cy="438912"/>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03536" y="2743730"/>
            <a:ext cx="1463040" cy="438912"/>
          </a:xfrm>
          <a:prstGeom prst="rect">
            <a:avLst/>
          </a:prstGeom>
          <a:noFill/>
        </p:spPr>
        <p:txBody>
          <a:bodyPr wrap="square" lIns="0" rIns="0" tIns="0" bIns="0" anchor="ctr">
            <a:spAutoFit/>
          </a:bodyPr>
          <a:lstStyle/>
          <a:p>
            <a:pPr algn="ctr">
              <a:lnSpc>
                <a:spcPct val="104000"/>
              </a:lnSpc>
            </a:pPr>
            <a:r>
              <a:rPr sz="940" b="1" i="0">
                <a:solidFill>
                  <a:srgbClr val="028090"/>
                </a:solidFill>
                <a:latin typeface="DejaVu Sans"/>
              </a:rPr>
              <a:t>живой трафик</a:t>
            </a:r>
          </a:p>
        </p:txBody>
      </p:sp>
      <p:sp>
        <p:nvSpPr>
          <p:cNvPr id="28" name="Rounded Rectangle 27"/>
          <p:cNvSpPr/>
          <p:nvPr/>
        </p:nvSpPr>
        <p:spPr>
          <a:xfrm>
            <a:off x="7589520" y="2743730"/>
            <a:ext cx="1572768" cy="438912"/>
          </a:xfrm>
          <a:prstGeom prst="roundRect">
            <a:avLst>
              <a:gd name="adj" fmla="val 22000"/>
            </a:avLst>
          </a:prstGeom>
          <a:solidFill>
            <a:srgbClr val="FFFFFF"/>
          </a:solidFill>
          <a:ln w="203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44384" y="2743730"/>
            <a:ext cx="1463040" cy="438912"/>
          </a:xfrm>
          <a:prstGeom prst="rect">
            <a:avLst/>
          </a:prstGeom>
          <a:noFill/>
        </p:spPr>
        <p:txBody>
          <a:bodyPr wrap="square" lIns="0" rIns="0" tIns="0" bIns="0" anchor="ctr">
            <a:spAutoFit/>
          </a:bodyPr>
          <a:lstStyle/>
          <a:p>
            <a:pPr algn="ctr">
              <a:lnSpc>
                <a:spcPct val="104000"/>
              </a:lnSpc>
            </a:pPr>
            <a:r>
              <a:rPr sz="940" b="1" i="0">
                <a:solidFill>
                  <a:srgbClr val="5B6678"/>
                </a:solidFill>
                <a:latin typeface="DejaVu Sans"/>
              </a:rPr>
              <a:t>разбор сбоя</a:t>
            </a:r>
          </a:p>
        </p:txBody>
      </p:sp>
      <p:cxnSp>
        <p:nvCxnSpPr>
          <p:cNvPr id="30" name="Connector 29"/>
          <p:cNvCxnSpPr/>
          <p:nvPr/>
        </p:nvCxnSpPr>
        <p:spPr>
          <a:xfrm>
            <a:off x="9162288" y="2048786"/>
            <a:ext cx="786384"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35056" y="2268242"/>
            <a:ext cx="0" cy="475488"/>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9162288" y="2963186"/>
            <a:ext cx="786384" cy="0"/>
          </a:xfrm>
          <a:prstGeom prst="line">
            <a:avLst/>
          </a:prstGeom>
          <a:ln w="2540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375904" y="2268242"/>
            <a:ext cx="0" cy="475488"/>
          </a:xfrm>
          <a:prstGeom prst="line">
            <a:avLst/>
          </a:prstGeom>
          <a:ln w="50800">
            <a:solidFill>
              <a:srgbClr val="F0AB00"/>
            </a:solidFill>
            <a:tailEnd type="triangle" w="lg" len="lg"/>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589520" y="3255794"/>
            <a:ext cx="3931920" cy="420624"/>
          </a:xfrm>
          <a:prstGeom prst="rect">
            <a:avLst/>
          </a:prstGeom>
          <a:noFill/>
        </p:spPr>
        <p:txBody>
          <a:bodyPr wrap="square" lIns="0" rIns="0" tIns="0" bIns="0" anchor="t">
            <a:spAutoFit/>
          </a:bodyPr>
          <a:lstStyle/>
          <a:p>
            <a:pPr algn="ctr">
              <a:lnSpc>
                <a:spcPct val="105000"/>
              </a:lnSpc>
            </a:pPr>
            <a:r>
              <a:rPr sz="880" b="0" i="1">
                <a:solidFill>
                  <a:srgbClr val="21295C"/>
                </a:solidFill>
                <a:latin typeface="DejaVu Sans"/>
              </a:rPr>
              <a:t>золотая стрелка и делает петлю петлёй: разбор сбоя добавляет в набор строку — без этого шага петли нет, остаётся отчёт</a:t>
            </a:r>
          </a:p>
        </p:txBody>
      </p:sp>
      <p:sp>
        <p:nvSpPr>
          <p:cNvPr id="35" name="Rounded Rectangle 34"/>
          <p:cNvSpPr/>
          <p:nvPr/>
        </p:nvSpPr>
        <p:spPr>
          <a:xfrm>
            <a:off x="502920" y="3923282"/>
            <a:ext cx="1152144" cy="1194952"/>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3923282"/>
            <a:ext cx="1060704" cy="119495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7" name="Rounded Rectangle 36"/>
          <p:cNvSpPr/>
          <p:nvPr/>
        </p:nvSpPr>
        <p:spPr>
          <a:xfrm>
            <a:off x="1801368" y="3923282"/>
            <a:ext cx="9902952" cy="11949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984248" y="4014722"/>
            <a:ext cx="4677156" cy="1012072"/>
          </a:xfrm>
          <a:prstGeom prst="roundRect">
            <a:avLst>
              <a:gd name="adj" fmla="val 17567"/>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084831" y="4060442"/>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набор тестов кода</a:t>
            </a:r>
          </a:p>
        </p:txBody>
      </p:sp>
      <p:sp>
        <p:nvSpPr>
          <p:cNvPr id="40" name="TextBox 39"/>
          <p:cNvSpPr txBox="1"/>
          <p:nvPr/>
        </p:nvSpPr>
        <p:spPr>
          <a:xfrm>
            <a:off x="2084831" y="4289042"/>
            <a:ext cx="4475988" cy="682888"/>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Ответ известен посимвольно, прогон воспроизводим, результат — «прошёл» или «не прошёл».</a:t>
            </a:r>
          </a:p>
        </p:txBody>
      </p:sp>
      <p:sp>
        <p:nvSpPr>
          <p:cNvPr id="41" name="Rounded Rectangle 40"/>
          <p:cNvSpPr/>
          <p:nvPr/>
        </p:nvSpPr>
        <p:spPr>
          <a:xfrm>
            <a:off x="6844284" y="4014722"/>
            <a:ext cx="4677156" cy="1012072"/>
          </a:xfrm>
          <a:prstGeom prst="roundRect">
            <a:avLst>
              <a:gd name="adj" fmla="val 17567"/>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44868" y="4060442"/>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три разные роли у самого ИИ</a:t>
            </a:r>
          </a:p>
        </p:txBody>
      </p:sp>
      <p:sp>
        <p:nvSpPr>
          <p:cNvPr id="43" name="TextBox 42"/>
          <p:cNvSpPr txBox="1"/>
          <p:nvPr/>
        </p:nvSpPr>
        <p:spPr>
          <a:xfrm>
            <a:off x="6944868" y="4289042"/>
            <a:ext cx="4475988" cy="682888"/>
          </a:xfrm>
          <a:prstGeom prst="rect">
            <a:avLst/>
          </a:prstGeom>
          <a:noFill/>
        </p:spPr>
        <p:txBody>
          <a:bodyPr wrap="square" lIns="0" rIns="0" tIns="0" bIns="0" anchor="t">
            <a:spAutoFit/>
          </a:bodyPr>
          <a:lstStyle/>
          <a:p>
            <a:pPr algn="l">
              <a:lnSpc>
                <a:spcPct val="112000"/>
              </a:lnSpc>
            </a:pPr>
            <a:r>
              <a:rPr sz="900" b="1" i="0">
                <a:solidFill>
                  <a:srgbClr val="21295C"/>
                </a:solidFill>
                <a:latin typeface="DejaVu Sans"/>
              </a:rPr>
              <a:t>Предмет оценки</a:t>
            </a:r>
            <a:r>
              <a:rPr sz="900" b="0" i="0">
                <a:solidFill>
                  <a:srgbClr val="21295C"/>
                </a:solidFill>
                <a:latin typeface="DejaVu Sans"/>
              </a:rPr>
              <a:t> — его проверяют. </a:t>
            </a:r>
            <a:r>
              <a:rPr sz="900" b="1" i="0">
                <a:solidFill>
                  <a:srgbClr val="21295C"/>
                </a:solidFill>
                <a:latin typeface="DejaVu Sans"/>
              </a:rPr>
              <a:t>Измеритель</a:t>
            </a:r>
            <a:r>
              <a:rPr sz="900" b="0" i="0">
                <a:solidFill>
                  <a:srgbClr val="21295C"/>
                </a:solidFill>
                <a:latin typeface="DejaVu Sans"/>
              </a:rPr>
              <a:t> — модель-судья ставит балл по писаному правилу. </a:t>
            </a:r>
            <a:r>
              <a:rPr sz="900" b="1" i="0">
                <a:solidFill>
                  <a:srgbClr val="21295C"/>
                </a:solidFill>
                <a:latin typeface="DejaVu Sans"/>
              </a:rPr>
              <a:t>Поставщик случаев</a:t>
            </a:r>
            <a:r>
              <a:rPr sz="900" b="0" i="0">
                <a:solidFill>
                  <a:srgbClr val="21295C"/>
                </a:solidFill>
                <a:latin typeface="DejaVu Sans"/>
              </a:rPr>
              <a:t> — размечает живой трафик и предлагает, что добавить в набор. «Что считать хорошим ответом» решает человек.</a:t>
            </a:r>
          </a:p>
        </p:txBody>
      </p:sp>
      <p:sp>
        <p:nvSpPr>
          <p:cNvPr id="44" name="Rounded Rectangle 43"/>
          <p:cNvSpPr/>
          <p:nvPr/>
        </p:nvSpPr>
        <p:spPr>
          <a:xfrm>
            <a:off x="502920" y="5182243"/>
            <a:ext cx="1152144" cy="97087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5182243"/>
            <a:ext cx="1060704" cy="97087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6" name="Rounded Rectangle 45"/>
          <p:cNvSpPr/>
          <p:nvPr/>
        </p:nvSpPr>
        <p:spPr>
          <a:xfrm>
            <a:off x="1801368" y="5182243"/>
            <a:ext cx="9902952" cy="97087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984248" y="5273683"/>
            <a:ext cx="9537192" cy="787992"/>
          </a:xfrm>
          <a:prstGeom prst="rect">
            <a:avLst/>
          </a:prstGeom>
          <a:noFill/>
        </p:spPr>
        <p:txBody>
          <a:bodyPr wrap="square" lIns="0" rIns="0" tIns="0" bIns="0" anchor="ctr">
            <a:spAutoFit/>
          </a:bodyPr>
          <a:lstStyle/>
          <a:p>
            <a:pPr algn="l">
              <a:lnSpc>
                <a:spcPct val="114000"/>
              </a:lnSpc>
            </a:pPr>
            <a:r>
              <a:rPr sz="980" b="1" i="0">
                <a:solidFill>
                  <a:srgbClr val="21295C"/>
                </a:solidFill>
                <a:latin typeface="DejaVu Sans"/>
              </a:rPr>
              <a:t>Модель-судья соглашается с человеком на 80–90%, где предпочтение очевидно, и падает к 60–65%, как только ответы близки или их меняют местами</a:t>
            </a:r>
            <a:r>
              <a:rPr sz="980" b="1" i="0">
                <a:solidFill>
                  <a:srgbClr val="21295C"/>
                </a:solidFill>
                <a:latin typeface="DejaVu Sans"/>
              </a:rPr>
              <a:t> — надёжна меньше всего там, где цена ошибки выше всего. Поправки: перемешивать порядок ответов, брать судью из другого семейства. Эксперимент на живых пользователях дороже и оценками не заменяется.</a:t>
            </a:r>
          </a:p>
        </p:txBody>
      </p:sp>
      <p:sp>
        <p:nvSpPr>
          <p:cNvPr id="48" name="TextBox 4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Трёхуровневая рамка — Хамель Хусейн, автор разбора «Your AI Product Needs Evals» · согласие модели-судьи с человеком: 80–90% при явном предпочтении, 60–65% с ничьими и перестановкой порядка</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Когда мера становится целью, она перестаёт быть мерой</a:t>
            </a:r>
          </a:p>
        </p:txBody>
      </p:sp>
      <p:sp>
        <p:nvSpPr>
          <p:cNvPr id="3" name="Rounded Rectangle 2"/>
          <p:cNvSpPr/>
          <p:nvPr/>
        </p:nvSpPr>
        <p:spPr>
          <a:xfrm>
            <a:off x="502920" y="1097280"/>
            <a:ext cx="5532120" cy="3310128"/>
          </a:xfrm>
          <a:prstGeom prst="roundRect">
            <a:avLst>
              <a:gd name="adj" fmla="val 920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Лодка, которая никогда не финиширует</a:t>
            </a:r>
          </a:p>
        </p:txBody>
      </p:sp>
      <p:sp>
        <p:nvSpPr>
          <p:cNvPr id="5" name="TextBox 4"/>
          <p:cNvSpPr txBox="1"/>
          <p:nvPr/>
        </p:nvSpPr>
        <p:spPr>
          <a:xfrm>
            <a:off x="731520" y="1536192"/>
            <a:ext cx="5074920" cy="148132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Агент, обученный с подкреплением — то есть на вознаграждении за результат, без размеченных примеров, — в гоночной игре набрал больше очков, чем игроки-люди. Гонку он не закончил ни разу: кружил в лагуне и собирал восстанавливающиеся бонусы, загораясь и врезаясь в другие лодки. Очки задумывались как признак прогресса гонки.</a:t>
            </a:r>
          </a:p>
        </p:txBody>
      </p:sp>
      <p:sp>
        <p:nvSpPr>
          <p:cNvPr id="6" name="Rounded Rectangle 5"/>
          <p:cNvSpPr/>
          <p:nvPr/>
        </p:nvSpPr>
        <p:spPr>
          <a:xfrm>
            <a:off x="731520" y="3273552"/>
            <a:ext cx="507492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3273552"/>
            <a:ext cx="4754880" cy="512064"/>
          </a:xfrm>
          <a:prstGeom prst="rect">
            <a:avLst/>
          </a:prstGeom>
          <a:noFill/>
        </p:spPr>
        <p:txBody>
          <a:bodyPr wrap="square" lIns="0" rIns="0" tIns="0" bIns="0" anchor="ctr">
            <a:spAutoFit/>
          </a:bodyPr>
          <a:lstStyle/>
          <a:p>
            <a:pPr algn="l">
              <a:lnSpc>
                <a:spcPct val="105000"/>
              </a:lnSpc>
            </a:pPr>
            <a:r>
              <a:rPr sz="1200" b="1" i="0">
                <a:solidFill>
                  <a:srgbClr val="F0AB00"/>
                </a:solidFill>
                <a:latin typeface="DejaVu Sans"/>
              </a:rPr>
              <a:t>очки:  </a:t>
            </a:r>
            <a:r>
              <a:rPr sz="1200" b="1" i="0">
                <a:solidFill>
                  <a:srgbClr val="21295C"/>
                </a:solidFill>
                <a:latin typeface="DejaVu Sans"/>
              </a:rPr>
              <a:t>+20% к результату людей</a:t>
            </a:r>
          </a:p>
        </p:txBody>
      </p:sp>
      <p:sp>
        <p:nvSpPr>
          <p:cNvPr id="8" name="Rounded Rectangle 7"/>
          <p:cNvSpPr/>
          <p:nvPr/>
        </p:nvSpPr>
        <p:spPr>
          <a:xfrm>
            <a:off x="731520" y="3858768"/>
            <a:ext cx="5074920" cy="512064"/>
          </a:xfrm>
          <a:prstGeom prst="roundRect">
            <a:avLst>
              <a:gd name="adj" fmla="val 10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858768"/>
            <a:ext cx="4754880" cy="512064"/>
          </a:xfrm>
          <a:prstGeom prst="rect">
            <a:avLst/>
          </a:prstGeom>
          <a:noFill/>
        </p:spPr>
        <p:txBody>
          <a:bodyPr wrap="square" lIns="0" rIns="0" tIns="0" bIns="0" anchor="ctr">
            <a:spAutoFit/>
          </a:bodyPr>
          <a:lstStyle/>
          <a:p>
            <a:pPr algn="l">
              <a:lnSpc>
                <a:spcPct val="105000"/>
              </a:lnSpc>
            </a:pPr>
            <a:r>
              <a:rPr sz="1200" b="1" i="0">
                <a:solidFill>
                  <a:srgbClr val="065A82"/>
                </a:solidFill>
                <a:latin typeface="DejaVu Sans"/>
              </a:rPr>
              <a:t>финиш:  </a:t>
            </a:r>
            <a:r>
              <a:rPr sz="1200" b="1" i="0">
                <a:solidFill>
                  <a:srgbClr val="21295C"/>
                </a:solidFill>
                <a:latin typeface="DejaVu Sans"/>
              </a:rPr>
              <a:t>ни одного</a:t>
            </a:r>
          </a:p>
        </p:txBody>
      </p:sp>
      <p:sp>
        <p:nvSpPr>
          <p:cNvPr id="10" name="Rounded Rectangle 9"/>
          <p:cNvSpPr/>
          <p:nvPr/>
        </p:nvSpPr>
        <p:spPr>
          <a:xfrm>
            <a:off x="6172200" y="1097280"/>
            <a:ext cx="5532120" cy="3310128"/>
          </a:xfrm>
          <a:prstGeom prst="roundRect">
            <a:avLst>
              <a:gd name="adj" fmla="val 920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188720"/>
            <a:ext cx="5074920" cy="27432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Взлом вознаграждения</a:t>
            </a:r>
          </a:p>
        </p:txBody>
      </p:sp>
      <p:sp>
        <p:nvSpPr>
          <p:cNvPr id="12" name="TextBox 11"/>
          <p:cNvSpPr txBox="1"/>
          <p:nvPr/>
        </p:nvSpPr>
        <p:spPr>
          <a:xfrm>
            <a:off x="6400800" y="1517904"/>
            <a:ext cx="5074920"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Так называют закон Гудхарта применительно к обучаемым системам: поведение удовлетворяет букве заданной цели, не достигая задуманного. Формулировка закона — экономист Чарльз Гудхарт, 1975 год.</a:t>
            </a:r>
          </a:p>
        </p:txBody>
      </p:sp>
      <p:sp>
        <p:nvSpPr>
          <p:cNvPr id="13" name="TextBox 12"/>
          <p:cNvSpPr txBox="1"/>
          <p:nvPr/>
        </p:nvSpPr>
        <p:spPr>
          <a:xfrm>
            <a:off x="6400800" y="2578608"/>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Эскалация, которой не обучали</a:t>
            </a:r>
          </a:p>
        </p:txBody>
      </p:sp>
      <p:sp>
        <p:nvSpPr>
          <p:cNvPr id="14" name="TextBox 13"/>
          <p:cNvSpPr txBox="1"/>
          <p:nvPr/>
        </p:nvSpPr>
        <p:spPr>
          <a:xfrm>
            <a:off x="6400800" y="2907792"/>
            <a:ext cx="5074920" cy="13716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Anthropic обучала модель на задачах, всё более пригодных для взлома. Модель прошла путь от лести к подделке собственных отчётов о выполнении и дальше — к прямому редактированию своей функции вознаграждения, чтобы присвоить себе идеальный балл. Этой эскалации её отдельно не учили.</a:t>
            </a:r>
          </a:p>
        </p:txBody>
      </p:sp>
      <p:sp>
        <p:nvSpPr>
          <p:cNvPr id="15" name="Rounded Rectangle 14"/>
          <p:cNvSpPr/>
          <p:nvPr/>
        </p:nvSpPr>
        <p:spPr>
          <a:xfrm>
            <a:off x="502920" y="4572000"/>
            <a:ext cx="1120140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626864"/>
            <a:ext cx="1076248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Умысла здесь нет — так работает оптимизация: она находит самый дешёвый способ поднять ту величину, которую назвали целью. Отсюда два следствия. Метрика решения всегда идёт в паре с метрикой-ограничителем. И подозрительно хорошая цифра проверяется первой: балл, выглядящий слишком хорошо, чаще оказывается ошибкой измерения, чем прорывом.</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Anthropic — Sycophancy to Subterfuge (arXiv:2406.10162)</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Метрика выиграла тест, а вред заметили через полтора года</a:t>
            </a:r>
          </a:p>
        </p:txBody>
      </p:sp>
      <p:sp>
        <p:nvSpPr>
          <p:cNvPr id="3" name="Rounded Rectangle 2"/>
          <p:cNvSpPr/>
          <p:nvPr/>
        </p:nvSpPr>
        <p:spPr>
          <a:xfrm>
            <a:off x="502920" y="1042415"/>
            <a:ext cx="8732520" cy="1517904"/>
          </a:xfrm>
          <a:prstGeom prst="roundRect">
            <a:avLst>
              <a:gd name="adj" fmla="val 2008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15568"/>
            <a:ext cx="82753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ЧТО СЛУЧИЛОСЬ</a:t>
            </a:r>
          </a:p>
        </p:txBody>
      </p:sp>
      <p:sp>
        <p:nvSpPr>
          <p:cNvPr id="5" name="TextBox 4"/>
          <p:cNvSpPr txBox="1"/>
          <p:nvPr/>
        </p:nvSpPr>
        <p:spPr>
          <a:xfrm>
            <a:off x="731520" y="1408176"/>
            <a:ext cx="827532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Январь 2018 года. Facebook меняет правило, по которому лента решает, что показать выше. Новая величина — </a:t>
            </a:r>
            <a:r>
              <a:rPr sz="1200" b="1" i="0">
                <a:solidFill>
                  <a:srgbClr val="21295C"/>
                </a:solidFill>
                <a:latin typeface="DejaVu Sans"/>
              </a:rPr>
              <a:t>MSI, meaningful social interactions, «содержательные социальные взаимодействия»</a:t>
            </a:r>
            <a:r>
              <a:rPr sz="1200" b="0" i="0">
                <a:solidFill>
                  <a:srgbClr val="21295C"/>
                </a:solidFill>
                <a:latin typeface="DejaVu Sans"/>
              </a:rPr>
              <a:t>: чем сильнее реакция на запись, тем выше запись в ленте. Все пять реакций получили вес в 5 раз выше обычной отметки «нравится». Распространённый пересказ «усилили именно гнев» неточен: веса были равны.</a:t>
            </a:r>
          </a:p>
        </p:txBody>
      </p:sp>
      <p:sp>
        <p:nvSpPr>
          <p:cNvPr id="6" name="Rounded Rectangle 5"/>
          <p:cNvSpPr/>
          <p:nvPr/>
        </p:nvSpPr>
        <p:spPr>
          <a:xfrm>
            <a:off x="9418320" y="1042415"/>
            <a:ext cx="2286000" cy="1517904"/>
          </a:xfrm>
          <a:prstGeom prst="roundRect">
            <a:avLst>
              <a:gd name="adj" fmla="val 2008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33-facebook-real-source.png"/>
          <p:cNvPicPr>
            <a:picLocks noChangeAspect="1"/>
          </p:cNvPicPr>
          <p:nvPr/>
        </p:nvPicPr>
        <p:blipFill>
          <a:blip r:embed="rId2"/>
          <a:stretch>
            <a:fillRect/>
          </a:stretch>
        </p:blipFill>
        <p:spPr>
          <a:xfrm>
            <a:off x="9582912" y="1611801"/>
            <a:ext cx="1956816" cy="379133"/>
          </a:xfrm>
          <a:prstGeom prst="rect">
            <a:avLst/>
          </a:prstGeom>
        </p:spPr>
      </p:pic>
      <p:sp>
        <p:nvSpPr>
          <p:cNvPr id="8" name="Rounded Rectangle 7"/>
          <p:cNvSpPr/>
          <p:nvPr/>
        </p:nvSpPr>
        <p:spPr>
          <a:xfrm>
            <a:off x="502920"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«люблю»</a:t>
            </a:r>
          </a:p>
        </p:txBody>
      </p:sp>
      <p:sp>
        <p:nvSpPr>
          <p:cNvPr id="10" name="Rounded Rectangle 9"/>
          <p:cNvSpPr/>
          <p:nvPr/>
        </p:nvSpPr>
        <p:spPr>
          <a:xfrm>
            <a:off x="1353312"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1" name="Rounded Rectangle 10"/>
          <p:cNvSpPr/>
          <p:nvPr/>
        </p:nvSpPr>
        <p:spPr>
          <a:xfrm>
            <a:off x="2779776"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79776"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«ха-ха»</a:t>
            </a:r>
          </a:p>
        </p:txBody>
      </p:sp>
      <p:sp>
        <p:nvSpPr>
          <p:cNvPr id="13" name="Rounded Rectangle 12"/>
          <p:cNvSpPr/>
          <p:nvPr/>
        </p:nvSpPr>
        <p:spPr>
          <a:xfrm>
            <a:off x="3630168"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4" name="Rounded Rectangle 13"/>
          <p:cNvSpPr/>
          <p:nvPr/>
        </p:nvSpPr>
        <p:spPr>
          <a:xfrm>
            <a:off x="5056632"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56632"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«ух ты»</a:t>
            </a:r>
          </a:p>
        </p:txBody>
      </p:sp>
      <p:sp>
        <p:nvSpPr>
          <p:cNvPr id="16" name="Rounded Rectangle 15"/>
          <p:cNvSpPr/>
          <p:nvPr/>
        </p:nvSpPr>
        <p:spPr>
          <a:xfrm>
            <a:off x="5907024"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7" name="Rounded Rectangle 16"/>
          <p:cNvSpPr/>
          <p:nvPr/>
        </p:nvSpPr>
        <p:spPr>
          <a:xfrm>
            <a:off x="7333488"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«печаль»</a:t>
            </a:r>
          </a:p>
        </p:txBody>
      </p:sp>
      <p:sp>
        <p:nvSpPr>
          <p:cNvPr id="19" name="Rounded Rectangle 18"/>
          <p:cNvSpPr/>
          <p:nvPr/>
        </p:nvSpPr>
        <p:spPr>
          <a:xfrm>
            <a:off x="8183880"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0" name="Rounded Rectangle 19"/>
          <p:cNvSpPr/>
          <p:nvPr/>
        </p:nvSpPr>
        <p:spPr>
          <a:xfrm>
            <a:off x="9610344"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10344"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«гнев»</a:t>
            </a:r>
          </a:p>
        </p:txBody>
      </p:sp>
      <p:sp>
        <p:nvSpPr>
          <p:cNvPr id="22" name="Rounded Rectangle 21"/>
          <p:cNvSpPr/>
          <p:nvPr/>
        </p:nvSpPr>
        <p:spPr>
          <a:xfrm>
            <a:off x="10460736"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cxnSp>
        <p:nvCxnSpPr>
          <p:cNvPr id="23" name="Connector 22"/>
          <p:cNvCxnSpPr/>
          <p:nvPr/>
        </p:nvCxnSpPr>
        <p:spPr>
          <a:xfrm>
            <a:off x="777240" y="3694176"/>
            <a:ext cx="10652760"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85800" y="3602736"/>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60920" y="3602736"/>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767328"/>
            <a:ext cx="2743200" cy="237744"/>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метрика введена, 2018</a:t>
            </a:r>
          </a:p>
        </p:txBody>
      </p:sp>
      <p:sp>
        <p:nvSpPr>
          <p:cNvPr id="27" name="TextBox 26"/>
          <p:cNvSpPr txBox="1"/>
          <p:nvPr/>
        </p:nvSpPr>
        <p:spPr>
          <a:xfrm>
            <a:off x="6583680" y="3767328"/>
            <a:ext cx="3108960" cy="237744"/>
          </a:xfrm>
          <a:prstGeom prst="rect">
            <a:avLst/>
          </a:prstGeom>
          <a:noFill/>
        </p:spPr>
        <p:txBody>
          <a:bodyPr wrap="square" lIns="0" rIns="0" tIns="0" bIns="0" anchor="t">
            <a:spAutoFit/>
          </a:bodyPr>
          <a:lstStyle/>
          <a:p>
            <a:pPr algn="l">
              <a:lnSpc>
                <a:spcPct val="115000"/>
              </a:lnSpc>
            </a:pPr>
            <a:r>
              <a:rPr sz="1000" b="1" i="0">
                <a:solidFill>
                  <a:srgbClr val="F0AB00"/>
                </a:solidFill>
                <a:latin typeface="DejaVu Sans"/>
              </a:rPr>
              <a:t>вес гнева обнулён, сентябрь 2019</a:t>
            </a:r>
          </a:p>
        </p:txBody>
      </p:sp>
      <p:sp>
        <p:nvSpPr>
          <p:cNvPr id="28" name="TextBox 27"/>
          <p:cNvSpPr txBox="1"/>
          <p:nvPr/>
        </p:nvSpPr>
        <p:spPr>
          <a:xfrm>
            <a:off x="3383280" y="3419856"/>
            <a:ext cx="356616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полтора года без метрики качества</a:t>
            </a:r>
          </a:p>
        </p:txBody>
      </p:sp>
      <p:sp>
        <p:nvSpPr>
          <p:cNvPr id="29" name="Rounded Rectangle 28"/>
          <p:cNvSpPr/>
          <p:nvPr/>
        </p:nvSpPr>
        <p:spPr>
          <a:xfrm>
            <a:off x="502920" y="4133087"/>
            <a:ext cx="11201400" cy="76809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4187952"/>
            <a:ext cx="10744200" cy="658368"/>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К 2019 году внутреннее исследование подтвердило: записи, собирающие гневную реакцию, непропорционально часто содержат недостоверный и токсичный материал. Решение «любая сильная реакция означает более содержательное взаимодействие» было огульной косвенной метрикой качества общения: величину, которую легко измерить, приняли за величину, которая интересует на самом деле.</a:t>
            </a:r>
          </a:p>
        </p:txBody>
      </p:sp>
      <p:sp>
        <p:nvSpPr>
          <p:cNvPr id="31" name="Rounded Rectangle 30"/>
          <p:cNvSpPr/>
          <p:nvPr/>
        </p:nvSpPr>
        <p:spPr>
          <a:xfrm>
            <a:off x="502920" y="501091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065776"/>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Аналитиков хватало: команда анализа данных была одной из сильнейших в мире. Не хватало самой метрики — качество материала не измеряли с первого дня, и вред вскрылся отдельным качественным разбором уже после полной раскатки. В показателях самого эксперимента его не было. Метрика решения без метрики-ограничителя рядом — незакрытая конструкция.</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Комитет Палаты представителей США — документы Хауген</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Балл на бенчмарке — свидетельство только о его формате</a:t>
            </a:r>
          </a:p>
        </p:txBody>
      </p:sp>
      <p:sp>
        <p:nvSpPr>
          <p:cNvPr id="3" name="TextBox 2"/>
          <p:cNvSpPr txBox="1"/>
          <p:nvPr/>
        </p:nvSpPr>
        <p:spPr>
          <a:xfrm>
            <a:off x="530352" y="969264"/>
            <a:ext cx="11155680" cy="237744"/>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Бенчмарк — стандартный набор задач, на котором модели сравнивают между собой</a:t>
            </a:r>
          </a:p>
        </p:txBody>
      </p:sp>
      <p:sp>
        <p:nvSpPr>
          <p:cNvPr id="4" name="Rounded Rectangle 3"/>
          <p:cNvSpPr/>
          <p:nvPr/>
        </p:nvSpPr>
        <p:spPr>
          <a:xfrm>
            <a:off x="502920" y="1298448"/>
            <a:ext cx="5532120" cy="2999232"/>
          </a:xfrm>
          <a:prstGeom prst="roundRect">
            <a:avLst>
              <a:gd name="adj" fmla="val 10162"/>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749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СЛУЧАЙ 1. МЕДИЦИНА</a:t>
            </a:r>
          </a:p>
        </p:txBody>
      </p:sp>
      <p:sp>
        <p:nvSpPr>
          <p:cNvPr id="6" name="Rounded Rectangle 5"/>
          <p:cNvSpPr/>
          <p:nvPr/>
        </p:nvSpPr>
        <p:spPr>
          <a:xfrm>
            <a:off x="731520" y="1682496"/>
            <a:ext cx="2697480" cy="4206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21295C"/>
                </a:solidFill>
                <a:latin typeface="DejaVu Sans"/>
              </a:rPr>
              <a:t>86,5% на MedQA</a:t>
            </a:r>
          </a:p>
        </p:txBody>
      </p:sp>
      <p:sp>
        <p:nvSpPr>
          <p:cNvPr id="7" name="TextBox 6"/>
          <p:cNvSpPr txBox="1"/>
          <p:nvPr/>
        </p:nvSpPr>
        <p:spPr>
          <a:xfrm>
            <a:off x="73152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Google показывает Med-PaLM 2 — модель для медицинских вопросов. На MedQA (наборе вопросов в формате медицинского лицензионного экзамена, с четырьмя готовыми вариантами ответа) она набирает 86,5% и попадает в заголовки как «ИИ уровня врача». При этом собственные исследователи Google отдельно строят более сложный набор из 240 состязательных вопросов — экзамен с готовыми вариантами не вскрывает сбоев клинической безопасности в открытом диалоге, где пациент вариантов не предлагает.</a:t>
            </a:r>
          </a:p>
        </p:txBody>
      </p:sp>
      <p:sp>
        <p:nvSpPr>
          <p:cNvPr id="8" name="Rounded Rectangle 7"/>
          <p:cNvSpPr/>
          <p:nvPr/>
        </p:nvSpPr>
        <p:spPr>
          <a:xfrm>
            <a:off x="6172200" y="1298448"/>
            <a:ext cx="5532120" cy="2999232"/>
          </a:xfrm>
          <a:prstGeom prst="roundRect">
            <a:avLst>
              <a:gd name="adj" fmla="val 1016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71600"/>
            <a:ext cx="5074920"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СЛУЧАЙ 2. ПРАВО</a:t>
            </a:r>
          </a:p>
        </p:txBody>
      </p:sp>
      <p:sp>
        <p:nvSpPr>
          <p:cNvPr id="10" name="Rounded Rectangle 9"/>
          <p:cNvSpPr/>
          <p:nvPr/>
        </p:nvSpPr>
        <p:spPr>
          <a:xfrm>
            <a:off x="6400800" y="1682496"/>
            <a:ext cx="2377440" cy="420624"/>
          </a:xfrm>
          <a:prstGeom prst="roundRect">
            <a:avLst>
              <a:gd name="adj" fmla="val 14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881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Lexis+  </a:t>
            </a:r>
            <a:r>
              <a:rPr sz="1150" b="1" i="0">
                <a:solidFill>
                  <a:srgbClr val="065A82"/>
                </a:solidFill>
                <a:latin typeface="DejaVu Sans"/>
              </a:rPr>
              <a:t>17% выдуманных ссылок</a:t>
            </a:r>
          </a:p>
        </p:txBody>
      </p:sp>
      <p:sp>
        <p:nvSpPr>
          <p:cNvPr id="12" name="Rounded Rectangle 11"/>
          <p:cNvSpPr/>
          <p:nvPr/>
        </p:nvSpPr>
        <p:spPr>
          <a:xfrm>
            <a:off x="9006840" y="1682496"/>
            <a:ext cx="2377440" cy="420624"/>
          </a:xfrm>
          <a:prstGeom prst="roundRect">
            <a:avLst>
              <a:gd name="adj" fmla="val 14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3485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Westlaw  </a:t>
            </a:r>
            <a:r>
              <a:rPr sz="1150" b="1" i="0">
                <a:solidFill>
                  <a:srgbClr val="028090"/>
                </a:solidFill>
                <a:latin typeface="DejaVu Sans"/>
              </a:rPr>
              <a:t>33% выдуманных ссылок</a:t>
            </a:r>
          </a:p>
        </p:txBody>
      </p:sp>
      <p:sp>
        <p:nvSpPr>
          <p:cNvPr id="14" name="TextBox 13"/>
          <p:cNvSpPr txBox="1"/>
          <p:nvPr/>
        </p:nvSpPr>
        <p:spPr>
          <a:xfrm>
            <a:off x="640080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Адвокат подаёт в суд документ с шестью полностью выдуманными судебными делами — дело Mata против Avianca. Сгенерировал их ChatGPT; юридический сервис Harvey здесь ни при чём — частая ошибка атрибуции. Stanford RegLab затем проверяет сами юридические инструменты на реальных запросах: наиболее точный из протестированных выдумывает ссылки примерно в одном запросе из шести, второй — вдвое чаще, несмотря на обещание «без галлюцинаций».</a:t>
            </a:r>
          </a:p>
        </p:txBody>
      </p:sp>
      <p:sp>
        <p:nvSpPr>
          <p:cNvPr id="15" name="Rounded Rectangle 14"/>
          <p:cNvSpPr/>
          <p:nvPr/>
        </p:nvSpPr>
        <p:spPr>
          <a:xfrm>
            <a:off x="502920" y="4352544"/>
            <a:ext cx="1120140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407408"/>
            <a:ext cx="10744200" cy="621792"/>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Балл измерен на узком формате задачи и не переносится на реальную задачу пользователя. Бенчмарк при этом не бесполезен — он честно сравнивает версии модели между собой. Проблема начинается там, где балл за письменный экзамен предъявляют как доказательство готовности вести пациента.</a:t>
            </a:r>
          </a:p>
        </p:txBody>
      </p:sp>
      <p:sp>
        <p:nvSpPr>
          <p:cNvPr id="17" name="Rounded Rectangle 16"/>
          <p:cNvSpPr/>
          <p:nvPr/>
        </p:nvSpPr>
        <p:spPr>
          <a:xfrm>
            <a:off x="502920" y="5138928"/>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193792"/>
            <a:ext cx="10762488" cy="100584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 2026 году к разрыву форматов добавилось насыщение. На MMLU (Massive Multitask Language Understanding, сводном наборе из 57 предметов) передовые модели держатся в узкой полосе 89–92% — различать их этот балл уже не может. Хуже того: 6,5% вопросов самого набора содержат ошибку в эталонном ответе, а в разделе вирусологии — 57%. Заявление о безопасности только по бенчмарку не подтверждено: нужна состязательная проверка на той задаче, которую продукт решает.</a:t>
            </a:r>
          </a:p>
        </p:txBody>
      </p:sp>
      <p:sp>
        <p:nvSpPr>
          <p:cNvPr id="19" name="TextBox 1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дело Mata против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удерживает качество: люди и система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практики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живёт годами, и отказы приходят от изменений, которые вносим мы сами. Качество держат на двух половинах: доволен ли человек продуктом и держит ли система нагрузку. Без этой работы о деградации компания узнаёт из суда или из списания.</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Поддержка удерживает качество: половина — люди, половина — система</a:t>
            </a:r>
          </a:p>
        </p:txBody>
      </p:sp>
      <p:sp>
        <p:nvSpPr>
          <p:cNvPr id="3" name="Rounded Rectangle 2"/>
          <p:cNvSpPr/>
          <p:nvPr/>
        </p:nvSpPr>
        <p:spPr>
          <a:xfrm>
            <a:off x="502920" y="896112"/>
            <a:ext cx="11201400" cy="969264"/>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82296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ЧТО ТАКОЕ ПОДДЕРЖКА.  </a:t>
            </a:r>
            <a:r>
              <a:rPr sz="1200" b="0" i="0">
                <a:solidFill>
                  <a:srgbClr val="21295C"/>
                </a:solidFill>
                <a:latin typeface="DejaVu Sans"/>
              </a:rPr>
              <a:t>После запуска продукт каждый день обещает одно и то же: ответ придёт, он будет верным, а сломанное починят. Поддержка — работа, которая удерживает это обещание годами. У обещания две половины, и меряют их разными приборами: одну спрашивают у человека, другую снимают с системы.</a:t>
            </a:r>
          </a:p>
        </p:txBody>
      </p:sp>
      <p:sp>
        <p:nvSpPr>
          <p:cNvPr id="5" name="Rounded Rectangle 4"/>
          <p:cNvSpPr/>
          <p:nvPr/>
        </p:nvSpPr>
        <p:spPr>
          <a:xfrm>
            <a:off x="502920" y="1938528"/>
            <a:ext cx="5504688" cy="3310128"/>
          </a:xfrm>
          <a:prstGeom prst="roundRect">
            <a:avLst>
              <a:gd name="adj" fmla="val 9208"/>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938528"/>
            <a:ext cx="5504688" cy="420624"/>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s-white.png"/>
          <p:cNvPicPr>
            <a:picLocks noChangeAspect="1"/>
          </p:cNvPicPr>
          <p:nvPr/>
        </p:nvPicPr>
        <p:blipFill>
          <a:blip r:embed="rId2"/>
          <a:stretch>
            <a:fillRect/>
          </a:stretch>
        </p:blipFill>
        <p:spPr>
          <a:xfrm>
            <a:off x="649224" y="2029968"/>
            <a:ext cx="237744" cy="237744"/>
          </a:xfrm>
          <a:prstGeom prst="rect">
            <a:avLst/>
          </a:prstGeom>
        </p:spPr>
      </p:pic>
      <p:sp>
        <p:nvSpPr>
          <p:cNvPr id="8" name="TextBox 7"/>
          <p:cNvSpPr txBox="1"/>
          <p:nvPr/>
        </p:nvSpPr>
        <p:spPr>
          <a:xfrm>
            <a:off x="978408" y="1938528"/>
            <a:ext cx="4864607" cy="420624"/>
          </a:xfrm>
          <a:prstGeom prst="rect">
            <a:avLst/>
          </a:prstGeom>
          <a:noFill/>
        </p:spPr>
        <p:txBody>
          <a:bodyPr wrap="square" lIns="0" rIns="0" tIns="0" bIns="0" anchor="ctr">
            <a:spAutoFit/>
          </a:bodyPr>
          <a:lstStyle/>
          <a:p>
            <a:pPr algn="l">
              <a:lnSpc>
                <a:spcPct val="102000"/>
              </a:lnSpc>
            </a:pPr>
            <a:r>
              <a:rPr sz="1150" b="1" i="0">
                <a:solidFill>
                  <a:srgbClr val="FFFFFF"/>
                </a:solidFill>
                <a:latin typeface="DejaVu Sans"/>
              </a:rPr>
              <a:t>ЛЮДИ · удовлетворённость пользователя продуктом</a:t>
            </a:r>
          </a:p>
        </p:txBody>
      </p:sp>
      <p:sp>
        <p:nvSpPr>
          <p:cNvPr id="9" name="TextBox 8"/>
          <p:cNvSpPr txBox="1"/>
          <p:nvPr/>
        </p:nvSpPr>
        <p:spPr>
          <a:xfrm>
            <a:off x="685800" y="2450592"/>
            <a:ext cx="5138927" cy="4206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Половина, обращённая к человеку: вопросы, жалобы, обращения, возвраты.</a:t>
            </a:r>
          </a:p>
        </p:txBody>
      </p:sp>
      <p:sp>
        <p:nvSpPr>
          <p:cNvPr id="10" name="TextBox 9"/>
          <p:cNvSpPr txBox="1"/>
          <p:nvPr/>
        </p:nvSpPr>
        <p:spPr>
          <a:xfrm>
            <a:off x="685800" y="2907792"/>
            <a:ext cx="5138927" cy="512064"/>
          </a:xfrm>
          <a:prstGeom prst="rect">
            <a:avLst/>
          </a:prstGeom>
          <a:noFill/>
        </p:spPr>
        <p:txBody>
          <a:bodyPr wrap="square" lIns="0" rIns="0" tIns="0" bIns="0" anchor="t">
            <a:spAutoFit/>
          </a:bodyPr>
          <a:lstStyle/>
          <a:p>
            <a:pPr algn="l">
              <a:lnSpc>
                <a:spcPct val="110000"/>
              </a:lnSpc>
            </a:pPr>
            <a:r>
              <a:rPr sz="980" b="0" i="1">
                <a:solidFill>
                  <a:srgbClr val="5B6678"/>
                </a:solidFill>
                <a:latin typeface="DejaVu Sans"/>
              </a:rPr>
              <a:t>Дисциплина выросла из службы поддержки и свода правил управления ИТ-услугами (ITIL).</a:t>
            </a:r>
          </a:p>
        </p:txBody>
      </p:sp>
      <p:sp>
        <p:nvSpPr>
          <p:cNvPr id="11" name="TextBox 10"/>
          <p:cNvSpPr txBox="1"/>
          <p:nvPr/>
        </p:nvSpPr>
        <p:spPr>
          <a:xfrm>
            <a:off x="685800" y="3456432"/>
            <a:ext cx="5138927" cy="237744"/>
          </a:xfrm>
          <a:prstGeom prst="rect">
            <a:avLst/>
          </a:prstGeom>
          <a:noFill/>
        </p:spPr>
        <p:txBody>
          <a:bodyPr wrap="square" lIns="0" rIns="0" tIns="0" bIns="0" anchor="t">
            <a:spAutoFit/>
          </a:bodyPr>
          <a:lstStyle/>
          <a:p>
            <a:pPr algn="l">
              <a:lnSpc>
                <a:spcPct val="104000"/>
              </a:lnSpc>
            </a:pPr>
            <a:r>
              <a:rPr sz="1000" b="1" i="0">
                <a:solidFill>
                  <a:srgbClr val="065A82"/>
                </a:solidFill>
                <a:latin typeface="DejaVu Sans"/>
              </a:rPr>
              <a:t>Измерители — то, что видит человек</a:t>
            </a:r>
          </a:p>
        </p:txBody>
      </p:sp>
      <p:sp>
        <p:nvSpPr>
          <p:cNvPr id="12" name="Oval 11"/>
          <p:cNvSpPr/>
          <p:nvPr/>
        </p:nvSpPr>
        <p:spPr>
          <a:xfrm>
            <a:off x="704088" y="3813048"/>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749039"/>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доля обращений, закрытых с первого раза</a:t>
            </a:r>
          </a:p>
        </p:txBody>
      </p:sp>
      <p:sp>
        <p:nvSpPr>
          <p:cNvPr id="14" name="Oval 13"/>
          <p:cNvSpPr/>
          <p:nvPr/>
        </p:nvSpPr>
        <p:spPr>
          <a:xfrm>
            <a:off x="704088" y="4123944"/>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4059935"/>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время до первого ответа и до решения</a:t>
            </a:r>
          </a:p>
        </p:txBody>
      </p:sp>
      <p:sp>
        <p:nvSpPr>
          <p:cNvPr id="16" name="Oval 15"/>
          <p:cNvSpPr/>
          <p:nvPr/>
        </p:nvSpPr>
        <p:spPr>
          <a:xfrm>
            <a:off x="704088" y="4434840"/>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 y="4370831"/>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оценка человека после закрытия обращения</a:t>
            </a:r>
          </a:p>
        </p:txBody>
      </p:sp>
      <p:sp>
        <p:nvSpPr>
          <p:cNvPr id="18" name="Rounded Rectangle 17"/>
          <p:cNvSpPr/>
          <p:nvPr/>
        </p:nvSpPr>
        <p:spPr>
          <a:xfrm>
            <a:off x="667512" y="4700016"/>
            <a:ext cx="5175503" cy="475488"/>
          </a:xfrm>
          <a:prstGeom prst="roundRect">
            <a:avLst>
              <a:gd name="adj" fmla="val 19444"/>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4700016"/>
            <a:ext cx="4919472" cy="475488"/>
          </a:xfrm>
          <a:prstGeom prst="rect">
            <a:avLst/>
          </a:prstGeom>
          <a:noFill/>
        </p:spPr>
        <p:txBody>
          <a:bodyPr wrap="square" lIns="0" rIns="0" tIns="0" bIns="0" anchor="ctr">
            <a:spAutoFit/>
          </a:bodyPr>
          <a:lstStyle/>
          <a:p>
            <a:pPr algn="l">
              <a:lnSpc>
                <a:spcPct val="108000"/>
              </a:lnSpc>
            </a:pPr>
            <a:r>
              <a:rPr sz="1019" b="1" i="0">
                <a:solidFill>
                  <a:srgbClr val="21295C"/>
                </a:solidFill>
                <a:latin typeface="DejaVu Sans"/>
              </a:rPr>
              <a:t>Где входит ИИ: подсказчик оператору и робот, отвечающий клиенту сам — следующий слайд.</a:t>
            </a:r>
          </a:p>
        </p:txBody>
      </p:sp>
      <p:sp>
        <p:nvSpPr>
          <p:cNvPr id="20" name="Rounded Rectangle 19"/>
          <p:cNvSpPr/>
          <p:nvPr/>
        </p:nvSpPr>
        <p:spPr>
          <a:xfrm>
            <a:off x="6199632" y="1938528"/>
            <a:ext cx="5504688" cy="3310128"/>
          </a:xfrm>
          <a:prstGeom prst="roundRect">
            <a:avLst>
              <a:gd name="adj" fmla="val 9208"/>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199632" y="1938528"/>
            <a:ext cx="5504688" cy="420624"/>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ctivity-white.png"/>
          <p:cNvPicPr>
            <a:picLocks noChangeAspect="1"/>
          </p:cNvPicPr>
          <p:nvPr/>
        </p:nvPicPr>
        <p:blipFill>
          <a:blip r:embed="rId3"/>
          <a:stretch>
            <a:fillRect/>
          </a:stretch>
        </p:blipFill>
        <p:spPr>
          <a:xfrm>
            <a:off x="6345936" y="2029968"/>
            <a:ext cx="237744" cy="237744"/>
          </a:xfrm>
          <a:prstGeom prst="rect">
            <a:avLst/>
          </a:prstGeom>
        </p:spPr>
      </p:pic>
      <p:sp>
        <p:nvSpPr>
          <p:cNvPr id="23" name="TextBox 22"/>
          <p:cNvSpPr txBox="1"/>
          <p:nvPr/>
        </p:nvSpPr>
        <p:spPr>
          <a:xfrm>
            <a:off x="6675120" y="1938528"/>
            <a:ext cx="4864607" cy="420624"/>
          </a:xfrm>
          <a:prstGeom prst="rect">
            <a:avLst/>
          </a:prstGeom>
          <a:noFill/>
        </p:spPr>
        <p:txBody>
          <a:bodyPr wrap="square" lIns="0" rIns="0" tIns="0" bIns="0" anchor="ctr">
            <a:spAutoFit/>
          </a:bodyPr>
          <a:lstStyle/>
          <a:p>
            <a:pPr algn="l">
              <a:lnSpc>
                <a:spcPct val="102000"/>
              </a:lnSpc>
            </a:pPr>
            <a:r>
              <a:rPr sz="1150" b="1" i="0">
                <a:solidFill>
                  <a:srgbClr val="FFFFFF"/>
                </a:solidFill>
                <a:latin typeface="DejaVu Sans"/>
              </a:rPr>
              <a:t>СИСТЕМА · надёжность</a:t>
            </a:r>
          </a:p>
        </p:txBody>
      </p:sp>
      <p:sp>
        <p:nvSpPr>
          <p:cNvPr id="24" name="TextBox 23"/>
          <p:cNvSpPr txBox="1"/>
          <p:nvPr/>
        </p:nvSpPr>
        <p:spPr>
          <a:xfrm>
            <a:off x="6382512" y="2450592"/>
            <a:ext cx="5138927" cy="4206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Половина, обращённая к машине: доступность, задержки, сбои, выкатки.</a:t>
            </a:r>
          </a:p>
        </p:txBody>
      </p:sp>
      <p:sp>
        <p:nvSpPr>
          <p:cNvPr id="25" name="TextBox 24"/>
          <p:cNvSpPr txBox="1"/>
          <p:nvPr/>
        </p:nvSpPr>
        <p:spPr>
          <a:xfrm>
            <a:off x="6382512" y="2907792"/>
            <a:ext cx="5138927" cy="512064"/>
          </a:xfrm>
          <a:prstGeom prst="rect">
            <a:avLst/>
          </a:prstGeom>
          <a:noFill/>
        </p:spPr>
        <p:txBody>
          <a:bodyPr wrap="square" lIns="0" rIns="0" tIns="0" bIns="0" anchor="t">
            <a:spAutoFit/>
          </a:bodyPr>
          <a:lstStyle/>
          <a:p>
            <a:pPr algn="l">
              <a:lnSpc>
                <a:spcPct val="110000"/>
              </a:lnSpc>
            </a:pPr>
            <a:r>
              <a:rPr sz="980" b="0" i="1">
                <a:solidFill>
                  <a:srgbClr val="5B6678"/>
                </a:solidFill>
                <a:latin typeface="DejaVu Sans"/>
              </a:rPr>
              <a:t>Дисциплина оформлена в Google и издана книгой в 2016 году — инженерия надёжности (Site Reliability Engineering, SRE).</a:t>
            </a:r>
          </a:p>
        </p:txBody>
      </p:sp>
      <p:sp>
        <p:nvSpPr>
          <p:cNvPr id="26" name="TextBox 25"/>
          <p:cNvSpPr txBox="1"/>
          <p:nvPr/>
        </p:nvSpPr>
        <p:spPr>
          <a:xfrm>
            <a:off x="6382512" y="3456432"/>
            <a:ext cx="5138927" cy="237744"/>
          </a:xfrm>
          <a:prstGeom prst="rect">
            <a:avLst/>
          </a:prstGeom>
          <a:noFill/>
        </p:spPr>
        <p:txBody>
          <a:bodyPr wrap="square" lIns="0" rIns="0" tIns="0" bIns="0" anchor="t">
            <a:spAutoFit/>
          </a:bodyPr>
          <a:lstStyle/>
          <a:p>
            <a:pPr algn="l">
              <a:lnSpc>
                <a:spcPct val="104000"/>
              </a:lnSpc>
            </a:pPr>
            <a:r>
              <a:rPr sz="1000" b="1" i="0">
                <a:solidFill>
                  <a:srgbClr val="028090"/>
                </a:solidFill>
                <a:latin typeface="DejaVu Sans"/>
              </a:rPr>
              <a:t>Измерители — то, что снимают с системы</a:t>
            </a:r>
          </a:p>
        </p:txBody>
      </p:sp>
      <p:sp>
        <p:nvSpPr>
          <p:cNvPr id="27" name="Oval 26"/>
          <p:cNvSpPr/>
          <p:nvPr/>
        </p:nvSpPr>
        <p:spPr>
          <a:xfrm>
            <a:off x="6400800" y="3813048"/>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1968" y="3749039"/>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доля успешно обслуженных запросов</a:t>
            </a:r>
          </a:p>
        </p:txBody>
      </p:sp>
      <p:sp>
        <p:nvSpPr>
          <p:cNvPr id="29" name="Oval 28"/>
          <p:cNvSpPr/>
          <p:nvPr/>
        </p:nvSpPr>
        <p:spPr>
          <a:xfrm>
            <a:off x="6400800" y="4123944"/>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01968" y="4059935"/>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задержка ответа</a:t>
            </a:r>
          </a:p>
        </p:txBody>
      </p:sp>
      <p:sp>
        <p:nvSpPr>
          <p:cNvPr id="31" name="Oval 30"/>
          <p:cNvSpPr/>
          <p:nvPr/>
        </p:nvSpPr>
        <p:spPr>
          <a:xfrm>
            <a:off x="6400800" y="4434840"/>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4370831"/>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бюджет ошибок: сколько сбоев допустимо за период</a:t>
            </a:r>
          </a:p>
        </p:txBody>
      </p:sp>
      <p:sp>
        <p:nvSpPr>
          <p:cNvPr id="33" name="Rounded Rectangle 32"/>
          <p:cNvSpPr/>
          <p:nvPr/>
        </p:nvSpPr>
        <p:spPr>
          <a:xfrm>
            <a:off x="6364224" y="4700016"/>
            <a:ext cx="5175503" cy="475488"/>
          </a:xfrm>
          <a:prstGeom prst="roundRect">
            <a:avLst>
              <a:gd name="adj" fmla="val 19444"/>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4700016"/>
            <a:ext cx="4919472" cy="475488"/>
          </a:xfrm>
          <a:prstGeom prst="rect">
            <a:avLst/>
          </a:prstGeom>
          <a:noFill/>
        </p:spPr>
        <p:txBody>
          <a:bodyPr wrap="square" lIns="0" rIns="0" tIns="0" bIns="0" anchor="ctr">
            <a:spAutoFit/>
          </a:bodyPr>
          <a:lstStyle/>
          <a:p>
            <a:pPr algn="l">
              <a:lnSpc>
                <a:spcPct val="108000"/>
              </a:lnSpc>
            </a:pPr>
            <a:r>
              <a:rPr sz="1019" b="1" i="0">
                <a:solidFill>
                  <a:srgbClr val="21295C"/>
                </a:solidFill>
                <a:latin typeface="DejaVu Sans"/>
              </a:rPr>
              <a:t>Где входит ИИ: объект наблюдения и инструмент учений.</a:t>
            </a:r>
          </a:p>
        </p:txBody>
      </p:sp>
      <p:sp>
        <p:nvSpPr>
          <p:cNvPr id="35" name="Rounded Rectangle 34"/>
          <p:cNvSpPr/>
          <p:nvPr/>
        </p:nvSpPr>
        <p:spPr>
          <a:xfrm>
            <a:off x="502920" y="5358384"/>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2376" y="5413248"/>
            <a:ext cx="10762488" cy="804672"/>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Половины держат качество только вместе. Безотказная система, по которой человек не может получить ответ на свой вопрос, обещание продукта теряет; внимательная поддержка поверх падающего сервиса теряет его тоже. Дальше раздел идёт по обеим: надёжность числом, ИИ в работе с людьми, учение, которое проверяет обе.</a:t>
            </a:r>
          </a:p>
        </p:txBody>
      </p:sp>
      <p:sp>
        <p:nvSpPr>
          <p:cNvPr id="37" name="TextBox 3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Google — Site Reliability Engineering (O'Reilly, 2016)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Axelos — ITIL, свод правил управления ИТ-услугами</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909828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Бюджет ошибок: допустимое число сбоев, посчитанное заранее</a:t>
            </a:r>
          </a:p>
        </p:txBody>
      </p:sp>
      <p:sp>
        <p:nvSpPr>
          <p:cNvPr id="3" name="Rounded Rectangle 2"/>
          <p:cNvSpPr/>
          <p:nvPr/>
        </p:nvSpPr>
        <p:spPr>
          <a:xfrm>
            <a:off x="9710928" y="201168"/>
            <a:ext cx="1993392" cy="36576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половина «система»</a:t>
            </a:r>
          </a:p>
        </p:txBody>
      </p:sp>
      <p:sp>
        <p:nvSpPr>
          <p:cNvPr id="4" name="Rounded Rectangle 3"/>
          <p:cNvSpPr/>
          <p:nvPr/>
        </p:nvSpPr>
        <p:spPr>
          <a:xfrm>
            <a:off x="502920" y="896112"/>
            <a:ext cx="11201400" cy="1060704"/>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969264"/>
            <a:ext cx="10780776" cy="91440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ЗАЧЕМ ЭТА РАБОТА.  </a:t>
            </a:r>
            <a:r>
              <a:rPr sz="1200" b="0" i="0">
                <a:solidFill>
                  <a:srgbClr val="21295C"/>
                </a:solidFill>
                <a:latin typeface="DejaVu Sans"/>
              </a:rPr>
              <a:t>Около 70% отказов работающей системы Google относит к собственным изменениям команды: выкатка, правка промпта, смена версии модели. Остальное делят между собой отказы оборудования и внешние причины. Значит, сбои порождает та же работа, которой команда занята каждый день, и допустимое их число стоит согласовать заранее: иначе спор «быстрее или надёжнее» решается после инцидента и в пользу того, кто громче.</a:t>
            </a:r>
          </a:p>
        </p:txBody>
      </p:sp>
      <p:sp>
        <p:nvSpPr>
          <p:cNvPr id="6" name="Rounded Rectangle 5"/>
          <p:cNvSpPr/>
          <p:nvPr/>
        </p:nvSpPr>
        <p:spPr>
          <a:xfrm>
            <a:off x="502920" y="2084831"/>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176272"/>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Показатель уровня сервиса (SLI)</a:t>
            </a:r>
          </a:p>
        </p:txBody>
      </p:sp>
      <p:sp>
        <p:nvSpPr>
          <p:cNvPr id="8" name="TextBox 7"/>
          <p:cNvSpPr txBox="1"/>
          <p:nvPr/>
        </p:nvSpPr>
        <p:spPr>
          <a:xfrm>
            <a:off x="594360" y="2633472"/>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мера глазами пользователя</a:t>
            </a:r>
          </a:p>
        </p:txBody>
      </p:sp>
      <p:sp>
        <p:nvSpPr>
          <p:cNvPr id="9" name="Right Arrow 8"/>
          <p:cNvSpPr/>
          <p:nvPr/>
        </p:nvSpPr>
        <p:spPr>
          <a:xfrm>
            <a:off x="2624327" y="2432303"/>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62072" y="2084831"/>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53512" y="2176272"/>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Цель уровня сервиса (SLO)</a:t>
            </a:r>
          </a:p>
        </p:txBody>
      </p:sp>
      <p:sp>
        <p:nvSpPr>
          <p:cNvPr id="12" name="TextBox 11"/>
          <p:cNvSpPr txBox="1"/>
          <p:nvPr/>
        </p:nvSpPr>
        <p:spPr>
          <a:xfrm>
            <a:off x="2953512" y="2633472"/>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планка команды: 99,9%</a:t>
            </a:r>
          </a:p>
        </p:txBody>
      </p:sp>
      <p:sp>
        <p:nvSpPr>
          <p:cNvPr id="13" name="Right Arrow 12"/>
          <p:cNvSpPr/>
          <p:nvPr/>
        </p:nvSpPr>
        <p:spPr>
          <a:xfrm>
            <a:off x="4983479" y="2432303"/>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21224" y="2084831"/>
            <a:ext cx="2103120" cy="91440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12664" y="2176272"/>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Бюджет ошибок</a:t>
            </a:r>
          </a:p>
        </p:txBody>
      </p:sp>
      <p:sp>
        <p:nvSpPr>
          <p:cNvPr id="16" name="TextBox 15"/>
          <p:cNvSpPr txBox="1"/>
          <p:nvPr/>
        </p:nvSpPr>
        <p:spPr>
          <a:xfrm>
            <a:off x="5312664" y="2633472"/>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остаток: 1000 ошибок</a:t>
            </a:r>
          </a:p>
        </p:txBody>
      </p:sp>
      <p:sp>
        <p:nvSpPr>
          <p:cNvPr id="17" name="TextBox 16"/>
          <p:cNvSpPr txBox="1"/>
          <p:nvPr/>
        </p:nvSpPr>
        <p:spPr>
          <a:xfrm>
            <a:off x="502920" y="3127248"/>
            <a:ext cx="6821424" cy="45720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Цель 99,9% на миллионе запросов за период даёт </a:t>
            </a:r>
            <a:r>
              <a:rPr sz="1200" b="1" i="0">
                <a:solidFill>
                  <a:srgbClr val="21295C"/>
                </a:solidFill>
                <a:latin typeface="DejaVu Sans"/>
              </a:rPr>
              <a:t>1000 ошибок</a:t>
            </a:r>
            <a:r>
              <a:rPr sz="1200" b="0" i="0">
                <a:solidFill>
                  <a:srgbClr val="21295C"/>
                </a:solidFill>
                <a:latin typeface="DejaVu Sans"/>
              </a:rPr>
              <a:t> — остаток, который можно потратить.</a:t>
            </a:r>
          </a:p>
        </p:txBody>
      </p:sp>
      <p:sp>
        <p:nvSpPr>
          <p:cNvPr id="18" name="Rounded Rectangle 17"/>
          <p:cNvSpPr/>
          <p:nvPr/>
        </p:nvSpPr>
        <p:spPr>
          <a:xfrm>
            <a:off x="502920" y="3639312"/>
            <a:ext cx="6821424" cy="932688"/>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3767328"/>
            <a:ext cx="6419088" cy="676656"/>
          </a:xfrm>
          <a:prstGeom prst="rect">
            <a:avLst/>
          </a:prstGeom>
          <a:noFill/>
        </p:spPr>
        <p:txBody>
          <a:bodyPr wrap="square" lIns="0" rIns="0" tIns="0" bIns="0" anchor="ctr">
            <a:spAutoFit/>
          </a:bodyPr>
          <a:lstStyle/>
          <a:p>
            <a:pPr algn="l">
              <a:lnSpc>
                <a:spcPct val="115000"/>
              </a:lnSpc>
            </a:pPr>
            <a:r>
              <a:rPr sz="1150" b="1" i="0">
                <a:solidFill>
                  <a:srgbClr val="028090"/>
                </a:solidFill>
                <a:latin typeface="DejaVu Sans"/>
              </a:rPr>
              <a:t>Правило: </a:t>
            </a:r>
            <a:r>
              <a:rPr sz="1150" b="0" i="0">
                <a:solidFill>
                  <a:srgbClr val="21295C"/>
                </a:solidFill>
                <a:latin typeface="DejaVu Sans"/>
              </a:rPr>
              <a:t>бюджет исчерпан — выкатка новых функций останавливается. Разговор о скорости против надёжности состоится до инцидента, и у него будет основание, с которым нельзя спорить риторически.</a:t>
            </a:r>
          </a:p>
        </p:txBody>
      </p:sp>
      <p:sp>
        <p:nvSpPr>
          <p:cNvPr id="20" name="Rounded Rectangle 19"/>
          <p:cNvSpPr/>
          <p:nvPr/>
        </p:nvSpPr>
        <p:spPr>
          <a:xfrm>
            <a:off x="7589520" y="2084831"/>
            <a:ext cx="4114800" cy="2487168"/>
          </a:xfrm>
          <a:prstGeom prst="roundRect">
            <a:avLst>
              <a:gd name="adj" fmla="val 1225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90688" y="2176272"/>
            <a:ext cx="3712463" cy="256032"/>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Два окна наблюдения, всегда оба</a:t>
            </a:r>
          </a:p>
        </p:txBody>
      </p:sp>
      <p:sp>
        <p:nvSpPr>
          <p:cNvPr id="22" name="TextBox 21"/>
          <p:cNvSpPr txBox="1"/>
          <p:nvPr/>
        </p:nvSpPr>
        <p:spPr>
          <a:xfrm>
            <a:off x="7790688" y="2450592"/>
            <a:ext cx="3712463" cy="27432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поодиночке каждое слепо к случаю другого</a:t>
            </a:r>
          </a:p>
        </p:txBody>
      </p:sp>
      <p:sp>
        <p:nvSpPr>
          <p:cNvPr id="23" name="TextBox 22"/>
          <p:cNvSpPr txBox="1"/>
          <p:nvPr/>
        </p:nvSpPr>
        <p:spPr>
          <a:xfrm>
            <a:off x="7790688" y="2761488"/>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Короткое окно — резкий скачок</a:t>
            </a:r>
          </a:p>
        </p:txBody>
      </p:sp>
      <p:cxnSp>
        <p:nvCxnSpPr>
          <p:cNvPr id="24" name="Connector 23"/>
          <p:cNvCxnSpPr/>
          <p:nvPr/>
        </p:nvCxnSpPr>
        <p:spPr>
          <a:xfrm>
            <a:off x="7818120" y="3401568"/>
            <a:ext cx="1371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275320" y="3054096"/>
            <a:ext cx="228600"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03920" y="3054096"/>
            <a:ext cx="228600"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345168" y="2999232"/>
            <a:ext cx="2212848" cy="475488"/>
          </a:xfrm>
          <a:prstGeom prst="rect">
            <a:avLst/>
          </a:prstGeom>
          <a:noFill/>
        </p:spPr>
        <p:txBody>
          <a:bodyPr wrap="square" lIns="0" rIns="0" tIns="0" bIns="0" anchor="t">
            <a:spAutoFit/>
          </a:bodyPr>
          <a:lstStyle/>
          <a:p>
            <a:pPr algn="l">
              <a:lnSpc>
                <a:spcPct val="106000"/>
              </a:lnSpc>
            </a:pPr>
            <a:r>
              <a:rPr sz="950" b="1" i="0">
                <a:solidFill>
                  <a:srgbClr val="21295C"/>
                </a:solidFill>
                <a:latin typeface="DejaVu Sans"/>
              </a:rPr>
              <a:t>2% бюджета за час</a:t>
            </a:r>
          </a:p>
          <a:p>
            <a:pPr algn="l">
              <a:lnSpc>
                <a:spcPct val="106000"/>
              </a:lnSpc>
            </a:pPr>
            <a:r>
              <a:rPr sz="860" b="0" i="1">
                <a:solidFill>
                  <a:srgbClr val="5B6678"/>
                </a:solidFill>
                <a:latin typeface="DejaVu Sans"/>
              </a:rPr>
              <a:t>при таком темпе он кончится за двое суток — поднять дежурного сейчас</a:t>
            </a:r>
          </a:p>
        </p:txBody>
      </p:sp>
      <p:sp>
        <p:nvSpPr>
          <p:cNvPr id="28" name="TextBox 27"/>
          <p:cNvSpPr txBox="1"/>
          <p:nvPr/>
        </p:nvSpPr>
        <p:spPr>
          <a:xfrm>
            <a:off x="7790688" y="3639312"/>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Длинное окно — медленное сползание</a:t>
            </a:r>
          </a:p>
        </p:txBody>
      </p:sp>
      <p:cxnSp>
        <p:nvCxnSpPr>
          <p:cNvPr id="29" name="Connector 28"/>
          <p:cNvCxnSpPr/>
          <p:nvPr/>
        </p:nvCxnSpPr>
        <p:spPr>
          <a:xfrm>
            <a:off x="7818120" y="4206240"/>
            <a:ext cx="3657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818120" y="3877056"/>
            <a:ext cx="3520440" cy="274320"/>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818120" y="4261104"/>
            <a:ext cx="3703320" cy="274320"/>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5% за шесть часов</a:t>
            </a:r>
            <a:r>
              <a:rPr sz="860" b="0" i="1">
                <a:solidFill>
                  <a:srgbClr val="5B6678"/>
                </a:solidFill>
                <a:latin typeface="DejaVu Sans"/>
              </a:rPr>
              <a:t>  — задача на рабочее время</a:t>
            </a:r>
          </a:p>
        </p:txBody>
      </p:sp>
      <p:sp>
        <p:nvSpPr>
          <p:cNvPr id="32" name="Rounded Rectangle 31"/>
          <p:cNvSpPr/>
          <p:nvPr/>
        </p:nvSpPr>
        <p:spPr>
          <a:xfrm>
            <a:off x="502920" y="4736592"/>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4791455"/>
            <a:ext cx="10762488" cy="76809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Всё это построено для системы, где запрос либо успешен, либо нет. Код 200 — «ответ отдан успешно» — приходит и тогда, когда модель уверенно выдумывает. Дальше — вторая половина качества: люди, их обращения и ИИ в работе с ними.</a:t>
            </a:r>
          </a:p>
        </p:txBody>
      </p:sp>
      <p:sp>
        <p:nvSpPr>
          <p:cNvPr id="34" name="TextBox 3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Google — политика бюджета ошибок (Error Budget Policy)</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ИИ в поддержке: подсказчик оператору и робот, отвечающий сам</a:t>
            </a:r>
          </a:p>
        </p:txBody>
      </p:sp>
      <p:sp>
        <p:nvSpPr>
          <p:cNvPr id="3" name="Rounded Rectangle 2"/>
          <p:cNvSpPr/>
          <p:nvPr/>
        </p:nvSpPr>
        <p:spPr>
          <a:xfrm>
            <a:off x="502920" y="536206"/>
            <a:ext cx="1152144" cy="8781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781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781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95278"/>
          </a:xfrm>
          <a:prstGeom prst="rect">
            <a:avLst/>
          </a:prstGeom>
          <a:noFill/>
        </p:spPr>
        <p:txBody>
          <a:bodyPr wrap="square" lIns="0" rIns="0" tIns="0" bIns="0" anchor="ctr">
            <a:spAutoFit/>
          </a:bodyPr>
          <a:lstStyle/>
          <a:p>
            <a:pPr algn="l">
              <a:lnSpc>
                <a:spcPct val="114000"/>
              </a:lnSpc>
            </a:pPr>
            <a:r>
              <a:rPr sz="1120" b="0" i="0">
                <a:solidFill>
                  <a:srgbClr val="21295C"/>
                </a:solidFill>
                <a:latin typeface="DejaVu Sans"/>
              </a:rPr>
              <a:t>ИИ входит в работу с обращениями двумя способами, и спутать их дорого. </a:t>
            </a:r>
            <a:r>
              <a:rPr sz="1120" b="1" i="0">
                <a:solidFill>
                  <a:srgbClr val="21295C"/>
                </a:solidFill>
                <a:latin typeface="DejaVu Sans"/>
              </a:rPr>
              <a:t>Подсказчик</a:t>
            </a:r>
            <a:r>
              <a:rPr sz="1120" b="0" i="0">
                <a:solidFill>
                  <a:srgbClr val="21295C"/>
                </a:solidFill>
                <a:latin typeface="DejaVu Sans"/>
              </a:rPr>
              <a:t> предлагает оператору ответ; отправляет человек, он же за сказанное отвечает. </a:t>
            </a:r>
            <a:r>
              <a:rPr sz="1120" b="1" i="0">
                <a:solidFill>
                  <a:srgbClr val="21295C"/>
                </a:solidFill>
                <a:latin typeface="DejaVu Sans"/>
              </a:rPr>
              <a:t>Робот</a:t>
            </a:r>
            <a:r>
              <a:rPr sz="1120" b="0" i="0">
                <a:solidFill>
                  <a:srgbClr val="21295C"/>
                </a:solidFill>
                <a:latin typeface="DejaVu Sans"/>
              </a:rPr>
              <a:t> разговаривает с клиентом сам, и каждое его слово — слово компании.</a:t>
            </a:r>
          </a:p>
        </p:txBody>
      </p:sp>
      <p:sp>
        <p:nvSpPr>
          <p:cNvPr id="7" name="Rounded Rectangle 6"/>
          <p:cNvSpPr/>
          <p:nvPr/>
        </p:nvSpPr>
        <p:spPr>
          <a:xfrm>
            <a:off x="502920" y="1478372"/>
            <a:ext cx="1152144" cy="256032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78372"/>
            <a:ext cx="1060704" cy="25603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78372"/>
            <a:ext cx="9902952"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8352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8352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69812"/>
            <a:ext cx="5020056" cy="709797"/>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Разложить поток обращений по цене ошибки.</a:t>
            </a:r>
            <a:r>
              <a:rPr sz="1000" b="0" i="0">
                <a:solidFill>
                  <a:srgbClr val="21295C"/>
                </a:solidFill>
                <a:latin typeface="DejaVu Sans"/>
              </a:rPr>
              <a:t> Справка, целиком выводимая из своей базы знаний, живёт отдельно от обязательства, за которое компания платит деньгами или отвечает по закону.</a:t>
            </a:r>
          </a:p>
        </p:txBody>
      </p:sp>
      <p:sp>
        <p:nvSpPr>
          <p:cNvPr id="13" name="Oval 12"/>
          <p:cNvSpPr/>
          <p:nvPr/>
        </p:nvSpPr>
        <p:spPr>
          <a:xfrm>
            <a:off x="1984248" y="235733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5733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43618"/>
            <a:ext cx="50200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На справочном потоке начинать с подсказчика.</a:t>
            </a:r>
            <a:r>
              <a:rPr sz="1000" b="0" i="0">
                <a:solidFill>
                  <a:srgbClr val="21295C"/>
                </a:solidFill>
                <a:latin typeface="DejaVu Sans"/>
              </a:rPr>
              <a:t> Выигрыш он даёт там, где мало опыта, и ответ оставляет за человеком.</a:t>
            </a:r>
          </a:p>
        </p:txBody>
      </p:sp>
      <p:sp>
        <p:nvSpPr>
          <p:cNvPr id="16" name="Oval 15"/>
          <p:cNvSpPr/>
          <p:nvPr/>
        </p:nvSpPr>
        <p:spPr>
          <a:xfrm>
            <a:off x="1984248" y="280001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80001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86300"/>
            <a:ext cx="50200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Робота включать там, где ответ выводится из проверяемого источника</a:t>
            </a:r>
            <a:r>
              <a:rPr sz="1000" b="0" i="0">
                <a:solidFill>
                  <a:srgbClr val="21295C"/>
                </a:solidFill>
                <a:latin typeface="DejaVu Sans"/>
              </a:rPr>
              <a:t> — и показывать этот источник рядом с ответом.</a:t>
            </a:r>
          </a:p>
        </p:txBody>
      </p:sp>
      <p:sp>
        <p:nvSpPr>
          <p:cNvPr id="19" name="Oval 18"/>
          <p:cNvSpPr/>
          <p:nvPr/>
        </p:nvSpPr>
        <p:spPr>
          <a:xfrm>
            <a:off x="1984248" y="324269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24269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228981"/>
            <a:ext cx="502005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Два предохранителя обязательны:</a:t>
            </a:r>
            <a:r>
              <a:rPr sz="1000" b="0" i="0">
                <a:solidFill>
                  <a:srgbClr val="21295C"/>
                </a:solidFill>
                <a:latin typeface="DejaVu Sans"/>
              </a:rPr>
              <a:t> гарантированный путь к живому человеку и порог, по которому робот замолкает и зовёт оператора.</a:t>
            </a:r>
          </a:p>
        </p:txBody>
      </p:sp>
      <p:sp>
        <p:nvSpPr>
          <p:cNvPr id="22" name="TextBox 21"/>
          <p:cNvSpPr txBox="1"/>
          <p:nvPr/>
        </p:nvSpPr>
        <p:spPr>
          <a:xfrm>
            <a:off x="7589520" y="1569812"/>
            <a:ext cx="3931920" cy="219456"/>
          </a:xfrm>
          <a:prstGeom prst="rect">
            <a:avLst/>
          </a:prstGeom>
          <a:noFill/>
        </p:spPr>
        <p:txBody>
          <a:bodyPr wrap="square" lIns="0" rIns="0" tIns="0" bIns="0" anchor="t">
            <a:spAutoFit/>
          </a:bodyPr>
          <a:lstStyle/>
          <a:p>
            <a:pPr algn="l">
              <a:lnSpc>
                <a:spcPct val="100000"/>
              </a:lnSpc>
            </a:pPr>
            <a:r>
              <a:rPr sz="919" b="1" i="0">
                <a:solidFill>
                  <a:srgbClr val="21295C"/>
                </a:solidFill>
                <a:latin typeface="DejaVu Sans"/>
              </a:rPr>
              <a:t>Подсказчик: замер на 5 172 операторах поддержки</a:t>
            </a:r>
          </a:p>
        </p:txBody>
      </p:sp>
      <p:sp>
        <p:nvSpPr>
          <p:cNvPr id="23" name="Rounded Rectangle 22"/>
          <p:cNvSpPr/>
          <p:nvPr/>
        </p:nvSpPr>
        <p:spPr>
          <a:xfrm>
            <a:off x="7589520" y="1825844"/>
            <a:ext cx="3931920" cy="310896"/>
          </a:xfrm>
          <a:prstGeom prst="roundRect">
            <a:avLst>
              <a:gd name="adj" fmla="val 16666"/>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9248" y="1825844"/>
            <a:ext cx="3712463" cy="310896"/>
          </a:xfrm>
          <a:prstGeom prst="rect">
            <a:avLst/>
          </a:prstGeom>
          <a:noFill/>
        </p:spPr>
        <p:txBody>
          <a:bodyPr wrap="square" lIns="0" rIns="0" tIns="0" bIns="0" anchor="ctr">
            <a:spAutoFit/>
          </a:bodyPr>
          <a:lstStyle/>
          <a:p>
            <a:pPr algn="l">
              <a:lnSpc>
                <a:spcPct val="100000"/>
              </a:lnSpc>
            </a:pPr>
            <a:r>
              <a:rPr sz="880" b="0" i="0">
                <a:solidFill>
                  <a:srgbClr val="5B6678"/>
                </a:solidFill>
                <a:latin typeface="DejaVu Sans"/>
              </a:rPr>
              <a:t>база до внедрения — </a:t>
            </a:r>
            <a:r>
              <a:rPr sz="940" b="1" i="0">
                <a:solidFill>
                  <a:srgbClr val="21295C"/>
                </a:solidFill>
                <a:latin typeface="DejaVu Sans"/>
              </a:rPr>
              <a:t>2,1 решения в час</a:t>
            </a:r>
          </a:p>
        </p:txBody>
      </p:sp>
      <p:sp>
        <p:nvSpPr>
          <p:cNvPr id="25" name="TextBox 24"/>
          <p:cNvSpPr txBox="1"/>
          <p:nvPr/>
        </p:nvSpPr>
        <p:spPr>
          <a:xfrm>
            <a:off x="7589520" y="2246468"/>
            <a:ext cx="1389888" cy="274320"/>
          </a:xfrm>
          <a:prstGeom prst="rect">
            <a:avLst/>
          </a:prstGeom>
          <a:noFill/>
        </p:spPr>
        <p:txBody>
          <a:bodyPr wrap="square" lIns="0" rIns="0" tIns="0" bIns="0" anchor="ctr">
            <a:spAutoFit/>
          </a:bodyPr>
          <a:lstStyle/>
          <a:p>
            <a:pPr algn="l">
              <a:lnSpc>
                <a:spcPct val="100000"/>
              </a:lnSpc>
            </a:pPr>
            <a:r>
              <a:rPr sz="860" b="0" i="0">
                <a:solidFill>
                  <a:srgbClr val="21295C"/>
                </a:solidFill>
                <a:latin typeface="DejaVu Sans"/>
              </a:rPr>
              <a:t>все операторы</a:t>
            </a:r>
          </a:p>
        </p:txBody>
      </p:sp>
      <p:sp>
        <p:nvSpPr>
          <p:cNvPr id="26" name="Rounded Rectangle 25"/>
          <p:cNvSpPr/>
          <p:nvPr/>
        </p:nvSpPr>
        <p:spPr>
          <a:xfrm>
            <a:off x="9034272" y="2292188"/>
            <a:ext cx="891539" cy="18288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89820" y="2246468"/>
            <a:ext cx="640080" cy="274320"/>
          </a:xfrm>
          <a:prstGeom prst="rect">
            <a:avLst/>
          </a:prstGeom>
          <a:noFill/>
        </p:spPr>
        <p:txBody>
          <a:bodyPr wrap="square" lIns="0" rIns="0" tIns="0" bIns="0" anchor="ctr">
            <a:spAutoFit/>
          </a:bodyPr>
          <a:lstStyle/>
          <a:p>
            <a:pPr algn="l">
              <a:lnSpc>
                <a:spcPct val="100000"/>
              </a:lnSpc>
            </a:pPr>
            <a:r>
              <a:rPr sz="919" b="1" i="0">
                <a:solidFill>
                  <a:srgbClr val="065A82"/>
                </a:solidFill>
                <a:latin typeface="DejaVu Sans"/>
              </a:rPr>
              <a:t>+15%</a:t>
            </a:r>
          </a:p>
        </p:txBody>
      </p:sp>
      <p:sp>
        <p:nvSpPr>
          <p:cNvPr id="28" name="TextBox 27"/>
          <p:cNvSpPr txBox="1"/>
          <p:nvPr/>
        </p:nvSpPr>
        <p:spPr>
          <a:xfrm>
            <a:off x="7589520" y="2548220"/>
            <a:ext cx="1389888" cy="274320"/>
          </a:xfrm>
          <a:prstGeom prst="rect">
            <a:avLst/>
          </a:prstGeom>
          <a:noFill/>
        </p:spPr>
        <p:txBody>
          <a:bodyPr wrap="square" lIns="0" rIns="0" tIns="0" bIns="0" anchor="ctr">
            <a:spAutoFit/>
          </a:bodyPr>
          <a:lstStyle/>
          <a:p>
            <a:pPr algn="l">
              <a:lnSpc>
                <a:spcPct val="100000"/>
              </a:lnSpc>
            </a:pPr>
            <a:r>
              <a:rPr sz="860" b="0" i="0">
                <a:solidFill>
                  <a:srgbClr val="21295C"/>
                </a:solidFill>
                <a:latin typeface="DejaVu Sans"/>
              </a:rPr>
              <a:t>наименее опытные</a:t>
            </a:r>
          </a:p>
        </p:txBody>
      </p:sp>
      <p:sp>
        <p:nvSpPr>
          <p:cNvPr id="29" name="Rounded Rectangle 28"/>
          <p:cNvSpPr/>
          <p:nvPr/>
        </p:nvSpPr>
        <p:spPr>
          <a:xfrm>
            <a:off x="9034272" y="2593940"/>
            <a:ext cx="1783079" cy="18288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81360" y="2548220"/>
            <a:ext cx="640080" cy="274320"/>
          </a:xfrm>
          <a:prstGeom prst="rect">
            <a:avLst/>
          </a:prstGeom>
          <a:noFill/>
        </p:spPr>
        <p:txBody>
          <a:bodyPr wrap="square" lIns="0" rIns="0" tIns="0" bIns="0" anchor="ctr">
            <a:spAutoFit/>
          </a:bodyPr>
          <a:lstStyle/>
          <a:p>
            <a:pPr algn="l">
              <a:lnSpc>
                <a:spcPct val="100000"/>
              </a:lnSpc>
            </a:pPr>
            <a:r>
              <a:rPr sz="919" b="1" i="0">
                <a:solidFill>
                  <a:srgbClr val="F0AB00"/>
                </a:solidFill>
                <a:latin typeface="DejaVu Sans"/>
              </a:rPr>
              <a:t>+30%</a:t>
            </a:r>
          </a:p>
        </p:txBody>
      </p:sp>
      <p:sp>
        <p:nvSpPr>
          <p:cNvPr id="31" name="TextBox 30"/>
          <p:cNvSpPr txBox="1"/>
          <p:nvPr/>
        </p:nvSpPr>
        <p:spPr>
          <a:xfrm>
            <a:off x="7589520" y="2849972"/>
            <a:ext cx="1389888" cy="274320"/>
          </a:xfrm>
          <a:prstGeom prst="rect">
            <a:avLst/>
          </a:prstGeom>
          <a:noFill/>
        </p:spPr>
        <p:txBody>
          <a:bodyPr wrap="square" lIns="0" rIns="0" tIns="0" bIns="0" anchor="ctr">
            <a:spAutoFit/>
          </a:bodyPr>
          <a:lstStyle/>
          <a:p>
            <a:pPr algn="l">
              <a:lnSpc>
                <a:spcPct val="100000"/>
              </a:lnSpc>
            </a:pPr>
            <a:r>
              <a:rPr sz="860" b="0" i="0">
                <a:solidFill>
                  <a:srgbClr val="21295C"/>
                </a:solidFill>
                <a:latin typeface="DejaVu Sans"/>
              </a:rPr>
              <a:t>самые опытные</a:t>
            </a:r>
          </a:p>
        </p:txBody>
      </p:sp>
      <p:sp>
        <p:nvSpPr>
          <p:cNvPr id="32" name="Rounded Rectangle 31"/>
          <p:cNvSpPr/>
          <p:nvPr/>
        </p:nvSpPr>
        <p:spPr>
          <a:xfrm>
            <a:off x="9034272" y="2895692"/>
            <a:ext cx="106984" cy="182880"/>
          </a:xfrm>
          <a:prstGeom prst="roundRect">
            <a:avLst>
              <a:gd name="adj" fmla="val 40000"/>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05264" y="2849972"/>
            <a:ext cx="640080" cy="274320"/>
          </a:xfrm>
          <a:prstGeom prst="rect">
            <a:avLst/>
          </a:prstGeom>
          <a:noFill/>
        </p:spPr>
        <p:txBody>
          <a:bodyPr wrap="square" lIns="0" rIns="0" tIns="0" bIns="0" anchor="ctr">
            <a:spAutoFit/>
          </a:bodyPr>
          <a:lstStyle/>
          <a:p>
            <a:pPr algn="l">
              <a:lnSpc>
                <a:spcPct val="100000"/>
              </a:lnSpc>
            </a:pPr>
            <a:r>
              <a:rPr sz="919" b="1" i="0">
                <a:solidFill>
                  <a:srgbClr val="5B6678"/>
                </a:solidFill>
                <a:latin typeface="DejaVu Sans"/>
              </a:rPr>
              <a:t>≈0</a:t>
            </a:r>
          </a:p>
        </p:txBody>
      </p:sp>
      <p:sp>
        <p:nvSpPr>
          <p:cNvPr id="34" name="TextBox 33"/>
          <p:cNvSpPr txBox="1"/>
          <p:nvPr/>
        </p:nvSpPr>
        <p:spPr>
          <a:xfrm>
            <a:off x="7589520" y="3170012"/>
            <a:ext cx="3931920" cy="292608"/>
          </a:xfrm>
          <a:prstGeom prst="rect">
            <a:avLst/>
          </a:prstGeom>
          <a:noFill/>
        </p:spPr>
        <p:txBody>
          <a:bodyPr wrap="square" lIns="0" rIns="0" tIns="0" bIns="0" anchor="t">
            <a:spAutoFit/>
          </a:bodyPr>
          <a:lstStyle/>
          <a:p>
            <a:pPr algn="l">
              <a:lnSpc>
                <a:spcPct val="105000"/>
              </a:lnSpc>
            </a:pPr>
            <a:r>
              <a:rPr sz="819" b="0" i="1">
                <a:solidFill>
                  <a:srgbClr val="5B6678"/>
                </a:solidFill>
                <a:latin typeface="DejaVu Sans"/>
              </a:rPr>
              <a:t>у самых опытных качество диалога слегка ниже: подсказка предлагает им средний ответ</a:t>
            </a:r>
          </a:p>
        </p:txBody>
      </p:sp>
      <p:sp>
        <p:nvSpPr>
          <p:cNvPr id="35" name="Rounded Rectangle 34"/>
          <p:cNvSpPr/>
          <p:nvPr/>
        </p:nvSpPr>
        <p:spPr>
          <a:xfrm>
            <a:off x="7589520" y="3517484"/>
            <a:ext cx="3931920" cy="402336"/>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99248" y="3517484"/>
            <a:ext cx="3712463" cy="402336"/>
          </a:xfrm>
          <a:prstGeom prst="rect">
            <a:avLst/>
          </a:prstGeom>
          <a:noFill/>
        </p:spPr>
        <p:txBody>
          <a:bodyPr wrap="square" lIns="0" rIns="0" tIns="0" bIns="0" anchor="ctr">
            <a:spAutoFit/>
          </a:bodyPr>
          <a:lstStyle/>
          <a:p>
            <a:pPr algn="l">
              <a:lnSpc>
                <a:spcPct val="104000"/>
              </a:lnSpc>
            </a:pPr>
            <a:r>
              <a:rPr sz="880" b="1" i="0">
                <a:solidFill>
                  <a:srgbClr val="21295C"/>
                </a:solidFill>
                <a:latin typeface="DejaVu Sans"/>
              </a:rPr>
              <a:t>оператор с двумя месяцами стажа и подсказчиком работает как оператор с полугодом без него</a:t>
            </a:r>
          </a:p>
        </p:txBody>
      </p:sp>
      <p:sp>
        <p:nvSpPr>
          <p:cNvPr id="37" name="Rounded Rectangle 36"/>
          <p:cNvSpPr/>
          <p:nvPr/>
        </p:nvSpPr>
        <p:spPr>
          <a:xfrm>
            <a:off x="502920" y="4102700"/>
            <a:ext cx="1152144" cy="1380382"/>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4102700"/>
            <a:ext cx="1060704" cy="138038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9" name="Rounded Rectangle 38"/>
          <p:cNvSpPr/>
          <p:nvPr/>
        </p:nvSpPr>
        <p:spPr>
          <a:xfrm>
            <a:off x="1801368" y="4102700"/>
            <a:ext cx="9902952" cy="138038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984248" y="4194140"/>
            <a:ext cx="4677156" cy="1197502"/>
          </a:xfrm>
          <a:prstGeom prst="roundRect">
            <a:avLst>
              <a:gd name="adj" fmla="val 14847"/>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084831" y="4239860"/>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то, на чём поддержка стоит и будет стоять</a:t>
            </a:r>
          </a:p>
        </p:txBody>
      </p:sp>
      <p:sp>
        <p:nvSpPr>
          <p:cNvPr id="42" name="TextBox 41"/>
          <p:cNvSpPr txBox="1"/>
          <p:nvPr/>
        </p:nvSpPr>
        <p:spPr>
          <a:xfrm>
            <a:off x="2084831" y="4468460"/>
            <a:ext cx="4475988" cy="868318"/>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База знаний, шаблоны ответов, маршрутизация обращений, наставник у новичка. Скорость упирается в стаж оператора: знание редких случаев набирают месяцами и теряют вместе с человеком, который уволился.</a:t>
            </a:r>
          </a:p>
        </p:txBody>
      </p:sp>
      <p:sp>
        <p:nvSpPr>
          <p:cNvPr id="43" name="Rounded Rectangle 42"/>
          <p:cNvSpPr/>
          <p:nvPr/>
        </p:nvSpPr>
        <p:spPr>
          <a:xfrm>
            <a:off x="6844284" y="4194140"/>
            <a:ext cx="4677156" cy="1197502"/>
          </a:xfrm>
          <a:prstGeom prst="roundRect">
            <a:avLst>
              <a:gd name="adj" fmla="val 14847"/>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44868" y="4239860"/>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он добавил</a:t>
            </a:r>
          </a:p>
        </p:txBody>
      </p:sp>
      <p:sp>
        <p:nvSpPr>
          <p:cNvPr id="45" name="TextBox 44"/>
          <p:cNvSpPr txBox="1"/>
          <p:nvPr/>
        </p:nvSpPr>
        <p:spPr>
          <a:xfrm>
            <a:off x="6944868" y="4468460"/>
            <a:ext cx="4475988" cy="868318"/>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Подсказка в реальном времени поверх той же базы знаний; робот на типовом потоке; сводка длинной переписки для того, кто её принимает. </a:t>
            </a:r>
            <a:r>
              <a:rPr sz="950" b="1" i="0">
                <a:solidFill>
                  <a:srgbClr val="21295C"/>
                </a:solidFill>
                <a:latin typeface="DejaVu Sans"/>
              </a:rPr>
              <a:t>База знаний остаётся условием:</a:t>
            </a:r>
            <a:r>
              <a:rPr sz="950" b="0" i="0">
                <a:solidFill>
                  <a:srgbClr val="21295C"/>
                </a:solidFill>
                <a:latin typeface="DejaVu Sans"/>
              </a:rPr>
              <a:t> на том, чего в ней нет, ИИ достраивает недостающее сам.</a:t>
            </a:r>
          </a:p>
        </p:txBody>
      </p:sp>
      <p:sp>
        <p:nvSpPr>
          <p:cNvPr id="46" name="Rounded Rectangle 45"/>
          <p:cNvSpPr/>
          <p:nvPr/>
        </p:nvSpPr>
        <p:spPr>
          <a:xfrm>
            <a:off x="502920" y="5547091"/>
            <a:ext cx="1152144" cy="808621"/>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5547091"/>
            <a:ext cx="1060704" cy="808621"/>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8" name="Rounded Rectangle 47"/>
          <p:cNvSpPr/>
          <p:nvPr/>
        </p:nvSpPr>
        <p:spPr>
          <a:xfrm>
            <a:off x="1801368" y="5547091"/>
            <a:ext cx="9902952" cy="808621"/>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984248" y="5638531"/>
            <a:ext cx="9537192" cy="625741"/>
          </a:xfrm>
          <a:prstGeom prst="rect">
            <a:avLst/>
          </a:prstGeom>
          <a:noFill/>
        </p:spPr>
        <p:txBody>
          <a:bodyPr wrap="square" lIns="0" rIns="0" tIns="0" bIns="0" anchor="ctr">
            <a:spAutoFit/>
          </a:bodyPr>
          <a:lstStyle/>
          <a:p>
            <a:pPr algn="l">
              <a:lnSpc>
                <a:spcPct val="114000"/>
              </a:lnSpc>
            </a:pPr>
            <a:r>
              <a:rPr sz="980" b="1" i="0">
                <a:solidFill>
                  <a:srgbClr val="21295C"/>
                </a:solidFill>
                <a:latin typeface="DejaVu Sans"/>
              </a:rPr>
              <a:t>Робот уверенно объявляет правило, которого нет. </a:t>
            </a:r>
            <a:r>
              <a:rPr sz="980" b="1" i="0">
                <a:solidFill>
                  <a:srgbClr val="21295C"/>
                </a:solidFill>
                <a:latin typeface="DejaVu Sans"/>
              </a:rPr>
              <a:t>Апрель 2025:</a:t>
            </a:r>
            <a:r>
              <a:rPr sz="980" b="1" i="0">
                <a:solidFill>
                  <a:srgbClr val="21295C"/>
                </a:solidFill>
                <a:latin typeface="DejaVu Sans"/>
              </a:rPr>
              <a:t> бот поддержки Cursor сообщил клиентам о придуманном им ограничении «один вход на пользователя»; люди отменяли подписки, компания извинялась и возвращала деньги — политики такой никогда не существовало.</a:t>
            </a:r>
          </a:p>
        </p:txBody>
      </p:sp>
      <p:sp>
        <p:nvSpPr>
          <p:cNvPr id="50" name="TextBox 49"/>
          <p:cNvSpPr txBox="1"/>
          <p:nvPr/>
        </p:nvSpPr>
        <p:spPr>
          <a:xfrm>
            <a:off x="502920" y="6437376"/>
            <a:ext cx="1088136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Замер подсказчика: Brynjolfsson, Li, Raymond, «Generative AI at Work», Quarterly Journal of Economics, 2025 — 5 172 оператора компании из списка Fortune 500, поэтапное развёртывание с ноября 2020 по май 2021, база 2,1 решения в час · Бот поддержки Cursor: AI Incident Database, инцидент 1039 (апрель 2025)</a:t>
            </a:r>
          </a:p>
        </p:txBody>
      </p:sp>
      <p:sp>
        <p:nvSpPr>
          <p:cNvPr id="51" name="TextBox 5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Учебная тревога: есть ли чем заметить деградацию</a:t>
            </a:r>
          </a:p>
        </p:txBody>
      </p:sp>
      <p:sp>
        <p:nvSpPr>
          <p:cNvPr id="3" name="Rounded Rectangle 2"/>
          <p:cNvSpPr/>
          <p:nvPr/>
        </p:nvSpPr>
        <p:spPr>
          <a:xfrm>
            <a:off x="502920" y="536206"/>
            <a:ext cx="1152144" cy="131524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131524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131524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113236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Учебная пожарная тревога проверяет здание и людей: сработал датчик, завыла сирена, выход свободен, все вышли за норматив. Огня нет — его роль играет план. Учение в поддержке устроено так же: качество ответов портят намеренно и управляемо, чтобы увидеть, сработает ли обнаружение.</a:t>
            </a:r>
          </a:p>
          <a:p>
            <a:pPr algn="l">
              <a:lnSpc>
                <a:spcPct val="114000"/>
              </a:lnSpc>
            </a:pPr>
            <a:r>
              <a:rPr sz="1000" b="1" i="0">
                <a:solidFill>
                  <a:srgbClr val="21295C"/>
                </a:solidFill>
                <a:latin typeface="DejaVu Sans"/>
              </a:rPr>
              <a:t>Элемент учения → элемент системы:</a:t>
            </a:r>
            <a:r>
              <a:rPr sz="1000" b="0" i="0">
                <a:solidFill>
                  <a:srgbClr val="21295C"/>
                </a:solidFill>
                <a:latin typeface="DejaVu Sans"/>
              </a:rPr>
              <a:t> дым → подменённая инструкция модели · датчик → порог по косвенной метрике · сирена → оповещение дежурному · выход → откат версии и путь к человеку · норматив эвакуации → четыре измеренных времени.</a:t>
            </a:r>
          </a:p>
        </p:txBody>
      </p:sp>
      <p:sp>
        <p:nvSpPr>
          <p:cNvPr id="7" name="Rounded Rectangle 6"/>
          <p:cNvSpPr/>
          <p:nvPr/>
        </p:nvSpPr>
        <p:spPr>
          <a:xfrm>
            <a:off x="502920" y="1915457"/>
            <a:ext cx="1152144" cy="23225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15457"/>
            <a:ext cx="1060704" cy="23225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15457"/>
            <a:ext cx="990295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2061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2061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06897"/>
            <a:ext cx="5385816" cy="36542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Выбирают </a:t>
            </a:r>
            <a:r>
              <a:rPr sz="960" b="1" i="0">
                <a:solidFill>
                  <a:srgbClr val="065A82"/>
                </a:solidFill>
                <a:latin typeface="DejaVu Sans"/>
              </a:rPr>
              <a:t>один класс отказа</a:t>
            </a:r>
            <a:r>
              <a:rPr sz="960" b="0" i="0">
                <a:solidFill>
                  <a:srgbClr val="21295C"/>
                </a:solidFill>
                <a:latin typeface="DejaVu Sans"/>
              </a:rPr>
              <a:t> и назначают дату. </a:t>
            </a:r>
            <a:r>
              <a:rPr sz="960" b="1" i="0">
                <a:solidFill>
                  <a:srgbClr val="065A82"/>
                </a:solidFill>
                <a:latin typeface="DejaVu Sans"/>
              </a:rPr>
              <a:t>ИИ:</a:t>
            </a:r>
            <a:r>
              <a:rPr sz="960" b="0" i="0">
                <a:solidFill>
                  <a:srgbClr val="21295C"/>
                </a:solidFill>
                <a:latin typeface="DejaVu Sans"/>
              </a:rPr>
              <a:t> предлагает сценарии по прошлым разборам; выбирает человек.</a:t>
            </a:r>
          </a:p>
        </p:txBody>
      </p:sp>
      <p:sp>
        <p:nvSpPr>
          <p:cNvPr id="13" name="Oval 12"/>
          <p:cNvSpPr/>
          <p:nvPr/>
        </p:nvSpPr>
        <p:spPr>
          <a:xfrm>
            <a:off x="1984248" y="245004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45004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436333"/>
            <a:ext cx="5385816" cy="52436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Качество ухудшают </a:t>
            </a:r>
            <a:r>
              <a:rPr sz="960" b="1" i="0">
                <a:solidFill>
                  <a:srgbClr val="065A82"/>
                </a:solidFill>
                <a:latin typeface="DejaVu Sans"/>
              </a:rPr>
              <a:t>управляемо</a:t>
            </a:r>
            <a:r>
              <a:rPr sz="960" b="0" i="0">
                <a:solidFill>
                  <a:srgbClr val="21295C"/>
                </a:solidFill>
                <a:latin typeface="DejaVu Sans"/>
              </a:rPr>
              <a:t>: подменяют инструкцию модели на слабую, ослабляют ограничители. </a:t>
            </a:r>
            <a:r>
              <a:rPr sz="960" b="1" i="0">
                <a:solidFill>
                  <a:srgbClr val="065A82"/>
                </a:solidFill>
                <a:latin typeface="DejaVu Sans"/>
              </a:rPr>
              <a:t>ИИ:</a:t>
            </a:r>
            <a:r>
              <a:rPr sz="960" b="0" i="0">
                <a:solidFill>
                  <a:srgbClr val="21295C"/>
                </a:solidFill>
                <a:latin typeface="DejaVu Sans"/>
              </a:rPr>
              <a:t> создаёт поток обращений по сценарию, чтобы дежурный увидел нагрузку.</a:t>
            </a:r>
          </a:p>
        </p:txBody>
      </p:sp>
      <p:sp>
        <p:nvSpPr>
          <p:cNvPr id="16" name="Oval 15"/>
          <p:cNvSpPr/>
          <p:nvPr/>
        </p:nvSpPr>
        <p:spPr>
          <a:xfrm>
            <a:off x="1984248" y="303842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303842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3024709"/>
            <a:ext cx="5385816" cy="36542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Измеряют </a:t>
            </a:r>
            <a:r>
              <a:rPr sz="960" b="1" i="0">
                <a:solidFill>
                  <a:srgbClr val="065A82"/>
                </a:solidFill>
                <a:latin typeface="DejaVu Sans"/>
              </a:rPr>
              <a:t>четыре времени</a:t>
            </a:r>
            <a:r>
              <a:rPr sz="960" b="0" i="0">
                <a:solidFill>
                  <a:srgbClr val="21295C"/>
                </a:solidFill>
                <a:latin typeface="DejaVu Sans"/>
              </a:rPr>
              <a:t> и записывают числом — свои, с этого учения.</a:t>
            </a:r>
          </a:p>
        </p:txBody>
      </p:sp>
      <p:sp>
        <p:nvSpPr>
          <p:cNvPr id="19" name="Oval 18"/>
          <p:cNvSpPr/>
          <p:nvPr/>
        </p:nvSpPr>
        <p:spPr>
          <a:xfrm>
            <a:off x="1984248" y="346786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46786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454146"/>
            <a:ext cx="5385816" cy="36542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Разбор. </a:t>
            </a:r>
            <a:r>
              <a:rPr sz="960" b="1" i="0">
                <a:solidFill>
                  <a:srgbClr val="065A82"/>
                </a:solidFill>
                <a:latin typeface="DejaVu Sans"/>
              </a:rPr>
              <a:t>ИИ:</a:t>
            </a:r>
            <a:r>
              <a:rPr sz="960" b="0" i="0">
                <a:solidFill>
                  <a:srgbClr val="21295C"/>
                </a:solidFill>
                <a:latin typeface="DejaVu Sans"/>
              </a:rPr>
              <a:t> собирает хронологию и отдаёт черновик; выводы и правки инструкций подписывает человек.</a:t>
            </a:r>
          </a:p>
        </p:txBody>
      </p:sp>
      <p:sp>
        <p:nvSpPr>
          <p:cNvPr id="22" name="Oval 21"/>
          <p:cNvSpPr/>
          <p:nvPr/>
        </p:nvSpPr>
        <p:spPr>
          <a:xfrm>
            <a:off x="1984248" y="389729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84248" y="389729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5</a:t>
            </a:r>
          </a:p>
        </p:txBody>
      </p:sp>
      <p:sp>
        <p:nvSpPr>
          <p:cNvPr id="24" name="TextBox 23"/>
          <p:cNvSpPr txBox="1"/>
          <p:nvPr/>
        </p:nvSpPr>
        <p:spPr>
          <a:xfrm>
            <a:off x="2295144" y="3883582"/>
            <a:ext cx="5385816" cy="20648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Учение, не изменившее ни одной инструкции, было слишком лёгким.</a:t>
            </a:r>
          </a:p>
        </p:txBody>
      </p:sp>
      <p:sp>
        <p:nvSpPr>
          <p:cNvPr id="25" name="TextBox 24"/>
          <p:cNvSpPr txBox="1"/>
          <p:nvPr/>
        </p:nvSpPr>
        <p:spPr>
          <a:xfrm>
            <a:off x="10515600" y="2006897"/>
            <a:ext cx="1005840" cy="182880"/>
          </a:xfrm>
          <a:prstGeom prst="rect">
            <a:avLst/>
          </a:prstGeom>
          <a:noFill/>
        </p:spPr>
        <p:txBody>
          <a:bodyPr wrap="square" lIns="0" rIns="0" tIns="0" bIns="0" anchor="t">
            <a:spAutoFit/>
          </a:bodyPr>
          <a:lstStyle/>
          <a:p>
            <a:pPr algn="ctr">
              <a:lnSpc>
                <a:spcPct val="100000"/>
              </a:lnSpc>
            </a:pPr>
            <a:r>
              <a:rPr sz="780" b="0" i="1">
                <a:solidFill>
                  <a:srgbClr val="5B6678"/>
                </a:solidFill>
                <a:latin typeface="DejaVu Sans"/>
              </a:rPr>
              <a:t>минуты от начала</a:t>
            </a:r>
          </a:p>
        </p:txBody>
      </p:sp>
      <p:sp>
        <p:nvSpPr>
          <p:cNvPr id="26" name="Oval 25"/>
          <p:cNvSpPr/>
          <p:nvPr/>
        </p:nvSpPr>
        <p:spPr>
          <a:xfrm>
            <a:off x="7955279" y="2262929"/>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79" y="2262929"/>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8" name="TextBox 27"/>
          <p:cNvSpPr txBox="1"/>
          <p:nvPr/>
        </p:nvSpPr>
        <p:spPr>
          <a:xfrm>
            <a:off x="8266175" y="2226353"/>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заметили</a:t>
            </a:r>
          </a:p>
        </p:txBody>
      </p:sp>
      <p:sp>
        <p:nvSpPr>
          <p:cNvPr id="29" name="Rounded Rectangle 28"/>
          <p:cNvSpPr/>
          <p:nvPr/>
        </p:nvSpPr>
        <p:spPr>
          <a:xfrm>
            <a:off x="10515600" y="2226353"/>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0" y="2226353"/>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4</a:t>
            </a:r>
          </a:p>
        </p:txBody>
      </p:sp>
      <p:cxnSp>
        <p:nvCxnSpPr>
          <p:cNvPr id="31" name="Connector 30"/>
          <p:cNvCxnSpPr/>
          <p:nvPr/>
        </p:nvCxnSpPr>
        <p:spPr>
          <a:xfrm>
            <a:off x="8074152" y="2518961"/>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955279" y="2701841"/>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55279" y="2701841"/>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34" name="TextBox 33"/>
          <p:cNvSpPr txBox="1"/>
          <p:nvPr/>
        </p:nvSpPr>
        <p:spPr>
          <a:xfrm>
            <a:off x="8266175" y="2665265"/>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пришёл человек</a:t>
            </a:r>
          </a:p>
        </p:txBody>
      </p:sp>
      <p:sp>
        <p:nvSpPr>
          <p:cNvPr id="35" name="Rounded Rectangle 34"/>
          <p:cNvSpPr/>
          <p:nvPr/>
        </p:nvSpPr>
        <p:spPr>
          <a:xfrm>
            <a:off x="10515600" y="2665265"/>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0" y="2665265"/>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9</a:t>
            </a:r>
          </a:p>
        </p:txBody>
      </p:sp>
      <p:cxnSp>
        <p:nvCxnSpPr>
          <p:cNvPr id="37" name="Connector 36"/>
          <p:cNvCxnSpPr/>
          <p:nvPr/>
        </p:nvCxnSpPr>
        <p:spPr>
          <a:xfrm>
            <a:off x="8074152" y="2957873"/>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7955279" y="3140753"/>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55279" y="3140753"/>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40" name="TextBox 39"/>
          <p:cNvSpPr txBox="1"/>
          <p:nvPr/>
        </p:nvSpPr>
        <p:spPr>
          <a:xfrm>
            <a:off x="8266175" y="3104177"/>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автоматика остановила</a:t>
            </a:r>
          </a:p>
        </p:txBody>
      </p:sp>
      <p:sp>
        <p:nvSpPr>
          <p:cNvPr id="41" name="Rounded Rectangle 40"/>
          <p:cNvSpPr/>
          <p:nvPr/>
        </p:nvSpPr>
        <p:spPr>
          <a:xfrm>
            <a:off x="10515600" y="3104177"/>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0" y="3104177"/>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12</a:t>
            </a:r>
          </a:p>
        </p:txBody>
      </p:sp>
      <p:cxnSp>
        <p:nvCxnSpPr>
          <p:cNvPr id="43" name="Connector 42"/>
          <p:cNvCxnSpPr/>
          <p:nvPr/>
        </p:nvCxnSpPr>
        <p:spPr>
          <a:xfrm>
            <a:off x="8074152" y="3396785"/>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7955279" y="357966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55279" y="357966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46" name="TextBox 45"/>
          <p:cNvSpPr txBox="1"/>
          <p:nvPr/>
        </p:nvSpPr>
        <p:spPr>
          <a:xfrm>
            <a:off x="8266175" y="3543089"/>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вернули как было</a:t>
            </a:r>
          </a:p>
        </p:txBody>
      </p:sp>
      <p:sp>
        <p:nvSpPr>
          <p:cNvPr id="47" name="Rounded Rectangle 46"/>
          <p:cNvSpPr/>
          <p:nvPr/>
        </p:nvSpPr>
        <p:spPr>
          <a:xfrm>
            <a:off x="10515600" y="3543089"/>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515600" y="3543089"/>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21</a:t>
            </a:r>
          </a:p>
        </p:txBody>
      </p:sp>
      <p:sp>
        <p:nvSpPr>
          <p:cNvPr id="49" name="TextBox 48"/>
          <p:cNvSpPr txBox="1"/>
          <p:nvPr/>
        </p:nvSpPr>
        <p:spPr>
          <a:xfrm>
            <a:off x="7955279" y="3872273"/>
            <a:ext cx="3566160" cy="274320"/>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числа — с одного проведённого учения; в следующем их заполняют заново</a:t>
            </a:r>
          </a:p>
        </p:txBody>
      </p:sp>
      <p:sp>
        <p:nvSpPr>
          <p:cNvPr id="50" name="Rounded Rectangle 49"/>
          <p:cNvSpPr/>
          <p:nvPr/>
        </p:nvSpPr>
        <p:spPr>
          <a:xfrm>
            <a:off x="502920" y="4302041"/>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302041"/>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52" name="Rounded Rectangle 51"/>
          <p:cNvSpPr/>
          <p:nvPr/>
        </p:nvSpPr>
        <p:spPr>
          <a:xfrm>
            <a:off x="1801368" y="4302041"/>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984248" y="4393481"/>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084831" y="4439201"/>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классическое учение на отказ</a:t>
            </a:r>
          </a:p>
        </p:txBody>
      </p:sp>
      <p:sp>
        <p:nvSpPr>
          <p:cNvPr id="55" name="TextBox 54"/>
          <p:cNvSpPr txBox="1"/>
          <p:nvPr/>
        </p:nvSpPr>
        <p:spPr>
          <a:xfrm>
            <a:off x="2084831" y="4667801"/>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Гасят службу, отнимают ресурс: смотрят, поднимется ли система и придёт ли дежурный. Сценарий, хронологию и разбор делает человек.</a:t>
            </a:r>
          </a:p>
        </p:txBody>
      </p:sp>
      <p:sp>
        <p:nvSpPr>
          <p:cNvPr id="56" name="Rounded Rectangle 55"/>
          <p:cNvSpPr/>
          <p:nvPr/>
        </p:nvSpPr>
        <p:spPr>
          <a:xfrm>
            <a:off x="6844284" y="4393481"/>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944868" y="4439201"/>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чем он занят внутри учения</a:t>
            </a:r>
          </a:p>
        </p:txBody>
      </p:sp>
      <p:sp>
        <p:nvSpPr>
          <p:cNvPr id="58" name="TextBox 57"/>
          <p:cNvSpPr txBox="1"/>
          <p:nvPr/>
        </p:nvSpPr>
        <p:spPr>
          <a:xfrm>
            <a:off x="6944868" y="4667801"/>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Сценарии ИИ предлагает по прошлым разборам, поток обращений создаёт он же, хронологию собирает из записей и отдаёт черновик разбора. Инструменты 2026 года: incident.io, Rootly, PagerDuty.</a:t>
            </a:r>
          </a:p>
        </p:txBody>
      </p:sp>
      <p:sp>
        <p:nvSpPr>
          <p:cNvPr id="59" name="Rounded Rectangle 58"/>
          <p:cNvSpPr/>
          <p:nvPr/>
        </p:nvSpPr>
        <p:spPr>
          <a:xfrm>
            <a:off x="502920" y="5593250"/>
            <a:ext cx="1152144" cy="63974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593250"/>
            <a:ext cx="1060704" cy="63974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61" name="Rounded Rectangle 60"/>
          <p:cNvSpPr/>
          <p:nvPr/>
        </p:nvSpPr>
        <p:spPr>
          <a:xfrm>
            <a:off x="1801368" y="5593250"/>
            <a:ext cx="9902952" cy="63974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984248" y="5684690"/>
            <a:ext cx="9537192" cy="456868"/>
          </a:xfrm>
          <a:prstGeom prst="rect">
            <a:avLst/>
          </a:prstGeom>
          <a:noFill/>
        </p:spPr>
        <p:txBody>
          <a:bodyPr wrap="square" lIns="0" rIns="0" tIns="0" bIns="0" anchor="ctr">
            <a:spAutoFit/>
          </a:bodyPr>
          <a:lstStyle/>
          <a:p>
            <a:pPr algn="l">
              <a:lnSpc>
                <a:spcPct val="114000"/>
              </a:lnSpc>
            </a:pPr>
            <a:r>
              <a:rPr sz="960" b="1" i="0">
                <a:solidFill>
                  <a:srgbClr val="21295C"/>
                </a:solidFill>
                <a:latin typeface="DejaVu Sans"/>
              </a:rPr>
              <a:t>ИИ предлагает вариации пережитого: класса отказа, которого ещё не было, он не придумает. Черновик разбора правдоподобен и </a:t>
            </a:r>
            <a:r>
              <a:rPr sz="960" b="1" i="0">
                <a:solidFill>
                  <a:srgbClr val="21295C"/>
                </a:solidFill>
                <a:latin typeface="DejaVu Sans"/>
              </a:rPr>
              <a:t>когда причина названа неверно</a:t>
            </a:r>
            <a:r>
              <a:rPr sz="960" b="1" i="0">
                <a:solidFill>
                  <a:srgbClr val="21295C"/>
                </a:solidFill>
                <a:latin typeface="DejaVu Sans"/>
              </a:rPr>
              <a:t>. </a:t>
            </a:r>
            <a:r>
              <a:rPr sz="960" b="1" i="0">
                <a:solidFill>
                  <a:srgbClr val="21295C"/>
                </a:solidFill>
                <a:latin typeface="DejaVu Sans"/>
              </a:rPr>
              <a:t>Учение раз в квартал даёт обнаружение с окном в квартал.</a:t>
            </a:r>
          </a:p>
        </p:txBody>
      </p:sp>
      <p:sp>
        <p:nvSpPr>
          <p:cNvPr id="63" name="TextBox 62"/>
          <p:cNvSpPr txBox="1"/>
          <p:nvPr/>
        </p:nvSpPr>
        <p:spPr>
          <a:xfrm>
            <a:off x="502920" y="6437376"/>
            <a:ext cx="1088136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Сборка хронологии инцидента и черновика разбора по записям — incident.io, Rootly, PagerDuty; экономия времени на разборе заявлена поставщиками, независимого замера нет</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Графики остаются зелёными, пока доверие уже падает недели</a:t>
            </a:r>
          </a:p>
        </p:txBody>
      </p:sp>
      <p:sp>
        <p:nvSpPr>
          <p:cNvPr id="3" name="Rounded Rectangle 2"/>
          <p:cNvSpPr/>
          <p:nvPr/>
        </p:nvSpPr>
        <p:spPr>
          <a:xfrm>
            <a:off x="502920" y="914400"/>
            <a:ext cx="2788920" cy="2084831"/>
          </a:xfrm>
          <a:prstGeom prst="roundRect">
            <a:avLst>
              <a:gd name="adj" fmla="val 1461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12648" y="1132752"/>
            <a:ext cx="2569463" cy="1648127"/>
          </a:xfrm>
          <a:prstGeom prst="rect">
            <a:avLst/>
          </a:prstGeom>
        </p:spPr>
      </p:pic>
      <p:sp>
        <p:nvSpPr>
          <p:cNvPr id="5" name="TextBox 4"/>
          <p:cNvSpPr txBox="1"/>
          <p:nvPr/>
        </p:nvSpPr>
        <p:spPr>
          <a:xfrm>
            <a:off x="548640" y="3108960"/>
            <a:ext cx="2697480" cy="100584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Четыре кадра — четыре недели наблюдения. Графики не меняются, доверие уходит.</a:t>
            </a:r>
          </a:p>
        </p:txBody>
      </p:sp>
      <p:sp>
        <p:nvSpPr>
          <p:cNvPr id="6" name="Rounded Rectangle 5"/>
          <p:cNvSpPr/>
          <p:nvPr/>
        </p:nvSpPr>
        <p:spPr>
          <a:xfrm>
            <a:off x="3429000" y="914400"/>
            <a:ext cx="8275320" cy="1572768"/>
          </a:xfrm>
          <a:prstGeom prst="roundRect">
            <a:avLst>
              <a:gd name="adj" fmla="val 1937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39312" y="1005840"/>
            <a:ext cx="7863840" cy="274320"/>
          </a:xfrm>
          <a:prstGeom prst="rect">
            <a:avLst/>
          </a:prstGeom>
          <a:noFill/>
        </p:spPr>
        <p:txBody>
          <a:bodyPr wrap="square" lIns="0" rIns="0" tIns="0" bIns="0" anchor="t">
            <a:spAutoFit/>
          </a:bodyPr>
          <a:lstStyle/>
          <a:p>
            <a:pPr algn="l">
              <a:lnSpc>
                <a:spcPct val="105000"/>
              </a:lnSpc>
            </a:pPr>
            <a:r>
              <a:rPr sz="1400" b="1" i="0">
                <a:solidFill>
                  <a:srgbClr val="028090"/>
                </a:solidFill>
                <a:latin typeface="DejaVu Sans"/>
              </a:rPr>
              <a:t>Тихий дрейф</a:t>
            </a:r>
          </a:p>
        </p:txBody>
      </p:sp>
      <p:sp>
        <p:nvSpPr>
          <p:cNvPr id="8" name="TextBox 7"/>
          <p:cNvSpPr txBox="1"/>
          <p:nvPr/>
        </p:nvSpPr>
        <p:spPr>
          <a:xfrm>
            <a:off x="3639312" y="1316736"/>
            <a:ext cx="786384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Модель продолжает отвечать, пользователи продолжают получать ответы, графики остаются зелёными — но ответы становятся чуть менее обоснованными. Самые активные пользователи замечают регрессию раньше агрегированных метрик: к моменту, когда команда видит явную деградацию, она идёт уже недели.</a:t>
            </a:r>
          </a:p>
        </p:txBody>
      </p:sp>
      <p:sp>
        <p:nvSpPr>
          <p:cNvPr id="9" name="Rounded Rectangle 8"/>
          <p:cNvSpPr/>
          <p:nvPr/>
        </p:nvSpPr>
        <p:spPr>
          <a:xfrm>
            <a:off x="3429000" y="2615184"/>
            <a:ext cx="8275320" cy="1609344"/>
          </a:xfrm>
          <a:prstGeom prst="roundRect">
            <a:avLst>
              <a:gd name="adj" fmla="val 1893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2" y="2706624"/>
            <a:ext cx="7863840" cy="274320"/>
          </a:xfrm>
          <a:prstGeom prst="rect">
            <a:avLst/>
          </a:prstGeom>
          <a:noFill/>
        </p:spPr>
        <p:txBody>
          <a:bodyPr wrap="square" lIns="0" rIns="0" tIns="0" bIns="0" anchor="t">
            <a:spAutoFit/>
          </a:bodyPr>
          <a:lstStyle/>
          <a:p>
            <a:pPr algn="l">
              <a:lnSpc>
                <a:spcPct val="105000"/>
              </a:lnSpc>
            </a:pPr>
            <a:r>
              <a:rPr sz="1400" b="1" i="0">
                <a:solidFill>
                  <a:srgbClr val="065A82"/>
                </a:solidFill>
                <a:latin typeface="DejaVu Sans"/>
              </a:rPr>
              <a:t>Дрейф правил</a:t>
            </a:r>
          </a:p>
        </p:txBody>
      </p:sp>
      <p:sp>
        <p:nvSpPr>
          <p:cNvPr id="11" name="TextBox 10"/>
          <p:cNvSpPr txBox="1"/>
          <p:nvPr/>
        </p:nvSpPr>
        <p:spPr>
          <a:xfrm>
            <a:off x="3639312" y="3017520"/>
            <a:ext cx="7863840" cy="111556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Защитные правила без версионирования молча устаревают: система вокруг меняется, а правила остаются прежними. Ощущение защищённости сохраняется, фактическое соответствие — нет. Лечится тем, что правила ведут как код: версионируют, проверяют, пересматривают.</a:t>
            </a:r>
          </a:p>
        </p:txBody>
      </p:sp>
      <p:sp>
        <p:nvSpPr>
          <p:cNvPr id="12" name="Rounded Rectangle 11"/>
          <p:cNvSpPr/>
          <p:nvPr/>
        </p:nvSpPr>
        <p:spPr>
          <a:xfrm>
            <a:off x="502920" y="4352544"/>
            <a:ext cx="11201400"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42-klarna-real-source.png"/>
          <p:cNvPicPr>
            <a:picLocks noChangeAspect="1"/>
          </p:cNvPicPr>
          <p:nvPr/>
        </p:nvPicPr>
        <p:blipFill>
          <a:blip r:embed="rId3"/>
          <a:stretch>
            <a:fillRect/>
          </a:stretch>
        </p:blipFill>
        <p:spPr>
          <a:xfrm>
            <a:off x="713232" y="4745235"/>
            <a:ext cx="914400" cy="385048"/>
          </a:xfrm>
          <a:prstGeom prst="rect">
            <a:avLst/>
          </a:prstGeom>
        </p:spPr>
      </p:pic>
      <p:sp>
        <p:nvSpPr>
          <p:cNvPr id="14" name="TextBox 13"/>
          <p:cNvSpPr txBox="1"/>
          <p:nvPr/>
        </p:nvSpPr>
        <p:spPr>
          <a:xfrm>
            <a:off x="1828800" y="4462272"/>
            <a:ext cx="9637776" cy="969264"/>
          </a:xfrm>
          <a:prstGeom prst="rect">
            <a:avLst/>
          </a:prstGeom>
          <a:noFill/>
        </p:spPr>
        <p:txBody>
          <a:bodyPr wrap="square" lIns="0" rIns="0" tIns="0" bIns="0" anchor="ctr">
            <a:spAutoFit/>
          </a:bodyPr>
          <a:lstStyle/>
          <a:p>
            <a:pPr algn="l">
              <a:lnSpc>
                <a:spcPct val="115000"/>
              </a:lnSpc>
            </a:pPr>
            <a:r>
              <a:rPr sz="1200" b="1" i="0">
                <a:solidFill>
                  <a:srgbClr val="028090"/>
                </a:solidFill>
                <a:latin typeface="DejaVu Sans"/>
              </a:rPr>
              <a:t>Klarna, май 2025.  </a:t>
            </a:r>
            <a:r>
              <a:rPr sz="1200" b="0" i="0">
                <a:solidFill>
                  <a:srgbClr val="21295C"/>
                </a:solidFill>
                <a:latin typeface="DejaVu Sans"/>
              </a:rPr>
              <a:t>Компания, публично объявившая поддержку без доступа к человеку, эту политику развернула. Причина, названная руководителем: клиент должен всегда знать, что живой человек будет, если он его попросит. Автоматизация при этом никуда не ушла — ИИ по-прежнему закрывает две трети обращений. Урок отсюда такой: </a:t>
            </a:r>
            <a:r>
              <a:rPr sz="1200" b="1" i="0">
                <a:solidFill>
                  <a:srgbClr val="21295C"/>
                </a:solidFill>
                <a:latin typeface="DejaVu Sans"/>
              </a:rPr>
              <a:t>гарантированный путь к человеку — часть продукта, и задним числом его не достраивают</a:t>
            </a:r>
            <a:r>
              <a:rPr sz="1200" b="0" i="0">
                <a:solidFill>
                  <a:srgbClr val="21295C"/>
                </a:solidFill>
                <a:latin typeface="DejaVu Sans"/>
              </a:rPr>
              <a:t>.</a:t>
            </a:r>
          </a:p>
        </p:txBody>
      </p:sp>
      <p:sp>
        <p:nvSpPr>
          <p:cNvPr id="15" name="Rounded Rectangle 14"/>
          <p:cNvSpPr/>
          <p:nvPr/>
        </p:nvSpPr>
        <p:spPr>
          <a:xfrm>
            <a:off x="502920" y="563270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687568"/>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обязательным: путь к человеку, ответственность за ответ, дисциплина разбора инцидентов. Автономность ИИ их не отменила — она подняла их цену.</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CX Dive (издание о клиентском опыте) — Klarna о возврате людей</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Zillow: алгоритм скупал дома, рынок сдвинулся, бизнес закрыли</a:t>
            </a:r>
          </a:p>
        </p:txBody>
      </p:sp>
      <p:sp>
        <p:nvSpPr>
          <p:cNvPr id="3" name="Rounded Rectangle 2"/>
          <p:cNvSpPr/>
          <p:nvPr/>
        </p:nvSpPr>
        <p:spPr>
          <a:xfrm>
            <a:off x="502920" y="896112"/>
            <a:ext cx="11201400" cy="13716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024128"/>
            <a:ext cx="2240280" cy="111556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40-zillow-real-source.png"/>
          <p:cNvPicPr>
            <a:picLocks noChangeAspect="1"/>
          </p:cNvPicPr>
          <p:nvPr/>
        </p:nvPicPr>
        <p:blipFill>
          <a:blip r:embed="rId2"/>
          <a:stretch>
            <a:fillRect/>
          </a:stretch>
        </p:blipFill>
        <p:spPr>
          <a:xfrm>
            <a:off x="749808" y="1354472"/>
            <a:ext cx="2057400" cy="454878"/>
          </a:xfrm>
          <a:prstGeom prst="rect">
            <a:avLst/>
          </a:prstGeom>
        </p:spPr>
      </p:pic>
      <p:sp>
        <p:nvSpPr>
          <p:cNvPr id="6" name="TextBox 5"/>
          <p:cNvSpPr txBox="1"/>
          <p:nvPr/>
        </p:nvSpPr>
        <p:spPr>
          <a:xfrm>
            <a:off x="3054096" y="969264"/>
            <a:ext cx="844905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7" name="TextBox 6"/>
          <p:cNvSpPr txBox="1"/>
          <p:nvPr/>
        </p:nvSpPr>
        <p:spPr>
          <a:xfrm>
            <a:off x="3054096" y="1225296"/>
            <a:ext cx="8449056" cy="96926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Zillow Offers — сервис, который покупал дома по алгоритмической оценке и быстро перепродавал. За третий квартал 2021 года купил 9680 домов, продал 3032. 2 ноября 2021 года компания объявила о закрытии сервиса: списания </a:t>
            </a:r>
            <a:r>
              <a:rPr sz="1150" b="1" i="0">
                <a:solidFill>
                  <a:srgbClr val="21295C"/>
                </a:solidFill>
                <a:latin typeface="DejaVu Sans"/>
              </a:rPr>
              <a:t>$304–408 млн</a:t>
            </a:r>
            <a:r>
              <a:rPr sz="1150" b="0" i="0">
                <a:solidFill>
                  <a:srgbClr val="21295C"/>
                </a:solidFill>
                <a:latin typeface="DejaVu Sans"/>
              </a:rPr>
              <a:t>, сокращение около </a:t>
            </a:r>
            <a:r>
              <a:rPr sz="1150" b="1" i="0">
                <a:solidFill>
                  <a:srgbClr val="21295C"/>
                </a:solidFill>
                <a:latin typeface="DejaVu Sans"/>
              </a:rPr>
              <a:t>2000 человек — примерно 25% штата</a:t>
            </a:r>
            <a:r>
              <a:rPr sz="1150" b="0" i="0">
                <a:solidFill>
                  <a:srgbClr val="21295C"/>
                </a:solidFill>
                <a:latin typeface="DejaVu Sans"/>
              </a:rPr>
              <a:t>. Средний убыток — около </a:t>
            </a:r>
            <a:r>
              <a:rPr sz="1150" b="1" i="0">
                <a:solidFill>
                  <a:srgbClr val="21295C"/>
                </a:solidFill>
                <a:latin typeface="DejaVu Sans"/>
              </a:rPr>
              <a:t>$80 тыс. на дом</a:t>
            </a:r>
            <a:r>
              <a:rPr sz="1150" b="0" i="0">
                <a:solidFill>
                  <a:srgbClr val="21295C"/>
                </a:solidFill>
                <a:latin typeface="DejaVu Sans"/>
              </a:rPr>
              <a:t>.</a:t>
            </a:r>
          </a:p>
        </p:txBody>
      </p:sp>
      <p:sp>
        <p:nvSpPr>
          <p:cNvPr id="8" name="Rounded Rectangle 7"/>
          <p:cNvSpPr/>
          <p:nvPr/>
        </p:nvSpPr>
        <p:spPr>
          <a:xfrm>
            <a:off x="502920" y="2377440"/>
            <a:ext cx="5440680"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3"/>
          <a:stretch>
            <a:fillRect/>
          </a:stretch>
        </p:blipFill>
        <p:spPr>
          <a:xfrm>
            <a:off x="708659" y="2615184"/>
            <a:ext cx="5029200" cy="1920240"/>
          </a:xfrm>
          <a:prstGeom prst="rect">
            <a:avLst/>
          </a:prstGeom>
        </p:spPr>
      </p:pic>
      <p:sp>
        <p:nvSpPr>
          <p:cNvPr id="10" name="Rounded Rectangle 9"/>
          <p:cNvSpPr/>
          <p:nvPr/>
        </p:nvSpPr>
        <p:spPr>
          <a:xfrm>
            <a:off x="6126480" y="2377440"/>
            <a:ext cx="5577840" cy="2395728"/>
          </a:xfrm>
          <a:prstGeom prst="roundRect">
            <a:avLst>
              <a:gd name="adj" fmla="val 1272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7648" y="2468880"/>
            <a:ext cx="5175504" cy="420624"/>
          </a:xfrm>
          <a:prstGeom prst="rect">
            <a:avLst/>
          </a:prstGeom>
          <a:noFill/>
        </p:spPr>
        <p:txBody>
          <a:bodyPr wrap="square" lIns="0" rIns="0" tIns="0" bIns="0" anchor="t">
            <a:spAutoFit/>
          </a:bodyPr>
          <a:lstStyle/>
          <a:p>
            <a:pPr algn="l">
              <a:lnSpc>
                <a:spcPct val="108000"/>
              </a:lnSpc>
            </a:pPr>
            <a:r>
              <a:rPr sz="1000" b="1" i="0">
                <a:solidFill>
                  <a:srgbClr val="028090"/>
                </a:solidFill>
                <a:latin typeface="DejaVu Sans"/>
              </a:rPr>
              <a:t>РАЗБОР: ПРОВАЛ ЭКСПЛУАТАЦИИ,</a:t>
            </a:r>
          </a:p>
          <a:p>
            <a:pPr algn="l">
              <a:lnSpc>
                <a:spcPct val="108000"/>
              </a:lnSpc>
            </a:pPr>
            <a:r>
              <a:rPr sz="1000" b="1" i="0">
                <a:solidFill>
                  <a:srgbClr val="028090"/>
                </a:solidFill>
                <a:latin typeface="DejaVu Sans"/>
              </a:rPr>
              <a:t>НЕ ИЗМЕРЕНИЯ</a:t>
            </a:r>
          </a:p>
        </p:txBody>
      </p:sp>
      <p:sp>
        <p:nvSpPr>
          <p:cNvPr id="12" name="TextBox 11"/>
          <p:cNvSpPr txBox="1"/>
          <p:nvPr/>
        </p:nvSpPr>
        <p:spPr>
          <a:xfrm>
            <a:off x="6327648" y="2944368"/>
            <a:ext cx="5175504" cy="173736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Модель была откалибрована корректно — на исторически стабильных данных. Не было другого: наблюдения за точностью в реальном времени и автоматической остановки при её падении.</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Вернитесь к двум окнам: у Zillow не было ни одного. Короткого — резкий рост ошибки прошёл незамеченным. Длинного — квартальная отчётность есть, но окном наблюдения отчёт раз в три месяца не работает: это исторический архив, дома уже куплены.</a:t>
            </a:r>
          </a:p>
        </p:txBody>
      </p:sp>
      <p:sp>
        <p:nvSpPr>
          <p:cNvPr id="13" name="Rounded Rectangle 12"/>
          <p:cNvSpPr/>
          <p:nvPr/>
        </p:nvSpPr>
        <p:spPr>
          <a:xfrm>
            <a:off x="502920" y="4919472"/>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974336"/>
            <a:ext cx="10762488"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Альтернатива: алгоритмическая оценка как вход, а решение выше порога риска — за человеком.</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Годовой отчёт Zillow Group за 2021 год (форма 10-K)</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Air Canada: чат-бот пообещал скидку, которой нет — платит компания</a:t>
            </a:r>
          </a:p>
        </p:txBody>
      </p:sp>
      <p:sp>
        <p:nvSpPr>
          <p:cNvPr id="3" name="Rounded Rectangle 2"/>
          <p:cNvSpPr/>
          <p:nvPr/>
        </p:nvSpPr>
        <p:spPr>
          <a:xfrm>
            <a:off x="502920" y="896112"/>
            <a:ext cx="11201400" cy="1335024"/>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93268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 ноябре 2022 года чат-бот на сайте Air Canada сообщил клиенту, что тариф по случаю утраты близкого можно оформить ретроактивно в течение 90 дней. Действующая политика компании этого не допускала. Клиент купил билеты по полной цене, а в скидке ему затем отказали. В феврале 2024 года трибунал Британской Колумбии взыскал с компании </a:t>
            </a:r>
            <a:r>
              <a:rPr sz="1150" b="1" i="0">
                <a:solidFill>
                  <a:srgbClr val="21295C"/>
                </a:solidFill>
                <a:latin typeface="DejaVu Sans"/>
              </a:rPr>
              <a:t>812,02 канадского доллара</a:t>
            </a:r>
            <a:r>
              <a:rPr sz="1150" b="0" i="0">
                <a:solidFill>
                  <a:srgbClr val="21295C"/>
                </a:solidFill>
                <a:latin typeface="DejaVu Sans"/>
              </a:rPr>
              <a:t> — разницу в цене билетов, проценты и пошлину.</a:t>
            </a:r>
          </a:p>
        </p:txBody>
      </p:sp>
      <p:sp>
        <p:nvSpPr>
          <p:cNvPr id="6" name="Rounded Rectangle 5"/>
          <p:cNvSpPr/>
          <p:nvPr/>
        </p:nvSpPr>
        <p:spPr>
          <a:xfrm>
            <a:off x="502920" y="2340864"/>
            <a:ext cx="4206240" cy="2414016"/>
          </a:xfrm>
          <a:prstGeom prst="roundRect">
            <a:avLst>
              <a:gd name="adj" fmla="val 1262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414016"/>
            <a:ext cx="3803904" cy="219456"/>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РАЗОШЛОСЬ</a:t>
            </a:r>
          </a:p>
        </p:txBody>
      </p:sp>
      <p:sp>
        <p:nvSpPr>
          <p:cNvPr id="8" name="Rounded Rectangle 7"/>
          <p:cNvSpPr/>
          <p:nvPr/>
        </p:nvSpPr>
        <p:spPr>
          <a:xfrm>
            <a:off x="704088" y="2688336"/>
            <a:ext cx="3803904" cy="932688"/>
          </a:xfrm>
          <a:prstGeom prst="roundRect">
            <a:avLst>
              <a:gd name="adj" fmla="val 10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734056"/>
            <a:ext cx="3547872" cy="219456"/>
          </a:xfrm>
          <a:prstGeom prst="rect">
            <a:avLst/>
          </a:prstGeom>
          <a:noFill/>
        </p:spPr>
        <p:txBody>
          <a:bodyPr wrap="square" lIns="0" rIns="0" tIns="0" bIns="0" anchor="t">
            <a:spAutoFit/>
          </a:bodyPr>
          <a:lstStyle/>
          <a:p>
            <a:pPr algn="l">
              <a:lnSpc>
                <a:spcPct val="115000"/>
              </a:lnSpc>
            </a:pPr>
            <a:r>
              <a:rPr sz="1000" b="1" i="0">
                <a:solidFill>
                  <a:srgbClr val="1C7293"/>
                </a:solidFill>
                <a:latin typeface="DejaVu Sans"/>
              </a:rPr>
              <a:t>Ответил чат-бот</a:t>
            </a:r>
          </a:p>
        </p:txBody>
      </p:sp>
      <p:sp>
        <p:nvSpPr>
          <p:cNvPr id="10" name="TextBox 9"/>
          <p:cNvSpPr txBox="1"/>
          <p:nvPr/>
        </p:nvSpPr>
        <p:spPr>
          <a:xfrm>
            <a:off x="832104" y="2971800"/>
            <a:ext cx="3547872" cy="603504"/>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«Купите билет по полной цене, а скидку по тарифу на случай утраты близкого запросите в течение 90 дней».</a:t>
            </a:r>
          </a:p>
        </p:txBody>
      </p:sp>
      <p:sp>
        <p:nvSpPr>
          <p:cNvPr id="11" name="TextBox 10"/>
          <p:cNvSpPr txBox="1"/>
          <p:nvPr/>
        </p:nvSpPr>
        <p:spPr>
          <a:xfrm>
            <a:off x="704088" y="3675887"/>
            <a:ext cx="3803904" cy="219456"/>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а на соседней странице того же сайта</a:t>
            </a:r>
          </a:p>
        </p:txBody>
      </p:sp>
      <p:sp>
        <p:nvSpPr>
          <p:cNvPr id="12" name="Rounded Rectangle 11"/>
          <p:cNvSpPr/>
          <p:nvPr/>
        </p:nvSpPr>
        <p:spPr>
          <a:xfrm>
            <a:off x="704088" y="3913632"/>
            <a:ext cx="3803904" cy="768096"/>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3959352"/>
            <a:ext cx="3547872" cy="219456"/>
          </a:xfrm>
          <a:prstGeom prst="rect">
            <a:avLst/>
          </a:prstGeom>
          <a:noFill/>
        </p:spPr>
        <p:txBody>
          <a:bodyPr wrap="square" lIns="0" rIns="0" tIns="0" bIns="0" anchor="t">
            <a:spAutoFit/>
          </a:bodyPr>
          <a:lstStyle/>
          <a:p>
            <a:pPr algn="l">
              <a:lnSpc>
                <a:spcPct val="115000"/>
              </a:lnSpc>
            </a:pPr>
            <a:r>
              <a:rPr sz="1000" b="1" i="0">
                <a:solidFill>
                  <a:srgbClr val="21295C"/>
                </a:solidFill>
                <a:latin typeface="DejaVu Sans"/>
              </a:rPr>
              <a:t>Действующая политика компании</a:t>
            </a:r>
          </a:p>
        </p:txBody>
      </p:sp>
      <p:sp>
        <p:nvSpPr>
          <p:cNvPr id="14" name="TextBox 13"/>
          <p:cNvSpPr txBox="1"/>
          <p:nvPr/>
        </p:nvSpPr>
        <p:spPr>
          <a:xfrm>
            <a:off x="832104" y="4197096"/>
            <a:ext cx="3547872" cy="438912"/>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Тариф не применяется к уже состоявшейся поездке — задним числом его не оформляют.</a:t>
            </a:r>
          </a:p>
        </p:txBody>
      </p:sp>
      <p:sp>
        <p:nvSpPr>
          <p:cNvPr id="15" name="Rounded Rectangle 14"/>
          <p:cNvSpPr/>
          <p:nvPr/>
        </p:nvSpPr>
        <p:spPr>
          <a:xfrm>
            <a:off x="4892040" y="2340864"/>
            <a:ext cx="6812280" cy="2414016"/>
          </a:xfrm>
          <a:prstGeom prst="roundRect">
            <a:avLst>
              <a:gd name="adj" fmla="val 1262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93208" y="2414016"/>
            <a:ext cx="6409944" cy="219456"/>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17" name="TextBox 16"/>
          <p:cNvSpPr txBox="1"/>
          <p:nvPr/>
        </p:nvSpPr>
        <p:spPr>
          <a:xfrm>
            <a:off x="5093208" y="2651760"/>
            <a:ext cx="6409944" cy="2029968"/>
          </a:xfrm>
          <a:prstGeom prst="rect">
            <a:avLst/>
          </a:prstGeom>
          <a:noFill/>
        </p:spPr>
        <p:txBody>
          <a:bodyPr wrap="square" lIns="0" rIns="0" tIns="0" bIns="0" anchor="t">
            <a:spAutoFit/>
          </a:bodyPr>
          <a:lstStyle/>
          <a:p>
            <a:pPr algn="l">
              <a:lnSpc>
                <a:spcPct val="112000"/>
              </a:lnSpc>
            </a:pPr>
            <a:r>
              <a:rPr sz="1060" b="0" i="0">
                <a:solidFill>
                  <a:srgbClr val="21295C"/>
                </a:solidFill>
                <a:latin typeface="DejaVu Sans"/>
              </a:rPr>
              <a:t>Защита: чат-бот — отдельное юридическое лицо, отвечающее за свои действия само. Трибунал назвал это примечательным заявлением и отклонил: компания отвечает за всю информацию на своём сайте, исходит ли она из статичной страницы или из чат-бота.</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Операционная причина: не было процесса, который сверяет базу знаний бота с действующей политикой. Содержимое поддержки жило отдельно от единого источника правды.</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Сумма маленькая — цена двух билетов. Тем чище прецедент.</a:t>
            </a:r>
          </a:p>
        </p:txBody>
      </p:sp>
      <p:sp>
        <p:nvSpPr>
          <p:cNvPr id="18" name="Rounded Rectangle 17"/>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Вы владеете каждым ответом бота — не больше, но и ни на грамм меньше ответственности, чем за любые другие сведения на сайте. «Бот ошибся» защитой не является.</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Решение трибунала Британской Колумбии по делу Моффатт против Air Canada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Американская ассоциация юристов — комментарий к делу</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Нью-Йорк: городской бот 10 раз из 10 посоветовал нарушить закон</a:t>
            </a:r>
          </a:p>
        </p:txBody>
      </p:sp>
      <p:sp>
        <p:nvSpPr>
          <p:cNvPr id="3" name="Rounded Rectangle 2"/>
          <p:cNvSpPr/>
          <p:nvPr/>
        </p:nvSpPr>
        <p:spPr>
          <a:xfrm>
            <a:off x="502920" y="896112"/>
            <a:ext cx="1120140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12070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Город Нью-Йорк выпустил чат-бот для владельцев малого бизнеса — отвечать на вопросы о городских правилах. В марте 2024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это противоречит действующим нормам, и совет давался уверенно, в форме инструкции. Все </a:t>
            </a:r>
            <a:r>
              <a:rPr sz="1150" b="1" i="0">
                <a:solidFill>
                  <a:srgbClr val="21295C"/>
                </a:solidFill>
                <a:latin typeface="DejaVu Sans"/>
              </a:rPr>
              <a:t>10 из 10</a:t>
            </a:r>
            <a:r>
              <a:rPr sz="1150" b="0" i="0">
                <a:solidFill>
                  <a:srgbClr val="21295C"/>
                </a:solidFill>
                <a:latin typeface="DejaVu Sans"/>
              </a:rPr>
              <a:t> задавших вопрос журналистов получили один и тот же неверный ответ. Мэр города признал ошибки и бот с публикации не снял, хотя технически отключить его было возможно.</a:t>
            </a:r>
          </a:p>
        </p:txBody>
      </p:sp>
      <p:sp>
        <p:nvSpPr>
          <p:cNvPr id="6" name="Rounded Rectangle 5"/>
          <p:cNvSpPr/>
          <p:nvPr/>
        </p:nvSpPr>
        <p:spPr>
          <a:xfrm>
            <a:off x="502920" y="2615184"/>
            <a:ext cx="5532120" cy="2212848"/>
          </a:xfrm>
          <a:prstGeom prst="roundRect">
            <a:avLst>
              <a:gd name="adj" fmla="val 13774"/>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2724912"/>
            <a:ext cx="1024128" cy="102412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2-nyc-real-source.png"/>
          <p:cNvPicPr>
            <a:picLocks noChangeAspect="1"/>
          </p:cNvPicPr>
          <p:nvPr/>
        </p:nvPicPr>
        <p:blipFill>
          <a:blip r:embed="rId2"/>
          <a:stretch>
            <a:fillRect/>
          </a:stretch>
        </p:blipFill>
        <p:spPr>
          <a:xfrm>
            <a:off x="772252" y="2779776"/>
            <a:ext cx="851223" cy="914400"/>
          </a:xfrm>
          <a:prstGeom prst="rect">
            <a:avLst/>
          </a:prstGeom>
        </p:spPr>
      </p:pic>
      <p:sp>
        <p:nvSpPr>
          <p:cNvPr id="9" name="TextBox 8"/>
          <p:cNvSpPr txBox="1"/>
          <p:nvPr/>
        </p:nvSpPr>
        <p:spPr>
          <a:xfrm>
            <a:off x="1847088" y="2724912"/>
            <a:ext cx="3986784" cy="1024128"/>
          </a:xfrm>
          <a:prstGeom prst="rect">
            <a:avLst/>
          </a:prstGeom>
          <a:noFill/>
        </p:spPr>
        <p:txBody>
          <a:bodyPr wrap="square" lIns="0" rIns="0" tIns="0" bIns="0" anchor="ctr">
            <a:spAutoFit/>
          </a:bodyPr>
          <a:lstStyle/>
          <a:p>
            <a:pPr algn="l">
              <a:lnSpc>
                <a:spcPct val="116000"/>
              </a:lnSpc>
            </a:pPr>
            <a:r>
              <a:rPr sz="1150" b="1" i="0">
                <a:solidFill>
                  <a:srgbClr val="21295C"/>
                </a:solidFill>
                <a:latin typeface="DejaVu Sans"/>
              </a:rPr>
              <a:t>Один и тот же вопрос — десять раз. Один и тот же незаконный ответ — десять раз.</a:t>
            </a:r>
          </a:p>
        </p:txBody>
      </p:sp>
      <p:pic>
        <p:nvPicPr>
          <p:cNvPr id="10" name="Picture 9" descr="user-x-gold.png"/>
          <p:cNvPicPr>
            <a:picLocks noChangeAspect="1"/>
          </p:cNvPicPr>
          <p:nvPr/>
        </p:nvPicPr>
        <p:blipFill>
          <a:blip r:embed="rId3"/>
          <a:stretch>
            <a:fillRect/>
          </a:stretch>
        </p:blipFill>
        <p:spPr>
          <a:xfrm>
            <a:off x="731520" y="3822191"/>
            <a:ext cx="329184" cy="329184"/>
          </a:xfrm>
          <a:prstGeom prst="rect">
            <a:avLst/>
          </a:prstGeom>
        </p:spPr>
      </p:pic>
      <p:pic>
        <p:nvPicPr>
          <p:cNvPr id="11" name="Picture 10" descr="user-x-gold.png"/>
          <p:cNvPicPr>
            <a:picLocks noChangeAspect="1"/>
          </p:cNvPicPr>
          <p:nvPr/>
        </p:nvPicPr>
        <p:blipFill>
          <a:blip r:embed="rId3"/>
          <a:stretch>
            <a:fillRect/>
          </a:stretch>
        </p:blipFill>
        <p:spPr>
          <a:xfrm>
            <a:off x="1773936" y="3822191"/>
            <a:ext cx="329184" cy="329184"/>
          </a:xfrm>
          <a:prstGeom prst="rect">
            <a:avLst/>
          </a:prstGeom>
        </p:spPr>
      </p:pic>
      <p:pic>
        <p:nvPicPr>
          <p:cNvPr id="12" name="Picture 11" descr="user-x-gold.png"/>
          <p:cNvPicPr>
            <a:picLocks noChangeAspect="1"/>
          </p:cNvPicPr>
          <p:nvPr/>
        </p:nvPicPr>
        <p:blipFill>
          <a:blip r:embed="rId3"/>
          <a:stretch>
            <a:fillRect/>
          </a:stretch>
        </p:blipFill>
        <p:spPr>
          <a:xfrm>
            <a:off x="2816352" y="3822191"/>
            <a:ext cx="329184" cy="329184"/>
          </a:xfrm>
          <a:prstGeom prst="rect">
            <a:avLst/>
          </a:prstGeom>
        </p:spPr>
      </p:pic>
      <p:pic>
        <p:nvPicPr>
          <p:cNvPr id="13" name="Picture 12" descr="user-x-gold.png"/>
          <p:cNvPicPr>
            <a:picLocks noChangeAspect="1"/>
          </p:cNvPicPr>
          <p:nvPr/>
        </p:nvPicPr>
        <p:blipFill>
          <a:blip r:embed="rId3"/>
          <a:stretch>
            <a:fillRect/>
          </a:stretch>
        </p:blipFill>
        <p:spPr>
          <a:xfrm>
            <a:off x="3858768" y="3822191"/>
            <a:ext cx="329184" cy="329184"/>
          </a:xfrm>
          <a:prstGeom prst="rect">
            <a:avLst/>
          </a:prstGeom>
        </p:spPr>
      </p:pic>
      <p:pic>
        <p:nvPicPr>
          <p:cNvPr id="14" name="Picture 13" descr="user-x-gold.png"/>
          <p:cNvPicPr>
            <a:picLocks noChangeAspect="1"/>
          </p:cNvPicPr>
          <p:nvPr/>
        </p:nvPicPr>
        <p:blipFill>
          <a:blip r:embed="rId3"/>
          <a:stretch>
            <a:fillRect/>
          </a:stretch>
        </p:blipFill>
        <p:spPr>
          <a:xfrm>
            <a:off x="4901183" y="3822191"/>
            <a:ext cx="329184" cy="329184"/>
          </a:xfrm>
          <a:prstGeom prst="rect">
            <a:avLst/>
          </a:prstGeom>
        </p:spPr>
      </p:pic>
      <p:pic>
        <p:nvPicPr>
          <p:cNvPr id="15" name="Picture 14" descr="user-x-gold.png"/>
          <p:cNvPicPr>
            <a:picLocks noChangeAspect="1"/>
          </p:cNvPicPr>
          <p:nvPr/>
        </p:nvPicPr>
        <p:blipFill>
          <a:blip r:embed="rId3"/>
          <a:stretch>
            <a:fillRect/>
          </a:stretch>
        </p:blipFill>
        <p:spPr>
          <a:xfrm>
            <a:off x="731520" y="4206240"/>
            <a:ext cx="329184" cy="329184"/>
          </a:xfrm>
          <a:prstGeom prst="rect">
            <a:avLst/>
          </a:prstGeom>
        </p:spPr>
      </p:pic>
      <p:pic>
        <p:nvPicPr>
          <p:cNvPr id="16" name="Picture 15" descr="user-x-gold.png"/>
          <p:cNvPicPr>
            <a:picLocks noChangeAspect="1"/>
          </p:cNvPicPr>
          <p:nvPr/>
        </p:nvPicPr>
        <p:blipFill>
          <a:blip r:embed="rId3"/>
          <a:stretch>
            <a:fillRect/>
          </a:stretch>
        </p:blipFill>
        <p:spPr>
          <a:xfrm>
            <a:off x="1773936" y="4206240"/>
            <a:ext cx="329184" cy="329184"/>
          </a:xfrm>
          <a:prstGeom prst="rect">
            <a:avLst/>
          </a:prstGeom>
        </p:spPr>
      </p:pic>
      <p:pic>
        <p:nvPicPr>
          <p:cNvPr id="17" name="Picture 16" descr="user-x-gold.png"/>
          <p:cNvPicPr>
            <a:picLocks noChangeAspect="1"/>
          </p:cNvPicPr>
          <p:nvPr/>
        </p:nvPicPr>
        <p:blipFill>
          <a:blip r:embed="rId3"/>
          <a:stretch>
            <a:fillRect/>
          </a:stretch>
        </p:blipFill>
        <p:spPr>
          <a:xfrm>
            <a:off x="2816352" y="4206240"/>
            <a:ext cx="329184" cy="329184"/>
          </a:xfrm>
          <a:prstGeom prst="rect">
            <a:avLst/>
          </a:prstGeom>
        </p:spPr>
      </p:pic>
      <p:pic>
        <p:nvPicPr>
          <p:cNvPr id="18" name="Picture 17" descr="user-x-gold.png"/>
          <p:cNvPicPr>
            <a:picLocks noChangeAspect="1"/>
          </p:cNvPicPr>
          <p:nvPr/>
        </p:nvPicPr>
        <p:blipFill>
          <a:blip r:embed="rId3"/>
          <a:stretch>
            <a:fillRect/>
          </a:stretch>
        </p:blipFill>
        <p:spPr>
          <a:xfrm>
            <a:off x="3858768" y="4206240"/>
            <a:ext cx="329184" cy="329184"/>
          </a:xfrm>
          <a:prstGeom prst="rect">
            <a:avLst/>
          </a:prstGeom>
        </p:spPr>
      </p:pic>
      <p:pic>
        <p:nvPicPr>
          <p:cNvPr id="19" name="Picture 18" descr="user-x-gold.png"/>
          <p:cNvPicPr>
            <a:picLocks noChangeAspect="1"/>
          </p:cNvPicPr>
          <p:nvPr/>
        </p:nvPicPr>
        <p:blipFill>
          <a:blip r:embed="rId3"/>
          <a:stretch>
            <a:fillRect/>
          </a:stretch>
        </p:blipFill>
        <p:spPr>
          <a:xfrm>
            <a:off x="4901183" y="4206240"/>
            <a:ext cx="329184" cy="329184"/>
          </a:xfrm>
          <a:prstGeom prst="rect">
            <a:avLst/>
          </a:prstGeom>
        </p:spPr>
      </p:pic>
      <p:sp>
        <p:nvSpPr>
          <p:cNvPr id="20" name="TextBox 19"/>
          <p:cNvSpPr txBox="1"/>
          <p:nvPr/>
        </p:nvSpPr>
        <p:spPr>
          <a:xfrm>
            <a:off x="713232" y="4590288"/>
            <a:ext cx="5120640" cy="219456"/>
          </a:xfrm>
          <a:prstGeom prst="rect">
            <a:avLst/>
          </a:prstGeom>
          <a:noFill/>
        </p:spPr>
        <p:txBody>
          <a:bodyPr wrap="square" lIns="0" rIns="0" tIns="0" bIns="0" anchor="t">
            <a:spAutoFit/>
          </a:bodyPr>
          <a:lstStyle/>
          <a:p>
            <a:pPr algn="l">
              <a:lnSpc>
                <a:spcPct val="100000"/>
              </a:lnSpc>
            </a:pPr>
            <a:r>
              <a:rPr sz="880" b="0" i="1">
                <a:solidFill>
                  <a:srgbClr val="5B6678"/>
                </a:solidFill>
                <a:latin typeface="DejaVu Sans"/>
              </a:rPr>
              <a:t>десять спросивших — десять одинаковых советов нарушить закон</a:t>
            </a:r>
          </a:p>
        </p:txBody>
      </p:sp>
      <p:sp>
        <p:nvSpPr>
          <p:cNvPr id="21" name="Rounded Rectangle 20"/>
          <p:cNvSpPr/>
          <p:nvPr/>
        </p:nvSpPr>
        <p:spPr>
          <a:xfrm>
            <a:off x="6217920" y="2615184"/>
            <a:ext cx="5486400" cy="2212848"/>
          </a:xfrm>
          <a:prstGeom prst="roundRect">
            <a:avLst>
              <a:gd name="adj" fmla="val 1377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2706624"/>
            <a:ext cx="5084064" cy="237744"/>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23" name="TextBox 22"/>
          <p:cNvSpPr txBox="1"/>
          <p:nvPr/>
        </p:nvSpPr>
        <p:spPr>
          <a:xfrm>
            <a:off x="6419088" y="2980944"/>
            <a:ext cx="5084064" cy="17556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Класс события меняет повторяемость ответов. Единичная ошибка — повод для правки. Десять одинаковых ответов на десять одинаковых вопросов — свойство системы, воспроизводимое по команде.</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Решение продолжить итерации приняли после того, как воспроизводимость показали публично. Это и есть разбираемая ошибка: данные были, реакция осталась прежней.</a:t>
            </a:r>
          </a:p>
        </p:txBody>
      </p:sp>
      <p:sp>
        <p:nvSpPr>
          <p:cNvPr id="24" name="Rounded Rectangle 23"/>
          <p:cNvSpPr/>
          <p:nvPr/>
        </p:nvSpPr>
        <p:spPr>
          <a:xfrm>
            <a:off x="502920" y="4974336"/>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29200"/>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воспроизводимый вредный ответ требует аварийного выключателя. Следующая итерация подождёт. Порог формулируется числом заранее — иначе в момент, когда его надо применить, он обсуждается заново и проигрывает желанию «доработать».</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The Markup (29 марта 2024) — городской чат-бот Нью-Йорка</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Во что вкладывать дальше — и что пора закрыть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может работать и всё равно не окупаться. Здесь решают, какие инициативы финансировать дальше, а какие остановить — и почему у ИИ-продукта это считается иначе.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Зачем нужен этот шаг: решить, что финансировать дальше, а что закрыть</a:t>
            </a:r>
          </a:p>
        </p:txBody>
      </p:sp>
      <p:sp>
        <p:nvSpPr>
          <p:cNvPr id="3" name="Rounded Rectangle 2"/>
          <p:cNvSpPr/>
          <p:nvPr/>
        </p:nvSpPr>
        <p:spPr>
          <a:xfrm>
            <a:off x="502920" y="804672"/>
            <a:ext cx="4434840" cy="4279392"/>
          </a:xfrm>
          <a:prstGeom prst="roundRect">
            <a:avLst>
              <a:gd name="adj" fmla="val 7122"/>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14400"/>
            <a:ext cx="40233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ЗДЕСЬ РЕШАЮТ</a:t>
            </a:r>
          </a:p>
        </p:txBody>
      </p:sp>
      <p:sp>
        <p:nvSpPr>
          <p:cNvPr id="5" name="TextBox 4"/>
          <p:cNvSpPr txBox="1"/>
          <p:nvPr/>
        </p:nvSpPr>
        <p:spPr>
          <a:xfrm>
            <a:off x="713232" y="1188720"/>
            <a:ext cx="4023360" cy="274320"/>
          </a:xfrm>
          <a:prstGeom prst="rect">
            <a:avLst/>
          </a:prstGeom>
          <a:noFill/>
        </p:spPr>
        <p:txBody>
          <a:bodyPr wrap="square" lIns="0" rIns="0" tIns="0" bIns="0" anchor="t">
            <a:spAutoFit/>
          </a:bodyPr>
          <a:lstStyle/>
          <a:p>
            <a:pPr algn="l">
              <a:lnSpc>
                <a:spcPct val="100000"/>
              </a:lnSpc>
            </a:pPr>
            <a:r>
              <a:rPr sz="1019" b="0" i="1">
                <a:solidFill>
                  <a:srgbClr val="5B6678"/>
                </a:solidFill>
                <a:latin typeface="DejaVu Sans"/>
              </a:rPr>
              <a:t>Отбор инициатив: много на входе — финансируют немногие</a:t>
            </a:r>
          </a:p>
        </p:txBody>
      </p:sp>
      <p:sp>
        <p:nvSpPr>
          <p:cNvPr id="6" name="Rounded Rectangle 5"/>
          <p:cNvSpPr/>
          <p:nvPr/>
        </p:nvSpPr>
        <p:spPr>
          <a:xfrm>
            <a:off x="754380" y="1536192"/>
            <a:ext cx="3931920" cy="402336"/>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4380" y="1536192"/>
            <a:ext cx="393192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десятки инициатив</a:t>
            </a:r>
          </a:p>
        </p:txBody>
      </p:sp>
      <p:sp>
        <p:nvSpPr>
          <p:cNvPr id="8" name="Rounded Rectangle 7"/>
          <p:cNvSpPr/>
          <p:nvPr/>
        </p:nvSpPr>
        <p:spPr>
          <a:xfrm>
            <a:off x="1142999" y="2029967"/>
            <a:ext cx="3154680" cy="402336"/>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2999" y="2029967"/>
            <a:ext cx="315468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первое решение</a:t>
            </a:r>
          </a:p>
        </p:txBody>
      </p:sp>
      <p:sp>
        <p:nvSpPr>
          <p:cNvPr id="10" name="Rounded Rectangle 9"/>
          <p:cNvSpPr/>
          <p:nvPr/>
        </p:nvSpPr>
        <p:spPr>
          <a:xfrm>
            <a:off x="1508760" y="2523744"/>
            <a:ext cx="2423160" cy="402336"/>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08760" y="2523744"/>
            <a:ext cx="242316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второе решение</a:t>
            </a:r>
          </a:p>
        </p:txBody>
      </p:sp>
      <p:sp>
        <p:nvSpPr>
          <p:cNvPr id="12" name="Rounded Rectangle 11"/>
          <p:cNvSpPr/>
          <p:nvPr/>
        </p:nvSpPr>
        <p:spPr>
          <a:xfrm>
            <a:off x="1760219" y="3017520"/>
            <a:ext cx="1920240" cy="402336"/>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60219" y="3017520"/>
            <a:ext cx="192024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финансируют</a:t>
            </a:r>
          </a:p>
        </p:txBody>
      </p:sp>
      <p:sp>
        <p:nvSpPr>
          <p:cNvPr id="14" name="TextBox 13"/>
          <p:cNvSpPr txBox="1"/>
          <p:nvPr/>
        </p:nvSpPr>
        <p:spPr>
          <a:xfrm>
            <a:off x="713232" y="3566160"/>
            <a:ext cx="40233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БУДЕТ, ЕСЛИ НЕ РЕШАТЬ</a:t>
            </a:r>
          </a:p>
        </p:txBody>
      </p:sp>
      <p:sp>
        <p:nvSpPr>
          <p:cNvPr id="15" name="TextBox 14"/>
          <p:cNvSpPr txBox="1"/>
          <p:nvPr/>
        </p:nvSpPr>
        <p:spPr>
          <a:xfrm>
            <a:off x="713232" y="3840480"/>
            <a:ext cx="4014215" cy="1188720"/>
          </a:xfrm>
          <a:prstGeom prst="rect">
            <a:avLst/>
          </a:prstGeom>
          <a:noFill/>
        </p:spPr>
        <p:txBody>
          <a:bodyPr wrap="square" lIns="0" rIns="0" tIns="0" bIns="0" anchor="t">
            <a:spAutoFit/>
          </a:bodyPr>
          <a:lstStyle/>
          <a:p>
            <a:pPr algn="l">
              <a:lnSpc>
                <a:spcPct val="114000"/>
              </a:lnSpc>
            </a:pPr>
            <a:r>
              <a:rPr sz="1019" b="0" i="0">
                <a:solidFill>
                  <a:srgbClr val="21295C"/>
                </a:solidFill>
                <a:latin typeface="DejaVu Sans"/>
              </a:rPr>
              <a:t>Инициатива, которую никто не закрыл, продолжает тратить людей и деньги, не показывая результата. </a:t>
            </a:r>
            <a:r>
              <a:rPr sz="1019" b="1" i="0">
                <a:solidFill>
                  <a:srgbClr val="065A82"/>
                </a:solidFill>
                <a:latin typeface="DejaVu Sans"/>
              </a:rPr>
              <a:t>Deloitte, 2026:</a:t>
            </a:r>
            <a:r>
              <a:rPr sz="1019" b="0" i="0">
                <a:solidFill>
                  <a:srgbClr val="21295C"/>
                </a:solidFill>
                <a:latin typeface="DejaVu Sans"/>
              </a:rPr>
              <a:t> 42% технологических руководителей сообщают о низком или нулевом возврате вложенного. </a:t>
            </a:r>
            <a:r>
              <a:rPr sz="1019" b="1" i="0">
                <a:solidFill>
                  <a:srgbClr val="065A82"/>
                </a:solidFill>
                <a:latin typeface="DejaVu Sans"/>
              </a:rPr>
              <a:t>Boston Consulting Group, январь 2026</a:t>
            </a:r>
            <a:r>
              <a:rPr sz="1019" b="0" i="0">
                <a:solidFill>
                  <a:srgbClr val="21295C"/>
                </a:solidFill>
                <a:latin typeface="DejaVu Sans"/>
              </a:rPr>
              <a:t> (2 360 руководителей): измеримую отдачу — снижение расходов или рост выручки — видят 6% компаний.</a:t>
            </a:r>
          </a:p>
        </p:txBody>
      </p:sp>
      <p:sp>
        <p:nvSpPr>
          <p:cNvPr id="16" name="Rounded Rectangle 15"/>
          <p:cNvSpPr/>
          <p:nvPr/>
        </p:nvSpPr>
        <p:spPr>
          <a:xfrm>
            <a:off x="5120640" y="804672"/>
            <a:ext cx="6583680" cy="4279392"/>
          </a:xfrm>
          <a:prstGeom prst="roundRect">
            <a:avLst>
              <a:gd name="adj" fmla="val 712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30952" y="914400"/>
            <a:ext cx="6163056"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ЗАТРАТЫ РАСТУТ ВМЕСТЕ С МАСШТАБОМ — ВСЕГДА</a:t>
            </a:r>
          </a:p>
        </p:txBody>
      </p:sp>
      <p:sp>
        <p:nvSpPr>
          <p:cNvPr id="18" name="Rounded Rectangle 17"/>
          <p:cNvSpPr/>
          <p:nvPr/>
        </p:nvSpPr>
        <p:spPr>
          <a:xfrm>
            <a:off x="5349240" y="1207008"/>
            <a:ext cx="6126480" cy="2121408"/>
          </a:xfrm>
          <a:prstGeom prst="roundRect">
            <a:avLst>
              <a:gd name="adj" fmla="val 7183"/>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5733288" y="2724912"/>
            <a:ext cx="5422392" cy="0"/>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733288" y="1280160"/>
            <a:ext cx="0" cy="1444752"/>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733288" y="2558125"/>
            <a:ext cx="785926" cy="111191"/>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519214" y="2280147"/>
            <a:ext cx="0" cy="277978"/>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519214" y="2141159"/>
            <a:ext cx="1362273" cy="138988"/>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7881487" y="1849282"/>
            <a:ext cx="0" cy="291877"/>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7881487" y="1724192"/>
            <a:ext cx="1362274" cy="12509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243761" y="1446215"/>
            <a:ext cx="0" cy="277977"/>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243761" y="1376720"/>
            <a:ext cx="1729039" cy="69495"/>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870448" y="1316736"/>
            <a:ext cx="2468880" cy="256032"/>
          </a:xfrm>
          <a:prstGeom prst="rect">
            <a:avLst/>
          </a:prstGeom>
          <a:noFill/>
        </p:spPr>
        <p:txBody>
          <a:bodyPr wrap="square" lIns="0" rIns="0" tIns="0" bIns="0" anchor="t">
            <a:spAutoFit/>
          </a:bodyPr>
          <a:lstStyle/>
          <a:p>
            <a:pPr algn="l">
              <a:lnSpc>
                <a:spcPct val="100000"/>
              </a:lnSpc>
            </a:pPr>
            <a:r>
              <a:rPr sz="950" b="1" i="0">
                <a:solidFill>
                  <a:srgbClr val="F0AB00"/>
                </a:solidFill>
                <a:latin typeface="DejaVu Sans"/>
              </a:rPr>
              <a:t>совокупный расход</a:t>
            </a:r>
          </a:p>
        </p:txBody>
      </p:sp>
      <p:sp>
        <p:nvSpPr>
          <p:cNvPr id="29" name="Oval 28"/>
          <p:cNvSpPr/>
          <p:nvPr/>
        </p:nvSpPr>
        <p:spPr>
          <a:xfrm>
            <a:off x="6427774" y="2188707"/>
            <a:ext cx="182880" cy="182880"/>
          </a:xfrm>
          <a:prstGeom prst="ellipse">
            <a:avLst/>
          </a:prstGeom>
          <a:solidFill>
            <a:srgbClr val="F0AB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7774" y="2188707"/>
            <a:ext cx="182880" cy="18288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a:t>
            </a:r>
          </a:p>
        </p:txBody>
      </p:sp>
      <p:sp>
        <p:nvSpPr>
          <p:cNvPr id="31" name="TextBox 30"/>
          <p:cNvSpPr txBox="1"/>
          <p:nvPr/>
        </p:nvSpPr>
        <p:spPr>
          <a:xfrm>
            <a:off x="5856274" y="2779776"/>
            <a:ext cx="1325880" cy="457200"/>
          </a:xfrm>
          <a:prstGeom prst="rect">
            <a:avLst/>
          </a:prstGeom>
          <a:noFill/>
        </p:spPr>
        <p:txBody>
          <a:bodyPr wrap="square" lIns="0" rIns="0" tIns="0" bIns="0" anchor="t">
            <a:spAutoFit/>
          </a:bodyPr>
          <a:lstStyle/>
          <a:p>
            <a:pPr algn="ctr">
              <a:lnSpc>
                <a:spcPct val="104000"/>
              </a:lnSpc>
            </a:pPr>
            <a:r>
              <a:rPr sz="800" b="1" i="0">
                <a:solidFill>
                  <a:srgbClr val="065A82"/>
                </a:solidFill>
                <a:latin typeface="DejaVu Sans"/>
              </a:rPr>
              <a:t>подсказки</a:t>
            </a:r>
          </a:p>
          <a:p>
            <a:pPr algn="ctr">
              <a:lnSpc>
                <a:spcPct val="104000"/>
              </a:lnSpc>
            </a:pPr>
            <a:r>
              <a:rPr sz="800" b="1" i="0">
                <a:solidFill>
                  <a:srgbClr val="065A82"/>
                </a:solidFill>
                <a:latin typeface="DejaVu Sans"/>
              </a:rPr>
              <a:t>в поиске</a:t>
            </a:r>
          </a:p>
        </p:txBody>
      </p:sp>
      <p:sp>
        <p:nvSpPr>
          <p:cNvPr id="32" name="Oval 31"/>
          <p:cNvSpPr/>
          <p:nvPr/>
        </p:nvSpPr>
        <p:spPr>
          <a:xfrm>
            <a:off x="7790047" y="1757842"/>
            <a:ext cx="182880" cy="182880"/>
          </a:xfrm>
          <a:prstGeom prst="ellipse">
            <a:avLst/>
          </a:prstGeom>
          <a:solidFill>
            <a:srgbClr val="F0AB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90047" y="1757842"/>
            <a:ext cx="182880" cy="18288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a:t>
            </a:r>
          </a:p>
        </p:txBody>
      </p:sp>
      <p:sp>
        <p:nvSpPr>
          <p:cNvPr id="34" name="TextBox 33"/>
          <p:cNvSpPr txBox="1"/>
          <p:nvPr/>
        </p:nvSpPr>
        <p:spPr>
          <a:xfrm>
            <a:off x="7218547" y="2779776"/>
            <a:ext cx="1325880" cy="457200"/>
          </a:xfrm>
          <a:prstGeom prst="rect">
            <a:avLst/>
          </a:prstGeom>
          <a:noFill/>
        </p:spPr>
        <p:txBody>
          <a:bodyPr wrap="square" lIns="0" rIns="0" tIns="0" bIns="0" anchor="t">
            <a:spAutoFit/>
          </a:bodyPr>
          <a:lstStyle/>
          <a:p>
            <a:pPr algn="ctr">
              <a:lnSpc>
                <a:spcPct val="104000"/>
              </a:lnSpc>
            </a:pPr>
            <a:r>
              <a:rPr sz="800" b="1" i="0">
                <a:solidFill>
                  <a:srgbClr val="065A82"/>
                </a:solidFill>
                <a:latin typeface="DejaVu Sans"/>
              </a:rPr>
              <a:t>агент</a:t>
            </a:r>
          </a:p>
          <a:p>
            <a:pPr algn="ctr">
              <a:lnSpc>
                <a:spcPct val="104000"/>
              </a:lnSpc>
            </a:pPr>
            <a:r>
              <a:rPr sz="800" b="1" i="0">
                <a:solidFill>
                  <a:srgbClr val="065A82"/>
                </a:solidFill>
                <a:latin typeface="DejaVu Sans"/>
              </a:rPr>
              <a:t>в поддержке</a:t>
            </a:r>
          </a:p>
        </p:txBody>
      </p:sp>
      <p:sp>
        <p:nvSpPr>
          <p:cNvPr id="35" name="Oval 34"/>
          <p:cNvSpPr/>
          <p:nvPr/>
        </p:nvSpPr>
        <p:spPr>
          <a:xfrm>
            <a:off x="9152321" y="1354775"/>
            <a:ext cx="182880" cy="182880"/>
          </a:xfrm>
          <a:prstGeom prst="ellipse">
            <a:avLst/>
          </a:prstGeom>
          <a:solidFill>
            <a:srgbClr val="F0AB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2321" y="1354775"/>
            <a:ext cx="182880" cy="18288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a:t>
            </a:r>
          </a:p>
        </p:txBody>
      </p:sp>
      <p:sp>
        <p:nvSpPr>
          <p:cNvPr id="37" name="TextBox 36"/>
          <p:cNvSpPr txBox="1"/>
          <p:nvPr/>
        </p:nvSpPr>
        <p:spPr>
          <a:xfrm>
            <a:off x="8580821" y="2779776"/>
            <a:ext cx="1325880" cy="457200"/>
          </a:xfrm>
          <a:prstGeom prst="rect">
            <a:avLst/>
          </a:prstGeom>
          <a:noFill/>
        </p:spPr>
        <p:txBody>
          <a:bodyPr wrap="square" lIns="0" rIns="0" tIns="0" bIns="0" anchor="t">
            <a:spAutoFit/>
          </a:bodyPr>
          <a:lstStyle/>
          <a:p>
            <a:pPr algn="ctr">
              <a:lnSpc>
                <a:spcPct val="104000"/>
              </a:lnSpc>
            </a:pPr>
            <a:r>
              <a:rPr sz="800" b="1" i="0">
                <a:solidFill>
                  <a:srgbClr val="065A82"/>
                </a:solidFill>
                <a:latin typeface="DejaVu Sans"/>
              </a:rPr>
              <a:t>ИИ-обзор кода</a:t>
            </a:r>
          </a:p>
          <a:p>
            <a:pPr algn="ctr">
              <a:lnSpc>
                <a:spcPct val="104000"/>
              </a:lnSpc>
            </a:pPr>
            <a:r>
              <a:rPr sz="800" b="1" i="0">
                <a:solidFill>
                  <a:srgbClr val="065A82"/>
                </a:solidFill>
                <a:latin typeface="DejaVu Sans"/>
              </a:rPr>
              <a:t>у разработчиков</a:t>
            </a:r>
          </a:p>
        </p:txBody>
      </p:sp>
      <p:sp>
        <p:nvSpPr>
          <p:cNvPr id="38" name="TextBox 37"/>
          <p:cNvSpPr txBox="1"/>
          <p:nvPr/>
        </p:nvSpPr>
        <p:spPr>
          <a:xfrm>
            <a:off x="5440680" y="3346703"/>
            <a:ext cx="5943600" cy="237744"/>
          </a:xfrm>
          <a:prstGeom prst="rect">
            <a:avLst/>
          </a:prstGeom>
          <a:noFill/>
        </p:spPr>
        <p:txBody>
          <a:bodyPr wrap="square" lIns="0" rIns="0" tIns="0" bIns="0" anchor="t">
            <a:spAutoFit/>
          </a:bodyPr>
          <a:lstStyle/>
          <a:p>
            <a:pPr algn="l">
              <a:lnSpc>
                <a:spcPct val="100000"/>
              </a:lnSpc>
            </a:pPr>
            <a:r>
              <a:rPr sz="840" b="0" i="1">
                <a:solidFill>
                  <a:srgbClr val="5B6678"/>
                </a:solidFill>
                <a:latin typeface="DejaVu Sans"/>
              </a:rPr>
              <a:t>горизонталь — масштаб · вертикаль — совокупный расход · ступень — новая функция</a:t>
            </a:r>
          </a:p>
        </p:txBody>
      </p:sp>
      <p:sp>
        <p:nvSpPr>
          <p:cNvPr id="39" name="Rounded Rectangle 38"/>
          <p:cNvSpPr/>
          <p:nvPr/>
        </p:nvSpPr>
        <p:spPr>
          <a:xfrm>
            <a:off x="5330952" y="3639312"/>
            <a:ext cx="6163056" cy="402336"/>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trending-down-teal.png"/>
          <p:cNvPicPr>
            <a:picLocks noChangeAspect="1"/>
          </p:cNvPicPr>
          <p:nvPr/>
        </p:nvPicPr>
        <p:blipFill>
          <a:blip r:embed="rId2"/>
          <a:stretch>
            <a:fillRect/>
          </a:stretch>
        </p:blipFill>
        <p:spPr>
          <a:xfrm>
            <a:off x="5449824" y="3712463"/>
            <a:ext cx="256032" cy="256032"/>
          </a:xfrm>
          <a:prstGeom prst="rect">
            <a:avLst/>
          </a:prstGeom>
        </p:spPr>
      </p:pic>
      <p:sp>
        <p:nvSpPr>
          <p:cNvPr id="41" name="TextBox 40"/>
          <p:cNvSpPr txBox="1"/>
          <p:nvPr/>
        </p:nvSpPr>
        <p:spPr>
          <a:xfrm>
            <a:off x="5797296" y="3639312"/>
            <a:ext cx="5586984" cy="402336"/>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Расход на одно обращение со временем падает. Это другая линейка — совокупный счёт всё равно идёт вверх.</a:t>
            </a:r>
          </a:p>
        </p:txBody>
      </p:sp>
      <p:sp>
        <p:nvSpPr>
          <p:cNvPr id="42" name="TextBox 41"/>
          <p:cNvSpPr txBox="1"/>
          <p:nvPr/>
        </p:nvSpPr>
        <p:spPr>
          <a:xfrm>
            <a:off x="5330952" y="4169663"/>
            <a:ext cx="6163056" cy="868680"/>
          </a:xfrm>
          <a:prstGeom prst="rect">
            <a:avLst/>
          </a:prstGeom>
          <a:noFill/>
        </p:spPr>
        <p:txBody>
          <a:bodyPr wrap="square" lIns="0" rIns="0" tIns="0" bIns="0" anchor="t">
            <a:spAutoFit/>
          </a:bodyPr>
          <a:lstStyle/>
          <a:p>
            <a:pPr algn="l">
              <a:lnSpc>
                <a:spcPct val="116000"/>
              </a:lnSpc>
            </a:pPr>
            <a:r>
              <a:rPr sz="1080" b="0" i="0">
                <a:solidFill>
                  <a:srgbClr val="21295C"/>
                </a:solidFill>
                <a:latin typeface="DejaVu Sans"/>
              </a:rPr>
              <a:t>Применили ИИ где угодно внутри продукта или вокруг него — в функции для пользователя, в поддержке, в разработке, во внутреннем инструменте — и у этого применения появился </a:t>
            </a:r>
            <a:r>
              <a:rPr sz="1080" b="1" i="0">
                <a:solidFill>
                  <a:srgbClr val="065A82"/>
                </a:solidFill>
                <a:latin typeface="DejaVu Sans"/>
              </a:rPr>
              <a:t>счётчик</a:t>
            </a:r>
            <a:r>
              <a:rPr sz="1080" b="0" i="0">
                <a:solidFill>
                  <a:srgbClr val="21295C"/>
                </a:solidFill>
                <a:latin typeface="DejaVu Sans"/>
              </a:rPr>
              <a:t>, который тикает от объёма работы.</a:t>
            </a:r>
          </a:p>
        </p:txBody>
      </p:sp>
      <p:sp>
        <p:nvSpPr>
          <p:cNvPr id="43" name="Rounded Rectangle 42"/>
          <p:cNvSpPr/>
          <p:nvPr/>
        </p:nvSpPr>
        <p:spPr>
          <a:xfrm>
            <a:off x="502920" y="52120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2376" y="5266944"/>
            <a:ext cx="10762488" cy="69494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У каждой ступени один и тот же вопрос: окупает ли новая функция свой скачок расхода. Окупает — оставляем и платим за неё; не окупает — закрываем сейчас, пока на эту ступень не встала следующая.</a:t>
            </a:r>
          </a:p>
        </p:txBody>
      </p:sp>
      <p:sp>
        <p:nvSpPr>
          <p:cNvPr id="45" name="TextBox 4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Boston Consulting Group — окупаемость пилотов (2026)</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Структура расхода и дохода: по типам — замерено, по функциям — сами</a:t>
            </a:r>
          </a:p>
        </p:txBody>
      </p:sp>
      <p:sp>
        <p:nvSpPr>
          <p:cNvPr id="3" name="Rounded Rectangle 2"/>
          <p:cNvSpPr/>
          <p:nvPr/>
        </p:nvSpPr>
        <p:spPr>
          <a:xfrm>
            <a:off x="502920" y="804672"/>
            <a:ext cx="4709160" cy="4206240"/>
          </a:xfrm>
          <a:prstGeom prst="roundRect">
            <a:avLst>
              <a:gd name="adj" fmla="val 7246"/>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14400"/>
            <a:ext cx="4288536"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ПО ТИПАМ — ЧТО ЗАМЕРИЛИ</a:t>
            </a:r>
          </a:p>
        </p:txBody>
      </p:sp>
      <p:sp>
        <p:nvSpPr>
          <p:cNvPr id="5" name="TextBox 4"/>
          <p:cNvSpPr txBox="1"/>
          <p:nvPr/>
        </p:nvSpPr>
        <p:spPr>
          <a:xfrm>
            <a:off x="713232" y="1152144"/>
            <a:ext cx="4288536" cy="237744"/>
          </a:xfrm>
          <a:prstGeom prst="rect">
            <a:avLst/>
          </a:prstGeom>
          <a:noFill/>
        </p:spPr>
        <p:txBody>
          <a:bodyPr wrap="square" lIns="0" rIns="0" tIns="0" bIns="0" anchor="t">
            <a:spAutoFit/>
          </a:bodyPr>
          <a:lstStyle/>
          <a:p>
            <a:pPr algn="l">
              <a:lnSpc>
                <a:spcPct val="100000"/>
              </a:lnSpc>
            </a:pPr>
            <a:r>
              <a:rPr sz="960" b="0" i="1">
                <a:solidFill>
                  <a:srgbClr val="5B6678"/>
                </a:solidFill>
                <a:latin typeface="DejaVu Sans"/>
              </a:rPr>
              <a:t>доли расхода на продукт: до запуска → на масштабе</a:t>
            </a:r>
          </a:p>
        </p:txBody>
      </p:sp>
      <p:sp>
        <p:nvSpPr>
          <p:cNvPr id="6" name="TextBox 5"/>
          <p:cNvSpPr txBox="1"/>
          <p:nvPr/>
        </p:nvSpPr>
        <p:spPr>
          <a:xfrm>
            <a:off x="713232" y="1408176"/>
            <a:ext cx="4288536" cy="201168"/>
          </a:xfrm>
          <a:prstGeom prst="rect">
            <a:avLst/>
          </a:prstGeom>
          <a:noFill/>
        </p:spPr>
        <p:txBody>
          <a:bodyPr wrap="square" lIns="0" rIns="0" tIns="0" bIns="0" anchor="t">
            <a:spAutoFit/>
          </a:bodyPr>
          <a:lstStyle/>
          <a:p>
            <a:pPr algn="l">
              <a:lnSpc>
                <a:spcPct val="100000"/>
              </a:lnSpc>
            </a:pPr>
            <a:r>
              <a:rPr sz="860" b="0" i="1">
                <a:solidFill>
                  <a:srgbClr val="5B6678"/>
                </a:solidFill>
                <a:latin typeface="DejaVu Sans"/>
              </a:rPr>
              <a:t>до запуска продукта</a:t>
            </a:r>
          </a:p>
        </p:txBody>
      </p:sp>
      <p:sp>
        <p:nvSpPr>
          <p:cNvPr id="7" name="Rectangle 6"/>
          <p:cNvSpPr/>
          <p:nvPr/>
        </p:nvSpPr>
        <p:spPr>
          <a:xfrm>
            <a:off x="713232" y="1627632"/>
            <a:ext cx="1372331"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627632"/>
            <a:ext cx="1372331" cy="329184"/>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32</a:t>
            </a:r>
          </a:p>
        </p:txBody>
      </p:sp>
      <p:sp>
        <p:nvSpPr>
          <p:cNvPr id="9" name="Rectangle 8"/>
          <p:cNvSpPr/>
          <p:nvPr/>
        </p:nvSpPr>
        <p:spPr>
          <a:xfrm>
            <a:off x="2085563" y="1627632"/>
            <a:ext cx="857707" cy="329184"/>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85563" y="1627632"/>
            <a:ext cx="857707" cy="329184"/>
          </a:xfrm>
          <a:prstGeom prst="rect">
            <a:avLst/>
          </a:prstGeom>
          <a:noFill/>
        </p:spPr>
        <p:txBody>
          <a:bodyPr wrap="square" lIns="0" rIns="0" tIns="0" bIns="0" anchor="ctr">
            <a:spAutoFit/>
          </a:bodyPr>
          <a:lstStyle/>
          <a:p>
            <a:pPr algn="ctr">
              <a:lnSpc>
                <a:spcPct val="100000"/>
              </a:lnSpc>
            </a:pPr>
            <a:r>
              <a:rPr sz="900" b="1" i="0">
                <a:solidFill>
                  <a:srgbClr val="21295C"/>
                </a:solidFill>
                <a:latin typeface="DejaVu Sans"/>
              </a:rPr>
              <a:t>20</a:t>
            </a:r>
          </a:p>
        </p:txBody>
      </p:sp>
      <p:sp>
        <p:nvSpPr>
          <p:cNvPr id="11" name="Rectangle 10"/>
          <p:cNvSpPr/>
          <p:nvPr/>
        </p:nvSpPr>
        <p:spPr>
          <a:xfrm>
            <a:off x="2943270" y="1627632"/>
            <a:ext cx="686165" cy="32918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43270" y="1627632"/>
            <a:ext cx="686165" cy="329184"/>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16</a:t>
            </a:r>
          </a:p>
        </p:txBody>
      </p:sp>
      <p:sp>
        <p:nvSpPr>
          <p:cNvPr id="13" name="Rectangle 12"/>
          <p:cNvSpPr/>
          <p:nvPr/>
        </p:nvSpPr>
        <p:spPr>
          <a:xfrm>
            <a:off x="3629436" y="1627632"/>
            <a:ext cx="257312" cy="329184"/>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6748" y="1627632"/>
            <a:ext cx="1115019" cy="32918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86748" y="1627632"/>
            <a:ext cx="1115019" cy="329184"/>
          </a:xfrm>
          <a:prstGeom prst="rect">
            <a:avLst/>
          </a:prstGeom>
          <a:noFill/>
        </p:spPr>
        <p:txBody>
          <a:bodyPr wrap="square" lIns="0" rIns="0" tIns="0" bIns="0" anchor="ctr">
            <a:spAutoFit/>
          </a:bodyPr>
          <a:lstStyle/>
          <a:p>
            <a:pPr algn="ctr">
              <a:lnSpc>
                <a:spcPct val="100000"/>
              </a:lnSpc>
            </a:pPr>
            <a:r>
              <a:rPr sz="900" b="1" i="0">
                <a:solidFill>
                  <a:srgbClr val="21295C"/>
                </a:solidFill>
                <a:latin typeface="DejaVu Sans"/>
              </a:rPr>
              <a:t>26</a:t>
            </a:r>
          </a:p>
        </p:txBody>
      </p:sp>
      <p:sp>
        <p:nvSpPr>
          <p:cNvPr id="16" name="TextBox 15"/>
          <p:cNvSpPr txBox="1"/>
          <p:nvPr/>
        </p:nvSpPr>
        <p:spPr>
          <a:xfrm>
            <a:off x="713232" y="1993392"/>
            <a:ext cx="4288536" cy="219456"/>
          </a:xfrm>
          <a:prstGeom prst="rect">
            <a:avLst/>
          </a:prstGeom>
          <a:noFill/>
        </p:spPr>
        <p:txBody>
          <a:bodyPr wrap="square" lIns="0" rIns="0" tIns="0" bIns="0" anchor="t">
            <a:spAutoFit/>
          </a:bodyPr>
          <a:lstStyle/>
          <a:p>
            <a:pPr algn="l">
              <a:lnSpc>
                <a:spcPct val="100000"/>
              </a:lnSpc>
            </a:pPr>
            <a:r>
              <a:rPr sz="880" b="1" i="0">
                <a:solidFill>
                  <a:srgbClr val="21295C"/>
                </a:solidFill>
                <a:latin typeface="DejaVu Sans"/>
              </a:rPr>
              <a:t>на масштабе</a:t>
            </a:r>
          </a:p>
        </p:txBody>
      </p:sp>
      <p:sp>
        <p:nvSpPr>
          <p:cNvPr id="17" name="Rectangle 16"/>
          <p:cNvSpPr/>
          <p:nvPr/>
        </p:nvSpPr>
        <p:spPr>
          <a:xfrm>
            <a:off x="713232" y="2231136"/>
            <a:ext cx="1115019"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231136"/>
            <a:ext cx="1115019" cy="438912"/>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26</a:t>
            </a:r>
          </a:p>
        </p:txBody>
      </p:sp>
      <p:sp>
        <p:nvSpPr>
          <p:cNvPr id="19" name="Rectangle 18"/>
          <p:cNvSpPr/>
          <p:nvPr/>
        </p:nvSpPr>
        <p:spPr>
          <a:xfrm>
            <a:off x="1828251" y="2231136"/>
            <a:ext cx="986363" cy="43891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28251" y="2231136"/>
            <a:ext cx="986363" cy="438912"/>
          </a:xfrm>
          <a:prstGeom prst="rect">
            <a:avLst/>
          </a:prstGeom>
          <a:noFill/>
        </p:spPr>
        <p:txBody>
          <a:bodyPr wrap="square" lIns="0" rIns="0" tIns="0" bIns="0" anchor="ctr">
            <a:spAutoFit/>
          </a:bodyPr>
          <a:lstStyle/>
          <a:p>
            <a:pPr algn="ctr">
              <a:lnSpc>
                <a:spcPct val="100000"/>
              </a:lnSpc>
            </a:pPr>
            <a:r>
              <a:rPr sz="1000" b="1" i="0">
                <a:solidFill>
                  <a:srgbClr val="21295C"/>
                </a:solidFill>
                <a:latin typeface="DejaVu Sans"/>
              </a:rPr>
              <a:t>23</a:t>
            </a:r>
          </a:p>
        </p:txBody>
      </p:sp>
      <p:sp>
        <p:nvSpPr>
          <p:cNvPr id="21" name="Rectangle 20"/>
          <p:cNvSpPr/>
          <p:nvPr/>
        </p:nvSpPr>
        <p:spPr>
          <a:xfrm>
            <a:off x="2814614" y="2231136"/>
            <a:ext cx="729051" cy="438912"/>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14614" y="2231136"/>
            <a:ext cx="729051" cy="438912"/>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17</a:t>
            </a:r>
          </a:p>
        </p:txBody>
      </p:sp>
      <p:sp>
        <p:nvSpPr>
          <p:cNvPr id="23" name="Rectangle 22"/>
          <p:cNvSpPr/>
          <p:nvPr/>
        </p:nvSpPr>
        <p:spPr>
          <a:xfrm>
            <a:off x="3543665" y="2231136"/>
            <a:ext cx="257312" cy="43891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800977" y="2231136"/>
            <a:ext cx="1200790" cy="438912"/>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00977" y="2231136"/>
            <a:ext cx="1200790" cy="438912"/>
          </a:xfrm>
          <a:prstGeom prst="rect">
            <a:avLst/>
          </a:prstGeom>
          <a:noFill/>
        </p:spPr>
        <p:txBody>
          <a:bodyPr wrap="square" lIns="0" rIns="0" tIns="0" bIns="0" anchor="ctr">
            <a:spAutoFit/>
          </a:bodyPr>
          <a:lstStyle/>
          <a:p>
            <a:pPr algn="ctr">
              <a:lnSpc>
                <a:spcPct val="100000"/>
              </a:lnSpc>
            </a:pPr>
            <a:r>
              <a:rPr sz="1000" b="1" i="0">
                <a:solidFill>
                  <a:srgbClr val="21295C"/>
                </a:solidFill>
                <a:latin typeface="DejaVu Sans"/>
              </a:rPr>
              <a:t>28</a:t>
            </a:r>
          </a:p>
        </p:txBody>
      </p:sp>
      <p:sp>
        <p:nvSpPr>
          <p:cNvPr id="26" name="Rectangle 25"/>
          <p:cNvSpPr/>
          <p:nvPr/>
        </p:nvSpPr>
        <p:spPr>
          <a:xfrm>
            <a:off x="731520" y="2788920"/>
            <a:ext cx="137160" cy="137160"/>
          </a:xfrm>
          <a:prstGeom prst="rect">
            <a:avLst/>
          </a:prstGeom>
          <a:solidFill>
            <a:srgbClr val="065A82"/>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2743200"/>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люди</a:t>
            </a:r>
            <a:r>
              <a:rPr sz="930" b="0" i="0">
                <a:solidFill>
                  <a:srgbClr val="21295C"/>
                </a:solidFill>
                <a:latin typeface="DejaVu Sans"/>
              </a:rPr>
              <a:t> — 32% → 26%</a:t>
            </a:r>
          </a:p>
        </p:txBody>
      </p:sp>
      <p:sp>
        <p:nvSpPr>
          <p:cNvPr id="28" name="Rectangle 27"/>
          <p:cNvSpPr/>
          <p:nvPr/>
        </p:nvSpPr>
        <p:spPr>
          <a:xfrm>
            <a:off x="731520" y="3008376"/>
            <a:ext cx="137160" cy="137160"/>
          </a:xfrm>
          <a:prstGeom prst="rect">
            <a:avLst/>
          </a:prstGeom>
          <a:solidFill>
            <a:srgbClr val="F0AB00"/>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1832" y="2962656"/>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вызовы модели</a:t>
            </a:r>
            <a:r>
              <a:rPr sz="930" b="0" i="0">
                <a:solidFill>
                  <a:srgbClr val="21295C"/>
                </a:solidFill>
                <a:latin typeface="DejaVu Sans"/>
              </a:rPr>
              <a:t> — 20% → 23%</a:t>
            </a:r>
          </a:p>
        </p:txBody>
      </p:sp>
      <p:sp>
        <p:nvSpPr>
          <p:cNvPr id="30" name="Rectangle 29"/>
          <p:cNvSpPr/>
          <p:nvPr/>
        </p:nvSpPr>
        <p:spPr>
          <a:xfrm>
            <a:off x="731520" y="3227832"/>
            <a:ext cx="137160" cy="137160"/>
          </a:xfrm>
          <a:prstGeom prst="rect">
            <a:avLst/>
          </a:prstGeom>
          <a:solidFill>
            <a:srgbClr val="028090"/>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1832" y="3182112"/>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оборудование и облако</a:t>
            </a:r>
            <a:r>
              <a:rPr sz="930" b="0" i="0">
                <a:solidFill>
                  <a:srgbClr val="21295C"/>
                </a:solidFill>
                <a:latin typeface="DejaVu Sans"/>
              </a:rPr>
              <a:t> — около 17%, не меняется</a:t>
            </a:r>
          </a:p>
        </p:txBody>
      </p:sp>
      <p:sp>
        <p:nvSpPr>
          <p:cNvPr id="32" name="Rectangle 31"/>
          <p:cNvSpPr/>
          <p:nvPr/>
        </p:nvSpPr>
        <p:spPr>
          <a:xfrm>
            <a:off x="731520" y="3447287"/>
            <a:ext cx="137160" cy="137160"/>
          </a:xfrm>
          <a:prstGeom prst="rect">
            <a:avLst/>
          </a:prstGeom>
          <a:solidFill>
            <a:srgbClr val="1C7293"/>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41832" y="3401568"/>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хранение и обработка данных</a:t>
            </a:r>
            <a:r>
              <a:rPr sz="930" b="0" i="0">
                <a:solidFill>
                  <a:srgbClr val="21295C"/>
                </a:solidFill>
                <a:latin typeface="DejaVu Sans"/>
              </a:rPr>
              <a:t> — 6%</a:t>
            </a:r>
          </a:p>
        </p:txBody>
      </p:sp>
      <p:sp>
        <p:nvSpPr>
          <p:cNvPr id="34" name="Rectangle 33"/>
          <p:cNvSpPr/>
          <p:nvPr/>
        </p:nvSpPr>
        <p:spPr>
          <a:xfrm>
            <a:off x="731520" y="3666744"/>
            <a:ext cx="137160" cy="137160"/>
          </a:xfrm>
          <a:prstGeom prst="rect">
            <a:avLst/>
          </a:prstGeom>
          <a:solidFill>
            <a:srgbClr val="E5EAF0"/>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621024"/>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остальное</a:t>
            </a:r>
            <a:r>
              <a:rPr sz="930" b="0" i="0">
                <a:solidFill>
                  <a:srgbClr val="21295C"/>
                </a:solidFill>
                <a:latin typeface="DejaVu Sans"/>
              </a:rPr>
              <a:t> — обучение моделей, соблюдение норм</a:t>
            </a:r>
          </a:p>
        </p:txBody>
      </p:sp>
      <p:sp>
        <p:nvSpPr>
          <p:cNvPr id="36" name="TextBox 35"/>
          <p:cNvSpPr txBox="1"/>
          <p:nvPr/>
        </p:nvSpPr>
        <p:spPr>
          <a:xfrm>
            <a:off x="713232" y="3877056"/>
            <a:ext cx="4288536" cy="365760"/>
          </a:xfrm>
          <a:prstGeom prst="rect">
            <a:avLst/>
          </a:prstGeom>
          <a:noFill/>
        </p:spPr>
        <p:txBody>
          <a:bodyPr wrap="square" lIns="0" rIns="0" tIns="0" bIns="0" anchor="t">
            <a:spAutoFit/>
          </a:bodyPr>
          <a:lstStyle/>
          <a:p>
            <a:pPr algn="l">
              <a:lnSpc>
                <a:spcPct val="100000"/>
              </a:lnSpc>
            </a:pPr>
            <a:r>
              <a:rPr sz="800" b="0" i="1">
                <a:solidFill>
                  <a:srgbClr val="5B6678"/>
                </a:solidFill>
                <a:latin typeface="DejaVu Sans"/>
              </a:rPr>
              <a:t>ICONIQ Capital, обзор состояния ИИ 2026: около 305 руководителей компаний, делающих продукты с ИИ, опрос второго квартала 2026 года. Первые четыре доли — из отчёта, последняя закрывает сумму до 100%</a:t>
            </a:r>
          </a:p>
        </p:txBody>
      </p:sp>
      <p:sp>
        <p:nvSpPr>
          <p:cNvPr id="37" name="TextBox 36"/>
          <p:cNvSpPr txBox="1"/>
          <p:nvPr/>
        </p:nvSpPr>
        <p:spPr>
          <a:xfrm>
            <a:off x="713232" y="4297680"/>
            <a:ext cx="4288536" cy="658368"/>
          </a:xfrm>
          <a:prstGeom prst="rect">
            <a:avLst/>
          </a:prstGeom>
          <a:noFill/>
        </p:spPr>
        <p:txBody>
          <a:bodyPr wrap="square" lIns="0" rIns="0" tIns="0" bIns="0" anchor="t">
            <a:spAutoFit/>
          </a:bodyPr>
          <a:lstStyle/>
          <a:p>
            <a:pPr algn="l">
              <a:lnSpc>
                <a:spcPct val="112000"/>
              </a:lnSpc>
            </a:pPr>
            <a:r>
              <a:rPr sz="960" b="0" i="0">
                <a:solidFill>
                  <a:srgbClr val="21295C"/>
                </a:solidFill>
                <a:latin typeface="DejaVu Sans"/>
              </a:rPr>
              <a:t>Со стороны дохода: вызовы модели съедают около </a:t>
            </a:r>
            <a:r>
              <a:rPr sz="960" b="1" i="0">
                <a:solidFill>
                  <a:srgbClr val="21295C"/>
                </a:solidFill>
                <a:latin typeface="DejaVu Sans"/>
              </a:rPr>
              <a:t>23% выручки</a:t>
            </a:r>
            <a:r>
              <a:rPr sz="960" b="0" i="0">
                <a:solidFill>
                  <a:srgbClr val="21295C"/>
                </a:solidFill>
                <a:latin typeface="DejaVu Sans"/>
              </a:rPr>
              <a:t>. Валовая маржа продуктов с ИИ — </a:t>
            </a:r>
            <a:r>
              <a:rPr sz="960" b="1" i="0">
                <a:solidFill>
                  <a:srgbClr val="21295C"/>
                </a:solidFill>
                <a:latin typeface="DejaVu Sans"/>
              </a:rPr>
              <a:t>45%</a:t>
            </a:r>
            <a:r>
              <a:rPr sz="960" b="0" i="0">
                <a:solidFill>
                  <a:srgbClr val="21295C"/>
                </a:solidFill>
                <a:latin typeface="DejaVu Sans"/>
              </a:rPr>
              <a:t> в 2025 году, на 2026 ожидают </a:t>
            </a:r>
            <a:r>
              <a:rPr sz="960" b="1" i="0">
                <a:solidFill>
                  <a:srgbClr val="21295C"/>
                </a:solidFill>
                <a:latin typeface="DejaVu Sans"/>
              </a:rPr>
              <a:t>53%</a:t>
            </a:r>
            <a:r>
              <a:rPr sz="960" b="0" i="0">
                <a:solidFill>
                  <a:srgbClr val="21295C"/>
                </a:solidFill>
                <a:latin typeface="DejaVu Sans"/>
              </a:rPr>
              <a:t>; у классического программного продукта она держится выше 70%.</a:t>
            </a:r>
          </a:p>
        </p:txBody>
      </p:sp>
      <p:sp>
        <p:nvSpPr>
          <p:cNvPr id="38" name="Rounded Rectangle 37"/>
          <p:cNvSpPr/>
          <p:nvPr/>
        </p:nvSpPr>
        <p:spPr>
          <a:xfrm>
            <a:off x="5394960" y="804672"/>
            <a:ext cx="6309360" cy="4206240"/>
          </a:xfrm>
          <a:prstGeom prst="roundRect">
            <a:avLst>
              <a:gd name="adj" fmla="val 724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05272" y="914400"/>
            <a:ext cx="5888736"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ПО ФУНКЦИЯМ — И КАК ПРИНИМАЮТ РЕШЕНИЕ</a:t>
            </a:r>
          </a:p>
        </p:txBody>
      </p:sp>
      <p:sp>
        <p:nvSpPr>
          <p:cNvPr id="40" name="TextBox 39"/>
          <p:cNvSpPr txBox="1"/>
          <p:nvPr/>
        </p:nvSpPr>
        <p:spPr>
          <a:xfrm>
            <a:off x="5605272" y="1152144"/>
            <a:ext cx="5888736" cy="310896"/>
          </a:xfrm>
          <a:prstGeom prst="rect">
            <a:avLst/>
          </a:prstGeom>
          <a:noFill/>
        </p:spPr>
        <p:txBody>
          <a:bodyPr wrap="square" lIns="0" rIns="0" tIns="0" bIns="0" anchor="t">
            <a:spAutoFit/>
          </a:bodyPr>
          <a:lstStyle/>
          <a:p>
            <a:pPr algn="l">
              <a:lnSpc>
                <a:spcPct val="104000"/>
              </a:lnSpc>
            </a:pPr>
            <a:r>
              <a:rPr sz="960" b="0" i="1">
                <a:solidFill>
                  <a:srgbClr val="5B6678"/>
                </a:solidFill>
                <a:latin typeface="DejaVu Sans"/>
              </a:rPr>
              <a:t>разбор на условных числах одного каталога: такую разбивку по функциям умеют строить немногие</a:t>
            </a:r>
          </a:p>
        </p:txBody>
      </p:sp>
      <p:sp>
        <p:nvSpPr>
          <p:cNvPr id="41" name="Rounded Rectangle 40"/>
          <p:cNvSpPr/>
          <p:nvPr/>
        </p:nvSpPr>
        <p:spPr>
          <a:xfrm>
            <a:off x="5605272" y="1499616"/>
            <a:ext cx="2139696"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78424" y="1499616"/>
            <a:ext cx="1993391"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Функция</a:t>
            </a:r>
          </a:p>
        </p:txBody>
      </p:sp>
      <p:sp>
        <p:nvSpPr>
          <p:cNvPr id="43" name="Rounded Rectangle 42"/>
          <p:cNvSpPr/>
          <p:nvPr/>
        </p:nvSpPr>
        <p:spPr>
          <a:xfrm>
            <a:off x="7781544" y="1499616"/>
            <a:ext cx="1280160"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54696" y="1499616"/>
            <a:ext cx="1133856"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Выручка</a:t>
            </a:r>
          </a:p>
        </p:txBody>
      </p:sp>
      <p:sp>
        <p:nvSpPr>
          <p:cNvPr id="45" name="Rounded Rectangle 44"/>
          <p:cNvSpPr/>
          <p:nvPr/>
        </p:nvSpPr>
        <p:spPr>
          <a:xfrm>
            <a:off x="9098280" y="1499616"/>
            <a:ext cx="1280160"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71432" y="1499616"/>
            <a:ext cx="1133856"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Расход</a:t>
            </a:r>
          </a:p>
        </p:txBody>
      </p:sp>
      <p:sp>
        <p:nvSpPr>
          <p:cNvPr id="47" name="Rounded Rectangle 46"/>
          <p:cNvSpPr/>
          <p:nvPr/>
        </p:nvSpPr>
        <p:spPr>
          <a:xfrm>
            <a:off x="10415015" y="1499616"/>
            <a:ext cx="1078992"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488167" y="1499616"/>
            <a:ext cx="932688"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Решение</a:t>
            </a:r>
          </a:p>
        </p:txBody>
      </p:sp>
      <p:sp>
        <p:nvSpPr>
          <p:cNvPr id="49" name="Rounded Rectangle 48"/>
          <p:cNvSpPr/>
          <p:nvPr/>
        </p:nvSpPr>
        <p:spPr>
          <a:xfrm>
            <a:off x="5605272" y="1847088"/>
            <a:ext cx="2139696"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96712" y="1883664"/>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Подсказки в поиске по каталогу</a:t>
            </a:r>
          </a:p>
        </p:txBody>
      </p:sp>
      <p:sp>
        <p:nvSpPr>
          <p:cNvPr id="51" name="Rounded Rectangle 50"/>
          <p:cNvSpPr/>
          <p:nvPr/>
        </p:nvSpPr>
        <p:spPr>
          <a:xfrm>
            <a:off x="7781544" y="1847088"/>
            <a:ext cx="1280160"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72983" y="188366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+8% к оплаченным заказам</a:t>
            </a:r>
          </a:p>
        </p:txBody>
      </p:sp>
      <p:sp>
        <p:nvSpPr>
          <p:cNvPr id="53" name="Rounded Rectangle 52"/>
          <p:cNvSpPr/>
          <p:nvPr/>
        </p:nvSpPr>
        <p:spPr>
          <a:xfrm>
            <a:off x="9098280" y="1847088"/>
            <a:ext cx="1280160"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189719" y="188366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+0,9 ₽ за обращение</a:t>
            </a:r>
          </a:p>
        </p:txBody>
      </p:sp>
      <p:sp>
        <p:nvSpPr>
          <p:cNvPr id="55" name="Rounded Rectangle 54"/>
          <p:cNvSpPr/>
          <p:nvPr/>
        </p:nvSpPr>
        <p:spPr>
          <a:xfrm>
            <a:off x="10415015" y="1847088"/>
            <a:ext cx="1078992"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06455" y="1883664"/>
            <a:ext cx="896112"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расширяем</a:t>
            </a:r>
          </a:p>
        </p:txBody>
      </p:sp>
      <p:sp>
        <p:nvSpPr>
          <p:cNvPr id="57" name="Rounded Rectangle 56"/>
          <p:cNvSpPr/>
          <p:nvPr/>
        </p:nvSpPr>
        <p:spPr>
          <a:xfrm>
            <a:off x="5605272" y="2487168"/>
            <a:ext cx="2139696"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96712" y="2523744"/>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Агент на первой линии поддержки</a:t>
            </a:r>
          </a:p>
        </p:txBody>
      </p:sp>
      <p:sp>
        <p:nvSpPr>
          <p:cNvPr id="59" name="Rounded Rectangle 58"/>
          <p:cNvSpPr/>
          <p:nvPr/>
        </p:nvSpPr>
        <p:spPr>
          <a:xfrm>
            <a:off x="7781544" y="2487168"/>
            <a:ext cx="1280160"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2983" y="252374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0 напрямую</a:t>
            </a:r>
          </a:p>
        </p:txBody>
      </p:sp>
      <p:sp>
        <p:nvSpPr>
          <p:cNvPr id="61" name="Rounded Rectangle 60"/>
          <p:cNvSpPr/>
          <p:nvPr/>
        </p:nvSpPr>
        <p:spPr>
          <a:xfrm>
            <a:off x="9098280" y="2487168"/>
            <a:ext cx="1280160"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89719" y="252374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−40% времени оператора на обращение</a:t>
            </a:r>
          </a:p>
        </p:txBody>
      </p:sp>
      <p:sp>
        <p:nvSpPr>
          <p:cNvPr id="63" name="Rounded Rectangle 62"/>
          <p:cNvSpPr/>
          <p:nvPr/>
        </p:nvSpPr>
        <p:spPr>
          <a:xfrm>
            <a:off x="10415015" y="2487168"/>
            <a:ext cx="1078992"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506455" y="2523744"/>
            <a:ext cx="896112"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оставляем: платит экономией</a:t>
            </a:r>
          </a:p>
        </p:txBody>
      </p:sp>
      <p:sp>
        <p:nvSpPr>
          <p:cNvPr id="65" name="Rounded Rectangle 64"/>
          <p:cNvSpPr/>
          <p:nvPr/>
        </p:nvSpPr>
        <p:spPr>
          <a:xfrm>
            <a:off x="5605272" y="3127248"/>
            <a:ext cx="2139696"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696712" y="3163824"/>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Пересказ отзывов на карточке товара</a:t>
            </a:r>
          </a:p>
        </p:txBody>
      </p:sp>
      <p:sp>
        <p:nvSpPr>
          <p:cNvPr id="67" name="Rounded Rectangle 66"/>
          <p:cNvSpPr/>
          <p:nvPr/>
        </p:nvSpPr>
        <p:spPr>
          <a:xfrm>
            <a:off x="7781544" y="3127248"/>
            <a:ext cx="1280160"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872983" y="316382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в пределах погрешности</a:t>
            </a:r>
          </a:p>
        </p:txBody>
      </p:sp>
      <p:sp>
        <p:nvSpPr>
          <p:cNvPr id="69" name="Rounded Rectangle 68"/>
          <p:cNvSpPr/>
          <p:nvPr/>
        </p:nvSpPr>
        <p:spPr>
          <a:xfrm>
            <a:off x="9098280" y="3127248"/>
            <a:ext cx="1280160"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89719" y="316382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+1,4 ₽ за просмотр</a:t>
            </a:r>
          </a:p>
        </p:txBody>
      </p:sp>
      <p:sp>
        <p:nvSpPr>
          <p:cNvPr id="71" name="Rounded Rectangle 70"/>
          <p:cNvSpPr/>
          <p:nvPr/>
        </p:nvSpPr>
        <p:spPr>
          <a:xfrm>
            <a:off x="10415015" y="3127248"/>
            <a:ext cx="1078992"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506455" y="3163824"/>
            <a:ext cx="896112"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закрываем</a:t>
            </a:r>
          </a:p>
        </p:txBody>
      </p:sp>
      <p:sp>
        <p:nvSpPr>
          <p:cNvPr id="73" name="Rounded Rectangle 72"/>
          <p:cNvSpPr/>
          <p:nvPr/>
        </p:nvSpPr>
        <p:spPr>
          <a:xfrm>
            <a:off x="5605272" y="3767327"/>
            <a:ext cx="2139696"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696712" y="3803903"/>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Журнал решений и выход к человеку</a:t>
            </a:r>
          </a:p>
        </p:txBody>
      </p:sp>
      <p:sp>
        <p:nvSpPr>
          <p:cNvPr id="75" name="Rounded Rectangle 74"/>
          <p:cNvSpPr/>
          <p:nvPr/>
        </p:nvSpPr>
        <p:spPr>
          <a:xfrm>
            <a:off x="7781544" y="3767327"/>
            <a:ext cx="1280160"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872983" y="3803903"/>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0</a:t>
            </a:r>
          </a:p>
        </p:txBody>
      </p:sp>
      <p:sp>
        <p:nvSpPr>
          <p:cNvPr id="77" name="Rounded Rectangle 76"/>
          <p:cNvSpPr/>
          <p:nvPr/>
        </p:nvSpPr>
        <p:spPr>
          <a:xfrm>
            <a:off x="9098280" y="3767327"/>
            <a:ext cx="1280160"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189719" y="3803903"/>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постоянный, растёт с объёмом</a:t>
            </a:r>
          </a:p>
        </p:txBody>
      </p:sp>
      <p:sp>
        <p:nvSpPr>
          <p:cNvPr id="79" name="Rounded Rectangle 78"/>
          <p:cNvSpPr/>
          <p:nvPr/>
        </p:nvSpPr>
        <p:spPr>
          <a:xfrm>
            <a:off x="10415015" y="3767327"/>
            <a:ext cx="1078992"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0506455" y="3803903"/>
            <a:ext cx="896112"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закрыть нельзя</a:t>
            </a:r>
          </a:p>
        </p:txBody>
      </p:sp>
      <p:sp>
        <p:nvSpPr>
          <p:cNvPr id="81" name="TextBox 80"/>
          <p:cNvSpPr txBox="1"/>
          <p:nvPr/>
        </p:nvSpPr>
        <p:spPr>
          <a:xfrm>
            <a:off x="5605272" y="4443984"/>
            <a:ext cx="5888736" cy="475488"/>
          </a:xfrm>
          <a:prstGeom prst="rect">
            <a:avLst/>
          </a:prstGeom>
          <a:noFill/>
        </p:spPr>
        <p:txBody>
          <a:bodyPr wrap="square" lIns="0" rIns="0" tIns="0" bIns="0" anchor="t">
            <a:spAutoFit/>
          </a:bodyPr>
          <a:lstStyle/>
          <a:p>
            <a:pPr algn="l">
              <a:lnSpc>
                <a:spcPct val="100000"/>
              </a:lnSpc>
            </a:pPr>
            <a:r>
              <a:rPr sz="800" b="0" i="1">
                <a:solidFill>
                  <a:srgbClr val="5B6678"/>
                </a:solidFill>
                <a:latin typeface="DejaVu Sans"/>
              </a:rPr>
              <a:t>Каждое число разбора — против одной базы: тот же каталог без этой функции за тот же месяц. Разбивку по функциям умеют строить немногие: связать расход на ИИ с деньгами могут 22% финансовых руководителей, и 60% согласны, что тратят на ИИ больше, чем могут обосновать — CloudZero, июнь 2026, 260 респондентов, больше половины — финансовые директора</a:t>
            </a:r>
          </a:p>
        </p:txBody>
      </p:sp>
      <p:sp>
        <p:nvSpPr>
          <p:cNvPr id="82" name="Rounded Rectangle 81"/>
          <p:cNvSpPr/>
          <p:nvPr/>
        </p:nvSpPr>
        <p:spPr>
          <a:xfrm>
            <a:off x="502920" y="5120640"/>
            <a:ext cx="11201400" cy="1042415"/>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22376" y="5175503"/>
            <a:ext cx="10762488" cy="932688"/>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Оговорка: убыточную строку не всегда можно закрыть. Журнал решений и выход к человеку для системы высокого риска требует Регламент Европейского союза об искусственном интеллекте: с 2 августа 2026 года события записываются автоматически, журналы хранят не меньше шести месяцев. Выручки ноль, расход постоянный, выключить нельзя. Тот же класс — функция, убыточная в своей строке и держащая выручку в чужой: бесплатный тариф, поддержка, экспорт данных.</a:t>
            </a:r>
          </a:p>
        </p:txBody>
      </p:sp>
      <p:sp>
        <p:nvSpPr>
          <p:cNvPr id="84" name="TextBox 8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ICONIQ Capital — обзор состояния ИИ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CloudZero — опрос финансовых руководителей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Регламент Европейского союза об ИИ, ст. 12 и 19</a:t>
            </a:r>
          </a:p>
        </p:txBody>
      </p:sp>
      <p:sp>
        <p:nvSpPr>
          <p:cNvPr id="85" name="TextBox 8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8475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Записываем, при каком результате пилот закрывают, — до того как включим</a:t>
            </a:r>
          </a:p>
        </p:txBody>
      </p:sp>
      <p:sp>
        <p:nvSpPr>
          <p:cNvPr id="3" name="Rounded Rectangle 2"/>
          <p:cNvSpPr/>
          <p:nvPr/>
        </p:nvSpPr>
        <p:spPr>
          <a:xfrm>
            <a:off x="502920" y="795070"/>
            <a:ext cx="1152144" cy="108345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95070"/>
            <a:ext cx="1060704" cy="108345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795070"/>
            <a:ext cx="9902952" cy="108345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886510"/>
            <a:ext cx="9537192" cy="900575"/>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Одна заранее записанная фраза с числами, по которой через несколько недель видно: продолжать или закрывать. Ближайший знакомый аналог — </a:t>
            </a:r>
            <a:r>
              <a:rPr sz="1150" b="1" i="0">
                <a:solidFill>
                  <a:srgbClr val="21295C"/>
                </a:solidFill>
                <a:latin typeface="DejaVu Sans"/>
              </a:rPr>
              <a:t>приёмочный критерий в техническом задании</a:t>
            </a:r>
            <a:r>
              <a:rPr sz="1150" b="0" i="0">
                <a:solidFill>
                  <a:srgbClr val="21295C"/>
                </a:solidFill>
                <a:latin typeface="DejaVu Sans"/>
              </a:rPr>
              <a:t>, переведённый с функциональности на деньги. Число, названное после результата, его объясняет и ничего уже не проверяет.</a:t>
            </a:r>
          </a:p>
        </p:txBody>
      </p:sp>
      <p:sp>
        <p:nvSpPr>
          <p:cNvPr id="7" name="Rounded Rectangle 6"/>
          <p:cNvSpPr/>
          <p:nvPr/>
        </p:nvSpPr>
        <p:spPr>
          <a:xfrm>
            <a:off x="502920" y="1942534"/>
            <a:ext cx="1152144" cy="18653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42534"/>
            <a:ext cx="1060704" cy="18653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42534"/>
            <a:ext cx="9902952" cy="1865376"/>
          </a:xfrm>
          <a:prstGeom prst="roundRect">
            <a:avLst>
              <a:gd name="adj" fmla="val 163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4769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4769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33974"/>
            <a:ext cx="428853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Что улучшаем</a:t>
            </a:r>
            <a:r>
              <a:rPr sz="1000" b="0" i="0">
                <a:solidFill>
                  <a:srgbClr val="21295C"/>
                </a:solidFill>
                <a:latin typeface="DejaVu Sans"/>
              </a:rPr>
              <a:t> — и с какой величины до какой.</a:t>
            </a:r>
          </a:p>
        </p:txBody>
      </p:sp>
      <p:sp>
        <p:nvSpPr>
          <p:cNvPr id="13" name="Oval 12"/>
          <p:cNvSpPr/>
          <p:nvPr/>
        </p:nvSpPr>
        <p:spPr>
          <a:xfrm>
            <a:off x="1984248" y="232480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2480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11093"/>
            <a:ext cx="428853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Чего при этом нельзя ухудшить</a:t>
            </a:r>
            <a:r>
              <a:rPr sz="1000" b="0" i="0">
                <a:solidFill>
                  <a:srgbClr val="21295C"/>
                </a:solidFill>
                <a:latin typeface="DejaVu Sans"/>
              </a:rPr>
              <a:t> — одна-две величины-ограничителя.</a:t>
            </a:r>
          </a:p>
        </p:txBody>
      </p:sp>
      <p:sp>
        <p:nvSpPr>
          <p:cNvPr id="16" name="Oval 15"/>
          <p:cNvSpPr/>
          <p:nvPr/>
        </p:nvSpPr>
        <p:spPr>
          <a:xfrm>
            <a:off x="1984248" y="276749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76749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53774"/>
            <a:ext cx="428853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На каком объёме и за какой срок</a:t>
            </a:r>
            <a:r>
              <a:rPr sz="1000" b="0" i="0">
                <a:solidFill>
                  <a:srgbClr val="21295C"/>
                </a:solidFill>
                <a:latin typeface="DejaVu Sans"/>
              </a:rPr>
              <a:t> проверяем.</a:t>
            </a:r>
          </a:p>
        </p:txBody>
      </p:sp>
      <p:sp>
        <p:nvSpPr>
          <p:cNvPr id="19" name="Oval 18"/>
          <p:cNvSpPr/>
          <p:nvPr/>
        </p:nvSpPr>
        <p:spPr>
          <a:xfrm>
            <a:off x="1984248" y="304460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04460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030893"/>
            <a:ext cx="428853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Кто смотрит и как часто.</a:t>
            </a:r>
            <a:r>
              <a:rPr sz="1000" b="0" i="0">
                <a:solidFill>
                  <a:srgbClr val="21295C"/>
                </a:solidFill>
                <a:latin typeface="DejaVu Sans"/>
              </a:rPr>
              <a:t> Запись делают до включения, с датой и именем: иначе проверить порядок во времени нечем.</a:t>
            </a:r>
          </a:p>
        </p:txBody>
      </p:sp>
      <p:sp>
        <p:nvSpPr>
          <p:cNvPr id="22" name="Rounded Rectangle 21"/>
          <p:cNvSpPr/>
          <p:nvPr/>
        </p:nvSpPr>
        <p:spPr>
          <a:xfrm>
            <a:off x="6858000" y="2070550"/>
            <a:ext cx="4663440" cy="1225296"/>
          </a:xfrm>
          <a:prstGeom prst="roundRect">
            <a:avLst>
              <a:gd name="adj" fmla="val 16583"/>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6016" y="2125414"/>
            <a:ext cx="4407407" cy="1115568"/>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«Разбор обращений моделью снизит стоимость одного обращения </a:t>
            </a:r>
            <a:r>
              <a:rPr sz="1000" b="1" i="0">
                <a:solidFill>
                  <a:srgbClr val="065A82"/>
                </a:solidFill>
                <a:latin typeface="DejaVu Sans"/>
              </a:rPr>
              <a:t>с 42 ₽ до 15 ₽</a:t>
            </a:r>
            <a:r>
              <a:rPr sz="1000" b="0" i="0">
                <a:solidFill>
                  <a:srgbClr val="21295C"/>
                </a:solidFill>
                <a:latin typeface="DejaVu Sans"/>
              </a:rPr>
              <a:t>, удовлетворённость клиента не упадёт </a:t>
            </a:r>
            <a:r>
              <a:rPr sz="1000" b="1" i="0">
                <a:solidFill>
                  <a:srgbClr val="028090"/>
                </a:solidFill>
                <a:latin typeface="DejaVu Sans"/>
              </a:rPr>
              <a:t>ниже 4,2 из 5</a:t>
            </a:r>
            <a:r>
              <a:rPr sz="1000" b="0" i="0">
                <a:solidFill>
                  <a:srgbClr val="21295C"/>
                </a:solidFill>
                <a:latin typeface="DejaVu Sans"/>
              </a:rPr>
              <a:t>, доля обращений, переданных человеку, не превысит </a:t>
            </a:r>
            <a:r>
              <a:rPr sz="1000" b="1" i="0">
                <a:solidFill>
                  <a:srgbClr val="028090"/>
                </a:solidFill>
                <a:latin typeface="DejaVu Sans"/>
              </a:rPr>
              <a:t>20%</a:t>
            </a:r>
            <a:r>
              <a:rPr sz="1000" b="0" i="0">
                <a:solidFill>
                  <a:srgbClr val="21295C"/>
                </a:solidFill>
                <a:latin typeface="DejaVu Sans"/>
              </a:rPr>
              <a:t>. Проверяем на </a:t>
            </a:r>
            <a:r>
              <a:rPr sz="1000" b="1" i="0">
                <a:solidFill>
                  <a:srgbClr val="1C7293"/>
                </a:solidFill>
                <a:latin typeface="DejaVu Sans"/>
              </a:rPr>
              <a:t>5 000 обращений за 6 недель</a:t>
            </a:r>
            <a:r>
              <a:rPr sz="1000" b="0" i="0">
                <a:solidFill>
                  <a:srgbClr val="21295C"/>
                </a:solidFill>
                <a:latin typeface="DejaVu Sans"/>
              </a:rPr>
              <a:t>. Смотрит </a:t>
            </a:r>
            <a:r>
              <a:rPr sz="1000" b="1" i="0">
                <a:solidFill>
                  <a:srgbClr val="F0AB00"/>
                </a:solidFill>
                <a:latin typeface="DejaVu Sans"/>
              </a:rPr>
              <a:t>руководитель поддержки, раз в неделю</a:t>
            </a:r>
            <a:r>
              <a:rPr sz="1000" b="0" i="0">
                <a:solidFill>
                  <a:srgbClr val="21295C"/>
                </a:solidFill>
                <a:latin typeface="DejaVu Sans"/>
              </a:rPr>
              <a:t>».</a:t>
            </a:r>
          </a:p>
        </p:txBody>
      </p:sp>
      <p:sp>
        <p:nvSpPr>
          <p:cNvPr id="24" name="TextBox 23"/>
          <p:cNvSpPr txBox="1"/>
          <p:nvPr/>
        </p:nvSpPr>
        <p:spPr>
          <a:xfrm>
            <a:off x="6858000" y="3332422"/>
            <a:ext cx="4663440" cy="310896"/>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заполненный образец записи: в нём по одной части на каждый шаг слева</a:t>
            </a:r>
          </a:p>
        </p:txBody>
      </p:sp>
      <p:sp>
        <p:nvSpPr>
          <p:cNvPr id="25" name="Rounded Rectangle 24"/>
          <p:cNvSpPr/>
          <p:nvPr/>
        </p:nvSpPr>
        <p:spPr>
          <a:xfrm>
            <a:off x="502920" y="3871918"/>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3871918"/>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7" name="Rounded Rectangle 26"/>
          <p:cNvSpPr/>
          <p:nvPr/>
        </p:nvSpPr>
        <p:spPr>
          <a:xfrm>
            <a:off x="1801368" y="3871918"/>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984248" y="3963358"/>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084831" y="4009078"/>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аппарату полвека</a:t>
            </a:r>
          </a:p>
        </p:txBody>
      </p:sp>
      <p:sp>
        <p:nvSpPr>
          <p:cNvPr id="30" name="TextBox 29"/>
          <p:cNvSpPr txBox="1"/>
          <p:nvPr/>
        </p:nvSpPr>
        <p:spPr>
          <a:xfrm>
            <a:off x="2084831" y="4237678"/>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Обоснование вложений с порогом окупаемости и решением на контрольной точке. </a:t>
            </a:r>
            <a:r>
              <a:rPr sz="950" b="1" i="0">
                <a:solidFill>
                  <a:srgbClr val="21295C"/>
                </a:solidFill>
                <a:latin typeface="DejaVu Sans"/>
              </a:rPr>
              <a:t>Изобретать заново нечего</a:t>
            </a:r>
            <a:r>
              <a:rPr sz="950" b="0" i="0">
                <a:solidFill>
                  <a:srgbClr val="21295C"/>
                </a:solidFill>
                <a:latin typeface="DejaVu Sans"/>
              </a:rPr>
              <a:t>, берут готовое.</a:t>
            </a:r>
          </a:p>
        </p:txBody>
      </p:sp>
      <p:sp>
        <p:nvSpPr>
          <p:cNvPr id="31" name="Rounded Rectangle 30"/>
          <p:cNvSpPr/>
          <p:nvPr/>
        </p:nvSpPr>
        <p:spPr>
          <a:xfrm>
            <a:off x="6844284" y="3963358"/>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4868" y="4009078"/>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меняется только ритм</a:t>
            </a:r>
          </a:p>
        </p:txBody>
      </p:sp>
      <p:sp>
        <p:nvSpPr>
          <p:cNvPr id="33" name="TextBox 32"/>
          <p:cNvSpPr txBox="1"/>
          <p:nvPr/>
        </p:nvSpPr>
        <p:spPr>
          <a:xfrm>
            <a:off x="6944868" y="4237678"/>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Расход меняется ежедневно, квартальный ритм за ним не поспевает, поэтому и смотрят еженедельно. А компании меряют активность вместо денег — отсюда разрыв: вкладываются почти все, измеримую отдачу видят </a:t>
            </a:r>
            <a:r>
              <a:rPr sz="950" b="1" i="0">
                <a:solidFill>
                  <a:srgbClr val="21295C"/>
                </a:solidFill>
                <a:latin typeface="DejaVu Sans"/>
              </a:rPr>
              <a:t>6%</a:t>
            </a:r>
            <a:r>
              <a:rPr sz="950" b="0" i="0">
                <a:solidFill>
                  <a:srgbClr val="21295C"/>
                </a:solidFill>
                <a:latin typeface="DejaVu Sans"/>
              </a:rPr>
              <a:t>.</a:t>
            </a:r>
          </a:p>
        </p:txBody>
      </p:sp>
      <p:sp>
        <p:nvSpPr>
          <p:cNvPr id="34" name="Rounded Rectangle 33"/>
          <p:cNvSpPr/>
          <p:nvPr/>
        </p:nvSpPr>
        <p:spPr>
          <a:xfrm>
            <a:off x="502920" y="5163127"/>
            <a:ext cx="1152144" cy="98411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163127"/>
            <a:ext cx="1060704" cy="98411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6" name="Rounded Rectangle 35"/>
          <p:cNvSpPr/>
          <p:nvPr/>
        </p:nvSpPr>
        <p:spPr>
          <a:xfrm>
            <a:off x="1801368" y="5163127"/>
            <a:ext cx="9902952" cy="984117"/>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84248" y="5254567"/>
            <a:ext cx="9537192" cy="801237"/>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Исходную величину меряют на своём процессе.</a:t>
            </a:r>
            <a:r>
              <a:rPr sz="1000" b="1" i="0">
                <a:solidFill>
                  <a:srgbClr val="21295C"/>
                </a:solidFill>
                <a:latin typeface="DejaVu Sans"/>
              </a:rPr>
              <a:t> Обещание поставщика её не заменит: чужая цифра описывает чужой процесс. </a:t>
            </a:r>
            <a:r>
              <a:rPr sz="1000" b="1" i="0">
                <a:solidFill>
                  <a:srgbClr val="21295C"/>
                </a:solidFill>
                <a:latin typeface="DejaVu Sans"/>
              </a:rPr>
              <a:t>Если среди возможных исходов нет «закрываем» — это не критерий:</a:t>
            </a:r>
            <a:r>
              <a:rPr sz="1000" b="1" i="0">
                <a:solidFill>
                  <a:srgbClr val="21295C"/>
                </a:solidFill>
                <a:latin typeface="DejaVu Sans"/>
              </a:rPr>
              <a:t> порог, который нельзя не взять, разрешения не даёт. И </a:t>
            </a:r>
            <a:r>
              <a:rPr sz="1000" b="1" i="0">
                <a:solidFill>
                  <a:srgbClr val="21295C"/>
                </a:solidFill>
                <a:latin typeface="DejaVu Sans"/>
              </a:rPr>
              <a:t>числа, появившиеся после включения, — объяснение результата,</a:t>
            </a:r>
            <a:r>
              <a:rPr sz="1000" b="1" i="0">
                <a:solidFill>
                  <a:srgbClr val="21295C"/>
                </a:solidFill>
                <a:latin typeface="DejaVu Sans"/>
              </a:rPr>
              <a:t> поэтому дату записи и имя проверяют раньше самих чисел.</a:t>
            </a:r>
          </a:p>
        </p:txBody>
      </p:sp>
      <p:sp>
        <p:nvSpPr>
          <p:cNvPr id="38" name="TextBox 3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Компании меряют активность вместо денег в отчёте о прибылях и убытках; измеримую отдачу видят 6% — Boston Consulting Group, 2026</a:t>
            </a:r>
          </a:p>
        </p:txBody>
      </p:sp>
      <p:sp>
        <p:nvSpPr>
          <p:cNvPr id="39" name="TextBox 3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Как оценивают любую функцию — безразлично, есть внутри ИИ или нет</a:t>
            </a:r>
          </a:p>
        </p:txBody>
      </p:sp>
      <p:sp>
        <p:nvSpPr>
          <p:cNvPr id="3" name="Rounded Rectangle 2"/>
          <p:cNvSpPr/>
          <p:nvPr/>
        </p:nvSpPr>
        <p:spPr>
          <a:xfrm>
            <a:off x="502920" y="841248"/>
            <a:ext cx="5532120" cy="1353312"/>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85800" y="987552"/>
            <a:ext cx="329184" cy="3291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987552"/>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1</a:t>
            </a:r>
          </a:p>
        </p:txBody>
      </p:sp>
      <p:sp>
        <p:nvSpPr>
          <p:cNvPr id="6" name="TextBox 5"/>
          <p:cNvSpPr txBox="1"/>
          <p:nvPr/>
        </p:nvSpPr>
        <p:spPr>
          <a:xfrm>
            <a:off x="1106424" y="969264"/>
            <a:ext cx="4297680" cy="365760"/>
          </a:xfrm>
          <a:prstGeom prst="rect">
            <a:avLst/>
          </a:prstGeom>
          <a:noFill/>
        </p:spPr>
        <p:txBody>
          <a:bodyPr wrap="square" lIns="0" rIns="0" tIns="0" bIns="0" anchor="ctr">
            <a:spAutoFit/>
          </a:bodyPr>
          <a:lstStyle/>
          <a:p>
            <a:pPr algn="l">
              <a:lnSpc>
                <a:spcPct val="104000"/>
              </a:lnSpc>
            </a:pPr>
            <a:r>
              <a:rPr sz="1250" b="1" i="0">
                <a:solidFill>
                  <a:srgbClr val="065A82"/>
                </a:solidFill>
                <a:latin typeface="DejaVu Sans"/>
              </a:rPr>
              <a:t>Что функция меняет в поведении</a:t>
            </a:r>
          </a:p>
        </p:txBody>
      </p:sp>
      <p:pic>
        <p:nvPicPr>
          <p:cNvPr id="7" name="Picture 6" descr="target-light.png"/>
          <p:cNvPicPr>
            <a:picLocks noChangeAspect="1"/>
          </p:cNvPicPr>
          <p:nvPr/>
        </p:nvPicPr>
        <p:blipFill>
          <a:blip r:embed="rId2"/>
          <a:stretch>
            <a:fillRect/>
          </a:stretch>
        </p:blipFill>
        <p:spPr>
          <a:xfrm>
            <a:off x="5550407" y="1005840"/>
            <a:ext cx="292608" cy="292608"/>
          </a:xfrm>
          <a:prstGeom prst="rect">
            <a:avLst/>
          </a:prstGeom>
        </p:spPr>
      </p:pic>
      <p:sp>
        <p:nvSpPr>
          <p:cNvPr id="8" name="TextBox 7"/>
          <p:cNvSpPr txBox="1"/>
          <p:nvPr/>
        </p:nvSpPr>
        <p:spPr>
          <a:xfrm>
            <a:off x="704088" y="1389888"/>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Какое действие пользователя станет чаще, быстрее или дешевле. Пока действие не названо, оценивать нечего.</a:t>
            </a:r>
          </a:p>
        </p:txBody>
      </p:sp>
      <p:sp>
        <p:nvSpPr>
          <p:cNvPr id="9" name="Rounded Rectangle 8"/>
          <p:cNvSpPr/>
          <p:nvPr/>
        </p:nvSpPr>
        <p:spPr>
          <a:xfrm>
            <a:off x="6172200" y="841248"/>
            <a:ext cx="5532120" cy="1353312"/>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355080" y="987552"/>
            <a:ext cx="329184" cy="3291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987552"/>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2</a:t>
            </a:r>
          </a:p>
        </p:txBody>
      </p:sp>
      <p:sp>
        <p:nvSpPr>
          <p:cNvPr id="12" name="TextBox 11"/>
          <p:cNvSpPr txBox="1"/>
          <p:nvPr/>
        </p:nvSpPr>
        <p:spPr>
          <a:xfrm>
            <a:off x="6775704" y="969264"/>
            <a:ext cx="4297680" cy="365760"/>
          </a:xfrm>
          <a:prstGeom prst="rect">
            <a:avLst/>
          </a:prstGeom>
          <a:noFill/>
        </p:spPr>
        <p:txBody>
          <a:bodyPr wrap="square" lIns="0" rIns="0" tIns="0" bIns="0" anchor="ctr">
            <a:spAutoFit/>
          </a:bodyPr>
          <a:lstStyle/>
          <a:p>
            <a:pPr algn="l">
              <a:lnSpc>
                <a:spcPct val="104000"/>
              </a:lnSpc>
            </a:pPr>
            <a:r>
              <a:rPr sz="1250" b="1" i="0">
                <a:solidFill>
                  <a:srgbClr val="028090"/>
                </a:solidFill>
                <a:latin typeface="DejaVu Sans"/>
              </a:rPr>
              <a:t>Против какой базы</a:t>
            </a:r>
          </a:p>
        </p:txBody>
      </p:sp>
      <p:pic>
        <p:nvPicPr>
          <p:cNvPr id="13" name="Picture 12" descr="ruler-light.png"/>
          <p:cNvPicPr>
            <a:picLocks noChangeAspect="1"/>
          </p:cNvPicPr>
          <p:nvPr/>
        </p:nvPicPr>
        <p:blipFill>
          <a:blip r:embed="rId3"/>
          <a:stretch>
            <a:fillRect/>
          </a:stretch>
        </p:blipFill>
        <p:spPr>
          <a:xfrm>
            <a:off x="11219688" y="1005840"/>
            <a:ext cx="292608" cy="292608"/>
          </a:xfrm>
          <a:prstGeom prst="rect">
            <a:avLst/>
          </a:prstGeom>
        </p:spPr>
      </p:pic>
      <p:sp>
        <p:nvSpPr>
          <p:cNvPr id="14" name="TextBox 13"/>
          <p:cNvSpPr txBox="1"/>
          <p:nvPr/>
        </p:nvSpPr>
        <p:spPr>
          <a:xfrm>
            <a:off x="6373368" y="1389888"/>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Тот же продукт без этой функции за тот же период. Без базы любой прирост запишется в заслугу функции.</a:t>
            </a:r>
          </a:p>
        </p:txBody>
      </p:sp>
      <p:sp>
        <p:nvSpPr>
          <p:cNvPr id="15" name="Rounded Rectangle 14"/>
          <p:cNvSpPr/>
          <p:nvPr/>
        </p:nvSpPr>
        <p:spPr>
          <a:xfrm>
            <a:off x="502920" y="2331720"/>
            <a:ext cx="5532120" cy="13533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5800" y="2478024"/>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478024"/>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3</a:t>
            </a:r>
          </a:p>
        </p:txBody>
      </p:sp>
      <p:sp>
        <p:nvSpPr>
          <p:cNvPr id="18" name="TextBox 17"/>
          <p:cNvSpPr txBox="1"/>
          <p:nvPr/>
        </p:nvSpPr>
        <p:spPr>
          <a:xfrm>
            <a:off x="1106424" y="2459736"/>
            <a:ext cx="4297680" cy="365760"/>
          </a:xfrm>
          <a:prstGeom prst="rect">
            <a:avLst/>
          </a:prstGeom>
          <a:noFill/>
        </p:spPr>
        <p:txBody>
          <a:bodyPr wrap="square" lIns="0" rIns="0" tIns="0" bIns="0" anchor="ctr">
            <a:spAutoFit/>
          </a:bodyPr>
          <a:lstStyle/>
          <a:p>
            <a:pPr algn="l">
              <a:lnSpc>
                <a:spcPct val="104000"/>
              </a:lnSpc>
            </a:pPr>
            <a:r>
              <a:rPr sz="1250" b="1" i="0">
                <a:solidFill>
                  <a:srgbClr val="1C7293"/>
                </a:solidFill>
                <a:latin typeface="DejaVu Sans"/>
              </a:rPr>
              <a:t>Во что она обходится</a:t>
            </a:r>
          </a:p>
        </p:txBody>
      </p:sp>
      <p:pic>
        <p:nvPicPr>
          <p:cNvPr id="19" name="Picture 18" descr="banknote-light.png"/>
          <p:cNvPicPr>
            <a:picLocks noChangeAspect="1"/>
          </p:cNvPicPr>
          <p:nvPr/>
        </p:nvPicPr>
        <p:blipFill>
          <a:blip r:embed="rId4"/>
          <a:stretch>
            <a:fillRect/>
          </a:stretch>
        </p:blipFill>
        <p:spPr>
          <a:xfrm>
            <a:off x="5550407" y="2496312"/>
            <a:ext cx="292608" cy="292608"/>
          </a:xfrm>
          <a:prstGeom prst="rect">
            <a:avLst/>
          </a:prstGeom>
        </p:spPr>
      </p:pic>
      <p:sp>
        <p:nvSpPr>
          <p:cNvPr id="20" name="TextBox 19"/>
          <p:cNvSpPr txBox="1"/>
          <p:nvPr/>
        </p:nvSpPr>
        <p:spPr>
          <a:xfrm>
            <a:off x="704088" y="2880360"/>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Разработка однажды и обслуживание каждый месяц. Второе считают вместе с объёмом использования.</a:t>
            </a:r>
          </a:p>
        </p:txBody>
      </p:sp>
      <p:sp>
        <p:nvSpPr>
          <p:cNvPr id="21" name="Rounded Rectangle 20"/>
          <p:cNvSpPr/>
          <p:nvPr/>
        </p:nvSpPr>
        <p:spPr>
          <a:xfrm>
            <a:off x="6172200" y="2331720"/>
            <a:ext cx="5532120" cy="1353312"/>
          </a:xfrm>
          <a:prstGeom prst="roundRect">
            <a:avLst>
              <a:gd name="adj" fmla="val 22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355080" y="2478024"/>
            <a:ext cx="329184" cy="3291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2478024"/>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4</a:t>
            </a:r>
          </a:p>
        </p:txBody>
      </p:sp>
      <p:sp>
        <p:nvSpPr>
          <p:cNvPr id="24" name="TextBox 23"/>
          <p:cNvSpPr txBox="1"/>
          <p:nvPr/>
        </p:nvSpPr>
        <p:spPr>
          <a:xfrm>
            <a:off x="6775704" y="2459736"/>
            <a:ext cx="4297680" cy="365760"/>
          </a:xfrm>
          <a:prstGeom prst="rect">
            <a:avLst/>
          </a:prstGeom>
          <a:noFill/>
        </p:spPr>
        <p:txBody>
          <a:bodyPr wrap="square" lIns="0" rIns="0" tIns="0" bIns="0" anchor="ctr">
            <a:spAutoFit/>
          </a:bodyPr>
          <a:lstStyle/>
          <a:p>
            <a:pPr algn="l">
              <a:lnSpc>
                <a:spcPct val="104000"/>
              </a:lnSpc>
            </a:pPr>
            <a:r>
              <a:rPr sz="1250" b="1" i="0">
                <a:solidFill>
                  <a:srgbClr val="21295C"/>
                </a:solidFill>
                <a:latin typeface="DejaVu Sans"/>
              </a:rPr>
              <a:t>При каком результате её закрывают</a:t>
            </a:r>
          </a:p>
        </p:txBody>
      </p:sp>
      <p:pic>
        <p:nvPicPr>
          <p:cNvPr id="25" name="Picture 24" descr="timer-light.png"/>
          <p:cNvPicPr>
            <a:picLocks noChangeAspect="1"/>
          </p:cNvPicPr>
          <p:nvPr/>
        </p:nvPicPr>
        <p:blipFill>
          <a:blip r:embed="rId5"/>
          <a:stretch>
            <a:fillRect/>
          </a:stretch>
        </p:blipFill>
        <p:spPr>
          <a:xfrm>
            <a:off x="11219688" y="2496312"/>
            <a:ext cx="292608" cy="292608"/>
          </a:xfrm>
          <a:prstGeom prst="rect">
            <a:avLst/>
          </a:prstGeom>
        </p:spPr>
      </p:pic>
      <p:sp>
        <p:nvSpPr>
          <p:cNvPr id="26" name="TextBox 25"/>
          <p:cNvSpPr txBox="1"/>
          <p:nvPr/>
        </p:nvSpPr>
        <p:spPr>
          <a:xfrm>
            <a:off x="6373368" y="2880360"/>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Число и срок записаны до запуска: названное после результата, оно его только объясняет.</a:t>
            </a:r>
          </a:p>
        </p:txBody>
      </p:sp>
      <p:sp>
        <p:nvSpPr>
          <p:cNvPr id="27" name="Rounded Rectangle 26"/>
          <p:cNvSpPr/>
          <p:nvPr/>
        </p:nvSpPr>
        <p:spPr>
          <a:xfrm>
            <a:off x="502920" y="3822191"/>
            <a:ext cx="11201400" cy="1115568"/>
          </a:xfrm>
          <a:prstGeom prst="roundRect">
            <a:avLst>
              <a:gd name="adj" fmla="val 22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913632"/>
            <a:ext cx="10744200" cy="237744"/>
          </a:xfrm>
          <a:prstGeom prst="rect">
            <a:avLst/>
          </a:prstGeom>
          <a:noFill/>
        </p:spPr>
        <p:txBody>
          <a:bodyPr wrap="square" lIns="0" rIns="0" tIns="0" bIns="0" anchor="t">
            <a:spAutoFit/>
          </a:bodyPr>
          <a:lstStyle/>
          <a:p>
            <a:pPr algn="l">
              <a:lnSpc>
                <a:spcPct val="100000"/>
              </a:lnSpc>
            </a:pPr>
            <a:r>
              <a:rPr sz="1050" b="1" i="0">
                <a:solidFill>
                  <a:srgbClr val="21295C"/>
                </a:solidFill>
                <a:latin typeface="DejaVu Sans"/>
              </a:rPr>
              <a:t>ЧТО МЕНЯЕТСЯ, ЕСЛИ ВНУТРИ ФУНКЦИИ ЕСТЬ ИИ</a:t>
            </a:r>
          </a:p>
        </p:txBody>
      </p:sp>
      <p:sp>
        <p:nvSpPr>
          <p:cNvPr id="29" name="TextBox 28"/>
          <p:cNvSpPr txBox="1"/>
          <p:nvPr/>
        </p:nvSpPr>
        <p:spPr>
          <a:xfrm>
            <a:off x="713232" y="4187952"/>
            <a:ext cx="10744200" cy="69494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Меняются два пункта из четырёх. </a:t>
            </a:r>
            <a:r>
              <a:rPr sz="1150" b="1" i="0">
                <a:solidFill>
                  <a:srgbClr val="065A82"/>
                </a:solidFill>
                <a:latin typeface="DejaVu Sans"/>
              </a:rPr>
              <a:t>Третий:</a:t>
            </a:r>
            <a:r>
              <a:rPr sz="1150" b="0" i="0">
                <a:solidFill>
                  <a:srgbClr val="21295C"/>
                </a:solidFill>
                <a:latin typeface="DejaVu Sans"/>
              </a:rPr>
              <a:t> обслуживание перестаёт быть разовым — у него появляется счётчик, который тикает от объёма. </a:t>
            </a:r>
            <a:r>
              <a:rPr sz="1150" b="1" i="0">
                <a:solidFill>
                  <a:srgbClr val="065A82"/>
                </a:solidFill>
                <a:latin typeface="DejaVu Sans"/>
              </a:rPr>
              <a:t>Первый:</a:t>
            </a:r>
            <a:r>
              <a:rPr sz="1150" b="0" i="0">
                <a:solidFill>
                  <a:srgbClr val="21295C"/>
                </a:solidFill>
                <a:latin typeface="DejaVu Sans"/>
              </a:rPr>
              <a:t> ответ модели меняется от запуска к запуску, поэтому «работает» подтверждают выборкой, и один удачный пример не считается. </a:t>
            </a:r>
            <a:r>
              <a:rPr sz="1150" b="1" i="0">
                <a:solidFill>
                  <a:srgbClr val="065A82"/>
                </a:solidFill>
                <a:latin typeface="DejaVu Sans"/>
              </a:rPr>
              <a:t>Второй и четвёртый</a:t>
            </a:r>
            <a:r>
              <a:rPr sz="1150" b="0" i="0">
                <a:solidFill>
                  <a:srgbClr val="21295C"/>
                </a:solidFill>
                <a:latin typeface="DejaVu Sans"/>
              </a:rPr>
              <a:t> остаются слово в слово теми же.</a:t>
            </a:r>
          </a:p>
        </p:txBody>
      </p:sp>
      <p:sp>
        <p:nvSpPr>
          <p:cNvPr id="30" name="Rounded Rectangle 29"/>
          <p:cNvSpPr/>
          <p:nvPr/>
        </p:nvSpPr>
        <p:spPr>
          <a:xfrm>
            <a:off x="502920" y="5047488"/>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02351"/>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Второй вопрос — про базу — ломается чаще остальных трёх. Дальше два разбора ровно об этом: в первом громкая цифра провала оказывается цифрой без знаменателя, во втором заявленная автономность расходится с собственной целью компании в четырнадцать раз.</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Отчёт про «95% провалов ИИ»: что в нём написано на самом деле</a:t>
            </a:r>
          </a:p>
        </p:txBody>
      </p:sp>
      <p:sp>
        <p:nvSpPr>
          <p:cNvPr id="3" name="Rounded Rectangle 2"/>
          <p:cNvSpPr/>
          <p:nvPr/>
        </p:nvSpPr>
        <p:spPr>
          <a:xfrm>
            <a:off x="502920" y="804672"/>
            <a:ext cx="214884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7-mit-real-source.png"/>
          <p:cNvPicPr>
            <a:picLocks noChangeAspect="1"/>
          </p:cNvPicPr>
          <p:nvPr/>
        </p:nvPicPr>
        <p:blipFill>
          <a:blip r:embed="rId2"/>
          <a:stretch>
            <a:fillRect/>
          </a:stretch>
        </p:blipFill>
        <p:spPr>
          <a:xfrm>
            <a:off x="594360" y="1019127"/>
            <a:ext cx="1965960" cy="896969"/>
          </a:xfrm>
          <a:prstGeom prst="rect">
            <a:avLst/>
          </a:prstGeom>
        </p:spPr>
      </p:pic>
      <p:sp>
        <p:nvSpPr>
          <p:cNvPr id="5" name="Rounded Rectangle 4"/>
          <p:cNvSpPr/>
          <p:nvPr/>
        </p:nvSpPr>
        <p:spPr>
          <a:xfrm>
            <a:off x="2788920" y="804672"/>
            <a:ext cx="8915400" cy="13258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77824"/>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52144"/>
            <a:ext cx="8458200" cy="914400"/>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В июле 2025 года исследовательская группа Массачусетского технологического института (MIT) выложила предварительный отчёт о состоянии ИИ в бизнесе — версия 0.1, без научного рецензирования. Основание: 52 интервью с руководителями, 153 анкеты и обзор 300 публичных внедрений. В заголовки ушла одна строка: </a:t>
            </a:r>
            <a:r>
              <a:rPr sz="1080" b="1" i="0">
                <a:solidFill>
                  <a:srgbClr val="065A82"/>
                </a:solidFill>
                <a:latin typeface="DejaVu Sans"/>
              </a:rPr>
              <a:t>95% корпоративных пилотов не дали измеримого эффекта на прибыль</a:t>
            </a:r>
            <a:r>
              <a:rPr sz="1080" b="0" i="0">
                <a:solidFill>
                  <a:srgbClr val="21295C"/>
                </a:solidFill>
                <a:latin typeface="DejaVu Sans"/>
              </a:rPr>
              <a:t> при 30–40 млрд долларов вложений. За месяц цифру перепечатали деловые издания по всему миру.</a:t>
            </a:r>
          </a:p>
        </p:txBody>
      </p:sp>
      <p:sp>
        <p:nvSpPr>
          <p:cNvPr id="8" name="Rounded Rectangle 7"/>
          <p:cNvSpPr/>
          <p:nvPr/>
        </p:nvSpPr>
        <p:spPr>
          <a:xfrm>
            <a:off x="502920" y="2267712"/>
            <a:ext cx="5623560" cy="1920240"/>
          </a:xfrm>
          <a:prstGeom prst="roundRect">
            <a:avLst>
              <a:gd name="adj" fmla="val 1587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mit-funnel.png"/>
          <p:cNvPicPr>
            <a:picLocks noChangeAspect="1"/>
          </p:cNvPicPr>
          <p:nvPr/>
        </p:nvPicPr>
        <p:blipFill>
          <a:blip r:embed="rId3"/>
          <a:stretch>
            <a:fillRect/>
          </a:stretch>
        </p:blipFill>
        <p:spPr>
          <a:xfrm>
            <a:off x="1411859" y="2377440"/>
            <a:ext cx="3796537" cy="1700784"/>
          </a:xfrm>
          <a:prstGeom prst="rect">
            <a:avLst/>
          </a:prstGeom>
        </p:spPr>
      </p:pic>
      <p:sp>
        <p:nvSpPr>
          <p:cNvPr id="10" name="Rounded Rectangle 9"/>
          <p:cNvSpPr/>
          <p:nvPr/>
        </p:nvSpPr>
        <p:spPr>
          <a:xfrm>
            <a:off x="6355080" y="2267712"/>
            <a:ext cx="5349240" cy="1920240"/>
          </a:xfrm>
          <a:prstGeom prst="roundRect">
            <a:avLst>
              <a:gd name="adj" fmla="val 1587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65392" y="2340864"/>
            <a:ext cx="49377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В ОТЧЁТЕ</a:t>
            </a:r>
          </a:p>
        </p:txBody>
      </p:sp>
      <p:sp>
        <p:nvSpPr>
          <p:cNvPr id="12" name="TextBox 11"/>
          <p:cNvSpPr txBox="1"/>
          <p:nvPr/>
        </p:nvSpPr>
        <p:spPr>
          <a:xfrm>
            <a:off x="6565392" y="2633472"/>
            <a:ext cx="4937760" cy="146304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60% организаций изучали тему · 20% дошли до пилота · 5% довели до промышленной эксплуатации. Пять из двадцати дошедших — </a:t>
            </a:r>
            <a:r>
              <a:rPr sz="1100" b="1" i="0">
                <a:solidFill>
                  <a:srgbClr val="065A82"/>
                </a:solidFill>
                <a:latin typeface="DejaVu Sans"/>
              </a:rPr>
              <a:t>25% успеха</a:t>
            </a:r>
            <a:r>
              <a:rPr sz="1100" b="0" i="0">
                <a:solidFill>
                  <a:srgbClr val="21295C"/>
                </a:solidFill>
                <a:latin typeface="DejaVu Sans"/>
              </a:rPr>
              <a:t>; в заголовок попали 5%.</a:t>
            </a:r>
          </a:p>
          <a:p>
            <a:pPr algn="l">
              <a:lnSpc>
                <a:spcPct val="116000"/>
              </a:lnSpc>
            </a:pPr>
            <a:r>
              <a:rPr sz="1100" b="0" i="0">
                <a:solidFill>
                  <a:srgbClr val="21295C"/>
                </a:solidFill>
                <a:latin typeface="DejaVu Sans"/>
              </a:rPr>
              <a:t>И меряли здесь мнение руководителя о пилоте — финансовый результат никто не считал.</a:t>
            </a:r>
          </a:p>
        </p:txBody>
      </p:sp>
      <p:sp>
        <p:nvSpPr>
          <p:cNvPr id="13" name="Rounded Rectangle 12"/>
          <p:cNvSpPr/>
          <p:nvPr/>
        </p:nvSpPr>
        <p:spPr>
          <a:xfrm>
            <a:off x="502920" y="4315968"/>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389120"/>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ЧЕТЫРЕ ВОПРОСА К ЛЮБОЙ ГРОМКОЙ ЦИФРЕ</a:t>
            </a:r>
          </a:p>
        </p:txBody>
      </p:sp>
      <p:sp>
        <p:nvSpPr>
          <p:cNvPr id="15" name="Oval 14"/>
          <p:cNvSpPr/>
          <p:nvPr/>
        </p:nvSpPr>
        <p:spPr>
          <a:xfrm>
            <a:off x="71323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7" name="TextBox 16"/>
          <p:cNvSpPr txBox="1"/>
          <p:nvPr/>
        </p:nvSpPr>
        <p:spPr>
          <a:xfrm>
            <a:off x="100584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Каков знаменатель — от чего считаем?</a:t>
            </a:r>
          </a:p>
        </p:txBody>
      </p:sp>
      <p:sp>
        <p:nvSpPr>
          <p:cNvPr id="18" name="Oval 17"/>
          <p:cNvSpPr/>
          <p:nvPr/>
        </p:nvSpPr>
        <p:spPr>
          <a:xfrm>
            <a:off x="338785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785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0" name="TextBox 19"/>
          <p:cNvSpPr txBox="1"/>
          <p:nvPr/>
        </p:nvSpPr>
        <p:spPr>
          <a:xfrm>
            <a:off x="368046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Что именно засчитано провалом?</a:t>
            </a:r>
          </a:p>
        </p:txBody>
      </p:sp>
      <p:sp>
        <p:nvSpPr>
          <p:cNvPr id="21" name="Oval 20"/>
          <p:cNvSpPr/>
          <p:nvPr/>
        </p:nvSpPr>
        <p:spPr>
          <a:xfrm>
            <a:off x="606247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247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3" name="TextBox 22"/>
          <p:cNvSpPr txBox="1"/>
          <p:nvPr/>
        </p:nvSpPr>
        <p:spPr>
          <a:xfrm>
            <a:off x="635508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Есть ли у автора конфликт интересов? Здесь — все четыре автора строят и продают агентные продукты.</a:t>
            </a:r>
          </a:p>
        </p:txBody>
      </p:sp>
      <p:sp>
        <p:nvSpPr>
          <p:cNvPr id="24" name="Oval 23"/>
          <p:cNvSpPr/>
          <p:nvPr/>
        </p:nvSpPr>
        <p:spPr>
          <a:xfrm>
            <a:off x="8737091"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37091"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6" name="TextBox 25"/>
          <p:cNvSpPr txBox="1"/>
          <p:nvPr/>
        </p:nvSpPr>
        <p:spPr>
          <a:xfrm>
            <a:off x="9029699"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Прослеживается ли цифра до первоисточника с описанной методикой?</a:t>
            </a:r>
          </a:p>
        </p:txBody>
      </p:sp>
      <p:sp>
        <p:nvSpPr>
          <p:cNvPr id="27" name="Rounded Rectangle 26"/>
          <p:cNvSpPr/>
          <p:nvPr/>
        </p:nvSpPr>
        <p:spPr>
          <a:xfrm>
            <a:off x="502920" y="5541264"/>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596127"/>
            <a:ext cx="10762488" cy="667512"/>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Корень не в моделях. Boston Consulting Group, январь 2026, 2 360 руководителей: измеримую отдачу видят 6% компаний — большинство меряет активность (сэкономленные часы, автоматизированные задачи) вместо денег. Нечем мерить — нечего и предъявить.</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MIT — отчёт о состоянии ИИ (июль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Fortune — как разошёлся заголовок</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NewMR — разбор мифа</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7"/>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486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Магазин без касс: шесть лет «полной автономии» и 700 ручных проверок на 1000 покупок</a:t>
            </a:r>
          </a:p>
        </p:txBody>
      </p:sp>
      <p:sp>
        <p:nvSpPr>
          <p:cNvPr id="3" name="Rounded Rectangle 2"/>
          <p:cNvSpPr/>
          <p:nvPr/>
        </p:nvSpPr>
        <p:spPr>
          <a:xfrm>
            <a:off x="502920" y="786384"/>
            <a:ext cx="2148840" cy="137160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636943" y="877824"/>
            <a:ext cx="1880793" cy="1188720"/>
          </a:xfrm>
          <a:prstGeom prst="rect">
            <a:avLst/>
          </a:prstGeom>
        </p:spPr>
      </p:pic>
      <p:sp>
        <p:nvSpPr>
          <p:cNvPr id="5" name="Rounded Rectangle 4"/>
          <p:cNvSpPr/>
          <p:nvPr/>
        </p:nvSpPr>
        <p:spPr>
          <a:xfrm>
            <a:off x="2788920" y="786384"/>
            <a:ext cx="891540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59536"/>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33856"/>
            <a:ext cx="8458200" cy="950976"/>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С 2018 года Amazon открывал магазины без касс: берёшь товар с полки и выходишь, деньги списываются сами. Технологию продавали как </a:t>
            </a:r>
            <a:r>
              <a:rPr sz="1080" b="1" i="0">
                <a:solidFill>
                  <a:srgbClr val="065A82"/>
                </a:solidFill>
                <a:latin typeface="DejaVu Sans"/>
              </a:rPr>
              <a:t>чистое компьютерное зрение</a:t>
            </a:r>
            <a:r>
              <a:rPr sz="1080" b="0" i="0">
                <a:solidFill>
                  <a:srgbClr val="21295C"/>
                </a:solidFill>
                <a:latin typeface="DejaVu Sans"/>
              </a:rPr>
              <a:t> — камеры и датчики сами понимают, что ты взял. В апреле 2024 года журналисты выяснили: больше тысячи человек в Индии просматривали видеозаписи и вручную размечали покупки, которые система не смогла распознать.</a:t>
            </a:r>
          </a:p>
        </p:txBody>
      </p:sp>
      <p:sp>
        <p:nvSpPr>
          <p:cNvPr id="8" name="Rounded Rectangle 7"/>
          <p:cNvSpPr/>
          <p:nvPr/>
        </p:nvSpPr>
        <p:spPr>
          <a:xfrm>
            <a:off x="502920" y="2286000"/>
            <a:ext cx="4160520" cy="1965960"/>
          </a:xfrm>
          <a:prstGeom prst="roundRect">
            <a:avLst>
              <a:gd name="adj" fmla="val 1550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jwo.png"/>
          <p:cNvPicPr>
            <a:picLocks noChangeAspect="1"/>
          </p:cNvPicPr>
          <p:nvPr/>
        </p:nvPicPr>
        <p:blipFill>
          <a:blip r:embed="rId3"/>
          <a:stretch>
            <a:fillRect/>
          </a:stretch>
        </p:blipFill>
        <p:spPr>
          <a:xfrm>
            <a:off x="1213553" y="2395728"/>
            <a:ext cx="2739254" cy="1746504"/>
          </a:xfrm>
          <a:prstGeom prst="rect">
            <a:avLst/>
          </a:prstGeom>
        </p:spPr>
      </p:pic>
      <p:sp>
        <p:nvSpPr>
          <p:cNvPr id="10" name="Rounded Rectangle 9"/>
          <p:cNvSpPr/>
          <p:nvPr/>
        </p:nvSpPr>
        <p:spPr>
          <a:xfrm>
            <a:off x="4892040" y="2286000"/>
            <a:ext cx="6812280" cy="1965960"/>
          </a:xfrm>
          <a:prstGeom prst="roundRect">
            <a:avLst>
              <a:gd name="adj" fmla="val 155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2352" y="2359152"/>
            <a:ext cx="64008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РАЗБОР — ОДНА И ТА ЖЕ ЛИНЕЙКА КОМПАНИИ</a:t>
            </a:r>
          </a:p>
        </p:txBody>
      </p:sp>
      <p:sp>
        <p:nvSpPr>
          <p:cNvPr id="12" name="TextBox 11"/>
          <p:cNvSpPr txBox="1"/>
          <p:nvPr/>
        </p:nvSpPr>
        <p:spPr>
          <a:xfrm>
            <a:off x="5102352" y="2651760"/>
            <a:ext cx="6400800" cy="1517904"/>
          </a:xfrm>
          <a:prstGeom prst="rect">
            <a:avLst/>
          </a:prstGeom>
          <a:noFill/>
        </p:spPr>
        <p:txBody>
          <a:bodyPr wrap="square" lIns="0" rIns="0" tIns="0" bIns="0" anchor="t">
            <a:spAutoFit/>
          </a:bodyPr>
          <a:lstStyle/>
          <a:p>
            <a:pPr algn="l">
              <a:lnSpc>
                <a:spcPct val="115000"/>
              </a:lnSpc>
            </a:pPr>
            <a:r>
              <a:rPr sz="1100" b="1" i="0">
                <a:solidFill>
                  <a:srgbClr val="065A82"/>
                </a:solidFill>
                <a:latin typeface="DejaVu Sans"/>
              </a:rPr>
              <a:t>700 из 1000</a:t>
            </a:r>
            <a:r>
              <a:rPr sz="1100" b="0" i="0">
                <a:solidFill>
                  <a:srgbClr val="21295C"/>
                </a:solidFill>
                <a:latin typeface="DejaVu Sans"/>
              </a:rPr>
              <a:t> покупок требовали ручной проверки — против собственной внутренней цели </a:t>
            </a:r>
            <a:r>
              <a:rPr sz="1100" b="1" i="0">
                <a:solidFill>
                  <a:srgbClr val="065A82"/>
                </a:solidFill>
                <a:latin typeface="DejaVu Sans"/>
              </a:rPr>
              <a:t>20–50 из 1000</a:t>
            </a:r>
            <a:r>
              <a:rPr sz="1100" b="0" i="0">
                <a:solidFill>
                  <a:srgbClr val="21295C"/>
                </a:solidFill>
                <a:latin typeface="DejaVu Sans"/>
              </a:rPr>
              <a:t>. Превышение от 14 до 35 раз.</a:t>
            </a:r>
          </a:p>
          <a:p>
            <a:pPr algn="l">
              <a:lnSpc>
                <a:spcPct val="115000"/>
              </a:lnSpc>
            </a:pPr>
            <a:r>
              <a:rPr sz="1100" b="0" i="0">
                <a:solidFill>
                  <a:srgbClr val="21295C"/>
                </a:solidFill>
                <a:latin typeface="DejaVu Sans"/>
              </a:rPr>
              <a:t>Само участие людей — не разоблачение: они размечали записи постфактум, и формально Amazon возразил верно. Разоблачение в другом: цель поставила сама компания, и заявленное разошлось с измеренным по её же линейке. Спорить о значении слова «автономный» не нужно — достаточно найти число.</a:t>
            </a:r>
          </a:p>
        </p:txBody>
      </p:sp>
      <p:sp>
        <p:nvSpPr>
          <p:cNvPr id="13" name="Rounded Rectangle 12"/>
          <p:cNvSpPr/>
          <p:nvPr/>
        </p:nvSpPr>
        <p:spPr>
          <a:xfrm>
            <a:off x="502920" y="4379976"/>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453128"/>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ЧЕМ КОНЧИЛОСЬ</a:t>
            </a:r>
          </a:p>
        </p:txBody>
      </p:sp>
      <p:sp>
        <p:nvSpPr>
          <p:cNvPr id="15" name="TextBox 14"/>
          <p:cNvSpPr txBox="1"/>
          <p:nvPr/>
        </p:nvSpPr>
        <p:spPr>
          <a:xfrm>
            <a:off x="71323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Из больших продуктовых магазинов технологию убрали в 2024-м, а в январе 2026-го Amazon закрыл и сами сети Go и Fresh.</a:t>
            </a:r>
          </a:p>
        </p:txBody>
      </p:sp>
      <p:sp>
        <p:nvSpPr>
          <p:cNvPr id="16" name="TextBox 15"/>
          <p:cNvSpPr txBox="1"/>
          <p:nvPr/>
        </p:nvSpPr>
        <p:spPr>
          <a:xfrm>
            <a:off x="338785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Технология переехала туда, где ассортимент мал и предсказуем: </a:t>
            </a:r>
            <a:r>
              <a:rPr sz="930" b="1" i="0">
                <a:solidFill>
                  <a:srgbClr val="21295C"/>
                </a:solidFill>
                <a:latin typeface="DejaVu Sans"/>
              </a:rPr>
              <a:t>360+ сторонних точек</a:t>
            </a:r>
            <a:r>
              <a:rPr sz="930" b="0" i="0">
                <a:solidFill>
                  <a:srgbClr val="21295C"/>
                </a:solidFill>
                <a:latin typeface="DejaVu Sans"/>
              </a:rPr>
              <a:t> в пяти странах — стадионы, больницы, университеты.</a:t>
            </a:r>
          </a:p>
        </p:txBody>
      </p:sp>
      <p:sp>
        <p:nvSpPr>
          <p:cNvPr id="17" name="TextBox 16"/>
          <p:cNvSpPr txBox="1"/>
          <p:nvPr/>
        </p:nvSpPr>
        <p:spPr>
          <a:xfrm>
            <a:off x="606247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Где и это сложно, компьютерное зрение заменили </a:t>
            </a:r>
            <a:r>
              <a:rPr sz="930" b="1" i="0">
                <a:solidFill>
                  <a:srgbClr val="21295C"/>
                </a:solidFill>
                <a:latin typeface="DejaVu Sans"/>
              </a:rPr>
              <a:t>радиочастотными метками (RFID)</a:t>
            </a:r>
            <a:r>
              <a:rPr sz="930" b="0" i="0">
                <a:solidFill>
                  <a:srgbClr val="21295C"/>
                </a:solidFill>
                <a:latin typeface="DejaVu Sans"/>
              </a:rPr>
              <a:t> — предсказуемым решением </a:t>
            </a:r>
            <a:r>
              <a:rPr sz="930" b="1" i="0">
                <a:solidFill>
                  <a:srgbClr val="21295C"/>
                </a:solidFill>
                <a:latin typeface="DejaVu Sans"/>
              </a:rPr>
              <a:t>без ИИ</a:t>
            </a:r>
            <a:r>
              <a:rPr sz="930" b="0" i="0">
                <a:solidFill>
                  <a:srgbClr val="21295C"/>
                </a:solidFill>
                <a:latin typeface="DejaVu Sans"/>
              </a:rPr>
              <a:t>.</a:t>
            </a:r>
          </a:p>
        </p:txBody>
      </p:sp>
      <p:sp>
        <p:nvSpPr>
          <p:cNvPr id="18" name="TextBox 17"/>
          <p:cNvSpPr txBox="1"/>
          <p:nvPr/>
        </p:nvSpPr>
        <p:spPr>
          <a:xfrm>
            <a:off x="8737091"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А в больших магазинах место заняла </a:t>
            </a:r>
            <a:r>
              <a:rPr sz="930" b="1" i="0">
                <a:solidFill>
                  <a:srgbClr val="21295C"/>
                </a:solidFill>
                <a:latin typeface="DejaVu Sans"/>
              </a:rPr>
              <a:t>тележка со сканером</a:t>
            </a:r>
            <a:r>
              <a:rPr sz="930" b="0" i="0">
                <a:solidFill>
                  <a:srgbClr val="21295C"/>
                </a:solidFill>
                <a:latin typeface="DejaVu Sans"/>
              </a:rPr>
              <a:t>: товар отмечает сам покупатель.</a:t>
            </a:r>
          </a:p>
        </p:txBody>
      </p:sp>
      <p:sp>
        <p:nvSpPr>
          <p:cNvPr id="19" name="Rounded Rectangle 18"/>
          <p:cNvSpPr/>
          <p:nvPr/>
        </p:nvSpPr>
        <p:spPr>
          <a:xfrm>
            <a:off x="502920" y="5596128"/>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650992"/>
            <a:ext cx="10762488"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Если для приемлемой точности нужна ручная проверка кратно выше собственной цели — заявленная автономность не достигнута. Дальше два честных хода: снизить обещание до «с помощью ИИ» либо признать нишу пока неподходящей и взять инструмент проще. Amazon в итоге сделал оба.</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магазины без касс</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технологии в продуктовых магазинах</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Amazon — о планах по Just Walk Out и Dash Cart (2026)</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pic>
        <p:nvPicPr>
          <p:cNvPr id="3" name="Picture 2" descr="compass-light.png"/>
          <p:cNvPicPr>
            <a:picLocks noChangeAspect="1"/>
          </p:cNvPicPr>
          <p:nvPr/>
        </p:nvPicPr>
        <p:blipFill>
          <a:blip r:embed="rId2"/>
          <a:stretch>
            <a:fillRect/>
          </a:stretch>
        </p:blipFill>
        <p:spPr>
          <a:xfrm>
            <a:off x="8732520" y="1234440"/>
            <a:ext cx="1463040" cy="1463040"/>
          </a:xfrm>
          <a:prstGeom prst="rect">
            <a:avLst/>
          </a:prstGeom>
        </p:spPr>
      </p:pic>
      <p:sp>
        <p:nvSpPr>
          <p:cNvPr id="4" name="TextBox 3"/>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7</a:t>
            </a:r>
          </a:p>
        </p:txBody>
      </p:sp>
      <p:sp>
        <p:nvSpPr>
          <p:cNvPr id="5" name="TextBox 4"/>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Обобщение: один инструмент</a:t>
            </a:r>
          </a:p>
          <a:p>
            <a:pPr algn="l">
              <a:lnSpc>
                <a:spcPct val="108000"/>
              </a:lnSpc>
            </a:pPr>
            <a:r>
              <a:rPr sz="3000" b="1" i="0">
                <a:solidFill>
                  <a:srgbClr val="21295C"/>
                </a:solidFill>
                <a:latin typeface="DejaVu Sans"/>
              </a:rPr>
              <a:t>на все шесть фаз</a:t>
            </a:r>
          </a:p>
        </p:txBody>
      </p:sp>
      <p:sp>
        <p:nvSpPr>
          <p:cNvPr id="6" name="Rounded Rectangle 5"/>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фаз · 1 матрица · 3 оси решения</a:t>
            </a:r>
          </a:p>
        </p:txBody>
      </p:sp>
      <p:sp>
        <p:nvSpPr>
          <p:cNvPr id="7" name="TextBox 6"/>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Шесть фаз разобраны по отдельности, а задача приходит целиком — по разделам лекции её никто не разложит. Без общего инструмента остаётся шесть отдельных выводов и ни одного ответа на случай, которого здесь не было.</a:t>
            </a:r>
          </a:p>
        </p:txBody>
      </p:sp>
      <p:sp>
        <p:nvSpPr>
          <p:cNvPr id="8" name="Rounded Rectangle 7"/>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0" name="TextBox 9"/>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1" name="Rounded Rectangle 10"/>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3" name="TextBox 12"/>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4" name="Rounded Rectangle 13"/>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6" name="TextBox 15"/>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7" name="Rounded Rectangle 16"/>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19" name="TextBox 18"/>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0" name="Rounded Rectangle 19"/>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2" name="TextBox 21"/>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3" name="Rounded Rectangle 22"/>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5" name="TextBox 24"/>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6" name="Rounded Rectangle 25"/>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8" name="TextBox 27"/>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29" name="Rounded Rectangle 28"/>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31" name="TextBox 30"/>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Обобщение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Шесть фаз — одна структура: дисциплина, удешевление, режим отказа, человек</a:t>
            </a:r>
          </a:p>
        </p:txBody>
      </p:sp>
      <p:sp>
        <p:nvSpPr>
          <p:cNvPr id="3" name="Rounded Rectangle 2"/>
          <p:cNvSpPr/>
          <p:nvPr/>
        </p:nvSpPr>
        <p:spPr>
          <a:xfrm>
            <a:off x="502920" y="896112"/>
            <a:ext cx="19202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7373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Фаза</a:t>
            </a:r>
          </a:p>
        </p:txBody>
      </p:sp>
      <p:sp>
        <p:nvSpPr>
          <p:cNvPr id="5" name="Rounded Rectangle 4"/>
          <p:cNvSpPr/>
          <p:nvPr/>
        </p:nvSpPr>
        <p:spPr>
          <a:xfrm>
            <a:off x="2478024" y="896112"/>
            <a:ext cx="246888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9464" y="896112"/>
            <a:ext cx="228600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Ведущая дисциплина</a:t>
            </a:r>
          </a:p>
        </p:txBody>
      </p:sp>
      <p:sp>
        <p:nvSpPr>
          <p:cNvPr id="7" name="Rounded Rectangle 6"/>
          <p:cNvSpPr/>
          <p:nvPr/>
        </p:nvSpPr>
        <p:spPr>
          <a:xfrm>
            <a:off x="5001768" y="896112"/>
            <a:ext cx="20574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93208" y="896112"/>
            <a:ext cx="1874519"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Что удешевил ИИ</a:t>
            </a:r>
          </a:p>
        </p:txBody>
      </p:sp>
      <p:sp>
        <p:nvSpPr>
          <p:cNvPr id="9" name="Rounded Rectangle 8"/>
          <p:cNvSpPr/>
          <p:nvPr/>
        </p:nvSpPr>
        <p:spPr>
          <a:xfrm>
            <a:off x="7114032" y="896112"/>
            <a:ext cx="22860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5472" y="896112"/>
            <a:ext cx="210312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Режим отказа</a:t>
            </a:r>
          </a:p>
        </p:txBody>
      </p:sp>
      <p:sp>
        <p:nvSpPr>
          <p:cNvPr id="11" name="Rounded Rectangle 10"/>
          <p:cNvSpPr/>
          <p:nvPr/>
        </p:nvSpPr>
        <p:spPr>
          <a:xfrm>
            <a:off x="9454896" y="896112"/>
            <a:ext cx="2249424"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46336" y="896112"/>
            <a:ext cx="2066543"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Где человек обязателен</a:t>
            </a:r>
          </a:p>
        </p:txBody>
      </p:sp>
      <p:sp>
        <p:nvSpPr>
          <p:cNvPr id="13" name="Rounded Rectangle 12"/>
          <p:cNvSpPr/>
          <p:nvPr/>
        </p:nvSpPr>
        <p:spPr>
          <a:xfrm>
            <a:off x="502920" y="1325880"/>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517904"/>
            <a:ext cx="274320" cy="274320"/>
          </a:xfrm>
          <a:prstGeom prst="rect">
            <a:avLst/>
          </a:prstGeom>
        </p:spPr>
      </p:pic>
      <p:sp>
        <p:nvSpPr>
          <p:cNvPr id="15" name="TextBox 14"/>
          <p:cNvSpPr txBox="1"/>
          <p:nvPr/>
        </p:nvSpPr>
        <p:spPr>
          <a:xfrm>
            <a:off x="978408" y="1371600"/>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Исследование</a:t>
            </a:r>
          </a:p>
        </p:txBody>
      </p:sp>
      <p:sp>
        <p:nvSpPr>
          <p:cNvPr id="16" name="Rounded Rectangle 15"/>
          <p:cNvSpPr/>
          <p:nvPr/>
        </p:nvSpPr>
        <p:spPr>
          <a:xfrm>
            <a:off x="2478024" y="1325880"/>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06040" y="1371600"/>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Развитие клиента и «The Mom Test»: проверяемая гипотеза</a:t>
            </a:r>
          </a:p>
        </p:txBody>
      </p:sp>
      <p:sp>
        <p:nvSpPr>
          <p:cNvPr id="18" name="Rounded Rectangle 17"/>
          <p:cNvSpPr/>
          <p:nvPr/>
        </p:nvSpPr>
        <p:spPr>
          <a:xfrm>
            <a:off x="5001768" y="1325880"/>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371600"/>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Кабинетный поиск, ведение и сведение разговоров</a:t>
            </a:r>
          </a:p>
        </p:txBody>
      </p:sp>
      <p:sp>
        <p:nvSpPr>
          <p:cNvPr id="20" name="Rounded Rectangle 19"/>
          <p:cNvSpPr/>
          <p:nvPr/>
        </p:nvSpPr>
        <p:spPr>
          <a:xfrm>
            <a:off x="7114032" y="1325880"/>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1371600"/>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Угодливость: синтетический источник не скажет «нет»</a:t>
            </a:r>
          </a:p>
        </p:txBody>
      </p:sp>
      <p:sp>
        <p:nvSpPr>
          <p:cNvPr id="22" name="Rounded Rectangle 21"/>
          <p:cNvSpPr/>
          <p:nvPr/>
        </p:nvSpPr>
        <p:spPr>
          <a:xfrm>
            <a:off x="9454896" y="1325880"/>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82912" y="1371600"/>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Проверка реальным прошлым и реальным обязательством</a:t>
            </a:r>
          </a:p>
        </p:txBody>
      </p:sp>
      <p:sp>
        <p:nvSpPr>
          <p:cNvPr id="24" name="Rounded Rectangle 23"/>
          <p:cNvSpPr/>
          <p:nvPr/>
        </p:nvSpPr>
        <p:spPr>
          <a:xfrm>
            <a:off x="502920" y="2029967"/>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221991"/>
            <a:ext cx="274320" cy="274320"/>
          </a:xfrm>
          <a:prstGeom prst="rect">
            <a:avLst/>
          </a:prstGeom>
        </p:spPr>
      </p:pic>
      <p:sp>
        <p:nvSpPr>
          <p:cNvPr id="26" name="TextBox 25"/>
          <p:cNvSpPr txBox="1"/>
          <p:nvPr/>
        </p:nvSpPr>
        <p:spPr>
          <a:xfrm>
            <a:off x="978408" y="2075687"/>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Дизайн</a:t>
            </a:r>
          </a:p>
        </p:txBody>
      </p:sp>
      <p:sp>
        <p:nvSpPr>
          <p:cNvPr id="27" name="Rounded Rectangle 26"/>
          <p:cNvSpPr/>
          <p:nvPr/>
        </p:nvSpPr>
        <p:spPr>
          <a:xfrm>
            <a:off x="2478024" y="2029967"/>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06040" y="2075687"/>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Двойной ромб, эвристики Нильсена, дизайн-система</a:t>
            </a:r>
          </a:p>
        </p:txBody>
      </p:sp>
      <p:sp>
        <p:nvSpPr>
          <p:cNvPr id="29" name="Rounded Rectangle 28"/>
          <p:cNvSpPr/>
          <p:nvPr/>
        </p:nvSpPr>
        <p:spPr>
          <a:xfrm>
            <a:off x="5001768" y="2029967"/>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9784" y="2075687"/>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Варианты экрана: −20% времени против базы</a:t>
            </a:r>
          </a:p>
        </p:txBody>
      </p:sp>
      <p:sp>
        <p:nvSpPr>
          <p:cNvPr id="31" name="Rounded Rectangle 30"/>
          <p:cNvSpPr/>
          <p:nvPr/>
        </p:nvSpPr>
        <p:spPr>
          <a:xfrm>
            <a:off x="7114032" y="2029967"/>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42048" y="2075687"/>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Пробелы доступности; один запрос даёт разные ответы</a:t>
            </a:r>
          </a:p>
        </p:txBody>
      </p:sp>
      <p:sp>
        <p:nvSpPr>
          <p:cNvPr id="33" name="Rounded Rectangle 32"/>
          <p:cNvSpPr/>
          <p:nvPr/>
        </p:nvSpPr>
        <p:spPr>
          <a:xfrm>
            <a:off x="9454896" y="2029967"/>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82912" y="2075687"/>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Сведение к контексту; проверка, умеющая остановить выпуск</a:t>
            </a:r>
          </a:p>
        </p:txBody>
      </p:sp>
      <p:sp>
        <p:nvSpPr>
          <p:cNvPr id="35" name="Rounded Rectangle 34"/>
          <p:cNvSpPr/>
          <p:nvPr/>
        </p:nvSpPr>
        <p:spPr>
          <a:xfrm>
            <a:off x="502920" y="2734055"/>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926079"/>
            <a:ext cx="274320" cy="274320"/>
          </a:xfrm>
          <a:prstGeom prst="rect">
            <a:avLst/>
          </a:prstGeom>
        </p:spPr>
      </p:pic>
      <p:sp>
        <p:nvSpPr>
          <p:cNvPr id="37" name="TextBox 36"/>
          <p:cNvSpPr txBox="1"/>
          <p:nvPr/>
        </p:nvSpPr>
        <p:spPr>
          <a:xfrm>
            <a:off x="978408" y="2779775"/>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Сборка и запуск</a:t>
            </a:r>
          </a:p>
        </p:txBody>
      </p:sp>
      <p:sp>
        <p:nvSpPr>
          <p:cNvPr id="38" name="Rounded Rectangle 37"/>
          <p:cNvSpPr/>
          <p:nvPr/>
        </p:nvSpPr>
        <p:spPr>
          <a:xfrm>
            <a:off x="2478024" y="2734055"/>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06040" y="2779775"/>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Минимально жизнеспособный продукт; рубеж остановки</a:t>
            </a:r>
          </a:p>
        </p:txBody>
      </p:sp>
      <p:sp>
        <p:nvSpPr>
          <p:cNvPr id="40" name="Rounded Rectangle 39"/>
          <p:cNvSpPr/>
          <p:nvPr/>
        </p:nvSpPr>
        <p:spPr>
          <a:xfrm>
            <a:off x="5001768" y="2734055"/>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2779775"/>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Сама сборка: шаблонный и связующий код</a:t>
            </a:r>
          </a:p>
        </p:txBody>
      </p:sp>
      <p:sp>
        <p:nvSpPr>
          <p:cNvPr id="42" name="Rounded Rectangle 41"/>
          <p:cNvSpPr/>
          <p:nvPr/>
        </p:nvSpPr>
        <p:spPr>
          <a:xfrm>
            <a:off x="7114032" y="2734055"/>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42048" y="2779775"/>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Пропуск рубежа; раскатка сразу на всю аудиторию</a:t>
            </a:r>
          </a:p>
        </p:txBody>
      </p:sp>
      <p:sp>
        <p:nvSpPr>
          <p:cNvPr id="44" name="Rounded Rectangle 43"/>
          <p:cNvSpPr/>
          <p:nvPr/>
        </p:nvSpPr>
        <p:spPr>
          <a:xfrm>
            <a:off x="9454896" y="2734055"/>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82912" y="2779775"/>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Спецификация намерения; решение о темпе и об остановке</a:t>
            </a:r>
          </a:p>
        </p:txBody>
      </p:sp>
      <p:sp>
        <p:nvSpPr>
          <p:cNvPr id="46" name="Rounded Rectangle 45"/>
          <p:cNvSpPr/>
          <p:nvPr/>
        </p:nvSpPr>
        <p:spPr>
          <a:xfrm>
            <a:off x="502920" y="3438143"/>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630167"/>
            <a:ext cx="274320" cy="274320"/>
          </a:xfrm>
          <a:prstGeom prst="rect">
            <a:avLst/>
          </a:prstGeom>
        </p:spPr>
      </p:pic>
      <p:sp>
        <p:nvSpPr>
          <p:cNvPr id="48" name="TextBox 47"/>
          <p:cNvSpPr txBox="1"/>
          <p:nvPr/>
        </p:nvSpPr>
        <p:spPr>
          <a:xfrm>
            <a:off x="978408" y="3483863"/>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Измерение</a:t>
            </a:r>
          </a:p>
        </p:txBody>
      </p:sp>
      <p:sp>
        <p:nvSpPr>
          <p:cNvPr id="49" name="Rounded Rectangle 48"/>
          <p:cNvSpPr/>
          <p:nvPr/>
        </p:nvSpPr>
        <p:spPr>
          <a:xfrm>
            <a:off x="2478024" y="3438143"/>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06040" y="3483863"/>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Контролируемый эксперимент; метрика-ограничитель</a:t>
            </a:r>
          </a:p>
        </p:txBody>
      </p:sp>
      <p:sp>
        <p:nvSpPr>
          <p:cNvPr id="51" name="Rounded Rectangle 50"/>
          <p:cNvSpPr/>
          <p:nvPr/>
        </p:nvSpPr>
        <p:spPr>
          <a:xfrm>
            <a:off x="5001768" y="3438143"/>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3483863"/>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Оценка качества в масштабе; дешёвый первый проход</a:t>
            </a:r>
          </a:p>
        </p:txBody>
      </p:sp>
      <p:sp>
        <p:nvSpPr>
          <p:cNvPr id="53" name="Rounded Rectangle 52"/>
          <p:cNvSpPr/>
          <p:nvPr/>
        </p:nvSpPr>
        <p:spPr>
          <a:xfrm>
            <a:off x="7114032" y="3438143"/>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42048" y="3483863"/>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Взломанная косвенная метрика; замер не переносится на задачу</a:t>
            </a:r>
          </a:p>
        </p:txBody>
      </p:sp>
      <p:sp>
        <p:nvSpPr>
          <p:cNvPr id="55" name="Rounded Rectangle 54"/>
          <p:cNvSpPr/>
          <p:nvPr/>
        </p:nvSpPr>
        <p:spPr>
          <a:xfrm>
            <a:off x="9454896" y="3438143"/>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82912" y="3483863"/>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и метрика-ограничитель названы до теста</a:t>
            </a:r>
          </a:p>
        </p:txBody>
      </p:sp>
      <p:sp>
        <p:nvSpPr>
          <p:cNvPr id="57" name="Rounded Rectangle 56"/>
          <p:cNvSpPr/>
          <p:nvPr/>
        </p:nvSpPr>
        <p:spPr>
          <a:xfrm>
            <a:off x="502920" y="4142231"/>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334255"/>
            <a:ext cx="274320" cy="274320"/>
          </a:xfrm>
          <a:prstGeom prst="rect">
            <a:avLst/>
          </a:prstGeom>
        </p:spPr>
      </p:pic>
      <p:sp>
        <p:nvSpPr>
          <p:cNvPr id="59" name="TextBox 58"/>
          <p:cNvSpPr txBox="1"/>
          <p:nvPr/>
        </p:nvSpPr>
        <p:spPr>
          <a:xfrm>
            <a:off x="978408" y="4187951"/>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Поддержка</a:t>
            </a:r>
          </a:p>
        </p:txBody>
      </p:sp>
      <p:sp>
        <p:nvSpPr>
          <p:cNvPr id="60" name="Rounded Rectangle 59"/>
          <p:cNvSpPr/>
          <p:nvPr/>
        </p:nvSpPr>
        <p:spPr>
          <a:xfrm>
            <a:off x="2478024" y="4142231"/>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606040" y="4187951"/>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Инженерия надёжности: цель уровня сервиса, бюджет ошибок</a:t>
            </a:r>
          </a:p>
        </p:txBody>
      </p:sp>
      <p:sp>
        <p:nvSpPr>
          <p:cNvPr id="62" name="Rounded Rectangle 61"/>
          <p:cNvSpPr/>
          <p:nvPr/>
        </p:nvSpPr>
        <p:spPr>
          <a:xfrm>
            <a:off x="5001768" y="4142231"/>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129784" y="4187951"/>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Подсказка оператору: +15% решений в час от базы 2,1</a:t>
            </a:r>
          </a:p>
        </p:txBody>
      </p:sp>
      <p:sp>
        <p:nvSpPr>
          <p:cNvPr id="64" name="Rounded Rectangle 63"/>
          <p:cNvSpPr/>
          <p:nvPr/>
        </p:nvSpPr>
        <p:spPr>
          <a:xfrm>
            <a:off x="7114032" y="4142231"/>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42048" y="4187951"/>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Тихий дрейф маскируется средним по всем ответам</a:t>
            </a:r>
          </a:p>
        </p:txBody>
      </p:sp>
      <p:sp>
        <p:nvSpPr>
          <p:cNvPr id="66" name="Rounded Rectangle 65"/>
          <p:cNvSpPr/>
          <p:nvPr/>
        </p:nvSpPr>
        <p:spPr>
          <a:xfrm>
            <a:off x="9454896" y="4142231"/>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582912" y="4187951"/>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Системная модель и ответственность за каждый ответ</a:t>
            </a:r>
          </a:p>
        </p:txBody>
      </p:sp>
      <p:sp>
        <p:nvSpPr>
          <p:cNvPr id="68" name="Rounded Rectangle 67"/>
          <p:cNvSpPr/>
          <p:nvPr/>
        </p:nvSpPr>
        <p:spPr>
          <a:xfrm>
            <a:off x="502920" y="4846319"/>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5038343"/>
            <a:ext cx="274320" cy="274320"/>
          </a:xfrm>
          <a:prstGeom prst="rect">
            <a:avLst/>
          </a:prstGeom>
        </p:spPr>
      </p:pic>
      <p:sp>
        <p:nvSpPr>
          <p:cNvPr id="70" name="TextBox 69"/>
          <p:cNvSpPr txBox="1"/>
          <p:nvPr/>
        </p:nvSpPr>
        <p:spPr>
          <a:xfrm>
            <a:off x="978408" y="4892039"/>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Управление</a:t>
            </a:r>
          </a:p>
        </p:txBody>
      </p:sp>
      <p:sp>
        <p:nvSpPr>
          <p:cNvPr id="71" name="Rounded Rectangle 70"/>
          <p:cNvSpPr/>
          <p:nvPr/>
        </p:nvSpPr>
        <p:spPr>
          <a:xfrm>
            <a:off x="2478024" y="4846319"/>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606040" y="4892039"/>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Портфельное управление; у каждой цифры есть владелец</a:t>
            </a:r>
          </a:p>
        </p:txBody>
      </p:sp>
      <p:sp>
        <p:nvSpPr>
          <p:cNvPr id="73" name="Rounded Rectangle 72"/>
          <p:cNvSpPr/>
          <p:nvPr/>
        </p:nvSpPr>
        <p:spPr>
          <a:xfrm>
            <a:off x="5001768" y="4846319"/>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29784" y="4892039"/>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Ничего: здесь ИИ добавляет расход, растущий с масштабом</a:t>
            </a:r>
          </a:p>
        </p:txBody>
      </p:sp>
      <p:sp>
        <p:nvSpPr>
          <p:cNvPr id="75" name="Rounded Rectangle 74"/>
          <p:cNvSpPr/>
          <p:nvPr/>
        </p:nvSpPr>
        <p:spPr>
          <a:xfrm>
            <a:off x="7114032" y="4846319"/>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242048" y="4892039"/>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Статистика без знаменателя</a:t>
            </a:r>
          </a:p>
        </p:txBody>
      </p:sp>
      <p:sp>
        <p:nvSpPr>
          <p:cNvPr id="77" name="Rounded Rectangle 76"/>
          <p:cNvSpPr/>
          <p:nvPr/>
        </p:nvSpPr>
        <p:spPr>
          <a:xfrm>
            <a:off x="9454896" y="4846319"/>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582912" y="4892039"/>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успеха согласован заранее; своя базовая линия</a:t>
            </a:r>
          </a:p>
        </p:txBody>
      </p:sp>
      <p:sp>
        <p:nvSpPr>
          <p:cNvPr id="79" name="Rounded Rectangle 78"/>
          <p:cNvSpPr/>
          <p:nvPr/>
        </p:nvSpPr>
        <p:spPr>
          <a:xfrm>
            <a:off x="502920" y="5705855"/>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22376" y="5760719"/>
            <a:ext cx="10762488" cy="621792"/>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Как читать: назовите фазу своей задачи — строка отвечает по порядку, какую дисциплину держать, чем здесь помогает ИИ, какой отказ стеречь и что остаётся за человеком. Имена инструментов сменяемы; четыре столбца держатся на характере сложности и цене ошибки фазы.</a:t>
            </a:r>
          </a:p>
        </p:txBody>
      </p:sp>
      <p:sp>
        <p:nvSpPr>
          <p:cNvPr id="81" name="TextBox 8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5486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Три оси решают, можно ли убрать человека с рубежа</a:t>
            </a:r>
          </a:p>
        </p:txBody>
      </p:sp>
      <p:sp>
        <p:nvSpPr>
          <p:cNvPr id="3" name="Rounded Rectangle 2"/>
          <p:cNvSpPr/>
          <p:nvPr/>
        </p:nvSpPr>
        <p:spPr>
          <a:xfrm>
            <a:off x="502920" y="1024128"/>
            <a:ext cx="11201400" cy="493776"/>
          </a:xfrm>
          <a:prstGeom prst="roundRect">
            <a:avLst>
              <a:gd name="adj" fmla="val 22000"/>
            </a:avLst>
          </a:prstGeom>
          <a:solidFill>
            <a:srgbClr val="E1EAF0"/>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24128"/>
            <a:ext cx="10744200" cy="493776"/>
          </a:xfrm>
          <a:prstGeom prst="rect">
            <a:avLst/>
          </a:prstGeom>
          <a:noFill/>
        </p:spPr>
        <p:txBody>
          <a:bodyPr wrap="square" lIns="0" rIns="0" tIns="0" bIns="0" anchor="ctr">
            <a:spAutoFit/>
          </a:bodyPr>
          <a:lstStyle/>
          <a:p>
            <a:pPr algn="l">
              <a:lnSpc>
                <a:spcPct val="108000"/>
              </a:lnSpc>
            </a:pPr>
            <a:r>
              <a:rPr sz="1150" b="1" i="0">
                <a:solidFill>
                  <a:srgbClr val="21295C"/>
                </a:solidFill>
                <a:latin typeface="DejaVu Sans"/>
              </a:rPr>
              <a:t>Раньше всех трёх — вопрос о классической дисциплине фазы: </a:t>
            </a:r>
            <a:r>
              <a:rPr sz="1150" b="0" i="0">
                <a:solidFill>
                  <a:srgbClr val="21295C"/>
                </a:solidFill>
                <a:latin typeface="DejaVu Sans"/>
              </a:rPr>
              <a:t>нет её — сначала выстраивают, в пустоте усиливать нечего.</a:t>
            </a:r>
          </a:p>
        </p:txBody>
      </p:sp>
      <p:sp>
        <p:nvSpPr>
          <p:cNvPr id="5" name="Rounded Rectangle 4"/>
          <p:cNvSpPr/>
          <p:nvPr/>
        </p:nvSpPr>
        <p:spPr>
          <a:xfrm>
            <a:off x="502920" y="1792224"/>
            <a:ext cx="3575304" cy="3255264"/>
          </a:xfrm>
          <a:prstGeom prst="roundRect">
            <a:avLst>
              <a:gd name="adj" fmla="val 9363"/>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tate-ccw-mid.png"/>
          <p:cNvPicPr>
            <a:picLocks noChangeAspect="1"/>
          </p:cNvPicPr>
          <p:nvPr/>
        </p:nvPicPr>
        <p:blipFill>
          <a:blip r:embed="rId2"/>
          <a:stretch>
            <a:fillRect/>
          </a:stretch>
        </p:blipFill>
        <p:spPr>
          <a:xfrm>
            <a:off x="1933956" y="2029967"/>
            <a:ext cx="713232" cy="713232"/>
          </a:xfrm>
          <a:prstGeom prst="rect">
            <a:avLst/>
          </a:prstGeom>
        </p:spPr>
      </p:pic>
      <p:sp>
        <p:nvSpPr>
          <p:cNvPr id="7" name="TextBox 6"/>
          <p:cNvSpPr txBox="1"/>
          <p:nvPr/>
        </p:nvSpPr>
        <p:spPr>
          <a:xfrm>
            <a:off x="685800" y="2852928"/>
            <a:ext cx="3209544" cy="438912"/>
          </a:xfrm>
          <a:prstGeom prst="rect">
            <a:avLst/>
          </a:prstGeom>
          <a:noFill/>
        </p:spPr>
        <p:txBody>
          <a:bodyPr wrap="square" lIns="0" rIns="0" tIns="0" bIns="0" anchor="ctr">
            <a:spAutoFit/>
          </a:bodyPr>
          <a:lstStyle/>
          <a:p>
            <a:pPr algn="ctr">
              <a:lnSpc>
                <a:spcPct val="100000"/>
              </a:lnSpc>
            </a:pPr>
            <a:r>
              <a:rPr sz="1900" b="1" i="0">
                <a:solidFill>
                  <a:srgbClr val="028090"/>
                </a:solidFill>
                <a:latin typeface="DejaVu Sans"/>
              </a:rPr>
              <a:t>Обратимость</a:t>
            </a:r>
          </a:p>
        </p:txBody>
      </p:sp>
      <p:sp>
        <p:nvSpPr>
          <p:cNvPr id="8" name="TextBox 7"/>
          <p:cNvSpPr txBox="1"/>
          <p:nvPr/>
        </p:nvSpPr>
        <p:spPr>
          <a:xfrm>
            <a:off x="758952" y="3383280"/>
            <a:ext cx="3063240" cy="713232"/>
          </a:xfrm>
          <a:prstGeom prst="rect">
            <a:avLst/>
          </a:prstGeom>
          <a:noFill/>
        </p:spPr>
        <p:txBody>
          <a:bodyPr wrap="square" lIns="0" rIns="0" tIns="0" bIns="0" anchor="t">
            <a:spAutoFit/>
          </a:bodyPr>
          <a:lstStyle/>
          <a:p>
            <a:pPr algn="ctr">
              <a:lnSpc>
                <a:spcPct val="116000"/>
              </a:lnSpc>
            </a:pPr>
            <a:r>
              <a:rPr sz="1200" b="0" i="0">
                <a:solidFill>
                  <a:srgbClr val="21295C"/>
                </a:solidFill>
                <a:latin typeface="DejaVu Sans"/>
              </a:rPr>
              <a:t>Легко ли откатить последствие, если вывод неверен</a:t>
            </a:r>
          </a:p>
        </p:txBody>
      </p:sp>
      <p:sp>
        <p:nvSpPr>
          <p:cNvPr id="9" name="Rounded Rectangle 8"/>
          <p:cNvSpPr/>
          <p:nvPr/>
        </p:nvSpPr>
        <p:spPr>
          <a:xfrm>
            <a:off x="722376" y="4187952"/>
            <a:ext cx="3136392" cy="694944"/>
          </a:xfrm>
          <a:prstGeom prst="roundRect">
            <a:avLst>
              <a:gd name="adj" fmla="val 12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4187952"/>
            <a:ext cx="2953512" cy="694944"/>
          </a:xfrm>
          <a:prstGeom prst="rect">
            <a:avLst/>
          </a:prstGeom>
          <a:noFill/>
        </p:spPr>
        <p:txBody>
          <a:bodyPr wrap="square" lIns="0" rIns="0" tIns="0" bIns="0" anchor="ctr">
            <a:spAutoFit/>
          </a:bodyPr>
          <a:lstStyle/>
          <a:p>
            <a:pPr algn="ctr">
              <a:lnSpc>
                <a:spcPct val="112000"/>
              </a:lnSpc>
            </a:pPr>
            <a:r>
              <a:rPr sz="1100" b="1" i="0">
                <a:solidFill>
                  <a:srgbClr val="21295C"/>
                </a:solidFill>
                <a:latin typeface="DejaVu Sans"/>
              </a:rPr>
              <a:t>Низкая → поэтапность и путь отката</a:t>
            </a:r>
          </a:p>
        </p:txBody>
      </p:sp>
      <p:sp>
        <p:nvSpPr>
          <p:cNvPr id="11" name="Rounded Rectangle 10"/>
          <p:cNvSpPr/>
          <p:nvPr/>
        </p:nvSpPr>
        <p:spPr>
          <a:xfrm>
            <a:off x="4315968" y="1792224"/>
            <a:ext cx="3575304" cy="3255264"/>
          </a:xfrm>
          <a:prstGeom prst="roundRect">
            <a:avLst>
              <a:gd name="adj" fmla="val 9363"/>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anknote-mid.png"/>
          <p:cNvPicPr>
            <a:picLocks noChangeAspect="1"/>
          </p:cNvPicPr>
          <p:nvPr/>
        </p:nvPicPr>
        <p:blipFill>
          <a:blip r:embed="rId3"/>
          <a:stretch>
            <a:fillRect/>
          </a:stretch>
        </p:blipFill>
        <p:spPr>
          <a:xfrm>
            <a:off x="5747004" y="2029967"/>
            <a:ext cx="713232" cy="713232"/>
          </a:xfrm>
          <a:prstGeom prst="rect">
            <a:avLst/>
          </a:prstGeom>
        </p:spPr>
      </p:pic>
      <p:sp>
        <p:nvSpPr>
          <p:cNvPr id="13" name="TextBox 12"/>
          <p:cNvSpPr txBox="1"/>
          <p:nvPr/>
        </p:nvSpPr>
        <p:spPr>
          <a:xfrm>
            <a:off x="4498848" y="2852928"/>
            <a:ext cx="3209544" cy="438912"/>
          </a:xfrm>
          <a:prstGeom prst="rect">
            <a:avLst/>
          </a:prstGeom>
          <a:noFill/>
        </p:spPr>
        <p:txBody>
          <a:bodyPr wrap="square" lIns="0" rIns="0" tIns="0" bIns="0" anchor="ctr">
            <a:spAutoFit/>
          </a:bodyPr>
          <a:lstStyle/>
          <a:p>
            <a:pPr algn="ctr">
              <a:lnSpc>
                <a:spcPct val="100000"/>
              </a:lnSpc>
            </a:pPr>
            <a:r>
              <a:rPr sz="1900" b="1" i="0">
                <a:solidFill>
                  <a:srgbClr val="065A82"/>
                </a:solidFill>
                <a:latin typeface="DejaVu Sans"/>
              </a:rPr>
              <a:t>Цена ошибки</a:t>
            </a:r>
          </a:p>
        </p:txBody>
      </p:sp>
      <p:sp>
        <p:nvSpPr>
          <p:cNvPr id="14" name="TextBox 13"/>
          <p:cNvSpPr txBox="1"/>
          <p:nvPr/>
        </p:nvSpPr>
        <p:spPr>
          <a:xfrm>
            <a:off x="4572000" y="3383280"/>
            <a:ext cx="3063240" cy="713232"/>
          </a:xfrm>
          <a:prstGeom prst="rect">
            <a:avLst/>
          </a:prstGeom>
          <a:noFill/>
        </p:spPr>
        <p:txBody>
          <a:bodyPr wrap="square" lIns="0" rIns="0" tIns="0" bIns="0" anchor="t">
            <a:spAutoFit/>
          </a:bodyPr>
          <a:lstStyle/>
          <a:p>
            <a:pPr algn="ctr">
              <a:lnSpc>
                <a:spcPct val="116000"/>
              </a:lnSpc>
            </a:pPr>
            <a:r>
              <a:rPr sz="1200" b="0" i="0">
                <a:solidFill>
                  <a:srgbClr val="21295C"/>
                </a:solidFill>
                <a:latin typeface="DejaVu Sans"/>
              </a:rPr>
              <a:t>Во что обойдётся ошибка: деньги, репутация, здоровье</a:t>
            </a:r>
          </a:p>
        </p:txBody>
      </p:sp>
      <p:sp>
        <p:nvSpPr>
          <p:cNvPr id="15" name="Rounded Rectangle 14"/>
          <p:cNvSpPr/>
          <p:nvPr/>
        </p:nvSpPr>
        <p:spPr>
          <a:xfrm>
            <a:off x="4535424" y="4187952"/>
            <a:ext cx="3136392" cy="694944"/>
          </a:xfrm>
          <a:prstGeom prst="roundRect">
            <a:avLst>
              <a:gd name="adj" fmla="val 12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4187952"/>
            <a:ext cx="2953512" cy="694944"/>
          </a:xfrm>
          <a:prstGeom prst="rect">
            <a:avLst/>
          </a:prstGeom>
          <a:noFill/>
        </p:spPr>
        <p:txBody>
          <a:bodyPr wrap="square" lIns="0" rIns="0" tIns="0" bIns="0" anchor="ctr">
            <a:spAutoFit/>
          </a:bodyPr>
          <a:lstStyle/>
          <a:p>
            <a:pPr algn="ctr">
              <a:lnSpc>
                <a:spcPct val="112000"/>
              </a:lnSpc>
            </a:pPr>
            <a:r>
              <a:rPr sz="1100" b="1" i="0">
                <a:solidFill>
                  <a:srgbClr val="21295C"/>
                </a:solidFill>
                <a:latin typeface="DejaVu Sans"/>
              </a:rPr>
              <a:t>Высокая → названный владелец решения</a:t>
            </a:r>
          </a:p>
        </p:txBody>
      </p:sp>
      <p:sp>
        <p:nvSpPr>
          <p:cNvPr id="17" name="Rounded Rectangle 16"/>
          <p:cNvSpPr/>
          <p:nvPr/>
        </p:nvSpPr>
        <p:spPr>
          <a:xfrm>
            <a:off x="8129016" y="1792224"/>
            <a:ext cx="3575304" cy="3255264"/>
          </a:xfrm>
          <a:prstGeom prst="roundRect">
            <a:avLst>
              <a:gd name="adj" fmla="val 9363"/>
            </a:avLst>
          </a:prstGeom>
          <a:solidFill>
            <a:srgbClr val="F4F7FA"/>
          </a:solidFill>
          <a:ln w="2286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eye-mid.png"/>
          <p:cNvPicPr>
            <a:picLocks noChangeAspect="1"/>
          </p:cNvPicPr>
          <p:nvPr/>
        </p:nvPicPr>
        <p:blipFill>
          <a:blip r:embed="rId4"/>
          <a:stretch>
            <a:fillRect/>
          </a:stretch>
        </p:blipFill>
        <p:spPr>
          <a:xfrm>
            <a:off x="9560052" y="2029967"/>
            <a:ext cx="713232" cy="713232"/>
          </a:xfrm>
          <a:prstGeom prst="rect">
            <a:avLst/>
          </a:prstGeom>
        </p:spPr>
      </p:pic>
      <p:sp>
        <p:nvSpPr>
          <p:cNvPr id="19" name="TextBox 18"/>
          <p:cNvSpPr txBox="1"/>
          <p:nvPr/>
        </p:nvSpPr>
        <p:spPr>
          <a:xfrm>
            <a:off x="8311896" y="2852928"/>
            <a:ext cx="3209544" cy="438912"/>
          </a:xfrm>
          <a:prstGeom prst="rect">
            <a:avLst/>
          </a:prstGeom>
          <a:noFill/>
        </p:spPr>
        <p:txBody>
          <a:bodyPr wrap="square" lIns="0" rIns="0" tIns="0" bIns="0" anchor="ctr">
            <a:spAutoFit/>
          </a:bodyPr>
          <a:lstStyle/>
          <a:p>
            <a:pPr algn="ctr">
              <a:lnSpc>
                <a:spcPct val="100000"/>
              </a:lnSpc>
            </a:pPr>
            <a:r>
              <a:rPr sz="1900" b="1" i="0">
                <a:solidFill>
                  <a:srgbClr val="1C7293"/>
                </a:solidFill>
                <a:latin typeface="DejaVu Sans"/>
              </a:rPr>
              <a:t>Наблюдаемость</a:t>
            </a:r>
          </a:p>
        </p:txBody>
      </p:sp>
      <p:sp>
        <p:nvSpPr>
          <p:cNvPr id="20" name="TextBox 19"/>
          <p:cNvSpPr txBox="1"/>
          <p:nvPr/>
        </p:nvSpPr>
        <p:spPr>
          <a:xfrm>
            <a:off x="8385048" y="3383280"/>
            <a:ext cx="3063240" cy="713232"/>
          </a:xfrm>
          <a:prstGeom prst="rect">
            <a:avLst/>
          </a:prstGeom>
          <a:noFill/>
        </p:spPr>
        <p:txBody>
          <a:bodyPr wrap="square" lIns="0" rIns="0" tIns="0" bIns="0" anchor="t">
            <a:spAutoFit/>
          </a:bodyPr>
          <a:lstStyle/>
          <a:p>
            <a:pPr algn="ctr">
              <a:lnSpc>
                <a:spcPct val="116000"/>
              </a:lnSpc>
            </a:pPr>
            <a:r>
              <a:rPr sz="1200" b="0" i="0">
                <a:solidFill>
                  <a:srgbClr val="21295C"/>
                </a:solidFill>
                <a:latin typeface="DejaVu Sans"/>
              </a:rPr>
              <a:t>Как быстро видно, что вывод неверен</a:t>
            </a:r>
          </a:p>
        </p:txBody>
      </p:sp>
      <p:sp>
        <p:nvSpPr>
          <p:cNvPr id="21" name="Rounded Rectangle 20"/>
          <p:cNvSpPr/>
          <p:nvPr/>
        </p:nvSpPr>
        <p:spPr>
          <a:xfrm>
            <a:off x="8348472" y="4187952"/>
            <a:ext cx="3136392" cy="694944"/>
          </a:xfrm>
          <a:prstGeom prst="roundRect">
            <a:avLst>
              <a:gd name="adj" fmla="val 12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2" y="4187952"/>
            <a:ext cx="2953512" cy="694944"/>
          </a:xfrm>
          <a:prstGeom prst="rect">
            <a:avLst/>
          </a:prstGeom>
          <a:noFill/>
        </p:spPr>
        <p:txBody>
          <a:bodyPr wrap="square" lIns="0" rIns="0" tIns="0" bIns="0" anchor="ctr">
            <a:spAutoFit/>
          </a:bodyPr>
          <a:lstStyle/>
          <a:p>
            <a:pPr algn="ctr">
              <a:lnSpc>
                <a:spcPct val="112000"/>
              </a:lnSpc>
            </a:pPr>
            <a:r>
              <a:rPr sz="1100" b="1" i="0">
                <a:solidFill>
                  <a:srgbClr val="21295C"/>
                </a:solidFill>
                <a:latin typeface="DejaVu Sans"/>
              </a:rPr>
              <a:t>Низкая → петля оценок и метрика-ограничитель</a:t>
            </a:r>
          </a:p>
        </p:txBody>
      </p:sp>
      <p:sp>
        <p:nvSpPr>
          <p:cNvPr id="23" name="Rounded Rectangle 22"/>
          <p:cNvSpPr/>
          <p:nvPr/>
        </p:nvSpPr>
        <p:spPr>
          <a:xfrm>
            <a:off x="502920" y="5230368"/>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713232"/>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Ни одна ось не запрещает ИИ — каждая называет, что должно стоять рядом. Все три в хорошем положении — человека с рубежа можно убрать; любое другое сочетание требует рубежа по проблемной оси.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55 / 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Метод переносится, список инструментов — нет: код был первым полигоном, продукт — вторым</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43600"/>
            <a:ext cx="7223760" cy="438912"/>
          </a:xfrm>
          <a:prstGeom prst="rect">
            <a:avLst/>
          </a:prstGeom>
          <a:noFill/>
        </p:spPr>
        <p:txBody>
          <a:bodyPr wrap="square" lIns="0" rIns="0" tIns="0" bIns="0" anchor="t">
            <a:spAutoFit/>
          </a:bodyPr>
          <a:lstStyle/>
          <a:p>
            <a:pPr algn="l">
              <a:lnSpc>
                <a:spcPct val="108000"/>
              </a:lnSpc>
            </a:pPr>
            <a:r>
              <a:rPr sz="1000" b="0" i="1">
                <a:solidFill>
                  <a:srgbClr val="5B6678"/>
                </a:solidFill>
                <a:latin typeface="DejaVu Sans"/>
              </a:rPr>
              <a:t>Инженер за рабочей станцией системы автоматизированного проектирования (САПР) со световым пером, конец 1970-х: инструмент исчез — дисциплина проектирования осталась</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Курс не учит «применяйте ИИ больше» и не учит «бойтесь ИИ» — он учит говорить обоснованное «да» и обоснованное «нет».</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Семинар 7</a:t>
            </a:r>
          </a:p>
        </p:txBody>
      </p:sp>
      <p:sp>
        <p:nvSpPr>
          <p:cNvPr id="10" name="TextBox 9"/>
          <p:cNvSpPr txBox="1"/>
          <p:nvPr/>
        </p:nvSpPr>
        <p:spPr>
          <a:xfrm>
            <a:off x="8138160" y="28254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Полный прогон инструмента на учебном ИИ-продукте: от гипотезы до точки эскалации к человеку.</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Лекция 6</a:t>
            </a:r>
          </a:p>
        </p:txBody>
      </p:sp>
      <p:sp>
        <p:nvSpPr>
          <p:cNvPr id="13" name="TextBox 12"/>
          <p:cNvSpPr txBox="1"/>
          <p:nvPr/>
        </p:nvSpPr>
        <p:spPr>
          <a:xfrm>
            <a:off x="8138160" y="41970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Тот же метод в системах автоматизированного проектирования (САПР): цена физической ошибки выше.</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Вопросы?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56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