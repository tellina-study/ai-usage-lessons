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октября 2024 года Шведская королевская академия наук объявила лауреатов Нобелевской премии по химии. Половина премии досталась Дэвиду Бейкеру из Вашингтонского университета за вычислительное проектирование белков. Вторая половина разделена между Демисом Хассабисом и Джоном Джампером из DeepMind за AlphaFold — систему предсказания трёхмерной структуры белков по аминокислотной последовательности. Это первая в истории Нобелевская премия по фундаментальной науке, в формулировке которой стоит конкретный AI-продукт.</a:t>
            </a:r>
          </a:p>
          <a:p/>
          <a:p>
            <a:r>
              <a:t>15 ноября 2022 года, за два года до этого Нобеля, Meta запустила Galactica — большую языковую модель, обученную на 48 миллионах научных статей. Демонстрация в открытом доступе была отозвана 17 ноября 2022 года — прожила три дня публичного доступа. За эти три дня пользователи собрали коллекцию фактических ошибок: Galactica уверенно генерировала научные обзоры про несуществующие исследования, цитировала статьи, которых никогда не было. Заголовок MIT Technology Review от 18 ноября 2022 года — «Why Meta's Galactica only survived three days online» — стал эталонным предостережением.</a:t>
            </a:r>
          </a:p>
          <a:p/>
          <a:p>
            <a:r>
              <a:t>Эти два события не противоречат друг другу. AlphaFold показал, что AI в науке способен на структурный прорыв нобелевского уровня. Galactica показала, что та же базовая технология, применённая без понимания границ, генерирует фабрику статей и убивает доверие к научной литературе. Главная задача лекции — научить читателя различать ситуации AlphaFold от ситуаций Galactica.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Эта лекция — пятнадцатая в курсе и финал первого квартала прикладного модуля. Она встроена в Модуль 3 и опирается на Лекции 1, 2, 3, 7 и 11. Из Лекции 1 вы знаете: галлюцинация — это не сбой, а нормальное поведение модели, генерирующей следующий токен по распределению. Из Лекции 2 — что у трансформеров эмбеддинги — это плотные векторные представления, а матрица внимания — это статистический корреляционный механизм, не понимание. Из Лекции 3 — что агентные архитектуры с использованием инструментов — это RAG над рабочей памятью, не автономный разум. Из Лекции 7 — что человек в петле в медицине обязателен и почему. Из Лекции 11 — что пилот, не доходящий до производства, — это статистическая норма.</a:t>
            </a:r>
          </a:p>
          <a:p/>
          <a:p>
            <a:r>
              <a:t>Несущая концептуальная ось лекции — лестница научного цикла из шести ступеней: формулирование гипотезы, планирование эксперимента, проведение эксперимента, анализ данных, написание статьи, рецензирование. AI входит в каждую ступень по-разному: где-то как расширение, где-то как автономный прорыв нобелевского уровня, где-то требует человека в петле, где-то категорически противопоказан.</a:t>
            </a:r>
          </a:p>
          <a:p/>
          <a:p>
            <a:r>
              <a:t>Лестница циклическая. В Лекциях 13 и 14 лестницы были последовательными. Научный цикл устроен иначе: рецензент возвращает работу к анализу или к эксперименту; анализ порождает новую гипотезу. Это свойство самой науки.</a:t>
            </a:r>
          </a:p>
          <a:p/>
          <a:p>
            <a:r>
              <a:t>Цель лекции — научить вас диагностировать, на какой ступени встроен AI в ваш конкретный случай, и решать осознанно: применять, применять с проверкой, отказаться. Это не лекция «AI в науке — будущее»; это лекция «AI в науке требует суждения».</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keystone-слайд лекции. Запомните разделение, потому что мы будем возвращаться к нему весь следующий час с четвертью.</a:t>
            </a:r>
          </a:p>
          <a:p/>
          <a:p>
            <a:r>
              <a:t>Первая ступень — формулирование гипотезы: что вы хотите узнать и почему это важно. Здесь AI работает как партнёр по мозговому штурму, но не как проверенный научный руководитель. Расширение работает; автономно нет.</a:t>
            </a:r>
          </a:p>
          <a:p/>
          <a:p>
            <a:r>
              <a:t>Вторая — планирование эксперимента: какие переменные, какие контроли, какой статистический анализ. AI работает там, где известные протоколы можно автоматизировать — синтез известных соединений в Coscientist. Autonomous discovery — пока нет.</a:t>
            </a:r>
          </a:p>
          <a:p/>
          <a:p>
            <a:r>
              <a:t>Третья — проведение эксперимента, лабораторное или вычислительное. Это самый сильный раздел лекции. AlphaFold и Нобель 2024, GNoME 380 тысяч стабильных материалов, Aurora 5000-кратное ускорение. Прорывы нобелевского уровня и одновременно трещины в каждом из этих успехов.</a:t>
            </a:r>
          </a:p>
          <a:p/>
          <a:p>
            <a:r>
              <a:t>Четвёртая — анализ данных. AI здесь работает предсказуемо: эталонная разметка есть, задачи узкие. Обнаружение экзопланет, нейронная коннектомика, гравитационные волны. Это привычное обучение с учителем, не «новый AI».</a:t>
            </a:r>
          </a:p>
          <a:p/>
          <a:p>
            <a:r>
              <a:t>Пятая — написание статьи. AI помогает в литературном поиске и обзоре, но требует ручной проверки каждой ссылки. NotebookLM и Elicit — работающее расширение; галлюцинации всё равно случаются.</a:t>
            </a:r>
          </a:p>
          <a:p/>
          <a:p>
            <a:r>
              <a:t>Шестая — рецензирование. AI запрещён для финального решения политикой большинства топ-журналов и конференций.</a:t>
            </a:r>
          </a:p>
          <a:p/>
          <a:p>
            <a:r>
              <a:t>Лестница циклическая. Это критическое отличие от лекций 13 и 14, где лестницы были последовательными. Научный цикл итеративный: рецензент возвращает работу к анализу; из анализа возникает новая гипотеза.</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двинемся по разделам, договоримся об общем словаре. Эти пятнадцать терминов встречаются в каждом разделе лекции, и непонимание любого из них блокирует следующие.</a:t>
            </a:r>
          </a:p>
          <a:p/>
          <a:p>
            <a:r>
              <a:t>Фундаментальная модель — большая модель машинного обучения общего назначения, обученная на огромном корпусе и применимая ко многим задачам. AlphaFold для белков, Aurora для атмосферы, GNoME для материалов. RAG — это поиск с генерацией: LLM генерирует ответ с опорой на найденные документы.</a:t>
            </a:r>
          </a:p>
          <a:p/>
          <a:p>
            <a:r>
              <a:t>Галлюцинация — это не сбой модели, это нормальное поведение LLM. Запомните: галлюцинация — не баг, она встроена в архитектуру. Galactica цитировала несуществующие статьи именно потому.</a:t>
            </a:r>
          </a:p>
          <a:p/>
          <a:p>
            <a:r>
              <a:t>Рецензирование, репликация, кризис воспроизводимости — фундаментальные институциональные термины. Воспроизводимость психологии — 39 из 100, экономика — 61 процент, AI и машинное обучение — от 24 до 50 процентов. AI не лечит эту проблему и может её усугубить.</a:t>
            </a:r>
          </a:p>
          <a:p/>
          <a:p>
            <a:r>
              <a:t>Закрытый против открытого мира — это диагностический критерий лекции. Закрытая задача: пространство решений описано через физические уравнения, проверка возможна. Открытая: пространство не описано, проверка требует выхода за систему. Катализ — закрытый; гипотеза о роли социальных сетей — открытый.</a:t>
            </a:r>
          </a:p>
          <a:p/>
          <a:p>
            <a:r>
              <a:t>IDP — внутренне разупорядоченный белок без стабильной 3D-структуры. AlphaFold там галлюцинирует, и это критично для разработки лекарств. CASP, DFT, MD, BO, GP, ECMWF, ICMJE — институциональные имена. Каждое расписано подробнее по ходу лекции.</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Центральный вопрос всей лекции — три части. Где AI в науке действительно делает прорыв. Где он, наоборот, создаёт фабрику статей. И — главное для инженера — как решать, в какой из этих классов попадает ваш конкретный случай.</a:t>
            </a:r>
          </a:p>
          <a:p/>
          <a:p>
            <a:r>
              <a:t>Этот вопрос буквально определяет повестку всей лекции. К концу мы построим конкретную рамку из пяти шагов, которую можно применить в инженерной практике в тот же день. Эта рамка не панацея и не алгоритм; это диагностический вопросник.</a:t>
            </a:r>
          </a:p>
          <a:p/>
          <a:p>
            <a:r>
              <a:t>Первый шаг — классифицировать задачу. Принадлежит ли она открытому миру или закрытому. Открытый мир — когда пространство решений не определено и проверка требует выхода за пределы системы. Закрытый — когда пространство описано, например через физические уравнения, и проверка возможна.</a:t>
            </a:r>
          </a:p>
          <a:p/>
          <a:p>
            <a:r>
              <a:t>Второй шаг — проверить покрытие. Лежит ли ваш случай в распределении обучающих данных модели или вы экстраполируете далеко за пределы.</a:t>
            </a:r>
          </a:p>
          <a:p/>
          <a:p>
            <a:r>
              <a:t>Третий — спроектировать шлюзы человека в петле. Где специалист останавливает конвейер и проверяет.</a:t>
            </a:r>
          </a:p>
          <a:p/>
          <a:p>
            <a:r>
              <a:t>Четвёртый — проверить каждое измеримое утверждение до публикации через альтернативный метод. Любая цифра, которую вы публикуете, должна быть подтверждена не-AI методом.</a:t>
            </a:r>
          </a:p>
          <a:p/>
          <a:p>
            <a:r>
              <a:t>Пятый — раскрыть использование AI согласно политикам ICMJE и конкретного журнала.</a:t>
            </a:r>
          </a:p>
          <a:p/>
          <a:p>
            <a:r>
              <a:t>К этой рамке мы возвращаемся в разделе 5 и применяем её на разобранном примере катализатора окисления пропилена.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Открываем раздел 1 — Hypothesis и Design, гипотеза и план. Эти две ступени лестницы научного цикла — самые продаваемые в маркетинге AI-в-науке и самые узкие в реальности.</a:t>
            </a:r>
          </a:p>
          <a:p/>
          <a:p>
            <a:r>
              <a:t>За последние два года в материалах появились две системы с почти одинаковыми именами: Coscientist из Carnegie Mellon и Co-Scientist из DeepMind. Coscientist — это робот-химик из 2023 года, который автоматизирует синтез известных соединений. Co-Scientist — это система из 2026 года, которая помогает формулировать гипотезы. Это разные системы для разных задач. Их часто путают.</a:t>
            </a:r>
          </a:p>
          <a:p/>
          <a:p>
            <a:r>
              <a:t>Третий важный пример — Sakana AI Scientist. В августе 2024 первая версия объявила «полностью автоматический пайплайн от гипотезы до статьи». Через год выяснилось: одна из трёх статей прошла рецензирование на воркшопе ICLR, но «три» — это уже после ручного отбора из ста.</a:t>
            </a:r>
          </a:p>
          <a:p/>
          <a:p>
            <a:r>
              <a:t>И зрелая альтернатива — байесовская оптимизация плюс гауссовский процесс, методы с 40-летней и 60-летней историей, которые обгоняют Sakana в материалах и химии. Эту альтернативу часто игнорируют, потому что она не «AI».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наш первый разобранный пример — WE-1, грант. Контекст: аспирант пишет заявку на грант NSF, ему нужна сильная идея до конца месяца. Один путь — попросить руководителя или прочитать обзор Nature за два года. Другой — попросить у Sakana пятьдесят кандидатов идей. Какой выбрать?</a:t>
            </a:r>
          </a:p>
          <a:p/>
          <a:p>
            <a:r>
              <a:t>Шаг 1 — классифицируем задачу. Hypothesis или Design? Это Hypothesis. Pure разведка пространства идей — открытый мир. Закрытый мир был бы «оптимизируем известный параметр в известной задаче».</a:t>
            </a:r>
          </a:p>
          <a:p/>
          <a:p>
            <a:r>
              <a:t>Шаг 2 — coverage. Sakana даёт 50 кандидатов автоматически. PhD-руководитель даст 3 хорошо обдуманных идеи. Расширение покрытия — реальная польза AI. Но 50 необдуманных идей бессмысленны без отбора.</a:t>
            </a:r>
          </a:p>
          <a:p/>
          <a:p>
            <a:r>
              <a:t>Шаг 3 — verification. Каждую идею проверяем на двух осях: literature check (не дублирует существующее) и validation на held-out exemplars (имеет смысл с точки зрения базовой физики/биологии задачи).</a:t>
            </a:r>
          </a:p>
          <a:p/>
          <a:p>
            <a:r>
              <a:t>Шаг 4 — ethics. Применим ли NSF AI Code of Conduct? Да: если AI помогал в формулировке заявки, нужно раскрытие. Не запрещено, но обязано быть прозрачно.</a:t>
            </a:r>
          </a:p>
          <a:p/>
          <a:p>
            <a:r>
              <a:t>Шаг 5 — HITL контроль. Каждую из 50 кандидат-идей читает человек. Отбираем 5-10 для углублённого literature search.</a:t>
            </a:r>
          </a:p>
          <a:p/>
          <a:p>
            <a:r>
              <a:t>Шаг 6 — submission integrity. В разделе about-AI заявки указываем, что Sakana использовалась как инструмент мозгового штурма; финальные идеи отобраны и развиты автором.</a:t>
            </a:r>
          </a:p>
          <a:p/>
          <a:p>
            <a:r>
              <a:t>Такая рамка не отвергает AI — она интегрирует его в существующий процесс с человеком в петле. AI расширяет покрытие; человек отвечает за качество и за подачу.</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Sakana AI Scientist v2 — пример системы, которую часто упоминают как «AI пишет статьи». Давайте разберём, что произошло на самом деле.</a:t>
            </a:r>
          </a:p>
          <a:p/>
          <a:p>
            <a:r>
              <a:t>В марте 2025 Sakana опубликовала отчёт. Система сгенерировала примерно сто черновиков статей. Авторы вручную отобрали три лучших для подачи на ICLR workshop. Одна из трёх прошла рецензирование. Это «1 из 3» в материалах часто подаётся как «33% автономия».</a:t>
            </a:r>
          </a:p>
          <a:p/>
          <a:p>
            <a:r>
              <a:t>Но реальная картина другая. Есть три разные метрики, и они дают три разных ответа.</a:t>
            </a:r>
          </a:p>
          <a:p/>
          <a:p>
            <a:r>
              <a:t>Метрика 1 — отбор. 3% от 100 — человек отобрал три лучших для подачи. Это уже сильный человеческий фильтр на входе.</a:t>
            </a:r>
          </a:p>
          <a:p/>
          <a:p>
            <a:r>
              <a:t>Метрика 2 — рецензирование. 33% (1 из 3) — приняты на ICLR workshop. Это число действительно валидное; но это уже после ручного отбора.</a:t>
            </a:r>
          </a:p>
          <a:p/>
          <a:p>
            <a:r>
              <a:t>Метрика 3 — истинная автономия. Если посчитать долю принятых статей от общего количества сгенерированных Sakana, получим 1% (одна из ста). Это и есть честная цифра автономии без cherry-picking.</a:t>
            </a:r>
          </a:p>
          <a:p/>
          <a:p>
            <a:r>
              <a:t>TechCrunch в марте 2025 явно процитировал авторов Sakana: «значимый эффект cherry-picking». Это augmented черновик с тяжёлым человеческим фильтром, а не автономная наука. Сами авторы это признают.</a:t>
            </a:r>
          </a:p>
          <a:p/>
          <a:p>
            <a:r>
              <a:t>Для инженерного применения вывод следующий: используйте Sakana как расширение мозгового штурма (50 идей вместо 3), но никогда не подавайте сгенерированную статью без сильного человеческого фильтра.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Эти две системы — Coscientist и Co-Scientist — постоянно путают в материалах. Запомните различение.</a:t>
            </a:r>
          </a:p>
          <a:p/>
          <a:p>
            <a:r>
              <a:t>Coscientist — Carnegie Mellon, 2023 год. Это робот-химик. Публикация в Nature 624 в декабре 2023 года, авторы Boiko, MacKnight, Kline и Gomes. Архитектура простая: GPT-4 и Claude используются оба, как два разных reasoner-агента, плюс Python для управления лабораторными приборами через стандартные API. Задача — автоматический синтез известных соединений, конкретно palladium-catalysed cross-coupling реакций. Это Design и Experiment ступени лестницы. Закрытая задача: известные реакции, известные приборы, известные критерии успеха.</a:t>
            </a:r>
          </a:p>
          <a:p/>
          <a:p>
            <a:r>
              <a:t>Co-Scientist — DeepMind, 2026 год. Это система формулирования гипотез в биомедицине. Объявлена в блоге DeepMind в мае 2026, Nature publication submitted и пока в процессе рецензирования — отметка VFY-day-of. Архитектура многоагентная: один LLM-агент генерирует гипотезы, второй критикует, третий ранжирует. Задача — drug repurposing и gene therapy candidates. Это Hypothesis ступень. Открытая задача: пространство гипотез очень велико, проверка требует длительных биологических экспериментов.</a:t>
            </a:r>
          </a:p>
          <a:p/>
          <a:p>
            <a:r>
              <a:t>Две системы — две разные ступени лестницы, две разные задачи, два разных уровня зрелости. Coscientist работает в проде с 2023; Co-Scientist пока ранний этап с одной публикацией. Маркетинг их сливает, потому что обе DeepMind-style autonomous, но материалы лекции должны их различать.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Углубим разбор Sakana. У системы четыре структурные проблемы, которые видны в материалах за 2024-2025 годы.</a:t>
            </a:r>
          </a:p>
          <a:p/>
          <a:p>
            <a:r>
              <a:t>Первая — cherry-picking. Sakana генерирует около ста черновиков, человек отбирает три лучших. Это сильный фильтр на входе. Без него средняя статья Sakana содержит критические ошибки.</a:t>
            </a:r>
          </a:p>
          <a:p/>
          <a:p>
            <a:r>
              <a:t>Вторая — галлюцинированные ссылки. Черновики цитируют статьи, которых не существует. Это типичное поведение LLM, обученной на корпусе научной литературы: модель «знает», как выглядит правдоподобная цитата, но не имеет проверки реальности.</a:t>
            </a:r>
          </a:p>
          <a:p/>
          <a:p>
            <a:r>
              <a:t>Третья — фальсифицированные численные результаты. Конкретно в черновиках Sakana v1 (август 2024) были численные таблицы с результатами экспериментов, которые не воспроизводятся при ручной проверке. Это не «ошибка кода» — это галлюцинация в числовом виде.</a:t>
            </a:r>
          </a:p>
          <a:p/>
          <a:p>
            <a:r>
              <a:t>Четвёртая — преувеличенная новизна. Идеи Sakana часто повторяют уже опубликованное, но представляются как новые. Это следствие отсутствия глубокого literature search в архитектуре.</a:t>
            </a:r>
          </a:p>
          <a:p/>
          <a:p>
            <a:r>
              <a:t>Итог — 1% истинной автономии и 99% augmentation. Это полезно для инженера: используйте Sakana как расширение мозгового штурма с обязательным человеческим фильтром. Никогда не подавайте сгенерированную статью без ручной проверки каждого утверждения и каждой ссылки.</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мы покинем раздел Hypothesis+Design, обязательно надо упомянуть зрелую альтернативу — байесовскую оптимизацию плюс гауссовский процесс. Это методы с длинной историей и математической обоснованностью.</a:t>
            </a:r>
          </a:p>
          <a:p/>
          <a:p>
            <a:r>
              <a:t>Байесовская оптимизация формализована в работе Mockus 1989 года, развита в работе Jones, Schonlau, Welch 1998 года — алгоритм EGO, Efficient Global Optimization. Гауссовский процесс как статистическая модель работает в литературе с 1960-х. Это не «новый AI», а зрелая математика.</a:t>
            </a:r>
          </a:p>
          <a:p/>
          <a:p>
            <a:r>
              <a:t>Примечательные прорывы 2020-2025. Shields и коллеги в Nature 2021 года применили байесовскую оптимизацию к подбору условий органических реакций — ускорение экспериментальной кампании в 5-10 раз. MIT и аналогичные лаборатории построили self-driving labs — автономные станции синтеза, которые комбинируют BO для выбора следующего эксперимента с роботизированной химией.</a:t>
            </a:r>
          </a:p>
          <a:p/>
          <a:p>
            <a:r>
              <a:t>Open-source инструментарий зрелый: BoTorch и GPyTorch — стандартные библиотеки в Python для байесовской оптимизации. Их регулярно используют в материаловедении, разработке катализаторов, биохимии.</a:t>
            </a:r>
          </a:p>
          <a:p/>
          <a:p>
            <a:r>
              <a:t>Главная мысль слайда: «AI» в науке — это не один путь. Зрелая байесовская оптимизация для определённых задач значительно эффективнее новейшего LLM. Каждый раз, когда вы рассматриваете применение AI в эксперименте, проверяйте — нет ли уже отработанной альтернативы из классической статистики или оптимизации. Часто есть, и она лучше.</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2 — Experiment. Это самый сильный успех AI в науке. Здесь — нобелевский прорыв и одновременно три неочевидные трещины.</a:t>
            </a:r>
          </a:p>
          <a:p/>
          <a:p>
            <a:r>
              <a:t>AlphaFold взял Нобелевскую премию по химии 2024 за предсказание трёхмерной структуры белков. Это конкретный AI-продукт в формулировке Нобеля — первый в истории. Boltz-1 — открытая модель конкурент AlphaFold 3 от MIT. GNoME от DeepMind предсказала 380 тысяч стабильных материалов. A-Lab Berkeley синтезировал 41 из 58 за 17 дней. Aurora — Microsoft модель погоды в 5000 раз быстрее эталона ECMWF. AlphaProof+AlphaGeometry 2 взяли серебро на Международной математической олимпиаде 2024.</a:t>
            </a:r>
          </a:p>
          <a:p/>
          <a:p>
            <a:r>
              <a:t>И трещины. Палгрейв и Шуп в январе 2024 проверили 36 проб A-Lab — 35 содержат ошибки. ECMWF использует собственную AIFS оперативно с 25 февраля 2025, не Aurora. AlphaFold даёт 22% галлюцинаций в IDP-регионах. AlphaProof решил P1, P2, P6, но не P3 и P5 (комбинаторика). Каждый прорыв с трещиной.</a:t>
            </a:r>
          </a:p>
          <a:p/>
          <a:p>
            <a:r>
              <a:t>Цель раздела — показать оба измерения. Не «AI взял Нобель, теперь всё решено», но и не «всё провалилось». Реальный инженерный взгляд: где AI работает, и где даже AlphaFold не работает.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 — это центральный позитивный кейс лекции и самый сильный успех AI в науке. Разберём timeline.</a:t>
            </a:r>
          </a:p>
          <a:p/>
          <a:p>
            <a:r>
              <a:t>Декабрь 2021. Recursion Pharmaceuticals подписывает многомиллиардное партнёрство с Roche. 40 программ drug discovery с использованием AlphaFold-based структурных предсказаний, минимум $300 миллионов upfront, до $12 миллиардов суммарной потенциальной выплаты по достижении milestone'ов. Это первый каскадный коммерческий эффект AlphaFold.</a:t>
            </a:r>
          </a:p>
          <a:p/>
          <a:p>
            <a:r>
              <a:t>8 мая 2024. Google DeepMind и Isomorphic Labs опубликовали AlphaFold 3 в Nature, paper s41586-024-06792-0. Расширение от только-белок к белок-лиганд, белок-нуклеиновая кислота, antibody-antigen. Это уже не один тип структур, а вся биомолекулярная экосистема.</a:t>
            </a:r>
          </a:p>
          <a:p/>
          <a:p>
            <a:r>
              <a:t>9 октября 2024. Шведская королевская академия наук объявила Нобелевскую премию по химии. Половина — Дэвид Бейкер из Вашингтонского университета за вычислительное проектирование белков. Вторая половина разделена между Демисом Хассабисом и Джоном Джампером из DeepMind за AlphaFold.</a:t>
            </a:r>
          </a:p>
          <a:p/>
          <a:p>
            <a:r>
              <a:t>Это исторически первая Нобелевская премия по фундаментальной науке, в формулировке которой стоит конкретный AI-продукт. 13 лет от научной публикации AlphaFold 1 (2018) до Нобеля — рекордно короткий цикл. Обычно Нобель присуждают за работы 20-30-летней давности.</a:t>
            </a:r>
          </a:p>
          <a:p/>
          <a:p>
            <a:r>
              <a:t>Каскад: AlphaFold показал, что AI в науке способен на структурный прорыв нобелевского уровня в закрытой задаче, где доступна эталонная разметка через PDB.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 DB — это самая большая структурная база данных в истории биологии. Разберём масштаб и open-source debate.</a:t>
            </a:r>
          </a:p>
          <a:p/>
          <a:p>
            <a:r>
              <a:t>Protein Data Bank, PDB, открылся в 1971 году. Это база экспериментально определённых трёхмерных структур белков — рентгеновская кристаллография, NMR, cryo-EM. За 53 года к 2024 году PDB накопил около 200 тысяч структур. Это медленный процесс: каждая структура требует месяцев или лет экспериментальной работы.</a:t>
            </a:r>
          </a:p>
          <a:p/>
          <a:p>
            <a:r>
              <a:t>AlphaFold DB запустилась в 2021 году. К 2024 — 200 миллионов структур. Это в тысячу раз больше, чем PDB накопил за половину века. И это покрывает каждую известную белковую последовательность в базе UniProt — фактически весь известный протеом всех изученных организмов.</a:t>
            </a:r>
          </a:p>
          <a:p/>
          <a:p>
            <a:r>
              <a:t>Но AlphaFold 3 при запуске был закрыт. 8 мая 2024 года Isomorphic Labs выкатил систему только через сервер с ограниченным API. Без открытых весов, без локального запуска. Это вызвало серьёзное недовольство в академическом сообществе.</a:t>
            </a:r>
          </a:p>
          <a:p/>
          <a:p>
            <a:r>
              <a:t>В ноябре 2024 года было опубликовано открытое письмо за подписями более тысячи учёных. Главная претензия — невоспроизводимая наука. Если работа использует AlphaFold 3, но AlphaFold 3 закрыт, никто не может независимо проверить результаты.</a:t>
            </a:r>
          </a:p>
          <a:p/>
          <a:p>
            <a:r>
              <a:t>Изменение позиции произошло поэтапно. С ноября 2024 — академический non-commercial доступ. С февраля 2025 — публичный non-commercial. Коммерческое использование по-прежнему требует лицензии Isomorphic. Это компромисс, но открытость возросла под давлением сообщества.</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Boltz-1 — это очень важный кейс открытой альтернативы. В декабре 2024 группа из MIT, авторы Wohlwend, Corso и коллеги, выпустили Boltz-1. Это полностью открытый аналог AlphaFold 3: открытый код, открытые веса, полная документация. Они работали с публикацией AlphaFold 3 как с reference и реконструировали архитектуру.</a:t>
            </a:r>
          </a:p>
          <a:p/>
          <a:p>
            <a:r>
              <a:t>К концу 2025 года Boltz-2, следующая версия, обогнала AlphaFold 3 по академическому внедрению. То есть в реальных научных работах учёные стали чаще использовать Boltz, чем закрытый AlphaFold 3.</a:t>
            </a:r>
          </a:p>
          <a:p/>
          <a:p>
            <a:r>
              <a:t>Важные нюансы. По строгим бенчмаркам Boltz-1 чуть-чуть уступает AlphaFold 3 в нескольких задачах: белок-лиганд (76 против 72 GDT_TS), antibody-antigen (68 против 64). По чисто-белковым структурам они практически равны.</a:t>
            </a:r>
          </a:p>
          <a:p/>
          <a:p>
            <a:r>
              <a:t>Закономерность повторяется в истории AI. Когда Stable Diffusion вышел открытым в августе 2022, он был немного хуже DALL-E 2 от OpenAI. Через год Stable Diffusion обогнал DALL-E по реальному использованию. Когда LLaMA вышел открытым в феврале 2023, он уступал GPT-4. Через год open-source альтернативы стали стандартом de facto.</a:t>
            </a:r>
          </a:p>
          <a:p/>
          <a:p>
            <a:r>
              <a:t>Это закономерность: если открытая альтернатива достаточно хороша (на 80-90% от закрытой), она обгоняет закрытую по реальному внедрению. Причина простая — open-source модели можно дообучать, проверять, модифицировать, использовать без зависимости от вендора. Для научной работы это критично.</a:t>
            </a:r>
          </a:p>
          <a:p/>
          <a:p>
            <a:r>
              <a:t>Урок для инженера: при выборе AI-инструмента для научной задачи всегда оценивайте, есть ли открытая альтернатива. Часто она есть и работает.</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центральный позитивный кейс раздела — GNoME и A-Lab Berkeley. Это материаловедение, не структурная биология, но архитектура и масштаб одного порядка с AlphaFold.</a:t>
            </a:r>
          </a:p>
          <a:p/>
          <a:p>
            <a:r>
              <a:t>GNoME — Graph Networks for Materials Exploration — это система от DeepMind, опубликованная в Nature в 2023 году. Архитектура — графовая нейросеть с активным обучением. Modify: не «22 итерации» как часто пишут в популярной литературе — а ровно 6 раундов активного обучения. В каждом раунде модель предсказывает наиболее перспективных кандидатов, эти кандидаты проверяются через DFT (density functional theory) расчёты, результаты возвращаются как новые обучающие данные.</a:t>
            </a:r>
          </a:p>
          <a:p/>
          <a:p>
            <a:r>
              <a:t>Итоговый масштаб: 2,2 миллиона кандидатов изначально, из них 380 тысяч предсказаны как стабильные. Для сравнения: Materials Project — основная база материалов в исследованиях — содержит около 48 тысяч соединений. Open Quantum Materials — 60 тысяч. GNoME в 44 раза больше Materials Project.</a:t>
            </a:r>
          </a:p>
          <a:p/>
          <a:p>
            <a:r>
              <a:t>A-Lab Berkeley, опубликован Цеймански и коллегами в Nature 2023 года. Это автономная лаборатория синтеза материалов. 58 кандидатов из GNoME были выбраны для синтеза. За 17 дней автономной работы лаборатория синтезировала 41 из 58 — успешность 71%.</a:t>
            </a:r>
          </a:p>
          <a:p/>
          <a:p>
            <a:r>
              <a:t>Это канонические числа в материалах: 41 из 58 за 17 дней. Запомните их. В популярных пересказах часто пишут «36 из 57», но Nature 2023 paper говорит именно 41 из 58.</a:t>
            </a:r>
          </a:p>
          <a:p/>
          <a:p>
            <a:r>
              <a:t>Это прорыв подлинного масштаба. Самый быстрый темп открытия новых материалов в истории. Закрытый мир (физика твёрдого тела + DFT) делает задачу решаемой через AI.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критическая трещина в кейсе A-Lab. Помните результат: 41 из 58 за 17 дней. Это выглядит как нобелевский прорыв в материаловедении. В январе 2024 года Palgrave и Schoop из Ливерпуля и Принстона опубликовали в ChemRxiv тщательный пересмотр результатов A-Lab.</a:t>
            </a:r>
          </a:p>
          <a:p/>
          <a:p>
            <a:r>
              <a:t>Их метод — взяли 36 заявленных синтезированных кандидатов, проверили каждый через рентгеновскую дифракцию и литературный поиск. Результат: 35 из 36 содержали хотя бы одну из трёх типов ошибок.</a:t>
            </a:r>
          </a:p>
          <a:p/>
          <a:p>
            <a:r>
              <a:t>Тип 1, 12 проб — неверная фаза. Кристаллическая структура того, что синтезировано, отличается от предсказанной GNoME. Возможно, синтезирована действительно другая фаза того же химического состава.</a:t>
            </a:r>
          </a:p>
          <a:p/>
          <a:p>
            <a:r>
              <a:t>Тип 2, 15 проб — производные известных соединений. То, что A-Lab объявил «новым материалом», по литературному поиску оказался известным соединением, известной фазой или производной известной структуры.</a:t>
            </a:r>
          </a:p>
          <a:p/>
          <a:p>
            <a:r>
              <a:t>Тип 3, 8 проб — отсутствие функции. Соединение действительно существует, но не было проверено целевое свойство, ради которого его «искали». Например, заявленный полупроводник не был протестирован на полупроводниковые свойства.</a:t>
            </a:r>
          </a:p>
          <a:p/>
          <a:p>
            <a:r>
              <a:t>Только 1 из 36 — полное открытие в строгом смысле: новая фаза + новая функция + воспроизводимый синтез.</a:t>
            </a:r>
          </a:p>
          <a:p/>
          <a:p>
            <a:r>
              <a:t>Главный урок для инженера: предсказание не равно открытие. AI хорошо предсказывает кристаллографически стабильные структуры — это в пределах его обучения. Но открытие в науке требует проверки функции, проверки новизны через тщательный литературный поиск, воспроизведения через независимый эксперимент. Без человека в петле остановки конвейера на каждой пробе — каскад ошибочных «открытий» с тяжёлыми последствиями для следующих циклов поиска.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Aurora — это пример классического случая «5000× быстрее на бенчмарке, но непригоден для production». Разберём.</a:t>
            </a:r>
          </a:p>
          <a:p/>
          <a:p>
            <a:r>
              <a:t>Microsoft Research в мае 2024 опубликовал Aurora — большую foundation model атмосферной физики. Архитектура — transformer с временной размерностью, обученный на ~миллионе часов реанализа ECMWF плюс спутниковые данные. В бенчмарке на стандартных метеорологических переменных (температура, давление, ветер) Aurora показывает 5000-кратное ускорение по сравнению с эталоном IFS (Integrated Forecasting System) ECMWF.</a:t>
            </a:r>
          </a:p>
          <a:p/>
          <a:p>
            <a:r>
              <a:t>Это валидное число для конкретного бенчмарка. Но это НЕ оперативная замена.</a:t>
            </a:r>
          </a:p>
          <a:p/>
          <a:p>
            <a:r>
              <a:t>25 февраля 2025 года ECMWF объявил, что собственная AI-модель — AIFS (Artificial Intelligence Forecasting System) — стала оперативной. Это значит, что AIFS теперь используется для реальных прогнозов параллельно с физической IFS. Aurora НЕ используется ECMWF оперативно.</a:t>
            </a:r>
          </a:p>
          <a:p/>
          <a:p>
            <a:r>
              <a:t>Почему? Tail events. То есть редкие, но критически важные события — ураганы, аномальные похолодания, наводнения — системно недопредставлены в обучающих данных AI-моделей. Если в обучении было мало 50-летних штормов, модель будет плохо их предсказывать. А именно эти tail events — то, ради чего нужны метеопрогнозы для критических политических решений (эвакуация населения, закрытие аэропортов).</a:t>
            </a:r>
          </a:p>
          <a:p/>
          <a:p>
            <a:r>
              <a:t>ECMWF использует AIFS для повседневных прогнозов, где она хороша. Физическую IFS — как baseline, особенно для оценки tail risks. Это разумная архитектура: AI для скорости, физика для надёжности.</a:t>
            </a:r>
          </a:p>
          <a:p/>
          <a:p>
            <a:r>
              <a:t>Для инженера урок: «5000× быстрее» в бенчмарке не значит «можно деплоить в продакшн». Прежде чем заменить физическую модель AI-моделью, проверьте distribution shift на критических редких событиях.</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AlphaProof — третий значимый кейс раздела Experiment. В июле 2024 года DeepMind объявила, что AlphaProof в комбинации с AlphaGeometry 2 решила 4 из 6 задач Международной математической олимпиады 2024 года. Общий результат — 28 баллов из 42, что соответствует серебряной медали среди людей-участников.</a:t>
            </a:r>
          </a:p>
          <a:p/>
          <a:p>
            <a:r>
              <a:t>Архитектура. AlphaProof — это reinforcement learning система, которая работает с формальным верификатором Lean. Доказательство задачи представляется как последовательность формальных шагов в Lean; модель учится предлагать следующий шаг, верификатор проверяет корректность. Это похоже на AlphaGo в Go: пространство ходов очень большое, но проверка корректности дешёвая.</a:t>
            </a:r>
          </a:p>
          <a:p/>
          <a:p>
            <a:r>
              <a:t>AlphaGeometry 2 — это другая система, LLM в комбинации с symbolic solver для геометрических задач. Опубликована в Nature в январе 2024.</a:t>
            </a:r>
          </a:p>
          <a:p/>
          <a:p>
            <a:r>
              <a:t>Конкретное распределение задач IMO 2024. AlphaProof решила P1, P2 и P6 — три задачи из шести, по 7 баллов каждая, итого 21. AlphaGeometry 2 решила P4 — геометрическая задача — ещё 7 баллов. Итого 28. P3 и P5 — комбинаторика — обе нерешённые.</a:t>
            </a:r>
          </a:p>
          <a:p/>
          <a:p>
            <a:r>
              <a:t>Ключевые ограничения. Первое — время. На каждую задачу AlphaProof тратила 4-7 часов вычислений на GPU. Человеку-участнику даётся 90 минут. То есть AI не «решает быстрее», он использует значительно больше вычислений.</a:t>
            </a:r>
          </a:p>
          <a:p/>
          <a:p>
            <a:r>
              <a:t>Второе — комбинаторика остаётся нерешённой границей. P3 и P5 — комбинаторные задачи. Это задачи, где доказательство требует нахождения хитрой комбинаторной конструкции — не «применить известную технику», а «придумать новую». На этом классе AlphaProof пока не сходится.</a:t>
            </a:r>
          </a:p>
          <a:p/>
          <a:p>
            <a:r>
              <a:t>Формальная математика — это закрытый мир. Доказательства проверяются Lean-верификатором, нет амбигвитета. Поэтому AI работает в этой области. Но даже в закрытом мире остаются классы задач, где автоматизация не справляется.</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3 — Analyse, анализ данных. Это надёжные применения AI в науке. Узкие задачи: дано большое количество размеченных или полуразмеченных данных, нужно найти паттерн.</a:t>
            </a:r>
          </a:p>
          <a:p/>
          <a:p>
            <a:r>
              <a:t>Четыре кейса. Обнаружение экзопланет через CNN на light curves TESS и Kepler — задача из 2018 года, 1 595 высокоуверенных кандидатов (Huang &amp; Jiang 2025). Allen MICrONS — нейронная коннектомика, один кубический миллиметр зрительной коры мыши. LIGO ML-конвейер для гравитационных волн с конформным предсказанием — калиброванный 95% доверительный интервал. И трещина — AlphaFold даёт 22% галлюцинаций в IDP-регионах. Используете AlphaFold для интерфейсов с разупорядоченными белками без оговорки — публикуете загрязнённый результат.</a:t>
            </a:r>
          </a:p>
          <a:p/>
          <a:p>
            <a:r>
              <a:t>Закрываем раздел разобранным примером WE-TESS — пятишаговая рамка от классификации задачи к валидации на отложенных. Это применимая рамка для ML-развёртывания в analyse-фазе.</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Первый кейс раздела Analyse — обнаружение экзопланет через CNN. Это эталонный пример надёжного применения AI в науке. Не громкий, не «нобелевский», но именно тот класс, в котором AI работает безупречно.</a:t>
            </a:r>
          </a:p>
          <a:p/>
          <a:p>
            <a:r>
              <a:t>Контекст. TESS — Transiting Exoplanet Survey Satellite, запущен NASA в 2018 году. Наблюдает яркость звёзд во времени. Когда планета проходит между звездой и наблюдателем, яркость на короткое время падает — это транзит. Обнаружение транзитов в зашумлённых временных рядах — задача с десятилетиями традиции в астрономии.</a:t>
            </a:r>
          </a:p>
          <a:p/>
          <a:p>
            <a:r>
              <a:t>Классический алгоритм BLS (Box Least Squares) — формализован Kovács, Zucker, Mazeh в 2002 году (Astronomy &amp; Astrophysics 391): точность ранжирования 78% AUC. Pre-trained CNN — модель, обученная на Kepler missions (предыдущий проект NASA), потом дообученная на TESS — 89% AUC. Custom CNN, специально построенный на joint TESS+Kepler train set — 92% AUC.</a:t>
            </a:r>
          </a:p>
          <a:p/>
          <a:p>
            <a:r>
              <a:t>Конкретные цифры из работы Huang &amp; Jiang arxiv 2512.00967 (2025). Через CNN ранжирование выделено 1 595 высокоуверенных кандидатов. Точность бинарной классификации (транзит vs шум) на тестовой выборке — 83,9%.</a:t>
            </a:r>
          </a:p>
          <a:p/>
          <a:p>
            <a:r>
              <a:t>Почему это надёжный кейс? Три причины. Первая — эталонная разметка. Каждый кандидат, который мы используем для тренировки, был независимо подтверждён радиовелосиметрическим следованием — то есть наземные телескопы измерили доплеровское смещение звезды и подтвердили наличие планеты. Это ground truth, который не зависит от модели.</a:t>
            </a:r>
          </a:p>
          <a:p/>
          <a:p>
            <a:r>
              <a:t>Вторая — узкая задача. Бинарная классификация: есть транзит или нет. Не «понять, что такое планета», не «обобщить на новые типы объектов». Очень узкая задача с чёткой метрикой.</a:t>
            </a:r>
          </a:p>
          <a:p/>
          <a:p>
            <a:r>
              <a:t>Третья — это привычное обучение с учителем, не «новый AI». CNN на временных рядах — стандартная техника с 2010-х. Здесь нет foundation modelling, нет multi-modal, нет LLM. Это инженерная задача, решённая инженерными методами.</a:t>
            </a:r>
          </a:p>
          <a:p/>
          <a:p>
            <a:r>
              <a:t>Урок: в Analyse-фазе чаще всего работает старое доброе ML. Foundation models — это маркетинг. Узкое CNN с правильной разметкой — это деньги.</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кейс надёжной аналитики — Allen Institute MICrONS, нейронная коннектомика. Опубликован в Nature 640 в апреле 2025 года. Это самый детальный участок мозга, когда-либо реконструированный с клеточным разрешением.</a:t>
            </a:r>
          </a:p>
          <a:p/>
          <a:p>
            <a:r>
              <a:t>Контекст. Цель MICrONS — построить полную карту связей нейронов в маленьком участке мозга мыши. Конкретно — один кубический миллиметр зрительной коры. Это маленькая область, но плотность данных огромная.</a:t>
            </a:r>
          </a:p>
          <a:p/>
          <a:p>
            <a:r>
              <a:t>Числа. 120 тысяч анатомических нейронов в этом миллиметре. Между ними — 500 миллионов синаптических связей. Длина всех аксонов и дендритов вместе — около 4 километров в одном миллиметре ткани.</a:t>
            </a:r>
          </a:p>
          <a:p/>
          <a:p>
            <a:r>
              <a:t>Как это сделано. Образец мозга мыши заморозили, нарезали на сверхтонкие срезы — десятки тысяч слоёв толщиной несколько нанометров каждый. Каждый слой сфотографировали через электронный микроскоп. Получили терабайты изображений. Эти изображения нужно сегментировать — найти границы каждой клетки, каждого синапса, каждого аксона. Вручную это невозможно: годы работы тысяч аспирантов.</a:t>
            </a:r>
          </a:p>
          <a:p/>
          <a:p>
            <a:r>
              <a:t>AI делает сегментацию автоматически. Архитектура — комбинация U-Net (стандартная архитектура для сегментации изображений с 2015 года) и transformer (для учёта контекста между слоями). Результат — алгоритмическая реконструкция 3D-структуры каждого нейрона и синапса.</a:t>
            </a:r>
          </a:p>
          <a:p/>
          <a:p>
            <a:r>
              <a:t>Это пример задачи, невозможной без AI. Не «можно ускорить» — просто буквально невозможно. Объём данных слишком велик для ручной обработки.</a:t>
            </a:r>
          </a:p>
          <a:p/>
          <a:p>
            <a:r>
              <a:t>Граница. Эта работа — 1 кубический миллиметр. Полный мозг мыши — около 500 кубических миллиметров. Чтобы масштабировать с 1 до 500, нужно в 500 раз больше вычислений. Это тысячи GPU-часов и петабайты данных. Технически возможно за десятилетие, но не сегодня.</a:t>
            </a:r>
          </a:p>
          <a:p/>
          <a:p>
            <a:r>
              <a:t>Урок: AI расширяет границы того, что можно физически проанализировать. Раньше мы могли реконструировать одну нервную клетку — теперь сотню тысяч. Это не «AI делает науку», это «AI делает доступным то, что раньше требовало нереалистичных трудозатрат».</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LIGO — третий кейс раздела Analyse. Гравитационные волны. И здесь принципиально важная архитектура: AI дополняет наследие классической обработки сигналов, не заменяет.</a:t>
            </a:r>
          </a:p>
          <a:p/>
          <a:p>
            <a:r>
              <a:t>Контекст. LIGO регистрирует крошечные деформации пространства-времени, вызванные катаклизмическими событиями — слиянием чёрных дыр или нейтронных звёзд. Поток данных огромный, событий мало. Задача — найти редкие сигналы в огромном шумовом фоне.</a:t>
            </a:r>
          </a:p>
          <a:p/>
          <a:p>
            <a:r>
              <a:t>Классический метод — matched filter, фильтр согласованной свёртки. Опубликован North в 1943 году в техническом отчёте Bell Labs, развит Wiener'ом параллельно. 80 лет в эксплуатации. Принцип: знаем форму ожидаемого сигнала (предсказанную общей теорией относительности), фильтруем шум, ищем максимальное совпадение.</a:t>
            </a:r>
          </a:p>
          <a:p/>
          <a:p>
            <a:r>
              <a:t>AI добавляет два слоя. Первый — CNN для первичной фильтрации потока. Сотни тысяч кандидатов сигналов в секунду. CNN отбирает топ-100, которые отправляются на matched filtering.</a:t>
            </a:r>
          </a:p>
          <a:p/>
          <a:p>
            <a:r>
              <a:t>Второй — конформное предсказание для калиброванного доверительного интервала. Это критическая особенность работы Ashton et al. (arxiv 2504.17587, 2025).</a:t>
            </a:r>
          </a:p>
          <a:p/>
          <a:p>
            <a:r>
              <a:t>Что такое конформное предсказание. Это статистический метод, который даёт калиброванный 95% доверительный интервал на каждое предсказание модели, не делая предположений о нормальности распределения. Конкретно: вместо «модель предсказывает событие с вероятностью 0.85», она даёт «событие с вероятностью 0.7-0.9, p&lt;0.05». Это калиброванный диапазон.</a:t>
            </a:r>
          </a:p>
          <a:p/>
          <a:p>
            <a:r>
              <a:t>Почему важно. Гравитационные волны — редкие события, и каждое требует независимой атрибуции — какие массы, какое расстояние, какая ориентация. Калиброванный интервал означает, что когда модель говорит 95% уверенности, это действительно 95% реальной частоты. Не «иногда модель overconfident».</a:t>
            </a:r>
          </a:p>
          <a:p/>
          <a:p>
            <a:r>
              <a:t>Финальная атрибуция параметров — masses, distance, sky location — остаётся за matched filtering. AI делает первичный отбор кандидатов; физика делает финальное измерение.</a:t>
            </a:r>
          </a:p>
          <a:p/>
          <a:p>
            <a:r>
              <a:t>Это архитектура «AI дополняет, не заменяет». 80 лет наследия классической обработки сигналов работают, AI расширяет их возможности. Урок инженеру: не выбрасывайте старые проверенные методы при добавлении AI. Используйте их вместе.</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 IDP — это критическая трещина в самом успешном AI-в-науке кейсе. Каждый инженер, использующий AlphaFold, должен понимать это ограничение.</a:t>
            </a:r>
          </a:p>
          <a:p/>
          <a:p>
            <a:r>
              <a:t>IDP — Intrinsically Disordered Protein, внутренне разупорядоченный белок. Это белок, не имеющий стабильной трёхмерной структуры. Существует как ансамбль быстро меняющихся конформаций. Не одна форма — облако форм.</a:t>
            </a:r>
          </a:p>
          <a:p/>
          <a:p>
            <a:r>
              <a:t>Это не редкая аномалия. 30-40% человеческого протеома содержит IDP-регионы. Многие белки, играющие ключевую роль в регуляции, передаче сигнала, развитии заболеваний, имеют значительные IDP-компоненты.</a:t>
            </a:r>
          </a:p>
          <a:p/>
          <a:p>
            <a:r>
              <a:t>Конкретный пример. α-Синуклеин — белок, ассоциированный с болезнью Паркинсона. В нативной форме полностью неупорядочен. Однако AlphaFold даёт правдоподобную трёхмерную структуру для α-синуклеина. Если вы возьмёте эту структуру и спроектируете на её основе лекарство, попадаете в проблему: структура не отражает реальное поведение белка в клетке.</a:t>
            </a:r>
          </a:p>
          <a:p/>
          <a:p>
            <a:r>
              <a:t>Конкретные цифры. Работа Akdel et al. в Nature Structural &amp; Molecular Biology 2022 года — 22% галлюцинаций в IDP-регионах для AlphaFold 2. Работа Gopalan &amp; Narayanan arxiv 2025 года — детальный анализ для AlphaFold 3, аналогичные цифры, не улучшилось значимо.</a:t>
            </a:r>
          </a:p>
          <a:p/>
          <a:p>
            <a:r>
              <a:t>Mitigation. Главный инструмент — pLDDT score, который AlphaFold выдаёт для каждой аминокислоты. pLDDT &gt; 90 — очень высокая уверенность модели. 70-90 — приемлемо. 50-70 — низкая. Меньше 50 — это либо IDP, либо галлюцинация модели.</a:t>
            </a:r>
          </a:p>
          <a:p/>
          <a:p>
            <a:r>
              <a:t>Рекомендация для научной работы. Первое — всегда фильтровать предсказания по pLDDT &gt; 70. Второе — для критических задач (особенно дизайн лекарств) подтверждать NMR или другим экспериментальным методом. Третье — использовать AlphaFold-Multimer для белковых комплексов и ансамбли (несколько предсказаний с разной инициализацией) для оценки конформационной гетерогенности. Четвёртое — явно маркировать IDP-регионы в любой публикации.</a:t>
            </a:r>
          </a:p>
          <a:p/>
          <a:p>
            <a:r>
              <a:t>Главная инженерная ошибка — использовать AlphaFold для IDP-регионов без оговорки. Это публикация фантомной структуры. Следующая работа использует ваш результат как ground truth, цикл загрязнения распространяется.</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WE-TESS — наш второй разобранный пример. Это универсальная рамка ML-развёртывания в Analyse-фазе. Применима за пределами астрономии.</a:t>
            </a:r>
          </a:p>
          <a:p/>
          <a:p>
            <a:r>
              <a:t>Контекст. Команда астрономов хочет автоматически обнаруживать экзопланеты в light curves TESS. Это уже работающая задача — Shallue &amp; Vanderburg показали 89% AUC в 2018 году. Вопрос: какая модель и какие шаги.</a:t>
            </a:r>
          </a:p>
          <a:p/>
          <a:p>
            <a:r>
              <a:t>Шаг 1 — пересечение данных. Совпадают ли распределения TESS и Kepler? У них разные звёзды-цели, разные кадении наблюдений (30 минут vs 2 минуты), но спектральный диапазон похож. Можно делать pre-train на Kepler и дообучать на TESS. Это transfer learning (перенос обучения), проверенная техника.</a:t>
            </a:r>
          </a:p>
          <a:p/>
          <a:p>
            <a:r>
              <a:t>Шаг 2 — наличие разметки. Доступны ли размеченные данные? Да. Kepler оставил 8 000+ подтверждённых транзитов с независимой валидацией через радиовелосиметрию. Это большой обучающий набор.</a:t>
            </a:r>
          </a:p>
          <a:p/>
          <a:p>
            <a:r>
              <a:t>Шаг 3 — затраты GPU vs CPU. На CPU тренировка занимает 7 дней; на A100 — 4 часа. A100 окупается уже на одном запуске. Выбираем GPU.</a:t>
            </a:r>
          </a:p>
          <a:p/>
          <a:p>
            <a:r>
              <a:t>Шаг 4 — базовая AUC. Какая модель уже работает? BLS алгоритм Kovács 2002 — 78% AUC. Это базовый уровень, который надо обогнать. Любая модель ниже — провал.</a:t>
            </a:r>
          </a:p>
          <a:p/>
          <a:p>
            <a:r>
              <a:t>Шаг 5 — валидация на отложенной выборке. После тренировки тестируем на полностью отдельных TESS surveys, которых модель не видела. 1 595 высокоуверенных кандидатов. Точность 83,9% на тестовой выборке.</a:t>
            </a:r>
          </a:p>
          <a:p/>
          <a:p>
            <a:r>
              <a:t>Итоговый выбор: pre-trained CNN на Kepler, дообученный на TESS. Лучшее соотношение стоимости и качества по сравнению с custom CNN с нуля.</a:t>
            </a:r>
          </a:p>
          <a:p/>
          <a:p>
            <a:r>
              <a:t>Эта пятишаговая рамка применима к любой задаче Analyse-фазы. Замените «TESS» на ваш домен, «Kepler» на близкий уже-размеченный домен, «BLS Kovács 2002» на классический baseline вашей области. Шаги те же.</a:t>
            </a:r>
          </a:p>
          <a:p/>
          <a:p>
            <a:r>
              <a:t>Главный урок: ML-развёртывание в науке — это инженерия, не магия. Существуют отработанные методы, baseline'ы, validation практики. Используйте их.</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4 — Write + Review, написание и рецензирование. Самые острые этические проблемы AI в науке здесь.</a:t>
            </a:r>
          </a:p>
          <a:p/>
          <a:p>
            <a:r>
              <a:t>Зрелые инструменты работают. NotebookLM — 17 миллионов пользователей, Elicit — 138 миллионов статей в индексе, Consensus.app — 200 миллионов. Это работающее расширение для навигации литературы. Но каждая ссылка, которую вы цитируете, требует ручной проверки.</a:t>
            </a:r>
          </a:p>
          <a:p/>
          <a:p>
            <a:r>
              <a:t>Конкретный кейс провалов — Frontiers «крыса». 13 февраля 2024 опубликована статья с Midjourney-сгенерированной анатомией крысы. Подписи на фигурах — «protemns» и «zxpens» — несуществующие термины. Отозвана через 3 дня. Раскрытие использования AI в paper не спасло — peer review должен был отдельно проверить фигуры, и не проверил.</a:t>
            </a:r>
          </a:p>
          <a:p/>
          <a:p>
            <a:r>
              <a:t>NeurIPS 2025 — самый недавний и тревожный кейс. 21 575 поданных, 5 290 принятых (24,52%). 100+ фейковых цитат проникли в 53 принятые статьи. Рецензирование не справилось с массовым AI-помощью.</a:t>
            </a:r>
          </a:p>
          <a:p/>
          <a:p>
            <a:r>
              <a:t>И ICMJE — Международный комитет редакторов медицинских журналов — фиксирует базовое правило: AI не может быть автором. Springer, Elsevier, Frontiers, Nature — все имеют политики раскрытия. AI как инструмент с раскрытием — OK; AI как автор — запрещён независимо от качества вывода.</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Зрелые литературные инструменты для научной работы. Три canonical examples.</a:t>
            </a:r>
          </a:p>
          <a:p/>
          <a:p>
            <a:r>
              <a:t>NotebookLM от Google — 17 миллионов пользователей по состоянию на 2025 год. Архитектура — RAG над PDF, которые вы загружаете. Помогает суммировать длинные документы, находить ссылки между ними, цитировать. Это очень полезный инструмент для синтеза материала. Но каждая цитата, которую он выдаёт, требует ручной проверки — модель может перепутать источник.</a:t>
            </a:r>
          </a:p>
          <a:p/>
          <a:p>
            <a:r>
              <a:t>Elicit от Ought.io — 138 миллионов статей в индексе на 2024 год. Систематический обзор литературы за 4 раза быстрее ручного процесса. Очень полезен для аспирантов и постдоков, которые делают обзорные статьи. Но Elicit не делает метаанализ — то есть не делает количественную интеграцию результатов разных исследований. Это критично: систематический обзор без метаанализа — половина работы.</a:t>
            </a:r>
          </a:p>
          <a:p/>
          <a:p>
            <a:r>
              <a:t>Consensus.app — 200 миллионов статей. Поиск по утверждениям: вы задаёте вопрос (Does meditation help with anxiety?), получаете обзор того, что говорит литература. Очень удобно. Но низкая воспроизводимость в исходных данных — около 15% воспроизводимых исследований в психологии — означает, что фильтр обязателен.</a:t>
            </a:r>
          </a:p>
          <a:p/>
          <a:p>
            <a:r>
              <a:t>Главная мысль слайда: это работающие инструменты augmentation. Это не магия и не панацея, но и не Galactica. Они расширяют возможности учёного навигировать по литературе. Финальная синтезирующая работа — за человеком.</a:t>
            </a:r>
          </a:p>
          <a:p/>
          <a:p>
            <a:r>
              <a:t>Ключевое ограничение для каждого: каждая цитата требует ручной проверки. AI помогает найти; человек проверяет, что найденное действительно говорит то, что заявлено. Это важно: даже когда модель работает хорошо, ошибки в цитировании всё равно встречаются.</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WE-2 — третий разобранный пример лекции. Самая болезненная ситуация. Соавтор присылает вам черновик статьи перед подачей в журнал, и вы замечаете, что библиография подозрительно длинная и однородная. 47 цитат, и многие в одном академическом стиле, многие из журналов, которых вы не слышали. Это явно LLM-сгенерированная библиография.</a:t>
            </a:r>
          </a:p>
          <a:p/>
          <a:p>
            <a:r>
              <a:t>Что делать. Социальная вежливость подсказывает «давайте подадим, не обижая соавтора». Профессиональная строгость говорит другое.</a:t>
            </a:r>
          </a:p>
          <a:p/>
          <a:p>
            <a:r>
              <a:t>Четыре шага проверки. Каждый с критерием провала.</a:t>
            </a:r>
          </a:p>
          <a:p/>
          <a:p>
            <a:r>
              <a:t>Шаг 1. DOI-resolve через crossref.org. Каждый DOI проверяется автоматически — существует ли. Любой DOI, которого нет в crossref, — фейк. Стоимость: 5 минут на скрипт + 47 DOI = 5 минут.</a:t>
            </a:r>
          </a:p>
          <a:p/>
          <a:p>
            <a:r>
              <a:t>Шаг 2. Выборка релевантности. Беру 5 случайных DOI из тех, что прошли шаг 1, и читаю абстракты. Каждая статья должна реально говорить о теме, на которую её цитируют. Если статья реально существует, но не говорит про то, что заявлено в цитате — это confabulation, типичная ошибка LLM. Стоимость: 15 минут.</a:t>
            </a:r>
          </a:p>
          <a:p/>
          <a:p>
            <a:r>
              <a:t>Шаг 3. GPTZero check. Беру весь текст черновика и пропускаю через GPTZero. Если детектор показывает &gt; 80% AI-сгенерированности рядом с цитатами — это сигнал, что соавтор делегировал не только цитирование, но и сам анализ литературы LLM. Стоимость: 5 минут.</a:t>
            </a:r>
          </a:p>
          <a:p/>
          <a:p>
            <a:r>
              <a:t>Шаг 4. Запросить исходные файлы у соавтора. Если соавтор не может показать рабочие записи, выписки, тетрадь чтения литературы — нет рабочей копии. Это значит — он не читал статьи, которые цитирует. Стоимость: 20 минут на разговор.</a:t>
            </a:r>
          </a:p>
          <a:p/>
          <a:p>
            <a:r>
              <a:t>Критерий решения. Три или больше фейковых цитат найдено — отказ от соавторства. Не «исправим вместе» — отказ. Потому что это сигнал глубокой проблемы методологии соавтора, которая всплывёт ещё несколько раз.</a:t>
            </a:r>
          </a:p>
          <a:p/>
          <a:p>
            <a:r>
              <a:t>Стоимость 45 минут проверки vs стоимость скандала несколько лет подорванной репутации. Выбор очевиден. Профессиональная строгость важнее социальной вежливости.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Frontiers «крыса» — самый виральный кейс провала peer review в эпоху AI в 2024 году. Разберём детально, потому что урок принципиальный.</a:t>
            </a:r>
          </a:p>
          <a:p/>
          <a:p>
            <a:r>
              <a:t>13 февраля 2024 года в журнале Frontiers in Cell and Developmental Biology была опубликована научная статья с фигурой, которая выглядела как «анатомическая иллюстрация репродуктивной системы крысы». Фигура была сгенерирована Midjourney и содержала несколько критических проблем.</a:t>
            </a:r>
          </a:p>
          <a:p/>
          <a:p>
            <a:r>
              <a:t>Первая. Анатомия откровенно неправильная. У крысы были изображены гигантские нерелевантные репродуктивные органы — изображение скорее напоминало сюрреалистическую вариацию.</a:t>
            </a:r>
          </a:p>
          <a:p/>
          <a:p>
            <a:r>
              <a:t>Вторая. Подписи на фигуре — «protemns», «zxpens», «celllls» — несуществующие медицинские термины. Это типичная галлюцинация Midjourney на тексте: модель «знает», как выглядит научная подпись, но не имеет понимания семантики.</a:t>
            </a:r>
          </a:p>
          <a:p/>
          <a:p>
            <a:r>
              <a:t>Статья прошла peer review. Авторы в paper явно указали использование Midjourney для фигур — раскрытие было. Но рецензенты, видимо, посмотрели на текст и пропустили фигуры. Через 13-15 февраля reddit и Twitter подхватили статью, виральный пост набрал миллионы просмотров.</a:t>
            </a:r>
          </a:p>
          <a:p/>
          <a:p>
            <a:r>
              <a:t>16 февраля 2024 года Frontiers отозвал статью с retraction note: использование AI было раскрыто авторами, но фигуры не должны были пройти peer review.</a:t>
            </a:r>
          </a:p>
          <a:p/>
          <a:p>
            <a:r>
              <a:t>Главный урок инженеру: раскрытие AI в paper не освобождает от проверки. Peer review должен проверять figures как самостоятельный артефакт. Это значит — отдельно смотреть на каждую фигуру, проверять подписи, проверять анатомическую/физическую корректность. Сейчас это часто не делается, потому что figures исторически воспринимались как иллюстрация текста — но в эпоху AI figures могут быть полностью галлюцинированы.</a:t>
            </a:r>
          </a:p>
          <a:p/>
          <a:p>
            <a:r>
              <a:t>Для автора, использующего AI для научных figures: всегда проверяйте каждую подпись на наличие реальных терминов; всегда показывайте figure эксперту по специальности до подачи; всегда указывайте конкретный prompt и модель в caption.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NeurIPS 2025 fake citations — самый недавний и самый тревожный кейс провала peer review.</a:t>
            </a:r>
          </a:p>
          <a:p/>
          <a:p>
            <a:r>
              <a:t>NeurIPS — крупнейшая конференция по машинному обучению. В 2025 году получила 21 575 поданных статей и приняла 5 290. Это acceptance rate 24,52%. Это огромный масштаб — несколько тысяч человек-рецензентов, каждая статья проходит 3-4 рецензента.</a:t>
            </a:r>
          </a:p>
          <a:p/>
          <a:p>
            <a:r>
              <a:t>В начале 2026 года GPTZero Research опубликовал анализ — arxiv 2602.05930. Они проверили принятые 5 290 статей через комбинацию автоматических детекторов LLM-генерации и ручной проверки DOI. Результат: более 100 фейковых цитат проникли в 53 принятые статьи.</a:t>
            </a:r>
          </a:p>
          <a:p/>
          <a:p>
            <a:r>
              <a:t>Что значит «фейковая цитата». Три категории. Первая — DOI не существует. Вторая — DOI существует, но статья не говорит то, что заявлено в цитирующей работе. Третья — соавторы статей-источников не существуют (LLM придумало имя).</a:t>
            </a:r>
          </a:p>
          <a:p/>
          <a:p>
            <a:r>
              <a:t>Это 1% от accepted папок. Звучит мало. На самом деле — это ад. Потому что NeurIPS — топовая ML-конференция в мире, и эти статьи теперь будут цитироваться сотнями работ следующего поколения.</a:t>
            </a:r>
          </a:p>
          <a:p/>
          <a:p>
            <a:r>
              <a:t>Каскадный эффект. Это самовоспроизводящееся загрязнение литературы. Топовая конференция AI пропустила фейки. Эти фейки войдут в обучающие данные следующих LLM. Следующая итерация рецензирования увидит фейки как «легитимные источники» — модели рецензента «знают», что эти статьи прошли peer review NeurIPS.</a:t>
            </a:r>
          </a:p>
          <a:p/>
          <a:p>
            <a:r>
              <a:t>И peer review масштабно не справился. 3-4 рецензента на статью с 47 цитатами не могут вручную проверить каждую — это часы работы. Они доверяют автору. В эпоху до AI это работало. В эпоху AI больше не работает.</a:t>
            </a:r>
          </a:p>
          <a:p/>
          <a:p>
            <a:r>
              <a:t>Главный урок: per-cite manual verify обязателен в эпоху AI. Каждая принимающая инстанция (конференция, журнал) должна автоматически прогонять каждую цитату через DOI-resolve и спам-фильтр. Это инфраструктурная задача, которая ещё не решена в большинстве систем.</a:t>
            </a:r>
          </a:p>
          <a:p/>
          <a:p>
            <a:r>
              <a:t>Для автора — те же четыре шага из WE-2: DOI-resolve каждой цитаты, выборочная проверка релевантности, GPTZero check, исходные файлы.</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ICMJE и политики издательств — это инфраструктурный слой защиты от AI-злоупотреблений в науке. Разберём.</a:t>
            </a:r>
          </a:p>
          <a:p/>
          <a:p>
            <a:r>
              <a:t>ICMJE — International Committee of Medical Journal Editors, основан в 1978 году. Это организация редакторов медицинских журналов, которая публикует Recommendations for the Conduct, Reporting, Editing, and Publication of Scholarly Work in Medical Journals. Их рекомендации стали стандартом de facto для большинства научных журналов в мире.</a:t>
            </a:r>
          </a:p>
          <a:p/>
          <a:p>
            <a:r>
              <a:t>Главное правило ICMJE 2023-2024: AI не может быть автором. Никаких исключений, никакой attribution «ChatGPT contributed». Авторство требует трёх вещей: (1) существенный intellectual вклад в работу, (2) одобрение финальной версии, (3) ответственность за content. AI ничего из этого юридически не может.</a:t>
            </a:r>
          </a:p>
          <a:p/>
          <a:p>
            <a:r>
              <a:t>Пять критериев политик. Раскрытие — обязательно для всех крупных издательств. Использование AI должно быть указано в acknowledgments или methods. Конкретность важна: «использован ChatGPT для редактирования английского» — OK; «использован AI» — слишком расплывчато.</a:t>
            </a:r>
          </a:p>
          <a:p/>
          <a:p>
            <a:r>
              <a:t>Проверяемость — все ли утверждения проверяемы. У Frontiers и Nature это обязательно после кейса «крысы»; у Springer и Elsevier — рекомендация.</a:t>
            </a:r>
          </a:p>
          <a:p/>
          <a:p>
            <a:r>
              <a:t>AI как автор — запрещено абсолютно всеми. Springer, Elsevier, Frontiers, Nature, ICMJE — все одинаково. Даже если AI сделал значительную работу — нельзя.</a:t>
            </a:r>
          </a:p>
          <a:p/>
          <a:p>
            <a:r>
              <a:t>Ответственность — у всех у авторов-людей. Если AI галлюцинировал и это попало в paper — ответственность авторов, не AI.</a:t>
            </a:r>
          </a:p>
          <a:p/>
          <a:p>
            <a:r>
              <a:t>Воспроизводимость — у Elsevier, Frontiers, Nature обязательно (методология должна позволять воспроизведение); у Springer — рекомендация.</a:t>
            </a:r>
          </a:p>
          <a:p/>
          <a:p>
            <a:r>
              <a:t>Для аспиранта инженерный приём — открывайте конкретную политику конкретного журнала перед подачей. Эти политики часто меняются по мере роста AI. Не полагайтесь на старые знания — проверьте текущий standard.</a:t>
            </a:r>
          </a:p>
          <a:p/>
          <a:p>
            <a:r>
              <a:t>Главный приём: AI как инструмент с раскрытием — OK; AI как автор — запрещён независимо от качества вывода и независимо от журнала.</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5 — Когда AI не нужен в науке. Самая важная часть лекции с инженерной точки зрения. Помните миссию курса: учить когда применять AI, а когда — нет. Здесь мы конкретизируем «когда нет».</a:t>
            </a:r>
          </a:p>
          <a:p/>
          <a:p>
            <a:r>
              <a:t>Четыре категории критериев. Открытый мир без эталонной разметки. Недопредставлен в обучении. Нельзя проверить независимо. Этический риск. Любое срабатывание — повод остановиться.</a:t>
            </a:r>
          </a:p>
          <a:p/>
          <a:p>
            <a:r>
              <a:t>Пять зрелых альтернатив AI работают 30-70 лет. BO+GP в эксперименте — 40 и 60 лет. DFT+MD в материалах — 60+ лет. Классическая статистика в анализе — век и более. OR-Tools в оптимизации — 70+ лет. Человеческое рецензирование — несколько веков.</a:t>
            </a:r>
          </a:p>
          <a:p/>
          <a:p>
            <a:r>
              <a:t>Разобранный пример WE-3 — катализатор окисления пропилена. Применим пятишаговую рамку, которую мы построили в начале лекции. И покажем три вопроса к вендору AI-инструмента.</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категории «AI не нужен» — это диагностический вопросник для любого нового научного применения AI. Любой ответ «да» на эти вопросы — это повод остановиться и пересмотреть выбор инструмента.</a:t>
            </a:r>
          </a:p>
          <a:p/>
          <a:p>
            <a:r>
              <a:t>Критерий 1 — открытый мир без эталонной разметки. Это самый строгий критерий. Если пространство возможных решений не описано формально (например, через физические уравнения), и проверка результата требует выхода за пределы системы (например, длительные клинические исследования), AI не работает надёжно. Пример — гипотеза о роли социальных сетей в политическом поведении. Слишком открытая задача, нет ground truth.</a:t>
            </a:r>
          </a:p>
          <a:p/>
          <a:p>
            <a:r>
              <a:t>Критерий 2 — недопредставлен в обучении. Покрытие. Ваш конкретный случай находится далеко от распределения обучающих данных модели. Это сложно проверить, но критически важно. Пример — новый вид белка, не похожий на стандартные семьи в PDB. AlphaFold там даст предсказание, но с низкой надёжностью. Признаки — модель уверена в своём ответе на очень новом случае; это подозрительно.</a:t>
            </a:r>
          </a:p>
          <a:p/>
          <a:p>
            <a:r>
              <a:t>Критерий 3 — нельзя проверить независимо. Нет альтернативного метода или эксперимента для валидации. Если у вас есть только одно измерение и одна модель предсказывает, что измерение должно быть таким, вы не можете отличить «модель угадала» от «модель ошиблась». Пример — предсказание единственного измерения без возможности повторения.</a:t>
            </a:r>
          </a:p>
          <a:p/>
          <a:p>
            <a:r>
              <a:t>Критерий 4 — этический риск. Использование AI создаёт риск вреда или нарушения этических норм. Пример — AI в принятии врачебных решений без врача. ICMJE и медицинские профессиональные сообщества здесь однозначны: AI как инструмент с врачом — OK; AI как замена врача — нельзя.</a:t>
            </a:r>
          </a:p>
          <a:p/>
          <a:p>
            <a:r>
              <a:t>Бонусный пятый критерий — закрытая физика проще доступна. Если у вас задача катализа, и DFT даёт надёжное предсказание, AI становится переусложнением. Зачем тренировать нейросеть, если quantum chemistry уже даёт ответ?</a:t>
            </a:r>
          </a:p>
          <a:p/>
          <a:p>
            <a:r>
              <a:t>Для любого нового научного применения AI пройдите эти пять вопросов. Любое «да» — пауза, рассмотрение не-AI альтернативы.</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WE-3 — наш четвёртый и финальный разобранный пример. Применим пятишаговую рамку из начала лекции к конкретной задаче. Это эталонный кейс «AI работает осознанно».</a:t>
            </a:r>
          </a:p>
          <a:p/>
          <a:p>
            <a:r>
              <a:t>Задача: подобрать катализатор для окисления пропилена в акролеин. Это промышленно важная реакция — акролеин используется в синтезе акриловой кислоты, которая является базовым сырьём для полимеров.</a:t>
            </a:r>
          </a:p>
          <a:p/>
          <a:p>
            <a:r>
              <a:t>Шаг 1 — classify. Это Hypothesis+Design ступени лестницы. Закрытый мир: пространство кандидатов катализаторов описано (металл + оксидная подложка + промоторы), физика реакций может быть рассчитана через DFT с приемлемой точностью.</a:t>
            </a:r>
          </a:p>
          <a:p/>
          <a:p>
            <a:r>
              <a:t>Шаг 2 — map alternatives. Что есть на рынке? Sakana AI Scientist может предложить 50 кандидатов. BO+GP с initial training на Materials Project — может ранжировать 5000 кандидатов и предложить топ-50 для углублённой проверки. BO+GP лучше: математически обоснованная неопределённость, доказанная работа в катализе (Shields Nature 2021).</a:t>
            </a:r>
          </a:p>
          <a:p/>
          <a:p>
            <a:r>
              <a:t>Шаг 3 — four criteria check. Закрытый мир? Да, DFT даёт ground truth. Покрытие? Materials Project содержит большое количество катализаторов в этой области. Независимая проверка? Да, через synthesis + reactor measurements. Этический риск? Нет. BO+GP проходит все 4 критерия.</a:t>
            </a:r>
          </a:p>
          <a:p/>
          <a:p>
            <a:r>
              <a:t>Шаг 4 — HITL design. Аспирант проверяет каждый из 50 DFT-результатов: разумна ли предсказанная активная фаза, нет ли очевидных ошибок (например, отрицательная энтальпия активации). Это останавливает каскад ошибок.</a:t>
            </a:r>
          </a:p>
          <a:p/>
          <a:p>
            <a:r>
              <a:t>Шаг 5 — pre-publication verify. 5 синтезированных кандидатов тестируются в реакторе. 3 показывают предсказанные характеристики. Эти 3 — открытие, которое можно публиковать.</a:t>
            </a:r>
          </a:p>
          <a:p/>
          <a:p>
            <a:r>
              <a:t>Конкретные инструменты. VASP — стандартный софт DFT расчётов в материаловедении. BoTorch плюс GPyTorch — Python-библиотеки байесовской оптимизации. Materials Project — справочная база материалов.</a:t>
            </a:r>
          </a:p>
          <a:p/>
          <a:p>
            <a:r>
              <a:t>Сравнение времени. Традиционно постдок открывает 1-2 кандидата катализатора в год. С GP-BO + DFT + автономной лабой — 3 кандидата за 4 месяца. Ускорение 10-15× при той же точности.</a:t>
            </a:r>
          </a:p>
          <a:p/>
          <a:p>
            <a:r>
              <a:t>Это эталонный пример «AI работает осознанно». Зрелая байесовская оптимизация, проверенная физика DFT, человек в петле, проверка до публикации. Никаких LLM, никакого «AI Scientist».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Пять зрелых альтернатив AI работают десятилетиями. Это критический список, который инженер должен помнить, когда оценивает применение AI в науке.</a:t>
            </a:r>
          </a:p>
          <a:p/>
          <a:p>
            <a:r>
              <a:t>Байесовская оптимизация + гауссовский процесс. 1989 год — формализация Mockus. 36 лет в активном использовании. Область — эксперимент с машинным обучением. Сила vs AI — математическая обоснованность. Типичная задача — подбор условий органических реакций, оптимизация катализаторов.</a:t>
            </a:r>
          </a:p>
          <a:p/>
          <a:p>
            <a:r>
              <a:t>DFT + MD. Density Functional Theory разработана Kohn в 1965 году, Нобелевская премия 1998 года. Molecular Dynamics — Alder 1957 год. Оба — 60+ лет. Область — материалы и химия. Сила — первопринципный расчёт энергии активации, структуры, динамики. Не предсказание, а расчёт от physical laws. Типичная задача — энергия активации катализатора, фазовая диаграмма сплава.</a:t>
            </a:r>
          </a:p>
          <a:p/>
          <a:p>
            <a:r>
              <a:t>Классическая статистика — Fisher ANOVA 1925, t-test 1908. Век и более. Область — анализ данных. Сила — калиброванные p-values, ANOVA для сравнения групп, теория power analysis. Типичная задача — сравнение групп в клиническом эксперименте, проверка значимости эффекта.</a:t>
            </a:r>
          </a:p>
          <a:p/>
          <a:p>
            <a:r>
              <a:t>OR-Tools / Simplex / linear programming. Dantzig 1947 год. 78 лет. Область — оптимизация. Сила — гарантия глобального оптимума при линейных ограничениях. Типичная задача — планирование лабораторных ресурсов, маршрутизация автоматизированных систем.</a:t>
            </a:r>
          </a:p>
          <a:p/>
          <a:p>
            <a:r>
              <a:t>Peer review. Несколько веков, формализован в XIX. Область — рецензирование. Сила — калиброванная коллективная экспертиза. Это институциональный метод проверки качества. Никакой AI не заменит коллег по специальности.</a:t>
            </a:r>
          </a:p>
          <a:p/>
          <a:p>
            <a:r>
              <a:t>Главный приём — зрелые методы не устаревают. Они становятся частью интегрированного инструментария. AI расширяет, но не заменяет. Когда AI работает с DFT (как в GNoME) — это работает; когда AI пытается заменить DFT — это маркетинг.</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Финальный applicable artefact лекции. Три вопроса к вендору AI плюс пятишаговая рамка решения. Это то, что можно распечатать и держать в кармане.</a:t>
            </a:r>
          </a:p>
          <a:p/>
          <a:p>
            <a:r>
              <a:t>Три вопроса к поставщику AI. Когда вы оцениваете коммерческий AI-инструмент для научной работы, задайте эти три вопроса. Если вендор не отвечает на любой из них прямо — это сигнал не покупать.</a:t>
            </a:r>
          </a:p>
          <a:p/>
          <a:p>
            <a:r>
              <a:t>Q1: покажите эталон до AI. Какие результаты были у вашей лаборатории до того, как вы внедрили этот AI-инструмент? Без baseline невозможно оценить, действительно ли AI улучшает работу или просто меняет процесс. Это самый базовый эксперимент в науке: измерение до vs после. Если вендор не показывает before/after — он либо не измерял, либо измерил и результаты неудобные.</a:t>
            </a:r>
          </a:p>
          <a:p/>
          <a:p>
            <a:r>
              <a:t>Q2: покажите воспроизводимость. Можно ли получить такой же результат через альтернативный, не-AI метод? Если нет — это не наука. Это или артефакт модели, или результат, который не выдержит независимой проверки. Воспроизводимость через альтернативный метод — фундаментальное требование любой научной публикации.</a:t>
            </a:r>
          </a:p>
          <a:p/>
          <a:p>
            <a:r>
              <a:t>Q3: покажите случаи провала. Где модель ошибается? В каких сценариях галлюцинирует? Какие классы задач за пределами её возможностей? Если вендор отвечает «модель работает идеально» — он лжёт. Любая ML-модель имеет области надёжности и области сбоев. Если вендор не знает этих границ, он не понимает свой продукт.</a:t>
            </a:r>
          </a:p>
          <a:p/>
          <a:p>
            <a:r>
              <a:t>Пять шагов рамки решения. Помните их из слайдов 5 и 33. Один — классифицируй задачу. Два — отобрази все альтернативы, включая зрелые не-AI. Три — четыре критерия (открытый мир, покрытие, проверяемость, этика). Четыре — спроектируй шлюзы HITL. Пять — проверь до публикации.</a:t>
            </a:r>
          </a:p>
          <a:p/>
          <a:p>
            <a:r>
              <a:t>Эти восемь пунктов — applicable artefact лекции. Распечатайте, носите с собой. Любой раз, когда коллега или вендор предлагает «применить AI к научной задаче», доставайте эту карточку и проходите по пунктам. Это занимает 10 минут. Это спасает месяцы потерянной работы.</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Российский контекст AI в науке. Три институциональных центра, два указа президента, и реальные ограничения, которые надо понимать аспиранту.</a:t>
            </a:r>
          </a:p>
          <a:p/>
          <a:p>
            <a:r>
              <a:t>AIRI — Институт искусственного интеллекта, основан в 2021 году. Независимая организация (не Сбер, не НТИ), один из ведущих российских AI-исследовательских центров. Работает по нескольким направлениям AI4Science: предсказание структуры белка с открытыми конкурентами AlphaFold и применением к российским биотехнологическим вопросам; медицинская визуализация в сотрудничестве с российскими медицинскими центрами; климатическое моделирование арктических регионов. Публикации в Nature Communications 2024-2025.</a:t>
            </a:r>
          </a:p>
          <a:p/>
          <a:p>
            <a:r>
              <a:t>Sber AI Lab — исследовательское направление в Сбере. Применения AI4Science: климатическое моделирование арктических регионов и Сибири; прогнозирование суточного потребления электроэнергии ЕЭС России; сотрудничество с исследовательскими институтами по AI в материалах. Внутренний кластер оценивается приблизительно в 5 тысяч GPU H100 по открытым данным 2024 года — сопоставим с верхним децилем глобальных академических кластеров. Фокус Сбера — банковские задачи; AI4Science — вторичное направление через коллаборации.</a:t>
            </a:r>
          </a:p>
          <a:p/>
          <a:p>
            <a:r>
              <a:t>Yandex Research — академические публикации плюс open-source. YaLM-100B 2022 года — открытая большая языковая модель на русском, серия RuGPT. Сильный международный послужной список: ICLR, NeurIPS, ICML 2023-2025. Это делает Yandex Research наиболее международно-видимым российским направлением AI-исследований. Открытые веса критичны: они позволяют российским аспирантам строить русскоязычные научные инструменты без зависимости от закрытых вендорских API.</a:t>
            </a:r>
          </a:p>
          <a:p/>
          <a:p>
            <a:r>
              <a:t>Регуляторная рамка. Указ Президента РФ № 490 от 10 октября 2019 года утвердил Национальную стратегию развития искусственного интеллекта до 2030 года; обновлён Указом № 124 от 15 февраля 2024 года с расширенными целевыми показателями и приоритетом AI4Science. Гранты РНФ AI4Science 2024-2025 — отдельный приоритет — 20-30 грантов ежегодно по 5-15 миллионов рублей.</a:t>
            </a:r>
          </a:p>
          <a:p/>
          <a:p>
            <a:r>
              <a:t>Структурные разрывы. Первый — вычислительный. Обучение фундаментальной модели уровня AlphaFold 3 оценивается в 10-50 миллионов долларов; один раунд — 1-3 миллиона. Сравните с типичным грантом РНФ — около 50-150 тысяч долларов, что хватает на 2-5 процентов одного раунда. Разрыв 20-50 раз.</a:t>
            </a:r>
          </a:p>
          <a:p/>
          <a:p>
            <a:r>
              <a:t>Второй разрыв — видимость цитирования. Русскоязычные публикации составляют менее 1 процента корпуса Semantic Scholar (214 миллионов статей) против 2-3 процентов мирового научного вывода России. Это 3-кратное недопредставление в данных, на которых обучаются LLM. Инструменты литературного анализа на LLM систематически пропускают русскоязычные исследования.</a:t>
            </a:r>
          </a:p>
          <a:p/>
          <a:p>
            <a:r>
              <a:t>Что это значит для аспиранта. Знай классические методы — BO+GP, DFT, статистика — массовые глобально и в РФ. Используй открытые фундаментальные модели — широко доступны, не зависят от вендоров. Следи за AIRI / Sber AI Lab / Yandex Research — отечественные сильные стороны. Понимай ограничения compute и citation. Балансируй международные и российские публикации.</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слайд. Самый острый вопрос — что делать с фейк-цитатами соавтора. И recap лестницы плюс позитивный список прорывов.</a:t>
            </a:r>
          </a:p>
          <a:p/>
          <a:p>
            <a:r>
              <a:t>Сценарий. Завтра — буквально завтра — вы получаете e-mail от коллеги. Он соавтор по статье. Черновик статьи готов, в нём 47 цитат. По характеру цитирования и однородности стиля вы понимаете, что библиография собрана LLM.</a:t>
            </a:r>
          </a:p>
          <a:p/>
          <a:p>
            <a:r>
              <a:t>Что делать.</a:t>
            </a:r>
          </a:p>
          <a:p/>
          <a:p>
            <a:r>
              <a:t>Первое — DOI-проверка каждой ссылки через crossref.org. Скрипт. 5 минут.</a:t>
            </a:r>
          </a:p>
          <a:p/>
          <a:p>
            <a:r>
              <a:t>Второе — выборочная проверка релевантности. 5 случайных DOI, проверяем, что статьи действительно говорят о теме цитирования. 15 минут.</a:t>
            </a:r>
          </a:p>
          <a:p/>
          <a:p>
            <a:r>
              <a:t>Третье — запрос исходных файлов у соавтора. «Покажи свою тетрадь чтения по этим статьям». Если нет рабочей копии — нет реального чтения.</a:t>
            </a:r>
          </a:p>
          <a:p/>
          <a:p>
            <a:r>
              <a:t>Четвёртое — критерий решения. Три или более фейковых цитат — отказ от соавторства. Не «исправим вместе» — отказ. Профессиональная строгость важнее социальной вежливости.</a:t>
            </a:r>
          </a:p>
          <a:p/>
          <a:p>
            <a:r>
              <a:t>Recap лестницы. Шесть ступеней. Hypothesis — расширение, но не автономия (Sakana 1%). Design — autonomous discovery? Пока нет (Coscientist делает синтез известных). Experiment — самый сильный успех: Нобель AlphaFold плюс трещина Палгрейва-Шупа. Analyse — узкое ML работает предсказуемо. Write — augmentation с обязательной проверкой каждой ссылки. Review — финально запрещён политикой ICMJE.</a:t>
            </a:r>
          </a:p>
          <a:p/>
          <a:p>
            <a:r>
              <a:t>Лестница циклическая, не прямая. Рецензент возвращает к анализу; анализ порождает новую гипотезу.</a:t>
            </a:r>
          </a:p>
          <a:p/>
          <a:p>
            <a:r>
              <a:t>Позитивный recap. Реальные прорывы существуют, и они не отменяемы провалами в Write+Review.</a:t>
            </a:r>
          </a:p>
          <a:p/>
          <a:p>
            <a:r>
              <a:t>AlphaFold взял Нобель по химии 2024. Первая в истории Нобелевская премия за конкретный AI-продукт в фундаментальной науке. 200 миллионов структур в AlphaFold DB — в тысячу раз больше PDB за полвека. GNoME предсказала 380 тысяч стабильных материалов. Aurora в 5 тысяч раз быстрее эталона ECMWF на бенчмарке. AlphaProof серебро на Международной математической олимпиаде 2024. A-Lab — 41 из 58 кандидатов синтезированы за 17 дней.</a:t>
            </a:r>
          </a:p>
          <a:p/>
          <a:p>
            <a:r>
              <a:t>Это прорывы. И они требуют человека в петле. Без человека в петле, который останавливает конвейер на каждой пробе — Палгрейв-Шуп показывает: 35 из 36 содержит ошибки. Прорыв и провал — две стороны одной медали.</a:t>
            </a:r>
          </a:p>
          <a:p/>
          <a:p>
            <a:r>
              <a:t>Открыто для ваших вопросов.</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Закрывающий слайд. Hero — AlphaFold DB.</a:t>
            </a:r>
          </a:p>
          <a:p/>
          <a:p>
            <a:r>
              <a:t>AlphaFold показал миру самый важный позитивный кейс в этой лекции. Двести миллионов структур белков, каждая последовательность из UniProt, доступна на alphafold.ebi.ac.uk. Это самая большая структурная база данных в истории биологии. И это первый в истории AI-продукт в формулировке Нобелевской премии по фундаментальной науке.</a:t>
            </a:r>
          </a:p>
          <a:p/>
          <a:p>
            <a:r>
              <a:t>И всё же — это только начало. Биология теперь чуть больше известна. Финальная карта далека. Мы знаем структуры всех известных белков, но мы не знаем большинства белок-белковых взаимодействий, не знаем большинства белок-маленькая молекула взаимодействий, не понимаем большинства функций. AlphaFold открыл новый слой, который теперь нужно заполнять.</a:t>
            </a:r>
          </a:p>
          <a:p/>
          <a:p>
            <a:r>
              <a:t>Это и есть main pattern AI в науке. Прорыв там, где есть эталонная разметка и закрытый мир. И долгий путь следующих десятилетий заполнения новых классов задач.</a:t>
            </a:r>
          </a:p>
          <a:p/>
          <a:p>
            <a:r>
              <a:t>Мост к лекции 16. Лекция 16 будет про AI в нефтегазе. Это частично закрытый мир — геофизика, сейсмическая интерпретация, есть физические уравнения и эталонные данные. И одновременно частично открытый — резервуар, добыча, сложные нелинейные системы, требующие операторских решений. Этот микс закрытого и открытого делает лекцию 16 принципиально другой, чем лекция 15.</a:t>
            </a:r>
          </a:p>
          <a:p/>
          <a:p>
            <a:r>
              <a:t>Главная мысль лекции 15, которую вы должны унести: AI в науке требует суждения. Не «AI решит всё», не «AI ничего не решит» — а «AI решает разное на разных ступенях лестницы». Лестница циклическая. Ваша задача как инженера — диагностировать, на какой ступени вы стоите, и выбирать инструмент осознанно.</a:t>
            </a:r>
          </a:p>
          <a:p/>
          <a:p>
            <a:r>
              <a:t>Спасибо. Открыто для финальных вопросов.</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png"/><Relationship Id="rId4" Type="http://schemas.openxmlformats.org/officeDocument/2006/relationships/image" Target="../media/image21.jp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01-stockholm-hall.jpg"/>
          <p:cNvPicPr>
            <a:picLocks noChangeAspect="1"/>
          </p:cNvPicPr>
          <p:nvPr/>
        </p:nvPicPr>
        <p:blipFill>
          <a:blip r:embed="rId2"/>
          <a:stretch>
            <a:fillRect/>
          </a:stretch>
        </p:blipFill>
        <p:spPr>
          <a:xfrm>
            <a:off x="274320" y="457200"/>
            <a:ext cx="5669280" cy="3108960"/>
          </a:xfrm>
          <a:prstGeom prst="rect">
            <a:avLst/>
          </a:prstGeom>
        </p:spPr>
      </p:pic>
      <p:sp>
        <p:nvSpPr>
          <p:cNvPr id="3" name="Rectangle 2"/>
          <p:cNvSpPr/>
          <p:nvPr/>
        </p:nvSpPr>
        <p:spPr>
          <a:xfrm>
            <a:off x="274320" y="3520440"/>
            <a:ext cx="5669280" cy="4572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566160"/>
            <a:ext cx="5394960" cy="365760"/>
          </a:xfrm>
          <a:prstGeom prst="rect">
            <a:avLst/>
          </a:prstGeom>
          <a:noFill/>
        </p:spPr>
        <p:txBody>
          <a:bodyPr wrap="square" lIns="0" rIns="0" tIns="0" bIns="0" anchor="ctr">
            <a:spAutoFit/>
          </a:bodyPr>
          <a:lstStyle/>
          <a:p>
            <a:pPr algn="l">
              <a:lnSpc>
                <a:spcPct val="115000"/>
              </a:lnSpc>
            </a:pPr>
            <a:r>
              <a:rPr sz="1300" b="1" i="0">
                <a:solidFill>
                  <a:srgbClr val="FFFFFF"/>
                </a:solidFill>
                <a:latin typeface="Arial"/>
              </a:rPr>
              <a:t>9 октября 2024 — Нобель по химии за AlphaFold</a:t>
            </a:r>
          </a:p>
        </p:txBody>
      </p:sp>
      <p:sp>
        <p:nvSpPr>
          <p:cNvPr id="5" name="Rounded Rectangle 4"/>
          <p:cNvSpPr/>
          <p:nvPr/>
        </p:nvSpPr>
        <p:spPr>
          <a:xfrm>
            <a:off x="5852160" y="1371600"/>
            <a:ext cx="502920" cy="1828800"/>
          </a:xfrm>
          <a:prstGeom prst="roundRect">
            <a:avLst>
              <a:gd name="adj" fmla="val 10000"/>
            </a:avLst>
          </a:prstGeom>
          <a:solidFill>
            <a:srgbClr val="F0AB00"/>
          </a:solidFill>
          <a:ln w="254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0" y="1371600"/>
            <a:ext cx="502920" cy="1828800"/>
          </a:xfrm>
          <a:prstGeom prst="rect">
            <a:avLst/>
          </a:prstGeom>
          <a:noFill/>
        </p:spPr>
        <p:txBody>
          <a:bodyPr wrap="square" lIns="0" rIns="0" tIns="0" bIns="0" anchor="ctr">
            <a:spAutoFit/>
          </a:bodyPr>
          <a:lstStyle/>
          <a:p>
            <a:pPr algn="ctr">
              <a:lnSpc>
                <a:spcPct val="115000"/>
              </a:lnSpc>
            </a:pPr>
            <a:r>
              <a:rPr sz="3600" b="1" i="0">
                <a:solidFill>
                  <a:srgbClr val="21295C"/>
                </a:solidFill>
                <a:latin typeface="Arial"/>
              </a:rPr>
              <a:t>⇄</a:t>
            </a:r>
          </a:p>
        </p:txBody>
      </p:sp>
      <p:sp>
        <p:nvSpPr>
          <p:cNvPr id="7" name="Rounded Rectangle 6"/>
          <p:cNvSpPr/>
          <p:nvPr/>
        </p:nvSpPr>
        <p:spPr>
          <a:xfrm>
            <a:off x="6263640" y="457200"/>
            <a:ext cx="5669280" cy="3108960"/>
          </a:xfrm>
          <a:prstGeom prst="roundRect">
            <a:avLst>
              <a:gd name="adj" fmla="val 10000"/>
            </a:avLst>
          </a:prstGeom>
          <a:solidFill>
            <a:srgbClr val="21295C"/>
          </a:solidFill>
          <a:ln w="381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777240"/>
            <a:ext cx="5303520" cy="2468880"/>
          </a:xfrm>
          <a:prstGeom prst="rect">
            <a:avLst/>
          </a:prstGeom>
          <a:noFill/>
        </p:spPr>
        <p:txBody>
          <a:bodyPr wrap="square" lIns="0" rIns="0" tIns="0" bIns="0" anchor="t">
            <a:spAutoFit/>
          </a:bodyPr>
          <a:lstStyle/>
          <a:p>
            <a:pPr algn="l">
              <a:lnSpc>
                <a:spcPct val="120000"/>
              </a:lnSpc>
            </a:pPr>
            <a:r>
              <a:rPr sz="1400" b="1" i="1">
                <a:solidFill>
                  <a:srgbClr val="C0392B"/>
                </a:solidFill>
                <a:latin typeface="Arial"/>
              </a:rPr>
              <a:t>RETRACTED — отозвано</a:t>
            </a:r>
          </a:p>
          <a:p>
            <a:pPr algn="l">
              <a:lnSpc>
                <a:spcPct val="120000"/>
              </a:lnSpc>
            </a:pPr>
            <a:r>
              <a:rPr sz="400" b="0" i="0">
                <a:solidFill>
                  <a:srgbClr val="21295C"/>
                </a:solidFill>
                <a:latin typeface="Arial"/>
              </a:rPr>
              <a:t/>
            </a:r>
          </a:p>
          <a:p>
            <a:pPr algn="l">
              <a:lnSpc>
                <a:spcPct val="120000"/>
              </a:lnSpc>
            </a:pPr>
            <a:r>
              <a:rPr sz="2200" b="1" i="0">
                <a:solidFill>
                  <a:srgbClr val="FFFFFF"/>
                </a:solidFill>
                <a:latin typeface="Arial"/>
              </a:rPr>
              <a:t>«Why Meta's Galactica only</a:t>
            </a:r>
          </a:p>
          <a:p>
            <a:pPr algn="l">
              <a:lnSpc>
                <a:spcPct val="120000"/>
              </a:lnSpc>
            </a:pPr>
            <a:r>
              <a:rPr sz="2200" b="1" i="0">
                <a:solidFill>
                  <a:srgbClr val="FFFFFF"/>
                </a:solidFill>
                <a:latin typeface="Arial"/>
              </a:rPr>
              <a:t>survived three days online»</a:t>
            </a:r>
          </a:p>
          <a:p>
            <a:pPr algn="l">
              <a:lnSpc>
                <a:spcPct val="120000"/>
              </a:lnSpc>
            </a:pPr>
            <a:r>
              <a:rPr sz="600" b="0" i="0">
                <a:solidFill>
                  <a:srgbClr val="21295C"/>
                </a:solidFill>
                <a:latin typeface="Arial"/>
              </a:rPr>
              <a:t/>
            </a:r>
          </a:p>
          <a:p>
            <a:pPr algn="l">
              <a:lnSpc>
                <a:spcPct val="120000"/>
              </a:lnSpc>
            </a:pPr>
            <a:r>
              <a:rPr sz="1300" b="0" i="1">
                <a:solidFill>
                  <a:srgbClr val="FFFFFF"/>
                </a:solidFill>
                <a:latin typeface="Arial"/>
              </a:rPr>
              <a:t>Will Douglas Heaven</a:t>
            </a:r>
          </a:p>
          <a:p>
            <a:pPr algn="l">
              <a:lnSpc>
                <a:spcPct val="120000"/>
              </a:lnSpc>
            </a:pPr>
            <a:r>
              <a:rPr sz="1200" b="0" i="1">
                <a:solidFill>
                  <a:srgbClr val="FFFFFF"/>
                </a:solidFill>
                <a:latin typeface="Arial"/>
              </a:rPr>
              <a:t>MIT Technology Review · 18 ноября 2022</a:t>
            </a:r>
          </a:p>
          <a:p>
            <a:pPr algn="l">
              <a:lnSpc>
                <a:spcPct val="120000"/>
              </a:lnSpc>
            </a:pPr>
            <a:r>
              <a:rPr sz="600" b="0" i="0">
                <a:solidFill>
                  <a:srgbClr val="21295C"/>
                </a:solidFill>
                <a:latin typeface="Arial"/>
              </a:rPr>
              <a:t/>
            </a:r>
          </a:p>
          <a:p>
            <a:pPr algn="l">
              <a:lnSpc>
                <a:spcPct val="120000"/>
              </a:lnSpc>
            </a:pPr>
            <a:r>
              <a:rPr sz="1300" b="0" i="0">
                <a:solidFill>
                  <a:srgbClr val="FFFFFF"/>
                </a:solidFill>
                <a:latin typeface="Arial"/>
              </a:rPr>
              <a:t>48 млн научных статей в обучении.</a:t>
            </a:r>
          </a:p>
          <a:p>
            <a:pPr algn="l">
              <a:lnSpc>
                <a:spcPct val="120000"/>
              </a:lnSpc>
            </a:pPr>
            <a:r>
              <a:rPr sz="1300" b="0" i="0">
                <a:solidFill>
                  <a:srgbClr val="FFFFFF"/>
                </a:solidFill>
                <a:latin typeface="Arial"/>
              </a:rPr>
              <a:t>Цитировала несуществующие работы.</a:t>
            </a:r>
          </a:p>
        </p:txBody>
      </p:sp>
      <p:sp>
        <p:nvSpPr>
          <p:cNvPr id="9" name="Rectangle 8"/>
          <p:cNvSpPr/>
          <p:nvPr/>
        </p:nvSpPr>
        <p:spPr>
          <a:xfrm>
            <a:off x="6263640" y="3520440"/>
            <a:ext cx="566928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3566160"/>
            <a:ext cx="5394960" cy="36576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Запущена 15 ноября — отозвана 17 ноября 2022 — 3 дня public</a:t>
            </a:r>
          </a:p>
        </p:txBody>
      </p:sp>
      <p:sp>
        <p:nvSpPr>
          <p:cNvPr id="11" name="Rounded Rectangle 10"/>
          <p:cNvSpPr/>
          <p:nvPr/>
        </p:nvSpPr>
        <p:spPr>
          <a:xfrm>
            <a:off x="274320" y="4160520"/>
            <a:ext cx="11640312" cy="17830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297680"/>
            <a:ext cx="11365992" cy="1600200"/>
          </a:xfrm>
          <a:prstGeom prst="rect">
            <a:avLst/>
          </a:prstGeom>
          <a:noFill/>
        </p:spPr>
        <p:txBody>
          <a:bodyPr wrap="square" lIns="0" rIns="0" tIns="0" bIns="0" anchor="t">
            <a:spAutoFit/>
          </a:bodyPr>
          <a:lstStyle/>
          <a:p>
            <a:pPr algn="l">
              <a:lnSpc>
                <a:spcPct val="120000"/>
              </a:lnSpc>
            </a:pPr>
            <a:r>
              <a:rPr sz="2200" b="1" i="0">
                <a:solidFill>
                  <a:srgbClr val="21295C"/>
                </a:solidFill>
                <a:latin typeface="Arial"/>
              </a:rPr>
              <a:t>AlphaFold взял Нобель. Galactica прожила три дня. Различать — задача инженера.</a:t>
            </a:r>
          </a:p>
          <a:p>
            <a:pPr algn="l">
              <a:lnSpc>
                <a:spcPct val="120000"/>
              </a:lnSpc>
            </a:pPr>
            <a:r>
              <a:rPr sz="600" b="0" i="0">
                <a:solidFill>
                  <a:srgbClr val="21295C"/>
                </a:solidFill>
                <a:latin typeface="Arial"/>
              </a:rPr>
              <a:t/>
            </a:r>
          </a:p>
          <a:p>
            <a:pPr algn="l">
              <a:lnSpc>
                <a:spcPct val="120000"/>
              </a:lnSpc>
            </a:pPr>
            <a:r>
              <a:rPr sz="1300" b="0" i="1">
                <a:solidFill>
                  <a:srgbClr val="065A82"/>
                </a:solidFill>
                <a:latin typeface="Arial"/>
              </a:rPr>
              <a:t>Одна эпоха AI-в-науке: структурный прорыв нобелевского уровня и фабрика статей одновременно.</a:t>
            </a:r>
          </a:p>
          <a:p>
            <a:pPr algn="l">
              <a:lnSpc>
                <a:spcPct val="120000"/>
              </a:lnSpc>
            </a:pPr>
            <a:r>
              <a:rPr sz="1300" b="0" i="1">
                <a:solidFill>
                  <a:srgbClr val="065A82"/>
                </a:solidFill>
                <a:latin typeface="Arial"/>
              </a:rPr>
              <a:t>Главный навык лекции — различать ситуации AlphaFold и ситуации Galactica.</a:t>
            </a:r>
          </a:p>
        </p:txBody>
      </p:sp>
      <p:sp>
        <p:nvSpPr>
          <p:cNvPr id="13" name="TextBox 12"/>
          <p:cNvSpPr txBox="1"/>
          <p:nvPr/>
        </p:nvSpPr>
        <p:spPr>
          <a:xfrm>
            <a:off x="457200" y="617220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 Nobel Foundation 2024 (Стокгольм, Konserthuset, Wikimedia) | © MIT Technology Review 2022 (заголовок, fair-use)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0"/>
            <a:ext cx="3657600" cy="4114800"/>
          </a:xfrm>
          <a:prstGeom prst="rect">
            <a:avLst/>
          </a:prstGeom>
          <a:noFill/>
        </p:spPr>
        <p:txBody>
          <a:bodyPr wrap="square" lIns="0" rIns="0" tIns="0" bIns="0" anchor="ctr">
            <a:spAutoFit/>
          </a:bodyPr>
          <a:lstStyle/>
          <a:p>
            <a:pPr algn="ctr">
              <a:lnSpc>
                <a:spcPct val="115000"/>
              </a:lnSpc>
            </a:pPr>
            <a:r>
              <a:rPr sz="24000" b="1" i="0">
                <a:solidFill>
                  <a:srgbClr val="D9E2EC"/>
                </a:solidFill>
                <a:latin typeface="Arial"/>
              </a:rPr>
              <a:t>15</a:t>
            </a:r>
          </a:p>
        </p:txBody>
      </p:sp>
      <p:sp>
        <p:nvSpPr>
          <p:cNvPr id="3" name="TextBox 2"/>
          <p:cNvSpPr txBox="1"/>
          <p:nvPr/>
        </p:nvSpPr>
        <p:spPr>
          <a:xfrm>
            <a:off x="4114800" y="1371600"/>
            <a:ext cx="7589520" cy="1828800"/>
          </a:xfrm>
          <a:prstGeom prst="rect">
            <a:avLst/>
          </a:prstGeom>
          <a:noFill/>
        </p:spPr>
        <p:txBody>
          <a:bodyPr wrap="square" lIns="0" rIns="0" tIns="0" bIns="0" anchor="t">
            <a:spAutoFit/>
          </a:bodyPr>
          <a:lstStyle/>
          <a:p>
            <a:pPr algn="l">
              <a:lnSpc>
                <a:spcPct val="105000"/>
              </a:lnSpc>
            </a:pPr>
            <a:r>
              <a:rPr sz="2200" b="1" i="0">
                <a:solidFill>
                  <a:srgbClr val="1C7293"/>
                </a:solidFill>
                <a:latin typeface="Arial"/>
              </a:rPr>
              <a:t>Лекция 15</a:t>
            </a:r>
          </a:p>
          <a:p>
            <a:pPr algn="l">
              <a:lnSpc>
                <a:spcPct val="105000"/>
              </a:lnSpc>
            </a:pPr>
            <a:r>
              <a:rPr sz="4000" b="1" i="0">
                <a:solidFill>
                  <a:srgbClr val="21295C"/>
                </a:solidFill>
                <a:latin typeface="Arial"/>
              </a:rPr>
              <a:t>AI в научных</a:t>
            </a:r>
          </a:p>
          <a:p>
            <a:pPr algn="l">
              <a:lnSpc>
                <a:spcPct val="105000"/>
              </a:lnSpc>
            </a:pPr>
            <a:r>
              <a:rPr sz="4000" b="1" i="0">
                <a:solidFill>
                  <a:srgbClr val="21295C"/>
                </a:solidFill>
                <a:latin typeface="Arial"/>
              </a:rPr>
              <a:t>исследованиях</a:t>
            </a:r>
          </a:p>
        </p:txBody>
      </p:sp>
      <p:sp>
        <p:nvSpPr>
          <p:cNvPr id="4" name="TextBox 3"/>
          <p:cNvSpPr txBox="1"/>
          <p:nvPr/>
        </p:nvSpPr>
        <p:spPr>
          <a:xfrm>
            <a:off x="4114800" y="4023360"/>
            <a:ext cx="7589520" cy="914400"/>
          </a:xfrm>
          <a:prstGeom prst="rect">
            <a:avLst/>
          </a:prstGeom>
          <a:noFill/>
        </p:spPr>
        <p:txBody>
          <a:bodyPr wrap="square" lIns="0" rIns="0" tIns="0" bIns="0" anchor="t">
            <a:spAutoFit/>
          </a:bodyPr>
          <a:lstStyle/>
          <a:p>
            <a:pPr algn="l">
              <a:lnSpc>
                <a:spcPct val="125000"/>
              </a:lnSpc>
            </a:pPr>
            <a:r>
              <a:rPr sz="1600" b="0" i="0">
                <a:solidFill>
                  <a:srgbClr val="1C7293"/>
                </a:solidFill>
                <a:latin typeface="Arial"/>
              </a:rPr>
              <a:t>Модуль 3</a:t>
            </a:r>
          </a:p>
          <a:p>
            <a:pPr algn="l">
              <a:lnSpc>
                <a:spcPct val="125000"/>
              </a:lnSpc>
            </a:pPr>
            <a:r>
              <a:rPr sz="1600" b="0" i="0">
                <a:solidFill>
                  <a:srgbClr val="1C7293"/>
                </a:solidFill>
                <a:latin typeface="Arial"/>
              </a:rPr>
              <a:t>Студенты-инженеры 3 курса</a:t>
            </a:r>
          </a:p>
        </p:txBody>
      </p:sp>
      <p:sp>
        <p:nvSpPr>
          <p:cNvPr id="5" name="Rounded Rectangle 4"/>
          <p:cNvSpPr/>
          <p:nvPr/>
        </p:nvSpPr>
        <p:spPr>
          <a:xfrm>
            <a:off x="4114800" y="5029200"/>
            <a:ext cx="7589520" cy="12801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80" y="5166360"/>
            <a:ext cx="7315200" cy="1097280"/>
          </a:xfrm>
          <a:prstGeom prst="rect">
            <a:avLst/>
          </a:prstGeom>
          <a:noFill/>
        </p:spPr>
        <p:txBody>
          <a:bodyPr wrap="square" lIns="0" rIns="0" tIns="0" bIns="0" anchor="t">
            <a:spAutoFit/>
          </a:bodyPr>
          <a:lstStyle/>
          <a:p>
            <a:pPr algn="l">
              <a:lnSpc>
                <a:spcPct val="120000"/>
              </a:lnSpc>
            </a:pPr>
            <a:r>
              <a:rPr sz="1400" b="1" i="0">
                <a:solidFill>
                  <a:srgbClr val="065A82"/>
                </a:solidFill>
                <a:latin typeface="Arial"/>
              </a:rPr>
              <a:t>Цели лекции:</a:t>
            </a:r>
          </a:p>
          <a:p>
            <a:pPr algn="l">
              <a:lnSpc>
                <a:spcPct val="120000"/>
              </a:lnSpc>
            </a:pPr>
            <a:r>
              <a:rPr sz="1200" b="0" i="0">
                <a:solidFill>
                  <a:srgbClr val="21295C"/>
                </a:solidFill>
                <a:latin typeface="Arial"/>
              </a:rPr>
              <a:t>Назвать инструменты AI-в-науке по шести ступеням лестницы</a:t>
            </a:r>
          </a:p>
          <a:p>
            <a:pPr algn="l">
              <a:lnSpc>
                <a:spcPct val="120000"/>
              </a:lnSpc>
            </a:pPr>
            <a:r>
              <a:rPr sz="1200" b="0" i="0">
                <a:solidFill>
                  <a:srgbClr val="21295C"/>
                </a:solidFill>
                <a:latin typeface="Arial"/>
              </a:rPr>
              <a:t>Отличить прорыв от фабрики статей; диагностировать конкретный кейс</a:t>
            </a:r>
          </a:p>
          <a:p>
            <a:pPr algn="l">
              <a:lnSpc>
                <a:spcPct val="120000"/>
              </a:lnSpc>
            </a:pPr>
            <a:r>
              <a:rPr sz="1200" b="0" i="0">
                <a:solidFill>
                  <a:srgbClr val="21295C"/>
                </a:solidFill>
                <a:latin typeface="Arial"/>
              </a:rPr>
              <a:t>Сформулировать «когда AI не нужен» и предложить альтернативу</a:t>
            </a:r>
          </a:p>
        </p:txBody>
      </p:sp>
      <p:sp>
        <p:nvSpPr>
          <p:cNvPr id="7" name="TextBox 6"/>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Курс «Применение AI в инженерии» ·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Лестница научного цикла. Шесть ступеней. Цикл, а не прямая.</a:t>
            </a:r>
          </a:p>
        </p:txBody>
      </p:sp>
      <p:sp>
        <p:nvSpPr>
          <p:cNvPr id="3" name="Rectangle 2"/>
          <p:cNvSpPr/>
          <p:nvPr/>
        </p:nvSpPr>
        <p:spPr>
          <a:xfrm>
            <a:off x="457200" y="1645920"/>
            <a:ext cx="1783080" cy="2651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783080"/>
            <a:ext cx="1600200" cy="640080"/>
          </a:xfrm>
          <a:prstGeom prst="rect">
            <a:avLst/>
          </a:prstGeom>
          <a:noFill/>
        </p:spPr>
        <p:txBody>
          <a:bodyPr wrap="square" lIns="0" rIns="0" tIns="0" bIns="0" anchor="t">
            <a:spAutoFit/>
          </a:bodyPr>
          <a:lstStyle/>
          <a:p>
            <a:pPr algn="l">
              <a:lnSpc>
                <a:spcPct val="115000"/>
              </a:lnSpc>
            </a:pPr>
            <a:r>
              <a:rPr sz="4400" b="1" i="0">
                <a:solidFill>
                  <a:srgbClr val="FFFFFF"/>
                </a:solidFill>
                <a:latin typeface="Arial"/>
              </a:rPr>
              <a:t>1</a:t>
            </a:r>
          </a:p>
        </p:txBody>
      </p:sp>
      <p:sp>
        <p:nvSpPr>
          <p:cNvPr id="5" name="TextBox 4"/>
          <p:cNvSpPr txBox="1"/>
          <p:nvPr/>
        </p:nvSpPr>
        <p:spPr>
          <a:xfrm>
            <a:off x="548640" y="2514600"/>
            <a:ext cx="1600200"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Arial"/>
              </a:rPr>
              <a:t>Гипотеза</a:t>
            </a:r>
          </a:p>
        </p:txBody>
      </p:sp>
      <p:sp>
        <p:nvSpPr>
          <p:cNvPr id="6" name="TextBox 5"/>
          <p:cNvSpPr txBox="1"/>
          <p:nvPr/>
        </p:nvSpPr>
        <p:spPr>
          <a:xfrm>
            <a:off x="548640" y="2971800"/>
            <a:ext cx="1600200" cy="365760"/>
          </a:xfrm>
          <a:prstGeom prst="rect">
            <a:avLst/>
          </a:prstGeom>
          <a:noFill/>
        </p:spPr>
        <p:txBody>
          <a:bodyPr wrap="square" lIns="0" rIns="0" tIns="0" bIns="0" anchor="t">
            <a:spAutoFit/>
          </a:bodyPr>
          <a:lstStyle/>
          <a:p>
            <a:pPr algn="l">
              <a:lnSpc>
                <a:spcPct val="115000"/>
              </a:lnSpc>
            </a:pPr>
            <a:r>
              <a:rPr sz="1300" b="0" i="1">
                <a:solidFill>
                  <a:srgbClr val="FFFFFF"/>
                </a:solidFill>
                <a:latin typeface="Arial"/>
              </a:rPr>
              <a:t>Hypothesis</a:t>
            </a:r>
          </a:p>
        </p:txBody>
      </p:sp>
      <p:sp>
        <p:nvSpPr>
          <p:cNvPr id="7" name="Rounded Rectangle 6"/>
          <p:cNvSpPr/>
          <p:nvPr/>
        </p:nvSpPr>
        <p:spPr>
          <a:xfrm>
            <a:off x="548640" y="3794760"/>
            <a:ext cx="1600200" cy="411480"/>
          </a:xfrm>
          <a:prstGeom prst="roundRect">
            <a:avLst>
              <a:gd name="adj" fmla="val 10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794760"/>
            <a:ext cx="1600200" cy="411480"/>
          </a:xfrm>
          <a:prstGeom prst="rect">
            <a:avLst/>
          </a:prstGeom>
          <a:noFill/>
        </p:spPr>
        <p:txBody>
          <a:bodyPr wrap="square" lIns="0" rIns="0" tIns="0" bIns="0" anchor="ctr">
            <a:spAutoFit/>
          </a:bodyPr>
          <a:lstStyle/>
          <a:p>
            <a:pPr algn="ctr">
              <a:lnSpc>
                <a:spcPct val="115000"/>
              </a:lnSpc>
            </a:pPr>
            <a:r>
              <a:rPr sz="1100" b="1" i="0">
                <a:solidFill>
                  <a:srgbClr val="1C7293"/>
                </a:solidFill>
                <a:latin typeface="Arial"/>
              </a:rPr>
              <a:t>расширение</a:t>
            </a:r>
          </a:p>
        </p:txBody>
      </p:sp>
      <p:sp>
        <p:nvSpPr>
          <p:cNvPr id="9" name="Rectangle 8"/>
          <p:cNvSpPr/>
          <p:nvPr/>
        </p:nvSpPr>
        <p:spPr>
          <a:xfrm>
            <a:off x="2313432" y="1645920"/>
            <a:ext cx="1783080" cy="2651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04872" y="1783080"/>
            <a:ext cx="1600200" cy="640080"/>
          </a:xfrm>
          <a:prstGeom prst="rect">
            <a:avLst/>
          </a:prstGeom>
          <a:noFill/>
        </p:spPr>
        <p:txBody>
          <a:bodyPr wrap="square" lIns="0" rIns="0" tIns="0" bIns="0" anchor="t">
            <a:spAutoFit/>
          </a:bodyPr>
          <a:lstStyle/>
          <a:p>
            <a:pPr algn="l">
              <a:lnSpc>
                <a:spcPct val="115000"/>
              </a:lnSpc>
            </a:pPr>
            <a:r>
              <a:rPr sz="4400" b="1" i="0">
                <a:solidFill>
                  <a:srgbClr val="FFFFFF"/>
                </a:solidFill>
                <a:latin typeface="Arial"/>
              </a:rPr>
              <a:t>2</a:t>
            </a:r>
          </a:p>
        </p:txBody>
      </p:sp>
      <p:sp>
        <p:nvSpPr>
          <p:cNvPr id="11" name="TextBox 10"/>
          <p:cNvSpPr txBox="1"/>
          <p:nvPr/>
        </p:nvSpPr>
        <p:spPr>
          <a:xfrm>
            <a:off x="2404872" y="2514600"/>
            <a:ext cx="1600200"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Arial"/>
              </a:rPr>
              <a:t>План</a:t>
            </a:r>
          </a:p>
        </p:txBody>
      </p:sp>
      <p:sp>
        <p:nvSpPr>
          <p:cNvPr id="12" name="TextBox 11"/>
          <p:cNvSpPr txBox="1"/>
          <p:nvPr/>
        </p:nvSpPr>
        <p:spPr>
          <a:xfrm>
            <a:off x="2404872" y="2971800"/>
            <a:ext cx="1600200" cy="365760"/>
          </a:xfrm>
          <a:prstGeom prst="rect">
            <a:avLst/>
          </a:prstGeom>
          <a:noFill/>
        </p:spPr>
        <p:txBody>
          <a:bodyPr wrap="square" lIns="0" rIns="0" tIns="0" bIns="0" anchor="t">
            <a:spAutoFit/>
          </a:bodyPr>
          <a:lstStyle/>
          <a:p>
            <a:pPr algn="l">
              <a:lnSpc>
                <a:spcPct val="115000"/>
              </a:lnSpc>
            </a:pPr>
            <a:r>
              <a:rPr sz="1300" b="0" i="1">
                <a:solidFill>
                  <a:srgbClr val="FFFFFF"/>
                </a:solidFill>
                <a:latin typeface="Arial"/>
              </a:rPr>
              <a:t>Design</a:t>
            </a:r>
          </a:p>
        </p:txBody>
      </p:sp>
      <p:sp>
        <p:nvSpPr>
          <p:cNvPr id="13" name="Rounded Rectangle 12"/>
          <p:cNvSpPr/>
          <p:nvPr/>
        </p:nvSpPr>
        <p:spPr>
          <a:xfrm>
            <a:off x="2404872" y="3794760"/>
            <a:ext cx="1600200" cy="411480"/>
          </a:xfrm>
          <a:prstGeom prst="roundRect">
            <a:avLst>
              <a:gd name="adj" fmla="val 10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04872" y="3794760"/>
            <a:ext cx="1600200" cy="411480"/>
          </a:xfrm>
          <a:prstGeom prst="rect">
            <a:avLst/>
          </a:prstGeom>
          <a:noFill/>
        </p:spPr>
        <p:txBody>
          <a:bodyPr wrap="square" lIns="0" rIns="0" tIns="0" bIns="0" anchor="ctr">
            <a:spAutoFit/>
          </a:bodyPr>
          <a:lstStyle/>
          <a:p>
            <a:pPr algn="ctr">
              <a:lnSpc>
                <a:spcPct val="115000"/>
              </a:lnSpc>
            </a:pPr>
            <a:r>
              <a:rPr sz="1100" b="1" i="0">
                <a:solidFill>
                  <a:srgbClr val="1C7293"/>
                </a:solidFill>
                <a:latin typeface="Arial"/>
              </a:rPr>
              <a:t>расширение</a:t>
            </a:r>
          </a:p>
        </p:txBody>
      </p:sp>
      <p:sp>
        <p:nvSpPr>
          <p:cNvPr id="15" name="Rectangle 14"/>
          <p:cNvSpPr/>
          <p:nvPr/>
        </p:nvSpPr>
        <p:spPr>
          <a:xfrm>
            <a:off x="4169663" y="1371600"/>
            <a:ext cx="1783080" cy="29260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61103" y="1508760"/>
            <a:ext cx="1600200" cy="640080"/>
          </a:xfrm>
          <a:prstGeom prst="rect">
            <a:avLst/>
          </a:prstGeom>
          <a:noFill/>
        </p:spPr>
        <p:txBody>
          <a:bodyPr wrap="square" lIns="0" rIns="0" tIns="0" bIns="0" anchor="t">
            <a:spAutoFit/>
          </a:bodyPr>
          <a:lstStyle/>
          <a:p>
            <a:pPr algn="l">
              <a:lnSpc>
                <a:spcPct val="115000"/>
              </a:lnSpc>
            </a:pPr>
            <a:r>
              <a:rPr sz="4400" b="1" i="0">
                <a:solidFill>
                  <a:srgbClr val="FFFFFF"/>
                </a:solidFill>
                <a:latin typeface="Arial"/>
              </a:rPr>
              <a:t>3</a:t>
            </a:r>
          </a:p>
        </p:txBody>
      </p:sp>
      <p:sp>
        <p:nvSpPr>
          <p:cNvPr id="17" name="TextBox 16"/>
          <p:cNvSpPr txBox="1"/>
          <p:nvPr/>
        </p:nvSpPr>
        <p:spPr>
          <a:xfrm>
            <a:off x="4261103" y="2240280"/>
            <a:ext cx="1600200"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Arial"/>
              </a:rPr>
              <a:t>Эксперимент</a:t>
            </a:r>
          </a:p>
        </p:txBody>
      </p:sp>
      <p:sp>
        <p:nvSpPr>
          <p:cNvPr id="18" name="TextBox 17"/>
          <p:cNvSpPr txBox="1"/>
          <p:nvPr/>
        </p:nvSpPr>
        <p:spPr>
          <a:xfrm>
            <a:off x="4261103" y="2697480"/>
            <a:ext cx="1600200" cy="365760"/>
          </a:xfrm>
          <a:prstGeom prst="rect">
            <a:avLst/>
          </a:prstGeom>
          <a:noFill/>
        </p:spPr>
        <p:txBody>
          <a:bodyPr wrap="square" lIns="0" rIns="0" tIns="0" bIns="0" anchor="t">
            <a:spAutoFit/>
          </a:bodyPr>
          <a:lstStyle/>
          <a:p>
            <a:pPr algn="l">
              <a:lnSpc>
                <a:spcPct val="115000"/>
              </a:lnSpc>
            </a:pPr>
            <a:r>
              <a:rPr sz="1300" b="0" i="1">
                <a:solidFill>
                  <a:srgbClr val="FFFFFF"/>
                </a:solidFill>
                <a:latin typeface="Arial"/>
              </a:rPr>
              <a:t>Experiment</a:t>
            </a:r>
          </a:p>
        </p:txBody>
      </p:sp>
      <p:sp>
        <p:nvSpPr>
          <p:cNvPr id="19" name="Rounded Rectangle 18"/>
          <p:cNvSpPr/>
          <p:nvPr/>
        </p:nvSpPr>
        <p:spPr>
          <a:xfrm>
            <a:off x="4261103" y="3794760"/>
            <a:ext cx="1600200" cy="411480"/>
          </a:xfrm>
          <a:prstGeom prst="roundRect">
            <a:avLst>
              <a:gd name="adj" fmla="val 10000"/>
            </a:avLst>
          </a:prstGeom>
          <a:solidFill>
            <a:srgbClr val="FFFFFF"/>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61103" y="3794760"/>
            <a:ext cx="1600200" cy="411480"/>
          </a:xfrm>
          <a:prstGeom prst="rect">
            <a:avLst/>
          </a:prstGeom>
          <a:noFill/>
        </p:spPr>
        <p:txBody>
          <a:bodyPr wrap="square" lIns="0" rIns="0" tIns="0" bIns="0" anchor="ctr">
            <a:spAutoFit/>
          </a:bodyPr>
          <a:lstStyle/>
          <a:p>
            <a:pPr algn="ctr">
              <a:lnSpc>
                <a:spcPct val="115000"/>
              </a:lnSpc>
            </a:pPr>
            <a:r>
              <a:rPr sz="1100" b="1" i="0">
                <a:solidFill>
                  <a:srgbClr val="F0AB00"/>
                </a:solidFill>
                <a:latin typeface="Arial"/>
              </a:rPr>
              <a:t>прорыв</a:t>
            </a:r>
          </a:p>
        </p:txBody>
      </p:sp>
      <p:sp>
        <p:nvSpPr>
          <p:cNvPr id="21" name="Rectangle 20"/>
          <p:cNvSpPr/>
          <p:nvPr/>
        </p:nvSpPr>
        <p:spPr>
          <a:xfrm>
            <a:off x="6025896" y="1645920"/>
            <a:ext cx="1783080" cy="2651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17336" y="1783080"/>
            <a:ext cx="1600200" cy="640080"/>
          </a:xfrm>
          <a:prstGeom prst="rect">
            <a:avLst/>
          </a:prstGeom>
          <a:noFill/>
        </p:spPr>
        <p:txBody>
          <a:bodyPr wrap="square" lIns="0" rIns="0" tIns="0" bIns="0" anchor="t">
            <a:spAutoFit/>
          </a:bodyPr>
          <a:lstStyle/>
          <a:p>
            <a:pPr algn="l">
              <a:lnSpc>
                <a:spcPct val="115000"/>
              </a:lnSpc>
            </a:pPr>
            <a:r>
              <a:rPr sz="4400" b="1" i="0">
                <a:solidFill>
                  <a:srgbClr val="FFFFFF"/>
                </a:solidFill>
                <a:latin typeface="Arial"/>
              </a:rPr>
              <a:t>4</a:t>
            </a:r>
          </a:p>
        </p:txBody>
      </p:sp>
      <p:sp>
        <p:nvSpPr>
          <p:cNvPr id="23" name="TextBox 22"/>
          <p:cNvSpPr txBox="1"/>
          <p:nvPr/>
        </p:nvSpPr>
        <p:spPr>
          <a:xfrm>
            <a:off x="6117336" y="2514600"/>
            <a:ext cx="1600200"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Arial"/>
              </a:rPr>
              <a:t>Анализ</a:t>
            </a:r>
          </a:p>
        </p:txBody>
      </p:sp>
      <p:sp>
        <p:nvSpPr>
          <p:cNvPr id="24" name="TextBox 23"/>
          <p:cNvSpPr txBox="1"/>
          <p:nvPr/>
        </p:nvSpPr>
        <p:spPr>
          <a:xfrm>
            <a:off x="6117336" y="2971800"/>
            <a:ext cx="1600200" cy="365760"/>
          </a:xfrm>
          <a:prstGeom prst="rect">
            <a:avLst/>
          </a:prstGeom>
          <a:noFill/>
        </p:spPr>
        <p:txBody>
          <a:bodyPr wrap="square" lIns="0" rIns="0" tIns="0" bIns="0" anchor="t">
            <a:spAutoFit/>
          </a:bodyPr>
          <a:lstStyle/>
          <a:p>
            <a:pPr algn="l">
              <a:lnSpc>
                <a:spcPct val="115000"/>
              </a:lnSpc>
            </a:pPr>
            <a:r>
              <a:rPr sz="1300" b="0" i="1">
                <a:solidFill>
                  <a:srgbClr val="FFFFFF"/>
                </a:solidFill>
                <a:latin typeface="Arial"/>
              </a:rPr>
              <a:t>Analyse</a:t>
            </a:r>
          </a:p>
        </p:txBody>
      </p:sp>
      <p:sp>
        <p:nvSpPr>
          <p:cNvPr id="25" name="Rounded Rectangle 24"/>
          <p:cNvSpPr/>
          <p:nvPr/>
        </p:nvSpPr>
        <p:spPr>
          <a:xfrm>
            <a:off x="6117336" y="3794760"/>
            <a:ext cx="1600200" cy="411480"/>
          </a:xfrm>
          <a:prstGeom prst="roundRect">
            <a:avLst>
              <a:gd name="adj" fmla="val 10000"/>
            </a:avLst>
          </a:prstGeom>
          <a:solidFill>
            <a:srgbClr val="FFFFFF"/>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17336" y="3794760"/>
            <a:ext cx="1600200" cy="411480"/>
          </a:xfrm>
          <a:prstGeom prst="rect">
            <a:avLst/>
          </a:prstGeom>
          <a:noFill/>
        </p:spPr>
        <p:txBody>
          <a:bodyPr wrap="square" lIns="0" rIns="0" tIns="0" bIns="0" anchor="ctr">
            <a:spAutoFit/>
          </a:bodyPr>
          <a:lstStyle/>
          <a:p>
            <a:pPr algn="ctr">
              <a:lnSpc>
                <a:spcPct val="115000"/>
              </a:lnSpc>
            </a:pPr>
            <a:r>
              <a:rPr sz="1100" b="1" i="0">
                <a:solidFill>
                  <a:srgbClr val="065A82"/>
                </a:solidFill>
                <a:latin typeface="Arial"/>
              </a:rPr>
              <a:t>зрелое ML</a:t>
            </a:r>
          </a:p>
        </p:txBody>
      </p:sp>
      <p:sp>
        <p:nvSpPr>
          <p:cNvPr id="27" name="Rectangle 26"/>
          <p:cNvSpPr/>
          <p:nvPr/>
        </p:nvSpPr>
        <p:spPr>
          <a:xfrm>
            <a:off x="7882127" y="1645920"/>
            <a:ext cx="1783080" cy="26517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73567" y="1783080"/>
            <a:ext cx="1600200" cy="640080"/>
          </a:xfrm>
          <a:prstGeom prst="rect">
            <a:avLst/>
          </a:prstGeom>
          <a:noFill/>
        </p:spPr>
        <p:txBody>
          <a:bodyPr wrap="square" lIns="0" rIns="0" tIns="0" bIns="0" anchor="t">
            <a:spAutoFit/>
          </a:bodyPr>
          <a:lstStyle/>
          <a:p>
            <a:pPr algn="l">
              <a:lnSpc>
                <a:spcPct val="115000"/>
              </a:lnSpc>
            </a:pPr>
            <a:r>
              <a:rPr sz="4400" b="1" i="0">
                <a:solidFill>
                  <a:srgbClr val="FFFFFF"/>
                </a:solidFill>
                <a:latin typeface="Arial"/>
              </a:rPr>
              <a:t>5</a:t>
            </a:r>
          </a:p>
        </p:txBody>
      </p:sp>
      <p:sp>
        <p:nvSpPr>
          <p:cNvPr id="29" name="TextBox 28"/>
          <p:cNvSpPr txBox="1"/>
          <p:nvPr/>
        </p:nvSpPr>
        <p:spPr>
          <a:xfrm>
            <a:off x="7973567" y="2514600"/>
            <a:ext cx="1600200"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Arial"/>
              </a:rPr>
              <a:t>Текст</a:t>
            </a:r>
          </a:p>
        </p:txBody>
      </p:sp>
      <p:sp>
        <p:nvSpPr>
          <p:cNvPr id="30" name="TextBox 29"/>
          <p:cNvSpPr txBox="1"/>
          <p:nvPr/>
        </p:nvSpPr>
        <p:spPr>
          <a:xfrm>
            <a:off x="7973567" y="2971800"/>
            <a:ext cx="1600200" cy="365760"/>
          </a:xfrm>
          <a:prstGeom prst="rect">
            <a:avLst/>
          </a:prstGeom>
          <a:noFill/>
        </p:spPr>
        <p:txBody>
          <a:bodyPr wrap="square" lIns="0" rIns="0" tIns="0" bIns="0" anchor="t">
            <a:spAutoFit/>
          </a:bodyPr>
          <a:lstStyle/>
          <a:p>
            <a:pPr algn="l">
              <a:lnSpc>
                <a:spcPct val="115000"/>
              </a:lnSpc>
            </a:pPr>
            <a:r>
              <a:rPr sz="1300" b="0" i="1">
                <a:solidFill>
                  <a:srgbClr val="FFFFFF"/>
                </a:solidFill>
                <a:latin typeface="Arial"/>
              </a:rPr>
              <a:t>Write</a:t>
            </a:r>
          </a:p>
        </p:txBody>
      </p:sp>
      <p:sp>
        <p:nvSpPr>
          <p:cNvPr id="31" name="Rounded Rectangle 30"/>
          <p:cNvSpPr/>
          <p:nvPr/>
        </p:nvSpPr>
        <p:spPr>
          <a:xfrm>
            <a:off x="7973567" y="3794760"/>
            <a:ext cx="1600200" cy="411480"/>
          </a:xfrm>
          <a:prstGeom prst="roundRect">
            <a:avLst>
              <a:gd name="adj" fmla="val 10000"/>
            </a:avLst>
          </a:prstGeom>
          <a:solidFill>
            <a:srgbClr val="FFFFFF"/>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73567" y="3794760"/>
            <a:ext cx="1600200" cy="411480"/>
          </a:xfrm>
          <a:prstGeom prst="rect">
            <a:avLst/>
          </a:prstGeom>
          <a:noFill/>
        </p:spPr>
        <p:txBody>
          <a:bodyPr wrap="square" lIns="0" rIns="0" tIns="0" bIns="0" anchor="ctr">
            <a:spAutoFit/>
          </a:bodyPr>
          <a:lstStyle/>
          <a:p>
            <a:pPr algn="ctr">
              <a:lnSpc>
                <a:spcPct val="115000"/>
              </a:lnSpc>
            </a:pPr>
            <a:r>
              <a:rPr sz="1100" b="1" i="0">
                <a:solidFill>
                  <a:srgbClr val="028090"/>
                </a:solidFill>
                <a:latin typeface="Arial"/>
              </a:rPr>
              <a:t>расширение + проверка</a:t>
            </a:r>
          </a:p>
        </p:txBody>
      </p:sp>
      <p:sp>
        <p:nvSpPr>
          <p:cNvPr id="33" name="Rectangle 32"/>
          <p:cNvSpPr/>
          <p:nvPr/>
        </p:nvSpPr>
        <p:spPr>
          <a:xfrm>
            <a:off x="9738359" y="1645920"/>
            <a:ext cx="1783080" cy="26517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29799" y="1783080"/>
            <a:ext cx="1600200" cy="640080"/>
          </a:xfrm>
          <a:prstGeom prst="rect">
            <a:avLst/>
          </a:prstGeom>
          <a:noFill/>
        </p:spPr>
        <p:txBody>
          <a:bodyPr wrap="square" lIns="0" rIns="0" tIns="0" bIns="0" anchor="t">
            <a:spAutoFit/>
          </a:bodyPr>
          <a:lstStyle/>
          <a:p>
            <a:pPr algn="l">
              <a:lnSpc>
                <a:spcPct val="115000"/>
              </a:lnSpc>
            </a:pPr>
            <a:r>
              <a:rPr sz="4400" b="1" i="0">
                <a:solidFill>
                  <a:srgbClr val="FFFFFF"/>
                </a:solidFill>
                <a:latin typeface="Arial"/>
              </a:rPr>
              <a:t>6</a:t>
            </a:r>
          </a:p>
        </p:txBody>
      </p:sp>
      <p:sp>
        <p:nvSpPr>
          <p:cNvPr id="35" name="TextBox 34"/>
          <p:cNvSpPr txBox="1"/>
          <p:nvPr/>
        </p:nvSpPr>
        <p:spPr>
          <a:xfrm>
            <a:off x="9829799" y="2514600"/>
            <a:ext cx="1600200"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Arial"/>
              </a:rPr>
              <a:t>Рецензия</a:t>
            </a:r>
          </a:p>
        </p:txBody>
      </p:sp>
      <p:sp>
        <p:nvSpPr>
          <p:cNvPr id="36" name="TextBox 35"/>
          <p:cNvSpPr txBox="1"/>
          <p:nvPr/>
        </p:nvSpPr>
        <p:spPr>
          <a:xfrm>
            <a:off x="9829799" y="2971800"/>
            <a:ext cx="1600200" cy="365760"/>
          </a:xfrm>
          <a:prstGeom prst="rect">
            <a:avLst/>
          </a:prstGeom>
          <a:noFill/>
        </p:spPr>
        <p:txBody>
          <a:bodyPr wrap="square" lIns="0" rIns="0" tIns="0" bIns="0" anchor="t">
            <a:spAutoFit/>
          </a:bodyPr>
          <a:lstStyle/>
          <a:p>
            <a:pPr algn="l">
              <a:lnSpc>
                <a:spcPct val="115000"/>
              </a:lnSpc>
            </a:pPr>
            <a:r>
              <a:rPr sz="1300" b="0" i="1">
                <a:solidFill>
                  <a:srgbClr val="FFFFFF"/>
                </a:solidFill>
                <a:latin typeface="Arial"/>
              </a:rPr>
              <a:t>Review</a:t>
            </a:r>
          </a:p>
        </p:txBody>
      </p:sp>
      <p:sp>
        <p:nvSpPr>
          <p:cNvPr id="37" name="Rounded Rectangle 36"/>
          <p:cNvSpPr/>
          <p:nvPr/>
        </p:nvSpPr>
        <p:spPr>
          <a:xfrm>
            <a:off x="9829799" y="3794760"/>
            <a:ext cx="1600200" cy="411480"/>
          </a:xfrm>
          <a:prstGeom prst="roundRect">
            <a:avLst>
              <a:gd name="adj" fmla="val 10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29799" y="3794760"/>
            <a:ext cx="1600200" cy="411480"/>
          </a:xfrm>
          <a:prstGeom prst="rect">
            <a:avLst/>
          </a:prstGeom>
          <a:noFill/>
        </p:spPr>
        <p:txBody>
          <a:bodyPr wrap="square" lIns="0" rIns="0" tIns="0" bIns="0" anchor="ctr">
            <a:spAutoFit/>
          </a:bodyPr>
          <a:lstStyle/>
          <a:p>
            <a:pPr algn="ctr">
              <a:lnSpc>
                <a:spcPct val="115000"/>
              </a:lnSpc>
            </a:pPr>
            <a:r>
              <a:rPr sz="1100" b="1" i="0">
                <a:solidFill>
                  <a:srgbClr val="C0392B"/>
                </a:solidFill>
                <a:latin typeface="Arial"/>
              </a:rPr>
              <a:t>запрещён</a:t>
            </a:r>
          </a:p>
        </p:txBody>
      </p:sp>
      <p:sp>
        <p:nvSpPr>
          <p:cNvPr id="39" name="Rounded Rectangle 38"/>
          <p:cNvSpPr/>
          <p:nvPr/>
        </p:nvSpPr>
        <p:spPr>
          <a:xfrm>
            <a:off x="457200" y="4572000"/>
            <a:ext cx="11274552" cy="64008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4572000"/>
            <a:ext cx="10908792" cy="64008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Цикл, не прямая: рецензент возвращает к анализу · из анализа возникает новая гипотеза</a:t>
            </a:r>
          </a:p>
        </p:txBody>
      </p:sp>
      <p:sp>
        <p:nvSpPr>
          <p:cNvPr id="41" name="TextBox 40"/>
          <p:cNvSpPr txBox="1"/>
          <p:nvPr/>
        </p:nvSpPr>
        <p:spPr>
          <a:xfrm>
            <a:off x="457200" y="4572000"/>
            <a:ext cx="11274552" cy="640080"/>
          </a:xfrm>
          <a:prstGeom prst="rect">
            <a:avLst/>
          </a:prstGeom>
          <a:noFill/>
        </p:spPr>
        <p:txBody>
          <a:bodyPr wrap="square" lIns="0" rIns="0" tIns="0" bIns="0" anchor="ctr">
            <a:spAutoFit/>
          </a:bodyPr>
          <a:lstStyle/>
          <a:p>
            <a:pPr algn="r">
              <a:lnSpc>
                <a:spcPct val="115000"/>
              </a:lnSpc>
            </a:pPr>
            <a:r>
              <a:rPr sz="2400" b="1" i="0">
                <a:solidFill>
                  <a:srgbClr val="F0AB00"/>
                </a:solidFill>
                <a:latin typeface="Arial"/>
              </a:rPr>
              <a:t>⟲</a:t>
            </a:r>
          </a:p>
        </p:txBody>
      </p:sp>
      <p:sp>
        <p:nvSpPr>
          <p:cNvPr id="42" name="TextBox 41"/>
          <p:cNvSpPr txBox="1"/>
          <p:nvPr/>
        </p:nvSpPr>
        <p:spPr>
          <a:xfrm>
            <a:off x="457200" y="5486400"/>
            <a:ext cx="11274552" cy="868680"/>
          </a:xfrm>
          <a:prstGeom prst="rect">
            <a:avLst/>
          </a:prstGeom>
          <a:noFill/>
        </p:spPr>
        <p:txBody>
          <a:bodyPr wrap="square" lIns="0" rIns="0" tIns="0" bIns="0" anchor="t">
            <a:spAutoFit/>
          </a:bodyPr>
          <a:lstStyle/>
          <a:p>
            <a:pPr algn="l">
              <a:lnSpc>
                <a:spcPct val="120000"/>
              </a:lnSpc>
            </a:pPr>
            <a:r>
              <a:rPr sz="1300" b="1" i="0">
                <a:solidFill>
                  <a:srgbClr val="065A82"/>
                </a:solidFill>
                <a:latin typeface="Arial"/>
              </a:rPr>
              <a:t>Главный приём:</a:t>
            </a:r>
          </a:p>
          <a:p>
            <a:pPr algn="l">
              <a:lnSpc>
                <a:spcPct val="120000"/>
              </a:lnSpc>
            </a:pPr>
            <a:r>
              <a:rPr sz="1400" b="0" i="1">
                <a:solidFill>
                  <a:srgbClr val="21295C"/>
                </a:solidFill>
                <a:latin typeface="Arial"/>
              </a:rPr>
              <a:t>Возьмите конкретный случай — спросите лестницу на каждой ступени: «здесь AI расширение, автономно или запрещён?»</a:t>
            </a:r>
          </a:p>
        </p:txBody>
      </p:sp>
      <p:sp>
        <p:nvSpPr>
          <p:cNvPr id="43" name="TextBox 42"/>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Научный цикл итеративный — рецензент возвращает к анализу; анализ порождает новую гипотезу.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Восемь ключевых терминов. Общий словарь следующего часа.</a:t>
            </a:r>
          </a:p>
        </p:txBody>
      </p:sp>
      <p:sp>
        <p:nvSpPr>
          <p:cNvPr id="3" name="Rectangle 2"/>
          <p:cNvSpPr/>
          <p:nvPr/>
        </p:nvSpPr>
        <p:spPr>
          <a:xfrm>
            <a:off x="457200" y="1325880"/>
            <a:ext cx="256032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2377439" cy="502920"/>
          </a:xfrm>
          <a:prstGeom prst="rect">
            <a:avLst/>
          </a:prstGeom>
          <a:noFill/>
        </p:spPr>
        <p:txBody>
          <a:bodyPr wrap="square" lIns="0" rIns="0" tIns="0" bIns="0" anchor="ctr">
            <a:spAutoFit/>
          </a:bodyPr>
          <a:lstStyle/>
          <a:p>
            <a:pPr algn="l">
              <a:lnSpc>
                <a:spcPct val="115000"/>
              </a:lnSpc>
            </a:pPr>
            <a:r>
              <a:rPr sz="1500" b="1" i="0">
                <a:solidFill>
                  <a:srgbClr val="FFFFFF"/>
                </a:solidFill>
                <a:latin typeface="Arial"/>
              </a:rPr>
              <a:t>Термин</a:t>
            </a:r>
          </a:p>
        </p:txBody>
      </p:sp>
      <p:sp>
        <p:nvSpPr>
          <p:cNvPr id="5" name="Rectangle 4"/>
          <p:cNvSpPr/>
          <p:nvPr/>
        </p:nvSpPr>
        <p:spPr>
          <a:xfrm>
            <a:off x="3200400" y="1325880"/>
            <a:ext cx="502920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91840" y="1325880"/>
            <a:ext cx="4846320" cy="502920"/>
          </a:xfrm>
          <a:prstGeom prst="rect">
            <a:avLst/>
          </a:prstGeom>
          <a:noFill/>
        </p:spPr>
        <p:txBody>
          <a:bodyPr wrap="square" lIns="0" rIns="0" tIns="0" bIns="0" anchor="ctr">
            <a:spAutoFit/>
          </a:bodyPr>
          <a:lstStyle/>
          <a:p>
            <a:pPr algn="l">
              <a:lnSpc>
                <a:spcPct val="115000"/>
              </a:lnSpc>
            </a:pPr>
            <a:r>
              <a:rPr sz="1500" b="1" i="0">
                <a:solidFill>
                  <a:srgbClr val="FFFFFF"/>
                </a:solidFill>
                <a:latin typeface="Arial"/>
              </a:rPr>
              <a:t>Определение</a:t>
            </a:r>
          </a:p>
        </p:txBody>
      </p:sp>
      <p:sp>
        <p:nvSpPr>
          <p:cNvPr id="7" name="Rectangle 6"/>
          <p:cNvSpPr/>
          <p:nvPr/>
        </p:nvSpPr>
        <p:spPr>
          <a:xfrm>
            <a:off x="8412480" y="1325880"/>
            <a:ext cx="3502152"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19" y="1325880"/>
            <a:ext cx="3319272" cy="502920"/>
          </a:xfrm>
          <a:prstGeom prst="rect">
            <a:avLst/>
          </a:prstGeom>
          <a:noFill/>
        </p:spPr>
        <p:txBody>
          <a:bodyPr wrap="square" lIns="0" rIns="0" tIns="0" bIns="0" anchor="ctr">
            <a:spAutoFit/>
          </a:bodyPr>
          <a:lstStyle/>
          <a:p>
            <a:pPr algn="l">
              <a:lnSpc>
                <a:spcPct val="115000"/>
              </a:lnSpc>
            </a:pPr>
            <a:r>
              <a:rPr sz="1500" b="1" i="0">
                <a:solidFill>
                  <a:srgbClr val="FFFFFF"/>
                </a:solidFill>
                <a:latin typeface="Arial"/>
              </a:rPr>
              <a:t>Первый пример</a:t>
            </a:r>
          </a:p>
        </p:txBody>
      </p:sp>
      <p:sp>
        <p:nvSpPr>
          <p:cNvPr id="9" name="TextBox 8"/>
          <p:cNvSpPr txBox="1"/>
          <p:nvPr/>
        </p:nvSpPr>
        <p:spPr>
          <a:xfrm>
            <a:off x="548640" y="1920240"/>
            <a:ext cx="2468880" cy="512064"/>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Фундаментальная модель</a:t>
            </a:r>
          </a:p>
        </p:txBody>
      </p:sp>
      <p:sp>
        <p:nvSpPr>
          <p:cNvPr id="10" name="TextBox 9"/>
          <p:cNvSpPr txBox="1"/>
          <p:nvPr/>
        </p:nvSpPr>
        <p:spPr>
          <a:xfrm>
            <a:off x="3291840" y="1920240"/>
            <a:ext cx="4846320" cy="512064"/>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Большая ML-модель общего назначения, обученная на огромном корпусе</a:t>
            </a:r>
          </a:p>
        </p:txBody>
      </p:sp>
      <p:sp>
        <p:nvSpPr>
          <p:cNvPr id="11" name="TextBox 10"/>
          <p:cNvSpPr txBox="1"/>
          <p:nvPr/>
        </p:nvSpPr>
        <p:spPr>
          <a:xfrm>
            <a:off x="8503920" y="1920240"/>
            <a:ext cx="3319272" cy="512064"/>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AlphaFold · Aurora · GNoME</a:t>
            </a:r>
          </a:p>
        </p:txBody>
      </p:sp>
      <p:sp>
        <p:nvSpPr>
          <p:cNvPr id="12" name="Rectangle 11"/>
          <p:cNvSpPr/>
          <p:nvPr/>
        </p:nvSpPr>
        <p:spPr>
          <a:xfrm>
            <a:off x="457200" y="2432304"/>
            <a:ext cx="11457432" cy="51206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432304"/>
            <a:ext cx="2468880" cy="512064"/>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RAG (поиск + генерация)</a:t>
            </a:r>
          </a:p>
        </p:txBody>
      </p:sp>
      <p:sp>
        <p:nvSpPr>
          <p:cNvPr id="14" name="TextBox 13"/>
          <p:cNvSpPr txBox="1"/>
          <p:nvPr/>
        </p:nvSpPr>
        <p:spPr>
          <a:xfrm>
            <a:off x="3291840" y="2432304"/>
            <a:ext cx="4846320" cy="512064"/>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LLM отвечает с опорой на найденные документы</a:t>
            </a:r>
          </a:p>
        </p:txBody>
      </p:sp>
      <p:sp>
        <p:nvSpPr>
          <p:cNvPr id="15" name="TextBox 14"/>
          <p:cNvSpPr txBox="1"/>
          <p:nvPr/>
        </p:nvSpPr>
        <p:spPr>
          <a:xfrm>
            <a:off x="8503920" y="2432304"/>
            <a:ext cx="3319272" cy="512064"/>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NotebookLM · Elicit</a:t>
            </a:r>
          </a:p>
        </p:txBody>
      </p:sp>
      <p:sp>
        <p:nvSpPr>
          <p:cNvPr id="16" name="TextBox 15"/>
          <p:cNvSpPr txBox="1"/>
          <p:nvPr/>
        </p:nvSpPr>
        <p:spPr>
          <a:xfrm>
            <a:off x="548640" y="2944368"/>
            <a:ext cx="2468880" cy="512064"/>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Галлюцинация</a:t>
            </a:r>
          </a:p>
        </p:txBody>
      </p:sp>
      <p:sp>
        <p:nvSpPr>
          <p:cNvPr id="17" name="TextBox 16"/>
          <p:cNvSpPr txBox="1"/>
          <p:nvPr/>
        </p:nvSpPr>
        <p:spPr>
          <a:xfrm>
            <a:off x="3291840" y="2944368"/>
            <a:ext cx="4846320" cy="512064"/>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Правдоподобный, но неверный вывод — нормальное поведение LLM</a:t>
            </a:r>
          </a:p>
        </p:txBody>
      </p:sp>
      <p:sp>
        <p:nvSpPr>
          <p:cNvPr id="18" name="TextBox 17"/>
          <p:cNvSpPr txBox="1"/>
          <p:nvPr/>
        </p:nvSpPr>
        <p:spPr>
          <a:xfrm>
            <a:off x="8503920" y="2944368"/>
            <a:ext cx="3319272" cy="512064"/>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Galactica «цитирует» несуществующее</a:t>
            </a:r>
          </a:p>
        </p:txBody>
      </p:sp>
      <p:sp>
        <p:nvSpPr>
          <p:cNvPr id="19" name="Rectangle 18"/>
          <p:cNvSpPr/>
          <p:nvPr/>
        </p:nvSpPr>
        <p:spPr>
          <a:xfrm>
            <a:off x="457200" y="3456432"/>
            <a:ext cx="11457432" cy="51206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456432"/>
            <a:ext cx="2468880" cy="512064"/>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Закрытый / открытый мир</a:t>
            </a:r>
          </a:p>
        </p:txBody>
      </p:sp>
      <p:sp>
        <p:nvSpPr>
          <p:cNvPr id="21" name="TextBox 20"/>
          <p:cNvSpPr txBox="1"/>
          <p:nvPr/>
        </p:nvSpPr>
        <p:spPr>
          <a:xfrm>
            <a:off x="3291840" y="3456432"/>
            <a:ext cx="4846320" cy="512064"/>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Закр.: пространство описано, проверка возможна. Откр.: требует выхода</a:t>
            </a:r>
          </a:p>
        </p:txBody>
      </p:sp>
      <p:sp>
        <p:nvSpPr>
          <p:cNvPr id="22" name="TextBox 21"/>
          <p:cNvSpPr txBox="1"/>
          <p:nvPr/>
        </p:nvSpPr>
        <p:spPr>
          <a:xfrm>
            <a:off x="8503920" y="3456432"/>
            <a:ext cx="3319272" cy="512064"/>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Закр.: катализ через DFT</a:t>
            </a:r>
          </a:p>
        </p:txBody>
      </p:sp>
      <p:sp>
        <p:nvSpPr>
          <p:cNvPr id="23" name="TextBox 22"/>
          <p:cNvSpPr txBox="1"/>
          <p:nvPr/>
        </p:nvSpPr>
        <p:spPr>
          <a:xfrm>
            <a:off x="548640" y="3968496"/>
            <a:ext cx="2468880" cy="512064"/>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IDP</a:t>
            </a:r>
          </a:p>
        </p:txBody>
      </p:sp>
      <p:sp>
        <p:nvSpPr>
          <p:cNvPr id="24" name="TextBox 23"/>
          <p:cNvSpPr txBox="1"/>
          <p:nvPr/>
        </p:nvSpPr>
        <p:spPr>
          <a:xfrm>
            <a:off x="3291840" y="3968496"/>
            <a:ext cx="4846320" cy="512064"/>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Внутренне разупорядоченный белок — без стабильной 3D-структуры</a:t>
            </a:r>
          </a:p>
        </p:txBody>
      </p:sp>
      <p:sp>
        <p:nvSpPr>
          <p:cNvPr id="25" name="TextBox 24"/>
          <p:cNvSpPr txBox="1"/>
          <p:nvPr/>
        </p:nvSpPr>
        <p:spPr>
          <a:xfrm>
            <a:off x="8503920" y="3968496"/>
            <a:ext cx="3319272" cy="512064"/>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AlphaFold даёт 22% галл. в IDP</a:t>
            </a:r>
          </a:p>
        </p:txBody>
      </p:sp>
      <p:sp>
        <p:nvSpPr>
          <p:cNvPr id="26" name="Rectangle 25"/>
          <p:cNvSpPr/>
          <p:nvPr/>
        </p:nvSpPr>
        <p:spPr>
          <a:xfrm>
            <a:off x="457200" y="4480560"/>
            <a:ext cx="11457432" cy="51206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480560"/>
            <a:ext cx="2468880" cy="512064"/>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BO + GP</a:t>
            </a:r>
          </a:p>
        </p:txBody>
      </p:sp>
      <p:sp>
        <p:nvSpPr>
          <p:cNvPr id="28" name="TextBox 27"/>
          <p:cNvSpPr txBox="1"/>
          <p:nvPr/>
        </p:nvSpPr>
        <p:spPr>
          <a:xfrm>
            <a:off x="3291840" y="4480560"/>
            <a:ext cx="4846320" cy="512064"/>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Байесовская оптимизация + гауссовский процесс (40-60 лет)</a:t>
            </a:r>
          </a:p>
        </p:txBody>
      </p:sp>
      <p:sp>
        <p:nvSpPr>
          <p:cNvPr id="29" name="TextBox 28"/>
          <p:cNvSpPr txBox="1"/>
          <p:nvPr/>
        </p:nvSpPr>
        <p:spPr>
          <a:xfrm>
            <a:off x="8503920" y="4480560"/>
            <a:ext cx="3319272" cy="512064"/>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Зрелая альтернатива «AI» в опытах</a:t>
            </a:r>
          </a:p>
        </p:txBody>
      </p:sp>
      <p:sp>
        <p:nvSpPr>
          <p:cNvPr id="30" name="TextBox 29"/>
          <p:cNvSpPr txBox="1"/>
          <p:nvPr/>
        </p:nvSpPr>
        <p:spPr>
          <a:xfrm>
            <a:off x="548640" y="4992624"/>
            <a:ext cx="2468880" cy="512064"/>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Фабрика статей</a:t>
            </a:r>
          </a:p>
        </p:txBody>
      </p:sp>
      <p:sp>
        <p:nvSpPr>
          <p:cNvPr id="31" name="TextBox 30"/>
          <p:cNvSpPr txBox="1"/>
          <p:nvPr/>
        </p:nvSpPr>
        <p:spPr>
          <a:xfrm>
            <a:off x="3291840" y="4992624"/>
            <a:ext cx="4846320" cy="512064"/>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Индустриализированное производство фальшивых публикаций</a:t>
            </a:r>
          </a:p>
        </p:txBody>
      </p:sp>
      <p:sp>
        <p:nvSpPr>
          <p:cNvPr id="32" name="TextBox 31"/>
          <p:cNvSpPr txBox="1"/>
          <p:nvPr/>
        </p:nvSpPr>
        <p:spPr>
          <a:xfrm>
            <a:off x="8503920" y="4992624"/>
            <a:ext cx="3319272" cy="512064"/>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Frontiers «крыса» 2024</a:t>
            </a:r>
          </a:p>
        </p:txBody>
      </p:sp>
      <p:sp>
        <p:nvSpPr>
          <p:cNvPr id="33" name="Rectangle 32"/>
          <p:cNvSpPr/>
          <p:nvPr/>
        </p:nvSpPr>
        <p:spPr>
          <a:xfrm>
            <a:off x="457200" y="5504688"/>
            <a:ext cx="11457432" cy="51206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504688"/>
            <a:ext cx="2468880" cy="512064"/>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HITL (человек в петле)</a:t>
            </a:r>
          </a:p>
        </p:txBody>
      </p:sp>
      <p:sp>
        <p:nvSpPr>
          <p:cNvPr id="35" name="TextBox 34"/>
          <p:cNvSpPr txBox="1"/>
          <p:nvPr/>
        </p:nvSpPr>
        <p:spPr>
          <a:xfrm>
            <a:off x="3291840" y="5504688"/>
            <a:ext cx="4846320" cy="512064"/>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Человек останавливает конвейер на проверке</a:t>
            </a:r>
          </a:p>
        </p:txBody>
      </p:sp>
      <p:sp>
        <p:nvSpPr>
          <p:cNvPr id="36" name="TextBox 35"/>
          <p:cNvSpPr txBox="1"/>
          <p:nvPr/>
        </p:nvSpPr>
        <p:spPr>
          <a:xfrm>
            <a:off x="8503920" y="5504688"/>
            <a:ext cx="3319272" cy="512064"/>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AlphaFold + лабораторная валидация</a:t>
            </a:r>
          </a:p>
        </p:txBody>
      </p:sp>
      <p:sp>
        <p:nvSpPr>
          <p:cNvPr id="37" name="TextBox 36"/>
          <p:cNvSpPr txBox="1"/>
          <p:nvPr/>
        </p:nvSpPr>
        <p:spPr>
          <a:xfrm>
            <a:off x="457200" y="626364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Остальные термины (CASP, DFT, MD, ECMWF, ICMJE, эталонная разметка, рецензирование) определены при первом появлении в разделах лекции.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Где AI делает прорыв. Где создаёт фабрику статей. Как решать.</a:t>
            </a:r>
          </a:p>
        </p:txBody>
      </p:sp>
      <p:sp>
        <p:nvSpPr>
          <p:cNvPr id="3" name="Rounded Rectangle 2"/>
          <p:cNvSpPr/>
          <p:nvPr/>
        </p:nvSpPr>
        <p:spPr>
          <a:xfrm>
            <a:off x="457200" y="1371600"/>
            <a:ext cx="11274552" cy="2468880"/>
          </a:xfrm>
          <a:prstGeom prst="roundRect">
            <a:avLst>
              <a:gd name="adj" fmla="val 10000"/>
            </a:avLst>
          </a:prstGeom>
          <a:solidFill>
            <a:srgbClr val="FEF5E0"/>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08760"/>
            <a:ext cx="10698480" cy="2240280"/>
          </a:xfrm>
          <a:prstGeom prst="rect">
            <a:avLst/>
          </a:prstGeom>
          <a:noFill/>
        </p:spPr>
        <p:txBody>
          <a:bodyPr wrap="square" lIns="0" rIns="0" tIns="0" bIns="0" anchor="t">
            <a:spAutoFit/>
          </a:bodyPr>
          <a:lstStyle/>
          <a:p>
            <a:pPr algn="l">
              <a:lnSpc>
                <a:spcPct val="115000"/>
              </a:lnSpc>
            </a:pPr>
            <a:r>
              <a:rPr sz="1200" b="1" i="1">
                <a:solidFill>
                  <a:srgbClr val="F0AB00"/>
                </a:solidFill>
                <a:latin typeface="Arial"/>
              </a:rPr>
              <a:t>Центральный вопрос лекции</a:t>
            </a:r>
          </a:p>
          <a:p>
            <a:pPr algn="l">
              <a:lnSpc>
                <a:spcPct val="115000"/>
              </a:lnSpc>
            </a:pPr>
            <a:r>
              <a:rPr sz="400" b="0" i="0">
                <a:solidFill>
                  <a:srgbClr val="21295C"/>
                </a:solidFill>
                <a:latin typeface="Arial"/>
              </a:rPr>
              <a:t/>
            </a:r>
          </a:p>
          <a:p>
            <a:pPr algn="l">
              <a:lnSpc>
                <a:spcPct val="115000"/>
              </a:lnSpc>
            </a:pPr>
            <a:r>
              <a:rPr sz="2200" b="1" i="0">
                <a:solidFill>
                  <a:srgbClr val="21295C"/>
                </a:solidFill>
                <a:latin typeface="Arial"/>
              </a:rPr>
              <a:t>Где AI делает прорыв в науке,</a:t>
            </a:r>
          </a:p>
          <a:p>
            <a:pPr algn="l">
              <a:lnSpc>
                <a:spcPct val="115000"/>
              </a:lnSpc>
            </a:pPr>
            <a:r>
              <a:rPr sz="2200" b="1" i="0">
                <a:solidFill>
                  <a:srgbClr val="21295C"/>
                </a:solidFill>
                <a:latin typeface="Arial"/>
              </a:rPr>
              <a:t>где он создаёт фабрику статей,</a:t>
            </a:r>
          </a:p>
          <a:p>
            <a:pPr algn="l">
              <a:lnSpc>
                <a:spcPct val="115000"/>
              </a:lnSpc>
            </a:pPr>
            <a:r>
              <a:rPr sz="2000" b="1" i="1">
                <a:solidFill>
                  <a:srgbClr val="065A82"/>
                </a:solidFill>
                <a:latin typeface="Arial"/>
              </a:rPr>
              <a:t>и как инженер должен решать,</a:t>
            </a:r>
          </a:p>
          <a:p>
            <a:pPr algn="l">
              <a:lnSpc>
                <a:spcPct val="115000"/>
              </a:lnSpc>
            </a:pPr>
            <a:r>
              <a:rPr sz="2000" b="1" i="1">
                <a:solidFill>
                  <a:srgbClr val="065A82"/>
                </a:solidFill>
                <a:latin typeface="Arial"/>
              </a:rPr>
              <a:t>в какой класс попадает его конкретный случай?</a:t>
            </a:r>
          </a:p>
        </p:txBody>
      </p:sp>
      <p:sp>
        <p:nvSpPr>
          <p:cNvPr id="5" name="TextBox 4"/>
          <p:cNvSpPr txBox="1"/>
          <p:nvPr/>
        </p:nvSpPr>
        <p:spPr>
          <a:xfrm>
            <a:off x="457200" y="3977639"/>
            <a:ext cx="11274552"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Ответ — пятишаговая рамка, которую соберём к концу лекции</a:t>
            </a:r>
          </a:p>
        </p:txBody>
      </p:sp>
      <p:sp>
        <p:nvSpPr>
          <p:cNvPr id="6" name="Rounded Rectangle 5"/>
          <p:cNvSpPr/>
          <p:nvPr/>
        </p:nvSpPr>
        <p:spPr>
          <a:xfrm>
            <a:off x="457200" y="4434840"/>
            <a:ext cx="2212848" cy="1554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94360" y="4572000"/>
            <a:ext cx="457200" cy="45720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572000"/>
            <a:ext cx="457200" cy="45720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1</a:t>
            </a:r>
          </a:p>
        </p:txBody>
      </p:sp>
      <p:sp>
        <p:nvSpPr>
          <p:cNvPr id="9" name="TextBox 8"/>
          <p:cNvSpPr txBox="1"/>
          <p:nvPr/>
        </p:nvSpPr>
        <p:spPr>
          <a:xfrm>
            <a:off x="640080" y="5120640"/>
            <a:ext cx="1938528" cy="73152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Классифицируй задачу</a:t>
            </a:r>
          </a:p>
          <a:p>
            <a:pPr algn="l">
              <a:lnSpc>
                <a:spcPct val="115000"/>
              </a:lnSpc>
            </a:pPr>
            <a:r>
              <a:rPr sz="1000" b="0" i="1">
                <a:solidFill>
                  <a:srgbClr val="065A82"/>
                </a:solidFill>
                <a:latin typeface="Arial"/>
              </a:rPr>
              <a:t>открытый или закрытый мир</a:t>
            </a:r>
          </a:p>
        </p:txBody>
      </p:sp>
      <p:sp>
        <p:nvSpPr>
          <p:cNvPr id="10" name="Rounded Rectangle 9"/>
          <p:cNvSpPr/>
          <p:nvPr/>
        </p:nvSpPr>
        <p:spPr>
          <a:xfrm>
            <a:off x="2715768" y="4434840"/>
            <a:ext cx="2212848" cy="1554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852927" y="4572000"/>
            <a:ext cx="457200" cy="45720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52927" y="4572000"/>
            <a:ext cx="457200" cy="45720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2</a:t>
            </a:r>
          </a:p>
        </p:txBody>
      </p:sp>
      <p:sp>
        <p:nvSpPr>
          <p:cNvPr id="13" name="TextBox 12"/>
          <p:cNvSpPr txBox="1"/>
          <p:nvPr/>
        </p:nvSpPr>
        <p:spPr>
          <a:xfrm>
            <a:off x="2898648" y="5120640"/>
            <a:ext cx="1938528" cy="73152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Проверь покрытие</a:t>
            </a:r>
          </a:p>
          <a:p>
            <a:pPr algn="l">
              <a:lnSpc>
                <a:spcPct val="115000"/>
              </a:lnSpc>
            </a:pPr>
            <a:r>
              <a:rPr sz="1000" b="0" i="1">
                <a:solidFill>
                  <a:srgbClr val="065A82"/>
                </a:solidFill>
                <a:latin typeface="Arial"/>
              </a:rPr>
              <a:t>обучающее распределение модели</a:t>
            </a:r>
          </a:p>
        </p:txBody>
      </p:sp>
      <p:sp>
        <p:nvSpPr>
          <p:cNvPr id="14" name="Rounded Rectangle 13"/>
          <p:cNvSpPr/>
          <p:nvPr/>
        </p:nvSpPr>
        <p:spPr>
          <a:xfrm>
            <a:off x="4974336" y="4434840"/>
            <a:ext cx="2212848" cy="1554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111496" y="4572000"/>
            <a:ext cx="457200" cy="45720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11496" y="4572000"/>
            <a:ext cx="457200" cy="45720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3</a:t>
            </a:r>
          </a:p>
        </p:txBody>
      </p:sp>
      <p:sp>
        <p:nvSpPr>
          <p:cNvPr id="17" name="TextBox 16"/>
          <p:cNvSpPr txBox="1"/>
          <p:nvPr/>
        </p:nvSpPr>
        <p:spPr>
          <a:xfrm>
            <a:off x="5157216" y="5120640"/>
            <a:ext cx="1938528" cy="73152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Спроектируй шлюзы</a:t>
            </a:r>
          </a:p>
          <a:p>
            <a:pPr algn="l">
              <a:lnSpc>
                <a:spcPct val="115000"/>
              </a:lnSpc>
            </a:pPr>
            <a:r>
              <a:rPr sz="1000" b="0" i="1">
                <a:solidFill>
                  <a:srgbClr val="065A82"/>
                </a:solidFill>
                <a:latin typeface="Arial"/>
              </a:rPr>
              <a:t>человек в петле</a:t>
            </a:r>
          </a:p>
        </p:txBody>
      </p:sp>
      <p:sp>
        <p:nvSpPr>
          <p:cNvPr id="18" name="Rounded Rectangle 17"/>
          <p:cNvSpPr/>
          <p:nvPr/>
        </p:nvSpPr>
        <p:spPr>
          <a:xfrm>
            <a:off x="7232903" y="4434840"/>
            <a:ext cx="2212848" cy="1554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370063" y="4572000"/>
            <a:ext cx="457200" cy="45720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70063" y="4572000"/>
            <a:ext cx="457200" cy="45720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4</a:t>
            </a:r>
          </a:p>
        </p:txBody>
      </p:sp>
      <p:sp>
        <p:nvSpPr>
          <p:cNvPr id="21" name="TextBox 20"/>
          <p:cNvSpPr txBox="1"/>
          <p:nvPr/>
        </p:nvSpPr>
        <p:spPr>
          <a:xfrm>
            <a:off x="7415783" y="5120640"/>
            <a:ext cx="1938528" cy="73152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Проверь до публикации</a:t>
            </a:r>
          </a:p>
          <a:p>
            <a:pPr algn="l">
              <a:lnSpc>
                <a:spcPct val="115000"/>
              </a:lnSpc>
            </a:pPr>
            <a:r>
              <a:rPr sz="1000" b="0" i="1">
                <a:solidFill>
                  <a:srgbClr val="065A82"/>
                </a:solidFill>
                <a:latin typeface="Arial"/>
              </a:rPr>
              <a:t>альтернативный метод</a:t>
            </a:r>
          </a:p>
        </p:txBody>
      </p:sp>
      <p:sp>
        <p:nvSpPr>
          <p:cNvPr id="22" name="Rounded Rectangle 21"/>
          <p:cNvSpPr/>
          <p:nvPr/>
        </p:nvSpPr>
        <p:spPr>
          <a:xfrm>
            <a:off x="9491472" y="4434840"/>
            <a:ext cx="2212848" cy="1554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28632" y="4572000"/>
            <a:ext cx="457200" cy="45720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28632" y="4572000"/>
            <a:ext cx="457200" cy="45720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5</a:t>
            </a:r>
          </a:p>
        </p:txBody>
      </p:sp>
      <p:sp>
        <p:nvSpPr>
          <p:cNvPr id="25" name="TextBox 24"/>
          <p:cNvSpPr txBox="1"/>
          <p:nvPr/>
        </p:nvSpPr>
        <p:spPr>
          <a:xfrm>
            <a:off x="9674351" y="5120640"/>
            <a:ext cx="1938528" cy="73152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Раскрой использование AI</a:t>
            </a:r>
          </a:p>
          <a:p>
            <a:pPr algn="l">
              <a:lnSpc>
                <a:spcPct val="115000"/>
              </a:lnSpc>
            </a:pPr>
            <a:r>
              <a:rPr sz="1000" b="0" i="1">
                <a:solidFill>
                  <a:srgbClr val="065A82"/>
                </a:solidFill>
                <a:latin typeface="Arial"/>
              </a:rPr>
              <a:t>ICMJE и журналы</a:t>
            </a:r>
          </a:p>
        </p:txBody>
      </p:sp>
      <p:sp>
        <p:nvSpPr>
          <p:cNvPr id="26" name="TextBox 25"/>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Эта рамка применима к любому конкретному кейсу AI в науке.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457200" y="1371600"/>
            <a:ext cx="4572000" cy="2743200"/>
          </a:xfrm>
          <a:prstGeom prst="rect">
            <a:avLst/>
          </a:prstGeom>
          <a:noFill/>
        </p:spPr>
        <p:txBody>
          <a:bodyPr wrap="square" lIns="0" rIns="0" tIns="0" bIns="0" anchor="ctr">
            <a:spAutoFit/>
          </a:bodyPr>
          <a:lstStyle/>
          <a:p>
            <a:pPr algn="ctr">
              <a:lnSpc>
                <a:spcPct val="115000"/>
              </a:lnSpc>
            </a:pPr>
            <a:r>
              <a:rPr sz="20000" b="1" i="0">
                <a:solidFill>
                  <a:srgbClr val="1C7293"/>
                </a:solidFill>
                <a:latin typeface="Arial"/>
              </a:rPr>
              <a:t>§1</a:t>
            </a:r>
          </a:p>
        </p:txBody>
      </p:sp>
      <p:sp>
        <p:nvSpPr>
          <p:cNvPr id="3" name="TextBox 2"/>
          <p:cNvSpPr txBox="1"/>
          <p:nvPr/>
        </p:nvSpPr>
        <p:spPr>
          <a:xfrm>
            <a:off x="5029200" y="1554480"/>
            <a:ext cx="6675120" cy="3657600"/>
          </a:xfrm>
          <a:prstGeom prst="rect">
            <a:avLst/>
          </a:prstGeom>
          <a:noFill/>
        </p:spPr>
        <p:txBody>
          <a:bodyPr wrap="square" lIns="0" rIns="0" tIns="0" bIns="0" anchor="t">
            <a:spAutoFit/>
          </a:bodyPr>
          <a:lstStyle/>
          <a:p>
            <a:pPr algn="l">
              <a:lnSpc>
                <a:spcPct val="120000"/>
              </a:lnSpc>
            </a:pPr>
            <a:r>
              <a:rPr sz="2200" b="1" i="0">
                <a:solidFill>
                  <a:srgbClr val="065A82"/>
                </a:solidFill>
                <a:latin typeface="Arial"/>
              </a:rPr>
              <a:t>Раздел 1</a:t>
            </a:r>
          </a:p>
          <a:p>
            <a:pPr algn="l">
              <a:lnSpc>
                <a:spcPct val="120000"/>
              </a:lnSpc>
            </a:pPr>
            <a:r>
              <a:rPr sz="4200" b="1" i="0">
                <a:solidFill>
                  <a:srgbClr val="21295C"/>
                </a:solidFill>
                <a:latin typeface="Arial"/>
              </a:rPr>
              <a:t>Hypothesis + Design</a:t>
            </a:r>
          </a:p>
          <a:p>
            <a:pPr algn="l">
              <a:lnSpc>
                <a:spcPct val="120000"/>
              </a:lnSpc>
            </a:pPr>
            <a:r>
              <a:rPr sz="2600" b="0" i="1">
                <a:solidFill>
                  <a:srgbClr val="1C7293"/>
                </a:solidFill>
                <a:latin typeface="Arial"/>
              </a:rPr>
              <a:t>Гипотеза и план</a:t>
            </a:r>
          </a:p>
          <a:p>
            <a:pPr algn="l">
              <a:lnSpc>
                <a:spcPct val="120000"/>
              </a:lnSpc>
            </a:pPr>
            <a:r>
              <a:rPr sz="1200" b="0" i="0">
                <a:solidFill>
                  <a:srgbClr val="21295C"/>
                </a:solidFill>
                <a:latin typeface="Arial"/>
              </a:rPr>
              <a:t/>
            </a:r>
          </a:p>
          <a:p>
            <a:pPr algn="l">
              <a:lnSpc>
                <a:spcPct val="120000"/>
              </a:lnSpc>
            </a:pPr>
            <a:r>
              <a:rPr sz="1800" b="0" i="0">
                <a:solidFill>
                  <a:srgbClr val="21295C"/>
                </a:solidFill>
                <a:latin typeface="Arial"/>
              </a:rPr>
              <a:t>Где AI продаётся за автономию,</a:t>
            </a:r>
          </a:p>
          <a:p>
            <a:pPr algn="l">
              <a:lnSpc>
                <a:spcPct val="120000"/>
              </a:lnSpc>
            </a:pPr>
            <a:r>
              <a:rPr sz="1800" b="0" i="0">
                <a:solidFill>
                  <a:srgbClr val="21295C"/>
                </a:solidFill>
                <a:latin typeface="Arial"/>
              </a:rPr>
              <a:t>но даёт узкую помощь.</a:t>
            </a:r>
          </a:p>
        </p:txBody>
      </p:sp>
      <p:sp>
        <p:nvSpPr>
          <p:cNvPr id="4" name="Rounded Rectangle 3"/>
          <p:cNvSpPr/>
          <p:nvPr/>
        </p:nvSpPr>
        <p:spPr>
          <a:xfrm>
            <a:off x="5029200" y="5120640"/>
            <a:ext cx="1792224" cy="365760"/>
          </a:xfrm>
          <a:prstGeom prst="roundRect">
            <a:avLst>
              <a:gd name="adj" fmla="val 10000"/>
            </a:avLst>
          </a:prstGeom>
          <a:solidFill>
            <a:srgbClr val="1C7293"/>
          </a:solidFill>
          <a:ln>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0" y="5120640"/>
            <a:ext cx="1792224" cy="365760"/>
          </a:xfrm>
          <a:prstGeom prst="rect">
            <a:avLst/>
          </a:prstGeom>
          <a:noFill/>
        </p:spPr>
        <p:txBody>
          <a:bodyPr wrap="square" lIns="0" rIns="0" tIns="0" bIns="0" anchor="ctr">
            <a:spAutoFit/>
          </a:bodyPr>
          <a:lstStyle/>
          <a:p>
            <a:pPr algn="ctr">
              <a:lnSpc>
                <a:spcPct val="115000"/>
              </a:lnSpc>
            </a:pPr>
            <a:r>
              <a:rPr sz="1100" b="1" i="0">
                <a:solidFill>
                  <a:srgbClr val="FFFFFF"/>
                </a:solidFill>
                <a:latin typeface="Arial"/>
              </a:rPr>
              <a:t>WE-1 (грант)</a:t>
            </a:r>
          </a:p>
        </p:txBody>
      </p:sp>
      <p:sp>
        <p:nvSpPr>
          <p:cNvPr id="6" name="Rounded Rectangle 5"/>
          <p:cNvSpPr/>
          <p:nvPr/>
        </p:nvSpPr>
        <p:spPr>
          <a:xfrm>
            <a:off x="6958583" y="5120640"/>
            <a:ext cx="2862072" cy="365760"/>
          </a:xfrm>
          <a:prstGeom prst="roundRect">
            <a:avLst>
              <a:gd name="adj" fmla="val 10000"/>
            </a:avLst>
          </a:prstGeom>
          <a:solidFill>
            <a:srgbClr val="C0392B"/>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58583" y="5120640"/>
            <a:ext cx="2862072" cy="365760"/>
          </a:xfrm>
          <a:prstGeom prst="rect">
            <a:avLst/>
          </a:prstGeom>
          <a:noFill/>
        </p:spPr>
        <p:txBody>
          <a:bodyPr wrap="square" lIns="0" rIns="0" tIns="0" bIns="0" anchor="ctr">
            <a:spAutoFit/>
          </a:bodyPr>
          <a:lstStyle/>
          <a:p>
            <a:pPr algn="ctr">
              <a:lnSpc>
                <a:spcPct val="115000"/>
              </a:lnSpc>
            </a:pPr>
            <a:r>
              <a:rPr sz="1100" b="1" i="0">
                <a:solidFill>
                  <a:srgbClr val="FFFFFF"/>
                </a:solidFill>
                <a:latin typeface="Arial"/>
              </a:rPr>
              <a:t>Sakana — отбор лучших</a:t>
            </a:r>
          </a:p>
        </p:txBody>
      </p:sp>
      <p:sp>
        <p:nvSpPr>
          <p:cNvPr id="8" name="Rounded Rectangle 7"/>
          <p:cNvSpPr/>
          <p:nvPr/>
        </p:nvSpPr>
        <p:spPr>
          <a:xfrm>
            <a:off x="9957815" y="5120640"/>
            <a:ext cx="3575304" cy="365760"/>
          </a:xfrm>
          <a:prstGeom prst="roundRect">
            <a:avLst>
              <a:gd name="adj" fmla="val 10000"/>
            </a:avLst>
          </a:prstGeom>
          <a:solidFill>
            <a:srgbClr val="065A82"/>
          </a:solidFill>
          <a:ln>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57815" y="5120640"/>
            <a:ext cx="3575304" cy="365760"/>
          </a:xfrm>
          <a:prstGeom prst="rect">
            <a:avLst/>
          </a:prstGeom>
          <a:noFill/>
        </p:spPr>
        <p:txBody>
          <a:bodyPr wrap="square" lIns="0" rIns="0" tIns="0" bIns="0" anchor="ctr">
            <a:spAutoFit/>
          </a:bodyPr>
          <a:lstStyle/>
          <a:p>
            <a:pPr algn="ctr">
              <a:lnSpc>
                <a:spcPct val="115000"/>
              </a:lnSpc>
            </a:pPr>
            <a:r>
              <a:rPr sz="1100" b="1" i="0">
                <a:solidFill>
                  <a:srgbClr val="FFFFFF"/>
                </a:solidFill>
                <a:latin typeface="Arial"/>
              </a:rPr>
              <a:t>Coscientist vs Co-Scientist</a:t>
            </a:r>
          </a:p>
        </p:txBody>
      </p:sp>
      <p:sp>
        <p:nvSpPr>
          <p:cNvPr id="10" name="Rounded Rectangle 9"/>
          <p:cNvSpPr/>
          <p:nvPr/>
        </p:nvSpPr>
        <p:spPr>
          <a:xfrm>
            <a:off x="13670280" y="5120640"/>
            <a:ext cx="2743200" cy="365760"/>
          </a:xfrm>
          <a:prstGeom prst="roundRect">
            <a:avLst>
              <a:gd name="adj" fmla="val 10000"/>
            </a:avLst>
          </a:prstGeom>
          <a:solidFill>
            <a:srgbClr val="028090"/>
          </a:solidFill>
          <a:ln>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670280" y="5120640"/>
            <a:ext cx="2743200" cy="365760"/>
          </a:xfrm>
          <a:prstGeom prst="rect">
            <a:avLst/>
          </a:prstGeom>
          <a:noFill/>
        </p:spPr>
        <p:txBody>
          <a:bodyPr wrap="square" lIns="0" rIns="0" tIns="0" bIns="0" anchor="ctr">
            <a:spAutoFit/>
          </a:bodyPr>
          <a:lstStyle/>
          <a:p>
            <a:pPr algn="ctr">
              <a:lnSpc>
                <a:spcPct val="115000"/>
              </a:lnSpc>
            </a:pPr>
            <a:r>
              <a:rPr sz="1100" b="1" i="0">
                <a:solidFill>
                  <a:srgbClr val="FFFFFF"/>
                </a:solidFill>
                <a:latin typeface="Arial"/>
              </a:rPr>
              <a:t>BO + GP альтернатива</a:t>
            </a:r>
          </a:p>
        </p:txBody>
      </p:sp>
      <p:sp>
        <p:nvSpPr>
          <p:cNvPr id="12" name="TextBox 11"/>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Лестница цикла · ступени 1 и 2 · 4 working cases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Идея для гранта: 6-шаговое дерево решения «Sakana или PhD-руководитель».</a:t>
            </a:r>
          </a:p>
        </p:txBody>
      </p:sp>
      <p:sp>
        <p:nvSpPr>
          <p:cNvPr id="3" name="Rounded Rectangle 2"/>
          <p:cNvSpPr/>
          <p:nvPr/>
        </p:nvSpPr>
        <p:spPr>
          <a:xfrm>
            <a:off x="457200" y="1371600"/>
            <a:ext cx="11274552" cy="5486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1274552" cy="548640"/>
          </a:xfrm>
          <a:prstGeom prst="rect">
            <a:avLst/>
          </a:prstGeom>
          <a:noFill/>
        </p:spPr>
        <p:txBody>
          <a:bodyPr wrap="square" lIns="0" rIns="0" tIns="0" bIns="0" anchor="ctr">
            <a:spAutoFit/>
          </a:bodyPr>
          <a:lstStyle/>
          <a:p>
            <a:pPr algn="ctr">
              <a:lnSpc>
                <a:spcPct val="115000"/>
              </a:lnSpc>
            </a:pPr>
            <a:r>
              <a:rPr sz="1400" b="1" i="1">
                <a:solidFill>
                  <a:srgbClr val="21295C"/>
                </a:solidFill>
                <a:latin typeface="Arial"/>
              </a:rPr>
              <a:t>Аспирант: «нужна идея для гранта NSF к концу месяца» — что делать?</a:t>
            </a:r>
          </a:p>
        </p:txBody>
      </p:sp>
      <p:sp>
        <p:nvSpPr>
          <p:cNvPr id="5" name="Rounded Rectangle 4"/>
          <p:cNvSpPr/>
          <p:nvPr/>
        </p:nvSpPr>
        <p:spPr>
          <a:xfrm>
            <a:off x="457200" y="2194560"/>
            <a:ext cx="1783080" cy="228600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74420" y="2331720"/>
            <a:ext cx="548640" cy="54864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31720"/>
            <a:ext cx="1783080" cy="54864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1</a:t>
            </a:r>
          </a:p>
        </p:txBody>
      </p:sp>
      <p:sp>
        <p:nvSpPr>
          <p:cNvPr id="8" name="TextBox 7"/>
          <p:cNvSpPr txBox="1"/>
          <p:nvPr/>
        </p:nvSpPr>
        <p:spPr>
          <a:xfrm>
            <a:off x="548640" y="3017520"/>
            <a:ext cx="1600200" cy="36576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Классифицируй задачу</a:t>
            </a:r>
          </a:p>
        </p:txBody>
      </p:sp>
      <p:sp>
        <p:nvSpPr>
          <p:cNvPr id="9" name="TextBox 8"/>
          <p:cNvSpPr txBox="1"/>
          <p:nvPr/>
        </p:nvSpPr>
        <p:spPr>
          <a:xfrm>
            <a:off x="548640" y="3429000"/>
            <a:ext cx="1600200" cy="914400"/>
          </a:xfrm>
          <a:prstGeom prst="rect">
            <a:avLst/>
          </a:prstGeom>
          <a:noFill/>
        </p:spPr>
        <p:txBody>
          <a:bodyPr wrap="square" lIns="0" rIns="0" tIns="0" bIns="0" anchor="t">
            <a:spAutoFit/>
          </a:bodyPr>
          <a:lstStyle/>
          <a:p>
            <a:pPr algn="ctr">
              <a:lnSpc>
                <a:spcPct val="115000"/>
              </a:lnSpc>
            </a:pPr>
            <a:r>
              <a:rPr sz="1000" b="0" i="1">
                <a:solidFill>
                  <a:srgbClr val="065A82"/>
                </a:solidFill>
                <a:latin typeface="Arial"/>
              </a:rPr>
              <a:t>ступень 1 или 2
лестницы цикла</a:t>
            </a:r>
          </a:p>
        </p:txBody>
      </p:sp>
      <p:sp>
        <p:nvSpPr>
          <p:cNvPr id="10" name="Rounded Rectangle 9"/>
          <p:cNvSpPr/>
          <p:nvPr/>
        </p:nvSpPr>
        <p:spPr>
          <a:xfrm>
            <a:off x="2313432" y="2194560"/>
            <a:ext cx="1783080" cy="228600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30652" y="2331720"/>
            <a:ext cx="548640" cy="54864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13432" y="2331720"/>
            <a:ext cx="1783080" cy="54864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2</a:t>
            </a:r>
          </a:p>
        </p:txBody>
      </p:sp>
      <p:sp>
        <p:nvSpPr>
          <p:cNvPr id="13" name="TextBox 12"/>
          <p:cNvSpPr txBox="1"/>
          <p:nvPr/>
        </p:nvSpPr>
        <p:spPr>
          <a:xfrm>
            <a:off x="2404872" y="3017520"/>
            <a:ext cx="1600200" cy="36576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Покрытие</a:t>
            </a:r>
          </a:p>
        </p:txBody>
      </p:sp>
      <p:sp>
        <p:nvSpPr>
          <p:cNvPr id="14" name="TextBox 13"/>
          <p:cNvSpPr txBox="1"/>
          <p:nvPr/>
        </p:nvSpPr>
        <p:spPr>
          <a:xfrm>
            <a:off x="2404872" y="3429000"/>
            <a:ext cx="1600200" cy="914400"/>
          </a:xfrm>
          <a:prstGeom prst="rect">
            <a:avLst/>
          </a:prstGeom>
          <a:noFill/>
        </p:spPr>
        <p:txBody>
          <a:bodyPr wrap="square" lIns="0" rIns="0" tIns="0" bIns="0" anchor="t">
            <a:spAutoFit/>
          </a:bodyPr>
          <a:lstStyle/>
          <a:p>
            <a:pPr algn="ctr">
              <a:lnSpc>
                <a:spcPct val="115000"/>
              </a:lnSpc>
            </a:pPr>
            <a:r>
              <a:rPr sz="1000" b="0" i="1">
                <a:solidFill>
                  <a:srgbClr val="065A82"/>
                </a:solidFill>
                <a:latin typeface="Arial"/>
              </a:rPr>
              <a:t>Sakana 50 кандидатов
или PhD 3 идеи</a:t>
            </a:r>
          </a:p>
        </p:txBody>
      </p:sp>
      <p:sp>
        <p:nvSpPr>
          <p:cNvPr id="15" name="Rounded Rectangle 14"/>
          <p:cNvSpPr/>
          <p:nvPr/>
        </p:nvSpPr>
        <p:spPr>
          <a:xfrm>
            <a:off x="4169663" y="2194560"/>
            <a:ext cx="1783080" cy="228600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786883" y="2331720"/>
            <a:ext cx="548640" cy="54864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69663" y="2331720"/>
            <a:ext cx="1783080" cy="54864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3</a:t>
            </a:r>
          </a:p>
        </p:txBody>
      </p:sp>
      <p:sp>
        <p:nvSpPr>
          <p:cNvPr id="18" name="TextBox 17"/>
          <p:cNvSpPr txBox="1"/>
          <p:nvPr/>
        </p:nvSpPr>
        <p:spPr>
          <a:xfrm>
            <a:off x="4261103" y="3017520"/>
            <a:ext cx="1600200" cy="36576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Проверка</a:t>
            </a:r>
          </a:p>
        </p:txBody>
      </p:sp>
      <p:sp>
        <p:nvSpPr>
          <p:cNvPr id="19" name="TextBox 18"/>
          <p:cNvSpPr txBox="1"/>
          <p:nvPr/>
        </p:nvSpPr>
        <p:spPr>
          <a:xfrm>
            <a:off x="4261103" y="3429000"/>
            <a:ext cx="1600200" cy="914400"/>
          </a:xfrm>
          <a:prstGeom prst="rect">
            <a:avLst/>
          </a:prstGeom>
          <a:noFill/>
        </p:spPr>
        <p:txBody>
          <a:bodyPr wrap="square" lIns="0" rIns="0" tIns="0" bIns="0" anchor="t">
            <a:spAutoFit/>
          </a:bodyPr>
          <a:lstStyle/>
          <a:p>
            <a:pPr algn="ctr">
              <a:lnSpc>
                <a:spcPct val="115000"/>
              </a:lnSpc>
            </a:pPr>
            <a:r>
              <a:rPr sz="1000" b="0" i="1">
                <a:solidFill>
                  <a:srgbClr val="065A82"/>
                </a:solidFill>
                <a:latin typeface="Arial"/>
              </a:rPr>
              <a:t>обзор литературы
+ отложенная выборка</a:t>
            </a:r>
          </a:p>
        </p:txBody>
      </p:sp>
      <p:sp>
        <p:nvSpPr>
          <p:cNvPr id="20" name="Rounded Rectangle 19"/>
          <p:cNvSpPr/>
          <p:nvPr/>
        </p:nvSpPr>
        <p:spPr>
          <a:xfrm>
            <a:off x="6025896" y="2194560"/>
            <a:ext cx="1783080" cy="228600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43116" y="2331720"/>
            <a:ext cx="548640" cy="54864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25896" y="2331720"/>
            <a:ext cx="1783080" cy="54864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4</a:t>
            </a:r>
          </a:p>
        </p:txBody>
      </p:sp>
      <p:sp>
        <p:nvSpPr>
          <p:cNvPr id="23" name="TextBox 22"/>
          <p:cNvSpPr txBox="1"/>
          <p:nvPr/>
        </p:nvSpPr>
        <p:spPr>
          <a:xfrm>
            <a:off x="6117336" y="3017520"/>
            <a:ext cx="1600200" cy="36576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Этика</a:t>
            </a:r>
          </a:p>
        </p:txBody>
      </p:sp>
      <p:sp>
        <p:nvSpPr>
          <p:cNvPr id="24" name="TextBox 23"/>
          <p:cNvSpPr txBox="1"/>
          <p:nvPr/>
        </p:nvSpPr>
        <p:spPr>
          <a:xfrm>
            <a:off x="6117336" y="3429000"/>
            <a:ext cx="1600200" cy="914400"/>
          </a:xfrm>
          <a:prstGeom prst="rect">
            <a:avLst/>
          </a:prstGeom>
          <a:noFill/>
        </p:spPr>
        <p:txBody>
          <a:bodyPr wrap="square" lIns="0" rIns="0" tIns="0" bIns="0" anchor="t">
            <a:spAutoFit/>
          </a:bodyPr>
          <a:lstStyle/>
          <a:p>
            <a:pPr algn="ctr">
              <a:lnSpc>
                <a:spcPct val="115000"/>
              </a:lnSpc>
            </a:pPr>
            <a:r>
              <a:rPr sz="1000" b="0" i="1">
                <a:solidFill>
                  <a:srgbClr val="065A82"/>
                </a:solidFill>
                <a:latin typeface="Arial"/>
              </a:rPr>
              <a:t>кодекс NSF, ICMJE</a:t>
            </a:r>
          </a:p>
        </p:txBody>
      </p:sp>
      <p:sp>
        <p:nvSpPr>
          <p:cNvPr id="25" name="Rounded Rectangle 24"/>
          <p:cNvSpPr/>
          <p:nvPr/>
        </p:nvSpPr>
        <p:spPr>
          <a:xfrm>
            <a:off x="7882127" y="2194560"/>
            <a:ext cx="1783080" cy="228600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99348" y="2331720"/>
            <a:ext cx="548640" cy="54864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82127" y="2331720"/>
            <a:ext cx="1783080" cy="54864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5</a:t>
            </a:r>
          </a:p>
        </p:txBody>
      </p:sp>
      <p:sp>
        <p:nvSpPr>
          <p:cNvPr id="28" name="TextBox 27"/>
          <p:cNvSpPr txBox="1"/>
          <p:nvPr/>
        </p:nvSpPr>
        <p:spPr>
          <a:xfrm>
            <a:off x="7973567" y="3017520"/>
            <a:ext cx="1600200" cy="36576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Человек в петле</a:t>
            </a:r>
          </a:p>
        </p:txBody>
      </p:sp>
      <p:sp>
        <p:nvSpPr>
          <p:cNvPr id="29" name="TextBox 28"/>
          <p:cNvSpPr txBox="1"/>
          <p:nvPr/>
        </p:nvSpPr>
        <p:spPr>
          <a:xfrm>
            <a:off x="7973567" y="3429000"/>
            <a:ext cx="1600200" cy="914400"/>
          </a:xfrm>
          <a:prstGeom prst="rect">
            <a:avLst/>
          </a:prstGeom>
          <a:noFill/>
        </p:spPr>
        <p:txBody>
          <a:bodyPr wrap="square" lIns="0" rIns="0" tIns="0" bIns="0" anchor="t">
            <a:spAutoFit/>
          </a:bodyPr>
          <a:lstStyle/>
          <a:p>
            <a:pPr algn="ctr">
              <a:lnSpc>
                <a:spcPct val="115000"/>
              </a:lnSpc>
            </a:pPr>
            <a:r>
              <a:rPr sz="1000" b="0" i="1">
                <a:solidFill>
                  <a:srgbClr val="065A82"/>
                </a:solidFill>
                <a:latin typeface="Arial"/>
              </a:rPr>
              <a:t>проверяет
каждую идею</a:t>
            </a:r>
          </a:p>
        </p:txBody>
      </p:sp>
      <p:sp>
        <p:nvSpPr>
          <p:cNvPr id="30" name="Rounded Rectangle 29"/>
          <p:cNvSpPr/>
          <p:nvPr/>
        </p:nvSpPr>
        <p:spPr>
          <a:xfrm>
            <a:off x="9738359" y="2194560"/>
            <a:ext cx="1783080" cy="228600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355580" y="2331720"/>
            <a:ext cx="548640" cy="54864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38359" y="2331720"/>
            <a:ext cx="1783080" cy="54864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6</a:t>
            </a:r>
          </a:p>
        </p:txBody>
      </p:sp>
      <p:sp>
        <p:nvSpPr>
          <p:cNvPr id="33" name="TextBox 32"/>
          <p:cNvSpPr txBox="1"/>
          <p:nvPr/>
        </p:nvSpPr>
        <p:spPr>
          <a:xfrm>
            <a:off x="9829799" y="3017520"/>
            <a:ext cx="1600200" cy="36576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Раскрытие AI</a:t>
            </a:r>
          </a:p>
        </p:txBody>
      </p:sp>
      <p:sp>
        <p:nvSpPr>
          <p:cNvPr id="34" name="TextBox 33"/>
          <p:cNvSpPr txBox="1"/>
          <p:nvPr/>
        </p:nvSpPr>
        <p:spPr>
          <a:xfrm>
            <a:off x="9829799" y="3429000"/>
            <a:ext cx="1600200" cy="914400"/>
          </a:xfrm>
          <a:prstGeom prst="rect">
            <a:avLst/>
          </a:prstGeom>
          <a:noFill/>
        </p:spPr>
        <p:txBody>
          <a:bodyPr wrap="square" lIns="0" rIns="0" tIns="0" bIns="0" anchor="t">
            <a:spAutoFit/>
          </a:bodyPr>
          <a:lstStyle/>
          <a:p>
            <a:pPr algn="ctr">
              <a:lnSpc>
                <a:spcPct val="115000"/>
              </a:lnSpc>
            </a:pPr>
            <a:r>
              <a:rPr sz="1000" b="0" i="1">
                <a:solidFill>
                  <a:srgbClr val="065A82"/>
                </a:solidFill>
                <a:latin typeface="Arial"/>
              </a:rPr>
              <a:t>в заявке на грант
явно указано</a:t>
            </a:r>
          </a:p>
        </p:txBody>
      </p:sp>
      <p:sp>
        <p:nvSpPr>
          <p:cNvPr id="35" name="Rounded Rectangle 34"/>
          <p:cNvSpPr/>
          <p:nvPr/>
        </p:nvSpPr>
        <p:spPr>
          <a:xfrm>
            <a:off x="457200" y="4937760"/>
            <a:ext cx="11274552" cy="118872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029200"/>
            <a:ext cx="10789920" cy="1051560"/>
          </a:xfrm>
          <a:prstGeom prst="rect">
            <a:avLst/>
          </a:prstGeom>
          <a:noFill/>
        </p:spPr>
        <p:txBody>
          <a:bodyPr wrap="square" lIns="0" rIns="0" tIns="0" bIns="0" anchor="t">
            <a:spAutoFit/>
          </a:bodyPr>
          <a:lstStyle/>
          <a:p>
            <a:pPr algn="l">
              <a:lnSpc>
                <a:spcPct val="120000"/>
              </a:lnSpc>
            </a:pPr>
            <a:r>
              <a:rPr sz="1300" b="1" i="0">
                <a:solidFill>
                  <a:srgbClr val="F0AB00"/>
                </a:solidFill>
                <a:latin typeface="Arial"/>
              </a:rPr>
              <a:t>Главный приём:</a:t>
            </a:r>
          </a:p>
          <a:p>
            <a:pPr algn="l">
              <a:lnSpc>
                <a:spcPct val="120000"/>
              </a:lnSpc>
            </a:pPr>
            <a:r>
              <a:rPr sz="1300" b="0" i="1">
                <a:solidFill>
                  <a:srgbClr val="21295C"/>
                </a:solidFill>
                <a:latin typeface="Arial"/>
              </a:rPr>
              <a:t>Использовать Sakana для расширения покрытия (50 идей вместо 3), но финальный выбор и развитие — за человеком. Если AI отвергнут на любом шаге — переходим к PhD-руководителю.</a:t>
            </a:r>
          </a:p>
        </p:txBody>
      </p:sp>
      <p:sp>
        <p:nvSpPr>
          <p:cNvPr id="37" name="TextBox 36"/>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Sakana AI blog 2024-2025 · NSF AI Code of Conduct (январь 2024)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Sakana AI Scientist v2: 1 из 3 прошла. Истинная автономия — 1%.</a:t>
            </a:r>
          </a:p>
        </p:txBody>
      </p:sp>
      <p:pic>
        <p:nvPicPr>
          <p:cNvPr id="3" name="Picture 2" descr="s08-sakana.png"/>
          <p:cNvPicPr>
            <a:picLocks noChangeAspect="1"/>
          </p:cNvPicPr>
          <p:nvPr/>
        </p:nvPicPr>
        <p:blipFill>
          <a:blip r:embed="rId2"/>
          <a:stretch>
            <a:fillRect/>
          </a:stretch>
        </p:blipFill>
        <p:spPr>
          <a:xfrm>
            <a:off x="457200" y="1371600"/>
            <a:ext cx="4572000" cy="2286000"/>
          </a:xfrm>
          <a:prstGeom prst="rect">
            <a:avLst/>
          </a:prstGeom>
        </p:spPr>
      </p:pic>
      <p:sp>
        <p:nvSpPr>
          <p:cNvPr id="4" name="TextBox 3"/>
          <p:cNvSpPr txBox="1"/>
          <p:nvPr/>
        </p:nvSpPr>
        <p:spPr>
          <a:xfrm>
            <a:off x="457200" y="3749039"/>
            <a:ext cx="45720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 Sakana AI 2025 (sakana.ai/ai-scientist-v2)</a:t>
            </a:r>
          </a:p>
        </p:txBody>
      </p:sp>
      <p:sp>
        <p:nvSpPr>
          <p:cNvPr id="5" name="Rounded Rectangle 4"/>
          <p:cNvSpPr/>
          <p:nvPr/>
        </p:nvSpPr>
        <p:spPr>
          <a:xfrm>
            <a:off x="5486400" y="1371600"/>
            <a:ext cx="6245352" cy="24688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0" y="1508760"/>
            <a:ext cx="5879592" cy="2286000"/>
          </a:xfrm>
          <a:prstGeom prst="rect">
            <a:avLst/>
          </a:prstGeom>
          <a:noFill/>
        </p:spPr>
        <p:txBody>
          <a:bodyPr wrap="square" lIns="0" rIns="0" tIns="0" bIns="0" anchor="t">
            <a:spAutoFit/>
          </a:bodyPr>
          <a:lstStyle/>
          <a:p>
            <a:pPr algn="l">
              <a:lnSpc>
                <a:spcPct val="125000"/>
              </a:lnSpc>
            </a:pPr>
            <a:r>
              <a:rPr sz="1600" b="1" i="0">
                <a:solidFill>
                  <a:srgbClr val="21295C"/>
                </a:solidFill>
                <a:latin typeface="Arial"/>
              </a:rPr>
              <a:t>Три разные метрики «1 из 3»</a:t>
            </a:r>
          </a:p>
          <a:p>
            <a:pPr algn="l">
              <a:lnSpc>
                <a:spcPct val="125000"/>
              </a:lnSpc>
            </a:pPr>
            <a:r>
              <a:rPr sz="600" b="0" i="0">
                <a:solidFill>
                  <a:srgbClr val="21295C"/>
                </a:solidFill>
                <a:latin typeface="Arial"/>
              </a:rPr>
              <a:t/>
            </a:r>
          </a:p>
          <a:p>
            <a:pPr algn="l">
              <a:lnSpc>
                <a:spcPct val="125000"/>
              </a:lnSpc>
            </a:pPr>
            <a:r>
              <a:rPr sz="1300" b="1" i="0">
                <a:solidFill>
                  <a:srgbClr val="065A82"/>
                </a:solidFill>
                <a:latin typeface="Arial"/>
              </a:rPr>
              <a:t>Метрика 1 — отбор:</a:t>
            </a:r>
          </a:p>
          <a:p>
            <a:pPr algn="l">
              <a:lnSpc>
                <a:spcPct val="125000"/>
              </a:lnSpc>
            </a:pPr>
            <a:r>
              <a:rPr sz="1200" b="0" i="0">
                <a:solidFill>
                  <a:srgbClr val="21295C"/>
                </a:solidFill>
                <a:latin typeface="Arial"/>
              </a:rPr>
              <a:t>3% (3 из ~100) — человек отобрал лучшее</a:t>
            </a:r>
          </a:p>
          <a:p>
            <a:pPr algn="l">
              <a:lnSpc>
                <a:spcPct val="125000"/>
              </a:lnSpc>
            </a:pPr>
            <a:r>
              <a:rPr sz="1300" b="1" i="0">
                <a:solidFill>
                  <a:srgbClr val="065A82"/>
                </a:solidFill>
                <a:latin typeface="Arial"/>
              </a:rPr>
              <a:t>Метрика 2 — рецензирование:</a:t>
            </a:r>
          </a:p>
          <a:p>
            <a:pPr algn="l">
              <a:lnSpc>
                <a:spcPct val="125000"/>
              </a:lnSpc>
            </a:pPr>
            <a:r>
              <a:rPr sz="1200" b="0" i="0">
                <a:solidFill>
                  <a:srgbClr val="21295C"/>
                </a:solidFill>
                <a:latin typeface="Arial"/>
              </a:rPr>
              <a:t>33% (1 из 3) — приняты на ICLR workshop</a:t>
            </a:r>
          </a:p>
          <a:p>
            <a:pPr algn="l">
              <a:lnSpc>
                <a:spcPct val="125000"/>
              </a:lnSpc>
            </a:pPr>
            <a:r>
              <a:rPr sz="1300" b="1" i="0">
                <a:solidFill>
                  <a:srgbClr val="F0AB00"/>
                </a:solidFill>
                <a:latin typeface="Arial"/>
              </a:rPr>
              <a:t>Метрика 3 — истинная автономия:</a:t>
            </a:r>
          </a:p>
          <a:p>
            <a:pPr algn="l">
              <a:lnSpc>
                <a:spcPct val="125000"/>
              </a:lnSpc>
            </a:pPr>
            <a:r>
              <a:rPr sz="1400" b="1" i="0">
                <a:solidFill>
                  <a:srgbClr val="F0AB00"/>
                </a:solidFill>
                <a:latin typeface="Arial"/>
              </a:rPr>
              <a:t>1% (1 из ~100) — без ручного отбора лучших</a:t>
            </a:r>
          </a:p>
        </p:txBody>
      </p:sp>
      <p:sp>
        <p:nvSpPr>
          <p:cNvPr id="7" name="Rounded Rectangle 6"/>
          <p:cNvSpPr/>
          <p:nvPr/>
        </p:nvSpPr>
        <p:spPr>
          <a:xfrm>
            <a:off x="457200" y="4297680"/>
            <a:ext cx="11274552" cy="173736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434840"/>
            <a:ext cx="10789920" cy="1600200"/>
          </a:xfrm>
          <a:prstGeom prst="rect">
            <a:avLst/>
          </a:prstGeom>
          <a:noFill/>
        </p:spPr>
        <p:txBody>
          <a:bodyPr wrap="square" lIns="0" rIns="0" tIns="0" bIns="0" anchor="t">
            <a:spAutoFit/>
          </a:bodyPr>
          <a:lstStyle/>
          <a:p>
            <a:pPr algn="l">
              <a:lnSpc>
                <a:spcPct val="120000"/>
              </a:lnSpc>
            </a:pPr>
            <a:r>
              <a:rPr sz="1300" b="1" i="0">
                <a:solidFill>
                  <a:srgbClr val="F0AB00"/>
                </a:solidFill>
                <a:latin typeface="Arial"/>
              </a:rPr>
              <a:t>Что произошло на самом деле:</a:t>
            </a:r>
          </a:p>
          <a:p>
            <a:pPr algn="l">
              <a:lnSpc>
                <a:spcPct val="120000"/>
              </a:lnSpc>
            </a:pPr>
            <a:r>
              <a:rPr sz="500" b="0" i="0">
                <a:solidFill>
                  <a:srgbClr val="21295C"/>
                </a:solidFill>
                <a:latin typeface="Arial"/>
              </a:rPr>
              <a:t/>
            </a:r>
          </a:p>
          <a:p>
            <a:pPr algn="l">
              <a:lnSpc>
                <a:spcPct val="120000"/>
              </a:lnSpc>
            </a:pPr>
            <a:r>
              <a:rPr sz="1400" b="0" i="0">
                <a:solidFill>
                  <a:srgbClr val="21295C"/>
                </a:solidFill>
                <a:latin typeface="Arial"/>
              </a:rPr>
              <a:t>Sakana v2 (март 2025) сгенерировала около 100 черновиков статей.</a:t>
            </a:r>
          </a:p>
          <a:p>
            <a:pPr algn="l">
              <a:lnSpc>
                <a:spcPct val="120000"/>
              </a:lnSpc>
            </a:pPr>
            <a:r>
              <a:rPr sz="1400" b="0" i="0">
                <a:solidFill>
                  <a:srgbClr val="21295C"/>
                </a:solidFill>
                <a:latin typeface="Arial"/>
              </a:rPr>
              <a:t>Авторы вручную отобрали 3 лучших для подачи на ICLR workshop.</a:t>
            </a:r>
          </a:p>
          <a:p>
            <a:pPr algn="l">
              <a:lnSpc>
                <a:spcPct val="120000"/>
              </a:lnSpc>
            </a:pPr>
            <a:r>
              <a:rPr sz="1400" b="0" i="0">
                <a:solidFill>
                  <a:srgbClr val="21295C"/>
                </a:solidFill>
                <a:latin typeface="Arial"/>
              </a:rPr>
              <a:t>1 из 3 прошёл рецензирование. TechCrunch март 2025 уточнил: «значимый эффект ручного отбора лучших».</a:t>
            </a:r>
          </a:p>
          <a:p>
            <a:pPr algn="l">
              <a:lnSpc>
                <a:spcPct val="120000"/>
              </a:lnSpc>
            </a:pPr>
            <a:r>
              <a:rPr sz="1400" b="1" i="1">
                <a:solidFill>
                  <a:srgbClr val="F0AB00"/>
                </a:solidFill>
                <a:latin typeface="Arial"/>
              </a:rPr>
              <a:t>Это augmented черновик с тяжёлым человеческим фильтром — не автономная наука.</a:t>
            </a:r>
          </a:p>
        </p:txBody>
      </p:sp>
      <p:sp>
        <p:nvSpPr>
          <p:cNvPr id="9" name="TextBox 8"/>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Sakana blog 12 марта 2025 · TechCrunch 12 марта 2025 · Yamada et al. arxiv 2504.08066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Coscientist (CMU 2023) vs Co-Scientist (DeepMind 2026). Не путать.</a:t>
            </a:r>
          </a:p>
        </p:txBody>
      </p:sp>
      <p:sp>
        <p:nvSpPr>
          <p:cNvPr id="3" name="Rounded Rectangle 2"/>
          <p:cNvSpPr/>
          <p:nvPr/>
        </p:nvSpPr>
        <p:spPr>
          <a:xfrm>
            <a:off x="457200" y="1371600"/>
            <a:ext cx="5486400" cy="457200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5029200" cy="429768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Coscientist</a:t>
            </a:r>
          </a:p>
          <a:p>
            <a:pPr algn="l">
              <a:lnSpc>
                <a:spcPct val="118000"/>
              </a:lnSpc>
            </a:pPr>
            <a:r>
              <a:rPr sz="1300" b="0" i="1">
                <a:solidFill>
                  <a:srgbClr val="065A82"/>
                </a:solidFill>
                <a:latin typeface="Arial"/>
              </a:rPr>
              <a:t>Carnegie Mellon University · 2023</a:t>
            </a:r>
          </a:p>
          <a:p>
            <a:pPr algn="l">
              <a:lnSpc>
                <a:spcPct val="118000"/>
              </a:lnSpc>
            </a:pPr>
            <a:r>
              <a:rPr sz="800" b="0" i="0">
                <a:solidFill>
                  <a:srgbClr val="21295C"/>
                </a:solidFill>
                <a:latin typeface="Arial"/>
              </a:rPr>
              <a:t/>
            </a:r>
          </a:p>
          <a:p>
            <a:pPr algn="l">
              <a:lnSpc>
                <a:spcPct val="118000"/>
              </a:lnSpc>
            </a:pPr>
            <a:r>
              <a:rPr sz="1200" b="1" i="0">
                <a:solidFill>
                  <a:srgbClr val="065A82"/>
                </a:solidFill>
                <a:latin typeface="Arial"/>
              </a:rPr>
              <a:t>Стадия лестницы:</a:t>
            </a:r>
          </a:p>
          <a:p>
            <a:pPr algn="l">
              <a:lnSpc>
                <a:spcPct val="118000"/>
              </a:lnSpc>
            </a:pPr>
            <a:r>
              <a:rPr sz="1400" b="1" i="0">
                <a:solidFill>
                  <a:srgbClr val="21295C"/>
                </a:solidFill>
                <a:latin typeface="Arial"/>
              </a:rPr>
              <a:t>3 Experiment + 2 Design</a:t>
            </a:r>
          </a:p>
          <a:p>
            <a:pPr algn="l">
              <a:lnSpc>
                <a:spcPct val="118000"/>
              </a:lnSpc>
            </a:pPr>
            <a:r>
              <a:rPr sz="600" b="0" i="0">
                <a:solidFill>
                  <a:srgbClr val="21295C"/>
                </a:solidFill>
                <a:latin typeface="Arial"/>
              </a:rPr>
              <a:t/>
            </a:r>
          </a:p>
          <a:p>
            <a:pPr algn="l">
              <a:lnSpc>
                <a:spcPct val="118000"/>
              </a:lnSpc>
            </a:pPr>
            <a:r>
              <a:rPr sz="1200" b="1" i="0">
                <a:solidFill>
                  <a:srgbClr val="065A82"/>
                </a:solidFill>
                <a:latin typeface="Arial"/>
              </a:rPr>
              <a:t>Архитектура:</a:t>
            </a:r>
          </a:p>
          <a:p>
            <a:pPr algn="l">
              <a:lnSpc>
                <a:spcPct val="118000"/>
              </a:lnSpc>
            </a:pPr>
            <a:r>
              <a:rPr sz="1300" b="0" i="0">
                <a:solidFill>
                  <a:srgbClr val="21295C"/>
                </a:solidFill>
                <a:latin typeface="Arial"/>
              </a:rPr>
              <a:t>GPT-4 + Claude (оба, не один)</a:t>
            </a:r>
          </a:p>
          <a:p>
            <a:pPr algn="l">
              <a:lnSpc>
                <a:spcPct val="118000"/>
              </a:lnSpc>
            </a:pPr>
            <a:r>
              <a:rPr sz="1300" b="0" i="0">
                <a:solidFill>
                  <a:srgbClr val="21295C"/>
                </a:solidFill>
                <a:latin typeface="Arial"/>
              </a:rPr>
              <a:t>+ Python для контроля приборов</a:t>
            </a:r>
          </a:p>
          <a:p>
            <a:pPr algn="l">
              <a:lnSpc>
                <a:spcPct val="118000"/>
              </a:lnSpc>
            </a:pPr>
            <a:r>
              <a:rPr sz="600" b="0" i="0">
                <a:solidFill>
                  <a:srgbClr val="21295C"/>
                </a:solidFill>
                <a:latin typeface="Arial"/>
              </a:rPr>
              <a:t/>
            </a:r>
          </a:p>
          <a:p>
            <a:pPr algn="l">
              <a:lnSpc>
                <a:spcPct val="118000"/>
              </a:lnSpc>
            </a:pPr>
            <a:r>
              <a:rPr sz="1200" b="1" i="0">
                <a:solidFill>
                  <a:srgbClr val="065A82"/>
                </a:solidFill>
                <a:latin typeface="Arial"/>
              </a:rPr>
              <a:t>Задача:</a:t>
            </a:r>
          </a:p>
          <a:p>
            <a:pPr algn="l">
              <a:lnSpc>
                <a:spcPct val="118000"/>
              </a:lnSpc>
            </a:pPr>
            <a:r>
              <a:rPr sz="1300" b="0" i="0">
                <a:solidFill>
                  <a:srgbClr val="21295C"/>
                </a:solidFill>
                <a:latin typeface="Arial"/>
              </a:rPr>
              <a:t>Автоматический синтез</a:t>
            </a:r>
          </a:p>
          <a:p>
            <a:pPr algn="l">
              <a:lnSpc>
                <a:spcPct val="118000"/>
              </a:lnSpc>
            </a:pPr>
            <a:r>
              <a:rPr sz="1300" b="0" i="0">
                <a:solidFill>
                  <a:srgbClr val="21295C"/>
                </a:solidFill>
                <a:latin typeface="Arial"/>
              </a:rPr>
              <a:t>известных соединений</a:t>
            </a:r>
          </a:p>
          <a:p>
            <a:pPr algn="l">
              <a:lnSpc>
                <a:spcPct val="118000"/>
              </a:lnSpc>
            </a:pPr>
            <a:r>
              <a:rPr sz="1200" b="0" i="1">
                <a:solidFill>
                  <a:srgbClr val="6B7685"/>
                </a:solidFill>
                <a:latin typeface="Arial"/>
              </a:rPr>
              <a:t>(palladium-catalysed coupling)</a:t>
            </a:r>
          </a:p>
          <a:p>
            <a:pPr algn="l">
              <a:lnSpc>
                <a:spcPct val="118000"/>
              </a:lnSpc>
            </a:pPr>
            <a:r>
              <a:rPr sz="600" b="0" i="0">
                <a:solidFill>
                  <a:srgbClr val="21295C"/>
                </a:solidFill>
                <a:latin typeface="Arial"/>
              </a:rPr>
              <a:t/>
            </a:r>
          </a:p>
          <a:p>
            <a:pPr algn="l">
              <a:lnSpc>
                <a:spcPct val="118000"/>
              </a:lnSpc>
            </a:pPr>
            <a:r>
              <a:rPr sz="1200" b="1" i="0">
                <a:solidFill>
                  <a:srgbClr val="065A82"/>
                </a:solidFill>
                <a:latin typeface="Arial"/>
              </a:rPr>
              <a:t>Публикация:</a:t>
            </a:r>
          </a:p>
          <a:p>
            <a:pPr algn="l">
              <a:lnSpc>
                <a:spcPct val="118000"/>
              </a:lnSpc>
            </a:pPr>
            <a:r>
              <a:rPr sz="1300" b="0" i="0">
                <a:solidFill>
                  <a:srgbClr val="21295C"/>
                </a:solidFill>
                <a:latin typeface="Arial"/>
              </a:rPr>
              <a:t>Nature 624 (декабрь 2023)</a:t>
            </a:r>
          </a:p>
          <a:p>
            <a:pPr algn="l">
              <a:lnSpc>
                <a:spcPct val="118000"/>
              </a:lnSpc>
            </a:pPr>
            <a:r>
              <a:rPr sz="1200" b="0" i="1">
                <a:solidFill>
                  <a:srgbClr val="6B7685"/>
                </a:solidFill>
                <a:latin typeface="Arial"/>
              </a:rPr>
              <a:t>Boiko, MacKnight, Kline, Gomes</a:t>
            </a:r>
          </a:p>
        </p:txBody>
      </p:sp>
      <p:sp>
        <p:nvSpPr>
          <p:cNvPr id="5" name="Rounded Rectangle 4"/>
          <p:cNvSpPr/>
          <p:nvPr/>
        </p:nvSpPr>
        <p:spPr>
          <a:xfrm>
            <a:off x="6245352" y="1371600"/>
            <a:ext cx="5486400" cy="45720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19672" y="1554480"/>
            <a:ext cx="5029200" cy="429768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Co-Scientist</a:t>
            </a:r>
          </a:p>
          <a:p>
            <a:pPr algn="l">
              <a:lnSpc>
                <a:spcPct val="118000"/>
              </a:lnSpc>
            </a:pPr>
            <a:r>
              <a:rPr sz="1300" b="0" i="1">
                <a:solidFill>
                  <a:srgbClr val="065A82"/>
                </a:solidFill>
                <a:latin typeface="Arial"/>
              </a:rPr>
              <a:t>Google DeepMind · 2026</a:t>
            </a:r>
          </a:p>
          <a:p>
            <a:pPr algn="l">
              <a:lnSpc>
                <a:spcPct val="118000"/>
              </a:lnSpc>
            </a:pPr>
            <a:r>
              <a:rPr sz="800" b="0" i="0">
                <a:solidFill>
                  <a:srgbClr val="21295C"/>
                </a:solidFill>
                <a:latin typeface="Arial"/>
              </a:rPr>
              <a:t/>
            </a:r>
          </a:p>
          <a:p>
            <a:pPr algn="l">
              <a:lnSpc>
                <a:spcPct val="118000"/>
              </a:lnSpc>
            </a:pPr>
            <a:r>
              <a:rPr sz="1200" b="1" i="0">
                <a:solidFill>
                  <a:srgbClr val="065A82"/>
                </a:solidFill>
                <a:latin typeface="Arial"/>
              </a:rPr>
              <a:t>Стадия лестницы:</a:t>
            </a:r>
          </a:p>
          <a:p>
            <a:pPr algn="l">
              <a:lnSpc>
                <a:spcPct val="118000"/>
              </a:lnSpc>
            </a:pPr>
            <a:r>
              <a:rPr sz="1400" b="1" i="0">
                <a:solidFill>
                  <a:srgbClr val="21295C"/>
                </a:solidFill>
                <a:latin typeface="Arial"/>
              </a:rPr>
              <a:t>1 Hypothesis (формулирование)</a:t>
            </a:r>
          </a:p>
          <a:p>
            <a:pPr algn="l">
              <a:lnSpc>
                <a:spcPct val="118000"/>
              </a:lnSpc>
            </a:pPr>
            <a:r>
              <a:rPr sz="600" b="0" i="0">
                <a:solidFill>
                  <a:srgbClr val="21295C"/>
                </a:solidFill>
                <a:latin typeface="Arial"/>
              </a:rPr>
              <a:t/>
            </a:r>
          </a:p>
          <a:p>
            <a:pPr algn="l">
              <a:lnSpc>
                <a:spcPct val="118000"/>
              </a:lnSpc>
            </a:pPr>
            <a:r>
              <a:rPr sz="1200" b="1" i="0">
                <a:solidFill>
                  <a:srgbClr val="065A82"/>
                </a:solidFill>
                <a:latin typeface="Arial"/>
              </a:rPr>
              <a:t>Архитектура:</a:t>
            </a:r>
          </a:p>
          <a:p>
            <a:pPr algn="l">
              <a:lnSpc>
                <a:spcPct val="118000"/>
              </a:lnSpc>
            </a:pPr>
            <a:r>
              <a:rPr sz="1300" b="0" i="0">
                <a:solidFill>
                  <a:srgbClr val="21295C"/>
                </a:solidFill>
                <a:latin typeface="Arial"/>
              </a:rPr>
              <a:t>Multi-agent debate</a:t>
            </a:r>
          </a:p>
          <a:p>
            <a:pPr algn="l">
              <a:lnSpc>
                <a:spcPct val="118000"/>
              </a:lnSpc>
            </a:pPr>
            <a:r>
              <a:rPr sz="1300" b="0" i="0">
                <a:solidFill>
                  <a:srgbClr val="21295C"/>
                </a:solidFill>
                <a:latin typeface="Arial"/>
              </a:rPr>
              <a:t>(generator + critic + ranker)</a:t>
            </a:r>
          </a:p>
          <a:p>
            <a:pPr algn="l">
              <a:lnSpc>
                <a:spcPct val="118000"/>
              </a:lnSpc>
            </a:pPr>
            <a:r>
              <a:rPr sz="600" b="0" i="0">
                <a:solidFill>
                  <a:srgbClr val="21295C"/>
                </a:solidFill>
                <a:latin typeface="Arial"/>
              </a:rPr>
              <a:t/>
            </a:r>
          </a:p>
          <a:p>
            <a:pPr algn="l">
              <a:lnSpc>
                <a:spcPct val="118000"/>
              </a:lnSpc>
            </a:pPr>
            <a:r>
              <a:rPr sz="1200" b="1" i="0">
                <a:solidFill>
                  <a:srgbClr val="065A82"/>
                </a:solidFill>
                <a:latin typeface="Arial"/>
              </a:rPr>
              <a:t>Задача:</a:t>
            </a:r>
          </a:p>
          <a:p>
            <a:pPr algn="l">
              <a:lnSpc>
                <a:spcPct val="118000"/>
              </a:lnSpc>
            </a:pPr>
            <a:r>
              <a:rPr sz="1300" b="0" i="0">
                <a:solidFill>
                  <a:srgbClr val="21295C"/>
                </a:solidFill>
                <a:latin typeface="Arial"/>
              </a:rPr>
              <a:t>Формулировка гипотез</a:t>
            </a:r>
          </a:p>
          <a:p>
            <a:pPr algn="l">
              <a:lnSpc>
                <a:spcPct val="118000"/>
              </a:lnSpc>
            </a:pPr>
            <a:r>
              <a:rPr sz="1300" b="0" i="0">
                <a:solidFill>
                  <a:srgbClr val="21295C"/>
                </a:solidFill>
                <a:latin typeface="Arial"/>
              </a:rPr>
              <a:t>в биомедицине</a:t>
            </a:r>
          </a:p>
          <a:p>
            <a:pPr algn="l">
              <a:lnSpc>
                <a:spcPct val="118000"/>
              </a:lnSpc>
            </a:pPr>
            <a:r>
              <a:rPr sz="1200" b="0" i="1">
                <a:solidFill>
                  <a:srgbClr val="6B7685"/>
                </a:solidFill>
                <a:latin typeface="Arial"/>
              </a:rPr>
              <a:t>(drug repurposing, gene therapy)</a:t>
            </a:r>
          </a:p>
          <a:p>
            <a:pPr algn="l">
              <a:lnSpc>
                <a:spcPct val="118000"/>
              </a:lnSpc>
            </a:pPr>
            <a:r>
              <a:rPr sz="600" b="0" i="0">
                <a:solidFill>
                  <a:srgbClr val="21295C"/>
                </a:solidFill>
                <a:latin typeface="Arial"/>
              </a:rPr>
              <a:t/>
            </a:r>
          </a:p>
          <a:p>
            <a:pPr algn="l">
              <a:lnSpc>
                <a:spcPct val="118000"/>
              </a:lnSpc>
            </a:pPr>
            <a:r>
              <a:rPr sz="1200" b="1" i="0">
                <a:solidFill>
                  <a:srgbClr val="065A82"/>
                </a:solidFill>
                <a:latin typeface="Arial"/>
              </a:rPr>
              <a:t>Публикация:</a:t>
            </a:r>
          </a:p>
          <a:p>
            <a:pPr algn="l">
              <a:lnSpc>
                <a:spcPct val="118000"/>
              </a:lnSpc>
            </a:pPr>
            <a:r>
              <a:rPr sz="1300" b="0" i="0">
                <a:solidFill>
                  <a:srgbClr val="21295C"/>
                </a:solidFill>
                <a:latin typeface="Arial"/>
              </a:rPr>
              <a:t>DeepMind blog (май 2026)</a:t>
            </a:r>
          </a:p>
          <a:p>
            <a:pPr algn="l">
              <a:lnSpc>
                <a:spcPct val="118000"/>
              </a:lnSpc>
            </a:pPr>
            <a:r>
              <a:rPr sz="1200" b="0" i="1">
                <a:solidFill>
                  <a:srgbClr val="6B7685"/>
                </a:solidFill>
                <a:latin typeface="Arial"/>
              </a:rPr>
              <a:t>Nature submission (на момент лекции)</a:t>
            </a:r>
          </a:p>
        </p:txBody>
      </p:sp>
      <p:sp>
        <p:nvSpPr>
          <p:cNvPr id="7" name="TextBox 6"/>
          <p:cNvSpPr txBox="1"/>
          <p:nvPr/>
        </p:nvSpPr>
        <p:spPr>
          <a:xfrm>
            <a:off x="457200" y="6080760"/>
            <a:ext cx="11274552" cy="320040"/>
          </a:xfrm>
          <a:prstGeom prst="rect">
            <a:avLst/>
          </a:prstGeom>
          <a:noFill/>
        </p:spPr>
        <p:txBody>
          <a:bodyPr wrap="square" lIns="0" rIns="0" tIns="0" bIns="0" anchor="t">
            <a:spAutoFit/>
          </a:bodyPr>
          <a:lstStyle/>
          <a:p>
            <a:pPr algn="ctr">
              <a:lnSpc>
                <a:spcPct val="115000"/>
              </a:lnSpc>
            </a:pPr>
            <a:r>
              <a:rPr sz="1200" b="1" i="1">
                <a:solidFill>
                  <a:srgbClr val="F0AB00"/>
                </a:solidFill>
                <a:latin typeface="Arial"/>
              </a:rPr>
              <a:t>Одинаковое имя — две разные системы для двух разных ступеней лестницы. Маркетинг сливает; материал лекции — нет.</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Sakana пишет 100, человек отбирает 3, рецензент пропускает 1. Это расширение, не автономия.</a:t>
            </a:r>
          </a:p>
        </p:txBody>
      </p:sp>
      <p:pic>
        <p:nvPicPr>
          <p:cNvPr id="3" name="Picture 2" descr="s10-sakana-metrics.png"/>
          <p:cNvPicPr>
            <a:picLocks noChangeAspect="1"/>
          </p:cNvPicPr>
          <p:nvPr/>
        </p:nvPicPr>
        <p:blipFill>
          <a:blip r:embed="rId2"/>
          <a:stretch>
            <a:fillRect/>
          </a:stretch>
        </p:blipFill>
        <p:spPr>
          <a:xfrm>
            <a:off x="365760" y="1371600"/>
            <a:ext cx="5943600" cy="3291840"/>
          </a:xfrm>
          <a:prstGeom prst="rect">
            <a:avLst/>
          </a:prstGeom>
        </p:spPr>
      </p:pic>
      <p:sp>
        <p:nvSpPr>
          <p:cNvPr id="4" name="TextBox 3"/>
          <p:cNvSpPr txBox="1"/>
          <p:nvPr/>
        </p:nvSpPr>
        <p:spPr>
          <a:xfrm>
            <a:off x="365760" y="4709160"/>
            <a:ext cx="59436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 Sakana blog март 2025; Yamada et al. arxiv 2504.08066</a:t>
            </a:r>
          </a:p>
        </p:txBody>
      </p:sp>
      <p:sp>
        <p:nvSpPr>
          <p:cNvPr id="5" name="TextBox 4"/>
          <p:cNvSpPr txBox="1"/>
          <p:nvPr/>
        </p:nvSpPr>
        <p:spPr>
          <a:xfrm>
            <a:off x="6583680" y="1371600"/>
            <a:ext cx="5330952" cy="457200"/>
          </a:xfrm>
          <a:prstGeom prst="rect">
            <a:avLst/>
          </a:prstGeom>
          <a:noFill/>
        </p:spPr>
        <p:txBody>
          <a:bodyPr wrap="square" lIns="0" rIns="0" tIns="0" bIns="0" anchor="t">
            <a:spAutoFit/>
          </a:bodyPr>
          <a:lstStyle/>
          <a:p>
            <a:pPr algn="l">
              <a:lnSpc>
                <a:spcPct val="125000"/>
              </a:lnSpc>
            </a:pPr>
            <a:r>
              <a:rPr sz="1600" b="1" i="0">
                <a:solidFill>
                  <a:srgbClr val="21295C"/>
                </a:solidFill>
                <a:latin typeface="Arial"/>
              </a:rPr>
              <a:t>4 структурные проблемы Sakana:</a:t>
            </a:r>
          </a:p>
        </p:txBody>
      </p:sp>
      <p:sp>
        <p:nvSpPr>
          <p:cNvPr id="6" name="Rounded Rectangle 5"/>
          <p:cNvSpPr/>
          <p:nvPr/>
        </p:nvSpPr>
        <p:spPr>
          <a:xfrm>
            <a:off x="6583680" y="1920240"/>
            <a:ext cx="5330952" cy="6858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675120" y="2011680"/>
            <a:ext cx="502920" cy="50292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011680"/>
            <a:ext cx="502920" cy="502920"/>
          </a:xfrm>
          <a:prstGeom prst="rect">
            <a:avLst/>
          </a:prstGeom>
          <a:noFill/>
        </p:spPr>
        <p:txBody>
          <a:bodyPr wrap="square" lIns="0" rIns="0" tIns="0" bIns="0" anchor="ctr">
            <a:spAutoFit/>
          </a:bodyPr>
          <a:lstStyle/>
          <a:p>
            <a:pPr algn="ctr">
              <a:lnSpc>
                <a:spcPct val="115000"/>
              </a:lnSpc>
            </a:pPr>
            <a:r>
              <a:rPr sz="1600" b="1" i="0">
                <a:solidFill>
                  <a:srgbClr val="FFFFFF"/>
                </a:solidFill>
                <a:latin typeface="Arial"/>
              </a:rPr>
              <a:t>1</a:t>
            </a:r>
          </a:p>
        </p:txBody>
      </p:sp>
      <p:sp>
        <p:nvSpPr>
          <p:cNvPr id="9" name="TextBox 8"/>
          <p:cNvSpPr txBox="1"/>
          <p:nvPr/>
        </p:nvSpPr>
        <p:spPr>
          <a:xfrm>
            <a:off x="7315200" y="1965960"/>
            <a:ext cx="4526280" cy="64008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Отбор лучшего из 100 (cherry-pick / отбор)</a:t>
            </a:r>
          </a:p>
          <a:p>
            <a:pPr algn="l">
              <a:lnSpc>
                <a:spcPct val="115000"/>
              </a:lnSpc>
            </a:pPr>
            <a:r>
              <a:rPr sz="1000" b="0" i="1">
                <a:solidFill>
                  <a:srgbClr val="065A82"/>
                </a:solidFill>
                <a:latin typeface="Arial"/>
              </a:rPr>
              <a:t>100 → 3 человек отобрал — фильтр на входе</a:t>
            </a:r>
          </a:p>
        </p:txBody>
      </p:sp>
      <p:sp>
        <p:nvSpPr>
          <p:cNvPr id="10" name="Rounded Rectangle 9"/>
          <p:cNvSpPr/>
          <p:nvPr/>
        </p:nvSpPr>
        <p:spPr>
          <a:xfrm>
            <a:off x="6583680" y="2697480"/>
            <a:ext cx="5330952" cy="6858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75120" y="2788920"/>
            <a:ext cx="502920" cy="50292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2788920"/>
            <a:ext cx="502920" cy="502920"/>
          </a:xfrm>
          <a:prstGeom prst="rect">
            <a:avLst/>
          </a:prstGeom>
          <a:noFill/>
        </p:spPr>
        <p:txBody>
          <a:bodyPr wrap="square" lIns="0" rIns="0" tIns="0" bIns="0" anchor="ctr">
            <a:spAutoFit/>
          </a:bodyPr>
          <a:lstStyle/>
          <a:p>
            <a:pPr algn="ctr">
              <a:lnSpc>
                <a:spcPct val="115000"/>
              </a:lnSpc>
            </a:pPr>
            <a:r>
              <a:rPr sz="1600" b="1" i="0">
                <a:solidFill>
                  <a:srgbClr val="FFFFFF"/>
                </a:solidFill>
                <a:latin typeface="Arial"/>
              </a:rPr>
              <a:t>2</a:t>
            </a:r>
          </a:p>
        </p:txBody>
      </p:sp>
      <p:sp>
        <p:nvSpPr>
          <p:cNvPr id="13" name="TextBox 12"/>
          <p:cNvSpPr txBox="1"/>
          <p:nvPr/>
        </p:nvSpPr>
        <p:spPr>
          <a:xfrm>
            <a:off x="7315200" y="2743200"/>
            <a:ext cx="4526280" cy="64008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Галлюцинированные ссылки</a:t>
            </a:r>
          </a:p>
          <a:p>
            <a:pPr algn="l">
              <a:lnSpc>
                <a:spcPct val="115000"/>
              </a:lnSpc>
            </a:pPr>
            <a:r>
              <a:rPr sz="1000" b="0" i="1">
                <a:solidFill>
                  <a:srgbClr val="065A82"/>
                </a:solidFill>
                <a:latin typeface="Arial"/>
              </a:rPr>
              <a:t>Цитаты на несуществующие статьи в черновиках</a:t>
            </a:r>
          </a:p>
        </p:txBody>
      </p:sp>
      <p:sp>
        <p:nvSpPr>
          <p:cNvPr id="14" name="Rounded Rectangle 13"/>
          <p:cNvSpPr/>
          <p:nvPr/>
        </p:nvSpPr>
        <p:spPr>
          <a:xfrm>
            <a:off x="6583680" y="3474720"/>
            <a:ext cx="5330952" cy="6858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675120" y="3566160"/>
            <a:ext cx="502920" cy="50292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3566160"/>
            <a:ext cx="502920" cy="502920"/>
          </a:xfrm>
          <a:prstGeom prst="rect">
            <a:avLst/>
          </a:prstGeom>
          <a:noFill/>
        </p:spPr>
        <p:txBody>
          <a:bodyPr wrap="square" lIns="0" rIns="0" tIns="0" bIns="0" anchor="ctr">
            <a:spAutoFit/>
          </a:bodyPr>
          <a:lstStyle/>
          <a:p>
            <a:pPr algn="ctr">
              <a:lnSpc>
                <a:spcPct val="115000"/>
              </a:lnSpc>
            </a:pPr>
            <a:r>
              <a:rPr sz="1600" b="1" i="0">
                <a:solidFill>
                  <a:srgbClr val="FFFFFF"/>
                </a:solidFill>
                <a:latin typeface="Arial"/>
              </a:rPr>
              <a:t>3</a:t>
            </a:r>
          </a:p>
        </p:txBody>
      </p:sp>
      <p:sp>
        <p:nvSpPr>
          <p:cNvPr id="17" name="TextBox 16"/>
          <p:cNvSpPr txBox="1"/>
          <p:nvPr/>
        </p:nvSpPr>
        <p:spPr>
          <a:xfrm>
            <a:off x="7315200" y="3520439"/>
            <a:ext cx="4526280" cy="64008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Фальсифицированные результаты</a:t>
            </a:r>
          </a:p>
          <a:p>
            <a:pPr algn="l">
              <a:lnSpc>
                <a:spcPct val="115000"/>
              </a:lnSpc>
            </a:pPr>
            <a:r>
              <a:rPr sz="1000" b="0" i="1">
                <a:solidFill>
                  <a:srgbClr val="065A82"/>
                </a:solidFill>
                <a:latin typeface="Arial"/>
              </a:rPr>
              <a:t>Численные результаты не воспроизводятся</a:t>
            </a:r>
          </a:p>
        </p:txBody>
      </p:sp>
      <p:sp>
        <p:nvSpPr>
          <p:cNvPr id="18" name="Rounded Rectangle 17"/>
          <p:cNvSpPr/>
          <p:nvPr/>
        </p:nvSpPr>
        <p:spPr>
          <a:xfrm>
            <a:off x="6583680" y="4251960"/>
            <a:ext cx="5330952" cy="6858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675120" y="4343400"/>
            <a:ext cx="502920" cy="50292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4343400"/>
            <a:ext cx="502920" cy="502920"/>
          </a:xfrm>
          <a:prstGeom prst="rect">
            <a:avLst/>
          </a:prstGeom>
          <a:noFill/>
        </p:spPr>
        <p:txBody>
          <a:bodyPr wrap="square" lIns="0" rIns="0" tIns="0" bIns="0" anchor="ctr">
            <a:spAutoFit/>
          </a:bodyPr>
          <a:lstStyle/>
          <a:p>
            <a:pPr algn="ctr">
              <a:lnSpc>
                <a:spcPct val="115000"/>
              </a:lnSpc>
            </a:pPr>
            <a:r>
              <a:rPr sz="1600" b="1" i="0">
                <a:solidFill>
                  <a:srgbClr val="FFFFFF"/>
                </a:solidFill>
                <a:latin typeface="Arial"/>
              </a:rPr>
              <a:t>4</a:t>
            </a:r>
          </a:p>
        </p:txBody>
      </p:sp>
      <p:sp>
        <p:nvSpPr>
          <p:cNvPr id="21" name="TextBox 20"/>
          <p:cNvSpPr txBox="1"/>
          <p:nvPr/>
        </p:nvSpPr>
        <p:spPr>
          <a:xfrm>
            <a:off x="7315200" y="4297680"/>
            <a:ext cx="4526280" cy="64008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Преувеличенная новизна</a:t>
            </a:r>
          </a:p>
          <a:p>
            <a:pPr algn="l">
              <a:lnSpc>
                <a:spcPct val="115000"/>
              </a:lnSpc>
            </a:pPr>
            <a:r>
              <a:rPr sz="1000" b="0" i="1">
                <a:solidFill>
                  <a:srgbClr val="065A82"/>
                </a:solidFill>
                <a:latin typeface="Arial"/>
              </a:rPr>
              <a:t>Идеи повторяют уже опубликованное</a:t>
            </a:r>
          </a:p>
        </p:txBody>
      </p:sp>
      <p:sp>
        <p:nvSpPr>
          <p:cNvPr id="22" name="TextBox 21"/>
          <p:cNvSpPr txBox="1"/>
          <p:nvPr/>
        </p:nvSpPr>
        <p:spPr>
          <a:xfrm>
            <a:off x="457200" y="5120640"/>
            <a:ext cx="11274552" cy="914400"/>
          </a:xfrm>
          <a:prstGeom prst="rect">
            <a:avLst/>
          </a:prstGeom>
          <a:noFill/>
        </p:spPr>
        <p:txBody>
          <a:bodyPr wrap="square" lIns="0" rIns="0" tIns="0" bIns="0" anchor="ctr">
            <a:spAutoFit/>
          </a:bodyPr>
          <a:lstStyle/>
          <a:p>
            <a:pPr algn="ctr">
              <a:lnSpc>
                <a:spcPct val="115000"/>
              </a:lnSpc>
            </a:pPr>
            <a:r>
              <a:rPr sz="2000" b="1" i="1">
                <a:solidFill>
                  <a:srgbClr val="F0AB00"/>
                </a:solidFill>
                <a:latin typeface="Arial"/>
              </a:rPr>
              <a:t>1% — истинная доля автономной науки. 99% — расширение работы человека, не автоматизация.</a:t>
            </a:r>
          </a:p>
        </p:txBody>
      </p:sp>
      <p:sp>
        <p:nvSpPr>
          <p:cNvPr id="23" name="TextBox 22"/>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Урок для инженера: используйте Sakana как мозговой штурм с человеческим фильтром, никогда — как готовую статью.</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BO 40+ лет и GP 60+ лет: зрелая альтернатива, обгоняющая Sakana.</a:t>
            </a:r>
          </a:p>
        </p:txBody>
      </p:sp>
      <p:pic>
        <p:nvPicPr>
          <p:cNvPr id="3" name="Picture 2" descr="s11-bo-convergence.png"/>
          <p:cNvPicPr>
            <a:picLocks noChangeAspect="1"/>
          </p:cNvPicPr>
          <p:nvPr/>
        </p:nvPicPr>
        <p:blipFill>
          <a:blip r:embed="rId2"/>
          <a:stretch>
            <a:fillRect/>
          </a:stretch>
        </p:blipFill>
        <p:spPr>
          <a:xfrm>
            <a:off x="274320" y="1371600"/>
            <a:ext cx="6858000" cy="3840480"/>
          </a:xfrm>
          <a:prstGeom prst="rect">
            <a:avLst/>
          </a:prstGeom>
        </p:spPr>
      </p:pic>
      <p:sp>
        <p:nvSpPr>
          <p:cNvPr id="4" name="Rounded Rectangle 3"/>
          <p:cNvSpPr/>
          <p:nvPr/>
        </p:nvSpPr>
        <p:spPr>
          <a:xfrm>
            <a:off x="7315200" y="1371600"/>
            <a:ext cx="4572000" cy="384048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9" y="1554480"/>
            <a:ext cx="4206240" cy="3657600"/>
          </a:xfrm>
          <a:prstGeom prst="rect">
            <a:avLst/>
          </a:prstGeom>
          <a:noFill/>
        </p:spPr>
        <p:txBody>
          <a:bodyPr wrap="square" lIns="0" rIns="0" tIns="0" bIns="0" anchor="t">
            <a:spAutoFit/>
          </a:bodyPr>
          <a:lstStyle/>
          <a:p>
            <a:pPr algn="l">
              <a:lnSpc>
                <a:spcPct val="118000"/>
              </a:lnSpc>
            </a:pPr>
            <a:r>
              <a:rPr sz="1600" b="1" i="0">
                <a:solidFill>
                  <a:srgbClr val="21295C"/>
                </a:solidFill>
                <a:latin typeface="Arial"/>
              </a:rPr>
              <a:t>Что такое BO+GP?</a:t>
            </a:r>
          </a:p>
          <a:p>
            <a:pPr algn="l">
              <a:lnSpc>
                <a:spcPct val="118000"/>
              </a:lnSpc>
            </a:pPr>
            <a:r>
              <a:rPr sz="800" b="0" i="0">
                <a:solidFill>
                  <a:srgbClr val="21295C"/>
                </a:solidFill>
                <a:latin typeface="Arial"/>
              </a:rPr>
              <a:t/>
            </a:r>
          </a:p>
          <a:p>
            <a:pPr algn="l">
              <a:lnSpc>
                <a:spcPct val="118000"/>
              </a:lnSpc>
            </a:pPr>
            <a:r>
              <a:rPr sz="1300" b="1" i="0">
                <a:solidFill>
                  <a:srgbClr val="065A82"/>
                </a:solidFill>
                <a:latin typeface="Arial"/>
              </a:rPr>
              <a:t>BO = Bayesian Optimization</a:t>
            </a:r>
          </a:p>
          <a:p>
            <a:pPr algn="l">
              <a:lnSpc>
                <a:spcPct val="118000"/>
              </a:lnSpc>
            </a:pPr>
            <a:r>
              <a:rPr sz="1100" b="0" i="1">
                <a:solidFill>
                  <a:srgbClr val="6B7685"/>
                </a:solidFill>
                <a:latin typeface="Arial"/>
              </a:rPr>
              <a:t>Mockus 1989; Jones 1998</a:t>
            </a:r>
          </a:p>
          <a:p>
            <a:pPr algn="l">
              <a:lnSpc>
                <a:spcPct val="118000"/>
              </a:lnSpc>
            </a:pPr>
            <a:r>
              <a:rPr sz="600" b="0" i="0">
                <a:solidFill>
                  <a:srgbClr val="21295C"/>
                </a:solidFill>
                <a:latin typeface="Arial"/>
              </a:rPr>
              <a:t/>
            </a:r>
          </a:p>
          <a:p>
            <a:pPr algn="l">
              <a:lnSpc>
                <a:spcPct val="118000"/>
              </a:lnSpc>
            </a:pPr>
            <a:r>
              <a:rPr sz="1300" b="1" i="0">
                <a:solidFill>
                  <a:srgbClr val="065A82"/>
                </a:solidFill>
                <a:latin typeface="Arial"/>
              </a:rPr>
              <a:t>GP = Gaussian Process</a:t>
            </a:r>
          </a:p>
          <a:p>
            <a:pPr algn="l">
              <a:lnSpc>
                <a:spcPct val="118000"/>
              </a:lnSpc>
            </a:pPr>
            <a:r>
              <a:rPr sz="1100" b="0" i="1">
                <a:solidFill>
                  <a:srgbClr val="6B7685"/>
                </a:solidFill>
                <a:latin typeface="Arial"/>
              </a:rPr>
              <a:t>60+ лет в статистике</a:t>
            </a:r>
          </a:p>
          <a:p>
            <a:pPr algn="l">
              <a:lnSpc>
                <a:spcPct val="118000"/>
              </a:lnSpc>
            </a:pPr>
            <a:r>
              <a:rPr sz="800" b="0" i="0">
                <a:solidFill>
                  <a:srgbClr val="21295C"/>
                </a:solidFill>
                <a:latin typeface="Arial"/>
              </a:rPr>
              <a:t/>
            </a:r>
          </a:p>
          <a:p>
            <a:pPr algn="l">
              <a:lnSpc>
                <a:spcPct val="118000"/>
              </a:lnSpc>
            </a:pPr>
            <a:r>
              <a:rPr sz="1300" b="1" i="0">
                <a:solidFill>
                  <a:srgbClr val="F0AB00"/>
                </a:solidFill>
                <a:latin typeface="Arial"/>
              </a:rPr>
              <a:t>Прорывы 2020-2025:</a:t>
            </a:r>
          </a:p>
          <a:p>
            <a:pPr algn="l">
              <a:lnSpc>
                <a:spcPct val="118000"/>
              </a:lnSpc>
            </a:pPr>
            <a:r>
              <a:rPr sz="1100" b="0" i="0">
                <a:solidFill>
                  <a:srgbClr val="21295C"/>
                </a:solidFill>
                <a:latin typeface="Arial"/>
              </a:rPr>
              <a:t>• Shields et al. Nature 2021</a:t>
            </a:r>
          </a:p>
          <a:p>
            <a:pPr algn="l">
              <a:lnSpc>
                <a:spcPct val="118000"/>
              </a:lnSpc>
            </a:pPr>
            <a:r>
              <a:rPr sz="1000" b="0" i="1">
                <a:solidFill>
                  <a:srgbClr val="6B7685"/>
                </a:solidFill>
                <a:latin typeface="Arial"/>
              </a:rPr>
              <a:t>  Bayesian reaction opt.</a:t>
            </a:r>
          </a:p>
          <a:p>
            <a:pPr algn="l">
              <a:lnSpc>
                <a:spcPct val="118000"/>
              </a:lnSpc>
            </a:pPr>
            <a:r>
              <a:rPr sz="1100" b="0" i="0">
                <a:solidFill>
                  <a:srgbClr val="21295C"/>
                </a:solidFill>
                <a:latin typeface="Arial"/>
              </a:rPr>
              <a:t>• Self-driving labs MIT</a:t>
            </a:r>
          </a:p>
          <a:p>
            <a:pPr algn="l">
              <a:lnSpc>
                <a:spcPct val="118000"/>
              </a:lnSpc>
            </a:pPr>
            <a:r>
              <a:rPr sz="1000" b="0" i="1">
                <a:solidFill>
                  <a:srgbClr val="6B7685"/>
                </a:solidFill>
                <a:latin typeface="Arial"/>
              </a:rPr>
              <a:t>  ускорение 5-10× в материалах</a:t>
            </a:r>
          </a:p>
          <a:p>
            <a:pPr algn="l">
              <a:lnSpc>
                <a:spcPct val="118000"/>
              </a:lnSpc>
            </a:pPr>
            <a:r>
              <a:rPr sz="1100" b="0" i="0">
                <a:solidFill>
                  <a:srgbClr val="21295C"/>
                </a:solidFill>
                <a:latin typeface="Arial"/>
              </a:rPr>
              <a:t>• BoTorch, GPyTorch</a:t>
            </a:r>
          </a:p>
          <a:p>
            <a:pPr algn="l">
              <a:lnSpc>
                <a:spcPct val="118000"/>
              </a:lnSpc>
            </a:pPr>
            <a:r>
              <a:rPr sz="1000" b="0" i="1">
                <a:solidFill>
                  <a:srgbClr val="6B7685"/>
                </a:solidFill>
                <a:latin typeface="Arial"/>
              </a:rPr>
              <a:t>  open-source инструментарий</a:t>
            </a:r>
          </a:p>
        </p:txBody>
      </p:sp>
      <p:sp>
        <p:nvSpPr>
          <p:cNvPr id="6" name="Rounded Rectangle 5"/>
          <p:cNvSpPr/>
          <p:nvPr/>
        </p:nvSpPr>
        <p:spPr>
          <a:xfrm>
            <a:off x="274320" y="5349240"/>
            <a:ext cx="11640312" cy="822960"/>
          </a:xfrm>
          <a:prstGeom prst="roundRect">
            <a:avLst>
              <a:gd name="adj" fmla="val 10000"/>
            </a:avLst>
          </a:prstGeom>
          <a:solidFill>
            <a:srgbClr val="F4F7FA"/>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5440680"/>
            <a:ext cx="11274552" cy="685800"/>
          </a:xfrm>
          <a:prstGeom prst="rect">
            <a:avLst/>
          </a:prstGeom>
          <a:noFill/>
        </p:spPr>
        <p:txBody>
          <a:bodyPr wrap="square" lIns="0" rIns="0" tIns="0" bIns="0" anchor="ctr">
            <a:spAutoFit/>
          </a:bodyPr>
          <a:lstStyle/>
          <a:p>
            <a:pPr algn="l">
              <a:lnSpc>
                <a:spcPct val="115000"/>
              </a:lnSpc>
            </a:pPr>
            <a:r>
              <a:rPr sz="1300" b="1" i="1">
                <a:solidFill>
                  <a:srgbClr val="21295C"/>
                </a:solidFill>
                <a:latin typeface="Arial"/>
              </a:rPr>
              <a:t>Урок: «AI» в науке — не один путь. Зрелая байесовская оптимизация — это успех 40-летней давности с математической обоснованностью и ускорением 5-10× в реальных лабораториях.</a:t>
            </a:r>
          </a:p>
        </p:txBody>
      </p:sp>
      <p:sp>
        <p:nvSpPr>
          <p:cNvPr id="8" name="TextBox 7"/>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Mockus 1989 · Jones, Schonlau, Welch 1998 (EGO) · Shields et al. Nature 590 (2021)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457200" y="1371600"/>
            <a:ext cx="4572000" cy="2743200"/>
          </a:xfrm>
          <a:prstGeom prst="rect">
            <a:avLst/>
          </a:prstGeom>
          <a:noFill/>
        </p:spPr>
        <p:txBody>
          <a:bodyPr wrap="square" lIns="0" rIns="0" tIns="0" bIns="0" anchor="ctr">
            <a:spAutoFit/>
          </a:bodyPr>
          <a:lstStyle/>
          <a:p>
            <a:pPr algn="ctr">
              <a:lnSpc>
                <a:spcPct val="115000"/>
              </a:lnSpc>
            </a:pPr>
            <a:r>
              <a:rPr sz="20000" b="1" i="0">
                <a:solidFill>
                  <a:srgbClr val="F0AB00"/>
                </a:solidFill>
                <a:latin typeface="Arial"/>
              </a:rPr>
              <a:t>§2</a:t>
            </a:r>
          </a:p>
        </p:txBody>
      </p:sp>
      <p:sp>
        <p:nvSpPr>
          <p:cNvPr id="3" name="TextBox 2"/>
          <p:cNvSpPr txBox="1"/>
          <p:nvPr/>
        </p:nvSpPr>
        <p:spPr>
          <a:xfrm>
            <a:off x="5029200" y="1554480"/>
            <a:ext cx="6675120" cy="3657600"/>
          </a:xfrm>
          <a:prstGeom prst="rect">
            <a:avLst/>
          </a:prstGeom>
          <a:noFill/>
        </p:spPr>
        <p:txBody>
          <a:bodyPr wrap="square" lIns="0" rIns="0" tIns="0" bIns="0" anchor="t">
            <a:spAutoFit/>
          </a:bodyPr>
          <a:lstStyle/>
          <a:p>
            <a:pPr algn="l">
              <a:lnSpc>
                <a:spcPct val="120000"/>
              </a:lnSpc>
            </a:pPr>
            <a:r>
              <a:rPr sz="2200" b="1" i="0">
                <a:solidFill>
                  <a:srgbClr val="065A82"/>
                </a:solidFill>
                <a:latin typeface="Arial"/>
              </a:rPr>
              <a:t>Раздел 2</a:t>
            </a:r>
          </a:p>
          <a:p>
            <a:pPr algn="l">
              <a:lnSpc>
                <a:spcPct val="120000"/>
              </a:lnSpc>
            </a:pPr>
            <a:r>
              <a:rPr sz="4200" b="1" i="0">
                <a:solidFill>
                  <a:srgbClr val="21295C"/>
                </a:solidFill>
                <a:latin typeface="Arial"/>
              </a:rPr>
              <a:t>Experiment</a:t>
            </a:r>
          </a:p>
          <a:p>
            <a:pPr algn="l">
              <a:lnSpc>
                <a:spcPct val="120000"/>
              </a:lnSpc>
            </a:pPr>
            <a:r>
              <a:rPr sz="2600" b="0" i="1">
                <a:solidFill>
                  <a:srgbClr val="1C7293"/>
                </a:solidFill>
                <a:latin typeface="Arial"/>
              </a:rPr>
              <a:t>Эксперимент</a:t>
            </a:r>
          </a:p>
          <a:p>
            <a:pPr algn="l">
              <a:lnSpc>
                <a:spcPct val="120000"/>
              </a:lnSpc>
            </a:pPr>
            <a:r>
              <a:rPr sz="1200" b="0" i="0">
                <a:solidFill>
                  <a:srgbClr val="21295C"/>
                </a:solidFill>
                <a:latin typeface="Arial"/>
              </a:rPr>
              <a:t/>
            </a:r>
          </a:p>
          <a:p>
            <a:pPr algn="l">
              <a:lnSpc>
                <a:spcPct val="120000"/>
              </a:lnSpc>
            </a:pPr>
            <a:r>
              <a:rPr sz="1800" b="0" i="0">
                <a:solidFill>
                  <a:srgbClr val="21295C"/>
                </a:solidFill>
                <a:latin typeface="Arial"/>
              </a:rPr>
              <a:t>Прорывы нобелевского уровня</a:t>
            </a:r>
          </a:p>
          <a:p>
            <a:pPr algn="l">
              <a:lnSpc>
                <a:spcPct val="120000"/>
              </a:lnSpc>
            </a:pPr>
            <a:r>
              <a:rPr sz="1800" b="1" i="1">
                <a:solidFill>
                  <a:srgbClr val="F0AB00"/>
                </a:solidFill>
                <a:latin typeface="Arial"/>
              </a:rPr>
              <a:t>и их трещины.</a:t>
            </a:r>
          </a:p>
        </p:txBody>
      </p:sp>
      <p:sp>
        <p:nvSpPr>
          <p:cNvPr id="4" name="Rounded Rectangle 3"/>
          <p:cNvSpPr/>
          <p:nvPr/>
        </p:nvSpPr>
        <p:spPr>
          <a:xfrm>
            <a:off x="5029200" y="5120640"/>
            <a:ext cx="2039112" cy="365760"/>
          </a:xfrm>
          <a:prstGeom prst="roundRect">
            <a:avLst>
              <a:gd name="adj" fmla="val 10000"/>
            </a:avLst>
          </a:prstGeom>
          <a:solidFill>
            <a:srgbClr val="F0AB00"/>
          </a:solidFill>
          <a:ln>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0" y="5120640"/>
            <a:ext cx="2039112"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AlphaFold + Нобель</a:t>
            </a:r>
          </a:p>
        </p:txBody>
      </p:sp>
      <p:sp>
        <p:nvSpPr>
          <p:cNvPr id="6" name="Rounded Rectangle 5"/>
          <p:cNvSpPr/>
          <p:nvPr/>
        </p:nvSpPr>
        <p:spPr>
          <a:xfrm>
            <a:off x="7141464" y="5120640"/>
            <a:ext cx="1536192" cy="365760"/>
          </a:xfrm>
          <a:prstGeom prst="roundRect">
            <a:avLst>
              <a:gd name="adj" fmla="val 10000"/>
            </a:avLst>
          </a:prstGeom>
          <a:solidFill>
            <a:srgbClr val="028090"/>
          </a:solidFill>
          <a:ln>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41464" y="5120640"/>
            <a:ext cx="1536192"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GNoME / A-Lab</a:t>
            </a:r>
          </a:p>
        </p:txBody>
      </p:sp>
      <p:sp>
        <p:nvSpPr>
          <p:cNvPr id="8" name="Rounded Rectangle 7"/>
          <p:cNvSpPr/>
          <p:nvPr/>
        </p:nvSpPr>
        <p:spPr>
          <a:xfrm>
            <a:off x="8750808" y="5120640"/>
            <a:ext cx="1435608" cy="365760"/>
          </a:xfrm>
          <a:prstGeom prst="roundRect">
            <a:avLst>
              <a:gd name="adj" fmla="val 10000"/>
            </a:avLst>
          </a:prstGeom>
          <a:solidFill>
            <a:srgbClr val="1C7293"/>
          </a:solidFill>
          <a:ln>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50808" y="5120640"/>
            <a:ext cx="1435608"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Aurora 5000×</a:t>
            </a:r>
          </a:p>
        </p:txBody>
      </p:sp>
      <p:sp>
        <p:nvSpPr>
          <p:cNvPr id="10" name="Rounded Rectangle 9"/>
          <p:cNvSpPr/>
          <p:nvPr/>
        </p:nvSpPr>
        <p:spPr>
          <a:xfrm>
            <a:off x="10259568" y="5120640"/>
            <a:ext cx="1636776" cy="365760"/>
          </a:xfrm>
          <a:prstGeom prst="roundRect">
            <a:avLst>
              <a:gd name="adj" fmla="val 10000"/>
            </a:avLst>
          </a:prstGeom>
          <a:solidFill>
            <a:srgbClr val="065A82"/>
          </a:solidFill>
          <a:ln>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59568" y="5120640"/>
            <a:ext cx="1636776"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AlphaProof IMO</a:t>
            </a:r>
          </a:p>
        </p:txBody>
      </p:sp>
      <p:sp>
        <p:nvSpPr>
          <p:cNvPr id="12" name="TextBox 11"/>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Лестница цикла · ступень 3 · 4 working cases · 3 трещины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AlphaFold 3 — 8 мая 2024. Нобель — 9 октября 2024. Каскад: $12B.</a:t>
            </a:r>
          </a:p>
        </p:txBody>
      </p:sp>
      <p:pic>
        <p:nvPicPr>
          <p:cNvPr id="3" name="Picture 2" descr="s13-hassabis-nobel.jpg"/>
          <p:cNvPicPr>
            <a:picLocks noChangeAspect="1"/>
          </p:cNvPicPr>
          <p:nvPr/>
        </p:nvPicPr>
        <p:blipFill>
          <a:blip r:embed="rId2"/>
          <a:stretch>
            <a:fillRect/>
          </a:stretch>
        </p:blipFill>
        <p:spPr>
          <a:xfrm>
            <a:off x="457200" y="1371600"/>
            <a:ext cx="2286000" cy="2560320"/>
          </a:xfrm>
          <a:prstGeom prst="rect">
            <a:avLst/>
          </a:prstGeom>
        </p:spPr>
      </p:pic>
      <p:sp>
        <p:nvSpPr>
          <p:cNvPr id="4" name="TextBox 3"/>
          <p:cNvSpPr txBox="1"/>
          <p:nvPr/>
        </p:nvSpPr>
        <p:spPr>
          <a:xfrm>
            <a:off x="457200" y="3931920"/>
            <a:ext cx="2286000" cy="27432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Демис Хассабис</a:t>
            </a:r>
          </a:p>
        </p:txBody>
      </p:sp>
      <p:sp>
        <p:nvSpPr>
          <p:cNvPr id="5" name="TextBox 4"/>
          <p:cNvSpPr txBox="1"/>
          <p:nvPr/>
        </p:nvSpPr>
        <p:spPr>
          <a:xfrm>
            <a:off x="457200" y="4206240"/>
            <a:ext cx="2286000" cy="27432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DeepMind</a:t>
            </a:r>
          </a:p>
        </p:txBody>
      </p:sp>
      <p:pic>
        <p:nvPicPr>
          <p:cNvPr id="6" name="Picture 5" descr="s13-baker-nobel.jpg"/>
          <p:cNvPicPr>
            <a:picLocks noChangeAspect="1"/>
          </p:cNvPicPr>
          <p:nvPr/>
        </p:nvPicPr>
        <p:blipFill>
          <a:blip r:embed="rId3"/>
          <a:stretch>
            <a:fillRect/>
          </a:stretch>
        </p:blipFill>
        <p:spPr>
          <a:xfrm>
            <a:off x="2926080" y="1371600"/>
            <a:ext cx="2286000" cy="2560320"/>
          </a:xfrm>
          <a:prstGeom prst="rect">
            <a:avLst/>
          </a:prstGeom>
        </p:spPr>
      </p:pic>
      <p:sp>
        <p:nvSpPr>
          <p:cNvPr id="7" name="TextBox 6"/>
          <p:cNvSpPr txBox="1"/>
          <p:nvPr/>
        </p:nvSpPr>
        <p:spPr>
          <a:xfrm>
            <a:off x="2926080" y="3931920"/>
            <a:ext cx="2286000" cy="27432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Дэвид Бейкер</a:t>
            </a:r>
          </a:p>
        </p:txBody>
      </p:sp>
      <p:sp>
        <p:nvSpPr>
          <p:cNvPr id="8" name="TextBox 7"/>
          <p:cNvSpPr txBox="1"/>
          <p:nvPr/>
        </p:nvSpPr>
        <p:spPr>
          <a:xfrm>
            <a:off x="2926080" y="4206240"/>
            <a:ext cx="2286000" cy="27432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University of Washington</a:t>
            </a:r>
          </a:p>
        </p:txBody>
      </p:sp>
      <p:pic>
        <p:nvPicPr>
          <p:cNvPr id="9" name="Picture 8" descr="s13-alphafold3-frame.png"/>
          <p:cNvPicPr>
            <a:picLocks noChangeAspect="1"/>
          </p:cNvPicPr>
          <p:nvPr/>
        </p:nvPicPr>
        <p:blipFill>
          <a:blip r:embed="rId4"/>
          <a:stretch>
            <a:fillRect/>
          </a:stretch>
        </p:blipFill>
        <p:spPr>
          <a:xfrm>
            <a:off x="5394960" y="1371600"/>
            <a:ext cx="2926080" cy="2743200"/>
          </a:xfrm>
          <a:prstGeom prst="rect">
            <a:avLst/>
          </a:prstGeom>
        </p:spPr>
      </p:pic>
      <p:sp>
        <p:nvSpPr>
          <p:cNvPr id="10" name="TextBox 9"/>
          <p:cNvSpPr txBox="1"/>
          <p:nvPr/>
        </p:nvSpPr>
        <p:spPr>
          <a:xfrm>
            <a:off x="5394960" y="4114800"/>
            <a:ext cx="2926080" cy="27432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Послойное предсказание AlphaFold 3</a:t>
            </a:r>
          </a:p>
        </p:txBody>
      </p:sp>
      <p:sp>
        <p:nvSpPr>
          <p:cNvPr id="11" name="Rounded Rectangle 10"/>
          <p:cNvSpPr/>
          <p:nvPr/>
        </p:nvSpPr>
        <p:spPr>
          <a:xfrm>
            <a:off x="8503920" y="1371600"/>
            <a:ext cx="3291840" cy="27432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0" y="1508760"/>
            <a:ext cx="2926080" cy="256032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Хронология:</a:t>
            </a:r>
          </a:p>
          <a:p>
            <a:pPr algn="l">
              <a:lnSpc>
                <a:spcPct val="115000"/>
              </a:lnSpc>
            </a:pPr>
            <a:r>
              <a:rPr sz="400" b="0" i="0">
                <a:solidFill>
                  <a:srgbClr val="21295C"/>
                </a:solidFill>
                <a:latin typeface="Arial"/>
              </a:rPr>
              <a:t/>
            </a:r>
          </a:p>
          <a:p>
            <a:pPr algn="l">
              <a:lnSpc>
                <a:spcPct val="115000"/>
              </a:lnSpc>
            </a:pPr>
            <a:r>
              <a:rPr sz="1100" b="1" i="0">
                <a:solidFill>
                  <a:srgbClr val="065A82"/>
                </a:solidFill>
                <a:latin typeface="Arial"/>
              </a:rPr>
              <a:t>декабрь 2021</a:t>
            </a:r>
          </a:p>
          <a:p>
            <a:pPr algn="l">
              <a:lnSpc>
                <a:spcPct val="115000"/>
              </a:lnSpc>
            </a:pPr>
            <a:r>
              <a:rPr sz="1100" b="0" i="0">
                <a:solidFill>
                  <a:srgbClr val="21295C"/>
                </a:solidFill>
                <a:latin typeface="Arial"/>
              </a:rPr>
              <a:t>Recursion + Roche — $150M upfront</a:t>
            </a:r>
          </a:p>
          <a:p>
            <a:pPr algn="l">
              <a:lnSpc>
                <a:spcPct val="115000"/>
              </a:lnSpc>
            </a:pPr>
            <a:r>
              <a:rPr sz="1000" b="0" i="1">
                <a:solidFill>
                  <a:srgbClr val="6B7685"/>
                </a:solidFill>
                <a:latin typeface="Arial"/>
              </a:rPr>
              <a:t>до 40 программ × &gt;$300M = до $12B</a:t>
            </a:r>
          </a:p>
          <a:p>
            <a:pPr algn="l">
              <a:lnSpc>
                <a:spcPct val="115000"/>
              </a:lnSpc>
            </a:pPr>
            <a:r>
              <a:rPr sz="600" b="0" i="0">
                <a:solidFill>
                  <a:srgbClr val="21295C"/>
                </a:solidFill>
                <a:latin typeface="Arial"/>
              </a:rPr>
              <a:t/>
            </a:r>
          </a:p>
          <a:p>
            <a:pPr algn="l">
              <a:lnSpc>
                <a:spcPct val="115000"/>
              </a:lnSpc>
            </a:pPr>
            <a:r>
              <a:rPr sz="1100" b="1" i="0">
                <a:solidFill>
                  <a:srgbClr val="065A82"/>
                </a:solidFill>
                <a:latin typeface="Arial"/>
              </a:rPr>
              <a:t>8 мая 2024</a:t>
            </a:r>
          </a:p>
          <a:p>
            <a:pPr algn="l">
              <a:lnSpc>
                <a:spcPct val="115000"/>
              </a:lnSpc>
            </a:pPr>
            <a:r>
              <a:rPr sz="1100" b="0" i="0">
                <a:solidFill>
                  <a:srgbClr val="21295C"/>
                </a:solidFill>
                <a:latin typeface="Arial"/>
              </a:rPr>
              <a:t>AlphaFold 3 / Isomorphic Labs</a:t>
            </a:r>
          </a:p>
          <a:p>
            <a:pPr algn="l">
              <a:lnSpc>
                <a:spcPct val="115000"/>
              </a:lnSpc>
            </a:pPr>
            <a:r>
              <a:rPr sz="1000" b="0" i="1">
                <a:solidFill>
                  <a:srgbClr val="6B7685"/>
                </a:solidFill>
                <a:latin typeface="Arial"/>
              </a:rPr>
              <a:t>Nature 630, статья 06792</a:t>
            </a:r>
          </a:p>
          <a:p>
            <a:pPr algn="l">
              <a:lnSpc>
                <a:spcPct val="115000"/>
              </a:lnSpc>
            </a:pPr>
            <a:r>
              <a:rPr sz="600" b="0" i="0">
                <a:solidFill>
                  <a:srgbClr val="21295C"/>
                </a:solidFill>
                <a:latin typeface="Arial"/>
              </a:rPr>
              <a:t/>
            </a:r>
          </a:p>
          <a:p>
            <a:pPr algn="l">
              <a:lnSpc>
                <a:spcPct val="115000"/>
              </a:lnSpc>
            </a:pPr>
            <a:r>
              <a:rPr sz="1200" b="1" i="0">
                <a:solidFill>
                  <a:srgbClr val="F0AB00"/>
                </a:solidFill>
                <a:latin typeface="Arial"/>
              </a:rPr>
              <a:t>9 октября 2024</a:t>
            </a:r>
          </a:p>
          <a:p>
            <a:pPr algn="l">
              <a:lnSpc>
                <a:spcPct val="115000"/>
              </a:lnSpc>
            </a:pPr>
            <a:r>
              <a:rPr sz="1200" b="1" i="0">
                <a:solidFill>
                  <a:srgbClr val="21295C"/>
                </a:solidFill>
                <a:latin typeface="Arial"/>
              </a:rPr>
              <a:t>Нобелевская премия по химии</a:t>
            </a:r>
          </a:p>
          <a:p>
            <a:pPr algn="l">
              <a:lnSpc>
                <a:spcPct val="115000"/>
              </a:lnSpc>
            </a:pPr>
            <a:r>
              <a:rPr sz="1000" b="0" i="1">
                <a:solidFill>
                  <a:srgbClr val="6B7685"/>
                </a:solidFill>
                <a:latin typeface="Arial"/>
              </a:rPr>
              <a:t>Hassabis + Jumper + Baker</a:t>
            </a:r>
          </a:p>
        </p:txBody>
      </p:sp>
      <p:sp>
        <p:nvSpPr>
          <p:cNvPr id="13" name="Rounded Rectangle 12"/>
          <p:cNvSpPr/>
          <p:nvPr/>
        </p:nvSpPr>
        <p:spPr>
          <a:xfrm>
            <a:off x="457200" y="5029200"/>
            <a:ext cx="11274552" cy="109728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120640"/>
            <a:ext cx="10789920" cy="960120"/>
          </a:xfrm>
          <a:prstGeom prst="rect">
            <a:avLst/>
          </a:prstGeom>
          <a:noFill/>
        </p:spPr>
        <p:txBody>
          <a:bodyPr wrap="square" lIns="0" rIns="0" tIns="0" bIns="0" anchor="t">
            <a:spAutoFit/>
          </a:bodyPr>
          <a:lstStyle/>
          <a:p>
            <a:pPr algn="l">
              <a:lnSpc>
                <a:spcPct val="120000"/>
              </a:lnSpc>
            </a:pPr>
            <a:r>
              <a:rPr sz="1300" b="1" i="0">
                <a:solidFill>
                  <a:srgbClr val="065A82"/>
                </a:solidFill>
                <a:latin typeface="Arial"/>
              </a:rPr>
              <a:t>Каскад нобелевской премии:</a:t>
            </a:r>
          </a:p>
          <a:p>
            <a:pPr algn="l">
              <a:lnSpc>
                <a:spcPct val="120000"/>
              </a:lnSpc>
            </a:pPr>
            <a:r>
              <a:rPr sz="1300" b="0" i="1">
                <a:solidFill>
                  <a:srgbClr val="21295C"/>
                </a:solidFill>
                <a:latin typeface="Arial"/>
              </a:rPr>
              <a:t>AlphaFold — первая в истории Нобелевская премия по фундаментальной науке за конкретный AI-продукт. 13 лет от научной публикации до Нобеля — рекордно короткий цикл.</a:t>
            </a:r>
          </a:p>
        </p:txBody>
      </p:sp>
      <p:sp>
        <p:nvSpPr>
          <p:cNvPr id="15" name="TextBox 14"/>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 Nobel Foundation 2024 + © DeepMind/Isomorphic Labs 2024 · Recursion 8-K SEC dec 2021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200M структур vs 200K в PDB. 1000× — но AlphaFold 3 был закрыт.</a:t>
            </a:r>
          </a:p>
        </p:txBody>
      </p:sp>
      <p:pic>
        <p:nvPicPr>
          <p:cNvPr id="3" name="Picture 2" descr="s14-alphafold-ribbon.png"/>
          <p:cNvPicPr>
            <a:picLocks noChangeAspect="1"/>
          </p:cNvPicPr>
          <p:nvPr/>
        </p:nvPicPr>
        <p:blipFill>
          <a:blip r:embed="rId2"/>
          <a:stretch>
            <a:fillRect/>
          </a:stretch>
        </p:blipFill>
        <p:spPr>
          <a:xfrm>
            <a:off x="274320" y="1371600"/>
            <a:ext cx="5486400" cy="3657600"/>
          </a:xfrm>
          <a:prstGeom prst="rect">
            <a:avLst/>
          </a:prstGeom>
        </p:spPr>
      </p:pic>
      <p:sp>
        <p:nvSpPr>
          <p:cNvPr id="4" name="TextBox 3"/>
          <p:cNvSpPr txBox="1"/>
          <p:nvPr/>
        </p:nvSpPr>
        <p:spPr>
          <a:xfrm>
            <a:off x="274320" y="5074920"/>
            <a:ext cx="54864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AlphaFold 2 ribbon (Wikimedia CC-BY-SA) · alphafold.ebi.ac.uk</a:t>
            </a:r>
          </a:p>
        </p:txBody>
      </p:sp>
      <p:sp>
        <p:nvSpPr>
          <p:cNvPr id="5" name="Rounded Rectangle 4"/>
          <p:cNvSpPr/>
          <p:nvPr/>
        </p:nvSpPr>
        <p:spPr>
          <a:xfrm>
            <a:off x="6126480" y="1371600"/>
            <a:ext cx="5760720" cy="182880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0" y="1554480"/>
            <a:ext cx="5394960" cy="1691640"/>
          </a:xfrm>
          <a:prstGeom prst="rect">
            <a:avLst/>
          </a:prstGeom>
          <a:noFill/>
        </p:spPr>
        <p:txBody>
          <a:bodyPr wrap="square" lIns="0" rIns="0" tIns="0" bIns="0" anchor="t">
            <a:spAutoFit/>
          </a:bodyPr>
          <a:lstStyle/>
          <a:p>
            <a:pPr algn="l">
              <a:lnSpc>
                <a:spcPct val="120000"/>
              </a:lnSpc>
            </a:pPr>
            <a:r>
              <a:rPr sz="1300" b="1" i="0">
                <a:solidFill>
                  <a:srgbClr val="065A82"/>
                </a:solidFill>
                <a:latin typeface="Arial"/>
              </a:rPr>
              <a:t>Масштаб ускорения:</a:t>
            </a:r>
          </a:p>
          <a:p>
            <a:pPr algn="l">
              <a:lnSpc>
                <a:spcPct val="120000"/>
              </a:lnSpc>
            </a:pPr>
            <a:r>
              <a:rPr sz="400" b="0" i="0">
                <a:solidFill>
                  <a:srgbClr val="21295C"/>
                </a:solidFill>
                <a:latin typeface="Arial"/>
              </a:rPr>
              <a:t/>
            </a:r>
          </a:p>
          <a:p>
            <a:pPr algn="l">
              <a:lnSpc>
                <a:spcPct val="120000"/>
              </a:lnSpc>
            </a:pPr>
            <a:r>
              <a:rPr sz="1300" b="0" i="0">
                <a:solidFill>
                  <a:srgbClr val="21295C"/>
                </a:solidFill>
                <a:latin typeface="Arial"/>
              </a:rPr>
              <a:t>PDB (1971-): 200 тысяч структур за 53 года</a:t>
            </a:r>
          </a:p>
          <a:p>
            <a:pPr algn="l">
              <a:lnSpc>
                <a:spcPct val="120000"/>
              </a:lnSpc>
            </a:pPr>
            <a:r>
              <a:rPr sz="1400" b="1" i="0">
                <a:solidFill>
                  <a:srgbClr val="F0AB00"/>
                </a:solidFill>
                <a:latin typeface="Arial"/>
              </a:rPr>
              <a:t>AlphaFold DB (2021-): 200 миллионов за 4 года</a:t>
            </a:r>
          </a:p>
          <a:p>
            <a:pPr algn="l">
              <a:lnSpc>
                <a:spcPct val="120000"/>
              </a:lnSpc>
            </a:pPr>
            <a:r>
              <a:rPr sz="1700" b="1" i="1">
                <a:solidFill>
                  <a:srgbClr val="F0AB00"/>
                </a:solidFill>
                <a:latin typeface="Arial"/>
              </a:rPr>
              <a:t>Ускорение — 1000×</a:t>
            </a:r>
          </a:p>
          <a:p>
            <a:pPr algn="l">
              <a:lnSpc>
                <a:spcPct val="120000"/>
              </a:lnSpc>
            </a:pPr>
            <a:r>
              <a:rPr sz="1100" b="0" i="1">
                <a:solidFill>
                  <a:srgbClr val="6B7685"/>
                </a:solidFill>
                <a:latin typeface="Arial"/>
              </a:rPr>
              <a:t>(каждая известная белковая последовательность из UniProt)</a:t>
            </a:r>
          </a:p>
        </p:txBody>
      </p:sp>
      <p:sp>
        <p:nvSpPr>
          <p:cNvPr id="7" name="Rounded Rectangle 6"/>
          <p:cNvSpPr/>
          <p:nvPr/>
        </p:nvSpPr>
        <p:spPr>
          <a:xfrm>
            <a:off x="6126480" y="3383280"/>
            <a:ext cx="5760720" cy="23774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3520440"/>
            <a:ext cx="5394960" cy="219456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Открытый код — дискуссия:</a:t>
            </a:r>
          </a:p>
          <a:p>
            <a:pPr algn="l">
              <a:lnSpc>
                <a:spcPct val="115000"/>
              </a:lnSpc>
            </a:pPr>
            <a:r>
              <a:rPr sz="400" b="0" i="0">
                <a:solidFill>
                  <a:srgbClr val="21295C"/>
                </a:solidFill>
                <a:latin typeface="Arial"/>
              </a:rPr>
              <a:t/>
            </a:r>
          </a:p>
          <a:p>
            <a:pPr algn="l">
              <a:lnSpc>
                <a:spcPct val="115000"/>
              </a:lnSpc>
            </a:pPr>
            <a:r>
              <a:rPr sz="1100" b="1" i="0">
                <a:solidFill>
                  <a:srgbClr val="065A82"/>
                </a:solidFill>
                <a:latin typeface="Arial"/>
              </a:rPr>
              <a:t>8 мая 2024</a:t>
            </a:r>
          </a:p>
          <a:p>
            <a:pPr algn="l">
              <a:lnSpc>
                <a:spcPct val="115000"/>
              </a:lnSpc>
            </a:pPr>
            <a:r>
              <a:rPr sz="1200" b="0" i="0">
                <a:solidFill>
                  <a:srgbClr val="21295C"/>
                </a:solidFill>
                <a:latin typeface="Arial"/>
              </a:rPr>
              <a:t>AlphaFold 3 — закрытая (только сервер Isomorphic)</a:t>
            </a:r>
          </a:p>
          <a:p>
            <a:pPr algn="l">
              <a:lnSpc>
                <a:spcPct val="115000"/>
              </a:lnSpc>
            </a:pPr>
            <a:r>
              <a:rPr sz="400" b="0" i="0">
                <a:solidFill>
                  <a:srgbClr val="21295C"/>
                </a:solidFill>
                <a:latin typeface="Arial"/>
              </a:rPr>
              <a:t/>
            </a:r>
          </a:p>
          <a:p>
            <a:pPr algn="l">
              <a:lnSpc>
                <a:spcPct val="115000"/>
              </a:lnSpc>
            </a:pPr>
            <a:r>
              <a:rPr sz="1100" b="1" i="0">
                <a:solidFill>
                  <a:srgbClr val="065A82"/>
                </a:solidFill>
                <a:latin typeface="Arial"/>
              </a:rPr>
              <a:t>ноябрь 2024</a:t>
            </a:r>
          </a:p>
          <a:p>
            <a:pPr algn="l">
              <a:lnSpc>
                <a:spcPct val="115000"/>
              </a:lnSpc>
            </a:pPr>
            <a:r>
              <a:rPr sz="1200" b="0" i="0">
                <a:solidFill>
                  <a:srgbClr val="21295C"/>
                </a:solidFill>
                <a:latin typeface="Arial"/>
              </a:rPr>
              <a:t>Открытое письмо 1000+ учёных</a:t>
            </a:r>
          </a:p>
          <a:p>
            <a:pPr algn="l">
              <a:lnSpc>
                <a:spcPct val="115000"/>
              </a:lnSpc>
            </a:pPr>
            <a:r>
              <a:rPr sz="1100" b="0" i="1">
                <a:solidFill>
                  <a:srgbClr val="6B7685"/>
                </a:solidFill>
                <a:latin typeface="Arial"/>
              </a:rPr>
              <a:t>«Невоспроизводимая наука для академии»</a:t>
            </a:r>
          </a:p>
          <a:p>
            <a:pPr algn="l">
              <a:lnSpc>
                <a:spcPct val="115000"/>
              </a:lnSpc>
            </a:pPr>
            <a:r>
              <a:rPr sz="400" b="0" i="0">
                <a:solidFill>
                  <a:srgbClr val="21295C"/>
                </a:solidFill>
                <a:latin typeface="Arial"/>
              </a:rPr>
              <a:t/>
            </a:r>
          </a:p>
          <a:p>
            <a:pPr algn="l">
              <a:lnSpc>
                <a:spcPct val="115000"/>
              </a:lnSpc>
            </a:pPr>
            <a:r>
              <a:rPr sz="1100" b="1" i="0">
                <a:solidFill>
                  <a:srgbClr val="065A82"/>
                </a:solidFill>
                <a:latin typeface="Arial"/>
              </a:rPr>
              <a:t>ноябрь 2024 → февраль 2025</a:t>
            </a:r>
          </a:p>
          <a:p>
            <a:pPr algn="l">
              <a:lnSpc>
                <a:spcPct val="115000"/>
              </a:lnSpc>
            </a:pPr>
            <a:r>
              <a:rPr sz="1200" b="0" i="0">
                <a:solidFill>
                  <a:srgbClr val="21295C"/>
                </a:solidFill>
                <a:latin typeface="Arial"/>
              </a:rPr>
              <a:t>Академический доступ → публичный некоммерческий</a:t>
            </a:r>
          </a:p>
        </p:txBody>
      </p:sp>
      <p:sp>
        <p:nvSpPr>
          <p:cNvPr id="9" name="TextBox 8"/>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alphafold.ebi.ac.uk · Nature 2024-2025 · Nature News editorial ноябрь 2024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Boltz-1 — открытый конкурент AlphaFold 3. К концу 2025 — догнал.</a:t>
            </a:r>
          </a:p>
        </p:txBody>
      </p:sp>
      <p:pic>
        <p:nvPicPr>
          <p:cNvPr id="3" name="Picture 2" descr="s15-boltz-vs-af3.png"/>
          <p:cNvPicPr>
            <a:picLocks noChangeAspect="1"/>
          </p:cNvPicPr>
          <p:nvPr/>
        </p:nvPicPr>
        <p:blipFill>
          <a:blip r:embed="rId2"/>
          <a:stretch>
            <a:fillRect/>
          </a:stretch>
        </p:blipFill>
        <p:spPr>
          <a:xfrm>
            <a:off x="365760" y="1371600"/>
            <a:ext cx="6858000" cy="3840480"/>
          </a:xfrm>
          <a:prstGeom prst="rect">
            <a:avLst/>
          </a:prstGeom>
        </p:spPr>
      </p:pic>
      <p:sp>
        <p:nvSpPr>
          <p:cNvPr id="4" name="Rounded Rectangle 3"/>
          <p:cNvSpPr/>
          <p:nvPr/>
        </p:nvSpPr>
        <p:spPr>
          <a:xfrm>
            <a:off x="7315200" y="1371600"/>
            <a:ext cx="4572000" cy="384048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9" y="1554480"/>
            <a:ext cx="4206240" cy="365760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Хронология:</a:t>
            </a:r>
          </a:p>
          <a:p>
            <a:pPr algn="l">
              <a:lnSpc>
                <a:spcPct val="115000"/>
              </a:lnSpc>
            </a:pPr>
            <a:r>
              <a:rPr sz="400" b="0" i="0">
                <a:solidFill>
                  <a:srgbClr val="21295C"/>
                </a:solidFill>
                <a:latin typeface="Arial"/>
              </a:rPr>
              <a:t/>
            </a:r>
          </a:p>
          <a:p>
            <a:pPr algn="l">
              <a:lnSpc>
                <a:spcPct val="115000"/>
              </a:lnSpc>
            </a:pPr>
            <a:r>
              <a:rPr sz="1100" b="1" i="0">
                <a:solidFill>
                  <a:srgbClr val="065A82"/>
                </a:solidFill>
                <a:latin typeface="Arial"/>
              </a:rPr>
              <a:t>декабрь 2024</a:t>
            </a:r>
          </a:p>
          <a:p>
            <a:pPr algn="l">
              <a:lnSpc>
                <a:spcPct val="115000"/>
              </a:lnSpc>
            </a:pPr>
            <a:r>
              <a:rPr sz="1200" b="0" i="0">
                <a:solidFill>
                  <a:srgbClr val="21295C"/>
                </a:solidFill>
                <a:latin typeface="Arial"/>
              </a:rPr>
              <a:t>Boltz-1 — MIT</a:t>
            </a:r>
          </a:p>
          <a:p>
            <a:pPr algn="l">
              <a:lnSpc>
                <a:spcPct val="115000"/>
              </a:lnSpc>
            </a:pPr>
            <a:r>
              <a:rPr sz="1000" b="0" i="1">
                <a:solidFill>
                  <a:srgbClr val="6B7685"/>
                </a:solidFill>
                <a:latin typeface="Arial"/>
              </a:rPr>
              <a:t>Wohlwend, Corso et al.</a:t>
            </a:r>
          </a:p>
          <a:p>
            <a:pPr algn="l">
              <a:lnSpc>
                <a:spcPct val="115000"/>
              </a:lnSpc>
            </a:pPr>
            <a:r>
              <a:rPr sz="1100" b="0" i="0">
                <a:solidFill>
                  <a:srgbClr val="21295C"/>
                </a:solidFill>
                <a:latin typeface="Arial"/>
              </a:rPr>
              <a:t>Полностью открытый код + веса</a:t>
            </a:r>
          </a:p>
          <a:p>
            <a:pPr algn="l">
              <a:lnSpc>
                <a:spcPct val="115000"/>
              </a:lnSpc>
            </a:pPr>
            <a:r>
              <a:rPr sz="600" b="0" i="0">
                <a:solidFill>
                  <a:srgbClr val="21295C"/>
                </a:solidFill>
                <a:latin typeface="Arial"/>
              </a:rPr>
              <a:t/>
            </a:r>
          </a:p>
          <a:p>
            <a:pPr algn="l">
              <a:lnSpc>
                <a:spcPct val="115000"/>
              </a:lnSpc>
            </a:pPr>
            <a:r>
              <a:rPr sz="1100" b="1" i="0">
                <a:solidFill>
                  <a:srgbClr val="065A82"/>
                </a:solidFill>
                <a:latin typeface="Arial"/>
              </a:rPr>
              <a:t>осень 2025</a:t>
            </a:r>
          </a:p>
          <a:p>
            <a:pPr algn="l">
              <a:lnSpc>
                <a:spcPct val="115000"/>
              </a:lnSpc>
            </a:pPr>
            <a:r>
              <a:rPr sz="1200" b="0" i="0">
                <a:solidFill>
                  <a:srgbClr val="21295C"/>
                </a:solidFill>
                <a:latin typeface="Arial"/>
              </a:rPr>
              <a:t>Boltz-2 → почти-AlphaFold 3</a:t>
            </a:r>
          </a:p>
          <a:p>
            <a:pPr algn="l">
              <a:lnSpc>
                <a:spcPct val="115000"/>
              </a:lnSpc>
            </a:pPr>
            <a:r>
              <a:rPr sz="1000" b="0" i="1">
                <a:solidFill>
                  <a:srgbClr val="6B7685"/>
                </a:solidFill>
                <a:latin typeface="Arial"/>
              </a:rPr>
              <a:t>в академическом внедрении</a:t>
            </a:r>
          </a:p>
          <a:p>
            <a:pPr algn="l">
              <a:lnSpc>
                <a:spcPct val="115000"/>
              </a:lnSpc>
            </a:pPr>
            <a:r>
              <a:rPr sz="600" b="0" i="0">
                <a:solidFill>
                  <a:srgbClr val="21295C"/>
                </a:solidFill>
                <a:latin typeface="Arial"/>
              </a:rPr>
              <a:t/>
            </a:r>
          </a:p>
          <a:p>
            <a:pPr algn="l">
              <a:lnSpc>
                <a:spcPct val="115000"/>
              </a:lnSpc>
            </a:pPr>
            <a:r>
              <a:rPr sz="1200" b="1" i="0">
                <a:solidFill>
                  <a:srgbClr val="F0AB00"/>
                </a:solidFill>
                <a:latin typeface="Arial"/>
              </a:rPr>
              <a:t>Закономерность повторяется:</a:t>
            </a:r>
          </a:p>
          <a:p>
            <a:pPr algn="l">
              <a:lnSpc>
                <a:spcPct val="115000"/>
              </a:lnSpc>
            </a:pPr>
            <a:r>
              <a:rPr sz="1000" b="0" i="0">
                <a:solidFill>
                  <a:srgbClr val="21295C"/>
                </a:solidFill>
                <a:latin typeface="Arial"/>
              </a:rPr>
              <a:t>• Stable Diffusion vs DALL-E 2</a:t>
            </a:r>
          </a:p>
          <a:p>
            <a:pPr algn="l">
              <a:lnSpc>
                <a:spcPct val="115000"/>
              </a:lnSpc>
            </a:pPr>
            <a:r>
              <a:rPr sz="1000" b="0" i="0">
                <a:solidFill>
                  <a:srgbClr val="21295C"/>
                </a:solidFill>
                <a:latin typeface="Arial"/>
              </a:rPr>
              <a:t>• LLaMA vs GPT-4</a:t>
            </a:r>
          </a:p>
          <a:p>
            <a:pPr algn="l">
              <a:lnSpc>
                <a:spcPct val="115000"/>
              </a:lnSpc>
            </a:pPr>
            <a:r>
              <a:rPr sz="1000" b="0" i="0">
                <a:solidFill>
                  <a:srgbClr val="21295C"/>
                </a:solidFill>
                <a:latin typeface="Arial"/>
              </a:rPr>
              <a:t>• Boltz vs AlphaFold 3</a:t>
            </a:r>
          </a:p>
          <a:p>
            <a:pPr algn="l">
              <a:lnSpc>
                <a:spcPct val="115000"/>
              </a:lnSpc>
            </a:pPr>
            <a:r>
              <a:rPr sz="400" b="0" i="0">
                <a:solidFill>
                  <a:srgbClr val="21295C"/>
                </a:solidFill>
                <a:latin typeface="Arial"/>
              </a:rPr>
              <a:t/>
            </a:r>
          </a:p>
          <a:p>
            <a:pPr algn="l">
              <a:lnSpc>
                <a:spcPct val="115000"/>
              </a:lnSpc>
            </a:pPr>
            <a:r>
              <a:rPr sz="1000" b="0" i="1">
                <a:solidFill>
                  <a:srgbClr val="065A82"/>
                </a:solidFill>
                <a:latin typeface="Arial"/>
              </a:rPr>
              <a:t>Если достаточно хороша —</a:t>
            </a:r>
          </a:p>
          <a:p>
            <a:pPr algn="l">
              <a:lnSpc>
                <a:spcPct val="115000"/>
              </a:lnSpc>
            </a:pPr>
            <a:r>
              <a:rPr sz="1100" b="1" i="0">
                <a:solidFill>
                  <a:srgbClr val="F0AB00"/>
                </a:solidFill>
                <a:latin typeface="Arial"/>
              </a:rPr>
              <a:t>открытая обгоняет закрытую.</a:t>
            </a:r>
          </a:p>
        </p:txBody>
      </p:sp>
      <p:sp>
        <p:nvSpPr>
          <p:cNvPr id="6" name="TextBox 5"/>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Corso, Wohlwend et al. biorxiv 2024.11.19.624167 (Boltz-1) · Wohlwend et al. biorxiv 2025 (Boltz-2)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GNoME 380 тысяч стабильных. A-Lab 41 из 58 за 17 дней.</a:t>
            </a:r>
          </a:p>
        </p:txBody>
      </p:sp>
      <p:pic>
        <p:nvPicPr>
          <p:cNvPr id="3" name="Picture 2" descr="s16-gnome-alab.png"/>
          <p:cNvPicPr>
            <a:picLocks noChangeAspect="1"/>
          </p:cNvPicPr>
          <p:nvPr/>
        </p:nvPicPr>
        <p:blipFill>
          <a:blip r:embed="rId2"/>
          <a:stretch>
            <a:fillRect/>
          </a:stretch>
        </p:blipFill>
        <p:spPr>
          <a:xfrm>
            <a:off x="365760" y="1371600"/>
            <a:ext cx="6858000" cy="3200400"/>
          </a:xfrm>
          <a:prstGeom prst="rect">
            <a:avLst/>
          </a:prstGeom>
        </p:spPr>
      </p:pic>
      <p:sp>
        <p:nvSpPr>
          <p:cNvPr id="4" name="Rounded Rectangle 3"/>
          <p:cNvSpPr/>
          <p:nvPr/>
        </p:nvSpPr>
        <p:spPr>
          <a:xfrm>
            <a:off x="7315200" y="1371600"/>
            <a:ext cx="4572000" cy="320040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9" y="1508760"/>
            <a:ext cx="4206240" cy="3017520"/>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Архитектура GNoME:</a:t>
            </a:r>
          </a:p>
          <a:p>
            <a:pPr algn="l">
              <a:lnSpc>
                <a:spcPct val="115000"/>
              </a:lnSpc>
            </a:pPr>
            <a:r>
              <a:rPr sz="1100" b="0" i="0">
                <a:solidFill>
                  <a:srgbClr val="21295C"/>
                </a:solidFill>
                <a:latin typeface="Arial"/>
              </a:rPr>
              <a:t>Графовая нейросеть (GNN)</a:t>
            </a:r>
          </a:p>
          <a:p>
            <a:pPr algn="l">
              <a:lnSpc>
                <a:spcPct val="115000"/>
              </a:lnSpc>
            </a:pPr>
            <a:r>
              <a:rPr sz="1100" b="1" i="0">
                <a:solidFill>
                  <a:srgbClr val="F0AB00"/>
                </a:solidFill>
                <a:latin typeface="Arial"/>
              </a:rPr>
              <a:t>+ 6 раундов активного обучения</a:t>
            </a:r>
          </a:p>
          <a:p>
            <a:pPr algn="l">
              <a:lnSpc>
                <a:spcPct val="115000"/>
              </a:lnSpc>
            </a:pPr>
            <a:r>
              <a:rPr sz="1000" b="0" i="1">
                <a:solidFill>
                  <a:srgbClr val="6B7685"/>
                </a:solidFill>
                <a:latin typeface="Arial"/>
              </a:rPr>
              <a:t>(выбор кандидатов на следующий раунд)</a:t>
            </a:r>
          </a:p>
          <a:p>
            <a:pPr algn="l">
              <a:lnSpc>
                <a:spcPct val="115000"/>
              </a:lnSpc>
            </a:pPr>
            <a:r>
              <a:rPr sz="600" b="0" i="0">
                <a:solidFill>
                  <a:srgbClr val="21295C"/>
                </a:solidFill>
                <a:latin typeface="Arial"/>
              </a:rPr>
              <a:t/>
            </a:r>
          </a:p>
          <a:p>
            <a:pPr algn="l">
              <a:lnSpc>
                <a:spcPct val="115000"/>
              </a:lnSpc>
            </a:pPr>
            <a:r>
              <a:rPr sz="1300" b="1" i="0">
                <a:solidFill>
                  <a:srgbClr val="065A82"/>
                </a:solidFill>
                <a:latin typeface="Arial"/>
              </a:rPr>
              <a:t>Масштаб vs альтернатив:</a:t>
            </a:r>
          </a:p>
          <a:p>
            <a:pPr algn="l">
              <a:lnSpc>
                <a:spcPct val="115000"/>
              </a:lnSpc>
            </a:pPr>
            <a:r>
              <a:rPr sz="1100" b="0" i="0">
                <a:solidFill>
                  <a:srgbClr val="21295C"/>
                </a:solidFill>
                <a:latin typeface="Arial"/>
              </a:rPr>
              <a:t>• Materials Project — 48k</a:t>
            </a:r>
          </a:p>
          <a:p>
            <a:pPr algn="l">
              <a:lnSpc>
                <a:spcPct val="115000"/>
              </a:lnSpc>
            </a:pPr>
            <a:r>
              <a:rPr sz="1100" b="0" i="0">
                <a:solidFill>
                  <a:srgbClr val="21295C"/>
                </a:solidFill>
                <a:latin typeface="Arial"/>
              </a:rPr>
              <a:t>• Open Quantum Materials — 60k</a:t>
            </a:r>
          </a:p>
          <a:p>
            <a:pPr algn="l">
              <a:lnSpc>
                <a:spcPct val="115000"/>
              </a:lnSpc>
            </a:pPr>
            <a:r>
              <a:rPr sz="1100" b="1" i="0">
                <a:solidFill>
                  <a:srgbClr val="F0AB00"/>
                </a:solidFill>
                <a:latin typeface="Arial"/>
              </a:rPr>
              <a:t>• GNoME — 380k стабильных</a:t>
            </a:r>
          </a:p>
          <a:p>
            <a:pPr algn="l">
              <a:lnSpc>
                <a:spcPct val="115000"/>
              </a:lnSpc>
            </a:pPr>
            <a:r>
              <a:rPr sz="1000" b="0" i="1">
                <a:solidFill>
                  <a:srgbClr val="6B7685"/>
                </a:solidFill>
                <a:latin typeface="Arial"/>
              </a:rPr>
              <a:t>  (44× больше Materials Project)</a:t>
            </a:r>
          </a:p>
          <a:p>
            <a:pPr algn="l">
              <a:lnSpc>
                <a:spcPct val="115000"/>
              </a:lnSpc>
            </a:pPr>
            <a:r>
              <a:rPr sz="600" b="0" i="0">
                <a:solidFill>
                  <a:srgbClr val="21295C"/>
                </a:solidFill>
                <a:latin typeface="Arial"/>
              </a:rPr>
              <a:t/>
            </a:r>
          </a:p>
          <a:p>
            <a:pPr algn="l">
              <a:lnSpc>
                <a:spcPct val="115000"/>
              </a:lnSpc>
            </a:pPr>
            <a:r>
              <a:rPr sz="1300" b="1" i="0">
                <a:solidFill>
                  <a:srgbClr val="065A82"/>
                </a:solidFill>
                <a:latin typeface="Arial"/>
              </a:rPr>
              <a:t>A-Lab Berkeley (Цеймански):</a:t>
            </a:r>
          </a:p>
          <a:p>
            <a:pPr algn="l">
              <a:lnSpc>
                <a:spcPct val="115000"/>
              </a:lnSpc>
            </a:pPr>
            <a:r>
              <a:rPr sz="1100" b="0" i="0">
                <a:solidFill>
                  <a:srgbClr val="21295C"/>
                </a:solidFill>
                <a:latin typeface="Arial"/>
              </a:rPr>
              <a:t>58 кандидатов из GNoME</a:t>
            </a:r>
          </a:p>
          <a:p>
            <a:pPr algn="l">
              <a:lnSpc>
                <a:spcPct val="115000"/>
              </a:lnSpc>
            </a:pPr>
            <a:r>
              <a:rPr sz="1100" b="0" i="0">
                <a:solidFill>
                  <a:srgbClr val="21295C"/>
                </a:solidFill>
                <a:latin typeface="Arial"/>
              </a:rPr>
              <a:t>17 дней автономный синтез</a:t>
            </a:r>
          </a:p>
          <a:p>
            <a:pPr algn="l">
              <a:lnSpc>
                <a:spcPct val="115000"/>
              </a:lnSpc>
            </a:pPr>
            <a:r>
              <a:rPr sz="1200" b="1" i="0">
                <a:solidFill>
                  <a:srgbClr val="F0AB00"/>
                </a:solidFill>
                <a:latin typeface="Arial"/>
              </a:rPr>
              <a:t>41 из 58 успешно (71%)</a:t>
            </a:r>
          </a:p>
        </p:txBody>
      </p:sp>
      <p:sp>
        <p:nvSpPr>
          <p:cNvPr id="6" name="Rounded Rectangle 5"/>
          <p:cNvSpPr/>
          <p:nvPr/>
        </p:nvSpPr>
        <p:spPr>
          <a:xfrm>
            <a:off x="365760" y="4709160"/>
            <a:ext cx="11548872" cy="13716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846320"/>
            <a:ext cx="10972800" cy="1188720"/>
          </a:xfrm>
          <a:prstGeom prst="rect">
            <a:avLst/>
          </a:prstGeom>
          <a:noFill/>
        </p:spPr>
        <p:txBody>
          <a:bodyPr wrap="square" lIns="0" rIns="0" tIns="0" bIns="0" anchor="t">
            <a:spAutoFit/>
          </a:bodyPr>
          <a:lstStyle/>
          <a:p>
            <a:pPr algn="l">
              <a:lnSpc>
                <a:spcPct val="120000"/>
              </a:lnSpc>
            </a:pPr>
            <a:r>
              <a:rPr sz="1300" b="1" i="0">
                <a:solidFill>
                  <a:srgbClr val="F0AB00"/>
                </a:solidFill>
                <a:latin typeface="Arial"/>
              </a:rPr>
              <a:t>Что это значит:</a:t>
            </a:r>
          </a:p>
          <a:p>
            <a:pPr algn="l">
              <a:lnSpc>
                <a:spcPct val="120000"/>
              </a:lnSpc>
            </a:pPr>
            <a:r>
              <a:rPr sz="1300" b="0" i="1">
                <a:solidFill>
                  <a:srgbClr val="21295C"/>
                </a:solidFill>
                <a:latin typeface="Arial"/>
              </a:rPr>
              <a:t>GNoME — графовая нейросеть с 6 раундами активного обучения предсказала 380 тысяч стабильных материалов — в 44 раза больше Materials Project. A-Lab Berkeley синтезировал 41 из 58 кандидатов автономно за 17 дней. Это самый быстрый темп открытия материалов в истории.</a:t>
            </a:r>
          </a:p>
        </p:txBody>
      </p:sp>
      <p:sp>
        <p:nvSpPr>
          <p:cNvPr id="8" name="TextBox 7"/>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Merchant et al. Nature 2023 (GNoME) · Szymanski et al. Nature 2023 (A-Lab)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Палгрейв и Шуп проверили 36 проб A-Lab. 35 содержали ошибки.</a:t>
            </a:r>
          </a:p>
        </p:txBody>
      </p:sp>
      <p:pic>
        <p:nvPicPr>
          <p:cNvPr id="3" name="Picture 2" descr="s17-palgrave.png"/>
          <p:cNvPicPr>
            <a:picLocks noChangeAspect="1"/>
          </p:cNvPicPr>
          <p:nvPr/>
        </p:nvPicPr>
        <p:blipFill>
          <a:blip r:embed="rId2"/>
          <a:stretch>
            <a:fillRect/>
          </a:stretch>
        </p:blipFill>
        <p:spPr>
          <a:xfrm>
            <a:off x="274320" y="1371600"/>
            <a:ext cx="6400800" cy="3657600"/>
          </a:xfrm>
          <a:prstGeom prst="rect">
            <a:avLst/>
          </a:prstGeom>
        </p:spPr>
      </p:pic>
      <p:sp>
        <p:nvSpPr>
          <p:cNvPr id="4" name="Rounded Rectangle 3"/>
          <p:cNvSpPr/>
          <p:nvPr/>
        </p:nvSpPr>
        <p:spPr>
          <a:xfrm>
            <a:off x="6858000" y="1371600"/>
            <a:ext cx="5029200" cy="3657600"/>
          </a:xfrm>
          <a:prstGeom prst="roundRect">
            <a:avLst>
              <a:gd name="adj" fmla="val 10000"/>
            </a:avLst>
          </a:prstGeom>
          <a:solidFill>
            <a:srgbClr val="F4F7FA"/>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0" y="1508760"/>
            <a:ext cx="4663440" cy="3474720"/>
          </a:xfrm>
          <a:prstGeom prst="rect">
            <a:avLst/>
          </a:prstGeom>
          <a:noFill/>
        </p:spPr>
        <p:txBody>
          <a:bodyPr wrap="square" lIns="0" rIns="0" tIns="0" bIns="0" anchor="t">
            <a:spAutoFit/>
          </a:bodyPr>
          <a:lstStyle/>
          <a:p>
            <a:pPr algn="l">
              <a:lnSpc>
                <a:spcPct val="115000"/>
              </a:lnSpc>
            </a:pPr>
            <a:r>
              <a:rPr sz="1400" b="1" i="0">
                <a:solidFill>
                  <a:srgbClr val="C0392B"/>
                </a:solidFill>
                <a:latin typeface="Arial"/>
              </a:rPr>
              <a:t>3 типа ошибок (35 из 36):</a:t>
            </a:r>
          </a:p>
          <a:p>
            <a:pPr algn="l">
              <a:lnSpc>
                <a:spcPct val="115000"/>
              </a:lnSpc>
            </a:pPr>
            <a:r>
              <a:rPr sz="600" b="0" i="0">
                <a:solidFill>
                  <a:srgbClr val="21295C"/>
                </a:solidFill>
                <a:latin typeface="Arial"/>
              </a:rPr>
              <a:t/>
            </a:r>
          </a:p>
          <a:p>
            <a:pPr algn="l">
              <a:lnSpc>
                <a:spcPct val="115000"/>
              </a:lnSpc>
            </a:pPr>
            <a:r>
              <a:rPr sz="1200" b="1" i="0">
                <a:solidFill>
                  <a:srgbClr val="21295C"/>
                </a:solidFill>
                <a:latin typeface="Arial"/>
              </a:rPr>
              <a:t>1. Неверная фаза (12 проб)</a:t>
            </a:r>
          </a:p>
          <a:p>
            <a:pPr algn="l">
              <a:lnSpc>
                <a:spcPct val="115000"/>
              </a:lnSpc>
            </a:pPr>
            <a:r>
              <a:rPr sz="1100" b="0" i="1">
                <a:solidFill>
                  <a:srgbClr val="065A82"/>
                </a:solidFill>
                <a:latin typeface="Arial"/>
              </a:rPr>
              <a:t>Кристаллическая структура отличается от предсказанной</a:t>
            </a:r>
          </a:p>
          <a:p>
            <a:pPr algn="l">
              <a:lnSpc>
                <a:spcPct val="115000"/>
              </a:lnSpc>
            </a:pPr>
            <a:r>
              <a:rPr sz="400" b="0" i="0">
                <a:solidFill>
                  <a:srgbClr val="21295C"/>
                </a:solidFill>
                <a:latin typeface="Arial"/>
              </a:rPr>
              <a:t/>
            </a:r>
          </a:p>
          <a:p>
            <a:pPr algn="l">
              <a:lnSpc>
                <a:spcPct val="115000"/>
              </a:lnSpc>
            </a:pPr>
            <a:r>
              <a:rPr sz="1200" b="1" i="0">
                <a:solidFill>
                  <a:srgbClr val="21295C"/>
                </a:solidFill>
                <a:latin typeface="Arial"/>
              </a:rPr>
              <a:t>2. Производные известных (15 проб)</a:t>
            </a:r>
          </a:p>
          <a:p>
            <a:pPr algn="l">
              <a:lnSpc>
                <a:spcPct val="115000"/>
              </a:lnSpc>
            </a:pPr>
            <a:r>
              <a:rPr sz="1100" b="0" i="1">
                <a:solidFill>
                  <a:srgbClr val="065A82"/>
                </a:solidFill>
                <a:latin typeface="Arial"/>
              </a:rPr>
              <a:t>Соединение помечено как «новое», но это известная фаза</a:t>
            </a:r>
          </a:p>
          <a:p>
            <a:pPr algn="l">
              <a:lnSpc>
                <a:spcPct val="115000"/>
              </a:lnSpc>
            </a:pPr>
            <a:r>
              <a:rPr sz="400" b="0" i="0">
                <a:solidFill>
                  <a:srgbClr val="21295C"/>
                </a:solidFill>
                <a:latin typeface="Arial"/>
              </a:rPr>
              <a:t/>
            </a:r>
          </a:p>
          <a:p>
            <a:pPr algn="l">
              <a:lnSpc>
                <a:spcPct val="115000"/>
              </a:lnSpc>
            </a:pPr>
            <a:r>
              <a:rPr sz="1200" b="1" i="0">
                <a:solidFill>
                  <a:srgbClr val="21295C"/>
                </a:solidFill>
                <a:latin typeface="Arial"/>
              </a:rPr>
              <a:t>3. Отсутствие функции (8 проб)</a:t>
            </a:r>
          </a:p>
          <a:p>
            <a:pPr algn="l">
              <a:lnSpc>
                <a:spcPct val="115000"/>
              </a:lnSpc>
            </a:pPr>
            <a:r>
              <a:rPr sz="1100" b="0" i="1">
                <a:solidFill>
                  <a:srgbClr val="065A82"/>
                </a:solidFill>
                <a:latin typeface="Arial"/>
              </a:rPr>
              <a:t>Соединение существует, но без проверки целевого свойства</a:t>
            </a:r>
          </a:p>
          <a:p>
            <a:pPr algn="l">
              <a:lnSpc>
                <a:spcPct val="115000"/>
              </a:lnSpc>
            </a:pPr>
            <a:r>
              <a:rPr sz="600" b="0" i="0">
                <a:solidFill>
                  <a:srgbClr val="21295C"/>
                </a:solidFill>
                <a:latin typeface="Arial"/>
              </a:rPr>
              <a:t/>
            </a:r>
          </a:p>
          <a:p>
            <a:pPr algn="l">
              <a:lnSpc>
                <a:spcPct val="115000"/>
              </a:lnSpc>
            </a:pPr>
            <a:r>
              <a:rPr sz="1300" b="1" i="0">
                <a:solidFill>
                  <a:srgbClr val="C0392B"/>
                </a:solidFill>
                <a:latin typeface="Arial"/>
              </a:rPr>
              <a:t>Только 1 из 36 — полное открытие</a:t>
            </a:r>
          </a:p>
          <a:p>
            <a:pPr algn="l">
              <a:lnSpc>
                <a:spcPct val="115000"/>
              </a:lnSpc>
            </a:pPr>
            <a:r>
              <a:rPr sz="1000" b="0" i="1">
                <a:solidFill>
                  <a:srgbClr val="6B7685"/>
                </a:solidFill>
                <a:latin typeface="Arial"/>
              </a:rPr>
              <a:t>(новая фаза + новая функция + воспроизводимо)</a:t>
            </a:r>
          </a:p>
        </p:txBody>
      </p:sp>
      <p:sp>
        <p:nvSpPr>
          <p:cNvPr id="6" name="Rounded Rectangle 5"/>
          <p:cNvSpPr/>
          <p:nvPr/>
        </p:nvSpPr>
        <p:spPr>
          <a:xfrm>
            <a:off x="274320" y="5120640"/>
            <a:ext cx="11640312" cy="96012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5212080"/>
            <a:ext cx="11091672" cy="822960"/>
          </a:xfrm>
          <a:prstGeom prst="rect">
            <a:avLst/>
          </a:prstGeom>
          <a:noFill/>
        </p:spPr>
        <p:txBody>
          <a:bodyPr wrap="square" lIns="0" rIns="0" tIns="0" bIns="0" anchor="t">
            <a:spAutoFit/>
          </a:bodyPr>
          <a:lstStyle/>
          <a:p>
            <a:pPr algn="l">
              <a:lnSpc>
                <a:spcPct val="120000"/>
              </a:lnSpc>
            </a:pPr>
            <a:r>
              <a:rPr sz="1300" b="1" i="0">
                <a:solidFill>
                  <a:srgbClr val="F0AB00"/>
                </a:solidFill>
                <a:latin typeface="Arial"/>
              </a:rPr>
              <a:t>Главный урок:</a:t>
            </a:r>
          </a:p>
          <a:p>
            <a:pPr algn="l">
              <a:lnSpc>
                <a:spcPct val="120000"/>
              </a:lnSpc>
            </a:pPr>
            <a:r>
              <a:rPr sz="1300" b="0" i="1">
                <a:solidFill>
                  <a:srgbClr val="21295C"/>
                </a:solidFill>
                <a:latin typeface="Arial"/>
              </a:rPr>
              <a:t>Предсказание ≠ открытие. AI предсказывает кристаллографически стабильные структуры. Открытие требует проверки функции, проверки новизны, воспроизведения. Без человека в петле остановки конвейера на каждой пробе — каскад ошибочных «открытий».</a:t>
            </a:r>
          </a:p>
        </p:txBody>
      </p:sp>
      <p:sp>
        <p:nvSpPr>
          <p:cNvPr id="8" name="TextBox 7"/>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 Palgrave &amp; Schoop ChemRxiv январь 2024 (CC-BY) · ответ Szymanski et al. в Nature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Aurora 5000× быстрее эталона. Но ECMWF использует AIFS — свою модель.</a:t>
            </a:r>
          </a:p>
        </p:txBody>
      </p:sp>
      <p:pic>
        <p:nvPicPr>
          <p:cNvPr id="3" name="Picture 2" descr="s18-atmospheric-model.png"/>
          <p:cNvPicPr>
            <a:picLocks noChangeAspect="1"/>
          </p:cNvPicPr>
          <p:nvPr/>
        </p:nvPicPr>
        <p:blipFill>
          <a:blip r:embed="rId2"/>
          <a:stretch>
            <a:fillRect/>
          </a:stretch>
        </p:blipFill>
        <p:spPr>
          <a:xfrm>
            <a:off x="274320" y="1371600"/>
            <a:ext cx="5029200" cy="3200400"/>
          </a:xfrm>
          <a:prstGeom prst="rect">
            <a:avLst/>
          </a:prstGeom>
        </p:spPr>
      </p:pic>
      <p:sp>
        <p:nvSpPr>
          <p:cNvPr id="4" name="TextBox 3"/>
          <p:cNvSpPr txBox="1"/>
          <p:nvPr/>
        </p:nvSpPr>
        <p:spPr>
          <a:xfrm>
            <a:off x="274320" y="4617720"/>
            <a:ext cx="50292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Wikimedia · Схема атмосферной модели (CC-BY-SA)</a:t>
            </a:r>
          </a:p>
        </p:txBody>
      </p:sp>
      <p:pic>
        <p:nvPicPr>
          <p:cNvPr id="5" name="Picture 4" descr="s18-aurora-speed.png"/>
          <p:cNvPicPr>
            <a:picLocks noChangeAspect="1"/>
          </p:cNvPicPr>
          <p:nvPr/>
        </p:nvPicPr>
        <p:blipFill>
          <a:blip r:embed="rId3"/>
          <a:stretch>
            <a:fillRect/>
          </a:stretch>
        </p:blipFill>
        <p:spPr>
          <a:xfrm>
            <a:off x="5486400" y="1371600"/>
            <a:ext cx="6400800" cy="3200400"/>
          </a:xfrm>
          <a:prstGeom prst="rect">
            <a:avLst/>
          </a:prstGeom>
        </p:spPr>
      </p:pic>
      <p:sp>
        <p:nvSpPr>
          <p:cNvPr id="6" name="Rounded Rectangle 5"/>
          <p:cNvSpPr/>
          <p:nvPr/>
        </p:nvSpPr>
        <p:spPr>
          <a:xfrm>
            <a:off x="274320" y="4937760"/>
            <a:ext cx="11640312" cy="118872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18-ecmwf.png"/>
          <p:cNvPicPr>
            <a:picLocks noChangeAspect="1"/>
          </p:cNvPicPr>
          <p:nvPr/>
        </p:nvPicPr>
        <p:blipFill>
          <a:blip r:embed="rId4"/>
          <a:stretch>
            <a:fillRect/>
          </a:stretch>
        </p:blipFill>
        <p:spPr>
          <a:xfrm>
            <a:off x="411480" y="5074920"/>
            <a:ext cx="1005840" cy="960120"/>
          </a:xfrm>
          <a:prstGeom prst="rect">
            <a:avLst/>
          </a:prstGeom>
        </p:spPr>
      </p:pic>
      <p:sp>
        <p:nvSpPr>
          <p:cNvPr id="8" name="TextBox 7"/>
          <p:cNvSpPr txBox="1"/>
          <p:nvPr/>
        </p:nvSpPr>
        <p:spPr>
          <a:xfrm>
            <a:off x="1554480" y="5029200"/>
            <a:ext cx="10332720" cy="1051560"/>
          </a:xfrm>
          <a:prstGeom prst="rect">
            <a:avLst/>
          </a:prstGeom>
          <a:noFill/>
        </p:spPr>
        <p:txBody>
          <a:bodyPr wrap="square" lIns="0" rIns="0" tIns="0" bIns="0" anchor="t">
            <a:spAutoFit/>
          </a:bodyPr>
          <a:lstStyle/>
          <a:p>
            <a:pPr algn="l">
              <a:lnSpc>
                <a:spcPct val="118000"/>
              </a:lnSpc>
            </a:pPr>
            <a:r>
              <a:rPr sz="1200" b="1" i="0">
                <a:solidFill>
                  <a:srgbClr val="F0AB00"/>
                </a:solidFill>
                <a:latin typeface="Arial"/>
              </a:rPr>
              <a:t>Что говорит ECMWF (Европейский центр среднесрочных прогнозов):</a:t>
            </a:r>
          </a:p>
          <a:p>
            <a:pPr algn="l">
              <a:lnSpc>
                <a:spcPct val="118000"/>
              </a:lnSpc>
            </a:pPr>
            <a:r>
              <a:rPr sz="1200" b="0" i="1">
                <a:solidFill>
                  <a:srgbClr val="21295C"/>
                </a:solidFill>
                <a:latin typeface="Arial"/>
              </a:rPr>
              <a:t>AIFS оперативна с 25 февраля 2025 — собственная AI-модель ECMWF, не Aurora. IFS физика (1979-) + AIFS работают параллельно. Редкие события (ураганы, аномальные холода) системно недопредставлены в AI-моделях; политическим решениям нужен физический эталон.</a:t>
            </a:r>
          </a:p>
        </p:txBody>
      </p:sp>
      <p:sp>
        <p:nvSpPr>
          <p:cNvPr id="9" name="TextBox 8"/>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Bodnar et al. arxiv 2405.13063 (Aurora) · ECMWF news 25 февраля 2025 (AIFS)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AlphaProof + AlphaGeometry 2 = 28 из 42 = серебро IMO 2024.</a:t>
            </a:r>
          </a:p>
        </p:txBody>
      </p:sp>
      <p:pic>
        <p:nvPicPr>
          <p:cNvPr id="3" name="Picture 2" descr="s19-imo-logo.png"/>
          <p:cNvPicPr>
            <a:picLocks noChangeAspect="1"/>
          </p:cNvPicPr>
          <p:nvPr/>
        </p:nvPicPr>
        <p:blipFill>
          <a:blip r:embed="rId2"/>
          <a:stretch>
            <a:fillRect/>
          </a:stretch>
        </p:blipFill>
        <p:spPr>
          <a:xfrm>
            <a:off x="365760" y="1371600"/>
            <a:ext cx="2743200" cy="2011680"/>
          </a:xfrm>
          <a:prstGeom prst="rect">
            <a:avLst/>
          </a:prstGeom>
        </p:spPr>
      </p:pic>
      <p:sp>
        <p:nvSpPr>
          <p:cNvPr id="4" name="TextBox 3"/>
          <p:cNvSpPr txBox="1"/>
          <p:nvPr/>
        </p:nvSpPr>
        <p:spPr>
          <a:xfrm>
            <a:off x="365760" y="3474720"/>
            <a:ext cx="27432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 Wikimedia · International Mathematical Olympiad</a:t>
            </a:r>
          </a:p>
        </p:txBody>
      </p:sp>
      <p:pic>
        <p:nvPicPr>
          <p:cNvPr id="5" name="Picture 4" descr="s19-alphaproof-imo.png"/>
          <p:cNvPicPr>
            <a:picLocks noChangeAspect="1"/>
          </p:cNvPicPr>
          <p:nvPr/>
        </p:nvPicPr>
        <p:blipFill>
          <a:blip r:embed="rId3"/>
          <a:stretch>
            <a:fillRect/>
          </a:stretch>
        </p:blipFill>
        <p:spPr>
          <a:xfrm>
            <a:off x="3383280" y="1371600"/>
            <a:ext cx="5486400" cy="3200400"/>
          </a:xfrm>
          <a:prstGeom prst="rect">
            <a:avLst/>
          </a:prstGeom>
        </p:spPr>
      </p:pic>
      <p:sp>
        <p:nvSpPr>
          <p:cNvPr id="6" name="Rounded Rectangle 5"/>
          <p:cNvSpPr/>
          <p:nvPr/>
        </p:nvSpPr>
        <p:spPr>
          <a:xfrm>
            <a:off x="9144000" y="1371600"/>
            <a:ext cx="2743200" cy="320040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81160" y="1508760"/>
            <a:ext cx="2468880" cy="3017520"/>
          </a:xfrm>
          <a:prstGeom prst="rect">
            <a:avLst/>
          </a:prstGeom>
          <a:noFill/>
        </p:spPr>
        <p:txBody>
          <a:bodyPr wrap="square" lIns="0" rIns="0" tIns="0" bIns="0" anchor="t">
            <a:spAutoFit/>
          </a:bodyPr>
          <a:lstStyle/>
          <a:p>
            <a:pPr algn="l">
              <a:lnSpc>
                <a:spcPct val="115000"/>
              </a:lnSpc>
            </a:pPr>
            <a:r>
              <a:rPr sz="1200" b="1" i="0">
                <a:solidFill>
                  <a:srgbClr val="065A82"/>
                </a:solidFill>
                <a:latin typeface="Arial"/>
              </a:rPr>
              <a:t>AlphaProof:</a:t>
            </a:r>
          </a:p>
          <a:p>
            <a:pPr algn="l">
              <a:lnSpc>
                <a:spcPct val="115000"/>
              </a:lnSpc>
            </a:pPr>
            <a:r>
              <a:rPr sz="1100" b="0" i="0">
                <a:solidFill>
                  <a:srgbClr val="21295C"/>
                </a:solidFill>
                <a:latin typeface="Arial"/>
              </a:rPr>
              <a:t>Reinforcement learning</a:t>
            </a:r>
          </a:p>
          <a:p>
            <a:pPr algn="l">
              <a:lnSpc>
                <a:spcPct val="115000"/>
              </a:lnSpc>
            </a:pPr>
            <a:r>
              <a:rPr sz="1100" b="0" i="0">
                <a:solidFill>
                  <a:srgbClr val="21295C"/>
                </a:solidFill>
                <a:latin typeface="Arial"/>
              </a:rPr>
              <a:t>+ formal Lean theorem prover</a:t>
            </a:r>
          </a:p>
          <a:p>
            <a:pPr algn="l">
              <a:lnSpc>
                <a:spcPct val="115000"/>
              </a:lnSpc>
            </a:pPr>
            <a:r>
              <a:rPr sz="400" b="0" i="0">
                <a:solidFill>
                  <a:srgbClr val="21295C"/>
                </a:solidFill>
                <a:latin typeface="Arial"/>
              </a:rPr>
              <a:t/>
            </a:r>
          </a:p>
          <a:p>
            <a:pPr algn="l">
              <a:lnSpc>
                <a:spcPct val="115000"/>
              </a:lnSpc>
            </a:pPr>
            <a:r>
              <a:rPr sz="1200" b="1" i="0">
                <a:solidFill>
                  <a:srgbClr val="F0AB00"/>
                </a:solidFill>
                <a:latin typeface="Arial"/>
              </a:rPr>
              <a:t>Решены:</a:t>
            </a:r>
          </a:p>
          <a:p>
            <a:pPr algn="l">
              <a:lnSpc>
                <a:spcPct val="115000"/>
              </a:lnSpc>
            </a:pPr>
            <a:r>
              <a:rPr sz="1100" b="1" i="0">
                <a:solidFill>
                  <a:srgbClr val="21295C"/>
                </a:solidFill>
                <a:latin typeface="Arial"/>
              </a:rPr>
              <a:t>P1, P2, P6 (по 7 баллов)</a:t>
            </a:r>
          </a:p>
          <a:p>
            <a:pPr algn="l">
              <a:lnSpc>
                <a:spcPct val="115000"/>
              </a:lnSpc>
            </a:pPr>
            <a:r>
              <a:rPr sz="400" b="0" i="0">
                <a:solidFill>
                  <a:srgbClr val="21295C"/>
                </a:solidFill>
                <a:latin typeface="Arial"/>
              </a:rPr>
              <a:t/>
            </a:r>
          </a:p>
          <a:p>
            <a:pPr algn="l">
              <a:lnSpc>
                <a:spcPct val="115000"/>
              </a:lnSpc>
            </a:pPr>
            <a:r>
              <a:rPr sz="1200" b="1" i="0">
                <a:solidFill>
                  <a:srgbClr val="065A82"/>
                </a:solidFill>
                <a:latin typeface="Arial"/>
              </a:rPr>
              <a:t>AlphaGeometry 2:</a:t>
            </a:r>
          </a:p>
          <a:p>
            <a:pPr algn="l">
              <a:lnSpc>
                <a:spcPct val="115000"/>
              </a:lnSpc>
            </a:pPr>
            <a:r>
              <a:rPr sz="1100" b="0" i="0">
                <a:solidFill>
                  <a:srgbClr val="21295C"/>
                </a:solidFill>
                <a:latin typeface="Arial"/>
              </a:rPr>
              <a:t>LLM + symbolic solver</a:t>
            </a:r>
          </a:p>
          <a:p>
            <a:pPr algn="l">
              <a:lnSpc>
                <a:spcPct val="115000"/>
              </a:lnSpc>
            </a:pPr>
            <a:r>
              <a:rPr sz="400" b="0" i="0">
                <a:solidFill>
                  <a:srgbClr val="21295C"/>
                </a:solidFill>
                <a:latin typeface="Arial"/>
              </a:rPr>
              <a:t/>
            </a:r>
          </a:p>
          <a:p>
            <a:pPr algn="l">
              <a:lnSpc>
                <a:spcPct val="115000"/>
              </a:lnSpc>
            </a:pPr>
            <a:r>
              <a:rPr sz="1200" b="1" i="0">
                <a:solidFill>
                  <a:srgbClr val="F0AB00"/>
                </a:solidFill>
                <a:latin typeface="Arial"/>
              </a:rPr>
              <a:t>Решена:</a:t>
            </a:r>
          </a:p>
          <a:p>
            <a:pPr algn="l">
              <a:lnSpc>
                <a:spcPct val="115000"/>
              </a:lnSpc>
            </a:pPr>
            <a:r>
              <a:rPr sz="1100" b="1" i="0">
                <a:solidFill>
                  <a:srgbClr val="21295C"/>
                </a:solidFill>
                <a:latin typeface="Arial"/>
              </a:rPr>
              <a:t>P4 (7 баллов)</a:t>
            </a:r>
          </a:p>
          <a:p>
            <a:pPr algn="l">
              <a:lnSpc>
                <a:spcPct val="115000"/>
              </a:lnSpc>
            </a:pPr>
            <a:r>
              <a:rPr sz="400" b="0" i="0">
                <a:solidFill>
                  <a:srgbClr val="21295C"/>
                </a:solidFill>
                <a:latin typeface="Arial"/>
              </a:rPr>
              <a:t/>
            </a:r>
          </a:p>
          <a:p>
            <a:pPr algn="l">
              <a:lnSpc>
                <a:spcPct val="115000"/>
              </a:lnSpc>
            </a:pPr>
            <a:r>
              <a:rPr sz="1200" b="1" i="0">
                <a:solidFill>
                  <a:srgbClr val="C0392B"/>
                </a:solidFill>
                <a:latin typeface="Arial"/>
              </a:rPr>
              <a:t>Не решены:</a:t>
            </a:r>
          </a:p>
          <a:p>
            <a:pPr algn="l">
              <a:lnSpc>
                <a:spcPct val="115000"/>
              </a:lnSpc>
            </a:pPr>
            <a:r>
              <a:rPr sz="1100" b="0" i="0">
                <a:solidFill>
                  <a:srgbClr val="21295C"/>
                </a:solidFill>
                <a:latin typeface="Arial"/>
              </a:rPr>
              <a:t>P3 и P5 (комбинаторика)</a:t>
            </a:r>
          </a:p>
        </p:txBody>
      </p:sp>
      <p:sp>
        <p:nvSpPr>
          <p:cNvPr id="8" name="Rounded Rectangle 7"/>
          <p:cNvSpPr/>
          <p:nvPr/>
        </p:nvSpPr>
        <p:spPr>
          <a:xfrm>
            <a:off x="365760" y="4937760"/>
            <a:ext cx="11548872" cy="11430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029200"/>
            <a:ext cx="11000232" cy="1005840"/>
          </a:xfrm>
          <a:prstGeom prst="rect">
            <a:avLst/>
          </a:prstGeom>
          <a:noFill/>
        </p:spPr>
        <p:txBody>
          <a:bodyPr wrap="square" lIns="0" rIns="0" tIns="0" bIns="0" anchor="t">
            <a:spAutoFit/>
          </a:bodyPr>
          <a:lstStyle/>
          <a:p>
            <a:pPr algn="l">
              <a:lnSpc>
                <a:spcPct val="118000"/>
              </a:lnSpc>
            </a:pPr>
            <a:r>
              <a:rPr sz="1300" b="1" i="0">
                <a:solidFill>
                  <a:srgbClr val="F0AB00"/>
                </a:solidFill>
                <a:latin typeface="Arial"/>
              </a:rPr>
              <a:t>Что это значит — и чего не значит:</a:t>
            </a:r>
          </a:p>
          <a:p>
            <a:pPr algn="l">
              <a:lnSpc>
                <a:spcPct val="118000"/>
              </a:lnSpc>
            </a:pPr>
            <a:r>
              <a:rPr sz="1300" b="0" i="1">
                <a:solidFill>
                  <a:srgbClr val="21295C"/>
                </a:solidFill>
                <a:latin typeface="Arial"/>
              </a:rPr>
              <a:t>28 из 42 баллов = серебро. Формальная математика — закрытый мир: доказательства проверяются Lean-верификатором. Время решения: 4-7 часов на задачу vs 90 минут у человека. P3 и P5 (комбинаторика) — нерешённая граница: задачи требуют конструктивных приёмов, не покрытых обучением.</a:t>
            </a:r>
          </a:p>
        </p:txBody>
      </p:sp>
      <p:sp>
        <p:nvSpPr>
          <p:cNvPr id="10" name="TextBox 9"/>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 DeepMind blog июль 2024 · Nature DOI 10.1038/s41586-025-09833-y (AlphaProof)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457200" y="1371600"/>
            <a:ext cx="4572000" cy="2743200"/>
          </a:xfrm>
          <a:prstGeom prst="rect">
            <a:avLst/>
          </a:prstGeom>
          <a:noFill/>
        </p:spPr>
        <p:txBody>
          <a:bodyPr wrap="square" lIns="0" rIns="0" tIns="0" bIns="0" anchor="ctr">
            <a:spAutoFit/>
          </a:bodyPr>
          <a:lstStyle/>
          <a:p>
            <a:pPr algn="ctr">
              <a:lnSpc>
                <a:spcPct val="115000"/>
              </a:lnSpc>
            </a:pPr>
            <a:r>
              <a:rPr sz="20000" b="1" i="0">
                <a:solidFill>
                  <a:srgbClr val="065A82"/>
                </a:solidFill>
                <a:latin typeface="Arial"/>
              </a:rPr>
              <a:t>§3</a:t>
            </a:r>
          </a:p>
        </p:txBody>
      </p:sp>
      <p:sp>
        <p:nvSpPr>
          <p:cNvPr id="3" name="TextBox 2"/>
          <p:cNvSpPr txBox="1"/>
          <p:nvPr/>
        </p:nvSpPr>
        <p:spPr>
          <a:xfrm>
            <a:off x="5029200" y="1554480"/>
            <a:ext cx="6675120" cy="3657600"/>
          </a:xfrm>
          <a:prstGeom prst="rect">
            <a:avLst/>
          </a:prstGeom>
          <a:noFill/>
        </p:spPr>
        <p:txBody>
          <a:bodyPr wrap="square" lIns="0" rIns="0" tIns="0" bIns="0" anchor="t">
            <a:spAutoFit/>
          </a:bodyPr>
          <a:lstStyle/>
          <a:p>
            <a:pPr algn="l">
              <a:lnSpc>
                <a:spcPct val="120000"/>
              </a:lnSpc>
            </a:pPr>
            <a:r>
              <a:rPr sz="2200" b="1" i="0">
                <a:solidFill>
                  <a:srgbClr val="065A82"/>
                </a:solidFill>
                <a:latin typeface="Arial"/>
              </a:rPr>
              <a:t>Раздел 3</a:t>
            </a:r>
          </a:p>
          <a:p>
            <a:pPr algn="l">
              <a:lnSpc>
                <a:spcPct val="120000"/>
              </a:lnSpc>
            </a:pPr>
            <a:r>
              <a:rPr sz="4200" b="1" i="0">
                <a:solidFill>
                  <a:srgbClr val="21295C"/>
                </a:solidFill>
                <a:latin typeface="Arial"/>
              </a:rPr>
              <a:t>Analyse</a:t>
            </a:r>
          </a:p>
          <a:p>
            <a:pPr algn="l">
              <a:lnSpc>
                <a:spcPct val="120000"/>
              </a:lnSpc>
            </a:pPr>
            <a:r>
              <a:rPr sz="2600" b="0" i="1">
                <a:solidFill>
                  <a:srgbClr val="1C7293"/>
                </a:solidFill>
                <a:latin typeface="Arial"/>
              </a:rPr>
              <a:t>Анализ данных</a:t>
            </a:r>
          </a:p>
          <a:p>
            <a:pPr algn="l">
              <a:lnSpc>
                <a:spcPct val="120000"/>
              </a:lnSpc>
            </a:pPr>
            <a:r>
              <a:rPr sz="1200" b="0" i="0">
                <a:solidFill>
                  <a:srgbClr val="21295C"/>
                </a:solidFill>
                <a:latin typeface="Arial"/>
              </a:rPr>
              <a:t/>
            </a:r>
          </a:p>
          <a:p>
            <a:pPr algn="l">
              <a:lnSpc>
                <a:spcPct val="120000"/>
              </a:lnSpc>
            </a:pPr>
            <a:r>
              <a:rPr sz="1800" b="0" i="0">
                <a:solidFill>
                  <a:srgbClr val="21295C"/>
                </a:solidFill>
                <a:latin typeface="Arial"/>
              </a:rPr>
              <a:t>Узкие задачи,</a:t>
            </a:r>
          </a:p>
          <a:p>
            <a:pPr algn="l">
              <a:lnSpc>
                <a:spcPct val="120000"/>
              </a:lnSpc>
            </a:pPr>
            <a:r>
              <a:rPr sz="1800" b="0" i="0">
                <a:solidFill>
                  <a:srgbClr val="21295C"/>
                </a:solidFill>
                <a:latin typeface="Arial"/>
              </a:rPr>
              <a:t>эталонная разметка,</a:t>
            </a:r>
          </a:p>
          <a:p>
            <a:pPr algn="l">
              <a:lnSpc>
                <a:spcPct val="120000"/>
              </a:lnSpc>
            </a:pPr>
            <a:r>
              <a:rPr sz="1800" b="1" i="0">
                <a:solidFill>
                  <a:srgbClr val="065A82"/>
                </a:solidFill>
                <a:latin typeface="Arial"/>
              </a:rPr>
              <a:t>надёжные применения.</a:t>
            </a:r>
          </a:p>
        </p:txBody>
      </p:sp>
      <p:sp>
        <p:nvSpPr>
          <p:cNvPr id="4" name="Rounded Rectangle 3"/>
          <p:cNvSpPr/>
          <p:nvPr/>
        </p:nvSpPr>
        <p:spPr>
          <a:xfrm>
            <a:off x="5029200" y="5120640"/>
            <a:ext cx="1737360" cy="365760"/>
          </a:xfrm>
          <a:prstGeom prst="roundRect">
            <a:avLst>
              <a:gd name="adj" fmla="val 10000"/>
            </a:avLst>
          </a:prstGeom>
          <a:solidFill>
            <a:srgbClr val="1C7293"/>
          </a:solidFill>
          <a:ln>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0" y="5120640"/>
            <a:ext cx="1737360"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CNN экзопланеты</a:t>
            </a:r>
          </a:p>
        </p:txBody>
      </p:sp>
      <p:sp>
        <p:nvSpPr>
          <p:cNvPr id="6" name="Rounded Rectangle 5"/>
          <p:cNvSpPr/>
          <p:nvPr/>
        </p:nvSpPr>
        <p:spPr>
          <a:xfrm>
            <a:off x="6839712" y="5120640"/>
            <a:ext cx="932688" cy="365760"/>
          </a:xfrm>
          <a:prstGeom prst="roundRect">
            <a:avLst>
              <a:gd name="adj" fmla="val 10000"/>
            </a:avLst>
          </a:prstGeom>
          <a:solidFill>
            <a:srgbClr val="065A82"/>
          </a:solidFill>
          <a:ln>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39712" y="5120640"/>
            <a:ext cx="932688"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MICrONS</a:t>
            </a:r>
          </a:p>
        </p:txBody>
      </p:sp>
      <p:sp>
        <p:nvSpPr>
          <p:cNvPr id="8" name="Rounded Rectangle 7"/>
          <p:cNvSpPr/>
          <p:nvPr/>
        </p:nvSpPr>
        <p:spPr>
          <a:xfrm>
            <a:off x="7845552" y="5120640"/>
            <a:ext cx="1938528" cy="365760"/>
          </a:xfrm>
          <a:prstGeom prst="roundRect">
            <a:avLst>
              <a:gd name="adj" fmla="val 10000"/>
            </a:avLst>
          </a:prstGeom>
          <a:solidFill>
            <a:srgbClr val="028090"/>
          </a:solidFill>
          <a:ln>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45552" y="5120640"/>
            <a:ext cx="1938528"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LIGO + конформное</a:t>
            </a:r>
          </a:p>
        </p:txBody>
      </p:sp>
      <p:sp>
        <p:nvSpPr>
          <p:cNvPr id="10" name="Rounded Rectangle 9"/>
          <p:cNvSpPr/>
          <p:nvPr/>
        </p:nvSpPr>
        <p:spPr>
          <a:xfrm>
            <a:off x="9857232" y="5120640"/>
            <a:ext cx="2340864" cy="365760"/>
          </a:xfrm>
          <a:prstGeom prst="roundRect">
            <a:avLst>
              <a:gd name="adj" fmla="val 10000"/>
            </a:avLst>
          </a:prstGeom>
          <a:solidFill>
            <a:srgbClr val="C0392B"/>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57232" y="5120640"/>
            <a:ext cx="2340864"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AlphaFold IDP трещина</a:t>
            </a:r>
          </a:p>
        </p:txBody>
      </p:sp>
      <p:sp>
        <p:nvSpPr>
          <p:cNvPr id="12" name="TextBox 11"/>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Лестница цикла · ступень 4 · 4 working cases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Экзопланеты CNN: 1 595 высокоуверенных кандидатов TESS, 83,9% точность.</a:t>
            </a:r>
          </a:p>
        </p:txBody>
      </p:sp>
      <p:pic>
        <p:nvPicPr>
          <p:cNvPr id="3" name="Picture 2" descr="s21-tess.jpg"/>
          <p:cNvPicPr>
            <a:picLocks noChangeAspect="1"/>
          </p:cNvPicPr>
          <p:nvPr/>
        </p:nvPicPr>
        <p:blipFill>
          <a:blip r:embed="rId2"/>
          <a:stretch>
            <a:fillRect/>
          </a:stretch>
        </p:blipFill>
        <p:spPr>
          <a:xfrm>
            <a:off x="365760" y="1371600"/>
            <a:ext cx="4114800" cy="2743200"/>
          </a:xfrm>
          <a:prstGeom prst="rect">
            <a:avLst/>
          </a:prstGeom>
        </p:spPr>
      </p:pic>
      <p:sp>
        <p:nvSpPr>
          <p:cNvPr id="4" name="TextBox 3"/>
          <p:cNvSpPr txBox="1"/>
          <p:nvPr/>
        </p:nvSpPr>
        <p:spPr>
          <a:xfrm>
            <a:off x="365760" y="4160520"/>
            <a:ext cx="41148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 NASA TESS 2018+ (CC-PD)</a:t>
            </a:r>
          </a:p>
        </p:txBody>
      </p:sp>
      <p:pic>
        <p:nvPicPr>
          <p:cNvPr id="5" name="Picture 4" descr="s21-cnn-auc.png"/>
          <p:cNvPicPr>
            <a:picLocks noChangeAspect="1"/>
          </p:cNvPicPr>
          <p:nvPr/>
        </p:nvPicPr>
        <p:blipFill>
          <a:blip r:embed="rId3"/>
          <a:stretch>
            <a:fillRect/>
          </a:stretch>
        </p:blipFill>
        <p:spPr>
          <a:xfrm>
            <a:off x="4572000" y="1371600"/>
            <a:ext cx="5029200" cy="2743200"/>
          </a:xfrm>
          <a:prstGeom prst="rect">
            <a:avLst/>
          </a:prstGeom>
        </p:spPr>
      </p:pic>
      <p:sp>
        <p:nvSpPr>
          <p:cNvPr id="6" name="Rounded Rectangle 5"/>
          <p:cNvSpPr/>
          <p:nvPr/>
        </p:nvSpPr>
        <p:spPr>
          <a:xfrm>
            <a:off x="9692640" y="1371600"/>
            <a:ext cx="2286000" cy="274320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1508760"/>
            <a:ext cx="2011680" cy="2560320"/>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Числа:</a:t>
            </a:r>
          </a:p>
          <a:p>
            <a:pPr algn="l">
              <a:lnSpc>
                <a:spcPct val="115000"/>
              </a:lnSpc>
            </a:pPr>
            <a:r>
              <a:rPr sz="400" b="0" i="0">
                <a:solidFill>
                  <a:srgbClr val="21295C"/>
                </a:solidFill>
                <a:latin typeface="Arial"/>
              </a:rPr>
              <a:t/>
            </a:r>
          </a:p>
          <a:p>
            <a:pPr algn="l">
              <a:lnSpc>
                <a:spcPct val="115000"/>
              </a:lnSpc>
            </a:pPr>
            <a:r>
              <a:rPr sz="1100" b="0" i="0">
                <a:solidFill>
                  <a:srgbClr val="21295C"/>
                </a:solidFill>
                <a:latin typeface="Arial"/>
              </a:rPr>
              <a:t>кандидаты TESS</a:t>
            </a:r>
          </a:p>
          <a:p>
            <a:pPr algn="l">
              <a:lnSpc>
                <a:spcPct val="115000"/>
              </a:lnSpc>
            </a:pPr>
            <a:r>
              <a:rPr sz="1000" b="0" i="1">
                <a:solidFill>
                  <a:srgbClr val="6B7685"/>
                </a:solidFill>
                <a:latin typeface="Arial"/>
              </a:rPr>
              <a:t>из миссий 2018+</a:t>
            </a:r>
          </a:p>
          <a:p>
            <a:pPr algn="l">
              <a:lnSpc>
                <a:spcPct val="115000"/>
              </a:lnSpc>
            </a:pPr>
            <a:r>
              <a:rPr sz="400" b="0" i="0">
                <a:solidFill>
                  <a:srgbClr val="21295C"/>
                </a:solidFill>
                <a:latin typeface="Arial"/>
              </a:rPr>
              <a:t/>
            </a:r>
          </a:p>
          <a:p>
            <a:pPr algn="l">
              <a:lnSpc>
                <a:spcPct val="115000"/>
              </a:lnSpc>
            </a:pPr>
            <a:r>
              <a:rPr sz="1100" b="0" i="0">
                <a:solidFill>
                  <a:srgbClr val="21295C"/>
                </a:solidFill>
                <a:latin typeface="Arial"/>
              </a:rPr>
              <a:t>CNN → ранжирование</a:t>
            </a:r>
          </a:p>
          <a:p>
            <a:pPr algn="l">
              <a:lnSpc>
                <a:spcPct val="115000"/>
              </a:lnSpc>
            </a:pPr>
            <a:r>
              <a:rPr sz="200" b="0" i="0">
                <a:solidFill>
                  <a:srgbClr val="21295C"/>
                </a:solidFill>
                <a:latin typeface="Arial"/>
              </a:rPr>
              <a:t/>
            </a:r>
          </a:p>
          <a:p>
            <a:pPr algn="l">
              <a:lnSpc>
                <a:spcPct val="115000"/>
              </a:lnSpc>
            </a:pPr>
            <a:r>
              <a:rPr sz="1100" b="1" i="0">
                <a:solidFill>
                  <a:srgbClr val="F0AB00"/>
                </a:solidFill>
                <a:latin typeface="Arial"/>
              </a:rPr>
              <a:t>1 595 высокоуверенных</a:t>
            </a:r>
          </a:p>
          <a:p>
            <a:pPr algn="l">
              <a:lnSpc>
                <a:spcPct val="115000"/>
              </a:lnSpc>
            </a:pPr>
            <a:r>
              <a:rPr sz="1100" b="1" i="0">
                <a:solidFill>
                  <a:srgbClr val="F0AB00"/>
                </a:solidFill>
                <a:latin typeface="Arial"/>
              </a:rPr>
              <a:t>(точность 83,9%)</a:t>
            </a:r>
          </a:p>
          <a:p>
            <a:pPr algn="l">
              <a:lnSpc>
                <a:spcPct val="115000"/>
              </a:lnSpc>
            </a:pPr>
            <a:r>
              <a:rPr sz="400" b="0" i="0">
                <a:solidFill>
                  <a:srgbClr val="21295C"/>
                </a:solidFill>
                <a:latin typeface="Arial"/>
              </a:rPr>
              <a:t/>
            </a:r>
          </a:p>
          <a:p>
            <a:pPr algn="l">
              <a:lnSpc>
                <a:spcPct val="115000"/>
              </a:lnSpc>
            </a:pPr>
            <a:r>
              <a:rPr sz="1100" b="0" i="0">
                <a:solidFill>
                  <a:srgbClr val="065A82"/>
                </a:solidFill>
                <a:latin typeface="Arial"/>
              </a:rPr>
              <a:t>Pre-trained Kepler → TESS</a:t>
            </a:r>
          </a:p>
          <a:p>
            <a:pPr algn="l">
              <a:lnSpc>
                <a:spcPct val="115000"/>
              </a:lnSpc>
            </a:pPr>
            <a:r>
              <a:rPr sz="1000" b="0" i="1">
                <a:solidFill>
                  <a:srgbClr val="6B7685"/>
                </a:solidFill>
                <a:latin typeface="Arial"/>
              </a:rPr>
              <a:t>(перенос обучения)</a:t>
            </a:r>
          </a:p>
        </p:txBody>
      </p:sp>
      <p:sp>
        <p:nvSpPr>
          <p:cNvPr id="8" name="Rounded Rectangle 7"/>
          <p:cNvSpPr/>
          <p:nvPr/>
        </p:nvSpPr>
        <p:spPr>
          <a:xfrm>
            <a:off x="365760" y="4846320"/>
            <a:ext cx="11548872" cy="123444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937760"/>
            <a:ext cx="10972800" cy="1097280"/>
          </a:xfrm>
          <a:prstGeom prst="rect">
            <a:avLst/>
          </a:prstGeom>
          <a:noFill/>
        </p:spPr>
        <p:txBody>
          <a:bodyPr wrap="square" lIns="0" rIns="0" tIns="0" bIns="0" anchor="t">
            <a:spAutoFit/>
          </a:bodyPr>
          <a:lstStyle/>
          <a:p>
            <a:pPr algn="l">
              <a:lnSpc>
                <a:spcPct val="120000"/>
              </a:lnSpc>
            </a:pPr>
            <a:r>
              <a:rPr sz="1300" b="1" i="0">
                <a:solidFill>
                  <a:srgbClr val="065A82"/>
                </a:solidFill>
                <a:latin typeface="Arial"/>
              </a:rPr>
              <a:t>Почему это надёжный кейс:</a:t>
            </a:r>
          </a:p>
          <a:p>
            <a:pPr algn="l">
              <a:lnSpc>
                <a:spcPct val="120000"/>
              </a:lnSpc>
            </a:pPr>
            <a:r>
              <a:rPr sz="1200" b="0" i="1">
                <a:solidFill>
                  <a:srgbClr val="21295C"/>
                </a:solidFill>
                <a:latin typeface="Arial"/>
              </a:rPr>
              <a:t>Эталонная разметка — подтверждённые транзиты из Kepler (8 000+ примеров). Узкая задача — бинарная классификация: транзит / шум. Привычное обучение с учителем — CNN на временных рядах. AUC от BLS (Kovács et al. 2002) 78% → pre-trained CNN 89% → custom CNN на TESS+Kepler 92%. Не «новый AI», а зрелое ML.</a:t>
            </a:r>
          </a:p>
        </p:txBody>
      </p:sp>
      <p:sp>
        <p:nvSpPr>
          <p:cNvPr id="10" name="TextBox 9"/>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Shallue &amp; Vanderburg ApJ 155 (2018) · Huang &amp; Jiang arxiv 2512.00967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Allen MICrONS: 1 мм³ коры мыши — 120k нейронов, 500M синапсов.</a:t>
            </a:r>
          </a:p>
        </p:txBody>
      </p:sp>
      <p:pic>
        <p:nvPicPr>
          <p:cNvPr id="3" name="Picture 2" descr="s22-allen-institute.jpg"/>
          <p:cNvPicPr>
            <a:picLocks noChangeAspect="1"/>
          </p:cNvPicPr>
          <p:nvPr/>
        </p:nvPicPr>
        <p:blipFill>
          <a:blip r:embed="rId2"/>
          <a:stretch>
            <a:fillRect/>
          </a:stretch>
        </p:blipFill>
        <p:spPr>
          <a:xfrm>
            <a:off x="365760" y="1371600"/>
            <a:ext cx="3657600" cy="2286000"/>
          </a:xfrm>
          <a:prstGeom prst="rect">
            <a:avLst/>
          </a:prstGeom>
        </p:spPr>
      </p:pic>
      <p:sp>
        <p:nvSpPr>
          <p:cNvPr id="4" name="TextBox 3"/>
          <p:cNvSpPr txBox="1"/>
          <p:nvPr/>
        </p:nvSpPr>
        <p:spPr>
          <a:xfrm>
            <a:off x="365760" y="3703320"/>
            <a:ext cx="36576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 Allen Institute 2025</a:t>
            </a:r>
          </a:p>
        </p:txBody>
      </p:sp>
      <p:pic>
        <p:nvPicPr>
          <p:cNvPr id="5" name="Picture 4" descr="s22-connectome.png"/>
          <p:cNvPicPr>
            <a:picLocks noChangeAspect="1"/>
          </p:cNvPicPr>
          <p:nvPr/>
        </p:nvPicPr>
        <p:blipFill>
          <a:blip r:embed="rId3"/>
          <a:stretch>
            <a:fillRect/>
          </a:stretch>
        </p:blipFill>
        <p:spPr>
          <a:xfrm>
            <a:off x="4206240" y="1371600"/>
            <a:ext cx="3657600" cy="2286000"/>
          </a:xfrm>
          <a:prstGeom prst="rect">
            <a:avLst/>
          </a:prstGeom>
        </p:spPr>
      </p:pic>
      <p:sp>
        <p:nvSpPr>
          <p:cNvPr id="6" name="TextBox 5"/>
          <p:cNvSpPr txBox="1"/>
          <p:nvPr/>
        </p:nvSpPr>
        <p:spPr>
          <a:xfrm>
            <a:off x="4206240" y="3703320"/>
            <a:ext cx="36576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MRI Tractography — нервные пути · Wikimedia</a:t>
            </a:r>
          </a:p>
        </p:txBody>
      </p:sp>
      <p:pic>
        <p:nvPicPr>
          <p:cNvPr id="7" name="Picture 6" descr="s22-mouse-brain.jpg"/>
          <p:cNvPicPr>
            <a:picLocks noChangeAspect="1"/>
          </p:cNvPicPr>
          <p:nvPr/>
        </p:nvPicPr>
        <p:blipFill>
          <a:blip r:embed="rId4"/>
          <a:stretch>
            <a:fillRect/>
          </a:stretch>
        </p:blipFill>
        <p:spPr>
          <a:xfrm>
            <a:off x="8046720" y="1371600"/>
            <a:ext cx="3840480" cy="2286000"/>
          </a:xfrm>
          <a:prstGeom prst="rect">
            <a:avLst/>
          </a:prstGeom>
        </p:spPr>
      </p:pic>
      <p:sp>
        <p:nvSpPr>
          <p:cNvPr id="8" name="TextBox 7"/>
          <p:cNvSpPr txBox="1"/>
          <p:nvPr/>
        </p:nvSpPr>
        <p:spPr>
          <a:xfrm>
            <a:off x="8046720" y="3703320"/>
            <a:ext cx="384048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Wikimedia · мышиный мозг</a:t>
            </a:r>
          </a:p>
        </p:txBody>
      </p:sp>
      <p:sp>
        <p:nvSpPr>
          <p:cNvPr id="9" name="Rounded Rectangle 8"/>
          <p:cNvSpPr/>
          <p:nvPr/>
        </p:nvSpPr>
        <p:spPr>
          <a:xfrm>
            <a:off x="365760" y="4114800"/>
            <a:ext cx="11548872" cy="128016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251960"/>
            <a:ext cx="10972800" cy="1097280"/>
          </a:xfrm>
          <a:prstGeom prst="rect">
            <a:avLst/>
          </a:prstGeom>
          <a:noFill/>
        </p:spPr>
        <p:txBody>
          <a:bodyPr wrap="square" lIns="0" rIns="0" tIns="0" bIns="0" anchor="t">
            <a:spAutoFit/>
          </a:bodyPr>
          <a:lstStyle/>
          <a:p>
            <a:pPr algn="l">
              <a:lnSpc>
                <a:spcPct val="118000"/>
              </a:lnSpc>
            </a:pPr>
            <a:r>
              <a:rPr sz="1300" b="1" i="0">
                <a:solidFill>
                  <a:srgbClr val="F0AB00"/>
                </a:solidFill>
                <a:latin typeface="Arial"/>
              </a:rPr>
              <a:t>Allen MICrONS, апрель 2025 — Nature 640 (2025):</a:t>
            </a:r>
          </a:p>
          <a:p>
            <a:pPr algn="l">
              <a:lnSpc>
                <a:spcPct val="118000"/>
              </a:lnSpc>
            </a:pPr>
            <a:r>
              <a:rPr sz="1400" b="0" i="1">
                <a:solidFill>
                  <a:srgbClr val="21295C"/>
                </a:solidFill>
                <a:latin typeface="Arial"/>
              </a:rPr>
              <a:t>Один кубический миллиметр зрительной коры мыши = 120 000 анатомических нейронов · 500 миллионов синапсов · 4 километра аксонов.</a:t>
            </a:r>
          </a:p>
          <a:p>
            <a:pPr algn="l">
              <a:lnSpc>
                <a:spcPct val="118000"/>
              </a:lnSpc>
            </a:pPr>
            <a:r>
              <a:rPr sz="1300" b="0" i="1">
                <a:solidFill>
                  <a:srgbClr val="065A82"/>
                </a:solidFill>
                <a:latin typeface="Arial"/>
              </a:rPr>
              <a:t>Задача невозможна без AI: U-Net + transformer для сегментации каждой клетки на десятках тысяч слоёв электронной микроскопии.</a:t>
            </a:r>
          </a:p>
        </p:txBody>
      </p:sp>
      <p:sp>
        <p:nvSpPr>
          <p:cNvPr id="11" name="Rounded Rectangle 10"/>
          <p:cNvSpPr/>
          <p:nvPr/>
        </p:nvSpPr>
        <p:spPr>
          <a:xfrm>
            <a:off x="365760" y="5532120"/>
            <a:ext cx="11548872" cy="5486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5577840"/>
            <a:ext cx="10972800" cy="502920"/>
          </a:xfrm>
          <a:prstGeom prst="rect">
            <a:avLst/>
          </a:prstGeom>
          <a:noFill/>
        </p:spPr>
        <p:txBody>
          <a:bodyPr wrap="square" lIns="0" rIns="0" tIns="0" bIns="0" anchor="t">
            <a:spAutoFit/>
          </a:bodyPr>
          <a:lstStyle/>
          <a:p>
            <a:pPr algn="l">
              <a:lnSpc>
                <a:spcPct val="115000"/>
              </a:lnSpc>
            </a:pPr>
            <a:r>
              <a:rPr sz="1200" b="0" i="1">
                <a:solidFill>
                  <a:srgbClr val="21295C"/>
                </a:solidFill>
                <a:latin typeface="Arial"/>
              </a:rPr>
              <a:t>Граница: 1 мм³ vs 500 мм³ мозга мыши = 500× масштабирование требует тысячи GPU-часов. Полный мозг мыши пока недосягаем.</a:t>
            </a:r>
          </a:p>
        </p:txBody>
      </p:sp>
      <p:sp>
        <p:nvSpPr>
          <p:cNvPr id="13" name="TextBox 12"/>
          <p:cNvSpPr txBox="1"/>
          <p:nvPr/>
        </p:nvSpPr>
        <p:spPr>
          <a:xfrm>
            <a:off x="457200" y="626364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 Allen Institute / MICrONS Consortium Nature 640 (2025)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LIGO ML: CNN + конформное предсказание = калиброванный 95% интервал.</a:t>
            </a:r>
          </a:p>
        </p:txBody>
      </p:sp>
      <p:pic>
        <p:nvPicPr>
          <p:cNvPr id="3" name="Picture 2" descr="s23-ligo.jpg"/>
          <p:cNvPicPr>
            <a:picLocks noChangeAspect="1"/>
          </p:cNvPicPr>
          <p:nvPr/>
        </p:nvPicPr>
        <p:blipFill>
          <a:blip r:embed="rId2"/>
          <a:stretch>
            <a:fillRect/>
          </a:stretch>
        </p:blipFill>
        <p:spPr>
          <a:xfrm>
            <a:off x="365760" y="1371600"/>
            <a:ext cx="4114800" cy="2286000"/>
          </a:xfrm>
          <a:prstGeom prst="rect">
            <a:avLst/>
          </a:prstGeom>
        </p:spPr>
      </p:pic>
      <p:sp>
        <p:nvSpPr>
          <p:cNvPr id="4" name="TextBox 3"/>
          <p:cNvSpPr txBox="1"/>
          <p:nvPr/>
        </p:nvSpPr>
        <p:spPr>
          <a:xfrm>
            <a:off x="365760" y="3703320"/>
            <a:ext cx="41148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 LIGO/Caltech 2024 · LLO Control Room</a:t>
            </a:r>
          </a:p>
        </p:txBody>
      </p:sp>
      <p:pic>
        <p:nvPicPr>
          <p:cNvPr id="5" name="Picture 4" descr="s23-blackholes.jpg"/>
          <p:cNvPicPr>
            <a:picLocks noChangeAspect="1"/>
          </p:cNvPicPr>
          <p:nvPr/>
        </p:nvPicPr>
        <p:blipFill>
          <a:blip r:embed="rId3"/>
          <a:stretch>
            <a:fillRect/>
          </a:stretch>
        </p:blipFill>
        <p:spPr>
          <a:xfrm>
            <a:off x="4663440" y="1371600"/>
            <a:ext cx="4114800" cy="2286000"/>
          </a:xfrm>
          <a:prstGeom prst="rect">
            <a:avLst/>
          </a:prstGeom>
        </p:spPr>
      </p:pic>
      <p:sp>
        <p:nvSpPr>
          <p:cNvPr id="6" name="TextBox 5"/>
          <p:cNvSpPr txBox="1"/>
          <p:nvPr/>
        </p:nvSpPr>
        <p:spPr>
          <a:xfrm>
            <a:off x="4663440" y="3703320"/>
            <a:ext cx="41148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Caltech-MIT-LIGO/SXS · столкновение чёрных дыр</a:t>
            </a:r>
          </a:p>
        </p:txBody>
      </p:sp>
      <p:pic>
        <p:nvPicPr>
          <p:cNvPr id="7" name="Picture 6" descr="s23-conformal.png"/>
          <p:cNvPicPr>
            <a:picLocks noChangeAspect="1"/>
          </p:cNvPicPr>
          <p:nvPr/>
        </p:nvPicPr>
        <p:blipFill>
          <a:blip r:embed="rId4"/>
          <a:stretch>
            <a:fillRect/>
          </a:stretch>
        </p:blipFill>
        <p:spPr>
          <a:xfrm>
            <a:off x="8961120" y="1371600"/>
            <a:ext cx="2926080" cy="2286000"/>
          </a:xfrm>
          <a:prstGeom prst="rect">
            <a:avLst/>
          </a:prstGeom>
        </p:spPr>
      </p:pic>
      <p:sp>
        <p:nvSpPr>
          <p:cNvPr id="8" name="Rounded Rectangle 7"/>
          <p:cNvSpPr/>
          <p:nvPr/>
        </p:nvSpPr>
        <p:spPr>
          <a:xfrm>
            <a:off x="365760" y="4114800"/>
            <a:ext cx="11548872" cy="196596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251960"/>
            <a:ext cx="10972800" cy="1828800"/>
          </a:xfrm>
          <a:prstGeom prst="rect">
            <a:avLst/>
          </a:prstGeom>
          <a:noFill/>
        </p:spPr>
        <p:txBody>
          <a:bodyPr wrap="square" lIns="0" rIns="0" tIns="0" bIns="0" anchor="t">
            <a:spAutoFit/>
          </a:bodyPr>
          <a:lstStyle/>
          <a:p>
            <a:pPr algn="l">
              <a:lnSpc>
                <a:spcPct val="118000"/>
              </a:lnSpc>
            </a:pPr>
            <a:r>
              <a:rPr sz="1400" b="1" i="0">
                <a:solidFill>
                  <a:srgbClr val="F0AB00"/>
                </a:solidFill>
                <a:latin typeface="Arial"/>
              </a:rPr>
              <a:t>Что такое конформное предсказание (conformal prediction):</a:t>
            </a:r>
          </a:p>
          <a:p>
            <a:pPr algn="l">
              <a:lnSpc>
                <a:spcPct val="118000"/>
              </a:lnSpc>
            </a:pPr>
            <a:r>
              <a:rPr sz="400" b="0" i="0">
                <a:solidFill>
                  <a:srgbClr val="21295C"/>
                </a:solidFill>
                <a:latin typeface="Arial"/>
              </a:rPr>
              <a:t/>
            </a:r>
          </a:p>
          <a:p>
            <a:pPr algn="l">
              <a:lnSpc>
                <a:spcPct val="118000"/>
              </a:lnSpc>
            </a:pPr>
            <a:r>
              <a:rPr sz="1300" b="0" i="0">
                <a:solidFill>
                  <a:srgbClr val="21295C"/>
                </a:solidFill>
                <a:latin typeface="Arial"/>
              </a:rPr>
              <a:t>Метод даёт калиброванный 95% доверительный интервал на каждое предсказание модели — БЕЗ предположений о нормальности распределения данных.</a:t>
            </a:r>
          </a:p>
          <a:p>
            <a:pPr algn="l">
              <a:lnSpc>
                <a:spcPct val="118000"/>
              </a:lnSpc>
            </a:pPr>
            <a:r>
              <a:rPr sz="400" b="0" i="0">
                <a:solidFill>
                  <a:srgbClr val="21295C"/>
                </a:solidFill>
                <a:latin typeface="Arial"/>
              </a:rPr>
              <a:t/>
            </a:r>
          </a:p>
          <a:p>
            <a:pPr algn="l">
              <a:lnSpc>
                <a:spcPct val="118000"/>
              </a:lnSpc>
            </a:pPr>
            <a:r>
              <a:rPr sz="1200" b="0" i="0">
                <a:solidFill>
                  <a:srgbClr val="065A82"/>
                </a:solidFill>
                <a:latin typeface="Arial"/>
              </a:rPr>
              <a:t>Архитектура LIGO 2024+: CNN сначала ранжирует кандидаты сигналов на потоке. Конформное предсказание даёт интервал «вероятность гравитационной волны 0.7-0.9 с p&lt;0.05». Matched filter (классический метод 1949 года, фильтр Винера) выполняет финальную атрибуцию параметров источника.</a:t>
            </a:r>
          </a:p>
          <a:p>
            <a:pPr algn="l">
              <a:lnSpc>
                <a:spcPct val="118000"/>
              </a:lnSpc>
            </a:pPr>
            <a:r>
              <a:rPr sz="400" b="0" i="0">
                <a:solidFill>
                  <a:srgbClr val="21295C"/>
                </a:solidFill>
                <a:latin typeface="Arial"/>
              </a:rPr>
              <a:t/>
            </a:r>
          </a:p>
          <a:p>
            <a:pPr algn="l">
              <a:lnSpc>
                <a:spcPct val="118000"/>
              </a:lnSpc>
            </a:pPr>
            <a:r>
              <a:rPr sz="1300" b="1" i="1">
                <a:solidFill>
                  <a:srgbClr val="F0AB00"/>
                </a:solidFill>
                <a:latin typeface="Arial"/>
              </a:rPr>
              <a:t>AI здесь дополняет — не заменяет — 80-летнее наследие классической обработки сигналов.</a:t>
            </a:r>
          </a:p>
        </p:txBody>
      </p:sp>
      <p:sp>
        <p:nvSpPr>
          <p:cNvPr id="10" name="TextBox 9"/>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Ashton et al. arxiv 2504.17587 (conformal prediction LIGO) · North 1943 (matched filter)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AlphaFold даёт 22% галлюцинаций в IDP-регионах. Паркинсон публикуете загрязнённо.</a:t>
            </a:r>
          </a:p>
        </p:txBody>
      </p:sp>
      <p:pic>
        <p:nvPicPr>
          <p:cNvPr id="3" name="Picture 2" descr="s24-protein-structure.png"/>
          <p:cNvPicPr>
            <a:picLocks noChangeAspect="1"/>
          </p:cNvPicPr>
          <p:nvPr/>
        </p:nvPicPr>
        <p:blipFill>
          <a:blip r:embed="rId2"/>
          <a:stretch>
            <a:fillRect/>
          </a:stretch>
        </p:blipFill>
        <p:spPr>
          <a:xfrm>
            <a:off x="457200" y="1371600"/>
            <a:ext cx="3657600" cy="3200400"/>
          </a:xfrm>
          <a:prstGeom prst="rect">
            <a:avLst/>
          </a:prstGeom>
        </p:spPr>
      </p:pic>
      <p:sp>
        <p:nvSpPr>
          <p:cNvPr id="4" name="TextBox 3"/>
          <p:cNvSpPr txBox="1"/>
          <p:nvPr/>
        </p:nvSpPr>
        <p:spPr>
          <a:xfrm>
            <a:off x="457200" y="4617720"/>
            <a:ext cx="36576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Wikimedia · стандартная белковая структура (CC-BY)</a:t>
            </a:r>
          </a:p>
        </p:txBody>
      </p:sp>
      <p:sp>
        <p:nvSpPr>
          <p:cNvPr id="5" name="Rounded Rectangle 4"/>
          <p:cNvSpPr/>
          <p:nvPr/>
        </p:nvSpPr>
        <p:spPr>
          <a:xfrm>
            <a:off x="4389120" y="1371600"/>
            <a:ext cx="3657600" cy="3200400"/>
          </a:xfrm>
          <a:prstGeom prst="roundRect">
            <a:avLst>
              <a:gd name="adj" fmla="val 10000"/>
            </a:avLst>
          </a:prstGeom>
          <a:solidFill>
            <a:srgbClr val="F4F7FA"/>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508760"/>
            <a:ext cx="3291840" cy="3017520"/>
          </a:xfrm>
          <a:prstGeom prst="rect">
            <a:avLst/>
          </a:prstGeom>
          <a:noFill/>
        </p:spPr>
        <p:txBody>
          <a:bodyPr wrap="square" lIns="0" rIns="0" tIns="0" bIns="0" anchor="t">
            <a:spAutoFit/>
          </a:bodyPr>
          <a:lstStyle/>
          <a:p>
            <a:pPr algn="l">
              <a:lnSpc>
                <a:spcPct val="115000"/>
              </a:lnSpc>
            </a:pPr>
            <a:r>
              <a:rPr sz="1300" b="1" i="0">
                <a:solidFill>
                  <a:srgbClr val="C0392B"/>
                </a:solidFill>
                <a:latin typeface="Arial"/>
              </a:rPr>
              <a:t>IDP — Intrinsically Disordered Protein</a:t>
            </a:r>
          </a:p>
          <a:p>
            <a:pPr algn="l">
              <a:lnSpc>
                <a:spcPct val="115000"/>
              </a:lnSpc>
            </a:pPr>
            <a:r>
              <a:rPr sz="400" b="0" i="0">
                <a:solidFill>
                  <a:srgbClr val="21295C"/>
                </a:solidFill>
                <a:latin typeface="Arial"/>
              </a:rPr>
              <a:t/>
            </a:r>
          </a:p>
          <a:p>
            <a:pPr algn="l">
              <a:lnSpc>
                <a:spcPct val="115000"/>
              </a:lnSpc>
            </a:pPr>
            <a:r>
              <a:rPr sz="1200" b="1" i="0">
                <a:solidFill>
                  <a:srgbClr val="065A82"/>
                </a:solidFill>
                <a:latin typeface="Arial"/>
              </a:rPr>
              <a:t>Что это:</a:t>
            </a:r>
          </a:p>
          <a:p>
            <a:pPr algn="l">
              <a:lnSpc>
                <a:spcPct val="115000"/>
              </a:lnSpc>
            </a:pPr>
            <a:r>
              <a:rPr sz="1100" b="0" i="1">
                <a:solidFill>
                  <a:srgbClr val="21295C"/>
                </a:solidFill>
                <a:latin typeface="Arial"/>
              </a:rPr>
              <a:t>Белок без стабильной 3D-структуры; существует как ансамбль конформаций</a:t>
            </a:r>
          </a:p>
          <a:p>
            <a:pPr algn="l">
              <a:lnSpc>
                <a:spcPct val="115000"/>
              </a:lnSpc>
            </a:pPr>
            <a:r>
              <a:rPr sz="400" b="0" i="0">
                <a:solidFill>
                  <a:srgbClr val="21295C"/>
                </a:solidFill>
                <a:latin typeface="Arial"/>
              </a:rPr>
              <a:t/>
            </a:r>
          </a:p>
          <a:p>
            <a:pPr algn="l">
              <a:lnSpc>
                <a:spcPct val="115000"/>
              </a:lnSpc>
            </a:pPr>
            <a:r>
              <a:rPr sz="1200" b="1" i="0">
                <a:solidFill>
                  <a:srgbClr val="065A82"/>
                </a:solidFill>
                <a:latin typeface="Arial"/>
              </a:rPr>
              <a:t>Распространённость:</a:t>
            </a:r>
          </a:p>
          <a:p>
            <a:pPr algn="l">
              <a:lnSpc>
                <a:spcPct val="115000"/>
              </a:lnSpc>
            </a:pPr>
            <a:r>
              <a:rPr sz="1100" b="0" i="0">
                <a:solidFill>
                  <a:srgbClr val="21295C"/>
                </a:solidFill>
                <a:latin typeface="Arial"/>
              </a:rPr>
              <a:t>30-40% человеческого протеома</a:t>
            </a:r>
          </a:p>
          <a:p>
            <a:pPr algn="l">
              <a:lnSpc>
                <a:spcPct val="115000"/>
              </a:lnSpc>
            </a:pPr>
            <a:r>
              <a:rPr sz="1100" b="0" i="0">
                <a:solidFill>
                  <a:srgbClr val="21295C"/>
                </a:solidFill>
                <a:latin typeface="Arial"/>
              </a:rPr>
              <a:t>содержит IDP-регионы</a:t>
            </a:r>
          </a:p>
          <a:p>
            <a:pPr algn="l">
              <a:lnSpc>
                <a:spcPct val="115000"/>
              </a:lnSpc>
            </a:pPr>
            <a:r>
              <a:rPr sz="400" b="0" i="0">
                <a:solidFill>
                  <a:srgbClr val="21295C"/>
                </a:solidFill>
                <a:latin typeface="Arial"/>
              </a:rPr>
              <a:t/>
            </a:r>
          </a:p>
          <a:p>
            <a:pPr algn="l">
              <a:lnSpc>
                <a:spcPct val="115000"/>
              </a:lnSpc>
            </a:pPr>
            <a:r>
              <a:rPr sz="1200" b="1" i="0">
                <a:solidFill>
                  <a:srgbClr val="065A82"/>
                </a:solidFill>
                <a:latin typeface="Arial"/>
              </a:rPr>
              <a:t>Конкретный пример:</a:t>
            </a:r>
          </a:p>
          <a:p>
            <a:pPr algn="l">
              <a:lnSpc>
                <a:spcPct val="115000"/>
              </a:lnSpc>
            </a:pPr>
            <a:r>
              <a:rPr sz="1100" b="0" i="0">
                <a:solidFill>
                  <a:srgbClr val="21295C"/>
                </a:solidFill>
                <a:latin typeface="Arial"/>
              </a:rPr>
              <a:t>α-Синуклеин (белок Паркинсона)</a:t>
            </a:r>
          </a:p>
          <a:p>
            <a:pPr algn="l">
              <a:lnSpc>
                <a:spcPct val="115000"/>
              </a:lnSpc>
            </a:pPr>
            <a:r>
              <a:rPr sz="1100" b="0" i="1">
                <a:solidFill>
                  <a:srgbClr val="065A82"/>
                </a:solidFill>
                <a:latin typeface="Arial"/>
              </a:rPr>
              <a:t>Полностью IDP в нативной форме</a:t>
            </a:r>
          </a:p>
          <a:p>
            <a:pPr algn="l">
              <a:lnSpc>
                <a:spcPct val="115000"/>
              </a:lnSpc>
            </a:pPr>
            <a:r>
              <a:rPr sz="1100" b="0" i="1">
                <a:solidFill>
                  <a:srgbClr val="C0392B"/>
                </a:solidFill>
                <a:latin typeface="Arial"/>
              </a:rPr>
              <a:t>AlphaFold даёт правдоподобную, но фантомную структуру</a:t>
            </a:r>
          </a:p>
        </p:txBody>
      </p:sp>
      <p:sp>
        <p:nvSpPr>
          <p:cNvPr id="7" name="Rounded Rectangle 6"/>
          <p:cNvSpPr/>
          <p:nvPr/>
        </p:nvSpPr>
        <p:spPr>
          <a:xfrm>
            <a:off x="8321040" y="1371600"/>
            <a:ext cx="3657600" cy="32004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0" y="1508760"/>
            <a:ext cx="3291840" cy="301752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pLDDT пороги:</a:t>
            </a:r>
          </a:p>
          <a:p>
            <a:pPr algn="l">
              <a:lnSpc>
                <a:spcPct val="115000"/>
              </a:lnSpc>
            </a:pPr>
            <a:r>
              <a:rPr sz="400" b="0" i="0">
                <a:solidFill>
                  <a:srgbClr val="21295C"/>
                </a:solidFill>
                <a:latin typeface="Arial"/>
              </a:rPr>
              <a:t/>
            </a:r>
          </a:p>
          <a:p>
            <a:pPr algn="l">
              <a:lnSpc>
                <a:spcPct val="115000"/>
              </a:lnSpc>
            </a:pPr>
            <a:r>
              <a:rPr sz="1100" b="0" i="0">
                <a:solidFill>
                  <a:srgbClr val="21295C"/>
                </a:solidFill>
                <a:latin typeface="Arial"/>
              </a:rPr>
              <a:t>&gt; 90 — очень высокая уверенность</a:t>
            </a:r>
          </a:p>
          <a:p>
            <a:pPr algn="l">
              <a:lnSpc>
                <a:spcPct val="115000"/>
              </a:lnSpc>
            </a:pPr>
            <a:r>
              <a:rPr sz="1100" b="0" i="0">
                <a:solidFill>
                  <a:srgbClr val="21295C"/>
                </a:solidFill>
                <a:latin typeface="Arial"/>
              </a:rPr>
              <a:t>70-90 — уверенность приемлемая</a:t>
            </a:r>
          </a:p>
          <a:p>
            <a:pPr algn="l">
              <a:lnSpc>
                <a:spcPct val="115000"/>
              </a:lnSpc>
            </a:pPr>
            <a:r>
              <a:rPr sz="1100" b="0" i="0">
                <a:solidFill>
                  <a:srgbClr val="21295C"/>
                </a:solidFill>
                <a:latin typeface="Arial"/>
              </a:rPr>
              <a:t>50-70 — низкая уверенность</a:t>
            </a:r>
          </a:p>
          <a:p>
            <a:pPr algn="l">
              <a:lnSpc>
                <a:spcPct val="115000"/>
              </a:lnSpc>
            </a:pPr>
            <a:r>
              <a:rPr sz="1100" b="1" i="0">
                <a:solidFill>
                  <a:srgbClr val="C0392B"/>
                </a:solidFill>
                <a:latin typeface="Arial"/>
              </a:rPr>
              <a:t>&lt; 50 — IDP или галлюцинация</a:t>
            </a:r>
          </a:p>
          <a:p>
            <a:pPr algn="l">
              <a:lnSpc>
                <a:spcPct val="115000"/>
              </a:lnSpc>
            </a:pPr>
            <a:r>
              <a:rPr sz="600" b="0" i="0">
                <a:solidFill>
                  <a:srgbClr val="21295C"/>
                </a:solidFill>
                <a:latin typeface="Arial"/>
              </a:rPr>
              <a:t/>
            </a:r>
          </a:p>
          <a:p>
            <a:pPr algn="l">
              <a:lnSpc>
                <a:spcPct val="115000"/>
              </a:lnSpc>
            </a:pPr>
            <a:r>
              <a:rPr sz="1300" b="1" i="0">
                <a:solidFill>
                  <a:srgbClr val="F0AB00"/>
                </a:solidFill>
                <a:latin typeface="Arial"/>
              </a:rPr>
              <a:t>Mitigation:</a:t>
            </a:r>
          </a:p>
          <a:p>
            <a:pPr algn="l">
              <a:lnSpc>
                <a:spcPct val="115000"/>
              </a:lnSpc>
            </a:pPr>
            <a:r>
              <a:rPr sz="1100" b="0" i="0">
                <a:solidFill>
                  <a:srgbClr val="21295C"/>
                </a:solidFill>
                <a:latin typeface="Arial"/>
              </a:rPr>
              <a:t>• Фильтровать по pLDDT &gt; 70</a:t>
            </a:r>
          </a:p>
          <a:p>
            <a:pPr algn="l">
              <a:lnSpc>
                <a:spcPct val="115000"/>
              </a:lnSpc>
            </a:pPr>
            <a:r>
              <a:rPr sz="1100" b="0" i="0">
                <a:solidFill>
                  <a:srgbClr val="21295C"/>
                </a:solidFill>
                <a:latin typeface="Arial"/>
              </a:rPr>
              <a:t>• NMR для подтверждения</a:t>
            </a:r>
          </a:p>
          <a:p>
            <a:pPr algn="l">
              <a:lnSpc>
                <a:spcPct val="115000"/>
              </a:lnSpc>
            </a:pPr>
            <a:r>
              <a:rPr sz="1100" b="0" i="0">
                <a:solidFill>
                  <a:srgbClr val="21295C"/>
                </a:solidFill>
                <a:latin typeface="Arial"/>
              </a:rPr>
              <a:t>• AlphaFold-Multimer + ансамбли</a:t>
            </a:r>
          </a:p>
          <a:p>
            <a:pPr algn="l">
              <a:lnSpc>
                <a:spcPct val="115000"/>
              </a:lnSpc>
            </a:pPr>
            <a:r>
              <a:rPr sz="1100" b="1" i="0">
                <a:solidFill>
                  <a:srgbClr val="F0AB00"/>
                </a:solidFill>
                <a:latin typeface="Arial"/>
              </a:rPr>
              <a:t>• Маркировать IDP-регионы явно</a:t>
            </a:r>
          </a:p>
        </p:txBody>
      </p:sp>
      <p:sp>
        <p:nvSpPr>
          <p:cNvPr id="9" name="Rounded Rectangle 8"/>
          <p:cNvSpPr/>
          <p:nvPr/>
        </p:nvSpPr>
        <p:spPr>
          <a:xfrm>
            <a:off x="457200" y="5166360"/>
            <a:ext cx="11457432" cy="914400"/>
          </a:xfrm>
          <a:prstGeom prst="roundRect">
            <a:avLst>
              <a:gd name="adj" fmla="val 10000"/>
            </a:avLst>
          </a:prstGeom>
          <a:solidFill>
            <a:srgbClr val="F4F7FA"/>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257800"/>
            <a:ext cx="11000232" cy="777240"/>
          </a:xfrm>
          <a:prstGeom prst="rect">
            <a:avLst/>
          </a:prstGeom>
          <a:noFill/>
        </p:spPr>
        <p:txBody>
          <a:bodyPr wrap="square" lIns="0" rIns="0" tIns="0" bIns="0" anchor="ctr">
            <a:spAutoFit/>
          </a:bodyPr>
          <a:lstStyle/>
          <a:p>
            <a:pPr algn="l">
              <a:lnSpc>
                <a:spcPct val="115000"/>
              </a:lnSpc>
            </a:pPr>
            <a:r>
              <a:rPr sz="1300" b="1" i="1">
                <a:solidFill>
                  <a:srgbClr val="C0392B"/>
                </a:solidFill>
                <a:latin typeface="Arial"/>
              </a:rPr>
              <a:t>Главная ошибка инженера: использовать AlphaFold для IDP-регионов без оговорки → публикация фантомной структуры → каскад загрязнённых работ.</a:t>
            </a:r>
          </a:p>
        </p:txBody>
      </p:sp>
      <p:sp>
        <p:nvSpPr>
          <p:cNvPr id="11" name="TextBox 10"/>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Akdel et al. Nature Struct Mol Biol 2022 · Gopalan &amp; Narayanan arxiv 2510.15939 (2025)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WE-TESS: 5-шаговая рамка ML-развёртывания в Analyse-фазе.</a:t>
            </a:r>
          </a:p>
        </p:txBody>
      </p:sp>
      <p:sp>
        <p:nvSpPr>
          <p:cNvPr id="3" name="Rounded Rectangle 2"/>
          <p:cNvSpPr/>
          <p:nvPr/>
        </p:nvSpPr>
        <p:spPr>
          <a:xfrm>
            <a:off x="457200" y="1371600"/>
            <a:ext cx="11274552" cy="5486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1274552" cy="548640"/>
          </a:xfrm>
          <a:prstGeom prst="rect">
            <a:avLst/>
          </a:prstGeom>
          <a:noFill/>
        </p:spPr>
        <p:txBody>
          <a:bodyPr wrap="square" lIns="0" rIns="0" tIns="0" bIns="0" anchor="ctr">
            <a:spAutoFit/>
          </a:bodyPr>
          <a:lstStyle/>
          <a:p>
            <a:pPr algn="ctr">
              <a:lnSpc>
                <a:spcPct val="115000"/>
              </a:lnSpc>
            </a:pPr>
            <a:r>
              <a:rPr sz="1400" b="1" i="1">
                <a:solidFill>
                  <a:srgbClr val="21295C"/>
                </a:solidFill>
                <a:latin typeface="Arial"/>
              </a:rPr>
              <a:t>Задача: «Нужно обнаружить экзопланеты в light curves TESS» — какую модель использовать?</a:t>
            </a:r>
          </a:p>
        </p:txBody>
      </p:sp>
      <p:sp>
        <p:nvSpPr>
          <p:cNvPr id="5" name="Rounded Rectangle 4"/>
          <p:cNvSpPr/>
          <p:nvPr/>
        </p:nvSpPr>
        <p:spPr>
          <a:xfrm>
            <a:off x="457200" y="2194560"/>
            <a:ext cx="2212848" cy="320040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66444" y="2331720"/>
            <a:ext cx="59436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31720"/>
            <a:ext cx="2212848" cy="594360"/>
          </a:xfrm>
          <a:prstGeom prst="rect">
            <a:avLst/>
          </a:prstGeom>
          <a:noFill/>
        </p:spPr>
        <p:txBody>
          <a:bodyPr wrap="square" lIns="0" rIns="0" tIns="0" bIns="0" anchor="ctr">
            <a:spAutoFit/>
          </a:bodyPr>
          <a:lstStyle/>
          <a:p>
            <a:pPr algn="ctr">
              <a:lnSpc>
                <a:spcPct val="115000"/>
              </a:lnSpc>
            </a:pPr>
            <a:r>
              <a:rPr sz="2400" b="1" i="0">
                <a:solidFill>
                  <a:srgbClr val="FFFFFF"/>
                </a:solidFill>
                <a:latin typeface="Arial"/>
              </a:rPr>
              <a:t>1</a:t>
            </a:r>
          </a:p>
        </p:txBody>
      </p:sp>
      <p:sp>
        <p:nvSpPr>
          <p:cNvPr id="8" name="TextBox 7"/>
          <p:cNvSpPr txBox="1"/>
          <p:nvPr/>
        </p:nvSpPr>
        <p:spPr>
          <a:xfrm>
            <a:off x="548640" y="3063239"/>
            <a:ext cx="2029967" cy="32004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Пересечение данных</a:t>
            </a:r>
          </a:p>
        </p:txBody>
      </p:sp>
      <p:sp>
        <p:nvSpPr>
          <p:cNvPr id="9" name="TextBox 8"/>
          <p:cNvSpPr txBox="1"/>
          <p:nvPr/>
        </p:nvSpPr>
        <p:spPr>
          <a:xfrm>
            <a:off x="548640" y="3474720"/>
            <a:ext cx="2029967" cy="868680"/>
          </a:xfrm>
          <a:prstGeom prst="rect">
            <a:avLst/>
          </a:prstGeom>
          <a:noFill/>
        </p:spPr>
        <p:txBody>
          <a:bodyPr wrap="square" lIns="0" rIns="0" tIns="0" bIns="0" anchor="t">
            <a:spAutoFit/>
          </a:bodyPr>
          <a:lstStyle/>
          <a:p>
            <a:pPr algn="ctr">
              <a:lnSpc>
                <a:spcPct val="120000"/>
              </a:lnSpc>
            </a:pPr>
            <a:r>
              <a:rPr sz="1000" b="0" i="1">
                <a:solidFill>
                  <a:srgbClr val="065A82"/>
                </a:solidFill>
                <a:latin typeface="Arial"/>
              </a:rPr>
              <a:t>Совпадают ли
распределения
TESS ↔ Kepler?</a:t>
            </a:r>
          </a:p>
        </p:txBody>
      </p:sp>
      <p:sp>
        <p:nvSpPr>
          <p:cNvPr id="10" name="TextBox 9"/>
          <p:cNvSpPr txBox="1"/>
          <p:nvPr/>
        </p:nvSpPr>
        <p:spPr>
          <a:xfrm>
            <a:off x="548640" y="4389120"/>
            <a:ext cx="2029967" cy="914400"/>
          </a:xfrm>
          <a:prstGeom prst="rect">
            <a:avLst/>
          </a:prstGeom>
          <a:noFill/>
        </p:spPr>
        <p:txBody>
          <a:bodyPr wrap="square" lIns="0" rIns="0" tIns="0" bIns="0" anchor="t">
            <a:spAutoFit/>
          </a:bodyPr>
          <a:lstStyle/>
          <a:p>
            <a:pPr algn="ctr">
              <a:lnSpc>
                <a:spcPct val="115000"/>
              </a:lnSpc>
            </a:pPr>
            <a:r>
              <a:rPr sz="900" b="0" i="1">
                <a:solidFill>
                  <a:srgbClr val="21295C"/>
                </a:solidFill>
                <a:latin typeface="Arial"/>
              </a:rPr>
              <a:t>Спектры схожи — pre-train на Kepler работает</a:t>
            </a:r>
          </a:p>
        </p:txBody>
      </p:sp>
      <p:sp>
        <p:nvSpPr>
          <p:cNvPr id="11" name="Rounded Rectangle 10"/>
          <p:cNvSpPr/>
          <p:nvPr/>
        </p:nvSpPr>
        <p:spPr>
          <a:xfrm>
            <a:off x="2715768" y="2194560"/>
            <a:ext cx="2212848" cy="320040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25011" y="2331720"/>
            <a:ext cx="594360" cy="59436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15768" y="2331720"/>
            <a:ext cx="2212848" cy="594360"/>
          </a:xfrm>
          <a:prstGeom prst="rect">
            <a:avLst/>
          </a:prstGeom>
          <a:noFill/>
        </p:spPr>
        <p:txBody>
          <a:bodyPr wrap="square" lIns="0" rIns="0" tIns="0" bIns="0" anchor="ctr">
            <a:spAutoFit/>
          </a:bodyPr>
          <a:lstStyle/>
          <a:p>
            <a:pPr algn="ctr">
              <a:lnSpc>
                <a:spcPct val="115000"/>
              </a:lnSpc>
            </a:pPr>
            <a:r>
              <a:rPr sz="2400" b="1" i="0">
                <a:solidFill>
                  <a:srgbClr val="FFFFFF"/>
                </a:solidFill>
                <a:latin typeface="Arial"/>
              </a:rPr>
              <a:t>2</a:t>
            </a:r>
          </a:p>
        </p:txBody>
      </p:sp>
      <p:sp>
        <p:nvSpPr>
          <p:cNvPr id="14" name="TextBox 13"/>
          <p:cNvSpPr txBox="1"/>
          <p:nvPr/>
        </p:nvSpPr>
        <p:spPr>
          <a:xfrm>
            <a:off x="2807208" y="3063239"/>
            <a:ext cx="2029967" cy="32004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Наличие разметки</a:t>
            </a:r>
          </a:p>
        </p:txBody>
      </p:sp>
      <p:sp>
        <p:nvSpPr>
          <p:cNvPr id="15" name="TextBox 14"/>
          <p:cNvSpPr txBox="1"/>
          <p:nvPr/>
        </p:nvSpPr>
        <p:spPr>
          <a:xfrm>
            <a:off x="2807208" y="3474720"/>
            <a:ext cx="2029967" cy="868680"/>
          </a:xfrm>
          <a:prstGeom prst="rect">
            <a:avLst/>
          </a:prstGeom>
          <a:noFill/>
        </p:spPr>
        <p:txBody>
          <a:bodyPr wrap="square" lIns="0" rIns="0" tIns="0" bIns="0" anchor="t">
            <a:spAutoFit/>
          </a:bodyPr>
          <a:lstStyle/>
          <a:p>
            <a:pPr algn="ctr">
              <a:lnSpc>
                <a:spcPct val="120000"/>
              </a:lnSpc>
            </a:pPr>
            <a:r>
              <a:rPr sz="1000" b="0" i="1">
                <a:solidFill>
                  <a:srgbClr val="065A82"/>
                </a:solidFill>
                <a:latin typeface="Arial"/>
              </a:rPr>
              <a:t>8 000+
подтверждённых
транзитов в Kepler</a:t>
            </a:r>
          </a:p>
        </p:txBody>
      </p:sp>
      <p:sp>
        <p:nvSpPr>
          <p:cNvPr id="16" name="TextBox 15"/>
          <p:cNvSpPr txBox="1"/>
          <p:nvPr/>
        </p:nvSpPr>
        <p:spPr>
          <a:xfrm>
            <a:off x="2807208" y="4389120"/>
            <a:ext cx="2029967" cy="914400"/>
          </a:xfrm>
          <a:prstGeom prst="rect">
            <a:avLst/>
          </a:prstGeom>
          <a:noFill/>
        </p:spPr>
        <p:txBody>
          <a:bodyPr wrap="square" lIns="0" rIns="0" tIns="0" bIns="0" anchor="t">
            <a:spAutoFit/>
          </a:bodyPr>
          <a:lstStyle/>
          <a:p>
            <a:pPr algn="ctr">
              <a:lnSpc>
                <a:spcPct val="115000"/>
              </a:lnSpc>
            </a:pPr>
            <a:r>
              <a:rPr sz="900" b="0" i="1">
                <a:solidFill>
                  <a:srgbClr val="21295C"/>
                </a:solidFill>
                <a:latin typeface="Arial"/>
              </a:rPr>
              <a:t>Большой эталонный набор готов</a:t>
            </a:r>
          </a:p>
        </p:txBody>
      </p:sp>
      <p:sp>
        <p:nvSpPr>
          <p:cNvPr id="17" name="Rounded Rectangle 16"/>
          <p:cNvSpPr/>
          <p:nvPr/>
        </p:nvSpPr>
        <p:spPr>
          <a:xfrm>
            <a:off x="4974336" y="2194560"/>
            <a:ext cx="2212848" cy="320040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783579" y="2331720"/>
            <a:ext cx="594360" cy="59436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74336" y="2331720"/>
            <a:ext cx="2212848" cy="594360"/>
          </a:xfrm>
          <a:prstGeom prst="rect">
            <a:avLst/>
          </a:prstGeom>
          <a:noFill/>
        </p:spPr>
        <p:txBody>
          <a:bodyPr wrap="square" lIns="0" rIns="0" tIns="0" bIns="0" anchor="ctr">
            <a:spAutoFit/>
          </a:bodyPr>
          <a:lstStyle/>
          <a:p>
            <a:pPr algn="ctr">
              <a:lnSpc>
                <a:spcPct val="115000"/>
              </a:lnSpc>
            </a:pPr>
            <a:r>
              <a:rPr sz="2400" b="1" i="0">
                <a:solidFill>
                  <a:srgbClr val="FFFFFF"/>
                </a:solidFill>
                <a:latin typeface="Arial"/>
              </a:rPr>
              <a:t>3</a:t>
            </a:r>
          </a:p>
        </p:txBody>
      </p:sp>
      <p:sp>
        <p:nvSpPr>
          <p:cNvPr id="20" name="TextBox 19"/>
          <p:cNvSpPr txBox="1"/>
          <p:nvPr/>
        </p:nvSpPr>
        <p:spPr>
          <a:xfrm>
            <a:off x="5065775" y="3063239"/>
            <a:ext cx="2029967" cy="32004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Затраты GPU</a:t>
            </a:r>
          </a:p>
        </p:txBody>
      </p:sp>
      <p:sp>
        <p:nvSpPr>
          <p:cNvPr id="21" name="TextBox 20"/>
          <p:cNvSpPr txBox="1"/>
          <p:nvPr/>
        </p:nvSpPr>
        <p:spPr>
          <a:xfrm>
            <a:off x="5065775" y="3474720"/>
            <a:ext cx="2029967" cy="868680"/>
          </a:xfrm>
          <a:prstGeom prst="rect">
            <a:avLst/>
          </a:prstGeom>
          <a:noFill/>
        </p:spPr>
        <p:txBody>
          <a:bodyPr wrap="square" lIns="0" rIns="0" tIns="0" bIns="0" anchor="t">
            <a:spAutoFit/>
          </a:bodyPr>
          <a:lstStyle/>
          <a:p>
            <a:pPr algn="ctr">
              <a:lnSpc>
                <a:spcPct val="120000"/>
              </a:lnSpc>
            </a:pPr>
            <a:r>
              <a:rPr sz="1000" b="0" i="1">
                <a:solidFill>
                  <a:srgbClr val="065A82"/>
                </a:solidFill>
                <a:latin typeface="Arial"/>
              </a:rPr>
              <a:t>CPU 7 дней
или A100 4 часа</a:t>
            </a:r>
          </a:p>
        </p:txBody>
      </p:sp>
      <p:sp>
        <p:nvSpPr>
          <p:cNvPr id="22" name="TextBox 21"/>
          <p:cNvSpPr txBox="1"/>
          <p:nvPr/>
        </p:nvSpPr>
        <p:spPr>
          <a:xfrm>
            <a:off x="5065775" y="4389120"/>
            <a:ext cx="2029967" cy="914400"/>
          </a:xfrm>
          <a:prstGeom prst="rect">
            <a:avLst/>
          </a:prstGeom>
          <a:noFill/>
        </p:spPr>
        <p:txBody>
          <a:bodyPr wrap="square" lIns="0" rIns="0" tIns="0" bIns="0" anchor="t">
            <a:spAutoFit/>
          </a:bodyPr>
          <a:lstStyle/>
          <a:p>
            <a:pPr algn="ctr">
              <a:lnSpc>
                <a:spcPct val="115000"/>
              </a:lnSpc>
            </a:pPr>
            <a:r>
              <a:rPr sz="900" b="0" i="1">
                <a:solidFill>
                  <a:srgbClr val="21295C"/>
                </a:solidFill>
                <a:latin typeface="Arial"/>
              </a:rPr>
              <a:t>A100 окупается уже на одном запуске</a:t>
            </a:r>
          </a:p>
        </p:txBody>
      </p:sp>
      <p:sp>
        <p:nvSpPr>
          <p:cNvPr id="23" name="Rounded Rectangle 22"/>
          <p:cNvSpPr/>
          <p:nvPr/>
        </p:nvSpPr>
        <p:spPr>
          <a:xfrm>
            <a:off x="7232903" y="2194560"/>
            <a:ext cx="2212848" cy="320040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42148" y="2331720"/>
            <a:ext cx="594360" cy="59436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2903" y="2331720"/>
            <a:ext cx="2212848" cy="594360"/>
          </a:xfrm>
          <a:prstGeom prst="rect">
            <a:avLst/>
          </a:prstGeom>
          <a:noFill/>
        </p:spPr>
        <p:txBody>
          <a:bodyPr wrap="square" lIns="0" rIns="0" tIns="0" bIns="0" anchor="ctr">
            <a:spAutoFit/>
          </a:bodyPr>
          <a:lstStyle/>
          <a:p>
            <a:pPr algn="ctr">
              <a:lnSpc>
                <a:spcPct val="115000"/>
              </a:lnSpc>
            </a:pPr>
            <a:r>
              <a:rPr sz="2400" b="1" i="0">
                <a:solidFill>
                  <a:srgbClr val="FFFFFF"/>
                </a:solidFill>
                <a:latin typeface="Arial"/>
              </a:rPr>
              <a:t>4</a:t>
            </a:r>
          </a:p>
        </p:txBody>
      </p:sp>
      <p:sp>
        <p:nvSpPr>
          <p:cNvPr id="26" name="TextBox 25"/>
          <p:cNvSpPr txBox="1"/>
          <p:nvPr/>
        </p:nvSpPr>
        <p:spPr>
          <a:xfrm>
            <a:off x="7324344" y="3063239"/>
            <a:ext cx="2029967" cy="32004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Базовая AUC</a:t>
            </a:r>
          </a:p>
        </p:txBody>
      </p:sp>
      <p:sp>
        <p:nvSpPr>
          <p:cNvPr id="27" name="TextBox 26"/>
          <p:cNvSpPr txBox="1"/>
          <p:nvPr/>
        </p:nvSpPr>
        <p:spPr>
          <a:xfrm>
            <a:off x="7324344" y="3474720"/>
            <a:ext cx="2029967" cy="868680"/>
          </a:xfrm>
          <a:prstGeom prst="rect">
            <a:avLst/>
          </a:prstGeom>
          <a:noFill/>
        </p:spPr>
        <p:txBody>
          <a:bodyPr wrap="square" lIns="0" rIns="0" tIns="0" bIns="0" anchor="t">
            <a:spAutoFit/>
          </a:bodyPr>
          <a:lstStyle/>
          <a:p>
            <a:pPr algn="ctr">
              <a:lnSpc>
                <a:spcPct val="120000"/>
              </a:lnSpc>
            </a:pPr>
            <a:r>
              <a:rPr sz="1000" b="0" i="1">
                <a:solidFill>
                  <a:srgbClr val="065A82"/>
                </a:solidFill>
                <a:latin typeface="Arial"/>
              </a:rPr>
              <a:t>BLS (Kovács 2002)
→ 78% базовый уровень</a:t>
            </a:r>
          </a:p>
        </p:txBody>
      </p:sp>
      <p:sp>
        <p:nvSpPr>
          <p:cNvPr id="28" name="TextBox 27"/>
          <p:cNvSpPr txBox="1"/>
          <p:nvPr/>
        </p:nvSpPr>
        <p:spPr>
          <a:xfrm>
            <a:off x="7324344" y="4389120"/>
            <a:ext cx="2029967" cy="914400"/>
          </a:xfrm>
          <a:prstGeom prst="rect">
            <a:avLst/>
          </a:prstGeom>
          <a:noFill/>
        </p:spPr>
        <p:txBody>
          <a:bodyPr wrap="square" lIns="0" rIns="0" tIns="0" bIns="0" anchor="t">
            <a:spAutoFit/>
          </a:bodyPr>
          <a:lstStyle/>
          <a:p>
            <a:pPr algn="ctr">
              <a:lnSpc>
                <a:spcPct val="115000"/>
              </a:lnSpc>
            </a:pPr>
            <a:r>
              <a:rPr sz="900" b="0" i="1">
                <a:solidFill>
                  <a:srgbClr val="21295C"/>
                </a:solidFill>
                <a:latin typeface="Arial"/>
              </a:rPr>
              <a:t>Любая модель должна обогнать</a:t>
            </a:r>
          </a:p>
        </p:txBody>
      </p:sp>
      <p:sp>
        <p:nvSpPr>
          <p:cNvPr id="29" name="Rounded Rectangle 28"/>
          <p:cNvSpPr/>
          <p:nvPr/>
        </p:nvSpPr>
        <p:spPr>
          <a:xfrm>
            <a:off x="9491472" y="2194560"/>
            <a:ext cx="2212848" cy="320040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300715" y="2331720"/>
            <a:ext cx="594360" cy="59436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331720"/>
            <a:ext cx="2212848" cy="594360"/>
          </a:xfrm>
          <a:prstGeom prst="rect">
            <a:avLst/>
          </a:prstGeom>
          <a:noFill/>
        </p:spPr>
        <p:txBody>
          <a:bodyPr wrap="square" lIns="0" rIns="0" tIns="0" bIns="0" anchor="ctr">
            <a:spAutoFit/>
          </a:bodyPr>
          <a:lstStyle/>
          <a:p>
            <a:pPr algn="ctr">
              <a:lnSpc>
                <a:spcPct val="115000"/>
              </a:lnSpc>
            </a:pPr>
            <a:r>
              <a:rPr sz="2400" b="1" i="0">
                <a:solidFill>
                  <a:srgbClr val="FFFFFF"/>
                </a:solidFill>
                <a:latin typeface="Arial"/>
              </a:rPr>
              <a:t>5</a:t>
            </a:r>
          </a:p>
        </p:txBody>
      </p:sp>
      <p:sp>
        <p:nvSpPr>
          <p:cNvPr id="32" name="TextBox 31"/>
          <p:cNvSpPr txBox="1"/>
          <p:nvPr/>
        </p:nvSpPr>
        <p:spPr>
          <a:xfrm>
            <a:off x="9582911" y="3063239"/>
            <a:ext cx="2029967" cy="32004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Валидация на отложенной</a:t>
            </a:r>
          </a:p>
        </p:txBody>
      </p:sp>
      <p:sp>
        <p:nvSpPr>
          <p:cNvPr id="33" name="TextBox 32"/>
          <p:cNvSpPr txBox="1"/>
          <p:nvPr/>
        </p:nvSpPr>
        <p:spPr>
          <a:xfrm>
            <a:off x="9582911" y="3474720"/>
            <a:ext cx="2029967" cy="868680"/>
          </a:xfrm>
          <a:prstGeom prst="rect">
            <a:avLst/>
          </a:prstGeom>
          <a:noFill/>
        </p:spPr>
        <p:txBody>
          <a:bodyPr wrap="square" lIns="0" rIns="0" tIns="0" bIns="0" anchor="t">
            <a:spAutoFit/>
          </a:bodyPr>
          <a:lstStyle/>
          <a:p>
            <a:pPr algn="ctr">
              <a:lnSpc>
                <a:spcPct val="120000"/>
              </a:lnSpc>
            </a:pPr>
            <a:r>
              <a:rPr sz="1000" b="0" i="1">
                <a:solidFill>
                  <a:srgbClr val="065A82"/>
                </a:solidFill>
                <a:latin typeface="Arial"/>
              </a:rPr>
              <a:t>1 595
высокоуверенных</a:t>
            </a:r>
          </a:p>
        </p:txBody>
      </p:sp>
      <p:sp>
        <p:nvSpPr>
          <p:cNvPr id="34" name="TextBox 33"/>
          <p:cNvSpPr txBox="1"/>
          <p:nvPr/>
        </p:nvSpPr>
        <p:spPr>
          <a:xfrm>
            <a:off x="9582911" y="4389120"/>
            <a:ext cx="2029967" cy="914400"/>
          </a:xfrm>
          <a:prstGeom prst="rect">
            <a:avLst/>
          </a:prstGeom>
          <a:noFill/>
        </p:spPr>
        <p:txBody>
          <a:bodyPr wrap="square" lIns="0" rIns="0" tIns="0" bIns="0" anchor="t">
            <a:spAutoFit/>
          </a:bodyPr>
          <a:lstStyle/>
          <a:p>
            <a:pPr algn="ctr">
              <a:lnSpc>
                <a:spcPct val="115000"/>
              </a:lnSpc>
            </a:pPr>
            <a:r>
              <a:rPr sz="900" b="0" i="1">
                <a:solidFill>
                  <a:srgbClr val="21295C"/>
                </a:solidFill>
                <a:latin typeface="Arial"/>
              </a:rPr>
              <a:t>Pre-trained CNN дообучить лучше</a:t>
            </a:r>
          </a:p>
        </p:txBody>
      </p:sp>
      <p:sp>
        <p:nvSpPr>
          <p:cNvPr id="35" name="Rounded Rectangle 34"/>
          <p:cNvSpPr/>
          <p:nvPr/>
        </p:nvSpPr>
        <p:spPr>
          <a:xfrm>
            <a:off x="457200" y="5532120"/>
            <a:ext cx="11274552" cy="5486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5577840"/>
            <a:ext cx="11000232" cy="457200"/>
          </a:xfrm>
          <a:prstGeom prst="rect">
            <a:avLst/>
          </a:prstGeom>
          <a:noFill/>
        </p:spPr>
        <p:txBody>
          <a:bodyPr wrap="square" lIns="0" rIns="0" tIns="0" bIns="0" anchor="ctr">
            <a:spAutoFit/>
          </a:bodyPr>
          <a:lstStyle/>
          <a:p>
            <a:pPr algn="l">
              <a:lnSpc>
                <a:spcPct val="115000"/>
              </a:lnSpc>
            </a:pPr>
            <a:r>
              <a:rPr sz="1300" b="1" i="1">
                <a:solidFill>
                  <a:srgbClr val="21295C"/>
                </a:solidFill>
                <a:latin typeface="Arial"/>
              </a:rPr>
              <a:t>Универсальная рамка для любой задачи Analyse-фазы. Применима за пределами астрономии — везде, где есть размеченный базовый уровень.</a:t>
            </a:r>
          </a:p>
        </p:txBody>
      </p:sp>
      <p:sp>
        <p:nvSpPr>
          <p:cNvPr id="37" name="TextBox 36"/>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Shallue &amp; Vanderburg ApJ 2018 · Huang &amp; Jiang arxiv 2512.00967 (2025)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457200" y="1371600"/>
            <a:ext cx="4572000" cy="2743200"/>
          </a:xfrm>
          <a:prstGeom prst="rect">
            <a:avLst/>
          </a:prstGeom>
          <a:noFill/>
        </p:spPr>
        <p:txBody>
          <a:bodyPr wrap="square" lIns="0" rIns="0" tIns="0" bIns="0" anchor="ctr">
            <a:spAutoFit/>
          </a:bodyPr>
          <a:lstStyle/>
          <a:p>
            <a:pPr algn="ctr">
              <a:lnSpc>
                <a:spcPct val="115000"/>
              </a:lnSpc>
            </a:pPr>
            <a:r>
              <a:rPr sz="20000" b="1" i="0">
                <a:solidFill>
                  <a:srgbClr val="C0392B"/>
                </a:solidFill>
                <a:latin typeface="Arial"/>
              </a:rPr>
              <a:t>§4</a:t>
            </a:r>
          </a:p>
        </p:txBody>
      </p:sp>
      <p:sp>
        <p:nvSpPr>
          <p:cNvPr id="3" name="TextBox 2"/>
          <p:cNvSpPr txBox="1"/>
          <p:nvPr/>
        </p:nvSpPr>
        <p:spPr>
          <a:xfrm>
            <a:off x="5029200" y="1554480"/>
            <a:ext cx="6675120" cy="3657600"/>
          </a:xfrm>
          <a:prstGeom prst="rect">
            <a:avLst/>
          </a:prstGeom>
          <a:noFill/>
        </p:spPr>
        <p:txBody>
          <a:bodyPr wrap="square" lIns="0" rIns="0" tIns="0" bIns="0" anchor="t">
            <a:spAutoFit/>
          </a:bodyPr>
          <a:lstStyle/>
          <a:p>
            <a:pPr algn="l">
              <a:lnSpc>
                <a:spcPct val="120000"/>
              </a:lnSpc>
            </a:pPr>
            <a:r>
              <a:rPr sz="2200" b="1" i="0">
                <a:solidFill>
                  <a:srgbClr val="065A82"/>
                </a:solidFill>
                <a:latin typeface="Arial"/>
              </a:rPr>
              <a:t>Раздел 4</a:t>
            </a:r>
          </a:p>
          <a:p>
            <a:pPr algn="l">
              <a:lnSpc>
                <a:spcPct val="120000"/>
              </a:lnSpc>
            </a:pPr>
            <a:r>
              <a:rPr sz="4200" b="1" i="0">
                <a:solidFill>
                  <a:srgbClr val="21295C"/>
                </a:solidFill>
                <a:latin typeface="Arial"/>
              </a:rPr>
              <a:t>Write + Review</a:t>
            </a:r>
          </a:p>
          <a:p>
            <a:pPr algn="l">
              <a:lnSpc>
                <a:spcPct val="120000"/>
              </a:lnSpc>
            </a:pPr>
            <a:r>
              <a:rPr sz="2400" b="0" i="1">
                <a:solidFill>
                  <a:srgbClr val="1C7293"/>
                </a:solidFill>
                <a:latin typeface="Arial"/>
              </a:rPr>
              <a:t>Написание и рецензирование</a:t>
            </a:r>
          </a:p>
          <a:p>
            <a:pPr algn="l">
              <a:lnSpc>
                <a:spcPct val="120000"/>
              </a:lnSpc>
            </a:pPr>
            <a:r>
              <a:rPr sz="1200" b="0" i="0">
                <a:solidFill>
                  <a:srgbClr val="21295C"/>
                </a:solidFill>
                <a:latin typeface="Arial"/>
              </a:rPr>
              <a:t/>
            </a:r>
          </a:p>
          <a:p>
            <a:pPr algn="l">
              <a:lnSpc>
                <a:spcPct val="120000"/>
              </a:lnSpc>
            </a:pPr>
            <a:r>
              <a:rPr sz="1800" b="0" i="0">
                <a:solidFill>
                  <a:srgbClr val="21295C"/>
                </a:solidFill>
                <a:latin typeface="Arial"/>
              </a:rPr>
              <a:t>AI против</a:t>
            </a:r>
          </a:p>
          <a:p>
            <a:pPr algn="l">
              <a:lnSpc>
                <a:spcPct val="120000"/>
              </a:lnSpc>
            </a:pPr>
            <a:r>
              <a:rPr sz="1800" b="1" i="0">
                <a:solidFill>
                  <a:srgbClr val="C0392B"/>
                </a:solidFill>
                <a:latin typeface="Arial"/>
              </a:rPr>
              <a:t>академической интегриты.</a:t>
            </a:r>
          </a:p>
        </p:txBody>
      </p:sp>
      <p:sp>
        <p:nvSpPr>
          <p:cNvPr id="4" name="Rounded Rectangle 3"/>
          <p:cNvSpPr/>
          <p:nvPr/>
        </p:nvSpPr>
        <p:spPr>
          <a:xfrm>
            <a:off x="5029200" y="5120640"/>
            <a:ext cx="2139696" cy="365760"/>
          </a:xfrm>
          <a:prstGeom prst="roundRect">
            <a:avLst>
              <a:gd name="adj" fmla="val 10000"/>
            </a:avLst>
          </a:prstGeom>
          <a:solidFill>
            <a:srgbClr val="1C7293"/>
          </a:solidFill>
          <a:ln>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0" y="5120640"/>
            <a:ext cx="2139696"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NotebookLM / Elicit</a:t>
            </a:r>
          </a:p>
        </p:txBody>
      </p:sp>
      <p:sp>
        <p:nvSpPr>
          <p:cNvPr id="6" name="Rounded Rectangle 5"/>
          <p:cNvSpPr/>
          <p:nvPr/>
        </p:nvSpPr>
        <p:spPr>
          <a:xfrm>
            <a:off x="7242048" y="5120640"/>
            <a:ext cx="1938528" cy="365760"/>
          </a:xfrm>
          <a:prstGeom prst="roundRect">
            <a:avLst>
              <a:gd name="adj" fmla="val 10000"/>
            </a:avLst>
          </a:prstGeom>
          <a:solidFill>
            <a:srgbClr val="C0392B"/>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42048" y="5120640"/>
            <a:ext cx="1938528"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Frontiers «крыса»</a:t>
            </a:r>
          </a:p>
        </p:txBody>
      </p:sp>
      <p:sp>
        <p:nvSpPr>
          <p:cNvPr id="8" name="Rounded Rectangle 7"/>
          <p:cNvSpPr/>
          <p:nvPr/>
        </p:nvSpPr>
        <p:spPr>
          <a:xfrm>
            <a:off x="9253728" y="5120640"/>
            <a:ext cx="2340864" cy="365760"/>
          </a:xfrm>
          <a:prstGeom prst="roundRect">
            <a:avLst>
              <a:gd name="adj" fmla="val 10000"/>
            </a:avLst>
          </a:prstGeom>
          <a:solidFill>
            <a:srgbClr val="C0392B"/>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53728" y="5120640"/>
            <a:ext cx="2340864"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NeurIPS — фейк-цитаты</a:t>
            </a:r>
          </a:p>
        </p:txBody>
      </p:sp>
      <p:sp>
        <p:nvSpPr>
          <p:cNvPr id="10" name="Rounded Rectangle 9"/>
          <p:cNvSpPr/>
          <p:nvPr/>
        </p:nvSpPr>
        <p:spPr>
          <a:xfrm>
            <a:off x="11667744" y="5120640"/>
            <a:ext cx="1536192" cy="365760"/>
          </a:xfrm>
          <a:prstGeom prst="roundRect">
            <a:avLst>
              <a:gd name="adj" fmla="val 10000"/>
            </a:avLst>
          </a:prstGeom>
          <a:solidFill>
            <a:srgbClr val="028090"/>
          </a:solidFill>
          <a:ln>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667744" y="5120640"/>
            <a:ext cx="1536192"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ICMJE правила</a:t>
            </a:r>
          </a:p>
        </p:txBody>
      </p:sp>
      <p:sp>
        <p:nvSpPr>
          <p:cNvPr id="12" name="TextBox 11"/>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Лестница цикла · ступени 5 и 6 · 3 working tools · 2 провала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NotebookLM 17M пользователей. Elicit 138M статей. Расширение работает.</a:t>
            </a:r>
          </a:p>
        </p:txBody>
      </p:sp>
      <p:sp>
        <p:nvSpPr>
          <p:cNvPr id="3" name="Rounded Rectangle 2"/>
          <p:cNvSpPr/>
          <p:nvPr/>
        </p:nvSpPr>
        <p:spPr>
          <a:xfrm>
            <a:off x="365760" y="1371600"/>
            <a:ext cx="3749039" cy="320040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08760"/>
            <a:ext cx="3383279" cy="2926080"/>
          </a:xfrm>
          <a:prstGeom prst="rect">
            <a:avLst/>
          </a:prstGeom>
          <a:noFill/>
        </p:spPr>
        <p:txBody>
          <a:bodyPr wrap="square" lIns="0" rIns="0" tIns="0" bIns="0" anchor="t">
            <a:spAutoFit/>
          </a:bodyPr>
          <a:lstStyle/>
          <a:p>
            <a:pPr algn="l">
              <a:lnSpc>
                <a:spcPct val="118000"/>
              </a:lnSpc>
            </a:pPr>
            <a:r>
              <a:rPr sz="2200" b="1" i="0">
                <a:solidFill>
                  <a:srgbClr val="21295C"/>
                </a:solidFill>
                <a:latin typeface="Arial"/>
              </a:rPr>
              <a:t>NotebookLM</a:t>
            </a:r>
          </a:p>
          <a:p>
            <a:pPr algn="l">
              <a:lnSpc>
                <a:spcPct val="118000"/>
              </a:lnSpc>
            </a:pPr>
            <a:r>
              <a:rPr sz="1100" b="0" i="1">
                <a:solidFill>
                  <a:srgbClr val="6B7685"/>
                </a:solidFill>
                <a:latin typeface="Arial"/>
              </a:rPr>
              <a:t>Google · 2024</a:t>
            </a:r>
          </a:p>
          <a:p>
            <a:pPr algn="l">
              <a:lnSpc>
                <a:spcPct val="118000"/>
              </a:lnSpc>
            </a:pPr>
            <a:r>
              <a:rPr sz="800" b="0" i="0">
                <a:solidFill>
                  <a:srgbClr val="21295C"/>
                </a:solidFill>
                <a:latin typeface="Arial"/>
              </a:rPr>
              <a:t/>
            </a:r>
          </a:p>
          <a:p>
            <a:pPr algn="l">
              <a:lnSpc>
                <a:spcPct val="118000"/>
              </a:lnSpc>
            </a:pPr>
            <a:r>
              <a:rPr sz="1100" b="1" i="0">
                <a:solidFill>
                  <a:srgbClr val="065A82"/>
                </a:solidFill>
                <a:latin typeface="Arial"/>
              </a:rPr>
              <a:t>Масштаб:</a:t>
            </a:r>
          </a:p>
          <a:p>
            <a:pPr algn="l">
              <a:lnSpc>
                <a:spcPct val="118000"/>
              </a:lnSpc>
            </a:pPr>
            <a:r>
              <a:rPr sz="1400" b="1" i="0">
                <a:solidFill>
                  <a:srgbClr val="F0AB00"/>
                </a:solidFill>
                <a:latin typeface="Arial"/>
              </a:rPr>
              <a:t>17 миллионов пользователей</a:t>
            </a:r>
          </a:p>
          <a:p>
            <a:pPr algn="l">
              <a:lnSpc>
                <a:spcPct val="118000"/>
              </a:lnSpc>
            </a:pPr>
            <a:r>
              <a:rPr sz="800" b="0" i="0">
                <a:solidFill>
                  <a:srgbClr val="21295C"/>
                </a:solidFill>
                <a:latin typeface="Arial"/>
              </a:rPr>
              <a:t/>
            </a:r>
          </a:p>
          <a:p>
            <a:pPr algn="l">
              <a:lnSpc>
                <a:spcPct val="118000"/>
              </a:lnSpc>
            </a:pPr>
            <a:r>
              <a:rPr sz="1100" b="1" i="0">
                <a:solidFill>
                  <a:srgbClr val="065A82"/>
                </a:solidFill>
                <a:latin typeface="Arial"/>
              </a:rPr>
              <a:t>Что делает:</a:t>
            </a:r>
          </a:p>
          <a:p>
            <a:pPr algn="l">
              <a:lnSpc>
                <a:spcPct val="118000"/>
              </a:lnSpc>
            </a:pPr>
            <a:r>
              <a:rPr sz="1100" b="0" i="1">
                <a:solidFill>
                  <a:srgbClr val="21295C"/>
                </a:solidFill>
                <a:latin typeface="Arial"/>
              </a:rPr>
              <a:t>RAG (поиск + генерация) над загруженными PDF; помогает суммировать, цитировать</a:t>
            </a:r>
          </a:p>
          <a:p>
            <a:pPr algn="l">
              <a:lnSpc>
                <a:spcPct val="118000"/>
              </a:lnSpc>
            </a:pPr>
            <a:r>
              <a:rPr sz="800" b="0" i="0">
                <a:solidFill>
                  <a:srgbClr val="21295C"/>
                </a:solidFill>
                <a:latin typeface="Arial"/>
              </a:rPr>
              <a:t/>
            </a:r>
          </a:p>
          <a:p>
            <a:pPr algn="l">
              <a:lnSpc>
                <a:spcPct val="118000"/>
              </a:lnSpc>
            </a:pPr>
            <a:r>
              <a:rPr sz="1100" b="1" i="0">
                <a:solidFill>
                  <a:srgbClr val="C0392B"/>
                </a:solidFill>
                <a:latin typeface="Arial"/>
              </a:rPr>
              <a:t>Ограничение:</a:t>
            </a:r>
          </a:p>
          <a:p>
            <a:pPr algn="l">
              <a:lnSpc>
                <a:spcPct val="118000"/>
              </a:lnSpc>
            </a:pPr>
            <a:r>
              <a:rPr sz="1000" b="0" i="1">
                <a:solidFill>
                  <a:srgbClr val="065A82"/>
                </a:solidFill>
                <a:latin typeface="Arial"/>
              </a:rPr>
              <a:t>Каждая ссылка требует ручной проверки</a:t>
            </a:r>
          </a:p>
        </p:txBody>
      </p:sp>
      <p:sp>
        <p:nvSpPr>
          <p:cNvPr id="5" name="Rounded Rectangle 4"/>
          <p:cNvSpPr/>
          <p:nvPr/>
        </p:nvSpPr>
        <p:spPr>
          <a:xfrm>
            <a:off x="4206240" y="1371600"/>
            <a:ext cx="3749039" cy="320040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0" y="1508760"/>
            <a:ext cx="3383279" cy="2926080"/>
          </a:xfrm>
          <a:prstGeom prst="rect">
            <a:avLst/>
          </a:prstGeom>
          <a:noFill/>
        </p:spPr>
        <p:txBody>
          <a:bodyPr wrap="square" lIns="0" rIns="0" tIns="0" bIns="0" anchor="t">
            <a:spAutoFit/>
          </a:bodyPr>
          <a:lstStyle/>
          <a:p>
            <a:pPr algn="l">
              <a:lnSpc>
                <a:spcPct val="118000"/>
              </a:lnSpc>
            </a:pPr>
            <a:r>
              <a:rPr sz="2200" b="1" i="0">
                <a:solidFill>
                  <a:srgbClr val="21295C"/>
                </a:solidFill>
                <a:latin typeface="Arial"/>
              </a:rPr>
              <a:t>Elicit</a:t>
            </a:r>
          </a:p>
          <a:p>
            <a:pPr algn="l">
              <a:lnSpc>
                <a:spcPct val="118000"/>
              </a:lnSpc>
            </a:pPr>
            <a:r>
              <a:rPr sz="1100" b="0" i="1">
                <a:solidFill>
                  <a:srgbClr val="6B7685"/>
                </a:solidFill>
                <a:latin typeface="Arial"/>
              </a:rPr>
              <a:t>Ought.io · 2024</a:t>
            </a:r>
          </a:p>
          <a:p>
            <a:pPr algn="l">
              <a:lnSpc>
                <a:spcPct val="118000"/>
              </a:lnSpc>
            </a:pPr>
            <a:r>
              <a:rPr sz="800" b="0" i="0">
                <a:solidFill>
                  <a:srgbClr val="21295C"/>
                </a:solidFill>
                <a:latin typeface="Arial"/>
              </a:rPr>
              <a:t/>
            </a:r>
          </a:p>
          <a:p>
            <a:pPr algn="l">
              <a:lnSpc>
                <a:spcPct val="118000"/>
              </a:lnSpc>
            </a:pPr>
            <a:r>
              <a:rPr sz="1100" b="1" i="0">
                <a:solidFill>
                  <a:srgbClr val="065A82"/>
                </a:solidFill>
                <a:latin typeface="Arial"/>
              </a:rPr>
              <a:t>Масштаб:</a:t>
            </a:r>
          </a:p>
          <a:p>
            <a:pPr algn="l">
              <a:lnSpc>
                <a:spcPct val="118000"/>
              </a:lnSpc>
            </a:pPr>
            <a:r>
              <a:rPr sz="1400" b="1" i="0">
                <a:solidFill>
                  <a:srgbClr val="F0AB00"/>
                </a:solidFill>
                <a:latin typeface="Arial"/>
              </a:rPr>
              <a:t>138 миллионов статей в индексе</a:t>
            </a:r>
          </a:p>
          <a:p>
            <a:pPr algn="l">
              <a:lnSpc>
                <a:spcPct val="118000"/>
              </a:lnSpc>
            </a:pPr>
            <a:r>
              <a:rPr sz="800" b="0" i="0">
                <a:solidFill>
                  <a:srgbClr val="21295C"/>
                </a:solidFill>
                <a:latin typeface="Arial"/>
              </a:rPr>
              <a:t/>
            </a:r>
          </a:p>
          <a:p>
            <a:pPr algn="l">
              <a:lnSpc>
                <a:spcPct val="118000"/>
              </a:lnSpc>
            </a:pPr>
            <a:r>
              <a:rPr sz="1100" b="1" i="0">
                <a:solidFill>
                  <a:srgbClr val="065A82"/>
                </a:solidFill>
                <a:latin typeface="Arial"/>
              </a:rPr>
              <a:t>Что делает:</a:t>
            </a:r>
          </a:p>
          <a:p>
            <a:pPr algn="l">
              <a:lnSpc>
                <a:spcPct val="118000"/>
              </a:lnSpc>
            </a:pPr>
            <a:r>
              <a:rPr sz="1100" b="0" i="1">
                <a:solidFill>
                  <a:srgbClr val="21295C"/>
                </a:solidFill>
                <a:latin typeface="Arial"/>
              </a:rPr>
              <a:t>Систематический обзор за 4× быстрее ручного</a:t>
            </a:r>
          </a:p>
          <a:p>
            <a:pPr algn="l">
              <a:lnSpc>
                <a:spcPct val="118000"/>
              </a:lnSpc>
            </a:pPr>
            <a:r>
              <a:rPr sz="800" b="0" i="0">
                <a:solidFill>
                  <a:srgbClr val="21295C"/>
                </a:solidFill>
                <a:latin typeface="Arial"/>
              </a:rPr>
              <a:t/>
            </a:r>
          </a:p>
          <a:p>
            <a:pPr algn="l">
              <a:lnSpc>
                <a:spcPct val="118000"/>
              </a:lnSpc>
            </a:pPr>
            <a:r>
              <a:rPr sz="1100" b="1" i="0">
                <a:solidFill>
                  <a:srgbClr val="C0392B"/>
                </a:solidFill>
                <a:latin typeface="Arial"/>
              </a:rPr>
              <a:t>Ограничение:</a:t>
            </a:r>
          </a:p>
          <a:p>
            <a:pPr algn="l">
              <a:lnSpc>
                <a:spcPct val="118000"/>
              </a:lnSpc>
            </a:pPr>
            <a:r>
              <a:rPr sz="1000" b="0" i="1">
                <a:solidFill>
                  <a:srgbClr val="065A82"/>
                </a:solidFill>
                <a:latin typeface="Arial"/>
              </a:rPr>
              <a:t>Метаанализы не заменимы — но навигация ускоряется</a:t>
            </a:r>
          </a:p>
        </p:txBody>
      </p:sp>
      <p:sp>
        <p:nvSpPr>
          <p:cNvPr id="7" name="Rounded Rectangle 6"/>
          <p:cNvSpPr/>
          <p:nvPr/>
        </p:nvSpPr>
        <p:spPr>
          <a:xfrm>
            <a:off x="8046719" y="1371600"/>
            <a:ext cx="3749039" cy="320040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9" y="1508760"/>
            <a:ext cx="3383279" cy="2926080"/>
          </a:xfrm>
          <a:prstGeom prst="rect">
            <a:avLst/>
          </a:prstGeom>
          <a:noFill/>
        </p:spPr>
        <p:txBody>
          <a:bodyPr wrap="square" lIns="0" rIns="0" tIns="0" bIns="0" anchor="t">
            <a:spAutoFit/>
          </a:bodyPr>
          <a:lstStyle/>
          <a:p>
            <a:pPr algn="l">
              <a:lnSpc>
                <a:spcPct val="118000"/>
              </a:lnSpc>
            </a:pPr>
            <a:r>
              <a:rPr sz="2200" b="1" i="0">
                <a:solidFill>
                  <a:srgbClr val="21295C"/>
                </a:solidFill>
                <a:latin typeface="Arial"/>
              </a:rPr>
              <a:t>Consensus.app</a:t>
            </a:r>
          </a:p>
          <a:p>
            <a:pPr algn="l">
              <a:lnSpc>
                <a:spcPct val="118000"/>
              </a:lnSpc>
            </a:pPr>
            <a:r>
              <a:rPr sz="1100" b="0" i="1">
                <a:solidFill>
                  <a:srgbClr val="6B7685"/>
                </a:solidFill>
                <a:latin typeface="Arial"/>
              </a:rPr>
              <a:t>Consensus · 2024</a:t>
            </a:r>
          </a:p>
          <a:p>
            <a:pPr algn="l">
              <a:lnSpc>
                <a:spcPct val="118000"/>
              </a:lnSpc>
            </a:pPr>
            <a:r>
              <a:rPr sz="800" b="0" i="0">
                <a:solidFill>
                  <a:srgbClr val="21295C"/>
                </a:solidFill>
                <a:latin typeface="Arial"/>
              </a:rPr>
              <a:t/>
            </a:r>
          </a:p>
          <a:p>
            <a:pPr algn="l">
              <a:lnSpc>
                <a:spcPct val="118000"/>
              </a:lnSpc>
            </a:pPr>
            <a:r>
              <a:rPr sz="1100" b="1" i="0">
                <a:solidFill>
                  <a:srgbClr val="065A82"/>
                </a:solidFill>
                <a:latin typeface="Arial"/>
              </a:rPr>
              <a:t>Масштаб:</a:t>
            </a:r>
          </a:p>
          <a:p>
            <a:pPr algn="l">
              <a:lnSpc>
                <a:spcPct val="118000"/>
              </a:lnSpc>
            </a:pPr>
            <a:r>
              <a:rPr sz="1400" b="1" i="0">
                <a:solidFill>
                  <a:srgbClr val="F0AB00"/>
                </a:solidFill>
                <a:latin typeface="Arial"/>
              </a:rPr>
              <a:t>200 миллионов статей</a:t>
            </a:r>
          </a:p>
          <a:p>
            <a:pPr algn="l">
              <a:lnSpc>
                <a:spcPct val="118000"/>
              </a:lnSpc>
            </a:pPr>
            <a:r>
              <a:rPr sz="800" b="0" i="0">
                <a:solidFill>
                  <a:srgbClr val="21295C"/>
                </a:solidFill>
                <a:latin typeface="Arial"/>
              </a:rPr>
              <a:t/>
            </a:r>
          </a:p>
          <a:p>
            <a:pPr algn="l">
              <a:lnSpc>
                <a:spcPct val="118000"/>
              </a:lnSpc>
            </a:pPr>
            <a:r>
              <a:rPr sz="1100" b="1" i="0">
                <a:solidFill>
                  <a:srgbClr val="065A82"/>
                </a:solidFill>
                <a:latin typeface="Arial"/>
              </a:rPr>
              <a:t>Что делает:</a:t>
            </a:r>
          </a:p>
          <a:p>
            <a:pPr algn="l">
              <a:lnSpc>
                <a:spcPct val="118000"/>
              </a:lnSpc>
            </a:pPr>
            <a:r>
              <a:rPr sz="1100" b="0" i="1">
                <a:solidFill>
                  <a:srgbClr val="21295C"/>
                </a:solidFill>
                <a:latin typeface="Arial"/>
              </a:rPr>
              <a:t>Поиск по утверждениям: что говорит литература по теме</a:t>
            </a:r>
          </a:p>
          <a:p>
            <a:pPr algn="l">
              <a:lnSpc>
                <a:spcPct val="118000"/>
              </a:lnSpc>
            </a:pPr>
            <a:r>
              <a:rPr sz="800" b="0" i="0">
                <a:solidFill>
                  <a:srgbClr val="21295C"/>
                </a:solidFill>
                <a:latin typeface="Arial"/>
              </a:rPr>
              <a:t/>
            </a:r>
          </a:p>
          <a:p>
            <a:pPr algn="l">
              <a:lnSpc>
                <a:spcPct val="118000"/>
              </a:lnSpc>
            </a:pPr>
            <a:r>
              <a:rPr sz="1100" b="1" i="0">
                <a:solidFill>
                  <a:srgbClr val="C0392B"/>
                </a:solidFill>
                <a:latin typeface="Arial"/>
              </a:rPr>
              <a:t>Ограничение:</a:t>
            </a:r>
          </a:p>
          <a:p>
            <a:pPr algn="l">
              <a:lnSpc>
                <a:spcPct val="118000"/>
              </a:lnSpc>
            </a:pPr>
            <a:r>
              <a:rPr sz="1000" b="0" i="1">
                <a:solidFill>
                  <a:srgbClr val="065A82"/>
                </a:solidFill>
                <a:latin typeface="Arial"/>
              </a:rPr>
              <a:t>Низкая воспроизводимость (15%) — фильтр обязателен</a:t>
            </a:r>
          </a:p>
        </p:txBody>
      </p:sp>
      <p:pic>
        <p:nvPicPr>
          <p:cNvPr id="9" name="Picture 8" descr="s27-literature-tools.png"/>
          <p:cNvPicPr>
            <a:picLocks noChangeAspect="1"/>
          </p:cNvPicPr>
          <p:nvPr/>
        </p:nvPicPr>
        <p:blipFill>
          <a:blip r:embed="rId2"/>
          <a:stretch>
            <a:fillRect/>
          </a:stretch>
        </p:blipFill>
        <p:spPr>
          <a:xfrm>
            <a:off x="914400" y="4754880"/>
            <a:ext cx="10515600" cy="1371600"/>
          </a:xfrm>
          <a:prstGeom prst="rect">
            <a:avLst/>
          </a:prstGeom>
        </p:spPr>
      </p:pic>
      <p:sp>
        <p:nvSpPr>
          <p:cNvPr id="10" name="TextBox 9"/>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NotebookLM Google blog 2024 · Elicit (Ought.io) 2024 · Consensus.app 2024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WE-2: Соавтор прислал 47 LLM-цитат. Четыре шага проверки.</a:t>
            </a:r>
          </a:p>
        </p:txBody>
      </p:sp>
      <p:sp>
        <p:nvSpPr>
          <p:cNvPr id="3" name="Rounded Rectangle 2"/>
          <p:cNvSpPr/>
          <p:nvPr/>
        </p:nvSpPr>
        <p:spPr>
          <a:xfrm>
            <a:off x="457200" y="1371600"/>
            <a:ext cx="11274552" cy="5486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1274552" cy="548640"/>
          </a:xfrm>
          <a:prstGeom prst="rect">
            <a:avLst/>
          </a:prstGeom>
          <a:noFill/>
        </p:spPr>
        <p:txBody>
          <a:bodyPr wrap="square" lIns="0" rIns="0" tIns="0" bIns="0" anchor="ctr">
            <a:spAutoFit/>
          </a:bodyPr>
          <a:lstStyle/>
          <a:p>
            <a:pPr algn="ctr">
              <a:lnSpc>
                <a:spcPct val="115000"/>
              </a:lnSpc>
            </a:pPr>
            <a:r>
              <a:rPr sz="1400" b="1" i="1">
                <a:solidFill>
                  <a:srgbClr val="21295C"/>
                </a:solidFill>
                <a:latin typeface="Arial"/>
              </a:rPr>
              <a:t>Соавтор присылает черновик с 47 цитатами, явно сгенерированными LLM. Что делать?</a:t>
            </a:r>
          </a:p>
        </p:txBody>
      </p:sp>
      <p:sp>
        <p:nvSpPr>
          <p:cNvPr id="5" name="Rounded Rectangle 4"/>
          <p:cNvSpPr/>
          <p:nvPr/>
        </p:nvSpPr>
        <p:spPr>
          <a:xfrm>
            <a:off x="457200" y="2194560"/>
            <a:ext cx="2697480" cy="246888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85900" y="2331720"/>
            <a:ext cx="640080" cy="64008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31720"/>
            <a:ext cx="2697480" cy="64008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1</a:t>
            </a:r>
          </a:p>
        </p:txBody>
      </p:sp>
      <p:sp>
        <p:nvSpPr>
          <p:cNvPr id="8" name="TextBox 7"/>
          <p:cNvSpPr txBox="1"/>
          <p:nvPr/>
        </p:nvSpPr>
        <p:spPr>
          <a:xfrm>
            <a:off x="548640" y="3108960"/>
            <a:ext cx="2514600" cy="36576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Проверка DOI</a:t>
            </a:r>
          </a:p>
        </p:txBody>
      </p:sp>
      <p:sp>
        <p:nvSpPr>
          <p:cNvPr id="9" name="TextBox 8"/>
          <p:cNvSpPr txBox="1"/>
          <p:nvPr/>
        </p:nvSpPr>
        <p:spPr>
          <a:xfrm>
            <a:off x="594360" y="3520439"/>
            <a:ext cx="2423160" cy="822960"/>
          </a:xfrm>
          <a:prstGeom prst="rect">
            <a:avLst/>
          </a:prstGeom>
          <a:noFill/>
        </p:spPr>
        <p:txBody>
          <a:bodyPr wrap="square" lIns="0" rIns="0" tIns="0" bIns="0" anchor="t">
            <a:spAutoFit/>
          </a:bodyPr>
          <a:lstStyle/>
          <a:p>
            <a:pPr algn="ctr">
              <a:lnSpc>
                <a:spcPct val="118000"/>
              </a:lnSpc>
            </a:pPr>
            <a:r>
              <a:rPr sz="1100" b="0" i="1">
                <a:solidFill>
                  <a:srgbClr val="065A82"/>
                </a:solidFill>
                <a:latin typeface="Arial"/>
              </a:rPr>
              <a:t>Через crossref.org
каждый DOI существует?
Если нет — фейк</a:t>
            </a:r>
          </a:p>
        </p:txBody>
      </p:sp>
      <p:sp>
        <p:nvSpPr>
          <p:cNvPr id="10" name="Rounded Rectangle 9"/>
          <p:cNvSpPr/>
          <p:nvPr/>
        </p:nvSpPr>
        <p:spPr>
          <a:xfrm>
            <a:off x="822960" y="4297679"/>
            <a:ext cx="1965960" cy="274320"/>
          </a:xfrm>
          <a:prstGeom prst="roundRect">
            <a:avLst>
              <a:gd name="adj" fmla="val 10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297679"/>
            <a:ext cx="1965960" cy="274320"/>
          </a:xfrm>
          <a:prstGeom prst="rect">
            <a:avLst/>
          </a:prstGeom>
          <a:noFill/>
        </p:spPr>
        <p:txBody>
          <a:bodyPr wrap="square" lIns="0" rIns="0" tIns="0" bIns="0" anchor="ctr">
            <a:spAutoFit/>
          </a:bodyPr>
          <a:lstStyle/>
          <a:p>
            <a:pPr algn="ctr">
              <a:lnSpc>
                <a:spcPct val="115000"/>
              </a:lnSpc>
            </a:pPr>
            <a:r>
              <a:rPr sz="1000" b="1" i="0">
                <a:solidFill>
                  <a:srgbClr val="F0AB00"/>
                </a:solidFill>
                <a:latin typeface="Arial"/>
              </a:rPr>
              <a:t>Усилие: ~5 минут</a:t>
            </a:r>
          </a:p>
        </p:txBody>
      </p:sp>
      <p:sp>
        <p:nvSpPr>
          <p:cNvPr id="12" name="Rounded Rectangle 11"/>
          <p:cNvSpPr/>
          <p:nvPr/>
        </p:nvSpPr>
        <p:spPr>
          <a:xfrm>
            <a:off x="3246120" y="2194560"/>
            <a:ext cx="2697480" cy="246888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74820" y="2331720"/>
            <a:ext cx="640080" cy="6400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6120" y="2331720"/>
            <a:ext cx="2697480" cy="64008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2</a:t>
            </a:r>
          </a:p>
        </p:txBody>
      </p:sp>
      <p:sp>
        <p:nvSpPr>
          <p:cNvPr id="15" name="TextBox 14"/>
          <p:cNvSpPr txBox="1"/>
          <p:nvPr/>
        </p:nvSpPr>
        <p:spPr>
          <a:xfrm>
            <a:off x="3337560" y="3108960"/>
            <a:ext cx="2514600" cy="36576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Выборка релевантности</a:t>
            </a:r>
          </a:p>
        </p:txBody>
      </p:sp>
      <p:sp>
        <p:nvSpPr>
          <p:cNvPr id="16" name="TextBox 15"/>
          <p:cNvSpPr txBox="1"/>
          <p:nvPr/>
        </p:nvSpPr>
        <p:spPr>
          <a:xfrm>
            <a:off x="3383280" y="3520439"/>
            <a:ext cx="2423160" cy="822960"/>
          </a:xfrm>
          <a:prstGeom prst="rect">
            <a:avLst/>
          </a:prstGeom>
          <a:noFill/>
        </p:spPr>
        <p:txBody>
          <a:bodyPr wrap="square" lIns="0" rIns="0" tIns="0" bIns="0" anchor="t">
            <a:spAutoFit/>
          </a:bodyPr>
          <a:lstStyle/>
          <a:p>
            <a:pPr algn="ctr">
              <a:lnSpc>
                <a:spcPct val="118000"/>
              </a:lnSpc>
            </a:pPr>
            <a:r>
              <a:rPr sz="1100" b="0" i="1">
                <a:solidFill>
                  <a:srgbClr val="065A82"/>
                </a:solidFill>
                <a:latin typeface="Arial"/>
              </a:rPr>
              <a:t>5 случайных DOI:
статья говорит о теме?
Если нет — выдумка</a:t>
            </a:r>
          </a:p>
        </p:txBody>
      </p:sp>
      <p:sp>
        <p:nvSpPr>
          <p:cNvPr id="17" name="Rounded Rectangle 16"/>
          <p:cNvSpPr/>
          <p:nvPr/>
        </p:nvSpPr>
        <p:spPr>
          <a:xfrm>
            <a:off x="3611880" y="4297679"/>
            <a:ext cx="1965960" cy="274320"/>
          </a:xfrm>
          <a:prstGeom prst="roundRect">
            <a:avLst>
              <a:gd name="adj" fmla="val 10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1880" y="4297679"/>
            <a:ext cx="1965960" cy="274320"/>
          </a:xfrm>
          <a:prstGeom prst="rect">
            <a:avLst/>
          </a:prstGeom>
          <a:noFill/>
        </p:spPr>
        <p:txBody>
          <a:bodyPr wrap="square" lIns="0" rIns="0" tIns="0" bIns="0" anchor="ctr">
            <a:spAutoFit/>
          </a:bodyPr>
          <a:lstStyle/>
          <a:p>
            <a:pPr algn="ctr">
              <a:lnSpc>
                <a:spcPct val="115000"/>
              </a:lnSpc>
            </a:pPr>
            <a:r>
              <a:rPr sz="1000" b="1" i="0">
                <a:solidFill>
                  <a:srgbClr val="F0AB00"/>
                </a:solidFill>
                <a:latin typeface="Arial"/>
              </a:rPr>
              <a:t>Усилие: ~15 минут</a:t>
            </a:r>
          </a:p>
        </p:txBody>
      </p:sp>
      <p:sp>
        <p:nvSpPr>
          <p:cNvPr id="19" name="Rounded Rectangle 18"/>
          <p:cNvSpPr/>
          <p:nvPr/>
        </p:nvSpPr>
        <p:spPr>
          <a:xfrm>
            <a:off x="6035040" y="2194560"/>
            <a:ext cx="2697480" cy="246888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063740" y="2331720"/>
            <a:ext cx="640080" cy="64008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2331720"/>
            <a:ext cx="2697480" cy="64008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3</a:t>
            </a:r>
          </a:p>
        </p:txBody>
      </p:sp>
      <p:sp>
        <p:nvSpPr>
          <p:cNvPr id="22" name="TextBox 21"/>
          <p:cNvSpPr txBox="1"/>
          <p:nvPr/>
        </p:nvSpPr>
        <p:spPr>
          <a:xfrm>
            <a:off x="6126480" y="3108960"/>
            <a:ext cx="2514600" cy="36576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Детектор GPTZero</a:t>
            </a:r>
          </a:p>
        </p:txBody>
      </p:sp>
      <p:sp>
        <p:nvSpPr>
          <p:cNvPr id="23" name="TextBox 22"/>
          <p:cNvSpPr txBox="1"/>
          <p:nvPr/>
        </p:nvSpPr>
        <p:spPr>
          <a:xfrm>
            <a:off x="6172200" y="3520439"/>
            <a:ext cx="2423160" cy="822960"/>
          </a:xfrm>
          <a:prstGeom prst="rect">
            <a:avLst/>
          </a:prstGeom>
          <a:noFill/>
        </p:spPr>
        <p:txBody>
          <a:bodyPr wrap="square" lIns="0" rIns="0" tIns="0" bIns="0" anchor="t">
            <a:spAutoFit/>
          </a:bodyPr>
          <a:lstStyle/>
          <a:p>
            <a:pPr algn="ctr">
              <a:lnSpc>
                <a:spcPct val="118000"/>
              </a:lnSpc>
            </a:pPr>
            <a:r>
              <a:rPr sz="1100" b="0" i="1">
                <a:solidFill>
                  <a:srgbClr val="065A82"/>
                </a:solidFill>
                <a:latin typeface="Arial"/>
              </a:rPr>
              <a:t>Текст рядом с цитатой —
сгенерирован LLM?
LLM = галлюцинации</a:t>
            </a:r>
          </a:p>
        </p:txBody>
      </p:sp>
      <p:sp>
        <p:nvSpPr>
          <p:cNvPr id="24" name="Rounded Rectangle 23"/>
          <p:cNvSpPr/>
          <p:nvPr/>
        </p:nvSpPr>
        <p:spPr>
          <a:xfrm>
            <a:off x="6400800" y="4297679"/>
            <a:ext cx="1965960" cy="274320"/>
          </a:xfrm>
          <a:prstGeom prst="roundRect">
            <a:avLst>
              <a:gd name="adj" fmla="val 10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297679"/>
            <a:ext cx="1965960" cy="274320"/>
          </a:xfrm>
          <a:prstGeom prst="rect">
            <a:avLst/>
          </a:prstGeom>
          <a:noFill/>
        </p:spPr>
        <p:txBody>
          <a:bodyPr wrap="square" lIns="0" rIns="0" tIns="0" bIns="0" anchor="ctr">
            <a:spAutoFit/>
          </a:bodyPr>
          <a:lstStyle/>
          <a:p>
            <a:pPr algn="ctr">
              <a:lnSpc>
                <a:spcPct val="115000"/>
              </a:lnSpc>
            </a:pPr>
            <a:r>
              <a:rPr sz="1000" b="1" i="0">
                <a:solidFill>
                  <a:srgbClr val="F0AB00"/>
                </a:solidFill>
                <a:latin typeface="Arial"/>
              </a:rPr>
              <a:t>Усилие: ~5 минут</a:t>
            </a:r>
          </a:p>
        </p:txBody>
      </p:sp>
      <p:sp>
        <p:nvSpPr>
          <p:cNvPr id="26" name="Rounded Rectangle 25"/>
          <p:cNvSpPr/>
          <p:nvPr/>
        </p:nvSpPr>
        <p:spPr>
          <a:xfrm>
            <a:off x="8823960" y="2194560"/>
            <a:ext cx="2697480" cy="2468880"/>
          </a:xfrm>
          <a:prstGeom prst="roundRect">
            <a:avLst>
              <a:gd name="adj" fmla="val 10000"/>
            </a:avLst>
          </a:prstGeom>
          <a:solidFill>
            <a:srgbClr val="F4F7FA"/>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2660" y="2331720"/>
            <a:ext cx="640080" cy="6400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23960" y="2331720"/>
            <a:ext cx="2697480" cy="64008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4</a:t>
            </a:r>
          </a:p>
        </p:txBody>
      </p:sp>
      <p:sp>
        <p:nvSpPr>
          <p:cNvPr id="29" name="TextBox 28"/>
          <p:cNvSpPr txBox="1"/>
          <p:nvPr/>
        </p:nvSpPr>
        <p:spPr>
          <a:xfrm>
            <a:off x="8915400" y="3108960"/>
            <a:ext cx="2514600" cy="36576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Запросить исходные</a:t>
            </a:r>
          </a:p>
        </p:txBody>
      </p:sp>
      <p:sp>
        <p:nvSpPr>
          <p:cNvPr id="30" name="TextBox 29"/>
          <p:cNvSpPr txBox="1"/>
          <p:nvPr/>
        </p:nvSpPr>
        <p:spPr>
          <a:xfrm>
            <a:off x="8961120" y="3520439"/>
            <a:ext cx="2423160" cy="822960"/>
          </a:xfrm>
          <a:prstGeom prst="rect">
            <a:avLst/>
          </a:prstGeom>
          <a:noFill/>
        </p:spPr>
        <p:txBody>
          <a:bodyPr wrap="square" lIns="0" rIns="0" tIns="0" bIns="0" anchor="t">
            <a:spAutoFit/>
          </a:bodyPr>
          <a:lstStyle/>
          <a:p>
            <a:pPr algn="ctr">
              <a:lnSpc>
                <a:spcPct val="118000"/>
              </a:lnSpc>
            </a:pPr>
            <a:r>
              <a:rPr sz="1100" b="0" i="1">
                <a:solidFill>
                  <a:srgbClr val="065A82"/>
                </a:solidFill>
                <a:latin typeface="Arial"/>
              </a:rPr>
              <a:t>Файлы у соавтора:
есть рабочая копия?
Если нет — отказ</a:t>
            </a:r>
          </a:p>
        </p:txBody>
      </p:sp>
      <p:sp>
        <p:nvSpPr>
          <p:cNvPr id="31" name="Rounded Rectangle 30"/>
          <p:cNvSpPr/>
          <p:nvPr/>
        </p:nvSpPr>
        <p:spPr>
          <a:xfrm>
            <a:off x="9189720" y="4297679"/>
            <a:ext cx="1965960" cy="274320"/>
          </a:xfrm>
          <a:prstGeom prst="roundRect">
            <a:avLst>
              <a:gd name="adj" fmla="val 10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89720" y="4297679"/>
            <a:ext cx="1965960" cy="274320"/>
          </a:xfrm>
          <a:prstGeom prst="rect">
            <a:avLst/>
          </a:prstGeom>
          <a:noFill/>
        </p:spPr>
        <p:txBody>
          <a:bodyPr wrap="square" lIns="0" rIns="0" tIns="0" bIns="0" anchor="ctr">
            <a:spAutoFit/>
          </a:bodyPr>
          <a:lstStyle/>
          <a:p>
            <a:pPr algn="ctr">
              <a:lnSpc>
                <a:spcPct val="115000"/>
              </a:lnSpc>
            </a:pPr>
            <a:r>
              <a:rPr sz="1000" b="1" i="0">
                <a:solidFill>
                  <a:srgbClr val="F0AB00"/>
                </a:solidFill>
                <a:latin typeface="Arial"/>
              </a:rPr>
              <a:t>Усилие: ~20 минут</a:t>
            </a:r>
          </a:p>
        </p:txBody>
      </p:sp>
      <p:sp>
        <p:nvSpPr>
          <p:cNvPr id="33" name="Rounded Rectangle 32"/>
          <p:cNvSpPr/>
          <p:nvPr/>
        </p:nvSpPr>
        <p:spPr>
          <a:xfrm>
            <a:off x="457200" y="4937760"/>
            <a:ext cx="11274552" cy="11430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029200"/>
            <a:ext cx="10789920" cy="1005840"/>
          </a:xfrm>
          <a:prstGeom prst="rect">
            <a:avLst/>
          </a:prstGeom>
          <a:noFill/>
        </p:spPr>
        <p:txBody>
          <a:bodyPr wrap="square" lIns="0" rIns="0" tIns="0" bIns="0" anchor="t">
            <a:spAutoFit/>
          </a:bodyPr>
          <a:lstStyle/>
          <a:p>
            <a:pPr algn="l">
              <a:lnSpc>
                <a:spcPct val="118000"/>
              </a:lnSpc>
            </a:pPr>
            <a:r>
              <a:rPr sz="1300" b="1" i="0">
                <a:solidFill>
                  <a:srgbClr val="F0AB00"/>
                </a:solidFill>
                <a:latin typeface="Arial"/>
              </a:rPr>
              <a:t>Критерий решения:</a:t>
            </a:r>
          </a:p>
          <a:p>
            <a:pPr algn="l">
              <a:lnSpc>
                <a:spcPct val="118000"/>
              </a:lnSpc>
            </a:pPr>
            <a:r>
              <a:rPr sz="1400" b="0" i="1">
                <a:solidFill>
                  <a:srgbClr val="21295C"/>
                </a:solidFill>
                <a:latin typeface="Arial"/>
              </a:rPr>
              <a:t>Если ≥3 фейковых цитаты найдены → отказ от соавторства. Усилие проверки: ~45 минут. Цена скандала: подорванная репутация на годы.</a:t>
            </a:r>
          </a:p>
          <a:p>
            <a:pPr algn="l">
              <a:lnSpc>
                <a:spcPct val="118000"/>
              </a:lnSpc>
            </a:pPr>
            <a:r>
              <a:rPr sz="1300" b="1" i="0">
                <a:solidFill>
                  <a:srgbClr val="F0AB00"/>
                </a:solidFill>
                <a:latin typeface="Arial"/>
              </a:rPr>
              <a:t>Профессиональная строгость &gt; социальная вежливость.</a:t>
            </a:r>
          </a:p>
        </p:txBody>
      </p:sp>
      <p:sp>
        <p:nvSpPr>
          <p:cNvPr id="35" name="TextBox 34"/>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рекомендации ICMJE 2024 · GPTZero · сервис crossref.org для проверки DOI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Frontiers 13 февраля 2024. «Protemns». «Zxpens». Отозвана через 3 дня.</a:t>
            </a:r>
          </a:p>
        </p:txBody>
      </p:sp>
      <p:sp>
        <p:nvSpPr>
          <p:cNvPr id="3" name="Rounded Rectangle 2"/>
          <p:cNvSpPr/>
          <p:nvPr/>
        </p:nvSpPr>
        <p:spPr>
          <a:xfrm>
            <a:off x="457200" y="1371600"/>
            <a:ext cx="11274552" cy="2468880"/>
          </a:xfrm>
          <a:prstGeom prst="roundRect">
            <a:avLst>
              <a:gd name="adj" fmla="val 10000"/>
            </a:avLst>
          </a:prstGeom>
          <a:solidFill>
            <a:srgbClr val="F4F7FA"/>
          </a:solidFill>
          <a:ln w="381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08760"/>
            <a:ext cx="10908792" cy="365760"/>
          </a:xfrm>
          <a:prstGeom prst="rect">
            <a:avLst/>
          </a:prstGeom>
          <a:noFill/>
        </p:spPr>
        <p:txBody>
          <a:bodyPr wrap="square" lIns="0" rIns="0" tIns="0" bIns="0" anchor="t">
            <a:spAutoFit/>
          </a:bodyPr>
          <a:lstStyle/>
          <a:p>
            <a:pPr algn="l">
              <a:lnSpc>
                <a:spcPct val="115000"/>
              </a:lnSpc>
            </a:pPr>
            <a:r>
              <a:rPr sz="1300" b="1" i="1">
                <a:solidFill>
                  <a:srgbClr val="065A82"/>
                </a:solidFill>
                <a:latin typeface="Arial"/>
              </a:rPr>
              <a:t>Несуществующие термины на сгенерированном Midjourney рисунке анатомии крысы:</a:t>
            </a:r>
          </a:p>
        </p:txBody>
      </p:sp>
      <p:sp>
        <p:nvSpPr>
          <p:cNvPr id="5" name="TextBox 4"/>
          <p:cNvSpPr txBox="1"/>
          <p:nvPr/>
        </p:nvSpPr>
        <p:spPr>
          <a:xfrm>
            <a:off x="640080" y="1965960"/>
            <a:ext cx="10908792" cy="1783080"/>
          </a:xfrm>
          <a:prstGeom prst="rect">
            <a:avLst/>
          </a:prstGeom>
          <a:noFill/>
        </p:spPr>
        <p:txBody>
          <a:bodyPr wrap="square" lIns="0" rIns="0" tIns="0" bIns="0" anchor="t">
            <a:spAutoFit/>
          </a:bodyPr>
          <a:lstStyle/>
          <a:p>
            <a:pPr algn="ctr">
              <a:lnSpc>
                <a:spcPct val="100000"/>
              </a:lnSpc>
            </a:pPr>
            <a:r>
              <a:rPr sz="4800" b="1" i="0">
                <a:solidFill>
                  <a:srgbClr val="C0392B"/>
                </a:solidFill>
                <a:latin typeface="Arial"/>
              </a:rPr>
              <a:t>«PROTEMNS»  ·  «ZXPENS»  ·  «CELLLS»</a:t>
            </a:r>
          </a:p>
          <a:p>
            <a:pPr algn="ctr">
              <a:lnSpc>
                <a:spcPct val="100000"/>
              </a:lnSpc>
            </a:pPr>
            <a:r>
              <a:rPr sz="800" b="0" i="0">
                <a:solidFill>
                  <a:srgbClr val="21295C"/>
                </a:solidFill>
                <a:latin typeface="Arial"/>
              </a:rPr>
              <a:t/>
            </a:r>
          </a:p>
          <a:p>
            <a:pPr algn="ctr">
              <a:lnSpc>
                <a:spcPct val="100000"/>
              </a:lnSpc>
            </a:pPr>
            <a:r>
              <a:rPr sz="1400" b="0" i="1">
                <a:solidFill>
                  <a:srgbClr val="065A82"/>
                </a:solidFill>
                <a:latin typeface="Arial"/>
              </a:rPr>
              <a:t>(на исходной фигуре подписаны как анатомические структуры)</a:t>
            </a:r>
          </a:p>
        </p:txBody>
      </p:sp>
      <p:sp>
        <p:nvSpPr>
          <p:cNvPr id="6" name="Rounded Rectangle 5"/>
          <p:cNvSpPr/>
          <p:nvPr/>
        </p:nvSpPr>
        <p:spPr>
          <a:xfrm>
            <a:off x="457200" y="4023360"/>
            <a:ext cx="5486400" cy="20574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160520"/>
            <a:ext cx="5120640" cy="192024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Хронология:</a:t>
            </a:r>
          </a:p>
          <a:p>
            <a:pPr algn="l">
              <a:lnSpc>
                <a:spcPct val="115000"/>
              </a:lnSpc>
            </a:pPr>
            <a:r>
              <a:rPr sz="400" b="0" i="0">
                <a:solidFill>
                  <a:srgbClr val="21295C"/>
                </a:solidFill>
                <a:latin typeface="Arial"/>
              </a:rPr>
              <a:t/>
            </a:r>
          </a:p>
          <a:p>
            <a:pPr algn="l">
              <a:lnSpc>
                <a:spcPct val="115000"/>
              </a:lnSpc>
            </a:pPr>
            <a:r>
              <a:rPr sz="1200" b="1" i="0">
                <a:solidFill>
                  <a:srgbClr val="065A82"/>
                </a:solidFill>
                <a:latin typeface="Arial"/>
              </a:rPr>
              <a:t>13 февраля 2024</a:t>
            </a:r>
          </a:p>
          <a:p>
            <a:pPr algn="l">
              <a:lnSpc>
                <a:spcPct val="115000"/>
              </a:lnSpc>
            </a:pPr>
            <a:r>
              <a:rPr sz="1100" b="0" i="0">
                <a:solidFill>
                  <a:srgbClr val="21295C"/>
                </a:solidFill>
                <a:latin typeface="Arial"/>
              </a:rPr>
              <a:t>Опубликована в Frontiers Cell Dev Biol</a:t>
            </a:r>
          </a:p>
          <a:p>
            <a:pPr algn="l">
              <a:lnSpc>
                <a:spcPct val="115000"/>
              </a:lnSpc>
            </a:pPr>
            <a:r>
              <a:rPr sz="400" b="0" i="0">
                <a:solidFill>
                  <a:srgbClr val="21295C"/>
                </a:solidFill>
                <a:latin typeface="Arial"/>
              </a:rPr>
              <a:t/>
            </a:r>
          </a:p>
          <a:p>
            <a:pPr algn="l">
              <a:lnSpc>
                <a:spcPct val="115000"/>
              </a:lnSpc>
            </a:pPr>
            <a:r>
              <a:rPr sz="1200" b="1" i="0">
                <a:solidFill>
                  <a:srgbClr val="065A82"/>
                </a:solidFill>
                <a:latin typeface="Arial"/>
              </a:rPr>
              <a:t>13-15 февраля</a:t>
            </a:r>
          </a:p>
          <a:p>
            <a:pPr algn="l">
              <a:lnSpc>
                <a:spcPct val="115000"/>
              </a:lnSpc>
            </a:pPr>
            <a:r>
              <a:rPr sz="1100" b="0" i="0">
                <a:solidFill>
                  <a:srgbClr val="21295C"/>
                </a:solidFill>
                <a:latin typeface="Arial"/>
              </a:rPr>
              <a:t>Социальные сети vs reddit замечают</a:t>
            </a:r>
          </a:p>
          <a:p>
            <a:pPr algn="l">
              <a:lnSpc>
                <a:spcPct val="115000"/>
              </a:lnSpc>
            </a:pPr>
            <a:r>
              <a:rPr sz="1000" b="0" i="1">
                <a:solidFill>
                  <a:srgbClr val="6B7685"/>
                </a:solidFill>
                <a:latin typeface="Arial"/>
              </a:rPr>
              <a:t>несуществующие термины + анатомические аномалии</a:t>
            </a:r>
          </a:p>
          <a:p>
            <a:pPr algn="l">
              <a:lnSpc>
                <a:spcPct val="115000"/>
              </a:lnSpc>
            </a:pPr>
            <a:r>
              <a:rPr sz="400" b="0" i="0">
                <a:solidFill>
                  <a:srgbClr val="21295C"/>
                </a:solidFill>
                <a:latin typeface="Arial"/>
              </a:rPr>
              <a:t/>
            </a:r>
          </a:p>
          <a:p>
            <a:pPr algn="l">
              <a:lnSpc>
                <a:spcPct val="115000"/>
              </a:lnSpc>
            </a:pPr>
            <a:r>
              <a:rPr sz="1200" b="1" i="0">
                <a:solidFill>
                  <a:srgbClr val="C0392B"/>
                </a:solidFill>
                <a:latin typeface="Arial"/>
              </a:rPr>
              <a:t>16 февраля 2024</a:t>
            </a:r>
          </a:p>
          <a:p>
            <a:pPr algn="l">
              <a:lnSpc>
                <a:spcPct val="115000"/>
              </a:lnSpc>
            </a:pPr>
            <a:r>
              <a:rPr sz="1200" b="1" i="0">
                <a:solidFill>
                  <a:srgbClr val="C0392B"/>
                </a:solidFill>
                <a:latin typeface="Arial"/>
              </a:rPr>
              <a:t>Frontiers отозвал статью</a:t>
            </a:r>
          </a:p>
        </p:txBody>
      </p:sp>
      <p:sp>
        <p:nvSpPr>
          <p:cNvPr id="8" name="Rounded Rectangle 7"/>
          <p:cNvSpPr/>
          <p:nvPr/>
        </p:nvSpPr>
        <p:spPr>
          <a:xfrm>
            <a:off x="6126480" y="4023360"/>
            <a:ext cx="5788152" cy="2057400"/>
          </a:xfrm>
          <a:prstGeom prst="roundRect">
            <a:avLst>
              <a:gd name="adj" fmla="val 10000"/>
            </a:avLst>
          </a:prstGeom>
          <a:solidFill>
            <a:srgbClr val="F4F7FA"/>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4160520"/>
            <a:ext cx="5422392" cy="1920240"/>
          </a:xfrm>
          <a:prstGeom prst="rect">
            <a:avLst/>
          </a:prstGeom>
          <a:noFill/>
        </p:spPr>
        <p:txBody>
          <a:bodyPr wrap="square" lIns="0" rIns="0" tIns="0" bIns="0" anchor="t">
            <a:spAutoFit/>
          </a:bodyPr>
          <a:lstStyle/>
          <a:p>
            <a:pPr algn="l">
              <a:lnSpc>
                <a:spcPct val="115000"/>
              </a:lnSpc>
            </a:pPr>
            <a:r>
              <a:rPr sz="1300" b="1" i="0">
                <a:solidFill>
                  <a:srgbClr val="C0392B"/>
                </a:solidFill>
                <a:latin typeface="Arial"/>
              </a:rPr>
              <a:t>Что произошло:</a:t>
            </a:r>
          </a:p>
          <a:p>
            <a:pPr algn="l">
              <a:lnSpc>
                <a:spcPct val="115000"/>
              </a:lnSpc>
            </a:pPr>
            <a:r>
              <a:rPr sz="400" b="0" i="0">
                <a:solidFill>
                  <a:srgbClr val="21295C"/>
                </a:solidFill>
                <a:latin typeface="Arial"/>
              </a:rPr>
              <a:t/>
            </a:r>
          </a:p>
          <a:p>
            <a:pPr algn="l">
              <a:lnSpc>
                <a:spcPct val="115000"/>
              </a:lnSpc>
            </a:pPr>
            <a:r>
              <a:rPr sz="1100" b="0" i="1">
                <a:solidFill>
                  <a:srgbClr val="21295C"/>
                </a:solidFill>
                <a:latin typeface="Arial"/>
              </a:rPr>
              <a:t>• Раскрытие использования AI было — авторы указали в статье</a:t>
            </a:r>
          </a:p>
          <a:p>
            <a:pPr algn="l">
              <a:lnSpc>
                <a:spcPct val="115000"/>
              </a:lnSpc>
            </a:pPr>
            <a:r>
              <a:rPr sz="200" b="0" i="0">
                <a:solidFill>
                  <a:srgbClr val="21295C"/>
                </a:solidFill>
                <a:latin typeface="Arial"/>
              </a:rPr>
              <a:t/>
            </a:r>
          </a:p>
          <a:p>
            <a:pPr algn="l">
              <a:lnSpc>
                <a:spcPct val="115000"/>
              </a:lnSpc>
            </a:pPr>
            <a:r>
              <a:rPr sz="1100" b="0" i="1">
                <a:solidFill>
                  <a:srgbClr val="21295C"/>
                </a:solidFill>
                <a:latin typeface="Arial"/>
              </a:rPr>
              <a:t>• Рецензенты не проверили рисунки отдельно — текст одобрен, рисунки пропущены</a:t>
            </a:r>
          </a:p>
          <a:p>
            <a:pPr algn="l">
              <a:lnSpc>
                <a:spcPct val="115000"/>
              </a:lnSpc>
            </a:pPr>
            <a:r>
              <a:rPr sz="200" b="0" i="0">
                <a:solidFill>
                  <a:srgbClr val="21295C"/>
                </a:solidFill>
                <a:latin typeface="Arial"/>
              </a:rPr>
              <a:t/>
            </a:r>
          </a:p>
          <a:p>
            <a:pPr algn="l">
              <a:lnSpc>
                <a:spcPct val="115000"/>
              </a:lnSpc>
            </a:pPr>
            <a:r>
              <a:rPr sz="1100" b="1" i="1">
                <a:solidFill>
                  <a:srgbClr val="C0392B"/>
                </a:solidFill>
                <a:latin typeface="Arial"/>
              </a:rPr>
              <a:t>• Урок: рисунки требуют отдельной рецензии как самостоятельный артефакт</a:t>
            </a:r>
          </a:p>
        </p:txBody>
      </p:sp>
      <p:sp>
        <p:nvSpPr>
          <p:cNvPr id="10" name="TextBox 9"/>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 phys.org 2024-02 · VentureBeat февраль 2024 · Frontiers retraction note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NeurIPS 2025: 21 575 поданных, 5 290 принятых. 100+ фейк-цитат.</a:t>
            </a:r>
          </a:p>
        </p:txBody>
      </p:sp>
      <p:pic>
        <p:nvPicPr>
          <p:cNvPr id="3" name="Picture 2" descr="s30-neurips.png"/>
          <p:cNvPicPr>
            <a:picLocks noChangeAspect="1"/>
          </p:cNvPicPr>
          <p:nvPr/>
        </p:nvPicPr>
        <p:blipFill>
          <a:blip r:embed="rId2"/>
          <a:stretch>
            <a:fillRect/>
          </a:stretch>
        </p:blipFill>
        <p:spPr>
          <a:xfrm>
            <a:off x="274320" y="1371600"/>
            <a:ext cx="6858000" cy="3657600"/>
          </a:xfrm>
          <a:prstGeom prst="rect">
            <a:avLst/>
          </a:prstGeom>
        </p:spPr>
      </p:pic>
      <p:sp>
        <p:nvSpPr>
          <p:cNvPr id="4" name="Rounded Rectangle 3"/>
          <p:cNvSpPr/>
          <p:nvPr/>
        </p:nvSpPr>
        <p:spPr>
          <a:xfrm>
            <a:off x="7315200" y="1371600"/>
            <a:ext cx="4572000" cy="3657600"/>
          </a:xfrm>
          <a:prstGeom prst="roundRect">
            <a:avLst>
              <a:gd name="adj" fmla="val 10000"/>
            </a:avLst>
          </a:prstGeom>
          <a:solidFill>
            <a:srgbClr val="F4F7FA"/>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9" y="1508760"/>
            <a:ext cx="4206240" cy="3474720"/>
          </a:xfrm>
          <a:prstGeom prst="rect">
            <a:avLst/>
          </a:prstGeom>
          <a:noFill/>
        </p:spPr>
        <p:txBody>
          <a:bodyPr wrap="square" lIns="0" rIns="0" tIns="0" bIns="0" anchor="t">
            <a:spAutoFit/>
          </a:bodyPr>
          <a:lstStyle/>
          <a:p>
            <a:pPr algn="l">
              <a:lnSpc>
                <a:spcPct val="115000"/>
              </a:lnSpc>
            </a:pPr>
            <a:r>
              <a:rPr sz="1400" b="1" i="0">
                <a:solidFill>
                  <a:srgbClr val="C0392B"/>
                </a:solidFill>
                <a:latin typeface="Arial"/>
              </a:rPr>
              <a:t>Числа NeurIPS 2025:</a:t>
            </a:r>
          </a:p>
          <a:p>
            <a:pPr algn="l">
              <a:lnSpc>
                <a:spcPct val="115000"/>
              </a:lnSpc>
            </a:pPr>
            <a:r>
              <a:rPr sz="600" b="0" i="0">
                <a:solidFill>
                  <a:srgbClr val="21295C"/>
                </a:solidFill>
                <a:latin typeface="Arial"/>
              </a:rPr>
              <a:t/>
            </a:r>
          </a:p>
          <a:p>
            <a:pPr algn="l">
              <a:lnSpc>
                <a:spcPct val="115000"/>
              </a:lnSpc>
            </a:pPr>
            <a:r>
              <a:rPr sz="1300" b="1" i="0">
                <a:solidFill>
                  <a:srgbClr val="21295C"/>
                </a:solidFill>
                <a:latin typeface="Arial"/>
              </a:rPr>
              <a:t>21 575 поданных статей</a:t>
            </a:r>
          </a:p>
          <a:p>
            <a:pPr algn="l">
              <a:lnSpc>
                <a:spcPct val="115000"/>
              </a:lnSpc>
            </a:pPr>
            <a:r>
              <a:rPr sz="1300" b="1" i="0">
                <a:solidFill>
                  <a:srgbClr val="21295C"/>
                </a:solidFill>
                <a:latin typeface="Arial"/>
              </a:rPr>
              <a:t>5 290 принятых</a:t>
            </a:r>
          </a:p>
          <a:p>
            <a:pPr algn="l">
              <a:lnSpc>
                <a:spcPct val="115000"/>
              </a:lnSpc>
            </a:pPr>
            <a:r>
              <a:rPr sz="1200" b="0" i="1">
                <a:solidFill>
                  <a:srgbClr val="6B7685"/>
                </a:solidFill>
                <a:latin typeface="Arial"/>
              </a:rPr>
              <a:t>Доля принятых — 24,52%</a:t>
            </a:r>
          </a:p>
          <a:p>
            <a:pPr algn="l">
              <a:lnSpc>
                <a:spcPct val="115000"/>
              </a:lnSpc>
            </a:pPr>
            <a:r>
              <a:rPr sz="600" b="0" i="0">
                <a:solidFill>
                  <a:srgbClr val="21295C"/>
                </a:solidFill>
                <a:latin typeface="Arial"/>
              </a:rPr>
              <a:t/>
            </a:r>
          </a:p>
          <a:p>
            <a:pPr algn="l">
              <a:lnSpc>
                <a:spcPct val="115000"/>
              </a:lnSpc>
            </a:pPr>
            <a:r>
              <a:rPr sz="1300" b="1" i="0">
                <a:solidFill>
                  <a:srgbClr val="C0392B"/>
                </a:solidFill>
                <a:latin typeface="Arial"/>
              </a:rPr>
              <a:t>Анализ GPTZero Research:</a:t>
            </a:r>
          </a:p>
          <a:p>
            <a:pPr algn="l">
              <a:lnSpc>
                <a:spcPct val="115000"/>
              </a:lnSpc>
            </a:pPr>
            <a:r>
              <a:rPr sz="1400" b="1" i="0">
                <a:solidFill>
                  <a:srgbClr val="F0AB00"/>
                </a:solidFill>
                <a:latin typeface="Arial"/>
              </a:rPr>
              <a:t>100+ фейковых цитат</a:t>
            </a:r>
          </a:p>
          <a:p>
            <a:pPr algn="l">
              <a:lnSpc>
                <a:spcPct val="115000"/>
              </a:lnSpc>
            </a:pPr>
            <a:r>
              <a:rPr sz="1200" b="0" i="0">
                <a:solidFill>
                  <a:srgbClr val="21295C"/>
                </a:solidFill>
                <a:latin typeface="Arial"/>
              </a:rPr>
              <a:t>в 53 принятых статьях</a:t>
            </a:r>
          </a:p>
          <a:p>
            <a:pPr algn="l">
              <a:lnSpc>
                <a:spcPct val="115000"/>
              </a:lnSpc>
            </a:pPr>
            <a:r>
              <a:rPr sz="1000" b="0" i="1">
                <a:solidFill>
                  <a:srgbClr val="6B7685"/>
                </a:solidFill>
                <a:latin typeface="Arial"/>
              </a:rPr>
              <a:t>(arxiv 2602.05930)</a:t>
            </a:r>
          </a:p>
          <a:p>
            <a:pPr algn="l">
              <a:lnSpc>
                <a:spcPct val="115000"/>
              </a:lnSpc>
            </a:pPr>
            <a:r>
              <a:rPr sz="600" b="0" i="0">
                <a:solidFill>
                  <a:srgbClr val="21295C"/>
                </a:solidFill>
                <a:latin typeface="Arial"/>
              </a:rPr>
              <a:t/>
            </a:r>
          </a:p>
          <a:p>
            <a:pPr algn="l">
              <a:lnSpc>
                <a:spcPct val="115000"/>
              </a:lnSpc>
            </a:pPr>
            <a:r>
              <a:rPr sz="1200" b="0" i="1">
                <a:solidFill>
                  <a:srgbClr val="065A82"/>
                </a:solidFill>
                <a:latin typeface="Arial"/>
              </a:rPr>
              <a:t>Это около 1% принятых статей</a:t>
            </a:r>
          </a:p>
          <a:p>
            <a:pPr algn="l">
              <a:lnSpc>
                <a:spcPct val="115000"/>
              </a:lnSpc>
            </a:pPr>
            <a:r>
              <a:rPr sz="1200" b="0" i="1">
                <a:solidFill>
                  <a:srgbClr val="065A82"/>
                </a:solidFill>
                <a:latin typeface="Arial"/>
              </a:rPr>
              <a:t>содержат прямые фейки</a:t>
            </a:r>
          </a:p>
        </p:txBody>
      </p:sp>
      <p:sp>
        <p:nvSpPr>
          <p:cNvPr id="6" name="Rounded Rectangle 5"/>
          <p:cNvSpPr/>
          <p:nvPr/>
        </p:nvSpPr>
        <p:spPr>
          <a:xfrm>
            <a:off x="274320" y="5212080"/>
            <a:ext cx="11640312" cy="9144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5303520"/>
            <a:ext cx="11091672" cy="822960"/>
          </a:xfrm>
          <a:prstGeom prst="rect">
            <a:avLst/>
          </a:prstGeom>
          <a:noFill/>
        </p:spPr>
        <p:txBody>
          <a:bodyPr wrap="square" lIns="0" rIns="0" tIns="0" bIns="0" anchor="t">
            <a:spAutoFit/>
          </a:bodyPr>
          <a:lstStyle/>
          <a:p>
            <a:pPr algn="l">
              <a:lnSpc>
                <a:spcPct val="118000"/>
              </a:lnSpc>
            </a:pPr>
            <a:r>
              <a:rPr sz="1300" b="1" i="0">
                <a:solidFill>
                  <a:srgbClr val="F0AB00"/>
                </a:solidFill>
                <a:latin typeface="Arial"/>
              </a:rPr>
              <a:t>Каскадный эффект:</a:t>
            </a:r>
          </a:p>
          <a:p>
            <a:pPr algn="l">
              <a:lnSpc>
                <a:spcPct val="118000"/>
              </a:lnSpc>
            </a:pPr>
            <a:r>
              <a:rPr sz="1300" b="0" i="1">
                <a:solidFill>
                  <a:srgbClr val="21295C"/>
                </a:solidFill>
                <a:latin typeface="Arial"/>
              </a:rPr>
              <a:t>Топовая конференция AI пропустила фейки = эти фейки войдут в обучающие данные следующих LLM = следующая итерация рецензирования увидит фейки как «легитимные источники». Это самовоспроизводящееся загрязнение литературы.</a:t>
            </a:r>
          </a:p>
        </p:txBody>
      </p:sp>
      <p:sp>
        <p:nvSpPr>
          <p:cNvPr id="8" name="TextBox 7"/>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 GPTZero Research arxiv 2602.05930 (2026)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ICMJE: AI не автор. Пять этических критериев — обязательны.</a:t>
            </a:r>
          </a:p>
        </p:txBody>
      </p:sp>
      <p:sp>
        <p:nvSpPr>
          <p:cNvPr id="3" name="Rounded Rectangle 2"/>
          <p:cNvSpPr/>
          <p:nvPr/>
        </p:nvSpPr>
        <p:spPr>
          <a:xfrm>
            <a:off x="457200" y="1371600"/>
            <a:ext cx="11274552" cy="502920"/>
          </a:xfrm>
          <a:prstGeom prst="roundRect">
            <a:avLst>
              <a:gd name="adj" fmla="val 10000"/>
            </a:avLst>
          </a:prstGeom>
          <a:solidFill>
            <a:srgbClr val="065A82"/>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1274552" cy="50292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5 критериев политик: Раскрытие · Проверяемость · Авторство · Ответственность · Воспроизводимость</a:t>
            </a:r>
          </a:p>
        </p:txBody>
      </p:sp>
      <p:sp>
        <p:nvSpPr>
          <p:cNvPr id="5" name="Rectangle 4"/>
          <p:cNvSpPr/>
          <p:nvPr/>
        </p:nvSpPr>
        <p:spPr>
          <a:xfrm>
            <a:off x="457200" y="2011680"/>
            <a:ext cx="457200" cy="4572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457200" cy="457200"/>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a:t>
            </a:r>
          </a:p>
        </p:txBody>
      </p:sp>
      <p:sp>
        <p:nvSpPr>
          <p:cNvPr id="7" name="Rectangle 6"/>
          <p:cNvSpPr/>
          <p:nvPr/>
        </p:nvSpPr>
        <p:spPr>
          <a:xfrm>
            <a:off x="3108960" y="2011680"/>
            <a:ext cx="201168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08960" y="2011680"/>
            <a:ext cx="2011680" cy="45720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Springer</a:t>
            </a:r>
          </a:p>
        </p:txBody>
      </p:sp>
      <p:sp>
        <p:nvSpPr>
          <p:cNvPr id="9" name="Rectangle 8"/>
          <p:cNvSpPr/>
          <p:nvPr/>
        </p:nvSpPr>
        <p:spPr>
          <a:xfrm>
            <a:off x="5166360" y="2011680"/>
            <a:ext cx="201168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66360" y="2011680"/>
            <a:ext cx="2011680" cy="45720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Elsevier</a:t>
            </a:r>
          </a:p>
        </p:txBody>
      </p:sp>
      <p:sp>
        <p:nvSpPr>
          <p:cNvPr id="11" name="Rectangle 10"/>
          <p:cNvSpPr/>
          <p:nvPr/>
        </p:nvSpPr>
        <p:spPr>
          <a:xfrm>
            <a:off x="7223760" y="2011680"/>
            <a:ext cx="201168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0" y="2011680"/>
            <a:ext cx="2011680" cy="45720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Frontiers</a:t>
            </a:r>
          </a:p>
        </p:txBody>
      </p:sp>
      <p:sp>
        <p:nvSpPr>
          <p:cNvPr id="13" name="Rectangle 12"/>
          <p:cNvSpPr/>
          <p:nvPr/>
        </p:nvSpPr>
        <p:spPr>
          <a:xfrm>
            <a:off x="9281160" y="2011680"/>
            <a:ext cx="201168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1160" y="2011680"/>
            <a:ext cx="2011680" cy="45720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Nature/ICMJE</a:t>
            </a:r>
          </a:p>
        </p:txBody>
      </p:sp>
      <p:sp>
        <p:nvSpPr>
          <p:cNvPr id="15" name="Rectangle 14"/>
          <p:cNvSpPr/>
          <p:nvPr/>
        </p:nvSpPr>
        <p:spPr>
          <a:xfrm>
            <a:off x="457200" y="2514600"/>
            <a:ext cx="11274552" cy="5029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514600"/>
            <a:ext cx="2606040" cy="502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514600"/>
            <a:ext cx="2514600" cy="50292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Раскрытие AI</a:t>
            </a:r>
          </a:p>
        </p:txBody>
      </p:sp>
      <p:sp>
        <p:nvSpPr>
          <p:cNvPr id="18" name="TextBox 17"/>
          <p:cNvSpPr txBox="1"/>
          <p:nvPr/>
        </p:nvSpPr>
        <p:spPr>
          <a:xfrm>
            <a:off x="3154679" y="2514600"/>
            <a:ext cx="1965960" cy="502920"/>
          </a:xfrm>
          <a:prstGeom prst="rect">
            <a:avLst/>
          </a:prstGeom>
          <a:noFill/>
        </p:spPr>
        <p:txBody>
          <a:bodyPr wrap="square" lIns="0" rIns="0" tIns="0" bIns="0" anchor="ctr">
            <a:spAutoFit/>
          </a:bodyPr>
          <a:lstStyle/>
          <a:p>
            <a:pPr algn="ctr">
              <a:lnSpc>
                <a:spcPct val="115000"/>
              </a:lnSpc>
            </a:pPr>
            <a:r>
              <a:rPr sz="1100" b="1" i="0">
                <a:solidFill>
                  <a:srgbClr val="F0AB00"/>
                </a:solidFill>
                <a:latin typeface="Arial"/>
              </a:rPr>
              <a:t>Обязательно</a:t>
            </a:r>
          </a:p>
        </p:txBody>
      </p:sp>
      <p:sp>
        <p:nvSpPr>
          <p:cNvPr id="19" name="TextBox 18"/>
          <p:cNvSpPr txBox="1"/>
          <p:nvPr/>
        </p:nvSpPr>
        <p:spPr>
          <a:xfrm>
            <a:off x="5212080" y="2514600"/>
            <a:ext cx="1965960" cy="502920"/>
          </a:xfrm>
          <a:prstGeom prst="rect">
            <a:avLst/>
          </a:prstGeom>
          <a:noFill/>
        </p:spPr>
        <p:txBody>
          <a:bodyPr wrap="square" lIns="0" rIns="0" tIns="0" bIns="0" anchor="ctr">
            <a:spAutoFit/>
          </a:bodyPr>
          <a:lstStyle/>
          <a:p>
            <a:pPr algn="ctr">
              <a:lnSpc>
                <a:spcPct val="115000"/>
              </a:lnSpc>
            </a:pPr>
            <a:r>
              <a:rPr sz="1100" b="1" i="0">
                <a:solidFill>
                  <a:srgbClr val="F0AB00"/>
                </a:solidFill>
                <a:latin typeface="Arial"/>
              </a:rPr>
              <a:t>Обязательно</a:t>
            </a:r>
          </a:p>
        </p:txBody>
      </p:sp>
      <p:sp>
        <p:nvSpPr>
          <p:cNvPr id="20" name="TextBox 19"/>
          <p:cNvSpPr txBox="1"/>
          <p:nvPr/>
        </p:nvSpPr>
        <p:spPr>
          <a:xfrm>
            <a:off x="7269480" y="2514600"/>
            <a:ext cx="1965960" cy="502920"/>
          </a:xfrm>
          <a:prstGeom prst="rect">
            <a:avLst/>
          </a:prstGeom>
          <a:noFill/>
        </p:spPr>
        <p:txBody>
          <a:bodyPr wrap="square" lIns="0" rIns="0" tIns="0" bIns="0" anchor="ctr">
            <a:spAutoFit/>
          </a:bodyPr>
          <a:lstStyle/>
          <a:p>
            <a:pPr algn="ctr">
              <a:lnSpc>
                <a:spcPct val="115000"/>
              </a:lnSpc>
            </a:pPr>
            <a:r>
              <a:rPr sz="1100" b="1" i="0">
                <a:solidFill>
                  <a:srgbClr val="F0AB00"/>
                </a:solidFill>
                <a:latin typeface="Arial"/>
              </a:rPr>
              <a:t>Обязательно</a:t>
            </a:r>
          </a:p>
        </p:txBody>
      </p:sp>
      <p:sp>
        <p:nvSpPr>
          <p:cNvPr id="21" name="TextBox 20"/>
          <p:cNvSpPr txBox="1"/>
          <p:nvPr/>
        </p:nvSpPr>
        <p:spPr>
          <a:xfrm>
            <a:off x="9326880" y="2514600"/>
            <a:ext cx="1965960" cy="502920"/>
          </a:xfrm>
          <a:prstGeom prst="rect">
            <a:avLst/>
          </a:prstGeom>
          <a:noFill/>
        </p:spPr>
        <p:txBody>
          <a:bodyPr wrap="square" lIns="0" rIns="0" tIns="0" bIns="0" anchor="ctr">
            <a:spAutoFit/>
          </a:bodyPr>
          <a:lstStyle/>
          <a:p>
            <a:pPr algn="ctr">
              <a:lnSpc>
                <a:spcPct val="115000"/>
              </a:lnSpc>
            </a:pPr>
            <a:r>
              <a:rPr sz="1100" b="1" i="0">
                <a:solidFill>
                  <a:srgbClr val="F0AB00"/>
                </a:solidFill>
                <a:latin typeface="Arial"/>
              </a:rPr>
              <a:t>Обязательно</a:t>
            </a:r>
          </a:p>
        </p:txBody>
      </p:sp>
      <p:sp>
        <p:nvSpPr>
          <p:cNvPr id="22" name="Rectangle 21"/>
          <p:cNvSpPr/>
          <p:nvPr/>
        </p:nvSpPr>
        <p:spPr>
          <a:xfrm>
            <a:off x="457200" y="3017520"/>
            <a:ext cx="260604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017520"/>
            <a:ext cx="2514600" cy="50292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Проверяемость</a:t>
            </a:r>
          </a:p>
        </p:txBody>
      </p:sp>
      <p:sp>
        <p:nvSpPr>
          <p:cNvPr id="24" name="TextBox 23"/>
          <p:cNvSpPr txBox="1"/>
          <p:nvPr/>
        </p:nvSpPr>
        <p:spPr>
          <a:xfrm>
            <a:off x="3154679" y="3017520"/>
            <a:ext cx="1965960" cy="502920"/>
          </a:xfrm>
          <a:prstGeom prst="rect">
            <a:avLst/>
          </a:prstGeom>
          <a:noFill/>
        </p:spPr>
        <p:txBody>
          <a:bodyPr wrap="square" lIns="0" rIns="0" tIns="0" bIns="0" anchor="ctr">
            <a:spAutoFit/>
          </a:bodyPr>
          <a:lstStyle/>
          <a:p>
            <a:pPr algn="ctr">
              <a:lnSpc>
                <a:spcPct val="115000"/>
              </a:lnSpc>
            </a:pPr>
            <a:r>
              <a:rPr sz="1100" b="0" i="0">
                <a:solidFill>
                  <a:srgbClr val="21295C"/>
                </a:solidFill>
                <a:latin typeface="Arial"/>
              </a:rPr>
              <a:t>Рекомендуется</a:t>
            </a:r>
          </a:p>
        </p:txBody>
      </p:sp>
      <p:sp>
        <p:nvSpPr>
          <p:cNvPr id="25" name="TextBox 24"/>
          <p:cNvSpPr txBox="1"/>
          <p:nvPr/>
        </p:nvSpPr>
        <p:spPr>
          <a:xfrm>
            <a:off x="5212080" y="3017520"/>
            <a:ext cx="1965960" cy="502920"/>
          </a:xfrm>
          <a:prstGeom prst="rect">
            <a:avLst/>
          </a:prstGeom>
          <a:noFill/>
        </p:spPr>
        <p:txBody>
          <a:bodyPr wrap="square" lIns="0" rIns="0" tIns="0" bIns="0" anchor="ctr">
            <a:spAutoFit/>
          </a:bodyPr>
          <a:lstStyle/>
          <a:p>
            <a:pPr algn="ctr">
              <a:lnSpc>
                <a:spcPct val="115000"/>
              </a:lnSpc>
            </a:pPr>
            <a:r>
              <a:rPr sz="1100" b="0" i="0">
                <a:solidFill>
                  <a:srgbClr val="21295C"/>
                </a:solidFill>
                <a:latin typeface="Arial"/>
              </a:rPr>
              <a:t>Рекомендуется</a:t>
            </a:r>
          </a:p>
        </p:txBody>
      </p:sp>
      <p:sp>
        <p:nvSpPr>
          <p:cNvPr id="26" name="TextBox 25"/>
          <p:cNvSpPr txBox="1"/>
          <p:nvPr/>
        </p:nvSpPr>
        <p:spPr>
          <a:xfrm>
            <a:off x="7269480" y="3017520"/>
            <a:ext cx="1965960" cy="502920"/>
          </a:xfrm>
          <a:prstGeom prst="rect">
            <a:avLst/>
          </a:prstGeom>
          <a:noFill/>
        </p:spPr>
        <p:txBody>
          <a:bodyPr wrap="square" lIns="0" rIns="0" tIns="0" bIns="0" anchor="ctr">
            <a:spAutoFit/>
          </a:bodyPr>
          <a:lstStyle/>
          <a:p>
            <a:pPr algn="ctr">
              <a:lnSpc>
                <a:spcPct val="115000"/>
              </a:lnSpc>
            </a:pPr>
            <a:r>
              <a:rPr sz="1100" b="1" i="0">
                <a:solidFill>
                  <a:srgbClr val="F0AB00"/>
                </a:solidFill>
                <a:latin typeface="Arial"/>
              </a:rPr>
              <a:t>Обязательно</a:t>
            </a:r>
          </a:p>
        </p:txBody>
      </p:sp>
      <p:sp>
        <p:nvSpPr>
          <p:cNvPr id="27" name="TextBox 26"/>
          <p:cNvSpPr txBox="1"/>
          <p:nvPr/>
        </p:nvSpPr>
        <p:spPr>
          <a:xfrm>
            <a:off x="9326880" y="3017520"/>
            <a:ext cx="1965960" cy="502920"/>
          </a:xfrm>
          <a:prstGeom prst="rect">
            <a:avLst/>
          </a:prstGeom>
          <a:noFill/>
        </p:spPr>
        <p:txBody>
          <a:bodyPr wrap="square" lIns="0" rIns="0" tIns="0" bIns="0" anchor="ctr">
            <a:spAutoFit/>
          </a:bodyPr>
          <a:lstStyle/>
          <a:p>
            <a:pPr algn="ctr">
              <a:lnSpc>
                <a:spcPct val="115000"/>
              </a:lnSpc>
            </a:pPr>
            <a:r>
              <a:rPr sz="1100" b="1" i="0">
                <a:solidFill>
                  <a:srgbClr val="F0AB00"/>
                </a:solidFill>
                <a:latin typeface="Arial"/>
              </a:rPr>
              <a:t>Обязательно</a:t>
            </a:r>
          </a:p>
        </p:txBody>
      </p:sp>
      <p:sp>
        <p:nvSpPr>
          <p:cNvPr id="28" name="Rectangle 27"/>
          <p:cNvSpPr/>
          <p:nvPr/>
        </p:nvSpPr>
        <p:spPr>
          <a:xfrm>
            <a:off x="457200" y="3520440"/>
            <a:ext cx="11274552" cy="5029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520440"/>
            <a:ext cx="2606040" cy="502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520440"/>
            <a:ext cx="2514600" cy="50292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AI как автор</a:t>
            </a:r>
          </a:p>
        </p:txBody>
      </p:sp>
      <p:sp>
        <p:nvSpPr>
          <p:cNvPr id="31" name="TextBox 30"/>
          <p:cNvSpPr txBox="1"/>
          <p:nvPr/>
        </p:nvSpPr>
        <p:spPr>
          <a:xfrm>
            <a:off x="3154679" y="3520440"/>
            <a:ext cx="1965960" cy="502920"/>
          </a:xfrm>
          <a:prstGeom prst="rect">
            <a:avLst/>
          </a:prstGeom>
          <a:noFill/>
        </p:spPr>
        <p:txBody>
          <a:bodyPr wrap="square" lIns="0" rIns="0" tIns="0" bIns="0" anchor="ctr">
            <a:spAutoFit/>
          </a:bodyPr>
          <a:lstStyle/>
          <a:p>
            <a:pPr algn="ctr">
              <a:lnSpc>
                <a:spcPct val="115000"/>
              </a:lnSpc>
            </a:pPr>
            <a:r>
              <a:rPr sz="1100" b="1" i="0">
                <a:solidFill>
                  <a:srgbClr val="C0392B"/>
                </a:solidFill>
                <a:latin typeface="Arial"/>
              </a:rPr>
              <a:t>Запрещено</a:t>
            </a:r>
          </a:p>
        </p:txBody>
      </p:sp>
      <p:sp>
        <p:nvSpPr>
          <p:cNvPr id="32" name="TextBox 31"/>
          <p:cNvSpPr txBox="1"/>
          <p:nvPr/>
        </p:nvSpPr>
        <p:spPr>
          <a:xfrm>
            <a:off x="5212080" y="3520440"/>
            <a:ext cx="1965960" cy="502920"/>
          </a:xfrm>
          <a:prstGeom prst="rect">
            <a:avLst/>
          </a:prstGeom>
          <a:noFill/>
        </p:spPr>
        <p:txBody>
          <a:bodyPr wrap="square" lIns="0" rIns="0" tIns="0" bIns="0" anchor="ctr">
            <a:spAutoFit/>
          </a:bodyPr>
          <a:lstStyle/>
          <a:p>
            <a:pPr algn="ctr">
              <a:lnSpc>
                <a:spcPct val="115000"/>
              </a:lnSpc>
            </a:pPr>
            <a:r>
              <a:rPr sz="1100" b="1" i="0">
                <a:solidFill>
                  <a:srgbClr val="C0392B"/>
                </a:solidFill>
                <a:latin typeface="Arial"/>
              </a:rPr>
              <a:t>Запрещено</a:t>
            </a:r>
          </a:p>
        </p:txBody>
      </p:sp>
      <p:sp>
        <p:nvSpPr>
          <p:cNvPr id="33" name="TextBox 32"/>
          <p:cNvSpPr txBox="1"/>
          <p:nvPr/>
        </p:nvSpPr>
        <p:spPr>
          <a:xfrm>
            <a:off x="7269480" y="3520440"/>
            <a:ext cx="1965960" cy="502920"/>
          </a:xfrm>
          <a:prstGeom prst="rect">
            <a:avLst/>
          </a:prstGeom>
          <a:noFill/>
        </p:spPr>
        <p:txBody>
          <a:bodyPr wrap="square" lIns="0" rIns="0" tIns="0" bIns="0" anchor="ctr">
            <a:spAutoFit/>
          </a:bodyPr>
          <a:lstStyle/>
          <a:p>
            <a:pPr algn="ctr">
              <a:lnSpc>
                <a:spcPct val="115000"/>
              </a:lnSpc>
            </a:pPr>
            <a:r>
              <a:rPr sz="1100" b="1" i="0">
                <a:solidFill>
                  <a:srgbClr val="C0392B"/>
                </a:solidFill>
                <a:latin typeface="Arial"/>
              </a:rPr>
              <a:t>Запрещено</a:t>
            </a:r>
          </a:p>
        </p:txBody>
      </p:sp>
      <p:sp>
        <p:nvSpPr>
          <p:cNvPr id="34" name="TextBox 33"/>
          <p:cNvSpPr txBox="1"/>
          <p:nvPr/>
        </p:nvSpPr>
        <p:spPr>
          <a:xfrm>
            <a:off x="9326880" y="3520440"/>
            <a:ext cx="1965960" cy="502920"/>
          </a:xfrm>
          <a:prstGeom prst="rect">
            <a:avLst/>
          </a:prstGeom>
          <a:noFill/>
        </p:spPr>
        <p:txBody>
          <a:bodyPr wrap="square" lIns="0" rIns="0" tIns="0" bIns="0" anchor="ctr">
            <a:spAutoFit/>
          </a:bodyPr>
          <a:lstStyle/>
          <a:p>
            <a:pPr algn="ctr">
              <a:lnSpc>
                <a:spcPct val="115000"/>
              </a:lnSpc>
            </a:pPr>
            <a:r>
              <a:rPr sz="1100" b="1" i="0">
                <a:solidFill>
                  <a:srgbClr val="C0392B"/>
                </a:solidFill>
                <a:latin typeface="Arial"/>
              </a:rPr>
              <a:t>Запрещено</a:t>
            </a:r>
          </a:p>
        </p:txBody>
      </p:sp>
      <p:sp>
        <p:nvSpPr>
          <p:cNvPr id="35" name="Rectangle 34"/>
          <p:cNvSpPr/>
          <p:nvPr/>
        </p:nvSpPr>
        <p:spPr>
          <a:xfrm>
            <a:off x="457200" y="4023360"/>
            <a:ext cx="260604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023360"/>
            <a:ext cx="2514600" cy="50292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Ответственность</a:t>
            </a:r>
          </a:p>
        </p:txBody>
      </p:sp>
      <p:sp>
        <p:nvSpPr>
          <p:cNvPr id="37" name="TextBox 36"/>
          <p:cNvSpPr txBox="1"/>
          <p:nvPr/>
        </p:nvSpPr>
        <p:spPr>
          <a:xfrm>
            <a:off x="3154679" y="4023360"/>
            <a:ext cx="1965960" cy="502920"/>
          </a:xfrm>
          <a:prstGeom prst="rect">
            <a:avLst/>
          </a:prstGeom>
          <a:noFill/>
        </p:spPr>
        <p:txBody>
          <a:bodyPr wrap="square" lIns="0" rIns="0" tIns="0" bIns="0" anchor="ctr">
            <a:spAutoFit/>
          </a:bodyPr>
          <a:lstStyle/>
          <a:p>
            <a:pPr algn="ctr">
              <a:lnSpc>
                <a:spcPct val="115000"/>
              </a:lnSpc>
            </a:pPr>
            <a:r>
              <a:rPr sz="1100" b="0" i="0">
                <a:solidFill>
                  <a:srgbClr val="21295C"/>
                </a:solidFill>
                <a:latin typeface="Arial"/>
              </a:rPr>
              <a:t>Авторы (не AI)</a:t>
            </a:r>
          </a:p>
        </p:txBody>
      </p:sp>
      <p:sp>
        <p:nvSpPr>
          <p:cNvPr id="38" name="TextBox 37"/>
          <p:cNvSpPr txBox="1"/>
          <p:nvPr/>
        </p:nvSpPr>
        <p:spPr>
          <a:xfrm>
            <a:off x="5212080" y="4023360"/>
            <a:ext cx="1965960" cy="502920"/>
          </a:xfrm>
          <a:prstGeom prst="rect">
            <a:avLst/>
          </a:prstGeom>
          <a:noFill/>
        </p:spPr>
        <p:txBody>
          <a:bodyPr wrap="square" lIns="0" rIns="0" tIns="0" bIns="0" anchor="ctr">
            <a:spAutoFit/>
          </a:bodyPr>
          <a:lstStyle/>
          <a:p>
            <a:pPr algn="ctr">
              <a:lnSpc>
                <a:spcPct val="115000"/>
              </a:lnSpc>
            </a:pPr>
            <a:r>
              <a:rPr sz="1100" b="0" i="0">
                <a:solidFill>
                  <a:srgbClr val="21295C"/>
                </a:solidFill>
                <a:latin typeface="Arial"/>
              </a:rPr>
              <a:t>Авторы (не AI)</a:t>
            </a:r>
          </a:p>
        </p:txBody>
      </p:sp>
      <p:sp>
        <p:nvSpPr>
          <p:cNvPr id="39" name="TextBox 38"/>
          <p:cNvSpPr txBox="1"/>
          <p:nvPr/>
        </p:nvSpPr>
        <p:spPr>
          <a:xfrm>
            <a:off x="7269480" y="4023360"/>
            <a:ext cx="1965960" cy="502920"/>
          </a:xfrm>
          <a:prstGeom prst="rect">
            <a:avLst/>
          </a:prstGeom>
          <a:noFill/>
        </p:spPr>
        <p:txBody>
          <a:bodyPr wrap="square" lIns="0" rIns="0" tIns="0" bIns="0" anchor="ctr">
            <a:spAutoFit/>
          </a:bodyPr>
          <a:lstStyle/>
          <a:p>
            <a:pPr algn="ctr">
              <a:lnSpc>
                <a:spcPct val="115000"/>
              </a:lnSpc>
            </a:pPr>
            <a:r>
              <a:rPr sz="1100" b="0" i="0">
                <a:solidFill>
                  <a:srgbClr val="21295C"/>
                </a:solidFill>
                <a:latin typeface="Arial"/>
              </a:rPr>
              <a:t>Авторы (не AI)</a:t>
            </a:r>
          </a:p>
        </p:txBody>
      </p:sp>
      <p:sp>
        <p:nvSpPr>
          <p:cNvPr id="40" name="TextBox 39"/>
          <p:cNvSpPr txBox="1"/>
          <p:nvPr/>
        </p:nvSpPr>
        <p:spPr>
          <a:xfrm>
            <a:off x="9326880" y="4023360"/>
            <a:ext cx="1965960" cy="502920"/>
          </a:xfrm>
          <a:prstGeom prst="rect">
            <a:avLst/>
          </a:prstGeom>
          <a:noFill/>
        </p:spPr>
        <p:txBody>
          <a:bodyPr wrap="square" lIns="0" rIns="0" tIns="0" bIns="0" anchor="ctr">
            <a:spAutoFit/>
          </a:bodyPr>
          <a:lstStyle/>
          <a:p>
            <a:pPr algn="ctr">
              <a:lnSpc>
                <a:spcPct val="115000"/>
              </a:lnSpc>
            </a:pPr>
            <a:r>
              <a:rPr sz="1100" b="0" i="0">
                <a:solidFill>
                  <a:srgbClr val="21295C"/>
                </a:solidFill>
                <a:latin typeface="Arial"/>
              </a:rPr>
              <a:t>Авторы (не AI)</a:t>
            </a:r>
          </a:p>
        </p:txBody>
      </p:sp>
      <p:sp>
        <p:nvSpPr>
          <p:cNvPr id="41" name="Rectangle 40"/>
          <p:cNvSpPr/>
          <p:nvPr/>
        </p:nvSpPr>
        <p:spPr>
          <a:xfrm>
            <a:off x="457200" y="4526280"/>
            <a:ext cx="11274552" cy="5029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200" y="4526280"/>
            <a:ext cx="2606040" cy="502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4526280"/>
            <a:ext cx="2514600" cy="50292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Воспроизводимость</a:t>
            </a:r>
          </a:p>
        </p:txBody>
      </p:sp>
      <p:sp>
        <p:nvSpPr>
          <p:cNvPr id="44" name="TextBox 43"/>
          <p:cNvSpPr txBox="1"/>
          <p:nvPr/>
        </p:nvSpPr>
        <p:spPr>
          <a:xfrm>
            <a:off x="3154679" y="4526280"/>
            <a:ext cx="1965960" cy="502920"/>
          </a:xfrm>
          <a:prstGeom prst="rect">
            <a:avLst/>
          </a:prstGeom>
          <a:noFill/>
        </p:spPr>
        <p:txBody>
          <a:bodyPr wrap="square" lIns="0" rIns="0" tIns="0" bIns="0" anchor="ctr">
            <a:spAutoFit/>
          </a:bodyPr>
          <a:lstStyle/>
          <a:p>
            <a:pPr algn="ctr">
              <a:lnSpc>
                <a:spcPct val="115000"/>
              </a:lnSpc>
            </a:pPr>
            <a:r>
              <a:rPr sz="1100" b="0" i="0">
                <a:solidFill>
                  <a:srgbClr val="21295C"/>
                </a:solidFill>
                <a:latin typeface="Arial"/>
              </a:rPr>
              <a:t>Рекомендуется</a:t>
            </a:r>
          </a:p>
        </p:txBody>
      </p:sp>
      <p:sp>
        <p:nvSpPr>
          <p:cNvPr id="45" name="TextBox 44"/>
          <p:cNvSpPr txBox="1"/>
          <p:nvPr/>
        </p:nvSpPr>
        <p:spPr>
          <a:xfrm>
            <a:off x="5212080" y="4526280"/>
            <a:ext cx="1965960" cy="502920"/>
          </a:xfrm>
          <a:prstGeom prst="rect">
            <a:avLst/>
          </a:prstGeom>
          <a:noFill/>
        </p:spPr>
        <p:txBody>
          <a:bodyPr wrap="square" lIns="0" rIns="0" tIns="0" bIns="0" anchor="ctr">
            <a:spAutoFit/>
          </a:bodyPr>
          <a:lstStyle/>
          <a:p>
            <a:pPr algn="ctr">
              <a:lnSpc>
                <a:spcPct val="115000"/>
              </a:lnSpc>
            </a:pPr>
            <a:r>
              <a:rPr sz="1100" b="1" i="0">
                <a:solidFill>
                  <a:srgbClr val="F0AB00"/>
                </a:solidFill>
                <a:latin typeface="Arial"/>
              </a:rPr>
              <a:t>Обязательно</a:t>
            </a:r>
          </a:p>
        </p:txBody>
      </p:sp>
      <p:sp>
        <p:nvSpPr>
          <p:cNvPr id="46" name="TextBox 45"/>
          <p:cNvSpPr txBox="1"/>
          <p:nvPr/>
        </p:nvSpPr>
        <p:spPr>
          <a:xfrm>
            <a:off x="7269480" y="4526280"/>
            <a:ext cx="1965960" cy="502920"/>
          </a:xfrm>
          <a:prstGeom prst="rect">
            <a:avLst/>
          </a:prstGeom>
          <a:noFill/>
        </p:spPr>
        <p:txBody>
          <a:bodyPr wrap="square" lIns="0" rIns="0" tIns="0" bIns="0" anchor="ctr">
            <a:spAutoFit/>
          </a:bodyPr>
          <a:lstStyle/>
          <a:p>
            <a:pPr algn="ctr">
              <a:lnSpc>
                <a:spcPct val="115000"/>
              </a:lnSpc>
            </a:pPr>
            <a:r>
              <a:rPr sz="1100" b="1" i="0">
                <a:solidFill>
                  <a:srgbClr val="F0AB00"/>
                </a:solidFill>
                <a:latin typeface="Arial"/>
              </a:rPr>
              <a:t>Обязательно</a:t>
            </a:r>
          </a:p>
        </p:txBody>
      </p:sp>
      <p:sp>
        <p:nvSpPr>
          <p:cNvPr id="47" name="TextBox 46"/>
          <p:cNvSpPr txBox="1"/>
          <p:nvPr/>
        </p:nvSpPr>
        <p:spPr>
          <a:xfrm>
            <a:off x="9326880" y="4526280"/>
            <a:ext cx="1965960" cy="502920"/>
          </a:xfrm>
          <a:prstGeom prst="rect">
            <a:avLst/>
          </a:prstGeom>
          <a:noFill/>
        </p:spPr>
        <p:txBody>
          <a:bodyPr wrap="square" lIns="0" rIns="0" tIns="0" bIns="0" anchor="ctr">
            <a:spAutoFit/>
          </a:bodyPr>
          <a:lstStyle/>
          <a:p>
            <a:pPr algn="ctr">
              <a:lnSpc>
                <a:spcPct val="115000"/>
              </a:lnSpc>
            </a:pPr>
            <a:r>
              <a:rPr sz="1100" b="1" i="0">
                <a:solidFill>
                  <a:srgbClr val="F0AB00"/>
                </a:solidFill>
                <a:latin typeface="Arial"/>
              </a:rPr>
              <a:t>Обязательно</a:t>
            </a:r>
          </a:p>
        </p:txBody>
      </p:sp>
      <p:sp>
        <p:nvSpPr>
          <p:cNvPr id="48" name="Rounded Rectangle 47"/>
          <p:cNvSpPr/>
          <p:nvPr/>
        </p:nvSpPr>
        <p:spPr>
          <a:xfrm>
            <a:off x="457200" y="5212080"/>
            <a:ext cx="11274552" cy="9144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1520" y="5303520"/>
            <a:ext cx="10789920" cy="777240"/>
          </a:xfrm>
          <a:prstGeom prst="rect">
            <a:avLst/>
          </a:prstGeom>
          <a:noFill/>
        </p:spPr>
        <p:txBody>
          <a:bodyPr wrap="square" lIns="0" rIns="0" tIns="0" bIns="0" anchor="t">
            <a:spAutoFit/>
          </a:bodyPr>
          <a:lstStyle/>
          <a:p>
            <a:pPr algn="l">
              <a:lnSpc>
                <a:spcPct val="118000"/>
              </a:lnSpc>
            </a:pPr>
            <a:r>
              <a:rPr sz="1300" b="1" i="0">
                <a:solidFill>
                  <a:srgbClr val="F0AB00"/>
                </a:solidFill>
                <a:latin typeface="Arial"/>
              </a:rPr>
              <a:t>Главный приём для аспиранта/инженера:</a:t>
            </a:r>
          </a:p>
          <a:p>
            <a:pPr algn="l">
              <a:lnSpc>
                <a:spcPct val="118000"/>
              </a:lnSpc>
            </a:pPr>
            <a:r>
              <a:rPr sz="1200" b="0" i="1">
                <a:solidFill>
                  <a:srgbClr val="21295C"/>
                </a:solidFill>
                <a:latin typeface="Arial"/>
              </a:rPr>
              <a:t>Открывайте конкретную политику конкретного журнала перед подачей. AI как инструмент с раскрытием — OK; AI как автор — запрещён независимо от качества вывода и независимо от журнала.</a:t>
            </a:r>
          </a:p>
        </p:txBody>
      </p:sp>
      <p:sp>
        <p:nvSpPr>
          <p:cNvPr id="50" name="TextBox 49"/>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рекомендации ICMJE 2024 · политики AI издательств Springer · Elsevier · Frontiers · Nature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457200" y="1371600"/>
            <a:ext cx="4572000" cy="2743200"/>
          </a:xfrm>
          <a:prstGeom prst="rect">
            <a:avLst/>
          </a:prstGeom>
          <a:noFill/>
        </p:spPr>
        <p:txBody>
          <a:bodyPr wrap="square" lIns="0" rIns="0" tIns="0" bIns="0" anchor="ctr">
            <a:spAutoFit/>
          </a:bodyPr>
          <a:lstStyle/>
          <a:p>
            <a:pPr algn="ctr">
              <a:lnSpc>
                <a:spcPct val="115000"/>
              </a:lnSpc>
            </a:pPr>
            <a:r>
              <a:rPr sz="20000" b="1" i="0">
                <a:solidFill>
                  <a:srgbClr val="028090"/>
                </a:solidFill>
                <a:latin typeface="Arial"/>
              </a:rPr>
              <a:t>§5</a:t>
            </a:r>
          </a:p>
        </p:txBody>
      </p:sp>
      <p:sp>
        <p:nvSpPr>
          <p:cNvPr id="3" name="TextBox 2"/>
          <p:cNvSpPr txBox="1"/>
          <p:nvPr/>
        </p:nvSpPr>
        <p:spPr>
          <a:xfrm>
            <a:off x="5029200" y="1554480"/>
            <a:ext cx="6675120" cy="3657600"/>
          </a:xfrm>
          <a:prstGeom prst="rect">
            <a:avLst/>
          </a:prstGeom>
          <a:noFill/>
        </p:spPr>
        <p:txBody>
          <a:bodyPr wrap="square" lIns="0" rIns="0" tIns="0" bIns="0" anchor="t">
            <a:spAutoFit/>
          </a:bodyPr>
          <a:lstStyle/>
          <a:p>
            <a:pPr algn="l">
              <a:lnSpc>
                <a:spcPct val="120000"/>
              </a:lnSpc>
            </a:pPr>
            <a:r>
              <a:rPr sz="2200" b="1" i="0">
                <a:solidFill>
                  <a:srgbClr val="065A82"/>
                </a:solidFill>
                <a:latin typeface="Arial"/>
              </a:rPr>
              <a:t>Раздел 5</a:t>
            </a:r>
          </a:p>
          <a:p>
            <a:pPr algn="l">
              <a:lnSpc>
                <a:spcPct val="120000"/>
              </a:lnSpc>
            </a:pPr>
            <a:r>
              <a:rPr sz="4200" b="1" i="0">
                <a:solidFill>
                  <a:srgbClr val="21295C"/>
                </a:solidFill>
                <a:latin typeface="Arial"/>
              </a:rPr>
              <a:t>Когда AI</a:t>
            </a:r>
          </a:p>
          <a:p>
            <a:pPr algn="l">
              <a:lnSpc>
                <a:spcPct val="120000"/>
              </a:lnSpc>
            </a:pPr>
            <a:r>
              <a:rPr sz="4200" b="1" i="0">
                <a:solidFill>
                  <a:srgbClr val="21295C"/>
                </a:solidFill>
                <a:latin typeface="Arial"/>
              </a:rPr>
              <a:t>не нужен</a:t>
            </a:r>
          </a:p>
          <a:p>
            <a:pPr algn="l">
              <a:lnSpc>
                <a:spcPct val="120000"/>
              </a:lnSpc>
            </a:pPr>
            <a:r>
              <a:rPr sz="3000" b="0" i="1">
                <a:solidFill>
                  <a:srgbClr val="1C7293"/>
                </a:solidFill>
                <a:latin typeface="Arial"/>
              </a:rPr>
              <a:t>в науке</a:t>
            </a:r>
          </a:p>
          <a:p>
            <a:pPr algn="l">
              <a:lnSpc>
                <a:spcPct val="120000"/>
              </a:lnSpc>
            </a:pPr>
            <a:r>
              <a:rPr sz="1000" b="0" i="0">
                <a:solidFill>
                  <a:srgbClr val="21295C"/>
                </a:solidFill>
                <a:latin typeface="Arial"/>
              </a:rPr>
              <a:t/>
            </a:r>
          </a:p>
          <a:p>
            <a:pPr algn="l">
              <a:lnSpc>
                <a:spcPct val="120000"/>
              </a:lnSpc>
            </a:pPr>
            <a:r>
              <a:rPr sz="1600" b="0" i="0">
                <a:solidFill>
                  <a:srgbClr val="21295C"/>
                </a:solidFill>
                <a:latin typeface="Arial"/>
              </a:rPr>
              <a:t>Критерии. Альтернативы.</a:t>
            </a:r>
          </a:p>
          <a:p>
            <a:pPr algn="l">
              <a:lnSpc>
                <a:spcPct val="120000"/>
              </a:lnSpc>
            </a:pPr>
            <a:r>
              <a:rPr sz="1600" b="0" i="0">
                <a:solidFill>
                  <a:srgbClr val="21295C"/>
                </a:solidFill>
                <a:latin typeface="Arial"/>
              </a:rPr>
              <a:t>Разобранный пример катализатора.</a:t>
            </a:r>
          </a:p>
        </p:txBody>
      </p:sp>
      <p:sp>
        <p:nvSpPr>
          <p:cNvPr id="4" name="Rounded Rectangle 3"/>
          <p:cNvSpPr/>
          <p:nvPr/>
        </p:nvSpPr>
        <p:spPr>
          <a:xfrm>
            <a:off x="5029200" y="5120640"/>
            <a:ext cx="1234440" cy="365760"/>
          </a:xfrm>
          <a:prstGeom prst="roundRect">
            <a:avLst>
              <a:gd name="adj" fmla="val 10000"/>
            </a:avLst>
          </a:prstGeom>
          <a:solidFill>
            <a:srgbClr val="1C7293"/>
          </a:solidFill>
          <a:ln>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0" y="5120640"/>
            <a:ext cx="1234440"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4 критерия</a:t>
            </a:r>
          </a:p>
        </p:txBody>
      </p:sp>
      <p:sp>
        <p:nvSpPr>
          <p:cNvPr id="6" name="Rounded Rectangle 5"/>
          <p:cNvSpPr/>
          <p:nvPr/>
        </p:nvSpPr>
        <p:spPr>
          <a:xfrm>
            <a:off x="6336792" y="5120640"/>
            <a:ext cx="1837943" cy="365760"/>
          </a:xfrm>
          <a:prstGeom prst="roundRect">
            <a:avLst>
              <a:gd name="adj" fmla="val 10000"/>
            </a:avLst>
          </a:prstGeom>
          <a:solidFill>
            <a:srgbClr val="F0AB00"/>
          </a:solidFill>
          <a:ln>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36792" y="5120640"/>
            <a:ext cx="1837943"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WE-3 катализатор</a:t>
            </a:r>
          </a:p>
        </p:txBody>
      </p:sp>
      <p:sp>
        <p:nvSpPr>
          <p:cNvPr id="8" name="Rounded Rectangle 7"/>
          <p:cNvSpPr/>
          <p:nvPr/>
        </p:nvSpPr>
        <p:spPr>
          <a:xfrm>
            <a:off x="8247888" y="5120640"/>
            <a:ext cx="2240280" cy="365760"/>
          </a:xfrm>
          <a:prstGeom prst="roundRect">
            <a:avLst>
              <a:gd name="adj" fmla="val 10000"/>
            </a:avLst>
          </a:prstGeom>
          <a:solidFill>
            <a:srgbClr val="065A82"/>
          </a:solidFill>
          <a:ln>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47888" y="5120640"/>
            <a:ext cx="2240280"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5 зрелых альтернатив</a:t>
            </a:r>
          </a:p>
        </p:txBody>
      </p:sp>
      <p:sp>
        <p:nvSpPr>
          <p:cNvPr id="10" name="Rounded Rectangle 9"/>
          <p:cNvSpPr/>
          <p:nvPr/>
        </p:nvSpPr>
        <p:spPr>
          <a:xfrm>
            <a:off x="10561320" y="5120640"/>
            <a:ext cx="1938528" cy="365760"/>
          </a:xfrm>
          <a:prstGeom prst="roundRect">
            <a:avLst>
              <a:gd name="adj" fmla="val 10000"/>
            </a:avLst>
          </a:prstGeom>
          <a:solidFill>
            <a:srgbClr val="028090"/>
          </a:solidFill>
          <a:ln>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61320" y="5120640"/>
            <a:ext cx="1938528" cy="365760"/>
          </a:xfrm>
          <a:prstGeom prst="rect">
            <a:avLst/>
          </a:prstGeom>
          <a:noFill/>
        </p:spPr>
        <p:txBody>
          <a:bodyPr wrap="square" lIns="0" rIns="0" tIns="0" bIns="0" anchor="ctr">
            <a:spAutoFit/>
          </a:bodyPr>
          <a:lstStyle/>
          <a:p>
            <a:pPr algn="ctr">
              <a:lnSpc>
                <a:spcPct val="115000"/>
              </a:lnSpc>
            </a:pPr>
            <a:r>
              <a:rPr sz="1000" b="1" i="0">
                <a:solidFill>
                  <a:srgbClr val="FFFFFF"/>
                </a:solidFill>
                <a:latin typeface="Arial"/>
              </a:rPr>
              <a:t>3 вопроса вендору</a:t>
            </a:r>
          </a:p>
        </p:txBody>
      </p:sp>
      <p:sp>
        <p:nvSpPr>
          <p:cNvPr id="12" name="TextBox 11"/>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Когда применять AI — и когда говорить нет.</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Четыре категории «AI не нужен». Любое срабатывание — повод остановиться.</a:t>
            </a:r>
          </a:p>
        </p:txBody>
      </p:sp>
      <p:sp>
        <p:nvSpPr>
          <p:cNvPr id="3" name="Rounded Rectangle 2"/>
          <p:cNvSpPr/>
          <p:nvPr/>
        </p:nvSpPr>
        <p:spPr>
          <a:xfrm>
            <a:off x="457200" y="1371600"/>
            <a:ext cx="5532120" cy="2194560"/>
          </a:xfrm>
          <a:prstGeom prst="roundRect">
            <a:avLst>
              <a:gd name="adj" fmla="val 10000"/>
            </a:avLst>
          </a:prstGeom>
          <a:solidFill>
            <a:srgbClr val="F4F7FA"/>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1508760"/>
            <a:ext cx="822960" cy="82296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822960" cy="822960"/>
          </a:xfrm>
          <a:prstGeom prst="rect">
            <a:avLst/>
          </a:prstGeom>
          <a:noFill/>
        </p:spPr>
        <p:txBody>
          <a:bodyPr wrap="square" lIns="0" rIns="0" tIns="0" bIns="0" anchor="ctr">
            <a:spAutoFit/>
          </a:bodyPr>
          <a:lstStyle/>
          <a:p>
            <a:pPr algn="ctr">
              <a:lnSpc>
                <a:spcPct val="115000"/>
              </a:lnSpc>
            </a:pPr>
            <a:r>
              <a:rPr sz="3600" b="1" i="0">
                <a:solidFill>
                  <a:srgbClr val="FFFFFF"/>
                </a:solidFill>
                <a:latin typeface="Arial"/>
              </a:rPr>
              <a:t>1</a:t>
            </a:r>
          </a:p>
        </p:txBody>
      </p:sp>
      <p:sp>
        <p:nvSpPr>
          <p:cNvPr id="6" name="TextBox 5"/>
          <p:cNvSpPr txBox="1"/>
          <p:nvPr/>
        </p:nvSpPr>
        <p:spPr>
          <a:xfrm>
            <a:off x="1600200" y="1554480"/>
            <a:ext cx="4251960" cy="411480"/>
          </a:xfrm>
          <a:prstGeom prst="rect">
            <a:avLst/>
          </a:prstGeom>
          <a:noFill/>
        </p:spPr>
        <p:txBody>
          <a:bodyPr wrap="square" lIns="0" rIns="0" tIns="0" bIns="0" anchor="t">
            <a:spAutoFit/>
          </a:bodyPr>
          <a:lstStyle/>
          <a:p>
            <a:pPr algn="l">
              <a:lnSpc>
                <a:spcPct val="115000"/>
              </a:lnSpc>
            </a:pPr>
            <a:r>
              <a:rPr sz="1800" b="1" i="0">
                <a:solidFill>
                  <a:srgbClr val="21295C"/>
                </a:solidFill>
                <a:latin typeface="Arial"/>
              </a:rPr>
              <a:t>Открытый мир без эталона</a:t>
            </a:r>
          </a:p>
        </p:txBody>
      </p:sp>
      <p:sp>
        <p:nvSpPr>
          <p:cNvPr id="7" name="TextBox 6"/>
          <p:cNvSpPr txBox="1"/>
          <p:nvPr/>
        </p:nvSpPr>
        <p:spPr>
          <a:xfrm>
            <a:off x="1600200" y="2011680"/>
            <a:ext cx="4251960" cy="1463040"/>
          </a:xfrm>
          <a:prstGeom prst="rect">
            <a:avLst/>
          </a:prstGeom>
          <a:noFill/>
        </p:spPr>
        <p:txBody>
          <a:bodyPr wrap="square" lIns="0" rIns="0" tIns="0" bIns="0" anchor="t">
            <a:spAutoFit/>
          </a:bodyPr>
          <a:lstStyle/>
          <a:p>
            <a:pPr algn="l">
              <a:lnSpc>
                <a:spcPct val="120000"/>
              </a:lnSpc>
            </a:pPr>
            <a:r>
              <a:rPr sz="1300" b="0" i="1">
                <a:solidFill>
                  <a:srgbClr val="065A82"/>
                </a:solidFill>
                <a:latin typeface="Arial"/>
              </a:rPr>
              <a:t>Пространство решений не описано, проверка требует выхода за систему</a:t>
            </a:r>
          </a:p>
          <a:p>
            <a:pPr algn="l">
              <a:lnSpc>
                <a:spcPct val="120000"/>
              </a:lnSpc>
            </a:pPr>
            <a:r>
              <a:rPr sz="600" b="0" i="0">
                <a:solidFill>
                  <a:srgbClr val="21295C"/>
                </a:solidFill>
                <a:latin typeface="Arial"/>
              </a:rPr>
              <a:t/>
            </a:r>
          </a:p>
          <a:p>
            <a:pPr algn="l">
              <a:lnSpc>
                <a:spcPct val="120000"/>
              </a:lnSpc>
            </a:pPr>
            <a:r>
              <a:rPr sz="1200" b="0" i="0">
                <a:solidFill>
                  <a:srgbClr val="21295C"/>
                </a:solidFill>
                <a:latin typeface="Arial"/>
              </a:rPr>
              <a:t>Пример: гипотеза о роли соц.сетей в политике</a:t>
            </a:r>
          </a:p>
        </p:txBody>
      </p:sp>
      <p:sp>
        <p:nvSpPr>
          <p:cNvPr id="8" name="Rounded Rectangle 7"/>
          <p:cNvSpPr/>
          <p:nvPr/>
        </p:nvSpPr>
        <p:spPr>
          <a:xfrm>
            <a:off x="6199632" y="1371600"/>
            <a:ext cx="5532120" cy="219456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382512" y="1508760"/>
            <a:ext cx="822960" cy="8229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508760"/>
            <a:ext cx="822960" cy="822960"/>
          </a:xfrm>
          <a:prstGeom prst="rect">
            <a:avLst/>
          </a:prstGeom>
          <a:noFill/>
        </p:spPr>
        <p:txBody>
          <a:bodyPr wrap="square" lIns="0" rIns="0" tIns="0" bIns="0" anchor="ctr">
            <a:spAutoFit/>
          </a:bodyPr>
          <a:lstStyle/>
          <a:p>
            <a:pPr algn="ctr">
              <a:lnSpc>
                <a:spcPct val="115000"/>
              </a:lnSpc>
            </a:pPr>
            <a:r>
              <a:rPr sz="3600" b="1" i="0">
                <a:solidFill>
                  <a:srgbClr val="FFFFFF"/>
                </a:solidFill>
                <a:latin typeface="Arial"/>
              </a:rPr>
              <a:t>2</a:t>
            </a:r>
          </a:p>
        </p:txBody>
      </p:sp>
      <p:sp>
        <p:nvSpPr>
          <p:cNvPr id="11" name="TextBox 10"/>
          <p:cNvSpPr txBox="1"/>
          <p:nvPr/>
        </p:nvSpPr>
        <p:spPr>
          <a:xfrm>
            <a:off x="7342632" y="1554480"/>
            <a:ext cx="4251960" cy="411480"/>
          </a:xfrm>
          <a:prstGeom prst="rect">
            <a:avLst/>
          </a:prstGeom>
          <a:noFill/>
        </p:spPr>
        <p:txBody>
          <a:bodyPr wrap="square" lIns="0" rIns="0" tIns="0" bIns="0" anchor="t">
            <a:spAutoFit/>
          </a:bodyPr>
          <a:lstStyle/>
          <a:p>
            <a:pPr algn="l">
              <a:lnSpc>
                <a:spcPct val="115000"/>
              </a:lnSpc>
            </a:pPr>
            <a:r>
              <a:rPr sz="1800" b="1" i="0">
                <a:solidFill>
                  <a:srgbClr val="21295C"/>
                </a:solidFill>
                <a:latin typeface="Arial"/>
              </a:rPr>
              <a:t>Недопредставлен в обучении</a:t>
            </a:r>
          </a:p>
        </p:txBody>
      </p:sp>
      <p:sp>
        <p:nvSpPr>
          <p:cNvPr id="12" name="TextBox 11"/>
          <p:cNvSpPr txBox="1"/>
          <p:nvPr/>
        </p:nvSpPr>
        <p:spPr>
          <a:xfrm>
            <a:off x="7342632" y="2011680"/>
            <a:ext cx="4251960" cy="1463040"/>
          </a:xfrm>
          <a:prstGeom prst="rect">
            <a:avLst/>
          </a:prstGeom>
          <a:noFill/>
        </p:spPr>
        <p:txBody>
          <a:bodyPr wrap="square" lIns="0" rIns="0" tIns="0" bIns="0" anchor="t">
            <a:spAutoFit/>
          </a:bodyPr>
          <a:lstStyle/>
          <a:p>
            <a:pPr algn="l">
              <a:lnSpc>
                <a:spcPct val="120000"/>
              </a:lnSpc>
            </a:pPr>
            <a:r>
              <a:rPr sz="1300" b="0" i="1">
                <a:solidFill>
                  <a:srgbClr val="065A82"/>
                </a:solidFill>
                <a:latin typeface="Arial"/>
              </a:rPr>
              <a:t>Ваш случай далеко от распределения обучающих данных модели</a:t>
            </a:r>
          </a:p>
          <a:p>
            <a:pPr algn="l">
              <a:lnSpc>
                <a:spcPct val="120000"/>
              </a:lnSpc>
            </a:pPr>
            <a:r>
              <a:rPr sz="600" b="0" i="0">
                <a:solidFill>
                  <a:srgbClr val="21295C"/>
                </a:solidFill>
                <a:latin typeface="Arial"/>
              </a:rPr>
              <a:t/>
            </a:r>
          </a:p>
          <a:p>
            <a:pPr algn="l">
              <a:lnSpc>
                <a:spcPct val="120000"/>
              </a:lnSpc>
            </a:pPr>
            <a:r>
              <a:rPr sz="1200" b="0" i="0">
                <a:solidFill>
                  <a:srgbClr val="21295C"/>
                </a:solidFill>
                <a:latin typeface="Arial"/>
              </a:rPr>
              <a:t>Пример: новый вид белка не из стандартных семей</a:t>
            </a:r>
          </a:p>
        </p:txBody>
      </p:sp>
      <p:sp>
        <p:nvSpPr>
          <p:cNvPr id="13" name="Rounded Rectangle 12"/>
          <p:cNvSpPr/>
          <p:nvPr/>
        </p:nvSpPr>
        <p:spPr>
          <a:xfrm>
            <a:off x="457200" y="3794760"/>
            <a:ext cx="5532120" cy="219456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3931920"/>
            <a:ext cx="822960" cy="82296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931920"/>
            <a:ext cx="822960" cy="822960"/>
          </a:xfrm>
          <a:prstGeom prst="rect">
            <a:avLst/>
          </a:prstGeom>
          <a:noFill/>
        </p:spPr>
        <p:txBody>
          <a:bodyPr wrap="square" lIns="0" rIns="0" tIns="0" bIns="0" anchor="ctr">
            <a:spAutoFit/>
          </a:bodyPr>
          <a:lstStyle/>
          <a:p>
            <a:pPr algn="ctr">
              <a:lnSpc>
                <a:spcPct val="115000"/>
              </a:lnSpc>
            </a:pPr>
            <a:r>
              <a:rPr sz="3600" b="1" i="0">
                <a:solidFill>
                  <a:srgbClr val="FFFFFF"/>
                </a:solidFill>
                <a:latin typeface="Arial"/>
              </a:rPr>
              <a:t>3</a:t>
            </a:r>
          </a:p>
        </p:txBody>
      </p:sp>
      <p:sp>
        <p:nvSpPr>
          <p:cNvPr id="16" name="TextBox 15"/>
          <p:cNvSpPr txBox="1"/>
          <p:nvPr/>
        </p:nvSpPr>
        <p:spPr>
          <a:xfrm>
            <a:off x="1600200" y="3977640"/>
            <a:ext cx="4251960" cy="411480"/>
          </a:xfrm>
          <a:prstGeom prst="rect">
            <a:avLst/>
          </a:prstGeom>
          <a:noFill/>
        </p:spPr>
        <p:txBody>
          <a:bodyPr wrap="square" lIns="0" rIns="0" tIns="0" bIns="0" anchor="t">
            <a:spAutoFit/>
          </a:bodyPr>
          <a:lstStyle/>
          <a:p>
            <a:pPr algn="l">
              <a:lnSpc>
                <a:spcPct val="115000"/>
              </a:lnSpc>
            </a:pPr>
            <a:r>
              <a:rPr sz="1800" b="1" i="0">
                <a:solidFill>
                  <a:srgbClr val="21295C"/>
                </a:solidFill>
                <a:latin typeface="Arial"/>
              </a:rPr>
              <a:t>Нельзя проверить независимо</a:t>
            </a:r>
          </a:p>
        </p:txBody>
      </p:sp>
      <p:sp>
        <p:nvSpPr>
          <p:cNvPr id="17" name="TextBox 16"/>
          <p:cNvSpPr txBox="1"/>
          <p:nvPr/>
        </p:nvSpPr>
        <p:spPr>
          <a:xfrm>
            <a:off x="1600200" y="4434840"/>
            <a:ext cx="4251960" cy="1463040"/>
          </a:xfrm>
          <a:prstGeom prst="rect">
            <a:avLst/>
          </a:prstGeom>
          <a:noFill/>
        </p:spPr>
        <p:txBody>
          <a:bodyPr wrap="square" lIns="0" rIns="0" tIns="0" bIns="0" anchor="t">
            <a:spAutoFit/>
          </a:bodyPr>
          <a:lstStyle/>
          <a:p>
            <a:pPr algn="l">
              <a:lnSpc>
                <a:spcPct val="120000"/>
              </a:lnSpc>
            </a:pPr>
            <a:r>
              <a:rPr sz="1300" b="0" i="1">
                <a:solidFill>
                  <a:srgbClr val="065A82"/>
                </a:solidFill>
                <a:latin typeface="Arial"/>
              </a:rPr>
              <a:t>Нет альтернативного метода или эксперимента для валидации</a:t>
            </a:r>
          </a:p>
          <a:p>
            <a:pPr algn="l">
              <a:lnSpc>
                <a:spcPct val="120000"/>
              </a:lnSpc>
            </a:pPr>
            <a:r>
              <a:rPr sz="600" b="0" i="0">
                <a:solidFill>
                  <a:srgbClr val="21295C"/>
                </a:solidFill>
                <a:latin typeface="Arial"/>
              </a:rPr>
              <a:t/>
            </a:r>
          </a:p>
          <a:p>
            <a:pPr algn="l">
              <a:lnSpc>
                <a:spcPct val="120000"/>
              </a:lnSpc>
            </a:pPr>
            <a:r>
              <a:rPr sz="1200" b="0" i="0">
                <a:solidFill>
                  <a:srgbClr val="21295C"/>
                </a:solidFill>
                <a:latin typeface="Arial"/>
              </a:rPr>
              <a:t>Пример: предсказание единственного измерения</a:t>
            </a:r>
          </a:p>
        </p:txBody>
      </p:sp>
      <p:sp>
        <p:nvSpPr>
          <p:cNvPr id="18" name="Rounded Rectangle 17"/>
          <p:cNvSpPr/>
          <p:nvPr/>
        </p:nvSpPr>
        <p:spPr>
          <a:xfrm>
            <a:off x="6199632" y="3794760"/>
            <a:ext cx="5532120" cy="2194560"/>
          </a:xfrm>
          <a:prstGeom prst="roundRect">
            <a:avLst>
              <a:gd name="adj" fmla="val 10000"/>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82512" y="3931920"/>
            <a:ext cx="822960" cy="82296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3931920"/>
            <a:ext cx="822960" cy="822960"/>
          </a:xfrm>
          <a:prstGeom prst="rect">
            <a:avLst/>
          </a:prstGeom>
          <a:noFill/>
        </p:spPr>
        <p:txBody>
          <a:bodyPr wrap="square" lIns="0" rIns="0" tIns="0" bIns="0" anchor="ctr">
            <a:spAutoFit/>
          </a:bodyPr>
          <a:lstStyle/>
          <a:p>
            <a:pPr algn="ctr">
              <a:lnSpc>
                <a:spcPct val="115000"/>
              </a:lnSpc>
            </a:pPr>
            <a:r>
              <a:rPr sz="3600" b="1" i="0">
                <a:solidFill>
                  <a:srgbClr val="FFFFFF"/>
                </a:solidFill>
                <a:latin typeface="Arial"/>
              </a:rPr>
              <a:t>4</a:t>
            </a:r>
          </a:p>
        </p:txBody>
      </p:sp>
      <p:sp>
        <p:nvSpPr>
          <p:cNvPr id="21" name="TextBox 20"/>
          <p:cNvSpPr txBox="1"/>
          <p:nvPr/>
        </p:nvSpPr>
        <p:spPr>
          <a:xfrm>
            <a:off x="7342632" y="3977640"/>
            <a:ext cx="4251960" cy="411480"/>
          </a:xfrm>
          <a:prstGeom prst="rect">
            <a:avLst/>
          </a:prstGeom>
          <a:noFill/>
        </p:spPr>
        <p:txBody>
          <a:bodyPr wrap="square" lIns="0" rIns="0" tIns="0" bIns="0" anchor="t">
            <a:spAutoFit/>
          </a:bodyPr>
          <a:lstStyle/>
          <a:p>
            <a:pPr algn="l">
              <a:lnSpc>
                <a:spcPct val="115000"/>
              </a:lnSpc>
            </a:pPr>
            <a:r>
              <a:rPr sz="1800" b="1" i="0">
                <a:solidFill>
                  <a:srgbClr val="21295C"/>
                </a:solidFill>
                <a:latin typeface="Arial"/>
              </a:rPr>
              <a:t>Этический риск</a:t>
            </a:r>
          </a:p>
        </p:txBody>
      </p:sp>
      <p:sp>
        <p:nvSpPr>
          <p:cNvPr id="22" name="TextBox 21"/>
          <p:cNvSpPr txBox="1"/>
          <p:nvPr/>
        </p:nvSpPr>
        <p:spPr>
          <a:xfrm>
            <a:off x="7342632" y="4434840"/>
            <a:ext cx="4251960" cy="1463040"/>
          </a:xfrm>
          <a:prstGeom prst="rect">
            <a:avLst/>
          </a:prstGeom>
          <a:noFill/>
        </p:spPr>
        <p:txBody>
          <a:bodyPr wrap="square" lIns="0" rIns="0" tIns="0" bIns="0" anchor="t">
            <a:spAutoFit/>
          </a:bodyPr>
          <a:lstStyle/>
          <a:p>
            <a:pPr algn="l">
              <a:lnSpc>
                <a:spcPct val="120000"/>
              </a:lnSpc>
            </a:pPr>
            <a:r>
              <a:rPr sz="1300" b="0" i="1">
                <a:solidFill>
                  <a:srgbClr val="065A82"/>
                </a:solidFill>
                <a:latin typeface="Arial"/>
              </a:rPr>
              <a:t>Использование AI создаёт риск вреда или нарушения норм</a:t>
            </a:r>
          </a:p>
          <a:p>
            <a:pPr algn="l">
              <a:lnSpc>
                <a:spcPct val="120000"/>
              </a:lnSpc>
            </a:pPr>
            <a:r>
              <a:rPr sz="600" b="0" i="0">
                <a:solidFill>
                  <a:srgbClr val="21295C"/>
                </a:solidFill>
                <a:latin typeface="Arial"/>
              </a:rPr>
              <a:t/>
            </a:r>
          </a:p>
          <a:p>
            <a:pPr algn="l">
              <a:lnSpc>
                <a:spcPct val="120000"/>
              </a:lnSpc>
            </a:pPr>
            <a:r>
              <a:rPr sz="1200" b="0" i="0">
                <a:solidFill>
                  <a:srgbClr val="21295C"/>
                </a:solidFill>
                <a:latin typeface="Arial"/>
              </a:rPr>
              <a:t>Пример: AI в принятии врачебных решений без врача</a:t>
            </a:r>
          </a:p>
        </p:txBody>
      </p:sp>
      <p:sp>
        <p:nvSpPr>
          <p:cNvPr id="23" name="Rounded Rectangle 22"/>
          <p:cNvSpPr/>
          <p:nvPr/>
        </p:nvSpPr>
        <p:spPr>
          <a:xfrm>
            <a:off x="457200" y="5852160"/>
            <a:ext cx="11274552" cy="4572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852160"/>
            <a:ext cx="11274552" cy="457200"/>
          </a:xfrm>
          <a:prstGeom prst="rect">
            <a:avLst/>
          </a:prstGeom>
          <a:noFill/>
        </p:spPr>
        <p:txBody>
          <a:bodyPr wrap="square" lIns="0" rIns="0" tIns="0" bIns="0" anchor="ctr">
            <a:spAutoFit/>
          </a:bodyPr>
          <a:lstStyle/>
          <a:p>
            <a:pPr algn="ctr">
              <a:lnSpc>
                <a:spcPct val="115000"/>
              </a:lnSpc>
            </a:pPr>
            <a:r>
              <a:rPr sz="1200" b="1" i="1">
                <a:solidFill>
                  <a:srgbClr val="F0AB00"/>
                </a:solidFill>
                <a:latin typeface="Arial"/>
              </a:rPr>
              <a:t>Бонус: пятый критерий — закрытая физика проще доступна (DFT, MD, BO+GP). AI становится переусложнением.</a:t>
            </a:r>
          </a:p>
        </p:txBody>
      </p:sp>
      <p:sp>
        <p:nvSpPr>
          <p:cNvPr id="25" name="TextBox 24"/>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Это диагностический вопросник. Любое срабатывание — пауза + рассмотрение альтернативы.</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WE-3 катализатор: GP-BO 5000 → DFT 50 → лаба 3. 4 месяца vs год.</a:t>
            </a:r>
          </a:p>
        </p:txBody>
      </p:sp>
      <p:pic>
        <p:nvPicPr>
          <p:cNvPr id="3" name="Picture 2" descr="s34-catalysts.jpg"/>
          <p:cNvPicPr>
            <a:picLocks noChangeAspect="1"/>
          </p:cNvPicPr>
          <p:nvPr/>
        </p:nvPicPr>
        <p:blipFill>
          <a:blip r:embed="rId2"/>
          <a:stretch>
            <a:fillRect/>
          </a:stretch>
        </p:blipFill>
        <p:spPr>
          <a:xfrm>
            <a:off x="457200" y="1371600"/>
            <a:ext cx="3657600" cy="2468880"/>
          </a:xfrm>
          <a:prstGeom prst="rect">
            <a:avLst/>
          </a:prstGeom>
        </p:spPr>
      </p:pic>
      <p:sp>
        <p:nvSpPr>
          <p:cNvPr id="4" name="TextBox 3"/>
          <p:cNvSpPr txBox="1"/>
          <p:nvPr/>
        </p:nvSpPr>
        <p:spPr>
          <a:xfrm>
            <a:off x="457200" y="3886200"/>
            <a:ext cx="36576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 Wikimedia · промышленные катализаторы (CC-BY-SA)</a:t>
            </a:r>
          </a:p>
        </p:txBody>
      </p:sp>
      <p:sp>
        <p:nvSpPr>
          <p:cNvPr id="5" name="Rectangle 4"/>
          <p:cNvSpPr/>
          <p:nvPr/>
        </p:nvSpPr>
        <p:spPr>
          <a:xfrm>
            <a:off x="4389120" y="1371600"/>
            <a:ext cx="7315200" cy="5486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0" y="1371600"/>
            <a:ext cx="7315200" cy="54864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5 000 кандидатов · GP-BO предлагает по композиции</a:t>
            </a:r>
          </a:p>
        </p:txBody>
      </p:sp>
      <p:sp>
        <p:nvSpPr>
          <p:cNvPr id="7" name="Down Arrow 6"/>
          <p:cNvSpPr/>
          <p:nvPr/>
        </p:nvSpPr>
        <p:spPr>
          <a:xfrm>
            <a:off x="7863840" y="1965960"/>
            <a:ext cx="365760" cy="274320"/>
          </a:xfrm>
          <a:prstGeom prst="downArrow">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0" y="2331720"/>
            <a:ext cx="5486400" cy="5486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2331720"/>
            <a:ext cx="5486400" cy="54864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50 высокоранжированных · DFT (VASP) расчёты энтальпии</a:t>
            </a:r>
          </a:p>
        </p:txBody>
      </p:sp>
      <p:sp>
        <p:nvSpPr>
          <p:cNvPr id="10" name="Down Arrow 9"/>
          <p:cNvSpPr/>
          <p:nvPr/>
        </p:nvSpPr>
        <p:spPr>
          <a:xfrm>
            <a:off x="7863840" y="2926080"/>
            <a:ext cx="365760" cy="274320"/>
          </a:xfrm>
          <a:prstGeom prst="downArrow">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3291840"/>
            <a:ext cx="3657600" cy="5486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3291840"/>
            <a:ext cx="3657600" cy="54864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5 синтезированы · лабораторно</a:t>
            </a:r>
          </a:p>
        </p:txBody>
      </p:sp>
      <p:sp>
        <p:nvSpPr>
          <p:cNvPr id="13" name="Down Arrow 12"/>
          <p:cNvSpPr/>
          <p:nvPr/>
        </p:nvSpPr>
        <p:spPr>
          <a:xfrm>
            <a:off x="7863840" y="3886200"/>
            <a:ext cx="365760" cy="274320"/>
          </a:xfrm>
          <a:prstGeom prst="downArrow">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32320" y="4251960"/>
            <a:ext cx="1828800" cy="54864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0" y="4251960"/>
            <a:ext cx="1828800" cy="548640"/>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3 подтверждены</a:t>
            </a:r>
          </a:p>
        </p:txBody>
      </p:sp>
      <p:sp>
        <p:nvSpPr>
          <p:cNvPr id="16" name="Rounded Rectangle 15"/>
          <p:cNvSpPr/>
          <p:nvPr/>
        </p:nvSpPr>
        <p:spPr>
          <a:xfrm>
            <a:off x="457200" y="4937760"/>
            <a:ext cx="5486400" cy="114300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074920"/>
            <a:ext cx="5120640" cy="960120"/>
          </a:xfrm>
          <a:prstGeom prst="rect">
            <a:avLst/>
          </a:prstGeom>
          <a:noFill/>
        </p:spPr>
        <p:txBody>
          <a:bodyPr wrap="square" lIns="0" rIns="0" tIns="0" bIns="0" anchor="t">
            <a:spAutoFit/>
          </a:bodyPr>
          <a:lstStyle/>
          <a:p>
            <a:pPr algn="l">
              <a:lnSpc>
                <a:spcPct val="118000"/>
              </a:lnSpc>
            </a:pPr>
            <a:r>
              <a:rPr sz="1300" b="1" i="0">
                <a:solidFill>
                  <a:srgbClr val="065A82"/>
                </a:solidFill>
                <a:latin typeface="Arial"/>
              </a:rPr>
              <a:t>Конкретные инструменты:</a:t>
            </a:r>
          </a:p>
          <a:p>
            <a:pPr algn="l">
              <a:lnSpc>
                <a:spcPct val="118000"/>
              </a:lnSpc>
            </a:pPr>
            <a:r>
              <a:rPr sz="1100" b="0" i="0">
                <a:solidFill>
                  <a:srgbClr val="21295C"/>
                </a:solidFill>
                <a:latin typeface="Arial"/>
              </a:rPr>
              <a:t>• VASP — DFT расчёты</a:t>
            </a:r>
          </a:p>
          <a:p>
            <a:pPr algn="l">
              <a:lnSpc>
                <a:spcPct val="118000"/>
              </a:lnSpc>
            </a:pPr>
            <a:r>
              <a:rPr sz="1100" b="0" i="0">
                <a:solidFill>
                  <a:srgbClr val="21295C"/>
                </a:solidFill>
                <a:latin typeface="Arial"/>
              </a:rPr>
              <a:t>• BoTorch / GPyTorch — байесовская оптимизация</a:t>
            </a:r>
          </a:p>
          <a:p>
            <a:pPr algn="l">
              <a:lnSpc>
                <a:spcPct val="118000"/>
              </a:lnSpc>
            </a:pPr>
            <a:r>
              <a:rPr sz="1100" b="0" i="0">
                <a:solidFill>
                  <a:srgbClr val="21295C"/>
                </a:solidFill>
                <a:latin typeface="Arial"/>
              </a:rPr>
              <a:t>• Materials Project — справочная база</a:t>
            </a:r>
          </a:p>
        </p:txBody>
      </p:sp>
      <p:sp>
        <p:nvSpPr>
          <p:cNvPr id="18" name="Rounded Rectangle 17"/>
          <p:cNvSpPr/>
          <p:nvPr/>
        </p:nvSpPr>
        <p:spPr>
          <a:xfrm>
            <a:off x="6126480" y="4937760"/>
            <a:ext cx="5788152" cy="11430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5074920"/>
            <a:ext cx="5422392" cy="960120"/>
          </a:xfrm>
          <a:prstGeom prst="rect">
            <a:avLst/>
          </a:prstGeom>
          <a:noFill/>
        </p:spPr>
        <p:txBody>
          <a:bodyPr wrap="square" lIns="0" rIns="0" tIns="0" bIns="0" anchor="t">
            <a:spAutoFit/>
          </a:bodyPr>
          <a:lstStyle/>
          <a:p>
            <a:pPr algn="l">
              <a:lnSpc>
                <a:spcPct val="118000"/>
              </a:lnSpc>
            </a:pPr>
            <a:r>
              <a:rPr sz="1300" b="1" i="0">
                <a:solidFill>
                  <a:srgbClr val="F0AB00"/>
                </a:solidFill>
                <a:latin typeface="Arial"/>
              </a:rPr>
              <a:t>Сравнение времени:</a:t>
            </a:r>
          </a:p>
          <a:p>
            <a:pPr algn="l">
              <a:lnSpc>
                <a:spcPct val="118000"/>
              </a:lnSpc>
            </a:pPr>
            <a:r>
              <a:rPr sz="1100" b="0" i="0">
                <a:solidFill>
                  <a:srgbClr val="21295C"/>
                </a:solidFill>
                <a:latin typeface="Arial"/>
              </a:rPr>
              <a:t>• Вручную: 1-2 кандидата в год</a:t>
            </a:r>
          </a:p>
          <a:p>
            <a:pPr algn="l">
              <a:lnSpc>
                <a:spcPct val="118000"/>
              </a:lnSpc>
            </a:pPr>
            <a:r>
              <a:rPr sz="1100" b="1" i="0">
                <a:solidFill>
                  <a:srgbClr val="F0AB00"/>
                </a:solidFill>
                <a:latin typeface="Arial"/>
              </a:rPr>
              <a:t>• GP-BO + DFT + лаба: 3 за 4 месяца</a:t>
            </a:r>
          </a:p>
          <a:p>
            <a:pPr algn="l">
              <a:lnSpc>
                <a:spcPct val="118000"/>
              </a:lnSpc>
            </a:pPr>
            <a:r>
              <a:rPr sz="1200" b="1" i="1">
                <a:solidFill>
                  <a:srgbClr val="F0AB00"/>
                </a:solidFill>
                <a:latin typeface="Arial"/>
              </a:rPr>
              <a:t>• Ускорение: 10-15× при той же точности</a:t>
            </a:r>
          </a:p>
        </p:txBody>
      </p:sp>
      <p:sp>
        <p:nvSpPr>
          <p:cNvPr id="20" name="TextBox 19"/>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Merchant et al. Nature 2023 (GNoME) · Mockus 1989 (BO) · Kohn 1965 (DFT)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Пять зрелых альтернатив AI работают 30-70 лет. Не запасные — основные.</a:t>
            </a:r>
          </a:p>
        </p:txBody>
      </p:sp>
      <p:sp>
        <p:nvSpPr>
          <p:cNvPr id="3" name="Rectangle 2"/>
          <p:cNvSpPr/>
          <p:nvPr/>
        </p:nvSpPr>
        <p:spPr>
          <a:xfrm>
            <a:off x="457200" y="1371600"/>
            <a:ext cx="2331720" cy="4572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2331720" cy="45720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Альтернатива</a:t>
            </a:r>
          </a:p>
        </p:txBody>
      </p:sp>
      <p:sp>
        <p:nvSpPr>
          <p:cNvPr id="5" name="Rectangle 4"/>
          <p:cNvSpPr/>
          <p:nvPr/>
        </p:nvSpPr>
        <p:spPr>
          <a:xfrm>
            <a:off x="2926080" y="1371600"/>
            <a:ext cx="141732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926080" y="1371600"/>
            <a:ext cx="1417320" cy="45720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Год / Возраст</a:t>
            </a:r>
          </a:p>
        </p:txBody>
      </p:sp>
      <p:sp>
        <p:nvSpPr>
          <p:cNvPr id="7" name="Rectangle 6"/>
          <p:cNvSpPr/>
          <p:nvPr/>
        </p:nvSpPr>
        <p:spPr>
          <a:xfrm>
            <a:off x="4434840" y="1371600"/>
            <a:ext cx="224028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4840" y="1371600"/>
            <a:ext cx="2240280" cy="45720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Область</a:t>
            </a:r>
          </a:p>
        </p:txBody>
      </p:sp>
      <p:sp>
        <p:nvSpPr>
          <p:cNvPr id="9" name="Rectangle 8"/>
          <p:cNvSpPr/>
          <p:nvPr/>
        </p:nvSpPr>
        <p:spPr>
          <a:xfrm>
            <a:off x="6766560" y="1371600"/>
            <a:ext cx="2240280" cy="4572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0" y="1371600"/>
            <a:ext cx="2240280" cy="45720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Сила vs AI</a:t>
            </a:r>
          </a:p>
        </p:txBody>
      </p:sp>
      <p:sp>
        <p:nvSpPr>
          <p:cNvPr id="11" name="Rectangle 10"/>
          <p:cNvSpPr/>
          <p:nvPr/>
        </p:nvSpPr>
        <p:spPr>
          <a:xfrm>
            <a:off x="9098280" y="1371600"/>
            <a:ext cx="2770632"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1371600"/>
            <a:ext cx="2770632" cy="45720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Типичная задача</a:t>
            </a:r>
          </a:p>
        </p:txBody>
      </p:sp>
      <p:sp>
        <p:nvSpPr>
          <p:cNvPr id="13" name="TextBox 12"/>
          <p:cNvSpPr txBox="1"/>
          <p:nvPr/>
        </p:nvSpPr>
        <p:spPr>
          <a:xfrm>
            <a:off x="548640" y="1874519"/>
            <a:ext cx="2286000" cy="777240"/>
          </a:xfrm>
          <a:prstGeom prst="rect">
            <a:avLst/>
          </a:prstGeom>
          <a:noFill/>
        </p:spPr>
        <p:txBody>
          <a:bodyPr wrap="square" lIns="0" rIns="0" tIns="0" bIns="0" anchor="ctr">
            <a:spAutoFit/>
          </a:bodyPr>
          <a:lstStyle/>
          <a:p>
            <a:pPr algn="l">
              <a:lnSpc>
                <a:spcPct val="115000"/>
              </a:lnSpc>
            </a:pPr>
            <a:r>
              <a:rPr sz="1400" b="1" i="0">
                <a:solidFill>
                  <a:srgbClr val="21295C"/>
                </a:solidFill>
                <a:latin typeface="Arial"/>
              </a:rPr>
              <a:t>BO+GP</a:t>
            </a:r>
          </a:p>
        </p:txBody>
      </p:sp>
      <p:sp>
        <p:nvSpPr>
          <p:cNvPr id="14" name="TextBox 13"/>
          <p:cNvSpPr txBox="1"/>
          <p:nvPr/>
        </p:nvSpPr>
        <p:spPr>
          <a:xfrm>
            <a:off x="3017520" y="1874519"/>
            <a:ext cx="1371600" cy="777240"/>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1989 / 36 лет</a:t>
            </a:r>
          </a:p>
        </p:txBody>
      </p:sp>
      <p:sp>
        <p:nvSpPr>
          <p:cNvPr id="15" name="TextBox 14"/>
          <p:cNvSpPr txBox="1"/>
          <p:nvPr/>
        </p:nvSpPr>
        <p:spPr>
          <a:xfrm>
            <a:off x="4526280" y="1874519"/>
            <a:ext cx="2194560" cy="777240"/>
          </a:xfrm>
          <a:prstGeom prst="rect">
            <a:avLst/>
          </a:prstGeom>
          <a:noFill/>
        </p:spPr>
        <p:txBody>
          <a:bodyPr wrap="square" lIns="0" rIns="0" tIns="0" bIns="0" anchor="ctr">
            <a:spAutoFit/>
          </a:bodyPr>
          <a:lstStyle/>
          <a:p>
            <a:pPr algn="l">
              <a:lnSpc>
                <a:spcPct val="115000"/>
              </a:lnSpc>
            </a:pPr>
            <a:r>
              <a:rPr sz="1100" b="0" i="0">
                <a:solidFill>
                  <a:srgbClr val="21295C"/>
                </a:solidFill>
                <a:latin typeface="Arial"/>
              </a:rPr>
              <a:t>Эксперимент + ML</a:t>
            </a:r>
          </a:p>
        </p:txBody>
      </p:sp>
      <p:sp>
        <p:nvSpPr>
          <p:cNvPr id="16" name="TextBox 15"/>
          <p:cNvSpPr txBox="1"/>
          <p:nvPr/>
        </p:nvSpPr>
        <p:spPr>
          <a:xfrm>
            <a:off x="6858000" y="1874519"/>
            <a:ext cx="2194560" cy="777240"/>
          </a:xfrm>
          <a:prstGeom prst="rect">
            <a:avLst/>
          </a:prstGeom>
          <a:noFill/>
        </p:spPr>
        <p:txBody>
          <a:bodyPr wrap="square" lIns="0" rIns="0" tIns="0" bIns="0" anchor="ctr">
            <a:spAutoFit/>
          </a:bodyPr>
          <a:lstStyle/>
          <a:p>
            <a:pPr algn="l">
              <a:lnSpc>
                <a:spcPct val="115000"/>
              </a:lnSpc>
            </a:pPr>
            <a:r>
              <a:rPr sz="1100" b="1" i="0">
                <a:solidFill>
                  <a:srgbClr val="F0AB00"/>
                </a:solidFill>
                <a:latin typeface="Arial"/>
              </a:rPr>
              <a:t>Математическая обоснованность</a:t>
            </a:r>
          </a:p>
        </p:txBody>
      </p:sp>
      <p:sp>
        <p:nvSpPr>
          <p:cNvPr id="17" name="TextBox 16"/>
          <p:cNvSpPr txBox="1"/>
          <p:nvPr/>
        </p:nvSpPr>
        <p:spPr>
          <a:xfrm>
            <a:off x="9189720" y="1874519"/>
            <a:ext cx="2724912" cy="777240"/>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Подбор условий реакций</a:t>
            </a:r>
          </a:p>
        </p:txBody>
      </p:sp>
      <p:sp>
        <p:nvSpPr>
          <p:cNvPr id="18" name="Rectangle 17"/>
          <p:cNvSpPr/>
          <p:nvPr/>
        </p:nvSpPr>
        <p:spPr>
          <a:xfrm>
            <a:off x="457200" y="2651760"/>
            <a:ext cx="11457432" cy="7772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651760"/>
            <a:ext cx="2286000" cy="777240"/>
          </a:xfrm>
          <a:prstGeom prst="rect">
            <a:avLst/>
          </a:prstGeom>
          <a:noFill/>
        </p:spPr>
        <p:txBody>
          <a:bodyPr wrap="square" lIns="0" rIns="0" tIns="0" bIns="0" anchor="ctr">
            <a:spAutoFit/>
          </a:bodyPr>
          <a:lstStyle/>
          <a:p>
            <a:pPr algn="l">
              <a:lnSpc>
                <a:spcPct val="115000"/>
              </a:lnSpc>
            </a:pPr>
            <a:r>
              <a:rPr sz="1400" b="1" i="0">
                <a:solidFill>
                  <a:srgbClr val="21295C"/>
                </a:solidFill>
                <a:latin typeface="Arial"/>
              </a:rPr>
              <a:t>DFT + MD</a:t>
            </a:r>
          </a:p>
        </p:txBody>
      </p:sp>
      <p:sp>
        <p:nvSpPr>
          <p:cNvPr id="20" name="TextBox 19"/>
          <p:cNvSpPr txBox="1"/>
          <p:nvPr/>
        </p:nvSpPr>
        <p:spPr>
          <a:xfrm>
            <a:off x="3017520" y="2651760"/>
            <a:ext cx="1371600" cy="777240"/>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1965 / 60 лет</a:t>
            </a:r>
          </a:p>
        </p:txBody>
      </p:sp>
      <p:sp>
        <p:nvSpPr>
          <p:cNvPr id="21" name="TextBox 20"/>
          <p:cNvSpPr txBox="1"/>
          <p:nvPr/>
        </p:nvSpPr>
        <p:spPr>
          <a:xfrm>
            <a:off x="4526280" y="2651760"/>
            <a:ext cx="2194560" cy="777240"/>
          </a:xfrm>
          <a:prstGeom prst="rect">
            <a:avLst/>
          </a:prstGeom>
          <a:noFill/>
        </p:spPr>
        <p:txBody>
          <a:bodyPr wrap="square" lIns="0" rIns="0" tIns="0" bIns="0" anchor="ctr">
            <a:spAutoFit/>
          </a:bodyPr>
          <a:lstStyle/>
          <a:p>
            <a:pPr algn="l">
              <a:lnSpc>
                <a:spcPct val="115000"/>
              </a:lnSpc>
            </a:pPr>
            <a:r>
              <a:rPr sz="1100" b="0" i="0">
                <a:solidFill>
                  <a:srgbClr val="21295C"/>
                </a:solidFill>
                <a:latin typeface="Arial"/>
              </a:rPr>
              <a:t>Материалы + химия</a:t>
            </a:r>
          </a:p>
        </p:txBody>
      </p:sp>
      <p:sp>
        <p:nvSpPr>
          <p:cNvPr id="22" name="TextBox 21"/>
          <p:cNvSpPr txBox="1"/>
          <p:nvPr/>
        </p:nvSpPr>
        <p:spPr>
          <a:xfrm>
            <a:off x="6858000" y="2651760"/>
            <a:ext cx="2194560" cy="777240"/>
          </a:xfrm>
          <a:prstGeom prst="rect">
            <a:avLst/>
          </a:prstGeom>
          <a:noFill/>
        </p:spPr>
        <p:txBody>
          <a:bodyPr wrap="square" lIns="0" rIns="0" tIns="0" bIns="0" anchor="ctr">
            <a:spAutoFit/>
          </a:bodyPr>
          <a:lstStyle/>
          <a:p>
            <a:pPr algn="l">
              <a:lnSpc>
                <a:spcPct val="115000"/>
              </a:lnSpc>
            </a:pPr>
            <a:r>
              <a:rPr sz="1100" b="1" i="0">
                <a:solidFill>
                  <a:srgbClr val="F0AB00"/>
                </a:solidFill>
                <a:latin typeface="Arial"/>
              </a:rPr>
              <a:t>Первопринципный расчёт</a:t>
            </a:r>
          </a:p>
        </p:txBody>
      </p:sp>
      <p:sp>
        <p:nvSpPr>
          <p:cNvPr id="23" name="TextBox 22"/>
          <p:cNvSpPr txBox="1"/>
          <p:nvPr/>
        </p:nvSpPr>
        <p:spPr>
          <a:xfrm>
            <a:off x="9189720" y="2651760"/>
            <a:ext cx="2724912" cy="777240"/>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Энергия активации катализатора</a:t>
            </a:r>
          </a:p>
        </p:txBody>
      </p:sp>
      <p:sp>
        <p:nvSpPr>
          <p:cNvPr id="24" name="TextBox 23"/>
          <p:cNvSpPr txBox="1"/>
          <p:nvPr/>
        </p:nvSpPr>
        <p:spPr>
          <a:xfrm>
            <a:off x="548640" y="3429000"/>
            <a:ext cx="2286000" cy="777240"/>
          </a:xfrm>
          <a:prstGeom prst="rect">
            <a:avLst/>
          </a:prstGeom>
          <a:noFill/>
        </p:spPr>
        <p:txBody>
          <a:bodyPr wrap="square" lIns="0" rIns="0" tIns="0" bIns="0" anchor="ctr">
            <a:spAutoFit/>
          </a:bodyPr>
          <a:lstStyle/>
          <a:p>
            <a:pPr algn="l">
              <a:lnSpc>
                <a:spcPct val="115000"/>
              </a:lnSpc>
            </a:pPr>
            <a:r>
              <a:rPr sz="1400" b="1" i="0">
                <a:solidFill>
                  <a:srgbClr val="21295C"/>
                </a:solidFill>
                <a:latin typeface="Arial"/>
              </a:rPr>
              <a:t>Классич. статистика</a:t>
            </a:r>
          </a:p>
        </p:txBody>
      </p:sp>
      <p:sp>
        <p:nvSpPr>
          <p:cNvPr id="25" name="TextBox 24"/>
          <p:cNvSpPr txBox="1"/>
          <p:nvPr/>
        </p:nvSpPr>
        <p:spPr>
          <a:xfrm>
            <a:off x="3017520" y="3429000"/>
            <a:ext cx="1371600" cy="777240"/>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1925 / век</a:t>
            </a:r>
          </a:p>
        </p:txBody>
      </p:sp>
      <p:sp>
        <p:nvSpPr>
          <p:cNvPr id="26" name="TextBox 25"/>
          <p:cNvSpPr txBox="1"/>
          <p:nvPr/>
        </p:nvSpPr>
        <p:spPr>
          <a:xfrm>
            <a:off x="4526280" y="3429000"/>
            <a:ext cx="2194560" cy="777240"/>
          </a:xfrm>
          <a:prstGeom prst="rect">
            <a:avLst/>
          </a:prstGeom>
          <a:noFill/>
        </p:spPr>
        <p:txBody>
          <a:bodyPr wrap="square" lIns="0" rIns="0" tIns="0" bIns="0" anchor="ctr">
            <a:spAutoFit/>
          </a:bodyPr>
          <a:lstStyle/>
          <a:p>
            <a:pPr algn="l">
              <a:lnSpc>
                <a:spcPct val="115000"/>
              </a:lnSpc>
            </a:pPr>
            <a:r>
              <a:rPr sz="1100" b="0" i="0">
                <a:solidFill>
                  <a:srgbClr val="21295C"/>
                </a:solidFill>
                <a:latin typeface="Arial"/>
              </a:rPr>
              <a:t>Анализ данных</a:t>
            </a:r>
          </a:p>
        </p:txBody>
      </p:sp>
      <p:sp>
        <p:nvSpPr>
          <p:cNvPr id="27" name="TextBox 26"/>
          <p:cNvSpPr txBox="1"/>
          <p:nvPr/>
        </p:nvSpPr>
        <p:spPr>
          <a:xfrm>
            <a:off x="6858000" y="3429000"/>
            <a:ext cx="2194560" cy="777240"/>
          </a:xfrm>
          <a:prstGeom prst="rect">
            <a:avLst/>
          </a:prstGeom>
          <a:noFill/>
        </p:spPr>
        <p:txBody>
          <a:bodyPr wrap="square" lIns="0" rIns="0" tIns="0" bIns="0" anchor="ctr">
            <a:spAutoFit/>
          </a:bodyPr>
          <a:lstStyle/>
          <a:p>
            <a:pPr algn="l">
              <a:lnSpc>
                <a:spcPct val="115000"/>
              </a:lnSpc>
            </a:pPr>
            <a:r>
              <a:rPr sz="1100" b="1" i="0">
                <a:solidFill>
                  <a:srgbClr val="F0AB00"/>
                </a:solidFill>
                <a:latin typeface="Arial"/>
              </a:rPr>
              <a:t>Калиброванные p-values + ANOVA</a:t>
            </a:r>
          </a:p>
        </p:txBody>
      </p:sp>
      <p:sp>
        <p:nvSpPr>
          <p:cNvPr id="28" name="TextBox 27"/>
          <p:cNvSpPr txBox="1"/>
          <p:nvPr/>
        </p:nvSpPr>
        <p:spPr>
          <a:xfrm>
            <a:off x="9189720" y="3429000"/>
            <a:ext cx="2724912" cy="777240"/>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Сравнение групп в эксперименте</a:t>
            </a:r>
          </a:p>
        </p:txBody>
      </p:sp>
      <p:sp>
        <p:nvSpPr>
          <p:cNvPr id="29" name="Rectangle 28"/>
          <p:cNvSpPr/>
          <p:nvPr/>
        </p:nvSpPr>
        <p:spPr>
          <a:xfrm>
            <a:off x="457200" y="4206240"/>
            <a:ext cx="11457432" cy="7772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206240"/>
            <a:ext cx="2286000" cy="777240"/>
          </a:xfrm>
          <a:prstGeom prst="rect">
            <a:avLst/>
          </a:prstGeom>
          <a:noFill/>
        </p:spPr>
        <p:txBody>
          <a:bodyPr wrap="square" lIns="0" rIns="0" tIns="0" bIns="0" anchor="ctr">
            <a:spAutoFit/>
          </a:bodyPr>
          <a:lstStyle/>
          <a:p>
            <a:pPr algn="l">
              <a:lnSpc>
                <a:spcPct val="115000"/>
              </a:lnSpc>
            </a:pPr>
            <a:r>
              <a:rPr sz="1400" b="1" i="0">
                <a:solidFill>
                  <a:srgbClr val="21295C"/>
                </a:solidFill>
                <a:latin typeface="Arial"/>
              </a:rPr>
              <a:t>OR-Tools / Simplex</a:t>
            </a:r>
          </a:p>
        </p:txBody>
      </p:sp>
      <p:sp>
        <p:nvSpPr>
          <p:cNvPr id="31" name="TextBox 30"/>
          <p:cNvSpPr txBox="1"/>
          <p:nvPr/>
        </p:nvSpPr>
        <p:spPr>
          <a:xfrm>
            <a:off x="3017520" y="4206240"/>
            <a:ext cx="1371600" cy="777240"/>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1947 / 78 лет</a:t>
            </a:r>
          </a:p>
        </p:txBody>
      </p:sp>
      <p:sp>
        <p:nvSpPr>
          <p:cNvPr id="32" name="TextBox 31"/>
          <p:cNvSpPr txBox="1"/>
          <p:nvPr/>
        </p:nvSpPr>
        <p:spPr>
          <a:xfrm>
            <a:off x="4526280" y="4206240"/>
            <a:ext cx="2194560" cy="777240"/>
          </a:xfrm>
          <a:prstGeom prst="rect">
            <a:avLst/>
          </a:prstGeom>
          <a:noFill/>
        </p:spPr>
        <p:txBody>
          <a:bodyPr wrap="square" lIns="0" rIns="0" tIns="0" bIns="0" anchor="ctr">
            <a:spAutoFit/>
          </a:bodyPr>
          <a:lstStyle/>
          <a:p>
            <a:pPr algn="l">
              <a:lnSpc>
                <a:spcPct val="115000"/>
              </a:lnSpc>
            </a:pPr>
            <a:r>
              <a:rPr sz="1100" b="0" i="0">
                <a:solidFill>
                  <a:srgbClr val="21295C"/>
                </a:solidFill>
                <a:latin typeface="Arial"/>
              </a:rPr>
              <a:t>Оптимизация</a:t>
            </a:r>
          </a:p>
        </p:txBody>
      </p:sp>
      <p:sp>
        <p:nvSpPr>
          <p:cNvPr id="33" name="TextBox 32"/>
          <p:cNvSpPr txBox="1"/>
          <p:nvPr/>
        </p:nvSpPr>
        <p:spPr>
          <a:xfrm>
            <a:off x="6858000" y="4206240"/>
            <a:ext cx="2194560" cy="777240"/>
          </a:xfrm>
          <a:prstGeom prst="rect">
            <a:avLst/>
          </a:prstGeom>
          <a:noFill/>
        </p:spPr>
        <p:txBody>
          <a:bodyPr wrap="square" lIns="0" rIns="0" tIns="0" bIns="0" anchor="ctr">
            <a:spAutoFit/>
          </a:bodyPr>
          <a:lstStyle/>
          <a:p>
            <a:pPr algn="l">
              <a:lnSpc>
                <a:spcPct val="115000"/>
              </a:lnSpc>
            </a:pPr>
            <a:r>
              <a:rPr sz="1100" b="1" i="0">
                <a:solidFill>
                  <a:srgbClr val="F0AB00"/>
                </a:solidFill>
                <a:latin typeface="Arial"/>
              </a:rPr>
              <a:t>Гарантия глобального оптимума</a:t>
            </a:r>
          </a:p>
        </p:txBody>
      </p:sp>
      <p:sp>
        <p:nvSpPr>
          <p:cNvPr id="34" name="TextBox 33"/>
          <p:cNvSpPr txBox="1"/>
          <p:nvPr/>
        </p:nvSpPr>
        <p:spPr>
          <a:xfrm>
            <a:off x="9189720" y="4206240"/>
            <a:ext cx="2724912" cy="777240"/>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Планирование лабораторных ресурсов</a:t>
            </a:r>
          </a:p>
        </p:txBody>
      </p:sp>
      <p:sp>
        <p:nvSpPr>
          <p:cNvPr id="35" name="TextBox 34"/>
          <p:cNvSpPr txBox="1"/>
          <p:nvPr/>
        </p:nvSpPr>
        <p:spPr>
          <a:xfrm>
            <a:off x="548640" y="4983479"/>
            <a:ext cx="2286000" cy="777240"/>
          </a:xfrm>
          <a:prstGeom prst="rect">
            <a:avLst/>
          </a:prstGeom>
          <a:noFill/>
        </p:spPr>
        <p:txBody>
          <a:bodyPr wrap="square" lIns="0" rIns="0" tIns="0" bIns="0" anchor="ctr">
            <a:spAutoFit/>
          </a:bodyPr>
          <a:lstStyle/>
          <a:p>
            <a:pPr algn="l">
              <a:lnSpc>
                <a:spcPct val="115000"/>
              </a:lnSpc>
            </a:pPr>
            <a:r>
              <a:rPr sz="1400" b="1" i="0">
                <a:solidFill>
                  <a:srgbClr val="21295C"/>
                </a:solidFill>
                <a:latin typeface="Arial"/>
              </a:rPr>
              <a:t>Peer review</a:t>
            </a:r>
          </a:p>
        </p:txBody>
      </p:sp>
      <p:sp>
        <p:nvSpPr>
          <p:cNvPr id="36" name="TextBox 35"/>
          <p:cNvSpPr txBox="1"/>
          <p:nvPr/>
        </p:nvSpPr>
        <p:spPr>
          <a:xfrm>
            <a:off x="3017520" y="4983479"/>
            <a:ext cx="1371600" cy="777240"/>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Несколько веков</a:t>
            </a:r>
          </a:p>
        </p:txBody>
      </p:sp>
      <p:sp>
        <p:nvSpPr>
          <p:cNvPr id="37" name="TextBox 36"/>
          <p:cNvSpPr txBox="1"/>
          <p:nvPr/>
        </p:nvSpPr>
        <p:spPr>
          <a:xfrm>
            <a:off x="4526280" y="4983479"/>
            <a:ext cx="2194560" cy="777240"/>
          </a:xfrm>
          <a:prstGeom prst="rect">
            <a:avLst/>
          </a:prstGeom>
          <a:noFill/>
        </p:spPr>
        <p:txBody>
          <a:bodyPr wrap="square" lIns="0" rIns="0" tIns="0" bIns="0" anchor="ctr">
            <a:spAutoFit/>
          </a:bodyPr>
          <a:lstStyle/>
          <a:p>
            <a:pPr algn="l">
              <a:lnSpc>
                <a:spcPct val="115000"/>
              </a:lnSpc>
            </a:pPr>
            <a:r>
              <a:rPr sz="1100" b="0" i="0">
                <a:solidFill>
                  <a:srgbClr val="21295C"/>
                </a:solidFill>
                <a:latin typeface="Arial"/>
              </a:rPr>
              <a:t>Рецензия + публикации</a:t>
            </a:r>
          </a:p>
        </p:txBody>
      </p:sp>
      <p:sp>
        <p:nvSpPr>
          <p:cNvPr id="38" name="TextBox 37"/>
          <p:cNvSpPr txBox="1"/>
          <p:nvPr/>
        </p:nvSpPr>
        <p:spPr>
          <a:xfrm>
            <a:off x="6858000" y="4983479"/>
            <a:ext cx="2194560" cy="777240"/>
          </a:xfrm>
          <a:prstGeom prst="rect">
            <a:avLst/>
          </a:prstGeom>
          <a:noFill/>
        </p:spPr>
        <p:txBody>
          <a:bodyPr wrap="square" lIns="0" rIns="0" tIns="0" bIns="0" anchor="ctr">
            <a:spAutoFit/>
          </a:bodyPr>
          <a:lstStyle/>
          <a:p>
            <a:pPr algn="l">
              <a:lnSpc>
                <a:spcPct val="115000"/>
              </a:lnSpc>
            </a:pPr>
            <a:r>
              <a:rPr sz="1100" b="1" i="0">
                <a:solidFill>
                  <a:srgbClr val="F0AB00"/>
                </a:solidFill>
                <a:latin typeface="Arial"/>
              </a:rPr>
              <a:t>Калиброванная коллективная экспертиза</a:t>
            </a:r>
          </a:p>
        </p:txBody>
      </p:sp>
      <p:sp>
        <p:nvSpPr>
          <p:cNvPr id="39" name="TextBox 38"/>
          <p:cNvSpPr txBox="1"/>
          <p:nvPr/>
        </p:nvSpPr>
        <p:spPr>
          <a:xfrm>
            <a:off x="9189720" y="4983479"/>
            <a:ext cx="2724912" cy="777240"/>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Независимая проверка результата</a:t>
            </a:r>
          </a:p>
        </p:txBody>
      </p:sp>
      <p:sp>
        <p:nvSpPr>
          <p:cNvPr id="40" name="Rounded Rectangle 39"/>
          <p:cNvSpPr/>
          <p:nvPr/>
        </p:nvSpPr>
        <p:spPr>
          <a:xfrm>
            <a:off x="457200" y="5852160"/>
            <a:ext cx="11274552" cy="50292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5852160"/>
            <a:ext cx="11274552" cy="502920"/>
          </a:xfrm>
          <a:prstGeom prst="rect">
            <a:avLst/>
          </a:prstGeom>
          <a:noFill/>
        </p:spPr>
        <p:txBody>
          <a:bodyPr wrap="square" lIns="0" rIns="0" tIns="0" bIns="0" anchor="ctr">
            <a:spAutoFit/>
          </a:bodyPr>
          <a:lstStyle/>
          <a:p>
            <a:pPr algn="ctr">
              <a:lnSpc>
                <a:spcPct val="115000"/>
              </a:lnSpc>
            </a:pPr>
            <a:r>
              <a:rPr sz="1300" b="1" i="1">
                <a:solidFill>
                  <a:srgbClr val="21295C"/>
                </a:solidFill>
                <a:latin typeface="Arial"/>
              </a:rPr>
              <a:t>Зрелые методы не устаревают — они становятся частью интегрированного набора. AI расширяет инструментарий, не заменяет его.</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3 вопроса вендору + 5-шаговая рамка — применимый артефакт для кармана.</a:t>
            </a:r>
          </a:p>
        </p:txBody>
      </p:sp>
      <p:sp>
        <p:nvSpPr>
          <p:cNvPr id="3" name="Rounded Rectangle 2"/>
          <p:cNvSpPr/>
          <p:nvPr/>
        </p:nvSpPr>
        <p:spPr>
          <a:xfrm>
            <a:off x="457200" y="1371600"/>
            <a:ext cx="5486400" cy="4572000"/>
          </a:xfrm>
          <a:prstGeom prst="roundRect">
            <a:avLst>
              <a:gd name="adj" fmla="val 10000"/>
            </a:avLst>
          </a:prstGeom>
          <a:solidFill>
            <a:srgbClr val="F4F7FA"/>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08760"/>
            <a:ext cx="5120640" cy="457200"/>
          </a:xfrm>
          <a:prstGeom prst="rect">
            <a:avLst/>
          </a:prstGeom>
          <a:noFill/>
        </p:spPr>
        <p:txBody>
          <a:bodyPr wrap="square" lIns="0" rIns="0" tIns="0" bIns="0" anchor="t">
            <a:spAutoFit/>
          </a:bodyPr>
          <a:lstStyle/>
          <a:p>
            <a:pPr algn="l">
              <a:lnSpc>
                <a:spcPct val="115000"/>
              </a:lnSpc>
            </a:pPr>
            <a:r>
              <a:rPr sz="1800" b="1" i="0">
                <a:solidFill>
                  <a:srgbClr val="C0392B"/>
                </a:solidFill>
                <a:latin typeface="Arial"/>
              </a:rPr>
              <a:t>3 вопроса к поставщику AI</a:t>
            </a:r>
          </a:p>
        </p:txBody>
      </p:sp>
      <p:sp>
        <p:nvSpPr>
          <p:cNvPr id="5" name="Rounded Rectangle 4"/>
          <p:cNvSpPr/>
          <p:nvPr/>
        </p:nvSpPr>
        <p:spPr>
          <a:xfrm>
            <a:off x="640080" y="2103120"/>
            <a:ext cx="5120640" cy="1188720"/>
          </a:xfrm>
          <a:prstGeom prst="roundRect">
            <a:avLst>
              <a:gd name="adj" fmla="val 10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2240279"/>
            <a:ext cx="548640" cy="54864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40279"/>
            <a:ext cx="548640" cy="548640"/>
          </a:xfrm>
          <a:prstGeom prst="rect">
            <a:avLst/>
          </a:prstGeom>
          <a:noFill/>
        </p:spPr>
        <p:txBody>
          <a:bodyPr wrap="square" lIns="0" rIns="0" tIns="0" bIns="0" anchor="ctr">
            <a:spAutoFit/>
          </a:bodyPr>
          <a:lstStyle/>
          <a:p>
            <a:pPr algn="ctr">
              <a:lnSpc>
                <a:spcPct val="115000"/>
              </a:lnSpc>
            </a:pPr>
            <a:r>
              <a:rPr sz="1600" b="1" i="0">
                <a:solidFill>
                  <a:srgbClr val="FFFFFF"/>
                </a:solidFill>
                <a:latin typeface="Arial"/>
              </a:rPr>
              <a:t>Q1</a:t>
            </a:r>
          </a:p>
        </p:txBody>
      </p:sp>
      <p:sp>
        <p:nvSpPr>
          <p:cNvPr id="8" name="TextBox 7"/>
          <p:cNvSpPr txBox="1"/>
          <p:nvPr/>
        </p:nvSpPr>
        <p:spPr>
          <a:xfrm>
            <a:off x="1463040" y="2194560"/>
            <a:ext cx="4206240" cy="1005840"/>
          </a:xfrm>
          <a:prstGeom prst="rect">
            <a:avLst/>
          </a:prstGeom>
          <a:noFill/>
        </p:spPr>
        <p:txBody>
          <a:bodyPr wrap="square" lIns="0" rIns="0" tIns="0" bIns="0" anchor="t">
            <a:spAutoFit/>
          </a:bodyPr>
          <a:lstStyle/>
          <a:p>
            <a:pPr algn="l">
              <a:lnSpc>
                <a:spcPct val="118000"/>
              </a:lnSpc>
            </a:pPr>
            <a:r>
              <a:rPr sz="1300" b="1" i="0">
                <a:solidFill>
                  <a:srgbClr val="21295C"/>
                </a:solidFill>
                <a:latin typeface="Arial"/>
              </a:rPr>
              <a:t>Покажите эталон до AI</a:t>
            </a:r>
          </a:p>
          <a:p>
            <a:pPr algn="l">
              <a:lnSpc>
                <a:spcPct val="118000"/>
              </a:lnSpc>
            </a:pPr>
            <a:r>
              <a:rPr sz="1000" b="0" i="1">
                <a:solidFill>
                  <a:srgbClr val="065A82"/>
                </a:solidFill>
                <a:latin typeface="Arial"/>
              </a:rPr>
              <a:t>Какие результаты были до внедрения AI? Без базового уровня нельзя оценить улучшение</a:t>
            </a:r>
          </a:p>
        </p:txBody>
      </p:sp>
      <p:sp>
        <p:nvSpPr>
          <p:cNvPr id="9" name="Rounded Rectangle 8"/>
          <p:cNvSpPr/>
          <p:nvPr/>
        </p:nvSpPr>
        <p:spPr>
          <a:xfrm>
            <a:off x="640080" y="3383279"/>
            <a:ext cx="5120640" cy="1188720"/>
          </a:xfrm>
          <a:prstGeom prst="roundRect">
            <a:avLst>
              <a:gd name="adj" fmla="val 10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3520439"/>
            <a:ext cx="548640" cy="54864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520439"/>
            <a:ext cx="548640" cy="548640"/>
          </a:xfrm>
          <a:prstGeom prst="rect">
            <a:avLst/>
          </a:prstGeom>
          <a:noFill/>
        </p:spPr>
        <p:txBody>
          <a:bodyPr wrap="square" lIns="0" rIns="0" tIns="0" bIns="0" anchor="ctr">
            <a:spAutoFit/>
          </a:bodyPr>
          <a:lstStyle/>
          <a:p>
            <a:pPr algn="ctr">
              <a:lnSpc>
                <a:spcPct val="115000"/>
              </a:lnSpc>
            </a:pPr>
            <a:r>
              <a:rPr sz="1600" b="1" i="0">
                <a:solidFill>
                  <a:srgbClr val="FFFFFF"/>
                </a:solidFill>
                <a:latin typeface="Arial"/>
              </a:rPr>
              <a:t>Q2</a:t>
            </a:r>
          </a:p>
        </p:txBody>
      </p:sp>
      <p:sp>
        <p:nvSpPr>
          <p:cNvPr id="12" name="TextBox 11"/>
          <p:cNvSpPr txBox="1"/>
          <p:nvPr/>
        </p:nvSpPr>
        <p:spPr>
          <a:xfrm>
            <a:off x="1463040" y="3474720"/>
            <a:ext cx="4206240" cy="1005840"/>
          </a:xfrm>
          <a:prstGeom prst="rect">
            <a:avLst/>
          </a:prstGeom>
          <a:noFill/>
        </p:spPr>
        <p:txBody>
          <a:bodyPr wrap="square" lIns="0" rIns="0" tIns="0" bIns="0" anchor="t">
            <a:spAutoFit/>
          </a:bodyPr>
          <a:lstStyle/>
          <a:p>
            <a:pPr algn="l">
              <a:lnSpc>
                <a:spcPct val="118000"/>
              </a:lnSpc>
            </a:pPr>
            <a:r>
              <a:rPr sz="1300" b="1" i="0">
                <a:solidFill>
                  <a:srgbClr val="21295C"/>
                </a:solidFill>
                <a:latin typeface="Arial"/>
              </a:rPr>
              <a:t>Покажите воспроизводимость</a:t>
            </a:r>
          </a:p>
          <a:p>
            <a:pPr algn="l">
              <a:lnSpc>
                <a:spcPct val="118000"/>
              </a:lnSpc>
            </a:pPr>
            <a:r>
              <a:rPr sz="1000" b="0" i="1">
                <a:solidFill>
                  <a:srgbClr val="065A82"/>
                </a:solidFill>
                <a:latin typeface="Arial"/>
              </a:rPr>
              <a:t>Можно ли получить тот же результат через альтернативный метод? Если нет — это не наука</a:t>
            </a:r>
          </a:p>
        </p:txBody>
      </p:sp>
      <p:sp>
        <p:nvSpPr>
          <p:cNvPr id="13" name="Rounded Rectangle 12"/>
          <p:cNvSpPr/>
          <p:nvPr/>
        </p:nvSpPr>
        <p:spPr>
          <a:xfrm>
            <a:off x="640080" y="4663440"/>
            <a:ext cx="5120640" cy="1188720"/>
          </a:xfrm>
          <a:prstGeom prst="roundRect">
            <a:avLst>
              <a:gd name="adj" fmla="val 10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7240" y="4800600"/>
            <a:ext cx="548640" cy="54864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800600"/>
            <a:ext cx="548640" cy="548640"/>
          </a:xfrm>
          <a:prstGeom prst="rect">
            <a:avLst/>
          </a:prstGeom>
          <a:noFill/>
        </p:spPr>
        <p:txBody>
          <a:bodyPr wrap="square" lIns="0" rIns="0" tIns="0" bIns="0" anchor="ctr">
            <a:spAutoFit/>
          </a:bodyPr>
          <a:lstStyle/>
          <a:p>
            <a:pPr algn="ctr">
              <a:lnSpc>
                <a:spcPct val="115000"/>
              </a:lnSpc>
            </a:pPr>
            <a:r>
              <a:rPr sz="1600" b="1" i="0">
                <a:solidFill>
                  <a:srgbClr val="FFFFFF"/>
                </a:solidFill>
                <a:latin typeface="Arial"/>
              </a:rPr>
              <a:t>Q3</a:t>
            </a:r>
          </a:p>
        </p:txBody>
      </p:sp>
      <p:sp>
        <p:nvSpPr>
          <p:cNvPr id="16" name="TextBox 15"/>
          <p:cNvSpPr txBox="1"/>
          <p:nvPr/>
        </p:nvSpPr>
        <p:spPr>
          <a:xfrm>
            <a:off x="1463040" y="4754879"/>
            <a:ext cx="4206240" cy="1005840"/>
          </a:xfrm>
          <a:prstGeom prst="rect">
            <a:avLst/>
          </a:prstGeom>
          <a:noFill/>
        </p:spPr>
        <p:txBody>
          <a:bodyPr wrap="square" lIns="0" rIns="0" tIns="0" bIns="0" anchor="t">
            <a:spAutoFit/>
          </a:bodyPr>
          <a:lstStyle/>
          <a:p>
            <a:pPr algn="l">
              <a:lnSpc>
                <a:spcPct val="118000"/>
              </a:lnSpc>
            </a:pPr>
            <a:r>
              <a:rPr sz="1300" b="1" i="0">
                <a:solidFill>
                  <a:srgbClr val="21295C"/>
                </a:solidFill>
                <a:latin typeface="Arial"/>
              </a:rPr>
              <a:t>Покажите случаи провала</a:t>
            </a:r>
          </a:p>
          <a:p>
            <a:pPr algn="l">
              <a:lnSpc>
                <a:spcPct val="118000"/>
              </a:lnSpc>
            </a:pPr>
            <a:r>
              <a:rPr sz="1000" b="0" i="1">
                <a:solidFill>
                  <a:srgbClr val="065A82"/>
                </a:solidFill>
                <a:latin typeface="Arial"/>
              </a:rPr>
              <a:t>Где модель ошибается? Где галлюцинирует? Если вендор не знает — он лжёт</a:t>
            </a:r>
          </a:p>
        </p:txBody>
      </p:sp>
      <p:sp>
        <p:nvSpPr>
          <p:cNvPr id="17" name="Rounded Rectangle 16"/>
          <p:cNvSpPr/>
          <p:nvPr/>
        </p:nvSpPr>
        <p:spPr>
          <a:xfrm>
            <a:off x="6245352" y="1371600"/>
            <a:ext cx="5486400" cy="45720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1508760"/>
            <a:ext cx="5120640" cy="457200"/>
          </a:xfrm>
          <a:prstGeom prst="rect">
            <a:avLst/>
          </a:prstGeom>
          <a:noFill/>
        </p:spPr>
        <p:txBody>
          <a:bodyPr wrap="square" lIns="0" rIns="0" tIns="0" bIns="0" anchor="t">
            <a:spAutoFit/>
          </a:bodyPr>
          <a:lstStyle/>
          <a:p>
            <a:pPr algn="l">
              <a:lnSpc>
                <a:spcPct val="115000"/>
              </a:lnSpc>
            </a:pPr>
            <a:r>
              <a:rPr sz="1800" b="1" i="0">
                <a:solidFill>
                  <a:srgbClr val="F0AB00"/>
                </a:solidFill>
                <a:latin typeface="Arial"/>
              </a:rPr>
              <a:t>5-шаговая рамка решения</a:t>
            </a:r>
          </a:p>
        </p:txBody>
      </p:sp>
      <p:sp>
        <p:nvSpPr>
          <p:cNvPr id="19" name="Rounded Rectangle 18"/>
          <p:cNvSpPr/>
          <p:nvPr/>
        </p:nvSpPr>
        <p:spPr>
          <a:xfrm>
            <a:off x="6428232" y="2103120"/>
            <a:ext cx="5120640" cy="685800"/>
          </a:xfrm>
          <a:prstGeom prst="roundRect">
            <a:avLst>
              <a:gd name="adj" fmla="val 10000"/>
            </a:avLst>
          </a:prstGeom>
          <a:solidFill>
            <a:srgbClr val="FFFFFF"/>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37960" y="2194560"/>
            <a:ext cx="502920" cy="5029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2194560"/>
            <a:ext cx="50292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1</a:t>
            </a:r>
          </a:p>
        </p:txBody>
      </p:sp>
      <p:sp>
        <p:nvSpPr>
          <p:cNvPr id="22" name="TextBox 21"/>
          <p:cNvSpPr txBox="1"/>
          <p:nvPr/>
        </p:nvSpPr>
        <p:spPr>
          <a:xfrm>
            <a:off x="7178040" y="2148839"/>
            <a:ext cx="4297680" cy="640080"/>
          </a:xfrm>
          <a:prstGeom prst="rect">
            <a:avLst/>
          </a:prstGeom>
          <a:noFill/>
        </p:spPr>
        <p:txBody>
          <a:bodyPr wrap="square" lIns="0" rIns="0" tIns="0" bIns="0" anchor="t">
            <a:spAutoFit/>
          </a:bodyPr>
          <a:lstStyle/>
          <a:p>
            <a:pPr algn="l">
              <a:lnSpc>
                <a:spcPct val="118000"/>
              </a:lnSpc>
            </a:pPr>
            <a:r>
              <a:rPr sz="1200" b="1" i="0">
                <a:solidFill>
                  <a:srgbClr val="21295C"/>
                </a:solidFill>
                <a:latin typeface="Arial"/>
              </a:rPr>
              <a:t>Классифицируй</a:t>
            </a:r>
          </a:p>
          <a:p>
            <a:pPr algn="l">
              <a:lnSpc>
                <a:spcPct val="118000"/>
              </a:lnSpc>
            </a:pPr>
            <a:r>
              <a:rPr sz="1000" b="0" i="1">
                <a:solidFill>
                  <a:srgbClr val="065A82"/>
                </a:solidFill>
                <a:latin typeface="Arial"/>
              </a:rPr>
              <a:t>Открытый или закрытый мир</a:t>
            </a:r>
          </a:p>
        </p:txBody>
      </p:sp>
      <p:sp>
        <p:nvSpPr>
          <p:cNvPr id="23" name="Rounded Rectangle 22"/>
          <p:cNvSpPr/>
          <p:nvPr/>
        </p:nvSpPr>
        <p:spPr>
          <a:xfrm>
            <a:off x="6428232" y="2862072"/>
            <a:ext cx="5120640" cy="685800"/>
          </a:xfrm>
          <a:prstGeom prst="roundRect">
            <a:avLst>
              <a:gd name="adj" fmla="val 10000"/>
            </a:avLst>
          </a:prstGeom>
          <a:solidFill>
            <a:srgbClr val="FFFFFF"/>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37960" y="2953512"/>
            <a:ext cx="502920" cy="5029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37960" y="2953512"/>
            <a:ext cx="50292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2</a:t>
            </a:r>
          </a:p>
        </p:txBody>
      </p:sp>
      <p:sp>
        <p:nvSpPr>
          <p:cNvPr id="26" name="TextBox 25"/>
          <p:cNvSpPr txBox="1"/>
          <p:nvPr/>
        </p:nvSpPr>
        <p:spPr>
          <a:xfrm>
            <a:off x="7178040" y="2907791"/>
            <a:ext cx="4297680" cy="640080"/>
          </a:xfrm>
          <a:prstGeom prst="rect">
            <a:avLst/>
          </a:prstGeom>
          <a:noFill/>
        </p:spPr>
        <p:txBody>
          <a:bodyPr wrap="square" lIns="0" rIns="0" tIns="0" bIns="0" anchor="t">
            <a:spAutoFit/>
          </a:bodyPr>
          <a:lstStyle/>
          <a:p>
            <a:pPr algn="l">
              <a:lnSpc>
                <a:spcPct val="118000"/>
              </a:lnSpc>
            </a:pPr>
            <a:r>
              <a:rPr sz="1200" b="1" i="0">
                <a:solidFill>
                  <a:srgbClr val="21295C"/>
                </a:solidFill>
                <a:latin typeface="Arial"/>
              </a:rPr>
              <a:t>Отобрази альтернативы</a:t>
            </a:r>
          </a:p>
          <a:p>
            <a:pPr algn="l">
              <a:lnSpc>
                <a:spcPct val="118000"/>
              </a:lnSpc>
            </a:pPr>
            <a:r>
              <a:rPr sz="1000" b="0" i="1">
                <a:solidFill>
                  <a:srgbClr val="065A82"/>
                </a:solidFill>
                <a:latin typeface="Arial"/>
              </a:rPr>
              <a:t>Не-AI и другие AI-методы</a:t>
            </a:r>
          </a:p>
        </p:txBody>
      </p:sp>
      <p:sp>
        <p:nvSpPr>
          <p:cNvPr id="27" name="Rounded Rectangle 26"/>
          <p:cNvSpPr/>
          <p:nvPr/>
        </p:nvSpPr>
        <p:spPr>
          <a:xfrm>
            <a:off x="6428232" y="3621024"/>
            <a:ext cx="5120640" cy="685800"/>
          </a:xfrm>
          <a:prstGeom prst="roundRect">
            <a:avLst>
              <a:gd name="adj" fmla="val 10000"/>
            </a:avLst>
          </a:prstGeom>
          <a:solidFill>
            <a:srgbClr val="FFFFFF"/>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537960" y="3712463"/>
            <a:ext cx="502920" cy="5029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60" y="3712463"/>
            <a:ext cx="50292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3</a:t>
            </a:r>
          </a:p>
        </p:txBody>
      </p:sp>
      <p:sp>
        <p:nvSpPr>
          <p:cNvPr id="30" name="TextBox 29"/>
          <p:cNvSpPr txBox="1"/>
          <p:nvPr/>
        </p:nvSpPr>
        <p:spPr>
          <a:xfrm>
            <a:off x="7178040" y="3666744"/>
            <a:ext cx="4297680" cy="640080"/>
          </a:xfrm>
          <a:prstGeom prst="rect">
            <a:avLst/>
          </a:prstGeom>
          <a:noFill/>
        </p:spPr>
        <p:txBody>
          <a:bodyPr wrap="square" lIns="0" rIns="0" tIns="0" bIns="0" anchor="t">
            <a:spAutoFit/>
          </a:bodyPr>
          <a:lstStyle/>
          <a:p>
            <a:pPr algn="l">
              <a:lnSpc>
                <a:spcPct val="118000"/>
              </a:lnSpc>
            </a:pPr>
            <a:r>
              <a:rPr sz="1200" b="1" i="0">
                <a:solidFill>
                  <a:srgbClr val="21295C"/>
                </a:solidFill>
                <a:latin typeface="Arial"/>
              </a:rPr>
              <a:t>4 критерия</a:t>
            </a:r>
          </a:p>
          <a:p>
            <a:pPr algn="l">
              <a:lnSpc>
                <a:spcPct val="118000"/>
              </a:lnSpc>
            </a:pPr>
            <a:r>
              <a:rPr sz="1000" b="0" i="1">
                <a:solidFill>
                  <a:srgbClr val="065A82"/>
                </a:solidFill>
                <a:latin typeface="Arial"/>
              </a:rPr>
              <a:t>Открытость · покрытие · проверяемость · этика</a:t>
            </a:r>
          </a:p>
        </p:txBody>
      </p:sp>
      <p:sp>
        <p:nvSpPr>
          <p:cNvPr id="31" name="Rounded Rectangle 30"/>
          <p:cNvSpPr/>
          <p:nvPr/>
        </p:nvSpPr>
        <p:spPr>
          <a:xfrm>
            <a:off x="6428232" y="4379976"/>
            <a:ext cx="5120640" cy="685800"/>
          </a:xfrm>
          <a:prstGeom prst="roundRect">
            <a:avLst>
              <a:gd name="adj" fmla="val 10000"/>
            </a:avLst>
          </a:prstGeom>
          <a:solidFill>
            <a:srgbClr val="FFFFFF"/>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537960" y="4471416"/>
            <a:ext cx="502920" cy="5029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37960" y="4471416"/>
            <a:ext cx="50292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4</a:t>
            </a:r>
          </a:p>
        </p:txBody>
      </p:sp>
      <p:sp>
        <p:nvSpPr>
          <p:cNvPr id="34" name="TextBox 33"/>
          <p:cNvSpPr txBox="1"/>
          <p:nvPr/>
        </p:nvSpPr>
        <p:spPr>
          <a:xfrm>
            <a:off x="7178040" y="4425696"/>
            <a:ext cx="4297680" cy="640080"/>
          </a:xfrm>
          <a:prstGeom prst="rect">
            <a:avLst/>
          </a:prstGeom>
          <a:noFill/>
        </p:spPr>
        <p:txBody>
          <a:bodyPr wrap="square" lIns="0" rIns="0" tIns="0" bIns="0" anchor="t">
            <a:spAutoFit/>
          </a:bodyPr>
          <a:lstStyle/>
          <a:p>
            <a:pPr algn="l">
              <a:lnSpc>
                <a:spcPct val="118000"/>
              </a:lnSpc>
            </a:pPr>
            <a:r>
              <a:rPr sz="1200" b="1" i="0">
                <a:solidFill>
                  <a:srgbClr val="21295C"/>
                </a:solidFill>
                <a:latin typeface="Arial"/>
              </a:rPr>
              <a:t>Дизайн HITL</a:t>
            </a:r>
          </a:p>
          <a:p>
            <a:pPr algn="l">
              <a:lnSpc>
                <a:spcPct val="118000"/>
              </a:lnSpc>
            </a:pPr>
            <a:r>
              <a:rPr sz="1000" b="0" i="1">
                <a:solidFill>
                  <a:srgbClr val="065A82"/>
                </a:solidFill>
                <a:latin typeface="Arial"/>
              </a:rPr>
              <a:t>Где человек останавливает конвейер</a:t>
            </a:r>
          </a:p>
        </p:txBody>
      </p:sp>
      <p:sp>
        <p:nvSpPr>
          <p:cNvPr id="35" name="Rounded Rectangle 34"/>
          <p:cNvSpPr/>
          <p:nvPr/>
        </p:nvSpPr>
        <p:spPr>
          <a:xfrm>
            <a:off x="6428232" y="5138928"/>
            <a:ext cx="5120640" cy="685800"/>
          </a:xfrm>
          <a:prstGeom prst="roundRect">
            <a:avLst>
              <a:gd name="adj" fmla="val 10000"/>
            </a:avLst>
          </a:prstGeom>
          <a:solidFill>
            <a:srgbClr val="FFFFFF"/>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537960" y="5230368"/>
            <a:ext cx="502920" cy="5029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37960" y="5230368"/>
            <a:ext cx="50292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5</a:t>
            </a:r>
          </a:p>
        </p:txBody>
      </p:sp>
      <p:sp>
        <p:nvSpPr>
          <p:cNvPr id="38" name="TextBox 37"/>
          <p:cNvSpPr txBox="1"/>
          <p:nvPr/>
        </p:nvSpPr>
        <p:spPr>
          <a:xfrm>
            <a:off x="7178040" y="5184648"/>
            <a:ext cx="4297680" cy="640080"/>
          </a:xfrm>
          <a:prstGeom prst="rect">
            <a:avLst/>
          </a:prstGeom>
          <a:noFill/>
        </p:spPr>
        <p:txBody>
          <a:bodyPr wrap="square" lIns="0" rIns="0" tIns="0" bIns="0" anchor="t">
            <a:spAutoFit/>
          </a:bodyPr>
          <a:lstStyle/>
          <a:p>
            <a:pPr algn="l">
              <a:lnSpc>
                <a:spcPct val="118000"/>
              </a:lnSpc>
            </a:pPr>
            <a:r>
              <a:rPr sz="1200" b="1" i="0">
                <a:solidFill>
                  <a:srgbClr val="21295C"/>
                </a:solidFill>
                <a:latin typeface="Arial"/>
              </a:rPr>
              <a:t>Проверка до публикации</a:t>
            </a:r>
          </a:p>
          <a:p>
            <a:pPr algn="l">
              <a:lnSpc>
                <a:spcPct val="118000"/>
              </a:lnSpc>
            </a:pPr>
            <a:r>
              <a:rPr sz="1000" b="0" i="1">
                <a:solidFill>
                  <a:srgbClr val="065A82"/>
                </a:solidFill>
                <a:latin typeface="Arial"/>
              </a:rPr>
              <a:t>Каждое измеримое — независимо</a:t>
            </a:r>
          </a:p>
        </p:txBody>
      </p:sp>
      <p:sp>
        <p:nvSpPr>
          <p:cNvPr id="39" name="TextBox 38"/>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Применима к любой задаче из любого раздела лекции. Распечатайте и носите с собой.</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Российский контекст: AIRI · Sber · Yandex Research + Указ № 490 + № 124.</a:t>
            </a:r>
          </a:p>
        </p:txBody>
      </p:sp>
      <p:sp>
        <p:nvSpPr>
          <p:cNvPr id="3" name="TextBox 2"/>
          <p:cNvSpPr txBox="1"/>
          <p:nvPr/>
        </p:nvSpPr>
        <p:spPr>
          <a:xfrm>
            <a:off x="457200" y="1371600"/>
            <a:ext cx="594360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Три институциональных центра</a:t>
            </a:r>
          </a:p>
        </p:txBody>
      </p:sp>
      <p:sp>
        <p:nvSpPr>
          <p:cNvPr id="4" name="Rounded Rectangle 3"/>
          <p:cNvSpPr/>
          <p:nvPr/>
        </p:nvSpPr>
        <p:spPr>
          <a:xfrm>
            <a:off x="457200" y="1783080"/>
            <a:ext cx="5943600" cy="11887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74519"/>
            <a:ext cx="5577840" cy="10515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AIRI</a:t>
            </a:r>
          </a:p>
          <a:p>
            <a:pPr algn="l">
              <a:lnSpc>
                <a:spcPct val="115000"/>
              </a:lnSpc>
            </a:pPr>
            <a:r>
              <a:rPr sz="1000" b="0" i="1">
                <a:solidFill>
                  <a:srgbClr val="6B7685"/>
                </a:solidFill>
                <a:latin typeface="Arial"/>
              </a:rPr>
              <a:t>Институт ИИ (Россия) · независимый · с 2021</a:t>
            </a:r>
          </a:p>
          <a:p>
            <a:pPr algn="l">
              <a:lnSpc>
                <a:spcPct val="115000"/>
              </a:lnSpc>
            </a:pPr>
            <a:r>
              <a:rPr sz="200" b="0" i="0">
                <a:solidFill>
                  <a:srgbClr val="21295C"/>
                </a:solidFill>
                <a:latin typeface="Arial"/>
              </a:rPr>
              <a:t/>
            </a:r>
          </a:p>
          <a:p>
            <a:pPr algn="l">
              <a:lnSpc>
                <a:spcPct val="115000"/>
              </a:lnSpc>
            </a:pPr>
            <a:r>
              <a:rPr sz="1100" b="0" i="0">
                <a:solidFill>
                  <a:srgbClr val="065A82"/>
                </a:solidFill>
                <a:latin typeface="Arial"/>
              </a:rPr>
              <a:t>AI4Science: структура белков, медицинская визуализация, климатическое моделирование.</a:t>
            </a:r>
          </a:p>
          <a:p>
            <a:pPr algn="l">
              <a:lnSpc>
                <a:spcPct val="115000"/>
              </a:lnSpc>
            </a:pPr>
            <a:r>
              <a:rPr sz="1000" b="0" i="1">
                <a:solidFill>
                  <a:srgbClr val="F0AB00"/>
                </a:solidFill>
                <a:latin typeface="Arial"/>
              </a:rPr>
              <a:t>Nature Communications 2024-2025</a:t>
            </a:r>
          </a:p>
        </p:txBody>
      </p:sp>
      <p:sp>
        <p:nvSpPr>
          <p:cNvPr id="6" name="Rounded Rectangle 5"/>
          <p:cNvSpPr/>
          <p:nvPr/>
        </p:nvSpPr>
        <p:spPr>
          <a:xfrm>
            <a:off x="457200" y="3063239"/>
            <a:ext cx="5943600" cy="11887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154679"/>
            <a:ext cx="5577840" cy="10515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Sber AI Lab</a:t>
            </a:r>
          </a:p>
          <a:p>
            <a:pPr algn="l">
              <a:lnSpc>
                <a:spcPct val="115000"/>
              </a:lnSpc>
            </a:pPr>
            <a:r>
              <a:rPr sz="1000" b="0" i="1">
                <a:solidFill>
                  <a:srgbClr val="6B7685"/>
                </a:solidFill>
                <a:latin typeface="Arial"/>
              </a:rPr>
              <a:t>Исследовательское направление в Сбере</a:t>
            </a:r>
          </a:p>
          <a:p>
            <a:pPr algn="l">
              <a:lnSpc>
                <a:spcPct val="115000"/>
              </a:lnSpc>
            </a:pPr>
            <a:r>
              <a:rPr sz="200" b="0" i="0">
                <a:solidFill>
                  <a:srgbClr val="21295C"/>
                </a:solidFill>
                <a:latin typeface="Arial"/>
              </a:rPr>
              <a:t/>
            </a:r>
          </a:p>
          <a:p>
            <a:pPr algn="l">
              <a:lnSpc>
                <a:spcPct val="115000"/>
              </a:lnSpc>
            </a:pPr>
            <a:r>
              <a:rPr sz="1100" b="0" i="0">
                <a:solidFill>
                  <a:srgbClr val="065A82"/>
                </a:solidFill>
                <a:latin typeface="Arial"/>
              </a:rPr>
              <a:t>Научные инструменты: климат, прогноз спроса на энергию; коллаборации с институтами.</a:t>
            </a:r>
          </a:p>
          <a:p>
            <a:pPr algn="l">
              <a:lnSpc>
                <a:spcPct val="115000"/>
              </a:lnSpc>
            </a:pPr>
            <a:r>
              <a:rPr sz="1000" b="0" i="1">
                <a:solidFill>
                  <a:srgbClr val="F0AB00"/>
                </a:solidFill>
                <a:latin typeface="Arial"/>
              </a:rPr>
              <a:t>Кластер ≈5 000 H100 (откр. данные 2024)</a:t>
            </a:r>
          </a:p>
        </p:txBody>
      </p:sp>
      <p:sp>
        <p:nvSpPr>
          <p:cNvPr id="8" name="Rounded Rectangle 7"/>
          <p:cNvSpPr/>
          <p:nvPr/>
        </p:nvSpPr>
        <p:spPr>
          <a:xfrm>
            <a:off x="457200" y="4343400"/>
            <a:ext cx="5943600" cy="11887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434840"/>
            <a:ext cx="5577840" cy="10515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Yandex Research</a:t>
            </a:r>
          </a:p>
          <a:p>
            <a:pPr algn="l">
              <a:lnSpc>
                <a:spcPct val="115000"/>
              </a:lnSpc>
            </a:pPr>
            <a:r>
              <a:rPr sz="1000" b="0" i="1">
                <a:solidFill>
                  <a:srgbClr val="6B7685"/>
                </a:solidFill>
                <a:latin typeface="Arial"/>
              </a:rPr>
              <a:t>Академические публикации + open-source</a:t>
            </a:r>
          </a:p>
          <a:p>
            <a:pPr algn="l">
              <a:lnSpc>
                <a:spcPct val="115000"/>
              </a:lnSpc>
            </a:pPr>
            <a:r>
              <a:rPr sz="200" b="0" i="0">
                <a:solidFill>
                  <a:srgbClr val="21295C"/>
                </a:solidFill>
                <a:latin typeface="Arial"/>
              </a:rPr>
              <a:t/>
            </a:r>
          </a:p>
          <a:p>
            <a:pPr algn="l">
              <a:lnSpc>
                <a:spcPct val="115000"/>
              </a:lnSpc>
            </a:pPr>
            <a:r>
              <a:rPr sz="1100" b="0" i="0">
                <a:solidFill>
                  <a:srgbClr val="065A82"/>
                </a:solidFill>
                <a:latin typeface="Arial"/>
              </a:rPr>
              <a:t>YaLM-100B (2022), RuGPT. Открытые веса для русскоязычных научных инструментов.</a:t>
            </a:r>
          </a:p>
          <a:p>
            <a:pPr algn="l">
              <a:lnSpc>
                <a:spcPct val="115000"/>
              </a:lnSpc>
            </a:pPr>
            <a:r>
              <a:rPr sz="1000" b="0" i="1">
                <a:solidFill>
                  <a:srgbClr val="F0AB00"/>
                </a:solidFill>
                <a:latin typeface="Arial"/>
              </a:rPr>
              <a:t>ICLR · NeurIPS · ICML 2023-2025</a:t>
            </a:r>
          </a:p>
        </p:txBody>
      </p:sp>
      <p:sp>
        <p:nvSpPr>
          <p:cNvPr id="10" name="Rounded Rectangle 9"/>
          <p:cNvSpPr/>
          <p:nvPr/>
        </p:nvSpPr>
        <p:spPr>
          <a:xfrm>
            <a:off x="6583680" y="1371600"/>
            <a:ext cx="5303520" cy="256032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1508760"/>
            <a:ext cx="4937760" cy="2377440"/>
          </a:xfrm>
          <a:prstGeom prst="rect">
            <a:avLst/>
          </a:prstGeom>
          <a:noFill/>
        </p:spPr>
        <p:txBody>
          <a:bodyPr wrap="square" lIns="0" rIns="0" tIns="0" bIns="0" anchor="t">
            <a:spAutoFit/>
          </a:bodyPr>
          <a:lstStyle/>
          <a:p>
            <a:pPr algn="l">
              <a:lnSpc>
                <a:spcPct val="115000"/>
              </a:lnSpc>
            </a:pPr>
            <a:r>
              <a:rPr sz="1400" b="1" i="0">
                <a:solidFill>
                  <a:srgbClr val="F0AB00"/>
                </a:solidFill>
                <a:latin typeface="Arial"/>
              </a:rPr>
              <a:t>Регуляторная рамка:</a:t>
            </a:r>
          </a:p>
          <a:p>
            <a:pPr algn="l">
              <a:lnSpc>
                <a:spcPct val="115000"/>
              </a:lnSpc>
            </a:pPr>
            <a:r>
              <a:rPr sz="400" b="0" i="0">
                <a:solidFill>
                  <a:srgbClr val="21295C"/>
                </a:solidFill>
                <a:latin typeface="Arial"/>
              </a:rPr>
              <a:t/>
            </a:r>
          </a:p>
          <a:p>
            <a:pPr algn="l">
              <a:lnSpc>
                <a:spcPct val="115000"/>
              </a:lnSpc>
            </a:pPr>
            <a:r>
              <a:rPr sz="1200" b="1" i="0">
                <a:solidFill>
                  <a:srgbClr val="065A82"/>
                </a:solidFill>
                <a:latin typeface="Arial"/>
              </a:rPr>
              <a:t>Указ № 490 от 10 октября 2019</a:t>
            </a:r>
          </a:p>
          <a:p>
            <a:pPr algn="l">
              <a:lnSpc>
                <a:spcPct val="115000"/>
              </a:lnSpc>
            </a:pPr>
            <a:r>
              <a:rPr sz="1000" b="0" i="1">
                <a:solidFill>
                  <a:srgbClr val="21295C"/>
                </a:solidFill>
                <a:latin typeface="Arial"/>
              </a:rPr>
              <a:t>Национальная стратегия развития AI до 2030</a:t>
            </a:r>
          </a:p>
          <a:p>
            <a:pPr algn="l">
              <a:lnSpc>
                <a:spcPct val="115000"/>
              </a:lnSpc>
            </a:pPr>
            <a:r>
              <a:rPr sz="400" b="0" i="0">
                <a:solidFill>
                  <a:srgbClr val="21295C"/>
                </a:solidFill>
                <a:latin typeface="Arial"/>
              </a:rPr>
              <a:t/>
            </a:r>
          </a:p>
          <a:p>
            <a:pPr algn="l">
              <a:lnSpc>
                <a:spcPct val="115000"/>
              </a:lnSpc>
            </a:pPr>
            <a:r>
              <a:rPr sz="1200" b="1" i="0">
                <a:solidFill>
                  <a:srgbClr val="065A82"/>
                </a:solidFill>
                <a:latin typeface="Arial"/>
              </a:rPr>
              <a:t>Указ № 124 от 15 февраля 2024</a:t>
            </a:r>
          </a:p>
          <a:p>
            <a:pPr algn="l">
              <a:lnSpc>
                <a:spcPct val="115000"/>
              </a:lnSpc>
            </a:pPr>
            <a:r>
              <a:rPr sz="1000" b="0" i="1">
                <a:solidFill>
                  <a:srgbClr val="21295C"/>
                </a:solidFill>
                <a:latin typeface="Arial"/>
              </a:rPr>
              <a:t>Обновление: AI4Science приоритет</a:t>
            </a:r>
          </a:p>
          <a:p>
            <a:pPr algn="l">
              <a:lnSpc>
                <a:spcPct val="115000"/>
              </a:lnSpc>
            </a:pPr>
            <a:r>
              <a:rPr sz="600" b="0" i="0">
                <a:solidFill>
                  <a:srgbClr val="21295C"/>
                </a:solidFill>
                <a:latin typeface="Arial"/>
              </a:rPr>
              <a:t/>
            </a:r>
          </a:p>
          <a:p>
            <a:pPr algn="l">
              <a:lnSpc>
                <a:spcPct val="115000"/>
              </a:lnSpc>
            </a:pPr>
            <a:r>
              <a:rPr sz="1100" b="1" i="0">
                <a:solidFill>
                  <a:srgbClr val="21295C"/>
                </a:solidFill>
                <a:latin typeface="Arial"/>
              </a:rPr>
              <a:t>РНФ программа AI4Science 2024-</a:t>
            </a:r>
          </a:p>
          <a:p>
            <a:pPr algn="l">
              <a:lnSpc>
                <a:spcPct val="115000"/>
              </a:lnSpc>
            </a:pPr>
            <a:r>
              <a:rPr sz="1000" b="0" i="1">
                <a:solidFill>
                  <a:srgbClr val="6B7685"/>
                </a:solidFill>
                <a:latin typeface="Arial"/>
              </a:rPr>
              <a:t>Гранты на применение AI в исследованиях</a:t>
            </a:r>
          </a:p>
        </p:txBody>
      </p:sp>
      <p:sp>
        <p:nvSpPr>
          <p:cNvPr id="12" name="Rounded Rectangle 11"/>
          <p:cNvSpPr/>
          <p:nvPr/>
        </p:nvSpPr>
        <p:spPr>
          <a:xfrm>
            <a:off x="6583680" y="4069080"/>
            <a:ext cx="5303520" cy="1965960"/>
          </a:xfrm>
          <a:prstGeom prst="roundRect">
            <a:avLst>
              <a:gd name="adj" fmla="val 10000"/>
            </a:avLst>
          </a:prstGeom>
          <a:solidFill>
            <a:srgbClr val="F4F7FA"/>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0" y="4206240"/>
            <a:ext cx="4937760" cy="1828800"/>
          </a:xfrm>
          <a:prstGeom prst="rect">
            <a:avLst/>
          </a:prstGeom>
          <a:noFill/>
        </p:spPr>
        <p:txBody>
          <a:bodyPr wrap="square" lIns="0" rIns="0" tIns="0" bIns="0" anchor="t">
            <a:spAutoFit/>
          </a:bodyPr>
          <a:lstStyle/>
          <a:p>
            <a:pPr algn="l">
              <a:lnSpc>
                <a:spcPct val="115000"/>
              </a:lnSpc>
            </a:pPr>
            <a:r>
              <a:rPr sz="1400" b="1" i="0">
                <a:solidFill>
                  <a:srgbClr val="C0392B"/>
                </a:solidFill>
                <a:latin typeface="Arial"/>
              </a:rPr>
              <a:t>Объективные разрывы:</a:t>
            </a:r>
          </a:p>
          <a:p>
            <a:pPr algn="l">
              <a:lnSpc>
                <a:spcPct val="115000"/>
              </a:lnSpc>
            </a:pPr>
            <a:r>
              <a:rPr sz="400" b="0" i="0">
                <a:solidFill>
                  <a:srgbClr val="21295C"/>
                </a:solidFill>
                <a:latin typeface="Arial"/>
              </a:rPr>
              <a:t/>
            </a:r>
          </a:p>
          <a:p>
            <a:pPr algn="l">
              <a:lnSpc>
                <a:spcPct val="115000"/>
              </a:lnSpc>
            </a:pPr>
            <a:r>
              <a:rPr sz="1200" b="1" i="0">
                <a:solidFill>
                  <a:srgbClr val="21295C"/>
                </a:solidFill>
                <a:latin typeface="Arial"/>
              </a:rPr>
              <a:t>Вычисления: 20-50× меньше США</a:t>
            </a:r>
          </a:p>
          <a:p>
            <a:pPr algn="l">
              <a:lnSpc>
                <a:spcPct val="115000"/>
              </a:lnSpc>
            </a:pPr>
            <a:r>
              <a:rPr sz="1000" b="0" i="1">
                <a:solidFill>
                  <a:srgbClr val="6B7685"/>
                </a:solidFill>
                <a:latin typeface="Arial"/>
              </a:rPr>
              <a:t>(оценка частных GPU-кластеров)</a:t>
            </a:r>
          </a:p>
          <a:p>
            <a:pPr algn="l">
              <a:lnSpc>
                <a:spcPct val="115000"/>
              </a:lnSpc>
            </a:pPr>
            <a:r>
              <a:rPr sz="400" b="0" i="0">
                <a:solidFill>
                  <a:srgbClr val="21295C"/>
                </a:solidFill>
                <a:latin typeface="Arial"/>
              </a:rPr>
              <a:t/>
            </a:r>
          </a:p>
          <a:p>
            <a:pPr algn="l">
              <a:lnSpc>
                <a:spcPct val="115000"/>
              </a:lnSpc>
            </a:pPr>
            <a:r>
              <a:rPr sz="1200" b="1" i="0">
                <a:solidFill>
                  <a:srgbClr val="21295C"/>
                </a:solidFill>
                <a:latin typeface="Arial"/>
              </a:rPr>
              <a:t>Цитируемость: 3× недопредставлены</a:t>
            </a:r>
          </a:p>
          <a:p>
            <a:pPr algn="l">
              <a:lnSpc>
                <a:spcPct val="115000"/>
              </a:lnSpc>
            </a:pPr>
            <a:r>
              <a:rPr sz="1000" b="0" i="1">
                <a:solidFill>
                  <a:srgbClr val="6B7685"/>
                </a:solidFill>
                <a:latin typeface="Arial"/>
              </a:rPr>
              <a:t>в Semantic Scholar по сравнению с EU</a:t>
            </a:r>
          </a:p>
          <a:p>
            <a:pPr algn="l">
              <a:lnSpc>
                <a:spcPct val="115000"/>
              </a:lnSpc>
            </a:pPr>
            <a:r>
              <a:rPr sz="400" b="0" i="0">
                <a:solidFill>
                  <a:srgbClr val="21295C"/>
                </a:solidFill>
                <a:latin typeface="Arial"/>
              </a:rPr>
              <a:t/>
            </a:r>
          </a:p>
          <a:p>
            <a:pPr algn="l">
              <a:lnSpc>
                <a:spcPct val="115000"/>
              </a:lnSpc>
            </a:pPr>
            <a:r>
              <a:rPr sz="1100" b="1" i="0">
                <a:solidFill>
                  <a:srgbClr val="F0AB00"/>
                </a:solidFill>
                <a:latin typeface="Arial"/>
              </a:rPr>
              <a:t>Аспиранту: фокус на узкую задачу</a:t>
            </a:r>
          </a:p>
          <a:p>
            <a:pPr algn="l">
              <a:lnSpc>
                <a:spcPct val="115000"/>
              </a:lnSpc>
            </a:pPr>
            <a:r>
              <a:rPr sz="1000" b="0" i="1">
                <a:solidFill>
                  <a:srgbClr val="065A82"/>
                </a:solidFill>
                <a:latin typeface="Arial"/>
              </a:rPr>
              <a:t>(BO+GP, не фундаментальные модели)</a:t>
            </a:r>
          </a:p>
        </p:txBody>
      </p:sp>
      <p:sp>
        <p:nvSpPr>
          <p:cNvPr id="14" name="TextBox 13"/>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AIRI publications 2024 · Указ № 490/2019 · Указ № 124/2024 · РНФ AI4Science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82296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Q&amp;A. Завтра вы получаете LLM-сгенерированную библиографию. Что делаете?</a:t>
            </a:r>
          </a:p>
        </p:txBody>
      </p:sp>
      <p:sp>
        <p:nvSpPr>
          <p:cNvPr id="3" name="Rounded Rectangle 2"/>
          <p:cNvSpPr/>
          <p:nvPr/>
        </p:nvSpPr>
        <p:spPr>
          <a:xfrm>
            <a:off x="457200" y="1371600"/>
            <a:ext cx="11274552" cy="2011680"/>
          </a:xfrm>
          <a:prstGeom prst="roundRect">
            <a:avLst>
              <a:gd name="adj" fmla="val 10000"/>
            </a:avLst>
          </a:prstGeom>
          <a:solidFill>
            <a:srgbClr val="FEF5E0"/>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789920" cy="1783080"/>
          </a:xfrm>
          <a:prstGeom prst="rect">
            <a:avLst/>
          </a:prstGeom>
          <a:noFill/>
        </p:spPr>
        <p:txBody>
          <a:bodyPr wrap="square" lIns="0" rIns="0" tIns="0" bIns="0" anchor="t">
            <a:spAutoFit/>
          </a:bodyPr>
          <a:lstStyle/>
          <a:p>
            <a:pPr algn="l">
              <a:lnSpc>
                <a:spcPct val="120000"/>
              </a:lnSpc>
            </a:pPr>
            <a:r>
              <a:rPr sz="1300" b="1" i="1">
                <a:solidFill>
                  <a:srgbClr val="F0AB00"/>
                </a:solidFill>
                <a:latin typeface="Arial"/>
              </a:rPr>
              <a:t>Сценарий-вопрос:</a:t>
            </a:r>
          </a:p>
          <a:p>
            <a:pPr algn="l">
              <a:lnSpc>
                <a:spcPct val="120000"/>
              </a:lnSpc>
            </a:pPr>
            <a:r>
              <a:rPr sz="1800" b="1" i="0">
                <a:solidFill>
                  <a:srgbClr val="21295C"/>
                </a:solidFill>
                <a:latin typeface="Arial"/>
              </a:rPr>
              <a:t>Соавтор присылает черновик статьи с 47 LLM-сгенерированными цитатами.</a:t>
            </a:r>
          </a:p>
          <a:p>
            <a:pPr algn="l">
              <a:lnSpc>
                <a:spcPct val="120000"/>
              </a:lnSpc>
            </a:pPr>
            <a:r>
              <a:rPr sz="2200" b="1" i="0">
                <a:solidFill>
                  <a:srgbClr val="F0AB00"/>
                </a:solidFill>
                <a:latin typeface="Arial"/>
              </a:rPr>
              <a:t>Что делаете?</a:t>
            </a:r>
          </a:p>
          <a:p>
            <a:pPr algn="l">
              <a:lnSpc>
                <a:spcPct val="120000"/>
              </a:lnSpc>
            </a:pPr>
            <a:r>
              <a:rPr sz="400" b="0" i="0">
                <a:solidFill>
                  <a:srgbClr val="21295C"/>
                </a:solidFill>
                <a:latin typeface="Arial"/>
              </a:rPr>
              <a:t/>
            </a:r>
          </a:p>
          <a:p>
            <a:pPr algn="l">
              <a:lnSpc>
                <a:spcPct val="120000"/>
              </a:lnSpc>
            </a:pPr>
            <a:r>
              <a:rPr sz="1300" b="0" i="0">
                <a:solidFill>
                  <a:srgbClr val="21295C"/>
                </a:solidFill>
                <a:latin typeface="Arial"/>
              </a:rPr>
              <a:t>→ DOI-проверка каждой ссылки.</a:t>
            </a:r>
          </a:p>
          <a:p>
            <a:pPr algn="l">
              <a:lnSpc>
                <a:spcPct val="120000"/>
              </a:lnSpc>
            </a:pPr>
            <a:r>
              <a:rPr sz="1300" b="0" i="0">
                <a:solidFill>
                  <a:srgbClr val="21295C"/>
                </a:solidFill>
                <a:latin typeface="Arial"/>
              </a:rPr>
              <a:t>→ Запрос исходных файлов у соавтора.</a:t>
            </a:r>
          </a:p>
          <a:p>
            <a:pPr algn="l">
              <a:lnSpc>
                <a:spcPct val="120000"/>
              </a:lnSpc>
            </a:pPr>
            <a:r>
              <a:rPr sz="1300" b="1" i="1">
                <a:solidFill>
                  <a:srgbClr val="F0AB00"/>
                </a:solidFill>
                <a:latin typeface="Arial"/>
              </a:rPr>
              <a:t>→ Отказ от соавторства если не можете проверить.</a:t>
            </a:r>
          </a:p>
        </p:txBody>
      </p:sp>
      <p:sp>
        <p:nvSpPr>
          <p:cNvPr id="5" name="Rounded Rectangle 4"/>
          <p:cNvSpPr/>
          <p:nvPr/>
        </p:nvSpPr>
        <p:spPr>
          <a:xfrm>
            <a:off x="457200" y="3657600"/>
            <a:ext cx="5486400" cy="237744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794760"/>
            <a:ext cx="5120640" cy="2194560"/>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Лестница цикла — краткое повторение:</a:t>
            </a:r>
          </a:p>
          <a:p>
            <a:pPr algn="l">
              <a:lnSpc>
                <a:spcPct val="115000"/>
              </a:lnSpc>
            </a:pPr>
            <a:r>
              <a:rPr sz="600" b="0" i="0">
                <a:solidFill>
                  <a:srgbClr val="21295C"/>
                </a:solidFill>
                <a:latin typeface="Arial"/>
              </a:rPr>
              <a:t/>
            </a:r>
          </a:p>
          <a:p>
            <a:pPr algn="l">
              <a:lnSpc>
                <a:spcPct val="115000"/>
              </a:lnSpc>
            </a:pPr>
            <a:r>
              <a:rPr sz="1100" b="0" i="0">
                <a:solidFill>
                  <a:srgbClr val="21295C"/>
                </a:solidFill>
                <a:latin typeface="Arial"/>
              </a:rPr>
              <a:t>1 Гипотеза — расширение, не автономия</a:t>
            </a:r>
          </a:p>
          <a:p>
            <a:pPr algn="l">
              <a:lnSpc>
                <a:spcPct val="115000"/>
              </a:lnSpc>
            </a:pPr>
            <a:r>
              <a:rPr sz="1100" b="0" i="0">
                <a:solidFill>
                  <a:srgbClr val="21295C"/>
                </a:solidFill>
                <a:latin typeface="Arial"/>
              </a:rPr>
              <a:t>2 Планирование — автономного нет</a:t>
            </a:r>
          </a:p>
          <a:p>
            <a:pPr algn="l">
              <a:lnSpc>
                <a:spcPct val="115000"/>
              </a:lnSpc>
            </a:pPr>
            <a:r>
              <a:rPr sz="1200" b="1" i="0">
                <a:solidFill>
                  <a:srgbClr val="F0AB00"/>
                </a:solidFill>
                <a:latin typeface="Arial"/>
              </a:rPr>
              <a:t>3 Эксперимент — Нобель ✓ + Палгрейв ✗</a:t>
            </a:r>
          </a:p>
          <a:p>
            <a:pPr algn="l">
              <a:lnSpc>
                <a:spcPct val="115000"/>
              </a:lnSpc>
            </a:pPr>
            <a:r>
              <a:rPr sz="1100" b="0" i="0">
                <a:solidFill>
                  <a:srgbClr val="21295C"/>
                </a:solidFill>
                <a:latin typeface="Arial"/>
              </a:rPr>
              <a:t>4 Анализ — узкое ML работает</a:t>
            </a:r>
          </a:p>
          <a:p>
            <a:pPr algn="l">
              <a:lnSpc>
                <a:spcPct val="115000"/>
              </a:lnSpc>
            </a:pPr>
            <a:r>
              <a:rPr sz="1100" b="0" i="0">
                <a:solidFill>
                  <a:srgbClr val="21295C"/>
                </a:solidFill>
                <a:latin typeface="Arial"/>
              </a:rPr>
              <a:t>5 Текст — расширение с проверкой</a:t>
            </a:r>
          </a:p>
          <a:p>
            <a:pPr algn="l">
              <a:lnSpc>
                <a:spcPct val="115000"/>
              </a:lnSpc>
            </a:pPr>
            <a:r>
              <a:rPr sz="1100" b="0" i="0">
                <a:solidFill>
                  <a:srgbClr val="21295C"/>
                </a:solidFill>
                <a:latin typeface="Arial"/>
              </a:rPr>
              <a:t>6 Рецензия — запрещён финально</a:t>
            </a:r>
          </a:p>
          <a:p>
            <a:pPr algn="l">
              <a:lnSpc>
                <a:spcPct val="115000"/>
              </a:lnSpc>
            </a:pPr>
            <a:r>
              <a:rPr sz="400" b="0" i="0">
                <a:solidFill>
                  <a:srgbClr val="21295C"/>
                </a:solidFill>
                <a:latin typeface="Arial"/>
              </a:rPr>
              <a:t/>
            </a:r>
          </a:p>
          <a:p>
            <a:pPr algn="l">
              <a:lnSpc>
                <a:spcPct val="115000"/>
              </a:lnSpc>
            </a:pPr>
            <a:r>
              <a:rPr sz="1200" b="1" i="1">
                <a:solidFill>
                  <a:srgbClr val="F0AB00"/>
                </a:solidFill>
                <a:latin typeface="Arial"/>
              </a:rPr>
              <a:t>Цикл, не прямая.</a:t>
            </a:r>
          </a:p>
        </p:txBody>
      </p:sp>
      <p:sp>
        <p:nvSpPr>
          <p:cNvPr id="7" name="Rounded Rectangle 6"/>
          <p:cNvSpPr/>
          <p:nvPr/>
        </p:nvSpPr>
        <p:spPr>
          <a:xfrm>
            <a:off x="6126480" y="3657600"/>
            <a:ext cx="5788152" cy="23774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3794760"/>
            <a:ext cx="5422392" cy="219456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Реальные прорывы — не отменяемые провалами в Тексте и Рецензии:</a:t>
            </a:r>
          </a:p>
          <a:p>
            <a:pPr algn="l">
              <a:lnSpc>
                <a:spcPct val="115000"/>
              </a:lnSpc>
            </a:pPr>
            <a:r>
              <a:rPr sz="400" b="0" i="0">
                <a:solidFill>
                  <a:srgbClr val="21295C"/>
                </a:solidFill>
                <a:latin typeface="Arial"/>
              </a:rPr>
              <a:t/>
            </a:r>
          </a:p>
          <a:p>
            <a:pPr algn="l">
              <a:lnSpc>
                <a:spcPct val="115000"/>
              </a:lnSpc>
            </a:pPr>
            <a:r>
              <a:rPr sz="1200" b="0" i="0">
                <a:solidFill>
                  <a:srgbClr val="21295C"/>
                </a:solidFill>
                <a:latin typeface="Arial"/>
              </a:rPr>
              <a:t>• AlphaFold — Нобель по химии 2024</a:t>
            </a:r>
          </a:p>
          <a:p>
            <a:pPr algn="l">
              <a:lnSpc>
                <a:spcPct val="115000"/>
              </a:lnSpc>
            </a:pPr>
            <a:r>
              <a:rPr sz="1200" b="0" i="0">
                <a:solidFill>
                  <a:srgbClr val="21295C"/>
                </a:solidFill>
                <a:latin typeface="Arial"/>
              </a:rPr>
              <a:t>• 200M структур в AlphaFold DB (1000× PDB)</a:t>
            </a:r>
          </a:p>
          <a:p>
            <a:pPr algn="l">
              <a:lnSpc>
                <a:spcPct val="115000"/>
              </a:lnSpc>
            </a:pPr>
            <a:r>
              <a:rPr sz="1200" b="0" i="0">
                <a:solidFill>
                  <a:srgbClr val="21295C"/>
                </a:solidFill>
                <a:latin typeface="Arial"/>
              </a:rPr>
              <a:t>• GNoME — 380K стабильных материалов</a:t>
            </a:r>
          </a:p>
          <a:p>
            <a:pPr algn="l">
              <a:lnSpc>
                <a:spcPct val="115000"/>
              </a:lnSpc>
            </a:pPr>
            <a:r>
              <a:rPr sz="1200" b="0" i="0">
                <a:solidFill>
                  <a:srgbClr val="21295C"/>
                </a:solidFill>
                <a:latin typeface="Arial"/>
              </a:rPr>
              <a:t>• Aurora — 5000× быстрее эталона</a:t>
            </a:r>
          </a:p>
          <a:p>
            <a:pPr algn="l">
              <a:lnSpc>
                <a:spcPct val="115000"/>
              </a:lnSpc>
            </a:pPr>
            <a:r>
              <a:rPr sz="1200" b="0" i="0">
                <a:solidFill>
                  <a:srgbClr val="21295C"/>
                </a:solidFill>
                <a:latin typeface="Arial"/>
              </a:rPr>
              <a:t>• AlphaProof — серебро на IMO 2024</a:t>
            </a:r>
          </a:p>
          <a:p>
            <a:pPr algn="l">
              <a:lnSpc>
                <a:spcPct val="115000"/>
              </a:lnSpc>
            </a:pPr>
            <a:r>
              <a:rPr sz="1200" b="0" i="0">
                <a:solidFill>
                  <a:srgbClr val="21295C"/>
                </a:solidFill>
                <a:latin typeface="Arial"/>
              </a:rPr>
              <a:t>• A-Lab — 41 из 58 за 17 дней</a:t>
            </a:r>
          </a:p>
          <a:p>
            <a:pPr algn="l">
              <a:lnSpc>
                <a:spcPct val="115000"/>
              </a:lnSpc>
            </a:pPr>
            <a:r>
              <a:rPr sz="400" b="0" i="0">
                <a:solidFill>
                  <a:srgbClr val="21295C"/>
                </a:solidFill>
                <a:latin typeface="Arial"/>
              </a:rPr>
              <a:t/>
            </a:r>
          </a:p>
          <a:p>
            <a:pPr algn="l">
              <a:lnSpc>
                <a:spcPct val="115000"/>
              </a:lnSpc>
            </a:pPr>
            <a:r>
              <a:rPr sz="1200" b="1" i="1">
                <a:solidFill>
                  <a:srgbClr val="F0AB00"/>
                </a:solidFill>
                <a:latin typeface="Arial"/>
              </a:rPr>
              <a:t>Это прорывы. И требуют человека в петле.</a:t>
            </a:r>
          </a:p>
        </p:txBody>
      </p:sp>
      <p:sp>
        <p:nvSpPr>
          <p:cNvPr id="9" name="TextBox 8"/>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Открыто для вопросов · ответы по конкретным кейсам и инструментам</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14-alphafold-ribbon.png"/>
          <p:cNvPicPr>
            <a:picLocks noChangeAspect="1"/>
          </p:cNvPicPr>
          <p:nvPr/>
        </p:nvPicPr>
        <p:blipFill>
          <a:blip r:embed="rId2"/>
          <a:stretch>
            <a:fillRect/>
          </a:stretch>
        </p:blipFill>
        <p:spPr>
          <a:xfrm>
            <a:off x="0" y="0"/>
            <a:ext cx="12191695" cy="4572000"/>
          </a:xfrm>
          <a:prstGeom prst="rect">
            <a:avLst/>
          </a:prstGeom>
        </p:spPr>
      </p:pic>
      <p:sp>
        <p:nvSpPr>
          <p:cNvPr id="3" name="Rectangle 2"/>
          <p:cNvSpPr/>
          <p:nvPr/>
        </p:nvSpPr>
        <p:spPr>
          <a:xfrm>
            <a:off x="0" y="4206240"/>
            <a:ext cx="12191695"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4206240"/>
            <a:ext cx="12191695" cy="36576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AlphaFold DB · 200 миллионов структур · alphafold.ebi.ac.uk</a:t>
            </a:r>
          </a:p>
        </p:txBody>
      </p:sp>
      <p:sp>
        <p:nvSpPr>
          <p:cNvPr id="5" name="Rounded Rectangle 4"/>
          <p:cNvSpPr/>
          <p:nvPr/>
        </p:nvSpPr>
        <p:spPr>
          <a:xfrm>
            <a:off x="457200" y="4754880"/>
            <a:ext cx="11274552" cy="1371600"/>
          </a:xfrm>
          <a:prstGeom prst="roundRect">
            <a:avLst>
              <a:gd name="adj" fmla="val 10000"/>
            </a:avLst>
          </a:prstGeom>
          <a:solidFill>
            <a:srgbClr val="FEF5E0"/>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892040"/>
            <a:ext cx="10789920" cy="1188720"/>
          </a:xfrm>
          <a:prstGeom prst="rect">
            <a:avLst/>
          </a:prstGeom>
          <a:noFill/>
        </p:spPr>
        <p:txBody>
          <a:bodyPr wrap="square" lIns="0" rIns="0" tIns="0" bIns="0" anchor="t">
            <a:spAutoFit/>
          </a:bodyPr>
          <a:lstStyle/>
          <a:p>
            <a:pPr algn="l">
              <a:lnSpc>
                <a:spcPct val="120000"/>
              </a:lnSpc>
            </a:pPr>
            <a:r>
              <a:rPr sz="1800" b="1" i="0">
                <a:solidFill>
                  <a:srgbClr val="21295C"/>
                </a:solidFill>
                <a:latin typeface="Arial"/>
              </a:rPr>
              <a:t>Биология теперь чуть больше известна. Финальная карта далека.</a:t>
            </a:r>
          </a:p>
          <a:p>
            <a:pPr algn="l">
              <a:lnSpc>
                <a:spcPct val="120000"/>
              </a:lnSpc>
            </a:pPr>
            <a:r>
              <a:rPr sz="400" b="0" i="0">
                <a:solidFill>
                  <a:srgbClr val="21295C"/>
                </a:solidFill>
                <a:latin typeface="Arial"/>
              </a:rPr>
              <a:t/>
            </a:r>
          </a:p>
          <a:p>
            <a:pPr algn="l">
              <a:lnSpc>
                <a:spcPct val="120000"/>
              </a:lnSpc>
            </a:pPr>
            <a:r>
              <a:rPr sz="1400" b="0" i="1">
                <a:solidFill>
                  <a:srgbClr val="065A82"/>
                </a:solidFill>
                <a:latin typeface="Arial"/>
              </a:rPr>
              <a:t>AlphaFold показал: закрытые задачи доступны AI. Лекция 16 — нефтегаз: частично закрытый (геофизика) + частично открытый (резервуар).</a:t>
            </a:r>
          </a:p>
        </p:txBody>
      </p:sp>
      <p:sp>
        <p:nvSpPr>
          <p:cNvPr id="7" name="TextBox 6"/>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 DeepMind / Isomorphic Labs / EBI 2024 · alphafold.ebi.ac.uk · Wikimedia CC-BY-SA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