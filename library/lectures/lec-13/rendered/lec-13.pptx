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Представим три картинки рядом — три заголовка деловой прессы за последние восемнадцать месяцев, которые изменили наше понимание о том, где автономные транспортные системы работают, а где нет.</a:t>
            </a:r>
            <a:br/>
            <a:br/>
            <a:r>
              <a:t>Декабрь 2024 года. General Motors закрывает дочернюю компанию Cruise после восьми лет инвестиций и более десяти миллиардов долларов операционных убытков при выручке менее пятисот миллионов долларов за всю историю существования направления. Сравнение десять-к-одному: на каждый доллар выручки сожжено двадцать долларов капитала. Главная причина — единичный инцидент 2 октября 2023 года в Сан-Франциско, когда автомобиль Cruise после столкновения пешехода с другим автомобилем протянул пострадавшую около двадцати футов вместо немедленной остановки. Калифорнийский DMV отозвал лицензию, GM приняла решение свернуть всё направление.</a:t>
            </a:r>
            <a:br/>
            <a:br/>
            <a:r>
              <a:t>Март 2026 года. Waymo, дочерняя компания Alphabet, отчитывается о пятистах тысячах платных поездок в неделю в более чем десяти городах США — Феникс, Сан-Франциско, Лос-Анджелес, Остин, Атланта, Майами и других. Парк составляет 3 067 беспилотных автомобилей пятого поколения на конец декабря 2025 года. Пять лет назад Waymo делала только демонстрационные поездки в Фениксе; сейчас это работающий коммерческий сервис, но при этом — компания не отчитывается о прибыльности на одну поездку публично.</a:t>
            </a:r>
            <a:br/>
            <a:br/>
            <a:r>
              <a:t>Февраль 2026 года. Tesla Robotaxi, запущенная в Остине 22 июня 2025 года, накапливает четырнадцать дорожно-транспортных происшествий за восемь месяцев эксплуатации, около восьмисот тысяч платных миль суммарно. Это не сравнимая статистика с Waymo — объём в тысячу раз меньше, — но это первая публичная статистика по vision-only L4-стеку без лидара и без HD-карты, и она требует холодной интерпретации.</a:t>
            </a:r>
            <a:br/>
            <a:br/>
            <a:r>
              <a:t>Три картинки рядом ставят один вопрос: почему Waymo выжила, Cruise разорилась, а Tesla только начинает? Если бы дело было только в технологии — все три используют конкурирующие версии похожих сенсорных стеков. Если бы дело было только в капитале — у Cruise было десять миллиардов GM, у Waymo — практически бесконечный capital Alphabet. Если бы дело было только в регулировании — обе работали в одних городах с одним DMV.</a:t>
            </a:r>
            <a:br/>
            <a:br/>
            <a:r>
              <a:t>Дело в среде, в которой система разворачивалась, и в дисциплине ODD. Это — главная мысль сегодняшней лекции, и я буду к ней возвращаться весь следующий час с четвертью.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Лекция 13 — AI в логистике и транспорте. Третий модуль курса, продолжение разговора об отраслях с критичной безопасностью и о том, где AI работает зрело, а где — провалы стоят миллиардов и человеческих жизней.</a:t>
            </a:r>
            <a:br/>
            <a:br/>
            <a:r>
              <a:t>Аудитория — студенты-инженеры третьего курса. Я не предполагаю, что вы специалисты по транспорту, по логистике или по операционным исследованиям. Я предполагаю, что вы знакомы с базовыми понятиями machine learning из предыдущих лекций — лестница автономии и OODA-цикл из Лекции 9 про аэрокосмос, застревание AI-пилотов на пилотной стадии из Лекции 11 про производство, контролируемая среда как предпосылка успеха из Лекции 12 про цифровые двойники.</a:t>
            </a:r>
            <a:br/>
            <a:br/>
            <a:r>
              <a:t>Сегодня я хочу, чтобы вы вышли из аудитории с тремя инструментами в кармане. Первое — лестница среды как главный предиктор успеха AI в транспорте. Второе — пять-семь критериев, отделяющих демо вендора от промышленной эксплуатации. Третье — список альтернатив AI: операционные исследования, классические формулы запасов, сценарное планирование, человек в петле.</a:t>
            </a:r>
            <a:br/>
            <a:br/>
            <a:r>
              <a:t>Структура лекции — пять разделов по принципу «спуск по лестнице среды». Первый — контролируемая среда, склад и порт, где AI работает наиболее зрело. Второй — магистраль, первая коммерческая беспилотная грузоперевозка Aurora и серия банкротств. Третий — городской robotaxi и последняя миля, Waymo выжил и Cruise разорилась. Четвёртый — чрезвычайная ситуация и рамка решения. Пятый — замыкание и мост к Лекции 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начать спускаться по лестнице среды — короткая дорожная карта. У нас пять разделов на семьдесят пять минут.</a:t>
            </a:r>
            <a:br/>
            <a:br/>
            <a:r>
              <a:t>Первый раздел — контролируемая среда. Склад, порт, железнодорожные стрелки. Это самая зрелая часть AI-в-логистике, и я буду там около пятнадцати минут. Symbotic, Amazon Robotics, Locus, ZPMC, KONUX.</a:t>
            </a:r>
            <a:br/>
            <a:br/>
            <a:r>
              <a:t>Второй раздел — полуструктурированная магистраль. Aurora Innovation, первая коммерческая беспилотная грузоперевозка в США. Mobileye Chauffeur. КамАЗ-54901 на М-11. И главное — UPS ORION как канонический пример операционных исследований, которые работают лучше глубокого обучения для well-defined задач маршрутизации. Плюс серия банкротств autonomous trucking: Argo, Embark, TuSimple, Waymo Via, Starsky.</a:t>
            </a:r>
            <a:br/>
            <a:br/>
            <a:r>
              <a:t>Третий раздел — городская улица robotaxi и последняя миля. Здесь Waymo, Apollo Go, Pony.ai, WeRide, Tesla Robotaxi Austin. И главное — деталь Cruise GM exit как анти-пример. Uber Tempe 2018 как первый смертельный AV-инцидент. Tesla Autopilot и данные NHTSA. Starship, Coco, Zipline.</a:t>
            </a:r>
            <a:br/>
            <a:br/>
            <a:r>
              <a:t>Четвёртый раздел — чрезвычайная ситуация и рамка решения. Хуситы в Красном море, контейнеровоз Ever Given в Суэцком канале, COVID. Это то, где ML слеп по определению. И рамка решения — пять критериев «AI или не AI в логистике», плюс альтернативный инструментарий.</a:t>
            </a:r>
            <a:br/>
            <a:br/>
            <a:r>
              <a:t>Пятый раздел — короткое замыкание и мост к Лекции 14, телекоммуникации и кибербез. Семь вопросов вендору, которые останутся с вами в кармане после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погружаться в конкретные компании и цифры — короткий глоссарий. Десять аббревиатур, которые я буду использовать без объяснения дальше в лекции. Если хотя бы три из них вам не знакомы — обязательно фиксируйте их сейчас, потом будет тяжелее.</a:t>
            </a:r>
            <a:br/>
            <a:br/>
            <a:r>
              <a:t>SAE J3016. Эс-эй-и — Society of Automotive Engineers, стандартизирующая организация в автомобильной отрасли. Документ J3016 определяет шесть уровней автономии. L3 — водитель может оторвать глаза от дороги в определённых условиях, но должен быть готов взять управление. L4 — driverless в определённой области штатной эксплуатации. Большая часть лекции — про переход от L2 к L4, и про то, что один уровень от другого отделяет огромная инженерная пропасть.</a:t>
            </a:r>
            <a:br/>
            <a:br/>
            <a:r>
              <a:t>ODD — Operational Design Domain, область штатной эксплуатации. Формальное описание условий, при которых автономная система проектировалась работать. Погода, время суток, тип дороги, географические рамки. ODD есть главная инженерная дисциплина при разработке L3+ системы, и расширение ODD без валидации — самый частый антипаттерн.</a:t>
            </a:r>
            <a:br/>
            <a:br/>
            <a:r>
              <a:t>AV — autonomous vehicle. AMR — автономный мобильный робот, обычно складской. HD-карта — детальная карта дорожного окружения, основной приоритетный инструмент Waymo и Apollo Go.</a:t>
            </a:r>
            <a:br/>
            <a:br/>
            <a:r>
              <a:t>Дальше — про математику. OR, операционные исследования. Класс математических методов оптимизации с 1940-х годов. Линейное программирование, целочисленное, задача коммивояжёра, маршрутизация транспортных средств. OR — это не AI, и для well-defined задач часто работает лучше, дешевле и объяснимее, чем reinforcement learning. UPS ORION — канонический пример.</a:t>
            </a:r>
            <a:br/>
            <a:br/>
            <a:r>
              <a:t>EOQ — Economic Order Quantity, классическая формула 1913 года Forda Harris. Три параметра, и для большой доли SKU она даёт результаты не хуже, чем ML.</a:t>
            </a:r>
            <a:br/>
            <a:br/>
            <a:r>
              <a:t>SGO — NHTSA Standing General Order on Crash Reporting. Регуляторная база, обязательная для всех AV-операторов в США. Все цифры по Tesla, Waymo, Cruise fatality — оттуда.</a:t>
            </a:r>
            <a:br/>
            <a:br/>
            <a:r>
              <a:t>HITL / HOOL / HOTL — человек в петле, на петле, вне петли. Концепция из Лекции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ключевой слайд лекции. Запомните эту лестницу, потому что я буду возвращаться к ней весь следующий час с четвертью.</a:t>
            </a:r>
            <a:br/>
            <a:br/>
            <a:r>
              <a:t>Уровень один — контролируемая среда. Склад, портовый терминал, железнодорожный depot. Освещение известно, геометрия фиксирована, пешеходов либо нет, либо они отделены физическими барьерами, погода не влияет. AI здесь работает наиболее зрелым образом. Symbotic с Walmart — четыреста APD-центров и более пяти миллиардов backlog. Amazon Robotics — миллион роботов в фулфилменте. KONUX с Deutsche Bahn — прогностическое обслуживание стрелок.</a:t>
            </a:r>
            <a:br/>
            <a:br/>
            <a:r>
              <a:t>Уровень два — полуструктурированная магистраль. Известное направление, относительно простые правила, HD-карта возможна. Aurora с первой коммерческой беспилотной грузоперевозкой Даллас-Хьюстон в мае 2025 года. КамАЗ-54901 со стеком Cognitive Pilot на трассе М-11. Уровень эмерджентный — первые коммерческие операции только начинаются, история стартапов брутальная. Двадцать миллиардов долларов сожжено на компаниях, которые не выжили — Argo AI, Embark Trucks, TuSimple, Waymo Via, Starsky Robotics.</a:t>
            </a:r>
            <a:br/>
            <a:br/>
            <a:r>
              <a:t>Уровень три — городская улица robotaxi. Сан-Франциско, Лос-Анджелес, Феникс, Шэньчжэнь, Гуанчжоу. Множество пешеходов, велосипедисты, эмерджентные ситуации. Waymo выжил с пятью сотнями тысяч поездок в неделю на стеке HD-карта + лидар + камеры + удалённые операторы. Cruise разорилась — десять миллиардов сожжено за восемь лет. Tesla только начинает в Остине, 14 ДТП за восемь месяцев. И разница между ними — не алгоритмическая, а дисциплина ODD.</a:t>
            </a:r>
            <a:br/>
            <a:br/>
            <a:r>
              <a:t>Уровень четыре — последняя миля города. Тротуар вместо проезжей части, кампусы вместо улиц. Starship на университетских кампусах. Coco в Лос-Анджелесе. Zipline сто миллионов миль в Африке для медицинской доставки. Уровень — узкие ниши, дальнейшее масштабирование заблокировано регуляцией и физикой.</a:t>
            </a:r>
            <a:br/>
            <a:br/>
            <a:r>
              <a:t>Уровень пять — чрезвычайная ситуация. Хуситы атакуют в Красном море с конца 2023 года — за два месяца контейнерный трафик упал на девяносто процентов. Ever Given блокировал Суэцкий канал шесть дней в марте 2021 — двенадцать процентов мировой торговли встало. COVID 2020 — глобальный обвал цепочек поставок. На этом уровне ML слеп по определению. И инструменты здесь — не AI, а диспетчеры-люди в exception-командах Maersk и FedEx, сценарное планирование, операционные исследования, классические формулы запасов.</a:t>
            </a:r>
            <a:br/>
            <a:br/>
            <a:r>
              <a:t>Эта лестница — главный предиктор успеха. Каждый раздел сегодняшней лекции — мотивированный спуск или подъём по этой оси.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Канонический пример складской AI-интеграции 2024-2025 годов — партнёрство Symbotic с Walmart. В январе 2025 года Symbotic закрыла сделку по приобретению Walmart Advanced Systems and Robotics business, и Walmart обязался развернуть автоматизированные системы Symbotic для четырёхсот APD-центров.</a:t>
            </a:r>
            <a:br/>
            <a:br/>
            <a:r>
              <a:t>APD — это Accelerated Pickup and Delivery, центр ускоренного получения и доставки. Walmart строит сеть таких центров для быстрой доставки клиентам, и Symbotic — основной автоматизирующий партнёр. Backlog в пять+ миллиардов долларов — это примерно четыре годовых выручки Symbotic вперёд. Для растущей публичной компании это экстраординарный сигнал. Сравнительная контрольная линия: backlog в десять процентов годовой выручки считается слабым, в пятьдесят — средним, в сто — сильным. Четыреста процентов — экстраординарным.</a:t>
            </a:r>
            <a:br/>
            <a:br/>
            <a:r>
              <a:t>Что делает Symbotic технически — это полная складская автоматизация: palletization, составление паллет под отгрузку; depalletization, разбор поступающих паллет; picking, отбор товара по заказу; sorting, сортировка по маршрутам. Под капотом — комбинация классических промышленных роботов, мобильных платформ и систем компьютерного зрения. Это важный пункт: это не одна большая модель ML, а интегрированная система. ML используется для конкретных задач — распознавания и классификации SKU. А core control-логика — рулевая по детерминированным правилам и сообщениям WMS.</a:t>
            </a:r>
            <a:br/>
            <a:br/>
            <a:r>
              <a:t>Главный риск — капитальная интенсивность. Один APD-центр Symbotic стоит десятки миллионов долларов на установку, и срок окупаемости — несколько лет. Это означает, что малые ритейлеры не могут позволить эту технологию на собственные средства. Контрфактуальная альтернатива для малой логистической компании — традиционный склад с конвейерами и штрих-код сканерами стоимостью менее миллиона долларов на десять тысяч SKU.</a:t>
            </a:r>
            <a:br/>
            <a:br/>
            <a:r>
              <a:t>Второй риск — привязка к одному вендору. Когда Walmart инвестирует миллиарды в Symbotic-стек на четыреста центров — это классический OEM-lock-in паттерн. Переключение на Knapp, Vanderlande или KION Dematic займёт годы.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Amazon является крупнейшим в мире оператором складских роботов — более миллиона единиц в фулфилмент-сети глобально, рубеж заявлен в июне-июле 2025 года. Это в тысячи раз больше, чем Aurora имеет беспилотных грузовиков, и в сотни раз больше, чем Waymo имеет robotaxi. Соотношение даёт правильную интуицию: автономия в контролируемой среде уже массовая, автономия на дороге — пока узкая.</a:t>
            </a:r>
            <a:br/>
            <a:br/>
            <a:r>
              <a:t>Amazon Robotics — это внутренний стек, который не лицензируется внешним клиентам. Линейка состоит из нескольких поколений роботов с разной специализацией.</a:t>
            </a:r>
            <a:br/>
            <a:br/>
            <a:r>
              <a:t>Sparrow — робот-манипулятор для bin-picking, представлен в 2022 году. Распознаёт миллионы SKU через комбинацию компьютерного зрения и оценки глубины, планирует grasp — захват — и укладывает в нужный bin. Sparrow — это визуальный pick, и он работает на широком классе товаров, но имеет ограничения на текстиле, прозрачной упаковке, металлических предметах с зеркальными поверхностями.</a:t>
            </a:r>
            <a:br/>
            <a:br/>
            <a:r>
              <a:t>Sequoia — система контейнерного хранения, представлена в 2023 году. Увеличивает плотность хранения за счёт перехода от стеллажей к контейнерному. Sequoia не AI в строгом смысле — это mechatronics плюс WMS-логика.</a:t>
            </a:r>
            <a:br/>
            <a:br/>
            <a:r>
              <a:t>Proteus — первый полностью автономный мобильный робот Amazon в фулфилменте, 2022 год. Перемещает carts по floor-у склада, обходит препятствия, включая людей. SLAM-стек Proteus должен работать в условиях движущихся людей и переменной геометрии — это уже выше уровня полностью детерминированной среды.</a:t>
            </a:r>
            <a:br/>
            <a:br/>
            <a:r>
              <a:t>Vulcan — touch-enabled робот, представлен в 2024-2025 годах. Добавляет тактильную чувствительность. Vulcan — это ответ Amazon на ограничение Sparrow: vision-only стек не справляется с текстилем, прозрачной упаковкой и зеркальными поверхностями. Добавление тактильного сенсора позволяет роботу прощупать предмет после захвата и подтвердить успешный grasp.</a:t>
            </a:r>
            <a:br/>
            <a:br/>
            <a:r>
              <a:t>Главный урок этой последовательности — Sparrow к Vulcan. За три года Amazon прошёл путь от «vision-only решит pick всего» до «нам нужен тактильный сенсор». Это дисциплинированный путь итеративной разработки, и он показывает важную инженерную интуицию: vision-стек не универсален, даже на складе, и для определённых категорий товаров требуется multi-modal sensor stack — зрение плюс тактильность.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Категория автономных мобильных роботов — это самая массовая категория роботов, доступная не-Amazon компаниям. Три ключевых игрока 2026 года.</a:t>
            </a:r>
            <a:br/>
            <a:br/>
            <a:r>
              <a:t>Locus Robotics. Облачно-управляемые AMR в режиме collaborative picking — робот ездит к работнику, работник кладёт товар на бот, бот едет к следующей точке. К 2025 году Locus обработала более пяти миллиардов pick-операций в более чем трёхстах пятидесяти развёртываниях. Партнёрства с FedEx, GXO Logistics, DHL Supply Chain. Заявка по производительности — рост в два-три раза по сравнению с ручным picking без AMR.</a:t>
            </a:r>
            <a:br/>
            <a:br/>
            <a:r>
              <a:t>Базовая линия: типичный работник без AMR выполняет около пятидесяти-ста pick-ов в час на стандартном складе. С AMR — сто-двести пятьдесят в час.</a:t>
            </a:r>
            <a:br/>
            <a:br/>
            <a:r>
              <a:t>GreyOrange Butler. Goods-to-person автоматизация — рак-полка перемещается к работнику, вместо того чтобы работник ходил к полке. Принципиально отличается от Locus — это другой layout склада, и плотность хранения может вырасти в полтора-два раза.</a:t>
            </a:r>
            <a:br/>
            <a:br/>
            <a:r>
              <a:t>Geek+ — китайская компания, лидер по объёмам в Азии, расширение на европейский рынок.</a:t>
            </a:r>
            <a:br/>
            <a:br/>
            <a:r>
              <a:t>Главное ограничение AMR — это не автономия, а интеграция. Развёртывание Locus в существующем legacy-складе требует перепланировки. Расстановка узлов зарядки, разметка для роботов, обеспечение коридоров достаточной ширины, интеграция с WMS, обучение работников. Типичный срок развёртывания — от трёх до девяти месяцев.</a:t>
            </a:r>
            <a:br/>
            <a:br/>
            <a:r>
              <a:t>Второй риск — рост рабочей нагрузки на работника. AMR избавляет работника от ходьбы между точками, но увеличивает плотность pick-операций. Это привело к профсоюзной критике в Великобритании и США. Один из аргументов профсоюзов — что AMR не помогает работнику, а превращает его в человеческий хвост робота, выполняющего повторяющиеся движения с увеличенной частотой. Это этический и регуляторный риск, который инженер должен учитывать при дизайне развёртывания. И он резонирует с принципом Toyota Jidoka из Лекции 11: AI должен augment работника, а не превращать его в придаток конвейера.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Портовый терминал — вторая по структурированности среда после склада. Закрытая площадка, контейнеры стандартизированы по ISO, позиции кранов и судов известны через AIS-сигналы и RTK-GPS, пешеходов на operating-зонах нет или они отделены барьерами. Это объясняет, почему порт — вторая зрелая категория автоматизации в логистике.</a:t>
            </a:r>
            <a:br/>
            <a:br/>
            <a:r>
              <a:t>Главные поставщики — ABB, Konecranes, ZPMC. ABB — швейцарский конгломерат, поставляющий control-системы для портовых кранов. Konecranes — финская компания, лидер по automated container handling. ZPMC — китайский лидер, около семидесяти процентов мирового рынка STS-кранов, поставляет краны во все крупнейшие терминалы мира.</a:t>
            </a:r>
            <a:br/>
            <a:br/>
            <a:r>
              <a:t>Что работает на полностью автоматизированных терминалах. Маасвлакте-два в Роттердаме — флагман европейского автоматизированного порта. Long Beach Container Terminal — флагман в США. Yangshan в Шанхае — один из крупнейших по объёму.</a:t>
            </a:r>
            <a:br/>
            <a:br/>
            <a:r>
              <a:t>При этом что в порту не автоматизировано. Quay cranes — судовые краны — часто остаются с человеком-оператором в кабине или с remote-оператором. Финальное позиционирование контейнера на конкретную ячейку судна требует разрешения сложных edge-cases — деформированных контейнеров, погоды, неровной нагрузки. Lashing — закрепление контейнеров на судне — почти повсеместно ручная работа. Inspection and verification — таможенный осмотр, проверка документов — это диспетчеры-люди.</a:t>
            </a:r>
            <a:br/>
            <a:br/>
            <a:r>
              <a:t>И главный failure mode уровня 1.5 — labor pushback. В США автоматизация портов вошла в открытый конфликт с профсоюзом ILA, International Longshoremen's Association. В октябре 2024 года ILA провёл кратковременную забастовку, требуя моратория на дальнейшую автоматизацию East Coast и Gulf Coast портов. Заявленная численность работников ILA — около восьмидесяти пяти тысяч, и потенциальный ущерб от длительной забастовки оценивался до пяти миллиардов долларов в день для экономики США.</a:t>
            </a:r>
            <a:br/>
            <a:br/>
            <a:r>
              <a:t>Это классический паттерн «технология сталкивается с labor policy». Здесь решающий фактор не алгоритмы, а социальный контракт. В Европе автоматизация портов проходит более гладко именно потому, что отдельные страны договариваются с профсоюзами заранее и предусматривают переходные программы.</a:t>
            </a:r>
            <a:br/>
            <a:br/>
            <a:r>
              <a:t>Базовая линия для понимания масштаба: суммарный объём контейнерных перевозок в США через East Coast и Gulf Coast — около пятидесяти миллионов TEU в год при средней стоимости полторы-две тысячи долларов за единицу. Общий грузопоток составляет семьдесят пять — сто миллиардов долларов в год.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Железная дорога — особый случай. Это высоко контролируемая среда — фиксированная геометрия рельсов, известная топология сети, ограниченное число подвижного состава. Но сложная для автоматизации в силу strict регуляторики, длительного срока службы оборудования и высокой стоимости ошибки.</a:t>
            </a:r>
            <a:br/>
            <a:br/>
            <a:r>
              <a:t>Главное приложение AI в железной дороге 2026 года — прогностическое обслуживание стрелочных переводов. Канонический пример — KONUX, мюнхенская компания, разработавшая комплексное решение из сенсоров на стрелочных переводах плюс AI-аналитики. Основной клиент KONUX — Deutsche Bahn. Стрелочные переводы — самая частая причина задержек на немецкой железной дороге. Переключение в неправильное положение или износ конусной части ведут к необходимости отмены маршрута и пересмотра расписания. Базовая линия — стандартное обслуживание каждые шесть месяцев по графику. KONUX заявляет, что переход к condition-based maintenance может растянуть интервал до двенадцати-восемнадцати месяцев на одних стрелочных переводах и сократить до двух-трёх месяцев на других.</a:t>
            </a:r>
            <a:br/>
            <a:br/>
            <a:r>
              <a:t>Pedagogical point. Прогностическое обслуживание на железной дороге — зрелая категория, но её зрелость не означает массового внедрения. KONUX как продукт обоснован, но adoption медленный — государственные железные дороги принимают новые технологии с большой инерцией. Это тот же паттерн pilot purgatory из Лекции 11: технология работает, но adoption ограничен бюрократией заказчика.</a:t>
            </a:r>
            <a:br/>
            <a:br/>
            <a:r>
              <a:t>Теперь — три значимые границы уровня один.</a:t>
            </a:r>
            <a:br/>
            <a:br/>
            <a:r>
              <a:t>Humanoid-хайп. Tesla Optimus, Figure 02, UBTech Walker S1 — категория, которая в 2024-2026 годах привлекает максимальное медиа-внимание. Но на середину 2026 года humanoid-роботы для складских задач остаются в research или pilot stage, не в production развёртывание на масштабе более ста единиц для одной функциональной роли. Figure 02 в BMW Spartanburg — пилотная программа с ограниченной ролью. Tesla Optimus — внутренние демо без публично подтверждённого production-impact.</a:t>
            </a:r>
            <a:br/>
            <a:br/>
            <a:r>
              <a:t>Контрфактуальное сравнение: Amazon Sparrow и Vulcan — специализированные манипуляторы — выполняют миллионы pick-операций ежедневно при стоимости 50-150 тысяч за единицу против 100-300 тысяч для гуманоидного робота. Специализированный робот для специализированной задачи даёт лучший ROI.</a:t>
            </a:r>
            <a:br/>
            <a:br/>
            <a:r>
              <a:t>Миф об lights-out warehouse. Концепция работает в очень узких категориях, но для broad SKU с миллионами артикулов разной формы — пока не достигается. Долгий хвост edge-cases: текстиль, прозрачная упаковка, мисплейсы, возвраты.</a:t>
            </a:r>
            <a:br/>
            <a:br/>
            <a:r>
              <a:t>И четвёртая граница — distribution shift при сезонном flex. Перед Black Friday, Christmas, Halloween каталог наполняется новыми категориями товаров, и Sparrow vision-классификатор часто ошибается чаще.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Замыкая раздел один — четыре границы, на которых поставщики или маркетинг могут увлечь инженера в неправильную инвестицию. Это короткий чек-лист «что спросить» при оценке любого решения уровня один.</a:t>
            </a:r>
            <a:br/>
            <a:br/>
            <a:r>
              <a:t>Первая граница — капитальная интенсивность. Symbotic-стек на один APD-центр — десятки миллионов. ZPMC-кран — десять+ миллионов. Полная автоматизация порта — миллиарды на терминал. Уровень один доступен только крупным игрокам или 3PL-провайдерам. Малые компании работают с минимальной автоматизацией.</a:t>
            </a:r>
            <a:br/>
            <a:br/>
            <a:r>
              <a:t>Вторая граница — OEM lock-in. Когда Walmart инвестирует миллиарды в Symbotic-стек, компромисс — долгосрочная зависимость от одного вендора. Lesson для инженера: при оценке long-term contract задавайте вопросы об exit strategy. Что произошло, если мы хотим switch supplier через десять лет? Какие proprietary компоненты vs стандартизированные? Какая стоимость migration?</a:t>
            </a:r>
            <a:br/>
            <a:br/>
            <a:r>
              <a:t>Третья граница — миф об lights-out warehouse для broad SKU. Концепция работает в очень узких категориях, но для дистрибуционного центра с миллионами артикулов разной формы — пока не достигается ни одним поставщиком. Инженерное упражнение: задайте поставщику конкретные вопросы. Какой процент SKU вы обрабатываете без вмешательства человека? Сколько human interventions в смену на вашем production-сайте? Что происходит при нестандартной упаковке возврата?</a:t>
            </a:r>
            <a:br/>
            <a:br/>
            <a:r>
              <a:t>Четвёртая граница — distribution shift при сезонном flex. Перед пиковыми сезонами каталог наполняется новыми категориями. Lesson: при оценке складского ML-стека спрашивайте поставщика специфически про сезонную динамику. Какой error rate на пиковых сезонах vs обычное время? Как часто переобучается модель? Кто оплачивает retraining cost?</a:t>
            </a:r>
            <a:br/>
            <a:br/>
            <a:r>
              <a:t>Эти четыре вопроса — практический инструмент для кармана, который остаётся с вами после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Aurora Innovation — это первая компания в США, которая запустила полностью беспилотную коммерческую грузоперевозку на магистрали. Дата старта — первое мая 2025 года. Маршрут — Даллас-Хьюстон, около двухсот сорока миль interstate I-45.</a:t>
            </a:r>
            <a:br/>
            <a:br/>
            <a:r>
              <a:t>Парк к концу 2025 года — около десяти машин на коммерческих маршрутах. Платформа — PACCAR Peterbilt, грузовой тягач Class-8, плюс Aurora Driver software stack. Расширение в 2026 году планируется на маршрут Fort Worth — El Paso и Phoenix.</a:t>
            </a:r>
            <a:br/>
            <a:br/>
            <a:r>
              <a:t>Главное, что отличает Aurora от non-survivors индустрии — это crawl-walk-run подход. Crawl — многолетние тесты с safety operator с 2018 по 2024 год. Walk — Даллас-Хьюстон с safety operator на отдельных рейсах в 2023-2024. Run — driverless commercial в мае 2025 на единичном маршруте, отработанном годами.</a:t>
            </a:r>
            <a:br/>
            <a:br/>
            <a:r>
              <a:t>Это важная инженерная дисциплина. Aurora не обещает «replacing X percent drivers». Chris Urmson, CEO, формализует это как «новую эру грузоперевозок» — а не как замену водителей. Aurora не расширяет ODD агрессивно — каждое новое lane требует extensive валидации. И Aurora не зависит от subsidies — это public market funding через SPAC merger 2021 года.</a:t>
            </a:r>
            <a:br/>
            <a:br/>
            <a:r>
              <a:t>Цитата Урмсона из press release мая 2025: «Сегодня знаменует рассвет новой эры в транспортировке, поскольку Aurora становится первой компанией, которая управляет коммерческой беспилотной службой с тяжёлыми грузовиками на общественных дорогах в США».</a:t>
            </a:r>
            <a:br/>
            <a:br/>
            <a:r>
              <a:t>Pedagogical point. Aurora — survivor pattern. Те же десять-двадцать миллиардов долларов сожжены non-survivors, но Aurora выжила, потому что crawl-walk-run, потому что cautious в ODD expansion, потому что не overpromise. Это lesson инженерного смирения — не arrogance. Cruise vs Waymo — обоим тот же стек, но Waymo выжил по тем же причинам, что и Aurora.</a:t>
            </a:r>
            <a:br/>
            <a:br/>
            <a:r>
              <a:t>Сравнение базовой линией. Парк Aurora — около десяти машин. Парк Waymo robotaxi — три тысячи машин. Парк Amazon Robotics — миллион единиц. Соотношение даёт правильную интуицию: автономия на магистрали — пока узкая, не массовая.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Параллельно с Aurora на американском рынке развиваются ещё две магистральные программы: Mobileye Chauffeur и российский КамАЗ.</a:t>
            </a:r>
            <a:br/>
            <a:br/>
            <a:r>
              <a:t>Mobileye — израильская компания, spin-off из Intel в 2022 году, public NASDAQ. Продукт SuperVision — это camera-first ADAS-стек без дорогого лидара, основан на HD-карте, которую Mobileye собирает через REM, Road Experience Management — crowd-sourcing данных от собственных потребительских моделей. Mobileye SuperVision уже в продаже на примерно трёхстах тысячах consumer vehicles к 2025 году, и цель — миллион двести тысяч к 2026 году.</a:t>
            </a:r>
            <a:br/>
            <a:br/>
            <a:r>
              <a:t>Chauffeur — следующий уровень, L3 eyes-off. Это означает, что в определённых условиях — например, на магистрали при определённой скорости — водитель может оторвать глаза от дороги. Не «оторваться от управления», а «не следить активно за дорогой». Mobileye Chauffeur запускается на премиум-европейских OEM: Polestar 4, Audi Q6 e-tron, Volkswagen Touareg.</a:t>
            </a:r>
            <a:br/>
            <a:br/>
            <a:r>
              <a:t>Это другой бизнес-модель, чем Aurora. Aurora — это коммерческая L4-беспилотная грузоперевозка, десять машин на одном маршруте. Mobileye — это потребительский ADAS-стек, миллион пассажирских машин с L3 eyes-off на магистрали. Разные ставки, разные target customers.</a:t>
            </a:r>
            <a:br/>
            <a:br/>
            <a:r>
              <a:t>Российский контекст. КамАЗ-54901 со стеком Cognitive Pilot работает на трассе М-11 «Нева» с июня 2023 года. К концу 2024 года — шестьдесят семь единиц на маршруте, из них около десяти в commercial cargo. План на 2025 год — сто единиц, расширение на М-12 «Восток» и Центральную кольцевую автодорогу.</a:t>
            </a:r>
            <a:br/>
            <a:br/>
            <a:r>
              <a:t>Российская модель отличается от американской: это государственный pilot в рамках экспериментального правового режима. ЭПР — это специальный legal framework для тестирования автономных систем без полного соответствия общим правилам дорожного движения. М-11 — специально выделенная магистраль с системой контроля и поддержки.</a:t>
            </a:r>
            <a:br/>
            <a:br/>
            <a:r>
              <a:t>Pedagogical point. КамАЗ-Cognitive Pilot — это пример российского survivor pattern в логистике. Не самый передовой технически, но crawl-walk-run, не overpromise, и государственная поддержка в рамках ЭПР. Контраст с Yandex SDG, которая до 2024 года разрабатывала robotaxi для городской среды в России, но была вынуждена сделать спин-аут в нероссийскую компанию Avride под голландской parent Nebius Group из-за санкционных ограничений.</a:t>
            </a:r>
            <a:br/>
            <a:br/>
            <a:r>
              <a:t>Cognitive Pilot также имеет отдельный продукт — Cognitive Pilot Agro для автономных комбайнов в сельском хозяйстве. Заявленные показатели — пятьсот девяносто тысяч тонн зерновых, обработанных с более чем ста тридцати тысяч гектаров суммарно (накопленные данные по 242 комбайнам Rusagro и другим клиентам).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UPS ORION — это канонический пример операционных исследований, которые работают лучше глубокого обучения для чётко поставленных задач маршрутизации. Я хочу остановиться на этом слайде на три минуты, потому что это один из главных фундаментальных слайдов лекции.</a:t>
            </a:r>
            <a:br/>
            <a:br/>
            <a:r>
              <a:t>**Цифры.** UPS экономит примерно сто миллионов миль пробега в год для всего парка. Десять миллионов галлонов топлива. Триста-четыреста миллионов долларов в год экономии. Если посчитать совокупно — на декабрь 2015 года было триста двадцать миллионов долларов экономии по данным INFORMS. Парк UPS — около ста двадцати пяти тысяч машин.</a:t>
            </a:r>
            <a:br/>
            <a:br/>
            <a:r>
              <a:t>**Что под капотом.** Под капотом ORION — это операционные исследования. Целочисленное программирование плюс эвристики плюс задача маршрутизации транспортных средств — VRP. Не глубокое обучение. Не обучение с подкреплением. Не GenAI. Используемые инструменты — это Gurobi, CPLEX, Google OR-Tools. Алгоритмы датируются 1950-60-ми годами — теория графов, branch-and-bound, метаэвристики.</a:t>
            </a:r>
            <a:br/>
            <a:br/>
            <a:r>
              <a:t>Современная инфраструктура — Big Data, облако, потоки данных в реальном времени — это всё есть. Но само решение задачи маршрутизации — это классическая математика, не ML.</a:t>
            </a:r>
            <a:br/>
            <a:br/>
            <a:r>
              <a:t>**Педагогический смысл.** UPS ORION — это канонический анти-хайп-пример. Простой случай, когда чётко поставленная задача оптимизации решается через классическую математику лучше, чем через ML или RL.</a:t>
            </a:r>
            <a:br/>
            <a:br/>
            <a:r>
              <a:t>**Три вопроса вендору.** Когда вы — инженер — слышите от поставщика «наш ML-стек оптимизирует маршруты вашего флота с эффектом плюс двадцать пять процентов» — у вас должны автоматически возникать три вопроса.</a:t>
            </a:r>
            <a:br/>
            <a:br/>
            <a:r>
              <a:t>**Вопрос 1.** Какие сравнения с базовой линией OR? Если поставщик не показывает базовую линию Gurobi или OR-Tools — это красный флаг. Это означает, что либо они не делали такое сравнение, либо ML-решение не лучше классического OR, а сравнение просто скрыто.</a:t>
            </a:r>
            <a:br/>
            <a:br/>
            <a:r>
              <a:t>**Вопрос 2.** Какой ваш VRP-решатель? Если ответ «сквозное глубокое обучение» — спросите про объяснимость, про краевые случаи, про разрыв оптимальности. Сквозное RL для VRP — это активная область исследований, но это не продакшен-уровень на 2026 год.</a:t>
            </a:r>
            <a:br/>
            <a:br/>
            <a:r>
              <a:t>**Вопрос 3.** Какие данные используете? Стационарный спрос или нестационарный? При стационарном — то есть когда спрос предсказуем по сезонам — EOQ плюс страховой запас плюс ABC-анализ работают не хуже ML. Это формулы 1913 года, и они для большой доли SKU дают результаты, сопоставимые с ML.</a:t>
            </a:r>
            <a:br/>
            <a:br/>
            <a:r>
              <a:t>**Контекст.** UPS ORION не единственный пример. FedEx использует аналогичные методы OR. Maersk Line, ZIM, CMA CGM используют специализированные OR-решатели для маршрутизации контейнеровозов — это другая задача (LCL/FCL + ETA + ёмкость), но математика та же. Walmart routing внутри сети распределения — OR.</a:t>
            </a:r>
            <a:br/>
            <a:br/>
            <a:r>
              <a:t>**Когда ML уместен.** ML-маршрутизация имеет место в одном специфическом случае: когда данных много, спрос нестационарный, и есть внешние сигналы в реальном времени (погода, трафик, события). Тогда ML-надстройка поверх OR-решателя может улучшить результат. Но чистый ML без базовой линии OR — почти всегда хуже.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Глубокий разбор провалов раздела два. Я хочу провести по пяти точкам на одной хронологии, чтобы вы видели не отдельные кейсы, а паттерн.</a:t>
            </a:r>
            <a:br/>
            <a:br/>
            <a:r>
              <a:t>**Март 2020 — Starsky Robotics.** Первая волна жертв автономных грузоперевозок. Стефан Зельц-Аксмахер, основатель и CEO, написал откровенное Medium-эссе «The end of Starsky Robotics». Главная цитата: «Контролируемое машинное обучение не оправдывает ажиотажа». И второе: «У разрыва симуляция-к-реальности есть очень реальные пределы». Это важно — это признание от первого лица от основателя, что ML не работает на дорогах общего пользования так, как работал в симуляции. Starsky первой попробовала и первой провалилась.</a:t>
            </a:r>
            <a:br/>
            <a:br/>
            <a:r>
              <a:t>**Октябрь 2022 — Argo AI.** Этот провал — самый крупный по абсолютным числам. Семь миллиардов долларов сожжено за пять лет. Из них Ford инвестировала более пяти миллиардов, VW — два с шестью десятых. Двадцать шестого октября 2022 года в звонке с инвесторами Ford объявил решение свернуть Argo. Двадцать тысяч человек увольнений. Ford записал два миллиарда семьсот списания и восемьсот двадцать семь миллионов чистого убытка только за этот квартал. **Урок.** Даже когда у вас два OEM-инвестора (Ford и VW) с почти бесконечным капиталом, если они одновременно решат, что L4-robotaxi везде — слишком крупно для масштаба стартапа, проект мгновенно разваливается.</a:t>
            </a:r>
            <a:br/>
            <a:br/>
            <a:r>
              <a:t>**Март 2023 — Embark Trucks.** Шестнадцать месяцев от SPAC-IPO в ноябре 2021 до банкротства в марте 2023. SPAC-таргет капитализации был пять и шестнадцать сотых миллиарда долларов — на момент слияния Embark формально стоила больше, чем десятилетние профессиональные операторы. К марту 2023 — двести тридцать сотрудников уволено, активы ликвидированы. Цитата Алекса Родригеса, CEO: «Капитальные рынки повернулись спиной к компаниям до выручки, так как сдвиги в хронологии производителей задержали возможность масштабного коммерческого развёртывания». Это канонический SPAC-крах 2021-2023 в одной компании.</a:t>
            </a:r>
            <a:br/>
            <a:br/>
            <a:r>
              <a:t>**2023 — Waymo Via.** Alphabet закрыла собственное направление грузоперевозок. Это уникально, потому что у Alphabet практически бесконечный капитал. Если даже Alphabet не нашёл прибыльную модель для L4-грузоперевозок в отдельной бизнес-единице — это структурный сигнал, что вся индустрия не работает по удельной экономике, по крайней мере на эту дату.</a:t>
            </a:r>
            <a:br/>
            <a:br/>
            <a:r>
              <a:t>**Январь 2024 — TuSimple.** Делистинг с Nasdaq; передача активов в китайские AIGC-структуры. Девяносто один процент+ акционерной стоимости утрачено. TuSimple — это была US-China гибридная компания, и её ситуация дополнительно осложнялась геополитическим давлением — США заблокировали технологический трансфер в Китай в 2023 году, а в Китае активы выкупались независимо.</a:t>
            </a:r>
            <a:br/>
            <a:br/>
            <a:r>
              <a:t>**Общие паттерны.** Капитальная интенсивность без выручки. Все не-выжившие сжигали один-семь миллиардов прежде, чем заработать первый коммерческий доллар. Пузырь SPAC-IPO 2021-2022. Разрыв симуляция-к-реальности. Регуляторная неопределённость. Несоответствие спросу клиентов — большинство стартапов искали продать «автономный флот» большим перевозчикам, но перевозчики предпочитали выделенные полосы плюс оператора безопасности, не полную автономию.</a:t>
            </a:r>
            <a:br/>
            <a:br/>
            <a:r>
              <a:t>**Консолидация 10:1.** Из тридцати+ серьёзных AV-грузоперевозчиков 2015-2020 выжили три-четыре. Это не вопрос технического качества — Argo и Embark имели технически впечатляющие демо. Это вопрос бизнес-модели на капиталоёмком, медленном, жестоком дарвиновском рынке.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— суммарная картина. Я хочу показать, насколько дорогим оказался autonomous-transport ставка для индустрии.</a:t>
            </a:r>
            <a:br/>
            <a:br/>
            <a:r>
              <a:t>Argo AI — семь миллиардов долларов. Ford инвестировала более пяти миллиардов, VW — два с шестью десятых. Cruise — десять миллиардов операционных убытков GM за восемь лет, при выручке менее пятисот миллионов кумулятивно за всю историю. TuSimple — около миллиарда плюс IPO proceeds, и девяносто один процент shareholder value lost. Embark — триста миллионов IPO плюс private rounds, при SPAC target market cap пять с шестнадцати сотых миллиарда. Starsky — около двухсот миллионов private. Waymo Via — Alphabet не disclosed exact инвестиции, но сегмент закрыт без revenue.</a:t>
            </a:r>
            <a:br/>
            <a:br/>
            <a:r>
              <a:t>Суммарно — более двадцати миллиардов долларов только на autonomous trucking и robotaxi non-survivors с 2017 по 2024 год. Если расширить определение и включить early-stage investments в Cruise до сделки с GM, Zoox до сделки с Amazon, Aurora ранние раунды — можно дойти до пятидесяти миллиардов.</a:t>
            </a:r>
            <a:br/>
            <a:br/>
            <a:r>
              <a:t>Сравнение с Лекцией 11. В производстве 95% GenAI-пилотов не доходят до production, по данным MIT Sloan 2025. Median pilot стоит десятки или сотни тысяч долларов. Это пилот, который начинается, и менеджмент за 14 месяцев решает не вкладываться дальше.</a:t>
            </a:r>
            <a:br/>
            <a:br/>
            <a:r>
              <a:t>В автономном транспорте provider — это не пилот за сотню тысяч долларов. Это компания, которая до банкротства сожгла один-десять миллиардов долларов. Соотношение — AV-индустрия в тысячи или десятки тысяч раз дороже на единичный failure.</a:t>
            </a:r>
            <a:br/>
            <a:br/>
            <a:r>
              <a:t>Pedagogical point. AV-индустрия исторически — это capital-intensive, slow, brutally Darwinian рынок. Из тридцати+ серьёзных AV-стартапов 2015-2020 выжили три-четыре. Waymo, Aurora, Mobileye в режиме eyes-off L3, Apollo Go в Китае. Это означает survivor consolidation десять-к-одному или хуже.</a:t>
            </a:r>
            <a:br/>
            <a:br/>
            <a:r>
              <a:t>Lesson для инженера. Когда вы оцениваете AV-стартап как потенциального работодателя или партнёра — спрашивайте не «технически крутая ли технология», а «business model работает ли через unit economics? сколько capital сожжено к выручке? есть ли survivor pattern (crawl-walk-run, narrow ODD, не overpromise)?»</a:t>
            </a:r>
            <a:br/>
            <a:br/>
            <a:r>
              <a:t>И главное — этот слайд не doom-аргумент против AV в целом. Aurora запустила коммерческие операции в мае 2025. Waymo делает полмиллиона поездок в неделю. Apollo Go — двести сорок миллионов километров глобально. Survivors работают, и они доказали свою бизнес-модель. Просто их меньше, чем казалось в 2018-2020 году.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я хочу подытожить два слайда подряд про non-survivors одной мыслью — что отличало выживших от не выживших.</a:t>
            </a:r>
            <a:br/>
            <a:br/>
            <a:r>
              <a:t>Survivors. Waymo. Aurora. Mobileye. Apollo Go в Китае. Это три-четыре компании из более чем тридцати серьёзных AV-стартапов 2015-2020 годов.</a:t>
            </a:r>
            <a:br/>
            <a:br/>
            <a:r>
              <a:t>Что Waymo делает правильно. Crawl-walk-run. Они начали в Фениксе с одним городом, потом расширили в Сан-Франциско, потом Лос-Анджелес, потом Остин и так далее. Каждое расширение — отдельный отработанный ODD. HD-карта плюс лидар плюс камеры плюс удалённые операторы — full stack без compromises. Patient capital Alphabet — Alphabet не торопит Waymo на квартальный profit.</a:t>
            </a:r>
            <a:br/>
            <a:br/>
            <a:r>
              <a:t>Aurora — то же самое. Один маршрут Даллас-Хьюстон, отработанный годами, потом driverless commercial май 2025. Не «replacing all truckers by 2025». Не «1000 trucks deployed». Десять машин на одном маршруте. Crawl-walk-run.</a:t>
            </a:r>
            <a:br/>
            <a:br/>
            <a:r>
              <a:t>Mobileye — другая ставка, потребительская модель. Camera-first ADAS-стек на миллион потребительских машин, потом L3 eyes-off на premium-OEM. Аккуратное движение по уровням SAE.</a:t>
            </a:r>
            <a:br/>
            <a:br/>
            <a:r>
              <a:t>Apollo Go — это китайская модель с государственной поддержкой. Двести сорок миллионов километров автономного движения глобально, семнадцать миллионов заказов, двадцать два города.</a:t>
            </a:r>
            <a:br/>
            <a:br/>
            <a:r>
              <a:t>Dropouts. Argo и Cruise — обе уперлись в одну проблему: capital intensity без revenue. Семь миллиардов и десять миллиардов соответственно. TuSimple — US-China геополитика плюс sim-to-real. Embark — SPAC bust. Waymo Via — даже бесконечный capital Alphabet не нашёл profitable model. Starsky — первая волна.</a:t>
            </a:r>
            <a:br/>
            <a:br/>
            <a:r>
              <a:t>Survivor pattern — это пять признаков. Crawl-walk-run. Narrow ODD. Не overpromise. Patient capital. Уважение к среде.</a:t>
            </a:r>
            <a:br/>
            <a:br/>
            <a:r>
              <a:t>Это важный инженерный lesson. Survivor pattern — не алгоритмическое превосходство. Все survivors используют похожие сенсорные стеки и похожие ML-подходы. Survivor pattern — это дисциплина ODD plus business model дисциплина plus культурная установка инженерного смирения.</a:t>
            </a:r>
            <a:br/>
            <a:br/>
            <a:r>
              <a:t>Cruise vs Waymo. Обоим тот же стек. Но Waymo выжил, потому что cautious в ODD expansion. Cruise разорилась, потому что нарушила собственные правила прозрачности с регулятором и одно нарушение ODD-дисциплины уничтожило восемь лет работы за двенадцать недель.</a:t>
            </a:r>
            <a:br/>
            <a:br/>
            <a:r>
              <a:t>Lesson — это lesson инженерного смирения, не arrogance.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специфический разбор одного framing'а, который часто звучит от вендоров AV-trucking. «Наш беспилотный грузовик решит дефицит дальнобойщиков».</a:t>
            </a:r>
            <a:br/>
            <a:br/>
            <a:r>
              <a:t>Цифры. ATA, American Trucking Associations — главный профессиональный союз отрасли. По их данным, дефицит водителей в США был семьдесят восемь тысяч во второй половине 2022 года. Снизился к 2023 до около шестидесяти тысяч — но Bob Costello, ATA chief economist, прокомментировал это как «for all the wrong reasons». Экономический downturn снизил спрос на грузоперевозки в целом, и часть дефицита исчезла не потому, что больше водителей появилось, а потому, что меньше грузов нужно перевозить. Структурная проблема осталась.</a:t>
            </a:r>
            <a:br/>
            <a:br/>
            <a:r>
              <a:t>Aurora коммерчески — около десяти машин на маршрутах к концу 2025. Цель к 2026-2027 году — до ста машин при оптимистичном сценарии.</a:t>
            </a:r>
            <a:br/>
            <a:br/>
            <a:r>
              <a:t>Считаем. Чтобы заменить дефицит в семьдесят восемь тысяч водителей, требуется capacity. Средний водитель проезжает примерно сто тысяч миль в год. Семьдесят восемь тысяч × сто тысяч = семь и восемь десятых миллиарда миль capacity нужно.</a:t>
            </a:r>
            <a:br/>
            <a:br/>
            <a:r>
              <a:t>Что даёт Aurora. Сто машин × сто тысяч миль в год = десять миллионов миль capacity. Это 0,13% от дефицита.</a:t>
            </a:r>
            <a:br/>
            <a:br/>
            <a:r>
              <a:t>Даже если предположить, что Aurora вырастет в тысячу раз — до ста тысяч беспилотных машин к 2030 году — это всё ещё первые тринадцать процентов дефицита. И это очень оптимистичный сценарий, потому что Aurora на середину 2026 имеет десять машин, а не тысячу.</a:t>
            </a:r>
            <a:br/>
            <a:br/>
            <a:r>
              <a:t>Math не работает. AV не решит trucker shortage на горизонте 2030 года. Это не критика технологии — Aurora делает что-то реальное, что-то commercially viable. Просто масштаб не такой, какой нужен для решения структурной проблемы.</a:t>
            </a:r>
            <a:br/>
            <a:br/>
            <a:r>
              <a:t>Что реально решает trucker shortage? Не AI. Это политика — visa programs, immigration reform, regulatory rest hours. Это переподготовка — CDL programs, government subsidies. Это условия труда — pay rates, schedule flexibility, equipment quality. По данным ATA примерно семьдесят процентов turnover вызвано pay-related или equipment-related причинами. Это job design — local short-haul versus long-haul. У long-haul водителей девяносто+ процентов годовой оборот, у local — гораздо ниже.</a:t>
            </a:r>
            <a:br/>
            <a:br/>
            <a:r>
              <a:t>Lesson для инженера. Когда вы слышите от вендора AV-trucking «мы решим дефицит водителей» — это не алгоритмическое предложение, это маркетинговый framing для investor presentation. Реальная решающая mix — это политика, экономика, условия труда, и только в перспективе долгих десятилетий — частичная автономизация магистрального транспорта.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Замыкая failure deep-dive раздела два — четыре причины, на которые рекуррентно ломаются AV-trucking стартапы. Этот чек-лист — практический инструмент для оценки.</a:t>
            </a:r>
            <a:br/>
            <a:br/>
            <a:r>
              <a:t>Первая причина — capital intensity без revenue. Argo AI и Cruise сожгли семь и десять миллиардов соответственно прежде, чем заработать значительную коммерческую выручку. Lesson для инженера или оценщика: проверять unit economics. Capital сожжённый к коммерческой выручке. Если revenue менее пяти процентов от capital — это flag.</a:t>
            </a:r>
            <a:br/>
            <a:br/>
            <a:r>
              <a:t>Вторая причина — регуляторная неопределённость. TuSimple — US-China геополитическое давление, и компания не смогла навигировать. Tesla — постоянные NHTSA investigations, EA22002, и неясность future regulatory action. Lesson: запрашивать legal team опыт. Какие SA государственно одобренные? Сколько NHTSA SGO crash reports? Что в pipeline EA-investigations?</a:t>
            </a:r>
            <a:br/>
            <a:br/>
            <a:r>
              <a:t>Третья причина — SPAC IPO bubble 2021-2022. Embark — шестнадцать месяцев от SPAC merger до банкротства. SPAC target market cap пять с шестнадцати сотых миллиарда долларов — на момент merger Embark формально стоила больше, чем десятилетние профессиональные операторы. TuSimple вышла через IPO, но рано. Lesson: не вкладывать в pre-revenue SPAC merger без пяти+ лет commercial history. Public market scrutiny убьёт hype.</a:t>
            </a:r>
            <a:br/>
            <a:br/>
            <a:r>
              <a:t>Четвёртая причина — sim-to-real gap. Starsky первым публично признал эту проблему через essay Стефана Зельц-Аксмахера в марте 2020. Но все non-survivors сталкивались с тем же — ML-стек выглядел хорошо в симуляции, но не масштабировался на public roads с edge-cases. Lesson: запрашивать ratio километров в симуляции к километрам на public roads. Если только sim — серьёзный red flag.</a:t>
            </a:r>
            <a:br/>
            <a:br/>
            <a:r>
              <a:t>Эти четыре причины — взаимосвязанные. SPAC-bust 2021-2022 ускорил capital exit. Sim-to-real гэп замедлил commercial deployment. Это снизило revenue, что увеличило capital burn ratio. Что притянуло регуляторное scrutiny. И так замкнулся круг.</a:t>
            </a:r>
            <a:br/>
            <a:br/>
            <a:r>
              <a:t>И обратно к survivors — Waymo, Aurora, Mobileye применяют crawl-walk-run против всех четырёх причин. Многолетние safety-operator километры до driverless. Conservative ODD expansion. Не SPAC merger (Aurora через SPAC, но с longer history). Honesty о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слайд — короткая остановка на одной цитате, которая, на мой взгляд, лучше всего обобщает уроки autonomous-trucking failures 2020-2024 годов.</a:t>
            </a:r>
            <a:br/>
            <a:br/>
            <a:r>
              <a:t>Стефан Зельц-Аксмахер был основателем и CEO Starsky Robotics, autonomous-trucking стартапа, основанного в 2015 году. К марту 2020 компания закрылась, сожгла примерно двести миллионов долларов capital. И Зельц-Аксмахер написал откровенное эссе на Medium под названием «The end of Starsky Robotics» как post-mortem.</a:t>
            </a:r>
            <a:br/>
            <a:br/>
            <a:r>
              <a:t>Главная цитата. «Supervised machine learning doesn't live up to the hype. Sim-to-real has very real limits». Supervised машинное обучение не оправдывает ожиданий. Sim-to-real имеет реальные пределы.</a:t>
            </a:r>
            <a:br/>
            <a:br/>
            <a:r>
              <a:t>Контекст. Старски была первой волной жертв. За два года до Argo, за три года до Embark и TuSimple. И Зельц-Аксмахер был первым, кто публично, на собственном имени, открыто признал технический гэп. До этого индустрия рассказывала, что вот-вот, через год-полтора, всё заработает.</a:t>
            </a:r>
            <a:br/>
            <a:br/>
            <a:r>
              <a:t>Три урока из эссе. Первый — supervised ML не оправдывает ожиданий. ML-стеки выглядели хорошо в demo, но edge-cases не масштабировались. Каждый новый edge-case требовал новых labeled данных. А получить эти данные требовало миллионов километров public roads, что требовало денег, которых на pre-revenue scale нет.</a:t>
            </a:r>
            <a:br/>
            <a:br/>
            <a:r>
              <a:t>Второй — sim-to-real имеет реальные пределы. Симуляция полезна для определённых классов задач, но она не покрывает long-tail. ML-модель, обученная только на симулированных сценариях, плохо обобщает на public roads.</a:t>
            </a:r>
            <a:br/>
            <a:br/>
            <a:r>
              <a:t>Третий — большие deal'ы с большими floтами не материализуются на pre-revenue scale. Грузоперевозчики — это консервативный customer. Они не покупают untested стек прежде, чем увидят production-history.</a:t>
            </a:r>
            <a:br/>
            <a:br/>
            <a:r>
              <a:t>Pedagogical point. Зельц-Аксмахер — это first-wave casualty с honest first-person post-mortem. Это редкий тип источника, потому что большинство founder'ов закрывают компании без публичных post-mortems. Когда вы — будущие инженеры — видите такое эссе — читайте внимательно. Это самый ценный тип источника о failure modes индустрии. Я рекомендую вам, после лекции, найти и прочитать «The end of Starsky Robotics» полностью. Это short read — около десяти-пятнадцати минут — и он даст вам интуицию об одной из главных причин, почему вся первая волна autonomous-trucking стартапов провалилась.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Waymo — это canonical survivor robotaxi на 2026 год. Я хочу остановиться на цифрах и стеке, потому что это компания, которая работает.</a:t>
            </a:r>
            <a:br/>
            <a:br/>
            <a:r>
              <a:t>Цифры на март 2026. Пятьсот тысяч платных поездок в неделю. Три тысячи шестьдесят семь машин пятого поколения, по NHTSA disclosure декабря 2025. Десять+ городов: Phoenix, San Francisco, Los Angeles, Austin, Atlanta, Miami, Dallas, Houston, San Antonio, Orlando. Кумулятивно за 2025 год — четырнадцать миллионов поездок.</a:t>
            </a:r>
            <a:br/>
            <a:br/>
            <a:r>
              <a:t>И рост — в десять раз за девятнадцать месяцев. Май 2024 года — пятьдесят тысяч поездок в неделю. Декабрь 2025 — четыреста пятьдесят тысяч. Март 2026 — около пятисот тысяч. Это серьёзный коммерческий scale.</a:t>
            </a:r>
            <a:br/>
            <a:br/>
            <a:r>
              <a:t>Стек Waymo — full-sensor approach без compromises. HD-карта с точностью около десяти сантиметров — это означает, что Waymo заранее знает геометрию каждой улицы, каждой разметки, каждого светофора. LiDAR — основной 3D-сенсор. Камеры — RGB perception. Радар — secondary sensor для weather robustness. И удалённые операторы — human override в edge-cases. Важно: удалённые операторы не «driving» машину дистанционно, а assistance — даёт advice в сложных ситуациях, машина сама исполняет.</a:t>
            </a:r>
            <a:br/>
            <a:br/>
            <a:r>
              <a:t>И ещё — формальное обоснование безопасности, formal safety case. Это регуляторно проверяемый документ, который Waymo публикует периодически. Это часть культуры компании — engineering rigour, не PR.</a:t>
            </a:r>
            <a:br/>
            <a:br/>
            <a:r>
              <a:t>Что Waymo не публикует. Прибыльность на одну поездку. Компания не отчитывается публично. Это означает либо «still negative», либо «not disclosed for competitive reasons». Любой sceptic считает первое — что Waymo на 2026 год всё ещё имеет negative unit economics. Это важно держать в голове, потому что operational scale Waymo впечатляющий, но unit economics ещё не доказана.</a:t>
            </a:r>
            <a:br/>
            <a:br/>
            <a:r>
              <a:t>Survivor pattern Waymo — это пять признаков. Crawl-walk-run — начали в Phoenix, потом SF, потом LA, потом каждый новый город — отдельный отработанный ODD. Patient capital Alphabet — Alphabet не торопит Waymo на квартальный profit. Narrow ODD expansion — каждое новое lane или новый город требует extensive валидации. Не overpromise — никаких «один миллион robotaxi by 2024», никаких «replacing all taxi drivers». И уважение к среде — городская улица хрупкая, и Waymo это понимает.</a:t>
            </a:r>
            <a:br/>
            <a:br/>
            <a:r>
              <a:t>Pedagogical point. Waymo выжил по тем же причинам, по которым Aurora выжила в trucking — crawl-walk-run, narrow ODD, не overpromise, patient capital. Это не алгоритмическое превосходство. Cruise использовал похожий стек, но нарушила ODD-дисциплину и обанкротилась.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Параллельно с Waymo в Китае развиваются три крупных robotaxi-программ: Apollo Go от Baidu, Pony.ai и WeRide.</a:t>
            </a:r>
            <a:br/>
            <a:br/>
            <a:r>
              <a:t>Apollo Go — это сегмент Baidu, одного из главных tech-компаний Китая. На октябрь 2025 года — двести сорок миллионов автономных километров глобально. Семнадцать миллионов+ заказов. Двадцать два города. Wuhan, Beijing, Shenzhen, Shanghai и другие. Это серьёзный коммерческий scale в Китае.</a:t>
            </a:r>
            <a:br/>
            <a:br/>
            <a:r>
              <a:t>Goldman Sachs прогнозирует, что China robotaxi market — это в семьсот раз рост от 2025 к 2035, с целью сорок семь миллиардов долларов к 2035. Это volatile prediction, его надо проверять перед каждой лекцией. Но даже скептический взгляд на эти числа — это означает китайский рынок robotaxi будет двух- или трёх-кратно крупнее американского по числу trips.</a:t>
            </a:r>
            <a:br/>
            <a:br/>
            <a:r>
              <a:t>Pony.ai. Это другой китайский игрок. Триста машин Gen-7 BAIC к октябрю 2025, цель — тысяча к концу 2025 года.</a:t>
            </a:r>
            <a:br/>
            <a:br/>
            <a:r>
              <a:t>И вот тут — важный пункт, который я хочу подчеркнуть особенно. В ноябре 2025 года Pony.ai сообщила о первом городе с положительной operating profit на машину — это Гуанчжоу. В феврале 2026 — второй такой город, Шэньчжэнь. Это не означает, что Pony.ai в целом прибыльная компания — это означает, что в отдельных городах удельная экономика на парк per-vehicle стала положительной. Это первый сигнал, что robotaxi может выйти из режима венчурного жжения и стать sustainable business model. Это важный milestone.</a:t>
            </a:r>
            <a:br/>
            <a:br/>
            <a:r>
              <a:t>WeRide — третий из китайской тройки. Q3 2025 robotaxi revenue тридцать пять с тремя десятыми миллиона юаней, рост семьсот шестьдесят один процент год к году.</a:t>
            </a:r>
            <a:br/>
            <a:br/>
            <a:r>
              <a:t>Что отличает китайскую модель от американской. Государственная координация в большей мере. Dedicated robotaxi-зон. Унифицированная регуляторика на национальном уровне — не state-by-state patchwork как в США.</a:t>
            </a:r>
            <a:br/>
            <a:br/>
            <a:r>
              <a:t>И ещё одно. Goldman Sachs прогнозирует, что Китай может обогнать США по числу robotaxi trips к 2030 году. Это означает, что AV-индустрия глобально не моноцентрична, и у инженера в РФ есть смысл следить и за американскими, и за китайскими развитиями. Российский контекст здесь — это другой сегмент. Yandex SDG до 2024 года был российским robotaxi-игроком, но был вынужден сделать спин-аут в нероссийскую компанию Avride под голландской parent Nebius Group из-за санкций.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 хочу остановиться на одной важной детали, потому что в коммерческой прессе её часто путают.</a:t>
            </a:r>
            <a:br/>
            <a:br/>
            <a:r>
              <a:t>В ноябре 2025 года Pony.ai сообщила о первом городе с положительной operating profit на машину. Этот город — Гуанчжоу. Не Шэньчжэнь. В феврале 2026 года Pony.ai сообщила о втором таком городе — Шэньчжэне. Это важная последовательность, и её правильная атрибуция нужна для аккуратного разбора кейса.</a:t>
            </a:r>
            <a:br/>
            <a:br/>
            <a:r>
              <a:t>Что эти числа означают. Удельная экономика на парк per-vehicle в отдельных городах стала положительной. В Шэньчжэне Pony.ai отчитывалась о приблизительно тристах тридцати восьми юанях daily net income per vehicle, при двадцати трёх заказах в день per vehicle. Это per SEC 6-K filing Pony.ai. Это означает, что машина приносит больше чем стоит её эксплуатация ежедневно. Operating profit per vehicle — положительная.</a:t>
            </a:r>
            <a:br/>
            <a:br/>
            <a:r>
              <a:t>Что эти числа НЕ означают. Они не означают, что Pony.ai как компания прибыльна. R&amp;D investments, маркетинг, общекорпоративные расходы — всё это не покрыто unit-экономикой на двух или трёх городах. Чтобы стать прибыльной компанией в целом, нужен scale 10+ городов одновременно.</a:t>
            </a:r>
            <a:br/>
            <a:br/>
            <a:r>
              <a:t>И они не означают, что весь сегмент robotaxi прибылен. Waymo вообще не публикует свой per-trip profit. Apollo Go не выделяет robotaxi-сегмент в отдельную отчётность Baidu. Это означает либо большие internal cross-subsidies, либо negative unit economics, либо «not disclosed».</a:t>
            </a:r>
            <a:br/>
            <a:br/>
            <a:r>
              <a:t>Pedagogical point. Это важный milestone — первый сигнал, что robotaxi может выйти из режима венчурного жжения. Но это не magic pill. Чтобы стать прибыльной, Pony.ai нужно повторить pattern в десяти+ городах и масштабировать одновременно с снижением R&amp;D и капитальных вложений.</a:t>
            </a:r>
            <a:br/>
            <a:br/>
            <a:r>
              <a:t>Контраст с Waymo. Waymo не публикует per-trip unit economics. На 2026 год — большая чёрная коробка. Pony.ai публикует per-city unit economics через SEC filings, потому что Pony.ai — public company на NYSE. Различие — не алгоритмическое, это разные disclosure режимы public companies.</a:t>
            </a:r>
            <a:br/>
            <a:br/>
            <a:r>
              <a:t>Lesson для инженера. Когда вы анализируете robotaxi business model — всегда требуйте per-vehicle и per-trip unit economics. Если поставщик показывает только «total revenue growth» — это red flag. Real success metric — это положительная operating profit per vehicle при scale в десятки городов.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Tesla Robotaxi Austin — это самая текущая (на середину 2026 года) разработка. Я хочу быть аккуратным с этим кейсом, потому что Tesla — компания с большим следом ошибок (Autopilot, задержки Cybertruck и т. д.), но это не означает, что Tesla Robotaxi обречена. Просто на 2026 год есть слишком мало данных для серьёзного вывода о безопасности.</a:t>
            </a:r>
            <a:br/>
            <a:br/>
            <a:r>
              <a:t>**Хронология.** Двадцать второго июня 2025 года — старт Robotaxi в Остине с примерно десятью машинами и наблюдателем безопасности в кабине. Декабрь 2025 — тесты без операторов, где сотрудники Tesla выступали в роли водителей. Январь 2026 — публичный неконтролируемый режим. Февраль 2026 — четырнадцать ДТП в Остине зарегистрировано за восемь месяцев эксплуатации, при примерно семистах тысяч-восьмистах тысячах платных миль совокупно. Март 2026 — расширение в центр Остина. Апрель 2026 — неконтролируемый режим в Хьюстоне и Далласе.</a:t>
            </a:r>
            <a:br/>
            <a:br/>
            <a:r>
              <a:t>**Сравнение с Waymo.** Это важно — Tesla в Остине пока в тысячу раз меньше Waymo по объёму. Семьсот тысяч миль совокупно vs Waymo десять миллионов миль в неделю. Это означает, что размер выборки слишком мал для серьёзного вывода о безопасности. Tesla 14 ДТП за восемь месяцев — это может быть «лучше Waymo», «хуже Waymo», «сравнимо с Waymo» — мы не знаем, потому что объём выборки разный на три порядка.</a:t>
            </a:r>
            <a:br/>
            <a:br/>
            <a:r>
              <a:t>**Стек Tesla.** Только-зрение, без LiDAR, без HD-карты. Это философская ставка. Tesla верит, что сквозной только-зрение-стек достаточен для L4-robotaxi. Waymo использует противоположный подход — многосенсорный стек плюс HD-карта. На 2026 год статистически не доказано, кто прав.</a:t>
            </a:r>
            <a:br/>
            <a:br/>
            <a:r>
              <a:t>**Что Маск обещает.** «We robotaxi everywhere by end of 2026», цитата из октября 2024 года на мероприятии «We, Robot». На середину 2026 года Tesla в Остине + Хьюстоне + Далласе, не «везде». Это паттерн Tesla — переобещание по срокам, но иногда реализация подтягивается (Tesla Model 3 ramp 2018-2019 был с задержками, но потом серийный продукт).</a:t>
            </a:r>
            <a:br/>
            <a:br/>
            <a:r>
              <a:t>**Педагогический смысл.** Я хочу, чтобы вы вышли из этого слайда с тремя мыслями. Первая — не утверждать, что Tesla провалится. Это не подтверждено. Размер выборки мал. Вторая — не утверждать, что Tesla безопаснее Waymo. Это не подтверждено. Ставка «только-зрение» статистически не доказана. Третья — критическая оценка требует трёх лет данных при сравнимом пробеге. На 2026 год — слишком рано для серьёзного вывода.</a:t>
            </a:r>
            <a:br/>
            <a:br/>
            <a:r>
              <a:t>**Урок для инженера.** Когда вендор показывает «X ДТП на Y миль» — спрашивайте про знаменатель (количество миль) и про базовую линию (что было бы у водителя-человека или у конкурента при том же объёме). 14 ДТП на 800K миль — это много или мало? Без базовой линии нельзя сказать. Водитель-человек в США имеет примерно 1 смертельный случай на 100 миллионов миль, и около 200 аварий (всех типов) на 100 миллионов миль. Tesla 14 на 800K — пересчитайте на 100 миллионов миль и сравните с базовой линией. Получите грубую оценку.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Last-mile — это уровень четыре лестницы среды. Тротуар вместо проезжей части, кампусы вместо улиц, пригороды вместо центра города, дрон над крышами.</a:t>
            </a:r>
            <a:br/>
            <a:br/>
            <a:r>
              <a:t>Я пройду по четырём кейсам и одному pivot.</a:t>
            </a:r>
            <a:br/>
            <a:br/>
            <a:r>
              <a:t>Starship Technologies. Девять миллионов автономных доставок к 2025 году. Более двух тысяч семисот роботов на дорогах. Шестьдесят+ университетских кампусов в США + сто пятьдесят локаций суммарно. Где работает — на университетских кампусах. Это narrow controlled environment: ограниченная территория, известная инфраструктура, friendly user base. Где не масштабируется — в dense urban. Снег застревает роботов, vandalism, package handoff issues (робот не может передать пакет получателю без человека).</a:t>
            </a:r>
            <a:br/>
            <a:br/>
            <a:r>
              <a:t>Coco Robotics. Более тысячи роботов в Лос-Анджелесе. Пятьсот тысяч+ доставок. Цель — десять тысяч роботов при географическом расширении. Coco работает в специфическом контексте — LA suburban + Dallas + Miami + Helsinki + Chicago.</a:t>
            </a:r>
            <a:br/>
            <a:br/>
            <a:r>
              <a:t>Zipline. Это самая впечатляющая last-mile история. Сто миллионов автономных миль на март 2025 года. Два миллиона коммерческих доставок на январь 2026. Двадцать два миллиона доз вакцин в Африке кумулятивно. Семь и шесть десятых миллиарда долларов valuation, сто пятьдесят миллионов партнёрство с US State Department в ноябре 2025 года. Где работает — medical Africa. Strong emotional pull (lifesaving), narrow ODD (delivery between hospitals и clinics), regulatory openness (Африка имеет более гибкое drone regulation, чем США).</a:t>
            </a:r>
            <a:br/>
            <a:br/>
            <a:r>
              <a:t>Nuro — четвёртый кейс, и это pivot. До 2023-2024 года Nuro была B2C delivery компанией — small autonomous pod роботы доставляли еду и товары в suburban США. В 2024 году exit B2C delivery, pivot к лицензированию autonomous-стека OEM. Lesson — B2C delivery не оказался прибыльным в American urban context. Даже well-funded стартап с хорошей technology выходит, когда unit economics не работает.</a:t>
            </a:r>
            <a:br/>
            <a:br/>
            <a:r>
              <a:t>Pedagogical point. Sidewalk robots — узкие ниши. Не universal solution. Drone medical Africa растёт быстро — Zipline единственный proven mass-deployment. Drone urban US — заблокирован FAA Part 107 + acoustic concerns + neighborhood opposition. Nuro pivot — caveat, что даже well-funded стартапы выходят из B2C-delivery, когда unit economics не работает.</a:t>
            </a:r>
            <a:br/>
            <a:br/>
            <a:r>
              <a:t>Last-mile в США — это не «миллион дронов в небе through every metro» как обещали маркетологи в 2018-2020 годах. Это narrow niches с slow growth. Реальный driver уровня четыре — это медицинский (Zipline) и кампусный (Starship). Всё остальное — пилоты, которые могут или не могут масштабироваться.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Cruise GM exit — это centerpiece раздела три. Я хочу остановиться на три с половиной минуты, потому что этот кейс собирает все уроки лекции в одном месте.</a:t>
            </a:r>
            <a:br/>
            <a:br/>
            <a:r>
              <a:t>Timeline. В 2016 году GM купила Cruise за миллиард+ долларов. С 2018 по 2022 — extensive funding, рост ODD от Phoenix к Phoenix плюс Сан-Франциско, потом multi-city. Cruise делал driverless ночные смены в SF к 2023 году, хотя только в очень ограниченной географии.</a:t>
            </a:r>
            <a:br/>
            <a:br/>
            <a:r>
              <a:t>Второго октября 2023 года произошёл incident в Сан-Франциско. Cruise robotaxi после столкновения пешехода с другим автомобилем — не Cruise — протянул пострадавшую около двадцати футов, вместо немедленной остановки. Это технический failure — Cruise Observe-стек сработал, увидел пешехода, но Decide-логика дала инструкцию «pull over», и в контексте «пешеход под машиной» эта инструкция оказалась катастрофической. Это provал второй стадии OODA-цикла из Лекции 9.</a:t>
            </a:r>
            <a:br/>
            <a:br/>
            <a:r>
              <a:t>Двадцать четвёртого октября 2023 — California DMV отозвал лицензию Cruise. Важно: DMV отозвал лицензию не только за сам инцидент, а за coverup. Cruise представила инцидент DMV менее severely, чем он был. DMV это обнаружил позже через independent investigation.</a:t>
            </a:r>
            <a:br/>
            <a:br/>
            <a:r>
              <a:t>Late 2023 — mass layoffs, freezing operations. Cruise сократил большую часть персонала и заморозил most operations.</a:t>
            </a:r>
            <a:br/>
            <a:br/>
            <a:r>
              <a:t>Декабрь 2024 — GM объявила полный exit. Десять+ миллиардов operating losses кумулятивно за восемь лет. Менее пятисот миллионов revenue. Соотношение двадцать к одному.</a:t>
            </a:r>
            <a:br/>
            <a:br/>
            <a:r>
              <a:t>Цифры. Десять+ миллиардов сожжено. Менее пятисот миллионов выручки. На каждый доллар выручки сожжено двадцать долларов капитала. Это unit economics failure высочайшего порядка.</a:t>
            </a:r>
            <a:br/>
            <a:br/>
            <a:r>
              <a:t>Четыре уровня failure pattern. Технический — provал второй стадии OODA. Business model — capital intensity без revenue. Regulatory and trust — нарушение transparency. Cultural and organizational — GM-Cruise hybrid culture misalignment.</a:t>
            </a:r>
            <a:br/>
            <a:br/>
            <a:r>
              <a:t>Lesson. Это не «один инцидент уничтожил Cruise». Это «один инцидент плюс DMV trust violation» уничтожил Cruise. Если бы Cruise были honest с DMV, то incident мог быть остаточным происшествием, после которого Cruise мог бы recover. Но coverup был последней капля.</a:t>
            </a:r>
            <a:br/>
            <a:br/>
            <a:r>
              <a:t>Survivor pattern vs Cruise pattern. Waymo делает crawl-walk-run. Cruise делала rapid ODD expansion ради IPO timeline и нарушение transparency с регулятором. Один dragging incident плюс trust violation = killing program. Это lesson инженерной этики, а не алгоритмическая ошибка.</a:t>
            </a:r>
            <a:br/>
            <a:br/>
            <a:r>
              <a:t>Это lesson для вас — будущих инженеров. Когда вы работаете в технологической компании с regulator interaction — transparency с регулятором это не PR-вопрос. Это структурный survival вопрос. Cruise могла бы быть жива, если бы её leadership понимал это.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Uber Tempe 2018 — это первая жертва беспилотного автомобиля в истории. Это самый важный кейс по безопасности в AV-индустрии, и я хочу остановиться на два с половиной минут, потому что отчёт NTSB HAR-19/03 — это канонический регуляторный источник.</a:t>
            </a:r>
            <a:br/>
            <a:br/>
            <a:r>
              <a:t>**Факты.** Восемнадцатого марта 2018 года, примерно в десять вечера, в Tempe, Arizona, погибла Элейн Хёрцберг — сорок девять лет. Она пересекала дорогу с велосипедом вне пешеходного перехода. Uber Volvo XC90 со скоростью около сорока миль в час ударил её. Безопасный водитель был на борту, но не следила за дорогой.</a:t>
            </a:r>
            <a:br/>
            <a:br/>
            <a:r>
              <a:t>**Что технически произошло.** Камера Uber обнаружила пешехода пять и шесть десятых секунды до удара. Это означает — восприятие работало, объект был обнаружен. Но классификатор восприятия провалился — не классифицировал объект как пешехода. Хёрцберг была вне пешеходного перехода и с велосипедом, что попадало во вне-распределения для тренировочных данных Uber. Модель видела «что-то», но не понимала, что это пешеход, и не запустила аварийный ответ.</a:t>
            </a:r>
            <a:br/>
            <a:br/>
            <a:r>
              <a:t>**Намеренное отключение AEB.** Uber отключил заводское автоматическое экстренное торможение на Volvo XC90. Не от забывчивости — Uber делал это намеренно, чтобы избежать конфликтующих вмешательств с собственным стеком восприятия. Это означает, что когда стек Uber провалил классификацию пешехода, заводское AEB тоже не сработало, потому что было отключено.</a:t>
            </a:r>
            <a:br/>
            <a:br/>
            <a:r>
              <a:t>**И резервный водитель** — она смотрела Hulu, телевизионное шоу, во время инцидента. Не следила за дорогой.</a:t>
            </a:r>
            <a:br/>
            <a:br/>
            <a:r>
              <a:t>**Отчёт NTSB HAR-19/03** цитирует две важные вещи. Первая: «Деактивация Uber ATG системы автоматического экстренного торможения увеличила риски, связанные с испытаниями автоматизированных автомобилей на дорогах общего пользования». Деактивация AEB увеличила риски. Вторая: «Недостаточная культура безопасности Uber и недостаточные процедуры оценки рисков безопасности были названы факторами». Недостаточная культура безопасности цитировалась как фактор.</a:t>
            </a:r>
            <a:br/>
            <a:br/>
            <a:r>
              <a:t>**Резервный водитель** — признала вину в создании опасности в 2023 году, три года испытательного срока. Uber как корпорация — никаких уголовных обвинений, но урегулировал с семьёй Хёрцберг.</a:t>
            </a:r>
            <a:br/>
            <a:br/>
            <a:r>
              <a:t>**Урок 1 — ODD критичен.** Смещение тренировочных данных на пешеходов вне пешеходного перехода — классификатор восприятия не обобщался. Урок: всегда расширять обучающую выборку до полного распределения поведения пешеходов, включая краевые случаи.</a:t>
            </a:r>
            <a:br/>
            <a:br/>
            <a:r>
              <a:t>**Урок 2 — никогда не отключать заводские системы безопасности.** Анти-паттерн. Если стек Uber конфликтовал с заводским AEB Volvo, это означает, что стек Uber недостаточно качественный. Решение — поднять качество стека Uber, не отключать заводское.</a:t>
            </a:r>
            <a:br/>
            <a:br/>
            <a:r>
              <a:t>**Урок 3 — внимание оператора безопасности ненадёжно.** Литература по человеческим факторам показывает, что водители теряют бдительность в режиме до полной автономии за десять-пятнадцать минут. Это не вина водителя, это структурная характеристика человеческого внимания. Урок — одного оператора безопасности недостаточно для тестов на дорогах общего пользования.</a:t>
            </a:r>
            <a:br/>
            <a:br/>
            <a:r>
              <a:t>**Урок 4 — культура безопасности организации значит.** Uber ATG имела недостаточную культуру безопасности по NTSB. Урок — инженерная культура, не алгоритмы, определяет реальный профиль безопасности AV-программы.</a:t>
            </a:r>
            <a:br/>
            <a:br/>
            <a:r>
              <a:t>**Институциональное наследие.** Этот кейс стал фундаментом для NHTSA Standing General Order on Crash Reporting, который сейчас обязывает всех AV-операторов в США отчитываться об авариях. Это институциональное наследие от смерти Элейн Хёрцберг.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Tesla Autopilot — это самая масштабная история о безопасности в AV-индустрии. На середину 2025 года в базе NHTSA SGO зафиксировано шестьдесят пять сообщений, пятьдесят четыре подтверждённых смертельных случая, связанных с Tesla Autopilot или Full Self-Driving.</a:t>
            </a:r>
            <a:br/>
            <a:br/>
            <a:r>
              <a:t>**EA22002 — расследование NHTSA.** NHTSA открыл его в 2022 году специфически для Tesla Autopilot. Главный вопрос — достаточны ли мониторинг водителя и система предупреждений. Расследование выявило тринадцать смертельных аварий с паттерном предсказуемого неправильного использования. Предсказуемое неправильное использование — это концепт из инженерных стандартов. Если пользователь использует продукт способом, который дизайнер мог предвидеть, и это приводит к смертельным случаям, это — структурная проблема дизайна, не индивидуальная вина пользователя.</a:t>
            </a:r>
            <a:br/>
            <a:br/>
            <a:r>
              <a:t>**Паттерн, идентифицированный NHTSA.** Водители используют Autopilot в условиях, для которых он не предназначен. Чтобы спать. Чтобы читать. Чтобы выполнять не-водительские задачи. И Autopilot не обнаруживает это и не выходит из автоматического режима достаточно надёжно.</a:t>
            </a:r>
            <a:br/>
            <a:br/>
            <a:r>
              <a:t>**Расширение в 2024.** NHTSA расширил охват данных SGO на аварии в условиях пониженной видимости. Это конкретный паттерн — Autopilot имеет более высокую частоту аварий в условиях с засветкой от солнца, туманом, ночью без уличных огней, рядом с припаркованными аварийными автомобилями (мигалки полиции сбивают восприятие).</a:t>
            </a:r>
            <a:br/>
            <a:br/>
            <a:r>
              <a:t>**Новое расследование 2025.** Открыто на примерно двух миллионах девятистах тысячах Tesla. Это шире, чем EA22002, и включает дополнительные категории.</a:t>
            </a:r>
            <a:br/>
            <a:br/>
            <a:r>
              <a:t>**Урок 1 — наименование значит.** «Autopilot» и «Full Self-Driving» приглашают к избыточному доверию. Водитель видит название «Pilot» и думает, что машина управляет, как авиационный автопилот — то есть автономно. В реальности Autopilot — это L2 ADAS, который требует внимания водителя 100% времени.</a:t>
            </a:r>
            <a:br/>
            <a:br/>
            <a:r>
              <a:t>**Урок 2 — мониторинг водителя обязателен.** Не опционален. И не просто камера-смотрит-на-лицо — это реальная проверка вовлечённости, которая обнаруживает, когда водитель отвлёкся, и вмешивается.</a:t>
            </a:r>
            <a:br/>
            <a:br/>
            <a:r>
              <a:t>**Урок 3 — краевые случаи в восприятии.** Засветка от солнца, припаркованные аварийные автомобили, пониженная видимость — это сдвиг распределения в реальных условиях, который не покрывается тренировочными данными.</a:t>
            </a:r>
            <a:br/>
            <a:br/>
            <a:r>
              <a:t>**Урок 4 — только-зрение без HD-карты.** Это пока стадия исследования для L4. Waymo HD-карта + LiDAR + удалённые операторы + формальное обоснование безопасности — доказанный паттерн. Tesla только-зрение — пока не доказан на сравнимом пробеге и базе безопасности.</a:t>
            </a:r>
            <a:br/>
            <a:br/>
            <a:r>
              <a:t>**Статистическое сравнение.** Пятьдесят четыре смертельных случая на примерно семьдесят миллионов миль работы Autopilot — это экстраполяция раскрытий Tesla, может быть предметом верификации. Если мы пересчитываем на 100 миллионов миль базы — это получается на порядок выше, чем человеческая базовая линия (один смертельный случай на сто миллионов миль).</a:t>
            </a:r>
            <a:br/>
            <a:br/>
            <a:r>
              <a:t>Это означает — Autopilot не безопаснее водителя-человека на статистически значимой базе. PR-материалы вендора утверждают обратное, но независимые раскрытия NHTSA показывают структурный паттерн.</a:t>
            </a:r>
            <a:br/>
            <a:br/>
            <a:r>
              <a:t>**Урок для инженера.** Когда вендор показывает статистику типа «Autopilot is X% safer than human driver» — проверяйте знаменатель, базовую линию и источник. Tesla сама публикует Tesla Vehicle Safety Report, но он использует собственное определение «миля в Autopilot» и сравнивает с человеческими смертельными случаями на ВСЕХ милях, не на сравнимых хайвейных милях. Это сравнение яблок с апельсинами.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Замыкая failure deep-dive раздела три — четыре урока городского AV, которые суммируют Cruise / Uber / Tesla кейсы.</a:t>
            </a:r>
            <a:br/>
            <a:br/>
            <a:r>
              <a:t>Первый урок — ODD дисциплина критична. Cruise — главный пример. Rapid ODD expansion в SF без extensive валидации ночных смен. Uber Tempe — другой пример. Training data bias на pedestrians вне crosswalk означал, что Hertzberg в её специфической ситуации была за пределами effective ODD. Lesson — при оценке AV-программы: какой ODD? Какие условия за пределами? Какой процесс validation для new ODD expansion?</a:t>
            </a:r>
            <a:br/>
            <a:br/>
            <a:r>
              <a:t>Второй урок — driver-monitoring обязателен. Tesla Autopilot — пятьдесят четыре fatalities NHTSA. EA22002 — тринадцать fatal crashes с foreseeable misuse. Lesson — при L2 и L3 systems — реальный engagement check, не просто camera looking at face. Что система делает при distracted driver? Это структурный design question.</a:t>
            </a:r>
            <a:br/>
            <a:br/>
            <a:r>
              <a:t>Третий урок — naming matters. Tesla назвала L2 ADAS «Autopilot» и «Full Self-Driving». Это приглашает over-reliance. Lesson — никогда не называть L2 ADAS «pilot», «autonomous», «self-driving», «full self-driving». Use SAE level terminology — L2, L3, L4. Тогда пользователь понимает limitations.</a:t>
            </a:r>
            <a:br/>
            <a:br/>
            <a:r>
              <a:t>Четвёртый урок — hardware ≠ платформа. Cruise — GM hardware-OEM культура vs software-platform требования. GM-Cruise hybrid culture не работала, потому что hardware OEM культура (квартальный отчёт, supply chain optimization, conservative engineering pace) не совместима с software platform требованиями (rapid iteration, accept failures in early stages, network effects, scale-first profitability-later). Lesson — это recall из Лекции 11 про GE Predix, и теперь рекуррентен в transport. Когда OEM покупает software startup — какая cultural integration plan?</a:t>
            </a:r>
            <a:br/>
            <a:br/>
            <a:r>
              <a:t>Связи между уроками. ODD и driver-monitoring — это две стороны одной coin. ODD определяет где система должна работать. Driver-monitoring определяет, что делать, когда система за пределами ODD.</a:t>
            </a:r>
            <a:br/>
            <a:br/>
            <a:r>
              <a:t>Naming и ODD — naming приглашает или препятствует ODD-дисциплине. Если пользователь думает «autopilot», он не следит за ODD-edge. Если «driver-assist», он более ответственно.</a:t>
            </a:r>
            <a:br/>
            <a:br/>
            <a:r>
              <a:t>Hardware ≠ платформа — это lesson лекции 11 (GE Predix), теперь рекуррентен в transport — Cruise GM, Argo Ford+VW. Это структурный pattern OEM-software интеграции, и он работает не только для transport.</a:t>
            </a:r>
            <a:br/>
            <a:br/>
            <a:r>
              <a:t>Эти четыре урока вы можете записать как чек-лист в кармане. При оценке любого AV-предложения от вендора — ODD дисциплина, driver-monitoring, naming, OEM-cultural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Хуситы в Красном море — это canonical black-swan example для логистики 2020-х годов. Я хочу остановиться на этом кейсе три минуты, потому что он показывает фундаментальную ограниченность ML в логистике.</a:t>
            </a:r>
            <a:br/>
            <a:br/>
            <a:r>
              <a:t>Что произошло. Хуситы — движение из Йемена — начали атаковать контейнеровозы в Красном море в конце ноября 2023 года, после геополитических событий региона. К февралю 2024 года, за два месяца, контейнерный трафик через Красное море упал на девяносто процентов.</a:t>
            </a:r>
            <a:br/>
            <a:br/>
            <a:r>
              <a:t>Числа. Daily transit trading volume — четыре миллиона метрических тонн до crisis, один и семь десятых миллиона после. Минус пятьдесят семь с половиной процентов. Прежде через Red Sea шло около пятнадцати процентов мировой морской торговли и около тридцати процентов global container traffic. Шиппинг компании rerouting на Cape of Good Hope добавляет тридцать процентов transit time для Asia-Europe маршрутов. J.P. Morgan оценил снижение effective global container capacity на девять процентов.</a:t>
            </a:r>
            <a:br/>
            <a:br/>
            <a:r>
              <a:t>Что произошло технически в ML domain. Demand forecast модели, обученные на данных 2018-2023, не имели никакого signal про Houthi disruption. Это не была bias или mis-calibration — это была complete distribution shift. Модель не «была обучена плохо» — она была обучена на distribution, которое перестало существовать.</a:t>
            </a:r>
            <a:br/>
            <a:br/>
            <a:r>
              <a:t>Шиппинг-rates вырос в три-пять раз на Asia-Europe маршрутах за два месяца. Just-in-time supply chains broke. Компании, optimized на minimum inventory — например, retailers с zero-buffer на seasonal items — оказались в shortage.</a:t>
            </a:r>
            <a:br/>
            <a:br/>
            <a:r>
              <a:t>Resilient survivors были компаниями с redundancy. Multi-source supply, не single supplier. Scenario planning капабельностью — pre-built сценариев для major disruption.</a:t>
            </a:r>
            <a:br/>
            <a:br/>
            <a:r>
              <a:t>Что НЕ работало в этой crisis. ML demand forecast полностью out-of-distribution. Optimization solvers — нет данных о новых transit times для recalibration на первой неделе. Real-time tracking данных хватало, но это symptom, не cause — мы видели где корабли, но не могли predict где должны быть.</a:t>
            </a:r>
            <a:br/>
            <a:br/>
            <a:r>
              <a:t>Что РАБОТАЛО. Человеческие диспетчеры в exception-командах Maersk, MSC, CMA CGM, Hapag-Lloyd. Реальное rerouting decisions делали люди, не модели. И scenario planning — компании, у которых были pre-built сценарии для major Red Sea disruption (на случай Iran-related или other geopolitical events), могли быстро respond. И OR с manual override — Gurobi и OR-Tools recalibrated с новыми ETAs от human dispatchers.</a:t>
            </a:r>
            <a:br/>
            <a:br/>
            <a:r>
              <a:t>Lesson — главный pedagogical point. ML по определению слеп на out-of-distribution событиях. Это не «AI плохо обучена» — это структурная характеристика любого supervised ML. На уровне пять лестницы среды правильные инструменты — это human dispatchers + scenario planning + OR. Не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 Given в Suez Canal в марте 2021 — это совершенно другой type черного лебедя по сравнению с хуситами. Я хочу остановиться на этом кейсе две минуты.</a:t>
            </a:r>
            <a:br/>
            <a:br/>
            <a:r>
              <a:t>Факты. Двадцать третьего марта 2021 года, контейнеровоз Ever Given — это огромное судно класса ULCV, четыреста метров длиной — заблокировал Suez Canal. Sand storm плюс strong winds плюс pilot decisions — и судно села на mel canal. Двенадцать процентов мировой торговли проходило через Suez. Девять и шесть десятых миллиарда долларов goods held up. CNBC estimated четыреста миллионов долларов в час delay cost. Bloomberg — около десяти миллиардов в день global economy impact.</a:t>
            </a:r>
            <a:br/>
            <a:br/>
            <a:r>
              <a:t>Шесть дней блокировки. Двадцать восьмого-двадцать девятого марта 2021 — Ever Given был re-floated.</a:t>
            </a:r>
            <a:br/>
            <a:br/>
            <a:r>
              <a:t>Что важно для лекции — это разный type черного лебедя от хуситов. Хуситы — это геополитическая disruption, имеющая ML implications через demand forecast. Suez Ever Given — это purely physical infrastructure incident. AI не имела никакой роли — ни в incident itself, ни в решении.</a:t>
            </a:r>
            <a:br/>
            <a:br/>
            <a:r>
              <a:t>Что помогло разблокировать. Tug boats — десять+ морских буксиров. Dredging — engineering teams extract sand около носа судна. Lunar tide — высокий прилив 28-29 марта 2021 позволил re-floating с less force needed. И cumulative effort пять с половиной дней — engineering teams worked twenty-four-seven.</a:t>
            </a:r>
            <a:br/>
            <a:br/>
            <a:r>
              <a:t>Это всё — engineering, не AI. Нет здесь ML demand forecast, который бы помог. Нет здесь optimization solver. Нет здесь computer vision. Это физика, гидродинамика, координация людей, инженерная работа.</a:t>
            </a:r>
            <a:br/>
            <a:br/>
            <a:r>
              <a:t>Lessons. Первый — physical infrastructure problem требует engineering решения, не AI. Suez Ever Given — это canonical case, где «давайте применим AI» — это wrong tool. Lesson для инженера: при оценке логистической проблемы, спрашивайте «is this AI-amenable, или это infrastructure problem?»</a:t>
            </a:r>
            <a:br/>
            <a:br/>
            <a:r>
              <a:t>Второй — глобальные supply chains не могут tolerate подобные disruptions. Шесть дней блокировки одного канала = почти десять миллиардов долларов held up.</a:t>
            </a:r>
            <a:br/>
            <a:br/>
            <a:r>
              <a:t>Третий — альтернативные маршруты. Cape of Good Hope — это плюс тридцать процентов transit time, что много, но possible. И Suez expansion project — Египет начал двойной Suez Canal expansion в 2014 году. Но Ever Given показал, что часть канала всё ещё single-channel, и нужно continuing expansion.</a:t>
            </a:r>
            <a:br/>
            <a:br/>
            <a:r>
              <a:t>Pedagogical point. Если ваш потенциальный vendor предлагает «AI решит infrastructure проблемы supply chain» — это red flag. Suez Ever Given — это случай, где AI бесполезна. Lesson — alternative is engineering, не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COVID 2020 — это очень понятный пример из живой истории. Я хочу остановиться на этом две минуты не потому, что мы все его помним — а потому, что уроки для логистики всё ещё актуальны.</a:t>
            </a:r>
            <a:br/>
            <a:br/>
            <a:r>
              <a:t>**Три фазы. Март-апрель 2020 — начальный шок.** Локдауны в Ухане, потом Италии, потом Испании, потом США, потом глобально — за шесть недель. Спрос на потребительские товары всплеск — туалетная бумага, электроника, оборудование для дома (работа из дома). Спрос на туристические товары обвал.</a:t>
            </a:r>
            <a:br/>
            <a:br/>
            <a:r>
              <a:t>**2020-2021 — хаос.** Порты перегружены. Только в Long Beach — сто девять кораблей в ожидании в октябре 2021 года. Фрахтовые ставки на контейнеры всплеск в пять-десять раз. Цепочки поставок «точно-в-срок» сломались. Дефицит СИЗ. Дефицит чипов, формирующий восстановление автопрома — некоторые автопроизводители ждали месяцы поставок чипов.</a:t>
            </a:r>
            <a:br/>
            <a:br/>
            <a:r>
              <a:t>**2022 и далее — перекалибровка.** Компании построили буферные запасы. Многоисточниковое снабжение вместо одного источника. Возврат производства ближе — Мексика для США, Турция и Вьетнам для Европы. «Запас на случай» вместо «точно-в-срок». Это структурный сдвиг в философии цепочек поставок.</a:t>
            </a:r>
            <a:br/>
            <a:br/>
            <a:r>
              <a:t>**Что не работало в COVID.** ML-прогноз спроса. Модели были обучены на до-COVID распределении — два-три года стабильного поведения потребителей. После локдаунов распределение полностью изменилось. Точность упала на порядок. Не плавное снижение — это полный сдвиг распределения.</a:t>
            </a:r>
            <a:br/>
            <a:br/>
            <a:r>
              <a:t>Оптимизационные решатели для запасов — то же. Они работают при допущении стационарного спроса. Реальность была крайне нестационарной.</a:t>
            </a:r>
            <a:br/>
            <a:br/>
            <a:r>
              <a:t>Аналитические панели в реальном времени — данные были, но они показывали симптом (перегруженность, задержки), а решения требовались от человеческого суждения. ML-предупреждения «что-то не так» не помогали — все знали, что что-то не так.</a:t>
            </a:r>
            <a:br/>
            <a:br/>
            <a:r>
              <a:t>**Что РАБОТАЛО — управление исключениями человеком.** Команды закупок вынуждены были вручную восстанавливать цепочки поставок через кризис. Это была неделя за неделей координация. Телефонные звонки. Аварийные переговоры. Ручные обновления в ERP.</a:t>
            </a:r>
            <a:br/>
            <a:br/>
            <a:r>
              <a:t>**Сценарное планирование.** Компании с готовыми сценариями (например, планы 2003 года после SARS на азиатский сбой) могли реагировать быстрее. Это выгода от длинной памяти корпорации.</a:t>
            </a:r>
            <a:br/>
            <a:br/>
            <a:r>
              <a:t>**Диверсифицированная база поставок.** Многоисточниковость не «неэффективное резервирование» — это устойчивость. Компании, у которых два-три поставщика для каждого критического SKU, выжили лучше, чем те, у которых один азиатский поставщик на каждый SKU.</a:t>
            </a:r>
            <a:br/>
            <a:br/>
            <a:r>
              <a:t>**Резервы наличности.** Компании с буферной наличностью могли покупать через дефицит, платя премию за критические ресурсы. Без резервов наличности — производство останавливалось.</a:t>
            </a:r>
            <a:br/>
            <a:br/>
            <a:r>
              <a:t>**Урок — хрупкость JIT.** Точно-в-срок — это модель с нулевым буфером запасов. Спроектирована для стационарного спроса плюс надёжное снабжение. На сдвиге распределения «чёрного лебедя» — JIT превращается в дефицит и упущенные продажи. Запас на случай — это альтернатива с буферными запасами. Стоимость выше, но устойчивее.</a:t>
            </a:r>
            <a:br/>
            <a:br/>
            <a:r>
              <a:t>**Педагогический смысл.** «Оптимизация запасов через ML» — это маркетинговый питч для стационарного мира. В мире с регулярными чёрными лебедями — COVID 2020, хуситы 2024, Suez 2021, торговые трения США-Китай, климатические сбои — буфер плюс многоисточниковость плюс сценарное планирование работают лучше, чем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Trucker shortage — это один из самых часто mismatched problem statements в AV-индустрии. Я хочу остановиться на этом две минуты, потому что framing «AV решит trucker shortage» появляется практически во всех VC pitches autonomous-trucking, и инженер должен критически разбирать его.</a:t>
            </a:r>
            <a:br/>
            <a:br/>
            <a:r>
              <a:t>Цифры от ATA. Семьдесят восемь тысяч дефицит водителей в США во второй половине 2022 года — пиковое значение. Шестьдесят тысяч в 2023, но Bob Costello, ATA chief economist, прокомментировал «for all the wrong reasons» — экономический downturn снизил спрос на грузоперевозки, и часть дефицита исчезла не потому, что больше водителей появилось.</a:t>
            </a:r>
            <a:br/>
            <a:br/>
            <a:r>
              <a:t>ATA прогнозирует, что один и два десятых миллиона новых водителей понадобится за десятилетие. Это значительный structural recruitment challenge. Annual turnover at large carriers (long-haul) — более девяноста процентов. Это означает — почти весь персонал меняется ежегодно.</a:t>
            </a:r>
            <a:br/>
            <a:br/>
            <a:r>
              <a:t>Дополнительные параметры. Mean age водителей — пятьдесят два года. Retirement wave приближается. Female drivers составляют шестнадцать процентов от workforce, против пятидесяти процентов в overall labor force — серьёзный gender imbalance.</a:t>
            </a:r>
            <a:br/>
            <a:br/>
            <a:r>
              <a:t>Root causes структурные. Старение workforce. Pay structure — per mile not hourly, водители теряют time на loading и unloading. Effective hourly rate часто под minimum wage. Lifestyle — long-haul водители недели от дома, family-incompatible. CDL training cost — три-семь тысяч долларов upfront, benefit unclear в первые годы.</a:t>
            </a:r>
            <a:br/>
            <a:br/>
            <a:r>
              <a:t>Не-AI решения. Visa programs. US имеет H-2B visas для seasonal workers, и expanding для truck drivers рассматривается. CDL training subsidies от government — частичная компенсация training cost. Pay restructuring — hourly pay включая loading time вместо per-mile. Equipment quality — newer trucks, lower mileage, better quality of life on road. Job design — local short-haul (no overnights) versus long-haul. Local turnover тридцать-сорок процентов, long-haul девяносто+ — структурно разные jobs.</a:t>
            </a:r>
            <a:br/>
            <a:br/>
            <a:r>
              <a:t>Why AV не решит. Recall цифр из s20. Семьдесят восемь тысяч дефицит = семь и восемь десятых миллиарда миль capacity needed. Aurora — десять-сто trucks к 2027 году = один-десять миллионов миль capacity. AV покрывает 0,01-0,13% дефицита через 2027 год. Math не работает.</a:t>
            </a:r>
            <a:br/>
            <a:br/>
            <a:r>
              <a:t>Pedagogical point. Trucker shortage — это структурная labor policy проблема. AI/AV не решает. Решается через политику, переподготовку, условия труда. Lesson для инженера — когда vendor показывает «AV решит labor shortage» — это marketing framing, не engineering решение. Спрашивать: «какие альтернативные политики вы considering как possible? какие будут unintended consequences AV-deployment для существующих водителей?»</a:t>
            </a:r>
            <a:br/>
            <a:br/>
            <a:r>
              <a:t>Lesson — структурные проблемы требуют structural решений. Технологические инструменты могут помочь на margins, но не replace policy interventions для labor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центральная окупаемость раздела четыре и всей лекции. Пять критериев, которые позволяют инженеру решить, AI или не AI для конкретной логистической задачи. (На слайде s40 эта 5-критерийная рамка дополняется 7 вопросами вендору.)</a:t>
            </a:r>
            <a:br/>
            <a:br/>
            <a:r>
              <a:t>**Критерий 1 — среда контролируемая или нет.** Если склад, порт, рельсы — да, AI применим. Это уровень один лестницы среды, и AI зрело работает. Symbotic, Amazon Robotics, KONUX — канонические примеры. Если нет — городские, магистраль, исключение — переход к следующему критерию.</a:t>
            </a:r>
            <a:br/>
            <a:br/>
            <a:r>
              <a:t>**Критерий 2 — чётко поставленная задача оптимизации.** Задача коммивояжёра, задача маршрутизации, планирование расписаний. Если да — это территория OR. Gurobi, CPLEX, Google OR-Tools работают лучше, дешевле, объяснимее, чем RL или ML. UPS ORION — канонический пример, триста-четыреста миллионов экономии в год через OR плюс эвристики, не глубокое обучение.</a:t>
            </a:r>
            <a:br/>
            <a:br/>
            <a:r>
              <a:t>**Критерий 3 — стационарный спрос или нестационарный.** Если спрос предсказуем по сезонам — это территория EOQ. Оптимальный размер заказа, страховой запас, ABC-анализ. Формулы 1913 года, простые, работают. Урок — сделать аудит ваших запасов: какой процент SKU реально требует ML? Часто менее двадцати процентов. Остальные — классических формул достаточно.</a:t>
            </a:r>
            <a:br/>
            <a:br/>
            <a:r>
              <a:t>**Критерий 4 — критично для безопасности с регуляторным аудитом.** FDA для холодовой фармы. FAA для авиации. IMO для морской безопасности. ICAO для авиатрафика. Если да — это территория правилового подхода плюс человек-в-цикле. Чёрный ящик ML не работает в регулируемых индустриях, потому что аудиторский след обязателен.</a:t>
            </a:r>
            <a:br/>
            <a:br/>
            <a:r>
              <a:t>**Критерий 5 — событие в-распределении или вне.** Если ежедневные операции в нормальном распределении спроса — это территория ML-скоринга. ML может оптимизировать на маржинах. Если событие чёрного лебедя (хуситы, Suez, COVID) — это уровень пять лестницы. Диспетчер-человек плюс сценарное планирование, не ML.</a:t>
            </a:r>
            <a:br/>
            <a:br/>
            <a:r>
              <a:t>**Примеры применения.** Складская роботизация — Критерий 1 да, Критерий 4 частично (безопасность склада, но легче, чем фарма). AI применим плюс безопасность плюс HITL.</a:t>
            </a:r>
            <a:br/>
            <a:br/>
            <a:r>
              <a:t>UPS ORION маршрутизация — Критерий 2 да, VRP с десятками тысяч маршрутов. OR, не ML.</a:t>
            </a:r>
            <a:br/>
            <a:br/>
            <a:r>
              <a:t>Прогноз спроса в кризис типа хуситов — Критерий 5 нет, полностью вне-распределения. Диспетчер-человек.</a:t>
            </a:r>
            <a:br/>
            <a:br/>
            <a:r>
              <a:t>FDA-регулируемая холодовая фарма-логистика — Критерий 4 да. Правиловой плюс HITL.</a:t>
            </a:r>
            <a:br/>
            <a:br/>
            <a:r>
              <a:t>Сезонные запасы ритейлера — Критерий 3 частично. Смесь стационарного плюс всплеск. Гибрид EOQ плюс точечный ML на сезонных SKU. Это не «полностью AI» или «полностью формула» — это гибрид с правильным выбором инструмента на каждой категории SKU.</a:t>
            </a:r>
            <a:br/>
            <a:br/>
            <a:r>
              <a:t>**Педагогический смысл.** Это не «всегда AI» или «никогда AI». Это фреймворк решения, который разбивает логистическую нагрузку на категории, и для каждой определяет правильный инструмент. Урок для инженера — когда вы оцениваете предложение вендора, проходите по этим пяти критериям. Какой критерий применим? Какой инструмент правильный для этой категории?</a:t>
            </a:r>
            <a:br/>
            <a:br/>
            <a:r>
              <a:t>Это фреймворк, который останется с вами после лекции. Это главная окупаемость лекции тринадцать.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Замыкая раздел четыре — alternative toolkit. Шесть классов инструментов, которые инженер-логист должен знать как альтернативы AI.</a:t>
            </a:r>
            <a:br/>
            <a:br/>
            <a:r>
              <a:t>Первое — operations research. OR. Маршрутизация, scheduling, network design. Vendors — Gurobi и CPLEX commercial, Google OR-Tools open source. Pyomo — Python framework. UPS ORION — canonical proof success.</a:t>
            </a:r>
            <a:br/>
            <a:br/>
            <a:r>
              <a:t>Второе — классические запасы. EOQ, safety stock, ABC analysis. Формулы 1913 года и далее, остаются relevant в 2026 году для большой доли SKU. Audit вашего inventory — какой процент SKU действительно требует ML? Часто менее двадцати процентов.</a:t>
            </a:r>
            <a:br/>
            <a:br/>
            <a:r>
              <a:t>Третье — сценарное планирование. Это не software — это methodology. Shell использует scenario planning с 1970-х годов. McKinsey предлагает scenario planning services. Maersk post-COVID начал serious scenario planning для resilience.</a:t>
            </a:r>
            <a:br/>
            <a:br/>
            <a:r>
              <a:t>Pre-build сценарии. «Что если Red Sea closed?» «Что если Suez blocked?» «Что если labor strike в Long Beach?» Когда event happens — у вас уже есть playbook.</a:t>
            </a:r>
            <a:br/>
            <a:br/>
            <a:r>
              <a:t>Четвёртое — rule-based vision. OpenCV open source. HALCON и Cognex commercial. Используется в controlled-env с known defects. Bottle inspection на пивоварне — canonical example из лекции 11. Где CV была last line, не first line — это lesson Boeing 737 door plug.</a:t>
            </a:r>
            <a:br/>
            <a:br/>
            <a:r>
              <a:t>Пятое — hybrid CV plus signal processing. Когда vision-only недостаточно. Container damage inspection в портах — vision plus ultrasonic plus radar. Multi-modal sensor fusion.</a:t>
            </a:r>
            <a:br/>
            <a:br/>
            <a:r>
              <a:t>Шестое — human-in-the-loop. HITL. Workflow tools — Jira, ServiceNow. Используется при regulatory audit (FDA, FAA, IMO). И в black-swan events. Maersk exception teams handled Red Sea rerouting — это HITL в action.</a:t>
            </a:r>
            <a:br/>
            <a:br/>
            <a:r>
              <a:t>Открытые источники. Google OR-Tools — open source, бесплатный для VRP и TSP. OpenCV — open source computer vision. Pyomo — Python framework для OR modeling. Все три — production-grade.</a:t>
            </a:r>
            <a:br/>
            <a:br/>
            <a:r>
              <a:t>Pedagogical point. Инженер-логист, который знает только AI и ML — это incomplete engineer. Полный toolkit включает OR, classical formulas, scenario planning, rule-based vision, hybrid sensors, HITL. AI — это один tool из шести, не «универсальное решение».</a:t>
            </a:r>
            <a:br/>
            <a:br/>
            <a:r>
              <a:t>Lesson для вас — будущих инженеров. Когда вы выходите на работу в логистическую компанию, ваша first ставка должна быть classical tools — OR plus EOQ plus rule-based. Если они не работают для конкретной задачи — тогда добавляете ML. Не наоборот. AI-first подход — это часто the wrong choice, и vendor proposals часто пытаются продать AI там, где OR-Tools достаточно.</a:t>
            </a:r>
            <a:br/>
            <a:br/>
            <a:r>
              <a:t>Это вторая main payoff лекции. Carry это с собой.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последний контентный слайд лекции. Я хочу оставить вас с практическим инструментом в кармане — семью вопросами, которые вы зададите любому вендору логистического AI. Эти семь вопросов дополняют 5-критерийную рамку со слайда s38: критерии говорят «какой класс инструмента нужен», вопросы — «как проверить вендора по выбранному классу».</a:t>
            </a:r>
            <a:br/>
            <a:br/>
            <a:r>
              <a:t>**Вопрос 1.** Какое сравнение с базовой линией OR? Google OR-Tools, Gurobi, CPLEX. Это очень важный вопрос, потому что часто предложения вендоров для маршрутизации выглядят как ML-стек, но не показывают сравнения с классическим OR. Если вы спрашиваете «а как вы сравнивались с Gurobi или OR-Tools», и получаете ответ «мы не делали такого сравнения» — это красный флаг. Это означает, что либо ML-решение не лучше OR, либо вендор не знает OR.</a:t>
            </a:r>
            <a:br/>
            <a:br/>
            <a:r>
              <a:t>**Вопрос 2.** Какой ваш ODD, и как валидируется новое расширение? Это вопрос фундаментальный, особенно для AV-программ. Инцидент Cruise dragging октября 2023 года — провал именно ODD-дисциплины. Расширение ODD без обширной валидации — анти-паттерн, который убил Cruise.</a:t>
            </a:r>
            <a:br/>
            <a:br/>
            <a:r>
              <a:t>**Вопрос 3.** Какой ваш стек мониторинга водителя для L2 или L3? Tesla EA22002 идентифицировало тринадцать смертельных аварий с паттерном предсказуемого неправильного использования — это структурная проблема дизайна, не индивидуальная вина водителей. Мониторинг водителя — обязательная функция, не опциональная.</a:t>
            </a:r>
            <a:br/>
            <a:br/>
            <a:r>
              <a:t>**Вопрос 4.** Какое отношение километров в симуляции к километрам на дорогах общего пользования? Разрыв симуляция-к-реальности у Starsky — главная причина их провала. Если вендор показывает миллионы километров в симуляции, но при этом нет километров на дорогах общего пользования — серьёзный красный флаг.</a:t>
            </a:r>
            <a:br/>
            <a:br/>
            <a:r>
              <a:t>**Вопрос 5.** Какая частота ошибок на сезонных сдвигах распределения? Чёрная пятница, Рождество, Хэллоуин — каталог наполняется новыми категориями. Зрительный классификатор Sparrow часто ошибается чаще. Спросите вендора про сезонную динамику — какая частота ошибок на пиковых сезонах vs обычное время? Как часто переобучается модель?</a:t>
            </a:r>
            <a:br/>
            <a:br/>
            <a:r>
              <a:t>**Вопрос 6.** Какие сертификации? FDA Part 11 для холодовой фармы. ATEX для опасных зон. ISO 26262 для автомобильной безопасности. NHTSA SGO обязательна для AV-операторов в США. Регуляторный аудит обязателен в категориях, критичных для безопасности. Чёрный ящик ML не проходит аудит.</a:t>
            </a:r>
            <a:br/>
            <a:br/>
            <a:r>
              <a:t>**Вопрос 7.** Какова удельная экономика? На машину, на маршрут, на тонну груза. Pony.ai — первая robotaxi с положительной операционной прибылью на автомобиль. Гуанчжоу ноябрь 2025, Шэньчжэнь февраль 2026. Без удельных данных — нельзя оценить устойчивость бизнес-модели вендора. И если вендор не публикует удельную экономику — это либо «всё ещё отрицательно», либо «не раскрывается по конкурентным соображениям». Любой скептик считает первое.</a:t>
            </a:r>
            <a:br/>
            <a:br/>
            <a:r>
              <a:t>Эти семь вопросов носите с собой. Это вторая главная окупаемость лекции — практический инструментарий для оценки предложений вендоров.</a:t>
            </a:r>
            <a:br/>
            <a:br/>
            <a:r>
              <a:t>И теперь — Q&amp;A. Я готов отвечать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closing slide лекции тринадцать. Я хочу провести вас через быстрый recap и потом перейти к bridge к лекции четырнадцать.</a:t>
            </a:r>
            <a:br/>
            <a:br/>
            <a:r>
              <a:t>Recap. Сегодня прошли пять уровней лестницы среды. Уровень один — controlled. Warehouse, port, rail. Symbotic, Amazon, KONUX. Уровень два — highway. Aurora первая коммерческая, Mobileye Chauffeur, КамАЗ на М-11. UPS ORION как canonical OR success. Серия банкротств AV-trucking. Уровень три — urban robotaxi и last-mile. Waymo выжил с пятью сотнями тысяч поездок в неделю. Cruise разорилась после dragging incident октября 2023. Tesla только начинает. Starship на кампусах, Zipline в Африке. Уровень пять — exception. Хуситы 2024, Ever Given 2021, COVID 2020.</a:t>
            </a:r>
            <a:br/>
            <a:br/>
            <a:r>
              <a:t>Survivors уважают среду. Остаются в narrow ODD. Не overpromise. Cruise vs Waymo — обоим тот же стек, но Waymo выжил, потому что cautious в ODD expansion. Это lesson инженерного смирения, не arrogance.</a:t>
            </a:r>
            <a:br/>
            <a:br/>
            <a:r>
              <a:t>И теперь — мост к лекции четырнадцать. Завтра я расскажу про телекоммуникации, сетевую инфраструктуру, кибербез. Это **другая среда** — cyber instead of physical. Но **та же логика**.</a:t>
            </a:r>
            <a:br/>
            <a:br/>
            <a:r>
              <a:t>AI augments human SOC analyst, не replaces. Так же, как AI augments human dispatcher в Houthi crisis, не replaces.</a:t>
            </a:r>
            <a:br/>
            <a:br/>
            <a:r>
              <a:t>OR plus rule-based threat detection остаётся mainstream. Так же, как UPS ORION остался OR, не ML.</a:t>
            </a:r>
            <a:br/>
            <a:br/>
            <a:r>
              <a:t>ML helps в-distribution, слепо out-of-distribution. Так же, как ML demand forecast слеп на хуситов или Ever Given.</a:t>
            </a:r>
            <a:br/>
            <a:br/>
            <a:r>
              <a:t>HITL обязателен в exception events. Так же, как в transport — Waymo имеет удалённых операторов, Maersk имеет exception teams.</a:t>
            </a:r>
            <a:br/>
            <a:br/>
            <a:r>
              <a:t>**Лестница среды переходит из физического мира в сетевой.** Уровень один — controlled enterprise network. Уровень пять — zero-day exploit, который никто не видел раньше. Аналогия структурная.</a:t>
            </a:r>
            <a:br/>
            <a:br/>
            <a:r>
              <a:t>Lesson — то, что вы изучили в лекциях 9, 11, 12, 13 — это foundation для лекции 14. Не отдельные домены, а единая логика «AI работает в контролируемой среде, ломается на out-of-distribution, и инженер должен критически разбираться в каждом конкретном случае».</a:t>
            </a:r>
            <a:br/>
            <a:br/>
            <a:r>
              <a:t>Спасибо за внимание. Завтра встретимся для лекции четырнадцать.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один. Контролируемая среда. Склад, порт, рельсы.</a:t>
            </a:r>
            <a:br/>
            <a:br/>
            <a:r>
              <a:t>Это уровень один лестницы среды. Самая контролируемая часть всей транспортной цепи. Освещение известно и постоянно. Геометрия фиксирована — стеллажи, проходы, зоны pick-up. Пешеходов либо нет, либо они отделены барьерами. SKU — артикулы товаров — перечислены в справочнике. Погода не влияет. GPS не нужен.</a:t>
            </a:r>
            <a:br/>
            <a:br/>
            <a:r>
              <a:t>Эта структурированность даёт инженеру несколько подарков, которые на улице невозможны. Детерминизм восприятия: одна и та же коробка под одним и тем же освещением выглядит одинаково сегодня и через год. Компактный набор сценариев: тестировать систему нужно не на бесконечном числе ситуаций, а на конечном списке задач. Наблюдаемость: каждое движение робота можно записать и воспроизвести.</a:t>
            </a:r>
            <a:br/>
            <a:br/>
            <a:r>
              <a:t>При этом «контролируемая среда» не означает «лёгкая среда». Это означает, что среда упрощает задачу до уровня, на котором AI 2026 года может надёжно работать.</a:t>
            </a:r>
            <a:br/>
            <a:br/>
            <a:r>
              <a:t>В этом разделе я пройду по четырём подкатегориям: склад, AMR, порт, железная дорога. И завершу пятью границами уровня один — humanoid-хайп, капитальная интенсивность, миф об lights-out warehouse, distribution shift на сезонных пиках, кибер-уязвимость.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два. Полуструктурированная магистраль.</a:t>
            </a:r>
            <a:br/>
            <a:br/>
            <a:r>
              <a:t>Это уровень два лестницы. Известное направление движения — это всегда interstate, федеральная трасса. Относительно простые правила — четыре-шесть полос, разметка, ограждение от пешеходов. HD-карта возможна — расстояние между съездами фиксировано, геометрия не меняется. Погода имеет значение, но прогнозируема. Пешеходов на огороженной магистрали либо нет, либо они отделены от потока.</a:t>
            </a:r>
            <a:br/>
            <a:br/>
            <a:r>
              <a:t>Это уровень эмерджентный. Первые коммерческие операции автономной грузоперевозки начались в США только в мае 2025 года, когда Aurora запустила маршрут Даллас-Хьюстон. Но история стартапов в этом сегменте брутальная — двадцать миллиардов долларов сожжено на non-survivors с 2017 по 2024 год: Argo AI, Embark Trucks, TuSimple, Waymo Via, Starsky Robotics. Выживших — три-четыре компании в США: Waymo (которая закрыла собственное trucking-направление), Aurora, Mobileye в режиме eyes-off L3.</a:t>
            </a:r>
            <a:br/>
            <a:br/>
            <a:r>
              <a:t>В этом разделе я хочу провести по четырём темам. Первое — кто из выживших что делает. Aurora Даллас-Хьюстон, Mobileye Chauffeur, КамАЗ на М-11. Второе — UPS ORION как канонический пример операционных исследований, которые работают лучше глубокого обучения для well-defined задач маршрутизации. Это важный fundamental слайд, потому что он показывает, что не всё в логистике — это ML. Третье — failure deep-dive. Пять компаний на одной timeline, чтобы вы видели не отдельные кейсы, а паттерн survivor consolidation. И четвёртое — два framing'а, которые часто звучат от вендоров, и которые инженер должен критически разбирать. AV решит trucker shortage — нет. End-to-end DNN без HD-map для L4 — пока research-stage.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три. Городская улица robotaxi и последняя миля. Это уровни три и четыре лестницы среды одновременно — потому что они связаны общей городской динамикой.</a:t>
            </a:r>
            <a:br/>
            <a:br/>
            <a:r>
              <a:t>Городская среда — это множество пешеходов, велосипедисты, скейтбордисты, parking maneuvers, бесконечные эмерджентные ситуации. И регулярные изменения городской инфраструктуры — строительство, утечки воды, parade, протесты, weather-related обстоятельства. Это уровень эмерджентный и хрупкий.</a:t>
            </a:r>
            <a:br/>
            <a:br/>
            <a:r>
              <a:t>Survivors города в 2026 году — Waymo, Apollo Go, Pony.ai, WeRide. Tesla Robotaxi только начинает. Cruise разорилась — десять миллиардов сожжено за восемь лет. И эта разница между Waymo и Cruise — она не алгоритмическая, она дисциплинарная.</a:t>
            </a:r>
            <a:br/>
            <a:br/>
            <a:r>
              <a:t>Я буду в этом разделе пятнадцать минут. Структура — четыре подкатегории. Первое — Waymo как canonical survivor robotaxi. Полмиллиона поездок в неделю, три тысячи машин, десять+ городов США. Второе — китайская модель: Apollo Go от Baidu, плюс Pony.ai и WeRide. Третье — Tesla Robotaxi Austin как текущее состояние vision-only ставки. Четырнадцать ДТП за восемь месяцев, около восьмисот тысяч платных миль.</a:t>
            </a:r>
            <a:br/>
            <a:br/>
            <a:r>
              <a:t>Failure deep-dive раздела три. Cruise GM exit как centerpiece — десять миллиардов превратилось в ноль за восемь лет, и timeline от октябрьского инцидента 2023 года до декабрьского решения GM 2024 года — четырнадцать месяцев. Uber Tempe 2018 — первый смертельный AV-инцидент. Tesla Autopilot — пятьдесят четыре подтверждённых fatalities в базе NHTSA на октябрь 2025 года.</a:t>
            </a:r>
            <a:br/>
            <a:br/>
            <a:r>
              <a:t>И last-mile — четвёртая подкатегория. Starship, Coco, Zipline. Nuro pivot. Все они работают в очень узких нишах — кампусах, narrow neighborhoods, medical Africa, — и каждое расширение требует борьбы с регуляцией или физикой.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Раздел четыре. Чёрный лебедь и рамка решения.</a:t>
            </a:r>
            <a:br/>
            <a:br/>
            <a:r>
              <a:t>Это уровень пять лестницы среды. Чрезвычайная ситуация — событие, которое выходит за пределы distribution, на котором ML-модели были обучены. По определению out-of-distribution.</a:t>
            </a:r>
            <a:br/>
            <a:br/>
            <a:r>
              <a:t>Я хочу провести по четырём конкретным примерам black-swan failures в логистике 2020-2024 годов, потом по structural labor shortage problem, и потом по рамке решения с пятью критериями плюс альтернативный инструментарий.</a:t>
            </a:r>
            <a:br/>
            <a:br/>
            <a:r>
              <a:t>Первый пример — хуситы атакуют в Красном море с конца 2023 года. За два месяца контейнерный трафик через Красное море упал на девяносто процентов. ML demand forecast полностью out-of-distribution — модель не обучалась на rerouting через Cape of Good Hope добавляющего тридцать процентов transit time.</a:t>
            </a:r>
            <a:br/>
            <a:br/>
            <a:r>
              <a:t>Второй — Ever Given в Suez Canal в марте 2021. Шесть дней блокировки, двенадцать процентов мировой торговли, девять и шесть десятых миллиарда долларов goods held up. Важно: AI не играла роли. Это была физика и pilotage. Корабль слишком большой для канала плюс sand storm плюс пилотская ошибка. Решалось engineering — dredging плюс tug boats. AI бесполезно.</a:t>
            </a:r>
            <a:br/>
            <a:br/>
            <a:r>
              <a:t>Третий — COVID 2020. Глобальный обвал цепочек поставок. Just-in-time logistics плюс ML demand forecast = fragile system. Resilience потребовала redundancy, которую большие компании reluctantly начали building только после COVID.</a:t>
            </a:r>
            <a:br/>
            <a:br/>
            <a:r>
              <a:t>Четвёртый — trucker shortage в США. Семьдесят восемь тысяч deficit водителей в 2022. ATA не считает это AI-проблемой. Решается политикой, переподготовкой, визами, условиями труда.</a:t>
            </a:r>
            <a:br/>
            <a:br/>
            <a:r>
              <a:t>После four examples я перейду к рамке решения. Пять критериев «AI или не AI в логистике». Это main payoff лекции — практический инструмент в кармане.</a:t>
            </a:r>
            <a:br/>
            <a:br/>
            <a:r>
              <a:t>И завершу alternative toolkit. Шесть классов инструментов, которые инженер-логист должен знать как alternatives to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01-waymo-jaguar-sf-dll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00050"/>
            <a:ext cx="6858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Waymo Jaguar I-Pace в Сан-Франциско · 2023 · Wikimedia Commons · CC-BY-SA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457200"/>
            <a:ext cx="429768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Три картинки</a:t>
            </a:r>
          </a:p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рядом —</a:t>
            </a:r>
          </a:p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и один вопрос</a:t>
            </a: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Декабрь 2024 · Cruise: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10 миллиардов → 0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Март 2026 · Waymo: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500 000 поездок/неделю</a:t>
            </a:r>
          </a:p>
          <a:p>
            <a:pPr algn="l">
              <a:lnSpc>
                <a:spcPct val="11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Февраль 2026 · Tesla:</a:t>
            </a:r>
          </a:p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14 ДТП за 8 мес.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Дело не в технологии — дело в среде, в которой система разворачивалась, и в дисциплине ODD.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Контролируемое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Магистраль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Город+миля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Чрёзв.ситуация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Замыкание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09728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0" b="1" i="0">
                <a:solidFill>
                  <a:srgbClr val="D9E2EC"/>
                </a:solidFill>
                <a:latin typeface="Arial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371600"/>
            <a:ext cx="7589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Лекция 13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1295C"/>
                </a:solidFill>
                <a:latin typeface="Arial"/>
              </a:rPr>
              <a:t>AI в логистике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1295C"/>
                </a:solidFill>
                <a:latin typeface="Arial"/>
              </a:rPr>
              <a:t>и транспорте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02336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C7293"/>
                </a:solidFill>
                <a:latin typeface="Arial"/>
              </a:rPr>
              <a:t>Модуль 3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C7293"/>
                </a:solidFill>
                <a:latin typeface="Arial"/>
              </a:rPr>
              <a:t>Студенты-инженеры 3 курса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5029200"/>
            <a:ext cx="7589520" cy="14630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516636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Вы научитесь: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Различать пять уровней автономии в логистике и транспорте.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Критически оценивать вендорские заявления об AV/AI-системах.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· Применять регуляторные критерии «когда AI не работает» + альтернативы.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Курс «Применение AI в инженерии»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Маршрут лекции — пять разделов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212848" cy="47548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463039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630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Склад / порт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6 слайдов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71800"/>
            <a:ext cx="193852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Склад · порт · рельсы · границы уровня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1280160"/>
            <a:ext cx="2212848" cy="47548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52927" y="1463039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7" y="14630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7" y="2057400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Магистраль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7" y="2560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10 слайдов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7" y="2971800"/>
            <a:ext cx="193852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Aurora · Mobileye · КамАЗ · UPS ORION · банкротства AV-грузоперевозки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1280160"/>
            <a:ext cx="2212848" cy="47548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11496" y="1463039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14630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2057400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Город + миля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2560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10 слайдов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2971800"/>
            <a:ext cx="193852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Waymo · Apollo Go · Pony.ai · Tesla · Cruise · Uber · Tesla NHTSA · Starship · Zipline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32903" y="1280160"/>
            <a:ext cx="2212848" cy="47548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70063" y="1463039"/>
            <a:ext cx="502920" cy="50292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3" y="14630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3" y="2057400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Чёрный лебедь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3" y="2560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7 слайдов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3" y="2971800"/>
            <a:ext cx="193852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Хуситы · Suez · COVID · дефицит дальнобойщиков · 5 критериев · альтернативы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91472" y="1280160"/>
            <a:ext cx="2212848" cy="47548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8632" y="1463039"/>
            <a:ext cx="502920" cy="50292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8632" y="14630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2057400"/>
            <a:ext cx="1938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Замыкание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560320"/>
            <a:ext cx="19385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2 слайда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2971800"/>
            <a:ext cx="193852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Q&amp;A · мост к Лекции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Спуск по лестнице среды: от контролируемая к чёрному лебедю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Десять аббревиатур, без которых дальше не пройти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Глоссарий обязательных терминов — расшифровка + роль в лекции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SAE J3016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Общество автомобильных инженеров. Стандарт уровней автомобильной автономии L0-L5.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ODD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Операционный Design Domain — область штатной эксплуатации. Главная инженерная дисциплина.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Автономный Автомобиль — автономный автомобиль. Зонтичный термин.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AMR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Автономный мобильный робот — автономный мобильный робот, чаще всего складской.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HD-map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карта высокой точности — детальная карта с точностью ~10 см.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5544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645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9659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Исследование операций — операционные исследования. НЕ AI. Канонические инструменты — Gurobi, CPLEX, OR-Tools.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4688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5603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TSP / VRP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задача коммивояжёра / Автомобиль задача маршрутизации. UPS ORION экономит ~$300M/год через 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3832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474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EOQ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Economic размер заказа (Харрис 1913). Формула трёх параметров; для большой доли SKU не хуже ML.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2976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389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SGO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709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NHTSA постановление NHTSA on отчётность об авариях. База Tesla/Waymo/Cruise смертельный случай цифры.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5212080"/>
            <a:ext cx="5577840" cy="868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3035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HITL/HOOL/HOTL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6235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Human In/On/вне-цикла. Три уровня участия человека (Лекция 9).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Глоссарий — если хоть три термина незнакомы, зафиксируйте сейчас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Лестница среды: главный предиктор успеха AI в логистике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C7293"/>
                </a:solidFill>
                <a:latin typeface="Arial"/>
              </a:rPr>
              <a:t>Пять уровней — от контролируемого склада к чёрному лебедю. Каждый раздел = мотивированный шаг по этой оси.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212848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97864" y="1691639"/>
            <a:ext cx="731520" cy="73152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7864" y="169163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39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Контролируемое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63239"/>
            <a:ext cx="19385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Symbotic+Walmart 400 APD
Amazon 1M+ роботов
KONUX железная дорога PdM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800600"/>
            <a:ext cx="2029967" cy="731520"/>
          </a:xfrm>
          <a:prstGeom prst="rect">
            <a:avLst/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9204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Капитальная интенсивность $$$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5768" y="1554480"/>
            <a:ext cx="2212848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6432" y="1691639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69163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606039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Магистраль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7" y="3063239"/>
            <a:ext cx="19385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Aurora Dallas-Houston
Mobileye L3 eyes-off
КамАЗ М-11 «Нева»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7208" y="4800600"/>
            <a:ext cx="2029967" cy="731520"/>
          </a:xfrm>
          <a:prstGeom prst="rect">
            <a:avLst/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7" y="489204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$20B+ сожжено невыжившие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4336" y="1554480"/>
            <a:ext cx="2212848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4999" y="1691639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4999" y="169163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2606039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Городской robotaxi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3063239"/>
            <a:ext cx="19385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Waymo 500K/неделю
Apollo Go 22 города
Pony.ai прибыль на машину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65775" y="4800600"/>
            <a:ext cx="2029967" cy="731520"/>
          </a:xfrm>
          <a:prstGeom prst="rect">
            <a:avLst/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1496" y="489204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Cruise: $10B →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2903" y="1554480"/>
            <a:ext cx="2212848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73567" y="1691639"/>
            <a:ext cx="731520" cy="73152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7" y="169163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2606039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Последняя миля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0063" y="3063239"/>
            <a:ext cx="19385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Starship 9M+ кампусы
Zipline 100M миль Africa
Nuro разворот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4344" y="4800600"/>
            <a:ext cx="2029967" cy="731520"/>
          </a:xfrm>
          <a:prstGeom prst="rect">
            <a:avLst/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0063" y="489204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Дроны в городе США заблокированы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1472" y="1554480"/>
            <a:ext cx="2212848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32136" y="1691639"/>
            <a:ext cx="731520" cy="73152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32136" y="1691639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2606039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Чёрный лебедь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3063239"/>
            <a:ext cx="19385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Хуситы 2024 (-90%)
Suez 2021 (12% торговли)
COVID 2020 обвал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82911" y="4800600"/>
            <a:ext cx="2029967" cy="731520"/>
          </a:xfrm>
          <a:prstGeom prst="rect">
            <a:avLst/>
          </a:prstGeom>
          <a:solidFill>
            <a:srgbClr val="FEF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8632" y="4892040"/>
            <a:ext cx="19385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AI не работает — нужен человек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852160"/>
            <a:ext cx="11274552" cy="64008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Среда определяет AI. Выжившие уважают среду + остаются в узком ODD + не переобещают.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0919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1. Контролируемое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Магистраль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Город+миля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Чрёзв.ситуация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Замыкание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0" b="1" i="0">
                <a:solidFill>
                  <a:srgbClr val="D9E2EC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28800"/>
            <a:ext cx="6492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7293"/>
                </a:solidFill>
                <a:latin typeface="Arial"/>
              </a:rPr>
              <a:t>Раздел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21295C"/>
                </a:solidFill>
                <a:latin typeface="Arial"/>
              </a:rPr>
              <a:t>Контролируемое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9184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Склад: Symbotic+Walmart, Amazon Robotics, AMR (Locus / GreyOrange / Geek+)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Порт: ABB, Konecranes, ZPMC — и ILA-страйки 2024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Железная дорога: KONUX + Deutsche Bahn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Границы уровня 1: гумано-робот ажиотажа, безлюдный миф, капитал интенсивность, распределение сдвиг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Symbotic + Walmart: 400 APD-центров,
более 5 миллиардов портфель заказов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5029200" cy="39319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07-symbotic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37460"/>
            <a:ext cx="4663440" cy="2331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Symbotic · Wikimedia Commons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737360"/>
            <a:ext cx="5943600" cy="39319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1874519"/>
            <a:ext cx="55778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Цифры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400 APD-центров — Walmart обязался развернуть Symbotic (январь 2025)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Более 5 миллиардов долларов портфель заказов — экстраординарный сигнал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(4× годовой выручки вперёд)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$618 миллионов — выручка Symbotic Q4 FY2025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Symbotic делает технически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Паллетизация · депаллетизация · отбор · сортировка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Комбинация классических роботов + мобильных платформ + CV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ML для распознавания SKU, основное управление — детерминированные правила + WMS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Режим провала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Капитальная интенсивность — десятки миллионов на APD-центр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Малые ритейлеры не могут позволить · OEM привязка к вендору риск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Уровень 1 лестницы среды · самая контролируемая среда логистики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Amazon: более 1 миллиона роботов в фулфилменте.
Sparrow → Vulcan: путь от только-зрение к тактильному.</a:t>
            </a:r>
          </a:p>
        </p:txBody>
      </p:sp>
      <p:pic>
        <p:nvPicPr>
          <p:cNvPr id="3" name="Picture 2" descr="s08-amazon-warehouse-robot-2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48802"/>
            <a:ext cx="5029200" cy="37090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Amazon склад робот · 2020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737360"/>
            <a:ext cx="2834640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7880" y="1828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Sparrow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194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51460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Захват из ячейки манипулятор. Зрение + глубина. Ограничения: текстиль, прозрачная упаковка.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737360"/>
            <a:ext cx="2834640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Sequoia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194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514600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Контейнерное хранение. Мехатроника + WMS-логика, не «AI» в строгом смысле.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3749039"/>
            <a:ext cx="2834640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38404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28090"/>
                </a:solidFill>
                <a:latin typeface="Arial"/>
              </a:rPr>
              <a:t>Proteus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4526279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Первый полностью автономный AMR в фулфилменте. SLAM в условиях движущихся людей.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749039"/>
            <a:ext cx="2834640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384047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AB00"/>
                </a:solidFill>
                <a:latin typeface="Arial"/>
              </a:rPr>
              <a:t>Vulcan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2024-25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4526279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+ тактильная чувствительность. Ответ на ограничения Sparrow (текстиль, зеркала).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5852160"/>
            <a:ext cx="5943600" cy="64008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58978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Зрение-стек не универсален. Multi-modal сенсор — урок 3 лет.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Amazon ~1M роботов 2025 · крупнейший складской автоматизатор в мире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AMR-стек: Locus 5 миллиардов операций отбора.
Но AMR — не из коробки (требует развёртывания), пушбэк рабочих по нагрузке — реален.</a:t>
            </a:r>
          </a:p>
        </p:txBody>
      </p:sp>
      <p:pic>
        <p:nvPicPr>
          <p:cNvPr id="3" name="Picture 2" descr="s09-item-picking-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77" y="1737360"/>
            <a:ext cx="4899045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Item Picking Робот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737360"/>
            <a:ext cx="5943600" cy="12801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Locus Robotics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1945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Совместный отбор. 5+ миллиардов операций отбора, 350+ развёртываний.
FedEx · GXO · DHL.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108960"/>
            <a:ext cx="5943600" cy="12801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GreyOrange Butler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5661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Товары-to-person. Рак-полка движется к человеку. Плотность хранения растёт ×1,5-2.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4480560"/>
            <a:ext cx="5943600" cy="12801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45720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Geek+ (Китай)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93776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Лидер по объёмам в Азии. Hybrid совместный + «товар-к-человеку». Расширение в Европу.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5852160"/>
            <a:ext cx="5943600" cy="64008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58978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Worker нагрузка отпор: 50-100 pick/час → 200-250. Toyota Jidoka — augment, не заменить.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AMR не готовый к работе · развёртывание 3-9 месяцев · перепланировка склада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Maasvlakte II · Long Beach LBCT · Yangshan — автоматизированы.
ILA-страйки 2024: технология упирается в трудовую политику.</a:t>
            </a:r>
          </a:p>
        </p:txBody>
      </p:sp>
      <p:pic>
        <p:nvPicPr>
          <p:cNvPr id="3" name="Picture 2" descr="s10b-long-beach-term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737360"/>
            <a:ext cx="5242559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Terminal Island, Long Beach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37360"/>
            <a:ext cx="5486400" cy="39319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74519"/>
            <a:ext cx="51206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Главные поставщики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ABB · STS краны semi-automated (Швейцария)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Konecranes · автоматизированный контейнер обработка (Финляндия)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ZPMC · ~70% мирового рынка STS-кранов (Шанхай)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НЕ автоматизировано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Quay краны — финальное позиционирование = человек/remote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Lashing (закрепление контейнеров) — ручная работа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Inspection · таможня — диспетчеры-люди</a:t>
            </a:r>
          </a:p>
          <a:p>
            <a:pPr algn="l">
              <a:lnSpc>
                <a:spcPct val="120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ILA-страйки октябрь 2024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~85 000 работников · до $5 миллиардов/день ущерба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US East+Gulf Coast — $75-100 миллиардов грузопоток/год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Урок: технология сталкивается с трудовой политика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Maasvlakte II Rotterdam · LBCT Long Beach · Yangshan Shanghai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KONUX + Deutsche Bahn: PdM стрелок зрело.
Гумано-робот и безлюдный склад — пока миф.</a:t>
            </a:r>
          </a:p>
        </p:txBody>
      </p:sp>
      <p:pic>
        <p:nvPicPr>
          <p:cNvPr id="3" name="Picture 2" descr="s11-deutsche-bahn-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1737360"/>
            <a:ext cx="280416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886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Deutsche Bahn ICE Testfahrt · Wikimedia · CC-BY-SA</a:t>
            </a:r>
          </a:p>
        </p:txBody>
      </p:sp>
      <p:pic>
        <p:nvPicPr>
          <p:cNvPr id="5" name="Picture 4" descr="s11b-rail-swi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744" y="4206240"/>
            <a:ext cx="2878111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80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Railway стрелка lever · Wikimedia · CC-BY-SA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73736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Гумано-робот ажиотажа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94560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Tesla Optimus / Figure 02 / UBTech — на 2026 в фазе исследования / пилот. Контрфактив: Amazon Sparrow $50-150K vs гуманоид $100-300K.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320040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32918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Капитальная интенсивность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657600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Один APD-центр Symbotic — десятки миллионов. ZPMC-кран — $10M+. Maasvlakte II — €2 миллиарда. Доступно только крупным.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4663440"/>
            <a:ext cx="5943600" cy="13716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754879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Без-света склад миф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5120640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Работает только в узких категориях (автозапчасти, банковский архив). Широкий SKU с миллионами артикулов — пока нет.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Педагогически: тот же пилот чистилище как в Лекции 11 — adoption ограничен бюрократией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Четыре границы уровня 1: капитал интенсивность, OEM привязка к вендору,
без-света миф, сезонный распределение сдвиг.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54480"/>
            <a:ext cx="301752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Граница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566160" y="1554480"/>
            <a:ext cx="41148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6002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Симптом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554480"/>
            <a:ext cx="402336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600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Что делать инженеру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Капитальная интенсивность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574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3055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APD-центр Symbotic — десятки $M. ZPMC-кран — $10M+. Maasvlakte II — €2 миллиарда. Малые не могут.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0574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130552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Ориентир для малого 3PL — конвейеры + штрих-код + ML-маршрутизация через SaaS (project44, FourKites).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73552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OEM привязка к вендору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2004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27355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Walmart инвестирует миллиарды в Symbotic — стрелка на Knapp/Vanderlande/KION займёт годы и major re-инвестиции.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004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3273552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При long-term контракт: выход strategy? proprietary vs стандартизированные компоненты? стоимость migration через 10 лет?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4340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16552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Без-света склад миф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3434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441655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Работает только в узких категориях. Широкий SKU с миллионами артикулов — долгий хвост краевые случаи (текстиль, returns).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3434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416552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Спросить: «Какой % SKU без вмешательства человека?» Если 99% — попросить логи и список 1% краевые случаи.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8640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559552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Сезонный распределение сдвиг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548640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555955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Чёрная пятница / Рождество / Halloween — каталог наполняется новыми категориями. Sparrow зрение-классификатор ошибается чаще.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5486400"/>
            <a:ext cx="4023360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5559552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Спросить: частота ошибок на пиках vs обычное время? как часто переобучается? кто оплачивает retдождьing cost?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Чек-лист «что спросить» при оценке любого решения уровня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Контролируемое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365760"/>
            <a:ext cx="220919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2. Магистраль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Город+миля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Чрёзв.ситуация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Замыкание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0" b="1" i="0">
                <a:solidFill>
                  <a:srgbClr val="D9E2EC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28800"/>
            <a:ext cx="6492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7293"/>
                </a:solidFill>
                <a:latin typeface="Arial"/>
              </a:rPr>
              <a:t>Раздел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21295C"/>
                </a:solidFill>
                <a:latin typeface="Arial"/>
              </a:rPr>
              <a:t>Магистраль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9184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Aurora Инновации: первая беспилотный коммерческий US (май 2025)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Mobileye Шофёр L3 + КамАЗ-54901 М-11 «Нева»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UPS ORION: операционные исследования, не RL (канонический анти-хайп)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AV-хронология банкротств: Argo / Embark / TuSimple / Waymo Via / Starsky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Совокупно &gt;$20 миллиардов сожжено на невыжившие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Выживший консолидация 10:1 — Waymo, Aurora, Mobileye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Aurora Инновации: 1 мая 2025 — первая в США
коммерческая беспилотная грузоперевозка.</a:t>
            </a:r>
          </a:p>
        </p:txBody>
      </p:sp>
      <p:pic>
        <p:nvPicPr>
          <p:cNvPr id="3" name="Picture 2" descr="s14-aurora-driverless-pr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0554"/>
            <a:ext cx="5943600" cy="3105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Aurora водитель Class-8 грузовик · Aurora press, май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5029200" cy="39319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74519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Цифры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 мая 2025 — старт беспилотный коммерческий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Маршрут Даллас-Хьюстон · ~240 миль I-45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~10 машин к концу 2025 · 100 план 2027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Платформа PACCAR Peterbilt + Aurora водитель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Поэтапный ввод подход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Crawl 2018-2024: безопасность оператор, многолетние тесты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Walk 2023-2024: Dallas-Houston с оператор на отдельных рейсах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Run май 2025: беспилотный коммерческий единичный маршрут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Цитата Chris Urmson (CEO)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«Новая эра грузоперевозок» — не «replacing X% drivers»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Паттерн выживания: поэтапный ввод (ползком-шагом-бегом) · узкий ODD · не переобещают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Mobileye Шофёр L3 eyes-off + КамАЗ-54901 М-11:
две модели на полуструктурированной магистрали.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5669280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65A82"/>
                </a:solidFill>
                <a:latin typeface="Arial"/>
              </a:rPr>
              <a:t>Mobileye Шофёр</a:t>
            </a:r>
          </a:p>
        </p:txBody>
      </p:sp>
      <p:pic>
        <p:nvPicPr>
          <p:cNvPr id="5" name="Picture 4" descr="s15c-mobileye-zeekr-ia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377440"/>
            <a:ext cx="3154679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5262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Mobileye Zeekr · IAA Summit 2023, Munich · Wikimedia · CC-BY-SA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~300K SuperЗрение к 2025, цель 1,2M к 2026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Сначала-камера ADAS без дорогого LiDAR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L3 eyes-off на Polestar 4, Audi Q6, VW Touareg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486400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Arial"/>
              </a:rPr>
              <a:t>КамАЗ-54901 + Cognitive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B7685"/>
                </a:solidFill>
                <a:latin typeface="Arial"/>
              </a:rPr>
              <a:t>Cognitive Pilot — российский разработчик стека восприятия для AV</a:t>
            </a:r>
          </a:p>
        </p:txBody>
      </p:sp>
      <p:pic>
        <p:nvPicPr>
          <p:cNvPr id="11" name="Picture 10" descr="s15b-kamaz-tru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3120" y="2377440"/>
            <a:ext cx="3738879" cy="21031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4526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КамАЗ · Wikimedia Commons · CC-BY-SA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8463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67 единиц на М-11 «Нева» (2024), 10 в коммерческий cargo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План 100 единиц на 2025 + М-12 + ЦКАД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В рамках ЭПР (экспериментального правового режима)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Разные бизнес-модели · потребительская L3 vs коммерческий L4 на выделенный магистрали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UPS ORION: 100M миль/год, $300-400M экономия/год.
Это операционные исследования, не глубокое обучение, не RL.</a:t>
            </a:r>
          </a:p>
        </p:txBody>
      </p:sp>
      <p:pic>
        <p:nvPicPr>
          <p:cNvPr id="3" name="Picture 2" descr="s16-ups-delivery-tru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37360"/>
            <a:ext cx="36576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Typical UPS доставка грузовик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20"/>
            <a:ext cx="5029200" cy="146304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$300-400 миллионов/год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savings для UPS через OR + эвристики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Парк ~125 000 машин · 100 миллионов миль/год экономии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737360"/>
            <a:ext cx="5943600" cy="457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55778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под капотом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Исследование операций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ILP + эвристики + Автомобиль задача маршрутизации (VRP)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НЕ глубокое обучение · НЕ RL · НЕ GenAI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Используемые инструменты: Gurobi, CPLEX, OR-Tools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Алгоритмы датируются 1950-60-ми (теория графов, branch-and-bound)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Когда задавать поставщику вопросы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Какие сравнения с базовая линия OR (Gurobi / OR-Tools)?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Если нет — красный флаг.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Какой VRP-solver? «сквозной deep обучение» → объяснимость?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Stationary спрос или нет? Если да — EOQ может быть достаточным.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Педагогически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UPS ORION = канонический анти-хайп example. Простая задача — OR лучше 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FedEx, Maersk, ZIM, CMA CGM используют specialized OR-solvers для своих задач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AV-грузоперевозки хронология банкротств 2020-2024:
пять компаний на одной линии, серия катастроф.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10332720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10512" y="356616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554480"/>
            <a:ext cx="1883664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Март 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Starsky
Robotics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C0392B"/>
                </a:solidFill>
                <a:latin typeface="Arial"/>
              </a:rPr>
              <a:t>~$200M
сожжено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2608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Первая волна
симуляция-к-реальности эссе</a:t>
            </a:r>
          </a:p>
        </p:txBody>
      </p:sp>
      <p:sp>
        <p:nvSpPr>
          <p:cNvPr id="10" name="Oval 9"/>
          <p:cNvSpPr/>
          <p:nvPr/>
        </p:nvSpPr>
        <p:spPr>
          <a:xfrm>
            <a:off x="3877056" y="3566160"/>
            <a:ext cx="274320" cy="27432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72384" y="1554480"/>
            <a:ext cx="1883664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4" y="16002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Окт 2022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4" y="196596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Argo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246888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C0392B"/>
                </a:solidFill>
                <a:latin typeface="Arial"/>
              </a:rPr>
              <a:t>$7B
сожжено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92608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Ford+VW тянуть финансирование
$2,7B impairment</a:t>
            </a:r>
          </a:p>
        </p:txBody>
      </p:sp>
      <p:sp>
        <p:nvSpPr>
          <p:cNvPr id="16" name="Oval 15"/>
          <p:cNvSpPr/>
          <p:nvPr/>
        </p:nvSpPr>
        <p:spPr>
          <a:xfrm>
            <a:off x="5943600" y="356616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38928" y="1554480"/>
            <a:ext cx="1883664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6002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Март 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196596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Embark
Trucks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46888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C0392B"/>
                </a:solidFill>
                <a:latin typeface="Arial"/>
              </a:rPr>
              <a:t>$5,16B цель
cap, 16 мес.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292608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От SPAC IPO
до банкротства</a:t>
            </a:r>
          </a:p>
        </p:txBody>
      </p:sp>
      <p:sp>
        <p:nvSpPr>
          <p:cNvPr id="22" name="Oval 21"/>
          <p:cNvSpPr/>
          <p:nvPr/>
        </p:nvSpPr>
        <p:spPr>
          <a:xfrm>
            <a:off x="8010144" y="3566160"/>
            <a:ext cx="274320" cy="2743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05472" y="1554480"/>
            <a:ext cx="1883664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1192" y="16002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196596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Waymo Via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46888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C0392B"/>
                </a:solidFill>
                <a:latin typeface="Arial"/>
              </a:rPr>
              <a:t>Alphabet
закрыла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1192" y="292608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Бесконечный капитал
не нашёл прибыльный</a:t>
            </a:r>
          </a:p>
        </p:txBody>
      </p:sp>
      <p:sp>
        <p:nvSpPr>
          <p:cNvPr id="28" name="Oval 27"/>
          <p:cNvSpPr/>
          <p:nvPr/>
        </p:nvSpPr>
        <p:spPr>
          <a:xfrm>
            <a:off x="10076688" y="3566160"/>
            <a:ext cx="274320" cy="27432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72016" y="1554480"/>
            <a:ext cx="1883664" cy="1920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16002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Янв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196596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TuSimple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2468880"/>
            <a:ext cx="17922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1">
                <a:solidFill>
                  <a:srgbClr val="C0392B"/>
                </a:solidFill>
                <a:latin typeface="Arial"/>
              </a:rPr>
              <a:t>91%+ shareholder
value lost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2926080"/>
            <a:ext cx="17922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Nasdaq delisting
US-China напряжение</a:t>
            </a:r>
          </a:p>
        </p:txBody>
      </p:sp>
      <p:pic>
        <p:nvPicPr>
          <p:cNvPr id="34" name="Picture 33" descr="s17-argo-ai-vehicle-2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114800"/>
            <a:ext cx="2743200" cy="1828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57200" y="5989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Argo AI (2021) · Wikimedia · CC-BY-SA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0" y="4114800"/>
            <a:ext cx="5943600" cy="2194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4206240"/>
            <a:ext cx="5577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Общие паттерны невыжившие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Капитал интенсивность без выручка ($1-7B сожжено до коммерции)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SPAC IPO пузырь 2021-2022 (Embark, TuSimple, Aurora)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симуляция-к-реальности разрыв (ML в demo ≠ ML на публичный дороги)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Регуляторная неопределённость (NHTSA SGO, состояние мозаичный)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Misaligned customer спрос (перевозчики хотели выделенный полосаs)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• Выживший консолидация 10:1 — выжили 3-4 из 30+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См. также s22 Stefan Seltz-Axmacher разбор полётов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Совокупно: &gt;$20 миллиардов сожжено на невыжившие
автономный грузоперевозки + robotaxi 2017-2024.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Cruise (GM)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1737360"/>
            <a:ext cx="73152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691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$10.0B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084831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$10B операционный убыток · &lt;$500M выручка · 2016-2024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Argo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377440"/>
            <a:ext cx="512064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2331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$7.0B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72491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Ford $5B+ + VW $2,6B · 2017-2022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TuSimple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3017520"/>
            <a:ext cx="73152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$1.0B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36499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IPO proceeds + private · 91% loss · 2017-2024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Embark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3657600"/>
            <a:ext cx="36576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611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$500M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00507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SPAC цель $5,16B · 16 мес. жизни · 2020-2023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Starsky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297680"/>
            <a:ext cx="146304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4251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$200M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64515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Первая волна · 2015-2020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Waymo Via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937760"/>
            <a:ext cx="365760" cy="2743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4892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$500M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28523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Alphabet инвестиции · сегмент закрыт 2023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&gt;$20 миллиардов  ·  только невыжившие AV-грузоперевозки + robotaxi 2017-2024</a:t>
            </a:r>
          </a:p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До $50 миллиардов с early-stage инвестицииs в Cruise, Zoox, Aurora ранние раунды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Lec-11 Pilot чистилище был $десятки тысяч/пилот · AV-провал в тысячи раз дороже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Выжившие vs выбывшие: 10:1 консолидация.
Waymo, Aurora, Mobileye, Apollo Go — выжившие из 30+.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5486400" cy="4206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AB00"/>
                </a:solidFill>
                <a:latin typeface="Arial"/>
              </a:rPr>
              <a:t>Выжившие (3-4 компании)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Waymo (Alphabet)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Поэтапный ввод · HD-карта + LiDAR + удалённый опс · 500K rides/неделю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Aurora Инновации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One route at a время · Dallas-Houston коммерческий май 2025 · ~10 грузовиков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Mobileye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Сначала-камера ADAS · ~300K потребитель L2/L3 · spin-off Intel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Apollo Go (Baidu)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949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240M км глобально · 17M+ заказов · 22 города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5577840" cy="4206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0392B"/>
                </a:solidFill>
                <a:latin typeface="Arial"/>
              </a:rPr>
              <a:t>Dropouts (&gt;15 компаний)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3172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Argo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24327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$7B сгорело · Ford+VW отозвали финансирование одновременно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26079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Cruise (GM)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18687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$10B → 0 за 8 лет · October 2023 волочения инцидент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20439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TuSimple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1304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Delisting · китайский asset transfer · US-China напряжение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11480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Embark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40740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SPAC bust 16 месяцев от IPO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70916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Waymo Via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00176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Alphabet закрыла собственное грузоперевозки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30352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Starsky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596128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1295C"/>
                </a:solidFill>
                <a:latin typeface="Arial"/>
              </a:rPr>
              <a:t>Первая волна 2020 · разрыв симуляция-к-реальности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989320"/>
            <a:ext cx="11274552" cy="50292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Паттерн выживания: поэтапный ввод (ползком-шагом-бегом) · узкий ODD · не переобещают · терпеливый капитал · уважение к среде.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«AV решит дефицит водителей» — false framing.
Арифметика не сходится на горизонте 2030.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C7293"/>
                </a:solidFill>
                <a:latin typeface="Arial"/>
              </a:rPr>
              <a:t>ATA 2022 — пик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0AB00"/>
                </a:solidFill>
                <a:latin typeface="Arial"/>
              </a:rPr>
              <a:t>78 000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21295C"/>
                </a:solidFill>
                <a:latin typeface="Arial"/>
              </a:rPr>
              <a:t>дефицит водителей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6344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Required пропускная способность: 7,8 миллиарда миль/год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Aurora 10-100 грузовиков к 2027 = 1-10M миль пропускная способность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AV покрывает 0,01-0,13% дефицита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737360"/>
            <a:ext cx="5943600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874519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Что реально решает (не 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231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 Программы виз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7432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Immigration reform, регуляторный rest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1089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 субсидии на обучение CDL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4290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Government программы — компенсация $3-7K стоимость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7947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 Реструктуризация зарплат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1148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Почасовая (включая погрузку) вместо за-милю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4805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 Качество оборудования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8006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Newer грузовиков · ~70% оборот вызвано pay+equipment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16636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·  Проектирование рабочих мест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48640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Local локальный (30-40% оборот) vs дальнобойный (90%+)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Bob Costello (ATA главный экономист): «для всех  неправильных причин» — не AI снизил, спад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Четыре причины провала AV-грузоперевозки стартап'ов:
капитал / регуляторный / SPAC-bust / симуляция-к-реальности.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27432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Причина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737360"/>
            <a:ext cx="365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Пример (компания → год)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79" y="1737360"/>
            <a:ext cx="475488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9" y="17830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Что делать инженеру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2468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Капиталоёмкость
без выручка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24028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31343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Argo AI $7B → Oct 2022
Cruise $10B → Dec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79" y="2240280"/>
            <a:ext cx="47548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8040" y="2313432"/>
            <a:ext cx="44805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Проверять удельная экономика: капитал / коммерческая выручка. Если выручка &lt;5% от капитал — флаг.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3756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10712"/>
            <a:ext cx="2468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Регуляторная
неопределённость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33756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41071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TuSimple (US-China напряжение Jan 2024)
Tesla NHTSA EA22002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79" y="3337560"/>
            <a:ext cx="47548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3410712"/>
            <a:ext cx="44805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Запрашивать legal team опыт. NHTSA SGO авария reports? Pipeline EA-расследованиеs?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07992"/>
            <a:ext cx="2468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SPAC IPO пузырь
2021-2022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43484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450799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Embark 16 месяцев SPAC→банкротство
TuSimple early 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79" y="4434840"/>
            <a:ext cx="47548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507992"/>
            <a:ext cx="44805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Не вкладывать в до получения выручки SPAC-слияния без 5+ лет коммерческой истории. Публичный надзор убьёт ажиотаж.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321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05272"/>
            <a:ext cx="24688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симуляция-к-реальности разрыв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553212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560527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Starsky (Mar 2020) — general причина
каждого недо-выжившего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79" y="5532120"/>
            <a:ext cx="47548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5605272"/>
            <a:ext cx="44805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Запрашивать ratio км в симуляции / км на публичный дороги. Если только sim — серьёзный красный флаг.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Выжившие применяют поэтапный ввод (ползком-шагом-бегом) против всех 4 причин (см. s19)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Старски — первый, кто публично признал разрыв.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332720" cy="256032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1">
                <a:solidFill>
                  <a:srgbClr val="21295C"/>
                </a:solidFill>
                <a:latin typeface="Arial"/>
              </a:rPr>
              <a:t>«Supervised machine learning doesn't live up to the hype.»</a:t>
            </a:r>
          </a:p>
          <a:p>
            <a:pPr algn="ctr">
              <a:lnSpc>
                <a:spcPct val="125000"/>
              </a:lnSpc>
            </a:pPr>
            <a:r>
              <a:rPr sz="1400" b="0" i="1">
                <a:solidFill>
                  <a:srgbClr val="065A82"/>
                </a:solidFill>
                <a:latin typeface="Arial"/>
              </a:rPr>
              <a:t>«Контролируемое машинное обучение не оправдывает ажиотажа.»</a:t>
            </a:r>
          </a:p>
          <a:p>
            <a:pPr algn="ctr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2000" b="1" i="1">
                <a:solidFill>
                  <a:srgbClr val="21295C"/>
                </a:solidFill>
                <a:latin typeface="Arial"/>
              </a:rPr>
              <a:t>«Sim-to-real has very real limits.»</a:t>
            </a:r>
          </a:p>
          <a:p>
            <a:pPr algn="ctr">
              <a:lnSpc>
                <a:spcPct val="125000"/>
              </a:lnSpc>
            </a:pPr>
            <a:r>
              <a:rPr sz="1400" b="0" i="1">
                <a:solidFill>
                  <a:srgbClr val="065A82"/>
                </a:solidFill>
                <a:latin typeface="Arial"/>
              </a:rPr>
              <a:t>«У разрыва симуляция-к-реальности есть очень реальные пределы.»</a:t>
            </a:r>
          </a:p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— Стефан Зельц-Аксмахер, основатель и CEO Starsky Robotics,</a:t>
            </a:r>
          </a:p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Medium-эссе «The end of Starsky Robotics», март 2020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389120"/>
            <a:ext cx="3749039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48055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ML не оправдывает ожиданий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59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Каждый новый краевой случай требует размеченных данных. До получения выручки масштаба денег не хватает.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89120"/>
            <a:ext cx="3749039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8055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Разрыв симуляция-к-реальности — реальный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59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Симуляция не покрывает длинный хвост. ML, обученная только на sim, не обобщается на дороги общего пользования.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3749039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5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Крупные контракты не материализуются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59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Грузоперевозчики — консервативные клиенты. Неиспытанный стек не покупают.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3749039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ML не оправдывает ожиданий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59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Каждый новый краевой случай требует размеченных данных. До получения выручки масштаба денег не хватает.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389120"/>
            <a:ext cx="3749039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5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Разрыв симуляция-к-реальности — реальный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37759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Симуляция не покрывает длинный хвост. ML, обученная только на sim, не обобщается на дороги общего пользования.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389120"/>
            <a:ext cx="3749039" cy="15544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480559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Крупные контракты не материализуются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59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Грузоперевозчики — консервативные клиенты. Неиспытанный стек не покупают.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Жертва первой волны · откровенный разбор полётов от основателя · читать эссе полностью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Контролируемое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Магистраль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365760"/>
            <a:ext cx="220919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3. Город+миля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4. Чрёзв.ситуация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Замыкание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0" b="1" i="0">
                <a:solidFill>
                  <a:srgbClr val="D9E2EC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28800"/>
            <a:ext cx="6492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7293"/>
                </a:solidFill>
                <a:latin typeface="Arial"/>
              </a:rPr>
              <a:t>Раздел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21295C"/>
                </a:solidFill>
                <a:latin typeface="Arial"/>
              </a:rPr>
              <a:t>Город + последняя миля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9184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Robotaxi выжившие: Waymo · Apollo Go · Pony.ai · WeRide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Pony.ai удельная экономика — Гуанчжоу Nov 2025 (1st) · Шэньчжэнь Feb 2026 (2nd)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Tesla Robotaxi Austin: только-зрение без HD-map, 14 ДТП за 8 мес.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Последняя миля: Starship · Coco · Zipline · Nuro разворот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Cruise GM выход — центральный кейс ($10B → 0)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Uber Tempe 2018 · Tesla Autopilot 54 смертельных случаев NHTSA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Waymo март 2026: 500 000 поездок/неделю, 3 067 машин 5-го поколения.
HD-карта + LiDAR + удалённый опс + формальный безопасность кейс.</a:t>
            </a:r>
          </a:p>
        </p:txBody>
      </p:sp>
      <p:pic>
        <p:nvPicPr>
          <p:cNvPr id="3" name="Picture 2" descr="s24-waymo-self-driving-s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" y="1737360"/>
            <a:ext cx="5897879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Waymo Jaguar I-Pace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5029200" cy="39319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74519"/>
            <a:ext cx="46634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Цифры март 2026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500 000 платных поездок/неделю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3 067 машин 5-го поколения (NHTSA Dec 2025)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10+ городов: Phoenix · SF · LA · Austin · Atlanta · Miami · Dallas · Houston · San Antonio · Orlando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14M совокупно поездок за 2025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Рост ×10 за 19 месяцев (с 50K/неделю мая 2024)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Стек подход «полный набор сенсоров»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HD-карта · LiDAR · камеры · радар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Удалённые операторы (assistance, не driving)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Формальный безопасность кейс (регуляторный document)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Что НЕ публикует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Per-trip удельная экономика — большая черная коробка на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Паттерн выживания: поэтапный ввод (ползком-шагом-бегом) · узкий ODD · не переобещают · терпеливый капитал Alphabet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Robotaxi Китая: Apollo Go + Pony.ai + WeRide.
Господдержка + единая регуляторика + масштаб.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3703320" cy="32918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3703320" cy="914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Apollo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Baidu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39"/>
            <a:ext cx="3337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240M автономных км глобально · 17M+ заказов · 22 города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737360"/>
            <a:ext cx="3703320" cy="32918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9" y="1737360"/>
            <a:ext cx="3703320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Pony.ai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860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NYSE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834639"/>
            <a:ext cx="3337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300 машин Gen-7 BAIC к Oct 2025 · цель 1000 к концу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37360"/>
            <a:ext cx="3703320" cy="32918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737360"/>
            <a:ext cx="370332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WeRide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2860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834639"/>
            <a:ext cx="33375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Q3 2025 robotaxi выручка 35,3M юаней · +761% YoY</a:t>
            </a:r>
          </a:p>
        </p:txBody>
      </p:sp>
      <p:pic>
        <p:nvPicPr>
          <p:cNvPr id="18" name="Picture 17" descr="s25-apollo-go-rt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80" y="5212080"/>
            <a:ext cx="2275839" cy="1280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Apollo Go Apollo RT6 · Hubei 2025 · Wikimedia · CC-BY-SA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212080"/>
            <a:ext cx="5486400" cy="128016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Goldman Sachs прогноз 2025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China robotaxi: ×700 рост от 2025 к $47B к 2035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Может обогнать US по числу trips к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Государственная координация + единая регуляторика на национальном уровне (vs US состояние мозаичный)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Pony.ai: первая положительная unit-экономика на машину.
Гуанчжоу Nov 2025 (1st) · Шэньчжэнь Feb 2026 (2nd).</a:t>
            </a:r>
          </a:p>
        </p:txBody>
      </p:sp>
      <p:pic>
        <p:nvPicPr>
          <p:cNvPr id="3" name="Picture 2" descr="s26-pony-ai-lex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8857"/>
            <a:ext cx="5029200" cy="2828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Pony.ai Lexus RX450h · Guangdong, 2024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737360"/>
            <a:ext cx="5943600" cy="42976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1874519"/>
            <a:ext cx="557784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Хронология</a:t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Ноябрь 2025 · ГУАНЧЖОУ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Первый город с положительной операционный прибыль на машину</a:t>
            </a:r>
          </a:p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Февраль 2026 · ШЭНЬЧЖЭНЬ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Второй город. Расширение паттерн.</a:t>
            </a:r>
          </a:p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(SEC 6-K: ~338 юаней daily net income/автомобиль · ~23 заказа/день)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означает (и что НЕ означает)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Означает: удельная экономика на парк в отдельных городах = положительная.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НЕ означает: что компания в целом прибыльна. R&amp;D, маркетинг не покрыты.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НЕ означает: что весь сегмент robotaxi прибылен.</a:t>
            </a:r>
          </a:p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Педагогически point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Первый сигнал, что robotaxi может выйти из venture-жжения. Не magic pill.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Контраст с Waymo: не публикует за-поездку экономика · большой чёрный ящик на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Tesla Robotaxi Austin: 22 июня 2025 — старт.
~800 000 миль · 14 ДТП за 8 месяцев · только-зрение без HD-карты.</a:t>
            </a:r>
          </a:p>
        </p:txBody>
      </p:sp>
      <p:pic>
        <p:nvPicPr>
          <p:cNvPr id="3" name="Picture 2" descr="s27-tesla-model-y-myle-2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7601"/>
            <a:ext cx="5029200" cy="28655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709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Tesla Model Y (2025) · MYLE Festival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029200"/>
            <a:ext cx="5029200" cy="13716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Хронология 2025-2026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22 июня 2025 · старт с ~10 машин + безопасность monitor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Декабрь 2025 · тесты без операторs (employees)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Январь 2026 · публичный unsupervised режим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0392B"/>
                </a:solidFill>
                <a:latin typeface="Arial"/>
              </a:rPr>
              <a:t>Февраль 2026 · 14 ДТП Austin зарегистрировано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Март-апрель 2026 · downtown Austin · Houston · Dallas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737360"/>
            <a:ext cx="5943600" cy="46634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Comparison с Waymo (без demonization)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Tesla Austin ~800K миль · Waymo ~10M миль/неделю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Объём в 1000 раз меньше — sample size слишком мал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«Safer than Waymo» — НЕ доказано · «Хуже Waymo» — НЕ доказано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Нужны 3 года данных + сравнение пробег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Только-зрение без HD-карты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Tesla верит: сквозной только-зрение стек достаточен для L4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Waymo: multi-modal сенсор стек + HD-map (проверенный паттерн)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На 2026 — статистически не доказано, кто прав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Урок для инженера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Человеческая базовая линия: ~1 смертельный на 100M миль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Tesla 14 на 800K — пересчитайте на 100M, сравните с базовая линия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Без denominator + базовая линия нельзя оценить «safer/менее safe»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«We Robotaxi everywhere by конец of 2026» — Musk Oct 2024. На середину 2026: Austin+Houston+Dallas.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Последняя миля: Starship 9M+ доставок · Coco 1000+ роботов LA.
Zipline 100M миль Africa · Nuro разворот 2024 — выход B2C.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91640"/>
            <a:ext cx="5669280" cy="23774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Starship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9456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9M+ доставок
2700+ роботов
60+ кампусов 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9456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Где работает: кампусы, узкий controlled
Где не: плотный городской (снег, вандализм)</a:t>
            </a:r>
          </a:p>
        </p:txBody>
      </p:sp>
      <p:pic>
        <p:nvPicPr>
          <p:cNvPr id="7" name="Picture 6" descr="s28b-starship-tartu-2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870" y="3246120"/>
            <a:ext cx="116586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8404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Starship робот · Tartu, 2017 · Wikimedia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669280" cy="23774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Coco Robotics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1000+ роботов в LA
500K+ доставок
Цель 10K единиц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9456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LA + Dallas + Miami + Helsinki + Chicago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60520"/>
            <a:ext cx="5669280" cy="23774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5196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Zipline (дроны Africa)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6344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100M миль (Mar 2025)
2M доставок (Jan 2026)
22M доз вакцин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6634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$7,6B оценка · $150M State Dept Nov 2025
Proven массовый-развёртывание медицинский Africa</a:t>
            </a:r>
          </a:p>
        </p:txBody>
      </p:sp>
      <p:pic>
        <p:nvPicPr>
          <p:cNvPr id="17" name="Picture 16" descr="s28-zipline-drone-laun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389" y="5715000"/>
            <a:ext cx="1128820" cy="777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60" y="630936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Zipline Дрон Launch · Wikimedia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60520"/>
            <a:ext cx="5669280" cy="23774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5196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Nuro разворот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4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Exit B2C доставка 2024
Pivot к лицензированию
автономный-стека OEM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6634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Урок: B2C доставка не оказался
прибыльный в American городской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Тротуарный роботs — узкие ниши · дрон городской US — FAA заблокировано · медицинский Africa — единственный проверенный массовый-развёртывание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Cruise: 10 миллиардов сожжено, менее 500 миллионов выручки.
От 2 окт 2023 (инцидент SF) до 11 дек 2024 (GM выход) — 14 мес. краха.</a:t>
            </a:r>
          </a:p>
        </p:txBody>
      </p:sp>
      <p:pic>
        <p:nvPicPr>
          <p:cNvPr id="3" name="Picture 2" descr="s29-cruise-bolt-s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7360"/>
            <a:ext cx="4876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Cruise Automation Bolt EV in San Francisco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20"/>
            <a:ext cx="5943600" cy="16459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5577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Хронология 2016 → дек 2024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2016 — GM покупает Cruise за $1B+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2018-2022 — обширный финансирование, быстрое ODD расширение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0392B"/>
                </a:solidFill>
                <a:latin typeface="Arial"/>
              </a:rPr>
              <a:t>2 окт 2023 — инцидент SF (волочения инцидент 20 футов)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0392B"/>
                </a:solidFill>
                <a:latin typeface="Arial"/>
              </a:rPr>
              <a:t>24 окт 2023 — California DMV отозвал лицензию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Late 2023 — mass layoffs, freezing operations</a:t>
            </a:r>
          </a:p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0392B"/>
                </a:solidFill>
                <a:latin typeface="Arial"/>
              </a:rPr>
              <a:t>11 дек 2024 — GM полный выход · $10B+ убытки · &lt;$500M выручка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5029200" cy="47548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74519"/>
            <a:ext cx="46634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4 уровня провал паттерн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1. Technical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Observe сработал · Decide провалился (тянуть over → катастрофа). Provал 2-й стадии OODA.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2. Бизнес режимl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Капитал интенсивность без выручка. $10B vs &lt;$500M = 20:1.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3. Регуляторy / доверие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Cruise представила инцидент менее severely чем был. DMV отозвал не за инцидент, за сокрытие.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4. Cultural / organizational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GM-Cruise hybrid культура · misalignment затрудняло поэтапный ввод (ползком-шагом-бегом) discipline.</a:t>
            </a:r>
          </a:p>
          <a:p>
            <a:pPr algn="l">
              <a:lnSpc>
                <a:spcPct val="120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Урок</a:t>
            </a:r>
          </a:p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Один волочения инцидент + DMV доверие нарушение = убийство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Паттерн выживания Waymo: поэтапный ввод (ползком-шагом-бегом), conservative ODD, формальный безопасность кейс · Cruise: быстрое ODD ради IPO хронология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18 марта 2018, Tempe, Arizona. Элейн Хёрцберг — first AV-пешеход смертельный случай.
Uber отключил заводское AEB, водитель смотрел телевизор.</a:t>
            </a:r>
          </a:p>
        </p:txBody>
      </p:sp>
      <p:pic>
        <p:nvPicPr>
          <p:cNvPr id="3" name="Picture 2" descr="s30-uber-volvo-s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37360"/>
            <a:ext cx="48768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262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Uber Self Driving Volvo · San Francisco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20"/>
            <a:ext cx="5943600" cy="16459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55778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Что технически произошло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Камера обнаружила пешехода 5,6 сек до удара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Классификатор восприятия провалился: не классифицировал как пешеход</a:t>
            </a:r>
          </a:p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(Hertzberg была вне пешеходный переход + с велосипедом → вне-распределения)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0392B"/>
                </a:solidFill>
                <a:latin typeface="Arial"/>
              </a:rPr>
              <a:t>Uber отключил заводское автоматический экстренное торможение (AEB) на Volvo XC90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Резерв водитель: watching TV (Hulu (стриминг)) во время инцидента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737360"/>
            <a:ext cx="5029200" cy="475488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74519"/>
            <a:ext cx="466344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NTSB quote (HAR-19/03)</a:t>
            </a:r>
          </a:p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«Uber ATG's deactivation of its автоматический экстренное торможение система increased  risks associated with testing автоматизированный автомобильs on публичный дороги.»</a:t>
            </a:r>
          </a:p>
          <a:p>
            <a:pPr algn="l">
              <a:lnSpc>
                <a:spcPct val="125000"/>
              </a:lnSpc>
            </a:pPr>
            <a:r>
              <a:rPr sz="4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«Uber's недостаточный безопасность культура and недостаточный безопасность risk assessment procedures were cited as factors.»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Четыре урока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• ODD критический: обучение данные смещение на пешеходы вне пешеходный переход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• Никогда не отключать заводское безопасность systems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• Безопасность внимание водителя не reliable (10-15 мин)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• Безопасная культура organization имеет значение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Резерв водитель: pleaded guilty endangerment 2023, 3 года supervised испытательный срок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Foundation для NHTSA постановление NHTSA on отчётность об авариях · институциональный legacy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NHTSA SGO Oct 2025: 65 сообщений, 54 проверенный смертельных случаев Tesla Autopilot.
EA22002: 13 смертельный ДТП с предвидимое неправильное использование.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3657600" cy="41148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NHTSA SGO Oct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C0392B"/>
                </a:solidFill>
                <a:latin typeface="Arial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проверенный смертельных случаев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7685"/>
                </a:solidFill>
                <a:latin typeface="Arial"/>
              </a:rPr>
              <a:t>(65 reported)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EA22002: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13 смертельный ДТП с предвидимое неправильное использование паттерн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7315200" cy="457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6949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EA22002 расследование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NHTSA открыл 2022 — для Tesla Autopilot специфически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Главный вопрос: достаточно ли мониторинг водителя? warning system?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Pattern: водители используют Autopilot для нежных условий (sleep, read)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Foreseeable неправильное использование — концепт инженерное standards. 13 смертельный ДТП = структурная проблема дизайна, не вина водителей.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Четыре урока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Наименование имеет значение — «Autopilot» / «FSD («полное» самовождение)» приглашение избыточное доверие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Мониторинг водителя обязателен (real вовлечённость проверка, не камера-смотрит-на-лицо)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Краевой случайs в perception (sun засветка, припаркованный экстренное автомобильs)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Только-зрение без HD-map — исследование-stage для L4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Статистический comparison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Человеческая базовая линия: ~1 смертельный на 100M миль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Tesla 54 смертельных случаев на ~70M миль Autopilot — extrapolation НЕ безопаснее человек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Вендор PR утверждает обратное · NHTSA раскрытие показывает структурный паттерн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Tesla Автомобиль Безопасность Report использует Tesla's own определение vs human-driver ALL мили · apples-to-oranges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Четыре урока городского AV: ODD дисциплина / мониторинг водителя /
наименование имеет значение / аппаратура ≠ платформа.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292608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Урок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737360"/>
            <a:ext cx="36576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Демонстрирующий кейс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59" y="1737360"/>
            <a:ext cx="4572000" cy="4572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9" y="17830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Что делать инженеру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29260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26517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ODD дисциплина критична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4028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231343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Cruise (волочения + быстрое расширение)
Uber Tempe (обучение смещение)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59" y="2240280"/>
            <a:ext cx="45720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2313432"/>
            <a:ext cx="42976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При оценке AV-программы: какой ODD? условия за пределами ODD? процесс validation для новый расширение?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37560"/>
            <a:ext cx="29260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10712"/>
            <a:ext cx="26517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Мониторинг водителя обязателен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333756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1879" y="341071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Tesla Autopilot 54 смертельных случаев NHTSA
EA22002 13 смертельный с предвидимое неправильное использование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59" y="3337560"/>
            <a:ext cx="45720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3410712"/>
            <a:ext cx="42976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При L2/L3: реальный вовлечённость проверка, не камера-смотрит-на-лицо. Что система делает при distracted driver?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34840"/>
            <a:ext cx="29260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07992"/>
            <a:ext cx="26517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Наименование имеет значение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443484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79" y="450799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Tesla «Autopilot» / «FSD («полное» самовождение)» — приглашение избыточное доверие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59" y="4434840"/>
            <a:ext cx="45720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19" y="4507992"/>
            <a:ext cx="42976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Никогда не называть L2 ADAS «пилот» / «автономный» / «самоуправление». Использовать терминологию уровней SAE.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532120"/>
            <a:ext cx="292608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05272"/>
            <a:ext cx="265176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Аппаратура ≠ платформа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5532120"/>
            <a:ext cx="36576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79" y="5605272"/>
            <a:ext cx="33832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Cruise (GM аппаратура-OEM культура vs программная платформа требования)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59" y="5532120"/>
            <a:ext cx="4572000" cy="105156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19" y="5605272"/>
            <a:ext cx="4297680" cy="914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Когда OEM покупает software стартап — cultural интеграция plan? GE Predix (GE) lesson повторяется.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Связи: ODD + мониторинг водителя · наименование + ODD · аппаратура ≠ платформа (GE Predix (GE) → Cruise GM)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1. Контролируемое</a:t>
            </a:r>
          </a:p>
        </p:txBody>
      </p:sp>
      <p:sp>
        <p:nvSpPr>
          <p:cNvPr id="4" name="Rectangle 3"/>
          <p:cNvSpPr/>
          <p:nvPr/>
        </p:nvSpPr>
        <p:spPr>
          <a:xfrm>
            <a:off x="271211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1211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2. Магистраль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67020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67020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3. Город+миля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1931" y="365760"/>
            <a:ext cx="2209190" cy="292608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193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4. Чрёзв.ситуация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76841" y="365760"/>
            <a:ext cx="2209190" cy="292608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76841" y="402336"/>
            <a:ext cx="220919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B7685"/>
                </a:solidFill>
                <a:latin typeface="Arial"/>
              </a:rPr>
              <a:t>5. Замыкание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0" b="1" i="0">
                <a:solidFill>
                  <a:srgbClr val="D9E2EC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828800"/>
            <a:ext cx="6492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C7293"/>
                </a:solidFill>
                <a:latin typeface="Arial"/>
              </a:rPr>
              <a:t>Раздел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21295C"/>
                </a:solidFill>
                <a:latin typeface="Arial"/>
              </a:rPr>
              <a:t>Чрезв. ситуация + рамка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9184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Хуситы в Красном море 2024 — 90% drop за 2 месяца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Suez Ever Given 2021 — 12% мировой торговля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COVID 2020 снабжение chain обвал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Дефицит дальнобойщиков 78K — структурная, не AI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Рамка решения: 5 критериев AI/не AI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65A82"/>
                </a:solidFill>
                <a:latin typeface="Arial"/>
              </a:rPr>
              <a:t>·  Alternative инструментарий: OR / EOQ / сценарный / на правилах / HITL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Хуситы в Красном море, конец 2023. За 2 месяца контейнерный трафик упал на 90%.
Область, в которой ML слеп по определению.</a:t>
            </a:r>
          </a:p>
        </p:txBody>
      </p:sp>
      <p:pic>
        <p:nvPicPr>
          <p:cNvPr id="3" name="Picture 2" descr="s34b-prosperity-guardian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20" y="1737360"/>
            <a:ext cx="4380359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Map of Operation Prosperity Guardian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5029200" cy="457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74519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Цифры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Декабрь 2023 — атаки начались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К февралю 2024: трафик через Red Sea упал на 90% (US DIA)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Daily объём: 4M т → 1,7M т (−57,5%)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Прежде через Red Sea: ~15% морской торговли + ~30% глобальный контейнер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+30% транзит время через Cape of Good Hope (Asia-Europe)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−9% эффективный глобальный контейнер пропускная способность (J.P. Morgan)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Что НЕ работало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ML спрос прогноз полностью вне распределения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Оптимизационные решатели — нет данных о новых транзит times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РАБОТАЛО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Диспетчеры-люди в исключение-teams (Maersk, MSC, CMA CGM, Hapag-Lloyd)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Сценарное планирование (компании с готовыми сценариями)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OR с ручное переопределение (Gurobi/OR-Tools перекалибровано)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Урок: ML по определению слеп на вне распределения событиях · уровень 5 = НЕ AI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Suez Ever Given март 2021: 6 дней блокировки, 12% мировой торговли,
$9,6 миллиарда удержанных грузов. AI не имела роли.</a:t>
            </a:r>
          </a:p>
        </p:txBody>
      </p:sp>
      <p:pic>
        <p:nvPicPr>
          <p:cNvPr id="3" name="Picture 2" descr="s35-ever-given-sue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54864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406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IMO 9811000 EVER GIVEN · Wikimedia · CC-BY-SA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737360"/>
            <a:ext cx="5029200" cy="457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874519"/>
            <a:ext cx="4663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Факты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23-29 марта 2021 · 6 дней блокировки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Ever Given — 400-метровый ULCV (Ultra Large Контейнер Vessel)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~12% мировой торговля проходило через Suez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$9,6 миллиарда товары застряло (Bloomberg)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$400M/час delay стоимость estimates (CNBC)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произошло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Sand storm + strong winds + пилот решениеs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Канал 200 м ширины · корабль больше в крайних углах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AI не имела роли — физика + pilotage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помогло разблокировать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Engineering, НЕ AI: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Tug boats (10+) · dredging · lunar tide 28-29 марта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Совокупно effort 5,5 дней — инженерное teams 24/7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Урок: physical infrastructure problem требует инженерное решения, не AI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COVID 2020: точно-в-срок не работает на black-swan.
Человеческое исключение-управление спасло.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3703320" cy="2286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3703320" cy="640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Март-Апрель 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7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Initial shock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Lockdowns Wuhan → Italy → Spain → US за 6 недель.
Спрос на потребитель товары всплеск (туалетная бумага, электроника, товары для дома).
Спрос на travel collapse.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737360"/>
            <a:ext cx="3703320" cy="2286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59" y="1737360"/>
            <a:ext cx="370332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2020-2021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7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Chaos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Ports congested (Long Beach 109 ships waiting Oct 2021).
Контейнер rates всплеск 5-10×.
точно-в-срок сломалось. дефицит СИЗ. дефицит чипов.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37360"/>
            <a:ext cx="3703320" cy="2286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737360"/>
            <a:ext cx="3703320" cy="6400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2022+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11679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Recalibration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514600"/>
            <a:ext cx="3429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Buffer запасы · многоисточниковый снабжение · nearshoring (Mexico для US, Turkey/Vietnam для Europe).
«запас «на случай»» вместо «точно-в-срок».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5669280" cy="2240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0392B"/>
                </a:solidFill>
                <a:latin typeface="Arial"/>
              </a:rPr>
              <a:t>Что НЕ работало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ML спрос прогнозing — pre-COVID распределение, точность упала на порядок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Оптимизационные решатели для запасы — стационарный спрос допущение сломалось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Real-time analytics — данные есть, решениеs от человек суждение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06240"/>
            <a:ext cx="5486400" cy="2240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1206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РАБОТАЛО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Управление исключениями человеком — ручное восстановление цепочки поставок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Сценарное планирование — готовых сценариев (post-SARS планы 2003)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Диверсифицированные снабжение base (многоисточниковый = resilience)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Cash reserves для buy-through scarcity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Педагогически: «ML запасы оптимизация» — pitch для стационарный мировой. В мировой с black-swans — buffer + многоисточниковый + сценарный работает лучше.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Дефицит дальнобойщиков — структурная проблема трудовой политики, не AI.
Решается политикой, переподготовкой, условиями труда.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5486400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Цифры (ATA)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78 000 дефицит в 2022 (пик)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~60 000 в 2023 («для всех  неправильных причин» — Bob Costello)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1,2 миллиона новых нужны за десятилетие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&gt;90% годовой оборот at large carriers (дальнобойный)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~16% female водители (vs ~50% overall рабочая сила)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Корневые причины (структурные)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Старение рабочая сила (mean age 52, retirement wave)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Оплата за милю (not почасовая) — эффективный wage под minimum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Lifestyle — дальнобойный недели от дома, family-incompatible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CDL обучение стоимость $3-7K, benefit unclear первые годы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737360"/>
            <a:ext cx="5577840" cy="41148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74519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Не-AI решения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Программы виз (H-2B расширение для грузовик водители)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субсидии на обучение CDL (government программы)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Реструктуризация зарплат (почасовая включая погрузку время)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Качество оборудования (newer грузовиков, lower пробег)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Проектирование рабочих мест (local локальный vs дальнобойный)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Почему AV не решит (отзыв s20)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78K deficit = 7,8 миллиарда миль пропускная способность needed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Aurora 10-100 грузовиков 2027 = 1-10M миль пропускная способность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AV покрывает 0,01-0,13% дефицита через 2027 год</a:t>
            </a:r>
          </a:p>
          <a:p>
            <a:pPr algn="l">
              <a:lnSpc>
                <a:spcPct val="125000"/>
              </a:lnSpc>
            </a:pPr>
            <a:r>
              <a:rPr sz="6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Урок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Структурные проблемы требуют структурный решений.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AI может помочь на margins, не заменить политика.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Bob Costello (ATA главный экономист): «для всех  неправильных причин» — спад, не AV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Рамка решения: 5 критериев AI/не AI в логистике.
Среда · задача · спрос · безопасность · распределение.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737360"/>
            <a:ext cx="2212848" cy="4206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43584" y="1874519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3584" y="187451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2029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Среда контролируемая?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202996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Да → AI applicable
(склад · port · железная дорога)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9377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83479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1295C"/>
                </a:solidFill>
                <a:latin typeface="Arial"/>
              </a:rPr>
              <a:t>Symbotic, Amazon, KONUX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1737360"/>
            <a:ext cx="2212848" cy="4206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1" y="1874519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1" y="187451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651760"/>
            <a:ext cx="2029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Чётко определённая оптимизация
(TSP, VRP, планирование расписаний)?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657600"/>
            <a:ext cx="202996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Да → OR &gt; RL/ML
(Gurobi, CPLEX, OR-Tools)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7" y="49377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4983479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1295C"/>
                </a:solidFill>
                <a:latin typeface="Arial"/>
              </a:rPr>
              <a:t>UPS ORION — $300-400M/год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737360"/>
            <a:ext cx="2212848" cy="4206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0" y="1874519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87451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5" y="2651760"/>
            <a:ext cx="2029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Спрос стационарный?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5775" y="3657600"/>
            <a:ext cx="202996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Да → EOQ + безопасность запас
+ ABC &gt; 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11496" y="49377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936" y="4983479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1295C"/>
                </a:solidFill>
                <a:latin typeface="Arial"/>
              </a:rPr>
              <a:t>Аудит: какой % SKU реально требует ML? Часто &lt;20%.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2903" y="1737360"/>
            <a:ext cx="2212848" cy="4206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19288" y="1874519"/>
            <a:ext cx="640080" cy="64008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187451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2651760"/>
            <a:ext cx="2029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Критично для безопасности с
регуляторный аудит?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3657600"/>
            <a:ext cx="202996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Да → на правилах + HITL
(FDA (рег.), FAA, IMO)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70063" y="49377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4983479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1295C"/>
                </a:solidFill>
                <a:latin typeface="Arial"/>
              </a:rPr>
              <a:t>Чёрный ящик ML не работает в регулируемых отраслях.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1737360"/>
            <a:ext cx="2212848" cy="420624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77856" y="1874519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6" y="187451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1" y="2651760"/>
            <a:ext cx="202996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Событие в распределении?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82911" y="3657600"/>
            <a:ext cx="202996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Да → ML scoring
Нет → человек-диспетчер
+ сценарный планирование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28632" y="49377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20072" y="4983479"/>
            <a:ext cx="17556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1">
                <a:solidFill>
                  <a:srgbClr val="21295C"/>
                </a:solidFill>
                <a:latin typeface="Arial"/>
              </a:rPr>
              <a:t>Хуситы, Suez, COVID — вне распределения = ML слеп.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12648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Это не «всегда AI» или «никогда AI». Рамка разбивает нагрузку на категории + правильный инструмент на каждую.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+ дополняется 7 вопросами вендору (слайд s40)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Альтернативный инструментарий инженера-логиста: 6 классов инструментов.
AI — один из шести, не «универсальное решение».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Инструмент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737360"/>
            <a:ext cx="22860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37560" y="1783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Задача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737360"/>
            <a:ext cx="27432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79" y="1783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Вендор / открытый исходный код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737360"/>
            <a:ext cx="338328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783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Пример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48840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OR (Исследование операций)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148840"/>
            <a:ext cx="22860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9456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Маршрутизация (TSP, VRP), планирование расписаний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148840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79" y="219456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Gurobi, CPLEX, Google OR-Tools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148840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194560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UPS ORION — $300-400M/год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43784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89504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Классические запасы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43784"/>
            <a:ext cx="22860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889504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Управление запасами при стационарный спрос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2843784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79" y="2889504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(формулы 1913+)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2843784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889504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EOQ · безопасность запас · ABC-анализ для большинства SKU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38728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58444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Сценарное планирование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3538728"/>
            <a:ext cx="22860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3584448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устойчивость к чёрному лебедю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3538728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79" y="358444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Shell-style · McKinsey сценарный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3538728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3584448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Maersk post-COVID резервирование планирование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233672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79392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правиловое зрение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6120" y="4233672"/>
            <a:ext cx="22860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427939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Контролируемое-env QC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577840" y="4233672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79" y="4279392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OpenCV · HALCON · Cognex (визуальный осмотр)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4233672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4279392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Bottle инспекция на пивоварне (см. lec-11)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928616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97433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гибрид CV + обработка сигналов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46120" y="4928616"/>
            <a:ext cx="22860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4974336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многосенсорный осмотр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77840" y="4928616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79" y="497433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Cognex (визуальный осмотр) ЗрениеPro + radar/ультразвук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4928616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4974336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Контейнер ущерб инспекция в портах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623559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5669279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Human-in-the-loop (HITL)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46120" y="5623559"/>
            <a:ext cx="22860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37560" y="5669279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Exception обработка, accountability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77840" y="5623559"/>
            <a:ext cx="274320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79" y="5669279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Инструменты управления процессами — Jira, ServiceNow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66760" y="5623559"/>
            <a:ext cx="3383280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58200" y="5669279"/>
            <a:ext cx="3200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Maersk исключение teams для Red Sea rerouting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612648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Инженер-логист, знающий только AI — incomplete engineer. AI ≠ универсальное решение.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Семь вопросов вендору на завтра —
практический инструмент для кармана.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5532120" cy="14173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Какое сравнение с базовой линией OR
(Google OR-Tools, Gurobi, CPLEX)?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Почему: UPS ORION: OR &gt; ML для чётко поставленной оптимизации.
Если поставщик не делал сравнения — красный флаг.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554480"/>
            <a:ext cx="5532120" cy="14173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0" y="17373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59" y="1645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Какой ваш ODD,
и как валидируется новое расширение?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Почему: Cruise dragging инцидент Oct 2023 — провал именно ODD-дисциплины.
Расширение без обширной валидации — анти-паттерн.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5532120" cy="14173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20040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089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Какой ваш стек мониторинга водителя
(для L2/L3)?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94759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Почему: Tesla EA22002: 13 смертельных ДТП с предсказуемым неправильным использованием.
Структурная проблема дизайна, не вина водителей.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59" y="3017520"/>
            <a:ext cx="5532120" cy="14173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17920" y="3200400"/>
            <a:ext cx="457200" cy="457200"/>
          </a:xfrm>
          <a:prstGeom prst="ellipse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200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59" y="31089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Отношение км в симуляции / км на дорогах общего пользования?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794759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Почему: Starsky разрыв симуляция-к-реальности.
Если только симуляция — серьёзный красный флаг.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5532120" cy="14173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466344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63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720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Частота ошибок на сезонных сдвигах распределения
(Чёрная пятница, Рождество)?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25780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Почему: Сдвиг распределения на сезонных пиках убивает ML-модели,
обученные на данных вне пиков.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59" y="4480560"/>
            <a:ext cx="5532120" cy="14173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17920" y="46634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663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45720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Какие сертификации
(FDA Part 11, ATEX, ISO 26262, NHTSA SGO)?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25780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Почему: Регуляторный аудит обязателен в категориях, критичных для безопасности.
Чёрный ящик ML не проходит аудит.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5532120" cy="141732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61264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126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60350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Какова удельная экономика
(на машину / маршрут / тонну)?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720840"/>
            <a:ext cx="5257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Почему: Pony.ai первая robotaxi с положительной операционной прибылью на автомобиль
(Гуанчжоу ноябрь 2025, Шэньчжэнь февраль 2026).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Дополняет 5-критерийную рамку слайда s38 · окупаемость лекции 13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41-noc-iup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7200"/>
            <a:ext cx="670560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5321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Network Операционные Center · IUPUI · Wikimedia · CC-BY-SA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0" y="548640"/>
            <a:ext cx="3840480" cy="502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7293"/>
                </a:solidFill>
                <a:latin typeface="Arial"/>
              </a:rPr>
              <a:t>Мост к Лекции 14</a:t>
            </a:r>
          </a:p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Другая среда,</a:t>
            </a:r>
          </a:p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те же 5 вопросов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Следующая лекция —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телекоммуникации,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сетевая инфраструктура,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кибербезопасность.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AI помогает SOC-аналитику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OR + правиловая детекция —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  mainstream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ML — в-распределении силён,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  вне — слеп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· HITL обязателен на исключениях</a:t>
            </a:r>
          </a:p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21295C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Среда меняется.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Критическое суждение — нет.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577840"/>
            <a:ext cx="11274552" cy="914400"/>
          </a:xfrm>
          <a:prstGeom prst="roundRect">
            <a:avLst>
              <a:gd name="adj" fmla="val 10000"/>
            </a:avLst>
          </a:prstGeom>
          <a:solidFill>
            <a:srgbClr val="FEF5E0"/>
          </a:solidFill>
          <a:ln w="2540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Выжившие уважают среду + остаются в узком ODD + не переобещают.</a:t>
            </a:r>
          </a:p>
          <a:p>
            <a:pPr algn="ctr">
              <a:lnSpc>
                <a:spcPct val="12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Cruise vs Waymo — обоим тот же стек. Waymo выжил, потому что cautious в ODD расширение.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