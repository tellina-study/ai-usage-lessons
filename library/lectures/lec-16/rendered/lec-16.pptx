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Если посмотреть ночью на Пермский нефтегазоносный бассейн со спутника VIIRS — это оптико-инфракрасный радиометр на спутниках NOAA — то картина выглядит так: тысячи светящихся точек на тёмной земле, словно второй город рядом с Хьюстоном. Но это не город. Это факелы — газ, который не сумели или не захотели уловить, и который сейчас сжигают прямо в атмосферу, чтобы избавиться.</a:t>
            </a:r>
            <a:br/>
            <a:br/>
            <a:r>
              <a:t>В 2024 году спутник зафиксировал 2 593 факельных шлейфа только в Пермском бассейне; пиковая интенсивность излучения соответствовала примерно 34 тысячам тонн метана в час для всего бассейна суммарно. Это не аварии. Это нормальный operational режим: добыча идёт быстрее, чем строится газовая инфраструктура для её транспортировки.</a:t>
            </a:r>
            <a:br/>
            <a:br/>
            <a:r>
              <a:t>Эта картина — самая короткая возможная иллюстрация того, почему AI приходит в нефтегаз и почему он буксует. Промышленность огромна. Она производит петабайты данных в день. Она хорошо знает свою физику. И она же сжигает свой продукт в атмосферу, потому что не успевает за собственным масштабом. AI в нефтегазе нужен не как «улучшалка эффективности на 5%», а как способ закрыть конкретные провалы в этом огромном цикле — и он либо закрывает их, либо проваливается громко и публично.</a:t>
            </a:r>
            <a:br/>
            <a:br/>
            <a:r>
              <a:t>Сегодня мы научимся читать, когда AI закрывает провал, а когда сам становится новым провалом.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Это шестнадцатая лекция курса. Мы прошли пять отраслевых deep-dive: дискретное и процессное производство (Лекция 11), автоматизация и цифровые двойники (Лекция 12), логистика и транспорт (Лекция 13), телеком и кибербезопасность (Лекция 14), энергетика (Лекция 15). Сегодня — нефтегаз.</a:t>
            </a:r>
            <a:br/>
            <a:br/>
            <a:r>
              <a:t>Главный вопрос лекции: в каком квадранте матрицы данные × физика AI становится мультипликатором классических методов, а где он либо essential, либо опасен. Мы будем разбирать конкретно — на материале десяти документированных провалов индустрии за период 2014–2026.</a:t>
            </a:r>
            <a:br/>
            <a:br/>
            <a:r>
              <a:t>Структура лекции: сначала вводим несущую ось — двумерную матрицу. Потом четыре раздела по квадрантам. Потом российский фрагмент. Потом сквозные риски — кибер и цикличность отрасли. И в конце — синтез и три cornerstone концепта, которые перейдут в Лекцию 17.</a:t>
            </a:r>
            <a:br/>
            <a:br/>
            <a:r>
              <a:t>Курс работает на четыре learning outcomes: когда применять AI, когда отказаться, какие альтернативные инструменты использовать, и регуляторно-этический слой. Все четыре сегодня встретятся.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Сегодня вы узнаете четыре структурных места AI в нефтегазовой отрасли — мы их называем квадрантами матрицы. Дальше мы пройдём по десяти documented failures отрасли с уроками для каждого; это половина лекции. Потом — шесть структурных критериев, когда AI просто не нужен, и шесть alternative инструментов.</a:t>
            </a:r>
            <a:br/>
            <a:br/>
            <a:r>
              <a:t>Формат — стандартная семидесятипятиминутная лекция. Q&amp;A в конце с exit ticket. Курс не предполагает, что вы — отраслевой специалист по нефтегазу. Все домен-термины я буду объяснять inline, при первом появлении.</a:t>
            </a:r>
            <a:br/>
            <a:br/>
            <a:r>
              <a:t>Тридцать секунд про сам домен. Нефтегазовая индустрия делится на три части. Upstream — это всё, что происходит до того, как сырая нефть или газ выходит из скважины в магистральный трубопровод; то есть разведка, бурение, добыча. Midstream — это транспорт: трубопроводы, СПГ-терминалы, хранилища. Downstream — это переработка: НПЗ, нефтехимия. Скважина — это одна точка добычи на поверхности; пласт — это подземный коллектор, где находится нефть и газ. Типичная скважина — это ствол 2–6 километров глубиной плюс горизонтальная часть.</a:t>
            </a:r>
            <a:br/>
            <a:br/>
            <a:r>
              <a:t>Этих понятий нам хватит. Начнём с матрицы.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Сегодня семь разделов. Я их выкладываю не по value chain — не «разведка, бурение, добыча, транспорт, переработка», как принято в отраслевых справочниках. Я выкладываю по структуре AI-задачи: какие данные доступны и насколько определена физика. Это даёт четыре разных профиля AI, и для каждого — своя стратегия применения, свои working cases, свои провалы.</a:t>
            </a:r>
            <a:br/>
            <a:br/>
            <a:r>
              <a:t>Сначала мы вводим саму матрицу — это keystone-слайд. Потом проходим по четырём квадрантам в логическом порядке. Q1 — зрелое производство, самый освоенный квадрант. Q3 — разведка фронтиров, самый data-беднейший. Q2 — метановая MRV, где AI essential. Q4 — энергетический переход, самый честный квадрант. Потом российский фрагмент. Потом сквозные риски — кибер и нефтяной кризис 2020 года. И в конце — синтез плюс три cornerstone концепта.</a:t>
            </a:r>
            <a:br/>
            <a:br/>
            <a:r>
              <a:t>Пять терминов вы будете слышать каждые несколько минут. MRV — это monitoring, reporting, verification: выявление, учёт, проверка эмиссий, в нашем случае метана. OGI — оптическая газовая визуализация, IR-камера, видящая углеводородные газы. CCS — улавливание и подземное захоронение углекислого газа. EGS — улучшенные геотермальные системы. SIS — приборная система безопасности, сертифицированная по IEC 61511. Я буду напоминать.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Это keystone-слайд. Сюда мы будем возвращаться каждый раз, когда говорим про конкретный кейс. Две оси, четыре квадранта.</a:t>
            </a:r>
            <a:br/>
            <a:br/>
            <a:r>
              <a:t>Первая ось — доступность данных. Это вопрос: есть ли у вас достаточно labeled examples, чтобы обучить модель и чтобы она обобщалась на новые случаи? В зрелом месторождении Пермского бассейна — тысяча скважин, петабайты данных за 30 лет, данных много. В разведке нового бассейна — одна-пять wildcat-скважин, данных структурно мало.</a:t>
            </a:r>
            <a:br/>
            <a:br/>
            <a:r>
              <a:t>Вторая ось — определённость физики. Это вопрос: есть ли установившаяся численная модель, дающая эталонную разметку с известной точностью? Для пластовой симуляции — Eclipse, INTERSECT, CMG — физика описана с 1970-х, верифицирована тысячами проектов; физика определена. Для слияния спутник + аэро + дрон + ручная OGI-камера и атрибуции малой утечки к источнику — классического решения нет, физика частично известна.</a:t>
            </a:r>
            <a:br/>
            <a:br/>
            <a:r>
              <a:t>Перекрестив две оси, получаем четыре квадранта. Q1 — зрелое производство, высокие данные плюс высокая физика — AI работает как мультипликатор классических методов; пример Ambyint InfinityRL даёт плюс пятнадцать процентов на двухстах скважинах. Q2 — методановая MRV, высокие данные но низкая физика — AI essential, потому что классической альтернативы нет; MethaneSAT, Carbon Mapper, GHGSat. Q3 — разведка фронтиров, данных мало но физика хорошо описана — physics-first, AI augmentation; Aramco METABRAIN, Eni HPC6. Q4 — энергетический переход, и данных мало, и физика на длинных горизонтах не закрыта — AI и физика struggle вместе; Northern Lights CCS, Fervo EGS.</a:t>
            </a:r>
            <a:br/>
            <a:br/>
            <a:r>
              <a:t>И главное внизу: за каждым AI-внедрением в нефтегазе стоит alternative tool. Это структурный признак отрасли, не дисклеймер. К этому мы вернёмся в Разделе 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Главное число этого раздела — восемьдесят шесть процентов. По данным McKinsey 2024, такая доля AI-проектов в энергетике не выходит за пределы пилотной стадии. То есть после демонстрации на одном-двух объектах проект либо отменяется, либо переходит в режим «вечного пилота» без масштабирования.</a:t>
            </a:r>
            <a:br/>
            <a:br/>
            <a:r>
              <a:t>В кросс-индустриальном опросе McKinsey 2024 застряли в пилотной фазе примерно две трети AI-инициатив — около шестидесяти семи процентов. Энергетика — на восемнадцать процентных пунктов хуже среднего. То есть нефтегаз структурно хуже средней индустрии по разрыву между пилотом и промышленной эксплуатацией.</a:t>
            </a:r>
            <a:br/>
            <a:br/>
            <a:r>
              <a:t>DNV и Accenture в опросе 2024 года уточняют: только пятнадцать процентов специалистов нефтегаза говорят, что AI используется в их компании в ежедневной промышленной эксплуатации; только три процента — «глубокая интеграция».</a:t>
            </a:r>
            <a:br/>
            <a:br/>
            <a:r>
              <a:t>Пять структурных причин. Первое — данные: шестьдесят-восемьдесят процентов времени AI-проекта в нефтегазе уходит на очистку данных, не на моделирование. Второе — legacy IT: стоимость интеграции с SCADA, MES, ERP обычно в три-пять раз превышает начальную стоимость самого AI-софта. Третье — дефицит кадров. Четвёртое — культура безопасности: бессмысленный AI — непринятый AI. Пятое — горизонт окупаемости: AI-вендоры предлагают окупаемость за двенадцать-восемнадцать месяцев, нефтегаз планирует на двадцать-тридцать лет; эти горизонты несовместимы.</a:t>
            </a:r>
            <a:br/>
            <a:br/>
            <a:r>
              <a:t>Главный урок здесь: восемьдесят шесть процентов не означает «AI плохой». Это значит «вертикаль не готова к AI промышленного уровня без серьёзной подготовительной работы по фундаменту данных».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Aspen Mtell — продукт AspenTech (приобретена Emerson за приблизительно семнадцать миллиардов долларов в марте 2025 года) для прогностического обслуживания. Идея: модель учится на сигналах с компрессоров, насосов, теплообменников; за дни-недели до отказа выдаёт сигнал тревоги. В кейс-стади вендора утверждается: «усталость операторов от ложных тревог устранена».</a:t>
            </a:r>
            <a:br/>
            <a:br/>
            <a:r>
              <a:t>Это маркетинговая формулировка. Усталость операторов от ложных тревог — фундаментальное свойство любой системы мониторинга, и его нельзя устранить, его можно только смягчить.</a:t>
            </a:r>
            <a:br/>
            <a:br/>
            <a:r>
              <a:t>Что реально происходит на нефтепереработке. Оператор крупного НПЗ получает от Aspen Mtell сотни сигналов тревоги в день — число варьируется от пятидесяти до пятисот в зависимости от размера завода и режима настройки. Реакция оператора — одна из трёх. Первое — перенастройка порогов в сторону менее чувствительной модели. Это переводит «усталость от тревог» в «пропущенные обнаружения». Второе — игнорирование. Когда из двухсот тревог в день сто девяносто пять ложные, оператор перестаёт их читать. Третье — эскалация в отдельную ML-команду, которая разбирает тревоги постфактум.</a:t>
            </a:r>
            <a:br/>
            <a:br/>
            <a:r>
              <a:t>Plant-wide stagnation. Узкие применения Aspen Mtell — одна колонна, один компрессор — работают, документировано. Plant-wide развёртывание буксует. Yokogawa объявила пилот plant-wide AI-управления на одном из НПЗ Idemitsu в Японии в 2018 году. Plant-wide пилот тихо закрыт после 2018 года; в публичных материалах остались только узкие истории успеха.</a:t>
            </a:r>
            <a:br/>
            <a:br/>
            <a:r>
              <a:t>Главный урок: «устранили alert fatigue» — это маркетинг, не инженерное утверждение. Задача проектировщика — управлять иерархией тревог по стандарту ISA 18.2, не пытаться обмануть законы мониторинга.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Ambyint — канадский стартап, основан в Калгари в 2014 году. Серия B на двадцать пять миллионов долларов в 2022 году от Bessemer Venture Partners и Schlumberger Energy Ventures. Сфокусирован на оптимизации искусственного подъёма — это методы подъёма нефти из скважины с низким пластовым давлением: штанговый насос, электроцентробежный насос, газлифт. Продукт InfinityRL — система оптимизации на основе обучения с подкреплением.</a:t>
            </a:r>
            <a:br/>
            <a:br/>
            <a:r>
              <a:t>Кейс. Развёрнут на около двухстах скважинах в Пермском бассейне, Eagle Ford и Bakken — все US shale. Средняя прибавка к производительности — плюс пятнадцать процентов над per-well historical mean. Это означает: для типичной скважины Пермского бассейна с дебитом сто-пятьсот баррелей нефти в день — прибавка пятнадцать-семьдесят пять bopd на скважину. На двухстах скважинах — три-пятнадцать тысяч bopd дополнительной добычи.</a:t>
            </a:r>
            <a:br/>
            <a:br/>
            <a:r>
              <a:t>Почему это сильный кейс. Во-первых, цифра верифицируемая: Ambyint публикует её как «средняя по двумстам скважинам» с явным исходным уровнем — per-well historical mean. Это не «AI спас десять миллионов долларов» без знаменателя. Во-вторых, метод — обучение с подкреплением поверх классического штангового насоса, а не «AI заменяет штанговый насос». AI — мультипликатор, не замена. В-третьих, область применения узкая.</a:t>
            </a:r>
            <a:br/>
            <a:br/>
            <a:r>
              <a:t>Когда Ambyint не работает — это stripper wells, скважины с дебитом меньше десяти баррелей в день. Истощённая скважина даёт десять bopd; плюс пятнадцать процентов — это полтора bopd; стоимость развёртывания плюс переобучения больше извлечённой ценности. Здесь окупаемость отрицательная. Это структурный критерий, к которому мы вернёмся через четыре слайда.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Шесть вендоров Q1 в трёх группах. Понимание ландшафта — необходимое условие LO3.</a:t>
            </a:r>
            <a:br/>
            <a:br/>
            <a:r>
              <a:t>Группа первая — независимые ML-стартапы для производства. Ambyint мы только что разобрали. OspreyData, приобретён Mesquite Technologies в ноябре 2022 года — экспертно-усиленное машинное обучение для ESP, штанговых насосов, газлифта. Включён в Mesquite Taproot. Публичные KPI не раскрыты.</a:t>
            </a:r>
            <a:br/>
            <a:br/>
            <a:r>
              <a:t>Группа вторая — корпоративный уровень для крупных операторов. SLB Avocet — программное обеспечение для управления добычей с интегрированным ML с 2020-го года. Клиенты — NOC и super-majors. Конкретные KPI обычно не раскрываются. Halliburton DecisionSpace Production — аналог.</a:t>
            </a:r>
            <a:br/>
            <a:br/>
            <a:r>
              <a:t>Группа третья — нефтепереработка и трубопроводный сегмент. AspenTech Aspen Mtell мы разобрали в s07b. Honeywell UOP Connect — триста десять с лишним юнитов соединено на ста с лишним сайтах в 2024 году. Контекст: всего в мире около семисот НПЗ; сто сайтов — это около четырнадцати процентов мировой мощности нефтепереработки. План — семьсот пятьдесят с лишним юнитов в течение года, требует подтверждения. Yokogawa OpreX, ABB Ability Genix, Emerson DeltaV — конкуренты.</a:t>
            </a:r>
            <a:br/>
            <a:br/>
            <a:r>
              <a:t>Plus drilling subset. Nabors PACE-X — программа автоматизации бурения; самый длинный известный четырёхмильный — около шести с половиной километров — горизонтальный ствол в Bakken. Конкуренты — Precision Drilling AlphaAutomation, NOV NOVOS.</a:t>
            </a:r>
            <a:br/>
            <a:br/>
            <a:r>
              <a:t>Главная точка для LO3 — mode не равно brand. Когда вендор продаёт «прогностическое обслуживание» — это режим применения AI, не уникальный продукт. Тот же режим реализуют Aspen Mtell, Honeywell Forge, ABB Genix, GE Digital, IBM Maximo, Siemens MindSphere. Выбор поставщика — это выбор стека интеграции, цены и поддержки, не «между технологиями».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Роснефть — крупнейшая российская нефтегазовая компания — в две тысячи десятых развивала собственную платформу Digital Field, цифровое месторождение. Канонический референс — пилот на Илишевском месторождении дочернего общества Башнефть в Башкортостане.</a:t>
            </a:r>
            <a:br/>
            <a:br/>
            <a:r>
              <a:t>Показатели пилота на 2024 год. Плюс один миллион тонн нефти в год дополнительно — это плюс пять и девять десятых процентов относительно базовой добычи Башнефти семнадцать миллионов тонн в год за 2023 год. Около одного миллиарда рублей в год дополнительный экономический эффект. Двадцать три программных продукта, из них десять коммерциализованных во внешние развёртывания. Плюс шестьдесят процентов удалённо управляемых объектов, плюс пять процентов энергоэффективности, минус пять процентов логистических затрат.</a:t>
            </a:r>
            <a:br/>
            <a:br/>
            <a:r>
              <a:t>Контекст санкций. После марта 2022 года Roxar — продукт Schlumberger для характеризации пласта — и значительная часть других западных поставщиков ушли с российского рынка. Это создало структурный драйвер к внутренней разработке: Роснефть, Газпром нефть оказались в ситуации «либо разрабатываем сами, либо останавливаемся». Digital Field — пример того, что получилось при первом сценарии: внутренняя разработка, расширенная до коммерческой продуктовой линейки.</a:t>
            </a:r>
            <a:br/>
            <a:br/>
            <a:r>
              <a:t>Двадцать три продукта, десять коммерциализованных — лидирующий в индустрии показатель для NOC. Российский паттерн — ближе к китайской модели (Sinopec, CNOOC внутренние разработки), не к американской vendor-based модели.</a:t>
            </a:r>
            <a:br/>
            <a:br/>
            <a:r>
              <a:t>Точка осторожности. Конкретные KPI публикуются Роснефтью в корпоративных пресс-релизах; независимая проверка затруднена санкционным режимом. Студент должен относиться к российским цифрам с тем же скептицизмом, что и к один и восемь десятых миллиарда долларов реализованной стоимости Aramco — это self-report, не аудиторский отчёт.</a:t>
            </a:r>
            <a:br/>
            <a:br/>
            <a:r>
              <a:t>Башнефть Илишевское — типичное зрелое месторождение Q1, эксплуатируется с восьмидесятых годов. Пилотировать AI именно здесь — стратегический выбор: показать AI-мультипликаторный эффект на хорошо известном активе, не на разведке фронтиров.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Возвращаемся к структурному провалу Q1, теперь с другого ракурса. В предыдущем слайде мы посмотрели на статистику пилотов; здесь — на конкретные компании, которые шли по сценарию «independent industrial AI vendor для нефтегаза».</a:t>
            </a:r>
            <a:br/>
            <a:br/>
            <a:r>
              <a:t>Cognite — норвежский стартап, выделившийся из Aker BP в 2017 году. Якорный клиент — Aker BP. Финансовая история: 2018 — оценка триста миллионов; 2021-2022 — план IPO на два-три миллиарда долларов в 2023 году; 2023 — IPO отменён из-за рыночных условий и сжигания капитала; 2024 — ARR девяносто четыре миллиона при темпе сорок процентов YoY; 2025-2026 — время IPO неопределённо.</a:t>
            </a:r>
            <a:br/>
            <a:br/>
            <a:r>
              <a:t>ARR девяносто четыре миллиона при темпе сорок процентов — это здоровый SaaS-бизнес. Но для оценки два-три миллиарда нужен темп шестьдесят-восемьдесят процентов или сильная маржа. Aker BP остаётся якорным клиентом; независимая монетизация на другие индустрии идёт медленнее.</a:t>
            </a:r>
            <a:br/>
            <a:br/>
            <a:r>
              <a:t>C3.ai — публичная американская AI-компания, основанная Tom Siebel в 2009 году. Совместное предприятие BHC3 с Baker Hughes для нефтегазовой вертикали — структурно реструктурировано к 2023. Финансовый год 2024: нефтегазовая вертикаль — пять и девять десятых процента от общей выручки, то есть около восемнадцати миллионов из трёхсот десяти. Финансовый год 2025: «не-нефтегазовая выручка плюс сорок восемь процентов YoY» — формулировка означает, что нефтегазовая вертикаль уменьшается в абсолюте.</a:t>
            </a:r>
            <a:br/>
            <a:br/>
            <a:r>
              <a:t>Общий паттерн. Узкоспециализированные AI-компании для нефтегаза не достигли масштаба в эпоху больших универсальных моделей. SLB Lumi и Aramco METABRAIN — мы их увидим в Разделе 2 — поедают рынок узкоспециализированных через два механизма. Первое: большая модель плюс LoRA-дообучение обычно лучше специализированной маленькой. Второе: у крупных NOC есть мотив разрабатывать собственные большие модели внутри.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Это центральный пункт раздела по миссии LO2 — когда отказаться. В Q1, то есть в высоко-data плюс высоко-physics квадранте, AI по умолчанию претендует на применение, и инженер должен уметь сказать «нет» там, где AI не нужен.</a:t>
            </a:r>
            <a:br/>
            <a:br/>
            <a:r>
              <a:t>Критерий первый — зрелое месторождение плюс опытная команда плюс Eclipse. Когда у вас есть месторождение с историей тридцать с лишним лет и опытные инженеры-разработчики, использующие классические симуляторы — добавление ML-суррогата редко даёт существенный прирост.</a:t>
            </a:r>
            <a:br/>
            <a:br/>
            <a:r>
              <a:t>Критерий второй — stripper wells, истощённые скважины с дебитом меньше десяти баррелей в день. Прибавка плюс пятнадцать процентов — это плюс полтора bopd; стоимость развёртывания плюс переобучения больше извлечённой ценности.</a:t>
            </a:r>
            <a:br/>
            <a:br/>
            <a:r>
              <a:t>Критерий третий — custody transfer metering, передача товарной нефти. Регуляторно требуется mass flow meter класса точности ноль и две десятых процента. Methane content в газовом потоке измеряется через gas chromatograph или прямое sampling. AI estimate не приемлем.</a:t>
            </a:r>
            <a:br/>
            <a:br/>
            <a:r>
              <a:t>Критерий четвёртый — приборные системы безопасности. Противовыбросовый превентор, предохранительный клапан, логика аварийного останова — SIL3/SIL4 по IEC 61511, детерминированно. ML не сертифицируется под этот стандарт.</a:t>
            </a:r>
            <a:br/>
            <a:br/>
            <a:r>
              <a:t>Критерий пятый — разведка фронтиров без аналогов. ML не на чем обучать. Senior геофизик плюс классическая интерпретация. Мы развернём это в Разделе 2.</a:t>
            </a:r>
            <a:br/>
            <a:br/>
            <a:r>
              <a:t>Критерий шестой — соответствие нормам EU Methane Reg. Traceability mandated — не black-box ML estimate.</a:t>
            </a:r>
            <a:br/>
            <a:br/>
            <a:r>
              <a:t>Главный навык LO2 — уметь сказать «нет». Разница между четырнадцатью процентами успешных и восьмьюдесятью шестью застрявших — часто именно здесь.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HPC-гонка Q3 — это разные стратегии у каждой крупной компании.</a:t>
            </a:r>
            <a:br/>
            <a:br/>
            <a:r>
              <a:t>Eni HPC6. В декабре 2024 года итальянская Eni запустила суперкомпьютер HPC6 в дата-центре Ferrera Erbognone. Шестьсот шесть PFLOPS пиковой производительности, четыреста семьдесят семь sustained; четырнадцать тысяч графических ускорителей AMD Instinct MI250X; стоимость инсталляции — около ста четырёх миллионов долларов. На декабрьском листинге Top500 — пятое место из примерно пятисот. HPC6 в девять раз мощнее своего предшественника HPC5. Применения: обработка сейсмики, пластовая симуляция на INTERSECT, моделирование CCS.</a:t>
            </a:r>
            <a:br/>
            <a:br/>
            <a:r>
              <a:t>Aramco METABRAIN. В 2024 году Saudi Aramco разработала METABRAIN — большую универсальную модель внутреннего использования. Объявленные параметры на 2024 год — примерно двести пятьдесят миллиардов; цифры volatile, требуют проверки. Обучение на семи триллионах токенов, представляющих девяносто лет operational data Aramco. Шесть тысяч сотрудников обучены работать с инструментарием на основе METABRAIN. Четыреста тридцать use cases идентифицированы.</a:t>
            </a:r>
            <a:br/>
            <a:br/>
            <a:r>
              <a:t>Что Aramco публикует. В Давосе в январе 2025 года CEO Aramco Amin Nasser заявил, что AI-инвестиции принесли один и восемь десятых миллиарда долларов реализованной стоимости в 2024 году. Базовая контекстуализация: Aramco выручка 2024 — четыреста тридцать шесть и шесть десятых миллиарда. Делим — это ноль и сорок одна сотая процента выручки. AI не «спасает» компанию — добавляет полпроцента к полностью оптимизированной операции.</a:t>
            </a:r>
            <a:br/>
            <a:br/>
            <a:r>
              <a:t>Два урока. Первое — один и восемь десятых миллиарда долларов — self-reported, не аудированное число. Второе — METABRAIN внутренний продукт, не продаётся наружу. Это competitive moat и одновременно структурное отличие от BP + Beyond Limits и IBM + Repsol, которые мы разберём через два слайда.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 сентябре 2024 года SLB — бывшая Schlumberger, переименована в 2022 году — запустила Lumi. Это отраслевая foundation model поверх своей облачной платформы Delfi. Delfi — это E&amp;P-платформа, оперирующая на AWS, Azure, GCP с 2018-го. Lumi обучена на NVIDIA Grace Hopper Superchip; anchor customers — Aker BP, Shell, Azule Energy (это BP + Eni Angolan joint venture).</a:t>
            </a:r>
            <a:br/>
            <a:br/>
            <a:r>
              <a:t>Что Lumi делает. Foundation model для специфических задач разведки. Первое — petrophysics interpretation, интерпретация каротажа; ML заменяет первичную обработку, senior petrophysicist делает финальный QC. Второе — seismic auto-tracking, автоматическая трассировка горизонтов в 3D-сейсмике; ускоряет работу геофизика, не заменяет в frontier basin. Третье — drilling automation queries, natural language interface к историческим данным.</a:t>
            </a:r>
            <a:br/>
            <a:br/>
            <a:r>
              <a:t>Финансовая контекстуализация. SLB digital revenue в 2024 году превысил два миллиарда долларов на полный год. Это около пяти и семи десятых процентов от total SLB revenue в тридцать пять миллиардов. Направление: дальнейшее adoption Delfi technology. Lumi — следующий этап монетизации после Delfi.</a:t>
            </a:r>
            <a:br/>
            <a:br/>
            <a:r>
              <a:t>Главная точка про mode versus brand. Когда инженер слышит «отраслевая foundation model для нефтегаза», он должен помнить: это режим применения AI, не уникальный продукт SLB. Тот же режим реализуют Aramco METABRAIN — но внутренний, не продаётся. OpenAI или Anthropic — общие foundation models, fine-tuned под нефтегаз. Microsoft Azure ML плюс Google Cloud Vertex AI — стек гиперскейлера с доменной донастройкой. Internal models Газпром нефти.</a:t>
            </a:r>
            <a:br/>
            <a:br/>
            <a:r>
              <a:t>Выбор между Lumi и альтернативой — это выбор не «между AI и не-AI», а между вертикально-интегрированным стеком и дезагрегированным стеком. Для крупного NOC второй вариант часто предпочтительнее.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 первой половине 2025 года ExxonMobil развернула Discovery 6 — суперкомпьютер на базе HPE Cray EX4000 с четырьмя тысячами тридцатью двумя NVIDIA Grace Hopper Superchip. Это четырёхкратное увеличение compute мощности относительно Discovery 5. Капитальные затраты публично не раскрыты, но по аналогии с Eni HPC6 — оценочно двести-четыреста миллионов долларов; требует уточнения.</a:t>
            </a:r>
            <a:br/>
            <a:br/>
            <a:r>
              <a:t>Что Discovery 6 делает. Главное — 4D-сейсмика. Это 3D-сейсмика, повторяемая во времени; четвёртое измерение — время; используется для мониторинга движения флюида в пласте в процессе разработки. Обработка моделей подземных коллекторов сжимается с месяцев до недель. Это критично для активного управления пластом на действующих месторождениях.</a:t>
            </a:r>
            <a:br/>
            <a:br/>
            <a:r>
              <a:t>Stabroek Block в Гайане. ExxonMobil — оператор Stabroek, одного из крупнейших offshore нефтяных открытий двадцать первого века. Stabroek estimate — девять-одиннадцать миллиардов BOE recoverable. Для контраста: Permian-Pioneer ExxonMobil после слияния 2024 — шестнадцать миллиардов BOE. Discovery 6 unlock — один миллиард плюс долларов value на первых шести FPSO; FPSO — это плавучая платформа добычи, хранения, выгрузки нефти. Первые шесть FPSO — это около тридцати-сорока процентов от планируемой capacity Stabroek.</a:t>
            </a:r>
            <a:br/>
            <a:br/>
            <a:r>
              <a:t>Сравнение HPC-стратегий. Eni выбрал AMD как cost-effective per FLOP. ExxonMobil выбрал NVIDIA Grace Hopper как доминирующий в ML workloads. Aramco — комбинация HPC плюс foundation model. Все три — проприетарные. Это значит, что рынок HPC для нефтегаза не «коммодизируется», как hyperscaler cloud — каждый major имеет свой стек.</a:t>
            </a:r>
            <a:br/>
            <a:br/>
            <a:r>
              <a:t>Anti-hype в HPC-гонке. Цифры compute мощности впечатляют, но не равны business value. «Четыре икс» означает только compute throughput, не business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 июне 2017 года BP Ventures возглавила раунд Series B на двадцать миллионов долларов в Beyond Limits — стартапе из Глендейла, Калифорния, выделившемся из NASA Jet Propulsion Laboratory с claim'ом, что технология «cognitive AI» для исследовательских миссий deep space теперь применима в нефтегазе. Активный rollout партнёрства — 2018-2022 годы; vendor pivot 2022-2023; полная wind-down O&amp;G focus 2023.</a:t>
            </a:r>
            <a:br/>
            <a:br/>
            <a:r>
              <a:t>Что обещали в 2018 году. AI «absorb learnings of geologists and imitate their decision-making». Технология из deep space exploration. Accelerate operational insight and process automation. BP получает приоритетный доступ.</a:t>
            </a:r>
            <a:br/>
            <a:br/>
            <a:r>
              <a:t>Что вышло за 2018-2025. Публичных результатов roll-out нет за семь лет. Beyond Limits сменил отраслевой focus с oil&amp;gas на general industrial AI, потом в healthcare и manufacturing в 2023 году. BP не обновил кейс на своём сайте после 2019 года. 2020 oil crash плюс BP «Beyond Petroleum» rebrand — digital teams реструктурированы. К 2024 году ни BP, ни Beyond Limits не отвечают на запросы о статусе партнёрства.</a:t>
            </a:r>
            <a:br/>
            <a:br/>
            <a:r>
              <a:t>Три фундаментальных урока. Первый — «cognitive AI» с приставкой «обещанная generalizable autonomy» не материализовалась. Это был ML-marketing эпохи 2018 года: компании присваивали маркетинговое название «cognitive» обычному ML. Реальная архитектура Beyond Limits — комбинация classical rule-based reasoning плюс ML — не имела фундаментального преимущества над чистым ML.</a:t>
            </a:r>
            <a:br/>
            <a:br/>
            <a:r>
              <a:t>Второй — концентрированная ставка на одного клиента. BP была якорным инвестором и клиентом. Когда BP сократил инвестиции в 2020 году — у Beyond Limits не оказалось диверсифицированной клиентской базы. Структурная двойная потеря.</a:t>
            </a:r>
            <a:br/>
            <a:br/>
            <a:r>
              <a:t>Третий — «имитировать decision-making геолога» — это anthropomorphic overpromise. Реальные геологи делают решение на основе implicit knowledge, которое тяжело кодифицировать: pattern recognition после двадцати лет работы с одной геологической провинцией. AI 2018 года не мог имитировать эту работу — сама задача неправильно поставлена. Правильная задача — augmentation, ускорять рутинные задачи геолога, оставляя ему judgment calls.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 2014 году IBM и испанская Repsol объявили партнёрство Kalimba project с целью применить IBM Watson cognitive computing к тридцати годам exploration data Repsol. Проект запустили в IBM Cognitive Environments Laboratory в Нью-Йорке и Repsol Technology Centre в Мадриде. Объявлены результаты в первой половине 2016 года.</a:t>
            </a:r>
            <a:br/>
            <a:br/>
            <a:r>
              <a:t>Что обещали в 2014 году. Тридцать лет exploration data «analyzed» Watson cognitive. Запуск результатов в первой половине 2016 года. Cognitive computing «понимает контекст», «синтезирует insights», «обогащает intuition».</a:t>
            </a:r>
            <a:br/>
            <a:br/>
            <a:r>
              <a:t>Что вышло за 2016-2022 годы. Конкретных результатов и метрик публично не объявлено. IBM Watson Industry Solutions — broad stagnation 2018-2022. Watson Health unwound в 2022 году — продан Francisco Partners. Watson Industrial — аналогично. К 2022 году IBM перестроил весь Watson portfolio. Repsol перешёл на собственные ML tools — платформа Repsol Lumen с 2020-го, без IBM. Партнёрство тихо завершилось без официального объявления.</a:t>
            </a:r>
            <a:br/>
            <a:br/>
            <a:r>
              <a:t>Три фундаментальных урока. Первый — general-purpose «cognitive computing» platforms не scaled в narrow domain как O&amp;G exploration. Watson в 2014 году был оптимизирован под general-purpose Q&amp;A и medical literature analysis. Применение тех же архитектур в нефтегазовой разведке требовало specialized training data, specialized model architectures — то, что Watson 2014 года не давал. IBM не инвестировал в vertical specialization.</a:t>
            </a:r>
            <a:br/>
            <a:br/>
            <a:r>
              <a:t>Второй — «тридцать лет данных проанализировано» звучит впечатляюще, но без конкретной бизнес-метрики выводы не операционализируемы. Insights без операционализуемости = застревание пилотных проектов.</a:t>
            </a:r>
            <a:br/>
            <a:br/>
            <a:r>
              <a:t>Третий — hype cycle 2014-2016 → реальное commercial use в 2018+ меньше десяти процентов от ожиданий. Это типичный паттерн hype-to-disappointment. Параллельный паттерн сейчас разворачивается с LLM agents в 2024-2025 — это сюжет Раздела 4.</a:t>
            </a:r>
            <a:br/>
            <a:br/>
            <a:r>
              <a:t>Параллель Watson Health критична. Тот же IBM, та же эпоха, та же «cognitive computing» упаковка, та же неспособность scale. Это два manifestation одной структурной ошибки.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Это ключевой раздел LO3 для Q3. Когда AI в frontier exploration буксует — что используют операторы вместо? Ответ — physics-based simulators, разработанные за десятилетия и хорошо валидированные.</a:t>
            </a:r>
            <a:br/>
            <a:br/>
            <a:r>
              <a:t>Eclipse — industry-standard reservoir simulator от SLB. Используется с восьмидесятых; сегодня — flagship для большинства мейджоров. Решает coupled fluid плюс heat плюс chemistry equations на 3D-сетке пласта. Параметризируется через свойства породы, fluid PVT, kinetics. Скорость — десятки часов до дней на крупной модели; точность — well-characterized.</a:t>
            </a:r>
            <a:br/>
            <a:br/>
            <a:r>
              <a:t>INTERSECT — next-generation Eclipse от SLB. Высокое разрешение, лучше параллелизация.</a:t>
            </a:r>
            <a:br/>
            <a:br/>
            <a:r>
              <a:t>CMG — Computer Modelling Group, Калгари. Три продукта. IMEX — black-oil reservoir simulator. STARS — thermal и advanced processes, для теплового EOR, паровых методов в тяжёлой нефти. GEM — compositional simulator для газоконденсатных систем. Niche, но stable.</a:t>
            </a:r>
            <a:br/>
            <a:br/>
            <a:r>
              <a:t>OpenFOAM — open-source CFD пакет. Не reservoir simulator per se, но используется для CFD-моделирования в CCS, в multi-phase flow, в gas plume modelling.</a:t>
            </a:r>
            <a:br/>
            <a:br/>
            <a:r>
              <a:t>Когда использовать physics-based вместо ML. Mature reservoir плюс regulatory submission: регулятор требует physics-traceable submission. Complex EOR scenarios. Hydraulic fracturing modelling. CCS plume migration на 100-летнем горизонте. Frontier basin без analog — ML не на чем обучать.</a:t>
            </a:r>
            <a:br/>
            <a:br/>
            <a:r>
              <a:t>PINN — physics-informed neural networks — попытка построить мост: speed of ML плюс consistency of physics. Активно изучается academia с 2019 года. К 2026 году PINN — не mainstream commercial product. Это потенциальный мост в будущее, но не сейчас.</a:t>
            </a:r>
            <a:br/>
            <a:br/>
            <a:r>
              <a:t>Экономика. Senior геолог с двадцатью пятью годами опыта стоит компании двести-пятьсот тысяч долларов в год. Foundation model с обучением плюс интеграцией — пять-двадцать миллионов в год. Арифметика простая: пять-двадцать пять старших геологов за стоимость одной инсталляции foundation model. Foundation model окупается только если воспроизводит работу пяти-двадцати пяти геологов — что в 2026 году не доказано ни одним публичным бенчмарком.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Перед тем как идти в Раздел 3, зафиксируем шесть терминов, которые встретятся в каждом слайде. Brand names — Aramco, SLB, MethaneSAT и т.д. — мы не глоссируем, это собственные имена. Технические аббревиатуры — обязательно.</a:t>
            </a:r>
            <a:br/>
            <a:br/>
            <a:r>
              <a:t>MRV — monitoring, reporting, verification — выявление, учёт, проверка. Совокупность процессов по обнаружению, измерению и аудиту выбросов метана. Под EU Methane Regulation 2024/1787 — обязательная процедура для импортёров СПГ в ЕС.</a:t>
            </a:r>
            <a:br/>
            <a:br/>
            <a:r>
              <a:t>OGI — optical gas imaging — оптическая газовая визуализация. IR-камера, видящая углеводородные газы как «облако». Hand-held — Teledyne FLIR GFx320, Opgal EyeCGas. Fixed — Rebellion Photonics. Mainstream стандарт для compliance под EPA Method 21 и EU LDAR.</a:t>
            </a:r>
            <a:br/>
            <a:br/>
            <a:r>
              <a:t>LDAR — leak detection and repair — программа выявления и устранения утечек. Регуляторная программа: операторы обязаны четыре раза в год обходить площадки с OGI и ремонтировать выявленные утечки за пять-пятнадцать рабочих дней.</a:t>
            </a:r>
            <a:br/>
            <a:br/>
            <a:r>
              <a:t>OGMP 2.0 — Oil and Gas Methane Partnership, инициатива UNEP. Глобальный рамочный подход отчётности по метану, уровни от первого до пятого. Level 1 — оценка по emission factors, низкая точность. Level 5 — прямое измерение всех источников, золотой стандарт. EU Methane Reg ориентирована на Level 4/5.</a:t>
            </a:r>
            <a:br/>
            <a:br/>
            <a:r>
              <a:t>SIL — safety integrity level, и SIS — safety instrumented system, по IEC 61511. BOP — противовыбросовый превентор. PRV — предохранительный клапан. ESD — аварийный останов. ML не сертифицируется под этот стандарт.</a:t>
            </a:r>
            <a:br/>
            <a:br/>
            <a:r>
              <a:t>bopd и ESP. bopd — баррелей нефти в день, базовая единица. ESP — электроцентробежный насос, опускаемый в скважину downhole. Stripper well — скважина с дебитом меньше десяти bopd.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MethaneSAT — спутник для мониторинга метана, разработанный и принадлежавший NGO Environmental Defense Fund в партнёрстве с Harvard University Smithsonian Astrophysical Observatory и New Zealand Space Agency. Запущен четвёртого марта 2024 года на ракете SpaceX Falcon 9. Бюджет миссии — порядка восьмидесяти восьми миллионов долларов; пять лет design life. Первый в истории спутник, владельцем которого является экологическая некоммерческая организация.</a:t>
            </a:r>
            <a:br/>
            <a:br/>
            <a:r>
              <a:t>Что MethaneSAT отличало от других спутников. Wide-area coverage — поле зрения примерно двести на двести километров, что покрывает крупные нефтегазовые бассейны за один проход. Высокая точность — порог детекции порядка пятисот килограммов в час при идеализированных условиях. Open data policy — все данные публиковались open access через Google Earth Engine. Mission design — explicit фокус на нефтегазовом метане, девяносто процентов emissions, не на широком GHG-мониторинге.</a:t>
            </a:r>
            <a:br/>
            <a:br/>
            <a:r>
              <a:t>Первый flagship результат — Пермский бассейн. В 2024 году MethaneSAT измерил эмиссии метана в Пермском бассейне и опубликовал результат: примерно четыреста десять тонн метана в час, что соответствует трём целым шести десятым миллионам тонн в год; на пятьдесят процентов выше официальной оценки EPA для этого региона. Дополнительные результаты — методановая интенсивность Нью-Мексико один и две десятых процента vs Техас три и одна десятая процента: пятикратный разрыв между двумя соседними штатами одного бассейна.</a:t>
            </a:r>
            <a:br/>
            <a:br/>
            <a:r>
              <a:t>Контекст. Нью-Мексико ввёл регуляцию метана в 2021 году — требование девяноста восьми процентов gas capture к концу 2026 года. Техас — нет. Регуляция работает, и MethaneSAT её количественно зафиксировал.</a:t>
            </a:r>
            <a:br/>
            <a:br/>
            <a:r>
              <a:t>К моменту потери MethaneSAT опубликовал около двух тысяч data files, сто восемьдесят с лишним сцен и десять научных публикаций. EU 2024/1787 и EPA Subpart W разрешили satellite quantification как primary data source. MethaneSAT становился regulatory infrastructure.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Двадцатого июня 2025 года команда MethaneSAT объявила потерю связи со спутником. Через примерно пятнадцать с половиной месяцев после запуска четвёртого марта 2024 года — что составляет около двадцати шести процентов от designed lifetime в пять лет. Конкретная причина потери публично не объявлена; команда указывает на «spacecraft anomaly».</a:t>
            </a:r>
            <a:br/>
            <a:br/>
            <a:r>
              <a:t>Четыре фундаментальных урока.</a:t>
            </a:r>
            <a:br/>
            <a:br/>
            <a:r>
              <a:t>Первый — single-satellite mission равно catastrophic single point of failure для regulatory MRV infrastructure. Когда EU Methane Regulation 2024/1787 предусматривает использование satellite measurements как accepted data source — и primary global satellite NGO-owned data source потерян — что делать с этой data infrastructure? Ответ к концу 2025 года: scramble к alternative data sources. Но resilience matters from day one.</a:t>
            </a:r>
            <a:br/>
            <a:br/>
            <a:r>
              <a:t>Второй — даже с успешным запуском и хорошими данными первого года hardware reliability остаётся fundamental constraint. MethaneSAT работал отлично пятнадцать с половиной месяцев. Это не «технология провалилась»; это «спутник в космосе — это hardware с конечной reliability». Для critical infrastructure нужно constellation model, не single mission.</a:t>
            </a:r>
            <a:br/>
            <a:br/>
            <a:r>
              <a:t>Третий — regulatory enforcement не может опираться на один спутник. EU regulator после MethaneSAT loss принимает GHGSat данные с осторожностью и приоритизирует ground OGI campaigns для compliance. Это усиливает позицию ground OGI как альтернативного инструмента и снижает зависимость от satellite AI MRV.</a:t>
            </a:r>
            <a:br/>
            <a:br/>
            <a:r>
              <a:t>Четвёртый — AI без stable upstream data source не работает. Это самый глубокий урок. MethaneSAT использовал AI для downstream processing — atmospheric retrieval, plume detection, emission quantification. Когда upstream sensor stream исчезает — все downstream ML-модели становятся бесполезны на новых данных. То же самое случилось бы при потере любой ключевой сенсорной модальности. AI — это слой над данными, не источник данных.</a:t>
            </a:r>
            <a:br/>
            <a:br/>
            <a:r>
              <a:t>Реализованная стоимость per month — пять и семь десятых миллиона vs планируемые полтора. В четыре раза выше cost effectiveness, чем обосновывала миссию.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После MethaneSAT loss индустрия разворачивает несколько параллельных направлений mitigation.</a:t>
            </a:r>
            <a:br/>
            <a:br/>
            <a:r>
              <a:t>Carbon Mapper Tanager-1. Карбоновый mapping satellite от коалиции Planet Labs плюс NASA Jet Propulsion Laboratory плюс Carbon Mapper Inc. Запущен шестнадцатого августа 2024 года, full operations summer 2025. Facility-level detection — то есть способный идентифицировать утечки на уровне отдельной установки. Tanager-1 — первый из планируемой constellation Tanager.</a:t>
            </a:r>
            <a:br/>
            <a:br/>
            <a:r>
              <a:t>GHGSat — канадская компания. Коммерческое созвездие из тринадцати спутников к середине 2025 года. Разрешение двадцать пять метров — самое детальное среди коммерческих метановых спутников. Customers — операторы в Permian, Marcellus, Alberta; страховые компании; регуляторы. GHGSat — commercial paid service: оператор платит за inspection своих площадок. Это более устойчивая business model, чем NGO-owned MethaneSAT.</a:t>
            </a:r>
            <a:br/>
            <a:br/>
            <a:r>
              <a:t>Bridger Photonics — американская компания из Бозмана, Монтана. Aircraft-based Gas Mapping LiDAR. Самолёт пролетает над нефтепромыслом на низкой высоте; LiDAR-сенсор измеряет концентрацию метана. Согласно валидационной кампании British Columbia LDAR, aerial measurements в четыре раза более точные, чем ground OGI на тех же сайтах. Customers — ExxonMobil, ConocoPhillips, EOG Resources, Pioneer.</a:t>
            </a:r>
            <a:br/>
            <a:br/>
            <a:r>
              <a:t>SeekOps — drone-based methane detection. Используется в midstream applications — компрессорные станции, газораспределительные сети — и для gas utilities. Customers — TC Energy, ENGIE.</a:t>
            </a:r>
            <a:br/>
            <a:br/>
            <a:r>
              <a:t>Project Canary — methane analytics плюс ESG-рейтинги. Не сенсорный поставщик; агрегирует данные от других источников плюс добавляет сертификационный подход.</a:t>
            </a:r>
            <a:br/>
            <a:br/>
            <a:r>
              <a:t>Главное. Q2 — это стек нескольких модальностей. Спутник плюс авиа плюс дрон плюс наземная OGI плюс портативный анализатор. AI — это слой fusion плюс интерпретации поверх всех модальностей. Single-modality «AI MRV solution» — маркетинговая фраза.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Центральный numerical conflict Раздела 3.</a:t>
            </a:r>
            <a:br/>
            <a:br/>
            <a:r>
              <a:t>MethaneSAT измерения US oil&amp;gas methane эмиссии — примерно пятнадцать миллионов тонн в год. EPA Inventory официальная оценка — примерно четыре миллиона тонн в год. Фактор разрыва — примерно четыре.</a:t>
            </a:r>
            <a:br/>
            <a:br/>
            <a:r>
              <a:t>Параллельная Stanford 2024 study, опубликована в Nature в марте 2024 года. Aerial campaign на US O&amp;G basins; результат — более шести миллионов тонн в год, точная цифра в paper около шести-семи с половиной миллионов. Это фактор два outlier от EPA Inventory — не такой большой, как MethaneSAT factor четыре, но всё равно значительный.</a:t>
            </a:r>
            <a:br/>
            <a:br/>
            <a:r>
              <a:t>Aerial vs OGI на одних и тех же sites. Aerial measurements от Bridger Photonics в четыре раза выше, чем ground OGI на тех же sites — British Columbia LDAR validation study. Ground OGI системно underestimates утечки, потому что OGI inspector проходит сайт за десять-двадцать минут и физически не видит intermittent emissions.</a:t>
            </a:r>
            <a:br/>
            <a:br/>
            <a:r>
              <a:t>Девятисателлитный single-blind тест 2024 года в Atmospheric Measurement Techniques. Ноль false positives — хорошо. Но только пятьдесят восемь процентов correctly identified; сорок один false negative — пропущенных реальных утечек. Даже когда AI MRV хорошо настроена, она пропускает почти половину реальных эмиссий.</a:t>
            </a:r>
            <a:br/>
            <a:br/>
            <a:r>
              <a:t>Что этот конфликт означает. EPA emission factors были откалиброваны десять-двадцать лет назад и не отражают реальный operational mix современного нефтегазового производства. MethaneSAT и aerial campaigns показывают, что real-world эмиссии выше — потому что они захватывают intermittent superemitters. Satellite плюс aerial AI detection methods inconsistent друг с другом. Это не «один прав, другой нет» — это methodological calibration difference.</a:t>
            </a:r>
            <a:br/>
            <a:br/>
            <a:r>
              <a:t>Главное. No agreed ground truth. У industry, регулятора, NGO, академии — нет согласованного методологического стандарта. Урок для LO7: AI MRV — promising, но не ready для contract enforcement без cross-validation protocols. EU 2024/1787 требует Level 4/5 = триангуляция. Это engineering necessity, не избыток bureaucracy.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Q2 — это не только технологическая ниша, но и регуляторно-управляемый рынок. Структура регуляции определяет, какие сенсорные модальности и AI-методы становятся mainstream.</a:t>
            </a:r>
            <a:br/>
            <a:br/>
            <a:r>
              <a:t>EU Methane Regulation 2024/1787, adopted четвёртого августа 2024 года. Это первый comprehensive EU методан-закон для нефтегазовой индустрии. Применяется к production внутри ЕС плюс imports — СПГ, ископаемый газ, нефть, уголь. Ключевые требования. OGMP 2.0 Level 4/5 alignment: operators обязаны отчитываться по Level 4 — квантификация по компонентам — или Level 5 — прямое измерение. LDAR programme deadline — пятое мая 2025 года. Annual emissions reports — пятое августа 2025 года. Penalty — до двадцати процентов годового оборота. Для major majors с EU оборотом — это multi-billion EUR exposure. Operators обязаны четыре раза в год survey плюс repair leaks в течение пяти-пятнадцати рабочих дней. К 2027 году все imports газа в ЕС должны соответствовать EU methane intensity standards — менее или равно ноль и две десятых процента по природному газу.</a:t>
            </a:r>
            <a:br/>
            <a:br/>
            <a:r>
              <a:t>Это самая жёсткая в мире методан-регуляция на момент 2026 года. EU operator с пропущенной утечкой или непредставленным отчётом рискует штрафом, который может превышать прибыль от добычи.</a:t>
            </a:r>
            <a:br/>
            <a:br/>
            <a:r>
              <a:t>US EPA Subpart W final rule — шестое мая 2024 года. Allows satellite quantification как primary data source. «Other large release events» — новая category intermittent superemitters. Сентябрь 2025 — Trump administration предложила proposed rule с delay Subpart W effective date до 2034 года. Это критический политический контекст. Финальный статус зависит от EPA leadership и judicial review. На момент написания май 2026 — status uncertain.</a:t>
            </a:r>
            <a:br/>
            <a:br/>
            <a:r>
              <a:t>Структурный сдвиг. EU regulation жёсткая, mandatory, с короткими deadlines — создаёт спрос на AI MRV solutions, которые работают сейчас. Толкает рынок AI MRV в Европе. US regulation мягче, политически неопределённа, с возможными delays — создаёт wait-and-see среду. Тормозит рынок AI MRV в США. Эта асимметрия — структурный сдвиг.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Это критический раздел для LO3 в Q2. Альтернатива AI MRV — это ground-based direct measurement campaigns.</a:t>
            </a:r>
            <a:br/>
            <a:br/>
            <a:r>
              <a:t>Hand-held OGI cameras. Teledyne FLIR GFx320 — flagship industry standard. Видит углеводородные газы как «облако» через IR-фильтр; цифровая запись для аудита. Используется EPA Method 21, EU LDAR programmes. Opgal EyeCGas — конкурент FLIR; добавляет quantitative OGI capability — не только видит утечку, но и приближённо измеряет её расход. Rebellion Photonics, теперь Honeywell — fixed hyperspectral imaging system, постоянный мониторинг.</a:t>
            </a:r>
            <a:br/>
            <a:br/>
            <a:r>
              <a:t>Portable laser analyzers. Picarro G2210-i — cavity ring-down spectroscopy, спектроскопия с резонатором; измеряет концентрации метана с лабораторной точностью на месте измерения. Часто используется как ground truth для калибровки OGI и aerial measurements. LI-COR LI-7810 — конкурент Picarro.</a:t>
            </a:r>
            <a:br/>
            <a:br/>
            <a:r>
              <a:t>Когда AI не нужен в Q2 — два критерия. Первый — OGMP 2.0 Level 5 verification. Level 5 требует прямого измерения всех источников эмиссии на operational asset. ML estimate не приемлем как primary methodology. Поэтому Level 5 operators обязаны иметь Picarro или LI-COR плюс OGI campaigns; AI здесь — дополнение для prioritization, не замена.</a:t>
            </a:r>
            <a:br/>
            <a:br/>
            <a:r>
              <a:t>Второй критерий — custody transfer metering. Регуляторно требуется mass flow meter класса точности ноль и две десятых процента.</a:t>
            </a:r>
            <a:br/>
            <a:br/>
            <a:r>
              <a:t>Структурный взгляд на LDAR programmes. EU LDAR требует операторов проводить survey четыре раза в год плюс ремонт утечек в течение пяти-пятнадцати рабочих дней. Расходы для крупного European operator — порядка пяти-пятнадцати миллионов долларов в год на один production cluster. AI MRV может снизить эти расходы на двадцать-сорок процентов через aerial campaigns раз в два месяца плюс targeted ground OGI на flagged sites. Это substantial value, который не эффектен в маркетинговой картине, но practical для compliance budgets.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Northern Lights — joint venture между Equinor, Shell, TotalEnergies; commercial launch в 2024 году. CCS-инфраструктура для приёма CO₂ от европейских emitters — преимущественно cement plants, нефтехимия — и захоронения в северо-морских offshore-формациях около Эугарден в Норвегии. Capacity Phase 1 — полтора миллиона тонн CO₂ в год.</a:t>
            </a:r>
            <a:br/>
            <a:br/>
            <a:r>
              <a:t>Применение AI. Site selection — где буровать injection wells, как оценить geological storage capacity. ML augments classical geomechanics; типичный claim — десять-пятнадцать процентов improved monitoring accuracy. Plume migration monitoring — 4D-сейсмика плюс ML для tracking облака CO₂ после injection. AI на этапе capture, апстрим от инжекции — оптимизация absorber-процесса; десять-двадцать процентов снижение затрат на проектах Mongstad в Норвегии и Boundary Dam в Канаде. Отраслевой исходный уровень затрат — восемьдесят-сто двадцать долларов за тонну captured CO₂; AI снижает до шестидесяти пяти — ста.</a:t>
            </a:r>
            <a:br/>
            <a:br/>
            <a:r>
              <a:t>Базовая контекстуализация — 190× scale-up gap. IEA «World Energy Outlook» 2024 года: CCUS должна вырасти до семи и шести десятых гигатонн CO₂ в год к 2050 году для net-zero targets. Current global CCS capacity — около сорока миллионов тонн в год: Northern Lights полтора плюс примерно тридцать других проектов мира. Required scale-up — примерно сто девяносто икс. Northern Lights полтора Mt из IEA target семь и шесть десятых Gt равно ноль и две сотых процента needed scale.</a:t>
            </a:r>
            <a:br/>
            <a:br/>
            <a:r>
              <a:t>Что эта цифра означает. Northern Lights — flagship проект CCS в Европе. Если сто девяносто икс scale-up должен произойти к 2050 году — это строить около ста девяноста проектов того же класса в течение двадцати пяти лет. Физически и финансово возможно, но требует триллионов долларов капитальных инвестиций, государственной поддержки, регуляторного согласования. AI не решает ни одну из этих структурных задач. AI улучшает per-project cost effectiveness на десять-двадцать процентов, но не масштабирует индустрию. AI — catalyst, не silver bullet для climate transition.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Fervo Energy — американский стартап, основан в 2017 году, штаб-квартира в Хьюстоне. В области enhanced geothermal systems — улучшенных геотермальных систем, способ извлечения тепла из горячих пород на трёх-пяти километрах глубине через гидравлический фрекинг. Использует оптоволоконные распределённые датчики температуры плюс AI для модели thermal performance.</a:t>
            </a:r>
            <a:br/>
            <a:br/>
            <a:r>
              <a:t>Cape Station Utah project — двести шесть миллионов долларов финансирования в июне 2025 года, flagship EGS plant. Driver спроса — AI data centers тянут спрос на двадцать четыре на семь clean power. Renewable solar и wind — intermittent, нужны batteries для двадцать четыре на семь. Nuclear — slow build. Geothermal — единственный renewable baseload, доступный при сегодняшних технологиях.</a:t>
            </a:r>
            <a:br/>
            <a:br/>
            <a:r>
              <a:t>Fervo IPO двенадцатого мая 2026 года — цена размещения двадцать семь долларов за акцию, привлечено один и восемьдесят девять сотых миллиарда, оценка семь и семь десятых миллиарда при IPO. Стек финансирования. Fervo Series D в феврале 2024 закрыла двести сорок четыре миллиона. Series E в 2025 — четыреста шестьдесят два миллиона для ускорения разработки. Суммарно более семисот миллионов частного капитала перед IPO плюс один и восемьдесят девять сотых миллиарда при выходе на биржу. В первый день торгов акции открылись около тридцати пяти долларов — около тридцати процентов first-day pop. Это flagship moment для геотермальной индустрии.</a:t>
            </a:r>
            <a:br/>
            <a:br/>
            <a:r>
              <a:t>Scale gap. Fervo в pipeline на 2026 имеет ~400 MWe. IEA 2050 geothermal target — двести с лишним GWe для achieve net-zero pathway. Это значит ноль и две десятых процента от needed scale — даже успешный IPO не закрывает structural gap.</a:t>
            </a:r>
            <a:br/>
            <a:br/>
            <a:r>
              <a:t>Базовая контекстуализация — 40× growth ceiling. US EGS potential от DOE и MIT studies — сто пятьдесят GW. Current US geothermal installed — три и семь десятых GW. Growth ceiling — около сорока икс. Это engineering reality.</a:t>
            </a:r>
            <a:br/>
            <a:br/>
            <a:r>
              <a:t>Closed-loop AI to energy. Google, Microsoft, Meta объявили signed contracts с Fervo. AI создаёт спрос на clean energy через свой own workload requirement. Это inversion roles AI в индустрии.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Возвращаемся к центральному провалу Q4. Сто девяносто икс scale-up gap для CCS — engineering reality vs policy targets. Это structural gap, не «AI плохо работает».</a:t>
            </a:r>
            <a:br/>
            <a:br/>
            <a:r>
              <a:t>Что AI обещает. Improved monitoring accuracy десять-пятнадцать процентов. Capture cost reduction десять-двадцать процентов. Faster site selection. Что доставляет — да, эти цифры в пилотах реальные. Что не доставляет — scale. AI не масштабирует индустрию с сорока Mt в год к семи и шести десятым Gt в год; даже со ста процентами improvement per-unit cost эта цель остаётся в девяносто пять икс за пределами достижения.</a:t>
            </a:r>
            <a:br/>
            <a:br/>
            <a:r>
              <a:t>Долгосрочная hallucination AI для plume migration на сто лет. CCS injection хранит CO₂ под землёй на сотни и тысячи лет. Mandatory regulatory requirement — monitoring плюс verification на десятилетия. Critical question: где будет CO₂ облако через пятьдесят, сто, пятьсот лет?</a:t>
            </a:r>
            <a:br/>
            <a:br/>
            <a:r>
              <a:t>Classical physics-based modelling — Eclipse плюс geomechanics — имеет large uncertainty bands на сто-летнем горизонте. Geomechanics на длинных временных шкалах слабо валидирована.</a:t>
            </a:r>
            <a:br/>
            <a:br/>
            <a:r>
              <a:t>AI-based prediction миграции облака CO₂ — наложение на классическую физику. Может ускорить предварительный сценарный отбор. Но на out-of-distribution сценариях — например, землетрясение разрушает caprock в год сорок седьмой — галлюцинирует.</a:t>
            </a:r>
            <a:br/>
            <a:br/>
            <a:r>
              <a:t>Прогноз Gartner на 2027 год — сорок процентов агентских AI-проектов будут отменены из-за превышения бюджетов и слабого контроля рисков. Для нефтегаза — это прямое предупреждение.</a:t>
            </a:r>
            <a:br/>
            <a:br/>
            <a:r>
              <a:t>Mitigation — три направления. Первое — hybrid AI плюс physics через PINN или physics-constrained ML — встраивает physical conservation laws в loss function. Снижает hallucination, но дороже compute. К 2026 году — research-grade. Второе — human-in-the-loop mandatory для long-horizon predictions. Senior reservoir engineer плюс geomechanics expert делает финальный judgment. Третье — multi-method triangulation. Никогда не полагаться на одну ML-модель; всегда verify через independent physics simulator плюс analog basin плюс multiple time-step monitoring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Этот провал мы видели в седьмом-би слайде в Q1 frame — Aspen Mtell alert fatigue plus plant-wide stagnation. Здесь мы переформулируем его в Q4 frame, как multi-physics constraint, который AI не закрывает на длинных временных горизонтах.</a:t>
            </a:r>
            <a:br/>
            <a:br/>
            <a:r>
              <a:t>Что refinery process control share с Q4. Первое — multi-physics constraints: mass plus energy plus reaction kinetics plus corrosion. То же, что в CCS. Второе — long horizons: НПЗ работает сорок-пятьдесят лет; ML model decay один-два года. Тот же gap, что в CCS plume migration. Третье — edge cases: при изменении feedstock, equipment wear, regulatory changes — ML surrogates lose consistency.</a:t>
            </a:r>
            <a:br/>
            <a:br/>
            <a:r>
              <a:t>Cross-link к Yokogawa Idemitsu. Yokogawa в 2018 году объявила пилот plant-wide AI process control на одном из НПЗ Idemitsu в Японии. Пилот plant-wide тихо закрыт после 2018 года; в публичных материалах остались только single-column success stories. Это типичный паттерн: AI хорошо берёт локальную оптимизацию — один column, один heater. Плохо берёт многоюнитную координацию, где multi-physics constraints ломают ML-суррогаты на edge cases.</a:t>
            </a:r>
            <a:br/>
            <a:br/>
            <a:r>
              <a:t>Применимость к Q4. CCS injection plant — это многоюнитная инсталляция: capture unit плюс transport pipeline плюс injection wells плюс monitoring wells. Координация этих компонентов на тридцать-пятидесятилетнем горизонте требует multi-physics coupling. AI может делать узкую оптимизацию — один injection well rate, один capture absorber. AI не может делать координированное plant-wide управление с multi-decade outlook. То же касается Fervo EGS.</a:t>
            </a:r>
            <a:br/>
            <a:br/>
            <a:r>
              <a:t>Фундаментальный урок для LO2. Когда задача требует multi-physics coupling плюс long horizons плюс краевых случаев — развёртывание AI затрудняется фундаментально, не из-за нехватки обучающих данных. Это не «больше данных решит проблему»; это ограничение самой ML-методологии. Обобщение нейронных сетей хорошо работает в режиме интерполяции, плохо — в режиме экстраполяции, очень плохо — в режиме multi-physics экстраполяции.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Это критический раздел для LO3 в Q4. Альтернатива AI в long-horizon CCS, refinery, EGS — это classical physics-based engineering плюс deterministic safety systems.</a:t>
            </a:r>
            <a:br/>
            <a:br/>
            <a:r>
              <a:t>Physics-based simulators для CCS. Eclipse и INTERSECT с CCS modules — reservoir-scale CO₂ migration. OpenFOAM — CFD around injection wells, multi-phase flow. Geomechanics packages — Visage от SLB, Abaqus от Dassault, Plaxis — для stress analysis в caprock. CMG GEM — compositional simulator для CO₂-impurities scenarios. Эти tools используются для regulatory submissions под EU CCS Directive 2009/31/EC. Регулятор требует physics-traceable modeling; AI surrogate не accept.</a:t>
            </a:r>
            <a:br/>
            <a:br/>
            <a:r>
              <a:t>Classical APC для refinery. Honeywell Profit Controller — modelling APC standard для US refineries. AspenTech aspenONE — APC integrated в process simulation. Emerson DeltaV PredictPro — embedded APC в DCS. APC — это model-based predictive control, детерминированное и certifiable. ML controller для plant-wide refinery operation requires safety case, что ML не приведёт к exceedance процессных пределов. Safety case для ML структурно сложнее, чем для APC.</a:t>
            </a:r>
            <a:br/>
            <a:br/>
            <a:r>
              <a:t>SIS — Safety Instrumented Systems. Это deterministic safety logic, сертифицированная под IEC 61511 / ISA-84 на уровень SIL3 или SIL4. Применения: blowout preventer, pressure relief valve, emergency shutdown logic, fire and gas detection.</a:t>
            </a:r>
            <a:br/>
            <a:br/>
            <a:r>
              <a:t>ML не сертифицируется под IEC 61511. Probability of failure on demand для ML не доказывается аналитически так же, как для дискретной логики; в дискретной логике мы перечисляем все возможные states; для ML это невозможно — state space слишком большой. Альтернатива — physics-based redundancy плюс 3oo2 voting — три датчика, действие при согласии двух — плюс периодические proof tests, плюс fail-safe design.</a:t>
            </a:r>
            <a:br/>
            <a:br/>
            <a:r>
              <a:t>Три критерия «AI не нужен» в Q4. Safety-critical SIS. Long-horizon prediction beyond десяти-двадцати лет. Plant-wide multi-physics coupling.</a:t>
            </a:r>
            <a:br/>
            <a:br/>
            <a:r>
              <a:t>Deepwater Horizon 2010 — анкор Q4 SIS-альтернатив. Альтернативы AI без strong safety culture = катастрофа. К нему вернёмся в s38.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 предыдущих разделах мы видели Россию фрагментарно. В этом разделе собираем картину целиком — через четырёх-квадрантную матрицу keystone-оси.</a:t>
            </a:r>
            <a:br/>
            <a:br/>
            <a:r>
              <a:t>Россия в режиме санкций после марта 2022 года представляет собой естественный эксперимент. Что происходит, когда вертикально-интегрированная нефтегазовая индустрия теряет доступ к западным AI-вендорам — SLB Lumi, AspenTech, Honeywell, ABB, Yokogawa — и должна инсорсить AI-стек целиком?</a:t>
            </a:r>
            <a:br/>
            <a:br/>
            <a:r>
              <a:t>Ответ — частично разработан внутри, частично заимствован из других несанкционированных юрисдикций — партнёрство с AIQ, joint venture ADNOC и G42 в ОАЭ — частично остаётся в pilot stage.</a:t>
            </a:r>
            <a:br/>
            <a:br/>
            <a:r>
              <a:t>Mini-matrix recap. В квадранте один — Роснефть Digital Field и Газпром Cognitive system Ямал. Aspen, Honeywell, ABB ушли — insourcing. Промышленно развёрнут. В квадранте три — Газпром Cognitive Geo, начатый с IBM Research Brazil в 2019-2022 году, продолжен внутри после ухода IBM. Нет SLB Lumi, нет ExxonMobil Discovery 6 — собственный HPC. Развёрнут на Ямале в 2024 году. В квадранте два — не приоритет, EU 2024/1787 не применяется к российскому экспорту в нерегулируемые рынки. В квадранте четыре — очень ограниченная public info, pilots, требует уточнения.</a:t>
            </a:r>
            <a:br/>
            <a:br/>
            <a:r>
              <a:t>Структурный паттерн — Россия ближе к китайскому модели вертикальной интеграции, не американскому vendor-based.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Газпром нефть Cognitive Geologist — flagship российский Q3 AI-проект. Создан в партнёрстве с IBM Research Brazil в Сан-Паулу; соглашение о сотрудничестве подписано в апреле 2019 года, активная разработка 2019-2022; после ухода IBM из России в 2022 году перешёл в режим internal development.</a:t>
            </a:r>
            <a:br/>
            <a:br/>
            <a:r>
              <a:t>Что система делает. Применение ML плюс probabilistic reasoning для рабочего процесса разведки. Анализ геофизических данных, корреляция через скважины, оценка вероятности продуктивности. Цикл геологической работы для определённых категорий задач сокращён с трёх-четырёх месяцев до минут. Это касается специфических задач — корреляция между скважинами, предварительное отсеивание геологических параметров — не всего цикла разведки.</a:t>
            </a:r>
            <a:br/>
            <a:br/>
            <a:r>
              <a:t>Cognitive system for oil prospecting, развёрнутая на Ямале в 2024 году — система помогла идентифицировать новое нефтяное поле, first oil из которого получена в 2024 году. Корпоративные цели: cut twofold время до first oil на новых проектах. Плюс сорок процентов projects acceleration к 2030 году.</a:t>
            </a:r>
            <a:br/>
            <a:br/>
            <a:r>
              <a:t>Параллель с BP плюс Beyond Limits и IBM плюс Repsol. Cognitive Geo с IBM начался в 2019 году; BP плюс Beyond Limits — в 2018 году; IBM плюс Repsol — в 2014 году. Все три проекта запущены в эпоху «cognitive AI для exploration». Но Cognitive Geo выжил и развился, в то время как два западных партнёрства провалились. Почему?</a:t>
            </a:r>
            <a:br/>
            <a:br/>
            <a:r>
              <a:t>Первое — internal continuation после vendor exit. Когда IBM ушёл в 2022 году, Газпром нефть продолжила разработку внутри. У BP при vendor pivot Beyond Limits не было такой опции. Второе — якорная прикладная фокусировка: Cognitive Geo с самого начала сосредоточился на конкретных задачах разведки — корреляция, предварительное отсеивание — а не на «заменить геолога». Augmentation, не замена. Третье — vertical integration внутри NOC. Нет mismatch incentives.</a:t>
            </a:r>
            <a:br/>
            <a:br/>
            <a:r>
              <a:t>Контекст AIQ partnership. AIQ — это ADNOC плюс G42 joint venture в ОАЭ, валюация один и четыре десятых миллиарда плюс после приобретения 51% Presight в мае 2024 года. Газпром нефть партнёрствует с AIQ для коммерциализации на нерегулируемых рынках. Middle East становится третьим AI compute hub.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Роснефть Digital Field мы уже разобрали в десятом слайде. Quick recap. Плюс один миллион тонн нефти в год дополнительная добыча — это плюс пять и девять десятых процентов от исходного уровня Башнефть семнадцать миллионов тонн в год. Около одного миллиарда рублей в год экономический эффект. Двадцать три программных продукта, десять коммерциализованных. Плюс шестьдесят процентов удалённо управляемых объектов.</a:t>
            </a:r>
            <a:br/>
            <a:br/>
            <a:r>
              <a:t>Татнефть, ЛУКОЙЛ, Сургутнефтегаз — детали public info ограничены. Эти три NOC формируют средний эшелон российской нефтегазовой отрасли — после двух flagship Роснефть и Газпром нефть — и реализуют AI-программы, но публичная отчётность по конкретным KPI существенно скуднее.</a:t>
            </a:r>
            <a:br/>
            <a:br/>
            <a:r>
              <a:t>Татнефть АнтиХрупкий Нижнекамск — программа предсказательного обслуживания и оптимизации производства на нефтехимическом комплексе Нижнекамска. Применяет ML для прогноза сбоев оборудования плюс оптимизация технологических режимов колонн ректификации. Конкретные numerical KPI не опубликованы.</a:t>
            </a:r>
            <a:br/>
            <a:br/>
            <a:r>
              <a:t>ЛУКОЙЛ — пакет AI-приложений в Волго-Уральском регионе: оптимизация добычи на зрелых месторождениях, прогнозирование технологических простоев, оптимизация маршрутов транспортировки нефтепродуктов. Независимая верификация ограничена.</a:t>
            </a:r>
            <a:br/>
            <a:br/>
            <a:r>
              <a:t>Сургутнефтегаз — традиционно closed company с минимальной publicity; компания исторически не раскрывает digital initiatives на корпоративном уровне.</a:t>
            </a:r>
            <a:br/>
            <a:br/>
            <a:r>
              <a:t>Этот дефицит публичной информации сам по себе информативен: показывает, что российский corporate disclosure для AI deployments существенно менее прозрачен, чем у западных публичных компаний. Это структурное ограничение для студента-аналитика: основной массив independent fact — у двух flagship; остальные NOC остаются чёрным ящиком.</a:t>
            </a:r>
            <a:br/>
            <a:br/>
            <a:r>
              <a:t>Cognitive Pilot — Sberbank плюс Cognitive Technologies joint venture, primarily agricultural combine automation. Семьсот плюс installations в 2021 → тысяча семьсот плюс в 2024. Transferability к O&amp;G — partial: heavy mobile equipment и remote sensing — yes; ATEX-rated и SIL compliance — non-trivial.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Кибербезопасность — counter-trend AI-расширения нефтегазовой автоматизации. По данным Zscaler, ransomware-атаки на нефтегаз выросли на девятьсот тридцать пять процентов между апрелем 2024 и апрелем 2025 года. База — Zscaler ThreatLabz фиксирует относительный рост числа известных ransomware-инцидентов в секторе year-over-year; абсолютные числа Zscaler не раскрывает в open report. Для контекстуализации масштаба — paradigmatic high-impact case остаётся Colonial Pipeline 2021.</a:t>
            </a:r>
            <a:br/>
            <a:br/>
            <a:r>
              <a:t>Colonial Pipeline 2021. Атакующий получил доступ через VPN без MFA — многофакторной аутентификации. Pipeline shutdown около шести дней; четыре и четыре десятых миллиона долларов ransom paid — семьдесят пять биткоинов; примерно два и три десятых миллиона recovered Министерством юстиции в июне 2021 года. Операционные потери — десятки миллионов. Recovery cost оценочно двести миллионов плюс. Lesson: flat OT/IT network плюс no MFA на VPN равно unacceptable risk для critical infrastructure.</a:t>
            </a:r>
            <a:br/>
            <a:br/>
            <a:r>
              <a:t>Shell MOVEit 2022 плюс 2024 vendor compromise. Shell был impacted Clop ransomware через MOVEit file transfer vendor — third-party software, used by multiple companies. Customer data leaked.</a:t>
            </a:r>
            <a:br/>
            <a:br/>
            <a:r>
              <a:t>Этот рост — не «random fluctuation»; это структурный эффект. OT/IT convergence увеличивает attack surface. Развёртывание AI и цифровых сервисов добавляет новые ML-сервисы, новые конвейеры данных, новые API-эндпоинты — каждый из них потенциальная точка входа. Threat actor capability растёт через offensive AI.</a:t>
            </a:r>
            <a:br/>
            <a:br/>
            <a:r>
              <a:t>Defensive vs offensive AI — структурный gap. Defensive AI — anomaly detection в OT-сетях, ML-based intrusion detection — Dragos, Claroty, Nozomi Networks. Растёт post-Colonial. Offensive AI — атакующие используют LLM-агенты для automated phishing, social engineering, automated reconnaissance. Растёт быстрее, чем defensive AI.</a:t>
            </a:r>
            <a:br/>
            <a:br/>
            <a:r>
              <a:t>Три фундаментальных урока для LO7. Первое — AI добавляет сложность, поверхность атаки растёт. Второе — безопасность это phase 1, не phase 4. Embed cybersecurity в design phase. Третье — AI security не равно traditional IT security. Adversarial ML, model poisoning, prompt injection — новые классы атак.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Два cross-cutting якоря раздела шесть. Первый — 2020 oil crash. Второй — Deepwater Horizon 2010.</a:t>
            </a:r>
            <a:br/>
            <a:br/>
            <a:r>
              <a:t>2020 oil crash. В марте-октябре 2020 года, после пандемийного collapse нефтяного спроса — нефтяные фьючерсы West Texas Intermediate уходили в отрицательную зону двадцатого апреля 2020 года впервые в истории — нефтегазовая индустрия пережила структурную shake-out. Сто семь тысяч рабочих мест потеряно в US O&amp;G и нефтехимии — fastest layoffs in industry history. Знаменатель — из total US O&amp;G workforce около одного и одной десятой миллиона — это девять и семь десятых процента индустрии за шесть месяцев. Для контекста: financial crisis 2008-2009 oil&amp;gas потерял семь процентов за двенадцать месяцев; 2020 crash — почти десять процентов за половину времени. BP — десять тысяч уволенных, пятнадцать процентов workforce. Shell — девять тысяч.</a:t>
            </a:r>
            <a:br/>
            <a:br/>
            <a:r>
              <a:t>Что это означает для AI roadmap. Industry cyclicality больше, чем AI hype cycle. Когда нефть ниже тридцати долларов за баррель — digital teams cuts first как non-essential. AI projects заморожены восемнадцать-двадцать четыре месяца. AI ROI horizon пять-семь лет; commodity cycle каждые семь-десять лет. Эти горизонты несовместимы.</a:t>
            </a:r>
            <a:br/>
            <a:br/>
            <a:r>
              <a:t>Deepwater Horizon двадцатого апреля 2010 года — исторический якорь. Не AI failure напрямую, но automation плюс human factors lessons релевантные для AI today. Macondo well, BP-operated, Transocean rig в Gulf of Mexico. Negative pressure test misinterpreted под влиянием cognitive bias к minimization. Gas kick — blowout — explosion. Одиннадцать смертей. Четыре и девять десятых миллиона баррелей spilled за восемьдесят семь дней. Шестьдесят с лишним миллиардов долларов total cost для BP — это двадцать процентов годового revenue 2010 года.</a:t>
            </a:r>
            <a:br/>
            <a:br/>
            <a:r>
              <a:t>Четыре урока для AI today. Alarm system bypassed «to prevent waking workers с false alarms» — корпоративная культура bypass когда false positive rate высокий. Independent alarms без coordinated automation. Operator response — confusion: bridge officer Andrea Fleytas, двадцать три года, меньше двух лет опыта, видела massive alarm panel, не уверена что triggering response. Junior operator с simple system больше senior с complex AI. AI sophistication не заменяет operator training.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Возврат к keystone-матрице. Через все шесть разделов мы видели: AI в нефтегазе — не одна история, а четыре разных истории.</a:t>
            </a:r>
            <a:br/>
            <a:br/>
            <a:r>
              <a:t>Квадрант один. Mature production. AI как мультипликатор. Working cases: Ambyint InfinityRL плюс пятнадцать процентов на двухстах скважинах, Honeywell UOP Connect триста десять плюс юнитов, Роснефть Digital Field плюс один миллион тонн в год. Failures: восемьдесят шесть процентов pilot stuck по McKinsey; Aspen Mtell alert fatigue плюс refinery plant-wide stagnation; Cognite IPO postpone; C3.ai O&amp;G declining.</a:t>
            </a:r>
            <a:br/>
            <a:br/>
            <a:r>
              <a:t>Квадрант три. Frontier exploration. AI как augmentation поверх physics simulators. Working cases: Eni HPC6 шестьсот шесть PFLOPS Top500 пятое место, Aramco METABRAIN двести пятьдесят миллиардов параметров и один и восемь десятых миллиарда realized 2024, SLB Lumi сентябрь 2024, ExxonMobil Discovery 6 — 4D-сейсмика месяцы в недели, Stabroek Guyana. Failures: BP плюс Beyond Limits — двадцать миллионов vendor pivot 2023; IBM Watson плюс Repsol Kalimba — 2014-2022 wind-down.</a:t>
            </a:r>
            <a:br/>
            <a:br/>
            <a:r>
              <a:t>Квадрант два. Methane MRV. AI как essential для cross-modality fusion. Working cases: Carbon Mapper Tanager-1 август 2024, GHGSat тринадцать-satellite constellation середина 2025, Bridger Photonics aerial LiDAR. Failures: MethaneSAT loss июнь 2025 — пятнадцать с половиной месяцев из пяти плюс лет; четыре икс discrepancy MethaneSAT vs EPA — пятнадцать Mt vs четыре Mt.</a:t>
            </a:r>
            <a:br/>
            <a:br/>
            <a:r>
              <a:t>Квадрант четыре. Energy transition. AI и физика struggle вместе. Working pilots: Northern Lights CCS полтора Mt в год Норвегия; Fervo Energy EGS IPO май 2026 — один и восемьдесят девять сотых миллиарда привлечено. Failures: сто девяносто икс scale-up gap CCS — Northern Lights ноль и две сотых процента от needed scale; refinery plant-wide stagnation в multi-physics frame.</a:t>
            </a:r>
            <a:br/>
            <a:br/>
            <a:r>
              <a:t>Раздел Россия — все четыре квадранта в санкционном режиме. Раздел шесть cross-cutting: cyber +935 процентов, 2020 crash 107 000 jobs, Deepwater Horizon 2010 alarm bypass.</a:t>
            </a:r>
            <a:br/>
            <a:br/>
            <a:r>
              <a:t>Когда AI работает. Q1 multiplier плюс Q2 essential с triangulation. Когда осторожно. Q3 augmentation only — не пытаться replace senior geologist. Когда опасно. Q4 long-horizon plus safety-critical 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Лекции с одиннадцатой по шестнадцатую прошли шесть отраслевых deep-dive: дискретное и процессное производство, автоматизация и цифровые двойники, логистика и транспорт, телеком и AIOps, энергетика, нефтегаз. В Лекции семнадцать курс делает systematization — собирает кросс-отраслевые универсальные паттерны. Глава шестнадцать — последний отраслевой deep-dive перед этой синтезирующей лекцией.</a:t>
            </a:r>
            <a:br/>
            <a:br/>
            <a:r>
              <a:t>Три cornerstone концепта, которые читатель должен унести — каждый портативен на любую следующую отрасль.</a:t>
            </a:r>
            <a:br/>
            <a:br/>
            <a:r>
              <a:t>Первый. AI judgment как структурная задача — где применим, где нет. Главный инференциальный навык курса — не «как запустить AI», а «как определить, применим ли AI в данной задаче». В Лекции шестнадцать keystone-матрица «данные на физика» формализует этот вопрос для нефтегаза. Сам подход — структурный fit assessment — переносимый. В Лекции семнадцать обобщим: для любой отрасли существует две-три-мерная таксономия. Без этой диагностики AI-внедрение — азартная ставка, не инженерное решение.</a:t>
            </a:r>
            <a:br/>
            <a:br/>
            <a:r>
              <a:t>Второй. Альтернатива-как-исходный уровень. Уметь сформулировать альтернативный инструмент для каждой задачи, в которой обсуждается AI. В нефтегазе мы видели шесть alternative категорий: пластовые симуляторы, переносные анализаторы, классический APC, SIS, senior expert, federated learning. Каждая — зрелый инженерный инструмент, который работает сейчас, без AI. AI добавляется только если измеримо улучшает исходный уровень с приемлемым риском. Без этого правила AI становится навязанным решением.</a:t>
            </a:r>
            <a:br/>
            <a:br/>
            <a:r>
              <a:t>Третий. Industry cyclicality больше AI hype cycle. 2020 crash как парадигматический случай: сто семь тысяч jobs lost за шесть месяцев, AI заморожены восемнадцать-двадцать четыре месяца. Каждая отрасль имеет свой цикл. AI-roadmap должен иметь stress-tested устойчивость против отраслевого цикла. AI не защищает от цикла — он эффект усиления.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Q&amp;A. Три ключевых вопроса для exit ticket. Обсудим в малых группах по два-три, потом общий разбор.</a:t>
            </a:r>
            <a:br/>
            <a:br/>
            <a:r>
              <a:t>Первый вопрос — на LO1. Для какого квадранта матрицы данные на физика AI является essential, а не augmentation? Expected answer — Q2, methane MRV, high data плюс low physics. Конкретный case — MethaneSAT, Carbon Mapper или GHGSat. Почему классической физики недостаточно — cross-source data fusion от четырёх sensor modality плюс small-leak attribution не имеет классического physics-based решения.</a:t>
            </a:r>
            <a:br/>
            <a:br/>
            <a:r>
              <a:t>Второй вопрос — на LO2 плюс cross-cutting. Приведите два documented failure из лекции плюс выученные уроки. Expected — любые два из десяти. Я перечисляю: BP плюс Beyond Limits — концентрированная ставка и anthropomorphic overpromise. IBM плюс Repsol — general-purpose не scaled в narrow domain. MethaneSAT loss — single-satellite catastrophic SPOF. Восемьдесят шесть процентов pilot stuck — структурная норма. Aspen Mtell alert fatigue — «устранили то, чего нельзя устранить». Четыре икс discrepancy — methodological gap. CCS сто девяносто икс scale-up gap — AI catalyst, не scale solution. Refinery plant-wide stagnation — multi-physics surrogate gap. 2020 crash сто семь тысяч jobs — industry cyclicality. Cyber девятьсот тридцать пять процентов — AI добавляет attack surface.</a:t>
            </a:r>
            <a:br/>
            <a:br/>
            <a:r>
              <a:t>Третий вопрос — на LO2 плюс LO3. Когда в нефтегазе не применять AI? Expected — три критерия из шести. Safety-critical SIS — SIL3/SIL4 deterministic mandatory. Frontier без analog data — senior геофизик плюс классическая интерпретация. OGMP Level 5 plus custody transfer — regulator требует direct measurement.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 феврале 2026 года EDF плюс Google опубликовали первую глобальную карту метана на основе MethaneSAT data, собранных до потери спутника. Это и есть закрытие лекции.</a:t>
            </a:r>
            <a:br/>
            <a:br/>
            <a:r>
              <a:t>Карта — bittersweet payoff. Спутник потерян. Но карта осталась. Около двух тысяч data files собраны за пятнадцать с половиной месяцев работы — это retrospective inventory, по которому академия, операторы, регуляторы могут делать анализ годами вперёд.</a:t>
            </a:r>
            <a:br/>
            <a:br/>
            <a:r>
              <a:t>Это и есть итог Лекции шестнадцать. AI в нефтегазе — это измеримый успех плюс структурная уязвимость в одном кадре. Не одна сторона. Не другая. Обе сразу.</a:t>
            </a:r>
            <a:br/>
            <a:br/>
            <a:r>
              <a:t>Final framing для студента, окончивший лекцию шестнадцать и применяющий keystone-матрицу в первой реальной работе. Матрица — это диагностический инструмент, а не классификация. Реальная производственная операция часто смешана: один и тот же оператор может иметь Q1 mature production на одном бассейне, Q3 frontier exploration в другом регионе, Q2 methane MRV compliance в третьем сегменте регуляторных требований. Это не «оператор находится в одном квадранте». Это оператор управляет portfolio AI projects, каждый из которых в своём квадранте.</a:t>
            </a:r>
            <a:br/>
            <a:br/>
            <a:r>
              <a:t>Хороший инженер строит portfolio reading, не single-quadrant reading.</a:t>
            </a:r>
            <a:br/>
            <a:br/>
            <a:r>
              <a:t>В следующей Лекции семнадцать мы соберём cornerstone концепты с одиннадцатой по шестнадцатую в системы universal patterns. До встречи. Спасибо.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Раздел один. Q1 — зрелое производство. Это самый освоенный квадрант нефтегазового AI. Зрелое месторождение Пермского бассейна имеет историю добычи тридцать с лишним лет, тысячу пробуренных скважин, хорошо изученную геологию. Пластовая симуляция на Eclipse даёт надёжные прогнозы. Senior reservoir engineer с двадцатью с лишним лет опыта добавляет implicit knowledge.</a:t>
            </a:r>
            <a:br/>
            <a:br/>
            <a:r>
              <a:t>AI здесь не приходит «спасать». Он приходит как мультипликатор. Даёт плюс пять — пятнадцать процентов дополнительной добычи поверх уже оптимизированной операции. Ловит за несколько минут до каскадного отказа компрессор. Рекомендует оптимальный график перетоков в коллекторе.</a:t>
            </a:r>
            <a:br/>
            <a:br/>
            <a:r>
              <a:t>И всё равно — восемьдесят шесть процентов AI-проектов в энергетике застряли в пилотной фазе. Это парадокс, который определяет тон всего раздела. Мы будем разбирать конкретные working cases — Ambyint, Aspen Mtell, Honeywell UOP, Роснефть Digital Field — и параллельно почему массовая статистика говорит, что большинство таких deployments не масштабируются.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Раздел два. Q3 — разведка фронтиров. Спускаемся в data-беднейший квадрант. Здесь профиль AI кардинально иной, чем в Q1.</a:t>
            </a:r>
            <a:br/>
            <a:br/>
            <a:r>
              <a:t>Размер выборки. Каждая разведочная скважина в новом районе — wildcat well, на сленге «дикая кошка», поскольку результат непредсказуем как охота на дикого зверя — стоит пятьдесят-сто миллионов долларов на офшорном глубоководном бурении. Существенно меньше — пять-двадцать миллионов — в наземной разведке. Невозможно «собрать ещё данных» без коммерчески-несостоятельных расходов. Размер обучающей выборки для нового бассейна — одна-пять скважин. Это структурно мало для любого современного ML-метода, включая foundation models.</a:t>
            </a:r>
            <a:br/>
            <a:br/>
            <a:r>
              <a:t>Что это значит. Foundation models, обученные на девяноста годах данных Aramco или на доступной библиотеке скважин SLB Petrel, не обобщаются на новый бассейн с принципиально иной геологией. Бассейн Tarim в Китае не похож на Пермский. Восточно-африканский рифт не похож ни на тот, ни на другой. AI здесь даёт предварительное отсеивание и ускорение существующих рабочих процессов, а не «замену геолога». И всё, что обещало большее — провалилось публично.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Раздел три. Q2 — методановая MRV. Это самый необычный квадрант на keystone-матрице.</a:t>
            </a:r>
            <a:br/>
            <a:br/>
            <a:r>
              <a:t>Доступность данных — высокая. Спутники GHGSat собирают терабайты гиперспектрального изображения в день; самолёты Bridger Photonics с Gas Mapping LiDAR делают сотни тысяч измерений за один полётный сезон; ручные OGI-камеры на нефтепромыслах генерируют десятки тысяч кадров.</a:t>
            </a:r>
            <a:br/>
            <a:br/>
            <a:r>
              <a:t>Физика — частично известная. Атмосферная физика метана хорошо описана для отдельной модальности — для гиперспектрального спутникового измерения один источник. Но слияние нескольких сенсоров — спутник плюс самолёт плюс дрон плюс ручная камера — и атрибуция малой утечки к конкретному источнику в сложной орографии — это открытая ML-задача.</a:t>
            </a:r>
            <a:br/>
            <a:br/>
            <a:r>
              <a:t>Почему AI essential. Классической physics-based методики, которая бы взяла наблюдения четырёх типов и слила их в одну согласованную оценку утечки на конкретном устье скважины — не существует. Альтернативы только классическая физика — нет.</a:t>
            </a:r>
            <a:br/>
            <a:br/>
            <a:r>
              <a:t>Но единичная уязвимость. Когда оператор полагается на один спутник как primary data source — что произойдёт, если спутник потеряют? Этот сюжет уже разыгрался в реальном времени. Через два слайда — детали.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Раздел четыре. Q4 — это самый честный квадрант keystone-матрицы. Не «AI revolution», не «AI essential», не «AI augmentation» — а AI и физика struggle вместе. И данных мало — единицы CCS-проектов в мире, единицы EGS-проектов. И физика на длинных горизонтах не закрыта — миграция облака CO₂ через подземные формации на сто лет, geomechanics нагрева в EGS на тридцать с лишним лет.</a:t>
            </a:r>
            <a:br/>
            <a:br/>
            <a:r>
              <a:t>Эта структура заставляет читателя смотреть на Q4 без иллюзий. Технологии обещают много. Достижения единичны. Scale gap огромен.</a:t>
            </a:r>
            <a:br/>
            <a:br/>
            <a:r>
              <a:t>В Q1 у нас были данные и физика — AI работал как мультипликатор. В Q3 — физика была, данных не было — AI работал как augmentation. В Q2 — данные были, физики не было — AI работал как essential. В Q4 — обе стороны слабые. И AI не может компенсировать обе слабости одновременно.</a:t>
            </a:r>
            <a:br/>
            <a:br/>
            <a:r>
              <a:t>Что это значит для развёртывания. Hybrid AI плюс physics — единственный workable путь. Long-horizon prediction структурно уязвимо к hallucination. Scale gap огромен — он не закрывается 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2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2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2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notesSlide" Target="../notesSlides/notesSlide2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28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notesSlide" Target="../notesSlides/notesSlide29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34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jpg"/><Relationship Id="rId4" Type="http://schemas.openxmlformats.org/officeDocument/2006/relationships/notesSlide" Target="../notesSlides/notesSlide35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01-permian-viir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95252"/>
            <a:ext cx="6858000" cy="457021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54406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7685"/>
                </a:solidFill>
                <a:latin typeface="Arial"/>
              </a:rPr>
              <a:t>NASA Earth Observatory · VIIRS day-night band · NOAA · 2024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0" y="548640"/>
            <a:ext cx="4206240" cy="4937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200" b="1" i="0">
                <a:solidFill>
                  <a:srgbClr val="F0AB00"/>
                </a:solidFill>
                <a:latin typeface="Arial"/>
              </a:rPr>
              <a:t>2 593</a:t>
            </a:r>
          </a:p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21295C"/>
                </a:solidFill>
                <a:latin typeface="Arial"/>
              </a:rPr>
              <a:t>факельных шлейфа</a:t>
            </a:r>
          </a:p>
          <a:p>
            <a:pPr algn="l">
              <a:lnSpc>
                <a:spcPct val="110000"/>
              </a:lnSpc>
            </a:pPr>
            <a:r>
              <a:rPr sz="1400" b="0" i="1">
                <a:solidFill>
                  <a:srgbClr val="1C7293"/>
                </a:solidFill>
                <a:latin typeface="Arial"/>
              </a:rPr>
              <a:t>Пермский бассейн, 2024</a:t>
            </a:r>
          </a:p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21295C"/>
                </a:solidFill>
                <a:latin typeface="Arial"/>
              </a:rPr>
              <a:t/>
            </a:r>
          </a:p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Пик: ~34 000 т/ч метана</a:t>
            </a:r>
          </a:p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6B7685"/>
                </a:solidFill>
                <a:latin typeface="Arial"/>
              </a:rPr>
              <a:t>для всего бассейна</a:t>
            </a:r>
          </a:p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21295C"/>
                </a:solidFill>
                <a:latin typeface="Arial"/>
              </a:rPr>
              <a:t/>
            </a:r>
          </a:p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21295C"/>
                </a:solidFill>
                <a:latin typeface="Arial"/>
              </a:rPr>
              <a:t>Не аварии — нормальный</a:t>
            </a:r>
          </a:p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21295C"/>
                </a:solidFill>
                <a:latin typeface="Arial"/>
              </a:rPr>
              <a:t>operational режим.</a:t>
            </a:r>
          </a:p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21295C"/>
                </a:solidFill>
                <a:latin typeface="Arial"/>
              </a:rPr>
              <a:t>Добыча идёт быстрее,</a:t>
            </a:r>
          </a:p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21295C"/>
                </a:solidFill>
                <a:latin typeface="Arial"/>
              </a:rPr>
              <a:t>чем строится газовая</a:t>
            </a:r>
          </a:p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21295C"/>
                </a:solidFill>
                <a:latin typeface="Arial"/>
              </a:rPr>
              <a:t>инфраструктура.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5760720"/>
            <a:ext cx="11274552" cy="731520"/>
          </a:xfrm>
          <a:prstGeom prst="roundRect">
            <a:avLst>
              <a:gd name="adj" fmla="val 8000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833872"/>
            <a:ext cx="10908792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AI в нефтегазе — не «улучшалка на 5%», а способ закрыть конкретные провалы. И закрывает либо громко, либо публично проваливается.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1564930" cy="292608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"/>
            <a:ext cx="156493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6B7685"/>
                </a:solidFill>
                <a:latin typeface="Arial"/>
              </a:rPr>
              <a:t>1. Keystone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2067850" y="182880"/>
            <a:ext cx="1564930" cy="292608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67850" y="219456"/>
            <a:ext cx="156493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6B7685"/>
                </a:solidFill>
                <a:latin typeface="Arial"/>
              </a:rPr>
              <a:t>2. Q1 Mature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78500" y="182880"/>
            <a:ext cx="1564930" cy="292608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78500" y="219456"/>
            <a:ext cx="156493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6B7685"/>
                </a:solidFill>
                <a:latin typeface="Arial"/>
              </a:rPr>
              <a:t>3. Q3 Frontier</a:t>
            </a:r>
          </a:p>
        </p:txBody>
      </p:sp>
      <p:sp>
        <p:nvSpPr>
          <p:cNvPr id="8" name="Rectangle 7"/>
          <p:cNvSpPr/>
          <p:nvPr/>
        </p:nvSpPr>
        <p:spPr>
          <a:xfrm>
            <a:off x="5289150" y="182880"/>
            <a:ext cx="1564930" cy="292608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89150" y="219456"/>
            <a:ext cx="156493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6B7685"/>
                </a:solidFill>
                <a:latin typeface="Arial"/>
              </a:rPr>
              <a:t>4. Q2 Methane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99801" y="182880"/>
            <a:ext cx="1564930" cy="292608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99801" y="219456"/>
            <a:ext cx="156493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6B7685"/>
                </a:solidFill>
                <a:latin typeface="Arial"/>
              </a:rPr>
              <a:t>5. Q4 Transition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10451" y="182880"/>
            <a:ext cx="1564930" cy="292608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10451" y="219456"/>
            <a:ext cx="156493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6B7685"/>
                </a:solidFill>
                <a:latin typeface="Arial"/>
              </a:rPr>
              <a:t>6. Россия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121101" y="182880"/>
            <a:ext cx="1564930" cy="292608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21101" y="219456"/>
            <a:ext cx="156493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6B7685"/>
                </a:solidFill>
                <a:latin typeface="Arial"/>
              </a:rPr>
              <a:t>7. Сквозные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1097280"/>
            <a:ext cx="3657600" cy="411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0" b="1" i="0">
                <a:solidFill>
                  <a:srgbClr val="D9E2EC"/>
                </a:solidFill>
                <a:latin typeface="Arial"/>
              </a:rPr>
              <a:t>16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1371600"/>
            <a:ext cx="758952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C7293"/>
                </a:solidFill>
                <a:latin typeface="Arial"/>
              </a:rPr>
              <a:t>Лекция 16</a:t>
            </a:r>
          </a:p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21295C"/>
                </a:solidFill>
                <a:latin typeface="Arial"/>
              </a:rPr>
              <a:t>AI в нефтегазовой отрасли</a:t>
            </a:r>
          </a:p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21295C"/>
                </a:solidFill>
                <a:latin typeface="Arial"/>
              </a:rPr>
              <a:t>и добыче ресурсов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3931920"/>
            <a:ext cx="7589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1">
                <a:solidFill>
                  <a:srgbClr val="028090"/>
                </a:solidFill>
                <a:latin typeface="Arial"/>
              </a:rPr>
              <a:t>Шесть разделов через матрицу данные × физика.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0" y="4526280"/>
            <a:ext cx="7589520" cy="169164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7680" y="4617720"/>
            <a:ext cx="73152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65A82"/>
                </a:solidFill>
                <a:latin typeface="Arial"/>
              </a:rPr>
              <a:t>Главный вопрос: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21295C"/>
                </a:solidFill>
                <a:latin typeface="Arial"/>
              </a:rPr>
              <a:t>В каком квадранте матрицы «данные × физика» AI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21295C"/>
                </a:solidFill>
                <a:latin typeface="Arial"/>
              </a:rPr>
              <a:t>становится мультипликатором классических методов,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21295C"/>
                </a:solidFill>
                <a:latin typeface="Arial"/>
              </a:rPr>
              <a:t>а где он либо необходим, либо опасен — на материале</a:t>
            </a:r>
          </a:p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1295C"/>
                </a:solidFill>
                <a:latin typeface="Arial"/>
              </a:rPr>
              <a:t>10 documented провалов индустрии 2014–2026?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1C7293"/>
                </a:solidFill>
                <a:latin typeface="Arial"/>
              </a:rPr>
              <a:t>Курс «Применение AI в инженерии» · Студенты-инженеры 3 курса ·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21295C"/>
                </a:solidFill>
                <a:latin typeface="Arial"/>
              </a:rPr>
              <a:t>Курс — про инженерное суждение «когда применять AI, когда отказаться»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1C7293"/>
                </a:solidFill>
                <a:latin typeface="Arial"/>
              </a:rPr>
              <a:t>Сегодня — на материале нефтегазовой отрасли.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3657600" cy="420624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3657600" cy="64008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Arial"/>
              </a:rPr>
              <a:t>Аудитория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51760"/>
            <a:ext cx="329184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21295C"/>
                </a:solidFill>
                <a:latin typeface="Arial"/>
              </a:rPr>
              <a:t>Студенты-инженеры
3 курса
(универсальная,
не отраслевые
специалисты)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1828800"/>
            <a:ext cx="3657600" cy="420624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51960" y="1828800"/>
            <a:ext cx="3657600" cy="64008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182880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Arial"/>
              </a:rPr>
              <a:t>Формат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651760"/>
            <a:ext cx="329184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21295C"/>
                </a:solidFill>
                <a:latin typeface="Arial"/>
              </a:rPr>
              <a:t>42 слайда
· 10 разобранных
провалов
· 12+ рабочих
кейсов
· 7 разделов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828800"/>
            <a:ext cx="3657600" cy="420624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828800"/>
            <a:ext cx="3657600" cy="64008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182880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Arial"/>
              </a:rPr>
              <a:t>Вы научитесь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651760"/>
            <a:ext cx="329184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21295C"/>
                </a:solidFill>
                <a:latin typeface="Arial"/>
              </a:rPr>
              <a:t>Различать 4 квадранта
матрицы
· Критически читать
вендорские заявления
· Применять критерии
«AI не нужен»
· Альтернативы
без 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6263640"/>
            <a:ext cx="11274552" cy="457200"/>
          </a:xfrm>
          <a:prstGeom prst="roundRect">
            <a:avLst>
              <a:gd name="adj" fmla="val 8000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6336792"/>
            <a:ext cx="1090879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21295C"/>
                </a:solidFill>
                <a:latin typeface="Arial"/>
              </a:rPr>
              <a:t>10 разобранных провалов + 12+ рабочих кейсов = инженерный фильтр, не каталог инноваций.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21295C"/>
                </a:solidFill>
                <a:latin typeface="Arial"/>
              </a:rPr>
              <a:t>Карта лекции — 7 разделов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1C7293"/>
                </a:solidFill>
                <a:latin typeface="Arial"/>
              </a:rPr>
              <a:t>Не по value chain, а по структуре AI-задачи: данные × физика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1563624" cy="402336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2980" y="1600200"/>
            <a:ext cx="502920" cy="50292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2980" y="16002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40280"/>
            <a:ext cx="138074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Keystone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97480"/>
            <a:ext cx="13807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1">
                <a:solidFill>
                  <a:srgbClr val="1C7293"/>
                </a:solidFill>
                <a:latin typeface="Arial"/>
              </a:rPr>
              <a:t>Матрица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154680"/>
            <a:ext cx="1380744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Данные × физика, 4 квадранта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66543" y="1463040"/>
            <a:ext cx="1563624" cy="402336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592324" y="1600200"/>
            <a:ext cx="502920" cy="50292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92324" y="16002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57984" y="2240280"/>
            <a:ext cx="138074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Q1 Mature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57984" y="2697480"/>
            <a:ext cx="13807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1">
                <a:solidFill>
                  <a:srgbClr val="1C7293"/>
                </a:solidFill>
                <a:latin typeface="Arial"/>
              </a:rPr>
              <a:t>3 кейса · 2 провала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57984" y="3154680"/>
            <a:ext cx="1380744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Зрелое производство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75887" y="1463040"/>
            <a:ext cx="1563624" cy="402336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201668" y="1600200"/>
            <a:ext cx="502920" cy="50292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01668" y="16002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67327" y="2240280"/>
            <a:ext cx="138074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Q3 Frontier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67327" y="2697480"/>
            <a:ext cx="13807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1">
                <a:solidFill>
                  <a:srgbClr val="1C7293"/>
                </a:solidFill>
                <a:latin typeface="Arial"/>
              </a:rPr>
              <a:t>3 кейса · 2 провала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67327" y="3154680"/>
            <a:ext cx="1380744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Разведка фронтиров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285232" y="1463040"/>
            <a:ext cx="1563624" cy="402336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11012" y="1600200"/>
            <a:ext cx="502920" cy="502920"/>
          </a:xfrm>
          <a:prstGeom prst="ellipse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11012" y="16002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76672" y="2240280"/>
            <a:ext cx="138074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Q2 Methane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76672" y="2697480"/>
            <a:ext cx="13807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1">
                <a:solidFill>
                  <a:srgbClr val="1C7293"/>
                </a:solidFill>
                <a:latin typeface="Arial"/>
              </a:rPr>
              <a:t>4 системы · 2 провала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76672" y="3154680"/>
            <a:ext cx="1380744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Метановая MRV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94576" y="1463040"/>
            <a:ext cx="1563624" cy="402336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420356" y="1600200"/>
            <a:ext cx="502920" cy="50292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20356" y="16002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86016" y="2240280"/>
            <a:ext cx="138074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Q4 Transition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86016" y="2697480"/>
            <a:ext cx="13807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1">
                <a:solidFill>
                  <a:srgbClr val="1C7293"/>
                </a:solidFill>
                <a:latin typeface="Arial"/>
              </a:rPr>
              <a:t>2 пилота · 2 провала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86016" y="3154680"/>
            <a:ext cx="1380744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CCS + EGS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503920" y="1463040"/>
            <a:ext cx="1563624" cy="402336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029700" y="1600200"/>
            <a:ext cx="502920" cy="50292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29700" y="16002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95360" y="2240280"/>
            <a:ext cx="138074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Россия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95360" y="2697480"/>
            <a:ext cx="13807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1">
                <a:solidFill>
                  <a:srgbClr val="1C7293"/>
                </a:solidFill>
                <a:latin typeface="Arial"/>
              </a:rPr>
              <a:t>3 программы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95360" y="3154680"/>
            <a:ext cx="1380744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Санкции, инсорсинг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113264" y="1463040"/>
            <a:ext cx="1563624" cy="402336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639044" y="1600200"/>
            <a:ext cx="502920" cy="502920"/>
          </a:xfrm>
          <a:prstGeom prst="ellipse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639044" y="16002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04704" y="2240280"/>
            <a:ext cx="138074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Сквозные риски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04704" y="2697480"/>
            <a:ext cx="13807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1">
                <a:solidFill>
                  <a:srgbClr val="1C7293"/>
                </a:solidFill>
                <a:latin typeface="Arial"/>
              </a:rPr>
              <a:t>2 провала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204704" y="3154680"/>
            <a:ext cx="1380744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Кибер + кризис 2020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7200" y="5669280"/>
            <a:ext cx="11274552" cy="777240"/>
          </a:xfrm>
          <a:prstGeom prst="roundRect">
            <a:avLst>
              <a:gd name="adj" fmla="val 8000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" y="5742432"/>
            <a:ext cx="1090879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21295C"/>
                </a:solidFill>
                <a:latin typeface="Arial"/>
              </a:rPr>
              <a:t>Quick glossary: MRV = выявление-учёт-проверка · OGI = оптическая газовая визуализация · CCS = улавливание и хранение углерода · EGS = улучшенные геотермальные системы · SIS = приборная система безопасности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21295C"/>
                </a:solidFill>
                <a:latin typeface="Arial"/>
              </a:rPr>
              <a:t>Когда AI работает в нефтегазе? Матрица данные × физика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1C7293"/>
                </a:solidFill>
                <a:latin typeface="Arial"/>
              </a:rPr>
              <a:t>От разведки фронтиров до спутникового метана — AI имеет 4 разных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155448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065A82"/>
                </a:solidFill>
                <a:latin typeface="Arial"/>
              </a:rPr>
              <a:t>Высокая 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338328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065A82"/>
                </a:solidFill>
                <a:latin typeface="Arial"/>
              </a:rPr>
              <a:t>Данные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" y="50749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065A82"/>
                </a:solidFill>
                <a:latin typeface="Arial"/>
              </a:rPr>
              <a:t>↓ Низкая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58521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065A82"/>
                </a:solidFill>
                <a:latin typeface="Arial"/>
              </a:rPr>
              <a:t>← Низкая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585216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065A82"/>
                </a:solidFill>
                <a:latin typeface="Arial"/>
              </a:rPr>
              <a:t>Физика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58521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065A82"/>
                </a:solidFill>
                <a:latin typeface="Arial"/>
              </a:rPr>
              <a:t>Высокая 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54480" y="1417320"/>
            <a:ext cx="4572000" cy="2057400"/>
          </a:xfrm>
          <a:prstGeom prst="roundRect">
            <a:avLst>
              <a:gd name="adj" fmla="val 8000"/>
            </a:avLst>
          </a:prstGeom>
          <a:solidFill>
            <a:srgbClr val="E6F2F4"/>
          </a:solidFill>
          <a:ln w="3175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150876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21295C"/>
                </a:solidFill>
                <a:latin typeface="Arial"/>
              </a:rPr>
              <a:t>Q2 — Метановая MRV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2057400"/>
            <a:ext cx="42062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AI необходим
MethaneSAT / Carbon Mapper / GHGSat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417320"/>
            <a:ext cx="4572000" cy="20574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3175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50876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21295C"/>
                </a:solidFill>
                <a:latin typeface="Arial"/>
              </a:rPr>
              <a:t>Q1 — Зрелое производство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057400"/>
            <a:ext cx="42062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AI как мультипликатор
Ambyint +15% на 200 скважинах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554480" y="3611880"/>
            <a:ext cx="4572000" cy="2057400"/>
          </a:xfrm>
          <a:prstGeom prst="roundRect">
            <a:avLst>
              <a:gd name="adj" fmla="val 8000"/>
            </a:avLst>
          </a:prstGeom>
          <a:solidFill>
            <a:srgbClr val="FEF5E0"/>
          </a:solidFill>
          <a:ln w="317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37360" y="370332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21295C"/>
                </a:solidFill>
                <a:latin typeface="Arial"/>
              </a:rPr>
              <a:t>Q4 — Энергопереход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4251960"/>
            <a:ext cx="42062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AI и физика буксуют вместе
Northern Lights / Fervo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3611880"/>
            <a:ext cx="4572000" cy="20574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317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370332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21295C"/>
                </a:solidFill>
                <a:latin typeface="Arial"/>
              </a:rPr>
              <a:t>Q3 — Разведка фронтиров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251960"/>
            <a:ext cx="42062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Physics-first, AI как дополнение
Aramco METABRAIN / Eni HPC6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6400800"/>
            <a:ext cx="11274552" cy="411480"/>
          </a:xfrm>
          <a:prstGeom prst="roundRect">
            <a:avLst>
              <a:gd name="adj" fmla="val 8000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6473952"/>
            <a:ext cx="1090879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За каждым AI-внедрением — alternative tool: физический симулятор, OGI-камера, классическая интерпретация.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1564930" cy="292608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"/>
            <a:ext cx="156493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6B7685"/>
                </a:solidFill>
                <a:latin typeface="Arial"/>
              </a:rPr>
              <a:t>1. Keystone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2067850" y="182880"/>
            <a:ext cx="1564930" cy="292608"/>
          </a:xfrm>
          <a:prstGeom prst="rect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67850" y="219456"/>
            <a:ext cx="156493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21295C"/>
                </a:solidFill>
                <a:latin typeface="Arial"/>
              </a:rPr>
              <a:t>2. Q1 Mature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78500" y="182880"/>
            <a:ext cx="1564930" cy="292608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78500" y="219456"/>
            <a:ext cx="156493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6B7685"/>
                </a:solidFill>
                <a:latin typeface="Arial"/>
              </a:rPr>
              <a:t>3. Q3 Frontier</a:t>
            </a:r>
          </a:p>
        </p:txBody>
      </p:sp>
      <p:sp>
        <p:nvSpPr>
          <p:cNvPr id="8" name="Rectangle 7"/>
          <p:cNvSpPr/>
          <p:nvPr/>
        </p:nvSpPr>
        <p:spPr>
          <a:xfrm>
            <a:off x="5289150" y="182880"/>
            <a:ext cx="1564930" cy="292608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89150" y="219456"/>
            <a:ext cx="156493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6B7685"/>
                </a:solidFill>
                <a:latin typeface="Arial"/>
              </a:rPr>
              <a:t>4. Q2 Methane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99801" y="182880"/>
            <a:ext cx="1564930" cy="292608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99801" y="219456"/>
            <a:ext cx="156493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6B7685"/>
                </a:solidFill>
                <a:latin typeface="Arial"/>
              </a:rPr>
              <a:t>5. Q4 Transition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10451" y="182880"/>
            <a:ext cx="1564930" cy="292608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10451" y="219456"/>
            <a:ext cx="156493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6B7685"/>
                </a:solidFill>
                <a:latin typeface="Arial"/>
              </a:rPr>
              <a:t>6. Россия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121101" y="182880"/>
            <a:ext cx="1564930" cy="292608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21101" y="219456"/>
            <a:ext cx="156493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6B7685"/>
                </a:solidFill>
                <a:latin typeface="Arial"/>
              </a:rPr>
              <a:t>7. Сквозные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914400"/>
            <a:ext cx="5029200" cy="3291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0" b="1" i="0">
                <a:solidFill>
                  <a:srgbClr val="065A82"/>
                </a:solidFill>
                <a:latin typeface="Arial"/>
              </a:rPr>
              <a:t>Q1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34840"/>
            <a:ext cx="5029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21295C"/>
                </a:solidFill>
                <a:latin typeface="Arial"/>
              </a:rPr>
              <a:t>Зрелое производство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1371600"/>
            <a:ext cx="603504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21295C"/>
                </a:solidFill>
                <a:latin typeface="Arial"/>
              </a:rPr>
              <a:t>AI здесь — мультипликатор классических методов. Самый освоенный квадрант. И самый структурно проваленный.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486400"/>
            <a:ext cx="11274552" cy="777240"/>
          </a:xfrm>
          <a:prstGeom prst="roundRect">
            <a:avLst>
              <a:gd name="adj" fmla="val 8000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559552"/>
            <a:ext cx="1090879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3 рабочих кейса · 2 структурных провала · 86% пилотов застряло — статистическая норма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21295C"/>
                </a:solidFill>
                <a:latin typeface="Arial"/>
              </a:rPr>
              <a:t>86% AI-проектов в энергетике застряли в пилоте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1C7293"/>
                </a:solidFill>
                <a:latin typeface="Arial"/>
              </a:rPr>
              <a:t>McKinsey State of AI 2024 — vs cross-industry ~67%. Энергетика на 18 п.п. хуже среднего.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5486400" cy="420624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07-pilot-stu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50720"/>
            <a:ext cx="5120640" cy="341375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126480" y="1554480"/>
            <a:ext cx="5605272" cy="420624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1691640"/>
            <a:ext cx="5330952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65A82"/>
                </a:solidFill>
                <a:latin typeface="Arial"/>
              </a:rPr>
              <a:t>5 структурных причин:</a:t>
            </a:r>
          </a:p>
          <a:p>
            <a:pPr algn="l">
              <a:lnSpc>
                <a:spcPct val="120000"/>
              </a:lnSpc>
            </a:pPr>
            <a:r>
              <a:rPr sz="400" b="0" i="0">
                <a:solidFill>
                  <a:srgbClr val="21295C"/>
                </a:solidFill>
                <a:latin typeface="Arial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1. Данные. 60–80% времени AI-проекта = очистка данных. Только 21% энергокомпаний имеют качество для AI промышленного уровня.</a:t>
            </a:r>
          </a:p>
          <a:p>
            <a:pPr algn="l">
              <a:lnSpc>
                <a:spcPct val="120000"/>
              </a:lnSpc>
            </a:pPr>
            <a:r>
              <a:rPr sz="400" b="0" i="0">
                <a:solidFill>
                  <a:srgbClr val="21295C"/>
                </a:solidFill>
                <a:latin typeface="Arial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2. Legacy IT integration. Стоимость интеграции SCADA/MES/ERP — в 3–5× выше стоимости AI-софта.</a:t>
            </a:r>
          </a:p>
          <a:p>
            <a:pPr algn="l">
              <a:lnSpc>
                <a:spcPct val="120000"/>
              </a:lnSpc>
            </a:pPr>
            <a:r>
              <a:rPr sz="400" b="0" i="0">
                <a:solidFill>
                  <a:srgbClr val="21295C"/>
                </a:solidFill>
                <a:latin typeface="Arial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3. Дефицит кадров. AI + предметная область. После 2020 крах — 107k jobs потеряно.</a:t>
            </a:r>
          </a:p>
          <a:p>
            <a:pPr algn="l">
              <a:lnSpc>
                <a:spcPct val="120000"/>
              </a:lnSpc>
            </a:pPr>
            <a:r>
              <a:rPr sz="400" b="0" i="0">
                <a:solidFill>
                  <a:srgbClr val="21295C"/>
                </a:solidFill>
                <a:latin typeface="Arial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4. Культура безопасности. Senior operator отказывает рискованной рекомендации — и часто прав.</a:t>
            </a:r>
          </a:p>
          <a:p>
            <a:pPr algn="l">
              <a:lnSpc>
                <a:spcPct val="120000"/>
              </a:lnSpc>
            </a:pPr>
            <a:r>
              <a:rPr sz="400" b="0" i="0">
                <a:solidFill>
                  <a:srgbClr val="21295C"/>
                </a:solidFill>
                <a:latin typeface="Arial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5. Горизонт ROI. AI-vendor обещает 12–18 мес; field life 20–30 лет. Несовместимо.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943600"/>
            <a:ext cx="11274552" cy="502920"/>
          </a:xfrm>
          <a:prstGeom prst="roundRect">
            <a:avLst>
              <a:gd name="adj" fmla="val 8000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016752"/>
            <a:ext cx="1090879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Это не «AI плохой» — это статистическая норма отрасли. 14% successful vs 86% stuck — инженерный фильтр, а не приговор.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4552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21295C"/>
                </a:solidFill>
                <a:latin typeface="Arial"/>
              </a:rPr>
              <a:t>«Усталость от ложных тревог устранена» — это маркетинг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1C7293"/>
                </a:solidFill>
                <a:latin typeface="Arial"/>
              </a:rPr>
              <a:t>Aspen Mtell на нефтепереработке: 100–500 алертов в день; plant-wide пилоты тихо закрываются.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5029200" cy="41148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09-aspe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913221"/>
            <a:ext cx="4663440" cy="121443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53492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7685"/>
                </a:solidFill>
                <a:latin typeface="Arial"/>
              </a:rPr>
              <a:t>AspenTech · Aspen Mtell product page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0" y="1554480"/>
            <a:ext cx="6062472" cy="41148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0" y="1645920"/>
            <a:ext cx="5760720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065A82"/>
                </a:solidFill>
                <a:latin typeface="Arial"/>
              </a:rPr>
              <a:t>Маркетинг (AspenTech):</a:t>
            </a:r>
          </a:p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21295C"/>
                </a:solidFill>
                <a:latin typeface="Arial"/>
              </a:rPr>
              <a:t>«Снижение незапланированного простоя на 60%»</a:t>
            </a:r>
          </a:p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21295C"/>
                </a:solidFill>
                <a:latin typeface="Arial"/>
              </a:rPr>
              <a:t>«Усталость операторов устранена»</a:t>
            </a:r>
          </a:p>
          <a:p>
            <a:pPr algn="l">
              <a:lnSpc>
                <a:spcPct val="130000"/>
              </a:lnSpc>
            </a:pPr>
            <a:r>
              <a:rPr sz="400" b="0" i="0">
                <a:solidFill>
                  <a:srgbClr val="21295C"/>
                </a:solidFill>
                <a:latin typeface="Arial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C0392B"/>
                </a:solidFill>
                <a:latin typeface="Arial"/>
              </a:rPr>
              <a:t>Реальность на НПЗ: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· 100–500 alerts/день — оператор перестаёт реагировать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· Single-column success → plant-wide пилот тихо закрыт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· Honeywell UOP 310+ юнитов / ~700 НПЗ = ~44% rate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· Многие НПЗ — «классический APC без AI»</a:t>
            </a:r>
          </a:p>
          <a:p>
            <a:pPr algn="l">
              <a:lnSpc>
                <a:spcPct val="130000"/>
              </a:lnSpc>
            </a:pPr>
            <a:r>
              <a:rPr sz="400" b="0" i="0">
                <a:solidFill>
                  <a:srgbClr val="21295C"/>
                </a:solidFill>
                <a:latin typeface="Arial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F0AB00"/>
                </a:solidFill>
                <a:latin typeface="Arial"/>
              </a:rPr>
              <a:t>Структурный gap: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Multi-physics (масс + энергия + реакция + коррозия) ломает ML-суррогаты на edge cases.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806440"/>
            <a:ext cx="11274552" cy="502920"/>
          </a:xfrm>
          <a:prstGeom prst="roundRect">
            <a:avLst>
              <a:gd name="adj" fmla="val 8000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5879592"/>
            <a:ext cx="1090879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Урок: vendor self-report ≠ field reality. Custody transfer, SIS, plant-wide refinery — AI ещё не дошёл.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21295C"/>
                </a:solidFill>
                <a:latin typeface="Arial"/>
              </a:rPr>
              <a:t>Ambyint InfinityRL: +15% на 200 скважинах Permian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1C7293"/>
                </a:solidFill>
                <a:latin typeface="Arial"/>
              </a:rPr>
              <a:t>Канадский стартап Калгари (2014), $25M Series B 2022. RL для оптимизации искусственного подъёма.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5486400" cy="41148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08-ambyint-del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96440"/>
            <a:ext cx="5120640" cy="341375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126480" y="1645920"/>
            <a:ext cx="5605272" cy="41148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1783080"/>
            <a:ext cx="5330952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065A82"/>
                </a:solidFill>
                <a:latin typeface="Arial"/>
              </a:rPr>
              <a:t>Метрики кейса: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· Регионы: Permian + Eagle Ford + Bakken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· Тип: штанговые насосы + ЭЦН (mature production)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· Baseline: 100–500 bopd per well</a:t>
            </a:r>
          </a:p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· Delta: +15% от per-well historical mean</a:t>
            </a:r>
          </a:p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F0AB00"/>
                </a:solidFill>
                <a:latin typeface="Arial"/>
              </a:rPr>
              <a:t>· На 200 скважинах: +3 000–15 000 bopd total</a:t>
            </a:r>
          </a:p>
          <a:p>
            <a:pPr algn="l">
              <a:lnSpc>
                <a:spcPct val="130000"/>
              </a:lnSpc>
            </a:pPr>
            <a:r>
              <a:rPr sz="600" b="0" i="0">
                <a:solidFill>
                  <a:srgbClr val="21295C"/>
                </a:solidFill>
                <a:latin typeface="Arial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065A82"/>
                </a:solidFill>
                <a:latin typeface="Arial"/>
              </a:rPr>
              <a:t>Почему это сильный кейс: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1. Verifiable baseline — не «спас $10M» без знаменателя.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2. RL поверх классики — augmentation, не замена.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3. Узкая область — оптимизация подъёма, не «AI везде».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943600"/>
            <a:ext cx="11274552" cy="502920"/>
          </a:xfrm>
          <a:prstGeom prst="roundRect">
            <a:avLst>
              <a:gd name="adj" fmla="val 8000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016752"/>
            <a:ext cx="1090879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Когда Ambyint НЕ работает: stripper wells &lt;10 bopd. +15% = +1,5 bopd; стоимость развёртывания &gt; извлечённой ценности.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21295C"/>
                </a:solidFill>
                <a:latin typeface="Arial"/>
              </a:rPr>
              <a:t>Ландшафт поставщиков Q1 — 3 группы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1C7293"/>
                </a:solidFill>
                <a:latin typeface="Arial"/>
              </a:rPr>
              <a:t>Тот же режим (прогностическое обслуживание) реализуют 10+ вендоров. Mode ≠ brand.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3657600" cy="393192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3657600" cy="86868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34747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Arial"/>
              </a:rPr>
              <a:t>ML-стартапы
для производства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329184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· Ambyint (Калгари) — InfinityRL для
искусственного подъёма</a:t>
            </a:r>
          </a:p>
          <a:p>
            <a:pPr algn="l">
              <a:lnSpc>
                <a:spcPct val="130000"/>
              </a:lnSpc>
            </a:pPr>
            <a:r>
              <a:rPr sz="400" b="0" i="0">
                <a:solidFill>
                  <a:srgbClr val="21295C"/>
                </a:solidFill>
                <a:latin typeface="Arial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· OspreyData (→ Mesquite 2022) —
expert-augmented ML для ESP, газлифта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1463040"/>
            <a:ext cx="3657600" cy="393192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51960" y="1463040"/>
            <a:ext cx="3657600" cy="86868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1554480"/>
            <a:ext cx="34747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Arial"/>
              </a:rPr>
              <a:t>Enterprise
(NOC + super-majors)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468880"/>
            <a:ext cx="329184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· SLB Avocet — ПО управления
добычей с ML с 2020+</a:t>
            </a:r>
          </a:p>
          <a:p>
            <a:pPr algn="l">
              <a:lnSpc>
                <a:spcPct val="130000"/>
              </a:lnSpc>
            </a:pPr>
            <a:r>
              <a:rPr sz="400" b="0" i="0">
                <a:solidFill>
                  <a:srgbClr val="21295C"/>
                </a:solidFill>
                <a:latin typeface="Arial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· Halliburton DecisionSpace
Production — аналог. Industrial scale.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463040"/>
            <a:ext cx="3657600" cy="393192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463040"/>
            <a:ext cx="3657600" cy="86868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1554480"/>
            <a:ext cx="34747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Arial"/>
              </a:rPr>
              <a:t>Refinery + pipeline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468880"/>
            <a:ext cx="329184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· AspenTech Aspen Mtell (Emerson)
— rising через cross-продажи</a:t>
            </a:r>
          </a:p>
          <a:p>
            <a:pPr algn="l">
              <a:lnSpc>
                <a:spcPct val="130000"/>
              </a:lnSpc>
            </a:pPr>
            <a:r>
              <a:rPr sz="400" b="0" i="0">
                <a:solidFill>
                  <a:srgbClr val="21295C"/>
                </a:solidFill>
                <a:latin typeface="Arial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· Honeywell UOP Connect — 310+
юнитов / ~700 НПЗ = ~44%</a:t>
            </a:r>
          </a:p>
          <a:p>
            <a:pPr algn="l">
              <a:lnSpc>
                <a:spcPct val="130000"/>
              </a:lnSpc>
            </a:pPr>
            <a:r>
              <a:rPr sz="400" b="0" i="0">
                <a:solidFill>
                  <a:srgbClr val="21295C"/>
                </a:solidFill>
                <a:latin typeface="Arial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· Yokogawa / ABB Genix / Emerson —
конкуренты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532120"/>
            <a:ext cx="11274552" cy="777240"/>
          </a:xfrm>
          <a:prstGeom prst="roundRect">
            <a:avLst>
              <a:gd name="adj" fmla="val 8000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5605272"/>
            <a:ext cx="1090879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Bonus — Drilling subset: Nabors PACE-X (4-мильный ствол Bakken) · NOV NOVOS · Precision Drilling AlphaAutomation. Mode = автоматизация бурения; brand вторичен.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21295C"/>
                </a:solidFill>
                <a:latin typeface="Arial"/>
              </a:rPr>
              <a:t>Роснефть Digital Field на Башнефть Илишевское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1C7293"/>
                </a:solidFill>
                <a:latin typeface="Arial"/>
              </a:rPr>
              <a:t>Внутренняя разработка после ухода Roxar / Schlumberger в 2022. Vertical integration default.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5486400" cy="41148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521208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65A82"/>
                </a:solidFill>
                <a:latin typeface="Arial"/>
              </a:rPr>
              <a:t>Метрики Илишевского, 2024:</a:t>
            </a:r>
          </a:p>
          <a:p>
            <a:pPr algn="l">
              <a:lnSpc>
                <a:spcPct val="120000"/>
              </a:lnSpc>
            </a:pPr>
            <a:r>
              <a:rPr sz="600" b="0" i="0">
                <a:solidFill>
                  <a:srgbClr val="21295C"/>
                </a:solidFill>
                <a:latin typeface="Arial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3600" b="1" i="0">
                <a:solidFill>
                  <a:srgbClr val="F0AB00"/>
                </a:solidFill>
                <a:latin typeface="Arial"/>
              </a:rPr>
              <a:t>+1 Mt/год</a:t>
            </a:r>
          </a:p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6B7685"/>
                </a:solidFill>
                <a:latin typeface="Arial"/>
              </a:rPr>
              <a:t>дополнительной нефти (= +5,9% от ~17 Mt/год)</a:t>
            </a:r>
          </a:p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21295C"/>
                </a:solidFill>
                <a:latin typeface="Arial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21295C"/>
                </a:solidFill>
                <a:latin typeface="Arial"/>
              </a:rPr>
              <a:t>~1 млрд ₽/год</a:t>
            </a:r>
          </a:p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6B7685"/>
                </a:solidFill>
                <a:latin typeface="Arial"/>
              </a:rPr>
              <a:t>дополнительного эффекта</a:t>
            </a:r>
          </a:p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21295C"/>
                </a:solidFill>
                <a:latin typeface="Arial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1295C"/>
                </a:solidFill>
                <a:latin typeface="Arial"/>
              </a:rPr>
              <a:t>23 продукта (10 коммерциализованных)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+60% удалённого управления · +5% энергоэфф. · −5% логистики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5605272" cy="41148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1783080"/>
            <a:ext cx="5330952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065A82"/>
                </a:solidFill>
                <a:latin typeface="Arial"/>
              </a:rPr>
              <a:t>Контекст: санкции → insourcing</a:t>
            </a:r>
          </a:p>
          <a:p>
            <a:pPr algn="l">
              <a:lnSpc>
                <a:spcPct val="130000"/>
              </a:lnSpc>
            </a:pPr>
            <a:r>
              <a:rPr sz="600" b="0" i="0">
                <a:solidFill>
                  <a:srgbClr val="21295C"/>
                </a:solidFill>
                <a:latin typeface="Arial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· После марта 2022 — Roxar (Schlumberger), AspenTech, Honeywell ушли с РФ.</a:t>
            </a:r>
          </a:p>
          <a:p>
            <a:pPr algn="l">
              <a:lnSpc>
                <a:spcPct val="130000"/>
              </a:lnSpc>
            </a:pPr>
            <a:r>
              <a:rPr sz="400" b="0" i="0">
                <a:solidFill>
                  <a:srgbClr val="21295C"/>
                </a:solidFill>
                <a:latin typeface="Arial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· Vertical integration — необходимость, не выбор.</a:t>
            </a:r>
          </a:p>
          <a:p>
            <a:pPr algn="l">
              <a:lnSpc>
                <a:spcPct val="130000"/>
              </a:lnSpc>
            </a:pPr>
            <a:r>
              <a:rPr sz="400" b="0" i="0">
                <a:solidFill>
                  <a:srgbClr val="21295C"/>
                </a:solidFill>
                <a:latin typeface="Arial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· Ближе к китайской модели (Sinopec, CNOOC), чем к американской vendor-based.</a:t>
            </a:r>
          </a:p>
          <a:p>
            <a:pPr algn="l">
              <a:lnSpc>
                <a:spcPct val="130000"/>
              </a:lnSpc>
            </a:pPr>
            <a:r>
              <a:rPr sz="600" b="0" i="0">
                <a:solidFill>
                  <a:srgbClr val="21295C"/>
                </a:solidFill>
                <a:latin typeface="Arial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F0AB00"/>
                </a:solidFill>
                <a:latin typeface="Arial"/>
              </a:rPr>
              <a:t>Caveat:</a:t>
            </a:r>
          </a:p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21295C"/>
                </a:solidFill>
                <a:latin typeface="Arial"/>
              </a:rPr>
              <a:t>Российские KPI = self-reported в press release; independent audit ограничен санкциями. Тот же уровень осторожности, что для Aramco $1,8B.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943600"/>
            <a:ext cx="11274552" cy="502920"/>
          </a:xfrm>
          <a:prstGeom prst="roundRect">
            <a:avLst>
              <a:gd name="adj" fmla="val 8000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016752"/>
            <a:ext cx="1090879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Башнефть Илишевское — типичное зрелое месторождение Q1: эксплуатируется с 1980-х, ~17 Mt/год исходный уровень. Пилотировать AI на known asset, не на frontier.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21295C"/>
                </a:solidFill>
                <a:latin typeface="Arial"/>
              </a:rPr>
              <a:t>Cognite + C3.ai: чистые AI-вендоры теряют долю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1C7293"/>
                </a:solidFill>
                <a:latin typeface="Arial"/>
              </a:rPr>
              <a:t>Foundation models едят vertical AI specialists. Адресуемый рынок уже, чем ожидалось.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5486400" cy="41148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5486400" cy="64008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45920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Arial"/>
              </a:rPr>
              <a:t>Cognite (Норвегия, выделён из Aker BP 2017)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23160"/>
            <a:ext cx="512064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· 2018: оценка ~$300M</a:t>
            </a:r>
          </a:p>
          <a:p>
            <a:pPr algn="l">
              <a:lnSpc>
                <a:spcPct val="125000"/>
              </a:lnSpc>
            </a:pPr>
            <a:r>
              <a:rPr sz="400" b="0" i="0">
                <a:solidFill>
                  <a:srgbClr val="21295C"/>
                </a:solidFill>
                <a:latin typeface="Arial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· 2021–2022: план IPO $2–3B в 2023</a:t>
            </a:r>
          </a:p>
          <a:p>
            <a:pPr algn="l">
              <a:lnSpc>
                <a:spcPct val="125000"/>
              </a:lnSpc>
            </a:pPr>
            <a:r>
              <a:rPr sz="400" b="0" i="0">
                <a:solidFill>
                  <a:srgbClr val="21295C"/>
                </a:solidFill>
                <a:latin typeface="Arial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· 2023: IPO отменён — рыночные условия + сжигание капитала</a:t>
            </a:r>
          </a:p>
          <a:p>
            <a:pPr algn="l">
              <a:lnSpc>
                <a:spcPct val="125000"/>
              </a:lnSpc>
            </a:pPr>
            <a:r>
              <a:rPr sz="400" b="0" i="0">
                <a:solidFill>
                  <a:srgbClr val="21295C"/>
                </a:solidFill>
                <a:latin typeface="Arial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· 2024: ARR $94M (+40% YoY), 871 сотрудник после реструктуризации</a:t>
            </a:r>
          </a:p>
          <a:p>
            <a:pPr algn="l">
              <a:lnSpc>
                <a:spcPct val="125000"/>
              </a:lnSpc>
            </a:pPr>
            <a:r>
              <a:rPr sz="400" b="0" i="0">
                <a:solidFill>
                  <a:srgbClr val="21295C"/>
                </a:solidFill>
                <a:latin typeface="Arial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· 2026: «время IPO неопределённо» (Aker ASA отчёт)</a:t>
            </a:r>
          </a:p>
          <a:p>
            <a:pPr algn="l">
              <a:lnSpc>
                <a:spcPct val="125000"/>
              </a:lnSpc>
            </a:pPr>
            <a:r>
              <a:rPr sz="400" b="0" i="0">
                <a:solidFill>
                  <a:srgbClr val="21295C"/>
                </a:solidFill>
                <a:latin typeface="Arial"/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1645920"/>
            <a:ext cx="5486400" cy="41148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45352" y="1645920"/>
            <a:ext cx="5486400" cy="64008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1645920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Arial"/>
              </a:rPr>
              <a:t>C3.ai (US, основан 2009 Tom Siebel)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28232" y="2423160"/>
            <a:ext cx="512064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· BHC3 JV с Baker Hughes (2019) — реструктурирован к 2023</a:t>
            </a:r>
          </a:p>
          <a:p>
            <a:pPr algn="l">
              <a:lnSpc>
                <a:spcPct val="125000"/>
              </a:lnSpc>
            </a:pPr>
            <a:r>
              <a:rPr sz="400" b="0" i="0">
                <a:solidFill>
                  <a:srgbClr val="21295C"/>
                </a:solidFill>
                <a:latin typeface="Arial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· FY24 O&amp;G вертикаль = 5,9% выручки = ~$18M из $310M</a:t>
            </a:r>
          </a:p>
          <a:p>
            <a:pPr algn="l">
              <a:lnSpc>
                <a:spcPct val="125000"/>
              </a:lnSpc>
            </a:pPr>
            <a:r>
              <a:rPr sz="400" b="0" i="0">
                <a:solidFill>
                  <a:srgbClr val="21295C"/>
                </a:solidFill>
                <a:latin typeface="Arial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· FY25: «не-нефтегазовая выручка +48% YoY» → нефтегаз уменьшается</a:t>
            </a:r>
          </a:p>
          <a:p>
            <a:pPr algn="l">
              <a:lnSpc>
                <a:spcPct val="125000"/>
              </a:lnSpc>
            </a:pPr>
            <a:r>
              <a:rPr sz="400" b="0" i="0">
                <a:solidFill>
                  <a:srgbClr val="21295C"/>
                </a:solidFill>
                <a:latin typeface="Arial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· C3.ai сместил фокус на federal/defence</a:t>
            </a:r>
          </a:p>
          <a:p>
            <a:pPr algn="l">
              <a:lnSpc>
                <a:spcPct val="125000"/>
              </a:lnSpc>
            </a:pPr>
            <a:r>
              <a:rPr sz="400" b="0" i="0">
                <a:solidFill>
                  <a:srgbClr val="21295C"/>
                </a:solidFill>
                <a:latin typeface="Arial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· IPO 2020: $42 → пик ~$15B → 2026: ~$3–4B (−70–80% от пика)</a:t>
            </a:r>
          </a:p>
          <a:p>
            <a:pPr algn="l">
              <a:lnSpc>
                <a:spcPct val="125000"/>
              </a:lnSpc>
            </a:pPr>
            <a:r>
              <a:rPr sz="400" b="0" i="0">
                <a:solidFill>
                  <a:srgbClr val="21295C"/>
                </a:solidFill>
                <a:latin typeface="Arial"/>
              </a:rPr>
              <a:t/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943600"/>
            <a:ext cx="11274552" cy="502920"/>
          </a:xfrm>
          <a:prstGeom prst="roundRect">
            <a:avLst>
              <a:gd name="adj" fmla="val 8000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6016752"/>
            <a:ext cx="1090879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Foundation models (SLB Lumi, METABRAIN) поедают узкоспециализированных: (a) большая модель + LoRA &gt; специализированная; (b) крупные NOC разрабатывают свои foundation models.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21295C"/>
                </a:solidFill>
                <a:latin typeface="Arial"/>
              </a:rPr>
              <a:t>Когда AI НЕ нужен в Q1 — 6 структурных критериев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1C7293"/>
                </a:solidFill>
                <a:latin typeface="Arial"/>
              </a:rPr>
              <a:t>Distilled из практики последних 5 лет. Каждый — с конкретной альтернативой.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3657600" cy="210312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254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94360" y="1600200"/>
            <a:ext cx="548640" cy="54864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4592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1295C"/>
                </a:solidFill>
                <a:latin typeface="Arial"/>
              </a:rPr>
              <a:t>Зрелый пласт + Eclipse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40280"/>
            <a:ext cx="3291840" cy="1188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21295C"/>
                </a:solidFill>
                <a:latin typeface="Arial"/>
              </a:rPr>
              <a:t>Senior engineer + классический симулятор дают надёжные ответы. ML — overhead без существенного прироста.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463040"/>
            <a:ext cx="3657600" cy="210312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2540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389120" y="1600200"/>
            <a:ext cx="548640" cy="548640"/>
          </a:xfrm>
          <a:prstGeom prst="ellipse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6002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164592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1295C"/>
                </a:solidFill>
                <a:latin typeface="Arial"/>
              </a:rPr>
              <a:t>Stripper wells &lt;10 bopd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240280"/>
            <a:ext cx="3291840" cy="1188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21295C"/>
                </a:solidFill>
                <a:latin typeface="Arial"/>
              </a:rPr>
              <a:t>Прибавка +15% = +1,5 bopd; стоимость развёртывания &gt; извлечённой ценности. Юнит-экономика отрицательная.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463040"/>
            <a:ext cx="3657600" cy="210312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2540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183880" y="1600200"/>
            <a:ext cx="548640" cy="54864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80" y="16002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4592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1295C"/>
                </a:solidFill>
                <a:latin typeface="Arial"/>
              </a:rPr>
              <a:t>Custody transfer metering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240280"/>
            <a:ext cx="3291840" cy="1188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21295C"/>
                </a:solidFill>
                <a:latin typeface="Arial"/>
              </a:rPr>
              <a:t>Передача товарной нефти. Регулятор требует mass flow meter 0,2% точности. Не black-box ML.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703320"/>
            <a:ext cx="3657600" cy="210312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254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94360" y="3840480"/>
            <a:ext cx="548640" cy="54864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384048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388620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1295C"/>
                </a:solidFill>
                <a:latin typeface="Arial"/>
              </a:rPr>
              <a:t>BOP / PRV / ESD — SIS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480559"/>
            <a:ext cx="3291840" cy="1188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21295C"/>
                </a:solidFill>
                <a:latin typeface="Arial"/>
              </a:rPr>
              <a:t>SIL3/SIL4 по IEC 61511 = детерминированно + сертифицируемо. ML не сертифицируется.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51960" y="3703320"/>
            <a:ext cx="3657600" cy="210312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25400">
            <a:solidFill>
              <a:srgbClr val="212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389120" y="3840480"/>
            <a:ext cx="548640" cy="548640"/>
          </a:xfrm>
          <a:prstGeom prst="ellipse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0" y="384048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388620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1295C"/>
                </a:solidFill>
                <a:latin typeface="Arial"/>
              </a:rPr>
              <a:t>Frontier без analog data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4480559"/>
            <a:ext cx="3291840" cy="1188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21295C"/>
                </a:solidFill>
                <a:latin typeface="Arial"/>
              </a:rPr>
              <a:t>ML не на чем обучать. Senior геофизик + классическая интерпретация (preview Разд. 2).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20" y="3703320"/>
            <a:ext cx="3657600" cy="210312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254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183880" y="3840480"/>
            <a:ext cx="548640" cy="54864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83880" y="384048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23960" y="388620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1295C"/>
                </a:solidFill>
                <a:latin typeface="Arial"/>
              </a:rPr>
              <a:t>EU Methane Reg reporting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4480559"/>
            <a:ext cx="3291840" cy="1188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21295C"/>
                </a:solidFill>
                <a:latin typeface="Arial"/>
              </a:rPr>
              <a:t>Traceability mandated — не black-box ML estimate. Регуляторный compliance.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6080760"/>
            <a:ext cx="11274552" cy="411480"/>
          </a:xfrm>
          <a:prstGeom prst="roundRect">
            <a:avLst>
              <a:gd name="adj" fmla="val 8000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6153912"/>
            <a:ext cx="1090879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Главный навык курса: уметь сказать «нет» там, где AI не нужен. 14% successful vs 86% pilot stuck — разница часто именно здесь.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1564930" cy="292608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"/>
            <a:ext cx="156493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6B7685"/>
                </a:solidFill>
                <a:latin typeface="Arial"/>
              </a:rPr>
              <a:t>1. Keystone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2067850" y="182880"/>
            <a:ext cx="1564930" cy="292608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67850" y="219456"/>
            <a:ext cx="156493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6B7685"/>
                </a:solidFill>
                <a:latin typeface="Arial"/>
              </a:rPr>
              <a:t>2. Q1 Mature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78500" y="182880"/>
            <a:ext cx="1564930" cy="292608"/>
          </a:xfrm>
          <a:prstGeom prst="rect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78500" y="219456"/>
            <a:ext cx="156493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21295C"/>
                </a:solidFill>
                <a:latin typeface="Arial"/>
              </a:rPr>
              <a:t>3. Q3 Frontier</a:t>
            </a:r>
          </a:p>
        </p:txBody>
      </p:sp>
      <p:sp>
        <p:nvSpPr>
          <p:cNvPr id="8" name="Rectangle 7"/>
          <p:cNvSpPr/>
          <p:nvPr/>
        </p:nvSpPr>
        <p:spPr>
          <a:xfrm>
            <a:off x="5289150" y="182880"/>
            <a:ext cx="1564930" cy="292608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89150" y="219456"/>
            <a:ext cx="156493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6B7685"/>
                </a:solidFill>
                <a:latin typeface="Arial"/>
              </a:rPr>
              <a:t>4. Q2 Methane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99801" y="182880"/>
            <a:ext cx="1564930" cy="292608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99801" y="219456"/>
            <a:ext cx="156493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6B7685"/>
                </a:solidFill>
                <a:latin typeface="Arial"/>
              </a:rPr>
              <a:t>5. Q4 Transition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10451" y="182880"/>
            <a:ext cx="1564930" cy="292608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10451" y="219456"/>
            <a:ext cx="156493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6B7685"/>
                </a:solidFill>
                <a:latin typeface="Arial"/>
              </a:rPr>
              <a:t>6. Россия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121101" y="182880"/>
            <a:ext cx="1564930" cy="292608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21101" y="219456"/>
            <a:ext cx="156493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6B7685"/>
                </a:solidFill>
                <a:latin typeface="Arial"/>
              </a:rPr>
              <a:t>7. Сквозные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914400"/>
            <a:ext cx="5029200" cy="3291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0" b="1" i="0">
                <a:solidFill>
                  <a:srgbClr val="1C7293"/>
                </a:solidFill>
                <a:latin typeface="Arial"/>
              </a:rPr>
              <a:t>Q3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34840"/>
            <a:ext cx="5029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21295C"/>
                </a:solidFill>
                <a:latin typeface="Arial"/>
              </a:rPr>
              <a:t>Разведка фронтиров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1371600"/>
            <a:ext cx="603504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21295C"/>
                </a:solidFill>
                <a:latin typeface="Arial"/>
              </a:rPr>
              <a:t>Каждая wildcat-скважина = $50–100M. Размер выборки 1–5 скважин. ML не обобщается без аналогов. Physics ground truth, AI как дополнение.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486400"/>
            <a:ext cx="11274552" cy="777240"/>
          </a:xfrm>
          <a:prstGeom prst="roundRect">
            <a:avLst>
              <a:gd name="adj" fmla="val 8000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559552"/>
            <a:ext cx="1090879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3 рабочих кейса · 2 провала десятилетия · HPC-гонка $100–400M на инсталляцию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21295C"/>
                </a:solidFill>
                <a:latin typeface="Arial"/>
              </a:rPr>
              <a:t>HPC-гонка Q3: $100–400M на инсталляцию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1C7293"/>
                </a:solidFill>
                <a:latin typeface="Arial"/>
              </a:rPr>
              <a:t>Не коммодизируется как облако — стратегический CapEx. Малые операторы вытесняются capital barrier.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91640"/>
            <a:ext cx="5486400" cy="41148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691640"/>
            <a:ext cx="5486400" cy="50292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91640"/>
            <a:ext cx="5212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Arial"/>
              </a:rPr>
              <a:t>Eni HPC6 (декабрь 2024)</a:t>
            </a:r>
          </a:p>
        </p:txBody>
      </p:sp>
      <p:pic>
        <p:nvPicPr>
          <p:cNvPr id="7" name="Picture 6" descr="s14-en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8640" y="2286000"/>
            <a:ext cx="2763520" cy="1554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3931920"/>
            <a:ext cx="5212080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21295C"/>
                </a:solidFill>
                <a:latin typeface="Arial"/>
              </a:rPr>
              <a:t>606 PFLOPS peak · 477 sustained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14 000 AMD MI250X GPU</a:t>
            </a:r>
          </a:p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F0AB00"/>
                </a:solidFill>
                <a:latin typeface="Arial"/>
              </a:rPr>
              <a:t>$104 млн capex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Top500 #5 мирового рейтинга</a:t>
            </a:r>
          </a:p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6B7685"/>
                </a:solidFill>
                <a:latin typeface="Arial"/>
              </a:rPr>
              <a:t>Стратегия: cost-effective per-FLOP (AMD vs NVIDIA)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691640"/>
            <a:ext cx="5605272" cy="41148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0" y="1691640"/>
            <a:ext cx="5605272" cy="50292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691640"/>
            <a:ext cx="533095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Arial"/>
              </a:rPr>
              <a:t>Aramco METABRAIN (2024–2025)</a:t>
            </a:r>
          </a:p>
        </p:txBody>
      </p:sp>
      <p:pic>
        <p:nvPicPr>
          <p:cNvPr id="12" name="Picture 11" descr="s14-aramco-ro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3256" y="2286000"/>
            <a:ext cx="2331720" cy="15544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63640" y="3931920"/>
            <a:ext cx="5330952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21295C"/>
                </a:solidFill>
                <a:latin typeface="Arial"/>
              </a:rPr>
              <a:t>~250 млрд параметров [VFY-day-of]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7 трлн токенов = 90 лет данных Aramco</a:t>
            </a:r>
          </a:p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F0AB00"/>
                </a:solidFill>
                <a:latin typeface="Arial"/>
              </a:rPr>
              <a:t>$1,8 млрд realized 2024 (Davos янв 2025)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6 000 сотрудников обучены, 430 use cases</a:t>
            </a:r>
          </a:p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6B7685"/>
                </a:solidFill>
                <a:latin typeface="Arial"/>
              </a:rPr>
              <a:t>Источник: CEO Amin Nasser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943600"/>
            <a:ext cx="11274552" cy="502920"/>
          </a:xfrm>
          <a:prstGeom prst="roundRect">
            <a:avLst>
              <a:gd name="adj" fmla="val 8000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6016752"/>
            <a:ext cx="1090879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Aramco выручка 2024 = $436,6 млрд → $1,8B / $436,6B = 0,41%. AI добавляет полпроцента к полностью оптимизированной операции.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>
                <a:solidFill>
                  <a:srgbClr val="21295C"/>
                </a:solidFill>
                <a:latin typeface="Arial"/>
              </a:rPr>
              <a:t>SLB Lumi (сентябрь 2024) — foundation model поверх Petrel + Delfi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1C7293"/>
                </a:solidFill>
                <a:latin typeface="Arial"/>
              </a:rPr>
              <a:t>Anchor customers: Aker BP, Shell, Azule Energy. NVIDIA Grace Hopper backend.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91640"/>
            <a:ext cx="5029200" cy="402336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15-slb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843" y="1828800"/>
            <a:ext cx="4599913" cy="3703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553212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7685"/>
                </a:solidFill>
                <a:latin typeface="Arial"/>
              </a:rPr>
              <a:t>SLB / Schlumberger press kit · 2024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0" y="1691640"/>
            <a:ext cx="6062472" cy="402336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0" y="1783080"/>
            <a:ext cx="5760720" cy="3886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065A82"/>
                </a:solidFill>
                <a:latin typeface="Arial"/>
              </a:rPr>
              <a:t>Что Lumi делает: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· Petrophysics interpretation — каротаж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· Seismic auto-tracking — трассировка горизонтов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· Reservoir characterization preview — фации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· Drilling parameter optimization</a:t>
            </a:r>
          </a:p>
          <a:p>
            <a:pPr algn="l">
              <a:lnSpc>
                <a:spcPct val="130000"/>
              </a:lnSpc>
            </a:pPr>
            <a:r>
              <a:rPr sz="600" b="0" i="0">
                <a:solidFill>
                  <a:srgbClr val="21295C"/>
                </a:solidFill>
                <a:latin typeface="Arial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065A82"/>
                </a:solidFill>
                <a:latin typeface="Arial"/>
              </a:rPr>
              <a:t>Контекст: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· SLB digital revenue 2024 = $2+ млрд = 5,7% от $35 млрд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· Halliburton + OpenAI/Anthropic — partnership-driven</a:t>
            </a:r>
          </a:p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F0AB00"/>
                </a:solidFill>
                <a:latin typeface="Arial"/>
              </a:rPr>
              <a:t>· Mode «отраслевая foundation model» ≠ brand «Lumi»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943600"/>
            <a:ext cx="11274552" cy="502920"/>
          </a:xfrm>
          <a:prstGeom prst="roundRect">
            <a:avLst>
              <a:gd name="adj" fmla="val 8000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016752"/>
            <a:ext cx="1090879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Через 2-3 года: SLB Lumi 2.0 или конкурент. Brand вторичен, mode (foundation model на 80+ лет industry data) первичен.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21295C"/>
                </a:solidFill>
                <a:latin typeface="Arial"/>
              </a:rPr>
              <a:t>ExxonMobil Discovery 6 — 4D-сейсмика месяцы → недели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1C7293"/>
                </a:solidFill>
                <a:latin typeface="Arial"/>
              </a:rPr>
              <a:t>HPE Cray EX4000, 4 032 NVIDIA Grace Hopper, 4× compute vs Discovery 5. $200–400M capex [VFY].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91640"/>
            <a:ext cx="5029200" cy="402336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16-exx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343150"/>
            <a:ext cx="4754880" cy="26746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553212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7685"/>
                </a:solidFill>
                <a:latin typeface="Arial"/>
              </a:rPr>
              <a:t>ExxonMobil corporate press · 2024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0" y="1691640"/>
            <a:ext cx="6062472" cy="402336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0" y="1783080"/>
            <a:ext cx="5760720" cy="3886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65A82"/>
                </a:solidFill>
                <a:latin typeface="Arial"/>
              </a:rPr>
              <a:t>Что делает Discovery 6:</a:t>
            </a:r>
          </a:p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· 4D-сейсмика (3D + время) — месяцы → недели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· Активное управление пластом в реальном времени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· Stabroek Block Guyana — основной use case</a:t>
            </a:r>
          </a:p>
          <a:p>
            <a:pPr algn="l">
              <a:lnSpc>
                <a:spcPct val="125000"/>
              </a:lnSpc>
            </a:pPr>
            <a:r>
              <a:rPr sz="600" b="0" i="0">
                <a:solidFill>
                  <a:srgbClr val="21295C"/>
                </a:solidFill>
                <a:latin typeface="Arial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65A82"/>
                </a:solidFill>
                <a:latin typeface="Arial"/>
              </a:rPr>
              <a:t>Stabroek case: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· 6 FPSO (плавучие платформы) к 2026</a:t>
            </a:r>
          </a:p>
          <a:p>
            <a:pPr algn="l">
              <a:lnSpc>
                <a:spcPct val="125000"/>
              </a:lnSpc>
            </a:pPr>
            <a:r>
              <a:rPr sz="2800" b="1" i="0">
                <a:solidFill>
                  <a:srgbClr val="F0AB00"/>
                </a:solidFill>
                <a:latin typeface="Arial"/>
              </a:rPr>
              <a:t>$1 млрд+</a:t>
            </a:r>
          </a:p>
          <a:p>
            <a:pPr algn="l">
              <a:lnSpc>
                <a:spcPct val="125000"/>
              </a:lnSpc>
            </a:pPr>
            <a:r>
              <a:rPr sz="1100" b="0" i="1">
                <a:solidFill>
                  <a:srgbClr val="6B7685"/>
                </a:solidFill>
                <a:latin typeface="Arial"/>
              </a:rPr>
              <a:t>unlock через быстрое repositioning скважин</a:t>
            </a:r>
          </a:p>
          <a:p>
            <a:pPr algn="l">
              <a:lnSpc>
                <a:spcPct val="125000"/>
              </a:lnSpc>
            </a:pPr>
            <a:r>
              <a:rPr sz="600" b="0" i="0">
                <a:solidFill>
                  <a:srgbClr val="21295C"/>
                </a:solidFill>
                <a:latin typeface="Arial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100" b="0" i="1">
                <a:solidFill>
                  <a:srgbClr val="21295C"/>
                </a:solidFill>
                <a:latin typeface="Arial"/>
              </a:rPr>
              <a:t>Параллель Aramco METABRAIN: тот же mode, разные стратегии (US vs Saudi).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943600"/>
            <a:ext cx="11274552" cy="502920"/>
          </a:xfrm>
          <a:prstGeom prst="roundRect">
            <a:avLst>
              <a:gd name="adj" fmla="val 8000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016752"/>
            <a:ext cx="1090879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Capital barrier: $200–400M для топового HPC исключает 95% операторов. NOC + super-majors only.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21295C"/>
                </a:solidFill>
                <a:latin typeface="Arial"/>
              </a:rPr>
              <a:t>BP + Beyond Limits — $20M, vendor pivot 2023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1C7293"/>
                </a:solidFill>
                <a:latin typeface="Arial"/>
              </a:rPr>
              <a:t>BP Ventures Series B июнь 2017 → Beyond Limits pivot в healthcare/manufacturing 2023.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91640"/>
            <a:ext cx="5486400" cy="41148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691640"/>
            <a:ext cx="5486400" cy="50292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91640"/>
            <a:ext cx="5212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Arial"/>
              </a:rPr>
              <a:t>Что обещали (2018):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5120640" cy="3383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21295C"/>
                </a:solidFill>
                <a:latin typeface="Arial"/>
              </a:rPr>
              <a:t>«AI absorb learnings of geologists</a:t>
            </a:r>
          </a:p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21295C"/>
                </a:solidFill>
                <a:latin typeface="Arial"/>
              </a:rPr>
              <a:t>and imitate their decision-making».</a:t>
            </a:r>
          </a:p>
          <a:p>
            <a:pPr algn="l">
              <a:lnSpc>
                <a:spcPct val="130000"/>
              </a:lnSpc>
            </a:pPr>
            <a:r>
              <a:rPr sz="600" b="0" i="0">
                <a:solidFill>
                  <a:srgbClr val="21295C"/>
                </a:solidFill>
                <a:latin typeface="Arial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065A82"/>
                </a:solidFill>
                <a:latin typeface="Arial"/>
              </a:rPr>
              <a:t>Heritage: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· NASA JPL ($20M heritage)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· Glendale, California 2014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· «Cognitive AI» как differentiator</a:t>
            </a:r>
          </a:p>
          <a:p>
            <a:pPr algn="l">
              <a:lnSpc>
                <a:spcPct val="130000"/>
              </a:lnSpc>
            </a:pPr>
            <a:r>
              <a:rPr sz="600" b="0" i="0">
                <a:solidFill>
                  <a:srgbClr val="21295C"/>
                </a:solidFill>
                <a:latin typeface="Arial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065A82"/>
                </a:solidFill>
                <a:latin typeface="Arial"/>
              </a:rPr>
              <a:t>BP signals 2018: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· $20M Series B июнь 2017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· Beyond Petroleum rebrand attempt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· Public commitment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91640"/>
            <a:ext cx="5605272" cy="41148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26480" y="1691640"/>
            <a:ext cx="5605272" cy="5029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691640"/>
            <a:ext cx="533095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Arial"/>
              </a:rPr>
              <a:t>Что получили (2018–2023):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331720"/>
            <a:ext cx="5239512" cy="3383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 i="0">
                <a:solidFill>
                  <a:srgbClr val="F0AB00"/>
                </a:solidFill>
                <a:latin typeface="Arial"/>
              </a:rPr>
              <a:t>7 лет публичных</a:t>
            </a:r>
          </a:p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1295C"/>
                </a:solidFill>
                <a:latin typeface="Arial"/>
              </a:rPr>
              <a:t>результатов нет</a:t>
            </a:r>
          </a:p>
          <a:p>
            <a:pPr algn="l">
              <a:lnSpc>
                <a:spcPct val="125000"/>
              </a:lnSpc>
            </a:pPr>
            <a:r>
              <a:rPr sz="600" b="0" i="0">
                <a:solidFill>
                  <a:srgbClr val="21295C"/>
                </a:solidFill>
                <a:latin typeface="Arial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· 0 кейсов на сайте BP после 2019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· 0 публикаций в Society of Petroleum Engineers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· Beyond Limits pivot в healthcare/manufacturing 2023</a:t>
            </a:r>
          </a:p>
          <a:p>
            <a:pPr algn="l">
              <a:lnSpc>
                <a:spcPct val="125000"/>
              </a:lnSpc>
            </a:pPr>
            <a:r>
              <a:rPr sz="600" b="0" i="0">
                <a:solidFill>
                  <a:srgbClr val="21295C"/>
                </a:solidFill>
                <a:latin typeface="Arial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C0392B"/>
                </a:solidFill>
                <a:latin typeface="Arial"/>
              </a:rPr>
              <a:t>3 урока: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1. Vendor concentration — single small vendor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2. Cognitive marketing — anthropomorphic overpromise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3. Imitation framing — AI не имитирует, он approximates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943600"/>
            <a:ext cx="11274552" cy="502920"/>
          </a:xfrm>
          <a:prstGeom prst="roundRect">
            <a:avLst>
              <a:gd name="adj" fmla="val 8000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6016752"/>
            <a:ext cx="1090879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«Cognitive AI имитирует геолога» = anthropomorphic frame, который скрывает structural fit assessment.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21295C"/>
                </a:solidFill>
                <a:latin typeface="Arial"/>
              </a:rPr>
              <a:t>IBM Watson + Repsol Kalimba (2014–2022)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1C7293"/>
                </a:solidFill>
                <a:latin typeface="Arial"/>
              </a:rPr>
              <a:t>Hype cycle 2014–2016 → реальное commercial use ≤10% от ожиданий. Watson Industry Solutions stagnation 2018–2022.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91640"/>
            <a:ext cx="5486400" cy="41148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691640"/>
            <a:ext cx="5486400" cy="50292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91640"/>
            <a:ext cx="5212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Arial"/>
              </a:rPr>
              <a:t>Kalimba project 2014–2022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5120640" cy="3383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065A82"/>
                </a:solidFill>
                <a:latin typeface="Arial"/>
              </a:rPr>
              <a:t>2014: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· IBM + Repsol объявляют партнёрство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· Cognitive Environments Lab (NY) + Repsol Tech Centre (Мадрид)</a:t>
            </a:r>
          </a:p>
          <a:p>
            <a:pPr algn="l">
              <a:lnSpc>
                <a:spcPct val="130000"/>
              </a:lnSpc>
            </a:pPr>
            <a:r>
              <a:rPr sz="1200" b="0" i="1">
                <a:solidFill>
                  <a:srgbClr val="21295C"/>
                </a:solidFill>
                <a:latin typeface="Arial"/>
              </a:rPr>
              <a:t>· «Cognitive computing для exploration»</a:t>
            </a:r>
          </a:p>
          <a:p>
            <a:pPr algn="l">
              <a:lnSpc>
                <a:spcPct val="130000"/>
              </a:lnSpc>
            </a:pPr>
            <a:r>
              <a:rPr sz="600" b="0" i="0">
                <a:solidFill>
                  <a:srgbClr val="21295C"/>
                </a:solidFill>
                <a:latin typeface="Arial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065A82"/>
                </a:solidFill>
                <a:latin typeface="Arial"/>
              </a:rPr>
              <a:t>2014–2022: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· 30 лет exploration data «analyzed»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· Конкретных new discoveries не объявлено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· Repsol exploration budget shrunk 2019+</a:t>
            </a:r>
          </a:p>
          <a:p>
            <a:pPr algn="l">
              <a:lnSpc>
                <a:spcPct val="130000"/>
              </a:lnSpc>
            </a:pPr>
            <a:r>
              <a:rPr sz="600" b="0" i="0">
                <a:solidFill>
                  <a:srgbClr val="21295C"/>
                </a:solidFill>
                <a:latin typeface="Arial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C0392B"/>
                </a:solidFill>
                <a:latin typeface="Arial"/>
              </a:rPr>
              <a:t>2022:</a:t>
            </a:r>
          </a:p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· Тихое сворачивание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91640"/>
            <a:ext cx="5605272" cy="41148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26480" y="1691640"/>
            <a:ext cx="5605272" cy="5029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691640"/>
            <a:ext cx="533095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Arial"/>
              </a:rPr>
              <a:t>Watson Health parallel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331720"/>
            <a:ext cx="5239512" cy="3383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200" b="1" i="0">
                <a:solidFill>
                  <a:srgbClr val="F0AB00"/>
                </a:solidFill>
                <a:latin typeface="Arial"/>
              </a:rPr>
              <a:t>$5 млрд+</a:t>
            </a:r>
          </a:p>
          <a:p>
            <a:pPr algn="l">
              <a:lnSpc>
                <a:spcPct val="130000"/>
              </a:lnSpc>
            </a:pPr>
            <a:r>
              <a:rPr sz="1200" b="0" i="1">
                <a:solidFill>
                  <a:srgbClr val="21295C"/>
                </a:solidFill>
                <a:latin typeface="Arial"/>
              </a:rPr>
              <a:t>инвестиций IBM в Watson Health 2015–2021</a:t>
            </a:r>
          </a:p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21295C"/>
                </a:solidFill>
                <a:latin typeface="Arial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→ продан Francisco Partners 2022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за ~$1 млрд (= 20% от инвестиций)</a:t>
            </a:r>
          </a:p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21295C"/>
                </a:solidFill>
                <a:latin typeface="Arial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C0392B"/>
                </a:solidFill>
                <a:latin typeface="Arial"/>
              </a:rPr>
              <a:t>3 урока: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1. General-purpose cognitive не scaled в narrow domain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2. Hype cycle 2014–2016 → реальное use ≤10% от ожиданий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3. SLB Lumi и Aramco METABRAIN — domain-specific = успешнее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943600"/>
            <a:ext cx="11274552" cy="502920"/>
          </a:xfrm>
          <a:prstGeom prst="roundRect">
            <a:avLst>
              <a:gd name="adj" fmla="val 8000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6016752"/>
            <a:ext cx="1090879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Watson Health → ~$1B продан = $5B инвестиций vs $1B продажа = провал $4B. Indirect анчор: Kalimba не был исключением — он был частью паттерна.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>
                <a:solidFill>
                  <a:srgbClr val="21295C"/>
                </a:solidFill>
                <a:latin typeface="Arial"/>
              </a:rPr>
              <a:t>Альтернатива Q3: physics-based simulators + senior expertise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1C7293"/>
                </a:solidFill>
                <a:latin typeface="Arial"/>
              </a:rPr>
              <a:t>AI augmentation поверх, не replacement. Через 5 лет Eclipse будет стандартом — не AI-замена.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91640"/>
            <a:ext cx="5486400" cy="18288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2540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691640"/>
            <a:ext cx="137160" cy="18288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Eclipse (SLB)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40280"/>
            <a:ext cx="51206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Industry-standard reservoir simulator с 1983.
Mature reservoirs + regulatory submissions.
Coupled fluid + heat + chemistry equations.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91640"/>
            <a:ext cx="5486400" cy="18288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254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26480" y="1691640"/>
            <a:ext cx="137160" cy="18288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78308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INTERSECT (SLB)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40280"/>
            <a:ext cx="51206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Successor для massively parallel HPC.
Large models, finer grids.
Replaces Eclipse на топовых проектах.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703320"/>
            <a:ext cx="5486400" cy="18288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254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703320"/>
            <a:ext cx="137160" cy="182880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9476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CMG IMEX / STARS / GEM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251960"/>
            <a:ext cx="51206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Computer Modelling Group (Calgary).
IMEX black-oil, STARS thermal/EOR, GEM compositional.
Leader в heavy oil + EOR niche.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3703320"/>
            <a:ext cx="5486400" cy="18288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25400">
            <a:solidFill>
              <a:srgbClr val="212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3703320"/>
            <a:ext cx="137160" cy="18288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379476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OpenFOAM (CFD)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251960"/>
            <a:ext cx="51206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Open-source CFD для NPV simulation,
geomechanics, fracturing modeling.
Research + reservoir characterization.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623560"/>
            <a:ext cx="11274552" cy="777240"/>
          </a:xfrm>
          <a:prstGeom prst="roundRect">
            <a:avLst>
              <a:gd name="adj" fmla="val 8000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696712"/>
            <a:ext cx="1090879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Senior геофизик ($200–500k/год) + classical interpretation &gt; $5–20M foundation model в frontier. PINN = research-grade, не commercial. AI augmentation, не replacement.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21295C"/>
                </a:solidFill>
                <a:latin typeface="Arial"/>
              </a:rPr>
              <a:t>Methane MRV alphabet — 6 must-know терминов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1C7293"/>
                </a:solidFill>
                <a:latin typeface="Arial"/>
              </a:rPr>
              <a:t>Все встретятся в следующих 8 слайдах. Brand names — не глоссируем.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3657600" cy="210312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254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3657600" cy="54864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50876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MRV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3291840" cy="13258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Monitoring / Reporting / Verification
= выявление-учёт-проверка
Mandatory под EU 2024/1787.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1463040"/>
            <a:ext cx="3657600" cy="210312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2540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51960" y="1463040"/>
            <a:ext cx="3657600" cy="54864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150876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OGI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103120"/>
            <a:ext cx="3291840" cy="13258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Optical Gas Imaging
= оптическая газовая визуализация
IR-камера (FLIR GFx320, Opgal EyeCGas).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463040"/>
            <a:ext cx="3657600" cy="210312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254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463040"/>
            <a:ext cx="3657600" cy="54864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80" y="150876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LDAR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103120"/>
            <a:ext cx="3291840" cy="13258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Leak Detection And Repair
= программа выявления и устранения
4×/год обходы с OGI + ремонт 5-15 дней.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703320"/>
            <a:ext cx="3657600" cy="210312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2540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703320"/>
            <a:ext cx="3657600" cy="548640"/>
          </a:xfrm>
          <a:prstGeom prst="rect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749039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OGMP 2.0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343400"/>
            <a:ext cx="3291840" cy="13258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UN Oil &amp; Gas Methane Partnership Level 2.0
Level 5 — direct measurement.
170+ компаний подписали.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51960" y="3703320"/>
            <a:ext cx="3657600" cy="210312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25400">
            <a:solidFill>
              <a:srgbClr val="212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51960" y="3703320"/>
            <a:ext cx="3657600" cy="54864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0" y="3749039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SIL / SIS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4343400"/>
            <a:ext cx="3291840" cy="13258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Safety Integrity Level / Safety Instrumented System
IEC 61511. SIL3 = 0,001–0,0001 PFD.
ML не сертифицируется.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3703320"/>
            <a:ext cx="3657600" cy="210312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254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46720" y="3703320"/>
            <a:ext cx="3657600" cy="54864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83880" y="3749039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bopd / ESP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4343400"/>
            <a:ext cx="3291840" cy="13258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Barrels of oil per day / Electric Submersible Pump
= баррелей нефти/день / погружной электронасос
Stripper wells &lt;10 bopd.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6080760"/>
            <a:ext cx="11274552" cy="411480"/>
          </a:xfrm>
          <a:prstGeom prst="roundRect">
            <a:avLst>
              <a:gd name="adj" fmla="val 8000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6153912"/>
            <a:ext cx="1090879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Bonus: AI essential именно потому, что OGI + Picarro + LI-COR покрывают facility-level — atomic detection требует слияния 4 сенсоров.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1564930" cy="292608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"/>
            <a:ext cx="156493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6B7685"/>
                </a:solidFill>
                <a:latin typeface="Arial"/>
              </a:rPr>
              <a:t>1. Keystone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2067850" y="182880"/>
            <a:ext cx="1564930" cy="292608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67850" y="219456"/>
            <a:ext cx="156493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6B7685"/>
                </a:solidFill>
                <a:latin typeface="Arial"/>
              </a:rPr>
              <a:t>2. Q1 Mature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78500" y="182880"/>
            <a:ext cx="1564930" cy="292608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78500" y="219456"/>
            <a:ext cx="156493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6B7685"/>
                </a:solidFill>
                <a:latin typeface="Arial"/>
              </a:rPr>
              <a:t>3. Q3 Frontier</a:t>
            </a:r>
          </a:p>
        </p:txBody>
      </p:sp>
      <p:sp>
        <p:nvSpPr>
          <p:cNvPr id="8" name="Rectangle 7"/>
          <p:cNvSpPr/>
          <p:nvPr/>
        </p:nvSpPr>
        <p:spPr>
          <a:xfrm>
            <a:off x="5289150" y="182880"/>
            <a:ext cx="1564930" cy="292608"/>
          </a:xfrm>
          <a:prstGeom prst="rect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89150" y="219456"/>
            <a:ext cx="156493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21295C"/>
                </a:solidFill>
                <a:latin typeface="Arial"/>
              </a:rPr>
              <a:t>4. Q2 Methane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99801" y="182880"/>
            <a:ext cx="1564930" cy="292608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99801" y="219456"/>
            <a:ext cx="156493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6B7685"/>
                </a:solidFill>
                <a:latin typeface="Arial"/>
              </a:rPr>
              <a:t>5. Q4 Transition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10451" y="182880"/>
            <a:ext cx="1564930" cy="292608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10451" y="219456"/>
            <a:ext cx="156493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6B7685"/>
                </a:solidFill>
                <a:latin typeface="Arial"/>
              </a:rPr>
              <a:t>6. Россия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121101" y="182880"/>
            <a:ext cx="1564930" cy="292608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21101" y="219456"/>
            <a:ext cx="156493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6B7685"/>
                </a:solidFill>
                <a:latin typeface="Arial"/>
              </a:rPr>
              <a:t>7. Сквозные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914400"/>
            <a:ext cx="5029200" cy="3291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0" b="1" i="0">
                <a:solidFill>
                  <a:srgbClr val="028090"/>
                </a:solidFill>
                <a:latin typeface="Arial"/>
              </a:rPr>
              <a:t>Q2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34840"/>
            <a:ext cx="5029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21295C"/>
                </a:solidFill>
                <a:latin typeface="Arial"/>
              </a:rPr>
              <a:t>Метановая MRV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1371600"/>
            <a:ext cx="603504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21295C"/>
                </a:solidFill>
                <a:latin typeface="Arial"/>
              </a:rPr>
              <a:t>Данные — петабайты в день. Физика — разорвана. Слияние 4 сенсоров + атрибуция малой утечки — открытая ML-задача. AI необходим. Но один спутник = катастрофическая единичная уязвимость.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486400"/>
            <a:ext cx="11274552" cy="777240"/>
          </a:xfrm>
          <a:prstGeom prst="roundRect">
            <a:avLst>
              <a:gd name="adj" fmla="val 8000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559552"/>
            <a:ext cx="1090879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4 рабочих системы · 2 провала · регуляторное давление из EU 2024/1787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21295C"/>
                </a:solidFill>
                <a:latin typeface="Arial"/>
              </a:rPr>
              <a:t>MethaneSAT (4 марта 2024) — flagship результат Permian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1C7293"/>
                </a:solidFill>
                <a:latin typeface="Arial"/>
              </a:rPr>
              <a:t>Первый в истории спутник, владелец которого — экологическая некоммерческая организация. Бюджет $88M.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91640"/>
            <a:ext cx="5486400" cy="41148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22-methanes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060829"/>
            <a:ext cx="5212080" cy="273634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50749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7685"/>
                </a:solidFill>
                <a:latin typeface="Arial"/>
              </a:rPr>
              <a:t>MethaneSAT / EDF · 2024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349240"/>
            <a:ext cx="5212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065A82"/>
                </a:solidFill>
                <a:latin typeface="Arial"/>
              </a:rPr>
              <a:t>Что отличало MethaneSAT: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91640"/>
            <a:ext cx="5605272" cy="41148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783080"/>
            <a:ext cx="5330952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065A82"/>
                </a:solidFill>
                <a:latin typeface="Arial"/>
              </a:rPr>
              <a:t>Технические возможности: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· Wide-area coverage — 200×200 км за один проход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· Высокая точность — порог детекции ~500 кг/ч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· Открытый доступ через Google Earth Engine</a:t>
            </a:r>
          </a:p>
          <a:p>
            <a:pPr algn="l">
              <a:lnSpc>
                <a:spcPct val="125000"/>
              </a:lnSpc>
            </a:pPr>
            <a:r>
              <a:rPr sz="600" b="0" i="0">
                <a:solidFill>
                  <a:srgbClr val="21295C"/>
                </a:solidFill>
                <a:latin typeface="Arial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065A82"/>
                </a:solidFill>
                <a:latin typeface="Arial"/>
              </a:rPr>
              <a:t>Permian flagship результат:</a:t>
            </a:r>
          </a:p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F0AB00"/>
                </a:solidFill>
                <a:latin typeface="Arial"/>
              </a:rPr>
              <a:t>410 т/ч</a:t>
            </a:r>
          </a:p>
          <a:p>
            <a:pPr algn="l">
              <a:lnSpc>
                <a:spcPct val="125000"/>
              </a:lnSpc>
            </a:pPr>
            <a:r>
              <a:rPr sz="1200" b="0" i="1">
                <a:solidFill>
                  <a:srgbClr val="21295C"/>
                </a:solidFill>
                <a:latin typeface="Arial"/>
              </a:rPr>
              <a:t>метана = +50% над оценкой EPA</a:t>
            </a:r>
          </a:p>
          <a:p>
            <a:pPr algn="l">
              <a:lnSpc>
                <a:spcPct val="125000"/>
              </a:lnSpc>
            </a:pPr>
            <a:r>
              <a:rPr sz="400" b="0" i="0">
                <a:solidFill>
                  <a:srgbClr val="21295C"/>
                </a:solidFill>
                <a:latin typeface="Arial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· Нью-Мексико: 1,2% intensity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· Техас: 3,1% intensity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· ~2 000 data files за 15,5 мес работы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5943600"/>
            <a:ext cx="11274552" cy="502920"/>
          </a:xfrm>
          <a:prstGeom prst="roundRect">
            <a:avLst>
              <a:gd name="adj" fmla="val 8000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6016752"/>
            <a:ext cx="1090879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+50% над EPA — это не «AI ошибается». Это AI измеряет, а EPA inventory считает по емission factors 30-летней давности.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21295C"/>
                </a:solidFill>
                <a:latin typeface="Arial"/>
              </a:rPr>
              <a:t>20 июня 2025 — MethaneSAT потерян после 15,5 месяцев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1C7293"/>
                </a:solidFill>
                <a:latin typeface="Arial"/>
              </a:rPr>
              <a:t>4 марта 2024 запуск → 20 июня 2025 «spacecraft anomaly». 26% от 5-летнего designed lifetime.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91640"/>
            <a:ext cx="5486400" cy="41148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691640"/>
            <a:ext cx="5486400" cy="50292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91640"/>
            <a:ext cx="5212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Arial"/>
              </a:rPr>
              <a:t>Timeline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5120640" cy="342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65A82"/>
                </a:solidFill>
                <a:latin typeface="Arial"/>
              </a:rPr>
              <a:t>4 марта 2024</a:t>
            </a:r>
          </a:p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Запуск SpaceX Falcon 9</a:t>
            </a:r>
          </a:p>
          <a:p>
            <a:pPr algn="l">
              <a:lnSpc>
                <a:spcPct val="120000"/>
              </a:lnSpc>
            </a:pPr>
            <a:r>
              <a:rPr sz="400" b="0" i="0">
                <a:solidFill>
                  <a:srgbClr val="21295C"/>
                </a:solidFill>
                <a:latin typeface="Arial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65A82"/>
                </a:solidFill>
                <a:latin typeface="Arial"/>
              </a:rPr>
              <a:t>Март 2024 — июнь 2025</a:t>
            </a:r>
          </a:p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15,5 месяцев операций</a:t>
            </a:r>
          </a:p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~2 000 data files собрано</a:t>
            </a:r>
          </a:p>
          <a:p>
            <a:pPr algn="l">
              <a:lnSpc>
                <a:spcPct val="120000"/>
              </a:lnSpc>
            </a:pPr>
            <a:r>
              <a:rPr sz="400" b="0" i="0">
                <a:solidFill>
                  <a:srgbClr val="21295C"/>
                </a:solidFill>
                <a:latin typeface="Arial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C0392B"/>
                </a:solidFill>
                <a:latin typeface="Arial"/>
              </a:rPr>
              <a:t>20 июня 2025</a:t>
            </a:r>
          </a:p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«Spacecraft anomaly» — потеря связи</a:t>
            </a:r>
          </a:p>
          <a:p>
            <a:pPr algn="l">
              <a:lnSpc>
                <a:spcPct val="120000"/>
              </a:lnSpc>
            </a:pPr>
            <a:r>
              <a:rPr sz="400" b="0" i="0">
                <a:solidFill>
                  <a:srgbClr val="21295C"/>
                </a:solidFill>
                <a:latin typeface="Arial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0AB00"/>
                </a:solidFill>
                <a:latin typeface="Arial"/>
              </a:rPr>
              <a:t>15,5 / 60 мес designed</a:t>
            </a:r>
          </a:p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= 26% lifetime realized</a:t>
            </a:r>
          </a:p>
          <a:p>
            <a:pPr algn="l">
              <a:lnSpc>
                <a:spcPct val="120000"/>
              </a:lnSpc>
            </a:pPr>
            <a:r>
              <a:rPr sz="400" b="0" i="0">
                <a:solidFill>
                  <a:srgbClr val="21295C"/>
                </a:solidFill>
                <a:latin typeface="Arial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21295C"/>
                </a:solidFill>
                <a:latin typeface="Arial"/>
              </a:rPr>
              <a:t>$5,7M/мес realized vs $1,5M/мес планировалось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91640"/>
            <a:ext cx="5605272" cy="41148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26480" y="1691640"/>
            <a:ext cx="5605272" cy="5029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691640"/>
            <a:ext cx="533095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Arial"/>
              </a:rPr>
              <a:t>4 урока loss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331720"/>
            <a:ext cx="5330952" cy="342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065A82"/>
                </a:solidFill>
                <a:latin typeface="Arial"/>
              </a:rPr>
              <a:t>1. SPOF (single point of failure)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Single satellite = catastrophic loss vector. Constellation (GHGSat 13+) — robust.</a:t>
            </a:r>
          </a:p>
          <a:p>
            <a:pPr algn="l">
              <a:lnSpc>
                <a:spcPct val="125000"/>
              </a:lnSpc>
            </a:pPr>
            <a:r>
              <a:rPr sz="400" b="0" i="0">
                <a:solidFill>
                  <a:srgbClr val="21295C"/>
                </a:solidFill>
                <a:latin typeface="Arial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065A82"/>
                </a:solidFill>
                <a:latin typeface="Arial"/>
              </a:rPr>
              <a:t>2. Hardware reliability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Свободный космос ≠ контролируемая лаборатория. 26% lifetime — high risk.</a:t>
            </a:r>
          </a:p>
          <a:p>
            <a:pPr algn="l">
              <a:lnSpc>
                <a:spcPct val="125000"/>
              </a:lnSpc>
            </a:pPr>
            <a:r>
              <a:rPr sz="400" b="0" i="0">
                <a:solidFill>
                  <a:srgbClr val="21295C"/>
                </a:solidFill>
                <a:latin typeface="Arial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065A82"/>
                </a:solidFill>
                <a:latin typeface="Arial"/>
              </a:rPr>
              <a:t>3. Regulator constraint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EU 2024/1787 inspector cannot rely on one source. Diversification mandatory.</a:t>
            </a:r>
          </a:p>
          <a:p>
            <a:pPr algn="l">
              <a:lnSpc>
                <a:spcPct val="125000"/>
              </a:lnSpc>
            </a:pPr>
            <a:r>
              <a:rPr sz="400" b="0" i="0">
                <a:solidFill>
                  <a:srgbClr val="21295C"/>
                </a:solidFill>
                <a:latin typeface="Arial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065A82"/>
                </a:solidFill>
                <a:latin typeface="Arial"/>
              </a:rPr>
              <a:t>4. AI ≠ upstream data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Software работает. Hardware failed. AI зависит от верхнего слоя.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943600"/>
            <a:ext cx="11274552" cy="502920"/>
          </a:xfrm>
          <a:prstGeom prst="roundRect">
            <a:avLst>
              <a:gd name="adj" fmla="val 8000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6016752"/>
            <a:ext cx="1090879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Урок: regulatory infrastructure требует diversified sensor network, не single satellite. AI зависит от upstream hardware.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>
                <a:solidFill>
                  <a:srgbClr val="21295C"/>
                </a:solidFill>
                <a:latin typeface="Arial"/>
              </a:rPr>
              <a:t>Post-MethaneSAT: Carbon Mapper + GHGSat + Bridger + SeekOps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1C7293"/>
                </a:solidFill>
                <a:latin typeface="Arial"/>
              </a:rPr>
              <a:t>Диверсифицированный sensor network — то, чем должен был быть MethaneSAT. Несколько провайдеров после loss.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91640"/>
            <a:ext cx="5486400" cy="1874519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254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691640"/>
            <a:ext cx="5486400" cy="45720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91640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Arial"/>
              </a:rPr>
              <a:t>Carbon Mapper Tanager-1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40280"/>
            <a:ext cx="5120640" cy="1188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Запуск 16 авг 2024.
Planet Labs constellation.
NASA JPL technology.
Facility-level detection.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91640"/>
            <a:ext cx="5486400" cy="1874519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254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26480" y="1691640"/>
            <a:ext cx="5486400" cy="4572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691640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Arial"/>
              </a:rPr>
              <a:t>GHGSat constellation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240280"/>
            <a:ext cx="5120640" cy="1188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13-satellite по середине 2025.
25м разрешение.
Facility-level focus.
Commercial: ExxonMobil, ConocoPhillips, EOG.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749039"/>
            <a:ext cx="5486400" cy="1874519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2540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749039"/>
            <a:ext cx="5486400" cy="4572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749039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Arial"/>
              </a:rPr>
              <a:t>Bridger Photonics aerial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297679"/>
            <a:ext cx="5120640" cy="1188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Aerial LiDAR (gas mapping).
4× точнее ground OGI.
Close-range, slow scan.
For LDAR программ.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3749039"/>
            <a:ext cx="5486400" cy="1874519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2540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3749039"/>
            <a:ext cx="5486400" cy="457200"/>
          </a:xfrm>
          <a:prstGeom prst="rect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3749039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Arial"/>
              </a:rPr>
              <a:t>SeekOps + Project Canary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4297679"/>
            <a:ext cx="5120640" cy="1188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SeekOps — UAV-mounted methane sensors.
Project Canary — continuous monitoring sites.
Certification (RSG, MiQ).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623560"/>
            <a:ext cx="11274552" cy="777240"/>
          </a:xfrm>
          <a:prstGeom prst="roundRect">
            <a:avLst>
              <a:gd name="adj" fmla="val 8000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696712"/>
            <a:ext cx="1090879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Lesson: один спутник — single point of failure. Диверсифицированный sensor network (satellite + aerial + ground) — robust. EU regulator требует именно этого.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>
                <a:solidFill>
                  <a:srgbClr val="21295C"/>
                </a:solidFill>
                <a:latin typeface="Arial"/>
              </a:rPr>
              <a:t>4× разрыв industry vs регулятор — methodological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1C7293"/>
                </a:solidFill>
                <a:latin typeface="Arial"/>
              </a:rPr>
              <a:t>MethaneSAT measured ~15 Mt/год US O&amp;G. EPA Inventory ~4 Mt. Stanford 2024 aerial ~7 Mt = factor 2.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91640"/>
            <a:ext cx="5486400" cy="41148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25-4x-discrepa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42160"/>
            <a:ext cx="5120640" cy="341375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126480" y="1691640"/>
            <a:ext cx="5605272" cy="41148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1783080"/>
            <a:ext cx="5330952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65A82"/>
                </a:solidFill>
                <a:latin typeface="Arial"/>
              </a:rPr>
              <a:t>Что это значит: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· EPA inventory: bottom-up подход, факторы 1990-х.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· Stanford aerial: top-down measurements, 2024.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· MethaneSAT: spaceborne, всё что меньше 500 кг/ч missed.</a:t>
            </a:r>
          </a:p>
          <a:p>
            <a:pPr algn="l">
              <a:lnSpc>
                <a:spcPct val="125000"/>
              </a:lnSpc>
            </a:pPr>
            <a:r>
              <a:rPr sz="600" b="0" i="0">
                <a:solidFill>
                  <a:srgbClr val="21295C"/>
                </a:solidFill>
                <a:latin typeface="Arial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065A82"/>
                </a:solidFill>
                <a:latin typeface="Arial"/>
              </a:rPr>
              <a:t>9-satellite test 2024 (Atmospheric Measurement Techniques):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· 58% emission points identified.</a:t>
            </a:r>
          </a:p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21295C"/>
                </a:solidFill>
                <a:latin typeface="Arial"/>
              </a:rPr>
              <a:t>· 41% false negatives.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· AI не «ошибается» — sensors имеют структурные limit.</a:t>
            </a:r>
          </a:p>
          <a:p>
            <a:pPr algn="l">
              <a:lnSpc>
                <a:spcPct val="125000"/>
              </a:lnSpc>
            </a:pPr>
            <a:r>
              <a:rPr sz="600" b="0" i="0">
                <a:solidFill>
                  <a:srgbClr val="21295C"/>
                </a:solidFill>
                <a:latin typeface="Arial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F0AB00"/>
                </a:solidFill>
                <a:latin typeface="Arial"/>
              </a:rPr>
              <a:t>Это не AI failure:</a:t>
            </a:r>
          </a:p>
          <a:p>
            <a:pPr algn="l">
              <a:lnSpc>
                <a:spcPct val="125000"/>
              </a:lnSpc>
            </a:pPr>
            <a:r>
              <a:rPr sz="1100" b="0" i="1">
                <a:solidFill>
                  <a:srgbClr val="21295C"/>
                </a:solidFill>
                <a:latin typeface="Arial"/>
              </a:rPr>
              <a:t>Это structural methodological gap. EPA modernization in progress.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943600"/>
            <a:ext cx="11274552" cy="502920"/>
          </a:xfrm>
          <a:prstGeom prst="roundRect">
            <a:avLst>
              <a:gd name="adj" fmla="val 8000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016752"/>
            <a:ext cx="1090879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Cross-source triangulation = единственный валидный подход. AI essential, но AI ≠ ground truth — он измеряет, факелы факелуют.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21295C"/>
                </a:solidFill>
                <a:latin typeface="Arial"/>
              </a:rPr>
              <a:t>EU 2024/1787 vs EPA Subpart W — AI MRV рынок развивается асимметрично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3444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1C7293"/>
                </a:solidFill>
                <a:latin typeface="Arial"/>
              </a:rPr>
              <a:t>EU operator рискует штрафом &gt; прибыли от добычи. US operator не торопится инвестировать.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737360"/>
            <a:ext cx="5486400" cy="402336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737360"/>
            <a:ext cx="5486400" cy="64008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737360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Arial"/>
              </a:rPr>
              <a:t>EU 2024/1787 (август 2024)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14600"/>
            <a:ext cx="512064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 i="0">
                <a:solidFill>
                  <a:srgbClr val="F0AB00"/>
                </a:solidFill>
                <a:latin typeface="Arial"/>
              </a:rPr>
              <a:t>до 20%</a:t>
            </a:r>
          </a:p>
          <a:p>
            <a:pPr algn="l">
              <a:lnSpc>
                <a:spcPct val="125000"/>
              </a:lnSpc>
            </a:pPr>
            <a:r>
              <a:rPr sz="1100" b="0" i="1">
                <a:solidFill>
                  <a:srgbClr val="6B7685"/>
                </a:solidFill>
                <a:latin typeface="Arial"/>
              </a:rPr>
              <a:t>оборотного штрафа за non-compliance</a:t>
            </a:r>
          </a:p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21295C"/>
                </a:solidFill>
                <a:latin typeface="Arial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21295C"/>
                </a:solidFill>
                <a:latin typeface="Arial"/>
              </a:rPr>
              <a:t>Ключевые deadlines: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· LDAR обязательный — 5 мая 2025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· OGMP Level 4/5 reports — 5 авг 2025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· Imports compliance — с 2027</a:t>
            </a:r>
          </a:p>
          <a:p>
            <a:pPr algn="l">
              <a:lnSpc>
                <a:spcPct val="125000"/>
              </a:lnSpc>
            </a:pPr>
            <a:r>
              <a:rPr sz="600" b="0" i="0">
                <a:solidFill>
                  <a:srgbClr val="21295C"/>
                </a:solidFill>
                <a:latin typeface="Arial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065A82"/>
                </a:solidFill>
                <a:latin typeface="Arial"/>
              </a:rPr>
              <a:t>Driver: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Shell, TotalEnergies — фронт enforcement.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737360"/>
            <a:ext cx="5605272" cy="402336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26480" y="1737360"/>
            <a:ext cx="5605272" cy="64008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737360"/>
            <a:ext cx="533095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Arial"/>
              </a:rPr>
              <a:t>US EPA Subpart 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514600"/>
            <a:ext cx="5330952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6 мая 2024 final → delay 2034 [VFY]</a:t>
            </a:r>
          </a:p>
          <a:p>
            <a:pPr algn="l">
              <a:lnSpc>
                <a:spcPct val="125000"/>
              </a:lnSpc>
            </a:pPr>
            <a:r>
              <a:rPr sz="600" b="0" i="0">
                <a:solidFill>
                  <a:srgbClr val="21295C"/>
                </a:solidFill>
                <a:latin typeface="Arial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C7293"/>
                </a:solidFill>
                <a:latin typeface="Arial"/>
              </a:rPr>
              <a:t>Что произошло: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· Final rule утверждён 6 мая 2024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· Trump administration пересмотр сентябрь 2025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· Proposed delay до 2034 для имплементации</a:t>
            </a:r>
          </a:p>
          <a:p>
            <a:pPr algn="l">
              <a:lnSpc>
                <a:spcPct val="125000"/>
              </a:lnSpc>
            </a:pPr>
            <a:r>
              <a:rPr sz="600" b="0" i="0">
                <a:solidFill>
                  <a:srgbClr val="21295C"/>
                </a:solidFill>
                <a:latin typeface="Arial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C7293"/>
                </a:solidFill>
                <a:latin typeface="Arial"/>
              </a:rPr>
              <a:t>Эффект на рынок: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· US AI MRV рынок ~$200M (2024)</a:t>
            </a:r>
          </a:p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· vs EU ~$500M+ к 2026 (estimate)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943600"/>
            <a:ext cx="11274552" cy="502920"/>
          </a:xfrm>
          <a:prstGeom prst="roundRect">
            <a:avLst>
              <a:gd name="adj" fmla="val 8000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6016752"/>
            <a:ext cx="1090879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Регуляторика — главный driver Q2. EU жёстко → AI essential. US wait-and-see → AI рынок развивается медленнее.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21295C"/>
                </a:solidFill>
                <a:latin typeface="Arial"/>
              </a:rPr>
              <a:t>Альтернатива Q2: ground OGI + portable analyzers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1C7293"/>
                </a:solidFill>
                <a:latin typeface="Arial"/>
              </a:rPr>
              <a:t>Когда AI не нужен — OGMP Level 5 (прямое измерение) + custody transfer metering.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91640"/>
            <a:ext cx="5486400" cy="18288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254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691640"/>
            <a:ext cx="137160" cy="18288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FLIR GFx320 / Opgal EyeCGas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512064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Hand-held OGI cameras.
IR imaging углеводородов.
2-3 inspection events/site/год.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91640"/>
            <a:ext cx="5486400" cy="18288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2540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26480" y="1691640"/>
            <a:ext cx="137160" cy="18288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78308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Picarro G2210-i / LI-COR LI-7810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86000"/>
            <a:ext cx="512064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Portable cavity ring-down spectroscopy.
Direct measurement, ppb-уровень.
For OGMP Level 5 verification.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703320"/>
            <a:ext cx="5486400" cy="18288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254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703320"/>
            <a:ext cx="137160" cy="182880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9476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Rebellion Photonics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297680"/>
            <a:ext cx="512064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Fixed-position OGI + analytics.
Continuous facility-level.
Replaces AI screening на крупных hub.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3703320"/>
            <a:ext cx="5486400" cy="18288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2540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3703320"/>
            <a:ext cx="137160" cy="1828800"/>
          </a:xfrm>
          <a:prstGeom prst="rect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379476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EPA Method 21 / EU LDAR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297680"/>
            <a:ext cx="512064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Detector + sniffer for всех valves, flanges.
4×/год обходы.
Mandatory под регуляцией.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623560"/>
            <a:ext cx="11274552" cy="777240"/>
          </a:xfrm>
          <a:prstGeom prst="roundRect">
            <a:avLst>
              <a:gd name="adj" fmla="val 8000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696712"/>
            <a:ext cx="1090879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2 criteria когда AI не нужен в Q2: (1) OGMP Level 5 direct measurement compliance — regulator требует точность, не estimate; (2) custody transfer metering — mass flow meter mandatory, не AI.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1564930" cy="292608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"/>
            <a:ext cx="156493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6B7685"/>
                </a:solidFill>
                <a:latin typeface="Arial"/>
              </a:rPr>
              <a:t>1. Keystone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2067850" y="182880"/>
            <a:ext cx="1564930" cy="292608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67850" y="219456"/>
            <a:ext cx="156493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6B7685"/>
                </a:solidFill>
                <a:latin typeface="Arial"/>
              </a:rPr>
              <a:t>2. Q1 Mature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78500" y="182880"/>
            <a:ext cx="1564930" cy="292608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78500" y="219456"/>
            <a:ext cx="156493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6B7685"/>
                </a:solidFill>
                <a:latin typeface="Arial"/>
              </a:rPr>
              <a:t>3. Q3 Frontier</a:t>
            </a:r>
          </a:p>
        </p:txBody>
      </p:sp>
      <p:sp>
        <p:nvSpPr>
          <p:cNvPr id="8" name="Rectangle 7"/>
          <p:cNvSpPr/>
          <p:nvPr/>
        </p:nvSpPr>
        <p:spPr>
          <a:xfrm>
            <a:off x="5289150" y="182880"/>
            <a:ext cx="1564930" cy="292608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89150" y="219456"/>
            <a:ext cx="156493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6B7685"/>
                </a:solidFill>
                <a:latin typeface="Arial"/>
              </a:rPr>
              <a:t>4. Q2 Methane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99801" y="182880"/>
            <a:ext cx="1564930" cy="292608"/>
          </a:xfrm>
          <a:prstGeom prst="rect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99801" y="219456"/>
            <a:ext cx="156493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21295C"/>
                </a:solidFill>
                <a:latin typeface="Arial"/>
              </a:rPr>
              <a:t>5. Q4 Transition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10451" y="182880"/>
            <a:ext cx="1564930" cy="292608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10451" y="219456"/>
            <a:ext cx="156493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6B7685"/>
                </a:solidFill>
                <a:latin typeface="Arial"/>
              </a:rPr>
              <a:t>6. Россия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121101" y="182880"/>
            <a:ext cx="1564930" cy="292608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21101" y="219456"/>
            <a:ext cx="156493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6B7685"/>
                </a:solidFill>
                <a:latin typeface="Arial"/>
              </a:rPr>
              <a:t>7. Сквозные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914400"/>
            <a:ext cx="5029200" cy="3291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0" b="1" i="0">
                <a:solidFill>
                  <a:srgbClr val="F0AB00"/>
                </a:solidFill>
                <a:latin typeface="Arial"/>
              </a:rPr>
              <a:t>Q4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34840"/>
            <a:ext cx="5029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21295C"/>
                </a:solidFill>
                <a:latin typeface="Arial"/>
              </a:rPr>
              <a:t>Энергопереход: CCS + EGS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1371600"/>
            <a:ext cx="603504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21295C"/>
                </a:solidFill>
                <a:latin typeface="Arial"/>
              </a:rPr>
              <a:t>Здесь AI и физика буксуют вместе. Long-horizon, low-data, low-physics-certainty. Самый честный квадрант.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486400"/>
            <a:ext cx="11274552" cy="777240"/>
          </a:xfrm>
          <a:prstGeom prst="roundRect">
            <a:avLst>
              <a:gd name="adj" fmla="val 8000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559552"/>
            <a:ext cx="1090879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2 рабочих пилота · 2 структурных провала · 190× разрыв масштабирования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21295C"/>
                </a:solidFill>
                <a:latin typeface="Arial"/>
              </a:rPr>
              <a:t>Northern Lights CCS — 0,02% от needed scale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1C7293"/>
                </a:solidFill>
                <a:latin typeface="Arial"/>
              </a:rPr>
              <a:t>JV Equinor + Shell + TotalEnergies. Commercial launch 2024. Эугарден, Норвегия.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91640"/>
            <a:ext cx="5486400" cy="41148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29-n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828800"/>
            <a:ext cx="3657600" cy="3657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55321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7685"/>
                </a:solidFill>
                <a:latin typeface="Arial"/>
              </a:rPr>
              <a:t>Northern Lights JV · 2024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91640"/>
            <a:ext cx="5605272" cy="41148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783080"/>
            <a:ext cx="5330952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65A82"/>
                </a:solidFill>
                <a:latin typeface="Arial"/>
              </a:rPr>
              <a:t>Метрики Northern Lights: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· Phase 1 capacity: 1,5 Mt CO₂/год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· Operational с 2024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· CO₂ источники: Microsoft, Heidelberg Materials, Yara</a:t>
            </a:r>
          </a:p>
          <a:p>
            <a:pPr algn="l">
              <a:lnSpc>
                <a:spcPct val="125000"/>
              </a:lnSpc>
            </a:pPr>
            <a:r>
              <a:rPr sz="600" b="0" i="0">
                <a:solidFill>
                  <a:srgbClr val="21295C"/>
                </a:solidFill>
                <a:latin typeface="Arial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65A82"/>
                </a:solidFill>
                <a:latin typeface="Arial"/>
              </a:rPr>
              <a:t>Сравнение со scale:</a:t>
            </a:r>
          </a:p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1C7293"/>
                </a:solidFill>
                <a:latin typeface="Arial"/>
              </a:rPr>
              <a:t>1,5 Mt/год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6B7685"/>
                </a:solidFill>
                <a:latin typeface="Arial"/>
              </a:rPr>
              <a:t>vs</a:t>
            </a:r>
          </a:p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F0AB00"/>
                </a:solidFill>
                <a:latin typeface="Arial"/>
              </a:rPr>
              <a:t>7 600 Mt/год (IEA target 2050)</a:t>
            </a:r>
          </a:p>
          <a:p>
            <a:pPr algn="l">
              <a:lnSpc>
                <a:spcPct val="125000"/>
              </a:lnSpc>
            </a:pPr>
            <a:r>
              <a:rPr sz="400" b="0" i="0">
                <a:solidFill>
                  <a:srgbClr val="21295C"/>
                </a:solidFill>
                <a:latin typeface="Arial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C0392B"/>
                </a:solidFill>
                <a:latin typeface="Arial"/>
              </a:rPr>
              <a:t>= 0,02% от needed scale</a:t>
            </a:r>
          </a:p>
          <a:p>
            <a:pPr algn="l">
              <a:lnSpc>
                <a:spcPct val="125000"/>
              </a:lnSpc>
            </a:pPr>
            <a:r>
              <a:rPr sz="1200" b="0" i="1">
                <a:solidFill>
                  <a:srgbClr val="21295C"/>
                </a:solidFill>
                <a:latin typeface="Arial"/>
              </a:rPr>
              <a:t>= 190× scale-up gap к 2050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943600"/>
            <a:ext cx="11274552" cy="502920"/>
          </a:xfrm>
          <a:prstGeom prst="roundRect">
            <a:avLst>
              <a:gd name="adj" fmla="val 8000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016752"/>
            <a:ext cx="1090879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AI helps per-unit cost (subsurface modeling, leak detection). AI НЕ масштабирует индустрию — нужно 5000+ Northern Lights к 2050.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>
                <a:solidFill>
                  <a:srgbClr val="21295C"/>
                </a:solidFill>
                <a:latin typeface="Arial"/>
              </a:rPr>
              <a:t>Fervo Energy EGS — IPO 12 мая 2026, 40× growth ceiling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1C7293"/>
                </a:solidFill>
                <a:latin typeface="Arial"/>
              </a:rPr>
              <a:t>Только renewable baseload, доступный при сегодняшних технологиях. Driver: AI workloads потребляют 24/7 stable power.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91640"/>
            <a:ext cx="5486400" cy="41148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30-fervo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688" y="1828800"/>
            <a:ext cx="5057422" cy="3200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50749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7685"/>
                </a:solidFill>
                <a:latin typeface="Arial"/>
              </a:rPr>
              <a:t>Fervo Energy / Cape Station Utah · 2026</a:t>
            </a:r>
          </a:p>
        </p:txBody>
      </p:sp>
      <p:pic>
        <p:nvPicPr>
          <p:cNvPr id="7" name="Picture 6" descr="s30-fervo-g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1790" y="5349240"/>
            <a:ext cx="617220" cy="4114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126480" y="1691640"/>
            <a:ext cx="5605272" cy="41148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783080"/>
            <a:ext cx="5330952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65A82"/>
                </a:solidFill>
                <a:latin typeface="Arial"/>
              </a:rPr>
              <a:t>IPO 12 мая 2026:</a:t>
            </a:r>
          </a:p>
          <a:p>
            <a:pPr algn="l">
              <a:lnSpc>
                <a:spcPct val="125000"/>
              </a:lnSpc>
            </a:pPr>
            <a:r>
              <a:rPr sz="2800" b="1" i="0">
                <a:solidFill>
                  <a:srgbClr val="F0AB00"/>
                </a:solidFill>
                <a:latin typeface="Arial"/>
              </a:rPr>
              <a:t>$1,89 млрд</a:t>
            </a:r>
          </a:p>
          <a:p>
            <a:pPr algn="l">
              <a:lnSpc>
                <a:spcPct val="125000"/>
              </a:lnSpc>
            </a:pPr>
            <a:r>
              <a:rPr sz="1200" b="0" i="1">
                <a:solidFill>
                  <a:srgbClr val="21295C"/>
                </a:solidFill>
                <a:latin typeface="Arial"/>
              </a:rPr>
              <a:t>привлечено в IPO; оценка $7,7 млрд</a:t>
            </a:r>
          </a:p>
          <a:p>
            <a:pPr algn="l">
              <a:lnSpc>
                <a:spcPct val="125000"/>
              </a:lnSpc>
            </a:pPr>
            <a:r>
              <a:rPr sz="600" b="0" i="0">
                <a:solidFill>
                  <a:srgbClr val="21295C"/>
                </a:solidFill>
                <a:latin typeface="Arial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065A82"/>
                </a:solidFill>
                <a:latin typeface="Arial"/>
              </a:rPr>
              <a:t>Cape Station Utah ($206M):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· Pilot 2024 → commercial 2026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· Distributed temperature sensing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· Hydraulic fracking → закрытый цикл</a:t>
            </a:r>
          </a:p>
          <a:p>
            <a:pPr algn="l">
              <a:lnSpc>
                <a:spcPct val="125000"/>
              </a:lnSpc>
            </a:pPr>
            <a:r>
              <a:rPr sz="600" b="0" i="0">
                <a:solidFill>
                  <a:srgbClr val="21295C"/>
                </a:solidFill>
                <a:latin typeface="Arial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065A82"/>
                </a:solidFill>
                <a:latin typeface="Arial"/>
              </a:rPr>
              <a:t>Driver: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· Google, Microsoft, Meta — PPA buyers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· AI data centers → 24/7 clean baseload</a:t>
            </a:r>
          </a:p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F0AB00"/>
                </a:solidFill>
                <a:latin typeface="Arial"/>
              </a:rPr>
              <a:t>· US EGS potential 150 GW vs current 3,7 GW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5943600"/>
            <a:ext cx="11274552" cy="502920"/>
          </a:xfrm>
          <a:prstGeom prst="roundRect">
            <a:avLst>
              <a:gd name="adj" fmla="val 8000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6016752"/>
            <a:ext cx="1090879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Closed-loop: AI tech tycoons спонсируют EGS чтобы запитать AI data centers. Self-referential AI infrastructure expansion cycle.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21295C"/>
                </a:solidFill>
                <a:latin typeface="Arial"/>
              </a:rPr>
              <a:t>CCS 190× scale-up gap — engineering reality vs policy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1C7293"/>
                </a:solidFill>
                <a:latin typeface="Arial"/>
              </a:rPr>
              <a:t>AI helps per-unit cost. AI не масштабирует индустрию. AI на 100-летнем horizon — hallucinate easy.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91640"/>
            <a:ext cx="5486400" cy="41148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29-ccs-g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42160"/>
            <a:ext cx="5120640" cy="341375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126480" y="1691640"/>
            <a:ext cx="5605272" cy="41148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1783080"/>
            <a:ext cx="5330952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065A82"/>
                </a:solidFill>
                <a:latin typeface="Arial"/>
              </a:rPr>
              <a:t>Что AI hallucinates на 100-летнем horizon: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· Plume migration CO₂ через 50-100 лет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· Multi-phase flow в неизвестных формациях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· Caprock integrity — out-of-distribution scenarios</a:t>
            </a:r>
          </a:p>
          <a:p>
            <a:pPr algn="l">
              <a:lnSpc>
                <a:spcPct val="125000"/>
              </a:lnSpc>
            </a:pPr>
            <a:r>
              <a:rPr sz="600" b="0" i="0">
                <a:solidFill>
                  <a:srgbClr val="21295C"/>
                </a:solidFill>
                <a:latin typeface="Arial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065A82"/>
                </a:solidFill>
                <a:latin typeface="Arial"/>
              </a:rPr>
              <a:t>Gartner 2027 prediction:</a:t>
            </a:r>
          </a:p>
          <a:p>
            <a:pPr algn="l">
              <a:lnSpc>
                <a:spcPct val="125000"/>
              </a:lnSpc>
            </a:pPr>
            <a:r>
              <a:rPr sz="2800" b="1" i="0">
                <a:solidFill>
                  <a:srgbClr val="F0AB00"/>
                </a:solidFill>
                <a:latin typeface="Arial"/>
              </a:rPr>
              <a:t>40%</a:t>
            </a:r>
          </a:p>
          <a:p>
            <a:pPr algn="l">
              <a:lnSpc>
                <a:spcPct val="125000"/>
              </a:lnSpc>
            </a:pPr>
            <a:r>
              <a:rPr sz="1200" b="0" i="1">
                <a:solidFill>
                  <a:srgbClr val="21295C"/>
                </a:solidFill>
                <a:latin typeface="Arial"/>
              </a:rPr>
              <a:t>agentic AI проектов будут отменены к 2027</a:t>
            </a:r>
          </a:p>
          <a:p>
            <a:pPr algn="l">
              <a:lnSpc>
                <a:spcPct val="125000"/>
              </a:lnSpc>
            </a:pPr>
            <a:r>
              <a:rPr sz="400" b="0" i="0">
                <a:solidFill>
                  <a:srgbClr val="21295C"/>
                </a:solidFill>
                <a:latin typeface="Arial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065A82"/>
                </a:solidFill>
                <a:latin typeface="Arial"/>
              </a:rPr>
              <a:t>Sleipner Norway 1996: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· Oldest CCS, $1B+ инвестиций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· 30 лет данных — empirical baseline</a:t>
            </a:r>
          </a:p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21295C"/>
                </a:solidFill>
                <a:latin typeface="Arial"/>
              </a:rPr>
              <a:t>· AI augmentation — да; AI prediction 100 лет — нет.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943600"/>
            <a:ext cx="11274552" cy="502920"/>
          </a:xfrm>
          <a:prstGeom prst="roundRect">
            <a:avLst>
              <a:gd name="adj" fmla="val 8000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016752"/>
            <a:ext cx="1090879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Inverse atmospheric problem на 100-летнем horizon = AI hallucination easy. Physics-informed neural networks (PINN) — research-grade, не commercial.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>
                <a:solidFill>
                  <a:srgbClr val="21295C"/>
                </a:solidFill>
                <a:latin typeface="Arial"/>
              </a:rPr>
              <a:t>Refinery plant-wide stagnation = Q4 структурная проблема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1C7293"/>
                </a:solidFill>
                <a:latin typeface="Arial"/>
              </a:rPr>
              <a:t>Multi-physics (mass + energy + reaction + corrosion) ломает ML-суррогаты на edge cases.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91640"/>
            <a:ext cx="5029200" cy="406908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33-honeywe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374264"/>
            <a:ext cx="4754880" cy="265811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557784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7685"/>
                </a:solidFill>
                <a:latin typeface="Arial"/>
              </a:rPr>
              <a:t>Honeywell Process Solutions · 2025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0" y="1691640"/>
            <a:ext cx="6062472" cy="406908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0" y="1783080"/>
            <a:ext cx="576072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65A82"/>
                </a:solidFill>
                <a:latin typeface="Arial"/>
              </a:rPr>
              <a:t>Yokogawa Idemitsu case: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· 2018+: single-column distillation pilot — success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C0392B"/>
                </a:solidFill>
                <a:latin typeface="Arial"/>
              </a:rPr>
              <a:t>· Plant-wide пилот → тихо закрыт [VFY-day-of]</a:t>
            </a:r>
          </a:p>
          <a:p>
            <a:pPr algn="l">
              <a:lnSpc>
                <a:spcPct val="125000"/>
              </a:lnSpc>
            </a:pPr>
            <a:r>
              <a:rPr sz="600" b="0" i="0">
                <a:solidFill>
                  <a:srgbClr val="21295C"/>
                </a:solidFill>
                <a:latin typeface="Arial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65A82"/>
                </a:solidFill>
                <a:latin typeface="Arial"/>
              </a:rPr>
              <a:t>Многоюнитная координация: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· 100+ units в типичном НПЗ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· Mass + energy + reaction + corrosion = 4 physics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· ML суррогат breaks на feedstock shift, season swing</a:t>
            </a:r>
          </a:p>
          <a:p>
            <a:pPr algn="l">
              <a:lnSpc>
                <a:spcPct val="125000"/>
              </a:lnSpc>
            </a:pPr>
            <a:r>
              <a:rPr sz="600" b="0" i="0">
                <a:solidFill>
                  <a:srgbClr val="21295C"/>
                </a:solidFill>
                <a:latin typeface="Arial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65A82"/>
                </a:solidFill>
                <a:latin typeface="Arial"/>
              </a:rPr>
              <a:t>Field life vs ML decay:</a:t>
            </a:r>
          </a:p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1C7293"/>
                </a:solidFill>
                <a:latin typeface="Arial"/>
              </a:rPr>
              <a:t>40-50 лет field life</a:t>
            </a:r>
          </a:p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F0AB00"/>
                </a:solidFill>
                <a:latin typeface="Arial"/>
              </a:rPr>
              <a:t>vs 1-2 года ML model decay</a:t>
            </a:r>
          </a:p>
          <a:p>
            <a:pPr algn="l">
              <a:lnSpc>
                <a:spcPct val="125000"/>
              </a:lnSpc>
            </a:pPr>
            <a:r>
              <a:rPr sz="1100" b="0" i="1">
                <a:solidFill>
                  <a:srgbClr val="21295C"/>
                </a:solidFill>
                <a:latin typeface="Arial"/>
              </a:rPr>
              <a:t>Retraining cost &gt; benefit на edge cases.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943600"/>
            <a:ext cx="11274552" cy="502920"/>
          </a:xfrm>
          <a:prstGeom prst="roundRect">
            <a:avLst>
              <a:gd name="adj" fmla="val 8000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016752"/>
            <a:ext cx="1090879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Это не Q1 failure — это Q4-структурный. Multi-physics + long horizon + frequent retraining = ML-суррогат не выживает.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>
                <a:solidFill>
                  <a:srgbClr val="21295C"/>
                </a:solidFill>
                <a:latin typeface="Arial"/>
              </a:rPr>
              <a:t>Альтернатива Q4: classical engineering + deterministic safety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1C7293"/>
                </a:solidFill>
                <a:latin typeface="Arial"/>
              </a:rPr>
              <a:t>3 категории. Для regulatory submissions — physics-traceable mandatory. AI не accept.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91640"/>
            <a:ext cx="3703320" cy="41148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2540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691640"/>
            <a:ext cx="3703320" cy="77724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91640"/>
            <a:ext cx="34290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Arial"/>
              </a:rPr>
              <a:t>Physics для CCS / геомеханики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06040"/>
            <a:ext cx="3337560" cy="3063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Eclipse / INTERSECT / CMG GEM /
Visage / Abaqus / Plaxis.
Plume migration 100 лет — physics-based mandatory.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59" y="1691640"/>
            <a:ext cx="3703320" cy="41148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254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51959" y="1691640"/>
            <a:ext cx="3703320" cy="77724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1691640"/>
            <a:ext cx="34290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Arial"/>
              </a:rPr>
              <a:t>Classical APC для refinery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606040"/>
            <a:ext cx="3337560" cy="3063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Honeywell Profit Controller /
Emerson DeltaV / AspenTech aspenONE.
MPC + RTO — proven 30 лет, не AI.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9" y="1691640"/>
            <a:ext cx="3703320" cy="41148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2540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19" y="1691640"/>
            <a:ext cx="3703320" cy="777240"/>
          </a:xfrm>
          <a:prstGeom prst="rect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79" y="1691640"/>
            <a:ext cx="34290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Arial"/>
              </a:rPr>
              <a:t>SIS для safety-critical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9" y="2606040"/>
            <a:ext cx="3337560" cy="3063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SIL3/SIL4 по IEC 61511.
3oo2 voting + periodic proof tests.
ML НЕ сертифицируется.
Deepwater Horizon 2010 — alarm bypass anchor.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943600"/>
            <a:ext cx="11274552" cy="502920"/>
          </a:xfrm>
          <a:prstGeom prst="roundRect">
            <a:avLst>
              <a:gd name="adj" fmla="val 8000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6016752"/>
            <a:ext cx="1090879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SIL3 = 0,001–0,0001 PFD (probability of failure on demand). ML модель не воспроизводимо проверяемая под IEC 61511. Engineering rule.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1564930" cy="292608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"/>
            <a:ext cx="156493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6B7685"/>
                </a:solidFill>
                <a:latin typeface="Arial"/>
              </a:rPr>
              <a:t>1. Keystone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2067850" y="182880"/>
            <a:ext cx="1564930" cy="292608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67850" y="219456"/>
            <a:ext cx="156493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6B7685"/>
                </a:solidFill>
                <a:latin typeface="Arial"/>
              </a:rPr>
              <a:t>2. Q1 Mature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78500" y="182880"/>
            <a:ext cx="1564930" cy="292608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78500" y="219456"/>
            <a:ext cx="156493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6B7685"/>
                </a:solidFill>
                <a:latin typeface="Arial"/>
              </a:rPr>
              <a:t>3. Q3 Frontier</a:t>
            </a:r>
          </a:p>
        </p:txBody>
      </p:sp>
      <p:sp>
        <p:nvSpPr>
          <p:cNvPr id="8" name="Rectangle 7"/>
          <p:cNvSpPr/>
          <p:nvPr/>
        </p:nvSpPr>
        <p:spPr>
          <a:xfrm>
            <a:off x="5289150" y="182880"/>
            <a:ext cx="1564930" cy="292608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89150" y="219456"/>
            <a:ext cx="156493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6B7685"/>
                </a:solidFill>
                <a:latin typeface="Arial"/>
              </a:rPr>
              <a:t>4. Q2 Methane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99801" y="182880"/>
            <a:ext cx="1564930" cy="292608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99801" y="219456"/>
            <a:ext cx="156493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6B7685"/>
                </a:solidFill>
                <a:latin typeface="Arial"/>
              </a:rPr>
              <a:t>5. Q4 Transition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10451" y="182880"/>
            <a:ext cx="1564930" cy="292608"/>
          </a:xfrm>
          <a:prstGeom prst="rect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10451" y="219456"/>
            <a:ext cx="156493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21295C"/>
                </a:solidFill>
                <a:latin typeface="Arial"/>
              </a:rPr>
              <a:t>6. Россия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121101" y="182880"/>
            <a:ext cx="1564930" cy="292608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21101" y="219456"/>
            <a:ext cx="156493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6B7685"/>
                </a:solidFill>
                <a:latin typeface="Arial"/>
              </a:rPr>
              <a:t>7. Сквозные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0080"/>
            <a:ext cx="11274552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21295C"/>
                </a:solidFill>
                <a:latin typeface="Arial"/>
              </a:rPr>
              <a:t>Россия — sanctions, insourcing, vertical integration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137160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1C7293"/>
                </a:solidFill>
                <a:latin typeface="Arial"/>
              </a:rPr>
              <a:t>По 4 квадрантам keystone-матрицы. После марта 2022 — структурный shift.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1828800"/>
            <a:ext cx="5486400" cy="18288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2540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1828800"/>
            <a:ext cx="137160" cy="18288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192024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Q1 Mature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2377440"/>
            <a:ext cx="51206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Роснефть Digital Field
на Башнефть Илишевское
+1 Mt/год нефти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0" y="1828800"/>
            <a:ext cx="5486400" cy="18288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254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26480" y="1828800"/>
            <a:ext cx="137160" cy="18288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192024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Q3 Frontier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377440"/>
            <a:ext cx="51206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Газпром нефть Cognitive Geo
с IBM Research Brazil 2019–2022
→ internal post-IBM exit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3840480"/>
            <a:ext cx="5486400" cy="18288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254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3840480"/>
            <a:ext cx="137160" cy="182880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393192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Q2 Methane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389120"/>
            <a:ext cx="51206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EU 2024/1787 не применяется
компаниям РФ через imports
compliance с 2027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26480" y="3840480"/>
            <a:ext cx="5486400" cy="18288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2540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26480" y="3840480"/>
            <a:ext cx="137160" cy="1828800"/>
          </a:xfrm>
          <a:prstGeom prst="rect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393192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Q4 Transition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4389120"/>
            <a:ext cx="51206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CCS / EGS — ограниченные
пилоты. Sanctions blockуют
closed-loop AI infrastructure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5943600"/>
            <a:ext cx="11274552" cy="502920"/>
          </a:xfrm>
          <a:prstGeom prst="roundRect">
            <a:avLst>
              <a:gd name="adj" fmla="val 8000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6016752"/>
            <a:ext cx="1090879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Vertical integration — необходимость, не выбор. Российский путь ближе к Sinopec / CNOOC, чем к Aramco / ExxonMobil vendor-based.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>
                <a:solidFill>
                  <a:srgbClr val="21295C"/>
                </a:solidFill>
                <a:latin typeface="Arial"/>
              </a:rPr>
              <a:t>Газпром нефть Cognitive Geologist — flagship российский Q3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1C7293"/>
                </a:solidFill>
                <a:latin typeface="Arial"/>
              </a:rPr>
              <a:t>С IBM Research Brazil 2019–2022 → internal development после ухода IBM. Survived where BP+Beyond Limits + IBM+Repsol failed.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91640"/>
            <a:ext cx="5486400" cy="41148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521208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65A82"/>
                </a:solidFill>
                <a:latin typeface="Arial"/>
              </a:rPr>
              <a:t>Метрики Cognitive Geo:</a:t>
            </a:r>
          </a:p>
          <a:p>
            <a:pPr algn="l">
              <a:lnSpc>
                <a:spcPct val="125000"/>
              </a:lnSpc>
            </a:pPr>
            <a:r>
              <a:rPr sz="600" b="0" i="0">
                <a:solidFill>
                  <a:srgbClr val="21295C"/>
                </a:solidFill>
                <a:latin typeface="Arial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21295C"/>
                </a:solidFill>
                <a:latin typeface="Arial"/>
              </a:rPr>
              <a:t>Геология цикл:</a:t>
            </a:r>
          </a:p>
          <a:p>
            <a:pPr algn="l">
              <a:lnSpc>
                <a:spcPct val="125000"/>
              </a:lnSpc>
            </a:pPr>
            <a:r>
              <a:rPr sz="2200" b="1" i="0">
                <a:solidFill>
                  <a:srgbClr val="F0AB00"/>
                </a:solidFill>
                <a:latin typeface="Arial"/>
              </a:rPr>
              <a:t>3-4 месяца → минуты</a:t>
            </a:r>
          </a:p>
          <a:p>
            <a:pPr algn="l">
              <a:lnSpc>
                <a:spcPct val="125000"/>
              </a:lnSpc>
            </a:pPr>
            <a:r>
              <a:rPr sz="600" b="0" i="0">
                <a:solidFill>
                  <a:srgbClr val="21295C"/>
                </a:solidFill>
                <a:latin typeface="Arial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21295C"/>
                </a:solidFill>
                <a:latin typeface="Arial"/>
              </a:rPr>
              <a:t>Ямал 2024: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· First oil из нового поля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· Cut twofold время до first oil</a:t>
            </a:r>
          </a:p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· +40% projects к 2030 (target)</a:t>
            </a:r>
          </a:p>
          <a:p>
            <a:pPr algn="l">
              <a:lnSpc>
                <a:spcPct val="125000"/>
              </a:lnSpc>
            </a:pPr>
            <a:r>
              <a:rPr sz="600" b="0" i="0">
                <a:solidFill>
                  <a:srgbClr val="21295C"/>
                </a:solidFill>
                <a:latin typeface="Arial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065A82"/>
                </a:solidFill>
                <a:latin typeface="Arial"/>
              </a:rPr>
              <a:t>Структурный success:</a:t>
            </a:r>
          </a:p>
          <a:p>
            <a:pPr algn="l">
              <a:lnSpc>
                <a:spcPct val="125000"/>
              </a:lnSpc>
            </a:pPr>
            <a:r>
              <a:rPr sz="1100" b="0" i="1">
                <a:solidFill>
                  <a:srgbClr val="21295C"/>
                </a:solidFill>
                <a:latin typeface="Arial"/>
              </a:rPr>
              <a:t>Узкая задача (seismic preview) + measurable baseline (months → minutes) + senior expert QC.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91640"/>
            <a:ext cx="5605272" cy="41148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1783080"/>
            <a:ext cx="5330952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65A82"/>
                </a:solidFill>
                <a:latin typeface="Arial"/>
              </a:rPr>
              <a:t>AIQ partnership: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· ADNOC + G42 + Presight joint venture</a:t>
            </a:r>
          </a:p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· AIQ оценка ~$1,4 млрд+ (2025)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· Aramco + Groq sister AI deal</a:t>
            </a:r>
          </a:p>
          <a:p>
            <a:pPr algn="l">
              <a:lnSpc>
                <a:spcPct val="125000"/>
              </a:lnSpc>
            </a:pPr>
            <a:r>
              <a:rPr sz="600" b="0" i="0">
                <a:solidFill>
                  <a:srgbClr val="21295C"/>
                </a:solidFill>
                <a:latin typeface="Arial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065A82"/>
                </a:solidFill>
                <a:latin typeface="Arial"/>
              </a:rPr>
              <a:t>Контраст с failures: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· BP + Beyond Limits — single vendor + cognitive overpromise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· IBM + Repsol — general-purpose в narrow domain</a:t>
            </a:r>
          </a:p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21295C"/>
                </a:solidFill>
                <a:latin typeface="Arial"/>
              </a:rPr>
              <a:t>· Cognitive Geo — narrow task + custom + senior QC = успех.</a:t>
            </a:r>
          </a:p>
          <a:p>
            <a:pPr algn="l">
              <a:lnSpc>
                <a:spcPct val="125000"/>
              </a:lnSpc>
            </a:pPr>
            <a:r>
              <a:rPr sz="600" b="0" i="0">
                <a:solidFill>
                  <a:srgbClr val="21295C"/>
                </a:solidFill>
                <a:latin typeface="Arial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F0AB00"/>
                </a:solidFill>
                <a:latin typeface="Arial"/>
              </a:rPr>
              <a:t>Caveat:</a:t>
            </a:r>
          </a:p>
          <a:p>
            <a:pPr algn="l">
              <a:lnSpc>
                <a:spcPct val="125000"/>
              </a:lnSpc>
            </a:pPr>
            <a:r>
              <a:rPr sz="1100" b="0" i="1">
                <a:solidFill>
                  <a:srgbClr val="21295C"/>
                </a:solidFill>
                <a:latin typeface="Arial"/>
              </a:rPr>
              <a:t>Российские KPI = self-reported. Тот же caveat что Aramco.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943600"/>
            <a:ext cx="11274552" cy="502920"/>
          </a:xfrm>
          <a:prstGeom prst="roundRect">
            <a:avLst>
              <a:gd name="adj" fmla="val 8000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016752"/>
            <a:ext cx="1090879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Структурный паттерн success Q3: узкая задача + measurable baseline + senior expert QC. Anthropomorphic framing («AI имитирует геолога») = красный флаг.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21295C"/>
                </a:solidFill>
                <a:latin typeface="Arial"/>
              </a:rPr>
              <a:t>Российский Q1: flagship + средний эшелон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1C7293"/>
                </a:solidFill>
                <a:latin typeface="Arial"/>
              </a:rPr>
              <a:t>Disclosure gap structural — корпоративные пресс-релизы вместо SEC 10-K mandatory.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91640"/>
            <a:ext cx="5486400" cy="41148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691640"/>
            <a:ext cx="5486400" cy="50292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91640"/>
            <a:ext cx="5212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Arial"/>
              </a:rPr>
              <a:t>Роснефть Digital Field детально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5120640" cy="342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065A82"/>
                </a:solidFill>
                <a:latin typeface="Arial"/>
              </a:rPr>
              <a:t>Башнефть Илишевское flagship: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· 23 продукта (10 коммерциализованных)</a:t>
            </a:r>
          </a:p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· +1 Mt/год дополнительной нефти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· ~1 млрд ₽/год эффект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· +60% удалённо управляемых объектов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· +5% энергоэффективности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· −5% логистики</a:t>
            </a:r>
          </a:p>
          <a:p>
            <a:pPr algn="l">
              <a:lnSpc>
                <a:spcPct val="125000"/>
              </a:lnSpc>
            </a:pPr>
            <a:r>
              <a:rPr sz="600" b="0" i="0">
                <a:solidFill>
                  <a:srgbClr val="21295C"/>
                </a:solidFill>
                <a:latin typeface="Arial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065A82"/>
                </a:solidFill>
                <a:latin typeface="Arial"/>
              </a:rPr>
              <a:t>Структурный путь: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· Roxar (Schlumberger) ушёл 2022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· Internal development = только путь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91640"/>
            <a:ext cx="5605272" cy="41148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26480" y="1691640"/>
            <a:ext cx="5605272" cy="50292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691640"/>
            <a:ext cx="533095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Arial"/>
              </a:rPr>
              <a:t>Татнефть · ЛУКОЙЛ · Сургутнефтегаз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331720"/>
            <a:ext cx="5330952" cy="342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65A82"/>
                </a:solidFill>
                <a:latin typeface="Arial"/>
              </a:rPr>
              <a:t>Татнефть: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· АнтиХрупкий программа (resilience-driven)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· Нижнекамск НПЗ — partial AI deployment</a:t>
            </a:r>
          </a:p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21295C"/>
                </a:solidFill>
                <a:latin typeface="Arial"/>
              </a:rPr>
              <a:t>· Public disclosure ограничен</a:t>
            </a:r>
          </a:p>
          <a:p>
            <a:pPr algn="l">
              <a:lnSpc>
                <a:spcPct val="120000"/>
              </a:lnSpc>
            </a:pPr>
            <a:r>
              <a:rPr sz="600" b="0" i="0">
                <a:solidFill>
                  <a:srgbClr val="21295C"/>
                </a:solidFill>
                <a:latin typeface="Arial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65A82"/>
                </a:solidFill>
                <a:latin typeface="Arial"/>
              </a:rPr>
              <a:t>ЛУКОЙЛ: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· Волго-Урал — internal teams без vendor</a:t>
            </a:r>
          </a:p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21295C"/>
                </a:solidFill>
                <a:latin typeface="Arial"/>
              </a:rPr>
              <a:t>· No detailed KPI публично</a:t>
            </a:r>
          </a:p>
          <a:p>
            <a:pPr algn="l">
              <a:lnSpc>
                <a:spcPct val="120000"/>
              </a:lnSpc>
            </a:pPr>
            <a:r>
              <a:rPr sz="600" b="0" i="0">
                <a:solidFill>
                  <a:srgbClr val="21295C"/>
                </a:solidFill>
                <a:latin typeface="Arial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65A82"/>
                </a:solidFill>
                <a:latin typeface="Arial"/>
              </a:rPr>
              <a:t>Сургутнефтегаз: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· Cognitive Pilot + Sberbank ecosystem</a:t>
            </a:r>
          </a:p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21295C"/>
                </a:solidFill>
                <a:latin typeface="Arial"/>
              </a:rPr>
              <a:t>· Conservative disclosure</a:t>
            </a:r>
          </a:p>
          <a:p>
            <a:pPr algn="l">
              <a:lnSpc>
                <a:spcPct val="120000"/>
              </a:lnSpc>
            </a:pPr>
            <a:r>
              <a:rPr sz="600" b="0" i="0">
                <a:solidFill>
                  <a:srgbClr val="21295C"/>
                </a:solidFill>
                <a:latin typeface="Arial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0AB00"/>
                </a:solidFill>
                <a:latin typeface="Arial"/>
              </a:rPr>
              <a:t>Structural gap: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Без mandatory SEC-style reporting — оценка только qualitative.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943600"/>
            <a:ext cx="11274552" cy="502920"/>
          </a:xfrm>
          <a:prstGeom prst="roundRect">
            <a:avLst>
              <a:gd name="adj" fmla="val 8000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6016752"/>
            <a:ext cx="1090879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Российский Q1 working pattern: NOC + internal teams + узкая задача + measurable baseline. Vendor dependency = риск (Roxar exit 2022).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21295C"/>
                </a:solidFill>
                <a:latin typeface="Arial"/>
              </a:rPr>
              <a:t>Ransomware на нефтегаз +935% год к году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1C7293"/>
                </a:solidFill>
                <a:latin typeface="Arial"/>
              </a:rPr>
              <a:t>Zscaler ThreatLabz 2025 report. Counter-trend AI-расширения — безопасность phase 1, не phase 4.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91640"/>
            <a:ext cx="5486400" cy="41148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37-cyber-9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42160"/>
            <a:ext cx="5120640" cy="341375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126480" y="1691640"/>
            <a:ext cx="5605272" cy="41148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1783080"/>
            <a:ext cx="5330952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65A82"/>
                </a:solidFill>
                <a:latin typeface="Arial"/>
              </a:rPr>
              <a:t>Colonial Pipeline 2021 anchor: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· VPN account без MFA — единый entry point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· DarkSide ransomware → 6 дней shutdown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· 50% Восточно-побережной топливной поставки</a:t>
            </a:r>
          </a:p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· $4,4M ransom paid (часть recovered)</a:t>
            </a:r>
          </a:p>
          <a:p>
            <a:pPr algn="l">
              <a:lnSpc>
                <a:spcPct val="125000"/>
              </a:lnSpc>
            </a:pPr>
            <a:r>
              <a:rPr sz="600" b="0" i="0">
                <a:solidFill>
                  <a:srgbClr val="21295C"/>
                </a:solidFill>
                <a:latin typeface="Arial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065A82"/>
                </a:solidFill>
                <a:latin typeface="Arial"/>
              </a:rPr>
              <a:t>Защитные AI alternatives: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· Dragos OT security platform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· Claroty + Nozomi Networks SCADA monitoring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· Cisco SecureX, CrowdStrike Falcon</a:t>
            </a:r>
          </a:p>
          <a:p>
            <a:pPr algn="l">
              <a:lnSpc>
                <a:spcPct val="125000"/>
              </a:lnSpc>
            </a:pPr>
            <a:r>
              <a:rPr sz="600" b="0" i="0">
                <a:solidFill>
                  <a:srgbClr val="21295C"/>
                </a:solidFill>
                <a:latin typeface="Arial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F0AB00"/>
                </a:solidFill>
                <a:latin typeface="Arial"/>
              </a:rPr>
              <a:t>Counter-trend insight:</a:t>
            </a:r>
          </a:p>
          <a:p>
            <a:pPr algn="l">
              <a:lnSpc>
                <a:spcPct val="125000"/>
              </a:lnSpc>
            </a:pPr>
            <a:r>
              <a:rPr sz="1100" b="0" i="1">
                <a:solidFill>
                  <a:srgbClr val="21295C"/>
                </a:solidFill>
                <a:latin typeface="Arial"/>
              </a:rPr>
              <a:t>AI расширяет attack surface. Defensive AI (anomaly detection) — необходим, но недостаточен.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943600"/>
            <a:ext cx="11274552" cy="502920"/>
          </a:xfrm>
          <a:prstGeom prst="roundRect">
            <a:avLst>
              <a:gd name="adj" fmla="val 8000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016752"/>
            <a:ext cx="1090879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Безопасность — phase 1 (perimeter + MFA + segmentation), НЕ phase 4 (AI-defense overlay). Сначала basics, потом AI.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>
                <a:solidFill>
                  <a:srgbClr val="21295C"/>
                </a:solidFill>
                <a:latin typeface="Arial"/>
              </a:rPr>
              <a:t>Industry cyclicality &gt; AI hype cycle. Deepwater Horizon = anchor.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1C7293"/>
                </a:solidFill>
                <a:latin typeface="Arial"/>
              </a:rPr>
              <a:t>2020 crash 107k jobs за 6 мес + Deepwater Horizon 2010 — два cross-cutting anchor.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91640"/>
            <a:ext cx="5486400" cy="41148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691640"/>
            <a:ext cx="5486400" cy="50292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91640"/>
            <a:ext cx="5212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Arial"/>
              </a:rPr>
              <a:t>2020 oil crash</a:t>
            </a:r>
          </a:p>
        </p:txBody>
      </p:sp>
      <p:pic>
        <p:nvPicPr>
          <p:cNvPr id="7" name="Picture 6" descr="s38-2020-cr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40" y="2286000"/>
            <a:ext cx="3017520" cy="2011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4343400"/>
            <a:ext cx="52120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F0AB00"/>
                </a:solidFill>
                <a:latin typeface="Arial"/>
              </a:rPr>
              <a:t>107 000 jobs lost за 6 мес = 9,7% индустрии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· WTI futures: -$37 (negative) на короткое время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· AI программы заморожены на 18-24 мес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· Job market не восстановился полностью к 2024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691640"/>
            <a:ext cx="5605272" cy="41148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0" y="1691640"/>
            <a:ext cx="5605272" cy="5029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691640"/>
            <a:ext cx="533095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Arial"/>
              </a:rPr>
              <a:t>Deepwater Horizon 2010</a:t>
            </a:r>
          </a:p>
        </p:txBody>
      </p:sp>
      <p:pic>
        <p:nvPicPr>
          <p:cNvPr id="12" name="Picture 11" descr="wm-deepwater-horizon-oil-spil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706" y="2286000"/>
            <a:ext cx="2616819" cy="20116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63640" y="4343400"/>
            <a:ext cx="533095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F0AB00"/>
                </a:solidFill>
                <a:latin typeface="Arial"/>
              </a:rPr>
              <a:t>11 deaths + $60 млрд = 20% годовой выручки BP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· Macondo well blowout — Gulf of Mexico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· BOP (противовыбросовый превентор) failure</a:t>
            </a:r>
          </a:p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21295C"/>
                </a:solidFill>
                <a:latin typeface="Arial"/>
              </a:rPr>
              <a:t>· Alarm bypass culture (Andrea Fleytas testimony)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943600"/>
            <a:ext cx="11274552" cy="502920"/>
          </a:xfrm>
          <a:prstGeom prst="roundRect">
            <a:avLst>
              <a:gd name="adj" fmla="val 8000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6016752"/>
            <a:ext cx="1090879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AI roadmap должен stress-test индустриальный цикл и культуру обхода тревог (Alert fatigue → alarm bypass — тот же паттерн на 2 разных шкалах).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>
                <a:solidFill>
                  <a:srgbClr val="21295C"/>
                </a:solidFill>
                <a:latin typeface="Arial"/>
              </a:rPr>
              <a:t>4-квадрантный синтез: 10 documented failures + working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1C7293"/>
                </a:solidFill>
                <a:latin typeface="Arial"/>
              </a:rPr>
              <a:t>Возврат к keystone-матрице. AI в нефтегазе — не одна история, а четыре.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91640"/>
            <a:ext cx="5486400" cy="201168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3175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691640"/>
            <a:ext cx="5486400" cy="36576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9164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Q2 Methane — AI essential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48840"/>
            <a:ext cx="51206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21295C"/>
                </a:solidFill>
                <a:latin typeface="Arial"/>
              </a:rPr>
              <a:t>Работает:
· MethaneSAT (15,5 мес до loss)
· Carbon Mapper Tanager-1
· GHGSat 13-constellation
· Bridger aerial LiDAR
Провалы (2):
· MethaneSAT loss 20 июня 2025
· 4× discrepancy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91640"/>
            <a:ext cx="5486400" cy="201168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3175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26480" y="1691640"/>
            <a:ext cx="5486400" cy="3657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69164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Q1 Mature — AI мультипликатор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148840"/>
            <a:ext cx="51206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21295C"/>
                </a:solidFill>
                <a:latin typeface="Arial"/>
              </a:rPr>
              <a:t>Работает:
· Ambyint +15% / 200 wells
· Honeywell UOP 310+ units
· Роснефть Digital Field +1 Mt/год
Провалы (2):
· 86% pilot stuck
· Aspen Mtell alert fatigue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840480"/>
            <a:ext cx="5486400" cy="201168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317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840480"/>
            <a:ext cx="5486400" cy="365760"/>
          </a:xfrm>
          <a:prstGeom prst="rect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84048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Q4 Transition — struggle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297680"/>
            <a:ext cx="51206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21295C"/>
                </a:solidFill>
                <a:latin typeface="Arial"/>
              </a:rPr>
              <a:t>Работает (limited):
· Northern Lights 1,5 Mt/год
· Fervo IPO $1,89B
Провалы (2):
· CCS 190× scale-up gap
· Refinery plant-wide stagnation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3840480"/>
            <a:ext cx="5486400" cy="201168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317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3840480"/>
            <a:ext cx="5486400" cy="36576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384048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Q3 Frontier — physics-first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4297680"/>
            <a:ext cx="51206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21295C"/>
                </a:solidFill>
                <a:latin typeface="Arial"/>
              </a:rPr>
              <a:t>Работает:
· Eni HPC6 / Aramco METABRAIN
· SLB Lumi / ExxonMobil Discovery 6
· Газпром Cognitive Geo
Провалы (2):
· BP+Beyond Limits 7 лет 0
· IBM+Repsol Kalimba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943600"/>
            <a:ext cx="11274552" cy="502920"/>
          </a:xfrm>
          <a:prstGeom prst="roundRect">
            <a:avLst>
              <a:gd name="adj" fmla="val 8000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6016752"/>
            <a:ext cx="1090879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Когда работает: Q1 multiplier + Q2 essential. Когда осторожно: Q3 augmentation. Когда опасно: Q4 long-horizon + safety-critical SIS.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21295C"/>
                </a:solidFill>
                <a:latin typeface="Arial"/>
              </a:rPr>
              <a:t>3 cornerstone концепта — bridge к Лекции 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1C7293"/>
                </a:solidFill>
                <a:latin typeface="Arial"/>
              </a:rPr>
              <a:t>Каждый — portable на любую следующую отрасль, не только нефтегаз.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91640"/>
            <a:ext cx="11274552" cy="141732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2540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94360" y="1965960"/>
            <a:ext cx="822960" cy="82296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965960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99029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21295C"/>
                </a:solidFill>
                <a:latin typeface="Arial"/>
              </a:rPr>
              <a:t>AI judgment как структурная задача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331720"/>
            <a:ext cx="99029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Главный навык — не «как запустить AI», а «как определить, применим ли». Для нефтегаза: 2×2 matrix данные × физика. Для любой отрасли: 2-3-мерная таксономия. Без диагностики AI = азартная ставка.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200400"/>
            <a:ext cx="11274552" cy="141732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254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94360" y="3474720"/>
            <a:ext cx="822960" cy="82296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474720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3337560"/>
            <a:ext cx="99029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21295C"/>
                </a:solidFill>
                <a:latin typeface="Arial"/>
              </a:rPr>
              <a:t>Альтернатива-как-исходный уровень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840480"/>
            <a:ext cx="99029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Каждое AI-внедрение имеет параллельный не-AI вариант. Для нефтегаза 6 категорий: Eclipse, Picarro, OGI, classical APC, SIS, federated learning. AI добавляется ТОЛЬКО если улучшает baseline.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709160"/>
            <a:ext cx="11274552" cy="141732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2540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94360" y="4983480"/>
            <a:ext cx="822960" cy="822960"/>
          </a:xfrm>
          <a:prstGeom prst="ellipse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4983480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4846320"/>
            <a:ext cx="99029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21295C"/>
                </a:solidFill>
                <a:latin typeface="Arial"/>
              </a:rPr>
              <a:t>Industry cyclicality &gt; AI hype cycle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5349240"/>
            <a:ext cx="99029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2020 oil crash: 107k jobs за 6 мес → AI заморожены 18-24 мес. AI-roadmap должен иметь stress-tested устойчивость против отраслевого цикла. AI не защищает — он эффект усиления.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6126480"/>
            <a:ext cx="11274552" cy="502920"/>
          </a:xfrm>
          <a:prstGeom prst="roundRect">
            <a:avLst>
              <a:gd name="adj" fmla="val 8000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6199632"/>
            <a:ext cx="1090879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Эти три cornerstone — переносимые диагностические инструменты. Лекция 17 — systematization: keystone'ы L11-L16 как universal patterns.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21295C"/>
                </a:solidFill>
                <a:latin typeface="Arial"/>
              </a:rPr>
              <a:t>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1C7293"/>
                </a:solidFill>
                <a:latin typeface="Arial"/>
              </a:rPr>
              <a:t>3 ключевых вопроса для exit ticket — обсуждаем в малых группах, потом общий слайд.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11274552" cy="128016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254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1188720" cy="128016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194560"/>
            <a:ext cx="11887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 i="0">
                <a:solidFill>
                  <a:srgbClr val="FFFFFF"/>
                </a:solidFill>
                <a:latin typeface="Arial"/>
              </a:rPr>
              <a:t>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965960"/>
            <a:ext cx="9720072" cy="10058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Для какого квадранта матрицы данные × физика AI является ESSENTIAL (а не augmentation)? Конкретный case + почему классической физики недостаточно?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246120"/>
            <a:ext cx="11274552" cy="128016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254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3246120"/>
            <a:ext cx="1188720" cy="128016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611879"/>
            <a:ext cx="11887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 i="0">
                <a:solidFill>
                  <a:srgbClr val="FFFFFF"/>
                </a:solidFill>
                <a:latin typeface="Arial"/>
              </a:rPr>
              <a:t>Q2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383279"/>
            <a:ext cx="9720072" cy="10058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Приведите 2 documented failure из лекции + выученные уроки. (Любые 2 из 10: BP+Beyond Limits, IBM+Repsol, MethaneSAT loss, 86% pilot stuck, Aspen alert fatigue, 4× discrepancy, CCS 190× gap, refinery stagnation, 2020 crash, cyber +935%.)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663440"/>
            <a:ext cx="11274552" cy="128016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2540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4663440"/>
            <a:ext cx="1188720" cy="1280160"/>
          </a:xfrm>
          <a:prstGeom prst="rect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5029200"/>
            <a:ext cx="11887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 i="0">
                <a:solidFill>
                  <a:srgbClr val="FFFFFF"/>
                </a:solidFill>
                <a:latin typeface="Arial"/>
              </a:rPr>
              <a:t>Q3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4800600"/>
            <a:ext cx="9720072" cy="10058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Когда в нефтегазе НЕ применять AI — назовите 3 критерия с примерами из 6 на лекции.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6172200"/>
            <a:ext cx="11274552" cy="457200"/>
          </a:xfrm>
          <a:prstGeom prst="roundRect">
            <a:avLst>
              <a:gd name="adj" fmla="val 8000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6245352"/>
            <a:ext cx="1090879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Bonus для семинара: сравните Eni HPC6 ($104M, AMD, Italy) vs ExxonMobil Discovery 6 ($200-400M, NVIDIA, US) vs Aramco METABRAIN (250B params, internal Saudi).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42-methanes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18964"/>
            <a:ext cx="7132320" cy="42313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5349240"/>
            <a:ext cx="7132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7685"/>
                </a:solidFill>
                <a:latin typeface="Arial"/>
              </a:rPr>
              <a:t>EDF / MethaneSAT data via Google Earth Engine · февраль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0" y="457200"/>
            <a:ext cx="4206240" cy="502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21295C"/>
                </a:solidFill>
                <a:latin typeface="Arial"/>
              </a:rPr>
              <a:t>Спутник потерян —</a:t>
            </a:r>
          </a:p>
          <a:p>
            <a:pPr algn="l">
              <a:lnSpc>
                <a:spcPct val="120000"/>
              </a:lnSpc>
            </a:pPr>
            <a:r>
              <a:rPr sz="2600" b="1" i="0">
                <a:solidFill>
                  <a:srgbClr val="F0AB00"/>
                </a:solidFill>
                <a:latin typeface="Arial"/>
              </a:rPr>
              <a:t>карта осталась.</a:t>
            </a:r>
          </a:p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65A82"/>
                </a:solidFill>
                <a:latin typeface="Arial"/>
              </a:rPr>
              <a:t>Bittersweet payoff: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· 20 июня 2025 — потеря MethaneSAT</a:t>
            </a:r>
          </a:p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21295C"/>
                </a:solidFill>
                <a:latin typeface="Arial"/>
              </a:rPr>
              <a:t>· ~2 000 data files за 15,5 мес → retrospective inventory</a:t>
            </a:r>
          </a:p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21295C"/>
                </a:solidFill>
                <a:latin typeface="Arial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65A82"/>
                </a:solidFill>
                <a:latin typeface="Arial"/>
              </a:rPr>
              <a:t>Final framing:</a:t>
            </a:r>
          </a:p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AI в нефтегазе — это</a:t>
            </a:r>
          </a:p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21295C"/>
                </a:solidFill>
                <a:latin typeface="Arial"/>
              </a:rPr>
              <a:t>измеримый успех</a:t>
            </a:r>
          </a:p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0AB00"/>
                </a:solidFill>
                <a:latin typeface="Arial"/>
              </a:rPr>
              <a:t>+ структурная уязвимость</a:t>
            </a:r>
          </a:p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в одном кадре.</a:t>
            </a:r>
          </a:p>
          <a:p>
            <a:pPr algn="l">
              <a:lnSpc>
                <a:spcPct val="120000"/>
              </a:lnSpc>
            </a:pPr>
            <a:r>
              <a:rPr sz="600" b="0" i="0">
                <a:solidFill>
                  <a:srgbClr val="21295C"/>
                </a:solidFill>
                <a:latin typeface="Arial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21295C"/>
                </a:solidFill>
                <a:latin typeface="Arial"/>
              </a:rPr>
              <a:t>Хороший инженер строит portfolio reading, не single-quadrant.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5852160"/>
            <a:ext cx="11274552" cy="640080"/>
          </a:xfrm>
          <a:prstGeom prst="roundRect">
            <a:avLst>
              <a:gd name="adj" fmla="val 8000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25312"/>
            <a:ext cx="10908792" cy="502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Bridge к Лекции 17 — systematization. Keystone'ы L11–L16 как universal patterns.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