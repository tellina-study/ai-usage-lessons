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не stock illustration и не художественный рендер. Это реальный output computer-vision модели YOLOv8-OBB — Ultralytics, версия с поворачиваемыми bounding boxes — на снимке нефтепромысла с резервуарами-хранилищами. Каждый резервуар автоматически обведён повёрнутым прямоугольником, и для каждого — confidence score модели в правом верхнем углу.</a:t>
            </a:r>
            <a:br/>
            <a:br/>
            <a:r>
              <a:t>То, что вы видите на этом кадре — это не демо для конференций. Это уже production-grade computer-vision infrastructure, развёрнутая на сотнях промыслов по всему миру. Asset inventory без выезда инспектора. Оптимизация маршрута обхода. Anomaly detection — если резервуар внезапно поменял геометрию или цветовую сигнатуру, alert уходит оператору. Это узкая, верифицируемая, скучная задача — и в этом её сила.</a:t>
            </a:r>
            <a:br/>
            <a:br/>
            <a:r>
              <a:t>Зачем именно это на первом слайде. Потому что многие думают, что AI в нефтегазе — это про красивые demo с большими языковыми моделями типа Aramco METABRAIN на 250 миллиардов параметров. METABRAIN существует, и в 2024 году принёс компании 1,8 миллиарда долларов реализованной стоимости — но это 0,41 процента от 436-миллиардной выручки Aramco. Большая, видимая часть AI в нефтегазе — это узкие, верифицируемые, скучные computer-vision и time-series ML задачи на конкретных промыслах. Резервуары. Скважины. Метановые шлейфы со спутника.</a:t>
            </a:r>
            <a:br/>
            <a:br/>
            <a:r>
              <a:t>И в этом главный вопрос лекции, который мы вынесем на keystone-слайд: когда у нас есть данные и определены процессы — AI работает. Когда нет — он либо необходим как единственная альтернатива, либо, наоборот, опасен. На этой матрице построена вся лекция.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шестнадцатая лекция курса. Мы прошли пять отраслевых deep-dive: дискретное и процессное производство (Лекция 11), автоматизация и цифровые двойники (Лекция 12), логистика и транспорт (Лекция 13), телеком и кибербезопасность (Лекция 14), энергетика (Лекция 15). Сегодня — нефтегаз.</a:t>
            </a:r>
            <a:br/>
            <a:br/>
            <a:r>
              <a:t>Главный вопрос лекции: в каком квадранте матрицы данные × физика AI становится мультипликатором классических методов, а где он либо необходим, либо опасен. Мы будем разбирать конкретно — на материале десяти документированных провалов индустрии за период 2014–2026.</a:t>
            </a:r>
            <a:br/>
            <a:br/>
            <a:r>
              <a:t>Структура лекции: сначала вводим несущую ось — двумерную матрицу. Потом четыре раздела по квадрантам. Потом российский фрагмент. Потом сквозные риски — кибер и цикличность отрасли. И в конце — синтез и три опорный концепт концепта, которые перейдут в Лекцию 17.</a:t>
            </a:r>
            <a:br/>
            <a:br/>
            <a:r>
              <a:t>Курс работает на четыре learning outcomes: когда применять AI, когда отказаться, какие альтернативные инструменты использовать, и регуляторно-этический слой. Все четыре сегодня встретятся.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Сегодня семь разделов. Я их выкладываю не по value chain — не «разведка, бурение, добыча, транспорт, переработка», как принято в отраслевых справочниках. Я выкладываю по структуре AI-задачи: какие данные доступны и насколько определена физика. Это даёт четыре разных профиля AI, и для каждого — своя стратегия применения, свои рабочие кейсы, свои провалы.</a:t>
            </a:r>
            <a:br/>
            <a:br/>
            <a:r>
              <a:t>Сначала мы вводим саму матрицу — это несущая ось-слайд. Потом проходим по четырём квадрантам в логическом порядке. Q1 — зрелое производство, самый освоенный квадрант. Q3 — разведка фронтиров, самый data-беднейший. Q2 — метановая MRV, где AI необходим. Q4 — энергетический переход, самый честный квадрант. Потом российский фрагмент. Потом сквозные риски — кибер и нефтяной кризис 2020 года. И в конце — синтез плюс три опорный концепт концепта.</a:t>
            </a:r>
            <a:br/>
            <a:br/>
            <a:r>
              <a:t>Пять терминов вы будете слышать каждые несколько минут. MRV — это мониторинг, reporting, верификация: выявление, учёт, проверка эмиссий, в нашем случае метана. OGI — оптическая газовая визуализация, ИК-камера, видящая углеводородные газы. CCS — улавливание и подземное захоронение углекислого газа. EGS — улучшенные геотермальные системы. SIS — приборная система безопасности, сертифицированная по IEC 61511. Я буду напоминать.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несущая ось-слайд. Сюда мы будем возвращаться каждый раз, когда говорим про конкретный кейс. Две оси, четыре квадранта.</a:t>
            </a:r>
            <a:br/>
            <a:br/>
            <a:r>
              <a:t>Первая ось — доступность данных. Это вопрос: есть ли у вас достаточно размеченных примеров, чтобы обучить модель и чтобы она обобщалась на новые случаи? В зрелом месторождении Пермского бассейна — тысяча скважин, петабайты данных за 30 лет, данных много. В разведке нового бассейна — одна-пять разведочных скважин, данных структурно мало.</a:t>
            </a:r>
            <a:br/>
            <a:br/>
            <a:r>
              <a:t>Вторая ось — определённость процессов. Это вопрос: есть ли установившаяся численная модель, дающая эталонную разметку с известной точностью? Для пластовой симуляции — Eclipse, INTERSECT, CMG — процессы описаны с 1970-х, верифицированы тысячами проектов; определённость высокая. Для слияния спутник + аэро + дрон + ручная OGI-камера и атрибуции малой утечки к источнику — классического решения нет, процессы частично известны.</a:t>
            </a:r>
            <a:br/>
            <a:br/>
            <a:r>
              <a:t>Перекрестив две оси, получаем четыре квадранта. Q1 — зрелое производство, высокие данные плюс высокая определённость процессов — AI работает как мультипликатор классических методов; пример Ambyint InfinityRL даёт плюс пятнадцать процентов на двухстах скважинах. Q2 — метановая MRV, высокие данные но низкая определённость процессов — AI необходим, потому что классической альтернативы нет; MethaneSAT, Carbon Mapper, GHGSat. Q3 — разведка фронтиров, данных мало но процессы хорошо описаны — сначала физика, AI как дополнение; Aramco METABRAIN, Eni HPC6. Q4 — новые опоры (CCS + EGS), и данных мало, и процессы на длинных горизонтах не закрыты — AI и физика буксуют вместе; Northern Lights CCS, Fervo EGS.</a:t>
            </a:r>
            <a:br/>
            <a:br/>
            <a:r>
              <a:t>И главное внизу: за каждым AI-внедрением в нефтегазе стоит альтернативный инструмент. Это структурный признак отрасли, не дисклеймер. К этому мы вернёмся в Разделе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 число этого раздела — восемьдесят шесть процентов. По данным McKinsey 2024, такая доля AI-проектов в энергетике не выходит за пределы пилотной стадии. То есть после демонстрации на одном-двух объектах проект либо отменяется, либо переходит в режим «вечного пилота» без масштабирования.</a:t>
            </a:r>
            <a:br/>
            <a:br/>
            <a:r>
              <a:t>В кросс-индустриальном опросе McKinsey 2024 застряли в пилотной фазе примерно две трети AI-инициатив — около шестидесяти семи процентов. Энергетика — на восемнадцать процентных пунктов хуже среднего. То есть нефтегаз структурно хуже средней индустрии по разрыву между пилотом и промышленной эксплуатацией.</a:t>
            </a:r>
            <a:br/>
            <a:br/>
            <a:r>
              <a:t>DNV и Accenture в опросе 2024 года уточняют: только пятнадцать процентов специалистов нефтегаза говорят, что AI используется в их компании в ежедневной промышленной эксплуатации; только три процента — «глубокая интеграция».</a:t>
            </a:r>
            <a:br/>
            <a:br/>
            <a:r>
              <a:t>Пять структурных причин. Первое — данные: шестьдесят-восемьдесят процентов времени AI-проекта в нефтегазе уходит на очистку данных, не на моделирование. Второе — старая IT: стоимость интеграции с SCADA, MES, ERP обычно в три-пять раз превышает начальную стоимость самого AI-софта. Третье — дефицит кадров. Четвёртое — культура безопасности: бессмысленный AI — непринятый AI. Пятое — горизонт окупаемости: AI-вендоры предлагают окупаемость за двенадцать-восемнадцать месяцев, нефтегаз планирует на двадцать-тридцать лет; эти горизонты несовместимы.</a:t>
            </a:r>
            <a:br/>
            <a:br/>
            <a:r>
              <a:t>Главный урок здесь: восемьдесят шесть процентов не означает «AI плохой». Это значит «вертикаль не готова к AI промышленного уровня без серьёзной подготовительной работы по фундаменту данных».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Aspen Mtell — продукт AspenTech (приобретена Emerson за приблизительно семнадцать миллиардов долларов в марте 2025 года) для прогностического обслуживания. Идея: модель учится на сигналах с компрессоров, насосов, теплообменников; за дни-недели до отказа выдаёт сигнал тревоги. В кейс-стади вендора утверждается: «усталость операторов от ложных тревог устранена».</a:t>
            </a:r>
            <a:br/>
            <a:br/>
            <a:r>
              <a:t>Это маркетинговая формулировка. Усталость операторов от ложных тревог — фундаментальное свойство любой системы мониторинга, и его нельзя устранить, его можно только смягчить.</a:t>
            </a:r>
            <a:br/>
            <a:br/>
            <a:r>
              <a:t>Что реально происходит на нефтепереработке. Оператор крупного НПЗ получает от Aspen Mtell сотни сигналов тревоги в день — число варьируется от пятидесяти до пятисот в зависимости от размера завода и режима настройки. Реакция оператора — одна из трёх. Первое — перенастройка порогов в сторону менее чувствительной модели. Это переводит «усталость от тревог» в «пропущенные обнаружения». Второе — игнорирование. Когда из двухсот тревог в день сто девяносто пять ложные, оператор перестаёт их читать. Третье — эскалация в отдельную ML-команду, которая разбирает тревоги постфактум.</a:t>
            </a:r>
            <a:br/>
            <a:br/>
            <a:r>
              <a:t>Plant-wide stagnation. Узкие применения Aspen Mtell — одна колонна, один компрессор — работают, документировано. Plant-wide развёртывание буксует. Yokogawa объявила пилот общезаводской AI-управления на одном из НПЗ Idemitsu в Японии в 2018 году. общезаводской пилот тихо закрыт после 2018 года; в публичных материалах остались только узкие истории успеха.</a:t>
            </a:r>
            <a:br/>
            <a:br/>
            <a:r>
              <a:t>Главный урок: «устранили усталость от ложных тревог» — это маркетинг, не инженерное утверждение. Задача проектировщика — управлять иерархией тревог по стандарту ISA 18.2, не пытаться обмануть законы мониторинга.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Ambyint — канадский стартап, основан в Калгари в 2014 году. Серия B на двадцать пять миллионов долларов в 2022 году от Bessemer Venture Partners и Schlumberger Energy Ventures. Сфокусирован на оптимизации искусственного подъёма — это методы подъёма нефти из скважины с низким пластовым давлением: штанговый насос, электроцентробежный насос, газлифт. Продукт InfinityRL — система оптимизации на основе обучения с подкреплением.</a:t>
            </a:r>
            <a:br/>
            <a:br/>
            <a:r>
              <a:t>Кейс. Развёрнут на около двухстах скважинах в Пермском бассейне, Eagle Ford и Bakken — все US shale. Средняя прибавка к производительности — плюс пятнадцать процентов над per-well historical mean. Это означает: для типичной скважины Пермского бассейна с дебитом сто-пятьсот баррелей нефти в день — прибавка пятнадцать-семьдесят пять bopd на скважину. На двухстах скважинах — три-пятнадцать тысяч bopd дополнительной добычи.</a:t>
            </a:r>
            <a:br/>
            <a:br/>
            <a:r>
              <a:t>Почему это сильный кейс. Во-первых, цифра верифицируемая: Ambyint публикует её как «средняя по двумстам скважинам» с явным исходным уровнем — per-well historical mean. Это не «AI спас десять миллионов долларов» без знаменателя. Во-вторых, метод — обучение с подкреплением поверх классического штангового насоса, а не «AI заменяет штанговый насос». AI — мультипликатор, не замена. В-третьих, область применения узкая.</a:t>
            </a:r>
            <a:br/>
            <a:br/>
            <a:r>
              <a:t>Когда Ambyint не работает — это stripper wells, скважины с дебитом меньше десяти баррелей в день. Истощённая скважина даёт десять bopd; плюс пятнадцать процентов — это полтора bopd; стоимость развёртывания плюс переобучения больше извлечённой ценности. Здесь окупаемость отрицательная. Это структурный критерий, к которому мы вернёмся через четыре слайда.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Шесть вендоров Q1 в трёх группах. Понимание ландшафта — необходимое условие задачи.</a:t>
            </a:r>
            <a:br/>
            <a:br/>
            <a:r>
              <a:t>Группа первая — независимые ML-стартапы для производства. Ambyint мы только что разобрали. OspreyData, приобретён Mesquite Technologies в ноябре 2022 года — экспертно-усиленное машинное обучение для ESP, штанговых насосов, газлифта. Включён в Mesquite Taproot. Публичные KPI не раскрыты.</a:t>
            </a:r>
            <a:br/>
            <a:br/>
            <a:r>
              <a:t>Группа вторая — корпоративный уровень для крупных операторов. SLB Avocet — программное обеспечение для управления добычей с интегрированным ML с 2020-го года. Клиенты — нацкомпания и супермэйджоры. Конкретные KPI обычно не раскрываются. Halliburton DecisionSpace Production — аналог.</a:t>
            </a:r>
            <a:br/>
            <a:br/>
            <a:r>
              <a:t>Группа третья — нефтепереработка и трубопроводный сегмент. AspenTech Aspen Mtell мы разобрали в s07b. Honeywell UOP Connect — триста десять с лишним юнитов соединено на ста с лишним сайтах в 2024 году. Контекст: всего в мире около семисот НПЗ; сто сайтов — это около четырнадцати процентов мировой мощности нефтепереработки. План — семьсот пятьдесят с лишним юнитов в течение года, требует подтверждения. Yokogawa OpreX, ABB Ability Genix, Emerson DeltaV — конкуренты.</a:t>
            </a:r>
            <a:br/>
            <a:br/>
            <a:r>
              <a:t>Plus drilling subset. Nabors PACE-X — программа автоматизации бурения; самый длинный известный четырёхмильный — около шести с половиной километров — горизонтальный ствол в Bakken. Конкуренты — Precision Drilling AlphaAutomation, NOV NOVOS.</a:t>
            </a:r>
            <a:br/>
            <a:br/>
            <a:r>
              <a:t>Главная точка — режим не равно бренд. Когда вендор продаёт «прогностическое обслуживание» — это режим применения AI, не уникальный продукт. Тот же режим реализуют Aspen Mtell, Honeywell Forge, ABB Genix, GE Digital, IBM Maximo, Siemens MindSphere. Выбор поставщика — это выбор стека интеграции, цены и поддержки, не «между технологиями».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Роснефть — крупнейшая российская нефтегазовая компания — в две тысячи десятых развивала собственную платформу Digital Field, цифровое месторождение. Канонический референс — пилот на Илишевском месторождении дочернего общества Башнефть в Башкортостане.</a:t>
            </a:r>
            <a:br/>
            <a:br/>
            <a:r>
              <a:t>Показатели пилота на 2024 год. Плюс один миллион тонн нефти в год дополнительно — это плюс пять и девять десятых процентов относительно базовой добычи Башнефти семнадцать миллионов тонн в год за 2023 год. Около одного миллиарда рублей в год дополнительный экономический эффект. Двадцать три программных продукта, из них десять коммерциализованных во внешние развёртывания. Плюс шестьдесят процентов удалённо управляемых объектов, плюс пять процентов энергоэффективности, минус пять процентов логистических затрат.</a:t>
            </a:r>
            <a:br/>
            <a:br/>
            <a:r>
              <a:t>Контекст санкций. После марта 2022 года Roxar — продукт Schlumberger для характеризации пласта — и значительная часть других западных поставщиков ушли с российского рынка. Это создало структурный драйвер к внутренней разработке: Роснефть, Газпром нефть оказались в ситуации «либо разрабатываем сами, либо останавливаемся». Digital Field — пример того, что получилось при первом сценарии: внутренняя разработка, расширенная до коммерческой продуктовой линейки.</a:t>
            </a:r>
            <a:br/>
            <a:br/>
            <a:r>
              <a:t>Двадцать три продукта, десять коммерциализованных — лидирующий в индустрии показатель для нацкомпания. Российский паттерн — ближе к китайской модели (Sinopec, CNOOC внутренние разработки), не к американской поставщик-based модели.</a:t>
            </a:r>
            <a:br/>
            <a:br/>
            <a:r>
              <a:t>Точка осторожности. Конкретные KPI публикуются Роснефтью в корпоративных пресс-релизах; независимая проверка затруднена санкционным режимом. Студент должен относиться к российским цифрам с тем же скептицизмом, что и к один и восемь десятых миллиарда долларов реализованной стоимости Aramco — это self-report, не аудиторский отчёт.</a:t>
            </a:r>
            <a:br/>
            <a:br/>
            <a:r>
              <a:t>Башнефть Илишевское — типичное зрелое месторождение Q1, эксплуатируется с восьмидесятых годов. Пилотировать AI именно здесь — стратегический выбор: показать AI-мультипликаторный эффект на хорошо известном активе, не на разведке фронтиров.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структурный провал Q1 с другого ракурса. Ранее мы посмотрели на статистику пилотов; здесь — на конкретные компании, которые шли по сценарию «независимый промышленный AI-вендор для нефтегаза».</a:t>
            </a:r>
            <a:br/>
            <a:br/>
            <a:r>
              <a:t>Cognite — норвежский стартап, выделившийся из Aker BP в 2017 году. Якорный клиент — Aker BP. Финансовая история: 2018 — оценка триста миллионов; 2021-2022 — план IPO на два-три миллиарда долларов в 2023 году; 2023 — IPO отменён из-за рыночных условий и сжигания капитала; 2024 — ARR (годовая повторяющаяся выручка) девяносто четыре миллиона при темпе сорок процентов г/г; 2025-2026 — время IPO неопределённо.</a:t>
            </a:r>
            <a:br/>
            <a:br/>
            <a:r>
              <a:t>ARR (годовая повторяющаяся выручка) девяносто четыре миллиона при темпе сорок процентов — это здоровый SaaS-бизнес. Но для оценки два-три миллиарда нужен темп шестьдесят-восемьдесят процентов или сильная маржа. Aker BP остаётся якорным клиентом; независимая монетизация на другие индустрии идёт медленнее.</a:t>
            </a:r>
            <a:br/>
            <a:br/>
            <a:r>
              <a:t>C3.ai — публичная американская AI-компания, основанная Tom Siebel в 2009 году. Совместное предприятие BHC3 с Baker Hughes для нефтегазовой вертикали — структурно реструктурировано к 2023. Финансовый год 2024: нефтегазовая вертикаль — пять и девять десятых процента от общей выручки, то есть около восемнадцати миллионов из трёхсот десяти. Финансовый год 2025: «не-нефтегазовая выручка плюс сорок восемь процентов г/г» — формулировка означает, что нефтегазовая вертикаль уменьшается в абсолюте.</a:t>
            </a:r>
            <a:br/>
            <a:br/>
            <a:r>
              <a:t>Общий паттерн. Узкоспециализированные AI-компании для нефтегаза не достигли масштаба в эпоху больших универсальных моделей. SLB Lumi и Aramco METABRAIN — мы их увидим в Разделе 2 — поедают рынок узкоспециализированных через два механизма. Первое: большая модель плюс LoRA (лёгкое дообучение) обычно лучше специализированной маленькой. Второе: у крупных нацкомпаний есть мотив разрабатывать собственные большие модели внутри.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центральный пункт раздела по миссии когда отказаться. В Q1, то есть в высоко-data плюс высоко-physics квадранте, AI по умолчанию претендует на применение, и инженер должен уметь сказать «нет» там, где AI не нужен.</a:t>
            </a:r>
            <a:br/>
            <a:br/>
            <a:r>
              <a:t>Критерий первый — зрелое месторождение плюс опытная команда плюс Eclipse. Когда у вас есть месторождение с историей тридцать с лишним лет и опытные инженеры-разработчики, использующие классические симуляторы — добавление ML-суррогата редко даёт существенный прирост.</a:t>
            </a:r>
            <a:br/>
            <a:br/>
            <a:r>
              <a:t>Критерий второй — stripper wells, истощённые скважины с дебитом меньше десяти баррелей в день. Прибавка плюс пятнадцать процентов — это плюс полтора bopd; стоимость развёртывания плюс переобучения больше извлечённой ценности.</a:t>
            </a:r>
            <a:br/>
            <a:br/>
            <a:r>
              <a:t>Критерий третий — custody transfer metering, передача товарной нефти. Регуляторно требуется mass flow meter класса точности ноль и две десятых процента. Methane content в газовом потоке измеряется через gas chromatograph или прямое sampling. AI estimate не приемлем.</a:t>
            </a:r>
            <a:br/>
            <a:br/>
            <a:r>
              <a:t>Критерий четвёртый — приборные системы безопасности. Противовыбросовый превентор, предохранительный клапан, логика аварийного останова — SIL3/SIL4 по IEC 61511, детерминированно. ML не сертифицируется под этот стандарт.</a:t>
            </a:r>
            <a:br/>
            <a:br/>
            <a:r>
              <a:t>Критерий пятый — разведка фронтиров без аналогов. ML не на чем обучать. Senior геофизик плюс классическая интерпретация. Мы развернём это в Разделе 2.</a:t>
            </a:r>
            <a:br/>
            <a:br/>
            <a:r>
              <a:t>Критерий шестой — соответствие нормам EU Methane Reg. Traceability mandated — не black-box ML estimate.</a:t>
            </a:r>
            <a:br/>
            <a:br/>
            <a:r>
              <a:t>Главный навык уметь сказать «нет». Разница между четырнадцатью процентами успешных и восьмьюдесятью шестью застрявших — часто именно здесь.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HPC (высокопроизводительные вычисления)-гонка Q3 — это разные стратегии у каждой крупной компании.</a:t>
            </a:r>
            <a:br/>
            <a:br/>
            <a:r>
              <a:t>Eni HPC6. В декабре 2024 года итальянская Eni запустила суперкомпьютер HPC6 в дата-центре Ferrera Erbognone. Шестьсот шесть PFLOPS пиковой производительности, четыреста семьдесят семь sustained; четырнадцать тысяч графических ускорителей AMD Instinct MI250X; стоимость инсталляции — около ста четырёх миллионов долларов. На декабрьском листинге Top500 — пятое место из примерно пятисот. HPC6 в девять раз мощнее своего предшественника HPC5. Применения: обработка сейсмики, пластовая симуляция на INTERSECT, моделирование CCS.</a:t>
            </a:r>
            <a:br/>
            <a:br/>
            <a:r>
              <a:t>Aramco METABRAIN. В 2024 году Saudi Aramco разработала METABRAIN — большую универсальную модель внутреннего использования. Объявленные параметры на 2024 год — примерно двести пятьдесят миллиардов; цифры volatile, требуют проверки. Обучение на семи триллионах токенов, представляющих девяносто лет operational data Aramco. Шесть тысяч сотрудников обучены работать с инструментарием на основе METABRAIN. Четыреста тридцать сценарий примененияs идентифицированы.</a:t>
            </a:r>
            <a:br/>
            <a:br/>
            <a:r>
              <a:t>Что Aramco публикует. В Давосе в январе 2025 года CEO Aramco Amin Nasser заявил, что AI-инвестиции принесли один и восемь десятых миллиарда долларов реализованной стоимости в 2024 году. Базовая контекстуализация: Aramco выручка 2024 — четыреста тридцать шесть и шесть десятых миллиарда. Делим — это ноль и сорок одна сотая процента выручки. AI не «спасает» компанию — добавляет полпроцента к полностью оптимизированной операции.</a:t>
            </a:r>
            <a:br/>
            <a:br/>
            <a:r>
              <a:t>Два урока. Первое — один и восемь десятых миллиарда долларов — самоотчётный, не аудированное число. Второе — METABRAIN внутренний продукт, не продаётся наружу. Это competitive moat и одновременно структурное отличие от BP + Beyond Limits и IBM + Repsol, которые мы разберём через два слайда.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сентябре 2024 года SLB — бывшая Schlumberger, переименована в 2022 году — запустила Lumi. Это отраслевая базовая модель поверх своей облачной платформы Delfi. Delfi — это E&amp;P-платформа, оперирующая на AWS, Azure, GCP с 2018-го. Lumi обучена на NVIDIA Grace Hopper Superchip; якорный заказчикs — Aker BP, Shell, Azule Energy (это BP + Eni Angolan совместное предприятие).</a:t>
            </a:r>
            <a:br/>
            <a:br/>
            <a:r>
              <a:t>Что Lumi делает. Foundation model для специфических задач разведки. Первое — петрофизика interpretation, интерпретация каротажа; ML заменяет первичную обработку, senior petrophysicist делает финальный QC. Второе — seismic auto-tracking, автоматическая трассировка горизонтов в 3D-сейсмике; ускоряет работу геофизика, не заменяет в фронтирный бассейн. Третье — drilling automation queries, natural language interface к историческим данным.</a:t>
            </a:r>
            <a:br/>
            <a:br/>
            <a:r>
              <a:t>Финансовая контекстуализация. SLB цифровая выручка в 2024 году превысил два миллиарда долларов на полный год. Это около пяти и семи десятых процентов от total SLB revenue в тридцать пять миллиардов. Направление: дальнейшее adoption Delfi technology. Lumi — следующий этап монетизации после Delfi.</a:t>
            </a:r>
            <a:br/>
            <a:br/>
            <a:r>
              <a:t>Главная точка про режим versus бренд. Когда инженер слышит «отраслевая базовая модель для нефтегаза», он должен помнить: это режим применения AI, не уникальный продукт SLB. Тот же режим реализуют Aramco METABRAIN — но внутренний, не продаётся. OpenAI или Anthropic — общие базовая модельs, fine-tuned под нефтегаз. Microsoft Azure ML плюс Google Cloud Vertex AI — стек гиперскейлера с доменной донастройкой. Internal models Газпром нефти.</a:t>
            </a:r>
            <a:br/>
            <a:br/>
            <a:r>
              <a:t>Выбор между Lumi и альтернативой — это выбор не «между AI и не-AI», а между вертикально-интегрированным стеком и дезагрегированным стеком. Для крупного нацкомпания второй вариант часто предпочтительнее.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первой половине 2025 года ExxonMobil развернула Discovery 6 — суперкомпьютер на базе HPE Cray EX4000 с четырьмя тысячами тридцатью двумя NVIDIA Grace Hopper Superchip. Это четырёхкратное увеличение вычисления мощности относительно Discovery 5. Капитальные затраты публично не раскрыты, но по аналогии с Eni HPC6 — оценочно двести-четыреста миллионов долларов; требует уточнения.</a:t>
            </a:r>
            <a:br/>
            <a:br/>
            <a:r>
              <a:t>Что Discovery 6 делает. Главное — 4D-сейсмика. Это 3D-сейсмика, повторяемая во времени; четвёртое измерение — время; используется для мониторинга движения флюида в пласте в процессе разработки. Обработка моделей подземных коллекторов сжимается с месяцев до недель. Это критично для активного управления пластом на действующих месторождениях.</a:t>
            </a:r>
            <a:br/>
            <a:br/>
            <a:r>
              <a:t>Stabroek Block в Гайане. ExxonMobil — оператор Stabroek, одного из крупнейших offshore нефтяных открытий двадцать первого века. Stabroek estimate — девять-одиннадцать миллиардов BOE recoverable. Для контраста: Permian-Pioneer ExxonMobil после слияния 2024 — шестнадцать миллиардов BOE. Discovery 6 unlock — один миллиард плюс долларов value на первых шести плавучая платформа (FPSO); плавучая платформа (FPSO) — это плавучая платформа добычи, хранения, выгрузки нефти. Первые шесть плавучая платформа (FPSO) — это около тридцати-сорока процентов от планируемой кап.acity Stabroek.</a:t>
            </a:r>
            <a:br/>
            <a:br/>
            <a:r>
              <a:t>Сравнение HPC (высокопроизводительные вычисления)-стратегий. Eni выбрал AMD как эффективный по затратам per FLOP. ExxonMobil выбрал NVIDIA Grace Hopper как доминирующий в ML workloads. Aramco — комбинация HPC (высокопроизводительные вычисления) плюс базовая модель. Все три — проприетарные. Это значит, что рынок HPC (высокопроизводительные вычисления) для нефтегаза не «коммодизируется», как hyperscaler cloud — каждый major имеет свой стек.</a:t>
            </a:r>
            <a:br/>
            <a:br/>
            <a:r>
              <a:t>Anti-hype в HPC (высокопроизводительные вычисления)-гонке. Цифры вычисления мощности впечатляют, но не равны business value. «Четыре икс» означает только вычисления throughput, не business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июне 2017 года BP Ventures возглавила раунд раунд Series B на двадцать миллионов долларов в Beyond Limits — стартапе из Глендейла, Калифорния, выделившемся из NASA Jet Propulsion Laboratory с claim'ом, что технология «когнитивный AI» для исследовательских миссий deep space теперь применима в нефтегазе. Активный rollout партнёрства — 2018-2022 годы; разворот поставщика 2022-2023; полная wind-down O&amp;G фокус 2023.</a:t>
            </a:r>
            <a:br/>
            <a:br/>
            <a:r>
              <a:t>Что обещали в 2018 году. AI «absorb learnings of geologists and imitate their decision-making». Технология из deep space exploration. Accelerate operational insight and process automation. BP получает приоритетный доступ.</a:t>
            </a:r>
            <a:br/>
            <a:br/>
            <a:r>
              <a:t>Что вышло за 2018-2025. Публичных результатов roll-out нет за семь лет. Beyond Limits сменил отраслевой фокус с oil&amp;gas на general промышленный AI, потом в healthcare и manufacturing в 2023 году. BP не обновил кейс на своём сайте после 2019 года. 2020 oil crash плюс BP «Beyond Petroleum» rebrand — digital teams реструктурированы. К 2024 году ни BP, ни Beyond Limits не отвечают на запросы о статусе партнёрства.</a:t>
            </a:r>
            <a:br/>
            <a:br/>
            <a:r>
              <a:t>Три фундаментальных урока. Первый — «когнитивный AI» с приставкой «обещанная generalizable autonomy» не материализовалась. Это был ML-marketing эпохи 2018 года: компании присваивали маркетинговое название «cognitive» обычному ML. Реальная архитектура Beyond Limits — комбинация классический rule-based reasoning плюс ML — не имела фундаментального преимущества над чистым ML.</a:t>
            </a:r>
            <a:br/>
            <a:br/>
            <a:r>
              <a:t>Второй — концентрированная ставка на одного клиента. BP была якорным инвестором и клиентом. Когда BP сократил инвестиции в 2020 году — у Beyond Limits не оказалось диверсифицированной клиентской базы. Структурная двойная потеря.</a:t>
            </a:r>
            <a:br/>
            <a:br/>
            <a:r>
              <a:t>Третий — «имитировать decision-making геолога» — это антропоморфное переобещание. Реальные геологи делают решение на основе implicit knowledge, которое тяжело кодифицировать: pattern recognition после двадцати лет работы с одной геологической провинцией. AI 2018 года не мог имитировать эту работу — сама задача неправильно поставлена. Правильная задача — дополнение, ускорять рутинные задачи геолога, оставляя ему суждение calls.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2014 году IBM и испанская Repsol объявили партнёрство Kalimba project с целью применить IBM Watson когнитивные вычисления к тридцати годам exploration data Repsol. Проект запустили в IBM Cognitive Environments Laboratory в Нью-Йорке и Repsol Technology Centre в Мадриде. Объявлены результаты в первой половине 2016 года.</a:t>
            </a:r>
            <a:br/>
            <a:br/>
            <a:r>
              <a:t>Что обещали в 2014 году. Тридцать лет exploration data «analyzed» Watson cognitive. Запуск результатов в первой половине 2016 года. Cognitive computing «понимает контекст», «синтезирует insights», «обогащает intuition».</a:t>
            </a:r>
            <a:br/>
            <a:br/>
            <a:r>
              <a:t>Что вышло за 2016-2022 годы. Конкретных результатов и метрик публично не объявлено. IBM Watson Industry Solutions — broad stagnation 2018-2022. Watson Health unwound в 2022 году — продан Francisco Partners. Watson Industrial — аналогично. К 2022 году IBM перестроил весь Watson portfolio. Repsol перешёл на собственные ML tools — платформа Repsol Lumen с 2020-го, без IBM. Партнёрство тихо завершилось без официального объявления.</a:t>
            </a:r>
            <a:br/>
            <a:br/>
            <a:r>
              <a:t>Три фундаментальных урока. Первый — универсальный «когнитивные вычисления» platforms не scaled в узкая область как O&amp;G exploration. Watson в 2014 году был оптимизирован под универсальный Q&amp;A и medical literature analysis. Применение тех же архитектур в нефтегазовой разведке требовало specialized training data, specialized model architectures — то, что Watson 2014 года не давал. IBM не инвестировал в вертикаль specialization.</a:t>
            </a:r>
            <a:br/>
            <a:br/>
            <a:r>
              <a:t>Второй — «тридцать лет данных проанализировано» звучит впечатляюще, но без конкретной бизнес-метрики выводы не операционализируемы. Insights без операционализуемости = застревание пилотных проектов.</a:t>
            </a:r>
            <a:br/>
            <a:br/>
            <a:r>
              <a:t>Третий — цикл хайпа 2014-2016 → реальное коммерческое применение в 2018+ меньше десяти процентов от ожиданий. Это типичный паттерн hype-to-disappointment. Параллельный паттерн сейчас разворачивается с LLM agents в 2024-2025 — это сюжет Раздела 4.</a:t>
            </a:r>
            <a:br/>
            <a:br/>
            <a:r>
              <a:t>Параллель Watson Health критична. Тот же IBM, та же эпоха, та же «когнитивные вычисления» упаковка, та же неспособность scale. Это два manifestation одной структурной ошибки.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ключевой раздел для Q3. Когда AI в разведка фронтиров буксует — что используют операторы вместо? Ответ — физически обоснованный simulators, разработанные за десятилетия и хорошо валидированные.</a:t>
            </a:r>
            <a:br/>
            <a:br/>
            <a:r>
              <a:t>Eclipse — отраслевой стандарт симулятор пласта от SLB. Используется с восьмидесятых; сегодня — ключевой для большинства мейджоров. Решает coupled fluid плюс heat плюс уравнения химии на 3D-сетке пласта. Параметризируется через свойства породы, fluid PVT, kinetics. Скорость — десятки часов до дней на крупной модели; точность — well-characterized.</a:t>
            </a:r>
            <a:br/>
            <a:br/>
            <a:r>
              <a:t>INTERSECT — next-generation Eclipse от SLB. Высокое разрешение, лучше параллелизация.</a:t>
            </a:r>
            <a:br/>
            <a:br/>
            <a:r>
              <a:t>CMG — Computer Modelling Group, Калгари. Три продукта. IMEX — чёрная нефть симулятор пласта. STARS — thermal и advanced processes, для теплового методы увеличения нефтеотдачи (МУН), паровых методов в тяжёлой нефти. GEM — compositional simulator для газоконденсатных систем. Niche, но stable.</a:t>
            </a:r>
            <a:br/>
            <a:br/>
            <a:r>
              <a:t>OpenFOAM — open-source CFD пакет. Не симулятор пласта per se, но используется для CFD-моделирования в CCS, в многофазный поток, в gas plume modelling.</a:t>
            </a:r>
            <a:br/>
            <a:br/>
            <a:r>
              <a:t>Когда использовать физически обоснованный вместо ML. Mature коллектор плюс регуляторный отчёт: регулятор требует физически прослеживаемый submission. Complex методы увеличения нефтеотдачи (МУН) scenarios. Hydraulic fracturing modelling. CCS миграция шлейфа на 100-летнем горизонте. Frontier basin без analog — ML не на чем обучать.</a:t>
            </a:r>
            <a:br/>
            <a:br/>
            <a:r>
              <a:t>PINN (нейросеть с встроенной физикой) — physics-informed neural networks — попытка построить мост: speed of ML плюс consistency of physics. Активно изучается academia с 2019 года. К 2026 году PINN (нейросеть с встроенной физикой) — не mainstream commercial product. Это потенциальный мост в будущее, но не сейчас.</a:t>
            </a:r>
            <a:br/>
            <a:br/>
            <a:r>
              <a:t>Экономика. Senior геолог с двадцатью пятью годами опыта стоит компании двести-пятьсот тысяч долларов в год. Foundation model с обучением плюс интеграцией — пять-двадцать миллионов в год. Арифметика простая: пять-двадцать пять старших геологов за стоимость одной инсталляции базовая модель. Foundation model окупается только если воспроизводит работу пяти-двадцати пяти геологов — что в 2026 году не доказано ни одним публичным бенчмарком.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тем как идти в Раздел 3, зафиксируем шесть терминов, которые встретятся в каждом слайде. Бренд names — Aramco, SLB, MethaneSAT и т.д. — мы не глоссируем, это собственные имена. Технические аббревиатуры — обязательно.</a:t>
            </a:r>
            <a:br/>
            <a:br/>
            <a:r>
              <a:t>MRV — мониторинг, reporting, верификация — выявление, учёт, проверка. Совокупность процессов по обнаружению, измерению и аудиту выбросов метана. Под EU Methane Regulation 2024/1787 — обязательная процедура для импортёров СПГ в ЕС.</a:t>
            </a:r>
            <a:br/>
            <a:br/>
            <a:r>
              <a:t>OGI — optical gas imaging — оптическая газовая визуализация. ИК-камера, видящая углеводородные газы как «облако». ручной — Teledyne FLIR GFx320, Opgal EyeCGas. Fixed — Rebellion Photonics. Mainstream стандарт для соответствие под EPA Method 21 и EU LDAR (выявление и устранение утечек).</a:t>
            </a:r>
            <a:br/>
            <a:br/>
            <a:r>
              <a:t>LDAR (выявление и устранение утечек) — выявление утечек and repair — программа выявления и устранения утечек. Регуляторная программа: операторы обязаны четыре раза в год обходить площадки с OGI и ремонтировать выявленные утечки за пять-пятнадцать рабочих дней.</a:t>
            </a:r>
            <a:br/>
            <a:br/>
            <a:r>
              <a:t>OGMP 2.0 — Oil and Gas Methane Partnership, инициатива UNEP. Глобальный рамочный подход отчётности по метану, уровни от первого до пятого. Level 1 — оценка по коэффициенты эмиссии, низкая точность. Level 5 — прямое измерение всех источников, золотой стандарт. EU Methane Reg ориентирована на Level 4/5.</a:t>
            </a:r>
            <a:br/>
            <a:br/>
            <a:r>
              <a:t>SIL — safety integrity level, и SIS — safety instrumented system, по IEC 61511. BOP — противовыбросовый превентор. PRV — предохранительный клапан. ESD — аварийный останов. ML не сертифицируется под этот стандарт.</a:t>
            </a:r>
            <a:br/>
            <a:br/>
            <a:r>
              <a:t>bopd и ESP. bopd — баррелей нефти в день, базовая единица. ESP — электроцентробежный насос, опускаемый в скважину downhole. Stripper well — скважина с дебитом меньше десяти bopd.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MethaneSAT — спутник для мониторинга метана, разработанный и принадлежавший NGO Environmental Defense Fund в партнёрстве с Harvard University Smithsonian Astrophysical Observatory и New Zealand Space Agency. Запущен четвёртого марта 2024 года на ракете SpaceX Falcon 9. Бюджет миссии — порядка восьмидесяти восьми миллионов долларов; пять лет design life. Первый в истории спутник, владельцем которого является экологическая некоммерческая организация.</a:t>
            </a:r>
            <a:br/>
            <a:br/>
            <a:r>
              <a:t>Что MethaneSAT отличало от других спутников. широкий охват — поле зрения примерно двести на двести километров, что покрывает крупные нефтегазовые бассейны за один проход. Высокая точность — порог детекции порядка пятисот килограммов в час при идеализированных условиях. Open data policy — все данные публиковались open access через Google Earth Engine. Mission design — explicit фокус на нефтегазовом метане, девяносто процентов emissions, не на широком GHG-мониторинге.</a:t>
            </a:r>
            <a:br/>
            <a:br/>
            <a:r>
              <a:t>Первый ключевой результат — Пермский бассейн. В 2024 году MethaneSAT измерил эмиссии метана в Пермском бассейне и опубликовал результат: примерно четыреста десять тонн метана в час, что соответствует трём целым шести десятым миллионам тонн в год; на пятьдесят процентов выше официальной оценки EPA для этого региона. Дополнительные результаты — методановая интенсивность Нью-Мексико один и две десятых процента vs Техас три и одна десятая процента: пятикратный разрыв между двумя соседними штатами одного бассейна.</a:t>
            </a:r>
            <a:br/>
            <a:br/>
            <a:r>
              <a:t>Контекст. Нью-Мексико ввёл регуляцию метана в 2021 году — требование девяноста восьми процентов gas кап.ture к концу 2026 года. Техас — нет. Регуляция работает, и MethaneSAT её количественно зафиксировал.</a:t>
            </a:r>
            <a:br/>
            <a:br/>
            <a:r>
              <a:t>К моменту потери MethaneSAT опубликовал около двух тысяч data files, сто восемьдесят с лишним сцен и десять научных публикаций. EU 2024/1787 и EPA Subpart W разрешили satellite quantification как primary data source. MethaneSAT становился регуляторная инфраструктура.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Двадцатого июня 2025 года команда MethaneSAT объявила потерю связи со спутником. Через примерно пятнадцать с половиной месяцев после запуска четвёртого марта 2024 года — что составляет около двадцати шести процентов от designed lifetime в пять лет. Конкретная причина потери публично не объявлена; команда указывает на «spacecraft anomaly».</a:t>
            </a:r>
            <a:br/>
            <a:br/>
            <a:r>
              <a:t>Четыре фундаментальных урока.</a:t>
            </a:r>
            <a:br/>
            <a:br/>
            <a:r>
              <a:t>Первый — один спутник mission равно catastrophic single point of failure для regulatory MRV infrastructure. Когда EU Methane Regulation 2024/1787 предусматривает использование satellite measurements как accepted data source — и primary global satellite NGO-owned data source потерян — что делать с этой data infrastructure? Ответ к концу 2025 года: scramble к alternative data sources. Но resilience matters from day one.</a:t>
            </a:r>
            <a:br/>
            <a:br/>
            <a:r>
              <a:t>Второй — даже с успешным запуском и хорошими данными первого года надёжность аппаратуры остаётся fundamental constraint. MethaneSAT работал отлично пятнадцать с половиной месяцев. Это не «технология провалилась»; это «спутник в космосе — это аппаратура с конечной reliability». Для главный infrastructure нужно группировка model, не single mission.</a:t>
            </a:r>
            <a:br/>
            <a:br/>
            <a:r>
              <a:t>Третий — regulatory enforcement не может опираться на один спутник. EU regulator после MethaneSAT loss принимает GHGSat данные с осторожностью и приоритизирует ground OGI campaigns для соответствие. Это усиливает позицию ground OGI как альтернативного инструмента и снижает зависимость от satellite AI MRV.</a:t>
            </a:r>
            <a:br/>
            <a:br/>
            <a:r>
              <a:t>Четвёртый — AI без stable верхний слой данных source не работает. Это самый глубокий урок. MethaneSAT использовал AI для downstream processing — atmospheric retrieval, plume detection, emission quantification. Когда upstream sensor stream исчезает — все downstream ML-модели становятся бесполезны на новых данных. То же самое случилось бы при потере любой ключевой сенсорной модальности. AI — это слой над данными, не источник данных.</a:t>
            </a:r>
            <a:br/>
            <a:br/>
            <a:r>
              <a:t>Реализованная стоимость per month — пять и семь десятых миллиона vs планируемые полтора. В четыре раза выше cost effectiveness, чем обосновывала миссию.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После MethaneSAT loss индустрия разворачивает несколько параллельных направлений mitigation.</a:t>
            </a:r>
            <a:br/>
            <a:br/>
            <a:r>
              <a:t>Carbon Mapper Tanager-1. Карбоновый mapping satellite от коалиции Planet Labs плюс NASA Jet Propulsion Laboratory плюс Carbon Mapper Inc. Запущен шестнадцатого августа 2024 года, full operations summer 2025. Facility-level detection — то есть способный идентифицировать утечки на уровне отдельной установки. Tanager-1 — первый из планируемой группировка Tanager.</a:t>
            </a:r>
            <a:br/>
            <a:br/>
            <a:r>
              <a:t>GHGSat — канадская компания. Коммерческое созвездие из тринадцати спутников к середине 2025 года. Разрешение двадцать пять метров — самое детальное среди коммерческих метановых спутников. Customers — операторы в Permian, Marcellus, Alberta; страховые компании; регуляторы. GHGSat — commercial paid service: оператор платит за inspection своих площадок. Это более устойчивая business model, чем NGO-owned MethaneSAT.</a:t>
            </a:r>
            <a:br/>
            <a:br/>
            <a:r>
              <a:t>Bridger Photonics — американская компания из Бозмана, Монтана. Aircraft-based Gas Mapping LiDAR. Самолёт пролетает над нефтепромыслом на низкой высоте; LiDAR-сенсор измеряет концентрацию метана. Согласно валидационной кампании British Columbia LDAR (выявление и устранение утечек), aerial measurements в четыре раза более точные, чем ground OGI на тех же сайтах. Customers — ExxonMobil, ConocoPhillips, EOG Resources, Pioneer.</a:t>
            </a:r>
            <a:br/>
            <a:br/>
            <a:r>
              <a:t>SeekOps — drone-based метан detection. Используется в midstream applications — компрессорные станции, газораспределительные сети — и для gas utilities. Customers — TC Energy, ENGIE.</a:t>
            </a:r>
            <a:br/>
            <a:br/>
            <a:r>
              <a:t>Project Canary — метан analytics плюс ESG-рейтинги. Не сенсорный поставщик; агрегирует данные от других источников плюс добавляет сертификационный подход.</a:t>
            </a:r>
            <a:br/>
            <a:br/>
            <a:r>
              <a:t>Главное. Q2 — это стек нескольких модальностей. Спутник плюс авиа плюс дрон плюс наземная OGI плюс портативный анализатор. AI — это слой fusion плюс интерпретации поверх всех модальностей. Single-modality «AI MRV solution» — маркетинговая фраза.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Центральный numerical conflict Раздела 3.</a:t>
            </a:r>
            <a:br/>
            <a:br/>
            <a:r>
              <a:t>MethaneSAT измерения US oil&amp;gas метан эмиссии — примерно пятнадцать миллионов тонн в год. EPA Inventory официальная оценка — примерно четыре миллиона тонн в год. Фактор разрыва — примерно четыре.</a:t>
            </a:r>
            <a:br/>
            <a:br/>
            <a:r>
              <a:t>Параллельная Stanford 2024 study, опубликована в Nature в марте 2024 года. Aerial campaign на US O&amp;G basins; результат — более шести миллионов тонн в год, точная цифра в paper около шести-семи с половиной миллионов. Это фактор два outlier от EPA Inventory — не такой большой, как MethaneSAT factor четыре, но всё равно значительный.</a:t>
            </a:r>
            <a:br/>
            <a:br/>
            <a:r>
              <a:t>Aerial vs OGI на одних и тех же sites. Aerial measurements от Bridger Photonics в четыре раза выше, чем ground OGI на тех же sites — British Columbia LDAR (выявление и устранение утечек) validation study. Ground OGI системно underestimates утечки, потому что OGI inspector проходит сайт за десять-двадцать минут и физически не видит intermittent emissions.</a:t>
            </a:r>
            <a:br/>
            <a:br/>
            <a:r>
              <a:t>Девятисателлитный single-blind тест 2024 года в Atmospheric Measurement Techniques. Ноль ложные срабатывания — хорошо. Но только пятьдесят восемь процентов correctly identified; сорок один false negative — пропущенных реальных утечек. Даже когда AI MRV хорошо настроена, она пропускает почти половину реальных эмиссий.</a:t>
            </a:r>
            <a:br/>
            <a:br/>
            <a:r>
              <a:t>Что этот конфликт означает. EPA коэффициенты эмиссии были откалиброваны десять-двадцать лет назад и не отражают реальный operational mix современного нефтегазового производства. MethaneSAT и aerial campaigns показывают, что real-world эмиссии выше — потому что они захватывают intermittent superemitters. Satellite плюс aerial AI detection methods inconsistent друг с другом. Это не «один прав, другой нет» — это methodological calibration difference.</a:t>
            </a:r>
            <a:br/>
            <a:br/>
            <a:r>
              <a:t>Главное. No agreed эталон. У отрасль, регулятора, NGO, академии — нет согласованного методологического стандарта. Урок: AI MRV — promising, но не ready для контрактное принуждение без протоколы перекрёстной валидации. EU 2024/1787 требует Level 4/5 = триангуляция. Это инженерная необходимость, не избыток bureaucracy.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Q2 — это не только технологическая ниша, но и регуляторно-управляемый рынок. Структура регуляции определяет, какие сенсорные модальности и AI-методы становятся mainstream.</a:t>
            </a:r>
            <a:br/>
            <a:br/>
            <a:r>
              <a:t>EU Methane Regulation 2024/1787, adopted четвёртого августа 2024 года. Это первый comprehensive EU методан-закон для нефтегазовой индустрии. Применяется к production внутри ЕС плюс imports — СПГ, ископаемый газ, нефть, уголь. Ключевые требования. OGMP 2.0 Level 4/5 alignment: operators обязаны отчитываться по Level 4 — квантификация по компонентам — или Level 5 — прямое измерение. LDAR (выявление и устранение утечек) programme срок — пятое мая 2025 года. Annual emissions reports — пятое августа 2025 года. Penalty — до двадцати процентов годового оборота. Для major majors с EU оборотом — это multi-billion EUR exposure. Operators обязаны четыре раза в год survey плюс repair leaks в течение пяти-пятнадцати рабочих дней. К 2027 году все imports газа в ЕС должны соответствовать EU метан intensity standards — менее или равно ноль и две десятых процента по природному газу.</a:t>
            </a:r>
            <a:br/>
            <a:br/>
            <a:r>
              <a:t>Это самая жёсткая в мире методан-регуляция на момент 2026 года. EU operator с пропущенной утечкой или непредставленным отчётом рискует штрафом, который может превышать прибыль от добычи.</a:t>
            </a:r>
            <a:br/>
            <a:br/>
            <a:r>
              <a:t>US EPA Subpart W final rule — шестое мая 2024 года. Allows satellite quantification как primary data source. «Other large release events» — новая category intermittent superemitters. Сентябрь 2025 — Trump administration предложила proposed rule с delay Subpart W effective date до 2034 года. Это критический политический контекст. Финальный статус зависит от EPA leadership и judicial review. На момент написания май 2026 — status uncertain.</a:t>
            </a:r>
            <a:br/>
            <a:br/>
            <a:r>
              <a:t>Структурный сдвиг. EU regulation жёсткая, обязательно, с короткими сроки — создаёт спрос на AI MRV solutions, которые работают сейчас. Толкает рынок AI MRV в Европе. US regulation мягче, политически неопределённа, с возможными delays — создаёт wait-and-see среду. Тормозит рынок AI MRV в США. Эта асимметрия — структурный сдвиг.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критический раздел в Q2. Альтернатива AI MRV — это ground-based прямое измерение campaigns.</a:t>
            </a:r>
            <a:br/>
            <a:br/>
            <a:r>
              <a:t>ручные OGI-камеры. Teledyne FLIR GFx320 — ключевой отрасль standard. Видит углеводородные газы как «облако» через IR-фильтр; цифровая запись для аудита. Используется EPA Method 21, EU LDAR (выявление и устранение утечек) programmes. Opgal EyeCGas — конкурент FLIR; добавляет quantitative OGI кап.ability — не только видит утечку, но и приближённо измеряет её расход. Rebellion Photonics, теперь Honeywell — fixed hyperspectral imaging system, постоянный мониторинг.</a:t>
            </a:r>
            <a:br/>
            <a:br/>
            <a:r>
              <a:t>переносной laser analyzers. Picarro G2210-i — спектроскопия затухания в полости, спектроскопия с резонатором; измеряет концентрации метана с лабораторной точностью на месте измерения. Часто используется как эталон для калибровки OGI и aerial measurements. LI-COR LI-7810 — конкурент Picarro.</a:t>
            </a:r>
            <a:br/>
            <a:br/>
            <a:r>
              <a:t>Когда AI не нужен в Q2 — два критерия. Первый — OGMP 2.0 Level 5 верификация. Level 5 требует прямого измерения всех источников эмиссии на operational asset. ML estimate не приемлем как primary methodology. Поэтому Level 5 operators обязаны иметь Picarro или LI-COR плюс OGI campaigns; AI здесь — дополнение для prioritization, не замена.</a:t>
            </a:r>
            <a:br/>
            <a:br/>
            <a:r>
              <a:t>Второй критерий — custody transfer metering. Регуляторно требуется mass flow meter класса точности ноль и две десятых процента.</a:t>
            </a:r>
            <a:br/>
            <a:br/>
            <a:r>
              <a:t>Структурный взгляд на LDAR (выявление и устранение утечек) programmes. EU LDAR (выявление и устранение утечек) требует операторов проводить survey четыре раза в год плюс ремонт утечек в течение пяти-пятнадцати рабочих дней. Расходы для крупного European operator — порядка пяти-пятнадцати миллионов долларов в год на один production cluster. AI MRV может снизить эти расходы на двадцать-сорок процентов через aerial campaigns раз в два месяца плюс targeted ground OGI на flagged sites. Это substantial value, который не эффектен в маркетинговой картине, но practical для соответствие budgets.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Northern Lights — совместное предприятие между Equinor, Shell, TotalEnergies; commercial launch в 2024 году. CCS-инфраструктура для приёма CO₂ от европейских emitters — преимущественно cement plants, нефтехимия — и захоронения в северо-морских offshore-формациях около Эугарден в Норвегии. кап.acity Phase 1 — полтора миллиона тонн CO₂ в год.</a:t>
            </a:r>
            <a:br/>
            <a:br/>
            <a:r>
              <a:t>Применение AI. Site selection — где буровать закачка wells, как оценить geological storage кап.acity. ML augments классический геомеханика; типичный claim — десять-пятнадцать процентов improved мониторинг accuracy. Миграция шлейфа мониторинг — 4D-сейсмика плюс ML для tracking облака CO₂ после закачка. AI на этапе кап.ture, апстрим от инжекции — оптимизация absorber-процесса; десять-двадцать процентов снижение затрат на проектах Mongstad в Норвегии и Boundary Dam в Канаде. Отраслевой исходный уровень затрат — восемьдесят-сто двадцать долларов за тонну кап.tured CO₂; AI снижает до шестидесяти пяти — ста.</a:t>
            </a:r>
            <a:br/>
            <a:br/>
            <a:r>
              <a:t>Базовая контекстуализация — 190× scale-up gap. IEA «World Energy Outlook» 2024 года: CCUS должна вырасти до семи и шести десятых гигатонн CO₂ в год к 2050 году для net-zero targets. Current global CCS кап.acity — около сорока миллионов тонн в год: Northern Lights полтора плюс примерно тридцать других проектов мира. Required scale-up — примерно сто девяносто икс. Northern Lights полтора Mt из IEA target семь и шесть десятых Gt равно ноль и две сотых процента needed scale.</a:t>
            </a:r>
            <a:br/>
            <a:br/>
            <a:r>
              <a:t>Что эта цифра означает. Northern Lights — ключевой проект CCS в Европе. Если сто девяносто икс scale-up должен произойти к 2050 году — это строить около ста девяноста проектов того же класса в течение двадцати пяти лет. Физически и финансово возможно, но требует триллионов долларов капитальных инвестиций, государственной поддержки, регуляторного согласования. AI не решает ни одну из этих структурных задач. AI улучшает per-project cost effectiveness на десять-двадцать процентов, но не масштабирует индустрию. AI — catalyst, не silver bullet для climate transition.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Fervo Energy — американский стартап, основан в 2017 году, штаб-квартира в Хьюстоне. В области enhanced geothermal systems — улучшенных геотермальных систем, способ извлечения тепла из горячих пород на трёх-пяти километрах глубине через гидравлический фрекинг. Использует оптоволоконные распределённые датчики температуры плюс AI для модели thermal performance.</a:t>
            </a:r>
            <a:br/>
            <a:br/>
            <a:r>
              <a:t>кап.e Station Utah project — двести шесть миллионов долларов финансирования в июне 2025 года, ключевой EGS plant. Driver спроса — AI ЦОДы тянут спрос на двадцать четыре на семь clean power. Renewable solar и wind — intermittent, нужны batteries для двадцать четыре на семь. Nuclear — slow build. Geothermal — единственный возобновляемая базовая мощность, доступный при сегодняшних технологиях.</a:t>
            </a:r>
            <a:br/>
            <a:br/>
            <a:r>
              <a:t>Fervo IPO двенадцатого мая 2026 года — цена размещения двадцать семь долларов за акцию, привлечено один и восемьдесят девять сотых миллиарда, оценка семь и семь десятых миллиарда при IPO. Стек финансирования. Fervo Series D в феврале 2024 закрыла двести сорок четыре миллиона. Series E в 2025 — четыреста шестьдесят два миллиона для ускорения разработки. Суммарно более семисот миллионов частного капитала перед IPO плюс один и восемьдесят девять сотых миллиарда при выходе на биржу. В первый день торгов акции открылись около тридцати пяти долларов — около тридцати процентов first-day pop. Это ключевой moment для геотермальной индустрии.</a:t>
            </a:r>
            <a:br/>
            <a:br/>
            <a:r>
              <a:t>масштаб gap. Fervo в pipeline на 2026 имеет ~400 MWe. IEA 2050 geothermal target — двести с лишним GWe для achieve net-zero pathway. Это значит ноль и две десятых процента от needed scale — даже успешный IPO не закрывает структурный разрыв.</a:t>
            </a:r>
            <a:br/>
            <a:br/>
            <a:r>
              <a:t>Базовая контекстуализация — 40× growth ceiling. потенциал EGS в США от DOE и MIT studies — сто пятьдесят GW. Current US geothermal installed — три и семь десятых GW. Growth ceiling — около сорока икс. Это инженерная реальность.</a:t>
            </a:r>
            <a:br/>
            <a:br/>
            <a:r>
              <a:t>Closed-loop AI to energy. Google, Microsoft, Meta объявили signed contracts с Fervo. AI создаёт спрос на clean energy через свой own workload requirement. Это inversion roles AI в индустрии.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центральный провал Q4. Разрыв масштабирования CCS в 190 раз — инженерная реальность против политических целей. Это структурный разрыв, не «AI плохо работает».</a:t>
            </a:r>
            <a:br/>
            <a:br/>
            <a:r>
              <a:t>Что AI обещает: улучшение точности мониторинга десять-пятнадцать процентов. снижение стоимости улавливания десять-двадцать процентов. быстрее выбор площадки. Что доставляет — да, эти цифры в пилотах реальные. Что не доставляет — масштаб. AI не масштабирует индустрию с сорока млн т в год к семи и шести десятым млрд т в год; даже со ста процентами улучшение удельной стоимости эта цель остаётся в девяносто пять икс за пределами достижения.</a:t>
            </a:r>
            <a:br/>
            <a:br/>
            <a:r>
              <a:t>Долгосрочная галлюцинация AI для миграция шлейфа на сто лет. закачка CCS хранит CO₂ под землёй на сотни и тысячи лет. Обязательно регуляторное требование — мониторинг плюс верификация на десятилетия. Главный вопрос: где будет облако CO₂ через пятьдесят, сто, пятьсот лет?</a:t>
            </a:r>
            <a:br/>
            <a:br/>
            <a:r>
              <a:t>Классический физически обоснованный modelling — Eclipse плюс геомеханика — имеет большие интервалы неопределённости на сто-летнем горизонте. Геомеханика на длинных временных шкалах слабо валидирована.</a:t>
            </a:r>
            <a:br/>
            <a:br/>
            <a:r>
              <a:t>AI-прогноз миграции облака CO₂ — наложение на классическую физику. Может ускорить предварительный сценарный отбор. Но на вне распределения обучения сценариях — например, землетрясение разрушает кап.rock в год сорок седьмой — галлюцинирует.</a:t>
            </a:r>
            <a:br/>
            <a:br/>
            <a:r>
              <a:t>Прогноз Gartner на 2027 год — сорок процентов агентских AI-проектов будут отменены из-за превышения бюджетов и слабого контроля рисков. Для нефтегаза — это прямое предупреждение.</a:t>
            </a:r>
            <a:br/>
            <a:br/>
            <a:r>
              <a:t>Mitigation — три направления. Первое — гибридный AI + физика через PINN (нейросеть с встроенной физикой) или ML с физическими ограничениями — встраивает физические законы сохранения в функция потерь. снижает галлюцинации, но дороже вычисления. К 2026 году — исследовательский уровень. Второе — человек в контуре обязательно для длинный горизонт прогнозы. Senior инженер по разработке плюс геомеханика expert делает финальный суждение. Третье — триангуляция несколькими методами. Никогда не полагаться на одну ML-модель; всегда verify через independent физический симулятор плюс аналоговый бассейн плюс данные мониторинга на нескольких временных шагах.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провал мы видели в седьмом-би слайде в Q1 frame — Aspen Mtell усталость от ложных тревог plus общезаводская стагнация. Здесь мы переформулируем его в Q4 frame, как многослойная физика constraint, который AI не закрывает на длинных временных горизонтах.</a:t>
            </a:r>
            <a:br/>
            <a:br/>
            <a:r>
              <a:t>Что refinery process control share с Q4. Первое — многослойная физика constraints: mass plus energy plus reaction kinetics plus corrosion. То же, что в CCS. Второе — длинные горизонты: НПЗ работает сорок-пятьдесят лет; ML model decay один-два года. Тот же gap, что в CCS миграция шлейфа. Третье — нестандартные режимы: при изменении feedstock, equipment wear, regulatory changes — ML surrogates lose consistency.</a:t>
            </a:r>
            <a:br/>
            <a:br/>
            <a:r>
              <a:t>Cross-link к Yokogawa Idemitsu. Yokogawa в 2018 году объявила пилот общезаводской AI process control на одном из НПЗ Idemitsu в Японии. Пилот общезаводской тихо закрыт после 2018 года; в публичных материалах остались только single-column success stories. Это типичный паттерн: AI хорошо берёт локальную оптимизацию — один column, один heater. Плохо берёт многоюнитную координацию, где многослойная физика constraints ломают ML-суррогаты на нестандартные режимы.</a:t>
            </a:r>
            <a:br/>
            <a:br/>
            <a:r>
              <a:t>Применимость к Q4. закачка CCS plant — это многоюнитная инсталляция: кап.ture unit плюс transport pipeline плюс закачка wells плюс мониторинг wells. Координация этих компонентов на тридцать-пятидесятилетнем горизонте требует многослойное сопряжение физики. AI может делать узкую оптимизацию — один закачка well rate, один кап.ture absorber. AI не может делать координированное общезаводской управление с multi-decade outlook. То же касается Fervo EGS.</a:t>
            </a:r>
            <a:br/>
            <a:br/>
            <a:r>
              <a:t>Фундаментальный урок. Когда задача требует многослойное сопряжение физики плюс длинные горизонты плюс краевых случаев — развёртывание AI затрудняется фундаментально, не из-за нехватки обучающих данных. Это не «больше данных решит проблему»; это ограничение самой ML-методологии. Обобщение нейронных сетей хорошо работает в режиме интерполяции, плохо — в режиме экстраполяции, очень плохо — в режиме многослойная физика экстраполяции.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критический раздел в Q4. Альтернатива AI в длинный горизонт CCS, refinery, EGS — это классический физически обоснованный engineering плюс deterministic safety systems.</a:t>
            </a:r>
            <a:br/>
            <a:br/>
            <a:r>
              <a:t>Physics-based simulators для CCS. Eclipse и INTERSECT с CCS modules — коллектор-scale CO₂ migration. OpenFOAM — CFD around закачка wells, многофазный поток. Геомеханика packages — Visage от SLB, Abaqus от Dassault, Plaxis — для stress analysis в кап.rock. CMG GEM — compositional simulator для CO₂-impurities scenarios. Эти tools используются для регуляторные отчёты под EU CCS Directive 2009/31/EC. Регулятор требует физически прослеживаемый modeling; AI surrogate не accept.</a:t>
            </a:r>
            <a:br/>
            <a:br/>
            <a:r>
              <a:t>Классический APC (передовое управление процессом) для refinery. Honeywell Profit Controller — modelling APC (передовое управление процессом) standard для US refineries. AspenTech aspenONE — APC (передовое управление процессом) integrated в process simulation. Emerson DeltaV PredictPro — embedded APC (передовое управление процессом) в DCS. APC (передовое управление процессом) — это model-based predictive control, детерминированное и certifiable. ML controller для общезаводская переработка operation requires safety case, что ML не приведёт к exceedance процессных пределов. Safety case для ML структурно сложнее, чем для APC (передовое управление процессом).</a:t>
            </a:r>
            <a:br/>
            <a:br/>
            <a:r>
              <a:t>SIS — Safety Instrumented Systems. Это deterministic safety logic, сертифицированная под IEC 61511 / ISA-84 на уровень SIL3 или SIL4. Применения: blowout preventer, pressure relief valve, emergency shutdown logic, fire and gas detection.</a:t>
            </a:r>
            <a:br/>
            <a:br/>
            <a:r>
              <a:t>ML не сертифицируется под IEC 61511. Probability of failure on demand для ML не доказывается аналитически так же, как для дискретной логики; в дискретной логике мы перечисляем все возможные states; для ML это невозможно — state space слишком большой. Альтернатива — физически обоснованный redundancy плюс 3oo2 voting — три датчика, действие при согласии двух — плюс периодические proof tests, плюс fail-safe design.</a:t>
            </a:r>
            <a:br/>
            <a:br/>
            <a:r>
              <a:t>Три критерия «AI не нужен» в Q4. Safety-главный SIS. Long-horizon prediction beyond десяти-двадцати лет. Plant-wide многослойное сопряжение физики.</a:t>
            </a:r>
            <a:br/>
            <a:br/>
            <a:r>
              <a:t>Deepwater Horizon 2010 — анкор Q4 SIS-альтернатив. Альтернативы AI без strong safety culture = катастрофа. К нему вернёмся в s38.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предыдущих разделах мы видели Россию фрагментарно. В этом разделе собираем картину целиком — через четырёх-квадрантную матрицу несущая ось-оси.</a:t>
            </a:r>
            <a:br/>
            <a:br/>
            <a:r>
              <a:t>Россия в режиме санкций после марта 2022 года представляет собой естественный эксперимент. Что происходит, когда вертикально-интегрированная нефтегазовая индустрия теряет доступ к западным AI-вендорам — SLB Lumi, AspenTech, Honeywell, ABB, Yokogawa — и должна инсорсить AI-стек целиком?</a:t>
            </a:r>
            <a:br/>
            <a:br/>
            <a:r>
              <a:t>Ответ — частично разработан внутри, частично заимствован из других несанкционированных юрисдикций — партнёрство с AIQ, совместное предприятие ADNOC и G42 в ОАЭ — частично остаётся в pilot stage.</a:t>
            </a:r>
            <a:br/>
            <a:br/>
            <a:r>
              <a:t>Mini-matrix reкап.. В квадранте один — Роснефть Digital Field и Газпром Cognitive system Ямал. Aspen, Honeywell, ABB ушли — insourcing. Промышленно развёрнут. В квадранте три — Газпром Cognitive Geo, начатый с IBM Research Brazil в 2019-2022 году, продолжен внутри после ухода IBM. Нет SLB Lumi, нет ExxonMobil Discovery 6 — собственный HPC (высокопроизводительные вычисления). Развёрнут на Ямале в 2024 году. В квадранте два — не приоритет, EU 2024/1787 не применяется к российскому экспорту в нерегулируемые рынки. В квадранте четыре — очень ограниченная public info, pilots, требует уточнения.</a:t>
            </a:r>
            <a:br/>
            <a:br/>
            <a:r>
              <a:t>Структурный паттерн — Россия ближе к китайскому модели вертикальной интеграции, не американскому поставщик-based.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Газпром нефть Cognitive Geologist — ключевой российский Q3 AI-проект. Создан в партнёрстве с IBM Research Brazil в Сан-Паулу; соглашение о сотрудничестве подписано в апреле 2019 года, активная разработка 2019-2022; после ухода IBM из России в 2022 году перешёл в режим внутренняя разработка.</a:t>
            </a:r>
            <a:br/>
            <a:br/>
            <a:r>
              <a:t>Что система делает. Применение ML плюс probabilistic reasoning для рабочего процесса разведки. Анализ геофизических данных, корреляция через скважины, оценка вероятности продуктивности. Цикл геологической работы для определённых категорий задач сокращён с трёх-четырёх месяцев до минут. Это касается специфических задач — корреляция между скважинами, предварительное отсеивание геологических параметров — не всего цикла разведки.</a:t>
            </a:r>
            <a:br/>
            <a:br/>
            <a:r>
              <a:t>Cognitive system for oil prospecting, развёрнутая на Ямале в 2024 году — система помогла идентифицировать новое нефтяное поле, первая нефть из которого получена в 2024 году. Корпоративные цели: cut twofold время до первая нефть на новых проектах. Плюс сорок процентов projects acceleration к 2030 году.</a:t>
            </a:r>
            <a:br/>
            <a:br/>
            <a:r>
              <a:t>Параллель с BP плюс Beyond Limits и IBM плюс Repsol. Cognitive Geo с IBM начался в 2019 году; BP плюс Beyond Limits — в 2018 году; IBM плюс Repsol — в 2014 году. Все три проекта запущены в эпоху «когнитивный AI для exploration». Но Cognitive Geo выжил и развился, в то время как два западных партнёрства провалились. Почему?</a:t>
            </a:r>
            <a:br/>
            <a:br/>
            <a:r>
              <a:t>Первое — internal continuation после поставщик exit. Когда IBM ушёл в 2022 году, Газпром нефть продолжила разработку внутри. У BP при разворот поставщика Beyond Limits не было такой опции. Второе — якорная прикладная фокусировка: Cognitive Geo с самого начала сосредоточился на конкретных задачах разведки — корреляция, предварительное отсеивание — а не на «заменить геолога». Augmentation, не замена. Третье — вертикальная интеграция внутри нацкомпания. Нет mismatch incentives.</a:t>
            </a:r>
            <a:br/>
            <a:br/>
            <a:r>
              <a:t>Контекст AIQ partnership. AIQ — это ADNOC плюс G42 совместное предприятие в ОАЭ, валюация один и четыре десятых миллиарда плюс после приобретения 51% Presight в мае 2024 года. Газпром нефть партнёрствует с AIQ для коммерциализации на нерегулируемых рынках. Middle East становится третьим AI вычисления 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Роснефть Digital Field мы уже разобрали в десятом слайде. Quick reкап.. Плюс один миллион тонн нефти в год дополнительная добыча — это плюс пять и девять десятых процентов от исходного уровня Башнефть семнадцать миллионов тонн в год. Около одного миллиарда рублей в год экономический эффект. Двадцать три программных продукта, десять коммерциализованных. Плюс шестьдесят процентов удалённо управляемых объектов.</a:t>
            </a:r>
            <a:br/>
            <a:br/>
            <a:r>
              <a:t>Татнефть, ЛУКОЙЛ, Сургутнефтегаз — детали public info ограничены. Эти три нацкомпания формируют средний эшелон российской нефтегазовой отрасли — после двух ключевой Роснефть и Газпром нефть — и реализуют AI-программы, но публичная отчётность по конкретным KPI существенно скуднее.</a:t>
            </a:r>
            <a:br/>
            <a:br/>
            <a:r>
              <a:t>Татнефть АнтиХрупкий Нижнекамск — программа предсказательного обслуживания и оптимизации производства на нефтехимическом комплексе Нижнекамска. Применяет ML для прогноза сбоев оборудования плюс оптимизация технологических режимов колонн ректификации. Конкретные numerical KPI не опубликованы.</a:t>
            </a:r>
            <a:br/>
            <a:br/>
            <a:r>
              <a:t>ЛУКОЙЛ — пакет AI-приложений в Волго-Уральском регионе: оптимизация добычи на зрелых месторождениях, прогнозирование технологических простоев, оптимизация маршрутов транспортировки нефтепродуктов. Независимая верификация ограничена.</a:t>
            </a:r>
            <a:br/>
            <a:br/>
            <a:r>
              <a:t>Сургутнефтегаз — традиционно closed company с минимальной publicity; компания исторически не раскрывает digital initiatives на корпоративном уровне.</a:t>
            </a:r>
            <a:br/>
            <a:br/>
            <a:r>
              <a:t>Этот дефицит публичной информации сам по себе информативен: показывает, что российский corporate disclosure для AI deployments существенно менее прозрачен, чем у западных публичных компаний. Это структурное ограничение для студента-аналитика: основной массив independent fact — у двух ключевой; остальные нацкомпания остаются чёрным ящиком.</a:t>
            </a:r>
            <a:br/>
            <a:br/>
            <a:r>
              <a:t>Cognitive Pilot — Sberbank плюс Cognitive Technologies совместное предприятие, primarily agricultural combine automation. Семьсот плюс installations в 2021 → тысяча семьсот плюс в 2024. Transferability к O&amp;G — partial: heavy mobile equipment и remote sensing — yes; ATEX-rated и SIL соответствие — non-trivial.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Кибербезопасность — встречный тренд AI-расширения нефтегазовой автоматизации. По данным Zscaler, шифровальщик-атаки на нефтегаз выросли на девятьсот тридцать пять процентов между апрелем 2024 и апрелем 2025 года. База — Zscaler ThreatLabz фиксирует относительный рост числа известных шифровальщик-инцидентов в секторе year-over-year; абсолютные числа Zscaler не раскрывает в open report. Для контекстуализации масштаба — paradigmatic high-impact case остаётся Colonial Pipeline 2021.</a:t>
            </a:r>
            <a:br/>
            <a:br/>
            <a:r>
              <a:t>Colonial Pipeline 2021. Атакующий получил доступ через VPN без MFA (многофакторная аутентификация) — многофакторной аутентификации. Pipeline shutdown около шести дней; четыре и четыре десятых миллиона долларов выкупа уплачено — семьдесят пять биткоинов; примерно два и три десятых миллиона возвращена Министерством юстиции в июне 2021 года. Операционные потери — десятки миллионов. Recovery cost оценочно двести миллионов плюс. Lesson: flat OT/IT network плюс no MFA (многофакторная аутентификация) на VPN равно unacceptable risk для главный infrastructure.</a:t>
            </a:r>
            <a:br/>
            <a:br/>
            <a:r>
              <a:t>Shell MOVEit 2022 плюс 2024 поставщик compromise. Shell был impacted Clop шифровальщик через MOVEit file transfer поставщик — third-party software, used by multiple companies. Customer data leaked.</a:t>
            </a:r>
            <a:br/>
            <a:br/>
            <a:r>
              <a:t>Этот рост — не «random fluctuation»; это структурный эффект. слияние операционных (OT) и IT сетей увеличивает поверхность атаки. Развёртывание AI и цифровых сервисов добавляет новые ML-сервисы, новые конвейеры данных, новые API-эндпоинты — каждый из них потенциальная точка входа. Threat actor кап.ability растёт через offensive AI.</a:t>
            </a:r>
            <a:br/>
            <a:br/>
            <a:r>
              <a:t>Defensive vs offensive AI — структурный gap. защитный AI — выявление аномалий в OT-сетях, ML-based intrusion detection — Dragos, Claroty, Nozomi Networks. Растёт post-Colonial. Offensive AI — атакующие используют LLM-агенты для automated phishing, social engineering, automated reconnaissance. Растёт быстрее, чем защитный AI.</a:t>
            </a:r>
            <a:br/>
            <a:br/>
            <a:r>
              <a:t>Три фундаментальных урока. Первое — AI добавляет сложность, поверхность атаки растёт. Второе — безопасность это фаза 1, не фаза 4. Embed cybersecurity в фаза проектирования. Третье — безопасность AI не равно традиционная IT-безопасность. состязательный ML, отравление модели, инъекция в промпт — новые классы атак.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сквозной якоря раздела шесть. Первый — 2020 oil crash. Второй — Deepwater Horizon 2010.</a:t>
            </a:r>
            <a:br/>
            <a:br/>
            <a:r>
              <a:t>2020 oil crash. В марте-октябре 2020 года, после пандемийного collapse нефтяного спроса — нефтяные фьючерсы West Texas Intermediate уходили в отрицательную зону двадцатого апреля 2020 года впервые в истории — нефтегазовая индустрия пережила структурную shake-out. Сто семь тысяч рабочих мест потеряно в US O&amp;G и нефтехимии — fastest layoffs in отрасль history. Знаменатель — из total US O&amp;G workforce около одного и одной десятой миллиона — это девять и семь десятых процента индустрии за шесть месяцев. Для контекста: financial crisis 2008-2009 oil&amp;gas потерял семь процентов за двенадцать месяцев; 2020 crash — почти десять процентов за половину времени. BP — десять тысяч уволенных, пятнадцать процентов workforce. Shell — девять тысяч.</a:t>
            </a:r>
            <a:br/>
            <a:br/>
            <a:r>
              <a:t>Что это означает для дорожная карта AI. Industry цикличность больше, чем цикл AI-хайпа. Когда нефть ниже тридцати долларов за баррель — digital teams cuts first как non-необходим. AI projects заморожены восемнадцать-двадцать четыре месяца. окупаемость AI horizon пять-семь лет; commodity цикл каждые семь-десять лет. Эти горизонты несовместимы.</a:t>
            </a:r>
            <a:br/>
            <a:br/>
            <a:r>
              <a:t>Deepwater Horizon двадцатого апреля 2010 года — исторический якорь. Не AI failure напрямую, но automation плюс human factors lessons релевантные для AI today. Macondo well, BP-operated, Transocean rig в Мексиканский залив. Negative pressure test misinterpreted под влиянием cognitive bias к minimization. Gas kick — blowout — explosion. Одиннадцать смертей. Четыре и девять десятых миллиона баррелей spilled за восемьдесят семь дней. Шестьдесят с лишним миллиардов долларов total cost для BP — это двадцать процентов годового revenue 2010 года.</a:t>
            </a:r>
            <a:br/>
            <a:br/>
            <a:r>
              <a:t>Четыре урока для AI today. Alarm system bypassed «to prevent waking workers с false alarms» — корпоративная культура bypass когда false positive rate высокий. Independent alarms без coordinated automation. Operator response — confusion: bridge officer Andrea Fleytas, двадцать три года, меньше двух лет опыта, видела massive alarm panel, не уверена что triggering response. Junior operator с simple system больше senior с complex AI. AI sophistication не заменяет operator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Возврат к несущая ось-матрице. Через все шесть разделов мы видели: AI в нефтегазе — не одна история, а четыре разных истории.</a:t>
            </a:r>
            <a:br/>
            <a:br/>
            <a:r>
              <a:t>Квадрант один. Mature production. AI как мультипликатор. Working cases: Ambyint InfinityRL плюс пятнадцать процентов на двухстах скважинах, Honeywell UOP Connect триста десять плюс юнитов, Роснефть Digital Field плюс один миллион тонн в год. Failures: восемьдесят шесть процентов застревание пилота по McKinsey; Aspen Mtell усталость от ложных тревог плюс refinery общезаводская стагнация; Cognite IPO postpone; C3.ai O&amp;G declining.</a:t>
            </a:r>
            <a:br/>
            <a:br/>
            <a:r>
              <a:t>Квадрант три. Frontier exploration. AI как дополнение поверх физический симуляторs. Working cases: Eni HPC6 шестьсот шесть PFLOPS Top500 пятое место, Aramco METABRAIN двести пятьдесят миллиардов параметров и один и восемь десятых миллиарда realized 2024, SLB Lumi сентябрь 2024, ExxonMobil Discovery 6 — 4D-сейсмика месяцы в недели, Stabroek Guyana. Failures: BP плюс Beyond Limits — двадцать миллионов разворот поставщика 2023; IBM Watson плюс Repsol Kalimba — 2014-2022 wind-down.</a:t>
            </a:r>
            <a:br/>
            <a:br/>
            <a:r>
              <a:t>Квадрант два. Methane MRV. AI как необходим для cross-modality fusion. Working cases: Carbon Mapper Tanager-1 август 2024, GHGSat тринадцать-satellite группировка середина 2025, Bridger Photonics aerial LiDAR. Failures: MethaneSAT loss июнь 2025 — пятнадцать с половиной месяцев из пяти плюс лет; четыре икс discrepancy MethaneSAT vs EPA — пятнадцать Mt vs четыре Mt.</a:t>
            </a:r>
            <a:br/>
            <a:br/>
            <a:r>
              <a:t>Квадрант четыре. Energy transition. AI и физика struggle вместе. Working pilots: Northern Lights CCS полтора Mt в год Норвегия; Fervo Energy EGS IPO май 2026 — один и восемьдесят девять сотых миллиарда привлечено. Failures: сто девяносто икс scale-up gap CCS — Northern Lights ноль и две сотых процента от needed scale; refinery общезаводская стагнация в многослойная физика frame.</a:t>
            </a:r>
            <a:br/>
            <a:br/>
            <a:r>
              <a:t>Раздел Россия — все четыре квадранта в санкционном режиме. Раздел шесть сквозной: cyber +935 процентов, 2020 crash 107 000 jobs, Deepwater Horizon 2010 alarm bypass.</a:t>
            </a:r>
            <a:br/>
            <a:br/>
            <a:r>
              <a:t>Когда AI работает. Q1 мультипликатор плюс Q2 необходим с triangulation. Когда осторожно. Q3 дополнение only — не пытаться replace senior geologist. Когда опасно. Q4 длинный горизонт plus safety-главный 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Лекции с одиннадцатой по шестнадцатую прошли шесть отраслевых deep-dive: дискретное и процессное производство, автоматизация и цифровые двойники, логистика и транспорт, телеком и AIOps, энергетика, нефтегаз. В Лекции семнадцать курс делает systematization — собирает кросс-отраслевые универсальные паттерны. Глава шестнадцать — последний отраслевой deep-dive перед этой синтезирующей лекцией.</a:t>
            </a:r>
            <a:br/>
            <a:br/>
            <a:r>
              <a:t>Три опорный концепт концепта, которые читатель должен унести — каждый портативен на любую следующую отрасль.</a:t>
            </a:r>
            <a:br/>
            <a:br/>
            <a:r>
              <a:t>Первый. AI-суждение как структурная задача — где применим, где нет. Главный инференциальный навык курса — не «как запустить AI», а «как определить, применим ли AI в данной задаче». В Лекции шестнадцать несущая ось-матрица «данные на физика» формализует этот вопрос для нефтегаза. Сам подход — структурный fit assessment — переносимый. В Лекции семнадцать обобщим: для любой отрасли существует две-три-мерная таксономия. Без этой диагностики AI-внедрение — азартная ставка, не инженерное решение.</a:t>
            </a:r>
            <a:br/>
            <a:br/>
            <a:r>
              <a:t>Второй. Альтернатива-как-исходный уровень. Уметь сформулировать альтернативный инструмент для каждой задачи, в которой обсуждается AI. В нефтегазе мы видели шесть alternative категорий: пластовые симуляторы, переносные анализаторы, классический APC (передовое управление процессом), SIS, старший эксперт, federated learning. Каждая — зрелый инженерный инструмент, который работает сейчас, без AI. AI добавляется только если измеримо улучшает исходный уровень с приемлемым риском. Без этого правила AI становится навязанным решением.</a:t>
            </a:r>
            <a:br/>
            <a:br/>
            <a:r>
              <a:t>Третий. Industry цикличность больше цикл AI-хайпа. 2020 crash как парадигматический случай: сто семь тысяч jobs lost за шесть месяцев, AI заморожены восемнадцать-двадцать четыре месяца. Каждая отрасль имеет свой цикл. дорожная карта AI должен иметь тестированный на устойчивость устойчивость против отраслевого цикла. AI не защищает от цикла — он эффект усиления.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закрывающий слайд лекции. Один ясный payoff.</a:t>
            </a:r>
            <a:br/>
            <a:br/>
            <a:r>
              <a:t>Слева — карта. В феврале 2026 года EDF и Google опубликовали первую глобальную карту метана на основе данных MethaneSAT, собранных за пятнадцать с половиной месяцев работы спутника до его потери двадцатого июня 2025. Эта карта — visual proof, что даже single point of failure infrastructure оставляет после себя measurable, reusable artifact.</a:t>
            </a:r>
            <a:br/>
            <a:br/>
            <a:r>
              <a:t>Справа — payoff. Десять разобранных провалов в этой лекции — Aspen alert fatigue, Cognite IPO postpone, C3.ai declining, BP плюс Beyond Limits, IBM плюс Repsol Kalimba, потеря MethaneSAT, четырёхкратный discrepancy между MethaneSAT и EPA inventory, CCS 190× scale gap, общезаводская стагнация НПЗ в Q4 frame, +935% ransomware атак — это не каталог технологических неудач. Это исходный материал для трёх переносимых cornerstone осей.</a:t>
            </a:r>
            <a:br/>
            <a:br/>
            <a:r>
              <a:t>Первая — AI judgment как структурная задача. Не «AI хороший или плохой», а «к какому квадранту матрицы относится конкретная задача и какая стратегия в этом квадранте работает». Эту ось вы будете применять в Лекциях 11–17 и далее в вашей работе.</a:t>
            </a:r>
            <a:br/>
            <a:br/>
            <a:r>
              <a:t>Вторая — альтернатива-как-исходный-уровень. Прежде чем сравнивать AI с идеалом, сравните его с альтернативой: классический симулятор, OGI-камера, senior геофизик. Это диагностический фильтр, отделяющий incremental gain от substantive deployment.</a:t>
            </a:r>
            <a:br/>
            <a:br/>
            <a:r>
              <a:t>Третья — industry cyclicality &gt; AI hype cycle. Нефтегаз — циклическая отрасль с горизонтами тридцать-сорок лет. AI hype cycles — три-пять лет. Если AI-проект структурно не переживёт следующий downturn, это не AI-проект, а упражнение в маркетинге.</a:t>
            </a:r>
            <a:br/>
            <a:br/>
            <a:r>
              <a:t>В Лекции 17 мы соберём опорные концепты с одиннадцатой по шестнадцатую как универсальные шаблоны. До встречи.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обычный Q&amp;A слайд после closing — отдельно от закрывающего hero. Три starter prompts вытянуты из chapter §8 backup, где разобраны двенадцать типовых вопросов с ответами по 200-400 слов каждый.</a:t>
            </a:r>
            <a:br/>
            <a:br/>
            <a:r>
              <a:t>Первый вопрос — о применимости к российскому контексту. Он подталкивает студентов привязать абстрактную матрицу к конкретным кейсам, которые мы прошли в Разделе 5 — Роснефть Digital Field в Q1, Газпром нефть Cognitive Geologist в Q3 и более ограниченные программы Татнефти, ЛУКОЙЛа, Сургутнефтегаза.</a:t>
            </a:r>
            <a:br/>
            <a:br/>
            <a:r>
              <a:t>Второй вопрос — про переносимость cornerstones. Это retention check: какую из трёх опорных идей студент готов взять к себе как универсальный инструмент? Если выбор — «AI judgment как структурная задача», значит он понял главное. Если «альтернатива-как-исходный-уровень», тоже отлично — это инженерная привычка. «Industry cyclicality» — самая контекстно-зависимая, но тоже валидный выбор.</a:t>
            </a:r>
            <a:br/>
            <a:br/>
            <a:r>
              <a:t>Третий вопрос — про критерии «не применять AI». Это самый практический — назовите два структурных критерия. Шесть разобранных критериев на лекции были: зрелый пласт плюс Eclipse работает; stripper-wells меньше десяти баррелей в день; custody transfer metering; BOP и SIS-системы; разведка фронтиров без аналогов; EU compliance reporting в OGMP Level пять. Любые два с примером — это сильный ответ.</a:t>
            </a:r>
            <a:br/>
            <a:br/>
            <a:r>
              <a:t>После трёх вопросов — переход к контактам и chapter §8 backup для тех, кто хочет глубже.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один. Q1 — зрелое производство. Это самый освоенный квадрант нефтегазового AI. Зрелое месторождение Пермского бассейна имеет историю добычи тридцать с лишним лет, тысячу пробуренных скважин, хорошо изученную геологию. Пластовая симуляция на Eclipse даёт надёжные прогнозы. Senior инженер по разработке с двадцатью с лишним лет опыта добавляет implicit knowledge.</a:t>
            </a:r>
            <a:br/>
            <a:br/>
            <a:r>
              <a:t>AI здесь не приходит «спасать». Он приходит как мультипликатор. Даёт плюс пять — пятнадцать процентов дополнительной добычи поверх уже оптимизированной операции. Ловит за несколько минут до каскадного отказа компрессор. Рекомендует оптимальный график перетоков в коллекторе.</a:t>
            </a:r>
            <a:br/>
            <a:br/>
            <a:r>
              <a:t>И всё равно — восемьдесят шесть процентов AI-проектов в энергетике застряли в пилотной фазе. Это парадокс, который определяет тон всего раздела. Мы будем разбирать конкретные рабочие кейсы — Ambyint, Aspen Mtell, Honeywell UOP, Роснефть Digital Field — и параллельно почему массовая статистика говорит, что большинство таких deployments не масштабируются.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два. Q3 — разведка фронтиров. Спускаемся в data-беднейший квадрант. Здесь профиль AI кардинально иной, чем в Q1.</a:t>
            </a:r>
            <a:br/>
            <a:br/>
            <a:r>
              <a:t>Размер выборки. Каждая разведочная скважина в новом районе — wildcat well, на сленге «дикая кошка», поскольку результат непредсказуем как охота на дикого зверя — стоит пятьдесят-сто миллионов долларов на офшорном глубоководном бурении. Существенно меньше — пять-двадцать миллионов — в наземной разведке. Невозможно «собрать ещё данных» без коммерчески-несостоятельных расходов. Размер обучающей выборки для нового бассейна — одна-пять скважин. Это структурно мало для любого современного ML-метода, включая базовая модельs.</a:t>
            </a:r>
            <a:br/>
            <a:br/>
            <a:r>
              <a:t>Что это значит. Foundation models, обученные на девяноста годах данных Aramco или на доступной библиотеке скважин SLB Petrel, не обобщаются на новый бассейн с принципиально иной геологией. Бассейн Tarim в Китае не похож на Пермский. Восточно-африканский рифт не похож ни на тот, ни на другой. AI здесь даёт предварительное отсеивание и ускорение существующих рабочих процессов, а не «замену геолога». И всё, что обещало большее — провалилось публично.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три. Q2 — методановая MRV. Это самый необычный квадрант на несущая ось-матрице.</a:t>
            </a:r>
            <a:br/>
            <a:br/>
            <a:r>
              <a:t>Доступность данных — высокая. Спутники GHGSat собирают терабайты гиперспектрального изображения в день; самолёты Bridger Photonics с Gas Mapping LiDAR делают сотни тысяч измерений за один полётный сезон; ручные OGI-камеры на нефтепромыслах генерируют десятки тысяч кадров.</a:t>
            </a:r>
            <a:br/>
            <a:br/>
            <a:r>
              <a:t>Физика — частично известная. Атмосферная физика метана хорошо описана для отдельной модальности — для гиперспектрального спутникового измерения один источник. Но слияние нескольких сенсоров — спутник плюс самолёт плюс дрон плюс ручная камера — и атрибуция малой утечки к конкретному источнику в сложной орографии — это открытая ML-задача.</a:t>
            </a:r>
            <a:br/>
            <a:br/>
            <a:r>
              <a:t>Почему AI необходим. Классической физически обоснованный методики, которая бы взяла наблюдения четырёх типов и слила их в одну согласованную оценку утечки на конкретном устье скважины — не существует. Альтернативы только классическая физика — нет.</a:t>
            </a:r>
            <a:br/>
            <a:br/>
            <a:r>
              <a:t>Но единичная уязвимость. Когда оператор полагается на один спутник как primary data source — что произойдёт, если спутник потеряют? Этот сюжет уже разыгрался в реальном времени. Через два слайда — детали.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четыре. Q4 — это самый честный квадрант несущая ось-матрицы. Не «AI revolution», не «AI необходим», не «AI как дополнение» — а AI и физика struggle вместе. И данных мало — единицы CCS-проектов в мире, единицы EGS-проектов. И физика на длинных горизонтах не закрыта — миграция облака CO₂ через подземные формации на сто лет, геомеханика нагрева в EGS на тридцать с лишним лет.</a:t>
            </a:r>
            <a:br/>
            <a:br/>
            <a:r>
              <a:t>Эта структура заставляет читателя смотреть на Q4 без иллюзий. Технологии обещают много. Достижения единичны. масштаб gap огромен.</a:t>
            </a:r>
            <a:br/>
            <a:br/>
            <a:r>
              <a:t>В Q1 у нас были данные и физика — AI работал как мультипликатор. В Q3 — физика была, данных не было — AI работал как дополнение. В Q2 — данные были, физики не было — AI работал как необходим. В Q4 — обе стороны слабые. И AI не может компенсировать обе слабости одновременно.</a:t>
            </a:r>
            <a:br/>
            <a:br/>
            <a:r>
              <a:t>Что это значит для развёртывания. Гибридный AI плюс physics — единственный workable путь. Long-horizon prediction структурно уязвимо к галлюцинация. масштаб gap огромен — он не закрывается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jpg"/><Relationship Id="rId4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3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01-ai-yolov8-oilg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50915"/>
            <a:ext cx="6858000" cy="385888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4406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Ultralytics · YOLOv8-OBB · промышленный демо · 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548640"/>
            <a:ext cx="4206240" cy="4937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0AB00"/>
                </a:solidFill>
                <a:latin typeface="Arial"/>
              </a:rPr>
              <a:t>AI видит</a:t>
            </a:r>
          </a:p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каждый резервуар</a:t>
            </a:r>
          </a:p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Computer vision на промысле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YOLOv8-OBB: rotated bounding boxes</a:t>
            </a:r>
          </a:p>
          <a:p>
            <a:pPr algn="l">
              <a:lnSpc>
                <a:spcPct val="11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Сотни резервуаров — секунды inference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Это не демо. Production-grade: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asset inventory без инспектора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оптимизация маршрута обхода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anomaly detection on geometry</a:t>
            </a:r>
          </a:p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Aramco METABRAIN — 0,41% выручки</a:t>
            </a:r>
          </a:p>
          <a:p>
            <a:pPr algn="l">
              <a:lnSpc>
                <a:spcPct val="11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в 2024 году. Большой AI = узкий ML.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5760720"/>
            <a:ext cx="11274552" cy="7315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833872"/>
            <a:ext cx="10908792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AI в нефтегазе — не «улучшалка на 5%», а способ закрыть конкретные провалы. И закрывает либо громко, либо публично проваливается.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Стержень</a:t>
            </a:r>
          </a:p>
        </p:txBody>
      </p:sp>
      <p:sp>
        <p:nvSpPr>
          <p:cNvPr id="4" name="Rectangle 3"/>
          <p:cNvSpPr/>
          <p:nvPr/>
        </p:nvSpPr>
        <p:spPr>
          <a:xfrm>
            <a:off x="206785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6785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Q1 Зрелое</a:t>
            </a:r>
          </a:p>
        </p:txBody>
      </p:sp>
      <p:sp>
        <p:nvSpPr>
          <p:cNvPr id="6" name="Rectangle 5"/>
          <p:cNvSpPr/>
          <p:nvPr/>
        </p:nvSpPr>
        <p:spPr>
          <a:xfrm>
            <a:off x="367850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7850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Q3 Разведка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528915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915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Q2 Метан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9980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9980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Q4 Новые опоры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1045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1045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6. Россия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2110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2110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7. Сквозные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0972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0" b="1" i="0">
                <a:solidFill>
                  <a:srgbClr val="D9E2EC"/>
                </a:solidFill>
                <a:latin typeface="Arial"/>
              </a:rPr>
              <a:t>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1371600"/>
            <a:ext cx="758952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Лекция 16</a:t>
            </a:r>
          </a:p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1295C"/>
                </a:solidFill>
                <a:latin typeface="Arial"/>
              </a:rPr>
              <a:t>AI в нефтегазовой отрасли</a:t>
            </a:r>
          </a:p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1295C"/>
                </a:solidFill>
                <a:latin typeface="Arial"/>
              </a:rPr>
              <a:t>и добыче ресурсов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393192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028090"/>
                </a:solidFill>
                <a:latin typeface="Arial"/>
              </a:rPr>
              <a:t>Шесть разделов через матрицу данные × физика.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0" y="4526280"/>
            <a:ext cx="7589520" cy="169164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7680" y="4617720"/>
            <a:ext cx="7315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Главный вопрос: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 каком квадранте матрицы «данные × физика» AI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становится мультипликатором классических методов,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а где он либо необходим, либо опасен — на материале</a:t>
            </a:r>
          </a:p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10 разобранных провалов индустрии 2014–2026?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Курс «Применение AI в инженерии» · Студенты-инженеры 3 курса ·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План лекции — 7 разделов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1C7293"/>
                </a:solidFill>
                <a:latin typeface="Arial"/>
              </a:rPr>
              <a:t>Не по цепочке создания стоимости, а по структуре AI-задачи: доступность данных × определённость процессов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563624" cy="4023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2980" y="1600200"/>
            <a:ext cx="502920" cy="5029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2980" y="16002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40280"/>
            <a:ext cx="138074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Стержень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97480"/>
            <a:ext cx="13807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Матрица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54680"/>
            <a:ext cx="1380744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Данные × процессы, 4 квадранта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66543" y="1463040"/>
            <a:ext cx="1563624" cy="4023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592324" y="1600200"/>
            <a:ext cx="502920" cy="5029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92324" y="16002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7984" y="2240280"/>
            <a:ext cx="138074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Q1 Зрелое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57984" y="2697480"/>
            <a:ext cx="13807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3 кейса · 2 провала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57984" y="3154680"/>
            <a:ext cx="1380744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Зрелое производство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75887" y="1463040"/>
            <a:ext cx="1563624" cy="4023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201668" y="1600200"/>
            <a:ext cx="502920" cy="5029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01668" y="16002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7327" y="2240280"/>
            <a:ext cx="138074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Q3 Разведка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67327" y="2697480"/>
            <a:ext cx="13807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3 кейса · 2 провала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67327" y="3154680"/>
            <a:ext cx="1380744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Разведка фронтиров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85232" y="1463040"/>
            <a:ext cx="1563624" cy="4023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1600200"/>
            <a:ext cx="502920" cy="5029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16002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6672" y="2240280"/>
            <a:ext cx="138074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Q2 Метан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76672" y="2697480"/>
            <a:ext cx="13807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4 системы · 2 провала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76672" y="3154680"/>
            <a:ext cx="1380744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Метановая MRV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94576" y="1463040"/>
            <a:ext cx="1563624" cy="4023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420356" y="1600200"/>
            <a:ext cx="502920" cy="5029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20356" y="16002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86016" y="2240280"/>
            <a:ext cx="138074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Q4 Новые опоры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86016" y="2697480"/>
            <a:ext cx="13807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2 пилота · 2 провала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86016" y="3154680"/>
            <a:ext cx="1380744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CCS + EGS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03920" y="1463040"/>
            <a:ext cx="1563624" cy="4023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029700" y="1600200"/>
            <a:ext cx="502920" cy="5029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29700" y="16002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95360" y="2240280"/>
            <a:ext cx="138074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Россия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0" y="2697480"/>
            <a:ext cx="13807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3 программы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95360" y="3154680"/>
            <a:ext cx="1380744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Санкции, инсорсинг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113264" y="1463040"/>
            <a:ext cx="1563624" cy="4023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639044" y="1600200"/>
            <a:ext cx="502920" cy="5029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639044" y="16002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4704" y="2240280"/>
            <a:ext cx="138074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Сквозные риски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04704" y="2697480"/>
            <a:ext cx="13807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2 провала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04704" y="3154680"/>
            <a:ext cx="1380744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Кибер + кризис 2020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5669280"/>
            <a:ext cx="11274552" cy="77724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5742432"/>
            <a:ext cx="1090879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Краткий словарь: MRV = выявление-учёт-проверка · OGI = оптическая газовая визуализация · CCS = улавливание и хранение углерода · EGS = улучшенные геотермальные системы · SIS = приборная система безопасности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Когда AI работает в нефтегазе? Доступность данных × определённость процессов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От разведки фронтиров до спутникового метана — AI имеет 4 разных профиля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" y="155448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Высокая 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" y="324612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Доступность
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" y="50749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↓ Низкая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58521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← Низкая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580644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Определённость
процессов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58521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Высокая 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417320"/>
            <a:ext cx="4572000" cy="205740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 w="317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Q2 — Метановая MRV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057400"/>
            <a:ext cx="4206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AI необходим
MethaneSAT / Carbon Mapper / GHGSat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417320"/>
            <a:ext cx="4572000" cy="20574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317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50876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Q1 — Зрелое производство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057400"/>
            <a:ext cx="4206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AI как мультипликатор
Ambyint +15% на 200 скважинах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54480" y="3611880"/>
            <a:ext cx="4572000" cy="205740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37360" y="370332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Q4 — Новые опоры (CCS + EGS)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4251960"/>
            <a:ext cx="4206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AI и физика буксуют вместе
Northern Lights / Fervo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3611880"/>
            <a:ext cx="4572000" cy="20574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317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370332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Q3 — Разведка фронтиров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251960"/>
            <a:ext cx="4206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Сначала физика, AI как дополнение
Aramco METABRAIN / Eni HPC6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6400800"/>
            <a:ext cx="11274552" cy="41148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73952"/>
            <a:ext cx="109087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 каждым AI-внедрением — альтернатива: физический симулятор, OGI-камера, классическая интерпретация.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Стержень</a:t>
            </a:r>
          </a:p>
        </p:txBody>
      </p:sp>
      <p:sp>
        <p:nvSpPr>
          <p:cNvPr id="4" name="Rectangle 3"/>
          <p:cNvSpPr/>
          <p:nvPr/>
        </p:nvSpPr>
        <p:spPr>
          <a:xfrm>
            <a:off x="2067850" y="182880"/>
            <a:ext cx="156493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6785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2. Q1 Зрелое</a:t>
            </a:r>
          </a:p>
        </p:txBody>
      </p:sp>
      <p:sp>
        <p:nvSpPr>
          <p:cNvPr id="6" name="Rectangle 5"/>
          <p:cNvSpPr/>
          <p:nvPr/>
        </p:nvSpPr>
        <p:spPr>
          <a:xfrm>
            <a:off x="367850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7850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Q3 Разведка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528915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915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Q2 Метан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9980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9980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Q4 Новые опоры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1045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1045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6. Россия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2110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2110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7. Сквозные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914400"/>
            <a:ext cx="5029200" cy="3291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0" b="1" i="0">
                <a:solidFill>
                  <a:srgbClr val="065A82"/>
                </a:solidFill>
                <a:latin typeface="Arial"/>
              </a:rPr>
              <a:t>Q1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43484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Зрелое производство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1371600"/>
            <a:ext cx="457200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AI здесь — мультипликатор классических методов. Самый освоенный квадрант. И самый структурно проваленный.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332720" y="777240"/>
            <a:ext cx="649224" cy="64922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0" y="777240"/>
            <a:ext cx="649224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4A556B"/>
                </a:solidFill>
                <a:latin typeface="Arial"/>
              </a:rPr>
              <a:t>Q2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018520" y="777240"/>
            <a:ext cx="649224" cy="649224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18520" y="777240"/>
            <a:ext cx="649224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21295C"/>
                </a:solidFill>
                <a:latin typeface="Arial"/>
              </a:rPr>
              <a:t>Q1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332720" y="1463040"/>
            <a:ext cx="649224" cy="64922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0" y="1463040"/>
            <a:ext cx="649224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4A556B"/>
                </a:solidFill>
                <a:latin typeface="Arial"/>
              </a:rPr>
              <a:t>Q4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018520" y="1463040"/>
            <a:ext cx="649224" cy="64922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18520" y="1463040"/>
            <a:ext cx="649224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4A556B"/>
                </a:solidFill>
                <a:latin typeface="Arial"/>
              </a:rPr>
              <a:t>Q3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87000" y="21031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 i="1">
                <a:solidFill>
                  <a:srgbClr val="4A556B"/>
                </a:solidFill>
                <a:latin typeface="Arial"/>
              </a:rPr>
              <a:t>процессы 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224028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4A556B"/>
                </a:solidFill>
                <a:latin typeface="Arial"/>
              </a:rPr>
              <a:t>keystone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486400"/>
            <a:ext cx="11274552" cy="77724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559552"/>
            <a:ext cx="1090879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3 рабочих кейса · 2 структурных провала · 86% пилотов застряло — статистическая норма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86% AI-проектов в энергетике застряли в пилоте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McKinsey State of AI 2024 — vs средний по отраслям ~67%. Энергетика на 18 п.п. хуже среднего.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486400" cy="420624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07-pilot-stu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57400"/>
            <a:ext cx="5120640" cy="320039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126480" y="1554480"/>
            <a:ext cx="5605272" cy="420624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691640"/>
            <a:ext cx="533095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5 структурных причин: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1. Данные. 60–80% времени AI-проекта = очистка данных. Только 21% энергокомпаний имеют качество для AI промышленного уровня.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2. Интеграция со старой IT. Стоимость интеграции SCADA/MES/ERP — в 3–5× выше стоимости AI-софта.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3. Дефицит кадров. AI + предметная область. После кризиса 2020 — 107 тыс. рабочих мест потеряно.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4. Культура безопасности. Старший оператор отказывает рискованной рекомендации — и часто прав.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5. Горизонт окупаемости. AI-поставщик обещает 12–18 мес; срок жизни месторождения 20–30 лет. Несовместимо.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Это не «AI плохой» — это статистическая норма отрасли. 14% работают vs 86% застряли — инженерный фильтр, а не приговор.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«Усталость от ложных тревог устранена» — это маркетинг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Aspen Mtell на нефтепереработке: 100–500 ложных тревог в день; общезаводские пилоты тихо закрываются.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0292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09-as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13221"/>
            <a:ext cx="4663440" cy="121443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3492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AspenTech · страница продукта Aspen Mtell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554480"/>
            <a:ext cx="60624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645920"/>
            <a:ext cx="576072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Маркетинг (AspenTech):</a:t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«Снижение незапланированного простоя на 60%»</a:t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«Усталость операторов устранена»</a:t>
            </a:r>
          </a:p>
          <a:p>
            <a:pPr algn="l">
              <a:lnSpc>
                <a:spcPct val="13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C0392B"/>
                </a:solidFill>
                <a:latin typeface="Arial"/>
              </a:rPr>
              <a:t>Реальность на НПЗ: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100–500 ложных тревог/день — оператор перестаёт реагировать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Успех на одной колонне → общезаводской пилот тихо закрыт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Honeywell UOP 310+ установок / ~700 НПЗ = ~44% охвата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Многие НПЗ — «классический APC без AI»</a:t>
            </a:r>
          </a:p>
          <a:p>
            <a:pPr algn="l">
              <a:lnSpc>
                <a:spcPct val="13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Структурный разрыв: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Многослойная физика (масса + энергия + реакция + коррозия) ломает ML-суррогаты на нестандартных режимах.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80644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87959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Урок: отчёт поставщика ≠ реальность на установке. Коммерческий учёт, SIS, общезаводская переработка — AI ещё не дошёл.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Ambyint InfinityRL: +15% на 200 скважинах Permian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Канадский стартап Калгари (2014), $25 млн раунд Series B 2022. Обучение с подкреплением для оптимизации механизированной добычи.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08-ambyint-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03120"/>
            <a:ext cx="5120640" cy="320039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126480" y="164592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783080"/>
            <a:ext cx="533095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Метрики кейса: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Регионы: Permian + Eagle Ford + Bakken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Тип: штанговые насосы + ЭЦН (зрелая добыча)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Исходный уровень: 100–500 баррелей/день на скважину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Прирост: +15% от среднего исторического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· На 200 скважинах: +3 000–15 000 баррелей/день суммарно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Почему это сильный кейс: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1. Проверяемая база — не «спас $10 млн» без знаменателя.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2. Обучение с подкреплением поверх классики — дополнение, не замена.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3. Узкая область — оптимизация подъёма, не «AI везде».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Когда Ambyint НЕ работает: стрипперные скважины (&lt;10 баррелей/день). +15% = +1,5 барр./день; стоимость развёртывания &gt; извлечённой ценности.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Ландшафт поставщиков Q1 — 3 группы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Тот же режим (прогностическое обслуживание) реализуют 10+ поставщиков. Режим ≠ бренд.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3657600" cy="39319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3657600" cy="86868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ML-стартапы
для добычи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32918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Ambyint (Калгари) — InfinityRL для
механизированной добычи</a:t>
            </a:r>
          </a:p>
          <a:p>
            <a:pPr algn="l">
              <a:lnSpc>
                <a:spcPct val="13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OspreyData (→ Mesquite 2022) —
ML с экспертом для ЭЦН, газлифта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1463040"/>
            <a:ext cx="3657600" cy="39319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51960" y="1463040"/>
            <a:ext cx="3657600" cy="8686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554480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Корпоративные
(нацкомпании + супермэйджоры)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468880"/>
            <a:ext cx="32918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SLB Avocet — ПО управления
добычей с ML с 2020+</a:t>
            </a:r>
          </a:p>
          <a:p>
            <a:pPr algn="l">
              <a:lnSpc>
                <a:spcPct val="13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Halliburton DecisionSpace
Production — аналог. Промышленный масштаб.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463040"/>
            <a:ext cx="3657600" cy="39319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463040"/>
            <a:ext cx="3657600" cy="8686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554480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НПЗ + трубопроводы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68880"/>
            <a:ext cx="32918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AspenTech Aspen Mtell (Emerson)
— растёт через перекрёстные продажи</a:t>
            </a:r>
          </a:p>
          <a:p>
            <a:pPr algn="l">
              <a:lnSpc>
                <a:spcPct val="13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Honeywell UOP Connect — 310+
установок / ~700 НПЗ = ~44%</a:t>
            </a:r>
          </a:p>
          <a:p>
            <a:pPr algn="l">
              <a:lnSpc>
                <a:spcPct val="13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Yokogawa / ABB Genix / Emerson —
конкуренты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532120"/>
            <a:ext cx="11274552" cy="77724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605272"/>
            <a:ext cx="1090879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Бурение (дополнительно): Nabors PACE-X (4-мильный ствол Bakken) · NOV NOVOS · Precision Drilling AlphaAutomation. Режим = автоматизация бурения; бренд вторичен.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Роснефть Digital Field на Башнефть Илишевское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Внутренняя разработка после ухода Roxar / Schlumberger в 2022. Вертикальная интеграция по умолчанию.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21208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Метрики Илишевского, 2024:</a:t>
            </a:r>
          </a:p>
          <a:p>
            <a:pPr algn="l">
              <a:lnSpc>
                <a:spcPct val="12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F0AB00"/>
                </a:solidFill>
                <a:latin typeface="Arial"/>
              </a:rPr>
              <a:t>+1 Mt/год</a:t>
            </a:r>
          </a:p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дополнительной нефти (= +5,9% от ~17 Mt/год)</a:t>
            </a:r>
          </a:p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~1 млрд ₽/год</a:t>
            </a:r>
          </a:p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дополнительного эффекта</a:t>
            </a:r>
          </a:p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23 продукта (10 коммерциализованных)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+60% удалённого управления · +5% энергоэфф. · −5% логистики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4592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783080"/>
            <a:ext cx="533095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Контекст: санкции → внутренняя разработка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После марта 2022 — Roxar (Schlumberger), AspenTech, Honeywell ушли с РФ.</a:t>
            </a:r>
          </a:p>
          <a:p>
            <a:pPr algn="l">
              <a:lnSpc>
                <a:spcPct val="13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Вертикальная интеграция — необходимость, не выбор.</a:t>
            </a:r>
          </a:p>
          <a:p>
            <a:pPr algn="l">
              <a:lnSpc>
                <a:spcPct val="13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Ближе к китайской модели (Sinopec, CNOOC), чем к американской на основе поставщиков.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Оговорка:</a:t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Российские KPI — самоотчёт в пресс-релизе; независимый аудит ограничен санкциями. Тот же уровень осторожности, что для Aramco $1,8 млрд.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Башнефть Илишевское — типичное зрелое месторождение Q1: эксплуатируется с 1980-х, ~17 млн т/год исходный уровень. Пилотировать AI на известном активе, не на фронтире.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Cognite + C3.ai: чистые AI-вендоры теряют долю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Базовые модели поедают узких отраслевых AI-вендоров. Адресуемый рынок уже, чем ожидалось.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486400" cy="64008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4592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Cognite (Норвегия, выделён из Aker BP 2017)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23160"/>
            <a:ext cx="51206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2018: оценка ~$300 млн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2021–2022: план IPO $2–3 млрд в 2023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2023: IPO отменён — рыночные условия + сжигание капитала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2024: ARR (годовая повторяющаяся выручка) $94 млн (+40%), 871 сотрудник после реструктуризации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2026: «время IPO неопределённо» (отчёт Aker ASA)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64592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45352" y="1645920"/>
            <a:ext cx="5486400" cy="6400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164592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C3.ai (США, основан 2009 Tom Siebel)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423160"/>
            <a:ext cx="51206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BHC3 JV с Baker Hughes (2019) — реструктурирован к 2023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ФГ24 нефтегаз = 5,9% выручки = ~$18 млн из $310 млн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ФГ25: «не-нефтегазовая выручка +48%» → нефтегаз уменьшается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C3.ai сместил фокус на федеральный/оборонный сектор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IPO 2020: $42 → пик ~$15 млрд → 2026: ~$3–4 млрд (−70–80% от пика)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Базовые модели (SLB Lumi, METABRAIN) поедают узкоспециализированных: (a) большая модель + лёгкое дообучение (LoRA) &gt; специализированная; (b) крупные нацкомпании разрабатывают свои базовые модели.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Когда AI НЕ нужен в Q1 — 6 структурных критериев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Дистиллировано из практики последних 5 лет. Каждый — с конкретной альтернативой.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94360" y="1600200"/>
            <a:ext cx="548640" cy="54864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002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4592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Зрелый пласт + классический симулятор (Eclipse)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329184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Опытный инженер + классический симулятор дают надёжные ответы. ML — накладные расходы без существенного прироста.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46304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389120" y="1600200"/>
            <a:ext cx="548640" cy="54864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16002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164592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Стрипперные скважины (&lt;10 барр./день)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240280"/>
            <a:ext cx="329184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Прибавка +15% = +1,5 барр./день; стоимость развёртывания &gt; извлечённой ценности. Юнит-экономика отрицательная.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46304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600200"/>
            <a:ext cx="548640" cy="5486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16002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4592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Коммерческий учёт нефти (custody transfer)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240280"/>
            <a:ext cx="329184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Передача товарной нефти. Регулятор требует расходомер 0,2% точности. Не «чёрный ящик» ML.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0332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94360" y="3840480"/>
            <a:ext cx="548640" cy="54864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8404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88620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Аварийная остановка (BOP/PRV/ESD) — 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480559"/>
            <a:ext cx="329184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SIL3/SIL4 по IEC 61511 = детерминировано + сертифицируемо. ML не сертифицируется.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51960" y="370332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389120" y="3840480"/>
            <a:ext cx="548640" cy="54864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38404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388620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Разведка фронтиров без аналогов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480559"/>
            <a:ext cx="329184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ML не на чем обучать. Опытный геофизик + классическая интерпретация (далее в Разделе 2).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370332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840480"/>
            <a:ext cx="548640" cy="54864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83880" y="38404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23960" y="388620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Отчётность EU Methane Reg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4480559"/>
            <a:ext cx="329184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Прослеживаемость обязательна — не оценка «чёрного ящика». Регуляторное соответствие.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6080760"/>
            <a:ext cx="11274552" cy="41148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153912"/>
            <a:ext cx="109087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Главный навык курса: уметь сказать «нет» там, где AI не нужен. 14% работают vs 86% застряли — разница часто именно здесь.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Стержень</a:t>
            </a:r>
          </a:p>
        </p:txBody>
      </p:sp>
      <p:sp>
        <p:nvSpPr>
          <p:cNvPr id="4" name="Rectangle 3"/>
          <p:cNvSpPr/>
          <p:nvPr/>
        </p:nvSpPr>
        <p:spPr>
          <a:xfrm>
            <a:off x="206785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6785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Q1 Зрелое</a:t>
            </a:r>
          </a:p>
        </p:txBody>
      </p:sp>
      <p:sp>
        <p:nvSpPr>
          <p:cNvPr id="6" name="Rectangle 5"/>
          <p:cNvSpPr/>
          <p:nvPr/>
        </p:nvSpPr>
        <p:spPr>
          <a:xfrm>
            <a:off x="3678500" y="182880"/>
            <a:ext cx="156493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7850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 Q3 Разведка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528915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915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Q2 Метан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9980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9980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Q4 Новые опоры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1045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1045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6. Россия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2110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2110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7. Сквозные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914400"/>
            <a:ext cx="5029200" cy="3291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0" b="1" i="0">
                <a:solidFill>
                  <a:srgbClr val="1C7293"/>
                </a:solidFill>
                <a:latin typeface="Arial"/>
              </a:rPr>
              <a:t>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43484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Разведка фронтиров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1371600"/>
            <a:ext cx="457200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Каждая поисковая скважина = $50–100 млн. Размер выборки 1–5 скважин. ML не обобщается без аналогов. Физика — эталон, AI как дополнение.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332720" y="777240"/>
            <a:ext cx="649224" cy="64922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0" y="777240"/>
            <a:ext cx="649224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4A556B"/>
                </a:solidFill>
                <a:latin typeface="Arial"/>
              </a:rPr>
              <a:t>Q2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018520" y="777240"/>
            <a:ext cx="649224" cy="64922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18520" y="777240"/>
            <a:ext cx="649224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4A556B"/>
                </a:solidFill>
                <a:latin typeface="Arial"/>
              </a:rPr>
              <a:t>Q1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332720" y="1463040"/>
            <a:ext cx="649224" cy="64922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0" y="1463040"/>
            <a:ext cx="649224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4A556B"/>
                </a:solidFill>
                <a:latin typeface="Arial"/>
              </a:rPr>
              <a:t>Q4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018520" y="1463040"/>
            <a:ext cx="649224" cy="649224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18520" y="1463040"/>
            <a:ext cx="649224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21295C"/>
                </a:solidFill>
                <a:latin typeface="Arial"/>
              </a:rPr>
              <a:t>Q3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87000" y="21031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 i="1">
                <a:solidFill>
                  <a:srgbClr val="4A556B"/>
                </a:solidFill>
                <a:latin typeface="Arial"/>
              </a:rPr>
              <a:t>процессы 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224028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4A556B"/>
                </a:solidFill>
                <a:latin typeface="Arial"/>
              </a:rPr>
              <a:t>keystone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486400"/>
            <a:ext cx="11274552" cy="77724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559552"/>
            <a:ext cx="1090879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3 рабочих кейса · 2 провала десятилетия · гонка суперкомпьютеров $100–400 млн на инсталляцию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Гонка суперкомпьютеров (HPC) Q3: $100–400 млн на инсталляцию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Не превращается в товар как облако — стратегические капитальные затраты. Малые операторы вытесняются капитальным барьером.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5486400" cy="5029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Eni HPC6 (декабрь 2024)</a:t>
            </a:r>
          </a:p>
        </p:txBody>
      </p:sp>
      <p:pic>
        <p:nvPicPr>
          <p:cNvPr id="7" name="Picture 6" descr="s14-en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8640" y="2286000"/>
            <a:ext cx="2763520" cy="1554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3931920"/>
            <a:ext cx="5212080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606 PFLOPS пиковая · 477 устойчивая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14 000 AMD MI250X GPU</a:t>
            </a:r>
          </a:p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$104 млн капитальных затрат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Top500 #5 мирового рейтинга</a:t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Стратегия: дешевле за FLOP (AMD vs NVIDIA)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69164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1691640"/>
            <a:ext cx="5605272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91640"/>
            <a:ext cx="533095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Aramco METABRAIN (2024–2025)</a:t>
            </a:r>
          </a:p>
        </p:txBody>
      </p:sp>
      <p:pic>
        <p:nvPicPr>
          <p:cNvPr id="12" name="Picture 11" descr="s14-aramco-ro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3256" y="2286000"/>
            <a:ext cx="2331720" cy="1554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63640" y="3931920"/>
            <a:ext cx="5330952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~250 млрд параметров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7 трлн токенов = 90 лет данных Aramco</a:t>
            </a:r>
          </a:p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$1,8 млрд реализовано в 2024 (Давос янв 2025)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6 000 сотрудников обучены, 430 сценариев применения</a:t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Источник: CEO Amin Nasser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Aramco выручка 2024 = $436,6 млрд → $1,8 млрд / $436,6 млрд = 0,41%. AI добавляет полпроцента к полностью оптимизированной операции.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SLB Lumi (сентябрь 2024) — базовая модель поверх Petrel + Delfi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Якорные заказчики: Aker BP, Shell, Azule Energy. Вычислительная база — NVIDIA Grace Hopper.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029200" cy="4023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15-slb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843" y="1828800"/>
            <a:ext cx="4599913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5321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SLB / Schlumberger пресс-кит · 2024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691640"/>
            <a:ext cx="6062472" cy="4023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783080"/>
            <a:ext cx="5760720" cy="3886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Lumi делает: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Интерпретация петрофизики — каротаж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Автотрассировка сейсмических горизонтов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Предварительная характеристика коллектора — фации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Оптимизация параметров бурения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Контекст: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Цифровая выручка SLB 2024 = $2+ млрд = 5,7% от $35 млрд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Halliburton + OpenAI/Anthropic — через партнёрства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· Режим «отраслевая базовая модель» ≠ бренд «Lumi»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Через 2-3 года: SLB Lumi 2.0 или конкурент. Бренд вторичен, режим (базовая модель на 80+ лет отраслевых данных) первичен.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ExxonMobil Discovery 6 — 4D-сейсмика месяцы → недели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HPE Cray EX4000, 4 032 NVIDIA Grace Hopper, 4× вычислений vs Discovery 5. $200–400 млн капитальных затрат.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029200" cy="4023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16-stabroe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343150"/>
            <a:ext cx="4754880" cy="26746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5321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USS Normandy у FPSO в Stabroek Block · US Navy / Wikimedia Commons (PD)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691640"/>
            <a:ext cx="6062472" cy="4023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783080"/>
            <a:ext cx="5760720" cy="3886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делает Discovery 6: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4D-сейсмика (3D + время) — месяцы → недели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Активное управление пластом в реальном времени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Stabroek Block Guyana — основной сценарий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Кейс Stabroek: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6 плавучих платформ (FPSO) к 2026</a:t>
            </a:r>
          </a:p>
          <a:p>
            <a:pPr algn="l">
              <a:lnSpc>
                <a:spcPct val="125000"/>
              </a:lnSpc>
            </a:pPr>
            <a:r>
              <a:rPr sz="2800" b="1" i="0">
                <a:solidFill>
                  <a:srgbClr val="F0AB00"/>
                </a:solidFill>
                <a:latin typeface="Arial"/>
              </a:rPr>
              <a:t>$1 млрд+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высвобождено через быстрое перепозиционирование скважин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Параллель Aramco METABRAIN: тот же режим, разные стратегии (США vs Саудовская Аравия).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Капитальный барьер: $200–400 млн для топового суперкомпьютера исключает 95% операторов. Только нацкомпании + супермэйджоры.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BP + Beyond Limits — $20 млн, разворот поставщика в 2023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BP Ventures, раунд Series B июнь 2017 → Beyond Limits разворот в медицину/производство 2023.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5486400" cy="5029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Что обещали (2018):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120640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«AI впитает знания геологов</a:t>
            </a:r>
          </a:p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и будет имитировать их решения».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Происхождение: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NASA JPL (наследие $20 млн)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Glendale, Калифорния, 2014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«Когнитивный AI» как отличие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Сигналы BP 2018: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$20 млн Series B июнь 2017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Попытка ребрендинга Beyond Petroleum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Публичное обязательство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9164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80" y="1691640"/>
            <a:ext cx="5605272" cy="5029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691640"/>
            <a:ext cx="533095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Что получили (2018–2023):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331720"/>
            <a:ext cx="5239512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>
                <a:solidFill>
                  <a:srgbClr val="F0AB00"/>
                </a:solidFill>
                <a:latin typeface="Arial"/>
              </a:rPr>
              <a:t>7 лет публичных</a:t>
            </a:r>
          </a:p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результатов нет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0 кейсов на сайте BP после 2019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0 публикаций в Society of Petroleum Engineers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Beyond Limits разворот в медицину/производство 2023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C0392B"/>
                </a:solidFill>
                <a:latin typeface="Arial"/>
              </a:rPr>
              <a:t>3 урока: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1. Концентрация на одном малом поставщике — риск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2. Когнитивный маркетинг — антропоморфное обещание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3. Рамка имитации — AI не имитирует, он аппроксимирует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«Когнитивный AI имитирует геолога» — антропоморфная рамка, скрывающая оценку структурной применимости.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IBM Watson + Repsol Kalimba (2014–2022)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Цикл хайпа 2014–2016 → реальное коммерческое применение ≤10% от ожиданий. Watson Industry Solutions стагнация 2018–2022.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5486400" cy="5029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Проект Kalimba 2014–2022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120640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2014: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IBM + Repsol объявляют партнёрство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Cognitive Environments Lab (Нью-Йорк) + Repsol Tech Centre (Мадрид)</a:t>
            </a:r>
          </a:p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· «Когнитивные вычисления для разведки»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2014–2022: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30 лет данных разведки «проанализированы»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Конкретных новых открытий не объявлено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Бюджет разведки Repsol сократился с 2019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C0392B"/>
                </a:solidFill>
                <a:latin typeface="Arial"/>
              </a:rPr>
              <a:t>2022: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Тихое сворачивание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9164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80" y="1691640"/>
            <a:ext cx="5605272" cy="5029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691640"/>
            <a:ext cx="533095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Watson Health parallel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331720"/>
            <a:ext cx="5239512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i="0">
                <a:solidFill>
                  <a:srgbClr val="F0AB00"/>
                </a:solidFill>
                <a:latin typeface="Arial"/>
              </a:rPr>
              <a:t>$5 млрд+</a:t>
            </a:r>
          </a:p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инвестиций IBM в Watson Health 2015–2021</a:t>
            </a:r>
          </a:p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продан Francisco Partners в 2022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за ~$1 млрд (= 20% от инвестиций)</a:t>
            </a:r>
          </a:p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C0392B"/>
                </a:solidFill>
                <a:latin typeface="Arial"/>
              </a:rPr>
              <a:t>3 урока: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1. Универсальный «когнитивный» AI не масштабируется в узкую область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2. Цикл хайпа 2014–2016 → реальное применение ≤10% от ожиданий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3. SLB Lumi и Aramco METABRAIN — отраслевые = успешнее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Watson Health → ~$1 млрд продан = $5 млрд инвестиций vs $1 млрд продажа = провал $4 млрд. Косвенный якорь: Kalimba не был исключением — он был частью паттерна.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Альтернатива Q3: физические симуляторы + старшая экспертиза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AI как дополнение поверх, не как замена. Через 5 лет Eclipse будет стандартом — не AI-замена.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1828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137160" cy="18288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Eclipse (SLB)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Отраслевой стандарт симулятора пласта с 1983.
Зрелые коллекторы + регуляторные отчёты.
Связанные уравнения флюид + теплопередача + химия.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91640"/>
            <a:ext cx="5486400" cy="1828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80" y="1691640"/>
            <a:ext cx="137160" cy="18288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INTERSECT (SLB)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4028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Преемник для массивно-параллельных суперкомпьютеров.
Крупные модели, более мелкая сетка.
Заменяет Eclipse на топовых проектах.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703320"/>
            <a:ext cx="5486400" cy="1828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703320"/>
            <a:ext cx="137160" cy="18288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947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CMG IMEX / STARS / GEM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25196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Computer Modelling Group (Калгари).
IMEX «чёрная нефть», STARS тепловые/МУН, GEM композиционный.
Лидер в тяжёлой нефти + МУН (методы увеличения нефтеотдачи).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3703320"/>
            <a:ext cx="5486400" cy="1828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3703320"/>
            <a:ext cx="137160" cy="18288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7947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OpenFOAM (CFD)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25196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Открытый CFD для расчётов NPV,
геомеханики, моделирования ГРП.
Исследования + характеристика коллектора.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623560"/>
            <a:ext cx="11274552" cy="77724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696712"/>
            <a:ext cx="1090879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Старший геофизик ($200–500 тыс./год) + классическая интерпретация &gt; $5–20 млн базовая модель на фронтире. PINN (нейросеть с встроенной физикой) — исследовательский уровень, не коммерческий. AI как дополнение, не замена.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Алфавит метановой MRV — 6 обязательных терминов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Все встретятся в следующих 8 слайдах. Названия брендов — не переводим.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3657600" cy="54864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5087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MRV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3291840" cy="132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Monitoring / Reporting / Verification
= выявление-учёт-проверка
Обязательно под EU 2024/1787.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146304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51960" y="1463040"/>
            <a:ext cx="3657600" cy="5486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5087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OGI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103120"/>
            <a:ext cx="3291840" cy="132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Optical Gas Imaging
= оптическая газовая визуализация
ИК-камера (FLIR GFx320, Opgal EyeCGas).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46304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463040"/>
            <a:ext cx="3657600" cy="5486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15087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LDAR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103120"/>
            <a:ext cx="3291840" cy="132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Leak Detection And Repair
= программа выявления и устранения утечек
4×/год обходы с OGI + ремонт 5-15 дней.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703320"/>
            <a:ext cx="3657600" cy="5486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374903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OGMP 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343400"/>
            <a:ext cx="3291840" cy="132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Oil &amp; Gas Methane Partnership 2.0 (UN)
Уровень 5 — прямое измерение.
170+ компаний подписали.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51960" y="370332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51960" y="3703320"/>
            <a:ext cx="3657600" cy="54864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0" y="374903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SIL / 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343400"/>
            <a:ext cx="3291840" cy="132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Safety Integrity Level / Safety Instrumented System
IEC 61511. SIL3 = 0,001–0,0001 PFD.
ML не сертифицируется.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370332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46720" y="3703320"/>
            <a:ext cx="3657600" cy="5486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83880" y="374903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барр./день / ЭЦН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4343400"/>
            <a:ext cx="3291840" cy="132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Баррелей нефти в день / Электроцентробежный насос
(Electric Submersible Pump)
Стрипперные скважины &lt;10 барр./день.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80760"/>
            <a:ext cx="11274552" cy="41148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153912"/>
            <a:ext cx="109087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Дополнительно: AI необходим именно потому, что OGI + Picarro + LI-COR покрывают уровень площадки — точечное выявление утечки требует слияния 4 сенсоров.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Стержень</a:t>
            </a:r>
          </a:p>
        </p:txBody>
      </p:sp>
      <p:sp>
        <p:nvSpPr>
          <p:cNvPr id="4" name="Rectangle 3"/>
          <p:cNvSpPr/>
          <p:nvPr/>
        </p:nvSpPr>
        <p:spPr>
          <a:xfrm>
            <a:off x="206785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6785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Q1 Зрелое</a:t>
            </a:r>
          </a:p>
        </p:txBody>
      </p:sp>
      <p:sp>
        <p:nvSpPr>
          <p:cNvPr id="6" name="Rectangle 5"/>
          <p:cNvSpPr/>
          <p:nvPr/>
        </p:nvSpPr>
        <p:spPr>
          <a:xfrm>
            <a:off x="367850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7850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Q3 Разведка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5289150" y="182880"/>
            <a:ext cx="156493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915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4. Q2 Метан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9980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9980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Q4 Новые опоры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1045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1045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6. Россия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2110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2110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7. Сквозные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914400"/>
            <a:ext cx="5029200" cy="3291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0" b="1" i="0">
                <a:solidFill>
                  <a:srgbClr val="028090"/>
                </a:solidFill>
                <a:latin typeface="Arial"/>
              </a:rPr>
              <a:t>Q2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43484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Метановая MRV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1371600"/>
            <a:ext cx="457200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Данные — петабайты в день. Физика — разорвана. Слияние 4 сенсоров + атрибуция малой утечки — открытая ML-задача. AI необходим. Но один спутник = катастрофическая единичная уязвимость.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332720" y="777240"/>
            <a:ext cx="649224" cy="649224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0" y="777240"/>
            <a:ext cx="649224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21295C"/>
                </a:solidFill>
                <a:latin typeface="Arial"/>
              </a:rPr>
              <a:t>Q2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018520" y="777240"/>
            <a:ext cx="649224" cy="64922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18520" y="777240"/>
            <a:ext cx="649224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4A556B"/>
                </a:solidFill>
                <a:latin typeface="Arial"/>
              </a:rPr>
              <a:t>Q1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332720" y="1463040"/>
            <a:ext cx="649224" cy="64922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0" y="1463040"/>
            <a:ext cx="649224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4A556B"/>
                </a:solidFill>
                <a:latin typeface="Arial"/>
              </a:rPr>
              <a:t>Q4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018520" y="1463040"/>
            <a:ext cx="649224" cy="64922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18520" y="1463040"/>
            <a:ext cx="649224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4A556B"/>
                </a:solidFill>
                <a:latin typeface="Arial"/>
              </a:rPr>
              <a:t>Q3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87000" y="21031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 i="1">
                <a:solidFill>
                  <a:srgbClr val="4A556B"/>
                </a:solidFill>
                <a:latin typeface="Arial"/>
              </a:rPr>
              <a:t>процессы 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224028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4A556B"/>
                </a:solidFill>
                <a:latin typeface="Arial"/>
              </a:rPr>
              <a:t>keystone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486400"/>
            <a:ext cx="11274552" cy="77724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559552"/>
            <a:ext cx="1090879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4 рабочих системы · 2 провала · регуляторное давление со стороны EU 2024/1787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MethaneSAT (4 марта 2024) — ключевой результат по Permian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Первый в истории спутник, владелец которого — экологическая некоммерческая организация. Бюджет $88 млн.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22-methanes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060829"/>
            <a:ext cx="5212080" cy="27363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07492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MethaneSAT / EDF ·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349240"/>
            <a:ext cx="5212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Что отличало MethaneSAT: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9164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533095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Технические возможности: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Широкий охват — 200×200 км за один проход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Высокая точность — порог детекции ~500 кг/ч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Открытый доступ через Google Earth Engine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Ключевой результат по Permian:</a:t>
            </a:r>
          </a:p>
          <a:p>
            <a:pPr algn="l">
              <a:lnSpc>
                <a:spcPct val="125000"/>
              </a:lnSpc>
            </a:pPr>
            <a:r>
              <a:rPr sz="3200" b="1" i="0">
                <a:solidFill>
                  <a:srgbClr val="F0AB00"/>
                </a:solidFill>
                <a:latin typeface="Arial"/>
              </a:rPr>
              <a:t>410 т/ч</a:t>
            </a:r>
          </a:p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метана = +50% над оценкой EPA (~273 т/ч)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Нью-Мексико: 1,2% интенсивности утечек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Техас: 3,1% интенсивности утечек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~2 000 файлов данных за 15,5 мес работы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+50% над EPA — это не «AI ошибается». Это AI измеряет, а EPA считает по коэффициентам эмиссий 30-летней давности.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20 июня 2025 — MethaneSAT потерян после 15,5 месяцев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4 марта 2024 запуск → 20 июня 2025 «аномалия аппарата». 26% от расчётного 5-летнего срока.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5486400" cy="5029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Хронология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120640" cy="342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4 марта 2024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Запуск SpaceX Falcon 9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Март 2024 — июнь 2025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15,5 месяцев операций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~2 000 файлов данных собрано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20 июня 2025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«Аномалия аппарата» — потеря связи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15,5 / 60 мес расчётных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= 26% реализованного срока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$5,7 млн/мес фактически vs $1,5 млн/мес планировалось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9164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80" y="1691640"/>
            <a:ext cx="5605272" cy="5029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691640"/>
            <a:ext cx="533095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4 урока потери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331720"/>
            <a:ext cx="5330952" cy="342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1. Единая точка отказа (SPOF)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Один спутник = катастрофический вектор потери. Группировка (GHGSat 13+) — устойчива.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2. Надёжность аппаратуры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Открытый космос ≠ контролируемая лаборатория. 26% срока — высокий риск.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3. Регуляторное ограничение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Инспектор по EU 2024/1787 не может полагаться на один источник. Диверсификация обязательна.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4. AI ≠ верхний слой данных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Софт работает. Аппаратура отказала. AI зависит от верхнего слоя.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Урок: регуляторная инфраструктура требует диверсифицированной сенсорной сети, не одного спутника. AI зависит от аппаратуры на верхнем слое.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После MethaneSAT: Carbon Mapper + GHGSat + Bridger + SeekOps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Диверсифицированная сенсорная сеть — то, чем должен был быть MethaneSAT. Несколько провайдеров после потери.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1874519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5486400" cy="4572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Carbon Mapper Tanager-1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2064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Запуск 16 авг 2024.
Группировка Planet Labs.
Технология NASA JPL.
Детекция на уровне площадки.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91640"/>
            <a:ext cx="5486400" cy="1874519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80" y="1691640"/>
            <a:ext cx="5486400" cy="4572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69164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Группировка GHGSat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240280"/>
            <a:ext cx="512064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13 спутников к середине 2025.
Разрешение 25 м.
Фокус на уровне площадки.
Коммерческие: ExxonMobil, ConocoPhillips, EOG.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749039"/>
            <a:ext cx="5486400" cy="1874519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749039"/>
            <a:ext cx="54864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749039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Авиасъёмка Bridger Photonics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97679"/>
            <a:ext cx="512064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Воздушный LiDAR (картирование газов).
4× точнее наземной OGI.
Ближняя дистанция, медленное сканирование.
Для программ LDAR.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3749039"/>
            <a:ext cx="5486400" cy="1874519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3749039"/>
            <a:ext cx="5486400" cy="45720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3749039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SeekOps + Project Canary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297679"/>
            <a:ext cx="512064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SeekOps — метановые сенсоры на БПЛА.
Project Canary — непрерывный мониторинг площадок.
Сертификация (RSG, MiQ).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623560"/>
            <a:ext cx="11274552" cy="77724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696712"/>
            <a:ext cx="1090879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Урок: один спутник — единая точка отказа. Диверсифицированная сенсорная сеть (спутник + авиа + наземная) — устойчива. Регулятор EU требует именно этого.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4× разрыв отрасль vs регулятор — методологический разрыв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MethaneSAT измерил ~15 млн т/год по нефтегазу США. EPA Inventory ~4 млн т. Stanford 2024 авиа ~7 млн т = в 2 раза.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25-4x-discrepa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48840"/>
            <a:ext cx="5120640" cy="320039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126480" y="169164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783080"/>
            <a:ext cx="533095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это значит: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EPA inventory: подход «снизу вверх», коэффициенты 1990-х.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Stanford авиа: измерения «сверху вниз», 2024.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MethaneSAT: космос, всё что меньше 500 кг/ч пропускается.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9-спутниковый тест 2024 (Atmospheric Measurement Techniques):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58% точек эмиссии идентифицировано.</a:t>
            </a:r>
          </a:p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· 41% ложных пропусков.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AI не «ошибается» — сенсоры имеют структурные ограничения.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Это не провал AI: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Это структурный методологический разрыв. Модернизация EPA в процессе.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Триангуляция из нескольких источников — единственный валидный подход. AI необходим, но AI ≠ эталон — он измеряет, факелы факелуют.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EU 2024/1787 vs EPA Subpart W — рынок AI MRV развивается асимметрично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Оператор в EU рискует штрафом &gt; прибыли от добычи. Оператор в США не торопится инвестировать.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737360"/>
            <a:ext cx="5486400" cy="4023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737360"/>
            <a:ext cx="5486400" cy="6400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73736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EU 2024/1787 (август 2024)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14600"/>
            <a:ext cx="51206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>
                <a:solidFill>
                  <a:srgbClr val="F0AB00"/>
                </a:solidFill>
                <a:latin typeface="Arial"/>
              </a:rPr>
              <a:t>до 20%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оборотного штрафа за несоответствие</a:t>
            </a:r>
          </a:p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Ключевые сроки: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LDAR обязательный — 5 мая 2025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OGMP уровень 4/5 отчёты — 5 авг 2025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Соответствие для импорта — с 2027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Драйвер: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Shell, TotalEnergies — на переднем крае выполнения.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737360"/>
            <a:ext cx="5605272" cy="4023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80" y="1737360"/>
            <a:ext cx="5605272" cy="64008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737360"/>
            <a:ext cx="533095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US EPA Subpart 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514600"/>
            <a:ext cx="5330952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6 мая 2024 утверждён → отсрочка до 2034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Что произошло: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Финальное правило утверждено 6 мая 2024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Администрация Трампа — пересмотр сент. 2025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Предлагается отсрочка до 2034 для внедрения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Эффект на рынок: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Рынок AI MRV США ~$200 млн (2024)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vs EU ~$500 млн+ к 2026 (оценка)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Регуляторика — главный драйвер Q2. EU жёстко → AI необходим. США в режиме ожидания → рынок AI развивается медленнее.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Альтернатива Q2: наземная OGI + переносные анализаторы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Когда AI не нужен — OGMP уровень 5 (прямое измерение) + коммерческий учёт нефти.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1828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137160" cy="18288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FLIR GFx320 / Opgal EyeCGas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51206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Ручные OGI-камеры.
ИК-визуализация углеводородов.
2-3 обхода объекта в год.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91640"/>
            <a:ext cx="5486400" cy="1828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80" y="1691640"/>
            <a:ext cx="137160" cy="18288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Picarro G2210-i / LI-COR LI-7810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86000"/>
            <a:ext cx="51206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Переносная спектроскопия затухания в полости.
Прямое измерение, уровень частей на млрд (ppb).
Для верификации OGMP уровень 5.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703320"/>
            <a:ext cx="5486400" cy="1828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703320"/>
            <a:ext cx="137160" cy="18288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947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Rebellion Photonics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297680"/>
            <a:ext cx="51206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Стационарная OGI + аналитика.
Непрерывный мониторинг площадки.
Заменяет AI-скрининг на крупных узлах.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3703320"/>
            <a:ext cx="5486400" cy="1828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3703320"/>
            <a:ext cx="137160" cy="182880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7947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EPA Method 21 / EU LDAR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297680"/>
            <a:ext cx="51206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Детектор + газоанализатор для всех клапанов, фланцев.
4×/год обходы.
Обязательно по регуляции.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623560"/>
            <a:ext cx="11274552" cy="77724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696712"/>
            <a:ext cx="1090879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2 критерия когда AI не нужен в Q2: (1) соответствие OGMP уровень 5 — регулятор требует точность, не оценку; (2) коммерческий учёт нефти — расходомер обязателен, не AI.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Стержень</a:t>
            </a:r>
          </a:p>
        </p:txBody>
      </p:sp>
      <p:sp>
        <p:nvSpPr>
          <p:cNvPr id="4" name="Rectangle 3"/>
          <p:cNvSpPr/>
          <p:nvPr/>
        </p:nvSpPr>
        <p:spPr>
          <a:xfrm>
            <a:off x="206785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6785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Q1 Зрелое</a:t>
            </a:r>
          </a:p>
        </p:txBody>
      </p:sp>
      <p:sp>
        <p:nvSpPr>
          <p:cNvPr id="6" name="Rectangle 5"/>
          <p:cNvSpPr/>
          <p:nvPr/>
        </p:nvSpPr>
        <p:spPr>
          <a:xfrm>
            <a:off x="367850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7850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Q3 Разведка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528915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915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Q2 Метан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99801" y="182880"/>
            <a:ext cx="156493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9980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5. Q4 Новые опоры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1045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1045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6. Россия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2110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2110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7. Сквозные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914400"/>
            <a:ext cx="5029200" cy="3291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0" b="1" i="0">
                <a:solidFill>
                  <a:srgbClr val="F0AB00"/>
                </a:solidFill>
                <a:latin typeface="Arial"/>
              </a:rPr>
              <a:t>Q4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43484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Новые опоры: CCS + EGS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1371600"/>
            <a:ext cx="457200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Здесь AI и физика буксуют вместе. Длинный горизонт, мало данных, низкая определённость процессов. Самый честный квадрант.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332720" y="777240"/>
            <a:ext cx="649224" cy="64922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0" y="777240"/>
            <a:ext cx="649224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4A556B"/>
                </a:solidFill>
                <a:latin typeface="Arial"/>
              </a:rPr>
              <a:t>Q2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018520" y="777240"/>
            <a:ext cx="649224" cy="64922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18520" y="777240"/>
            <a:ext cx="649224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4A556B"/>
                </a:solidFill>
                <a:latin typeface="Arial"/>
              </a:rPr>
              <a:t>Q1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332720" y="1463040"/>
            <a:ext cx="649224" cy="649224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0" y="1463040"/>
            <a:ext cx="649224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21295C"/>
                </a:solidFill>
                <a:latin typeface="Arial"/>
              </a:rPr>
              <a:t>Q4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018520" y="1463040"/>
            <a:ext cx="649224" cy="64922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18520" y="1463040"/>
            <a:ext cx="649224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4A556B"/>
                </a:solidFill>
                <a:latin typeface="Arial"/>
              </a:rPr>
              <a:t>Q3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87000" y="21031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 i="1">
                <a:solidFill>
                  <a:srgbClr val="4A556B"/>
                </a:solidFill>
                <a:latin typeface="Arial"/>
              </a:rPr>
              <a:t>процессы 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224028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4A556B"/>
                </a:solidFill>
                <a:latin typeface="Arial"/>
              </a:rPr>
              <a:t>keystone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486400"/>
            <a:ext cx="11274552" cy="77724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559552"/>
            <a:ext cx="1090879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2 рабочих пилота · 2 структурных провала · 190× разрыв масштабирования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Northern Lights CCS — 0,02% от необходимого масштаба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СП Equinor + Shell + TotalEnergies. Коммерческий запуск 2024. Эугарден, Норвегия.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29-n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828800"/>
            <a:ext cx="487680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53212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Wikimedia Commons / Zypres · CC-BY-SA 4.0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9164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783080"/>
            <a:ext cx="533095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Метрики Northern Lights: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Мощность фазы 1: 1,5 млн т CO₂/год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В эксплуатации с 2024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Источники CO₂: Microsoft, Heidelberg Materials, Yara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Сравнение с масштабом:</a:t>
            </a:r>
          </a:p>
          <a:p>
            <a:pPr algn="l">
              <a:lnSpc>
                <a:spcPct val="125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1,5 млн т/год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B7685"/>
                </a:solidFill>
                <a:latin typeface="Arial"/>
              </a:rPr>
              <a:t>vs</a:t>
            </a:r>
          </a:p>
          <a:p>
            <a:pPr algn="l">
              <a:lnSpc>
                <a:spcPct val="125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7 600 млн т/год (цель IEA на 2050)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= 0,02% от необходимого масштаба</a:t>
            </a:r>
          </a:p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= 190× разрыв масштабирования к 2050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 снижает удельную стоимость (моделирование пласта, выявление утечек). AI НЕ масштабирует индустрию — нужно 5000+ Northern Lights к 2050.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Fervo Energy EGS — IPO 12 мая 2026, потолок роста в 40 раз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Единственная возобновляемая базовая мощность, доступная при сегодняшних технологиях. Драйвер: AI-нагрузки требуют стабильное питание 24/7.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30-fervo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688" y="1828800"/>
            <a:ext cx="5057422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07492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Fervo Energy / Cape Station Utah · 2026</a:t>
            </a:r>
          </a:p>
        </p:txBody>
      </p:sp>
      <p:pic>
        <p:nvPicPr>
          <p:cNvPr id="7" name="Picture 6" descr="s30-fervo-g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1790" y="5349240"/>
            <a:ext cx="617220" cy="4114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26480" y="169164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533095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IPO 12 мая 2026:</a:t>
            </a:r>
          </a:p>
          <a:p>
            <a:pPr algn="l">
              <a:lnSpc>
                <a:spcPct val="125000"/>
              </a:lnSpc>
            </a:pPr>
            <a:r>
              <a:rPr sz="2800" b="1" i="0">
                <a:solidFill>
                  <a:srgbClr val="F0AB00"/>
                </a:solidFill>
                <a:latin typeface="Arial"/>
              </a:rPr>
              <a:t>$1,89 млрд</a:t>
            </a:r>
          </a:p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привлечено в IPO; оценка $7,7 млрд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Cape Station Юта ($206 млн):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Пилот 2024 → коммерческий 2026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Распределённое измерение температуры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ГРП → замкнутый цикл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Драйвер: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Google, Microsoft, Meta — покупатели PPA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AI ЦОДы → 24/7 чистая базовая мощность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· Потенциал EGS в США 150 ГВт vs текущие 3,7 ГВт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Замкнутый цикл: AI-гиганты спонсируют EGS чтобы запитать AI ЦОДы. Самореферентное расширение AI-инфраструктуры.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CCS — 190× разрыв масштабирования: инженерия vs политика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AI снижает удельную стоимость. AI не масштабирует индустрию. На 100-летнем горизонте AI легко галлюцинирует.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29-ccs-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48840"/>
            <a:ext cx="5120640" cy="320039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126480" y="169164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783080"/>
            <a:ext cx="533095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Где AI галлюцинирует на 100-летнем горизонте: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Миграция шлейфа CO₂ через 50-100 лет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Многофазный поток в неизвестных формациях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Целостность покрышки — сценарии вне обучения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Прогноз Gartner на 2027:</a:t>
            </a:r>
          </a:p>
          <a:p>
            <a:pPr algn="l">
              <a:lnSpc>
                <a:spcPct val="125000"/>
              </a:lnSpc>
            </a:pPr>
            <a:r>
              <a:rPr sz="2800" b="1" i="0">
                <a:solidFill>
                  <a:srgbClr val="F0AB00"/>
                </a:solidFill>
                <a:latin typeface="Arial"/>
              </a:rPr>
              <a:t>40%</a:t>
            </a:r>
          </a:p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агентских AI-проектов будут отменены к 2027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Sleipner Норвегия, 1996: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Старейший CCS, $1 млрд+ инвестиций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30 лет данных — эмпирическая база</a:t>
            </a:r>
          </a:p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· AI как дополнение — да; AI-прогноз на 100 лет — нет.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Обратная атмосферная задача на 100-летнем горизонте = AI легко галлюцинирует. PINN (нейросети с встроенной физикой) — исследовательский уровень, не коммерческий.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Общезаводская стагнация НПЗ = структурная проблема Q4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Многослойная физика (масса + энергия + реакция + коррозия) ломает ML-суррогаты на нестандартных режимах.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029200" cy="406908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33-honeywe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374264"/>
            <a:ext cx="4754880" cy="26581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57784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Honeywell Process Solutions · 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691640"/>
            <a:ext cx="6062472" cy="406908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783080"/>
            <a:ext cx="576072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Кейс Yokogawa Idemitsu: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2018+: пилот на одной колонне дистилляции — успех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C0392B"/>
                </a:solidFill>
                <a:latin typeface="Arial"/>
              </a:rPr>
              <a:t>· Общезаводской пилот → тихо закрыт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Многоюнитная координация: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100+ установок в типичном НПЗ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Масса + энергия + реакция + коррозия = 4 физики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ML-суррогат ломается при смене сырья, сезонных колебаниях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Срок жизни vs деградация ML:</a:t>
            </a:r>
          </a:p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C7293"/>
                </a:solidFill>
                <a:latin typeface="Arial"/>
              </a:rPr>
              <a:t>40-50 лет жизни месторождения</a:t>
            </a:r>
          </a:p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vs 1-2 года деградации ML-модели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Стоимость переобучения &gt; выгода на нестандартных режимах.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Это не провал Q1 — это структурный Q4. Многослойная физика + длинный горизонт + частое переобучение = ML-суррогат не выживает.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Альтернатива Q4: классическая инженерия + детерминированная безопасность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3 категории. Для регуляторных отчётов — физически прослеживаемое обязательно. AI не принимается.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370332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3703320" cy="7772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34290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Физика для CCS / геомеханики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06040"/>
            <a:ext cx="3337560" cy="306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Eclipse / INTERSECT / CMG GEM /
Visage / Abaqus / Plaxis.
Миграция шлейфа 100 лет — физическое моделирование обязательно.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59" y="1691640"/>
            <a:ext cx="370332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51959" y="1691640"/>
            <a:ext cx="3703320" cy="7772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691640"/>
            <a:ext cx="34290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Классический APC для НПЗ
(Advanced Process Control)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606040"/>
            <a:ext cx="3337560" cy="306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Honeywell Profit Controller /
Emerson DeltaV / AspenTech aspenONE.
MPC + RTO — проверены 30 лет, не AI.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691640"/>
            <a:ext cx="370332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19" y="1691640"/>
            <a:ext cx="3703320" cy="7772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79" y="1691640"/>
            <a:ext cx="34290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SIS для критичной безопасности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2606040"/>
            <a:ext cx="3337560" cy="306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SIL3/SIL4 по IEC 61511.
Голосование 3oo2 (три из двух) + периодические проверки.
ML НЕ сертифицируется.
Deepwater Horizon 2010 — обход тревог как якорь.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SIL3 = 0,001–0,0001 PFD (вероятность отказа по требованию). ML-модель не проверяема воспроизводимо под IEC 61511. Инженерное правило.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Стержень</a:t>
            </a:r>
          </a:p>
        </p:txBody>
      </p:sp>
      <p:sp>
        <p:nvSpPr>
          <p:cNvPr id="4" name="Rectangle 3"/>
          <p:cNvSpPr/>
          <p:nvPr/>
        </p:nvSpPr>
        <p:spPr>
          <a:xfrm>
            <a:off x="206785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6785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Q1 Зрелое</a:t>
            </a:r>
          </a:p>
        </p:txBody>
      </p:sp>
      <p:sp>
        <p:nvSpPr>
          <p:cNvPr id="6" name="Rectangle 5"/>
          <p:cNvSpPr/>
          <p:nvPr/>
        </p:nvSpPr>
        <p:spPr>
          <a:xfrm>
            <a:off x="367850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7850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Q3 Разведка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528915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915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Q2 Метан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9980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9980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Q4 Новые опоры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10451" y="182880"/>
            <a:ext cx="156493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1045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6. Россия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2110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2110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7. Сквозные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008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Россия — санкции, внутренняя разработка, вертикальная интеграция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37160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По 4 квадрантам матрицы. После марта 2022 — структурный сдвиг.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1828800"/>
            <a:ext cx="5486400" cy="1828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1828800"/>
            <a:ext cx="137160" cy="18288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192024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Q1 Зрелое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37744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Роснефть Digital Field
на Башнефть Илишевское
+1 млн т/год нефти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1828800"/>
            <a:ext cx="5486400" cy="1828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1828800"/>
            <a:ext cx="137160" cy="18288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192024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Q3 Разведка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37744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Газпром нефть Cognitive Geo
с IBM Research Brazil 2019–2022
→ внутренняя разработка после ухода IBM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840480"/>
            <a:ext cx="5486400" cy="1828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3840480"/>
            <a:ext cx="137160" cy="18288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9319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Q2 Метан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38912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EU 2024/1787 не применяется
к компаниям РФ через импорт
соответствие с 2027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26480" y="3840480"/>
            <a:ext cx="5486400" cy="1828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26480" y="3840480"/>
            <a:ext cx="137160" cy="182880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39319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Q4 Новые опоры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438912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CCS / EGS — ограниченные
пилоты. Санкции блокируют
замкнутую AI-инфраструктуру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Вертикальная интеграция — необходимость, не выбор. Российский путь ближе к Sinopec / CNOOC, чем к Aramco / ExxonMobil на основе поставщиков.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Газпром нефть Cognitive Geologist — ключевой российский кейс Q3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С IBM Research Brazil 2019–2022 → внутренняя разработка после ухода IBM. Выжил там, где BP+Beyond Limits + IBM+Repsol провалились.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21208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Метрики Cognitive Geo: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Геологический цикл:</a:t>
            </a:r>
          </a:p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3-4 месяца → минуты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Ямал 2024: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Первая нефть нового поля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Сокращение вдвое времени до первой нефти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+40% проектов к 2030 (цель)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Структурный успех: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Узкая задача (предварительная сейсмика) + измеримая база (месяцы → минуты) + контроль старшего эксперта.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9164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783080"/>
            <a:ext cx="533095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Партнёрство AIQ: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Совместное предприятие ADNOC + G42 + Presight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AIQ оценка ~$1,4 млрд+ (2025)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Aramco + Groq — родственная AI-сделка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Контраст с провалами: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BP + Beyond Limits — один поставщик + когнитивное переобещание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IBM + Repsol — универсальный в узкой области</a:t>
            </a:r>
          </a:p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· Cognitive Geo — узкая задача + кастом + контроль старшего = успех.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Оговорка: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Российские KPI — самоотчёт. Та же оговорка что для Aramco.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Структурный паттерн успеха Q3: узкая задача + измеримая база + контроль старшего эксперта. Антропоморфная рамка («AI имитирует геолога») = красный флаг.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Российский Q1: ключевой кейс + средний эшелон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Структурный разрыв в раскрытии — корпоративные пресс-релизы вместо обязательной отчётности SEC 10-K.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5486400" cy="5029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Роснефть Digital Field детально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120640" cy="342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Башнефть Илишевское — ключевой кейс: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23 продукта (10 коммерциализованных)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+1 млн т/год дополнительной нефти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~1 млрд ₽/год эффект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+60% удалённо управляемых объектов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+5% энергоэффективности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−5% логистики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Структурный путь: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Roxar (Schlumberger) ушёл в 2022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Внутренняя разработка — единственный путь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9164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80" y="1691640"/>
            <a:ext cx="5605272" cy="5029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691640"/>
            <a:ext cx="533095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Татнефть · ЛУКОЙЛ · Сургутнефтегаз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331720"/>
            <a:ext cx="5330952" cy="342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Татнефть: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Программа «АнтиХрупкий» (управление устойчивостью)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Нижнекамск НПЗ — частичное внедрение AI</a:t>
            </a:r>
          </a:p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· Публичное раскрытие ограничено</a:t>
            </a:r>
          </a:p>
          <a:p>
            <a:pPr algn="l">
              <a:lnSpc>
                <a:spcPct val="12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ЛУКОЙЛ: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Волго-Урал — внутренние команды без поставщика</a:t>
            </a:r>
          </a:p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· Подробных KPI публично нет</a:t>
            </a:r>
          </a:p>
          <a:p>
            <a:pPr algn="l">
              <a:lnSpc>
                <a:spcPct val="12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Сургутнефтегаз: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Cognitive Pilot + экосистема Sberbank</a:t>
            </a:r>
          </a:p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· Консервативное раскрытие</a:t>
            </a:r>
          </a:p>
          <a:p>
            <a:pPr algn="l">
              <a:lnSpc>
                <a:spcPct val="12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Структурный разрыв: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Без обязательной отчётности по образцу SEC — оценка только качественная.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Российский паттерн работающего Q1: нацкомпания + внутренние команды + узкая задача + измеримая база. Зависимость от поставщика = риск (Roxar ушёл 2022).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Шифровальщики против нефтегаза +935% год к году (апр 2024 → апр 2025)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Отчёт Zscaler ThreatLabz 2025. Встречный тренд AI-расширения — безопасность фаза 1, не фаза 4.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37-cyber-9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48840"/>
            <a:ext cx="5120640" cy="320039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126480" y="169164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783080"/>
            <a:ext cx="533095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Якорь Colonial Pipeline 2021: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VPN-аккаунт без MFA (многофакторной аутентификации) — единая точка входа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Шифровальщик DarkSide → 6 дней остановки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50% поставок топлива на Восточном побережье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$4,4 млн выкупа уплачено (часть возвращена)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Защитные AI-альтернативы: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Платформа OT-безопасности Dragos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Claroty + Nozomi Networks — мониторинг SCADA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Cisco SecureX, CrowdStrike Falcon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Встречный вывод: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AI расширяет поверхность атаки. Защитный AI (выявление аномалий) — необходим, но недостаточен.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Безопасность — фаза 1 (периметр + MFA + сегментация), НЕ фаза 4 (наложение AI-защиты). Сначала базовое, потом AI.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Цикл отрасли &gt; цикл AI-хайпа. Deepwater Horizon = якорь.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Кризис 2020 — 107 тыс. рабочих мест за 6 мес + Deepwater Horizon 2010 — два сквозных якоря.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5486400" cy="5029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Нефтяной кризис 2020</a:t>
            </a:r>
          </a:p>
        </p:txBody>
      </p:sp>
      <p:pic>
        <p:nvPicPr>
          <p:cNvPr id="7" name="Picture 6" descr="s38-2020-cra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1055" y="2286000"/>
            <a:ext cx="3218688" cy="2011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4343400"/>
            <a:ext cx="5212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107 000 рабочих мест потеряно за 6 мес = 9,7% индустрии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Фьючерсы WTI: −$37 (отрицательные) на короткое время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AI-программы заморожены на 18-24 мес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Рынок труда не восстановился полностью к 2024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69164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1691640"/>
            <a:ext cx="5605272" cy="5029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91640"/>
            <a:ext cx="533095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Deepwater Horizon 2010</a:t>
            </a:r>
          </a:p>
        </p:txBody>
      </p:sp>
      <p:pic>
        <p:nvPicPr>
          <p:cNvPr id="12" name="Picture 11" descr="wm-deepwater-horizon-oil-spil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706" y="2286000"/>
            <a:ext cx="2616819" cy="2011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63640" y="4343400"/>
            <a:ext cx="533095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11 погибших + $60 млрд = 20% годовой выручки BP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Выброс на скважине Macondo — Мексиканский залив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Отказ BOP (противовыбросового превентора)</a:t>
            </a:r>
          </a:p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· Культура обхода тревог (показания Andrea Fleytas)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Дорожная карта AI должна тестироваться на устойчивость к циклу отрасли и культуре обхода тревог (усталость от ложных тревог → обход тревог — тот же паттерн на 2 разных шкалах).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4-квадрантный синтез: 10 разобранных провалов + работающие кейсы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Возврат к матрице. AI в нефтегазе — не одна история, а четыре.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317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5486400" cy="36576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Q2 Метан — AI необходим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5120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Работает:
· MethaneSAT (15,5 мес до потери)
· Carbon Mapper Tanager-1
· GHGSat — группировка 13 спутников
· Bridger авиа-LiDAR
Провалы (2):
· Потеря MethaneSAT 20 июня 2025
· 4× разрыв с EPA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91640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317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80" y="1691640"/>
            <a:ext cx="548640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6916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Q1 Зрелое — AI как мультипликатор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148840"/>
            <a:ext cx="5120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Работает:
· Ambyint +15% / 200 скважин
· Honeywell UOP 310+ установок
· Роснефть Digital Field +1 млн т/год
Провалы (2):
· 86% пилотов застряло
· Aspen Mtell — усталость от тревог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840480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840480"/>
            <a:ext cx="5486400" cy="36576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8404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Q4 Новые опоры — буксуют вместе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97680"/>
            <a:ext cx="5120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Работает (ограниченно):
· Northern Lights 1,5 млн т/год
· Fervo IPO $1,89 млрд
Провалы (2):
· CCS 190× разрыв масштабирования
· Общезаводская стагнация НПЗ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3840480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317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3840480"/>
            <a:ext cx="5486400" cy="36576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38404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Q3 Разведка — сначала физика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297680"/>
            <a:ext cx="5120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Работает:
· Eni HPC6 / Aramco METABRAIN
· SLB Lumi / ExxonMobil Discovery 6
· Газпром Cognitive Geo
Провалы (2):
· BP+Beyond Limits — 7 лет 0
· IBM+Repsol Kalimba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Когда работает: Q1 мультипликатор + Q2 необходим. Когда осторожно: Q3 как дополнение. Когда опасно: Q4 длинный горизонт + критичная безопасность (SIS).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3 опорных концепта — мост к Лекции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Каждый переносим на любую следующую отрасль, не только нефтегаз.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11274552" cy="14173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94360" y="1965960"/>
            <a:ext cx="822960" cy="8229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96596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828800"/>
            <a:ext cx="99029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AI-суждение как структурная задача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331720"/>
            <a:ext cx="99029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Главный навык — не «как запустить AI», а «как определить, применим ли». Для нефтегаза: матрица 2×2 данные × физика. Для любой отрасли: 2-3-мерная таксономия. Без диагностики AI = азартная ставка.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200400"/>
            <a:ext cx="11274552" cy="14173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3474720"/>
            <a:ext cx="822960" cy="82296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47472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337560"/>
            <a:ext cx="99029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Альтернатива как исходный уровень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840480"/>
            <a:ext cx="99029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Каждое AI-внедрение имеет параллельный не-AI вариант. Для нефтегаза 6 категорий: Eclipse, Picarro, OGI, классический APC, SIS, федеративное обучение. AI добавляется ТОЛЬКО если улучшает базовый уровень.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94360" y="4983480"/>
            <a:ext cx="822960" cy="82296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98348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846320"/>
            <a:ext cx="99029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Цикл отрасли &gt; цикл AI-хайпа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5349240"/>
            <a:ext cx="99029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Нефтяной кризис 2020: 107 тыс. рабочих мест за 6 мес → AI заморожены 18-24 мес. Дорожная карта AI должна быть устойчивой к отраслевому циклу. AI не защищает — он усиливает эффект.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12648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19963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Эти три опорных концепта — переносимые диагностические инструменты. Лекция 17 — систематизация: несущие оси L11-L16 как универсальные шаблоны.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42-methanes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46056"/>
            <a:ext cx="6858000" cy="406860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4406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EDF / MethaneSAT data via Google Earth Engine · февраль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548640"/>
            <a:ext cx="4297680" cy="502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0AB00"/>
                </a:solidFill>
                <a:latin typeface="Arial"/>
              </a:rPr>
              <a:t>10 разобранных</a:t>
            </a:r>
          </a:p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0AB00"/>
                </a:solidFill>
                <a:latin typeface="Arial"/>
              </a:rPr>
              <a:t>провалов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1C7293"/>
                </a:solidFill>
                <a:latin typeface="Arial"/>
              </a:rPr>
              <a:t>↓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3 переносимых</a:t>
            </a:r>
          </a:p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cornerstone оси</a:t>
            </a:r>
          </a:p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AI judgment как структурная задача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Альтернатива-как-исходный-уровень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Industry cyclicality &gt; AI hype cycle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5943600"/>
            <a:ext cx="11274552" cy="59436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16752"/>
            <a:ext cx="1090879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Мост к Лекции 17 — систематизация. Несущие оси L11–L16 как универсальные шаблоны для всех остальных лекций.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 i="0">
                <a:solidFill>
                  <a:srgbClr val="21295C"/>
                </a:solidFill>
                <a:latin typeface="Arial"/>
              </a:rPr>
              <a:t>Вопросы?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45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1C7293"/>
                </a:solidFill>
                <a:latin typeface="Arial"/>
              </a:rPr>
              <a:t>Q&amp;A — обсуждаем в группе, потом синтез на доске.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240280"/>
            <a:ext cx="11274552" cy="123444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240280"/>
            <a:ext cx="1097280" cy="123444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56032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377440"/>
            <a:ext cx="9811512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Где в России Variant Q1/Q2/Q3/Q4 матрицы применяется наиболее остро? Назовите 2 конкретных кейса.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639312"/>
            <a:ext cx="11274552" cy="123444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3639312"/>
            <a:ext cx="1097280" cy="12344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3959352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3776472"/>
            <a:ext cx="9811512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Какая из трёх cornerstone осей лекции (AI judgment как структурная задача · альтернатива-как-исходный-уровень · industry cyclicality &gt; AI hype cycle) наиболее переносима на вашу будущую инженерную работу?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038344"/>
            <a:ext cx="11274552" cy="123444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5038344"/>
            <a:ext cx="1097280" cy="1234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5358383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5175504"/>
            <a:ext cx="9811512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Когда НЕ применять AI в нефтегазе — назовите 2 структурных критерия с конкретным примером из 6 разобранных на лекции.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6263640"/>
            <a:ext cx="11274552" cy="45720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336792"/>
            <a:ext cx="1090879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Контакт для follow-up: см. slides и chapter §8 backup (12 разобранных вопросов).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