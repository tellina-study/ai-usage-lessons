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February 14, 2024, the Civil Resolution Tribunal of British Columbia issued its decision in *Moffatt v. Air Canada*. The story is simple. Passenger Jake Moffatt visited the airline's website after his grandmother's death, asked the chatbot about the bereavement fare, and got the answer: you can buy the ticket at the regular price and then, within 90 days, file a claim to get the difference back. That was untrue — Air Canada's real policy did not allow a retroactive refund under such a fare, and this was written on the very page the chatbot even linked to. Moffatt bought the tickets, filed the claim, was refused, and the case reached the tribunal. The airline defended itself with the argument that the chatbot is "a separate legal entity responsible for its own actions."[1,2] The tribunal rejected this argument and ordered Air Canada to reimburse the passenger for the difference.</a:t>
            </a:r>
          </a:p>
          <a:p/>
          <a:p>
            <a:r>
              <a:t>What interests us in this story is not the legal side but the engineering one. The task was elementary: show the user a fixed, known-in-advance fare policy. For such a task there exists an architecture that works perfectly and costs almost nothing: a static page or a deterministic lookup in a rules table. Air Canada chose instead a generative chatbot — an architecture that is fundamentally capable of composing a nonexistent policy, because its job is to generate plausible text, not to retrieve a verified fact.</a:t>
            </a:r>
          </a:p>
          <a:p/>
          <a:p>
            <a:r>
              <a:t>This was not a model failure. It was the wrong architecture choice for the task. And it is exactly this class of errors — the architecture choice — that this entire lecture is about. Before going further, ask yourself: if the task is merely "look up the fare rule," what architecture closes it — and is AI even needed here at all? We will return to this answer in the section on RAG.</a:t>
            </a:r>
          </a:p>
          <a:p/>
          <a:p>
            <a:r>
              <a:t>Sources:</a:t>
            </a:r>
          </a:p>
          <a:p>
            <a:r>
              <a:t>[1] McCarthy Tétrault — Moffatt v. Air Canada (BC CRT, 14.02.2024) — the bot invented a refund policy; tribunal: the company is liable for the bot's answer. https://www.mccarthy.ca/en/insights/blogs/techlex/moffatt-v-air-canada-misrepresentation-ai-chatbot</a:t>
            </a:r>
          </a:p>
          <a:p>
            <a:r>
              <a:t>[2] ABA Business Law Today — companies are liable for an AI chatbot — "the bot is not a separate legal entity": the wrong architecture choice for a lookup task.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topic is AI system architectures: agents, RAG, API. This is the last overview lecture of the course's introductory module. Lecture 1 explained what an AI model is and how a prompt is structured; Lecture 2 explained why a prompt works from the inside: tokenization, embeddings, attention, sampling. This lecture answers the next engineering question in order: how do you assemble a working system out of a model — and how do you choose which system to assemble.</a:t>
            </a:r>
          </a:p>
          <a:p/>
          <a:p>
            <a:r>
              <a:t>There is one keystone idea running through the whole lecture, and it is worth keeping in mind all the way to the end: the choice of architecture is an engineering decision for a specific task, not a matter of following fashion. Often the right answer is the simplest architecture possible. And sometimes the right answer is to not use AI at all. We will keep returning to this idea in every section: first we will look at what a single model call can do and where its limits are, then climb the ladder of complexity — RAG, fine-tuning, agents — and at each rung ask the same question: is this complexity even needed here, and what do we pay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individual architectures, it helps to see the route as a whole. The lecture consists of six sections, and they are arranged not as a catalog of technologies but as a single line of reasoning. Section zero is the opening: the Air Canada case, which shows that the cost of the wrong architecture choice is quite real. The first section is the prompt and its limits: the cheapest and most predictable way to apply a model, a single call, and where it hits its ceiling. The second is RAG, retrieval-augmented generation, an add-on built on the semantic search from the previous lecture. The third is fine-tuning a model and its honest place in the lineup of "prompt vs RAG vs fine-tuning." The fourth and largest is agents: how a model becomes a component of a system through API and MCP, what an assistant agent is assembled from, where its memory lives, and how all of this breaks. And the fifth is assembly: the ladder of architectural complexity, the choice route, and a short checklist you can apply to a new task in a couple of minutes.</a:t>
            </a:r>
          </a:p>
          <a:p/>
          <a:p>
            <a:r>
              <a:t>Running through all six sections is one keystone line, and it is worth keeping this map in front of your eyes for its sake. It is not "learn six technologies" but "learn to choose which of them to apply to a specific task — and recognize the cases where the right answer is to not use AI at all." Each section ends the same way: not only "when to apply this architecture" but also "when it should not be applied." It is precisely this ability to say a well-grounded "no" to an unsuitable tool, rather than being dazzled by the most powerful one, that the lecture teaches.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Lecture 2 we carry two ready-made blocks over here and will not re-explain them. The first is semantic search on embeddings from Lecture 2, section 2: text is turned into a vector, closeness of vectors means closeness of meanings, so you can search by meaning without an exact word match. RAG stands entirely on this block, and we will refer to it as known. The second block is single-shot inference from Lecture 2, section 4: a single model call is one pass with no memory between calls. It is around this single pass that we will be building up tools, loops, and agents today. If semantic search or single-shot are only vaguely remembered — it is worth rereading the corresponding sections of Lecture 2 before this lecture.</a:t>
            </a:r>
          </a:p>
          <a:p/>
          <a:p>
            <a:r>
              <a:t>The picture on the slide sets up the structure of the whole lecture. At the center — a single model call, the most basic architecture. Around it — four wrappers we will work through. The first is RAG: this is exactly that semantic search from Lecture 2 plus generation on top of what was retrieved; the arrow from embeddings to the RAG node emphasizes that the new material here is built on top of the already familiar, rather than introduced from scratch. The second is function calling: a way to give the model the ability to reach an external system. The third is MCP: the standard by which tools connect to the model. The fourth is the agent loop: many steps around a single pass. By the end of the lecture these four wrappers will be, for you, not a list of buzzwords but a set of tools with known limits of applicability, between which you can consciously choose. The details of RAG — in Section 2; here it is only important to note that it stands on a familiar foundation.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question of the whole lecture, to which we will keep returning in every section: I have a task and access to an LLM — which architecture do I choose, and when is the right answer "not AI"? Note the second half of the question. It is not rhetorical. One of the things this course teaches is the ability to say "AI is not needed here," and this lecture turns that skill into a tool.</a:t>
            </a:r>
          </a:p>
          <a:p/>
          <a:p>
            <a:r>
              <a:t>The answer will be a ladder of six rungs — it is on the slide. Bottom-up: ordinary code without AI; a single model call with a good prompt; RAG or context engineering; a workflow with predefined paths; an agent with a dynamic loop; and at the top, multi-agent. The rule for moving along this ladder is the single and central one for the whole lecture: stay on the lowest rung that closes the task's requirements, and climb to the next only when there is an explicitly stated requirement the current rung does not close. Every climb is paid for with new failure modes, cost, latency, degraded auditability, and a new attack surface.</a:t>
            </a:r>
          </a:p>
          <a:p/>
          <a:p>
            <a:r>
              <a:t>Note that the bottom rung is ordinary code without AI. The ladder of AI system architectures begins with the question "is AI even needed here." The Air Canada case from the opening is exactly the situation where an engineer climbed to a rung with generation where the task lived on the lower rung of deterministic code. And one last, important thing: this ladder is the lecture map, not a requirement to understand everything right now. We will work through each rung separately and, for each, state when you should not climb to it. For now it is enough to remember only the structure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just posed the central question of the lecture: there is a task and access to a language model — which architecture to choose, and when the right answer is "not AI." And we saw the ladder of six rungs in full, as a map: ordinary code, a single call, RAG, workflow, agent, multi-agent. Now the first substantive section begins, and the logic here is fundamental: we go along the ladder bottom-up, not top-down. Not "what is the most powerful tool that exists," but "is the simplest one enough, and if not — for exactly which task requirement do we climb a rung higher."</a:t>
            </a:r>
          </a:p>
          <a:p/>
          <a:p>
            <a:r>
              <a:t>The lowest rung involving a model is a single call with a good prompt. Before talking about RAG, fine-tuning, agents, and everything everyone is buzzing about, it is engineering-honest to first understand what a single call can even do, how far it stretches, and where exactly its natural ceiling lies. Because the overwhelming majority of tasks are closed right here, cheaply and predictably, while every climb up the ladder is paid for with growth in cost, latency, and the number of ways to break everything. In this section we will work through four things: why the default is a single call; what Chain-of-thought is and where it helps; why the reasoning the model verbalizes cannot be taken as its real reason; and how to curate the context rather than dumping everything into it. And this is the boundary beyond which the next rung begins.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talk about the prompt, let us fix a starting point — the way an engineer made a system do what was needed before large language models appeared, a way that has not gone anywhere. The classical answer to "how do I get exactly what I need from a machine" rests not on phrasing a wish in natural language but on a precise specification and a deterministic program. Let us reconstruct this way from scratch, because the prompt is its direct opposite along one key axis, and that axis is only visible next to the classics.</a:t>
            </a:r>
          </a:p>
          <a:p/>
          <a:p>
            <a:r>
              <a:t>The classical discipline of task statement relies on several named tools. A formal specification describes what a system must do in a language with no double reading: pre- and post-conditions, invariants, and in the limit machine-checkable specifications (Abrial's Z-notation, Lamport's TLA+, contract programming in the Design by Contract style). A requirements spec fixes the requirements, boundaries, and acceptance criteria — the basis on which the work is later accepted. An interface contract is a precise agreement about what a method or service accepts on input and guarantees on output (type signatures, OpenAPI, Protobuf). The common trait: the result is deterministic and verifiable.</a:t>
            </a:r>
          </a:p>
          <a:p/>
          <a:p>
            <a:r>
              <a:t>The same discipline distinguishes two styles of stating a task. The imperative answers "how to do it" — the program lists the steps. The declarative answers "what should result" — a SELECT query does not say how to search; it describes the wanted result, and the planner decides how to obtain it. In both cases the statement had a single correct meaning and a way to check it.</a:t>
            </a:r>
          </a:p>
          <a:p/>
          <a:p>
            <a:r>
              <a:t>Now the bridge to the rest of the section. The prompt is stating a task to a probabilistic system in natural language. Herein lies both the power and the limit. The power: no need to formally specify what cannot be specified — "rewrite this letter more politely." The limit: natural language has no single correct meaning, and the executor has no determinism. Hence the practical seam rule: use a prompt for what cannot be formally specified; leave everything that can be specified to the classics.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between RAG, fine-tuning, and agents, let us fix the reference point. The cheapest, most reliable, and most predictable AI architecture is a single model call with a well-composed prompt[1]. A single call — in Lecture 2 this was single-shot inference — has neither external search, nor a loop, nor tools: a prompt in, an answer out, no memory between calls. It has minimum cost, minimum latency, and maximum predictability: no loops that diverge, no retrieval that quietly degrades.</a:t>
            </a:r>
          </a:p>
          <a:p/>
          <a:p>
            <a:r>
              <a:t>Let us fix the boundary that is load-bearing for the whole section: the model knows only what got into the prompt, plus what settled in its weights during training. This is the only source of information available to a single call. Everything that is in neither the prompt nor the weights is unknown to the model, and then it either honestly refuses to answer or generates plausible but ungrounded text. It is precisely this boundary that is the reason RAG appears next, expanding what is "in the prompt," and fine-tuning, expanding what is "in the weights."</a:t>
            </a:r>
          </a:p>
          <a:p/>
          <a:p>
            <a:r>
              <a:t>The default engineering rule: do not complicate the architecture without a reason expressed in the task's requirements. This is not a call for primitivism but a distribution of the burden of proof. By default the architecture is a single call. Any move higher requires an explicit justification: here is a task requirement that a single call does not close, so I add RAG, a tool, or a loop. If no such requirement can be stated, the complexity is technical debt you take on without need.</a:t>
            </a:r>
          </a:p>
          <a:p/>
          <a:p>
            <a:r>
              <a:t>It helps to fix what each climb costs, so that the burden of proof is an itemized list. Adding RAG, you add an indexing pipeline, a vector store, a retrieval component that can silently degrade, and metrics for its quality. Adding tools and an agent loop — external calls that fail and slow down, loops that diverge, a nondeterministic trajectory, and a new attack surface. None of these items appear with a single call. So "a single call by default" is not conservatism but a refusal to pay for infrastructure and failure modes the task does not require.</a:t>
            </a:r>
          </a:p>
          <a:p/>
          <a:p>
            <a:r>
              <a:t>Sources:</a:t>
            </a:r>
          </a:p>
          <a:p>
            <a:r>
              <a:t>[1] Anthropic — Building Effective Agents ("find the simplest") — do not complicate the architecture without a task requirement — distribution of the burden of proof.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formula "role plus task plus context" is familiar from the first lecture, and the role is the most frequent first element an engineer writes into the system prompt: "you are an experienced lawyer," "you are a strict editor." The intuition is usually this: the more precise the role, the more competent the answer, as if the model switches into expert mode. This is one of the most persistent myths, and it is worth examining honestly. Mechanically, a role is tokens that appear in the context before the question and participate in all the attention computations discussed in the previous lecture: it does not toggle an expert mode with a switch, but shifts the probability distribution of the next tokens toward text resembling how a holder of that role would have answered in the training data.</a:t>
            </a:r>
          </a:p>
          <a:p/>
          <a:p>
            <a:r>
              <a:t>The key question is whether this shifts factual accuracy[1], not only the delivery. A specially designed study by Zheng and colleagues gave an unambiguous answer: 162 personas, eight expertise domains, 2410 factual questions, four model families — and personas do not improve accuracy compared to an answer with no role at all. A model told "you are a Nobel laureate in physics" does not answer physics more accurately than a model with no role. A separate study shows what a role does affect for real: tone and depth of exposition — how formally and in what detail the topic is developed — but not whether the reported fact is true, and this effect is model-specific. The takeaway for the engineer: a role is a tool for tuning style, not for raising accuracy. Need factual accuracy — a well-built context and, where necessary, grounding in a verifiable source work, not a lucky wording of a role.</a:t>
            </a:r>
          </a:p>
          <a:p/>
          <a:p>
            <a:r>
              <a:t>Sources:</a:t>
            </a:r>
          </a:p>
          <a:p>
            <a:r>
              <a:t>[1] Zheng et al. 2024, Findings of EMNLP — personas do not improve factual accuracy — 162 personas · 8 domains · 2410 factual questions · 4 families → no accuracy gain.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prompting the word "role" has two independent meanings. A persona role — "you are a lawyer" — is text in a message and affects tone. The protocol roles system/user/assistant are markup for the structure of the dialogue; not text but markup for "who is speaking." The first answers "in what tone," the second "whose turn this is."</a:t>
            </a:r>
          </a:p>
          <a:p/>
          <a:p>
            <a:r>
              <a:t>Protocol roles exist so the model can tell the developer's instruction apart from the user's input and from its own answers. The model is trained to treat the system role as more authoritative — but this is a statistical habit, not an architectural guarantee. A study showed that GPT-4o obeys the priority of the system instruction in only 63.8% of cases. Special training raised this to 94.1% — but not 100%. Priority is a tendency, not a security boundary.</a:t>
            </a:r>
          </a:p>
          <a:p/>
          <a:p>
            <a:r>
              <a:t>Physically the model receives a stream of tokens with role markup. The list of messages is assembled by a chat template, which wraps every message in special tokens. Hence the vulnerability: if external content — a web page, a file, a letter — contains text resembling role markup, the model may interpret it as its own turn. This is the Special Token Injection attack: a forged string imitating the start of an assistant turn is inserted into external content. A study on agent scenarios showed the attack success rate rising several-fold, and that asking the model "do not give in" barely protects it. Real defense is escaping special tokens in incoming content and checking the chat template for local models.</a:t>
            </a:r>
          </a:p>
          <a:p/>
          <a:p>
            <a:r>
              <a:t>Special Token Injection is a particular case of prompt injection. The full treatment of injection as a class of attacks on an agent comes in the section on agents (agent security) — together with defense measures at the architecture level.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role is responsible for tone, then the quality of the answer is far more the responsibility of the prompt's structure — how clearly the text of the request separates three different kinds of content: the instruction, that is, what to do; the context, that is, on what basis; and the data, that is, what exactly to work with. A flat prompt, where all of this is fused into a single paragraph of free text, forces the model to guess on its own the boundaries between these roles, and the longer and more heterogeneous the prompt, the higher the price of that ambiguity.</a:t>
            </a:r>
          </a:p>
          <a:p/>
          <a:p>
            <a:r>
              <a:t>The practical tool is delimiters: explicit text markers that separate one kind of content from another. Common variants are XML-like tags, markdown headings, or triple quotes around inserted text. The specific syntax matters less than the fact of separation itself: a model that has been shown explicitly where the instruction ends and the data to be processed begins is less likely to confuse the two. In particular, it is less likely to perceive a fragment of the inserted data as a new command — and this is the same "data vs command" confusion that lies at the root of prompt injection, the attack we will examine in detail in the section on agent security.</a:t>
            </a:r>
          </a:p>
          <a:p/>
          <a:p>
            <a:r>
              <a:t>This is the same engineering principle we will meet with structured output: there the developer sets the model a strict schema for the output, here — a structure for the input. The mechanism is different, but the idea is one: a model works better when it is clearly oriented on what is what, rather than left to infer it from the meaning of the 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or step-by-step reasoning, is a technique in which the model is asked not to produce the answer at once but to first reason aloud step by step, and only then state the result. Technically this is still a single call: only the prompt and the form of the answer are changed. Look at the worked example about apples: there were 23, seven spoiled, two crates of six were bought. Without step-by-step reasoning the model often produces a plausible but wrong number, because sampling generates the answer token by token and the short path easily slips into an error. With CoT the model produces intermediate computations — 23 minus 7 equals 16; two times six is 12; 16 plus 12 equals 28[1] — and quality on arithmetic and multi-step logic rises noticeably, because each generated token serves as an anchor for attention on the next step. But "CoT almost always improves things" is a misconception: on direct fact retrieval or simple classification, reasoning does not help and can hurt — it lengthens the answer and leads into a plausible error. It is a tool for a class of tasks, not a switch to "make it better."</a:t>
            </a:r>
          </a:p>
          <a:p/>
          <a:p>
            <a:r>
              <a:t>Now the limit of this technique, and it is more important than the technique itself. It is natural to assume that since the model reasons aloud, you can check by that reasoning how it arrived at the answer. This is fundamentally wrong. Faithfulness, the fidelity of the reasoning, is the degree to which the verbalized chain reflects the real factors that influenced the answer. Anthropic measured this directly: models were given a task with a hint that changes the answer, and it was observed whether the model mentions this hint in its reasoning. Claude 3.7 mentioned the actually used hint in about a quarter of cases, DeepSeek R1 — in about two out of five[2]; in the rest the model changed its answer under the influence of the hint but built an invented argument. The conclusion is structural: the chain is generated text, subject to the same mechanics of sampling, produced to be plausible, not to be a faithful protocol of the internal computation. Unfaithfulness is a property of the class, not a bug of a particular model. The practical conclusion and one of the course's through-lines: a human validator checks the result and the facts against an independent source, not the model's self-explanation.</a:t>
            </a:r>
          </a:p>
          <a:p/>
          <a:p>
            <a:r>
              <a:t>Sources:</a:t>
            </a:r>
          </a:p>
          <a:p>
            <a:r>
              <a:t>[1] Wei et al. 2022 — Chain-of-Thought Prompting — step-by-step reasoning raises reliability on arithmetic/multi-step logic. https://arxiv.org/abs/2201.11903</a:t>
            </a:r>
          </a:p>
          <a:p>
            <a:r>
              <a:t>[2] Anthropic — Reasoning Models Don't Always Say What They Think — faithfulness: Claude 3.7 ~25%, DeepSeek R1 ~39% — reasoning is not obliged to reflect the cause.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natural to assume that if the model reasons aloud, you can audit its decision by that explanation. This assumption is fundamentally wrong. Faithfulness is the degree to which the verbalized chain of reasoning actually reflects the real factors that influenced the answer. Low faithfulness means that the explanation and the actual cause are different things; the text is plausible but does not reflect the process.</a:t>
            </a:r>
          </a:p>
          <a:p/>
          <a:p>
            <a:r>
              <a:t>Anthropic measured this in April 2025 by a method that makes the conclusion irrefutable. Models were given a task twice: without a hint and with a hint (for example, "the professor thinks the answer is C") that changed the answer. Then it was observed: when the hint changed the answer, does the model mention this in its reasoning? The result: Claude 3.7 mentioned the hint in roughly one case in four — 25%, DeepSeek R1 — in almost two out of five — 39%. In the rest of cases the model changed the answer but built a completely different argument, without mentioning the real cause. Worse: faithfulness drops on hard tasks, exactly where an error is most costly and audit is needed most.</a:t>
            </a:r>
          </a:p>
          <a:p/>
          <a:p>
            <a:r>
              <a:t>This is structural, not merely a glitch. The chain of reasoning is generated text, like any output of the model. It is produced to be plausible, not to be a faithful protocol of the computation. Any architecture that uses self-explanation as a control inherits this defect: control based on self-assessment is not control. The takeaway: a human validator checks the result itself against an independent source — a database, a document, a calculation — not the plausibility of the explanation.</a:t>
            </a:r>
          </a:p>
          <a:p/>
          <a:p>
            <a:r>
              <a:t>Sources:</a:t>
            </a:r>
          </a:p>
          <a:p>
            <a:r>
              <a:t>[1] Anthropic — Reasoning Models Don't Always Say What They Think (April 2025) — Claude 3.7 ≈25%, DeepSeek R1 ≈39% of mentions of the used hint in the reasoning.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chain-of-thought is about the form of a single call, then context engineering is about its content. Let us introduce a distinction. Prompt engineering, familiar from Lecture 1, is the wording of a single instruction: role, task, context in the text of the request. Context engineering is a broader and more iterative discipline: curating the whole set of tokens the model sees at inference[3], including system instructions, descriptions of available tools, loaded external data, and message history. The main principle is stated thus: find the smallest set of high-signal tokens that maximizes the probability of the desired outcome.</a:t>
            </a:r>
          </a:p>
          <a:p/>
          <a:p>
            <a:r>
              <a:t>Why is minimal context not an aesthetic but an engineering requirement? Here we need to recall the effect from Lecture 2 that we called there "lost in the middle": a model makes worse use of information that landed in the middle of a long context compared to the beginning and the end. This phenomenon has acquired a second name — context rot: as the number of tokens grows, the accuracy with which the model retrieves the needed information falls. This is exactly what the graph shows: the horizontal axis is how many tokens are in the context, and the farther right along it (the longer the context), the lower the accuracy curve goes. This is the very same phenomenon as "lost in the middle" from Lecture 2, under a new practical name — I make this stitch explicit so the term is not perceived as a new entity. The mechanism is the same: the pairwise links of the attention mechanism grow quadratically with length.</a:t>
            </a:r>
          </a:p>
          <a:p/>
          <a:p>
            <a:r>
              <a:t>The direct consequence: "just put everything into the context" is not a strategy. A large context window gives you the ability to fit a lot of text, but not a guarantee that the model will use that text correctly. And this, looking ahead, is one of the keys to the question "when NOT RAG," which we will examine in Section 2: sometimes the right answer is not to build retrieval infrastructure but to carefully curate a small stable context and reuse it via caching. That is the first practical criterion: if the knowledge corpus is small, stable, and fits in the window — RAG here would add fragility without a gain, and the right answer is simpler than it seems.</a:t>
            </a:r>
          </a:p>
          <a:p/>
          <a:p>
            <a:r>
              <a:t>Sources:</a:t>
            </a:r>
          </a:p>
          <a:p>
            <a:r>
              <a:t>[1] Chroma Research — Context Rot — retrieval accuracy falls as the number of tokens in the context grows. https://research.trychroma.com/context-rot</a:t>
            </a:r>
          </a:p>
          <a:p>
            <a:r>
              <a:t>[2] Liu et al. 2023 — Lost in the Middle — the same "lost in the middle" phenomenon from Lecture 2 — a new term, not a new entity. https://arxiv.org/abs/2307.03172</a:t>
            </a:r>
          </a:p>
          <a:p>
            <a:r>
              <a:t>[3] Anthropic — Effective Context Engineering — minimal high-signal context — an engineering requirement, not an aesthetic.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the whole section on the prompt into one practical tool — a short checklist you can apply to any prompt before its first run. It does not replace the rest of the material but fixes the minimum below which a prompt systematically underperforms. First: a role is set if you need a specific tone or register, and is explicitly not used as a promise of accuracy — if the task requires factual correctness, a role does not solve that task. Second: the task is stated as a concrete verifiable action, not a vague wish. Third: the context contains the minimum necessary, not everything that might come in handy. Fourth: the output format is stated explicitly if the answer must be machine-processed.</a:t>
            </a:r>
          </a:p>
          <a:p/>
          <a:p>
            <a:r>
              <a:t>Fifth: delimiters are placed if the prompt contains more than one kind of content — instruction, context, inserted data. Sixth: examples are added only if the answer format is not obvious from the instruction alone; if the model manages without them, examples merely spend context. Seventh: step-by-step reasoning is turned on only where the task requires multi-step logic, and for direct fact retrieval — it is not needed. Eighth: it is checked that the prompt is no longer than necessary, because every extra paragraph is tokens you have to pay for and that risk sinking in the context. This checklist is not procedure for procedure's sake but a compressed summary of the whole section: a role is not equal to accuracy, structure helps separate inputs, reasoning is a targeted tool, and context is minimal, not maximal.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finished the first section: the default is a single call, it can be strengthened with step-by-step reasoning, but reasoning has a limit of faithfulness, and the context needs to be curated rather than dumped. Now — the next rung of the ladder.</a:t>
            </a:r>
          </a:p>
          <a:p/>
          <a:p>
            <a:r>
              <a:t>A single call with a good prompt runs into a natural boundary: the model knows only what got into its weights during training, plus what you manually put into the context. If the task requires knowledge that is not in the weights — for example, a company's private database — or that changes faster than new model versions come out — for example, current prices or documents — a single call will not handle it. This is where RAG begins: retrieval-augmented generation.</a:t>
            </a:r>
          </a:p>
          <a:p/>
          <a:p>
            <a:r>
              <a:t>In one phrase, the principle is this: before calling the model, the system first retrieves relevant fragments from an external knowledge store, puts them into the context together with the question, and only then does the model generate an answer, grounded in these fragments. In this section we will work through: how RAG is structured in three steps and why its search mechanism is exactly the semantic search from Lecture 2; when RAG is the right choice and when it is not, and why the latter matters more; and how RAG quietly breaks at scale, closing the section back to the Air Canada case from the opening.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is usually presented as a new technology grown out of embeddings. This hides something essential: the R in RAG is retrieval, search — a discipline with half a century of history, and it is exactly its design that determines where RAG works and where it breaks. Let us reconstruct classical information retrieval from scratch, how text was searched before embeddings, because without this baseline semantic search looks like magic, and it is not magic but the next layer on top of an understood foundation.</a:t>
            </a:r>
          </a:p>
          <a:p/>
          <a:p>
            <a:r>
              <a:t>The everyday ancestor of machine search is the library catalog: cards ordered by author, title, and subject heading, plus "see also" references. Exactly this idea a machine reproduces through an inverted index — a structure that, for each word, stores a list of documents where it occurs. Instead of scanning all texts, the system looks up the query words in the index and instantly obtains candidates. This is the foundation of any full-text system and to this day the workhorse of industrial operation.</a:t>
            </a:r>
          </a:p>
          <a:p/>
          <a:p>
            <a:r>
              <a:t>On top of the index the classics solve two tasks — selection and ranking. Selection is set by boolean search: a query as a logical expression selects documents precisely and explainably. Ranking answers in what order to show what was selected. TF-IDF weights a word the more strongly the more frequent it is in this document and the rarer across the whole collection. The industry standard to this day is BM25 from the Okapi family: a development of TF-IDF with frequency saturation and length normalization. BM25 is not an obsolete artifact but a strong, cheap baseline.</a:t>
            </a:r>
          </a:p>
          <a:p/>
          <a:p>
            <a:r>
              <a:t>The key property of these classics — they work on lexical match: they find documents with the same words as in the query. Hence the strength on codes and identifiers and the limit on synonyms. Semantic search on embeddings adds the missing layer of meaning, but the classics do not disappear: strong RAG systems of 2026 are a hybrid of BM25 and vectors, not dense-only. RAG is an extension of classical search, and its failures are largely where the classical foundation was forgotten.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 is an architecture in which, before calling the model, the system first retrieves relevant fragments from an external store, puts them into the context together with the question, and only then does the model generate an answer grounded in these fragments[1]. Let us introduce a term: retrieval — the stage of searching for and extracting relevant fragments; it is precisely this that distinguishes RAG from "put the document into the prompt manually."</a:t>
            </a:r>
          </a:p>
          <a:p/>
          <a:p>
            <a:r>
              <a:t>The key point: the retrieval mechanism in RAG is exactly that semantic search on embeddings that we built in Lecture 2, and we will not re-explain it. A reminder in one phrase: text is turned into a vector, closeness of vectors means closeness of meaning, so a fragment can be found by the meaning of the question rather than by a word match. RAG builds up three steps. The first is indexing, in advance, offline: the corpus is cut into fragments, each is turned into an embedding and placed into a vector store. The second is retrieval, on the query: the question is turned into an embedding, and by closeness of vectors the k relevant fragments are pulled. The third is grounded generation: the fragments are placed into the context together with the question, the model answers relying on them, and in a good implementation — with a reference to the source.</a:t>
            </a:r>
          </a:p>
          <a:p/>
          <a:p>
            <a:r>
              <a:t>Let us introduce one more term that carries the main load in this section. Grounding — the property of an answer being derived from specific retrieved fragments, rather than composed by the model out of thin air, with the ability to show which fragment each fact was taken from. A good RAG system is designed so that the answer is grounded, and so that to a question for which the retrieved fragments contain no answer, the system says "I don't know" or "see the source," rather than composing one. Let us state it as an engineering invariant: "I don't know" is a correct answer of a RAG system; a plausible answer under irrelevant retrieval is a defect, not "better than nothing." The distinction between "an answer with grounding and a citation" versus "plausible text" will turn out to be central further on and directly explains the Air Canada case.</a:t>
            </a:r>
          </a:p>
          <a:p/>
          <a:p>
            <a:r>
              <a:t>Sources:</a:t>
            </a:r>
          </a:p>
          <a:p>
            <a:r>
              <a:t>[1] Lewis et al. 2020 — Retrieval-Augmented Generation (NeurIPS) — the canonical RAG paper: indexing → retrieval → grounded generation.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is the right choice when there is a strong signal on one or more of the criteria[1] and at the same time there are no blockers from the neighboring "when NOT" criteria. The first criterion: the knowledge is large or growing — the corpus does not fit in the window as a whole, or it does fit, but putting it into every query is expensive and slow. The second: the knowledge changes — documents, prices, regulations update more often than model versions come out; RAG reads the current store at query time, and a new document is available right after indexing. The third: freshness and provenance are needed — the answer must rest on a verifiable source, and you need to show where the fact came from; regulated domains almost always require provenance. The fourth: the database is private — the company's knowledge is not in the weights of a public model.</a:t>
            </a:r>
          </a:p>
          <a:p/>
          <a:p>
            <a:r>
              <a:t>The logic of application matters. A single clear criterion is already a reason to take a look at RAG, but not a reason to build it automatically: before deciding, check the task against the "when NOT" criteria — is there a blocker there. The knowledge is large but does not change and fits in the window — a candidate for a long context, not RAG. The knowledge changes, but the task reduces to returning a fixed value — a candidate for a deterministic lookup. The criteria usually reinforce each other: knowledge that is at once large, changing, requiring provenance, and private — that is exactly the profile RAG is designed for, and the more criteria that converge, the more confident the choice. The formula is short: a strong signal plus the absence of blockers.</a:t>
            </a:r>
          </a:p>
          <a:p/>
          <a:p>
            <a:r>
              <a:t>A worked example we will return to as a checklist walkthrough at the end: a corporate database of thousands of regulations, updated weekly, natural-language questions, a mandatory reference to the source clause. All four criteria converged, and no simpler mechanism closes them jointly, while a check against the "when NOT" criteria overturns nothing. This is a model RAG profile. And a practical observation: RAG's gain over a direct answer is especially large for smaller models — external retrieval compensates for what a smaller model lacks in its weights, so RAG often delivers the needed quality on a cheaper model.</a:t>
            </a:r>
          </a:p>
          <a:p/>
          <a:p>
            <a:r>
              <a:t>Sources:</a:t>
            </a:r>
          </a:p>
          <a:p>
            <a:r>
              <a:t>[1] IBM — RAG vs Fine-Tuning (vendor-neutral) — criteria-for-RAG: large/changes/provenance/private. https://www.ibm.com/think/topics/rag-vs-fine-tuning</a:t>
            </a:r>
          </a:p>
          <a:p>
            <a:r>
              <a:t>[2] U-NIAH — RAG win-rate higher for smaller models — RAG's gain over a direct answer is especially large for smaller models.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when RAG is not needed is more valuable than knowing when it is, because RAG is a fashionable architecture, and it is put where it does harm. Three clear "not RAG" criteria[1].</a:t>
            </a:r>
          </a:p>
          <a:p/>
          <a:p>
            <a:r>
              <a:t>First. The corpus fits in the window — a rough guide of the order of under two hundred thousand tokens — and does not change often. The right answer is full-context with prefix caching, not RAG infrastructure. This is simpler, cheaper, and does not introduce the risk of "retrieval pulled the wrong thing": there is no vector store, no indexing pipeline, no retrieval component that can break. RAG here is bought without need.</a:t>
            </a:r>
          </a:p>
          <a:p/>
          <a:p>
            <a:r>
              <a:t>Second. The task is to return a fixed policy or value: a fare, a price, a regulation clause, a rule. If the answer is deterministic and known in advance, the right architecture is a deterministic lookup or a static page, not "retrieval plus generation on top." Generation on top of a fragment always carries the risk that the model will paraphrase, generalize, or make things up — this is exactly what happened in the Air Canada case.</a:t>
            </a:r>
          </a:p>
          <a:p/>
          <a:p>
            <a:r>
              <a:t>The third criterion is often missed. The data is already available directly and live via API, MCP, or search in another system. If the knowledge already sits in an internal service with a REST interface or in a database accessible through MCP — building a separate RAG index on top of it is redundant. RAG exists to give access to knowledge for which there is no direct path; if the path already exists, RAG adds an extra, more fragile, and aging layer. The difference is strategic: a direct tool call returns the data as of the query moment, while a RAG index — as of the last indexing. The signal is simple: if to the question "why doesn't the model just ask system X directly through a tool?" the answer is "indeed, why not," — RAG is not needed.</a:t>
            </a:r>
          </a:p>
          <a:p/>
          <a:p>
            <a:r>
              <a:t>Let us fold it into a rule: RAG is redundant if the corpus fits in the window and is stable, if the task reduces to a fixed value, or if the knowledge is already available live through a tool. Any of the three is met — a signal to stop. And even when none of them triggered and RAG is justified, this does not guarantee it will work well at scale — a separate question.</a:t>
            </a:r>
          </a:p>
          <a:p/>
          <a:p>
            <a:r>
              <a:t>Sources:</a:t>
            </a:r>
          </a:p>
          <a:p>
            <a:r>
              <a:t>[1] Red Hat — RAG vs Fine-Tuning (when not RAG) — corpus fits in the window → full-context+cache; fixed value → lookup; live → API without an index. https://www.redhat.com/en/topics/ai/rag-vs-fine-tuning</a:t>
            </a:r>
          </a:p>
          <a:p>
            <a:r>
              <a:t>[2] McCarthy Tétrault — Air Canada («generation on top of a fixed policy») — a fixed policy → a deterministic lookup, not retrieval+generation.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lesson of the section in one phrase: "the system returned something" does not mean "the system returned the right thing"[1,2]. RAG has no signal "I found nothing suitable" — by default it always returns the k nearest fragments, even if they are irrelevant. Then the model honestly does its job: given garbage, it will compose a plausible answer on top of the garbage.</a:t>
            </a:r>
          </a:p>
          <a:p/>
          <a:p>
            <a:r>
              <a:t>This is not a hypothetical risk but a known pattern of RAG engineering — seven failure points are systematized in Barnett et al. (arXiv:2401.05856, 2024). Three classes. Legal-AI pulls "the nearest k" cases; by vector, cases with matching words are close but legally irrelevant — a different jurisdiction, an overturned precedent; the model builds them in as grounding. Vector closeness is closeness of wording, not of applicability. Medical-RAG: a question about one patient retrieves fragments close by symptoms but from other patients; the model combines what clinically cannot be combined. Support bot: worked on hundreds of articles, after growth to thousands the quality quietly sagged — degradation at scale, because there is no "close enough" threshold. The alternative everywhere is not "remove RAG" but make it an observable system: a reference verification set and alerts, chunking along semantic boundaries, hybrid search with re-ranking.</a:t>
            </a:r>
          </a:p>
          <a:p/>
          <a:p>
            <a:r>
              <a:t>Now let us return to Air Canada[3] (the case *Moffatt v. Air Canada*, BC CRT, decision 14.02.2024) — with the section's tools. The bot reported a refund of the difference and referred to a page with the real policy; the policy on the very same page did not allow such a refund. A source of truth existed, was available — but the answer was not derived from it, it was generated as plausible text. This is a model grounding failure: generated text in a role that required a retrieved fact. The correct architecture: for a fixed policy — a deterministic page or lookup; if a dialogue is needed — RAG with strict grounding, a mandatory citation, an explicit "I don't know," and human review. Air Canada is not "the AI hallucinates," it is the decision to put a generative architecture on a deterministic task. A short question for you: RAG returned an answer — how do you know it is right? Only by measurement; by eye, the plausible cannot be told from the correct.</a:t>
            </a:r>
          </a:p>
          <a:p/>
          <a:p>
            <a:r>
              <a:t>Sources:</a:t>
            </a:r>
          </a:p>
          <a:p>
            <a:r>
              <a:t>[1] Barnett et al. 2024 — Seven Failure Points (RAG) — «returned something ≠ returned the right thing»: 7 failure points of RAG engineering. https://arxiv.org/abs/2401.05856</a:t>
            </a:r>
          </a:p>
          <a:p>
            <a:r>
              <a:t>[2] Kore.ai — Seven RAG Engineering Failure Points — legal-AI / medical-RAG / support bot — degradation at scale without observability. https://www.kore.ai/blog/seven-rag-engineering-failure-points</a:t>
            </a:r>
          </a:p>
          <a:p>
            <a:r>
              <a:t>[3] McCarthy Tétrault — Air Canada (grounding failure) — generated text in a role that required a retrieved verified fact.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previous section we worked through RAG and closed with it one specific class of problems — the problem of knowledge. When a model lacks facts: they are private, or they change faster than new model versions come out, or provenance is needed — we do not retrain the model, we slip the needed documents into the context. We also honestly worked through when RAG is not needed and how it quietly breaks at scale, and closed the section back onto the Air Canada case.</a:t>
            </a:r>
          </a:p>
          <a:p/>
          <a:p>
            <a:r>
              <a:t>But not every problem is a problem of knowledge. It happens that the model has enough facts, but the behavior itself is not satisfactory: it answers in the wrong tone, in the wrong format, does not follow a domain policy, or you need a small cheap model that repeats the behavior of a large one. This is a different class of task, and RAG does not solve it — no matter how many documents you slip in, the tone will not change from that. Here the third tool enters the stage — fine-tuning. And immediately an important note on the structure of the section: the next slide is not criticism and not "when you should not," but a definition. Before working through where fine-tuning has narrowed, where it fails through catastrophic forgetting, and by what criteria to choose between it, RAG, and the prompt, we need to understand equally what it even is and how it fundamentally differs from the two already familiar tools. And we will start with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Classical machine learning solves the task like this. Training a model for a task in the pre-LLM paradigm is building your own model on your own data: the engineer collects a labeled set of "input → correct answer" examples and tunes the parameters so the model reproduces these answers and then generalizes to new ones. The central term is the training set: the collection of labeled examples on which the model learns. The labels are called ground-truth labels, ground truth — the known correct answer against which the prediction is compared. Before the era of large models, solving an AI task almost always meant collecting your own dataset, choosing an architecture for the task, and training your own narrow, controlled model.</a:t>
            </a:r>
          </a:p>
          <a:p/>
          <a:p>
            <a:r>
              <a:t>The second load-bearing structure is the discipline of splitting the data. It is divided into three non-overlapping parts: training, validation, and test. On the training part the model learns, on the validation part hyperparameters are tuned, and on the test part — only once, at the end — the true quality is measured on data the model has not seen. The iron rule: you may not test on the training data, otherwise the accuracy comes out inflated and collapses in production. Quality is measured by an explicit metric fixed before training.</a:t>
            </a:r>
          </a:p>
          <a:p/>
          <a:p>
            <a:r>
              <a:t>The third classical idea, and it is exactly the one that leads to this section's theme, is transfer learning. Long before large models, engineers noticed: training from scratch is expensive, but if you take a model pretrained on a huge general corpus and fine-tune it on your small task, the result comes out faster and more accurate. This is the classical two-phase pretraining–fine-tuning scheme.</a:t>
            </a:r>
          </a:p>
          <a:p/>
          <a:p>
            <a:r>
              <a:t>This is exactly what the transition to fine-tuning large models should rest on. PEFT and LoRA are the same transfer learning, only taken to the limit of cheapness and on top of an incomparably larger model. The idea is not new — what became new is the scale of the base model and the cost of the fine-tuning step. So fine-tuning a large model is not an exotic thing of a new era but a direct continuation of the classical scheme, and all its cautions (train/test discipline, a metric, versions, drift monitoring) remain in force.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saying anything about where fine-tuning has narrowed, where it is dangerous, and by what criteria to choose it, we need to understand equally what it is. Fine-tuning is the continuation of training an already ready, pretrained model[1] on your own data. In Lecture 1, fine-tuning was mentioned in passing as one of the usage types of AI; here it appears in its true role — as an architectural choice, one of the rungs of the same ladder of complexity.</a:t>
            </a:r>
          </a:p>
          <a:p/>
          <a:p>
            <a:r>
              <a:t>The mechanics on the diagram: you take a pretrained model with its general weights, you take your dataset — a set of examples of the behavior you want to obtain — and the fine-tuning process shifts the model's weights toward these examples. The output is already a different model: the same architecture and size, but different numbers inside. This is exactly the key difference for which a separate definition slide is needed. The prompt and RAG do not touch the weights at all: they change only the context, that is, what you feed the model as input right now. The effect of a prompt or a slipped-in RAG fragment lives exactly within the scope of a single request and disappears with the next one. Fine-tuning changes the model itself: the change is built into the weights, is in effect on every request by default, and it is precisely for this reason that it costs more and rolls back harder than anything that changes only the context.</a:t>
            </a:r>
          </a:p>
          <a:p/>
          <a:p>
            <a:r>
              <a:t>An important practical note right away: in practice "fine-tune a model" almost always means not retraining all the weights but parameter-efficient fine-tuning, usually called by the acronym PEFT and most often implemented by the LoRA method. Full fine-tuning of all the weights in 2026 is rare, and in the next slides we will work through why this is so. For now, remember the difference as a formula: the prompt and RAG are "what to show the model," fine-tuning is "change the model itself." In the next slides we will rely on this definition as we work through why in 2026 fine-tuning narrowed to behavior rather than knowledge, and where it turns from a tool into a source of problems.</a:t>
            </a:r>
          </a:p>
          <a:p/>
          <a:p>
            <a:r>
              <a:t>Sources:</a:t>
            </a:r>
          </a:p>
          <a:p>
            <a:r>
              <a:t>[1] IBM — RAG vs Fine-Tuning (fine-tuning changes the weights) — prompt/RAG change the context; fine-tuning changes the model's weights themselves.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phrase "fine-tune a model" for many is associated with updating all the weights — this is full fine-tuning. In 2026 this is almost never what is needed. PEFT, parameter-efficient fine-tuning, is a family of methods in which the base weights are frozen and only a small set of additional parameters, adapters, is trained[1]. The most widespread method is LoRA: small low-rank adapter matrices are added into selected layers, and only they are trained. QLoRA is the same idea on top of a quantized base model, which radically lowers memory requirements.</a:t>
            </a:r>
          </a:p>
          <a:p/>
          <a:p>
            <a:r>
              <a:t>Why PEFT is almost always preferable to full fine-tuning — three reasons, and the third is the most important. First: cheaper and faster — millions of adapter parameters are trained instead of billions of weights; QLoRA allows fine-tuning large models on a single GPU. Second: modularity — the adapters are small, megabytes against gigabytes, and you can keep several adapters for different tasks on one frozen base. Third, the main architectural argument about reliability: the base weights are frozen, physically not overwritten under the new signal, so what the model could do before fine-tuning is largely preserved — the training lives in the small additional adapters. This directly lowers the risk of catastrophic forgetting, to which we will now turn.</a:t>
            </a:r>
          </a:p>
          <a:p/>
          <a:p>
            <a:r>
              <a:t>How widespread LoRA is — not an eyeball estimate but a measurable fact. According to the Hugging Face PEFT team, among 20,834 model cards tagged PEFT, 98.4 percent[3] use LoRA specifically. A caveat is mandatory: this is the share among those already tagged PEFT, not among all fine-tuning — full fine-tuning is tagged less carefully and may not be visible in the sample. Nevertheless, among those who chose the parameter-efficient path, LoRA is practically the no-alternative default. And the boundary: both full FT and PEFT are a change of the weights, unlike RAG, the prompt, and the context, which do not touch the weights. This is the watershed between "place knowledge" — RAG and context — and "encode behavior" — PEFT. In the narrative it is enough: full FT — almost never, PEFT and LoRA — the workhorse of 2026.</a:t>
            </a:r>
          </a:p>
          <a:p/>
          <a:p>
            <a:r>
              <a:t>Sources:</a:t>
            </a:r>
          </a:p>
          <a:p>
            <a:r>
              <a:t>[1] Hu et al. 2021 — LoRA — the base weights are frozen, low-rank adapters are trained. https://arxiv.org/abs/2106.09685</a:t>
            </a:r>
          </a:p>
          <a:p>
            <a:r>
              <a:t>[2] Dettmers et al. 2023 — QLoRA — LoRA on top of a quantized model → fine-tuning on a single GPU. https://arxiv.org/abs/2305.14314</a:t>
            </a:r>
          </a:p>
          <a:p>
            <a:r>
              <a:t>[3] HF PEFT — Beyond LoRA (LoRA 98.4% out of 20,834 cards) — 98.4% of models tagged PEFT use LoRA; caveat: the share among those tagged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break down the question that is constantly confused in practice: not "RAG or fine-tuning" but "what here is knowledge and what is behavior." If the task requires knowledge that changes or needs freshness and provenance, the right tool is RAG or a long context, not fine-tuning: knowledge in the weights will go stale by the next change of the corpus, retraining is expensive, and there is a risk of catastrophic forgetting. If the task requires stable behavior, tone, output format, or following a policy rather than new facts, the right tool is fine-tuning in the form of PEFT, not RAG: RAG feeds knowledge into the context but does not change the model's manner of answering. If the goal is to lower cost and latency on a narrow task while keeping quality, a pairing of two separate techniques works: first you fine-tune a large teacher model for the required behavior, and then you distill from it a compact student model. This is not "distillation as a variety of fine-tuning" — taxonomically these are different operations that in practice often go together. And if the answer must be deterministic and verifiable, the right tool is ordinary code with no AI at all: neither RAG nor fine-tuning is needed here, they would add only non-determinism.</a:t>
            </a:r>
          </a:p>
          <a:p/>
          <a:p>
            <a:r>
              <a:t>The 2026 takeaway removes the false dichotomy: a clean "one of them" choice is rare, the norm is a hybrid. A typical mature system combines RAG for knowledge that changes, PEFT fine-tuning for stable behavior, and context engineering on top of both. But a caveat matters here, so that "hybrid is the norm" does not turn into a new cargo cult of "do everything at once": a hybrid is justified only where a task simultaneously has both a knowledge problem and a behavior problem. If there is no behavior problem, fine-tuning is not needed, even if RAG is already there. If the knowledge does not change and there is little of it, RAG is not needed either. A hybrid is not "more components — more correct," it is "knowledge and behavior separated into the right mechanisms, each added for its own requirement" rather than out of inertia or fashion.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previous slide we fixed the definition: fine-tuning changes the weights themselves, whereas the prompt and RAG touch only the context. Relying on this, let us work through its domain of application in 2026. Among engineers the phrasing goes "in 2026 fine-tuning died — RAG and long context solve everything." This is inaccurate. Fine-tuning did not die — it narrowed[1] and stopped being the default setting. It narrowed precisely because it changes the weights: knowledge — facts, documents, everything that changes — lies poorly in the weights and went to RAG and long context, where it can be cited and updated. What stayed with fine-tuning is a narrow but important domain — stable behavior, style, output format, policy adherence, rather than the model's knowledge.</a:t>
            </a:r>
          </a:p>
          <a:p/>
          <a:p>
            <a:r>
              <a:t>Separately and carefully about distillation[2,3], because here there is frequent confusion. Distillation is an independent technique of knowledge transfer and model compression (Hinton, Vinyals, Dean, 2015): a student model learns to imitate the outputs of a teacher model through a separate loss function. Taxonomically it is not a kind of fine-tuning — method surveys place them in different categories. In practice the two techniques are often combined: first the teacher model is fine-tuned for the desired behavior, and then a compact student model is distilled from it. Hold this as "fine-tune teacher, then distillation of student — two separate techniques in tandem," rather than "distillation as a kind of fine-tuning."</a:t>
            </a:r>
          </a:p>
          <a:p/>
          <a:p>
            <a:r>
              <a:t>Hence the what-goes-where criterion. Knowledge changes or provenance is needed — RAG or long context, not fine-tuning: the knowledge will go stale, retraining is expensive, there is a risk of forgetting. You need stable behavior, tone, format, policy — this is fine-tuning in the form of PEFT, not RAG. You need to lower cost on a narrow task — the tandem of fine-tune teacher plus distillation of student. The answer is deterministic and verifiable — ordinary code without AI. In other words, fine-tuning in 2026 is a narrow tool for behavior, format, policy, and efficiency, not a way to teach the model a domain; "teach the domain" in the sense of facts is RAG, in the sense of manner is PEFT, and almost never full fine-tuning.</a:t>
            </a:r>
          </a:p>
          <a:p/>
          <a:p>
            <a:r>
              <a:t>Sources:</a:t>
            </a:r>
          </a:p>
          <a:p>
            <a:r>
              <a:t>[1] BigData Boutique — Fine-Tuning When RAG Isn't Enough — fine-tuning narrowed to behavior/style/format/policy; knowledge → RAG. https://bigdataboutique.com/blog/fine-tuning-llms-when-rag-isnt-enough [VFY-day-of]</a:t>
            </a:r>
          </a:p>
          <a:p>
            <a:r>
              <a:t>[2] Hinton, Vinyals, Dean 2015 — Distilling the Knowledge — distillation is an independent technique, taxonomically NOT a kind of fine-tuning. https://arxiv.org/abs/1503.02531</a:t>
            </a:r>
          </a:p>
          <a:p>
            <a:r>
              <a:t>[3] PEFT survey — a taxonomy of tuning methods — surveys place distillation and fine-tuning in different categories. https://arxiv.org/abs/2403.14608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introduce the term through a documented failure. Catastrophic forgetting is the degradation of the model's general abilities[1] as a result of narrow aggressive fine-tuning: by training the model to be very good at one narrow task, you can break what it could do before that.</a:t>
            </a:r>
          </a:p>
          <a:p/>
          <a:p>
            <a:r>
              <a:t>How this looks as a case. A team fine-tunes a model on a narrow dataset — for example, classifying tickets into their format. On the target metric there is growth: the model classifies excellently. In parallel, imperceptibly, general abilities sag: reasoning on non-target tasks, following complex instructions. On the graph these are two lines: the solid one going up — the target metric (rises), and the dashed one going down — general abilities (fall imperceptibly). If the team measured only the target metric, the degradation is invisible until the model starts being used on something other than the narrow task. And then "why did it suddenly get worse at reasoning?" turns out to be a consequence of a month-old fine-tuning, for which there are already neither the old weights nor the dataset version. Mechanically: training for a narrow task moves the weights toward it, and the parameters that encoded general abilities are overwritten under aggressive full-FT. This is empirically observed under continual fine-tuning (Luo et al., arXiv:2308.08747, 2023), moreover with a counterintuitive feature: as the model's scale grows, the severity of forgetting tends to increase. "Let's take a bigger model to be more reliable" here works in reverse.</a:t>
            </a:r>
          </a:p>
          <a:p/>
          <a:p>
            <a:r>
              <a:t>Why this belongs in the section on the choice of architecture rather than among curiosities. Forgetting by itself is a manageable risk. What makes it catastrophic is the absence of engineering discipline: there is no evaluation loop that would show degradation on a representative set of general tasks; there is no versioning of the dataset and weights for a rollback. Without an eval loop you will not notice that you broke general abilities until it surfaces in production; without versioning you will not return to a working version. The rule: if there is no eval loop and dataset versioning — do not do fine-tuning. This is not a "risk," it is a criterion: there will be neither a signal of the breakage nor a rollback button. The right alternatives: PEFT, where frozen weights give a lower risk; and for changing knowledge — RAG, not fine-tuning at all.</a:t>
            </a:r>
          </a:p>
          <a:p/>
          <a:p>
            <a:r>
              <a:t>Sources:</a:t>
            </a:r>
          </a:p>
          <a:p>
            <a:r>
              <a:t>[1] Luo et al. 2023 — Catastrophic Forgetting in LLM Continual FT — narrow aggressive FT breaks general abilities; harder as the model's scale grows.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largest section of the lecture, and it is about how AI stops being an interlocutor in a chat window and becomes a component of a system. Up to now we discussed a single call and RAG as a way to get text; here the model gains the ability to return machine-processable data, reach out to external systems, and work in a loop. We will work through the mechanics of the API layer and the standard for connecting tools, then the agent loop itself and the distinction between a workflow and an agent, then — what a real assistant agent is assembled from, where its memory lives, and how all of this breaks. It is here too that the through-line theme of security truly stands up: as soon as the model gains tools, a question appears that a single call did not have — who sees the data at each step and what happens when untrusted content enters the context as a command. This is the section where the price of the wrong choice of architecture is measured not only in money but in leaks.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"agent" sounds like an invention of the era of large models, but controlled process automation is a mature engineering discipline with many years of history, and without it you cannot honestly assess what an LLM agent adds and what it breaks. Let us restore the baseline from scratch. The simplest classical model of controlled behavior is the finite-state machine: a system is described by a finite set of states and rules of transition between them on events. Request created, in processing, approved or rejected, closed — this is a finite-state machine; in each state a strictly defined set of transitions is allowed. The behavior is fully predictable and checkable: impossible transitions are excluded by construction, not by hope.</a:t>
            </a:r>
          </a:p>
          <a:p/>
          <a:p>
            <a:r>
              <a:t>When a process is more complex than a single state machine, classical engineering applies workflow engines, orchestrators — systems that execute a pre-described multi-step process along a fixed scheme. Let us name them concretely: BPMN — a standard for the graphical description of a process executed by an engine; Airflow-like orchestrators execute a process as a directed acyclic graph of tasks; RPA automates routine on top of existing interfaces along a rigid script. One thing unites all of these: the sequence of steps is defined in advance, not decided on the fly. Such a pipeline is deterministic, auditable, and repeatable.</a:t>
            </a:r>
          </a:p>
          <a:p/>
          <a:p>
            <a:r>
              <a:t>The third classical idea, and it is exactly the one that leads to the agent loop, is the control loop plan→act→check as a feedback loop. This is a direct inheritance from control theory and robotics: a system measures the state of the environment, computes an action, applies it, measures again, and corrects. The military-engineering analogue is the OODA loop. The essence is one: not a single action, but a loop — plan, do, check, correct.</a:t>
            </a:r>
          </a:p>
          <a:p/>
          <a:p>
            <a:r>
              <a:t>An LLM agent is the same control loop, but its steps are generated by the model non-deterministically rather than selected by a fixed rule of a state machine. Hence both the power and the fragility are visible: a deterministic loop always makes a predictable step, whereas a model can invent a step that was not in the scheme. And the classical reliability practices — determinism where possible, idempotency, limits, audit, least privilege — do not go anywhere.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AI to become part of a system, three mechanisms of the API layer are needed. The first is structured output: a mode in which the model is obliged to return an answer strictly by a given schema, for example JSON, rather than free text. Technically the schema is compiled into a constraint on sampling, so the model cannot produce a structurally invalid answer; the output turns from text that has to be parsed with regexes into data guaranteed to be valid in form. This makes the model embeddable. A subtlety: validity of form is guaranteed, but not of content — a field may be factually wrong. The second is function calling: instead of answering with text, the model can return a request "call tool X with arguments Y," and your code executes the call, not the model. The model only states an intention — this makes it active and will be key for security. The third is prompt caching: reusing the already computed state of an unchanged prefix so as not to recompute it each time; the state is cached, not the text of the answer. This makes the model economically viable at volume and makes full-context for a small stable corpus a real competitor to RAG. None of the three makes the model more reliable or auditable — they expand capabilities without changing the nondeterministic nature, and they do not repeal the rule of the ladder.</a:t>
            </a:r>
          </a:p>
          <a:p/>
          <a:p>
            <a:r>
              <a:t>There remains the question of how a tool connects to the model. Until the end of 2024, each integration solved this in its own way. MCP, the Model Context Protocol, is an open standard for a unified way to connect[1] tools to a model; the metaphor is "USB-C for tools." The essence is in the arithmetic: with N models and M tools, naively you need N times M integrations, and MCP reduces this to N plus M. But here is a critical pivot: standardizing connection does not mean the security of what is connected and even aggravates the trust problem. Every connected tool is code in your environment and a channel through which untrusted text enters the context. "Connect in a minute" and "trust what is connected" are different questions; MCP solved the first and made the second sharper. Ease of connection is not an argument for connecting.</a:t>
            </a:r>
          </a:p>
          <a:p/>
          <a:p>
            <a:r>
              <a:t>Sources:</a:t>
            </a:r>
          </a:p>
          <a:p>
            <a:r>
              <a:t>[1] Anthropic — MCP donation / Agentic AI Foundation (N×M→N+M) — MCP standardizes connection; ease of connection ≠ the security of what is connected.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on the architectural ladder does not grow the way an engineer intuitively expects. The base: one chat turn costs cents. The move to an agent is not a surcharge but a multiplicative jump: the context accumulates tool outputs, the model reasons at every step, the tokens are many times more. Multi-agent is another ×15 on top of a single one. The key point: the multipliers multiply, they do not add. Each step multiplies the budget, it does not add to it.</a:t>
            </a:r>
          </a:p>
          <a:p/>
          <a:p>
            <a:r>
              <a:t>That is why prompt caching — reusing an unchanged prefix instead of recomputing it on every request — changes its status from an option to a necessity inside an agent loop. On an isolated call the cache is pleasant but not critical. Inside a loop with dozens of accesses to the same prefix (instructions, descriptions, context) the absence of a cache means paying for every recompute. The cache does not remove the multiplier, but it removes the unneeded recompute.</a:t>
            </a:r>
          </a:p>
          <a:p/>
          <a:p>
            <a:r>
              <a:t>The takeaway: compute the economics before deciding to step up the ladder, not after the API bill. "An agent is more expensive" is a multiplicative rule, and multi-agent multiplies again. Before adding a step, ask yourself: does the value of the task justify this multiplier.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decides how the model formulates a call. MCP decides how the tool physically connects. Before 2024 each vendor solved this in its own way, producing a combinatorial explosion. MCP is an open standard: N models × M tools = N×M integrations → N+M. The metaphor: USB-C for tools. Anthropic opened it in November 2024, OpenAI and Google adopted it in 2025 — a de facto industry standard.</a:t>
            </a:r>
          </a:p>
          <a:p/>
          <a:p>
            <a:r>
              <a:t>Read the scale critically. Catalogs name up to 90,000 servers, but the actually runnable ones number about 10,000 — 11%. The rest are duplicates, broken, stubs. Even the working ones are not checked for security.</a:t>
            </a:r>
          </a:p>
          <a:p/>
          <a:p>
            <a:r>
              <a:t>The critical turn: standardizing the connection does not mean the connected thing is secure — it worsens the problem. Every tool is code that runs in your environment, a channel for untrusted text. Over 60 days: 30+ CVEs on MCP servers, 43% — command injection, 82% of implementations vulnerable to path traversal. "Connect it in a minute" and "trust the connected thing" are different questions. MCP solved the first and made the second sharper. Convenience is not an argument for connecting.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 is everything for the next rung. A single call can reason; RAG pulls knowledge; function calling reaches external systems; MCP standardizes connection. An agent is an architecture in which the model does not make one pass but works in a loop[1]: it plans a step, acts — calls a tool, observes the result, checks whether the goal is reached, and iterates, dynamically determining the sequence itself. The canonical formulation is plan, act, check, repeat; this is the ReAct pattern, alternating reasoning and actions, while Reflexion adds an explicit self-assessment after a failure. This is a "different AI" compared to a single call: there the model answered once, here it directs a process of many steps.</a:t>
            </a:r>
          </a:p>
          <a:p/>
          <a:p>
            <a:r>
              <a:t>Let us work through the loop step by step, because each step is a place of a specific failure mode. Plan: the model states a step based on the goal and history; the failure mode is a myopic or looping plan, the model does not see the accumulated cost and time. Act: a tool is called; the failure mode is the tool failing or returning an error, and if there is no plan for it, a loop begins. Check: the result is assessed; the failure mode is no check or one that reduces to the model's self-assessment. Iterate: the loop repeats; the failure mode is no external limit on iterations, cost, or time. "An agent" is not one abstraction but four steps, each with its own way to break; to design an agent means to design defenses at each of the four.</a:t>
            </a:r>
          </a:p>
          <a:p/>
          <a:p>
            <a:r>
              <a:t>Let me emphasize the element that carries the main through-line load of the course — the check step[2]. And here the lesson about the faithfulness of reasoning returns starkly: the check must not be "the model asked itself and answered itself that everything is fine." Self-assessment is subject to the same unfaithfulness that we saw on the slide about the limit of chain-of-thought — it is an illusion of control: the explanation "I checked" is produced by the same sampling as the answer itself. A reliable check is validation against an external criterion: a schema, a test, an invariant check, a comparison against a source of truth, and in significant decisions — a human validator. Without an external check, the agent loop is a loop that confidently goes in the wrong direction. This is a direct bridge to agent failures.</a:t>
            </a:r>
          </a:p>
          <a:p/>
          <a:p>
            <a:r>
              <a:t>Sources:</a:t>
            </a:r>
          </a:p>
          <a:p>
            <a:r>
              <a:t>[1] Yao et al. 2022 — ReAct (plan→act→check→iterate) — alternating reasoning and actions; each step is a place of failure. https://arxiv.org/abs/2210.03629</a:t>
            </a:r>
          </a:p>
          <a:p>
            <a:r>
              <a:t>[2] Anthropic — Reasoning Models faithfulness (check ≠ self-assessment) — the check step — validation against an external criterion, not the model's self-assessment.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working through how agents break, we need to introduce a distinction that is, for the lecture's main learning goal, one of the most important. Anthropic in "Building Effective Agents" separates two concepts[1] that in everyday use are often conflated. A workflow is a system where the model and tools are orchestrated along paths predefined in code; the sequence of steps is known in advance and hardcoded, the model is called at specific steps but does not decide which steps to do and in what order. An agent is a system where the model dynamically determines its own process; the sequence is not fixed in advance.</a:t>
            </a:r>
          </a:p>
          <a:p/>
          <a:p>
            <a:r>
              <a:t>The distinction is operational and gives a direct choice criterion. The task is predictable, the sequence is known — workflow. Unpredictable, the sequence depends on intermediate results, and the value justifies a multiple increase in cost — agent. Anthropic states the trade-off directly: agentic systems trade latency and cost for quality. Let us translate the criterion into one practical question: can I, in advance, before the run, write out the sequence of steps? If yes, even with known branches — it is a workflow. If the sequence fundamentally depends on intermediate results, and the value justifies the increase in risk — an agent. "Too lazy to formalize" does not make a task unpredictable. This is perhaps the industry's most expensive mistake: building a dynamic agent where a workflow would have sufficed.</a:t>
            </a:r>
          </a:p>
          <a:p/>
          <a:p>
            <a:r>
              <a:t>An important note: the boundary runs not only along the task as a whole but also along what happens inside a specific step — workflow and agent nest inside each other, and this is the norm. An agent at the action step can call a whole workflow as a single tool: a code review agent itself decides what to check, but calls the step "linter, tests, formatting" as a single deterministic subprocess. And vice versa: a claims-processing workflow routes along fixed rules, but delegates the step "figure out a free-form complaint" to a mini-agent. This is not a third architecture but the recognition that the question "workflow or agent" is about a specific place in the system: dynamism is added only where it is needed. The full debate about multi-agents[2] stays in the chapter; in the narrative it is enough: multi-agent by default is not an upgrade.</a:t>
            </a:r>
          </a:p>
          <a:p/>
          <a:p>
            <a:r>
              <a:t>Sources:</a:t>
            </a:r>
          </a:p>
          <a:p>
            <a:r>
              <a:t>[1] Anthropic — Building Effective Agents (workflow vs agent) — workflow = predefined paths; agent = a dynamic process; the trade-off latency/cost↔quality. https://www.anthropic.com/research/building-effective-agents</a:t>
            </a:r>
          </a:p>
          <a:p>
            <a:r>
              <a:t>[2] Cognition — Don't Build Multi-Agents — multi-agent by default is not an upgrade; the fragility of parallel subagents.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take on separately why multi-agent is not a win by default, because this is one of the frequent architectural mistakes, and it has a simple, vivid math. In a pipeline of n sequential steps where a failure of any step spoils the outcome, the reliabilities multiply rather than average: the overall chance of success is approximately p to the power of n. Hence the counterintuitive numbers: even at ninety-five percent reliability per step, ten steps in a row yield only about sixty percent overall reliability, and at ninety percent per step — already about thirty-five. The engineer's intuition "each step almost always works, so the whole chain almost always works" is mathematically false: "almost always" per step multiplies into "fairly often not" at the output of the whole system.</a:t>
            </a:r>
          </a:p>
          <a:p/>
          <a:p>
            <a:r>
              <a:t>Next — the question of topology, that is, how exactly several agents are organized among themselves. With the same number of agents, independent "swarms" of equal-rank agents working without a single center amplified errors nearly seventeen times, whereas centralized orchestration with a single coordinator held error amplification to under five times. The conclusion is direct: orchestration with a single coordinator is more reliable than a "swarm" of equal-rank agents, and not the other way around, even though intuitively a "swarm" seems the more flexible and scalable solution.</a:t>
            </a:r>
          </a:p>
          <a:p/>
          <a:p>
            <a:r>
              <a:t>Here it is worth quoting Anthropic's position verbatim, because it is sobering: multi-agent systems work mainly because they help spend enough tokens to solve the problem — that is, the gain is largely explained by the volume of computation, not by some special coordination magic between agents. The practical advice from the same sources is to start with a single strong agent: for many tasks, single calls with good retrieval and examples suffice, while teams spent months on complex multi-agent architectures only to find that more precise prompting of one agent gave an equivalent result more cheaply. Hence the criterion: do not build multi-agent unless the task decomposes into broadly parallel, independent, high-value subtasks — otherwise the coordination overhead and the manyfold growth in token cost will outweigh any benefit from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talked about an agent as an abstract loop: plan, act, check, repeat. But a real assistant agent, the one an engineer works with every day, is not a bare loop but a loop plus a harness[1]. A set of additional mechanisms that determine what the agent remembers, what it follows, which procedures it can reuse, whom it can delegate work to, and which external systems it has access to. Further in this section we will repeatedly rely on data from the agent-harness-registry — an independent public registry that tests agent harnesses (memory, skills, subagents, MCP) through live-eval benchmarks on real tasks, rather than through vendor self-reports of capabilities. By its data one can distinguish five typical slots of this harness. The first is memory: what the agent remembers between sessions. The second is instruction-rules: the project's convention files and a progress log. The third is skills, reusable procedures for repeating tasks. The fourth is subagents, delegated sub-agents with their own context window. The fifth is access to external tools through MCP.</a:t>
            </a:r>
          </a:p>
          <a:p/>
          <a:p>
            <a:r>
              <a:t>Before working through each slot separately, let us fix a thesis that rhymes with the central rule of the whole lecture and with the ladder of architectural complexity. Each harness slot is a trade-off between cost, complexity, and fault tolerance, not an upgrade by default. Exactly as one should not climb the ladder of architectures without a requirement of the task, one should not add memory, subagents, or new access to an agent just in case: each added slot carries its own cost — operational complexity, a new failure surface, a new trust boundary — and must answer a concrete, not an abstract, trigger. Next we will walk along this map slot by slot and at each check this thesis.</a:t>
            </a:r>
          </a:p>
          <a:p/>
          <a:p>
            <a:r>
              <a:t>Sources:</a:t>
            </a:r>
          </a:p>
          <a:p>
            <a:r>
              <a:t>[1] agent-harness-registry — the map of agent harness slots — source not confirmed by a canonical URL as of 2026-08-30; Claude Code/Cursor/Aider — vendor sites, verify day-of.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harness slot is memory: what the agent remembers between sessions, as opposed to the context of a single conversation, which lives only while the dialogue is open. The simplest form of memory is a flat file[1]: the agent appends facts, conclusions, a history of decisions to a text log, and on the next startup reads this file whole. This works while the log is small and does not grow uncontrollably. At the other end of the spectrum are specialized vector or graph memory stores. The mem0 system gathers facts about the user and their preferences and reuses them in future sessions. Cognee builds memory on a knowledge graph where facts are connected through an ontology, and retrieval accounts not only for text closeness but for relations between entities. Graphiti and Zep go further — these are temporal knowledge graphs that explicitly track the time a fact is valid and its origin: the system knows when a fact became true, when it went stale, and where it came from.</a:t>
            </a:r>
          </a:p>
          <a:p/>
          <a:p>
            <a:r>
              <a:t>Here a question we already worked through for RAG repeats directly. The same question of knowledge scale that RAG solves for a corpus of documents arises for the agent's own memory. A flat file works while the history is small and stable — a direct parallel to the criterion "the corpus fits in the window." A structured store is needed when the history is large, growing, or requires retrieval by facts — who said what, when, is it still current — rather than just "give me the last messages." The criterion is one and the same, applied to a different object. And symmetrically the ladder rule works: do not give a graph memory store to an agent that has short unconnected sessions and nothing to recall in a structured way — it is the same technical debt without a requirement as RAG for ten articles.</a:t>
            </a:r>
          </a:p>
          <a:p/>
          <a:p>
            <a:r>
              <a:t>Sources:</a:t>
            </a:r>
          </a:p>
          <a:p>
            <a:r>
              <a:t>[1] agent-harness-registry (live-eval) — the spectrum of agent memory — source not confirmed by a canonical URL as of 2026-08-30; a parallel with the RAG scale criterion.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memory intuitively seems like a pure improvement — an agent that remembers should be more useful than an agent that starts from scratch every time. Data from the agent-harness-registry, an independent registry[1] that tests systems on real tasks, shows that this is not always so, and sometimes dramatically not so. On the slide the systems are marked with a Tier letter — this is the registry's rating category from A (the best results) to D (the worst) by the sum of live-eval benchmarks; the closer to A, the more stably the system showed itself on the full set of tests. The first case is the Letta system, Tier D. By the registry's data it loses both to the bare model with no memory at all and to a trivial flat file on all fully tested benchmarks: on persistbench the bare model gave 1.000, the flat file 0.833, and Letta only 0.750, while being an order of magnitude slower. Three failure mechanisms were identified: capitulation under pressure, when on a repeated question the system changes an already given correct answer to an uncertain one; verbosity, when a long embellished answer hides the short correct fact; and a fact noticed but not committed to memory. A freshness caveat is mandatory: a version about eighteen months old was tested due to an installer limitation, not due to cutting a corner, so this is an assessment of a specific outdated version.</a:t>
            </a:r>
          </a:p>
          <a:p/>
          <a:p>
            <a:r>
              <a:t>The second case is more important, because it is the best tested system. The Anthropic Memory Tool is strong overall, but even it recorded information loss in four tasks out of twenty-four, that is, in 17 percent: an explicit refusal to record a fact deemed ephemeral; a refusal as "out of scope"; and quiet summarization, when specific facts are imperceptibly absorbed into general categories. The most alarming detail is irreproducibility: the same conversation, submitted twice, produced different behavior. This is not a bug but documented design: the model is asked to apply judgment on what is worth recording, and this judgment produces real, sometimes contradictory failures. The conclusion is one: even for the best memory system there is a measurable tail of losses. "Works well" and "works always" are different statements, and this is the same lesson as the RAG failure at scale and catastrophic forgetting.</a:t>
            </a:r>
          </a:p>
          <a:p/>
          <a:p>
            <a:r>
              <a:t>Sources:</a:t>
            </a:r>
          </a:p>
          <a:p>
            <a:r>
              <a:t>[1] agent-harness-registry (live-eval) — Letta Tier D / Memory Tool 17% tail — source not confirmed by a canonical URL as of 2026-08-30; the numbers are volatile (1.0/0.833/0.750; 17%).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harness slot is the operational layer: the project's instruction files and a task log into which the agent writes its own progress on multi-step work. An instruction file here is a generalized name for a class of convention files where a team records how to build the project, how to test, which patterns to keep to. The intuition is clear: if you write the agent a detailed instruction and keep a log of what was done, quality should rise. Controlled studies show that the intuition diverges noticeably from the measured effect. The first study, the presence paradox[1], is a randomized experiment with three arms: no file, a file generated by the model, a file written by a developer. The key conclusion: the mere presence of a file gave no statistically significant gain in task success, while cost and the number of steps tended to rise. The single exception is meaningful: generated files helped precisely in repositories where there was no other documentation — that is, a file works when it fills a real information gap, rather than duplicating what the model would infer from the code anyway.</a:t>
            </a:r>
          </a:p>
          <a:p/>
          <a:p>
            <a:r>
              <a:t>The second study, Honest Lying, is about self-authored memory: the agent itself writes notes about its conclusions and errors. It turned out that such memory can not help correction but entrench a wrong belief — if the agent early on wrongly recorded the cause of a failure, subsequent attempts rely on it instead of rechecking. The third is a real case, claude-code#51735[2]: a past error was acknowledged in writing in the log, and this did not prevent its repeat twenty-five days later. The synthesis for an engineer: the operational layer is not a magical vaccine against errors and not a ritual by default, but a tool with measured, sometimes modest and counterintuitive effects. The same pattern as a role in the prompt: the common "add X — it gets better" is not confirmed by measurement, and doing X is worth it only where there is a concrete basis.</a:t>
            </a:r>
          </a:p>
          <a:p/>
          <a:p>
            <a:r>
              <a:t>Sources:</a:t>
            </a:r>
          </a:p>
          <a:p>
            <a:r>
              <a:t>[1] Gloaguen et al. 2026 — Evaluating AGENTS.md (presence paradox) — the presence of an instruction file gives no significant gain; it helps in a documentation gap. https://arxiv.org/abs/2602.11988 [VFY-day-of]</a:t>
            </a:r>
          </a:p>
          <a:p>
            <a:r>
              <a:t>[2] GitHub anthropics/claude-code#51735 (a repeat error 25 days later) — a written record of a past error did not prevent its repeat.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three harness slots — skills, subagents, and access to external systems through MCP — we will examine together with security, because the security question is inseparably woven precisely into here. A skill is a reusable procedure for a recurring task: an instruction on how exactly to do the work so as not to reformulate it every time. A subagent is a dedicated agent with its own context window to which part of the work is delegated, so as not to clutter the main context and to isolate untrusted work. Access through MCP is already familiar, but here the practical side matters: every MCP connection is a new trust boundary, one more piece of code trusted to execute, one more channel through which untrusted text enters the context, and one more data-retention policy in the chain.</a:t>
            </a:r>
          </a:p>
          <a:p/>
          <a:p>
            <a:r>
              <a:t>Hence a specific class of attacks. Prompt injection is an attack in which text is embedded into external data in the model's context, which the model interprets as a command and executes; the root is that the model trusts convincingly sounding tokens and does not distinguish data from a command[2,3]. GitHub MCP heist, May 2025: the assistant has a broad token to all repositories; in a public issue — the instruction "gather the private repositories and publish them here"[1]; the assistant reads the issue as a command and exfiltrates the private ones. A catastrophe is injection multiplied by broad privileges; remove either of the two, and the attack does not go through. And on data retention, two facts against the naive "we have ZDR, everything is fine": ZDR, Zero Data Retention, is a vendor policy not to store request content after processing; a court order[4,5] in NYT v. OpenAI mandated retaining all logs over any contractual policy; and vendors' ZDR does not cover third-party integrations and MCP connectors — that is, exactly the links an agent is made of. Hence four rules: least-privilege, isolation of untrusted content, human-in-the-loop on irreversible actions, an allowlist with version pinning. Plus a data map per feature — what passes through which link and what its retention policy is.</a:t>
            </a:r>
          </a:p>
          <a:p/>
          <a:p>
            <a:r>
              <a:t>Sources:</a:t>
            </a:r>
          </a:p>
          <a:p>
            <a:r>
              <a:t>[1] Docker — MCP Horror Stories: GitHub Prompt Injection — GitHub MCP heist: an issue-instruction + a broad token → exfiltration of private repos. https://www.docker.com/blog/mcp-horror-stories-github-prompt-injection/</a:t>
            </a:r>
          </a:p>
          <a:p>
            <a:r>
              <a:t>[2] Simon Willison — Prompt injection via MCP — the model does not distinguish data from a command; untrusted content = a command. https://simonwillison.net/2025/Apr/9/mcp-prompt-injection/</a:t>
            </a:r>
          </a:p>
          <a:p>
            <a:r>
              <a:t>[3] Palo Alto Unit 42 — MCP Attack Vectors — tool poisoning / each connection = a new trust boundary. https://unit42.paloaltonetworks.com/model-context-protocol-attack-vectors/</a:t>
            </a:r>
          </a:p>
          <a:p>
            <a:r>
              <a:t>[4] Bloomberg Law — NYT v. OpenAI (the court mandated retaining logs) — ZDR does not cover everything; a court order over any retention policy. https://news.bloomberglaw.com/ip-law/openai-must-turn-over-20-million-chatgpt-logs-judge-affirms</a:t>
            </a:r>
          </a:p>
          <a:p>
            <a:r>
              <a:t>[5] Anthropic — API and Data Retention (ZDR boundaries) — ZDR does not cover third-party / MCP connectors — exactly what an agent is made of.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ZDR turned on, so the data is protected" — a typical and dangerous oversimplification when designing an agent system. ZDR, zero data retention, is a mode in which the provider does not store the content of requests and responses after processing, but it covers far from the whole chain. At leading vendors, ZDR extends to the main model calls but does not cover a whole set of adjacent capabilities: the Files API, batch processing, code-execution containers, the MCP connector, third-party integrations, and consumer pricing plans. Here lies the trap specifically for agent systems: an agent is by definition a model plus tools, and the tools are again and again exactly third-party services or MCP servers — precisely the links that ZDR does not cover. The more "agentic" the architecture becomes, the more data passes through links that live outside the protection of zero retention.</a:t>
            </a:r>
          </a:p>
          <a:p/>
          <a:p>
            <a:r>
              <a:t>The second fact, which breaks naive confidence in a contractual retention policy, is the New York Times v. OpenAI case. In the course of the litigation, a federal court ordered OpenAI to preserve absolutely all ChatGPT logs as potential evidence, regardless of what was written in the company's own policy. The provider's stated policy of "we delete after thirty days" proved wholly powerless before a court order in a dispute entirely external to the client. Hence the practical conclusion: data that has left your perimeter starts to live by rules you do not control, and a provider's promise is a description of normal conditions, not a guarantee for every case.</a:t>
            </a:r>
          </a:p>
          <a:p/>
          <a:p>
            <a:r>
              <a:t>The design rule that follows from both facts: before releasing a feature into production you need to build a data map — which data exactly passes through which link of the chain, what the link's real retention policy is, and which links belong to a third party at all. For regulated or highly sensitive data the only reliable option is to work only through links with ZDR or a signed data-processing agreement, or to deploy the model on your own infrastructure. "We turned ZDR on" is not a project checkbox but one item from a map you need to build in full.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the whole conceptual apparatus of the section — API and MCP, the agent loop, the distinction between a workflow and an agent, the five harness slots — into one practical reference point: how real coding agents of 2026 look through these concepts. We show each tool not through marketing but through the harness frame[1]: what harness it has by the map of five slots. Claude Code — a broad harness: its own memory between sessions, support for instruction files, built-in skills, full-fledged subagents with a separate context window, access to external systems through MCP; almost all slots are filled, which gives capabilities at the price of greater operational complexity. Aider — the opposite point: minimal file simplicity, no developed memory, no subagents, no formal skills; open-source, CLI-first. It demonstrates an important thesis: a thin harness is not an underdeveloped version of a full one but a deliberate working choice for tasks where a broad harness is not needed.</a:t>
            </a:r>
          </a:p>
          <a:p/>
          <a:p>
            <a:r>
              <a:t>Cursor — the third point: not a terminal but a desktop editor with a built-in agent, a VS Code fork. It shows that the harness is not the only axis: the form of integration into the workflow, terminal versus IDE, is a separate architectural decision. OpenHands — a self-hosted autonomous platform with an MIT license, deploys locally or in Docker. By profile — open source, autonomy, MIT license — this is a likely candidate for the tool mentioned by ear as "OpenClaw"; this is a working hypothesis by profile match, not an established fact, and it is worth confirming. The general conclusion of the overview: the difference between real coding agents is not in the quality of the model inside them but in which harness slots are filled and where the agent physically lives. This is a direct application of the whole section map and of the same logic "do not take the most equipped option by default."</a:t>
            </a:r>
          </a:p>
          <a:p/>
          <a:p>
            <a:r>
              <a:t>Sources:</a:t>
            </a:r>
          </a:p>
          <a:p>
            <a:r>
              <a:t>[1] agent-harness-registry — an overview through the harness frame — source not confirmed; Claude Code/Aider/Cursor/OpenHands — vendor sites, verify day-of. [VFY: canonical URL not confirmed,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loop has four places of failure; the three classes of failures below are these modes in dated cases, each with a lesson and an alternative. First. A team put an autonomous agent on "sync the orders in the CRM" — a predictable task. The external API hit a rate limit and started returning error 429[1]. The agent, having no branch for 429 in its plan, acted by its nature: plan, call, 429, replan, again — thousands of times an hour; the total about $4,200 over sixty-three hours (postmortem by Sattyam Jain, 2026-04; single-author, numbers rounded, illustrative). The agent constructively understands neither the accumulated cost, nor the time, nor that the actions are identical. The lesson: without hard external limits, "try until it works" is executed literally and to the point of ruin.</a:t>
            </a:r>
          </a:p>
          <a:p/>
          <a:p>
            <a:r>
              <a:t>It is important to name the comparison baseline. An ordinary deterministic retry script with increasing delay solves the same task many times cheaper: got 429, waited a second, two, four, eight, retried a limited number of times — and either it is done, or it quickly reported "couldn't, intervention needed." A few lines of code, seconds to minutes, costs almost nothing. That is, $4,200 is not the price of automating synchronization in general but the price of the wrong choice of architecture for a predictable task. The alternative is twofold: budget gates outside the agent and, at the architecture level, a retry script rather than an agent.</a:t>
            </a:r>
          </a:p>
          <a:p/>
          <a:p>
            <a:r>
              <a:t>Second. In a chain where the failure of any component spoils the result, reliabilities multiply[2]: five steps at 99% give about 95%, ten — about 90%, twenty — about 82%. The reasoning "each step almost always works, therefore so does the chain" is mathematically false. The consequence: improving an individual agent barely moves system reliability, while halving the number of steps gives a comparable effect more cheaply. The lesson: "improve the model" is a weak lever, "fewer hops plus validation between steps" is a strong one. Third. When subtasks are dependent, parallel subagents make conflicting implicit decisions and give an incompatible result. The lesson: a multi-agent[3] by default is not an upgrade; for tasks with dependencies it is worse than a single linear agent. In all three, "a more complex architecture" meant "less reliable," not "more advanced."</a:t>
            </a:r>
          </a:p>
          <a:p/>
          <a:p>
            <a:r>
              <a:t>Sources:</a:t>
            </a:r>
          </a:p>
          <a:p>
            <a:r>
              <a:t>[1] Sattyam Jain 2026 — The Agent That Burned $4,200 in 63 Hours — a loop without limits on HTTP 429; a retry script would solve the task for almost free. https://medium.com/@sattyamjain96/the-agent-that-burned-4-200-in-63-hours-a-production-ai-postmortem-d38fd9586a85 [VFY-day-of]</a:t>
            </a:r>
          </a:p>
          <a:p>
            <a:r>
              <a:t>[2] MindStudio — Reliability Compounding Problem — 5×99%≈95%, 10→90%, 20→82% — reliabilities multiply. https://www.mindstudio.ai/blog/reliability-compounding-problem-ai-agent-stacks</a:t>
            </a:r>
          </a:p>
          <a:p>
            <a:r>
              <a:t>[3] Cognition — Don't Build Multi-Agents (fragility) — dependent subtasks → parallel subagents make conflicting decisions.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loop plan-act-check-repeat has four points of failure, and next we work through these modes in dated cases — each with a lesson and an alternative. But before going through the cases, it is important to fix the way to read the whole catalog: the learning unit here is the failure class, not the individual incident; the concrete cases are illustrations of a class, not material for memorizing dates and sums. On meeting a new incident in practice, the useful skill is to name which failure class exactly it belongs to, because the class determines the countermeasure: restricting privileges, isolating untrusted content, validation between steps.</a:t>
            </a:r>
          </a:p>
          <a:p/>
          <a:p>
            <a:r>
              <a:t>The scale is set by the anchor number: of seven thousand two hundred forty-six publicly documented AI incidents, three hundred forty-four are selected as relevant to business systems, and already among those, in one hundred eighty-eight — about fifty-five percent — an autonomous system did the harm right in production without any attacker in the chain: the agent broke everything itself, with no one else's malice. This changes the intuitive picture of the risks of agent systems: most often the danger comes not from an external attack but from the agent's own logic meeting a situation no one anticipated.</a:t>
            </a:r>
          </a:p>
          <a:p/>
          <a:p>
            <a:r>
              <a:t>The ten classes from the table cover the whole failure map of the section: a destructive action combined with excessive privileges, injection via untrusted content without a single click by the victim, uncontrolled cost growth, delivery of malicious code through hallucinated package names, an untrusted MCP server, a cascade of errors in a multi-agent system, the company's legal liability for the words of its own bot, a loop without budget limits, the mathematical accumulation of errors along a chain of steps, and the general fragility of multi-agent architectures on dependent subtasks. Each of them will be worked through separately with a concrete case, but keep in mind the key point: the goal is to recognize the class, not to remember the numbers by heart.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work through four classes in more detail, each with a concrete comparison baseline. The first — destruction under excessive privileges. A coding agent in a test environment found a token with unlimited privileges and deleted the production volume with all its backups in nine seconds; the nearest backup was three months old. Lesson: the system prompt is not a security control; only an architectural boundary and least-privilege reliably stop an agent.</a:t>
            </a:r>
          </a:p>
          <a:p/>
          <a:p>
            <a:r>
              <a:t>The second — uncontrolled cost. A research agent with no success criterion spent $48k in 14 hours, 100 instances burned $1.3M in a month. Baseline: an ordinary session costs cents to dollars, this is 3–5 orders of magnitude higher. Lesson: a termination criterion, a hard budget cap, an emergency stop.</a:t>
            </a:r>
          </a:p>
          <a:p/>
          <a:p>
            <a:r>
              <a:t>The third — slopsquatting: agents invent package names, attackers register them with malicious payloads. Almost one in five generated imports pointed to a nonexistent package. Lesson: do not install dependency names without verification against a registry.</a:t>
            </a:r>
          </a:p>
          <a:p/>
          <a:p>
            <a:r>
              <a:t>The fourth — multi-agent cascade: one agent's error passes down the chain as a fact, the following agents rely on it. In real incidents the root is often not where the failure is visible but at an upstream step — in retrieval or planning. The general conclusion: the agent was applied without an external boundary. Such a boundary sits outside the agent and is not replaced by a prompt.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this point we have gone up the ladder from the bottom and examined each rung separately: a single call and its limits; RAG and when it is not needed; fine-tuning, its narrowing and its failure through catastrophic forgetting; the API layer, MCP, the agent loop, the difference between a workflow and an agent, agent failures, and the security of the chain. For each architecture we deliberately examined not only "when it is right" but also "when it fails" and "when the right answer is a completely different tool." That was preparation.</a:t>
            </a:r>
          </a:p>
          <a:p/>
          <a:p>
            <a:r>
              <a:t>Now — the final section, for the sake of which everything else was undertaken. Separate knowledge about RAG, agents, and fine-tuning does not by itself give the lecture's main skill — the skill of choosing with justification. The fifth section gathers everything examined into a single working tool: the ladder of complexity with the rule "climb only for a task requirement," the choice matrix along axes with an explicit lower bound "when not AI at all," an eight-step checklist that folds the ladder and the matrix into a two-minute procedure, and the rule of the human validator. This is the payoff of the central question: by the end of the section, for any task you will be able to name an architecture, give at least two reasons along the axes, indicate at least one condition under which the choice would be different, and say under which signs AI is not needed here at all. And on this same checklist slide you will try to apply the tool yourself — on a new task.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building the framework for choosing an AI architecture, let us restore what it grew out of — the classical engineering discipline of technology choice, which existed long before the AI hype and has not gone anywhere. Every previous section already showed the same figure of thought: from the classical base to what AI adds, and to what remains mandatory from the classics. This section closes the chapter with the same move at the top level: the choice of architecture itself is not a new AI-specific procedure but a direct application of the classical principles of engineering decision-making.</a:t>
            </a:r>
          </a:p>
          <a:p/>
          <a:p>
            <a:r>
              <a:t>The classical discipline of choice rests on several named principles. Requirements engineering is the starting point: first you fix what the system must do, and only then pick the tool for the requirement, not the other way around. The choice goes from the requirement, not from the tool: a technology is taken because it meets the requirement, not because it is new or fashionable. Build-vs-buy is the analysis of whether to solve the task with your own development or take a ready-made one. KISS demands choosing the simplest solution that meets the requirement. YAGNI forbids building in capacity for the future without a concrete requirement. The rule of least power from the W3C notes of Berners-Lee and Mendelsohn: choose the least powerful of the sufficient tools, because it is easier to analyze and maintain.</a:t>
            </a:r>
          </a:p>
          <a:p/>
          <a:p>
            <a:r>
              <a:t>How this worked in practice before the AI hype. An engineer started not with "which tool would be interesting to try" but with the requirement: is a database needed or does a file suffice; is a microservice needed or is this a module of a monolith. Whoever put a distributed system where one process sufficed made a mistake that was not technical but disciplinary — took capacity without a requirement.</a:t>
            </a:r>
          </a:p>
          <a:p/>
          <a:p>
            <a:r>
              <a:t>Now the bridge to the ladder. The architecture ladder is the same classical principle "the simplest thing that works", applied to the choice of an AI architecture. The rule for moving up it — do not climb without a requirement that the rung below cannot meet — is literally KISS and YAGNI in the language of AI systems. The AI era repeals none of these principles — it makes them costlier to violate, because the price of an extra rung is higher than the classical one: nondeterminism, tokens, latency, a new attack surface. The on-point failure of the section, the MIT NANDA report, is a direct illustration of the price of violation: pilots without ROI take AI without a formulated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everything we have covered into one structure — the ladder of architectural complexity[1]. Each rung is an architecture we examined. Bottom-up: ordinary code without AI; a single model call with a prompt, possibly with step-by-step reasoning and examples; RAG or context engineering, and for a small stable corpus — long context with caching; a workflow with predefined paths; an agent with a dynamic loop and mandatory limits on budget and iterations; and at the top a multi-agent.</a:t>
            </a:r>
          </a:p>
          <a:p/>
          <a:p>
            <a:r>
              <a:t>The rule for moving along the ladder is the load-bearing rule of the whole lecture: stay on the lowest rung that closes the task's requirements; climb to the next one only for an explicitly stated requirement that the current rung does not close. Each climb is paid for with new failure modes, cost, latency, degraded auditability, and a new attack surface. "Climbed because I could" is technical debt; "climbed because here is a requirement not closed by the rung below" is an engineering decision. Note that the bottom rung is ordinary code without AI: the ladder of AI system architectures begins with "maybe AI is not needed here at all."</a:t>
            </a:r>
          </a:p>
          <a:p/>
          <a:p>
            <a:r>
              <a:t>Let us gather exactly which requirement opens each climb — this is the transition from a ladder-picture to a ladder-tool. Code to a single call: a requirement appeared to process natural language, unstructured input, fuzzy matching, which cannot be expressed with deterministic rules. A single call to RAG: a requirement for knowledge appeared that is not in the weights and that is large, and changing, and requiring provenance, and private simultaneously. To a workflow: the task became multi-step, but the sequence of steps is known in advance. A workflow to an agent: the sequence fundamentally depends on intermediate results such that it cannot be written out in advance, and the task's value justifies the multiplied cost, latency, and loss of auditability. An agent to a multi-agent: the subtasks are broadly parallel, independent, and high-value enough that the gain of parallelism outweighs the multiplied growth of tokens and the fragility of coordination. Each arrow is not an "improvement" but a trade: more capabilities in exchange for cost, latency, auditability, attack surface. An engineer who has this skill can name both sides of the trade, not only the left one.</a:t>
            </a:r>
          </a:p>
          <a:p/>
          <a:p>
            <a:r>
              <a:t>Sources:</a:t>
            </a:r>
          </a:p>
          <a:p>
            <a:r>
              <a:t>[1] Anthropic — Building Effective Agents (the ladder rule) — stay on the lowest rung; each climb is a trade, not an improvement.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says "do not climb without need," but does not say along which axes to measure the need. This is given by the decision plan — not a table for summing points but a route of questions that you go through top to bottom for a specific task, stopping at the first that triggers[1]. The first question and the cheapest filter: is the task deterministic and verifiable[2] — a fixed price, a policy, parsing, schema validation, arithmetic, rule-based routing? If yes — ordinary code, stop here, the other questions are not needed. No — does a single call close the task, possibly with step-by-step reasoning? If yes — a prompt. Next the deciding question of regulated domains: must the answer be verifiable against a source? If yes, the further choice must ensure provenance — strict grounding in a source or code, free generation excluded; this is the Air Canada diagnosis.</a:t>
            </a:r>
          </a:p>
          <a:p/>
          <a:p>
            <a:r>
              <a:t>The next questions: the knowledge changes often or provenance is needed — RAG, if not blocked by the "when NOT" criteria; the knowledge is stable and small — long context with a cache. Behavior, tone, format, policy is needed, not facts — fine-tuning in the form of PEFT. The task is multi-step and the sequence is known in advance — a workflow; fundamentally unpredictable and the value justifies the rise in cost — an agent with budget limits. Subtasks broadly parallel, independent, and valuable — a multi-agent, otherwise a single linear agent. And in parallel, at any step: the data is sensitive — a per-feature data map, least-privilege, ZDR or a contract, a human validator. The skill that the main learning goal checks is not to count by the table but to go through the route and name the deciding question for this task. "By the score it came out RAG" is not a justification; "the provenance question is deciding, the answers are legally significant, therefore RAG with strict grounding and a human validator" is a justification. And the bottom strip is the most important line of the lecture: a deterministic task is solved with ordinary code, and Air Canada is the choice of a generative architecture for a task from this bottom strip.</a:t>
            </a:r>
          </a:p>
          <a:p/>
          <a:p>
            <a:r>
              <a:t>Sources:</a:t>
            </a:r>
          </a:p>
          <a:p>
            <a:r>
              <a:t>[1] Anthropic — Building Effective Agents (the choice route) — a route of questions top to bottom; step 1 — a deterministic task → ordinary code, STOP. https://www.anthropic.com/research/building-effective-agents</a:t>
            </a:r>
          </a:p>
          <a:p>
            <a:r>
              <a:t>[2] McCarthy Tétrault — Air Canada (the bottom line of the matrix) — a generative architecture on a deterministic task = a bottom-line error.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gave a rule for the architecture of the whole system. The same principle must be applied inside a single rung — "agent" — to the question of exactly which harness to equip it with by the map of five slots. This is not a new idea but the same ladder one level down. The default is a thin agent. By the harness registry's data, the starting point for a new assistant agent is one instruction file and flat memory, without subagents, without a complex set of skills, with minimal access to external tools. This is exactly the same default as "a single call" on the ladder of architectures: not because a thin harness is always sufficient, but because the burden of proof lies on complication, not on simplicity.</a:t>
            </a:r>
          </a:p>
          <a:p/>
          <a:p>
            <a:r>
              <a:t>The triggers for complication are explicit, and each answers a concrete question rather than a general "will come in handy." A memory backend instead of a flat file is added when the history has outgrown what fits in the context, or when structured retrieval by facts is needed — this is verbatim the same criterion that determines the transition from a prompt to RAG, only applied to the agent's own history. Subagents are added when a concrete subtask requires a separate context window or isolation of untrusted work; an abstract "let it be there for flexibility" is not a trigger. More access through MCP is added when a concrete task requires a concrete tool, not just in case, because every connection is a new trust boundary. And an important detail: the presence-paradox study directly shows that adding an instruction file as a ritual does not work without a real gap that it fills. Giving the agent everything at once is that very cargo cult the whole ladder works against.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collect the whole material of the lecture into one reference table — not for memorizing by heart, but as a tool you can return to when designing a real system. Every mechanism has its boundary of applicability and its countermeasure. The prompt and the role in it do not raise factual accuracy, only tone and depth of exposition — for accuracy you need competent context and RAG. Chain-of-thought gives a gain on multi-step tasks, but its verbal reasoning cannot be audited: the faithfulness of the explanation is under half the cases even in strong models — which means you must check the result, not the verbalized chain. RAG solves the problem of stale knowledge, but the very fact that the system returned something does not mean it returned the right thing — you need strict grounding on the source and continuous monitoring.</a:t>
            </a:r>
          </a:p>
          <a:p/>
          <a:p>
            <a:r>
              <a:t>Fine-tuning and its parameter-efficient variants are a poor place for facts and carry the risk of catastrophic forgetting, so an eval loop and versioning of the weights and dataset are mandatory. The agent loop is four steps, each with its own failure mode, and without external limits on budget and number of iterations it can literally run a task into ruin. The agent's equipment — memory, instructions, skills, subagents, access to tools — is not a free win but a trade-off worth adding only for a concrete task requirement. Multi-agent systems suffer from the mathematical multiplication of failure probabilities along the chain of steps, and a single coordinator is more reliable than an equal-rank "swarm"; they are worth building only for broadly parallel, independent subtasks. The security of an agent system rests on the principle of least privilege and a data map per feature, because injection via untrusted content is not solved as a problem, and the zero-data-retention mode does not cover the whole chain of third-party tools.</a:t>
            </a:r>
          </a:p>
          <a:p/>
          <a:p>
            <a:r>
              <a:t>And the last row of the table — load-bearing across the whole lecture: if the task is deterministic and verifiable, the right answer is ordinary code with no AI at all. To know a tool is to know its boundary; a good architect looks not for the most powerful of the available architectures but for the lowest rung that actually meets the task's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all branches of the ladder where there is generation, one through-line role remains — the human validator. Its function is grounded in two sections of the lecture: the limit of chain-of-thought, where the reasoning can be unfaithful[1], and the agent loop, where the check step cannot be the model's self-assessment. "The model explained why it is right" is not proof of correctness but the same generated text as the answer itself. The boundary of the role is often misunderstood in both directions: it is not "the human rereads every answer" (does not scale) and not "the human looks at whether the reasoning sounds convincing" (the unfaithfulness trap). It is: on significant decisions the result passes a check against a source of truth before it becomes an action; on insignificant ones — a spot audit.</a:t>
            </a:r>
          </a:p>
          <a:p/>
          <a:p>
            <a:r>
              <a:t>So that the role does not remain a slogan, let us break it down along three dimensions. The first is the degree of autonomy: a spectrum from "the agent proposes, the human confirms" to "the agent acts and notifies after the fact"; the higher the autonomy, the more expensive an uncaught error. The second is the scope of trust: reading data — low risk, an error is easy to roll back; changing data — higher; an irreversible action requires a human almost always. The third is continuous monitoring: quality degrades over time imperceptibly, like the quiet degradation of retrieval, so metrics are gathered constantly and there is an alert on deviation, not just a check at the start. The architecture must provide for the point of this check at design time — "the human will look at it somehow later" is not control.</a:t>
            </a:r>
          </a:p>
          <a:p/>
          <a:p>
            <a:r>
              <a:t>This idea is reinforced by the MIT NANDA report on the state of enterprise AI in 2025: about ninety-five percent of enterprise GenAI pilots gave no measurable effect on the financial result. Present the figure as the headline of a report with a methodology, not as a law of nature. The key is not the percentage but the cause: the root is not the quality of the models but a failure of integration; budgets[2] went into flashy showcases, though the return is higher in the boring back office. The lesson for the architect: "launch AI" does not equal "get value"; what decides is architectural-integration discipline — the right rung of the ladder, a measurable narrow task, a human validator — not the most powerful model. Sometimes the right answer is the simplest architecture or non-AI.</a:t>
            </a:r>
          </a:p>
          <a:p/>
          <a:p>
            <a:r>
              <a:t>Sources:</a:t>
            </a:r>
          </a:p>
          <a:p>
            <a:r>
              <a:t>[1] Anthropic — Reasoning Models faithfulness (self-rationale ≠ control) — the human checks the result/facts against a source, not the model's self-explanation. https://www.anthropic.com/research/reasoning-models-dont-say-think [VFY-day-of]</a:t>
            </a:r>
          </a:p>
          <a:p>
            <a:r>
              <a:t>[2] MIT NANDA — State of AI in Business 2025 (~95% of pilots without ROI) — the root — the learning gap and a failure of integration, not the model's quality; a report, not a law.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3 closes the course's overview module, which went in an ascending order: Lecture 1 — what AI is and how a prompt is built; Lecture 2 — why a prompt works: tokenization, embeddings, attention, sampling; Lecture 3 — how to assemble a system out of a model and how to choose which system to assemble. These three lectures are a common foundation; next the course moves to the industry lectures, where AI is applied to concrete subject tasks.</a:t>
            </a:r>
          </a:p>
          <a:p/>
          <a:p>
            <a:r>
              <a:t>This lecture's framework — the ladder of complexity, the choice route, the eight-step checklist, the rule "when not AI," the agent starter kit, the rule of the human validator — is the base for all subsequent lectures, not material that ends with this lecture. In every industry topic the same question will repeat in a new wrapper: here is a subject task — which architecture and why exactly this one, and under what condition the answer would be different. Now you have the apparatus to answer it. A practical piece of advice for the rest of the course: at every industry lecture, hearing "here they apply RAG, an agent, or fine-tuning," mentally run the checklist — does the task requirement really raise you to this rung, or is it inertia.</a:t>
            </a:r>
          </a:p>
          <a:p/>
          <a:p>
            <a:r>
              <a:t>Lecture 4 takes this apparatus and applies it to the first industry topic — AI in software development. There the question "which architecture and why" will meet you again, now on concrete tools and tasks of a developer: the same coding agents we examined through the harness frame — Claude Code, Aider, Cursor, OpenHands — will there be considered from the side of engineering development practice. The assignment — for Seminar 3. The paired seminar "Architectural choice: chat, agent, RAG, API — three cases" is the place for full mastery of the application learning goal. You will apply the eight-step checklist to three cases and for each formulate: the architecture, at least two reasons along the axes, at least one condition under which the choice would be different, and an explicit criterion "here it would be NOT so." Mini-apply task B from the previous slide is a warm-up before the seminar.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final slide, set aside for questions. The substantive part of all five sections is finished: we have gone the path from the central question — there is a task and access to a model, which architecture to choose and when the right answer is "not AI" — through the prompt and its limits, RAG, fine-tuning, API with agents and security, to the decision framework. The best time to ask a question is now, while the whole picture is fresh and held in mind as a whole.</a:t>
            </a:r>
          </a:p>
          <a:p/>
          <a:p>
            <a:r>
              <a:t>A few directions along which questions arise most often, to give something to start from. First: the boundary between RAG and fine-tuning on a concrete task — if it is unclear what in your case is "knowledge" and what is "behavior," this is a typical and correct point for a question, because it is precisely here that people most often err in practice. Second: where the boundary "AI is not needed here at all" runs — how on a real task to tell a case requiring ordinary deterministic code from a case where AI is truly justified. Third: the security of the data chain and injections through tools — what of this applies to your current projects. And fourth, organizational: the assignment for Seminar 3 — "Architectural choice: chat, agent, RAG, API, three cases" — where you will apply the eight-step checklist; if something in the wording of the assignment is unclear, this is also a good question to ask now rather than a day before the seminar. The seminar is in a week; additional questions can be sent by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hyperlink" Target="https://www.mccarthy.ca/en/insights/blogs/techlex/moffatt-v-air-canada-misrepresentation-ai-chatbot"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9.xml"/><Relationship Id="rId5" Type="http://schemas.openxmlformats.org/officeDocument/2006/relationships/hyperlink" Target="https://arxiv.org/abs/2311.1005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34.png"/><Relationship Id="rId5" Type="http://schemas.openxmlformats.org/officeDocument/2006/relationships/notesSlide" Target="../notesSlides/notesSlide18.xml"/><Relationship Id="rId6" Type="http://schemas.openxmlformats.org/officeDocument/2006/relationships/hyperlink" Target="https://arxiv.org/abs/2005.1140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9.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20.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1.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9.png"/><Relationship Id="rId4" Type="http://schemas.openxmlformats.org/officeDocument/2006/relationships/image" Target="../media/image42.png"/><Relationship Id="rId5" Type="http://schemas.openxmlformats.org/officeDocument/2006/relationships/notesSlide" Target="../notesSlides/notesSlide24.xml"/><Relationship Id="rId6" Type="http://schemas.openxmlformats.org/officeDocument/2006/relationships/hyperlink" Target="https://www.ibm.com/think/topics/rag-vs-fine-tunin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5.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notesSlide" Target="../notesSlides/notesSlide27.xml"/><Relationship Id="rId7" Type="http://schemas.openxmlformats.org/officeDocument/2006/relationships/hyperlink" Target="https://bigdataboutique.com/blog/fine-tuning-llms-when-rag-isnt-enough" TargetMode="External"/><Relationship Id="rId8" Type="http://schemas.openxmlformats.org/officeDocument/2006/relationships/hyperlink" Target="https://arxiv.org/abs/1503.02531" TargetMode="External"/><Relationship Id="rId9" Type="http://schemas.openxmlformats.org/officeDocument/2006/relationships/hyperlink" Target="https://arxiv.org/abs/2403.1460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28.xml"/><Relationship Id="rId4" Type="http://schemas.openxmlformats.org/officeDocument/2006/relationships/hyperlink" Target="https://arxiv.org/abs/2308.08747"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41.png"/><Relationship Id="rId4" Type="http://schemas.openxmlformats.org/officeDocument/2006/relationships/image" Target="../media/image32.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23.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notesSlide" Target="../notesSlides/notesSlide31.xml"/><Relationship Id="rId10" Type="http://schemas.openxmlformats.org/officeDocument/2006/relationships/hyperlink" Target="https://www.anthropic.com/news/donating-the-model-context-protocol-and-establishing-of-the-agentic-ai-founda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7.png"/><Relationship Id="rId4" Type="http://schemas.openxmlformats.org/officeDocument/2006/relationships/notesSlide" Target="../notesSlides/notesSlide35.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27.png"/><Relationship Id="rId5" Type="http://schemas.openxmlformats.org/officeDocument/2006/relationships/image" Target="../media/image68.png"/><Relationship Id="rId6" Type="http://schemas.openxmlformats.org/officeDocument/2006/relationships/notesSlide" Target="../notesSlides/notesSlide40.xml"/><Relationship Id="rId7" Type="http://schemas.openxmlformats.org/officeDocument/2006/relationships/hyperlink" Target="https://arxiv.org/abs/2602.11988" TargetMode="External"/><Relationship Id="rId8" Type="http://schemas.openxmlformats.org/officeDocument/2006/relationships/hyperlink" Target="https://github.com/anthropics/claude-code/issues/51735"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53.png"/><Relationship Id="rId5" Type="http://schemas.openxmlformats.org/officeDocument/2006/relationships/image" Target="../media/image71.png"/><Relationship Id="rId6" Type="http://schemas.openxmlformats.org/officeDocument/2006/relationships/notesSlide" Target="../notesSlides/notesSlide4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13.png"/><Relationship Id="rId5" Type="http://schemas.openxmlformats.org/officeDocument/2006/relationships/notesSlide" Target="../notesSlides/notesSlide44.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40.png"/><Relationship Id="rId4" Type="http://schemas.openxmlformats.org/officeDocument/2006/relationships/image" Target="../media/image84.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9.xml"/><Relationship Id="rId4" Type="http://schemas.openxmlformats.org/officeDocument/2006/relationships/hyperlink" Target="https://www.anthropic.com/research/building-effective-agent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67.png"/><Relationship Id="rId4" Type="http://schemas.openxmlformats.org/officeDocument/2006/relationships/image" Target="../media/image70.png"/><Relationship Id="rId5" Type="http://schemas.openxmlformats.org/officeDocument/2006/relationships/image" Target="../media/image53.png"/><Relationship Id="rId6" Type="http://schemas.openxmlformats.org/officeDocument/2006/relationships/image" Target="../media/image86.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notesSlide" Target="../notesSlides/notesSlide53.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A MYTH ABOUT AI SYSTEMS</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“Magic pill”: the model answers more accurately if you ask it to act as an expert and complicate the prompt</a:t>
            </a:r>
            <a:r>
              <a:rPr sz="1300" baseline="30000" b="0" i="1">
                <a:latin typeface="Arial"/>
                <a:cs typeface="Arial"/>
                <a:ea typeface="Arial"/>
                <a:solidFill>
                  <a:srgbClr val="1C7293"/>
                </a:solidFill>
              </a:rPr>
              <a:t>[1,2]</a:t>
            </a:r>
            <a:r>
              <a:rPr sz="2500" b="1" i="0">
                <a:latin typeface="Arial"/>
                <a:cs typeface="Arial"/>
                <a:ea typeface="Arial"/>
                <a:solidFill>
                  <a:srgbClr val="21295C"/>
                </a:solidFill>
              </a:rPr>
              <a:t>.</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en.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Where an AI system's reliability actually comes from — we work through it across the whole lecture.</a:t>
            </a:r>
          </a:p>
        </p:txBody>
      </p:sp>
      <p:sp>
        <p:nvSpPr>
          <p:cNvPr id="8" name="TextBox 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McCarthy Tétrault — Moffatt v. Air Canada (BC CRT, 14.02.2024)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ABA Business Law Today — companies are liable for their AI chatbot</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LECTURE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AI system architectures:
agents,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Which architecture to pick for the task —
and when the right answer is “not AI”</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the “magic pill” does not exist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Lecture route — six sections.</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One load-bearing line: picking the architecture for the task — and when the right answer is “not AI”.</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Opening</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framing the problem: where reliability comes from</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Prompt and its limits</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what one call can do and where its ceiling is</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external knowledge into context — and where it quietly breaks</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Fine-tuning</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changing weights for behavior, not for knowledge</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Agents</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loop, equipment, memory, security — and failures</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Framework</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ladder + checklist: how to choose fast and with grounds</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From Lecture 2 we take two concepts as given.</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We are not re-explaining — just recalling, so we can lean on them further. Everything else we build up along the way.</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Single call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One pass of the model: gave a prompt → got an answer. No memory between calls, no reaching outward.</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The model knows only what is in the prompt and in the weights</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Semantic search on embeddings</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Text → a vector of meaning; fragments close in meaning are close vectors. Search “by meaning”, not by exact word.</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RAG stands on this (Section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Both concepts are the foundation from Lecture 2. Everything we build today (RAG, tools, fine-tuning, agents) leans on them.</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THE CENTRAL QUESTION OF THE LECTURE</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I have a task and access to an LLM. Which architecture do I pick — and when is the right answer “not AI”?</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Plain code (no AI)</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the reference point</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One LLM call</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prompt; + CoT (step by step), + examples in the prompt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context engineering</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retrieval-augmented generation</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predefined paths</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Agent</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loop: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Multi-agent</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several coordinated agents</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more complex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simpler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Climb to the next step — only when the task demands something the current one does not cover.</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The ladder is a map of the lecture, not a demand to grasp everything now. We work through each step separately.</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The prompt and its boundaries</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We saw the whole ladder — now from the bottom: what one call can do and where its ceiling is, before complicating anything.</a:t>
            </a:r>
          </a:p>
        </p:txBody>
      </p:sp>
      <p:sp>
        <p:nvSpPr>
          <p:cNvPr id="8" name="Rounded Rectangle 7"/>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one precise cut · 3 cases · 1 failure</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Prompt</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Fine-tuning</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How the task was framed before the prompt — and what that changes.</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Before large models, "make the system do what you need" meant not a wish in natural language, but a precise specification and a deterministic program.</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Precise specification / requirements</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Pre- and postconditions, invariants, acceptance criteria (Z notation, TLA+, Design by Contract). The result is deterministic and verifiable.</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Imperative vs declarative</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"How to do it" (a step-by-step algorithm) vs "what to get" (SQL/Prolog describe the result, the engine decides how).</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Interface contract</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precise input/output agreement (type signatures, OpenAPI, Protobuf). One correct meaning and a way to check it.</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WHAT TO KEEP</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The discipline of precise framing: a precise prompt is the same requirements spec in natural language. For the deterministic and verifiable (arithmetic, schema validation, rule-based routing) — use classical code, not a prompt.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Bridge: </a:t>
            </a:r>
            <a:r>
              <a:rPr sz="1200" b="0" i="0">
                <a:solidFill>
                  <a:srgbClr val="21295C"/>
                </a:solidFill>
                <a:latin typeface="Arial"/>
              </a:rPr>
              <a:t>a prompt frames the task for a probabilistic system in natural language; hence both its power (no need to specify the un-specifiable) and its boundary (no single meaning, no determinism).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By default — one call with a good prompt.</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The model knows only what is in the prompt (plus what was in the weights at training). It has nowhere else to draw from.</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One LLM call
with a good prompt</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lowest cost (a single pass)</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lowest latency (no extra round-trips)</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highest predictability (no loops, no retrieval that quietly degrades)</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“JUST IN CASE” — ESCALATION</a:t>
            </a:r>
          </a:p>
        </p:txBody>
      </p:sp>
      <p:pic>
        <p:nvPicPr>
          <p:cNvPr id="16" name="Picture 15" descr="s05-gru-en.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Do not complicate the architecture without a reason expressed in the task</a:t>
            </a:r>
            <a:r>
              <a:rPr sz="780" baseline="30000" b="0" i="1">
                <a:latin typeface="Arial"/>
                <a:cs typeface="Arial"/>
                <a:ea typeface="Arial"/>
                <a:solidFill>
                  <a:srgbClr val="1C7293"/>
                </a:solidFill>
              </a:rPr>
              <a:t>[1]</a:t>
            </a:r>
            <a:r>
              <a:rPr sz="1500" b="1" i="0">
                <a:latin typeface="Arial"/>
                <a:cs typeface="Arial"/>
                <a:ea typeface="Arial"/>
                <a:solidFill>
                  <a:srgbClr val="21295C"/>
                </a:solidFill>
              </a:rPr>
              <a:t> requirements. This is a distribution of the burden of proof, not primitivism.</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("find the simplest")</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A role in the prompt tunes tone — not accuracy.</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“You are an experienced lawyer” shifts the model's attention toward the text of such a role — but that is about style, not facts.</a:t>
            </a:r>
          </a:p>
        </p:txBody>
      </p:sp>
      <p:sp>
        <p:nvSpPr>
          <p:cNvPr id="4" name="Rounded Rectangle 3"/>
          <p:cNvSpPr/>
          <p:nvPr/>
        </p:nvSpPr>
        <p:spPr>
          <a:xfrm>
            <a:off x="502920" y="1627632"/>
            <a:ext cx="3977639" cy="2865462"/>
          </a:xfrm>
          <a:prstGeom prst="roundRect">
            <a:avLst>
              <a:gd name="adj" fmla="val 106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828800"/>
            <a:ext cx="34655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A common myth</a:t>
            </a:r>
          </a:p>
        </p:txBody>
      </p:sp>
      <p:sp>
        <p:nvSpPr>
          <p:cNvPr id="6" name="TextBox 5"/>
          <p:cNvSpPr txBox="1"/>
          <p:nvPr/>
        </p:nvSpPr>
        <p:spPr>
          <a:xfrm>
            <a:off x="758952" y="2194560"/>
            <a:ext cx="3465575" cy="731520"/>
          </a:xfrm>
          <a:prstGeom prst="rect">
            <a:avLst/>
          </a:prstGeom>
          <a:noFill/>
        </p:spPr>
        <p:txBody>
          <a:bodyPr wrap="square" lIns="0" rIns="0" tIns="0" bIns="0" anchor="t">
            <a:spAutoFit/>
          </a:bodyPr>
          <a:lstStyle/>
          <a:p>
            <a:pPr algn="l">
              <a:lnSpc>
                <a:spcPct val="118000"/>
              </a:lnSpc>
            </a:pPr>
            <a:r>
              <a:rPr sz="1500" b="0" i="1">
                <a:solidFill>
                  <a:srgbClr val="5B6678"/>
                </a:solidFill>
                <a:latin typeface="Arial"/>
              </a:rPr>
              <a:t>“An expert role in the prompt — and the model is more accurate on facts”</a:t>
            </a:r>
          </a:p>
        </p:txBody>
      </p:sp>
      <p:cxnSp>
        <p:nvCxnSpPr>
          <p:cNvPr id="7" name="Connector 6"/>
          <p:cNvCxnSpPr/>
          <p:nvPr/>
        </p:nvCxnSpPr>
        <p:spPr>
          <a:xfrm>
            <a:off x="758952" y="3072384"/>
            <a:ext cx="34655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218688"/>
            <a:ext cx="3465575"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Experiment</a:t>
            </a:r>
          </a:p>
        </p:txBody>
      </p:sp>
      <p:sp>
        <p:nvSpPr>
          <p:cNvPr id="9" name="TextBox 8"/>
          <p:cNvSpPr txBox="1"/>
          <p:nvPr/>
        </p:nvSpPr>
        <p:spPr>
          <a:xfrm>
            <a:off x="758952" y="3584448"/>
            <a:ext cx="3465575" cy="822960"/>
          </a:xfrm>
          <a:prstGeom prst="rect">
            <a:avLst/>
          </a:prstGeom>
          <a:noFill/>
        </p:spPr>
        <p:txBody>
          <a:bodyPr wrap="square" lIns="0" rIns="0" tIns="0" bIns="0" anchor="t">
            <a:spAutoFit/>
          </a:bodyPr>
          <a:lstStyle/>
          <a:p>
            <a:pPr algn="l">
              <a:lnSpc>
                <a:spcPct val="126000"/>
              </a:lnSpc>
            </a:pPr>
            <a:r>
              <a:rPr sz="1550" b="1" i="0">
                <a:solidFill>
                  <a:srgbClr val="21295C"/>
                </a:solidFill>
                <a:latin typeface="Arial"/>
              </a:rPr>
              <a:t>162 personas, 2410 questions —
personas did NOT raise accuracy</a:t>
            </a:r>
            <a:r>
              <a:rPr sz="806" baseline="30000" b="0" i="1">
                <a:latin typeface="Arial"/>
                <a:cs typeface="Arial"/>
                <a:ea typeface="Arial"/>
                <a:solidFill>
                  <a:srgbClr val="1C7293"/>
                </a:solidFill>
              </a:rPr>
              <a:t>[1]</a:t>
            </a:r>
            <a:r>
              <a:rPr sz="1550" b="1" i="0">
                <a:latin typeface="Arial"/>
                <a:cs typeface="Arial"/>
                <a:ea typeface="Arial"/>
                <a:solidFill>
                  <a:srgbClr val="21295C"/>
                </a:solidFill>
              </a:rPr>
              <a:t>.</a:t>
            </a:r>
          </a:p>
        </p:txBody>
      </p:sp>
      <p:sp>
        <p:nvSpPr>
          <p:cNvPr id="10" name="Rounded Rectangle 9"/>
          <p:cNvSpPr/>
          <p:nvPr/>
        </p:nvSpPr>
        <p:spPr>
          <a:xfrm>
            <a:off x="4626864" y="1536192"/>
            <a:ext cx="3959352" cy="2956902"/>
          </a:xfrm>
          <a:prstGeom prst="roundRect">
            <a:avLst>
              <a:gd name="adj" fmla="val 103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05a-changemymind-en.png"/>
          <p:cNvPicPr>
            <a:picLocks noChangeAspect="1"/>
          </p:cNvPicPr>
          <p:nvPr/>
        </p:nvPicPr>
        <p:blipFill>
          <a:blip r:embed="rId2"/>
          <a:stretch>
            <a:fillRect/>
          </a:stretch>
        </p:blipFill>
        <p:spPr>
          <a:xfrm>
            <a:off x="4754880" y="1627819"/>
            <a:ext cx="3703320" cy="2773648"/>
          </a:xfrm>
          <a:prstGeom prst="rect">
            <a:avLst/>
          </a:prstGeom>
        </p:spPr>
      </p:pic>
      <p:sp>
        <p:nvSpPr>
          <p:cNvPr id="12" name="Rounded Rectangle 11"/>
          <p:cNvSpPr/>
          <p:nvPr/>
        </p:nvSpPr>
        <p:spPr>
          <a:xfrm>
            <a:off x="8732520" y="1627632"/>
            <a:ext cx="2971800" cy="2865462"/>
          </a:xfrm>
          <a:prstGeom prst="roundRect">
            <a:avLst>
              <a:gd name="adj" fmla="val 1063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round-teal.png"/>
          <p:cNvPicPr>
            <a:picLocks noChangeAspect="1"/>
          </p:cNvPicPr>
          <p:nvPr/>
        </p:nvPicPr>
        <p:blipFill>
          <a:blip r:embed="rId3"/>
          <a:stretch>
            <a:fillRect/>
          </a:stretch>
        </p:blipFill>
        <p:spPr>
          <a:xfrm>
            <a:off x="8970264" y="1847088"/>
            <a:ext cx="438912" cy="438912"/>
          </a:xfrm>
          <a:prstGeom prst="rect">
            <a:avLst/>
          </a:prstGeom>
        </p:spPr>
      </p:pic>
      <p:sp>
        <p:nvSpPr>
          <p:cNvPr id="14" name="TextBox 13"/>
          <p:cNvSpPr txBox="1"/>
          <p:nvPr/>
        </p:nvSpPr>
        <p:spPr>
          <a:xfrm>
            <a:off x="9518904" y="1847088"/>
            <a:ext cx="2011680" cy="438912"/>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A role affects:</a:t>
            </a:r>
          </a:p>
        </p:txBody>
      </p:sp>
      <p:sp>
        <p:nvSpPr>
          <p:cNvPr id="15" name="TextBox 14"/>
          <p:cNvSpPr txBox="1"/>
          <p:nvPr/>
        </p:nvSpPr>
        <p:spPr>
          <a:xfrm>
            <a:off x="8970264" y="2487168"/>
            <a:ext cx="2496312" cy="1097280"/>
          </a:xfrm>
          <a:prstGeom prst="rect">
            <a:avLst/>
          </a:prstGeom>
          <a:noFill/>
        </p:spPr>
        <p:txBody>
          <a:bodyPr wrap="square" lIns="0" rIns="0" tIns="0" bIns="0" anchor="t">
            <a:spAutoFit/>
          </a:bodyPr>
          <a:lstStyle/>
          <a:p>
            <a:pPr algn="l">
              <a:lnSpc>
                <a:spcPct val="124000"/>
              </a:lnSpc>
            </a:pPr>
            <a:r>
              <a:rPr sz="1450" b="0" i="0">
                <a:solidFill>
                  <a:srgbClr val="21295C"/>
                </a:solidFill>
                <a:latin typeface="Arial"/>
              </a:rPr>
              <a:t>the tone and depth of the delivery — how formal and detailed, not the truth of a fact.</a:t>
            </a:r>
          </a:p>
        </p:txBody>
      </p:sp>
      <p:sp>
        <p:nvSpPr>
          <p:cNvPr id="16" name="Rounded Rectangle 15"/>
          <p:cNvSpPr/>
          <p:nvPr/>
        </p:nvSpPr>
        <p:spPr>
          <a:xfrm>
            <a:off x="502920" y="4639398"/>
            <a:ext cx="11201400" cy="1669961"/>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694262"/>
            <a:ext cx="10799064" cy="1560233"/>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Need accuracy? The tool is not a role, but context and RAG (a verifiable source). Another “magic pill” point refuted by measurement.</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Zheng et al. 2024, Findings of EMNLP — personas don't improve factual accuracy</a:t>
            </a:r>
            <a:r>
              <a:rPr sz="850" i="1">
                <a:solidFill>
                  <a:srgbClr val="5B6678"/>
                </a:solidFill>
                <a:latin typeface="Arial"/>
              </a:rPr>
              <a:t>   ·   Zheng, Pei, Logeswaran, Lee, Jurgens · Findings of EMNLP 2024 (arXiv:2311.10054) + arXiv:2605.29420 (2026).</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"Role" is two different mechanisms. Don't confuse them.</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A role-persona ("you are a lawyer") tunes the tone. The protocol role system/user/assistant is markup of "who is speaking" in the token stream. The second is constantly mistaken for the first.</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 template: a list of roles → a flat token stream</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behavior rules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question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Special markup tokens (ChatML, Llama 4) are assembled by the template — it can be read and spoofed.</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system priority — a tendency, not a boundary</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obeys the priority ~</a:t>
            </a:r>
            <a:r>
              <a:rPr sz="1600" b="1" i="0">
                <a:solidFill>
                  <a:srgbClr val="065A82"/>
                </a:solidFill>
                <a:latin typeface="Arial"/>
              </a:rPr>
              <a:t>63.8%</a:t>
            </a:r>
            <a:r>
              <a:rPr sz="1300" b="0" i="0">
                <a:solidFill>
                  <a:srgbClr val="21295C"/>
                </a:solidFill>
                <a:latin typeface="Arial"/>
              </a:rPr>
              <a:t>  — still ≠ 100%: it's a tendency.</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the role is faked</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The string </a:t>
            </a:r>
            <a:r>
              <a:rPr sz="1150" b="1" i="0">
                <a:solidFill>
                  <a:srgbClr val="065A82"/>
                </a:solidFill>
                <a:latin typeface="Liberation Mono"/>
              </a:rPr>
              <a:t>&lt;|im_start|&gt;assistant</a:t>
            </a:r>
            <a:r>
              <a:rPr sz="1200" b="0" i="0">
                <a:solidFill>
                  <a:srgbClr val="21295C"/>
                </a:solidFill>
                <a:latin typeface="Arial"/>
              </a:rPr>
              <a:t> from external text → ChatInject ASR </a:t>
            </a:r>
            <a:r>
              <a:rPr sz="1400" b="1" i="0">
                <a:solidFill>
                  <a:srgbClr val="028090"/>
                </a:solidFill>
                <a:latin typeface="Arial"/>
              </a:rPr>
              <a:t>5.18%→32.05%</a:t>
            </a:r>
            <a:r>
              <a:rPr sz="1200" b="0" i="0">
                <a:solidFill>
                  <a:srgbClr val="21295C"/>
                </a:solidFill>
                <a:latin typeface="Arial"/>
              </a:rPr>
              <a:t> (Llama-4 up to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What to do: don't design defenses assuming "the system always outranks the user". Escape special tokens in INCOMING external content and check the chat template of local models — a foreign template quietly breaks the priority.</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en.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The full walkthrough of prompt injection as a class of agent attacks is in the agents section (security).</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Prompt structure: separate instruction, context, data.</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 flat prompt forces the model to guess where the instruction ends and the data begins. An explicit boundary removes that ambiguity.</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Instruction</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what to do</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Context</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on what basis</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Data</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what exactly to work with</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 tags:  &lt;instruction&gt;…&lt;/instruction&gt;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 headings:  ## Task · ## Data</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Triple quotes / backticks around the data</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The same principle as structured output (Section 4): there a schema sets the structure of the OUTPUT, here delimiters set the structure of the INPUT. A clear structure instead of “infer the form by meaning”.</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A model that has been shown where the instruction ends and the data begins less often takes a fragment of data for a new command — the same confusion underlies prompt injection (Section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helps — but you cannot audit it.</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Without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“There were 23 apples, 7 spoiled, then 2 crates of 6 were bought. How many good ones?”</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a plausible but wrong number</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With CoT (“reason step by step”)</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correct</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Technically this is still one call — CoT is a tool for a class of tasks (a chain of steps), not a global switch.</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But the stated reasoning need not reflect the real cause of the answer</a:t>
            </a:r>
            <a:r>
              <a:rPr sz="728" baseline="30000" b="0" i="1">
                <a:latin typeface="Arial"/>
                <a:cs typeface="Arial"/>
                <a:ea typeface="Arial"/>
                <a:solidFill>
                  <a:srgbClr val="1C7293"/>
                </a:solidFill>
              </a:rPr>
              <a:t>[2]</a:t>
            </a:r>
            <a:r>
              <a:rPr sz="1400" b="1" i="0">
                <a:latin typeface="Arial"/>
                <a:cs typeface="Arial"/>
                <a:ea typeface="Arial"/>
                <a:solidFill>
                  <a:srgbClr val="21295C"/>
                </a:solidFill>
              </a:rPr>
              <a:t> (low explanation faithfulness):</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en.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Check the result</a:t>
            </a:r>
            <a:r>
              <a:rPr sz="2100" b="1" i="0">
                <a:solidFill>
                  <a:srgbClr val="21295C"/>
                </a:solidFill>
                <a:latin typeface="Arial"/>
              </a:rPr>
              <a:t>, not the model’s self-explanation.</a:t>
            </a:r>
          </a:p>
          <a:p>
            <a:pPr algn="l">
              <a:lnSpc>
                <a:spcPct val="118000"/>
              </a:lnSpc>
              <a:spcBef>
                <a:spcPts val="800"/>
              </a:spcBef>
            </a:pPr>
            <a:r>
              <a:rPr sz="1500" b="0" i="0">
                <a:solidFill>
                  <a:srgbClr val="21295C"/>
                </a:solidFill>
                <a:latin typeface="Arial"/>
              </a:rPr>
              <a:t>Verify facts against an external source — a plausible reasoning text confirms nothing.</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April 2025 · faithfulness drops on hard tasks · re-verify before the lecture day.</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Reasoning out loud is not an audit log.</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(of the explanation) — how well the spoken chain reflects the real cause of the answer. It was measured directly — and it is low.</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Anthropic experiment (Apr.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The task is given twice: without a hint and with a hint in the prompt that changes the answer ("the professor thinks it's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They look: when the answer changed under the hint — did the model mention it in its reasoning?</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Often the model changes the answer, but builds a DIFFERENT, invented rationale, without naming the real cause</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How often the model admits the hint</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And worse — on hard tasks (GPQA below MMLU): where audit is needed most, the explanation can be trusted least.</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What to do: a human validator checks the RESULT against an independent source (a database, document, calculation, expert), not the attached "chain of reasoning". Control based on the model's self-explanation is not control.</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Context engineering: the minimum of high-signal.</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Prompt engineering is one instruction. Context engineering is curating the whole set of tokens the model sees at inference.</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the same “lost in the middle” from L2 — a new term, not a new entity</a:t>
            </a:r>
            <a:r>
              <a:rPr sz="598" baseline="30000" b="0" i="1">
                <a:latin typeface="Arial"/>
                <a:cs typeface="Arial"/>
                <a:ea typeface="Arial"/>
                <a:solidFill>
                  <a:srgbClr val="1C7293"/>
                </a:solidFill>
              </a:rPr>
              <a:t>[1,2]</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When NOT RAG (point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a small, stable corpus that fits in the window → full context + prefix caching, not RAG infrastructure</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here would add fragility without a payoff</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“Find the smallest set of high-signal tokens that maximizes the probability of the desired outcome” — this is an engineering requirement, not aesthetics</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Cheat sheet: how to build a prompt.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The minimum below which a prompt systematically underperforms. Apply it to any prompt before the first run.</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Role</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if you need tone/register — and NOT as a promise of accuracy</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Task</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a concrete verifiable action, not a vague wish</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Context</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the minimum needed, not “everything that might come in handy”</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Output format</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stated explicitly if the answer is machine-processed</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Delimiters</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if there is more than one kind of content (instruction/data)</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Examples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only if the format is not obvious from one instruction</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only if the task needs multi-step reasoning</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Length</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no longer than needed — extra tokens “drown” in the context</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A compact form of the whole section: role ≠ accuracy, structure helps separate inputs, CoT is a targeted tool, context is minimal. For large architectural decisions (RAG / FT / agent) — the eight-step checklist of Section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retrieval-augmented generation</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Retrieve the relevant → put it in context → answer grounded in a source</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external knowledge · 3 cases · 1 failure</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Fine-tuning</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How we searched text before embeddings.</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The R in RAG is retrieval, search: a discipline with half a century of history. Exactly how it works determines where RAG works and where it breaks.</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Inverted index</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For each word — a list of documents where it occurs (a machine catalog). The foundation of Lucene, Elasticsearch, PostgreSQL full-text.</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Boolean search</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query as a logical expression ("error AND authentication NOT tomcat"): precise, predictable, explainable selection.</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Ranking by word importance (rarer in the collection — stronger signal). BM25 (Okapi) — a cheap, explainable baseline many do not beat.</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WHAT TO KEEP</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The classics are precise on codes and identifiers, where semantic search blurs. A strong RAG-2026 is a hybrid of BM25 + dense vectors, lexical filters over metadata, ranking discipline (a reranker) and observability: recall/precision on a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Bridge: </a:t>
            </a:r>
            <a:r>
              <a:rPr sz="1200" b="0" i="0">
                <a:solidFill>
                  <a:srgbClr val="21295C"/>
                </a:solidFill>
                <a:latin typeface="Arial"/>
              </a:rPr>
              <a:t>semantic search over embeddings (Lecture 2) adds semantic matching on top of the classics instead of lexical — but does not replace it. RAG extends classical search, it does not abolish it.</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RAG principle — three steps.</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indexing → retrieval (semantic search from L2) → grounded generation; “I don't know” is a correct answer.</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Indexing</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ahead of time, offline</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corpus → chunks → embed each → vector store</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Retrieval</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at query time</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question → embedding → k nearest fragments
= the same semantic search from L2 — not re-explained</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Generation</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grounded in a source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fragments + question → answer with a source reference</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“I don't know” / “see source X” is a correct answer from a RAG system</a:t>
            </a:r>
            <a:r>
              <a:rPr sz="728" baseline="30000" b="0" i="1">
                <a:latin typeface="Arial"/>
                <a:cs typeface="Arial"/>
                <a:ea typeface="Arial"/>
                <a:solidFill>
                  <a:srgbClr val="1C7293"/>
                </a:solidFill>
              </a:rPr>
              <a:t>[1]</a:t>
            </a:r>
            <a:r>
              <a:rPr sz="1400" b="1" i="0">
                <a:latin typeface="Arial"/>
                <a:cs typeface="Arial"/>
                <a:ea typeface="Arial"/>
                <a:solidFill>
                  <a:srgbClr val="21295C"/>
                </a:solidFill>
              </a:rPr>
              <a:t>. A plausible answer on an irrelevant retrieval is a defect, not “at least something”.</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RAG by default · hybrid search (BM25 + dense vectors) · reranker · miss cascade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When RAG is the right choice.</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is justified when the signal on the features below is strong</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and there are no blockers from the next slide, “when NOT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Large / growing</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does not fit the window whole, or it is costly to put the entire corpus in every request</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Changing</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documents, prices, regulations update more often than model versions ship</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Freshness + provenance</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the answer relies on a verifiable source; you can show where the fact came from</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Private base</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the company's knowledge is not in the weights of a public model</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The features reinforce each other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A corporate base of thousands of regulations, updated weekly, an answer with a mandatory reference to the clause: all features converge, no simpler mechanism closes them jointly → a textbook RAG profile.</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One feature is a reason to take a look</a:t>
            </a:r>
            <a:r>
              <a:rPr sz="650" baseline="30000" b="0" i="1">
                <a:latin typeface="Arial"/>
                <a:cs typeface="Arial"/>
                <a:ea typeface="Arial"/>
                <a:solidFill>
                  <a:srgbClr val="1C7293"/>
                </a:solidFill>
              </a:rPr>
              <a:t>[2]</a:t>
            </a:r>
            <a:r>
              <a:rPr sz="1250" b="1" i="0">
                <a:latin typeface="Arial"/>
                <a:cs typeface="Arial"/>
                <a:ea typeface="Arial"/>
                <a:solidFill>
                  <a:srgbClr val="21295C"/>
                </a:solidFill>
              </a:rPr>
              <a:t>, not to build automatically: check the blockers on the next slide.</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(vendor-neutral)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is higher for smaller models</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When RAG is NOT the right choice.</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Knowing when RAG is not needed is worth more: it is a fashionable architecture, put where it does harm.</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The corpus fits in the window</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a rough guide — under ~200k tokens, rarely changes</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full context + prefix caching, not RAG infrastructure</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A fixed policy / value</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a fare, a price, a clause of a regulation, a rule</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a deterministic lookup table / a static page</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Data available in real time via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in an internal service, a database, another system's search</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call the tool directly; a RAG index on top is an extra layer, more fragile and more stale</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en.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A common anti-pattern — putting RAG infrastructure where the whole corpus comfortably fits in the context window and rarely changes.</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is redundant if ANY of the three holds</a:t>
            </a:r>
            <a:r>
              <a:rPr sz="702" baseline="30000" b="0" i="1">
                <a:latin typeface="Arial"/>
                <a:cs typeface="Arial"/>
                <a:ea typeface="Arial"/>
                <a:solidFill>
                  <a:srgbClr val="1C7293"/>
                </a:solidFill>
              </a:rPr>
              <a:t>[1]</a:t>
            </a:r>
            <a:r>
              <a:rPr sz="1350" b="1" i="0">
                <a:latin typeface="Arial"/>
                <a:cs typeface="Arial"/>
                <a:ea typeface="Arial"/>
                <a:solidFill>
                  <a:srgbClr val="21295C"/>
                </a:solidFill>
              </a:rPr>
              <a:t>: (a) the corpus fits in the window and is stable, (b) the task reduces to a fixed value, (c) the knowledge is already available directly and live via a tool. “A direct call returns data as of the request; a RAG index — as of the last indexing.”</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(when not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("generation on top of a fixed policy")</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failure of RAG at scale.</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“Returned something” ≠ “returned the right thing”. RAG has no</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“not found” signal — it always returns the k nearest, even irrelevant ones.</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the “nearest” cases from another jurisdiction / an overturned precedent — the model relies on them as fact</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mixed fragments of different patients — close in symptoms, but clinically cannot be combined</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Support bot</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worked on hundreds of articles; after growing to thousands, quality quietly degraded — nobody noticed</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architecture walkthrough</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Diagnosis</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generated plausible text was placed in a role that required a retrieved, verified fact — a failure of grounding</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The right alternative</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a fixed policy → a lookup table / page; need a dialogue → RAG with strict grounding, a mandatory citation, an explicit “I don't know”, a human check</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(grounding failure)</a:t>
            </a:r>
            <a:r>
              <a:rPr sz="850" i="1">
                <a:solidFill>
                  <a:srgbClr val="5B6678"/>
                </a:solidFill>
                <a:latin typeface="Arial"/>
              </a:rPr>
              <a:t>   ·   Documented failure classes (Barnett et al. 2024; Air Canada — McCarthy Tétrault 2024). Cases are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Fine-tuning vs prompt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We solved the knowledge problem through RAG. But what if the problem is not knowledge, but the model's behavior — its tone, format, policy?</a:t>
            </a:r>
          </a:p>
        </p:txBody>
      </p:sp>
      <p:sp>
        <p:nvSpPr>
          <p:cNvPr id="8" name="Rounded Rectangle 7"/>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behavior tuning · 4 cases · 1 failure</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Fine-tuning</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How the ML task was solved before large models.</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Fine-tuning a large model is not an exotic novelty of a new era, but a direct continuation of the classical transfer-learning scheme. Let's rebuild it from scratch.</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Sample + ground truth</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labeled set "input → correct answer" (ground truth, reference labeling); the model learns to reproduce it and generalize to new data.</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Three disjoint parts: you train on train, tune on validation, measure once on test. The rule: you must not test on the training data.</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Take a model pretrained on a large corpus and cheaply fine-tune it for your narrow task: faster and more accurate than from scratch ("pretraining → fine-tuning").</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WHAT TO KEEP</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Eval sets (golden set) — without them catastrophic forgetting is invisible; versioning of data and weights for rollback; train/test discipline against leakage; drift monitoring. LoRA made the fine-tuning step cheaper, but not the discipline around it.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Bridge: </a:t>
            </a:r>
            <a:r>
              <a:rPr sz="1200" b="0" i="0">
                <a:solidFill>
                  <a:srgbClr val="21295C"/>
                </a:solidFill>
                <a:latin typeface="Arial"/>
              </a:rPr>
              <a:t>PEFT/LoRA is the same transfer learning, pushed to the limit of cheapness and on top of an incomparably larger model. The idea is not new — what became new is the scale of the base model and the cost of the step.</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What fine-tuning is.</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Fine-tuning is continuing to train an already-built model on your data. In L1 — a type of use; here — an architectural choice, one of the rungs of the ladder.</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Pretrained
model</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general weights</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Your dataset</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examples of the
wanted behavior</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fine-tuning</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Fine-tuned
WEIGHTS</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the model is now different</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Prompt / RAG → CONTEXT</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They change only the input — the weights are untouched; the effect lives only within the request.</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Fine-tuning → THE WEIGHTS</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The change is baked into the model — it applies always and costs more than what context changes.</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Prompt/RAG = “what to show the model”.  Fine-tuning = “change the model itself</a:t>
            </a:r>
            <a:r>
              <a:rPr sz="728" baseline="30000" b="0" i="1">
                <a:latin typeface="Arial"/>
                <a:cs typeface="Arial"/>
                <a:ea typeface="Arial"/>
                <a:solidFill>
                  <a:srgbClr val="1C7293"/>
                </a:solidFill>
              </a:rPr>
              <a:t>[1]</a:t>
            </a:r>
            <a:r>
              <a:rPr sz="1400" b="1" i="0">
                <a:latin typeface="Arial"/>
                <a:cs typeface="Arial"/>
                <a:ea typeface="Arial"/>
                <a:solidFill>
                  <a:srgbClr val="21295C"/>
                </a:solidFill>
              </a:rPr>
              <a:t>”. In practice “fine-tune” almost always means LoRA/PEFT, not retraining all the weights (next slide).</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changes the weights)</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instead of full fine-tuning.</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the base weights are frozen, only a small set of adapters is trained. LoRA — low-rank adapter matrices; QLoRA — the same on top of a quantized </a:t>
            </a:r>
            <a:r>
              <a:rPr sz="728" baseline="30000" b="0" i="1">
                <a:latin typeface="Arial"/>
                <a:cs typeface="Arial"/>
                <a:ea typeface="Arial"/>
                <a:solidFill>
                  <a:srgbClr val="1C7293"/>
                </a:solidFill>
              </a:rPr>
              <a:t>[1,2]</a:t>
            </a:r>
            <a:r>
              <a:rPr sz="1400" b="0" i="1">
                <a:latin typeface="Arial"/>
                <a:cs typeface="Arial"/>
                <a:ea typeface="Arial"/>
                <a:solidFill>
                  <a:srgbClr val="065A82"/>
                </a:solidFill>
              </a:rPr>
              <a:t>model.</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Base weights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adapters — megabytes vs gigabytes</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Cheaper and faster</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millions of parameters instead of billions; QLoRA — on a single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Modularity</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adapters are megabytes vs gigabytes; one base — many specializations</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Forgetting risk</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the base is frozen, physically not overwritten by the new signal</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en.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of PEFT-tagged models are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out of 20,834 cards on the Hugging Face Hub · caveat: the share among PEFT-tagged models, not among all fine-tuning</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is almost always preferable to full fine-tuning: cheaper, more modular, ↓ forgetting risk. Full fine-tuning in 2026 — almost never.</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of 20,834 cards)</a:t>
            </a:r>
            <a:r>
              <a:rPr sz="850" i="1">
                <a:solidFill>
                  <a:srgbClr val="5B6678"/>
                </a:solidFill>
                <a:latin typeface="Arial"/>
              </a:rPr>
              <a:t>   ·   HF PEFT team, “Beyond LoRA?”, June 2026. The full spectrum of methods (SFT / DPO / RFT) — in the chapter.</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What here is knowledge, what is behavior, what is deterministic.</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The design question is not "RAG or fine-tuning". Split the problem along axes: knowledge → RAG, behavior → PEFT, cheaper → distillation, deterministic → code.</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If the task requires…</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the right tool</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…and NOT this one, because</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knowledge changes / freshness, provenance needed</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(or a long context for a small corpus)</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not fine-tuning: knowledge will go stale, retraining is expensive, risk of forgetting</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stable behavior / tone / format / policy</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fine-tuning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not RAG: it feeds knowledge into the context but doesn't change the model's manner</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reduce cost / latency on a narrow task</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fine-tune a teacher + distill into a student</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two separate techniques in tandem; prompt/RAG don't shrink the model size</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a deterministic, verifiable answer</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plain code, no AI</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neither RAG nor FT: AI adds non-determinism with no gain</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What to do: a hybrid is the norm WHERE the task has BOTH a knowledge problem AND a behavior problem. No behavior problem — no FT needed, even when there's RAG. Each component is added to meet its own requirement — the same ladder rule.</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Distillation is not a kind of fine-tuning — it is a separate technique.</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Fine-tuning changes the model's behavior</a:t>
            </a:r>
            <a:r>
              <a:rPr sz="702" baseline="30000" b="0" i="1">
                <a:latin typeface="Arial"/>
                <a:cs typeface="Arial"/>
                <a:ea typeface="Arial"/>
                <a:solidFill>
                  <a:srgbClr val="1C7293"/>
                </a:solidFill>
              </a:rPr>
              <a:t>[1]</a:t>
            </a:r>
            <a:r>
              <a:rPr sz="1350" b="0" i="1">
                <a:latin typeface="Arial"/>
                <a:cs typeface="Arial"/>
                <a:ea typeface="Arial"/>
                <a:solidFill>
                  <a:srgbClr val="065A82"/>
                </a:solidFill>
              </a:rPr>
              <a:t>. Distillation is compression: transferring the skills of a large model into a small one. They are often confused, but these are two taxonomically distinct operations that work together.</a:t>
            </a:r>
          </a:p>
        </p:txBody>
      </p:sp>
      <p:sp>
        <p:nvSpPr>
          <p:cNvPr id="4" name="Rounded Rectangle 3"/>
          <p:cNvSpPr/>
          <p:nvPr/>
        </p:nvSpPr>
        <p:spPr>
          <a:xfrm>
            <a:off x="502920" y="1737360"/>
            <a:ext cx="781812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1874519"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531620" y="2359152"/>
            <a:ext cx="347472" cy="347472"/>
          </a:xfrm>
          <a:prstGeom prst="rect">
            <a:avLst/>
          </a:prstGeom>
        </p:spPr>
      </p:pic>
      <p:sp>
        <p:nvSpPr>
          <p:cNvPr id="7" name="TextBox 6"/>
          <p:cNvSpPr txBox="1"/>
          <p:nvPr/>
        </p:nvSpPr>
        <p:spPr>
          <a:xfrm>
            <a:off x="850392" y="2779776"/>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Teacher</a:t>
            </a:r>
          </a:p>
        </p:txBody>
      </p:sp>
      <p:sp>
        <p:nvSpPr>
          <p:cNvPr id="8" name="TextBox 7"/>
          <p:cNvSpPr txBox="1"/>
          <p:nvPr/>
        </p:nvSpPr>
        <p:spPr>
          <a:xfrm>
            <a:off x="868680" y="3072384"/>
            <a:ext cx="1691639" cy="475488"/>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large, fine-tuned for the task</a:t>
            </a:r>
          </a:p>
        </p:txBody>
      </p:sp>
      <p:sp>
        <p:nvSpPr>
          <p:cNvPr id="9" name="TextBox 8"/>
          <p:cNvSpPr txBox="1"/>
          <p:nvPr/>
        </p:nvSpPr>
        <p:spPr>
          <a:xfrm>
            <a:off x="2359152" y="1883664"/>
            <a:ext cx="114300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distillation</a:t>
            </a:r>
          </a:p>
        </p:txBody>
      </p:sp>
      <p:sp>
        <p:nvSpPr>
          <p:cNvPr id="10" name="Right Arrow 9"/>
          <p:cNvSpPr/>
          <p:nvPr/>
        </p:nvSpPr>
        <p:spPr>
          <a:xfrm>
            <a:off x="2706624" y="2779776"/>
            <a:ext cx="62179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83280" y="2432304"/>
            <a:ext cx="1874519"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165091" y="2505456"/>
            <a:ext cx="292608" cy="292608"/>
          </a:xfrm>
          <a:prstGeom prst="rect">
            <a:avLst/>
          </a:prstGeom>
        </p:spPr>
      </p:pic>
      <p:sp>
        <p:nvSpPr>
          <p:cNvPr id="13" name="TextBox 12"/>
          <p:cNvSpPr txBox="1"/>
          <p:nvPr/>
        </p:nvSpPr>
        <p:spPr>
          <a:xfrm>
            <a:off x="3456432" y="2852928"/>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Student</a:t>
            </a:r>
          </a:p>
        </p:txBody>
      </p:sp>
      <p:sp>
        <p:nvSpPr>
          <p:cNvPr id="14" name="TextBox 13"/>
          <p:cNvSpPr txBox="1"/>
          <p:nvPr/>
        </p:nvSpPr>
        <p:spPr>
          <a:xfrm>
            <a:off x="3474720" y="3127248"/>
            <a:ext cx="1691639" cy="402336"/>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small, cheaper and faster</a:t>
            </a:r>
          </a:p>
        </p:txBody>
      </p:sp>
      <p:sp>
        <p:nvSpPr>
          <p:cNvPr id="15" name="TextBox 14"/>
          <p:cNvSpPr txBox="1"/>
          <p:nvPr/>
        </p:nvSpPr>
        <p:spPr>
          <a:xfrm>
            <a:off x="4965192" y="1883664"/>
            <a:ext cx="1143000" cy="274320"/>
          </a:xfrm>
          <a:prstGeom prst="rect">
            <a:avLst/>
          </a:prstGeom>
          <a:noFill/>
        </p:spPr>
        <p:txBody>
          <a:bodyPr wrap="square" lIns="0" rIns="0" tIns="0" bIns="0" anchor="t">
            <a:spAutoFit/>
          </a:bodyPr>
          <a:lstStyle/>
          <a:p>
            <a:pPr algn="ctr">
              <a:lnSpc>
                <a:spcPct val="115000"/>
              </a:lnSpc>
            </a:pPr>
            <a:r>
              <a:rPr sz="1100" b="1" i="0">
                <a:solidFill>
                  <a:srgbClr val="1C7293"/>
                </a:solidFill>
                <a:latin typeface="Arial"/>
              </a:rPr>
              <a:t>to production →</a:t>
            </a:r>
          </a:p>
        </p:txBody>
      </p:sp>
      <p:sp>
        <p:nvSpPr>
          <p:cNvPr id="16" name="Right Arrow 15"/>
          <p:cNvSpPr/>
          <p:nvPr/>
        </p:nvSpPr>
        <p:spPr>
          <a:xfrm>
            <a:off x="5312664" y="2779776"/>
            <a:ext cx="621792" cy="31089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89320" y="2249424"/>
            <a:ext cx="1874519"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6743699" y="2359152"/>
            <a:ext cx="347472" cy="347472"/>
          </a:xfrm>
          <a:prstGeom prst="rect">
            <a:avLst/>
          </a:prstGeom>
        </p:spPr>
      </p:pic>
      <p:sp>
        <p:nvSpPr>
          <p:cNvPr id="19" name="TextBox 18"/>
          <p:cNvSpPr txBox="1"/>
          <p:nvPr/>
        </p:nvSpPr>
        <p:spPr>
          <a:xfrm>
            <a:off x="6062472" y="2779776"/>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 production</a:t>
            </a:r>
          </a:p>
        </p:txBody>
      </p:sp>
      <p:sp>
        <p:nvSpPr>
          <p:cNvPr id="20" name="TextBox 19"/>
          <p:cNvSpPr txBox="1"/>
          <p:nvPr/>
        </p:nvSpPr>
        <p:spPr>
          <a:xfrm>
            <a:off x="6080759" y="3072384"/>
            <a:ext cx="1691639" cy="475488"/>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lower cost and latency</a:t>
            </a:r>
          </a:p>
        </p:txBody>
      </p:sp>
      <p:sp>
        <p:nvSpPr>
          <p:cNvPr id="21" name="Rounded Rectangle 20"/>
          <p:cNvSpPr/>
          <p:nvPr/>
        </p:nvSpPr>
        <p:spPr>
          <a:xfrm>
            <a:off x="8549640" y="1737360"/>
            <a:ext cx="3154680" cy="3730752"/>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en.png"/>
          <p:cNvPicPr>
            <a:picLocks noChangeAspect="1"/>
          </p:cNvPicPr>
          <p:nvPr/>
        </p:nvPicPr>
        <p:blipFill>
          <a:blip r:embed="rId5"/>
          <a:stretch>
            <a:fillRect/>
          </a:stretch>
        </p:blipFill>
        <p:spPr>
          <a:xfrm>
            <a:off x="8677656" y="1936013"/>
            <a:ext cx="2898648" cy="3333445"/>
          </a:xfrm>
          <a:prstGeom prst="rect">
            <a:avLst/>
          </a:prstGeom>
        </p:spPr>
      </p:pic>
      <p:sp>
        <p:nvSpPr>
          <p:cNvPr id="23" name="Rounded Rectangle 22"/>
          <p:cNvSpPr/>
          <p:nvPr/>
        </p:nvSpPr>
        <p:spPr>
          <a:xfrm>
            <a:off x="502920" y="4169663"/>
            <a:ext cx="384048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4297679"/>
            <a:ext cx="347472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Fine-tuning answers:</a:t>
            </a:r>
          </a:p>
        </p:txBody>
      </p:sp>
      <p:sp>
        <p:nvSpPr>
          <p:cNvPr id="25" name="TextBox 24"/>
          <p:cNvSpPr txBox="1"/>
          <p:nvPr/>
        </p:nvSpPr>
        <p:spPr>
          <a:xfrm>
            <a:off x="713232" y="4626864"/>
            <a:ext cx="3474720" cy="78638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“how the model behaves” — tone, format, policy. Changes the WEIGHTS for behavior.</a:t>
            </a:r>
          </a:p>
        </p:txBody>
      </p:sp>
      <p:sp>
        <p:nvSpPr>
          <p:cNvPr id="26" name="Rounded Rectangle 25"/>
          <p:cNvSpPr/>
          <p:nvPr/>
        </p:nvSpPr>
        <p:spPr>
          <a:xfrm>
            <a:off x="4480560" y="4169663"/>
            <a:ext cx="384048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90872" y="4297679"/>
            <a:ext cx="347472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Distillation answers:</a:t>
            </a:r>
          </a:p>
        </p:txBody>
      </p:sp>
      <p:sp>
        <p:nvSpPr>
          <p:cNvPr id="28" name="TextBox 27"/>
          <p:cNvSpPr txBox="1"/>
          <p:nvPr/>
        </p:nvSpPr>
        <p:spPr>
          <a:xfrm>
            <a:off x="4690872" y="4626864"/>
            <a:ext cx="3474720" cy="78638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“how to make the model cheaper” — the same skill in a smaller model. This is compression, not a change of behavior.</a:t>
            </a:r>
          </a:p>
        </p:txBody>
      </p:sp>
      <p:sp>
        <p:nvSpPr>
          <p:cNvPr id="29" name="Rounded Rectangle 28"/>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What to do: do not write “distillation is fine-tuning”. In tandem they go like this: first fine-tune the teacher for the task, then distill into the s</a:t>
            </a:r>
            <a:r>
              <a:rPr sz="676" baseline="30000" b="0" i="1">
                <a:latin typeface="Arial"/>
                <a:cs typeface="Arial"/>
                <a:ea typeface="Arial"/>
                <a:solidFill>
                  <a:srgbClr val="1C7293"/>
                </a:solidFill>
              </a:rPr>
              <a:t>[2,3]</a:t>
            </a:r>
            <a:r>
              <a:rPr sz="1300" b="1" i="0">
                <a:latin typeface="Arial"/>
                <a:cs typeface="Arial"/>
                <a:ea typeface="Arial"/>
                <a:solidFill>
                  <a:srgbClr val="21295C"/>
                </a:solidFill>
              </a:rPr>
              <a:t>tudent for cost. The criteria “what goes where” — on the next slide.</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BigData Boutique — Fine-Tuning When RAG Isn't Enough</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Hinton, Vinyals, Dean 2015 — Distilling the Knowledge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9"/>
              </a:rPr>
              <a:t>PEFT survey — taxonomy of tuning methods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Failure: catastrophic forgetting.</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Catastrophic forgetting — degradation of the model</a:t>
            </a:r>
            <a:r>
              <a:rPr sz="728" baseline="30000" b="0" i="1">
                <a:latin typeface="Arial"/>
                <a:cs typeface="Arial"/>
                <a:ea typeface="Arial"/>
                <a:solidFill>
                  <a:srgbClr val="1C7293"/>
                </a:solidFill>
              </a:rPr>
              <a:t>[1]</a:t>
            </a:r>
            <a:r>
              <a:rPr sz="1400" b="0" i="1">
                <a:latin typeface="Arial"/>
                <a:cs typeface="Arial"/>
                <a:ea typeface="Arial"/>
                <a:solidFill>
                  <a:srgbClr val="065A82"/>
                </a:solidFill>
              </a:rPr>
              <a:t>'s general abilities as a result of narrow aggressive fine-tuning.</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02149" y="1901952"/>
            <a:ext cx="484806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worse as the model scales up — a larger model starts higher, so it has "further to fall"</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No eval loop on general tasks + no dataset/weights versioning → you won't see the break before production + you can't roll back → this is not a "risk", it is a criterion for "do NOT fine-tune"</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Right way: PEFT (frozen weights — lower risk); for changing knowledge — RAG, not fine-tuning at all.</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Empirically observed under continual fine-tuning (Luo et al. 2023). Mechanisms — "research suggests" (preprint).</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Agents</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From a conversationalist in a chat window — to a component of a production system: the loop, the equipment, memory, tool access — and where all of it breaks.</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agent + equipment · 5 cases · 4 failures</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Fine-tuning</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Agents</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Controlled automation existed long before agents.</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"Agent" sounds like an invention of the large-model era, but controlled process automation is a mature discipline. Without it you can't judge what an agent adds and what it breaks.</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Finite-state machine</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set of states and event-driven transition rules ("created → in progress → closed"). Possible transitions are visible, impossible ones are excluded by construction.</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 engines</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Execute a predefined process by a fixed schema: BPMN, DAG orchestrators (Airflow), RPA. The order of steps is defined in advance, not on the fly.</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Control loop</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plan → act → check as a feedback loop (control theory, SCADA); the military analog is the OODA loop. Not a single action, but a loop with correction.</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WHAT TO KEEP</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Deterministic workflows where possible; idempotency (repeating a step does not break state); the least-privilege principle for tools; limits and audit of the loop. Reliability practices of the control loop don't go anywhere.</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Bridge: </a:t>
            </a:r>
            <a:r>
              <a:rPr sz="1200" b="0" i="0">
                <a:solidFill>
                  <a:srgbClr val="21295C"/>
                </a:solidFill>
                <a:latin typeface="Arial"/>
              </a:rPr>
              <a:t>an LLM agent is the same plan→act→check control loop, but the steps in it are generated by the model non-deterministically, rather than choosing a fixed automaton rule. Hence both the flexibility and the failures of the section.</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model becomes a system component: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Structured output</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output strictly by schema (JSON), not text to parse</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embeddable</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Tool calling</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the model formulates "call X"; your code executes it, not the model</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active</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Prompt caching</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don't recompute the unchanged prefix on every request</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economical</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for LLM tools"</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incompatible integrations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a tool once = an MCP server; a model once = an MCP client</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Standardizing the connection ≠ security of what you connect — and it makes the trust problem worse.</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code in your environment / access to data</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the description enters the context — a carrier for prompt injection</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No mechanism makes the model more reliable — the ladder rule still holds. Ease of connection is not an argument for connecting.</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Current savings figures and the scale of the MCP ecosystem — see sources.</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An agent is not a "pricier chat". It's a different cost class.</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The comparison baseline is one chat turn (tens of cents). Each step up multiplies token spend, it doesn't just add to it.</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Single LLM call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the base cost of a request</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Single agent (loop)</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plan→act→check→repeat: many passes per task</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Multi-agent</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on top of the agent — coordinating several agents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another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What to do: budget BEFORE choosing the architecture. Prompt caching (don't recompute the unchanged prefix) in an agent is no longer a "nice reference" but a necessity: without it the ×N loop cost becomes unaffordable.</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en.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The multipliers are order-of-magnitude (Anthropic, 2025), not an exact tariff; the absolute price depends on the model and task.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connecting a tool is now a matter of minutes.</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a connection standard (already covered above)</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Describe a tool once as an MCP server — and every model-client sees it. Connecting became a matter of minutes. But the ease of connecting says nothing about what exactly you're connecting.</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Read the catalog critically</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"up to 90,000 servers"  →  actually runnable ≈ </a:t>
            </a:r>
            <a:r>
              <a:rPr sz="1600" b="1" i="0">
                <a:solidFill>
                  <a:srgbClr val="065A82"/>
                </a:solidFill>
                <a:latin typeface="Arial"/>
              </a:rPr>
              <a:t>10,000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of the catalog.</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The rest are duplicates, broken and stubs. And even the working 10 thousand aren't checked for security.</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The trust turn: standardizing the connection ≠ security of what's connected — and it sharpens it.</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in a 60-day window against MCP servers (~43% — command injection)</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path traversal among 2,614 checked implementations</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What to do: ease of connection is not an argument for connecting. Each MCP server = someone else's code in your environment + a carrier of injection into the context. You connect it to meet the task's requirement, with an assessment of the new trust boundary.</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Current figures on the MCP ecosystem and the CVE timeline — see sources.</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The agent loop: plan → act → check → iterate.</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An agent is an architecture where the model does not make one pass, but works in a loop, determining the sequence of steps itself</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START</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formulates the next step</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myopic / looping plan (does not see the accumulated cost)</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calls a tool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the tool fails / stalls, and there is no branch for it</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is the goal reached, is the result correct</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failure mode: validation against an EXTERNAL criterion — not the model</a:t>
            </a:r>
            <a:r>
              <a:rPr sz="546" baseline="30000" b="0" i="1">
                <a:latin typeface="Arial"/>
                <a:cs typeface="Arial"/>
                <a:ea typeface="Arial"/>
                <a:solidFill>
                  <a:srgbClr val="1C7293"/>
                </a:solidFill>
              </a:rPr>
              <a:t>[2]</a:t>
            </a:r>
            <a:r>
              <a:rPr sz="1050" b="0" i="1">
                <a:latin typeface="Arial"/>
                <a:cs typeface="Arial"/>
                <a:ea typeface="Arial"/>
                <a:solidFill>
                  <a:srgbClr val="21295C"/>
                </a:solidFill>
              </a:rPr>
              <a:t>'s self-assessment (echo of the CoT ceiling)</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the loop repeats</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no external limit on iterations / cost / time → runaway loop</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the loop REPEATS — back to the "Plan" step</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self-assessment)</a:t>
            </a:r>
            <a:r>
              <a:rPr sz="850" i="1">
                <a:solidFill>
                  <a:srgbClr val="5B6678"/>
                </a:solidFill>
                <a:latin typeface="Arial"/>
              </a:rPr>
              <a:t>   ·   Loop patterns (ReAct, Reflexion, Plan-and-Execute) — in the chapter. Designing an agent = designing a defense at each of the 4 steps.</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Workflow vs agent.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Predictable task → workflow</a:t>
            </a:r>
            <a:r>
              <a:rPr sz="754" baseline="30000" b="0" i="1">
                <a:latin typeface="Arial"/>
                <a:cs typeface="Arial"/>
                <a:ea typeface="Arial"/>
                <a:solidFill>
                  <a:srgbClr val="1C7293"/>
                </a:solidFill>
              </a:rPr>
              <a:t>[1]</a:t>
            </a:r>
            <a:r>
              <a:rPr sz="1450" b="0" i="1">
                <a:latin typeface="Arial"/>
                <a:cs typeface="Arial"/>
                <a:ea typeface="Arial"/>
                <a:solidFill>
                  <a:srgbClr val="065A82"/>
                </a:solidFill>
              </a:rPr>
              <a:t>; unpredictable AND the value justifies a multiple-fold increase</a:t>
            </a:r>
            <a:r>
              <a:rPr sz="754" baseline="30000" b="0" i="1">
                <a:latin typeface="Arial"/>
                <a:cs typeface="Arial"/>
                <a:ea typeface="Arial"/>
                <a:solidFill>
                  <a:srgbClr val="1C7293"/>
                </a:solidFill>
              </a:rPr>
              <a:t>[2]</a:t>
            </a:r>
            <a:r>
              <a:rPr sz="1450" b="0" i="1">
                <a:latin typeface="Arial"/>
                <a:cs typeface="Arial"/>
                <a:ea typeface="Arial"/>
                <a:solidFill>
                  <a:srgbClr val="065A82"/>
                </a:solidFill>
              </a:rPr>
              <a:t> → agent.</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and tools along paths predefined in code</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the sequence of steps is known in advance</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predictable, auditable</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most reliable production systems are a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Agent</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the LLM dynamically determines its own process</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the sequence is not fixed in advance</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many times more tokens than a chat</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lower auditability, higher risk of loops</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Can I write out the sequence of steps in advance, before launch?  yes (even with branches) → workflow  ·  fundamentally no AND the value justifies the multiple-fold cost/risk → agent</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Nesting is the norm: a code-review agent calls a "lint→test→format" workflow as one step; a ticket-processing workflow delegates parsing a free-form complaint to a mini-agent. Dynamics — only where it is needed.</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Find the simplest option. "Too lazy to formalize" does not make a task unpredictable.</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Multi-agent by default is not a win — it is a risk multiplier.</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In a chain of n steps, where a failure of any one ruins the result, reliabilities multiply: success ≈ pⁿ. The engineering intuition "each step almost always works" is mathematically false.</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Chain reliability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steps</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steps</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per step sounds reliable — but 0.95¹⁰ ≈ 0.60. More agents = more steps = lower overall reliability.</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Topology decides: coordinator &gt; swarm</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A "swarm" of equal agents amplifies errors </a:t>
            </a:r>
            <a:r>
              <a:rPr sz="1600" b="1" i="0">
                <a:solidFill>
                  <a:srgbClr val="028090"/>
                </a:solidFill>
                <a:latin typeface="Arial"/>
              </a:rPr>
              <a:t>17.2×</a:t>
            </a:r>
            <a:r>
              <a:rPr sz="1200" b="0" i="0">
                <a:solidFill>
                  <a:srgbClr val="21295C"/>
                </a:solidFill>
                <a:latin typeface="Arial"/>
              </a:rPr>
              <a:t>;  a single coordinator — only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verbatim: "multi-agent works mainly because it helps spend enough tokens to solve the problem" — the win comes from token volume, not from "coordination magic".</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What to do: start with one strong agent. Multi-agent — only if the task splits into WIDELY parallel independent subtasks of high value; otherwise +15× tokens and coordination overhead will not pay off.</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Every agent equipment slot is a trade-off, not a win.</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 real assistant agent (Claude Code, Cursor, Aider) is a plan→act→check→iterate loop PLUS equipment. Five typical slots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Memory</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what it remembers between sessions</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Instruction rules</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convention files + a task journal</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reusable procedures</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Subagents</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delegation + isolation</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Access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access to external tools</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Just as you don't climb the architecture ladder without a task requirement — don't add memory, subagents or MCP to an agent "just in case". Each slot carries its own cost: operational complexity, a new failure surface, a new trust boundary — and it must answer a concrete trigger (Section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map of the agent's equipment slots</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Agent memory — the same scale question as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Memory — what the agent remembers BETWEEN sessions (unlike the context of a single conversation). The spectrum runs from a flat file to graph knowledge</a:t>
            </a:r>
            <a:r>
              <a:rPr sz="702" baseline="30000" b="0" i="1">
                <a:latin typeface="Arial"/>
                <a:cs typeface="Arial"/>
                <a:ea typeface="Arial"/>
                <a:solidFill>
                  <a:srgbClr val="1C7293"/>
                </a:solidFill>
              </a:rPr>
              <a:t>[1]</a:t>
            </a:r>
            <a:r>
              <a:rPr sz="1350" b="0" i="1">
                <a:latin typeface="Arial"/>
                <a:cs typeface="Arial"/>
                <a:ea typeface="Arial"/>
                <a:solidFill>
                  <a:srgbClr val="065A82"/>
                </a:solidFill>
              </a:rPr>
              <a:t> bases.</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Flat file</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the agent appends facts to a text log, reads it whole on startup. Works while the log is small and stable — a direct parallel to the RAG criterion "the corpus fits in the window".</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Vector / graph knowledge base</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user memory between sessions</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memory on a knowledge graph</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a temporal graph: when a fact is true, when it's stale</a:t>
            </a:r>
          </a:p>
        </p:txBody>
      </p:sp>
      <p:sp>
        <p:nvSpPr>
          <p:cNvPr id="18" name="Rounded Rectangle 17"/>
          <p:cNvSpPr/>
          <p:nvPr/>
        </p:nvSpPr>
        <p:spPr>
          <a:xfrm>
            <a:off x="502920" y="4041648"/>
            <a:ext cx="827532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7872984" cy="1627631"/>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The same knowledge-scale question that RAG solves for a document corpus arises here for the agent's own memory. Don't give a graph knowledge base to an agent with short, unrelated sessions — that's the same technical debt without a requirement as RAG for ten articles.</a:t>
            </a:r>
          </a:p>
        </p:txBody>
      </p:sp>
      <p:sp>
        <p:nvSpPr>
          <p:cNvPr id="20" name="Rounded Rectangle 19"/>
          <p:cNvSpPr/>
          <p:nvPr/>
        </p:nvSpPr>
        <p:spPr>
          <a:xfrm>
            <a:off x="8915400" y="3995928"/>
            <a:ext cx="2834640" cy="20939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22c-pooh-en.png"/>
          <p:cNvPicPr>
            <a:picLocks noChangeAspect="1"/>
          </p:cNvPicPr>
          <p:nvPr/>
        </p:nvPicPr>
        <p:blipFill>
          <a:blip r:embed="rId4"/>
          <a:stretch>
            <a:fillRect/>
          </a:stretch>
        </p:blipFill>
        <p:spPr>
          <a:xfrm>
            <a:off x="8961120" y="4045077"/>
            <a:ext cx="2743200" cy="1995678"/>
          </a:xfrm>
          <a:prstGeom prst="rect">
            <a:avLst/>
          </a:prstGeom>
        </p:spPr>
      </p:pic>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the agent memory spectrum</a:t>
            </a:r>
            <a:r>
              <a:rPr sz="850" i="1">
                <a:solidFill>
                  <a:srgbClr val="5B6678"/>
                </a:solidFill>
                <a:latin typeface="Arial"/>
              </a:rPr>
              <a:t>   ·   Source: the public agent-harness-registry (workain lab, independent evaluation).</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"An agent that remembers" — not always for the better.</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Having memory intuitively seems like a pure win. Independent evaluation shows: sometimes — dramatically not</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loses to BOTH the bare model AND the flat file on every task.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Bare model</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s</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Flat file</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s</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s</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Mechanisms: capitulation under pressure · verbosity drowns the fact · the fact is noticed but not committed.</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Caveat: the test is on Letta v0.6.7 — behind the current v0.16.8 (~18 mo).</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A strong result overall — but even it loses data on</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of tasks</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an explicit refusal to record an "ephemeral" fact</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an unmotivated "out of scope" refusal</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silent lossy compression — the detail can't be recovered</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non-reproducibility: the same conversation twice → a different result</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 tail</a:t>
            </a:r>
            <a:r>
              <a:rPr sz="850" i="1">
                <a:solidFill>
                  <a:srgbClr val="5B6678"/>
                </a:solidFill>
                <a:latin typeface="Arial"/>
              </a:rPr>
              <a:t>   ·   agent-harness-registry (workain lab, independent evaluation 2026-07-05). "Works well" ≠ "works always" — the same lesson as RAG at scale and forgetting.</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An instruction file for an agent is not a "magic vaccine".</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operational layer — convention files (the CLAUDE.md / AGENTS.md class) + a task journal. The intuition "wrote an instruction → and it got more correct" diverges from measurement.</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the mere presence of an instruction file gives NO significant gain</a:t>
            </a:r>
            <a:r>
              <a:rPr sz="650" baseline="30000" b="0" i="1">
                <a:latin typeface="Arial"/>
                <a:cs typeface="Arial"/>
                <a:ea typeface="Arial"/>
                <a:solidFill>
                  <a:srgbClr val="1C7293"/>
                </a:solidFill>
              </a:rPr>
              <a:t>[1]</a:t>
            </a:r>
            <a:r>
              <a:rPr sz="1250" b="0" i="0">
                <a:latin typeface="Arial"/>
                <a:cs typeface="Arial"/>
                <a:ea typeface="Arial"/>
                <a:solidFill>
                  <a:srgbClr val="21295C"/>
                </a:solidFill>
              </a:rPr>
              <a:t> in success — while cost and step count grow.</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Helps only where it actually fills a documentation gap.</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self-authored memory can ENTRENCH a wrong belief — the journal cements an early mistake instead of revising it.</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The reflection is wrong → retries lean on it.</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A real case: a past mistake acknowledged in writing did NOT prevent its recurrence 25 days later</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A record of a failure ≠ a guarantee the behavior changes.</a:t>
            </a:r>
          </a:p>
        </p:txBody>
      </p:sp>
      <p:sp>
        <p:nvSpPr>
          <p:cNvPr id="22" name="Rounded Rectangle 21"/>
          <p:cNvSpPr/>
          <p:nvPr/>
        </p:nvSpPr>
        <p:spPr>
          <a:xfrm>
            <a:off x="502920" y="4846320"/>
            <a:ext cx="827532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787298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Useful when it fills a real gap; useless when it duplicates what the model already has; can harm when self-authored memory entrenches a mistake. The same pattern as a role in a prompt: "add X → it gets more correct" is not confirmed by measurement.</a:t>
            </a:r>
          </a:p>
        </p:txBody>
      </p:sp>
      <p:sp>
        <p:nvSpPr>
          <p:cNvPr id="24" name="Rounded Rectangle 23"/>
          <p:cNvSpPr/>
          <p:nvPr/>
        </p:nvSpPr>
        <p:spPr>
          <a:xfrm>
            <a:off x="8915400" y="4800600"/>
            <a:ext cx="2834640" cy="14264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22e-thisisfine-en.png"/>
          <p:cNvPicPr>
            <a:picLocks noChangeAspect="1"/>
          </p:cNvPicPr>
          <p:nvPr/>
        </p:nvPicPr>
        <p:blipFill>
          <a:blip r:embed="rId5"/>
          <a:stretch>
            <a:fillRect/>
          </a:stretch>
        </p:blipFill>
        <p:spPr>
          <a:xfrm>
            <a:off x="8961120" y="4846950"/>
            <a:ext cx="2743200" cy="1333763"/>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GitHub anthropics/claude-code#51735 (the error repeated after 25 days)</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Skills, subagents, access — and the trust boundary.</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reusable “how-to” procedure for a recurring task</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Subagent</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separate context window: keep the main one clean + isolate the untrusted</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 access</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every connection is a new trust boundary and retention policy</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Security: the moment an agent delegates and connects, a surface appears that a single call never had</a:t>
            </a:r>
            <a:r>
              <a:rPr sz="780" baseline="30000" b="0" i="1">
                <a:latin typeface="Arial"/>
                <a:cs typeface="Arial"/>
                <a:ea typeface="Arial"/>
                <a:solidFill>
                  <a:srgbClr val="1C7293"/>
                </a:solidFill>
              </a:rPr>
              <a:t>[2,3]</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leak via injection (May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an issue with an embedded instruction + an over-broad token (a PAT for all repos) → the assistant dumped private repositories into a public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Disaster = injection × broad rights. Remove either — the attack fails.</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“We have ZDR” ≠ “stored nowhere”: a court order (NYT v. OpenAI) + third-party services/MCP outside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Regulated data — don't send without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design rules</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the minimum of tokens/rights</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Isolate the untrusted</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apart from privileges (a subagent)</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Human in the loop on writes</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the irreversible — only via a human</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Allowlist / version pinning</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audited versions; deny by default</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(court ordered logs to be kept)</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(the bounds of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"We have ZDR" ≠ "data is protected across the whole chain".</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covers the core model calls — but not the whole architecture. An agent = a model + tools, and tools are often outside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does NOT cover</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batch processing</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code execution in containers</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 connector</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third-party integrations</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consumer plans</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The more agentic the architecture — the more of its data passes through these links.</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A court order outlives your policy</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the court ordered ALL ChatGPT logs preserved as evidence. The contractual "30 days" policy was powerless against a litigation hold from someone else's dispute.</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Data that has left your perimeter lives by rules you do not control.</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What to do: map the data per feature before production — what data, through which link, with what retention policy, which links are third-party. Regulated/sensitive data — only with ZDR/BAA or locally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en.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Real coding agents — through the equipment frame.</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difference between tools is not “model quality”, but which equipment slots are filled and where the agent physically lives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terminal + IDE · proprietary</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broad equipment: memory, instruction files, skills, full subagents, MCP — almost all 5 slots</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the price — a lot of operational complexity</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terminal-first · open source</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minimal simplicity: no elaborate memory, no subagents, no skills. ~47k★ on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a “thin” rig is a deliberate choice, not an underdevelopment</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desktop IDE (a VS Code fork) · proprietary</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the agent lives inside the editor — not a terminal. The form of integration is a separate axis from the rig</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where the agent lives is also an architectural decision</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platform on your own server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broad autonomy, local/Docker/cloud deployment</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a working hypothesis by profile match — a likely candidate for “OpenClaw”, not a confirmed fact</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Choosing a tool follows the same rule: don't take the most-equipped one by default — look at which rig your particular task needs.</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a survey through the equipment frame</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Agent failures.</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Each failure is a failure mode of the agent loop in a dated case: lesson + alternative.</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Loop without limits</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An agent told to "sync the orders" got HTTP 429 → plan→call→429→…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$4,200 in 63 hours</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Baseline: a retry-with-backoff script would solve the same task in seconds-to-minutes, practically free</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$4,200 — the price not of automation, but of the wrong architecture choice for a predictable task</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A more fitting architecture: a retry-with-backoff script, not an agent; budget and iteration limits OUTSIDE the agent</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Compounding errors</a:t>
            </a:r>
          </a:p>
        </p:txBody>
      </p:sp>
      <p:pic>
        <p:nvPicPr>
          <p:cNvPr id="15" name="Picture 14" descr="c23-compounding.png"/>
          <p:cNvPicPr>
            <a:picLocks noChangeAspect="1"/>
          </p:cNvPicPr>
          <p:nvPr/>
        </p:nvPicPr>
        <p:blipFill>
          <a:blip r:embed="rId3"/>
          <a:stretch>
            <a:fillRect/>
          </a:stretch>
        </p:blipFill>
        <p:spPr>
          <a:xfrm>
            <a:off x="4535424" y="2260485"/>
            <a:ext cx="3410712" cy="1980413"/>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Takeaway: "tune one step" is a weak lever; "fewer transitions + a check between steps</a:t>
            </a:r>
            <a:r>
              <a:rPr sz="624" baseline="30000" b="0" i="1">
                <a:latin typeface="Arial"/>
                <a:cs typeface="Arial"/>
                <a:ea typeface="Arial"/>
                <a:solidFill>
                  <a:srgbClr val="1C7293"/>
                </a:solidFill>
              </a:rPr>
              <a:t>[2]</a:t>
            </a:r>
            <a:r>
              <a:rPr sz="1200" b="1" i="0">
                <a:latin typeface="Arial"/>
                <a:cs typeface="Arial"/>
                <a:ea typeface="Arial"/>
                <a:solidFill>
                  <a:srgbClr val="21295C"/>
                </a:solidFill>
              </a:rPr>
              <a:t>" is a strong one</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Multi-agent fragility</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dependent subtasks → parallel subagents make conflicting</a:t>
            </a:r>
            <a:r>
              <a:rPr sz="650" baseline="30000" b="0" i="1">
                <a:latin typeface="Arial"/>
                <a:cs typeface="Arial"/>
                <a:ea typeface="Arial"/>
                <a:solidFill>
                  <a:srgbClr val="1C7293"/>
                </a:solidFill>
              </a:rPr>
              <a:t>[3]</a:t>
            </a:r>
            <a:r>
              <a:rPr sz="1250" b="0" i="0">
                <a:latin typeface="Arial"/>
                <a:cs typeface="Arial"/>
                <a:ea typeface="Arial"/>
                <a:solidFill>
                  <a:srgbClr val="21295C"/>
                </a:solidFill>
              </a:rPr>
              <a:t> implicit decisions</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A more fitting one: a single-threaded linear agent; multi-agent — only for broadly-parallel independent work</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(fragility)</a:t>
            </a:r>
            <a:r>
              <a:rPr sz="850" i="1">
                <a:solidFill>
                  <a:srgbClr val="5B6678"/>
                </a:solidFill>
                <a:latin typeface="Arial"/>
              </a:rPr>
              <a:t>   ·   Attacks through tools (prompt injection, exfiltration via GitHub MCP) — the 4th class of failures, covered on the security slide. The $4,200 loop — a single author's post-mortem 2026-04 (illustrative); compounding errors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Agent failures are CLASSES, not a list of oddities.</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Of </a:t>
            </a:r>
            <a:r>
              <a:rPr sz="1400" b="1" i="0">
                <a:solidFill>
                  <a:srgbClr val="065A82"/>
                </a:solidFill>
                <a:latin typeface="Arial"/>
              </a:rPr>
              <a:t>344</a:t>
            </a:r>
            <a:r>
              <a:rPr sz="1300" b="0" i="1">
                <a:solidFill>
                  <a:srgbClr val="065A82"/>
                </a:solidFill>
                <a:latin typeface="Arial"/>
              </a:rPr>
              <a:t> business-significant AI incidents, in </a:t>
            </a:r>
            <a:r>
              <a:rPr sz="1400" b="1" i="0">
                <a:solidFill>
                  <a:srgbClr val="028090"/>
                </a:solidFill>
                <a:latin typeface="Arial"/>
              </a:rPr>
              <a:t>188</a:t>
            </a:r>
            <a:r>
              <a:rPr sz="1300" b="0" i="1">
                <a:solidFill>
                  <a:srgbClr val="065A82"/>
                </a:solidFill>
                <a:latin typeface="Arial"/>
              </a:rPr>
              <a:t> (≈55%) the autonomous system caused damage in production WITHOUT an attacker — the agent broke everything itself. Remember the class, not the date.</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Failure class</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Case · date</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Lesson learned</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Destruction + excess rights</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System prompt ≠ control; hard boundary + least-privilege</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Injection without a click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The "lethal trifecta" = exploitable</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Uncontrolled spend</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$48k/14h · $1.3M/30d</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No success criterion and no hard ceiling → the loop won't end</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Package hallucination</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An invented package name → the attacker registers it; don't trust without a registry</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Malicious MCP server</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An MCP server = an unverified supply chain; version swap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Multi-agent cascade</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of cascades from upstream</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Where it broke ≠ where it showed; errors multiply</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Legal liability</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"It was the bot's answer" — no defense; the output belongs to the company</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Loop without a budget</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$4,200 / 63 h</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"Try until it works" with no limit = literally</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Error accumulation</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reliability as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not an average; "tune the model" is a weak lever</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Multi-agent fragility</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For tasks with dependencies, multi-agent is worse than one</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What to do: faced with a new incident — name ITS CLASS. The class sets the countermeasure (limit / least-privilege / check between steps), and the specific dates and amounts are not needed.</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Four classes up close — with a comparison base.</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a production DB in 9 seconds</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The agent found a token with unlimited rights in someone else's file and deleted the volume + all backups. The nearest recoverable one was 3 months old.</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Lesson: the system prompt is not a security control; you need a hard boundary.</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Uncontrolled spend: $48k / 14h · $1.3M / 30d</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A request with no success criterion — the planner expanded and never finished. Base: a normal session is cents-to-dollars; this is 3–5 orders of magnitude higher.</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Lesson: a completion criterion + a hard ceiling + an emergency stop are mandatory.</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in 5 imports</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Over 576,000 code samples, 19.7% of package references are hallucinations. The attacker registers the invented name → the next agent installs someone else's code.</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Lesson: pin versions/hashes, lock files, review of new dependencies.</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Cascade — 61% of errors from upstream</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Across 73 incidents: in 61% the root was in an upstream layer (retrieval/plan), not where the failure became visible. The next agent takes the error as fact.</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Lesson: checks between steps, fewer hops, traceability.</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What to do: in all four the root is the same — the agent was applied without an external boundary (of rights, budget, validation). The boundary is placed OUTSIDE the agent; a prompt cannot replace it.</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How to choose: the decision framework</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We went through every architecture separately — and where each one fails. Now we pull it together into one choice tool.</a:t>
            </a:r>
          </a:p>
        </p:txBody>
      </p:sp>
      <p:sp>
        <p:nvSpPr>
          <p:cNvPr id="8" name="Rounded Rectangle 7"/>
          <p:cNvSpPr/>
          <p:nvPr/>
        </p:nvSpPr>
        <p:spPr>
          <a:xfrm>
            <a:off x="713232" y="5212080"/>
            <a:ext cx="374904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the choice tool · 4 cases</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Fine-tuning</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How an engineer chose technology before the AI hype.</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The architecture choice itself is not a new AI procedure, but a direct application of classical engineering-decision principles. The section's ladder and checklist stand on them.</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From the requirement, not the tool</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Requirements engineering: first pin down what the system must do, then pick the tool. Build-vs-buy: build your own or take a ready one.</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Choose the simplest solution that meets the requirement; don't build in capacity "for the future" until a concrete requirement demands it.</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Least power</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From the W3C notes (Berners-Lee and Mendelsohn): take the least powerful of the sufficient tools — it's easier to analyze, verify and maintain.</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WHAT TO KEEP</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The simplest sufficient architecture by default, and the burden of proof is on whoever wants to complicate it. In the AI era the principle isn't abolished, it gets costlier: an extra step adds non-determinism, token cost, latency, attack surface.</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Bridge: </a:t>
            </a:r>
            <a:r>
              <a:rPr sz="1200" b="0" i="0">
                <a:solidFill>
                  <a:srgbClr val="21295C"/>
                </a:solidFill>
                <a:latin typeface="Arial"/>
              </a:rPr>
              <a:t>the ladder of architectures (code → single call → RAG → workflow → agent → multi-agent) is the same least-power principle over AI architectures: stay on the lowest sufficient step, climb only to meet a requirement.</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ladder of architectural complexity.</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Stay on the bottom rung; climb only when the task requires it.</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Plain code (no AI)</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you need NL / unstructured input / fuzzy matching</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One LLM call (prompt; +CoT, +examples in the prompt)</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knowledge is large AND changing AND provenance AND private</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context engineering</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the task is multi-step, the sequence is known in advance</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Workflow (predefined paths)</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unpredictable AND the value justifies multiplying cost/risk</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Agent (plan→act→check→repeat + limits)</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subtasks are widely parallel AND independent AND high-value</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Multi-agent</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harder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simpler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Stay on the lowest rung that meets the requirements.</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Every climb is a TRADE-OFF</a:t>
            </a:r>
            <a:r>
              <a:rPr sz="702" baseline="30000" b="0" i="1">
                <a:latin typeface="Arial"/>
                <a:cs typeface="Arial"/>
                <a:ea typeface="Arial"/>
                <a:solidFill>
                  <a:srgbClr val="1C7293"/>
                </a:solidFill>
              </a:rPr>
              <a:t>[1]</a:t>
            </a:r>
            <a:r>
              <a:rPr sz="1350" b="0" i="0">
                <a:latin typeface="Arial"/>
                <a:cs typeface="Arial"/>
                <a:ea typeface="Arial"/>
                <a:solidFill>
                  <a:srgbClr val="21295C"/>
                </a:solidFill>
              </a:rPr>
              <a:t> (capability ↔ cost, latency, auditability, attack surface), not a pure win.</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(the ladder rule)</a:t>
            </a:r>
            <a:r>
              <a:rPr sz="850" i="1">
                <a:solidFill>
                  <a:srgbClr val="5B6678"/>
                </a:solidFill>
                <a:latin typeface="Arial"/>
              </a:rPr>
              <a:t>   ·   The bottom rung is “plain code, no AI”: the ladder begins with the question “do we even need AI at all”.</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decision plan: a route of questions, not a sum of points.</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Walk the task top to bottom; stop at the first question that fires</a:t>
            </a:r>
            <a:r>
              <a:rPr sz="624" baseline="30000" b="0" i="1">
                <a:latin typeface="Arial"/>
                <a:cs typeface="Arial"/>
                <a:ea typeface="Arial"/>
                <a:solidFill>
                  <a:srgbClr val="1C7293"/>
                </a:solidFill>
              </a:rPr>
              <a:t>[1]</a:t>
            </a:r>
            <a:r>
              <a:rPr sz="1200" b="0" i="1">
                <a:latin typeface="Arial"/>
                <a:cs typeface="Arial"/>
                <a:ea typeface="Arial"/>
                <a:solidFill>
                  <a:srgbClr val="065A82"/>
                </a:solidFill>
              </a:rPr>
              <a:t>. “Yes” → outcome on the right; “no” → next question below.</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Deterministic and verifiable?</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plain code · STOP</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Does one call close it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prompt · STOP</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Need source provenance?</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RAG grounded in a source / code</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Knowledge changes / provenance?</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RAG (not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Need behavior / tone / format?</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fine-tuning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Multi-step, order known?</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workflow · no → agent+limits</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Subtasks parallel+independent?</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multi-agent · no → linear</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Data sensitive? → at EVERY step: data map + least-privilege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Example (task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regulations, changing weekly, an answer citing the clause” → question 4 (changing+provenance) is decisive → RAG with strict grounding in a source. Not fine-tuning (goes stale), not code (NL is needed).</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Warm-up (task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“a bot over ~150 FAQ, changing once a quarter” — walk the route yourself; we go over it in the seminar.</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Route priority: if the task is deterministic and verifiable — plain code, STOP here</a:t>
            </a:r>
            <a:r>
              <a:rPr sz="728" baseline="30000" b="0" i="1">
                <a:latin typeface="Arial"/>
                <a:cs typeface="Arial"/>
                <a:ea typeface="Arial"/>
                <a:solidFill>
                  <a:srgbClr val="1C7293"/>
                </a:solidFill>
              </a:rPr>
              <a:t>[2]</a:t>
            </a:r>
            <a:r>
              <a:rPr sz="1400" b="1" i="0">
                <a:latin typeface="Arial"/>
                <a:cs typeface="Arial"/>
                <a:ea typeface="Arial"/>
                <a:solidFill>
                  <a:srgbClr val="21295C"/>
                </a:solidFill>
              </a:rPr>
              <a:t>. AI would only add nondeterminism, cost, latency, and a surface for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(the choice route)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(the bottom row of the matrix)</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agent starter kit — and when to complicate it.</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same “don't complicate without a requirement” ladder, applied one level down — to a single agent's rig, not the whole system.</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By default — a thin agent</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one instruction file</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flat memory</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NO subagents</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a minimal set of skills</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minimal MCP access</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The burden of proof is on complication, not on simplicity.</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A memory backend — when:</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history has outgrown the context OR you need to search over facts. The same criterion as prompt→RAG.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Subagents — when:</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a subtask needs a separate window OR isolation of untrusted work (least-privilege).</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More MCP access — when:</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a specific task needs a specific tool — not “just in case”. Every connection is a trust boundary.</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en.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 same principle as the architecture ladder — applied to a single agent's rig: the presence paradox showed that even an instruction file “as a ritual” doesn't work. Complicate against a specific verifiable trigger.</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Takeaway: mechanism → its boundary → what to do.</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Mechanism</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Where it breaks (boundary)</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What to do</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Prompt / role</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a role-persona changes tone, not accuracy</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accuracy — via context and RAG, not via "you are an expert"</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is low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check the result, not the self-explanation</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"retrieved" ≠ "retrieved correctly"</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grounding in a source + retrieval metrics + "I don't know" as the norm</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Fine-tuning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changes behavior, not knowledge; forgetting</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a check loop + versioning; knowledge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Agent loop</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plan→act→check→repeat — 4 points of failure</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check against an external criterion; a hard ceiling on the loop</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Equipment / memory</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each slot is a trade-off, not a win</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add a slot on demand, with a check</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Multi-agent</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tokens</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one strong agent by default</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Security</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injection × broad rights; ZDR isn't everything</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least-privilege + a per-feature data map</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"Not AI at all"</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deterministic + verifiable</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plain code — cheaper, more predictable, auditable</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To know a tool is to know its boundaries. Choosing an architecture = find the lowest rung that meets the task's requirement.</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Human validator + the MIT NANDA lesson.</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The agent acts — a human checks the result and the facts</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against an independent source of truth, not by the plausibility of the reasoning</a:t>
            </a:r>
            <a:r>
              <a:rPr sz="624" baseline="30000" b="0" i="1">
                <a:latin typeface="Arial"/>
                <a:cs typeface="Arial"/>
                <a:ea typeface="Arial"/>
                <a:solidFill>
                  <a:srgbClr val="1C7293"/>
                </a:solidFill>
              </a:rPr>
              <a:t>[1]</a:t>
            </a:r>
            <a:r>
              <a:rPr sz="1200" b="0" i="1">
                <a:latin typeface="Arial"/>
                <a:cs typeface="Arial"/>
                <a:ea typeface="Arial"/>
                <a:solidFill>
                  <a:srgbClr val="5B6678"/>
                </a:solidFill>
              </a:rPr>
              <a:t>: the model's self-explanation ≠ control.</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Degree of autonomy</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from “a human presses the button” to “the agent notifies after the fact”</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Trust scope</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reads (easy to roll back) vs writes · reversible vs irreversible</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Continuous monitoring</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quality metrics all the time, not a one-off check at the start</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of enterprise GenAI pilots with no measurable return on investment — the root is in the learning gap and the integration failure, not model quality</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“Launch AI” ≠ “get value”. Architectural-integration discipline decides. Sometimes the right answer is the simplest architecture or no AI.</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control)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of pilots with no ROI)</a:t>
            </a:r>
            <a:r>
              <a:rPr sz="850" i="1">
                <a:solidFill>
                  <a:srgbClr val="5B6678"/>
                </a:solidFill>
                <a:latin typeface="Arial"/>
              </a:rPr>
              <a:t>   ·   MIT NANDA, State of AI in Business 2025 — a report with a methodology (150 interviews + 350 survey + 300 deployments), not a universal law.</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Next — industries. Start: software development, the SDLC × AI axis.</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Lecture 4 takes the same apparatus and lays it out across the software lifecycle stages. Each stage leans on an anchor from this lecture:</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Requirements / design</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picking an architecture per step → the 6-rung ladder</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1887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Coding</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coding agents through the equipment frame; failures as a CLASS</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1325880"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Testing</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the trust boundary and least-privilege; data outside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1737360"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Operations</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a human validator checks the result, not the self-explanation</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Assignment — Seminar 3: run the architecture-choice checklist on 3 cases (chat / agent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What to do: this frame is the base for Lectures 4–17. On each industry lecture, run the same choice checklist.</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en.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Thank you</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