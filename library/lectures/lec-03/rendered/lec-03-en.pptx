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February 14, 2024, the Civil Resolution Tribunal of British Columbia issued its decision in *Moffatt v. Air Canada*. The story is simple. Passenger Jake Moffatt visited the airline's website after his grandmother's death, asked the chatbot about the bereavement fare, and got the answer: you can buy the ticket at the regular price and then, within 90 days, file a claim to get the difference back. That was untrue — Air Canada's real policy did not allow a retroactive refund under such a fare, and this was written on the very page the chatbot even linked to. Moffatt bought the tickets, filed the claim, was refused, and the case reached the tribunal. The airline defended itself with the argument that the chatbot is "a separate legal entity responsible for its own actions."[1,2] The tribunal rejected this argument and ordered Air Canada to reimburse the passenger for the difference.</a:t>
            </a:r>
          </a:p>
          <a:p/>
          <a:p>
            <a:r>
              <a:t>What interests us in this story is not the legal side but the engineering one. The task was elementary: show the user a fixed, known-in-advance fare policy. For such a task there exists an architecture that works perfectly and costs almost nothing: a static page or a deterministic lookup in a rules table. Air Canada chose instead a generative chatbot — an architecture that is fundamentally capable of composing a nonexistent policy, because its job is to generate plausible text, not to retrieve a verified fact.</a:t>
            </a:r>
          </a:p>
          <a:p/>
          <a:p>
            <a:r>
              <a:t>This was not a model failure. It was the wrong architecture choice for the task. And it is exactly this class of errors — the architecture choice — that this entire lecture is about. Before going further, ask yourself: if the task is merely "look up the fare rule," what architecture closes it — and is AI even needed here at all? We will return to this answer in the section on RAG.</a:t>
            </a:r>
          </a:p>
          <a:p/>
          <a:p>
            <a:r>
              <a:t>Sources:</a:t>
            </a:r>
          </a:p>
          <a:p>
            <a:r>
              <a:t>[1] McCarthy Tétrault — Moffatt v. Air Canada (BC CRT, 14.02.2024) — the bot invented a refund policy; tribunal: the company is liable for the bot's answer. https://www.mccarthy.ca/en/insights/blogs/techlex/moffatt-v-air-canada-misrepresentation-ai-chatbot</a:t>
            </a:r>
          </a:p>
          <a:p>
            <a:r>
              <a:t>[2] ABA Business Law Today — companies are liable for an AI chatbot — "the bot is not a separate legal entity": the wrong architecture choice for a lookup task. https://www.americanbar.org/groups/business_law/resources/business-law-today/2024-february/bc-tribunal-confirms-companies-remain-liable-information-provided-ai-chatbot/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Today's topic is AI system architectures: agents, RAG, API. This is the last overview lecture of the course's introductory module. Lecture 1 explained what an AI model is and how a prompt is structured; Lecture 2 explained why a prompt works from the inside: tokenization, embeddings, attention, sampling. This lecture answers the next engineering question in order: how do you assemble a working system out of a model — and how do you choose which system to assemble.</a:t>
            </a:r>
          </a:p>
          <a:p/>
          <a:p>
            <a:r>
              <a:t>There is one keystone idea running through the whole lecture, and it is worth keeping in mind all the way to the end: the choice of architecture is an engineering decision for a specific task, not a matter of following fashion. Often the right answer is the simplest architecture possible. And sometimes the right answer is to not use AI at all. We will keep returning to this idea in every section: first we will look at what a single model call can do and where its limits are, then climb the ladder of complexity — RAG, fine-tuning, agents — and at each rung ask the same question: is this complexity even needed here, and what do we pay for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diving into the individual architectures, it helps to see the route as a whole. The lecture consists of six sections, and they are arranged not as a catalog of technologies but as a single line of reasoning. Section zero is the opening: the Air Canada case, which shows that the cost of the wrong architecture choice is quite real. The first section is the prompt and its limits: the cheapest and most predictable way to apply a model, a single call, and where it hits its ceiling. The second is RAG, retrieval-augmented generation, an add-on built on the semantic search from the previous lecture. The third is fine-tuning a model and its honest place in the lineup of "prompt vs RAG vs fine-tuning." The fourth and largest is agents: how a model becomes a component of a system through API and MCP, what an assistant agent is assembled from, where its memory lives, and how all of this breaks. And the fifth is assembly: the ladder of architectural complexity, the choice route, and a short checklist you can apply to a new task in a couple of minutes.</a:t>
            </a:r>
          </a:p>
          <a:p/>
          <a:p>
            <a:r>
              <a:t>Running through all six sections is one keystone line, and it is worth keeping this map in front of your eyes for its sake. It is not "learn six technologies" but "learn to choose which of them to apply to a specific task — and recognize the cases where the right answer is to not use AI at all." Each section ends the same way: not only "when to apply this architecture" but also "when it should not be applied." It is precisely this ability to say a well-grounded "no" to an unsuitable tool, rather than being dazzled by the most powerful one, that the lecture teaches.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Lecture 2 we carry two ready-made blocks over here and will not re-explain them. The first is semantic search on embeddings from Lecture 2, section 2: text is turned into a vector, closeness of vectors means closeness of meanings, so you can search by meaning without an exact word match. RAG stands entirely on this block, and we will refer to it as known. The second block is single-shot inference from Lecture 2, section 4: a single model call is one pass with no memory between calls. It is around this single pass that we will be building up tools, loops, and agents today. If semantic search or single-shot are only vaguely remembered — it is worth rereading the corresponding sections of Lecture 2 before this lecture.</a:t>
            </a:r>
          </a:p>
          <a:p/>
          <a:p>
            <a:r>
              <a:t>The picture on the slide sets up the structure of the whole lecture. At the center — a single model call, the most basic architecture. Around it — four wrappers we will work through. The first is RAG: this is exactly that semantic search from Lecture 2 plus generation on top of what was retrieved; the arrow from embeddings to the RAG node emphasizes that the new material here is built on top of the already familiar, rather than introduced from scratch. The second is function calling: a way to give the model the ability to reach an external system. The third is MCP: the standard by which tools connect to the model. The fourth is the agent loop: many steps around a single pass. By the end of the lecture these four wrappers will be, for you, not a list of buzzwords but a set of tools with known limits of applicability, between which you can consciously choose. The details of RAG — in Section 2; here it is only important to note that it stands on a familiar foundation.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central question of the whole lecture, to which we will keep returning in every section: I have a task and access to an LLM — which architecture do I choose, and when is the right answer "not AI"? Note the second half of the question. It is not rhetorical. One of the things this course teaches is the ability to say "AI is not needed here," and this lecture turns that skill into a tool.</a:t>
            </a:r>
          </a:p>
          <a:p/>
          <a:p>
            <a:r>
              <a:t>The answer will be a ladder of six rungs — it is on the slide. Bottom-up: ordinary code without AI; a single model call with a good prompt; RAG or context engineering; a workflow with predefined paths; an agent with a dynamic loop; and at the top, multi-agent. The rule for moving along this ladder is the single and central one for the whole lecture: stay on the lowest rung that closes the task's requirements, and climb to the next only when there is an explicitly stated requirement the current rung does not close. Every climb is paid for with new failure modes, cost, latency, degraded auditability, and a new attack surface.</a:t>
            </a:r>
          </a:p>
          <a:p/>
          <a:p>
            <a:r>
              <a:t>Note that the bottom rung is ordinary code without AI. The ladder of AI system architectures begins with the question "is AI even needed here." The Air Canada case from the opening is exactly the situation where an engineer climbed to a rung with generation where the task lived on the lower rung of deterministic code. And one last, important thing: this ladder is the lecture map, not a requirement to understand everything right now. We will work through each rung separately and, for each, state when you should not climb to it. For now it is enough to remember only the structure and the rule.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have just posed the central question of the lecture: there is a task and access to a language model — which architecture to choose, and when the right answer is "not AI." And we saw the ladder of six rungs in full, as a map: ordinary code, a single call, RAG, workflow, agent, multi-agent. Now the first substantive section begins, and the logic here is fundamental: we go along the ladder bottom-up, not top-down. Not "what is the most powerful tool that exists," but "is the simplest one enough, and if not — for exactly which task requirement do we climb a rung higher."</a:t>
            </a:r>
          </a:p>
          <a:p/>
          <a:p>
            <a:r>
              <a:t>The lowest rung involving a model is a single call with a good prompt. Before talking about RAG, fine-tuning, agents, and everything everyone is buzzing about, it is engineering-honest to first understand what a single call can even do, how far it stretches, and where exactly its natural ceiling lies. Because the overwhelming majority of tasks are closed right here, cheaply and predictably, while every climb up the ladder is paid for with growth in cost, latency, and the number of ways to break everything. In this section we will work through four things: why the default is a single call; what Chain-of-thought is and where it helps; why the reasoning the model verbalizes cannot be taken as its real reason; and how to curate the context rather than dumping everything into it. And this is the boundary beyond which the next rung begins.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choosing between RAG, fine-tuning, and agents, let us fix the reference point. The cheapest, most reliable, and most predictable AI architecture is a single model call with a well-composed prompt[1]. A single call — in Lecture 2 this was single-shot inference — has neither external search, nor a loop, nor tools: a prompt in, an answer out, no memory between calls. It has minimum cost, minimum latency, and maximum predictability: no loops that diverge, no retrieval that quietly degrades.</a:t>
            </a:r>
          </a:p>
          <a:p/>
          <a:p>
            <a:r>
              <a:t>Let us fix the boundary that is load-bearing for the whole section: the model knows only what got into the prompt, plus what settled in its weights during training. This is the only source of information available to a single call. Everything that is in neither the prompt nor the weights is unknown to the model, and then it either honestly refuses to answer or generates plausible but ungrounded text. It is precisely this boundary that is the reason RAG appears next, expanding what is "in the prompt," and fine-tuning, expanding what is "in the weights."</a:t>
            </a:r>
          </a:p>
          <a:p/>
          <a:p>
            <a:r>
              <a:t>The default engineering rule: do not complicate the architecture without a reason expressed in the task's requirements. This is not a call for primitivism but a distribution of the burden of proof. By default the architecture is a single call. Any move higher requires an explicit justification: here is a task requirement that a single call does not close, so I add RAG, a tool, or a loop. If no such requirement can be stated, the complexity is technical debt you take on without need.</a:t>
            </a:r>
          </a:p>
          <a:p/>
          <a:p>
            <a:r>
              <a:t>It helps to fix what each climb costs, so that the burden of proof is an itemized list. Adding RAG, you add an indexing pipeline, a vector store, a retrieval component that can silently degrade, and metrics for its quality. Adding tools and an agent loop — external calls that fail and slow down, loops that diverge, a nondeterministic trajectory, and a new attack surface. None of these items appear with a single call. So "a single call by default" is not conservatism but a refusal to pay for infrastructure and failure modes the task does not require.</a:t>
            </a:r>
          </a:p>
          <a:p/>
          <a:p>
            <a:r>
              <a:t>Sources:</a:t>
            </a:r>
          </a:p>
          <a:p>
            <a:r>
              <a:t>[1] Anthropic — Building Effective Agents ("find the simplest") — do not complicate the architecture without a task requirement — distribution of the burden of proof. https://www.anthropic.com/research/building-effective-agents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prompt formula "role plus task plus context" is familiar from the first lecture, and the role is the most frequent first element an engineer writes into the system prompt: "you are an experienced lawyer," "you are a strict editor." The intuition is usually this: the more precise the role, the more competent the answer, as if the model switches into expert mode. This is one of the most persistent myths, and it is worth examining honestly. Mechanically, a role is tokens that appear in the context before the question and participate in all the attention computations discussed in the previous lecture: it does not toggle an expert mode with a switch, but shifts the probability distribution of the next tokens toward text resembling how a holder of that role would have answered in the training data.</a:t>
            </a:r>
          </a:p>
          <a:p/>
          <a:p>
            <a:r>
              <a:t>The key question is whether this shifts factual accuracy[1], not only the delivery. A specially designed study by Zheng and colleagues gave an unambiguous answer: 162 personas, eight expertise domains, 2410 factual questions, four model families — and personas do not improve accuracy compared to an answer with no role at all. A model told "you are a Nobel laureate in physics" does not answer physics more accurately than a model with no role. A separate study shows what a role does affect for real: tone and depth of exposition — how formally and in what detail the topic is developed — but not whether the reported fact is true, and this effect is model-specific. The takeaway for the engineer: a role is a tool for tuning style, not for raising accuracy. Need factual accuracy — a well-built context and, where necessary, grounding in a verifiable source work, not a lucky wording of a role.</a:t>
            </a:r>
          </a:p>
          <a:p/>
          <a:p>
            <a:r>
              <a:t>Sources:</a:t>
            </a:r>
          </a:p>
          <a:p>
            <a:r>
              <a:t>[1] Zheng et al. 2024, Findings of EMNLP — personas do not improve factual accuracy — 162 personas · 8 domains · 2410 factual questions · 4 families → no accuracy gain. https://arxiv.org/abs/2311.10054</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the role is responsible for tone, then the quality of the answer is far more the responsibility of the prompt's structure — how clearly the text of the request separates three different kinds of content: the instruction, that is, what to do; the context, that is, on what basis; and the data, that is, what exactly to work with. A flat prompt, where all of this is fused into a single paragraph of free text, forces the model to guess on its own the boundaries between these roles, and the longer and more heterogeneous the prompt, the higher the price of that ambiguity.</a:t>
            </a:r>
          </a:p>
          <a:p/>
          <a:p>
            <a:r>
              <a:t>The practical tool is delimiters: explicit text markers that separate one kind of content from another. Common variants are XML-like tags, markdown headings, or triple quotes around inserted text. The specific syntax matters less than the fact of separation itself: a model that has been shown explicitly where the instruction ends and the data to be processed begins is less likely to confuse the two. In particular, it is less likely to perceive a fragment of the inserted data as a new command — and this is the same "data vs command" confusion that lies at the root of prompt injection, the attack we will examine in detail in the section on agent security.</a:t>
            </a:r>
          </a:p>
          <a:p/>
          <a:p>
            <a:r>
              <a:t>This is the same engineering principle we will meet with structured output: there the developer sets the model a strict schema for the output, here — a structure for the input. The mechanism is different, but the idea is one: a model works better when it is clearly oriented on what is what, rather than left to infer it from the meaning of the text.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Chain-of-thought, or step-by-step reasoning, is a technique in which the model is asked not to produce the answer at once but to first reason aloud step by step, and only then state the result. Technically this is still a single call: only the prompt and the form of the answer are changed. Look at the worked example about apples: there were 23, seven spoiled, two crates of six were bought. Without step-by-step reasoning the model often produces a plausible but wrong number, because sampling generates the answer token by token and the short path easily slips into an error. With CoT the model produces intermediate computations — 23 minus 7 equals 16; two times six is 12; 16 plus 12 equals 28[1] — and quality on arithmetic and multi-step logic rises noticeably, because each generated token serves as an anchor for attention on the next step. But "CoT almost always improves things" is a misconception: on direct fact retrieval or simple classification, reasoning does not help and can hurt — it lengthens the answer and leads into a plausible error. It is a tool for a class of tasks, not a switch to "make it better."</a:t>
            </a:r>
          </a:p>
          <a:p/>
          <a:p>
            <a:r>
              <a:t>Now the limit of this technique, and it is more important than the technique itself. It is natural to assume that since the model reasons aloud, you can check by that reasoning how it arrived at the answer. This is fundamentally wrong. Faithfulness, the fidelity of the reasoning, is the degree to which the verbalized chain reflects the real factors that influenced the answer. Anthropic measured this directly: models were given a task with a hint that changes the answer, and it was observed whether the model mentions this hint in its reasoning. Claude 3.7 mentioned the actually used hint in about a quarter of cases, DeepSeek R1 — in about two out of five[2]; in the rest the model changed its answer under the influence of the hint but built an invented argument. The conclusion is structural: the chain is generated text, subject to the same mechanics of sampling, produced to be plausible, not to be a faithful protocol of the internal computation. Unfaithfulness is a property of the class, not a bug of a particular model. The practical conclusion and one of the course's through-lines: a human validator checks the result and the facts against an independent source, not the model's self-explanation.</a:t>
            </a:r>
          </a:p>
          <a:p/>
          <a:p>
            <a:r>
              <a:t>Sources:</a:t>
            </a:r>
          </a:p>
          <a:p>
            <a:r>
              <a:t>[1] Wei et al. 2022 — Chain-of-Thought Prompting — step-by-step reasoning raises reliability on arithmetic/multi-step logic. https://arxiv.org/abs/2201.11903</a:t>
            </a:r>
          </a:p>
          <a:p>
            <a:r>
              <a:t>[2] Anthropic — Reasoning Models Don't Always Say What They Think — faithfulness: Claude 3.7 ~25%, DeepSeek R1 ~39% — reasoning is not obliged to reflect the cause. https://www.anthropic.com/research/reasoning-models-dont-say-think [VFY-day-of]</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chain-of-thought is about the form of a single call, then context engineering is about its content. Let us introduce a distinction. Prompt engineering, familiar from Lecture 1, is the wording of a single instruction: role, task, context in the text of the request. Context engineering is a broader and more iterative discipline: curating the whole set of tokens the model sees at inference[3], including system instructions, descriptions of available tools, loaded external data, and message history. The main principle is stated thus: find the smallest set of high-signal tokens that maximizes the probability of the desired outcome.</a:t>
            </a:r>
          </a:p>
          <a:p/>
          <a:p>
            <a:r>
              <a:t>Why is minimal context not an aesthetic but an engineering requirement? Here we need to recall the effect from Lecture 2 that we called there "lost in the middle": a model makes worse use of information that landed in the middle of a long context compared to the beginning and the end. This phenomenon has acquired a second name — context rot: as the number of tokens grows, the accuracy with which the model retrieves the needed information falls. This is exactly what the graph shows: the horizontal axis is how many tokens are in the context, and the farther right along it (the longer the context), the lower the accuracy curve goes. This is the very same phenomenon as "lost in the middle" from Lecture 2, under a new practical name — I make this stitch explicit so the term is not perceived as a new entity. The mechanism is the same: the pairwise links of the attention mechanism grow quadratically with length.</a:t>
            </a:r>
          </a:p>
          <a:p/>
          <a:p>
            <a:r>
              <a:t>The direct consequence: "just put everything into the context" is not a strategy. A large context window gives you the ability to fit a lot of text, but not a guarantee that the model will use that text correctly. And this, looking ahead, is one of the keys to the question "when NOT RAG," which we will examine in Section 2: sometimes the right answer is not to build retrieval infrastructure but to carefully curate a small stable context and reuse it via caching. That is the first practical criterion: if the knowledge corpus is small, stable, and fits in the window — RAG here would add fragility without a gain, and the right answer is simpler than it seems.</a:t>
            </a:r>
          </a:p>
          <a:p/>
          <a:p>
            <a:r>
              <a:t>Sources:</a:t>
            </a:r>
          </a:p>
          <a:p>
            <a:r>
              <a:t>[1] Chroma Research — Context Rot — retrieval accuracy falls as the number of tokens in the context grows. https://research.trychroma.com/context-rot</a:t>
            </a:r>
          </a:p>
          <a:p>
            <a:r>
              <a:t>[2] Liu et al. 2023 — Lost in the Middle — the same "lost in the middle" phenomenon from Lecture 2 — a new term, not a new entity. https://arxiv.org/abs/2307.03172</a:t>
            </a:r>
          </a:p>
          <a:p>
            <a:r>
              <a:t>[3] Anthropic — Effective Context Engineering — minimal high-signal context — an engineering requirement, not an aesthetic. https://www.anthropic.com/engineering/effective-context-engineering-for-ai-agents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gather the whole section on the prompt into one practical tool — a short checklist you can apply to any prompt before its first run. It does not replace the rest of the material but fixes the minimum below which a prompt systematically underperforms. First: a role is set if you need a specific tone or register, and is explicitly not used as a promise of accuracy — if the task requires factual correctness, a role does not solve that task. Second: the task is stated as a concrete verifiable action, not a vague wish. Third: the context contains the minimum necessary, not everything that might come in handy. Fourth: the output format is stated explicitly if the answer must be machine-processed.</a:t>
            </a:r>
          </a:p>
          <a:p/>
          <a:p>
            <a:r>
              <a:t>Fifth: delimiters are placed if the prompt contains more than one kind of content — instruction, context, inserted data. Sixth: examples are added only if the answer format is not obvious from the instruction alone; if the model manages without them, examples merely spend context. Seventh: step-by-step reasoning is turned on only where the task requires multi-step logic, and for direct fact retrieval — it is not needed. Eighth: it is checked that the prompt is no longer than necessary, because every extra paragraph is tokens you have to pay for and that risk sinking in the context. This checklist is not procedure for procedure's sake but a compressed summary of the whole section: a role is not equal to accuracy, structure helps separate inputs, reasoning is a targeted tool, and context is minimal, not maximal.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finished the first section: the default is a single call, it can be strengthened with step-by-step reasoning, but reasoning has a limit of faithfulness, and the context needs to be curated rather than dumped. Now — the next rung of the ladder.</a:t>
            </a:r>
          </a:p>
          <a:p/>
          <a:p>
            <a:r>
              <a:t>A single call with a good prompt runs into a natural boundary: the model knows only what got into its weights during training, plus what you manually put into the context. If the task requires knowledge that is not in the weights — for example, a company's private database — or that changes faster than new model versions come out — for example, current prices or documents — a single call will not handle it. This is where RAG begins: retrieval-augmented generation.</a:t>
            </a:r>
          </a:p>
          <a:p/>
          <a:p>
            <a:r>
              <a:t>In one phrase, the principle is this: before calling the model, the system first retrieves relevant fragments from an external knowledge store, puts them into the context together with the question, and only then does the model generate an answer, grounded in these fragments. In this section we will work through: how RAG is structured in three steps and why its search mechanism is exactly the semantic search from Lecture 2; when RAG is the right choice and when it is not, and why the latter matters more; and how RAG quietly breaks at scale, closing the section back to the Air Canada case from the opening.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 retrieval-augmented generation — is an architecture in which, before calling the model, the system first retrieves relevant fragments from an external store, puts them into the context together with the question, and only then does the model generate an answer grounded in these fragments[1]. Let us introduce a term: retrieval — the stage of searching for and extracting relevant fragments; it is precisely this that distinguishes RAG from "put the document into the prompt manually."</a:t>
            </a:r>
          </a:p>
          <a:p/>
          <a:p>
            <a:r>
              <a:t>The key point: the retrieval mechanism in RAG is exactly that semantic search on embeddings that we built in Lecture 2, and we will not re-explain it. A reminder in one phrase: text is turned into a vector, closeness of vectors means closeness of meaning, so a fragment can be found by the meaning of the question rather than by a word match. RAG builds up three steps. The first is indexing, in advance, offline: the corpus is cut into fragments, each is turned into an embedding and placed into a vector store. The second is retrieval, on the query: the question is turned into an embedding, and by closeness of vectors the k relevant fragments are pulled. The third is grounded generation: the fragments are placed into the context together with the question, the model answers relying on them, and in a good implementation — with a reference to the source.</a:t>
            </a:r>
          </a:p>
          <a:p/>
          <a:p>
            <a:r>
              <a:t>Let us introduce one more term that carries the main load in this section. Grounding — the property of an answer being derived from specific retrieved fragments, rather than composed by the model out of thin air, with the ability to show which fragment each fact was taken from. A good RAG system is designed so that the answer is grounded, and so that to a question for which the retrieved fragments contain no answer, the system says "I don't know" or "see the source," rather than composing one. Let us state it as an engineering invariant: "I don't know" is a correct answer of a RAG system; a plausible answer under irrelevant retrieval is a defect, not "better than nothing." The distinction between "an answer with grounding and a citation" versus "plausible text" will turn out to be central further on and directly explains the Air Canada case.</a:t>
            </a:r>
          </a:p>
          <a:p/>
          <a:p>
            <a:r>
              <a:t>Sources:</a:t>
            </a:r>
          </a:p>
          <a:p>
            <a:r>
              <a:t>[1] Lewis et al. 2020 — Retrieval-Augmented Generation (NeurIPS) — the canonical RAG paper: indexing → retrieval → grounded generation. https://arxiv.org/abs/2005.11401</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RAG is the right choice when there is a strong signal on one or more of the criteria[1] and at the same time there are no blockers from the neighboring "when NOT" criteria. The first criterion: the knowledge is large or growing — the corpus does not fit in the window as a whole, or it does fit, but putting it into every query is expensive and slow. The second: the knowledge changes — documents, prices, regulations update more often than model versions come out; RAG reads the current store at query time, and a new document is available right after indexing. The third: freshness and provenance are needed — the answer must rest on a verifiable source, and you need to show where the fact came from; regulated domains almost always require provenance. The fourth: the database is private — the company's knowledge is not in the weights of a public model.</a:t>
            </a:r>
          </a:p>
          <a:p/>
          <a:p>
            <a:r>
              <a:t>The logic of application matters. A single clear criterion is already a reason to take a look at RAG, but not a reason to build it automatically: before deciding, check the task against the "when NOT" criteria — is there a blocker there. The knowledge is large but does not change and fits in the window — a candidate for a long context, not RAG. The knowledge changes, but the task reduces to returning a fixed value — a candidate for a deterministic lookup. The criteria usually reinforce each other: knowledge that is at once large, changing, requiring provenance, and private — that is exactly the profile RAG is designed for, and the more criteria that converge, the more confident the choice. The formula is short: a strong signal plus the absence of blockers.</a:t>
            </a:r>
          </a:p>
          <a:p/>
          <a:p>
            <a:r>
              <a:t>A worked example we will return to as a checklist walkthrough at the end: a corporate database of thousands of regulations, updated weekly, natural-language questions, a mandatory reference to the source clause. All four criteria converged, and no simpler mechanism closes them jointly, while a check against the "when NOT" criteria overturns nothing. This is a model RAG profile. And a practical observation: RAG's gain over a direct answer is especially large for smaller models — external retrieval compensates for what a smaller model lacks in its weights, so RAG often delivers the needed quality on a cheaper model.</a:t>
            </a:r>
          </a:p>
          <a:p/>
          <a:p>
            <a:r>
              <a:t>Sources:</a:t>
            </a:r>
          </a:p>
          <a:p>
            <a:r>
              <a:t>[1] IBM — RAG vs Fine-Tuning (vendor-neutral) — criteria-for-RAG: large/changes/provenance/private. https://www.ibm.com/think/topics/rag-vs-fine-tuning</a:t>
            </a:r>
          </a:p>
          <a:p>
            <a:r>
              <a:t>[2] U-NIAH — RAG win-rate higher for smaller models — RAG's gain over a direct answer is especially large for smaller models. https://arxiv.org/abs/2503.00353 [VFY-day-of]</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Knowing when RAG is not needed is more valuable than knowing when it is, because RAG is a fashionable architecture, and it is put where it does harm. Three clear "not RAG" criteria[1].</a:t>
            </a:r>
          </a:p>
          <a:p/>
          <a:p>
            <a:r>
              <a:t>First. The corpus fits in the window — a rough guide of the order of under two hundred thousand tokens — and does not change often. The right answer is full-context with prefix caching, not RAG infrastructure. This is simpler, cheaper, and does not introduce the risk of "retrieval pulled the wrong thing": there is no vector store, no indexing pipeline, no retrieval component that can break. RAG here is bought without need.</a:t>
            </a:r>
          </a:p>
          <a:p/>
          <a:p>
            <a:r>
              <a:t>Second. The task is to return a fixed policy or value: a fare, a price, a regulation clause, a rule. If the answer is deterministic and known in advance, the right architecture is a deterministic lookup or a static page, not "retrieval plus generation on top." Generation on top of a fragment always carries the risk that the model will paraphrase, generalize, or make things up — this is exactly what happened in the Air Canada case.</a:t>
            </a:r>
          </a:p>
          <a:p/>
          <a:p>
            <a:r>
              <a:t>The third criterion is often missed. The data is already available directly and live via API, MCP, or search in another system. If the knowledge already sits in an internal service with a REST interface or in a database accessible through MCP — building a separate RAG index on top of it is redundant. RAG exists to give access to knowledge for which there is no direct path; if the path already exists, RAG adds an extra, more fragile, and aging layer. The difference is strategic: a direct tool call returns the data as of the query moment, while a RAG index — as of the last indexing. The signal is simple: if to the question "why doesn't the model just ask system X directly through a tool?" the answer is "indeed, why not," — RAG is not needed.</a:t>
            </a:r>
          </a:p>
          <a:p/>
          <a:p>
            <a:r>
              <a:t>Let us fold it into a rule: RAG is redundant if the corpus fits in the window and is stable, if the task reduces to a fixed value, or if the knowledge is already available live through a tool. Any of the three is met — a signal to stop. And even when none of them triggered and RAG is justified, this does not guarantee it will work well at scale — a separate question.</a:t>
            </a:r>
          </a:p>
          <a:p/>
          <a:p>
            <a:r>
              <a:t>Sources:</a:t>
            </a:r>
          </a:p>
          <a:p>
            <a:r>
              <a:t>[1] Red Hat — RAG vs Fine-Tuning (when not RAG) — corpus fits in the window → full-context+cache; fixed value → lookup; live → API without an index. https://www.redhat.com/en/topics/ai/rag-vs-fine-tuning</a:t>
            </a:r>
          </a:p>
          <a:p>
            <a:r>
              <a:t>[2] McCarthy Tétrault — Air Canada («generation on top of a fixed policy») — a fixed policy → a deterministic lookup, not retrieval+generation. https://www.mccarthy.ca/en/insights/blogs/techlex/moffatt-v-air-canada-misrepresentation-ai-chatbot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main lesson of the section in one phrase: "the system returned something" does not mean "the system returned the right thing"[1,2]. RAG has no signal "I found nothing suitable" — by default it always returns the k nearest fragments, even if they are irrelevant. Then the model honestly does its job: given garbage, it will compose a plausible answer on top of the garbage.</a:t>
            </a:r>
          </a:p>
          <a:p/>
          <a:p>
            <a:r>
              <a:t>This is not a hypothetical risk but a known pattern of RAG engineering — seven failure points are systematized in Barnett et al. (arXiv:2401.05856, 2024). Three classes. Legal-AI pulls "the nearest k" cases; by vector, cases with matching words are close but legally irrelevant — a different jurisdiction, an overturned precedent; the model builds them in as grounding. Vector closeness is closeness of wording, not of applicability. Medical-RAG: a question about one patient retrieves fragments close by symptoms but from other patients; the model combines what clinically cannot be combined. Support bot: worked on hundreds of articles, after growth to thousands the quality quietly sagged — degradation at scale, because there is no "close enough" threshold. The alternative everywhere is not "remove RAG" but make it an observable system: a reference verification set and alerts, chunking along semantic boundaries, hybrid search with re-ranking.</a:t>
            </a:r>
          </a:p>
          <a:p/>
          <a:p>
            <a:r>
              <a:t>Now let us return to Air Canada[3] (the case *Moffatt v. Air Canada*, BC CRT, decision 14.02.2024) — with the section's tools. The bot reported a refund of the difference and referred to a page with the real policy; the policy on the very same page did not allow such a refund. A source of truth existed, was available — but the answer was not derived from it, it was generated as plausible text. This is a model grounding failure: generated text in a role that required a retrieved fact. The correct architecture: for a fixed policy — a deterministic page or lookup; if a dialogue is needed — RAG with strict grounding, a mandatory citation, an explicit "I don't know," and human review. Air Canada is not "the AI hallucinates," it is the decision to put a generative architecture on a deterministic task. A short question for you: RAG returned an answer — how do you know it is right? Only by measurement; by eye, the plausible cannot be told from the correct.</a:t>
            </a:r>
          </a:p>
          <a:p/>
          <a:p>
            <a:r>
              <a:t>Sources:</a:t>
            </a:r>
          </a:p>
          <a:p>
            <a:r>
              <a:t>[1] Barnett et al. 2024 — Seven Failure Points (RAG) — «returned something ≠ returned the right thing»: 7 failure points of RAG engineering. https://arxiv.org/abs/2401.05856</a:t>
            </a:r>
          </a:p>
          <a:p>
            <a:r>
              <a:t>[2] Kore.ai — Seven RAG Engineering Failure Points — legal-AI / medical-RAG / support bot — degradation at scale without observability. https://www.kore.ai/blog/seven-rag-engineering-failure-points</a:t>
            </a:r>
          </a:p>
          <a:p>
            <a:r>
              <a:t>[3] McCarthy Tétrault — Air Canada (grounding failure) — generated text in a role that required a retrieved verified fact. https://www.mccarthy.ca/en/insights/blogs/techlex/moffatt-v-air-canada-misrepresentation-ai-chatbot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previous section we worked through RAG and closed with it one specific class of problems — the problem of knowledge. When a model lacks facts: they are private, or they change faster than new model versions come out, or provenance is needed — we do not retrain the model, we slip the needed documents into the context. We also honestly worked through when RAG is not needed and how it quietly breaks at scale, and closed the section back onto the Air Canada case.</a:t>
            </a:r>
          </a:p>
          <a:p/>
          <a:p>
            <a:r>
              <a:t>But not every problem is a problem of knowledge. It happens that the model has enough facts, but the behavior itself is not satisfactory: it answers in the wrong tone, in the wrong format, does not follow a domain policy, or you need a small cheap model that repeats the behavior of a large one. This is a different class of task, and RAG does not solve it — no matter how many documents you slip in, the tone will not change from that. Here the third tool enters the stage — fine-tuning. And immediately an important note on the structure of the section: the next slide is not criticism and not "when you should not," but a definition. Before working through where fine-tuning has narrowed, where it fails through catastrophic forgetting, and by what criteria to choose between it, RAG, and the prompt, we need to understand equally what it even is and how it fundamentally differs from the two already familiar tools. And we will start with the definition.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saying anything about where fine-tuning has narrowed, where it is dangerous, and by what criteria to choose it, we need to understand equally what it is. Fine-tuning is the continuation of training an already ready, pretrained model[1] on your own data. In Lecture 1, fine-tuning was mentioned in passing as one of the usage types of AI; here it appears in its true role — as an architectural choice, one of the rungs of the same ladder of complexity.</a:t>
            </a:r>
          </a:p>
          <a:p/>
          <a:p>
            <a:r>
              <a:t>The mechanics on the diagram: you take a pretrained model with its general weights, you take your dataset — a set of examples of the behavior you want to obtain — and the fine-tuning process shifts the model's weights toward these examples. The output is already a different model: the same architecture and size, but different numbers inside. This is exactly the key difference for which a separate definition slide is needed. The prompt and RAG do not touch the weights at all: they change only the context, that is, what you feed the model as input right now. The effect of a prompt or a slipped-in RAG fragment lives exactly within the scope of a single request and disappears with the next one. Fine-tuning changes the model itself: the change is built into the weights, is in effect on every request by default, and it is precisely for this reason that it costs more and rolls back harder than anything that changes only the context.</a:t>
            </a:r>
          </a:p>
          <a:p/>
          <a:p>
            <a:r>
              <a:t>An important practical note right away: in practice "fine-tune a model" almost always means not retraining all the weights but parameter-efficient fine-tuning, usually called by the acronym PEFT and most often implemented by the LoRA method. Full fine-tuning of all the weights in 2026 is rare, and in the next slides we will work through why this is so. For now, remember the difference as a formula: the prompt and RAG are "what to show the model," fine-tuning is "change the model itself." In the next slides we will rely on this definition as we work through why in 2026 fine-tuning narrowed to behavior rather than knowledge, and where it turns from a tool into a source of problems.</a:t>
            </a:r>
          </a:p>
          <a:p/>
          <a:p>
            <a:r>
              <a:t>Sources:</a:t>
            </a:r>
          </a:p>
          <a:p>
            <a:r>
              <a:t>[1] IBM — RAG vs Fine-Tuning (fine-tuning changes the weights) — prompt/RAG change the context; fine-tuning changes the model's weights themselves. https://www.ibm.com/think/topics/rag-vs-fine-tuning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phrase "fine-tune a model" for many is associated with updating all the weights — this is full fine-tuning. In 2026 this is almost never what is needed. PEFT, parameter-efficient fine-tuning, is a family of methods in which the base weights are frozen and only a small set of additional parameters, adapters, is trained[1]. The most widespread method is LoRA: small low-rank adapter matrices are added into selected layers, and only they are trained. QLoRA is the same idea on top of a quantized base model, which radically lowers memory requirements.</a:t>
            </a:r>
          </a:p>
          <a:p/>
          <a:p>
            <a:r>
              <a:t>Why PEFT is almost always preferable to full fine-tuning — three reasons, and the third is the most important. First: cheaper and faster — millions of adapter parameters are trained instead of billions of weights; QLoRA allows fine-tuning large models on a single GPU. Second: modularity — the adapters are small, megabytes against gigabytes, and you can keep several adapters for different tasks on one frozen base. Third, the main architectural argument about reliability: the base weights are frozen, physically not overwritten under the new signal, so what the model could do before fine-tuning is largely preserved — the training lives in the small additional adapters. This directly lowers the risk of catastrophic forgetting, to which we will now turn.</a:t>
            </a:r>
          </a:p>
          <a:p/>
          <a:p>
            <a:r>
              <a:t>How widespread LoRA is — not an eyeball estimate but a measurable fact. According to the Hugging Face PEFT team, among 20,834 model cards tagged PEFT, 98.4 percent[3] use LoRA specifically. A caveat is mandatory: this is the share among those already tagged PEFT, not among all fine-tuning — full fine-tuning is tagged less carefully and may not be visible in the sample. Nevertheless, among those who chose the parameter-efficient path, LoRA is practically the no-alternative default. And the boundary: both full FT and PEFT are a change of the weights, unlike RAG, the prompt, and the context, which do not touch the weights. This is the watershed between "place knowledge" — RAG and context — and "encode behavior" — PEFT. In the narrative it is enough: full FT — almost never, PEFT and LoRA — the workhorse of 2026.</a:t>
            </a:r>
          </a:p>
          <a:p/>
          <a:p>
            <a:r>
              <a:t>Sources:</a:t>
            </a:r>
          </a:p>
          <a:p>
            <a:r>
              <a:t>[1] Hu et al. 2021 — LoRA — the base weights are frozen, low-rank adapters are trained. https://arxiv.org/abs/2106.09685</a:t>
            </a:r>
          </a:p>
          <a:p>
            <a:r>
              <a:t>[2] Dettmers et al. 2023 — QLoRA — LoRA on top of a quantized model → fine-tuning on a single GPU. https://arxiv.org/abs/2305.14314</a:t>
            </a:r>
          </a:p>
          <a:p>
            <a:r>
              <a:t>[3] HF PEFT — Beyond LoRA (LoRA 98.4% out of 20,834 cards) — 98.4% of models tagged PEFT use LoRA; caveat: the share among those tagged PEFT. https://huggingface.co/blog/peft-beyond-lora [VFY-day-of]</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previous slide we fixed the definition: fine-tuning changes the weights themselves, whereas the prompt and RAG touch only the context. Relying on this, let us work through its domain of application in 2026. Among engineers the phrasing goes "in 2026 fine-tuning died — RAG and long context solve everything." This is inaccurate. Fine-tuning did not die — it narrowed[1] and stopped being the default setting. It narrowed precisely because it changes the weights: knowledge — facts, documents, everything that changes — lies poorly in the weights and went to RAG and long context, where it can be cited and updated. What stayed with fine-tuning is a narrow but important domain — stable behavior, style, output format, policy adherence, rather than the model's knowledge.</a:t>
            </a:r>
          </a:p>
          <a:p/>
          <a:p>
            <a:r>
              <a:t>Separately and carefully about distillation[2,3], because here there is frequent confusion. Distillation is an independent technique of knowledge transfer and model compression (Hinton, Vinyals, Dean, 2015): a student model learns to imitate the outputs of a teacher model through a separate loss function. Taxonomically it is not a kind of fine-tuning — method surveys place them in different categories. In practice the two techniques are often combined: first the teacher model is fine-tuned for the desired behavior, and then a compact student model is distilled from it. Hold this as "fine-tune teacher, then distillation of student — two separate techniques in tandem," rather than "distillation as a kind of fine-tuning."</a:t>
            </a:r>
          </a:p>
          <a:p/>
          <a:p>
            <a:r>
              <a:t>Hence the what-goes-where criterion. Knowledge changes or provenance is needed — RAG or long context, not fine-tuning: the knowledge will go stale, retraining is expensive, there is a risk of forgetting. You need stable behavior, tone, format, policy — this is fine-tuning in the form of PEFT, not RAG. You need to lower cost on a narrow task — the tandem of fine-tune teacher plus distillation of student. The answer is deterministic and verifiable — ordinary code without AI. In other words, fine-tuning in 2026 is a narrow tool for behavior, format, policy, and efficiency, not a way to teach the model a domain; "teach the domain" in the sense of facts is RAG, in the sense of manner is PEFT, and almost never full fine-tuning.</a:t>
            </a:r>
          </a:p>
          <a:p/>
          <a:p>
            <a:r>
              <a:t>Sources:</a:t>
            </a:r>
          </a:p>
          <a:p>
            <a:r>
              <a:t>[1] BigData Boutique — Fine-Tuning When RAG Isn't Enough — fine-tuning narrowed to behavior/style/format/policy; knowledge → RAG. https://bigdataboutique.com/blog/fine-tuning-llms-when-rag-isnt-enough [VFY-day-of]</a:t>
            </a:r>
          </a:p>
          <a:p>
            <a:r>
              <a:t>[2] Hinton, Vinyals, Dean 2015 — Distilling the Knowledge — distillation is an independent technique, taxonomically NOT a kind of fine-tuning. https://arxiv.org/abs/1503.02531</a:t>
            </a:r>
          </a:p>
          <a:p>
            <a:r>
              <a:t>[3] PEFT survey — a taxonomy of tuning methods — surveys place distillation and fine-tuning in different categories. https://arxiv.org/abs/2403.14608</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introduce the term through a documented failure. Catastrophic forgetting is the degradation of the model's general abilities[1] as a result of narrow aggressive fine-tuning: by training the model to be very good at one narrow task, you can break what it could do before that.</a:t>
            </a:r>
          </a:p>
          <a:p/>
          <a:p>
            <a:r>
              <a:t>How this looks as a case. A team fine-tunes a model on a narrow dataset — for example, classifying tickets into their format. On the target metric there is growth: the model classifies excellently. In parallel, imperceptibly, general abilities sag: reasoning on non-target tasks, following complex instructions. On the graph these are two lines: the solid one going up — the target metric (rises), and the dashed one going down — general abilities (fall imperceptibly). If the team measured only the target metric, the degradation is invisible until the model starts being used on something other than the narrow task. And then "why did it suddenly get worse at reasoning?" turns out to be a consequence of a month-old fine-tuning, for which there are already neither the old weights nor the dataset version. Mechanically: training for a narrow task moves the weights toward it, and the parameters that encoded general abilities are overwritten under aggressive full-FT. This is empirically observed under continual fine-tuning (Luo et al., arXiv:2308.08747, 2023), moreover with a counterintuitive feature: as the model's scale grows, the severity of forgetting tends to increase. "Let's take a bigger model to be more reliable" here works in reverse.</a:t>
            </a:r>
          </a:p>
          <a:p/>
          <a:p>
            <a:r>
              <a:t>Why this belongs in the section on the choice of architecture rather than among curiosities. Forgetting by itself is a manageable risk. What makes it catastrophic is the absence of engineering discipline: there is no evaluation loop that would show degradation on a representative set of general tasks; there is no versioning of the dataset and weights for a rollback. Without an eval loop you will not notice that you broke general abilities until it surfaces in production; without versioning you will not return to a working version. The rule: if there is no eval loop and dataset versioning — do not do fine-tuning. This is not a "risk," it is a criterion: there will be neither a signal of the breakage nor a rollback button. The right alternatives: PEFT, where frozen weights give a lower risk; and for changing knowledge — RAG, not fine-tuning at all.</a:t>
            </a:r>
          </a:p>
          <a:p/>
          <a:p>
            <a:r>
              <a:t>Sources:</a:t>
            </a:r>
          </a:p>
          <a:p>
            <a:r>
              <a:t>[1] Luo et al. 2023 — Catastrophic Forgetting in LLM Continual FT — narrow aggressive FT breaks general abilities; harder as the model's scale grows. https://arxiv.org/abs/2308.08747</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largest section of the lecture, and it is about how AI stops being an interlocutor in a chat window and becomes a component of a system. Up to now we discussed a single call and RAG as a way to get text; here the model gains the ability to return machine-processable data, reach out to external systems, and work in a loop. We will work through the mechanics of the API layer and the standard for connecting tools, then the agent loop itself and the distinction between a workflow and an agent, then — what a real assistant agent is assembled from, where its memory lives, and how all of this breaks. It is here too that the through-line theme of security truly stands up: as soon as the model gains tools, a question appears that a single call did not have — who sees the data at each step and what happens when untrusted content enters the context as a command. This is the section where the price of the wrong choice of architecture is measured not only in money but in leaks.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AI to become part of a system, three mechanisms of the API layer are needed. The first is structured output: a mode in which the model is obliged to return an answer strictly by a given schema, for example JSON, rather than free text. Technically the schema is compiled into a constraint on sampling, so the model cannot produce a structurally invalid answer; the output turns from text that has to be parsed with regexes into data guaranteed to be valid in form. This makes the model embeddable. A subtlety: validity of form is guaranteed, but not of content — a field may be factually wrong. The second is function calling: instead of answering with text, the model can return a request "call tool X with arguments Y," and your code executes the call, not the model. The model only states an intention — this makes it active and will be key for security. The third is prompt caching: reusing the already computed state of an unchanged prefix so as not to recompute it each time; the state is cached, not the text of the answer. This makes the model economically viable at volume and makes full-context for a small stable corpus a real competitor to RAG. None of the three makes the model more reliable or auditable — they expand capabilities without changing the nondeterministic nature, and they do not repeal the rule of the ladder.</a:t>
            </a:r>
          </a:p>
          <a:p/>
          <a:p>
            <a:r>
              <a:t>There remains the question of how a tool connects to the model. Until the end of 2024, each integration solved this in its own way. MCP, the Model Context Protocol, is an open standard for a unified way to connect[1] tools to a model; the metaphor is "USB-C for tools." The essence is in the arithmetic: with N models and M tools, naively you need N times M integrations, and MCP reduces this to N plus M. But here is a critical pivot: standardizing connection does not mean the security of what is connected and even aggravates the trust problem. Every connected tool is code in your environment and a channel through which untrusted text enters the context. "Connect in a minute" and "trust what is connected" are different questions; MCP solved the first and made the second sharper. Ease of connection is not an argument for connecting.</a:t>
            </a:r>
          </a:p>
          <a:p/>
          <a:p>
            <a:r>
              <a:t>Sources:</a:t>
            </a:r>
          </a:p>
          <a:p>
            <a:r>
              <a:t>[1] Anthropic — MCP donation / Agentic AI Foundation (N×M→N+M) — MCP standardizes connection; ease of connection ≠ the security of what is connected. https://www.anthropic.com/news/donating-the-model-context-protocol-and-establishing-of-the-agentic-ai-foundation [VFY-day-of]</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there is everything for the next rung. A single call can reason; RAG pulls knowledge; function calling reaches external systems; MCP standardizes connection. An agent is an architecture in which the model does not make one pass but works in a loop[1]: it plans a step, acts — calls a tool, observes the result, checks whether the goal is reached, and iterates, dynamically determining the sequence itself. The canonical formulation is plan, act, check, repeat; this is the ReAct pattern, alternating reasoning and actions, while Reflexion adds an explicit self-assessment after a failure. This is a "different AI" compared to a single call: there the model answered once, here it directs a process of many steps.</a:t>
            </a:r>
          </a:p>
          <a:p/>
          <a:p>
            <a:r>
              <a:t>Let us work through the loop step by step, because each step is a place of a specific failure mode. Plan: the model states a step based on the goal and history; the failure mode is a myopic or looping plan, the model does not see the accumulated cost and time. Act: a tool is called; the failure mode is the tool failing or returning an error, and if there is no plan for it, a loop begins. Check: the result is assessed; the failure mode is no check or one that reduces to the model's self-assessment. Iterate: the loop repeats; the failure mode is no external limit on iterations, cost, or time. "An agent" is not one abstraction but four steps, each with its own way to break; to design an agent means to design defenses at each of the four.</a:t>
            </a:r>
          </a:p>
          <a:p/>
          <a:p>
            <a:r>
              <a:t>Let me emphasize the element that carries the main through-line load of the course — the check step[2]. And here the lesson about the faithfulness of reasoning returns starkly: the check must not be "the model asked itself and answered itself that everything is fine." Self-assessment is subject to the same unfaithfulness that we saw on the slide about the limit of chain-of-thought — it is an illusion of control: the explanation "I checked" is produced by the same sampling as the answer itself. A reliable check is validation against an external criterion: a schema, a test, an invariant check, a comparison against a source of truth, and in significant decisions — a human validator. Without an external check, the agent loop is a loop that confidently goes in the wrong direction. This is a direct bridge to agent failures.</a:t>
            </a:r>
          </a:p>
          <a:p/>
          <a:p>
            <a:r>
              <a:t>Sources:</a:t>
            </a:r>
          </a:p>
          <a:p>
            <a:r>
              <a:t>[1] Yao et al. 2022 — ReAct (plan→act→check→iterate) — alternating reasoning and actions; each step is a place of failure. https://arxiv.org/abs/2210.03629</a:t>
            </a:r>
          </a:p>
          <a:p>
            <a:r>
              <a:t>[2] Anthropic — Reasoning Models faithfulness (check ≠ self-assessment) — the check step — validation against an external criterion, not the model's self-assessment. https://www.anthropic.com/research/reasoning-models-dont-say-think [VFY-day-of]</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working through how agents break, we need to introduce a distinction that is, for the lecture's main learning goal, one of the most important. Anthropic in "Building Effective Agents" separates two concepts[1] that in everyday use are often conflated. A workflow is a system where the model and tools are orchestrated along paths predefined in code; the sequence of steps is known in advance and hardcoded, the model is called at specific steps but does not decide which steps to do and in what order. An agent is a system where the model dynamically determines its own process; the sequence is not fixed in advance.</a:t>
            </a:r>
          </a:p>
          <a:p/>
          <a:p>
            <a:r>
              <a:t>The distinction is operational and gives a direct choice criterion. The task is predictable, the sequence is known — workflow. Unpredictable, the sequence depends on intermediate results, and the value justifies a multiple increase in cost — agent. Anthropic states the trade-off directly: agentic systems trade latency and cost for quality. Let us translate the criterion into one practical question: can I, in advance, before the run, write out the sequence of steps? If yes, even with known branches — it is a workflow. If the sequence fundamentally depends on intermediate results, and the value justifies the increase in risk — an agent. "Too lazy to formalize" does not make a task unpredictable. This is perhaps the industry's most expensive mistake: building a dynamic agent where a workflow would have sufficed.</a:t>
            </a:r>
          </a:p>
          <a:p/>
          <a:p>
            <a:r>
              <a:t>An important note: the boundary runs not only along the task as a whole but also along what happens inside a specific step — workflow and agent nest inside each other, and this is the norm. An agent at the action step can call a whole workflow as a single tool: a code review agent itself decides what to check, but calls the step "linter, tests, formatting" as a single deterministic subprocess. And vice versa: a claims-processing workflow routes along fixed rules, but delegates the step "figure out a free-form complaint" to a mini-agent. This is not a third architecture but the recognition that the question "workflow or agent" is about a specific place in the system: dynamism is added only where it is needed. The full debate about multi-agents[2] stays in the chapter; in the narrative it is enough: multi-agent by default is not an upgrade.</a:t>
            </a:r>
          </a:p>
          <a:p/>
          <a:p>
            <a:r>
              <a:t>Sources:</a:t>
            </a:r>
          </a:p>
          <a:p>
            <a:r>
              <a:t>[1] Anthropic — Building Effective Agents (workflow vs agent) — workflow = predefined paths; agent = a dynamic process; the trade-off latency/cost↔quality. https://www.anthropic.com/research/building-effective-agents</a:t>
            </a:r>
          </a:p>
          <a:p>
            <a:r>
              <a:t>[2] Cognition — Don't Build Multi-Agents — multi-agent by default is not an upgrade; the fragility of parallel subagents. https://cognition.ai/blog/dont-build-multi-agents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far we have talked about an agent as an abstract loop: plan, act, check, repeat. But a real assistant agent, the one an engineer works with every day, is not a bare loop but a loop plus a harness[1]. A set of additional mechanisms that determine what the agent remembers, what it follows, which procedures it can reuse, whom it can delegate work to, and which external systems it has access to. Further in this section we will repeatedly rely on data from the agent-harness-registry — an independent public registry that tests agent harnesses (memory, skills, subagents, MCP) through live-eval benchmarks on real tasks, rather than through vendor self-reports of capabilities. By its data one can distinguish five typical slots of this harness. The first is memory: what the agent remembers between sessions. The second is instruction-rules: the project's convention files and a progress log. The third is skills, reusable procedures for repeating tasks. The fourth is subagents, delegated sub-agents with their own context window. The fifth is access to external tools through MCP.</a:t>
            </a:r>
          </a:p>
          <a:p/>
          <a:p>
            <a:r>
              <a:t>Before working through each slot separately, let us fix a thesis that rhymes with the central rule of the whole lecture and with the ladder of architectural complexity. Each harness slot is a trade-off between cost, complexity, and fault tolerance, not an upgrade by default. Exactly as one should not climb the ladder of architectures without a requirement of the task, one should not add memory, subagents, or new access to an agent just in case: each added slot carries its own cost — operational complexity, a new failure surface, a new trust boundary — and must answer a concrete, not an abstract, trigger. Next we will walk along this map slot by slot and at each check this thesis.</a:t>
            </a:r>
          </a:p>
          <a:p/>
          <a:p>
            <a:r>
              <a:t>Sources:</a:t>
            </a:r>
          </a:p>
          <a:p>
            <a:r>
              <a:t>[1] agent-harness-registry — the map of agent harness slots — source not confirmed by a canonical URL as of 2026-08-30; Claude Code/Cursor/Aider — vendor sites, verify day-of. [VFY: not confirmed by a canonical URL, present as data from an independent live-eval registry, not as a primary source]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harness slot is memory: what the agent remembers between sessions, as opposed to the context of a single conversation, which lives only while the dialogue is open. The simplest form of memory is a flat file[1]: the agent appends facts, conclusions, a history of decisions to a text log, and on the next startup reads this file whole. This works while the log is small and does not grow uncontrollably. At the other end of the spectrum are specialized vector or graph memory stores. The mem0 system gathers facts about the user and their preferences and reuses them in future sessions. Cognee builds memory on a knowledge graph where facts are connected through an ontology, and retrieval accounts not only for text closeness but for relations between entities. Graphiti and Zep go further — these are temporal knowledge graphs that explicitly track the time a fact is valid and its origin: the system knows when a fact became true, when it went stale, and where it came from.</a:t>
            </a:r>
          </a:p>
          <a:p/>
          <a:p>
            <a:r>
              <a:t>Here a question we already worked through for RAG repeats directly. The same question of knowledge scale that RAG solves for a corpus of documents arises for the agent's own memory. A flat file works while the history is small and stable — a direct parallel to the criterion "the corpus fits in the window." A structured store is needed when the history is large, growing, or requires retrieval by facts — who said what, when, is it still current — rather than just "give me the last messages." The criterion is one and the same, applied to a different object. And symmetrically the ladder rule works: do not give a graph memory store to an agent that has short unconnected sessions and nothing to recall in a structured way — it is the same technical debt without a requirement as RAG for ten articles.</a:t>
            </a:r>
          </a:p>
          <a:p/>
          <a:p>
            <a:r>
              <a:t>Sources:</a:t>
            </a:r>
          </a:p>
          <a:p>
            <a:r>
              <a:t>[1] agent-harness-registry (live-eval) — the spectrum of agent memory — source not confirmed by a canonical URL as of 2026-08-30; a parallel with the RAG scale criterion. [VFY: not confirmed by a canonical URL, present as data from an independent live-eval registry, not as a primary source]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Having memory intuitively seems like a pure improvement — an agent that remembers should be more useful than an agent that starts from scratch every time. Data from the agent-harness-registry, an independent registry[1] that tests systems on real tasks, shows that this is not always so, and sometimes dramatically not so. On the slide the systems are marked with a Tier letter — this is the registry's rating category from A (the best results) to D (the worst) by the sum of live-eval benchmarks; the closer to A, the more stably the system showed itself on the full set of tests. The first case is the Letta system, Tier D. By the registry's data it loses both to the bare model with no memory at all and to a trivial flat file on all fully tested benchmarks: on persistbench the bare model gave 1.000, the flat file 0.833, and Letta only 0.750, while being an order of magnitude slower. Three failure mechanisms were identified: capitulation under pressure, when on a repeated question the system changes an already given correct answer to an uncertain one; verbosity, when a long embellished answer hides the short correct fact; and a fact noticed but not committed to memory. A freshness caveat is mandatory: a version about eighteen months old was tested due to an installer limitation, not due to cutting a corner, so this is an assessment of a specific outdated version.</a:t>
            </a:r>
          </a:p>
          <a:p/>
          <a:p>
            <a:r>
              <a:t>The second case is more important, because it is the best tested system. The Anthropic Memory Tool is strong overall, but even it recorded information loss in four tasks out of twenty-four, that is, in 17 percent: an explicit refusal to record a fact deemed ephemeral; a refusal as "out of scope"; and quiet summarization, when specific facts are imperceptibly absorbed into general categories. The most alarming detail is irreproducibility: the same conversation, submitted twice, produced different behavior. This is not a bug but documented design: the model is asked to apply judgment on what is worth recording, and this judgment produces real, sometimes contradictory failures. The conclusion is one: even for the best memory system there is a measurable tail of losses. "Works well" and "works always" are different statements, and this is the same lesson as the RAG failure at scale and catastrophic forgetting.</a:t>
            </a:r>
          </a:p>
          <a:p/>
          <a:p>
            <a:r>
              <a:t>Sources:</a:t>
            </a:r>
          </a:p>
          <a:p>
            <a:r>
              <a:t>[1] agent-harness-registry (live-eval) — Letta Tier D / Memory Tool 17% tail — source not confirmed by a canonical URL as of 2026-08-30; the numbers are volatile (1.0/0.833/0.750; 17%). [VFY: not confirmed by a canonical URL, present as data from an independent live-eval registry, not as a primary source]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harness slot is the operational layer: the project's instruction files and a task log into which the agent writes its own progress on multi-step work. An instruction file here is a generalized name for a class of convention files where a team records how to build the project, how to test, which patterns to keep to. The intuition is clear: if you write the agent a detailed instruction and keep a log of what was done, quality should rise. Controlled studies show that the intuition diverges noticeably from the measured effect. The first study, the presence paradox[1], is a randomized experiment with three arms: no file, a file generated by the model, a file written by a developer. The key conclusion: the mere presence of a file gave no statistically significant gain in task success, while cost and the number of steps tended to rise. The single exception is meaningful: generated files helped precisely in repositories where there was no other documentation — that is, a file works when it fills a real information gap, rather than duplicating what the model would infer from the code anyway.</a:t>
            </a:r>
          </a:p>
          <a:p/>
          <a:p>
            <a:r>
              <a:t>The second study, Honest Lying, is about self-authored memory: the agent itself writes notes about its conclusions and errors. It turned out that such memory can not help correction but entrench a wrong belief — if the agent early on wrongly recorded the cause of a failure, subsequent attempts rely on it instead of rechecking. The third is a real case, claude-code#51735[2]: a past error was acknowledged in writing in the log, and this did not prevent its repeat twenty-five days later. The synthesis for an engineer: the operational layer is not a magical vaccine against errors and not a ritual by default, but a tool with measured, sometimes modest and counterintuitive effects. The same pattern as a role in the prompt: the common "add X — it gets better" is not confirmed by measurement, and doing X is worth it only where there is a concrete basis.</a:t>
            </a:r>
          </a:p>
          <a:p/>
          <a:p>
            <a:r>
              <a:t>Sources:</a:t>
            </a:r>
          </a:p>
          <a:p>
            <a:r>
              <a:t>[1] Gloaguen et al. 2026 — Evaluating AGENTS.md (presence paradox) — the presence of an instruction file gives no significant gain; it helps in a documentation gap. https://arxiv.org/abs/2602.11988 [VFY-day-of]</a:t>
            </a:r>
          </a:p>
          <a:p>
            <a:r>
              <a:t>[2] GitHub anthropics/claude-code#51735 (a repeat error 25 days later) — a written record of a past error did not prevent its repeat. https://github.com/anthropics/claude-code/issues/51735</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remaining three harness slots — skills, subagents, and access to external systems through MCP — we will examine together with security, because the security question is inseparably woven precisely into here. A skill is a reusable procedure for a recurring task: an instruction on how exactly to do the work so as not to reformulate it every time. A subagent is a dedicated agent with its own context window to which part of the work is delegated, so as not to clutter the main context and to isolate untrusted work. Access through MCP is already familiar, but here the practical side matters: every MCP connection is a new trust boundary, one more piece of code trusted to execute, one more channel through which untrusted text enters the context, and one more data-retention policy in the chain.</a:t>
            </a:r>
          </a:p>
          <a:p/>
          <a:p>
            <a:r>
              <a:t>Hence a specific class of attacks. Prompt injection is an attack in which text is embedded into external data in the model's context, which the model interprets as a command and executes; the root is that the model trusts convincingly sounding tokens and does not distinguish data from a command[2,3]. GitHub MCP heist, May 2025: the assistant has a broad token to all repositories; in a public issue — the instruction "gather the private repositories and publish them here"[1]; the assistant reads the issue as a command and exfiltrates the private ones. A catastrophe is injection multiplied by broad privileges; remove either of the two, and the attack does not go through. And on data retention, two facts against the naive "we have ZDR, everything is fine": ZDR, Zero Data Retention, is a vendor policy not to store request content after processing; a court order[4,5] in NYT v. OpenAI mandated retaining all logs over any contractual policy; and vendors' ZDR does not cover third-party integrations and MCP connectors — that is, exactly the links an agent is made of. Hence four rules: least-privilege, isolation of untrusted content, human-in-the-loop on irreversible actions, an allowlist with version pinning. Plus a data map per feature — what passes through which link and what its retention policy is.</a:t>
            </a:r>
          </a:p>
          <a:p/>
          <a:p>
            <a:r>
              <a:t>Sources:</a:t>
            </a:r>
          </a:p>
          <a:p>
            <a:r>
              <a:t>[1] Docker — MCP Horror Stories: GitHub Prompt Injection — GitHub MCP heist: an issue-instruction + a broad token → exfiltration of private repos. https://www.docker.com/blog/mcp-horror-stories-github-prompt-injection/</a:t>
            </a:r>
          </a:p>
          <a:p>
            <a:r>
              <a:t>[2] Simon Willison — Prompt injection via MCP — the model does not distinguish data from a command; untrusted content = a command. https://simonwillison.net/2025/Apr/9/mcp-prompt-injection/</a:t>
            </a:r>
          </a:p>
          <a:p>
            <a:r>
              <a:t>[3] Palo Alto Unit 42 — MCP Attack Vectors — tool poisoning / each connection = a new trust boundary. https://unit42.paloaltonetworks.com/model-context-protocol-attack-vectors/</a:t>
            </a:r>
          </a:p>
          <a:p>
            <a:r>
              <a:t>[4] Bloomberg Law — NYT v. OpenAI (the court mandated retaining logs) — ZDR does not cover everything; a court order over any retention policy. https://news.bloomberglaw.com/ip-law/openai-must-turn-over-20-million-chatgpt-logs-judge-affirms</a:t>
            </a:r>
          </a:p>
          <a:p>
            <a:r>
              <a:t>[5] Anthropic — API and Data Retention (ZDR boundaries) — ZDR does not cover third-party / MCP connectors — exactly what an agent is made of. https://platform.claude.com/docs/en/build-with-claude/api-and-data-retention [VFY-day-of]</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gather the whole conceptual apparatus of the section — API and MCP, the agent loop, the distinction between a workflow and an agent, the five harness slots — into one practical reference point: how real coding agents of 2026 look through these concepts. We show each tool not through marketing but through the harness frame[1]: what harness it has by the map of five slots. Claude Code — a broad harness: its own memory between sessions, support for instruction files, built-in skills, full-fledged subagents with a separate context window, access to external systems through MCP; almost all slots are filled, which gives capabilities at the price of greater operational complexity. Aider — the opposite point: minimal file simplicity, no developed memory, no subagents, no formal skills; open-source, CLI-first. It demonstrates an important thesis: a thin harness is not an underdeveloped version of a full one but a deliberate working choice for tasks where a broad harness is not needed.</a:t>
            </a:r>
          </a:p>
          <a:p/>
          <a:p>
            <a:r>
              <a:t>Cursor — the third point: not a terminal but a desktop editor with a built-in agent, a VS Code fork. It shows that the harness is not the only axis: the form of integration into the workflow, terminal versus IDE, is a separate architectural decision. OpenHands — a self-hosted autonomous platform with an MIT license, deploys locally or in Docker. By profile — open source, autonomy, MIT license — this is a likely candidate for the tool mentioned by ear as "OpenClaw"; this is a working hypothesis by profile match, not an established fact, and it is worth confirming. The general conclusion of the overview: the difference between real coding agents is not in the quality of the model inside them but in which harness slots are filled and where the agent physically lives. This is a direct application of the whole section map and of the same logic "do not take the most equipped option by default."</a:t>
            </a:r>
          </a:p>
          <a:p/>
          <a:p>
            <a:r>
              <a:t>Sources:</a:t>
            </a:r>
          </a:p>
          <a:p>
            <a:r>
              <a:t>[1] agent-harness-registry — an overview through the harness frame — source not confirmed; Claude Code/Aider/Cursor/OpenHands — vendor sites, verify day-of. [VFY: canonical URL not confirmed, present as data from an independent live-eval registry, not as a primary source]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agent loop has four places of failure; the three classes of failures below are these modes in dated cases, each with a lesson and an alternative. First. A team put an autonomous agent on "sync the orders in the CRM" — a predictable task. The external API hit a rate limit and started returning error 429[1]. The agent, having no branch for 429 in its plan, acted by its nature: plan, call, 429, replan, again — thousands of times an hour; the total about $4,200 over sixty-three hours (postmortem by Sattyam Jain, 2026-04; single-author, numbers rounded, illustrative). The agent constructively understands neither the accumulated cost, nor the time, nor that the actions are identical. The lesson: without hard external limits, "try until it works" is executed literally and to the point of ruin.</a:t>
            </a:r>
          </a:p>
          <a:p/>
          <a:p>
            <a:r>
              <a:t>It is important to name the comparison baseline. An ordinary deterministic retry script with increasing delay solves the same task many times cheaper: got 429, waited a second, two, four, eight, retried a limited number of times — and either it is done, or it quickly reported "couldn't, intervention needed." A few lines of code, seconds to minutes, costs almost nothing. That is, $4,200 is not the price of automating synchronization in general but the price of the wrong choice of architecture for a predictable task. The alternative is twofold: budget gates outside the agent and, at the architecture level, a retry script rather than an agent.</a:t>
            </a:r>
          </a:p>
          <a:p/>
          <a:p>
            <a:r>
              <a:t>Second. In a chain where the failure of any component spoils the result, reliabilities multiply[2]: five steps at 99% give about 95%, ten — about 90%, twenty — about 82%. The reasoning "each step almost always works, therefore so does the chain" is mathematically false. The consequence: improving an individual agent barely moves system reliability, while halving the number of steps gives a comparable effect more cheaply. The lesson: "improve the model" is a weak lever, "fewer hops plus validation between steps" is a strong one. Third. When subtasks are dependent, parallel subagents make conflicting implicit decisions and give an incompatible result. The lesson: a multi-agent[3] by default is not an upgrade; for tasks with dependencies it is worse than a single linear agent. In all three, "a more complex architecture" meant "less reliable," not "more advanced."</a:t>
            </a:r>
          </a:p>
          <a:p/>
          <a:p>
            <a:r>
              <a:t>Sources:</a:t>
            </a:r>
          </a:p>
          <a:p>
            <a:r>
              <a:t>[1] Sattyam Jain 2026 — The Agent That Burned $4,200 in 63 Hours — a loop without limits on HTTP 429; a retry script would solve the task for almost free. https://medium.com/@sattyamjain96/the-agent-that-burned-4-200-in-63-hours-a-production-ai-postmortem-d38fd9586a85 [VFY-day-of]</a:t>
            </a:r>
          </a:p>
          <a:p>
            <a:r>
              <a:t>[2] MindStudio — Reliability Compounding Problem — 5×99%≈95%, 10→90%, 20→82% — reliabilities multiply. https://www.mindstudio.ai/blog/reliability-compounding-problem-ai-agent-stacks</a:t>
            </a:r>
          </a:p>
          <a:p>
            <a:r>
              <a:t>[3] Cognition — Don't Build Multi-Agents (fragility) — dependent subtasks → parallel subagents make conflicting decisions. https://cognition.ai/blog/dont-build-multi-agents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this point we have gone up the ladder from the bottom and examined each rung separately: a single call and its limits; RAG and when it is not needed; fine-tuning, its narrowing and its failure through catastrophic forgetting; the API layer, MCP, the agent loop, the difference between a workflow and an agent, agent failures, and the security of the chain. For each architecture we deliberately examined not only "when it is right" but also "when it fails" and "when the right answer is a completely different tool." That was preparation.</a:t>
            </a:r>
          </a:p>
          <a:p/>
          <a:p>
            <a:r>
              <a:t>Now — the final section, for the sake of which everything else was undertaken. Separate knowledge about RAG, agents, and fine-tuning does not by itself give the lecture's main skill — the skill of choosing with justification. The fifth section gathers everything examined into a single working tool: the ladder of complexity with the rule "climb only for a task requirement," the choice matrix along axes with an explicit lower bound "when not AI at all," an eight-step checklist that folds the ladder and the matrix into a two-minute procedure, and the rule of the human validator. This is the payoff of the central question: by the end of the section, for any task you will be able to name an architecture, give at least two reasons along the axes, indicate at least one condition under which the choice would be different, and say under which signs AI is not needed here at all. And on this same checklist slide you will try to apply the tool yourself — on a new task.</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gather everything we have covered into one structure — the ladder of architectural complexity[1]. Each rung is an architecture we examined. Bottom-up: ordinary code without AI; a single model call with a prompt, possibly with step-by-step reasoning and examples; RAG or context engineering, and for a small stable corpus — long context with caching; a workflow with predefined paths; an agent with a dynamic loop and mandatory limits on budget and iterations; and at the top a multi-agent.</a:t>
            </a:r>
          </a:p>
          <a:p/>
          <a:p>
            <a:r>
              <a:t>The rule for moving along the ladder is the load-bearing rule of the whole lecture: stay on the lowest rung that closes the task's requirements; climb to the next one only for an explicitly stated requirement that the current rung does not close. Each climb is paid for with new failure modes, cost, latency, degraded auditability, and a new attack surface. "Climbed because I could" is technical debt; "climbed because here is a requirement not closed by the rung below" is an engineering decision. Note that the bottom rung is ordinary code without AI: the ladder of AI system architectures begins with "maybe AI is not needed here at all."</a:t>
            </a:r>
          </a:p>
          <a:p/>
          <a:p>
            <a:r>
              <a:t>Let us gather exactly which requirement opens each climb — this is the transition from a ladder-picture to a ladder-tool. Code to a single call: a requirement appeared to process natural language, unstructured input, fuzzy matching, which cannot be expressed with deterministic rules. A single call to RAG: a requirement for knowledge appeared that is not in the weights and that is large, and changing, and requiring provenance, and private simultaneously. To a workflow: the task became multi-step, but the sequence of steps is known in advance. A workflow to an agent: the sequence fundamentally depends on intermediate results such that it cannot be written out in advance, and the task's value justifies the multiplied cost, latency, and loss of auditability. An agent to a multi-agent: the subtasks are broadly parallel, independent, and high-value enough that the gain of parallelism outweighs the multiplied growth of tokens and the fragility of coordination. Each arrow is not an "improvement" but a trade: more capabilities in exchange for cost, latency, auditability, attack surface. An engineer who has this skill can name both sides of the trade, not only the left one.</a:t>
            </a:r>
          </a:p>
          <a:p/>
          <a:p>
            <a:r>
              <a:t>Sources:</a:t>
            </a:r>
          </a:p>
          <a:p>
            <a:r>
              <a:t>[1] Anthropic — Building Effective Agents (the ladder rule) — stay on the lowest rung; each climb is a trade, not an improvement. https://www.anthropic.com/research/building-effective-agents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ladder says "do not climb without need," but does not say along which axes to measure the need. This is given by the decision plan — not a table for summing points but a route of questions that you go through top to bottom for a specific task, stopping at the first that triggers[1]. The first question and the cheapest filter: is the task deterministic and verifiable[2] — a fixed price, a policy, parsing, schema validation, arithmetic, rule-based routing? If yes — ordinary code, stop here, the other questions are not needed. No — does a single call close the task, possibly with step-by-step reasoning? If yes — a prompt. Next the deciding question of regulated domains: must the answer be verifiable against a source? If yes, the further choice must ensure provenance — strict grounding in a source or code, free generation excluded; this is the Air Canada diagnosis.</a:t>
            </a:r>
          </a:p>
          <a:p/>
          <a:p>
            <a:r>
              <a:t>The next questions: the knowledge changes often or provenance is needed — RAG, if not blocked by the "when NOT" criteria; the knowledge is stable and small — long context with a cache. Behavior, tone, format, policy is needed, not facts — fine-tuning in the form of PEFT. The task is multi-step and the sequence is known in advance — a workflow; fundamentally unpredictable and the value justifies the rise in cost — an agent with budget limits. Subtasks broadly parallel, independent, and valuable — a multi-agent, otherwise a single linear agent. And in parallel, at any step: the data is sensitive — a per-feature data map, least-privilege, ZDR or a contract, a human validator. The skill that the main learning goal checks is not to count by the table but to go through the route and name the deciding question for this task. "By the score it came out RAG" is not a justification; "the provenance question is deciding, the answers are legally significant, therefore RAG with strict grounding and a human validator" is a justification. And the bottom strip is the most important line of the lecture: a deterministic task is solved with ordinary code, and Air Canada is the choice of a generative architecture for a task from this bottom strip.</a:t>
            </a:r>
          </a:p>
          <a:p/>
          <a:p>
            <a:r>
              <a:t>Sources:</a:t>
            </a:r>
          </a:p>
          <a:p>
            <a:r>
              <a:t>[1] Anthropic — Building Effective Agents (the choice route) — a route of questions top to bottom; step 1 — a deterministic task → ordinary code, STOP. https://www.anthropic.com/research/building-effective-agents</a:t>
            </a:r>
          </a:p>
          <a:p>
            <a:r>
              <a:t>[2] McCarthy Tétrault — Air Canada (the bottom line of the matrix) — a generative architecture on a deterministic task = a bottom-line error. https://www.mccarthy.ca/en/insights/blogs/techlex/moffatt-v-air-canada-misrepresentation-ai-chatbot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ladder gave a rule for the architecture of the whole system. The same principle must be applied inside a single rung — "agent" — to the question of exactly which harness to equip it with by the map of five slots. This is not a new idea but the same ladder one level down. The default is a thin agent. By the harness registry's data, the starting point for a new assistant agent is one instruction file and flat memory, without subagents, without a complex set of skills, with minimal access to external tools. This is exactly the same default as "a single call" on the ladder of architectures: not because a thin harness is always sufficient, but because the burden of proof lies on complication, not on simplicity.</a:t>
            </a:r>
          </a:p>
          <a:p/>
          <a:p>
            <a:r>
              <a:t>The triggers for complication are explicit, and each answers a concrete question rather than a general "will come in handy." A memory backend instead of a flat file is added when the history has outgrown what fits in the context, or when structured retrieval by facts is needed — this is verbatim the same criterion that determines the transition from a prompt to RAG, only applied to the agent's own history. Subagents are added when a concrete subtask requires a separate context window or isolation of untrusted work; an abstract "let it be there for flexibility" is not a trigger. More access through MCP is added when a concrete task requires a concrete tool, not just in case, because every connection is a new trust boundary. And an important detail: the presence-paradox study directly shows that adding an instruction file as a ritual does not work without a real gap that it fills. Giving the agent everything at once is that very cargo cult the whole ladder works against.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all branches of the ladder where there is generation, one through-line role remains — the human validator. Its function is grounded in two sections of the lecture: the limit of chain-of-thought, where the reasoning can be unfaithful[1], and the agent loop, where the check step cannot be the model's self-assessment. "The model explained why it is right" is not proof of correctness but the same generated text as the answer itself. The boundary of the role is often misunderstood in both directions: it is not "the human rereads every answer" (does not scale) and not "the human looks at whether the reasoning sounds convincing" (the unfaithfulness trap). It is: on significant decisions the result passes a check against a source of truth before it becomes an action; on insignificant ones — a spot audit.</a:t>
            </a:r>
          </a:p>
          <a:p/>
          <a:p>
            <a:r>
              <a:t>So that the role does not remain a slogan, let us break it down along three dimensions. The first is the degree of autonomy: a spectrum from "the agent proposes, the human confirms" to "the agent acts and notifies after the fact"; the higher the autonomy, the more expensive an uncaught error. The second is the scope of trust: reading data — low risk, an error is easy to roll back; changing data — higher; an irreversible action requires a human almost always. The third is continuous monitoring: quality degrades over time imperceptibly, like the quiet degradation of retrieval, so metrics are gathered constantly and there is an alert on deviation, not just a check at the start. The architecture must provide for the point of this check at design time — "the human will look at it somehow later" is not control.</a:t>
            </a:r>
          </a:p>
          <a:p/>
          <a:p>
            <a:r>
              <a:t>This idea is reinforced by the MIT NANDA report on the state of enterprise AI in 2025: about ninety-five percent of enterprise GenAI pilots gave no measurable effect on the financial result. Present the figure as the headline of a report with a methodology, not as a law of nature. The key is not the percentage but the cause: the root is not the quality of the models but a failure of integration; budgets[2] went into flashy showcases, though the return is higher in the boring back office. The lesson for the architect: "launch AI" does not equal "get value"; what decides is architectural-integration discipline — the right rung of the ladder, a measurable narrow task, a human validator — not the most powerful model. Sometimes the right answer is the simplest architecture or non-AI.</a:t>
            </a:r>
          </a:p>
          <a:p/>
          <a:p>
            <a:r>
              <a:t>Sources:</a:t>
            </a:r>
          </a:p>
          <a:p>
            <a:r>
              <a:t>[1] Anthropic — Reasoning Models faithfulness (self-rationale ≠ control) — the human checks the result/facts against a source, not the model's self-explanation. https://www.anthropic.com/research/reasoning-models-dont-say-think [VFY-day-of]</a:t>
            </a:r>
          </a:p>
          <a:p>
            <a:r>
              <a:t>[2] MIT NANDA — State of AI in Business 2025 (~95% of pilots without ROI) — the root — the learning gap and a failure of integration, not the model's quality; a report, not a law. https://fortune.com/2025/08/18/mit-report-95-percent-generative-ai-pilots-at-companies-failing-cfo/ [VFY-day-of]</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Lecture 3 closes the course's overview module, which went in an ascending order: Lecture 1 — what AI is and how a prompt is built; Lecture 2 — why a prompt works: tokenization, embeddings, attention, sampling; Lecture 3 — how to assemble a system out of a model and how to choose which system to assemble. These three lectures are a common foundation; next the course moves to the industry lectures, where AI is applied to concrete subject tasks.</a:t>
            </a:r>
          </a:p>
          <a:p/>
          <a:p>
            <a:r>
              <a:t>This lecture's framework — the ladder of complexity, the choice route, the eight-step checklist, the rule "when not AI," the agent starter kit, the rule of the human validator — is the base for all subsequent lectures, not material that ends with this lecture. In every industry topic the same question will repeat in a new wrapper: here is a subject task — which architecture and why exactly this one, and under what condition the answer would be different. Now you have the apparatus to answer it. A practical piece of advice for the rest of the course: at every industry lecture, hearing "here they apply RAG, an agent, or fine-tuning," mentally run the checklist — does the task requirement really raise you to this rung, or is it inertia.</a:t>
            </a:r>
          </a:p>
          <a:p/>
          <a:p>
            <a:r>
              <a:t>Lecture 4 takes this apparatus and applies it to the first industry topic — AI in software development. There the question "which architecture and why" will meet you again, now on concrete tools and tasks of a developer: the same coding agents we examined through the harness frame — Claude Code, Aider, Cursor, OpenHands — will there be considered from the side of engineering development practice. The assignment — for Seminar 3. The paired seminar "Architectural choice: chat, agent, RAG, API — three cases" is the place for full mastery of the application learning goal. You will apply the eight-step checklist to three cases and for each formulate: the architecture, at least two reasons along the axes, at least one condition under which the choice would be different, and an explicit criterion "here it would be NOT so." Mini-apply task B from the previous slide is a warm-up before the seminar.</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lecture's final slide, set aside for questions. The substantive part of all five sections is finished: we have gone the path from the central question — there is a task and access to a model, which architecture to choose and when the right answer is "not AI" — through the prompt and its limits, RAG, fine-tuning, API with agents and security, to the decision framework. The best time to ask a question is now, while the whole picture is fresh and held in mind as a whole.</a:t>
            </a:r>
          </a:p>
          <a:p/>
          <a:p>
            <a:r>
              <a:t>A few directions along which questions arise most often, to give something to start from. First: the boundary between RAG and fine-tuning on a concrete task — if it is unclear what in your case is "knowledge" and what is "behavior," this is a typical and correct point for a question, because it is precisely here that people most often err in practice. Second: where the boundary "AI is not needed here at all" runs — how on a real task to tell a case requiring ordinary deterministic code from a case where AI is truly justified. Third: the security of the data chain and injections through tools — what of this applies to your current projects. And fourth, organizational: the assignment for Seminar 3 — "Architectural choice: chat, agent, RAG, API, three cases" — where you will apply the eight-step checklist; if something in the wording of the assignment is unclear, this is also a good question to ask now rather than a day before the seminar. The seminar is in a week; additional questions can be sent by email.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 Id="rId4" Type="http://schemas.openxmlformats.org/officeDocument/2006/relationships/hyperlink" Target="https://www.mccarthy.ca/en/insights/blogs/techlex/moffatt-v-air-canada-misrepresentation-ai-chatbot" TargetMode="External"/><Relationship Id="rId5" Type="http://schemas.openxmlformats.org/officeDocument/2006/relationships/hyperlink" Target="https://www.americanbar.org/groups/business_law/resources/business-law-today/2024-february/bc-tribunal-confirms-companies-remain-liable-information-provided-ai-chatbot/"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7.xml"/><Relationship Id="rId4" Type="http://schemas.openxmlformats.org/officeDocument/2006/relationships/hyperlink" Target="https://www.anthropic.com/research/building-effective-agents"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8.xml"/><Relationship Id="rId4" Type="http://schemas.openxmlformats.org/officeDocument/2006/relationships/hyperlink" Target="https://arxiv.org/abs/2311.10054"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hyperlink" Target="https://arxiv.org/abs/2201.11903" TargetMode="External"/><Relationship Id="rId4" Type="http://schemas.openxmlformats.org/officeDocument/2006/relationships/hyperlink" Target="https://www.anthropic.com/research/reasoning-models-dont-say-think"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notesSlide" Target="../notesSlides/notesSlide11.xml"/><Relationship Id="rId5" Type="http://schemas.openxmlformats.org/officeDocument/2006/relationships/hyperlink" Target="https://research.trychroma.com/context-rot" TargetMode="External"/><Relationship Id="rId6" Type="http://schemas.openxmlformats.org/officeDocument/2006/relationships/hyperlink" Target="https://arxiv.org/abs/2307.03172" TargetMode="External"/><Relationship Id="rId7" Type="http://schemas.openxmlformats.org/officeDocument/2006/relationships/hyperlink" Target="https://www.anthropic.com/engineering/effective-context-engineering-for-ai-agents"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notesSlide" Target="../notesSlides/notesSlide14.xml"/><Relationship Id="rId6" Type="http://schemas.openxmlformats.org/officeDocument/2006/relationships/hyperlink" Target="https://arxiv.org/abs/2005.11401"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15.xml"/><Relationship Id="rId4" Type="http://schemas.openxmlformats.org/officeDocument/2006/relationships/hyperlink" Target="https://www.ibm.com/think/topics/rag-vs-fine-tuning" TargetMode="External"/><Relationship Id="rId5" Type="http://schemas.openxmlformats.org/officeDocument/2006/relationships/hyperlink" Target="https://arxiv.org/abs/2503.00353"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notesSlide" Target="../notesSlides/notesSlide16.xml"/><Relationship Id="rId6" Type="http://schemas.openxmlformats.org/officeDocument/2006/relationships/hyperlink" Target="https://www.redhat.com/en/topics/ai/rag-vs-fine-tuning" TargetMode="External"/><Relationship Id="rId7" Type="http://schemas.openxmlformats.org/officeDocument/2006/relationships/hyperlink" Target="https://www.mccarthy.ca/en/insights/blogs/techlex/moffatt-v-air-canada-misrepresentation-ai-chatbot"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17.xml"/><Relationship Id="rId4" Type="http://schemas.openxmlformats.org/officeDocument/2006/relationships/hyperlink" Target="https://arxiv.org/abs/2401.05856" TargetMode="External"/><Relationship Id="rId5" Type="http://schemas.openxmlformats.org/officeDocument/2006/relationships/hyperlink" Target="https://www.kore.ai/blog/seven-rag-engineering-failure-points" TargetMode="External"/><Relationship Id="rId6" Type="http://schemas.openxmlformats.org/officeDocument/2006/relationships/hyperlink" Target="https://www.mccarthy.ca/en/insights/blogs/techlex/moffatt-v-air-canada-misrepresentation-ai-chatbot"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notesSlide" Target="../notesSlides/notesSlide19.xml"/><Relationship Id="rId6" Type="http://schemas.openxmlformats.org/officeDocument/2006/relationships/hyperlink" Target="https://www.ibm.com/think/topics/rag-vs-fine-tunin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hyperlink" Target="https://arxiv.org/abs/2106.09685" TargetMode="External"/><Relationship Id="rId4" Type="http://schemas.openxmlformats.org/officeDocument/2006/relationships/hyperlink" Target="https://arxiv.org/abs/2305.14314" TargetMode="External"/><Relationship Id="rId5" Type="http://schemas.openxmlformats.org/officeDocument/2006/relationships/hyperlink" Target="https://huggingface.co/blog/peft-beyond-lora"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notesSlide" Target="../notesSlides/notesSlide21.xml"/><Relationship Id="rId5" Type="http://schemas.openxmlformats.org/officeDocument/2006/relationships/hyperlink" Target="https://bigdataboutique.com/blog/fine-tuning-llms-when-rag-isnt-enough" TargetMode="External"/><Relationship Id="rId6" Type="http://schemas.openxmlformats.org/officeDocument/2006/relationships/hyperlink" Target="https://arxiv.org/abs/1503.02531" TargetMode="External"/><Relationship Id="rId7" Type="http://schemas.openxmlformats.org/officeDocument/2006/relationships/hyperlink" Target="https://arxiv.org/abs/2403.14608"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22.xml"/><Relationship Id="rId4" Type="http://schemas.openxmlformats.org/officeDocument/2006/relationships/hyperlink" Target="https://arxiv.org/abs/2308.08747"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image" Target="../media/image31.png"/><Relationship Id="rId4" Type="http://schemas.openxmlformats.org/officeDocument/2006/relationships/image" Target="../media/image16.png"/><Relationship Id="rId5" Type="http://schemas.openxmlformats.org/officeDocument/2006/relationships/image" Target="../media/image9.png"/><Relationship Id="rId6" Type="http://schemas.openxmlformats.org/officeDocument/2006/relationships/image" Target="../media/image32.png"/><Relationship Id="rId7" Type="http://schemas.openxmlformats.org/officeDocument/2006/relationships/image" Target="../media/image33.png"/><Relationship Id="rId8" Type="http://schemas.openxmlformats.org/officeDocument/2006/relationships/image" Target="../media/image34.png"/><Relationship Id="rId9" Type="http://schemas.openxmlformats.org/officeDocument/2006/relationships/notesSlide" Target="../notesSlides/notesSlide24.xml"/><Relationship Id="rId10" Type="http://schemas.openxmlformats.org/officeDocument/2006/relationships/hyperlink" Target="https://www.anthropic.com/news/donating-the-model-context-protocol-and-establishing-of-the-agentic-ai-foundation"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hyperlink" Target="https://arxiv.org/abs/2210.03629" TargetMode="External"/><Relationship Id="rId4" Type="http://schemas.openxmlformats.org/officeDocument/2006/relationships/hyperlink" Target="https://www.anthropic.com/research/reasoning-models-dont-say-think"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 Id="rId3" Type="http://schemas.openxmlformats.org/officeDocument/2006/relationships/image" Target="../media/image10.png"/><Relationship Id="rId4" Type="http://schemas.openxmlformats.org/officeDocument/2006/relationships/notesSlide" Target="../notesSlides/notesSlide26.xml"/><Relationship Id="rId5" Type="http://schemas.openxmlformats.org/officeDocument/2006/relationships/hyperlink" Target="https://www.anthropic.com/research/building-effective-agents" TargetMode="External"/><Relationship Id="rId6" Type="http://schemas.openxmlformats.org/officeDocument/2006/relationships/hyperlink" Target="https://cognition.ai/blog/dont-build-multi-agents"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image" Target="../media/image37.png"/><Relationship Id="rId4" Type="http://schemas.openxmlformats.org/officeDocument/2006/relationships/image" Target="../media/image38.png"/><Relationship Id="rId5" Type="http://schemas.openxmlformats.org/officeDocument/2006/relationships/image" Target="../media/image39.png"/><Relationship Id="rId6" Type="http://schemas.openxmlformats.org/officeDocument/2006/relationships/image" Target="../media/image40.png"/><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 Id="rId3" Type="http://schemas.openxmlformats.org/officeDocument/2006/relationships/image" Target="../media/image4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43.png"/><Relationship Id="rId5" Type="http://schemas.openxmlformats.org/officeDocument/2006/relationships/notesSlide" Target="../notesSlides/notesSlide30.xml"/><Relationship Id="rId6" Type="http://schemas.openxmlformats.org/officeDocument/2006/relationships/hyperlink" Target="https://arxiv.org/abs/2602.11988" TargetMode="External"/><Relationship Id="rId7" Type="http://schemas.openxmlformats.org/officeDocument/2006/relationships/hyperlink" Target="https://github.com/anthropics/claude-code/issues/51735"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image" Target="../media/image47.png"/><Relationship Id="rId4" Type="http://schemas.openxmlformats.org/officeDocument/2006/relationships/image" Target="../media/image9.png"/><Relationship Id="rId5" Type="http://schemas.openxmlformats.org/officeDocument/2006/relationships/image" Target="../media/image48.png"/><Relationship Id="rId6" Type="http://schemas.openxmlformats.org/officeDocument/2006/relationships/notesSlide" Target="../notesSlides/notesSlide31.xml"/><Relationship Id="rId7" Type="http://schemas.openxmlformats.org/officeDocument/2006/relationships/hyperlink" Target="https://www.docker.com/blog/mcp-horror-stories-github-prompt-injection/" TargetMode="External"/><Relationship Id="rId8" Type="http://schemas.openxmlformats.org/officeDocument/2006/relationships/hyperlink" Target="https://simonwillison.net/2025/Apr/9/mcp-prompt-injection/" TargetMode="External"/><Relationship Id="rId9" Type="http://schemas.openxmlformats.org/officeDocument/2006/relationships/hyperlink" Target="https://unit42.paloaltonetworks.com/model-context-protocol-attack-vectors/" TargetMode="External"/><Relationship Id="rId10" Type="http://schemas.openxmlformats.org/officeDocument/2006/relationships/hyperlink" Target="https://news.bloomberglaw.com/ip-law/openai-must-turn-over-20-million-chatgpt-logs-judge-affirms" TargetMode="External"/><Relationship Id="rId11" Type="http://schemas.openxmlformats.org/officeDocument/2006/relationships/hyperlink" Target="https://platform.claude.com/docs/en/build-with-claude/api-and-data-retention"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 Id="rId3" Type="http://schemas.openxmlformats.org/officeDocument/2006/relationships/image" Target="../media/image50.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notesSlide" Target="../notesSlides/notesSlide33.xml"/><Relationship Id="rId6" Type="http://schemas.openxmlformats.org/officeDocument/2006/relationships/hyperlink" Target="https://medium.com/@sattyamjain96/the-agent-that-burned-4-200-in-63-hours-a-production-ai-postmortem-d38fd9586a85" TargetMode="External"/><Relationship Id="rId7" Type="http://schemas.openxmlformats.org/officeDocument/2006/relationships/hyperlink" Target="https://www.mindstudio.ai/blog/reliability-compounding-problem-ai-agent-stacks" TargetMode="External"/><Relationship Id="rId8" Type="http://schemas.openxmlformats.org/officeDocument/2006/relationships/hyperlink" Target="https://cognition.ai/blog/dont-build-multi-agents"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5.xml"/><Relationship Id="rId4" Type="http://schemas.openxmlformats.org/officeDocument/2006/relationships/hyperlink" Target="https://www.anthropic.com/research/building-effective-agents"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hyperlink" Target="https://www.anthropic.com/research/building-effective-agents" TargetMode="External"/><Relationship Id="rId4" Type="http://schemas.openxmlformats.org/officeDocument/2006/relationships/hyperlink" Target="https://www.mccarthy.ca/en/insights/blogs/techlex/moffatt-v-air-canada-misrepresentation-ai-chatbot"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45.png"/><Relationship Id="rId4" Type="http://schemas.openxmlformats.org/officeDocument/2006/relationships/image" Target="../media/image47.png"/><Relationship Id="rId5" Type="http://schemas.openxmlformats.org/officeDocument/2006/relationships/image" Target="../media/image9.png"/><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image" Target="../media/image56.png"/><Relationship Id="rId4" Type="http://schemas.openxmlformats.org/officeDocument/2006/relationships/notesSlide" Target="../notesSlides/notesSlide38.xml"/><Relationship Id="rId5" Type="http://schemas.openxmlformats.org/officeDocument/2006/relationships/hyperlink" Target="https://www.anthropic.com/research/reasoning-models-dont-say-think" TargetMode="External"/><Relationship Id="rId6" Type="http://schemas.openxmlformats.org/officeDocument/2006/relationships/hyperlink" Target="https://fortune.com/2025/08/18/mit-report-95-percent-generative-ai-pilots-at-companies-failing-cfo/"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58.png"/><Relationship Id="rId4" Type="http://schemas.openxmlformats.org/officeDocument/2006/relationships/image" Target="../media/image59.png"/><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1-aircanada_6.05x7.50.png"/>
          <p:cNvPicPr>
            <a:picLocks noChangeAspect="1"/>
          </p:cNvPicPr>
          <p:nvPr/>
        </p:nvPicPr>
        <p:blipFill>
          <a:blip r:embed="rId2"/>
          <a:stretch>
            <a:fillRect/>
          </a:stretch>
        </p:blipFill>
        <p:spPr>
          <a:xfrm>
            <a:off x="0" y="0"/>
            <a:ext cx="5532120" cy="6858000"/>
          </a:xfrm>
          <a:prstGeom prst="rect">
            <a:avLst/>
          </a:prstGeom>
        </p:spPr>
      </p:pic>
      <p:sp>
        <p:nvSpPr>
          <p:cNvPr id="3" name="Rectangle 2"/>
          <p:cNvSpPr/>
          <p:nvPr/>
        </p:nvSpPr>
        <p:spPr>
          <a:xfrm>
            <a:off x="0" y="6492240"/>
            <a:ext cx="3566160" cy="365760"/>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28016" y="6510528"/>
            <a:ext cx="3383280" cy="310896"/>
          </a:xfrm>
          <a:prstGeom prst="rect">
            <a:avLst/>
          </a:prstGeom>
          <a:noFill/>
        </p:spPr>
        <p:txBody>
          <a:bodyPr wrap="square" lIns="0" rIns="0" tIns="0" bIns="0" anchor="ctr">
            <a:spAutoFit/>
          </a:bodyPr>
          <a:lstStyle/>
          <a:p>
            <a:pPr algn="l">
              <a:lnSpc>
                <a:spcPct val="115000"/>
              </a:lnSpc>
            </a:pPr>
            <a:r>
              <a:rPr sz="1050" b="0" i="1">
                <a:solidFill>
                  <a:srgbClr val="FFFFFF"/>
                </a:solidFill>
                <a:latin typeface="Arial"/>
              </a:rPr>
              <a:t>Photo: Air Canada Boeing 787 · Wikimedia · CC-BY-SA</a:t>
            </a:r>
          </a:p>
        </p:txBody>
      </p:sp>
      <p:sp>
        <p:nvSpPr>
          <p:cNvPr id="5" name="TextBox 4"/>
          <p:cNvSpPr txBox="1"/>
          <p:nvPr/>
        </p:nvSpPr>
        <p:spPr>
          <a:xfrm>
            <a:off x="5897880" y="502920"/>
            <a:ext cx="5806440" cy="1417320"/>
          </a:xfrm>
          <a:prstGeom prst="rect">
            <a:avLst/>
          </a:prstGeom>
          <a:noFill/>
        </p:spPr>
        <p:txBody>
          <a:bodyPr wrap="square" lIns="0" rIns="0" tIns="0" bIns="0" anchor="t">
            <a:spAutoFit/>
          </a:bodyPr>
          <a:lstStyle/>
          <a:p>
            <a:pPr algn="l">
              <a:lnSpc>
                <a:spcPct val="106000"/>
              </a:lnSpc>
            </a:pPr>
            <a:r>
              <a:rPr sz="3000" b="1" i="0">
                <a:solidFill>
                  <a:srgbClr val="21295C"/>
                </a:solidFill>
                <a:latin typeface="Arial"/>
              </a:rPr>
              <a:t>The chatbot invented a policy — the company pays.</a:t>
            </a:r>
          </a:p>
        </p:txBody>
      </p:sp>
      <p:sp>
        <p:nvSpPr>
          <p:cNvPr id="6" name="TextBox 5"/>
          <p:cNvSpPr txBox="1"/>
          <p:nvPr/>
        </p:nvSpPr>
        <p:spPr>
          <a:xfrm>
            <a:off x="5897880" y="1956816"/>
            <a:ext cx="5806440" cy="329184"/>
          </a:xfrm>
          <a:prstGeom prst="rect">
            <a:avLst/>
          </a:prstGeom>
          <a:noFill/>
        </p:spPr>
        <p:txBody>
          <a:bodyPr wrap="square" lIns="0" rIns="0" tIns="0" bIns="0" anchor="t">
            <a:spAutoFit/>
          </a:bodyPr>
          <a:lstStyle/>
          <a:p>
            <a:pPr algn="l">
              <a:lnSpc>
                <a:spcPct val="115000"/>
              </a:lnSpc>
            </a:pPr>
            <a:r>
              <a:rPr sz="1400" b="1" i="0">
                <a:solidFill>
                  <a:srgbClr val="028090"/>
                </a:solidFill>
                <a:latin typeface="Arial"/>
              </a:rPr>
              <a:t>Moffatt v. Air Canada · BC tribunal · 02/14/2024</a:t>
            </a:r>
          </a:p>
        </p:txBody>
      </p:sp>
      <p:sp>
        <p:nvSpPr>
          <p:cNvPr id="7" name="Oval 6"/>
          <p:cNvSpPr/>
          <p:nvPr/>
        </p:nvSpPr>
        <p:spPr>
          <a:xfrm>
            <a:off x="5897880" y="24597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97880" y="2459736"/>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1</a:t>
            </a:r>
          </a:p>
        </p:txBody>
      </p:sp>
      <p:sp>
        <p:nvSpPr>
          <p:cNvPr id="9" name="TextBox 8"/>
          <p:cNvSpPr txBox="1"/>
          <p:nvPr/>
        </p:nvSpPr>
        <p:spPr>
          <a:xfrm>
            <a:off x="6373368" y="2432304"/>
            <a:ext cx="5349240" cy="768096"/>
          </a:xfrm>
          <a:prstGeom prst="rect">
            <a:avLst/>
          </a:prstGeom>
          <a:noFill/>
        </p:spPr>
        <p:txBody>
          <a:bodyPr wrap="square" lIns="0" rIns="0" tIns="0" bIns="0" anchor="ctr">
            <a:spAutoFit/>
          </a:bodyPr>
          <a:lstStyle/>
          <a:p>
            <a:pPr algn="l">
              <a:lnSpc>
                <a:spcPct val="114000"/>
              </a:lnSpc>
            </a:pPr>
            <a:r>
              <a:rPr sz="1400" b="0" i="0">
                <a:solidFill>
                  <a:srgbClr val="21295C"/>
                </a:solidFill>
                <a:latin typeface="Arial"/>
              </a:rPr>
              <a:t>A passenger asked the chatbot about a bereavement fare</a:t>
            </a:r>
          </a:p>
        </p:txBody>
      </p:sp>
      <p:sp>
        <p:nvSpPr>
          <p:cNvPr id="10" name="Oval 9"/>
          <p:cNvSpPr/>
          <p:nvPr/>
        </p:nvSpPr>
        <p:spPr>
          <a:xfrm>
            <a:off x="5897880" y="328269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97880" y="3282696"/>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2</a:t>
            </a:r>
          </a:p>
        </p:txBody>
      </p:sp>
      <p:sp>
        <p:nvSpPr>
          <p:cNvPr id="12" name="TextBox 11"/>
          <p:cNvSpPr txBox="1"/>
          <p:nvPr/>
        </p:nvSpPr>
        <p:spPr>
          <a:xfrm>
            <a:off x="6373368" y="3255264"/>
            <a:ext cx="5349240" cy="768096"/>
          </a:xfrm>
          <a:prstGeom prst="rect">
            <a:avLst/>
          </a:prstGeom>
          <a:noFill/>
        </p:spPr>
        <p:txBody>
          <a:bodyPr wrap="square" lIns="0" rIns="0" tIns="0" bIns="0" anchor="ctr">
            <a:spAutoFit/>
          </a:bodyPr>
          <a:lstStyle/>
          <a:p>
            <a:pPr algn="l">
              <a:lnSpc>
                <a:spcPct val="114000"/>
              </a:lnSpc>
            </a:pPr>
            <a:r>
              <a:rPr sz="1400" b="0" i="0">
                <a:solidFill>
                  <a:srgbClr val="21295C"/>
                </a:solidFill>
                <a:latin typeface="Arial"/>
              </a:rPr>
              <a:t>Bot: “buy at full price, get the difference back within 90 days”</a:t>
            </a:r>
          </a:p>
        </p:txBody>
      </p:sp>
      <p:sp>
        <p:nvSpPr>
          <p:cNvPr id="13" name="Oval 12"/>
          <p:cNvSpPr/>
          <p:nvPr/>
        </p:nvSpPr>
        <p:spPr>
          <a:xfrm>
            <a:off x="5897880" y="410565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897880" y="4105656"/>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3</a:t>
            </a:r>
          </a:p>
        </p:txBody>
      </p:sp>
      <p:sp>
        <p:nvSpPr>
          <p:cNvPr id="15" name="TextBox 14"/>
          <p:cNvSpPr txBox="1"/>
          <p:nvPr/>
        </p:nvSpPr>
        <p:spPr>
          <a:xfrm>
            <a:off x="6373368" y="4078224"/>
            <a:ext cx="5349240" cy="768096"/>
          </a:xfrm>
          <a:prstGeom prst="rect">
            <a:avLst/>
          </a:prstGeom>
          <a:noFill/>
        </p:spPr>
        <p:txBody>
          <a:bodyPr wrap="square" lIns="0" rIns="0" tIns="0" bIns="0" anchor="ctr">
            <a:spAutoFit/>
          </a:bodyPr>
          <a:lstStyle/>
          <a:p>
            <a:pPr algn="l">
              <a:lnSpc>
                <a:spcPct val="114000"/>
              </a:lnSpc>
            </a:pPr>
            <a:r>
              <a:rPr sz="1400" b="0" i="0">
                <a:solidFill>
                  <a:srgbClr val="21295C"/>
                </a:solidFill>
                <a:latin typeface="Arial"/>
              </a:rPr>
              <a:t>The real policy did not allow this — and it was on the very page the bot linked to</a:t>
            </a:r>
          </a:p>
        </p:txBody>
      </p:sp>
      <p:sp>
        <p:nvSpPr>
          <p:cNvPr id="16" name="Oval 15"/>
          <p:cNvSpPr/>
          <p:nvPr/>
        </p:nvSpPr>
        <p:spPr>
          <a:xfrm>
            <a:off x="5897880" y="4928616"/>
            <a:ext cx="310896" cy="31089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897880" y="4928616"/>
            <a:ext cx="310896" cy="310896"/>
          </a:xfrm>
          <a:prstGeom prst="rect">
            <a:avLst/>
          </a:prstGeom>
          <a:noFill/>
        </p:spPr>
        <p:txBody>
          <a:bodyPr wrap="square" lIns="0" rIns="0" tIns="0" bIns="0" anchor="ctr">
            <a:spAutoFit/>
          </a:bodyPr>
          <a:lstStyle/>
          <a:p>
            <a:pPr algn="ctr">
              <a:lnSpc>
                <a:spcPct val="115000"/>
              </a:lnSpc>
            </a:pPr>
            <a:r>
              <a:rPr sz="1400" b="1" i="0">
                <a:solidFill>
                  <a:srgbClr val="21295C"/>
                </a:solidFill>
                <a:latin typeface="Arial"/>
              </a:rPr>
              <a:t>4</a:t>
            </a:r>
          </a:p>
        </p:txBody>
      </p:sp>
      <p:sp>
        <p:nvSpPr>
          <p:cNvPr id="18" name="TextBox 17"/>
          <p:cNvSpPr txBox="1"/>
          <p:nvPr/>
        </p:nvSpPr>
        <p:spPr>
          <a:xfrm>
            <a:off x="6373368" y="4901184"/>
            <a:ext cx="5349240" cy="768096"/>
          </a:xfrm>
          <a:prstGeom prst="rect">
            <a:avLst/>
          </a:prstGeom>
          <a:noFill/>
        </p:spPr>
        <p:txBody>
          <a:bodyPr wrap="square" lIns="0" rIns="0" tIns="0" bIns="0" anchor="ctr">
            <a:spAutoFit/>
          </a:bodyPr>
          <a:lstStyle/>
          <a:p>
            <a:pPr algn="l">
              <a:lnSpc>
                <a:spcPct val="114000"/>
              </a:lnSpc>
            </a:pPr>
            <a:r>
              <a:rPr sz="1400" b="0" i="0">
                <a:solidFill>
                  <a:srgbClr val="21295C"/>
                </a:solidFill>
                <a:latin typeface="Arial"/>
              </a:rPr>
              <a:t>Tribunal: “the bot is not a separate legal entity” → the company refunds the difference</a:t>
            </a:r>
            <a:r>
              <a:rPr sz="728" baseline="30000" b="0" i="1">
                <a:latin typeface="Arial"/>
                <a:cs typeface="Arial"/>
                <a:ea typeface="Arial"/>
                <a:solidFill>
                  <a:srgbClr val="1C7293"/>
                </a:solidFill>
              </a:rPr>
              <a:t>[1,2]</a:t>
            </a:r>
          </a:p>
        </p:txBody>
      </p:sp>
      <p:sp>
        <p:nvSpPr>
          <p:cNvPr id="19" name="Rounded Rectangle 18"/>
          <p:cNvSpPr/>
          <p:nvPr/>
        </p:nvSpPr>
        <p:spPr>
          <a:xfrm>
            <a:off x="5897880" y="5797296"/>
            <a:ext cx="580644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099048" y="5852159"/>
            <a:ext cx="5404103" cy="731520"/>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This is not a model glitch — it is the wrong architecture choice for the task. This whole lecture is about that class of error.</a:t>
            </a:r>
          </a:p>
        </p:txBody>
      </p:sp>
      <p:sp>
        <p:nvSpPr>
          <p:cNvPr id="21" name="TextBox 20"/>
          <p:cNvSpPr txBox="1"/>
          <p:nvPr/>
        </p:nvSpPr>
        <p:spPr>
          <a:xfrm>
            <a:off x="5897880" y="6620256"/>
            <a:ext cx="580644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McCarthy Tétrault — Moffatt v. Air Canada (BC CRT, 14.02.2024)</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ABA Business Law Today — companies are liable for their AI chatbot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6949440" y="1051560"/>
            <a:ext cx="5212080" cy="4572000"/>
          </a:xfrm>
          <a:prstGeom prst="rect">
            <a:avLst/>
          </a:prstGeom>
          <a:noFill/>
        </p:spPr>
        <p:txBody>
          <a:bodyPr wrap="square" lIns="0" rIns="0" tIns="0" bIns="0" anchor="t">
            <a:spAutoFit/>
          </a:bodyPr>
          <a:lstStyle/>
          <a:p>
            <a:pPr algn="l">
              <a:lnSpc>
                <a:spcPct val="100000"/>
              </a:lnSpc>
            </a:pPr>
            <a:r>
              <a:rPr sz="30000" b="1" i="0">
                <a:solidFill>
                  <a:srgbClr val="D9E2EC"/>
                </a:solidFill>
                <a:latin typeface="Arial"/>
              </a:rPr>
              <a:t>03</a:t>
            </a:r>
          </a:p>
        </p:txBody>
      </p:sp>
      <p:sp>
        <p:nvSpPr>
          <p:cNvPr id="3" name="TextBox 2"/>
          <p:cNvSpPr txBox="1"/>
          <p:nvPr/>
        </p:nvSpPr>
        <p:spPr>
          <a:xfrm>
            <a:off x="685800" y="1234440"/>
            <a:ext cx="6035040" cy="457200"/>
          </a:xfrm>
          <a:prstGeom prst="rect">
            <a:avLst/>
          </a:prstGeom>
          <a:noFill/>
        </p:spPr>
        <p:txBody>
          <a:bodyPr wrap="square" lIns="0" rIns="0" tIns="0" bIns="0" anchor="t">
            <a:spAutoFit/>
          </a:bodyPr>
          <a:lstStyle/>
          <a:p>
            <a:pPr algn="l">
              <a:lnSpc>
                <a:spcPct val="115000"/>
              </a:lnSpc>
            </a:pPr>
            <a:r>
              <a:rPr sz="1800" b="1" i="0">
                <a:solidFill>
                  <a:srgbClr val="028090"/>
                </a:solidFill>
                <a:latin typeface="Arial"/>
              </a:rPr>
              <a:t>LECTURE 3</a:t>
            </a:r>
          </a:p>
        </p:txBody>
      </p:sp>
      <p:sp>
        <p:nvSpPr>
          <p:cNvPr id="4" name="Rectangle 3"/>
          <p:cNvSpPr/>
          <p:nvPr/>
        </p:nvSpPr>
        <p:spPr>
          <a:xfrm>
            <a:off x="713232" y="1755648"/>
            <a:ext cx="640080" cy="457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148840"/>
            <a:ext cx="7040880" cy="2468880"/>
          </a:xfrm>
          <a:prstGeom prst="rect">
            <a:avLst/>
          </a:prstGeom>
          <a:noFill/>
        </p:spPr>
        <p:txBody>
          <a:bodyPr wrap="square" lIns="0" rIns="0" tIns="0" bIns="0" anchor="t">
            <a:spAutoFit/>
          </a:bodyPr>
          <a:lstStyle/>
          <a:p>
            <a:pPr algn="l">
              <a:lnSpc>
                <a:spcPct val="108000"/>
              </a:lnSpc>
            </a:pPr>
            <a:r>
              <a:rPr sz="4600" b="1" i="0">
                <a:solidFill>
                  <a:srgbClr val="21295C"/>
                </a:solidFill>
                <a:latin typeface="Arial"/>
              </a:rPr>
              <a:t>AI-system architectures:
agents, RAG, API</a:t>
            </a:r>
          </a:p>
        </p:txBody>
      </p:sp>
      <p:sp>
        <p:nvSpPr>
          <p:cNvPr id="6" name="Rectangle 5"/>
          <p:cNvSpPr/>
          <p:nvPr/>
        </p:nvSpPr>
        <p:spPr>
          <a:xfrm>
            <a:off x="713232" y="4828032"/>
            <a:ext cx="45720" cy="51206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4809744"/>
            <a:ext cx="6766560" cy="566928"/>
          </a:xfrm>
          <a:prstGeom prst="rect">
            <a:avLst/>
          </a:prstGeom>
          <a:noFill/>
        </p:spPr>
        <p:txBody>
          <a:bodyPr wrap="square" lIns="0" rIns="0" tIns="0" bIns="0" anchor="t">
            <a:spAutoFit/>
          </a:bodyPr>
          <a:lstStyle/>
          <a:p>
            <a:pPr algn="l">
              <a:lnSpc>
                <a:spcPct val="118000"/>
              </a:lnSpc>
            </a:pPr>
            <a:r>
              <a:rPr sz="1900" b="0" i="0">
                <a:solidFill>
                  <a:srgbClr val="065A82"/>
                </a:solidFill>
                <a:latin typeface="Arial"/>
              </a:rPr>
              <a:t>Which architecture to choose for the task —
and when the right answer is “no AI”</a:t>
            </a:r>
          </a:p>
        </p:txBody>
      </p:sp>
      <p:sp>
        <p:nvSpPr>
          <p:cNvPr id="8" name="TextBox 7"/>
          <p:cNvSpPr txBox="1"/>
          <p:nvPr/>
        </p:nvSpPr>
        <p:spPr>
          <a:xfrm>
            <a:off x="685800" y="6172200"/>
            <a:ext cx="6400800" cy="365760"/>
          </a:xfrm>
          <a:prstGeom prst="rect">
            <a:avLst/>
          </a:prstGeom>
          <a:noFill/>
        </p:spPr>
        <p:txBody>
          <a:bodyPr wrap="square" lIns="0" rIns="0" tIns="0" bIns="0" anchor="t">
            <a:spAutoFit/>
          </a:bodyPr>
          <a:lstStyle/>
          <a:p>
            <a:pPr algn="l">
              <a:lnSpc>
                <a:spcPct val="115000"/>
              </a:lnSpc>
            </a:pPr>
            <a:r>
              <a:rPr sz="1300" b="0" i="1">
                <a:solidFill>
                  <a:srgbClr val="1C7293"/>
                </a:solidFill>
                <a:latin typeface="Arial"/>
              </a:rPr>
              <a:t>Year 3, IU6 · Module 1, overview lecture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Lecture route — six sections.</a:t>
            </a:r>
          </a:p>
        </p:txBody>
      </p:sp>
      <p:sp>
        <p:nvSpPr>
          <p:cNvPr id="3" name="TextBox 2"/>
          <p:cNvSpPr txBox="1"/>
          <p:nvPr/>
        </p:nvSpPr>
        <p:spPr>
          <a:xfrm>
            <a:off x="502920" y="1115568"/>
            <a:ext cx="11201400" cy="384048"/>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One keystone line: choosing the architecture for the task — and when the right answer is “no AI”.</a:t>
            </a:r>
          </a:p>
        </p:txBody>
      </p:sp>
      <p:sp>
        <p:nvSpPr>
          <p:cNvPr id="4" name="Rounded Rectangle 3"/>
          <p:cNvSpPr/>
          <p:nvPr/>
        </p:nvSpPr>
        <p:spPr>
          <a:xfrm>
            <a:off x="502920" y="1737360"/>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22376" y="1956815"/>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1956815"/>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0</a:t>
            </a:r>
          </a:p>
        </p:txBody>
      </p:sp>
      <p:pic>
        <p:nvPicPr>
          <p:cNvPr id="7" name="Picture 6" descr="gavel-mid.png"/>
          <p:cNvPicPr>
            <a:picLocks noChangeAspect="1"/>
          </p:cNvPicPr>
          <p:nvPr/>
        </p:nvPicPr>
        <p:blipFill>
          <a:blip r:embed="rId2"/>
          <a:stretch>
            <a:fillRect/>
          </a:stretch>
        </p:blipFill>
        <p:spPr>
          <a:xfrm>
            <a:off x="3438144" y="1975104"/>
            <a:ext cx="457200" cy="457200"/>
          </a:xfrm>
          <a:prstGeom prst="rect">
            <a:avLst/>
          </a:prstGeom>
        </p:spPr>
      </p:pic>
      <p:sp>
        <p:nvSpPr>
          <p:cNvPr id="8" name="TextBox 7"/>
          <p:cNvSpPr txBox="1"/>
          <p:nvPr/>
        </p:nvSpPr>
        <p:spPr>
          <a:xfrm>
            <a:off x="722376" y="2633472"/>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Opening</a:t>
            </a:r>
          </a:p>
        </p:txBody>
      </p:sp>
      <p:sp>
        <p:nvSpPr>
          <p:cNvPr id="9" name="TextBox 8"/>
          <p:cNvSpPr txBox="1"/>
          <p:nvPr/>
        </p:nvSpPr>
        <p:spPr>
          <a:xfrm>
            <a:off x="722376" y="3182112"/>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Air Canada: the wrong architecture costs money</a:t>
            </a:r>
          </a:p>
        </p:txBody>
      </p:sp>
      <p:sp>
        <p:nvSpPr>
          <p:cNvPr id="10" name="Rounded Rectangle 9"/>
          <p:cNvSpPr/>
          <p:nvPr/>
        </p:nvSpPr>
        <p:spPr>
          <a:xfrm>
            <a:off x="4297680" y="1737360"/>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517136" y="1956815"/>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7136" y="1956815"/>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1</a:t>
            </a:r>
          </a:p>
        </p:txBody>
      </p:sp>
      <p:pic>
        <p:nvPicPr>
          <p:cNvPr id="13" name="Picture 12" descr="message-circle-mid.png"/>
          <p:cNvPicPr>
            <a:picLocks noChangeAspect="1"/>
          </p:cNvPicPr>
          <p:nvPr/>
        </p:nvPicPr>
        <p:blipFill>
          <a:blip r:embed="rId3"/>
          <a:stretch>
            <a:fillRect/>
          </a:stretch>
        </p:blipFill>
        <p:spPr>
          <a:xfrm>
            <a:off x="7232904" y="1975104"/>
            <a:ext cx="457200" cy="457200"/>
          </a:xfrm>
          <a:prstGeom prst="rect">
            <a:avLst/>
          </a:prstGeom>
        </p:spPr>
      </p:pic>
      <p:sp>
        <p:nvSpPr>
          <p:cNvPr id="14" name="TextBox 13"/>
          <p:cNvSpPr txBox="1"/>
          <p:nvPr/>
        </p:nvSpPr>
        <p:spPr>
          <a:xfrm>
            <a:off x="4517136" y="2633472"/>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The prompt and its limits</a:t>
            </a:r>
          </a:p>
        </p:txBody>
      </p:sp>
      <p:sp>
        <p:nvSpPr>
          <p:cNvPr id="15" name="TextBox 14"/>
          <p:cNvSpPr txBox="1"/>
          <p:nvPr/>
        </p:nvSpPr>
        <p:spPr>
          <a:xfrm>
            <a:off x="4517136" y="3182112"/>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what a single call can do and where its ceiling is</a:t>
            </a:r>
          </a:p>
        </p:txBody>
      </p:sp>
      <p:sp>
        <p:nvSpPr>
          <p:cNvPr id="16" name="Rounded Rectangle 15"/>
          <p:cNvSpPr/>
          <p:nvPr/>
        </p:nvSpPr>
        <p:spPr>
          <a:xfrm>
            <a:off x="8092440" y="1737360"/>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8311896" y="1956815"/>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11896" y="1956815"/>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2</a:t>
            </a:r>
          </a:p>
        </p:txBody>
      </p:sp>
      <p:pic>
        <p:nvPicPr>
          <p:cNvPr id="19" name="Picture 18" descr="database-mid.png"/>
          <p:cNvPicPr>
            <a:picLocks noChangeAspect="1"/>
          </p:cNvPicPr>
          <p:nvPr/>
        </p:nvPicPr>
        <p:blipFill>
          <a:blip r:embed="rId4"/>
          <a:stretch>
            <a:fillRect/>
          </a:stretch>
        </p:blipFill>
        <p:spPr>
          <a:xfrm>
            <a:off x="11027664" y="1975104"/>
            <a:ext cx="457200" cy="457200"/>
          </a:xfrm>
          <a:prstGeom prst="rect">
            <a:avLst/>
          </a:prstGeom>
        </p:spPr>
      </p:pic>
      <p:sp>
        <p:nvSpPr>
          <p:cNvPr id="20" name="TextBox 19"/>
          <p:cNvSpPr txBox="1"/>
          <p:nvPr/>
        </p:nvSpPr>
        <p:spPr>
          <a:xfrm>
            <a:off x="8311896" y="2633472"/>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RAG</a:t>
            </a:r>
          </a:p>
        </p:txBody>
      </p:sp>
      <p:sp>
        <p:nvSpPr>
          <p:cNvPr id="21" name="TextBox 20"/>
          <p:cNvSpPr txBox="1"/>
          <p:nvPr/>
        </p:nvSpPr>
        <p:spPr>
          <a:xfrm>
            <a:off x="8311896" y="3182112"/>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external knowledge into context — and where it quietly breaks</a:t>
            </a:r>
          </a:p>
        </p:txBody>
      </p:sp>
      <p:sp>
        <p:nvSpPr>
          <p:cNvPr id="22" name="Rounded Rectangle 21"/>
          <p:cNvSpPr/>
          <p:nvPr/>
        </p:nvSpPr>
        <p:spPr>
          <a:xfrm>
            <a:off x="502920" y="4096512"/>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22376" y="4315968"/>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 y="4315968"/>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3</a:t>
            </a:r>
          </a:p>
        </p:txBody>
      </p:sp>
      <p:pic>
        <p:nvPicPr>
          <p:cNvPr id="25" name="Picture 24" descr="sliders-horizontal-mid.png"/>
          <p:cNvPicPr>
            <a:picLocks noChangeAspect="1"/>
          </p:cNvPicPr>
          <p:nvPr/>
        </p:nvPicPr>
        <p:blipFill>
          <a:blip r:embed="rId5"/>
          <a:stretch>
            <a:fillRect/>
          </a:stretch>
        </p:blipFill>
        <p:spPr>
          <a:xfrm>
            <a:off x="3438144" y="4334256"/>
            <a:ext cx="457200" cy="457200"/>
          </a:xfrm>
          <a:prstGeom prst="rect">
            <a:avLst/>
          </a:prstGeom>
        </p:spPr>
      </p:pic>
      <p:sp>
        <p:nvSpPr>
          <p:cNvPr id="26" name="TextBox 25"/>
          <p:cNvSpPr txBox="1"/>
          <p:nvPr/>
        </p:nvSpPr>
        <p:spPr>
          <a:xfrm>
            <a:off x="722376" y="4992624"/>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Fine-tune</a:t>
            </a:r>
          </a:p>
        </p:txBody>
      </p:sp>
      <p:sp>
        <p:nvSpPr>
          <p:cNvPr id="27" name="TextBox 26"/>
          <p:cNvSpPr txBox="1"/>
          <p:nvPr/>
        </p:nvSpPr>
        <p:spPr>
          <a:xfrm>
            <a:off x="722376" y="5541264"/>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changing weights for behavior, not for knowledge</a:t>
            </a:r>
          </a:p>
        </p:txBody>
      </p:sp>
      <p:sp>
        <p:nvSpPr>
          <p:cNvPr id="28" name="Rounded Rectangle 27"/>
          <p:cNvSpPr/>
          <p:nvPr/>
        </p:nvSpPr>
        <p:spPr>
          <a:xfrm>
            <a:off x="4297680" y="4096512"/>
            <a:ext cx="3611880" cy="2103120"/>
          </a:xfrm>
          <a:prstGeom prst="roundRect">
            <a:avLst>
              <a:gd name="adj" fmla="val 1449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4517136" y="4315968"/>
            <a:ext cx="512064" cy="51206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517136" y="4315968"/>
            <a:ext cx="512064" cy="512064"/>
          </a:xfrm>
          <a:prstGeom prst="rect">
            <a:avLst/>
          </a:prstGeom>
          <a:noFill/>
        </p:spPr>
        <p:txBody>
          <a:bodyPr wrap="square" lIns="0" rIns="0" tIns="0" bIns="0" anchor="ctr">
            <a:spAutoFit/>
          </a:bodyPr>
          <a:lstStyle/>
          <a:p>
            <a:pPr algn="ctr">
              <a:lnSpc>
                <a:spcPct val="115000"/>
              </a:lnSpc>
            </a:pPr>
            <a:r>
              <a:rPr sz="2200" b="1" i="0">
                <a:solidFill>
                  <a:srgbClr val="21295C"/>
                </a:solidFill>
                <a:latin typeface="Arial"/>
              </a:rPr>
              <a:t>4</a:t>
            </a:r>
          </a:p>
        </p:txBody>
      </p:sp>
      <p:pic>
        <p:nvPicPr>
          <p:cNvPr id="31" name="Picture 30" descr="bot-gold.png"/>
          <p:cNvPicPr>
            <a:picLocks noChangeAspect="1"/>
          </p:cNvPicPr>
          <p:nvPr/>
        </p:nvPicPr>
        <p:blipFill>
          <a:blip r:embed="rId6"/>
          <a:stretch>
            <a:fillRect/>
          </a:stretch>
        </p:blipFill>
        <p:spPr>
          <a:xfrm>
            <a:off x="7232904" y="4334256"/>
            <a:ext cx="457200" cy="457200"/>
          </a:xfrm>
          <a:prstGeom prst="rect">
            <a:avLst/>
          </a:prstGeom>
        </p:spPr>
      </p:pic>
      <p:sp>
        <p:nvSpPr>
          <p:cNvPr id="32" name="TextBox 31"/>
          <p:cNvSpPr txBox="1"/>
          <p:nvPr/>
        </p:nvSpPr>
        <p:spPr>
          <a:xfrm>
            <a:off x="4517136" y="4992624"/>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Agents</a:t>
            </a:r>
          </a:p>
        </p:txBody>
      </p:sp>
      <p:sp>
        <p:nvSpPr>
          <p:cNvPr id="33" name="TextBox 32"/>
          <p:cNvSpPr txBox="1"/>
          <p:nvPr/>
        </p:nvSpPr>
        <p:spPr>
          <a:xfrm>
            <a:off x="4517136" y="5541264"/>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loop, harness, memory, security — and failures</a:t>
            </a:r>
          </a:p>
        </p:txBody>
      </p:sp>
      <p:sp>
        <p:nvSpPr>
          <p:cNvPr id="34" name="Rounded Rectangle 33"/>
          <p:cNvSpPr/>
          <p:nvPr/>
        </p:nvSpPr>
        <p:spPr>
          <a:xfrm>
            <a:off x="8092440" y="4096512"/>
            <a:ext cx="3611880" cy="2103120"/>
          </a:xfrm>
          <a:prstGeom prst="roundRect">
            <a:avLst>
              <a:gd name="adj" fmla="val 1449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8311896" y="4315968"/>
            <a:ext cx="512064" cy="51206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311896" y="4315968"/>
            <a:ext cx="512064" cy="512064"/>
          </a:xfrm>
          <a:prstGeom prst="rect">
            <a:avLst/>
          </a:prstGeom>
          <a:noFill/>
        </p:spPr>
        <p:txBody>
          <a:bodyPr wrap="square" lIns="0" rIns="0" tIns="0" bIns="0" anchor="ctr">
            <a:spAutoFit/>
          </a:bodyPr>
          <a:lstStyle/>
          <a:p>
            <a:pPr algn="ctr">
              <a:lnSpc>
                <a:spcPct val="115000"/>
              </a:lnSpc>
            </a:pPr>
            <a:r>
              <a:rPr sz="2200" b="1" i="0">
                <a:solidFill>
                  <a:srgbClr val="FFFFFF"/>
                </a:solidFill>
                <a:latin typeface="Arial"/>
              </a:rPr>
              <a:t>5</a:t>
            </a:r>
          </a:p>
        </p:txBody>
      </p:sp>
      <p:pic>
        <p:nvPicPr>
          <p:cNvPr id="37" name="Picture 36" descr="list-checks-mid.png"/>
          <p:cNvPicPr>
            <a:picLocks noChangeAspect="1"/>
          </p:cNvPicPr>
          <p:nvPr/>
        </p:nvPicPr>
        <p:blipFill>
          <a:blip r:embed="rId7"/>
          <a:stretch>
            <a:fillRect/>
          </a:stretch>
        </p:blipFill>
        <p:spPr>
          <a:xfrm>
            <a:off x="11027664" y="4334256"/>
            <a:ext cx="457200" cy="457200"/>
          </a:xfrm>
          <a:prstGeom prst="rect">
            <a:avLst/>
          </a:prstGeom>
        </p:spPr>
      </p:pic>
      <p:sp>
        <p:nvSpPr>
          <p:cNvPr id="38" name="TextBox 37"/>
          <p:cNvSpPr txBox="1"/>
          <p:nvPr/>
        </p:nvSpPr>
        <p:spPr>
          <a:xfrm>
            <a:off x="8311896" y="4992624"/>
            <a:ext cx="3172968" cy="548640"/>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Framework</a:t>
            </a:r>
          </a:p>
        </p:txBody>
      </p:sp>
      <p:sp>
        <p:nvSpPr>
          <p:cNvPr id="39" name="TextBox 38"/>
          <p:cNvSpPr txBox="1"/>
          <p:nvPr/>
        </p:nvSpPr>
        <p:spPr>
          <a:xfrm>
            <a:off x="8311896" y="5541264"/>
            <a:ext cx="3172968" cy="566928"/>
          </a:xfrm>
          <a:prstGeom prst="rect">
            <a:avLst/>
          </a:prstGeom>
          <a:noFill/>
        </p:spPr>
        <p:txBody>
          <a:bodyPr wrap="square" lIns="0" rIns="0" tIns="0" bIns="0" anchor="t">
            <a:spAutoFit/>
          </a:bodyPr>
          <a:lstStyle/>
          <a:p>
            <a:pPr algn="l">
              <a:lnSpc>
                <a:spcPct val="114000"/>
              </a:lnSpc>
            </a:pPr>
            <a:r>
              <a:rPr sz="1250" b="0" i="0">
                <a:solidFill>
                  <a:srgbClr val="5B6678"/>
                </a:solidFill>
                <a:latin typeface="Arial"/>
              </a:rPr>
              <a:t>ladder + checklist: how to choose fast and with justification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What we carry over from Lecture 2 — and what we build on top.</a:t>
            </a:r>
          </a:p>
        </p:txBody>
      </p:sp>
      <p:sp>
        <p:nvSpPr>
          <p:cNvPr id="3" name="TextBox 2"/>
          <p:cNvSpPr txBox="1"/>
          <p:nvPr/>
        </p:nvSpPr>
        <p:spPr>
          <a:xfrm>
            <a:off x="502920" y="1143000"/>
            <a:ext cx="11201400" cy="365760"/>
          </a:xfrm>
          <a:prstGeom prst="rect">
            <a:avLst/>
          </a:prstGeom>
          <a:noFill/>
        </p:spPr>
        <p:txBody>
          <a:bodyPr wrap="square" lIns="0" rIns="0" tIns="0" bIns="0" anchor="t">
            <a:spAutoFit/>
          </a:bodyPr>
          <a:lstStyle/>
          <a:p>
            <a:pPr algn="l">
              <a:lnSpc>
                <a:spcPct val="115000"/>
              </a:lnSpc>
            </a:pPr>
            <a:r>
              <a:rPr sz="1500" b="0" i="1">
                <a:solidFill>
                  <a:srgbClr val="065A82"/>
                </a:solidFill>
                <a:latin typeface="Arial"/>
              </a:rPr>
              <a:t>Four wrappers are built around a single model call. We do not re-explain two ready blocks from Lecture 2.</a:t>
            </a:r>
          </a:p>
        </p:txBody>
      </p:sp>
      <p:sp>
        <p:nvSpPr>
          <p:cNvPr id="4" name="Rounded Rectangle 3"/>
          <p:cNvSpPr/>
          <p:nvPr/>
        </p:nvSpPr>
        <p:spPr>
          <a:xfrm>
            <a:off x="502920" y="1691640"/>
            <a:ext cx="534924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atabase-mid.png"/>
          <p:cNvPicPr>
            <a:picLocks noChangeAspect="1"/>
          </p:cNvPicPr>
          <p:nvPr/>
        </p:nvPicPr>
        <p:blipFill>
          <a:blip r:embed="rId2"/>
          <a:stretch>
            <a:fillRect/>
          </a:stretch>
        </p:blipFill>
        <p:spPr>
          <a:xfrm>
            <a:off x="740664" y="2002536"/>
            <a:ext cx="530352" cy="530352"/>
          </a:xfrm>
          <a:prstGeom prst="rect">
            <a:avLst/>
          </a:prstGeom>
        </p:spPr>
      </p:pic>
      <p:sp>
        <p:nvSpPr>
          <p:cNvPr id="6" name="TextBox 5"/>
          <p:cNvSpPr txBox="1"/>
          <p:nvPr/>
        </p:nvSpPr>
        <p:spPr>
          <a:xfrm>
            <a:off x="1463040" y="1947672"/>
            <a:ext cx="4206240" cy="384048"/>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RAG</a:t>
            </a:r>
          </a:p>
        </p:txBody>
      </p:sp>
      <p:sp>
        <p:nvSpPr>
          <p:cNvPr id="7" name="TextBox 6"/>
          <p:cNvSpPr txBox="1"/>
          <p:nvPr/>
        </p:nvSpPr>
        <p:spPr>
          <a:xfrm>
            <a:off x="1463040" y="2386584"/>
            <a:ext cx="4206240" cy="603504"/>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external knowledge into context before answering</a:t>
            </a:r>
          </a:p>
        </p:txBody>
      </p:sp>
      <p:sp>
        <p:nvSpPr>
          <p:cNvPr id="8" name="Rounded Rectangle 7"/>
          <p:cNvSpPr/>
          <p:nvPr/>
        </p:nvSpPr>
        <p:spPr>
          <a:xfrm>
            <a:off x="6355080" y="1691640"/>
            <a:ext cx="534924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erminal-mid.png"/>
          <p:cNvPicPr>
            <a:picLocks noChangeAspect="1"/>
          </p:cNvPicPr>
          <p:nvPr/>
        </p:nvPicPr>
        <p:blipFill>
          <a:blip r:embed="rId3"/>
          <a:stretch>
            <a:fillRect/>
          </a:stretch>
        </p:blipFill>
        <p:spPr>
          <a:xfrm>
            <a:off x="6592824" y="2002536"/>
            <a:ext cx="530352" cy="530352"/>
          </a:xfrm>
          <a:prstGeom prst="rect">
            <a:avLst/>
          </a:prstGeom>
        </p:spPr>
      </p:pic>
      <p:sp>
        <p:nvSpPr>
          <p:cNvPr id="10" name="TextBox 9"/>
          <p:cNvSpPr txBox="1"/>
          <p:nvPr/>
        </p:nvSpPr>
        <p:spPr>
          <a:xfrm>
            <a:off x="7315200" y="1947672"/>
            <a:ext cx="4206240" cy="384048"/>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Function calling</a:t>
            </a:r>
          </a:p>
        </p:txBody>
      </p:sp>
      <p:sp>
        <p:nvSpPr>
          <p:cNvPr id="11" name="TextBox 10"/>
          <p:cNvSpPr txBox="1"/>
          <p:nvPr/>
        </p:nvSpPr>
        <p:spPr>
          <a:xfrm>
            <a:off x="7315200" y="2386584"/>
            <a:ext cx="4206240" cy="603504"/>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the model reaches out to external systems</a:t>
            </a:r>
          </a:p>
        </p:txBody>
      </p:sp>
      <p:sp>
        <p:nvSpPr>
          <p:cNvPr id="12" name="Rounded Rectangle 11"/>
          <p:cNvSpPr/>
          <p:nvPr/>
        </p:nvSpPr>
        <p:spPr>
          <a:xfrm>
            <a:off x="502920" y="4663440"/>
            <a:ext cx="534924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able-mid.png"/>
          <p:cNvPicPr>
            <a:picLocks noChangeAspect="1"/>
          </p:cNvPicPr>
          <p:nvPr/>
        </p:nvPicPr>
        <p:blipFill>
          <a:blip r:embed="rId4"/>
          <a:stretch>
            <a:fillRect/>
          </a:stretch>
        </p:blipFill>
        <p:spPr>
          <a:xfrm>
            <a:off x="740664" y="4974336"/>
            <a:ext cx="530352" cy="530352"/>
          </a:xfrm>
          <a:prstGeom prst="rect">
            <a:avLst/>
          </a:prstGeom>
        </p:spPr>
      </p:pic>
      <p:sp>
        <p:nvSpPr>
          <p:cNvPr id="14" name="TextBox 13"/>
          <p:cNvSpPr txBox="1"/>
          <p:nvPr/>
        </p:nvSpPr>
        <p:spPr>
          <a:xfrm>
            <a:off x="1463040" y="4919472"/>
            <a:ext cx="4206240" cy="384048"/>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MCP</a:t>
            </a:r>
          </a:p>
        </p:txBody>
      </p:sp>
      <p:sp>
        <p:nvSpPr>
          <p:cNvPr id="15" name="TextBox 14"/>
          <p:cNvSpPr txBox="1"/>
          <p:nvPr/>
        </p:nvSpPr>
        <p:spPr>
          <a:xfrm>
            <a:off x="1463040" y="5358383"/>
            <a:ext cx="4206240" cy="603504"/>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a standard for connecting tools</a:t>
            </a:r>
          </a:p>
        </p:txBody>
      </p:sp>
      <p:sp>
        <p:nvSpPr>
          <p:cNvPr id="16" name="Rounded Rectangle 15"/>
          <p:cNvSpPr/>
          <p:nvPr/>
        </p:nvSpPr>
        <p:spPr>
          <a:xfrm>
            <a:off x="6355080" y="4663440"/>
            <a:ext cx="534924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bot-mid.png"/>
          <p:cNvPicPr>
            <a:picLocks noChangeAspect="1"/>
          </p:cNvPicPr>
          <p:nvPr/>
        </p:nvPicPr>
        <p:blipFill>
          <a:blip r:embed="rId5"/>
          <a:stretch>
            <a:fillRect/>
          </a:stretch>
        </p:blipFill>
        <p:spPr>
          <a:xfrm>
            <a:off x="6592824" y="4974336"/>
            <a:ext cx="530352" cy="530352"/>
          </a:xfrm>
          <a:prstGeom prst="rect">
            <a:avLst/>
          </a:prstGeom>
        </p:spPr>
      </p:pic>
      <p:sp>
        <p:nvSpPr>
          <p:cNvPr id="18" name="TextBox 17"/>
          <p:cNvSpPr txBox="1"/>
          <p:nvPr/>
        </p:nvSpPr>
        <p:spPr>
          <a:xfrm>
            <a:off x="7315200" y="4919472"/>
            <a:ext cx="4206240" cy="384048"/>
          </a:xfrm>
          <a:prstGeom prst="rect">
            <a:avLst/>
          </a:prstGeom>
          <a:noFill/>
        </p:spPr>
        <p:txBody>
          <a:bodyPr wrap="square" lIns="0" rIns="0" tIns="0" bIns="0" anchor="t">
            <a:spAutoFit/>
          </a:bodyPr>
          <a:lstStyle/>
          <a:p>
            <a:pPr algn="l">
              <a:lnSpc>
                <a:spcPct val="115000"/>
              </a:lnSpc>
            </a:pPr>
            <a:r>
              <a:rPr sz="1800" b="1" i="0">
                <a:solidFill>
                  <a:srgbClr val="065A82"/>
                </a:solidFill>
                <a:latin typeface="Arial"/>
              </a:rPr>
              <a:t>Agent loop</a:t>
            </a:r>
          </a:p>
        </p:txBody>
      </p:sp>
      <p:sp>
        <p:nvSpPr>
          <p:cNvPr id="19" name="TextBox 18"/>
          <p:cNvSpPr txBox="1"/>
          <p:nvPr/>
        </p:nvSpPr>
        <p:spPr>
          <a:xfrm>
            <a:off x="7315200" y="5358383"/>
            <a:ext cx="4206240" cy="603504"/>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many steps around a single pass</a:t>
            </a:r>
          </a:p>
        </p:txBody>
      </p:sp>
      <p:sp>
        <p:nvSpPr>
          <p:cNvPr id="20" name="Rounded Rectangle 19"/>
          <p:cNvSpPr/>
          <p:nvPr/>
        </p:nvSpPr>
        <p:spPr>
          <a:xfrm>
            <a:off x="4617720" y="3200400"/>
            <a:ext cx="2971800" cy="1554480"/>
          </a:xfrm>
          <a:prstGeom prst="roundRect">
            <a:avLst>
              <a:gd name="adj" fmla="val 19607"/>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754880" y="3419856"/>
            <a:ext cx="2697480" cy="457200"/>
          </a:xfrm>
          <a:prstGeom prst="rect">
            <a:avLst/>
          </a:prstGeom>
          <a:noFill/>
        </p:spPr>
        <p:txBody>
          <a:bodyPr wrap="square" lIns="0" rIns="0" tIns="0" bIns="0" anchor="t">
            <a:spAutoFit/>
          </a:bodyPr>
          <a:lstStyle/>
          <a:p>
            <a:pPr algn="ctr">
              <a:lnSpc>
                <a:spcPct val="115000"/>
              </a:lnSpc>
            </a:pPr>
            <a:r>
              <a:rPr sz="1800" b="1" i="0">
                <a:solidFill>
                  <a:srgbClr val="21295C"/>
                </a:solidFill>
                <a:latin typeface="Arial"/>
              </a:rPr>
              <a:t>A single LLM call</a:t>
            </a:r>
          </a:p>
        </p:txBody>
      </p:sp>
      <p:sp>
        <p:nvSpPr>
          <p:cNvPr id="22" name="TextBox 21"/>
          <p:cNvSpPr txBox="1"/>
          <p:nvPr/>
        </p:nvSpPr>
        <p:spPr>
          <a:xfrm>
            <a:off x="4754880" y="3895344"/>
            <a:ext cx="2697480" cy="777240"/>
          </a:xfrm>
          <a:prstGeom prst="rect">
            <a:avLst/>
          </a:prstGeom>
          <a:noFill/>
        </p:spPr>
        <p:txBody>
          <a:bodyPr wrap="square" lIns="0" rIns="0" tIns="0" bIns="0" anchor="t">
            <a:spAutoFit/>
          </a:bodyPr>
          <a:lstStyle/>
          <a:p>
            <a:pPr algn="ctr">
              <a:lnSpc>
                <a:spcPct val="114000"/>
              </a:lnSpc>
            </a:pPr>
            <a:r>
              <a:rPr sz="1200" b="0" i="1">
                <a:solidFill>
                  <a:srgbClr val="21295C"/>
                </a:solidFill>
                <a:latin typeface="Arial"/>
              </a:rPr>
              <a:t>single-shot inference from Lecture 2: one pass, no memory between calls</a:t>
            </a:r>
          </a:p>
        </p:txBody>
      </p:sp>
      <p:cxnSp>
        <p:nvCxnSpPr>
          <p:cNvPr id="23" name="Connector 22"/>
          <p:cNvCxnSpPr/>
          <p:nvPr/>
        </p:nvCxnSpPr>
        <p:spPr>
          <a:xfrm flipV="1">
            <a:off x="4846320" y="3108960"/>
            <a:ext cx="1005840" cy="320040"/>
          </a:xfrm>
          <a:prstGeom prst="line">
            <a:avLst/>
          </a:prstGeom>
          <a:ln w="22225">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flipV="1">
            <a:off x="6355080" y="3108960"/>
            <a:ext cx="1005840" cy="320040"/>
          </a:xfrm>
          <a:prstGeom prst="line">
            <a:avLst/>
          </a:prstGeom>
          <a:ln w="22225">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4846320" y="4526280"/>
            <a:ext cx="1005840" cy="137160"/>
          </a:xfrm>
          <a:prstGeom prst="line">
            <a:avLst/>
          </a:prstGeom>
          <a:ln w="22225">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H="1">
            <a:off x="6355080" y="4526280"/>
            <a:ext cx="1005840" cy="137160"/>
          </a:xfrm>
          <a:prstGeom prst="line">
            <a:avLst/>
          </a:prstGeom>
          <a:ln w="22225">
            <a:solidFill>
              <a:srgbClr val="1C7293"/>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Carried over ready from Lecture 2: single-shot inference and semantic search on embeddings (the basis of RAG). The details of each wrapper come later, section by section.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47472"/>
            <a:ext cx="11201400" cy="384048"/>
          </a:xfrm>
          <a:prstGeom prst="rect">
            <a:avLst/>
          </a:prstGeom>
          <a:noFill/>
        </p:spPr>
        <p:txBody>
          <a:bodyPr wrap="square" lIns="0" rIns="0" tIns="0" bIns="0" anchor="t">
            <a:spAutoFit/>
          </a:bodyPr>
          <a:lstStyle/>
          <a:p>
            <a:pPr algn="l">
              <a:lnSpc>
                <a:spcPct val="115000"/>
              </a:lnSpc>
            </a:pPr>
            <a:r>
              <a:rPr sz="1400" b="1" i="0">
                <a:solidFill>
                  <a:srgbClr val="028090"/>
                </a:solidFill>
                <a:latin typeface="Arial"/>
              </a:rPr>
              <a:t>THE CENTRAL QUESTION OF THE LECTURE</a:t>
            </a:r>
          </a:p>
        </p:txBody>
      </p:sp>
      <p:sp>
        <p:nvSpPr>
          <p:cNvPr id="3" name="Rounded Rectangle 2"/>
          <p:cNvSpPr/>
          <p:nvPr/>
        </p:nvSpPr>
        <p:spPr>
          <a:xfrm>
            <a:off x="502920" y="777240"/>
            <a:ext cx="11201400" cy="1188720"/>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941832"/>
            <a:ext cx="10469880" cy="859536"/>
          </a:xfrm>
          <a:prstGeom prst="rect">
            <a:avLst/>
          </a:prstGeom>
          <a:noFill/>
        </p:spPr>
        <p:txBody>
          <a:bodyPr wrap="square" lIns="0" rIns="0" tIns="0" bIns="0" anchor="ctr">
            <a:spAutoFit/>
          </a:bodyPr>
          <a:lstStyle/>
          <a:p>
            <a:pPr algn="l">
              <a:lnSpc>
                <a:spcPct val="112000"/>
              </a:lnSpc>
            </a:pPr>
            <a:r>
              <a:rPr sz="2300" b="1" i="0">
                <a:solidFill>
                  <a:srgbClr val="21295C"/>
                </a:solidFill>
                <a:latin typeface="Arial"/>
              </a:rPr>
              <a:t>I have a task and access to an LLM. Which architecture do I choose — and when is the right answer “no AI”?</a:t>
            </a:r>
          </a:p>
        </p:txBody>
      </p:sp>
      <p:sp>
        <p:nvSpPr>
          <p:cNvPr id="5" name="Rounded Rectangle 4"/>
          <p:cNvSpPr/>
          <p:nvPr/>
        </p:nvSpPr>
        <p:spPr>
          <a:xfrm>
            <a:off x="502920" y="5586983"/>
            <a:ext cx="7269480" cy="676656"/>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649224" y="5714999"/>
            <a:ext cx="420624" cy="42062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9224" y="5714999"/>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1</a:t>
            </a:r>
          </a:p>
        </p:txBody>
      </p:sp>
      <p:sp>
        <p:nvSpPr>
          <p:cNvPr id="8" name="TextBox 7"/>
          <p:cNvSpPr txBox="1"/>
          <p:nvPr/>
        </p:nvSpPr>
        <p:spPr>
          <a:xfrm>
            <a:off x="1179576" y="5687568"/>
            <a:ext cx="6446520"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Plain code (no AI)</a:t>
            </a:r>
          </a:p>
        </p:txBody>
      </p:sp>
      <p:sp>
        <p:nvSpPr>
          <p:cNvPr id="9" name="TextBox 8"/>
          <p:cNvSpPr txBox="1"/>
          <p:nvPr/>
        </p:nvSpPr>
        <p:spPr>
          <a:xfrm>
            <a:off x="1179576" y="5980175"/>
            <a:ext cx="6446520"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baseline</a:t>
            </a:r>
          </a:p>
        </p:txBody>
      </p:sp>
      <p:sp>
        <p:nvSpPr>
          <p:cNvPr id="10" name="Rounded Rectangle 9"/>
          <p:cNvSpPr/>
          <p:nvPr/>
        </p:nvSpPr>
        <p:spPr>
          <a:xfrm>
            <a:off x="704088" y="4841748"/>
            <a:ext cx="7068312"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850392" y="4969764"/>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0392" y="496976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2</a:t>
            </a:r>
          </a:p>
        </p:txBody>
      </p:sp>
      <p:sp>
        <p:nvSpPr>
          <p:cNvPr id="13" name="TextBox 12"/>
          <p:cNvSpPr txBox="1"/>
          <p:nvPr/>
        </p:nvSpPr>
        <p:spPr>
          <a:xfrm>
            <a:off x="1380744" y="4942332"/>
            <a:ext cx="6245352"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A single LLM call</a:t>
            </a:r>
          </a:p>
        </p:txBody>
      </p:sp>
      <p:sp>
        <p:nvSpPr>
          <p:cNvPr id="14" name="TextBox 13"/>
          <p:cNvSpPr txBox="1"/>
          <p:nvPr/>
        </p:nvSpPr>
        <p:spPr>
          <a:xfrm>
            <a:off x="1380744" y="5234940"/>
            <a:ext cx="6245352"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prompt; + CoT (step by step), + few-shot (examples)</a:t>
            </a:r>
          </a:p>
        </p:txBody>
      </p:sp>
      <p:sp>
        <p:nvSpPr>
          <p:cNvPr id="15" name="Rounded Rectangle 14"/>
          <p:cNvSpPr/>
          <p:nvPr/>
        </p:nvSpPr>
        <p:spPr>
          <a:xfrm>
            <a:off x="905256" y="4096511"/>
            <a:ext cx="6867144"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51560" y="4224527"/>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51560" y="4224527"/>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3</a:t>
            </a:r>
          </a:p>
        </p:txBody>
      </p:sp>
      <p:sp>
        <p:nvSpPr>
          <p:cNvPr id="18" name="TextBox 17"/>
          <p:cNvSpPr txBox="1"/>
          <p:nvPr/>
        </p:nvSpPr>
        <p:spPr>
          <a:xfrm>
            <a:off x="1581912" y="4197096"/>
            <a:ext cx="6044183"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RAG / context engineering</a:t>
            </a:r>
          </a:p>
        </p:txBody>
      </p:sp>
      <p:sp>
        <p:nvSpPr>
          <p:cNvPr id="19" name="TextBox 18"/>
          <p:cNvSpPr txBox="1"/>
          <p:nvPr/>
        </p:nvSpPr>
        <p:spPr>
          <a:xfrm>
            <a:off x="1581912" y="4489703"/>
            <a:ext cx="6044183"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retrieval-augmented generation</a:t>
            </a:r>
          </a:p>
        </p:txBody>
      </p:sp>
      <p:sp>
        <p:nvSpPr>
          <p:cNvPr id="20" name="Rounded Rectangle 19"/>
          <p:cNvSpPr/>
          <p:nvPr/>
        </p:nvSpPr>
        <p:spPr>
          <a:xfrm>
            <a:off x="1106424" y="3351275"/>
            <a:ext cx="6665976"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1252728" y="3479291"/>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252728" y="3479291"/>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4</a:t>
            </a:r>
          </a:p>
        </p:txBody>
      </p:sp>
      <p:sp>
        <p:nvSpPr>
          <p:cNvPr id="23" name="TextBox 22"/>
          <p:cNvSpPr txBox="1"/>
          <p:nvPr/>
        </p:nvSpPr>
        <p:spPr>
          <a:xfrm>
            <a:off x="1783080" y="3451859"/>
            <a:ext cx="5843016"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Workflow</a:t>
            </a:r>
          </a:p>
        </p:txBody>
      </p:sp>
      <p:sp>
        <p:nvSpPr>
          <p:cNvPr id="24" name="TextBox 23"/>
          <p:cNvSpPr txBox="1"/>
          <p:nvPr/>
        </p:nvSpPr>
        <p:spPr>
          <a:xfrm>
            <a:off x="1783080" y="3744468"/>
            <a:ext cx="5843016"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predefined paths</a:t>
            </a:r>
          </a:p>
        </p:txBody>
      </p:sp>
      <p:sp>
        <p:nvSpPr>
          <p:cNvPr id="25" name="Rounded Rectangle 24"/>
          <p:cNvSpPr/>
          <p:nvPr/>
        </p:nvSpPr>
        <p:spPr>
          <a:xfrm>
            <a:off x="1307592" y="2606039"/>
            <a:ext cx="6464808"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1453896" y="2734056"/>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453896" y="2734056"/>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5</a:t>
            </a:r>
          </a:p>
        </p:txBody>
      </p:sp>
      <p:sp>
        <p:nvSpPr>
          <p:cNvPr id="28" name="TextBox 27"/>
          <p:cNvSpPr txBox="1"/>
          <p:nvPr/>
        </p:nvSpPr>
        <p:spPr>
          <a:xfrm>
            <a:off x="1984248" y="2706623"/>
            <a:ext cx="5641848"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Agent</a:t>
            </a:r>
          </a:p>
        </p:txBody>
      </p:sp>
      <p:sp>
        <p:nvSpPr>
          <p:cNvPr id="29" name="TextBox 28"/>
          <p:cNvSpPr txBox="1"/>
          <p:nvPr/>
        </p:nvSpPr>
        <p:spPr>
          <a:xfrm>
            <a:off x="1984248" y="2999232"/>
            <a:ext cx="5641848"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plan → act → check → iterate loop</a:t>
            </a:r>
          </a:p>
        </p:txBody>
      </p:sp>
      <p:sp>
        <p:nvSpPr>
          <p:cNvPr id="30" name="Rounded Rectangle 29"/>
          <p:cNvSpPr/>
          <p:nvPr/>
        </p:nvSpPr>
        <p:spPr>
          <a:xfrm>
            <a:off x="1508760" y="1860804"/>
            <a:ext cx="6263640" cy="6766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Oval 30"/>
          <p:cNvSpPr/>
          <p:nvPr/>
        </p:nvSpPr>
        <p:spPr>
          <a:xfrm>
            <a:off x="1655064" y="1988820"/>
            <a:ext cx="420624" cy="420624"/>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1655064" y="1988820"/>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6</a:t>
            </a:r>
          </a:p>
        </p:txBody>
      </p:sp>
      <p:sp>
        <p:nvSpPr>
          <p:cNvPr id="33" name="TextBox 32"/>
          <p:cNvSpPr txBox="1"/>
          <p:nvPr/>
        </p:nvSpPr>
        <p:spPr>
          <a:xfrm>
            <a:off x="2185416" y="1961388"/>
            <a:ext cx="5440679" cy="274320"/>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Multi-agent</a:t>
            </a:r>
          </a:p>
        </p:txBody>
      </p:sp>
      <p:sp>
        <p:nvSpPr>
          <p:cNvPr id="34" name="TextBox 33"/>
          <p:cNvSpPr txBox="1"/>
          <p:nvPr/>
        </p:nvSpPr>
        <p:spPr>
          <a:xfrm>
            <a:off x="2185416" y="2253996"/>
            <a:ext cx="5440679" cy="237744"/>
          </a:xfrm>
          <a:prstGeom prst="rect">
            <a:avLst/>
          </a:prstGeom>
          <a:noFill/>
        </p:spPr>
        <p:txBody>
          <a:bodyPr wrap="square" lIns="0" rIns="0" tIns="0" bIns="0" anchor="t">
            <a:spAutoFit/>
          </a:bodyPr>
          <a:lstStyle/>
          <a:p>
            <a:pPr algn="l">
              <a:lnSpc>
                <a:spcPct val="115000"/>
              </a:lnSpc>
            </a:pPr>
            <a:r>
              <a:rPr sz="1200" b="0" i="1">
                <a:solidFill>
                  <a:srgbClr val="5B6678"/>
                </a:solidFill>
                <a:latin typeface="Arial"/>
              </a:rPr>
              <a:t>several coordinated agents</a:t>
            </a:r>
          </a:p>
        </p:txBody>
      </p:sp>
      <p:sp>
        <p:nvSpPr>
          <p:cNvPr id="35" name="TextBox 34"/>
          <p:cNvSpPr txBox="1"/>
          <p:nvPr/>
        </p:nvSpPr>
        <p:spPr>
          <a:xfrm>
            <a:off x="7296912" y="2084831"/>
            <a:ext cx="1115568" cy="310896"/>
          </a:xfrm>
          <a:prstGeom prst="rect">
            <a:avLst/>
          </a:prstGeom>
          <a:noFill/>
        </p:spPr>
        <p:txBody>
          <a:bodyPr wrap="square" lIns="0" rIns="0" tIns="0" bIns="0" anchor="t">
            <a:spAutoFit/>
          </a:bodyPr>
          <a:lstStyle/>
          <a:p>
            <a:pPr algn="ctr">
              <a:lnSpc>
                <a:spcPct val="115000"/>
              </a:lnSpc>
            </a:pPr>
            <a:r>
              <a:rPr sz="1400" b="1" i="0">
                <a:solidFill>
                  <a:srgbClr val="1C7293"/>
                </a:solidFill>
                <a:latin typeface="Arial"/>
              </a:rPr>
              <a:t>harder ↑</a:t>
            </a:r>
          </a:p>
        </p:txBody>
      </p:sp>
      <p:sp>
        <p:nvSpPr>
          <p:cNvPr id="36" name="Up Arrow 35"/>
          <p:cNvSpPr/>
          <p:nvPr/>
        </p:nvSpPr>
        <p:spPr>
          <a:xfrm>
            <a:off x="7680960" y="2487168"/>
            <a:ext cx="365760" cy="3529584"/>
          </a:xfrm>
          <a:prstGeom prst="upArrow">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296912" y="6053328"/>
            <a:ext cx="1115568" cy="310896"/>
          </a:xfrm>
          <a:prstGeom prst="rect">
            <a:avLst/>
          </a:prstGeom>
          <a:noFill/>
        </p:spPr>
        <p:txBody>
          <a:bodyPr wrap="square" lIns="0" rIns="0" tIns="0" bIns="0" anchor="t">
            <a:spAutoFit/>
          </a:bodyPr>
          <a:lstStyle/>
          <a:p>
            <a:pPr algn="ctr">
              <a:lnSpc>
                <a:spcPct val="115000"/>
              </a:lnSpc>
            </a:pPr>
            <a:r>
              <a:rPr sz="1400" b="1" i="0">
                <a:solidFill>
                  <a:srgbClr val="1C7293"/>
                </a:solidFill>
                <a:latin typeface="Arial"/>
              </a:rPr>
              <a:t>simpler ↓</a:t>
            </a:r>
          </a:p>
        </p:txBody>
      </p:sp>
      <p:sp>
        <p:nvSpPr>
          <p:cNvPr id="38" name="Rounded Rectangle 37"/>
          <p:cNvSpPr/>
          <p:nvPr/>
        </p:nvSpPr>
        <p:spPr>
          <a:xfrm>
            <a:off x="8275320" y="2331720"/>
            <a:ext cx="3429000" cy="3611880"/>
          </a:xfrm>
          <a:prstGeom prst="roundRect">
            <a:avLst>
              <a:gd name="adj" fmla="val 8888"/>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milestone-gold.png"/>
          <p:cNvPicPr>
            <a:picLocks noChangeAspect="1"/>
          </p:cNvPicPr>
          <p:nvPr/>
        </p:nvPicPr>
        <p:blipFill>
          <a:blip r:embed="rId2"/>
          <a:stretch>
            <a:fillRect/>
          </a:stretch>
        </p:blipFill>
        <p:spPr>
          <a:xfrm>
            <a:off x="8522208" y="2606040"/>
            <a:ext cx="566928" cy="566928"/>
          </a:xfrm>
          <a:prstGeom prst="rect">
            <a:avLst/>
          </a:prstGeom>
        </p:spPr>
      </p:pic>
      <p:sp>
        <p:nvSpPr>
          <p:cNvPr id="40" name="TextBox 39"/>
          <p:cNvSpPr txBox="1"/>
          <p:nvPr/>
        </p:nvSpPr>
        <p:spPr>
          <a:xfrm>
            <a:off x="8522208" y="3383280"/>
            <a:ext cx="2971800" cy="2423160"/>
          </a:xfrm>
          <a:prstGeom prst="rect">
            <a:avLst/>
          </a:prstGeom>
          <a:noFill/>
        </p:spPr>
        <p:txBody>
          <a:bodyPr wrap="square" lIns="0" rIns="0" tIns="0" bIns="0" anchor="t">
            <a:spAutoFit/>
          </a:bodyPr>
          <a:lstStyle/>
          <a:p>
            <a:pPr algn="l">
              <a:lnSpc>
                <a:spcPct val="124000"/>
              </a:lnSpc>
            </a:pPr>
            <a:r>
              <a:rPr sz="1600" b="1" i="0">
                <a:solidFill>
                  <a:srgbClr val="21295C"/>
                </a:solidFill>
                <a:latin typeface="Arial"/>
              </a:rPr>
              <a:t>Climb to the next rung only when the task has a requirement the current rung does not cover.</a:t>
            </a:r>
          </a:p>
        </p:txBody>
      </p:sp>
      <p:sp>
        <p:nvSpPr>
          <p:cNvPr id="41" name="TextBox 40"/>
          <p:cNvSpPr txBox="1"/>
          <p:nvPr/>
        </p:nvSpPr>
        <p:spPr>
          <a:xfrm>
            <a:off x="502920" y="6419088"/>
            <a:ext cx="11201400" cy="329184"/>
          </a:xfrm>
          <a:prstGeom prst="rect">
            <a:avLst/>
          </a:prstGeom>
          <a:noFill/>
        </p:spPr>
        <p:txBody>
          <a:bodyPr wrap="square" lIns="0" rIns="0" tIns="0" bIns="0" anchor="t">
            <a:spAutoFit/>
          </a:bodyPr>
          <a:lstStyle/>
          <a:p>
            <a:pPr algn="l">
              <a:lnSpc>
                <a:spcPct val="100000"/>
              </a:lnSpc>
            </a:pPr>
            <a:r>
              <a:rPr sz="1200" b="0" i="1">
                <a:solidFill>
                  <a:srgbClr val="1C7293"/>
                </a:solidFill>
                <a:latin typeface="Arial"/>
              </a:rPr>
              <a:t>The ladder is a map of the lecture, not a demand to understand everything now. We cover each rung separately.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635240" y="502920"/>
            <a:ext cx="4206240" cy="5120640"/>
          </a:xfrm>
          <a:prstGeom prst="rect">
            <a:avLst/>
          </a:prstGeom>
          <a:noFill/>
        </p:spPr>
        <p:txBody>
          <a:bodyPr wrap="square" lIns="0" rIns="0" tIns="0" bIns="0" anchor="ctr">
            <a:spAutoFit/>
          </a:bodyPr>
          <a:lstStyle/>
          <a:p>
            <a:pPr algn="ctr">
              <a:lnSpc>
                <a:spcPct val="100000"/>
              </a:lnSpc>
            </a:pPr>
            <a:r>
              <a:rPr sz="38000" b="1" i="0">
                <a:solidFill>
                  <a:srgbClr val="D9E2EC"/>
                </a:solidFill>
                <a:latin typeface="Arial"/>
              </a:rPr>
              <a:t>1</a:t>
            </a:r>
          </a:p>
        </p:txBody>
      </p:sp>
      <p:sp>
        <p:nvSpPr>
          <p:cNvPr id="3" name="TextBox 2"/>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SECTION 1</a:t>
            </a:r>
          </a:p>
        </p:txBody>
      </p:sp>
      <p:sp>
        <p:nvSpPr>
          <p:cNvPr id="4" name="Rectangle 3"/>
          <p:cNvSpPr/>
          <p:nvPr/>
        </p:nvSpPr>
        <p:spPr>
          <a:xfrm>
            <a:off x="713232" y="197510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6858000" cy="1691640"/>
          </a:xfrm>
          <a:prstGeom prst="rect">
            <a:avLst/>
          </a:prstGeom>
          <a:noFill/>
        </p:spPr>
        <p:txBody>
          <a:bodyPr wrap="square" lIns="0" rIns="0" tIns="0" bIns="0" anchor="t">
            <a:spAutoFit/>
          </a:bodyPr>
          <a:lstStyle/>
          <a:p>
            <a:pPr algn="l">
              <a:lnSpc>
                <a:spcPct val="108000"/>
              </a:lnSpc>
            </a:pPr>
            <a:r>
              <a:rPr sz="3800" b="1" i="0">
                <a:solidFill>
                  <a:srgbClr val="21295C"/>
                </a:solidFill>
                <a:latin typeface="Arial"/>
              </a:rPr>
              <a:t>The prompt and its limits</a:t>
            </a:r>
          </a:p>
        </p:txBody>
      </p:sp>
      <p:sp>
        <p:nvSpPr>
          <p:cNvPr id="6" name="TextBox 5"/>
          <p:cNvSpPr txBox="1"/>
          <p:nvPr/>
        </p:nvSpPr>
        <p:spPr>
          <a:xfrm>
            <a:off x="713232" y="4160520"/>
            <a:ext cx="6766560" cy="1325880"/>
          </a:xfrm>
          <a:prstGeom prst="rect">
            <a:avLst/>
          </a:prstGeom>
          <a:noFill/>
        </p:spPr>
        <p:txBody>
          <a:bodyPr wrap="square" lIns="0" rIns="0" tIns="0" bIns="0" anchor="t">
            <a:spAutoFit/>
          </a:bodyPr>
          <a:lstStyle/>
          <a:p>
            <a:pPr algn="l">
              <a:lnSpc>
                <a:spcPct val="122000"/>
              </a:lnSpc>
            </a:pPr>
            <a:r>
              <a:rPr sz="1800" b="0" i="1">
                <a:solidFill>
                  <a:srgbClr val="1C7293"/>
                </a:solidFill>
                <a:latin typeface="Arial"/>
              </a:rPr>
              <a:t>We've seen the whole ladder — now from the bottom: what a single call can do and where its ceiling is, before complicating anything.</a:t>
            </a:r>
          </a:p>
        </p:txBody>
      </p:sp>
      <p:sp>
        <p:nvSpPr>
          <p:cNvPr id="7" name="Rounded Rectangle 6"/>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0</a:t>
            </a:r>
          </a:p>
        </p:txBody>
      </p:sp>
      <p:sp>
        <p:nvSpPr>
          <p:cNvPr id="9" name="TextBox 8"/>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Opening</a:t>
            </a:r>
          </a:p>
        </p:txBody>
      </p:sp>
      <p:sp>
        <p:nvSpPr>
          <p:cNvPr id="10" name="Rounded Rectangle 9"/>
          <p:cNvSpPr/>
          <p:nvPr/>
        </p:nvSpPr>
        <p:spPr>
          <a:xfrm>
            <a:off x="2391156"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Section 1</a:t>
            </a:r>
          </a:p>
        </p:txBody>
      </p:sp>
      <p:sp>
        <p:nvSpPr>
          <p:cNvPr id="12" name="TextBox 11"/>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Prompt</a:t>
            </a:r>
          </a:p>
        </p:txBody>
      </p:sp>
      <p:sp>
        <p:nvSpPr>
          <p:cNvPr id="13" name="Rounded Rectangle 12"/>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2</a:t>
            </a:r>
          </a:p>
        </p:txBody>
      </p:sp>
      <p:sp>
        <p:nvSpPr>
          <p:cNvPr id="15" name="TextBox 14"/>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16" name="Rounded Rectangle 15"/>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3</a:t>
            </a:r>
          </a:p>
        </p:txBody>
      </p:sp>
      <p:sp>
        <p:nvSpPr>
          <p:cNvPr id="18" name="TextBox 17"/>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Fine-tune</a:t>
            </a:r>
          </a:p>
        </p:txBody>
      </p:sp>
      <p:sp>
        <p:nvSpPr>
          <p:cNvPr id="19" name="Rounded Rectangle 18"/>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4</a:t>
            </a:r>
          </a:p>
        </p:txBody>
      </p:sp>
      <p:sp>
        <p:nvSpPr>
          <p:cNvPr id="21" name="TextBox 20"/>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Agents</a:t>
            </a:r>
          </a:p>
        </p:txBody>
      </p:sp>
      <p:sp>
        <p:nvSpPr>
          <p:cNvPr id="22" name="Rounded Rectangle 21"/>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5</a:t>
            </a:r>
          </a:p>
        </p:txBody>
      </p:sp>
      <p:sp>
        <p:nvSpPr>
          <p:cNvPr id="24" name="TextBox 23"/>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Framework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The default — a single call with a good prompt.</a:t>
            </a:r>
          </a:p>
        </p:txBody>
      </p:sp>
      <p:sp>
        <p:nvSpPr>
          <p:cNvPr id="3" name="Rounded Rectangle 2"/>
          <p:cNvSpPr/>
          <p:nvPr/>
        </p:nvSpPr>
        <p:spPr>
          <a:xfrm>
            <a:off x="502920" y="1078992"/>
            <a:ext cx="11201400" cy="603504"/>
          </a:xfrm>
          <a:prstGeom prst="roundRect">
            <a:avLst>
              <a:gd name="adj" fmla="val 10000"/>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1133856"/>
            <a:ext cx="10789920" cy="512064"/>
          </a:xfrm>
          <a:prstGeom prst="rect">
            <a:avLst/>
          </a:prstGeom>
          <a:noFill/>
        </p:spPr>
        <p:txBody>
          <a:bodyPr wrap="square" lIns="0" rIns="0" tIns="0" bIns="0" anchor="ctr">
            <a:spAutoFit/>
          </a:bodyPr>
          <a:lstStyle/>
          <a:p>
            <a:pPr algn="l">
              <a:lnSpc>
                <a:spcPct val="112000"/>
              </a:lnSpc>
            </a:pPr>
            <a:r>
              <a:rPr sz="1500" b="1" i="0">
                <a:solidFill>
                  <a:srgbClr val="21295C"/>
                </a:solidFill>
                <a:latin typeface="Arial"/>
              </a:rPr>
              <a:t>The model knows only what is in the prompt (plus what was in the weights at training time). It has nowhere else to draw from.</a:t>
            </a:r>
          </a:p>
        </p:txBody>
      </p:sp>
      <p:sp>
        <p:nvSpPr>
          <p:cNvPr id="5" name="Rounded Rectangle 4"/>
          <p:cNvSpPr/>
          <p:nvPr/>
        </p:nvSpPr>
        <p:spPr>
          <a:xfrm>
            <a:off x="502920" y="1847088"/>
            <a:ext cx="5074920" cy="3310128"/>
          </a:xfrm>
          <a:prstGeom prst="roundRect">
            <a:avLst>
              <a:gd name="adj" fmla="val 9208"/>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arget-teal.png"/>
          <p:cNvPicPr>
            <a:picLocks noChangeAspect="1"/>
          </p:cNvPicPr>
          <p:nvPr/>
        </p:nvPicPr>
        <p:blipFill>
          <a:blip r:embed="rId2"/>
          <a:stretch>
            <a:fillRect/>
          </a:stretch>
        </p:blipFill>
        <p:spPr>
          <a:xfrm>
            <a:off x="758952" y="2066543"/>
            <a:ext cx="530352" cy="530352"/>
          </a:xfrm>
          <a:prstGeom prst="rect">
            <a:avLst/>
          </a:prstGeom>
        </p:spPr>
      </p:pic>
      <p:sp>
        <p:nvSpPr>
          <p:cNvPr id="7" name="TextBox 6"/>
          <p:cNvSpPr txBox="1"/>
          <p:nvPr/>
        </p:nvSpPr>
        <p:spPr>
          <a:xfrm>
            <a:off x="758952" y="2706624"/>
            <a:ext cx="4562856" cy="548640"/>
          </a:xfrm>
          <a:prstGeom prst="rect">
            <a:avLst/>
          </a:prstGeom>
          <a:noFill/>
        </p:spPr>
        <p:txBody>
          <a:bodyPr wrap="square" lIns="0" rIns="0" tIns="0" bIns="0" anchor="t">
            <a:spAutoFit/>
          </a:bodyPr>
          <a:lstStyle/>
          <a:p>
            <a:pPr algn="l">
              <a:lnSpc>
                <a:spcPct val="110000"/>
              </a:lnSpc>
            </a:pPr>
            <a:r>
              <a:rPr sz="1800" b="1" i="0">
                <a:solidFill>
                  <a:srgbClr val="21295C"/>
                </a:solidFill>
                <a:latin typeface="Arial"/>
              </a:rPr>
              <a:t>A single LLM call
with a good prompt</a:t>
            </a:r>
          </a:p>
        </p:txBody>
      </p:sp>
      <p:sp>
        <p:nvSpPr>
          <p:cNvPr id="8" name="Oval 7"/>
          <p:cNvSpPr/>
          <p:nvPr/>
        </p:nvSpPr>
        <p:spPr>
          <a:xfrm>
            <a:off x="777240" y="3648456"/>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14984" y="3584448"/>
            <a:ext cx="4306824" cy="566928"/>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minimal cost (one pass)</a:t>
            </a:r>
          </a:p>
        </p:txBody>
      </p:sp>
      <p:sp>
        <p:nvSpPr>
          <p:cNvPr id="10" name="Oval 9"/>
          <p:cNvSpPr/>
          <p:nvPr/>
        </p:nvSpPr>
        <p:spPr>
          <a:xfrm>
            <a:off x="777240" y="4160520"/>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14984" y="4096512"/>
            <a:ext cx="4306824" cy="566928"/>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minimal latency (no extra round-trips)</a:t>
            </a:r>
          </a:p>
        </p:txBody>
      </p:sp>
      <p:sp>
        <p:nvSpPr>
          <p:cNvPr id="12" name="Oval 11"/>
          <p:cNvSpPr/>
          <p:nvPr/>
        </p:nvSpPr>
        <p:spPr>
          <a:xfrm>
            <a:off x="777240" y="4672584"/>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14984" y="4608576"/>
            <a:ext cx="4306824" cy="566928"/>
          </a:xfrm>
          <a:prstGeom prst="rect">
            <a:avLst/>
          </a:prstGeom>
          <a:noFill/>
        </p:spPr>
        <p:txBody>
          <a:bodyPr wrap="square" lIns="0" rIns="0" tIns="0" bIns="0" anchor="t">
            <a:spAutoFit/>
          </a:bodyPr>
          <a:lstStyle/>
          <a:p>
            <a:pPr algn="l">
              <a:lnSpc>
                <a:spcPct val="112000"/>
              </a:lnSpc>
            </a:pPr>
            <a:r>
              <a:rPr sz="1300" b="0" i="0">
                <a:solidFill>
                  <a:srgbClr val="21295C"/>
                </a:solidFill>
                <a:latin typeface="Arial"/>
              </a:rPr>
              <a:t>maximum predictability (no loops, no retrieval that quietly degrades)</a:t>
            </a:r>
          </a:p>
        </p:txBody>
      </p:sp>
      <p:sp>
        <p:nvSpPr>
          <p:cNvPr id="14" name="Rounded Rectangle 13"/>
          <p:cNvSpPr/>
          <p:nvPr/>
        </p:nvSpPr>
        <p:spPr>
          <a:xfrm>
            <a:off x="5760720" y="1847088"/>
            <a:ext cx="5943600" cy="1554480"/>
          </a:xfrm>
          <a:prstGeom prst="roundRect">
            <a:avLst>
              <a:gd name="adj" fmla="val 196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98464" y="1975104"/>
            <a:ext cx="5468112" cy="329184"/>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Add RAG →</a:t>
            </a:r>
          </a:p>
        </p:txBody>
      </p:sp>
      <p:sp>
        <p:nvSpPr>
          <p:cNvPr id="16" name="TextBox 15"/>
          <p:cNvSpPr txBox="1"/>
          <p:nvPr/>
        </p:nvSpPr>
        <p:spPr>
          <a:xfrm>
            <a:off x="5998464" y="2304288"/>
            <a:ext cx="5468112" cy="1005840"/>
          </a:xfrm>
          <a:prstGeom prst="rect">
            <a:avLst/>
          </a:prstGeom>
          <a:noFill/>
        </p:spPr>
        <p:txBody>
          <a:bodyPr wrap="square" lIns="0" rIns="0" tIns="0" bIns="0" anchor="t">
            <a:spAutoFit/>
          </a:bodyPr>
          <a:lstStyle/>
          <a:p>
            <a:pPr algn="l">
              <a:lnSpc>
                <a:spcPct val="114000"/>
              </a:lnSpc>
            </a:pPr>
            <a:r>
              <a:rPr sz="1300" b="0" i="0">
                <a:solidFill>
                  <a:srgbClr val="21295C"/>
                </a:solidFill>
                <a:latin typeface="Arial"/>
              </a:rPr>
              <a:t>an indexing pipeline + a vector store + a retrieval component (can silently degrade) + metrics for its quality</a:t>
            </a:r>
          </a:p>
        </p:txBody>
      </p:sp>
      <p:sp>
        <p:nvSpPr>
          <p:cNvPr id="17" name="Rounded Rectangle 16"/>
          <p:cNvSpPr/>
          <p:nvPr/>
        </p:nvSpPr>
        <p:spPr>
          <a:xfrm>
            <a:off x="5760720" y="3547872"/>
            <a:ext cx="5943600" cy="1609344"/>
          </a:xfrm>
          <a:prstGeom prst="roundRect">
            <a:avLst>
              <a:gd name="adj" fmla="val 1893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98464" y="3675887"/>
            <a:ext cx="5468112" cy="329184"/>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Add tools / a loop →</a:t>
            </a:r>
          </a:p>
        </p:txBody>
      </p:sp>
      <p:sp>
        <p:nvSpPr>
          <p:cNvPr id="19" name="TextBox 18"/>
          <p:cNvSpPr txBox="1"/>
          <p:nvPr/>
        </p:nvSpPr>
        <p:spPr>
          <a:xfrm>
            <a:off x="5998464" y="4005072"/>
            <a:ext cx="5468112" cy="1097280"/>
          </a:xfrm>
          <a:prstGeom prst="rect">
            <a:avLst/>
          </a:prstGeom>
          <a:noFill/>
        </p:spPr>
        <p:txBody>
          <a:bodyPr wrap="square" lIns="0" rIns="0" tIns="0" bIns="0" anchor="t">
            <a:spAutoFit/>
          </a:bodyPr>
          <a:lstStyle/>
          <a:p>
            <a:pPr algn="l">
              <a:lnSpc>
                <a:spcPct val="114000"/>
              </a:lnSpc>
            </a:pPr>
            <a:r>
              <a:rPr sz="1300" b="0" i="0">
                <a:solidFill>
                  <a:srgbClr val="21295C"/>
                </a:solidFill>
                <a:latin typeface="Arial"/>
              </a:rPr>
              <a:t>external calls (they fail, they stall) + loops (they diverge) + trajectory nondeterminism + a new attack surface</a:t>
            </a:r>
          </a:p>
        </p:txBody>
      </p:sp>
      <p:sp>
        <p:nvSpPr>
          <p:cNvPr id="20" name="Rounded Rectangle 19"/>
          <p:cNvSpPr/>
          <p:nvPr/>
        </p:nvSpPr>
        <p:spPr>
          <a:xfrm>
            <a:off x="502920" y="5413248"/>
            <a:ext cx="11201400" cy="84124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04088" y="5468112"/>
            <a:ext cx="10799064" cy="731520"/>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Do not complicate the architecture without a reason expressed in the task</a:t>
            </a:r>
            <a:r>
              <a:rPr sz="780" baseline="30000" b="0" i="1">
                <a:latin typeface="Arial"/>
                <a:cs typeface="Arial"/>
                <a:ea typeface="Arial"/>
                <a:solidFill>
                  <a:srgbClr val="1C7293"/>
                </a:solidFill>
              </a:rPr>
              <a:t>[1]</a:t>
            </a:r>
            <a:r>
              <a:rPr sz="1500" b="1" i="0">
                <a:latin typeface="Arial"/>
                <a:cs typeface="Arial"/>
                <a:ea typeface="Arial"/>
                <a:solidFill>
                  <a:srgbClr val="21295C"/>
                </a:solidFill>
              </a:rPr>
              <a:t>'s requirements. This is placing the burden of proof, not primitivism.</a:t>
            </a:r>
          </a:p>
        </p:txBody>
      </p:sp>
      <p:sp>
        <p:nvSpPr>
          <p:cNvPr id="22" name="TextBox 21"/>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Anthropic — Building Effective Agents ("find the simplest")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A role in the prompt tunes the tone — not the accuracy.</a:t>
            </a:r>
          </a:p>
        </p:txBody>
      </p:sp>
      <p:sp>
        <p:nvSpPr>
          <p:cNvPr id="3" name="TextBox 2"/>
          <p:cNvSpPr txBox="1"/>
          <p:nvPr/>
        </p:nvSpPr>
        <p:spPr>
          <a:xfrm>
            <a:off x="502920" y="1060704"/>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“You are an experienced lawyer” shifts the model's attention (the mechanism — Lecture 2) toward text that resembles such a role's answer — but that is about style, not about facts.</a:t>
            </a:r>
          </a:p>
        </p:txBody>
      </p:sp>
      <p:sp>
        <p:nvSpPr>
          <p:cNvPr id="4" name="Rounded Rectangle 3"/>
          <p:cNvSpPr/>
          <p:nvPr/>
        </p:nvSpPr>
        <p:spPr>
          <a:xfrm>
            <a:off x="502920" y="1700784"/>
            <a:ext cx="5806440" cy="3611880"/>
          </a:xfrm>
          <a:prstGeom prst="roundRect">
            <a:avLst>
              <a:gd name="adj" fmla="val 84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8952" y="1901952"/>
            <a:ext cx="5294375" cy="329184"/>
          </a:xfrm>
          <a:prstGeom prst="rect">
            <a:avLst/>
          </a:prstGeom>
          <a:noFill/>
        </p:spPr>
        <p:txBody>
          <a:bodyPr wrap="square" lIns="0" rIns="0" tIns="0" bIns="0" anchor="t">
            <a:spAutoFit/>
          </a:bodyPr>
          <a:lstStyle/>
          <a:p>
            <a:pPr algn="l">
              <a:lnSpc>
                <a:spcPct val="115000"/>
              </a:lnSpc>
            </a:pPr>
            <a:r>
              <a:rPr sz="1500" b="1" i="0">
                <a:solidFill>
                  <a:srgbClr val="1C7293"/>
                </a:solidFill>
                <a:latin typeface="Arial"/>
              </a:rPr>
              <a:t>The common myth</a:t>
            </a:r>
          </a:p>
        </p:txBody>
      </p:sp>
      <p:sp>
        <p:nvSpPr>
          <p:cNvPr id="6" name="TextBox 5"/>
          <p:cNvSpPr txBox="1"/>
          <p:nvPr/>
        </p:nvSpPr>
        <p:spPr>
          <a:xfrm>
            <a:off x="758952" y="2267712"/>
            <a:ext cx="5294375" cy="640080"/>
          </a:xfrm>
          <a:prstGeom prst="rect">
            <a:avLst/>
          </a:prstGeom>
          <a:noFill/>
        </p:spPr>
        <p:txBody>
          <a:bodyPr wrap="square" lIns="0" rIns="0" tIns="0" bIns="0" anchor="t">
            <a:spAutoFit/>
          </a:bodyPr>
          <a:lstStyle/>
          <a:p>
            <a:pPr algn="l">
              <a:lnSpc>
                <a:spcPct val="116000"/>
              </a:lnSpc>
            </a:pPr>
            <a:r>
              <a:rPr sz="1500" b="0" i="1">
                <a:solidFill>
                  <a:srgbClr val="5B6678"/>
                </a:solidFill>
                <a:latin typeface="Arial"/>
              </a:rPr>
              <a:t>“I'll write an expert role — and the model will answer facts more accurately”</a:t>
            </a:r>
          </a:p>
        </p:txBody>
      </p:sp>
      <p:cxnSp>
        <p:nvCxnSpPr>
          <p:cNvPr id="7" name="Connector 6"/>
          <p:cNvCxnSpPr/>
          <p:nvPr/>
        </p:nvCxnSpPr>
        <p:spPr>
          <a:xfrm>
            <a:off x="758952" y="2999232"/>
            <a:ext cx="5294375" cy="0"/>
          </a:xfrm>
          <a:prstGeom prst="line">
            <a:avLst/>
          </a:prstGeom>
          <a:ln w="12700">
            <a:solidFill>
              <a:srgbClr val="1C7293"/>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758952" y="3127248"/>
            <a:ext cx="5294375"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What the experiment showed</a:t>
            </a:r>
          </a:p>
        </p:txBody>
      </p:sp>
      <p:sp>
        <p:nvSpPr>
          <p:cNvPr id="9" name="TextBox 8"/>
          <p:cNvSpPr txBox="1"/>
          <p:nvPr/>
        </p:nvSpPr>
        <p:spPr>
          <a:xfrm>
            <a:off x="758952" y="3511296"/>
            <a:ext cx="5294375" cy="1645920"/>
          </a:xfrm>
          <a:prstGeom prst="rect">
            <a:avLst/>
          </a:prstGeom>
          <a:noFill/>
        </p:spPr>
        <p:txBody>
          <a:bodyPr wrap="square" lIns="0" rIns="0" tIns="0" bIns="0" anchor="t">
            <a:spAutoFit/>
          </a:bodyPr>
          <a:lstStyle/>
          <a:p>
            <a:pPr algn="l">
              <a:lnSpc>
                <a:spcPct val="122000"/>
              </a:lnSpc>
            </a:pPr>
            <a:r>
              <a:rPr sz="1400" b="0" i="0">
                <a:solidFill>
                  <a:srgbClr val="21295C"/>
                </a:solidFill>
                <a:latin typeface="Arial"/>
              </a:rPr>
              <a:t>162 personas · 6 relationship types · 8 domains · 2410 factual QA questions · 4 LLM families. Personas did NOT improve answer accuracy compared with answering with no persona at all</a:t>
            </a:r>
            <a:r>
              <a:rPr sz="728" baseline="30000" b="0" i="1">
                <a:latin typeface="Arial"/>
                <a:cs typeface="Arial"/>
                <a:ea typeface="Arial"/>
                <a:solidFill>
                  <a:srgbClr val="1C7293"/>
                </a:solidFill>
              </a:rPr>
              <a:t>[1]</a:t>
            </a:r>
            <a:r>
              <a:rPr sz="1400" b="0" i="0">
                <a:latin typeface="Arial"/>
                <a:cs typeface="Arial"/>
                <a:ea typeface="Arial"/>
                <a:solidFill>
                  <a:srgbClr val="21295C"/>
                </a:solidFill>
              </a:rPr>
              <a:t>.</a:t>
            </a:r>
          </a:p>
        </p:txBody>
      </p:sp>
      <p:sp>
        <p:nvSpPr>
          <p:cNvPr id="10" name="Rounded Rectangle 9"/>
          <p:cNvSpPr/>
          <p:nvPr/>
        </p:nvSpPr>
        <p:spPr>
          <a:xfrm>
            <a:off x="6537960" y="1700784"/>
            <a:ext cx="5166360" cy="1600200"/>
          </a:xfrm>
          <a:prstGeom prst="roundRect">
            <a:avLst>
              <a:gd name="adj" fmla="val 19047"/>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user-round-teal.png"/>
          <p:cNvPicPr>
            <a:picLocks noChangeAspect="1"/>
          </p:cNvPicPr>
          <p:nvPr/>
        </p:nvPicPr>
        <p:blipFill>
          <a:blip r:embed="rId2"/>
          <a:stretch>
            <a:fillRect/>
          </a:stretch>
        </p:blipFill>
        <p:spPr>
          <a:xfrm>
            <a:off x="6793992" y="1938528"/>
            <a:ext cx="475488" cy="475488"/>
          </a:xfrm>
          <a:prstGeom prst="rect">
            <a:avLst/>
          </a:prstGeom>
        </p:spPr>
      </p:pic>
      <p:sp>
        <p:nvSpPr>
          <p:cNvPr id="12" name="TextBox 11"/>
          <p:cNvSpPr txBox="1"/>
          <p:nvPr/>
        </p:nvSpPr>
        <p:spPr>
          <a:xfrm>
            <a:off x="7397496" y="1920240"/>
            <a:ext cx="4114800" cy="457200"/>
          </a:xfrm>
          <a:prstGeom prst="rect">
            <a:avLst/>
          </a:prstGeom>
          <a:noFill/>
        </p:spPr>
        <p:txBody>
          <a:bodyPr wrap="square" lIns="0" rIns="0" tIns="0" bIns="0" anchor="ctr">
            <a:spAutoFit/>
          </a:bodyPr>
          <a:lstStyle/>
          <a:p>
            <a:pPr algn="l">
              <a:lnSpc>
                <a:spcPct val="115000"/>
              </a:lnSpc>
            </a:pPr>
            <a:r>
              <a:rPr sz="1500" b="1" i="0">
                <a:solidFill>
                  <a:srgbClr val="028090"/>
                </a:solidFill>
                <a:latin typeface="Arial"/>
              </a:rPr>
              <a:t>What a role actually affects</a:t>
            </a:r>
          </a:p>
        </p:txBody>
      </p:sp>
      <p:sp>
        <p:nvSpPr>
          <p:cNvPr id="13" name="TextBox 12"/>
          <p:cNvSpPr txBox="1"/>
          <p:nvPr/>
        </p:nvSpPr>
        <p:spPr>
          <a:xfrm>
            <a:off x="6793992" y="2542032"/>
            <a:ext cx="4654296" cy="685800"/>
          </a:xfrm>
          <a:prstGeom prst="rect">
            <a:avLst/>
          </a:prstGeom>
          <a:noFill/>
        </p:spPr>
        <p:txBody>
          <a:bodyPr wrap="square" lIns="0" rIns="0" tIns="0" bIns="0" anchor="t">
            <a:spAutoFit/>
          </a:bodyPr>
          <a:lstStyle/>
          <a:p>
            <a:pPr algn="l">
              <a:lnSpc>
                <a:spcPct val="118000"/>
              </a:lnSpc>
            </a:pPr>
            <a:r>
              <a:rPr sz="1350" b="0" i="0">
                <a:solidFill>
                  <a:srgbClr val="21295C"/>
                </a:solidFill>
                <a:latin typeface="Arial"/>
              </a:rPr>
              <a:t>the tone and depth of the exposition — how formally and thoroughly, not whether a fact is correct (the effect is model-specific).</a:t>
            </a:r>
          </a:p>
        </p:txBody>
      </p:sp>
      <p:sp>
        <p:nvSpPr>
          <p:cNvPr id="14" name="Rounded Rectangle 13"/>
          <p:cNvSpPr/>
          <p:nvPr/>
        </p:nvSpPr>
        <p:spPr>
          <a:xfrm>
            <a:off x="6537960" y="3483864"/>
            <a:ext cx="5166360" cy="18288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39128" y="3538728"/>
            <a:ext cx="4764024" cy="1719072"/>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Need factual accuracy? The tool is not the wording of a role, but sound context and, where needed, RAG (grounding in a verifiable source). This is one more “magic pill” refuted by measurement.</a:t>
            </a:r>
          </a:p>
        </p:txBody>
      </p:sp>
      <p:sp>
        <p:nvSpPr>
          <p:cNvPr id="16" name="TextBox 15"/>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Zheng et al. 2024, Findings of EMNLP — personas don't improve factual accuracy</a:t>
            </a:r>
            <a:r>
              <a:rPr sz="850" i="1">
                <a:solidFill>
                  <a:srgbClr val="5B6678"/>
                </a:solidFill>
                <a:latin typeface="Arial"/>
              </a:rPr>
              <a:t>   ·   Zheng, Pei, Logeswaran, Lee, Jurgens · Findings of EMNLP 2024 (arXiv:2311.10054) + arXiv:2605.29420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1188720"/>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Prompt structure: separate instruction, context, data.</a:t>
            </a:r>
          </a:p>
        </p:txBody>
      </p:sp>
      <p:sp>
        <p:nvSpPr>
          <p:cNvPr id="3" name="TextBox 2"/>
          <p:cNvSpPr txBox="1"/>
          <p:nvPr/>
        </p:nvSpPr>
        <p:spPr>
          <a:xfrm>
            <a:off x="502920" y="1444752"/>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A flat prompt forces the model to guess where the instruction ends and the data begins. An explicit boundary removes that ambiguity.</a:t>
            </a:r>
          </a:p>
        </p:txBody>
      </p:sp>
      <p:sp>
        <p:nvSpPr>
          <p:cNvPr id="4" name="Rounded Rectangle 3"/>
          <p:cNvSpPr/>
          <p:nvPr/>
        </p:nvSpPr>
        <p:spPr>
          <a:xfrm>
            <a:off x="502920" y="1956816"/>
            <a:ext cx="5349240"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704088" y="2157984"/>
            <a:ext cx="658368" cy="658368"/>
          </a:xfrm>
          <a:prstGeom prst="roundRect">
            <a:avLst>
              <a:gd name="adj" fmla="val 16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races-white.png"/>
          <p:cNvPicPr>
            <a:picLocks noChangeAspect="1"/>
          </p:cNvPicPr>
          <p:nvPr/>
        </p:nvPicPr>
        <p:blipFill>
          <a:blip r:embed="rId2"/>
          <a:stretch>
            <a:fillRect/>
          </a:stretch>
        </p:blipFill>
        <p:spPr>
          <a:xfrm>
            <a:off x="813816" y="2267712"/>
            <a:ext cx="438912" cy="438912"/>
          </a:xfrm>
          <a:prstGeom prst="rect">
            <a:avLst/>
          </a:prstGeom>
        </p:spPr>
      </p:pic>
      <p:sp>
        <p:nvSpPr>
          <p:cNvPr id="7" name="TextBox 6"/>
          <p:cNvSpPr txBox="1"/>
          <p:nvPr/>
        </p:nvSpPr>
        <p:spPr>
          <a:xfrm>
            <a:off x="1545336" y="2139696"/>
            <a:ext cx="41148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Instruction</a:t>
            </a:r>
          </a:p>
        </p:txBody>
      </p:sp>
      <p:sp>
        <p:nvSpPr>
          <p:cNvPr id="8" name="TextBox 7"/>
          <p:cNvSpPr txBox="1"/>
          <p:nvPr/>
        </p:nvSpPr>
        <p:spPr>
          <a:xfrm>
            <a:off x="1545336" y="2523744"/>
            <a:ext cx="4114800" cy="365760"/>
          </a:xfrm>
          <a:prstGeom prst="rect">
            <a:avLst/>
          </a:prstGeom>
          <a:noFill/>
        </p:spPr>
        <p:txBody>
          <a:bodyPr wrap="square" lIns="0" rIns="0" tIns="0" bIns="0" anchor="t">
            <a:spAutoFit/>
          </a:bodyPr>
          <a:lstStyle/>
          <a:p>
            <a:pPr algn="l">
              <a:lnSpc>
                <a:spcPct val="115000"/>
              </a:lnSpc>
            </a:pPr>
            <a:r>
              <a:rPr sz="1300" b="0" i="1">
                <a:solidFill>
                  <a:srgbClr val="5B6678"/>
                </a:solidFill>
                <a:latin typeface="Arial"/>
              </a:rPr>
              <a:t>what to do</a:t>
            </a:r>
          </a:p>
        </p:txBody>
      </p:sp>
      <p:sp>
        <p:nvSpPr>
          <p:cNvPr id="9" name="Rounded Rectangle 8"/>
          <p:cNvSpPr/>
          <p:nvPr/>
        </p:nvSpPr>
        <p:spPr>
          <a:xfrm>
            <a:off x="502920" y="3163824"/>
            <a:ext cx="5349240"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04088" y="3364992"/>
            <a:ext cx="658368" cy="658368"/>
          </a:xfrm>
          <a:prstGeom prst="roundRect">
            <a:avLst>
              <a:gd name="adj" fmla="val 16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ook-open-white.png"/>
          <p:cNvPicPr>
            <a:picLocks noChangeAspect="1"/>
          </p:cNvPicPr>
          <p:nvPr/>
        </p:nvPicPr>
        <p:blipFill>
          <a:blip r:embed="rId3"/>
          <a:stretch>
            <a:fillRect/>
          </a:stretch>
        </p:blipFill>
        <p:spPr>
          <a:xfrm>
            <a:off x="813816" y="3474720"/>
            <a:ext cx="438912" cy="438912"/>
          </a:xfrm>
          <a:prstGeom prst="rect">
            <a:avLst/>
          </a:prstGeom>
        </p:spPr>
      </p:pic>
      <p:sp>
        <p:nvSpPr>
          <p:cNvPr id="12" name="TextBox 11"/>
          <p:cNvSpPr txBox="1"/>
          <p:nvPr/>
        </p:nvSpPr>
        <p:spPr>
          <a:xfrm>
            <a:off x="1545336" y="3346704"/>
            <a:ext cx="41148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Context</a:t>
            </a:r>
          </a:p>
        </p:txBody>
      </p:sp>
      <p:sp>
        <p:nvSpPr>
          <p:cNvPr id="13" name="TextBox 12"/>
          <p:cNvSpPr txBox="1"/>
          <p:nvPr/>
        </p:nvSpPr>
        <p:spPr>
          <a:xfrm>
            <a:off x="1545336" y="3730752"/>
            <a:ext cx="4114800" cy="365760"/>
          </a:xfrm>
          <a:prstGeom prst="rect">
            <a:avLst/>
          </a:prstGeom>
          <a:noFill/>
        </p:spPr>
        <p:txBody>
          <a:bodyPr wrap="square" lIns="0" rIns="0" tIns="0" bIns="0" anchor="t">
            <a:spAutoFit/>
          </a:bodyPr>
          <a:lstStyle/>
          <a:p>
            <a:pPr algn="l">
              <a:lnSpc>
                <a:spcPct val="115000"/>
              </a:lnSpc>
            </a:pPr>
            <a:r>
              <a:rPr sz="1300" b="0" i="1">
                <a:solidFill>
                  <a:srgbClr val="5B6678"/>
                </a:solidFill>
                <a:latin typeface="Arial"/>
              </a:rPr>
              <a:t>on what basis</a:t>
            </a:r>
          </a:p>
        </p:txBody>
      </p:sp>
      <p:sp>
        <p:nvSpPr>
          <p:cNvPr id="14" name="Rounded Rectangle 13"/>
          <p:cNvSpPr/>
          <p:nvPr/>
        </p:nvSpPr>
        <p:spPr>
          <a:xfrm>
            <a:off x="502920" y="4370831"/>
            <a:ext cx="5349240" cy="1060704"/>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04088" y="4571999"/>
            <a:ext cx="658368" cy="658368"/>
          </a:xfrm>
          <a:prstGeom prst="roundRect">
            <a:avLst>
              <a:gd name="adj" fmla="val 16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atabase-white.png"/>
          <p:cNvPicPr>
            <a:picLocks noChangeAspect="1"/>
          </p:cNvPicPr>
          <p:nvPr/>
        </p:nvPicPr>
        <p:blipFill>
          <a:blip r:embed="rId4"/>
          <a:stretch>
            <a:fillRect/>
          </a:stretch>
        </p:blipFill>
        <p:spPr>
          <a:xfrm>
            <a:off x="813816" y="4681727"/>
            <a:ext cx="438912" cy="438912"/>
          </a:xfrm>
          <a:prstGeom prst="rect">
            <a:avLst/>
          </a:prstGeom>
        </p:spPr>
      </p:pic>
      <p:sp>
        <p:nvSpPr>
          <p:cNvPr id="17" name="TextBox 16"/>
          <p:cNvSpPr txBox="1"/>
          <p:nvPr/>
        </p:nvSpPr>
        <p:spPr>
          <a:xfrm>
            <a:off x="1545336" y="4553712"/>
            <a:ext cx="41148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Data</a:t>
            </a:r>
          </a:p>
        </p:txBody>
      </p:sp>
      <p:sp>
        <p:nvSpPr>
          <p:cNvPr id="18" name="TextBox 17"/>
          <p:cNvSpPr txBox="1"/>
          <p:nvPr/>
        </p:nvSpPr>
        <p:spPr>
          <a:xfrm>
            <a:off x="1545336" y="4937759"/>
            <a:ext cx="4114800" cy="365760"/>
          </a:xfrm>
          <a:prstGeom prst="rect">
            <a:avLst/>
          </a:prstGeom>
          <a:noFill/>
        </p:spPr>
        <p:txBody>
          <a:bodyPr wrap="square" lIns="0" rIns="0" tIns="0" bIns="0" anchor="t">
            <a:spAutoFit/>
          </a:bodyPr>
          <a:lstStyle/>
          <a:p>
            <a:pPr algn="l">
              <a:lnSpc>
                <a:spcPct val="115000"/>
              </a:lnSpc>
            </a:pPr>
            <a:r>
              <a:rPr sz="1300" b="0" i="1">
                <a:solidFill>
                  <a:srgbClr val="5B6678"/>
                </a:solidFill>
                <a:latin typeface="Arial"/>
              </a:rPr>
              <a:t>what exactly to work with</a:t>
            </a:r>
          </a:p>
        </p:txBody>
      </p:sp>
      <p:sp>
        <p:nvSpPr>
          <p:cNvPr id="19" name="Rounded Rectangle 18"/>
          <p:cNvSpPr/>
          <p:nvPr/>
        </p:nvSpPr>
        <p:spPr>
          <a:xfrm>
            <a:off x="6537960" y="1956816"/>
            <a:ext cx="5166360" cy="1783080"/>
          </a:xfrm>
          <a:prstGeom prst="roundRect">
            <a:avLst>
              <a:gd name="adj" fmla="val 1709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93992" y="2121408"/>
            <a:ext cx="4654296" cy="329184"/>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Delimiters</a:t>
            </a:r>
          </a:p>
        </p:txBody>
      </p:sp>
      <p:sp>
        <p:nvSpPr>
          <p:cNvPr id="21" name="Oval 20"/>
          <p:cNvSpPr/>
          <p:nvPr/>
        </p:nvSpPr>
        <p:spPr>
          <a:xfrm>
            <a:off x="6812280" y="2569464"/>
            <a:ext cx="109728" cy="10972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31736" y="2523744"/>
            <a:ext cx="4416552" cy="347472"/>
          </a:xfrm>
          <a:prstGeom prst="rect">
            <a:avLst/>
          </a:prstGeom>
          <a:noFill/>
        </p:spPr>
        <p:txBody>
          <a:bodyPr wrap="square" lIns="0" rIns="0" tIns="0" bIns="0" anchor="t">
            <a:spAutoFit/>
          </a:bodyPr>
          <a:lstStyle/>
          <a:p>
            <a:pPr algn="l">
              <a:lnSpc>
                <a:spcPct val="105000"/>
              </a:lnSpc>
            </a:pPr>
            <a:r>
              <a:rPr sz="1300" b="0" i="0">
                <a:solidFill>
                  <a:srgbClr val="21295C"/>
                </a:solidFill>
                <a:latin typeface="Liberation Mono"/>
              </a:rPr>
              <a:t>XML tags:  &lt;instruction&gt;…&lt;/instruction&gt;</a:t>
            </a:r>
          </a:p>
        </p:txBody>
      </p:sp>
      <p:sp>
        <p:nvSpPr>
          <p:cNvPr id="23" name="Oval 22"/>
          <p:cNvSpPr/>
          <p:nvPr/>
        </p:nvSpPr>
        <p:spPr>
          <a:xfrm>
            <a:off x="6812280" y="2935224"/>
            <a:ext cx="109728" cy="10972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031736" y="2889504"/>
            <a:ext cx="4416552" cy="347472"/>
          </a:xfrm>
          <a:prstGeom prst="rect">
            <a:avLst/>
          </a:prstGeom>
          <a:noFill/>
        </p:spPr>
        <p:txBody>
          <a:bodyPr wrap="square" lIns="0" rIns="0" tIns="0" bIns="0" anchor="t">
            <a:spAutoFit/>
          </a:bodyPr>
          <a:lstStyle/>
          <a:p>
            <a:pPr algn="l">
              <a:lnSpc>
                <a:spcPct val="105000"/>
              </a:lnSpc>
            </a:pPr>
            <a:r>
              <a:rPr sz="1300" b="0" i="0">
                <a:solidFill>
                  <a:srgbClr val="21295C"/>
                </a:solidFill>
                <a:latin typeface="Liberation Mono"/>
              </a:rPr>
              <a:t>Markdown headings:  ## Task · ## Data</a:t>
            </a:r>
          </a:p>
        </p:txBody>
      </p:sp>
      <p:sp>
        <p:nvSpPr>
          <p:cNvPr id="25" name="Oval 24"/>
          <p:cNvSpPr/>
          <p:nvPr/>
        </p:nvSpPr>
        <p:spPr>
          <a:xfrm>
            <a:off x="6812280" y="3300984"/>
            <a:ext cx="109728" cy="109728"/>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31736" y="3255264"/>
            <a:ext cx="4416552" cy="347472"/>
          </a:xfrm>
          <a:prstGeom prst="rect">
            <a:avLst/>
          </a:prstGeom>
          <a:noFill/>
        </p:spPr>
        <p:txBody>
          <a:bodyPr wrap="square" lIns="0" rIns="0" tIns="0" bIns="0" anchor="t">
            <a:spAutoFit/>
          </a:bodyPr>
          <a:lstStyle/>
          <a:p>
            <a:pPr algn="l">
              <a:lnSpc>
                <a:spcPct val="105000"/>
              </a:lnSpc>
            </a:pPr>
            <a:r>
              <a:rPr sz="1300" b="0" i="0">
                <a:solidFill>
                  <a:srgbClr val="21295C"/>
                </a:solidFill>
                <a:latin typeface="Arial"/>
              </a:rPr>
              <a:t>Triple quotes / backticks around the data</a:t>
            </a:r>
          </a:p>
        </p:txBody>
      </p:sp>
      <p:sp>
        <p:nvSpPr>
          <p:cNvPr id="27" name="Rounded Rectangle 26"/>
          <p:cNvSpPr/>
          <p:nvPr/>
        </p:nvSpPr>
        <p:spPr>
          <a:xfrm>
            <a:off x="6537960" y="3877056"/>
            <a:ext cx="5166360" cy="1554480"/>
          </a:xfrm>
          <a:prstGeom prst="roundRect">
            <a:avLst>
              <a:gd name="adj" fmla="val 19607"/>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793992" y="4005072"/>
            <a:ext cx="4654296" cy="1316736"/>
          </a:xfrm>
          <a:prstGeom prst="rect">
            <a:avLst/>
          </a:prstGeom>
          <a:noFill/>
        </p:spPr>
        <p:txBody>
          <a:bodyPr wrap="square" lIns="0" rIns="0" tIns="0" bIns="0" anchor="t">
            <a:spAutoFit/>
          </a:bodyPr>
          <a:lstStyle/>
          <a:p>
            <a:pPr algn="l">
              <a:lnSpc>
                <a:spcPct val="120000"/>
              </a:lnSpc>
            </a:pPr>
            <a:r>
              <a:rPr sz="1350" b="0" i="0">
                <a:solidFill>
                  <a:srgbClr val="21295C"/>
                </a:solidFill>
                <a:latin typeface="Arial"/>
              </a:rPr>
              <a:t>The same principle as structured output (Section 4): there the schema sets the structure of the OUTPUT, here delimiters set the structure of the INPUT. Clear structure instead of “infer the format from meaning.”</a:t>
            </a:r>
          </a:p>
        </p:txBody>
      </p:sp>
      <p:sp>
        <p:nvSpPr>
          <p:cNvPr id="29" name="Rounded Rectangle 28"/>
          <p:cNvSpPr/>
          <p:nvPr/>
        </p:nvSpPr>
        <p:spPr>
          <a:xfrm>
            <a:off x="502920" y="5468112"/>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04088" y="5522976"/>
            <a:ext cx="10799064" cy="67665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A model that has been shown where the instruction ends and the data begins less often mistakes a fragment of data for a new command — the same confusion underlies prompt injection (Section 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Chain-of-thought helps — but it cannot be audited.</a:t>
            </a:r>
          </a:p>
        </p:txBody>
      </p:sp>
      <p:sp>
        <p:nvSpPr>
          <p:cNvPr id="3" name="Rounded Rectangle 2"/>
          <p:cNvSpPr/>
          <p:nvPr/>
        </p:nvSpPr>
        <p:spPr>
          <a:xfrm>
            <a:off x="502920" y="1060704"/>
            <a:ext cx="5532120" cy="1847088"/>
          </a:xfrm>
          <a:prstGeom prst="roundRect">
            <a:avLst>
              <a:gd name="adj" fmla="val 165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58952" y="1188719"/>
            <a:ext cx="5020056" cy="310896"/>
          </a:xfrm>
          <a:prstGeom prst="rect">
            <a:avLst/>
          </a:prstGeom>
          <a:noFill/>
        </p:spPr>
        <p:txBody>
          <a:bodyPr wrap="square" lIns="0" rIns="0" tIns="0" bIns="0" anchor="t">
            <a:spAutoFit/>
          </a:bodyPr>
          <a:lstStyle/>
          <a:p>
            <a:pPr algn="l">
              <a:lnSpc>
                <a:spcPct val="115000"/>
              </a:lnSpc>
            </a:pPr>
            <a:r>
              <a:rPr sz="1500" b="1" i="0">
                <a:solidFill>
                  <a:srgbClr val="1C7293"/>
                </a:solidFill>
                <a:latin typeface="Arial"/>
              </a:rPr>
              <a:t>Without CoT</a:t>
            </a:r>
          </a:p>
        </p:txBody>
      </p:sp>
      <p:sp>
        <p:nvSpPr>
          <p:cNvPr id="5" name="TextBox 4"/>
          <p:cNvSpPr txBox="1"/>
          <p:nvPr/>
        </p:nvSpPr>
        <p:spPr>
          <a:xfrm>
            <a:off x="758952" y="1536192"/>
            <a:ext cx="5020056" cy="777240"/>
          </a:xfrm>
          <a:prstGeom prst="rect">
            <a:avLst/>
          </a:prstGeom>
          <a:noFill/>
        </p:spPr>
        <p:txBody>
          <a:bodyPr wrap="square" lIns="0" rIns="0" tIns="0" bIns="0" anchor="t">
            <a:spAutoFit/>
          </a:bodyPr>
          <a:lstStyle/>
          <a:p>
            <a:pPr algn="l">
              <a:lnSpc>
                <a:spcPct val="114000"/>
              </a:lnSpc>
            </a:pPr>
            <a:r>
              <a:rPr sz="1300" b="0" i="0">
                <a:solidFill>
                  <a:srgbClr val="21295C"/>
                </a:solidFill>
                <a:latin typeface="Arial"/>
              </a:rPr>
              <a:t>“There were 23 apples, 7 went bad, we bought 2 more crates of 6. How many good ones?”</a:t>
            </a:r>
          </a:p>
        </p:txBody>
      </p:sp>
      <p:sp>
        <p:nvSpPr>
          <p:cNvPr id="6" name="TextBox 5"/>
          <p:cNvSpPr txBox="1"/>
          <p:nvPr/>
        </p:nvSpPr>
        <p:spPr>
          <a:xfrm>
            <a:off x="758952" y="2359152"/>
            <a:ext cx="5020056" cy="457200"/>
          </a:xfrm>
          <a:prstGeom prst="rect">
            <a:avLst/>
          </a:prstGeom>
          <a:noFill/>
        </p:spPr>
        <p:txBody>
          <a:bodyPr wrap="square" lIns="0" rIns="0" tIns="0" bIns="0" anchor="t">
            <a:spAutoFit/>
          </a:bodyPr>
          <a:lstStyle/>
          <a:p>
            <a:pPr algn="l">
              <a:lnSpc>
                <a:spcPct val="115000"/>
              </a:lnSpc>
            </a:pPr>
            <a:r>
              <a:rPr sz="1300" b="1" i="0">
                <a:solidFill>
                  <a:srgbClr val="5B6678"/>
                </a:solidFill>
                <a:latin typeface="Arial"/>
              </a:rPr>
              <a:t>→ a plausible but wrong number</a:t>
            </a:r>
          </a:p>
        </p:txBody>
      </p:sp>
      <p:sp>
        <p:nvSpPr>
          <p:cNvPr id="7" name="Rounded Rectangle 6"/>
          <p:cNvSpPr/>
          <p:nvPr/>
        </p:nvSpPr>
        <p:spPr>
          <a:xfrm>
            <a:off x="6172200" y="1060704"/>
            <a:ext cx="5532120" cy="1847088"/>
          </a:xfrm>
          <a:prstGeom prst="roundRect">
            <a:avLst>
              <a:gd name="adj" fmla="val 1650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28232" y="1188719"/>
            <a:ext cx="5020056" cy="310896"/>
          </a:xfrm>
          <a:prstGeom prst="rect">
            <a:avLst/>
          </a:prstGeom>
          <a:noFill/>
        </p:spPr>
        <p:txBody>
          <a:bodyPr wrap="square" lIns="0" rIns="0" tIns="0" bIns="0" anchor="t">
            <a:spAutoFit/>
          </a:bodyPr>
          <a:lstStyle/>
          <a:p>
            <a:pPr algn="l">
              <a:lnSpc>
                <a:spcPct val="115000"/>
              </a:lnSpc>
            </a:pPr>
            <a:r>
              <a:rPr sz="1500" b="1" i="0">
                <a:solidFill>
                  <a:srgbClr val="028090"/>
                </a:solidFill>
                <a:latin typeface="Arial"/>
              </a:rPr>
              <a:t>With CoT (“solve step by step”)</a:t>
            </a:r>
          </a:p>
        </p:txBody>
      </p:sp>
      <p:sp>
        <p:nvSpPr>
          <p:cNvPr id="9" name="TextBox 8"/>
          <p:cNvSpPr txBox="1"/>
          <p:nvPr/>
        </p:nvSpPr>
        <p:spPr>
          <a:xfrm>
            <a:off x="6446520" y="1572768"/>
            <a:ext cx="4983480" cy="822960"/>
          </a:xfrm>
          <a:prstGeom prst="rect">
            <a:avLst/>
          </a:prstGeom>
          <a:noFill/>
        </p:spPr>
        <p:txBody>
          <a:bodyPr wrap="square" lIns="0" rIns="0" tIns="0" bIns="0" anchor="t">
            <a:spAutoFit/>
          </a:bodyPr>
          <a:lstStyle/>
          <a:p>
            <a:pPr algn="l">
              <a:lnSpc>
                <a:spcPct val="110000"/>
              </a:lnSpc>
            </a:pPr>
            <a:r>
              <a:rPr sz="1500" b="1" i="0">
                <a:solidFill>
                  <a:srgbClr val="21295C"/>
                </a:solidFill>
                <a:latin typeface="Arial"/>
              </a:rPr>
              <a:t>23 − 7 = 16</a:t>
            </a:r>
            <a:r>
              <a:rPr sz="780" baseline="30000" b="0" i="1">
                <a:latin typeface="Arial"/>
                <a:cs typeface="Arial"/>
                <a:ea typeface="Arial"/>
                <a:solidFill>
                  <a:srgbClr val="1C7293"/>
                </a:solidFill>
              </a:rPr>
              <a:t>[1]</a:t>
            </a:r>
            <a:r>
              <a:rPr sz="1500" b="1" i="0">
                <a:latin typeface="Arial"/>
                <a:cs typeface="Arial"/>
                <a:ea typeface="Arial"/>
                <a:solidFill>
                  <a:srgbClr val="21295C"/>
                </a:solidFill>
              </a:rPr>
              <a:t>    ·    2 × 6 = 12</a:t>
            </a:r>
          </a:p>
          <a:p>
            <a:pPr algn="l">
              <a:lnSpc>
                <a:spcPct val="110000"/>
              </a:lnSpc>
              <a:spcBef>
                <a:spcPts val="600"/>
              </a:spcBef>
            </a:pPr>
            <a:r>
              <a:rPr sz="2200" b="1" i="0">
                <a:solidFill>
                  <a:srgbClr val="F0AB00"/>
                </a:solidFill>
                <a:latin typeface="Arial"/>
              </a:rPr>
              <a:t>16 + 12 = 28</a:t>
            </a:r>
          </a:p>
        </p:txBody>
      </p:sp>
      <p:sp>
        <p:nvSpPr>
          <p:cNvPr id="10" name="TextBox 9"/>
          <p:cNvSpPr txBox="1"/>
          <p:nvPr/>
        </p:nvSpPr>
        <p:spPr>
          <a:xfrm>
            <a:off x="6446520" y="2487168"/>
            <a:ext cx="4983480" cy="329184"/>
          </a:xfrm>
          <a:prstGeom prst="rect">
            <a:avLst/>
          </a:prstGeom>
          <a:noFill/>
        </p:spPr>
        <p:txBody>
          <a:bodyPr wrap="square" lIns="0" rIns="0" tIns="0" bIns="0" anchor="t">
            <a:spAutoFit/>
          </a:bodyPr>
          <a:lstStyle/>
          <a:p>
            <a:pPr algn="l">
              <a:lnSpc>
                <a:spcPct val="115000"/>
              </a:lnSpc>
            </a:pPr>
            <a:r>
              <a:rPr sz="1300" b="1" i="0">
                <a:solidFill>
                  <a:srgbClr val="028090"/>
                </a:solidFill>
                <a:latin typeface="Arial"/>
              </a:rPr>
              <a:t>→ correct</a:t>
            </a:r>
          </a:p>
        </p:txBody>
      </p:sp>
      <p:sp>
        <p:nvSpPr>
          <p:cNvPr id="11" name="TextBox 10"/>
          <p:cNvSpPr txBox="1"/>
          <p:nvPr/>
        </p:nvSpPr>
        <p:spPr>
          <a:xfrm>
            <a:off x="502920" y="2962656"/>
            <a:ext cx="11201400" cy="256032"/>
          </a:xfrm>
          <a:prstGeom prst="rect">
            <a:avLst/>
          </a:prstGeom>
          <a:noFill/>
        </p:spPr>
        <p:txBody>
          <a:bodyPr wrap="square" lIns="0" rIns="0" tIns="0" bIns="0" anchor="t">
            <a:spAutoFit/>
          </a:bodyPr>
          <a:lstStyle/>
          <a:p>
            <a:pPr algn="l">
              <a:lnSpc>
                <a:spcPct val="115000"/>
              </a:lnSpc>
            </a:pPr>
            <a:r>
              <a:rPr sz="1200" b="0" i="1">
                <a:solidFill>
                  <a:srgbClr val="065A82"/>
                </a:solidFill>
                <a:latin typeface="Arial"/>
              </a:rPr>
              <a:t>Technically this is still a single call — CoT is a tool for a class of tasks (a chain of steps), not a global switch.</a:t>
            </a:r>
          </a:p>
        </p:txBody>
      </p:sp>
      <p:sp>
        <p:nvSpPr>
          <p:cNvPr id="12" name="TextBox 11"/>
          <p:cNvSpPr txBox="1"/>
          <p:nvPr/>
        </p:nvSpPr>
        <p:spPr>
          <a:xfrm>
            <a:off x="502920" y="3383280"/>
            <a:ext cx="11201400" cy="310896"/>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But the spoken-out reasoning is not obliged to reflect the real cause of the answer (low faithfulness):</a:t>
            </a:r>
          </a:p>
        </p:txBody>
      </p:sp>
      <p:sp>
        <p:nvSpPr>
          <p:cNvPr id="13" name="Rounded Rectangle 12"/>
          <p:cNvSpPr/>
          <p:nvPr/>
        </p:nvSpPr>
        <p:spPr>
          <a:xfrm>
            <a:off x="502920" y="3803904"/>
            <a:ext cx="2148840" cy="1417320"/>
          </a:xfrm>
          <a:prstGeom prst="roundRect">
            <a:avLst>
              <a:gd name="adj" fmla="val 21505"/>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4360" y="3968496"/>
            <a:ext cx="1965960" cy="640080"/>
          </a:xfrm>
          <a:prstGeom prst="rect">
            <a:avLst/>
          </a:prstGeom>
          <a:noFill/>
        </p:spPr>
        <p:txBody>
          <a:bodyPr wrap="square" lIns="0" rIns="0" tIns="0" bIns="0" anchor="t">
            <a:spAutoFit/>
          </a:bodyPr>
          <a:lstStyle/>
          <a:p>
            <a:pPr algn="ctr">
              <a:lnSpc>
                <a:spcPct val="115000"/>
              </a:lnSpc>
            </a:pPr>
            <a:r>
              <a:rPr sz="3600" b="1" i="0">
                <a:solidFill>
                  <a:srgbClr val="F0AB00"/>
                </a:solidFill>
                <a:latin typeface="Arial"/>
              </a:rPr>
              <a:t>~25%</a:t>
            </a:r>
          </a:p>
        </p:txBody>
      </p:sp>
      <p:sp>
        <p:nvSpPr>
          <p:cNvPr id="15" name="TextBox 14"/>
          <p:cNvSpPr txBox="1"/>
          <p:nvPr/>
        </p:nvSpPr>
        <p:spPr>
          <a:xfrm>
            <a:off x="594360" y="4645152"/>
            <a:ext cx="1965960" cy="502920"/>
          </a:xfrm>
          <a:prstGeom prst="rect">
            <a:avLst/>
          </a:prstGeom>
          <a:noFill/>
        </p:spPr>
        <p:txBody>
          <a:bodyPr wrap="square" lIns="0" rIns="0" tIns="0" bIns="0" anchor="t">
            <a:spAutoFit/>
          </a:bodyPr>
          <a:lstStyle/>
          <a:p>
            <a:pPr algn="ctr">
              <a:lnSpc>
                <a:spcPct val="105000"/>
              </a:lnSpc>
            </a:pPr>
            <a:r>
              <a:rPr sz="1200" b="1" i="0">
                <a:solidFill>
                  <a:srgbClr val="21295C"/>
                </a:solidFill>
                <a:latin typeface="Arial"/>
              </a:rPr>
              <a:t>Claude 3.7 Sonnet</a:t>
            </a:r>
          </a:p>
        </p:txBody>
      </p:sp>
      <p:sp>
        <p:nvSpPr>
          <p:cNvPr id="16" name="Rounded Rectangle 15"/>
          <p:cNvSpPr/>
          <p:nvPr/>
        </p:nvSpPr>
        <p:spPr>
          <a:xfrm>
            <a:off x="2834639" y="3803904"/>
            <a:ext cx="214884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26079" y="3968496"/>
            <a:ext cx="1965960" cy="640080"/>
          </a:xfrm>
          <a:prstGeom prst="rect">
            <a:avLst/>
          </a:prstGeom>
          <a:noFill/>
        </p:spPr>
        <p:txBody>
          <a:bodyPr wrap="square" lIns="0" rIns="0" tIns="0" bIns="0" anchor="t">
            <a:spAutoFit/>
          </a:bodyPr>
          <a:lstStyle/>
          <a:p>
            <a:pPr algn="ctr">
              <a:lnSpc>
                <a:spcPct val="115000"/>
              </a:lnSpc>
            </a:pPr>
            <a:r>
              <a:rPr sz="3600" b="1" i="0">
                <a:solidFill>
                  <a:srgbClr val="065A82"/>
                </a:solidFill>
                <a:latin typeface="Arial"/>
              </a:rPr>
              <a:t>~39%</a:t>
            </a:r>
          </a:p>
        </p:txBody>
      </p:sp>
      <p:sp>
        <p:nvSpPr>
          <p:cNvPr id="18" name="TextBox 17"/>
          <p:cNvSpPr txBox="1"/>
          <p:nvPr/>
        </p:nvSpPr>
        <p:spPr>
          <a:xfrm>
            <a:off x="2926079" y="4645152"/>
            <a:ext cx="1965960" cy="502920"/>
          </a:xfrm>
          <a:prstGeom prst="rect">
            <a:avLst/>
          </a:prstGeom>
          <a:noFill/>
        </p:spPr>
        <p:txBody>
          <a:bodyPr wrap="square" lIns="0" rIns="0" tIns="0" bIns="0" anchor="t">
            <a:spAutoFit/>
          </a:bodyPr>
          <a:lstStyle/>
          <a:p>
            <a:pPr algn="ctr">
              <a:lnSpc>
                <a:spcPct val="105000"/>
              </a:lnSpc>
            </a:pPr>
            <a:r>
              <a:rPr sz="1200" b="1" i="0">
                <a:solidFill>
                  <a:srgbClr val="21295C"/>
                </a:solidFill>
                <a:latin typeface="Arial"/>
              </a:rPr>
              <a:t>DeepSeek R1</a:t>
            </a:r>
          </a:p>
        </p:txBody>
      </p:sp>
      <p:sp>
        <p:nvSpPr>
          <p:cNvPr id="19" name="TextBox 18"/>
          <p:cNvSpPr txBox="1"/>
          <p:nvPr/>
        </p:nvSpPr>
        <p:spPr>
          <a:xfrm>
            <a:off x="502920" y="5266944"/>
            <a:ext cx="4709160" cy="457200"/>
          </a:xfrm>
          <a:prstGeom prst="rect">
            <a:avLst/>
          </a:prstGeom>
          <a:noFill/>
        </p:spPr>
        <p:txBody>
          <a:bodyPr wrap="square" lIns="0" rIns="0" tIns="0" bIns="0" anchor="t">
            <a:spAutoFit/>
          </a:bodyPr>
          <a:lstStyle/>
          <a:p>
            <a:pPr algn="l">
              <a:lnSpc>
                <a:spcPct val="110000"/>
              </a:lnSpc>
            </a:pPr>
            <a:r>
              <a:rPr sz="1150" b="0" i="1">
                <a:solidFill>
                  <a:srgbClr val="5B6678"/>
                </a:solidFill>
                <a:latin typeface="Arial"/>
              </a:rPr>
              <a:t>— the share of cases where the model mentioned the hint it actually used</a:t>
            </a:r>
            <a:r>
              <a:rPr sz="598" baseline="30000" b="0" i="1">
                <a:latin typeface="Arial"/>
                <a:cs typeface="Arial"/>
                <a:ea typeface="Arial"/>
                <a:solidFill>
                  <a:srgbClr val="1C7293"/>
                </a:solidFill>
              </a:rPr>
              <a:t>[2]</a:t>
            </a:r>
            <a:r>
              <a:rPr sz="1150" b="0" i="1">
                <a:latin typeface="Arial"/>
                <a:cs typeface="Arial"/>
                <a:ea typeface="Arial"/>
                <a:solidFill>
                  <a:srgbClr val="5B6678"/>
                </a:solidFill>
              </a:rPr>
              <a:t>.</a:t>
            </a:r>
          </a:p>
        </p:txBody>
      </p:sp>
      <p:sp>
        <p:nvSpPr>
          <p:cNvPr id="20" name="Rounded Rectangle 19"/>
          <p:cNvSpPr/>
          <p:nvPr/>
        </p:nvSpPr>
        <p:spPr>
          <a:xfrm>
            <a:off x="5394960" y="3803904"/>
            <a:ext cx="6309360" cy="192024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596128" y="3858768"/>
            <a:ext cx="5907024" cy="1810512"/>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Control based on the model's self-explanation is not control. A human validator checks the RESULT and the facts against an external source, not the plausibility of the text. And this is also why the check step in the agent loop (Section 4) must not be the model's self-assessment.</a:t>
            </a:r>
          </a:p>
        </p:txBody>
      </p:sp>
      <p:sp>
        <p:nvSpPr>
          <p:cNvPr id="22" name="TextBox 21"/>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Wei et al. 2022 — Chain-of-Thought Prompting</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4"/>
              </a:rPr>
              <a:t>Anthropic — Reasoning Models Don't Always Say What They Think</a:t>
            </a:r>
            <a:r>
              <a:rPr sz="850" i="1">
                <a:solidFill>
                  <a:srgbClr val="5B6678"/>
                </a:solidFill>
                <a:latin typeface="Arial"/>
              </a:rPr>
              <a:t>   ·   Anthropic, April 2025 · faithfulness drops on hard tasks · re-verify by the day of the lecture.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Context engineering: the minimum of high-signal.</a:t>
            </a:r>
          </a:p>
        </p:txBody>
      </p:sp>
      <p:sp>
        <p:nvSpPr>
          <p:cNvPr id="3" name="TextBox 2"/>
          <p:cNvSpPr txBox="1"/>
          <p:nvPr/>
        </p:nvSpPr>
        <p:spPr>
          <a:xfrm>
            <a:off x="502920" y="1097280"/>
            <a:ext cx="11201400" cy="50292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Prompt engineering is a single instruction. Context engineering is curating the whole set of tokens the model sees at inference.</a:t>
            </a:r>
          </a:p>
        </p:txBody>
      </p:sp>
      <p:sp>
        <p:nvSpPr>
          <p:cNvPr id="4" name="Rounded Rectangle 3"/>
          <p:cNvSpPr/>
          <p:nvPr/>
        </p:nvSpPr>
        <p:spPr>
          <a:xfrm>
            <a:off x="502920" y="1783080"/>
            <a:ext cx="644652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08-context-rot.png"/>
          <p:cNvPicPr>
            <a:picLocks noChangeAspect="1"/>
          </p:cNvPicPr>
          <p:nvPr/>
        </p:nvPicPr>
        <p:blipFill>
          <a:blip r:embed="rId2"/>
          <a:stretch>
            <a:fillRect/>
          </a:stretch>
        </p:blipFill>
        <p:spPr>
          <a:xfrm>
            <a:off x="1297736" y="1929384"/>
            <a:ext cx="4856886" cy="2953512"/>
          </a:xfrm>
          <a:prstGeom prst="rect">
            <a:avLst/>
          </a:prstGeom>
        </p:spPr>
      </p:pic>
      <p:sp>
        <p:nvSpPr>
          <p:cNvPr id="6" name="TextBox 5"/>
          <p:cNvSpPr txBox="1"/>
          <p:nvPr/>
        </p:nvSpPr>
        <p:spPr>
          <a:xfrm>
            <a:off x="667512" y="5047488"/>
            <a:ext cx="6117336" cy="384048"/>
          </a:xfrm>
          <a:prstGeom prst="rect">
            <a:avLst/>
          </a:prstGeom>
          <a:noFill/>
        </p:spPr>
        <p:txBody>
          <a:bodyPr wrap="square" lIns="0" rIns="0" tIns="0" bIns="0" anchor="t">
            <a:spAutoFit/>
          </a:bodyPr>
          <a:lstStyle/>
          <a:p>
            <a:pPr algn="ctr">
              <a:lnSpc>
                <a:spcPct val="115000"/>
              </a:lnSpc>
            </a:pPr>
            <a:r>
              <a:rPr sz="1150" b="0" i="1">
                <a:solidFill>
                  <a:srgbClr val="1C7293"/>
                </a:solidFill>
                <a:latin typeface="Arial"/>
              </a:rPr>
              <a:t>context rot = the same “lost in the middle” from L2 — a new term, not a new phenomenon</a:t>
            </a:r>
            <a:r>
              <a:rPr sz="598" baseline="30000" b="0" i="1">
                <a:latin typeface="Arial"/>
                <a:cs typeface="Arial"/>
                <a:ea typeface="Arial"/>
                <a:solidFill>
                  <a:srgbClr val="1C7293"/>
                </a:solidFill>
              </a:rPr>
              <a:t>[1,2]</a:t>
            </a:r>
          </a:p>
        </p:txBody>
      </p:sp>
      <p:sp>
        <p:nvSpPr>
          <p:cNvPr id="7" name="Rounded Rectangle 6"/>
          <p:cNvSpPr/>
          <p:nvPr/>
        </p:nvSpPr>
        <p:spPr>
          <a:xfrm>
            <a:off x="7178040" y="1783080"/>
            <a:ext cx="4526280" cy="3246120"/>
          </a:xfrm>
          <a:prstGeom prst="roundRect">
            <a:avLst>
              <a:gd name="adj" fmla="val 9389"/>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34071" y="1975104"/>
            <a:ext cx="4014216" cy="411480"/>
          </a:xfrm>
          <a:prstGeom prst="rect">
            <a:avLst/>
          </a:prstGeom>
          <a:noFill/>
        </p:spPr>
        <p:txBody>
          <a:bodyPr wrap="square" lIns="0" rIns="0" tIns="0" bIns="0" anchor="t">
            <a:spAutoFit/>
          </a:bodyPr>
          <a:lstStyle/>
          <a:p>
            <a:pPr algn="l">
              <a:lnSpc>
                <a:spcPct val="115000"/>
              </a:lnSpc>
            </a:pPr>
            <a:r>
              <a:rPr sz="1700" b="1" i="0">
                <a:solidFill>
                  <a:srgbClr val="028090"/>
                </a:solidFill>
                <a:latin typeface="Arial"/>
              </a:rPr>
              <a:t>When NOT RAG (point 1)</a:t>
            </a:r>
          </a:p>
        </p:txBody>
      </p:sp>
      <p:sp>
        <p:nvSpPr>
          <p:cNvPr id="9" name="TextBox 8"/>
          <p:cNvSpPr txBox="1"/>
          <p:nvPr/>
        </p:nvSpPr>
        <p:spPr>
          <a:xfrm>
            <a:off x="7434071" y="2468880"/>
            <a:ext cx="4014216" cy="1417320"/>
          </a:xfrm>
          <a:prstGeom prst="rect">
            <a:avLst/>
          </a:prstGeom>
          <a:noFill/>
        </p:spPr>
        <p:txBody>
          <a:bodyPr wrap="square" lIns="0" rIns="0" tIns="0" bIns="0" anchor="t">
            <a:spAutoFit/>
          </a:bodyPr>
          <a:lstStyle/>
          <a:p>
            <a:pPr algn="l">
              <a:lnSpc>
                <a:spcPct val="122000"/>
              </a:lnSpc>
            </a:pPr>
            <a:r>
              <a:rPr sz="1500" b="0" i="0">
                <a:solidFill>
                  <a:srgbClr val="21295C"/>
                </a:solidFill>
                <a:latin typeface="Arial"/>
              </a:rPr>
              <a:t>a small, stable corpus that fits in the window → full-context + prefix caching, not RAG infrastructure</a:t>
            </a:r>
          </a:p>
        </p:txBody>
      </p:sp>
      <p:pic>
        <p:nvPicPr>
          <p:cNvPr id="10" name="Picture 9" descr="circle-slash-teal.png"/>
          <p:cNvPicPr>
            <a:picLocks noChangeAspect="1"/>
          </p:cNvPicPr>
          <p:nvPr/>
        </p:nvPicPr>
        <p:blipFill>
          <a:blip r:embed="rId3"/>
          <a:stretch>
            <a:fillRect/>
          </a:stretch>
        </p:blipFill>
        <p:spPr>
          <a:xfrm>
            <a:off x="7434071" y="4069080"/>
            <a:ext cx="713232" cy="713232"/>
          </a:xfrm>
          <a:prstGeom prst="rect">
            <a:avLst/>
          </a:prstGeom>
        </p:spPr>
      </p:pic>
      <p:sp>
        <p:nvSpPr>
          <p:cNvPr id="11" name="TextBox 10"/>
          <p:cNvSpPr txBox="1"/>
          <p:nvPr/>
        </p:nvSpPr>
        <p:spPr>
          <a:xfrm>
            <a:off x="8275319" y="4160520"/>
            <a:ext cx="3200400" cy="777240"/>
          </a:xfrm>
          <a:prstGeom prst="rect">
            <a:avLst/>
          </a:prstGeom>
          <a:noFill/>
        </p:spPr>
        <p:txBody>
          <a:bodyPr wrap="square" lIns="0" rIns="0" tIns="0" bIns="0" anchor="ctr">
            <a:spAutoFit/>
          </a:bodyPr>
          <a:lstStyle/>
          <a:p>
            <a:pPr algn="l">
              <a:lnSpc>
                <a:spcPct val="112000"/>
              </a:lnSpc>
            </a:pPr>
            <a:r>
              <a:rPr sz="1350" b="1" i="0">
                <a:solidFill>
                  <a:srgbClr val="21295C"/>
                </a:solidFill>
                <a:latin typeface="Arial"/>
              </a:rPr>
              <a:t>RAG here would add fragility with no gain</a:t>
            </a:r>
          </a:p>
        </p:txBody>
      </p:sp>
      <p:sp>
        <p:nvSpPr>
          <p:cNvPr id="12" name="Rounded Rectangle 11"/>
          <p:cNvSpPr/>
          <p:nvPr/>
        </p:nvSpPr>
        <p:spPr>
          <a:xfrm>
            <a:off x="502920" y="5440680"/>
            <a:ext cx="11201400" cy="80467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04088" y="5495544"/>
            <a:ext cx="10799064" cy="694944"/>
          </a:xfrm>
          <a:prstGeom prst="rect">
            <a:avLst/>
          </a:prstGeom>
          <a:noFill/>
        </p:spPr>
        <p:txBody>
          <a:bodyPr wrap="square" lIns="0" rIns="0" tIns="0" bIns="0" anchor="ctr">
            <a:spAutoFit/>
          </a:bodyPr>
          <a:lstStyle/>
          <a:p>
            <a:pPr algn="l">
              <a:lnSpc>
                <a:spcPct val="122000"/>
              </a:lnSpc>
            </a:pPr>
            <a:r>
              <a:rPr sz="1450" b="1" i="0">
                <a:solidFill>
                  <a:srgbClr val="21295C"/>
                </a:solidFill>
                <a:latin typeface="Arial"/>
              </a:rPr>
              <a:t>“Find the smallest set of high-signal tokens that maximizes the probability of the desired outcome” — that is an engineering requirement, not aesthetics</a:t>
            </a:r>
            <a:r>
              <a:rPr sz="754" baseline="30000" b="0" i="1">
                <a:latin typeface="Arial"/>
                <a:cs typeface="Arial"/>
                <a:ea typeface="Arial"/>
                <a:solidFill>
                  <a:srgbClr val="1C7293"/>
                </a:solidFill>
              </a:rPr>
              <a:t>[3]</a:t>
            </a:r>
            <a:r>
              <a:rPr sz="1450" b="1" i="0">
                <a:latin typeface="Arial"/>
                <a:cs typeface="Arial"/>
                <a:ea typeface="Arial"/>
                <a:solidFill>
                  <a:srgbClr val="21295C"/>
                </a:solidFill>
              </a:rPr>
              <a:t>.</a:t>
            </a:r>
          </a:p>
        </p:txBody>
      </p:sp>
      <p:sp>
        <p:nvSpPr>
          <p:cNvPr id="14" name="TextBox 1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Chroma Research — Context Rot</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6"/>
              </a:rPr>
              <a:t>Liu et al. 2023 — Lost in the Middle</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7"/>
              </a:rPr>
              <a:t>Anthropic — Effective Context Engineering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Cheat sheet: how to build a prompt.</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The minimum below which a prompt systematically underperforms. Apply it to any prompt before the first run.</a:t>
            </a:r>
          </a:p>
        </p:txBody>
      </p:sp>
      <p:sp>
        <p:nvSpPr>
          <p:cNvPr id="4" name="Rounded Rectangle 3"/>
          <p:cNvSpPr/>
          <p:nvPr/>
        </p:nvSpPr>
        <p:spPr>
          <a:xfrm>
            <a:off x="502920" y="1627632"/>
            <a:ext cx="2761488" cy="1170432"/>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67512" y="1792224"/>
            <a:ext cx="310896" cy="31089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7512" y="1792224"/>
            <a:ext cx="310896" cy="310896"/>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1</a:t>
            </a:r>
          </a:p>
        </p:txBody>
      </p:sp>
      <p:sp>
        <p:nvSpPr>
          <p:cNvPr id="7" name="TextBox 6"/>
          <p:cNvSpPr txBox="1"/>
          <p:nvPr/>
        </p:nvSpPr>
        <p:spPr>
          <a:xfrm>
            <a:off x="106984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Role</a:t>
            </a:r>
          </a:p>
        </p:txBody>
      </p:sp>
      <p:sp>
        <p:nvSpPr>
          <p:cNvPr id="8" name="TextBox 7"/>
          <p:cNvSpPr txBox="1"/>
          <p:nvPr/>
        </p:nvSpPr>
        <p:spPr>
          <a:xfrm>
            <a:off x="68580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if you need tone/register — and NOT as a promise of accuracy</a:t>
            </a:r>
          </a:p>
        </p:txBody>
      </p:sp>
      <p:sp>
        <p:nvSpPr>
          <p:cNvPr id="9" name="Rounded Rectangle 8"/>
          <p:cNvSpPr/>
          <p:nvPr/>
        </p:nvSpPr>
        <p:spPr>
          <a:xfrm>
            <a:off x="3383280" y="1627632"/>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3547872" y="1792224"/>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47872" y="1792224"/>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2</a:t>
            </a:r>
          </a:p>
        </p:txBody>
      </p:sp>
      <p:sp>
        <p:nvSpPr>
          <p:cNvPr id="12" name="TextBox 11"/>
          <p:cNvSpPr txBox="1"/>
          <p:nvPr/>
        </p:nvSpPr>
        <p:spPr>
          <a:xfrm>
            <a:off x="395020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Task</a:t>
            </a:r>
          </a:p>
        </p:txBody>
      </p:sp>
      <p:sp>
        <p:nvSpPr>
          <p:cNvPr id="13" name="TextBox 12"/>
          <p:cNvSpPr txBox="1"/>
          <p:nvPr/>
        </p:nvSpPr>
        <p:spPr>
          <a:xfrm>
            <a:off x="356616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a concrete verifiable action, not a vague wish</a:t>
            </a:r>
          </a:p>
        </p:txBody>
      </p:sp>
      <p:sp>
        <p:nvSpPr>
          <p:cNvPr id="14" name="Rounded Rectangle 13"/>
          <p:cNvSpPr/>
          <p:nvPr/>
        </p:nvSpPr>
        <p:spPr>
          <a:xfrm>
            <a:off x="6263640" y="1627632"/>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28231" y="1792224"/>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28231" y="1792224"/>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3</a:t>
            </a:r>
          </a:p>
        </p:txBody>
      </p:sp>
      <p:sp>
        <p:nvSpPr>
          <p:cNvPr id="17" name="TextBox 16"/>
          <p:cNvSpPr txBox="1"/>
          <p:nvPr/>
        </p:nvSpPr>
        <p:spPr>
          <a:xfrm>
            <a:off x="683056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Context</a:t>
            </a:r>
          </a:p>
        </p:txBody>
      </p:sp>
      <p:sp>
        <p:nvSpPr>
          <p:cNvPr id="18" name="TextBox 17"/>
          <p:cNvSpPr txBox="1"/>
          <p:nvPr/>
        </p:nvSpPr>
        <p:spPr>
          <a:xfrm>
            <a:off x="644652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the minimum necessary, not “everything that might come in handy”</a:t>
            </a:r>
          </a:p>
        </p:txBody>
      </p:sp>
      <p:sp>
        <p:nvSpPr>
          <p:cNvPr id="19" name="Rounded Rectangle 18"/>
          <p:cNvSpPr/>
          <p:nvPr/>
        </p:nvSpPr>
        <p:spPr>
          <a:xfrm>
            <a:off x="9144000" y="1627632"/>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308592" y="1792224"/>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308592" y="1792224"/>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4</a:t>
            </a:r>
          </a:p>
        </p:txBody>
      </p:sp>
      <p:sp>
        <p:nvSpPr>
          <p:cNvPr id="22" name="TextBox 21"/>
          <p:cNvSpPr txBox="1"/>
          <p:nvPr/>
        </p:nvSpPr>
        <p:spPr>
          <a:xfrm>
            <a:off x="9710928" y="1773936"/>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Output format</a:t>
            </a:r>
          </a:p>
        </p:txBody>
      </p:sp>
      <p:sp>
        <p:nvSpPr>
          <p:cNvPr id="23" name="TextBox 22"/>
          <p:cNvSpPr txBox="1"/>
          <p:nvPr/>
        </p:nvSpPr>
        <p:spPr>
          <a:xfrm>
            <a:off x="9326880" y="2157984"/>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stated explicitly if the answer is machine-processed</a:t>
            </a:r>
          </a:p>
        </p:txBody>
      </p:sp>
      <p:sp>
        <p:nvSpPr>
          <p:cNvPr id="24" name="Rounded Rectangle 23"/>
          <p:cNvSpPr/>
          <p:nvPr/>
        </p:nvSpPr>
        <p:spPr>
          <a:xfrm>
            <a:off x="50292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667512"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5</a:t>
            </a:r>
          </a:p>
        </p:txBody>
      </p:sp>
      <p:sp>
        <p:nvSpPr>
          <p:cNvPr id="27" name="TextBox 26"/>
          <p:cNvSpPr txBox="1"/>
          <p:nvPr/>
        </p:nvSpPr>
        <p:spPr>
          <a:xfrm>
            <a:off x="106984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Delimiters</a:t>
            </a:r>
          </a:p>
        </p:txBody>
      </p:sp>
      <p:sp>
        <p:nvSpPr>
          <p:cNvPr id="28" name="TextBox 27"/>
          <p:cNvSpPr txBox="1"/>
          <p:nvPr/>
        </p:nvSpPr>
        <p:spPr>
          <a:xfrm>
            <a:off x="68580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if there is more than one kind of content (instruction/data)</a:t>
            </a:r>
          </a:p>
        </p:txBody>
      </p:sp>
      <p:sp>
        <p:nvSpPr>
          <p:cNvPr id="29" name="Rounded Rectangle 28"/>
          <p:cNvSpPr/>
          <p:nvPr/>
        </p:nvSpPr>
        <p:spPr>
          <a:xfrm>
            <a:off x="338328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3547872"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547872"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6</a:t>
            </a:r>
          </a:p>
        </p:txBody>
      </p:sp>
      <p:sp>
        <p:nvSpPr>
          <p:cNvPr id="32" name="TextBox 31"/>
          <p:cNvSpPr txBox="1"/>
          <p:nvPr/>
        </p:nvSpPr>
        <p:spPr>
          <a:xfrm>
            <a:off x="395020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Examples (few-shot)</a:t>
            </a:r>
          </a:p>
        </p:txBody>
      </p:sp>
      <p:sp>
        <p:nvSpPr>
          <p:cNvPr id="33" name="TextBox 32"/>
          <p:cNvSpPr txBox="1"/>
          <p:nvPr/>
        </p:nvSpPr>
        <p:spPr>
          <a:xfrm>
            <a:off x="356616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only if the format is not obvious from a single instruction</a:t>
            </a:r>
          </a:p>
        </p:txBody>
      </p:sp>
      <p:sp>
        <p:nvSpPr>
          <p:cNvPr id="34" name="Rounded Rectangle 33"/>
          <p:cNvSpPr/>
          <p:nvPr/>
        </p:nvSpPr>
        <p:spPr>
          <a:xfrm>
            <a:off x="626364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6428231"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28231"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7</a:t>
            </a:r>
          </a:p>
        </p:txBody>
      </p:sp>
      <p:sp>
        <p:nvSpPr>
          <p:cNvPr id="37" name="TextBox 36"/>
          <p:cNvSpPr txBox="1"/>
          <p:nvPr/>
        </p:nvSpPr>
        <p:spPr>
          <a:xfrm>
            <a:off x="683056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CoT</a:t>
            </a:r>
          </a:p>
        </p:txBody>
      </p:sp>
      <p:sp>
        <p:nvSpPr>
          <p:cNvPr id="38" name="TextBox 37"/>
          <p:cNvSpPr txBox="1"/>
          <p:nvPr/>
        </p:nvSpPr>
        <p:spPr>
          <a:xfrm>
            <a:off x="644652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only if the task requires multi-step reasoning</a:t>
            </a:r>
          </a:p>
        </p:txBody>
      </p:sp>
      <p:sp>
        <p:nvSpPr>
          <p:cNvPr id="39" name="Rounded Rectangle 38"/>
          <p:cNvSpPr/>
          <p:nvPr/>
        </p:nvSpPr>
        <p:spPr>
          <a:xfrm>
            <a:off x="9144000" y="2980944"/>
            <a:ext cx="2761488" cy="1170432"/>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9308592" y="3145536"/>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308592" y="3145536"/>
            <a:ext cx="310896" cy="310896"/>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8</a:t>
            </a:r>
          </a:p>
        </p:txBody>
      </p:sp>
      <p:sp>
        <p:nvSpPr>
          <p:cNvPr id="42" name="TextBox 41"/>
          <p:cNvSpPr txBox="1"/>
          <p:nvPr/>
        </p:nvSpPr>
        <p:spPr>
          <a:xfrm>
            <a:off x="9710928" y="3127248"/>
            <a:ext cx="2048256" cy="365760"/>
          </a:xfrm>
          <a:prstGeom prst="rect">
            <a:avLst/>
          </a:prstGeom>
          <a:noFill/>
        </p:spPr>
        <p:txBody>
          <a:bodyPr wrap="square" lIns="0" rIns="0" tIns="0" bIns="0" anchor="t">
            <a:spAutoFit/>
          </a:bodyPr>
          <a:lstStyle/>
          <a:p>
            <a:pPr algn="l">
              <a:lnSpc>
                <a:spcPct val="115000"/>
              </a:lnSpc>
            </a:pPr>
            <a:r>
              <a:rPr sz="1400" b="1" i="0">
                <a:solidFill>
                  <a:srgbClr val="21295C"/>
                </a:solidFill>
                <a:latin typeface="Arial"/>
              </a:rPr>
              <a:t>Length</a:t>
            </a:r>
          </a:p>
        </p:txBody>
      </p:sp>
      <p:sp>
        <p:nvSpPr>
          <p:cNvPr id="43" name="TextBox 42"/>
          <p:cNvSpPr txBox="1"/>
          <p:nvPr/>
        </p:nvSpPr>
        <p:spPr>
          <a:xfrm>
            <a:off x="9326880" y="3511296"/>
            <a:ext cx="2395728" cy="566928"/>
          </a:xfrm>
          <a:prstGeom prst="rect">
            <a:avLst/>
          </a:prstGeom>
          <a:noFill/>
        </p:spPr>
        <p:txBody>
          <a:bodyPr wrap="square" lIns="0" rIns="0" tIns="0" bIns="0" anchor="t">
            <a:spAutoFit/>
          </a:bodyPr>
          <a:lstStyle/>
          <a:p>
            <a:pPr algn="l">
              <a:lnSpc>
                <a:spcPct val="110000"/>
              </a:lnSpc>
            </a:pPr>
            <a:r>
              <a:rPr sz="1100" b="0" i="0">
                <a:solidFill>
                  <a:srgbClr val="5B6678"/>
                </a:solidFill>
                <a:latin typeface="Arial"/>
              </a:rPr>
              <a:t>no longer than necessary — extra tokens “drown” in the context</a:t>
            </a:r>
          </a:p>
        </p:txBody>
      </p:sp>
      <p:sp>
        <p:nvSpPr>
          <p:cNvPr id="44" name="Rounded Rectangle 43"/>
          <p:cNvSpPr/>
          <p:nvPr/>
        </p:nvSpPr>
        <p:spPr>
          <a:xfrm>
            <a:off x="502920" y="4754880"/>
            <a:ext cx="11201400"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04088" y="4809744"/>
            <a:ext cx="10799064" cy="850392"/>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A compact form of the whole section: role ≠ accuracy, structure helps separate inputs, CoT is a targeted tool, context is minimal. For big architectural decisions (RAG / FT / agent) — the eight-step checklist of Section 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635240" y="502920"/>
            <a:ext cx="4206240" cy="5120640"/>
          </a:xfrm>
          <a:prstGeom prst="rect">
            <a:avLst/>
          </a:prstGeom>
          <a:noFill/>
        </p:spPr>
        <p:txBody>
          <a:bodyPr wrap="square" lIns="0" rIns="0" tIns="0" bIns="0" anchor="ctr">
            <a:spAutoFit/>
          </a:bodyPr>
          <a:lstStyle/>
          <a:p>
            <a:pPr algn="ctr">
              <a:lnSpc>
                <a:spcPct val="100000"/>
              </a:lnSpc>
            </a:pPr>
            <a:r>
              <a:rPr sz="38000" b="1" i="0">
                <a:solidFill>
                  <a:srgbClr val="D9E2EC"/>
                </a:solidFill>
                <a:latin typeface="Arial"/>
              </a:rPr>
              <a:t>2</a:t>
            </a:r>
          </a:p>
        </p:txBody>
      </p:sp>
      <p:sp>
        <p:nvSpPr>
          <p:cNvPr id="3" name="TextBox 2"/>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SECTION 2</a:t>
            </a:r>
          </a:p>
        </p:txBody>
      </p:sp>
      <p:sp>
        <p:nvSpPr>
          <p:cNvPr id="4" name="Rectangle 3"/>
          <p:cNvSpPr/>
          <p:nvPr/>
        </p:nvSpPr>
        <p:spPr>
          <a:xfrm>
            <a:off x="713232" y="197510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6858000" cy="1691640"/>
          </a:xfrm>
          <a:prstGeom prst="rect">
            <a:avLst/>
          </a:prstGeom>
          <a:noFill/>
        </p:spPr>
        <p:txBody>
          <a:bodyPr wrap="square" lIns="0" rIns="0" tIns="0" bIns="0" anchor="t">
            <a:spAutoFit/>
          </a:bodyPr>
          <a:lstStyle/>
          <a:p>
            <a:pPr algn="l">
              <a:lnSpc>
                <a:spcPct val="108000"/>
              </a:lnSpc>
            </a:pPr>
            <a:r>
              <a:rPr sz="3800" b="1" i="0">
                <a:solidFill>
                  <a:srgbClr val="21295C"/>
                </a:solidFill>
                <a:latin typeface="Arial"/>
              </a:rPr>
              <a:t>RAG: retrieval-augmented generation</a:t>
            </a:r>
          </a:p>
        </p:txBody>
      </p:sp>
      <p:sp>
        <p:nvSpPr>
          <p:cNvPr id="6" name="TextBox 5"/>
          <p:cNvSpPr txBox="1"/>
          <p:nvPr/>
        </p:nvSpPr>
        <p:spPr>
          <a:xfrm>
            <a:off x="713232" y="4160520"/>
            <a:ext cx="6766560" cy="1325880"/>
          </a:xfrm>
          <a:prstGeom prst="rect">
            <a:avLst/>
          </a:prstGeom>
          <a:noFill/>
        </p:spPr>
        <p:txBody>
          <a:bodyPr wrap="square" lIns="0" rIns="0" tIns="0" bIns="0" anchor="t">
            <a:spAutoFit/>
          </a:bodyPr>
          <a:lstStyle/>
          <a:p>
            <a:pPr algn="l">
              <a:lnSpc>
                <a:spcPct val="122000"/>
              </a:lnSpc>
            </a:pPr>
            <a:r>
              <a:rPr sz="1800" b="0" i="1">
                <a:solidFill>
                  <a:srgbClr val="1C7293"/>
                </a:solidFill>
                <a:latin typeface="Arial"/>
              </a:rPr>
              <a:t>Retrieve what's relevant → put it in context → answer grounded in the source</a:t>
            </a:r>
          </a:p>
        </p:txBody>
      </p:sp>
      <p:sp>
        <p:nvSpPr>
          <p:cNvPr id="7" name="Rounded Rectangle 6"/>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0</a:t>
            </a:r>
          </a:p>
        </p:txBody>
      </p:sp>
      <p:sp>
        <p:nvSpPr>
          <p:cNvPr id="9" name="TextBox 8"/>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Opening</a:t>
            </a:r>
          </a:p>
        </p:txBody>
      </p:sp>
      <p:sp>
        <p:nvSpPr>
          <p:cNvPr id="10" name="Rounded Rectangle 9"/>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1</a:t>
            </a:r>
          </a:p>
        </p:txBody>
      </p:sp>
      <p:sp>
        <p:nvSpPr>
          <p:cNvPr id="12" name="TextBox 11"/>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Prompt</a:t>
            </a:r>
          </a:p>
        </p:txBody>
      </p:sp>
      <p:sp>
        <p:nvSpPr>
          <p:cNvPr id="13" name="Rounded Rectangle 12"/>
          <p:cNvSpPr/>
          <p:nvPr/>
        </p:nvSpPr>
        <p:spPr>
          <a:xfrm>
            <a:off x="4279392"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Section 2</a:t>
            </a:r>
          </a:p>
        </p:txBody>
      </p:sp>
      <p:sp>
        <p:nvSpPr>
          <p:cNvPr id="15" name="TextBox 14"/>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RAG</a:t>
            </a:r>
          </a:p>
        </p:txBody>
      </p:sp>
      <p:sp>
        <p:nvSpPr>
          <p:cNvPr id="16" name="Rounded Rectangle 15"/>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3</a:t>
            </a:r>
          </a:p>
        </p:txBody>
      </p:sp>
      <p:sp>
        <p:nvSpPr>
          <p:cNvPr id="18" name="TextBox 17"/>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Fine-tune</a:t>
            </a:r>
          </a:p>
        </p:txBody>
      </p:sp>
      <p:sp>
        <p:nvSpPr>
          <p:cNvPr id="19" name="Rounded Rectangle 18"/>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4</a:t>
            </a:r>
          </a:p>
        </p:txBody>
      </p:sp>
      <p:sp>
        <p:nvSpPr>
          <p:cNvPr id="21" name="TextBox 20"/>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Agents</a:t>
            </a:r>
          </a:p>
        </p:txBody>
      </p:sp>
      <p:sp>
        <p:nvSpPr>
          <p:cNvPr id="22" name="Rounded Rectangle 21"/>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5</a:t>
            </a:r>
          </a:p>
        </p:txBody>
      </p:sp>
      <p:sp>
        <p:nvSpPr>
          <p:cNvPr id="24" name="TextBox 23"/>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Framework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The RAG principle — three steps.</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RAG = indexing → retrieval (semantic search from L2) → grounded generation; “I don't know” is a correct answer.</a:t>
            </a:r>
          </a:p>
        </p:txBody>
      </p:sp>
      <p:sp>
        <p:nvSpPr>
          <p:cNvPr id="4" name="Rounded Rectangle 3"/>
          <p:cNvSpPr/>
          <p:nvPr/>
        </p:nvSpPr>
        <p:spPr>
          <a:xfrm>
            <a:off x="502920" y="1691640"/>
            <a:ext cx="3246120"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740664" y="1929384"/>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40664" y="192938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1</a:t>
            </a:r>
          </a:p>
        </p:txBody>
      </p:sp>
      <p:sp>
        <p:nvSpPr>
          <p:cNvPr id="7" name="TextBox 6"/>
          <p:cNvSpPr txBox="1"/>
          <p:nvPr/>
        </p:nvSpPr>
        <p:spPr>
          <a:xfrm>
            <a:off x="1289304" y="1929384"/>
            <a:ext cx="22860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Indexing</a:t>
            </a:r>
          </a:p>
        </p:txBody>
      </p:sp>
      <p:sp>
        <p:nvSpPr>
          <p:cNvPr id="8" name="TextBox 7"/>
          <p:cNvSpPr txBox="1"/>
          <p:nvPr/>
        </p:nvSpPr>
        <p:spPr>
          <a:xfrm>
            <a:off x="1289304" y="2295144"/>
            <a:ext cx="2286000" cy="274320"/>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in advance, offline</a:t>
            </a:r>
          </a:p>
        </p:txBody>
      </p:sp>
      <p:pic>
        <p:nvPicPr>
          <p:cNvPr id="9" name="Picture 8" descr="database-mid.png"/>
          <p:cNvPicPr>
            <a:picLocks noChangeAspect="1"/>
          </p:cNvPicPr>
          <p:nvPr/>
        </p:nvPicPr>
        <p:blipFill>
          <a:blip r:embed="rId2"/>
          <a:stretch>
            <a:fillRect/>
          </a:stretch>
        </p:blipFill>
        <p:spPr>
          <a:xfrm>
            <a:off x="3035807" y="1947672"/>
            <a:ext cx="457200" cy="457200"/>
          </a:xfrm>
          <a:prstGeom prst="rect">
            <a:avLst/>
          </a:prstGeom>
        </p:spPr>
      </p:pic>
      <p:sp>
        <p:nvSpPr>
          <p:cNvPr id="10" name="TextBox 9"/>
          <p:cNvSpPr txBox="1"/>
          <p:nvPr/>
        </p:nvSpPr>
        <p:spPr>
          <a:xfrm>
            <a:off x="758952" y="2770632"/>
            <a:ext cx="2734056" cy="1545335"/>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corpus → chunks → embed each → vector store</a:t>
            </a:r>
          </a:p>
        </p:txBody>
      </p:sp>
      <p:sp>
        <p:nvSpPr>
          <p:cNvPr id="11" name="Right Arrow 10"/>
          <p:cNvSpPr/>
          <p:nvPr/>
        </p:nvSpPr>
        <p:spPr>
          <a:xfrm>
            <a:off x="3803903" y="2811780"/>
            <a:ext cx="393192" cy="54864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251959" y="1691640"/>
            <a:ext cx="3246120" cy="2788920"/>
          </a:xfrm>
          <a:prstGeom prst="roundRect">
            <a:avLst>
              <a:gd name="adj" fmla="val 1092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4489703" y="1929384"/>
            <a:ext cx="420624" cy="42062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89703" y="192938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2</a:t>
            </a:r>
          </a:p>
        </p:txBody>
      </p:sp>
      <p:sp>
        <p:nvSpPr>
          <p:cNvPr id="15" name="TextBox 14"/>
          <p:cNvSpPr txBox="1"/>
          <p:nvPr/>
        </p:nvSpPr>
        <p:spPr>
          <a:xfrm>
            <a:off x="5038344" y="1929384"/>
            <a:ext cx="22860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Retrieval</a:t>
            </a:r>
          </a:p>
        </p:txBody>
      </p:sp>
      <p:sp>
        <p:nvSpPr>
          <p:cNvPr id="16" name="TextBox 15"/>
          <p:cNvSpPr txBox="1"/>
          <p:nvPr/>
        </p:nvSpPr>
        <p:spPr>
          <a:xfrm>
            <a:off x="5038344" y="2295144"/>
            <a:ext cx="2286000" cy="274320"/>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per query</a:t>
            </a:r>
          </a:p>
        </p:txBody>
      </p:sp>
      <p:pic>
        <p:nvPicPr>
          <p:cNvPr id="17" name="Picture 16" descr="route-mid.png"/>
          <p:cNvPicPr>
            <a:picLocks noChangeAspect="1"/>
          </p:cNvPicPr>
          <p:nvPr/>
        </p:nvPicPr>
        <p:blipFill>
          <a:blip r:embed="rId3"/>
          <a:stretch>
            <a:fillRect/>
          </a:stretch>
        </p:blipFill>
        <p:spPr>
          <a:xfrm>
            <a:off x="6784847" y="1947672"/>
            <a:ext cx="457200" cy="457200"/>
          </a:xfrm>
          <a:prstGeom prst="rect">
            <a:avLst/>
          </a:prstGeom>
        </p:spPr>
      </p:pic>
      <p:sp>
        <p:nvSpPr>
          <p:cNvPr id="18" name="TextBox 17"/>
          <p:cNvSpPr txBox="1"/>
          <p:nvPr/>
        </p:nvSpPr>
        <p:spPr>
          <a:xfrm>
            <a:off x="4507992" y="2770632"/>
            <a:ext cx="2734056" cy="1545335"/>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question → embedding → top-k nearest fragments
= the same semantic search from L2 — we don't re-explain it</a:t>
            </a:r>
          </a:p>
        </p:txBody>
      </p:sp>
      <p:sp>
        <p:nvSpPr>
          <p:cNvPr id="19" name="Right Arrow 18"/>
          <p:cNvSpPr/>
          <p:nvPr/>
        </p:nvSpPr>
        <p:spPr>
          <a:xfrm>
            <a:off x="7552944" y="2811780"/>
            <a:ext cx="393192" cy="548640"/>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001000" y="1691640"/>
            <a:ext cx="3246120" cy="2788920"/>
          </a:xfrm>
          <a:prstGeom prst="roundRect">
            <a:avLst>
              <a:gd name="adj" fmla="val 10928"/>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8238744" y="1929384"/>
            <a:ext cx="420624" cy="42062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38744" y="1929384"/>
            <a:ext cx="420624" cy="420624"/>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3</a:t>
            </a:r>
          </a:p>
        </p:txBody>
      </p:sp>
      <p:sp>
        <p:nvSpPr>
          <p:cNvPr id="23" name="TextBox 22"/>
          <p:cNvSpPr txBox="1"/>
          <p:nvPr/>
        </p:nvSpPr>
        <p:spPr>
          <a:xfrm>
            <a:off x="8787384" y="1929384"/>
            <a:ext cx="2286000" cy="384048"/>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Generation</a:t>
            </a:r>
          </a:p>
        </p:txBody>
      </p:sp>
      <p:sp>
        <p:nvSpPr>
          <p:cNvPr id="24" name="TextBox 23"/>
          <p:cNvSpPr txBox="1"/>
          <p:nvPr/>
        </p:nvSpPr>
        <p:spPr>
          <a:xfrm>
            <a:off x="8787384" y="2295144"/>
            <a:ext cx="2286000" cy="274320"/>
          </a:xfrm>
          <a:prstGeom prst="rect">
            <a:avLst/>
          </a:prstGeom>
          <a:noFill/>
        </p:spPr>
        <p:txBody>
          <a:bodyPr wrap="square" lIns="0" rIns="0" tIns="0" bIns="0" anchor="t">
            <a:spAutoFit/>
          </a:bodyPr>
          <a:lstStyle/>
          <a:p>
            <a:pPr algn="l">
              <a:lnSpc>
                <a:spcPct val="115000"/>
              </a:lnSpc>
            </a:pPr>
            <a:r>
              <a:rPr sz="1150" b="0" i="1">
                <a:solidFill>
                  <a:srgbClr val="1C7293"/>
                </a:solidFill>
                <a:latin typeface="Arial"/>
              </a:rPr>
              <a:t>with grounding</a:t>
            </a:r>
          </a:p>
        </p:txBody>
      </p:sp>
      <p:pic>
        <p:nvPicPr>
          <p:cNvPr id="25" name="Picture 24" descr="check-check-teal.png"/>
          <p:cNvPicPr>
            <a:picLocks noChangeAspect="1"/>
          </p:cNvPicPr>
          <p:nvPr/>
        </p:nvPicPr>
        <p:blipFill>
          <a:blip r:embed="rId4"/>
          <a:stretch>
            <a:fillRect/>
          </a:stretch>
        </p:blipFill>
        <p:spPr>
          <a:xfrm>
            <a:off x="10533888" y="1947672"/>
            <a:ext cx="457200" cy="457200"/>
          </a:xfrm>
          <a:prstGeom prst="rect">
            <a:avLst/>
          </a:prstGeom>
        </p:spPr>
      </p:pic>
      <p:sp>
        <p:nvSpPr>
          <p:cNvPr id="26" name="TextBox 25"/>
          <p:cNvSpPr txBox="1"/>
          <p:nvPr/>
        </p:nvSpPr>
        <p:spPr>
          <a:xfrm>
            <a:off x="8257031" y="2770632"/>
            <a:ext cx="2734056" cy="1545335"/>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fragments + question → answer with a link to the source</a:t>
            </a:r>
          </a:p>
        </p:txBody>
      </p:sp>
      <p:sp>
        <p:nvSpPr>
          <p:cNvPr id="27" name="Rounded Rectangle 26"/>
          <p:cNvSpPr/>
          <p:nvPr/>
        </p:nvSpPr>
        <p:spPr>
          <a:xfrm>
            <a:off x="502920" y="4800600"/>
            <a:ext cx="11201400"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4088" y="4855464"/>
            <a:ext cx="10799064" cy="850392"/>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“I don't know” / “see source X” is a correct answer from a RAG system</a:t>
            </a:r>
            <a:r>
              <a:rPr sz="780" baseline="30000" b="0" i="1">
                <a:latin typeface="Arial"/>
                <a:cs typeface="Arial"/>
                <a:ea typeface="Arial"/>
                <a:solidFill>
                  <a:srgbClr val="1C7293"/>
                </a:solidFill>
              </a:rPr>
              <a:t>[1]</a:t>
            </a:r>
            <a:r>
              <a:rPr sz="1500" b="1" i="0">
                <a:latin typeface="Arial"/>
                <a:cs typeface="Arial"/>
                <a:ea typeface="Arial"/>
                <a:solidFill>
                  <a:srgbClr val="21295C"/>
                </a:solidFill>
              </a:rPr>
              <a:t>. A plausible answer on irrelevant retrieval is a defect, not “better than nothing.”</a:t>
            </a:r>
          </a:p>
        </p:txBody>
      </p:sp>
      <p:sp>
        <p:nvSpPr>
          <p:cNvPr id="29" name="TextBox 28"/>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Lewis et al. 2020 — Retrieval-Augmented Generation (NeurIPS)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When RAG is the right choice.</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RAG is justified when there is a strong signal on the features below</a:t>
            </a:r>
            <a:r>
              <a:rPr sz="754" baseline="30000" b="0" i="1">
                <a:latin typeface="Arial"/>
                <a:cs typeface="Arial"/>
                <a:ea typeface="Arial"/>
                <a:solidFill>
                  <a:srgbClr val="1C7293"/>
                </a:solidFill>
              </a:rPr>
              <a:t>[1]</a:t>
            </a:r>
            <a:r>
              <a:rPr sz="1450" b="0" i="1">
                <a:latin typeface="Arial"/>
                <a:cs typeface="Arial"/>
                <a:ea typeface="Arial"/>
                <a:solidFill>
                  <a:srgbClr val="065A82"/>
                </a:solidFill>
              </a:rPr>
              <a:t> — and no blockers from the next slide, “when NOT RAG.”</a:t>
            </a:r>
          </a:p>
        </p:txBody>
      </p:sp>
      <p:sp>
        <p:nvSpPr>
          <p:cNvPr id="4" name="Rounded Rectangle 3"/>
          <p:cNvSpPr/>
          <p:nvPr/>
        </p:nvSpPr>
        <p:spPr>
          <a:xfrm>
            <a:off x="50292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Large / growing</a:t>
            </a:r>
          </a:p>
        </p:txBody>
      </p:sp>
      <p:sp>
        <p:nvSpPr>
          <p:cNvPr id="6" name="TextBox 5"/>
          <p:cNvSpPr txBox="1"/>
          <p:nvPr/>
        </p:nvSpPr>
        <p:spPr>
          <a:xfrm>
            <a:off x="685800"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does not fit in the window as a whole, or it is expensive to put the entire corpus into every request</a:t>
            </a:r>
          </a:p>
        </p:txBody>
      </p:sp>
      <p:sp>
        <p:nvSpPr>
          <p:cNvPr id="7" name="Rounded Rectangle 6"/>
          <p:cNvSpPr/>
          <p:nvPr/>
        </p:nvSpPr>
        <p:spPr>
          <a:xfrm>
            <a:off x="333756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520440"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Changing</a:t>
            </a:r>
          </a:p>
        </p:txBody>
      </p:sp>
      <p:sp>
        <p:nvSpPr>
          <p:cNvPr id="9" name="TextBox 8"/>
          <p:cNvSpPr txBox="1"/>
          <p:nvPr/>
        </p:nvSpPr>
        <p:spPr>
          <a:xfrm>
            <a:off x="3520440"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documents, prices, regulations update more often than model versions ship</a:t>
            </a:r>
          </a:p>
        </p:txBody>
      </p:sp>
      <p:sp>
        <p:nvSpPr>
          <p:cNvPr id="10" name="Rounded Rectangle 9"/>
          <p:cNvSpPr/>
          <p:nvPr/>
        </p:nvSpPr>
        <p:spPr>
          <a:xfrm>
            <a:off x="617220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55080"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Freshness + provenance</a:t>
            </a:r>
          </a:p>
        </p:txBody>
      </p:sp>
      <p:sp>
        <p:nvSpPr>
          <p:cNvPr id="12" name="TextBox 11"/>
          <p:cNvSpPr txBox="1"/>
          <p:nvPr/>
        </p:nvSpPr>
        <p:spPr>
          <a:xfrm>
            <a:off x="6355080"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the answer relies on a verifiable source; you can show where a fact came from</a:t>
            </a:r>
          </a:p>
        </p:txBody>
      </p:sp>
      <p:sp>
        <p:nvSpPr>
          <p:cNvPr id="13" name="Rounded Rectangle 12"/>
          <p:cNvSpPr/>
          <p:nvPr/>
        </p:nvSpPr>
        <p:spPr>
          <a:xfrm>
            <a:off x="9006840" y="1627632"/>
            <a:ext cx="265176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89719" y="1828800"/>
            <a:ext cx="2286000" cy="685800"/>
          </a:xfrm>
          <a:prstGeom prst="rect">
            <a:avLst/>
          </a:prstGeom>
          <a:noFill/>
        </p:spPr>
        <p:txBody>
          <a:bodyPr wrap="square" lIns="0" rIns="0" tIns="0" bIns="0" anchor="t">
            <a:spAutoFit/>
          </a:bodyPr>
          <a:lstStyle/>
          <a:p>
            <a:pPr algn="l">
              <a:lnSpc>
                <a:spcPct val="105000"/>
              </a:lnSpc>
            </a:pPr>
            <a:r>
              <a:rPr sz="1550" b="1" i="0">
                <a:solidFill>
                  <a:srgbClr val="065A82"/>
                </a:solidFill>
                <a:latin typeface="Arial"/>
              </a:rPr>
              <a:t>Private base</a:t>
            </a:r>
          </a:p>
        </p:txBody>
      </p:sp>
      <p:sp>
        <p:nvSpPr>
          <p:cNvPr id="15" name="TextBox 14"/>
          <p:cNvSpPr txBox="1"/>
          <p:nvPr/>
        </p:nvSpPr>
        <p:spPr>
          <a:xfrm>
            <a:off x="9189719" y="2542032"/>
            <a:ext cx="2286000" cy="1234439"/>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the company's knowledge is not in the weights of a public model</a:t>
            </a:r>
          </a:p>
        </p:txBody>
      </p:sp>
      <p:sp>
        <p:nvSpPr>
          <p:cNvPr id="16" name="Rounded Rectangle 15"/>
          <p:cNvSpPr/>
          <p:nvPr/>
        </p:nvSpPr>
        <p:spPr>
          <a:xfrm>
            <a:off x="502920" y="4160520"/>
            <a:ext cx="6903720" cy="1645920"/>
          </a:xfrm>
          <a:prstGeom prst="roundRect">
            <a:avLst>
              <a:gd name="adj" fmla="val 18518"/>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 y="4315968"/>
            <a:ext cx="6492240" cy="365760"/>
          </a:xfrm>
          <a:prstGeom prst="rect">
            <a:avLst/>
          </a:prstGeom>
          <a:noFill/>
        </p:spPr>
        <p:txBody>
          <a:bodyPr wrap="square" lIns="0" rIns="0" tIns="0" bIns="0" anchor="t">
            <a:spAutoFit/>
          </a:bodyPr>
          <a:lstStyle/>
          <a:p>
            <a:pPr algn="l">
              <a:lnSpc>
                <a:spcPct val="115000"/>
              </a:lnSpc>
            </a:pPr>
            <a:r>
              <a:rPr sz="1700" b="1" i="0">
                <a:solidFill>
                  <a:srgbClr val="21295C"/>
                </a:solidFill>
                <a:latin typeface="Arial"/>
              </a:rPr>
              <a:t>The features reinforce each other → RAG</a:t>
            </a:r>
          </a:p>
        </p:txBody>
      </p:sp>
      <p:sp>
        <p:nvSpPr>
          <p:cNvPr id="18" name="TextBox 17"/>
          <p:cNvSpPr txBox="1"/>
          <p:nvPr/>
        </p:nvSpPr>
        <p:spPr>
          <a:xfrm>
            <a:off x="777240" y="4718304"/>
            <a:ext cx="6492240" cy="1005840"/>
          </a:xfrm>
          <a:prstGeom prst="rect">
            <a:avLst/>
          </a:prstGeom>
          <a:noFill/>
        </p:spPr>
        <p:txBody>
          <a:bodyPr wrap="square" lIns="0" rIns="0" tIns="0" bIns="0" anchor="t">
            <a:spAutoFit/>
          </a:bodyPr>
          <a:lstStyle/>
          <a:p>
            <a:pPr algn="l">
              <a:lnSpc>
                <a:spcPct val="116000"/>
              </a:lnSpc>
            </a:pPr>
            <a:r>
              <a:rPr sz="1300" b="0" i="0">
                <a:solidFill>
                  <a:srgbClr val="21295C"/>
                </a:solidFill>
                <a:latin typeface="Arial"/>
              </a:rPr>
              <a:t>A corporate base of thousands of regulations, updated weekly, an answer with a mandatory link to the clause: all features converge, no simpler mechanism covers them jointly → a textbook RAG profile.</a:t>
            </a:r>
          </a:p>
        </p:txBody>
      </p:sp>
      <p:sp>
        <p:nvSpPr>
          <p:cNvPr id="19" name="Rounded Rectangle 18"/>
          <p:cNvSpPr/>
          <p:nvPr/>
        </p:nvSpPr>
        <p:spPr>
          <a:xfrm>
            <a:off x="7589520" y="4160520"/>
            <a:ext cx="4114800" cy="1645920"/>
          </a:xfrm>
          <a:prstGeom prst="roundRect">
            <a:avLst>
              <a:gd name="adj" fmla="val 18518"/>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check-teal.png"/>
          <p:cNvPicPr>
            <a:picLocks noChangeAspect="1"/>
          </p:cNvPicPr>
          <p:nvPr/>
        </p:nvPicPr>
        <p:blipFill>
          <a:blip r:embed="rId2"/>
          <a:stretch>
            <a:fillRect/>
          </a:stretch>
        </p:blipFill>
        <p:spPr>
          <a:xfrm>
            <a:off x="7818120" y="4334256"/>
            <a:ext cx="402336" cy="402336"/>
          </a:xfrm>
          <a:prstGeom prst="rect">
            <a:avLst/>
          </a:prstGeom>
        </p:spPr>
      </p:pic>
      <p:sp>
        <p:nvSpPr>
          <p:cNvPr id="21" name="TextBox 20"/>
          <p:cNvSpPr txBox="1"/>
          <p:nvPr/>
        </p:nvSpPr>
        <p:spPr>
          <a:xfrm>
            <a:off x="7818120" y="4791456"/>
            <a:ext cx="3703320" cy="914400"/>
          </a:xfrm>
          <a:prstGeom prst="rect">
            <a:avLst/>
          </a:prstGeom>
          <a:noFill/>
        </p:spPr>
        <p:txBody>
          <a:bodyPr wrap="square" lIns="0" rIns="0" tIns="0" bIns="0" anchor="t">
            <a:spAutoFit/>
          </a:bodyPr>
          <a:lstStyle/>
          <a:p>
            <a:pPr algn="l">
              <a:lnSpc>
                <a:spcPct val="115000"/>
              </a:lnSpc>
            </a:pPr>
            <a:r>
              <a:rPr sz="1250" b="1" i="0">
                <a:solidFill>
                  <a:srgbClr val="21295C"/>
                </a:solidFill>
                <a:latin typeface="Arial"/>
              </a:rPr>
              <a:t>A single feature is a reason to look closer</a:t>
            </a:r>
            <a:r>
              <a:rPr sz="650" baseline="30000" b="0" i="1">
                <a:latin typeface="Arial"/>
                <a:cs typeface="Arial"/>
                <a:ea typeface="Arial"/>
                <a:solidFill>
                  <a:srgbClr val="1C7293"/>
                </a:solidFill>
              </a:rPr>
              <a:t>[2]</a:t>
            </a:r>
            <a:r>
              <a:rPr sz="1250" b="1" i="0">
                <a:latin typeface="Arial"/>
                <a:cs typeface="Arial"/>
                <a:ea typeface="Arial"/>
                <a:solidFill>
                  <a:srgbClr val="21295C"/>
                </a:solidFill>
              </a:rPr>
              <a:t>, not to build automatically: check against the blockers on the next slide.</a:t>
            </a:r>
          </a:p>
        </p:txBody>
      </p:sp>
      <p:sp>
        <p:nvSpPr>
          <p:cNvPr id="22" name="TextBox 21"/>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IBM — RAG vs Fine-Tuning (vendor-neutral)</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U-NIAH — RAG win-rate is higher for smaller models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When RAG is NOT the right choice.</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Knowing when RAG is not needed is more valuable: it is a fashionable architecture, and people put it where it does harm.</a:t>
            </a:r>
          </a:p>
        </p:txBody>
      </p:sp>
      <p:sp>
        <p:nvSpPr>
          <p:cNvPr id="4" name="Rounded Rectangle 3"/>
          <p:cNvSpPr/>
          <p:nvPr/>
        </p:nvSpPr>
        <p:spPr>
          <a:xfrm>
            <a:off x="502920" y="1627632"/>
            <a:ext cx="3657600" cy="2788920"/>
          </a:xfrm>
          <a:prstGeom prst="roundRect">
            <a:avLst>
              <a:gd name="adj" fmla="val 10928"/>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85800" y="1792224"/>
            <a:ext cx="292608" cy="29260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9222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1</a:t>
            </a:r>
          </a:p>
        </p:txBody>
      </p:sp>
      <p:pic>
        <p:nvPicPr>
          <p:cNvPr id="7" name="Picture 6" descr="circle-slash-teal.png"/>
          <p:cNvPicPr>
            <a:picLocks noChangeAspect="1"/>
          </p:cNvPicPr>
          <p:nvPr/>
        </p:nvPicPr>
        <p:blipFill>
          <a:blip r:embed="rId2"/>
          <a:stretch>
            <a:fillRect/>
          </a:stretch>
        </p:blipFill>
        <p:spPr>
          <a:xfrm>
            <a:off x="3465576" y="1810512"/>
            <a:ext cx="475488" cy="475488"/>
          </a:xfrm>
          <a:prstGeom prst="rect">
            <a:avLst/>
          </a:prstGeom>
        </p:spPr>
      </p:pic>
      <p:sp>
        <p:nvSpPr>
          <p:cNvPr id="8" name="TextBox 7"/>
          <p:cNvSpPr txBox="1"/>
          <p:nvPr/>
        </p:nvSpPr>
        <p:spPr>
          <a:xfrm>
            <a:off x="1106424" y="1847088"/>
            <a:ext cx="2240280" cy="713232"/>
          </a:xfrm>
          <a:prstGeom prst="rect">
            <a:avLst/>
          </a:prstGeom>
          <a:noFill/>
        </p:spPr>
        <p:txBody>
          <a:bodyPr wrap="square" lIns="0" rIns="0" tIns="0" bIns="0" anchor="t">
            <a:spAutoFit/>
          </a:bodyPr>
          <a:lstStyle/>
          <a:p>
            <a:pPr algn="l">
              <a:lnSpc>
                <a:spcPct val="108000"/>
              </a:lnSpc>
            </a:pPr>
            <a:r>
              <a:rPr sz="1500" b="1" i="0">
                <a:solidFill>
                  <a:srgbClr val="028090"/>
                </a:solidFill>
                <a:latin typeface="Arial"/>
              </a:rPr>
              <a:t>The corpus fits in the window</a:t>
            </a:r>
          </a:p>
        </p:txBody>
      </p:sp>
      <p:sp>
        <p:nvSpPr>
          <p:cNvPr id="9" name="TextBox 8"/>
          <p:cNvSpPr txBox="1"/>
          <p:nvPr/>
        </p:nvSpPr>
        <p:spPr>
          <a:xfrm>
            <a:off x="722376" y="2679191"/>
            <a:ext cx="3218688" cy="36576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a rough guide — under ~200k tokens, rarely changing</a:t>
            </a:r>
          </a:p>
        </p:txBody>
      </p:sp>
      <p:sp>
        <p:nvSpPr>
          <p:cNvPr id="10" name="TextBox 9"/>
          <p:cNvSpPr txBox="1"/>
          <p:nvPr/>
        </p:nvSpPr>
        <p:spPr>
          <a:xfrm>
            <a:off x="722376" y="3072384"/>
            <a:ext cx="3218688" cy="1188719"/>
          </a:xfrm>
          <a:prstGeom prst="rect">
            <a:avLst/>
          </a:prstGeom>
          <a:noFill/>
        </p:spPr>
        <p:txBody>
          <a:bodyPr wrap="square" lIns="0" rIns="0" tIns="0" bIns="0" anchor="t">
            <a:spAutoFit/>
          </a:bodyPr>
          <a:lstStyle/>
          <a:p>
            <a:pPr algn="l">
              <a:lnSpc>
                <a:spcPct val="118000"/>
              </a:lnSpc>
            </a:pPr>
            <a:r>
              <a:rPr sz="1300" b="1" i="0">
                <a:solidFill>
                  <a:srgbClr val="21295C"/>
                </a:solidFill>
                <a:latin typeface="Arial"/>
              </a:rPr>
              <a:t>→ full-context + prefix caching, not RAG infrastructure</a:t>
            </a:r>
          </a:p>
        </p:txBody>
      </p:sp>
      <p:sp>
        <p:nvSpPr>
          <p:cNvPr id="11" name="Rounded Rectangle 10"/>
          <p:cNvSpPr/>
          <p:nvPr/>
        </p:nvSpPr>
        <p:spPr>
          <a:xfrm>
            <a:off x="4453128" y="1627632"/>
            <a:ext cx="3657600" cy="2788920"/>
          </a:xfrm>
          <a:prstGeom prst="roundRect">
            <a:avLst>
              <a:gd name="adj" fmla="val 10928"/>
            </a:avLst>
          </a:prstGeom>
          <a:solidFill>
            <a:srgbClr val="E4F1F2"/>
          </a:solidFill>
          <a:ln w="1905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636008" y="1792224"/>
            <a:ext cx="292608" cy="29260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36008" y="179222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2</a:t>
            </a:r>
          </a:p>
        </p:txBody>
      </p:sp>
      <p:pic>
        <p:nvPicPr>
          <p:cNvPr id="14" name="Picture 13" descr="key-teal.png"/>
          <p:cNvPicPr>
            <a:picLocks noChangeAspect="1"/>
          </p:cNvPicPr>
          <p:nvPr/>
        </p:nvPicPr>
        <p:blipFill>
          <a:blip r:embed="rId3"/>
          <a:stretch>
            <a:fillRect/>
          </a:stretch>
        </p:blipFill>
        <p:spPr>
          <a:xfrm>
            <a:off x="7415784" y="1810512"/>
            <a:ext cx="475488" cy="475488"/>
          </a:xfrm>
          <a:prstGeom prst="rect">
            <a:avLst/>
          </a:prstGeom>
        </p:spPr>
      </p:pic>
      <p:sp>
        <p:nvSpPr>
          <p:cNvPr id="15" name="TextBox 14"/>
          <p:cNvSpPr txBox="1"/>
          <p:nvPr/>
        </p:nvSpPr>
        <p:spPr>
          <a:xfrm>
            <a:off x="5056632" y="1847088"/>
            <a:ext cx="2240280" cy="713232"/>
          </a:xfrm>
          <a:prstGeom prst="rect">
            <a:avLst/>
          </a:prstGeom>
          <a:noFill/>
        </p:spPr>
        <p:txBody>
          <a:bodyPr wrap="square" lIns="0" rIns="0" tIns="0" bIns="0" anchor="t">
            <a:spAutoFit/>
          </a:bodyPr>
          <a:lstStyle/>
          <a:p>
            <a:pPr algn="l">
              <a:lnSpc>
                <a:spcPct val="108000"/>
              </a:lnSpc>
            </a:pPr>
            <a:r>
              <a:rPr sz="1500" b="1" i="0">
                <a:solidFill>
                  <a:srgbClr val="028090"/>
                </a:solidFill>
                <a:latin typeface="Arial"/>
              </a:rPr>
              <a:t>A fixed policy / value</a:t>
            </a:r>
            <a:r>
              <a:rPr sz="780" baseline="30000" b="0" i="1">
                <a:latin typeface="Arial"/>
                <a:cs typeface="Arial"/>
                <a:ea typeface="Arial"/>
                <a:solidFill>
                  <a:srgbClr val="1C7293"/>
                </a:solidFill>
              </a:rPr>
              <a:t>[2]</a:t>
            </a:r>
          </a:p>
        </p:txBody>
      </p:sp>
      <p:sp>
        <p:nvSpPr>
          <p:cNvPr id="16" name="TextBox 15"/>
          <p:cNvSpPr txBox="1"/>
          <p:nvPr/>
        </p:nvSpPr>
        <p:spPr>
          <a:xfrm>
            <a:off x="4672584" y="2679191"/>
            <a:ext cx="3218688" cy="36576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a fare, a price, a regulation clause, a rule</a:t>
            </a:r>
          </a:p>
        </p:txBody>
      </p:sp>
      <p:sp>
        <p:nvSpPr>
          <p:cNvPr id="17" name="TextBox 16"/>
          <p:cNvSpPr txBox="1"/>
          <p:nvPr/>
        </p:nvSpPr>
        <p:spPr>
          <a:xfrm>
            <a:off x="4672584" y="3072384"/>
            <a:ext cx="3218688" cy="1188719"/>
          </a:xfrm>
          <a:prstGeom prst="rect">
            <a:avLst/>
          </a:prstGeom>
          <a:noFill/>
        </p:spPr>
        <p:txBody>
          <a:bodyPr wrap="square" lIns="0" rIns="0" tIns="0" bIns="0" anchor="t">
            <a:spAutoFit/>
          </a:bodyPr>
          <a:lstStyle/>
          <a:p>
            <a:pPr algn="l">
              <a:lnSpc>
                <a:spcPct val="118000"/>
              </a:lnSpc>
            </a:pPr>
            <a:r>
              <a:rPr sz="1300" b="1" i="0">
                <a:solidFill>
                  <a:srgbClr val="21295C"/>
                </a:solidFill>
                <a:latin typeface="Arial"/>
              </a:rPr>
              <a:t>→ a deterministic lookup / a static page</a:t>
            </a:r>
          </a:p>
        </p:txBody>
      </p:sp>
      <p:sp>
        <p:nvSpPr>
          <p:cNvPr id="18" name="Rounded Rectangle 17"/>
          <p:cNvSpPr/>
          <p:nvPr/>
        </p:nvSpPr>
        <p:spPr>
          <a:xfrm>
            <a:off x="8403336" y="1627632"/>
            <a:ext cx="3657600" cy="2788920"/>
          </a:xfrm>
          <a:prstGeom prst="roundRect">
            <a:avLst>
              <a:gd name="adj" fmla="val 10928"/>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586216" y="1792224"/>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86216" y="1792224"/>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3</a:t>
            </a:r>
          </a:p>
        </p:txBody>
      </p:sp>
      <p:pic>
        <p:nvPicPr>
          <p:cNvPr id="21" name="Picture 20" descr="cable-gold.png"/>
          <p:cNvPicPr>
            <a:picLocks noChangeAspect="1"/>
          </p:cNvPicPr>
          <p:nvPr/>
        </p:nvPicPr>
        <p:blipFill>
          <a:blip r:embed="rId4"/>
          <a:stretch>
            <a:fillRect/>
          </a:stretch>
        </p:blipFill>
        <p:spPr>
          <a:xfrm>
            <a:off x="11365992" y="1810512"/>
            <a:ext cx="475488" cy="475488"/>
          </a:xfrm>
          <a:prstGeom prst="rect">
            <a:avLst/>
          </a:prstGeom>
        </p:spPr>
      </p:pic>
      <p:sp>
        <p:nvSpPr>
          <p:cNvPr id="22" name="TextBox 21"/>
          <p:cNvSpPr txBox="1"/>
          <p:nvPr/>
        </p:nvSpPr>
        <p:spPr>
          <a:xfrm>
            <a:off x="9006840" y="1847088"/>
            <a:ext cx="2240280" cy="713232"/>
          </a:xfrm>
          <a:prstGeom prst="rect">
            <a:avLst/>
          </a:prstGeom>
          <a:noFill/>
        </p:spPr>
        <p:txBody>
          <a:bodyPr wrap="square" lIns="0" rIns="0" tIns="0" bIns="0" anchor="t">
            <a:spAutoFit/>
          </a:bodyPr>
          <a:lstStyle/>
          <a:p>
            <a:pPr algn="l">
              <a:lnSpc>
                <a:spcPct val="108000"/>
              </a:lnSpc>
            </a:pPr>
            <a:r>
              <a:rPr sz="1500" b="1" i="0">
                <a:solidFill>
                  <a:srgbClr val="21295C"/>
                </a:solidFill>
                <a:latin typeface="Arial"/>
              </a:rPr>
              <a:t>Data is available live via API / MCP</a:t>
            </a:r>
          </a:p>
        </p:txBody>
      </p:sp>
      <p:sp>
        <p:nvSpPr>
          <p:cNvPr id="23" name="TextBox 22"/>
          <p:cNvSpPr txBox="1"/>
          <p:nvPr/>
        </p:nvSpPr>
        <p:spPr>
          <a:xfrm>
            <a:off x="8622792" y="2679191"/>
            <a:ext cx="3218688" cy="365760"/>
          </a:xfrm>
          <a:prstGeom prst="rect">
            <a:avLst/>
          </a:prstGeom>
          <a:noFill/>
        </p:spPr>
        <p:txBody>
          <a:bodyPr wrap="square" lIns="0" rIns="0" tIns="0" bIns="0" anchor="t">
            <a:spAutoFit/>
          </a:bodyPr>
          <a:lstStyle/>
          <a:p>
            <a:pPr algn="l">
              <a:lnSpc>
                <a:spcPct val="115000"/>
              </a:lnSpc>
            </a:pPr>
            <a:r>
              <a:rPr sz="1200" b="0" i="1">
                <a:solidFill>
                  <a:srgbClr val="1C7293"/>
                </a:solidFill>
                <a:latin typeface="Arial"/>
              </a:rPr>
              <a:t>in an internal service, database, or another system's search</a:t>
            </a:r>
          </a:p>
        </p:txBody>
      </p:sp>
      <p:sp>
        <p:nvSpPr>
          <p:cNvPr id="24" name="TextBox 23"/>
          <p:cNvSpPr txBox="1"/>
          <p:nvPr/>
        </p:nvSpPr>
        <p:spPr>
          <a:xfrm>
            <a:off x="8622792" y="3072384"/>
            <a:ext cx="3218688" cy="1188719"/>
          </a:xfrm>
          <a:prstGeom prst="rect">
            <a:avLst/>
          </a:prstGeom>
          <a:noFill/>
        </p:spPr>
        <p:txBody>
          <a:bodyPr wrap="square" lIns="0" rIns="0" tIns="0" bIns="0" anchor="t">
            <a:spAutoFit/>
          </a:bodyPr>
          <a:lstStyle/>
          <a:p>
            <a:pPr algn="l">
              <a:lnSpc>
                <a:spcPct val="118000"/>
              </a:lnSpc>
            </a:pPr>
            <a:r>
              <a:rPr sz="1300" b="1" i="0">
                <a:solidFill>
                  <a:srgbClr val="21295C"/>
                </a:solidFill>
                <a:latin typeface="Arial"/>
              </a:rPr>
              <a:t>→ call the tool directly; a RAG index on top is an extra, more fragile, and more stale layer</a:t>
            </a:r>
          </a:p>
        </p:txBody>
      </p:sp>
      <p:sp>
        <p:nvSpPr>
          <p:cNvPr id="25" name="Rounded Rectangle 24"/>
          <p:cNvSpPr/>
          <p:nvPr/>
        </p:nvSpPr>
        <p:spPr>
          <a:xfrm>
            <a:off x="502920" y="4754880"/>
            <a:ext cx="11201400" cy="9601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04088" y="4809744"/>
            <a:ext cx="10799064" cy="850392"/>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RAG is redundant if ANY of the three holds</a:t>
            </a:r>
            <a:r>
              <a:rPr sz="702" baseline="30000" b="0" i="1">
                <a:latin typeface="Arial"/>
                <a:cs typeface="Arial"/>
                <a:ea typeface="Arial"/>
                <a:solidFill>
                  <a:srgbClr val="1C7293"/>
                </a:solidFill>
              </a:rPr>
              <a:t>[1]</a:t>
            </a:r>
            <a:r>
              <a:rPr sz="1350" b="1" i="0">
                <a:latin typeface="Arial"/>
                <a:cs typeface="Arial"/>
                <a:ea typeface="Arial"/>
                <a:solidFill>
                  <a:srgbClr val="21295C"/>
                </a:solidFill>
              </a:rPr>
              <a:t>: (a) the corpus fits in the window and is stable, (b) the task reduces to a fixed value, (c) the knowledge is already available directly and live through a tool. “A direct call returns data as of the request; a RAG index — as of the last indexing.”</a:t>
            </a:r>
          </a:p>
        </p:txBody>
      </p:sp>
      <p:sp>
        <p:nvSpPr>
          <p:cNvPr id="27" name="TextBox 26"/>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Red Hat — RAG vs Fine-Tuning (when not RAG)</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7"/>
              </a:rPr>
              <a:t>McCarthy Tétrault — Air Canada ("generation on top of a fixed policy")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RAG failure at scale.</a:t>
            </a:r>
          </a:p>
        </p:txBody>
      </p:sp>
      <p:sp>
        <p:nvSpPr>
          <p:cNvPr id="3" name="Rounded Rectangle 2"/>
          <p:cNvSpPr/>
          <p:nvPr/>
        </p:nvSpPr>
        <p:spPr>
          <a:xfrm>
            <a:off x="502920" y="1005840"/>
            <a:ext cx="11201400" cy="86868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4088" y="1060704"/>
            <a:ext cx="10799064" cy="758952"/>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“Returned something” ≠ “returned the right thing.” RAG has no</a:t>
            </a:r>
            <a:r>
              <a:rPr sz="780" baseline="30000" b="0" i="1">
                <a:latin typeface="Arial"/>
                <a:cs typeface="Arial"/>
                <a:ea typeface="Arial"/>
                <a:solidFill>
                  <a:srgbClr val="1C7293"/>
                </a:solidFill>
              </a:rPr>
              <a:t>[1,2]</a:t>
            </a:r>
            <a:r>
              <a:rPr sz="1500" b="1" i="0">
                <a:latin typeface="Arial"/>
                <a:cs typeface="Arial"/>
                <a:ea typeface="Arial"/>
                <a:solidFill>
                  <a:srgbClr val="21295C"/>
                </a:solidFill>
              </a:rPr>
              <a:t> “not found” signal — it always returns the k nearest, even irrelevant ones.</a:t>
            </a:r>
          </a:p>
        </p:txBody>
      </p:sp>
      <p:sp>
        <p:nvSpPr>
          <p:cNvPr id="5" name="Rounded Rectangle 4"/>
          <p:cNvSpPr/>
          <p:nvPr/>
        </p:nvSpPr>
        <p:spPr>
          <a:xfrm>
            <a:off x="502920" y="1956816"/>
            <a:ext cx="5989320" cy="3419856"/>
          </a:xfrm>
          <a:prstGeom prst="roundRect">
            <a:avLst>
              <a:gd name="adj" fmla="val 891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iangle-alert-teal.png"/>
          <p:cNvPicPr>
            <a:picLocks noChangeAspect="1"/>
          </p:cNvPicPr>
          <p:nvPr/>
        </p:nvPicPr>
        <p:blipFill>
          <a:blip r:embed="rId2"/>
          <a:stretch>
            <a:fillRect/>
          </a:stretch>
        </p:blipFill>
        <p:spPr>
          <a:xfrm>
            <a:off x="758952" y="2157984"/>
            <a:ext cx="365760" cy="365760"/>
          </a:xfrm>
          <a:prstGeom prst="rect">
            <a:avLst/>
          </a:prstGeom>
        </p:spPr>
      </p:pic>
      <p:sp>
        <p:nvSpPr>
          <p:cNvPr id="7" name="TextBox 6"/>
          <p:cNvSpPr txBox="1"/>
          <p:nvPr/>
        </p:nvSpPr>
        <p:spPr>
          <a:xfrm>
            <a:off x="1271016" y="2157984"/>
            <a:ext cx="4983479" cy="329184"/>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Legal-AI</a:t>
            </a:r>
          </a:p>
        </p:txBody>
      </p:sp>
      <p:sp>
        <p:nvSpPr>
          <p:cNvPr id="8" name="TextBox 7"/>
          <p:cNvSpPr txBox="1"/>
          <p:nvPr/>
        </p:nvSpPr>
        <p:spPr>
          <a:xfrm>
            <a:off x="758952" y="2560320"/>
            <a:ext cx="5495544" cy="566928"/>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the “nearest” cases are from another jurisdiction / an overturned precedent — the model relies on them as fact</a:t>
            </a:r>
          </a:p>
        </p:txBody>
      </p:sp>
      <p:cxnSp>
        <p:nvCxnSpPr>
          <p:cNvPr id="9" name="Connector 8"/>
          <p:cNvCxnSpPr/>
          <p:nvPr/>
        </p:nvCxnSpPr>
        <p:spPr>
          <a:xfrm>
            <a:off x="777240" y="3096768"/>
            <a:ext cx="5440680" cy="0"/>
          </a:xfrm>
          <a:prstGeom prst="line">
            <a:avLst/>
          </a:prstGeom>
          <a:ln w="9525">
            <a:solidFill>
              <a:srgbClr val="1C7293"/>
            </a:solidFill>
          </a:ln>
        </p:spPr>
        <p:style>
          <a:lnRef idx="2">
            <a:schemeClr val="accent1"/>
          </a:lnRef>
          <a:fillRef idx="0">
            <a:schemeClr val="accent1"/>
          </a:fillRef>
          <a:effectRef idx="1">
            <a:schemeClr val="accent1"/>
          </a:effectRef>
          <a:fontRef idx="minor">
            <a:schemeClr val="tx1"/>
          </a:fontRef>
        </p:style>
      </p:cxnSp>
      <p:pic>
        <p:nvPicPr>
          <p:cNvPr id="10" name="Picture 9" descr="triangle-alert-teal.png"/>
          <p:cNvPicPr>
            <a:picLocks noChangeAspect="1"/>
          </p:cNvPicPr>
          <p:nvPr/>
        </p:nvPicPr>
        <p:blipFill>
          <a:blip r:embed="rId2"/>
          <a:stretch>
            <a:fillRect/>
          </a:stretch>
        </p:blipFill>
        <p:spPr>
          <a:xfrm>
            <a:off x="758952" y="3297936"/>
            <a:ext cx="365760" cy="365760"/>
          </a:xfrm>
          <a:prstGeom prst="rect">
            <a:avLst/>
          </a:prstGeom>
        </p:spPr>
      </p:pic>
      <p:sp>
        <p:nvSpPr>
          <p:cNvPr id="11" name="TextBox 10"/>
          <p:cNvSpPr txBox="1"/>
          <p:nvPr/>
        </p:nvSpPr>
        <p:spPr>
          <a:xfrm>
            <a:off x="1271016" y="3297936"/>
            <a:ext cx="4983479" cy="329184"/>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Medical-RAG</a:t>
            </a:r>
          </a:p>
        </p:txBody>
      </p:sp>
      <p:sp>
        <p:nvSpPr>
          <p:cNvPr id="12" name="TextBox 11"/>
          <p:cNvSpPr txBox="1"/>
          <p:nvPr/>
        </p:nvSpPr>
        <p:spPr>
          <a:xfrm>
            <a:off x="758952" y="3700272"/>
            <a:ext cx="5495544" cy="566928"/>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mixed fragments from different patients — close in symptoms, clinically impossible to combine</a:t>
            </a:r>
          </a:p>
        </p:txBody>
      </p:sp>
      <p:cxnSp>
        <p:nvCxnSpPr>
          <p:cNvPr id="13" name="Connector 12"/>
          <p:cNvCxnSpPr/>
          <p:nvPr/>
        </p:nvCxnSpPr>
        <p:spPr>
          <a:xfrm>
            <a:off x="777240" y="4236720"/>
            <a:ext cx="5440680" cy="0"/>
          </a:xfrm>
          <a:prstGeom prst="line">
            <a:avLst/>
          </a:prstGeom>
          <a:ln w="9525">
            <a:solidFill>
              <a:srgbClr val="1C7293"/>
            </a:solidFill>
          </a:ln>
        </p:spPr>
        <p:style>
          <a:lnRef idx="2">
            <a:schemeClr val="accent1"/>
          </a:lnRef>
          <a:fillRef idx="0">
            <a:schemeClr val="accent1"/>
          </a:fillRef>
          <a:effectRef idx="1">
            <a:schemeClr val="accent1"/>
          </a:effectRef>
          <a:fontRef idx="minor">
            <a:schemeClr val="tx1"/>
          </a:fontRef>
        </p:style>
      </p:cxnSp>
      <p:pic>
        <p:nvPicPr>
          <p:cNvPr id="14" name="Picture 13" descr="triangle-alert-teal.png"/>
          <p:cNvPicPr>
            <a:picLocks noChangeAspect="1"/>
          </p:cNvPicPr>
          <p:nvPr/>
        </p:nvPicPr>
        <p:blipFill>
          <a:blip r:embed="rId2"/>
          <a:stretch>
            <a:fillRect/>
          </a:stretch>
        </p:blipFill>
        <p:spPr>
          <a:xfrm>
            <a:off x="758952" y="4437888"/>
            <a:ext cx="365760" cy="365760"/>
          </a:xfrm>
          <a:prstGeom prst="rect">
            <a:avLst/>
          </a:prstGeom>
        </p:spPr>
      </p:pic>
      <p:sp>
        <p:nvSpPr>
          <p:cNvPr id="15" name="TextBox 14"/>
          <p:cNvSpPr txBox="1"/>
          <p:nvPr/>
        </p:nvSpPr>
        <p:spPr>
          <a:xfrm>
            <a:off x="1271016" y="4437888"/>
            <a:ext cx="4983479" cy="329184"/>
          </a:xfrm>
          <a:prstGeom prst="rect">
            <a:avLst/>
          </a:prstGeom>
          <a:noFill/>
        </p:spPr>
        <p:txBody>
          <a:bodyPr wrap="square" lIns="0" rIns="0" tIns="0" bIns="0" anchor="t">
            <a:spAutoFit/>
          </a:bodyPr>
          <a:lstStyle/>
          <a:p>
            <a:pPr algn="l">
              <a:lnSpc>
                <a:spcPct val="115000"/>
              </a:lnSpc>
            </a:pPr>
            <a:r>
              <a:rPr sz="1600" b="1" i="0">
                <a:solidFill>
                  <a:srgbClr val="065A82"/>
                </a:solidFill>
                <a:latin typeface="Arial"/>
              </a:rPr>
              <a:t>Support bot</a:t>
            </a:r>
          </a:p>
        </p:txBody>
      </p:sp>
      <p:sp>
        <p:nvSpPr>
          <p:cNvPr id="16" name="TextBox 15"/>
          <p:cNvSpPr txBox="1"/>
          <p:nvPr/>
        </p:nvSpPr>
        <p:spPr>
          <a:xfrm>
            <a:off x="758952" y="4840224"/>
            <a:ext cx="5495544" cy="566928"/>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ran on hundreds of articles; after growing to thousands, quality quietly dropped — no one noticed</a:t>
            </a:r>
          </a:p>
        </p:txBody>
      </p:sp>
      <p:sp>
        <p:nvSpPr>
          <p:cNvPr id="17" name="Rounded Rectangle 16"/>
          <p:cNvSpPr/>
          <p:nvPr/>
        </p:nvSpPr>
        <p:spPr>
          <a:xfrm>
            <a:off x="6720840" y="1956816"/>
            <a:ext cx="4983480" cy="3419856"/>
          </a:xfrm>
          <a:prstGeom prst="roundRect">
            <a:avLst>
              <a:gd name="adj" fmla="val 8912"/>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995159" y="2157984"/>
            <a:ext cx="4434840" cy="310896"/>
          </a:xfrm>
          <a:prstGeom prst="rect">
            <a:avLst/>
          </a:prstGeom>
          <a:noFill/>
        </p:spPr>
        <p:txBody>
          <a:bodyPr wrap="square" lIns="0" rIns="0" tIns="0" bIns="0" anchor="t">
            <a:spAutoFit/>
          </a:bodyPr>
          <a:lstStyle/>
          <a:p>
            <a:pPr algn="l">
              <a:lnSpc>
                <a:spcPct val="115000"/>
              </a:lnSpc>
            </a:pPr>
            <a:r>
              <a:rPr sz="1600" b="1" i="0">
                <a:solidFill>
                  <a:srgbClr val="028090"/>
                </a:solidFill>
                <a:latin typeface="Arial"/>
              </a:rPr>
              <a:t>Air Canada — architecture breakdown</a:t>
            </a:r>
            <a:r>
              <a:rPr sz="832" baseline="30000" b="0" i="1">
                <a:latin typeface="Arial"/>
                <a:cs typeface="Arial"/>
                <a:ea typeface="Arial"/>
                <a:solidFill>
                  <a:srgbClr val="1C7293"/>
                </a:solidFill>
              </a:rPr>
              <a:t>[3]</a:t>
            </a:r>
          </a:p>
        </p:txBody>
      </p:sp>
      <p:sp>
        <p:nvSpPr>
          <p:cNvPr id="19" name="TextBox 18"/>
          <p:cNvSpPr txBox="1"/>
          <p:nvPr/>
        </p:nvSpPr>
        <p:spPr>
          <a:xfrm>
            <a:off x="6995159" y="2542032"/>
            <a:ext cx="443484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Diagnosis</a:t>
            </a:r>
          </a:p>
        </p:txBody>
      </p:sp>
      <p:sp>
        <p:nvSpPr>
          <p:cNvPr id="20" name="TextBox 19"/>
          <p:cNvSpPr txBox="1"/>
          <p:nvPr/>
        </p:nvSpPr>
        <p:spPr>
          <a:xfrm>
            <a:off x="6995159" y="2834640"/>
            <a:ext cx="4434840" cy="96012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generated plausible text was put in a role that required a retrieved, verified fact — a grounding failure</a:t>
            </a:r>
          </a:p>
        </p:txBody>
      </p:sp>
      <p:cxnSp>
        <p:nvCxnSpPr>
          <p:cNvPr id="21" name="Connector 20"/>
          <p:cNvCxnSpPr/>
          <p:nvPr/>
        </p:nvCxnSpPr>
        <p:spPr>
          <a:xfrm>
            <a:off x="6995159" y="3858768"/>
            <a:ext cx="4434841" cy="0"/>
          </a:xfrm>
          <a:prstGeom prst="line">
            <a:avLst/>
          </a:prstGeom>
          <a:ln w="12700">
            <a:solidFill>
              <a:srgbClr val="02809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995159" y="3968496"/>
            <a:ext cx="443484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The right alternative</a:t>
            </a:r>
          </a:p>
        </p:txBody>
      </p:sp>
      <p:sp>
        <p:nvSpPr>
          <p:cNvPr id="23" name="TextBox 22"/>
          <p:cNvSpPr txBox="1"/>
          <p:nvPr/>
        </p:nvSpPr>
        <p:spPr>
          <a:xfrm>
            <a:off x="6995159" y="4261104"/>
            <a:ext cx="4434840" cy="105156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a fixed policy → lookup / page; if a dialogue is needed → RAG with strict grounding, a mandatory citation, an explicit “I don't know,” and human review</a:t>
            </a:r>
          </a:p>
        </p:txBody>
      </p:sp>
      <p:sp>
        <p:nvSpPr>
          <p:cNvPr id="24" name="TextBox 2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Barnett et al. 2024 — Seven Failure Points (RAG)</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5"/>
              </a:rPr>
              <a:t>Kore.ai — Seven RAG Engineering Failure Points</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6"/>
              </a:rPr>
              <a:t>McCarthy Tétrault — Air Canada (grounding failure)</a:t>
            </a:r>
            <a:r>
              <a:rPr sz="850" i="1">
                <a:solidFill>
                  <a:srgbClr val="5B6678"/>
                </a:solidFill>
                <a:latin typeface="Arial"/>
              </a:rPr>
              <a:t>   ·   Documented failure classes (Barnett et al. 2024; Air Canada — McCarthy Tétrault 2024). Cases are illustrative.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635240" y="502920"/>
            <a:ext cx="4206240" cy="5120640"/>
          </a:xfrm>
          <a:prstGeom prst="rect">
            <a:avLst/>
          </a:prstGeom>
          <a:noFill/>
        </p:spPr>
        <p:txBody>
          <a:bodyPr wrap="square" lIns="0" rIns="0" tIns="0" bIns="0" anchor="ctr">
            <a:spAutoFit/>
          </a:bodyPr>
          <a:lstStyle/>
          <a:p>
            <a:pPr algn="ctr">
              <a:lnSpc>
                <a:spcPct val="100000"/>
              </a:lnSpc>
            </a:pPr>
            <a:r>
              <a:rPr sz="38000" b="1" i="0">
                <a:solidFill>
                  <a:srgbClr val="D9E2EC"/>
                </a:solidFill>
                <a:latin typeface="Arial"/>
              </a:rPr>
              <a:t>3</a:t>
            </a:r>
          </a:p>
        </p:txBody>
      </p:sp>
      <p:sp>
        <p:nvSpPr>
          <p:cNvPr id="3" name="TextBox 2"/>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SECTION 3</a:t>
            </a:r>
          </a:p>
        </p:txBody>
      </p:sp>
      <p:sp>
        <p:nvSpPr>
          <p:cNvPr id="4" name="Rectangle 3"/>
          <p:cNvSpPr/>
          <p:nvPr/>
        </p:nvSpPr>
        <p:spPr>
          <a:xfrm>
            <a:off x="713232" y="197510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6858000" cy="1691640"/>
          </a:xfrm>
          <a:prstGeom prst="rect">
            <a:avLst/>
          </a:prstGeom>
          <a:noFill/>
        </p:spPr>
        <p:txBody>
          <a:bodyPr wrap="square" lIns="0" rIns="0" tIns="0" bIns="0" anchor="t">
            <a:spAutoFit/>
          </a:bodyPr>
          <a:lstStyle/>
          <a:p>
            <a:pPr algn="l">
              <a:lnSpc>
                <a:spcPct val="108000"/>
              </a:lnSpc>
            </a:pPr>
            <a:r>
              <a:rPr sz="3800" b="1" i="0">
                <a:solidFill>
                  <a:srgbClr val="21295C"/>
                </a:solidFill>
                <a:latin typeface="Arial"/>
              </a:rPr>
              <a:t>Fine-tune vs prompt vs RAG</a:t>
            </a:r>
          </a:p>
        </p:txBody>
      </p:sp>
      <p:sp>
        <p:nvSpPr>
          <p:cNvPr id="6" name="TextBox 5"/>
          <p:cNvSpPr txBox="1"/>
          <p:nvPr/>
        </p:nvSpPr>
        <p:spPr>
          <a:xfrm>
            <a:off x="713232" y="4160520"/>
            <a:ext cx="6766560" cy="1325880"/>
          </a:xfrm>
          <a:prstGeom prst="rect">
            <a:avLst/>
          </a:prstGeom>
          <a:noFill/>
        </p:spPr>
        <p:txBody>
          <a:bodyPr wrap="square" lIns="0" rIns="0" tIns="0" bIns="0" anchor="t">
            <a:spAutoFit/>
          </a:bodyPr>
          <a:lstStyle/>
          <a:p>
            <a:pPr algn="l">
              <a:lnSpc>
                <a:spcPct val="122000"/>
              </a:lnSpc>
            </a:pPr>
            <a:r>
              <a:rPr sz="1800" b="0" i="1">
                <a:solidFill>
                  <a:srgbClr val="1C7293"/>
                </a:solidFill>
                <a:latin typeface="Arial"/>
              </a:rPr>
              <a:t>We solved the knowledge problem through RAG. But what if the problem is not knowledge, but the model's behavior — its tone, format, policy?</a:t>
            </a:r>
          </a:p>
        </p:txBody>
      </p:sp>
      <p:sp>
        <p:nvSpPr>
          <p:cNvPr id="7" name="Rounded Rectangle 6"/>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0</a:t>
            </a:r>
          </a:p>
        </p:txBody>
      </p:sp>
      <p:sp>
        <p:nvSpPr>
          <p:cNvPr id="9" name="TextBox 8"/>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Opening</a:t>
            </a:r>
          </a:p>
        </p:txBody>
      </p:sp>
      <p:sp>
        <p:nvSpPr>
          <p:cNvPr id="10" name="Rounded Rectangle 9"/>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1</a:t>
            </a:r>
          </a:p>
        </p:txBody>
      </p:sp>
      <p:sp>
        <p:nvSpPr>
          <p:cNvPr id="12" name="TextBox 11"/>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Prompt</a:t>
            </a:r>
          </a:p>
        </p:txBody>
      </p:sp>
      <p:sp>
        <p:nvSpPr>
          <p:cNvPr id="13" name="Rounded Rectangle 12"/>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2</a:t>
            </a:r>
          </a:p>
        </p:txBody>
      </p:sp>
      <p:sp>
        <p:nvSpPr>
          <p:cNvPr id="15" name="TextBox 14"/>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16" name="Rounded Rectangle 15"/>
          <p:cNvSpPr/>
          <p:nvPr/>
        </p:nvSpPr>
        <p:spPr>
          <a:xfrm>
            <a:off x="6167628"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Section 3</a:t>
            </a:r>
          </a:p>
        </p:txBody>
      </p:sp>
      <p:sp>
        <p:nvSpPr>
          <p:cNvPr id="18" name="TextBox 17"/>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Fine-tune</a:t>
            </a:r>
          </a:p>
        </p:txBody>
      </p:sp>
      <p:sp>
        <p:nvSpPr>
          <p:cNvPr id="19" name="Rounded Rectangle 18"/>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4</a:t>
            </a:r>
          </a:p>
        </p:txBody>
      </p:sp>
      <p:sp>
        <p:nvSpPr>
          <p:cNvPr id="21" name="TextBox 20"/>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Agents</a:t>
            </a:r>
          </a:p>
        </p:txBody>
      </p:sp>
      <p:sp>
        <p:nvSpPr>
          <p:cNvPr id="22" name="Rounded Rectangle 21"/>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5</a:t>
            </a:r>
          </a:p>
        </p:txBody>
      </p:sp>
      <p:sp>
        <p:nvSpPr>
          <p:cNvPr id="24" name="TextBox 23"/>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Framework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What fine-tuning is.</a:t>
            </a:r>
          </a:p>
        </p:txBody>
      </p:sp>
      <p:sp>
        <p:nvSpPr>
          <p:cNvPr id="3" name="TextBox 2"/>
          <p:cNvSpPr txBox="1"/>
          <p:nvPr/>
        </p:nvSpPr>
        <p:spPr>
          <a:xfrm>
            <a:off x="502920" y="1042415"/>
            <a:ext cx="11201400" cy="676656"/>
          </a:xfrm>
          <a:prstGeom prst="rect">
            <a:avLst/>
          </a:prstGeom>
          <a:noFill/>
        </p:spPr>
        <p:txBody>
          <a:bodyPr wrap="square" lIns="0" rIns="0" tIns="0" bIns="0" anchor="t">
            <a:spAutoFit/>
          </a:bodyPr>
          <a:lstStyle/>
          <a:p>
            <a:pPr algn="l">
              <a:lnSpc>
                <a:spcPct val="118000"/>
              </a:lnSpc>
            </a:pPr>
            <a:r>
              <a:rPr sz="1400" b="0" i="1">
                <a:solidFill>
                  <a:srgbClr val="065A82"/>
                </a:solidFill>
                <a:latin typeface="Arial"/>
              </a:rPr>
              <a:t>Fine-tuning is continuing the training of an already-built model on your data. In L1 — a type of use; here — an architectural choice, one of the rungs of the ladder.</a:t>
            </a:r>
          </a:p>
        </p:txBody>
      </p:sp>
      <p:sp>
        <p:nvSpPr>
          <p:cNvPr id="4" name="Rounded Rectangle 3"/>
          <p:cNvSpPr/>
          <p:nvPr/>
        </p:nvSpPr>
        <p:spPr>
          <a:xfrm>
            <a:off x="502920" y="1810512"/>
            <a:ext cx="11201400" cy="2267712"/>
          </a:xfrm>
          <a:prstGeom prst="roundRect">
            <a:avLst>
              <a:gd name="adj" fmla="val 1344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234440" y="2414016"/>
            <a:ext cx="2606040" cy="1335024"/>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pu-mid.png"/>
          <p:cNvPicPr>
            <a:picLocks noChangeAspect="1"/>
          </p:cNvPicPr>
          <p:nvPr/>
        </p:nvPicPr>
        <p:blipFill>
          <a:blip r:embed="rId2"/>
          <a:stretch>
            <a:fillRect/>
          </a:stretch>
        </p:blipFill>
        <p:spPr>
          <a:xfrm>
            <a:off x="2327148" y="2542032"/>
            <a:ext cx="384048" cy="384048"/>
          </a:xfrm>
          <a:prstGeom prst="rect">
            <a:avLst/>
          </a:prstGeom>
        </p:spPr>
      </p:pic>
      <p:sp>
        <p:nvSpPr>
          <p:cNvPr id="7" name="TextBox 6"/>
          <p:cNvSpPr txBox="1"/>
          <p:nvPr/>
        </p:nvSpPr>
        <p:spPr>
          <a:xfrm>
            <a:off x="1325880" y="2962656"/>
            <a:ext cx="2423160" cy="512064"/>
          </a:xfrm>
          <a:prstGeom prst="rect">
            <a:avLst/>
          </a:prstGeom>
          <a:noFill/>
        </p:spPr>
        <p:txBody>
          <a:bodyPr wrap="square" lIns="0" rIns="0" tIns="0" bIns="0" anchor="t">
            <a:spAutoFit/>
          </a:bodyPr>
          <a:lstStyle/>
          <a:p>
            <a:pPr algn="ctr">
              <a:lnSpc>
                <a:spcPct val="102000"/>
              </a:lnSpc>
            </a:pPr>
            <a:r>
              <a:rPr sz="1300" b="1" i="0">
                <a:solidFill>
                  <a:srgbClr val="21295C"/>
                </a:solidFill>
                <a:latin typeface="Arial"/>
              </a:rPr>
              <a:t>Pretrained
model</a:t>
            </a:r>
          </a:p>
        </p:txBody>
      </p:sp>
      <p:sp>
        <p:nvSpPr>
          <p:cNvPr id="8" name="TextBox 7"/>
          <p:cNvSpPr txBox="1"/>
          <p:nvPr/>
        </p:nvSpPr>
        <p:spPr>
          <a:xfrm>
            <a:off x="1362456" y="3493008"/>
            <a:ext cx="2350008" cy="237744"/>
          </a:xfrm>
          <a:prstGeom prst="rect">
            <a:avLst/>
          </a:prstGeom>
          <a:noFill/>
        </p:spPr>
        <p:txBody>
          <a:bodyPr wrap="square" lIns="0" rIns="0" tIns="0" bIns="0" anchor="t">
            <a:spAutoFit/>
          </a:bodyPr>
          <a:lstStyle/>
          <a:p>
            <a:pPr algn="ctr">
              <a:lnSpc>
                <a:spcPct val="115000"/>
              </a:lnSpc>
            </a:pPr>
            <a:r>
              <a:rPr sz="1150" b="0" i="1">
                <a:solidFill>
                  <a:srgbClr val="5B6678"/>
                </a:solidFill>
                <a:latin typeface="Arial"/>
              </a:rPr>
              <a:t>general weights</a:t>
            </a:r>
          </a:p>
        </p:txBody>
      </p:sp>
      <p:sp>
        <p:nvSpPr>
          <p:cNvPr id="9" name="TextBox 8"/>
          <p:cNvSpPr txBox="1"/>
          <p:nvPr/>
        </p:nvSpPr>
        <p:spPr>
          <a:xfrm>
            <a:off x="3840480" y="2788920"/>
            <a:ext cx="530352" cy="585216"/>
          </a:xfrm>
          <a:prstGeom prst="rect">
            <a:avLst/>
          </a:prstGeom>
          <a:noFill/>
        </p:spPr>
        <p:txBody>
          <a:bodyPr wrap="square" lIns="0" rIns="0" tIns="0" bIns="0" anchor="ctr">
            <a:spAutoFit/>
          </a:bodyPr>
          <a:lstStyle/>
          <a:p>
            <a:pPr algn="ctr">
              <a:lnSpc>
                <a:spcPct val="115000"/>
              </a:lnSpc>
            </a:pPr>
            <a:r>
              <a:rPr sz="3000" b="1" i="0">
                <a:solidFill>
                  <a:srgbClr val="065A82"/>
                </a:solidFill>
                <a:latin typeface="Arial"/>
              </a:rPr>
              <a:t>+</a:t>
            </a:r>
          </a:p>
        </p:txBody>
      </p:sp>
      <p:sp>
        <p:nvSpPr>
          <p:cNvPr id="10" name="Rounded Rectangle 9"/>
          <p:cNvSpPr/>
          <p:nvPr/>
        </p:nvSpPr>
        <p:spPr>
          <a:xfrm>
            <a:off x="4370832" y="2414016"/>
            <a:ext cx="2606040" cy="1335024"/>
          </a:xfrm>
          <a:prstGeom prst="roundRect">
            <a:avLst>
              <a:gd name="adj" fmla="val 10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atabase-teal.png"/>
          <p:cNvPicPr>
            <a:picLocks noChangeAspect="1"/>
          </p:cNvPicPr>
          <p:nvPr/>
        </p:nvPicPr>
        <p:blipFill>
          <a:blip r:embed="rId3"/>
          <a:stretch>
            <a:fillRect/>
          </a:stretch>
        </p:blipFill>
        <p:spPr>
          <a:xfrm>
            <a:off x="5463540" y="2542032"/>
            <a:ext cx="384048" cy="384048"/>
          </a:xfrm>
          <a:prstGeom prst="rect">
            <a:avLst/>
          </a:prstGeom>
        </p:spPr>
      </p:pic>
      <p:sp>
        <p:nvSpPr>
          <p:cNvPr id="12" name="TextBox 11"/>
          <p:cNvSpPr txBox="1"/>
          <p:nvPr/>
        </p:nvSpPr>
        <p:spPr>
          <a:xfrm>
            <a:off x="4498848" y="2962656"/>
            <a:ext cx="2350008" cy="274320"/>
          </a:xfrm>
          <a:prstGeom prst="rect">
            <a:avLst/>
          </a:prstGeom>
          <a:noFill/>
        </p:spPr>
        <p:txBody>
          <a:bodyPr wrap="square" lIns="0" rIns="0" tIns="0" bIns="0" anchor="t">
            <a:spAutoFit/>
          </a:bodyPr>
          <a:lstStyle/>
          <a:p>
            <a:pPr algn="ctr">
              <a:lnSpc>
                <a:spcPct val="115000"/>
              </a:lnSpc>
            </a:pPr>
            <a:r>
              <a:rPr sz="1300" b="1" i="0">
                <a:solidFill>
                  <a:srgbClr val="21295C"/>
                </a:solidFill>
                <a:latin typeface="Arial"/>
              </a:rPr>
              <a:t>Your dataset</a:t>
            </a:r>
          </a:p>
        </p:txBody>
      </p:sp>
      <p:sp>
        <p:nvSpPr>
          <p:cNvPr id="13" name="TextBox 12"/>
          <p:cNvSpPr txBox="1"/>
          <p:nvPr/>
        </p:nvSpPr>
        <p:spPr>
          <a:xfrm>
            <a:off x="4462272" y="3273552"/>
            <a:ext cx="2423160" cy="457200"/>
          </a:xfrm>
          <a:prstGeom prst="rect">
            <a:avLst/>
          </a:prstGeom>
          <a:noFill/>
        </p:spPr>
        <p:txBody>
          <a:bodyPr wrap="square" lIns="0" rIns="0" tIns="0" bIns="0" anchor="t">
            <a:spAutoFit/>
          </a:bodyPr>
          <a:lstStyle/>
          <a:p>
            <a:pPr algn="ctr">
              <a:lnSpc>
                <a:spcPct val="102000"/>
              </a:lnSpc>
            </a:pPr>
            <a:r>
              <a:rPr sz="1150" b="0" i="1">
                <a:solidFill>
                  <a:srgbClr val="5B6678"/>
                </a:solidFill>
                <a:latin typeface="Arial"/>
              </a:rPr>
              <a:t>examples of the desired
behavior</a:t>
            </a:r>
          </a:p>
        </p:txBody>
      </p:sp>
      <p:sp>
        <p:nvSpPr>
          <p:cNvPr id="14" name="TextBox 13"/>
          <p:cNvSpPr txBox="1"/>
          <p:nvPr/>
        </p:nvSpPr>
        <p:spPr>
          <a:xfrm>
            <a:off x="6931152" y="2029968"/>
            <a:ext cx="1463040" cy="292608"/>
          </a:xfrm>
          <a:prstGeom prst="rect">
            <a:avLst/>
          </a:prstGeom>
          <a:noFill/>
        </p:spPr>
        <p:txBody>
          <a:bodyPr wrap="square" lIns="0" rIns="0" tIns="0" bIns="0" anchor="t">
            <a:spAutoFit/>
          </a:bodyPr>
          <a:lstStyle/>
          <a:p>
            <a:pPr algn="ctr">
              <a:lnSpc>
                <a:spcPct val="115000"/>
              </a:lnSpc>
            </a:pPr>
            <a:r>
              <a:rPr sz="1300" b="1" i="0">
                <a:solidFill>
                  <a:srgbClr val="065A82"/>
                </a:solidFill>
                <a:latin typeface="Arial"/>
              </a:rPr>
              <a:t>fine-tuning</a:t>
            </a:r>
          </a:p>
        </p:txBody>
      </p:sp>
      <p:sp>
        <p:nvSpPr>
          <p:cNvPr id="15" name="Right Arrow 14"/>
          <p:cNvSpPr/>
          <p:nvPr/>
        </p:nvSpPr>
        <p:spPr>
          <a:xfrm>
            <a:off x="7031736" y="2889504"/>
            <a:ext cx="1261872" cy="384048"/>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348472" y="2414016"/>
            <a:ext cx="2606040" cy="1335024"/>
          </a:xfrm>
          <a:prstGeom prst="roundRect">
            <a:avLst>
              <a:gd name="adj" fmla="val 10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liders-horizontal-gold.png"/>
          <p:cNvPicPr>
            <a:picLocks noChangeAspect="1"/>
          </p:cNvPicPr>
          <p:nvPr/>
        </p:nvPicPr>
        <p:blipFill>
          <a:blip r:embed="rId4"/>
          <a:stretch>
            <a:fillRect/>
          </a:stretch>
        </p:blipFill>
        <p:spPr>
          <a:xfrm>
            <a:off x="9441180" y="2542032"/>
            <a:ext cx="384048" cy="384048"/>
          </a:xfrm>
          <a:prstGeom prst="rect">
            <a:avLst/>
          </a:prstGeom>
        </p:spPr>
      </p:pic>
      <p:sp>
        <p:nvSpPr>
          <p:cNvPr id="18" name="TextBox 17"/>
          <p:cNvSpPr txBox="1"/>
          <p:nvPr/>
        </p:nvSpPr>
        <p:spPr>
          <a:xfrm>
            <a:off x="8439912" y="2962656"/>
            <a:ext cx="2423160" cy="512064"/>
          </a:xfrm>
          <a:prstGeom prst="rect">
            <a:avLst/>
          </a:prstGeom>
          <a:noFill/>
        </p:spPr>
        <p:txBody>
          <a:bodyPr wrap="square" lIns="0" rIns="0" tIns="0" bIns="0" anchor="t">
            <a:spAutoFit/>
          </a:bodyPr>
          <a:lstStyle/>
          <a:p>
            <a:pPr algn="ctr">
              <a:lnSpc>
                <a:spcPct val="102000"/>
              </a:lnSpc>
            </a:pPr>
            <a:r>
              <a:rPr sz="1300" b="1" i="0">
                <a:solidFill>
                  <a:srgbClr val="21295C"/>
                </a:solidFill>
                <a:latin typeface="Arial"/>
              </a:rPr>
              <a:t>Fine-tuned
WEIGHTS</a:t>
            </a:r>
          </a:p>
        </p:txBody>
      </p:sp>
      <p:sp>
        <p:nvSpPr>
          <p:cNvPr id="19" name="TextBox 18"/>
          <p:cNvSpPr txBox="1"/>
          <p:nvPr/>
        </p:nvSpPr>
        <p:spPr>
          <a:xfrm>
            <a:off x="8476488" y="3493008"/>
            <a:ext cx="2350008" cy="237744"/>
          </a:xfrm>
          <a:prstGeom prst="rect">
            <a:avLst/>
          </a:prstGeom>
          <a:noFill/>
        </p:spPr>
        <p:txBody>
          <a:bodyPr wrap="square" lIns="0" rIns="0" tIns="0" bIns="0" anchor="t">
            <a:spAutoFit/>
          </a:bodyPr>
          <a:lstStyle/>
          <a:p>
            <a:pPr algn="ctr">
              <a:lnSpc>
                <a:spcPct val="115000"/>
              </a:lnSpc>
            </a:pPr>
            <a:r>
              <a:rPr sz="1150" b="0" i="1">
                <a:solidFill>
                  <a:srgbClr val="5B6678"/>
                </a:solidFill>
                <a:latin typeface="Arial"/>
              </a:rPr>
              <a:t>the model is now different</a:t>
            </a:r>
          </a:p>
        </p:txBody>
      </p:sp>
      <p:sp>
        <p:nvSpPr>
          <p:cNvPr id="20" name="Rounded Rectangle 19"/>
          <p:cNvSpPr/>
          <p:nvPr/>
        </p:nvSpPr>
        <p:spPr>
          <a:xfrm>
            <a:off x="502920" y="4160520"/>
            <a:ext cx="5532120" cy="1417320"/>
          </a:xfrm>
          <a:prstGeom prst="roundRect">
            <a:avLst>
              <a:gd name="adj" fmla="val 21505"/>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58952" y="4325112"/>
            <a:ext cx="5029200" cy="310896"/>
          </a:xfrm>
          <a:prstGeom prst="rect">
            <a:avLst/>
          </a:prstGeom>
          <a:noFill/>
        </p:spPr>
        <p:txBody>
          <a:bodyPr wrap="square" lIns="0" rIns="0" tIns="0" bIns="0" anchor="t">
            <a:spAutoFit/>
          </a:bodyPr>
          <a:lstStyle/>
          <a:p>
            <a:pPr algn="l">
              <a:lnSpc>
                <a:spcPct val="115000"/>
              </a:lnSpc>
            </a:pPr>
            <a:r>
              <a:rPr sz="1500" b="1" i="0">
                <a:solidFill>
                  <a:srgbClr val="028090"/>
                </a:solidFill>
                <a:latin typeface="Arial"/>
              </a:rPr>
              <a:t>Prompt / RAG → CONTEXT</a:t>
            </a:r>
          </a:p>
        </p:txBody>
      </p:sp>
      <p:sp>
        <p:nvSpPr>
          <p:cNvPr id="22" name="TextBox 21"/>
          <p:cNvSpPr txBox="1"/>
          <p:nvPr/>
        </p:nvSpPr>
        <p:spPr>
          <a:xfrm>
            <a:off x="758952" y="4690872"/>
            <a:ext cx="5074920" cy="804672"/>
          </a:xfrm>
          <a:prstGeom prst="rect">
            <a:avLst/>
          </a:prstGeom>
          <a:noFill/>
        </p:spPr>
        <p:txBody>
          <a:bodyPr wrap="square" lIns="0" rIns="0" tIns="0" bIns="0" anchor="t">
            <a:spAutoFit/>
          </a:bodyPr>
          <a:lstStyle/>
          <a:p>
            <a:pPr algn="l">
              <a:lnSpc>
                <a:spcPct val="122000"/>
              </a:lnSpc>
            </a:pPr>
            <a:r>
              <a:rPr sz="1300" b="0" i="0">
                <a:solidFill>
                  <a:srgbClr val="21295C"/>
                </a:solidFill>
                <a:latin typeface="Arial"/>
              </a:rPr>
              <a:t>They change only the input — the weights aren't touched; the effect lives only within the request.</a:t>
            </a:r>
          </a:p>
        </p:txBody>
      </p:sp>
      <p:sp>
        <p:nvSpPr>
          <p:cNvPr id="23" name="Rounded Rectangle 22"/>
          <p:cNvSpPr/>
          <p:nvPr/>
        </p:nvSpPr>
        <p:spPr>
          <a:xfrm>
            <a:off x="6172200" y="4160520"/>
            <a:ext cx="553212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28232" y="4325112"/>
            <a:ext cx="5029200"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Fine-tuning → THE WEIGHTS THEMSELVES</a:t>
            </a:r>
          </a:p>
        </p:txBody>
      </p:sp>
      <p:sp>
        <p:nvSpPr>
          <p:cNvPr id="25" name="TextBox 24"/>
          <p:cNvSpPr txBox="1"/>
          <p:nvPr/>
        </p:nvSpPr>
        <p:spPr>
          <a:xfrm>
            <a:off x="6428232" y="4690872"/>
            <a:ext cx="5074920" cy="804672"/>
          </a:xfrm>
          <a:prstGeom prst="rect">
            <a:avLst/>
          </a:prstGeom>
          <a:noFill/>
        </p:spPr>
        <p:txBody>
          <a:bodyPr wrap="square" lIns="0" rIns="0" tIns="0" bIns="0" anchor="t">
            <a:spAutoFit/>
          </a:bodyPr>
          <a:lstStyle/>
          <a:p>
            <a:pPr algn="l">
              <a:lnSpc>
                <a:spcPct val="122000"/>
              </a:lnSpc>
            </a:pPr>
            <a:r>
              <a:rPr sz="1300" b="0" i="0">
                <a:solidFill>
                  <a:srgbClr val="21295C"/>
                </a:solidFill>
                <a:latin typeface="Arial"/>
              </a:rPr>
              <a:t>The change is built into the model — it always applies and costs more than what changes the context.</a:t>
            </a:r>
          </a:p>
        </p:txBody>
      </p:sp>
      <p:sp>
        <p:nvSpPr>
          <p:cNvPr id="26" name="Rounded Rectangle 25"/>
          <p:cNvSpPr/>
          <p:nvPr/>
        </p:nvSpPr>
        <p:spPr>
          <a:xfrm>
            <a:off x="502920" y="5742432"/>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8" y="5797296"/>
            <a:ext cx="10799064" cy="603504"/>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Prompt/RAG = “what to show the model.”  Fine-tuning = “change the model itself</a:t>
            </a:r>
            <a:r>
              <a:rPr sz="728" baseline="30000" b="0" i="1">
                <a:latin typeface="Arial"/>
                <a:cs typeface="Arial"/>
                <a:ea typeface="Arial"/>
                <a:solidFill>
                  <a:srgbClr val="1C7293"/>
                </a:solidFill>
              </a:rPr>
              <a:t>[1]</a:t>
            </a:r>
            <a:r>
              <a:rPr sz="1400" b="1" i="0">
                <a:latin typeface="Arial"/>
                <a:cs typeface="Arial"/>
                <a:ea typeface="Arial"/>
                <a:solidFill>
                  <a:srgbClr val="21295C"/>
                </a:solidFill>
              </a:rPr>
              <a:t>.” In practice “fine-tune” almost always means LoRA/PEFT, not retraining all the weights (next slide).</a:t>
            </a:r>
          </a:p>
        </p:txBody>
      </p:sp>
      <p:sp>
        <p:nvSpPr>
          <p:cNvPr id="28" name="TextBox 27"/>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IBM — RAG vs Fine-Tuning (fine-tuning changes the weights)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PEFT instead of full fine-tuning.</a:t>
            </a:r>
          </a:p>
        </p:txBody>
      </p:sp>
      <p:sp>
        <p:nvSpPr>
          <p:cNvPr id="3" name="TextBox 2"/>
          <p:cNvSpPr txBox="1"/>
          <p:nvPr/>
        </p:nvSpPr>
        <p:spPr>
          <a:xfrm>
            <a:off x="502920" y="1060704"/>
            <a:ext cx="11201400" cy="713232"/>
          </a:xfrm>
          <a:prstGeom prst="rect">
            <a:avLst/>
          </a:prstGeom>
          <a:noFill/>
        </p:spPr>
        <p:txBody>
          <a:bodyPr wrap="square" lIns="0" rIns="0" tIns="0" bIns="0" anchor="t">
            <a:spAutoFit/>
          </a:bodyPr>
          <a:lstStyle/>
          <a:p>
            <a:pPr algn="l">
              <a:lnSpc>
                <a:spcPct val="118000"/>
              </a:lnSpc>
            </a:pPr>
            <a:r>
              <a:rPr sz="1400" b="0" i="1">
                <a:solidFill>
                  <a:srgbClr val="065A82"/>
                </a:solidFill>
                <a:latin typeface="Arial"/>
              </a:rPr>
              <a:t>PEFT — the base weights are frozen, and only a small set of adapters is trained. LoRA — low-rank adapter matrices; QLoRA — the same on top of a quantized model</a:t>
            </a:r>
            <a:r>
              <a:rPr sz="728" baseline="30000" b="0" i="1">
                <a:latin typeface="Arial"/>
                <a:cs typeface="Arial"/>
                <a:ea typeface="Arial"/>
                <a:solidFill>
                  <a:srgbClr val="1C7293"/>
                </a:solidFill>
              </a:rPr>
              <a:t>[1,2]</a:t>
            </a:r>
            <a:r>
              <a:rPr sz="1400" b="0" i="1">
                <a:latin typeface="Arial"/>
                <a:cs typeface="Arial"/>
                <a:ea typeface="Arial"/>
                <a:solidFill>
                  <a:srgbClr val="065A82"/>
                </a:solidFill>
              </a:rPr>
              <a:t>.</a:t>
            </a:r>
          </a:p>
        </p:txBody>
      </p:sp>
      <p:sp>
        <p:nvSpPr>
          <p:cNvPr id="4" name="Rounded Rectangle 3"/>
          <p:cNvSpPr/>
          <p:nvPr/>
        </p:nvSpPr>
        <p:spPr>
          <a:xfrm>
            <a:off x="502920" y="1920240"/>
            <a:ext cx="4526280" cy="2880360"/>
          </a:xfrm>
          <a:prstGeom prst="roundRect">
            <a:avLst>
              <a:gd name="adj" fmla="val 1058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05840" y="2423160"/>
            <a:ext cx="3520440" cy="1417320"/>
          </a:xfrm>
          <a:prstGeom prst="roundRect">
            <a:avLst>
              <a:gd name="adj" fmla="val 6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2423160"/>
            <a:ext cx="3520440" cy="1417320"/>
          </a:xfrm>
          <a:prstGeom prst="rect">
            <a:avLst/>
          </a:prstGeom>
          <a:noFill/>
        </p:spPr>
        <p:txBody>
          <a:bodyPr wrap="square" lIns="0" rIns="0" tIns="0" bIns="0" anchor="ctr">
            <a:spAutoFit/>
          </a:bodyPr>
          <a:lstStyle/>
          <a:p>
            <a:pPr algn="ctr">
              <a:lnSpc>
                <a:spcPct val="110000"/>
              </a:lnSpc>
            </a:pPr>
            <a:r>
              <a:rPr sz="1700" b="1" i="0">
                <a:solidFill>
                  <a:srgbClr val="FFFFFF"/>
                </a:solidFill>
                <a:latin typeface="Arial"/>
              </a:rPr>
              <a:t>Base weights
(frozen)</a:t>
            </a:r>
          </a:p>
        </p:txBody>
      </p:sp>
      <p:sp>
        <p:nvSpPr>
          <p:cNvPr id="7" name="Rounded Rectangle 6"/>
          <p:cNvSpPr/>
          <p:nvPr/>
        </p:nvSpPr>
        <p:spPr>
          <a:xfrm>
            <a:off x="1143000" y="4069080"/>
            <a:ext cx="868680" cy="502920"/>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43000" y="4069080"/>
            <a:ext cx="868680" cy="5029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LoRA</a:t>
            </a:r>
          </a:p>
        </p:txBody>
      </p:sp>
      <p:sp>
        <p:nvSpPr>
          <p:cNvPr id="9" name="Rounded Rectangle 8"/>
          <p:cNvSpPr/>
          <p:nvPr/>
        </p:nvSpPr>
        <p:spPr>
          <a:xfrm>
            <a:off x="2240280" y="4069080"/>
            <a:ext cx="868680" cy="502920"/>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40280" y="4069080"/>
            <a:ext cx="868680" cy="5029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LoRA</a:t>
            </a:r>
          </a:p>
        </p:txBody>
      </p:sp>
      <p:sp>
        <p:nvSpPr>
          <p:cNvPr id="11" name="Rounded Rectangle 10"/>
          <p:cNvSpPr/>
          <p:nvPr/>
        </p:nvSpPr>
        <p:spPr>
          <a:xfrm>
            <a:off x="3337560" y="4069080"/>
            <a:ext cx="868680" cy="502920"/>
          </a:xfrm>
          <a:prstGeom prst="roundRect">
            <a:avLst>
              <a:gd name="adj" fmla="val 18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337560" y="4069080"/>
            <a:ext cx="868680" cy="502920"/>
          </a:xfrm>
          <a:prstGeom prst="rect">
            <a:avLst/>
          </a:prstGeom>
          <a:noFill/>
        </p:spPr>
        <p:txBody>
          <a:bodyPr wrap="square" lIns="0" rIns="0" tIns="0" bIns="0" anchor="ctr">
            <a:spAutoFit/>
          </a:bodyPr>
          <a:lstStyle/>
          <a:p>
            <a:pPr algn="ctr">
              <a:lnSpc>
                <a:spcPct val="115000"/>
              </a:lnSpc>
            </a:pPr>
            <a:r>
              <a:rPr sz="1100" b="1" i="0">
                <a:solidFill>
                  <a:srgbClr val="21295C"/>
                </a:solidFill>
                <a:latin typeface="Arial"/>
              </a:rPr>
              <a:t>LoRA</a:t>
            </a:r>
          </a:p>
        </p:txBody>
      </p:sp>
      <p:sp>
        <p:nvSpPr>
          <p:cNvPr id="13" name="TextBox 12"/>
          <p:cNvSpPr txBox="1"/>
          <p:nvPr/>
        </p:nvSpPr>
        <p:spPr>
          <a:xfrm>
            <a:off x="502920" y="4782312"/>
            <a:ext cx="4526280" cy="274320"/>
          </a:xfrm>
          <a:prstGeom prst="rect">
            <a:avLst/>
          </a:prstGeom>
          <a:noFill/>
        </p:spPr>
        <p:txBody>
          <a:bodyPr wrap="square" lIns="0" rIns="0" tIns="0" bIns="0" anchor="t">
            <a:spAutoFit/>
          </a:bodyPr>
          <a:lstStyle/>
          <a:p>
            <a:pPr algn="ctr">
              <a:lnSpc>
                <a:spcPct val="115000"/>
              </a:lnSpc>
            </a:pPr>
            <a:r>
              <a:rPr sz="1100" b="0" i="1">
                <a:solidFill>
                  <a:srgbClr val="1C7293"/>
                </a:solidFill>
                <a:latin typeface="Arial"/>
              </a:rPr>
              <a:t>adapters — megabytes vs gigabytes</a:t>
            </a:r>
          </a:p>
        </p:txBody>
      </p:sp>
      <p:sp>
        <p:nvSpPr>
          <p:cNvPr id="14" name="Rounded Rectangle 13"/>
          <p:cNvSpPr/>
          <p:nvPr/>
        </p:nvSpPr>
        <p:spPr>
          <a:xfrm>
            <a:off x="5303520" y="1920240"/>
            <a:ext cx="6400800" cy="8412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522976" y="2011680"/>
            <a:ext cx="5961888"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1. Cheaper and faster</a:t>
            </a:r>
          </a:p>
        </p:txBody>
      </p:sp>
      <p:sp>
        <p:nvSpPr>
          <p:cNvPr id="16" name="TextBox 15"/>
          <p:cNvSpPr txBox="1"/>
          <p:nvPr/>
        </p:nvSpPr>
        <p:spPr>
          <a:xfrm>
            <a:off x="5522976" y="2322576"/>
            <a:ext cx="5961888" cy="402336"/>
          </a:xfrm>
          <a:prstGeom prst="rect">
            <a:avLst/>
          </a:prstGeom>
          <a:noFill/>
        </p:spPr>
        <p:txBody>
          <a:bodyPr wrap="square" lIns="0" rIns="0" tIns="0" bIns="0" anchor="t">
            <a:spAutoFit/>
          </a:bodyPr>
          <a:lstStyle/>
          <a:p>
            <a:pPr algn="l">
              <a:lnSpc>
                <a:spcPct val="112000"/>
              </a:lnSpc>
            </a:pPr>
            <a:r>
              <a:rPr sz="1250" b="0" i="0">
                <a:solidFill>
                  <a:srgbClr val="21295C"/>
                </a:solidFill>
                <a:latin typeface="Arial"/>
              </a:rPr>
              <a:t>millions of parameters trained instead of billions; QLoRA — on a single GPU</a:t>
            </a:r>
          </a:p>
        </p:txBody>
      </p:sp>
      <p:sp>
        <p:nvSpPr>
          <p:cNvPr id="17" name="Rounded Rectangle 16"/>
          <p:cNvSpPr/>
          <p:nvPr/>
        </p:nvSpPr>
        <p:spPr>
          <a:xfrm>
            <a:off x="5303520" y="2889504"/>
            <a:ext cx="6400800" cy="84124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522976" y="2980944"/>
            <a:ext cx="5961888" cy="310896"/>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2. Modularity</a:t>
            </a:r>
          </a:p>
        </p:txBody>
      </p:sp>
      <p:sp>
        <p:nvSpPr>
          <p:cNvPr id="19" name="TextBox 18"/>
          <p:cNvSpPr txBox="1"/>
          <p:nvPr/>
        </p:nvSpPr>
        <p:spPr>
          <a:xfrm>
            <a:off x="5522976" y="3291840"/>
            <a:ext cx="5961888" cy="402336"/>
          </a:xfrm>
          <a:prstGeom prst="rect">
            <a:avLst/>
          </a:prstGeom>
          <a:noFill/>
        </p:spPr>
        <p:txBody>
          <a:bodyPr wrap="square" lIns="0" rIns="0" tIns="0" bIns="0" anchor="t">
            <a:spAutoFit/>
          </a:bodyPr>
          <a:lstStyle/>
          <a:p>
            <a:pPr algn="l">
              <a:lnSpc>
                <a:spcPct val="112000"/>
              </a:lnSpc>
            </a:pPr>
            <a:r>
              <a:rPr sz="1250" b="0" i="0">
                <a:solidFill>
                  <a:srgbClr val="21295C"/>
                </a:solidFill>
                <a:latin typeface="Arial"/>
              </a:rPr>
              <a:t>adapters are megabytes vs gigabytes; one base — many specializations</a:t>
            </a:r>
          </a:p>
        </p:txBody>
      </p:sp>
      <p:sp>
        <p:nvSpPr>
          <p:cNvPr id="20" name="Rounded Rectangle 19"/>
          <p:cNvSpPr/>
          <p:nvPr/>
        </p:nvSpPr>
        <p:spPr>
          <a:xfrm>
            <a:off x="5303520" y="3858768"/>
            <a:ext cx="6400800" cy="1005840"/>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522976" y="3950208"/>
            <a:ext cx="5961888" cy="310896"/>
          </a:xfrm>
          <a:prstGeom prst="rect">
            <a:avLst/>
          </a:prstGeom>
          <a:noFill/>
        </p:spPr>
        <p:txBody>
          <a:bodyPr wrap="square" lIns="0" rIns="0" tIns="0" bIns="0" anchor="t">
            <a:spAutoFit/>
          </a:bodyPr>
          <a:lstStyle/>
          <a:p>
            <a:pPr algn="l">
              <a:lnSpc>
                <a:spcPct val="115000"/>
              </a:lnSpc>
            </a:pPr>
            <a:r>
              <a:rPr sz="1500" b="1" i="0">
                <a:solidFill>
                  <a:srgbClr val="21295C"/>
                </a:solidFill>
                <a:latin typeface="Arial"/>
              </a:rPr>
              <a:t>3. ↓ Catastrophic-forgetting risk</a:t>
            </a:r>
          </a:p>
        </p:txBody>
      </p:sp>
      <p:sp>
        <p:nvSpPr>
          <p:cNvPr id="22" name="TextBox 21"/>
          <p:cNvSpPr txBox="1"/>
          <p:nvPr/>
        </p:nvSpPr>
        <p:spPr>
          <a:xfrm>
            <a:off x="5522976" y="4261104"/>
            <a:ext cx="5961888" cy="548640"/>
          </a:xfrm>
          <a:prstGeom prst="rect">
            <a:avLst/>
          </a:prstGeom>
          <a:noFill/>
        </p:spPr>
        <p:txBody>
          <a:bodyPr wrap="square" lIns="0" rIns="0" tIns="0" bIns="0" anchor="t">
            <a:spAutoFit/>
          </a:bodyPr>
          <a:lstStyle/>
          <a:p>
            <a:pPr algn="l">
              <a:lnSpc>
                <a:spcPct val="112000"/>
              </a:lnSpc>
            </a:pPr>
            <a:r>
              <a:rPr sz="1250" b="0" i="0">
                <a:solidFill>
                  <a:srgbClr val="21295C"/>
                </a:solidFill>
                <a:latin typeface="Arial"/>
              </a:rPr>
              <a:t>the base is frozen, physically not rewritten under the new signal — an architectural argument</a:t>
            </a:r>
          </a:p>
        </p:txBody>
      </p:sp>
      <p:sp>
        <p:nvSpPr>
          <p:cNvPr id="23" name="Rounded Rectangle 22"/>
          <p:cNvSpPr/>
          <p:nvPr/>
        </p:nvSpPr>
        <p:spPr>
          <a:xfrm>
            <a:off x="502920" y="5029200"/>
            <a:ext cx="5440680" cy="1207008"/>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5175504"/>
            <a:ext cx="5029200" cy="502920"/>
          </a:xfrm>
          <a:prstGeom prst="rect">
            <a:avLst/>
          </a:prstGeom>
          <a:noFill/>
        </p:spPr>
        <p:txBody>
          <a:bodyPr wrap="square" lIns="0" rIns="0" tIns="0" bIns="0" anchor="ctr">
            <a:spAutoFit/>
          </a:bodyPr>
          <a:lstStyle/>
          <a:p>
            <a:pPr algn="l">
              <a:lnSpc>
                <a:spcPct val="100000"/>
              </a:lnSpc>
            </a:pPr>
            <a:r>
              <a:rPr sz="3000" b="1" i="0">
                <a:solidFill>
                  <a:srgbClr val="F0AB00"/>
                </a:solidFill>
                <a:latin typeface="Arial"/>
              </a:rPr>
              <a:t>98.4% </a:t>
            </a:r>
            <a:r>
              <a:rPr sz="1400" b="1" i="0">
                <a:solidFill>
                  <a:srgbClr val="21295C"/>
                </a:solidFill>
                <a:latin typeface="Arial"/>
              </a:rPr>
              <a:t>of models tagged PEFT are LoRA</a:t>
            </a:r>
            <a:r>
              <a:rPr sz="728" baseline="30000" b="0" i="1">
                <a:latin typeface="Arial"/>
                <a:cs typeface="Arial"/>
                <a:ea typeface="Arial"/>
                <a:solidFill>
                  <a:srgbClr val="1C7293"/>
                </a:solidFill>
              </a:rPr>
              <a:t>[3]</a:t>
            </a:r>
          </a:p>
        </p:txBody>
      </p:sp>
      <p:sp>
        <p:nvSpPr>
          <p:cNvPr id="25" name="TextBox 24"/>
          <p:cNvSpPr txBox="1"/>
          <p:nvPr/>
        </p:nvSpPr>
        <p:spPr>
          <a:xfrm>
            <a:off x="731520" y="5687568"/>
            <a:ext cx="4983480" cy="475488"/>
          </a:xfrm>
          <a:prstGeom prst="rect">
            <a:avLst/>
          </a:prstGeom>
          <a:noFill/>
        </p:spPr>
        <p:txBody>
          <a:bodyPr wrap="square" lIns="0" rIns="0" tIns="0" bIns="0" anchor="t">
            <a:spAutoFit/>
          </a:bodyPr>
          <a:lstStyle/>
          <a:p>
            <a:pPr algn="l">
              <a:lnSpc>
                <a:spcPct val="112000"/>
              </a:lnSpc>
            </a:pPr>
            <a:r>
              <a:rPr sz="1100" b="0" i="1">
                <a:solidFill>
                  <a:srgbClr val="5B6678"/>
                </a:solidFill>
                <a:latin typeface="Arial"/>
              </a:rPr>
              <a:t>out of 20,834 cards on the Hugging Face Hub · caveat: the share among models tagged PEFT, not among all fine-tuning</a:t>
            </a:r>
          </a:p>
        </p:txBody>
      </p:sp>
      <p:sp>
        <p:nvSpPr>
          <p:cNvPr id="26" name="Rounded Rectangle 25"/>
          <p:cNvSpPr/>
          <p:nvPr/>
        </p:nvSpPr>
        <p:spPr>
          <a:xfrm>
            <a:off x="6126480" y="5029200"/>
            <a:ext cx="5577840" cy="12070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27648" y="5084064"/>
            <a:ext cx="5175503" cy="1097280"/>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PEFT (LoRA/QLoRA) is almost always better than full fine-tuning: cheaper, more modular, ↓ forgetting risk. Full FT in 2026 — almost never.</a:t>
            </a:r>
          </a:p>
        </p:txBody>
      </p:sp>
      <p:sp>
        <p:nvSpPr>
          <p:cNvPr id="28" name="TextBox 27"/>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Hu et al. 2021 — LoRA</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4"/>
              </a:rPr>
              <a:t>Dettmers et al. 2023 — QLoRA</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5"/>
              </a:rPr>
              <a:t>HF PEFT — Beyond LoRA (LoRA 98.4% of 20,834 cards)</a:t>
            </a:r>
            <a:r>
              <a:rPr sz="850" i="1">
                <a:solidFill>
                  <a:srgbClr val="5B6678"/>
                </a:solidFill>
                <a:latin typeface="Arial"/>
              </a:rPr>
              <a:t>   ·   HF PEFT team, “Beyond LoRA?”, June 2026. The full spectrum of methods (SFT / DPO / RFT) — in the chapter.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Fine-tuning is not dead</a:t>
            </a:r>
            <a:r>
              <a:rPr sz="1300" baseline="30000" b="0" i="1">
                <a:latin typeface="Arial"/>
                <a:cs typeface="Arial"/>
                <a:ea typeface="Arial"/>
                <a:solidFill>
                  <a:srgbClr val="1C7293"/>
                </a:solidFill>
              </a:rPr>
              <a:t>[1]</a:t>
            </a:r>
            <a:r>
              <a:rPr sz="2500" b="1" i="0">
                <a:latin typeface="Arial"/>
                <a:cs typeface="Arial"/>
                <a:ea typeface="Arial"/>
                <a:solidFill>
                  <a:srgbClr val="21295C"/>
                </a:solidFill>
              </a:rPr>
              <a:t> — it narrowed down to behavior.</a:t>
            </a:r>
          </a:p>
        </p:txBody>
      </p:sp>
      <p:sp>
        <p:nvSpPr>
          <p:cNvPr id="3" name="Rounded Rectangle 2"/>
          <p:cNvSpPr/>
          <p:nvPr/>
        </p:nvSpPr>
        <p:spPr>
          <a:xfrm>
            <a:off x="502920" y="1042415"/>
            <a:ext cx="5532120" cy="1572768"/>
          </a:xfrm>
          <a:prstGeom prst="roundRect">
            <a:avLst>
              <a:gd name="adj" fmla="val 1937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it-branch-mid.png"/>
          <p:cNvPicPr>
            <a:picLocks noChangeAspect="1"/>
          </p:cNvPicPr>
          <p:nvPr/>
        </p:nvPicPr>
        <p:blipFill>
          <a:blip r:embed="rId2"/>
          <a:stretch>
            <a:fillRect/>
          </a:stretch>
        </p:blipFill>
        <p:spPr>
          <a:xfrm>
            <a:off x="731520" y="1225295"/>
            <a:ext cx="420624" cy="420624"/>
          </a:xfrm>
          <a:prstGeom prst="rect">
            <a:avLst/>
          </a:prstGeom>
        </p:spPr>
      </p:pic>
      <p:sp>
        <p:nvSpPr>
          <p:cNvPr id="5" name="TextBox 4"/>
          <p:cNvSpPr txBox="1"/>
          <p:nvPr/>
        </p:nvSpPr>
        <p:spPr>
          <a:xfrm>
            <a:off x="1280160" y="1225295"/>
            <a:ext cx="4526280" cy="384048"/>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Left fine-tuning (2026)</a:t>
            </a:r>
          </a:p>
        </p:txBody>
      </p:sp>
      <p:sp>
        <p:nvSpPr>
          <p:cNvPr id="6" name="TextBox 5"/>
          <p:cNvSpPr txBox="1"/>
          <p:nvPr/>
        </p:nvSpPr>
        <p:spPr>
          <a:xfrm>
            <a:off x="731520" y="1700784"/>
            <a:ext cx="5074920" cy="822960"/>
          </a:xfrm>
          <a:prstGeom prst="rect">
            <a:avLst/>
          </a:prstGeom>
          <a:noFill/>
        </p:spPr>
        <p:txBody>
          <a:bodyPr wrap="square" lIns="0" rIns="0" tIns="0" bIns="0" anchor="t">
            <a:spAutoFit/>
          </a:bodyPr>
          <a:lstStyle/>
          <a:p>
            <a:pPr algn="l">
              <a:lnSpc>
                <a:spcPct val="116000"/>
              </a:lnSpc>
            </a:pPr>
            <a:r>
              <a:rPr sz="1250" b="0" i="0">
                <a:solidFill>
                  <a:srgbClr val="21295C"/>
                </a:solidFill>
                <a:latin typeface="Arial"/>
              </a:rPr>
              <a:t>knowledge, facts, whatever changes → RAG / long context. Baking facts into weights: you can't cite them, update one point, or delete just one.</a:t>
            </a:r>
          </a:p>
        </p:txBody>
      </p:sp>
      <p:sp>
        <p:nvSpPr>
          <p:cNvPr id="7" name="Rounded Rectangle 6"/>
          <p:cNvSpPr/>
          <p:nvPr/>
        </p:nvSpPr>
        <p:spPr>
          <a:xfrm>
            <a:off x="6172200" y="1042415"/>
            <a:ext cx="5532120" cy="1572768"/>
          </a:xfrm>
          <a:prstGeom prst="roundRect">
            <a:avLst>
              <a:gd name="adj" fmla="val 19379"/>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cale-teal.png"/>
          <p:cNvPicPr>
            <a:picLocks noChangeAspect="1"/>
          </p:cNvPicPr>
          <p:nvPr/>
        </p:nvPicPr>
        <p:blipFill>
          <a:blip r:embed="rId3"/>
          <a:stretch>
            <a:fillRect/>
          </a:stretch>
        </p:blipFill>
        <p:spPr>
          <a:xfrm>
            <a:off x="6400800" y="1225295"/>
            <a:ext cx="420624" cy="420624"/>
          </a:xfrm>
          <a:prstGeom prst="rect">
            <a:avLst/>
          </a:prstGeom>
        </p:spPr>
      </p:pic>
      <p:sp>
        <p:nvSpPr>
          <p:cNvPr id="9" name="TextBox 8"/>
          <p:cNvSpPr txBox="1"/>
          <p:nvPr/>
        </p:nvSpPr>
        <p:spPr>
          <a:xfrm>
            <a:off x="6949440" y="1225295"/>
            <a:ext cx="4526280" cy="384048"/>
          </a:xfrm>
          <a:prstGeom prst="rect">
            <a:avLst/>
          </a:prstGeom>
          <a:noFill/>
        </p:spPr>
        <p:txBody>
          <a:bodyPr wrap="square" lIns="0" rIns="0" tIns="0" bIns="0" anchor="ctr">
            <a:spAutoFit/>
          </a:bodyPr>
          <a:lstStyle/>
          <a:p>
            <a:pPr algn="l">
              <a:lnSpc>
                <a:spcPct val="115000"/>
              </a:lnSpc>
            </a:pPr>
            <a:r>
              <a:rPr sz="1500" b="1" i="0">
                <a:solidFill>
                  <a:srgbClr val="028090"/>
                </a:solidFill>
                <a:latin typeface="Arial"/>
              </a:rPr>
              <a:t>Stayed with fine-tuning</a:t>
            </a:r>
          </a:p>
        </p:txBody>
      </p:sp>
      <p:sp>
        <p:nvSpPr>
          <p:cNvPr id="10" name="TextBox 9"/>
          <p:cNvSpPr txBox="1"/>
          <p:nvPr/>
        </p:nvSpPr>
        <p:spPr>
          <a:xfrm>
            <a:off x="6400800" y="1700784"/>
            <a:ext cx="5074920" cy="822960"/>
          </a:xfrm>
          <a:prstGeom prst="rect">
            <a:avLst/>
          </a:prstGeom>
          <a:noFill/>
        </p:spPr>
        <p:txBody>
          <a:bodyPr wrap="square" lIns="0" rIns="0" tIns="0" bIns="0" anchor="t">
            <a:spAutoFit/>
          </a:bodyPr>
          <a:lstStyle/>
          <a:p>
            <a:pPr algn="l">
              <a:lnSpc>
                <a:spcPct val="116000"/>
              </a:lnSpc>
            </a:pPr>
            <a:r>
              <a:rPr sz="1250" b="0" i="0">
                <a:solidFill>
                  <a:srgbClr val="21295C"/>
                </a:solidFill>
                <a:latin typeface="Arial"/>
              </a:rPr>
              <a:t>behavior · style · output format · policy adherence. Distillation is a separate technique, often applied in tandem with fine-tuning</a:t>
            </a:r>
            <a:r>
              <a:rPr sz="650" baseline="30000" b="0" i="1">
                <a:latin typeface="Arial"/>
                <a:cs typeface="Arial"/>
                <a:ea typeface="Arial"/>
                <a:solidFill>
                  <a:srgbClr val="1C7293"/>
                </a:solidFill>
              </a:rPr>
              <a:t>[2,3]</a:t>
            </a:r>
            <a:r>
              <a:rPr sz="1250" b="0" i="0">
                <a:latin typeface="Arial"/>
                <a:cs typeface="Arial"/>
                <a:ea typeface="Arial"/>
                <a:solidFill>
                  <a:srgbClr val="21295C"/>
                </a:solidFill>
              </a:rPr>
              <a:t>.</a:t>
            </a:r>
          </a:p>
        </p:txBody>
      </p:sp>
      <p:sp>
        <p:nvSpPr>
          <p:cNvPr id="11" name="Rounded Rectangle 10"/>
          <p:cNvSpPr/>
          <p:nvPr/>
        </p:nvSpPr>
        <p:spPr>
          <a:xfrm>
            <a:off x="365760" y="2761488"/>
            <a:ext cx="11475720" cy="2761488"/>
          </a:xfrm>
          <a:prstGeom prst="roundRect">
            <a:avLst>
              <a:gd name="adj" fmla="val 110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02920" y="2871216"/>
            <a:ext cx="3611880" cy="438912"/>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 y="2871216"/>
            <a:ext cx="3355848" cy="438912"/>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If the task requires…</a:t>
            </a:r>
          </a:p>
        </p:txBody>
      </p:sp>
      <p:sp>
        <p:nvSpPr>
          <p:cNvPr id="14" name="Rectangle 13"/>
          <p:cNvSpPr/>
          <p:nvPr/>
        </p:nvSpPr>
        <p:spPr>
          <a:xfrm>
            <a:off x="4114800" y="2871216"/>
            <a:ext cx="3154680" cy="438912"/>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42816" y="2871216"/>
            <a:ext cx="2898648" cy="438912"/>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 the right tool</a:t>
            </a:r>
          </a:p>
        </p:txBody>
      </p:sp>
      <p:sp>
        <p:nvSpPr>
          <p:cNvPr id="16" name="Rectangle 15"/>
          <p:cNvSpPr/>
          <p:nvPr/>
        </p:nvSpPr>
        <p:spPr>
          <a:xfrm>
            <a:off x="7269480" y="2871216"/>
            <a:ext cx="4434840" cy="438912"/>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97496" y="2871216"/>
            <a:ext cx="4178807" cy="438912"/>
          </a:xfrm>
          <a:prstGeom prst="rect">
            <a:avLst/>
          </a:prstGeom>
          <a:noFill/>
        </p:spPr>
        <p:txBody>
          <a:bodyPr wrap="square" lIns="0" rIns="0" tIns="0" bIns="0" anchor="ctr">
            <a:spAutoFit/>
          </a:bodyPr>
          <a:lstStyle/>
          <a:p>
            <a:pPr algn="l">
              <a:lnSpc>
                <a:spcPct val="115000"/>
              </a:lnSpc>
            </a:pPr>
            <a:r>
              <a:rPr sz="1250" b="1" i="0">
                <a:solidFill>
                  <a:srgbClr val="FFFFFF"/>
                </a:solidFill>
                <a:latin typeface="Arial"/>
              </a:rPr>
              <a:t>…and NOT this one, because</a:t>
            </a:r>
          </a:p>
        </p:txBody>
      </p:sp>
      <p:sp>
        <p:nvSpPr>
          <p:cNvPr id="18" name="Rectangle 17"/>
          <p:cNvSpPr/>
          <p:nvPr/>
        </p:nvSpPr>
        <p:spPr>
          <a:xfrm>
            <a:off x="502920" y="3310128"/>
            <a:ext cx="3611880" cy="530352"/>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0936" y="3346704"/>
            <a:ext cx="3355848" cy="457199"/>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knowledge changes / freshness, provenance needed</a:t>
            </a:r>
          </a:p>
        </p:txBody>
      </p:sp>
      <p:sp>
        <p:nvSpPr>
          <p:cNvPr id="20" name="Rectangle 19"/>
          <p:cNvSpPr/>
          <p:nvPr/>
        </p:nvSpPr>
        <p:spPr>
          <a:xfrm>
            <a:off x="4114800" y="3310128"/>
            <a:ext cx="3154680" cy="530352"/>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242816" y="3346704"/>
            <a:ext cx="2898648" cy="457199"/>
          </a:xfrm>
          <a:prstGeom prst="rect">
            <a:avLst/>
          </a:prstGeom>
          <a:noFill/>
        </p:spPr>
        <p:txBody>
          <a:bodyPr wrap="square" lIns="0" rIns="0" tIns="0" bIns="0" anchor="ctr">
            <a:spAutoFit/>
          </a:bodyPr>
          <a:lstStyle/>
          <a:p>
            <a:pPr algn="l">
              <a:lnSpc>
                <a:spcPct val="108000"/>
              </a:lnSpc>
            </a:pPr>
            <a:r>
              <a:rPr sz="1150" b="1" i="0">
                <a:solidFill>
                  <a:srgbClr val="065A82"/>
                </a:solidFill>
                <a:latin typeface="Arial"/>
              </a:rPr>
              <a:t>RAG (or long context for a small corpus)</a:t>
            </a:r>
          </a:p>
        </p:txBody>
      </p:sp>
      <p:sp>
        <p:nvSpPr>
          <p:cNvPr id="22" name="Rectangle 21"/>
          <p:cNvSpPr/>
          <p:nvPr/>
        </p:nvSpPr>
        <p:spPr>
          <a:xfrm>
            <a:off x="7269480" y="3310128"/>
            <a:ext cx="4434840" cy="530352"/>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97496" y="3346704"/>
            <a:ext cx="4178807" cy="457199"/>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not fine-tuning: it goes stale, retraining is expensive, forgetting risk</a:t>
            </a:r>
          </a:p>
        </p:txBody>
      </p:sp>
      <p:sp>
        <p:nvSpPr>
          <p:cNvPr id="24" name="Rectangle 23"/>
          <p:cNvSpPr/>
          <p:nvPr/>
        </p:nvSpPr>
        <p:spPr>
          <a:xfrm>
            <a:off x="502920" y="3840480"/>
            <a:ext cx="3611880" cy="530352"/>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0936" y="3877056"/>
            <a:ext cx="3355848" cy="457199"/>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stable behavior / tone / format / policy</a:t>
            </a:r>
          </a:p>
        </p:txBody>
      </p:sp>
      <p:sp>
        <p:nvSpPr>
          <p:cNvPr id="26" name="Rectangle 25"/>
          <p:cNvSpPr/>
          <p:nvPr/>
        </p:nvSpPr>
        <p:spPr>
          <a:xfrm>
            <a:off x="4114800" y="3840480"/>
            <a:ext cx="3154680" cy="530352"/>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42816" y="3877056"/>
            <a:ext cx="2898648" cy="457199"/>
          </a:xfrm>
          <a:prstGeom prst="rect">
            <a:avLst/>
          </a:prstGeom>
          <a:noFill/>
        </p:spPr>
        <p:txBody>
          <a:bodyPr wrap="square" lIns="0" rIns="0" tIns="0" bIns="0" anchor="ctr">
            <a:spAutoFit/>
          </a:bodyPr>
          <a:lstStyle/>
          <a:p>
            <a:pPr algn="l">
              <a:lnSpc>
                <a:spcPct val="108000"/>
              </a:lnSpc>
            </a:pPr>
            <a:r>
              <a:rPr sz="1150" b="1" i="0">
                <a:solidFill>
                  <a:srgbClr val="065A82"/>
                </a:solidFill>
                <a:latin typeface="Arial"/>
              </a:rPr>
              <a:t>fine-tuning (PEFT)</a:t>
            </a:r>
          </a:p>
        </p:txBody>
      </p:sp>
      <p:sp>
        <p:nvSpPr>
          <p:cNvPr id="28" name="Rectangle 27"/>
          <p:cNvSpPr/>
          <p:nvPr/>
        </p:nvSpPr>
        <p:spPr>
          <a:xfrm>
            <a:off x="7269480" y="3840480"/>
            <a:ext cx="4434840" cy="530352"/>
          </a:xfrm>
          <a:prstGeom prst="rect">
            <a:avLst/>
          </a:prstGeom>
          <a:solidFill>
            <a:srgbClr val="F4F7FA"/>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97496" y="3877056"/>
            <a:ext cx="4178807" cy="457199"/>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not RAG: it supplies knowledge but doesn't change the model's manner</a:t>
            </a:r>
          </a:p>
        </p:txBody>
      </p:sp>
      <p:sp>
        <p:nvSpPr>
          <p:cNvPr id="30" name="Rectangle 29"/>
          <p:cNvSpPr/>
          <p:nvPr/>
        </p:nvSpPr>
        <p:spPr>
          <a:xfrm>
            <a:off x="502920" y="4370832"/>
            <a:ext cx="3611880" cy="530352"/>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0936" y="4407408"/>
            <a:ext cx="3355848" cy="457199"/>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cut cost / latency on a narrow task</a:t>
            </a:r>
          </a:p>
        </p:txBody>
      </p:sp>
      <p:sp>
        <p:nvSpPr>
          <p:cNvPr id="32" name="Rectangle 31"/>
          <p:cNvSpPr/>
          <p:nvPr/>
        </p:nvSpPr>
        <p:spPr>
          <a:xfrm>
            <a:off x="4114800" y="4370832"/>
            <a:ext cx="3154680" cy="530352"/>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242816" y="4407408"/>
            <a:ext cx="2898648" cy="457199"/>
          </a:xfrm>
          <a:prstGeom prst="rect">
            <a:avLst/>
          </a:prstGeom>
          <a:noFill/>
        </p:spPr>
        <p:txBody>
          <a:bodyPr wrap="square" lIns="0" rIns="0" tIns="0" bIns="0" anchor="ctr">
            <a:spAutoFit/>
          </a:bodyPr>
          <a:lstStyle/>
          <a:p>
            <a:pPr algn="l">
              <a:lnSpc>
                <a:spcPct val="108000"/>
              </a:lnSpc>
            </a:pPr>
            <a:r>
              <a:rPr sz="1150" b="1" i="0">
                <a:solidFill>
                  <a:srgbClr val="065A82"/>
                </a:solidFill>
                <a:latin typeface="Arial"/>
              </a:rPr>
              <a:t>fine-tune teacher + distill student</a:t>
            </a:r>
          </a:p>
        </p:txBody>
      </p:sp>
      <p:sp>
        <p:nvSpPr>
          <p:cNvPr id="34" name="Rectangle 33"/>
          <p:cNvSpPr/>
          <p:nvPr/>
        </p:nvSpPr>
        <p:spPr>
          <a:xfrm>
            <a:off x="7269480" y="4370832"/>
            <a:ext cx="4434840" cy="530352"/>
          </a:xfrm>
          <a:prstGeom prst="rect">
            <a:avLst/>
          </a:prstGeom>
          <a:solidFill>
            <a:srgbClr val="FFFFFF"/>
          </a:solidFill>
          <a:ln w="9525">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97496" y="4407408"/>
            <a:ext cx="4178807" cy="457199"/>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two separate techniques in tandem, NOT “distillation = a kind of fine-tuning”</a:t>
            </a:r>
          </a:p>
        </p:txBody>
      </p:sp>
      <p:sp>
        <p:nvSpPr>
          <p:cNvPr id="36" name="Rectangle 35"/>
          <p:cNvSpPr/>
          <p:nvPr/>
        </p:nvSpPr>
        <p:spPr>
          <a:xfrm>
            <a:off x="502920" y="4901184"/>
            <a:ext cx="3611880" cy="53035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30936" y="4937760"/>
            <a:ext cx="3355848" cy="457199"/>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a deterministic, verifiable answer</a:t>
            </a:r>
          </a:p>
        </p:txBody>
      </p:sp>
      <p:sp>
        <p:nvSpPr>
          <p:cNvPr id="38" name="Rectangle 37"/>
          <p:cNvSpPr/>
          <p:nvPr/>
        </p:nvSpPr>
        <p:spPr>
          <a:xfrm>
            <a:off x="4114800" y="4901184"/>
            <a:ext cx="3154680" cy="53035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42816" y="4937760"/>
            <a:ext cx="2898648" cy="457199"/>
          </a:xfrm>
          <a:prstGeom prst="rect">
            <a:avLst/>
          </a:prstGeom>
          <a:noFill/>
        </p:spPr>
        <p:txBody>
          <a:bodyPr wrap="square" lIns="0" rIns="0" tIns="0" bIns="0" anchor="ctr">
            <a:spAutoFit/>
          </a:bodyPr>
          <a:lstStyle/>
          <a:p>
            <a:pPr algn="l">
              <a:lnSpc>
                <a:spcPct val="108000"/>
              </a:lnSpc>
            </a:pPr>
            <a:r>
              <a:rPr sz="1150" b="1" i="0">
                <a:solidFill>
                  <a:srgbClr val="21295C"/>
                </a:solidFill>
                <a:latin typeface="Arial"/>
              </a:rPr>
              <a:t>plain code, no AI</a:t>
            </a:r>
          </a:p>
        </p:txBody>
      </p:sp>
      <p:sp>
        <p:nvSpPr>
          <p:cNvPr id="40" name="Rectangle 39"/>
          <p:cNvSpPr/>
          <p:nvPr/>
        </p:nvSpPr>
        <p:spPr>
          <a:xfrm>
            <a:off x="7269480" y="4901184"/>
            <a:ext cx="4434840" cy="530352"/>
          </a:xfrm>
          <a:prstGeom prst="rect">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7397496" y="4937760"/>
            <a:ext cx="4178807" cy="457199"/>
          </a:xfrm>
          <a:prstGeom prst="rect">
            <a:avLst/>
          </a:prstGeom>
          <a:noFill/>
        </p:spPr>
        <p:txBody>
          <a:bodyPr wrap="square" lIns="0" rIns="0" tIns="0" bIns="0" anchor="ctr">
            <a:spAutoFit/>
          </a:bodyPr>
          <a:lstStyle/>
          <a:p>
            <a:pPr algn="l">
              <a:lnSpc>
                <a:spcPct val="108000"/>
              </a:lnSpc>
            </a:pPr>
            <a:r>
              <a:rPr sz="1150" b="0" i="0">
                <a:solidFill>
                  <a:srgbClr val="21295C"/>
                </a:solidFill>
                <a:latin typeface="Arial"/>
              </a:rPr>
              <a:t>neither RAG nor FT: AI would add nondeterminism with no gain</a:t>
            </a:r>
          </a:p>
        </p:txBody>
      </p:sp>
      <p:sp>
        <p:nvSpPr>
          <p:cNvPr id="42" name="Rounded Rectangle 41"/>
          <p:cNvSpPr/>
          <p:nvPr/>
        </p:nvSpPr>
        <p:spPr>
          <a:xfrm>
            <a:off x="502920" y="5614416"/>
            <a:ext cx="11201400" cy="713232"/>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04088" y="5669279"/>
            <a:ext cx="10799064" cy="603504"/>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The real question in 2026 is not “RAG or fine-tuning,” but “what here is knowledge (→ RAG), what is behavior (→ PEFT), what is deterministic (→ code).” A hybrid is the norm where there is BOTH a knowledge problem AND a behavior problem.</a:t>
            </a:r>
          </a:p>
        </p:txBody>
      </p:sp>
      <p:sp>
        <p:nvSpPr>
          <p:cNvPr id="44" name="TextBox 4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BigData Boutique — Fine-Tuning When RAG Isn't Enough</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6"/>
              </a:rPr>
              <a:t>Hinton, Vinyals, Dean 2015 — Distilling the Knowledge</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7"/>
              </a:rPr>
              <a:t>PEFT survey — taxonomy of tuning methods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Failure: catastrophic forgetting.</a:t>
            </a:r>
          </a:p>
        </p:txBody>
      </p:sp>
      <p:sp>
        <p:nvSpPr>
          <p:cNvPr id="3" name="TextBox 2"/>
          <p:cNvSpPr txBox="1"/>
          <p:nvPr/>
        </p:nvSpPr>
        <p:spPr>
          <a:xfrm>
            <a:off x="502920" y="1060704"/>
            <a:ext cx="11201400" cy="50292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Catastrophic forgetting — degradation of the model</a:t>
            </a:r>
            <a:r>
              <a:rPr sz="728" baseline="30000" b="0" i="1">
                <a:latin typeface="Arial"/>
                <a:cs typeface="Arial"/>
                <a:ea typeface="Arial"/>
                <a:solidFill>
                  <a:srgbClr val="1C7293"/>
                </a:solidFill>
              </a:rPr>
              <a:t>[1]</a:t>
            </a:r>
            <a:r>
              <a:rPr sz="1400" b="0" i="1">
                <a:latin typeface="Arial"/>
                <a:cs typeface="Arial"/>
                <a:ea typeface="Arial"/>
                <a:solidFill>
                  <a:srgbClr val="065A82"/>
                </a:solidFill>
              </a:rPr>
              <a:t>'s general abilities as a result of narrow, aggressive fine-tuning.</a:t>
            </a:r>
          </a:p>
        </p:txBody>
      </p:sp>
      <p:sp>
        <p:nvSpPr>
          <p:cNvPr id="4" name="Rounded Rectangle 3"/>
          <p:cNvSpPr/>
          <p:nvPr/>
        </p:nvSpPr>
        <p:spPr>
          <a:xfrm>
            <a:off x="502920" y="1755648"/>
            <a:ext cx="6446520" cy="3246120"/>
          </a:xfrm>
          <a:prstGeom prst="roundRect">
            <a:avLst>
              <a:gd name="adj" fmla="val 93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16-forgetting.png"/>
          <p:cNvPicPr>
            <a:picLocks noChangeAspect="1"/>
          </p:cNvPicPr>
          <p:nvPr/>
        </p:nvPicPr>
        <p:blipFill>
          <a:blip r:embed="rId2"/>
          <a:stretch>
            <a:fillRect/>
          </a:stretch>
        </p:blipFill>
        <p:spPr>
          <a:xfrm>
            <a:off x="1302149" y="1901952"/>
            <a:ext cx="4848062" cy="2953512"/>
          </a:xfrm>
          <a:prstGeom prst="rect">
            <a:avLst/>
          </a:prstGeom>
        </p:spPr>
      </p:pic>
      <p:sp>
        <p:nvSpPr>
          <p:cNvPr id="6" name="TextBox 5"/>
          <p:cNvSpPr txBox="1"/>
          <p:nvPr/>
        </p:nvSpPr>
        <p:spPr>
          <a:xfrm>
            <a:off x="667512" y="5020055"/>
            <a:ext cx="6117336" cy="384048"/>
          </a:xfrm>
          <a:prstGeom prst="rect">
            <a:avLst/>
          </a:prstGeom>
          <a:noFill/>
        </p:spPr>
        <p:txBody>
          <a:bodyPr wrap="square" lIns="0" rIns="0" tIns="0" bIns="0" anchor="t">
            <a:spAutoFit/>
          </a:bodyPr>
          <a:lstStyle/>
          <a:p>
            <a:pPr algn="ctr">
              <a:lnSpc>
                <a:spcPct val="115000"/>
              </a:lnSpc>
            </a:pPr>
            <a:r>
              <a:rPr sz="1150" b="0" i="1">
                <a:solidFill>
                  <a:srgbClr val="1C7293"/>
                </a:solidFill>
                <a:latin typeface="Arial"/>
              </a:rPr>
              <a:t>worse as model scale grows — a large model has a higher starting level, so it has “more to fall”</a:t>
            </a:r>
          </a:p>
        </p:txBody>
      </p:sp>
      <p:sp>
        <p:nvSpPr>
          <p:cNvPr id="7" name="Rounded Rectangle 6"/>
          <p:cNvSpPr/>
          <p:nvPr/>
        </p:nvSpPr>
        <p:spPr>
          <a:xfrm>
            <a:off x="7178040" y="1755648"/>
            <a:ext cx="4526280" cy="2103120"/>
          </a:xfrm>
          <a:prstGeom prst="roundRect">
            <a:avLst>
              <a:gd name="adj" fmla="val 1449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15783" y="1920240"/>
            <a:ext cx="4050791" cy="1828800"/>
          </a:xfrm>
          <a:prstGeom prst="rect">
            <a:avLst/>
          </a:prstGeom>
          <a:noFill/>
        </p:spPr>
        <p:txBody>
          <a:bodyPr wrap="square" lIns="0" rIns="0" tIns="0" bIns="0" anchor="t">
            <a:spAutoFit/>
          </a:bodyPr>
          <a:lstStyle/>
          <a:p>
            <a:pPr algn="l">
              <a:lnSpc>
                <a:spcPct val="120000"/>
              </a:lnSpc>
            </a:pPr>
            <a:r>
              <a:rPr sz="1350" b="1" i="0">
                <a:solidFill>
                  <a:srgbClr val="21295C"/>
                </a:solidFill>
                <a:latin typeface="Arial"/>
              </a:rPr>
              <a:t>No eval loop on general tasks + no dataset/weight versions → you won't see the breakage before prod + you won't be able to roll back → this is not a “risk,” it is a criterion for “DON'T fine-tune”</a:t>
            </a:r>
          </a:p>
        </p:txBody>
      </p:sp>
      <p:sp>
        <p:nvSpPr>
          <p:cNvPr id="9" name="Rounded Rectangle 8"/>
          <p:cNvSpPr/>
          <p:nvPr/>
        </p:nvSpPr>
        <p:spPr>
          <a:xfrm>
            <a:off x="7178040" y="3995928"/>
            <a:ext cx="4526280" cy="1005840"/>
          </a:xfrm>
          <a:prstGeom prst="roundRect">
            <a:avLst>
              <a:gd name="adj" fmla="val 2200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15783" y="4133087"/>
            <a:ext cx="4050791" cy="777240"/>
          </a:xfrm>
          <a:prstGeom prst="rect">
            <a:avLst/>
          </a:prstGeom>
          <a:noFill/>
        </p:spPr>
        <p:txBody>
          <a:bodyPr wrap="square" lIns="0" rIns="0" tIns="0" bIns="0" anchor="ctr">
            <a:spAutoFit/>
          </a:bodyPr>
          <a:lstStyle/>
          <a:p>
            <a:pPr algn="l">
              <a:lnSpc>
                <a:spcPct val="114000"/>
              </a:lnSpc>
            </a:pPr>
            <a:r>
              <a:rPr sz="1250" b="0" i="0">
                <a:solidFill>
                  <a:srgbClr val="21295C"/>
                </a:solidFill>
                <a:latin typeface="Arial"/>
              </a:rPr>
              <a:t>The right way: PEFT (frozen weights — lower risk); for changing knowledge — RAG, not FT at all.</a:t>
            </a:r>
          </a:p>
        </p:txBody>
      </p:sp>
      <p:sp>
        <p:nvSpPr>
          <p:cNvPr id="11" name="TextBox 1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Luo et al. 2023 — Catastrophic Forgetting in LLM Continual FT</a:t>
            </a:r>
            <a:r>
              <a:rPr sz="850" i="1">
                <a:solidFill>
                  <a:srgbClr val="5B6678"/>
                </a:solidFill>
                <a:latin typeface="Arial"/>
              </a:rPr>
              <a:t>   ·   Empirically observed under continual fine-tuning (Luo et al. 2023). Mechanisms — “research suggests” (preprint).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635240" y="502920"/>
            <a:ext cx="4206240" cy="5120640"/>
          </a:xfrm>
          <a:prstGeom prst="rect">
            <a:avLst/>
          </a:prstGeom>
          <a:noFill/>
        </p:spPr>
        <p:txBody>
          <a:bodyPr wrap="square" lIns="0" rIns="0" tIns="0" bIns="0" anchor="ctr">
            <a:spAutoFit/>
          </a:bodyPr>
          <a:lstStyle/>
          <a:p>
            <a:pPr algn="ctr">
              <a:lnSpc>
                <a:spcPct val="100000"/>
              </a:lnSpc>
            </a:pPr>
            <a:r>
              <a:rPr sz="38000" b="1" i="0">
                <a:solidFill>
                  <a:srgbClr val="D9E2EC"/>
                </a:solidFill>
                <a:latin typeface="Arial"/>
              </a:rPr>
              <a:t>4</a:t>
            </a:r>
          </a:p>
        </p:txBody>
      </p:sp>
      <p:sp>
        <p:nvSpPr>
          <p:cNvPr id="3" name="TextBox 2"/>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SECTION 4</a:t>
            </a:r>
          </a:p>
        </p:txBody>
      </p:sp>
      <p:sp>
        <p:nvSpPr>
          <p:cNvPr id="4" name="Rectangle 3"/>
          <p:cNvSpPr/>
          <p:nvPr/>
        </p:nvSpPr>
        <p:spPr>
          <a:xfrm>
            <a:off x="713232" y="197510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6858000" cy="1691640"/>
          </a:xfrm>
          <a:prstGeom prst="rect">
            <a:avLst/>
          </a:prstGeom>
          <a:noFill/>
        </p:spPr>
        <p:txBody>
          <a:bodyPr wrap="square" lIns="0" rIns="0" tIns="0" bIns="0" anchor="t">
            <a:spAutoFit/>
          </a:bodyPr>
          <a:lstStyle/>
          <a:p>
            <a:pPr algn="l">
              <a:lnSpc>
                <a:spcPct val="108000"/>
              </a:lnSpc>
            </a:pPr>
            <a:r>
              <a:rPr sz="3800" b="1" i="0">
                <a:solidFill>
                  <a:srgbClr val="21295C"/>
                </a:solidFill>
                <a:latin typeface="Arial"/>
              </a:rPr>
              <a:t>Agents</a:t>
            </a:r>
          </a:p>
        </p:txBody>
      </p:sp>
      <p:sp>
        <p:nvSpPr>
          <p:cNvPr id="6" name="TextBox 5"/>
          <p:cNvSpPr txBox="1"/>
          <p:nvPr/>
        </p:nvSpPr>
        <p:spPr>
          <a:xfrm>
            <a:off x="713232" y="4160520"/>
            <a:ext cx="6766560" cy="1325880"/>
          </a:xfrm>
          <a:prstGeom prst="rect">
            <a:avLst/>
          </a:prstGeom>
          <a:noFill/>
        </p:spPr>
        <p:txBody>
          <a:bodyPr wrap="square" lIns="0" rIns="0" tIns="0" bIns="0" anchor="t">
            <a:spAutoFit/>
          </a:bodyPr>
          <a:lstStyle/>
          <a:p>
            <a:pPr algn="l">
              <a:lnSpc>
                <a:spcPct val="122000"/>
              </a:lnSpc>
            </a:pPr>
            <a:r>
              <a:rPr sz="1800" b="0" i="1">
                <a:solidFill>
                  <a:srgbClr val="1C7293"/>
                </a:solidFill>
                <a:latin typeface="Arial"/>
              </a:rPr>
              <a:t>From an interlocutor in a chat window to a component of a production system: the loop, the harness, memory, tool access — and where all of it breaks.</a:t>
            </a:r>
          </a:p>
        </p:txBody>
      </p:sp>
      <p:sp>
        <p:nvSpPr>
          <p:cNvPr id="7" name="Rounded Rectangle 6"/>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0</a:t>
            </a:r>
          </a:p>
        </p:txBody>
      </p:sp>
      <p:sp>
        <p:nvSpPr>
          <p:cNvPr id="9" name="TextBox 8"/>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Opening</a:t>
            </a:r>
          </a:p>
        </p:txBody>
      </p:sp>
      <p:sp>
        <p:nvSpPr>
          <p:cNvPr id="10" name="Rounded Rectangle 9"/>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1</a:t>
            </a:r>
          </a:p>
        </p:txBody>
      </p:sp>
      <p:sp>
        <p:nvSpPr>
          <p:cNvPr id="12" name="TextBox 11"/>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Prompt</a:t>
            </a:r>
          </a:p>
        </p:txBody>
      </p:sp>
      <p:sp>
        <p:nvSpPr>
          <p:cNvPr id="13" name="Rounded Rectangle 12"/>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2</a:t>
            </a:r>
          </a:p>
        </p:txBody>
      </p:sp>
      <p:sp>
        <p:nvSpPr>
          <p:cNvPr id="15" name="TextBox 14"/>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16" name="Rounded Rectangle 15"/>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3</a:t>
            </a:r>
          </a:p>
        </p:txBody>
      </p:sp>
      <p:sp>
        <p:nvSpPr>
          <p:cNvPr id="18" name="TextBox 17"/>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Fine-tune</a:t>
            </a:r>
          </a:p>
        </p:txBody>
      </p:sp>
      <p:sp>
        <p:nvSpPr>
          <p:cNvPr id="19" name="Rounded Rectangle 18"/>
          <p:cNvSpPr/>
          <p:nvPr/>
        </p:nvSpPr>
        <p:spPr>
          <a:xfrm>
            <a:off x="8055864"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Section 4</a:t>
            </a:r>
          </a:p>
        </p:txBody>
      </p:sp>
      <p:sp>
        <p:nvSpPr>
          <p:cNvPr id="21" name="TextBox 20"/>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Agents</a:t>
            </a:r>
          </a:p>
        </p:txBody>
      </p:sp>
      <p:sp>
        <p:nvSpPr>
          <p:cNvPr id="22" name="Rounded Rectangle 21"/>
          <p:cNvSpPr/>
          <p:nvPr/>
        </p:nvSpPr>
        <p:spPr>
          <a:xfrm>
            <a:off x="994410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5</a:t>
            </a:r>
          </a:p>
        </p:txBody>
      </p:sp>
      <p:sp>
        <p:nvSpPr>
          <p:cNvPr id="24" name="TextBox 23"/>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Framework</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The model becomes a system component: API + MCP.</a:t>
            </a:r>
          </a:p>
        </p:txBody>
      </p:sp>
      <p:sp>
        <p:nvSpPr>
          <p:cNvPr id="3" name="Rounded Rectangle 2"/>
          <p:cNvSpPr/>
          <p:nvPr/>
        </p:nvSpPr>
        <p:spPr>
          <a:xfrm>
            <a:off x="502920" y="1024128"/>
            <a:ext cx="3657600" cy="1847088"/>
          </a:xfrm>
          <a:prstGeom prst="roundRect">
            <a:avLst>
              <a:gd name="adj" fmla="val 165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04088" y="1225296"/>
            <a:ext cx="512064" cy="512064"/>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boxes-white.png"/>
          <p:cNvPicPr>
            <a:picLocks noChangeAspect="1"/>
          </p:cNvPicPr>
          <p:nvPr/>
        </p:nvPicPr>
        <p:blipFill>
          <a:blip r:embed="rId2"/>
          <a:stretch>
            <a:fillRect/>
          </a:stretch>
        </p:blipFill>
        <p:spPr>
          <a:xfrm>
            <a:off x="758952" y="1280160"/>
            <a:ext cx="402336" cy="402336"/>
          </a:xfrm>
          <a:prstGeom prst="rect">
            <a:avLst/>
          </a:prstGeom>
        </p:spPr>
      </p:pic>
      <p:sp>
        <p:nvSpPr>
          <p:cNvPr id="6" name="TextBox 5"/>
          <p:cNvSpPr txBox="1"/>
          <p:nvPr/>
        </p:nvSpPr>
        <p:spPr>
          <a:xfrm>
            <a:off x="1325880" y="1243584"/>
            <a:ext cx="2697480" cy="475488"/>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Structured output</a:t>
            </a:r>
          </a:p>
        </p:txBody>
      </p:sp>
      <p:sp>
        <p:nvSpPr>
          <p:cNvPr id="7" name="TextBox 6"/>
          <p:cNvSpPr txBox="1"/>
          <p:nvPr/>
        </p:nvSpPr>
        <p:spPr>
          <a:xfrm>
            <a:off x="722376" y="1847088"/>
            <a:ext cx="3218688" cy="658368"/>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output strictly by schema (JSON), not text to parse</a:t>
            </a:r>
          </a:p>
        </p:txBody>
      </p:sp>
      <p:sp>
        <p:nvSpPr>
          <p:cNvPr id="8" name="Rounded Rectangle 7"/>
          <p:cNvSpPr/>
          <p:nvPr/>
        </p:nvSpPr>
        <p:spPr>
          <a:xfrm>
            <a:off x="722376" y="2450592"/>
            <a:ext cx="3218688" cy="31089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Arial"/>
              </a:rPr>
              <a:t>embeddable</a:t>
            </a:r>
          </a:p>
        </p:txBody>
      </p:sp>
      <p:sp>
        <p:nvSpPr>
          <p:cNvPr id="9" name="Rounded Rectangle 8"/>
          <p:cNvSpPr/>
          <p:nvPr/>
        </p:nvSpPr>
        <p:spPr>
          <a:xfrm>
            <a:off x="4279392" y="1024128"/>
            <a:ext cx="3657600" cy="1847088"/>
          </a:xfrm>
          <a:prstGeom prst="roundRect">
            <a:avLst>
              <a:gd name="adj" fmla="val 165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480559" y="1225296"/>
            <a:ext cx="512064" cy="512064"/>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erminal-white.png"/>
          <p:cNvPicPr>
            <a:picLocks noChangeAspect="1"/>
          </p:cNvPicPr>
          <p:nvPr/>
        </p:nvPicPr>
        <p:blipFill>
          <a:blip r:embed="rId3"/>
          <a:stretch>
            <a:fillRect/>
          </a:stretch>
        </p:blipFill>
        <p:spPr>
          <a:xfrm>
            <a:off x="4535424" y="1280160"/>
            <a:ext cx="402336" cy="402336"/>
          </a:xfrm>
          <a:prstGeom prst="rect">
            <a:avLst/>
          </a:prstGeom>
        </p:spPr>
      </p:pic>
      <p:sp>
        <p:nvSpPr>
          <p:cNvPr id="12" name="TextBox 11"/>
          <p:cNvSpPr txBox="1"/>
          <p:nvPr/>
        </p:nvSpPr>
        <p:spPr>
          <a:xfrm>
            <a:off x="5102352" y="1243584"/>
            <a:ext cx="2697480" cy="475488"/>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Function calling</a:t>
            </a:r>
          </a:p>
        </p:txBody>
      </p:sp>
      <p:sp>
        <p:nvSpPr>
          <p:cNvPr id="13" name="TextBox 12"/>
          <p:cNvSpPr txBox="1"/>
          <p:nvPr/>
        </p:nvSpPr>
        <p:spPr>
          <a:xfrm>
            <a:off x="4498848" y="1847088"/>
            <a:ext cx="3218688" cy="658368"/>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the model formulates “call X”; your code runs it, not the model</a:t>
            </a:r>
          </a:p>
        </p:txBody>
      </p:sp>
      <p:sp>
        <p:nvSpPr>
          <p:cNvPr id="14" name="Rounded Rectangle 13"/>
          <p:cNvSpPr/>
          <p:nvPr/>
        </p:nvSpPr>
        <p:spPr>
          <a:xfrm>
            <a:off x="4498848" y="2450592"/>
            <a:ext cx="3218688" cy="31089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Arial"/>
              </a:rPr>
              <a:t>active</a:t>
            </a:r>
          </a:p>
        </p:txBody>
      </p:sp>
      <p:sp>
        <p:nvSpPr>
          <p:cNvPr id="15" name="Rounded Rectangle 14"/>
          <p:cNvSpPr/>
          <p:nvPr/>
        </p:nvSpPr>
        <p:spPr>
          <a:xfrm>
            <a:off x="8055863" y="1024128"/>
            <a:ext cx="3657600" cy="1847088"/>
          </a:xfrm>
          <a:prstGeom prst="roundRect">
            <a:avLst>
              <a:gd name="adj" fmla="val 1650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257031" y="1225296"/>
            <a:ext cx="512064" cy="512064"/>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database-white.png"/>
          <p:cNvPicPr>
            <a:picLocks noChangeAspect="1"/>
          </p:cNvPicPr>
          <p:nvPr/>
        </p:nvPicPr>
        <p:blipFill>
          <a:blip r:embed="rId4"/>
          <a:stretch>
            <a:fillRect/>
          </a:stretch>
        </p:blipFill>
        <p:spPr>
          <a:xfrm>
            <a:off x="8311895" y="1280160"/>
            <a:ext cx="402336" cy="402336"/>
          </a:xfrm>
          <a:prstGeom prst="rect">
            <a:avLst/>
          </a:prstGeom>
        </p:spPr>
      </p:pic>
      <p:sp>
        <p:nvSpPr>
          <p:cNvPr id="18" name="TextBox 17"/>
          <p:cNvSpPr txBox="1"/>
          <p:nvPr/>
        </p:nvSpPr>
        <p:spPr>
          <a:xfrm>
            <a:off x="8878824" y="1243584"/>
            <a:ext cx="2697480" cy="475488"/>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Prompt caching</a:t>
            </a:r>
          </a:p>
        </p:txBody>
      </p:sp>
      <p:sp>
        <p:nvSpPr>
          <p:cNvPr id="19" name="TextBox 18"/>
          <p:cNvSpPr txBox="1"/>
          <p:nvPr/>
        </p:nvSpPr>
        <p:spPr>
          <a:xfrm>
            <a:off x="8275319" y="1847088"/>
            <a:ext cx="3218688" cy="658368"/>
          </a:xfrm>
          <a:prstGeom prst="rect">
            <a:avLst/>
          </a:prstGeom>
          <a:noFill/>
        </p:spPr>
        <p:txBody>
          <a:bodyPr wrap="square" lIns="0" rIns="0" tIns="0" bIns="0" anchor="t">
            <a:spAutoFit/>
          </a:bodyPr>
          <a:lstStyle/>
          <a:p>
            <a:pPr algn="l">
              <a:lnSpc>
                <a:spcPct val="114000"/>
              </a:lnSpc>
            </a:pPr>
            <a:r>
              <a:rPr sz="1250" b="0" i="0">
                <a:solidFill>
                  <a:srgbClr val="21295C"/>
                </a:solidFill>
                <a:latin typeface="Arial"/>
              </a:rPr>
              <a:t>don't recompute the unchanged prefix on every request</a:t>
            </a:r>
          </a:p>
        </p:txBody>
      </p:sp>
      <p:sp>
        <p:nvSpPr>
          <p:cNvPr id="20" name="Rounded Rectangle 19"/>
          <p:cNvSpPr/>
          <p:nvPr/>
        </p:nvSpPr>
        <p:spPr>
          <a:xfrm>
            <a:off x="8275319" y="2450592"/>
            <a:ext cx="3218688" cy="31089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00" b="1">
                <a:solidFill>
                  <a:srgbClr val="FFFFFF"/>
                </a:solidFill>
                <a:latin typeface="Arial"/>
              </a:rPr>
              <a:t>economical</a:t>
            </a:r>
          </a:p>
        </p:txBody>
      </p:sp>
      <p:sp>
        <p:nvSpPr>
          <p:cNvPr id="21" name="Rounded Rectangle 20"/>
          <p:cNvSpPr/>
          <p:nvPr/>
        </p:nvSpPr>
        <p:spPr>
          <a:xfrm>
            <a:off x="502920" y="3072384"/>
            <a:ext cx="598932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able-mid.png"/>
          <p:cNvPicPr>
            <a:picLocks noChangeAspect="1"/>
          </p:cNvPicPr>
          <p:nvPr/>
        </p:nvPicPr>
        <p:blipFill>
          <a:blip r:embed="rId5"/>
          <a:stretch>
            <a:fillRect/>
          </a:stretch>
        </p:blipFill>
        <p:spPr>
          <a:xfrm>
            <a:off x="731520" y="3255264"/>
            <a:ext cx="438912" cy="438912"/>
          </a:xfrm>
          <a:prstGeom prst="rect">
            <a:avLst/>
          </a:prstGeom>
        </p:spPr>
      </p:pic>
      <p:sp>
        <p:nvSpPr>
          <p:cNvPr id="23" name="TextBox 22"/>
          <p:cNvSpPr txBox="1"/>
          <p:nvPr/>
        </p:nvSpPr>
        <p:spPr>
          <a:xfrm>
            <a:off x="1280160" y="3273552"/>
            <a:ext cx="5029200" cy="457200"/>
          </a:xfrm>
          <a:prstGeom prst="rect">
            <a:avLst/>
          </a:prstGeom>
          <a:noFill/>
        </p:spPr>
        <p:txBody>
          <a:bodyPr wrap="square" lIns="0" rIns="0" tIns="0" bIns="0" anchor="ctr">
            <a:spAutoFit/>
          </a:bodyPr>
          <a:lstStyle/>
          <a:p>
            <a:pPr algn="l">
              <a:lnSpc>
                <a:spcPct val="115000"/>
              </a:lnSpc>
            </a:pPr>
            <a:r>
              <a:rPr sz="1800" b="1" i="0">
                <a:solidFill>
                  <a:srgbClr val="065A82"/>
                </a:solidFill>
                <a:latin typeface="Arial"/>
              </a:rPr>
              <a:t>MCP</a:t>
            </a:r>
            <a:r>
              <a:rPr sz="1400" b="0" i="0">
                <a:solidFill>
                  <a:srgbClr val="21295C"/>
                </a:solidFill>
                <a:latin typeface="Arial"/>
              </a:rPr>
              <a:t>  — “USB-C for LLM tools”</a:t>
            </a:r>
          </a:p>
        </p:txBody>
      </p:sp>
      <p:sp>
        <p:nvSpPr>
          <p:cNvPr id="24" name="TextBox 23"/>
          <p:cNvSpPr txBox="1"/>
          <p:nvPr/>
        </p:nvSpPr>
        <p:spPr>
          <a:xfrm>
            <a:off x="731520" y="3822191"/>
            <a:ext cx="5486400" cy="457200"/>
          </a:xfrm>
          <a:prstGeom prst="rect">
            <a:avLst/>
          </a:prstGeom>
          <a:noFill/>
        </p:spPr>
        <p:txBody>
          <a:bodyPr wrap="square" lIns="0" rIns="0" tIns="0" bIns="0" anchor="ctr">
            <a:spAutoFit/>
          </a:bodyPr>
          <a:lstStyle/>
          <a:p>
            <a:pPr algn="l">
              <a:lnSpc>
                <a:spcPct val="115000"/>
              </a:lnSpc>
            </a:pPr>
            <a:r>
              <a:rPr sz="2000" b="1" i="0">
                <a:solidFill>
                  <a:srgbClr val="1C7293"/>
                </a:solidFill>
                <a:latin typeface="Arial"/>
              </a:rPr>
              <a:t>N×M</a:t>
            </a:r>
            <a:r>
              <a:rPr sz="1300" b="0" i="0">
                <a:solidFill>
                  <a:srgbClr val="21295C"/>
                </a:solidFill>
                <a:latin typeface="Arial"/>
              </a:rPr>
              <a:t> incompatible integrations → </a:t>
            </a:r>
            <a:r>
              <a:rPr sz="2000" b="1" i="0">
                <a:solidFill>
                  <a:srgbClr val="028090"/>
                </a:solidFill>
                <a:latin typeface="Arial"/>
              </a:rPr>
              <a:t>N+M</a:t>
            </a:r>
            <a:r>
              <a:rPr sz="1040" baseline="30000" b="0" i="1">
                <a:latin typeface="Arial"/>
                <a:cs typeface="Arial"/>
                <a:ea typeface="Arial"/>
                <a:solidFill>
                  <a:srgbClr val="1C7293"/>
                </a:solidFill>
              </a:rPr>
              <a:t>[1]</a:t>
            </a:r>
          </a:p>
        </p:txBody>
      </p:sp>
      <p:sp>
        <p:nvSpPr>
          <p:cNvPr id="25" name="TextBox 24"/>
          <p:cNvSpPr txBox="1"/>
          <p:nvPr/>
        </p:nvSpPr>
        <p:spPr>
          <a:xfrm>
            <a:off x="731520" y="4315968"/>
            <a:ext cx="5486400" cy="292608"/>
          </a:xfrm>
          <a:prstGeom prst="rect">
            <a:avLst/>
          </a:prstGeom>
          <a:noFill/>
        </p:spPr>
        <p:txBody>
          <a:bodyPr wrap="square" lIns="0" rIns="0" tIns="0" bIns="0" anchor="t">
            <a:spAutoFit/>
          </a:bodyPr>
          <a:lstStyle/>
          <a:p>
            <a:pPr algn="l">
              <a:lnSpc>
                <a:spcPct val="115000"/>
              </a:lnSpc>
            </a:pPr>
            <a:r>
              <a:rPr sz="1150" b="0" i="1">
                <a:solidFill>
                  <a:srgbClr val="5B6678"/>
                </a:solidFill>
                <a:latin typeface="Arial"/>
              </a:rPr>
              <a:t>a tool once = an MCP server; a model once = an MCP client</a:t>
            </a:r>
          </a:p>
        </p:txBody>
      </p:sp>
      <p:pic>
        <p:nvPicPr>
          <p:cNvPr id="26" name="Picture 25" descr="logo-anthropic.png"/>
          <p:cNvPicPr>
            <a:picLocks noChangeAspect="1"/>
          </p:cNvPicPr>
          <p:nvPr/>
        </p:nvPicPr>
        <p:blipFill>
          <a:blip r:embed="rId6"/>
          <a:stretch>
            <a:fillRect/>
          </a:stretch>
        </p:blipFill>
        <p:spPr>
          <a:xfrm>
            <a:off x="731520" y="4736592"/>
            <a:ext cx="310896" cy="310896"/>
          </a:xfrm>
          <a:prstGeom prst="rect">
            <a:avLst/>
          </a:prstGeom>
        </p:spPr>
      </p:pic>
      <p:sp>
        <p:nvSpPr>
          <p:cNvPr id="27" name="TextBox 26"/>
          <p:cNvSpPr txBox="1"/>
          <p:nvPr/>
        </p:nvSpPr>
        <p:spPr>
          <a:xfrm>
            <a:off x="1115568" y="4700016"/>
            <a:ext cx="1371600" cy="237744"/>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Anthropic</a:t>
            </a:r>
          </a:p>
        </p:txBody>
      </p:sp>
      <p:sp>
        <p:nvSpPr>
          <p:cNvPr id="28" name="TextBox 27"/>
          <p:cNvSpPr txBox="1"/>
          <p:nvPr/>
        </p:nvSpPr>
        <p:spPr>
          <a:xfrm>
            <a:off x="1115568" y="4919472"/>
            <a:ext cx="1371600" cy="219456"/>
          </a:xfrm>
          <a:prstGeom prst="rect">
            <a:avLst/>
          </a:prstGeom>
          <a:noFill/>
        </p:spPr>
        <p:txBody>
          <a:bodyPr wrap="square" lIns="0" rIns="0" tIns="0" bIns="0" anchor="t">
            <a:spAutoFit/>
          </a:bodyPr>
          <a:lstStyle/>
          <a:p>
            <a:pPr algn="l">
              <a:lnSpc>
                <a:spcPct val="115000"/>
              </a:lnSpc>
            </a:pPr>
            <a:r>
              <a:rPr sz="1150" b="1" i="1">
                <a:solidFill>
                  <a:srgbClr val="1C7293"/>
                </a:solidFill>
                <a:latin typeface="Arial"/>
              </a:rPr>
              <a:t>11/2024</a:t>
            </a:r>
          </a:p>
        </p:txBody>
      </p:sp>
      <p:sp>
        <p:nvSpPr>
          <p:cNvPr id="29" name="TextBox 28"/>
          <p:cNvSpPr txBox="1"/>
          <p:nvPr/>
        </p:nvSpPr>
        <p:spPr>
          <a:xfrm>
            <a:off x="2304288" y="4736592"/>
            <a:ext cx="201168" cy="274320"/>
          </a:xfrm>
          <a:prstGeom prst="rect">
            <a:avLst/>
          </a:prstGeom>
          <a:noFill/>
        </p:spPr>
        <p:txBody>
          <a:bodyPr wrap="square" lIns="0" rIns="0" tIns="0" bIns="0" anchor="t">
            <a:spAutoFit/>
          </a:bodyPr>
          <a:lstStyle/>
          <a:p>
            <a:pPr algn="l">
              <a:lnSpc>
                <a:spcPct val="115000"/>
              </a:lnSpc>
            </a:pPr>
            <a:r>
              <a:rPr sz="1300" b="1" i="0">
                <a:solidFill>
                  <a:srgbClr val="1C7293"/>
                </a:solidFill>
                <a:latin typeface="Arial"/>
              </a:rPr>
              <a:t>→</a:t>
            </a:r>
          </a:p>
        </p:txBody>
      </p:sp>
      <p:pic>
        <p:nvPicPr>
          <p:cNvPr id="30" name="Picture 29" descr="logo-openai.png"/>
          <p:cNvPicPr>
            <a:picLocks noChangeAspect="1"/>
          </p:cNvPicPr>
          <p:nvPr/>
        </p:nvPicPr>
        <p:blipFill>
          <a:blip r:embed="rId7"/>
          <a:stretch>
            <a:fillRect/>
          </a:stretch>
        </p:blipFill>
        <p:spPr>
          <a:xfrm>
            <a:off x="2560320" y="4736592"/>
            <a:ext cx="310896" cy="310896"/>
          </a:xfrm>
          <a:prstGeom prst="rect">
            <a:avLst/>
          </a:prstGeom>
        </p:spPr>
      </p:pic>
      <p:sp>
        <p:nvSpPr>
          <p:cNvPr id="31" name="TextBox 30"/>
          <p:cNvSpPr txBox="1"/>
          <p:nvPr/>
        </p:nvSpPr>
        <p:spPr>
          <a:xfrm>
            <a:off x="2944368" y="4700016"/>
            <a:ext cx="1371600" cy="237744"/>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OpenAI</a:t>
            </a:r>
          </a:p>
        </p:txBody>
      </p:sp>
      <p:sp>
        <p:nvSpPr>
          <p:cNvPr id="32" name="TextBox 31"/>
          <p:cNvSpPr txBox="1"/>
          <p:nvPr/>
        </p:nvSpPr>
        <p:spPr>
          <a:xfrm>
            <a:off x="2944368" y="4919472"/>
            <a:ext cx="1371600" cy="219456"/>
          </a:xfrm>
          <a:prstGeom prst="rect">
            <a:avLst/>
          </a:prstGeom>
          <a:noFill/>
        </p:spPr>
        <p:txBody>
          <a:bodyPr wrap="square" lIns="0" rIns="0" tIns="0" bIns="0" anchor="t">
            <a:spAutoFit/>
          </a:bodyPr>
          <a:lstStyle/>
          <a:p>
            <a:pPr algn="l">
              <a:lnSpc>
                <a:spcPct val="115000"/>
              </a:lnSpc>
            </a:pPr>
            <a:r>
              <a:rPr sz="1150" b="1" i="1">
                <a:solidFill>
                  <a:srgbClr val="1C7293"/>
                </a:solidFill>
                <a:latin typeface="Arial"/>
              </a:rPr>
              <a:t>03/2025</a:t>
            </a:r>
          </a:p>
        </p:txBody>
      </p:sp>
      <p:sp>
        <p:nvSpPr>
          <p:cNvPr id="33" name="TextBox 32"/>
          <p:cNvSpPr txBox="1"/>
          <p:nvPr/>
        </p:nvSpPr>
        <p:spPr>
          <a:xfrm>
            <a:off x="4133087" y="4736592"/>
            <a:ext cx="201168" cy="274320"/>
          </a:xfrm>
          <a:prstGeom prst="rect">
            <a:avLst/>
          </a:prstGeom>
          <a:noFill/>
        </p:spPr>
        <p:txBody>
          <a:bodyPr wrap="square" lIns="0" rIns="0" tIns="0" bIns="0" anchor="t">
            <a:spAutoFit/>
          </a:bodyPr>
          <a:lstStyle/>
          <a:p>
            <a:pPr algn="l">
              <a:lnSpc>
                <a:spcPct val="115000"/>
              </a:lnSpc>
            </a:pPr>
            <a:r>
              <a:rPr sz="1300" b="1" i="0">
                <a:solidFill>
                  <a:srgbClr val="1C7293"/>
                </a:solidFill>
                <a:latin typeface="Arial"/>
              </a:rPr>
              <a:t>→</a:t>
            </a:r>
          </a:p>
        </p:txBody>
      </p:sp>
      <p:pic>
        <p:nvPicPr>
          <p:cNvPr id="34" name="Picture 33" descr="logo-gemini.png"/>
          <p:cNvPicPr>
            <a:picLocks noChangeAspect="1"/>
          </p:cNvPicPr>
          <p:nvPr/>
        </p:nvPicPr>
        <p:blipFill>
          <a:blip r:embed="rId8"/>
          <a:stretch>
            <a:fillRect/>
          </a:stretch>
        </p:blipFill>
        <p:spPr>
          <a:xfrm>
            <a:off x="4389120" y="4736592"/>
            <a:ext cx="310896" cy="310896"/>
          </a:xfrm>
          <a:prstGeom prst="rect">
            <a:avLst/>
          </a:prstGeom>
        </p:spPr>
      </p:pic>
      <p:sp>
        <p:nvSpPr>
          <p:cNvPr id="35" name="TextBox 34"/>
          <p:cNvSpPr txBox="1"/>
          <p:nvPr/>
        </p:nvSpPr>
        <p:spPr>
          <a:xfrm>
            <a:off x="4773168" y="4700016"/>
            <a:ext cx="1371600" cy="237744"/>
          </a:xfrm>
          <a:prstGeom prst="rect">
            <a:avLst/>
          </a:prstGeom>
          <a:noFill/>
        </p:spPr>
        <p:txBody>
          <a:bodyPr wrap="square" lIns="0" rIns="0" tIns="0" bIns="0" anchor="t">
            <a:spAutoFit/>
          </a:bodyPr>
          <a:lstStyle/>
          <a:p>
            <a:pPr algn="l">
              <a:lnSpc>
                <a:spcPct val="115000"/>
              </a:lnSpc>
            </a:pPr>
            <a:r>
              <a:rPr sz="1150" b="1" i="0">
                <a:solidFill>
                  <a:srgbClr val="21295C"/>
                </a:solidFill>
                <a:latin typeface="Arial"/>
              </a:rPr>
              <a:t>Google</a:t>
            </a:r>
          </a:p>
        </p:txBody>
      </p:sp>
      <p:sp>
        <p:nvSpPr>
          <p:cNvPr id="36" name="TextBox 35"/>
          <p:cNvSpPr txBox="1"/>
          <p:nvPr/>
        </p:nvSpPr>
        <p:spPr>
          <a:xfrm>
            <a:off x="4773168" y="4919472"/>
            <a:ext cx="1371600" cy="219456"/>
          </a:xfrm>
          <a:prstGeom prst="rect">
            <a:avLst/>
          </a:prstGeom>
          <a:noFill/>
        </p:spPr>
        <p:txBody>
          <a:bodyPr wrap="square" lIns="0" rIns="0" tIns="0" bIns="0" anchor="t">
            <a:spAutoFit/>
          </a:bodyPr>
          <a:lstStyle/>
          <a:p>
            <a:pPr algn="l">
              <a:lnSpc>
                <a:spcPct val="115000"/>
              </a:lnSpc>
            </a:pPr>
            <a:r>
              <a:rPr sz="1150" b="1" i="1">
                <a:solidFill>
                  <a:srgbClr val="1C7293"/>
                </a:solidFill>
                <a:latin typeface="Arial"/>
              </a:rPr>
              <a:t>04/2025</a:t>
            </a:r>
          </a:p>
        </p:txBody>
      </p:sp>
      <p:sp>
        <p:nvSpPr>
          <p:cNvPr id="37" name="Rounded Rectangle 36"/>
          <p:cNvSpPr/>
          <p:nvPr/>
        </p:nvSpPr>
        <p:spPr>
          <a:xfrm>
            <a:off x="6629400" y="3072384"/>
            <a:ext cx="5074920" cy="2331720"/>
          </a:xfrm>
          <a:prstGeom prst="roundRect">
            <a:avLst>
              <a:gd name="adj" fmla="val 1307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876288" y="3236976"/>
            <a:ext cx="4663440" cy="658368"/>
          </a:xfrm>
          <a:prstGeom prst="rect">
            <a:avLst/>
          </a:prstGeom>
          <a:noFill/>
        </p:spPr>
        <p:txBody>
          <a:bodyPr wrap="square" lIns="0" rIns="0" tIns="0" bIns="0" anchor="t">
            <a:spAutoFit/>
          </a:bodyPr>
          <a:lstStyle/>
          <a:p>
            <a:pPr algn="l">
              <a:lnSpc>
                <a:spcPct val="114000"/>
              </a:lnSpc>
            </a:pPr>
            <a:r>
              <a:rPr sz="1350" b="1" i="0">
                <a:solidFill>
                  <a:srgbClr val="028090"/>
                </a:solidFill>
                <a:latin typeface="Arial"/>
              </a:rPr>
              <a:t>Standardizing the connection ≠ security of what's connected — and it aggravates the trust problem.</a:t>
            </a:r>
          </a:p>
        </p:txBody>
      </p:sp>
      <p:sp>
        <p:nvSpPr>
          <p:cNvPr id="39" name="Oval 38"/>
          <p:cNvSpPr/>
          <p:nvPr/>
        </p:nvSpPr>
        <p:spPr>
          <a:xfrm>
            <a:off x="6894576" y="4087368"/>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95744" y="4041648"/>
            <a:ext cx="4572000" cy="438912"/>
          </a:xfrm>
          <a:prstGeom prst="rect">
            <a:avLst/>
          </a:prstGeom>
          <a:noFill/>
        </p:spPr>
        <p:txBody>
          <a:bodyPr wrap="square" lIns="0" rIns="0" tIns="0" bIns="0" anchor="t">
            <a:spAutoFit/>
          </a:bodyPr>
          <a:lstStyle/>
          <a:p>
            <a:pPr algn="l">
              <a:lnSpc>
                <a:spcPct val="110000"/>
              </a:lnSpc>
            </a:pPr>
            <a:r>
              <a:rPr sz="1250" b="0" i="0">
                <a:solidFill>
                  <a:srgbClr val="21295C"/>
                </a:solidFill>
                <a:latin typeface="Arial"/>
              </a:rPr>
              <a:t>code in your environment / access to data</a:t>
            </a:r>
          </a:p>
        </p:txBody>
      </p:sp>
      <p:sp>
        <p:nvSpPr>
          <p:cNvPr id="41" name="Oval 40"/>
          <p:cNvSpPr/>
          <p:nvPr/>
        </p:nvSpPr>
        <p:spPr>
          <a:xfrm>
            <a:off x="6894576" y="4562855"/>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095744" y="4517136"/>
            <a:ext cx="4572000" cy="438912"/>
          </a:xfrm>
          <a:prstGeom prst="rect">
            <a:avLst/>
          </a:prstGeom>
          <a:noFill/>
        </p:spPr>
        <p:txBody>
          <a:bodyPr wrap="square" lIns="0" rIns="0" tIns="0" bIns="0" anchor="t">
            <a:spAutoFit/>
          </a:bodyPr>
          <a:lstStyle/>
          <a:p>
            <a:pPr algn="l">
              <a:lnSpc>
                <a:spcPct val="110000"/>
              </a:lnSpc>
            </a:pPr>
            <a:r>
              <a:rPr sz="1250" b="0" i="0">
                <a:solidFill>
                  <a:srgbClr val="21295C"/>
                </a:solidFill>
                <a:latin typeface="Arial"/>
              </a:rPr>
              <a:t>the description enters the context — a carrier for prompt injection</a:t>
            </a:r>
          </a:p>
        </p:txBody>
      </p:sp>
      <p:sp>
        <p:nvSpPr>
          <p:cNvPr id="43" name="Rounded Rectangle 42"/>
          <p:cNvSpPr/>
          <p:nvPr/>
        </p:nvSpPr>
        <p:spPr>
          <a:xfrm>
            <a:off x="502920" y="5541264"/>
            <a:ext cx="11201400" cy="7315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04088" y="5596127"/>
            <a:ext cx="10799064" cy="621792"/>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No mechanism makes the model more reliable — the ladder rule still holds. Ease of connection is not an argument for connecting.</a:t>
            </a:r>
          </a:p>
        </p:txBody>
      </p:sp>
      <p:sp>
        <p:nvSpPr>
          <p:cNvPr id="45" name="TextBox 44"/>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10"/>
              </a:rPr>
              <a:t>Anthropic — MCP donation / Agentic AI Foundation (N×M→N+M)</a:t>
            </a:r>
            <a:r>
              <a:rPr sz="850" i="1">
                <a:solidFill>
                  <a:srgbClr val="5B6678"/>
                </a:solidFill>
                <a:latin typeface="Arial"/>
              </a:rPr>
              <a:t>   ·   Up-to-date savings figures and the scale of the MCP ecosystem — in the chapter.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600" b="1" i="0">
                <a:solidFill>
                  <a:srgbClr val="21295C"/>
                </a:solidFill>
                <a:latin typeface="Arial"/>
              </a:rPr>
              <a:t>The agent loop: plan → act → check → iterate.</a:t>
            </a:r>
          </a:p>
        </p:txBody>
      </p:sp>
      <p:sp>
        <p:nvSpPr>
          <p:cNvPr id="3" name="TextBox 2"/>
          <p:cNvSpPr txBox="1"/>
          <p:nvPr/>
        </p:nvSpPr>
        <p:spPr>
          <a:xfrm>
            <a:off x="502920" y="1042415"/>
            <a:ext cx="11201400" cy="365760"/>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An agent is an architecture where the model doesn't make one pass but works in a loop, defining the sequence of steps itself</a:t>
            </a:r>
            <a:r>
              <a:rPr sz="702" baseline="30000" b="0" i="1">
                <a:latin typeface="Arial"/>
                <a:cs typeface="Arial"/>
                <a:ea typeface="Arial"/>
                <a:solidFill>
                  <a:srgbClr val="1C7293"/>
                </a:solidFill>
              </a:rPr>
              <a:t>[1]</a:t>
            </a:r>
            <a:r>
              <a:rPr sz="1350" b="0" i="1">
                <a:latin typeface="Arial"/>
                <a:cs typeface="Arial"/>
                <a:ea typeface="Arial"/>
                <a:solidFill>
                  <a:srgbClr val="065A82"/>
                </a:solidFill>
              </a:rPr>
              <a:t>.</a:t>
            </a:r>
          </a:p>
        </p:txBody>
      </p:sp>
      <p:sp>
        <p:nvSpPr>
          <p:cNvPr id="4" name="Rounded Rectangle 3"/>
          <p:cNvSpPr/>
          <p:nvPr/>
        </p:nvSpPr>
        <p:spPr>
          <a:xfrm>
            <a:off x="502920" y="1572768"/>
            <a:ext cx="2670048" cy="3246120"/>
          </a:xfrm>
          <a:prstGeom prst="roundRect">
            <a:avLst>
              <a:gd name="adj" fmla="val 114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600199" y="1792224"/>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600199" y="1792224"/>
            <a:ext cx="475488" cy="475488"/>
          </a:xfrm>
          <a:prstGeom prst="rect">
            <a:avLst/>
          </a:prstGeom>
          <a:noFill/>
        </p:spPr>
        <p:txBody>
          <a:bodyPr wrap="square" lIns="0" rIns="0" tIns="0" bIns="0" anchor="ctr">
            <a:spAutoFit/>
          </a:bodyPr>
          <a:lstStyle/>
          <a:p>
            <a:pPr algn="ctr">
              <a:lnSpc>
                <a:spcPct val="115000"/>
              </a:lnSpc>
            </a:pPr>
            <a:r>
              <a:rPr sz="2000" b="1" i="0">
                <a:solidFill>
                  <a:srgbClr val="FFFFFF"/>
                </a:solidFill>
                <a:latin typeface="Arial"/>
              </a:rPr>
              <a:t>1</a:t>
            </a:r>
          </a:p>
        </p:txBody>
      </p:sp>
      <p:sp>
        <p:nvSpPr>
          <p:cNvPr id="7" name="Rounded Rectangle 6"/>
          <p:cNvSpPr/>
          <p:nvPr/>
        </p:nvSpPr>
        <p:spPr>
          <a:xfrm>
            <a:off x="777240" y="1847088"/>
            <a:ext cx="877824" cy="31089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050" b="1">
                <a:solidFill>
                  <a:srgbClr val="FFFFFF"/>
                </a:solidFill>
                <a:latin typeface="Arial"/>
              </a:rPr>
              <a:t>START</a:t>
            </a:r>
          </a:p>
        </p:txBody>
      </p:sp>
      <p:sp>
        <p:nvSpPr>
          <p:cNvPr id="8" name="TextBox 7"/>
          <p:cNvSpPr txBox="1"/>
          <p:nvPr/>
        </p:nvSpPr>
        <p:spPr>
          <a:xfrm>
            <a:off x="612648"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Plan</a:t>
            </a:r>
          </a:p>
        </p:txBody>
      </p:sp>
      <p:sp>
        <p:nvSpPr>
          <p:cNvPr id="9" name="TextBox 8"/>
          <p:cNvSpPr txBox="1"/>
          <p:nvPr/>
        </p:nvSpPr>
        <p:spPr>
          <a:xfrm>
            <a:off x="667512"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formulates the next step</a:t>
            </a:r>
          </a:p>
        </p:txBody>
      </p:sp>
      <p:sp>
        <p:nvSpPr>
          <p:cNvPr id="10" name="Rounded Rectangle 9"/>
          <p:cNvSpPr/>
          <p:nvPr/>
        </p:nvSpPr>
        <p:spPr>
          <a:xfrm>
            <a:off x="667512" y="3566160"/>
            <a:ext cx="2340864" cy="11155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8952" y="3639311"/>
            <a:ext cx="2157984" cy="969264"/>
          </a:xfrm>
          <a:prstGeom prst="rect">
            <a:avLst/>
          </a:prstGeom>
          <a:noFill/>
        </p:spPr>
        <p:txBody>
          <a:bodyPr wrap="square" lIns="0" rIns="0" tIns="0" bIns="0" anchor="t">
            <a:spAutoFit/>
          </a:bodyPr>
          <a:lstStyle/>
          <a:p>
            <a:pPr algn="ctr">
              <a:lnSpc>
                <a:spcPct val="112000"/>
              </a:lnSpc>
            </a:pPr>
            <a:r>
              <a:rPr sz="1050" b="0" i="1">
                <a:solidFill>
                  <a:srgbClr val="5B6678"/>
                </a:solidFill>
                <a:latin typeface="Arial"/>
              </a:rPr>
              <a:t>failure mode: a shortsighted / looping plan (doesn't see the accumulated cost)</a:t>
            </a:r>
          </a:p>
        </p:txBody>
      </p:sp>
      <p:sp>
        <p:nvSpPr>
          <p:cNvPr id="12" name="Right Arrow 11"/>
          <p:cNvSpPr/>
          <p:nvPr/>
        </p:nvSpPr>
        <p:spPr>
          <a:xfrm>
            <a:off x="3182111" y="2139696"/>
            <a:ext cx="146304" cy="42062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355848" y="1572768"/>
            <a:ext cx="2670048" cy="3246120"/>
          </a:xfrm>
          <a:prstGeom prst="roundRect">
            <a:avLst>
              <a:gd name="adj" fmla="val 114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453128" y="1792224"/>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3128" y="1792224"/>
            <a:ext cx="475488" cy="475488"/>
          </a:xfrm>
          <a:prstGeom prst="rect">
            <a:avLst/>
          </a:prstGeom>
          <a:noFill/>
        </p:spPr>
        <p:txBody>
          <a:bodyPr wrap="square" lIns="0" rIns="0" tIns="0" bIns="0" anchor="ctr">
            <a:spAutoFit/>
          </a:bodyPr>
          <a:lstStyle/>
          <a:p>
            <a:pPr algn="ctr">
              <a:lnSpc>
                <a:spcPct val="115000"/>
              </a:lnSpc>
            </a:pPr>
            <a:r>
              <a:rPr sz="2000" b="1" i="0">
                <a:solidFill>
                  <a:srgbClr val="FFFFFF"/>
                </a:solidFill>
                <a:latin typeface="Arial"/>
              </a:rPr>
              <a:t>2</a:t>
            </a:r>
          </a:p>
        </p:txBody>
      </p:sp>
      <p:sp>
        <p:nvSpPr>
          <p:cNvPr id="16" name="TextBox 15"/>
          <p:cNvSpPr txBox="1"/>
          <p:nvPr/>
        </p:nvSpPr>
        <p:spPr>
          <a:xfrm>
            <a:off x="3465576"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Act</a:t>
            </a:r>
          </a:p>
        </p:txBody>
      </p:sp>
      <p:sp>
        <p:nvSpPr>
          <p:cNvPr id="17" name="TextBox 16"/>
          <p:cNvSpPr txBox="1"/>
          <p:nvPr/>
        </p:nvSpPr>
        <p:spPr>
          <a:xfrm>
            <a:off x="3520440"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calls a tool (function calling)</a:t>
            </a:r>
          </a:p>
        </p:txBody>
      </p:sp>
      <p:sp>
        <p:nvSpPr>
          <p:cNvPr id="18" name="Rounded Rectangle 17"/>
          <p:cNvSpPr/>
          <p:nvPr/>
        </p:nvSpPr>
        <p:spPr>
          <a:xfrm>
            <a:off x="3520440" y="3566160"/>
            <a:ext cx="2340864" cy="11155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11880" y="3639311"/>
            <a:ext cx="2157984" cy="969264"/>
          </a:xfrm>
          <a:prstGeom prst="rect">
            <a:avLst/>
          </a:prstGeom>
          <a:noFill/>
        </p:spPr>
        <p:txBody>
          <a:bodyPr wrap="square" lIns="0" rIns="0" tIns="0" bIns="0" anchor="t">
            <a:spAutoFit/>
          </a:bodyPr>
          <a:lstStyle/>
          <a:p>
            <a:pPr algn="ctr">
              <a:lnSpc>
                <a:spcPct val="112000"/>
              </a:lnSpc>
            </a:pPr>
            <a:r>
              <a:rPr sz="1050" b="0" i="1">
                <a:solidFill>
                  <a:srgbClr val="5B6678"/>
                </a:solidFill>
                <a:latin typeface="Arial"/>
              </a:rPr>
              <a:t>failure mode: the tool fails / stalls, and there is no branch for that</a:t>
            </a:r>
          </a:p>
        </p:txBody>
      </p:sp>
      <p:sp>
        <p:nvSpPr>
          <p:cNvPr id="20" name="Right Arrow 19"/>
          <p:cNvSpPr/>
          <p:nvPr/>
        </p:nvSpPr>
        <p:spPr>
          <a:xfrm>
            <a:off x="6035040" y="2139696"/>
            <a:ext cx="146304" cy="42062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6208776" y="1572768"/>
            <a:ext cx="2670048" cy="3246120"/>
          </a:xfrm>
          <a:prstGeom prst="roundRect">
            <a:avLst>
              <a:gd name="adj" fmla="val 11415"/>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306056" y="1792224"/>
            <a:ext cx="475488" cy="47548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306056" y="1792224"/>
            <a:ext cx="475488" cy="475488"/>
          </a:xfrm>
          <a:prstGeom prst="rect">
            <a:avLst/>
          </a:prstGeom>
          <a:noFill/>
        </p:spPr>
        <p:txBody>
          <a:bodyPr wrap="square" lIns="0" rIns="0" tIns="0" bIns="0" anchor="ctr">
            <a:spAutoFit/>
          </a:bodyPr>
          <a:lstStyle/>
          <a:p>
            <a:pPr algn="ctr">
              <a:lnSpc>
                <a:spcPct val="115000"/>
              </a:lnSpc>
            </a:pPr>
            <a:r>
              <a:rPr sz="2000" b="1" i="0">
                <a:solidFill>
                  <a:srgbClr val="21295C"/>
                </a:solidFill>
                <a:latin typeface="Arial"/>
              </a:rPr>
              <a:t>3</a:t>
            </a:r>
          </a:p>
        </p:txBody>
      </p:sp>
      <p:sp>
        <p:nvSpPr>
          <p:cNvPr id="24" name="TextBox 23"/>
          <p:cNvSpPr txBox="1"/>
          <p:nvPr/>
        </p:nvSpPr>
        <p:spPr>
          <a:xfrm>
            <a:off x="6318504"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Check</a:t>
            </a:r>
          </a:p>
        </p:txBody>
      </p:sp>
      <p:sp>
        <p:nvSpPr>
          <p:cNvPr id="25" name="TextBox 24"/>
          <p:cNvSpPr txBox="1"/>
          <p:nvPr/>
        </p:nvSpPr>
        <p:spPr>
          <a:xfrm>
            <a:off x="6373368"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is the goal reached, is the result correct</a:t>
            </a:r>
          </a:p>
        </p:txBody>
      </p:sp>
      <p:sp>
        <p:nvSpPr>
          <p:cNvPr id="26" name="Rounded Rectangle 25"/>
          <p:cNvSpPr/>
          <p:nvPr/>
        </p:nvSpPr>
        <p:spPr>
          <a:xfrm>
            <a:off x="6373368" y="3566160"/>
            <a:ext cx="2340864" cy="1115568"/>
          </a:xfrm>
          <a:prstGeom prst="roundRect">
            <a:avLst>
              <a:gd name="adj" fmla="val 10000"/>
            </a:avLst>
          </a:prstGeom>
          <a:solidFill>
            <a:srgbClr val="FDF3DC"/>
          </a:solidFill>
          <a:ln w="127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64808" y="3639311"/>
            <a:ext cx="2157984" cy="969264"/>
          </a:xfrm>
          <a:prstGeom prst="rect">
            <a:avLst/>
          </a:prstGeom>
          <a:noFill/>
        </p:spPr>
        <p:txBody>
          <a:bodyPr wrap="square" lIns="0" rIns="0" tIns="0" bIns="0" anchor="t">
            <a:spAutoFit/>
          </a:bodyPr>
          <a:lstStyle/>
          <a:p>
            <a:pPr algn="ctr">
              <a:lnSpc>
                <a:spcPct val="112000"/>
              </a:lnSpc>
            </a:pPr>
            <a:r>
              <a:rPr sz="1050" b="0" i="1">
                <a:solidFill>
                  <a:srgbClr val="21295C"/>
                </a:solidFill>
                <a:latin typeface="Arial"/>
              </a:rPr>
              <a:t>failure mode: validation against an EXTERNAL criterion — not the model</a:t>
            </a:r>
            <a:r>
              <a:rPr sz="546" baseline="30000" b="0" i="1">
                <a:latin typeface="Arial"/>
                <a:cs typeface="Arial"/>
                <a:ea typeface="Arial"/>
                <a:solidFill>
                  <a:srgbClr val="1C7293"/>
                </a:solidFill>
              </a:rPr>
              <a:t>[2]</a:t>
            </a:r>
            <a:r>
              <a:rPr sz="1050" b="0" i="1">
                <a:latin typeface="Arial"/>
                <a:cs typeface="Arial"/>
                <a:ea typeface="Arial"/>
                <a:solidFill>
                  <a:srgbClr val="21295C"/>
                </a:solidFill>
              </a:rPr>
              <a:t>'s self-assessment (a callback to the CoT limit)</a:t>
            </a:r>
          </a:p>
        </p:txBody>
      </p:sp>
      <p:sp>
        <p:nvSpPr>
          <p:cNvPr id="28" name="Right Arrow 27"/>
          <p:cNvSpPr/>
          <p:nvPr/>
        </p:nvSpPr>
        <p:spPr>
          <a:xfrm>
            <a:off x="8887968" y="2139696"/>
            <a:ext cx="146304" cy="420624"/>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9061704" y="1572768"/>
            <a:ext cx="2670048" cy="3246120"/>
          </a:xfrm>
          <a:prstGeom prst="roundRect">
            <a:avLst>
              <a:gd name="adj" fmla="val 1141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0158984" y="1792224"/>
            <a:ext cx="475488" cy="47548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158984" y="1792224"/>
            <a:ext cx="475488" cy="475488"/>
          </a:xfrm>
          <a:prstGeom prst="rect">
            <a:avLst/>
          </a:prstGeom>
          <a:noFill/>
        </p:spPr>
        <p:txBody>
          <a:bodyPr wrap="square" lIns="0" rIns="0" tIns="0" bIns="0" anchor="ctr">
            <a:spAutoFit/>
          </a:bodyPr>
          <a:lstStyle/>
          <a:p>
            <a:pPr algn="ctr">
              <a:lnSpc>
                <a:spcPct val="115000"/>
              </a:lnSpc>
            </a:pPr>
            <a:r>
              <a:rPr sz="2000" b="1" i="0">
                <a:solidFill>
                  <a:srgbClr val="FFFFFF"/>
                </a:solidFill>
                <a:latin typeface="Arial"/>
              </a:rPr>
              <a:t>4</a:t>
            </a:r>
          </a:p>
        </p:txBody>
      </p:sp>
      <p:sp>
        <p:nvSpPr>
          <p:cNvPr id="32" name="TextBox 31"/>
          <p:cNvSpPr txBox="1"/>
          <p:nvPr/>
        </p:nvSpPr>
        <p:spPr>
          <a:xfrm>
            <a:off x="9171432" y="2395728"/>
            <a:ext cx="2450591" cy="384048"/>
          </a:xfrm>
          <a:prstGeom prst="rect">
            <a:avLst/>
          </a:prstGeom>
          <a:noFill/>
        </p:spPr>
        <p:txBody>
          <a:bodyPr wrap="square" lIns="0" rIns="0" tIns="0" bIns="0" anchor="t">
            <a:spAutoFit/>
          </a:bodyPr>
          <a:lstStyle/>
          <a:p>
            <a:pPr algn="ctr">
              <a:lnSpc>
                <a:spcPct val="115000"/>
              </a:lnSpc>
            </a:pPr>
            <a:r>
              <a:rPr sz="1900" b="1" i="0">
                <a:solidFill>
                  <a:srgbClr val="21295C"/>
                </a:solidFill>
                <a:latin typeface="Arial"/>
              </a:rPr>
              <a:t>Iterate</a:t>
            </a:r>
          </a:p>
        </p:txBody>
      </p:sp>
      <p:sp>
        <p:nvSpPr>
          <p:cNvPr id="33" name="TextBox 32"/>
          <p:cNvSpPr txBox="1"/>
          <p:nvPr/>
        </p:nvSpPr>
        <p:spPr>
          <a:xfrm>
            <a:off x="9226296" y="2816352"/>
            <a:ext cx="2340864" cy="640080"/>
          </a:xfrm>
          <a:prstGeom prst="rect">
            <a:avLst/>
          </a:prstGeom>
          <a:noFill/>
        </p:spPr>
        <p:txBody>
          <a:bodyPr wrap="square" lIns="0" rIns="0" tIns="0" bIns="0" anchor="t">
            <a:spAutoFit/>
          </a:bodyPr>
          <a:lstStyle/>
          <a:p>
            <a:pPr algn="ctr">
              <a:lnSpc>
                <a:spcPct val="112000"/>
              </a:lnSpc>
            </a:pPr>
            <a:r>
              <a:rPr sz="1200" b="0" i="0">
                <a:solidFill>
                  <a:srgbClr val="21295C"/>
                </a:solidFill>
                <a:latin typeface="Arial"/>
              </a:rPr>
              <a:t>the loop repeats</a:t>
            </a:r>
          </a:p>
        </p:txBody>
      </p:sp>
      <p:sp>
        <p:nvSpPr>
          <p:cNvPr id="34" name="Rounded Rectangle 33"/>
          <p:cNvSpPr/>
          <p:nvPr/>
        </p:nvSpPr>
        <p:spPr>
          <a:xfrm>
            <a:off x="9226296" y="3566160"/>
            <a:ext cx="2340864" cy="11155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317736" y="3639311"/>
            <a:ext cx="2157984" cy="969264"/>
          </a:xfrm>
          <a:prstGeom prst="rect">
            <a:avLst/>
          </a:prstGeom>
          <a:noFill/>
        </p:spPr>
        <p:txBody>
          <a:bodyPr wrap="square" lIns="0" rIns="0" tIns="0" bIns="0" anchor="t">
            <a:spAutoFit/>
          </a:bodyPr>
          <a:lstStyle/>
          <a:p>
            <a:pPr algn="ctr">
              <a:lnSpc>
                <a:spcPct val="112000"/>
              </a:lnSpc>
            </a:pPr>
            <a:r>
              <a:rPr sz="1050" b="0" i="1">
                <a:solidFill>
                  <a:srgbClr val="5B6678"/>
                </a:solidFill>
                <a:latin typeface="Arial"/>
              </a:rPr>
              <a:t>failure mode: no external limit on iterations / cost / time → a loop</a:t>
            </a:r>
          </a:p>
        </p:txBody>
      </p:sp>
      <p:cxnSp>
        <p:nvCxnSpPr>
          <p:cNvPr id="36" name="Connector 35"/>
          <p:cNvCxnSpPr/>
          <p:nvPr/>
        </p:nvCxnSpPr>
        <p:spPr>
          <a:xfrm>
            <a:off x="10396728" y="4818888"/>
            <a:ext cx="0" cy="502919"/>
          </a:xfrm>
          <a:prstGeom prst="line">
            <a:avLst/>
          </a:prstGeom>
          <a:ln w="3175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1837943" y="5321807"/>
            <a:ext cx="8558785" cy="0"/>
          </a:xfrm>
          <a:prstGeom prst="line">
            <a:avLst/>
          </a:prstGeom>
          <a:ln w="31750">
            <a:solidFill>
              <a:srgbClr val="1C7293"/>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1837943" y="5001768"/>
            <a:ext cx="0" cy="320039"/>
          </a:xfrm>
          <a:prstGeom prst="line">
            <a:avLst/>
          </a:prstGeom>
          <a:ln w="31750">
            <a:solidFill>
              <a:srgbClr val="1C7293"/>
            </a:solidFill>
          </a:ln>
        </p:spPr>
        <p:style>
          <a:lnRef idx="2">
            <a:schemeClr val="accent1"/>
          </a:lnRef>
          <a:fillRef idx="0">
            <a:schemeClr val="accent1"/>
          </a:fillRef>
          <a:effectRef idx="1">
            <a:schemeClr val="accent1"/>
          </a:effectRef>
          <a:fontRef idx="minor">
            <a:schemeClr val="tx1"/>
          </a:fontRef>
        </p:style>
      </p:cxnSp>
      <p:sp>
        <p:nvSpPr>
          <p:cNvPr id="39" name="Up Arrow 38"/>
          <p:cNvSpPr/>
          <p:nvPr/>
        </p:nvSpPr>
        <p:spPr>
          <a:xfrm>
            <a:off x="1719072" y="4837175"/>
            <a:ext cx="237744" cy="219456"/>
          </a:xfrm>
          <a:prstGeom prst="up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4014216" y="5138927"/>
            <a:ext cx="4206240" cy="36576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18288" bIns="18288" wrap="none"/>
          <a:lstStyle/>
          <a:p>
            <a:pPr algn="ctr"/>
            <a:r>
              <a:rPr sz="1250" b="1">
                <a:solidFill>
                  <a:srgbClr val="FFFFFF"/>
                </a:solidFill>
                <a:latin typeface="Arial"/>
              </a:rPr>
              <a:t>⟲  the loop REPEATS — return to Plan</a:t>
            </a:r>
          </a:p>
        </p:txBody>
      </p:sp>
      <p:sp>
        <p:nvSpPr>
          <p:cNvPr id="41" name="TextBox 4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Yao et al. 2022 — ReAct (plan→act→check→iterate)</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4"/>
              </a:rPr>
              <a:t>Anthropic — Reasoning Models faithfulness (check ≠ self-assessment)</a:t>
            </a:r>
            <a:r>
              <a:rPr sz="850" i="1">
                <a:solidFill>
                  <a:srgbClr val="5B6678"/>
                </a:solidFill>
                <a:latin typeface="Arial"/>
              </a:rPr>
              <a:t>   ·   Loop patterns (ReAct, Reflexion, Plan-and-Execute) — in the chapter. Designing an agent = designing a defense at each of the 4 steps.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Workflow vs Agent.</a:t>
            </a:r>
          </a:p>
        </p:txBody>
      </p:sp>
      <p:sp>
        <p:nvSpPr>
          <p:cNvPr id="3" name="TextBox 2"/>
          <p:cNvSpPr txBox="1"/>
          <p:nvPr/>
        </p:nvSpPr>
        <p:spPr>
          <a:xfrm>
            <a:off x="502920" y="1060704"/>
            <a:ext cx="11201400" cy="365760"/>
          </a:xfrm>
          <a:prstGeom prst="rect">
            <a:avLst/>
          </a:prstGeom>
          <a:noFill/>
        </p:spPr>
        <p:txBody>
          <a:bodyPr wrap="square" lIns="0" rIns="0" tIns="0" bIns="0" anchor="t">
            <a:spAutoFit/>
          </a:bodyPr>
          <a:lstStyle/>
          <a:p>
            <a:pPr algn="l">
              <a:lnSpc>
                <a:spcPct val="115000"/>
              </a:lnSpc>
            </a:pPr>
            <a:r>
              <a:rPr sz="1450" b="0" i="1">
                <a:solidFill>
                  <a:srgbClr val="065A82"/>
                </a:solidFill>
                <a:latin typeface="Arial"/>
              </a:rPr>
              <a:t>A predictable task → workflow</a:t>
            </a:r>
            <a:r>
              <a:rPr sz="754" baseline="30000" b="0" i="1">
                <a:latin typeface="Arial"/>
                <a:cs typeface="Arial"/>
                <a:ea typeface="Arial"/>
                <a:solidFill>
                  <a:srgbClr val="1C7293"/>
                </a:solidFill>
              </a:rPr>
              <a:t>[1]</a:t>
            </a:r>
            <a:r>
              <a:rPr sz="1450" b="0" i="1">
                <a:latin typeface="Arial"/>
                <a:cs typeface="Arial"/>
                <a:ea typeface="Arial"/>
                <a:solidFill>
                  <a:srgbClr val="065A82"/>
                </a:solidFill>
              </a:rPr>
              <a:t>; unpredictable AND the value justifies a multiple increase → agent</a:t>
            </a:r>
            <a:r>
              <a:rPr sz="754" baseline="30000" b="0" i="1">
                <a:latin typeface="Arial"/>
                <a:cs typeface="Arial"/>
                <a:ea typeface="Arial"/>
                <a:solidFill>
                  <a:srgbClr val="1C7293"/>
                </a:solidFill>
              </a:rPr>
              <a:t>[2]</a:t>
            </a:r>
            <a:r>
              <a:rPr sz="1450" b="0" i="1">
                <a:latin typeface="Arial"/>
                <a:cs typeface="Arial"/>
                <a:ea typeface="Arial"/>
                <a:solidFill>
                  <a:srgbClr val="065A82"/>
                </a:solidFill>
              </a:rPr>
              <a:t>.</a:t>
            </a:r>
          </a:p>
        </p:txBody>
      </p:sp>
      <p:sp>
        <p:nvSpPr>
          <p:cNvPr id="4" name="Rounded Rectangle 3"/>
          <p:cNvSpPr/>
          <p:nvPr/>
        </p:nvSpPr>
        <p:spPr>
          <a:xfrm>
            <a:off x="502920" y="1627632"/>
            <a:ext cx="5532120" cy="2514600"/>
          </a:xfrm>
          <a:prstGeom prst="roundRect">
            <a:avLst>
              <a:gd name="adj" fmla="val 1212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git-fork-teal.png"/>
          <p:cNvPicPr>
            <a:picLocks noChangeAspect="1"/>
          </p:cNvPicPr>
          <p:nvPr/>
        </p:nvPicPr>
        <p:blipFill>
          <a:blip r:embed="rId2"/>
          <a:stretch>
            <a:fillRect/>
          </a:stretch>
        </p:blipFill>
        <p:spPr>
          <a:xfrm>
            <a:off x="758952" y="1828800"/>
            <a:ext cx="457200" cy="457200"/>
          </a:xfrm>
          <a:prstGeom prst="rect">
            <a:avLst/>
          </a:prstGeom>
        </p:spPr>
      </p:pic>
      <p:sp>
        <p:nvSpPr>
          <p:cNvPr id="6" name="TextBox 5"/>
          <p:cNvSpPr txBox="1"/>
          <p:nvPr/>
        </p:nvSpPr>
        <p:spPr>
          <a:xfrm>
            <a:off x="1325880" y="1847088"/>
            <a:ext cx="4709159" cy="457200"/>
          </a:xfrm>
          <a:prstGeom prst="rect">
            <a:avLst/>
          </a:prstGeom>
          <a:noFill/>
        </p:spPr>
        <p:txBody>
          <a:bodyPr wrap="square" lIns="0" rIns="0" tIns="0" bIns="0" anchor="ctr">
            <a:spAutoFit/>
          </a:bodyPr>
          <a:lstStyle/>
          <a:p>
            <a:pPr algn="l">
              <a:lnSpc>
                <a:spcPct val="115000"/>
              </a:lnSpc>
            </a:pPr>
            <a:r>
              <a:rPr sz="1700" b="1" i="0">
                <a:solidFill>
                  <a:srgbClr val="028090"/>
                </a:solidFill>
                <a:latin typeface="Arial"/>
              </a:rPr>
              <a:t>Workflow</a:t>
            </a:r>
          </a:p>
        </p:txBody>
      </p:sp>
      <p:sp>
        <p:nvSpPr>
          <p:cNvPr id="7" name="TextBox 6"/>
          <p:cNvSpPr txBox="1"/>
          <p:nvPr/>
        </p:nvSpPr>
        <p:spPr>
          <a:xfrm>
            <a:off x="758952" y="2404872"/>
            <a:ext cx="5020056" cy="411480"/>
          </a:xfrm>
          <a:prstGeom prst="rect">
            <a:avLst/>
          </a:prstGeom>
          <a:noFill/>
        </p:spPr>
        <p:txBody>
          <a:bodyPr wrap="square" lIns="0" rIns="0" tIns="0" bIns="0" anchor="t">
            <a:spAutoFit/>
          </a:bodyPr>
          <a:lstStyle/>
          <a:p>
            <a:pPr algn="l">
              <a:lnSpc>
                <a:spcPct val="112000"/>
              </a:lnSpc>
            </a:pPr>
            <a:r>
              <a:rPr sz="1300" b="1" i="0">
                <a:solidFill>
                  <a:srgbClr val="21295C"/>
                </a:solidFill>
                <a:latin typeface="Arial"/>
              </a:rPr>
              <a:t>LLM and tools along paths predefined in code</a:t>
            </a:r>
          </a:p>
        </p:txBody>
      </p:sp>
      <p:sp>
        <p:nvSpPr>
          <p:cNvPr id="8" name="Oval 7"/>
          <p:cNvSpPr/>
          <p:nvPr/>
        </p:nvSpPr>
        <p:spPr>
          <a:xfrm>
            <a:off x="758952" y="2962656"/>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69264" y="2907791"/>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the sequence of steps is known in advance</a:t>
            </a:r>
          </a:p>
        </p:txBody>
      </p:sp>
      <p:sp>
        <p:nvSpPr>
          <p:cNvPr id="10" name="Oval 9"/>
          <p:cNvSpPr/>
          <p:nvPr/>
        </p:nvSpPr>
        <p:spPr>
          <a:xfrm>
            <a:off x="758952" y="3355848"/>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69264" y="3300984"/>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predictable, auditable</a:t>
            </a:r>
          </a:p>
        </p:txBody>
      </p:sp>
      <p:sp>
        <p:nvSpPr>
          <p:cNvPr id="12" name="Oval 11"/>
          <p:cNvSpPr/>
          <p:nvPr/>
        </p:nvSpPr>
        <p:spPr>
          <a:xfrm>
            <a:off x="758952" y="3749039"/>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9264" y="3694176"/>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most reliable production systems are workflows</a:t>
            </a:r>
          </a:p>
        </p:txBody>
      </p:sp>
      <p:sp>
        <p:nvSpPr>
          <p:cNvPr id="14" name="Rounded Rectangle 13"/>
          <p:cNvSpPr/>
          <p:nvPr/>
        </p:nvSpPr>
        <p:spPr>
          <a:xfrm>
            <a:off x="6172200" y="1627632"/>
            <a:ext cx="5532120" cy="2514600"/>
          </a:xfrm>
          <a:prstGeom prst="roundRect">
            <a:avLst>
              <a:gd name="adj" fmla="val 1212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bot-mid.png"/>
          <p:cNvPicPr>
            <a:picLocks noChangeAspect="1"/>
          </p:cNvPicPr>
          <p:nvPr/>
        </p:nvPicPr>
        <p:blipFill>
          <a:blip r:embed="rId3"/>
          <a:stretch>
            <a:fillRect/>
          </a:stretch>
        </p:blipFill>
        <p:spPr>
          <a:xfrm>
            <a:off x="6428232" y="1828800"/>
            <a:ext cx="457200" cy="457200"/>
          </a:xfrm>
          <a:prstGeom prst="rect">
            <a:avLst/>
          </a:prstGeom>
        </p:spPr>
      </p:pic>
      <p:sp>
        <p:nvSpPr>
          <p:cNvPr id="16" name="TextBox 15"/>
          <p:cNvSpPr txBox="1"/>
          <p:nvPr/>
        </p:nvSpPr>
        <p:spPr>
          <a:xfrm>
            <a:off x="6995160" y="1847088"/>
            <a:ext cx="4709159" cy="457200"/>
          </a:xfrm>
          <a:prstGeom prst="rect">
            <a:avLst/>
          </a:prstGeom>
          <a:noFill/>
        </p:spPr>
        <p:txBody>
          <a:bodyPr wrap="square" lIns="0" rIns="0" tIns="0" bIns="0" anchor="ctr">
            <a:spAutoFit/>
          </a:bodyPr>
          <a:lstStyle/>
          <a:p>
            <a:pPr algn="l">
              <a:lnSpc>
                <a:spcPct val="115000"/>
              </a:lnSpc>
            </a:pPr>
            <a:r>
              <a:rPr sz="1700" b="1" i="0">
                <a:solidFill>
                  <a:srgbClr val="065A82"/>
                </a:solidFill>
                <a:latin typeface="Arial"/>
              </a:rPr>
              <a:t>Agent</a:t>
            </a:r>
          </a:p>
        </p:txBody>
      </p:sp>
      <p:sp>
        <p:nvSpPr>
          <p:cNvPr id="17" name="TextBox 16"/>
          <p:cNvSpPr txBox="1"/>
          <p:nvPr/>
        </p:nvSpPr>
        <p:spPr>
          <a:xfrm>
            <a:off x="6428232" y="2404872"/>
            <a:ext cx="5020056" cy="411480"/>
          </a:xfrm>
          <a:prstGeom prst="rect">
            <a:avLst/>
          </a:prstGeom>
          <a:noFill/>
        </p:spPr>
        <p:txBody>
          <a:bodyPr wrap="square" lIns="0" rIns="0" tIns="0" bIns="0" anchor="t">
            <a:spAutoFit/>
          </a:bodyPr>
          <a:lstStyle/>
          <a:p>
            <a:pPr algn="l">
              <a:lnSpc>
                <a:spcPct val="112000"/>
              </a:lnSpc>
            </a:pPr>
            <a:r>
              <a:rPr sz="1300" b="1" i="0">
                <a:solidFill>
                  <a:srgbClr val="21295C"/>
                </a:solidFill>
                <a:latin typeface="Arial"/>
              </a:rPr>
              <a:t>the LLM dynamically defines its own process</a:t>
            </a:r>
          </a:p>
        </p:txBody>
      </p:sp>
      <p:sp>
        <p:nvSpPr>
          <p:cNvPr id="18" name="Oval 17"/>
          <p:cNvSpPr/>
          <p:nvPr/>
        </p:nvSpPr>
        <p:spPr>
          <a:xfrm>
            <a:off x="6428232" y="2962656"/>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38544" y="2907791"/>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the sequence is not fixed in advance</a:t>
            </a:r>
          </a:p>
        </p:txBody>
      </p:sp>
      <p:sp>
        <p:nvSpPr>
          <p:cNvPr id="20" name="Oval 19"/>
          <p:cNvSpPr/>
          <p:nvPr/>
        </p:nvSpPr>
        <p:spPr>
          <a:xfrm>
            <a:off x="6428232" y="3355848"/>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38544" y="3300984"/>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many times more tokens than a chat</a:t>
            </a:r>
          </a:p>
        </p:txBody>
      </p:sp>
      <p:sp>
        <p:nvSpPr>
          <p:cNvPr id="22" name="Oval 21"/>
          <p:cNvSpPr/>
          <p:nvPr/>
        </p:nvSpPr>
        <p:spPr>
          <a:xfrm>
            <a:off x="6428232" y="3749039"/>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38544" y="3694176"/>
            <a:ext cx="4343400" cy="384048"/>
          </a:xfrm>
          <a:prstGeom prst="rect">
            <a:avLst/>
          </a:prstGeom>
          <a:noFill/>
        </p:spPr>
        <p:txBody>
          <a:bodyPr wrap="square" lIns="0" rIns="0" tIns="0" bIns="0" anchor="t">
            <a:spAutoFit/>
          </a:bodyPr>
          <a:lstStyle/>
          <a:p>
            <a:pPr algn="l">
              <a:lnSpc>
                <a:spcPct val="105000"/>
              </a:lnSpc>
            </a:pPr>
            <a:r>
              <a:rPr sz="1250" b="0" i="0">
                <a:solidFill>
                  <a:srgbClr val="21295C"/>
                </a:solidFill>
                <a:latin typeface="Arial"/>
              </a:rPr>
              <a:t>lower auditability, higher risk of loops</a:t>
            </a:r>
          </a:p>
        </p:txBody>
      </p:sp>
      <p:sp>
        <p:nvSpPr>
          <p:cNvPr id="24" name="Rounded Rectangle 23"/>
          <p:cNvSpPr/>
          <p:nvPr/>
        </p:nvSpPr>
        <p:spPr>
          <a:xfrm>
            <a:off x="502920" y="4297680"/>
            <a:ext cx="11201400" cy="96012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4389120"/>
            <a:ext cx="10652760" cy="822960"/>
          </a:xfrm>
          <a:prstGeom prst="rect">
            <a:avLst/>
          </a:prstGeom>
          <a:noFill/>
        </p:spPr>
        <p:txBody>
          <a:bodyPr wrap="square" lIns="0" rIns="0" tIns="0" bIns="0" anchor="ctr">
            <a:spAutoFit/>
          </a:bodyPr>
          <a:lstStyle/>
          <a:p>
            <a:pPr algn="l">
              <a:lnSpc>
                <a:spcPct val="118000"/>
              </a:lnSpc>
            </a:pPr>
            <a:r>
              <a:rPr sz="1350" b="1" i="0">
                <a:solidFill>
                  <a:srgbClr val="21295C"/>
                </a:solidFill>
                <a:latin typeface="Arial"/>
              </a:rPr>
              <a:t>Can I write out the sequence of steps in advance, before running?  yes (even with branches) → workflow  ·  fundamentally no AND the value justifies multiple cost/risk → agent</a:t>
            </a:r>
          </a:p>
        </p:txBody>
      </p:sp>
      <p:sp>
        <p:nvSpPr>
          <p:cNvPr id="26" name="Rounded Rectangle 25"/>
          <p:cNvSpPr/>
          <p:nvPr/>
        </p:nvSpPr>
        <p:spPr>
          <a:xfrm>
            <a:off x="502920" y="5394960"/>
            <a:ext cx="7818120" cy="896112"/>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5468112"/>
            <a:ext cx="7360920" cy="749808"/>
          </a:xfrm>
          <a:prstGeom prst="rect">
            <a:avLst/>
          </a:prstGeom>
          <a:noFill/>
        </p:spPr>
        <p:txBody>
          <a:bodyPr wrap="square" lIns="0" rIns="0" tIns="0" bIns="0" anchor="ctr">
            <a:spAutoFit/>
          </a:bodyPr>
          <a:lstStyle/>
          <a:p>
            <a:pPr algn="l">
              <a:lnSpc>
                <a:spcPct val="114000"/>
              </a:lnSpc>
            </a:pPr>
            <a:r>
              <a:rPr sz="1250" b="1" i="0">
                <a:solidFill>
                  <a:srgbClr val="21295C"/>
                </a:solidFill>
                <a:latin typeface="Arial"/>
              </a:rPr>
              <a:t>Nesting is the norm: a code-review agent calls a “linter→tests→format” workflow as a single step; a ticket-processing workflow delegates parsing a free-form complaint to a mini-agent. Dynamics only where they're needed.</a:t>
            </a:r>
          </a:p>
        </p:txBody>
      </p:sp>
      <p:sp>
        <p:nvSpPr>
          <p:cNvPr id="28" name="Rounded Rectangle 27"/>
          <p:cNvSpPr/>
          <p:nvPr/>
        </p:nvSpPr>
        <p:spPr>
          <a:xfrm>
            <a:off x="8503920" y="5394960"/>
            <a:ext cx="3200400" cy="896112"/>
          </a:xfrm>
          <a:prstGeom prst="roundRect">
            <a:avLst>
              <a:gd name="adj" fmla="val 2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86800" y="5468112"/>
            <a:ext cx="2834640" cy="749808"/>
          </a:xfrm>
          <a:prstGeom prst="rect">
            <a:avLst/>
          </a:prstGeom>
          <a:noFill/>
        </p:spPr>
        <p:txBody>
          <a:bodyPr wrap="square" lIns="0" rIns="0" tIns="0" bIns="0" anchor="ctr">
            <a:spAutoFit/>
          </a:bodyPr>
          <a:lstStyle/>
          <a:p>
            <a:pPr algn="l">
              <a:lnSpc>
                <a:spcPct val="110000"/>
              </a:lnSpc>
            </a:pPr>
            <a:r>
              <a:rPr sz="1150" b="0" i="1">
                <a:solidFill>
                  <a:srgbClr val="5B6678"/>
                </a:solidFill>
                <a:latin typeface="Arial"/>
              </a:rPr>
              <a:t>Find the simplest. “Too lazy to formalize” does not make a task unpredictable.</a:t>
            </a:r>
          </a:p>
        </p:txBody>
      </p:sp>
      <p:sp>
        <p:nvSpPr>
          <p:cNvPr id="30" name="TextBox 2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Anthropic — Building Effective Agents (workflow vs agent)</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6"/>
              </a:rPr>
              <a:t>Cognition — Don't Build Multi-Agents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300" b="1" i="0">
                <a:solidFill>
                  <a:srgbClr val="21295C"/>
                </a:solidFill>
                <a:latin typeface="Arial"/>
              </a:rPr>
              <a:t>Every agent-harness slot is a trade-off, not an upgrade.</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A real assistant agent (Claude Code, Cursor, Aider) is the plan→act→check→iterate loop PLUS a harness. Five typical slots</a:t>
            </a:r>
            <a:r>
              <a:rPr sz="702" baseline="30000" b="0" i="1">
                <a:latin typeface="Arial"/>
                <a:cs typeface="Arial"/>
                <a:ea typeface="Arial"/>
                <a:solidFill>
                  <a:srgbClr val="1C7293"/>
                </a:solidFill>
              </a:rPr>
              <a:t>[1]</a:t>
            </a:r>
            <a:r>
              <a:rPr sz="1350" b="0" i="1">
                <a:latin typeface="Arial"/>
                <a:cs typeface="Arial"/>
                <a:ea typeface="Arial"/>
                <a:solidFill>
                  <a:srgbClr val="065A82"/>
                </a:solidFill>
              </a:rPr>
              <a:t>:</a:t>
            </a:r>
          </a:p>
        </p:txBody>
      </p:sp>
      <p:sp>
        <p:nvSpPr>
          <p:cNvPr id="4" name="Rounded Rectangle 3"/>
          <p:cNvSpPr/>
          <p:nvPr/>
        </p:nvSpPr>
        <p:spPr>
          <a:xfrm>
            <a:off x="502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216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rain-circuit-white.png"/>
          <p:cNvPicPr>
            <a:picLocks noChangeAspect="1"/>
          </p:cNvPicPr>
          <p:nvPr/>
        </p:nvPicPr>
        <p:blipFill>
          <a:blip r:embed="rId2"/>
          <a:stretch>
            <a:fillRect/>
          </a:stretch>
        </p:blipFill>
        <p:spPr>
          <a:xfrm>
            <a:off x="1307592" y="1956816"/>
            <a:ext cx="585216" cy="585216"/>
          </a:xfrm>
          <a:prstGeom prst="rect">
            <a:avLst/>
          </a:prstGeom>
        </p:spPr>
      </p:pic>
      <p:sp>
        <p:nvSpPr>
          <p:cNvPr id="7" name="TextBox 6"/>
          <p:cNvSpPr txBox="1"/>
          <p:nvPr/>
        </p:nvSpPr>
        <p:spPr>
          <a:xfrm>
            <a:off x="594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Memory</a:t>
            </a:r>
          </a:p>
        </p:txBody>
      </p:sp>
      <p:sp>
        <p:nvSpPr>
          <p:cNvPr id="8" name="TextBox 7"/>
          <p:cNvSpPr txBox="1"/>
          <p:nvPr/>
        </p:nvSpPr>
        <p:spPr>
          <a:xfrm>
            <a:off x="630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what it remembers between sessions</a:t>
            </a:r>
          </a:p>
        </p:txBody>
      </p:sp>
      <p:sp>
        <p:nvSpPr>
          <p:cNvPr id="9" name="Oval 8"/>
          <p:cNvSpPr/>
          <p:nvPr/>
        </p:nvSpPr>
        <p:spPr>
          <a:xfrm>
            <a:off x="630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0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1</a:t>
            </a:r>
          </a:p>
        </p:txBody>
      </p:sp>
      <p:sp>
        <p:nvSpPr>
          <p:cNvPr id="11" name="Rounded Rectangle 10"/>
          <p:cNvSpPr/>
          <p:nvPr/>
        </p:nvSpPr>
        <p:spPr>
          <a:xfrm>
            <a:off x="2788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502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file-text-white.png"/>
          <p:cNvPicPr>
            <a:picLocks noChangeAspect="1"/>
          </p:cNvPicPr>
          <p:nvPr/>
        </p:nvPicPr>
        <p:blipFill>
          <a:blip r:embed="rId3"/>
          <a:stretch>
            <a:fillRect/>
          </a:stretch>
        </p:blipFill>
        <p:spPr>
          <a:xfrm>
            <a:off x="3593592" y="1956816"/>
            <a:ext cx="585216" cy="585216"/>
          </a:xfrm>
          <a:prstGeom prst="rect">
            <a:avLst/>
          </a:prstGeom>
        </p:spPr>
      </p:pic>
      <p:sp>
        <p:nvSpPr>
          <p:cNvPr id="14" name="TextBox 13"/>
          <p:cNvSpPr txBox="1"/>
          <p:nvPr/>
        </p:nvSpPr>
        <p:spPr>
          <a:xfrm>
            <a:off x="2880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Instruction rules</a:t>
            </a:r>
          </a:p>
        </p:txBody>
      </p:sp>
      <p:sp>
        <p:nvSpPr>
          <p:cNvPr id="15" name="TextBox 14"/>
          <p:cNvSpPr txBox="1"/>
          <p:nvPr/>
        </p:nvSpPr>
        <p:spPr>
          <a:xfrm>
            <a:off x="2916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convention files + a task log</a:t>
            </a:r>
          </a:p>
        </p:txBody>
      </p:sp>
      <p:sp>
        <p:nvSpPr>
          <p:cNvPr id="16" name="Oval 15"/>
          <p:cNvSpPr/>
          <p:nvPr/>
        </p:nvSpPr>
        <p:spPr>
          <a:xfrm>
            <a:off x="2916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16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2</a:t>
            </a:r>
          </a:p>
        </p:txBody>
      </p:sp>
      <p:sp>
        <p:nvSpPr>
          <p:cNvPr id="18" name="Rounded Rectangle 17"/>
          <p:cNvSpPr/>
          <p:nvPr/>
        </p:nvSpPr>
        <p:spPr>
          <a:xfrm>
            <a:off x="5074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788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puzzle-white.png"/>
          <p:cNvPicPr>
            <a:picLocks noChangeAspect="1"/>
          </p:cNvPicPr>
          <p:nvPr/>
        </p:nvPicPr>
        <p:blipFill>
          <a:blip r:embed="rId4"/>
          <a:stretch>
            <a:fillRect/>
          </a:stretch>
        </p:blipFill>
        <p:spPr>
          <a:xfrm>
            <a:off x="5879592" y="1956816"/>
            <a:ext cx="585216" cy="585216"/>
          </a:xfrm>
          <a:prstGeom prst="rect">
            <a:avLst/>
          </a:prstGeom>
        </p:spPr>
      </p:pic>
      <p:sp>
        <p:nvSpPr>
          <p:cNvPr id="21" name="TextBox 20"/>
          <p:cNvSpPr txBox="1"/>
          <p:nvPr/>
        </p:nvSpPr>
        <p:spPr>
          <a:xfrm>
            <a:off x="5166359"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Skills</a:t>
            </a:r>
          </a:p>
        </p:txBody>
      </p:sp>
      <p:sp>
        <p:nvSpPr>
          <p:cNvPr id="22" name="TextBox 21"/>
          <p:cNvSpPr txBox="1"/>
          <p:nvPr/>
        </p:nvSpPr>
        <p:spPr>
          <a:xfrm>
            <a:off x="5202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reusable procedures</a:t>
            </a:r>
          </a:p>
        </p:txBody>
      </p:sp>
      <p:sp>
        <p:nvSpPr>
          <p:cNvPr id="23" name="Oval 22"/>
          <p:cNvSpPr/>
          <p:nvPr/>
        </p:nvSpPr>
        <p:spPr>
          <a:xfrm>
            <a:off x="5202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02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3</a:t>
            </a:r>
          </a:p>
        </p:txBody>
      </p:sp>
      <p:sp>
        <p:nvSpPr>
          <p:cNvPr id="25" name="Rounded Rectangle 24"/>
          <p:cNvSpPr/>
          <p:nvPr/>
        </p:nvSpPr>
        <p:spPr>
          <a:xfrm>
            <a:off x="7360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8074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users-white.png"/>
          <p:cNvPicPr>
            <a:picLocks noChangeAspect="1"/>
          </p:cNvPicPr>
          <p:nvPr/>
        </p:nvPicPr>
        <p:blipFill>
          <a:blip r:embed="rId5"/>
          <a:stretch>
            <a:fillRect/>
          </a:stretch>
        </p:blipFill>
        <p:spPr>
          <a:xfrm>
            <a:off x="8165592" y="1956816"/>
            <a:ext cx="585216" cy="585216"/>
          </a:xfrm>
          <a:prstGeom prst="rect">
            <a:avLst/>
          </a:prstGeom>
        </p:spPr>
      </p:pic>
      <p:sp>
        <p:nvSpPr>
          <p:cNvPr id="28" name="TextBox 27"/>
          <p:cNvSpPr txBox="1"/>
          <p:nvPr/>
        </p:nvSpPr>
        <p:spPr>
          <a:xfrm>
            <a:off x="7452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Subagents</a:t>
            </a:r>
          </a:p>
        </p:txBody>
      </p:sp>
      <p:sp>
        <p:nvSpPr>
          <p:cNvPr id="29" name="TextBox 28"/>
          <p:cNvSpPr txBox="1"/>
          <p:nvPr/>
        </p:nvSpPr>
        <p:spPr>
          <a:xfrm>
            <a:off x="7488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delegation + isolation</a:t>
            </a:r>
          </a:p>
        </p:txBody>
      </p:sp>
      <p:sp>
        <p:nvSpPr>
          <p:cNvPr id="30" name="Oval 29"/>
          <p:cNvSpPr/>
          <p:nvPr/>
        </p:nvSpPr>
        <p:spPr>
          <a:xfrm>
            <a:off x="7488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488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4</a:t>
            </a:r>
          </a:p>
        </p:txBody>
      </p:sp>
      <p:sp>
        <p:nvSpPr>
          <p:cNvPr id="32" name="Rounded Rectangle 31"/>
          <p:cNvSpPr/>
          <p:nvPr/>
        </p:nvSpPr>
        <p:spPr>
          <a:xfrm>
            <a:off x="9646920" y="1627632"/>
            <a:ext cx="2194560" cy="2331720"/>
          </a:xfrm>
          <a:prstGeom prst="roundRect">
            <a:avLst>
              <a:gd name="adj" fmla="val 13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10360152" y="1865376"/>
            <a:ext cx="768096" cy="768096"/>
          </a:xfrm>
          <a:prstGeom prst="roundRect">
            <a:avLst>
              <a:gd name="adj" fmla="val 1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4" name="Picture 33" descr="cable-white.png"/>
          <p:cNvPicPr>
            <a:picLocks noChangeAspect="1"/>
          </p:cNvPicPr>
          <p:nvPr/>
        </p:nvPicPr>
        <p:blipFill>
          <a:blip r:embed="rId6"/>
          <a:stretch>
            <a:fillRect/>
          </a:stretch>
        </p:blipFill>
        <p:spPr>
          <a:xfrm>
            <a:off x="10451592" y="1956816"/>
            <a:ext cx="585216" cy="585216"/>
          </a:xfrm>
          <a:prstGeom prst="rect">
            <a:avLst/>
          </a:prstGeom>
        </p:spPr>
      </p:pic>
      <p:sp>
        <p:nvSpPr>
          <p:cNvPr id="35" name="TextBox 34"/>
          <p:cNvSpPr txBox="1"/>
          <p:nvPr/>
        </p:nvSpPr>
        <p:spPr>
          <a:xfrm>
            <a:off x="9738360" y="2798064"/>
            <a:ext cx="2011679" cy="457200"/>
          </a:xfrm>
          <a:prstGeom prst="rect">
            <a:avLst/>
          </a:prstGeom>
          <a:noFill/>
        </p:spPr>
        <p:txBody>
          <a:bodyPr wrap="square" lIns="0" rIns="0" tIns="0" bIns="0" anchor="t">
            <a:spAutoFit/>
          </a:bodyPr>
          <a:lstStyle/>
          <a:p>
            <a:pPr algn="ctr">
              <a:lnSpc>
                <a:spcPct val="100000"/>
              </a:lnSpc>
            </a:pPr>
            <a:r>
              <a:rPr sz="1500" b="1" i="0">
                <a:solidFill>
                  <a:srgbClr val="21295C"/>
                </a:solidFill>
                <a:latin typeface="Arial"/>
              </a:rPr>
              <a:t>Access / MCP</a:t>
            </a:r>
          </a:p>
        </p:txBody>
      </p:sp>
      <p:sp>
        <p:nvSpPr>
          <p:cNvPr id="36" name="TextBox 35"/>
          <p:cNvSpPr txBox="1"/>
          <p:nvPr/>
        </p:nvSpPr>
        <p:spPr>
          <a:xfrm>
            <a:off x="9774936" y="3273552"/>
            <a:ext cx="1938528" cy="594360"/>
          </a:xfrm>
          <a:prstGeom prst="rect">
            <a:avLst/>
          </a:prstGeom>
          <a:noFill/>
        </p:spPr>
        <p:txBody>
          <a:bodyPr wrap="square" lIns="0" rIns="0" tIns="0" bIns="0" anchor="t">
            <a:spAutoFit/>
          </a:bodyPr>
          <a:lstStyle/>
          <a:p>
            <a:pPr algn="ctr">
              <a:lnSpc>
                <a:spcPct val="112000"/>
              </a:lnSpc>
            </a:pPr>
            <a:r>
              <a:rPr sz="1150" b="0" i="0">
                <a:solidFill>
                  <a:srgbClr val="5B6678"/>
                </a:solidFill>
                <a:latin typeface="Arial"/>
              </a:rPr>
              <a:t>access to external tools</a:t>
            </a:r>
          </a:p>
        </p:txBody>
      </p:sp>
      <p:sp>
        <p:nvSpPr>
          <p:cNvPr id="37" name="Oval 36"/>
          <p:cNvSpPr/>
          <p:nvPr/>
        </p:nvSpPr>
        <p:spPr>
          <a:xfrm>
            <a:off x="9774936" y="1755648"/>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774936" y="1755648"/>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5</a:t>
            </a:r>
          </a:p>
        </p:txBody>
      </p:sp>
      <p:sp>
        <p:nvSpPr>
          <p:cNvPr id="39" name="Rounded Rectangle 38"/>
          <p:cNvSpPr/>
          <p:nvPr/>
        </p:nvSpPr>
        <p:spPr>
          <a:xfrm>
            <a:off x="502920" y="4261104"/>
            <a:ext cx="11201400" cy="118872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704088" y="4315968"/>
            <a:ext cx="10799064" cy="1078992"/>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Just as you don't climb the architecture ladder without a task requirement — don't add memory, subagents, or MCP to an agent “just in case.” Each slot carries its own cost: operational complexity, a new failure surface, a new trust boundary — and must answer a concrete trigger (Section 5).</a:t>
            </a:r>
          </a:p>
        </p:txBody>
      </p:sp>
      <p:sp>
        <p:nvSpPr>
          <p:cNvPr id="41" name="TextBox 40"/>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rPr>
              <a:t>agent-harness-registry — map of the agent's equipment slots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Agent memory — the same scale question as RAG.</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Memory is what an agent remembers BETWEEN sessions (as opposed to the context of a single conversation). The spectrum runs from a flat file to graph databases</a:t>
            </a:r>
            <a:r>
              <a:rPr sz="702" baseline="30000" b="0" i="1">
                <a:latin typeface="Arial"/>
                <a:cs typeface="Arial"/>
                <a:ea typeface="Arial"/>
                <a:solidFill>
                  <a:srgbClr val="1C7293"/>
                </a:solidFill>
              </a:rPr>
              <a:t>[1]</a:t>
            </a:r>
            <a:r>
              <a:rPr sz="1350" b="0" i="1">
                <a:latin typeface="Arial"/>
                <a:cs typeface="Arial"/>
                <a:ea typeface="Arial"/>
                <a:solidFill>
                  <a:srgbClr val="065A82"/>
                </a:solidFill>
              </a:rPr>
              <a:t>.</a:t>
            </a:r>
          </a:p>
        </p:txBody>
      </p:sp>
      <p:sp>
        <p:nvSpPr>
          <p:cNvPr id="4" name="Rounded Rectangle 3"/>
          <p:cNvSpPr/>
          <p:nvPr/>
        </p:nvSpPr>
        <p:spPr>
          <a:xfrm>
            <a:off x="502920" y="1700784"/>
            <a:ext cx="5074920" cy="2148840"/>
          </a:xfrm>
          <a:prstGeom prst="roundRect">
            <a:avLst>
              <a:gd name="adj" fmla="val 1418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le-text-mid.png"/>
          <p:cNvPicPr>
            <a:picLocks noChangeAspect="1"/>
          </p:cNvPicPr>
          <p:nvPr/>
        </p:nvPicPr>
        <p:blipFill>
          <a:blip r:embed="rId2"/>
          <a:stretch>
            <a:fillRect/>
          </a:stretch>
        </p:blipFill>
        <p:spPr>
          <a:xfrm>
            <a:off x="749808" y="1901952"/>
            <a:ext cx="457200" cy="457200"/>
          </a:xfrm>
          <a:prstGeom prst="rect">
            <a:avLst/>
          </a:prstGeom>
        </p:spPr>
      </p:pic>
      <p:sp>
        <p:nvSpPr>
          <p:cNvPr id="6" name="TextBox 5"/>
          <p:cNvSpPr txBox="1"/>
          <p:nvPr/>
        </p:nvSpPr>
        <p:spPr>
          <a:xfrm>
            <a:off x="1316736" y="1920240"/>
            <a:ext cx="4023360" cy="384048"/>
          </a:xfrm>
          <a:prstGeom prst="rect">
            <a:avLst/>
          </a:prstGeom>
          <a:noFill/>
        </p:spPr>
        <p:txBody>
          <a:bodyPr wrap="square" lIns="0" rIns="0" tIns="0" bIns="0" anchor="ctr">
            <a:spAutoFit/>
          </a:bodyPr>
          <a:lstStyle/>
          <a:p>
            <a:pPr algn="l">
              <a:lnSpc>
                <a:spcPct val="115000"/>
              </a:lnSpc>
            </a:pPr>
            <a:r>
              <a:rPr sz="1600" b="1" i="0">
                <a:solidFill>
                  <a:srgbClr val="065A82"/>
                </a:solidFill>
                <a:latin typeface="Arial"/>
              </a:rPr>
              <a:t>Flat file</a:t>
            </a:r>
          </a:p>
        </p:txBody>
      </p:sp>
      <p:sp>
        <p:nvSpPr>
          <p:cNvPr id="7" name="TextBox 6"/>
          <p:cNvSpPr txBox="1"/>
          <p:nvPr/>
        </p:nvSpPr>
        <p:spPr>
          <a:xfrm>
            <a:off x="749808" y="2487168"/>
            <a:ext cx="4572000" cy="1234440"/>
          </a:xfrm>
          <a:prstGeom prst="rect">
            <a:avLst/>
          </a:prstGeom>
          <a:noFill/>
        </p:spPr>
        <p:txBody>
          <a:bodyPr wrap="square" lIns="0" rIns="0" tIns="0" bIns="0" anchor="t">
            <a:spAutoFit/>
          </a:bodyPr>
          <a:lstStyle/>
          <a:p>
            <a:pPr algn="l">
              <a:lnSpc>
                <a:spcPct val="120000"/>
              </a:lnSpc>
            </a:pPr>
            <a:r>
              <a:rPr sz="1300" b="0" i="0">
                <a:solidFill>
                  <a:srgbClr val="21295C"/>
                </a:solidFill>
                <a:latin typeface="Arial"/>
              </a:rPr>
              <a:t>the agent appends facts to a text log and reads it in full at startup. Works while the log is small and stable — a direct parallel to the RAG criterion “the corpus fits in the window.”</a:t>
            </a:r>
          </a:p>
        </p:txBody>
      </p:sp>
      <p:sp>
        <p:nvSpPr>
          <p:cNvPr id="8" name="Right Arrow 7"/>
          <p:cNvSpPr/>
          <p:nvPr/>
        </p:nvSpPr>
        <p:spPr>
          <a:xfrm>
            <a:off x="5669280" y="2537460"/>
            <a:ext cx="502920" cy="475488"/>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355080" y="1700784"/>
            <a:ext cx="5349240" cy="2148840"/>
          </a:xfrm>
          <a:prstGeom prst="roundRect">
            <a:avLst>
              <a:gd name="adj" fmla="val 14184"/>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brain-circuit-teal.png"/>
          <p:cNvPicPr>
            <a:picLocks noChangeAspect="1"/>
          </p:cNvPicPr>
          <p:nvPr/>
        </p:nvPicPr>
        <p:blipFill>
          <a:blip r:embed="rId3"/>
          <a:stretch>
            <a:fillRect/>
          </a:stretch>
        </p:blipFill>
        <p:spPr>
          <a:xfrm>
            <a:off x="6601968" y="1901952"/>
            <a:ext cx="457200" cy="457200"/>
          </a:xfrm>
          <a:prstGeom prst="rect">
            <a:avLst/>
          </a:prstGeom>
        </p:spPr>
      </p:pic>
      <p:sp>
        <p:nvSpPr>
          <p:cNvPr id="11" name="TextBox 10"/>
          <p:cNvSpPr txBox="1"/>
          <p:nvPr/>
        </p:nvSpPr>
        <p:spPr>
          <a:xfrm>
            <a:off x="7168896" y="1920240"/>
            <a:ext cx="4297680" cy="384048"/>
          </a:xfrm>
          <a:prstGeom prst="rect">
            <a:avLst/>
          </a:prstGeom>
          <a:noFill/>
        </p:spPr>
        <p:txBody>
          <a:bodyPr wrap="square" lIns="0" rIns="0" tIns="0" bIns="0" anchor="ctr">
            <a:spAutoFit/>
          </a:bodyPr>
          <a:lstStyle/>
          <a:p>
            <a:pPr algn="l">
              <a:lnSpc>
                <a:spcPct val="115000"/>
              </a:lnSpc>
            </a:pPr>
            <a:r>
              <a:rPr sz="1600" b="1" i="0">
                <a:solidFill>
                  <a:srgbClr val="028090"/>
                </a:solidFill>
                <a:latin typeface="Arial"/>
              </a:rPr>
              <a:t>Vector / graph database</a:t>
            </a:r>
          </a:p>
        </p:txBody>
      </p:sp>
      <p:sp>
        <p:nvSpPr>
          <p:cNvPr id="12" name="Oval 11"/>
          <p:cNvSpPr/>
          <p:nvPr/>
        </p:nvSpPr>
        <p:spPr>
          <a:xfrm>
            <a:off x="6620256" y="2532888"/>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21424" y="2487168"/>
            <a:ext cx="4663440" cy="384048"/>
          </a:xfrm>
          <a:prstGeom prst="rect">
            <a:avLst/>
          </a:prstGeom>
          <a:noFill/>
        </p:spPr>
        <p:txBody>
          <a:bodyPr wrap="square" lIns="0" rIns="0" tIns="0" bIns="0" anchor="t">
            <a:spAutoFit/>
          </a:bodyPr>
          <a:lstStyle/>
          <a:p>
            <a:pPr algn="l">
              <a:lnSpc>
                <a:spcPct val="108000"/>
              </a:lnSpc>
            </a:pPr>
            <a:r>
              <a:rPr sz="1250" b="0" i="0">
                <a:solidFill>
                  <a:srgbClr val="21295C"/>
                </a:solidFill>
                <a:latin typeface="Arial"/>
              </a:rPr>
              <a:t>mem0 — cross-session user memory</a:t>
            </a:r>
          </a:p>
        </p:txBody>
      </p:sp>
      <p:sp>
        <p:nvSpPr>
          <p:cNvPr id="14" name="Oval 13"/>
          <p:cNvSpPr/>
          <p:nvPr/>
        </p:nvSpPr>
        <p:spPr>
          <a:xfrm>
            <a:off x="6620256" y="2935224"/>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21424" y="2889504"/>
            <a:ext cx="4663440" cy="384048"/>
          </a:xfrm>
          <a:prstGeom prst="rect">
            <a:avLst/>
          </a:prstGeom>
          <a:noFill/>
        </p:spPr>
        <p:txBody>
          <a:bodyPr wrap="square" lIns="0" rIns="0" tIns="0" bIns="0" anchor="t">
            <a:spAutoFit/>
          </a:bodyPr>
          <a:lstStyle/>
          <a:p>
            <a:pPr algn="l">
              <a:lnSpc>
                <a:spcPct val="108000"/>
              </a:lnSpc>
            </a:pPr>
            <a:r>
              <a:rPr sz="1250" b="0" i="0">
                <a:solidFill>
                  <a:srgbClr val="21295C"/>
                </a:solidFill>
                <a:latin typeface="Arial"/>
              </a:rPr>
              <a:t>Cognee — memory over a knowledge graph</a:t>
            </a:r>
          </a:p>
        </p:txBody>
      </p:sp>
      <p:sp>
        <p:nvSpPr>
          <p:cNvPr id="16" name="Oval 15"/>
          <p:cNvSpPr/>
          <p:nvPr/>
        </p:nvSpPr>
        <p:spPr>
          <a:xfrm>
            <a:off x="6620256" y="3337560"/>
            <a:ext cx="100584" cy="100584"/>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21424" y="3291840"/>
            <a:ext cx="4663440" cy="384048"/>
          </a:xfrm>
          <a:prstGeom prst="rect">
            <a:avLst/>
          </a:prstGeom>
          <a:noFill/>
        </p:spPr>
        <p:txBody>
          <a:bodyPr wrap="square" lIns="0" rIns="0" tIns="0" bIns="0" anchor="t">
            <a:spAutoFit/>
          </a:bodyPr>
          <a:lstStyle/>
          <a:p>
            <a:pPr algn="l">
              <a:lnSpc>
                <a:spcPct val="108000"/>
              </a:lnSpc>
            </a:pPr>
            <a:r>
              <a:rPr sz="1250" b="0" i="0">
                <a:solidFill>
                  <a:srgbClr val="21295C"/>
                </a:solidFill>
                <a:latin typeface="Arial"/>
              </a:rPr>
              <a:t>Graphiti / Zep — temporal graph: when a fact is true, when it went stale</a:t>
            </a:r>
          </a:p>
        </p:txBody>
      </p:sp>
      <p:sp>
        <p:nvSpPr>
          <p:cNvPr id="18" name="Rounded Rectangle 17"/>
          <p:cNvSpPr/>
          <p:nvPr/>
        </p:nvSpPr>
        <p:spPr>
          <a:xfrm>
            <a:off x="502920" y="4041648"/>
            <a:ext cx="11201400" cy="137160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04088" y="4096511"/>
            <a:ext cx="10799064" cy="1261872"/>
          </a:xfrm>
          <a:prstGeom prst="rect">
            <a:avLst/>
          </a:prstGeom>
          <a:noFill/>
        </p:spPr>
        <p:txBody>
          <a:bodyPr wrap="square" lIns="0" rIns="0" tIns="0" bIns="0" anchor="ctr">
            <a:spAutoFit/>
          </a:bodyPr>
          <a:lstStyle/>
          <a:p>
            <a:pPr algn="l">
              <a:lnSpc>
                <a:spcPct val="122000"/>
              </a:lnSpc>
            </a:pPr>
            <a:r>
              <a:rPr sz="1500" b="1" i="0">
                <a:solidFill>
                  <a:srgbClr val="21295C"/>
                </a:solidFill>
                <a:latin typeface="Arial"/>
              </a:rPr>
              <a:t>The same knowledge-scale question that RAG answers for a document corpus arises here for the agent's own memory. Don't put a graph database on an agent with short, unconnected sessions — that is the same requirement-free technical debt as RAG for ten articles.</a:t>
            </a:r>
          </a:p>
        </p:txBody>
      </p:sp>
      <p:sp>
        <p:nvSpPr>
          <p:cNvPr id="20" name="TextBox 1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rPr>
              <a:t>agent-harness-registry (live-eval) — the agent memory spectrum</a:t>
            </a:r>
            <a:r>
              <a:rPr sz="850" i="1">
                <a:solidFill>
                  <a:srgbClr val="5B6678"/>
                </a:solidFill>
                <a:latin typeface="Arial"/>
              </a:rPr>
              <a:t>   ·   Source: the public agent-harness-registry (workain lab, live-eval).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“An agent that remembers” — not always better.</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Having memory intuitively seems like a pure improvement. An independent live-eval shows: sometimes it is dramatically not</a:t>
            </a:r>
            <a:r>
              <a:rPr sz="702" baseline="30000" b="0" i="1">
                <a:latin typeface="Arial"/>
                <a:cs typeface="Arial"/>
                <a:ea typeface="Arial"/>
                <a:solidFill>
                  <a:srgbClr val="1C7293"/>
                </a:solidFill>
              </a:rPr>
              <a:t>[1]</a:t>
            </a:r>
            <a:r>
              <a:rPr sz="1350" b="0" i="1">
                <a:latin typeface="Arial"/>
                <a:cs typeface="Arial"/>
                <a:ea typeface="Arial"/>
                <a:solidFill>
                  <a:srgbClr val="065A82"/>
                </a:solidFill>
              </a:rPr>
              <a:t>.</a:t>
            </a:r>
          </a:p>
        </p:txBody>
      </p:sp>
      <p:sp>
        <p:nvSpPr>
          <p:cNvPr id="4" name="Rounded Rectangle 3"/>
          <p:cNvSpPr/>
          <p:nvPr/>
        </p:nvSpPr>
        <p:spPr>
          <a:xfrm>
            <a:off x="502920" y="1700784"/>
            <a:ext cx="5715000" cy="37033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riangle-alert-mid.png"/>
          <p:cNvPicPr>
            <a:picLocks noChangeAspect="1"/>
          </p:cNvPicPr>
          <p:nvPr/>
        </p:nvPicPr>
        <p:blipFill>
          <a:blip r:embed="rId2"/>
          <a:stretch>
            <a:fillRect/>
          </a:stretch>
        </p:blipFill>
        <p:spPr>
          <a:xfrm>
            <a:off x="740664" y="1901952"/>
            <a:ext cx="420624" cy="420624"/>
          </a:xfrm>
          <a:prstGeom prst="rect">
            <a:avLst/>
          </a:prstGeom>
        </p:spPr>
      </p:pic>
      <p:sp>
        <p:nvSpPr>
          <p:cNvPr id="6" name="TextBox 5"/>
          <p:cNvSpPr txBox="1"/>
          <p:nvPr/>
        </p:nvSpPr>
        <p:spPr>
          <a:xfrm>
            <a:off x="1271016" y="1901952"/>
            <a:ext cx="4709160" cy="384048"/>
          </a:xfrm>
          <a:prstGeom prst="rect">
            <a:avLst/>
          </a:prstGeom>
          <a:noFill/>
        </p:spPr>
        <p:txBody>
          <a:bodyPr wrap="square" lIns="0" rIns="0" tIns="0" bIns="0" anchor="ctr">
            <a:spAutoFit/>
          </a:bodyPr>
          <a:lstStyle/>
          <a:p>
            <a:pPr algn="l">
              <a:lnSpc>
                <a:spcPct val="115000"/>
              </a:lnSpc>
            </a:pPr>
            <a:r>
              <a:rPr sz="1600" b="1" i="0">
                <a:solidFill>
                  <a:srgbClr val="065A82"/>
                </a:solidFill>
                <a:latin typeface="Arial"/>
              </a:rPr>
              <a:t>Letta — Tier D</a:t>
            </a:r>
          </a:p>
        </p:txBody>
      </p:sp>
      <p:sp>
        <p:nvSpPr>
          <p:cNvPr id="7" name="TextBox 6"/>
          <p:cNvSpPr txBox="1"/>
          <p:nvPr/>
        </p:nvSpPr>
        <p:spPr>
          <a:xfrm>
            <a:off x="740664" y="2414016"/>
            <a:ext cx="5239512" cy="566928"/>
          </a:xfrm>
          <a:prstGeom prst="rect">
            <a:avLst/>
          </a:prstGeom>
          <a:noFill/>
        </p:spPr>
        <p:txBody>
          <a:bodyPr wrap="square" lIns="0" rIns="0" tIns="0" bIns="0" anchor="t">
            <a:spAutoFit/>
          </a:bodyPr>
          <a:lstStyle/>
          <a:p>
            <a:pPr algn="l">
              <a:lnSpc>
                <a:spcPct val="116000"/>
              </a:lnSpc>
            </a:pPr>
            <a:r>
              <a:rPr sz="1300" b="0" i="0">
                <a:solidFill>
                  <a:srgbClr val="21295C"/>
                </a:solidFill>
                <a:latin typeface="Arial"/>
              </a:rPr>
              <a:t>loses to BOTH the bare model AND the flat file on all tasks. persistbench_v1:</a:t>
            </a:r>
          </a:p>
        </p:txBody>
      </p:sp>
      <p:sp>
        <p:nvSpPr>
          <p:cNvPr id="8" name="Rectangle 7"/>
          <p:cNvSpPr/>
          <p:nvPr/>
        </p:nvSpPr>
        <p:spPr>
          <a:xfrm>
            <a:off x="740664" y="3054096"/>
            <a:ext cx="128016" cy="310896"/>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78408" y="3054096"/>
            <a:ext cx="2468880" cy="310896"/>
          </a:xfrm>
          <a:prstGeom prst="rect">
            <a:avLst/>
          </a:prstGeom>
          <a:noFill/>
        </p:spPr>
        <p:txBody>
          <a:bodyPr wrap="square" lIns="0" rIns="0" tIns="0" bIns="0" anchor="ctr">
            <a:spAutoFit/>
          </a:bodyPr>
          <a:lstStyle/>
          <a:p>
            <a:pPr algn="l">
              <a:lnSpc>
                <a:spcPct val="115000"/>
              </a:lnSpc>
            </a:pPr>
            <a:r>
              <a:rPr sz="1250" b="1" i="0">
                <a:solidFill>
                  <a:srgbClr val="21295C"/>
                </a:solidFill>
                <a:latin typeface="Arial"/>
              </a:rPr>
              <a:t>Bare model</a:t>
            </a:r>
          </a:p>
        </p:txBody>
      </p:sp>
      <p:sp>
        <p:nvSpPr>
          <p:cNvPr id="10" name="TextBox 9"/>
          <p:cNvSpPr txBox="1"/>
          <p:nvPr/>
        </p:nvSpPr>
        <p:spPr>
          <a:xfrm>
            <a:off x="3474720" y="3054096"/>
            <a:ext cx="1188720" cy="310896"/>
          </a:xfrm>
          <a:prstGeom prst="rect">
            <a:avLst/>
          </a:prstGeom>
          <a:noFill/>
        </p:spPr>
        <p:txBody>
          <a:bodyPr wrap="square" lIns="0" rIns="0" tIns="0" bIns="0" anchor="ctr">
            <a:spAutoFit/>
          </a:bodyPr>
          <a:lstStyle/>
          <a:p>
            <a:pPr algn="ctr">
              <a:lnSpc>
                <a:spcPct val="115000"/>
              </a:lnSpc>
            </a:pPr>
            <a:r>
              <a:rPr sz="1300" b="1" i="0">
                <a:solidFill>
                  <a:srgbClr val="028090"/>
                </a:solidFill>
                <a:latin typeface="Arial"/>
              </a:rPr>
              <a:t>1.000</a:t>
            </a:r>
          </a:p>
        </p:txBody>
      </p:sp>
      <p:sp>
        <p:nvSpPr>
          <p:cNvPr id="11" name="TextBox 10"/>
          <p:cNvSpPr txBox="1"/>
          <p:nvPr/>
        </p:nvSpPr>
        <p:spPr>
          <a:xfrm>
            <a:off x="4754880" y="3054096"/>
            <a:ext cx="1188720" cy="310896"/>
          </a:xfrm>
          <a:prstGeom prst="rect">
            <a:avLst/>
          </a:prstGeom>
          <a:noFill/>
        </p:spPr>
        <p:txBody>
          <a:bodyPr wrap="square" lIns="0" rIns="0" tIns="0" bIns="0" anchor="ctr">
            <a:spAutoFit/>
          </a:bodyPr>
          <a:lstStyle/>
          <a:p>
            <a:pPr algn="ctr">
              <a:lnSpc>
                <a:spcPct val="115000"/>
              </a:lnSpc>
            </a:pPr>
            <a:r>
              <a:rPr sz="1200" b="0" i="0">
                <a:solidFill>
                  <a:srgbClr val="5B6678"/>
                </a:solidFill>
                <a:latin typeface="Arial"/>
              </a:rPr>
              <a:t>94 s</a:t>
            </a:r>
          </a:p>
        </p:txBody>
      </p:sp>
      <p:sp>
        <p:nvSpPr>
          <p:cNvPr id="12" name="Rectangle 11"/>
          <p:cNvSpPr/>
          <p:nvPr/>
        </p:nvSpPr>
        <p:spPr>
          <a:xfrm>
            <a:off x="740664" y="3438144"/>
            <a:ext cx="128016" cy="310896"/>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78408" y="3438144"/>
            <a:ext cx="2468880" cy="310896"/>
          </a:xfrm>
          <a:prstGeom prst="rect">
            <a:avLst/>
          </a:prstGeom>
          <a:noFill/>
        </p:spPr>
        <p:txBody>
          <a:bodyPr wrap="square" lIns="0" rIns="0" tIns="0" bIns="0" anchor="ctr">
            <a:spAutoFit/>
          </a:bodyPr>
          <a:lstStyle/>
          <a:p>
            <a:pPr algn="l">
              <a:lnSpc>
                <a:spcPct val="115000"/>
              </a:lnSpc>
            </a:pPr>
            <a:r>
              <a:rPr sz="1250" b="1" i="0">
                <a:solidFill>
                  <a:srgbClr val="21295C"/>
                </a:solidFill>
                <a:latin typeface="Arial"/>
              </a:rPr>
              <a:t>Flat file</a:t>
            </a:r>
          </a:p>
        </p:txBody>
      </p:sp>
      <p:sp>
        <p:nvSpPr>
          <p:cNvPr id="14" name="TextBox 13"/>
          <p:cNvSpPr txBox="1"/>
          <p:nvPr/>
        </p:nvSpPr>
        <p:spPr>
          <a:xfrm>
            <a:off x="3474720" y="3438144"/>
            <a:ext cx="1188720" cy="310896"/>
          </a:xfrm>
          <a:prstGeom prst="rect">
            <a:avLst/>
          </a:prstGeom>
          <a:noFill/>
        </p:spPr>
        <p:txBody>
          <a:bodyPr wrap="square" lIns="0" rIns="0" tIns="0" bIns="0" anchor="ctr">
            <a:spAutoFit/>
          </a:bodyPr>
          <a:lstStyle/>
          <a:p>
            <a:pPr algn="ctr">
              <a:lnSpc>
                <a:spcPct val="115000"/>
              </a:lnSpc>
            </a:pPr>
            <a:r>
              <a:rPr sz="1300" b="1" i="0">
                <a:solidFill>
                  <a:srgbClr val="065A82"/>
                </a:solidFill>
                <a:latin typeface="Arial"/>
              </a:rPr>
              <a:t>0.833</a:t>
            </a:r>
          </a:p>
        </p:txBody>
      </p:sp>
      <p:sp>
        <p:nvSpPr>
          <p:cNvPr id="15" name="TextBox 14"/>
          <p:cNvSpPr txBox="1"/>
          <p:nvPr/>
        </p:nvSpPr>
        <p:spPr>
          <a:xfrm>
            <a:off x="4754880" y="3438144"/>
            <a:ext cx="1188720" cy="310896"/>
          </a:xfrm>
          <a:prstGeom prst="rect">
            <a:avLst/>
          </a:prstGeom>
          <a:noFill/>
        </p:spPr>
        <p:txBody>
          <a:bodyPr wrap="square" lIns="0" rIns="0" tIns="0" bIns="0" anchor="ctr">
            <a:spAutoFit/>
          </a:bodyPr>
          <a:lstStyle/>
          <a:p>
            <a:pPr algn="ctr">
              <a:lnSpc>
                <a:spcPct val="115000"/>
              </a:lnSpc>
            </a:pPr>
            <a:r>
              <a:rPr sz="1200" b="0" i="0">
                <a:solidFill>
                  <a:srgbClr val="5B6678"/>
                </a:solidFill>
                <a:latin typeface="Arial"/>
              </a:rPr>
              <a:t>159 s</a:t>
            </a:r>
          </a:p>
        </p:txBody>
      </p:sp>
      <p:sp>
        <p:nvSpPr>
          <p:cNvPr id="16" name="Rectangle 15"/>
          <p:cNvSpPr/>
          <p:nvPr/>
        </p:nvSpPr>
        <p:spPr>
          <a:xfrm>
            <a:off x="740664" y="3822191"/>
            <a:ext cx="128016" cy="310896"/>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3822191"/>
            <a:ext cx="2468880" cy="310896"/>
          </a:xfrm>
          <a:prstGeom prst="rect">
            <a:avLst/>
          </a:prstGeom>
          <a:noFill/>
        </p:spPr>
        <p:txBody>
          <a:bodyPr wrap="square" lIns="0" rIns="0" tIns="0" bIns="0" anchor="ctr">
            <a:spAutoFit/>
          </a:bodyPr>
          <a:lstStyle/>
          <a:p>
            <a:pPr algn="l">
              <a:lnSpc>
                <a:spcPct val="115000"/>
              </a:lnSpc>
            </a:pPr>
            <a:r>
              <a:rPr sz="1250" b="1" i="0">
                <a:solidFill>
                  <a:srgbClr val="21295C"/>
                </a:solidFill>
                <a:latin typeface="Arial"/>
              </a:rPr>
              <a:t>Letta</a:t>
            </a:r>
          </a:p>
        </p:txBody>
      </p:sp>
      <p:sp>
        <p:nvSpPr>
          <p:cNvPr id="18" name="TextBox 17"/>
          <p:cNvSpPr txBox="1"/>
          <p:nvPr/>
        </p:nvSpPr>
        <p:spPr>
          <a:xfrm>
            <a:off x="3474720" y="3822191"/>
            <a:ext cx="1188720" cy="310896"/>
          </a:xfrm>
          <a:prstGeom prst="rect">
            <a:avLst/>
          </a:prstGeom>
          <a:noFill/>
        </p:spPr>
        <p:txBody>
          <a:bodyPr wrap="square" lIns="0" rIns="0" tIns="0" bIns="0" anchor="ctr">
            <a:spAutoFit/>
          </a:bodyPr>
          <a:lstStyle/>
          <a:p>
            <a:pPr algn="ctr">
              <a:lnSpc>
                <a:spcPct val="115000"/>
              </a:lnSpc>
            </a:pPr>
            <a:r>
              <a:rPr sz="1300" b="1" i="0">
                <a:solidFill>
                  <a:srgbClr val="F0AB00"/>
                </a:solidFill>
                <a:latin typeface="Arial"/>
              </a:rPr>
              <a:t>0.750</a:t>
            </a:r>
          </a:p>
        </p:txBody>
      </p:sp>
      <p:sp>
        <p:nvSpPr>
          <p:cNvPr id="19" name="TextBox 18"/>
          <p:cNvSpPr txBox="1"/>
          <p:nvPr/>
        </p:nvSpPr>
        <p:spPr>
          <a:xfrm>
            <a:off x="4754880" y="3822191"/>
            <a:ext cx="1188720" cy="310896"/>
          </a:xfrm>
          <a:prstGeom prst="rect">
            <a:avLst/>
          </a:prstGeom>
          <a:noFill/>
        </p:spPr>
        <p:txBody>
          <a:bodyPr wrap="square" lIns="0" rIns="0" tIns="0" bIns="0" anchor="ctr">
            <a:spAutoFit/>
          </a:bodyPr>
          <a:lstStyle/>
          <a:p>
            <a:pPr algn="ctr">
              <a:lnSpc>
                <a:spcPct val="115000"/>
              </a:lnSpc>
            </a:pPr>
            <a:r>
              <a:rPr sz="1200" b="0" i="0">
                <a:solidFill>
                  <a:srgbClr val="5B6678"/>
                </a:solidFill>
                <a:latin typeface="Arial"/>
              </a:rPr>
              <a:t>496 s</a:t>
            </a:r>
          </a:p>
        </p:txBody>
      </p:sp>
      <p:sp>
        <p:nvSpPr>
          <p:cNvPr id="20" name="TextBox 19"/>
          <p:cNvSpPr txBox="1"/>
          <p:nvPr/>
        </p:nvSpPr>
        <p:spPr>
          <a:xfrm>
            <a:off x="740664" y="4224527"/>
            <a:ext cx="5239512" cy="658368"/>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Mechanisms: capitulation under pressure · verbosity drowns the fact · the fact is noticed but not committed.</a:t>
            </a:r>
          </a:p>
        </p:txBody>
      </p:sp>
      <p:sp>
        <p:nvSpPr>
          <p:cNvPr id="21" name="Rounded Rectangle 20"/>
          <p:cNvSpPr/>
          <p:nvPr/>
        </p:nvSpPr>
        <p:spPr>
          <a:xfrm>
            <a:off x="740664" y="4837176"/>
            <a:ext cx="5239512" cy="438912"/>
          </a:xfrm>
          <a:prstGeom prst="roundRect">
            <a:avLst>
              <a:gd name="adj" fmla="val 12000"/>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4873752"/>
            <a:ext cx="4983480" cy="365760"/>
          </a:xfrm>
          <a:prstGeom prst="rect">
            <a:avLst/>
          </a:prstGeom>
          <a:noFill/>
        </p:spPr>
        <p:txBody>
          <a:bodyPr wrap="square" lIns="0" rIns="0" tIns="0" bIns="0" anchor="ctr">
            <a:spAutoFit/>
          </a:bodyPr>
          <a:lstStyle/>
          <a:p>
            <a:pPr algn="l">
              <a:lnSpc>
                <a:spcPct val="115000"/>
              </a:lnSpc>
            </a:pPr>
            <a:r>
              <a:rPr sz="1100" b="0" i="1">
                <a:solidFill>
                  <a:srgbClr val="21295C"/>
                </a:solidFill>
                <a:latin typeface="Arial"/>
              </a:rPr>
              <a:t>Caveat: the test is on Letta v0.6.7 — behind the current v0.16.8 (~18 mo).</a:t>
            </a:r>
          </a:p>
        </p:txBody>
      </p:sp>
      <p:sp>
        <p:nvSpPr>
          <p:cNvPr id="23" name="Rounded Rectangle 22"/>
          <p:cNvSpPr/>
          <p:nvPr/>
        </p:nvSpPr>
        <p:spPr>
          <a:xfrm>
            <a:off x="6446520" y="1700784"/>
            <a:ext cx="5257800" cy="3703320"/>
          </a:xfrm>
          <a:prstGeom prst="roundRect">
            <a:avLst>
              <a:gd name="adj" fmla="val 823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02552" y="1901952"/>
            <a:ext cx="4745736" cy="384048"/>
          </a:xfrm>
          <a:prstGeom prst="rect">
            <a:avLst/>
          </a:prstGeom>
          <a:noFill/>
        </p:spPr>
        <p:txBody>
          <a:bodyPr wrap="square" lIns="0" rIns="0" tIns="0" bIns="0" anchor="t">
            <a:spAutoFit/>
          </a:bodyPr>
          <a:lstStyle/>
          <a:p>
            <a:pPr algn="l">
              <a:lnSpc>
                <a:spcPct val="115000"/>
              </a:lnSpc>
            </a:pPr>
            <a:r>
              <a:rPr sz="1600" b="1" i="0">
                <a:solidFill>
                  <a:srgbClr val="21295C"/>
                </a:solidFill>
                <a:latin typeface="Arial"/>
              </a:rPr>
              <a:t>Anthropic Memory Tool — Tier B</a:t>
            </a:r>
          </a:p>
        </p:txBody>
      </p:sp>
      <p:sp>
        <p:nvSpPr>
          <p:cNvPr id="25" name="TextBox 24"/>
          <p:cNvSpPr txBox="1"/>
          <p:nvPr/>
        </p:nvSpPr>
        <p:spPr>
          <a:xfrm>
            <a:off x="6702552" y="2340864"/>
            <a:ext cx="4745736" cy="457200"/>
          </a:xfrm>
          <a:prstGeom prst="rect">
            <a:avLst/>
          </a:prstGeom>
          <a:noFill/>
        </p:spPr>
        <p:txBody>
          <a:bodyPr wrap="square" lIns="0" rIns="0" tIns="0" bIns="0" anchor="t">
            <a:spAutoFit/>
          </a:bodyPr>
          <a:lstStyle/>
          <a:p>
            <a:pPr algn="l">
              <a:lnSpc>
                <a:spcPct val="114000"/>
              </a:lnSpc>
            </a:pPr>
            <a:r>
              <a:rPr sz="1300" b="0" i="0">
                <a:solidFill>
                  <a:srgbClr val="21295C"/>
                </a:solidFill>
                <a:latin typeface="Arial"/>
              </a:rPr>
              <a:t>A strong result overall — but even it loses data on</a:t>
            </a:r>
          </a:p>
        </p:txBody>
      </p:sp>
      <p:sp>
        <p:nvSpPr>
          <p:cNvPr id="26" name="TextBox 25"/>
          <p:cNvSpPr txBox="1"/>
          <p:nvPr/>
        </p:nvSpPr>
        <p:spPr>
          <a:xfrm>
            <a:off x="6702552" y="2779776"/>
            <a:ext cx="4745736" cy="640080"/>
          </a:xfrm>
          <a:prstGeom prst="rect">
            <a:avLst/>
          </a:prstGeom>
          <a:noFill/>
        </p:spPr>
        <p:txBody>
          <a:bodyPr wrap="square" lIns="0" rIns="0" tIns="0" bIns="0" anchor="ctr">
            <a:spAutoFit/>
          </a:bodyPr>
          <a:lstStyle/>
          <a:p>
            <a:pPr algn="l">
              <a:lnSpc>
                <a:spcPct val="115000"/>
              </a:lnSpc>
            </a:pPr>
            <a:r>
              <a:rPr sz="3400" b="1" i="0">
                <a:solidFill>
                  <a:srgbClr val="F0AB00"/>
                </a:solidFill>
                <a:latin typeface="Arial"/>
              </a:rPr>
              <a:t>17% </a:t>
            </a:r>
            <a:r>
              <a:rPr sz="1600" b="1" i="0">
                <a:solidFill>
                  <a:srgbClr val="21295C"/>
                </a:solidFill>
                <a:latin typeface="Arial"/>
              </a:rPr>
              <a:t>of tasks</a:t>
            </a:r>
          </a:p>
        </p:txBody>
      </p:sp>
      <p:sp>
        <p:nvSpPr>
          <p:cNvPr id="27" name="Oval 26"/>
          <p:cNvSpPr/>
          <p:nvPr/>
        </p:nvSpPr>
        <p:spPr>
          <a:xfrm>
            <a:off x="6720840" y="3611880"/>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922008" y="3566160"/>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an explicit refusal to record an “ephemeral” fact</a:t>
            </a:r>
          </a:p>
        </p:txBody>
      </p:sp>
      <p:sp>
        <p:nvSpPr>
          <p:cNvPr id="29" name="Oval 28"/>
          <p:cNvSpPr/>
          <p:nvPr/>
        </p:nvSpPr>
        <p:spPr>
          <a:xfrm>
            <a:off x="6720840" y="3995928"/>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922008" y="3950208"/>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an unmotivated refusal as “out of scope”</a:t>
            </a:r>
          </a:p>
        </p:txBody>
      </p:sp>
      <p:sp>
        <p:nvSpPr>
          <p:cNvPr id="31" name="Oval 30"/>
          <p:cNvSpPr/>
          <p:nvPr/>
        </p:nvSpPr>
        <p:spPr>
          <a:xfrm>
            <a:off x="6720840" y="4379976"/>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922008" y="4334256"/>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a silent lossy summarization — the detail cannot be recovered</a:t>
            </a:r>
          </a:p>
        </p:txBody>
      </p:sp>
      <p:sp>
        <p:nvSpPr>
          <p:cNvPr id="33" name="Oval 32"/>
          <p:cNvSpPr/>
          <p:nvPr/>
        </p:nvSpPr>
        <p:spPr>
          <a:xfrm>
            <a:off x="6720840" y="4764024"/>
            <a:ext cx="100584" cy="100584"/>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922008" y="4718304"/>
            <a:ext cx="4526280" cy="384048"/>
          </a:xfrm>
          <a:prstGeom prst="rect">
            <a:avLst/>
          </a:prstGeom>
          <a:noFill/>
        </p:spPr>
        <p:txBody>
          <a:bodyPr wrap="square" lIns="0" rIns="0" tIns="0" bIns="0" anchor="t">
            <a:spAutoFit/>
          </a:bodyPr>
          <a:lstStyle/>
          <a:p>
            <a:pPr algn="l">
              <a:lnSpc>
                <a:spcPct val="106000"/>
              </a:lnSpc>
            </a:pPr>
            <a:r>
              <a:rPr sz="1200" b="0" i="0">
                <a:solidFill>
                  <a:srgbClr val="21295C"/>
                </a:solidFill>
                <a:latin typeface="Arial"/>
              </a:rPr>
              <a:t>non-reproducibility: the same conversation twice → a different result</a:t>
            </a:r>
          </a:p>
        </p:txBody>
      </p:sp>
      <p:sp>
        <p:nvSpPr>
          <p:cNvPr id="35" name="TextBox 34"/>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rPr>
              <a:t>agent-harness-registry (live-eval) — Letta Tier D / Memory Tool 17% tail</a:t>
            </a:r>
            <a:r>
              <a:rPr sz="850" i="1">
                <a:solidFill>
                  <a:srgbClr val="5B6678"/>
                </a:solidFill>
                <a:latin typeface="Arial"/>
              </a:rPr>
              <a:t>   ·   agent-harness-registry (workain lab, live-eval 2026-07-05). “Works well” ≠ “works always” — the same lesson as RAG at scale and forgetting.</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An instruction file for an agent is not a “magic inoculation.”</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The operational layer — convention files (the CLAUDE.md / AGENTS.md class) + a task log. The intuition “I wrote an instruction → it's better” diverges from measurement.</a:t>
            </a:r>
          </a:p>
        </p:txBody>
      </p:sp>
      <p:sp>
        <p:nvSpPr>
          <p:cNvPr id="4" name="Rounded Rectangle 3"/>
          <p:cNvSpPr/>
          <p:nvPr/>
        </p:nvSpPr>
        <p:spPr>
          <a:xfrm>
            <a:off x="502920" y="1645920"/>
            <a:ext cx="3657600" cy="3063240"/>
          </a:xfrm>
          <a:prstGeom prst="roundRect">
            <a:avLst>
              <a:gd name="adj" fmla="val 995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notebook-pen-gold.png"/>
          <p:cNvPicPr>
            <a:picLocks noChangeAspect="1"/>
          </p:cNvPicPr>
          <p:nvPr/>
        </p:nvPicPr>
        <p:blipFill>
          <a:blip r:embed="rId2"/>
          <a:stretch>
            <a:fillRect/>
          </a:stretch>
        </p:blipFill>
        <p:spPr>
          <a:xfrm>
            <a:off x="722376" y="1865376"/>
            <a:ext cx="457200" cy="457200"/>
          </a:xfrm>
          <a:prstGeom prst="rect">
            <a:avLst/>
          </a:prstGeom>
        </p:spPr>
      </p:pic>
      <p:sp>
        <p:nvSpPr>
          <p:cNvPr id="6" name="TextBox 5"/>
          <p:cNvSpPr txBox="1"/>
          <p:nvPr/>
        </p:nvSpPr>
        <p:spPr>
          <a:xfrm>
            <a:off x="1289304" y="1883664"/>
            <a:ext cx="2697480" cy="457200"/>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presence paradox</a:t>
            </a:r>
          </a:p>
        </p:txBody>
      </p:sp>
      <p:sp>
        <p:nvSpPr>
          <p:cNvPr id="7" name="TextBox 6"/>
          <p:cNvSpPr txBox="1"/>
          <p:nvPr/>
        </p:nvSpPr>
        <p:spPr>
          <a:xfrm>
            <a:off x="722376" y="2487168"/>
            <a:ext cx="3218688" cy="160020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RCT (Gloaguen et al. 2026): the mere presence of an instruction file gives NO significant gain</a:t>
            </a:r>
            <a:r>
              <a:rPr sz="650" baseline="30000" b="0" i="1">
                <a:latin typeface="Arial"/>
                <a:cs typeface="Arial"/>
                <a:ea typeface="Arial"/>
                <a:solidFill>
                  <a:srgbClr val="1C7293"/>
                </a:solidFill>
              </a:rPr>
              <a:t>[1]</a:t>
            </a:r>
            <a:r>
              <a:rPr sz="1250" b="0" i="0">
                <a:latin typeface="Arial"/>
                <a:cs typeface="Arial"/>
                <a:ea typeface="Arial"/>
                <a:solidFill>
                  <a:srgbClr val="21295C"/>
                </a:solidFill>
              </a:rPr>
              <a:t> in success — while cost and the number of steps grow.</a:t>
            </a:r>
          </a:p>
        </p:txBody>
      </p:sp>
      <p:sp>
        <p:nvSpPr>
          <p:cNvPr id="8" name="Rounded Rectangle 7"/>
          <p:cNvSpPr/>
          <p:nvPr/>
        </p:nvSpPr>
        <p:spPr>
          <a:xfrm>
            <a:off x="704088" y="3922776"/>
            <a:ext cx="3255264" cy="6583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32104" y="3977640"/>
            <a:ext cx="3035808" cy="566928"/>
          </a:xfrm>
          <a:prstGeom prst="rect">
            <a:avLst/>
          </a:prstGeom>
          <a:noFill/>
        </p:spPr>
        <p:txBody>
          <a:bodyPr wrap="square" lIns="0" rIns="0" tIns="0" bIns="0" anchor="ctr">
            <a:spAutoFit/>
          </a:bodyPr>
          <a:lstStyle/>
          <a:p>
            <a:pPr algn="l">
              <a:lnSpc>
                <a:spcPct val="110000"/>
              </a:lnSpc>
            </a:pPr>
            <a:r>
              <a:rPr sz="1150" b="0" i="1">
                <a:solidFill>
                  <a:srgbClr val="21295C"/>
                </a:solidFill>
                <a:latin typeface="Arial"/>
              </a:rPr>
              <a:t>It helps only where it actually fills a documentation gap.</a:t>
            </a:r>
          </a:p>
        </p:txBody>
      </p:sp>
      <p:sp>
        <p:nvSpPr>
          <p:cNvPr id="10" name="Rounded Rectangle 9"/>
          <p:cNvSpPr/>
          <p:nvPr/>
        </p:nvSpPr>
        <p:spPr>
          <a:xfrm>
            <a:off x="4279392" y="1645920"/>
            <a:ext cx="3657600"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brain-circuit-mid.png"/>
          <p:cNvPicPr>
            <a:picLocks noChangeAspect="1"/>
          </p:cNvPicPr>
          <p:nvPr/>
        </p:nvPicPr>
        <p:blipFill>
          <a:blip r:embed="rId3"/>
          <a:stretch>
            <a:fillRect/>
          </a:stretch>
        </p:blipFill>
        <p:spPr>
          <a:xfrm>
            <a:off x="4498848" y="1865376"/>
            <a:ext cx="457200" cy="457200"/>
          </a:xfrm>
          <a:prstGeom prst="rect">
            <a:avLst/>
          </a:prstGeom>
        </p:spPr>
      </p:pic>
      <p:sp>
        <p:nvSpPr>
          <p:cNvPr id="12" name="TextBox 11"/>
          <p:cNvSpPr txBox="1"/>
          <p:nvPr/>
        </p:nvSpPr>
        <p:spPr>
          <a:xfrm>
            <a:off x="5065776" y="1883664"/>
            <a:ext cx="2697480" cy="457200"/>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Honest Lying</a:t>
            </a:r>
          </a:p>
        </p:txBody>
      </p:sp>
      <p:sp>
        <p:nvSpPr>
          <p:cNvPr id="13" name="TextBox 12"/>
          <p:cNvSpPr txBox="1"/>
          <p:nvPr/>
        </p:nvSpPr>
        <p:spPr>
          <a:xfrm>
            <a:off x="4498848" y="2487168"/>
            <a:ext cx="3218688" cy="160020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Dixit, Kamal, Oates 2026: self-authored memory can ENTRENCH a false belief — the log cements an early error instead of revising it.</a:t>
            </a:r>
          </a:p>
        </p:txBody>
      </p:sp>
      <p:sp>
        <p:nvSpPr>
          <p:cNvPr id="14" name="Rounded Rectangle 13"/>
          <p:cNvSpPr/>
          <p:nvPr/>
        </p:nvSpPr>
        <p:spPr>
          <a:xfrm>
            <a:off x="4480559" y="3922776"/>
            <a:ext cx="3255264" cy="6583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608576" y="3977640"/>
            <a:ext cx="3035808" cy="566928"/>
          </a:xfrm>
          <a:prstGeom prst="rect">
            <a:avLst/>
          </a:prstGeom>
          <a:noFill/>
        </p:spPr>
        <p:txBody>
          <a:bodyPr wrap="square" lIns="0" rIns="0" tIns="0" bIns="0" anchor="ctr">
            <a:spAutoFit/>
          </a:bodyPr>
          <a:lstStyle/>
          <a:p>
            <a:pPr algn="l">
              <a:lnSpc>
                <a:spcPct val="110000"/>
              </a:lnSpc>
            </a:pPr>
            <a:r>
              <a:rPr sz="1150" b="0" i="1">
                <a:solidFill>
                  <a:srgbClr val="5B6678"/>
                </a:solidFill>
                <a:latin typeface="Arial"/>
              </a:rPr>
              <a:t>The reflection is wrong → later attempts rely on it.</a:t>
            </a:r>
          </a:p>
        </p:txBody>
      </p:sp>
      <p:sp>
        <p:nvSpPr>
          <p:cNvPr id="16" name="Rounded Rectangle 15"/>
          <p:cNvSpPr/>
          <p:nvPr/>
        </p:nvSpPr>
        <p:spPr>
          <a:xfrm>
            <a:off x="8055863" y="1645920"/>
            <a:ext cx="3657600" cy="3063240"/>
          </a:xfrm>
          <a:prstGeom prst="roundRect">
            <a:avLst>
              <a:gd name="adj" fmla="val 995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triangle-alert-mid.png"/>
          <p:cNvPicPr>
            <a:picLocks noChangeAspect="1"/>
          </p:cNvPicPr>
          <p:nvPr/>
        </p:nvPicPr>
        <p:blipFill>
          <a:blip r:embed="rId4"/>
          <a:stretch>
            <a:fillRect/>
          </a:stretch>
        </p:blipFill>
        <p:spPr>
          <a:xfrm>
            <a:off x="8275319" y="1865376"/>
            <a:ext cx="457200" cy="457200"/>
          </a:xfrm>
          <a:prstGeom prst="rect">
            <a:avLst/>
          </a:prstGeom>
        </p:spPr>
      </p:pic>
      <p:sp>
        <p:nvSpPr>
          <p:cNvPr id="18" name="TextBox 17"/>
          <p:cNvSpPr txBox="1"/>
          <p:nvPr/>
        </p:nvSpPr>
        <p:spPr>
          <a:xfrm>
            <a:off x="8842247" y="1883664"/>
            <a:ext cx="2697480" cy="457200"/>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claude-code#51735</a:t>
            </a:r>
          </a:p>
        </p:txBody>
      </p:sp>
      <p:sp>
        <p:nvSpPr>
          <p:cNvPr id="19" name="TextBox 18"/>
          <p:cNvSpPr txBox="1"/>
          <p:nvPr/>
        </p:nvSpPr>
        <p:spPr>
          <a:xfrm>
            <a:off x="8275319" y="2487168"/>
            <a:ext cx="3218688" cy="160020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A real case: an error acknowledged in writing did NOT prevent it from recurring 25 days later</a:t>
            </a:r>
            <a:r>
              <a:rPr sz="650" baseline="30000" b="0" i="1">
                <a:latin typeface="Arial"/>
                <a:cs typeface="Arial"/>
                <a:ea typeface="Arial"/>
                <a:solidFill>
                  <a:srgbClr val="1C7293"/>
                </a:solidFill>
              </a:rPr>
              <a:t>[2]</a:t>
            </a:r>
            <a:r>
              <a:rPr sz="1250" b="0" i="0">
                <a:latin typeface="Arial"/>
                <a:cs typeface="Arial"/>
                <a:ea typeface="Arial"/>
                <a:solidFill>
                  <a:srgbClr val="21295C"/>
                </a:solidFill>
              </a:rPr>
              <a:t>.</a:t>
            </a:r>
          </a:p>
        </p:txBody>
      </p:sp>
      <p:sp>
        <p:nvSpPr>
          <p:cNvPr id="20" name="Rounded Rectangle 19"/>
          <p:cNvSpPr/>
          <p:nvPr/>
        </p:nvSpPr>
        <p:spPr>
          <a:xfrm>
            <a:off x="8257031" y="3922776"/>
            <a:ext cx="3255264" cy="658368"/>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85047" y="3977640"/>
            <a:ext cx="3035808" cy="566928"/>
          </a:xfrm>
          <a:prstGeom prst="rect">
            <a:avLst/>
          </a:prstGeom>
          <a:noFill/>
        </p:spPr>
        <p:txBody>
          <a:bodyPr wrap="square" lIns="0" rIns="0" tIns="0" bIns="0" anchor="ctr">
            <a:spAutoFit/>
          </a:bodyPr>
          <a:lstStyle/>
          <a:p>
            <a:pPr algn="l">
              <a:lnSpc>
                <a:spcPct val="110000"/>
              </a:lnSpc>
            </a:pPr>
            <a:r>
              <a:rPr sz="1150" b="0" i="1">
                <a:solidFill>
                  <a:srgbClr val="5B6678"/>
                </a:solidFill>
                <a:latin typeface="Arial"/>
              </a:rPr>
              <a:t>A written record of a failure ≠ a guarantee that behavior will change.</a:t>
            </a:r>
          </a:p>
        </p:txBody>
      </p:sp>
      <p:sp>
        <p:nvSpPr>
          <p:cNvPr id="22" name="Rounded Rectangle 21"/>
          <p:cNvSpPr/>
          <p:nvPr/>
        </p:nvSpPr>
        <p:spPr>
          <a:xfrm>
            <a:off x="502920" y="4846320"/>
            <a:ext cx="11201400" cy="822960"/>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04088" y="4901183"/>
            <a:ext cx="10799064" cy="713232"/>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Useful when it fills a real gap; useless when it duplicates what's available to the model; harmful when self-authored memory entrenches an error. The same pattern as a role in the prompt: “add X → better” is not confirmed by measurement.</a:t>
            </a:r>
          </a:p>
        </p:txBody>
      </p:sp>
      <p:sp>
        <p:nvSpPr>
          <p:cNvPr id="24" name="TextBox 2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Gloaguen et al. 2026 — Evaluating AGENTS.md (presence paradox)</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7"/>
              </a:rPr>
              <a:t>GitHub anthropics/claude-code#51735 (the error repeated after 25 days)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Skills, subagents, access — and the trust boundary.</a:t>
            </a:r>
          </a:p>
        </p:txBody>
      </p:sp>
      <p:sp>
        <p:nvSpPr>
          <p:cNvPr id="3" name="Rounded Rectangle 2"/>
          <p:cNvSpPr/>
          <p:nvPr/>
        </p:nvSpPr>
        <p:spPr>
          <a:xfrm>
            <a:off x="502920" y="1024128"/>
            <a:ext cx="36576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zzle-mid.png"/>
          <p:cNvPicPr>
            <a:picLocks noChangeAspect="1"/>
          </p:cNvPicPr>
          <p:nvPr/>
        </p:nvPicPr>
        <p:blipFill>
          <a:blip r:embed="rId2"/>
          <a:stretch>
            <a:fillRect/>
          </a:stretch>
        </p:blipFill>
        <p:spPr>
          <a:xfrm>
            <a:off x="704088" y="1225296"/>
            <a:ext cx="420624" cy="420624"/>
          </a:xfrm>
          <a:prstGeom prst="rect">
            <a:avLst/>
          </a:prstGeom>
        </p:spPr>
      </p:pic>
      <p:sp>
        <p:nvSpPr>
          <p:cNvPr id="5" name="TextBox 4"/>
          <p:cNvSpPr txBox="1"/>
          <p:nvPr/>
        </p:nvSpPr>
        <p:spPr>
          <a:xfrm>
            <a:off x="1234440" y="1225296"/>
            <a:ext cx="2743200" cy="384048"/>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Skill</a:t>
            </a:r>
          </a:p>
        </p:txBody>
      </p:sp>
      <p:sp>
        <p:nvSpPr>
          <p:cNvPr id="6" name="TextBox 5"/>
          <p:cNvSpPr txBox="1"/>
          <p:nvPr/>
        </p:nvSpPr>
        <p:spPr>
          <a:xfrm>
            <a:off x="722376" y="1700784"/>
            <a:ext cx="321868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a reusable “how-to” procedure for a recurring task</a:t>
            </a:r>
          </a:p>
        </p:txBody>
      </p:sp>
      <p:sp>
        <p:nvSpPr>
          <p:cNvPr id="7" name="Rounded Rectangle 6"/>
          <p:cNvSpPr/>
          <p:nvPr/>
        </p:nvSpPr>
        <p:spPr>
          <a:xfrm>
            <a:off x="4279392" y="1024128"/>
            <a:ext cx="36576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users-mid.png"/>
          <p:cNvPicPr>
            <a:picLocks noChangeAspect="1"/>
          </p:cNvPicPr>
          <p:nvPr/>
        </p:nvPicPr>
        <p:blipFill>
          <a:blip r:embed="rId3"/>
          <a:stretch>
            <a:fillRect/>
          </a:stretch>
        </p:blipFill>
        <p:spPr>
          <a:xfrm>
            <a:off x="4480559" y="1225296"/>
            <a:ext cx="420624" cy="420624"/>
          </a:xfrm>
          <a:prstGeom prst="rect">
            <a:avLst/>
          </a:prstGeom>
        </p:spPr>
      </p:pic>
      <p:sp>
        <p:nvSpPr>
          <p:cNvPr id="9" name="TextBox 8"/>
          <p:cNvSpPr txBox="1"/>
          <p:nvPr/>
        </p:nvSpPr>
        <p:spPr>
          <a:xfrm>
            <a:off x="5010912" y="1225296"/>
            <a:ext cx="2743200" cy="384048"/>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Subagent</a:t>
            </a:r>
          </a:p>
        </p:txBody>
      </p:sp>
      <p:sp>
        <p:nvSpPr>
          <p:cNvPr id="10" name="TextBox 9"/>
          <p:cNvSpPr txBox="1"/>
          <p:nvPr/>
        </p:nvSpPr>
        <p:spPr>
          <a:xfrm>
            <a:off x="4498848" y="1700784"/>
            <a:ext cx="321868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a separate context window: don't clutter the main one + isolate the untrusted</a:t>
            </a:r>
          </a:p>
        </p:txBody>
      </p:sp>
      <p:sp>
        <p:nvSpPr>
          <p:cNvPr id="11" name="Rounded Rectangle 10"/>
          <p:cNvSpPr/>
          <p:nvPr/>
        </p:nvSpPr>
        <p:spPr>
          <a:xfrm>
            <a:off x="8055863" y="1024128"/>
            <a:ext cx="3657600" cy="1417320"/>
          </a:xfrm>
          <a:prstGeom prst="roundRect">
            <a:avLst>
              <a:gd name="adj" fmla="val 21505"/>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able-mid.png"/>
          <p:cNvPicPr>
            <a:picLocks noChangeAspect="1"/>
          </p:cNvPicPr>
          <p:nvPr/>
        </p:nvPicPr>
        <p:blipFill>
          <a:blip r:embed="rId4"/>
          <a:stretch>
            <a:fillRect/>
          </a:stretch>
        </p:blipFill>
        <p:spPr>
          <a:xfrm>
            <a:off x="8257031" y="1225296"/>
            <a:ext cx="420624" cy="420624"/>
          </a:xfrm>
          <a:prstGeom prst="rect">
            <a:avLst/>
          </a:prstGeom>
        </p:spPr>
      </p:pic>
      <p:sp>
        <p:nvSpPr>
          <p:cNvPr id="13" name="TextBox 12"/>
          <p:cNvSpPr txBox="1"/>
          <p:nvPr/>
        </p:nvSpPr>
        <p:spPr>
          <a:xfrm>
            <a:off x="8787384" y="1225296"/>
            <a:ext cx="2743200" cy="384048"/>
          </a:xfrm>
          <a:prstGeom prst="rect">
            <a:avLst/>
          </a:prstGeom>
          <a:noFill/>
        </p:spPr>
        <p:txBody>
          <a:bodyPr wrap="square" lIns="0" rIns="0" tIns="0" bIns="0" anchor="ctr">
            <a:spAutoFit/>
          </a:bodyPr>
          <a:lstStyle/>
          <a:p>
            <a:pPr algn="l">
              <a:lnSpc>
                <a:spcPct val="115000"/>
              </a:lnSpc>
            </a:pPr>
            <a:r>
              <a:rPr sz="1500" b="1" i="0">
                <a:solidFill>
                  <a:srgbClr val="065A82"/>
                </a:solidFill>
                <a:latin typeface="Arial"/>
              </a:rPr>
              <a:t>MCP access</a:t>
            </a:r>
          </a:p>
        </p:txBody>
      </p:sp>
      <p:sp>
        <p:nvSpPr>
          <p:cNvPr id="14" name="TextBox 13"/>
          <p:cNvSpPr txBox="1"/>
          <p:nvPr/>
        </p:nvSpPr>
        <p:spPr>
          <a:xfrm>
            <a:off x="8275319" y="1700784"/>
            <a:ext cx="3218688" cy="676656"/>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each connection is a new trust boundary and retention policy</a:t>
            </a:r>
          </a:p>
        </p:txBody>
      </p:sp>
      <p:sp>
        <p:nvSpPr>
          <p:cNvPr id="15" name="Rounded Rectangle 14"/>
          <p:cNvSpPr/>
          <p:nvPr/>
        </p:nvSpPr>
        <p:spPr>
          <a:xfrm>
            <a:off x="502920" y="2615184"/>
            <a:ext cx="11201400" cy="3291840"/>
          </a:xfrm>
          <a:prstGeom prst="roundRect">
            <a:avLst>
              <a:gd name="adj" fmla="val 9259"/>
            </a:avLst>
          </a:prstGeom>
          <a:solidFill>
            <a:srgbClr val="FDF3DC"/>
          </a:solidFill>
          <a:ln w="381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ield-alert-gold.png"/>
          <p:cNvPicPr>
            <a:picLocks noChangeAspect="1"/>
          </p:cNvPicPr>
          <p:nvPr/>
        </p:nvPicPr>
        <p:blipFill>
          <a:blip r:embed="rId5"/>
          <a:stretch>
            <a:fillRect/>
          </a:stretch>
        </p:blipFill>
        <p:spPr>
          <a:xfrm>
            <a:off x="749808" y="2816352"/>
            <a:ext cx="512064" cy="512064"/>
          </a:xfrm>
          <a:prstGeom prst="rect">
            <a:avLst/>
          </a:prstGeom>
        </p:spPr>
      </p:pic>
      <p:sp>
        <p:nvSpPr>
          <p:cNvPr id="17" name="TextBox 16"/>
          <p:cNvSpPr txBox="1"/>
          <p:nvPr/>
        </p:nvSpPr>
        <p:spPr>
          <a:xfrm>
            <a:off x="1389888" y="2834639"/>
            <a:ext cx="10058400" cy="402336"/>
          </a:xfrm>
          <a:prstGeom prst="rect">
            <a:avLst/>
          </a:prstGeom>
          <a:noFill/>
        </p:spPr>
        <p:txBody>
          <a:bodyPr wrap="square" lIns="0" rIns="0" tIns="0" bIns="0" anchor="ctr">
            <a:spAutoFit/>
          </a:bodyPr>
          <a:lstStyle/>
          <a:p>
            <a:pPr algn="l">
              <a:lnSpc>
                <a:spcPct val="105000"/>
              </a:lnSpc>
            </a:pPr>
            <a:r>
              <a:rPr sz="1500" b="1" i="0">
                <a:solidFill>
                  <a:srgbClr val="21295C"/>
                </a:solidFill>
                <a:latin typeface="Arial"/>
              </a:rPr>
              <a:t>Security: as soon as an agent delegates and connects, a surface appears that a single call did not have</a:t>
            </a:r>
            <a:r>
              <a:rPr sz="780" baseline="30000" b="0" i="1">
                <a:latin typeface="Arial"/>
                <a:cs typeface="Arial"/>
                <a:ea typeface="Arial"/>
                <a:solidFill>
                  <a:srgbClr val="1C7293"/>
                </a:solidFill>
              </a:rPr>
              <a:t>[2,3]</a:t>
            </a:r>
          </a:p>
        </p:txBody>
      </p:sp>
      <p:sp>
        <p:nvSpPr>
          <p:cNvPr id="18" name="TextBox 17"/>
          <p:cNvSpPr txBox="1"/>
          <p:nvPr/>
        </p:nvSpPr>
        <p:spPr>
          <a:xfrm>
            <a:off x="749808" y="3346704"/>
            <a:ext cx="534924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GitHub MCP heist (May 2025)</a:t>
            </a:r>
          </a:p>
        </p:txBody>
      </p:sp>
      <p:sp>
        <p:nvSpPr>
          <p:cNvPr id="19" name="TextBox 18"/>
          <p:cNvSpPr txBox="1"/>
          <p:nvPr/>
        </p:nvSpPr>
        <p:spPr>
          <a:xfrm>
            <a:off x="749808" y="3657600"/>
            <a:ext cx="5349240" cy="713232"/>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an issue with an embedded instruction + an over-broad token (a PAT for all repos) → the assistant dumped private repositories into a public PR</a:t>
            </a:r>
            <a:r>
              <a:rPr sz="624" baseline="30000" b="0" i="1">
                <a:latin typeface="Arial"/>
                <a:cs typeface="Arial"/>
                <a:ea typeface="Arial"/>
                <a:solidFill>
                  <a:srgbClr val="1C7293"/>
                </a:solidFill>
              </a:rPr>
              <a:t>[1]</a:t>
            </a:r>
            <a:r>
              <a:rPr sz="1200" b="0" i="0">
                <a:latin typeface="Arial"/>
                <a:cs typeface="Arial"/>
                <a:ea typeface="Arial"/>
                <a:solidFill>
                  <a:srgbClr val="21295C"/>
                </a:solidFill>
              </a:rPr>
              <a:t>.</a:t>
            </a:r>
          </a:p>
        </p:txBody>
      </p:sp>
      <p:sp>
        <p:nvSpPr>
          <p:cNvPr id="20" name="Rounded Rectangle 19"/>
          <p:cNvSpPr/>
          <p:nvPr/>
        </p:nvSpPr>
        <p:spPr>
          <a:xfrm>
            <a:off x="749808" y="4407408"/>
            <a:ext cx="5349240" cy="420624"/>
          </a:xfrm>
          <a:prstGeom prst="roundRect">
            <a:avLst>
              <a:gd name="adj" fmla="val 14000"/>
            </a:avLst>
          </a:prstGeom>
          <a:solidFill>
            <a:srgbClr val="FFFFFF"/>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96112" y="4434840"/>
            <a:ext cx="5074920" cy="365760"/>
          </a:xfrm>
          <a:prstGeom prst="rect">
            <a:avLst/>
          </a:prstGeom>
          <a:noFill/>
        </p:spPr>
        <p:txBody>
          <a:bodyPr wrap="square" lIns="0" rIns="0" tIns="0" bIns="0" anchor="ctr">
            <a:spAutoFit/>
          </a:bodyPr>
          <a:lstStyle/>
          <a:p>
            <a:pPr algn="l">
              <a:lnSpc>
                <a:spcPct val="115000"/>
              </a:lnSpc>
            </a:pPr>
            <a:r>
              <a:rPr sz="1200" b="1" i="0">
                <a:solidFill>
                  <a:srgbClr val="21295C"/>
                </a:solidFill>
                <a:latin typeface="Arial"/>
              </a:rPr>
              <a:t>Catastrophe = injection × broad rights. Remove either — the attack fails.</a:t>
            </a:r>
          </a:p>
        </p:txBody>
      </p:sp>
      <p:sp>
        <p:nvSpPr>
          <p:cNvPr id="22" name="TextBox 21"/>
          <p:cNvSpPr txBox="1"/>
          <p:nvPr/>
        </p:nvSpPr>
        <p:spPr>
          <a:xfrm>
            <a:off x="749808" y="4882896"/>
            <a:ext cx="5349240" cy="402336"/>
          </a:xfrm>
          <a:prstGeom prst="rect">
            <a:avLst/>
          </a:prstGeom>
          <a:noFill/>
        </p:spPr>
        <p:txBody>
          <a:bodyPr wrap="square" lIns="0" rIns="0" tIns="0" bIns="0" anchor="t">
            <a:spAutoFit/>
          </a:bodyPr>
          <a:lstStyle/>
          <a:p>
            <a:pPr algn="l">
              <a:lnSpc>
                <a:spcPct val="110000"/>
              </a:lnSpc>
            </a:pPr>
            <a:r>
              <a:rPr sz="1100" b="0" i="1">
                <a:solidFill>
                  <a:srgbClr val="21295C"/>
                </a:solidFill>
                <a:latin typeface="Arial"/>
              </a:rPr>
              <a:t>“We have ZDR” ≠ “stored nowhere”: a court order (NYT v. OpenAI) + third-party/MCP outside ZDR</a:t>
            </a:r>
            <a:r>
              <a:rPr sz="572" baseline="30000" b="0" i="1">
                <a:latin typeface="Arial"/>
                <a:cs typeface="Arial"/>
                <a:ea typeface="Arial"/>
                <a:solidFill>
                  <a:srgbClr val="1C7293"/>
                </a:solidFill>
              </a:rPr>
              <a:t>[4,5]</a:t>
            </a:r>
            <a:r>
              <a:rPr sz="1100" b="0" i="1">
                <a:latin typeface="Arial"/>
                <a:cs typeface="Arial"/>
                <a:ea typeface="Arial"/>
                <a:solidFill>
                  <a:srgbClr val="21295C"/>
                </a:solidFill>
              </a:rPr>
              <a:t>. Regulated data — don't send without ZDR/BAA.</a:t>
            </a:r>
          </a:p>
        </p:txBody>
      </p:sp>
      <p:sp>
        <p:nvSpPr>
          <p:cNvPr id="23" name="TextBox 22"/>
          <p:cNvSpPr txBox="1"/>
          <p:nvPr/>
        </p:nvSpPr>
        <p:spPr>
          <a:xfrm>
            <a:off x="6446520" y="3346704"/>
            <a:ext cx="5029200" cy="310896"/>
          </a:xfrm>
          <a:prstGeom prst="rect">
            <a:avLst/>
          </a:prstGeom>
          <a:noFill/>
        </p:spPr>
        <p:txBody>
          <a:bodyPr wrap="square" lIns="0" rIns="0" tIns="0" bIns="0" anchor="t">
            <a:spAutoFit/>
          </a:bodyPr>
          <a:lstStyle/>
          <a:p>
            <a:pPr algn="l">
              <a:lnSpc>
                <a:spcPct val="115000"/>
              </a:lnSpc>
            </a:pPr>
            <a:r>
              <a:rPr sz="1350" b="1" i="0">
                <a:solidFill>
                  <a:srgbClr val="21295C"/>
                </a:solidFill>
                <a:latin typeface="Arial"/>
              </a:rPr>
              <a:t>4 design rules</a:t>
            </a:r>
          </a:p>
        </p:txBody>
      </p:sp>
      <p:sp>
        <p:nvSpPr>
          <p:cNvPr id="24" name="Oval 23"/>
          <p:cNvSpPr/>
          <p:nvPr/>
        </p:nvSpPr>
        <p:spPr>
          <a:xfrm>
            <a:off x="6446520" y="3721608"/>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46520" y="3721608"/>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1</a:t>
            </a:r>
          </a:p>
        </p:txBody>
      </p:sp>
      <p:sp>
        <p:nvSpPr>
          <p:cNvPr id="26" name="TextBox 25"/>
          <p:cNvSpPr txBox="1"/>
          <p:nvPr/>
        </p:nvSpPr>
        <p:spPr>
          <a:xfrm>
            <a:off x="6830568" y="3675888"/>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Least-privilege</a:t>
            </a:r>
          </a:p>
        </p:txBody>
      </p:sp>
      <p:sp>
        <p:nvSpPr>
          <p:cNvPr id="27" name="TextBox 26"/>
          <p:cNvSpPr txBox="1"/>
          <p:nvPr/>
        </p:nvSpPr>
        <p:spPr>
          <a:xfrm>
            <a:off x="6830568" y="3931920"/>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minimum tokens/rights</a:t>
            </a:r>
          </a:p>
        </p:txBody>
      </p:sp>
      <p:sp>
        <p:nvSpPr>
          <p:cNvPr id="28" name="Oval 27"/>
          <p:cNvSpPr/>
          <p:nvPr/>
        </p:nvSpPr>
        <p:spPr>
          <a:xfrm>
            <a:off x="6446520" y="4251960"/>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46520" y="4251960"/>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2</a:t>
            </a:r>
          </a:p>
        </p:txBody>
      </p:sp>
      <p:sp>
        <p:nvSpPr>
          <p:cNvPr id="30" name="TextBox 29"/>
          <p:cNvSpPr txBox="1"/>
          <p:nvPr/>
        </p:nvSpPr>
        <p:spPr>
          <a:xfrm>
            <a:off x="6830568" y="4206240"/>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Isolate the untrusted</a:t>
            </a:r>
          </a:p>
        </p:txBody>
      </p:sp>
      <p:sp>
        <p:nvSpPr>
          <p:cNvPr id="31" name="TextBox 30"/>
          <p:cNvSpPr txBox="1"/>
          <p:nvPr/>
        </p:nvSpPr>
        <p:spPr>
          <a:xfrm>
            <a:off x="6830568" y="4462272"/>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separate from privileges (subagent)</a:t>
            </a:r>
          </a:p>
        </p:txBody>
      </p:sp>
      <p:sp>
        <p:nvSpPr>
          <p:cNvPr id="32" name="Oval 31"/>
          <p:cNvSpPr/>
          <p:nvPr/>
        </p:nvSpPr>
        <p:spPr>
          <a:xfrm>
            <a:off x="6446520" y="4782312"/>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46520" y="4782312"/>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3</a:t>
            </a:r>
          </a:p>
        </p:txBody>
      </p:sp>
      <p:sp>
        <p:nvSpPr>
          <p:cNvPr id="34" name="TextBox 33"/>
          <p:cNvSpPr txBox="1"/>
          <p:nvPr/>
        </p:nvSpPr>
        <p:spPr>
          <a:xfrm>
            <a:off x="6830568" y="4736592"/>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Human-in-the-loop on write</a:t>
            </a:r>
          </a:p>
        </p:txBody>
      </p:sp>
      <p:sp>
        <p:nvSpPr>
          <p:cNvPr id="35" name="TextBox 34"/>
          <p:cNvSpPr txBox="1"/>
          <p:nvPr/>
        </p:nvSpPr>
        <p:spPr>
          <a:xfrm>
            <a:off x="6830568" y="4992624"/>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the irreversible — only through a human</a:t>
            </a:r>
          </a:p>
        </p:txBody>
      </p:sp>
      <p:sp>
        <p:nvSpPr>
          <p:cNvPr id="36" name="Oval 35"/>
          <p:cNvSpPr/>
          <p:nvPr/>
        </p:nvSpPr>
        <p:spPr>
          <a:xfrm>
            <a:off x="6446520" y="5312664"/>
            <a:ext cx="274320" cy="274320"/>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46520" y="5312664"/>
            <a:ext cx="274320" cy="27432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4</a:t>
            </a:r>
          </a:p>
        </p:txBody>
      </p:sp>
      <p:sp>
        <p:nvSpPr>
          <p:cNvPr id="38" name="TextBox 37"/>
          <p:cNvSpPr txBox="1"/>
          <p:nvPr/>
        </p:nvSpPr>
        <p:spPr>
          <a:xfrm>
            <a:off x="6830568" y="5266944"/>
            <a:ext cx="5029200" cy="274320"/>
          </a:xfrm>
          <a:prstGeom prst="rect">
            <a:avLst/>
          </a:prstGeom>
          <a:noFill/>
        </p:spPr>
        <p:txBody>
          <a:bodyPr wrap="square" lIns="0" rIns="0" tIns="0" bIns="0" anchor="t">
            <a:spAutoFit/>
          </a:bodyPr>
          <a:lstStyle/>
          <a:p>
            <a:pPr algn="l">
              <a:lnSpc>
                <a:spcPct val="115000"/>
              </a:lnSpc>
            </a:pPr>
            <a:r>
              <a:rPr sz="1300" b="1" i="0">
                <a:solidFill>
                  <a:srgbClr val="21295C"/>
                </a:solidFill>
                <a:latin typeface="Arial"/>
              </a:rPr>
              <a:t>Allowlist / pin</a:t>
            </a:r>
          </a:p>
        </p:txBody>
      </p:sp>
      <p:sp>
        <p:nvSpPr>
          <p:cNvPr id="39" name="TextBox 38"/>
          <p:cNvSpPr txBox="1"/>
          <p:nvPr/>
        </p:nvSpPr>
        <p:spPr>
          <a:xfrm>
            <a:off x="6830568" y="5522976"/>
            <a:ext cx="5029200" cy="256032"/>
          </a:xfrm>
          <a:prstGeom prst="rect">
            <a:avLst/>
          </a:prstGeom>
          <a:noFill/>
        </p:spPr>
        <p:txBody>
          <a:bodyPr wrap="square" lIns="0" rIns="0" tIns="0" bIns="0" anchor="t">
            <a:spAutoFit/>
          </a:bodyPr>
          <a:lstStyle/>
          <a:p>
            <a:pPr algn="l">
              <a:lnSpc>
                <a:spcPct val="115000"/>
              </a:lnSpc>
            </a:pPr>
            <a:r>
              <a:rPr sz="1100" b="0" i="0">
                <a:solidFill>
                  <a:srgbClr val="5B6678"/>
                </a:solidFill>
                <a:latin typeface="Arial"/>
              </a:rPr>
              <a:t>audited versions; deny-by-default</a:t>
            </a:r>
          </a:p>
        </p:txBody>
      </p:sp>
      <p:sp>
        <p:nvSpPr>
          <p:cNvPr id="40" name="TextBox 3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740" b="1" i="1">
                <a:solidFill>
                  <a:srgbClr val="065A82"/>
                </a:solidFill>
                <a:latin typeface="Arial"/>
              </a:rPr>
              <a:t>[1] </a:t>
            </a:r>
            <a:r>
              <a:rPr sz="740" i="1">
                <a:solidFill>
                  <a:srgbClr val="1C7293"/>
                </a:solidFill>
                <a:latin typeface="Arial"/>
                <a:hlinkClick r:id="rId7"/>
              </a:rPr>
              <a:t>Docker — MCP Horror Stories: GitHub Prompt Injection</a:t>
            </a:r>
            <a:r>
              <a:rPr sz="740" i="1">
                <a:solidFill>
                  <a:srgbClr val="1C7293"/>
                </a:solidFill>
                <a:latin typeface="Arial"/>
              </a:rPr>
              <a:t>   ·   </a:t>
            </a:r>
            <a:r>
              <a:rPr sz="740" b="1" i="1">
                <a:solidFill>
                  <a:srgbClr val="065A82"/>
                </a:solidFill>
                <a:latin typeface="Arial"/>
              </a:rPr>
              <a:t>[2] </a:t>
            </a:r>
            <a:r>
              <a:rPr sz="740" i="1">
                <a:solidFill>
                  <a:srgbClr val="1C7293"/>
                </a:solidFill>
                <a:latin typeface="Arial"/>
                <a:hlinkClick r:id="rId8"/>
              </a:rPr>
              <a:t>Simon Willison — Prompt injection via MCP</a:t>
            </a:r>
            <a:r>
              <a:rPr sz="740" i="1">
                <a:solidFill>
                  <a:srgbClr val="1C7293"/>
                </a:solidFill>
                <a:latin typeface="Arial"/>
              </a:rPr>
              <a:t>   ·   </a:t>
            </a:r>
            <a:r>
              <a:rPr sz="740" b="1" i="1">
                <a:solidFill>
                  <a:srgbClr val="065A82"/>
                </a:solidFill>
                <a:latin typeface="Arial"/>
              </a:rPr>
              <a:t>[3] </a:t>
            </a:r>
            <a:r>
              <a:rPr sz="740" i="1">
                <a:solidFill>
                  <a:srgbClr val="1C7293"/>
                </a:solidFill>
                <a:latin typeface="Arial"/>
                <a:hlinkClick r:id="rId9"/>
              </a:rPr>
              <a:t>Palo Alto Unit 42 — MCP Attack Vectors</a:t>
            </a:r>
            <a:r>
              <a:rPr sz="740" i="1">
                <a:solidFill>
                  <a:srgbClr val="1C7293"/>
                </a:solidFill>
                <a:latin typeface="Arial"/>
              </a:rPr>
              <a:t>   ·   </a:t>
            </a:r>
            <a:r>
              <a:rPr sz="740" b="1" i="1">
                <a:solidFill>
                  <a:srgbClr val="065A82"/>
                </a:solidFill>
                <a:latin typeface="Arial"/>
              </a:rPr>
              <a:t>[4] </a:t>
            </a:r>
            <a:r>
              <a:rPr sz="740" i="1">
                <a:solidFill>
                  <a:srgbClr val="1C7293"/>
                </a:solidFill>
                <a:latin typeface="Arial"/>
                <a:hlinkClick r:id="rId10"/>
              </a:rPr>
              <a:t>Bloomberg Law — NYT v. OpenAI (court ordered logs to be kept)</a:t>
            </a:r>
            <a:r>
              <a:rPr sz="740" i="1">
                <a:solidFill>
                  <a:srgbClr val="1C7293"/>
                </a:solidFill>
                <a:latin typeface="Arial"/>
              </a:rPr>
              <a:t>   ·   </a:t>
            </a:r>
            <a:r>
              <a:rPr sz="740" b="1" i="1">
                <a:solidFill>
                  <a:srgbClr val="065A82"/>
                </a:solidFill>
                <a:latin typeface="Arial"/>
              </a:rPr>
              <a:t>[5] </a:t>
            </a:r>
            <a:r>
              <a:rPr sz="740" i="1">
                <a:solidFill>
                  <a:srgbClr val="1C7293"/>
                </a:solidFill>
                <a:latin typeface="Arial"/>
                <a:hlinkClick r:id="rId11"/>
              </a:rPr>
              <a:t>Anthropic — API and Data Retention (the bounds of ZDR)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500" b="1" i="0">
                <a:solidFill>
                  <a:srgbClr val="21295C"/>
                </a:solidFill>
                <a:latin typeface="Arial"/>
              </a:rPr>
              <a:t>Real coding agents — through the harness lens.</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The difference between the tools is not “model quality,” but which harness slots are filled and where the agent physically lives</a:t>
            </a:r>
            <a:r>
              <a:rPr sz="702" baseline="30000" b="0" i="1">
                <a:latin typeface="Arial"/>
                <a:cs typeface="Arial"/>
                <a:ea typeface="Arial"/>
                <a:solidFill>
                  <a:srgbClr val="1C7293"/>
                </a:solidFill>
              </a:rPr>
              <a:t>[1]</a:t>
            </a:r>
            <a:r>
              <a:rPr sz="1350" b="0" i="1">
                <a:latin typeface="Arial"/>
                <a:cs typeface="Arial"/>
                <a:ea typeface="Arial"/>
                <a:solidFill>
                  <a:srgbClr val="065A82"/>
                </a:solidFill>
              </a:rPr>
              <a:t>.</a:t>
            </a:r>
          </a:p>
        </p:txBody>
      </p:sp>
      <p:sp>
        <p:nvSpPr>
          <p:cNvPr id="4" name="Rounded Rectangle 3"/>
          <p:cNvSpPr/>
          <p:nvPr/>
        </p:nvSpPr>
        <p:spPr>
          <a:xfrm>
            <a:off x="502920" y="1591056"/>
            <a:ext cx="2761488" cy="3703320"/>
          </a:xfrm>
          <a:prstGeom prst="roundRect">
            <a:avLst>
              <a:gd name="adj" fmla="val 110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ode-mid.png"/>
          <p:cNvPicPr>
            <a:picLocks noChangeAspect="1"/>
          </p:cNvPicPr>
          <p:nvPr/>
        </p:nvPicPr>
        <p:blipFill>
          <a:blip r:embed="rId2"/>
          <a:stretch>
            <a:fillRect/>
          </a:stretch>
        </p:blipFill>
        <p:spPr>
          <a:xfrm>
            <a:off x="704088" y="1792224"/>
            <a:ext cx="402336" cy="402336"/>
          </a:xfrm>
          <a:prstGeom prst="rect">
            <a:avLst/>
          </a:prstGeom>
        </p:spPr>
      </p:pic>
      <p:sp>
        <p:nvSpPr>
          <p:cNvPr id="6" name="TextBox 5"/>
          <p:cNvSpPr txBox="1"/>
          <p:nvPr/>
        </p:nvSpPr>
        <p:spPr>
          <a:xfrm>
            <a:off x="1197864"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Claude Code</a:t>
            </a:r>
          </a:p>
        </p:txBody>
      </p:sp>
      <p:sp>
        <p:nvSpPr>
          <p:cNvPr id="7" name="TextBox 6"/>
          <p:cNvSpPr txBox="1"/>
          <p:nvPr/>
        </p:nvSpPr>
        <p:spPr>
          <a:xfrm>
            <a:off x="72237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CLI + IDE · proprietary</a:t>
            </a:r>
          </a:p>
        </p:txBody>
      </p:sp>
      <p:sp>
        <p:nvSpPr>
          <p:cNvPr id="8" name="TextBox 7"/>
          <p:cNvSpPr txBox="1"/>
          <p:nvPr/>
        </p:nvSpPr>
        <p:spPr>
          <a:xfrm>
            <a:off x="72237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a broad harness: memory, instruction files, skills, full subagents, MCP — almost all 5 slots</a:t>
            </a:r>
          </a:p>
        </p:txBody>
      </p:sp>
      <p:sp>
        <p:nvSpPr>
          <p:cNvPr id="9" name="Rounded Rectangle 8"/>
          <p:cNvSpPr/>
          <p:nvPr/>
        </p:nvSpPr>
        <p:spPr>
          <a:xfrm>
            <a:off x="685800" y="4379976"/>
            <a:ext cx="2395728" cy="78638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5528" y="4434840"/>
            <a:ext cx="2176272" cy="694944"/>
          </a:xfrm>
          <a:prstGeom prst="rect">
            <a:avLst/>
          </a:prstGeom>
          <a:noFill/>
        </p:spPr>
        <p:txBody>
          <a:bodyPr wrap="square" lIns="0" rIns="0" tIns="0" bIns="0" anchor="t">
            <a:spAutoFit/>
          </a:bodyPr>
          <a:lstStyle/>
          <a:p>
            <a:pPr algn="l">
              <a:lnSpc>
                <a:spcPct val="110000"/>
              </a:lnSpc>
            </a:pPr>
            <a:r>
              <a:rPr sz="1000" b="0" i="1">
                <a:solidFill>
                  <a:srgbClr val="5B6678"/>
                </a:solidFill>
                <a:latin typeface="Arial"/>
              </a:rPr>
              <a:t>the price is large operational complexity</a:t>
            </a:r>
          </a:p>
        </p:txBody>
      </p:sp>
      <p:sp>
        <p:nvSpPr>
          <p:cNvPr id="11" name="Rounded Rectangle 10"/>
          <p:cNvSpPr/>
          <p:nvPr/>
        </p:nvSpPr>
        <p:spPr>
          <a:xfrm>
            <a:off x="3383280" y="1591056"/>
            <a:ext cx="2761488" cy="3703320"/>
          </a:xfrm>
          <a:prstGeom prst="roundRect">
            <a:avLst>
              <a:gd name="adj" fmla="val 110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ode-mid.png"/>
          <p:cNvPicPr>
            <a:picLocks noChangeAspect="1"/>
          </p:cNvPicPr>
          <p:nvPr/>
        </p:nvPicPr>
        <p:blipFill>
          <a:blip r:embed="rId2"/>
          <a:stretch>
            <a:fillRect/>
          </a:stretch>
        </p:blipFill>
        <p:spPr>
          <a:xfrm>
            <a:off x="3584448" y="1792224"/>
            <a:ext cx="402336" cy="402336"/>
          </a:xfrm>
          <a:prstGeom prst="rect">
            <a:avLst/>
          </a:prstGeom>
        </p:spPr>
      </p:pic>
      <p:sp>
        <p:nvSpPr>
          <p:cNvPr id="13" name="TextBox 12"/>
          <p:cNvSpPr txBox="1"/>
          <p:nvPr/>
        </p:nvSpPr>
        <p:spPr>
          <a:xfrm>
            <a:off x="4078224"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Aider</a:t>
            </a:r>
          </a:p>
        </p:txBody>
      </p:sp>
      <p:sp>
        <p:nvSpPr>
          <p:cNvPr id="14" name="TextBox 13"/>
          <p:cNvSpPr txBox="1"/>
          <p:nvPr/>
        </p:nvSpPr>
        <p:spPr>
          <a:xfrm>
            <a:off x="360273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CLI-first · open source</a:t>
            </a:r>
          </a:p>
        </p:txBody>
      </p:sp>
      <p:sp>
        <p:nvSpPr>
          <p:cNvPr id="15" name="TextBox 14"/>
          <p:cNvSpPr txBox="1"/>
          <p:nvPr/>
        </p:nvSpPr>
        <p:spPr>
          <a:xfrm>
            <a:off x="360273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minimal simplicity: no developed memory, no subagents, no skills. ~47k★ on GitHub</a:t>
            </a:r>
          </a:p>
        </p:txBody>
      </p:sp>
      <p:sp>
        <p:nvSpPr>
          <p:cNvPr id="16" name="Rounded Rectangle 15"/>
          <p:cNvSpPr/>
          <p:nvPr/>
        </p:nvSpPr>
        <p:spPr>
          <a:xfrm>
            <a:off x="3566160" y="4379976"/>
            <a:ext cx="2395728" cy="78638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675888" y="4434840"/>
            <a:ext cx="2176272" cy="694944"/>
          </a:xfrm>
          <a:prstGeom prst="rect">
            <a:avLst/>
          </a:prstGeom>
          <a:noFill/>
        </p:spPr>
        <p:txBody>
          <a:bodyPr wrap="square" lIns="0" rIns="0" tIns="0" bIns="0" anchor="t">
            <a:spAutoFit/>
          </a:bodyPr>
          <a:lstStyle/>
          <a:p>
            <a:pPr algn="l">
              <a:lnSpc>
                <a:spcPct val="110000"/>
              </a:lnSpc>
            </a:pPr>
            <a:r>
              <a:rPr sz="1000" b="0" i="1">
                <a:solidFill>
                  <a:srgbClr val="5B6678"/>
                </a:solidFill>
                <a:latin typeface="Arial"/>
              </a:rPr>
              <a:t>the “thin” harness is a deliberate choice, not underdevelopment</a:t>
            </a:r>
          </a:p>
        </p:txBody>
      </p:sp>
      <p:sp>
        <p:nvSpPr>
          <p:cNvPr id="18" name="Rounded Rectangle 17"/>
          <p:cNvSpPr/>
          <p:nvPr/>
        </p:nvSpPr>
        <p:spPr>
          <a:xfrm>
            <a:off x="6263640" y="1591056"/>
            <a:ext cx="2761488" cy="3703320"/>
          </a:xfrm>
          <a:prstGeom prst="roundRect">
            <a:avLst>
              <a:gd name="adj" fmla="val 1103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ode-mid.png"/>
          <p:cNvPicPr>
            <a:picLocks noChangeAspect="1"/>
          </p:cNvPicPr>
          <p:nvPr/>
        </p:nvPicPr>
        <p:blipFill>
          <a:blip r:embed="rId2"/>
          <a:stretch>
            <a:fillRect/>
          </a:stretch>
        </p:blipFill>
        <p:spPr>
          <a:xfrm>
            <a:off x="6464807" y="1792224"/>
            <a:ext cx="402336" cy="402336"/>
          </a:xfrm>
          <a:prstGeom prst="rect">
            <a:avLst/>
          </a:prstGeom>
        </p:spPr>
      </p:pic>
      <p:sp>
        <p:nvSpPr>
          <p:cNvPr id="20" name="TextBox 19"/>
          <p:cNvSpPr txBox="1"/>
          <p:nvPr/>
        </p:nvSpPr>
        <p:spPr>
          <a:xfrm>
            <a:off x="6958583"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Cursor</a:t>
            </a:r>
          </a:p>
        </p:txBody>
      </p:sp>
      <p:sp>
        <p:nvSpPr>
          <p:cNvPr id="21" name="TextBox 20"/>
          <p:cNvSpPr txBox="1"/>
          <p:nvPr/>
        </p:nvSpPr>
        <p:spPr>
          <a:xfrm>
            <a:off x="648309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desktop IDE (a VS Code fork) · proprietary</a:t>
            </a:r>
          </a:p>
        </p:txBody>
      </p:sp>
      <p:sp>
        <p:nvSpPr>
          <p:cNvPr id="22" name="TextBox 21"/>
          <p:cNvSpPr txBox="1"/>
          <p:nvPr/>
        </p:nvSpPr>
        <p:spPr>
          <a:xfrm>
            <a:off x="648309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an agent inside the editor — not a terminal. The form of integration is a separate axis from the harness</a:t>
            </a:r>
          </a:p>
        </p:txBody>
      </p:sp>
      <p:sp>
        <p:nvSpPr>
          <p:cNvPr id="23" name="Rounded Rectangle 22"/>
          <p:cNvSpPr/>
          <p:nvPr/>
        </p:nvSpPr>
        <p:spPr>
          <a:xfrm>
            <a:off x="6446520" y="4379976"/>
            <a:ext cx="2395728" cy="786384"/>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56248" y="4434840"/>
            <a:ext cx="2176272" cy="694944"/>
          </a:xfrm>
          <a:prstGeom prst="rect">
            <a:avLst/>
          </a:prstGeom>
          <a:noFill/>
        </p:spPr>
        <p:txBody>
          <a:bodyPr wrap="square" lIns="0" rIns="0" tIns="0" bIns="0" anchor="t">
            <a:spAutoFit/>
          </a:bodyPr>
          <a:lstStyle/>
          <a:p>
            <a:pPr algn="l">
              <a:lnSpc>
                <a:spcPct val="110000"/>
              </a:lnSpc>
            </a:pPr>
            <a:r>
              <a:rPr sz="1000" b="0" i="1">
                <a:solidFill>
                  <a:srgbClr val="5B6678"/>
                </a:solidFill>
                <a:latin typeface="Arial"/>
              </a:rPr>
              <a:t>where the agent lives is also an architectural decision</a:t>
            </a:r>
          </a:p>
        </p:txBody>
      </p:sp>
      <p:sp>
        <p:nvSpPr>
          <p:cNvPr id="25" name="Rounded Rectangle 24"/>
          <p:cNvSpPr/>
          <p:nvPr/>
        </p:nvSpPr>
        <p:spPr>
          <a:xfrm>
            <a:off x="9144000" y="1591056"/>
            <a:ext cx="2761488" cy="3703320"/>
          </a:xfrm>
          <a:prstGeom prst="roundRect">
            <a:avLst>
              <a:gd name="adj" fmla="val 11037"/>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ode-gold.png"/>
          <p:cNvPicPr>
            <a:picLocks noChangeAspect="1"/>
          </p:cNvPicPr>
          <p:nvPr/>
        </p:nvPicPr>
        <p:blipFill>
          <a:blip r:embed="rId3"/>
          <a:stretch>
            <a:fillRect/>
          </a:stretch>
        </p:blipFill>
        <p:spPr>
          <a:xfrm>
            <a:off x="9345168" y="1792224"/>
            <a:ext cx="402336" cy="402336"/>
          </a:xfrm>
          <a:prstGeom prst="rect">
            <a:avLst/>
          </a:prstGeom>
        </p:spPr>
      </p:pic>
      <p:sp>
        <p:nvSpPr>
          <p:cNvPr id="27" name="TextBox 26"/>
          <p:cNvSpPr txBox="1"/>
          <p:nvPr/>
        </p:nvSpPr>
        <p:spPr>
          <a:xfrm>
            <a:off x="9838944" y="1773936"/>
            <a:ext cx="1920240" cy="438912"/>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OpenHands</a:t>
            </a:r>
          </a:p>
        </p:txBody>
      </p:sp>
      <p:sp>
        <p:nvSpPr>
          <p:cNvPr id="28" name="TextBox 27"/>
          <p:cNvSpPr txBox="1"/>
          <p:nvPr/>
        </p:nvSpPr>
        <p:spPr>
          <a:xfrm>
            <a:off x="9363456" y="2286000"/>
            <a:ext cx="2322576" cy="402336"/>
          </a:xfrm>
          <a:prstGeom prst="rect">
            <a:avLst/>
          </a:prstGeom>
          <a:noFill/>
        </p:spPr>
        <p:txBody>
          <a:bodyPr wrap="square" lIns="0" rIns="0" tIns="0" bIns="0" anchor="t">
            <a:spAutoFit/>
          </a:bodyPr>
          <a:lstStyle/>
          <a:p>
            <a:pPr algn="l">
              <a:lnSpc>
                <a:spcPct val="108000"/>
              </a:lnSpc>
            </a:pPr>
            <a:r>
              <a:rPr sz="1050" b="0" i="1">
                <a:solidFill>
                  <a:srgbClr val="1C7293"/>
                </a:solidFill>
                <a:latin typeface="Arial"/>
              </a:rPr>
              <a:t>self-hosted platform · MIT · ~80k★</a:t>
            </a:r>
          </a:p>
        </p:txBody>
      </p:sp>
      <p:sp>
        <p:nvSpPr>
          <p:cNvPr id="29" name="TextBox 28"/>
          <p:cNvSpPr txBox="1"/>
          <p:nvPr/>
        </p:nvSpPr>
        <p:spPr>
          <a:xfrm>
            <a:off x="9363456" y="2706624"/>
            <a:ext cx="2322576" cy="1188720"/>
          </a:xfrm>
          <a:prstGeom prst="rect">
            <a:avLst/>
          </a:prstGeom>
          <a:noFill/>
        </p:spPr>
        <p:txBody>
          <a:bodyPr wrap="square" lIns="0" rIns="0" tIns="0" bIns="0" anchor="t">
            <a:spAutoFit/>
          </a:bodyPr>
          <a:lstStyle/>
          <a:p>
            <a:pPr algn="l">
              <a:lnSpc>
                <a:spcPct val="116000"/>
              </a:lnSpc>
            </a:pPr>
            <a:r>
              <a:rPr sz="1150" b="0" i="0">
                <a:solidFill>
                  <a:srgbClr val="21295C"/>
                </a:solidFill>
                <a:latin typeface="Arial"/>
              </a:rPr>
              <a:t>broad autonomy, local/Docker/cloud deployment</a:t>
            </a:r>
          </a:p>
        </p:txBody>
      </p:sp>
      <p:sp>
        <p:nvSpPr>
          <p:cNvPr id="30" name="Rounded Rectangle 29"/>
          <p:cNvSpPr/>
          <p:nvPr/>
        </p:nvSpPr>
        <p:spPr>
          <a:xfrm>
            <a:off x="9326880" y="3977640"/>
            <a:ext cx="2395728" cy="1188720"/>
          </a:xfrm>
          <a:prstGeom prst="roundRect">
            <a:avLst>
              <a:gd name="adj" fmla="val 10000"/>
            </a:avLst>
          </a:prstGeom>
          <a:solidFill>
            <a:srgbClr val="FFFFFF"/>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436608" y="4032504"/>
            <a:ext cx="2176272" cy="1097280"/>
          </a:xfrm>
          <a:prstGeom prst="rect">
            <a:avLst/>
          </a:prstGeom>
          <a:noFill/>
        </p:spPr>
        <p:txBody>
          <a:bodyPr wrap="square" lIns="0" rIns="0" tIns="0" bIns="0" anchor="t">
            <a:spAutoFit/>
          </a:bodyPr>
          <a:lstStyle/>
          <a:p>
            <a:pPr algn="l">
              <a:lnSpc>
                <a:spcPct val="110000"/>
              </a:lnSpc>
            </a:pPr>
            <a:r>
              <a:rPr sz="950" b="0" i="1">
                <a:solidFill>
                  <a:srgbClr val="21295C"/>
                </a:solidFill>
                <a:latin typeface="Arial"/>
              </a:rPr>
              <a:t>a working hypothesis by profile match — a likely candidate for “OpenClaw,” not a confirmed fact</a:t>
            </a:r>
          </a:p>
        </p:txBody>
      </p:sp>
      <p:sp>
        <p:nvSpPr>
          <p:cNvPr id="32" name="Rounded Rectangle 31"/>
          <p:cNvSpPr/>
          <p:nvPr/>
        </p:nvSpPr>
        <p:spPr>
          <a:xfrm>
            <a:off x="502920" y="5468112"/>
            <a:ext cx="11201400" cy="786384"/>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04088" y="5522976"/>
            <a:ext cx="10799064" cy="676656"/>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The choice of tool obeys the same rule: don't take the most-equipped one by default — look at which harness your specific task needs.</a:t>
            </a:r>
          </a:p>
        </p:txBody>
      </p:sp>
      <p:sp>
        <p:nvSpPr>
          <p:cNvPr id="34" name="TextBox 33"/>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rPr>
              <a:t>agent-harness-registry — a survey through the equipment frame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Agent failures.</a:t>
            </a:r>
          </a:p>
        </p:txBody>
      </p:sp>
      <p:sp>
        <p:nvSpPr>
          <p:cNvPr id="3" name="TextBox 2"/>
          <p:cNvSpPr txBox="1"/>
          <p:nvPr/>
        </p:nvSpPr>
        <p:spPr>
          <a:xfrm>
            <a:off x="502920" y="1042415"/>
            <a:ext cx="11201400" cy="36576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Each failure is an agent-loop failure mode in a dated case: lesson + alternative.</a:t>
            </a:r>
          </a:p>
        </p:txBody>
      </p:sp>
      <p:sp>
        <p:nvSpPr>
          <p:cNvPr id="4" name="Rounded Rectangle 3"/>
          <p:cNvSpPr/>
          <p:nvPr/>
        </p:nvSpPr>
        <p:spPr>
          <a:xfrm>
            <a:off x="502920" y="1517904"/>
            <a:ext cx="3703320" cy="4160520"/>
          </a:xfrm>
          <a:prstGeom prst="roundRect">
            <a:avLst>
              <a:gd name="adj" fmla="val 823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lame-gold.png"/>
          <p:cNvPicPr>
            <a:picLocks noChangeAspect="1"/>
          </p:cNvPicPr>
          <p:nvPr/>
        </p:nvPicPr>
        <p:blipFill>
          <a:blip r:embed="rId2"/>
          <a:stretch>
            <a:fillRect/>
          </a:stretch>
        </p:blipFill>
        <p:spPr>
          <a:xfrm>
            <a:off x="704088" y="1719072"/>
            <a:ext cx="457200" cy="457200"/>
          </a:xfrm>
          <a:prstGeom prst="rect">
            <a:avLst/>
          </a:prstGeom>
        </p:spPr>
      </p:pic>
      <p:sp>
        <p:nvSpPr>
          <p:cNvPr id="6" name="TextBox 5"/>
          <p:cNvSpPr txBox="1"/>
          <p:nvPr/>
        </p:nvSpPr>
        <p:spPr>
          <a:xfrm>
            <a:off x="1252728" y="1737360"/>
            <a:ext cx="2788920" cy="457200"/>
          </a:xfrm>
          <a:prstGeom prst="rect">
            <a:avLst/>
          </a:prstGeom>
          <a:noFill/>
        </p:spPr>
        <p:txBody>
          <a:bodyPr wrap="square" lIns="0" rIns="0" tIns="0" bIns="0" anchor="ctr">
            <a:spAutoFit/>
          </a:bodyPr>
          <a:lstStyle/>
          <a:p>
            <a:pPr algn="l">
              <a:lnSpc>
                <a:spcPct val="115000"/>
              </a:lnSpc>
            </a:pPr>
            <a:r>
              <a:rPr sz="1500" b="1" i="0">
                <a:solidFill>
                  <a:srgbClr val="21295C"/>
                </a:solidFill>
                <a:latin typeface="Arial"/>
              </a:rPr>
              <a:t>1. A loop with no limits</a:t>
            </a:r>
          </a:p>
        </p:txBody>
      </p:sp>
      <p:sp>
        <p:nvSpPr>
          <p:cNvPr id="7" name="TextBox 6"/>
          <p:cNvSpPr txBox="1"/>
          <p:nvPr/>
        </p:nvSpPr>
        <p:spPr>
          <a:xfrm>
            <a:off x="722376" y="2295144"/>
            <a:ext cx="3264408" cy="868680"/>
          </a:xfrm>
          <a:prstGeom prst="rect">
            <a:avLst/>
          </a:prstGeom>
          <a:noFill/>
        </p:spPr>
        <p:txBody>
          <a:bodyPr wrap="square" lIns="0" rIns="0" tIns="0" bIns="0" anchor="t">
            <a:spAutoFit/>
          </a:bodyPr>
          <a:lstStyle/>
          <a:p>
            <a:pPr algn="l">
              <a:lnSpc>
                <a:spcPct val="114000"/>
              </a:lnSpc>
            </a:pPr>
            <a:r>
              <a:rPr sz="1200" b="0" i="0">
                <a:solidFill>
                  <a:srgbClr val="21295C"/>
                </a:solidFill>
                <a:latin typeface="Arial"/>
              </a:rPr>
              <a:t>An agent on “sync the orders” got an HTTP 429 → plan→call→429→…</a:t>
            </a:r>
          </a:p>
        </p:txBody>
      </p:sp>
      <p:sp>
        <p:nvSpPr>
          <p:cNvPr id="8" name="TextBox 7"/>
          <p:cNvSpPr txBox="1"/>
          <p:nvPr/>
        </p:nvSpPr>
        <p:spPr>
          <a:xfrm>
            <a:off x="722376" y="3090672"/>
            <a:ext cx="3264408" cy="457200"/>
          </a:xfrm>
          <a:prstGeom prst="rect">
            <a:avLst/>
          </a:prstGeom>
          <a:noFill/>
        </p:spPr>
        <p:txBody>
          <a:bodyPr wrap="square" lIns="0" rIns="0" tIns="0" bIns="0" anchor="t">
            <a:spAutoFit/>
          </a:bodyPr>
          <a:lstStyle/>
          <a:p>
            <a:pPr algn="l">
              <a:lnSpc>
                <a:spcPct val="100000"/>
              </a:lnSpc>
            </a:pPr>
            <a:r>
              <a:rPr sz="2200" b="1" i="0">
                <a:solidFill>
                  <a:srgbClr val="F0AB00"/>
                </a:solidFill>
                <a:latin typeface="Arial"/>
              </a:rPr>
              <a:t>$4,200 over 63 hours</a:t>
            </a:r>
            <a:r>
              <a:rPr sz="1144" baseline="30000" b="0" i="1">
                <a:latin typeface="Arial"/>
                <a:cs typeface="Arial"/>
                <a:ea typeface="Arial"/>
                <a:solidFill>
                  <a:srgbClr val="1C7293"/>
                </a:solidFill>
              </a:rPr>
              <a:t>[1]</a:t>
            </a:r>
          </a:p>
        </p:txBody>
      </p:sp>
      <p:sp>
        <p:nvSpPr>
          <p:cNvPr id="9" name="Rounded Rectangle 8"/>
          <p:cNvSpPr/>
          <p:nvPr/>
        </p:nvSpPr>
        <p:spPr>
          <a:xfrm>
            <a:off x="722376" y="3566160"/>
            <a:ext cx="3264408" cy="566928"/>
          </a:xfrm>
          <a:prstGeom prst="roundRect">
            <a:avLst>
              <a:gd name="adj" fmla="val 12000"/>
            </a:avLst>
          </a:prstGeom>
          <a:solidFill>
            <a:srgbClr val="FFFFFF"/>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0392" y="3593591"/>
            <a:ext cx="3008376" cy="512064"/>
          </a:xfrm>
          <a:prstGeom prst="rect">
            <a:avLst/>
          </a:prstGeom>
          <a:noFill/>
        </p:spPr>
        <p:txBody>
          <a:bodyPr wrap="square" lIns="0" rIns="0" tIns="0" bIns="0" anchor="ctr">
            <a:spAutoFit/>
          </a:bodyPr>
          <a:lstStyle/>
          <a:p>
            <a:pPr algn="l">
              <a:lnSpc>
                <a:spcPct val="105000"/>
              </a:lnSpc>
            </a:pPr>
            <a:r>
              <a:rPr sz="1000" b="1" i="0">
                <a:solidFill>
                  <a:srgbClr val="21295C"/>
                </a:solidFill>
                <a:latin typeface="Arial"/>
              </a:rPr>
              <a:t>Baseline: a retry script with backoff would solve the same task in seconds-to-minutes, essentially for free</a:t>
            </a:r>
          </a:p>
        </p:txBody>
      </p:sp>
      <p:sp>
        <p:nvSpPr>
          <p:cNvPr id="11" name="TextBox 10"/>
          <p:cNvSpPr txBox="1"/>
          <p:nvPr/>
        </p:nvSpPr>
        <p:spPr>
          <a:xfrm>
            <a:off x="722376" y="4187952"/>
            <a:ext cx="3264408" cy="512064"/>
          </a:xfrm>
          <a:prstGeom prst="rect">
            <a:avLst/>
          </a:prstGeom>
          <a:noFill/>
        </p:spPr>
        <p:txBody>
          <a:bodyPr wrap="square" lIns="0" rIns="0" tIns="0" bIns="0" anchor="t">
            <a:spAutoFit/>
          </a:bodyPr>
          <a:lstStyle/>
          <a:p>
            <a:pPr algn="l">
              <a:lnSpc>
                <a:spcPct val="108000"/>
              </a:lnSpc>
            </a:pPr>
            <a:r>
              <a:rPr sz="1000" b="0" i="1">
                <a:solidFill>
                  <a:srgbClr val="5B6678"/>
                </a:solidFill>
                <a:latin typeface="Arial"/>
              </a:rPr>
              <a:t>$4,200 is the price not of automation, but of the wrong architecture choice for a predictable task</a:t>
            </a:r>
          </a:p>
        </p:txBody>
      </p:sp>
      <p:sp>
        <p:nvSpPr>
          <p:cNvPr id="12" name="TextBox 11"/>
          <p:cNvSpPr txBox="1"/>
          <p:nvPr/>
        </p:nvSpPr>
        <p:spPr>
          <a:xfrm>
            <a:off x="722376" y="4754880"/>
            <a:ext cx="3264408" cy="822960"/>
          </a:xfrm>
          <a:prstGeom prst="rect">
            <a:avLst/>
          </a:prstGeom>
          <a:noFill/>
        </p:spPr>
        <p:txBody>
          <a:bodyPr wrap="square" lIns="0" rIns="0" tIns="0" bIns="0" anchor="t">
            <a:spAutoFit/>
          </a:bodyPr>
          <a:lstStyle/>
          <a:p>
            <a:pPr algn="l">
              <a:lnSpc>
                <a:spcPct val="110000"/>
              </a:lnSpc>
            </a:pPr>
            <a:r>
              <a:rPr sz="1100" b="1" i="0">
                <a:solidFill>
                  <a:srgbClr val="21295C"/>
                </a:solidFill>
                <a:latin typeface="Arial"/>
              </a:rPr>
              <a:t>A more suitable architecture: a retry-with-backoff script, not an agent; budget and iteration limits OUTSIDE the agent</a:t>
            </a:r>
          </a:p>
        </p:txBody>
      </p:sp>
      <p:sp>
        <p:nvSpPr>
          <p:cNvPr id="13" name="Rounded Rectangle 12"/>
          <p:cNvSpPr/>
          <p:nvPr/>
        </p:nvSpPr>
        <p:spPr>
          <a:xfrm>
            <a:off x="4389120" y="1517904"/>
            <a:ext cx="3703320" cy="4160520"/>
          </a:xfrm>
          <a:prstGeom prst="roundRect">
            <a:avLst>
              <a:gd name="adj" fmla="val 823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08576" y="1700784"/>
            <a:ext cx="3264408" cy="365760"/>
          </a:xfrm>
          <a:prstGeom prst="rect">
            <a:avLst/>
          </a:prstGeom>
          <a:noFill/>
        </p:spPr>
        <p:txBody>
          <a:bodyPr wrap="square" lIns="0" rIns="0" tIns="0" bIns="0" anchor="t">
            <a:spAutoFit/>
          </a:bodyPr>
          <a:lstStyle/>
          <a:p>
            <a:pPr algn="l">
              <a:lnSpc>
                <a:spcPct val="115000"/>
              </a:lnSpc>
            </a:pPr>
            <a:r>
              <a:rPr sz="1500" b="1" i="0">
                <a:solidFill>
                  <a:srgbClr val="065A82"/>
                </a:solidFill>
                <a:latin typeface="Arial"/>
              </a:rPr>
              <a:t>2. Compounding errors</a:t>
            </a:r>
          </a:p>
        </p:txBody>
      </p:sp>
      <p:pic>
        <p:nvPicPr>
          <p:cNvPr id="15" name="Picture 14" descr="c23-compounding.png"/>
          <p:cNvPicPr>
            <a:picLocks noChangeAspect="1"/>
          </p:cNvPicPr>
          <p:nvPr/>
        </p:nvPicPr>
        <p:blipFill>
          <a:blip r:embed="rId3"/>
          <a:stretch>
            <a:fillRect/>
          </a:stretch>
        </p:blipFill>
        <p:spPr>
          <a:xfrm>
            <a:off x="4535424" y="2260485"/>
            <a:ext cx="3410712" cy="1980413"/>
          </a:xfrm>
          <a:prstGeom prst="rect">
            <a:avLst/>
          </a:prstGeom>
        </p:spPr>
      </p:pic>
      <p:sp>
        <p:nvSpPr>
          <p:cNvPr id="16" name="TextBox 15"/>
          <p:cNvSpPr txBox="1"/>
          <p:nvPr/>
        </p:nvSpPr>
        <p:spPr>
          <a:xfrm>
            <a:off x="4608576" y="4535424"/>
            <a:ext cx="3264408" cy="960120"/>
          </a:xfrm>
          <a:prstGeom prst="rect">
            <a:avLst/>
          </a:prstGeom>
          <a:noFill/>
        </p:spPr>
        <p:txBody>
          <a:bodyPr wrap="square" lIns="0" rIns="0" tIns="0" bIns="0" anchor="t">
            <a:spAutoFit/>
          </a:bodyPr>
          <a:lstStyle/>
          <a:p>
            <a:pPr algn="l">
              <a:lnSpc>
                <a:spcPct val="116000"/>
              </a:lnSpc>
            </a:pPr>
            <a:r>
              <a:rPr sz="1200" b="1" i="0">
                <a:solidFill>
                  <a:srgbClr val="21295C"/>
                </a:solidFill>
                <a:latin typeface="Arial"/>
              </a:rPr>
              <a:t>Takeaway: “improve the step” is a weak lever; “fewer hops + validation between steps</a:t>
            </a:r>
            <a:r>
              <a:rPr sz="624" baseline="30000" b="0" i="1">
                <a:latin typeface="Arial"/>
                <a:cs typeface="Arial"/>
                <a:ea typeface="Arial"/>
                <a:solidFill>
                  <a:srgbClr val="1C7293"/>
                </a:solidFill>
              </a:rPr>
              <a:t>[2]</a:t>
            </a:r>
            <a:r>
              <a:rPr sz="1200" b="1" i="0">
                <a:latin typeface="Arial"/>
                <a:cs typeface="Arial"/>
                <a:ea typeface="Arial"/>
                <a:solidFill>
                  <a:srgbClr val="21295C"/>
                </a:solidFill>
              </a:rPr>
              <a:t>” is a strong one</a:t>
            </a:r>
          </a:p>
        </p:txBody>
      </p:sp>
      <p:sp>
        <p:nvSpPr>
          <p:cNvPr id="17" name="Rounded Rectangle 16"/>
          <p:cNvSpPr/>
          <p:nvPr/>
        </p:nvSpPr>
        <p:spPr>
          <a:xfrm>
            <a:off x="8275320" y="1517904"/>
            <a:ext cx="3429000" cy="4160520"/>
          </a:xfrm>
          <a:prstGeom prst="roundRect">
            <a:avLst>
              <a:gd name="adj" fmla="val 88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git-fork-mid.png"/>
          <p:cNvPicPr>
            <a:picLocks noChangeAspect="1"/>
          </p:cNvPicPr>
          <p:nvPr/>
        </p:nvPicPr>
        <p:blipFill>
          <a:blip r:embed="rId4"/>
          <a:stretch>
            <a:fillRect/>
          </a:stretch>
        </p:blipFill>
        <p:spPr>
          <a:xfrm>
            <a:off x="8476488" y="1719072"/>
            <a:ext cx="420624" cy="420624"/>
          </a:xfrm>
          <a:prstGeom prst="rect">
            <a:avLst/>
          </a:prstGeom>
        </p:spPr>
      </p:pic>
      <p:sp>
        <p:nvSpPr>
          <p:cNvPr id="19" name="TextBox 18"/>
          <p:cNvSpPr txBox="1"/>
          <p:nvPr/>
        </p:nvSpPr>
        <p:spPr>
          <a:xfrm>
            <a:off x="8970264" y="1719072"/>
            <a:ext cx="2560320" cy="502920"/>
          </a:xfrm>
          <a:prstGeom prst="rect">
            <a:avLst/>
          </a:prstGeom>
          <a:noFill/>
        </p:spPr>
        <p:txBody>
          <a:bodyPr wrap="square" lIns="0" rIns="0" tIns="0" bIns="0" anchor="ctr">
            <a:spAutoFit/>
          </a:bodyPr>
          <a:lstStyle/>
          <a:p>
            <a:pPr algn="l">
              <a:lnSpc>
                <a:spcPct val="105000"/>
              </a:lnSpc>
            </a:pPr>
            <a:r>
              <a:rPr sz="1450" b="1" i="0">
                <a:solidFill>
                  <a:srgbClr val="065A82"/>
                </a:solidFill>
                <a:latin typeface="Arial"/>
              </a:rPr>
              <a:t>3. Multi-agent fragility</a:t>
            </a:r>
          </a:p>
        </p:txBody>
      </p:sp>
      <p:sp>
        <p:nvSpPr>
          <p:cNvPr id="20" name="TextBox 19"/>
          <p:cNvSpPr txBox="1"/>
          <p:nvPr/>
        </p:nvSpPr>
        <p:spPr>
          <a:xfrm>
            <a:off x="8494776" y="2386584"/>
            <a:ext cx="2990088" cy="141732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dependent subtasks → parallel subagents make conflicting</a:t>
            </a:r>
            <a:r>
              <a:rPr sz="650" baseline="30000" b="0" i="1">
                <a:latin typeface="Arial"/>
                <a:cs typeface="Arial"/>
                <a:ea typeface="Arial"/>
                <a:solidFill>
                  <a:srgbClr val="1C7293"/>
                </a:solidFill>
              </a:rPr>
              <a:t>[3]</a:t>
            </a:r>
            <a:r>
              <a:rPr sz="1250" b="0" i="0">
                <a:latin typeface="Arial"/>
                <a:cs typeface="Arial"/>
                <a:ea typeface="Arial"/>
                <a:solidFill>
                  <a:srgbClr val="21295C"/>
                </a:solidFill>
              </a:rPr>
              <a:t> implicit decisions</a:t>
            </a:r>
          </a:p>
        </p:txBody>
      </p:sp>
      <p:sp>
        <p:nvSpPr>
          <p:cNvPr id="21" name="TextBox 20"/>
          <p:cNvSpPr txBox="1"/>
          <p:nvPr/>
        </p:nvSpPr>
        <p:spPr>
          <a:xfrm>
            <a:off x="8494776" y="3986784"/>
            <a:ext cx="2990088" cy="1508760"/>
          </a:xfrm>
          <a:prstGeom prst="rect">
            <a:avLst/>
          </a:prstGeom>
          <a:noFill/>
        </p:spPr>
        <p:txBody>
          <a:bodyPr wrap="square" lIns="0" rIns="0" tIns="0" bIns="0" anchor="t">
            <a:spAutoFit/>
          </a:bodyPr>
          <a:lstStyle/>
          <a:p>
            <a:pPr algn="l">
              <a:lnSpc>
                <a:spcPct val="118000"/>
              </a:lnSpc>
            </a:pPr>
            <a:r>
              <a:rPr sz="1250" b="1" i="0">
                <a:solidFill>
                  <a:srgbClr val="21295C"/>
                </a:solidFill>
                <a:latin typeface="Arial"/>
              </a:rPr>
              <a:t>A more suitable one: a single-threaded linear agent; multi-agent only for broadly-parallel, independent work</a:t>
            </a:r>
          </a:p>
        </p:txBody>
      </p:sp>
      <p:sp>
        <p:nvSpPr>
          <p:cNvPr id="22" name="TextBox 21"/>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6"/>
              </a:rPr>
              <a:t>Sattyam Jain 2026 — The Agent That Burned $4,200 in 63 Hours</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7"/>
              </a:rPr>
              <a:t>MindStudio — Reliability Compounding Problem</a:t>
            </a:r>
            <a:r>
              <a:rPr sz="850" i="1">
                <a:solidFill>
                  <a:srgbClr val="1C7293"/>
                </a:solidFill>
                <a:latin typeface="Arial"/>
              </a:rPr>
              <a:t>   ·   </a:t>
            </a:r>
            <a:r>
              <a:rPr sz="850" b="1" i="1">
                <a:solidFill>
                  <a:srgbClr val="065A82"/>
                </a:solidFill>
                <a:latin typeface="Arial"/>
              </a:rPr>
              <a:t>[3] </a:t>
            </a:r>
            <a:r>
              <a:rPr sz="850" i="1">
                <a:solidFill>
                  <a:srgbClr val="1C7293"/>
                </a:solidFill>
                <a:latin typeface="Arial"/>
                <a:hlinkClick r:id="rId8"/>
              </a:rPr>
              <a:t>Cognition — Don't Build Multi-Agents (fragility)</a:t>
            </a:r>
            <a:r>
              <a:rPr sz="850" i="1">
                <a:solidFill>
                  <a:srgbClr val="5B6678"/>
                </a:solidFill>
                <a:latin typeface="Arial"/>
              </a:rPr>
              <a:t>   ·   Attacks through tools (prompt injection, the GitHub MCP heist) — the 4th class of failures, covered on the security slide. The $4,200 loop — a single-author postmortem 2026-04 (illustrative); compounding — MindStudio 2025–2026.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635240" y="502920"/>
            <a:ext cx="4206240" cy="5120640"/>
          </a:xfrm>
          <a:prstGeom prst="rect">
            <a:avLst/>
          </a:prstGeom>
          <a:noFill/>
        </p:spPr>
        <p:txBody>
          <a:bodyPr wrap="square" lIns="0" rIns="0" tIns="0" bIns="0" anchor="ctr">
            <a:spAutoFit/>
          </a:bodyPr>
          <a:lstStyle/>
          <a:p>
            <a:pPr algn="ctr">
              <a:lnSpc>
                <a:spcPct val="100000"/>
              </a:lnSpc>
            </a:pPr>
            <a:r>
              <a:rPr sz="38000" b="1" i="0">
                <a:solidFill>
                  <a:srgbClr val="D9E2EC"/>
                </a:solidFill>
                <a:latin typeface="Arial"/>
              </a:rPr>
              <a:t>5</a:t>
            </a:r>
          </a:p>
        </p:txBody>
      </p:sp>
      <p:sp>
        <p:nvSpPr>
          <p:cNvPr id="3" name="TextBox 2"/>
          <p:cNvSpPr txBox="1"/>
          <p:nvPr/>
        </p:nvSpPr>
        <p:spPr>
          <a:xfrm>
            <a:off x="685800" y="1417320"/>
            <a:ext cx="6675120" cy="502920"/>
          </a:xfrm>
          <a:prstGeom prst="rect">
            <a:avLst/>
          </a:prstGeom>
          <a:noFill/>
        </p:spPr>
        <p:txBody>
          <a:bodyPr wrap="square" lIns="0" rIns="0" tIns="0" bIns="0" anchor="t">
            <a:spAutoFit/>
          </a:bodyPr>
          <a:lstStyle/>
          <a:p>
            <a:pPr algn="l">
              <a:lnSpc>
                <a:spcPct val="115000"/>
              </a:lnSpc>
            </a:pPr>
            <a:r>
              <a:rPr sz="2000" b="1" i="0">
                <a:solidFill>
                  <a:srgbClr val="028090"/>
                </a:solidFill>
                <a:latin typeface="Arial"/>
              </a:rPr>
              <a:t>SECTION 5</a:t>
            </a:r>
          </a:p>
        </p:txBody>
      </p:sp>
      <p:sp>
        <p:nvSpPr>
          <p:cNvPr id="4" name="Rectangle 3"/>
          <p:cNvSpPr/>
          <p:nvPr/>
        </p:nvSpPr>
        <p:spPr>
          <a:xfrm>
            <a:off x="713232" y="1975104"/>
            <a:ext cx="640080"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331720"/>
            <a:ext cx="6858000" cy="1691640"/>
          </a:xfrm>
          <a:prstGeom prst="rect">
            <a:avLst/>
          </a:prstGeom>
          <a:noFill/>
        </p:spPr>
        <p:txBody>
          <a:bodyPr wrap="square" lIns="0" rIns="0" tIns="0" bIns="0" anchor="t">
            <a:spAutoFit/>
          </a:bodyPr>
          <a:lstStyle/>
          <a:p>
            <a:pPr algn="l">
              <a:lnSpc>
                <a:spcPct val="108000"/>
              </a:lnSpc>
            </a:pPr>
            <a:r>
              <a:rPr sz="3800" b="1" i="0">
                <a:solidFill>
                  <a:srgbClr val="21295C"/>
                </a:solidFill>
                <a:latin typeface="Arial"/>
              </a:rPr>
              <a:t>How to choose: the decision framework</a:t>
            </a:r>
          </a:p>
        </p:txBody>
      </p:sp>
      <p:sp>
        <p:nvSpPr>
          <p:cNvPr id="6" name="TextBox 5"/>
          <p:cNvSpPr txBox="1"/>
          <p:nvPr/>
        </p:nvSpPr>
        <p:spPr>
          <a:xfrm>
            <a:off x="713232" y="4160520"/>
            <a:ext cx="6766560" cy="1325880"/>
          </a:xfrm>
          <a:prstGeom prst="rect">
            <a:avLst/>
          </a:prstGeom>
          <a:noFill/>
        </p:spPr>
        <p:txBody>
          <a:bodyPr wrap="square" lIns="0" rIns="0" tIns="0" bIns="0" anchor="t">
            <a:spAutoFit/>
          </a:bodyPr>
          <a:lstStyle/>
          <a:p>
            <a:pPr algn="l">
              <a:lnSpc>
                <a:spcPct val="122000"/>
              </a:lnSpc>
            </a:pPr>
            <a:r>
              <a:rPr sz="1800" b="0" i="1">
                <a:solidFill>
                  <a:srgbClr val="1C7293"/>
                </a:solidFill>
                <a:latin typeface="Arial"/>
              </a:rPr>
              <a:t>We've covered all the architectures separately — and where each one fails. Now let's assemble it into a single decision tool.</a:t>
            </a:r>
          </a:p>
        </p:txBody>
      </p:sp>
      <p:sp>
        <p:nvSpPr>
          <p:cNvPr id="7" name="Rounded Rectangle 6"/>
          <p:cNvSpPr/>
          <p:nvPr/>
        </p:nvSpPr>
        <p:spPr>
          <a:xfrm>
            <a:off x="502920"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57784"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0</a:t>
            </a:r>
          </a:p>
        </p:txBody>
      </p:sp>
      <p:sp>
        <p:nvSpPr>
          <p:cNvPr id="9" name="TextBox 8"/>
          <p:cNvSpPr txBox="1"/>
          <p:nvPr/>
        </p:nvSpPr>
        <p:spPr>
          <a:xfrm>
            <a:off x="557784"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Opening</a:t>
            </a:r>
          </a:p>
        </p:txBody>
      </p:sp>
      <p:sp>
        <p:nvSpPr>
          <p:cNvPr id="10" name="Rounded Rectangle 9"/>
          <p:cNvSpPr/>
          <p:nvPr/>
        </p:nvSpPr>
        <p:spPr>
          <a:xfrm>
            <a:off x="2391156"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446020"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1</a:t>
            </a:r>
          </a:p>
        </p:txBody>
      </p:sp>
      <p:sp>
        <p:nvSpPr>
          <p:cNvPr id="12" name="TextBox 11"/>
          <p:cNvSpPr txBox="1"/>
          <p:nvPr/>
        </p:nvSpPr>
        <p:spPr>
          <a:xfrm>
            <a:off x="2446020"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Prompt</a:t>
            </a:r>
          </a:p>
        </p:txBody>
      </p:sp>
      <p:sp>
        <p:nvSpPr>
          <p:cNvPr id="13" name="Rounded Rectangle 12"/>
          <p:cNvSpPr/>
          <p:nvPr/>
        </p:nvSpPr>
        <p:spPr>
          <a:xfrm>
            <a:off x="4279392"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34255"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2</a:t>
            </a:r>
          </a:p>
        </p:txBody>
      </p:sp>
      <p:sp>
        <p:nvSpPr>
          <p:cNvPr id="15" name="TextBox 14"/>
          <p:cNvSpPr txBox="1"/>
          <p:nvPr/>
        </p:nvSpPr>
        <p:spPr>
          <a:xfrm>
            <a:off x="4334255"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RAG</a:t>
            </a:r>
          </a:p>
        </p:txBody>
      </p:sp>
      <p:sp>
        <p:nvSpPr>
          <p:cNvPr id="16" name="Rounded Rectangle 15"/>
          <p:cNvSpPr/>
          <p:nvPr/>
        </p:nvSpPr>
        <p:spPr>
          <a:xfrm>
            <a:off x="6167628"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22492"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3</a:t>
            </a:r>
          </a:p>
        </p:txBody>
      </p:sp>
      <p:sp>
        <p:nvSpPr>
          <p:cNvPr id="18" name="TextBox 17"/>
          <p:cNvSpPr txBox="1"/>
          <p:nvPr/>
        </p:nvSpPr>
        <p:spPr>
          <a:xfrm>
            <a:off x="6222492"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Fine-tune</a:t>
            </a:r>
          </a:p>
        </p:txBody>
      </p:sp>
      <p:sp>
        <p:nvSpPr>
          <p:cNvPr id="19" name="Rounded Rectangle 18"/>
          <p:cNvSpPr/>
          <p:nvPr/>
        </p:nvSpPr>
        <p:spPr>
          <a:xfrm>
            <a:off x="8055864" y="5897880"/>
            <a:ext cx="1760220" cy="566928"/>
          </a:xfrm>
          <a:prstGeom prst="roundRect">
            <a:avLst>
              <a:gd name="adj" fmla="val 12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10728" y="5961888"/>
            <a:ext cx="1650492" cy="219456"/>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Section 4</a:t>
            </a:r>
          </a:p>
        </p:txBody>
      </p:sp>
      <p:sp>
        <p:nvSpPr>
          <p:cNvPr id="21" name="TextBox 20"/>
          <p:cNvSpPr txBox="1"/>
          <p:nvPr/>
        </p:nvSpPr>
        <p:spPr>
          <a:xfrm>
            <a:off x="8110728" y="6181344"/>
            <a:ext cx="1650492" cy="237744"/>
          </a:xfrm>
          <a:prstGeom prst="rect">
            <a:avLst/>
          </a:prstGeom>
          <a:noFill/>
        </p:spPr>
        <p:txBody>
          <a:bodyPr wrap="square" lIns="0" rIns="0" tIns="0" bIns="0" anchor="t">
            <a:spAutoFit/>
          </a:bodyPr>
          <a:lstStyle/>
          <a:p>
            <a:pPr algn="ctr">
              <a:lnSpc>
                <a:spcPct val="115000"/>
              </a:lnSpc>
            </a:pPr>
            <a:r>
              <a:rPr sz="1100" b="0" i="0">
                <a:solidFill>
                  <a:srgbClr val="5B6678"/>
                </a:solidFill>
                <a:latin typeface="Arial"/>
              </a:rPr>
              <a:t>Agents</a:t>
            </a:r>
          </a:p>
        </p:txBody>
      </p:sp>
      <p:sp>
        <p:nvSpPr>
          <p:cNvPr id="22" name="Rounded Rectangle 21"/>
          <p:cNvSpPr/>
          <p:nvPr/>
        </p:nvSpPr>
        <p:spPr>
          <a:xfrm>
            <a:off x="9944100" y="5897880"/>
            <a:ext cx="1760220" cy="566928"/>
          </a:xfrm>
          <a:prstGeom prst="roundRect">
            <a:avLst>
              <a:gd name="adj" fmla="val 1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98964" y="5961888"/>
            <a:ext cx="1650492" cy="219456"/>
          </a:xfrm>
          <a:prstGeom prst="rect">
            <a:avLst/>
          </a:prstGeom>
          <a:noFill/>
        </p:spPr>
        <p:txBody>
          <a:bodyPr wrap="square" lIns="0" rIns="0" tIns="0" bIns="0" anchor="t">
            <a:spAutoFit/>
          </a:bodyPr>
          <a:lstStyle/>
          <a:p>
            <a:pPr algn="ctr">
              <a:lnSpc>
                <a:spcPct val="115000"/>
              </a:lnSpc>
            </a:pPr>
            <a:r>
              <a:rPr sz="1050" b="1" i="0">
                <a:solidFill>
                  <a:srgbClr val="21295C"/>
                </a:solidFill>
                <a:latin typeface="Arial"/>
              </a:rPr>
              <a:t>Section 5</a:t>
            </a:r>
          </a:p>
        </p:txBody>
      </p:sp>
      <p:sp>
        <p:nvSpPr>
          <p:cNvPr id="24" name="TextBox 23"/>
          <p:cNvSpPr txBox="1"/>
          <p:nvPr/>
        </p:nvSpPr>
        <p:spPr>
          <a:xfrm>
            <a:off x="9998964" y="6181344"/>
            <a:ext cx="1650492" cy="237744"/>
          </a:xfrm>
          <a:prstGeom prst="rect">
            <a:avLst/>
          </a:prstGeom>
          <a:noFill/>
        </p:spPr>
        <p:txBody>
          <a:bodyPr wrap="square" lIns="0" rIns="0" tIns="0" bIns="0" anchor="t">
            <a:spAutoFit/>
          </a:bodyPr>
          <a:lstStyle/>
          <a:p>
            <a:pPr algn="ctr">
              <a:lnSpc>
                <a:spcPct val="115000"/>
              </a:lnSpc>
            </a:pPr>
            <a:r>
              <a:rPr sz="1100" b="1" i="0">
                <a:solidFill>
                  <a:srgbClr val="21295C"/>
                </a:solidFill>
                <a:latin typeface="Arial"/>
              </a:rPr>
              <a:t>Framework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The ladder of architectural complexity.</a:t>
            </a:r>
          </a:p>
        </p:txBody>
      </p:sp>
      <p:sp>
        <p:nvSpPr>
          <p:cNvPr id="3" name="TextBox 2"/>
          <p:cNvSpPr txBox="1"/>
          <p:nvPr/>
        </p:nvSpPr>
        <p:spPr>
          <a:xfrm>
            <a:off x="502920" y="1042415"/>
            <a:ext cx="7680960" cy="365760"/>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Stay on the lowest rung; climb only for a task requirement.</a:t>
            </a:r>
          </a:p>
        </p:txBody>
      </p:sp>
      <p:sp>
        <p:nvSpPr>
          <p:cNvPr id="4" name="Rounded Rectangle 3"/>
          <p:cNvSpPr/>
          <p:nvPr/>
        </p:nvSpPr>
        <p:spPr>
          <a:xfrm>
            <a:off x="502920" y="5577840"/>
            <a:ext cx="7360920" cy="475488"/>
          </a:xfrm>
          <a:prstGeom prst="roundRect">
            <a:avLst>
              <a:gd name="adj" fmla="val 22000"/>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12648" y="5660136"/>
            <a:ext cx="310896" cy="310896"/>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5660136"/>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1</a:t>
            </a:r>
          </a:p>
        </p:txBody>
      </p:sp>
      <p:sp>
        <p:nvSpPr>
          <p:cNvPr id="7" name="TextBox 6"/>
          <p:cNvSpPr txBox="1"/>
          <p:nvPr/>
        </p:nvSpPr>
        <p:spPr>
          <a:xfrm>
            <a:off x="1033271" y="5577840"/>
            <a:ext cx="6702552"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Plain code (no AI)</a:t>
            </a:r>
          </a:p>
        </p:txBody>
      </p:sp>
      <p:sp>
        <p:nvSpPr>
          <p:cNvPr id="8" name="TextBox 7"/>
          <p:cNvSpPr txBox="1"/>
          <p:nvPr/>
        </p:nvSpPr>
        <p:spPr>
          <a:xfrm>
            <a:off x="777240" y="5257800"/>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you need NL / unstructured input / fuzzy matching</a:t>
            </a:r>
          </a:p>
        </p:txBody>
      </p:sp>
      <p:sp>
        <p:nvSpPr>
          <p:cNvPr id="9" name="Rounded Rectangle 8"/>
          <p:cNvSpPr/>
          <p:nvPr/>
        </p:nvSpPr>
        <p:spPr>
          <a:xfrm>
            <a:off x="649224" y="4791455"/>
            <a:ext cx="7214616"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758952" y="4873751"/>
            <a:ext cx="310896" cy="310896"/>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58952" y="4873751"/>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2</a:t>
            </a:r>
          </a:p>
        </p:txBody>
      </p:sp>
      <p:sp>
        <p:nvSpPr>
          <p:cNvPr id="12" name="TextBox 11"/>
          <p:cNvSpPr txBox="1"/>
          <p:nvPr/>
        </p:nvSpPr>
        <p:spPr>
          <a:xfrm>
            <a:off x="1179576" y="4791455"/>
            <a:ext cx="6556248"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A single LLM call (prompt; +CoT, +few-shot)</a:t>
            </a:r>
          </a:p>
        </p:txBody>
      </p:sp>
      <p:sp>
        <p:nvSpPr>
          <p:cNvPr id="13" name="TextBox 12"/>
          <p:cNvSpPr txBox="1"/>
          <p:nvPr/>
        </p:nvSpPr>
        <p:spPr>
          <a:xfrm>
            <a:off x="923544" y="4471416"/>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the knowledge is large AND changing AND provenance AND private</a:t>
            </a:r>
          </a:p>
        </p:txBody>
      </p:sp>
      <p:sp>
        <p:nvSpPr>
          <p:cNvPr id="14" name="Rounded Rectangle 13"/>
          <p:cNvSpPr/>
          <p:nvPr/>
        </p:nvSpPr>
        <p:spPr>
          <a:xfrm>
            <a:off x="795528" y="4005071"/>
            <a:ext cx="7068312"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087367"/>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5256" y="4087367"/>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3</a:t>
            </a:r>
          </a:p>
        </p:txBody>
      </p:sp>
      <p:sp>
        <p:nvSpPr>
          <p:cNvPr id="17" name="TextBox 16"/>
          <p:cNvSpPr txBox="1"/>
          <p:nvPr/>
        </p:nvSpPr>
        <p:spPr>
          <a:xfrm>
            <a:off x="1325880" y="4005071"/>
            <a:ext cx="6409944"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RAG / context engineering</a:t>
            </a:r>
          </a:p>
        </p:txBody>
      </p:sp>
      <p:sp>
        <p:nvSpPr>
          <p:cNvPr id="18" name="TextBox 17"/>
          <p:cNvSpPr txBox="1"/>
          <p:nvPr/>
        </p:nvSpPr>
        <p:spPr>
          <a:xfrm>
            <a:off x="1069848" y="3685031"/>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the task is multi-step, the sequence is known in advance</a:t>
            </a:r>
          </a:p>
        </p:txBody>
      </p:sp>
      <p:sp>
        <p:nvSpPr>
          <p:cNvPr id="19" name="Rounded Rectangle 18"/>
          <p:cNvSpPr/>
          <p:nvPr/>
        </p:nvSpPr>
        <p:spPr>
          <a:xfrm>
            <a:off x="941832" y="3218687"/>
            <a:ext cx="6922008"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1051560" y="3300983"/>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1560" y="3300983"/>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4</a:t>
            </a:r>
          </a:p>
        </p:txBody>
      </p:sp>
      <p:sp>
        <p:nvSpPr>
          <p:cNvPr id="22" name="TextBox 21"/>
          <p:cNvSpPr txBox="1"/>
          <p:nvPr/>
        </p:nvSpPr>
        <p:spPr>
          <a:xfrm>
            <a:off x="1472184" y="3218687"/>
            <a:ext cx="6263640"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Workflow (predefined paths)</a:t>
            </a:r>
          </a:p>
        </p:txBody>
      </p:sp>
      <p:sp>
        <p:nvSpPr>
          <p:cNvPr id="23" name="TextBox 22"/>
          <p:cNvSpPr txBox="1"/>
          <p:nvPr/>
        </p:nvSpPr>
        <p:spPr>
          <a:xfrm>
            <a:off x="1216152" y="2898648"/>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unpredictable AND the value justifies multiple cost/risk</a:t>
            </a:r>
          </a:p>
        </p:txBody>
      </p:sp>
      <p:sp>
        <p:nvSpPr>
          <p:cNvPr id="24" name="Rounded Rectangle 23"/>
          <p:cNvSpPr/>
          <p:nvPr/>
        </p:nvSpPr>
        <p:spPr>
          <a:xfrm>
            <a:off x="1088136" y="2432303"/>
            <a:ext cx="6775704"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1197864" y="2514599"/>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197864" y="2514599"/>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5</a:t>
            </a:r>
          </a:p>
        </p:txBody>
      </p:sp>
      <p:sp>
        <p:nvSpPr>
          <p:cNvPr id="27" name="TextBox 26"/>
          <p:cNvSpPr txBox="1"/>
          <p:nvPr/>
        </p:nvSpPr>
        <p:spPr>
          <a:xfrm>
            <a:off x="1618488" y="2432303"/>
            <a:ext cx="6117336"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Agent (plan→act→check→iterate + limits)</a:t>
            </a:r>
          </a:p>
        </p:txBody>
      </p:sp>
      <p:sp>
        <p:nvSpPr>
          <p:cNvPr id="28" name="TextBox 27"/>
          <p:cNvSpPr txBox="1"/>
          <p:nvPr/>
        </p:nvSpPr>
        <p:spPr>
          <a:xfrm>
            <a:off x="1362456" y="2112263"/>
            <a:ext cx="6903720" cy="310896"/>
          </a:xfrm>
          <a:prstGeom prst="rect">
            <a:avLst/>
          </a:prstGeom>
          <a:noFill/>
        </p:spPr>
        <p:txBody>
          <a:bodyPr wrap="square" lIns="0" rIns="0" tIns="0" bIns="0" anchor="ctr">
            <a:spAutoFit/>
          </a:bodyPr>
          <a:lstStyle/>
          <a:p>
            <a:pPr algn="l">
              <a:lnSpc>
                <a:spcPct val="115000"/>
              </a:lnSpc>
            </a:pPr>
            <a:r>
              <a:rPr sz="1000" b="0" i="1">
                <a:solidFill>
                  <a:srgbClr val="5B6678"/>
                </a:solidFill>
                <a:latin typeface="Arial"/>
              </a:rPr>
              <a:t>↑  the subtasks are broadly-parallel AND independent AND high-value</a:t>
            </a:r>
          </a:p>
        </p:txBody>
      </p:sp>
      <p:sp>
        <p:nvSpPr>
          <p:cNvPr id="29" name="Rounded Rectangle 28"/>
          <p:cNvSpPr/>
          <p:nvPr/>
        </p:nvSpPr>
        <p:spPr>
          <a:xfrm>
            <a:off x="1234440" y="1645919"/>
            <a:ext cx="6629400" cy="475488"/>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1344168" y="1728215"/>
            <a:ext cx="310896" cy="310896"/>
          </a:xfrm>
          <a:prstGeom prst="ellipse">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344168" y="1728215"/>
            <a:ext cx="310896" cy="310896"/>
          </a:xfrm>
          <a:prstGeom prst="rect">
            <a:avLst/>
          </a:prstGeom>
          <a:noFill/>
        </p:spPr>
        <p:txBody>
          <a:bodyPr wrap="square" lIns="0" rIns="0" tIns="0" bIns="0" anchor="ctr">
            <a:spAutoFit/>
          </a:bodyPr>
          <a:lstStyle/>
          <a:p>
            <a:pPr algn="ctr">
              <a:lnSpc>
                <a:spcPct val="115000"/>
              </a:lnSpc>
            </a:pPr>
            <a:r>
              <a:rPr sz="1400" b="1" i="0">
                <a:solidFill>
                  <a:srgbClr val="FFFFFF"/>
                </a:solidFill>
                <a:latin typeface="Arial"/>
              </a:rPr>
              <a:t>6</a:t>
            </a:r>
          </a:p>
        </p:txBody>
      </p:sp>
      <p:sp>
        <p:nvSpPr>
          <p:cNvPr id="32" name="TextBox 31"/>
          <p:cNvSpPr txBox="1"/>
          <p:nvPr/>
        </p:nvSpPr>
        <p:spPr>
          <a:xfrm>
            <a:off x="1764792" y="1645919"/>
            <a:ext cx="5971032" cy="475488"/>
          </a:xfrm>
          <a:prstGeom prst="rect">
            <a:avLst/>
          </a:prstGeom>
          <a:noFill/>
        </p:spPr>
        <p:txBody>
          <a:bodyPr wrap="square" lIns="0" rIns="0" tIns="0" bIns="0" anchor="ctr">
            <a:spAutoFit/>
          </a:bodyPr>
          <a:lstStyle/>
          <a:p>
            <a:pPr algn="l">
              <a:lnSpc>
                <a:spcPct val="100000"/>
              </a:lnSpc>
            </a:pPr>
            <a:r>
              <a:rPr sz="1250" b="1" i="0">
                <a:solidFill>
                  <a:srgbClr val="21295C"/>
                </a:solidFill>
                <a:latin typeface="Arial"/>
              </a:rPr>
              <a:t>Multi-agent</a:t>
            </a:r>
          </a:p>
        </p:txBody>
      </p:sp>
      <p:sp>
        <p:nvSpPr>
          <p:cNvPr id="33" name="Up Arrow 32"/>
          <p:cNvSpPr/>
          <p:nvPr/>
        </p:nvSpPr>
        <p:spPr>
          <a:xfrm>
            <a:off x="7918704" y="1810512"/>
            <a:ext cx="237744" cy="4224528"/>
          </a:xfrm>
          <a:prstGeom prst="upArrow">
            <a:avLst/>
          </a:prstGeom>
          <a:solidFill>
            <a:srgbClr val="D9E2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589520" y="1444752"/>
            <a:ext cx="914400" cy="292608"/>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harder ↑</a:t>
            </a:r>
          </a:p>
        </p:txBody>
      </p:sp>
      <p:sp>
        <p:nvSpPr>
          <p:cNvPr id="35" name="TextBox 34"/>
          <p:cNvSpPr txBox="1"/>
          <p:nvPr/>
        </p:nvSpPr>
        <p:spPr>
          <a:xfrm>
            <a:off x="7589520" y="6053328"/>
            <a:ext cx="914400" cy="292608"/>
          </a:xfrm>
          <a:prstGeom prst="rect">
            <a:avLst/>
          </a:prstGeom>
          <a:noFill/>
        </p:spPr>
        <p:txBody>
          <a:bodyPr wrap="square" lIns="0" rIns="0" tIns="0" bIns="0" anchor="t">
            <a:spAutoFit/>
          </a:bodyPr>
          <a:lstStyle/>
          <a:p>
            <a:pPr algn="ctr">
              <a:lnSpc>
                <a:spcPct val="115000"/>
              </a:lnSpc>
            </a:pPr>
            <a:r>
              <a:rPr sz="1050" b="1" i="0">
                <a:solidFill>
                  <a:srgbClr val="1C7293"/>
                </a:solidFill>
                <a:latin typeface="Arial"/>
              </a:rPr>
              <a:t>simpler ↓</a:t>
            </a:r>
          </a:p>
        </p:txBody>
      </p:sp>
      <p:sp>
        <p:nvSpPr>
          <p:cNvPr id="36" name="Rounded Rectangle 35"/>
          <p:cNvSpPr/>
          <p:nvPr/>
        </p:nvSpPr>
        <p:spPr>
          <a:xfrm>
            <a:off x="8366760" y="1417320"/>
            <a:ext cx="3337560" cy="4617720"/>
          </a:xfrm>
          <a:prstGeom prst="roundRect">
            <a:avLst>
              <a:gd name="adj" fmla="val 913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7" name="Picture 36" descr="milestone-gold.png"/>
          <p:cNvPicPr>
            <a:picLocks noChangeAspect="1"/>
          </p:cNvPicPr>
          <p:nvPr/>
        </p:nvPicPr>
        <p:blipFill>
          <a:blip r:embed="rId2"/>
          <a:stretch>
            <a:fillRect/>
          </a:stretch>
        </p:blipFill>
        <p:spPr>
          <a:xfrm>
            <a:off x="8613648" y="1691640"/>
            <a:ext cx="566928" cy="566928"/>
          </a:xfrm>
          <a:prstGeom prst="rect">
            <a:avLst/>
          </a:prstGeom>
        </p:spPr>
      </p:pic>
      <p:sp>
        <p:nvSpPr>
          <p:cNvPr id="38" name="TextBox 37"/>
          <p:cNvSpPr txBox="1"/>
          <p:nvPr/>
        </p:nvSpPr>
        <p:spPr>
          <a:xfrm>
            <a:off x="8613648" y="2468880"/>
            <a:ext cx="2880360" cy="1600200"/>
          </a:xfrm>
          <a:prstGeom prst="rect">
            <a:avLst/>
          </a:prstGeom>
          <a:noFill/>
        </p:spPr>
        <p:txBody>
          <a:bodyPr wrap="square" lIns="0" rIns="0" tIns="0" bIns="0" anchor="t">
            <a:spAutoFit/>
          </a:bodyPr>
          <a:lstStyle/>
          <a:p>
            <a:pPr algn="l">
              <a:lnSpc>
                <a:spcPct val="124000"/>
              </a:lnSpc>
            </a:pPr>
            <a:r>
              <a:rPr sz="1600" b="1" i="0">
                <a:solidFill>
                  <a:srgbClr val="21295C"/>
                </a:solidFill>
                <a:latin typeface="Arial"/>
              </a:rPr>
              <a:t>Stay on the lowest rung that covers the requirements.</a:t>
            </a:r>
          </a:p>
        </p:txBody>
      </p:sp>
      <p:sp>
        <p:nvSpPr>
          <p:cNvPr id="39" name="TextBox 38"/>
          <p:cNvSpPr txBox="1"/>
          <p:nvPr/>
        </p:nvSpPr>
        <p:spPr>
          <a:xfrm>
            <a:off x="8613648" y="4069080"/>
            <a:ext cx="2880360" cy="1874519"/>
          </a:xfrm>
          <a:prstGeom prst="rect">
            <a:avLst/>
          </a:prstGeom>
          <a:noFill/>
        </p:spPr>
        <p:txBody>
          <a:bodyPr wrap="square" lIns="0" rIns="0" tIns="0" bIns="0" anchor="t">
            <a:spAutoFit/>
          </a:bodyPr>
          <a:lstStyle/>
          <a:p>
            <a:pPr algn="l">
              <a:lnSpc>
                <a:spcPct val="122000"/>
              </a:lnSpc>
            </a:pPr>
            <a:r>
              <a:rPr sz="1350" b="0" i="0">
                <a:solidFill>
                  <a:srgbClr val="21295C"/>
                </a:solidFill>
                <a:latin typeface="Arial"/>
              </a:rPr>
              <a:t>Every climb is a TRADE-OFF</a:t>
            </a:r>
            <a:r>
              <a:rPr sz="702" baseline="30000" b="0" i="1">
                <a:latin typeface="Arial"/>
                <a:cs typeface="Arial"/>
                <a:ea typeface="Arial"/>
                <a:solidFill>
                  <a:srgbClr val="1C7293"/>
                </a:solidFill>
              </a:rPr>
              <a:t>[1]</a:t>
            </a:r>
            <a:r>
              <a:rPr sz="1350" b="0" i="0">
                <a:latin typeface="Arial"/>
                <a:cs typeface="Arial"/>
                <a:ea typeface="Arial"/>
                <a:solidFill>
                  <a:srgbClr val="21295C"/>
                </a:solidFill>
              </a:rPr>
              <a:t> (capabilities ↔ cost, latency, auditability, attack surface), not an improvement.</a:t>
            </a:r>
          </a:p>
        </p:txBody>
      </p:sp>
      <p:sp>
        <p:nvSpPr>
          <p:cNvPr id="40" name="TextBox 39"/>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4"/>
              </a:rPr>
              <a:t>Anthropic — Building Effective Agents (the ladder rule)</a:t>
            </a:r>
            <a:r>
              <a:rPr sz="850" i="1">
                <a:solidFill>
                  <a:srgbClr val="5B6678"/>
                </a:solidFill>
                <a:latin typeface="Arial"/>
              </a:rPr>
              <a:t>   ·   The lowest rung is “plain code, no AI”: the ladder starts with the question “is AI needed at all?”</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The decision plan: a route of questions, not a sum of points.</a:t>
            </a:r>
          </a:p>
        </p:txBody>
      </p:sp>
      <p:sp>
        <p:nvSpPr>
          <p:cNvPr id="3" name="TextBox 2"/>
          <p:cNvSpPr txBox="1"/>
          <p:nvPr/>
        </p:nvSpPr>
        <p:spPr>
          <a:xfrm>
            <a:off x="502920" y="932688"/>
            <a:ext cx="7680960" cy="329184"/>
          </a:xfrm>
          <a:prstGeom prst="rect">
            <a:avLst/>
          </a:prstGeom>
          <a:noFill/>
        </p:spPr>
        <p:txBody>
          <a:bodyPr wrap="square" lIns="0" rIns="0" tIns="0" bIns="0" anchor="t">
            <a:spAutoFit/>
          </a:bodyPr>
          <a:lstStyle/>
          <a:p>
            <a:pPr algn="l">
              <a:lnSpc>
                <a:spcPct val="115000"/>
              </a:lnSpc>
            </a:pPr>
            <a:r>
              <a:rPr sz="1300" b="0" i="1">
                <a:solidFill>
                  <a:srgbClr val="065A82"/>
                </a:solidFill>
                <a:latin typeface="Arial"/>
              </a:rPr>
              <a:t>Walk the task from top to bottom; stop at the first question that triggers</a:t>
            </a:r>
            <a:r>
              <a:rPr sz="676" baseline="30000" b="0" i="1">
                <a:latin typeface="Arial"/>
                <a:cs typeface="Arial"/>
                <a:ea typeface="Arial"/>
                <a:solidFill>
                  <a:srgbClr val="1C7293"/>
                </a:solidFill>
              </a:rPr>
              <a:t>[1]</a:t>
            </a:r>
            <a:r>
              <a:rPr sz="1300" b="0" i="1">
                <a:latin typeface="Arial"/>
                <a:cs typeface="Arial"/>
                <a:ea typeface="Arial"/>
                <a:solidFill>
                  <a:srgbClr val="065A82"/>
                </a:solidFill>
              </a:rPr>
              <a:t>.</a:t>
            </a:r>
          </a:p>
        </p:txBody>
      </p:sp>
      <p:sp>
        <p:nvSpPr>
          <p:cNvPr id="4" name="Rounded Rectangle 3"/>
          <p:cNvSpPr/>
          <p:nvPr/>
        </p:nvSpPr>
        <p:spPr>
          <a:xfrm>
            <a:off x="502920" y="1280160"/>
            <a:ext cx="4892040" cy="457200"/>
          </a:xfrm>
          <a:prstGeom prst="roundRect">
            <a:avLst>
              <a:gd name="adj" fmla="val 22000"/>
            </a:avLst>
          </a:prstGeom>
          <a:solidFill>
            <a:srgbClr val="FDF3DC"/>
          </a:solidFill>
          <a:ln w="317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12648" y="1362456"/>
            <a:ext cx="292608" cy="292608"/>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1362456"/>
            <a:ext cx="292608" cy="292608"/>
          </a:xfrm>
          <a:prstGeom prst="rect">
            <a:avLst/>
          </a:prstGeom>
          <a:noFill/>
        </p:spPr>
        <p:txBody>
          <a:bodyPr wrap="square" lIns="0" rIns="0" tIns="0" bIns="0" anchor="ctr">
            <a:spAutoFit/>
          </a:bodyPr>
          <a:lstStyle/>
          <a:p>
            <a:pPr algn="ctr">
              <a:lnSpc>
                <a:spcPct val="115000"/>
              </a:lnSpc>
            </a:pPr>
            <a:r>
              <a:rPr sz="1300" b="1" i="0">
                <a:solidFill>
                  <a:srgbClr val="21295C"/>
                </a:solidFill>
                <a:latin typeface="Arial"/>
              </a:rPr>
              <a:t>1</a:t>
            </a:r>
          </a:p>
        </p:txBody>
      </p:sp>
      <p:sp>
        <p:nvSpPr>
          <p:cNvPr id="7" name="TextBox 6"/>
          <p:cNvSpPr txBox="1"/>
          <p:nvPr/>
        </p:nvSpPr>
        <p:spPr>
          <a:xfrm>
            <a:off x="996696" y="1280160"/>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Deterministic and verifiable?</a:t>
            </a:r>
          </a:p>
        </p:txBody>
      </p:sp>
      <p:sp>
        <p:nvSpPr>
          <p:cNvPr id="8" name="Rounded Rectangle 7"/>
          <p:cNvSpPr/>
          <p:nvPr/>
        </p:nvSpPr>
        <p:spPr>
          <a:xfrm>
            <a:off x="5504688" y="1325880"/>
            <a:ext cx="2788920" cy="365760"/>
          </a:xfrm>
          <a:prstGeom prst="roundRect">
            <a:avLst>
              <a:gd name="adj" fmla="val 12000"/>
            </a:avLst>
          </a:prstGeom>
          <a:solidFill>
            <a:srgbClr val="F0AB0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14416" y="1325880"/>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yes → plain code · STOP</a:t>
            </a:r>
          </a:p>
        </p:txBody>
      </p:sp>
      <p:sp>
        <p:nvSpPr>
          <p:cNvPr id="10" name="Right Arrow 9"/>
          <p:cNvSpPr/>
          <p:nvPr/>
        </p:nvSpPr>
        <p:spPr>
          <a:xfrm>
            <a:off x="5399531" y="1426463"/>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 y="1719072"/>
            <a:ext cx="1097280" cy="114300"/>
          </a:xfrm>
          <a:prstGeom prst="rect">
            <a:avLst/>
          </a:prstGeom>
          <a:noFill/>
        </p:spPr>
        <p:txBody>
          <a:bodyPr wrap="square" lIns="0" rIns="0" tIns="0" bIns="0" anchor="t">
            <a:spAutoFit/>
          </a:bodyPr>
          <a:lstStyle/>
          <a:p>
            <a:pPr algn="l">
              <a:lnSpc>
                <a:spcPct val="115000"/>
              </a:lnSpc>
            </a:pPr>
            <a:r>
              <a:rPr sz="900" b="0" i="1">
                <a:solidFill>
                  <a:srgbClr val="5B6678"/>
                </a:solidFill>
                <a:latin typeface="Arial"/>
              </a:rPr>
              <a:t>no ↓</a:t>
            </a:r>
          </a:p>
        </p:txBody>
      </p:sp>
      <p:sp>
        <p:nvSpPr>
          <p:cNvPr id="12" name="Rounded Rectangle 11"/>
          <p:cNvSpPr/>
          <p:nvPr/>
        </p:nvSpPr>
        <p:spPr>
          <a:xfrm>
            <a:off x="502920" y="1815084"/>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12648" y="1897379"/>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12648" y="1897379"/>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2</a:t>
            </a:r>
          </a:p>
        </p:txBody>
      </p:sp>
      <p:sp>
        <p:nvSpPr>
          <p:cNvPr id="15" name="TextBox 14"/>
          <p:cNvSpPr txBox="1"/>
          <p:nvPr/>
        </p:nvSpPr>
        <p:spPr>
          <a:xfrm>
            <a:off x="996696" y="1815084"/>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Does a single call (+CoT) cover it?</a:t>
            </a:r>
          </a:p>
        </p:txBody>
      </p:sp>
      <p:sp>
        <p:nvSpPr>
          <p:cNvPr id="16" name="Rounded Rectangle 15"/>
          <p:cNvSpPr/>
          <p:nvPr/>
        </p:nvSpPr>
        <p:spPr>
          <a:xfrm>
            <a:off x="5504688" y="1860803"/>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14416" y="1860803"/>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yes → prompt · STOP</a:t>
            </a:r>
          </a:p>
        </p:txBody>
      </p:sp>
      <p:sp>
        <p:nvSpPr>
          <p:cNvPr id="18" name="Right Arrow 17"/>
          <p:cNvSpPr/>
          <p:nvPr/>
        </p:nvSpPr>
        <p:spPr>
          <a:xfrm>
            <a:off x="5399531" y="1961388"/>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9224" y="2253996"/>
            <a:ext cx="1097280" cy="114300"/>
          </a:xfrm>
          <a:prstGeom prst="rect">
            <a:avLst/>
          </a:prstGeom>
          <a:noFill/>
        </p:spPr>
        <p:txBody>
          <a:bodyPr wrap="square" lIns="0" rIns="0" tIns="0" bIns="0" anchor="t">
            <a:spAutoFit/>
          </a:bodyPr>
          <a:lstStyle/>
          <a:p>
            <a:pPr algn="l">
              <a:lnSpc>
                <a:spcPct val="115000"/>
              </a:lnSpc>
            </a:pPr>
            <a:r>
              <a:rPr sz="900" b="0" i="1">
                <a:solidFill>
                  <a:srgbClr val="5B6678"/>
                </a:solidFill>
                <a:latin typeface="Arial"/>
              </a:rPr>
              <a:t>no ↓</a:t>
            </a:r>
          </a:p>
        </p:txBody>
      </p:sp>
      <p:sp>
        <p:nvSpPr>
          <p:cNvPr id="20" name="Rounded Rectangle 19"/>
          <p:cNvSpPr/>
          <p:nvPr/>
        </p:nvSpPr>
        <p:spPr>
          <a:xfrm>
            <a:off x="502920" y="2350008"/>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12648" y="2432303"/>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12648" y="2432303"/>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3</a:t>
            </a:r>
          </a:p>
        </p:txBody>
      </p:sp>
      <p:sp>
        <p:nvSpPr>
          <p:cNvPr id="23" name="TextBox 22"/>
          <p:cNvSpPr txBox="1"/>
          <p:nvPr/>
        </p:nvSpPr>
        <p:spPr>
          <a:xfrm>
            <a:off x="996696" y="2350008"/>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Need provenance to a source?</a:t>
            </a:r>
          </a:p>
        </p:txBody>
      </p:sp>
      <p:sp>
        <p:nvSpPr>
          <p:cNvPr id="24" name="Rounded Rectangle 23"/>
          <p:cNvSpPr/>
          <p:nvPr/>
        </p:nvSpPr>
        <p:spPr>
          <a:xfrm>
            <a:off x="5504688" y="2395727"/>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14416" y="2395727"/>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yes → RAG grounding / code</a:t>
            </a:r>
          </a:p>
        </p:txBody>
      </p:sp>
      <p:sp>
        <p:nvSpPr>
          <p:cNvPr id="26" name="Right Arrow 25"/>
          <p:cNvSpPr/>
          <p:nvPr/>
        </p:nvSpPr>
        <p:spPr>
          <a:xfrm>
            <a:off x="5399531" y="2496312"/>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9224" y="2788920"/>
            <a:ext cx="1097280" cy="114300"/>
          </a:xfrm>
          <a:prstGeom prst="rect">
            <a:avLst/>
          </a:prstGeom>
          <a:noFill/>
        </p:spPr>
        <p:txBody>
          <a:bodyPr wrap="square" lIns="0" rIns="0" tIns="0" bIns="0" anchor="t">
            <a:spAutoFit/>
          </a:bodyPr>
          <a:lstStyle/>
          <a:p>
            <a:pPr algn="l">
              <a:lnSpc>
                <a:spcPct val="115000"/>
              </a:lnSpc>
            </a:pPr>
            <a:r>
              <a:rPr sz="900" b="0" i="1">
                <a:solidFill>
                  <a:srgbClr val="5B6678"/>
                </a:solidFill>
                <a:latin typeface="Arial"/>
              </a:rPr>
              <a:t>no ↓</a:t>
            </a:r>
          </a:p>
        </p:txBody>
      </p:sp>
      <p:sp>
        <p:nvSpPr>
          <p:cNvPr id="28" name="Rounded Rectangle 27"/>
          <p:cNvSpPr/>
          <p:nvPr/>
        </p:nvSpPr>
        <p:spPr>
          <a:xfrm>
            <a:off x="502920" y="2884932"/>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612648" y="2967227"/>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12648" y="2967227"/>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4</a:t>
            </a:r>
          </a:p>
        </p:txBody>
      </p:sp>
      <p:sp>
        <p:nvSpPr>
          <p:cNvPr id="31" name="TextBox 30"/>
          <p:cNvSpPr txBox="1"/>
          <p:nvPr/>
        </p:nvSpPr>
        <p:spPr>
          <a:xfrm>
            <a:off x="996696" y="2884932"/>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Knowledge changes / provenance?</a:t>
            </a:r>
          </a:p>
        </p:txBody>
      </p:sp>
      <p:sp>
        <p:nvSpPr>
          <p:cNvPr id="32" name="Rounded Rectangle 31"/>
          <p:cNvSpPr/>
          <p:nvPr/>
        </p:nvSpPr>
        <p:spPr>
          <a:xfrm>
            <a:off x="5504688" y="2930651"/>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14416" y="2930651"/>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yes → RAG (not FT)</a:t>
            </a:r>
          </a:p>
        </p:txBody>
      </p:sp>
      <p:sp>
        <p:nvSpPr>
          <p:cNvPr id="34" name="Right Arrow 33"/>
          <p:cNvSpPr/>
          <p:nvPr/>
        </p:nvSpPr>
        <p:spPr>
          <a:xfrm>
            <a:off x="5399531" y="3031236"/>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9224" y="3323844"/>
            <a:ext cx="1097280" cy="114300"/>
          </a:xfrm>
          <a:prstGeom prst="rect">
            <a:avLst/>
          </a:prstGeom>
          <a:noFill/>
        </p:spPr>
        <p:txBody>
          <a:bodyPr wrap="square" lIns="0" rIns="0" tIns="0" bIns="0" anchor="t">
            <a:spAutoFit/>
          </a:bodyPr>
          <a:lstStyle/>
          <a:p>
            <a:pPr algn="l">
              <a:lnSpc>
                <a:spcPct val="115000"/>
              </a:lnSpc>
            </a:pPr>
            <a:r>
              <a:rPr sz="900" b="0" i="1">
                <a:solidFill>
                  <a:srgbClr val="5B6678"/>
                </a:solidFill>
                <a:latin typeface="Arial"/>
              </a:rPr>
              <a:t>no ↓</a:t>
            </a:r>
          </a:p>
        </p:txBody>
      </p:sp>
      <p:sp>
        <p:nvSpPr>
          <p:cNvPr id="36" name="Rounded Rectangle 35"/>
          <p:cNvSpPr/>
          <p:nvPr/>
        </p:nvSpPr>
        <p:spPr>
          <a:xfrm>
            <a:off x="502920" y="3419856"/>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612648" y="3502151"/>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2648" y="3502151"/>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5</a:t>
            </a:r>
          </a:p>
        </p:txBody>
      </p:sp>
      <p:sp>
        <p:nvSpPr>
          <p:cNvPr id="39" name="TextBox 38"/>
          <p:cNvSpPr txBox="1"/>
          <p:nvPr/>
        </p:nvSpPr>
        <p:spPr>
          <a:xfrm>
            <a:off x="996696" y="3419856"/>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Need behavior / tone / format?</a:t>
            </a:r>
          </a:p>
        </p:txBody>
      </p:sp>
      <p:sp>
        <p:nvSpPr>
          <p:cNvPr id="40" name="Rounded Rectangle 39"/>
          <p:cNvSpPr/>
          <p:nvPr/>
        </p:nvSpPr>
        <p:spPr>
          <a:xfrm>
            <a:off x="5504688" y="3465575"/>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5614416" y="3465575"/>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yes → fine-tuning (PEFT)</a:t>
            </a:r>
          </a:p>
        </p:txBody>
      </p:sp>
      <p:sp>
        <p:nvSpPr>
          <p:cNvPr id="42" name="Right Arrow 41"/>
          <p:cNvSpPr/>
          <p:nvPr/>
        </p:nvSpPr>
        <p:spPr>
          <a:xfrm>
            <a:off x="5399531" y="3566160"/>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9224" y="3858768"/>
            <a:ext cx="1097280" cy="114300"/>
          </a:xfrm>
          <a:prstGeom prst="rect">
            <a:avLst/>
          </a:prstGeom>
          <a:noFill/>
        </p:spPr>
        <p:txBody>
          <a:bodyPr wrap="square" lIns="0" rIns="0" tIns="0" bIns="0" anchor="t">
            <a:spAutoFit/>
          </a:bodyPr>
          <a:lstStyle/>
          <a:p>
            <a:pPr algn="l">
              <a:lnSpc>
                <a:spcPct val="115000"/>
              </a:lnSpc>
            </a:pPr>
            <a:r>
              <a:rPr sz="900" b="0" i="1">
                <a:solidFill>
                  <a:srgbClr val="5B6678"/>
                </a:solidFill>
                <a:latin typeface="Arial"/>
              </a:rPr>
              <a:t>no ↓</a:t>
            </a:r>
          </a:p>
        </p:txBody>
      </p:sp>
      <p:sp>
        <p:nvSpPr>
          <p:cNvPr id="44" name="Rounded Rectangle 43"/>
          <p:cNvSpPr/>
          <p:nvPr/>
        </p:nvSpPr>
        <p:spPr>
          <a:xfrm>
            <a:off x="502920" y="3954779"/>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612648" y="4037075"/>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12648" y="4037075"/>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6</a:t>
            </a:r>
          </a:p>
        </p:txBody>
      </p:sp>
      <p:sp>
        <p:nvSpPr>
          <p:cNvPr id="47" name="TextBox 46"/>
          <p:cNvSpPr txBox="1"/>
          <p:nvPr/>
        </p:nvSpPr>
        <p:spPr>
          <a:xfrm>
            <a:off x="996696" y="3954779"/>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Multi-step, order known?</a:t>
            </a:r>
          </a:p>
        </p:txBody>
      </p:sp>
      <p:sp>
        <p:nvSpPr>
          <p:cNvPr id="48" name="Rounded Rectangle 47"/>
          <p:cNvSpPr/>
          <p:nvPr/>
        </p:nvSpPr>
        <p:spPr>
          <a:xfrm>
            <a:off x="5504688" y="4000499"/>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5614416" y="4000499"/>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yes → workflow · no → agent+limits</a:t>
            </a:r>
          </a:p>
        </p:txBody>
      </p:sp>
      <p:sp>
        <p:nvSpPr>
          <p:cNvPr id="50" name="Right Arrow 49"/>
          <p:cNvSpPr/>
          <p:nvPr/>
        </p:nvSpPr>
        <p:spPr>
          <a:xfrm>
            <a:off x="5399531" y="4101083"/>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49224" y="4393692"/>
            <a:ext cx="1097280" cy="114300"/>
          </a:xfrm>
          <a:prstGeom prst="rect">
            <a:avLst/>
          </a:prstGeom>
          <a:noFill/>
        </p:spPr>
        <p:txBody>
          <a:bodyPr wrap="square" lIns="0" rIns="0" tIns="0" bIns="0" anchor="t">
            <a:spAutoFit/>
          </a:bodyPr>
          <a:lstStyle/>
          <a:p>
            <a:pPr algn="l">
              <a:lnSpc>
                <a:spcPct val="115000"/>
              </a:lnSpc>
            </a:pPr>
            <a:r>
              <a:rPr sz="900" b="0" i="1">
                <a:solidFill>
                  <a:srgbClr val="5B6678"/>
                </a:solidFill>
                <a:latin typeface="Arial"/>
              </a:rPr>
              <a:t>no ↓</a:t>
            </a:r>
          </a:p>
        </p:txBody>
      </p:sp>
      <p:sp>
        <p:nvSpPr>
          <p:cNvPr id="52" name="Rounded Rectangle 51"/>
          <p:cNvSpPr/>
          <p:nvPr/>
        </p:nvSpPr>
        <p:spPr>
          <a:xfrm>
            <a:off x="502920" y="4489703"/>
            <a:ext cx="4892040" cy="45720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612648" y="4571999"/>
            <a:ext cx="292608" cy="292608"/>
          </a:xfrm>
          <a:prstGeom prst="ellipse">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12648" y="4571999"/>
            <a:ext cx="292608" cy="292608"/>
          </a:xfrm>
          <a:prstGeom prst="rect">
            <a:avLst/>
          </a:prstGeom>
          <a:noFill/>
        </p:spPr>
        <p:txBody>
          <a:bodyPr wrap="square" lIns="0" rIns="0" tIns="0" bIns="0" anchor="ctr">
            <a:spAutoFit/>
          </a:bodyPr>
          <a:lstStyle/>
          <a:p>
            <a:pPr algn="ctr">
              <a:lnSpc>
                <a:spcPct val="115000"/>
              </a:lnSpc>
            </a:pPr>
            <a:r>
              <a:rPr sz="1300" b="1" i="0">
                <a:solidFill>
                  <a:srgbClr val="FFFFFF"/>
                </a:solidFill>
                <a:latin typeface="Arial"/>
              </a:rPr>
              <a:t>7</a:t>
            </a:r>
          </a:p>
        </p:txBody>
      </p:sp>
      <p:sp>
        <p:nvSpPr>
          <p:cNvPr id="55" name="TextBox 54"/>
          <p:cNvSpPr txBox="1"/>
          <p:nvPr/>
        </p:nvSpPr>
        <p:spPr>
          <a:xfrm>
            <a:off x="996696" y="4489703"/>
            <a:ext cx="4270248" cy="457200"/>
          </a:xfrm>
          <a:prstGeom prst="rect">
            <a:avLst/>
          </a:prstGeom>
          <a:noFill/>
        </p:spPr>
        <p:txBody>
          <a:bodyPr wrap="square" lIns="0" rIns="0" tIns="0" bIns="0" anchor="ctr">
            <a:spAutoFit/>
          </a:bodyPr>
          <a:lstStyle/>
          <a:p>
            <a:pPr algn="l">
              <a:lnSpc>
                <a:spcPct val="102000"/>
              </a:lnSpc>
            </a:pPr>
            <a:r>
              <a:rPr sz="1250" b="1" i="0">
                <a:solidFill>
                  <a:srgbClr val="21295C"/>
                </a:solidFill>
                <a:latin typeface="Arial"/>
              </a:rPr>
              <a:t>Subtasks parallel+independent?</a:t>
            </a:r>
          </a:p>
        </p:txBody>
      </p:sp>
      <p:sp>
        <p:nvSpPr>
          <p:cNvPr id="56" name="Rounded Rectangle 55"/>
          <p:cNvSpPr/>
          <p:nvPr/>
        </p:nvSpPr>
        <p:spPr>
          <a:xfrm>
            <a:off x="5504688" y="4535423"/>
            <a:ext cx="2788920" cy="365760"/>
          </a:xfrm>
          <a:prstGeom prst="roundRect">
            <a:avLst>
              <a:gd name="adj" fmla="val 12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614416" y="4535423"/>
            <a:ext cx="2569463" cy="365760"/>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yes → multi-agent · no → linear</a:t>
            </a:r>
          </a:p>
        </p:txBody>
      </p:sp>
      <p:sp>
        <p:nvSpPr>
          <p:cNvPr id="58" name="Right Arrow 57"/>
          <p:cNvSpPr/>
          <p:nvPr/>
        </p:nvSpPr>
        <p:spPr>
          <a:xfrm>
            <a:off x="5399531" y="4636007"/>
            <a:ext cx="100584" cy="164592"/>
          </a:xfrm>
          <a:prstGeom prst="rightArrow">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ounded Rectangle 58"/>
          <p:cNvSpPr/>
          <p:nvPr/>
        </p:nvSpPr>
        <p:spPr>
          <a:xfrm>
            <a:off x="502920" y="5042915"/>
            <a:ext cx="7790688" cy="329184"/>
          </a:xfrm>
          <a:prstGeom prst="roundRect">
            <a:avLst>
              <a:gd name="adj" fmla="val 14000"/>
            </a:avLst>
          </a:prstGeom>
          <a:solidFill>
            <a:srgbClr val="E4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49224" y="5052059"/>
            <a:ext cx="7516367" cy="310896"/>
          </a:xfrm>
          <a:prstGeom prst="rect">
            <a:avLst/>
          </a:prstGeom>
          <a:noFill/>
        </p:spPr>
        <p:txBody>
          <a:bodyPr wrap="square" lIns="0" rIns="0" tIns="0" bIns="0" anchor="ctr">
            <a:spAutoFit/>
          </a:bodyPr>
          <a:lstStyle/>
          <a:p>
            <a:pPr algn="l">
              <a:lnSpc>
                <a:spcPct val="102000"/>
              </a:lnSpc>
            </a:pPr>
            <a:r>
              <a:rPr sz="1050" b="1" i="0">
                <a:solidFill>
                  <a:srgbClr val="21295C"/>
                </a:solidFill>
                <a:latin typeface="Arial"/>
              </a:rPr>
              <a:t>8. Is the data sensitive? → in parallel at EVERY step: a data map + least-privilege + ZDR/BAA</a:t>
            </a:r>
          </a:p>
        </p:txBody>
      </p:sp>
      <p:sp>
        <p:nvSpPr>
          <p:cNvPr id="61" name="Rounded Rectangle 60"/>
          <p:cNvSpPr/>
          <p:nvPr/>
        </p:nvSpPr>
        <p:spPr>
          <a:xfrm>
            <a:off x="8321040" y="1335024"/>
            <a:ext cx="3383280" cy="2331720"/>
          </a:xfrm>
          <a:prstGeom prst="roundRect">
            <a:avLst>
              <a:gd name="adj" fmla="val 13071"/>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8540496" y="1463040"/>
            <a:ext cx="2944368" cy="310896"/>
          </a:xfrm>
          <a:prstGeom prst="rect">
            <a:avLst/>
          </a:prstGeom>
          <a:noFill/>
        </p:spPr>
        <p:txBody>
          <a:bodyPr wrap="square" lIns="0" rIns="0" tIns="0" bIns="0" anchor="t">
            <a:spAutoFit/>
          </a:bodyPr>
          <a:lstStyle/>
          <a:p>
            <a:pPr algn="l">
              <a:lnSpc>
                <a:spcPct val="115000"/>
              </a:lnSpc>
            </a:pPr>
            <a:r>
              <a:rPr sz="1350" b="1" i="0">
                <a:solidFill>
                  <a:srgbClr val="028090"/>
                </a:solidFill>
                <a:latin typeface="Arial"/>
              </a:rPr>
              <a:t>Example (task A)</a:t>
            </a:r>
          </a:p>
        </p:txBody>
      </p:sp>
      <p:sp>
        <p:nvSpPr>
          <p:cNvPr id="63" name="TextBox 62"/>
          <p:cNvSpPr txBox="1"/>
          <p:nvPr/>
        </p:nvSpPr>
        <p:spPr>
          <a:xfrm>
            <a:off x="8540496" y="1792224"/>
            <a:ext cx="2944368" cy="1783080"/>
          </a:xfrm>
          <a:prstGeom prst="rect">
            <a:avLst/>
          </a:prstGeom>
          <a:noFill/>
        </p:spPr>
        <p:txBody>
          <a:bodyPr wrap="square" lIns="0" rIns="0" tIns="0" bIns="0" anchor="t">
            <a:spAutoFit/>
          </a:bodyPr>
          <a:lstStyle/>
          <a:p>
            <a:pPr algn="l">
              <a:lnSpc>
                <a:spcPct val="120000"/>
              </a:lnSpc>
            </a:pPr>
            <a:r>
              <a:rPr sz="1200" b="0" i="0">
                <a:solidFill>
                  <a:srgbClr val="21295C"/>
                </a:solidFill>
                <a:latin typeface="Arial"/>
              </a:rPr>
              <a:t>“2000 regulations, updated weekly, an answer with a link to the clause” → question 4 (changes+provenance) is decisive → RAG with strict grounding. Not FT (goes stale), not code (needs NL).</a:t>
            </a:r>
          </a:p>
        </p:txBody>
      </p:sp>
      <p:sp>
        <p:nvSpPr>
          <p:cNvPr id="64" name="Rounded Rectangle 63"/>
          <p:cNvSpPr/>
          <p:nvPr/>
        </p:nvSpPr>
        <p:spPr>
          <a:xfrm>
            <a:off x="8321040" y="3767328"/>
            <a:ext cx="3383280" cy="1691640"/>
          </a:xfrm>
          <a:prstGeom prst="roundRect">
            <a:avLst>
              <a:gd name="adj" fmla="val 180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8540496" y="3895344"/>
            <a:ext cx="2944368" cy="310896"/>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Warm-up (task B)</a:t>
            </a:r>
          </a:p>
        </p:txBody>
      </p:sp>
      <p:sp>
        <p:nvSpPr>
          <p:cNvPr id="66" name="TextBox 65"/>
          <p:cNvSpPr txBox="1"/>
          <p:nvPr/>
        </p:nvSpPr>
        <p:spPr>
          <a:xfrm>
            <a:off x="8540496" y="4224528"/>
            <a:ext cx="2944368" cy="1188720"/>
          </a:xfrm>
          <a:prstGeom prst="rect">
            <a:avLst/>
          </a:prstGeom>
          <a:noFill/>
        </p:spPr>
        <p:txBody>
          <a:bodyPr wrap="square" lIns="0" rIns="0" tIns="0" bIns="0" anchor="t">
            <a:spAutoFit/>
          </a:bodyPr>
          <a:lstStyle/>
          <a:p>
            <a:pPr algn="l">
              <a:lnSpc>
                <a:spcPct val="118000"/>
              </a:lnSpc>
            </a:pPr>
            <a:r>
              <a:rPr sz="1200" b="0" i="0">
                <a:solidFill>
                  <a:srgbClr val="21295C"/>
                </a:solidFill>
                <a:latin typeface="Arial"/>
              </a:rPr>
              <a:t>“a bot over ~150 FAQs, updated once a quarter” — walk the route yourself; discussed in the seminar.</a:t>
            </a:r>
          </a:p>
        </p:txBody>
      </p:sp>
      <p:sp>
        <p:nvSpPr>
          <p:cNvPr id="67" name="Rounded Rectangle 66"/>
          <p:cNvSpPr/>
          <p:nvPr/>
        </p:nvSpPr>
        <p:spPr>
          <a:xfrm>
            <a:off x="502920" y="5541264"/>
            <a:ext cx="11201400" cy="7498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704088" y="5596127"/>
            <a:ext cx="10799064" cy="640080"/>
          </a:xfrm>
          <a:prstGeom prst="rect">
            <a:avLst/>
          </a:prstGeom>
          <a:noFill/>
        </p:spPr>
        <p:txBody>
          <a:bodyPr wrap="square" lIns="0" rIns="0" tIns="0" bIns="0" anchor="ctr">
            <a:spAutoFit/>
          </a:bodyPr>
          <a:lstStyle/>
          <a:p>
            <a:pPr algn="l">
              <a:lnSpc>
                <a:spcPct val="122000"/>
              </a:lnSpc>
            </a:pPr>
            <a:r>
              <a:rPr sz="1400" b="1" i="0">
                <a:solidFill>
                  <a:srgbClr val="21295C"/>
                </a:solidFill>
                <a:latin typeface="Arial"/>
              </a:rPr>
              <a:t>Route priority: if the task is deterministic and verifiable — plain code, STOP here</a:t>
            </a:r>
            <a:r>
              <a:rPr sz="728" baseline="30000" b="0" i="1">
                <a:latin typeface="Arial"/>
                <a:cs typeface="Arial"/>
                <a:ea typeface="Arial"/>
                <a:solidFill>
                  <a:srgbClr val="1C7293"/>
                </a:solidFill>
              </a:rPr>
              <a:t>[2]</a:t>
            </a:r>
            <a:r>
              <a:rPr sz="1400" b="1" i="0">
                <a:latin typeface="Arial"/>
                <a:cs typeface="Arial"/>
                <a:ea typeface="Arial"/>
                <a:solidFill>
                  <a:srgbClr val="21295C"/>
                </a:solidFill>
              </a:rPr>
              <a:t>. AI would only add nondeterminism, cost, latency, and a surface for prompt injection.</a:t>
            </a:r>
          </a:p>
        </p:txBody>
      </p:sp>
      <p:sp>
        <p:nvSpPr>
          <p:cNvPr id="69" name="TextBox 68"/>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3"/>
              </a:rPr>
              <a:t>Anthropic — Building Effective Agents (the choice route)</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4"/>
              </a:rPr>
              <a:t>McCarthy Tétrault — Air Canada (the bottom row of the matrix)</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400" b="1" i="0">
                <a:solidFill>
                  <a:srgbClr val="21295C"/>
                </a:solidFill>
                <a:latin typeface="Arial"/>
              </a:rPr>
              <a:t>The agent starter kit — and when to complicate it.</a:t>
            </a:r>
          </a:p>
        </p:txBody>
      </p:sp>
      <p:sp>
        <p:nvSpPr>
          <p:cNvPr id="3" name="TextBox 2"/>
          <p:cNvSpPr txBox="1"/>
          <p:nvPr/>
        </p:nvSpPr>
        <p:spPr>
          <a:xfrm>
            <a:off x="502920" y="1042415"/>
            <a:ext cx="11201400" cy="384048"/>
          </a:xfrm>
          <a:prstGeom prst="rect">
            <a:avLst/>
          </a:prstGeom>
          <a:noFill/>
        </p:spPr>
        <p:txBody>
          <a:bodyPr wrap="square" lIns="0" rIns="0" tIns="0" bIns="0" anchor="t">
            <a:spAutoFit/>
          </a:bodyPr>
          <a:lstStyle/>
          <a:p>
            <a:pPr algn="l">
              <a:lnSpc>
                <a:spcPct val="115000"/>
              </a:lnSpc>
            </a:pPr>
            <a:r>
              <a:rPr sz="1350" b="0" i="1">
                <a:solidFill>
                  <a:srgbClr val="065A82"/>
                </a:solidFill>
                <a:latin typeface="Arial"/>
              </a:rPr>
              <a:t>The same “don't complicate without a requirement” ladder, applied one level down — to the harness of a single agent, not the whole system.</a:t>
            </a:r>
          </a:p>
        </p:txBody>
      </p:sp>
      <p:sp>
        <p:nvSpPr>
          <p:cNvPr id="4" name="Rounded Rectangle 3"/>
          <p:cNvSpPr/>
          <p:nvPr/>
        </p:nvSpPr>
        <p:spPr>
          <a:xfrm>
            <a:off x="502920" y="1700784"/>
            <a:ext cx="4069080" cy="3703320"/>
          </a:xfrm>
          <a:prstGeom prst="roundRect">
            <a:avLst>
              <a:gd name="adj" fmla="val 8230"/>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ackage-teal.png"/>
          <p:cNvPicPr>
            <a:picLocks noChangeAspect="1"/>
          </p:cNvPicPr>
          <p:nvPr/>
        </p:nvPicPr>
        <p:blipFill>
          <a:blip r:embed="rId2"/>
          <a:stretch>
            <a:fillRect/>
          </a:stretch>
        </p:blipFill>
        <p:spPr>
          <a:xfrm>
            <a:off x="740664" y="1920240"/>
            <a:ext cx="493776" cy="493776"/>
          </a:xfrm>
          <a:prstGeom prst="rect">
            <a:avLst/>
          </a:prstGeom>
        </p:spPr>
      </p:pic>
      <p:sp>
        <p:nvSpPr>
          <p:cNvPr id="6" name="TextBox 5"/>
          <p:cNvSpPr txBox="1"/>
          <p:nvPr/>
        </p:nvSpPr>
        <p:spPr>
          <a:xfrm>
            <a:off x="1344168" y="1938528"/>
            <a:ext cx="3063240" cy="457200"/>
          </a:xfrm>
          <a:prstGeom prst="rect">
            <a:avLst/>
          </a:prstGeom>
          <a:noFill/>
        </p:spPr>
        <p:txBody>
          <a:bodyPr wrap="square" lIns="0" rIns="0" tIns="0" bIns="0" anchor="ctr">
            <a:spAutoFit/>
          </a:bodyPr>
          <a:lstStyle/>
          <a:p>
            <a:pPr algn="l">
              <a:lnSpc>
                <a:spcPct val="115000"/>
              </a:lnSpc>
            </a:pPr>
            <a:r>
              <a:rPr sz="1600" b="1" i="0">
                <a:solidFill>
                  <a:srgbClr val="028090"/>
                </a:solidFill>
                <a:latin typeface="Arial"/>
              </a:rPr>
              <a:t>Default — a thin agent</a:t>
            </a:r>
          </a:p>
        </p:txBody>
      </p:sp>
      <p:sp>
        <p:nvSpPr>
          <p:cNvPr id="7" name="Oval 6"/>
          <p:cNvSpPr/>
          <p:nvPr/>
        </p:nvSpPr>
        <p:spPr>
          <a:xfrm>
            <a:off x="777240" y="2724912"/>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14984" y="2670048"/>
            <a:ext cx="3300984" cy="438912"/>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one instruction file</a:t>
            </a:r>
          </a:p>
        </p:txBody>
      </p:sp>
      <p:sp>
        <p:nvSpPr>
          <p:cNvPr id="9" name="Oval 8"/>
          <p:cNvSpPr/>
          <p:nvPr/>
        </p:nvSpPr>
        <p:spPr>
          <a:xfrm>
            <a:off x="777240" y="3200400"/>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14984" y="3145536"/>
            <a:ext cx="3300984" cy="438912"/>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flat memory</a:t>
            </a:r>
          </a:p>
        </p:txBody>
      </p:sp>
      <p:sp>
        <p:nvSpPr>
          <p:cNvPr id="11" name="Oval 10"/>
          <p:cNvSpPr/>
          <p:nvPr/>
        </p:nvSpPr>
        <p:spPr>
          <a:xfrm>
            <a:off x="777240" y="3675887"/>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14984" y="3621024"/>
            <a:ext cx="3300984" cy="438912"/>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NO subagents</a:t>
            </a:r>
          </a:p>
        </p:txBody>
      </p:sp>
      <p:sp>
        <p:nvSpPr>
          <p:cNvPr id="13" name="Oval 12"/>
          <p:cNvSpPr/>
          <p:nvPr/>
        </p:nvSpPr>
        <p:spPr>
          <a:xfrm>
            <a:off x="777240" y="4151376"/>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14984" y="4096512"/>
            <a:ext cx="3300984" cy="438912"/>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a minimal set of skills</a:t>
            </a:r>
          </a:p>
        </p:txBody>
      </p:sp>
      <p:sp>
        <p:nvSpPr>
          <p:cNvPr id="15" name="Oval 14"/>
          <p:cNvSpPr/>
          <p:nvPr/>
        </p:nvSpPr>
        <p:spPr>
          <a:xfrm>
            <a:off x="777240" y="4626864"/>
            <a:ext cx="109728" cy="109728"/>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14984" y="4572000"/>
            <a:ext cx="3300984" cy="438912"/>
          </a:xfrm>
          <a:prstGeom prst="rect">
            <a:avLst/>
          </a:prstGeom>
          <a:noFill/>
        </p:spPr>
        <p:txBody>
          <a:bodyPr wrap="square" lIns="0" rIns="0" tIns="0" bIns="0" anchor="t">
            <a:spAutoFit/>
          </a:bodyPr>
          <a:lstStyle/>
          <a:p>
            <a:pPr algn="l">
              <a:lnSpc>
                <a:spcPct val="110000"/>
              </a:lnSpc>
            </a:pPr>
            <a:r>
              <a:rPr sz="1400" b="0" i="0">
                <a:solidFill>
                  <a:srgbClr val="21295C"/>
                </a:solidFill>
                <a:latin typeface="Arial"/>
              </a:rPr>
              <a:t>minimal MCP access</a:t>
            </a:r>
          </a:p>
        </p:txBody>
      </p:sp>
      <p:sp>
        <p:nvSpPr>
          <p:cNvPr id="17" name="TextBox 16"/>
          <p:cNvSpPr txBox="1"/>
          <p:nvPr/>
        </p:nvSpPr>
        <p:spPr>
          <a:xfrm>
            <a:off x="758952" y="4745736"/>
            <a:ext cx="3557016" cy="566928"/>
          </a:xfrm>
          <a:prstGeom prst="rect">
            <a:avLst/>
          </a:prstGeom>
          <a:noFill/>
        </p:spPr>
        <p:txBody>
          <a:bodyPr wrap="square" lIns="0" rIns="0" tIns="0" bIns="0" anchor="t">
            <a:spAutoFit/>
          </a:bodyPr>
          <a:lstStyle/>
          <a:p>
            <a:pPr algn="l">
              <a:lnSpc>
                <a:spcPct val="114000"/>
              </a:lnSpc>
            </a:pPr>
            <a:r>
              <a:rPr sz="1200" b="0" i="1">
                <a:solidFill>
                  <a:srgbClr val="21295C"/>
                </a:solidFill>
                <a:latin typeface="Arial"/>
              </a:rPr>
              <a:t>The burden of proof is on complication, not on simplicity.</a:t>
            </a:r>
          </a:p>
        </p:txBody>
      </p:sp>
      <p:sp>
        <p:nvSpPr>
          <p:cNvPr id="18" name="Rounded Rectangle 17"/>
          <p:cNvSpPr/>
          <p:nvPr/>
        </p:nvSpPr>
        <p:spPr>
          <a:xfrm>
            <a:off x="4846320" y="1700784"/>
            <a:ext cx="6858000" cy="11338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brain-circuit-mid.png"/>
          <p:cNvPicPr>
            <a:picLocks noChangeAspect="1"/>
          </p:cNvPicPr>
          <p:nvPr/>
        </p:nvPicPr>
        <p:blipFill>
          <a:blip r:embed="rId3"/>
          <a:stretch>
            <a:fillRect/>
          </a:stretch>
        </p:blipFill>
        <p:spPr>
          <a:xfrm>
            <a:off x="5065776" y="1901952"/>
            <a:ext cx="420624" cy="420624"/>
          </a:xfrm>
          <a:prstGeom prst="rect">
            <a:avLst/>
          </a:prstGeom>
        </p:spPr>
      </p:pic>
      <p:sp>
        <p:nvSpPr>
          <p:cNvPr id="20" name="TextBox 19"/>
          <p:cNvSpPr txBox="1"/>
          <p:nvPr/>
        </p:nvSpPr>
        <p:spPr>
          <a:xfrm>
            <a:off x="5614416" y="1865376"/>
            <a:ext cx="5897880" cy="329184"/>
          </a:xfrm>
          <a:prstGeom prst="rect">
            <a:avLst/>
          </a:prstGeom>
          <a:noFill/>
        </p:spPr>
        <p:txBody>
          <a:bodyPr wrap="square" lIns="0" rIns="0" tIns="0" bIns="0" anchor="t">
            <a:spAutoFit/>
          </a:bodyPr>
          <a:lstStyle/>
          <a:p>
            <a:pPr algn="l">
              <a:lnSpc>
                <a:spcPct val="115000"/>
              </a:lnSpc>
            </a:pPr>
            <a:r>
              <a:rPr sz="1450" b="1" i="0">
                <a:solidFill>
                  <a:srgbClr val="065A82"/>
                </a:solidFill>
                <a:latin typeface="Arial"/>
              </a:rPr>
              <a:t>A memory backend — when:</a:t>
            </a:r>
          </a:p>
        </p:txBody>
      </p:sp>
      <p:sp>
        <p:nvSpPr>
          <p:cNvPr id="21" name="TextBox 20"/>
          <p:cNvSpPr txBox="1"/>
          <p:nvPr/>
        </p:nvSpPr>
        <p:spPr>
          <a:xfrm>
            <a:off x="5614416" y="2194560"/>
            <a:ext cx="5897880" cy="603504"/>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history has outgrown the context OR you need structured retrieval over facts (not “the last N messages”). The same criterion as the prompt→RAG transition.</a:t>
            </a:r>
          </a:p>
        </p:txBody>
      </p:sp>
      <p:sp>
        <p:nvSpPr>
          <p:cNvPr id="22" name="Rounded Rectangle 21"/>
          <p:cNvSpPr/>
          <p:nvPr/>
        </p:nvSpPr>
        <p:spPr>
          <a:xfrm>
            <a:off x="4846320" y="2980944"/>
            <a:ext cx="6858000" cy="11338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users-mid.png"/>
          <p:cNvPicPr>
            <a:picLocks noChangeAspect="1"/>
          </p:cNvPicPr>
          <p:nvPr/>
        </p:nvPicPr>
        <p:blipFill>
          <a:blip r:embed="rId4"/>
          <a:stretch>
            <a:fillRect/>
          </a:stretch>
        </p:blipFill>
        <p:spPr>
          <a:xfrm>
            <a:off x="5065776" y="3182112"/>
            <a:ext cx="420624" cy="420624"/>
          </a:xfrm>
          <a:prstGeom prst="rect">
            <a:avLst/>
          </a:prstGeom>
        </p:spPr>
      </p:pic>
      <p:sp>
        <p:nvSpPr>
          <p:cNvPr id="24" name="TextBox 23"/>
          <p:cNvSpPr txBox="1"/>
          <p:nvPr/>
        </p:nvSpPr>
        <p:spPr>
          <a:xfrm>
            <a:off x="5614416" y="3145536"/>
            <a:ext cx="5897880" cy="329184"/>
          </a:xfrm>
          <a:prstGeom prst="rect">
            <a:avLst/>
          </a:prstGeom>
          <a:noFill/>
        </p:spPr>
        <p:txBody>
          <a:bodyPr wrap="square" lIns="0" rIns="0" tIns="0" bIns="0" anchor="t">
            <a:spAutoFit/>
          </a:bodyPr>
          <a:lstStyle/>
          <a:p>
            <a:pPr algn="l">
              <a:lnSpc>
                <a:spcPct val="115000"/>
              </a:lnSpc>
            </a:pPr>
            <a:r>
              <a:rPr sz="1450" b="1" i="0">
                <a:solidFill>
                  <a:srgbClr val="065A82"/>
                </a:solidFill>
                <a:latin typeface="Arial"/>
              </a:rPr>
              <a:t>Subagents — when:</a:t>
            </a:r>
          </a:p>
        </p:txBody>
      </p:sp>
      <p:sp>
        <p:nvSpPr>
          <p:cNvPr id="25" name="TextBox 24"/>
          <p:cNvSpPr txBox="1"/>
          <p:nvPr/>
        </p:nvSpPr>
        <p:spPr>
          <a:xfrm>
            <a:off x="5614416" y="3474720"/>
            <a:ext cx="5897880" cy="603504"/>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a subtask requires a separate window (don't clutter the context) OR isolation of untrusted work (least-privilege).</a:t>
            </a:r>
          </a:p>
        </p:txBody>
      </p:sp>
      <p:sp>
        <p:nvSpPr>
          <p:cNvPr id="26" name="Rounded Rectangle 25"/>
          <p:cNvSpPr/>
          <p:nvPr/>
        </p:nvSpPr>
        <p:spPr>
          <a:xfrm>
            <a:off x="4846320" y="4261104"/>
            <a:ext cx="6858000" cy="1133856"/>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able-mid.png"/>
          <p:cNvPicPr>
            <a:picLocks noChangeAspect="1"/>
          </p:cNvPicPr>
          <p:nvPr/>
        </p:nvPicPr>
        <p:blipFill>
          <a:blip r:embed="rId5"/>
          <a:stretch>
            <a:fillRect/>
          </a:stretch>
        </p:blipFill>
        <p:spPr>
          <a:xfrm>
            <a:off x="5065776" y="4462272"/>
            <a:ext cx="420624" cy="420624"/>
          </a:xfrm>
          <a:prstGeom prst="rect">
            <a:avLst/>
          </a:prstGeom>
        </p:spPr>
      </p:pic>
      <p:sp>
        <p:nvSpPr>
          <p:cNvPr id="28" name="TextBox 27"/>
          <p:cNvSpPr txBox="1"/>
          <p:nvPr/>
        </p:nvSpPr>
        <p:spPr>
          <a:xfrm>
            <a:off x="5614416" y="4425696"/>
            <a:ext cx="5897880" cy="329184"/>
          </a:xfrm>
          <a:prstGeom prst="rect">
            <a:avLst/>
          </a:prstGeom>
          <a:noFill/>
        </p:spPr>
        <p:txBody>
          <a:bodyPr wrap="square" lIns="0" rIns="0" tIns="0" bIns="0" anchor="t">
            <a:spAutoFit/>
          </a:bodyPr>
          <a:lstStyle/>
          <a:p>
            <a:pPr algn="l">
              <a:lnSpc>
                <a:spcPct val="115000"/>
              </a:lnSpc>
            </a:pPr>
            <a:r>
              <a:rPr sz="1450" b="1" i="0">
                <a:solidFill>
                  <a:srgbClr val="065A82"/>
                </a:solidFill>
                <a:latin typeface="Arial"/>
              </a:rPr>
              <a:t>More MCP access — when:</a:t>
            </a:r>
          </a:p>
        </p:txBody>
      </p:sp>
      <p:sp>
        <p:nvSpPr>
          <p:cNvPr id="29" name="TextBox 28"/>
          <p:cNvSpPr txBox="1"/>
          <p:nvPr/>
        </p:nvSpPr>
        <p:spPr>
          <a:xfrm>
            <a:off x="5614416" y="4754880"/>
            <a:ext cx="5897880" cy="603504"/>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a specific task requires a specific tool — not “just in case.” Each connection is a new trust boundary.</a:t>
            </a:r>
          </a:p>
        </p:txBody>
      </p:sp>
      <p:sp>
        <p:nvSpPr>
          <p:cNvPr id="30" name="Rounded Rectangle 29"/>
          <p:cNvSpPr/>
          <p:nvPr/>
        </p:nvSpPr>
        <p:spPr>
          <a:xfrm>
            <a:off x="502920" y="5541264"/>
            <a:ext cx="11201400" cy="749808"/>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04088" y="5596127"/>
            <a:ext cx="10799064" cy="640080"/>
          </a:xfrm>
          <a:prstGeom prst="rect">
            <a:avLst/>
          </a:prstGeom>
          <a:noFill/>
        </p:spPr>
        <p:txBody>
          <a:bodyPr wrap="square" lIns="0" rIns="0" tIns="0" bIns="0" anchor="ctr">
            <a:spAutoFit/>
          </a:bodyPr>
          <a:lstStyle/>
          <a:p>
            <a:pPr algn="l">
              <a:lnSpc>
                <a:spcPct val="122000"/>
              </a:lnSpc>
            </a:pPr>
            <a:r>
              <a:rPr sz="1300" b="1" i="0">
                <a:solidFill>
                  <a:srgbClr val="21295C"/>
                </a:solidFill>
                <a:latin typeface="Arial"/>
              </a:rPr>
              <a:t>The same principle as the architecture ladder — applied to the harness of a single agent: the presence paradox showed that even an instruction file “as a ritual” doesn't work. Complicate only for a concrete, verifiable trigger.</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384048"/>
            <a:ext cx="11201400" cy="868680"/>
          </a:xfrm>
          <a:prstGeom prst="rect">
            <a:avLst/>
          </a:prstGeom>
          <a:noFill/>
        </p:spPr>
        <p:txBody>
          <a:bodyPr wrap="square" lIns="0" rIns="0" tIns="0" bIns="0" anchor="t">
            <a:spAutoFit/>
          </a:bodyPr>
          <a:lstStyle/>
          <a:p>
            <a:pPr algn="l">
              <a:lnSpc>
                <a:spcPct val="112000"/>
              </a:lnSpc>
            </a:pPr>
            <a:r>
              <a:rPr sz="2700" b="1" i="0">
                <a:solidFill>
                  <a:srgbClr val="21295C"/>
                </a:solidFill>
                <a:latin typeface="Arial"/>
              </a:rPr>
              <a:t>The human validator + the MIT NANDA lesson.</a:t>
            </a:r>
          </a:p>
        </p:txBody>
      </p:sp>
      <p:sp>
        <p:nvSpPr>
          <p:cNvPr id="3" name="Rounded Rectangle 2"/>
          <p:cNvSpPr/>
          <p:nvPr/>
        </p:nvSpPr>
        <p:spPr>
          <a:xfrm>
            <a:off x="502920" y="1280160"/>
            <a:ext cx="5989320" cy="4069080"/>
          </a:xfrm>
          <a:prstGeom prst="roundRect">
            <a:avLst>
              <a:gd name="adj" fmla="val 749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user-check-mid.png"/>
          <p:cNvPicPr>
            <a:picLocks noChangeAspect="1"/>
          </p:cNvPicPr>
          <p:nvPr/>
        </p:nvPicPr>
        <p:blipFill>
          <a:blip r:embed="rId2"/>
          <a:stretch>
            <a:fillRect/>
          </a:stretch>
        </p:blipFill>
        <p:spPr>
          <a:xfrm>
            <a:off x="740664" y="1499616"/>
            <a:ext cx="475488" cy="475488"/>
          </a:xfrm>
          <a:prstGeom prst="rect">
            <a:avLst/>
          </a:prstGeom>
        </p:spPr>
      </p:pic>
      <p:sp>
        <p:nvSpPr>
          <p:cNvPr id="5" name="TextBox 4"/>
          <p:cNvSpPr txBox="1"/>
          <p:nvPr/>
        </p:nvSpPr>
        <p:spPr>
          <a:xfrm>
            <a:off x="1344168" y="1499616"/>
            <a:ext cx="4983479" cy="457200"/>
          </a:xfrm>
          <a:prstGeom prst="rect">
            <a:avLst/>
          </a:prstGeom>
          <a:noFill/>
        </p:spPr>
        <p:txBody>
          <a:bodyPr wrap="square" lIns="0" rIns="0" tIns="0" bIns="0" anchor="ctr">
            <a:spAutoFit/>
          </a:bodyPr>
          <a:lstStyle/>
          <a:p>
            <a:pPr algn="l">
              <a:lnSpc>
                <a:spcPct val="105000"/>
              </a:lnSpc>
            </a:pPr>
            <a:r>
              <a:rPr sz="1500" b="1" i="0">
                <a:solidFill>
                  <a:srgbClr val="21295C"/>
                </a:solidFill>
                <a:latin typeface="Arial"/>
              </a:rPr>
              <a:t>The agent does — the human checks the result and the facts</a:t>
            </a:r>
          </a:p>
        </p:txBody>
      </p:sp>
      <p:sp>
        <p:nvSpPr>
          <p:cNvPr id="6" name="TextBox 5"/>
          <p:cNvSpPr txBox="1"/>
          <p:nvPr/>
        </p:nvSpPr>
        <p:spPr>
          <a:xfrm>
            <a:off x="758952" y="2029967"/>
            <a:ext cx="5477256" cy="402336"/>
          </a:xfrm>
          <a:prstGeom prst="rect">
            <a:avLst/>
          </a:prstGeom>
          <a:noFill/>
        </p:spPr>
        <p:txBody>
          <a:bodyPr wrap="square" lIns="0" rIns="0" tIns="0" bIns="0" anchor="t">
            <a:spAutoFit/>
          </a:bodyPr>
          <a:lstStyle/>
          <a:p>
            <a:pPr algn="l">
              <a:lnSpc>
                <a:spcPct val="114000"/>
              </a:lnSpc>
            </a:pPr>
            <a:r>
              <a:rPr sz="1200" b="0" i="1">
                <a:solidFill>
                  <a:srgbClr val="5B6678"/>
                </a:solidFill>
                <a:latin typeface="Arial"/>
              </a:rPr>
              <a:t>against an independent source of truth, NOT by the plausibility of the reasoning</a:t>
            </a:r>
            <a:r>
              <a:rPr sz="624" baseline="30000" b="0" i="1">
                <a:latin typeface="Arial"/>
                <a:cs typeface="Arial"/>
                <a:ea typeface="Arial"/>
                <a:solidFill>
                  <a:srgbClr val="1C7293"/>
                </a:solidFill>
              </a:rPr>
              <a:t>[1]</a:t>
            </a:r>
            <a:r>
              <a:rPr sz="1200" b="0" i="1">
                <a:latin typeface="Arial"/>
                <a:cs typeface="Arial"/>
                <a:ea typeface="Arial"/>
                <a:solidFill>
                  <a:srgbClr val="5B6678"/>
                </a:solidFill>
              </a:rPr>
              <a:t> (self-rationale ≠ control — the faithfulness lesson).</a:t>
            </a:r>
          </a:p>
        </p:txBody>
      </p:sp>
      <p:sp>
        <p:nvSpPr>
          <p:cNvPr id="7" name="Rounded Rectangle 6"/>
          <p:cNvSpPr/>
          <p:nvPr/>
        </p:nvSpPr>
        <p:spPr>
          <a:xfrm>
            <a:off x="758952" y="2578608"/>
            <a:ext cx="5477256" cy="822960"/>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2670048"/>
            <a:ext cx="5202936" cy="310896"/>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Degree of autonomy</a:t>
            </a:r>
          </a:p>
        </p:txBody>
      </p:sp>
      <p:sp>
        <p:nvSpPr>
          <p:cNvPr id="9" name="TextBox 8"/>
          <p:cNvSpPr txBox="1"/>
          <p:nvPr/>
        </p:nvSpPr>
        <p:spPr>
          <a:xfrm>
            <a:off x="905256" y="2980944"/>
            <a:ext cx="5202936" cy="384048"/>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from “the human presses a button” to “the agent notifies after the fact”</a:t>
            </a:r>
          </a:p>
        </p:txBody>
      </p:sp>
      <p:sp>
        <p:nvSpPr>
          <p:cNvPr id="10" name="Rounded Rectangle 9"/>
          <p:cNvSpPr/>
          <p:nvPr/>
        </p:nvSpPr>
        <p:spPr>
          <a:xfrm>
            <a:off x="758952" y="3474720"/>
            <a:ext cx="5477256" cy="822960"/>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5256" y="3566160"/>
            <a:ext cx="5202936" cy="310896"/>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Trust domain</a:t>
            </a:r>
          </a:p>
        </p:txBody>
      </p:sp>
      <p:sp>
        <p:nvSpPr>
          <p:cNvPr id="12" name="TextBox 11"/>
          <p:cNvSpPr txBox="1"/>
          <p:nvPr/>
        </p:nvSpPr>
        <p:spPr>
          <a:xfrm>
            <a:off x="905256" y="3877056"/>
            <a:ext cx="5202936" cy="384048"/>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reading (easy to roll back) vs writing · reversible vs irreversible</a:t>
            </a:r>
          </a:p>
        </p:txBody>
      </p:sp>
      <p:sp>
        <p:nvSpPr>
          <p:cNvPr id="13" name="Rounded Rectangle 12"/>
          <p:cNvSpPr/>
          <p:nvPr/>
        </p:nvSpPr>
        <p:spPr>
          <a:xfrm>
            <a:off x="758952" y="4370831"/>
            <a:ext cx="5477256" cy="822960"/>
          </a:xfrm>
          <a:prstGeom prst="roundRect">
            <a:avLst>
              <a:gd name="adj" fmla="val 10000"/>
            </a:avLst>
          </a:prstGeom>
          <a:solidFill>
            <a:srgbClr val="F4F7FA"/>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5256" y="4462271"/>
            <a:ext cx="5202936" cy="310896"/>
          </a:xfrm>
          <a:prstGeom prst="rect">
            <a:avLst/>
          </a:prstGeom>
          <a:noFill/>
        </p:spPr>
        <p:txBody>
          <a:bodyPr wrap="square" lIns="0" rIns="0" tIns="0" bIns="0" anchor="t">
            <a:spAutoFit/>
          </a:bodyPr>
          <a:lstStyle/>
          <a:p>
            <a:pPr algn="l">
              <a:lnSpc>
                <a:spcPct val="115000"/>
              </a:lnSpc>
            </a:pPr>
            <a:r>
              <a:rPr sz="1350" b="1" i="0">
                <a:solidFill>
                  <a:srgbClr val="065A82"/>
                </a:solidFill>
                <a:latin typeface="Arial"/>
              </a:rPr>
              <a:t>Continuous monitoring</a:t>
            </a:r>
          </a:p>
        </p:txBody>
      </p:sp>
      <p:sp>
        <p:nvSpPr>
          <p:cNvPr id="15" name="TextBox 14"/>
          <p:cNvSpPr txBox="1"/>
          <p:nvPr/>
        </p:nvSpPr>
        <p:spPr>
          <a:xfrm>
            <a:off x="905256" y="4773168"/>
            <a:ext cx="5202936" cy="384048"/>
          </a:xfrm>
          <a:prstGeom prst="rect">
            <a:avLst/>
          </a:prstGeom>
          <a:noFill/>
        </p:spPr>
        <p:txBody>
          <a:bodyPr wrap="square" lIns="0" rIns="0" tIns="0" bIns="0" anchor="t">
            <a:spAutoFit/>
          </a:bodyPr>
          <a:lstStyle/>
          <a:p>
            <a:pPr algn="l">
              <a:lnSpc>
                <a:spcPct val="110000"/>
              </a:lnSpc>
            </a:pPr>
            <a:r>
              <a:rPr sz="1150" b="0" i="0">
                <a:solidFill>
                  <a:srgbClr val="21295C"/>
                </a:solidFill>
                <a:latin typeface="Arial"/>
              </a:rPr>
              <a:t>quality metrics all the time, not a one-time check at the start</a:t>
            </a:r>
          </a:p>
        </p:txBody>
      </p:sp>
      <p:sp>
        <p:nvSpPr>
          <p:cNvPr id="16" name="Rounded Rectangle 15"/>
          <p:cNvSpPr/>
          <p:nvPr/>
        </p:nvSpPr>
        <p:spPr>
          <a:xfrm>
            <a:off x="6720840" y="1280160"/>
            <a:ext cx="4983480" cy="2834640"/>
          </a:xfrm>
          <a:prstGeom prst="roundRect">
            <a:avLst>
              <a:gd name="adj" fmla="val 1075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29-nanda.png"/>
          <p:cNvPicPr>
            <a:picLocks noChangeAspect="1"/>
          </p:cNvPicPr>
          <p:nvPr/>
        </p:nvPicPr>
        <p:blipFill>
          <a:blip r:embed="rId3"/>
          <a:stretch>
            <a:fillRect/>
          </a:stretch>
        </p:blipFill>
        <p:spPr>
          <a:xfrm>
            <a:off x="6903720" y="1754504"/>
            <a:ext cx="2240280" cy="1840230"/>
          </a:xfrm>
          <a:prstGeom prst="rect">
            <a:avLst/>
          </a:prstGeom>
        </p:spPr>
      </p:pic>
      <p:sp>
        <p:nvSpPr>
          <p:cNvPr id="18" name="TextBox 17"/>
          <p:cNvSpPr txBox="1"/>
          <p:nvPr/>
        </p:nvSpPr>
        <p:spPr>
          <a:xfrm>
            <a:off x="9235440" y="1600200"/>
            <a:ext cx="2240280" cy="868680"/>
          </a:xfrm>
          <a:prstGeom prst="rect">
            <a:avLst/>
          </a:prstGeom>
          <a:noFill/>
        </p:spPr>
        <p:txBody>
          <a:bodyPr wrap="square" lIns="0" rIns="0" tIns="0" bIns="0" anchor="t">
            <a:spAutoFit/>
          </a:bodyPr>
          <a:lstStyle/>
          <a:p>
            <a:pPr algn="l">
              <a:lnSpc>
                <a:spcPct val="100000"/>
              </a:lnSpc>
            </a:pPr>
            <a:r>
              <a:rPr sz="4200" b="1" i="0">
                <a:solidFill>
                  <a:srgbClr val="F0AB00"/>
                </a:solidFill>
                <a:latin typeface="Arial"/>
              </a:rPr>
              <a:t>~95%</a:t>
            </a:r>
          </a:p>
        </p:txBody>
      </p:sp>
      <p:sp>
        <p:nvSpPr>
          <p:cNvPr id="19" name="TextBox 18"/>
          <p:cNvSpPr txBox="1"/>
          <p:nvPr/>
        </p:nvSpPr>
        <p:spPr>
          <a:xfrm>
            <a:off x="9235440" y="2468880"/>
            <a:ext cx="2240280" cy="150876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of corporate GenAI pilots with no measurable return on investment — the root is in the learning gap and integration failure, not in model quality</a:t>
            </a:r>
            <a:r>
              <a:rPr sz="650" baseline="30000" b="0" i="1">
                <a:latin typeface="Arial"/>
                <a:cs typeface="Arial"/>
                <a:ea typeface="Arial"/>
                <a:solidFill>
                  <a:srgbClr val="1C7293"/>
                </a:solidFill>
              </a:rPr>
              <a:t>[2]</a:t>
            </a:r>
          </a:p>
        </p:txBody>
      </p:sp>
      <p:sp>
        <p:nvSpPr>
          <p:cNvPr id="20" name="Rounded Rectangle 19"/>
          <p:cNvSpPr/>
          <p:nvPr/>
        </p:nvSpPr>
        <p:spPr>
          <a:xfrm>
            <a:off x="6720840" y="4251960"/>
            <a:ext cx="4983480" cy="1097280"/>
          </a:xfrm>
          <a:prstGeom prst="roundRect">
            <a:avLst>
              <a:gd name="adj" fmla="val 22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958583" y="4370831"/>
            <a:ext cx="4507992" cy="868680"/>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“Launching AI” ≠ “getting value.” What decides it is architectural-integration discipline. Sometimes the right answer is the simplest architecture or no AI.</a:t>
            </a:r>
          </a:p>
        </p:txBody>
      </p:sp>
      <p:sp>
        <p:nvSpPr>
          <p:cNvPr id="22" name="TextBox 21"/>
          <p:cNvSpPr txBox="1"/>
          <p:nvPr/>
        </p:nvSpPr>
        <p:spPr>
          <a:xfrm>
            <a:off x="502920" y="6419088"/>
            <a:ext cx="11201400" cy="329184"/>
          </a:xfrm>
          <a:prstGeom prst="rect">
            <a:avLst/>
          </a:prstGeom>
          <a:noFill/>
        </p:spPr>
        <p:txBody>
          <a:bodyPr wrap="square" lIns="0" rIns="0" tIns="0" bIns="0" anchor="t">
            <a:spAutoFit/>
          </a:bodyPr>
          <a:lstStyle/>
          <a:p>
            <a:pPr algn="l">
              <a:lnSpc>
                <a:spcPct val="102000"/>
              </a:lnSpc>
            </a:pPr>
            <a:r>
              <a:rPr sz="850" b="1" i="1">
                <a:solidFill>
                  <a:srgbClr val="065A82"/>
                </a:solidFill>
                <a:latin typeface="Arial"/>
              </a:rPr>
              <a:t>[1] </a:t>
            </a:r>
            <a:r>
              <a:rPr sz="850" i="1">
                <a:solidFill>
                  <a:srgbClr val="1C7293"/>
                </a:solidFill>
                <a:latin typeface="Arial"/>
                <a:hlinkClick r:id="rId5"/>
              </a:rPr>
              <a:t>Anthropic — Reasoning Models faithfulness (self-rationale ≠ control)</a:t>
            </a:r>
            <a:r>
              <a:rPr sz="850" i="1">
                <a:solidFill>
                  <a:srgbClr val="1C7293"/>
                </a:solidFill>
                <a:latin typeface="Arial"/>
              </a:rPr>
              <a:t>   ·   </a:t>
            </a:r>
            <a:r>
              <a:rPr sz="850" b="1" i="1">
                <a:solidFill>
                  <a:srgbClr val="065A82"/>
                </a:solidFill>
                <a:latin typeface="Arial"/>
              </a:rPr>
              <a:t>[2] </a:t>
            </a:r>
            <a:r>
              <a:rPr sz="850" i="1">
                <a:solidFill>
                  <a:srgbClr val="1C7293"/>
                </a:solidFill>
                <a:latin typeface="Arial"/>
                <a:hlinkClick r:id="rId6"/>
              </a:rPr>
              <a:t>MIT NANDA — State of AI in Business 2025 (~95% of pilots with no ROI)</a:t>
            </a:r>
            <a:r>
              <a:rPr sz="850" i="1">
                <a:solidFill>
                  <a:srgbClr val="5B6678"/>
                </a:solidFill>
                <a:latin typeface="Arial"/>
              </a:rPr>
              <a:t>   ·   MIT NANDA, State of AI in Business 2025 — a report with a methodology (150 interviews + 350 survey + 300 deployments), not a universal law.</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30-coding_5.78x7.50.png"/>
          <p:cNvPicPr>
            <a:picLocks noChangeAspect="1"/>
          </p:cNvPicPr>
          <p:nvPr/>
        </p:nvPicPr>
        <p:blipFill>
          <a:blip r:embed="rId2"/>
          <a:stretch>
            <a:fillRect/>
          </a:stretch>
        </p:blipFill>
        <p:spPr>
          <a:xfrm>
            <a:off x="6903720" y="0"/>
            <a:ext cx="5285232" cy="6858000"/>
          </a:xfrm>
          <a:prstGeom prst="rect">
            <a:avLst/>
          </a:prstGeom>
        </p:spPr>
      </p:pic>
      <p:sp>
        <p:nvSpPr>
          <p:cNvPr id="3" name="Rectangle 2"/>
          <p:cNvSpPr/>
          <p:nvPr/>
        </p:nvSpPr>
        <p:spPr>
          <a:xfrm>
            <a:off x="6903720" y="6492240"/>
            <a:ext cx="4480560" cy="365760"/>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31736" y="6510528"/>
            <a:ext cx="4297680" cy="310896"/>
          </a:xfrm>
          <a:prstGeom prst="rect">
            <a:avLst/>
          </a:prstGeom>
          <a:noFill/>
        </p:spPr>
        <p:txBody>
          <a:bodyPr wrap="square" lIns="0" rIns="0" tIns="0" bIns="0" anchor="ctr">
            <a:spAutoFit/>
          </a:bodyPr>
          <a:lstStyle/>
          <a:p>
            <a:pPr algn="l">
              <a:lnSpc>
                <a:spcPct val="115000"/>
              </a:lnSpc>
            </a:pPr>
            <a:r>
              <a:rPr sz="1050" b="0" i="1">
                <a:solidFill>
                  <a:srgbClr val="FFFFFF"/>
                </a:solidFill>
                <a:latin typeface="Arial"/>
              </a:rPr>
              <a:t>Photo: a developer at an IDE · Wikimedia · CC-BY-SA</a:t>
            </a:r>
          </a:p>
        </p:txBody>
      </p:sp>
      <p:sp>
        <p:nvSpPr>
          <p:cNvPr id="5" name="TextBox 4"/>
          <p:cNvSpPr txBox="1"/>
          <p:nvPr/>
        </p:nvSpPr>
        <p:spPr>
          <a:xfrm>
            <a:off x="502920" y="457200"/>
            <a:ext cx="6172200" cy="1005840"/>
          </a:xfrm>
          <a:prstGeom prst="rect">
            <a:avLst/>
          </a:prstGeom>
          <a:noFill/>
        </p:spPr>
        <p:txBody>
          <a:bodyPr wrap="square" lIns="0" rIns="0" tIns="0" bIns="0" anchor="t">
            <a:spAutoFit/>
          </a:bodyPr>
          <a:lstStyle/>
          <a:p>
            <a:pPr algn="l">
              <a:lnSpc>
                <a:spcPct val="106000"/>
              </a:lnSpc>
            </a:pPr>
            <a:r>
              <a:rPr sz="2600" b="1" i="0">
                <a:solidFill>
                  <a:srgbClr val="21295C"/>
                </a:solidFill>
                <a:latin typeface="Arial"/>
              </a:rPr>
              <a:t>Next — industries. We start with software development.</a:t>
            </a:r>
          </a:p>
        </p:txBody>
      </p:sp>
      <p:sp>
        <p:nvSpPr>
          <p:cNvPr id="6" name="Rounded Rectangle 5"/>
          <p:cNvSpPr/>
          <p:nvPr/>
        </p:nvSpPr>
        <p:spPr>
          <a:xfrm>
            <a:off x="502920" y="1554480"/>
            <a:ext cx="6172200" cy="1920240"/>
          </a:xfrm>
          <a:prstGeom prst="roundRect">
            <a:avLst>
              <a:gd name="adj" fmla="val 15873"/>
            </a:avLst>
          </a:prstGeom>
          <a:solidFill>
            <a:srgbClr val="E4F1F2"/>
          </a:solidFill>
          <a:ln w="2540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ode-teal.png"/>
          <p:cNvPicPr>
            <a:picLocks noChangeAspect="1"/>
          </p:cNvPicPr>
          <p:nvPr/>
        </p:nvPicPr>
        <p:blipFill>
          <a:blip r:embed="rId3"/>
          <a:stretch>
            <a:fillRect/>
          </a:stretch>
        </p:blipFill>
        <p:spPr>
          <a:xfrm>
            <a:off x="740664" y="1755648"/>
            <a:ext cx="420624" cy="420624"/>
          </a:xfrm>
          <a:prstGeom prst="rect">
            <a:avLst/>
          </a:prstGeom>
        </p:spPr>
      </p:pic>
      <p:sp>
        <p:nvSpPr>
          <p:cNvPr id="8" name="TextBox 7"/>
          <p:cNvSpPr txBox="1"/>
          <p:nvPr/>
        </p:nvSpPr>
        <p:spPr>
          <a:xfrm>
            <a:off x="1289304" y="1737360"/>
            <a:ext cx="5166360" cy="365760"/>
          </a:xfrm>
          <a:prstGeom prst="rect">
            <a:avLst/>
          </a:prstGeom>
          <a:noFill/>
        </p:spPr>
        <p:txBody>
          <a:bodyPr wrap="square" lIns="0" rIns="0" tIns="0" bIns="0" anchor="ctr">
            <a:spAutoFit/>
          </a:bodyPr>
          <a:lstStyle/>
          <a:p>
            <a:pPr algn="l">
              <a:lnSpc>
                <a:spcPct val="115000"/>
              </a:lnSpc>
            </a:pPr>
            <a:r>
              <a:rPr sz="1500" b="1" i="0">
                <a:solidFill>
                  <a:srgbClr val="028090"/>
                </a:solidFill>
                <a:latin typeface="Arial"/>
              </a:rPr>
              <a:t>Lecture 4</a:t>
            </a:r>
          </a:p>
        </p:txBody>
      </p:sp>
      <p:sp>
        <p:nvSpPr>
          <p:cNvPr id="9" name="TextBox 8"/>
          <p:cNvSpPr txBox="1"/>
          <p:nvPr/>
        </p:nvSpPr>
        <p:spPr>
          <a:xfrm>
            <a:off x="1289304" y="2084831"/>
            <a:ext cx="5166360" cy="420624"/>
          </a:xfrm>
          <a:prstGeom prst="rect">
            <a:avLst/>
          </a:prstGeom>
          <a:noFill/>
        </p:spPr>
        <p:txBody>
          <a:bodyPr wrap="square" lIns="0" rIns="0" tIns="0" bIns="0" anchor="t">
            <a:spAutoFit/>
          </a:bodyPr>
          <a:lstStyle/>
          <a:p>
            <a:pPr algn="l">
              <a:lnSpc>
                <a:spcPct val="105000"/>
              </a:lnSpc>
            </a:pPr>
            <a:r>
              <a:rPr sz="1600" b="1" i="0">
                <a:solidFill>
                  <a:srgbClr val="21295C"/>
                </a:solidFill>
                <a:latin typeface="Arial"/>
              </a:rPr>
              <a:t>AI in software development</a:t>
            </a:r>
          </a:p>
        </p:txBody>
      </p:sp>
      <p:sp>
        <p:nvSpPr>
          <p:cNvPr id="10" name="TextBox 9"/>
          <p:cNvSpPr txBox="1"/>
          <p:nvPr/>
        </p:nvSpPr>
        <p:spPr>
          <a:xfrm>
            <a:off x="758952" y="2615184"/>
            <a:ext cx="5660136" cy="777240"/>
          </a:xfrm>
          <a:prstGeom prst="rect">
            <a:avLst/>
          </a:prstGeom>
          <a:noFill/>
        </p:spPr>
        <p:txBody>
          <a:bodyPr wrap="square" lIns="0" rIns="0" tIns="0" bIns="0" anchor="t">
            <a:spAutoFit/>
          </a:bodyPr>
          <a:lstStyle/>
          <a:p>
            <a:pPr algn="l">
              <a:lnSpc>
                <a:spcPct val="118000"/>
              </a:lnSpc>
            </a:pPr>
            <a:r>
              <a:rPr sz="1250" b="0" i="0">
                <a:solidFill>
                  <a:srgbClr val="21295C"/>
                </a:solidFill>
                <a:latin typeface="Arial"/>
              </a:rPr>
              <a:t>the same apparatus — on a developer's concrete tasks: the same coding agents we covered, from the side of engineering practice.</a:t>
            </a:r>
          </a:p>
        </p:txBody>
      </p:sp>
      <p:sp>
        <p:nvSpPr>
          <p:cNvPr id="11" name="Rounded Rectangle 10"/>
          <p:cNvSpPr/>
          <p:nvPr/>
        </p:nvSpPr>
        <p:spPr>
          <a:xfrm>
            <a:off x="502920" y="3621024"/>
            <a:ext cx="6172200" cy="1975104"/>
          </a:xfrm>
          <a:prstGeom prst="roundRect">
            <a:avLst>
              <a:gd name="adj" fmla="val 15432"/>
            </a:avLst>
          </a:prstGeom>
          <a:solidFill>
            <a:srgbClr val="FDF3DC"/>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ipboard-list-gold.png"/>
          <p:cNvPicPr>
            <a:picLocks noChangeAspect="1"/>
          </p:cNvPicPr>
          <p:nvPr/>
        </p:nvPicPr>
        <p:blipFill>
          <a:blip r:embed="rId4"/>
          <a:stretch>
            <a:fillRect/>
          </a:stretch>
        </p:blipFill>
        <p:spPr>
          <a:xfrm>
            <a:off x="758952" y="3785615"/>
            <a:ext cx="457200" cy="457200"/>
          </a:xfrm>
          <a:prstGeom prst="rect">
            <a:avLst/>
          </a:prstGeom>
        </p:spPr>
      </p:pic>
      <p:sp>
        <p:nvSpPr>
          <p:cNvPr id="13" name="TextBox 12"/>
          <p:cNvSpPr txBox="1"/>
          <p:nvPr/>
        </p:nvSpPr>
        <p:spPr>
          <a:xfrm>
            <a:off x="1325880" y="3767328"/>
            <a:ext cx="5120640" cy="402336"/>
          </a:xfrm>
          <a:prstGeom prst="rect">
            <a:avLst/>
          </a:prstGeom>
          <a:noFill/>
        </p:spPr>
        <p:txBody>
          <a:bodyPr wrap="square" lIns="0" rIns="0" tIns="0" bIns="0" anchor="ctr">
            <a:spAutoFit/>
          </a:bodyPr>
          <a:lstStyle/>
          <a:p>
            <a:pPr algn="l">
              <a:lnSpc>
                <a:spcPct val="115000"/>
              </a:lnSpc>
            </a:pPr>
            <a:r>
              <a:rPr sz="1800" b="1" i="0">
                <a:solidFill>
                  <a:srgbClr val="21295C"/>
                </a:solidFill>
                <a:latin typeface="Arial"/>
              </a:rPr>
              <a:t>Assignment — Seminar 3</a:t>
            </a:r>
          </a:p>
        </p:txBody>
      </p:sp>
      <p:sp>
        <p:nvSpPr>
          <p:cNvPr id="14" name="TextBox 13"/>
          <p:cNvSpPr txBox="1"/>
          <p:nvPr/>
        </p:nvSpPr>
        <p:spPr>
          <a:xfrm>
            <a:off x="758952" y="4279392"/>
            <a:ext cx="5660136" cy="365760"/>
          </a:xfrm>
          <a:prstGeom prst="rect">
            <a:avLst/>
          </a:prstGeom>
          <a:noFill/>
        </p:spPr>
        <p:txBody>
          <a:bodyPr wrap="square" lIns="0" rIns="0" tIns="0" bIns="0" anchor="t">
            <a:spAutoFit/>
          </a:bodyPr>
          <a:lstStyle/>
          <a:p>
            <a:pPr algn="l">
              <a:lnSpc>
                <a:spcPct val="105000"/>
              </a:lnSpc>
            </a:pPr>
            <a:r>
              <a:rPr sz="1400" b="1" i="0">
                <a:solidFill>
                  <a:srgbClr val="065A82"/>
                </a:solidFill>
                <a:latin typeface="Arial"/>
              </a:rPr>
              <a:t>“Architectural choice: chat / agent / RAG / API — 3 cases”</a:t>
            </a:r>
          </a:p>
        </p:txBody>
      </p:sp>
      <p:sp>
        <p:nvSpPr>
          <p:cNvPr id="15" name="TextBox 14"/>
          <p:cNvSpPr txBox="1"/>
          <p:nvPr/>
        </p:nvSpPr>
        <p:spPr>
          <a:xfrm>
            <a:off x="758952" y="4681728"/>
            <a:ext cx="5660136" cy="859536"/>
          </a:xfrm>
          <a:prstGeom prst="rect">
            <a:avLst/>
          </a:prstGeom>
          <a:noFill/>
        </p:spPr>
        <p:txBody>
          <a:bodyPr wrap="square" lIns="0" rIns="0" tIns="0" bIns="0" anchor="t">
            <a:spAutoFit/>
          </a:bodyPr>
          <a:lstStyle/>
          <a:p>
            <a:pPr algn="l">
              <a:lnSpc>
                <a:spcPct val="116000"/>
              </a:lnSpc>
            </a:pPr>
            <a:r>
              <a:rPr sz="1200" b="0" i="0">
                <a:solidFill>
                  <a:srgbClr val="21295C"/>
                </a:solidFill>
                <a:latin typeface="Arial"/>
              </a:rPr>
              <a:t>Apply the checklist to 3 cases; for each: architecture + ≥2 reasons by the axes + ≥1 condition that would change the choice + a criterion for “here it would NOT be so.” Task B is a warm-up.</a:t>
            </a:r>
          </a:p>
        </p:txBody>
      </p:sp>
      <p:sp>
        <p:nvSpPr>
          <p:cNvPr id="16" name="Rounded Rectangle 15"/>
          <p:cNvSpPr/>
          <p:nvPr/>
        </p:nvSpPr>
        <p:spPr>
          <a:xfrm>
            <a:off x="502920" y="5760720"/>
            <a:ext cx="6172200" cy="676656"/>
          </a:xfrm>
          <a:prstGeom prst="roundRect">
            <a:avLst>
              <a:gd name="adj" fmla="val 10000"/>
            </a:avLst>
          </a:prstGeom>
          <a:solidFill>
            <a:srgbClr val="FDF3DC"/>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4088" y="5815583"/>
            <a:ext cx="5769864" cy="566928"/>
          </a:xfrm>
          <a:prstGeom prst="rect">
            <a:avLst/>
          </a:prstGeom>
          <a:noFill/>
        </p:spPr>
        <p:txBody>
          <a:bodyPr wrap="square" lIns="0" rIns="0" tIns="0" bIns="0" anchor="ctr">
            <a:spAutoFit/>
          </a:bodyPr>
          <a:lstStyle/>
          <a:p>
            <a:pPr algn="l">
              <a:lnSpc>
                <a:spcPct val="122000"/>
              </a:lnSpc>
            </a:pPr>
            <a:r>
              <a:rPr sz="1350" b="1" i="0">
                <a:solidFill>
                  <a:srgbClr val="21295C"/>
                </a:solidFill>
                <a:latin typeface="Arial"/>
              </a:rPr>
              <a:t>The apparatus is assembled — run the checklist on every industry lecture.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874519"/>
            <a:ext cx="11201400" cy="2103120"/>
          </a:xfrm>
          <a:prstGeom prst="rect">
            <a:avLst/>
          </a:prstGeom>
          <a:noFill/>
        </p:spPr>
        <p:txBody>
          <a:bodyPr wrap="square" lIns="0" rIns="0" tIns="0" bIns="0" anchor="ctr">
            <a:spAutoFit/>
          </a:bodyPr>
          <a:lstStyle/>
          <a:p>
            <a:pPr algn="ctr">
              <a:lnSpc>
                <a:spcPct val="100000"/>
              </a:lnSpc>
            </a:pPr>
            <a:r>
              <a:rPr sz="12000" b="1" i="0">
                <a:solidFill>
                  <a:srgbClr val="21295C"/>
                </a:solidFill>
                <a:latin typeface="Arial"/>
              </a:rPr>
              <a:t>Q&amp;A</a:t>
            </a:r>
          </a:p>
        </p:txBody>
      </p:sp>
      <p:sp>
        <p:nvSpPr>
          <p:cNvPr id="3" name="TextBox 2"/>
          <p:cNvSpPr txBox="1"/>
          <p:nvPr/>
        </p:nvSpPr>
        <p:spPr>
          <a:xfrm>
            <a:off x="502920" y="4160520"/>
            <a:ext cx="11201400" cy="713232"/>
          </a:xfrm>
          <a:prstGeom prst="rect">
            <a:avLst/>
          </a:prstGeom>
          <a:noFill/>
        </p:spPr>
        <p:txBody>
          <a:bodyPr wrap="square" lIns="0" rIns="0" tIns="0" bIns="0" anchor="ctr">
            <a:spAutoFit/>
          </a:bodyPr>
          <a:lstStyle/>
          <a:p>
            <a:pPr algn="ctr">
              <a:lnSpc>
                <a:spcPct val="120000"/>
              </a:lnSpc>
            </a:pPr>
            <a:r>
              <a:rPr sz="3600" b="0" i="0">
                <a:solidFill>
                  <a:srgbClr val="065A82"/>
                </a:solidFill>
                <a:latin typeface="Arial"/>
              </a:rPr>
              <a:t>Thank you</a:t>
            </a:r>
          </a:p>
        </p:txBody>
      </p:sp>
      <p:sp>
        <p:nvSpPr>
          <p:cNvPr id="4" name="TextBox 3"/>
          <p:cNvSpPr txBox="1"/>
          <p:nvPr/>
        </p:nvSpPr>
        <p:spPr>
          <a:xfrm>
            <a:off x="7589520" y="6126480"/>
            <a:ext cx="4114800" cy="457200"/>
          </a:xfrm>
          <a:prstGeom prst="rect">
            <a:avLst/>
          </a:prstGeom>
          <a:noFill/>
        </p:spPr>
        <p:txBody>
          <a:bodyPr wrap="square" lIns="0" rIns="0" tIns="0" bIns="0" anchor="ctr">
            <a:spAutoFit/>
          </a:bodyPr>
          <a:lstStyle/>
          <a:p>
            <a:pPr algn="r">
              <a:lnSpc>
                <a:spcPct val="110000"/>
              </a:lnSpc>
            </a:pPr>
            <a:r>
              <a:rPr sz="1200" b="0" i="1">
                <a:solidFill>
                  <a:srgbClr val="1C7293"/>
                </a:solidFill>
                <a:latin typeface="Arial"/>
              </a:rPr>
              <a:t>[instructor contact details — fill in before the lecture]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