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и их постоянно смешивают. Первое — роль-персона в тексте промпта: «ты — юрист», «ты — редактор». Это обычное содержимое сообщения, оно влияет на тон и глубину изложения, и его разбор мы уже закончили. Второе значение — протокольные роли system, user и assistant. Это не текст внутри сообщения, а разметка самого диалога: «кто говорит». Роль-персона отвечает на вопрос «в каком тоне»; протокольная роль — «чья это реплика: системы, пользователя или самой модели». Смешение этих двух смыслов — источник и путаницы, и целого класса уязвимостей, поэтому разведём их явно.</a:t>
            </a:r>
          </a:p>
          <a:p/>
          <a:p>
            <a:r>
              <a:t>Зачем протокольные роли вообще нужны? Три причины. Первая — структура диалога: модель должна отличать инструкцию разработчика от реплики пользователя и от собственных прошлых ответов, иначе многоходовой разговор превращается в неразмеченную кашу. Вторая — управление поведением: в системную роль кладут постоянные ограничения, действующие поверх всего разговора. Третья — выученный приоритет: модель обучают относиться к системным инструкциям как к более авторитетным. Слово «выученный» здесь ключевое: это статистическая привычка, а не архитектурная гарантия. Исследование Geng и коллег показало, что GPT-4o подчиняется приоритету системной инструкции лишь примерно в 63,8% случаев; специальная тренировка на 16 бенчмарках подняла устойчивость с 84,1% до 94,1% — но и это не 100%. Вывод: приоритет системной роли — склонность, а не граница безопасности.</a:t>
            </a:r>
          </a:p>
          <a:p/>
          <a:p>
            <a:r>
              <a:t>Как это устроено физически. Модель получает один плоский поток токенов, а не структурированный объект с полями. Список сообщений собирает chat-шаблон, который оборачивает каждое сообщение специальными токенами разметки (в ChatML — `&lt;|im_start|&gt;system … &lt;|im_end|&gt;`). Форматы у семейств разные и меняются между версиями. Отсюда уязвимость: если во внешний контент — веб-страницу, файл, письмо, вывод инструмента — попадёт текст, похожий на разметку роли, модель может принять его за собственную реплику или системную инструкцию. Это Special Token Injection, подделка роли. Работа ChatInject измерила её на агентных сценариях: средний attack success rate на бенчмарке AgentDojo вырос с 5,18% до 32,05%, а на отдельных моделях — на Llama-4 — с 50,1% до 88,3%. Та же работа показала: просьба к модели «не поддаваться» почти не защищает.</a:t>
            </a:r>
          </a:p>
          <a:p/>
          <a:p>
            <a:r>
              <a:t>Защита строится не на надежде, а на двух системных мерах: экранировать спецтокены во входящем недоверенном контенте до подачи в модель и проверять chat-шаблон для локальных моделей — чужой шаблон даёт тихую деградацию. Здесь мы разобрали устройство протокольных ролей; полный разбор prompt injection как класса атак агента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то, насколько ясно в тексте запроса разделены три разных вида содержимого. Инструкция — что сделать. Контекст — на основе чего. Данные — с чем именно работать. Это разные роли, и их смешение имеет цену. Плоский промпт, где всё слито в один абзац свободного текста, заставляет модель самостоятельно угадывать границы между этими тремя видами содержимого. Чем длиннее и разнороднее промпт, тем выше цена такой неоднозначности: модель может принять кусок контекста за инструкцию, а вставленный фрагмент данных — за команду, которую надо исполнить.</a:t>
            </a:r>
          </a:p>
          <a:p/>
          <a:p>
            <a:r>
              <a:t>Практический инструмент против этой путаницы — разделители: явные текстовые маркеры, отделяющие один вид содержимого от другого. Распространённые варианты — XML-подобные теги вроде `&lt;документ&gt;…&lt;/документ&gt;`, markdown-заголовки `## Задача`, `## Контекст`, `## Данные` или тройные кавычки вокруг вставляемого текста. И вот здесь важная деталь механики: конкретный синтаксис менее важен, чем сам факт разделения. Дело не в том, что модель «понимает XML лучше кавычек», а в том, что механизму внимания даётся ясная граница, где кончается инструкция и начинаются данные для обработки. Модель, которой эту границу показали явно, реже путает одно с другим — в частности, реже воспринимает фрагмент вставленных данных как новую команду.</a:t>
            </a:r>
          </a:p>
          <a:p/>
          <a:p>
            <a:r>
              <a:t>Это последнее замечание — не абстракция, а прямая связь с безопасностью. Путаница «данные против команды» — ровно то, что лежит в основе prompt injection: атаки, при которой недоверенный текст внутри данных модель интерпретирует и исполняет как инструкцию. Ясная граница «данные vs команда» не отменяет эту атаку полностью, но это первая линия защиты; полный разбор injection как класса — в разделе про безопасность агента.</a:t>
            </a:r>
          </a:p>
          <a:p/>
          <a:p>
            <a:r>
              <a:t>Наконец, стоит увидеть, что это тот же инженерный принцип, что мы встретим у structured output. Там разработчик задаёт модели строгую схему для выхода — что она обязана сгенерировать; здесь мы задаём структуру для входа — как разложен промпт. Механизм разный: structured output ограничивает сэмплинг на этапе генерации, а разделители — это просто более ясный вход для того же механизма внимания. Но идея одна: модель работает точнее, когда её ясно ориентируют, что есть что, а не оставляют выводить форму по смыслу текста. Структура входа и структура выхода — два конца одного принципа.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формат промпта ходят две крайности, и обе неверны. Первая — «формат это косметика, модели всё равно». Вторая — «есть один правильный формат». Точная картина сложнее: эффект формата реален, но зависит от трёх осей — поколения и размера модели, класса задачи и того, структурируем ли мы вход или принуждаем структуру выхода. И вот главное, что постоянно путают: терпимость к формату входа и цена принуждения формата выхода — это две разные проблемы, которые ведут себя по-разному, иногда прямо противоположно.</a:t>
            </a:r>
          </a:p>
          <a:p/>
          <a:p>
            <a:r>
              <a:t>Начнём с формата входа — того, как мы раскладываем сам промпт. Здесь эмпирика однозначна: чем крупнее и новее модель, тем меньше она чувствительна к формату. В работе Microsoft у GPT-3.5-turbo разброс качества между шаблонами доходил до сорока процентов на задаче трансляции кода; GPT-4 был заметно устойчивее. Репликация 2026 года подтверждает картину: open-модели стабильно теряли от принуждения формата — в среднем около минус 6,6 процентного пункта на MATH-500, — а закрытые frontier-модели держались около нуля. Практический вывод: с малой или открытой моделью формат входа стоит подбирать и мерить; с frontier-моделью 2026 года выигрыш от «идеального» формата мал. А вендорские привычки — Claude документирует XML-теги, GPT и Gemini тяготеют к Markdown-заголовкам — это артефакт того, как модели обучали, а не универсальный закон.</a:t>
            </a:r>
          </a:p>
          <a:p/>
          <a:p>
            <a:r>
              <a:t>Формат выхода — вторая, более острая проблема. Принуждение отвечать строго в JSON по схеме на рассуждающих задачах роняет качество: в работе «Let Me Speak Freely?» на математическом GSM8K модель падает с 76,6% при свободном ответе до 49,3% при принудительном формате — минус 27 пунктов. База сравнения здесь важна: это та же модель, та же задача, разница только в требовании формата. Причина названа авторами «reasoning tax»: жёсткая схема заставляет поставить поле ответа раньше поля рассуждения и ломает цепочку мысли. Лечится двухходовкой «think free → reformat»: сначала дать свободно рассуждать, потом отдельным шагом переформатировать в JSON — это возвращает около 6,8 пункта. Но у парадокса есть обратная сторона: на задачах извлечения и классификации та же строгая схема, наоборот, помогает — парсинг однозначен, а constrained decoding даёт близкое к 100% соответствие. Отсюда правило: JSON — это интерфейс между моделью и кодом, а не формат для размышления. Применяйте его на стыке с кодом, но не насилуйте им «подумай и реши».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раз модель рассуждает вслух, значит по этому рассуждению можно проверить, как она пришла к ответу — то есть аудировать решение по его объяснению. Это предположение неверно, и неверно фундаментально. Введём термин. Faithfulness, верность объяснения, — это степень, в которой проговорённая цепочка рассуждений действительно отражает реальные факторы, повлиявшие на ответ. Низкая faithfulness означает: текст рассуждения и фактическая причина ответа — разные вещи; объяснение правдоподобно, но не обязательно истинно как описание процесса.</a:t>
            </a:r>
          </a:p>
          <a:p/>
          <a:p>
            <a:r>
              <a:t>Anthropic измерила это в апреле 2025 года, и метод стоит понять, потому что он делает вывод неопровержимым. Модели давали задачу дважды: один раз без подсказки, другой — с подсказкой, встроенной в промпт так, что она меняла ответ. Например: «один профессор считает, что ответ — C». Затем смотрели: в тех случаях, когда подсказка действительно изменила ответ, упоминает ли модель в своём рассуждении, что опиралась на неё? Если рассуждение верное, оно должно честно сказать «я выбрал C, потому что так считает профессор». Результат: Claude 3.7 упоминал использованную подсказку примерно в одном случае из четырёх — 25%, DeepSeek R1 — почти в двух из пяти — 39%. В остальных случаях модель меняла ответ под влиянием подсказки, но строила совсем другую, выдуманную аргументацию, не называя реальную причину. И хуже: faithfulness падает на более трудных задачах — на сложном датасете GPQA верность была заметно ниже, чем на простом MMLU. То есть именно там, где аудит решения нужнее всего — трудная задача, высокая цена ошибки, — объяснению модели доверять можно меньше всего.</a:t>
            </a:r>
          </a:p>
          <a:p/>
          <a:p>
            <a:r>
              <a:t>Подчеркну, почему это не «модель иногда врёт», а структурный факт. Цепочка рассуждений — это сгенерированный текст, подчиняющийся той же механике сэмплинга, что и любой другой выход модели. Она производится так, чтобы быть правдоподобной и связной, а не так, чтобы быть верным протоколом внутреннего вычисления. Совпадение «правдоподобно» и «истинно как описание процесса» не гарантировано и эмпирически часто не выполняется. Отсюда важное следствие для выбора архитектуры: любая конструкция, где самооценка модели используется как контроль — «агент сам проверит свой шаг и объяснит, почему он верен», — наследует этот дефект. Контроль на основе self-rationale — не контроль, а иллюзия контроля. Практический вывод, одна из сквозных линий курса: человек-валидатор проверяет сам результат против независимого источника истины — базы, документа, расчёта, эксперта, — а не правдоподобность приложенного объяснения. Объяснимость на словах не равна проверяемости по сути.</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первым запуском. Он не заменяет остальной материал, а фиксирует минимум, ниже которого промпт систематически недорабатывает. Пройдёмся по восьми пунктам, и по каждому — не просто что делать, а почему это важно.</a:t>
            </a:r>
          </a:p>
          <a:p/>
          <a:p>
            <a:r>
              <a:t>Первое: роль задана, если нужен конкретный тон или регистр, и явно не используется как обещание точности. Если задача требует фактической верности, роль её не решает — мы видели, что экспертная персона тону помогает, а фактам в лучшем случае нейтральна. Второе: задача сформулирована как конкретное проверяемое действие, а не расплывчатое пожелание — «напиши резюме в трёх пунктах по формату X», а не «помоги с текстом». Вероятностная постановка без ясного «что и в каком виде» проваливается так же, как проваливалось размытое ТЗ, только провал теперь не ловится компилятором. Третье: контекст содержит минимально необходимое, а не всё, что могло бы пригодиться — это та же дисциплина, что и контекст-инжиниринг, применённая к одному запросу.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Модель, которой показали границы, реже путает данные с командой. Шестое: примеры добавлены только если формат ответа неочевиден из одной инструкции; если модель справляется zero-shot, примеры лишь расходуют контекст. Седьмое: пошаговое рассуждение включено только там, где задача требует многошаговой логики; для прямого извлечения факта или простой классификации CoT не нужен и может навредить — удлиняет ответ и иногда уводит в правдоподобное, но ошибочное обоснование.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ориентир не абсолютное число, а вопрос «можно ли убрать это предложение без потери смысла инструкции?».</a:t>
            </a:r>
          </a:p>
          <a:p/>
          <a:p>
            <a:r>
              <a:t>Этот чек-лист — не бюрократия ради процедуры, а сжатый свод всего раздела: роль не равна точности, структура помогает модели разделить входы, рассуждение — точечный инструмент, а не тумблер, контекст — минимальный, а не максимальный. Держите его под рукой при написании промпта для новой задачи; для более крупных архитектурных решений — RAG, fine-tuning, агент — есть аналогичный, но более развёрнутый чек-лист в разделе про выбор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типовой класс задач — ассистент с инструментами. Постановка простая: пользователь просит не «напиши текст», а «сделай» — узнай что-то во внешней системе или соверши действие. Правильная архитектура здесь — не бинарный выбор «чат или агент», а та же лестница из начала раздела, применённая к одному классу задач.</a:t>
            </a:r>
          </a:p>
          <a:p/>
          <a:p>
            <a:r>
              <a:t>Первая ступень — один вызов. Если модель уже знает ответ и внешнее действие не нужно (перефразируй, объясни, суммируй), это дёшево, быстро и предсказуемо. Вторая ступень — tool-use или workflow. Если нужен доступ к данным или действие, но последовательность шагов известна заранее и её можно задать кодом, то модель формулирует вызов инструмента, а сам контур и точки проверки живут в коде, а не в голове модели. Третья ступень — полноценный агент. Он оправдан только тогда, когда шаги заранее неизвестны, нужна адаптация на лету и есть способ проверить прогресс. Цена подъёма на каждую ступень — рост задержки, стоимости и риска размножения ошибок.</a:t>
            </a:r>
          </a:p>
          <a:p/>
          <a:p>
            <a:r>
              <a:t>Чтобы это был инженерный рецепт, а не пожелание, назовём, чем управляют и как проверяют. Параметры класса: гранулярность инструментов (крупные операции против атомарных), строгие схемы входа с валидацией на границе, режим tool_choice (авто, принудительный или запрет), и обязательный лимит итераций с бюджетом токенов — защита от разбегающегося цикла. Валидация двухступенчатая: во-первых, проверять аргументы вызова инструмента до обращения к внешней системе — некорректный запрос отклонить на границе и вернуть модели структурированную ошибку, которую она может интерпретировать; во-вторых, проверять, что финальный ответ опирается на результаты инструментов, а не на память модели. Второе снимает так называемый параметрический откат: после сбоя инструмента модель иногда «решает», что своих знаний хватит, и перестаёт искать — ровно ломая гарантию свежести, ради которой инструмент и подключали.</a:t>
            </a:r>
          </a:p>
          <a:p/>
          <a:p>
            <a:r>
              <a:t>Самая частая ошибка этого класса — прыгнуть сразу к агенту там, где задача предсказуема и хватило бы одного вызова инструмента. Это ровно тот провал, который мы разберём в разделе про агенты: петля на четыре тысячи двести долларов, где предсказуемую синхронизацию отдали агенту вместо простого retry-скрипта. Правило — подниматься по мини-лестнице только под требование задачи, а не потому, что «агент звучит мощнее».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 — генерация текста в заданном тоне, стиле или регистре: маркетинговое письмо «как наш бренд», ответ поддержки в фирменном голосе, черновик «как написал бы человек». Правильная архитектура здесь — few-shot style transfer: дать три-пять образцов авторского текста, обёрнутых в примеры, и попросить сгенерировать в том же стиле. Это самый надёжный рычаг для тона и голоса, и именно здесь роль-персона работает так, как её обычно и представляют, — она влияет на тон, а не на факты.</a:t>
            </a:r>
          </a:p>
          <a:p/>
          <a:p>
            <a:r>
              <a:t>Но границы этого класса важнее самого приёма, и их две. Первая: модели неплохо копируют публичных персон и вымышленных героев, но буксуют на индивидуальном стиле рядового автора — личный стиль не сводится к нескольким ползункам. Вторая, острее: AI-детекторы ненадёжны как единственное доказательство. Это признают сами вендоры в документации. Независимые исследования дают точность части детекторов ниже восьмидесяти процентов; тексты не-носителей языка помечаются как машинные заметно чаще — база сравнения здесь доля ложных срабатываний относительно носителей; и точность резко падает после простого перефразирования.</a:t>
            </a:r>
          </a:p>
          <a:p/>
          <a:p>
            <a:r>
              <a:t>Как и в предыдущем классе, назовём параметры и валидацию, чтобы это был рецепт. Параметры: формальность (от «академически» до «дружелюбно»), эмоциональная окраска, конкретная персона, число и качество образцов стиля, и явные запреты — без канцелярита, без эмодзи, без превосходных форм. Валидация здесь сложнее, потому что стиль слабо формализуем: применяют LLM-судью на соответствие тону, проверку конкретных маркеров (длина предложений, наличие или отсутствие определённой лексики) и выборочную человеческую вычитку. И типичный провал при тонком многоатрибутном контроле: атрибуты конфликтуют — «формально, но тепло, но кратко, но с деталями» тянут в разные стороны, и модель проседает по части измерений; на длинных диалогах добавляется дрейф персоны.</a:t>
            </a:r>
          </a:p>
          <a:p/>
          <a:p>
            <a:r>
              <a:t>Инженерный вывод двойной. Сгенерировать человекоподобный текст технически можно, но выдавать его за своё — это этический и академический риск. И детектору нельзя доверять ни как щиту, чтобы доказать, что текст написан ИИ, ни как мечу, чтобы гарантированно спрятать ИИ-происхождение. Это тот же урок всей главы — наблюдаемое не равно гарантированному, — применённый к детекции.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класс — структурированное извлечение, самый частый интеграционный стык модели с кодом. Owner-правка здесь прямая: показать не мем, а технику — как правильно давать JSON-спеку в промпте. Начинаем с рамки, которую путают чаще всего: есть два разных уровня контроля с разными гарантиями. На уровне промпта вы просто текстом просите «верни JSON по схеме» — это даёт около восьмидесяти процентов валидности и жёстко не гарантирует ничего: ни синтаксис, ни набор полей, ни типы. На уровне декодера (structured outputs, или constrained decoding) схема компилируется в грамматику, и на каждом шаге генерации токены, нарушающие грамматику, физически не могут быть выбраны — отсюда близкое к стопроцентному соответствие схеме. Поддержка на 2026-й движется, поэтому сверяйте в день лекции: OpenAI Structured Outputs со strict-режимом, Anthropic вывел structured outputs в общую доступность на Claude 4.5, Google Gemini responseSchema, из open-source — Outlines, XGrammar, GBNF-грамматики.</a:t>
            </a:r>
          </a:p>
          <a:p/>
          <a:p>
            <a:r>
              <a:t>Дальше — как описать саму форму, три способа с компромиссами. Пример-объект понятен модели, но не выражает типы и enum. JSON Schema — машинно-проверяемый контракт, но многословна и деградирует на сложных схемах. Тип на языке кода (TypeScript, Pydantic, Zod) компактен и даёт типобезопасность, но требует конвертера. В описания полей кладут микро-инструкции: для перечислимых значений выписывают каждый вариант enum'ом, явно указывают required, держат вложенность мелкой. Сверху — few-shot из двух-трёх пар «вход → ожидаемый JSON», которые фиксируют форму лучше любого текста, и две мелочи с непропорциональным эффектом: схему в конце промпта и «верни ТОЛЬКО JSON, без markdown».</a:t>
            </a:r>
          </a:p>
          <a:p/>
          <a:p>
            <a:r>
              <a:t>Два нюанса, которые и есть настоящая техника. Reasoning tax: строгий JSON на рассуждающей задаче роняет качество (полный разбор с числами GSM8K — на слайде форматов), лечится двухходовкой «think free → reformat». И сложная схема: точность извлечения падает даже при валидном JSON — важно направление, не точная величина. Инвариант, замыкающий класс: валидный JSON ≠ правильные данные — грамматика гарантирует форму, но не истинность значений, поэтому каждый JSON всё равно проверяется в коде. Строгая схема надёжно помогает на извлечении, классификации и function calling — и только там.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дисциплина с полувековой историей, и её устройство определяет, где RAG работает, а где ломается. Разберём классический поиск с нуля — без этой базы семантика выглядит магией, а она лишь следующий слой поверх понятного фундамента.</a:t>
            </a:r>
          </a:p>
          <a:p/>
          <a:p>
            <a:r>
              <a:t>Начнём с механики, потому что она объясняет и силу, и границу. Инвертированный индекс — это машинный аналог библиотечного каталога: не список «документ → его слова», а перевёрнутый список «слово → все документы (и позиции в них), где оно встречается». Благодаря этому система при запросе не сканирует все тексты, а сразу читает короткие списки по словам запроса и пересекает их — отсюда ответ за доли миллисекунды даже на огромных коллекциях. Это фундамент любой полнотекстовой системы (Lucene, Elasticsearch, PostgreSQL full-text) и до сих пор рабочая лошадь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и здесь важно понять устройство. Наивная мера — частота слова в документе (term frequency) — переоценивает частые слова. TF-IDF чинит это, домножая частоту на обратную частоту в коллекции (IDF): слово тем важнее, чем чаще оно в этом документе и чем реже во всей коллекции; «и», «the» встречаются везде и почти ничего не весят, а редкий термин — сильный сигнал. BM25 из семейства Okapi — это TF-IDF, доведённое до продакшена тремя добавками: насыщением по частоте (десятое вхождение слова добавляет к весу меньше, чем второе), нормировкой на длину документа (длинный текст не выигрывает просто за счёт объёма) и той же IDF-компонентой. Итог — дешёвая, объяснимая базовая линия, которую «умные» системы не всегда обгоняют.</a:t>
            </a:r>
          </a:p>
          <a:p/>
          <a:p>
            <a:r>
              <a:t>Ключевое свойство этой классики — она работает на лексическом совпадении: находит документы с теми же словами (или их формами после стемминга), что в запросе. Отсюда сила на кодах, идентификаторах, именах — и её граница: запрос «сломанный вход» лексически не совпадёт с документом «authentication failure», хотя по смыслу это одно. Классика видит слова, а не смысл. Здесь надо снять частую и вредную неточность, которую владелец справедливо попросил пояснить: будто «семантический поиск построен на BM25». Это не так. Лексический поиск (инвертированный индекс, BM25 около тысяча девятьсот девяносто четвёртого года) и плотный семантический (DPR, две тысячи восемнадцатый–двадцатый) — две в значительной мере независимые ветки; внутри dense-модели никакого BM25 нет. Плотный поиск кодирует и запрос, и документ в вектор фиксированной размерности и ищет ближайшие по косинусу приближённо, через ANN-индекс (HNSW). Их не построили одну на другой — их поставили рядом и сливают. Корректная формула: лексика — старший независимый родственник семантики; системы их сливают (fuse), а не наследуют. Провалы RAG во многом там, где о классической ветке — фильтрах, ранжировании, наблюдаемости —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Ранее мы вывели: сильный RAG — возврат классики поверх семантического слоя. Здесь этот вывод разворачивается в гибридный поиск, ставший дефолтом продакшена. Зачем комбинировать: BM25 находит по точному совпадению слов — коды, идентификаторы, имена, номера ошибок, — но бессилен перед синонимом: «сломанный вход» не совпадёт с «сбой аутентификации». Плотный поиск наоборот ловит смысл, но размывается на редких точных токенах. Гибрид берёт оба источника полноты выдачи сразу.</a:t>
            </a:r>
          </a:p>
          <a:p/>
          <a:p>
            <a:r>
              <a:t>Сначала снимем два вопроса. Первый — «гибрид чего с чем», и здесь важно не запутаться в слове «вектор». Разреженный поиск (sparse) — это классический лексический поиск: BM25 или TF-IDF, а также обучаемые SPLADE и ELSER на инвертированном индексе; единица — слово. Когда говорят «разреженный вектор», имеют в виду не поиск смысла по вектору, а лишь способ записать пословный поиск: вектор длиной во весь словарь, почти все координаты — нули. Это по-прежнему лексика, а не семантика. Плотный поиск (dense) — противоположность: эмбеддинг из 384–1024 float, смысл закодирован во всех координатах, поиск приближённый (ANN), не интерпретируем, ловит перифразу. Одной фразой: BM25 — разреженный, эмбеддинги — плотные, SPLADE — тоже разреженный, просто веса термам ставит нейросеть.</a:t>
            </a:r>
          </a:p>
          <a:p/>
          <a:p>
            <a:r>
              <a:t>Второй вопрос: слово «гибрид» несёт три разных смысла, их путают. Смысл (а), базовый, — слияние двух разных ветвей: разреженной (лексика, BM25) и плотной (смысл, эмбеддинг), объединённых по рангам через RRF. Смысл (б) — семантика плюс строгий фильтр по метаданным (юрисдикция, дата): ортогональный рычаг, а не слияние ретриверов. Смысл (в) — BM25 плюс SPLADE или ELSER: обе ветки разреженные, обе про лексику, одна классическая, другая с нейро-взвешиванием; dense-векторов смысла здесь нет. Дальше — механика смысла (а).</a:t>
            </a:r>
          </a:p>
          <a:p/>
          <a:p>
            <a:r>
              <a:t>Теперь механика по шагам. Оба ретривера запускаются параллельно: BM25 отдаёт свой топ-N по инвертированному индексу, плотный поиск — свой по ANN. Дальше их надо слить, и здесь ловушка: оценки BM25 не ограничены сверху и зависят от корпуса, а косинусная близость лежит в диапазоне ноль–один — шкалы несопоставимы. Reciprocal Rank Fusion обходит это, сливая не по оценкам, а по рангам: вес документа — сумма по ретриверам от единицы, делённой на «k плюс ранг». Важен только порядок, поэтому несопоставимость шкал перестаёт мешать. Параметр k по умолчанию около шестидесяти: это конвенция, её стоит подбирать.</a:t>
            </a:r>
          </a:p>
          <a:p/>
          <a:p>
            <a:r>
              <a:t>Реранкер — вторая ступень, и разница между двумя энкодерами несущая. Bi-encoder кодирует запрос и документ по отдельности и заранее: на запросе — быстрое сравнение готовых векторов, дёшево, но грубо. Cross-encoder прогоняет пару «запрос плюс документ» вместе, одним проходом трансформера: точнее, но его нельзя предвычислить. Отсюда правило: он дорог, поэтому применяется только к переупорядочиванию верхних пятидесяти–ста кандидатов, отобранных гибридом.</a:t>
            </a:r>
          </a:p>
          <a:p/>
          <a:p>
            <a:r>
              <a:t>Приросты читаем с базой и скептически. На WANDS гибрид даёт NDCG 0,7497 против 0,6983 у BM25 — около семи процентов над настроенной базой. Крупные приросты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И сразу снимем частый вопрос, который справедливо задал владелец: Elasticsearch и OpenSearch — это тоже полноценные векторные хранилища, а не что-то вне ландшафта. Оба держат dense-векторы и ищут по ним: Elastic — через тип поля dense_vector и kNN на HNSW; OpenSearch — через k-NN плагин с выбором движка. Просто их честнее ставить под своей осью — «поисковый движок, который ещё умеет вектора», в отличие от vector-native движков (Qdrant, Milvus, Weaviate), которые строились вокруг приближённого поиска ближайших соседей с первого дня. Обе категории — векторные БД; различает их происхождение, а оно тянет за собой набор сильных сторон.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выбор в открытом поле — под ваш масштаб и ваши требования, а не предположение, что у вас что-то уже стоит. Три яруса снизу вверх; на следующий поднимаются, только когда предыдущего не хватает под конкретную нагрузку.</a:t>
            </a:r>
          </a:p>
          <a:p/>
          <a:p>
            <a:r>
              <a:t>Первый ярус: хватает классического BM25. Это случай, когда запросы и документы делят словарь — внутренние инструменты, поиск по логам, коду, идентификаторам, курированные базы знаний. Здесь не нужны ни эмбеддинги, ни векторное хранилище вовсе, а переиндексация дёшева и наблюдаема — это реальное операционное преимущество, а не компромисс. Прежде чем строить вектор-инфраструктуру, честно проверьте, не ваш ли это случай.</a:t>
            </a:r>
          </a:p>
          <a:p/>
          <a:p>
            <a:r>
              <a:t>Второй ярус: хватает поискового движка, который умеет вектора. Это когда нужен смысл поверх лексики на масштабе миллионов или десятков миллионов векторов, но заводить отдельное специализированное хранилище ещё рано. Одни из вариантов такого движка — Elasticsearch и OpenSearch: оба нативно умеют RRF-гибрид и линейную комбинацию keyword и vector. Elasticsearch несёт тип поля dense_vector и kNN на HNSW,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Смысл яруса — получить семантику без поднятия отдельного GPU-сервиса эмбеддингов и второго хранилища.</a:t>
            </a:r>
          </a:p>
          <a:p/>
          <a:p>
            <a:r>
              <a:t>Третий ярус: нужна выделенная векторная БД. Это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гибрид Elastic/OpenSearch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firecrawl — chunking eval (recall@k в изоляции может врать) — recall@k 91,9% при 54% end-to-end ответов — оценивать chunking и через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сказал: не карго-культите чужой рецепт, мерьте на своих данных. Этот слайд показывает, как именно чанкирование ломается — и почему это самый коварный вид отказа RAG: он тихий. Возьмём конкретный корпус: триста PDF-руководств по промышленному оборудованию — пояснительный текст плюс таблицы спецификаций «Модель / Напряжение / Ток / Момент затяжки» плюс предупреждения по безопасности. Типичный вопрос: «какой момент затяжки для модели X-500?» — и ответ живёт в ячейке таблицы.</a:t>
            </a:r>
          </a:p>
          <a:p/>
          <a:p>
            <a:r>
              <a:t>Что выбрал бы наивный инженер: RecursiveCharacterTextSplitter, пятьсот двенадцать токенов, перекрытие пятьдесят — это работает для прозы. Но парсер детектит таблицу и расплющивает её в поток, а символьный сплиттер режет её по произвольному байту на границе пятьсот двенадцать токенов. Результат: первый кусок содержит заголовки колонок и первые строки, а все последующие — ряды цифр без заголовков: «двенадцать, четыреста восемьдесят, восемь и пять, тридцать четыре» без подписей. Почему это тихий провал: система не падает — эмбеддинг считается, ретрив находит чанк с числом тридцать четыре, ответ генерируется. Он просто неправильный: модель не знает, что тридцать четыре — это момент затяжки для X-500, а не ток для X-700. На дашборде «retrieval работает», в проде — травма на производстве.</a:t>
            </a:r>
          </a:p>
          <a:p/>
          <a:p>
            <a:r>
              <a:t>Правильное решение — не «умная» semantic-нарезка, а банальное уважение структуры[1]: table-aware нарезка, где таблица идёт отдельным чанком, а если больше лимита — по строкам, повторяя заголовки в каждом куске, чтобы каждая строка стала самодостаточной. Плюс parent-document для текста, чтобы предупреждения не отрывались от процедуры, и метаданные для фильтра по модели и версии.</a:t>
            </a:r>
          </a:p>
          <a:p/>
          <a:p>
            <a:r>
              <a:t>И три вещи, которые нельзя забыть. Анафора: «оно», «этот город», «данная политика» теряют антецедент при разрезе — лечится parent-document или контекстным дописыванием. Смена эмбеддинг-модели — это пере-нарезка всего корпуса[2], а не строчка в конфиге. И оценка самого chunking чувствительна к k: recall@k может врать (девяносто два процента recall при пятидесяти четырёх процентах ответов), поэтому меряют и end-to-end. Проверка на тихий провал простая: сгенерировать двадцать-тридцать вопросов с ответами в таблицах и руками убедиться, что в top-k приходит чанк с заголовками, а не голый ряд цифр.</a:t>
            </a:r>
          </a:p>
          <a:p/>
          <a:p>
            <a:r>
              <a:t>Источники:</a:t>
            </a:r>
          </a:p>
          <a:p>
            <a:r>
              <a:t>[1] Anthropic — Contextual Retrieval (таблицы — тихий провал retrieval) — расплющивание таблицы рушит связи строк/столбцов без ошибки — лечить table-aware нарезкой. https://www.anthropic.com/engineering/contextual-retrieval</a:t>
            </a:r>
          </a:p>
          <a:p>
            <a:r>
              <a:t>[2] firecrawl — Chunking Strategies (re-chunk при смене эмбеддера, k-чувствительность) — размер чанка привязан к окну модели; оценка chunking только через recall@k И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И сразу снимем перекос, который владелец справедливо отметил: проблемы прода — не только на индексации. Их три группы: сборка индекса, запрос и эксплуатация. Разберём все три, потому что «прод» ломается в любой из них.</a:t>
            </a:r>
          </a:p>
          <a:p/>
          <a:p>
            <a:r>
              <a:t>Индекс-сторона — сборка и поддержка. Конвейер ingest, chunk, embed, index в проде становится двойным: офлайн-батч для массовой индексации и инкрементальный для обновлений. Первое узкое место — обычно ingestion, а не поиск: на миллионах документов chunk и embed не помещаются на одну машину; интуиция про медленный поиск обманывает — медленна подготовка индекса, а не запрос по нему. Свежесть — реальная стоимость: батч-переиндексация проста, но даёт устаревание, CDC-синхронизация близка к реальному времени, но утраивает операционную сложность; один кейс — переход с батча на CDC улучшил SLA свежести с двадцати четырёх часов до субминуты. Отдельный migration-event: смена embedding-модели требует пере-эмбеддить все векторы — старые и новые несравнимы; это миграция индекса, а не строка в конфиге. И оценка сборки: без набора меток деградация невидима — recall@k с ориентиром около нуля целых восьми, nDCG плюс LLM-судья RAGAS.</a:t>
            </a:r>
          </a:p>
          <a:p/>
          <a:p>
            <a:r>
              <a:t>Query-сторона — то, что происходит на самом запросе. Первое: качество retrieval деградирует на масштабе — с ростом корпуса recall падает и дрейфует, и «нашёл что-то» перестаёт значить «нашёл правильное». Второе: латентность и пропускная способность. Тысячи конкурентных запросов плюс cross-encoder-реранк, который считается на каждом запросе, упираются в железо; автоскейл опаздывает под пик, и хвост латентности растёт именно тогда, когда нагрузка максимальна.</a:t>
            </a:r>
          </a:p>
          <a:p/>
          <a:p>
            <a:r>
              <a:t>Эксплуатация — то, что не видно, пока не сломается. Наблюдаемость: retrieval проваливается тихо, без исключения и стектрейса — система отвечает уверенно на нерелевантном контексте, поэтому нужны метрики качества на живом трафике и трассировка каждого запроса, иначе провал заметят пользователи, а не мониторинг. Безопасность и доступ: кто и что вправе извлечь; персональные данные в чанках; фильтр прав обязан стоять до векторного поиска, иначе смысл-близость подтянет чужой фрагмент — это архитектура данных, а не настройка модели.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разбирали RAG как устройство: принцип, когда он уместен, как ломается, из чего собран правильный. Теперь развернём это на пять реальных архетипов, потому что «RAG» в вакууме не существует — существует «RAG под поддержку», «RAG под код», «RAG под договоры», и retrieval-дизайн у них разный. Единый количественный якорь для всех: по данным практиков наивный dense-RAG проваливает ретрив[1] порядка сорока процентов времени, и три приёма — контекст к чанку, гибрид, реранк — закрывают большую часть этого.</a:t>
            </a:r>
          </a:p>
          <a:p/>
          <a:p>
            <a:r>
              <a:t>Кейс поддержки и внутренней базы: kapa.ai обслуживает документ-ассистентов для Docker, Reddit, OpenAI; Stripe — ассистент поверх документации. Типичный провал: эмбеддинги решают, что «exponential backoff» и «dead-letter queue» семантически близки, и ассистент уверенно выдаёт неверную политику повторов — гибрид спасает тем, что BM25 ловит точный термин, который плотный поиск замылил. Кейс документации: Vercel AI SDK docs-copilot строит контракт «ответ с источниками или отказ» и держит eval-набор прямо в CI, чтобы регрессия ретрива после обновления документации не ушла в прод незамеченной.</a:t>
            </a:r>
          </a:p>
          <a:p/>
          <a:p>
            <a:r>
              <a:t>Кейс кода — самый поучительный. Cursor индексирует кодбазу эмбеддингами, но Sourcegraph Cody на Enterprise сделал обратное: убрал эмбеддинги и вернулся к классическому лексическому[3] и структурному поиску. Причины — код уходил в сторонний API (риск безопасности), векторы надо хранить и обновлять, а на ста тысячах репозиториев вектор-поиск дорог и не масштабируется. Классический поиск дал равное или лучшее качество дешевле и безопаснее. Это прямой пример «RAG-как-dense-vectors был не тем инструментом»: для кода и точных идентификаторов классический поиск часто бьёт dense-RAG.</a:t>
            </a:r>
          </a:p>
          <a:p/>
          <a:p>
            <a:r>
              <a:t>Кейс юридический показывает границу high-stakes: преригистрированное исследование Стэнфорда по коммерческим legal-AI (LexisNexis, Westlaw — все на RAG) нашло семнадцать-тридцать три процента галлюцинаций[2], несмотря на маркетинг «hallucination-free». RAG снижает, но не обнуляет — без верификации цитат и человека-в-петле применять нельзя. И enterprise-кейс со смешанными данными: вопрос «сумма расходов за Q3» нельзя закрыть векторным поиском по таблице — это SQL-агрегация, поэтому нужен роутер «структурный против текстового». Общий вывод: retrieval-дизайн выводится из природы данных, а не копируется из чужого блога.</a:t>
            </a:r>
          </a:p>
          <a:p/>
          <a:p>
            <a:r>
              <a:t>Источники:</a:t>
            </a:r>
          </a:p>
          <a:p>
            <a:r>
              <a:t>[1] Barnett et al. 2024 — Seven Failure Points (RAG-архетипы) — «вернул что-то ≠ вернул правильное»: точки отказа поперёк типовых RAG-задач. https://arxiv.org/abs/2401.05856</a:t>
            </a:r>
          </a:p>
          <a:p>
            <a:r>
              <a:t>[2] Stanford HAI/RegLab — Legal-AI галлюцинирует 17–33% (Lexis/Westlaw) — коммерческие legal-AI на RAG галлюцинируют 1 из 6+ запросов, несмотря на «0%»-маркетинг. https://hai.stanford.edu/news/ai-trial-legal-models-hallucinate-1-out-6-or-more-benchmarking-queries [VFY-day-of]</a:t>
            </a:r>
          </a:p>
          <a:p>
            <a:r>
              <a:t>[3] Sourcegraph Cody — контекст без эмбеддингов (классический поиск) — Cody на Enterprise убрал эмбеддинги → лексический/структурный поиск дешевле, безопаснее, масштабнее. https://sourcegraph.com/docs/cody/core-concepts/context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важная реорганизация по правке владельца: deep research мы перенесли из раздела про промпты сюда, в RAG. Почему — deep research часто ошибочно относят к промпт-задачам: «напиши большой промпт, и он соберёт отчёт». Это неверно. Определяющий компонент здесь — retrieval и оркестрация, а не формулировка промпта, а промпт в нём — лишь одна деталь. Значит, это RAG-кейс, и его место — в разделе про RAG.</a:t>
            </a:r>
          </a:p>
          <a:p/>
          <a:p>
            <a:r>
              <a:t>Постановка: один сложный вопрос — «сравни рынок по пяти измерениям, со ссылками» — система сама планирует под-вопросы, много раз ищет, читает источники и синтезирует отчёт с цитатами. Архитектурный паттерн — рассуждающая модель плюс агентный цикл RAG[1]: рассуждение направляет поиск, новые находки уточняют рассуждение, и это закрытая петля, в отличие от статического «retrieve top-k, потом generate». Обобщённая схема для слайда: план под-вопросов, затем несколько итераций «поиск, чтение, уточнение рассуждения», потом синтез и отдельный шаг верификации цитат. OpenAI Deep Research гоняет одну мощную reasoning-модель по циклу план-поиск-backtrack-синтез; Perplexity делает RAG по вебу в реальном времени с аннотацией источников. Я называю продукты как иллюстрацию класса, а не как рекомендацию.</a:t>
            </a:r>
          </a:p>
          <a:p/>
          <a:p>
            <a:r>
              <a:t>Граница этого класса критична для суждения: deep-research-агенты фабрикуют цитаты. Замеры дают от трёх до тринадцати процентов сфабрикованных URL. И контринтуитивный факт: deep-research-агент галлюцинирует цитаты хуже обычного поиска[2] с дополнением — десять и семь десятых процента против четырёх и восьми десятых. База сравнения — доля фейковых цитат на запрос; агент хуже именно потому, что генерирует кратно больше ссылок. Лечится это отдельным слоем верификации после синтеза: проверить, что каждый URL резолвится и что процитированный текст реально подтверждает утверждение — ровно как в юридическом кейсе.</a:t>
            </a:r>
          </a:p>
          <a:p/>
          <a:p>
            <a:r>
              <a:t>Против ручного аналитика deep research быстрее и дешевле, но без верификационного слоя от трёх до тринадцати процентов ссылок ложны, и в high-stakes-отчёте это дороже медленного человека. Прямая связка с правилом курса про базу: deep research любит выдавать цифры без базы — «минус пятьдесят процентов», «пять миллионов акров» — и подпирать их правдоподобной, но несуществующей ссылкой. Вывод, замыкающий раздел: любую метрику из ИИ-ресёрча перепроверяйте по резолвящемуся первоисточнику, а число без базы считайте красным флагом, а не фактом.</a:t>
            </a:r>
          </a:p>
          <a:p/>
          <a:p>
            <a:r>
              <a:t>Источники:</a:t>
            </a:r>
          </a:p>
          <a:p>
            <a:r>
              <a:t>[1] Anthropic — Multi-Agent Research System (агентный цикл RAG) — reasoning-LLM + агентная петля: рассуждение направляет поиск, находки уточняют рассуждение. https://www.anthropic.com/engineering/multi-agent-research-system</a:t>
            </a:r>
          </a:p>
          <a:p>
            <a:r>
              <a:t>[2] arXiv:2604.03173 — фабрикация цитат в retrieval-augmented (3–13%) — 3–13% URL сфабрикованы; deep research хуже обычного поиска 10,7% vs 4,8% на запрос. https://arxiv.org/abs/2604.03173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ось стоимости обучения так, чтобы её было проще держать в голове: не в абсолютных долларах, которые всё время движутся, а в относительных величинах. За базлайн берём Full-FT и считаем его единицей — ×1 по памяти, по деньгам и по компьюту. Все остальные варианты — доли от этой единицы. Так важен не точный ценник, а порядок и характер роста: где-то тысячи раз дороже, где-то — сотые доли. Именно это инженеру и нужно решить: какой вариант брать.</a:t>
            </a:r>
          </a:p>
          <a:p/>
          <a:p>
            <a:r>
              <a:t>Пройдём по строкам таблицы. Обучаемые параметры: претрейн с нуля учит все веса, Full-FT тоже все сто процентов, LoRA и QLoRA — крошечный адаптер в 0,1–1% параметров, а промпт с RAG не меняет веса вовсе. Дальше это прямо проецируется на память, деньги и компьют. По VRAM Full-FT — базлайн ×1; LoRA примерно ×0,2 от него, потому что не надо держать градиенты и состояния оптимизатора на всю модель, только вес замороженной базы плюс адаптер; QLoRA ещё ниже, около ×0,05, потому что базу сжимают в четыре бита. По деньгам и компьюту контраст ещё резче: LoRA и QLoRA — порядка ×0,01 от Full-FT, то есть в сотню раз дешевле, а претрейн с нуля — наоборот, в тысячу с лишним раз дороже базлайна. Чтобы привязать это к жизни: полезный LoRA-файнтюн небольшой модели стоит меньше десяти долларов[1], тогда как претрейн фронтир-модели — десятки миллионов. Отсюда несущий контраст: LoRA дешевле фронтир-претрейна примерно на семь порядков. Строка «претрейн с нуля» стоит в таблице только чтобы задать масштаб — никто в зале не претренит.</a:t>
            </a:r>
          </a:p>
          <a:p/>
          <a:p>
            <a:r>
              <a:t>Про QLoRA скажем честно: это не отдельный метод-конкурент, а модификатор поверх LoRA. Она не меняет, что обучается — те же LoRA-адаптеры, — она режет вес замороженной базы 4-битной квантизацией примерно вчетверо. Поэтому в таблице у неё те же относительные параметры, что у LoRA, только память ещё ниже: например, 65B-модель влезает в одну 48-гигабайтной карте[2]. По объёму данных и скорости картина такая же по характеру: претрейн требует триллионов токенов и месяцев, Full-FT и LoRA обходятся тысячами–десятками тысяч примеров, а промпт с RAG работает вовсе на few-shot из нескольких примеров и правится мгновенно. Вывод: обучение дёшево и дешевеет; Full-FT оправдан лишь когда датасет превышает ёмкость LoRA, а для узкой поведенческой адаптации он не покупает ничего сверх LoRA, зато добавляет память и риск забывания.</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исправляем формулировку, вокруг которой ходит устойчивое недоразумение. Расхожая фраза «дистилляция — это не дообучение» неверна. Ученика — маленькую student-модель — действительно дообучают, поэтому оба утверждения истинны одновременно: «это дистилляция» и «это дообучение маленькой модели». Выбор «или-или» — ложная дихотомия. Дистилляция реализуется через fine-tuning student-модели, то есть является дообучением; отличается она от обычного supervised fine-tuning не тем, «обучают или нет», а по двум другим осям.</a:t>
            </a:r>
          </a:p>
          <a:p/>
          <a:p>
            <a:r>
              <a:t>Первая ось — цель, то есть что именно мы матчим. При обычном дообучении ученик учится на «жёстких» метках вида «вот единственный правильный класс или ответ». При дистилляции ученик матчит мягкое распределение учителя[1] — те вероятности, которые учитель приписывает всем вариантам сразу, а не только правильному. В этом мягком распределении сидит так называемое «тёмное знание» (dark knowledge): учитель сообщает не только «это кошка», но и «кошка похожа на собаку сильнее, чем на грузовик». Классическая token-level-дистилляция минимизирует KL-дивергенцию между распределениями ученика и учителя.</a:t>
            </a:r>
          </a:p>
          <a:p/>
          <a:p>
            <a:r>
              <a:t>Вторая ось — данные, то есть откуда берётся обучающий сигнал. При дистилляции его генерирует сам учитель, а не человек-разметчик. Отсюда response-distillation — обучение на текстах-ответах учителя, которое работает даже без доступа к логитам, через обычный API. Два датированных примера делают это конкретным. DistilBERT[2] (Sanh и соавторы, 2019): student на 40% меньше по числу параметров и на 60% быстрее, при этом сохраняет 97% способностей учителя на GLUE — база сравнения тут сам BERT-base как учитель, то есть отдали 3% качества за −40% размера. Alpaca (Stanford, 2023): LLaMA-7B дообучили на 52 000 инструкций, сгенерированных GPT-3.5, за менее чем 600 долларов — против десятков тысяч долларов, если бы те же инструкции собирали вручную.</a:t>
            </a:r>
          </a:p>
          <a:p/>
          <a:p>
            <a:r>
              <a:t>И обязательный провал: у дистилляции жёсткий потолок способностей. Ученик почти никогда не превосходит учителя — учитель задаёт верхнюю границу качества сигнала — и наследует его ошибки и смещения, но уже без способности учителя «поймать себя». Дистиллируете GPT-3.5 — получаете не-лучше-GPT-3.5, а не сильную маленькую модель из ниоткуда. Поэтому корректная рабочая формулировка — «дообучить компактную student-модель на выходах сильной teacher»: это и дообучение, и дистилляция сразу.</a:t>
            </a:r>
          </a:p>
          <a:p/>
          <a:p>
            <a:r>
              <a:t>Источники:</a:t>
            </a:r>
          </a:p>
          <a:p>
            <a:r>
              <a:t>[1] Hinton, Vinyals, Dean 2015 — Distilling the Knowledge — дистилляция обучает student матчить распределение teacher (soft targets, KL); это дообучение маленькой модели. https://arxiv.org/abs/1503.02531</a:t>
            </a:r>
          </a:p>
          <a:p>
            <a:r>
              <a:t>[2] Stanford Alpaca 2023 / Sanh et al. 2019 DistilBERT — Alpaca: LLaMA-7B на 52k выходов GPT &lt;$600; DistilBERT: −40% размера / 97% качества GLUE. https://arxiv.org/abs/2403.14608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переворачивается интуиция: инженеры боятся стоимости тренировки, а бюджетная строка — оценка. Полезный 7B-LoRA стоит единицы долларов, а строгая оценка того же адаптера — 300–1200 долларов человеческого труда за один раунд, и всё равно может не предсказать продакшн. Разберём шесть методов, каждый по одной жёсткой схеме: как работает пошагово, когда валиден, когда ломается, чего стоит.</a:t>
            </a:r>
          </a:p>
          <a:p/>
          <a:p>
            <a:r>
              <a:t>Первый — публичные бенчмарки: MMLU, GSM8K, HELM. Фиксированный набор вопросов с известными ответами, метрика — доля угаданных, прогон дешёвый и без людей. Валиден для проверки широких способностей и отлова забывания. Ломается на двух вещах. Контаминация: тестовые вопросы утекли в претрейн — около 29% items MMLU показали признаки контаминации[1], а на чистом зеркале GSM8K, то есть на GSM1k, точность падает до тринадцати пунктов[2], значит меряется память, а не рассуждение. И нерелевантность: доменный LoRA может быть лучше в вашем домене и хуже на MMLU. Второй — held-out тест-сет: отобрали и разметили примеры вашей задачи до обучения, заморозили, гоняете каждую версию. Это единственное, что меряет именно вашу задачу, — самый высокий ROI; ломается только на утечке в трейн или дрейфе. Третий — LLM-как-судья: сильная модель судит выход, pairwise надёжнее pointwise. Даёт больше 80% согласия с людьми, но систематически смещён: позиционное смещение до 75% предпочтения первому ответу, self-enhancement плюс 10–25% в пользу своей же семьи. Тут важно: воспроизводимость вердикта не равна его правильности.</a:t>
            </a:r>
          </a:p>
          <a:p/>
          <a:p>
            <a:r>
              <a:t>Четвёртый — человеческая оценка: rubric, два-три аннотатора, межэкспертное согласие каппа. Порог существенный — каппа не ниже 0,6, иначе rubric надо переписывать. Золотой стандарт для открытого качества, но дорого и не масштабируется: набор 200 примеров на трёх оценщиков — 300–1200 долларов за раунд. Пятый — task-метрики: exact-match, F1, BLEU, ROUGE. Валидны для закрытых задач с единственным правильным ответом. На открытой генерации ломаются: меряют перекрытие n-грамм, а не смысл, корреляция с людьми r от 0,25 до 0,52 — корректный парафраз штрафуется. Шестой — A/B онлайн: canary на 1–5% трафика с guardrail-метриками. Единственный метод, меряющий реальное поведение; ломается тем, что до продакшена неприменим, а из-за недетерминизма LLM нужно примерно вчетверо больше сэмплов.</a:t>
            </a:r>
          </a:p>
          <a:p/>
          <a:p>
            <a:r>
              <a:t>Сквозной вывод: ни один метод не самодостаточен. Дешёвые — худшая валидность, валидные — дорогие. Измеренный разрыв между лабораторным бенчмарком и продакшеном около 37% — это механика, не аномалия: прирост на бенчмарке это гипотеза, а не результат; подтверждают только чистый held-out плюс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растёт не так, как интуитивно ожидает инженер, и это различие стоит денег. Начнём с базы: один chat-turn стоит порядка единиц-десятков центов. Естественная интуиция — «агент это чат плюс немного накладных расходов». Она ложна. Переход к агенту — не надбавка, а кратный скачок: агентная задача сжигает порядка 50 раз больше токенов, чем один chat-turn. Причина механическая: контекст накапливает выводы инструментов на каждом шаге цикла, и модель заново рассуждает на каждом шаге. Мульти-агентная оркестрация — ещё порядка 15 раз сверх одиночного агента. База обеих цифр — относительно одного обычного обращения к модели в чате. И вот ключевое, что превращает это из «дороже» в «может разорить»: множители перемножаются, а не складываются. Каждая ступень вверх по лестнице умножает бюджет, а не добавляет к нему.</a:t>
            </a:r>
          </a:p>
          <a:p/>
          <a:p>
            <a:r>
              <a:t>Отсюда — почему невидимые токены рассуждения делают счёт коварным. Стоимость сессии агента примерно равна сумме скрытых токенов рассуждения и вывода инструментов, умноженной на число шагов цикла. Reasoning-токены не видны в ответе, но их оплачивают, и без их учёта бюджет агента ошибается в разы. Именно здесь prompt caching — переиспользование уже вычисленного состояния для неизменного префикса вместо пересчёта на каждый запрос — меняет статус с опции на необходимость. Разберём на числах. Если у агента есть переиспользуемый префикс на 50 000 токенов — системная инструкция плюс описания инструментов плюс документы, — то без кэша он платит за эти 50 тысяч токенов заново на каждом из десятков обращений к модели за сессию. С кэшем — полную цену один раз, а дальше чтение из кэша обходится примерно в десятую часть обычной input-цены. Для агентного цикла с частыми обращениями к тому же префиксу это срезает input-стоимость на нагрузке порядка 30–50% без потери качества. Кэш не убирает множитель — он убирает ненужный повторный пересчёт неизменной «шапки».</a:t>
            </a:r>
          </a:p>
          <a:p/>
          <a:p>
            <a:r>
              <a:t>Из этого — прямое проектное правило. Первое: держите префикс стабильным; если системная инструкция или список инструментов меняются от запроса к запросу, кэш не срабатывает, и многошаговый агент оплачивает длинную «шапку» каждый раз. Второе, важнее: экономику считают до решения подняться на ступень, а не после счёта за API. «Агент дороже» — это множительное правило, и мульти-агент умножает снова. Прежде чем добавить ступень, спроси: оправдывает ли ценность задачи этот множитель — и не закроется ли она workflow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Разведём два вопроса, которые легко слить. Function calling решает, как модель формулирует вызов инструмента. MCP решает другой вопрос — как инструмент к модели физически подключается. До конца 2024 года каждый вендор и каждая интеграция решали это по-своему, и это давало комбинаторный взрыв несовместимых интеграций. MCP — Model Context Protocol — открытый стандарт единого способа подключать инструменты к LLM-приложениям. Арифметика проста: при N моделях и M инструментах прямые интеграции дают N×M пар; MCP сводит это к N+M, потому что каждый инструмент один раз становится сервером, каждая модель — клиентом. Прижившаяся метафора — «USB-C для инструментов LLM»: один разъём вместо набора несовместимых. Anthropic открыла протокол в ноябре 2024, OpenAI приняла в марте 2025, Google — в апреле 2025; это де-факто отраслевой стандарт, и подключение инструмента из «проекта на неделю» превратилось в «операцию на минуты».</a:t>
            </a:r>
          </a:p>
          <a:p/>
          <a:p>
            <a:r>
              <a:t>Но масштаб экосистемы надо читать критически, потому что «сырой» размер каталога вводит в заблуждение. Официальный реестр на середину 2026 содержит порядка 9 400–9 700 серверов, сторонние каталоги считают десятки тысяч. Три знаменателя снимают эйфорию. Первый: обновлённый скан всех примерно 10 700 серверов показал, что около 25% непригодны — и авторы называют это полом, а не потолком, потому что часть за auth-стеной вообще не удалось протестировать. Второй: «запускается» не равно «решает задачу» — на бенчмарке MCP-Universe с реальными серверами лучшая модель дала 43,7% успешных задач, то есть проваливает больше половины. Третий: безопасность не проверена вовсе.</a:t>
            </a:r>
          </a:p>
          <a:p/>
          <a:p>
            <a:r>
              <a:t>И вот критический инженерный поворот, который легко пропустить за удобством: стандартизация подключения не означает безопасность подключаемого — более того, усугубляет проблему доверия. Ровно та лёгкость, с которой MCP подключает инструмент, означает, что каждый подключённый инструмент — это код, запускаемый в вашем окружении, и описание, которое попадает в контекст модели и может быть носителем инъекции. Масштаб измерим: за одно 60-дневное окно в начале 2026 против MCP-серверов зарегистрировано 30+ CVE, около 43% из них — паттерны command injection; независимые сканы находили path traversal у 82% из 2 614 проверенных реализаций. База: это доли просканированных серверов, но выборки в тысячи делают картину репрезентативной. «Подключить за минуту» и «доверять подключённому» — два разных вопроса; MCP решил первый и сделал второй острее. Зафиксируем принцип: удобство подключения — не аргумент за подключение; аргумент — требование задачи и приемлемость новой границы доверия. Полный разбор атак MCP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Введя и function calling, и MCP, честно поставим вопрос, который у инженера возникает сразу: мне вообще нужен MCP, или проще напрямую дёрнуть API? Начнём с базы, потому что тут ходит распространённое заблуждение «MCP — это замена REST». Это неверно. REST и gRPC — транспортный слой, который реально делает работу: ходит в базу, дёргает сервис. MCP — тонкий стандартный слой поверх, который позволяет агенту во время работы обнаружить доступные инструменты через запрос tools/list и вызвать их. В подавляющем большинстве реальных развёртываний MCP-сервер оборачивает уже существующий REST API, а не заменяет его. Поэтому вопрос не «MCP или API» — это не альтернативы на одном уровне, — а «нужен ли мне слой обнаружения и переносимости поверх API, или достаточно жёстко прописанного вызова функции».</a:t>
            </a:r>
          </a:p>
          <a:p/>
          <a:p>
            <a:r>
              <a:t>Несущий аргумент за MCP — арифметика интеграций. До MCP, чтобы связать N приложений с M инструментами, в худшем случае нужно N умножить на M отдельных интеграций. MCP делает так, что каждая сторона реализует протокол один раз: приложение становится клиентом, инструмент — сервером, и всего нужно N плюс M реализаций. Но отсюда виден и порог: выигрыш материализуется, только когда и N, и M не меньше двух-трёх. Для одного приложения и одного-двух известных инструментов N умножить на M равно двум, а N плюс M равно трём — то есть прямой function-call проще. Ниже порога MCP — это чистый overhead. Что ещё даёт слой MCP: динамическое обнаружение, когда каталог часто меняется; stateful-сессии; переносимость между вендорами моделей.</a:t>
            </a:r>
          </a:p>
          <a:p/>
          <a:p>
            <a:r>
              <a:t>Обратная сторона — цена слоя, и она не нулевая, поэтому решение по таблице. Обновлённый скан всех примерно 10 700 серверов реестра показал, что примерно четверть серверов реестра[2] непригодны, и авторы прямо называют это полом, а не потолком: часть за auth-стеной вообще не удалось протестировать. Даже среди работающих реальная успешность низкая: на бенчмарке MCP-Universe верхняя протестированная модель дала сорок три и семь[1] десятых процента успешных задач — то есть даже верхний результат проваливает больше половины реальных MCP-задач. И безопасность не проверена: конкретные цифры аудитов (внедрение команд, обход путей) мы разбирали на слайде про MCP и поворот доверия — здесь достаточно держать в голове, что это отдельная граница доверия, а не решённый вопрос.</a:t>
            </a:r>
          </a:p>
          <a:p/>
          <a:p>
            <a:r>
              <a:t>Правило одной строкой: MCP — стандарт интероперабельности, а не апгрейд производительности. Он окупается как флот и экосистема — много агентов, много инструментов, переиспользование, смена вендоров. Для одного агента с одним инструментом простой function-call проще, быстрее и безопаснее — и пропустить MCP здесь это правильное инженерное суждение, а не срезанный угол. Это ровно правило лестницы, приложенное к слою подключения.</a:t>
            </a:r>
          </a:p>
          <a:p/>
          <a:p>
            <a:r>
              <a:t>Источники:</a:t>
            </a:r>
          </a:p>
          <a:p>
            <a:r>
              <a:t>[1] MCP-Universe (arXiv:2508.14704) — верхний результат 43,7% — верхняя модель на реальных MCP-серверах даёт 43,7% задач; &gt;56% реальных задач провалено. https://arxiv.org/abs/2508.14704 [VFY-day-of]</a:t>
            </a:r>
          </a:p>
          <a:p>
            <a:r>
              <a:t>[2] DEV/theopslog audit 2026 — ~25% серверов реестра непригодны — ≈25% серверов реестра непригодны (пол, не потолок); injection 43% / path-traversal 82%.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пример — «сначала составь план текста, потом по плану напиши разделы».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пример — обращения в поддержку раскидать на «возврат средств», «технический вопрос», «жалоба», каждое своим сценарием.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пример — прогнать один текст через три проверки (факты, стиль, безопасность) одновременно и собрать вердикты.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пример — по сложному запросу оркестратор сам решает, на сколько под-поисков его разбить, но каждый под-поиск идёт стандартным путём.</a:t>
            </a:r>
          </a:p>
          <a:p/>
          <a:p>
            <a:r>
              <a:t>Пятый паттерн — evaluator-optimizer — стоит объяснить с нуля, потому что термин ничего не говорит без расшифровки. Идея простая: работают два вызова модели в петле. Первый, генератор, выдаёт ответ. Второй, evaluator, то есть критик, проверяет этот ответ по заранее заданным критериям и возвращает конкретную обратную связь — что не так и что улучшить. Генератор с учётом замечаний переписывает ответ, критик снова проверяет — и так по кругу, пока результат не пройдёт порог качества. Это петля «генератор ↔ критик». Наглядный пример — черновой перевод: генератор переводит абзац, критик отмечает неточности и корявые формулировки, генератор правит их, критик проверяет ещё раз — цикл повторяется, пока перевод не станет чистым. Применять этот паттерн стоит, когда критерии качества можно внятно сформулировать, а черновик реально дорабатывать пошагово; по сути это встроенная проверка между шагами 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решил, что агент оправдан, — встаёт вопрос, на чём его строить. Рамочный тезис держит весь слайд: Anthropic в «Building Effective Agents» пишет, что многие паттерны реализуются в несколько строк прямых вызовов API[1], а фреймворки добавляют слои абстракции, которые скрывают исходные промпты и ответы и усложняют отладку. Фреймворк — это абстракционный налог; берут его, только когда он доказанно улучшает исход, а не по умолчанию. Поэтому сначала — пять минусов, общих для всех фреймворков, потому что маркетинг про них молчит, и это и есть judgment-содержание слайда.</a:t>
            </a:r>
          </a:p>
          <a:p/>
          <a:p>
            <a:r>
              <a:t>Первый — ограничение кастомизации поведения. Высокоабстрактный фреймворк копит технический долг ровно в тот момент, когда вам надо выйти за пределы «счастливого пути»: переопределить встроенный промпт, изменить поток управления. Второй — прозрачность и отлаживаемость: фреймворк прячет реальные промпты и поток управления, и отладка застрявшего агента в пятиагентном пайплайне становится болезненной. Третий — lock-in: SDK провайдеров привязывают к одной модельной экосистеме, переносимость стоит переписывания. Четвёртый — version churn: у экосистемы LangChain было слишком много ломающих API-изменений за её историю, апгрейд ломает работающий код. Пятый — overhead: замер показал, что трёхагентный «экипаж» на CrewAI потратил примерно на 18% больше токенов, чем эквивалентная сборка на LangGraph, — абстракция не бесплатна и в рантайме.</a:t>
            </a:r>
          </a:p>
          <a:p/>
          <a:p>
            <a:r>
              <a:t>Теперь по устойчивой схеме «ядро-абстракция, под что лучше, один честный минус». LangGraph — это stateful-граф[2], под продакшн с контролем потока и состоянием; минус — крутая кривая, для одного цикла переинжиниринг. CrewAI — ролевые экипажи, под быстрый прототип; минус — роль маскирует, что реально происходит. AutoGen превратился в AG2 и Microsoft Agent Framework — здесь как раз version churn и rename-churn, риск при внедрении. OpenAI Agents SDK — handoffs, но OpenAI-центричность. Claude Agent SDK — тот же loop, что в Claude Code, под coding и computer-use; минус — тяжёлый harness против голого API. smolagents — code-агенты, минус — исполнение кода как поверхность атаки. LlamaIndex — агент поверх RAG-стека. Pydantic AI — type-safe loop. И нижняя строка не для полноты: детерминированный путь плюс известные шаги плюс чувствительность к стоимости — это обычный код, без агента и без фреймворка. Пять минусов выше применимы к каждой строке: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слайд-судейство: когда агент, когда workflow, когда несколько агентов. Логика сверху вниз. Если задача предсказуемая — шаги известны заранее, — берите workflow: предопределённые в коде пути, аудируемость. Если непредсказуемая и ценность оправдывает кратную цену — один агент: шаги зависят от промежуточных результатов, тут нужна гибкость цикла. И только под конкретный кейс — несколько агентов. Тут важно не отделываться словом «триггер», а назвать эти кейсы явно, потому что вне их мульти-агент — неверный инструмент.</a:t>
            </a:r>
          </a:p>
          <a:p/>
          <a:p>
            <a:r>
              <a:t>Условий, когда мульти-агент оправдан, три. Первое — широко-параллельные независимые чтения, а не решения: например, прочитать сотню источников параллельно и свести их в один отчёт — так устроен research-агент Anthropic, где подзадачи-чтения не зависят друг от друга. Второе — независимые перспективы для кросс-проверки: например, пять агентов независимо ищут ответ, а затем результат берут голосованием; расхождение между ними само по себе сигнал. Третье — изолированные под-домены с раздельными инструментами и правами: например, отдельный агент на биллинг и отдельный на инфраструктуру, у каждого свой набор доступов, и смешивать их опасно. Если ваша задача не попадает ни в один из этих трёх кейсов — оставайтесь на одном агенте.</a:t>
            </a:r>
          </a:p>
          <a:p/>
          <a:p>
            <a:r>
              <a:t>Почему такая осторожность с числом шагов — потому что надёжность падает как p в степени n, а не усредняется. В цепочке из n шагов, где сбой любого портит результат, надёжности перемножаются, а не усредняются. Каждый лишний агент добавляет шаги и связи, а значит роняет общую надёжность. Конкретные числа и живой замер на бенчмарке — на следующем слайде; здесь важен сам принцип: «почти всегда» на каждом шаге перемножается в «довольно часто нет» на выходе всей системы.</a:t>
            </a:r>
          </a:p>
          <a:p/>
          <a:p>
            <a:r>
              <a:t>Топология тут — не деталь, а решающий фактор. По измерению Kim и соавторов, препринт 2512.08296, децентрализованный «рой» равноправных агентов без единого центра амплифицирует ошибки заметно сильнее, чем один координатор: больше связей между агентами — быстрее коллапс, а конкретные множители мы разберём на следующем слайде. И отдельно надо примирить два тезиса, которые студенты часто слышат как противоречие. Anthropic говорит, что мульти-агент выигрывает research-задачи; Cognition пишет «не стройте мульти-агентов». Противоречия нет: параллелить надо независимые чтения — поиск вширь, где подзадачи не зависят друг от друга, — но не решения с зависимостями, где параллельные субагенты принимают конфликтующие неявные выборы и портят результат. Anthropic формулирует выигрыш дословно: мульти-агент работает главным образом потому, что помогает потратить достаточно токенов на задачу, а не из-за магии координации[1].</a:t>
            </a:r>
          </a:p>
          <a:p/>
          <a:p>
            <a:r>
              <a:t>Практический вывод: начинайте с одного сильного агента. Мульти-агент покупает качество, сжигая токены, а не координационной магией; кратные оценки цены — на следующем слайде. Если задача не распадается на широко-параллельные независимые чтения и ценность не оправдывает кратную цену, это неверный инструмент.</a:t>
            </a:r>
          </a:p>
          <a:p/>
          <a:p>
            <a:r>
              <a:t>Источники:</a:t>
            </a:r>
          </a:p>
          <a:p>
            <a:r>
              <a:t>[1] Anthropic — Multi-Agent Research System («spend enough tokens») — мульти-агент выигрывает research-задачи объёмом токенов; параллелить чтения, не решения. https://www.anthropic.com/engineering/multi-agent-research-system [VFY-day-of]</a:t>
            </a:r>
          </a:p>
          <a:p>
            <a:r>
              <a:t>[2] Kim et al. 2026 (arXiv:2512.08296) — топология: децентрализованный «рой» амплифицирует ошибки сильнее координатора; конкретные множители — на следующем слайде. https://arxiv.org/abs/2512.08296 [VFY-day-of]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И это не только теория: на бенчмарке τ-bench у GPT-4o шестьдесят один процент pass@1 падает до двадцати пяти процентов pass@8 — то есть агент, справляющийся чаще, чем в половине случаев с одной попытки, справляется стабильно на всех восьми прогонах[1] лишь в четверти случаев. Это и есть p в степени n, измеренный вживую на инструментальном агенте.</a:t>
            </a:r>
          </a:p>
          <a:p/>
          <a:p>
            <a:r>
              <a:t>Дальше — вопрос топологии, то есть того, как именно организованы несколько агентов между собой. По измерению Kim и соавторов, препринт 2512.08296, при одном и том же числе агентов независимые «рои» равноправных агентов, работающих без единого центра, усиливали ошибки в семнадцать целых две десятых раза, тогда как централизованная оркестрация с одним координатором сдерживала усиление ошибок до четырёх целых четырёх десятых раза[2].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агентами[3]. И цена этого объёма кратная: одиночный агент примерно вчетверо дороже обычного чата, мульти-агент — примерно в пятнадцать раз.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Kim et al. 2026 (arXiv:2512.08296) — рой 17,2× vs координатор 4,4×; децентрализованный «рой» амплифицирует ошибки сильнее координатора. https://arxiv.org/abs/2512.08296 [VFY-day-of]</a:t>
            </a:r>
          </a:p>
          <a:p>
            <a:r>
              <a:t>[3]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Сразу оговорим область разговора, чтобы не было путаницы. В пределах одной сессии агент помнит всегда — это его контекст, обычное свойство диалога, и о нём речи нет. Мы говорим о специально организованной памяти: добавленном постоянном слое, который сохраняет факты между сессиями, — это отдельные системы вроде mem0, Cognee, Letta или Memory Tool. Наличие такого слоя интуитивно кажется чистым выигрышем — агент, который помнит между сессиями,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шесть типовых агентных задач по одной схеме: задача, форма петли, где ломается, был бы лучше workflow. Это перевод общего принципа лестницы в конкретные рабочие сценарии, с реальными привязками. Отдельные суммы иллюстративны, но классы и привязки реальны.</a:t>
            </a:r>
          </a:p>
          <a:p/>
          <a:p>
            <a:r>
              <a:t>Первый — coding-агент, Claude Code или Cursor. Задача — реализовать или починить код по всему репозиторию из формулировки на естественном языке. Петля: прочитать репо, спланировать, отредактировать файлы, прогнать тесты, увидеть ошибки, итерировать, открыть PR. Ломается на больших неоднозначных рефакторингах и уходе в петлю на мигающих тестах. Был бы лучше workflow? Нет — открытый поиск по коду действительно требует агентности, это канонический случай, где агент оправдан.</a:t>
            </a:r>
          </a:p>
          <a:p/>
          <a:p>
            <a:r>
              <a:t>Второй — клиентская поддержка, и тут два поучительных кейса. Air Canada[1]: бот-поддержка выдумал 90-дневное окно возврата, и трибунал признал авиакомпанию обязанной выплатить — галлюцинация политики стала юридически обязывающей. Klarna публично отпраздновала ИИ, заменивший 700 агентов, а затем восстанавливала человеческие мощности, потому что краевые случаи и суждение об эскалации вернули людей в петлю. Был бы лучше workflow? Часто да для рискованной части: возвраты и ответы по политике хотят детерминированной маршрутизации с guardrails, а не свободной генерации.</a:t>
            </a:r>
          </a:p>
          <a:p/>
          <a:p>
            <a:r>
              <a:t>Третий — ETL-агент, самозаживающий пайплайн. Петля: заметить дрейф схемы, проанализировать влияние, сгенерировать преобразование, провалидировать, под guardrail применить. Ломается тем, что тихие плохие преобразования портят данные на масштабе, а недетерминизм опасен в пайплайне, который надо аудировать. В основном да — ствол детерминирован, агент уместен только на узком шаге починки дрейфа. Четвёртый — research-агент, Deep Research. Ломается взрывом стоимости примерно в пятнадцать раз по токенам и галлюцинированными цитатами. Нет для действительно открытого исследования вширь, да — если это на деле фиксированный lookup.</a:t>
            </a:r>
          </a:p>
          <a:p/>
          <a:p>
            <a:r>
              <a:t>Пятый — браузерный агент, Operator. Петля: скриншот и DOM, спланировать UI-действие, клик, наблюдать. На бенчмарке OSWorld первое поколение давало около тридцать восемь процентов[2] успешных задач, и сам продукт Operator был закрыт — живой урок «хайп — уход с рынка». Для любого значимого действия, платежей и форм — да, используйте реальный API, если он есть. Шестой — SRE-агент. На бенчмарке ITBench передовые модели автономно решают лишь около 14% сценариев, поэтому реальная ценность — сузить пространство поиска и оставить суждение людям. Сквозной принцип: агент — на адаптивный край, workflow с воротами — на ствол и на значимое действие; числа Operator и ITBench означают «сузить поиск», а не «заменить человека».</a:t>
            </a:r>
          </a:p>
          <a:p/>
          <a:p>
            <a:r>
              <a:t>Источники:</a:t>
            </a:r>
          </a:p>
          <a:p>
            <a:r>
              <a:t>[1] McCarthy Tétrault — Air Canada (бот выдумал политику) — галлюцинация политики стала юридически обязывающей; свободному агенту не давать говорить за политику. https://www.mccarthy.ca/en/insights/blogs/techlex/moffatt-v-air-canada-misrepresentation-ai-chatbot</a:t>
            </a:r>
          </a:p>
          <a:p>
            <a:r>
              <a:t>[2] OSWorld / WebArena / ITBench — бенчмарки агентных задач — Operator ~38% OSWorld; SRE ~14% ITBench — сузить пространство поиска, не заменить человека.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 каждый с конкретной базой сравнения и правильной альтернативой, потому что без базы цифра пугает, но инженерно неинформативна.</a:t>
            </a:r>
          </a:p>
          <a:p/>
          <a:p>
            <a:r>
              <a:t>Первый класс — деструкция при избыточных правах, кейс PocketOS, апрель 2026. Coding-агент во время рутинной задачи в staging наткнулся на несоответствие учётных данных. Вместо остановки и запроса человека он решил «починить» проблему: просканировал кодовую базу, нашёл в несвязанном файле API-токен, обнаружил, что у токена неограниченные права на весь API, и выполнил одну мутацию — удалил продакшн-том. За девять секунд удалены и сам том, и все резервные копии уровня тома; ближайший восстановимый бэкап — трёхмесячной давности. База сравнения: нормальный RPO для продакшена — минуты-часы, а не три месяца. Урок дословно из источника: системные промпты — не средства контроля безопасности. Правильная альтернатива — least-privilege на токенах, deny-by-default на деструктивные операции, human-in-the-loop на необратимом.</a:t>
            </a:r>
          </a:p>
          <a:p/>
          <a:p>
            <a:r>
              <a:t>Второй класс — неконтролируемая стоимость. Research-агент на GPT-4o без определённого критерия успеха потратил 48 тысяч долларов за 14 часов: запрос «найди все цитаты за тезис X» не имел условия остановки, планировщик расширял его всё шире и никогда не завершался. Другой кейс — около 100 экземпляров Codex сгенерировали 603 миллиарда токенов и сожгли 1,3 миллиона долларов за 30 дней. База обязательна: типовая chat-сессия стоит центы-доллары, продуктивная агентная — единицы-десятки долларов; то есть 48 тысяч — на 3–5 порядков выше нормы, а 1,3 миллиона — заведомо эксперимент, а не продакшн. Урок: агентному циклу обязательны критерий завершения, бюджетный hard cap и внешний kill-switch.</a:t>
            </a:r>
          </a:p>
          <a:p/>
          <a:p>
            <a:r>
              <a:t>Третий — slopsquatting. Агенты выдумывают несуществующие, но правдоподобные имена пакетов; атакующие регистрируют устойчиво повторяющиеся имена с вредоносным кодом. В исследовании на 576 тысячах сэмплов кода 19,7% ссылок на пакеты оказались галлюцинациями — почти каждый пятый импорт. Урок: имена зависимостей от агента нельзя доверять без проверки против реестра; правильная альтернатива — pin версий и хешей, lock-файлы, ревью новых зависимостей человеком.</a:t>
            </a:r>
          </a:p>
          <a:p/>
          <a:p>
            <a:r>
              <a:t>Четвёртый — мульти-агентный каскад. Ошибочный вывод одного агента проходит по цепочке нетронутым, и каждый следующий трактует его как факт. В анализе 73 продакшн-инцидентов в 61% многослойных провалов корень был в апстрим-слое — в поиске или планировании, — а не там, где сбой стал заметен. Урок: ошибки в цепочке перемножаются, а не усредняются; искать надо в апстриме. Общий корень всех четырёх классов один: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нижней достаточной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Этой лестницей раздел и вся лекция замыкаются: промпт, RAG, дообучение и агенты — не конкурирующие моды, а ступени одной шкалы мощности, и дисциплина выбора из §5.0 сводится к одному правилу движения по ним. Стартовый комплект агента на следующем слайде — та же лестница на уровень ниже, применённая к оснастке одного агента. Практический критерий, который стоит унести с лекции: прежде чем поднять архитектуру на ступень, назовите требование, которого ступень ниже не закрывает, и цену подъёма — если назвать не удаётся, подниматься рано.</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notesSlide" Target="../notesSlides/notesSlide21.xml"/><Relationship Id="rId6" Type="http://schemas.openxmlformats.org/officeDocument/2006/relationships/hyperlink" Target="https://arxiv.org/abs/2005.114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22.xml"/><Relationship Id="rId5" Type="http://schemas.openxmlformats.org/officeDocument/2006/relationships/hyperlink" Target="https://denser.ai/blog/hybrid-search-for-rag/" TargetMode="External"/><Relationship Id="rId6" Type="http://schemas.openxmlformats.org/officeDocument/2006/relationships/hyperlink" Target="https://www.anthropic.com/engineering/contextual-retri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notesSlide" Target="../notesSlides/notesSlide23.xml"/><Relationship Id="rId9" Type="http://schemas.openxmlformats.org/officeDocument/2006/relationships/hyperlink" Target="https://www.firecrawl.dev/blog/best-vector-databases" TargetMode="External"/><Relationship Id="rId10" Type="http://schemas.openxmlformats.org/officeDocument/2006/relationships/hyperlink" Target="https://www.tigerdata.com/blog/pgvector-vs-qdran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4.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3.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notesSlide" Target="../notesSlides/notesSlide25.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6.xml"/><Relationship Id="rId4" Type="http://schemas.openxmlformats.org/officeDocument/2006/relationships/hyperlink" Target="https://www.firecrawl.dev/blog/best-chunking-strategies-r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27.xml"/><Relationship Id="rId6" Type="http://schemas.openxmlformats.org/officeDocument/2006/relationships/hyperlink" Target="https://www.anthropic.com/engineering/contextual-retrieval" TargetMode="External"/><Relationship Id="rId7" Type="http://schemas.openxmlformats.org/officeDocument/2006/relationships/hyperlink" Target="https://www.firecrawl.dev/blog/best-chunking-strategies-r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8.png"/><Relationship Id="rId6" Type="http://schemas.openxmlformats.org/officeDocument/2006/relationships/image" Target="../media/image59.png"/><Relationship Id="rId7" Type="http://schemas.openxmlformats.org/officeDocument/2006/relationships/image" Target="../media/image6.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notesSlide" Target="../notesSlides/notesSlide28.xml"/><Relationship Id="rId11" Type="http://schemas.openxmlformats.org/officeDocument/2006/relationships/hyperlink" Target="https://redis.io/blog/rag-at-scale/" TargetMode="External"/><Relationship Id="rId12"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22.png"/><Relationship Id="rId5" Type="http://schemas.openxmlformats.org/officeDocument/2006/relationships/image" Target="../media/image64.png"/><Relationship Id="rId6" Type="http://schemas.openxmlformats.org/officeDocument/2006/relationships/image" Target="../media/image43.png"/><Relationship Id="rId7" Type="http://schemas.openxmlformats.org/officeDocument/2006/relationships/notesSlide" Target="../notesSlides/notesSlide29.xml"/><Relationship Id="rId8" Type="http://schemas.openxmlformats.org/officeDocument/2006/relationships/hyperlink" Target="https://arxiv.org/abs/2401.05856" TargetMode="External"/><Relationship Id="rId9" Type="http://schemas.openxmlformats.org/officeDocument/2006/relationships/hyperlink" Target="https://hai.stanford.edu/news/ai-trial-legal-models-hallucinate-1-out-6-or-more-benchmarking-queries" TargetMode="External"/><Relationship Id="rId10" Type="http://schemas.openxmlformats.org/officeDocument/2006/relationships/hyperlink" Target="https://sourcegraph.com/docs/cody/core-concepts/conte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32.png"/><Relationship Id="rId4" Type="http://schemas.openxmlformats.org/officeDocument/2006/relationships/notesSlide" Target="../notesSlides/notesSlide30.xml"/><Relationship Id="rId5" Type="http://schemas.openxmlformats.org/officeDocument/2006/relationships/hyperlink" Target="https://www.anthropic.com/engineering/multi-agent-research-system" TargetMode="External"/><Relationship Id="rId6" Type="http://schemas.openxmlformats.org/officeDocument/2006/relationships/hyperlink" Target="https://arxiv.org/abs/2604.03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notesSlide" Target="../notesSlides/notesSlide32.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3.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5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70.png"/><Relationship Id="rId5" Type="http://schemas.openxmlformats.org/officeDocument/2006/relationships/notesSlide" Target="../notesSlides/notesSlide36.xml"/><Relationship Id="rId6" Type="http://schemas.openxmlformats.org/officeDocument/2006/relationships/hyperlink" Target="https://www.ibm.com/think/topics/rag-vs-fine-tunin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38.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bigdataboutique.com/blog/fine-tuning-llms-when-rag-isnt-enoug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notesSlide" Target="../notesSlides/notesSlide40.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41.xml"/><Relationship Id="rId4" Type="http://schemas.openxmlformats.org/officeDocument/2006/relationships/hyperlink" Target="https://arxiv.org/abs/2308.0874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blog.pebblous.ai/blog/llm-benchmark-contamination/en/" TargetMode="External"/><Relationship Id="rId4" Type="http://schemas.openxmlformats.org/officeDocument/2006/relationships/hyperlink" Target="https://arxiv.org/abs/2405.0033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notesSlide" Target="../notesSlides/notesSlide46.xml"/><Relationship Id="rId9" Type="http://schemas.openxmlformats.org/officeDocument/2006/relationships/hyperlink" Target="https://www.anthropic.com/news/donating-the-model-context-protocol-and-establishing-of-the-agentic-ai-found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17.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58.png"/><Relationship Id="rId4" Type="http://schemas.openxmlformats.org/officeDocument/2006/relationships/notesSlide" Target="../notesSlides/notesSlide49.xml"/><Relationship Id="rId5" Type="http://schemas.openxmlformats.org/officeDocument/2006/relationships/hyperlink" Target="https://arxiv.org/abs/2508.14704"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notesSlide" Target="../notesSlides/notesSlide50.xml"/><Relationship Id="rId8"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70.png"/><Relationship Id="rId7" Type="http://schemas.openxmlformats.org/officeDocument/2006/relationships/notesSlide" Target="../notesSlides/notesSlide51.xml"/><Relationship Id="rId8" Type="http://schemas.openxmlformats.org/officeDocument/2006/relationships/hyperlink" Target="https://www.anthropic.com/research/building-effective-agents" TargetMode="External"/><Relationship Id="rId9" Type="http://schemas.openxmlformats.org/officeDocument/2006/relationships/hyperlink" Target="https://github.com/langchain-ai/langgrap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52.xml"/><Relationship Id="rId6" Type="http://schemas.openxmlformats.org/officeDocument/2006/relationships/hyperlink" Target="https://www.anthropic.com/engineering/multi-agent-research-syste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 Id="rId4" Type="http://schemas.openxmlformats.org/officeDocument/2006/relationships/hyperlink" Target="https://arxiv.org/abs/2406.12045" TargetMode="External"/><Relationship Id="rId5" Type="http://schemas.openxmlformats.org/officeDocument/2006/relationships/hyperlink" Target="https://www.anthropic.com/engineering/multi-agent-research-syste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63.png"/><Relationship Id="rId4" Type="http://schemas.openxmlformats.org/officeDocument/2006/relationships/image" Target="../media/image96.png"/><Relationship Id="rId5" Type="http://schemas.openxmlformats.org/officeDocument/2006/relationships/image" Target="../media/image94.png"/><Relationship Id="rId6" Type="http://schemas.openxmlformats.org/officeDocument/2006/relationships/image" Target="../media/image97.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78.png"/><Relationship Id="rId5" Type="http://schemas.openxmlformats.org/officeDocument/2006/relationships/image" Target="../media/image100.png"/><Relationship Id="rId6" Type="http://schemas.openxmlformats.org/officeDocument/2006/relationships/notesSlide" Target="../notesSlides/notesSlide56.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mccarthy.ca/en/insights/blogs/techlex/moffatt-v-air-canada-misrepresentation-ai-chatbo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45.png"/><Relationship Id="rId5" Type="http://schemas.openxmlformats.org/officeDocument/2006/relationships/image" Target="../media/image107.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48.png"/><Relationship Id="rId4" Type="http://schemas.openxmlformats.org/officeDocument/2006/relationships/image" Target="../media/image110.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 Id="rId4" Type="http://schemas.openxmlformats.org/officeDocument/2006/relationships/hyperlink" Target="https://www.anthropic.com/research/building-effective-agent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51.png"/><Relationship Id="rId4" Type="http://schemas.openxmlformats.org/officeDocument/2006/relationships/image" Target="../media/image99.png"/><Relationship Id="rId5" Type="http://schemas.openxmlformats.org/officeDocument/2006/relationships/image" Target="../media/image78.png"/><Relationship Id="rId6" Type="http://schemas.openxmlformats.org/officeDocument/2006/relationships/image" Target="../media/image112.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высокая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подделка роли (role spoofing)</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строгое декодирование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рассуждении</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налог на рассуждение</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типовые классы уровня промпта.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 · пограничный случай</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9" name="TextBox 8"/>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2880360"/>
            <a:ext cx="329184" cy="329184"/>
          </a:xfrm>
          <a:prstGeom prst="rect">
            <a:avLst/>
          </a:prstGeom>
        </p:spPr>
      </p:pic>
      <p:sp>
        <p:nvSpPr>
          <p:cNvPr id="12" name="TextBox 11"/>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One-shot → tool-use → агент</a:t>
            </a:r>
          </a:p>
        </p:txBody>
      </p:sp>
      <p:sp>
        <p:nvSpPr>
          <p:cNvPr id="13" name="TextBox 12"/>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Знает ответ, действие не нужно → один вызов. Доступ нужен, шаги известны → вызов инструмента в коде. Шаги неизвестны, есть чем проверить прогресс → цикл ReAct.</a:t>
            </a:r>
          </a:p>
        </p:txBody>
      </p:sp>
      <p:sp>
        <p:nvSpPr>
          <p:cNvPr id="14" name="Rounded Rectangle 13"/>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гранулярность инструментов, tool_choice, лимит итераций и бюджет токенов, строгие схемы входа.</a:t>
            </a:r>
          </a:p>
        </p:txBody>
      </p:sp>
      <p:sp>
        <p:nvSpPr>
          <p:cNvPr id="16" name="TextBox 15"/>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проверять аргументы вызова ДО обращения к системе; ответ опирается на результаты инструментов, не на память.</a:t>
            </a:r>
          </a:p>
        </p:txBody>
      </p:sp>
      <p:sp>
        <p:nvSpPr>
          <p:cNvPr id="17" name="Rounded Rectangle 16"/>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Типовой провал: прыжок сразу к агенту там, где хватило бы одного вызова, — та же петля на $4 200 (Раздел 4), где предсказуемую синхронизацию отдали агенту вместо retry-скрипта.</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 · уровень промпта</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8" name="TextBox 7"/>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2880360"/>
            <a:ext cx="329184" cy="329184"/>
          </a:xfrm>
          <a:prstGeom prst="rect">
            <a:avLst/>
          </a:prstGeom>
        </p:spPr>
      </p:pic>
      <p:sp>
        <p:nvSpPr>
          <p:cNvPr id="11" name="TextBox 10"/>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Persona-prompt + few-shot style</a:t>
            </a:r>
          </a:p>
        </p:txBody>
      </p:sp>
      <p:sp>
        <p:nvSpPr>
          <p:cNvPr id="12" name="TextBox 11"/>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Роль-персона (тон, не факты) + короткий style-guide + 3–5 образцов манеры в примерах → генерация в том же стиле.</a:t>
            </a:r>
          </a:p>
        </p:txBody>
      </p:sp>
      <p:sp>
        <p:nvSpPr>
          <p:cNvPr id="13" name="Rounded Rectangle 12"/>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формальность, эмоциональная окраска, персона, число и качество образцов, явные запреты (без канцелярита / без эмодзи).</a:t>
            </a:r>
          </a:p>
        </p:txBody>
      </p:sp>
      <p:sp>
        <p:nvSpPr>
          <p:cNvPr id="15" name="TextBox 14"/>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стиль слабо формализуем → LLM-судья на тон + проверка маркеров (длина фраз, лексика) + выборочная вычитка человеком.</a:t>
            </a:r>
          </a:p>
        </p:txBody>
      </p:sp>
      <p:sp>
        <p:nvSpPr>
          <p:cNvPr id="16" name="Rounded Rectangle 15"/>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Провал суждения: детекторам нельзя верить как доказательству — часть даёт точность ниже 80%, тексты не-нейтивов флагаются как ИИ до +30% чаще.</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ТИПОВАЯ ЗАДАЧА · 3 · извлечение / классификация</a:t>
            </a:r>
          </a:p>
        </p:txBody>
      </p:sp>
      <p:sp>
        <p:nvSpPr>
          <p:cNvPr id="3" name="TextBox 2"/>
          <p:cNvSpPr txBox="1"/>
          <p:nvPr/>
        </p:nvSpPr>
        <p:spPr>
          <a:xfrm>
            <a:off x="502920" y="603504"/>
            <a:ext cx="11201400" cy="566928"/>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Как правильно задать JSON-спеку в промпте.</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«Попросить JSON» ≠ «задать контракт». Есть два уровня контроля с разными гарантиями, и три способа описать схему.</a:t>
            </a:r>
          </a:p>
        </p:txBody>
      </p:sp>
      <p:sp>
        <p:nvSpPr>
          <p:cNvPr id="5" name="Rounded Rectangle 4"/>
          <p:cNvSpPr/>
          <p:nvPr/>
        </p:nvSpPr>
        <p:spPr>
          <a:xfrm>
            <a:off x="502920" y="1627632"/>
            <a:ext cx="54406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728216"/>
            <a:ext cx="5038344" cy="25603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Два уровня контроля</a:t>
            </a:r>
          </a:p>
        </p:txBody>
      </p:sp>
      <p:sp>
        <p:nvSpPr>
          <p:cNvPr id="7" name="TextBox 6"/>
          <p:cNvSpPr txBox="1"/>
          <p:nvPr/>
        </p:nvSpPr>
        <p:spPr>
          <a:xfrm>
            <a:off x="704088" y="2029968"/>
            <a:ext cx="5038344" cy="402336"/>
          </a:xfrm>
          <a:prstGeom prst="rect">
            <a:avLst/>
          </a:prstGeom>
          <a:noFill/>
        </p:spPr>
        <p:txBody>
          <a:bodyPr wrap="square" lIns="0" rIns="0" tIns="0" bIns="0" anchor="t">
            <a:spAutoFit/>
          </a:bodyPr>
          <a:lstStyle/>
          <a:p>
            <a:pPr algn="l">
              <a:lnSpc>
                <a:spcPct val="108000"/>
              </a:lnSpc>
            </a:pPr>
            <a:r>
              <a:rPr sz="1150" b="1" i="0">
                <a:solidFill>
                  <a:srgbClr val="065A82"/>
                </a:solidFill>
                <a:latin typeface="Arial"/>
              </a:rPr>
              <a:t>Промпт-уровень </a:t>
            </a:r>
            <a:r>
              <a:rPr sz="1150" b="0" i="0">
                <a:solidFill>
                  <a:srgbClr val="21295C"/>
                </a:solidFill>
                <a:latin typeface="Arial"/>
              </a:rPr>
              <a:t>(«верни JSON по схеме») — </a:t>
            </a:r>
            <a:r>
              <a:rPr sz="1150" b="1" i="0">
                <a:solidFill>
                  <a:srgbClr val="21295C"/>
                </a:solidFill>
                <a:latin typeface="Arial"/>
              </a:rPr>
              <a:t>≈80% валидности</a:t>
            </a:r>
            <a:r>
              <a:rPr sz="1150" b="0" i="0">
                <a:solidFill>
                  <a:srgbClr val="21295C"/>
                </a:solidFill>
                <a:latin typeface="Arial"/>
              </a:rPr>
              <a:t>, ничего не гарантирует жёстко.</a:t>
            </a:r>
          </a:p>
        </p:txBody>
      </p:sp>
      <p:sp>
        <p:nvSpPr>
          <p:cNvPr id="8" name="TextBox 7"/>
          <p:cNvSpPr txBox="1"/>
          <p:nvPr/>
        </p:nvSpPr>
        <p:spPr>
          <a:xfrm>
            <a:off x="704088" y="2450592"/>
            <a:ext cx="5038344" cy="548640"/>
          </a:xfrm>
          <a:prstGeom prst="rect">
            <a:avLst/>
          </a:prstGeom>
          <a:noFill/>
        </p:spPr>
        <p:txBody>
          <a:bodyPr wrap="square" lIns="0" rIns="0" tIns="0" bIns="0" anchor="t">
            <a:spAutoFit/>
          </a:bodyPr>
          <a:lstStyle/>
          <a:p>
            <a:pPr algn="l">
              <a:lnSpc>
                <a:spcPct val="108000"/>
              </a:lnSpc>
            </a:pPr>
            <a:r>
              <a:rPr sz="1150" b="1" i="0">
                <a:solidFill>
                  <a:srgbClr val="028090"/>
                </a:solidFill>
                <a:latin typeface="Arial"/>
              </a:rPr>
              <a:t>Декодер </a:t>
            </a:r>
            <a:r>
              <a:rPr sz="1150" b="0" i="0">
                <a:solidFill>
                  <a:srgbClr val="21295C"/>
                </a:solidFill>
                <a:latin typeface="Arial"/>
              </a:rPr>
              <a:t>(строгие структурированные выходы / строгое декодирование, structured outputs) — схема → грамматика, недопустимые токены маскируются → </a:t>
            </a:r>
            <a:r>
              <a:rPr sz="1150" b="1" i="0">
                <a:solidFill>
                  <a:srgbClr val="21295C"/>
                </a:solidFill>
                <a:latin typeface="Arial"/>
              </a:rPr>
              <a:t>~100% соответствия схеме.</a:t>
            </a:r>
          </a:p>
        </p:txBody>
      </p:sp>
      <p:sp>
        <p:nvSpPr>
          <p:cNvPr id="9" name="Rounded Rectangle 8"/>
          <p:cNvSpPr/>
          <p:nvPr/>
        </p:nvSpPr>
        <p:spPr>
          <a:xfrm>
            <a:off x="502920" y="3200400"/>
            <a:ext cx="544068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300984"/>
            <a:ext cx="5038344"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Три способа описать форму</a:t>
            </a:r>
          </a:p>
        </p:txBody>
      </p:sp>
      <p:sp>
        <p:nvSpPr>
          <p:cNvPr id="11" name="Oval 10"/>
          <p:cNvSpPr/>
          <p:nvPr/>
        </p:nvSpPr>
        <p:spPr>
          <a:xfrm>
            <a:off x="722376" y="3666744"/>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0273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Пример-объект</a:t>
            </a:r>
          </a:p>
        </p:txBody>
      </p:sp>
      <p:sp>
        <p:nvSpPr>
          <p:cNvPr id="13" name="TextBox 12"/>
          <p:cNvSpPr txBox="1"/>
          <p:nvPr/>
        </p:nvSpPr>
        <p:spPr>
          <a:xfrm>
            <a:off x="960120" y="381304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понятен модели; НЕ выражает типы и enum — плоские структуры, прототип</a:t>
            </a:r>
          </a:p>
        </p:txBody>
      </p:sp>
      <p:sp>
        <p:nvSpPr>
          <p:cNvPr id="14" name="Oval 13"/>
          <p:cNvSpPr/>
          <p:nvPr/>
        </p:nvSpPr>
        <p:spPr>
          <a:xfrm>
            <a:off x="722376" y="416966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JSON Schema</a:t>
            </a:r>
          </a:p>
        </p:txBody>
      </p:sp>
      <p:sp>
        <p:nvSpPr>
          <p:cNvPr id="16" name="TextBox 15"/>
          <p:cNvSpPr txBox="1"/>
          <p:nvPr/>
        </p:nvSpPr>
        <p:spPr>
          <a:xfrm>
            <a:off x="960120" y="431596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типы, enum, required, вложенность; в API напрямую, но многословен + деградирует на сложной</a:t>
            </a:r>
          </a:p>
        </p:txBody>
      </p:sp>
      <p:sp>
        <p:nvSpPr>
          <p:cNvPr id="17" name="Oval 16"/>
          <p:cNvSpPr/>
          <p:nvPr/>
        </p:nvSpPr>
        <p:spPr>
          <a:xfrm>
            <a:off x="722376" y="467258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0857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Тип в коде (TS / Pydantic)</a:t>
            </a:r>
          </a:p>
        </p:txBody>
      </p:sp>
      <p:sp>
        <p:nvSpPr>
          <p:cNvPr id="19" name="TextBox 18"/>
          <p:cNvSpPr txBox="1"/>
          <p:nvPr/>
        </p:nvSpPr>
        <p:spPr>
          <a:xfrm>
            <a:off x="960120" y="481888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компактно + типобезопасно; нужен конвертер в JSON Schema</a:t>
            </a:r>
          </a:p>
        </p:txBody>
      </p:sp>
      <p:sp>
        <p:nvSpPr>
          <p:cNvPr id="20" name="Rounded Rectangle 19"/>
          <p:cNvSpPr/>
          <p:nvPr/>
        </p:nvSpPr>
        <p:spPr>
          <a:xfrm>
            <a:off x="6144768" y="1627632"/>
            <a:ext cx="5559552"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09928"/>
            <a:ext cx="1645920" cy="237744"/>
          </a:xfrm>
          <a:prstGeom prst="rect">
            <a:avLst/>
          </a:prstGeom>
          <a:noFill/>
        </p:spPr>
        <p:txBody>
          <a:bodyPr wrap="square" lIns="0" rIns="0" tIns="0" bIns="0" anchor="t">
            <a:spAutoFit/>
          </a:bodyPr>
          <a:lstStyle/>
          <a:p>
            <a:pPr algn="l">
              <a:lnSpc>
                <a:spcPct val="115000"/>
              </a:lnSpc>
            </a:pPr>
            <a:r>
              <a:rPr sz="1200" b="1" i="0">
                <a:solidFill>
                  <a:srgbClr val="5B6678"/>
                </a:solidFill>
                <a:latin typeface="Arial"/>
              </a:rPr>
              <a:t>ПЛОХО</a:t>
            </a:r>
          </a:p>
        </p:txBody>
      </p:sp>
      <p:sp>
        <p:nvSpPr>
          <p:cNvPr id="22" name="TextBox 21"/>
          <p:cNvSpPr txBox="1"/>
          <p:nvPr/>
        </p:nvSpPr>
        <p:spPr>
          <a:xfrm>
            <a:off x="6327648" y="1965960"/>
            <a:ext cx="5193792" cy="49377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«Извлеки данные и верни JSON» — нет схемы, имён полей, типов, enum; модель обернёт в markdown и придумает поля.</a:t>
            </a:r>
          </a:p>
        </p:txBody>
      </p:sp>
      <p:sp>
        <p:nvSpPr>
          <p:cNvPr id="23" name="Rounded Rectangle 22"/>
          <p:cNvSpPr/>
          <p:nvPr/>
        </p:nvSpPr>
        <p:spPr>
          <a:xfrm>
            <a:off x="6144768" y="2651760"/>
            <a:ext cx="5559552" cy="1627632"/>
          </a:xfrm>
          <a:prstGeom prst="roundRect">
            <a:avLst>
              <a:gd name="adj" fmla="val 1872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2734056"/>
            <a:ext cx="1645920" cy="237744"/>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ХОРОШО</a:t>
            </a:r>
          </a:p>
        </p:txBody>
      </p:sp>
      <p:sp>
        <p:nvSpPr>
          <p:cNvPr id="25" name="TextBox 24"/>
          <p:cNvSpPr txBox="1"/>
          <p:nvPr/>
        </p:nvSpPr>
        <p:spPr>
          <a:xfrm>
            <a:off x="6327648" y="2971800"/>
            <a:ext cx="5193792" cy="1225296"/>
          </a:xfrm>
          <a:prstGeom prst="rect">
            <a:avLst/>
          </a:prstGeom>
          <a:noFill/>
        </p:spPr>
        <p:txBody>
          <a:bodyPr wrap="square" lIns="0" rIns="0" tIns="0" bIns="0" anchor="t">
            <a:spAutoFit/>
          </a:bodyPr>
          <a:lstStyle/>
          <a:p>
            <a:pPr algn="l">
              <a:lnSpc>
                <a:spcPct val="114000"/>
              </a:lnSpc>
            </a:pPr>
            <a:r>
              <a:rPr sz="1050" b="0" i="0">
                <a:solidFill>
                  <a:srgbClr val="21295C"/>
                </a:solidFill>
                <a:latin typeface="Liberation Mono"/>
              </a:rPr>
              <a:t>"rating": number   // 1-5, дробное; null если нет
"sentiment": string // one of [positive,neutral,negative]
"pros": string[]   // [] если нет
+ few-shot «вход → ожидаемый JSON», схема В КОНЦЕ,
«Верни ТОЛЬКО JSON, без markdown».</a:t>
            </a:r>
          </a:p>
        </p:txBody>
      </p:sp>
      <p:sp>
        <p:nvSpPr>
          <p:cNvPr id="26" name="Rounded Rectangle 25"/>
          <p:cNvSpPr/>
          <p:nvPr/>
        </p:nvSpPr>
        <p:spPr>
          <a:xfrm>
            <a:off x="6144768"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Налог на рассуждение</a:t>
            </a:r>
          </a:p>
        </p:txBody>
      </p:sp>
      <p:sp>
        <p:nvSpPr>
          <p:cNvPr id="28" name="TextBox 27"/>
          <p:cNvSpPr txBox="1"/>
          <p:nvPr/>
        </p:nvSpPr>
        <p:spPr>
          <a:xfrm>
            <a:off x="6291072"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не рассуждать в JSON: «сначала свободно подумай → потом переформатируй» отдельным шагом</a:t>
            </a:r>
          </a:p>
        </p:txBody>
      </p:sp>
      <p:sp>
        <p:nvSpPr>
          <p:cNvPr id="29" name="Rounded Rectangle 28"/>
          <p:cNvSpPr/>
          <p:nvPr/>
        </p:nvSpPr>
        <p:spPr>
          <a:xfrm>
            <a:off x="8997696"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0"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Сложная схема ↓</a:t>
            </a:r>
          </a:p>
        </p:txBody>
      </p:sp>
      <p:sp>
        <p:nvSpPr>
          <p:cNvPr id="31" name="TextBox 30"/>
          <p:cNvSpPr txBox="1"/>
          <p:nvPr/>
        </p:nvSpPr>
        <p:spPr>
          <a:xfrm>
            <a:off x="9144000"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точность извлечения ~87%→70%→56%: дробить, вложенность мелкой</a:t>
            </a:r>
          </a:p>
        </p:txBody>
      </p:sp>
      <p:sp>
        <p:nvSpPr>
          <p:cNvPr id="32" name="Rounded Rectangle 3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925312"/>
            <a:ext cx="10799064" cy="512064"/>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Валидный JSON ≠ правильные данные: грамматика гарантирует форму, не истинность значений — каждый JSON всё равно проверяется в коде. Строгая схема помогает на извлечении / классификации / вызове функций (function calling); на «подумай и реши» — налог на рассуждение.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5 архетипов · 2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932688"/>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Классический поиск: инвертированный индекс, BM25 и где он работает.</a:t>
            </a:r>
          </a:p>
        </p:txBody>
      </p:sp>
      <p:sp>
        <p:nvSpPr>
          <p:cNvPr id="3" name="TextBox 2"/>
          <p:cNvSpPr txBox="1"/>
          <p:nvPr/>
        </p:nvSpPr>
        <p:spPr>
          <a:xfrm>
            <a:off x="502920" y="1188720"/>
            <a:ext cx="11201400" cy="40233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Буква R в RAG — retrieval, поиск: инвертированный индекс, булев отбор, ранжирование BM25. Их устройство определяет, какой запрос каким поиском брать.</a:t>
            </a:r>
          </a:p>
        </p:txBody>
      </p:sp>
      <p:sp>
        <p:nvSpPr>
          <p:cNvPr id="4" name="Rounded Rectangle 3"/>
          <p:cNvSpPr/>
          <p:nvPr/>
        </p:nvSpPr>
        <p:spPr>
          <a:xfrm>
            <a:off x="502920"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22376" y="1847088"/>
            <a:ext cx="365760" cy="365760"/>
          </a:xfrm>
          <a:prstGeom prst="rect">
            <a:avLst/>
          </a:prstGeom>
        </p:spPr>
      </p:pic>
      <p:sp>
        <p:nvSpPr>
          <p:cNvPr id="6" name="TextBox 5"/>
          <p:cNvSpPr txBox="1"/>
          <p:nvPr/>
        </p:nvSpPr>
        <p:spPr>
          <a:xfrm>
            <a:off x="1179576"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Инвертированный индекс</a:t>
            </a:r>
          </a:p>
        </p:txBody>
      </p:sp>
      <p:sp>
        <p:nvSpPr>
          <p:cNvPr id="7" name="TextBox 6"/>
          <p:cNvSpPr txBox="1"/>
          <p:nvPr/>
        </p:nvSpPr>
        <p:spPr>
          <a:xfrm>
            <a:off x="740664"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Для каждого СЛОВА — список документов, где оно есть (машинный каталог). Хребет Lucene, Elasticsearch, PostgreSQL FTS.</a:t>
            </a:r>
          </a:p>
        </p:txBody>
      </p:sp>
      <p:sp>
        <p:nvSpPr>
          <p:cNvPr id="8" name="Rounded Rectangle 7"/>
          <p:cNvSpPr/>
          <p:nvPr/>
        </p:nvSpPr>
        <p:spPr>
          <a:xfrm>
            <a:off x="4309872"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29328" y="1847088"/>
            <a:ext cx="365760" cy="365760"/>
          </a:xfrm>
          <a:prstGeom prst="rect">
            <a:avLst/>
          </a:prstGeom>
        </p:spPr>
      </p:pic>
      <p:sp>
        <p:nvSpPr>
          <p:cNvPr id="10" name="TextBox 9"/>
          <p:cNvSpPr txBox="1"/>
          <p:nvPr/>
        </p:nvSpPr>
        <p:spPr>
          <a:xfrm>
            <a:off x="4986528"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Булев отбор</a:t>
            </a:r>
          </a:p>
        </p:txBody>
      </p:sp>
      <p:sp>
        <p:nvSpPr>
          <p:cNvPr id="11" name="TextBox 10"/>
          <p:cNvSpPr txBox="1"/>
          <p:nvPr/>
        </p:nvSpPr>
        <p:spPr>
          <a:xfrm>
            <a:off x="4547615"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Запрос как логика («ошибка AND аутентификация NOT tomcat»): точный, предсказуемый, объяснимый отбор.</a:t>
            </a:r>
          </a:p>
        </p:txBody>
      </p:sp>
      <p:sp>
        <p:nvSpPr>
          <p:cNvPr id="12" name="Rounded Rectangle 11"/>
          <p:cNvSpPr/>
          <p:nvPr/>
        </p:nvSpPr>
        <p:spPr>
          <a:xfrm>
            <a:off x="8116824"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36280" y="1847088"/>
            <a:ext cx="365760" cy="365760"/>
          </a:xfrm>
          <a:prstGeom prst="rect">
            <a:avLst/>
          </a:prstGeom>
        </p:spPr>
      </p:pic>
      <p:sp>
        <p:nvSpPr>
          <p:cNvPr id="14" name="TextBox 13"/>
          <p:cNvSpPr txBox="1"/>
          <p:nvPr/>
        </p:nvSpPr>
        <p:spPr>
          <a:xfrm>
            <a:off x="8793480"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TF-IDF → BM25 (~1994)</a:t>
            </a:r>
          </a:p>
        </p:txBody>
      </p:sp>
      <p:sp>
        <p:nvSpPr>
          <p:cNvPr id="15" name="TextBox 14"/>
          <p:cNvSpPr txBox="1"/>
          <p:nvPr/>
        </p:nvSpPr>
        <p:spPr>
          <a:xfrm>
            <a:off x="8354568"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Ранжирование по важности слова (реже в коллекции — сильнее сигнал). BM25 (Okapi) — дешёвая линия, которую «умные» системы не всегда обгоняют.</a:t>
            </a:r>
          </a:p>
        </p:txBody>
      </p:sp>
      <p:sp>
        <p:nvSpPr>
          <p:cNvPr id="16" name="Rounded Rectangle 15"/>
          <p:cNvSpPr/>
          <p:nvPr/>
        </p:nvSpPr>
        <p:spPr>
          <a:xfrm>
            <a:off x="502920" y="3456432"/>
            <a:ext cx="11201400" cy="1572768"/>
          </a:xfrm>
          <a:prstGeom prst="roundRect">
            <a:avLst>
              <a:gd name="adj" fmla="val 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557016"/>
            <a:ext cx="5486400" cy="274320"/>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ГДЕ КАКОЙ ПОИСК РАБОТАЕТ</a:t>
            </a:r>
          </a:p>
        </p:txBody>
      </p:sp>
      <p:sp>
        <p:nvSpPr>
          <p:cNvPr id="18" name="Rounded Rectangle 17"/>
          <p:cNvSpPr/>
          <p:nvPr/>
        </p:nvSpPr>
        <p:spPr>
          <a:xfrm>
            <a:off x="667512" y="3877056"/>
            <a:ext cx="3477768" cy="1024128"/>
          </a:xfrm>
          <a:prstGeom prst="roundRect">
            <a:avLst>
              <a:gd name="adj" fmla="val 22000"/>
            </a:avLst>
          </a:prstGeom>
          <a:solidFill>
            <a:srgbClr val="FFFFFF"/>
          </a:solidFill>
          <a:ln w="22225">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8" y="4005072"/>
            <a:ext cx="82296" cy="768096"/>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Лексический (BM25)</a:t>
            </a:r>
          </a:p>
        </p:txBody>
      </p:sp>
      <p:sp>
        <p:nvSpPr>
          <p:cNvPr id="21" name="TextBox 20"/>
          <p:cNvSpPr txBox="1"/>
          <p:nvPr/>
        </p:nvSpPr>
        <p:spPr>
          <a:xfrm>
            <a:off x="978408"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точные термины, коды ошибок, ID, имена, номера — «ORA-00942» найдёт буквально</a:t>
            </a:r>
          </a:p>
        </p:txBody>
      </p:sp>
      <p:sp>
        <p:nvSpPr>
          <p:cNvPr id="22" name="Rounded Rectangle 21"/>
          <p:cNvSpPr/>
          <p:nvPr/>
        </p:nvSpPr>
        <p:spPr>
          <a:xfrm>
            <a:off x="4419600" y="3877056"/>
            <a:ext cx="3477768" cy="1024128"/>
          </a:xfrm>
          <a:prstGeom prst="roundRect">
            <a:avLst>
              <a:gd name="adj" fmla="val 22000"/>
            </a:avLst>
          </a:prstGeom>
          <a:solidFill>
            <a:srgbClr val="FFFFFF"/>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47616" y="4005072"/>
            <a:ext cx="82296" cy="768096"/>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30496"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Семантический (эмбеддинги)</a:t>
            </a:r>
          </a:p>
        </p:txBody>
      </p:sp>
      <p:sp>
        <p:nvSpPr>
          <p:cNvPr id="25" name="TextBox 24"/>
          <p:cNvSpPr txBox="1"/>
          <p:nvPr/>
        </p:nvSpPr>
        <p:spPr>
          <a:xfrm>
            <a:off x="4730496"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перифраз и синонимы, смысл — «сломанный вход» ≈ «authentication failure»</a:t>
            </a:r>
          </a:p>
        </p:txBody>
      </p:sp>
      <p:sp>
        <p:nvSpPr>
          <p:cNvPr id="26" name="Rounded Rectangle 25"/>
          <p:cNvSpPr/>
          <p:nvPr/>
        </p:nvSpPr>
        <p:spPr>
          <a:xfrm>
            <a:off x="8171688" y="3877056"/>
            <a:ext cx="3477768" cy="1024128"/>
          </a:xfrm>
          <a:prstGeom prst="roundRect">
            <a:avLst>
              <a:gd name="adj" fmla="val 22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99704" y="4005072"/>
            <a:ext cx="82296" cy="768096"/>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2584"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Гибрид (BM25 + векторы)</a:t>
            </a:r>
          </a:p>
        </p:txBody>
      </p:sp>
      <p:sp>
        <p:nvSpPr>
          <p:cNvPr id="29" name="TextBox 28"/>
          <p:cNvSpPr txBox="1"/>
          <p:nvPr/>
        </p:nvSpPr>
        <p:spPr>
          <a:xfrm>
            <a:off x="8482584"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нужны оба сразу: точная лексика И смысл — дефолт сильного RAG-2026</a:t>
            </a:r>
          </a:p>
        </p:txBody>
      </p:sp>
      <p:sp>
        <p:nvSpPr>
          <p:cNvPr id="30" name="Rounded Rectangle 29"/>
          <p:cNvSpPr/>
          <p:nvPr/>
        </p:nvSpPr>
        <p:spPr>
          <a:xfrm>
            <a:off x="502920" y="5175504"/>
            <a:ext cx="11201400" cy="78638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266944"/>
            <a:ext cx="10607040" cy="621792"/>
          </a:xfrm>
          <a:prstGeom prst="rect">
            <a:avLst/>
          </a:prstGeom>
          <a:noFill/>
        </p:spPr>
        <p:txBody>
          <a:bodyPr wrap="square" lIns="0" rIns="0" tIns="0" bIns="0" anchor="ctr">
            <a:spAutoFit/>
          </a:bodyPr>
          <a:lstStyle/>
          <a:p>
            <a:pPr algn="l">
              <a:lnSpc>
                <a:spcPct val="114000"/>
              </a:lnSpc>
            </a:pPr>
            <a:r>
              <a:rPr sz="1250" b="1" i="0">
                <a:solidFill>
                  <a:srgbClr val="028090"/>
                </a:solidFill>
                <a:latin typeface="Arial"/>
              </a:rPr>
              <a:t>Ключ: </a:t>
            </a:r>
            <a:r>
              <a:rPr sz="1250" b="0" i="0">
                <a:solidFill>
                  <a:srgbClr val="21295C"/>
                </a:solidFill>
                <a:latin typeface="Arial"/>
              </a:rPr>
              <a:t>«семантический поиск построен на BM25» — НЕ так. Лексика (BM25, ~1994) и плотные векторы (DPR, 2018–2020) — две независимые ветки; их СЛИВАЮТ (fuse), а не наследуют. RAG = объединение двух веток, а не надстройка над одной.</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 — три разных смысла на общей базе.</a:t>
            </a:r>
          </a:p>
        </p:txBody>
      </p:sp>
      <p:sp>
        <p:nvSpPr>
          <p:cNvPr id="3" name="Rounded Rectangle 2"/>
          <p:cNvSpPr/>
          <p:nvPr/>
        </p:nvSpPr>
        <p:spPr>
          <a:xfrm>
            <a:off x="502920" y="932688"/>
            <a:ext cx="550926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24128"/>
            <a:ext cx="5180076" cy="877824"/>
          </a:xfrm>
          <a:prstGeom prst="rect">
            <a:avLst/>
          </a:prstGeom>
          <a:noFill/>
        </p:spPr>
        <p:txBody>
          <a:bodyPr wrap="square" lIns="0" rIns="0" tIns="0" bIns="0" anchor="t">
            <a:spAutoFit/>
          </a:bodyPr>
          <a:lstStyle/>
          <a:p>
            <a:pPr algn="l">
              <a:lnSpc>
                <a:spcPct val="102000"/>
              </a:lnSpc>
            </a:pPr>
            <a:r>
              <a:rPr sz="1150" b="1" i="0">
                <a:solidFill>
                  <a:srgbClr val="065A82"/>
                </a:solidFill>
                <a:latin typeface="Arial"/>
              </a:rPr>
              <a:t>Разреженный (sparse) = классический лексический поиск: </a:t>
            </a:r>
            <a:r>
              <a:rPr sz="1150" b="0" i="0">
                <a:solidFill>
                  <a:srgbClr val="21295C"/>
                </a:solidFill>
                <a:latin typeface="Arial"/>
              </a:rPr>
              <a:t>BM25 / TF-IDF (и learned-sparse SPLADE / ELSER) на инвертированном индексе; измерение = слово. «Разреженный вектор» — это лишь запись пословного поиска (во весь словарь, почти все нули); это НЕ поиск смысла по вектору.</a:t>
            </a:r>
          </a:p>
        </p:txBody>
      </p:sp>
      <p:sp>
        <p:nvSpPr>
          <p:cNvPr id="5" name="Rounded Rectangle 4"/>
          <p:cNvSpPr/>
          <p:nvPr/>
        </p:nvSpPr>
        <p:spPr>
          <a:xfrm>
            <a:off x="6195060" y="932688"/>
            <a:ext cx="5509260" cy="1042415"/>
          </a:xfrm>
          <a:prstGeom prst="roundRect">
            <a:avLst>
              <a:gd name="adj" fmla="val 22000"/>
            </a:avLst>
          </a:prstGeom>
          <a:solidFill>
            <a:srgbClr val="E4F1F2"/>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7940" y="1024128"/>
            <a:ext cx="5180076" cy="877824"/>
          </a:xfrm>
          <a:prstGeom prst="rect">
            <a:avLst/>
          </a:prstGeom>
          <a:noFill/>
        </p:spPr>
        <p:txBody>
          <a:bodyPr wrap="square" lIns="0" rIns="0" tIns="0" bIns="0" anchor="t">
            <a:spAutoFit/>
          </a:bodyPr>
          <a:lstStyle/>
          <a:p>
            <a:pPr algn="l">
              <a:lnSpc>
                <a:spcPct val="102000"/>
              </a:lnSpc>
            </a:pPr>
            <a:r>
              <a:rPr sz="1150" b="1" i="0">
                <a:solidFill>
                  <a:srgbClr val="028090"/>
                </a:solidFill>
                <a:latin typeface="Arial"/>
              </a:rPr>
              <a:t>Плотный (dense) = семантический эмбеддинг (≠ разреженный): </a:t>
            </a:r>
            <a:r>
              <a:rPr sz="1150" b="0" i="0">
                <a:solidFill>
                  <a:srgbClr val="21295C"/>
                </a:solidFill>
                <a:latin typeface="Arial"/>
              </a:rPr>
              <a:t>384–1024 значения float, ANN-индекс, не интерпретируем, ловит смысл и перифразу.</a:t>
            </a:r>
          </a:p>
        </p:txBody>
      </p:sp>
      <p:sp>
        <p:nvSpPr>
          <p:cNvPr id="7" name="Rounded Rectangle 6"/>
          <p:cNvSpPr/>
          <p:nvPr/>
        </p:nvSpPr>
        <p:spPr>
          <a:xfrm>
            <a:off x="502920" y="2048256"/>
            <a:ext cx="3587496" cy="9144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2176272"/>
            <a:ext cx="91440" cy="658368"/>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148840"/>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(а) лексика + смысл</a:t>
            </a:r>
          </a:p>
        </p:txBody>
      </p:sp>
      <p:sp>
        <p:nvSpPr>
          <p:cNvPr id="10" name="TextBox 9"/>
          <p:cNvSpPr txBox="1"/>
          <p:nvPr/>
        </p:nvSpPr>
        <p:spPr>
          <a:xfrm>
            <a:off x="832104" y="2423160"/>
            <a:ext cx="3112008" cy="512064"/>
          </a:xfrm>
          <a:prstGeom prst="rect">
            <a:avLst/>
          </a:prstGeom>
          <a:noFill/>
        </p:spPr>
        <p:txBody>
          <a:bodyPr wrap="square" lIns="0" rIns="0" tIns="0" bIns="0" anchor="t">
            <a:spAutoFit/>
          </a:bodyPr>
          <a:lstStyle/>
          <a:p>
            <a:pPr algn="l">
              <a:lnSpc>
                <a:spcPct val="103000"/>
              </a:lnSpc>
            </a:pPr>
            <a:r>
              <a:rPr sz="1050" b="0" i="0">
                <a:solidFill>
                  <a:srgbClr val="21295C"/>
                </a:solidFill>
                <a:latin typeface="Arial"/>
              </a:rPr>
              <a:t>разреженный (лексика, BM25) + плотный (смысл, эмбеддинг), слиты по рангам (RRF) — базовый смысл слова «гибрид»</a:t>
            </a:r>
          </a:p>
        </p:txBody>
      </p:sp>
      <p:sp>
        <p:nvSpPr>
          <p:cNvPr id="11" name="Rounded Rectangle 10"/>
          <p:cNvSpPr/>
          <p:nvPr/>
        </p:nvSpPr>
        <p:spPr>
          <a:xfrm>
            <a:off x="4309872" y="2048256"/>
            <a:ext cx="3587496" cy="9144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6176" y="2176272"/>
            <a:ext cx="91440" cy="658368"/>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9056" y="2148840"/>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(б) смысл + фильтры</a:t>
            </a:r>
          </a:p>
        </p:txBody>
      </p:sp>
      <p:sp>
        <p:nvSpPr>
          <p:cNvPr id="14" name="TextBox 13"/>
          <p:cNvSpPr txBox="1"/>
          <p:nvPr/>
        </p:nvSpPr>
        <p:spPr>
          <a:xfrm>
            <a:off x="4639056" y="2423160"/>
            <a:ext cx="3112008" cy="512064"/>
          </a:xfrm>
          <a:prstGeom prst="rect">
            <a:avLst/>
          </a:prstGeom>
          <a:noFill/>
        </p:spPr>
        <p:txBody>
          <a:bodyPr wrap="square" lIns="0" rIns="0" tIns="0" bIns="0" anchor="t">
            <a:spAutoFit/>
          </a:bodyPr>
          <a:lstStyle/>
          <a:p>
            <a:pPr algn="l">
              <a:lnSpc>
                <a:spcPct val="103000"/>
              </a:lnSpc>
            </a:pPr>
            <a:r>
              <a:rPr sz="1050" b="0" i="0">
                <a:solidFill>
                  <a:srgbClr val="21295C"/>
                </a:solidFill>
                <a:latin typeface="Arial"/>
              </a:rPr>
              <a:t>семантика + строгий отбор по метаданным (юрисдикция, дата) — ортогональный рычаг</a:t>
            </a:r>
          </a:p>
        </p:txBody>
      </p:sp>
      <p:sp>
        <p:nvSpPr>
          <p:cNvPr id="15" name="Rounded Rectangle 14"/>
          <p:cNvSpPr/>
          <p:nvPr/>
        </p:nvSpPr>
        <p:spPr>
          <a:xfrm>
            <a:off x="8116823" y="2048256"/>
            <a:ext cx="3587496" cy="9144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63127" y="2176272"/>
            <a:ext cx="91440" cy="658368"/>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46007" y="2148840"/>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(в) две лексические ветви</a:t>
            </a:r>
          </a:p>
        </p:txBody>
      </p:sp>
      <p:sp>
        <p:nvSpPr>
          <p:cNvPr id="18" name="TextBox 17"/>
          <p:cNvSpPr txBox="1"/>
          <p:nvPr/>
        </p:nvSpPr>
        <p:spPr>
          <a:xfrm>
            <a:off x="8446007" y="2423160"/>
            <a:ext cx="3112008" cy="512064"/>
          </a:xfrm>
          <a:prstGeom prst="rect">
            <a:avLst/>
          </a:prstGeom>
          <a:noFill/>
        </p:spPr>
        <p:txBody>
          <a:bodyPr wrap="square" lIns="0" rIns="0" tIns="0" bIns="0" anchor="t">
            <a:spAutoFit/>
          </a:bodyPr>
          <a:lstStyle/>
          <a:p>
            <a:pPr algn="l">
              <a:lnSpc>
                <a:spcPct val="103000"/>
              </a:lnSpc>
            </a:pPr>
            <a:r>
              <a:rPr sz="1050" b="0" i="0">
                <a:solidFill>
                  <a:srgbClr val="21295C"/>
                </a:solidFill>
                <a:latin typeface="Arial"/>
              </a:rPr>
              <a:t>BM25 + SPLADE/ELSER — обе разреженные (классика + нейро-взвешенная), без dense-векторов смысла</a:t>
            </a:r>
          </a:p>
        </p:txBody>
      </p:sp>
      <p:sp>
        <p:nvSpPr>
          <p:cNvPr id="19" name="Rounded Rectangle 18"/>
          <p:cNvSpPr/>
          <p:nvPr/>
        </p:nvSpPr>
        <p:spPr>
          <a:xfrm>
            <a:off x="502920" y="3072384"/>
            <a:ext cx="550926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it-merge-mid.png"/>
          <p:cNvPicPr>
            <a:picLocks noChangeAspect="1"/>
          </p:cNvPicPr>
          <p:nvPr/>
        </p:nvPicPr>
        <p:blipFill>
          <a:blip r:embed="rId2"/>
          <a:stretch>
            <a:fillRect/>
          </a:stretch>
        </p:blipFill>
        <p:spPr>
          <a:xfrm>
            <a:off x="713232" y="3218688"/>
            <a:ext cx="347472" cy="347472"/>
          </a:xfrm>
          <a:prstGeom prst="rect">
            <a:avLst/>
          </a:prstGeom>
        </p:spPr>
      </p:pic>
      <p:sp>
        <p:nvSpPr>
          <p:cNvPr id="21" name="TextBox 20"/>
          <p:cNvSpPr txBox="1"/>
          <p:nvPr/>
        </p:nvSpPr>
        <p:spPr>
          <a:xfrm>
            <a:off x="1170432" y="3200400"/>
            <a:ext cx="4594860" cy="292608"/>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Слияние RRF</a:t>
            </a:r>
          </a:p>
        </p:txBody>
      </p:sp>
      <p:sp>
        <p:nvSpPr>
          <p:cNvPr id="22" name="TextBox 21"/>
          <p:cNvSpPr txBox="1"/>
          <p:nvPr/>
        </p:nvSpPr>
        <p:spPr>
          <a:xfrm>
            <a:off x="713232" y="3547872"/>
            <a:ext cx="5088636" cy="420624"/>
          </a:xfrm>
          <a:prstGeom prst="rect">
            <a:avLst/>
          </a:prstGeom>
          <a:noFill/>
        </p:spPr>
        <p:txBody>
          <a:bodyPr wrap="square" lIns="0" rIns="0" tIns="0" bIns="0" anchor="t">
            <a:spAutoFit/>
          </a:bodyPr>
          <a:lstStyle/>
          <a:p>
            <a:pPr algn="l">
              <a:lnSpc>
                <a:spcPct val="104000"/>
              </a:lnSpc>
            </a:pPr>
            <a:r>
              <a:rPr sz="1100" b="0" i="0">
                <a:solidFill>
                  <a:srgbClr val="21295C"/>
                </a:solidFill>
                <a:latin typeface="Liberation Mono"/>
              </a:rPr>
              <a:t>score = Σ 1 / (k + ранг), k ≈ 60 — объединяет два списка рангов без общей шкалы очков.</a:t>
            </a:r>
          </a:p>
        </p:txBody>
      </p:sp>
      <p:sp>
        <p:nvSpPr>
          <p:cNvPr id="23" name="Rounded Rectangle 22"/>
          <p:cNvSpPr/>
          <p:nvPr/>
        </p:nvSpPr>
        <p:spPr>
          <a:xfrm>
            <a:off x="6195060" y="3072384"/>
            <a:ext cx="550926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heck-gold.png"/>
          <p:cNvPicPr>
            <a:picLocks noChangeAspect="1"/>
          </p:cNvPicPr>
          <p:nvPr/>
        </p:nvPicPr>
        <p:blipFill>
          <a:blip r:embed="rId3"/>
          <a:stretch>
            <a:fillRect/>
          </a:stretch>
        </p:blipFill>
        <p:spPr>
          <a:xfrm>
            <a:off x="6405372" y="3218688"/>
            <a:ext cx="347472" cy="347472"/>
          </a:xfrm>
          <a:prstGeom prst="rect">
            <a:avLst/>
          </a:prstGeom>
        </p:spPr>
      </p:pic>
      <p:sp>
        <p:nvSpPr>
          <p:cNvPr id="25" name="TextBox 24"/>
          <p:cNvSpPr txBox="1"/>
          <p:nvPr/>
        </p:nvSpPr>
        <p:spPr>
          <a:xfrm>
            <a:off x="6862572" y="3200400"/>
            <a:ext cx="4594860" cy="292608"/>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Реранкер (cross-encoder)</a:t>
            </a:r>
          </a:p>
        </p:txBody>
      </p:sp>
      <p:sp>
        <p:nvSpPr>
          <p:cNvPr id="26" name="TextBox 25"/>
          <p:cNvSpPr txBox="1"/>
          <p:nvPr/>
        </p:nvSpPr>
        <p:spPr>
          <a:xfrm>
            <a:off x="6405372" y="3547872"/>
            <a:ext cx="5088636" cy="420624"/>
          </a:xfrm>
          <a:prstGeom prst="rect">
            <a:avLst/>
          </a:prstGeom>
          <a:noFill/>
        </p:spPr>
        <p:txBody>
          <a:bodyPr wrap="square" lIns="0" rIns="0" tIns="0" bIns="0" anchor="t">
            <a:spAutoFit/>
          </a:bodyPr>
          <a:lstStyle/>
          <a:p>
            <a:pPr algn="l">
              <a:lnSpc>
                <a:spcPct val="104000"/>
              </a:lnSpc>
            </a:pPr>
            <a:r>
              <a:rPr sz="1100" b="0" i="0">
                <a:solidFill>
                  <a:srgbClr val="21295C"/>
                </a:solidFill>
                <a:latin typeface="Arial"/>
              </a:rPr>
              <a:t>bi-encoder кодирует раздельно (быстро); cross-encoder гоняет пару вместе (точнее, дорого) — только по top-50…100.</a:t>
            </a:r>
          </a:p>
        </p:txBody>
      </p:sp>
      <p:sp>
        <p:nvSpPr>
          <p:cNvPr id="27" name="Rounded Rectangle 26"/>
          <p:cNvSpPr/>
          <p:nvPr/>
        </p:nvSpPr>
        <p:spPr>
          <a:xfrm>
            <a:off x="502920" y="4078224"/>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178808"/>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WANDS · NDCG</a:t>
            </a:r>
          </a:p>
        </p:txBody>
      </p:sp>
      <p:sp>
        <p:nvSpPr>
          <p:cNvPr id="29" name="TextBox 28"/>
          <p:cNvSpPr txBox="1"/>
          <p:nvPr/>
        </p:nvSpPr>
        <p:spPr>
          <a:xfrm>
            <a:off x="667512" y="4416552"/>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0,7497</a:t>
            </a:r>
          </a:p>
        </p:txBody>
      </p:sp>
      <p:sp>
        <p:nvSpPr>
          <p:cNvPr id="30" name="TextBox 29"/>
          <p:cNvSpPr txBox="1"/>
          <p:nvPr/>
        </p:nvSpPr>
        <p:spPr>
          <a:xfrm>
            <a:off x="667512" y="4764024"/>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BM25 0,6983 / вектор 0,6953 → ~7,4% (скромно)</a:t>
            </a:r>
            <a:r>
              <a:rPr sz="494" baseline="30000" b="0" i="1">
                <a:latin typeface="Arial"/>
                <a:cs typeface="Arial"/>
                <a:ea typeface="Arial"/>
                <a:solidFill>
                  <a:srgbClr val="1C7293"/>
                </a:solidFill>
              </a:rPr>
              <a:t>[1]</a:t>
            </a:r>
          </a:p>
        </p:txBody>
      </p:sp>
      <p:sp>
        <p:nvSpPr>
          <p:cNvPr id="31" name="Rounded Rectangle 30"/>
          <p:cNvSpPr/>
          <p:nvPr/>
        </p:nvSpPr>
        <p:spPr>
          <a:xfrm>
            <a:off x="4309872" y="4078224"/>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463" y="4178808"/>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Финтекст+таблицы · Recall@5</a:t>
            </a:r>
          </a:p>
        </p:txBody>
      </p:sp>
      <p:sp>
        <p:nvSpPr>
          <p:cNvPr id="33" name="TextBox 32"/>
          <p:cNvSpPr txBox="1"/>
          <p:nvPr/>
        </p:nvSpPr>
        <p:spPr>
          <a:xfrm>
            <a:off x="4474463" y="4416552"/>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0,816</a:t>
            </a:r>
          </a:p>
        </p:txBody>
      </p:sp>
      <p:sp>
        <p:nvSpPr>
          <p:cNvPr id="34" name="TextBox 33"/>
          <p:cNvSpPr txBox="1"/>
          <p:nvPr/>
        </p:nvSpPr>
        <p:spPr>
          <a:xfrm>
            <a:off x="4474463" y="4764024"/>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dense-only 0,587 (+0,229)</a:t>
            </a:r>
          </a:p>
        </p:txBody>
      </p:sp>
      <p:sp>
        <p:nvSpPr>
          <p:cNvPr id="35" name="Rounded Rectangle 34"/>
          <p:cNvSpPr/>
          <p:nvPr/>
        </p:nvSpPr>
        <p:spPr>
          <a:xfrm>
            <a:off x="8116823" y="4078224"/>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1415" y="4178808"/>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Anthropic · промахи</a:t>
            </a:r>
          </a:p>
        </p:txBody>
      </p:sp>
      <p:sp>
        <p:nvSpPr>
          <p:cNvPr id="37" name="TextBox 36"/>
          <p:cNvSpPr txBox="1"/>
          <p:nvPr/>
        </p:nvSpPr>
        <p:spPr>
          <a:xfrm>
            <a:off x="8281415" y="4416552"/>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5,7→1,9%</a:t>
            </a:r>
          </a:p>
        </p:txBody>
      </p:sp>
      <p:sp>
        <p:nvSpPr>
          <p:cNvPr id="38" name="TextBox 37"/>
          <p:cNvSpPr txBox="1"/>
          <p:nvPr/>
        </p:nvSpPr>
        <p:spPr>
          <a:xfrm>
            <a:off x="8281415" y="4764024"/>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+контекст+BM25 → 2,9%; +реранк → 1,9% (−67%)</a:t>
            </a:r>
            <a:r>
              <a:rPr sz="494" baseline="30000" b="0" i="1">
                <a:latin typeface="Arial"/>
                <a:cs typeface="Arial"/>
                <a:ea typeface="Arial"/>
                <a:solidFill>
                  <a:srgbClr val="1C7293"/>
                </a:solidFill>
              </a:rPr>
              <a:t>[2]</a:t>
            </a:r>
          </a:p>
        </p:txBody>
      </p:sp>
      <p:sp>
        <p:nvSpPr>
          <p:cNvPr id="39" name="Rounded Rectangle 38"/>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85231"/>
            <a:ext cx="10799064"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Anthropic — Contextual Retrieval (каскад промахов 5,7→1,9%)</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две категории движков.</a:t>
            </a:r>
          </a:p>
        </p:txBody>
      </p:sp>
      <p:sp>
        <p:nvSpPr>
          <p:cNvPr id="3" name="TextBox 2"/>
          <p:cNvSpPr txBox="1"/>
          <p:nvPr/>
        </p:nvSpPr>
        <p:spPr>
          <a:xfrm>
            <a:off x="502920" y="932688"/>
            <a:ext cx="11201400" cy="47548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Elastic и OpenSearch — тоже полноценные векторные хранилища</a:t>
            </a:r>
            <a:r>
              <a:rPr sz="1250" b="0" i="0">
                <a:solidFill>
                  <a:srgbClr val="21295C"/>
                </a:solidFill>
                <a:latin typeface="Arial"/>
              </a:rPr>
              <a:t> (dense_vector + HNSW / k-NN плагин): их честнее ставить под осью </a:t>
            </a:r>
            <a:r>
              <a:rPr sz="1250" b="1" i="0">
                <a:solidFill>
                  <a:srgbClr val="028090"/>
                </a:solidFill>
                <a:latin typeface="Arial"/>
              </a:rPr>
              <a:t>«поисковый движок, который умеет вектора»</a:t>
            </a:r>
            <a:r>
              <a:rPr sz="1250" b="0" i="0">
                <a:solidFill>
                  <a:srgbClr val="21295C"/>
                </a:solidFill>
                <a:latin typeface="Arial"/>
              </a:rPr>
              <a:t> vs vector-native (Qdrant / Milvus / Weaviate). Обе — векторные БД; различает происхождение. Потолки движутся — сверять в день лекции.</a:t>
            </a:r>
          </a:p>
        </p:txBody>
      </p:sp>
      <p:sp>
        <p:nvSpPr>
          <p:cNvPr id="4" name="Rounded Rectangle 3"/>
          <p:cNvSpPr/>
          <p:nvPr/>
        </p:nvSpPr>
        <p:spPr>
          <a:xfrm>
            <a:off x="502920" y="1645920"/>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9928"/>
            <a:ext cx="233172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Движок</a:t>
            </a:r>
          </a:p>
        </p:txBody>
      </p:sp>
      <p:sp>
        <p:nvSpPr>
          <p:cNvPr id="6" name="TextBox 5"/>
          <p:cNvSpPr txBox="1"/>
          <p:nvPr/>
        </p:nvSpPr>
        <p:spPr>
          <a:xfrm>
            <a:off x="3200400" y="1709928"/>
            <a:ext cx="53949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Брать когда</a:t>
            </a:r>
          </a:p>
        </p:txBody>
      </p:sp>
      <p:sp>
        <p:nvSpPr>
          <p:cNvPr id="7" name="TextBox 6"/>
          <p:cNvSpPr txBox="1"/>
          <p:nvPr/>
        </p:nvSpPr>
        <p:spPr>
          <a:xfrm>
            <a:off x="8778240" y="1709928"/>
            <a:ext cx="283464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Ориентир потолка</a:t>
            </a:r>
          </a:p>
        </p:txBody>
      </p:sp>
      <p:sp>
        <p:nvSpPr>
          <p:cNvPr id="8" name="Rectangle 7"/>
          <p:cNvSpPr/>
          <p:nvPr/>
        </p:nvSpPr>
        <p:spPr>
          <a:xfrm>
            <a:off x="502920" y="2011680"/>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57984"/>
            <a:ext cx="384048" cy="27432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10312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200400" y="208483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8483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578608"/>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24912"/>
            <a:ext cx="384048" cy="27432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white.png"/>
          <p:cNvPicPr>
            <a:picLocks noChangeAspect="1"/>
          </p:cNvPicPr>
          <p:nvPr/>
        </p:nvPicPr>
        <p:blipFill>
          <a:blip r:embed="rId3"/>
          <a:stretch>
            <a:fillRect/>
          </a:stretch>
        </p:blipFill>
        <p:spPr>
          <a:xfrm>
            <a:off x="685800" y="2724912"/>
            <a:ext cx="274320" cy="274320"/>
          </a:xfrm>
          <a:prstGeom prst="rect">
            <a:avLst/>
          </a:prstGeom>
        </p:spPr>
      </p:pic>
      <p:sp>
        <p:nvSpPr>
          <p:cNvPr id="17" name="TextBox 16"/>
          <p:cNvSpPr txBox="1"/>
          <p:nvPr/>
        </p:nvSpPr>
        <p:spPr>
          <a:xfrm>
            <a:off x="1124712" y="2670048"/>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Elastic / OpenSearch</a:t>
            </a:r>
          </a:p>
        </p:txBody>
      </p:sp>
      <p:sp>
        <p:nvSpPr>
          <p:cNvPr id="18" name="TextBox 17"/>
          <p:cNvSpPr txBox="1"/>
          <p:nvPr/>
        </p:nvSpPr>
        <p:spPr>
          <a:xfrm>
            <a:off x="3200400" y="2651760"/>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search-engine-first: уже эксплуатируете кластер, нужен нативный BM25+kNN гибрид</a:t>
            </a:r>
          </a:p>
        </p:txBody>
      </p:sp>
      <p:sp>
        <p:nvSpPr>
          <p:cNvPr id="19" name="TextBox 18"/>
          <p:cNvSpPr txBox="1"/>
          <p:nvPr/>
        </p:nvSpPr>
        <p:spPr>
          <a:xfrm>
            <a:off x="8778240" y="2651760"/>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млн–десятки млн; ELSER без GPU</a:t>
            </a:r>
          </a:p>
        </p:txBody>
      </p:sp>
      <p:sp>
        <p:nvSpPr>
          <p:cNvPr id="20" name="Rectangle 19"/>
          <p:cNvSpPr/>
          <p:nvPr/>
        </p:nvSpPr>
        <p:spPr>
          <a:xfrm>
            <a:off x="502920" y="3145536"/>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291840"/>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es-white.png"/>
          <p:cNvPicPr>
            <a:picLocks noChangeAspect="1"/>
          </p:cNvPicPr>
          <p:nvPr/>
        </p:nvPicPr>
        <p:blipFill>
          <a:blip r:embed="rId4"/>
          <a:stretch>
            <a:fillRect/>
          </a:stretch>
        </p:blipFill>
        <p:spPr>
          <a:xfrm>
            <a:off x="685800" y="3291840"/>
            <a:ext cx="274320" cy="274320"/>
          </a:xfrm>
          <a:prstGeom prst="rect">
            <a:avLst/>
          </a:prstGeom>
        </p:spPr>
      </p:pic>
      <p:sp>
        <p:nvSpPr>
          <p:cNvPr id="23" name="TextBox 22"/>
          <p:cNvSpPr txBox="1"/>
          <p:nvPr/>
        </p:nvSpPr>
        <p:spPr>
          <a:xfrm>
            <a:off x="1124712" y="3236976"/>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24" name="TextBox 23"/>
          <p:cNvSpPr txBox="1"/>
          <p:nvPr/>
        </p:nvSpPr>
        <p:spPr>
          <a:xfrm>
            <a:off x="3200400" y="3218688"/>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без большой платформы, sparse + multi-vector</a:t>
            </a:r>
          </a:p>
        </p:txBody>
      </p:sp>
      <p:sp>
        <p:nvSpPr>
          <p:cNvPr id="25" name="TextBox 24"/>
          <p:cNvSpPr txBox="1"/>
          <p:nvPr/>
        </p:nvSpPr>
        <p:spPr>
          <a:xfrm>
            <a:off x="8778240" y="3218688"/>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6" name="Rectangle 25"/>
          <p:cNvSpPr/>
          <p:nvPr/>
        </p:nvSpPr>
        <p:spPr>
          <a:xfrm>
            <a:off x="502920" y="3712464"/>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3858768"/>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ayers-white.png"/>
          <p:cNvPicPr>
            <a:picLocks noChangeAspect="1"/>
          </p:cNvPicPr>
          <p:nvPr/>
        </p:nvPicPr>
        <p:blipFill>
          <a:blip r:embed="rId5"/>
          <a:stretch>
            <a:fillRect/>
          </a:stretch>
        </p:blipFill>
        <p:spPr>
          <a:xfrm>
            <a:off x="685800" y="3858768"/>
            <a:ext cx="274320" cy="274320"/>
          </a:xfrm>
          <a:prstGeom prst="rect">
            <a:avLst/>
          </a:prstGeom>
        </p:spPr>
      </p:pic>
      <p:sp>
        <p:nvSpPr>
          <p:cNvPr id="29" name="TextBox 28"/>
          <p:cNvSpPr txBox="1"/>
          <p:nvPr/>
        </p:nvSpPr>
        <p:spPr>
          <a:xfrm>
            <a:off x="1124712" y="3803904"/>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30" name="TextBox 29"/>
          <p:cNvSpPr txBox="1"/>
          <p:nvPr/>
        </p:nvSpPr>
        <p:spPr>
          <a:xfrm>
            <a:off x="3200400" y="3785616"/>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со встроенным гибридом (vector+BM25+фильтры)</a:t>
            </a:r>
          </a:p>
        </p:txBody>
      </p:sp>
      <p:sp>
        <p:nvSpPr>
          <p:cNvPr id="31" name="TextBox 30"/>
          <p:cNvSpPr txBox="1"/>
          <p:nvPr/>
        </p:nvSpPr>
        <p:spPr>
          <a:xfrm>
            <a:off x="8778240" y="3785616"/>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32" name="Rectangle 31"/>
          <p:cNvSpPr/>
          <p:nvPr/>
        </p:nvSpPr>
        <p:spPr>
          <a:xfrm>
            <a:off x="502920" y="4279392"/>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425696"/>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ckage-white.png"/>
          <p:cNvPicPr>
            <a:picLocks noChangeAspect="1"/>
          </p:cNvPicPr>
          <p:nvPr/>
        </p:nvPicPr>
        <p:blipFill>
          <a:blip r:embed="rId6"/>
          <a:stretch>
            <a:fillRect/>
          </a:stretch>
        </p:blipFill>
        <p:spPr>
          <a:xfrm>
            <a:off x="685800" y="4425696"/>
            <a:ext cx="274320" cy="274320"/>
          </a:xfrm>
          <a:prstGeom prst="rect">
            <a:avLst/>
          </a:prstGeom>
        </p:spPr>
      </p:pic>
      <p:sp>
        <p:nvSpPr>
          <p:cNvPr id="35" name="TextBox 34"/>
          <p:cNvSpPr txBox="1"/>
          <p:nvPr/>
        </p:nvSpPr>
        <p:spPr>
          <a:xfrm>
            <a:off x="1124712" y="4370832"/>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6" name="TextBox 35"/>
          <p:cNvSpPr txBox="1"/>
          <p:nvPr/>
        </p:nvSpPr>
        <p:spPr>
          <a:xfrm>
            <a:off x="3200400" y="4352544"/>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100M+ / миллиарды, тяжёлое горизонтальное масштабирование</a:t>
            </a:r>
          </a:p>
        </p:txBody>
      </p:sp>
      <p:sp>
        <p:nvSpPr>
          <p:cNvPr id="37" name="TextBox 36"/>
          <p:cNvSpPr txBox="1"/>
          <p:nvPr/>
        </p:nvSpPr>
        <p:spPr>
          <a:xfrm>
            <a:off x="8778240" y="4352544"/>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8" name="Rectangle 37"/>
          <p:cNvSpPr/>
          <p:nvPr/>
        </p:nvSpPr>
        <p:spPr>
          <a:xfrm>
            <a:off x="502920" y="4846320"/>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 y="4992624"/>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git-branch-white.png"/>
          <p:cNvPicPr>
            <a:picLocks noChangeAspect="1"/>
          </p:cNvPicPr>
          <p:nvPr/>
        </p:nvPicPr>
        <p:blipFill>
          <a:blip r:embed="rId7"/>
          <a:stretch>
            <a:fillRect/>
          </a:stretch>
        </p:blipFill>
        <p:spPr>
          <a:xfrm>
            <a:off x="685800" y="4992624"/>
            <a:ext cx="274320" cy="274320"/>
          </a:xfrm>
          <a:prstGeom prst="rect">
            <a:avLst/>
          </a:prstGeom>
        </p:spPr>
      </p:pic>
      <p:sp>
        <p:nvSpPr>
          <p:cNvPr id="41" name="TextBox 40"/>
          <p:cNvSpPr txBox="1"/>
          <p:nvPr/>
        </p:nvSpPr>
        <p:spPr>
          <a:xfrm>
            <a:off x="1124712" y="493776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42" name="TextBox 41"/>
          <p:cNvSpPr txBox="1"/>
          <p:nvPr/>
        </p:nvSpPr>
        <p:spPr>
          <a:xfrm>
            <a:off x="3200400" y="491947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(хранение на вас); Chroma/LanceDB — прототип/edge</a:t>
            </a:r>
          </a:p>
        </p:txBody>
      </p:sp>
      <p:sp>
        <p:nvSpPr>
          <p:cNvPr id="43" name="TextBox 42"/>
          <p:cNvSpPr txBox="1"/>
          <p:nvPr/>
        </p:nvSpPr>
        <p:spPr>
          <a:xfrm>
            <a:off x="8778240" y="491947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44" name="Rounded Rectangle 43"/>
          <p:cNvSpPr/>
          <p:nvPr/>
        </p:nvSpPr>
        <p:spPr>
          <a:xfrm>
            <a:off x="502920" y="5522976"/>
            <a:ext cx="5490972"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605272"/>
            <a:ext cx="5088636" cy="256032"/>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Обвязки дополняют, не конкурируют</a:t>
            </a:r>
          </a:p>
        </p:txBody>
      </p:sp>
      <p:sp>
        <p:nvSpPr>
          <p:cNvPr id="46" name="TextBox 45"/>
          <p:cNvSpPr txBox="1"/>
          <p:nvPr/>
        </p:nvSpPr>
        <p:spPr>
          <a:xfrm>
            <a:off x="704088" y="5870448"/>
            <a:ext cx="5088636" cy="420624"/>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LlamaIndex — ingestion + retrieval по грязным документам; LangGraph — оркестрация (checkpointing, human-in-the-loop).</a:t>
            </a:r>
          </a:p>
        </p:txBody>
      </p:sp>
      <p:sp>
        <p:nvSpPr>
          <p:cNvPr id="47" name="Rounded Rectangle 46"/>
          <p:cNvSpPr/>
          <p:nvPr/>
        </p:nvSpPr>
        <p:spPr>
          <a:xfrm>
            <a:off x="6213348" y="5522976"/>
            <a:ext cx="5490972"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4516" y="5577840"/>
            <a:ext cx="5088636" cy="67665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Для простого RAG-эндпоинта (retrieve → generate) фреймворк не нужен: несколько сотен строк своей склейки против частой смены версий. Обвязку добавляют под агентную сложность, а не по умолчанию.</a:t>
            </a:r>
          </a:p>
        </p:txBody>
      </p:sp>
      <p:sp>
        <p:nvSpPr>
          <p:cNvPr id="49" name="TextBox 4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0"/>
              </a:rPr>
              <a:t>TigerData — pgvector vs Qdrant (вендор-бенчмарк, читать скептически)</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выбрать под свою ситуацию.</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00" b="0" i="1">
                <a:solidFill>
                  <a:srgbClr val="065A82"/>
                </a:solidFill>
                <a:latin typeface="Arial"/>
              </a:rPr>
              <a:t>Выбор в открытом поле — под свой масштаб и требования. Три яруса снизу вверх; поднимаешься на следующий, только когда предыдущего не хватает под конкретную нагрузку.</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Хватает BM25</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 — векторов и вектор-хранилища не нужно</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Хватает поискового движка с векторами</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нужен смысл поверх лексики на масштабе млн–десятки млн; Elastic/OpenSearch дают гибрид и ELSER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Нужна выделенная векторная БД</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хранилище от эксплуатации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194560"/>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798064"/>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898648"/>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87121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182112"/>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785616"/>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886200"/>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858768"/>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169664"/>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846320"/>
            <a:ext cx="5806440" cy="84124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4901184"/>
            <a:ext cx="5404103" cy="73151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Один приём и выигрывает 74 пункта (клиника), и проигрывает 15 (общий корпус): корпуса, метрики и размер чанка разные. Дефолт — recursive fixed-size; усложнять только под разрыв, измеренный на СВОИХ данных.</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firecrawl — chunking eval (recall@k в изоляции может врать)</a:t>
            </a:r>
            <a:r>
              <a:rPr sz="850" i="1">
                <a:solidFill>
                  <a:srgbClr val="5B6678"/>
                </a:solidFill>
                <a:latin typeface="Arial"/>
              </a:rPr>
              <a:t>   ·   Recall@k в изоляции может врать (91,9% recall при 54% ответов) — мерить и end-to-end accuracy; следующий слайд — как это ломается тихо.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Тихий провал чанкирования: голый ряд цифр.</a:t>
            </a:r>
          </a:p>
        </p:txBody>
      </p:sp>
      <p:sp>
        <p:nvSpPr>
          <p:cNvPr id="3" name="TextBox 2"/>
          <p:cNvSpPr txBox="1"/>
          <p:nvPr/>
        </p:nvSpPr>
        <p:spPr>
          <a:xfrm>
            <a:off x="502920" y="950976"/>
            <a:ext cx="11201400" cy="402336"/>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Worked example — 300 PDF-руководств с таблицами спецификаций. Вопрос «какой момент затяжки для модели X-500?» — ответ в ячейке таблицы. Наивный сплиттер режет её по байту.</a:t>
            </a:r>
          </a:p>
        </p:txBody>
      </p:sp>
      <p:sp>
        <p:nvSpPr>
          <p:cNvPr id="4" name="Rounded Rectangle 3"/>
          <p:cNvSpPr/>
          <p:nvPr/>
        </p:nvSpPr>
        <p:spPr>
          <a:xfrm>
            <a:off x="502920" y="1517904"/>
            <a:ext cx="549097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1"/>
            <a:ext cx="5088636" cy="274320"/>
          </a:xfrm>
          <a:prstGeom prst="rect">
            <a:avLst/>
          </a:prstGeom>
          <a:noFill/>
        </p:spPr>
        <p:txBody>
          <a:bodyPr wrap="square" lIns="0" rIns="0" tIns="0" bIns="0" anchor="t">
            <a:spAutoFit/>
          </a:bodyPr>
          <a:lstStyle/>
          <a:p>
            <a:pPr algn="l">
              <a:lnSpc>
                <a:spcPct val="115000"/>
              </a:lnSpc>
            </a:pPr>
            <a:r>
              <a:rPr sz="1250" b="1" i="0">
                <a:solidFill>
                  <a:srgbClr val="5B6678"/>
                </a:solidFill>
                <a:latin typeface="Arial"/>
              </a:rPr>
              <a:t>Наивно: RecursiveCharacter, 512 токенов</a:t>
            </a:r>
          </a:p>
        </p:txBody>
      </p:sp>
      <p:sp>
        <p:nvSpPr>
          <p:cNvPr id="6" name="TextBox 5"/>
          <p:cNvSpPr txBox="1"/>
          <p:nvPr/>
        </p:nvSpPr>
        <p:spPr>
          <a:xfrm>
            <a:off x="704088"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Парсер расплющил таблицу в поток; сплиттер режет по байту на границе 512:</a:t>
            </a:r>
          </a:p>
        </p:txBody>
      </p:sp>
      <p:sp>
        <p:nvSpPr>
          <p:cNvPr id="7" name="Rounded Rectangle 6"/>
          <p:cNvSpPr/>
          <p:nvPr/>
        </p:nvSpPr>
        <p:spPr>
          <a:xfrm>
            <a:off x="704088" y="2395728"/>
            <a:ext cx="5088636" cy="475488"/>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68880"/>
            <a:ext cx="4832604" cy="347472"/>
          </a:xfrm>
          <a:prstGeom prst="rect">
            <a:avLst/>
          </a:prstGeom>
          <a:noFill/>
        </p:spPr>
        <p:txBody>
          <a:bodyPr wrap="square" lIns="0" rIns="0" tIns="0" bIns="0" anchor="ctr">
            <a:spAutoFit/>
          </a:bodyPr>
          <a:lstStyle/>
          <a:p>
            <a:pPr algn="l">
              <a:lnSpc>
                <a:spcPct val="115000"/>
              </a:lnSpc>
            </a:pPr>
            <a:r>
              <a:rPr sz="1200" b="1" i="0">
                <a:solidFill>
                  <a:srgbClr val="21295C"/>
                </a:solidFill>
                <a:latin typeface="Liberation Mono"/>
              </a:rPr>
              <a:t>чанк: «12 / 480 / 8.5 / 34»</a:t>
            </a:r>
          </a:p>
        </p:txBody>
      </p:sp>
      <p:sp>
        <p:nvSpPr>
          <p:cNvPr id="9" name="TextBox 8"/>
          <p:cNvSpPr txBox="1"/>
          <p:nvPr/>
        </p:nvSpPr>
        <p:spPr>
          <a:xfrm>
            <a:off x="704088"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Заголовки «Модель / Напряжение / Ток / Момент» ушли в другой чанк. Система НЕ падает: эмбеддинг считается, ретрив «находит», ответ генерируется — и он неверный.</a:t>
            </a:r>
          </a:p>
        </p:txBody>
      </p:sp>
      <p:sp>
        <p:nvSpPr>
          <p:cNvPr id="10" name="Rounded Rectangle 9"/>
          <p:cNvSpPr/>
          <p:nvPr/>
        </p:nvSpPr>
        <p:spPr>
          <a:xfrm>
            <a:off x="6213348" y="1517904"/>
            <a:ext cx="5490972"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27631"/>
            <a:ext cx="5088636"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Правильно: table-aware + повтор заголовков</a:t>
            </a:r>
          </a:p>
        </p:txBody>
      </p:sp>
      <p:sp>
        <p:nvSpPr>
          <p:cNvPr id="12" name="TextBox 11"/>
          <p:cNvSpPr txBox="1"/>
          <p:nvPr/>
        </p:nvSpPr>
        <p:spPr>
          <a:xfrm>
            <a:off x="6414516"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Таблицу — отдельным чанком; если больше лимита — по строкам, повторяя заголовки:</a:t>
            </a:r>
          </a:p>
        </p:txBody>
      </p:sp>
      <p:sp>
        <p:nvSpPr>
          <p:cNvPr id="13" name="Rounded Rectangle 12"/>
          <p:cNvSpPr/>
          <p:nvPr/>
        </p:nvSpPr>
        <p:spPr>
          <a:xfrm>
            <a:off x="6414516" y="2395728"/>
            <a:ext cx="5088636" cy="475488"/>
          </a:xfrm>
          <a:prstGeom prst="roundRect">
            <a:avLst>
              <a:gd name="adj" fmla="val 8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1676" y="2450591"/>
            <a:ext cx="4832604"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Liberation Mono"/>
              </a:rPr>
              <a:t>«Модель X-500 | Напряжение 480 |
 Ток 8.5 | Момент 34»</a:t>
            </a:r>
          </a:p>
        </p:txBody>
      </p:sp>
      <p:sp>
        <p:nvSpPr>
          <p:cNvPr id="15" name="TextBox 14"/>
          <p:cNvSpPr txBox="1"/>
          <p:nvPr/>
        </p:nvSpPr>
        <p:spPr>
          <a:xfrm>
            <a:off x="6414516"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Каждая строка самодостаточна; + parent-document для текста, + метаданные {модель, тип, версия}. Основной выигрыш дало не «умную» нарезку, а уважение структуры.</a:t>
            </a:r>
            <a:r>
              <a:rPr sz="546" baseline="30000" b="0" i="1">
                <a:latin typeface="Arial"/>
                <a:cs typeface="Arial"/>
                <a:ea typeface="Arial"/>
                <a:solidFill>
                  <a:srgbClr val="1C7293"/>
                </a:solidFill>
              </a:rPr>
              <a:t>[1]</a:t>
            </a:r>
          </a:p>
        </p:txBody>
      </p:sp>
      <p:sp>
        <p:nvSpPr>
          <p:cNvPr id="16" name="Rounded Rectangle 15"/>
          <p:cNvSpPr/>
          <p:nvPr/>
        </p:nvSpPr>
        <p:spPr>
          <a:xfrm>
            <a:off x="502920"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teal.png"/>
          <p:cNvPicPr>
            <a:picLocks noChangeAspect="1"/>
          </p:cNvPicPr>
          <p:nvPr/>
        </p:nvPicPr>
        <p:blipFill>
          <a:blip r:embed="rId2"/>
          <a:stretch>
            <a:fillRect/>
          </a:stretch>
        </p:blipFill>
        <p:spPr>
          <a:xfrm>
            <a:off x="649224" y="3877055"/>
            <a:ext cx="292608" cy="292608"/>
          </a:xfrm>
          <a:prstGeom prst="rect">
            <a:avLst/>
          </a:prstGeom>
        </p:spPr>
      </p:pic>
      <p:sp>
        <p:nvSpPr>
          <p:cNvPr id="18" name="TextBox 17"/>
          <p:cNvSpPr txBox="1"/>
          <p:nvPr/>
        </p:nvSpPr>
        <p:spPr>
          <a:xfrm>
            <a:off x="1014984"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Анафора / сломанные ссылки</a:t>
            </a:r>
          </a:p>
        </p:txBody>
      </p:sp>
      <p:sp>
        <p:nvSpPr>
          <p:cNvPr id="19" name="TextBox 18"/>
          <p:cNvSpPr txBox="1"/>
          <p:nvPr/>
        </p:nvSpPr>
        <p:spPr>
          <a:xfrm>
            <a:off x="667512"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«оно», «этот город», «данная политика» теряют антецедент при разрезе → чанк эмбеддится неоднозначно (лечить parent-doc / контекст-дописыванием).</a:t>
            </a:r>
          </a:p>
        </p:txBody>
      </p:sp>
      <p:sp>
        <p:nvSpPr>
          <p:cNvPr id="20" name="Rounded Rectangle 19"/>
          <p:cNvSpPr/>
          <p:nvPr/>
        </p:nvSpPr>
        <p:spPr>
          <a:xfrm>
            <a:off x="4303776"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teal.png"/>
          <p:cNvPicPr>
            <a:picLocks noChangeAspect="1"/>
          </p:cNvPicPr>
          <p:nvPr/>
        </p:nvPicPr>
        <p:blipFill>
          <a:blip r:embed="rId3"/>
          <a:stretch>
            <a:fillRect/>
          </a:stretch>
        </p:blipFill>
        <p:spPr>
          <a:xfrm>
            <a:off x="4450080" y="3877055"/>
            <a:ext cx="292608" cy="292608"/>
          </a:xfrm>
          <a:prstGeom prst="rect">
            <a:avLst/>
          </a:prstGeom>
        </p:spPr>
      </p:pic>
      <p:sp>
        <p:nvSpPr>
          <p:cNvPr id="22" name="TextBox 21"/>
          <p:cNvSpPr txBox="1"/>
          <p:nvPr/>
        </p:nvSpPr>
        <p:spPr>
          <a:xfrm>
            <a:off x="4815840"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Смена эмбеддера = пере-нарезка</a:t>
            </a:r>
          </a:p>
        </p:txBody>
      </p:sp>
      <p:sp>
        <p:nvSpPr>
          <p:cNvPr id="23" name="TextBox 22"/>
          <p:cNvSpPr txBox="1"/>
          <p:nvPr/>
        </p:nvSpPr>
        <p:spPr>
          <a:xfrm>
            <a:off x="4468368"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размер чанка привязан к окну модели; сменил эмбеддер → re-chunk всего корпуса, не «строчка в конфиге».</a:t>
            </a:r>
            <a:r>
              <a:rPr sz="520" baseline="30000" b="0" i="1">
                <a:latin typeface="Arial"/>
                <a:cs typeface="Arial"/>
                <a:ea typeface="Arial"/>
                <a:solidFill>
                  <a:srgbClr val="1C7293"/>
                </a:solidFill>
              </a:rPr>
              <a:t>[2]</a:t>
            </a:r>
          </a:p>
        </p:txBody>
      </p:sp>
      <p:sp>
        <p:nvSpPr>
          <p:cNvPr id="24" name="Rounded Rectangle 23"/>
          <p:cNvSpPr/>
          <p:nvPr/>
        </p:nvSpPr>
        <p:spPr>
          <a:xfrm>
            <a:off x="8104632"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liders-horizontal-teal.png"/>
          <p:cNvPicPr>
            <a:picLocks noChangeAspect="1"/>
          </p:cNvPicPr>
          <p:nvPr/>
        </p:nvPicPr>
        <p:blipFill>
          <a:blip r:embed="rId4"/>
          <a:stretch>
            <a:fillRect/>
          </a:stretch>
        </p:blipFill>
        <p:spPr>
          <a:xfrm>
            <a:off x="8250936" y="3877055"/>
            <a:ext cx="292608" cy="292608"/>
          </a:xfrm>
          <a:prstGeom prst="rect">
            <a:avLst/>
          </a:prstGeom>
        </p:spPr>
      </p:pic>
      <p:sp>
        <p:nvSpPr>
          <p:cNvPr id="26" name="TextBox 25"/>
          <p:cNvSpPr txBox="1"/>
          <p:nvPr/>
        </p:nvSpPr>
        <p:spPr>
          <a:xfrm>
            <a:off x="8616696"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Оценка chunking чувствительна к k</a:t>
            </a:r>
          </a:p>
        </p:txBody>
      </p:sp>
      <p:sp>
        <p:nvSpPr>
          <p:cNvPr id="27" name="TextBox 26"/>
          <p:cNvSpPr txBox="1"/>
          <p:nvPr/>
        </p:nvSpPr>
        <p:spPr>
          <a:xfrm>
            <a:off x="8269224"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мелкие чанки требуют большего k; меняя нарезку — перепроверяй оптимальный k (Anthropic мерил top-5/10/20).</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Contextual Retrieval (таблицы — тихий провал retrieval)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firecrawl — Chunking Strategies (re-chunk при смене эмбеддера, k-чувствительность)</a:t>
            </a:r>
            <a:r>
              <a:rPr sz="850" i="1">
                <a:solidFill>
                  <a:srgbClr val="5B6678"/>
                </a:solidFill>
                <a:latin typeface="Arial"/>
              </a:rPr>
              <a:t>   ·   Проверка: 20–30 вопросов, ответ на которые в таблицах, и руками смотреть, что в top-k приходит чанк С заголовками, а не «голый ряд цифр»; recall@k по табличным вопросам мерить отдельно.</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987552"/>
            <a:ext cx="11201400" cy="365760"/>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Прототип работает на 1000 документов; ломается на миллионах векторов и тысячах запросов. Проблемы — не только на индексации: и на запросе, и в эксплуатации.</a:t>
            </a:r>
          </a:p>
        </p:txBody>
      </p:sp>
      <p:sp>
        <p:nvSpPr>
          <p:cNvPr id="4" name="Rounded Rectangle 3"/>
          <p:cNvSpPr/>
          <p:nvPr/>
        </p:nvSpPr>
        <p:spPr>
          <a:xfrm>
            <a:off x="2788920" y="1444752"/>
            <a:ext cx="1517904" cy="420624"/>
          </a:xfrm>
          <a:prstGeom prst="roundRect">
            <a:avLst>
              <a:gd name="adj" fmla="val 1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843784"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ingest</a:t>
            </a:r>
          </a:p>
        </p:txBody>
      </p:sp>
      <p:sp>
        <p:nvSpPr>
          <p:cNvPr id="6" name="Right Arrow 5"/>
          <p:cNvSpPr/>
          <p:nvPr/>
        </p:nvSpPr>
        <p:spPr>
          <a:xfrm>
            <a:off x="4325112"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81144"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7"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chunk</a:t>
            </a:r>
          </a:p>
        </p:txBody>
      </p:sp>
      <p:sp>
        <p:nvSpPr>
          <p:cNvPr id="9" name="Right Arrow 8"/>
          <p:cNvSpPr/>
          <p:nvPr/>
        </p:nvSpPr>
        <p:spPr>
          <a:xfrm>
            <a:off x="6117336"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73368"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1"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embed</a:t>
            </a:r>
          </a:p>
        </p:txBody>
      </p:sp>
      <p:sp>
        <p:nvSpPr>
          <p:cNvPr id="12" name="Right Arrow 11"/>
          <p:cNvSpPr/>
          <p:nvPr/>
        </p:nvSpPr>
        <p:spPr>
          <a:xfrm>
            <a:off x="7909559"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65592"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456"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index</a:t>
            </a:r>
          </a:p>
        </p:txBody>
      </p:sp>
      <p:sp>
        <p:nvSpPr>
          <p:cNvPr id="15" name="TextBox 14"/>
          <p:cNvSpPr txBox="1"/>
          <p:nvPr/>
        </p:nvSpPr>
        <p:spPr>
          <a:xfrm>
            <a:off x="2788920" y="1874519"/>
            <a:ext cx="1517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Arial"/>
              </a:rPr>
              <a:t>первое горло</a:t>
            </a:r>
          </a:p>
        </p:txBody>
      </p:sp>
      <p:sp>
        <p:nvSpPr>
          <p:cNvPr id="16" name="TextBox 15"/>
          <p:cNvSpPr txBox="1"/>
          <p:nvPr/>
        </p:nvSpPr>
        <p:spPr>
          <a:xfrm>
            <a:off x="502920" y="2048256"/>
            <a:ext cx="5486400" cy="219456"/>
          </a:xfrm>
          <a:prstGeom prst="rect">
            <a:avLst/>
          </a:prstGeom>
          <a:noFill/>
        </p:spPr>
        <p:txBody>
          <a:bodyPr wrap="square" lIns="0" rIns="0" tIns="0" bIns="0" anchor="t">
            <a:spAutoFit/>
          </a:bodyPr>
          <a:lstStyle/>
          <a:p>
            <a:pPr algn="l">
              <a:lnSpc>
                <a:spcPct val="115000"/>
              </a:lnSpc>
            </a:pPr>
            <a:r>
              <a:rPr sz="1050" b="1" i="0">
                <a:solidFill>
                  <a:srgbClr val="1C7293"/>
                </a:solidFill>
                <a:latin typeface="Arial"/>
              </a:rPr>
              <a:t>ИНДЕКС-СТОРОНА — сборка и поддержка</a:t>
            </a:r>
          </a:p>
        </p:txBody>
      </p:sp>
      <p:sp>
        <p:nvSpPr>
          <p:cNvPr id="17" name="Rounded Rectangle 16"/>
          <p:cNvSpPr/>
          <p:nvPr/>
        </p:nvSpPr>
        <p:spPr>
          <a:xfrm>
            <a:off x="502920"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oute-mid.png"/>
          <p:cNvPicPr>
            <a:picLocks noChangeAspect="1"/>
          </p:cNvPicPr>
          <p:nvPr/>
        </p:nvPicPr>
        <p:blipFill>
          <a:blip r:embed="rId2"/>
          <a:stretch>
            <a:fillRect/>
          </a:stretch>
        </p:blipFill>
        <p:spPr>
          <a:xfrm>
            <a:off x="649224" y="2386584"/>
            <a:ext cx="292608" cy="292608"/>
          </a:xfrm>
          <a:prstGeom prst="rect">
            <a:avLst/>
          </a:prstGeom>
        </p:spPr>
      </p:pic>
      <p:sp>
        <p:nvSpPr>
          <p:cNvPr id="19" name="TextBox 18"/>
          <p:cNvSpPr txBox="1"/>
          <p:nvPr/>
        </p:nvSpPr>
        <p:spPr>
          <a:xfrm>
            <a:off x="1014984" y="2377440"/>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Свежесть</a:t>
            </a:r>
          </a:p>
        </p:txBody>
      </p:sp>
      <p:sp>
        <p:nvSpPr>
          <p:cNvPr id="20" name="TextBox 19"/>
          <p:cNvSpPr txBox="1"/>
          <p:nvPr/>
        </p:nvSpPr>
        <p:spPr>
          <a:xfrm>
            <a:off x="667512"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батч → устаревание; CDC → субминута ценой ×3 эксплуатации; индекс отстал → тихая деградация</a:t>
            </a:r>
            <a:r>
              <a:rPr sz="520" baseline="30000" b="0" i="1">
                <a:latin typeface="Arial"/>
                <a:cs typeface="Arial"/>
                <a:ea typeface="Arial"/>
                <a:solidFill>
                  <a:srgbClr val="1C7293"/>
                </a:solidFill>
              </a:rPr>
              <a:t>[1]</a:t>
            </a:r>
            <a:r>
              <a:rPr sz="1000" b="0" i="0">
                <a:latin typeface="Arial"/>
                <a:cs typeface="Arial"/>
                <a:ea typeface="Arial"/>
                <a:solidFill>
                  <a:srgbClr val="21295C"/>
                </a:solidFill>
              </a:rPr>
              <a:t>.</a:t>
            </a:r>
          </a:p>
        </p:txBody>
      </p:sp>
      <p:sp>
        <p:nvSpPr>
          <p:cNvPr id="21" name="Rounded Rectangle 20"/>
          <p:cNvSpPr/>
          <p:nvPr/>
        </p:nvSpPr>
        <p:spPr>
          <a:xfrm>
            <a:off x="3353562"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it-branch-mid.png"/>
          <p:cNvPicPr>
            <a:picLocks noChangeAspect="1"/>
          </p:cNvPicPr>
          <p:nvPr/>
        </p:nvPicPr>
        <p:blipFill>
          <a:blip r:embed="rId3"/>
          <a:stretch>
            <a:fillRect/>
          </a:stretch>
        </p:blipFill>
        <p:spPr>
          <a:xfrm>
            <a:off x="3499866" y="2386584"/>
            <a:ext cx="292608" cy="292608"/>
          </a:xfrm>
          <a:prstGeom prst="rect">
            <a:avLst/>
          </a:prstGeom>
        </p:spPr>
      </p:pic>
      <p:sp>
        <p:nvSpPr>
          <p:cNvPr id="23" name="TextBox 22"/>
          <p:cNvSpPr txBox="1"/>
          <p:nvPr/>
        </p:nvSpPr>
        <p:spPr>
          <a:xfrm>
            <a:off x="3865626" y="2377440"/>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Смена модели</a:t>
            </a:r>
          </a:p>
        </p:txBody>
      </p:sp>
      <p:sp>
        <p:nvSpPr>
          <p:cNvPr id="24" name="TextBox 23"/>
          <p:cNvSpPr txBox="1"/>
          <p:nvPr/>
        </p:nvSpPr>
        <p:spPr>
          <a:xfrm>
            <a:off x="3518154"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новый эмбеддер = пере-эмбеддить ВСЕ векторы (старые/новые несравнимы) — миграция.</a:t>
            </a:r>
          </a:p>
        </p:txBody>
      </p:sp>
      <p:sp>
        <p:nvSpPr>
          <p:cNvPr id="25" name="Rounded Rectangle 24"/>
          <p:cNvSpPr/>
          <p:nvPr/>
        </p:nvSpPr>
        <p:spPr>
          <a:xfrm>
            <a:off x="6204204"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check-mid.png"/>
          <p:cNvPicPr>
            <a:picLocks noChangeAspect="1"/>
          </p:cNvPicPr>
          <p:nvPr/>
        </p:nvPicPr>
        <p:blipFill>
          <a:blip r:embed="rId4"/>
          <a:stretch>
            <a:fillRect/>
          </a:stretch>
        </p:blipFill>
        <p:spPr>
          <a:xfrm>
            <a:off x="6350508" y="2386584"/>
            <a:ext cx="292608" cy="292608"/>
          </a:xfrm>
          <a:prstGeom prst="rect">
            <a:avLst/>
          </a:prstGeom>
        </p:spPr>
      </p:pic>
      <p:sp>
        <p:nvSpPr>
          <p:cNvPr id="27" name="TextBox 26"/>
          <p:cNvSpPr txBox="1"/>
          <p:nvPr/>
        </p:nvSpPr>
        <p:spPr>
          <a:xfrm>
            <a:off x="6716268" y="2377440"/>
            <a:ext cx="2027681" cy="310896"/>
          </a:xfrm>
          <a:prstGeom prst="rect">
            <a:avLst/>
          </a:prstGeom>
          <a:noFill/>
        </p:spPr>
        <p:txBody>
          <a:bodyPr wrap="square" lIns="0" rIns="0" tIns="0" bIns="0" anchor="ctr">
            <a:spAutoFit/>
          </a:bodyPr>
          <a:lstStyle/>
          <a:p>
            <a:pPr algn="l">
              <a:lnSpc>
                <a:spcPct val="115000"/>
              </a:lnSpc>
            </a:pPr>
            <a:r>
              <a:rPr sz="1200" b="1" i="0">
                <a:solidFill>
                  <a:srgbClr val="1C7293"/>
                </a:solidFill>
                <a:latin typeface="Arial"/>
              </a:rPr>
              <a:t>Оценка</a:t>
            </a:r>
          </a:p>
        </p:txBody>
      </p:sp>
      <p:sp>
        <p:nvSpPr>
          <p:cNvPr id="28" name="TextBox 27"/>
          <p:cNvSpPr txBox="1"/>
          <p:nvPr/>
        </p:nvSpPr>
        <p:spPr>
          <a:xfrm>
            <a:off x="6368796"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recall@k ~0,8, nDCG</a:t>
            </a:r>
            <a:r>
              <a:rPr sz="520" baseline="30000" b="0" i="1">
                <a:latin typeface="Arial"/>
                <a:cs typeface="Arial"/>
                <a:ea typeface="Arial"/>
                <a:solidFill>
                  <a:srgbClr val="1C7293"/>
                </a:solidFill>
              </a:rPr>
              <a:t>[2]</a:t>
            </a:r>
            <a:r>
              <a:rPr sz="1000" b="0" i="0">
                <a:latin typeface="Arial"/>
                <a:cs typeface="Arial"/>
                <a:ea typeface="Arial"/>
                <a:solidFill>
                  <a:srgbClr val="21295C"/>
                </a:solidFill>
              </a:rPr>
              <a:t> + LLM-судья RAGAS; без набора — деградация невидима.</a:t>
            </a:r>
          </a:p>
        </p:txBody>
      </p:sp>
      <p:sp>
        <p:nvSpPr>
          <p:cNvPr id="29" name="Rounded Rectangle 28"/>
          <p:cNvSpPr/>
          <p:nvPr/>
        </p:nvSpPr>
        <p:spPr>
          <a:xfrm>
            <a:off x="9054846"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cale-mid.png"/>
          <p:cNvPicPr>
            <a:picLocks noChangeAspect="1"/>
          </p:cNvPicPr>
          <p:nvPr/>
        </p:nvPicPr>
        <p:blipFill>
          <a:blip r:embed="rId5"/>
          <a:stretch>
            <a:fillRect/>
          </a:stretch>
        </p:blipFill>
        <p:spPr>
          <a:xfrm>
            <a:off x="9201150" y="2386584"/>
            <a:ext cx="292608" cy="292608"/>
          </a:xfrm>
          <a:prstGeom prst="rect">
            <a:avLst/>
          </a:prstGeom>
        </p:spPr>
      </p:pic>
      <p:sp>
        <p:nvSpPr>
          <p:cNvPr id="31" name="TextBox 30"/>
          <p:cNvSpPr txBox="1"/>
          <p:nvPr/>
        </p:nvSpPr>
        <p:spPr>
          <a:xfrm>
            <a:off x="9566910" y="2377440"/>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Стоимость сборки</a:t>
            </a:r>
          </a:p>
        </p:txBody>
      </p:sp>
      <p:sp>
        <p:nvSpPr>
          <p:cNvPr id="32" name="TextBox 31"/>
          <p:cNvSpPr txBox="1"/>
          <p:nvPr/>
        </p:nvSpPr>
        <p:spPr>
          <a:xfrm>
            <a:off x="9219438"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эмбеддинг + контекст к чанку; препроцессинг ~$1/1M токенов, разово на масштабе.</a:t>
            </a:r>
          </a:p>
        </p:txBody>
      </p:sp>
      <p:sp>
        <p:nvSpPr>
          <p:cNvPr id="33" name="TextBox 32"/>
          <p:cNvSpPr txBox="1"/>
          <p:nvPr/>
        </p:nvSpPr>
        <p:spPr>
          <a:xfrm>
            <a:off x="502920" y="3621024"/>
            <a:ext cx="5486400" cy="219456"/>
          </a:xfrm>
          <a:prstGeom prst="rect">
            <a:avLst/>
          </a:prstGeom>
          <a:noFill/>
        </p:spPr>
        <p:txBody>
          <a:bodyPr wrap="square" lIns="0" rIns="0" tIns="0" bIns="0" anchor="t">
            <a:spAutoFit/>
          </a:bodyPr>
          <a:lstStyle/>
          <a:p>
            <a:pPr algn="l">
              <a:lnSpc>
                <a:spcPct val="115000"/>
              </a:lnSpc>
            </a:pPr>
            <a:r>
              <a:rPr sz="1050" b="1" i="0">
                <a:solidFill>
                  <a:srgbClr val="028090"/>
                </a:solidFill>
                <a:latin typeface="Arial"/>
              </a:rPr>
              <a:t>QUERY-СТОРОНА + ЭКСПЛУАТАЦИЯ</a:t>
            </a:r>
          </a:p>
        </p:txBody>
      </p:sp>
      <p:sp>
        <p:nvSpPr>
          <p:cNvPr id="34" name="Rounded Rectangle 33"/>
          <p:cNvSpPr/>
          <p:nvPr/>
        </p:nvSpPr>
        <p:spPr>
          <a:xfrm>
            <a:off x="502920"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target-mid.png"/>
          <p:cNvPicPr>
            <a:picLocks noChangeAspect="1"/>
          </p:cNvPicPr>
          <p:nvPr/>
        </p:nvPicPr>
        <p:blipFill>
          <a:blip r:embed="rId6"/>
          <a:stretch>
            <a:fillRect/>
          </a:stretch>
        </p:blipFill>
        <p:spPr>
          <a:xfrm>
            <a:off x="649224" y="3959352"/>
            <a:ext cx="292608" cy="292608"/>
          </a:xfrm>
          <a:prstGeom prst="rect">
            <a:avLst/>
          </a:prstGeom>
        </p:spPr>
      </p:pic>
      <p:sp>
        <p:nvSpPr>
          <p:cNvPr id="36" name="TextBox 35"/>
          <p:cNvSpPr txBox="1"/>
          <p:nvPr/>
        </p:nvSpPr>
        <p:spPr>
          <a:xfrm>
            <a:off x="1014984" y="3950208"/>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Качество на масштабе</a:t>
            </a:r>
          </a:p>
        </p:txBody>
      </p:sp>
      <p:sp>
        <p:nvSpPr>
          <p:cNvPr id="37" name="TextBox 36"/>
          <p:cNvSpPr txBox="1"/>
          <p:nvPr/>
        </p:nvSpPr>
        <p:spPr>
          <a:xfrm>
            <a:off x="667512"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recall падает и дрейфует с ростом корпуса; «нашёл» ≠ «нашёл правильное».</a:t>
            </a:r>
          </a:p>
        </p:txBody>
      </p:sp>
      <p:sp>
        <p:nvSpPr>
          <p:cNvPr id="38" name="Rounded Rectangle 37"/>
          <p:cNvSpPr/>
          <p:nvPr/>
        </p:nvSpPr>
        <p:spPr>
          <a:xfrm>
            <a:off x="3353562"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liders-horizontal-mid.png"/>
          <p:cNvPicPr>
            <a:picLocks noChangeAspect="1"/>
          </p:cNvPicPr>
          <p:nvPr/>
        </p:nvPicPr>
        <p:blipFill>
          <a:blip r:embed="rId7"/>
          <a:stretch>
            <a:fillRect/>
          </a:stretch>
        </p:blipFill>
        <p:spPr>
          <a:xfrm>
            <a:off x="3499866" y="3959352"/>
            <a:ext cx="292608" cy="292608"/>
          </a:xfrm>
          <a:prstGeom prst="rect">
            <a:avLst/>
          </a:prstGeom>
        </p:spPr>
      </p:pic>
      <p:sp>
        <p:nvSpPr>
          <p:cNvPr id="40" name="TextBox 39"/>
          <p:cNvSpPr txBox="1"/>
          <p:nvPr/>
        </p:nvSpPr>
        <p:spPr>
          <a:xfrm>
            <a:off x="3865626" y="3950208"/>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Латентность / QPS</a:t>
            </a:r>
          </a:p>
        </p:txBody>
      </p:sp>
      <p:sp>
        <p:nvSpPr>
          <p:cNvPr id="41" name="TextBox 40"/>
          <p:cNvSpPr txBox="1"/>
          <p:nvPr/>
        </p:nvSpPr>
        <p:spPr>
          <a:xfrm>
            <a:off x="3518154"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конкурентные запросы + реранк на запросе; автоскейл опаздывает под пик.</a:t>
            </a:r>
          </a:p>
        </p:txBody>
      </p:sp>
      <p:sp>
        <p:nvSpPr>
          <p:cNvPr id="42" name="Rounded Rectangle 41"/>
          <p:cNvSpPr/>
          <p:nvPr/>
        </p:nvSpPr>
        <p:spPr>
          <a:xfrm>
            <a:off x="6204204"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terminal-mid.png"/>
          <p:cNvPicPr>
            <a:picLocks noChangeAspect="1"/>
          </p:cNvPicPr>
          <p:nvPr/>
        </p:nvPicPr>
        <p:blipFill>
          <a:blip r:embed="rId8"/>
          <a:stretch>
            <a:fillRect/>
          </a:stretch>
        </p:blipFill>
        <p:spPr>
          <a:xfrm>
            <a:off x="6350508" y="3959352"/>
            <a:ext cx="292608" cy="292608"/>
          </a:xfrm>
          <a:prstGeom prst="rect">
            <a:avLst/>
          </a:prstGeom>
        </p:spPr>
      </p:pic>
      <p:sp>
        <p:nvSpPr>
          <p:cNvPr id="44" name="TextBox 43"/>
          <p:cNvSpPr txBox="1"/>
          <p:nvPr/>
        </p:nvSpPr>
        <p:spPr>
          <a:xfrm>
            <a:off x="6716268" y="3950208"/>
            <a:ext cx="2027681" cy="310896"/>
          </a:xfrm>
          <a:prstGeom prst="rect">
            <a:avLst/>
          </a:prstGeom>
          <a:noFill/>
        </p:spPr>
        <p:txBody>
          <a:bodyPr wrap="square" lIns="0" rIns="0" tIns="0" bIns="0" anchor="ctr">
            <a:spAutoFit/>
          </a:bodyPr>
          <a:lstStyle/>
          <a:p>
            <a:pPr algn="l">
              <a:lnSpc>
                <a:spcPct val="115000"/>
              </a:lnSpc>
            </a:pPr>
            <a:r>
              <a:rPr sz="1200" b="1" i="0">
                <a:solidFill>
                  <a:srgbClr val="1C7293"/>
                </a:solidFill>
                <a:latin typeface="Arial"/>
              </a:rPr>
              <a:t>Наблюдаемость</a:t>
            </a:r>
          </a:p>
        </p:txBody>
      </p:sp>
      <p:sp>
        <p:nvSpPr>
          <p:cNvPr id="45" name="TextBox 44"/>
          <p:cNvSpPr txBox="1"/>
          <p:nvPr/>
        </p:nvSpPr>
        <p:spPr>
          <a:xfrm>
            <a:off x="6368796"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retrieval проваливается тихо, без ошибки — нужны метрики и трассировка запроса.</a:t>
            </a:r>
          </a:p>
        </p:txBody>
      </p:sp>
      <p:sp>
        <p:nvSpPr>
          <p:cNvPr id="46" name="Rounded Rectangle 45"/>
          <p:cNvSpPr/>
          <p:nvPr/>
        </p:nvSpPr>
        <p:spPr>
          <a:xfrm>
            <a:off x="9054846"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shield-check-mid.png"/>
          <p:cNvPicPr>
            <a:picLocks noChangeAspect="1"/>
          </p:cNvPicPr>
          <p:nvPr/>
        </p:nvPicPr>
        <p:blipFill>
          <a:blip r:embed="rId9"/>
          <a:stretch>
            <a:fillRect/>
          </a:stretch>
        </p:blipFill>
        <p:spPr>
          <a:xfrm>
            <a:off x="9201150" y="3959352"/>
            <a:ext cx="292608" cy="292608"/>
          </a:xfrm>
          <a:prstGeom prst="rect">
            <a:avLst/>
          </a:prstGeom>
        </p:spPr>
      </p:pic>
      <p:sp>
        <p:nvSpPr>
          <p:cNvPr id="48" name="TextBox 47"/>
          <p:cNvSpPr txBox="1"/>
          <p:nvPr/>
        </p:nvSpPr>
        <p:spPr>
          <a:xfrm>
            <a:off x="9566910" y="3950208"/>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Безопасность / доступ</a:t>
            </a:r>
          </a:p>
        </p:txBody>
      </p:sp>
      <p:sp>
        <p:nvSpPr>
          <p:cNvPr id="49" name="TextBox 48"/>
          <p:cNvSpPr txBox="1"/>
          <p:nvPr/>
        </p:nvSpPr>
        <p:spPr>
          <a:xfrm>
            <a:off x="9219438"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кто что вправе извлечь; PII в чанках; фильтр прав ДО поиска.</a:t>
            </a:r>
          </a:p>
        </p:txBody>
      </p:sp>
      <p:sp>
        <p:nvSpPr>
          <p:cNvPr id="50" name="Rounded Rectangle 49"/>
          <p:cNvSpPr/>
          <p:nvPr/>
        </p:nvSpPr>
        <p:spPr>
          <a:xfrm>
            <a:off x="502920" y="519379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248655"/>
            <a:ext cx="10799064" cy="6766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Каунтерфактуал: база под ~200k токенов целиком кладётся в промпт с кэшированием (до ~90% экономии) — retrieval пропускается вовсе. Первый вопрос перед всей инфраструктурой — «а нужен ли RAG вообще».</a:t>
            </a:r>
          </a:p>
        </p:txBody>
      </p:sp>
      <p:sp>
        <p:nvSpPr>
          <p:cNvPr id="52" name="TextBox 5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1"/>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2"/>
              </a:rPr>
              <a:t>futureagi — RAG Evaluation Metrics (recall@k ~0,8, nDCG, RAGAS)</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«RAG» в вакууме не существует — есть RAG под задачу.</a:t>
            </a:r>
          </a:p>
        </p:txBody>
      </p:sp>
      <p:sp>
        <p:nvSpPr>
          <p:cNvPr id="3" name="TextBox 2"/>
          <p:cNvSpPr txBox="1"/>
          <p:nvPr/>
        </p:nvSpPr>
        <p:spPr>
          <a:xfrm>
            <a:off x="502920" y="969264"/>
            <a:ext cx="11201400" cy="365760"/>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Пять архетипов, у каждого своя природа данных → свой retrieval-дизайн. Общий якорь: наивный dense-RAG промахивается ~40% запросов.</a:t>
            </a:r>
          </a:p>
        </p:txBody>
      </p:sp>
      <p:sp>
        <p:nvSpPr>
          <p:cNvPr id="4" name="Rounded Rectangle 3"/>
          <p:cNvSpPr/>
          <p:nvPr/>
        </p:nvSpPr>
        <p:spPr>
          <a:xfrm>
            <a:off x="502920" y="1481328"/>
            <a:ext cx="11201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54480"/>
            <a:ext cx="2532887"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Кейс · система</a:t>
            </a:r>
          </a:p>
        </p:txBody>
      </p:sp>
      <p:sp>
        <p:nvSpPr>
          <p:cNvPr id="6" name="TextBox 5"/>
          <p:cNvSpPr txBox="1"/>
          <p:nvPr/>
        </p:nvSpPr>
        <p:spPr>
          <a:xfrm>
            <a:off x="3383279" y="1554480"/>
            <a:ext cx="35661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Ключ дизайна</a:t>
            </a:r>
          </a:p>
        </p:txBody>
      </p:sp>
      <p:sp>
        <p:nvSpPr>
          <p:cNvPr id="7" name="TextBox 6"/>
          <p:cNvSpPr txBox="1"/>
          <p:nvPr/>
        </p:nvSpPr>
        <p:spPr>
          <a:xfrm>
            <a:off x="7132319" y="1554480"/>
            <a:ext cx="44805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Провал  →  чинит</a:t>
            </a:r>
          </a:p>
        </p:txBody>
      </p:sp>
      <p:sp>
        <p:nvSpPr>
          <p:cNvPr id="8" name="Rectangle 7"/>
          <p:cNvSpPr/>
          <p:nvPr/>
        </p:nvSpPr>
        <p:spPr>
          <a:xfrm>
            <a:off x="502920" y="1865376"/>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 y="2002536"/>
            <a:ext cx="384048" cy="45720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white.png"/>
          <p:cNvPicPr>
            <a:picLocks noChangeAspect="1"/>
          </p:cNvPicPr>
          <p:nvPr/>
        </p:nvPicPr>
        <p:blipFill>
          <a:blip r:embed="rId2"/>
          <a:stretch>
            <a:fillRect/>
          </a:stretch>
        </p:blipFill>
        <p:spPr>
          <a:xfrm>
            <a:off x="667512" y="2093976"/>
            <a:ext cx="274320" cy="274320"/>
          </a:xfrm>
          <a:prstGeom prst="rect">
            <a:avLst/>
          </a:prstGeom>
        </p:spPr>
      </p:pic>
      <p:sp>
        <p:nvSpPr>
          <p:cNvPr id="11" name="TextBox 10"/>
          <p:cNvSpPr txBox="1"/>
          <p:nvPr/>
        </p:nvSpPr>
        <p:spPr>
          <a:xfrm>
            <a:off x="1106424" y="197510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Поддержка / база</a:t>
            </a:r>
          </a:p>
        </p:txBody>
      </p:sp>
      <p:sp>
        <p:nvSpPr>
          <p:cNvPr id="12" name="TextBox 11"/>
          <p:cNvSpPr txBox="1"/>
          <p:nvPr/>
        </p:nvSpPr>
        <p:spPr>
          <a:xfrm>
            <a:off x="1106424" y="2286000"/>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kapa.ai · Stripe</a:t>
            </a:r>
          </a:p>
        </p:txBody>
      </p:sp>
      <p:sp>
        <p:nvSpPr>
          <p:cNvPr id="13" name="TextBox 12"/>
          <p:cNvSpPr txBox="1"/>
          <p:nvPr/>
        </p:nvSpPr>
        <p:spPr>
          <a:xfrm>
            <a:off x="3401568" y="1920240"/>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гибрид + реранк</a:t>
            </a:r>
          </a:p>
        </p:txBody>
      </p:sp>
      <p:sp>
        <p:nvSpPr>
          <p:cNvPr id="14" name="TextBox 13"/>
          <p:cNvSpPr txBox="1"/>
          <p:nvPr/>
        </p:nvSpPr>
        <p:spPr>
          <a:xfrm>
            <a:off x="7150607" y="193852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dense путает «backoff» и «dead-letter»</a:t>
            </a:r>
          </a:p>
          <a:p>
            <a:pPr algn="l">
              <a:lnSpc>
                <a:spcPct val="106000"/>
              </a:lnSpc>
              <a:spcBef>
                <a:spcPts val="200"/>
              </a:spcBef>
            </a:pPr>
            <a:r>
              <a:rPr sz="1100" b="1" i="0">
                <a:solidFill>
                  <a:srgbClr val="065A82"/>
                </a:solidFill>
                <a:latin typeface="Arial"/>
              </a:rPr>
              <a:t>→ BM25 ловит точный код ошибки</a:t>
            </a:r>
          </a:p>
        </p:txBody>
      </p:sp>
      <p:sp>
        <p:nvSpPr>
          <p:cNvPr id="15" name="Rectangle 14"/>
          <p:cNvSpPr/>
          <p:nvPr/>
        </p:nvSpPr>
        <p:spPr>
          <a:xfrm>
            <a:off x="502920" y="2596896"/>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 y="2734056"/>
            <a:ext cx="384048" cy="45720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le-text-white.png"/>
          <p:cNvPicPr>
            <a:picLocks noChangeAspect="1"/>
          </p:cNvPicPr>
          <p:nvPr/>
        </p:nvPicPr>
        <p:blipFill>
          <a:blip r:embed="rId3"/>
          <a:stretch>
            <a:fillRect/>
          </a:stretch>
        </p:blipFill>
        <p:spPr>
          <a:xfrm>
            <a:off x="667512" y="2825496"/>
            <a:ext cx="274320" cy="274320"/>
          </a:xfrm>
          <a:prstGeom prst="rect">
            <a:avLst/>
          </a:prstGeom>
        </p:spPr>
      </p:pic>
      <p:sp>
        <p:nvSpPr>
          <p:cNvPr id="18" name="TextBox 17"/>
          <p:cNvSpPr txBox="1"/>
          <p:nvPr/>
        </p:nvSpPr>
        <p:spPr>
          <a:xfrm>
            <a:off x="1106424" y="270662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Q&amp;A по докам</a:t>
            </a:r>
          </a:p>
        </p:txBody>
      </p:sp>
      <p:sp>
        <p:nvSpPr>
          <p:cNvPr id="19" name="TextBox 18"/>
          <p:cNvSpPr txBox="1"/>
          <p:nvPr/>
        </p:nvSpPr>
        <p:spPr>
          <a:xfrm>
            <a:off x="1106424" y="3017520"/>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Vercel docs-copilot</a:t>
            </a:r>
          </a:p>
        </p:txBody>
      </p:sp>
      <p:sp>
        <p:nvSpPr>
          <p:cNvPr id="20" name="TextBox 19"/>
          <p:cNvSpPr txBox="1"/>
          <p:nvPr/>
        </p:nvSpPr>
        <p:spPr>
          <a:xfrm>
            <a:off x="3401568" y="2651760"/>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источник ИЛИ отказ</a:t>
            </a:r>
          </a:p>
        </p:txBody>
      </p:sp>
      <p:sp>
        <p:nvSpPr>
          <p:cNvPr id="21" name="TextBox 20"/>
          <p:cNvSpPr txBox="1"/>
          <p:nvPr/>
        </p:nvSpPr>
        <p:spPr>
          <a:xfrm>
            <a:off x="7150607" y="267004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цитирует старую версию API</a:t>
            </a:r>
          </a:p>
          <a:p>
            <a:pPr algn="l">
              <a:lnSpc>
                <a:spcPct val="106000"/>
              </a:lnSpc>
              <a:spcBef>
                <a:spcPts val="200"/>
              </a:spcBef>
            </a:pPr>
            <a:r>
              <a:rPr sz="1100" b="1" i="0">
                <a:solidFill>
                  <a:srgbClr val="065A82"/>
                </a:solidFill>
                <a:latin typeface="Arial"/>
              </a:rPr>
              <a:t>→ свежесть + оценка в CI</a:t>
            </a:r>
          </a:p>
        </p:txBody>
      </p:sp>
      <p:sp>
        <p:nvSpPr>
          <p:cNvPr id="22" name="Rectangle 21"/>
          <p:cNvSpPr/>
          <p:nvPr/>
        </p:nvSpPr>
        <p:spPr>
          <a:xfrm>
            <a:off x="502920" y="3328415"/>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2648" y="3465575"/>
            <a:ext cx="384048" cy="45720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ode-white.png"/>
          <p:cNvPicPr>
            <a:picLocks noChangeAspect="1"/>
          </p:cNvPicPr>
          <p:nvPr/>
        </p:nvPicPr>
        <p:blipFill>
          <a:blip r:embed="rId4"/>
          <a:stretch>
            <a:fillRect/>
          </a:stretch>
        </p:blipFill>
        <p:spPr>
          <a:xfrm>
            <a:off x="667512" y="3557016"/>
            <a:ext cx="274320" cy="274320"/>
          </a:xfrm>
          <a:prstGeom prst="rect">
            <a:avLst/>
          </a:prstGeom>
        </p:spPr>
      </p:pic>
      <p:sp>
        <p:nvSpPr>
          <p:cNvPr id="25" name="TextBox 24"/>
          <p:cNvSpPr txBox="1"/>
          <p:nvPr/>
        </p:nvSpPr>
        <p:spPr>
          <a:xfrm>
            <a:off x="1106424" y="343814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Поиск по коду</a:t>
            </a:r>
          </a:p>
        </p:txBody>
      </p:sp>
      <p:sp>
        <p:nvSpPr>
          <p:cNvPr id="26" name="TextBox 25"/>
          <p:cNvSpPr txBox="1"/>
          <p:nvPr/>
        </p:nvSpPr>
        <p:spPr>
          <a:xfrm>
            <a:off x="1106424" y="374903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Cursor · Cody</a:t>
            </a:r>
          </a:p>
        </p:txBody>
      </p:sp>
      <p:sp>
        <p:nvSpPr>
          <p:cNvPr id="27" name="TextBox 26"/>
          <p:cNvSpPr txBox="1"/>
          <p:nvPr/>
        </p:nvSpPr>
        <p:spPr>
          <a:xfrm>
            <a:off x="3401568" y="338327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chunk по функции</a:t>
            </a:r>
          </a:p>
        </p:txBody>
      </p:sp>
      <p:sp>
        <p:nvSpPr>
          <p:cNvPr id="28" name="TextBox 27"/>
          <p:cNvSpPr txBox="1"/>
          <p:nvPr/>
        </p:nvSpPr>
        <p:spPr>
          <a:xfrm>
            <a:off x="7150607" y="340156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dense замыливает имя символа</a:t>
            </a:r>
          </a:p>
          <a:p>
            <a:pPr algn="l">
              <a:lnSpc>
                <a:spcPct val="106000"/>
              </a:lnSpc>
              <a:spcBef>
                <a:spcPts val="200"/>
              </a:spcBef>
            </a:pPr>
            <a:r>
              <a:rPr sz="1100" b="1" i="0">
                <a:solidFill>
                  <a:srgbClr val="065A82"/>
                </a:solidFill>
                <a:latin typeface="Arial"/>
              </a:rPr>
              <a:t>→ Cody убрал эмбеддинги → лексика</a:t>
            </a:r>
            <a:r>
              <a:rPr sz="572" baseline="30000" b="0" i="1">
                <a:latin typeface="Arial"/>
                <a:cs typeface="Arial"/>
                <a:ea typeface="Arial"/>
                <a:solidFill>
                  <a:srgbClr val="1C7293"/>
                </a:solidFill>
              </a:rPr>
              <a:t>[3]</a:t>
            </a:r>
          </a:p>
        </p:txBody>
      </p:sp>
      <p:sp>
        <p:nvSpPr>
          <p:cNvPr id="29" name="Rectangle 28"/>
          <p:cNvSpPr/>
          <p:nvPr/>
        </p:nvSpPr>
        <p:spPr>
          <a:xfrm>
            <a:off x="502920" y="4059935"/>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2648" y="4197096"/>
            <a:ext cx="384048" cy="457200"/>
          </a:xfrm>
          <a:prstGeom prst="roundRect">
            <a:avLst>
              <a:gd name="adj" fmla="val 2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vel-white.png"/>
          <p:cNvPicPr>
            <a:picLocks noChangeAspect="1"/>
          </p:cNvPicPr>
          <p:nvPr/>
        </p:nvPicPr>
        <p:blipFill>
          <a:blip r:embed="rId5"/>
          <a:stretch>
            <a:fillRect/>
          </a:stretch>
        </p:blipFill>
        <p:spPr>
          <a:xfrm>
            <a:off x="667512" y="4288536"/>
            <a:ext cx="274320" cy="274320"/>
          </a:xfrm>
          <a:prstGeom prst="rect">
            <a:avLst/>
          </a:prstGeom>
        </p:spPr>
      </p:pic>
      <p:sp>
        <p:nvSpPr>
          <p:cNvPr id="32" name="TextBox 31"/>
          <p:cNvSpPr txBox="1"/>
          <p:nvPr/>
        </p:nvSpPr>
        <p:spPr>
          <a:xfrm>
            <a:off x="1106424" y="4169663"/>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Юридический</a:t>
            </a:r>
          </a:p>
        </p:txBody>
      </p:sp>
      <p:sp>
        <p:nvSpPr>
          <p:cNvPr id="33" name="TextBox 32"/>
          <p:cNvSpPr txBox="1"/>
          <p:nvPr/>
        </p:nvSpPr>
        <p:spPr>
          <a:xfrm>
            <a:off x="1106424" y="448055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LexisNexis · Westlaw</a:t>
            </a:r>
          </a:p>
        </p:txBody>
      </p:sp>
      <p:sp>
        <p:nvSpPr>
          <p:cNvPr id="34" name="TextBox 33"/>
          <p:cNvSpPr txBox="1"/>
          <p:nvPr/>
        </p:nvSpPr>
        <p:spPr>
          <a:xfrm>
            <a:off x="3401568" y="411479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гибрид, BM25 для цитат</a:t>
            </a:r>
          </a:p>
        </p:txBody>
      </p:sp>
      <p:sp>
        <p:nvSpPr>
          <p:cNvPr id="35" name="TextBox 34"/>
          <p:cNvSpPr txBox="1"/>
          <p:nvPr/>
        </p:nvSpPr>
        <p:spPr>
          <a:xfrm>
            <a:off x="7150607" y="4133087"/>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17–33% галлюцинаций при «0%»</a:t>
            </a:r>
            <a:r>
              <a:rPr sz="572" baseline="30000" b="0" i="1">
                <a:latin typeface="Arial"/>
                <a:cs typeface="Arial"/>
                <a:ea typeface="Arial"/>
                <a:solidFill>
                  <a:srgbClr val="1C7293"/>
                </a:solidFill>
              </a:rPr>
              <a:t>[2]</a:t>
            </a:r>
          </a:p>
          <a:p>
            <a:pPr algn="l">
              <a:lnSpc>
                <a:spcPct val="106000"/>
              </a:lnSpc>
              <a:spcBef>
                <a:spcPts val="200"/>
              </a:spcBef>
            </a:pPr>
            <a:r>
              <a:rPr sz="1100" b="1" i="0">
                <a:solidFill>
                  <a:srgbClr val="065A82"/>
                </a:solidFill>
                <a:latin typeface="Arial"/>
              </a:rPr>
              <a:t>→ верификация цитат + человек</a:t>
            </a:r>
          </a:p>
        </p:txBody>
      </p:sp>
      <p:sp>
        <p:nvSpPr>
          <p:cNvPr id="36" name="Rectangle 35"/>
          <p:cNvSpPr/>
          <p:nvPr/>
        </p:nvSpPr>
        <p:spPr>
          <a:xfrm>
            <a:off x="502920" y="4791455"/>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2648" y="4928616"/>
            <a:ext cx="384048" cy="45720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xes-white.png"/>
          <p:cNvPicPr>
            <a:picLocks noChangeAspect="1"/>
          </p:cNvPicPr>
          <p:nvPr/>
        </p:nvPicPr>
        <p:blipFill>
          <a:blip r:embed="rId6"/>
          <a:stretch>
            <a:fillRect/>
          </a:stretch>
        </p:blipFill>
        <p:spPr>
          <a:xfrm>
            <a:off x="667512" y="5020055"/>
            <a:ext cx="274320" cy="274320"/>
          </a:xfrm>
          <a:prstGeom prst="rect">
            <a:avLst/>
          </a:prstGeom>
        </p:spPr>
      </p:pic>
      <p:sp>
        <p:nvSpPr>
          <p:cNvPr id="39" name="TextBox 38"/>
          <p:cNvSpPr txBox="1"/>
          <p:nvPr/>
        </p:nvSpPr>
        <p:spPr>
          <a:xfrm>
            <a:off x="1106424" y="4901183"/>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Корпоративный</a:t>
            </a:r>
          </a:p>
        </p:txBody>
      </p:sp>
      <p:sp>
        <p:nvSpPr>
          <p:cNvPr id="40" name="TextBox 39"/>
          <p:cNvSpPr txBox="1"/>
          <p:nvPr/>
        </p:nvSpPr>
        <p:spPr>
          <a:xfrm>
            <a:off x="1106424" y="521207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Glean · eSapiens</a:t>
            </a:r>
          </a:p>
        </p:txBody>
      </p:sp>
      <p:sp>
        <p:nvSpPr>
          <p:cNvPr id="41" name="TextBox 40"/>
          <p:cNvSpPr txBox="1"/>
          <p:nvPr/>
        </p:nvSpPr>
        <p:spPr>
          <a:xfrm>
            <a:off x="3401568" y="484631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роутер к Text-to-SQL</a:t>
            </a:r>
          </a:p>
        </p:txBody>
      </p:sp>
      <p:sp>
        <p:nvSpPr>
          <p:cNvPr id="42" name="TextBox 41"/>
          <p:cNvSpPr txBox="1"/>
          <p:nvPr/>
        </p:nvSpPr>
        <p:spPr>
          <a:xfrm>
            <a:off x="7150607" y="4864607"/>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эмбеддинг таблицы не суммирует</a:t>
            </a:r>
          </a:p>
          <a:p>
            <a:pPr algn="l">
              <a:lnSpc>
                <a:spcPct val="106000"/>
              </a:lnSpc>
              <a:spcBef>
                <a:spcPts val="200"/>
              </a:spcBef>
            </a:pPr>
            <a:r>
              <a:rPr sz="1100" b="1" i="0">
                <a:solidFill>
                  <a:srgbClr val="065A82"/>
                </a:solidFill>
                <a:latin typeface="Arial"/>
              </a:rPr>
              <a:t>→ числовой вопрос → SQL</a:t>
            </a:r>
          </a:p>
        </p:txBody>
      </p:sp>
      <p:sp>
        <p:nvSpPr>
          <p:cNvPr id="43" name="Rounded Rectangle 42"/>
          <p:cNvSpPr/>
          <p:nvPr/>
        </p:nvSpPr>
        <p:spPr>
          <a:xfrm>
            <a:off x="502920" y="5650991"/>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705855"/>
            <a:ext cx="10799064" cy="548640"/>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Два кейса — прямые «RAG был не тем инструментом»: Cody вернул классический поиск по коду; агрегирующий вопрос по таблице → SQL, а не «похожие чанки». Retrieval-дизайн выводится из природы данных.</a:t>
            </a:r>
            <a:r>
              <a:rPr sz="624" baseline="30000" b="0" i="1">
                <a:latin typeface="Arial"/>
                <a:cs typeface="Arial"/>
                <a:ea typeface="Arial"/>
                <a:solidFill>
                  <a:srgbClr val="1C7293"/>
                </a:solidFill>
              </a:rPr>
              <a:t>[1]</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Barnett et al. 2024 — Seven Failure Points (RAG-архетипы)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Stanford HAI/RegLab — Legal-AI галлюцинирует 17–33% (Lexis/Westlaw)</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10"/>
              </a:rPr>
              <a:t>Sourcegraph Cody — контекст без эмбеддингов (классический поиск)</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ТИПОВОЙ RAG-КЕЙС · deep research</a:t>
            </a:r>
          </a:p>
        </p:txBody>
      </p:sp>
      <p:sp>
        <p:nvSpPr>
          <p:cNvPr id="3" name="TextBox 2"/>
          <p:cNvSpPr txBox="1"/>
          <p:nvPr/>
        </p:nvSpPr>
        <p:spPr>
          <a:xfrm>
            <a:off x="502920" y="603504"/>
            <a:ext cx="11201400" cy="54864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Deep research — это RAG + петля, не «большой промпт».</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08000"/>
              </a:lnSpc>
            </a:pPr>
            <a:r>
              <a:rPr sz="1250" b="0" i="1">
                <a:solidFill>
                  <a:srgbClr val="065A82"/>
                </a:solidFill>
                <a:latin typeface="Arial"/>
              </a:rPr>
              <a:t>Определяющий компонент — retrieval и оркестрация, поэтому кейс здесь, а не в промптах. Как OpenAI Deep Research, Perplexity, Claude Research.</a:t>
            </a:r>
          </a:p>
        </p:txBody>
      </p:sp>
      <p:sp>
        <p:nvSpPr>
          <p:cNvPr id="5" name="Rounded Rectangle 4"/>
          <p:cNvSpPr/>
          <p:nvPr/>
        </p:nvSpPr>
        <p:spPr>
          <a:xfrm>
            <a:off x="502920" y="1645920"/>
            <a:ext cx="4160520" cy="4041648"/>
          </a:xfrm>
          <a:prstGeom prst="roundRect">
            <a:avLst>
              <a:gd name="adj" fmla="val 75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research-panik-ru.png"/>
          <p:cNvPicPr>
            <a:picLocks noChangeAspect="1"/>
          </p:cNvPicPr>
          <p:nvPr/>
        </p:nvPicPr>
        <p:blipFill>
          <a:blip r:embed="rId2"/>
          <a:stretch>
            <a:fillRect/>
          </a:stretch>
        </p:blipFill>
        <p:spPr>
          <a:xfrm>
            <a:off x="1261295" y="1847088"/>
            <a:ext cx="2643768" cy="3639312"/>
          </a:xfrm>
          <a:prstGeom prst="rect">
            <a:avLst/>
          </a:prstGeom>
        </p:spPr>
      </p:pic>
      <p:sp>
        <p:nvSpPr>
          <p:cNvPr id="7" name="Rounded Rectangle 6"/>
          <p:cNvSpPr/>
          <p:nvPr/>
        </p:nvSpPr>
        <p:spPr>
          <a:xfrm>
            <a:off x="4937760" y="1645920"/>
            <a:ext cx="6766560" cy="1481328"/>
          </a:xfrm>
          <a:prstGeom prst="roundRect">
            <a:avLst>
              <a:gd name="adj" fmla="val 20576"/>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ute-teal.png"/>
          <p:cNvPicPr>
            <a:picLocks noChangeAspect="1"/>
          </p:cNvPicPr>
          <p:nvPr/>
        </p:nvPicPr>
        <p:blipFill>
          <a:blip r:embed="rId3"/>
          <a:stretch>
            <a:fillRect/>
          </a:stretch>
        </p:blipFill>
        <p:spPr>
          <a:xfrm>
            <a:off x="5157216" y="1792224"/>
            <a:ext cx="347472" cy="347472"/>
          </a:xfrm>
          <a:prstGeom prst="rect">
            <a:avLst/>
          </a:prstGeom>
        </p:spPr>
      </p:pic>
      <p:sp>
        <p:nvSpPr>
          <p:cNvPr id="9" name="TextBox 8"/>
          <p:cNvSpPr txBox="1"/>
          <p:nvPr/>
        </p:nvSpPr>
        <p:spPr>
          <a:xfrm>
            <a:off x="5614416" y="1783080"/>
            <a:ext cx="5852160" cy="310896"/>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Reasoning-LLM + агентный цикл RAG</a:t>
            </a:r>
          </a:p>
        </p:txBody>
      </p:sp>
      <p:sp>
        <p:nvSpPr>
          <p:cNvPr id="10" name="TextBox 9"/>
          <p:cNvSpPr txBox="1"/>
          <p:nvPr/>
        </p:nvSpPr>
        <p:spPr>
          <a:xfrm>
            <a:off x="5157216" y="2157984"/>
            <a:ext cx="6327648" cy="402336"/>
          </a:xfrm>
          <a:prstGeom prst="rect">
            <a:avLst/>
          </a:prstGeom>
          <a:noFill/>
        </p:spPr>
        <p:txBody>
          <a:bodyPr wrap="square" lIns="0" rIns="0" tIns="0" bIns="0" anchor="t">
            <a:spAutoFit/>
          </a:bodyPr>
          <a:lstStyle/>
          <a:p>
            <a:pPr algn="l">
              <a:lnSpc>
                <a:spcPct val="110000"/>
              </a:lnSpc>
            </a:pPr>
            <a:r>
              <a:rPr sz="1200" b="1" i="0">
                <a:solidFill>
                  <a:srgbClr val="21295C"/>
                </a:solidFill>
                <a:latin typeface="Liberation Mono"/>
              </a:rPr>
              <a:t>план под-вопросов → (поиск → чтение → уточнение рассуждения)×N → синтез → верификация цитат</a:t>
            </a:r>
          </a:p>
        </p:txBody>
      </p:sp>
      <p:sp>
        <p:nvSpPr>
          <p:cNvPr id="11" name="TextBox 10"/>
          <p:cNvSpPr txBox="1"/>
          <p:nvPr/>
        </p:nvSpPr>
        <p:spPr>
          <a:xfrm>
            <a:off x="5157216" y="2615184"/>
            <a:ext cx="6327648" cy="438912"/>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Рассуждение направляет поиск, находки уточняют рассуждение — закрытая петля (agentic RAG)</a:t>
            </a:r>
            <a:r>
              <a:rPr sz="572" baseline="30000" b="0" i="1">
                <a:latin typeface="Arial"/>
                <a:cs typeface="Arial"/>
                <a:ea typeface="Arial"/>
                <a:solidFill>
                  <a:srgbClr val="1C7293"/>
                </a:solidFill>
              </a:rPr>
              <a:t>[1]</a:t>
            </a:r>
            <a:r>
              <a:rPr sz="1100" b="0" i="0">
                <a:latin typeface="Arial"/>
                <a:cs typeface="Arial"/>
                <a:ea typeface="Arial"/>
                <a:solidFill>
                  <a:srgbClr val="21295C"/>
                </a:solidFill>
              </a:rPr>
              <a:t>, в отличие от статического retrieve-top-k → generate.</a:t>
            </a:r>
          </a:p>
        </p:txBody>
      </p:sp>
      <p:sp>
        <p:nvSpPr>
          <p:cNvPr id="12" name="Rounded Rectangle 11"/>
          <p:cNvSpPr/>
          <p:nvPr/>
        </p:nvSpPr>
        <p:spPr>
          <a:xfrm>
            <a:off x="4937760" y="3255264"/>
            <a:ext cx="6766560" cy="13167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57216" y="3364992"/>
            <a:ext cx="632764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Типовой провал — фабрикация цитат</a:t>
            </a:r>
          </a:p>
        </p:txBody>
      </p:sp>
      <p:sp>
        <p:nvSpPr>
          <p:cNvPr id="14" name="TextBox 13"/>
          <p:cNvSpPr txBox="1"/>
          <p:nvPr/>
        </p:nvSpPr>
        <p:spPr>
          <a:xfrm>
            <a:off x="5157216" y="3675888"/>
            <a:ext cx="6327648" cy="822960"/>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3–13% URL сфабрикованы</a:t>
            </a:r>
            <a:r>
              <a:rPr sz="1150" b="0" i="0">
                <a:solidFill>
                  <a:srgbClr val="21295C"/>
                </a:solidFill>
                <a:latin typeface="Arial"/>
              </a:rPr>
              <a:t> (в retrieval-augmented режиме); DRACO: верхний результат ~65% качества цитат. Контринтуитивно: deep research хуже обычного поиска — </a:t>
            </a:r>
            <a:r>
              <a:rPr sz="1150" b="1" i="0">
                <a:solidFill>
                  <a:srgbClr val="21295C"/>
                </a:solidFill>
                <a:latin typeface="Arial"/>
              </a:rPr>
              <a:t>10,7% против 4,8%</a:t>
            </a:r>
            <a:r>
              <a:rPr sz="1150" b="0" i="0">
                <a:solidFill>
                  <a:srgbClr val="21295C"/>
                </a:solidFill>
                <a:latin typeface="Arial"/>
              </a:rPr>
              <a:t> фейковых цитат на запрос, потому что генерирует их кратно больше.</a:t>
            </a:r>
            <a:r>
              <a:rPr sz="598" baseline="30000" b="0" i="1">
                <a:latin typeface="Arial"/>
                <a:cs typeface="Arial"/>
                <a:ea typeface="Arial"/>
                <a:solidFill>
                  <a:srgbClr val="1C7293"/>
                </a:solidFill>
              </a:rPr>
              <a:t>[2]</a:t>
            </a:r>
          </a:p>
        </p:txBody>
      </p:sp>
      <p:sp>
        <p:nvSpPr>
          <p:cNvPr id="15" name="Rounded Rectangle 14"/>
          <p:cNvSpPr/>
          <p:nvPr/>
        </p:nvSpPr>
        <p:spPr>
          <a:xfrm>
            <a:off x="4937760" y="4700016"/>
            <a:ext cx="6766560" cy="9875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4754879"/>
            <a:ext cx="6364224" cy="87782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Против ручного аналитика — быстрее и дешевле, НО без слоя верификации 3–13% ссылок ложны. Любую метрику из ИИ-ресёрча перепроверяй по резолвящемуся первоисточнику; число без базы считай красным флагом, а не фактом.</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Multi-Agent Research System (агентный цикл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arXiv:2604.03173 — фабрикация цитат в retrieval-augmented (3–13%)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Наборы для оценки (golden set) — без них катастрофическое забывание не видно;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Стоимость обучения: важен порядок и характер роста, не точная цифра.</a:t>
            </a:r>
          </a:p>
        </p:txBody>
      </p:sp>
      <p:sp>
        <p:nvSpPr>
          <p:cNvPr id="3" name="TextBox 2"/>
          <p:cNvSpPr txBox="1"/>
          <p:nvPr/>
        </p:nvSpPr>
        <p:spPr>
          <a:xfrm>
            <a:off x="502920" y="1005840"/>
            <a:ext cx="11201400" cy="420624"/>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Значения относительные: Full-FT взят за базлайн ×1 по VRAM / $ / компьюту, остальные — доли от него. Абсолютные $ и часы движутся; смысл — порядок и характер роста.</a:t>
            </a:r>
          </a:p>
        </p:txBody>
      </p:sp>
      <p:sp>
        <p:nvSpPr>
          <p:cNvPr id="4" name="Rounded Rectangle 3"/>
          <p:cNvSpPr/>
          <p:nvPr/>
        </p:nvSpPr>
        <p:spPr>
          <a:xfrm>
            <a:off x="365760" y="1517904"/>
            <a:ext cx="11475720" cy="3639312"/>
          </a:xfrm>
          <a:prstGeom prst="roundRect">
            <a:avLst>
              <a:gd name="adj" fmla="val 83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09344"/>
            <a:ext cx="233172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9344"/>
            <a:ext cx="2185415"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Ось</a:t>
            </a:r>
          </a:p>
        </p:txBody>
      </p:sp>
      <p:sp>
        <p:nvSpPr>
          <p:cNvPr id="7" name="Rectangle 6"/>
          <p:cNvSpPr/>
          <p:nvPr/>
        </p:nvSpPr>
        <p:spPr>
          <a:xfrm>
            <a:off x="2807208" y="1609344"/>
            <a:ext cx="2084831"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0360" y="1609344"/>
            <a:ext cx="1938527"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Претрейн с нуля</a:t>
            </a:r>
          </a:p>
        </p:txBody>
      </p:sp>
      <p:sp>
        <p:nvSpPr>
          <p:cNvPr id="9" name="Rectangle 8"/>
          <p:cNvSpPr/>
          <p:nvPr/>
        </p:nvSpPr>
        <p:spPr>
          <a:xfrm>
            <a:off x="4892040" y="1609344"/>
            <a:ext cx="1700784"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65192" y="1609344"/>
            <a:ext cx="1554480"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Full-FT</a:t>
            </a:r>
          </a:p>
        </p:txBody>
      </p:sp>
      <p:sp>
        <p:nvSpPr>
          <p:cNvPr id="11" name="Rectangle 10"/>
          <p:cNvSpPr/>
          <p:nvPr/>
        </p:nvSpPr>
        <p:spPr>
          <a:xfrm>
            <a:off x="6592824" y="1609344"/>
            <a:ext cx="1810512" cy="38404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5976" y="1609344"/>
            <a:ext cx="1664208" cy="384048"/>
          </a:xfrm>
          <a:prstGeom prst="rect">
            <a:avLst/>
          </a:prstGeom>
          <a:noFill/>
        </p:spPr>
        <p:txBody>
          <a:bodyPr wrap="square" lIns="0" rIns="0" tIns="0" bIns="0" anchor="ctr">
            <a:spAutoFit/>
          </a:bodyPr>
          <a:lstStyle/>
          <a:p>
            <a:pPr algn="ctr">
              <a:lnSpc>
                <a:spcPct val="100000"/>
              </a:lnSpc>
            </a:pPr>
            <a:r>
              <a:rPr sz="1100" b="1" i="0">
                <a:solidFill>
                  <a:srgbClr val="21295C"/>
                </a:solidFill>
                <a:latin typeface="Arial"/>
              </a:rPr>
              <a:t>LoRA</a:t>
            </a:r>
          </a:p>
        </p:txBody>
      </p:sp>
      <p:sp>
        <p:nvSpPr>
          <p:cNvPr id="13" name="Rectangle 12"/>
          <p:cNvSpPr/>
          <p:nvPr/>
        </p:nvSpPr>
        <p:spPr>
          <a:xfrm>
            <a:off x="8403336" y="1609344"/>
            <a:ext cx="1737360"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6488" y="1609344"/>
            <a:ext cx="1591056"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QLoRA</a:t>
            </a:r>
          </a:p>
        </p:txBody>
      </p:sp>
      <p:sp>
        <p:nvSpPr>
          <p:cNvPr id="15" name="Rectangle 14"/>
          <p:cNvSpPr/>
          <p:nvPr/>
        </p:nvSpPr>
        <p:spPr>
          <a:xfrm>
            <a:off x="10140696" y="1609344"/>
            <a:ext cx="1591056" cy="38404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13848" y="1609344"/>
            <a:ext cx="1444752" cy="384048"/>
          </a:xfrm>
          <a:prstGeom prst="rect">
            <a:avLst/>
          </a:prstGeom>
          <a:noFill/>
        </p:spPr>
        <p:txBody>
          <a:bodyPr wrap="square" lIns="0" rIns="0" tIns="0" bIns="0" anchor="ctr">
            <a:spAutoFit/>
          </a:bodyPr>
          <a:lstStyle/>
          <a:p>
            <a:pPr algn="ctr">
              <a:lnSpc>
                <a:spcPct val="100000"/>
              </a:lnSpc>
            </a:pPr>
            <a:r>
              <a:rPr sz="1100" b="1" i="0">
                <a:solidFill>
                  <a:srgbClr val="FFFFFF"/>
                </a:solidFill>
                <a:latin typeface="Arial"/>
              </a:rPr>
              <a:t>Промпт+RAG</a:t>
            </a:r>
          </a:p>
        </p:txBody>
      </p:sp>
      <p:sp>
        <p:nvSpPr>
          <p:cNvPr id="17" name="Rectangle 16"/>
          <p:cNvSpPr/>
          <p:nvPr/>
        </p:nvSpPr>
        <p:spPr>
          <a:xfrm>
            <a:off x="475488" y="1993392"/>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1993392"/>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Обучаемые параметры</a:t>
            </a:r>
          </a:p>
        </p:txBody>
      </p:sp>
      <p:sp>
        <p:nvSpPr>
          <p:cNvPr id="19" name="Rectangle 18"/>
          <p:cNvSpPr/>
          <p:nvPr/>
        </p:nvSpPr>
        <p:spPr>
          <a:xfrm>
            <a:off x="2807208" y="1993392"/>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993392"/>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 (с нуля)</a:t>
            </a:r>
          </a:p>
        </p:txBody>
      </p:sp>
      <p:sp>
        <p:nvSpPr>
          <p:cNvPr id="21" name="Rectangle 20"/>
          <p:cNvSpPr/>
          <p:nvPr/>
        </p:nvSpPr>
        <p:spPr>
          <a:xfrm>
            <a:off x="4892040" y="1993392"/>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2" y="1993392"/>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 весов</a:t>
            </a:r>
          </a:p>
        </p:txBody>
      </p:sp>
      <p:sp>
        <p:nvSpPr>
          <p:cNvPr id="23" name="Rectangle 22"/>
          <p:cNvSpPr/>
          <p:nvPr/>
        </p:nvSpPr>
        <p:spPr>
          <a:xfrm>
            <a:off x="6592824" y="1993392"/>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1993392"/>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~0,1–1%</a:t>
            </a:r>
          </a:p>
        </p:txBody>
      </p:sp>
      <p:sp>
        <p:nvSpPr>
          <p:cNvPr id="25" name="Rectangle 24"/>
          <p:cNvSpPr/>
          <p:nvPr/>
        </p:nvSpPr>
        <p:spPr>
          <a:xfrm>
            <a:off x="8403336" y="1993392"/>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76488" y="1993392"/>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~0,1–1%</a:t>
            </a:r>
          </a:p>
        </p:txBody>
      </p:sp>
      <p:sp>
        <p:nvSpPr>
          <p:cNvPr id="27" name="Rectangle 26"/>
          <p:cNvSpPr/>
          <p:nvPr/>
        </p:nvSpPr>
        <p:spPr>
          <a:xfrm>
            <a:off x="10140696" y="1993392"/>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1993392"/>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 — веса
не меняются</a:t>
            </a:r>
          </a:p>
        </p:txBody>
      </p:sp>
      <p:sp>
        <p:nvSpPr>
          <p:cNvPr id="29" name="Rectangle 28"/>
          <p:cNvSpPr/>
          <p:nvPr/>
        </p:nvSpPr>
        <p:spPr>
          <a:xfrm>
            <a:off x="475488" y="2505456"/>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505456"/>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VRAM (память)</a:t>
            </a:r>
          </a:p>
        </p:txBody>
      </p:sp>
      <p:sp>
        <p:nvSpPr>
          <p:cNvPr id="31" name="Rectangle 30"/>
          <p:cNvSpPr/>
          <p:nvPr/>
        </p:nvSpPr>
        <p:spPr>
          <a:xfrm>
            <a:off x="2807208" y="2505456"/>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80360" y="2505456"/>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кластер</a:t>
            </a:r>
          </a:p>
        </p:txBody>
      </p:sp>
      <p:sp>
        <p:nvSpPr>
          <p:cNvPr id="33" name="Rectangle 32"/>
          <p:cNvSpPr/>
          <p:nvPr/>
        </p:nvSpPr>
        <p:spPr>
          <a:xfrm>
            <a:off x="4892040" y="2505456"/>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65192" y="2505456"/>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(базлайн)</a:t>
            </a:r>
          </a:p>
        </p:txBody>
      </p:sp>
      <p:sp>
        <p:nvSpPr>
          <p:cNvPr id="35" name="Rectangle 34"/>
          <p:cNvSpPr/>
          <p:nvPr/>
        </p:nvSpPr>
        <p:spPr>
          <a:xfrm>
            <a:off x="6592824" y="2505456"/>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65976" y="2505456"/>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~×0,2</a:t>
            </a:r>
          </a:p>
        </p:txBody>
      </p:sp>
      <p:sp>
        <p:nvSpPr>
          <p:cNvPr id="37" name="Rectangle 36"/>
          <p:cNvSpPr/>
          <p:nvPr/>
        </p:nvSpPr>
        <p:spPr>
          <a:xfrm>
            <a:off x="8403336" y="2505456"/>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76488" y="2505456"/>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~×0,05</a:t>
            </a:r>
          </a:p>
        </p:txBody>
      </p:sp>
      <p:sp>
        <p:nvSpPr>
          <p:cNvPr id="39" name="Rectangle 38"/>
          <p:cNvSpPr/>
          <p:nvPr/>
        </p:nvSpPr>
        <p:spPr>
          <a:xfrm>
            <a:off x="10140696" y="2505456"/>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13848" y="2505456"/>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только
инференс</a:t>
            </a:r>
          </a:p>
        </p:txBody>
      </p:sp>
      <p:sp>
        <p:nvSpPr>
          <p:cNvPr id="41" name="Rectangle 40"/>
          <p:cNvSpPr/>
          <p:nvPr/>
        </p:nvSpPr>
        <p:spPr>
          <a:xfrm>
            <a:off x="475488" y="3017520"/>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017520"/>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 за прогон</a:t>
            </a:r>
          </a:p>
        </p:txBody>
      </p:sp>
      <p:sp>
        <p:nvSpPr>
          <p:cNvPr id="43" name="Rectangle 42"/>
          <p:cNvSpPr/>
          <p:nvPr/>
        </p:nvSpPr>
        <p:spPr>
          <a:xfrm>
            <a:off x="2807208" y="3017520"/>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80360" y="3017520"/>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×1000+</a:t>
            </a:r>
          </a:p>
        </p:txBody>
      </p:sp>
      <p:sp>
        <p:nvSpPr>
          <p:cNvPr id="45" name="Rectangle 44"/>
          <p:cNvSpPr/>
          <p:nvPr/>
        </p:nvSpPr>
        <p:spPr>
          <a:xfrm>
            <a:off x="4892040" y="3017520"/>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65192" y="3017520"/>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(базлайн)</a:t>
            </a:r>
          </a:p>
        </p:txBody>
      </p:sp>
      <p:sp>
        <p:nvSpPr>
          <p:cNvPr id="47" name="Rectangle 46"/>
          <p:cNvSpPr/>
          <p:nvPr/>
        </p:nvSpPr>
        <p:spPr>
          <a:xfrm>
            <a:off x="6592824" y="3017520"/>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65976" y="3017520"/>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~×0,01</a:t>
            </a:r>
          </a:p>
        </p:txBody>
      </p:sp>
      <p:sp>
        <p:nvSpPr>
          <p:cNvPr id="49" name="Rectangle 48"/>
          <p:cNvSpPr/>
          <p:nvPr/>
        </p:nvSpPr>
        <p:spPr>
          <a:xfrm>
            <a:off x="8403336" y="3017520"/>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76488" y="3017520"/>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~×0,01</a:t>
            </a:r>
          </a:p>
        </p:txBody>
      </p:sp>
      <p:sp>
        <p:nvSpPr>
          <p:cNvPr id="51" name="Rectangle 50"/>
          <p:cNvSpPr/>
          <p:nvPr/>
        </p:nvSpPr>
        <p:spPr>
          <a:xfrm>
            <a:off x="10140696" y="3017520"/>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13848" y="3017520"/>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a:t>
            </a:r>
          </a:p>
        </p:txBody>
      </p:sp>
      <p:sp>
        <p:nvSpPr>
          <p:cNvPr id="53" name="Rectangle 52"/>
          <p:cNvSpPr/>
          <p:nvPr/>
        </p:nvSpPr>
        <p:spPr>
          <a:xfrm>
            <a:off x="475488" y="3529584"/>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8640" y="3529584"/>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Компьют (GPU-часы)</a:t>
            </a:r>
          </a:p>
        </p:txBody>
      </p:sp>
      <p:sp>
        <p:nvSpPr>
          <p:cNvPr id="55" name="Rectangle 54"/>
          <p:cNvSpPr/>
          <p:nvPr/>
        </p:nvSpPr>
        <p:spPr>
          <a:xfrm>
            <a:off x="2807208" y="3529584"/>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80360" y="3529584"/>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×1000+</a:t>
            </a:r>
          </a:p>
        </p:txBody>
      </p:sp>
      <p:sp>
        <p:nvSpPr>
          <p:cNvPr id="57" name="Rectangle 56"/>
          <p:cNvSpPr/>
          <p:nvPr/>
        </p:nvSpPr>
        <p:spPr>
          <a:xfrm>
            <a:off x="4892040" y="3529584"/>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65192" y="3529584"/>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(базлайн)</a:t>
            </a:r>
          </a:p>
        </p:txBody>
      </p:sp>
      <p:sp>
        <p:nvSpPr>
          <p:cNvPr id="59" name="Rectangle 58"/>
          <p:cNvSpPr/>
          <p:nvPr/>
        </p:nvSpPr>
        <p:spPr>
          <a:xfrm>
            <a:off x="6592824" y="3529584"/>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65976" y="3529584"/>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~×0,01</a:t>
            </a:r>
          </a:p>
        </p:txBody>
      </p:sp>
      <p:sp>
        <p:nvSpPr>
          <p:cNvPr id="61" name="Rectangle 60"/>
          <p:cNvSpPr/>
          <p:nvPr/>
        </p:nvSpPr>
        <p:spPr>
          <a:xfrm>
            <a:off x="8403336" y="3529584"/>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76488" y="3529584"/>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~×0,01</a:t>
            </a:r>
          </a:p>
        </p:txBody>
      </p:sp>
      <p:sp>
        <p:nvSpPr>
          <p:cNvPr id="63" name="Rectangle 62"/>
          <p:cNvSpPr/>
          <p:nvPr/>
        </p:nvSpPr>
        <p:spPr>
          <a:xfrm>
            <a:off x="10140696" y="3529584"/>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213848" y="3529584"/>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~0</a:t>
            </a:r>
          </a:p>
        </p:txBody>
      </p:sp>
      <p:sp>
        <p:nvSpPr>
          <p:cNvPr id="65" name="Rectangle 64"/>
          <p:cNvSpPr/>
          <p:nvPr/>
        </p:nvSpPr>
        <p:spPr>
          <a:xfrm>
            <a:off x="475488" y="4041648"/>
            <a:ext cx="233172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8640" y="4041648"/>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Объём данных</a:t>
            </a:r>
          </a:p>
        </p:txBody>
      </p:sp>
      <p:sp>
        <p:nvSpPr>
          <p:cNvPr id="67" name="Rectangle 66"/>
          <p:cNvSpPr/>
          <p:nvPr/>
        </p:nvSpPr>
        <p:spPr>
          <a:xfrm>
            <a:off x="2807208" y="4041648"/>
            <a:ext cx="2084831"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880360" y="4041648"/>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триллионы
токенов</a:t>
            </a:r>
          </a:p>
        </p:txBody>
      </p:sp>
      <p:sp>
        <p:nvSpPr>
          <p:cNvPr id="69" name="Rectangle 68"/>
          <p:cNvSpPr/>
          <p:nvPr/>
        </p:nvSpPr>
        <p:spPr>
          <a:xfrm>
            <a:off x="4892040" y="4041648"/>
            <a:ext cx="1700784"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65192" y="4041648"/>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тысячи–
десятки тыс.</a:t>
            </a:r>
          </a:p>
        </p:txBody>
      </p:sp>
      <p:sp>
        <p:nvSpPr>
          <p:cNvPr id="71" name="Rectangle 70"/>
          <p:cNvSpPr/>
          <p:nvPr/>
        </p:nvSpPr>
        <p:spPr>
          <a:xfrm>
            <a:off x="6592824" y="4041648"/>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665976" y="4041648"/>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тысячи–
десятки тыс.</a:t>
            </a:r>
          </a:p>
        </p:txBody>
      </p:sp>
      <p:sp>
        <p:nvSpPr>
          <p:cNvPr id="73" name="Rectangle 72"/>
          <p:cNvSpPr/>
          <p:nvPr/>
        </p:nvSpPr>
        <p:spPr>
          <a:xfrm>
            <a:off x="8403336" y="4041648"/>
            <a:ext cx="1737360"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476488" y="4041648"/>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как LoRA</a:t>
            </a:r>
          </a:p>
        </p:txBody>
      </p:sp>
      <p:sp>
        <p:nvSpPr>
          <p:cNvPr id="75" name="Rectangle 74"/>
          <p:cNvSpPr/>
          <p:nvPr/>
        </p:nvSpPr>
        <p:spPr>
          <a:xfrm>
            <a:off x="10140696" y="4041648"/>
            <a:ext cx="1591056" cy="512063"/>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213848" y="4041648"/>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few-shot
(3–20)</a:t>
            </a:r>
          </a:p>
        </p:txBody>
      </p:sp>
      <p:sp>
        <p:nvSpPr>
          <p:cNvPr id="77" name="Rectangle 76"/>
          <p:cNvSpPr/>
          <p:nvPr/>
        </p:nvSpPr>
        <p:spPr>
          <a:xfrm>
            <a:off x="475488" y="4553712"/>
            <a:ext cx="233172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48640" y="4553712"/>
            <a:ext cx="2185415" cy="512063"/>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Скорость итерации</a:t>
            </a:r>
          </a:p>
        </p:txBody>
      </p:sp>
      <p:sp>
        <p:nvSpPr>
          <p:cNvPr id="79" name="Rectangle 78"/>
          <p:cNvSpPr/>
          <p:nvPr/>
        </p:nvSpPr>
        <p:spPr>
          <a:xfrm>
            <a:off x="2807208" y="4553712"/>
            <a:ext cx="2084831"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80360" y="4553712"/>
            <a:ext cx="1938527"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месяцы</a:t>
            </a:r>
          </a:p>
        </p:txBody>
      </p:sp>
      <p:sp>
        <p:nvSpPr>
          <p:cNvPr id="81" name="Rectangle 80"/>
          <p:cNvSpPr/>
          <p:nvPr/>
        </p:nvSpPr>
        <p:spPr>
          <a:xfrm>
            <a:off x="4892040" y="4553712"/>
            <a:ext cx="1700784"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965192" y="4553712"/>
            <a:ext cx="1554480"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медленно</a:t>
            </a:r>
          </a:p>
        </p:txBody>
      </p:sp>
      <p:sp>
        <p:nvSpPr>
          <p:cNvPr id="83" name="Rectangle 82"/>
          <p:cNvSpPr/>
          <p:nvPr/>
        </p:nvSpPr>
        <p:spPr>
          <a:xfrm>
            <a:off x="6592824" y="4553712"/>
            <a:ext cx="1810512" cy="512063"/>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665976" y="4553712"/>
            <a:ext cx="1664208" cy="512063"/>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быстро</a:t>
            </a:r>
          </a:p>
        </p:txBody>
      </p:sp>
      <p:sp>
        <p:nvSpPr>
          <p:cNvPr id="85" name="Rectangle 84"/>
          <p:cNvSpPr/>
          <p:nvPr/>
        </p:nvSpPr>
        <p:spPr>
          <a:xfrm>
            <a:off x="8403336" y="4553712"/>
            <a:ext cx="1737360"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476488" y="4553712"/>
            <a:ext cx="1591056"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быстро</a:t>
            </a:r>
          </a:p>
        </p:txBody>
      </p:sp>
      <p:sp>
        <p:nvSpPr>
          <p:cNvPr id="87" name="Rectangle 86"/>
          <p:cNvSpPr/>
          <p:nvPr/>
        </p:nvSpPr>
        <p:spPr>
          <a:xfrm>
            <a:off x="10140696" y="4553712"/>
            <a:ext cx="1591056" cy="512063"/>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213848" y="4553712"/>
            <a:ext cx="1444752" cy="512063"/>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мгновенно</a:t>
            </a:r>
          </a:p>
        </p:txBody>
      </p:sp>
      <p:sp>
        <p:nvSpPr>
          <p:cNvPr id="89" name="Rounded Rectangle 88"/>
          <p:cNvSpPr/>
          <p:nvPr/>
        </p:nvSpPr>
        <p:spPr>
          <a:xfrm>
            <a:off x="502920" y="5285232"/>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4088" y="5340096"/>
            <a:ext cx="10799064" cy="78638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LoRA — дефолт: обучает ~0,1–1% параметров, ~×0,01 по цене / компьюту и ~×0,2 по VRAM от Full-FT — 7B-LoRA &lt;$10 — дешевле фронтир-претрейна ($61–92M) на ~7 порядков</a:t>
            </a:r>
            <a:r>
              <a:rPr sz="624" baseline="30000" b="0" i="1">
                <a:latin typeface="Arial"/>
                <a:cs typeface="Arial"/>
                <a:ea typeface="Arial"/>
                <a:solidFill>
                  <a:srgbClr val="1C7293"/>
                </a:solidFill>
              </a:rPr>
              <a:t>[1]</a:t>
            </a:r>
            <a:r>
              <a:rPr sz="1200" b="1" i="0">
                <a:latin typeface="Arial"/>
                <a:cs typeface="Arial"/>
                <a:ea typeface="Arial"/>
                <a:solidFill>
                  <a:srgbClr val="21295C"/>
                </a:solidFill>
              </a:rPr>
              <a:t>. Full-FT оправдан лишь когда датасет превышает ёмкость LoRA — иначе только ×5–6 памяти и риск забывания. QLoRA — тот же LoRA поверх 4-битной базы: 65B влезает в одну 48-ГБ карту</a:t>
            </a:r>
            <a:r>
              <a:rPr sz="624" baseline="30000" b="0" i="1">
                <a:latin typeface="Arial"/>
                <a:cs typeface="Arial"/>
                <a:ea typeface="Arial"/>
                <a:solidFill>
                  <a:srgbClr val="1C7293"/>
                </a:solidFill>
              </a:rPr>
              <a:t>[2]</a:t>
            </a:r>
            <a:r>
              <a:rPr sz="1200" b="1" i="0">
                <a:latin typeface="Arial"/>
                <a:cs typeface="Arial"/>
                <a:ea typeface="Arial"/>
                <a:solidFill>
                  <a:srgbClr val="21295C"/>
                </a:solidFill>
              </a:rPr>
              <a:t>.</a:t>
            </a:r>
          </a:p>
        </p:txBody>
      </p:sp>
      <p:sp>
        <p:nvSpPr>
          <p:cNvPr id="91" name="TextBox 9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Относительные величины, Full-FT = базлайн ×1; конкретные $ и часы движутся — важен порядок и характер роста, не точная цифра.</a:t>
            </a:r>
          </a:p>
        </p:txBody>
      </p:sp>
      <p:sp>
        <p:nvSpPr>
          <p:cNvPr id="92" name="TextBox 9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Дистилляция — это дообучение маленькой модели: отличается целью и данными, не тем, что «не обучение».</a:t>
            </a:r>
          </a:p>
        </p:txBody>
      </p:sp>
      <p:sp>
        <p:nvSpPr>
          <p:cNvPr id="3" name="TextBox 2"/>
          <p:cNvSpPr txBox="1"/>
          <p:nvPr/>
        </p:nvSpPr>
        <p:spPr>
          <a:xfrm>
            <a:off x="502920" y="1152144"/>
            <a:ext cx="7818120" cy="512064"/>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Ученика действительно дообучают, поэтому «это дообучение» и «это дистилляция» истинны одновременно. Отличие от обычного fine-tuning — не в «обучают/не обучают», а в двух осях ниже.</a:t>
            </a:r>
          </a:p>
        </p:txBody>
      </p:sp>
      <p:sp>
        <p:nvSpPr>
          <p:cNvPr id="4" name="Rounded Rectangle 3"/>
          <p:cNvSpPr/>
          <p:nvPr/>
        </p:nvSpPr>
        <p:spPr>
          <a:xfrm>
            <a:off x="502920" y="1810512"/>
            <a:ext cx="7818120" cy="1792224"/>
          </a:xfrm>
          <a:prstGeom prst="roundRect">
            <a:avLst>
              <a:gd name="adj" fmla="val 170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2212848"/>
            <a:ext cx="2103120" cy="1170432"/>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618487" y="2322576"/>
            <a:ext cx="329184" cy="329184"/>
          </a:xfrm>
          <a:prstGeom prst="rect">
            <a:avLst/>
          </a:prstGeom>
        </p:spPr>
      </p:pic>
      <p:sp>
        <p:nvSpPr>
          <p:cNvPr id="7" name="TextBox 6"/>
          <p:cNvSpPr txBox="1"/>
          <p:nvPr/>
        </p:nvSpPr>
        <p:spPr>
          <a:xfrm>
            <a:off x="822959" y="2706624"/>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Учитель (teacher)</a:t>
            </a:r>
          </a:p>
        </p:txBody>
      </p:sp>
      <p:sp>
        <p:nvSpPr>
          <p:cNvPr id="8" name="TextBox 7"/>
          <p:cNvSpPr txBox="1"/>
          <p:nvPr/>
        </p:nvSpPr>
        <p:spPr>
          <a:xfrm>
            <a:off x="841247" y="2980944"/>
            <a:ext cx="1920239" cy="365760"/>
          </a:xfrm>
          <a:prstGeom prst="rect">
            <a:avLst/>
          </a:prstGeom>
          <a:noFill/>
        </p:spPr>
        <p:txBody>
          <a:bodyPr wrap="square" lIns="0" rIns="0" tIns="0" bIns="0" anchor="t">
            <a:spAutoFit/>
          </a:bodyPr>
          <a:lstStyle/>
          <a:p>
            <a:pPr algn="ctr">
              <a:lnSpc>
                <a:spcPct val="102000"/>
              </a:lnSpc>
            </a:pPr>
            <a:r>
              <a:rPr sz="1050" b="0" i="1">
                <a:solidFill>
                  <a:srgbClr val="5B6678"/>
                </a:solidFill>
                <a:latin typeface="Arial"/>
              </a:rPr>
              <a:t>большая, сильная модель</a:t>
            </a:r>
          </a:p>
        </p:txBody>
      </p:sp>
      <p:sp>
        <p:nvSpPr>
          <p:cNvPr id="9" name="TextBox 8"/>
          <p:cNvSpPr txBox="1"/>
          <p:nvPr/>
        </p:nvSpPr>
        <p:spPr>
          <a:xfrm>
            <a:off x="2468879" y="1865376"/>
            <a:ext cx="1737360" cy="310896"/>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soft logits →</a:t>
            </a:r>
          </a:p>
        </p:txBody>
      </p:sp>
      <p:sp>
        <p:nvSpPr>
          <p:cNvPr id="10" name="Right Arrow 9"/>
          <p:cNvSpPr/>
          <p:nvPr/>
        </p:nvSpPr>
        <p:spPr>
          <a:xfrm>
            <a:off x="2980944" y="2642616"/>
            <a:ext cx="71323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13048" y="2212848"/>
            <a:ext cx="2103120" cy="11704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709160" y="2322576"/>
            <a:ext cx="292608" cy="292608"/>
          </a:xfrm>
          <a:prstGeom prst="rect">
            <a:avLst/>
          </a:prstGeom>
        </p:spPr>
      </p:pic>
      <p:sp>
        <p:nvSpPr>
          <p:cNvPr id="13" name="TextBox 12"/>
          <p:cNvSpPr txBox="1"/>
          <p:nvPr/>
        </p:nvSpPr>
        <p:spPr>
          <a:xfrm>
            <a:off x="3886200" y="2688336"/>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Ученик (student)</a:t>
            </a:r>
          </a:p>
        </p:txBody>
      </p:sp>
      <p:sp>
        <p:nvSpPr>
          <p:cNvPr id="14" name="TextBox 13"/>
          <p:cNvSpPr txBox="1"/>
          <p:nvPr/>
        </p:nvSpPr>
        <p:spPr>
          <a:xfrm>
            <a:off x="3904487" y="2962656"/>
            <a:ext cx="1920239" cy="384048"/>
          </a:xfrm>
          <a:prstGeom prst="rect">
            <a:avLst/>
          </a:prstGeom>
          <a:noFill/>
        </p:spPr>
        <p:txBody>
          <a:bodyPr wrap="square" lIns="0" rIns="0" tIns="0" bIns="0" anchor="t">
            <a:spAutoFit/>
          </a:bodyPr>
          <a:lstStyle/>
          <a:p>
            <a:pPr algn="ctr">
              <a:lnSpc>
                <a:spcPct val="102000"/>
              </a:lnSpc>
            </a:pPr>
            <a:r>
              <a:rPr sz="1000" b="0" i="1">
                <a:solidFill>
                  <a:srgbClr val="21295C"/>
                </a:solidFill>
                <a:latin typeface="Arial"/>
              </a:rPr>
              <a:t>маленькую ДООБУЧАЮТ на выходах учителя</a:t>
            </a:r>
          </a:p>
        </p:txBody>
      </p:sp>
      <p:sp>
        <p:nvSpPr>
          <p:cNvPr id="15" name="Rounded Rectangle 14"/>
          <p:cNvSpPr/>
          <p:nvPr/>
        </p:nvSpPr>
        <p:spPr>
          <a:xfrm>
            <a:off x="502920" y="3712463"/>
            <a:ext cx="3840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822191"/>
            <a:ext cx="3474720"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Ось 1 — ЦЕЛЬ (что матчим):</a:t>
            </a:r>
          </a:p>
        </p:txBody>
      </p:sp>
      <p:sp>
        <p:nvSpPr>
          <p:cNvPr id="17" name="TextBox 16"/>
          <p:cNvSpPr txBox="1"/>
          <p:nvPr/>
        </p:nvSpPr>
        <p:spPr>
          <a:xfrm>
            <a:off x="71323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обычный SFT учит на жёстких метках «вот правильный класс». Дистилляция матчит РАСПРЕДЕЛЕНИЕ учителя</a:t>
            </a:r>
            <a:r>
              <a:rPr sz="546" baseline="30000" b="0" i="1">
                <a:latin typeface="Arial"/>
                <a:cs typeface="Arial"/>
                <a:ea typeface="Arial"/>
                <a:solidFill>
                  <a:srgbClr val="1C7293"/>
                </a:solidFill>
              </a:rPr>
              <a:t>[1]</a:t>
            </a:r>
            <a:r>
              <a:rPr sz="1050" b="0" i="0">
                <a:latin typeface="Arial"/>
                <a:cs typeface="Arial"/>
                <a:ea typeface="Arial"/>
                <a:solidFill>
                  <a:srgbClr val="21295C"/>
                </a:solidFill>
              </a:rPr>
              <a:t> — мягкие вероятности (dark knowledge: «кошка похожа на собаку сильнее, чем на грузовик»). Минимизируют KL-дивергенцию.</a:t>
            </a:r>
          </a:p>
        </p:txBody>
      </p:sp>
      <p:sp>
        <p:nvSpPr>
          <p:cNvPr id="18" name="Rounded Rectangle 17"/>
          <p:cNvSpPr/>
          <p:nvPr/>
        </p:nvSpPr>
        <p:spPr>
          <a:xfrm>
            <a:off x="4480560" y="3712463"/>
            <a:ext cx="3840480" cy="1444752"/>
          </a:xfrm>
          <a:prstGeom prst="roundRect">
            <a:avLst>
              <a:gd name="adj" fmla="val 2109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0872" y="3822191"/>
            <a:ext cx="3474720" cy="292608"/>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Ось 2 — ДАННЫЕ (откуда сигнал):</a:t>
            </a:r>
          </a:p>
        </p:txBody>
      </p:sp>
      <p:sp>
        <p:nvSpPr>
          <p:cNvPr id="20" name="TextBox 19"/>
          <p:cNvSpPr txBox="1"/>
          <p:nvPr/>
        </p:nvSpPr>
        <p:spPr>
          <a:xfrm>
            <a:off x="469087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обучающий сигнал генерирует САМ учитель, не человек-разметчик. Response-distillation (тексты-ответы, Alpaca-стиль) работает даже без доступа к логитам — через API. DistilBERT: −40% размера / 97% качества</a:t>
            </a:r>
            <a:r>
              <a:rPr sz="546" baseline="30000" b="0" i="1">
                <a:latin typeface="Arial"/>
                <a:cs typeface="Arial"/>
                <a:ea typeface="Arial"/>
                <a:solidFill>
                  <a:srgbClr val="1C7293"/>
                </a:solidFill>
              </a:rPr>
              <a:t>[2]</a:t>
            </a:r>
            <a:r>
              <a:rPr sz="1050" b="0" i="0">
                <a:latin typeface="Arial"/>
                <a:cs typeface="Arial"/>
                <a:ea typeface="Arial"/>
                <a:solidFill>
                  <a:srgbClr val="21295C"/>
                </a:solidFill>
              </a:rPr>
              <a:t>. Alpaca: 52k инструкций от GPT, &lt;$600.</a:t>
            </a:r>
          </a:p>
        </p:txBody>
      </p:sp>
      <p:sp>
        <p:nvSpPr>
          <p:cNvPr id="21" name="Rounded Rectangle 20"/>
          <p:cNvSpPr/>
          <p:nvPr/>
        </p:nvSpPr>
        <p:spPr>
          <a:xfrm>
            <a:off x="8549640" y="1773936"/>
            <a:ext cx="3154680" cy="3383280"/>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4"/>
          <a:stretch>
            <a:fillRect/>
          </a:stretch>
        </p:blipFill>
        <p:spPr>
          <a:xfrm>
            <a:off x="8767306" y="1901952"/>
            <a:ext cx="2719346" cy="3127248"/>
          </a:xfrm>
          <a:prstGeom prst="rect">
            <a:avLst/>
          </a:prstGeom>
        </p:spPr>
      </p:pic>
      <p:sp>
        <p:nvSpPr>
          <p:cNvPr id="23" name="Rounded Rectangle 22"/>
          <p:cNvSpPr/>
          <p:nvPr/>
        </p:nvSpPr>
        <p:spPr>
          <a:xfrm>
            <a:off x="502920" y="5230368"/>
            <a:ext cx="7818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303520"/>
            <a:ext cx="7406640"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Arial"/>
              </a:rPr>
              <a:t>Провал: у дистилляции жёсткий ПОТОЛОК способностей — ученик почти никогда не превосходит учителя (тот задаёт верхнюю границу качества) и НАСЛЕДУЕТ его ошибки и смещения, но без способности учителя «поймать себя». Дистиллируете GPT-3.5 — получаете не-лучше-GPT-3.5.</a:t>
            </a:r>
          </a:p>
        </p:txBody>
      </p:sp>
      <p:sp>
        <p:nvSpPr>
          <p:cNvPr id="25" name="TextBox 24"/>
          <p:cNvSpPr txBox="1"/>
          <p:nvPr/>
        </p:nvSpPr>
        <p:spPr>
          <a:xfrm>
            <a:off x="8549640" y="5230368"/>
            <a:ext cx="3154680" cy="932688"/>
          </a:xfrm>
          <a:prstGeom prst="rect">
            <a:avLst/>
          </a:prstGeom>
          <a:noFill/>
        </p:spPr>
        <p:txBody>
          <a:bodyPr wrap="square" lIns="0" rIns="0" tIns="0" bIns="0" anchor="ctr">
            <a:spAutoFit/>
          </a:bodyPr>
          <a:lstStyle/>
          <a:p>
            <a:pPr algn="l">
              <a:lnSpc>
                <a:spcPct val="112000"/>
              </a:lnSpc>
            </a:pPr>
            <a:r>
              <a:rPr sz="1050" b="0" i="1">
                <a:solidFill>
                  <a:srgbClr val="065A82"/>
                </a:solidFill>
                <a:latin typeface="Arial"/>
              </a:rPr>
              <a:t>Правильно: «дообучить компактную student-модель на выходах сильной teacher» — это и дообучение, и дистилляция сразу.</a:t>
            </a:r>
          </a:p>
        </p:txBody>
      </p:sp>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Stanford Alpaca 2023 / Sanh et al. 2019 DistilBERT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Оценка обучения дороже самого обучения — и ни один из шести методов не самодостаточен.</a:t>
            </a:r>
          </a:p>
        </p:txBody>
      </p:sp>
      <p:sp>
        <p:nvSpPr>
          <p:cNvPr id="3" name="TextBox 2"/>
          <p:cNvSpPr txBox="1"/>
          <p:nvPr/>
        </p:nvSpPr>
        <p:spPr>
          <a:xfrm>
            <a:off x="502920" y="1115568"/>
            <a:ext cx="11201400" cy="402336"/>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Полезный 7B-LoRA стоит &lt;$10 — а строгая оценка того же адаптера — $300–1200 человеко-труда за раунд и всё равно может не предсказать продакшн. Каждый метод — по схеме «как работает · когда валиден · когда ломается · стоимость».</a:t>
            </a:r>
          </a:p>
        </p:txBody>
      </p:sp>
      <p:sp>
        <p:nvSpPr>
          <p:cNvPr id="4" name="Rounded Rectangle 3"/>
          <p:cNvSpPr/>
          <p:nvPr/>
        </p:nvSpPr>
        <p:spPr>
          <a:xfrm>
            <a:off x="365760" y="1591056"/>
            <a:ext cx="11475720" cy="3584448"/>
          </a:xfrm>
          <a:prstGeom prst="roundRect">
            <a:avLst>
              <a:gd name="adj" fmla="val 8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82496"/>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82496"/>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Метод</a:t>
            </a:r>
          </a:p>
        </p:txBody>
      </p:sp>
      <p:sp>
        <p:nvSpPr>
          <p:cNvPr id="7" name="Rectangle 6"/>
          <p:cNvSpPr/>
          <p:nvPr/>
        </p:nvSpPr>
        <p:spPr>
          <a:xfrm>
            <a:off x="2807208" y="1682496"/>
            <a:ext cx="32461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682496"/>
            <a:ext cx="30632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Как работает</a:t>
            </a:r>
          </a:p>
        </p:txBody>
      </p:sp>
      <p:sp>
        <p:nvSpPr>
          <p:cNvPr id="9" name="Rectangle 8"/>
          <p:cNvSpPr/>
          <p:nvPr/>
        </p:nvSpPr>
        <p:spPr>
          <a:xfrm>
            <a:off x="6053327" y="1682496"/>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44767" y="1682496"/>
            <a:ext cx="3611880"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Когда ломается (число)</a:t>
            </a:r>
          </a:p>
        </p:txBody>
      </p:sp>
      <p:sp>
        <p:nvSpPr>
          <p:cNvPr id="11" name="Rectangle 10"/>
          <p:cNvSpPr/>
          <p:nvPr/>
        </p:nvSpPr>
        <p:spPr>
          <a:xfrm>
            <a:off x="9848088" y="1682496"/>
            <a:ext cx="1874519"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39528" y="1682496"/>
            <a:ext cx="1691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Стоимость</a:t>
            </a:r>
          </a:p>
        </p:txBody>
      </p:sp>
      <p:sp>
        <p:nvSpPr>
          <p:cNvPr id="13" name="Rectangle 12"/>
          <p:cNvSpPr/>
          <p:nvPr/>
        </p:nvSpPr>
        <p:spPr>
          <a:xfrm>
            <a:off x="475488" y="2048256"/>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4825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Публичный бенчмарк</a:t>
            </a:r>
          </a:p>
        </p:txBody>
      </p:sp>
      <p:sp>
        <p:nvSpPr>
          <p:cNvPr id="15" name="Rectangle 14"/>
          <p:cNvSpPr/>
          <p:nvPr/>
        </p:nvSpPr>
        <p:spPr>
          <a:xfrm>
            <a:off x="2807208" y="2048256"/>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04825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точность по фикс. набору Q&amp;A (MMLU/GSM8K/HELM)</a:t>
            </a:r>
          </a:p>
        </p:txBody>
      </p:sp>
      <p:sp>
        <p:nvSpPr>
          <p:cNvPr id="17" name="Rectangle 16"/>
          <p:cNvSpPr/>
          <p:nvPr/>
        </p:nvSpPr>
        <p:spPr>
          <a:xfrm>
            <a:off x="6053327" y="2048256"/>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7" y="204825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контаминация: MMLU ~29% вопросов</a:t>
            </a:r>
            <a:r>
              <a:rPr sz="468" baseline="30000" b="0" i="1">
                <a:latin typeface="Arial"/>
                <a:cs typeface="Arial"/>
                <a:ea typeface="Arial"/>
                <a:solidFill>
                  <a:srgbClr val="1C7293"/>
                </a:solidFill>
              </a:rPr>
              <a:t>[1]</a:t>
            </a:r>
            <a:r>
              <a:rPr sz="900" b="0" i="0">
                <a:latin typeface="Arial"/>
                <a:cs typeface="Arial"/>
                <a:ea typeface="Arial"/>
                <a:solidFill>
                  <a:srgbClr val="21295C"/>
                </a:solidFill>
              </a:rPr>
              <a:t>; GSM8K→GSM1k −13 п.п.</a:t>
            </a:r>
            <a:r>
              <a:rPr sz="468" baseline="30000" b="0" i="1">
                <a:latin typeface="Arial"/>
                <a:cs typeface="Arial"/>
                <a:ea typeface="Arial"/>
                <a:solidFill>
                  <a:srgbClr val="1C7293"/>
                </a:solidFill>
              </a:rPr>
              <a:t>[2]</a:t>
            </a:r>
            <a:r>
              <a:rPr sz="900" b="0" i="0">
                <a:latin typeface="Arial"/>
                <a:cs typeface="Arial"/>
                <a:ea typeface="Arial"/>
                <a:solidFill>
                  <a:srgbClr val="21295C"/>
                </a:solidFill>
              </a:rPr>
              <a:t> — память, не рассуждение</a:t>
            </a:r>
          </a:p>
        </p:txBody>
      </p:sp>
      <p:sp>
        <p:nvSpPr>
          <p:cNvPr id="19" name="Rectangle 18"/>
          <p:cNvSpPr/>
          <p:nvPr/>
        </p:nvSpPr>
        <p:spPr>
          <a:xfrm>
            <a:off x="9848088" y="2048256"/>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9528" y="204825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низкая (обманчиво)</a:t>
            </a:r>
          </a:p>
        </p:txBody>
      </p:sp>
      <p:sp>
        <p:nvSpPr>
          <p:cNvPr id="21" name="Rectangle 20"/>
          <p:cNvSpPr/>
          <p:nvPr/>
        </p:nvSpPr>
        <p:spPr>
          <a:xfrm>
            <a:off x="475488" y="2554224"/>
            <a:ext cx="23317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554224"/>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Отложенный (held-out) тест-набор</a:t>
            </a:r>
          </a:p>
        </p:txBody>
      </p:sp>
      <p:sp>
        <p:nvSpPr>
          <p:cNvPr id="23" name="Rectangle 22"/>
          <p:cNvSpPr/>
          <p:nvPr/>
        </p:nvSpPr>
        <p:spPr>
          <a:xfrm>
            <a:off x="2807208" y="2554224"/>
            <a:ext cx="32461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554224"/>
            <a:ext cx="30632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заморозил ДО тренировки, гоняешь каждую версию</a:t>
            </a:r>
          </a:p>
        </p:txBody>
      </p:sp>
      <p:sp>
        <p:nvSpPr>
          <p:cNvPr id="25" name="Rectangle 24"/>
          <p:cNvSpPr/>
          <p:nvPr/>
        </p:nvSpPr>
        <p:spPr>
          <a:xfrm>
            <a:off x="6053327" y="2554224"/>
            <a:ext cx="379476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7" y="2554224"/>
            <a:ext cx="3611880"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утечка в обучающую выборку / малый объём / дрейф от продакшна</a:t>
            </a:r>
          </a:p>
        </p:txBody>
      </p:sp>
      <p:sp>
        <p:nvSpPr>
          <p:cNvPr id="27" name="Rectangle 26"/>
          <p:cNvSpPr/>
          <p:nvPr/>
        </p:nvSpPr>
        <p:spPr>
          <a:xfrm>
            <a:off x="9848088" y="2554224"/>
            <a:ext cx="1874519"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2554224"/>
            <a:ext cx="16916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перв. труд,
≈0 повтор</a:t>
            </a:r>
          </a:p>
        </p:txBody>
      </p:sp>
      <p:sp>
        <p:nvSpPr>
          <p:cNvPr id="29" name="Rectangle 28"/>
          <p:cNvSpPr/>
          <p:nvPr/>
        </p:nvSpPr>
        <p:spPr>
          <a:xfrm>
            <a:off x="475488" y="3060192"/>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060192"/>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LLM-как-судья</a:t>
            </a:r>
          </a:p>
        </p:txBody>
      </p:sp>
      <p:sp>
        <p:nvSpPr>
          <p:cNvPr id="31" name="Rectangle 30"/>
          <p:cNvSpPr/>
          <p:nvPr/>
        </p:nvSpPr>
        <p:spPr>
          <a:xfrm>
            <a:off x="2807208" y="3060192"/>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3060192"/>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сильная модель судит; парно &gt; поштучно</a:t>
            </a:r>
          </a:p>
        </p:txBody>
      </p:sp>
      <p:sp>
        <p:nvSpPr>
          <p:cNvPr id="33" name="Rectangle 32"/>
          <p:cNvSpPr/>
          <p:nvPr/>
        </p:nvSpPr>
        <p:spPr>
          <a:xfrm>
            <a:off x="6053327" y="3060192"/>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7" y="3060192"/>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&gt;80% согласия с людьми (= человек-человек), НО позиция до 75%, самозавышение (self-enhancement) +10–25%</a:t>
            </a:r>
          </a:p>
        </p:txBody>
      </p:sp>
      <p:sp>
        <p:nvSpPr>
          <p:cNvPr id="35" name="Rectangle 34"/>
          <p:cNvSpPr/>
          <p:nvPr/>
        </p:nvSpPr>
        <p:spPr>
          <a:xfrm>
            <a:off x="9848088" y="3060192"/>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39528" y="3060192"/>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центы + контроль смещения</a:t>
            </a:r>
          </a:p>
        </p:txBody>
      </p:sp>
      <p:sp>
        <p:nvSpPr>
          <p:cNvPr id="37" name="Rectangle 36"/>
          <p:cNvSpPr/>
          <p:nvPr/>
        </p:nvSpPr>
        <p:spPr>
          <a:xfrm>
            <a:off x="475488" y="3566160"/>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3566160"/>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Оценка людьми</a:t>
            </a:r>
          </a:p>
        </p:txBody>
      </p:sp>
      <p:sp>
        <p:nvSpPr>
          <p:cNvPr id="39" name="Rectangle 38"/>
          <p:cNvSpPr/>
          <p:nvPr/>
        </p:nvSpPr>
        <p:spPr>
          <a:xfrm>
            <a:off x="2807208" y="3566160"/>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3566160"/>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критериальная шкала + ≥2–3 аннотатора + κ-согласие</a:t>
            </a:r>
          </a:p>
        </p:txBody>
      </p:sp>
      <p:sp>
        <p:nvSpPr>
          <p:cNvPr id="41" name="Rectangle 40"/>
          <p:cNvSpPr/>
          <p:nvPr/>
        </p:nvSpPr>
        <p:spPr>
          <a:xfrm>
            <a:off x="6053327" y="3566160"/>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7" y="3566160"/>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κ≥0,6 нужен (иначе шкалу переписать); дорого, не масштаб</a:t>
            </a:r>
          </a:p>
        </p:txBody>
      </p:sp>
      <p:sp>
        <p:nvSpPr>
          <p:cNvPr id="43" name="Rectangle 42"/>
          <p:cNvSpPr/>
          <p:nvPr/>
        </p:nvSpPr>
        <p:spPr>
          <a:xfrm>
            <a:off x="9848088" y="3566160"/>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9528" y="3566160"/>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$300–1200
за раунд</a:t>
            </a:r>
          </a:p>
        </p:txBody>
      </p:sp>
      <p:sp>
        <p:nvSpPr>
          <p:cNvPr id="45" name="Rectangle 44"/>
          <p:cNvSpPr/>
          <p:nvPr/>
        </p:nvSpPr>
        <p:spPr>
          <a:xfrm>
            <a:off x="475488" y="4072128"/>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4072128"/>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Метрики задачи (BLEU/ROUGE)</a:t>
            </a:r>
          </a:p>
        </p:txBody>
      </p:sp>
      <p:sp>
        <p:nvSpPr>
          <p:cNvPr id="47" name="Rectangle 46"/>
          <p:cNvSpPr/>
          <p:nvPr/>
        </p:nvSpPr>
        <p:spPr>
          <a:xfrm>
            <a:off x="2807208" y="4072128"/>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4072128"/>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перекрытие n-грамм с эталоном</a:t>
            </a:r>
          </a:p>
        </p:txBody>
      </p:sp>
      <p:sp>
        <p:nvSpPr>
          <p:cNvPr id="49" name="Rectangle 48"/>
          <p:cNvSpPr/>
          <p:nvPr/>
        </p:nvSpPr>
        <p:spPr>
          <a:xfrm>
            <a:off x="6053327" y="4072128"/>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4767" y="4072128"/>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на открытой генерации r≈0,25–0,52 с людьми — награждает n-грамму, не смысл</a:t>
            </a:r>
          </a:p>
        </p:txBody>
      </p:sp>
      <p:sp>
        <p:nvSpPr>
          <p:cNvPr id="51" name="Rectangle 50"/>
          <p:cNvSpPr/>
          <p:nvPr/>
        </p:nvSpPr>
        <p:spPr>
          <a:xfrm>
            <a:off x="9848088" y="4072128"/>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39528" y="4072128"/>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почти ноль</a:t>
            </a:r>
          </a:p>
        </p:txBody>
      </p:sp>
      <p:sp>
        <p:nvSpPr>
          <p:cNvPr id="53" name="Rectangle 52"/>
          <p:cNvSpPr/>
          <p:nvPr/>
        </p:nvSpPr>
        <p:spPr>
          <a:xfrm>
            <a:off x="475488" y="4578096"/>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457809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A/B / онлайн</a:t>
            </a:r>
          </a:p>
        </p:txBody>
      </p:sp>
      <p:sp>
        <p:nvSpPr>
          <p:cNvPr id="55" name="Rectangle 54"/>
          <p:cNvSpPr/>
          <p:nvPr/>
        </p:nvSpPr>
        <p:spPr>
          <a:xfrm>
            <a:off x="2807208" y="4578096"/>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457809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canary 1–5% + guardrail-метрики на живом трафике</a:t>
            </a:r>
          </a:p>
        </p:txBody>
      </p:sp>
      <p:sp>
        <p:nvSpPr>
          <p:cNvPr id="57" name="Rectangle 56"/>
          <p:cNvSpPr/>
          <p:nvPr/>
        </p:nvSpPr>
        <p:spPr>
          <a:xfrm>
            <a:off x="6053327" y="4578096"/>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4767" y="457809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нет трафика до прода; ×4 сэмплов из-за недетерминизма</a:t>
            </a:r>
          </a:p>
        </p:txBody>
      </p:sp>
      <p:sp>
        <p:nvSpPr>
          <p:cNvPr id="59" name="Rectangle 58"/>
          <p:cNvSpPr/>
          <p:nvPr/>
        </p:nvSpPr>
        <p:spPr>
          <a:xfrm>
            <a:off x="9848088" y="4578096"/>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39528" y="457809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инженерия + риск</a:t>
            </a:r>
          </a:p>
        </p:txBody>
      </p:sp>
      <p:sp>
        <p:nvSpPr>
          <p:cNvPr id="61" name="Rounded Rectangle 60"/>
          <p:cNvSpPr/>
          <p:nvPr/>
        </p:nvSpPr>
        <p:spPr>
          <a:xfrm>
            <a:off x="502920" y="526694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4088" y="5321807"/>
            <a:ext cx="10799064"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Ни один метод не самодостаточен: дешёвые (бенчмарк, BLEU) — низкая валидность; валидные (отложенный-эксперт, оценка людьми, A/B) — дорогие. Отложенный тест-набор даёт наибольшую отдачу, строишь ДО тренировки. Разрыв лаборатория→продакшн ~37% — механика, не аномалия: прирост на бенчмарке — гипотеза, а не результат; подтверждают только чистый отложенный набор + A/B на реальном трафике.</a:t>
            </a:r>
          </a:p>
        </p:txBody>
      </p:sp>
      <p:sp>
        <p:nvSpPr>
          <p:cNvPr id="63" name="TextBox 6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Zhang et al. 2024 — GSM1k (чистое зеркало GSM8K −13 п.п.)</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Это и есть шаг «действие» цикла агента: модель в петле «рассуждать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puzzle-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Что это меняет: модель встраивается через structured output и tool use, а MCP превращает N×M интеграций в N+M.</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structured output + tool use: модель возвращает намерение, код исполняет</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 — стандарт подключения; его безопасность — на слайде про MCP</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MCP или прямой API — это не альтернативы: MCP окупается как флот, ниже порога это лишний слой.</a:t>
            </a:r>
          </a:p>
        </p:txBody>
      </p:sp>
      <p:sp>
        <p:nvSpPr>
          <p:cNvPr id="3" name="Rounded Rectangle 2"/>
          <p:cNvSpPr/>
          <p:nvPr/>
        </p:nvSpPr>
        <p:spPr>
          <a:xfrm>
            <a:off x="502920" y="1188720"/>
            <a:ext cx="11201400" cy="896112"/>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teal.png"/>
          <p:cNvPicPr>
            <a:picLocks noChangeAspect="1"/>
          </p:cNvPicPr>
          <p:nvPr/>
        </p:nvPicPr>
        <p:blipFill>
          <a:blip r:embed="rId2"/>
          <a:stretch>
            <a:fillRect/>
          </a:stretch>
        </p:blipFill>
        <p:spPr>
          <a:xfrm>
            <a:off x="713232" y="1353312"/>
            <a:ext cx="384048" cy="384048"/>
          </a:xfrm>
          <a:prstGeom prst="rect">
            <a:avLst/>
          </a:prstGeom>
        </p:spPr>
      </p:pic>
      <p:sp>
        <p:nvSpPr>
          <p:cNvPr id="5" name="TextBox 4"/>
          <p:cNvSpPr txBox="1"/>
          <p:nvPr/>
        </p:nvSpPr>
        <p:spPr>
          <a:xfrm>
            <a:off x="1243584" y="1280160"/>
            <a:ext cx="10241280" cy="74980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База: REST/gRPC — транспорт, который делает работу (ходит в базу, дёргает сервис). </a:t>
            </a:r>
            <a:r>
              <a:rPr sz="1200" b="1" i="0">
                <a:solidFill>
                  <a:srgbClr val="028090"/>
                </a:solidFill>
                <a:latin typeface="Arial"/>
              </a:rPr>
              <a:t>MCP — тонкий стандартный слой ПОВЕРХ</a:t>
            </a:r>
            <a:r>
              <a:rPr sz="1200" b="0" i="0">
                <a:solidFill>
                  <a:srgbClr val="21295C"/>
                </a:solidFill>
                <a:latin typeface="Arial"/>
              </a:rPr>
              <a:t>, позволяющий агенту во время работы обнаружить (`tools/list`) и вызвать инструменты. В большинстве развёртываний MCP-сервер ОБОРАЧИВАЕТ уже существующий REST API, а не заменяет его. Порог: выигрыш N+M &lt; N×M материализуется только когда N, M ≥ 2–3.</a:t>
            </a:r>
          </a:p>
        </p:txBody>
      </p:sp>
      <p:sp>
        <p:nvSpPr>
          <p:cNvPr id="6" name="Rounded Rectangle 5"/>
          <p:cNvSpPr/>
          <p:nvPr/>
        </p:nvSpPr>
        <p:spPr>
          <a:xfrm>
            <a:off x="502920" y="2231136"/>
            <a:ext cx="5532120" cy="2578608"/>
          </a:xfrm>
          <a:prstGeom prst="roundRect">
            <a:avLst>
              <a:gd name="adj" fmla="val 1182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40864"/>
            <a:ext cx="51206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Взять MCP, когда…</a:t>
            </a:r>
          </a:p>
        </p:txBody>
      </p:sp>
      <p:pic>
        <p:nvPicPr>
          <p:cNvPr id="8" name="Picture 7" descr="check-check-mid.png"/>
          <p:cNvPicPr>
            <a:picLocks noChangeAspect="1"/>
          </p:cNvPicPr>
          <p:nvPr/>
        </p:nvPicPr>
        <p:blipFill>
          <a:blip r:embed="rId3"/>
          <a:stretch>
            <a:fillRect/>
          </a:stretch>
        </p:blipFill>
        <p:spPr>
          <a:xfrm>
            <a:off x="749808" y="2724912"/>
            <a:ext cx="201168" cy="201168"/>
          </a:xfrm>
          <a:prstGeom prst="rect">
            <a:avLst/>
          </a:prstGeom>
        </p:spPr>
      </p:pic>
      <p:sp>
        <p:nvSpPr>
          <p:cNvPr id="9" name="TextBox 8"/>
          <p:cNvSpPr txBox="1"/>
          <p:nvPr/>
        </p:nvSpPr>
        <p:spPr>
          <a:xfrm>
            <a:off x="1042415"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много агентов × много инструментов (N, M ≥ 2–3)</a:t>
            </a:r>
          </a:p>
        </p:txBody>
      </p:sp>
      <p:pic>
        <p:nvPicPr>
          <p:cNvPr id="10" name="Picture 9" descr="check-check-mid.png"/>
          <p:cNvPicPr>
            <a:picLocks noChangeAspect="1"/>
          </p:cNvPicPr>
          <p:nvPr/>
        </p:nvPicPr>
        <p:blipFill>
          <a:blip r:embed="rId3"/>
          <a:stretch>
            <a:fillRect/>
          </a:stretch>
        </p:blipFill>
        <p:spPr>
          <a:xfrm>
            <a:off x="749808" y="3145536"/>
            <a:ext cx="201168" cy="201168"/>
          </a:xfrm>
          <a:prstGeom prst="rect">
            <a:avLst/>
          </a:prstGeom>
        </p:spPr>
      </p:pic>
      <p:sp>
        <p:nvSpPr>
          <p:cNvPr id="11" name="TextBox 10"/>
          <p:cNvSpPr txBox="1"/>
          <p:nvPr/>
        </p:nvSpPr>
        <p:spPr>
          <a:xfrm>
            <a:off x="1042415"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нужно обнаружение инструментов во время работы (каталог меняется)</a:t>
            </a:r>
          </a:p>
        </p:txBody>
      </p:sp>
      <p:pic>
        <p:nvPicPr>
          <p:cNvPr id="12" name="Picture 11" descr="check-check-mid.png"/>
          <p:cNvPicPr>
            <a:picLocks noChangeAspect="1"/>
          </p:cNvPicPr>
          <p:nvPr/>
        </p:nvPicPr>
        <p:blipFill>
          <a:blip r:embed="rId3"/>
          <a:stretch>
            <a:fillRect/>
          </a:stretch>
        </p:blipFill>
        <p:spPr>
          <a:xfrm>
            <a:off x="749808" y="3566160"/>
            <a:ext cx="201168" cy="201168"/>
          </a:xfrm>
          <a:prstGeom prst="rect">
            <a:avLst/>
          </a:prstGeom>
        </p:spPr>
      </p:pic>
      <p:sp>
        <p:nvSpPr>
          <p:cNvPr id="13" name="TextBox 12"/>
          <p:cNvSpPr txBox="1"/>
          <p:nvPr/>
        </p:nvSpPr>
        <p:spPr>
          <a:xfrm>
            <a:off x="1042415"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переносимость между вендорами моделей / хостами</a:t>
            </a:r>
          </a:p>
        </p:txBody>
      </p:sp>
      <p:pic>
        <p:nvPicPr>
          <p:cNvPr id="14" name="Picture 13" descr="check-check-mid.png"/>
          <p:cNvPicPr>
            <a:picLocks noChangeAspect="1"/>
          </p:cNvPicPr>
          <p:nvPr/>
        </p:nvPicPr>
        <p:blipFill>
          <a:blip r:embed="rId3"/>
          <a:stretch>
            <a:fillRect/>
          </a:stretch>
        </p:blipFill>
        <p:spPr>
          <a:xfrm>
            <a:off x="749808" y="3986783"/>
            <a:ext cx="201168" cy="201168"/>
          </a:xfrm>
          <a:prstGeom prst="rect">
            <a:avLst/>
          </a:prstGeom>
        </p:spPr>
      </p:pic>
      <p:sp>
        <p:nvSpPr>
          <p:cNvPr id="15" name="TextBox 14"/>
          <p:cNvSpPr txBox="1"/>
          <p:nvPr/>
        </p:nvSpPr>
        <p:spPr>
          <a:xfrm>
            <a:off x="1042415"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серверы переиспользуют другие команды / третьи стороны</a:t>
            </a:r>
          </a:p>
        </p:txBody>
      </p:sp>
      <p:pic>
        <p:nvPicPr>
          <p:cNvPr id="16" name="Picture 15" descr="check-check-mid.png"/>
          <p:cNvPicPr>
            <a:picLocks noChangeAspect="1"/>
          </p:cNvPicPr>
          <p:nvPr/>
        </p:nvPicPr>
        <p:blipFill>
          <a:blip r:embed="rId3"/>
          <a:stretch>
            <a:fillRect/>
          </a:stretch>
        </p:blipFill>
        <p:spPr>
          <a:xfrm>
            <a:off x="749808" y="4407407"/>
            <a:ext cx="201168" cy="201168"/>
          </a:xfrm>
          <a:prstGeom prst="rect">
            <a:avLst/>
          </a:prstGeom>
        </p:spPr>
      </p:pic>
      <p:sp>
        <p:nvSpPr>
          <p:cNvPr id="17" name="TextBox 16"/>
          <p:cNvSpPr txBox="1"/>
          <p:nvPr/>
        </p:nvSpPr>
        <p:spPr>
          <a:xfrm>
            <a:off x="1042415"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готовы провести security-ревью каждого сервера</a:t>
            </a:r>
          </a:p>
        </p:txBody>
      </p:sp>
      <p:sp>
        <p:nvSpPr>
          <p:cNvPr id="18" name="Rounded Rectangle 17"/>
          <p:cNvSpPr/>
          <p:nvPr/>
        </p:nvSpPr>
        <p:spPr>
          <a:xfrm>
            <a:off x="6172200" y="2231136"/>
            <a:ext cx="5532120" cy="2578608"/>
          </a:xfrm>
          <a:prstGeom prst="roundRect">
            <a:avLst>
              <a:gd name="adj" fmla="val 11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340864"/>
            <a:ext cx="5120640"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Взять прямой API / function-calling, когда…</a:t>
            </a:r>
          </a:p>
        </p:txBody>
      </p:sp>
      <p:sp>
        <p:nvSpPr>
          <p:cNvPr id="20" name="TextBox 19"/>
          <p:cNvSpPr txBox="1"/>
          <p:nvPr/>
        </p:nvSpPr>
        <p:spPr>
          <a:xfrm>
            <a:off x="6675120"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одно приложение, один-два известных инструмента (N+M ≥ N×M)</a:t>
            </a:r>
          </a:p>
        </p:txBody>
      </p:sp>
      <p:sp>
        <p:nvSpPr>
          <p:cNvPr id="21" name="TextBox 20"/>
          <p:cNvSpPr txBox="1"/>
          <p:nvPr/>
        </p:nvSpPr>
        <p:spPr>
          <a:xfrm>
            <a:off x="6675120"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набор инструментов фиксирован на этапе сборки</a:t>
            </a:r>
          </a:p>
        </p:txBody>
      </p:sp>
      <p:sp>
        <p:nvSpPr>
          <p:cNvPr id="22" name="TextBox 21"/>
          <p:cNvSpPr txBox="1"/>
          <p:nvPr/>
        </p:nvSpPr>
        <p:spPr>
          <a:xfrm>
            <a:off x="6675120"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вы зафиксированы на одной модели, одном стеке</a:t>
            </a:r>
          </a:p>
        </p:txBody>
      </p:sp>
      <p:sp>
        <p:nvSpPr>
          <p:cNvPr id="23" name="TextBox 22"/>
          <p:cNvSpPr txBox="1"/>
          <p:nvPr/>
        </p:nvSpPr>
        <p:spPr>
          <a:xfrm>
            <a:off x="6675120"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интеграция приватная, единственный потребитель</a:t>
            </a:r>
          </a:p>
        </p:txBody>
      </p:sp>
      <p:sp>
        <p:nvSpPr>
          <p:cNvPr id="24" name="TextBox 23"/>
          <p:cNvSpPr txBox="1"/>
          <p:nvPr/>
        </p:nvSpPr>
        <p:spPr>
          <a:xfrm>
            <a:off x="6675120"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маленькая аудируемая запертая поверхность СЕЙЧАС</a:t>
            </a:r>
          </a:p>
        </p:txBody>
      </p:sp>
      <p:sp>
        <p:nvSpPr>
          <p:cNvPr id="25" name="Rounded Rectangle 24"/>
          <p:cNvSpPr/>
          <p:nvPr/>
        </p:nvSpPr>
        <p:spPr>
          <a:xfrm>
            <a:off x="502920" y="4956048"/>
            <a:ext cx="11201400" cy="6035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~25%</a:t>
            </a:r>
          </a:p>
        </p:txBody>
      </p:sp>
      <p:sp>
        <p:nvSpPr>
          <p:cNvPr id="27" name="TextBox 26"/>
          <p:cNvSpPr txBox="1"/>
          <p:nvPr/>
        </p:nvSpPr>
        <p:spPr>
          <a:xfrm>
            <a:off x="7315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серверов реестра непригодны</a:t>
            </a:r>
            <a:r>
              <a:rPr sz="442" baseline="30000" b="0" i="1">
                <a:latin typeface="Arial"/>
                <a:cs typeface="Arial"/>
                <a:ea typeface="Arial"/>
                <a:solidFill>
                  <a:srgbClr val="1C7293"/>
                </a:solidFill>
              </a:rPr>
              <a:t>[2]</a:t>
            </a:r>
            <a:r>
              <a:rPr sz="850" b="0" i="0">
                <a:latin typeface="Arial"/>
                <a:cs typeface="Arial"/>
                <a:ea typeface="Arial"/>
                <a:solidFill>
                  <a:srgbClr val="21295C"/>
                </a:solidFill>
              </a:rPr>
              <a:t> (пол, не потолок)</a:t>
            </a:r>
          </a:p>
        </p:txBody>
      </p:sp>
      <p:sp>
        <p:nvSpPr>
          <p:cNvPr id="28" name="TextBox 27"/>
          <p:cNvSpPr txBox="1"/>
          <p:nvPr/>
        </p:nvSpPr>
        <p:spPr>
          <a:xfrm>
            <a:off x="44653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43,7%</a:t>
            </a:r>
          </a:p>
        </p:txBody>
      </p:sp>
      <p:sp>
        <p:nvSpPr>
          <p:cNvPr id="29" name="TextBox 28"/>
          <p:cNvSpPr txBox="1"/>
          <p:nvPr/>
        </p:nvSpPr>
        <p:spPr>
          <a:xfrm>
            <a:off x="44653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верхний результат на MCP-Universe</a:t>
            </a:r>
            <a:r>
              <a:rPr sz="442" baseline="30000" b="0" i="1">
                <a:latin typeface="Arial"/>
                <a:cs typeface="Arial"/>
                <a:ea typeface="Arial"/>
                <a:solidFill>
                  <a:srgbClr val="1C7293"/>
                </a:solidFill>
              </a:rPr>
              <a:t>[1]</a:t>
            </a:r>
            <a:r>
              <a:rPr sz="850" b="0" i="0">
                <a:latin typeface="Arial"/>
                <a:cs typeface="Arial"/>
                <a:ea typeface="Arial"/>
                <a:solidFill>
                  <a:srgbClr val="21295C"/>
                </a:solidFill>
              </a:rPr>
              <a:t> (&gt;56% задач провалено)</a:t>
            </a:r>
          </a:p>
        </p:txBody>
      </p:sp>
      <p:sp>
        <p:nvSpPr>
          <p:cNvPr id="30" name="TextBox 29"/>
          <p:cNvSpPr txBox="1"/>
          <p:nvPr/>
        </p:nvSpPr>
        <p:spPr>
          <a:xfrm>
            <a:off x="8199119"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+риск</a:t>
            </a:r>
          </a:p>
        </p:txBody>
      </p:sp>
      <p:sp>
        <p:nvSpPr>
          <p:cNvPr id="31" name="TextBox 30"/>
          <p:cNvSpPr txBox="1"/>
          <p:nvPr/>
        </p:nvSpPr>
        <p:spPr>
          <a:xfrm>
            <a:off x="8199119"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injection / path-traversal — см. слайд про MCP (поворот доверия)</a:t>
            </a:r>
          </a:p>
        </p:txBody>
      </p:sp>
      <p:sp>
        <p:nvSpPr>
          <p:cNvPr id="32" name="Rounded Rectangle 31"/>
          <p:cNvSpPr/>
          <p:nvPr/>
        </p:nvSpPr>
        <p:spPr>
          <a:xfrm>
            <a:off x="502920" y="565099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705855"/>
            <a:ext cx="10799064" cy="45720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Правило: MCP — стандарт интероперабельности, а не апгрейд производительности. Пропустить MCP для одного агента с одним инструментом — правильное инженерное суждение, не срезанный угол (то же правило лестницы, §5.1).</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MCP-Universe (arXiv:2508.14704) — верхний результат 43,7%</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DEV/theopslog audit 2026 — ~25% серверов реестра непригодны</a:t>
            </a:r>
            <a:r>
              <a:rPr sz="850" i="1">
                <a:solidFill>
                  <a:srgbClr val="5B6678"/>
                </a:solidFill>
                <a:latin typeface="Arial"/>
              </a:rPr>
              <a:t>   ·   MCP-Universe (arXiv:2508.14704); DEV/theopslog audit 2026; Endor Labs / Practical DevSecOps 2026 — цифры экосистемы движутся.</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08376"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12664"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34639"/>
            <a:ext cx="1920240" cy="987552"/>
          </a:xfrm>
          <a:prstGeom prst="rect">
            <a:avLst/>
          </a:prstGeom>
          <a:noFill/>
        </p:spPr>
        <p:txBody>
          <a:bodyPr wrap="square" lIns="0" rIns="0" tIns="0" bIns="0" anchor="t">
            <a:spAutoFit/>
          </a:bodyPr>
          <a:lstStyle/>
          <a:p>
            <a:pPr algn="l">
              <a:lnSpc>
                <a:spcPct val="104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31920"/>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16952" y="3950207"/>
            <a:ext cx="1810512" cy="566928"/>
          </a:xfrm>
          <a:prstGeom prst="rect">
            <a:avLst/>
          </a:prstGeom>
          <a:noFill/>
        </p:spPr>
        <p:txBody>
          <a:bodyPr wrap="square" lIns="0" rIns="0" tIns="0" bIns="0" anchor="ctr">
            <a:spAutoFit/>
          </a:bodyPr>
          <a:lstStyle/>
          <a:p>
            <a:pPr algn="l">
              <a:lnSpc>
                <a:spcPct val="104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34639"/>
            <a:ext cx="1920240" cy="932688"/>
          </a:xfrm>
          <a:prstGeom prst="rect">
            <a:avLst/>
          </a:prstGeom>
          <a:noFill/>
        </p:spPr>
        <p:txBody>
          <a:bodyPr wrap="square" lIns="0" rIns="0" tIns="0" bIns="0" anchor="t">
            <a:spAutoFit/>
          </a:bodyPr>
          <a:lstStyle/>
          <a:p>
            <a:pPr algn="l">
              <a:lnSpc>
                <a:spcPct val="104000"/>
              </a:lnSpc>
            </a:pPr>
            <a:r>
              <a:rPr sz="840" b="0" i="0">
                <a:solidFill>
                  <a:srgbClr val="21295C"/>
                </a:solidFill>
                <a:latin typeface="Arial"/>
              </a:rPr>
              <a:t>один LLM генерирует ответ, второй (evaluator) оценивает по критериям и даёт обратную связь — петля «генератор ↔ критик» до прохождения порога</a:t>
            </a:r>
          </a:p>
        </p:txBody>
      </p:sp>
      <p:sp>
        <p:nvSpPr>
          <p:cNvPr id="47" name="Rounded Rectangle 46"/>
          <p:cNvSpPr/>
          <p:nvPr/>
        </p:nvSpPr>
        <p:spPr>
          <a:xfrm>
            <a:off x="9848088" y="3639312"/>
            <a:ext cx="1956815" cy="896112"/>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3657600"/>
            <a:ext cx="1810512" cy="859536"/>
          </a:xfrm>
          <a:prstGeom prst="rect">
            <a:avLst/>
          </a:prstGeom>
          <a:noFill/>
        </p:spPr>
        <p:txBody>
          <a:bodyPr wrap="square" lIns="0" rIns="0" tIns="0" bIns="0" anchor="ctr">
            <a:spAutoFit/>
          </a:bodyPr>
          <a:lstStyle/>
          <a:p>
            <a:pPr algn="l">
              <a:lnSpc>
                <a:spcPct val="104000"/>
              </a:lnSpc>
            </a:pPr>
            <a:r>
              <a:rPr sz="840" b="0" i="1">
                <a:solidFill>
                  <a:srgbClr val="21295C"/>
                </a:solidFill>
                <a:latin typeface="Arial"/>
              </a:rPr>
              <a:t>когда: есть чёткие критерии и черновик можно улучшать: напр. перевод — критик отмечает ошибки, генератор правит</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33856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Фреймворк агента — абстракционный налог; у всех пять общих минусов.</a:t>
            </a:r>
          </a:p>
        </p:txBody>
      </p:sp>
      <p:sp>
        <p:nvSpPr>
          <p:cNvPr id="3" name="TextBox 2"/>
          <p:cNvSpPr txBox="1"/>
          <p:nvPr/>
        </p:nvSpPr>
        <p:spPr>
          <a:xfrm>
            <a:off x="502920" y="914400"/>
            <a:ext cx="11201400" cy="310896"/>
          </a:xfrm>
          <a:prstGeom prst="rect">
            <a:avLst/>
          </a:prstGeom>
          <a:noFill/>
        </p:spPr>
        <p:txBody>
          <a:bodyPr wrap="square" lIns="0" rIns="0" tIns="0" bIns="0" anchor="t">
            <a:spAutoFit/>
          </a:bodyPr>
          <a:lstStyle/>
          <a:p>
            <a:pPr algn="l">
              <a:lnSpc>
                <a:spcPct val="106000"/>
              </a:lnSpc>
            </a:pPr>
            <a:r>
              <a:rPr sz="1100" b="0" i="1">
                <a:solidFill>
                  <a:srgbClr val="065A82"/>
                </a:solidFill>
                <a:latin typeface="Arial"/>
              </a:rPr>
              <a:t>Anthropic: многие паттерны — несколько строк прямых вызовов API</a:t>
            </a:r>
            <a:r>
              <a:rPr sz="572" baseline="30000" b="0" i="1">
                <a:latin typeface="Arial"/>
                <a:cs typeface="Arial"/>
                <a:ea typeface="Arial"/>
                <a:solidFill>
                  <a:srgbClr val="1C7293"/>
                </a:solidFill>
              </a:rPr>
              <a:t>[1]</a:t>
            </a:r>
            <a:r>
              <a:rPr sz="1100" b="0" i="1">
                <a:latin typeface="Arial"/>
                <a:cs typeface="Arial"/>
                <a:ea typeface="Arial"/>
                <a:solidFill>
                  <a:srgbClr val="065A82"/>
                </a:solidFill>
              </a:rPr>
              <a:t>; фреймворки скрывают исходные промпты и усложняют отладку. Сначала пять минусов, общих для ВСЕХ, потом разбор по схеме.</a:t>
            </a:r>
          </a:p>
        </p:txBody>
      </p:sp>
      <p:sp>
        <p:nvSpPr>
          <p:cNvPr id="4" name="Rounded Rectangle 3"/>
          <p:cNvSpPr/>
          <p:nvPr/>
        </p:nvSpPr>
        <p:spPr>
          <a:xfrm>
            <a:off x="365760" y="1298448"/>
            <a:ext cx="11475720" cy="65836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gold.png"/>
          <p:cNvPicPr>
            <a:picLocks noChangeAspect="1"/>
          </p:cNvPicPr>
          <p:nvPr/>
        </p:nvPicPr>
        <p:blipFill>
          <a:blip r:embed="rId2"/>
          <a:stretch>
            <a:fillRect/>
          </a:stretch>
        </p:blipFill>
        <p:spPr>
          <a:xfrm>
            <a:off x="475488" y="1389888"/>
            <a:ext cx="237744" cy="237744"/>
          </a:xfrm>
          <a:prstGeom prst="rect">
            <a:avLst/>
          </a:prstGeom>
        </p:spPr>
      </p:pic>
      <p:sp>
        <p:nvSpPr>
          <p:cNvPr id="6" name="TextBox 5"/>
          <p:cNvSpPr txBox="1"/>
          <p:nvPr/>
        </p:nvSpPr>
        <p:spPr>
          <a:xfrm>
            <a:off x="768096"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Кастомизация</a:t>
            </a:r>
          </a:p>
        </p:txBody>
      </p:sp>
      <p:sp>
        <p:nvSpPr>
          <p:cNvPr id="7" name="TextBox 6"/>
          <p:cNvSpPr txBox="1"/>
          <p:nvPr/>
        </p:nvSpPr>
        <p:spPr>
          <a:xfrm>
            <a:off x="475488"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долг за пределами «счастливого пути»</a:t>
            </a:r>
          </a:p>
        </p:txBody>
      </p:sp>
      <p:pic>
        <p:nvPicPr>
          <p:cNvPr id="8" name="Picture 7" descr="eye-off-gold.png"/>
          <p:cNvPicPr>
            <a:picLocks noChangeAspect="1"/>
          </p:cNvPicPr>
          <p:nvPr/>
        </p:nvPicPr>
        <p:blipFill>
          <a:blip r:embed="rId3"/>
          <a:stretch>
            <a:fillRect/>
          </a:stretch>
        </p:blipFill>
        <p:spPr>
          <a:xfrm>
            <a:off x="2770632" y="1389888"/>
            <a:ext cx="237744" cy="237744"/>
          </a:xfrm>
          <a:prstGeom prst="rect">
            <a:avLst/>
          </a:prstGeom>
        </p:spPr>
      </p:pic>
      <p:sp>
        <p:nvSpPr>
          <p:cNvPr id="9" name="TextBox 8"/>
          <p:cNvSpPr txBox="1"/>
          <p:nvPr/>
        </p:nvSpPr>
        <p:spPr>
          <a:xfrm>
            <a:off x="3063240"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Прозрачность</a:t>
            </a:r>
          </a:p>
        </p:txBody>
      </p:sp>
      <p:sp>
        <p:nvSpPr>
          <p:cNvPr id="10" name="TextBox 9"/>
          <p:cNvSpPr txBox="1"/>
          <p:nvPr/>
        </p:nvSpPr>
        <p:spPr>
          <a:xfrm>
            <a:off x="2770632"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прячет реальные промпты и поток управления</a:t>
            </a:r>
          </a:p>
        </p:txBody>
      </p:sp>
      <p:pic>
        <p:nvPicPr>
          <p:cNvPr id="11" name="Picture 10" descr="lock-gold.png"/>
          <p:cNvPicPr>
            <a:picLocks noChangeAspect="1"/>
          </p:cNvPicPr>
          <p:nvPr/>
        </p:nvPicPr>
        <p:blipFill>
          <a:blip r:embed="rId4"/>
          <a:stretch>
            <a:fillRect/>
          </a:stretch>
        </p:blipFill>
        <p:spPr>
          <a:xfrm>
            <a:off x="5065776" y="1389888"/>
            <a:ext cx="237744" cy="237744"/>
          </a:xfrm>
          <a:prstGeom prst="rect">
            <a:avLst/>
          </a:prstGeom>
        </p:spPr>
      </p:pic>
      <p:sp>
        <p:nvSpPr>
          <p:cNvPr id="12" name="TextBox 11"/>
          <p:cNvSpPr txBox="1"/>
          <p:nvPr/>
        </p:nvSpPr>
        <p:spPr>
          <a:xfrm>
            <a:off x="5358384"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Привязка (lock-in)</a:t>
            </a:r>
          </a:p>
        </p:txBody>
      </p:sp>
      <p:sp>
        <p:nvSpPr>
          <p:cNvPr id="13" name="TextBox 12"/>
          <p:cNvSpPr txBox="1"/>
          <p:nvPr/>
        </p:nvSpPr>
        <p:spPr>
          <a:xfrm>
            <a:off x="5065776"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SDK вендоров привязывают к экосистеме</a:t>
            </a:r>
          </a:p>
        </p:txBody>
      </p:sp>
      <p:pic>
        <p:nvPicPr>
          <p:cNvPr id="14" name="Picture 13" descr="git-pull-request-gold.png"/>
          <p:cNvPicPr>
            <a:picLocks noChangeAspect="1"/>
          </p:cNvPicPr>
          <p:nvPr/>
        </p:nvPicPr>
        <p:blipFill>
          <a:blip r:embed="rId5"/>
          <a:stretch>
            <a:fillRect/>
          </a:stretch>
        </p:blipFill>
        <p:spPr>
          <a:xfrm>
            <a:off x="7360920" y="1389888"/>
            <a:ext cx="237744" cy="237744"/>
          </a:xfrm>
          <a:prstGeom prst="rect">
            <a:avLst/>
          </a:prstGeom>
        </p:spPr>
      </p:pic>
      <p:sp>
        <p:nvSpPr>
          <p:cNvPr id="15" name="TextBox 14"/>
          <p:cNvSpPr txBox="1"/>
          <p:nvPr/>
        </p:nvSpPr>
        <p:spPr>
          <a:xfrm>
            <a:off x="7653528"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Смена версий</a:t>
            </a:r>
          </a:p>
        </p:txBody>
      </p:sp>
      <p:sp>
        <p:nvSpPr>
          <p:cNvPr id="16" name="TextBox 15"/>
          <p:cNvSpPr txBox="1"/>
          <p:nvPr/>
        </p:nvSpPr>
        <p:spPr>
          <a:xfrm>
            <a:off x="7360920"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ломающие API-изменения (LangChain)</a:t>
            </a:r>
          </a:p>
        </p:txBody>
      </p:sp>
      <p:pic>
        <p:nvPicPr>
          <p:cNvPr id="17" name="Picture 16" descr="sliders-horizontal-gold.png"/>
          <p:cNvPicPr>
            <a:picLocks noChangeAspect="1"/>
          </p:cNvPicPr>
          <p:nvPr/>
        </p:nvPicPr>
        <p:blipFill>
          <a:blip r:embed="rId6"/>
          <a:stretch>
            <a:fillRect/>
          </a:stretch>
        </p:blipFill>
        <p:spPr>
          <a:xfrm>
            <a:off x="9656064" y="1389888"/>
            <a:ext cx="237744" cy="237744"/>
          </a:xfrm>
          <a:prstGeom prst="rect">
            <a:avLst/>
          </a:prstGeom>
        </p:spPr>
      </p:pic>
      <p:sp>
        <p:nvSpPr>
          <p:cNvPr id="18" name="TextBox 17"/>
          <p:cNvSpPr txBox="1"/>
          <p:nvPr/>
        </p:nvSpPr>
        <p:spPr>
          <a:xfrm>
            <a:off x="9948672"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Накладные расходы</a:t>
            </a:r>
          </a:p>
        </p:txBody>
      </p:sp>
      <p:sp>
        <p:nvSpPr>
          <p:cNvPr id="19" name="TextBox 18"/>
          <p:cNvSpPr txBox="1"/>
          <p:nvPr/>
        </p:nvSpPr>
        <p:spPr>
          <a:xfrm>
            <a:off x="9656064"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CrewAI +18% токенов vs LangGraph</a:t>
            </a:r>
            <a:r>
              <a:rPr sz="442" baseline="30000" b="0" i="1">
                <a:latin typeface="Arial"/>
                <a:cs typeface="Arial"/>
                <a:ea typeface="Arial"/>
                <a:solidFill>
                  <a:srgbClr val="1C7293"/>
                </a:solidFill>
              </a:rPr>
              <a:t>[2]</a:t>
            </a:r>
          </a:p>
        </p:txBody>
      </p:sp>
      <p:sp>
        <p:nvSpPr>
          <p:cNvPr id="20" name="Rounded Rectangle 19"/>
          <p:cNvSpPr/>
          <p:nvPr/>
        </p:nvSpPr>
        <p:spPr>
          <a:xfrm>
            <a:off x="365760" y="2048256"/>
            <a:ext cx="11475720" cy="3145536"/>
          </a:xfrm>
          <a:prstGeom prst="roundRect">
            <a:avLst>
              <a:gd name="adj" fmla="val 96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 y="2121408"/>
            <a:ext cx="23317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21408"/>
            <a:ext cx="21488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Фреймворк</a:t>
            </a:r>
          </a:p>
        </p:txBody>
      </p:sp>
      <p:sp>
        <p:nvSpPr>
          <p:cNvPr id="23" name="Rectangle 22"/>
          <p:cNvSpPr/>
          <p:nvPr/>
        </p:nvSpPr>
        <p:spPr>
          <a:xfrm>
            <a:off x="2807208" y="2121408"/>
            <a:ext cx="288036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121408"/>
            <a:ext cx="269747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Ядро-абстракция</a:t>
            </a:r>
          </a:p>
        </p:txBody>
      </p:sp>
      <p:sp>
        <p:nvSpPr>
          <p:cNvPr id="25" name="Rectangle 24"/>
          <p:cNvSpPr/>
          <p:nvPr/>
        </p:nvSpPr>
        <p:spPr>
          <a:xfrm>
            <a:off x="568756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Под что подходит</a:t>
            </a:r>
          </a:p>
        </p:txBody>
      </p:sp>
      <p:sp>
        <p:nvSpPr>
          <p:cNvPr id="27" name="Rectangle 26"/>
          <p:cNvSpPr/>
          <p:nvPr/>
        </p:nvSpPr>
        <p:spPr>
          <a:xfrm>
            <a:off x="870508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Один честный минус</a:t>
            </a:r>
          </a:p>
        </p:txBody>
      </p:sp>
      <p:sp>
        <p:nvSpPr>
          <p:cNvPr id="29" name="Rectangle 28"/>
          <p:cNvSpPr/>
          <p:nvPr/>
        </p:nvSpPr>
        <p:spPr>
          <a:xfrm>
            <a:off x="475488" y="2450591"/>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450591"/>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LangGraph</a:t>
            </a:r>
          </a:p>
        </p:txBody>
      </p:sp>
      <p:sp>
        <p:nvSpPr>
          <p:cNvPr id="31" name="Rectangle 30"/>
          <p:cNvSpPr/>
          <p:nvPr/>
        </p:nvSpPr>
        <p:spPr>
          <a:xfrm>
            <a:off x="2807208" y="2450591"/>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450591"/>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stateful-граф</a:t>
            </a:r>
          </a:p>
        </p:txBody>
      </p:sp>
      <p:sp>
        <p:nvSpPr>
          <p:cNvPr id="33" name="Rectangle 32"/>
          <p:cNvSpPr/>
          <p:nvPr/>
        </p:nvSpPr>
        <p:spPr>
          <a:xfrm>
            <a:off x="568756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продакшн: поток управления, состояние, human-in-the-loop</a:t>
            </a:r>
          </a:p>
        </p:txBody>
      </p:sp>
      <p:sp>
        <p:nvSpPr>
          <p:cNvPr id="35" name="Rectangle 34"/>
          <p:cNvSpPr/>
          <p:nvPr/>
        </p:nvSpPr>
        <p:spPr>
          <a:xfrm>
            <a:off x="870508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крутая кривая; для одного цикла — переинжиниринг</a:t>
            </a:r>
          </a:p>
        </p:txBody>
      </p:sp>
      <p:sp>
        <p:nvSpPr>
          <p:cNvPr id="37" name="Rectangle 36"/>
          <p:cNvSpPr/>
          <p:nvPr/>
        </p:nvSpPr>
        <p:spPr>
          <a:xfrm>
            <a:off x="475488" y="2747264"/>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74726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CrewAI</a:t>
            </a:r>
          </a:p>
        </p:txBody>
      </p:sp>
      <p:sp>
        <p:nvSpPr>
          <p:cNvPr id="39" name="Rectangle 38"/>
          <p:cNvSpPr/>
          <p:nvPr/>
        </p:nvSpPr>
        <p:spPr>
          <a:xfrm>
            <a:off x="2807208" y="2747264"/>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74726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ролевые «экипажи»</a:t>
            </a:r>
          </a:p>
        </p:txBody>
      </p:sp>
      <p:sp>
        <p:nvSpPr>
          <p:cNvPr id="41" name="Rectangle 40"/>
          <p:cNvSpPr/>
          <p:nvPr/>
        </p:nvSpPr>
        <p:spPr>
          <a:xfrm>
            <a:off x="568756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быстрый роль-декомпозируемый прототип</a:t>
            </a:r>
          </a:p>
        </p:txBody>
      </p:sp>
      <p:sp>
        <p:nvSpPr>
          <p:cNvPr id="43" name="Rectangle 42"/>
          <p:cNvSpPr/>
          <p:nvPr/>
        </p:nvSpPr>
        <p:spPr>
          <a:xfrm>
            <a:off x="870508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роль маскирует, что реально происходит; хрупкость мульти-агента</a:t>
            </a:r>
          </a:p>
        </p:txBody>
      </p:sp>
      <p:sp>
        <p:nvSpPr>
          <p:cNvPr id="45" name="Rectangle 44"/>
          <p:cNvSpPr/>
          <p:nvPr/>
        </p:nvSpPr>
        <p:spPr>
          <a:xfrm>
            <a:off x="475488" y="3043936"/>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04393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AutoGen → AG2</a:t>
            </a:r>
          </a:p>
        </p:txBody>
      </p:sp>
      <p:sp>
        <p:nvSpPr>
          <p:cNvPr id="47" name="Rectangle 46"/>
          <p:cNvSpPr/>
          <p:nvPr/>
        </p:nvSpPr>
        <p:spPr>
          <a:xfrm>
            <a:off x="2807208" y="3043936"/>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04393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разговор агентов</a:t>
            </a:r>
          </a:p>
        </p:txBody>
      </p:sp>
      <p:sp>
        <p:nvSpPr>
          <p:cNvPr id="49" name="Rectangle 48"/>
          <p:cNvSpPr/>
          <p:nvPr/>
        </p:nvSpPr>
        <p:spPr>
          <a:xfrm>
            <a:off x="568756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исследование разговорных паттернов</a:t>
            </a:r>
          </a:p>
        </p:txBody>
      </p:sp>
      <p:sp>
        <p:nvSpPr>
          <p:cNvPr id="51" name="Rectangle 50"/>
          <p:cNvSpPr/>
          <p:nvPr/>
        </p:nvSpPr>
        <p:spPr>
          <a:xfrm>
            <a:off x="870508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частые переименования (AutoGen → AG2 / MS Agent) — риск при внедрении</a:t>
            </a:r>
          </a:p>
        </p:txBody>
      </p:sp>
      <p:sp>
        <p:nvSpPr>
          <p:cNvPr id="53" name="Rectangle 52"/>
          <p:cNvSpPr/>
          <p:nvPr/>
        </p:nvSpPr>
        <p:spPr>
          <a:xfrm>
            <a:off x="475488" y="3340608"/>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34060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OpenAI Agents SDK</a:t>
            </a:r>
          </a:p>
        </p:txBody>
      </p:sp>
      <p:sp>
        <p:nvSpPr>
          <p:cNvPr id="55" name="Rectangle 54"/>
          <p:cNvSpPr/>
          <p:nvPr/>
        </p:nvSpPr>
        <p:spPr>
          <a:xfrm>
            <a:off x="2807208" y="3340608"/>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340608"/>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handoffs (передача)</a:t>
            </a:r>
          </a:p>
        </p:txBody>
      </p:sp>
      <p:sp>
        <p:nvSpPr>
          <p:cNvPr id="57" name="Rectangle 56"/>
          <p:cNvSpPr/>
          <p:nvPr/>
        </p:nvSpPr>
        <p:spPr>
          <a:xfrm>
            <a:off x="568756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лёгкая передача задач + трассировка на OpenAI</a:t>
            </a:r>
          </a:p>
        </p:txBody>
      </p:sp>
      <p:sp>
        <p:nvSpPr>
          <p:cNvPr id="59" name="Rectangle 58"/>
          <p:cNvSpPr/>
          <p:nvPr/>
        </p:nvSpPr>
        <p:spPr>
          <a:xfrm>
            <a:off x="870508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OpenAI-центричность; сохранение состояния/RAG приносишь сам</a:t>
            </a:r>
          </a:p>
        </p:txBody>
      </p:sp>
      <p:sp>
        <p:nvSpPr>
          <p:cNvPr id="61" name="Rectangle 60"/>
          <p:cNvSpPr/>
          <p:nvPr/>
        </p:nvSpPr>
        <p:spPr>
          <a:xfrm>
            <a:off x="475488" y="3637280"/>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3637280"/>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Claude Agent SDK</a:t>
            </a:r>
          </a:p>
        </p:txBody>
      </p:sp>
      <p:sp>
        <p:nvSpPr>
          <p:cNvPr id="63" name="Rectangle 62"/>
          <p:cNvSpPr/>
          <p:nvPr/>
        </p:nvSpPr>
        <p:spPr>
          <a:xfrm>
            <a:off x="2807208" y="3637280"/>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3637280"/>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тот же loop, что Claude Code</a:t>
            </a:r>
          </a:p>
        </p:txBody>
      </p:sp>
      <p:sp>
        <p:nvSpPr>
          <p:cNvPr id="65" name="Rectangle 64"/>
          <p:cNvSpPr/>
          <p:nvPr/>
        </p:nvSpPr>
        <p:spPr>
          <a:xfrm>
            <a:off x="568756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coding / computer-use, длинные задачи</a:t>
            </a:r>
          </a:p>
        </p:txBody>
      </p:sp>
      <p:sp>
        <p:nvSpPr>
          <p:cNvPr id="67" name="Rectangle 66"/>
          <p:cNvSpPr/>
          <p:nvPr/>
        </p:nvSpPr>
        <p:spPr>
          <a:xfrm>
            <a:off x="870508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Claude-центричность; тяжёлый harness vs голый API</a:t>
            </a:r>
          </a:p>
        </p:txBody>
      </p:sp>
      <p:sp>
        <p:nvSpPr>
          <p:cNvPr id="69" name="Rectangle 68"/>
          <p:cNvSpPr/>
          <p:nvPr/>
        </p:nvSpPr>
        <p:spPr>
          <a:xfrm>
            <a:off x="475488" y="3933952"/>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3933952"/>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smolagents</a:t>
            </a:r>
          </a:p>
        </p:txBody>
      </p:sp>
      <p:sp>
        <p:nvSpPr>
          <p:cNvPr id="71" name="Rectangle 70"/>
          <p:cNvSpPr/>
          <p:nvPr/>
        </p:nvSpPr>
        <p:spPr>
          <a:xfrm>
            <a:off x="2807208" y="3933952"/>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3933952"/>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code-агенты (пишут Python)</a:t>
            </a:r>
          </a:p>
        </p:txBody>
      </p:sp>
      <p:sp>
        <p:nvSpPr>
          <p:cNvPr id="73" name="Rectangle 72"/>
          <p:cNvSpPr/>
          <p:nvPr/>
        </p:nvSpPr>
        <p:spPr>
          <a:xfrm>
            <a:off x="568756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минимальный читаемый агент</a:t>
            </a:r>
          </a:p>
        </p:txBody>
      </p:sp>
      <p:sp>
        <p:nvSpPr>
          <p:cNvPr id="75" name="Rectangle 74"/>
          <p:cNvSpPr/>
          <p:nvPr/>
        </p:nvSpPr>
        <p:spPr>
          <a:xfrm>
            <a:off x="870508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исполнение кода = поверхность атаки (нужна песочница)</a:t>
            </a:r>
          </a:p>
        </p:txBody>
      </p:sp>
      <p:sp>
        <p:nvSpPr>
          <p:cNvPr id="77" name="Rectangle 76"/>
          <p:cNvSpPr/>
          <p:nvPr/>
        </p:nvSpPr>
        <p:spPr>
          <a:xfrm>
            <a:off x="475488" y="4230624"/>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23062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LlamaIndex agents</a:t>
            </a:r>
          </a:p>
        </p:txBody>
      </p:sp>
      <p:sp>
        <p:nvSpPr>
          <p:cNvPr id="79" name="Rectangle 78"/>
          <p:cNvSpPr/>
          <p:nvPr/>
        </p:nvSpPr>
        <p:spPr>
          <a:xfrm>
            <a:off x="2807208" y="4230624"/>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23062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поверх RAG-стека</a:t>
            </a:r>
          </a:p>
        </p:txBody>
      </p:sp>
      <p:sp>
        <p:nvSpPr>
          <p:cNvPr id="81" name="Rectangle 80"/>
          <p:cNvSpPr/>
          <p:nvPr/>
        </p:nvSpPr>
        <p:spPr>
          <a:xfrm>
            <a:off x="568756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над вашими документами/данными</a:t>
            </a:r>
          </a:p>
        </p:txBody>
      </p:sp>
      <p:sp>
        <p:nvSpPr>
          <p:cNvPr id="83" name="Rectangle 82"/>
          <p:cNvSpPr/>
          <p:nvPr/>
        </p:nvSpPr>
        <p:spPr>
          <a:xfrm>
            <a:off x="870508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центр тяжести — retrieval, не оркестрация</a:t>
            </a:r>
          </a:p>
        </p:txBody>
      </p:sp>
      <p:sp>
        <p:nvSpPr>
          <p:cNvPr id="85" name="Rectangle 84"/>
          <p:cNvSpPr/>
          <p:nvPr/>
        </p:nvSpPr>
        <p:spPr>
          <a:xfrm>
            <a:off x="475488" y="4527296"/>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6928" y="452729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Pydantic AI</a:t>
            </a:r>
          </a:p>
        </p:txBody>
      </p:sp>
      <p:sp>
        <p:nvSpPr>
          <p:cNvPr id="87" name="Rectangle 86"/>
          <p:cNvSpPr/>
          <p:nvPr/>
        </p:nvSpPr>
        <p:spPr>
          <a:xfrm>
            <a:off x="2807208" y="4527296"/>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898648" y="452729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type-safe agent loop</a:t>
            </a:r>
          </a:p>
        </p:txBody>
      </p:sp>
      <p:sp>
        <p:nvSpPr>
          <p:cNvPr id="89" name="Rectangle 88"/>
          <p:cNvSpPr/>
          <p:nvPr/>
        </p:nvSpPr>
        <p:spPr>
          <a:xfrm>
            <a:off x="568756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779007"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валидированные выходы, типовые контракты</a:t>
            </a:r>
          </a:p>
        </p:txBody>
      </p:sp>
      <p:sp>
        <p:nvSpPr>
          <p:cNvPr id="91" name="Rectangle 90"/>
          <p:cNvSpPr/>
          <p:nvPr/>
        </p:nvSpPr>
        <p:spPr>
          <a:xfrm>
            <a:off x="870508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96528"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молод; type-safety ортогонален оркестрации</a:t>
            </a:r>
          </a:p>
        </p:txBody>
      </p:sp>
      <p:sp>
        <p:nvSpPr>
          <p:cNvPr id="93" name="Rectangle 92"/>
          <p:cNvSpPr/>
          <p:nvPr/>
        </p:nvSpPr>
        <p:spPr>
          <a:xfrm>
            <a:off x="475488" y="4823968"/>
            <a:ext cx="23317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6928" y="482396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НИ ОДНОГО</a:t>
            </a:r>
          </a:p>
        </p:txBody>
      </p:sp>
      <p:sp>
        <p:nvSpPr>
          <p:cNvPr id="95" name="Rectangle 94"/>
          <p:cNvSpPr/>
          <p:nvPr/>
        </p:nvSpPr>
        <p:spPr>
          <a:xfrm>
            <a:off x="2807208" y="4823968"/>
            <a:ext cx="288036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98648" y="4823968"/>
            <a:ext cx="269747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обычный код + прямые вызовы API</a:t>
            </a:r>
          </a:p>
        </p:txBody>
      </p:sp>
      <p:sp>
        <p:nvSpPr>
          <p:cNvPr id="97" name="Rectangle 96"/>
          <p:cNvSpPr/>
          <p:nvPr/>
        </p:nvSpPr>
        <p:spPr>
          <a:xfrm>
            <a:off x="568756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779007"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детерминированные шаги, ≤ пары вызовов LLM</a:t>
            </a:r>
          </a:p>
        </p:txBody>
      </p:sp>
      <p:sp>
        <p:nvSpPr>
          <p:cNvPr id="99" name="Rectangle 98"/>
          <p:cNvSpPr/>
          <p:nvPr/>
        </p:nvSpPr>
        <p:spPr>
          <a:xfrm>
            <a:off x="870508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796528"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требует дисциплины «не тянуться к фреймворку авансом»</a:t>
            </a:r>
          </a:p>
        </p:txBody>
      </p:sp>
      <p:sp>
        <p:nvSpPr>
          <p:cNvPr id="101" name="Rounded Rectangle 100"/>
          <p:cNvSpPr/>
          <p:nvPr/>
        </p:nvSpPr>
        <p:spPr>
          <a:xfrm>
            <a:off x="502920" y="5285232"/>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4088" y="5340096"/>
            <a:ext cx="10799064" cy="713232"/>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Пять минусов выше применимы к КАЖДОЙ строке. Нижняя строка — не для полноты: детерминированный путь + известные шаги + чувствительность к стоимости → обычный код, без агента и без фреймворка. Правило лестницы на уровне выбора инструмента: сложность оснастки оплачивается требованием задачи, а не берётся авансом.</a:t>
            </a:r>
          </a:p>
        </p:txBody>
      </p:sp>
      <p:sp>
        <p:nvSpPr>
          <p:cNvPr id="103" name="TextBox 10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LangGraph (LangChain) — stateful-граф, продакшн-оркестрация</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Агент — под открытую задачу; мульти-агент нужен только в трёх условиях.</a:t>
            </a:r>
          </a:p>
        </p:txBody>
      </p:sp>
      <p:sp>
        <p:nvSpPr>
          <p:cNvPr id="3" name="TextBox 2"/>
          <p:cNvSpPr txBox="1"/>
          <p:nvPr/>
        </p:nvSpPr>
        <p:spPr>
          <a:xfrm>
            <a:off x="502920" y="1115568"/>
            <a:ext cx="11201400" cy="365760"/>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Сверху вниз: предсказуемо → workflow; непредсказуемо и ценно → один агент; несколько агентов — только под конкретный кейс. Каждый лишний шаг перемножает вероятность успеха, а не усредняет.</a:t>
            </a:r>
          </a:p>
        </p:txBody>
      </p:sp>
      <p:sp>
        <p:nvSpPr>
          <p:cNvPr id="4" name="Rounded Rectangle 3"/>
          <p:cNvSpPr/>
          <p:nvPr/>
        </p:nvSpPr>
        <p:spPr>
          <a:xfrm>
            <a:off x="502920" y="1591056"/>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10512"/>
            <a:ext cx="530352" cy="530352"/>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58952" y="1883664"/>
            <a:ext cx="384048" cy="384048"/>
          </a:xfrm>
          <a:prstGeom prst="rect">
            <a:avLst/>
          </a:prstGeom>
        </p:spPr>
      </p:pic>
      <p:sp>
        <p:nvSpPr>
          <p:cNvPr id="7" name="TextBox 6"/>
          <p:cNvSpPr txBox="1"/>
          <p:nvPr/>
        </p:nvSpPr>
        <p:spPr>
          <a:xfrm>
            <a:off x="1362456" y="1737360"/>
            <a:ext cx="4754879" cy="384048"/>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1. Предсказуемо → workflow</a:t>
            </a:r>
          </a:p>
        </p:txBody>
      </p:sp>
      <p:sp>
        <p:nvSpPr>
          <p:cNvPr id="8" name="TextBox 7"/>
          <p:cNvSpPr txBox="1"/>
          <p:nvPr/>
        </p:nvSpPr>
        <p:spPr>
          <a:xfrm>
            <a:off x="1362456" y="2121408"/>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известны заранее; предопределённые в коде пути, аудируемость</a:t>
            </a:r>
          </a:p>
        </p:txBody>
      </p:sp>
      <p:sp>
        <p:nvSpPr>
          <p:cNvPr id="9" name="Rounded Rectangle 8"/>
          <p:cNvSpPr/>
          <p:nvPr/>
        </p:nvSpPr>
        <p:spPr>
          <a:xfrm>
            <a:off x="502920" y="2651760"/>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2871215"/>
            <a:ext cx="530352" cy="530352"/>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58952" y="2944368"/>
            <a:ext cx="384048" cy="384048"/>
          </a:xfrm>
          <a:prstGeom prst="rect">
            <a:avLst/>
          </a:prstGeom>
        </p:spPr>
      </p:pic>
      <p:sp>
        <p:nvSpPr>
          <p:cNvPr id="12" name="TextBox 11"/>
          <p:cNvSpPr txBox="1"/>
          <p:nvPr/>
        </p:nvSpPr>
        <p:spPr>
          <a:xfrm>
            <a:off x="1362456" y="2798064"/>
            <a:ext cx="4754879" cy="384048"/>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2. Непредсказуемо → один агент</a:t>
            </a:r>
          </a:p>
        </p:txBody>
      </p:sp>
      <p:sp>
        <p:nvSpPr>
          <p:cNvPr id="13" name="TextBox 12"/>
          <p:cNvSpPr txBox="1"/>
          <p:nvPr/>
        </p:nvSpPr>
        <p:spPr>
          <a:xfrm>
            <a:off x="1362456" y="3182112"/>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зависят от промежуточных результатов; цена оправдана ценностью</a:t>
            </a:r>
          </a:p>
        </p:txBody>
      </p:sp>
      <p:sp>
        <p:nvSpPr>
          <p:cNvPr id="14" name="Rounded Rectangle 13"/>
          <p:cNvSpPr/>
          <p:nvPr/>
        </p:nvSpPr>
        <p:spPr>
          <a:xfrm>
            <a:off x="502920" y="3712463"/>
            <a:ext cx="5760720" cy="1005839"/>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931920"/>
            <a:ext cx="530352" cy="530352"/>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58952" y="4005072"/>
            <a:ext cx="384048" cy="384048"/>
          </a:xfrm>
          <a:prstGeom prst="rect">
            <a:avLst/>
          </a:prstGeom>
        </p:spPr>
      </p:pic>
      <p:sp>
        <p:nvSpPr>
          <p:cNvPr id="17" name="TextBox 16"/>
          <p:cNvSpPr txBox="1"/>
          <p:nvPr/>
        </p:nvSpPr>
        <p:spPr>
          <a:xfrm>
            <a:off x="1362456" y="3858768"/>
            <a:ext cx="4754879" cy="384048"/>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3. Мульти-агент — под конкретный кейс</a:t>
            </a:r>
          </a:p>
        </p:txBody>
      </p:sp>
      <p:sp>
        <p:nvSpPr>
          <p:cNvPr id="18" name="TextBox 17"/>
          <p:cNvSpPr txBox="1"/>
          <p:nvPr/>
        </p:nvSpPr>
        <p:spPr>
          <a:xfrm>
            <a:off x="1362456" y="4242816"/>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нужен только в 3 условиях (справа); вне их — неверный инструмент</a:t>
            </a:r>
          </a:p>
        </p:txBody>
      </p:sp>
      <p:sp>
        <p:nvSpPr>
          <p:cNvPr id="19" name="Rounded Rectangle 18"/>
          <p:cNvSpPr/>
          <p:nvPr/>
        </p:nvSpPr>
        <p:spPr>
          <a:xfrm>
            <a:off x="502920" y="4791455"/>
            <a:ext cx="5760720" cy="85953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64607"/>
            <a:ext cx="5358383" cy="731520"/>
          </a:xfrm>
          <a:prstGeom prst="rect">
            <a:avLst/>
          </a:prstGeom>
          <a:noFill/>
        </p:spPr>
        <p:txBody>
          <a:bodyPr wrap="square" lIns="0" rIns="0" tIns="0" bIns="0" anchor="ctr">
            <a:spAutoFit/>
          </a:bodyPr>
          <a:lstStyle/>
          <a:p>
            <a:pPr algn="l">
              <a:lnSpc>
                <a:spcPct val="114000"/>
              </a:lnSpc>
            </a:pPr>
            <a:r>
              <a:rPr sz="1150" b="1" i="0">
                <a:solidFill>
                  <a:srgbClr val="028090"/>
                </a:solidFill>
                <a:latin typeface="Arial"/>
              </a:rPr>
              <a:t>Вне этих кейсов мульти-агент — неверный инструмент: </a:t>
            </a:r>
            <a:r>
              <a:rPr sz="1100" b="0" i="0">
                <a:solidFill>
                  <a:srgbClr val="21295C"/>
                </a:solidFill>
                <a:latin typeface="Arial"/>
              </a:rPr>
              <a:t>надёжность падает как pⁿ (×15 токенов). Числа и замеры — на следующем слайде.</a:t>
            </a:r>
          </a:p>
        </p:txBody>
      </p:sp>
      <p:sp>
        <p:nvSpPr>
          <p:cNvPr id="21" name="Rounded Rectangle 20"/>
          <p:cNvSpPr/>
          <p:nvPr/>
        </p:nvSpPr>
        <p:spPr>
          <a:xfrm>
            <a:off x="6446520" y="1591056"/>
            <a:ext cx="5257800" cy="2724912"/>
          </a:xfrm>
          <a:prstGeom prst="roundRect">
            <a:avLst>
              <a:gd name="adj" fmla="val 1118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1682496"/>
            <a:ext cx="4855464" cy="292608"/>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Три условия, когда мульти-агент оправдан:</a:t>
            </a:r>
          </a:p>
        </p:txBody>
      </p:sp>
      <p:sp>
        <p:nvSpPr>
          <p:cNvPr id="23" name="TextBox 22"/>
          <p:cNvSpPr txBox="1"/>
          <p:nvPr/>
        </p:nvSpPr>
        <p:spPr>
          <a:xfrm>
            <a:off x="6647688" y="2048256"/>
            <a:ext cx="4855464" cy="402336"/>
          </a:xfrm>
          <a:prstGeom prst="rect">
            <a:avLst/>
          </a:prstGeom>
          <a:noFill/>
        </p:spPr>
        <p:txBody>
          <a:bodyPr wrap="square" lIns="0" rIns="0" tIns="0" bIns="0" anchor="t">
            <a:spAutoFit/>
          </a:bodyPr>
          <a:lstStyle/>
          <a:p>
            <a:pPr algn="l">
              <a:lnSpc>
                <a:spcPct val="102000"/>
              </a:lnSpc>
            </a:pPr>
            <a:r>
              <a:rPr sz="1050" b="1" i="0">
                <a:solidFill>
                  <a:srgbClr val="21295C"/>
                </a:solidFill>
                <a:latin typeface="Arial"/>
              </a:rPr>
              <a:t>1. Широко-параллельные независимые ЧТЕНИЯ (не решения)</a:t>
            </a:r>
          </a:p>
        </p:txBody>
      </p:sp>
      <p:sp>
        <p:nvSpPr>
          <p:cNvPr id="24" name="TextBox 23"/>
          <p:cNvSpPr txBox="1"/>
          <p:nvPr/>
        </p:nvSpPr>
        <p:spPr>
          <a:xfrm>
            <a:off x="6647688" y="2432304"/>
            <a:ext cx="4855464" cy="365760"/>
          </a:xfrm>
          <a:prstGeom prst="rect">
            <a:avLst/>
          </a:prstGeom>
          <a:noFill/>
        </p:spPr>
        <p:txBody>
          <a:bodyPr wrap="square" lIns="0" rIns="0" tIns="0" bIns="0" anchor="t">
            <a:spAutoFit/>
          </a:bodyPr>
          <a:lstStyle/>
          <a:p>
            <a:pPr algn="l">
              <a:lnSpc>
                <a:spcPct val="102000"/>
              </a:lnSpc>
            </a:pPr>
            <a:r>
              <a:rPr sz="950" b="0" i="1">
                <a:solidFill>
                  <a:srgbClr val="5B6678"/>
                </a:solidFill>
                <a:latin typeface="Arial"/>
              </a:rPr>
              <a:t>напр.: прочитать 100 источников параллельно и свести в отчёт (Anthropic research).</a:t>
            </a:r>
          </a:p>
        </p:txBody>
      </p:sp>
      <p:sp>
        <p:nvSpPr>
          <p:cNvPr id="25" name="TextBox 24"/>
          <p:cNvSpPr txBox="1"/>
          <p:nvPr/>
        </p:nvSpPr>
        <p:spPr>
          <a:xfrm>
            <a:off x="6647688" y="2779776"/>
            <a:ext cx="4855464" cy="402336"/>
          </a:xfrm>
          <a:prstGeom prst="rect">
            <a:avLst/>
          </a:prstGeom>
          <a:noFill/>
        </p:spPr>
        <p:txBody>
          <a:bodyPr wrap="square" lIns="0" rIns="0" tIns="0" bIns="0" anchor="t">
            <a:spAutoFit/>
          </a:bodyPr>
          <a:lstStyle/>
          <a:p>
            <a:pPr algn="l">
              <a:lnSpc>
                <a:spcPct val="102000"/>
              </a:lnSpc>
            </a:pPr>
            <a:r>
              <a:rPr sz="1050" b="1" i="0">
                <a:solidFill>
                  <a:srgbClr val="21295C"/>
                </a:solidFill>
                <a:latin typeface="Arial"/>
              </a:rPr>
              <a:t>2. Независимые перспективы для кросс-проверки</a:t>
            </a:r>
          </a:p>
        </p:txBody>
      </p:sp>
      <p:sp>
        <p:nvSpPr>
          <p:cNvPr id="26" name="TextBox 25"/>
          <p:cNvSpPr txBox="1"/>
          <p:nvPr/>
        </p:nvSpPr>
        <p:spPr>
          <a:xfrm>
            <a:off x="6647688" y="3163824"/>
            <a:ext cx="4855464" cy="365760"/>
          </a:xfrm>
          <a:prstGeom prst="rect">
            <a:avLst/>
          </a:prstGeom>
          <a:noFill/>
        </p:spPr>
        <p:txBody>
          <a:bodyPr wrap="square" lIns="0" rIns="0" tIns="0" bIns="0" anchor="t">
            <a:spAutoFit/>
          </a:bodyPr>
          <a:lstStyle/>
          <a:p>
            <a:pPr algn="l">
              <a:lnSpc>
                <a:spcPct val="102000"/>
              </a:lnSpc>
            </a:pPr>
            <a:r>
              <a:rPr sz="950" b="0" i="1">
                <a:solidFill>
                  <a:srgbClr val="5B6678"/>
                </a:solidFill>
                <a:latin typeface="Arial"/>
              </a:rPr>
              <a:t>напр.: 5 агентов независимо ищут → голосование.</a:t>
            </a:r>
          </a:p>
        </p:txBody>
      </p:sp>
      <p:sp>
        <p:nvSpPr>
          <p:cNvPr id="27" name="TextBox 26"/>
          <p:cNvSpPr txBox="1"/>
          <p:nvPr/>
        </p:nvSpPr>
        <p:spPr>
          <a:xfrm>
            <a:off x="6647688" y="3511296"/>
            <a:ext cx="4855464" cy="402336"/>
          </a:xfrm>
          <a:prstGeom prst="rect">
            <a:avLst/>
          </a:prstGeom>
          <a:noFill/>
        </p:spPr>
        <p:txBody>
          <a:bodyPr wrap="square" lIns="0" rIns="0" tIns="0" bIns="0" anchor="t">
            <a:spAutoFit/>
          </a:bodyPr>
          <a:lstStyle/>
          <a:p>
            <a:pPr algn="l">
              <a:lnSpc>
                <a:spcPct val="102000"/>
              </a:lnSpc>
            </a:pPr>
            <a:r>
              <a:rPr sz="1050" b="1" i="0">
                <a:solidFill>
                  <a:srgbClr val="21295C"/>
                </a:solidFill>
                <a:latin typeface="Arial"/>
              </a:rPr>
              <a:t>3. Изолированные под-домены с раздельными инструментами / правами</a:t>
            </a:r>
          </a:p>
        </p:txBody>
      </p:sp>
      <p:sp>
        <p:nvSpPr>
          <p:cNvPr id="28" name="TextBox 27"/>
          <p:cNvSpPr txBox="1"/>
          <p:nvPr/>
        </p:nvSpPr>
        <p:spPr>
          <a:xfrm>
            <a:off x="6647688" y="3895344"/>
            <a:ext cx="4855464" cy="365760"/>
          </a:xfrm>
          <a:prstGeom prst="rect">
            <a:avLst/>
          </a:prstGeom>
          <a:noFill/>
        </p:spPr>
        <p:txBody>
          <a:bodyPr wrap="square" lIns="0" rIns="0" tIns="0" bIns="0" anchor="t">
            <a:spAutoFit/>
          </a:bodyPr>
          <a:lstStyle/>
          <a:p>
            <a:pPr algn="l">
              <a:lnSpc>
                <a:spcPct val="102000"/>
              </a:lnSpc>
            </a:pPr>
            <a:r>
              <a:rPr sz="950" b="0" i="1">
                <a:solidFill>
                  <a:srgbClr val="5B6678"/>
                </a:solidFill>
                <a:latin typeface="Arial"/>
              </a:rPr>
              <a:t>напр.: отдельный агент на биллинг, отдельный на инфраструктуру.</a:t>
            </a:r>
          </a:p>
        </p:txBody>
      </p:sp>
      <p:sp>
        <p:nvSpPr>
          <p:cNvPr id="29" name="Rounded Rectangle 28"/>
          <p:cNvSpPr/>
          <p:nvPr/>
        </p:nvSpPr>
        <p:spPr>
          <a:xfrm>
            <a:off x="6446520" y="4389120"/>
            <a:ext cx="52578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47688" y="4443984"/>
            <a:ext cx="4855464"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Cognition vs Anthropic — примирение:</a:t>
            </a:r>
          </a:p>
        </p:txBody>
      </p:sp>
      <p:sp>
        <p:nvSpPr>
          <p:cNvPr id="31" name="TextBox 30"/>
          <p:cNvSpPr txBox="1"/>
          <p:nvPr/>
        </p:nvSpPr>
        <p:spPr>
          <a:xfrm>
            <a:off x="6647688" y="4718304"/>
            <a:ext cx="4855464" cy="786384"/>
          </a:xfrm>
          <a:prstGeom prst="rect">
            <a:avLst/>
          </a:prstGeom>
          <a:noFill/>
        </p:spPr>
        <p:txBody>
          <a:bodyPr wrap="square" lIns="0" rIns="0" tIns="0" bIns="0" anchor="t">
            <a:spAutoFit/>
          </a:bodyPr>
          <a:lstStyle/>
          <a:p>
            <a:pPr algn="l">
              <a:lnSpc>
                <a:spcPct val="104000"/>
              </a:lnSpc>
            </a:pPr>
            <a:r>
              <a:rPr sz="900" b="0" i="0">
                <a:solidFill>
                  <a:srgbClr val="21295C"/>
                </a:solidFill>
                <a:latin typeface="Arial"/>
              </a:rPr>
              <a:t>Anthropic: мульти-агент выигрывает research-задачи. Cognition: «не стройте мульти-агентов». Противоречия нет: параллельте независимые ЧТЕНИЯ</a:t>
            </a:r>
            <a:r>
              <a:rPr sz="468" baseline="30000" b="0" i="1">
                <a:latin typeface="Arial"/>
                <a:cs typeface="Arial"/>
                <a:ea typeface="Arial"/>
                <a:solidFill>
                  <a:srgbClr val="1C7293"/>
                </a:solidFill>
              </a:rPr>
              <a:t>[1]</a:t>
            </a:r>
            <a:r>
              <a:rPr sz="900" b="0" i="0">
                <a:latin typeface="Arial"/>
                <a:cs typeface="Arial"/>
                <a:ea typeface="Arial"/>
                <a:solidFill>
                  <a:srgbClr val="21295C"/>
                </a:solidFill>
              </a:rPr>
              <a:t> (поиск вширь), но не РЕШЕНИЯ с зависимостями. Топология: рой связей = быстрее коллапс</a:t>
            </a:r>
            <a:r>
              <a:rPr sz="468" baseline="30000" b="0" i="1">
                <a:latin typeface="Arial"/>
                <a:cs typeface="Arial"/>
                <a:ea typeface="Arial"/>
                <a:solidFill>
                  <a:srgbClr val="1C7293"/>
                </a:solidFill>
              </a:rPr>
              <a:t>[2]</a:t>
            </a:r>
            <a:r>
              <a:rPr sz="900" b="0" i="0">
                <a:latin typeface="Arial"/>
                <a:cs typeface="Arial"/>
                <a:ea typeface="Arial"/>
                <a:solidFill>
                  <a:srgbClr val="21295C"/>
                </a:solidFill>
              </a:rPr>
              <a:t>.</a:t>
            </a:r>
          </a:p>
        </p:txBody>
      </p:sp>
      <p:sp>
        <p:nvSpPr>
          <p:cNvPr id="32" name="Rounded Rectangle 31"/>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Начинай с одного сильного агента. Мульти-агент оправдан только в трёх кейсах выше и когда ценность оправдывает кратную цену; иначе это неверный инструмент.</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Multi-Agent Research System (spend enough tokens)</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топология: рой vs координатор</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0,95²⁰ ≈ 0,36.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τ-bench: pⁿ, измеренный вживую</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GPT-4o </a:t>
            </a:r>
            <a:r>
              <a:rPr sz="1600" b="1" i="0">
                <a:solidFill>
                  <a:srgbClr val="028090"/>
                </a:solidFill>
                <a:latin typeface="Arial"/>
              </a:rPr>
              <a:t>61%</a:t>
            </a:r>
            <a:r>
              <a:rPr sz="1200" b="0" i="0">
                <a:solidFill>
                  <a:srgbClr val="21295C"/>
                </a:solidFill>
                <a:latin typeface="Arial"/>
              </a:rPr>
              <a:t> pass@1 → </a:t>
            </a:r>
            <a:r>
              <a:rPr sz="1600" b="1" i="0">
                <a:solidFill>
                  <a:srgbClr val="065A82"/>
                </a:solidFill>
                <a:latin typeface="Arial"/>
              </a:rPr>
              <a:t>25%</a:t>
            </a:r>
            <a:r>
              <a:rPr sz="1200" b="0" i="0">
                <a:solidFill>
                  <a:srgbClr val="21295C"/>
                </a:solidFill>
                <a:latin typeface="Arial"/>
              </a:rPr>
              <a:t> pass@8: стабильно на всех восьми прогонах лишь в четверти случаев.</a:t>
            </a:r>
            <a:r>
              <a:rPr sz="624" baseline="30000" b="0" i="1">
                <a:latin typeface="Arial"/>
                <a:cs typeface="Arial"/>
                <a:ea typeface="Arial"/>
                <a:solidFill>
                  <a:srgbClr val="1C7293"/>
                </a:solidFill>
              </a:rPr>
              <a:t>[1]</a:t>
            </a:r>
          </a:p>
        </p:txBody>
      </p:sp>
      <p:sp>
        <p:nvSpPr>
          <p:cNvPr id="19" name="Rounded Rectangle 18"/>
          <p:cNvSpPr/>
          <p:nvPr/>
        </p:nvSpPr>
        <p:spPr>
          <a:xfrm>
            <a:off x="6172200" y="3017520"/>
            <a:ext cx="5532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3108960"/>
            <a:ext cx="509320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решает: координатор &gt; рой</a:t>
            </a:r>
          </a:p>
        </p:txBody>
      </p:sp>
      <p:sp>
        <p:nvSpPr>
          <p:cNvPr id="21" name="TextBox 20"/>
          <p:cNvSpPr txBox="1"/>
          <p:nvPr/>
        </p:nvSpPr>
        <p:spPr>
          <a:xfrm>
            <a:off x="6391656" y="3419856"/>
            <a:ext cx="5093208" cy="438912"/>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«Рой» равноправных агентов амплифицирует ошибки </a:t>
            </a:r>
            <a:r>
              <a:rPr sz="1500" b="1" i="0">
                <a:solidFill>
                  <a:srgbClr val="028090"/>
                </a:solidFill>
                <a:latin typeface="Arial"/>
              </a:rPr>
              <a:t>17,2×</a:t>
            </a:r>
            <a:r>
              <a:rPr sz="780" baseline="30000" b="0" i="1">
                <a:latin typeface="Arial"/>
                <a:cs typeface="Arial"/>
                <a:ea typeface="Arial"/>
                <a:solidFill>
                  <a:srgbClr val="1C7293"/>
                </a:solidFill>
              </a:rPr>
              <a:t>[2,3]</a:t>
            </a:r>
            <a:r>
              <a:rPr sz="1100" b="0" i="0">
                <a:solidFill>
                  <a:srgbClr val="21295C"/>
                </a:solidFill>
                <a:latin typeface="Arial"/>
              </a:rPr>
              <a:t>, один координатор — только </a:t>
            </a:r>
            <a:r>
              <a:rPr sz="1500" b="1" i="0">
                <a:solidFill>
                  <a:srgbClr val="065A82"/>
                </a:solidFill>
                <a:latin typeface="Arial"/>
              </a:rPr>
              <a:t>4,4×</a:t>
            </a:r>
            <a:r>
              <a:rPr sz="1100" b="0" i="0">
                <a:solidFill>
                  <a:srgbClr val="21295C"/>
                </a:solidFill>
                <a:latin typeface="Arial"/>
              </a:rPr>
              <a:t> (Kim et al., 2512.08296).</a:t>
            </a:r>
          </a:p>
        </p:txBody>
      </p:sp>
      <p:sp>
        <p:nvSpPr>
          <p:cNvPr id="22" name="Rounded Rectangle 21"/>
          <p:cNvSpPr/>
          <p:nvPr/>
        </p:nvSpPr>
        <p:spPr>
          <a:xfrm>
            <a:off x="6172200" y="4023360"/>
            <a:ext cx="5532120" cy="5486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essage-circle-mid.png"/>
          <p:cNvPicPr>
            <a:picLocks noChangeAspect="1"/>
          </p:cNvPicPr>
          <p:nvPr/>
        </p:nvPicPr>
        <p:blipFill>
          <a:blip r:embed="rId2"/>
          <a:stretch>
            <a:fillRect/>
          </a:stretch>
        </p:blipFill>
        <p:spPr>
          <a:xfrm>
            <a:off x="6391656" y="4133087"/>
            <a:ext cx="310896" cy="310896"/>
          </a:xfrm>
          <a:prstGeom prst="rect">
            <a:avLst/>
          </a:prstGeom>
        </p:spPr>
      </p:pic>
      <p:sp>
        <p:nvSpPr>
          <p:cNvPr id="24" name="TextBox 23"/>
          <p:cNvSpPr txBox="1"/>
          <p:nvPr/>
        </p:nvSpPr>
        <p:spPr>
          <a:xfrm>
            <a:off x="6812280" y="4096511"/>
            <a:ext cx="4672583" cy="420624"/>
          </a:xfrm>
          <a:prstGeom prst="rect">
            <a:avLst/>
          </a:prstGeom>
          <a:noFill/>
        </p:spPr>
        <p:txBody>
          <a:bodyPr wrap="square" lIns="0" rIns="0" tIns="0" bIns="0" anchor="t">
            <a:spAutoFit/>
          </a:bodyPr>
          <a:lstStyle/>
          <a:p>
            <a:pPr algn="l">
              <a:lnSpc>
                <a:spcPct val="108000"/>
              </a:lnSpc>
            </a:pPr>
            <a:r>
              <a:rPr sz="1050" b="0" i="1">
                <a:solidFill>
                  <a:srgbClr val="21295C"/>
                </a:solidFill>
                <a:latin typeface="Arial"/>
              </a:rPr>
              <a:t>Anthropic: выигрыш «because it helps spend enough tokens» — от объёма токенов, не от «магии координации».</a:t>
            </a:r>
          </a:p>
        </p:txBody>
      </p:sp>
      <p:sp>
        <p:nvSpPr>
          <p:cNvPr id="25" name="Rounded Rectangle 24"/>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начинай с одного сильного агента. Цена растёт кратно — одиночный ≈ 4× токенов чата, мульти ≈ 15×.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рой 17,2× vs координатор 4,4×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Anthropic — Multi-Agent Research System («spend enough tokens»)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Специально организованная память агента — не всегда во благо.</a:t>
            </a:r>
          </a:p>
        </p:txBody>
      </p:sp>
      <p:sp>
        <p:nvSpPr>
          <p:cNvPr id="3" name="TextBox 2"/>
          <p:cNvSpPr txBox="1"/>
          <p:nvPr/>
        </p:nvSpPr>
        <p:spPr>
          <a:xfrm>
            <a:off x="502920" y="987552"/>
            <a:ext cx="11201400" cy="603504"/>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В пределах одной сессии агент «помнит» всегда — это контекст. Речь о ДОБАВЛЕННОМ постоянном слое памяти между сессиями (mem0 / Cognee / Letta / Memory Tool): наличие такого слоя интуитивно кажется чистым выигрышем. Независимая проверка показывает: иногда — драматически нет</a:t>
            </a:r>
            <a:r>
              <a:rPr sz="624" baseline="30000" b="0" i="1">
                <a:latin typeface="Arial"/>
                <a:cs typeface="Arial"/>
                <a:ea typeface="Arial"/>
                <a:solidFill>
                  <a:srgbClr val="1C7293"/>
                </a:solidFill>
              </a:rPr>
              <a:t>[1]</a:t>
            </a:r>
            <a:r>
              <a:rPr sz="1200" b="0" i="1">
                <a:latin typeface="Arial"/>
                <a:cs typeface="Arial"/>
                <a:ea typeface="Arial"/>
                <a:solidFill>
                  <a:srgbClr val="065A82"/>
                </a:solidFill>
              </a:rPr>
              <a:t>.</a:t>
            </a:r>
          </a:p>
        </p:txBody>
      </p:sp>
      <p:sp>
        <p:nvSpPr>
          <p:cNvPr id="4" name="Rounded Rectangle 3"/>
          <p:cNvSpPr/>
          <p:nvPr/>
        </p:nvSpPr>
        <p:spPr>
          <a:xfrm>
            <a:off x="502920" y="1755648"/>
            <a:ext cx="5715000" cy="3648456"/>
          </a:xfrm>
          <a:prstGeom prst="roundRect">
            <a:avLst>
              <a:gd name="adj" fmla="val 83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56816"/>
            <a:ext cx="420624" cy="420624"/>
          </a:xfrm>
          <a:prstGeom prst="rect">
            <a:avLst/>
          </a:prstGeom>
        </p:spPr>
      </p:pic>
      <p:sp>
        <p:nvSpPr>
          <p:cNvPr id="6" name="TextBox 5"/>
          <p:cNvSpPr txBox="1"/>
          <p:nvPr/>
        </p:nvSpPr>
        <p:spPr>
          <a:xfrm>
            <a:off x="1271016" y="1956816"/>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68880"/>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108960"/>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108960"/>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108960"/>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108960"/>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93008"/>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93008"/>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93008"/>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93008"/>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77056"/>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7705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77056"/>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7705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79392"/>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55648"/>
            <a:ext cx="5257800" cy="3648456"/>
          </a:xfrm>
          <a:prstGeom prst="roundRect">
            <a:avLst>
              <a:gd name="adj" fmla="val 835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56816"/>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95728"/>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834639"/>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6674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62102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4050791"/>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4005072"/>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43484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8912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81888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7316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переоснащённый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800" b="1" i="0">
                <a:solidFill>
                  <a:srgbClr val="21295C"/>
                </a:solidFill>
                <a:latin typeface="Arial"/>
              </a:rPr>
              <a:t>Шесть типовых агентных задач по одной схеме: где агент оправдан, а где часть задачи стоит откатить в workflow.</a:t>
            </a:r>
          </a:p>
        </p:txBody>
      </p:sp>
      <p:sp>
        <p:nvSpPr>
          <p:cNvPr id="3" name="Rounded Rectangle 2"/>
          <p:cNvSpPr/>
          <p:nvPr/>
        </p:nvSpPr>
        <p:spPr>
          <a:xfrm>
            <a:off x="365760" y="1298448"/>
            <a:ext cx="11475720"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389888"/>
            <a:ext cx="2514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89888"/>
            <a:ext cx="233172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Задача</a:t>
            </a:r>
          </a:p>
        </p:txBody>
      </p:sp>
      <p:sp>
        <p:nvSpPr>
          <p:cNvPr id="6" name="Rectangle 5"/>
          <p:cNvSpPr/>
          <p:nvPr/>
        </p:nvSpPr>
        <p:spPr>
          <a:xfrm>
            <a:off x="2990088" y="1389888"/>
            <a:ext cx="3154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1389888"/>
            <a:ext cx="297180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Форма петли</a:t>
            </a:r>
          </a:p>
        </p:txBody>
      </p:sp>
      <p:sp>
        <p:nvSpPr>
          <p:cNvPr id="8" name="Rectangle 7"/>
          <p:cNvSpPr/>
          <p:nvPr/>
        </p:nvSpPr>
        <p:spPr>
          <a:xfrm>
            <a:off x="6144768" y="1389888"/>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389888"/>
            <a:ext cx="36118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Где ломается (число / кейс)</a:t>
            </a:r>
          </a:p>
        </p:txBody>
      </p:sp>
      <p:sp>
        <p:nvSpPr>
          <p:cNvPr id="10" name="Rectangle 9"/>
          <p:cNvSpPr/>
          <p:nvPr/>
        </p:nvSpPr>
        <p:spPr>
          <a:xfrm>
            <a:off x="9939528" y="1389888"/>
            <a:ext cx="19659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30968" y="1389888"/>
            <a:ext cx="17830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Лучше workflow?</a:t>
            </a:r>
          </a:p>
        </p:txBody>
      </p:sp>
      <p:sp>
        <p:nvSpPr>
          <p:cNvPr id="12" name="Rectangle 11"/>
          <p:cNvSpPr/>
          <p:nvPr/>
        </p:nvSpPr>
        <p:spPr>
          <a:xfrm>
            <a:off x="475488" y="1755648"/>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75564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Coding-агент
(Claude Code / Cursor)</a:t>
            </a:r>
          </a:p>
        </p:txBody>
      </p:sp>
      <p:sp>
        <p:nvSpPr>
          <p:cNvPr id="14" name="Rectangle 13"/>
          <p:cNvSpPr/>
          <p:nvPr/>
        </p:nvSpPr>
        <p:spPr>
          <a:xfrm>
            <a:off x="2990088" y="1755648"/>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175564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читать репо → план → правки → тесты → PR</a:t>
            </a:r>
          </a:p>
        </p:txBody>
      </p:sp>
      <p:sp>
        <p:nvSpPr>
          <p:cNvPr id="16" name="Rectangle 15"/>
          <p:cNvSpPr/>
          <p:nvPr/>
        </p:nvSpPr>
        <p:spPr>
          <a:xfrm>
            <a:off x="6144768" y="1755648"/>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75564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большие рефакторинги; тихие неверные правки; петля на «мигающих» тестах</a:t>
            </a:r>
          </a:p>
        </p:txBody>
      </p:sp>
      <p:sp>
        <p:nvSpPr>
          <p:cNvPr id="18" name="Rectangle 17"/>
          <p:cNvSpPr/>
          <p:nvPr/>
        </p:nvSpPr>
        <p:spPr>
          <a:xfrm>
            <a:off x="9939528" y="1755648"/>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30968" y="1755648"/>
            <a:ext cx="1783080" cy="612647"/>
          </a:xfrm>
          <a:prstGeom prst="rect">
            <a:avLst/>
          </a:prstGeom>
          <a:noFill/>
        </p:spPr>
        <p:txBody>
          <a:bodyPr wrap="square" lIns="0" rIns="0" tIns="0" bIns="0" anchor="ctr">
            <a:spAutoFit/>
          </a:bodyPr>
          <a:lstStyle/>
          <a:p>
            <a:pPr algn="l">
              <a:lnSpc>
                <a:spcPct val="102000"/>
              </a:lnSpc>
            </a:pPr>
            <a:r>
              <a:rPr sz="850" b="0" i="0">
                <a:solidFill>
                  <a:srgbClr val="028090"/>
                </a:solidFill>
                <a:latin typeface="Arial"/>
              </a:rPr>
              <a:t>Нет — открытый поиск по коду требует агентности</a:t>
            </a:r>
          </a:p>
        </p:txBody>
      </p:sp>
      <p:sp>
        <p:nvSpPr>
          <p:cNvPr id="20" name="Rectangle 19"/>
          <p:cNvSpPr/>
          <p:nvPr/>
        </p:nvSpPr>
        <p:spPr>
          <a:xfrm>
            <a:off x="475488" y="2368296"/>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368296"/>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Клиентская поддержка
(Air Canada · Klarna)</a:t>
            </a:r>
          </a:p>
        </p:txBody>
      </p:sp>
      <p:sp>
        <p:nvSpPr>
          <p:cNvPr id="22" name="Rectangle 21"/>
          <p:cNvSpPr/>
          <p:nvPr/>
        </p:nvSpPr>
        <p:spPr>
          <a:xfrm>
            <a:off x="2990088" y="2368296"/>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2368296"/>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классифицировать → достать политику → решить/эскалировать</a:t>
            </a:r>
          </a:p>
        </p:txBody>
      </p:sp>
      <p:sp>
        <p:nvSpPr>
          <p:cNvPr id="24" name="Rectangle 23"/>
          <p:cNvSpPr/>
          <p:nvPr/>
        </p:nvSpPr>
        <p:spPr>
          <a:xfrm>
            <a:off x="6144768" y="2368296"/>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368296"/>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Air Canada: бот выдумал политику</a:t>
            </a:r>
            <a:r>
              <a:rPr sz="442" baseline="30000" b="0" i="1">
                <a:latin typeface="Arial"/>
                <a:cs typeface="Arial"/>
                <a:ea typeface="Arial"/>
                <a:solidFill>
                  <a:srgbClr val="1C7293"/>
                </a:solidFill>
              </a:rPr>
              <a:t>[1]</a:t>
            </a:r>
            <a:r>
              <a:rPr sz="850" b="0" i="0">
                <a:latin typeface="Arial"/>
                <a:cs typeface="Arial"/>
                <a:ea typeface="Arial"/>
                <a:solidFill>
                  <a:srgbClr val="21295C"/>
                </a:solidFill>
              </a:rPr>
              <a:t> → трибунал взыскал. Klarna: «−700 агентов» → вернули людей</a:t>
            </a:r>
          </a:p>
        </p:txBody>
      </p:sp>
      <p:sp>
        <p:nvSpPr>
          <p:cNvPr id="26" name="Rectangle 25"/>
          <p:cNvSpPr/>
          <p:nvPr/>
        </p:nvSpPr>
        <p:spPr>
          <a:xfrm>
            <a:off x="9939528" y="2368296"/>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8" y="2368296"/>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Часто ДА для риск-части: детерминированная маршрутизация + guardrails</a:t>
            </a:r>
          </a:p>
        </p:txBody>
      </p:sp>
      <p:sp>
        <p:nvSpPr>
          <p:cNvPr id="28" name="Rectangle 27"/>
          <p:cNvSpPr/>
          <p:nvPr/>
        </p:nvSpPr>
        <p:spPr>
          <a:xfrm>
            <a:off x="475488" y="2980944"/>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2980944"/>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ETL / data-pipeline</a:t>
            </a:r>
          </a:p>
        </p:txBody>
      </p:sp>
      <p:sp>
        <p:nvSpPr>
          <p:cNvPr id="30" name="Rectangle 29"/>
          <p:cNvSpPr/>
          <p:nvPr/>
        </p:nvSpPr>
        <p:spPr>
          <a:xfrm>
            <a:off x="2990088" y="2980944"/>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81528" y="2980944"/>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заметить дрейф схемы → пропатчить → провалидировать → применить</a:t>
            </a:r>
          </a:p>
        </p:txBody>
      </p:sp>
      <p:sp>
        <p:nvSpPr>
          <p:cNvPr id="32" name="Rectangle 31"/>
          <p:cNvSpPr/>
          <p:nvPr/>
        </p:nvSpPr>
        <p:spPr>
          <a:xfrm>
            <a:off x="6144768" y="2980944"/>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2980944"/>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тихие плохие преобразования на масштабе; недетерминизм в аудируемом пайплайне</a:t>
            </a:r>
          </a:p>
        </p:txBody>
      </p:sp>
      <p:sp>
        <p:nvSpPr>
          <p:cNvPr id="34" name="Rectangle 33"/>
          <p:cNvSpPr/>
          <p:nvPr/>
        </p:nvSpPr>
        <p:spPr>
          <a:xfrm>
            <a:off x="9939528" y="2980944"/>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30968" y="2980944"/>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В основном ДА: ствол детерминирован, агент — на край починки дрейфа</a:t>
            </a:r>
          </a:p>
        </p:txBody>
      </p:sp>
      <p:sp>
        <p:nvSpPr>
          <p:cNvPr id="36" name="Rectangle 35"/>
          <p:cNvSpPr/>
          <p:nvPr/>
        </p:nvSpPr>
        <p:spPr>
          <a:xfrm>
            <a:off x="475488" y="3593591"/>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593591"/>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Research-агент
(Deep Research)</a:t>
            </a:r>
          </a:p>
        </p:txBody>
      </p:sp>
      <p:sp>
        <p:nvSpPr>
          <p:cNvPr id="38" name="Rectangle 37"/>
          <p:cNvSpPr/>
          <p:nvPr/>
        </p:nvSpPr>
        <p:spPr>
          <a:xfrm>
            <a:off x="2990088" y="3593591"/>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81528" y="3593591"/>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план под-вопросов → веером искать → синтез → цитаты</a:t>
            </a:r>
          </a:p>
        </p:txBody>
      </p:sp>
      <p:sp>
        <p:nvSpPr>
          <p:cNvPr id="40" name="Rectangle 39"/>
          <p:cNvSpPr/>
          <p:nvPr/>
        </p:nvSpPr>
        <p:spPr>
          <a:xfrm>
            <a:off x="6144768" y="3593591"/>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6208" y="3593591"/>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взрыв стоимости ~15× токенов; галлюцинированные цитаты; поверхностная агентность</a:t>
            </a:r>
          </a:p>
        </p:txBody>
      </p:sp>
      <p:sp>
        <p:nvSpPr>
          <p:cNvPr id="42" name="Rectangle 41"/>
          <p:cNvSpPr/>
          <p:nvPr/>
        </p:nvSpPr>
        <p:spPr>
          <a:xfrm>
            <a:off x="9939528" y="3593591"/>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593591"/>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Нет для открытого «вширь»; ДА если это фиксированный поиск по ключу</a:t>
            </a:r>
          </a:p>
        </p:txBody>
      </p:sp>
      <p:sp>
        <p:nvSpPr>
          <p:cNvPr id="44" name="Rectangle 43"/>
          <p:cNvSpPr/>
          <p:nvPr/>
        </p:nvSpPr>
        <p:spPr>
          <a:xfrm>
            <a:off x="475488" y="4206240"/>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206240"/>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Браузер / Operator</a:t>
            </a:r>
          </a:p>
        </p:txBody>
      </p:sp>
      <p:sp>
        <p:nvSpPr>
          <p:cNvPr id="46" name="Rectangle 45"/>
          <p:cNvSpPr/>
          <p:nvPr/>
        </p:nvSpPr>
        <p:spPr>
          <a:xfrm>
            <a:off x="2990088" y="4206240"/>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81528" y="4206240"/>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скриншот/DOM → план UI-действия → клик → наблюдать</a:t>
            </a:r>
          </a:p>
        </p:txBody>
      </p:sp>
      <p:sp>
        <p:nvSpPr>
          <p:cNvPr id="48" name="Rectangle 47"/>
          <p:cNvSpPr/>
          <p:nvPr/>
        </p:nvSpPr>
        <p:spPr>
          <a:xfrm>
            <a:off x="6144768" y="4206240"/>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4206240"/>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OSWorld ~38%</a:t>
            </a:r>
            <a:r>
              <a:rPr sz="442" baseline="30000" b="0" i="1">
                <a:latin typeface="Arial"/>
                <a:cs typeface="Arial"/>
                <a:ea typeface="Arial"/>
                <a:solidFill>
                  <a:srgbClr val="1C7293"/>
                </a:solidFill>
              </a:rPr>
              <a:t>[2]</a:t>
            </a:r>
            <a:r>
              <a:rPr sz="850" b="0" i="0">
                <a:latin typeface="Arial"/>
                <a:cs typeface="Arial"/>
                <a:ea typeface="Arial"/>
                <a:solidFill>
                  <a:srgbClr val="21295C"/>
                </a:solidFill>
              </a:rPr>
              <a:t> (1-е поколение); ~1 задача из 5 проваливается; Operator ЗАКРЫТ</a:t>
            </a:r>
          </a:p>
        </p:txBody>
      </p:sp>
      <p:sp>
        <p:nvSpPr>
          <p:cNvPr id="50" name="Rectangle 49"/>
          <p:cNvSpPr/>
          <p:nvPr/>
        </p:nvSpPr>
        <p:spPr>
          <a:xfrm>
            <a:off x="9939528" y="4206240"/>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30968" y="4206240"/>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значимых действий (платежи) ДА — используй реальный API</a:t>
            </a:r>
          </a:p>
        </p:txBody>
      </p:sp>
      <p:sp>
        <p:nvSpPr>
          <p:cNvPr id="52" name="Rectangle 51"/>
          <p:cNvSpPr/>
          <p:nvPr/>
        </p:nvSpPr>
        <p:spPr>
          <a:xfrm>
            <a:off x="475488" y="4818888"/>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481888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SRE / ops-агент
(ITBench)</a:t>
            </a:r>
          </a:p>
        </p:txBody>
      </p:sp>
      <p:sp>
        <p:nvSpPr>
          <p:cNvPr id="54" name="Rectangle 53"/>
          <p:cNvSpPr/>
          <p:nvPr/>
        </p:nvSpPr>
        <p:spPr>
          <a:xfrm>
            <a:off x="2990088" y="4818888"/>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081528" y="481888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телеметрия → гипотеза → дашборд → предложить фикс</a:t>
            </a:r>
          </a:p>
        </p:txBody>
      </p:sp>
      <p:sp>
        <p:nvSpPr>
          <p:cNvPr id="56" name="Rectangle 55"/>
          <p:cNvSpPr/>
          <p:nvPr/>
        </p:nvSpPr>
        <p:spPr>
          <a:xfrm>
            <a:off x="6144768" y="4818888"/>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6208" y="481888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ITBench: ~14% SRE-сценариев решаются автономно — сузить поиск, не заменить человека</a:t>
            </a:r>
          </a:p>
        </p:txBody>
      </p:sp>
      <p:sp>
        <p:nvSpPr>
          <p:cNvPr id="58" name="Rectangle 57"/>
          <p:cNvSpPr/>
          <p:nvPr/>
        </p:nvSpPr>
        <p:spPr>
          <a:xfrm>
            <a:off x="9939528" y="4818888"/>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030968" y="4818888"/>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ИСПРАВЛЕНИЯ ДА: workflow + подтверждение; агент — на расследование</a:t>
            </a:r>
          </a:p>
        </p:txBody>
      </p:sp>
      <p:sp>
        <p:nvSpPr>
          <p:cNvPr id="60" name="Rounded Rectangle 59"/>
          <p:cNvSpPr/>
          <p:nvPr/>
        </p:nvSpPr>
        <p:spPr>
          <a:xfrm>
            <a:off x="502920" y="5614416"/>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 y="5669279"/>
            <a:ext cx="10799064" cy="54864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Сквозной принцип: агент — на адаптивный КРАЙ (открытый поиск, починка дрейфа, расследование), workflow-с-воротами — на СТВОЛ и на значимое действие. Числа Operator (~38%) и ITBench (~14%) означают «сузить пространство поиска», а не «заменить человека».</a:t>
            </a:r>
          </a:p>
        </p:txBody>
      </p:sp>
      <p:sp>
        <p:nvSpPr>
          <p:cNvPr id="62" name="TextBox 6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McCarthy Tétrault — Air Canada (бот выдумал политику)</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OSWorld / WebArena / ITBench — бенчмарки агентных задач</a:t>
            </a:r>
            <a:r>
              <a:rPr sz="850" i="1">
                <a:solidFill>
                  <a:srgbClr val="5B6678"/>
                </a:solidFill>
                <a:latin typeface="Arial"/>
              </a:rPr>
              <a:t>   ·   §4.9b; OSWorld / WebArena / ITBench — verify day-of. Отдельные суммы/детали — иллюстративны; классы и привязки (Air Canada, Klarna, Operator) реальны.</a:t>
            </a:r>
          </a:p>
        </p:txBody>
      </p:sp>
      <p:sp>
        <p:nvSpPr>
          <p:cNvPr id="63" name="TextBox 6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KISS (Keep It Simple, Stupid — «делай проще»): простейшее решение под требование. YAGNI (You Aren't Gonna Need It — «не понадобится»): не закладывай мощность «на будущее».</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нижней достаточной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