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главную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феврале 2024 года Гражданский трибунал провинции Британская Колумбия вынес решение по делу *Moffatt v. Air Canada*. Пассажир спросил чат-бота про тариф по случаю утраты близкого и получил ответ: купи по полной цене, верни разницу в 90 дней. Реальная политика этого не допускала — и была на той же странице, на которую бот ссылался. Авиакомпания защищалась тем, что чат-бот — «отдельное юридическое лицо, отвечающее за свои действия». Трибунал отверг это и обязал Air Canada компенсировать разницу: $812,02.</a:t>
            </a:r>
          </a:p>
          <a:p/>
          <a:p>
            <a:r>
              <a:t>Нас интересует инженерная сторона. Задача была элементарной: показать фиксированную политику тарифа. Для этого существует архитектура идеального решения: статическая страница или детерминированный lookup. Air Canada выбрала генеративный чат-бот — архитектуру, которая по своей природе способна сочинить несуществующую политику, потому что её работа — генерировать правдоподобный текст, не извлекать проверенный факт.</a:t>
            </a:r>
          </a:p>
          <a:p/>
          <a:p>
            <a:r>
              <a:t>Это не сбой модели. Это неправильный выбор архитектуры под задачу. Обратите внимание: трибунал формулирует ясно — компания отвечает за действия системы, бот не является отдельной сущностью, которая может ошибиться безо всяких последствий. Этот довод — «это ответил бот, а не мы» — встретится нам ещё в лекции применительно к другим компаниям; он нигде не сработал как защита. К этому кейсу вернёмся позже как к образцовому провалу grounding — привязки ответа к проверяемому источнику. Именно про выбор архитектуры — вся эта лекция, отвечающее за свои действия».</a:t>
            </a:r>
          </a:p>
          <a:p/>
          <a:p>
            <a:r>
              <a:t>Источники:</a:t>
            </a:r>
          </a:p>
          <a:p>
            <a:r>
              <a:t>[1] McCarthy Tétrault — Moffatt v. Air Canada (BC CRT, 14.02.2024) — бот выдумал политику возврата; трибунал: компания отвечает за ответ бота, отвечающее за свои действия». https://www.mccarthy.ca/en/insights/blogs/techlex/moffatt-v-air-canada-misrepresentation-ai-chatbot</a:t>
            </a:r>
          </a:p>
          <a:p>
            <a:r>
              <a:t>[2] ABA Business Law Today — компании отвечают за AI-чат-бота — «бот — не отдельное юр. лицо»: неправильный выбор архитектуры под задачу lookup.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улучшают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чат-шаблоном,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двух из пяти случаев — 25%, DeepSeek R1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латентность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Главный 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лучше»,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апгрейд.</a:t>
            </a:r>
          </a:p>
          <a:p/>
          <a:p>
            <a:r>
              <a:t>Источники:</a:t>
            </a:r>
          </a:p>
          <a:p>
            <a:r>
              <a:t>[1] Anthropic — Building Effective Agents (workflow vs agent) — workflow = предопределённые пути; агент = динамический процесс; размен латентность/стоимость↔качество. https://www.anthropic.com/research/building-effective-agents</a:t>
            </a:r>
          </a:p>
          <a:p>
            <a:r>
              <a:t>[2] Cognition — Don't Build Multi-Agents — мульти-агент по умолчанию не апгрейд;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апгрейд, потому что это одна из самых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улучшенный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(лучшие результаты) до D (худшие)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фичи в продакшен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продакшене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главное: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улучшение.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самый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апгрейд,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самая важная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самую мощную из доступных архитектур, а самую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 Id="rId4"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201.11903" TargetMode="External"/><Relationship Id="rId4"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7.xml"/><Relationship Id="rId6" Type="http://schemas.openxmlformats.org/officeDocument/2006/relationships/hyperlink" Target="https://arxiv.org/abs/2005.1140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8.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9.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0.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22.xml"/><Relationship Id="rId6" Type="http://schemas.openxmlformats.org/officeDocument/2006/relationships/hyperlink" Target="https://www.ibm.com/think/topics/rag-vs-fine-tuni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bigdataboutique.com/blog/fine-tuning-llms-when-rag-isnt-enough"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25.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6.xml"/><Relationship Id="rId4" Type="http://schemas.openxmlformats.org/officeDocument/2006/relationships/hyperlink" Target="https://arxiv.org/abs/2308.0874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19.png"/><Relationship Id="rId5" Type="http://schemas.openxmlformats.org/officeDocument/2006/relationships/image" Target="../media/image9.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28.xml"/><Relationship Id="rId10" Type="http://schemas.openxmlformats.org/officeDocument/2006/relationships/hyperlink" Target="https://www.anthropic.com/news/donating-the-model-context-protocol-and-establishing-of-the-agentic-ai-foundation"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10.png"/><Relationship Id="rId4" Type="http://schemas.openxmlformats.org/officeDocument/2006/relationships/notesSlide" Target="../notesSlides/notesSlide32.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22.png"/><Relationship Id="rId5" Type="http://schemas.openxmlformats.org/officeDocument/2006/relationships/notesSlide" Target="../notesSlides/notesSlide37.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9.png"/><Relationship Id="rId5" Type="http://schemas.openxmlformats.org/officeDocument/2006/relationships/image" Target="../media/image56.png"/><Relationship Id="rId6" Type="http://schemas.openxmlformats.org/officeDocument/2006/relationships/notesSlide" Target="../notesSlides/notesSlide38.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5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notesSlide" Target="../notesSlides/notesSlide41.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5.xml"/><Relationship Id="rId4" Type="http://schemas.openxmlformats.org/officeDocument/2006/relationships/hyperlink" Target="https://www.anthropic.com/research/building-effective-agen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notesSlide" Target="../notesSlides/notesSlide49.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10896"/>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ГЛАВНЫЙ МИФ ПРО AI-СИСТЕМЫ</a:t>
            </a:r>
          </a:p>
        </p:txBody>
      </p:sp>
      <p:sp>
        <p:nvSpPr>
          <p:cNvPr id="3" name="TextBox 2"/>
          <p:cNvSpPr txBox="1"/>
          <p:nvPr/>
        </p:nvSpPr>
        <p:spPr>
          <a:xfrm>
            <a:off x="502920" y="731520"/>
            <a:ext cx="11201400" cy="786384"/>
          </a:xfrm>
          <a:prstGeom prst="rect">
            <a:avLst/>
          </a:prstGeom>
          <a:noFill/>
        </p:spPr>
        <p:txBody>
          <a:bodyPr wrap="square" lIns="0" rIns="0" tIns="0" bIns="0" anchor="t">
            <a:spAutoFit/>
          </a:bodyPr>
          <a:lstStyle/>
          <a:p>
            <a:pPr algn="ctr">
              <a:lnSpc>
                <a:spcPct val="106000"/>
              </a:lnSpc>
            </a:pPr>
            <a:r>
              <a:rPr sz="26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502920" y="1700784"/>
            <a:ext cx="5532120" cy="3401568"/>
          </a:xfrm>
          <a:prstGeom prst="roundRect">
            <a:avLst>
              <a:gd name="adj" fmla="val 896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01952"/>
            <a:ext cx="210312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Arial"/>
              </a:rPr>
              <a:t>ОБЕЩАНИЕ</a:t>
            </a:r>
          </a:p>
        </p:txBody>
      </p:sp>
      <p:sp>
        <p:nvSpPr>
          <p:cNvPr id="6" name="Rounded Rectangle 5"/>
          <p:cNvSpPr/>
          <p:nvPr/>
        </p:nvSpPr>
        <p:spPr>
          <a:xfrm>
            <a:off x="2148840" y="2660904"/>
            <a:ext cx="2240280" cy="8412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68980" y="2660904"/>
            <a:ext cx="1120140" cy="8412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46120" y="2660904"/>
            <a:ext cx="457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«Ты — эксперт-юрист. Рассуждай шаг за шагом, будь очень внимателен…»
→ ждём: ответ станет вернее.</a:t>
            </a:r>
          </a:p>
        </p:txBody>
      </p:sp>
      <p:sp>
        <p:nvSpPr>
          <p:cNvPr id="10" name="Rounded Rectangle 9"/>
          <p:cNvSpPr/>
          <p:nvPr/>
        </p:nvSpPr>
        <p:spPr>
          <a:xfrm>
            <a:off x="6172200" y="1700784"/>
            <a:ext cx="5532120" cy="3401568"/>
          </a:xfrm>
          <a:prstGeom prst="roundRect">
            <a:avLst>
              <a:gd name="adj" fmla="val 896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46520" y="1901952"/>
            <a:ext cx="210312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FFFFFF"/>
                </a:solidFill>
                <a:latin typeface="Arial"/>
              </a:rPr>
              <a:t>РЕАЛЬНОСТЬ</a:t>
            </a:r>
          </a:p>
        </p:txBody>
      </p:sp>
      <p:sp>
        <p:nvSpPr>
          <p:cNvPr id="12" name="Rounded Rectangle 11"/>
          <p:cNvSpPr/>
          <p:nvPr/>
        </p:nvSpPr>
        <p:spPr>
          <a:xfrm>
            <a:off x="763524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86968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641080" y="2523744"/>
            <a:ext cx="155448" cy="111556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4652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Роль настраивает ТОН, а не точность. Пошаговое рассуждение помогает лишь на цепочках шагов. Усложнение промпта само по себе — не апгрейд.</a:t>
            </a:r>
          </a:p>
        </p:txBody>
      </p:sp>
      <p:sp>
        <p:nvSpPr>
          <p:cNvPr id="16" name="Rounded Rectangle 15"/>
          <p:cNvSpPr/>
          <p:nvPr/>
        </p:nvSpPr>
        <p:spPr>
          <a:xfrm>
            <a:off x="502920" y="5285232"/>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340096"/>
            <a:ext cx="10799064" cy="749808"/>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Что делать: разложим, что реально повышает надёжность AI-системы — и научимся выбирать архитектуру под задачу, а не глотать «пилюлю».</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457200"/>
            <a:ext cx="5806440" cy="1371600"/>
          </a:xfrm>
          <a:prstGeom prst="rect">
            <a:avLst/>
          </a:prstGeom>
          <a:noFill/>
        </p:spPr>
        <p:txBody>
          <a:bodyPr wrap="square" lIns="0" rIns="0" tIns="0" bIns="0" anchor="t">
            <a:spAutoFit/>
          </a:bodyPr>
          <a:lstStyle/>
          <a:p>
            <a:pPr algn="l">
              <a:lnSpc>
                <a:spcPct val="106000"/>
              </a:lnSpc>
            </a:pPr>
            <a:r>
              <a:rPr sz="2700" b="1" i="0">
                <a:solidFill>
                  <a:srgbClr val="21295C"/>
                </a:solidFill>
                <a:latin typeface="Arial"/>
              </a:rPr>
              <a:t>Первый разбор: чат-бот выдумал политику — платит компания.</a:t>
            </a:r>
          </a:p>
        </p:txBody>
      </p:sp>
      <p:sp>
        <p:nvSpPr>
          <p:cNvPr id="6" name="TextBox 5"/>
          <p:cNvSpPr txBox="1"/>
          <p:nvPr/>
        </p:nvSpPr>
        <p:spPr>
          <a:xfrm>
            <a:off x="5897880" y="1874519"/>
            <a:ext cx="5806440" cy="329184"/>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Moffatt v. Air Canada · трибунал BC · 14.02.2024</a:t>
            </a:r>
          </a:p>
        </p:txBody>
      </p:sp>
      <p:sp>
        <p:nvSpPr>
          <p:cNvPr id="7" name="Oval 6"/>
          <p:cNvSpPr/>
          <p:nvPr/>
        </p:nvSpPr>
        <p:spPr>
          <a:xfrm>
            <a:off x="5897880" y="2331720"/>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331720"/>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355080" y="2304288"/>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1181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1181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6355080" y="3090672"/>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3904488"/>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904488"/>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5" name="TextBox 14"/>
          <p:cNvSpPr txBox="1"/>
          <p:nvPr/>
        </p:nvSpPr>
        <p:spPr>
          <a:xfrm>
            <a:off x="6355080" y="3877056"/>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Реальная политика этого не допускала — и была на той же странице, куда бот ссылался</a:t>
            </a:r>
          </a:p>
        </p:txBody>
      </p:sp>
      <p:sp>
        <p:nvSpPr>
          <p:cNvPr id="16" name="Oval 15"/>
          <p:cNvSpPr/>
          <p:nvPr/>
        </p:nvSpPr>
        <p:spPr>
          <a:xfrm>
            <a:off x="5897880" y="4690872"/>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690872"/>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18" name="TextBox 17"/>
          <p:cNvSpPr txBox="1"/>
          <p:nvPr/>
        </p:nvSpPr>
        <p:spPr>
          <a:xfrm>
            <a:off x="6355080" y="4663440"/>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Трибунал: «бот — не отдельное юр. лицо» → компания вернула $812,02</a:t>
            </a:r>
            <a:r>
              <a:rPr sz="676" baseline="30000" b="0" i="1">
                <a:latin typeface="Arial"/>
                <a:cs typeface="Arial"/>
                <a:ea typeface="Arial"/>
                <a:solidFill>
                  <a:srgbClr val="1C7293"/>
                </a:solidFill>
              </a:rPr>
              <a:t>[1,2]</a:t>
            </a:r>
          </a:p>
        </p:txBody>
      </p:sp>
      <p:sp>
        <p:nvSpPr>
          <p:cNvPr id="19" name="Rounded Rectangle 18"/>
          <p:cNvSpPr/>
          <p:nvPr/>
        </p:nvSpPr>
        <p:spPr>
          <a:xfrm>
            <a:off x="5897880" y="5468112"/>
            <a:ext cx="580644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522976"/>
            <a:ext cx="5404103"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юридически значимый ответ клиенту — не для генеративного бота. Нужен детерминированный источник политики; бот — лишь навигатор к официальному документу.</a:t>
            </a:r>
          </a:p>
        </p:txBody>
      </p:sp>
      <p:sp>
        <p:nvSpPr>
          <p:cNvPr id="21" name="TextBox 20"/>
          <p:cNvSpPr txBox="1"/>
          <p:nvPr/>
        </p:nvSpPr>
        <p:spPr>
          <a:xfrm>
            <a:off x="5897880" y="6583680"/>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компании отвечают за AI-чат-бота</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инференс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single-shot инференс и семантический поиск на эмбеддингах (основа RAG). Детали каждой обвязки — дальше по разделам.</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few-shot (примеры)</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нож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10" name="Rounded Rectangle 9"/>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Дефолт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латентность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retrieval,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retrieval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(«найди простейшее»)</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улучшают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Спецтокены разметки — ChatML / Llama 4; у Anthropic system — отдельное top-level поле. Шаблон — Jinja в tokenizer_config.json: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GPT-4o слушается приоритета ~</a:t>
            </a:r>
            <a:r>
              <a:rPr sz="1500" b="1" i="0">
                <a:solidFill>
                  <a:srgbClr val="065A82"/>
                </a:solidFill>
                <a:latin typeface="Arial"/>
              </a:rPr>
              <a:t>63,8%</a:t>
            </a:r>
            <a:r>
              <a:rPr sz="1250" b="0" i="0">
                <a:solidFill>
                  <a:srgbClr val="21295C"/>
                </a:solidFill>
                <a:latin typeface="Arial"/>
              </a:rPr>
              <a:t>;  IH-Challenge </a:t>
            </a:r>
            <a:r>
              <a:rPr sz="1500" b="1" i="0">
                <a:solidFill>
                  <a:srgbClr val="028090"/>
                </a:solidFill>
                <a:latin typeface="Arial"/>
              </a:rPr>
              <a:t>84,1%→94,1%</a:t>
            </a:r>
            <a:r>
              <a:rPr sz="1250" b="0" i="0">
                <a:solidFill>
                  <a:srgbClr val="21295C"/>
                </a:solidFill>
                <a:latin typeface="Arial"/>
              </a:rPr>
              <a:t>  (всё равно ≠ 100%).</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prompt injection как класса атак агента — в разделе про агенты (безопасность).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structured output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 (низкая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доля случаев, где модель упомянула реально использованную подсказку</a:t>
            </a:r>
            <a:r>
              <a:rPr sz="598" baseline="30000" b="0" i="1">
                <a:latin typeface="Arial"/>
                <a:cs typeface="Arial"/>
                <a:ea typeface="Arial"/>
                <a:solidFill>
                  <a:srgbClr val="1C7293"/>
                </a:solidFill>
              </a:rPr>
              <a:t>[2]</a:t>
            </a:r>
            <a:r>
              <a:rPr sz="1150" b="0" i="1">
                <a:latin typeface="Arial"/>
                <a:cs typeface="Arial"/>
                <a:ea typeface="Arial"/>
                <a:solidFill>
                  <a:srgbClr val="5B6678"/>
                </a:solidFill>
              </a:rPr>
              <a:t>.</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check в цикле агента (Раздел 4) не должен быть самооценкой модели.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34670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65760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65760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62102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315968"/>
            <a:ext cx="5093208" cy="603504"/>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 хуже — на трудных задачах (GPQA ниже, чем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full-context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Чит-шит: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библиотека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10" name="Rounded Rectangle 9"/>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retrieval (semantic search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top-k ближайших фрагментов
= тот самый semantic search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знаю» / «см. источник X» — корректный ответ RAG-системы</a:t>
            </a:r>
            <a:r>
              <a:rPr sz="780" baseline="30000" b="0" i="1">
                <a:latin typeface="Arial"/>
                <a:cs typeface="Arial"/>
                <a:ea typeface="Arial"/>
                <a:solidFill>
                  <a:srgbClr val="1C7293"/>
                </a:solidFill>
              </a:rPr>
              <a:t>[1]</a:t>
            </a:r>
            <a:r>
              <a:rPr sz="1500" b="1" i="0">
                <a:latin typeface="Arial"/>
                <a:cs typeface="Arial"/>
                <a:ea typeface="Arial"/>
                <a:solidFill>
                  <a:srgbClr val="21295C"/>
                </a:solidFill>
              </a:rPr>
              <a:t>. Правдоподобный ответ при нерелевантном retrieval — это дефект, а не «лучше, чем ничего».</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детерминированный lookup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Support-бот</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grounding</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lookup / страница; нужен диалог → RAG со strict grounding,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пульт настройки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Fine-tune vs промпт vs RAG</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10" name="Rounded Rectangle 9"/>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(дообучение)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Fine-tuning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catastrophic forgetting</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full fine-tuning: дешевле, модульнее, ↓ риск forgetting. Full FT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fine-tuning».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fine-tuning: знание устареет, переобучать дорого, риск forgetting</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латентность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дистилляция student</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fine-tuning,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Teacher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(fine-tune)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Student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прод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прод</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снижена стоимость и латентность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Fine-tuning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fine-tuning». В связке они идут так: сначала дообучить teacher под задачу, потом дистиллировать в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(катастрофическое забывание)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eval-петли на общих задачах + нет версий датасета/весов → не увидишь поломку до прода + не сможешь откатиться → это не «риск», это критерий «НЕ делай fine-tuning»</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continual fine-tuning (Luo et al. 2023). Механизмы — «исследования показывают» (preprint).</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промышленный робот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продакшен-системы: цикл, экипировка, память, доступ к инструментам — и где всё это ломается.</a:t>
            </a:r>
          </a:p>
        </p:txBody>
      </p:sp>
      <p:sp>
        <p:nvSpPr>
          <p:cNvPr id="10" name="Rounded Rectangle 9"/>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23" name="Rounded Rectangle 22"/>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парсинга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в главе методички.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план→act→check→iterate: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×несколько</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937760"/>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92624"/>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Prompt caching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00" b="0" i="0">
                <a:solidFill>
                  <a:srgbClr val="21295C"/>
                </a:solidFill>
                <a:latin typeface="Arial"/>
              </a:rPr>
              <a:t>  — «USB-C для инструментов LLM»</a:t>
            </a:r>
          </a:p>
        </p:txBody>
      </p:sp>
      <p:sp>
        <p:nvSpPr>
          <p:cNvPr id="6" name="TextBox 5"/>
          <p:cNvSpPr txBox="1"/>
          <p:nvPr/>
        </p:nvSpPr>
        <p:spPr>
          <a:xfrm>
            <a:off x="740664" y="1975104"/>
            <a:ext cx="5074920" cy="457200"/>
          </a:xfrm>
          <a:prstGeom prst="rect">
            <a:avLst/>
          </a:prstGeom>
          <a:noFill/>
        </p:spPr>
        <p:txBody>
          <a:bodyPr wrap="square" lIns="0" rIns="0" tIns="0" bIns="0" anchor="ctr">
            <a:spAutoFit/>
          </a:bodyPr>
          <a:lstStyle/>
          <a:p>
            <a:pPr algn="l">
              <a:lnSpc>
                <a:spcPct val="115000"/>
              </a:lnSpc>
            </a:pPr>
            <a:r>
              <a:rPr sz="2400" b="1" i="0">
                <a:solidFill>
                  <a:srgbClr val="1C7293"/>
                </a:solidFill>
                <a:latin typeface="Arial"/>
              </a:rPr>
              <a:t>N×M</a:t>
            </a:r>
            <a:r>
              <a:rPr sz="1300" b="0" i="0">
                <a:solidFill>
                  <a:srgbClr val="21295C"/>
                </a:solidFill>
                <a:latin typeface="Arial"/>
              </a:rPr>
              <a:t>  несовместимых интеграций  →  </a:t>
            </a:r>
            <a:r>
              <a:rPr sz="2400" b="1" i="0">
                <a:solidFill>
                  <a:srgbClr val="028090"/>
                </a:solidFill>
                <a:latin typeface="Arial"/>
              </a:rPr>
              <a:t>N+M</a:t>
            </a:r>
          </a:p>
        </p:txBody>
      </p:sp>
      <p:sp>
        <p:nvSpPr>
          <p:cNvPr id="7" name="TextBox 6"/>
          <p:cNvSpPr txBox="1"/>
          <p:nvPr/>
        </p:nvSpPr>
        <p:spPr>
          <a:xfrm>
            <a:off x="740664" y="2505456"/>
            <a:ext cx="5074920"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инструмент один раз = MCP-сервер; модель один раз = MCP-клиент. Открыт Anthropic 11/2024 → OpenAI, Google 2025.</a:t>
            </a:r>
          </a:p>
        </p:txBody>
      </p:sp>
      <p:sp>
        <p:nvSpPr>
          <p:cNvPr id="8" name="Rounded Rectangle 7"/>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10" name="TextBox 9"/>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1" name="TextBox 10"/>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2" name="Rounded Rectangle 11"/>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4" name="TextBox 13"/>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5" name="TextBox 14"/>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6" name="TextBox 15"/>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7" name="TextBox 16"/>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8" name="TextBox 17"/>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9" name="Rounded Rectangle 18"/>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в главе методички.</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workflow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  (рабочий поток)</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продакшн-систем — это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workflow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code review вызывает workflow «линтер→тесты→формат» как один шаг; workflow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апгрейд,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апгрейд.</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plan→act→check→iterate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subagents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graph-баз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graph-база</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память пользователя</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graph-базу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live-eval).</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Независимый live-eval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тихая lossy-суммаризация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live-eval 2026-07-05). «Работает хорошо» ≠ «работает всегда» — тот же урок, что RAG на масштабе и forgetting.</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retention-политика</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third-party/MCP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на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deny-by-default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batch-обработку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(third-party)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фиче до продакшена — какие данные, через какое звено, с какой retention-политикой, какие звенья third-party. Регулируемые/чувствительные данные — только с ZDR/BAA или локально (on-prem).</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coding-агенты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skills, полноценные subagents,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subagents, без skills.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платформа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retry-скрипт с backoff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retry-with-backoff скрипт,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хопов + валидация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single-threaded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(prompt injection, GitHub MCP heist) — 4-й класс провалов, разобран на слайде безопасности. $4 200-петля — single-author постмортем 2026-04 (illustrative); compounding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enterprise-релевантных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проде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over-privilege</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System-промпт ≠ контроль; жёсткая граница + least-privilege</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Zero-click инъекция + утечка</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Runaway-стоимость</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Имена зависимостей от агента нельзя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MCP rogue-сервер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reliability compounding</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«улучшить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least-privilege / валидация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прод-БД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бэкапы.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Runaway: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сэмплов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pin версий/хешей, lock-файлы, ревью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(retrieval/план),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валидация между шагами, меньше хопов,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приборная панель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10" name="Rounded Rectangle 9"/>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(plan→act→check→iterate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латентность,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Пройдите задачу сверху вниз; останавливайтесь на первом сработавшем вопросе</a:t>
            </a:r>
            <a:r>
              <a:rPr sz="676" baseline="30000" b="0" i="1">
                <a:latin typeface="Arial"/>
                <a:cs typeface="Arial"/>
                <a:ea typeface="Arial"/>
                <a:solidFill>
                  <a:srgbClr val="1C7293"/>
                </a:solidFill>
              </a:rPr>
              <a:t>[1]</a:t>
            </a:r>
            <a:r>
              <a:rPr sz="1300" b="0" i="1">
                <a:latin typeface="Arial"/>
                <a:cs typeface="Arial"/>
                <a:ea typeface="Arial"/>
                <a:solidFill>
                  <a:srgbClr val="065A82"/>
                </a:solidFill>
              </a:rPr>
              <a:t>.</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grounding / код</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workflow · нет → агент+лимиты</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Данные чувствительны? → параллельно на КАЖДОМ шаге: карта данных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strict grounding. Не FT (устареет), не код (нужен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латентность и поверхность для prompt injection.</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Дефолт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structured retrieval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grounding + метрики retrieval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Fine-tune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forgetting</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eval-петля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план→act→check→iterate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check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апгрейд</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eval</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least-privilege + карта данных по фиче</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 — урок про верность рассуждения).</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Rectangle 2"/>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34656" y="6510528"/>
            <a:ext cx="4529023"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разработка ПО · Wikimedia · CC-BY-SA</a:t>
            </a:r>
          </a:p>
        </p:txBody>
      </p:sp>
      <p:sp>
        <p:nvSpPr>
          <p:cNvPr id="5" name="TextBox 4"/>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6" name="TextBox 5"/>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7" name="Rounded Rectangle 6"/>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9" name="TextBox 8"/>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10" name="Rounded Rectangle 9"/>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2" name="TextBox 11"/>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coding-агенты через рамку экипировки; провалы как КЛАСС</a:t>
            </a:r>
          </a:p>
        </p:txBody>
      </p:sp>
      <p:sp>
        <p:nvSpPr>
          <p:cNvPr id="13" name="Rounded Rectangle 12"/>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5" name="TextBox 14"/>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least-privilege; данные вне ZDR</a:t>
            </a:r>
          </a:p>
        </p:txBody>
      </p:sp>
      <p:sp>
        <p:nvSpPr>
          <p:cNvPr id="16" name="Rounded Rectangle 15"/>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8" name="TextBox 17"/>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9" name="Rounded Rectangle 18"/>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21" name="Rounded Rectangle 20"/>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