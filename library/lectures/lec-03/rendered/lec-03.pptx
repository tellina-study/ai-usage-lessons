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Четырнадцатого февраля 2024 года Гражданский трибунал по разрешению споров провинции Британская Колумбия вынес решение по делу *Moffatt v. Air Canada*. История проста. Пассажир Джейк Моффатт зашёл на сайт авиакомпании после смерти бабушки, спросил чат-бота про тариф по случаю утраты близкого и получил ответ: можно купить билет по обычной цене, а затем в течение 90 дней подать заявку на возврат разницы. Это было неправдой — реальная политика Air Canada не допускала ретроактивного возврата по такому тарифу, и об этом было написано на той же странице сайта, на которую чат-бот даже ссылался. Моффатт купил билеты, подал заявку, получил отказ, и дело дошло до трибунала. Авиакомпания защищалась аргументом, что чат-бот — это «отдельное юридическое лицо, отвечающее за свои действия».[1,2] Трибунал этот аргумент отверг и обязал Air Canada компенсировать пассажиру разницу.</a:t>
            </a:r>
          </a:p>
          <a:p/>
          <a:p>
            <a:r>
              <a:t>Нас в этой истории интересует не юридическая сторона, а инженерная. Задача была элементарной: показать пользователю фиксированную, заранее известную политику тарифа. Для такой задачи существует архитектура, которая работает идеально и стоит почти ничего: статическая страница или детерминированный lookup в таблице правил. Air Canada выбрала вместо этого генеративный чат-бот — архитектуру, которая принципиально способна сочинить несуществующую политику, потому что её работа — генерировать правдоподобный текст, а не извлекать проверенный факт.</a:t>
            </a:r>
          </a:p>
          <a:p/>
          <a:p>
            <a:r>
              <a:t>Это был не сбой модели. Это был неправильный выбор архитектуры под задачу. И именно про этот класс ошибок — про выбор архитектуры — вся эта лекция. Прежде чем идти дальше, задайте себе вопрос: если задача всего лишь «узнать правило тарифа», какая архитектура её закрывает — и нужен ли здесь ИИ вообще? К этому ответу мы вернёмся в разделе про RAG.</a:t>
            </a:r>
          </a:p>
          <a:p/>
          <a:p>
            <a:r>
              <a:t>Источники:</a:t>
            </a:r>
          </a:p>
          <a:p>
            <a:r>
              <a:t>[1] McCarthy Tétrault — Moffatt v. Air Canada (BC CRT, 14.02.2024) — бот выдумал политику возврата; трибунал: компания отвечает за ответ бота. https://www.mccarthy.ca/en/insights/blogs/techlex/moffatt-v-air-canada-misrepresentation-ai-chatbot</a:t>
            </a:r>
          </a:p>
          <a:p>
            <a:r>
              <a:t>[2] ABA Business Law Today — компании отвечают за AI-чат-бота — «бот — не отдельное юр. лицо»: неправильный выбор архитектуры под задачу lookup.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улучшают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слайде мы зафиксировали определение: fine-tuning меняет сами веса, тогда как промпт и RAG трогают только контекст. Опираясь на это, разберём область его применения в 2026 году. Среди инженеров ходит формулировка «в 2026 fine-tuning умер — всё решает RAG и длинный контекст». Это неточно. Fine-tuning не умер — он сузился[1] и перестал быть настройкой по умолчанию. Сузился именно потому, что меняет веса: знание — факты, документы, всё, что меняется, — плохо ложится в веса и ушло в RAG и длинный контекст, где его можно процитировать и обновить. За fine-tuning осталась узкая, но важная область — стабильное поведение, стиль, формат вывода, следование политике, а не знания модели.</a:t>
            </a:r>
          </a:p>
          <a:p/>
          <a:p>
            <a:r>
              <a:t>Отдельно и аккуратно про дистилляц[2,3]ию, потому что здесь частая путаница. Дистилляция — самостоятельная техника переноса знания и сжатия модели (Hinton, Vinyals, Dean, 2015): student-модель учится имитировать выходы teacher-модели через отдельную функцию потерь. Таксономически это не разновидность fine-tuning — обзоры методов разносят их по разным категориям. На практике две техники часто комбинируются: сначала teacher-модель дообучают под нужное поведение, а затем из неё дистиллируют компактную student-модель. Держите это как «fine-tune teacher, потом дистилляция student — две отдельные техники в связке», а не «дистилляция как вид fine-tuning».</a:t>
            </a:r>
          </a:p>
          <a:p/>
          <a:p>
            <a:r>
              <a:t>Отсюда критерий что-куда. Знание меняется или нужен провенанс — RAG или длинный контекст, не fine-tuning: знание устареет, переобучение дорого, есть риск забывания. Нужно стабильное поведение, тон, формат, политика — это fine-tuning в форме PEFT, не RAG. Нужно снизить стоимость на узкой задаче — связка fine-tune teacher плюс дистилляция student. Ответ детерминирован и верифицируем — обычный код без ИИ. Иначе говоря, fine-tuning 2026 — узкий инструмент под поведение, формат, политику и эффективность, а не способ научить модель домену; «научить домену» в смысле фактов — это RAG, в смысле манеры — PEFT, и почти никогда full fine-tuning.</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a:p>
            <a:r>
              <a:t>[2] Hinton, Vinyals, Dean 2015 — Distilling the Knowledge — дистилляция — самостоятельная техника, таксономически НЕ вид fine-tuning. https://arxiv.org/abs/1503.02531</a:t>
            </a:r>
          </a:p>
          <a:p>
            <a:r>
              <a:t>[3] PEFT survey — таксономия методов настройки — обзоры разносят дистилляцию и fine-tuning по разным категориям. https://arxiv.org/abs/2403.14608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апгрейд.</a:t>
            </a:r>
          </a:p>
          <a:p/>
          <a:p>
            <a:r>
              <a:t>Источники:</a:t>
            </a:r>
          </a:p>
          <a:p>
            <a:r>
              <a:t>[1] Anthropic — Building Effective Agents (workflow vs agent) — workflow = предопределённые пути; агент = динамический процесс; размен латентность/стоимость↔качество. https://www.anthropic.com/research/building-effective-agents</a:t>
            </a:r>
          </a:p>
          <a:p>
            <a:r>
              <a:t>[2] Cognition — Don't Build Multi-Agents — мульти-агент по умолчанию не апгрейд;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(лучшие результаты) до D (худшие)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улучшение.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самый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курса, который шёл по нарастающей: Лекция 1 — что такое AI и как устроен промпт; Лекция 2 — почему промпт работает: токенизация, эмбеддинги, внимание, сэмплинг; Лекция 3 — как из модели собрать систему и как выбрать, какую систему собирать. Эти три лекции — общий фундамент; дальше курс переходит к отраслевым лекциям, где AI применяется к конкретным предметным задачам.</a:t>
            </a:r>
          </a:p>
          <a:p/>
          <a:p>
            <a:r>
              <a:t>Рамка этой лекции — лестница сложности, маршрут выбора, восьмишаговый чек-лист, правило «когда не ИИ», стартовый комплект агента, правило человека-валидатора — это база для всех последующих лекций, а не материал, который заканчивается с этой лекцией. В каждой отраслевой теме будет повторяться один и тот же вопрос в новой обёртке: вот предметная задача — какая архитектура и почему именно она, и при каком условии ответ был бы другим. Теперь у вас есть аппарат на него отвечать. Практический совет на остаток курса: на каждой отраслевой лекции, услышав «здесь применяют RAG, агента или fine-tuning», мысленно прогоняйте чек-лист — действительно ли требование задачи поднимает на эту ступень, или это инерция.</a:t>
            </a:r>
          </a:p>
          <a:p/>
          <a:p>
            <a:r>
              <a:t>Лекция 4 берёт этот аппарат и прикладывает его к первой отраслевой теме — AI в разработке программного обеспечения. Там вопрос «какая архитектура и почему» встретится снова, уже на конкретных инструментах и задачах разработчика: те же coding-агенты, которые мы разобрали через рамку экипировки — Claude Code, Aider, Cursor, OpenHands, — там будут рассмотрены со стороны инженерной практики разработки. Задание — к Семинару 3. Парный семинар «Архитектурный выбор: чат, агент, RAG, API — три кейса» — место полного освоения учебной цели применения. Вы примените восьмишаговый чек-лист к трём кейсам и для каждого сформулируете: архитектуру, не менее двух причин по осям, не менее одного условия, при котором выбор был бы другим, и явный критерий «здесь это было бы НЕ так». Mini-apply задача B с предыдущего слайда — это разминка перед семинаром.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 Id="rId4" Type="http://schemas.openxmlformats.org/officeDocument/2006/relationships/hyperlink" Target="https://www.anthropic.com/research/building-effective-agen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arxiv.org/abs/2311.10054"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201.11903" TargetMode="External"/><Relationship Id="rId4" Type="http://schemas.openxmlformats.org/officeDocument/2006/relationships/hyperlink" Target="https://www.anthropic.com/research/reasoning-models-dont-say-think"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1.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 Id="rId6" Type="http://schemas.openxmlformats.org/officeDocument/2006/relationships/hyperlink" Target="https://arxiv.org/abs/2005.11401"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6.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7.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9.xml"/><Relationship Id="rId6" Type="http://schemas.openxmlformats.org/officeDocument/2006/relationships/hyperlink" Target="https://www.ibm.com/think/topics/rag-vs-fine-tunin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 Id="rId5" Type="http://schemas.openxmlformats.org/officeDocument/2006/relationships/hyperlink" Target="https://bigdataboutique.com/blog/fine-tuning-llms-when-rag-isnt-enough" TargetMode="Externa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2.xml"/><Relationship Id="rId4" Type="http://schemas.openxmlformats.org/officeDocument/2006/relationships/hyperlink" Target="https://arxiv.org/abs/2308.0874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notesSlide" Target="../notesSlides/notesSlide24.xml"/><Relationship Id="rId10" Type="http://schemas.openxmlformats.org/officeDocument/2006/relationships/hyperlink" Target="https://www.anthropic.com/news/donating-the-model-context-protocol-and-establishing-of-the-agentic-ai-foundatio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0.png"/><Relationship Id="rId4" Type="http://schemas.openxmlformats.org/officeDocument/2006/relationships/notesSlide" Target="../notesSlides/notesSlide26.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3.png"/><Relationship Id="rId5" Type="http://schemas.openxmlformats.org/officeDocument/2006/relationships/notesSlide" Target="../notesSlides/notesSlide30.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9.png"/><Relationship Id="rId5" Type="http://schemas.openxmlformats.org/officeDocument/2006/relationships/image" Target="../media/image48.png"/><Relationship Id="rId6" Type="http://schemas.openxmlformats.org/officeDocument/2006/relationships/notesSlide" Target="../notesSlides/notesSlide3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33.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 Id="rId4" Type="http://schemas.openxmlformats.org/officeDocument/2006/relationships/hyperlink" Target="https://www.anthropic.com/research/building-effective-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9.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38.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502920"/>
            <a:ext cx="5806440" cy="1417320"/>
          </a:xfrm>
          <a:prstGeom prst="rect">
            <a:avLst/>
          </a:prstGeom>
          <a:noFill/>
        </p:spPr>
        <p:txBody>
          <a:bodyPr wrap="square" lIns="0" rIns="0" tIns="0" bIns="0" anchor="t">
            <a:spAutoFit/>
          </a:bodyPr>
          <a:lstStyle/>
          <a:p>
            <a:pPr algn="l">
              <a:lnSpc>
                <a:spcPct val="106000"/>
              </a:lnSpc>
            </a:pPr>
            <a:r>
              <a:rPr sz="3000" b="1" i="0">
                <a:solidFill>
                  <a:srgbClr val="21295C"/>
                </a:solidFill>
                <a:latin typeface="Arial"/>
              </a:rPr>
              <a:t>Чат-бот выдумал политику — платит компания.</a:t>
            </a:r>
          </a:p>
        </p:txBody>
      </p:sp>
      <p:sp>
        <p:nvSpPr>
          <p:cNvPr id="6" name="TextBox 5"/>
          <p:cNvSpPr txBox="1"/>
          <p:nvPr/>
        </p:nvSpPr>
        <p:spPr>
          <a:xfrm>
            <a:off x="5897880" y="1956816"/>
            <a:ext cx="5806440"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Moffatt v. Air Canada · трибунал BC · 14.02.2024</a:t>
            </a:r>
          </a:p>
        </p:txBody>
      </p:sp>
      <p:sp>
        <p:nvSpPr>
          <p:cNvPr id="7" name="Oval 6"/>
          <p:cNvSpPr/>
          <p:nvPr/>
        </p:nvSpPr>
        <p:spPr>
          <a:xfrm>
            <a:off x="5897880" y="24597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4597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6373368" y="243230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28269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28269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6373368" y="325526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410565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410565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5" name="TextBox 14"/>
          <p:cNvSpPr txBox="1"/>
          <p:nvPr/>
        </p:nvSpPr>
        <p:spPr>
          <a:xfrm>
            <a:off x="6373368" y="407822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Реальная политика этого не допускала — и была на той же странице, на которую бот ссылался</a:t>
            </a:r>
          </a:p>
        </p:txBody>
      </p:sp>
      <p:sp>
        <p:nvSpPr>
          <p:cNvPr id="16" name="Oval 15"/>
          <p:cNvSpPr/>
          <p:nvPr/>
        </p:nvSpPr>
        <p:spPr>
          <a:xfrm>
            <a:off x="5897880" y="492861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928616"/>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4</a:t>
            </a:r>
          </a:p>
        </p:txBody>
      </p:sp>
      <p:sp>
        <p:nvSpPr>
          <p:cNvPr id="18" name="TextBox 17"/>
          <p:cNvSpPr txBox="1"/>
          <p:nvPr/>
        </p:nvSpPr>
        <p:spPr>
          <a:xfrm>
            <a:off x="6373368" y="490118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Трибунал: «бот — не отдельное юр. лицо» → компания компенсирует разницу</a:t>
            </a:r>
            <a:r>
              <a:rPr sz="728" baseline="30000" b="0" i="1">
                <a:latin typeface="Arial"/>
                <a:cs typeface="Arial"/>
                <a:ea typeface="Arial"/>
                <a:solidFill>
                  <a:srgbClr val="1C7293"/>
                </a:solidFill>
              </a:rPr>
              <a:t>[1,2]</a:t>
            </a:r>
          </a:p>
        </p:txBody>
      </p:sp>
      <p:sp>
        <p:nvSpPr>
          <p:cNvPr id="19" name="Rounded Rectangle 18"/>
          <p:cNvSpPr/>
          <p:nvPr/>
        </p:nvSpPr>
        <p:spPr>
          <a:xfrm>
            <a:off x="5897880" y="5797296"/>
            <a:ext cx="580644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852159"/>
            <a:ext cx="5404103" cy="73152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Это не сбой модели — это неправильный выбор архитектуры под задачу. Об этом классе ошибок вся лекция.</a:t>
            </a:r>
          </a:p>
        </p:txBody>
      </p:sp>
      <p:sp>
        <p:nvSpPr>
          <p:cNvPr id="21" name="TextBox 20"/>
          <p:cNvSpPr txBox="1"/>
          <p:nvPr/>
        </p:nvSpPr>
        <p:spPr>
          <a:xfrm>
            <a:off x="5897880" y="6620256"/>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компании отвечают за AI-чат-бота</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инференс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single-shot инференс и семантический поиск на эмбеддингах (основа RAG). Детали каждой обвязки — дальше по разделам.</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few-shot (примеры)</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1</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Промпт и его границы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Дефолт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латентность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retrieval,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retrieval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(«найди простейшее»)</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улучшают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structured output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 (низкая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доля случаев, где модель упомянула реально использованную подсказку</a:t>
            </a:r>
            <a:r>
              <a:rPr sz="598" baseline="30000" b="0" i="1">
                <a:latin typeface="Arial"/>
                <a:cs typeface="Arial"/>
                <a:ea typeface="Arial"/>
                <a:solidFill>
                  <a:srgbClr val="1C7293"/>
                </a:solidFill>
              </a:rPr>
              <a:t>[2]</a:t>
            </a:r>
            <a:r>
              <a:rPr sz="1150" b="0" i="1">
                <a:latin typeface="Arial"/>
                <a:cs typeface="Arial"/>
                <a:ea typeface="Arial"/>
                <a:solidFill>
                  <a:srgbClr val="5B6678"/>
                </a:solidFill>
              </a:rPr>
              <a:t>.</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check в цикле агента (Раздел 4) не должен быть самооценкой модели.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full-context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Чит-шит: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2</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RAG: поиск-дополненная генерация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Извлечь релевантное → положить в контекст → ответить с опорой на источник</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retrieval (semantic search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top-k ближайших фрагментов
= тот самый semantic search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знаю» / «см. источник X» — корректный ответ RAG-системы</a:t>
            </a:r>
            <a:r>
              <a:rPr sz="780" baseline="30000" b="0" i="1">
                <a:latin typeface="Arial"/>
                <a:cs typeface="Arial"/>
                <a:ea typeface="Arial"/>
                <a:solidFill>
                  <a:srgbClr val="1C7293"/>
                </a:solidFill>
              </a:rPr>
              <a:t>[1]</a:t>
            </a:r>
            <a:r>
              <a:rPr sz="1500" b="1" i="0">
                <a:latin typeface="Arial"/>
                <a:cs typeface="Arial"/>
                <a:ea typeface="Arial"/>
                <a:solidFill>
                  <a:srgbClr val="21295C"/>
                </a:solidFill>
              </a:rPr>
              <a:t>. Правдоподобный ответ при нерелевантном retrieval — это дефект, а не «лучше, чем ничего».</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детерминированный lookup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Support-бот</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grounding</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lookup / страница; нужен диалог → RAG со strict grounding,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3</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Fine-tune vs промпт vs RAG</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(дообучение)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Fine-tuning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catastrophic forgetting</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full fine-tuning: дешевле, модульнее, ↓ риск forgetting. Full FT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Fine-tuning не умер</a:t>
            </a:r>
            <a:r>
              <a:rPr sz="1300" baseline="30000" b="0" i="1">
                <a:latin typeface="Arial"/>
                <a:cs typeface="Arial"/>
                <a:ea typeface="Arial"/>
                <a:solidFill>
                  <a:srgbClr val="1C7293"/>
                </a:solidFill>
              </a:rPr>
              <a:t>[1]</a:t>
            </a:r>
            <a:r>
              <a:rPr sz="2500" b="1" i="0">
                <a:latin typeface="Arial"/>
                <a:cs typeface="Arial"/>
                <a:ea typeface="Arial"/>
                <a:solidFill>
                  <a:srgbClr val="21295C"/>
                </a:solidFill>
              </a:rPr>
              <a:t> — он сузился до поведения.</a:t>
            </a:r>
          </a:p>
        </p:txBody>
      </p:sp>
      <p:sp>
        <p:nvSpPr>
          <p:cNvPr id="3" name="Rounded Rectangle 2"/>
          <p:cNvSpPr/>
          <p:nvPr/>
        </p:nvSpPr>
        <p:spPr>
          <a:xfrm>
            <a:off x="502920" y="1042415"/>
            <a:ext cx="553212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31520" y="1225295"/>
            <a:ext cx="420624" cy="420624"/>
          </a:xfrm>
          <a:prstGeom prst="rect">
            <a:avLst/>
          </a:prstGeom>
        </p:spPr>
      </p:pic>
      <p:sp>
        <p:nvSpPr>
          <p:cNvPr id="5" name="TextBox 4"/>
          <p:cNvSpPr txBox="1"/>
          <p:nvPr/>
        </p:nvSpPr>
        <p:spPr>
          <a:xfrm>
            <a:off x="1280160" y="1225295"/>
            <a:ext cx="452628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Ушло из fine-tuning (2026)</a:t>
            </a:r>
          </a:p>
        </p:txBody>
      </p:sp>
      <p:sp>
        <p:nvSpPr>
          <p:cNvPr id="6" name="TextBox 5"/>
          <p:cNvSpPr txBox="1"/>
          <p:nvPr/>
        </p:nvSpPr>
        <p:spPr>
          <a:xfrm>
            <a:off x="73152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знание, факты, то, что меняется → RAG / длинный контекст. Зашить факты в веса: нельзя процитировать, обновить точечно, удалить один.</a:t>
            </a:r>
          </a:p>
        </p:txBody>
      </p:sp>
      <p:sp>
        <p:nvSpPr>
          <p:cNvPr id="7" name="Rounded Rectangle 6"/>
          <p:cNvSpPr/>
          <p:nvPr/>
        </p:nvSpPr>
        <p:spPr>
          <a:xfrm>
            <a:off x="6172200" y="1042415"/>
            <a:ext cx="5532120" cy="1572768"/>
          </a:xfrm>
          <a:prstGeom prst="roundRect">
            <a:avLst>
              <a:gd name="adj" fmla="val 1937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le-teal.png"/>
          <p:cNvPicPr>
            <a:picLocks noChangeAspect="1"/>
          </p:cNvPicPr>
          <p:nvPr/>
        </p:nvPicPr>
        <p:blipFill>
          <a:blip r:embed="rId3"/>
          <a:stretch>
            <a:fillRect/>
          </a:stretch>
        </p:blipFill>
        <p:spPr>
          <a:xfrm>
            <a:off x="6400800" y="1225295"/>
            <a:ext cx="420624" cy="420624"/>
          </a:xfrm>
          <a:prstGeom prst="rect">
            <a:avLst/>
          </a:prstGeom>
        </p:spPr>
      </p:pic>
      <p:sp>
        <p:nvSpPr>
          <p:cNvPr id="9" name="TextBox 8"/>
          <p:cNvSpPr txBox="1"/>
          <p:nvPr/>
        </p:nvSpPr>
        <p:spPr>
          <a:xfrm>
            <a:off x="6949440" y="1225295"/>
            <a:ext cx="452628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Осталось за fine-tuning</a:t>
            </a:r>
          </a:p>
        </p:txBody>
      </p:sp>
      <p:sp>
        <p:nvSpPr>
          <p:cNvPr id="10" name="TextBox 9"/>
          <p:cNvSpPr txBox="1"/>
          <p:nvPr/>
        </p:nvSpPr>
        <p:spPr>
          <a:xfrm>
            <a:off x="640080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поведение · стиль · формат вывода · следование политике. Дистилляция — отдельная техника, часто применяемая в связке с дообучением</a:t>
            </a:r>
            <a:r>
              <a:rPr sz="650" baseline="30000" b="0" i="1">
                <a:latin typeface="Arial"/>
                <a:cs typeface="Arial"/>
                <a:ea typeface="Arial"/>
                <a:solidFill>
                  <a:srgbClr val="1C7293"/>
                </a:solidFill>
              </a:rPr>
              <a:t>[2,3]</a:t>
            </a:r>
            <a:r>
              <a:rPr sz="1250" b="0" i="0">
                <a:latin typeface="Arial"/>
                <a:cs typeface="Arial"/>
                <a:ea typeface="Arial"/>
                <a:solidFill>
                  <a:srgbClr val="21295C"/>
                </a:solidFill>
              </a:rPr>
              <a:t>.</a:t>
            </a:r>
          </a:p>
        </p:txBody>
      </p:sp>
      <p:sp>
        <p:nvSpPr>
          <p:cNvPr id="11" name="Rounded Rectangle 10"/>
          <p:cNvSpPr/>
          <p:nvPr/>
        </p:nvSpPr>
        <p:spPr>
          <a:xfrm>
            <a:off x="365760" y="2761488"/>
            <a:ext cx="11475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871216"/>
            <a:ext cx="36118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71216"/>
            <a:ext cx="33558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14" name="Rectangle 13"/>
          <p:cNvSpPr/>
          <p:nvPr/>
        </p:nvSpPr>
        <p:spPr>
          <a:xfrm>
            <a:off x="4114800" y="2871216"/>
            <a:ext cx="31546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2871216"/>
            <a:ext cx="28986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16" name="Rectangle 15"/>
          <p:cNvSpPr/>
          <p:nvPr/>
        </p:nvSpPr>
        <p:spPr>
          <a:xfrm>
            <a:off x="7269480" y="2871216"/>
            <a:ext cx="443484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7496" y="2871216"/>
            <a:ext cx="4178807"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8" name="Rectangle 17"/>
          <p:cNvSpPr/>
          <p:nvPr/>
        </p:nvSpPr>
        <p:spPr>
          <a:xfrm>
            <a:off x="502920" y="3310128"/>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346704"/>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20" name="Rectangle 19"/>
          <p:cNvSpPr/>
          <p:nvPr/>
        </p:nvSpPr>
        <p:spPr>
          <a:xfrm>
            <a:off x="4114800" y="3310128"/>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42816" y="3346704"/>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22" name="Rectangle 21"/>
          <p:cNvSpPr/>
          <p:nvPr/>
        </p:nvSpPr>
        <p:spPr>
          <a:xfrm>
            <a:off x="7269480" y="3310128"/>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7496" y="3346704"/>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fine-tuning: устареет, дорого переобучать, риск forgetting</a:t>
            </a:r>
          </a:p>
        </p:txBody>
      </p:sp>
      <p:sp>
        <p:nvSpPr>
          <p:cNvPr id="24" name="Rectangle 23"/>
          <p:cNvSpPr/>
          <p:nvPr/>
        </p:nvSpPr>
        <p:spPr>
          <a:xfrm>
            <a:off x="502920" y="3840480"/>
            <a:ext cx="36118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3877056"/>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26" name="Rectangle 25"/>
          <p:cNvSpPr/>
          <p:nvPr/>
        </p:nvSpPr>
        <p:spPr>
          <a:xfrm>
            <a:off x="4114800" y="3840480"/>
            <a:ext cx="31546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42816" y="3877056"/>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8" name="Rectangle 27"/>
          <p:cNvSpPr/>
          <p:nvPr/>
        </p:nvSpPr>
        <p:spPr>
          <a:xfrm>
            <a:off x="7269480" y="3840480"/>
            <a:ext cx="44348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3877056"/>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но не меняет манеру модели</a:t>
            </a:r>
          </a:p>
        </p:txBody>
      </p:sp>
      <p:sp>
        <p:nvSpPr>
          <p:cNvPr id="30" name="Rectangle 29"/>
          <p:cNvSpPr/>
          <p:nvPr/>
        </p:nvSpPr>
        <p:spPr>
          <a:xfrm>
            <a:off x="502920" y="4370832"/>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4407408"/>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латентность на узкой задаче</a:t>
            </a:r>
          </a:p>
        </p:txBody>
      </p:sp>
      <p:sp>
        <p:nvSpPr>
          <p:cNvPr id="32" name="Rectangle 31"/>
          <p:cNvSpPr/>
          <p:nvPr/>
        </p:nvSpPr>
        <p:spPr>
          <a:xfrm>
            <a:off x="4114800" y="4370832"/>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2816" y="4407408"/>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дистилляция student</a:t>
            </a:r>
          </a:p>
        </p:txBody>
      </p:sp>
      <p:sp>
        <p:nvSpPr>
          <p:cNvPr id="34" name="Rectangle 33"/>
          <p:cNvSpPr/>
          <p:nvPr/>
        </p:nvSpPr>
        <p:spPr>
          <a:xfrm>
            <a:off x="7269480" y="4370832"/>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7496" y="4407408"/>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НЕ «дистилляция = вид fine-tuning»</a:t>
            </a:r>
          </a:p>
        </p:txBody>
      </p:sp>
      <p:sp>
        <p:nvSpPr>
          <p:cNvPr id="36" name="Rectangle 35"/>
          <p:cNvSpPr/>
          <p:nvPr/>
        </p:nvSpPr>
        <p:spPr>
          <a:xfrm>
            <a:off x="502920" y="4901184"/>
            <a:ext cx="36118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 y="4937760"/>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8" name="Rectangle 37"/>
          <p:cNvSpPr/>
          <p:nvPr/>
        </p:nvSpPr>
        <p:spPr>
          <a:xfrm>
            <a:off x="4114800" y="4901184"/>
            <a:ext cx="31546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42816" y="4937760"/>
            <a:ext cx="2898648" cy="457199"/>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40" name="Rectangle 39"/>
          <p:cNvSpPr/>
          <p:nvPr/>
        </p:nvSpPr>
        <p:spPr>
          <a:xfrm>
            <a:off x="7269480" y="4901184"/>
            <a:ext cx="443484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97496" y="4937760"/>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42" name="Rounded Rectangle 41"/>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Реальный вопрос 2026 — не «RAG или fine-tuning», а «что здесь знание (→ RAG), что поведение (→ PEFT), что детерминировано (→ код)». Гибрид — норма там, где есть И проблема знания, И проблема поведения.</a:t>
            </a:r>
          </a:p>
        </p:txBody>
      </p:sp>
      <p:sp>
        <p:nvSpPr>
          <p:cNvPr id="44" name="TextBox 4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BigData Boutique — Fine-Tuning When RAG Isn't Enough</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PEFT survey — таксономия методов настройки</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(катастрофическое забывание)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eval-петли на общих задачах + нет версий датасета/весов → не увидишь поломку до прода + не сможешь откатиться → это не «риск», это критерий «НЕ делай fine-tuning»</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continual fine-tuning (Luo et al. 2023). Механизмы — «исследования показывают» (preprint).</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4</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Агенты</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От собеседника в окне чата — к компоненту продакшен-системы: цикл, экипировка, память, доступ к инструментам — и где всё это ломается.</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парсинга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в главе методички.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workflow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  (рабочий поток)</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продакшн-систем — это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workflow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code review вызывает workflow «линтер→тесты→формат» как один шаг; workflow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апгрейд.</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plan→act→check→iterate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subagents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graph-баз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graph-база</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память пользователя</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graph-базу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live-eval).</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Независимый live-eval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тихая lossy-суммаризация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live-eval 2026-07-05). «Работает хорошо» ≠ «работает всегда» — тот же урок, что RAG на масштабе и forgetting.</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retention-политика</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third-party/MCP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на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deny-by-default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coding-агенты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skills, полноценные subagents,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subagents, без skills.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платформа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retry-скрипт с backoff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retry-with-backoff скрипт,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хопов + валидация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single-threaded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(prompt injection, GitHub MCP heist) — 4-й класс провалов, разобран на слайде безопасности. $4 200-петля — single-author постмортем 2026-04 (illustrative); compounding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5</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Как выбрать: фреймворк решения</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2" name="Rounded Rectangle 21"/>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(plan→act→check→iterate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латентность,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Пройдите задачу сверху вниз; останавливайтесь на первом сработавшем вопросе</a:t>
            </a:r>
            <a:r>
              <a:rPr sz="676" baseline="30000" b="0" i="1">
                <a:latin typeface="Arial"/>
                <a:cs typeface="Arial"/>
                <a:ea typeface="Arial"/>
                <a:solidFill>
                  <a:srgbClr val="1C7293"/>
                </a:solidFill>
              </a:rPr>
              <a:t>[1]</a:t>
            </a:r>
            <a:r>
              <a:rPr sz="1300" b="0" i="1">
                <a:latin typeface="Arial"/>
                <a:cs typeface="Arial"/>
                <a:ea typeface="Arial"/>
                <a:solidFill>
                  <a:srgbClr val="065A82"/>
                </a:solidFill>
              </a:rPr>
              <a:t>.</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grounding / код</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workflow · нет → агент+лимиты</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нет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Данные чувствительны? → параллельно на КАЖДОМ шаге: карта данных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strict grounding. Не FT (устареет), не код (нужен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латентность и поверхность для prompt injection.</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Дефолт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structured retrieval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(self-rationale ≠ контроль — урок про faithfulness).</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78x7.50.png"/>
          <p:cNvPicPr>
            <a:picLocks noChangeAspect="1"/>
          </p:cNvPicPr>
          <p:nvPr/>
        </p:nvPicPr>
        <p:blipFill>
          <a:blip r:embed="rId2"/>
          <a:stretch>
            <a:fillRect/>
          </a:stretch>
        </p:blipFill>
        <p:spPr>
          <a:xfrm>
            <a:off x="6903720" y="0"/>
            <a:ext cx="5285232" cy="6858000"/>
          </a:xfrm>
          <a:prstGeom prst="rect">
            <a:avLst/>
          </a:prstGeom>
        </p:spPr>
      </p:pic>
      <p:sp>
        <p:nvSpPr>
          <p:cNvPr id="3" name="Rectangle 2"/>
          <p:cNvSpPr/>
          <p:nvPr/>
        </p:nvSpPr>
        <p:spPr>
          <a:xfrm>
            <a:off x="6903720" y="6492240"/>
            <a:ext cx="44805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31736" y="6510528"/>
            <a:ext cx="42976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разработчик за IDE · Wikimedia · CC-BY-SA</a:t>
            </a:r>
          </a:p>
        </p:txBody>
      </p:sp>
      <p:sp>
        <p:nvSpPr>
          <p:cNvPr id="5" name="TextBox 4"/>
          <p:cNvSpPr txBox="1"/>
          <p:nvPr/>
        </p:nvSpPr>
        <p:spPr>
          <a:xfrm>
            <a:off x="502920" y="457200"/>
            <a:ext cx="6172200" cy="1005840"/>
          </a:xfrm>
          <a:prstGeom prst="rect">
            <a:avLst/>
          </a:prstGeom>
          <a:noFill/>
        </p:spPr>
        <p:txBody>
          <a:bodyPr wrap="square" lIns="0" rIns="0" tIns="0" bIns="0" anchor="t">
            <a:spAutoFit/>
          </a:bodyPr>
          <a:lstStyle/>
          <a:p>
            <a:pPr algn="l">
              <a:lnSpc>
                <a:spcPct val="106000"/>
              </a:lnSpc>
            </a:pPr>
            <a:r>
              <a:rPr sz="2600" b="1" i="0">
                <a:solidFill>
                  <a:srgbClr val="21295C"/>
                </a:solidFill>
                <a:latin typeface="Arial"/>
              </a:rPr>
              <a:t>Дальше — отрасли. Начинаем с разработки ПО.</a:t>
            </a:r>
          </a:p>
        </p:txBody>
      </p:sp>
      <p:sp>
        <p:nvSpPr>
          <p:cNvPr id="6" name="Rounded Rectangle 5"/>
          <p:cNvSpPr/>
          <p:nvPr/>
        </p:nvSpPr>
        <p:spPr>
          <a:xfrm>
            <a:off x="502920" y="1554480"/>
            <a:ext cx="617220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de-teal.png"/>
          <p:cNvPicPr>
            <a:picLocks noChangeAspect="1"/>
          </p:cNvPicPr>
          <p:nvPr/>
        </p:nvPicPr>
        <p:blipFill>
          <a:blip r:embed="rId3"/>
          <a:stretch>
            <a:fillRect/>
          </a:stretch>
        </p:blipFill>
        <p:spPr>
          <a:xfrm>
            <a:off x="740664" y="1755648"/>
            <a:ext cx="420624" cy="420624"/>
          </a:xfrm>
          <a:prstGeom prst="rect">
            <a:avLst/>
          </a:prstGeom>
        </p:spPr>
      </p:pic>
      <p:sp>
        <p:nvSpPr>
          <p:cNvPr id="8" name="TextBox 7"/>
          <p:cNvSpPr txBox="1"/>
          <p:nvPr/>
        </p:nvSpPr>
        <p:spPr>
          <a:xfrm>
            <a:off x="1289304" y="1737360"/>
            <a:ext cx="5166360"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Лекция 4</a:t>
            </a:r>
          </a:p>
        </p:txBody>
      </p:sp>
      <p:sp>
        <p:nvSpPr>
          <p:cNvPr id="9" name="TextBox 8"/>
          <p:cNvSpPr txBox="1"/>
          <p:nvPr/>
        </p:nvSpPr>
        <p:spPr>
          <a:xfrm>
            <a:off x="1289304" y="2084831"/>
            <a:ext cx="5166360" cy="420624"/>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AI в разработке программного обеспечения</a:t>
            </a:r>
          </a:p>
        </p:txBody>
      </p:sp>
      <p:sp>
        <p:nvSpPr>
          <p:cNvPr id="10" name="TextBox 9"/>
          <p:cNvSpPr txBox="1"/>
          <p:nvPr/>
        </p:nvSpPr>
        <p:spPr>
          <a:xfrm>
            <a:off x="758952" y="2615184"/>
            <a:ext cx="5660136" cy="7772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тот же аппарат — на конкретных задачах разработчика: те же coding-агенты, что мы разобрали, со стороны инженерной практики.</a:t>
            </a:r>
          </a:p>
        </p:txBody>
      </p:sp>
      <p:sp>
        <p:nvSpPr>
          <p:cNvPr id="11" name="Rounded Rectangle 10"/>
          <p:cNvSpPr/>
          <p:nvPr/>
        </p:nvSpPr>
        <p:spPr>
          <a:xfrm>
            <a:off x="502920" y="3621024"/>
            <a:ext cx="6172200"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board-list-gold.png"/>
          <p:cNvPicPr>
            <a:picLocks noChangeAspect="1"/>
          </p:cNvPicPr>
          <p:nvPr/>
        </p:nvPicPr>
        <p:blipFill>
          <a:blip r:embed="rId4"/>
          <a:stretch>
            <a:fillRect/>
          </a:stretch>
        </p:blipFill>
        <p:spPr>
          <a:xfrm>
            <a:off x="758952" y="3785615"/>
            <a:ext cx="457200" cy="457200"/>
          </a:xfrm>
          <a:prstGeom prst="rect">
            <a:avLst/>
          </a:prstGeom>
        </p:spPr>
      </p:pic>
      <p:sp>
        <p:nvSpPr>
          <p:cNvPr id="13" name="TextBox 12"/>
          <p:cNvSpPr txBox="1"/>
          <p:nvPr/>
        </p:nvSpPr>
        <p:spPr>
          <a:xfrm>
            <a:off x="1325880" y="3767328"/>
            <a:ext cx="5120640" cy="402336"/>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Задание — Семинар 3</a:t>
            </a:r>
          </a:p>
        </p:txBody>
      </p:sp>
      <p:sp>
        <p:nvSpPr>
          <p:cNvPr id="14" name="TextBox 13"/>
          <p:cNvSpPr txBox="1"/>
          <p:nvPr/>
        </p:nvSpPr>
        <p:spPr>
          <a:xfrm>
            <a:off x="758952" y="4279392"/>
            <a:ext cx="5660136" cy="365760"/>
          </a:xfrm>
          <a:prstGeom prst="rect">
            <a:avLst/>
          </a:prstGeom>
          <a:noFill/>
        </p:spPr>
        <p:txBody>
          <a:bodyPr wrap="square" lIns="0" rIns="0" tIns="0" bIns="0" anchor="t">
            <a:spAutoFit/>
          </a:bodyPr>
          <a:lstStyle/>
          <a:p>
            <a:pPr algn="l">
              <a:lnSpc>
                <a:spcPct val="105000"/>
              </a:lnSpc>
            </a:pPr>
            <a:r>
              <a:rPr sz="1400" b="1" i="0">
                <a:solidFill>
                  <a:srgbClr val="065A82"/>
                </a:solidFill>
                <a:latin typeface="Arial"/>
              </a:rPr>
              <a:t>«Архитектурный выбор: чат / агент / RAG / API — 3 кейса»</a:t>
            </a:r>
          </a:p>
        </p:txBody>
      </p:sp>
      <p:sp>
        <p:nvSpPr>
          <p:cNvPr id="15" name="TextBox 14"/>
          <p:cNvSpPr txBox="1"/>
          <p:nvPr/>
        </p:nvSpPr>
        <p:spPr>
          <a:xfrm>
            <a:off x="758952" y="4681728"/>
            <a:ext cx="5660136" cy="859536"/>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Применить чек-лист к 3 кейсам; для каждого: архитектура + ≥2 причины по осям + ≥1 условие смены выбора + критерий «здесь это было бы НЕ так». Задача B — разминка.</a:t>
            </a:r>
          </a:p>
        </p:txBody>
      </p:sp>
      <p:sp>
        <p:nvSpPr>
          <p:cNvPr id="16" name="Rounded Rectangle 15"/>
          <p:cNvSpPr/>
          <p:nvPr/>
        </p:nvSpPr>
        <p:spPr>
          <a:xfrm>
            <a:off x="502920" y="5760720"/>
            <a:ext cx="61722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815583"/>
            <a:ext cx="5769864" cy="566928"/>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Аппарат собран — прогоняйте чек-лист на каждой отраслевой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7589520" y="6126480"/>
            <a:ext cx="4114800" cy="457200"/>
          </a:xfrm>
          <a:prstGeom prst="rect">
            <a:avLst/>
          </a:prstGeom>
          <a:noFill/>
        </p:spPr>
        <p:txBody>
          <a:bodyPr wrap="square" lIns="0" rIns="0" tIns="0" bIns="0" anchor="ctr">
            <a:spAutoFit/>
          </a:bodyPr>
          <a:lstStyle/>
          <a:p>
            <a:pPr algn="r">
              <a:lnSpc>
                <a:spcPct val="110000"/>
              </a:lnSpc>
            </a:pPr>
            <a:r>
              <a:rPr sz="1200" b="0" i="1">
                <a:solidFill>
                  <a:srgbClr val="1C7293"/>
                </a:solidFill>
                <a:latin typeface="Arial"/>
              </a:rPr>
              <a:t>[контакты преподавателя — заполнить перед лекцией]</a:t>
            </a:r>
          </a:p>
        </p:txBody>
      </p:sp>
      <p:sp>
        <p:nvSpPr>
          <p:cNvPr id="5" name="TextBox 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