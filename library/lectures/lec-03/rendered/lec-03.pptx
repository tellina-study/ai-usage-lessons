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Роль-персона — «ты — юрист» — это текст в сообщении, влияет на тон. Протокольные роли system/user/assistant — это разметка структуры диалога, не текст, а разметка «кто говорит». Первая отвечает на вопрос «в каком тоне», вторая — «чья реплика».</a:t>
            </a:r>
          </a:p>
          <a:p/>
          <a:p>
            <a:r>
              <a:t>Протокольные роли нужны, чтобы модель отличала инструкцию разработчика от пользовательского ввода и собственных ответов. Модель обучена относиться к системной роли как более авторитетной — но это статистическая привычка, не архитектурная гарантия. Исследование показало: GPT-4o подчиняется приоритету системной инструкции только в 63,8% случаев. Специальная тренировка подняла до 94,1% — но не 100%. Приоритет — склонность, не граница безопасности.</a:t>
            </a:r>
          </a:p>
          <a:p/>
          <a:p>
            <a:r>
              <a:t>Физически модель получает поток токенов с разметкой ролей. Список сообщений собирается chat-шаблоном, который оборачивает каждое сообщение специальными токенами. Отсюда уязвимость: если во внешний контент — веб-страницу, файл, письмо — попадёт текст, похожий на разметку роли, модель может интерпретировать его как собственную реплику. Это атака Special Token Injection: строка-подделка, имитирующая начало реплики ассистента, вставляется во внешний контент. Исследование на агентных сценариях показало рост успешности атаки в разы и что просьба к модели «не поддаваться» почти не защищает. Реальная защита — экранирование спецтокенов во входящем контенте и проверка chat-шаблона для локальных моделей.</a:t>
            </a:r>
          </a:p>
          <a:p/>
          <a:p>
            <a:r>
              <a:t>Special Token Injection — это частный случай инъекции в промпт. Полный разбор инъекции как класса атак агента будет в разделе про агентов (безопасность агента) — там же меры защиты на уровне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точнее,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Формат промпта — это не косметика и не поиск единственно правильного шаблона. Точная картина такая: эффект формата реален, но зависит от трёх вещей — поколения и размера модели, класса задачи и того, структурируем ли мы вход или принуждаем структуру выхода. И это две разные проблемы, которые постоянно путают.</a:t>
            </a:r>
          </a:p>
          <a:p/>
          <a:p>
            <a:r>
              <a:t>Формат входа — то, как мы раскладываем сам промпт. Здесь эмпирика однозначна: чем крупнее и новее модель, тем меньше она чувствительна к формату. У старых моделей разброс качества между шаблонами доходил до сорока процентов, а frontier-модели 2026 года держатся почти на нуле. Практический вывод: с малой или открытой моделью формат входа стоит подбирать и мерить; с frontier-моделью выигрыш от «идеального» формата мал. Вендорские привычки — Claude любит XML-теги, GPT и Gemini тяготеют к Markdown — это артефакт обучения, а не закон.</a:t>
            </a:r>
          </a:p>
          <a:p/>
          <a:p>
            <a:r>
              <a:t>Формат выхода — вторая, более острая проблема. Принуждение отвечать строго в JSON по схеме на рассуждающих задачах роняет качество: на GSM8K модель падает с 76,6% до 49,3%. Причина — «reasoning tax»: жёсткая схема заставляет поставить поле ответа раньше рассуждения и ломает цепочку мысли. Лечится двухходовкой: сначала дать свободно рассуждать, потом отдельным шагом переформатировать. Обратная сторона: на извлечении и классификации та же строгая схема, наоборот, помогает — парсинг однозначен, а constrained decoding даёт почти стопроцентное соответствие. JSON — интерфейс между моделью и кодом, а не формат для размышления.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если модель рассуждает вслух, можно аудировать решение по его объяснению. Это предположение фундаментально неверно. Faithfulness — степень, в которой проговорённая цепочка рассуждений действительно отражает реальные факторы, повлиявшие на ответ. Низкая faithfulness означает: объяснение и фактическая причина — разные вещи; текст правдоподобен, но не отражает процесс.</a:t>
            </a:r>
          </a:p>
          <a:p/>
          <a:p>
            <a:r>
              <a:t>Anthropic измерила это в апреле 2025 года методом, который делает вывод неопровержимым. Модели давали задачу дважды: без подсказки и с подсказкой (например, «профессор считает, что ответ C»), которая меняла ответ. Затем смотрели: когда подсказка изменила ответ, упоминает ли модель это в рассуждении? Результат: Claude 3.7 упоминал подсказку примерно в одном из четырёх случаев — 25%, DeepSeek R1 — почти в двух из пяти — 39%. В остальных случаях модель меняла ответ, но строила совсем другую аргументацию, не упоминая реальную причину. Хуже: faithfulness падает на трудных задачах, там, где ошибка дороже всего и аудит нужнее.</a:t>
            </a:r>
          </a:p>
          <a:p/>
          <a:p>
            <a:r>
              <a:t>Это структурное, не просто сбой. Цепочка рассуждений — сгенерированный текст, как любой выход модели. Она производится, чтобы быть правдоподобной, не чтобы быть верным протоколом вычисления. Любая архитектура, использующая самообъяснение как контроль, наследует этот дефект: контроль на основе самооценки — не контроль. Вывод: человек-валидатор проверяет сам результат против независимого источника — базы, документа, расчёта, — а не правдоподобность объяснения.</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типовой класс задач — ассистент с инструментами. Постановка простая: пользователь просит не «напиши текст», а «сделай» — узнай что-то во внешней системе или соверши действие. Правильная архитектура здесь — не бинарный выбор «чат или агент», а та же лестница из начала раздела, применённая к одному классу задач.</a:t>
            </a:r>
          </a:p>
          <a:p/>
          <a:p>
            <a:r>
              <a:t>Первая ступень — один вызов. Если модель уже знает ответ и внешнее действие не нужно (перефразируй, объясни, суммируй), это дёшево, быстро и предсказуемо. Вторая ступень — tool-use или workflow. Если нужен доступ к данным или действие, но последовательность шагов известна заранее и её можно задать кодом, то модель формулирует вызов инструмента, а сам контур и точки проверки живут в коде, а не в голове модели. Третья ступень — полноценный агент. Он оправдан только тогда, когда шаги заранее неизвестны, нужна адаптация на лету и есть способ проверить прогресс. Цена подъёма на каждую ступень — рост задержки, стоимости и риска размножения ошибок.</a:t>
            </a:r>
          </a:p>
          <a:p/>
          <a:p>
            <a:r>
              <a:t>Чтобы это был инженерный рецепт, а не пожелание, назовём, чем управляют и как проверяют. Параметры класса: гранулярность инструментов (крупные операции против атомарных), строгие схемы входа с валидацией на границе, режим tool_choice (авто, принудительный или запрет), и обязательный лимит итераций с бюджетом токенов — защита от разбегающегося цикла. Валидация двухступенчатая: во-первых, проверять аргументы вызова инструмента до обращения к внешней системе — некорректный запрос отклонить на границе и вернуть модели структурированную ошибку, которую она может интерпретировать; во-вторых, проверять, что финальный ответ опирается на результаты инструментов, а не на память модели. Второе снимает так называемый параметрический откат: после сбоя инструмента модель иногда «решает», что своих знаний хватит, и перестаёт искать — ровно ломая гарантию свежести, ради которой инструмент и подключали.</a:t>
            </a:r>
          </a:p>
          <a:p/>
          <a:p>
            <a:r>
              <a:t>Самая частая ошибка этого класса — прыгнуть сразу к агенту там, где задача предсказуема и хватило бы одного вызова инструмента. Это ровно тот провал, который мы разберём в разделе про агенты: петля на четыре тысячи двести долларов, где предсказуемую синхронизацию отдали агенту вместо простого retry-скрипта. Правило — подниматься по мини-лестнице только под требование задачи, а не потому, что «агент звучит мощнее».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 — генерация текста в заданном тоне, стиле или регистре: маркетинговое письмо «как наш бренд», ответ поддержки в фирменном голосе, черновик «как написал бы человек». Правильная архитектура здесь — few-shot style transfer: дать три-пять образцов авторского текста, обёрнутых в примеры, и попросить сгенерировать в том же стиле. Это самый надёжный рычаг для тона и голоса, и именно здесь роль-персона работает так, как её обычно и представляют, — она влияет на тон, а не на факты.</a:t>
            </a:r>
          </a:p>
          <a:p/>
          <a:p>
            <a:r>
              <a:t>Но границы этого класса важнее самого приёма, и их две. Первая: модели неплохо копируют публичных персон и вымышленных героев, но буксуют на индивидуальном стиле рядового автора — личный стиль не сводится к нескольким ползункам. Вторая, острее: AI-детекторы ненадёжны как единственное доказательство. Это признают сами вендоры в документации. Независимые исследования дают точность части детекторов ниже восьмидесяти процентов; тексты не-носителей языка помечаются как машинные заметно чаще — база сравнения здесь доля ложных срабатываний относительно носителей; и точность резко падает после простого перефразирования.</a:t>
            </a:r>
          </a:p>
          <a:p/>
          <a:p>
            <a:r>
              <a:t>Как и в предыдущем классе, назовём параметры и валидацию, чтобы это был рецепт. Параметры: формальность (от «академически» до «дружелюбно»), эмоциональная окраска, конкретная персона, число и качество образцов стиля, и явные запреты — без канцелярита, без эмодзи, без превосходных форм. Валидация здесь сложнее, потому что стиль слабо формализуем: применяют LLM-судью на соответствие тону, проверку конкретных маркеров (длина предложений, наличие или отсутствие определённой лексики) и выборочную человеческую вычитку. И типичный провал при тонком многоатрибутном контроле: атрибуты конфликтуют — «формально, но тепло, но кратко, но с деталями» тянут в разные стороны, и модель проседает по части измерений; на длинных диалогах добавляется дрейф персоны.</a:t>
            </a:r>
          </a:p>
          <a:p/>
          <a:p>
            <a:r>
              <a:t>Инженерный вывод двойной. Сгенерировать человекоподобный текст технически можно, но выдавать его за своё — это этический и академический риск. И детектору нельзя доверять ни как щиту, чтобы доказать, что текст написан ИИ, ни как мечу, чтобы гарантированно спрятать ИИ-происхождение. Это тот же урок всей главы — наблюдаемое не равно гарантированному, — применённый к детекции.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класс — структурированное извлечение, самый частый интеграционный стык модели с кодом. Owner-правка здесь прямая: показать не мем, а технику — как правильно давать JSON-спеку в промпте. Начинаем с рамки, которую путают чаще всего: есть два разных уровня контроля с разными гарантиями. На уровне промпта вы просто текстом просите «верни JSON по схеме» — это даёт около восьмидесяти процентов валидности и жёстко не гарантирует ничего: ни синтаксис, ни набор полей, ни типы. На уровне декодера (structured outputs, или constrained decoding) схема компилируется в грамматику, и на каждом шаге генерации токены, нарушающие грамматику, физически не могут быть выбраны — отсюда близкое к стопроцентному соответствие схеме. Поддержка на 2026-й движется, поэтому сверяйте в день лекции: OpenAI Structured Outputs со strict-режимом, Anthropic вывел structured outputs в общую доступность на Claude 4.5, Google Gemini responseSchema, из open-source — Outlines, XGrammar, GBNF-грамматики.</a:t>
            </a:r>
          </a:p>
          <a:p/>
          <a:p>
            <a:r>
              <a:t>Дальше — как описать саму форму, три способа с компромиссами. Пример-объект понятен модели, но не выражает типы и enum. JSON Schema — машинно-проверяемый контракт, но многословна и деградирует на сложных схемах. Тип на языке кода (TypeScript, Pydantic, Zod) компактен и даёт типобезопасность, но требует конвертера. В описания полей кладут микро-инструкции: для перечислимых значений выписывают каждый вариант enum'ом, явно указывают required, держат вложенность мелкой. Сверху — few-shot из двух-трёх пар «вход → ожидаемый JSON», которые фиксируют форму лучше любого текста, и две мелочи с непропорциональным эффектом: схему в конце промпта и «верни ТОЛЬКО JSON, без markdown».</a:t>
            </a:r>
          </a:p>
          <a:p/>
          <a:p>
            <a:r>
              <a:t>Два нюанса, которые и есть настоящая техника. Reasoning tax: строгий JSON на рассуждающей задаче роняет качество (полный разбор с числами GSM8K — на слайде форматов), лечится двухходовкой «think free → reformat». И сложная схема: точность извлечения падает даже при валидном JSON — важно направление, не точная величина. Инвариант, замыкающий класс: валидный JSON ≠ правильные данные — грамматика гарантирует форму, но не истинность значений, поэтому каждый JSON всё равно проверяется в коде. Строгая схема надёжно помогает на извлечении, классификации и function calling — и только там.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это дисциплина с полувековой историей, и именно её устройство определяет, где RAG работает, а где ломается. Разберём классический информационный поиск с нуля, как искали в тексте до эмбеддингов, потому что без этой базы семантический поиск выглядит магией, а он не магия, а следующий слой поверх понятного фундамента.</a:t>
            </a:r>
          </a:p>
          <a:p/>
          <a:p>
            <a:r>
              <a:t>Бытовой предок машинного поиска — библиотечный каталог: карточки, упорядоченные по автору, названию и рубрике, плюс отсылки «см. также». Ровно эту идею машина воспроизводит через инвертированный индекс — структуру, которая для каждого слова хранит список документов, где оно встречается. Вместо сканирования всех текстов система заглядывает в индекс по словам запроса и мгновенно получает кандидатов. Это фундамент любой полнотекстовой системы и до сих пор рабочая лошадь промышленной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TF-IDF взвешивает слово тем сильнее, чем чаще оно в этом документе и реже во всей коллекции. Промышленный стандарт до сегодня — BM25 из семейства Okapi: развитие TF-IDF с насыщением по частоте и нормировкой на длину. BM25 — не устаревший артефакт, а сильная дешёвая базовая линия.</a:t>
            </a:r>
          </a:p>
          <a:p/>
          <a:p>
            <a:r>
              <a:t>Ключевое свойство этой классики — она работает на лексическом совпадении: находит документы с теми же словами, что в запросе. Отсюда сила на кодах и идентификаторах и граница на синонимах. И здесь надо снять частую и вредную неточность, которую владелец справедливо попросил пояснить: будто «семантический поиск построен на BM25». Это не так. Лексический поиск (инвертированный индекс, BM25 около тысяча девятьсот девяносто четвёртого года) и плотный семантический (DPR, две тысячи восемнадцатый–двадцатый) — две в значительной мере независимые ветки, выросшие из разных идей в разные годы; внутри dense-модели никакого BM25 нет. Их не построили одну на другой — их поставили рядом и сливают. BM25 часто стоит первой ступенью пайплайна, поэтому dense визуально «идёт после», отсюда и путаница. Корректная формула: лексика — старший независимый родственник семантики, современные системы их сливают (fuse), а не наследуют одно из другого. Семантический поиск добавляет недостающий слой смысла, но классика не исчезает и не становится «фундаментом» под ней: сильные RAG-системы 2026 года — гибрид BM25 и векторов, а не dense-only. RAG — объединение двух веток, и его провалы во многом там, где о классической ветке (фильтры, ранжирование, наблюдаемость)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§2.4 выводом «лучший RAG 2026 года — возврат классики поверх семантического слоя». Здесь этот вывод разворачивается в конкретную конструкцию — гибридный поиск, который стал дефолтом продакшена. Начнём с вопроса «зачем комбинировать», потому что комбинация не бесплатна. Классический BM25 находит документы по точному совпадению слов: коды, идентификаторы, имена, номера ошибок. Но он бессилен перед синонимом: «сломанный вход» не совпадёт с «authentication failure». Плотный векторный поиск наоборот ловит смысл, но размывается на редких точных токенах и дрейфует, когда две команды называют одно понятие по-разному. Гибрид берёт оба источника recall'а сразу.</a:t>
            </a:r>
          </a:p>
          <a:p/>
          <a:p>
            <a:r>
              <a:t>Прежде чем идти в механику, снимем два вопроса, которые владелец справедливо поднял. Первый: «гибрид чего с чем». Зафиксируем два вида векторов. Разреженный вектор — во весь словарь, почти все значения нули, каждое измерение соответствует слову; это BM25 и обучаемый SPLADE, он интерпретируем и ищется инвертированным индексом. Плотный вектор — низкой размерности, все значения float, порождается энкодером, кодирует смысл, ищется приближённо и не интерпретируем. Одной фразой: BM25 — sparse, эмбеддинги — dense, SPLADE — тоже sparse, но «умный». Второй вопрос: само слово «гибрид» несёт три разных смысла, и их путают. Смысл (а) — лексика плюс плотные векторы, слитые по рангам, это базовое значение. Смысл (б) — семантика плюс строгий отбор по метаданным (юрисдикция, дата): это ортогональный рычаг, не про слияние двух ретриверов, а про фильтр до поиска. Смысл (в) — sparse плюс sparse-learned, то есть BM25 плюс SPLADE или ELSER: обе ветки разреженные, одна с семантическим расширением. Дальше мы разбираем механику смысла (а).</a:t>
            </a:r>
          </a:p>
          <a:p/>
          <a:p>
            <a:r>
              <a:t>Как слить два списка? Проблема в том, что оценки BM25 и косинусная близость живут на несовместимых шкалах, нормировать сырые оценки хрупко. Reciprocal Rank Fusion обходит это, сливая по рангам: вклад документа считается как сумма единиц, делённых на «k плюс ранг», который дал ему каждый ретривер. Параметр k по умолчанию около шестидесяти; это конвенция, а не закон, её стоит подбирать.</a:t>
            </a:r>
          </a:p>
          <a:p/>
          <a:p>
            <a:r>
              <a:t>Реранкер — вторая ступень. Первичный retrieval кодирует запрос и документ раздельно: быстро, но грубо. Cross-encoder прогоняет пару вместе через трансформер: точнее, но дорого, поэтому его применяют только к переупорядочиванию верхних пятидесяти-ста кандидатов.</a:t>
            </a:r>
          </a:p>
          <a:p/>
          <a:p>
            <a:r>
              <a:t>Приросты читаем с базой и скептически. На WANDS гибрид даёт NDCG 0,7497 против 0,6983 у BM25 и 0,6953 у чистого вектора — это около семи процентов над уже настроенной базой, скромно. Крупные приросты — там, где лексика или смысл ломается по отдельности: у Anthropic доля промахов упала с 5,7 до 1,9 процента. Выигрыш зависит от корпуса: сначала измерьте разрыв на своих запросах, потом усложняйте.</a:t>
            </a:r>
          </a:p>
          <a:p/>
          <a:p>
            <a:r>
              <a:t>Источники:</a:t>
            </a:r>
          </a:p>
          <a:p>
            <a:r>
              <a:t>[1] denser.ai — Hybrid Search for RAG (WANDS / финтаблицы дельты) — WANDS NDCG 0,7497 гибрид vs 0,6983 BM25 / 0,6953 вектор; финтекст Recall@5 0,816 vs 0,587. https://denser.ai/blog/hybrid-search-for-rag/ [VFY-day-of]</a:t>
            </a:r>
          </a:p>
          <a:p>
            <a:r>
              <a:t>[2] Anthropic — Contextual Retrieval (каскад промахов 5,7→1,9%) — контекст+BM25 → 2,9%; +реранкинг → 1,9% от базы 5,7%.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гибрид оправдан и корпус вырос, встаёт вопрос «в чём хранить и искать векторы». Здесь легко переусложнить: под-каталог движков большой, а правильный выбор для большинства систем — скучный. И сразу снимем частый вопрос, который справедливо задал владелец: Elasticsearch и OpenSearch — это тоже полноценные векторные хранилища, а не что-то вне ландшафта. Оба держат dense-векторы и ищут по ним: Elastic — через тип поля dense_vector и kNN на HNSW; OpenSearch — через k-NN плагин с выбором движка. Просто их честнее ставить под своей осью — «поисковый движок, который ещё умеет вектора», в отличие от vector-native движков (Qdrant, Milvus, Weaviate), которые строились вокруг приближённого поиска ближайших соседей с первого дня. Обе категории — векторные БД; различает их происхождение, а оно тянет за собой набор сильных сторон. Пройдём шпаргалку 2026 года, помня, что масштабные потолки движутся и их стоит сверять в день лекции.</a:t>
            </a:r>
          </a:p>
          <a:p/>
          <a:p>
            <a:r>
              <a:t>pgvector — это расширение Postgres. Берут, когда данные уже в Postgres и нужна одна система с транзакционной согласованностью. Комфортно держит порядка пятидесяти миллионов векторов, за пятьдесят-сто миллионов деградирует без специальных надстроек. Qdrant — выделенный движок с минимумом операционной нагрузки, нативными разреженными и multi-vector примитивами. Weaviate несёт встроенный гибрид: вектор, BM25 и фильтры по метаданным из коробки. Milvus рассчитан на сотни миллионов и миллиарды векторов с разделёнными вычислениями и хранилищем, но требует реальных вложений в эксплуатацию. FAISS — это библиотека, а не база: сырая скорость и полный контроль, но persistence, CRUD и фильтры вы пишете сами. Chroma и LanceDB закрывают прототип, ноутбуки и локальный edge-сценарий.</a:t>
            </a:r>
          </a:p>
          <a:p/>
          <a:p>
            <a:r>
              <a:t>Обвязки — отдельная тема. Консенсус 2026 года: LlamaIndex и LangChain не конкуренты, а взаимодополняющие слои. LlamaIndex силён, когда трудная часть — retrieval по грязным приватным документам: ingestion, индексация, разумные дефолты. LangGraph даёт оркестрацию: durable execution, checkpointing, human-in-the-loop с паузой на часы и дни.</a:t>
            </a:r>
          </a:p>
          <a:p/>
          <a:p>
            <a:r>
              <a:t>И скептическая оговорка, замыкающая на правило лестницы: для простого RAG-эндпоинта, где всё сводится к «retrieve, потом generate», не нужен ни один фреймворк. Несколько сотен строк своей склейки избавляют от version churn и утечек абстракций. Обвязку добавляют под агентную, многошаговую сложность, а не по умолчанию.</a:t>
            </a:r>
          </a:p>
          <a:p/>
          <a:p>
            <a:r>
              <a:t>Источники:</a:t>
            </a:r>
          </a:p>
          <a:p>
            <a:r>
              <a:t>[1] firecrawl — Best Vector Databases 2026 (потолки движков) — pgvector ~50M; Milvus 100M+/миллиарды; Qdrant/Weaviate/FAISS/Chroma/LanceDB. https://www.firecrawl.dev/blog/best-vector-databases [VFY-day-of]</a:t>
            </a:r>
          </a:p>
          <a:p>
            <a:r>
              <a:t>[2] TigerData — pgvector vs Qdrant (вендор-бенчмарк, читать скептически) — 471 QPS@99% recall на 50M — вендор-число; мерить на своих данных. https://www.tigerdata.com/blog/pgvector-vs-qdrant [VFY-day-of]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ставить выделенную векторную БД, задайте вопрос, который в 2026 году отсеивает большую долю RAG-систем: а не хватит ли того, что у меня уже есть? Очень многие организации уже эксплуатируют Elasticsearch или OpenSearch для логов и поиска — и оба нативно умеют RRF-гибрид и взвешенную линейную комбинацию keyword и vector. Elasticsearch несёт тип поля dense_vector и kNN, а ELSER — разреженную нейронную модель, которая работает в кластере без внешнего GPU-инференса и заявлена превосходящей recall BM25 на десять-двадцать процентов на доменном контенте. OpenSearch даёт k-NN через FAISS и Lucene и допускает более высокую размерность вектора. Лицензионная линия между ними — стоит знать, но не переоценивать при выборе.</a:t>
            </a:r>
          </a:p>
          <a:p/>
          <a:p>
            <a:r>
              <a:t>Граница решения — конкретно, три яруса. Первый: классического BM25 достаточно, когда запросы и документы делят словарь — внутренние инструменты, поиск по логам, коду, идентификаторам, курированные базы знаний. Никаких эмбеддингов и векторного хранилища, а переиндексация дёшева и наблюдаема — это реальное операционное преимущество. Второй: встроенного гибрида Elastic или OpenSearch достаточно, когда вы уже эксплуатируете один из них и ваш масштаб — миллионы или десятки миллионов векторов; ELSER даёт семантический прирост без поднятия GPU-сервиса эмбеддингов и второго хранилища. Это случай «у вас уже есть молоток». Третий: выделенная векторная БД реально нужна при ста миллионах и больше векторов, при потребности в multi-vector или late-interaction примитивах, при жёстком latency-SLA на горячем пути продукта или при желании развязать векторное хранилище от эксплуатации кластера логов.</a:t>
            </a:r>
          </a:p>
          <a:p/>
          <a:p>
            <a:r>
              <a:t>Anti-hype-вывод: огромная доля RAG-систем никогда не превышает несколько миллионов чанков. На этом масштабе pgvector или встроенный гибрид — скучный правильный ответ, а выделенная векторная БД часто преждевременная оптимизация.</a:t>
            </a:r>
          </a:p>
          <a:p/>
          <a:p>
            <a:r>
              <a:t>Источники:</a:t>
            </a:r>
          </a:p>
          <a:p>
            <a:r>
              <a:t>[1] Pureinsights — From Vector Hype to Hybrid Reality (нужна ли вектор-БД) — большинство систем ≤ несколько млн чанков → pgvector / встроенный гибрид — правильный ответ. https://pureinsights.com/blog/2026/from-vector-hype-to-hybrid-reality-is-elasticsearch-still-the-right-bet/</a:t>
            </a:r>
          </a:p>
          <a:p>
            <a:r>
              <a:t>[2] bigdataboutique — Elastic/OpenSearch vector search (RRF-гибрид нативно) — ELSER (без GPU), BBQ ~16× память; OpenSearch k-NN через FAISS/Lucene. https://bigdataboutique.com/blog/opensearch-and-elasticsearch-vector-search-an-introduction-6af584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трёх шагов RAG чанкирование недооценивают чаще прочего, а рычаг у него высокий: как вы режете документ на фрагменты, определяет, что вообще может быть извлечено. Мы уже называли плохой chunking одним из трёх технических корней провалов RAG; разберём стратегии по порядку, от простой к сложной.</a:t>
            </a:r>
          </a:p>
          <a:p/>
          <a:p>
            <a:r>
              <a:t>Fixed-size режет каждые N токенов или символов. Это грубо, но быстро, воспроизводимо и на удивление сильная базовая линия. Recursive, или character-стратегия, режет по иерархии разделителей — абзац, потом предложение, потом слово, уважая структуру и ограничивая размер; это прагматичный дефолт. Sentence-window эмбеддит одно предложение для точности, но возвращает модели окно соседних предложений для контекста. Semantic ставит границу там, где эмбеддинг-близость соседних предложений резко падает, то есть по смене темы; звучит интуитивно, но часто не окупается — об этом следующий слайд. Parent-document, он же small-to-big, индексирует маленькие чанки для точности retrieval, а возвращает больший родительский блок для генерации — широко рекомендуемое лечение потерянного контекста. Late chunking сначала эмбеддит весь документ на уровне токенов, а потом пулит в чанк-эмбеддинги, чтобы каждый был контекст-осведомлён, сохраняя местоимения и ссылки.</a:t>
            </a:r>
          </a:p>
          <a:p/>
          <a:p>
            <a:r>
              <a:t>Отдельно стоит Contextual Retrieval: LLM дописывает пятьдесят-сто токенов документ-уровневого контекста к каждому чанку до эмбеддинга и до BM25-индексации. Именно этот приём дал каскад промахов с 5,7 до 1,9 процента, который мы видели на принципе RAG.</a:t>
            </a:r>
          </a:p>
          <a:p/>
          <a:p>
            <a:r>
              <a:t>Держите в голове главное: ни у размера чанка, ни у стратегии нет правильного значения по умолчанию. Их подбирают под корпус, и подбор без метрики — вслепую. О метриках — на слайде про системный дизайн.</a:t>
            </a:r>
          </a:p>
          <a:p/>
          <a:p>
            <a:r>
              <a:t>Источники:</a:t>
            </a:r>
          </a:p>
          <a:p>
            <a:r>
              <a:t>[1] firecrawl — Best Chunking Strategies for RAG — fixed / recursive / sentence-window / semantic / parent-document / late / contextual. https://www.firecrawl.dev/blog/best-chunking-strategies-rag</a:t>
            </a:r>
          </a:p>
          <a:p>
            <a:r>
              <a:t>[2] Anthropic — Contextual Retrieval (50–100 токенов контекста к чанку) — дописывание документ-уровневого контекста до эмбеддинга и BM25. https://www.anthropic.com/engineering/contextual-retrieval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 самое поучительное для суждения: исследования эффекта чанкирования открыто расходятся, и это само по себе урок. Возьмём три замера, каждый с базой. В февральском бенчмарке 2026 года сравнили семь стратегий на пятидесяти научных статьях: recursive с разбиением по 512 токенов оказался первым при 69 процентах точности, а semantic chunking дал только 54 — и породил крошечные фрагменты примерно по сорок три токена. В клиническом исследовании MDPI за ноябрь 2025 adaptive и topic-boundary chunking дали 87 процентов против 13 у fixed-size — огромный разрыв, но это узкий клинический домен. А NAACL 2025 Findings прямо пишет, что вычислительные издержки semantic chunking не оправданы стабильным приростом: fixed-чанки по двести слов оказались на уровне semantic или лучше.</a:t>
            </a:r>
          </a:p>
          <a:p/>
          <a:p>
            <a:r>
              <a:t>Читать это надо так: заявления «умный chunking побеждает» доменно-специфичны и не консистентны. На многих корпусах простой recursive fixed-size — сильная базовая линия, а semantic chunking проигрывает и по качеству, и по стоимости. Инженерный вывод дословно: не карго-культите semantic chunking. Recursive fixed-size дёшев и силён как отправная точка; усложняйте стратегию только под измеренный на своём корпусе разрыв.</a:t>
            </a:r>
          </a:p>
          <a:p/>
          <a:p>
            <a:r>
              <a:t>И named-провал этого подраздела, on-point для линии провалов: таблицы. Это единственная частая причина тихих провалов retrieval. Расплющивание таблицы в текст уничтожает связи строк и столбцов — модель не может их восстановить, и это не падает с ошибкой, а тихо портит ответ. Лечение — обрабатывать таблицы как структурированные объекты, а не расплющивать в строку. Мета-урок сильнейших команд: те, кто прошёл путь от нескольких месяцев на RAG-кейс до надёжного деплоя, перестали крутить размер чанка и начали управлять слоем знаний — качеством документов, обработкой таблиц, свежестью и метаданными.</a:t>
            </a:r>
          </a:p>
          <a:p/>
          <a:p>
            <a:r>
              <a:t>Источники:</a:t>
            </a:r>
          </a:p>
          <a:p>
            <a:r>
              <a:t>[1] firecrawl — chunking benchmark (recursive-512 69% vs semantic 54%) — 7 стратегий на 50 статьях; semantic дал ~43-токенные фрагменты. https://www.firecrawl.dev/blog/best-chunking-strategies-rag [VFY-day-of]</a:t>
            </a:r>
          </a:p>
          <a:p>
            <a:r>
              <a:t>[2] firecrawl — chunking eval (recall@k в изоляции может врать) — recall@k 91,9% при 54% end-to-end ответов — оценивать chunking и через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слайд сказал: не карго-культите чужой рецепт, мерьте на своих данных. Этот слайд показывает, как именно чанкирование ломается — и почему это самый коварный вид отказа RAG: он тихий. Возьмём конкретный корпус: триста PDF-руководств по промышленному оборудованию — пояснительный текст плюс таблицы спецификаций «Модель / Напряжение / Ток / Момент затяжки» плюс предупреждения по безопасности. Типичный вопрос: «какой момент затяжки для модели X-500?» — и ответ живёт в ячейке таблицы.</a:t>
            </a:r>
          </a:p>
          <a:p/>
          <a:p>
            <a:r>
              <a:t>Что выбрал бы наивный инженер: RecursiveCharacterTextSplitter, пятьсот двенадцать токенов, перекрытие пятьдесят — это работает для прозы. Но парсер детектит таблицу и расплющивает её в поток, а символьный сплиттер режет её по произвольному байту на границе пятьсот двенадцать токенов. Результат: первый кусок содержит заголовки колонок и первые строки, а все последующие — ряды цифр без заголовков: «двенадцать, четыреста восемьдесят, восемь и пять, тридцать четыре» без подписей. Почему это тихий провал: система не падает — эмбеддинг считается, ретрив находит чанк с числом тридцать четыре, ответ генерируется. Он просто неправильный: модель не знает, что тридцать четыре — это момент затяжки для X-500, а не ток для X-700. На дашборде «retrieval работает», в проде — травма на производстве.</a:t>
            </a:r>
          </a:p>
          <a:p/>
          <a:p>
            <a:r>
              <a:t>Правильное решение — не «умная» semantic-нарезка, а банальное уважение структуры[1]: table-aware нарезка, где таблица идёт отдельным чанком, а если больше лимита — по строкам, повторяя заголовки в каждом куске, чтобы каждая строка стала самодостаточной. Плюс parent-document для текста, чтобы предупреждения не отрывались от процедуры, и метаданные для фильтра по модели и версии.</a:t>
            </a:r>
          </a:p>
          <a:p/>
          <a:p>
            <a:r>
              <a:t>И три вещи, которые нельзя забыть. Анафора: «оно», «этот город», «данная политика» теряют антецедент при разрезе — лечится parent-document или контекстным дописыванием. Смена эмбеддинг-модели — это пере-нарезка всего корпуса[2], а не строчка в конфиге. И оценка самого chunking чувствительна к k: recall@k может врать (девяносто два процента recall при пятидесяти четырёх процентах ответов), поэтому меряют и end-to-end. Проверка на тихий провал простая: сгенерировать двадцать-тридцать вопросов с ответами в таблицах и руками убедиться, что в top-k приходит чанк с заголовками, а не голый ряд цифр.</a:t>
            </a:r>
          </a:p>
          <a:p/>
          <a:p>
            <a:r>
              <a:t>Источники:</a:t>
            </a:r>
          </a:p>
          <a:p>
            <a:r>
              <a:t>[1] Anthropic — Contextual Retrieval (таблицы — тихий провал retrieval) — расплющивание таблицы рушит связи строк/столбцов без ошибки — лечить table-aware нарезкой. https://www.anthropic.com/engineering/contextual-retrieval</a:t>
            </a:r>
          </a:p>
          <a:p>
            <a:r>
              <a:t>[2] firecrawl — Chunking Strategies (re-chunk при смене эмбеддера, k-чувствительность) — размер чанка привязан к окну модели; оценка chunking только через recall@k И end-to-end. https://www.firecrawl.dev/blog/best-chunking-strategies-rag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RAG обсуждался как логика. Здесь — про то, что ломается, когда логика становится продакшн-системой на миллионах документов и тысячах запросов. Прототип отлично работает на тысяче документов и нескольких пользователях, а ломается на миллионах векторов и тысячах конкурентных запросов. Что добавляется при переходе.</a:t>
            </a:r>
          </a:p>
          <a:p/>
          <a:p>
            <a:r>
              <a:t>Первое: конвейер индексации — ingest, chunk, embed, index — в проде становится двойным: офлайн-батч для массовой индексации и инкрементальный для обновлений. И первое узкое место — обычно ingestion, а не поиск. На миллионах документов chunk и embed не помещаются на одну машину. Интуиция про медленный поиск здесь обманывает: медленна и дорога подготовка индекса, а не запрос по нему.</a:t>
            </a:r>
          </a:p>
          <a:p/>
          <a:p>
            <a:r>
              <a:t>Свежесть — реальная стоимость, не сноска. Батч-переиндексация проста, но даёт устаревание; CDC-синхронизация близка к реальному времени, но утраивает операционную сложность. Один кейс: переход с батча на CDC улучшил SLA свежести с двадцати четырёх часов до субминуты — ценой ops-затрат. И если джоб переиндексации тихо отстаёт, retrieval деградирует невидимо, без ошибки. Отдельный migration-event: смена embedding-модели требует пере-эмбеддить все векторы — старые и новые несравнимы; это миграция всего индекса, а не строка в конфиге.</a:t>
            </a:r>
          </a:p>
          <a:p/>
          <a:p>
            <a:r>
              <a:t>Eval нужен, иначе система деградирует невидимо. Две группы. Со стороны retrieval, где нужны метки: recall@k с ориентиром около 0,8, nDCG около 0,8, precision@k, MRR. End-to-end через LLM-судью без меток — RAGAS: faithfulness, context precision, context recall. Практика — считать обе группы и сверять их, а метрики судьи выборочно проверять человеческими метками.</a:t>
            </a:r>
          </a:p>
          <a:p/>
          <a:p>
            <a:r>
              <a:t>И несущий каунтерфактуал: для базы знаний под двести тысяч токенов всё кладётся в промпт с кэшированием — до девяноста процентов сокращения стоимости — и retrieval пропускается вовсе. Первый вопрос перед всей инфраструктурой — а нужен ли RAG вообще.</a:t>
            </a:r>
          </a:p>
          <a:p/>
          <a:p>
            <a:r>
              <a:t>Источники:</a:t>
            </a:r>
          </a:p>
          <a:p>
            <a:r>
              <a:t>[1] Redis — RAG at Scale (ingestion-горло, CDC 24ч→субминута, кэш ~69%) — POC→прод — двойной конвейер; свежесть батч vs CDC; семантический кэш ~69%. https://redis.io/blog/rag-at-scale/ [VFY-day-of]</a:t>
            </a:r>
          </a:p>
          <a:p>
            <a:r>
              <a:t>[2] futureagi — RAG Evaluation Metrics (recall@k ~0,8, nDCG, RAGAS) — две группы метрик: label-based + LLM-судья; сверять их с человеком. https://futureagi.com/blog/rag-evaluation-metrics-2025/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разбирали RAG как устройство: принцип, когда он уместен, как ломается, из чего собран правильный. Теперь развернём это на пять реальных архетипов, потому что «RAG» в вакууме не существует — существует «RAG под поддержку», «RAG под код», «RAG под договоры», и retrieval-дизайн у них разный. Единый количественный якорь для всех: по данным практиков наивный dense-RAG проваливает ретрив[1] порядка сорока процентов времени, и три приёма — контекст к чанку, гибрид, реранк — закрывают большую часть этого.</a:t>
            </a:r>
          </a:p>
          <a:p/>
          <a:p>
            <a:r>
              <a:t>Кейс поддержки и внутренней базы: kapa.ai обслуживает документ-ассистентов для Docker, Reddit, OpenAI; Stripe — ассистент поверх документации. Типичный провал: эмбеддинги решают, что «exponential backoff» и «dead-letter queue» семантически близки, и ассистент уверенно выдаёт неверную политику повторов — гибрид спасает тем, что BM25 ловит точный термин, который плотный поиск замылил. Кейс документации: Vercel AI SDK docs-copilot строит контракт «ответ с источниками или отказ» и держит eval-набор прямо в CI, чтобы регрессия ретрива после обновления документации не ушла в прод незамеченной.</a:t>
            </a:r>
          </a:p>
          <a:p/>
          <a:p>
            <a:r>
              <a:t>Кейс кода — самый поучительный. Cursor индексирует кодбазу эмбеддингами, но Sourcegraph Cody на Enterprise сделал обратное: убрал эмбеддинги и вернулся к классическому лексическому[3] и структурному поиску. Причины — код уходил в сторонний API (риск безопасности), векторы надо хранить и обновлять, а на ста тысячах репозиториев вектор-поиск дорог и не масштабируется. Классический поиск дал равное или лучшее качество дешевле и безопаснее. Это прямой пример «RAG-как-dense-vectors был не тем инструментом»: для кода и точных идентификаторов классический поиск часто бьёт dense-RAG.</a:t>
            </a:r>
          </a:p>
          <a:p/>
          <a:p>
            <a:r>
              <a:t>Кейс юридический показывает границу high-stakes: преригистрированное исследование Стэнфорда по коммерческим legal-AI (LexisNexis, Westlaw — все на RAG) нашло семнадцать-тридцать три процента галлюцинаций[2], несмотря на маркетинг «hallucination-free». RAG снижает, но не обнуляет — без верификации цитат и человека-в-петле применять нельзя. И enterprise-кейс со смешанными данными: вопрос «сумма расходов за Q3» нельзя закрыть векторным поиском по таблице — это SQL-агрегация, поэтому нужен роутер «структурный против текстового». Общий вывод: retrieval-дизайн выводится из природы данных, а не копируется из чужого блога.</a:t>
            </a:r>
          </a:p>
          <a:p/>
          <a:p>
            <a:r>
              <a:t>Источники:</a:t>
            </a:r>
          </a:p>
          <a:p>
            <a:r>
              <a:t>[1] Barnett et al. 2024 — Seven Failure Points (RAG-архетипы) — «вернул что-то ≠ вернул правильное»: точки отказа поперёк типовых RAG-задач. https://arxiv.org/abs/2401.05856</a:t>
            </a:r>
          </a:p>
          <a:p>
            <a:r>
              <a:t>[2] Stanford HAI/RegLab — Legal-AI галлюцинирует 17–33% (Lexis/Westlaw) — коммерческие legal-AI на RAG галлюцинируют 1 из 6+ запросов, несмотря на «0%»-маркетинг. https://hai.stanford.edu/news/ai-trial-legal-models-hallucinate-1-out-6-or-more-benchmarking-queries [VFY-day-of]</a:t>
            </a:r>
          </a:p>
          <a:p>
            <a:r>
              <a:t>[3] Sourcegraph Cody — контекст без эмбеддингов (классический поиск) — Cody на Enterprise убрал эмбеддинги → лексический/структурный поиск дешевле, безопаснее, масштабнее. https://sourcegraph.com/docs/cody/core-concepts/context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важная реорганизация по правке владельца: deep research мы перенесли из раздела про промпты сюда, в RAG. Почему — deep research часто ошибочно относят к промпт-задачам: «напиши большой промпт, и он соберёт отчёт». Это неверно. Определяющий компонент здесь — retrieval и оркестрация, а не формулировка промпта, а промпт в нём — лишь одна деталь. Значит, это RAG-кейс, и его место — в разделе про RAG.</a:t>
            </a:r>
          </a:p>
          <a:p/>
          <a:p>
            <a:r>
              <a:t>Постановка: один сложный вопрос — «сравни рынок по пяти измерениям, со ссылками» — система сама планирует под-вопросы, много раз ищет, читает источники и синтезирует отчёт с цитатами. Архитектурный паттерн — рассуждающая модель плюс агентный цикл RAG[1]: рассуждение направляет поиск, новые находки уточняют рассуждение, и это закрытая петля, в отличие от статического «retrieve top-k, потом generate». Обобщённая схема для слайда: план под-вопросов, затем несколько итераций «поиск, чтение, уточнение рассуждения», потом синтез и отдельный шаг верификации цитат. OpenAI Deep Research гоняет одну мощную reasoning-модель по циклу план-поиск-backtrack-синтез; Perplexity делает RAG по вебу в реальном времени с аннотацией источников. Я называю продукты как иллюстрацию класса, а не как рекомендацию.</a:t>
            </a:r>
          </a:p>
          <a:p/>
          <a:p>
            <a:r>
              <a:t>Граница этого класса критична для суждения: deep-research-агенты фабрикуют цитаты. Замеры дают от трёх до тринадцати процентов сфабрикованных URL. И контринтуитивный факт: deep-research-агент галлюцинирует цитаты хуже обычного поиска[2] с дополнением — десять и семь десятых процента против четырёх и восьми десятых. База сравнения — доля фейковых цитат на запрос; агент хуже именно потому, что генерирует кратно больше ссылок. Лечится это отдельным слоем верификации после синтеза: проверить, что каждый URL резолвится и что процитированный текст реально подтверждает утверждение — ровно как в юридическом кейсе.</a:t>
            </a:r>
          </a:p>
          <a:p/>
          <a:p>
            <a:r>
              <a:t>Против ручного аналитика deep research быстрее и дешевле, но без верификационного слоя от трёх до тринадцати процентов ссылок ложны, и в high-stakes-отчёте это дороже медленного человека. Прямая связка с правилом курса про базу: deep research любит выдавать цифры без базы — «минус пятьдесят процентов», «пять миллионов акров» — и подпирать их правдоподобной, но несуществующей ссылкой. Вывод, замыкающий раздел: любую метрику из ИИ-ресёрча перепроверяйте по резолвящемуся первоисточнику, а число без базы считайте красным флагом, а не фактом.</a:t>
            </a:r>
          </a:p>
          <a:p/>
          <a:p>
            <a:r>
              <a:t>Источники:</a:t>
            </a:r>
          </a:p>
          <a:p>
            <a:r>
              <a:t>[1] Anthropic — Multi-Agent Research System (агентный цикл RAG) — reasoning-LLM + агентная петля: рассуждение направляет поиск, находки уточняют рассуждение. https://www.anthropic.com/engineering/multi-agent-research-system</a:t>
            </a:r>
          </a:p>
          <a:p>
            <a:r>
              <a:t>[2] arXiv:2604.03173 — фабрикация цитат в retrieval-augmented (3–13%) — 3–13% URL сфабрикованы; deep research хуже обычного поиска 10,7% vs 4,8% на запрос. https://arxiv.org/abs/2604.03173 [VFY-day-of]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Пересоберём ось стоимости обучения так, как её проще держать в голове инженеру: не «пять колонок методов», а функция размера модели. Стоимость почти целиком определяется тем, сколько параметров вы реально обучаете и держите в памяти, а это производная от размера модели — 7, 13, 70 или 405 миллиардов — и от того, замораживаете вы базу или нет. Сначала один несущий закон памяти, из которого читаются все числа таблицы.</a:t>
            </a:r>
          </a:p>
          <a:p/>
          <a:p>
            <a:r>
              <a:t>При обучении с оптимизатором Adam в смешанной точности на каждый обучаемый параметр надо держать несколько величин: мастер-веса в fp32, градиент и два состояния Adam — первый и второй моменты. В сумме получается примерно шестнадцать–двадцать байт на каждый обучаемый параметр. Отсюда прямо: Full-FT обучает все N параметров, значит платит эти шестнадцать–двадцать байт за каждый, и память растёт линейно по размеру модели. LoRA замораживает базу — её не надо держать под градиенты и моменты — и обучает крошечный адаптер в 0,1–1% параметров, поэтому доминирует просто вес замороженной базы в режиме инференса, два байта на параметр. Осязаемая база сравнения: чистый инференс 7B в bf16 — около 14 гигабайт; Full-FT того же 7B требует 88–160 гигабайт, то есть в шесть–десять раз больше памяти, чем инференс.</a:t>
            </a:r>
          </a:p>
          <a:p/>
          <a:p>
            <a:r>
              <a:t>Теперь читаем таблицу по размеру. Full-FT на 70B — это около 860 гигабайт, примерно одиннадцать карт H100 по 80 гигабайт; LoRA на том же 70B — около 159 гигабайт, две такие карты. По деньгам полезный LoRA-файнтюн 7B стоит меньше десяти долларов[1] — три часа на одной карте RTX 5090; LoRA 70B — порядка 20 долларов; а претрейн 405B с нуля — 30,8 миллиона H100-часов, то есть 61–92 миллиона долларов. Отсюда несущий контраст: LoRA-файнтюн дешевле фронтир-претрейна примерно на семь порядков. Строка «претрейн с нуля» существует только чтобы задать масштаб — никто в зале не претренит.</a:t>
            </a:r>
          </a:p>
          <a:p/>
          <a:p>
            <a:r>
              <a:t>Про QLoRA важно сказать честно: это не отдельный метод-конкурент, а модификатор. Она не меняет, что обучается — те же LoRA-адаптеры, — она режет вес замороженной базы 4-битной квантизацией примерно вчетверо. Поэтому QLoRA живёт нотой под таблицей: 65B-модель влезает в одну 48-гигабайтной карте[2], 7B в 4-битном виде помещается в 16-гигабайтную. Вывод: тренировка дёшева и дешевеет; Full-FT оправдан лишь когда датасет превышает ёмкость LoRA, а для узкой поведенческой адаптации не покупает ничего сверх LoRA, зато добавляет память и риск забывания.</a:t>
            </a:r>
          </a:p>
          <a:p/>
          <a:p>
            <a:r>
              <a:t>Источники:</a:t>
            </a:r>
          </a:p>
          <a:p>
            <a:r>
              <a:t>[1] Thinking Machines — LoRA Without Regret (LoRA ≈ Full-FT при условиях) — LoRA сравнивается с Full-FT на всех слоях и вне ёмкости; ~0,13% параметров, &lt;$10. https://thinkingmachines.ai/blog/lora/ [VFY-day-of]</a:t>
            </a:r>
          </a:p>
          <a:p>
            <a:r>
              <a:t>[2] Dettmers et al. 2023 — QLoRA (65B на одной 48-ГБ карте) — 4-битная NF4-квантизация замороженной базы → дообучение 65B на одном GPU. https://arxiv.org/abs/2305.14314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гибрид[1].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a:p/>
          <a:p>
            <a:r>
              <a:t>Источники:</a:t>
            </a:r>
          </a:p>
          <a:p>
            <a:r>
              <a:t>[1] BigData Boutique — Fine-Tuning When RAG Isn't Enough — fine-tuning сузился до поведения/стиля/формата/политики; знание → RAG. https://bigdataboutique.com/blog/fine-tuning-llms-when-rag-isnt-enough [VFY-day-of]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исправляем формулировку, вокруг которой ходит устойчивое недоразумение. Расхожая фраза «дистилляция — это не дообучение» неверна. Ученика — маленькую student-модель — действительно дообучают, поэтому оба утверждения истинны одновременно: «это дистилляция» и «это дообучение маленькой модели». Выбор «или-или» — ложная дихотомия. Дистилляция реализуется через fine-tuning student-модели, то есть является дообучением; отличается она от обычного supervised fine-tuning не тем, «обучают или нет», а по двум другим осям.</a:t>
            </a:r>
          </a:p>
          <a:p/>
          <a:p>
            <a:r>
              <a:t>Первая ось — цель, то есть что именно мы матчим. При обычном дообучении ученик учится на «жёстких» метках вида «вот единственный правильный класс или ответ». При дистилляции ученик матчит мягкое распределение учителя[1] — те вероятности, которые учитель приписывает всем вариантам сразу, а не только правильному. В этом мягком распределении сидит так называемое «тёмное знание» (dark knowledge): учитель сообщает не только «это кошка», но и «кошка похожа на собаку сильнее, чем на грузовик». Классическая token-level-дистилляция минимизирует KL-дивергенцию между распределениями ученика и учителя.</a:t>
            </a:r>
          </a:p>
          <a:p/>
          <a:p>
            <a:r>
              <a:t>Вторая ось — данные, то есть откуда берётся обучающий сигнал. При дистилляции его генерирует сам учитель, а не человек-разметчик. Отсюда response-distillation — обучение на текстах-ответах учителя, которое работает даже без доступа к логитам, через обычный API. Два датированных примера делают это конкретным. DistilBERT[2] (Sanh и соавторы, 2019): student на 40% меньше по числу параметров и на 60% быстрее, при этом сохраняет 97% способностей учителя на GLUE — база сравнения тут сам BERT-base как учитель, то есть отдали 3% качества за −40% размера. Alpaca (Stanford, 2023): LLaMA-7B дообучили на 52 000 инструкций, сгенерированных GPT-3.5, за менее чем 600 долларов — против десятков тысяч долларов, если бы те же инструкции собирали вручную.</a:t>
            </a:r>
          </a:p>
          <a:p/>
          <a:p>
            <a:r>
              <a:t>И обязательный провал: у дистилляции жёсткий потолок способностей. Ученик почти никогда не превосходит учителя — учитель задаёт верхнюю границу качества сигнала — и наследует его ошибки и смещения, но уже без способности учителя «поймать себя». Дистиллируете GPT-3.5 — получаете не-лучше-GPT-3.5, а не сильную маленькую модель из ниоткуда. Поэтому корректная рабочая формулировка — «дообучить компактную student-модель на выходах сильной teacher»: это и дообучение, и дистилляция сразу.</a:t>
            </a:r>
          </a:p>
          <a:p/>
          <a:p>
            <a:r>
              <a:t>Источники:</a:t>
            </a:r>
          </a:p>
          <a:p>
            <a:r>
              <a:t>[1] Hinton, Vinyals, Dean 2015 — Distilling the Knowledge — дистилляция обучает student матчить распределение teacher (soft targets, KL); это дообучение маленькой модели. https://arxiv.org/abs/1503.02531</a:t>
            </a:r>
          </a:p>
          <a:p>
            <a:r>
              <a:t>[2] Stanford Alpaca 2023 / Sanh et al. 2019 DistilBERT — Alpaca: LLaMA-7B на 52k выходов GPT &lt;$600; DistilBERT: −40% размера / 97% качества GLUE. https://arxiv.org/abs/2403.14608 [VFY-day-of]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переворачивается интуиция: инженеры боятся стоимости тренировки, а бюджетная строка — оценка. Полезный 7B-LoRA стоит единицы долларов, а строгая оценка того же адаптера — 300–1200 долларов человеческого труда за один раунд, и всё равно может не предсказать продакшн. Разберём шесть методов, каждый по одной жёсткой схеме: как работает пошагово, когда валиден, когда ломается, чего стоит.</a:t>
            </a:r>
          </a:p>
          <a:p/>
          <a:p>
            <a:r>
              <a:t>Первый — публичные бенчмарки: MMLU, GSM8K, HELM. Фиксированный набор вопросов с известными ответами, метрика — доля угаданных, прогон дешёвый и без людей. Валиден для проверки широких способностей и отлова забывания. Ломается на двух вещах. Контаминация: тестовые вопросы утекли в претрейн — около 29% items MMLU показали признаки контаминации[1], а на чистом зеркале GSM8K, то есть на GSM1k, точность падает до тринадцати пунктов[2], значит меряется память, а не рассуждение. И нерелевантность: доменный LoRA может быть лучше в вашем домене и хуже на MMLU. Второй — held-out тест-сет: отобрали и разметили примеры вашей задачи до обучения, заморозили, гоняете каждую версию. Это единственное, что меряет именно вашу задачу, — самый высокий ROI; ломается только на утечке в трейн или дрейфе. Третий — LLM-как-судья: сильная модель судит выход, pairwise надёжнее pointwise. Даёт больше 80% согласия с людьми, но систематически смещён: позиционное смещение до 75% предпочтения первому ответу, self-enhancement плюс 10–25% в пользу своей же семьи. Тут важно: воспроизводимость вердикта не равна его правильности.</a:t>
            </a:r>
          </a:p>
          <a:p/>
          <a:p>
            <a:r>
              <a:t>Четвёртый — человеческая оценка: rubric, два-три аннотатора, межэкспертное согласие каппа. Порог существенный — каппа не ниже 0,6, иначе rubric надо переписывать. Золотой стандарт для открытого качества, но дорого и не масштабируется: набор 200 примеров на трёх оценщиков — 300–1200 долларов за раунд. Пятый — task-метрики: exact-match, F1, BLEU, ROUGE. Валидны для закрытых задач с единственным правильным ответом. На открытой генерации ломаются: меряют перекрытие n-грамм, а не смысл, корреляция с людьми r от 0,25 до 0,52 — корректный парафраз штрафуется. Шестой — A/B онлайн: canary на 1–5% трафика с guardrail-метриками. Единственный метод, меряющий реальное поведение; ломается тем, что до продакшена неприменим, а из-за недетерминизма LLM нужно примерно вчетверо больше сэмплов.</a:t>
            </a:r>
          </a:p>
          <a:p/>
          <a:p>
            <a:r>
              <a:t>Сквозной вывод: ни один метод не самодостаточен. Дешёвые — худшая валидность, валидные — дорогие. Измеренный разрыв между лабораторным бенчмарком и продакшеном около 37% — это механика, не аномалия: прирост на бенчмарке это гипотеза, а не результат; подтверждают только чистый held-out плюс A/B на реальном трафике, и на этот разрыв надо закладывать бюджет.</a:t>
            </a:r>
          </a:p>
          <a:p/>
          <a:p>
            <a:r>
              <a:t>Источники:</a:t>
            </a:r>
          </a:p>
          <a:p>
            <a:r>
              <a:t>[1] Pebblous — LLM Benchmark Contamination (MMLU ~29%) — около 29% items MMLU с признаками загрязнения — бенчмарк-число без проверки на утечку это театр. https://blog.pebblous.ai/blog/llm-benchmark-contamination/en/ [VFY-day-of]</a:t>
            </a:r>
          </a:p>
          <a:p>
            <a:r>
              <a:t>[2] Zhang et al. 2024 — GSM1k (чистое зеркало GSM8K −13 п.п.) — чистое зеркало роняет точность до 13 пунктов — доверяй дельте на clean-зеркале. https://arxiv.org/abs/2405.00332 [VFY-day-of]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Лекции 2 модель была собеседником в окне чата. Здесь она становится вызываемым компонентом системы, и это ключевой сдвиг для всего раздела агентов. Механику API-слоя — структурированный вывод, вызов инструментов, кэш промптов — мы уже разбирали в Лекции 2, повторять её не нужно. Здесь важна одна специфичная для этой лекции точка: модель сама решает, что нужен инструмент, и формулирует вызов, а исполняет его ваш код, не модель. Модель не выходит наружу сама — она возвращает намерение, система выполняет действие и возвращает результат обратно в контекст. Именно отсюда вырастает цикл агента, который разберём на следующем слайде: модель работает в петле «рассуждение, вызов инструмента, чтение результата».</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Инструмент описал один раз как MCP-сервер — и его видят все модели-клиенты; подключение стало операцией на минуты[1]. Но здесь критический поворот: стандартизация подключения не означает безопасность подключаемого и даже усугубляет проблему доверия. Каждый MCP-сервер — это чужой код в вашем окружении и канал, через который в контекст попадает недоверенный текст, то есть носитель инъекции в промпт.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не так растёт, как интуитивно ожидает инженер. База: один chat-turn стоит центы. Переход к агенту — не надбавка, а кратный скачок: контекст накапливает выводы инструментов, модель рассуждает на каждом шаге, токенов в разы больше. Мульти-агент — ещё ×15 поверх одиночного. Ключевое: множители перемножаются, не складываются. Каждая ступень умножает бюджет, не добавляет.</a:t>
            </a:r>
          </a:p>
          <a:p/>
          <a:p>
            <a:r>
              <a:t>Поэтому prompt caching — переиспользование неизменного префикса вместо пересчёта на каждый запрос — меняет статус с опции на необходимость в агентном цикле. На изолированном вызове кэш приятен, но не критичен. Внутри цикла с десятками обращений к одному префиксу (инструкции, описания, контекст) отсутствие кэша означает оплату за каждый пересчёт. Кэш не убирает множитель, но убирает ненужный пересчёт.</a:t>
            </a:r>
          </a:p>
          <a:p/>
          <a:p>
            <a:r>
              <a:t>Вывод: экономику считай до решения подняться на ступень, не после счёта за API. «Агент дороже» — множительное правило, и мульти-агент умножает снова. Прежде чем добавить ступень, спросись: оправдывает ли ценность задачи этот множитель.</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решает, как модель формулирует вызов. MCP решает, как инструмент физически подключается. До 2024 года каждый вендор решал по-своему, порождая комбинаторный взрыв. MCP — открытый стандарт: N моделей × M инструментов = N×M интеграций → N+M. Метафора: USB-C для инструментов. Anthropic открыла его в ноябре 2024, OpenAI и Google приняли в 2025 — де-факто отраслевой стандарт.</a:t>
            </a:r>
          </a:p>
          <a:p/>
          <a:p>
            <a:r>
              <a:t>Масштаб читай критически. Каталоги называют до 90 000 серверов, но реально запускаемых около 10 000 — 11%. Остальное дубли, сломанные, заглушки. Даже работающие не проверены на безопасность.</a:t>
            </a:r>
          </a:p>
          <a:p/>
          <a:p>
            <a:r>
              <a:t>Критический поворот: стандартизация подключения не означает безопасность подключаемого — усугубляет проблему. Каждый инструмент — код, запускаемый в твоём окружении, канал для недоверенного текста. За 60 дней: 30+ CVE на MCP-серверы, 43% — внедрение команд (command injection), 82% реализаций уязвимы к обходу пути (path traversal). «Подключить за минуту» и «доверять подключённому» — разные вопросы. MCP решил первый, сделал второй острее. Удобство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Введя и function calling, и MCP, честно поставим вопрос, который у инженера возникает сразу: мне вообще нужен MCP, или проще напрямую дёрнуть API? Начнём с базы, потому что тут ходит распространённое заблуждение «MCP — это замена REST». Это неверно. REST и gRPC — транспортный слой, который реально делает работу: ходит в базу, дёргает сервис. MCP — тонкий стандартный слой поверх, который позволяет агенту во время работы обнаружить доступные инструменты через запрос tools/list и вызвать их. В подавляющем большинстве реальных развёртываний MCP-сервер оборачивает уже существующий REST API, а не заменяет его. Поэтому вопрос не «MCP или API» — это не альтернативы на одном уровне, — а «нужен ли мне слой обнаружения и переносимости поверх API, или достаточно жёстко прописанного вызова функции».</a:t>
            </a:r>
          </a:p>
          <a:p/>
          <a:p>
            <a:r>
              <a:t>Несущий аргумент за MCP — арифметика интеграций. До MCP, чтобы связать N приложений с M инструментами, в худшем случае нужно N умножить на M отдельных интеграций. MCP делает так, что каждая сторона реализует протокол один раз: приложение становится клиентом, инструмент — сервером, и всего нужно N плюс M реализаций. Но отсюда виден и порог: выигрыш материализуется, только когда и N, и M не меньше двух-трёх. Для одного приложения и одного-двух известных инструментов N умножить на M равно двум, а N плюс M равно трём — то есть прямой function-call проще. Ниже порога MCP — это чистый overhead. Что ещё даёт слой MCP: динамическое обнаружение, когда каталог часто меняется; stateful-сессии; переносимость между вендорами моделей.</a:t>
            </a:r>
          </a:p>
          <a:p/>
          <a:p>
            <a:r>
              <a:t>Обратная сторона — цена слоя, и она не нулевая, поэтому решение по таблице. Обновлённый скан всех примерно 10 700 серверов реестра показал, что примерно четверть серверов реестра[2] непригодны, и авторы прямо называют это полом, а не потолком: часть за auth-стеной вообще не удалось протестировать. Даже среди работающих реальная успешность низкая: на бенчмарке MCP-Universe лучшая протестированная модель дала сорок три и семь[1] десятых процента успешных задач — то есть даже лучший результат проваливает больше половины реальных MCP-задач. И безопасность не проверена: аудиты находят command injection у 43% серверов и path traversal у 82% реализаций.</a:t>
            </a:r>
          </a:p>
          <a:p/>
          <a:p>
            <a:r>
              <a:t>Правило одной строкой: MCP — стандарт интероперабельности, а не апгрейд производительности. Он окупается как флот и экосистема — много агентов, много инструментов, переиспользование, смена вендоров. Для одного агента с одним инструментом простой function-call проще, быстрее и безопаснее — и пропустить MCP здесь это правильное инженерное суждение, а не срезанный угол. Это ровно правило лестницы, приложенное к слою подключения.</a:t>
            </a:r>
          </a:p>
          <a:p/>
          <a:p>
            <a:r>
              <a:t>Источники:</a:t>
            </a:r>
          </a:p>
          <a:p>
            <a:r>
              <a:t>[1] MCP-Universe (arXiv:2508.14704) — лучший результат 43,7% — лучшая модель на реальных MCP-серверах даёт 43,7% задач; &gt;56% реальных задач провалено. https://arxiv.org/abs/2508.14704 [VFY-day-of]</a:t>
            </a:r>
          </a:p>
          <a:p>
            <a:r>
              <a:t>[2] DEV/theopslog audit 2026 — ~25% серверов реестра непригодны — ≈25% серверов реестра непригодны (пол, не потолок); injection 43% / path-traversal 82%.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тянуться к динамическому агенту, полезно знать, что workflow — не примитив. Anthropic в «Building Effective Agents» показывает, что у него есть развитая палитра паттернов, и все они дают структуру вокруг предсказуемого, не уходя в динамический агент. Разберём пять.</a:t>
            </a:r>
          </a:p>
          <a:p/>
          <a:p>
            <a:r>
              <a:t>Prompt chaining — задача разбита на фиксированную последовательность вызовов, выход одного становится входом следующего, а между шагами можно вставить детерминированную проверку-gate и остановиться, если она не прошла. Применять, когда задача чисто декомпозируется на известные подшаги. Routing — первый вызов классифицирует вход и направляет его в один из заранее заданных маршрутов, каждый со своим промптом или моделью; применять, когда входы разнородны, но классы известны. Parallelization — независимые подзадачи выполняются параллельно, а результаты агрегируются детерминированно, голосованием или объединением; применять, когда подзадачи независимы и известны заранее. Orchestrator-workers — центральный вызов делит задачу на подзадачи динамически, но в заданных рамках, и раздаёт их воркерам; это уже граница между workflow и агентом: декомпозиция гибкая, но контур фиксирован. Evaluator-optimizer — один вызов генерирует, другой оценивает по критериям, цикл повторяется до прохождения порога; это встроенная проверка между шагами, прямой инструмент против накопления ошибок.</a:t>
            </a:r>
          </a:p>
          <a:p/>
          <a:p>
            <a:r>
              <a:t>Итог: все пять — предопределённые в коде структуры[1]. Динамический агент отличается тем, что сам решает, какую структуру построить под конкретный вход, и потому теряет предсказуемость, которую эти паттерны сохраняют. Большинство запросов «нам нужен агент» на практике закрываются одним из этих пяти паттернов — это и есть смысл правила «найди простейшее»: workflow строит структуру вокруг предсказуемого, а агента берут, только чтобы исследовать непредсказуемое. Сам выбор агент против workflow разберём на следующем слайде.</a:t>
            </a:r>
          </a:p>
          <a:p/>
          <a:p>
            <a:r>
              <a:t>Источники:</a:t>
            </a:r>
          </a:p>
          <a:p>
            <a:r>
              <a:t>[1] Anthropic — Building Effective Agents (пять паттернов workflow) — prompt chaining / routing / parallelization / orchestrator-workers / evaluator-optimizer — структуры вокруг предсказуемого.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решил, что агент оправдан, — встаёт вопрос, на чём его строить. Рамочный тезис держит весь слайд: Anthropic в «Building Effective Agents» пишет, что многие паттерны реализуются в несколько строк прямых вызовов API[1], а фреймворки добавляют слои абстракции, которые скрывают исходные промпты и ответы и усложняют отладку. Фреймворк — это абстракционный налог; берут его, только когда он доказанно улучшает исход, а не по умолчанию. Поэтому сначала — пять минусов, общих для всех фреймворков, потому что маркетинг про них молчит, и это и есть judgment-содержание слайда.</a:t>
            </a:r>
          </a:p>
          <a:p/>
          <a:p>
            <a:r>
              <a:t>Первый — ограничение кастомизации поведения. Высокоабстрактный фреймворк копит технический долг ровно в тот момент, когда вам надо выйти за пределы «счастливого пути»: переопределить встроенный промпт, изменить поток управления. Второй — прозрачность и отлаживаемость: фреймворк прячет реальные промпты и поток управления, и отладка застрявшего агента в пятиагентном пайплайне становится болезненной. Третий — lock-in: SDK провайдеров привязывают к одной модельной экосистеме, переносимость стоит переписывания. Четвёртый — version churn: у экосистемы LangChain было слишком много ломающих API-изменений за её историю, апгрейд ломает работающий код. Пятый — overhead: замер показал, что трёхагентный «экипаж» на CrewAI потратил примерно на 18% больше токенов, чем эквивалентная сборка на LangGraph, — абстракция не бесплатна и в рантайме.</a:t>
            </a:r>
          </a:p>
          <a:p/>
          <a:p>
            <a:r>
              <a:t>Теперь по устойчивой схеме «ядро-абстракция, под что лучше, один честный минус». LangGraph — это stateful-граф[2], под продакшн с контролем потока и состоянием; минус — крутая кривая, для одного цикла переинжиниринг. CrewAI — ролевые экипажи, под быстрый прототип; минус — роль маскирует, что реально происходит. AutoGen превратился в AG2 и Microsoft Agent Framework — здесь как раз version churn и rename-churn, риск при внедрении. OpenAI Agents SDK — handoffs, но OpenAI-центричность. Claude Agent SDK — тот же loop, что в Claude Code, под coding и computer-use; минус — тяжёлый harness против голого API. smolagents — code-агенты, минус — исполнение кода как поверхность атаки. LlamaIndex — агент поверх RAG-стека. Pydantic AI — type-safe loop. И нижняя строка не для полноты: детерминированный путь плюс известные шаги плюс чувствительность к стоимости — это обычный код, без агента и без фреймворка. Пять минусов выше применимы к каждой строке: сложность оснастки оплачивается требованием задачи, а не берётся авансом.</a:t>
            </a:r>
          </a:p>
          <a:p/>
          <a:p>
            <a:r>
              <a:t>Источники:</a:t>
            </a:r>
          </a:p>
          <a:p>
            <a:r>
              <a:t>[1] Anthropic — Building Effective Agents (фреймворк = абстракционный налог) — многие паттерны — несколько строк прямых вызовов API; фреймворки скрывают промпты и усложняют отладку. https://www.anthropic.com/research/building-effective-agents</a:t>
            </a:r>
          </a:p>
          <a:p>
            <a:r>
              <a:t>[2] LangGraph (LangChain) — stateful-граф, продакшн-оркестрация — версии фреймворков волатильны 2026 (rename-churn) — verify day-of. https://github.com/langchain-ai/langgraph [VFY-day-of]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слайд-судейство: когда агент, когда workflow, когда несколько агентов. Логика сверху вниз. Если задача предсказуемая — шаги известны заранее, — берите workflow: предопределённые в коде пути, аудируемость. Если непредсказуемая и ценность оправдывает кратную цену — один агент: шаги зависят от промежуточных результатов, тут нужна гибкость цикла. И только под конкретный триггер — несколько агентов: когда задача распадается на широко параллельные независимые подзадачи высокой ценности. Не «на всякий случай».</a:t>
            </a:r>
          </a:p>
          <a:p/>
          <a:p>
            <a:r>
              <a:t>Почему такая осторожность с числом шагов — потому что надёжность падает как p в степени n, а не усредняется. В цепочке из n шагов, где сбой любого портит результат, надёжности перемножаются. 0,95 в десятой степени — это уже около 60%, в двадцатой — около 36%. И это не теория: на бенчмарке τ-bench у GPT-4o 61% pass@1 падает до 25% pass@8 — то есть агент, справляющийся чаще, чем в половине случаев с одной попытки, справляется стабильно на всех восьми прогонах[1] лишь в четверти случаев. Каждый лишний агент добавляет шаги и связи, а значит роняет общую надёжность.</a:t>
            </a:r>
          </a:p>
          <a:p/>
          <a:p>
            <a:r>
              <a:t>Топология тут — не деталь, а решающий фактор. По измерению Kim и соавторов, препринт 2512.08296, децентрализованный «рой» равноправных агентов амплифицирует ошибки в 17,2 раза, тогда как один координатор — только в 4,4 раза. Больше связей между агентами — быстрее коллапс. И отдельно надо примирить два тезиса, которые студенты часто слышат как противоречие. Anthropic говорит, что мульти-агент выигрывает research-задачи; Cognition пишет «не стройте мульти-агентов». Противоречия нет: параллелить надо независимые чтения — поиск вширь, где подзадачи не зависят друг от друга, — но не решения с зависимостями, где параллельные субагенты принимают конфликтующие неявные выборы и портят результат. Anthropic формулирует выигрыш дословно: мульти-агент работает главным образом потому, что помогает потратить достаточно токенов на задачу, а не из-за магии координации[2].</a:t>
            </a:r>
          </a:p>
          <a:p/>
          <a:p>
            <a:r>
              <a:t>Практический вывод: начинайте с одного сильного агента. Мульти-агент покупает качество, сжигая токены — одиночный агент примерно вчетверо дороже чата, мульти-агент примерно в пятнадцать раз, — а не координационной магией. Если задача не распадается на широко-параллельные независимые чтения и ценность не оправдывает кратную цену, это неверный инструмент.</a:t>
            </a:r>
          </a:p>
          <a:p/>
          <a:p>
            <a:r>
              <a:t>Источники:</a:t>
            </a:r>
          </a:p>
          <a:p>
            <a:r>
              <a:t>[1] Sierra — τ-bench (pass^k: 61% pass@1 → 25% pass@8) — надёжность на всех k прогонах, не удача; коллапс pⁿ измерен на живом tool-agent-бенчмарке. https://arxiv.org/abs/2406.12045 [VFY-day-of]</a:t>
            </a:r>
          </a:p>
          <a:p>
            <a:r>
              <a:t>[2] Anthropic — Multi-Agent Research System («spend enough tokens») — мульти-агент ≈ 15× токенов; выигрыш от объёма токенов, не от магии координации. https://www.anthropic.com/engineering/multi-agent-research-system [VFY-day-of]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Дальше — вопрос топологии, то есть того, как именно организованы несколько агентов между собой. При одном и том же числе агентов независимые «рои» равноправных агентов, работающих без единого центра, усиливали ошибки почти в семнадцать раз, тогда как централизованная оркестрация с одним координатором сдерживала усиление ошибок до менее чем пяти раз.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выигрышем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шесть типовых агентных задач по одной схеме: задача, форма петли, где ломается, был бы лучше workflow. Это перевод общего принципа лестницы в конкретные рабочие сценарии, с реальными привязками. Отдельные суммы иллюстративны, но классы и привязки реальны.</a:t>
            </a:r>
          </a:p>
          <a:p/>
          <a:p>
            <a:r>
              <a:t>Первый — coding-агент, Claude Code или Cursor. Задача — реализовать или починить код по всему репозиторию из формулировки на естественном языке. Петля: прочитать репо, спланировать, отредактировать файлы, прогнать тесты, увидеть ошибки, итерировать, открыть PR. Ломается на больших неоднозначных рефакторингах и уходе в петлю на мигающих тестах. Был бы лучше workflow? Нет — открытый поиск по коду действительно требует агентности, это канонический случай, где агент оправдан.</a:t>
            </a:r>
          </a:p>
          <a:p/>
          <a:p>
            <a:r>
              <a:t>Второй — клиентская поддержка, и тут два поучительных кейса. Air Canada[1]: бот-поддержка выдумал 90-дневное окно возврата, и трибунал признал авиакомпанию обязанной выплатить — галлюцинация политики стала юридически обязывающей. Klarna публично отпраздновала ИИ, заменивший 700 агентов, а затем восстанавливала человеческие мощности, потому что краевые случаи и суждение об эскалации вернули людей в петлю. Был бы лучше workflow? Часто да для рискованной части: возвраты и ответы по политике хотят детерминированной маршрутизации с guardrails, а не свободной генерации.</a:t>
            </a:r>
          </a:p>
          <a:p/>
          <a:p>
            <a:r>
              <a:t>Третий — ETL-агент, самозаживающий пайплайн. Петля: заметить дрейф схемы, проанализировать влияние, сгенерировать преобразование, провалидировать, под guardrail применить. Ломается тем, что тихие плохие преобразования портят данные на масштабе, а недетерминизм опасен в пайплайне, который надо аудировать. В основном да — ствол детерминирован, агент уместен только на узком шаге починки дрейфа. Четвёртый — research-агент, Deep Research. Ломается взрывом стоимости примерно в пятнадцать раз по токенам и галлюцинированными цитатами. Нет для действительно открытого исследования вширь, да — если это на деле фиксированный lookup.</a:t>
            </a:r>
          </a:p>
          <a:p/>
          <a:p>
            <a:r>
              <a:t>Пятый — браузерный агент, Operator. Петля: скриншот и DOM, спланировать UI-действие, клик, наблюдать. На бенчмарке OSWorld первое поколение давало около тридцать восемь процентов[2] успешных задач, и сам продукт Operator был закрыт — живой урок «хайп — уход с рынка». Для любого значимого действия, платежей и форм — да, используйте реальный API, если он есть. Шестой — SRE-агент. На бенчмарке ITBench передовые модели автономно решают лишь около 14% сценариев, поэтому реальная ценность — сузить пространство поиска и оставить суждение людям. Сквозной принцип: агент — на адаптивный край, workflow с воротами — на ствол и на значимое действие; числа Operator и ITBench означают «сузить поиск», а не «заменить человека».</a:t>
            </a:r>
          </a:p>
          <a:p/>
          <a:p>
            <a:r>
              <a:t>Источники:</a:t>
            </a:r>
          </a:p>
          <a:p>
            <a:r>
              <a:t>[1] McCarthy Tétrault — Air Canada (бот выдумал политику) — галлюцинация политики стала юридически обязывающей; свободному агенту не давать говорить за политику. https://www.mccarthy.ca/en/insights/blogs/techlex/moffatt-v-air-canada-misrepresentation-ai-chatbot</a:t>
            </a:r>
          </a:p>
          <a:p>
            <a:r>
              <a:t>[2] OSWorld / WebArena / ITBench — бенчмарки агентных задач — Operator ~38% OSWorld; SRE ~14% ITBench — сузить пространство поиска, не заменить человека.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каждый с конкретной базой сравнения. Первый — деструкция при избыточных правах. Coding-агент в тестовом окружении нашёл токен с неограниченными правами и удалил продакшн-том со всеми резервными копиями за девять секунд; ближайший бэкап — три месяца. Урок: системный промпт — не средство безопасности; только архитектурная граница и least-privilege надёжно останавливают агента.</a:t>
            </a:r>
          </a:p>
          <a:p/>
          <a:p>
            <a:r>
              <a:t>Второй — неконтролируемая стоимость. Research-агент без критерия успеха потратил $48k за 14 часов, 100 инстансов сожгли $1,3M за месяц. База: обычная сессия стоит центы-доллары, это на 3–5 порядков выше. Урок: критерий завершения, жёсткий бюджетный потолок, аварийный стоп.</a:t>
            </a:r>
          </a:p>
          <a:p/>
          <a:p>
            <a:r>
              <a:t>Третий — slopsquatting: агенты выдумывают имена пакетов, атакующие регистрируют их с вредом. Почти каждый пятый сгенерированный импорт указывал на несуществующий пакет. Урок: имена зависимостей без проверки против реестра не устанавливать.</a:t>
            </a:r>
          </a:p>
          <a:p/>
          <a:p>
            <a:r>
              <a:t>Четвёртый — мульти-агентный каскад: ошибка одного агента проходит цепочкой как факт, следующие на неё опираются. В реальных инцидентах корень часто не там, где сбой заметен, а на апстримном шаге — в поиске или планировании. Общий вывод: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нижней достаточной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Этой лестницей раздел и вся лекция замыкаются: промпт, RAG, дообучение и агенты — не конкурирующие моды, а ступени одной шкалы мощности, и дисциплина выбора из §5.0 сводится к одному правилу движения по ним. Стартовый комплект агента на следующем слайде — та же лестница на уровень ниже, применённая к оснастке одного агента. Практический критерий, который стоит унести с лекции: прежде чем поднять архитектуру на ступень, назовите требование, которого ступень ниже не закрывает, и цену подъёма — если назвать не удаётся, подниматься рано.</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7.png"/><Relationship Id="rId4" Type="http://schemas.openxmlformats.org/officeDocument/2006/relationships/image" Target="../media/image39.png"/><Relationship Id="rId5" Type="http://schemas.openxmlformats.org/officeDocument/2006/relationships/notesSlide" Target="../notesSlides/notesSlide21.xml"/><Relationship Id="rId6" Type="http://schemas.openxmlformats.org/officeDocument/2006/relationships/hyperlink" Target="https://arxiv.org/abs/2005.1140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22.xml"/><Relationship Id="rId5" Type="http://schemas.openxmlformats.org/officeDocument/2006/relationships/hyperlink" Target="https://denser.ai/blog/hybrid-search-for-rag/" TargetMode="External"/><Relationship Id="rId6" Type="http://schemas.openxmlformats.org/officeDocument/2006/relationships/hyperlink" Target="https://www.anthropic.com/engineering/contextual-retrieva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notesSlide" Target="../notesSlides/notesSlide23.xml"/><Relationship Id="rId9" Type="http://schemas.openxmlformats.org/officeDocument/2006/relationships/hyperlink" Target="https://www.firecrawl.dev/blog/best-vector-databases" TargetMode="External"/><Relationship Id="rId10" Type="http://schemas.openxmlformats.org/officeDocument/2006/relationships/hyperlink" Target="https://www.tigerdata.com/blog/pgvector-vs-qdran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24.xml"/><Relationship Id="rId4" Type="http://schemas.openxmlformats.org/officeDocument/2006/relationships/hyperlink" Target="https://pureinsights.com/blog/2026/from-vector-hype-to-hybrid-reality-is-elasticsearch-still-the-right-bet/" TargetMode="External"/><Relationship Id="rId5" Type="http://schemas.openxmlformats.org/officeDocument/2006/relationships/hyperlink" Target="https://bigdataboutique.com/blog/opensearch-and-elasticsearch-vector-search-an-introduction-6af584"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3.png"/><Relationship Id="rId4" Type="http://schemas.openxmlformats.org/officeDocument/2006/relationships/image" Target="../media/image49.png"/><Relationship Id="rId5" Type="http://schemas.openxmlformats.org/officeDocument/2006/relationships/image" Target="../media/image40.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notesSlide" Target="../notesSlides/notesSlide25.xml"/><Relationship Id="rId10" Type="http://schemas.openxmlformats.org/officeDocument/2006/relationships/hyperlink" Target="https://www.firecrawl.dev/blog/best-chunking-strategies-rag" TargetMode="External"/><Relationship Id="rId11" Type="http://schemas.openxmlformats.org/officeDocument/2006/relationships/hyperlink" Target="https://www.anthropic.com/engineering/contextual-retrieva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6.xml"/><Relationship Id="rId4" Type="http://schemas.openxmlformats.org/officeDocument/2006/relationships/hyperlink" Target="https://www.firecrawl.dev/blog/best-chunking-strategies-ra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notesSlide" Target="../notesSlides/notesSlide27.xml"/><Relationship Id="rId6" Type="http://schemas.openxmlformats.org/officeDocument/2006/relationships/hyperlink" Target="https://www.anthropic.com/engineering/contextual-retrieval" TargetMode="External"/><Relationship Id="rId7" Type="http://schemas.openxmlformats.org/officeDocument/2006/relationships/hyperlink" Target="https://www.firecrawl.dev/blog/best-chunking-strategies-rag"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8.png"/><Relationship Id="rId6" Type="http://schemas.openxmlformats.org/officeDocument/2006/relationships/notesSlide" Target="../notesSlides/notesSlide28.xml"/><Relationship Id="rId7" Type="http://schemas.openxmlformats.org/officeDocument/2006/relationships/hyperlink" Target="https://redis.io/blog/rag-at-scale/" TargetMode="External"/><Relationship Id="rId8" Type="http://schemas.openxmlformats.org/officeDocument/2006/relationships/hyperlink" Target="https://futureagi.com/blog/rag-evaluation-metrics-202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22.png"/><Relationship Id="rId5" Type="http://schemas.openxmlformats.org/officeDocument/2006/relationships/image" Target="../media/image61.png"/><Relationship Id="rId6" Type="http://schemas.openxmlformats.org/officeDocument/2006/relationships/image" Target="../media/image43.png"/><Relationship Id="rId7" Type="http://schemas.openxmlformats.org/officeDocument/2006/relationships/notesSlide" Target="../notesSlides/notesSlide29.xml"/><Relationship Id="rId8" Type="http://schemas.openxmlformats.org/officeDocument/2006/relationships/hyperlink" Target="https://arxiv.org/abs/2401.05856" TargetMode="External"/><Relationship Id="rId9" Type="http://schemas.openxmlformats.org/officeDocument/2006/relationships/hyperlink" Target="https://hai.stanford.edu/news/ai-trial-legal-models-hallucinate-1-out-6-or-more-benchmarking-queries" TargetMode="External"/><Relationship Id="rId10" Type="http://schemas.openxmlformats.org/officeDocument/2006/relationships/hyperlink" Target="https://sourcegraph.com/docs/cody/core-concepts/contex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32.png"/><Relationship Id="rId4" Type="http://schemas.openxmlformats.org/officeDocument/2006/relationships/notesSlide" Target="../notesSlides/notesSlide30.xml"/><Relationship Id="rId5" Type="http://schemas.openxmlformats.org/officeDocument/2006/relationships/hyperlink" Target="https://www.anthropic.com/engineering/multi-agent-research-system" TargetMode="External"/><Relationship Id="rId6" Type="http://schemas.openxmlformats.org/officeDocument/2006/relationships/hyperlink" Target="https://arxiv.org/abs/2604.03173"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1.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notesSlide" Target="../notesSlides/notesSlide32.xml"/><Relationship Id="rId7" Type="http://schemas.openxmlformats.org/officeDocument/2006/relationships/hyperlink" Target="https://www.redhat.com/en/topics/ai/rag-vs-fine-tuning" TargetMode="External"/><Relationship Id="rId8" Type="http://schemas.openxmlformats.org/officeDocument/2006/relationships/hyperlink" Target="https://www.mccarthy.ca/en/insights/blogs/techlex/moffatt-v-air-canada-misrepresentation-ai-chatbot"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33.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48.png"/><Relationship Id="rId4" Type="http://schemas.openxmlformats.org/officeDocument/2006/relationships/image" Target="../media/image5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9.png"/><Relationship Id="rId4" Type="http://schemas.openxmlformats.org/officeDocument/2006/relationships/image" Target="../media/image67.png"/><Relationship Id="rId5" Type="http://schemas.openxmlformats.org/officeDocument/2006/relationships/notesSlide" Target="../notesSlides/notesSlide36.xml"/><Relationship Id="rId6" Type="http://schemas.openxmlformats.org/officeDocument/2006/relationships/hyperlink" Target="https://www.ibm.com/think/topics/rag-vs-fine-tunin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thinkingmachines.ai/blog/lora/" TargetMode="External"/><Relationship Id="rId4" Type="http://schemas.openxmlformats.org/officeDocument/2006/relationships/hyperlink" Target="https://arxiv.org/abs/2305.1431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38.xml"/><Relationship Id="rId4" Type="http://schemas.openxmlformats.org/officeDocument/2006/relationships/hyperlink" Target="https://arxiv.org/abs/2106.09685" TargetMode="External"/><Relationship Id="rId5" Type="http://schemas.openxmlformats.org/officeDocument/2006/relationships/hyperlink" Target="https://arxiv.org/abs/2305.14314" TargetMode="External"/><Relationship Id="rId6" Type="http://schemas.openxmlformats.org/officeDocument/2006/relationships/hyperlink" Target="https://huggingface.co/blog/peft-beyond-lora"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bigdataboutique.com/blog/fine-tuning-llms-when-rag-isnt-enough"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40.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41.xml"/><Relationship Id="rId4" Type="http://schemas.openxmlformats.org/officeDocument/2006/relationships/hyperlink" Target="https://arxiv.org/abs/2308.08747"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blog.pebblous.ai/blog/llm-benchmark-contamination/en/" TargetMode="External"/><Relationship Id="rId4" Type="http://schemas.openxmlformats.org/officeDocument/2006/relationships/hyperlink" Target="https://arxiv.org/abs/2405.0033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57.png"/><Relationship Id="rId4" Type="http://schemas.openxmlformats.org/officeDocument/2006/relationships/image" Target="../media/image37.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17.png"/><Relationship Id="rId8" Type="http://schemas.openxmlformats.org/officeDocument/2006/relationships/notesSlide" Target="../notesSlides/notesSlide46.xml"/><Relationship Id="rId9" Type="http://schemas.openxmlformats.org/officeDocument/2006/relationships/hyperlink" Target="https://www.anthropic.com/news/donating-the-model-context-protocol-and-establishing-of-the-agentic-ai-foundati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17.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58.png"/><Relationship Id="rId4" Type="http://schemas.openxmlformats.org/officeDocument/2006/relationships/notesSlide" Target="../notesSlides/notesSlide49.xml"/><Relationship Id="rId5" Type="http://schemas.openxmlformats.org/officeDocument/2006/relationships/hyperlink" Target="https://arxiv.org/abs/2508.14704"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notesSlide" Target="../notesSlides/notesSlide50.xml"/><Relationship Id="rId8" Type="http://schemas.openxmlformats.org/officeDocument/2006/relationships/hyperlink" Target="https://www.anthropic.com/research/building-effective-agents"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png"/><Relationship Id="rId6" Type="http://schemas.openxmlformats.org/officeDocument/2006/relationships/image" Target="../media/image67.png"/><Relationship Id="rId7" Type="http://schemas.openxmlformats.org/officeDocument/2006/relationships/notesSlide" Target="../notesSlides/notesSlide51.xml"/><Relationship Id="rId8" Type="http://schemas.openxmlformats.org/officeDocument/2006/relationships/hyperlink" Target="https://www.anthropic.com/research/building-effective-agents" TargetMode="External"/><Relationship Id="rId9" Type="http://schemas.openxmlformats.org/officeDocument/2006/relationships/hyperlink" Target="https://github.com/langchain-ai/langgraph"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notesSlide" Target="../notesSlides/notesSlide52.xml"/><Relationship Id="rId6" Type="http://schemas.openxmlformats.org/officeDocument/2006/relationships/hyperlink" Target="https://arxiv.org/abs/2406.12045" TargetMode="External"/><Relationship Id="rId7" Type="http://schemas.openxmlformats.org/officeDocument/2006/relationships/hyperlink" Target="https://www.anthropic.com/engineering/multi-agent-research-syste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60.png"/><Relationship Id="rId4" Type="http://schemas.openxmlformats.org/officeDocument/2006/relationships/image" Target="../media/image93.png"/><Relationship Id="rId5" Type="http://schemas.openxmlformats.org/officeDocument/2006/relationships/image" Target="../media/image91.png"/><Relationship Id="rId6" Type="http://schemas.openxmlformats.org/officeDocument/2006/relationships/image" Target="../media/image94.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 Id="rId3" Type="http://schemas.openxmlformats.org/officeDocument/2006/relationships/image" Target="../media/image96.png"/><Relationship Id="rId4" Type="http://schemas.openxmlformats.org/officeDocument/2006/relationships/image" Target="../media/image76.png"/><Relationship Id="rId5" Type="http://schemas.openxmlformats.org/officeDocument/2006/relationships/image" Target="../media/image97.png"/><Relationship Id="rId6" Type="http://schemas.openxmlformats.org/officeDocument/2006/relationships/notesSlide" Target="../notesSlides/notesSlide56.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www.mccarthy.ca/en/insights/blogs/techlex/moffatt-v-air-canada-misrepresentation-ai-chatbot"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45.png"/><Relationship Id="rId5" Type="http://schemas.openxmlformats.org/officeDocument/2006/relationships/image" Target="../media/image104.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48.png"/><Relationship Id="rId4" Type="http://schemas.openxmlformats.org/officeDocument/2006/relationships/image" Target="../media/image107.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4.xml"/><Relationship Id="rId4" Type="http://schemas.openxmlformats.org/officeDocument/2006/relationships/hyperlink" Target="https://www.anthropic.com/research/building-effective-agent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image" Target="../media/image51.png"/><Relationship Id="rId4" Type="http://schemas.openxmlformats.org/officeDocument/2006/relationships/image" Target="../media/image96.png"/><Relationship Id="rId5" Type="http://schemas.openxmlformats.org/officeDocument/2006/relationships/image" Target="../media/image76.png"/><Relationship Id="rId6" Type="http://schemas.openxmlformats.org/officeDocument/2006/relationships/image" Target="../media/image109.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notesSlide" Target="../notesSlides/notesSlide6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ru.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67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«магической пилюли» не существует</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точная постановка задачи: спецификация и контракт.</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Точная постановка — это описание нужного результата так, чтобы его можно было проверить: спецификация, детерминированная программа, контракт интерфейса. Отсюда стартует раздел.</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67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низкая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высокая предсказуемость (нет петель, нет поиска, который тихо деградирует)</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«НА ВСЯКИЙ СЛУЧАЙ» — ЭСКАЛАЦИЯ</a:t>
            </a:r>
          </a:p>
        </p:txBody>
      </p:sp>
      <p:pic>
        <p:nvPicPr>
          <p:cNvPr id="16" name="Picture 15" descr="s05-gru-ru.png"/>
          <p:cNvPicPr>
            <a:picLocks noChangeAspect="1"/>
          </p:cNvPicPr>
          <p:nvPr/>
        </p:nvPicPr>
        <p:blipFill>
          <a:blip r:embed="rId3"/>
          <a:stretch>
            <a:fillRect/>
          </a:stretch>
        </p:blipFill>
        <p:spPr>
          <a:xfrm>
            <a:off x="7062416" y="2596896"/>
            <a:ext cx="3934567"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(«найди простейшее»)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подделка роли (role spoofing)</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8549640" cy="14447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8147304" cy="13350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Rounded Rectangle 18"/>
          <p:cNvSpPr/>
          <p:nvPr/>
        </p:nvSpPr>
        <p:spPr>
          <a:xfrm>
            <a:off x="9144000" y="4453128"/>
            <a:ext cx="2523744" cy="1719072"/>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05c-pigeon-ru.png"/>
          <p:cNvPicPr>
            <a:picLocks noChangeAspect="1"/>
          </p:cNvPicPr>
          <p:nvPr/>
        </p:nvPicPr>
        <p:blipFill>
          <a:blip r:embed="rId4"/>
          <a:stretch>
            <a:fillRect/>
          </a:stretch>
        </p:blipFill>
        <p:spPr>
          <a:xfrm>
            <a:off x="9499537" y="4498848"/>
            <a:ext cx="1812668" cy="1627632"/>
          </a:xfrm>
          <a:prstGeom prst="rect">
            <a:avLst/>
          </a:prstGeom>
        </p:spPr>
      </p:pic>
      <p:sp>
        <p:nvSpPr>
          <p:cNvPr id="21" name="TextBox 2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67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Формат промпта: вход терпим, выход — с ценой.</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Терпимость к формату ВХОДА и цена принуждения формата ВЫХОДА — две разные проблемы. Их постоянно смешивают.</a:t>
            </a:r>
          </a:p>
        </p:txBody>
      </p:sp>
      <p:sp>
        <p:nvSpPr>
          <p:cNvPr id="4" name="Rounded Rectangle 3"/>
          <p:cNvSpPr/>
          <p:nvPr/>
        </p:nvSpPr>
        <p:spPr>
          <a:xfrm>
            <a:off x="502920" y="16642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37944"/>
            <a:ext cx="457200" cy="438912"/>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de-white.png"/>
          <p:cNvPicPr>
            <a:picLocks noChangeAspect="1"/>
          </p:cNvPicPr>
          <p:nvPr/>
        </p:nvPicPr>
        <p:blipFill>
          <a:blip r:embed="rId2"/>
          <a:stretch>
            <a:fillRect/>
          </a:stretch>
        </p:blipFill>
        <p:spPr>
          <a:xfrm>
            <a:off x="758952" y="1901952"/>
            <a:ext cx="310896" cy="310896"/>
          </a:xfrm>
          <a:prstGeom prst="rect">
            <a:avLst/>
          </a:prstGeom>
        </p:spPr>
      </p:pic>
      <p:sp>
        <p:nvSpPr>
          <p:cNvPr id="7" name="TextBox 6"/>
          <p:cNvSpPr txBox="1"/>
          <p:nvPr/>
        </p:nvSpPr>
        <p:spPr>
          <a:xfrm>
            <a:off x="1289304" y="17556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Markdown</a:t>
            </a:r>
          </a:p>
        </p:txBody>
      </p:sp>
      <p:sp>
        <p:nvSpPr>
          <p:cNvPr id="8" name="TextBox 7"/>
          <p:cNvSpPr txBox="1"/>
          <p:nvPr/>
        </p:nvSpPr>
        <p:spPr>
          <a:xfrm>
            <a:off x="3291839" y="17465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простой запрос, инструкции</a:t>
            </a:r>
          </a:p>
        </p:txBody>
      </p:sp>
      <p:sp>
        <p:nvSpPr>
          <p:cNvPr id="9" name="TextBox 8"/>
          <p:cNvSpPr txBox="1"/>
          <p:nvPr/>
        </p:nvSpPr>
        <p:spPr>
          <a:xfrm>
            <a:off x="3291839" y="20939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GPT/Gemini · вход терпим</a:t>
            </a:r>
          </a:p>
        </p:txBody>
      </p:sp>
      <p:sp>
        <p:nvSpPr>
          <p:cNvPr id="10" name="Rounded Rectangle 9"/>
          <p:cNvSpPr/>
          <p:nvPr/>
        </p:nvSpPr>
        <p:spPr>
          <a:xfrm>
            <a:off x="502920" y="25786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752344"/>
            <a:ext cx="457200" cy="438912"/>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races-white.png"/>
          <p:cNvPicPr>
            <a:picLocks noChangeAspect="1"/>
          </p:cNvPicPr>
          <p:nvPr/>
        </p:nvPicPr>
        <p:blipFill>
          <a:blip r:embed="rId3"/>
          <a:stretch>
            <a:fillRect/>
          </a:stretch>
        </p:blipFill>
        <p:spPr>
          <a:xfrm>
            <a:off x="758952" y="2816352"/>
            <a:ext cx="310896" cy="310896"/>
          </a:xfrm>
          <a:prstGeom prst="rect">
            <a:avLst/>
          </a:prstGeom>
        </p:spPr>
      </p:pic>
      <p:sp>
        <p:nvSpPr>
          <p:cNvPr id="13" name="TextBox 12"/>
          <p:cNvSpPr txBox="1"/>
          <p:nvPr/>
        </p:nvSpPr>
        <p:spPr>
          <a:xfrm>
            <a:off x="1289304" y="26700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XML-теги</a:t>
            </a:r>
          </a:p>
        </p:txBody>
      </p:sp>
      <p:sp>
        <p:nvSpPr>
          <p:cNvPr id="14" name="TextBox 13"/>
          <p:cNvSpPr txBox="1"/>
          <p:nvPr/>
        </p:nvSpPr>
        <p:spPr>
          <a:xfrm>
            <a:off x="3291839" y="26609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длинный контекст, много блоков</a:t>
            </a:r>
          </a:p>
        </p:txBody>
      </p:sp>
      <p:sp>
        <p:nvSpPr>
          <p:cNvPr id="15" name="TextBox 14"/>
          <p:cNvSpPr txBox="1"/>
          <p:nvPr/>
        </p:nvSpPr>
        <p:spPr>
          <a:xfrm>
            <a:off x="3291839" y="30083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Claude · разграничить блоки</a:t>
            </a:r>
          </a:p>
        </p:txBody>
      </p:sp>
      <p:sp>
        <p:nvSpPr>
          <p:cNvPr id="16" name="Rounded Rectangle 15"/>
          <p:cNvSpPr/>
          <p:nvPr/>
        </p:nvSpPr>
        <p:spPr>
          <a:xfrm>
            <a:off x="502920" y="3493008"/>
            <a:ext cx="644652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666744"/>
            <a:ext cx="457200" cy="438912"/>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database-white.png"/>
          <p:cNvPicPr>
            <a:picLocks noChangeAspect="1"/>
          </p:cNvPicPr>
          <p:nvPr/>
        </p:nvPicPr>
        <p:blipFill>
          <a:blip r:embed="rId4"/>
          <a:stretch>
            <a:fillRect/>
          </a:stretch>
        </p:blipFill>
        <p:spPr>
          <a:xfrm>
            <a:off x="758952" y="3730752"/>
            <a:ext cx="310896" cy="310896"/>
          </a:xfrm>
          <a:prstGeom prst="rect">
            <a:avLst/>
          </a:prstGeom>
        </p:spPr>
      </p:pic>
      <p:sp>
        <p:nvSpPr>
          <p:cNvPr id="19" name="TextBox 18"/>
          <p:cNvSpPr txBox="1"/>
          <p:nvPr/>
        </p:nvSpPr>
        <p:spPr>
          <a:xfrm>
            <a:off x="1289304" y="35844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 схема</a:t>
            </a:r>
          </a:p>
        </p:txBody>
      </p:sp>
      <p:sp>
        <p:nvSpPr>
          <p:cNvPr id="20" name="TextBox 19"/>
          <p:cNvSpPr txBox="1"/>
          <p:nvPr/>
        </p:nvSpPr>
        <p:spPr>
          <a:xfrm>
            <a:off x="3291839" y="35753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извлечение, классификация, код</a:t>
            </a:r>
          </a:p>
        </p:txBody>
      </p:sp>
      <p:sp>
        <p:nvSpPr>
          <p:cNvPr id="21" name="TextBox 20"/>
          <p:cNvSpPr txBox="1"/>
          <p:nvPr/>
        </p:nvSpPr>
        <p:spPr>
          <a:xfrm>
            <a:off x="3291839" y="3922776"/>
            <a:ext cx="3474720" cy="310896"/>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строгое декодирование → ~100%</a:t>
            </a:r>
          </a:p>
        </p:txBody>
      </p:sp>
      <p:sp>
        <p:nvSpPr>
          <p:cNvPr id="22" name="Rounded Rectangle 21"/>
          <p:cNvSpPr/>
          <p:nvPr/>
        </p:nvSpPr>
        <p:spPr>
          <a:xfrm>
            <a:off x="502920" y="4407408"/>
            <a:ext cx="6446520" cy="7863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581144"/>
            <a:ext cx="457200" cy="438912"/>
          </a:xfrm>
          <a:prstGeom prst="roundRect">
            <a:avLst>
              <a:gd name="adj" fmla="val 22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riangle-alert-white.png"/>
          <p:cNvPicPr>
            <a:picLocks noChangeAspect="1"/>
          </p:cNvPicPr>
          <p:nvPr/>
        </p:nvPicPr>
        <p:blipFill>
          <a:blip r:embed="rId5"/>
          <a:stretch>
            <a:fillRect/>
          </a:stretch>
        </p:blipFill>
        <p:spPr>
          <a:xfrm>
            <a:off x="758952" y="4645152"/>
            <a:ext cx="310896" cy="310896"/>
          </a:xfrm>
          <a:prstGeom prst="rect">
            <a:avLst/>
          </a:prstGeom>
        </p:spPr>
      </p:pic>
      <p:sp>
        <p:nvSpPr>
          <p:cNvPr id="25" name="TextBox 24"/>
          <p:cNvSpPr txBox="1"/>
          <p:nvPr/>
        </p:nvSpPr>
        <p:spPr>
          <a:xfrm>
            <a:off x="1289304" y="4498848"/>
            <a:ext cx="2148840" cy="603504"/>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JSON на рассуждении</a:t>
            </a:r>
          </a:p>
        </p:txBody>
      </p:sp>
      <p:sp>
        <p:nvSpPr>
          <p:cNvPr id="26" name="TextBox 25"/>
          <p:cNvSpPr txBox="1"/>
          <p:nvPr/>
        </p:nvSpPr>
        <p:spPr>
          <a:xfrm>
            <a:off x="3291839" y="4489704"/>
            <a:ext cx="3474720" cy="329184"/>
          </a:xfrm>
          <a:prstGeom prst="rect">
            <a:avLst/>
          </a:prstGeom>
          <a:noFill/>
        </p:spPr>
        <p:txBody>
          <a:bodyPr wrap="square" lIns="0" rIns="0" tIns="0" bIns="0" anchor="t">
            <a:spAutoFit/>
          </a:bodyPr>
          <a:lstStyle/>
          <a:p>
            <a:pPr algn="l">
              <a:lnSpc>
                <a:spcPct val="102000"/>
              </a:lnSpc>
            </a:pPr>
            <a:r>
              <a:rPr sz="1200" b="0" i="0">
                <a:solidFill>
                  <a:srgbClr val="21295C"/>
                </a:solidFill>
                <a:latin typeface="Arial"/>
              </a:rPr>
              <a:t>не применять к «подумай и реши»</a:t>
            </a:r>
          </a:p>
        </p:txBody>
      </p:sp>
      <p:sp>
        <p:nvSpPr>
          <p:cNvPr id="27" name="TextBox 26"/>
          <p:cNvSpPr txBox="1"/>
          <p:nvPr/>
        </p:nvSpPr>
        <p:spPr>
          <a:xfrm>
            <a:off x="3291839" y="4837176"/>
            <a:ext cx="3474720" cy="310896"/>
          </a:xfrm>
          <a:prstGeom prst="rect">
            <a:avLst/>
          </a:prstGeom>
          <a:noFill/>
        </p:spPr>
        <p:txBody>
          <a:bodyPr wrap="square" lIns="0" rIns="0" tIns="0" bIns="0" anchor="t">
            <a:spAutoFit/>
          </a:bodyPr>
          <a:lstStyle/>
          <a:p>
            <a:pPr algn="l">
              <a:lnSpc>
                <a:spcPct val="115000"/>
              </a:lnSpc>
            </a:pPr>
            <a:r>
              <a:rPr sz="1150" b="0" i="1">
                <a:solidFill>
                  <a:srgbClr val="21295C"/>
                </a:solidFill>
                <a:latin typeface="Arial"/>
              </a:rPr>
              <a:t>налог на рассуждение</a:t>
            </a:r>
          </a:p>
        </p:txBody>
      </p:sp>
      <p:sp>
        <p:nvSpPr>
          <p:cNvPr id="28" name="Rounded Rectangle 27"/>
          <p:cNvSpPr/>
          <p:nvPr/>
        </p:nvSpPr>
        <p:spPr>
          <a:xfrm>
            <a:off x="7223760" y="1627632"/>
            <a:ext cx="4526280"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fmt-twobuttons-ru.png"/>
          <p:cNvPicPr>
            <a:picLocks noChangeAspect="1"/>
          </p:cNvPicPr>
          <p:nvPr/>
        </p:nvPicPr>
        <p:blipFill>
          <a:blip r:embed="rId6"/>
          <a:stretch>
            <a:fillRect/>
          </a:stretch>
        </p:blipFill>
        <p:spPr>
          <a:xfrm>
            <a:off x="8414393" y="1755648"/>
            <a:ext cx="2145013" cy="3246120"/>
          </a:xfrm>
          <a:prstGeom prst="rect">
            <a:avLst/>
          </a:prstGeom>
        </p:spPr>
      </p:pic>
      <p:sp>
        <p:nvSpPr>
          <p:cNvPr id="30" name="Rounded Rectangle 29"/>
          <p:cNvSpPr/>
          <p:nvPr/>
        </p:nvSpPr>
        <p:spPr>
          <a:xfrm>
            <a:off x="502920" y="5230368"/>
            <a:ext cx="1120140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285231"/>
            <a:ext cx="10799064"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принуждай структуру ВЫХОДА на рассуждающих задачах: GSM8K падает 76,6% → 49,3% (та же модель, только требование JSON). Митигация — двухходовка «сначала свободно рассуждать, потом переформатировать» (+6,8 п.п.).</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67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ru.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Проверяй результат</a:t>
            </a:r>
            <a:r>
              <a:rPr sz="2100" b="1" i="0">
                <a:solidFill>
                  <a:srgbClr val="21295C"/>
                </a:solidFill>
                <a:latin typeface="Arial"/>
              </a:rPr>
              <a:t>, а не самообъяснение модели.</a:t>
            </a:r>
          </a:p>
          <a:p>
            <a:pPr algn="l">
              <a:lnSpc>
                <a:spcPct val="118000"/>
              </a:lnSpc>
              <a:spcBef>
                <a:spcPts val="800"/>
              </a:spcBef>
            </a:pPr>
            <a:r>
              <a:rPr sz="1500" b="0" i="0">
                <a:solidFill>
                  <a:srgbClr val="21295C"/>
                </a:solidFill>
                <a:latin typeface="Arial"/>
              </a:rPr>
              <a:t>Сверяй факты с внешним источником — правдоподобный текст рассуждения ничего не подтверждает.</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67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67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67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92608"/>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Как это выглядит на реальных задачах — типовые классы уровня промпта.</a:t>
            </a:r>
          </a:p>
        </p:txBody>
      </p:sp>
      <p:sp>
        <p:nvSpPr>
          <p:cNvPr id="3" name="TextBox 2"/>
          <p:cNvSpPr txBox="1"/>
          <p:nvPr/>
        </p:nvSpPr>
        <p:spPr>
          <a:xfrm>
            <a:off x="502920" y="676656"/>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1 · пограничный случай</a:t>
            </a:r>
          </a:p>
        </p:txBody>
      </p:sp>
      <p:sp>
        <p:nvSpPr>
          <p:cNvPr id="4" name="TextBox 3"/>
          <p:cNvSpPr txBox="1"/>
          <p:nvPr/>
        </p:nvSpPr>
        <p:spPr>
          <a:xfrm>
            <a:off x="502920" y="1024128"/>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Ассистент с инструментами: поднимайся по мини-лестнице.</a:t>
            </a:r>
          </a:p>
        </p:txBody>
      </p:sp>
      <p:sp>
        <p:nvSpPr>
          <p:cNvPr id="5" name="Rounded Rectangle 4"/>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assistant-simply-ru.png"/>
          <p:cNvPicPr>
            <a:picLocks noChangeAspect="1"/>
          </p:cNvPicPr>
          <p:nvPr/>
        </p:nvPicPr>
        <p:blipFill>
          <a:blip r:embed="rId2"/>
          <a:stretch>
            <a:fillRect/>
          </a:stretch>
        </p:blipFill>
        <p:spPr>
          <a:xfrm>
            <a:off x="722375" y="2381907"/>
            <a:ext cx="4636008" cy="2734265"/>
          </a:xfrm>
          <a:prstGeom prst="rect">
            <a:avLst/>
          </a:prstGeom>
        </p:spPr>
      </p:pic>
      <p:sp>
        <p:nvSpPr>
          <p:cNvPr id="7" name="Rounded Rectangle 6"/>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9" name="TextBox 8"/>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Пользователь просит не «текст», а «сделай»: узнать во внешней системе и/или совершить действие.</a:t>
            </a:r>
          </a:p>
        </p:txBody>
      </p:sp>
      <p:sp>
        <p:nvSpPr>
          <p:cNvPr id="10" name="Rounded Rectangle 9"/>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ute-teal.png"/>
          <p:cNvPicPr>
            <a:picLocks noChangeAspect="1"/>
          </p:cNvPicPr>
          <p:nvPr/>
        </p:nvPicPr>
        <p:blipFill>
          <a:blip r:embed="rId3"/>
          <a:stretch>
            <a:fillRect/>
          </a:stretch>
        </p:blipFill>
        <p:spPr>
          <a:xfrm>
            <a:off x="6135624" y="2880360"/>
            <a:ext cx="329184" cy="329184"/>
          </a:xfrm>
          <a:prstGeom prst="rect">
            <a:avLst/>
          </a:prstGeom>
        </p:spPr>
      </p:pic>
      <p:sp>
        <p:nvSpPr>
          <p:cNvPr id="12" name="TextBox 11"/>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One-shot → tool-use → агент</a:t>
            </a:r>
          </a:p>
        </p:txBody>
      </p:sp>
      <p:sp>
        <p:nvSpPr>
          <p:cNvPr id="13" name="TextBox 12"/>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Знает ответ, действие не нужно → один вызов. Доступ нужен, шаги известны → вызов инструмента в коде. Шаги неизвестны, есть чем проверить прогресс → цикл ReAct.</a:t>
            </a:r>
          </a:p>
        </p:txBody>
      </p:sp>
      <p:sp>
        <p:nvSpPr>
          <p:cNvPr id="14" name="Rounded Rectangle 13"/>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гранулярность инструментов, tool_choice, лимит итераций и бюджет токенов, строгие схемы входа.</a:t>
            </a:r>
          </a:p>
        </p:txBody>
      </p:sp>
      <p:sp>
        <p:nvSpPr>
          <p:cNvPr id="16" name="TextBox 15"/>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проверять аргументы вызова ДО обращения к системе; ответ опирается на результаты инструментов, не на память.</a:t>
            </a:r>
          </a:p>
        </p:txBody>
      </p:sp>
      <p:sp>
        <p:nvSpPr>
          <p:cNvPr id="17" name="Rounded Rectangle 16"/>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Типовой провал: прыжок сразу к агенту там, где хватило бы одного вызова, — та же петля на $4 200 (Раздел 4), где предсказуемую синхронизацию отдали агенту вместо retry-скрипта.</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Подниматься по мини-лестнице только под требование задачи — не потому, что «агент звучит мощнее».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67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ТИПОВАЯ ЗАДАЧА · 2 · уровень промпта</a:t>
            </a:r>
          </a:p>
        </p:txBody>
      </p:sp>
      <p:sp>
        <p:nvSpPr>
          <p:cNvPr id="3" name="TextBox 2"/>
          <p:cNvSpPr txBox="1"/>
          <p:nvPr/>
        </p:nvSpPr>
        <p:spPr>
          <a:xfrm>
            <a:off x="502920" y="713232"/>
            <a:ext cx="11201400" cy="749808"/>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Текст в заданном тоне: few-shot по образцам.</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ask-tone-fry-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35624" y="1892807"/>
            <a:ext cx="5330952" cy="237744"/>
          </a:xfrm>
          <a:prstGeom prst="rect">
            <a:avLst/>
          </a:prstGeom>
          <a:noFill/>
        </p:spPr>
        <p:txBody>
          <a:bodyPr wrap="square" lIns="0" rIns="0" tIns="0" bIns="0" anchor="t">
            <a:spAutoFit/>
          </a:bodyPr>
          <a:lstStyle/>
          <a:p>
            <a:pPr algn="l">
              <a:lnSpc>
                <a:spcPct val="115000"/>
              </a:lnSpc>
            </a:pPr>
            <a:r>
              <a:rPr sz="1200" b="1" i="0">
                <a:solidFill>
                  <a:srgbClr val="1C7293"/>
                </a:solidFill>
                <a:latin typeface="Arial"/>
              </a:rPr>
              <a:t>Постановка</a:t>
            </a:r>
          </a:p>
        </p:txBody>
      </p:sp>
      <p:sp>
        <p:nvSpPr>
          <p:cNvPr id="8" name="TextBox 7"/>
          <p:cNvSpPr txBox="1"/>
          <p:nvPr/>
        </p:nvSpPr>
        <p:spPr>
          <a:xfrm>
            <a:off x="6135624" y="2139696"/>
            <a:ext cx="5330952" cy="457200"/>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Нужен текст в определённом голосе, стиле, регистре: бренд-письмо, ответ поддержки, черновик «как человек».</a:t>
            </a:r>
          </a:p>
        </p:txBody>
      </p:sp>
      <p:sp>
        <p:nvSpPr>
          <p:cNvPr id="9" name="Rounded Rectangle 8"/>
          <p:cNvSpPr/>
          <p:nvPr/>
        </p:nvSpPr>
        <p:spPr>
          <a:xfrm>
            <a:off x="5897880" y="2743200"/>
            <a:ext cx="5806440" cy="113385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teal.png"/>
          <p:cNvPicPr>
            <a:picLocks noChangeAspect="1"/>
          </p:cNvPicPr>
          <p:nvPr/>
        </p:nvPicPr>
        <p:blipFill>
          <a:blip r:embed="rId3"/>
          <a:stretch>
            <a:fillRect/>
          </a:stretch>
        </p:blipFill>
        <p:spPr>
          <a:xfrm>
            <a:off x="6135624" y="2880360"/>
            <a:ext cx="329184" cy="329184"/>
          </a:xfrm>
          <a:prstGeom prst="rect">
            <a:avLst/>
          </a:prstGeom>
        </p:spPr>
      </p:pic>
      <p:sp>
        <p:nvSpPr>
          <p:cNvPr id="11" name="TextBox 10"/>
          <p:cNvSpPr txBox="1"/>
          <p:nvPr/>
        </p:nvSpPr>
        <p:spPr>
          <a:xfrm>
            <a:off x="6574536" y="2862072"/>
            <a:ext cx="4892040" cy="347472"/>
          </a:xfrm>
          <a:prstGeom prst="rect">
            <a:avLst/>
          </a:prstGeom>
          <a:noFill/>
        </p:spPr>
        <p:txBody>
          <a:bodyPr wrap="square" lIns="0" rIns="0" tIns="0" bIns="0" anchor="ctr">
            <a:spAutoFit/>
          </a:bodyPr>
          <a:lstStyle/>
          <a:p>
            <a:pPr algn="l">
              <a:lnSpc>
                <a:spcPct val="100000"/>
              </a:lnSpc>
            </a:pPr>
            <a:r>
              <a:rPr sz="1300" b="1" i="0">
                <a:solidFill>
                  <a:srgbClr val="028090"/>
                </a:solidFill>
                <a:latin typeface="Arial"/>
              </a:rPr>
              <a:t>Persona-prompt + few-shot style</a:t>
            </a:r>
          </a:p>
        </p:txBody>
      </p:sp>
      <p:sp>
        <p:nvSpPr>
          <p:cNvPr id="12" name="TextBox 11"/>
          <p:cNvSpPr txBox="1"/>
          <p:nvPr/>
        </p:nvSpPr>
        <p:spPr>
          <a:xfrm>
            <a:off x="6135624" y="3236976"/>
            <a:ext cx="5330952" cy="566928"/>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Роль-персона (тон, не факты) + короткий style-guide + 3–5 образцов манеры в примерах → генерация в том же стиле.</a:t>
            </a:r>
          </a:p>
        </p:txBody>
      </p:sp>
      <p:sp>
        <p:nvSpPr>
          <p:cNvPr id="13" name="Rounded Rectangle 12"/>
          <p:cNvSpPr/>
          <p:nvPr/>
        </p:nvSpPr>
        <p:spPr>
          <a:xfrm>
            <a:off x="5897880" y="398678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17336" y="406908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Параметры: </a:t>
            </a:r>
            <a:r>
              <a:rPr sz="1050" b="0" i="0">
                <a:solidFill>
                  <a:srgbClr val="21295C"/>
                </a:solidFill>
                <a:latin typeface="Arial"/>
              </a:rPr>
              <a:t>формальность, эмоциональная окраска, персона, число и качество образцов, явные запреты (без канцелярита / без эмодзи).</a:t>
            </a:r>
          </a:p>
        </p:txBody>
      </p:sp>
      <p:sp>
        <p:nvSpPr>
          <p:cNvPr id="15" name="TextBox 14"/>
          <p:cNvSpPr txBox="1"/>
          <p:nvPr/>
        </p:nvSpPr>
        <p:spPr>
          <a:xfrm>
            <a:off x="6117336" y="4480560"/>
            <a:ext cx="5367527" cy="402336"/>
          </a:xfrm>
          <a:prstGeom prst="rect">
            <a:avLst/>
          </a:prstGeom>
          <a:noFill/>
        </p:spPr>
        <p:txBody>
          <a:bodyPr wrap="square" lIns="0" rIns="0" tIns="0" bIns="0" anchor="t">
            <a:spAutoFit/>
          </a:bodyPr>
          <a:lstStyle/>
          <a:p>
            <a:pPr algn="l">
              <a:lnSpc>
                <a:spcPct val="102000"/>
              </a:lnSpc>
            </a:pPr>
            <a:r>
              <a:rPr sz="1050" b="1" i="0">
                <a:solidFill>
                  <a:srgbClr val="065A82"/>
                </a:solidFill>
                <a:latin typeface="Arial"/>
              </a:rPr>
              <a:t>Валидация: </a:t>
            </a:r>
            <a:r>
              <a:rPr sz="1050" b="0" i="0">
                <a:solidFill>
                  <a:srgbClr val="21295C"/>
                </a:solidFill>
                <a:latin typeface="Arial"/>
              </a:rPr>
              <a:t>стиль слабо формализуем → LLM-судья на тон + проверка маркеров (длина фраз, лексика) + выборочная вычитка человеком.</a:t>
            </a:r>
          </a:p>
        </p:txBody>
      </p:sp>
      <p:sp>
        <p:nvSpPr>
          <p:cNvPr id="16" name="Rounded Rectangle 15"/>
          <p:cNvSpPr/>
          <p:nvPr/>
        </p:nvSpPr>
        <p:spPr>
          <a:xfrm>
            <a:off x="5897880" y="5029200"/>
            <a:ext cx="5806440" cy="658367"/>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9048" y="5084064"/>
            <a:ext cx="5404103" cy="548639"/>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Провал суждения: детекторам нельзя верить как доказательству — часть даёт точность ниже 80%, тексты не-нейтивов флагаются как ИИ до +30% чаще.</a:t>
            </a:r>
          </a:p>
        </p:txBody>
      </p:sp>
      <p:sp>
        <p:nvSpPr>
          <p:cNvPr id="18" name="TextBox 17"/>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Детектору нельзя доверять ни как «щиту» (доказать ИИ), ни как «мечу» (гарантированно спрятать ИИ).</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67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ТИПОВАЯ ЗАДАЧА · 4 · извлечение / классификация</a:t>
            </a:r>
          </a:p>
        </p:txBody>
      </p:sp>
      <p:sp>
        <p:nvSpPr>
          <p:cNvPr id="3" name="TextBox 2"/>
          <p:cNvSpPr txBox="1"/>
          <p:nvPr/>
        </p:nvSpPr>
        <p:spPr>
          <a:xfrm>
            <a:off x="502920" y="603504"/>
            <a:ext cx="11201400" cy="566928"/>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Как правильно задать JSON-спеку в промпте.</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10000"/>
              </a:lnSpc>
            </a:pPr>
            <a:r>
              <a:rPr sz="1300" b="0" i="1">
                <a:solidFill>
                  <a:srgbClr val="065A82"/>
                </a:solidFill>
                <a:latin typeface="Arial"/>
              </a:rPr>
              <a:t>«Попросить JSON» ≠ «задать контракт». Есть два уровня контроля с разными гарантиями, и три способа описать схему.</a:t>
            </a:r>
          </a:p>
        </p:txBody>
      </p:sp>
      <p:sp>
        <p:nvSpPr>
          <p:cNvPr id="5" name="Rounded Rectangle 4"/>
          <p:cNvSpPr/>
          <p:nvPr/>
        </p:nvSpPr>
        <p:spPr>
          <a:xfrm>
            <a:off x="502920" y="1627632"/>
            <a:ext cx="54406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728216"/>
            <a:ext cx="5038344" cy="25603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Два уровня контроля</a:t>
            </a:r>
          </a:p>
        </p:txBody>
      </p:sp>
      <p:sp>
        <p:nvSpPr>
          <p:cNvPr id="7" name="TextBox 6"/>
          <p:cNvSpPr txBox="1"/>
          <p:nvPr/>
        </p:nvSpPr>
        <p:spPr>
          <a:xfrm>
            <a:off x="704088" y="2029968"/>
            <a:ext cx="5038344" cy="402336"/>
          </a:xfrm>
          <a:prstGeom prst="rect">
            <a:avLst/>
          </a:prstGeom>
          <a:noFill/>
        </p:spPr>
        <p:txBody>
          <a:bodyPr wrap="square" lIns="0" rIns="0" tIns="0" bIns="0" anchor="t">
            <a:spAutoFit/>
          </a:bodyPr>
          <a:lstStyle/>
          <a:p>
            <a:pPr algn="l">
              <a:lnSpc>
                <a:spcPct val="108000"/>
              </a:lnSpc>
            </a:pPr>
            <a:r>
              <a:rPr sz="1150" b="1" i="0">
                <a:solidFill>
                  <a:srgbClr val="065A82"/>
                </a:solidFill>
                <a:latin typeface="Arial"/>
              </a:rPr>
              <a:t>Промпт-уровень </a:t>
            </a:r>
            <a:r>
              <a:rPr sz="1150" b="0" i="0">
                <a:solidFill>
                  <a:srgbClr val="21295C"/>
                </a:solidFill>
                <a:latin typeface="Arial"/>
              </a:rPr>
              <a:t>(«верни JSON по схеме») — </a:t>
            </a:r>
            <a:r>
              <a:rPr sz="1150" b="1" i="0">
                <a:solidFill>
                  <a:srgbClr val="21295C"/>
                </a:solidFill>
                <a:latin typeface="Arial"/>
              </a:rPr>
              <a:t>≈80% валидности</a:t>
            </a:r>
            <a:r>
              <a:rPr sz="1150" b="0" i="0">
                <a:solidFill>
                  <a:srgbClr val="21295C"/>
                </a:solidFill>
                <a:latin typeface="Arial"/>
              </a:rPr>
              <a:t>, ничего не гарантирует жёстко.</a:t>
            </a:r>
          </a:p>
        </p:txBody>
      </p:sp>
      <p:sp>
        <p:nvSpPr>
          <p:cNvPr id="8" name="TextBox 7"/>
          <p:cNvSpPr txBox="1"/>
          <p:nvPr/>
        </p:nvSpPr>
        <p:spPr>
          <a:xfrm>
            <a:off x="704088" y="2450592"/>
            <a:ext cx="5038344" cy="548640"/>
          </a:xfrm>
          <a:prstGeom prst="rect">
            <a:avLst/>
          </a:prstGeom>
          <a:noFill/>
        </p:spPr>
        <p:txBody>
          <a:bodyPr wrap="square" lIns="0" rIns="0" tIns="0" bIns="0" anchor="t">
            <a:spAutoFit/>
          </a:bodyPr>
          <a:lstStyle/>
          <a:p>
            <a:pPr algn="l">
              <a:lnSpc>
                <a:spcPct val="108000"/>
              </a:lnSpc>
            </a:pPr>
            <a:r>
              <a:rPr sz="1150" b="1" i="0">
                <a:solidFill>
                  <a:srgbClr val="028090"/>
                </a:solidFill>
                <a:latin typeface="Arial"/>
              </a:rPr>
              <a:t>Декодер </a:t>
            </a:r>
            <a:r>
              <a:rPr sz="1150" b="0" i="0">
                <a:solidFill>
                  <a:srgbClr val="21295C"/>
                </a:solidFill>
                <a:latin typeface="Arial"/>
              </a:rPr>
              <a:t>(строгие структурированные выходы / строгое декодирование, structured outputs) — схема → грамматика, недопустимые токены маскируются → </a:t>
            </a:r>
            <a:r>
              <a:rPr sz="1150" b="1" i="0">
                <a:solidFill>
                  <a:srgbClr val="21295C"/>
                </a:solidFill>
                <a:latin typeface="Arial"/>
              </a:rPr>
              <a:t>~100% соответствия схеме.</a:t>
            </a:r>
          </a:p>
        </p:txBody>
      </p:sp>
      <p:sp>
        <p:nvSpPr>
          <p:cNvPr id="9" name="Rounded Rectangle 8"/>
          <p:cNvSpPr/>
          <p:nvPr/>
        </p:nvSpPr>
        <p:spPr>
          <a:xfrm>
            <a:off x="502920" y="3200400"/>
            <a:ext cx="544068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300984"/>
            <a:ext cx="5038344"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Три способа описать форму</a:t>
            </a:r>
          </a:p>
        </p:txBody>
      </p:sp>
      <p:sp>
        <p:nvSpPr>
          <p:cNvPr id="11" name="Oval 10"/>
          <p:cNvSpPr/>
          <p:nvPr/>
        </p:nvSpPr>
        <p:spPr>
          <a:xfrm>
            <a:off x="722376" y="3666744"/>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60273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Пример-объект</a:t>
            </a:r>
          </a:p>
        </p:txBody>
      </p:sp>
      <p:sp>
        <p:nvSpPr>
          <p:cNvPr id="13" name="TextBox 12"/>
          <p:cNvSpPr txBox="1"/>
          <p:nvPr/>
        </p:nvSpPr>
        <p:spPr>
          <a:xfrm>
            <a:off x="960120" y="381304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понятен модели; НЕ выражает типы и enum — плоские структуры, прототип</a:t>
            </a:r>
          </a:p>
        </p:txBody>
      </p:sp>
      <p:sp>
        <p:nvSpPr>
          <p:cNvPr id="14" name="Oval 13"/>
          <p:cNvSpPr/>
          <p:nvPr/>
        </p:nvSpPr>
        <p:spPr>
          <a:xfrm>
            <a:off x="722376" y="416966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0565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JSON Schema</a:t>
            </a:r>
          </a:p>
        </p:txBody>
      </p:sp>
      <p:sp>
        <p:nvSpPr>
          <p:cNvPr id="16" name="TextBox 15"/>
          <p:cNvSpPr txBox="1"/>
          <p:nvPr/>
        </p:nvSpPr>
        <p:spPr>
          <a:xfrm>
            <a:off x="960120" y="431596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типы, enum, required, вложенность; в API напрямую, но многословен + деградирует на сложной</a:t>
            </a:r>
          </a:p>
        </p:txBody>
      </p:sp>
      <p:sp>
        <p:nvSpPr>
          <p:cNvPr id="17" name="Oval 16"/>
          <p:cNvSpPr/>
          <p:nvPr/>
        </p:nvSpPr>
        <p:spPr>
          <a:xfrm>
            <a:off x="722376" y="4672583"/>
            <a:ext cx="128016" cy="12801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608576"/>
            <a:ext cx="4782312" cy="219456"/>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Тип в коде (TS / Pydantic)</a:t>
            </a:r>
          </a:p>
        </p:txBody>
      </p:sp>
      <p:sp>
        <p:nvSpPr>
          <p:cNvPr id="19" name="TextBox 18"/>
          <p:cNvSpPr txBox="1"/>
          <p:nvPr/>
        </p:nvSpPr>
        <p:spPr>
          <a:xfrm>
            <a:off x="960120" y="4818888"/>
            <a:ext cx="4782312" cy="274320"/>
          </a:xfrm>
          <a:prstGeom prst="rect">
            <a:avLst/>
          </a:prstGeom>
          <a:noFill/>
        </p:spPr>
        <p:txBody>
          <a:bodyPr wrap="square" lIns="0" rIns="0" tIns="0" bIns="0" anchor="t">
            <a:spAutoFit/>
          </a:bodyPr>
          <a:lstStyle/>
          <a:p>
            <a:pPr algn="l">
              <a:lnSpc>
                <a:spcPct val="102000"/>
              </a:lnSpc>
            </a:pPr>
            <a:r>
              <a:rPr sz="1050" b="0" i="0">
                <a:solidFill>
                  <a:srgbClr val="21295C"/>
                </a:solidFill>
                <a:latin typeface="Arial"/>
              </a:rPr>
              <a:t>компактно + типобезопасно; нужен конвертер в JSON Schema</a:t>
            </a:r>
          </a:p>
        </p:txBody>
      </p:sp>
      <p:sp>
        <p:nvSpPr>
          <p:cNvPr id="20" name="Rounded Rectangle 19"/>
          <p:cNvSpPr/>
          <p:nvPr/>
        </p:nvSpPr>
        <p:spPr>
          <a:xfrm>
            <a:off x="6144768" y="1627632"/>
            <a:ext cx="5559552"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7648" y="1709928"/>
            <a:ext cx="1280160" cy="237744"/>
          </a:xfrm>
          <a:prstGeom prst="rect">
            <a:avLst/>
          </a:prstGeom>
          <a:noFill/>
        </p:spPr>
        <p:txBody>
          <a:bodyPr wrap="square" lIns="0" rIns="0" tIns="0" bIns="0" anchor="t">
            <a:spAutoFit/>
          </a:bodyPr>
          <a:lstStyle/>
          <a:p>
            <a:pPr algn="l">
              <a:lnSpc>
                <a:spcPct val="115000"/>
              </a:lnSpc>
            </a:pPr>
            <a:r>
              <a:rPr sz="1200" b="1" i="0">
                <a:solidFill>
                  <a:srgbClr val="5B6678"/>
                </a:solidFill>
                <a:latin typeface="Arial"/>
              </a:rPr>
              <a:t>BAD</a:t>
            </a:r>
          </a:p>
        </p:txBody>
      </p:sp>
      <p:sp>
        <p:nvSpPr>
          <p:cNvPr id="22" name="TextBox 21"/>
          <p:cNvSpPr txBox="1"/>
          <p:nvPr/>
        </p:nvSpPr>
        <p:spPr>
          <a:xfrm>
            <a:off x="6327648" y="1965960"/>
            <a:ext cx="5193792" cy="49377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«Извлеки данные и верни JSON» — нет схемы, имён полей, типов, enum; модель обернёт в markdown и придумает поля.</a:t>
            </a:r>
          </a:p>
        </p:txBody>
      </p:sp>
      <p:sp>
        <p:nvSpPr>
          <p:cNvPr id="23" name="Rounded Rectangle 22"/>
          <p:cNvSpPr/>
          <p:nvPr/>
        </p:nvSpPr>
        <p:spPr>
          <a:xfrm>
            <a:off x="6144768" y="2651760"/>
            <a:ext cx="5559552" cy="1627632"/>
          </a:xfrm>
          <a:prstGeom prst="roundRect">
            <a:avLst>
              <a:gd name="adj" fmla="val 18726"/>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27648" y="2734056"/>
            <a:ext cx="1280160" cy="237744"/>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GOOD</a:t>
            </a:r>
          </a:p>
        </p:txBody>
      </p:sp>
      <p:sp>
        <p:nvSpPr>
          <p:cNvPr id="25" name="TextBox 24"/>
          <p:cNvSpPr txBox="1"/>
          <p:nvPr/>
        </p:nvSpPr>
        <p:spPr>
          <a:xfrm>
            <a:off x="6327648" y="2971800"/>
            <a:ext cx="5193792" cy="1225296"/>
          </a:xfrm>
          <a:prstGeom prst="rect">
            <a:avLst/>
          </a:prstGeom>
          <a:noFill/>
        </p:spPr>
        <p:txBody>
          <a:bodyPr wrap="square" lIns="0" rIns="0" tIns="0" bIns="0" anchor="t">
            <a:spAutoFit/>
          </a:bodyPr>
          <a:lstStyle/>
          <a:p>
            <a:pPr algn="l">
              <a:lnSpc>
                <a:spcPct val="114000"/>
              </a:lnSpc>
            </a:pPr>
            <a:r>
              <a:rPr sz="1050" b="0" i="0">
                <a:solidFill>
                  <a:srgbClr val="21295C"/>
                </a:solidFill>
                <a:latin typeface="Liberation Mono"/>
              </a:rPr>
              <a:t>"rating": number   // 1-5, дробное; null если нет
"sentiment": string // one of [positive,neutral,negative]
"pros": string[]   // [] если нет
+ few-shot «вход → ожидаемый JSON», схема В КОНЦЕ,
«Верни ТОЛЬКО JSON, без markdown».</a:t>
            </a:r>
          </a:p>
        </p:txBody>
      </p:sp>
      <p:sp>
        <p:nvSpPr>
          <p:cNvPr id="26" name="Rounded Rectangle 25"/>
          <p:cNvSpPr/>
          <p:nvPr/>
        </p:nvSpPr>
        <p:spPr>
          <a:xfrm>
            <a:off x="6144768"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91072"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Налог на рассуждение</a:t>
            </a:r>
          </a:p>
        </p:txBody>
      </p:sp>
      <p:sp>
        <p:nvSpPr>
          <p:cNvPr id="28" name="TextBox 27"/>
          <p:cNvSpPr txBox="1"/>
          <p:nvPr/>
        </p:nvSpPr>
        <p:spPr>
          <a:xfrm>
            <a:off x="6291072"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не рассуждать в JSON: «сначала свободно подумай → потом переформатируй» отдельным шагом</a:t>
            </a:r>
          </a:p>
        </p:txBody>
      </p:sp>
      <p:sp>
        <p:nvSpPr>
          <p:cNvPr id="29" name="Rounded Rectangle 28"/>
          <p:cNvSpPr/>
          <p:nvPr/>
        </p:nvSpPr>
        <p:spPr>
          <a:xfrm>
            <a:off x="8997696" y="4407407"/>
            <a:ext cx="2706624" cy="78638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0" y="4489703"/>
            <a:ext cx="2414016" cy="237744"/>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Сложная схема ↓</a:t>
            </a:r>
          </a:p>
        </p:txBody>
      </p:sp>
      <p:sp>
        <p:nvSpPr>
          <p:cNvPr id="31" name="TextBox 30"/>
          <p:cNvSpPr txBox="1"/>
          <p:nvPr/>
        </p:nvSpPr>
        <p:spPr>
          <a:xfrm>
            <a:off x="9144000" y="4727447"/>
            <a:ext cx="2414016" cy="420624"/>
          </a:xfrm>
          <a:prstGeom prst="rect">
            <a:avLst/>
          </a:prstGeom>
          <a:noFill/>
        </p:spPr>
        <p:txBody>
          <a:bodyPr wrap="square" lIns="0" rIns="0" tIns="0" bIns="0" anchor="t">
            <a:spAutoFit/>
          </a:bodyPr>
          <a:lstStyle/>
          <a:p>
            <a:pPr algn="l">
              <a:lnSpc>
                <a:spcPct val="104000"/>
              </a:lnSpc>
            </a:pPr>
            <a:r>
              <a:rPr sz="1000" b="0" i="0">
                <a:solidFill>
                  <a:srgbClr val="21295C"/>
                </a:solidFill>
                <a:latin typeface="Arial"/>
              </a:rPr>
              <a:t>точность извлечения ~87%→70%→56%: дробить, вложенность мелкой</a:t>
            </a:r>
          </a:p>
        </p:txBody>
      </p:sp>
      <p:sp>
        <p:nvSpPr>
          <p:cNvPr id="32" name="Rounded Rectangle 31"/>
          <p:cNvSpPr/>
          <p:nvPr/>
        </p:nvSpPr>
        <p:spPr>
          <a:xfrm>
            <a:off x="502920" y="5870448"/>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925312"/>
            <a:ext cx="10799064" cy="512064"/>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Валидный JSON ≠ правильные данные: грамматика гарантирует форму, не истинность значений — каждый JSON всё равно проверяется в коде. Строгая схема помогает на извлечении / классификации / вызове функций (function calling); на «подумай и реши» — налог на рассуждение.</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67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669280"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5 архетипов · 2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классический поиск: инвертированный индекс и BM25.</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Буква R в RAG — retrieval, поиск. Это инвертированный индекс, булев отбор и ранжирование BM25. Их устройство определяет, где RAG работает, а где ломается.</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Лексический IR: инвертированный индекс</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Для каждого СЛОВА — список документов, где оно встречается (машинный каталог). Совпадение по буквальным словам. Хребет Lucene, Elasticsearch, PostgreSQL FTS.</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Булев отбор</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Запрос как логическое выражение («ошибка AND аутентификация NOT tomcat»): точный, предсказуемый, объяснимый отбор — сила на кодах и идентификаторах.</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TF-IDF → BM25 (~1994)</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Ранжирование по важности слова (реже в коллекции — сильнее сигнал). BM25 (Okapi) — дешёвая объяснимая линия, которую многие «умные» системы не обгоняют.</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Снимаем частую неточность: «семантический поиск построен на BM25» — НЕ так. Лексика (BM25, ~1994) и плотные векторы (DPR, 2018–2020) — две независимые ветки; их СЛИВАЮТ (fuse), а не наследуют. Сильный RAG-2026 возвращает классику поверх семантики: гибрид BM25 + векторы, фильтры по метаданным, реранкер, метрики на golden set.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dense-семантика (Лекция 2) добавляет к классике недостающую ветку — смысл вместо буквы («сломанный вход» ≈ «authentication failure»), — но классика не исчезает и не «фундамент» под ней. RAG = объединение двух веток, не надстройка над одной.</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67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67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4864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«Гибрид» — три разных смысла на общей базе.</a:t>
            </a:r>
          </a:p>
        </p:txBody>
      </p:sp>
      <p:sp>
        <p:nvSpPr>
          <p:cNvPr id="3" name="Rounded Rectangle 2"/>
          <p:cNvSpPr/>
          <p:nvPr/>
        </p:nvSpPr>
        <p:spPr>
          <a:xfrm>
            <a:off x="502920" y="969264"/>
            <a:ext cx="550926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60704"/>
            <a:ext cx="5180076" cy="566928"/>
          </a:xfrm>
          <a:prstGeom prst="rect">
            <a:avLst/>
          </a:prstGeom>
          <a:noFill/>
        </p:spPr>
        <p:txBody>
          <a:bodyPr wrap="square" lIns="0" rIns="0" tIns="0" bIns="0" anchor="t">
            <a:spAutoFit/>
          </a:bodyPr>
          <a:lstStyle/>
          <a:p>
            <a:pPr algn="l">
              <a:lnSpc>
                <a:spcPct val="106000"/>
              </a:lnSpc>
            </a:pPr>
            <a:r>
              <a:rPr sz="1150" b="1" i="0">
                <a:solidFill>
                  <a:srgbClr val="065A82"/>
                </a:solidFill>
                <a:latin typeface="Arial"/>
              </a:rPr>
              <a:t>Разреженный (sparse): </a:t>
            </a:r>
            <a:r>
              <a:rPr sz="1150" b="0" i="0">
                <a:solidFill>
                  <a:srgbClr val="21295C"/>
                </a:solidFill>
                <a:latin typeface="Arial"/>
              </a:rPr>
              <a:t>BM25 / SPLADE — измерение = слово, инвертированный индекс, интерпретируем, ловит точную лексику.</a:t>
            </a:r>
          </a:p>
        </p:txBody>
      </p:sp>
      <p:sp>
        <p:nvSpPr>
          <p:cNvPr id="5" name="Rounded Rectangle 4"/>
          <p:cNvSpPr/>
          <p:nvPr/>
        </p:nvSpPr>
        <p:spPr>
          <a:xfrm>
            <a:off x="6195060" y="969264"/>
            <a:ext cx="5509260" cy="731520"/>
          </a:xfrm>
          <a:prstGeom prst="roundRect">
            <a:avLst>
              <a:gd name="adj" fmla="val 22000"/>
            </a:avLst>
          </a:prstGeom>
          <a:solidFill>
            <a:srgbClr val="E4F1F2"/>
          </a:solidFill>
          <a:ln w="22225">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7940" y="1060704"/>
            <a:ext cx="5180076" cy="566928"/>
          </a:xfrm>
          <a:prstGeom prst="rect">
            <a:avLst/>
          </a:prstGeom>
          <a:noFill/>
        </p:spPr>
        <p:txBody>
          <a:bodyPr wrap="square" lIns="0" rIns="0" tIns="0" bIns="0" anchor="t">
            <a:spAutoFit/>
          </a:bodyPr>
          <a:lstStyle/>
          <a:p>
            <a:pPr algn="l">
              <a:lnSpc>
                <a:spcPct val="106000"/>
              </a:lnSpc>
            </a:pPr>
            <a:r>
              <a:rPr sz="1150" b="1" i="0">
                <a:solidFill>
                  <a:srgbClr val="028090"/>
                </a:solidFill>
                <a:latin typeface="Arial"/>
              </a:rPr>
              <a:t>Плотный (dense): </a:t>
            </a:r>
            <a:r>
              <a:rPr sz="1150" b="0" i="0">
                <a:solidFill>
                  <a:srgbClr val="21295C"/>
                </a:solidFill>
                <a:latin typeface="Arial"/>
              </a:rPr>
              <a:t>эмбеддинги — все значения float, ANN-индекс, не интерпретируем, ловит смысл и перифразу.</a:t>
            </a:r>
          </a:p>
        </p:txBody>
      </p:sp>
      <p:sp>
        <p:nvSpPr>
          <p:cNvPr id="7" name="Rounded Rectangle 6"/>
          <p:cNvSpPr/>
          <p:nvPr/>
        </p:nvSpPr>
        <p:spPr>
          <a:xfrm>
            <a:off x="502920"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938528"/>
            <a:ext cx="91440" cy="603504"/>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(а) лексика + плотные</a:t>
            </a:r>
          </a:p>
        </p:txBody>
      </p:sp>
      <p:sp>
        <p:nvSpPr>
          <p:cNvPr id="10" name="TextBox 9"/>
          <p:cNvSpPr txBox="1"/>
          <p:nvPr/>
        </p:nvSpPr>
        <p:spPr>
          <a:xfrm>
            <a:off x="832104"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BM25 + векторы, слиты по рангам (RRF) — базовый смысл слова «гибрид»</a:t>
            </a:r>
          </a:p>
        </p:txBody>
      </p:sp>
      <p:sp>
        <p:nvSpPr>
          <p:cNvPr id="11" name="Rounded Rectangle 10"/>
          <p:cNvSpPr/>
          <p:nvPr/>
        </p:nvSpPr>
        <p:spPr>
          <a:xfrm>
            <a:off x="4309872"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6176" y="1938528"/>
            <a:ext cx="91440" cy="60350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9056"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(б) смысл + фильтры</a:t>
            </a:r>
          </a:p>
        </p:txBody>
      </p:sp>
      <p:sp>
        <p:nvSpPr>
          <p:cNvPr id="14" name="TextBox 13"/>
          <p:cNvSpPr txBox="1"/>
          <p:nvPr/>
        </p:nvSpPr>
        <p:spPr>
          <a:xfrm>
            <a:off x="4639056"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семантика + строгий отбор по метаданным (юрисдикция, дата) — ортогональный рычаг</a:t>
            </a:r>
          </a:p>
        </p:txBody>
      </p:sp>
      <p:sp>
        <p:nvSpPr>
          <p:cNvPr id="15" name="Rounded Rectangle 14"/>
          <p:cNvSpPr/>
          <p:nvPr/>
        </p:nvSpPr>
        <p:spPr>
          <a:xfrm>
            <a:off x="8116823" y="1810512"/>
            <a:ext cx="3587496" cy="8595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63127" y="1938528"/>
            <a:ext cx="91440" cy="603504"/>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46007" y="1911095"/>
            <a:ext cx="3112008"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(в) sparse + sparse-learned</a:t>
            </a:r>
          </a:p>
        </p:txBody>
      </p:sp>
      <p:sp>
        <p:nvSpPr>
          <p:cNvPr id="18" name="TextBox 17"/>
          <p:cNvSpPr txBox="1"/>
          <p:nvPr/>
        </p:nvSpPr>
        <p:spPr>
          <a:xfrm>
            <a:off x="8446007" y="2185416"/>
            <a:ext cx="3112008" cy="438912"/>
          </a:xfrm>
          <a:prstGeom prst="rect">
            <a:avLst/>
          </a:prstGeom>
          <a:noFill/>
        </p:spPr>
        <p:txBody>
          <a:bodyPr wrap="square" lIns="0" rIns="0" tIns="0" bIns="0" anchor="t">
            <a:spAutoFit/>
          </a:bodyPr>
          <a:lstStyle/>
          <a:p>
            <a:pPr algn="l">
              <a:lnSpc>
                <a:spcPct val="104000"/>
              </a:lnSpc>
            </a:pPr>
            <a:r>
              <a:rPr sz="1050" b="0" i="0">
                <a:solidFill>
                  <a:srgbClr val="21295C"/>
                </a:solidFill>
                <a:latin typeface="Arial"/>
              </a:rPr>
              <a:t>BM25 + SPLADE/ELSER — обе ветки разреженные, одна «умная»</a:t>
            </a:r>
          </a:p>
        </p:txBody>
      </p:sp>
      <p:sp>
        <p:nvSpPr>
          <p:cNvPr id="19" name="Rounded Rectangle 18"/>
          <p:cNvSpPr/>
          <p:nvPr/>
        </p:nvSpPr>
        <p:spPr>
          <a:xfrm>
            <a:off x="502920" y="2834640"/>
            <a:ext cx="550926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it-merge-mid.png"/>
          <p:cNvPicPr>
            <a:picLocks noChangeAspect="1"/>
          </p:cNvPicPr>
          <p:nvPr/>
        </p:nvPicPr>
        <p:blipFill>
          <a:blip r:embed="rId2"/>
          <a:stretch>
            <a:fillRect/>
          </a:stretch>
        </p:blipFill>
        <p:spPr>
          <a:xfrm>
            <a:off x="713232" y="2999232"/>
            <a:ext cx="365760" cy="365760"/>
          </a:xfrm>
          <a:prstGeom prst="rect">
            <a:avLst/>
          </a:prstGeom>
        </p:spPr>
      </p:pic>
      <p:sp>
        <p:nvSpPr>
          <p:cNvPr id="21" name="TextBox 20"/>
          <p:cNvSpPr txBox="1"/>
          <p:nvPr/>
        </p:nvSpPr>
        <p:spPr>
          <a:xfrm>
            <a:off x="1188720" y="2980944"/>
            <a:ext cx="45948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Слияние RRF</a:t>
            </a:r>
          </a:p>
        </p:txBody>
      </p:sp>
      <p:sp>
        <p:nvSpPr>
          <p:cNvPr id="22" name="TextBox 21"/>
          <p:cNvSpPr txBox="1"/>
          <p:nvPr/>
        </p:nvSpPr>
        <p:spPr>
          <a:xfrm>
            <a:off x="713232" y="3346704"/>
            <a:ext cx="5088636" cy="457200"/>
          </a:xfrm>
          <a:prstGeom prst="rect">
            <a:avLst/>
          </a:prstGeom>
          <a:noFill/>
        </p:spPr>
        <p:txBody>
          <a:bodyPr wrap="square" lIns="0" rIns="0" tIns="0" bIns="0" anchor="t">
            <a:spAutoFit/>
          </a:bodyPr>
          <a:lstStyle/>
          <a:p>
            <a:pPr algn="l">
              <a:lnSpc>
                <a:spcPct val="106000"/>
              </a:lnSpc>
            </a:pPr>
            <a:r>
              <a:rPr sz="1100" b="0" i="0">
                <a:solidFill>
                  <a:srgbClr val="21295C"/>
                </a:solidFill>
                <a:latin typeface="Liberation Mono"/>
              </a:rPr>
              <a:t>score = Σ 1 / (k + ранг), k ≈ 60 — объединяет два списка рангов без общей шкалы очков.</a:t>
            </a:r>
          </a:p>
        </p:txBody>
      </p:sp>
      <p:sp>
        <p:nvSpPr>
          <p:cNvPr id="23" name="Rounded Rectangle 22"/>
          <p:cNvSpPr/>
          <p:nvPr/>
        </p:nvSpPr>
        <p:spPr>
          <a:xfrm>
            <a:off x="6195060" y="2834640"/>
            <a:ext cx="550926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check-gold.png"/>
          <p:cNvPicPr>
            <a:picLocks noChangeAspect="1"/>
          </p:cNvPicPr>
          <p:nvPr/>
        </p:nvPicPr>
        <p:blipFill>
          <a:blip r:embed="rId3"/>
          <a:stretch>
            <a:fillRect/>
          </a:stretch>
        </p:blipFill>
        <p:spPr>
          <a:xfrm>
            <a:off x="6405372" y="2999232"/>
            <a:ext cx="365760" cy="365760"/>
          </a:xfrm>
          <a:prstGeom prst="rect">
            <a:avLst/>
          </a:prstGeom>
        </p:spPr>
      </p:pic>
      <p:sp>
        <p:nvSpPr>
          <p:cNvPr id="25" name="TextBox 24"/>
          <p:cNvSpPr txBox="1"/>
          <p:nvPr/>
        </p:nvSpPr>
        <p:spPr>
          <a:xfrm>
            <a:off x="6880860" y="2980944"/>
            <a:ext cx="459486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Реранкер (cross-encoder)</a:t>
            </a:r>
          </a:p>
        </p:txBody>
      </p:sp>
      <p:sp>
        <p:nvSpPr>
          <p:cNvPr id="26" name="TextBox 25"/>
          <p:cNvSpPr txBox="1"/>
          <p:nvPr/>
        </p:nvSpPr>
        <p:spPr>
          <a:xfrm>
            <a:off x="6405372" y="3346704"/>
            <a:ext cx="5088636" cy="457200"/>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bi-encoder кодирует раздельно (быстро); cross-encoder гоняет пару вместе (точнее, дорого) — только по top-50…100.</a:t>
            </a:r>
          </a:p>
        </p:txBody>
      </p:sp>
      <p:sp>
        <p:nvSpPr>
          <p:cNvPr id="27" name="Rounded Rectangle 26"/>
          <p:cNvSpPr/>
          <p:nvPr/>
        </p:nvSpPr>
        <p:spPr>
          <a:xfrm>
            <a:off x="502920"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WANDS · NDCG</a:t>
            </a:r>
          </a:p>
        </p:txBody>
      </p:sp>
      <p:sp>
        <p:nvSpPr>
          <p:cNvPr id="29" name="TextBox 28"/>
          <p:cNvSpPr txBox="1"/>
          <p:nvPr/>
        </p:nvSpPr>
        <p:spPr>
          <a:xfrm>
            <a:off x="667512"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0,7497</a:t>
            </a:r>
          </a:p>
        </p:txBody>
      </p:sp>
      <p:sp>
        <p:nvSpPr>
          <p:cNvPr id="30" name="TextBox 29"/>
          <p:cNvSpPr txBox="1"/>
          <p:nvPr/>
        </p:nvSpPr>
        <p:spPr>
          <a:xfrm>
            <a:off x="667512"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BM25 0,6983 / вектор 0,6953 → ~7,4% (скромно)</a:t>
            </a:r>
            <a:r>
              <a:rPr sz="494" baseline="30000" b="0" i="1">
                <a:latin typeface="Arial"/>
                <a:cs typeface="Arial"/>
                <a:ea typeface="Arial"/>
                <a:solidFill>
                  <a:srgbClr val="1C7293"/>
                </a:solidFill>
              </a:rPr>
              <a:t>[1]</a:t>
            </a:r>
          </a:p>
        </p:txBody>
      </p:sp>
      <p:sp>
        <p:nvSpPr>
          <p:cNvPr id="31" name="Rounded Rectangle 30"/>
          <p:cNvSpPr/>
          <p:nvPr/>
        </p:nvSpPr>
        <p:spPr>
          <a:xfrm>
            <a:off x="4309872"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74463"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Финтекст+таблицы · Recall@5</a:t>
            </a:r>
          </a:p>
        </p:txBody>
      </p:sp>
      <p:sp>
        <p:nvSpPr>
          <p:cNvPr id="33" name="TextBox 32"/>
          <p:cNvSpPr txBox="1"/>
          <p:nvPr/>
        </p:nvSpPr>
        <p:spPr>
          <a:xfrm>
            <a:off x="4474463"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0,816</a:t>
            </a:r>
          </a:p>
        </p:txBody>
      </p:sp>
      <p:sp>
        <p:nvSpPr>
          <p:cNvPr id="34" name="TextBox 33"/>
          <p:cNvSpPr txBox="1"/>
          <p:nvPr/>
        </p:nvSpPr>
        <p:spPr>
          <a:xfrm>
            <a:off x="4474463"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vs dense-only 0,587 (+0,229)</a:t>
            </a:r>
          </a:p>
        </p:txBody>
      </p:sp>
      <p:sp>
        <p:nvSpPr>
          <p:cNvPr id="35" name="Rounded Rectangle 34"/>
          <p:cNvSpPr/>
          <p:nvPr/>
        </p:nvSpPr>
        <p:spPr>
          <a:xfrm>
            <a:off x="8116823" y="4023360"/>
            <a:ext cx="3587496" cy="100584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81415" y="4123944"/>
            <a:ext cx="3258312" cy="256032"/>
          </a:xfrm>
          <a:prstGeom prst="rect">
            <a:avLst/>
          </a:prstGeom>
          <a:noFill/>
        </p:spPr>
        <p:txBody>
          <a:bodyPr wrap="square" lIns="0" rIns="0" tIns="0" bIns="0" anchor="t">
            <a:spAutoFit/>
          </a:bodyPr>
          <a:lstStyle/>
          <a:p>
            <a:pPr algn="l">
              <a:lnSpc>
                <a:spcPct val="100000"/>
              </a:lnSpc>
            </a:pPr>
            <a:r>
              <a:rPr sz="1050" b="1" i="0">
                <a:solidFill>
                  <a:srgbClr val="065A82"/>
                </a:solidFill>
                <a:latin typeface="Arial"/>
              </a:rPr>
              <a:t>Anthropic · промахи</a:t>
            </a:r>
          </a:p>
        </p:txBody>
      </p:sp>
      <p:sp>
        <p:nvSpPr>
          <p:cNvPr id="37" name="TextBox 36"/>
          <p:cNvSpPr txBox="1"/>
          <p:nvPr/>
        </p:nvSpPr>
        <p:spPr>
          <a:xfrm>
            <a:off x="8281415" y="4361688"/>
            <a:ext cx="3258312" cy="329184"/>
          </a:xfrm>
          <a:prstGeom prst="rect">
            <a:avLst/>
          </a:prstGeom>
          <a:noFill/>
        </p:spPr>
        <p:txBody>
          <a:bodyPr wrap="square" lIns="0" rIns="0" tIns="0" bIns="0" anchor="t">
            <a:spAutoFit/>
          </a:bodyPr>
          <a:lstStyle/>
          <a:p>
            <a:pPr algn="l">
              <a:lnSpc>
                <a:spcPct val="115000"/>
              </a:lnSpc>
            </a:pPr>
            <a:r>
              <a:rPr sz="1900" b="1" i="0">
                <a:solidFill>
                  <a:srgbClr val="F0AB00"/>
                </a:solidFill>
                <a:latin typeface="Arial"/>
              </a:rPr>
              <a:t>5,7→1,9%</a:t>
            </a:r>
          </a:p>
        </p:txBody>
      </p:sp>
      <p:sp>
        <p:nvSpPr>
          <p:cNvPr id="38" name="TextBox 37"/>
          <p:cNvSpPr txBox="1"/>
          <p:nvPr/>
        </p:nvSpPr>
        <p:spPr>
          <a:xfrm>
            <a:off x="8281415" y="4709160"/>
            <a:ext cx="3258312" cy="274320"/>
          </a:xfrm>
          <a:prstGeom prst="rect">
            <a:avLst/>
          </a:prstGeom>
          <a:noFill/>
        </p:spPr>
        <p:txBody>
          <a:bodyPr wrap="square" lIns="0" rIns="0" tIns="0" bIns="0" anchor="t">
            <a:spAutoFit/>
          </a:bodyPr>
          <a:lstStyle/>
          <a:p>
            <a:pPr algn="l">
              <a:lnSpc>
                <a:spcPct val="102000"/>
              </a:lnSpc>
            </a:pPr>
            <a:r>
              <a:rPr sz="950" b="0" i="0">
                <a:solidFill>
                  <a:srgbClr val="21295C"/>
                </a:solidFill>
                <a:latin typeface="Arial"/>
              </a:rPr>
              <a:t>+контекст+BM25 → 2,9%; +реранк → 1,9% (−67%)</a:t>
            </a:r>
            <a:r>
              <a:rPr sz="494" baseline="30000" b="0" i="1">
                <a:latin typeface="Arial"/>
                <a:cs typeface="Arial"/>
                <a:ea typeface="Arial"/>
                <a:solidFill>
                  <a:srgbClr val="1C7293"/>
                </a:solidFill>
              </a:rPr>
              <a:t>[2]</a:t>
            </a:r>
          </a:p>
        </p:txBody>
      </p:sp>
      <p:sp>
        <p:nvSpPr>
          <p:cNvPr id="39" name="Rounded Rectangle 38"/>
          <p:cNvSpPr/>
          <p:nvPr/>
        </p:nvSpPr>
        <p:spPr>
          <a:xfrm>
            <a:off x="502920" y="5230368"/>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5285231"/>
            <a:ext cx="10799064" cy="713232"/>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Выигрыш гибрида зависит от корпуса: крупные приросты — там, где лексика ИЛИ смысл ломается по отдельности (жаргон, таблицы, перекрёстные ссылки). На чистой прозе разрыв мал — сначала измерь на своих запросах, потом усложняй.</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denser.ai — Hybrid Search for RAG (WANDS / финтаблицы дельты)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Anthropic — Contextual Retrieval (каскад промахов 5,7→1,9%)</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Где живут векторы: две категории движков.</a:t>
            </a:r>
          </a:p>
        </p:txBody>
      </p:sp>
      <p:sp>
        <p:nvSpPr>
          <p:cNvPr id="3" name="TextBox 2"/>
          <p:cNvSpPr txBox="1"/>
          <p:nvPr/>
        </p:nvSpPr>
        <p:spPr>
          <a:xfrm>
            <a:off x="502920" y="932688"/>
            <a:ext cx="11201400" cy="475488"/>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Elastic и OpenSearch — тоже полноценные векторные хранилища</a:t>
            </a:r>
            <a:r>
              <a:rPr sz="1250" b="0" i="0">
                <a:solidFill>
                  <a:srgbClr val="21295C"/>
                </a:solidFill>
                <a:latin typeface="Arial"/>
              </a:rPr>
              <a:t> (dense_vector + HNSW / k-NN плагин): их честнее ставить под осью </a:t>
            </a:r>
            <a:r>
              <a:rPr sz="1250" b="1" i="0">
                <a:solidFill>
                  <a:srgbClr val="028090"/>
                </a:solidFill>
                <a:latin typeface="Arial"/>
              </a:rPr>
              <a:t>«поисковый движок, который умеет вектора»</a:t>
            </a:r>
            <a:r>
              <a:rPr sz="1250" b="0" i="0">
                <a:solidFill>
                  <a:srgbClr val="21295C"/>
                </a:solidFill>
                <a:latin typeface="Arial"/>
              </a:rPr>
              <a:t> vs vector-native (Qdrant / Milvus / Weaviate). Обе — векторные БД; различает происхождение. Потолки движутся — сверять в день лекции.</a:t>
            </a:r>
          </a:p>
        </p:txBody>
      </p:sp>
      <p:sp>
        <p:nvSpPr>
          <p:cNvPr id="4" name="Rounded Rectangle 3"/>
          <p:cNvSpPr/>
          <p:nvPr/>
        </p:nvSpPr>
        <p:spPr>
          <a:xfrm>
            <a:off x="502920" y="1645920"/>
            <a:ext cx="11201400"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09928"/>
            <a:ext cx="233172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Движок</a:t>
            </a:r>
          </a:p>
        </p:txBody>
      </p:sp>
      <p:sp>
        <p:nvSpPr>
          <p:cNvPr id="6" name="TextBox 5"/>
          <p:cNvSpPr txBox="1"/>
          <p:nvPr/>
        </p:nvSpPr>
        <p:spPr>
          <a:xfrm>
            <a:off x="3200400" y="1709928"/>
            <a:ext cx="5394959"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Брать когда</a:t>
            </a:r>
          </a:p>
        </p:txBody>
      </p:sp>
      <p:sp>
        <p:nvSpPr>
          <p:cNvPr id="7" name="TextBox 6"/>
          <p:cNvSpPr txBox="1"/>
          <p:nvPr/>
        </p:nvSpPr>
        <p:spPr>
          <a:xfrm>
            <a:off x="8778240" y="1709928"/>
            <a:ext cx="2834640" cy="256032"/>
          </a:xfrm>
          <a:prstGeom prst="rect">
            <a:avLst/>
          </a:prstGeom>
          <a:noFill/>
        </p:spPr>
        <p:txBody>
          <a:bodyPr wrap="square" lIns="0" rIns="0" tIns="0" bIns="0" anchor="t">
            <a:spAutoFit/>
          </a:bodyPr>
          <a:lstStyle/>
          <a:p>
            <a:pPr algn="l">
              <a:lnSpc>
                <a:spcPct val="115000"/>
              </a:lnSpc>
            </a:pPr>
            <a:r>
              <a:rPr sz="1200" b="1" i="0">
                <a:solidFill>
                  <a:srgbClr val="FFFFFF"/>
                </a:solidFill>
                <a:latin typeface="Arial"/>
              </a:rPr>
              <a:t>Ориентир потолка</a:t>
            </a:r>
          </a:p>
        </p:txBody>
      </p:sp>
      <p:sp>
        <p:nvSpPr>
          <p:cNvPr id="8" name="Rectangle 7"/>
          <p:cNvSpPr/>
          <p:nvPr/>
        </p:nvSpPr>
        <p:spPr>
          <a:xfrm>
            <a:off x="502920" y="2011680"/>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 y="2157984"/>
            <a:ext cx="384048" cy="274320"/>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atabase-white.png"/>
          <p:cNvPicPr>
            <a:picLocks noChangeAspect="1"/>
          </p:cNvPicPr>
          <p:nvPr/>
        </p:nvPicPr>
        <p:blipFill>
          <a:blip r:embed="rId2"/>
          <a:stretch>
            <a:fillRect/>
          </a:stretch>
        </p:blipFill>
        <p:spPr>
          <a:xfrm>
            <a:off x="685800" y="2157984"/>
            <a:ext cx="274320" cy="274320"/>
          </a:xfrm>
          <a:prstGeom prst="rect">
            <a:avLst/>
          </a:prstGeom>
        </p:spPr>
      </p:pic>
      <p:sp>
        <p:nvSpPr>
          <p:cNvPr id="11" name="TextBox 10"/>
          <p:cNvSpPr txBox="1"/>
          <p:nvPr/>
        </p:nvSpPr>
        <p:spPr>
          <a:xfrm>
            <a:off x="1124712" y="210312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pgvector</a:t>
            </a:r>
          </a:p>
        </p:txBody>
      </p:sp>
      <p:sp>
        <p:nvSpPr>
          <p:cNvPr id="12" name="TextBox 11"/>
          <p:cNvSpPr txBox="1"/>
          <p:nvPr/>
        </p:nvSpPr>
        <p:spPr>
          <a:xfrm>
            <a:off x="3200400" y="208483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у вас уже есть Postgres, нужна одна система и транзакции</a:t>
            </a:r>
          </a:p>
        </p:txBody>
      </p:sp>
      <p:sp>
        <p:nvSpPr>
          <p:cNvPr id="13" name="TextBox 12"/>
          <p:cNvSpPr txBox="1"/>
          <p:nvPr/>
        </p:nvSpPr>
        <p:spPr>
          <a:xfrm>
            <a:off x="8778240" y="208483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~50M векторов; за ~50–100M деградирует</a:t>
            </a:r>
            <a:r>
              <a:rPr sz="572" baseline="30000" b="0" i="1">
                <a:latin typeface="Arial"/>
                <a:cs typeface="Arial"/>
                <a:ea typeface="Arial"/>
                <a:solidFill>
                  <a:srgbClr val="1C7293"/>
                </a:solidFill>
              </a:rPr>
              <a:t>[1]</a:t>
            </a:r>
          </a:p>
        </p:txBody>
      </p:sp>
      <p:sp>
        <p:nvSpPr>
          <p:cNvPr id="14" name="Rectangle 13"/>
          <p:cNvSpPr/>
          <p:nvPr/>
        </p:nvSpPr>
        <p:spPr>
          <a:xfrm>
            <a:off x="502920" y="2578608"/>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936" y="2724912"/>
            <a:ext cx="384048" cy="274320"/>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white.png"/>
          <p:cNvPicPr>
            <a:picLocks noChangeAspect="1"/>
          </p:cNvPicPr>
          <p:nvPr/>
        </p:nvPicPr>
        <p:blipFill>
          <a:blip r:embed="rId3"/>
          <a:stretch>
            <a:fillRect/>
          </a:stretch>
        </p:blipFill>
        <p:spPr>
          <a:xfrm>
            <a:off x="685800" y="2724912"/>
            <a:ext cx="274320" cy="274320"/>
          </a:xfrm>
          <a:prstGeom prst="rect">
            <a:avLst/>
          </a:prstGeom>
        </p:spPr>
      </p:pic>
      <p:sp>
        <p:nvSpPr>
          <p:cNvPr id="17" name="TextBox 16"/>
          <p:cNvSpPr txBox="1"/>
          <p:nvPr/>
        </p:nvSpPr>
        <p:spPr>
          <a:xfrm>
            <a:off x="1124712" y="2670048"/>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Elastic / OpenSearch</a:t>
            </a:r>
          </a:p>
        </p:txBody>
      </p:sp>
      <p:sp>
        <p:nvSpPr>
          <p:cNvPr id="18" name="TextBox 17"/>
          <p:cNvSpPr txBox="1"/>
          <p:nvPr/>
        </p:nvSpPr>
        <p:spPr>
          <a:xfrm>
            <a:off x="3200400" y="2651760"/>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search-engine-first: уже эксплуатируете кластер, нужен нативный BM25+kNN гибрид</a:t>
            </a:r>
          </a:p>
        </p:txBody>
      </p:sp>
      <p:sp>
        <p:nvSpPr>
          <p:cNvPr id="19" name="TextBox 18"/>
          <p:cNvSpPr txBox="1"/>
          <p:nvPr/>
        </p:nvSpPr>
        <p:spPr>
          <a:xfrm>
            <a:off x="8778240" y="2651760"/>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млн–десятки млн; ELSER без GPU</a:t>
            </a:r>
          </a:p>
        </p:txBody>
      </p:sp>
      <p:sp>
        <p:nvSpPr>
          <p:cNvPr id="20" name="Rectangle 19"/>
          <p:cNvSpPr/>
          <p:nvPr/>
        </p:nvSpPr>
        <p:spPr>
          <a:xfrm>
            <a:off x="502920" y="3145536"/>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936" y="3291840"/>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oxes-white.png"/>
          <p:cNvPicPr>
            <a:picLocks noChangeAspect="1"/>
          </p:cNvPicPr>
          <p:nvPr/>
        </p:nvPicPr>
        <p:blipFill>
          <a:blip r:embed="rId4"/>
          <a:stretch>
            <a:fillRect/>
          </a:stretch>
        </p:blipFill>
        <p:spPr>
          <a:xfrm>
            <a:off x="685800" y="3291840"/>
            <a:ext cx="274320" cy="274320"/>
          </a:xfrm>
          <a:prstGeom prst="rect">
            <a:avLst/>
          </a:prstGeom>
        </p:spPr>
      </p:pic>
      <p:sp>
        <p:nvSpPr>
          <p:cNvPr id="23" name="TextBox 22"/>
          <p:cNvSpPr txBox="1"/>
          <p:nvPr/>
        </p:nvSpPr>
        <p:spPr>
          <a:xfrm>
            <a:off x="1124712" y="3236976"/>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Qdrant</a:t>
            </a:r>
          </a:p>
        </p:txBody>
      </p:sp>
      <p:sp>
        <p:nvSpPr>
          <p:cNvPr id="24" name="TextBox 23"/>
          <p:cNvSpPr txBox="1"/>
          <p:nvPr/>
        </p:nvSpPr>
        <p:spPr>
          <a:xfrm>
            <a:off x="3200400" y="3218688"/>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без большой платформы, sparse + multi-vector</a:t>
            </a:r>
          </a:p>
        </p:txBody>
      </p:sp>
      <p:sp>
        <p:nvSpPr>
          <p:cNvPr id="25" name="TextBox 24"/>
          <p:cNvSpPr txBox="1"/>
          <p:nvPr/>
        </p:nvSpPr>
        <p:spPr>
          <a:xfrm>
            <a:off x="8778240" y="3218688"/>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крупный узел + кластер</a:t>
            </a:r>
          </a:p>
        </p:txBody>
      </p:sp>
      <p:sp>
        <p:nvSpPr>
          <p:cNvPr id="26" name="Rectangle 25"/>
          <p:cNvSpPr/>
          <p:nvPr/>
        </p:nvSpPr>
        <p:spPr>
          <a:xfrm>
            <a:off x="502920" y="3712464"/>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0936" y="3858768"/>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layers-white.png"/>
          <p:cNvPicPr>
            <a:picLocks noChangeAspect="1"/>
          </p:cNvPicPr>
          <p:nvPr/>
        </p:nvPicPr>
        <p:blipFill>
          <a:blip r:embed="rId5"/>
          <a:stretch>
            <a:fillRect/>
          </a:stretch>
        </p:blipFill>
        <p:spPr>
          <a:xfrm>
            <a:off x="685800" y="3858768"/>
            <a:ext cx="274320" cy="274320"/>
          </a:xfrm>
          <a:prstGeom prst="rect">
            <a:avLst/>
          </a:prstGeom>
        </p:spPr>
      </p:pic>
      <p:sp>
        <p:nvSpPr>
          <p:cNvPr id="29" name="TextBox 28"/>
          <p:cNvSpPr txBox="1"/>
          <p:nvPr/>
        </p:nvSpPr>
        <p:spPr>
          <a:xfrm>
            <a:off x="1124712" y="3803904"/>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Weaviate</a:t>
            </a:r>
          </a:p>
        </p:txBody>
      </p:sp>
      <p:sp>
        <p:nvSpPr>
          <p:cNvPr id="30" name="TextBox 29"/>
          <p:cNvSpPr txBox="1"/>
          <p:nvPr/>
        </p:nvSpPr>
        <p:spPr>
          <a:xfrm>
            <a:off x="3200400" y="3785616"/>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со встроенным гибридом (vector+BM25+фильтры)</a:t>
            </a:r>
          </a:p>
        </p:txBody>
      </p:sp>
      <p:sp>
        <p:nvSpPr>
          <p:cNvPr id="31" name="TextBox 30"/>
          <p:cNvSpPr txBox="1"/>
          <p:nvPr/>
        </p:nvSpPr>
        <p:spPr>
          <a:xfrm>
            <a:off x="8778240" y="3785616"/>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средне-крупный</a:t>
            </a:r>
          </a:p>
        </p:txBody>
      </p:sp>
      <p:sp>
        <p:nvSpPr>
          <p:cNvPr id="32" name="Rectangle 31"/>
          <p:cNvSpPr/>
          <p:nvPr/>
        </p:nvSpPr>
        <p:spPr>
          <a:xfrm>
            <a:off x="502920" y="4279392"/>
            <a:ext cx="11201400" cy="566928"/>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0936" y="4425696"/>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ackage-white.png"/>
          <p:cNvPicPr>
            <a:picLocks noChangeAspect="1"/>
          </p:cNvPicPr>
          <p:nvPr/>
        </p:nvPicPr>
        <p:blipFill>
          <a:blip r:embed="rId6"/>
          <a:stretch>
            <a:fillRect/>
          </a:stretch>
        </p:blipFill>
        <p:spPr>
          <a:xfrm>
            <a:off x="685800" y="4425696"/>
            <a:ext cx="274320" cy="274320"/>
          </a:xfrm>
          <a:prstGeom prst="rect">
            <a:avLst/>
          </a:prstGeom>
        </p:spPr>
      </p:pic>
      <p:sp>
        <p:nvSpPr>
          <p:cNvPr id="35" name="TextBox 34"/>
          <p:cNvSpPr txBox="1"/>
          <p:nvPr/>
        </p:nvSpPr>
        <p:spPr>
          <a:xfrm>
            <a:off x="1124712" y="4370832"/>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Milvus</a:t>
            </a:r>
          </a:p>
        </p:txBody>
      </p:sp>
      <p:sp>
        <p:nvSpPr>
          <p:cNvPr id="36" name="TextBox 35"/>
          <p:cNvSpPr txBox="1"/>
          <p:nvPr/>
        </p:nvSpPr>
        <p:spPr>
          <a:xfrm>
            <a:off x="3200400" y="4352544"/>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vector-native: 100M+ / миллиарды, тяжёлое горизонтальное масштабирование</a:t>
            </a:r>
          </a:p>
        </p:txBody>
      </p:sp>
      <p:sp>
        <p:nvSpPr>
          <p:cNvPr id="37" name="TextBox 36"/>
          <p:cNvSpPr txBox="1"/>
          <p:nvPr/>
        </p:nvSpPr>
        <p:spPr>
          <a:xfrm>
            <a:off x="8778240" y="4352544"/>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миллиарды (нужна эксплуатация)</a:t>
            </a:r>
            <a:r>
              <a:rPr sz="572" baseline="30000" b="0" i="1">
                <a:latin typeface="Arial"/>
                <a:cs typeface="Arial"/>
                <a:ea typeface="Arial"/>
                <a:solidFill>
                  <a:srgbClr val="1C7293"/>
                </a:solidFill>
              </a:rPr>
              <a:t>[2]</a:t>
            </a:r>
          </a:p>
        </p:txBody>
      </p:sp>
      <p:sp>
        <p:nvSpPr>
          <p:cNvPr id="38" name="Rectangle 37"/>
          <p:cNvSpPr/>
          <p:nvPr/>
        </p:nvSpPr>
        <p:spPr>
          <a:xfrm>
            <a:off x="502920" y="4846320"/>
            <a:ext cx="11201400" cy="566928"/>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30936" y="4992624"/>
            <a:ext cx="384048" cy="274320"/>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git-branch-white.png"/>
          <p:cNvPicPr>
            <a:picLocks noChangeAspect="1"/>
          </p:cNvPicPr>
          <p:nvPr/>
        </p:nvPicPr>
        <p:blipFill>
          <a:blip r:embed="rId7"/>
          <a:stretch>
            <a:fillRect/>
          </a:stretch>
        </p:blipFill>
        <p:spPr>
          <a:xfrm>
            <a:off x="685800" y="4992624"/>
            <a:ext cx="274320" cy="274320"/>
          </a:xfrm>
          <a:prstGeom prst="rect">
            <a:avLst/>
          </a:prstGeom>
        </p:spPr>
      </p:pic>
      <p:sp>
        <p:nvSpPr>
          <p:cNvPr id="41" name="TextBox 40"/>
          <p:cNvSpPr txBox="1"/>
          <p:nvPr/>
        </p:nvSpPr>
        <p:spPr>
          <a:xfrm>
            <a:off x="1124712" y="4937760"/>
            <a:ext cx="1947672" cy="420623"/>
          </a:xfrm>
          <a:prstGeom prst="rect">
            <a:avLst/>
          </a:prstGeom>
          <a:noFill/>
        </p:spPr>
        <p:txBody>
          <a:bodyPr wrap="square" lIns="0" rIns="0" tIns="0" bIns="0" anchor="ctr">
            <a:spAutoFit/>
          </a:bodyPr>
          <a:lstStyle/>
          <a:p>
            <a:pPr algn="l">
              <a:lnSpc>
                <a:spcPct val="102000"/>
              </a:lnSpc>
            </a:pPr>
            <a:r>
              <a:rPr sz="1300" b="1" i="0">
                <a:solidFill>
                  <a:srgbClr val="21295C"/>
                </a:solidFill>
                <a:latin typeface="Arial"/>
              </a:rPr>
              <a:t>FAISS · Chroma · LanceDB</a:t>
            </a:r>
          </a:p>
        </p:txBody>
      </p:sp>
      <p:sp>
        <p:nvSpPr>
          <p:cNvPr id="42" name="TextBox 41"/>
          <p:cNvSpPr txBox="1"/>
          <p:nvPr/>
        </p:nvSpPr>
        <p:spPr>
          <a:xfrm>
            <a:off x="3200400" y="4919472"/>
            <a:ext cx="5358383" cy="43891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FAISS — библиотека (persistence на вас); Chroma/LanceDB — прототип/edge</a:t>
            </a:r>
          </a:p>
        </p:txBody>
      </p:sp>
      <p:sp>
        <p:nvSpPr>
          <p:cNvPr id="43" name="TextBox 42"/>
          <p:cNvSpPr txBox="1"/>
          <p:nvPr/>
        </p:nvSpPr>
        <p:spPr>
          <a:xfrm>
            <a:off x="8778240" y="4919472"/>
            <a:ext cx="2798064" cy="438912"/>
          </a:xfrm>
          <a:prstGeom prst="rect">
            <a:avLst/>
          </a:prstGeom>
          <a:noFill/>
        </p:spPr>
        <p:txBody>
          <a:bodyPr wrap="square" lIns="0" rIns="0" tIns="0" bIns="0" anchor="ctr">
            <a:spAutoFit/>
          </a:bodyPr>
          <a:lstStyle/>
          <a:p>
            <a:pPr algn="l">
              <a:lnSpc>
                <a:spcPct val="106000"/>
              </a:lnSpc>
            </a:pPr>
            <a:r>
              <a:rPr sz="1100" b="0" i="1">
                <a:solidFill>
                  <a:srgbClr val="5B6678"/>
                </a:solidFill>
                <a:latin typeface="Arial"/>
              </a:rPr>
              <a:t>от прототипа до embedded</a:t>
            </a:r>
          </a:p>
        </p:txBody>
      </p:sp>
      <p:sp>
        <p:nvSpPr>
          <p:cNvPr id="44" name="Rounded Rectangle 43"/>
          <p:cNvSpPr/>
          <p:nvPr/>
        </p:nvSpPr>
        <p:spPr>
          <a:xfrm>
            <a:off x="502920" y="5522976"/>
            <a:ext cx="5490972" cy="78638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605272"/>
            <a:ext cx="5088636" cy="256032"/>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Обвязки дополняют, не конкурируют</a:t>
            </a:r>
          </a:p>
        </p:txBody>
      </p:sp>
      <p:sp>
        <p:nvSpPr>
          <p:cNvPr id="46" name="TextBox 45"/>
          <p:cNvSpPr txBox="1"/>
          <p:nvPr/>
        </p:nvSpPr>
        <p:spPr>
          <a:xfrm>
            <a:off x="704088" y="5870448"/>
            <a:ext cx="5088636" cy="420624"/>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LlamaIndex — ingestion + retrieval по грязным документам; LangGraph — оркестрация (checkpointing, human-in-the-loop).</a:t>
            </a:r>
          </a:p>
        </p:txBody>
      </p:sp>
      <p:sp>
        <p:nvSpPr>
          <p:cNvPr id="47" name="Rounded Rectangle 46"/>
          <p:cNvSpPr/>
          <p:nvPr/>
        </p:nvSpPr>
        <p:spPr>
          <a:xfrm>
            <a:off x="6213348" y="5522976"/>
            <a:ext cx="5490972"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4516" y="5577840"/>
            <a:ext cx="5088636" cy="676656"/>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Для простого RAG-эндпоинта (retrieve → generate) фреймворк не нужен: несколько сотен строк своей склейки против частой смены версий. Обвязку добавляют под агентную сложность, а не по умолчанию.</a:t>
            </a:r>
          </a:p>
        </p:txBody>
      </p:sp>
      <p:sp>
        <p:nvSpPr>
          <p:cNvPr id="49" name="TextBox 4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firecrawl — Best Vector Databases 2026 (потолки движков)</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0"/>
              </a:rPr>
              <a:t>TigerData — pgvector vs Qdrant (вендор-бенчмарк, читать скептически)</a:t>
            </a:r>
          </a:p>
        </p:txBody>
      </p:sp>
      <p:sp>
        <p:nvSpPr>
          <p:cNvPr id="50" name="TextBox 4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Когда выделенная векторная БД реально нужна.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00" b="0" i="1">
                <a:solidFill>
                  <a:srgbClr val="065A82"/>
                </a:solidFill>
                <a:latin typeface="Arial"/>
              </a:rPr>
              <a:t>Раз Elastic/OpenSearch уже в ландшафте, решение сдвигается: не «какую вектор-БД», а «нужна ли выделенная вообще». Три яруса — снизу вверх, вверх поднимаемся только под требование.</a:t>
            </a:r>
          </a:p>
        </p:txBody>
      </p:sp>
      <p:sp>
        <p:nvSpPr>
          <p:cNvPr id="4" name="Rounded Rectangle 3"/>
          <p:cNvSpPr/>
          <p:nvPr/>
        </p:nvSpPr>
        <p:spPr>
          <a:xfrm>
            <a:off x="502920" y="1627632"/>
            <a:ext cx="4846320" cy="3364992"/>
          </a:xfrm>
          <a:prstGeom prst="roundRect">
            <a:avLst>
              <a:gd name="adj" fmla="val 905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elastic-cat-ru.png"/>
          <p:cNvPicPr>
            <a:picLocks noChangeAspect="1"/>
          </p:cNvPicPr>
          <p:nvPr/>
        </p:nvPicPr>
        <p:blipFill>
          <a:blip r:embed="rId2"/>
          <a:stretch>
            <a:fillRect/>
          </a:stretch>
        </p:blipFill>
        <p:spPr>
          <a:xfrm>
            <a:off x="704088" y="1878903"/>
            <a:ext cx="4443983" cy="2862448"/>
          </a:xfrm>
          <a:prstGeom prst="rect">
            <a:avLst/>
          </a:prstGeom>
        </p:spPr>
      </p:pic>
      <p:sp>
        <p:nvSpPr>
          <p:cNvPr id="6" name="Rounded Rectangle 5"/>
          <p:cNvSpPr/>
          <p:nvPr/>
        </p:nvSpPr>
        <p:spPr>
          <a:xfrm>
            <a:off x="5669280" y="1627632"/>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870448" y="1938528"/>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70448" y="1938528"/>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9" name="TextBox 8"/>
          <p:cNvSpPr txBox="1"/>
          <p:nvPr/>
        </p:nvSpPr>
        <p:spPr>
          <a:xfrm>
            <a:off x="6419088" y="1746504"/>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BM25 хватает</a:t>
            </a:r>
          </a:p>
        </p:txBody>
      </p:sp>
      <p:sp>
        <p:nvSpPr>
          <p:cNvPr id="10" name="TextBox 9"/>
          <p:cNvSpPr txBox="1"/>
          <p:nvPr/>
        </p:nvSpPr>
        <p:spPr>
          <a:xfrm>
            <a:off x="6419088" y="2066543"/>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общий словарь, код/логи/ID, курированные базы; переиндексация дёшева и наблюдаема</a:t>
            </a:r>
          </a:p>
        </p:txBody>
      </p:sp>
      <p:sp>
        <p:nvSpPr>
          <p:cNvPr id="11" name="Rounded Rectangle 10"/>
          <p:cNvSpPr/>
          <p:nvPr/>
        </p:nvSpPr>
        <p:spPr>
          <a:xfrm>
            <a:off x="5669280" y="2779776"/>
            <a:ext cx="6035040" cy="104241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870448" y="3090672"/>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3090672"/>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4" name="TextBox 13"/>
          <p:cNvSpPr txBox="1"/>
          <p:nvPr/>
        </p:nvSpPr>
        <p:spPr>
          <a:xfrm>
            <a:off x="6419088" y="2898648"/>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Встроенный гибрид Elastic/OpenSearch хватает</a:t>
            </a:r>
          </a:p>
        </p:txBody>
      </p:sp>
      <p:sp>
        <p:nvSpPr>
          <p:cNvPr id="15" name="TextBox 14"/>
          <p:cNvSpPr txBox="1"/>
          <p:nvPr/>
        </p:nvSpPr>
        <p:spPr>
          <a:xfrm>
            <a:off x="6419088" y="3218688"/>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уже эксплуатируете один, масштаб млн–десятки млн; ELSER даёт смысл без GPU-сервиса эмбеддингов</a:t>
            </a:r>
            <a:r>
              <a:rPr sz="598" baseline="30000" b="0" i="1">
                <a:latin typeface="Arial"/>
                <a:cs typeface="Arial"/>
                <a:ea typeface="Arial"/>
                <a:solidFill>
                  <a:srgbClr val="1C7293"/>
                </a:solidFill>
              </a:rPr>
              <a:t>[2]</a:t>
            </a:r>
          </a:p>
        </p:txBody>
      </p:sp>
      <p:sp>
        <p:nvSpPr>
          <p:cNvPr id="16" name="Rounded Rectangle 15"/>
          <p:cNvSpPr/>
          <p:nvPr/>
        </p:nvSpPr>
        <p:spPr>
          <a:xfrm>
            <a:off x="5669280" y="3931920"/>
            <a:ext cx="6035040" cy="1042415"/>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870448" y="4242816"/>
            <a:ext cx="420624" cy="420624"/>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0448" y="424281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9" name="TextBox 18"/>
          <p:cNvSpPr txBox="1"/>
          <p:nvPr/>
        </p:nvSpPr>
        <p:spPr>
          <a:xfrm>
            <a:off x="6419088" y="4050791"/>
            <a:ext cx="5102352"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Выделенная векторная БД нужна</a:t>
            </a:r>
          </a:p>
        </p:txBody>
      </p:sp>
      <p:sp>
        <p:nvSpPr>
          <p:cNvPr id="20" name="TextBox 19"/>
          <p:cNvSpPr txBox="1"/>
          <p:nvPr/>
        </p:nvSpPr>
        <p:spPr>
          <a:xfrm>
            <a:off x="6419088" y="4370831"/>
            <a:ext cx="5102352" cy="530351"/>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100M+ / multi-vector / latency-SLA горячего пути / развязать эксплуатацию от кластера логов</a:t>
            </a:r>
          </a:p>
        </p:txBody>
      </p:sp>
      <p:sp>
        <p:nvSpPr>
          <p:cNvPr id="21" name="Rounded Rectangle 20"/>
          <p:cNvSpPr/>
          <p:nvPr/>
        </p:nvSpPr>
        <p:spPr>
          <a:xfrm>
            <a:off x="502920" y="523036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285231"/>
            <a:ext cx="10799064" cy="73152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Огромная доля RAG-систем никогда не превышает несколько миллионов чанков — на этом масштабе pgvector или гибрид Elastic/OpenSearch скучный правильный ответ</a:t>
            </a:r>
            <a:r>
              <a:rPr sz="676" baseline="30000" b="0" i="1">
                <a:latin typeface="Arial"/>
                <a:cs typeface="Arial"/>
                <a:ea typeface="Arial"/>
                <a:solidFill>
                  <a:srgbClr val="1C7293"/>
                </a:solidFill>
              </a:rPr>
              <a:t>[1]</a:t>
            </a:r>
            <a:r>
              <a:rPr sz="1300" b="1" i="0">
                <a:latin typeface="Arial"/>
                <a:cs typeface="Arial"/>
                <a:ea typeface="Arial"/>
                <a:solidFill>
                  <a:srgbClr val="21295C"/>
                </a:solidFill>
              </a:rPr>
              <a:t>, а выделенная векторная БД часто преждевременная оптимизация.</a:t>
            </a:r>
          </a:p>
        </p:txBody>
      </p:sp>
      <p:sp>
        <p:nvSpPr>
          <p:cNvPr id="23" name="TextBox 2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Pureinsights — From Vector Hype to Hybrid Reality (нужна ли вектор-БД)</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bigdataboutique — Elastic/OpenSearch vector search (RRF-гибрид нативно)</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67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Чанкирование: как режешь — то и можно найти.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Из трёх шагов RAG чанкирование недооценивают чаще всего, а рычаг высокий. Стратегии — от простой к сложной; усложнять только под требование.</a:t>
            </a:r>
          </a:p>
        </p:txBody>
      </p:sp>
      <p:sp>
        <p:nvSpPr>
          <p:cNvPr id="4" name="Rounded Rectangle 3"/>
          <p:cNvSpPr/>
          <p:nvPr/>
        </p:nvSpPr>
        <p:spPr>
          <a:xfrm>
            <a:off x="502920"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ale-mid.png"/>
          <p:cNvPicPr>
            <a:picLocks noChangeAspect="1"/>
          </p:cNvPicPr>
          <p:nvPr/>
        </p:nvPicPr>
        <p:blipFill>
          <a:blip r:embed="rId2"/>
          <a:stretch>
            <a:fillRect/>
          </a:stretch>
        </p:blipFill>
        <p:spPr>
          <a:xfrm>
            <a:off x="685800" y="1719072"/>
            <a:ext cx="347472" cy="347472"/>
          </a:xfrm>
          <a:prstGeom prst="rect">
            <a:avLst/>
          </a:prstGeom>
        </p:spPr>
      </p:pic>
      <p:sp>
        <p:nvSpPr>
          <p:cNvPr id="6" name="TextBox 5"/>
          <p:cNvSpPr txBox="1"/>
          <p:nvPr/>
        </p:nvSpPr>
        <p:spPr>
          <a:xfrm>
            <a:off x="1143000" y="170078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Fixed-size</a:t>
            </a:r>
          </a:p>
        </p:txBody>
      </p:sp>
      <p:sp>
        <p:nvSpPr>
          <p:cNvPr id="7" name="TextBox 6"/>
          <p:cNvSpPr txBox="1"/>
          <p:nvPr/>
        </p:nvSpPr>
        <p:spPr>
          <a:xfrm>
            <a:off x="704088"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резать каждые N токенов — грубо, но сильная базовая линия</a:t>
            </a:r>
          </a:p>
        </p:txBody>
      </p:sp>
      <p:sp>
        <p:nvSpPr>
          <p:cNvPr id="8" name="Rounded Rectangle 7"/>
          <p:cNvSpPr/>
          <p:nvPr/>
        </p:nvSpPr>
        <p:spPr>
          <a:xfrm>
            <a:off x="4303776"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486656" y="1719072"/>
            <a:ext cx="347472" cy="347472"/>
          </a:xfrm>
          <a:prstGeom prst="rect">
            <a:avLst/>
          </a:prstGeom>
        </p:spPr>
      </p:pic>
      <p:sp>
        <p:nvSpPr>
          <p:cNvPr id="10" name="TextBox 9"/>
          <p:cNvSpPr txBox="1"/>
          <p:nvPr/>
        </p:nvSpPr>
        <p:spPr>
          <a:xfrm>
            <a:off x="4943856" y="1700784"/>
            <a:ext cx="2813304" cy="384048"/>
          </a:xfrm>
          <a:prstGeom prst="rect">
            <a:avLst/>
          </a:prstGeom>
          <a:noFill/>
        </p:spPr>
        <p:txBody>
          <a:bodyPr wrap="square" lIns="0" rIns="0" tIns="0" bIns="0" anchor="ctr">
            <a:spAutoFit/>
          </a:bodyPr>
          <a:lstStyle/>
          <a:p>
            <a:pPr algn="l">
              <a:lnSpc>
                <a:spcPct val="100000"/>
              </a:lnSpc>
            </a:pPr>
            <a:r>
              <a:rPr sz="1350" b="1" i="0">
                <a:solidFill>
                  <a:srgbClr val="028090"/>
                </a:solidFill>
                <a:latin typeface="Arial"/>
              </a:rPr>
              <a:t>Recursive / character</a:t>
            </a:r>
          </a:p>
        </p:txBody>
      </p:sp>
      <p:sp>
        <p:nvSpPr>
          <p:cNvPr id="11" name="TextBox 10"/>
          <p:cNvSpPr txBox="1"/>
          <p:nvPr/>
        </p:nvSpPr>
        <p:spPr>
          <a:xfrm>
            <a:off x="4504944"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по иерархии разделителей (абзац→предложение) — прагматичный дефолт</a:t>
            </a:r>
            <a:r>
              <a:rPr sz="572" baseline="30000" b="0" i="1">
                <a:latin typeface="Arial"/>
                <a:cs typeface="Arial"/>
                <a:ea typeface="Arial"/>
                <a:solidFill>
                  <a:srgbClr val="1C7293"/>
                </a:solidFill>
              </a:rPr>
              <a:t>[1]</a:t>
            </a:r>
          </a:p>
        </p:txBody>
      </p:sp>
      <p:sp>
        <p:nvSpPr>
          <p:cNvPr id="12" name="Rounded Rectangle 11"/>
          <p:cNvSpPr/>
          <p:nvPr/>
        </p:nvSpPr>
        <p:spPr>
          <a:xfrm>
            <a:off x="8104632" y="155448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yers-mid.png"/>
          <p:cNvPicPr>
            <a:picLocks noChangeAspect="1"/>
          </p:cNvPicPr>
          <p:nvPr/>
        </p:nvPicPr>
        <p:blipFill>
          <a:blip r:embed="rId4"/>
          <a:stretch>
            <a:fillRect/>
          </a:stretch>
        </p:blipFill>
        <p:spPr>
          <a:xfrm>
            <a:off x="8287512" y="1719072"/>
            <a:ext cx="347472" cy="347472"/>
          </a:xfrm>
          <a:prstGeom prst="rect">
            <a:avLst/>
          </a:prstGeom>
        </p:spPr>
      </p:pic>
      <p:sp>
        <p:nvSpPr>
          <p:cNvPr id="14" name="TextBox 13"/>
          <p:cNvSpPr txBox="1"/>
          <p:nvPr/>
        </p:nvSpPr>
        <p:spPr>
          <a:xfrm>
            <a:off x="8744712" y="170078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Sentence-window</a:t>
            </a:r>
          </a:p>
        </p:txBody>
      </p:sp>
      <p:sp>
        <p:nvSpPr>
          <p:cNvPr id="15" name="TextBox 14"/>
          <p:cNvSpPr txBox="1"/>
          <p:nvPr/>
        </p:nvSpPr>
        <p:spPr>
          <a:xfrm>
            <a:off x="8305800" y="215798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предложение, возвращать окно соседних для контекста</a:t>
            </a:r>
          </a:p>
        </p:txBody>
      </p:sp>
      <p:sp>
        <p:nvSpPr>
          <p:cNvPr id="16" name="Rounded Rectangle 15"/>
          <p:cNvSpPr/>
          <p:nvPr/>
        </p:nvSpPr>
        <p:spPr>
          <a:xfrm>
            <a:off x="502920"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it-merge-mid.png"/>
          <p:cNvPicPr>
            <a:picLocks noChangeAspect="1"/>
          </p:cNvPicPr>
          <p:nvPr/>
        </p:nvPicPr>
        <p:blipFill>
          <a:blip r:embed="rId5"/>
          <a:stretch>
            <a:fillRect/>
          </a:stretch>
        </p:blipFill>
        <p:spPr>
          <a:xfrm>
            <a:off x="685800" y="3182112"/>
            <a:ext cx="347472" cy="347472"/>
          </a:xfrm>
          <a:prstGeom prst="rect">
            <a:avLst/>
          </a:prstGeom>
        </p:spPr>
      </p:pic>
      <p:sp>
        <p:nvSpPr>
          <p:cNvPr id="18" name="TextBox 17"/>
          <p:cNvSpPr txBox="1"/>
          <p:nvPr/>
        </p:nvSpPr>
        <p:spPr>
          <a:xfrm>
            <a:off x="1143000"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Semantic</a:t>
            </a:r>
          </a:p>
        </p:txBody>
      </p:sp>
      <p:sp>
        <p:nvSpPr>
          <p:cNvPr id="19" name="TextBox 18"/>
          <p:cNvSpPr txBox="1"/>
          <p:nvPr/>
        </p:nvSpPr>
        <p:spPr>
          <a:xfrm>
            <a:off x="704088"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граница по смене темы — интуитивно, но часто не окупается</a:t>
            </a:r>
          </a:p>
        </p:txBody>
      </p:sp>
      <p:sp>
        <p:nvSpPr>
          <p:cNvPr id="20" name="Rounded Rectangle 19"/>
          <p:cNvSpPr/>
          <p:nvPr/>
        </p:nvSpPr>
        <p:spPr>
          <a:xfrm>
            <a:off x="4303776"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xes-mid.png"/>
          <p:cNvPicPr>
            <a:picLocks noChangeAspect="1"/>
          </p:cNvPicPr>
          <p:nvPr/>
        </p:nvPicPr>
        <p:blipFill>
          <a:blip r:embed="rId6"/>
          <a:stretch>
            <a:fillRect/>
          </a:stretch>
        </p:blipFill>
        <p:spPr>
          <a:xfrm>
            <a:off x="4486656" y="3182112"/>
            <a:ext cx="347472" cy="347472"/>
          </a:xfrm>
          <a:prstGeom prst="rect">
            <a:avLst/>
          </a:prstGeom>
        </p:spPr>
      </p:pic>
      <p:sp>
        <p:nvSpPr>
          <p:cNvPr id="22" name="TextBox 21"/>
          <p:cNvSpPr txBox="1"/>
          <p:nvPr/>
        </p:nvSpPr>
        <p:spPr>
          <a:xfrm>
            <a:off x="4943856" y="3163824"/>
            <a:ext cx="2813304" cy="384048"/>
          </a:xfrm>
          <a:prstGeom prst="rect">
            <a:avLst/>
          </a:prstGeom>
          <a:noFill/>
        </p:spPr>
        <p:txBody>
          <a:bodyPr wrap="square" lIns="0" rIns="0" tIns="0" bIns="0" anchor="ctr">
            <a:spAutoFit/>
          </a:bodyPr>
          <a:lstStyle/>
          <a:p>
            <a:pPr algn="l">
              <a:lnSpc>
                <a:spcPct val="100000"/>
              </a:lnSpc>
            </a:pPr>
            <a:r>
              <a:rPr sz="1350" b="1" i="0">
                <a:solidFill>
                  <a:srgbClr val="065A82"/>
                </a:solidFill>
                <a:latin typeface="Arial"/>
              </a:rPr>
              <a:t>Parent-document</a:t>
            </a:r>
          </a:p>
        </p:txBody>
      </p:sp>
      <p:sp>
        <p:nvSpPr>
          <p:cNvPr id="23" name="TextBox 22"/>
          <p:cNvSpPr txBox="1"/>
          <p:nvPr/>
        </p:nvSpPr>
        <p:spPr>
          <a:xfrm>
            <a:off x="4504944"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маленькие чанки для точности, больший родитель — для генерации</a:t>
            </a:r>
          </a:p>
        </p:txBody>
      </p:sp>
      <p:sp>
        <p:nvSpPr>
          <p:cNvPr id="24" name="Rounded Rectangle 23"/>
          <p:cNvSpPr/>
          <p:nvPr/>
        </p:nvSpPr>
        <p:spPr>
          <a:xfrm>
            <a:off x="8104632" y="3017520"/>
            <a:ext cx="3599688"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rain-circuit-mid.png"/>
          <p:cNvPicPr>
            <a:picLocks noChangeAspect="1"/>
          </p:cNvPicPr>
          <p:nvPr/>
        </p:nvPicPr>
        <p:blipFill>
          <a:blip r:embed="rId7"/>
          <a:stretch>
            <a:fillRect/>
          </a:stretch>
        </p:blipFill>
        <p:spPr>
          <a:xfrm>
            <a:off x="8287512" y="3182112"/>
            <a:ext cx="347472" cy="347472"/>
          </a:xfrm>
          <a:prstGeom prst="rect">
            <a:avLst/>
          </a:prstGeom>
        </p:spPr>
      </p:pic>
      <p:sp>
        <p:nvSpPr>
          <p:cNvPr id="26" name="TextBox 25"/>
          <p:cNvSpPr txBox="1"/>
          <p:nvPr/>
        </p:nvSpPr>
        <p:spPr>
          <a:xfrm>
            <a:off x="8744712" y="3163824"/>
            <a:ext cx="2813304" cy="384048"/>
          </a:xfrm>
          <a:prstGeom prst="rect">
            <a:avLst/>
          </a:prstGeom>
          <a:noFill/>
        </p:spPr>
        <p:txBody>
          <a:bodyPr wrap="square" lIns="0" rIns="0" tIns="0" bIns="0" anchor="ctr">
            <a:spAutoFit/>
          </a:bodyPr>
          <a:lstStyle/>
          <a:p>
            <a:pPr algn="l">
              <a:lnSpc>
                <a:spcPct val="100000"/>
              </a:lnSpc>
            </a:pPr>
            <a:r>
              <a:rPr sz="1350" b="1" i="0">
                <a:solidFill>
                  <a:srgbClr val="1C7293"/>
                </a:solidFill>
                <a:latin typeface="Arial"/>
              </a:rPr>
              <a:t>Late chunking</a:t>
            </a:r>
          </a:p>
        </p:txBody>
      </p:sp>
      <p:sp>
        <p:nvSpPr>
          <p:cNvPr id="27" name="TextBox 26"/>
          <p:cNvSpPr txBox="1"/>
          <p:nvPr/>
        </p:nvSpPr>
        <p:spPr>
          <a:xfrm>
            <a:off x="8305800" y="3621024"/>
            <a:ext cx="3197352" cy="603503"/>
          </a:xfrm>
          <a:prstGeom prst="rect">
            <a:avLst/>
          </a:prstGeom>
          <a:noFill/>
        </p:spPr>
        <p:txBody>
          <a:bodyPr wrap="square" lIns="0" rIns="0" tIns="0" bIns="0" anchor="t">
            <a:spAutoFit/>
          </a:bodyPr>
          <a:lstStyle/>
          <a:p>
            <a:pPr algn="l">
              <a:lnSpc>
                <a:spcPct val="110000"/>
              </a:lnSpc>
            </a:pPr>
            <a:r>
              <a:rPr sz="1100" b="0" i="0">
                <a:solidFill>
                  <a:srgbClr val="21295C"/>
                </a:solidFill>
                <a:latin typeface="Arial"/>
              </a:rPr>
              <a:t>эмбеддить весь документ, потом пулить — чанк контекст-осведомлён</a:t>
            </a:r>
          </a:p>
        </p:txBody>
      </p:sp>
      <p:sp>
        <p:nvSpPr>
          <p:cNvPr id="28" name="Rounded Rectangle 27"/>
          <p:cNvSpPr/>
          <p:nvPr/>
        </p:nvSpPr>
        <p:spPr>
          <a:xfrm>
            <a:off x="502920" y="4480559"/>
            <a:ext cx="11201400" cy="841248"/>
          </a:xfrm>
          <a:prstGeom prst="roundRect">
            <a:avLst>
              <a:gd name="adj" fmla="val 8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ile-text-gold.png"/>
          <p:cNvPicPr>
            <a:picLocks noChangeAspect="1"/>
          </p:cNvPicPr>
          <p:nvPr/>
        </p:nvPicPr>
        <p:blipFill>
          <a:blip r:embed="rId8"/>
          <a:stretch>
            <a:fillRect/>
          </a:stretch>
        </p:blipFill>
        <p:spPr>
          <a:xfrm>
            <a:off x="713232" y="4700016"/>
            <a:ext cx="402336" cy="402336"/>
          </a:xfrm>
          <a:prstGeom prst="rect">
            <a:avLst/>
          </a:prstGeom>
        </p:spPr>
      </p:pic>
      <p:sp>
        <p:nvSpPr>
          <p:cNvPr id="30" name="TextBox 29"/>
          <p:cNvSpPr txBox="1"/>
          <p:nvPr/>
        </p:nvSpPr>
        <p:spPr>
          <a:xfrm>
            <a:off x="1243584" y="4599431"/>
            <a:ext cx="32918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Contextual Retrieval</a:t>
            </a:r>
          </a:p>
        </p:txBody>
      </p:sp>
      <p:sp>
        <p:nvSpPr>
          <p:cNvPr id="31" name="TextBox 30"/>
          <p:cNvSpPr txBox="1"/>
          <p:nvPr/>
        </p:nvSpPr>
        <p:spPr>
          <a:xfrm>
            <a:off x="1243584" y="4910327"/>
            <a:ext cx="10241280" cy="365760"/>
          </a:xfrm>
          <a:prstGeom prst="rect">
            <a:avLst/>
          </a:prstGeom>
          <a:noFill/>
        </p:spPr>
        <p:txBody>
          <a:bodyPr wrap="square" lIns="0" rIns="0" tIns="0" bIns="0" anchor="t">
            <a:spAutoFit/>
          </a:bodyPr>
          <a:lstStyle/>
          <a:p>
            <a:pPr algn="l">
              <a:lnSpc>
                <a:spcPct val="108000"/>
              </a:lnSpc>
            </a:pPr>
            <a:r>
              <a:rPr sz="1150" b="0" i="0">
                <a:solidFill>
                  <a:srgbClr val="21295C"/>
                </a:solidFill>
                <a:latin typeface="Arial"/>
              </a:rPr>
              <a:t>LLM дописывает 50–100 токенов документ-уровневого контекста к каждому чанку до эмбеддинга и BM25</a:t>
            </a:r>
            <a:r>
              <a:rPr sz="598" baseline="30000" b="0" i="1">
                <a:latin typeface="Arial"/>
                <a:cs typeface="Arial"/>
                <a:ea typeface="Arial"/>
                <a:solidFill>
                  <a:srgbClr val="1C7293"/>
                </a:solidFill>
              </a:rPr>
              <a:t>[2]</a:t>
            </a:r>
            <a:r>
              <a:rPr sz="1150" b="0" i="0">
                <a:latin typeface="Arial"/>
                <a:cs typeface="Arial"/>
                <a:ea typeface="Arial"/>
                <a:solidFill>
                  <a:srgbClr val="21295C"/>
                </a:solidFill>
              </a:rPr>
              <a:t> (см. каскад промахов 5,7% → 1,9%).</a:t>
            </a:r>
          </a:p>
        </p:txBody>
      </p:sp>
      <p:sp>
        <p:nvSpPr>
          <p:cNvPr id="32" name="Rounded Rectangle 31"/>
          <p:cNvSpPr/>
          <p:nvPr/>
        </p:nvSpPr>
        <p:spPr>
          <a:xfrm>
            <a:off x="502920" y="5449823"/>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04687"/>
            <a:ext cx="10799064" cy="56692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Ни у размера, ни у стратегии нет правильного значения по умолчанию — их подбирают под корпус. Подбор без метрики качества retrieval — вслепую.</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firecrawl — Best Chunking Strategies for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11"/>
              </a:rPr>
              <a:t>Anthropic — Contextual Retrieval (50–100 токенов контекста к чанку)</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67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Не карго-культи semantic chunking.</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Исследования эффекта чанкирования открыто расходятся — и это само по себе урок: «умный» chunking доменно-специфичен, простой recursive fixed-size часто сильнее и дешевле.</a:t>
            </a:r>
          </a:p>
        </p:txBody>
      </p:sp>
      <p:sp>
        <p:nvSpPr>
          <p:cNvPr id="4" name="Rounded Rectangle 3"/>
          <p:cNvSpPr/>
          <p:nvPr/>
        </p:nvSpPr>
        <p:spPr>
          <a:xfrm>
            <a:off x="502920" y="1810512"/>
            <a:ext cx="5074920" cy="3877056"/>
          </a:xfrm>
          <a:prstGeom prst="roundRect">
            <a:avLst>
              <a:gd name="adj" fmla="val 78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ag-chunk2-disaster-ru.png"/>
          <p:cNvPicPr>
            <a:picLocks noChangeAspect="1"/>
          </p:cNvPicPr>
          <p:nvPr/>
        </p:nvPicPr>
        <p:blipFill>
          <a:blip r:embed="rId2"/>
          <a:stretch>
            <a:fillRect/>
          </a:stretch>
        </p:blipFill>
        <p:spPr>
          <a:xfrm>
            <a:off x="748283" y="2029967"/>
            <a:ext cx="4584192" cy="3438144"/>
          </a:xfrm>
          <a:prstGeom prst="rect">
            <a:avLst/>
          </a:prstGeom>
        </p:spPr>
      </p:pic>
      <p:sp>
        <p:nvSpPr>
          <p:cNvPr id="6" name="Rounded Rectangle 5"/>
          <p:cNvSpPr/>
          <p:nvPr/>
        </p:nvSpPr>
        <p:spPr>
          <a:xfrm>
            <a:off x="5897880" y="1810512"/>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99048" y="1911095"/>
            <a:ext cx="3977639"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recursive-512 vs semantic</a:t>
            </a:r>
          </a:p>
        </p:txBody>
      </p:sp>
      <p:sp>
        <p:nvSpPr>
          <p:cNvPr id="8" name="TextBox 7"/>
          <p:cNvSpPr txBox="1"/>
          <p:nvPr/>
        </p:nvSpPr>
        <p:spPr>
          <a:xfrm>
            <a:off x="9966960" y="1883664"/>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69% vs 54%</a:t>
            </a:r>
          </a:p>
        </p:txBody>
      </p:sp>
      <p:sp>
        <p:nvSpPr>
          <p:cNvPr id="9" name="TextBox 8"/>
          <p:cNvSpPr txBox="1"/>
          <p:nvPr/>
        </p:nvSpPr>
        <p:spPr>
          <a:xfrm>
            <a:off x="6099048" y="2212848"/>
            <a:ext cx="5404103" cy="457200"/>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Feb-2026, 7 стратегий на 50 статьях: recursive 512-token №1; semantic дал ~43-токенные фрагменты</a:t>
            </a:r>
            <a:r>
              <a:rPr sz="572" baseline="30000" b="0" i="1">
                <a:latin typeface="Arial"/>
                <a:cs typeface="Arial"/>
                <a:ea typeface="Arial"/>
                <a:solidFill>
                  <a:srgbClr val="1C7293"/>
                </a:solidFill>
              </a:rPr>
              <a:t>[1]</a:t>
            </a:r>
          </a:p>
        </p:txBody>
      </p:sp>
      <p:sp>
        <p:nvSpPr>
          <p:cNvPr id="10" name="Rounded Rectangle 9"/>
          <p:cNvSpPr/>
          <p:nvPr/>
        </p:nvSpPr>
        <p:spPr>
          <a:xfrm>
            <a:off x="5897880" y="2852928"/>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9048" y="2953512"/>
            <a:ext cx="3977639"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Arial"/>
              </a:rPr>
              <a:t>клиника (узкий домен)</a:t>
            </a:r>
          </a:p>
        </p:txBody>
      </p:sp>
      <p:sp>
        <p:nvSpPr>
          <p:cNvPr id="12" name="TextBox 11"/>
          <p:cNvSpPr txBox="1"/>
          <p:nvPr/>
        </p:nvSpPr>
        <p:spPr>
          <a:xfrm>
            <a:off x="9966960" y="2926080"/>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87% vs 13%</a:t>
            </a:r>
          </a:p>
        </p:txBody>
      </p:sp>
      <p:sp>
        <p:nvSpPr>
          <p:cNvPr id="13" name="TextBox 12"/>
          <p:cNvSpPr txBox="1"/>
          <p:nvPr/>
        </p:nvSpPr>
        <p:spPr>
          <a:xfrm>
            <a:off x="6099048" y="3255264"/>
            <a:ext cx="5404103" cy="457200"/>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MDPI ноя-2025: adaptive/topic-boundary vs fixed-size (p=0,001) — реальный, но узкодоменный</a:t>
            </a:r>
          </a:p>
        </p:txBody>
      </p:sp>
      <p:sp>
        <p:nvSpPr>
          <p:cNvPr id="14" name="Rounded Rectangle 13"/>
          <p:cNvSpPr/>
          <p:nvPr/>
        </p:nvSpPr>
        <p:spPr>
          <a:xfrm>
            <a:off x="5897880" y="3895344"/>
            <a:ext cx="580644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9048" y="3995928"/>
            <a:ext cx="3977639" cy="274320"/>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NAACL 2025 Findings</a:t>
            </a:r>
          </a:p>
        </p:txBody>
      </p:sp>
      <p:sp>
        <p:nvSpPr>
          <p:cNvPr id="16" name="TextBox 15"/>
          <p:cNvSpPr txBox="1"/>
          <p:nvPr/>
        </p:nvSpPr>
        <p:spPr>
          <a:xfrm>
            <a:off x="9966960" y="3968496"/>
            <a:ext cx="1645920" cy="329184"/>
          </a:xfrm>
          <a:prstGeom prst="rect">
            <a:avLst/>
          </a:prstGeom>
          <a:noFill/>
        </p:spPr>
        <p:txBody>
          <a:bodyPr wrap="square" lIns="0" rIns="0" tIns="0" bIns="0" anchor="t">
            <a:spAutoFit/>
          </a:bodyPr>
          <a:lstStyle/>
          <a:p>
            <a:pPr algn="r">
              <a:lnSpc>
                <a:spcPct val="115000"/>
              </a:lnSpc>
            </a:pPr>
            <a:r>
              <a:rPr sz="1700" b="1" i="0">
                <a:solidFill>
                  <a:srgbClr val="F0AB00"/>
                </a:solidFill>
                <a:latin typeface="Arial"/>
              </a:rPr>
              <a:t>≈ или хуже</a:t>
            </a:r>
          </a:p>
        </p:txBody>
      </p:sp>
      <p:sp>
        <p:nvSpPr>
          <p:cNvPr id="17" name="TextBox 16"/>
          <p:cNvSpPr txBox="1"/>
          <p:nvPr/>
        </p:nvSpPr>
        <p:spPr>
          <a:xfrm>
            <a:off x="6099048" y="4297680"/>
            <a:ext cx="5404103" cy="457200"/>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«издержки не оправданы стабильным приростом»: fixed 200-word на уровне semantic или лучше</a:t>
            </a:r>
          </a:p>
        </p:txBody>
      </p:sp>
      <p:sp>
        <p:nvSpPr>
          <p:cNvPr id="18" name="Rounded Rectangle 17"/>
          <p:cNvSpPr/>
          <p:nvPr/>
        </p:nvSpPr>
        <p:spPr>
          <a:xfrm>
            <a:off x="5897880" y="4956048"/>
            <a:ext cx="580644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99048" y="5010912"/>
            <a:ext cx="5404103" cy="621792"/>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Один приём и выигрывает 74 пункта (клиника), и проигрывает 15 (общий корпус) — потому что разные корпуса, метрики и итоговый размер чанка. Дефолт — recursive fixed-size; усложнять стратегию только под измеренный на СВОИХ данных разрыв, а не по чужому бенчмарку.</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firecrawl — chunking benchmark (recursive-512 69% vs semantic 54%)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firecrawl — chunking eval (recall@k в изоляции может врать)</a:t>
            </a:r>
            <a:r>
              <a:rPr sz="850" i="1">
                <a:solidFill>
                  <a:srgbClr val="5B6678"/>
                </a:solidFill>
                <a:latin typeface="Arial"/>
              </a:rPr>
              <a:t>   ·   Recall@k в изоляции может врать (91,9% recall при 54% ответов) — мерить и end-to-end accuracy; следующий слайд — как это ломается тихо.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67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Тихий провал чанкирования: голый ряд цифр.</a:t>
            </a:r>
          </a:p>
        </p:txBody>
      </p:sp>
      <p:sp>
        <p:nvSpPr>
          <p:cNvPr id="3" name="TextBox 2"/>
          <p:cNvSpPr txBox="1"/>
          <p:nvPr/>
        </p:nvSpPr>
        <p:spPr>
          <a:xfrm>
            <a:off x="502920" y="950976"/>
            <a:ext cx="11201400" cy="402336"/>
          </a:xfrm>
          <a:prstGeom prst="rect">
            <a:avLst/>
          </a:prstGeom>
          <a:noFill/>
        </p:spPr>
        <p:txBody>
          <a:bodyPr wrap="square" lIns="0" rIns="0" tIns="0" bIns="0" anchor="t">
            <a:spAutoFit/>
          </a:bodyPr>
          <a:lstStyle/>
          <a:p>
            <a:pPr algn="l">
              <a:lnSpc>
                <a:spcPct val="110000"/>
              </a:lnSpc>
            </a:pPr>
            <a:r>
              <a:rPr sz="1250" b="0" i="1">
                <a:solidFill>
                  <a:srgbClr val="065A82"/>
                </a:solidFill>
                <a:latin typeface="Arial"/>
              </a:rPr>
              <a:t>Worked example — 300 PDF-руководств с таблицами спецификаций. Вопрос «какой момент затяжки для модели X-500?» — ответ в ячейке таблицы. Наивный сплиттер режет её по байту.</a:t>
            </a:r>
          </a:p>
        </p:txBody>
      </p:sp>
      <p:sp>
        <p:nvSpPr>
          <p:cNvPr id="4" name="Rounded Rectangle 3"/>
          <p:cNvSpPr/>
          <p:nvPr/>
        </p:nvSpPr>
        <p:spPr>
          <a:xfrm>
            <a:off x="502920" y="1517904"/>
            <a:ext cx="5490972"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627631"/>
            <a:ext cx="5088636" cy="274320"/>
          </a:xfrm>
          <a:prstGeom prst="rect">
            <a:avLst/>
          </a:prstGeom>
          <a:noFill/>
        </p:spPr>
        <p:txBody>
          <a:bodyPr wrap="square" lIns="0" rIns="0" tIns="0" bIns="0" anchor="t">
            <a:spAutoFit/>
          </a:bodyPr>
          <a:lstStyle/>
          <a:p>
            <a:pPr algn="l">
              <a:lnSpc>
                <a:spcPct val="115000"/>
              </a:lnSpc>
            </a:pPr>
            <a:r>
              <a:rPr sz="1250" b="1" i="0">
                <a:solidFill>
                  <a:srgbClr val="5B6678"/>
                </a:solidFill>
                <a:latin typeface="Arial"/>
              </a:rPr>
              <a:t>Наивно: RecursiveCharacter, 512 токенов</a:t>
            </a:r>
          </a:p>
        </p:txBody>
      </p:sp>
      <p:sp>
        <p:nvSpPr>
          <p:cNvPr id="6" name="TextBox 5"/>
          <p:cNvSpPr txBox="1"/>
          <p:nvPr/>
        </p:nvSpPr>
        <p:spPr>
          <a:xfrm>
            <a:off x="704088"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Парсер расплющил таблицу в поток; сплиттер режет по байту на границе 512:</a:t>
            </a:r>
          </a:p>
        </p:txBody>
      </p:sp>
      <p:sp>
        <p:nvSpPr>
          <p:cNvPr id="7" name="Rounded Rectangle 6"/>
          <p:cNvSpPr/>
          <p:nvPr/>
        </p:nvSpPr>
        <p:spPr>
          <a:xfrm>
            <a:off x="704088" y="2395728"/>
            <a:ext cx="5088636" cy="475488"/>
          </a:xfrm>
          <a:prstGeom prst="roundRect">
            <a:avLst>
              <a:gd name="adj" fmla="val 8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468880"/>
            <a:ext cx="4832604" cy="347472"/>
          </a:xfrm>
          <a:prstGeom prst="rect">
            <a:avLst/>
          </a:prstGeom>
          <a:noFill/>
        </p:spPr>
        <p:txBody>
          <a:bodyPr wrap="square" lIns="0" rIns="0" tIns="0" bIns="0" anchor="ctr">
            <a:spAutoFit/>
          </a:bodyPr>
          <a:lstStyle/>
          <a:p>
            <a:pPr algn="l">
              <a:lnSpc>
                <a:spcPct val="115000"/>
              </a:lnSpc>
            </a:pPr>
            <a:r>
              <a:rPr sz="1200" b="1" i="0">
                <a:solidFill>
                  <a:srgbClr val="21295C"/>
                </a:solidFill>
                <a:latin typeface="Liberation Mono"/>
              </a:rPr>
              <a:t>чанк: «12 / 480 / 8.5 / 34»</a:t>
            </a:r>
          </a:p>
        </p:txBody>
      </p:sp>
      <p:sp>
        <p:nvSpPr>
          <p:cNvPr id="9" name="TextBox 8"/>
          <p:cNvSpPr txBox="1"/>
          <p:nvPr/>
        </p:nvSpPr>
        <p:spPr>
          <a:xfrm>
            <a:off x="704088"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Заголовки «Модель / Напряжение / Ток / Момент» ушли в другой чанк. Система НЕ падает: эмбеддинг считается, ретрив «находит», ответ генерируется — и он неверный.</a:t>
            </a:r>
          </a:p>
        </p:txBody>
      </p:sp>
      <p:sp>
        <p:nvSpPr>
          <p:cNvPr id="10" name="Rounded Rectangle 9"/>
          <p:cNvSpPr/>
          <p:nvPr/>
        </p:nvSpPr>
        <p:spPr>
          <a:xfrm>
            <a:off x="6213348" y="1517904"/>
            <a:ext cx="5490972"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627631"/>
            <a:ext cx="5088636"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Правильно: table-aware + повтор заголовков</a:t>
            </a:r>
          </a:p>
        </p:txBody>
      </p:sp>
      <p:sp>
        <p:nvSpPr>
          <p:cNvPr id="12" name="TextBox 11"/>
          <p:cNvSpPr txBox="1"/>
          <p:nvPr/>
        </p:nvSpPr>
        <p:spPr>
          <a:xfrm>
            <a:off x="6414516" y="1938528"/>
            <a:ext cx="5088636" cy="402336"/>
          </a:xfrm>
          <a:prstGeom prst="rect">
            <a:avLst/>
          </a:prstGeom>
          <a:noFill/>
        </p:spPr>
        <p:txBody>
          <a:bodyPr wrap="square" lIns="0" rIns="0" tIns="0" bIns="0" anchor="t">
            <a:spAutoFit/>
          </a:bodyPr>
          <a:lstStyle/>
          <a:p>
            <a:pPr algn="l">
              <a:lnSpc>
                <a:spcPct val="106000"/>
              </a:lnSpc>
            </a:pPr>
            <a:r>
              <a:rPr sz="1100" b="0" i="0">
                <a:solidFill>
                  <a:srgbClr val="21295C"/>
                </a:solidFill>
                <a:latin typeface="Arial"/>
              </a:rPr>
              <a:t>Таблицу — отдельным чанком; если больше лимита — по строкам, повторяя заголовки:</a:t>
            </a:r>
          </a:p>
        </p:txBody>
      </p:sp>
      <p:sp>
        <p:nvSpPr>
          <p:cNvPr id="13" name="Rounded Rectangle 12"/>
          <p:cNvSpPr/>
          <p:nvPr/>
        </p:nvSpPr>
        <p:spPr>
          <a:xfrm>
            <a:off x="6414516" y="2395728"/>
            <a:ext cx="5088636" cy="475488"/>
          </a:xfrm>
          <a:prstGeom prst="roundRect">
            <a:avLst>
              <a:gd name="adj" fmla="val 8000"/>
            </a:avLst>
          </a:prstGeom>
          <a:solidFill>
            <a:srgbClr val="FFFFFF"/>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1676" y="2450591"/>
            <a:ext cx="4832604" cy="402336"/>
          </a:xfrm>
          <a:prstGeom prst="rect">
            <a:avLst/>
          </a:prstGeom>
          <a:noFill/>
        </p:spPr>
        <p:txBody>
          <a:bodyPr wrap="square" lIns="0" rIns="0" tIns="0" bIns="0" anchor="ctr">
            <a:spAutoFit/>
          </a:bodyPr>
          <a:lstStyle/>
          <a:p>
            <a:pPr algn="l">
              <a:lnSpc>
                <a:spcPct val="102000"/>
              </a:lnSpc>
            </a:pPr>
            <a:r>
              <a:rPr sz="1100" b="1" i="0">
                <a:solidFill>
                  <a:srgbClr val="21295C"/>
                </a:solidFill>
                <a:latin typeface="Liberation Mono"/>
              </a:rPr>
              <a:t>«Модель X-500 | Напряжение 480 |
 Ток 8.5 | Момент 34»</a:t>
            </a:r>
          </a:p>
        </p:txBody>
      </p:sp>
      <p:sp>
        <p:nvSpPr>
          <p:cNvPr id="15" name="TextBox 14"/>
          <p:cNvSpPr txBox="1"/>
          <p:nvPr/>
        </p:nvSpPr>
        <p:spPr>
          <a:xfrm>
            <a:off x="6414516" y="2962656"/>
            <a:ext cx="5088636" cy="585216"/>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Каждая строка самодостаточна; + parent-document для текста, + метаданные {модель, тип, версия}. Самый большой выигрыш дала не «умная» нарезка, а уважение структуры.</a:t>
            </a:r>
            <a:r>
              <a:rPr sz="546" baseline="30000" b="0" i="1">
                <a:latin typeface="Arial"/>
                <a:cs typeface="Arial"/>
                <a:ea typeface="Arial"/>
                <a:solidFill>
                  <a:srgbClr val="1C7293"/>
                </a:solidFill>
              </a:rPr>
              <a:t>[1]</a:t>
            </a:r>
          </a:p>
        </p:txBody>
      </p:sp>
      <p:sp>
        <p:nvSpPr>
          <p:cNvPr id="16" name="Rounded Rectangle 15"/>
          <p:cNvSpPr/>
          <p:nvPr/>
        </p:nvSpPr>
        <p:spPr>
          <a:xfrm>
            <a:off x="502920"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teal.png"/>
          <p:cNvPicPr>
            <a:picLocks noChangeAspect="1"/>
          </p:cNvPicPr>
          <p:nvPr/>
        </p:nvPicPr>
        <p:blipFill>
          <a:blip r:embed="rId2"/>
          <a:stretch>
            <a:fillRect/>
          </a:stretch>
        </p:blipFill>
        <p:spPr>
          <a:xfrm>
            <a:off x="649224" y="3877055"/>
            <a:ext cx="292608" cy="292608"/>
          </a:xfrm>
          <a:prstGeom prst="rect">
            <a:avLst/>
          </a:prstGeom>
        </p:spPr>
      </p:pic>
      <p:sp>
        <p:nvSpPr>
          <p:cNvPr id="18" name="TextBox 17"/>
          <p:cNvSpPr txBox="1"/>
          <p:nvPr/>
        </p:nvSpPr>
        <p:spPr>
          <a:xfrm>
            <a:off x="1014984"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Анафора / сломанные ссылки</a:t>
            </a:r>
          </a:p>
        </p:txBody>
      </p:sp>
      <p:sp>
        <p:nvSpPr>
          <p:cNvPr id="19" name="TextBox 18"/>
          <p:cNvSpPr txBox="1"/>
          <p:nvPr/>
        </p:nvSpPr>
        <p:spPr>
          <a:xfrm>
            <a:off x="667512"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«оно», «этот город», «данная политика» теряют антецедент при разрезе → чанк эмбеддится неоднозначно (лечить parent-doc / контекст-дописыванием).</a:t>
            </a:r>
          </a:p>
        </p:txBody>
      </p:sp>
      <p:sp>
        <p:nvSpPr>
          <p:cNvPr id="20" name="Rounded Rectangle 19"/>
          <p:cNvSpPr/>
          <p:nvPr/>
        </p:nvSpPr>
        <p:spPr>
          <a:xfrm>
            <a:off x="4303776"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teal.png"/>
          <p:cNvPicPr>
            <a:picLocks noChangeAspect="1"/>
          </p:cNvPicPr>
          <p:nvPr/>
        </p:nvPicPr>
        <p:blipFill>
          <a:blip r:embed="rId3"/>
          <a:stretch>
            <a:fillRect/>
          </a:stretch>
        </p:blipFill>
        <p:spPr>
          <a:xfrm>
            <a:off x="4450080" y="3877055"/>
            <a:ext cx="292608" cy="292608"/>
          </a:xfrm>
          <a:prstGeom prst="rect">
            <a:avLst/>
          </a:prstGeom>
        </p:spPr>
      </p:pic>
      <p:sp>
        <p:nvSpPr>
          <p:cNvPr id="22" name="TextBox 21"/>
          <p:cNvSpPr txBox="1"/>
          <p:nvPr/>
        </p:nvSpPr>
        <p:spPr>
          <a:xfrm>
            <a:off x="4815840"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Смена эмбеддера = пере-нарезка</a:t>
            </a:r>
          </a:p>
        </p:txBody>
      </p:sp>
      <p:sp>
        <p:nvSpPr>
          <p:cNvPr id="23" name="TextBox 22"/>
          <p:cNvSpPr txBox="1"/>
          <p:nvPr/>
        </p:nvSpPr>
        <p:spPr>
          <a:xfrm>
            <a:off x="4468368"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размер чанка привязан к окну модели; сменил эмбеддер → re-chunk всего корпуса, не «строчка в конфиге».</a:t>
            </a:r>
            <a:r>
              <a:rPr sz="520" baseline="30000" b="0" i="1">
                <a:latin typeface="Arial"/>
                <a:cs typeface="Arial"/>
                <a:ea typeface="Arial"/>
                <a:solidFill>
                  <a:srgbClr val="1C7293"/>
                </a:solidFill>
              </a:rPr>
              <a:t>[2]</a:t>
            </a:r>
          </a:p>
        </p:txBody>
      </p:sp>
      <p:sp>
        <p:nvSpPr>
          <p:cNvPr id="24" name="Rounded Rectangle 23"/>
          <p:cNvSpPr/>
          <p:nvPr/>
        </p:nvSpPr>
        <p:spPr>
          <a:xfrm>
            <a:off x="8104632" y="3749039"/>
            <a:ext cx="3599688"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liders-horizontal-teal.png"/>
          <p:cNvPicPr>
            <a:picLocks noChangeAspect="1"/>
          </p:cNvPicPr>
          <p:nvPr/>
        </p:nvPicPr>
        <p:blipFill>
          <a:blip r:embed="rId4"/>
          <a:stretch>
            <a:fillRect/>
          </a:stretch>
        </p:blipFill>
        <p:spPr>
          <a:xfrm>
            <a:off x="8250936" y="3877055"/>
            <a:ext cx="292608" cy="292608"/>
          </a:xfrm>
          <a:prstGeom prst="rect">
            <a:avLst/>
          </a:prstGeom>
        </p:spPr>
      </p:pic>
      <p:sp>
        <p:nvSpPr>
          <p:cNvPr id="26" name="TextBox 25"/>
          <p:cNvSpPr txBox="1"/>
          <p:nvPr/>
        </p:nvSpPr>
        <p:spPr>
          <a:xfrm>
            <a:off x="8616696" y="3867911"/>
            <a:ext cx="2941320" cy="347472"/>
          </a:xfrm>
          <a:prstGeom prst="rect">
            <a:avLst/>
          </a:prstGeom>
          <a:noFill/>
        </p:spPr>
        <p:txBody>
          <a:bodyPr wrap="square" lIns="0" rIns="0" tIns="0" bIns="0" anchor="t">
            <a:spAutoFit/>
          </a:bodyPr>
          <a:lstStyle/>
          <a:p>
            <a:pPr algn="l">
              <a:lnSpc>
                <a:spcPct val="100000"/>
              </a:lnSpc>
            </a:pPr>
            <a:r>
              <a:rPr sz="1150" b="1" i="0">
                <a:solidFill>
                  <a:srgbClr val="028090"/>
                </a:solidFill>
                <a:latin typeface="Arial"/>
              </a:rPr>
              <a:t>Оценка chunking чувствительна к k</a:t>
            </a:r>
          </a:p>
        </p:txBody>
      </p:sp>
      <p:sp>
        <p:nvSpPr>
          <p:cNvPr id="27" name="TextBox 26"/>
          <p:cNvSpPr txBox="1"/>
          <p:nvPr/>
        </p:nvSpPr>
        <p:spPr>
          <a:xfrm>
            <a:off x="8269224" y="4261104"/>
            <a:ext cx="3270504" cy="603504"/>
          </a:xfrm>
          <a:prstGeom prst="rect">
            <a:avLst/>
          </a:prstGeom>
          <a:noFill/>
        </p:spPr>
        <p:txBody>
          <a:bodyPr wrap="square" lIns="0" rIns="0" tIns="0" bIns="0" anchor="t">
            <a:spAutoFit/>
          </a:bodyPr>
          <a:lstStyle/>
          <a:p>
            <a:pPr algn="l">
              <a:lnSpc>
                <a:spcPct val="106000"/>
              </a:lnSpc>
            </a:pPr>
            <a:r>
              <a:rPr sz="1000" b="0" i="0">
                <a:solidFill>
                  <a:srgbClr val="21295C"/>
                </a:solidFill>
                <a:latin typeface="Arial"/>
              </a:rPr>
              <a:t>мелкие чанки требуют большего k; меняя нарезку — перепроверяй оптимальный k (Anthropic мерил top-5/10/20).</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Anthropic — Contextual Retrieval (таблицы — тихий провал retrieval)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firecrawl — Chunking Strategies (re-chunk при смене эмбеддера, k-чувствительность)</a:t>
            </a:r>
            <a:r>
              <a:rPr sz="850" i="1">
                <a:solidFill>
                  <a:srgbClr val="5B6678"/>
                </a:solidFill>
                <a:latin typeface="Arial"/>
              </a:rPr>
              <a:t>   ·   Проверка: 20–30 вопросов, ответ на которые в таблицах, и руками смотреть, что в top-k приходит чанк С заголовками, а не «голый ряд цифр»; recall@k по табличным вопросам мерить отдельно.</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Прототип → продакшн — это другая архитектура, не подкрутка.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Прототип работает на 1000 документов; ломается на миллионах векторов и тысячах запросов. Что добавляется при переходе в продакшн.</a:t>
            </a:r>
          </a:p>
        </p:txBody>
      </p:sp>
      <p:sp>
        <p:nvSpPr>
          <p:cNvPr id="4" name="Rounded Rectangle 3"/>
          <p:cNvSpPr/>
          <p:nvPr/>
        </p:nvSpPr>
        <p:spPr>
          <a:xfrm>
            <a:off x="502920" y="1591056"/>
            <a:ext cx="210312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ingest</a:t>
            </a:r>
          </a:p>
        </p:txBody>
      </p:sp>
      <p:sp>
        <p:nvSpPr>
          <p:cNvPr id="6" name="TextBox 5"/>
          <p:cNvSpPr txBox="1"/>
          <p:nvPr/>
        </p:nvSpPr>
        <p:spPr>
          <a:xfrm>
            <a:off x="594360"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первое бутылочное горло</a:t>
            </a:r>
          </a:p>
        </p:txBody>
      </p:sp>
      <p:sp>
        <p:nvSpPr>
          <p:cNvPr id="7" name="Right Arrow 6"/>
          <p:cNvSpPr/>
          <p:nvPr/>
        </p:nvSpPr>
        <p:spPr>
          <a:xfrm>
            <a:off x="2633471"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990087"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81527"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chunk</a:t>
            </a:r>
          </a:p>
        </p:txBody>
      </p:sp>
      <p:sp>
        <p:nvSpPr>
          <p:cNvPr id="10" name="TextBox 9"/>
          <p:cNvSpPr txBox="1"/>
          <p:nvPr/>
        </p:nvSpPr>
        <p:spPr>
          <a:xfrm>
            <a:off x="3081527"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1" name="Right Arrow 10"/>
          <p:cNvSpPr/>
          <p:nvPr/>
        </p:nvSpPr>
        <p:spPr>
          <a:xfrm>
            <a:off x="5120640"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77255"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68695"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embed</a:t>
            </a:r>
          </a:p>
        </p:txBody>
      </p:sp>
      <p:sp>
        <p:nvSpPr>
          <p:cNvPr id="14" name="TextBox 13"/>
          <p:cNvSpPr txBox="1"/>
          <p:nvPr/>
        </p:nvSpPr>
        <p:spPr>
          <a:xfrm>
            <a:off x="5568695"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5" name="Right Arrow 14"/>
          <p:cNvSpPr/>
          <p:nvPr/>
        </p:nvSpPr>
        <p:spPr>
          <a:xfrm>
            <a:off x="7607807" y="1783080"/>
            <a:ext cx="292607"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64423" y="1591056"/>
            <a:ext cx="2103120" cy="640080"/>
          </a:xfrm>
          <a:prstGeom prst="roundRect">
            <a:avLst>
              <a:gd name="adj" fmla="val 1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3" y="1682496"/>
            <a:ext cx="1920239" cy="27432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index</a:t>
            </a:r>
          </a:p>
        </p:txBody>
      </p:sp>
      <p:sp>
        <p:nvSpPr>
          <p:cNvPr id="18" name="TextBox 17"/>
          <p:cNvSpPr txBox="1"/>
          <p:nvPr/>
        </p:nvSpPr>
        <p:spPr>
          <a:xfrm>
            <a:off x="8055863" y="1956816"/>
            <a:ext cx="1920239" cy="237744"/>
          </a:xfrm>
          <a:prstGeom prst="rect">
            <a:avLst/>
          </a:prstGeom>
          <a:noFill/>
        </p:spPr>
        <p:txBody>
          <a:bodyPr wrap="square" lIns="0" rIns="0" tIns="0" bIns="0" anchor="t">
            <a:spAutoFit/>
          </a:bodyPr>
          <a:lstStyle/>
          <a:p>
            <a:pPr algn="ctr">
              <a:lnSpc>
                <a:spcPct val="115000"/>
              </a:lnSpc>
            </a:pPr>
            <a:r>
              <a:rPr sz="1000" b="0" i="1">
                <a:solidFill>
                  <a:srgbClr val="5B6678"/>
                </a:solidFill>
                <a:latin typeface="Arial"/>
              </a:rPr>
              <a:t/>
            </a:r>
          </a:p>
        </p:txBody>
      </p:sp>
      <p:sp>
        <p:nvSpPr>
          <p:cNvPr id="19" name="Rounded Rectangle 18"/>
          <p:cNvSpPr/>
          <p:nvPr/>
        </p:nvSpPr>
        <p:spPr>
          <a:xfrm>
            <a:off x="502920"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ute-mid.png"/>
          <p:cNvPicPr>
            <a:picLocks noChangeAspect="1"/>
          </p:cNvPicPr>
          <p:nvPr/>
        </p:nvPicPr>
        <p:blipFill>
          <a:blip r:embed="rId2"/>
          <a:stretch>
            <a:fillRect/>
          </a:stretch>
        </p:blipFill>
        <p:spPr>
          <a:xfrm>
            <a:off x="667512" y="2633472"/>
            <a:ext cx="329184" cy="329184"/>
          </a:xfrm>
          <a:prstGeom prst="rect">
            <a:avLst/>
          </a:prstGeom>
        </p:spPr>
      </p:pic>
      <p:sp>
        <p:nvSpPr>
          <p:cNvPr id="21" name="TextBox 20"/>
          <p:cNvSpPr txBox="1"/>
          <p:nvPr/>
        </p:nvSpPr>
        <p:spPr>
          <a:xfrm>
            <a:off x="1069848" y="2624328"/>
            <a:ext cx="1954530" cy="32918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Свежесть</a:t>
            </a:r>
          </a:p>
        </p:txBody>
      </p:sp>
      <p:sp>
        <p:nvSpPr>
          <p:cNvPr id="22" name="TextBox 21"/>
          <p:cNvSpPr txBox="1"/>
          <p:nvPr/>
        </p:nvSpPr>
        <p:spPr>
          <a:xfrm>
            <a:off x="685800"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батч → устаревание; CDC → субминута ценой ×3 к эксплуатации. Индекс отстал → retrieval деградирует невидимо.</a:t>
            </a:r>
          </a:p>
        </p:txBody>
      </p:sp>
      <p:sp>
        <p:nvSpPr>
          <p:cNvPr id="23" name="Rounded Rectangle 22"/>
          <p:cNvSpPr/>
          <p:nvPr/>
        </p:nvSpPr>
        <p:spPr>
          <a:xfrm>
            <a:off x="3353562"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branch-mid.png"/>
          <p:cNvPicPr>
            <a:picLocks noChangeAspect="1"/>
          </p:cNvPicPr>
          <p:nvPr/>
        </p:nvPicPr>
        <p:blipFill>
          <a:blip r:embed="rId3"/>
          <a:stretch>
            <a:fillRect/>
          </a:stretch>
        </p:blipFill>
        <p:spPr>
          <a:xfrm>
            <a:off x="3518154" y="2633472"/>
            <a:ext cx="329184" cy="329184"/>
          </a:xfrm>
          <a:prstGeom prst="rect">
            <a:avLst/>
          </a:prstGeom>
        </p:spPr>
      </p:pic>
      <p:sp>
        <p:nvSpPr>
          <p:cNvPr id="25" name="TextBox 24"/>
          <p:cNvSpPr txBox="1"/>
          <p:nvPr/>
        </p:nvSpPr>
        <p:spPr>
          <a:xfrm>
            <a:off x="3920490" y="2624328"/>
            <a:ext cx="1954530" cy="329184"/>
          </a:xfrm>
          <a:prstGeom prst="rect">
            <a:avLst/>
          </a:prstGeom>
          <a:noFill/>
        </p:spPr>
        <p:txBody>
          <a:bodyPr wrap="square" lIns="0" rIns="0" tIns="0" bIns="0" anchor="ctr">
            <a:spAutoFit/>
          </a:bodyPr>
          <a:lstStyle/>
          <a:p>
            <a:pPr algn="l">
              <a:lnSpc>
                <a:spcPct val="115000"/>
              </a:lnSpc>
            </a:pPr>
            <a:r>
              <a:rPr sz="1300" b="1" i="0">
                <a:solidFill>
                  <a:srgbClr val="028090"/>
                </a:solidFill>
                <a:latin typeface="Arial"/>
              </a:rPr>
              <a:t>Смена модели</a:t>
            </a:r>
          </a:p>
        </p:txBody>
      </p:sp>
      <p:sp>
        <p:nvSpPr>
          <p:cNvPr id="26" name="TextBox 25"/>
          <p:cNvSpPr txBox="1"/>
          <p:nvPr/>
        </p:nvSpPr>
        <p:spPr>
          <a:xfrm>
            <a:off x="3536442"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новая embedding-модель = пере-эмбеддить ВСЕ векторы (старые/новые несравнимы) — миграция, не строка конфига.</a:t>
            </a:r>
          </a:p>
        </p:txBody>
      </p:sp>
      <p:sp>
        <p:nvSpPr>
          <p:cNvPr id="27" name="Rounded Rectangle 26"/>
          <p:cNvSpPr/>
          <p:nvPr/>
        </p:nvSpPr>
        <p:spPr>
          <a:xfrm>
            <a:off x="6204204"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heck-check-mid.png"/>
          <p:cNvPicPr>
            <a:picLocks noChangeAspect="1"/>
          </p:cNvPicPr>
          <p:nvPr/>
        </p:nvPicPr>
        <p:blipFill>
          <a:blip r:embed="rId4"/>
          <a:stretch>
            <a:fillRect/>
          </a:stretch>
        </p:blipFill>
        <p:spPr>
          <a:xfrm>
            <a:off x="6368796" y="2633472"/>
            <a:ext cx="329184" cy="329184"/>
          </a:xfrm>
          <a:prstGeom prst="rect">
            <a:avLst/>
          </a:prstGeom>
        </p:spPr>
      </p:pic>
      <p:sp>
        <p:nvSpPr>
          <p:cNvPr id="29" name="TextBox 28"/>
          <p:cNvSpPr txBox="1"/>
          <p:nvPr/>
        </p:nvSpPr>
        <p:spPr>
          <a:xfrm>
            <a:off x="6771132" y="2624328"/>
            <a:ext cx="1954530" cy="329184"/>
          </a:xfrm>
          <a:prstGeom prst="rect">
            <a:avLst/>
          </a:prstGeom>
          <a:noFill/>
        </p:spPr>
        <p:txBody>
          <a:bodyPr wrap="square" lIns="0" rIns="0" tIns="0" bIns="0" anchor="ctr">
            <a:spAutoFit/>
          </a:bodyPr>
          <a:lstStyle/>
          <a:p>
            <a:pPr algn="l">
              <a:lnSpc>
                <a:spcPct val="115000"/>
              </a:lnSpc>
            </a:pPr>
            <a:r>
              <a:rPr sz="1300" b="1" i="0">
                <a:solidFill>
                  <a:srgbClr val="1C7293"/>
                </a:solidFill>
                <a:latin typeface="Arial"/>
              </a:rPr>
              <a:t>Оценка</a:t>
            </a:r>
          </a:p>
        </p:txBody>
      </p:sp>
      <p:sp>
        <p:nvSpPr>
          <p:cNvPr id="30" name="TextBox 29"/>
          <p:cNvSpPr txBox="1"/>
          <p:nvPr/>
        </p:nvSpPr>
        <p:spPr>
          <a:xfrm>
            <a:off x="6387084"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метки: recall@k ~0,8, nDCG</a:t>
            </a:r>
            <a:r>
              <a:rPr sz="546" baseline="30000" b="0" i="1">
                <a:latin typeface="Arial"/>
                <a:cs typeface="Arial"/>
                <a:ea typeface="Arial"/>
                <a:solidFill>
                  <a:srgbClr val="1C7293"/>
                </a:solidFill>
              </a:rPr>
              <a:t>[2]</a:t>
            </a:r>
            <a:r>
              <a:rPr sz="1050" b="0" i="0">
                <a:latin typeface="Arial"/>
                <a:cs typeface="Arial"/>
                <a:ea typeface="Arial"/>
                <a:solidFill>
                  <a:srgbClr val="21295C"/>
                </a:solidFill>
              </a:rPr>
              <a:t>; LLM-судья: RAGAS faithfulness/context-precision/recall. Обе группы + сверять с людьми.</a:t>
            </a:r>
          </a:p>
        </p:txBody>
      </p:sp>
      <p:sp>
        <p:nvSpPr>
          <p:cNvPr id="31" name="Rounded Rectangle 30"/>
          <p:cNvSpPr/>
          <p:nvPr/>
        </p:nvSpPr>
        <p:spPr>
          <a:xfrm>
            <a:off x="9054846" y="2487168"/>
            <a:ext cx="2649474"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cale-mid.png"/>
          <p:cNvPicPr>
            <a:picLocks noChangeAspect="1"/>
          </p:cNvPicPr>
          <p:nvPr/>
        </p:nvPicPr>
        <p:blipFill>
          <a:blip r:embed="rId5"/>
          <a:stretch>
            <a:fillRect/>
          </a:stretch>
        </p:blipFill>
        <p:spPr>
          <a:xfrm>
            <a:off x="9219438" y="2633472"/>
            <a:ext cx="329184" cy="329184"/>
          </a:xfrm>
          <a:prstGeom prst="rect">
            <a:avLst/>
          </a:prstGeom>
        </p:spPr>
      </p:pic>
      <p:sp>
        <p:nvSpPr>
          <p:cNvPr id="33" name="TextBox 32"/>
          <p:cNvSpPr txBox="1"/>
          <p:nvPr/>
        </p:nvSpPr>
        <p:spPr>
          <a:xfrm>
            <a:off x="9621774" y="2624328"/>
            <a:ext cx="1954530" cy="329184"/>
          </a:xfrm>
          <a:prstGeom prst="rect">
            <a:avLst/>
          </a:prstGeom>
          <a:noFill/>
        </p:spPr>
        <p:txBody>
          <a:bodyPr wrap="square" lIns="0" rIns="0" tIns="0" bIns="0" anchor="ctr">
            <a:spAutoFit/>
          </a:bodyPr>
          <a:lstStyle/>
          <a:p>
            <a:pPr algn="l">
              <a:lnSpc>
                <a:spcPct val="115000"/>
              </a:lnSpc>
            </a:pPr>
            <a:r>
              <a:rPr sz="1300" b="1" i="0">
                <a:solidFill>
                  <a:srgbClr val="065A82"/>
                </a:solidFill>
                <a:latin typeface="Arial"/>
              </a:rPr>
              <a:t>Стоимость</a:t>
            </a:r>
          </a:p>
        </p:txBody>
      </p:sp>
      <p:sp>
        <p:nvSpPr>
          <p:cNvPr id="34" name="TextBox 33"/>
          <p:cNvSpPr txBox="1"/>
          <p:nvPr/>
        </p:nvSpPr>
        <p:spPr>
          <a:xfrm>
            <a:off x="9237726" y="3035808"/>
            <a:ext cx="2283714" cy="841248"/>
          </a:xfrm>
          <a:prstGeom prst="rect">
            <a:avLst/>
          </a:prstGeom>
          <a:noFill/>
        </p:spPr>
        <p:txBody>
          <a:bodyPr wrap="square" lIns="0" rIns="0" tIns="0" bIns="0" anchor="t">
            <a:spAutoFit/>
          </a:bodyPr>
          <a:lstStyle/>
          <a:p>
            <a:pPr algn="l">
              <a:lnSpc>
                <a:spcPct val="110000"/>
              </a:lnSpc>
            </a:pPr>
            <a:r>
              <a:rPr sz="1050" b="0" i="0">
                <a:solidFill>
                  <a:srgbClr val="21295C"/>
                </a:solidFill>
                <a:latin typeface="Arial"/>
              </a:rPr>
              <a:t>семантическое кэширование ~69% экономии LLM (vs без кэша)</a:t>
            </a:r>
            <a:r>
              <a:rPr sz="546" baseline="30000" b="0" i="1">
                <a:latin typeface="Arial"/>
                <a:cs typeface="Arial"/>
                <a:ea typeface="Arial"/>
                <a:solidFill>
                  <a:srgbClr val="1C7293"/>
                </a:solidFill>
              </a:rPr>
              <a:t>[1]</a:t>
            </a:r>
            <a:r>
              <a:rPr sz="1050" b="0" i="0">
                <a:latin typeface="Arial"/>
                <a:cs typeface="Arial"/>
                <a:ea typeface="Arial"/>
                <a:solidFill>
                  <a:srgbClr val="21295C"/>
                </a:solidFill>
              </a:rPr>
              <a:t>. SLA &lt;50 мс толкают расходы вверх.</a:t>
            </a:r>
          </a:p>
        </p:txBody>
      </p:sp>
      <p:sp>
        <p:nvSpPr>
          <p:cNvPr id="35" name="Rounded Rectangle 34"/>
          <p:cNvSpPr/>
          <p:nvPr/>
        </p:nvSpPr>
        <p:spPr>
          <a:xfrm>
            <a:off x="502920" y="4169663"/>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224527"/>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Каунтерфактуал: база знаний под ~200k токенов целиком кладётся в промпт с кэшированием (до ~90% сокращения стоимости) — retrieval пропускается вовсе. Длинный контекст + кэш — легитимная альтернатива RAG на малом масштабе.</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Redis — RAG at Scale (ingestion-горло, CDC 24ч→субминута, кэш ~69%)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futureagi — RAG Evaluation Metrics (recall@k ~0,8, nDCG, RAGAS)</a:t>
            </a:r>
            <a:r>
              <a:rPr sz="850" i="1">
                <a:solidFill>
                  <a:srgbClr val="5B6678"/>
                </a:solidFill>
                <a:latin typeface="Arial"/>
              </a:rPr>
              <a:t>   ·   Первый вопрос перед всей инфраструктурой — «а нужен ли RAG вообще, или корпус мал и стабилен настолько, что его хватает положить в окно».</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65760"/>
            <a:ext cx="11201400" cy="530352"/>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«RAG» в вакууме не существует — есть RAG под задачу.</a:t>
            </a:r>
          </a:p>
        </p:txBody>
      </p:sp>
      <p:sp>
        <p:nvSpPr>
          <p:cNvPr id="3" name="TextBox 2"/>
          <p:cNvSpPr txBox="1"/>
          <p:nvPr/>
        </p:nvSpPr>
        <p:spPr>
          <a:xfrm>
            <a:off x="502920" y="950976"/>
            <a:ext cx="11201400" cy="384048"/>
          </a:xfrm>
          <a:prstGeom prst="rect">
            <a:avLst/>
          </a:prstGeom>
          <a:noFill/>
        </p:spPr>
        <p:txBody>
          <a:bodyPr wrap="square" lIns="0" rIns="0" tIns="0" bIns="0" anchor="t">
            <a:spAutoFit/>
          </a:bodyPr>
          <a:lstStyle/>
          <a:p>
            <a:pPr algn="l">
              <a:lnSpc>
                <a:spcPct val="110000"/>
              </a:lnSpc>
            </a:pPr>
            <a:r>
              <a:rPr sz="1250" b="0" i="1">
                <a:solidFill>
                  <a:srgbClr val="065A82"/>
                </a:solidFill>
                <a:latin typeface="Arial"/>
              </a:rPr>
              <a:t>Пять реальных архетипов: retrieval-дизайн у них разный, потому что разная природа данных. Общий якорь — наивный dense-RAG промахивается ~40% времени; три приёма (контекст+гибрид+реранк) закрывают большую часть.</a:t>
            </a:r>
          </a:p>
        </p:txBody>
      </p:sp>
      <p:sp>
        <p:nvSpPr>
          <p:cNvPr id="4" name="Rounded Rectangle 3"/>
          <p:cNvSpPr/>
          <p:nvPr/>
        </p:nvSpPr>
        <p:spPr>
          <a:xfrm>
            <a:off x="502920" y="1517904"/>
            <a:ext cx="11201400" cy="3657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581912"/>
            <a:ext cx="2761487"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Кейс · реальная система</a:t>
            </a:r>
          </a:p>
        </p:txBody>
      </p:sp>
      <p:sp>
        <p:nvSpPr>
          <p:cNvPr id="6" name="TextBox 5"/>
          <p:cNvSpPr txBox="1"/>
          <p:nvPr/>
        </p:nvSpPr>
        <p:spPr>
          <a:xfrm>
            <a:off x="3611879" y="1581912"/>
            <a:ext cx="4069080"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Retrieval-дизайн</a:t>
            </a:r>
          </a:p>
        </p:txBody>
      </p:sp>
      <p:sp>
        <p:nvSpPr>
          <p:cNvPr id="7" name="TextBox 6"/>
          <p:cNvSpPr txBox="1"/>
          <p:nvPr/>
        </p:nvSpPr>
        <p:spPr>
          <a:xfrm>
            <a:off x="7863840" y="1581912"/>
            <a:ext cx="3749039" cy="256032"/>
          </a:xfrm>
          <a:prstGeom prst="rect">
            <a:avLst/>
          </a:prstGeom>
          <a:noFill/>
        </p:spPr>
        <p:txBody>
          <a:bodyPr wrap="square" lIns="0" rIns="0" tIns="0" bIns="0" anchor="t">
            <a:spAutoFit/>
          </a:bodyPr>
          <a:lstStyle/>
          <a:p>
            <a:pPr algn="l">
              <a:lnSpc>
                <a:spcPct val="115000"/>
              </a:lnSpc>
            </a:pPr>
            <a:r>
              <a:rPr sz="1150" b="1" i="0">
                <a:solidFill>
                  <a:srgbClr val="FFFFFF"/>
                </a:solidFill>
                <a:latin typeface="Arial"/>
              </a:rPr>
              <a:t>Типовой провал → как чинит</a:t>
            </a:r>
          </a:p>
        </p:txBody>
      </p:sp>
      <p:sp>
        <p:nvSpPr>
          <p:cNvPr id="8" name="Rectangle 7"/>
          <p:cNvSpPr/>
          <p:nvPr/>
        </p:nvSpPr>
        <p:spPr>
          <a:xfrm>
            <a:off x="502920" y="1883664"/>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 y="2011680"/>
            <a:ext cx="365760" cy="475488"/>
          </a:xfrm>
          <a:prstGeom prst="roundRect">
            <a:avLst>
              <a:gd name="adj" fmla="val 2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essage-circle-white.png"/>
          <p:cNvPicPr>
            <a:picLocks noChangeAspect="1"/>
          </p:cNvPicPr>
          <p:nvPr/>
        </p:nvPicPr>
        <p:blipFill>
          <a:blip r:embed="rId2"/>
          <a:stretch>
            <a:fillRect/>
          </a:stretch>
        </p:blipFill>
        <p:spPr>
          <a:xfrm>
            <a:off x="658368" y="2121408"/>
            <a:ext cx="274320" cy="274320"/>
          </a:xfrm>
          <a:prstGeom prst="rect">
            <a:avLst/>
          </a:prstGeom>
        </p:spPr>
      </p:pic>
      <p:sp>
        <p:nvSpPr>
          <p:cNvPr id="11" name="TextBox 10"/>
          <p:cNvSpPr txBox="1"/>
          <p:nvPr/>
        </p:nvSpPr>
        <p:spPr>
          <a:xfrm>
            <a:off x="1069848" y="1975104"/>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Поддержка / внутр. база</a:t>
            </a:r>
          </a:p>
        </p:txBody>
      </p:sp>
      <p:sp>
        <p:nvSpPr>
          <p:cNvPr id="12" name="TextBox 11"/>
          <p:cNvSpPr txBox="1"/>
          <p:nvPr/>
        </p:nvSpPr>
        <p:spPr>
          <a:xfrm>
            <a:off x="1069848" y="228600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kapa.ai, Stripe Assistant</a:t>
            </a:r>
          </a:p>
        </p:txBody>
      </p:sp>
      <p:sp>
        <p:nvSpPr>
          <p:cNvPr id="13" name="TextBox 12"/>
          <p:cNvSpPr txBox="1"/>
          <p:nvPr/>
        </p:nvSpPr>
        <p:spPr>
          <a:xfrm>
            <a:off x="3611879" y="195681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смысл. границы + гибрид + реранк; дельта-обновление</a:t>
            </a:r>
          </a:p>
        </p:txBody>
      </p:sp>
      <p:sp>
        <p:nvSpPr>
          <p:cNvPr id="14" name="TextBox 13"/>
          <p:cNvSpPr txBox="1"/>
          <p:nvPr/>
        </p:nvSpPr>
        <p:spPr>
          <a:xfrm>
            <a:off x="7863840" y="195681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«backoff» ≈ «dead-letter» → неверная политика; гибрид ловит точный терм + порог отказа</a:t>
            </a:r>
          </a:p>
        </p:txBody>
      </p:sp>
      <p:sp>
        <p:nvSpPr>
          <p:cNvPr id="15" name="Rectangle 14"/>
          <p:cNvSpPr/>
          <p:nvPr/>
        </p:nvSpPr>
        <p:spPr>
          <a:xfrm>
            <a:off x="502920" y="2615184"/>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2648" y="2743200"/>
            <a:ext cx="365760" cy="475488"/>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le-text-white.png"/>
          <p:cNvPicPr>
            <a:picLocks noChangeAspect="1"/>
          </p:cNvPicPr>
          <p:nvPr/>
        </p:nvPicPr>
        <p:blipFill>
          <a:blip r:embed="rId3"/>
          <a:stretch>
            <a:fillRect/>
          </a:stretch>
        </p:blipFill>
        <p:spPr>
          <a:xfrm>
            <a:off x="658368" y="2852928"/>
            <a:ext cx="274320" cy="274320"/>
          </a:xfrm>
          <a:prstGeom prst="rect">
            <a:avLst/>
          </a:prstGeom>
        </p:spPr>
      </p:pic>
      <p:sp>
        <p:nvSpPr>
          <p:cNvPr id="18" name="TextBox 17"/>
          <p:cNvSpPr txBox="1"/>
          <p:nvPr/>
        </p:nvSpPr>
        <p:spPr>
          <a:xfrm>
            <a:off x="1069848" y="2706624"/>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Q&amp;A по документации</a:t>
            </a:r>
          </a:p>
        </p:txBody>
      </p:sp>
      <p:sp>
        <p:nvSpPr>
          <p:cNvPr id="19" name="TextBox 18"/>
          <p:cNvSpPr txBox="1"/>
          <p:nvPr/>
        </p:nvSpPr>
        <p:spPr>
          <a:xfrm>
            <a:off x="1069848" y="301752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Vercel AI SDK docs-copilot</a:t>
            </a:r>
          </a:p>
        </p:txBody>
      </p:sp>
      <p:sp>
        <p:nvSpPr>
          <p:cNvPr id="20" name="TextBox 19"/>
          <p:cNvSpPr txBox="1"/>
          <p:nvPr/>
        </p:nvSpPr>
        <p:spPr>
          <a:xfrm>
            <a:off x="3611879" y="268833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нарезка по секциям; ответ с источником ИЛИ отказ; оценка в CI</a:t>
            </a:r>
          </a:p>
        </p:txBody>
      </p:sp>
      <p:sp>
        <p:nvSpPr>
          <p:cNvPr id="21" name="TextBox 20"/>
          <p:cNvSpPr txBox="1"/>
          <p:nvPr/>
        </p:nvSpPr>
        <p:spPr>
          <a:xfrm>
            <a:off x="7863840" y="268833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цитирует старую версию API / выдумывает параметр; свежесть + набор для оценки как воротца</a:t>
            </a:r>
          </a:p>
        </p:txBody>
      </p:sp>
      <p:sp>
        <p:nvSpPr>
          <p:cNvPr id="22" name="Rectangle 21"/>
          <p:cNvSpPr/>
          <p:nvPr/>
        </p:nvSpPr>
        <p:spPr>
          <a:xfrm>
            <a:off x="502920" y="3346704"/>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12648" y="3474720"/>
            <a:ext cx="365760" cy="475488"/>
          </a:xfrm>
          <a:prstGeom prst="roundRect">
            <a:avLst>
              <a:gd name="adj" fmla="val 2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ode-white.png"/>
          <p:cNvPicPr>
            <a:picLocks noChangeAspect="1"/>
          </p:cNvPicPr>
          <p:nvPr/>
        </p:nvPicPr>
        <p:blipFill>
          <a:blip r:embed="rId4"/>
          <a:stretch>
            <a:fillRect/>
          </a:stretch>
        </p:blipFill>
        <p:spPr>
          <a:xfrm>
            <a:off x="658368" y="3584448"/>
            <a:ext cx="274320" cy="274320"/>
          </a:xfrm>
          <a:prstGeom prst="rect">
            <a:avLst/>
          </a:prstGeom>
        </p:spPr>
      </p:pic>
      <p:sp>
        <p:nvSpPr>
          <p:cNvPr id="25" name="TextBox 24"/>
          <p:cNvSpPr txBox="1"/>
          <p:nvPr/>
        </p:nvSpPr>
        <p:spPr>
          <a:xfrm>
            <a:off x="1069848" y="3438144"/>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Поиск по кодовой базе</a:t>
            </a:r>
          </a:p>
        </p:txBody>
      </p:sp>
      <p:sp>
        <p:nvSpPr>
          <p:cNvPr id="26" name="TextBox 25"/>
          <p:cNvSpPr txBox="1"/>
          <p:nvPr/>
        </p:nvSpPr>
        <p:spPr>
          <a:xfrm>
            <a:off x="1069848" y="374904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Cursor · Sourcegraph Cody</a:t>
            </a:r>
          </a:p>
        </p:txBody>
      </p:sp>
      <p:sp>
        <p:nvSpPr>
          <p:cNvPr id="27" name="TextBox 26"/>
          <p:cNvSpPr txBox="1"/>
          <p:nvPr/>
        </p:nvSpPr>
        <p:spPr>
          <a:xfrm>
            <a:off x="3611879" y="341985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chunk по функции/классу; dense-индекс кода</a:t>
            </a:r>
          </a:p>
        </p:txBody>
      </p:sp>
      <p:sp>
        <p:nvSpPr>
          <p:cNvPr id="28" name="TextBox 27"/>
          <p:cNvSpPr txBox="1"/>
          <p:nvPr/>
        </p:nvSpPr>
        <p:spPr>
          <a:xfrm>
            <a:off x="7863840" y="341985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dense «замыливает» имя символа, на 100k+ репо дорого → Cody УБРАЛ эмбеддинги, вернул лексический поиск</a:t>
            </a:r>
            <a:r>
              <a:rPr sz="520" baseline="30000" b="0" i="1">
                <a:latin typeface="Arial"/>
                <a:cs typeface="Arial"/>
                <a:ea typeface="Arial"/>
                <a:solidFill>
                  <a:srgbClr val="1C7293"/>
                </a:solidFill>
              </a:rPr>
              <a:t>[3]</a:t>
            </a:r>
          </a:p>
        </p:txBody>
      </p:sp>
      <p:sp>
        <p:nvSpPr>
          <p:cNvPr id="29" name="Rectangle 28"/>
          <p:cNvSpPr/>
          <p:nvPr/>
        </p:nvSpPr>
        <p:spPr>
          <a:xfrm>
            <a:off x="502920" y="4078224"/>
            <a:ext cx="11201400" cy="731520"/>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12648" y="4206240"/>
            <a:ext cx="365760" cy="475488"/>
          </a:xfrm>
          <a:prstGeom prst="roundRect">
            <a:avLst>
              <a:gd name="adj" fmla="val 22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gavel-white.png"/>
          <p:cNvPicPr>
            <a:picLocks noChangeAspect="1"/>
          </p:cNvPicPr>
          <p:nvPr/>
        </p:nvPicPr>
        <p:blipFill>
          <a:blip r:embed="rId5"/>
          <a:stretch>
            <a:fillRect/>
          </a:stretch>
        </p:blipFill>
        <p:spPr>
          <a:xfrm>
            <a:off x="658368" y="4315968"/>
            <a:ext cx="274320" cy="274320"/>
          </a:xfrm>
          <a:prstGeom prst="rect">
            <a:avLst/>
          </a:prstGeom>
        </p:spPr>
      </p:pic>
      <p:sp>
        <p:nvSpPr>
          <p:cNvPr id="32" name="TextBox 31"/>
          <p:cNvSpPr txBox="1"/>
          <p:nvPr/>
        </p:nvSpPr>
        <p:spPr>
          <a:xfrm>
            <a:off x="1069848" y="4169663"/>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Юридический / договоры</a:t>
            </a:r>
          </a:p>
        </p:txBody>
      </p:sp>
      <p:sp>
        <p:nvSpPr>
          <p:cNvPr id="33" name="TextBox 32"/>
          <p:cNvSpPr txBox="1"/>
          <p:nvPr/>
        </p:nvSpPr>
        <p:spPr>
          <a:xfrm>
            <a:off x="1069848" y="448056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LexisNexis · Westlaw</a:t>
            </a:r>
          </a:p>
        </p:txBody>
      </p:sp>
      <p:sp>
        <p:nvSpPr>
          <p:cNvPr id="34" name="TextBox 33"/>
          <p:cNvSpPr txBox="1"/>
          <p:nvPr/>
        </p:nvSpPr>
        <p:spPr>
          <a:xfrm>
            <a:off x="3611879" y="415137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гибрид (BM25 обязателен для цитат) + фильтры по метаданным</a:t>
            </a:r>
          </a:p>
        </p:txBody>
      </p:sp>
      <p:sp>
        <p:nvSpPr>
          <p:cNvPr id="35" name="TextBox 34"/>
          <p:cNvSpPr txBox="1"/>
          <p:nvPr/>
        </p:nvSpPr>
        <p:spPr>
          <a:xfrm>
            <a:off x="7863840" y="415137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17–33% галлюцинаций несмотря на «0%»; верификация цитат + человек-в-петле</a:t>
            </a:r>
            <a:r>
              <a:rPr sz="520" baseline="30000" b="0" i="1">
                <a:latin typeface="Arial"/>
                <a:cs typeface="Arial"/>
                <a:ea typeface="Arial"/>
                <a:solidFill>
                  <a:srgbClr val="1C7293"/>
                </a:solidFill>
              </a:rPr>
              <a:t>[2]</a:t>
            </a:r>
          </a:p>
        </p:txBody>
      </p:sp>
      <p:sp>
        <p:nvSpPr>
          <p:cNvPr id="36" name="Rectangle 35"/>
          <p:cNvSpPr/>
          <p:nvPr/>
        </p:nvSpPr>
        <p:spPr>
          <a:xfrm>
            <a:off x="502920" y="4809744"/>
            <a:ext cx="11201400" cy="731520"/>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2648" y="4937759"/>
            <a:ext cx="365760" cy="475488"/>
          </a:xfrm>
          <a:prstGeom prst="roundRect">
            <a:avLst>
              <a:gd name="adj" fmla="val 22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boxes-white.png"/>
          <p:cNvPicPr>
            <a:picLocks noChangeAspect="1"/>
          </p:cNvPicPr>
          <p:nvPr/>
        </p:nvPicPr>
        <p:blipFill>
          <a:blip r:embed="rId6"/>
          <a:stretch>
            <a:fillRect/>
          </a:stretch>
        </p:blipFill>
        <p:spPr>
          <a:xfrm>
            <a:off x="658368" y="5047488"/>
            <a:ext cx="274320" cy="274320"/>
          </a:xfrm>
          <a:prstGeom prst="rect">
            <a:avLst/>
          </a:prstGeom>
        </p:spPr>
      </p:pic>
      <p:sp>
        <p:nvSpPr>
          <p:cNvPr id="39" name="TextBox 38"/>
          <p:cNvSpPr txBox="1"/>
          <p:nvPr/>
        </p:nvSpPr>
        <p:spPr>
          <a:xfrm>
            <a:off x="1069848" y="4901183"/>
            <a:ext cx="2395727" cy="310896"/>
          </a:xfrm>
          <a:prstGeom prst="rect">
            <a:avLst/>
          </a:prstGeom>
          <a:noFill/>
        </p:spPr>
        <p:txBody>
          <a:bodyPr wrap="square" lIns="0" rIns="0" tIns="0" bIns="0" anchor="t">
            <a:spAutoFit/>
          </a:bodyPr>
          <a:lstStyle/>
          <a:p>
            <a:pPr algn="l">
              <a:lnSpc>
                <a:spcPct val="100000"/>
              </a:lnSpc>
            </a:pPr>
            <a:r>
              <a:rPr sz="1150" b="1" i="0">
                <a:solidFill>
                  <a:srgbClr val="21295C"/>
                </a:solidFill>
                <a:latin typeface="Arial"/>
              </a:rPr>
              <a:t>Enterprise: доки + таблицы</a:t>
            </a:r>
          </a:p>
        </p:txBody>
      </p:sp>
      <p:sp>
        <p:nvSpPr>
          <p:cNvPr id="40" name="TextBox 39"/>
          <p:cNvSpPr txBox="1"/>
          <p:nvPr/>
        </p:nvSpPr>
        <p:spPr>
          <a:xfrm>
            <a:off x="1069848" y="5212080"/>
            <a:ext cx="2395727" cy="274320"/>
          </a:xfrm>
          <a:prstGeom prst="rect">
            <a:avLst/>
          </a:prstGeom>
          <a:noFill/>
        </p:spPr>
        <p:txBody>
          <a:bodyPr wrap="square" lIns="0" rIns="0" tIns="0" bIns="0" anchor="t">
            <a:spAutoFit/>
          </a:bodyPr>
          <a:lstStyle/>
          <a:p>
            <a:pPr algn="l">
              <a:lnSpc>
                <a:spcPct val="100000"/>
              </a:lnSpc>
            </a:pPr>
            <a:r>
              <a:rPr sz="950" b="0" i="1">
                <a:solidFill>
                  <a:srgbClr val="1C7293"/>
                </a:solidFill>
                <a:latin typeface="Arial"/>
              </a:rPr>
              <a:t>Glean · eSapiens</a:t>
            </a:r>
          </a:p>
        </p:txBody>
      </p:sp>
      <p:sp>
        <p:nvSpPr>
          <p:cNvPr id="41" name="TextBox 40"/>
          <p:cNvSpPr txBox="1"/>
          <p:nvPr/>
        </p:nvSpPr>
        <p:spPr>
          <a:xfrm>
            <a:off x="3611879" y="4882896"/>
            <a:ext cx="4050792"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роутер: числовой → Text-to-SQL; текст → dense+BM25+реранк</a:t>
            </a:r>
          </a:p>
        </p:txBody>
      </p:sp>
      <p:sp>
        <p:nvSpPr>
          <p:cNvPr id="42" name="TextBox 41"/>
          <p:cNvSpPr txBox="1"/>
          <p:nvPr/>
        </p:nvSpPr>
        <p:spPr>
          <a:xfrm>
            <a:off x="7863840" y="4882896"/>
            <a:ext cx="3730751" cy="603504"/>
          </a:xfrm>
          <a:prstGeom prst="rect">
            <a:avLst/>
          </a:prstGeom>
          <a:noFill/>
        </p:spPr>
        <p:txBody>
          <a:bodyPr wrap="square" lIns="0" rIns="0" tIns="0" bIns="0" anchor="ctr">
            <a:spAutoFit/>
          </a:bodyPr>
          <a:lstStyle/>
          <a:p>
            <a:pPr algn="l">
              <a:lnSpc>
                <a:spcPct val="106000"/>
              </a:lnSpc>
            </a:pPr>
            <a:r>
              <a:rPr sz="1000" b="0" i="0">
                <a:solidFill>
                  <a:srgbClr val="21295C"/>
                </a:solidFill>
                <a:latin typeface="Arial"/>
              </a:rPr>
              <a:t>эмбеддит строки таблицы, не может сложить → неверные числа; роутинг + валидация SQL</a:t>
            </a:r>
          </a:p>
        </p:txBody>
      </p:sp>
      <p:sp>
        <p:nvSpPr>
          <p:cNvPr id="43" name="Rounded Rectangle 42"/>
          <p:cNvSpPr/>
          <p:nvPr/>
        </p:nvSpPr>
        <p:spPr>
          <a:xfrm>
            <a:off x="502920" y="5669279"/>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724143"/>
            <a:ext cx="10799064" cy="548640"/>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Два кейса — прямые «RAG был не тем инструментом»: Cody вернулся к классическому поиску по коду; агрегирующий вопрос по таблице → SQL, а не «найди похожие чанки». Retrieval-дизайн выводится из природы данных, а не копируется из чужого блога.</a:t>
            </a:r>
            <a:r>
              <a:rPr sz="624" baseline="30000" b="0" i="1">
                <a:latin typeface="Arial"/>
                <a:cs typeface="Arial"/>
                <a:ea typeface="Arial"/>
                <a:solidFill>
                  <a:srgbClr val="1C7293"/>
                </a:solidFill>
              </a:rPr>
              <a:t>[1]</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Barnett et al. 2024 — Seven Failure Points (RAG-архетипы)</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Stanford HAI/RegLab — Legal-AI галлюцинирует 17–33% (Lexis/Westlaw)</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10"/>
              </a:rPr>
              <a:t>Sourcegraph Cody — контекст без эмбеддингов (классический поиск)</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67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1201400"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ТИПОВОЙ RAG-КЕЙС · deep research</a:t>
            </a:r>
          </a:p>
        </p:txBody>
      </p:sp>
      <p:sp>
        <p:nvSpPr>
          <p:cNvPr id="3" name="TextBox 2"/>
          <p:cNvSpPr txBox="1"/>
          <p:nvPr/>
        </p:nvSpPr>
        <p:spPr>
          <a:xfrm>
            <a:off x="502920" y="603504"/>
            <a:ext cx="11201400" cy="54864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Deep research — это RAG + петля, не «большой промпт».</a:t>
            </a:r>
          </a:p>
        </p:txBody>
      </p:sp>
      <p:sp>
        <p:nvSpPr>
          <p:cNvPr id="4" name="TextBox 3"/>
          <p:cNvSpPr txBox="1"/>
          <p:nvPr/>
        </p:nvSpPr>
        <p:spPr>
          <a:xfrm>
            <a:off x="502920" y="1188720"/>
            <a:ext cx="11201400" cy="310896"/>
          </a:xfrm>
          <a:prstGeom prst="rect">
            <a:avLst/>
          </a:prstGeom>
          <a:noFill/>
        </p:spPr>
        <p:txBody>
          <a:bodyPr wrap="square" lIns="0" rIns="0" tIns="0" bIns="0" anchor="t">
            <a:spAutoFit/>
          </a:bodyPr>
          <a:lstStyle/>
          <a:p>
            <a:pPr algn="l">
              <a:lnSpc>
                <a:spcPct val="108000"/>
              </a:lnSpc>
            </a:pPr>
            <a:r>
              <a:rPr sz="1250" b="0" i="1">
                <a:solidFill>
                  <a:srgbClr val="065A82"/>
                </a:solidFill>
                <a:latin typeface="Arial"/>
              </a:rPr>
              <a:t>Определяющий компонент — retrieval и оркестрация, поэтому кейс здесь, а не в промптах. Как OpenAI Deep Research, Perplexity, Claude Research.</a:t>
            </a:r>
          </a:p>
        </p:txBody>
      </p:sp>
      <p:sp>
        <p:nvSpPr>
          <p:cNvPr id="5" name="Rounded Rectangle 4"/>
          <p:cNvSpPr/>
          <p:nvPr/>
        </p:nvSpPr>
        <p:spPr>
          <a:xfrm>
            <a:off x="502920" y="1645920"/>
            <a:ext cx="4160520" cy="4041648"/>
          </a:xfrm>
          <a:prstGeom prst="roundRect">
            <a:avLst>
              <a:gd name="adj" fmla="val 75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ask-research-panik-ru.png"/>
          <p:cNvPicPr>
            <a:picLocks noChangeAspect="1"/>
          </p:cNvPicPr>
          <p:nvPr/>
        </p:nvPicPr>
        <p:blipFill>
          <a:blip r:embed="rId2"/>
          <a:stretch>
            <a:fillRect/>
          </a:stretch>
        </p:blipFill>
        <p:spPr>
          <a:xfrm>
            <a:off x="1261295" y="1847088"/>
            <a:ext cx="2643768" cy="3639312"/>
          </a:xfrm>
          <a:prstGeom prst="rect">
            <a:avLst/>
          </a:prstGeom>
        </p:spPr>
      </p:pic>
      <p:sp>
        <p:nvSpPr>
          <p:cNvPr id="7" name="Rounded Rectangle 6"/>
          <p:cNvSpPr/>
          <p:nvPr/>
        </p:nvSpPr>
        <p:spPr>
          <a:xfrm>
            <a:off x="4937760" y="1645920"/>
            <a:ext cx="6766560" cy="1481328"/>
          </a:xfrm>
          <a:prstGeom prst="roundRect">
            <a:avLst>
              <a:gd name="adj" fmla="val 20576"/>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ute-teal.png"/>
          <p:cNvPicPr>
            <a:picLocks noChangeAspect="1"/>
          </p:cNvPicPr>
          <p:nvPr/>
        </p:nvPicPr>
        <p:blipFill>
          <a:blip r:embed="rId3"/>
          <a:stretch>
            <a:fillRect/>
          </a:stretch>
        </p:blipFill>
        <p:spPr>
          <a:xfrm>
            <a:off x="5157216" y="1792224"/>
            <a:ext cx="347472" cy="347472"/>
          </a:xfrm>
          <a:prstGeom prst="rect">
            <a:avLst/>
          </a:prstGeom>
        </p:spPr>
      </p:pic>
      <p:sp>
        <p:nvSpPr>
          <p:cNvPr id="9" name="TextBox 8"/>
          <p:cNvSpPr txBox="1"/>
          <p:nvPr/>
        </p:nvSpPr>
        <p:spPr>
          <a:xfrm>
            <a:off x="5614416" y="1783080"/>
            <a:ext cx="5852160" cy="310896"/>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Reasoning-LLM + агентный цикл RAG</a:t>
            </a:r>
          </a:p>
        </p:txBody>
      </p:sp>
      <p:sp>
        <p:nvSpPr>
          <p:cNvPr id="10" name="TextBox 9"/>
          <p:cNvSpPr txBox="1"/>
          <p:nvPr/>
        </p:nvSpPr>
        <p:spPr>
          <a:xfrm>
            <a:off x="5157216" y="2157984"/>
            <a:ext cx="6327648" cy="402336"/>
          </a:xfrm>
          <a:prstGeom prst="rect">
            <a:avLst/>
          </a:prstGeom>
          <a:noFill/>
        </p:spPr>
        <p:txBody>
          <a:bodyPr wrap="square" lIns="0" rIns="0" tIns="0" bIns="0" anchor="t">
            <a:spAutoFit/>
          </a:bodyPr>
          <a:lstStyle/>
          <a:p>
            <a:pPr algn="l">
              <a:lnSpc>
                <a:spcPct val="110000"/>
              </a:lnSpc>
            </a:pPr>
            <a:r>
              <a:rPr sz="1200" b="1" i="0">
                <a:solidFill>
                  <a:srgbClr val="21295C"/>
                </a:solidFill>
                <a:latin typeface="Liberation Mono"/>
              </a:rPr>
              <a:t>план под-вопросов → (поиск → чтение → уточнение рассуждения)×N → синтез → верификация цитат</a:t>
            </a:r>
          </a:p>
        </p:txBody>
      </p:sp>
      <p:sp>
        <p:nvSpPr>
          <p:cNvPr id="11" name="TextBox 10"/>
          <p:cNvSpPr txBox="1"/>
          <p:nvPr/>
        </p:nvSpPr>
        <p:spPr>
          <a:xfrm>
            <a:off x="5157216" y="2615184"/>
            <a:ext cx="6327648" cy="438912"/>
          </a:xfrm>
          <a:prstGeom prst="rect">
            <a:avLst/>
          </a:prstGeom>
          <a:noFill/>
        </p:spPr>
        <p:txBody>
          <a:bodyPr wrap="square" lIns="0" rIns="0" tIns="0" bIns="0" anchor="t">
            <a:spAutoFit/>
          </a:bodyPr>
          <a:lstStyle/>
          <a:p>
            <a:pPr algn="l">
              <a:lnSpc>
                <a:spcPct val="108000"/>
              </a:lnSpc>
            </a:pPr>
            <a:r>
              <a:rPr sz="1100" b="0" i="0">
                <a:solidFill>
                  <a:srgbClr val="21295C"/>
                </a:solidFill>
                <a:latin typeface="Arial"/>
              </a:rPr>
              <a:t>Рассуждение направляет поиск, находки уточняют рассуждение — закрытая петля (agentic RAG)</a:t>
            </a:r>
            <a:r>
              <a:rPr sz="572" baseline="30000" b="0" i="1">
                <a:latin typeface="Arial"/>
                <a:cs typeface="Arial"/>
                <a:ea typeface="Arial"/>
                <a:solidFill>
                  <a:srgbClr val="1C7293"/>
                </a:solidFill>
              </a:rPr>
              <a:t>[1]</a:t>
            </a:r>
            <a:r>
              <a:rPr sz="1100" b="0" i="0">
                <a:latin typeface="Arial"/>
                <a:cs typeface="Arial"/>
                <a:ea typeface="Arial"/>
                <a:solidFill>
                  <a:srgbClr val="21295C"/>
                </a:solidFill>
              </a:rPr>
              <a:t>, в отличие от статического retrieve-top-k → generate.</a:t>
            </a:r>
          </a:p>
        </p:txBody>
      </p:sp>
      <p:sp>
        <p:nvSpPr>
          <p:cNvPr id="12" name="Rounded Rectangle 11"/>
          <p:cNvSpPr/>
          <p:nvPr/>
        </p:nvSpPr>
        <p:spPr>
          <a:xfrm>
            <a:off x="4937760" y="3255264"/>
            <a:ext cx="6766560" cy="131673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57216" y="3364992"/>
            <a:ext cx="6327648" cy="27432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Типовой провал — фабрикация цитат</a:t>
            </a:r>
          </a:p>
        </p:txBody>
      </p:sp>
      <p:sp>
        <p:nvSpPr>
          <p:cNvPr id="14" name="TextBox 13"/>
          <p:cNvSpPr txBox="1"/>
          <p:nvPr/>
        </p:nvSpPr>
        <p:spPr>
          <a:xfrm>
            <a:off x="5157216" y="3675888"/>
            <a:ext cx="6327648" cy="822960"/>
          </a:xfrm>
          <a:prstGeom prst="rect">
            <a:avLst/>
          </a:prstGeom>
          <a:noFill/>
        </p:spPr>
        <p:txBody>
          <a:bodyPr wrap="square" lIns="0" rIns="0" tIns="0" bIns="0" anchor="t">
            <a:spAutoFit/>
          </a:bodyPr>
          <a:lstStyle/>
          <a:p>
            <a:pPr algn="l">
              <a:lnSpc>
                <a:spcPct val="110000"/>
              </a:lnSpc>
            </a:pPr>
            <a:r>
              <a:rPr sz="1150" b="1" i="0">
                <a:solidFill>
                  <a:srgbClr val="21295C"/>
                </a:solidFill>
                <a:latin typeface="Arial"/>
              </a:rPr>
              <a:t>3–13% URL сфабрикованы</a:t>
            </a:r>
            <a:r>
              <a:rPr sz="1150" b="0" i="0">
                <a:solidFill>
                  <a:srgbClr val="21295C"/>
                </a:solidFill>
                <a:latin typeface="Arial"/>
              </a:rPr>
              <a:t> (в retrieval-augmented режиме); DRACO: лучший результат ~65% качества цитат. Контринтуитивно: deep research хуже обычного поиска — </a:t>
            </a:r>
            <a:r>
              <a:rPr sz="1150" b="1" i="0">
                <a:solidFill>
                  <a:srgbClr val="21295C"/>
                </a:solidFill>
                <a:latin typeface="Arial"/>
              </a:rPr>
              <a:t>10,7% против 4,8%</a:t>
            </a:r>
            <a:r>
              <a:rPr sz="1150" b="0" i="0">
                <a:solidFill>
                  <a:srgbClr val="21295C"/>
                </a:solidFill>
                <a:latin typeface="Arial"/>
              </a:rPr>
              <a:t> фейковых цитат на запрос, потому что генерирует их кратно больше.</a:t>
            </a:r>
            <a:r>
              <a:rPr sz="598" baseline="30000" b="0" i="1">
                <a:latin typeface="Arial"/>
                <a:cs typeface="Arial"/>
                <a:ea typeface="Arial"/>
                <a:solidFill>
                  <a:srgbClr val="1C7293"/>
                </a:solidFill>
              </a:rPr>
              <a:t>[2]</a:t>
            </a:r>
          </a:p>
        </p:txBody>
      </p:sp>
      <p:sp>
        <p:nvSpPr>
          <p:cNvPr id="15" name="Rounded Rectangle 14"/>
          <p:cNvSpPr/>
          <p:nvPr/>
        </p:nvSpPr>
        <p:spPr>
          <a:xfrm>
            <a:off x="4937760" y="4700016"/>
            <a:ext cx="6766560" cy="9875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4754879"/>
            <a:ext cx="6364224" cy="877824"/>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Против ручного аналитика — быстрее и дешевле, НО без слоя верификации 3–13% ссылок ложны. Любую метрику из ИИ-ресёрча перепроверяй по резолвящемуся первоисточнику; число без базы считай красным флагом, а не фактом.</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Multi-Agent Research System (агентный цикл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arXiv:2604.03173 — фабрикация цитат в retrieval-augmented (3–13%)</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395728"/>
          </a:xfrm>
          <a:prstGeom prst="roundRect">
            <a:avLst>
              <a:gd name="adj" fmla="val 12722"/>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395728"/>
          </a:xfrm>
          <a:prstGeom prst="roundRect">
            <a:avLst>
              <a:gd name="adj" fmla="val 1272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в реальном времени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82296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457200" y="4069080"/>
            <a:ext cx="2057400" cy="1197864"/>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12-rollsafe-ru.png"/>
          <p:cNvPicPr>
            <a:picLocks noChangeAspect="1"/>
          </p:cNvPicPr>
          <p:nvPr/>
        </p:nvPicPr>
        <p:blipFill>
          <a:blip r:embed="rId5"/>
          <a:stretch>
            <a:fillRect/>
          </a:stretch>
        </p:blipFill>
        <p:spPr>
          <a:xfrm>
            <a:off x="502920" y="4114910"/>
            <a:ext cx="1965960" cy="1106203"/>
          </a:xfrm>
          <a:prstGeom prst="rect">
            <a:avLst/>
          </a:prstGeom>
        </p:spPr>
      </p:pic>
      <p:sp>
        <p:nvSpPr>
          <p:cNvPr id="27" name="TextBox 26"/>
          <p:cNvSpPr txBox="1"/>
          <p:nvPr/>
        </p:nvSpPr>
        <p:spPr>
          <a:xfrm>
            <a:off x="2798064" y="4133087"/>
            <a:ext cx="8275320" cy="1106424"/>
          </a:xfrm>
          <a:prstGeom prst="rect">
            <a:avLst/>
          </a:prstGeom>
          <a:noFill/>
        </p:spPr>
        <p:txBody>
          <a:bodyPr wrap="square" lIns="0" rIns="0" tIns="0" bIns="0" anchor="ctr">
            <a:spAutoFit/>
          </a:bodyPr>
          <a:lstStyle/>
          <a:p>
            <a:pPr algn="l">
              <a:lnSpc>
                <a:spcPct val="124000"/>
              </a:lnSpc>
            </a:pPr>
            <a:r>
              <a:rPr sz="1350" b="1" i="0">
                <a:solidFill>
                  <a:srgbClr val="065A82"/>
                </a:solidFill>
                <a:latin typeface="Arial"/>
              </a:rPr>
              <a:t>Частый анти-паттерн — ставить RAG-инфраструктуру там, где весь корпус спокойно помещается в контекстное окно и меняется редко.</a:t>
            </a:r>
          </a:p>
        </p:txBody>
      </p:sp>
      <p:sp>
        <p:nvSpPr>
          <p:cNvPr id="28" name="Rounded Rectangle 27"/>
          <p:cNvSpPr/>
          <p:nvPr/>
        </p:nvSpPr>
        <p:spPr>
          <a:xfrm>
            <a:off x="502920" y="5285232"/>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340096"/>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7"/>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8"/>
              </a:rPr>
              <a:t>McCarthy Tétrault — Air Canada («генерация поверх фикс. политики»)</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67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67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67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обучение модели: train/val/test и transfer learning.</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Обучение под задачу — это размеченная выборка с эталоном, разбиение train/val/test и перенос обучения (transfer learning) поверх предобученной модели. На этом стоит дообучение.</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Наборы для оценки (golden set) — без них катастрофическое забывание не видно;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67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67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100" b="1" i="0">
                <a:solidFill>
                  <a:srgbClr val="21295C"/>
                </a:solidFill>
                <a:latin typeface="Arial"/>
              </a:rPr>
              <a:t>Стоимость обучения — функция размера модели: Full-FT растёт линейно, LoRA почти плоско.</a:t>
            </a:r>
          </a:p>
        </p:txBody>
      </p:sp>
      <p:sp>
        <p:nvSpPr>
          <p:cNvPr id="3" name="TextBox 2"/>
          <p:cNvSpPr txBox="1"/>
          <p:nvPr/>
        </p:nvSpPr>
        <p:spPr>
          <a:xfrm>
            <a:off x="502920" y="1060704"/>
            <a:ext cx="11201400" cy="548640"/>
          </a:xfrm>
          <a:prstGeom prst="rect">
            <a:avLst/>
          </a:prstGeom>
          <a:noFill/>
        </p:spPr>
        <p:txBody>
          <a:bodyPr wrap="square" lIns="0" rIns="0" tIns="0" bIns="0" anchor="t">
            <a:spAutoFit/>
          </a:bodyPr>
          <a:lstStyle/>
          <a:p>
            <a:pPr algn="l">
              <a:lnSpc>
                <a:spcPct val="116000"/>
              </a:lnSpc>
            </a:pPr>
            <a:r>
              <a:rPr sz="1250" b="0" i="1">
                <a:solidFill>
                  <a:srgbClr val="065A82"/>
                </a:solidFill>
                <a:latin typeface="Arial"/>
              </a:rPr>
              <a:t>Несущий закон памяти: с оптимизатором Adam в смешанной точности на каждый ОБУЧАЕМЫЙ параметр нужно ≈16–20 байт (мастер-веса + градиент + два момента). Full-FT обучает все N параметров → VRAM ≈ 16–20 Б × N; LoRA замораживает базу и обучает ~0,1–1% → VRAM ≈ база в bf16 (2 Б × N) + ε.</a:t>
            </a:r>
          </a:p>
        </p:txBody>
      </p:sp>
      <p:sp>
        <p:nvSpPr>
          <p:cNvPr id="4" name="Rounded Rectangle 3"/>
          <p:cNvSpPr/>
          <p:nvPr/>
        </p:nvSpPr>
        <p:spPr>
          <a:xfrm>
            <a:off x="365760" y="1700784"/>
            <a:ext cx="11475720"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792224"/>
            <a:ext cx="324612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792224"/>
            <a:ext cx="3099815"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Метод \ размер модели</a:t>
            </a:r>
          </a:p>
        </p:txBody>
      </p:sp>
      <p:sp>
        <p:nvSpPr>
          <p:cNvPr id="7" name="Rectangle 6"/>
          <p:cNvSpPr/>
          <p:nvPr/>
        </p:nvSpPr>
        <p:spPr>
          <a:xfrm>
            <a:off x="372160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7B/8B</a:t>
            </a:r>
          </a:p>
        </p:txBody>
      </p:sp>
      <p:sp>
        <p:nvSpPr>
          <p:cNvPr id="9" name="Rectangle 8"/>
          <p:cNvSpPr/>
          <p:nvPr/>
        </p:nvSpPr>
        <p:spPr>
          <a:xfrm>
            <a:off x="564184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13–14B</a:t>
            </a:r>
          </a:p>
        </p:txBody>
      </p:sp>
      <p:sp>
        <p:nvSpPr>
          <p:cNvPr id="11" name="Rectangle 10"/>
          <p:cNvSpPr/>
          <p:nvPr/>
        </p:nvSpPr>
        <p:spPr>
          <a:xfrm>
            <a:off x="7562088" y="1792224"/>
            <a:ext cx="19202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1792224"/>
            <a:ext cx="17739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70B</a:t>
            </a:r>
          </a:p>
        </p:txBody>
      </p:sp>
      <p:sp>
        <p:nvSpPr>
          <p:cNvPr id="13" name="Rectangle 12"/>
          <p:cNvSpPr/>
          <p:nvPr/>
        </p:nvSpPr>
        <p:spPr>
          <a:xfrm>
            <a:off x="9482328" y="1792224"/>
            <a:ext cx="2148840" cy="40233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1792224"/>
            <a:ext cx="2002536" cy="402336"/>
          </a:xfrm>
          <a:prstGeom prst="rect">
            <a:avLst/>
          </a:prstGeom>
          <a:noFill/>
        </p:spPr>
        <p:txBody>
          <a:bodyPr wrap="square" lIns="0" rIns="0" tIns="0" bIns="0" anchor="ctr">
            <a:spAutoFit/>
          </a:bodyPr>
          <a:lstStyle/>
          <a:p>
            <a:pPr algn="ctr">
              <a:lnSpc>
                <a:spcPct val="100000"/>
              </a:lnSpc>
            </a:pPr>
            <a:r>
              <a:rPr sz="1050" b="1" i="0">
                <a:solidFill>
                  <a:srgbClr val="FFFFFF"/>
                </a:solidFill>
                <a:latin typeface="Arial"/>
              </a:rPr>
              <a:t>405B</a:t>
            </a:r>
          </a:p>
        </p:txBody>
      </p:sp>
      <p:sp>
        <p:nvSpPr>
          <p:cNvPr id="15" name="Rectangle 14"/>
          <p:cNvSpPr/>
          <p:nvPr/>
        </p:nvSpPr>
        <p:spPr>
          <a:xfrm>
            <a:off x="475488" y="2194560"/>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194560"/>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Full-FT — VRAM (16–20 Б × N)</a:t>
            </a:r>
          </a:p>
        </p:txBody>
      </p:sp>
      <p:sp>
        <p:nvSpPr>
          <p:cNvPr id="17" name="Rectangle 16"/>
          <p:cNvSpPr/>
          <p:nvPr/>
        </p:nvSpPr>
        <p:spPr>
          <a:xfrm>
            <a:off x="372160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~88–160 ГБ
(4–5× A100-40)</a:t>
            </a:r>
          </a:p>
        </p:txBody>
      </p:sp>
      <p:sp>
        <p:nvSpPr>
          <p:cNvPr id="19" name="Rectangle 18"/>
          <p:cNvSpPr/>
          <p:nvPr/>
        </p:nvSpPr>
        <p:spPr>
          <a:xfrm>
            <a:off x="564184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1500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~174 ГБ</a:t>
            </a:r>
          </a:p>
        </p:txBody>
      </p:sp>
      <p:sp>
        <p:nvSpPr>
          <p:cNvPr id="21" name="Rectangle 20"/>
          <p:cNvSpPr/>
          <p:nvPr/>
        </p:nvSpPr>
        <p:spPr>
          <a:xfrm>
            <a:off x="7562088" y="2194560"/>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194560"/>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~860 ГБ
(≈11× H100-80)</a:t>
            </a:r>
          </a:p>
        </p:txBody>
      </p:sp>
      <p:sp>
        <p:nvSpPr>
          <p:cNvPr id="23" name="Rectangle 22"/>
          <p:cNvSpPr/>
          <p:nvPr/>
        </p:nvSpPr>
        <p:spPr>
          <a:xfrm>
            <a:off x="9482328" y="2194560"/>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2194560"/>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тысячи ГБ,
кластер</a:t>
            </a:r>
          </a:p>
        </p:txBody>
      </p:sp>
      <p:sp>
        <p:nvSpPr>
          <p:cNvPr id="25" name="Rectangle 24"/>
          <p:cNvSpPr/>
          <p:nvPr/>
        </p:nvSpPr>
        <p:spPr>
          <a:xfrm>
            <a:off x="475488" y="2754172"/>
            <a:ext cx="324612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2754172"/>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LoRA — VRAM (база + ε)</a:t>
            </a:r>
          </a:p>
        </p:txBody>
      </p:sp>
      <p:sp>
        <p:nvSpPr>
          <p:cNvPr id="27" name="Rectangle 26"/>
          <p:cNvSpPr/>
          <p:nvPr/>
        </p:nvSpPr>
        <p:spPr>
          <a:xfrm>
            <a:off x="372160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79476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~20 ГБ
(1× 24-ГБ)</a:t>
            </a:r>
          </a:p>
        </p:txBody>
      </p:sp>
      <p:sp>
        <p:nvSpPr>
          <p:cNvPr id="29" name="Rectangle 28"/>
          <p:cNvSpPr/>
          <p:nvPr/>
        </p:nvSpPr>
        <p:spPr>
          <a:xfrm>
            <a:off x="564184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1500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~35 ГБ</a:t>
            </a:r>
          </a:p>
        </p:txBody>
      </p:sp>
      <p:sp>
        <p:nvSpPr>
          <p:cNvPr id="31" name="Rectangle 30"/>
          <p:cNvSpPr/>
          <p:nvPr/>
        </p:nvSpPr>
        <p:spPr>
          <a:xfrm>
            <a:off x="7562088" y="2754172"/>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35240" y="2754172"/>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~159 ГБ
(2× 80-ГБ)</a:t>
            </a:r>
          </a:p>
        </p:txBody>
      </p:sp>
      <p:sp>
        <p:nvSpPr>
          <p:cNvPr id="33" name="Rectangle 32"/>
          <p:cNvSpPr/>
          <p:nvPr/>
        </p:nvSpPr>
        <p:spPr>
          <a:xfrm>
            <a:off x="9482328" y="2754172"/>
            <a:ext cx="21488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80" y="2754172"/>
            <a:ext cx="20025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сотни ГБ,
≪ Full-FT</a:t>
            </a:r>
          </a:p>
        </p:txBody>
      </p:sp>
      <p:sp>
        <p:nvSpPr>
          <p:cNvPr id="35" name="Rectangle 34"/>
          <p:cNvSpPr/>
          <p:nvPr/>
        </p:nvSpPr>
        <p:spPr>
          <a:xfrm>
            <a:off x="475488" y="3313785"/>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3313785"/>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Full-FT — $ / GPU-часы</a:t>
            </a:r>
          </a:p>
        </p:txBody>
      </p:sp>
      <p:sp>
        <p:nvSpPr>
          <p:cNvPr id="37" name="Rectangle 36"/>
          <p:cNvSpPr/>
          <p:nvPr/>
        </p:nvSpPr>
        <p:spPr>
          <a:xfrm>
            <a:off x="372160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79476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десятки $</a:t>
            </a:r>
          </a:p>
        </p:txBody>
      </p:sp>
      <p:sp>
        <p:nvSpPr>
          <p:cNvPr id="39" name="Rectangle 38"/>
          <p:cNvSpPr/>
          <p:nvPr/>
        </p:nvSpPr>
        <p:spPr>
          <a:xfrm>
            <a:off x="564184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71500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сотни $</a:t>
            </a:r>
          </a:p>
        </p:txBody>
      </p:sp>
      <p:sp>
        <p:nvSpPr>
          <p:cNvPr id="41" name="Rectangle 40"/>
          <p:cNvSpPr/>
          <p:nvPr/>
        </p:nvSpPr>
        <p:spPr>
          <a:xfrm>
            <a:off x="7562088" y="3313785"/>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35240" y="3313785"/>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$1 785
(32ч·11×H100)</a:t>
            </a:r>
          </a:p>
        </p:txBody>
      </p:sp>
      <p:sp>
        <p:nvSpPr>
          <p:cNvPr id="43" name="Rectangle 42"/>
          <p:cNvSpPr/>
          <p:nvPr/>
        </p:nvSpPr>
        <p:spPr>
          <a:xfrm>
            <a:off x="9482328" y="3313785"/>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55480" y="3313785"/>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претрейн-класс</a:t>
            </a:r>
          </a:p>
        </p:txBody>
      </p:sp>
      <p:sp>
        <p:nvSpPr>
          <p:cNvPr id="45" name="Rectangle 44"/>
          <p:cNvSpPr/>
          <p:nvPr/>
        </p:nvSpPr>
        <p:spPr>
          <a:xfrm>
            <a:off x="475488" y="3873398"/>
            <a:ext cx="324612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48640" y="3873398"/>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LoRA — $ / GPU-часы</a:t>
            </a:r>
          </a:p>
        </p:txBody>
      </p:sp>
      <p:sp>
        <p:nvSpPr>
          <p:cNvPr id="47" name="Rectangle 46"/>
          <p:cNvSpPr/>
          <p:nvPr/>
        </p:nvSpPr>
        <p:spPr>
          <a:xfrm>
            <a:off x="372160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79476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~$3
(3ч·1×5090)</a:t>
            </a:r>
          </a:p>
        </p:txBody>
      </p:sp>
      <p:sp>
        <p:nvSpPr>
          <p:cNvPr id="49" name="Rectangle 48"/>
          <p:cNvSpPr/>
          <p:nvPr/>
        </p:nvSpPr>
        <p:spPr>
          <a:xfrm>
            <a:off x="564184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1500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единицы–
десятки $</a:t>
            </a:r>
          </a:p>
        </p:txBody>
      </p:sp>
      <p:sp>
        <p:nvSpPr>
          <p:cNvPr id="51" name="Rectangle 50"/>
          <p:cNvSpPr/>
          <p:nvPr/>
        </p:nvSpPr>
        <p:spPr>
          <a:xfrm>
            <a:off x="7562088" y="3873398"/>
            <a:ext cx="19202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35240" y="3873398"/>
            <a:ext cx="17739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~$20
(10ч·1×H100)</a:t>
            </a:r>
          </a:p>
        </p:txBody>
      </p:sp>
      <p:sp>
        <p:nvSpPr>
          <p:cNvPr id="53" name="Rectangle 52"/>
          <p:cNvSpPr/>
          <p:nvPr/>
        </p:nvSpPr>
        <p:spPr>
          <a:xfrm>
            <a:off x="9482328" y="3873398"/>
            <a:ext cx="2148840" cy="55961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555480" y="3873398"/>
            <a:ext cx="2002536" cy="559612"/>
          </a:xfrm>
          <a:prstGeom prst="rect">
            <a:avLst/>
          </a:prstGeom>
          <a:noFill/>
        </p:spPr>
        <p:txBody>
          <a:bodyPr wrap="square" lIns="0" rIns="0" tIns="0" bIns="0" anchor="ctr">
            <a:spAutoFit/>
          </a:bodyPr>
          <a:lstStyle/>
          <a:p>
            <a:pPr algn="ctr">
              <a:lnSpc>
                <a:spcPct val="100000"/>
              </a:lnSpc>
            </a:pPr>
            <a:r>
              <a:rPr sz="950" b="1" i="0">
                <a:solidFill>
                  <a:srgbClr val="21295C"/>
                </a:solidFill>
                <a:latin typeface="Arial"/>
              </a:rPr>
              <a:t>сотни $</a:t>
            </a:r>
          </a:p>
        </p:txBody>
      </p:sp>
      <p:sp>
        <p:nvSpPr>
          <p:cNvPr id="55" name="Rectangle 54"/>
          <p:cNvSpPr/>
          <p:nvPr/>
        </p:nvSpPr>
        <p:spPr>
          <a:xfrm>
            <a:off x="475488" y="4433011"/>
            <a:ext cx="324612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4433011"/>
            <a:ext cx="3099815" cy="559612"/>
          </a:xfrm>
          <a:prstGeom prst="rect">
            <a:avLst/>
          </a:prstGeom>
          <a:noFill/>
        </p:spPr>
        <p:txBody>
          <a:bodyPr wrap="square" lIns="0" rIns="0" tIns="0" bIns="0" anchor="ctr">
            <a:spAutoFit/>
          </a:bodyPr>
          <a:lstStyle/>
          <a:p>
            <a:pPr algn="l">
              <a:lnSpc>
                <a:spcPct val="100000"/>
              </a:lnSpc>
            </a:pPr>
            <a:r>
              <a:rPr sz="950" b="1" i="0">
                <a:solidFill>
                  <a:srgbClr val="21295C"/>
                </a:solidFill>
                <a:latin typeface="Arial"/>
              </a:rPr>
              <a:t>Претрейн с нуля — $</a:t>
            </a:r>
          </a:p>
        </p:txBody>
      </p:sp>
      <p:sp>
        <p:nvSpPr>
          <p:cNvPr id="57" name="Rectangle 56"/>
          <p:cNvSpPr/>
          <p:nvPr/>
        </p:nvSpPr>
        <p:spPr>
          <a:xfrm>
            <a:off x="372160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9476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~184k A100-ч</a:t>
            </a:r>
          </a:p>
        </p:txBody>
      </p:sp>
      <p:sp>
        <p:nvSpPr>
          <p:cNvPr id="59" name="Rectangle 58"/>
          <p:cNvSpPr/>
          <p:nvPr/>
        </p:nvSpPr>
        <p:spPr>
          <a:xfrm>
            <a:off x="564184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1500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a:t>
            </a:r>
          </a:p>
        </p:txBody>
      </p:sp>
      <p:sp>
        <p:nvSpPr>
          <p:cNvPr id="61" name="Rectangle 60"/>
          <p:cNvSpPr/>
          <p:nvPr/>
        </p:nvSpPr>
        <p:spPr>
          <a:xfrm>
            <a:off x="7562088" y="4433011"/>
            <a:ext cx="19202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635240" y="4433011"/>
            <a:ext cx="17739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a:t>
            </a:r>
          </a:p>
        </p:txBody>
      </p:sp>
      <p:sp>
        <p:nvSpPr>
          <p:cNvPr id="63" name="Rectangle 62"/>
          <p:cNvSpPr/>
          <p:nvPr/>
        </p:nvSpPr>
        <p:spPr>
          <a:xfrm>
            <a:off x="9482328" y="4433011"/>
            <a:ext cx="2148840" cy="55961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555480" y="4433011"/>
            <a:ext cx="2002536" cy="559612"/>
          </a:xfrm>
          <a:prstGeom prst="rect">
            <a:avLst/>
          </a:prstGeom>
          <a:noFill/>
        </p:spPr>
        <p:txBody>
          <a:bodyPr wrap="square" lIns="0" rIns="0" tIns="0" bIns="0" anchor="ctr">
            <a:spAutoFit/>
          </a:bodyPr>
          <a:lstStyle/>
          <a:p>
            <a:pPr algn="ctr">
              <a:lnSpc>
                <a:spcPct val="100000"/>
              </a:lnSpc>
            </a:pPr>
            <a:r>
              <a:rPr sz="950" b="0" i="0">
                <a:solidFill>
                  <a:srgbClr val="21295C"/>
                </a:solidFill>
                <a:latin typeface="Arial"/>
              </a:rPr>
              <a:t>30,8M H100-ч
≈ $61–92M</a:t>
            </a:r>
          </a:p>
        </p:txBody>
      </p:sp>
      <p:sp>
        <p:nvSpPr>
          <p:cNvPr id="65" name="Rounded Rectangle 64"/>
          <p:cNvSpPr/>
          <p:nvPr/>
        </p:nvSpPr>
        <p:spPr>
          <a:xfrm>
            <a:off x="502920" y="5175504"/>
            <a:ext cx="5532120" cy="96926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13232" y="5266944"/>
            <a:ext cx="5120640" cy="822960"/>
          </a:xfrm>
          <a:prstGeom prst="rect">
            <a:avLst/>
          </a:prstGeom>
          <a:noFill/>
        </p:spPr>
        <p:txBody>
          <a:bodyPr wrap="square" lIns="0" rIns="0" tIns="0" bIns="0" anchor="t">
            <a:spAutoFit/>
          </a:bodyPr>
          <a:lstStyle/>
          <a:p>
            <a:pPr algn="l">
              <a:lnSpc>
                <a:spcPct val="114000"/>
              </a:lnSpc>
            </a:pPr>
            <a:r>
              <a:rPr sz="1150" b="1" i="0">
                <a:solidFill>
                  <a:srgbClr val="028090"/>
                </a:solidFill>
                <a:latin typeface="Arial"/>
              </a:rPr>
              <a:t>Нота (не метод): QLoRA = «квантуй базу в 4 бита». </a:t>
            </a:r>
            <a:r>
              <a:rPr sz="1100" b="0" i="0">
                <a:solidFill>
                  <a:srgbClr val="21295C"/>
                </a:solidFill>
                <a:latin typeface="Arial"/>
              </a:rPr>
              <a:t>Не меняет, что обучается (те же LoRA-адаптеры) — режет вес замороженной базы ×0,25: 65B влезает в одну 48-ГБ карту</a:t>
            </a:r>
            <a:r>
              <a:rPr sz="572" baseline="30000" b="0" i="1">
                <a:latin typeface="Arial"/>
                <a:cs typeface="Arial"/>
                <a:ea typeface="Arial"/>
                <a:solidFill>
                  <a:srgbClr val="1C7293"/>
                </a:solidFill>
              </a:rPr>
              <a:t>[2]</a:t>
            </a:r>
            <a:r>
              <a:rPr sz="1100" b="0" i="0">
                <a:latin typeface="Arial"/>
                <a:cs typeface="Arial"/>
                <a:ea typeface="Arial"/>
                <a:solidFill>
                  <a:srgbClr val="21295C"/>
                </a:solidFill>
              </a:rPr>
              <a:t>, 7B ужимается до ~5–8 ГБ.</a:t>
            </a:r>
          </a:p>
        </p:txBody>
      </p:sp>
      <p:sp>
        <p:nvSpPr>
          <p:cNvPr id="67" name="Rounded Rectangle 66"/>
          <p:cNvSpPr/>
          <p:nvPr/>
        </p:nvSpPr>
        <p:spPr>
          <a:xfrm>
            <a:off x="6172200" y="5175504"/>
            <a:ext cx="5532120" cy="9692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73368" y="5230368"/>
            <a:ext cx="5129783" cy="859536"/>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LoRA — дефолт: 7B-LoRA &lt;$10 — дешевле фронтир-претрейна ($61–92M) на ~7 порядков</a:t>
            </a:r>
            <a:r>
              <a:rPr sz="572" baseline="30000" b="0" i="1">
                <a:latin typeface="Arial"/>
                <a:cs typeface="Arial"/>
                <a:ea typeface="Arial"/>
                <a:solidFill>
                  <a:srgbClr val="1C7293"/>
                </a:solidFill>
              </a:rPr>
              <a:t>[1]</a:t>
            </a:r>
            <a:r>
              <a:rPr sz="1100" b="1" i="0">
                <a:latin typeface="Arial"/>
                <a:cs typeface="Arial"/>
                <a:ea typeface="Arial"/>
                <a:solidFill>
                  <a:srgbClr val="21295C"/>
                </a:solidFill>
              </a:rPr>
              <a:t>. Full-FT оправдан лишь когда датасет превышает ёмкость LoRA; для узкой поведенческой адаптации не покупает ничего сверх LoRA, а добавляет ×6–10 памяти и риск забывания.</a:t>
            </a:r>
          </a:p>
        </p:txBody>
      </p:sp>
      <p:sp>
        <p:nvSpPr>
          <p:cNvPr id="69" name="TextBox 6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Thinking Machines — LoRA Without Regret (LoRA ≈ Full-FT при условиях)</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 (65B на одной 48-ГБ карте)</a:t>
            </a:r>
            <a:r>
              <a:rPr sz="850" i="1">
                <a:solidFill>
                  <a:srgbClr val="5B6678"/>
                </a:solidFill>
                <a:latin typeface="Arial"/>
              </a:rPr>
              <a:t>   ·   LoRA r=64, Adam, смешанная точность; конкретные $ и часы движутся — важен порядок и характер роста, не точная цифра.</a:t>
            </a:r>
          </a:p>
        </p:txBody>
      </p:sp>
      <p:sp>
        <p:nvSpPr>
          <p:cNvPr id="70" name="TextBox 6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4688" y="201168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1. Дешевле и быстрее</a:t>
            </a:r>
          </a:p>
        </p:txBody>
      </p:sp>
      <p:sp>
        <p:nvSpPr>
          <p:cNvPr id="16" name="TextBox 15"/>
          <p:cNvSpPr txBox="1"/>
          <p:nvPr/>
        </p:nvSpPr>
        <p:spPr>
          <a:xfrm>
            <a:off x="5504688" y="232257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миллионы параметров вместо миллиардов; QLoRA — на одном GPU</a:t>
            </a:r>
          </a:p>
        </p:txBody>
      </p:sp>
      <p:sp>
        <p:nvSpPr>
          <p:cNvPr id="17" name="Rounded Rectangle 16"/>
          <p:cNvSpPr/>
          <p:nvPr/>
        </p:nvSpPr>
        <p:spPr>
          <a:xfrm>
            <a:off x="5303520" y="2926080"/>
            <a:ext cx="3246120" cy="8961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04688" y="3017520"/>
            <a:ext cx="2843784"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2. Модульность</a:t>
            </a:r>
          </a:p>
        </p:txBody>
      </p:sp>
      <p:sp>
        <p:nvSpPr>
          <p:cNvPr id="19" name="TextBox 18"/>
          <p:cNvSpPr txBox="1"/>
          <p:nvPr/>
        </p:nvSpPr>
        <p:spPr>
          <a:xfrm>
            <a:off x="5504688" y="3328416"/>
            <a:ext cx="2843784" cy="438912"/>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931920"/>
            <a:ext cx="3246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4688" y="4023360"/>
            <a:ext cx="2843784"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3. ↓ Риск забывания</a:t>
            </a:r>
          </a:p>
        </p:txBody>
      </p:sp>
      <p:sp>
        <p:nvSpPr>
          <p:cNvPr id="22" name="TextBox 21"/>
          <p:cNvSpPr txBox="1"/>
          <p:nvPr/>
        </p:nvSpPr>
        <p:spPr>
          <a:xfrm>
            <a:off x="5504688" y="4334256"/>
            <a:ext cx="2843784" cy="475488"/>
          </a:xfrm>
          <a:prstGeom prst="rect">
            <a:avLst/>
          </a:prstGeom>
          <a:noFill/>
        </p:spPr>
        <p:txBody>
          <a:bodyPr wrap="square" lIns="0" rIns="0" tIns="0" bIns="0" anchor="t">
            <a:spAutoFit/>
          </a:bodyPr>
          <a:lstStyle/>
          <a:p>
            <a:pPr algn="l">
              <a:lnSpc>
                <a:spcPct val="110000"/>
              </a:lnSpc>
            </a:pPr>
            <a:r>
              <a:rPr sz="1200" b="0" i="0">
                <a:solidFill>
                  <a:srgbClr val="21295C"/>
                </a:solidFill>
                <a:latin typeface="Arial"/>
              </a:rPr>
              <a:t>база заморожена, физически не переписывается под новый сигнал</a:t>
            </a:r>
          </a:p>
        </p:txBody>
      </p:sp>
      <p:sp>
        <p:nvSpPr>
          <p:cNvPr id="23" name="Rounded Rectangle 22"/>
          <p:cNvSpPr/>
          <p:nvPr/>
        </p:nvSpPr>
        <p:spPr>
          <a:xfrm>
            <a:off x="8732520" y="1920240"/>
            <a:ext cx="297180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15-doge-ru.png"/>
          <p:cNvPicPr>
            <a:picLocks noChangeAspect="1"/>
          </p:cNvPicPr>
          <p:nvPr/>
        </p:nvPicPr>
        <p:blipFill>
          <a:blip r:embed="rId2"/>
          <a:stretch>
            <a:fillRect/>
          </a:stretch>
        </p:blipFill>
        <p:spPr>
          <a:xfrm>
            <a:off x="8842248" y="2302955"/>
            <a:ext cx="2752344" cy="2114928"/>
          </a:xfrm>
          <a:prstGeom prst="rect">
            <a:avLst/>
          </a:prstGeom>
        </p:spPr>
      </p:pic>
      <p:sp>
        <p:nvSpPr>
          <p:cNvPr id="25" name="Rounded Rectangle 24"/>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7" name="TextBox 26"/>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8" name="Rounded Rectangle 27"/>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67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67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Дистилляция — это дообучение маленькой модели: отличается целью и данными, не тем, что «не обучение».</a:t>
            </a:r>
          </a:p>
        </p:txBody>
      </p:sp>
      <p:sp>
        <p:nvSpPr>
          <p:cNvPr id="3" name="TextBox 2"/>
          <p:cNvSpPr txBox="1"/>
          <p:nvPr/>
        </p:nvSpPr>
        <p:spPr>
          <a:xfrm>
            <a:off x="502920" y="1152144"/>
            <a:ext cx="7818120" cy="512064"/>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Ученика действительно дообучают, поэтому «это дообучение» и «это дистилляция» истинны одновременно. Отличие от обычного fine-tuning — не в «обучают/не обучают», а в двух осях ниже.</a:t>
            </a:r>
          </a:p>
        </p:txBody>
      </p:sp>
      <p:sp>
        <p:nvSpPr>
          <p:cNvPr id="4" name="Rounded Rectangle 3"/>
          <p:cNvSpPr/>
          <p:nvPr/>
        </p:nvSpPr>
        <p:spPr>
          <a:xfrm>
            <a:off x="502920" y="1810512"/>
            <a:ext cx="7818120" cy="1792224"/>
          </a:xfrm>
          <a:prstGeom prst="roundRect">
            <a:avLst>
              <a:gd name="adj" fmla="val 170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9808" y="2212848"/>
            <a:ext cx="2103120" cy="1170432"/>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618487" y="2322576"/>
            <a:ext cx="329184" cy="329184"/>
          </a:xfrm>
          <a:prstGeom prst="rect">
            <a:avLst/>
          </a:prstGeom>
        </p:spPr>
      </p:pic>
      <p:sp>
        <p:nvSpPr>
          <p:cNvPr id="7" name="TextBox 6"/>
          <p:cNvSpPr txBox="1"/>
          <p:nvPr/>
        </p:nvSpPr>
        <p:spPr>
          <a:xfrm>
            <a:off x="822959" y="2706624"/>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Учитель (teacher)</a:t>
            </a:r>
          </a:p>
        </p:txBody>
      </p:sp>
      <p:sp>
        <p:nvSpPr>
          <p:cNvPr id="8" name="TextBox 7"/>
          <p:cNvSpPr txBox="1"/>
          <p:nvPr/>
        </p:nvSpPr>
        <p:spPr>
          <a:xfrm>
            <a:off x="841247" y="2980944"/>
            <a:ext cx="1920239" cy="365760"/>
          </a:xfrm>
          <a:prstGeom prst="rect">
            <a:avLst/>
          </a:prstGeom>
          <a:noFill/>
        </p:spPr>
        <p:txBody>
          <a:bodyPr wrap="square" lIns="0" rIns="0" tIns="0" bIns="0" anchor="t">
            <a:spAutoFit/>
          </a:bodyPr>
          <a:lstStyle/>
          <a:p>
            <a:pPr algn="ctr">
              <a:lnSpc>
                <a:spcPct val="102000"/>
              </a:lnSpc>
            </a:pPr>
            <a:r>
              <a:rPr sz="1050" b="0" i="1">
                <a:solidFill>
                  <a:srgbClr val="5B6678"/>
                </a:solidFill>
                <a:latin typeface="Arial"/>
              </a:rPr>
              <a:t>большая, сильная модель</a:t>
            </a:r>
          </a:p>
        </p:txBody>
      </p:sp>
      <p:sp>
        <p:nvSpPr>
          <p:cNvPr id="9" name="TextBox 8"/>
          <p:cNvSpPr txBox="1"/>
          <p:nvPr/>
        </p:nvSpPr>
        <p:spPr>
          <a:xfrm>
            <a:off x="2468879" y="1865376"/>
            <a:ext cx="1737360" cy="310896"/>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soft logits →</a:t>
            </a:r>
          </a:p>
        </p:txBody>
      </p:sp>
      <p:sp>
        <p:nvSpPr>
          <p:cNvPr id="10" name="Right Arrow 9"/>
          <p:cNvSpPr/>
          <p:nvPr/>
        </p:nvSpPr>
        <p:spPr>
          <a:xfrm>
            <a:off x="2980944" y="2642616"/>
            <a:ext cx="713232" cy="31089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813048" y="2212848"/>
            <a:ext cx="2103120" cy="1170432"/>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4709160" y="2322576"/>
            <a:ext cx="292608" cy="292608"/>
          </a:xfrm>
          <a:prstGeom prst="rect">
            <a:avLst/>
          </a:prstGeom>
        </p:spPr>
      </p:pic>
      <p:sp>
        <p:nvSpPr>
          <p:cNvPr id="13" name="TextBox 12"/>
          <p:cNvSpPr txBox="1"/>
          <p:nvPr/>
        </p:nvSpPr>
        <p:spPr>
          <a:xfrm>
            <a:off x="3886200" y="2688336"/>
            <a:ext cx="1956815"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Ученик (student)</a:t>
            </a:r>
          </a:p>
        </p:txBody>
      </p:sp>
      <p:sp>
        <p:nvSpPr>
          <p:cNvPr id="14" name="TextBox 13"/>
          <p:cNvSpPr txBox="1"/>
          <p:nvPr/>
        </p:nvSpPr>
        <p:spPr>
          <a:xfrm>
            <a:off x="3904487" y="2962656"/>
            <a:ext cx="1920239" cy="384048"/>
          </a:xfrm>
          <a:prstGeom prst="rect">
            <a:avLst/>
          </a:prstGeom>
          <a:noFill/>
        </p:spPr>
        <p:txBody>
          <a:bodyPr wrap="square" lIns="0" rIns="0" tIns="0" bIns="0" anchor="t">
            <a:spAutoFit/>
          </a:bodyPr>
          <a:lstStyle/>
          <a:p>
            <a:pPr algn="ctr">
              <a:lnSpc>
                <a:spcPct val="102000"/>
              </a:lnSpc>
            </a:pPr>
            <a:r>
              <a:rPr sz="1000" b="0" i="1">
                <a:solidFill>
                  <a:srgbClr val="21295C"/>
                </a:solidFill>
                <a:latin typeface="Arial"/>
              </a:rPr>
              <a:t>маленькую ДООБУЧАЮТ на выходах учителя</a:t>
            </a:r>
          </a:p>
        </p:txBody>
      </p:sp>
      <p:sp>
        <p:nvSpPr>
          <p:cNvPr id="15" name="Rounded Rectangle 14"/>
          <p:cNvSpPr/>
          <p:nvPr/>
        </p:nvSpPr>
        <p:spPr>
          <a:xfrm>
            <a:off x="502920" y="3712463"/>
            <a:ext cx="3840480" cy="1444752"/>
          </a:xfrm>
          <a:prstGeom prst="roundRect">
            <a:avLst>
              <a:gd name="adj" fmla="val 210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3822191"/>
            <a:ext cx="3474720"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Ось 1 — ЦЕЛЬ (что матчим):</a:t>
            </a:r>
          </a:p>
        </p:txBody>
      </p:sp>
      <p:sp>
        <p:nvSpPr>
          <p:cNvPr id="17" name="TextBox 16"/>
          <p:cNvSpPr txBox="1"/>
          <p:nvPr/>
        </p:nvSpPr>
        <p:spPr>
          <a:xfrm>
            <a:off x="71323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обычный SFT учит на жёстких метках «вот правильный класс». Дистилляция матчит РАСПРЕДЕЛЕНИЕ учителя</a:t>
            </a:r>
            <a:r>
              <a:rPr sz="546" baseline="30000" b="0" i="1">
                <a:latin typeface="Arial"/>
                <a:cs typeface="Arial"/>
                <a:ea typeface="Arial"/>
                <a:solidFill>
                  <a:srgbClr val="1C7293"/>
                </a:solidFill>
              </a:rPr>
              <a:t>[1]</a:t>
            </a:r>
            <a:r>
              <a:rPr sz="1050" b="0" i="0">
                <a:latin typeface="Arial"/>
                <a:cs typeface="Arial"/>
                <a:ea typeface="Arial"/>
                <a:solidFill>
                  <a:srgbClr val="21295C"/>
                </a:solidFill>
              </a:rPr>
              <a:t> — мягкие вероятности (dark knowledge: «кошка похожа на собаку сильнее, чем на грузовик»). Минимизируют KL-дивергенцию.</a:t>
            </a:r>
          </a:p>
        </p:txBody>
      </p:sp>
      <p:sp>
        <p:nvSpPr>
          <p:cNvPr id="18" name="Rounded Rectangle 17"/>
          <p:cNvSpPr/>
          <p:nvPr/>
        </p:nvSpPr>
        <p:spPr>
          <a:xfrm>
            <a:off x="4480560" y="3712463"/>
            <a:ext cx="3840480" cy="1444752"/>
          </a:xfrm>
          <a:prstGeom prst="roundRect">
            <a:avLst>
              <a:gd name="adj" fmla="val 2109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90872" y="3822191"/>
            <a:ext cx="3474720" cy="292608"/>
          </a:xfrm>
          <a:prstGeom prst="rect">
            <a:avLst/>
          </a:prstGeom>
          <a:noFill/>
        </p:spPr>
        <p:txBody>
          <a:bodyPr wrap="square" lIns="0" rIns="0" tIns="0" bIns="0" anchor="t">
            <a:spAutoFit/>
          </a:bodyPr>
          <a:lstStyle/>
          <a:p>
            <a:pPr algn="l">
              <a:lnSpc>
                <a:spcPct val="115000"/>
              </a:lnSpc>
            </a:pPr>
            <a:r>
              <a:rPr sz="1250" b="1" i="0">
                <a:solidFill>
                  <a:srgbClr val="028090"/>
                </a:solidFill>
                <a:latin typeface="Arial"/>
              </a:rPr>
              <a:t>Ось 2 — ДАННЫЕ (откуда сигнал):</a:t>
            </a:r>
          </a:p>
        </p:txBody>
      </p:sp>
      <p:sp>
        <p:nvSpPr>
          <p:cNvPr id="20" name="TextBox 19"/>
          <p:cNvSpPr txBox="1"/>
          <p:nvPr/>
        </p:nvSpPr>
        <p:spPr>
          <a:xfrm>
            <a:off x="4690872" y="4133087"/>
            <a:ext cx="3474720" cy="932688"/>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обучающий сигнал генерирует САМ учитель, не человек-разметчик. Response-distillation (тексты-ответы, Alpaca-стиль) работает даже без доступа к логитам — через API. DistilBERT: −40% размера / 97% качества</a:t>
            </a:r>
            <a:r>
              <a:rPr sz="546" baseline="30000" b="0" i="1">
                <a:latin typeface="Arial"/>
                <a:cs typeface="Arial"/>
                <a:ea typeface="Arial"/>
                <a:solidFill>
                  <a:srgbClr val="1C7293"/>
                </a:solidFill>
              </a:rPr>
              <a:t>[2]</a:t>
            </a:r>
            <a:r>
              <a:rPr sz="1050" b="0" i="0">
                <a:latin typeface="Arial"/>
                <a:cs typeface="Arial"/>
                <a:ea typeface="Arial"/>
                <a:solidFill>
                  <a:srgbClr val="21295C"/>
                </a:solidFill>
              </a:rPr>
              <a:t>. Alpaca: 52k инструкций от GPT, &lt;$600.</a:t>
            </a:r>
          </a:p>
        </p:txBody>
      </p:sp>
      <p:sp>
        <p:nvSpPr>
          <p:cNvPr id="21" name="Rounded Rectangle 20"/>
          <p:cNvSpPr/>
          <p:nvPr/>
        </p:nvSpPr>
        <p:spPr>
          <a:xfrm>
            <a:off x="8549640" y="1773936"/>
            <a:ext cx="3154680" cy="3383280"/>
          </a:xfrm>
          <a:prstGeom prst="roundRect">
            <a:avLst>
              <a:gd name="adj" fmla="val 96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14-yoda-ru.png"/>
          <p:cNvPicPr>
            <a:picLocks noChangeAspect="1"/>
          </p:cNvPicPr>
          <p:nvPr/>
        </p:nvPicPr>
        <p:blipFill>
          <a:blip r:embed="rId4"/>
          <a:stretch>
            <a:fillRect/>
          </a:stretch>
        </p:blipFill>
        <p:spPr>
          <a:xfrm>
            <a:off x="8767306" y="1901952"/>
            <a:ext cx="2719346" cy="3127248"/>
          </a:xfrm>
          <a:prstGeom prst="rect">
            <a:avLst/>
          </a:prstGeom>
        </p:spPr>
      </p:pic>
      <p:sp>
        <p:nvSpPr>
          <p:cNvPr id="23" name="Rounded Rectangle 22"/>
          <p:cNvSpPr/>
          <p:nvPr/>
        </p:nvSpPr>
        <p:spPr>
          <a:xfrm>
            <a:off x="502920" y="5230368"/>
            <a:ext cx="7818120" cy="9326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303520"/>
            <a:ext cx="7406640"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Arial"/>
              </a:rPr>
              <a:t>Провал: у дистилляции жёсткий ПОТОЛОК способностей — ученик почти никогда не превосходит учителя (тот задаёт верхнюю границу качества) и НАСЛЕДУЕТ его ошибки и смещения, но без способности учителя «поймать себя». Дистиллируете GPT-3.5 — получаете не-лучше-GPT-3.5.</a:t>
            </a:r>
          </a:p>
        </p:txBody>
      </p:sp>
      <p:sp>
        <p:nvSpPr>
          <p:cNvPr id="25" name="TextBox 24"/>
          <p:cNvSpPr txBox="1"/>
          <p:nvPr/>
        </p:nvSpPr>
        <p:spPr>
          <a:xfrm>
            <a:off x="8549640" y="5230368"/>
            <a:ext cx="3154680" cy="932688"/>
          </a:xfrm>
          <a:prstGeom prst="rect">
            <a:avLst/>
          </a:prstGeom>
          <a:noFill/>
        </p:spPr>
        <p:txBody>
          <a:bodyPr wrap="square" lIns="0" rIns="0" tIns="0" bIns="0" anchor="ctr">
            <a:spAutoFit/>
          </a:bodyPr>
          <a:lstStyle/>
          <a:p>
            <a:pPr algn="l">
              <a:lnSpc>
                <a:spcPct val="112000"/>
              </a:lnSpc>
            </a:pPr>
            <a:r>
              <a:rPr sz="1050" b="0" i="1">
                <a:solidFill>
                  <a:srgbClr val="065A82"/>
                </a:solidFill>
                <a:latin typeface="Arial"/>
              </a:rPr>
              <a:t>Правильно: «дообучить компактную student-модель на выходах сильной teacher» — это и дообучение, и дистилляция сразу.</a:t>
            </a:r>
          </a:p>
        </p:txBody>
      </p:sp>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Stanford Alpaca 2023 / Sanh et al. 2019 DistilBERT</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000" b="1" i="0">
                <a:solidFill>
                  <a:srgbClr val="21295C"/>
                </a:solidFill>
                <a:latin typeface="Arial"/>
              </a:rPr>
              <a:t>Оценка обучения дороже самого обучения — и ни один из шести методов не самодостаточен.</a:t>
            </a:r>
          </a:p>
        </p:txBody>
      </p:sp>
      <p:sp>
        <p:nvSpPr>
          <p:cNvPr id="3" name="TextBox 2"/>
          <p:cNvSpPr txBox="1"/>
          <p:nvPr/>
        </p:nvSpPr>
        <p:spPr>
          <a:xfrm>
            <a:off x="502920" y="1115568"/>
            <a:ext cx="11201400" cy="402336"/>
          </a:xfrm>
          <a:prstGeom prst="rect">
            <a:avLst/>
          </a:prstGeom>
          <a:noFill/>
        </p:spPr>
        <p:txBody>
          <a:bodyPr wrap="square" lIns="0" rIns="0" tIns="0" bIns="0" anchor="t">
            <a:spAutoFit/>
          </a:bodyPr>
          <a:lstStyle/>
          <a:p>
            <a:pPr algn="l">
              <a:lnSpc>
                <a:spcPct val="114000"/>
              </a:lnSpc>
            </a:pPr>
            <a:r>
              <a:rPr sz="1200" b="0" i="1">
                <a:solidFill>
                  <a:srgbClr val="065A82"/>
                </a:solidFill>
                <a:latin typeface="Arial"/>
              </a:rPr>
              <a:t>Полезный 7B-LoRA стоит &lt;$10 — а строгая оценка того же адаптера — $300–1200 человеко-труда за раунд и всё равно может не предсказать продакшн. Каждый метод — по схеме «как работает · когда валиден · когда ломается · стоимость».</a:t>
            </a:r>
          </a:p>
        </p:txBody>
      </p:sp>
      <p:sp>
        <p:nvSpPr>
          <p:cNvPr id="4" name="Rounded Rectangle 3"/>
          <p:cNvSpPr/>
          <p:nvPr/>
        </p:nvSpPr>
        <p:spPr>
          <a:xfrm>
            <a:off x="365760" y="1591056"/>
            <a:ext cx="11475720" cy="3584448"/>
          </a:xfrm>
          <a:prstGeom prst="roundRect">
            <a:avLst>
              <a:gd name="adj" fmla="val 8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682496"/>
            <a:ext cx="23317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82496"/>
            <a:ext cx="21488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Метод</a:t>
            </a:r>
          </a:p>
        </p:txBody>
      </p:sp>
      <p:sp>
        <p:nvSpPr>
          <p:cNvPr id="7" name="Rectangle 6"/>
          <p:cNvSpPr/>
          <p:nvPr/>
        </p:nvSpPr>
        <p:spPr>
          <a:xfrm>
            <a:off x="2807208" y="1682496"/>
            <a:ext cx="32461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98648" y="1682496"/>
            <a:ext cx="30632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Как работает</a:t>
            </a:r>
          </a:p>
        </p:txBody>
      </p:sp>
      <p:sp>
        <p:nvSpPr>
          <p:cNvPr id="9" name="Rectangle 8"/>
          <p:cNvSpPr/>
          <p:nvPr/>
        </p:nvSpPr>
        <p:spPr>
          <a:xfrm>
            <a:off x="6053327" y="1682496"/>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44767" y="1682496"/>
            <a:ext cx="3611880"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Когда ломается (число)</a:t>
            </a:r>
          </a:p>
        </p:txBody>
      </p:sp>
      <p:sp>
        <p:nvSpPr>
          <p:cNvPr id="11" name="Rectangle 10"/>
          <p:cNvSpPr/>
          <p:nvPr/>
        </p:nvSpPr>
        <p:spPr>
          <a:xfrm>
            <a:off x="9848088" y="1682496"/>
            <a:ext cx="1874519"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39528" y="1682496"/>
            <a:ext cx="1691639" cy="36576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Стоимость</a:t>
            </a:r>
          </a:p>
        </p:txBody>
      </p:sp>
      <p:sp>
        <p:nvSpPr>
          <p:cNvPr id="13" name="Rectangle 12"/>
          <p:cNvSpPr/>
          <p:nvPr/>
        </p:nvSpPr>
        <p:spPr>
          <a:xfrm>
            <a:off x="475488" y="2048256"/>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4825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Публичный бенчмарк</a:t>
            </a:r>
          </a:p>
        </p:txBody>
      </p:sp>
      <p:sp>
        <p:nvSpPr>
          <p:cNvPr id="15" name="Rectangle 14"/>
          <p:cNvSpPr/>
          <p:nvPr/>
        </p:nvSpPr>
        <p:spPr>
          <a:xfrm>
            <a:off x="2807208" y="2048256"/>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98648" y="204825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точность по фикс. набору Q&amp;A (MMLU/GSM8K/HELM)</a:t>
            </a:r>
          </a:p>
        </p:txBody>
      </p:sp>
      <p:sp>
        <p:nvSpPr>
          <p:cNvPr id="17" name="Rectangle 16"/>
          <p:cNvSpPr/>
          <p:nvPr/>
        </p:nvSpPr>
        <p:spPr>
          <a:xfrm>
            <a:off x="6053327" y="2048256"/>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4767" y="204825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контаминация: MMLU ~29% вопросов</a:t>
            </a:r>
            <a:r>
              <a:rPr sz="468" baseline="30000" b="0" i="1">
                <a:latin typeface="Arial"/>
                <a:cs typeface="Arial"/>
                <a:ea typeface="Arial"/>
                <a:solidFill>
                  <a:srgbClr val="1C7293"/>
                </a:solidFill>
              </a:rPr>
              <a:t>[1]</a:t>
            </a:r>
            <a:r>
              <a:rPr sz="900" b="0" i="0">
                <a:latin typeface="Arial"/>
                <a:cs typeface="Arial"/>
                <a:ea typeface="Arial"/>
                <a:solidFill>
                  <a:srgbClr val="21295C"/>
                </a:solidFill>
              </a:rPr>
              <a:t>; GSM8K→GSM1k −13 п.п.</a:t>
            </a:r>
            <a:r>
              <a:rPr sz="468" baseline="30000" b="0" i="1">
                <a:latin typeface="Arial"/>
                <a:cs typeface="Arial"/>
                <a:ea typeface="Arial"/>
                <a:solidFill>
                  <a:srgbClr val="1C7293"/>
                </a:solidFill>
              </a:rPr>
              <a:t>[2]</a:t>
            </a:r>
            <a:r>
              <a:rPr sz="900" b="0" i="0">
                <a:latin typeface="Arial"/>
                <a:cs typeface="Arial"/>
                <a:ea typeface="Arial"/>
                <a:solidFill>
                  <a:srgbClr val="21295C"/>
                </a:solidFill>
              </a:rPr>
              <a:t> — память, не рассуждение</a:t>
            </a:r>
          </a:p>
        </p:txBody>
      </p:sp>
      <p:sp>
        <p:nvSpPr>
          <p:cNvPr id="19" name="Rectangle 18"/>
          <p:cNvSpPr/>
          <p:nvPr/>
        </p:nvSpPr>
        <p:spPr>
          <a:xfrm>
            <a:off x="9848088" y="2048256"/>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39528" y="204825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низкая (обманчиво)</a:t>
            </a:r>
          </a:p>
        </p:txBody>
      </p:sp>
      <p:sp>
        <p:nvSpPr>
          <p:cNvPr id="21" name="Rectangle 20"/>
          <p:cNvSpPr/>
          <p:nvPr/>
        </p:nvSpPr>
        <p:spPr>
          <a:xfrm>
            <a:off x="475488" y="2554224"/>
            <a:ext cx="23317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554224"/>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Отложенный (held-out) тест-набор</a:t>
            </a:r>
          </a:p>
        </p:txBody>
      </p:sp>
      <p:sp>
        <p:nvSpPr>
          <p:cNvPr id="23" name="Rectangle 22"/>
          <p:cNvSpPr/>
          <p:nvPr/>
        </p:nvSpPr>
        <p:spPr>
          <a:xfrm>
            <a:off x="2807208" y="2554224"/>
            <a:ext cx="324612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554224"/>
            <a:ext cx="30632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заморозил ДО тренировки, гоняешь каждую версию</a:t>
            </a:r>
          </a:p>
        </p:txBody>
      </p:sp>
      <p:sp>
        <p:nvSpPr>
          <p:cNvPr id="25" name="Rectangle 24"/>
          <p:cNvSpPr/>
          <p:nvPr/>
        </p:nvSpPr>
        <p:spPr>
          <a:xfrm>
            <a:off x="6053327" y="2554224"/>
            <a:ext cx="3794760"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44767" y="2554224"/>
            <a:ext cx="3611880"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утечка в обучающую выборку / малый объём / дрейф от продакшна</a:t>
            </a:r>
          </a:p>
        </p:txBody>
      </p:sp>
      <p:sp>
        <p:nvSpPr>
          <p:cNvPr id="27" name="Rectangle 26"/>
          <p:cNvSpPr/>
          <p:nvPr/>
        </p:nvSpPr>
        <p:spPr>
          <a:xfrm>
            <a:off x="9848088" y="2554224"/>
            <a:ext cx="1874519" cy="505968"/>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39528" y="2554224"/>
            <a:ext cx="16916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перв. труд,
≈0 повтор</a:t>
            </a:r>
          </a:p>
        </p:txBody>
      </p:sp>
      <p:sp>
        <p:nvSpPr>
          <p:cNvPr id="29" name="Rectangle 28"/>
          <p:cNvSpPr/>
          <p:nvPr/>
        </p:nvSpPr>
        <p:spPr>
          <a:xfrm>
            <a:off x="475488" y="3060192"/>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3060192"/>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LLM-как-судья</a:t>
            </a:r>
          </a:p>
        </p:txBody>
      </p:sp>
      <p:sp>
        <p:nvSpPr>
          <p:cNvPr id="31" name="Rectangle 30"/>
          <p:cNvSpPr/>
          <p:nvPr/>
        </p:nvSpPr>
        <p:spPr>
          <a:xfrm>
            <a:off x="2807208" y="3060192"/>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3060192"/>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сильная модель судит; парно &gt; поштучно</a:t>
            </a:r>
          </a:p>
        </p:txBody>
      </p:sp>
      <p:sp>
        <p:nvSpPr>
          <p:cNvPr id="33" name="Rectangle 32"/>
          <p:cNvSpPr/>
          <p:nvPr/>
        </p:nvSpPr>
        <p:spPr>
          <a:xfrm>
            <a:off x="6053327" y="3060192"/>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44767" y="3060192"/>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&gt;80% согласия с людьми (= человек-человек), НО позиция до 75%, самозавышение (self-enhancement) +10–25%</a:t>
            </a:r>
          </a:p>
        </p:txBody>
      </p:sp>
      <p:sp>
        <p:nvSpPr>
          <p:cNvPr id="35" name="Rectangle 34"/>
          <p:cNvSpPr/>
          <p:nvPr/>
        </p:nvSpPr>
        <p:spPr>
          <a:xfrm>
            <a:off x="9848088" y="3060192"/>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39528" y="3060192"/>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центы + контроль смещения</a:t>
            </a:r>
          </a:p>
        </p:txBody>
      </p:sp>
      <p:sp>
        <p:nvSpPr>
          <p:cNvPr id="37" name="Rectangle 36"/>
          <p:cNvSpPr/>
          <p:nvPr/>
        </p:nvSpPr>
        <p:spPr>
          <a:xfrm>
            <a:off x="475488" y="3566160"/>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3566160"/>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Оценка людьми</a:t>
            </a:r>
          </a:p>
        </p:txBody>
      </p:sp>
      <p:sp>
        <p:nvSpPr>
          <p:cNvPr id="39" name="Rectangle 38"/>
          <p:cNvSpPr/>
          <p:nvPr/>
        </p:nvSpPr>
        <p:spPr>
          <a:xfrm>
            <a:off x="2807208" y="3566160"/>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3566160"/>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критериальная шкала + ≥2–3 аннотатора + κ-согласие</a:t>
            </a:r>
          </a:p>
        </p:txBody>
      </p:sp>
      <p:sp>
        <p:nvSpPr>
          <p:cNvPr id="41" name="Rectangle 40"/>
          <p:cNvSpPr/>
          <p:nvPr/>
        </p:nvSpPr>
        <p:spPr>
          <a:xfrm>
            <a:off x="6053327" y="3566160"/>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44767" y="3566160"/>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κ≥0,6 нужен (иначе шкалу переписать); дорого, не масштаб</a:t>
            </a:r>
          </a:p>
        </p:txBody>
      </p:sp>
      <p:sp>
        <p:nvSpPr>
          <p:cNvPr id="43" name="Rectangle 42"/>
          <p:cNvSpPr/>
          <p:nvPr/>
        </p:nvSpPr>
        <p:spPr>
          <a:xfrm>
            <a:off x="9848088" y="3566160"/>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9528" y="3566160"/>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$300–1200
за раунд</a:t>
            </a:r>
          </a:p>
        </p:txBody>
      </p:sp>
      <p:sp>
        <p:nvSpPr>
          <p:cNvPr id="45" name="Rectangle 44"/>
          <p:cNvSpPr/>
          <p:nvPr/>
        </p:nvSpPr>
        <p:spPr>
          <a:xfrm>
            <a:off x="475488" y="4072128"/>
            <a:ext cx="23317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4072128"/>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Метрики задачи (BLEU/ROUGE)</a:t>
            </a:r>
          </a:p>
        </p:txBody>
      </p:sp>
      <p:sp>
        <p:nvSpPr>
          <p:cNvPr id="47" name="Rectangle 46"/>
          <p:cNvSpPr/>
          <p:nvPr/>
        </p:nvSpPr>
        <p:spPr>
          <a:xfrm>
            <a:off x="2807208" y="4072128"/>
            <a:ext cx="324612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4072128"/>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перекрытие n-грамм с эталоном</a:t>
            </a:r>
          </a:p>
        </p:txBody>
      </p:sp>
      <p:sp>
        <p:nvSpPr>
          <p:cNvPr id="49" name="Rectangle 48"/>
          <p:cNvSpPr/>
          <p:nvPr/>
        </p:nvSpPr>
        <p:spPr>
          <a:xfrm>
            <a:off x="6053327" y="4072128"/>
            <a:ext cx="3794760"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4767" y="4072128"/>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на открытой генерации r≈0,25–0,52 с людьми — награждает n-грамму, не смысл</a:t>
            </a:r>
          </a:p>
        </p:txBody>
      </p:sp>
      <p:sp>
        <p:nvSpPr>
          <p:cNvPr id="51" name="Rectangle 50"/>
          <p:cNvSpPr/>
          <p:nvPr/>
        </p:nvSpPr>
        <p:spPr>
          <a:xfrm>
            <a:off x="9848088" y="4072128"/>
            <a:ext cx="1874519" cy="505968"/>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939528" y="4072128"/>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почти ноль</a:t>
            </a:r>
          </a:p>
        </p:txBody>
      </p:sp>
      <p:sp>
        <p:nvSpPr>
          <p:cNvPr id="53" name="Rectangle 52"/>
          <p:cNvSpPr/>
          <p:nvPr/>
        </p:nvSpPr>
        <p:spPr>
          <a:xfrm>
            <a:off x="475488" y="4578096"/>
            <a:ext cx="23317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4578096"/>
            <a:ext cx="2148839" cy="505968"/>
          </a:xfrm>
          <a:prstGeom prst="rect">
            <a:avLst/>
          </a:prstGeom>
          <a:noFill/>
        </p:spPr>
        <p:txBody>
          <a:bodyPr wrap="square" lIns="0" rIns="0" tIns="0" bIns="0" anchor="ctr">
            <a:spAutoFit/>
          </a:bodyPr>
          <a:lstStyle/>
          <a:p>
            <a:pPr algn="l">
              <a:lnSpc>
                <a:spcPct val="102000"/>
              </a:lnSpc>
            </a:pPr>
            <a:r>
              <a:rPr sz="900" b="1" i="0">
                <a:solidFill>
                  <a:srgbClr val="21295C"/>
                </a:solidFill>
                <a:latin typeface="Arial"/>
              </a:rPr>
              <a:t>A/B / онлайн</a:t>
            </a:r>
          </a:p>
        </p:txBody>
      </p:sp>
      <p:sp>
        <p:nvSpPr>
          <p:cNvPr id="55" name="Rectangle 54"/>
          <p:cNvSpPr/>
          <p:nvPr/>
        </p:nvSpPr>
        <p:spPr>
          <a:xfrm>
            <a:off x="2807208" y="4578096"/>
            <a:ext cx="324612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4578096"/>
            <a:ext cx="30632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canary 1–5% + guardrail-метрики на живом трафике</a:t>
            </a:r>
          </a:p>
        </p:txBody>
      </p:sp>
      <p:sp>
        <p:nvSpPr>
          <p:cNvPr id="57" name="Rectangle 56"/>
          <p:cNvSpPr/>
          <p:nvPr/>
        </p:nvSpPr>
        <p:spPr>
          <a:xfrm>
            <a:off x="6053327" y="4578096"/>
            <a:ext cx="3794760"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4767" y="4578096"/>
            <a:ext cx="3611880"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нет трафика до прода; ×4 сэмплов из-за недетерминизма</a:t>
            </a:r>
          </a:p>
        </p:txBody>
      </p:sp>
      <p:sp>
        <p:nvSpPr>
          <p:cNvPr id="59" name="Rectangle 58"/>
          <p:cNvSpPr/>
          <p:nvPr/>
        </p:nvSpPr>
        <p:spPr>
          <a:xfrm>
            <a:off x="9848088" y="4578096"/>
            <a:ext cx="1874519" cy="505968"/>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939528" y="4578096"/>
            <a:ext cx="1691639" cy="505968"/>
          </a:xfrm>
          <a:prstGeom prst="rect">
            <a:avLst/>
          </a:prstGeom>
          <a:noFill/>
        </p:spPr>
        <p:txBody>
          <a:bodyPr wrap="square" lIns="0" rIns="0" tIns="0" bIns="0" anchor="ctr">
            <a:spAutoFit/>
          </a:bodyPr>
          <a:lstStyle/>
          <a:p>
            <a:pPr algn="l">
              <a:lnSpc>
                <a:spcPct val="102000"/>
              </a:lnSpc>
            </a:pPr>
            <a:r>
              <a:rPr sz="900" b="0" i="0">
                <a:solidFill>
                  <a:srgbClr val="21295C"/>
                </a:solidFill>
                <a:latin typeface="Arial"/>
              </a:rPr>
              <a:t>инженерия + риск</a:t>
            </a:r>
          </a:p>
        </p:txBody>
      </p:sp>
      <p:sp>
        <p:nvSpPr>
          <p:cNvPr id="61" name="Rounded Rectangle 60"/>
          <p:cNvSpPr/>
          <p:nvPr/>
        </p:nvSpPr>
        <p:spPr>
          <a:xfrm>
            <a:off x="502920" y="526694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04088" y="5321807"/>
            <a:ext cx="10799064" cy="82296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Ни один метод не самодостаточен: дешёвые (бенчмарк, BLEU) — низкая валидность; валидные (отложенный-эксперт, оценка людьми, A/B) — дорогие. Отложенный тест-набор даёт наибольшую отдачу, строишь ДО тренировки. Разрыв лаборатория→продакшн ~37% — механика, не аномалия: прирост на бенчмарке — гипотеза, а не результат; подтверждают только чистый отложенный набор + A/B на реальном трафике.</a:t>
            </a:r>
          </a:p>
        </p:txBody>
      </p:sp>
      <p:sp>
        <p:nvSpPr>
          <p:cNvPr id="63" name="TextBox 6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Pebblous — LLM Benchmark Contamination (MMLU ~29%)</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Zhang et al. 2024 — GSM1k (чистое зеркало GSM8K −13 п.п.)</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67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управляющий цикл: конечный автомат, workflow-движки, OODA.</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Управляемая автоматизация — это конечный автомат состояний, workflow-движки по фиксированной схеме и управляющий цикл plan→act→check (OODA). На этом стоит агент.</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67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67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Модель становится компонентом системы.</a:t>
            </a:r>
          </a:p>
        </p:txBody>
      </p:sp>
      <p:sp>
        <p:nvSpPr>
          <p:cNvPr id="3" name="TextBox 2"/>
          <p:cNvSpPr txBox="1"/>
          <p:nvPr/>
        </p:nvSpPr>
        <p:spPr>
          <a:xfrm>
            <a:off x="502920" y="1024128"/>
            <a:ext cx="11201400" cy="566928"/>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В Л2 модель была собеседником в окне чата. Здесь она — вызываемый компонент: получает запрос через API, формулирует «вызови инструмент X», а исполняет ваш код система, не модель. Это сдвиг от «поговорить» к «встроить».</a:t>
            </a:r>
          </a:p>
        </p:txBody>
      </p:sp>
      <p:sp>
        <p:nvSpPr>
          <p:cNvPr id="4" name="Rounded Rectangle 3"/>
          <p:cNvSpPr/>
          <p:nvPr/>
        </p:nvSpPr>
        <p:spPr>
          <a:xfrm>
            <a:off x="50292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minal-mid.png"/>
          <p:cNvPicPr>
            <a:picLocks noChangeAspect="1"/>
          </p:cNvPicPr>
          <p:nvPr/>
        </p:nvPicPr>
        <p:blipFill>
          <a:blip r:embed="rId2"/>
          <a:stretch>
            <a:fillRect/>
          </a:stretch>
        </p:blipFill>
        <p:spPr>
          <a:xfrm>
            <a:off x="722376" y="2011680"/>
            <a:ext cx="438912" cy="438912"/>
          </a:xfrm>
          <a:prstGeom prst="rect">
            <a:avLst/>
          </a:prstGeom>
        </p:spPr>
      </p:pic>
      <p:sp>
        <p:nvSpPr>
          <p:cNvPr id="6" name="TextBox 5"/>
          <p:cNvSpPr txBox="1"/>
          <p:nvPr/>
        </p:nvSpPr>
        <p:spPr>
          <a:xfrm>
            <a:off x="1289304" y="2029968"/>
            <a:ext cx="4572000" cy="384048"/>
          </a:xfrm>
          <a:prstGeom prst="rect">
            <a:avLst/>
          </a:prstGeom>
          <a:noFill/>
        </p:spPr>
        <p:txBody>
          <a:bodyPr wrap="square" lIns="0" rIns="0" tIns="0" bIns="0" anchor="ctr">
            <a:spAutoFit/>
          </a:bodyPr>
          <a:lstStyle/>
          <a:p>
            <a:pPr algn="l">
              <a:lnSpc>
                <a:spcPct val="100000"/>
              </a:lnSpc>
            </a:pPr>
            <a:r>
              <a:rPr sz="1500" b="1" i="0">
                <a:solidFill>
                  <a:srgbClr val="065A82"/>
                </a:solidFill>
                <a:latin typeface="Arial"/>
              </a:rPr>
              <a:t>Модель как компонент + tool use</a:t>
            </a:r>
          </a:p>
        </p:txBody>
      </p:sp>
      <p:sp>
        <p:nvSpPr>
          <p:cNvPr id="7" name="TextBox 6"/>
          <p:cNvSpPr txBox="1"/>
          <p:nvPr/>
        </p:nvSpPr>
        <p:spPr>
          <a:xfrm>
            <a:off x="740664" y="2560320"/>
            <a:ext cx="5056631" cy="658368"/>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Модель решает «нужен инструмент» и формулирует вызов; исполняет — ваш код. Модель не выходит наружу сама — она возвращает намерение, а система выполняет и возвращает результат в контекст.</a:t>
            </a:r>
          </a:p>
        </p:txBody>
      </p:sp>
      <p:sp>
        <p:nvSpPr>
          <p:cNvPr id="8" name="Rounded Rectangle 7"/>
          <p:cNvSpPr/>
          <p:nvPr/>
        </p:nvSpPr>
        <p:spPr>
          <a:xfrm>
            <a:off x="740664" y="3557015"/>
            <a:ext cx="5056631" cy="45720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3593591"/>
            <a:ext cx="4745736" cy="402336"/>
          </a:xfrm>
          <a:prstGeom prst="rect">
            <a:avLst/>
          </a:prstGeom>
          <a:noFill/>
        </p:spPr>
        <p:txBody>
          <a:bodyPr wrap="square" lIns="0" rIns="0" tIns="0" bIns="0" anchor="ctr">
            <a:spAutoFit/>
          </a:bodyPr>
          <a:lstStyle/>
          <a:p>
            <a:pPr algn="l">
              <a:lnSpc>
                <a:spcPct val="106000"/>
              </a:lnSpc>
            </a:pPr>
            <a:r>
              <a:rPr sz="1100" b="1" i="0">
                <a:solidFill>
                  <a:srgbClr val="21295C"/>
                </a:solidFill>
                <a:latin typeface="Arial"/>
              </a:rPr>
              <a:t>Это и есть шаг «действие» цикла агента: модель в петле «рассуждать → вызвать инструмент → прочитать результат».</a:t>
            </a:r>
          </a:p>
        </p:txBody>
      </p:sp>
      <p:sp>
        <p:nvSpPr>
          <p:cNvPr id="10" name="Rounded Rectangle 9"/>
          <p:cNvSpPr/>
          <p:nvPr/>
        </p:nvSpPr>
        <p:spPr>
          <a:xfrm>
            <a:off x="6172200" y="1828800"/>
            <a:ext cx="55321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able-mid.png"/>
          <p:cNvPicPr>
            <a:picLocks noChangeAspect="1"/>
          </p:cNvPicPr>
          <p:nvPr/>
        </p:nvPicPr>
        <p:blipFill>
          <a:blip r:embed="rId3"/>
          <a:stretch>
            <a:fillRect/>
          </a:stretch>
        </p:blipFill>
        <p:spPr>
          <a:xfrm>
            <a:off x="6391656" y="2011680"/>
            <a:ext cx="438912" cy="438912"/>
          </a:xfrm>
          <a:prstGeom prst="rect">
            <a:avLst/>
          </a:prstGeom>
        </p:spPr>
      </p:pic>
      <p:sp>
        <p:nvSpPr>
          <p:cNvPr id="12" name="TextBox 11"/>
          <p:cNvSpPr txBox="1"/>
          <p:nvPr/>
        </p:nvSpPr>
        <p:spPr>
          <a:xfrm>
            <a:off x="6958584" y="2029968"/>
            <a:ext cx="457200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350" b="0" i="0">
                <a:solidFill>
                  <a:srgbClr val="21295C"/>
                </a:solidFill>
                <a:latin typeface="Arial"/>
              </a:rPr>
              <a:t>  — «USB-C для инструментов LLM»</a:t>
            </a:r>
          </a:p>
        </p:txBody>
      </p:sp>
      <p:sp>
        <p:nvSpPr>
          <p:cNvPr id="13" name="TextBox 12"/>
          <p:cNvSpPr txBox="1"/>
          <p:nvPr/>
        </p:nvSpPr>
        <p:spPr>
          <a:xfrm>
            <a:off x="6409944" y="2615184"/>
            <a:ext cx="5056631" cy="402336"/>
          </a:xfrm>
          <a:prstGeom prst="rect">
            <a:avLst/>
          </a:prstGeom>
          <a:noFill/>
        </p:spPr>
        <p:txBody>
          <a:bodyPr wrap="square" lIns="0" rIns="0" tIns="0" bIns="0" anchor="ctr">
            <a:spAutoFit/>
          </a:bodyPr>
          <a:lstStyle/>
          <a:p>
            <a:pPr algn="l">
              <a:lnSpc>
                <a:spcPct val="115000"/>
              </a:lnSpc>
            </a:pPr>
            <a:r>
              <a:rPr sz="2200" b="1" i="0">
                <a:solidFill>
                  <a:srgbClr val="1C7293"/>
                </a:solidFill>
                <a:latin typeface="Arial"/>
              </a:rPr>
              <a:t>N×M</a:t>
            </a:r>
            <a:r>
              <a:rPr sz="1400" b="0" i="0">
                <a:solidFill>
                  <a:srgbClr val="21295C"/>
                </a:solidFill>
                <a:latin typeface="Arial"/>
              </a:rPr>
              <a:t> несовместимых интеграций → </a:t>
            </a:r>
            <a:r>
              <a:rPr sz="2200" b="1" i="0">
                <a:solidFill>
                  <a:srgbClr val="028090"/>
                </a:solidFill>
                <a:latin typeface="Arial"/>
              </a:rPr>
              <a:t>N+M</a:t>
            </a:r>
            <a:r>
              <a:rPr sz="1144" baseline="30000" b="0" i="1">
                <a:latin typeface="Arial"/>
                <a:cs typeface="Arial"/>
                <a:ea typeface="Arial"/>
                <a:solidFill>
                  <a:srgbClr val="1C7293"/>
                </a:solidFill>
              </a:rPr>
              <a:t>[1]</a:t>
            </a:r>
          </a:p>
        </p:txBody>
      </p:sp>
      <p:sp>
        <p:nvSpPr>
          <p:cNvPr id="14" name="TextBox 13"/>
          <p:cNvSpPr txBox="1"/>
          <p:nvPr/>
        </p:nvSpPr>
        <p:spPr>
          <a:xfrm>
            <a:off x="6409944" y="3127248"/>
            <a:ext cx="5056631" cy="310896"/>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инструмент один раз = MCP-сервер; модель один раз = MCP-клиент. Подключение стало операцией на минуты.</a:t>
            </a:r>
          </a:p>
        </p:txBody>
      </p:sp>
      <p:pic>
        <p:nvPicPr>
          <p:cNvPr id="15" name="Picture 14" descr="logo-anthropic.png"/>
          <p:cNvPicPr>
            <a:picLocks noChangeAspect="1"/>
          </p:cNvPicPr>
          <p:nvPr/>
        </p:nvPicPr>
        <p:blipFill>
          <a:blip r:embed="rId4"/>
          <a:stretch>
            <a:fillRect/>
          </a:stretch>
        </p:blipFill>
        <p:spPr>
          <a:xfrm>
            <a:off x="6409944" y="3584448"/>
            <a:ext cx="292608" cy="292608"/>
          </a:xfrm>
          <a:prstGeom prst="rect">
            <a:avLst/>
          </a:prstGeom>
        </p:spPr>
      </p:pic>
      <p:sp>
        <p:nvSpPr>
          <p:cNvPr id="16" name="TextBox 15"/>
          <p:cNvSpPr txBox="1"/>
          <p:nvPr/>
        </p:nvSpPr>
        <p:spPr>
          <a:xfrm>
            <a:off x="6775704"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Anthropic</a:t>
            </a:r>
          </a:p>
        </p:txBody>
      </p:sp>
      <p:sp>
        <p:nvSpPr>
          <p:cNvPr id="17" name="TextBox 16"/>
          <p:cNvSpPr txBox="1"/>
          <p:nvPr/>
        </p:nvSpPr>
        <p:spPr>
          <a:xfrm>
            <a:off x="6775704"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11/2024</a:t>
            </a:r>
          </a:p>
        </p:txBody>
      </p:sp>
      <p:sp>
        <p:nvSpPr>
          <p:cNvPr id="18" name="TextBox 17"/>
          <p:cNvSpPr txBox="1"/>
          <p:nvPr/>
        </p:nvSpPr>
        <p:spPr>
          <a:xfrm>
            <a:off x="7927848"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19" name="Picture 18" descr="logo-openai.png"/>
          <p:cNvPicPr>
            <a:picLocks noChangeAspect="1"/>
          </p:cNvPicPr>
          <p:nvPr/>
        </p:nvPicPr>
        <p:blipFill>
          <a:blip r:embed="rId5"/>
          <a:stretch>
            <a:fillRect/>
          </a:stretch>
        </p:blipFill>
        <p:spPr>
          <a:xfrm>
            <a:off x="8165592" y="3584448"/>
            <a:ext cx="292608" cy="292608"/>
          </a:xfrm>
          <a:prstGeom prst="rect">
            <a:avLst/>
          </a:prstGeom>
        </p:spPr>
      </p:pic>
      <p:sp>
        <p:nvSpPr>
          <p:cNvPr id="20" name="TextBox 19"/>
          <p:cNvSpPr txBox="1"/>
          <p:nvPr/>
        </p:nvSpPr>
        <p:spPr>
          <a:xfrm>
            <a:off x="8531352"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OpenAI</a:t>
            </a:r>
          </a:p>
        </p:txBody>
      </p:sp>
      <p:sp>
        <p:nvSpPr>
          <p:cNvPr id="21" name="TextBox 20"/>
          <p:cNvSpPr txBox="1"/>
          <p:nvPr/>
        </p:nvSpPr>
        <p:spPr>
          <a:xfrm>
            <a:off x="8531352"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03/2025</a:t>
            </a:r>
          </a:p>
        </p:txBody>
      </p:sp>
      <p:sp>
        <p:nvSpPr>
          <p:cNvPr id="22" name="TextBox 21"/>
          <p:cNvSpPr txBox="1"/>
          <p:nvPr/>
        </p:nvSpPr>
        <p:spPr>
          <a:xfrm>
            <a:off x="9683496" y="3584448"/>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23" name="Picture 22" descr="logo-gemini.png"/>
          <p:cNvPicPr>
            <a:picLocks noChangeAspect="1"/>
          </p:cNvPicPr>
          <p:nvPr/>
        </p:nvPicPr>
        <p:blipFill>
          <a:blip r:embed="rId6"/>
          <a:stretch>
            <a:fillRect/>
          </a:stretch>
        </p:blipFill>
        <p:spPr>
          <a:xfrm>
            <a:off x="9921240" y="3584448"/>
            <a:ext cx="292608" cy="292608"/>
          </a:xfrm>
          <a:prstGeom prst="rect">
            <a:avLst/>
          </a:prstGeom>
        </p:spPr>
      </p:pic>
      <p:sp>
        <p:nvSpPr>
          <p:cNvPr id="24" name="TextBox 23"/>
          <p:cNvSpPr txBox="1"/>
          <p:nvPr/>
        </p:nvSpPr>
        <p:spPr>
          <a:xfrm>
            <a:off x="10287000" y="3547872"/>
            <a:ext cx="1371600" cy="219456"/>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Google</a:t>
            </a:r>
          </a:p>
        </p:txBody>
      </p:sp>
      <p:sp>
        <p:nvSpPr>
          <p:cNvPr id="25" name="TextBox 24"/>
          <p:cNvSpPr txBox="1"/>
          <p:nvPr/>
        </p:nvSpPr>
        <p:spPr>
          <a:xfrm>
            <a:off x="10287000" y="3749039"/>
            <a:ext cx="1371600" cy="219456"/>
          </a:xfrm>
          <a:prstGeom prst="rect">
            <a:avLst/>
          </a:prstGeom>
          <a:noFill/>
        </p:spPr>
        <p:txBody>
          <a:bodyPr wrap="square" lIns="0" rIns="0" tIns="0" bIns="0" anchor="t">
            <a:spAutoFit/>
          </a:bodyPr>
          <a:lstStyle/>
          <a:p>
            <a:pPr algn="l">
              <a:lnSpc>
                <a:spcPct val="115000"/>
              </a:lnSpc>
            </a:pPr>
            <a:r>
              <a:rPr sz="1100" b="1" i="1">
                <a:solidFill>
                  <a:srgbClr val="1C7293"/>
                </a:solidFill>
                <a:latin typeface="Arial"/>
              </a:rPr>
              <a:t>04/2025</a:t>
            </a:r>
          </a:p>
        </p:txBody>
      </p:sp>
      <p:sp>
        <p:nvSpPr>
          <p:cNvPr id="26" name="Rounded Rectangle 25"/>
          <p:cNvSpPr/>
          <p:nvPr/>
        </p:nvSpPr>
        <p:spPr>
          <a:xfrm>
            <a:off x="502920" y="4297680"/>
            <a:ext cx="11201400" cy="1042415"/>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hield-alert-teal.png"/>
          <p:cNvPicPr>
            <a:picLocks noChangeAspect="1"/>
          </p:cNvPicPr>
          <p:nvPr/>
        </p:nvPicPr>
        <p:blipFill>
          <a:blip r:embed="rId7"/>
          <a:stretch>
            <a:fillRect/>
          </a:stretch>
        </p:blipFill>
        <p:spPr>
          <a:xfrm>
            <a:off x="731520" y="4480560"/>
            <a:ext cx="402336" cy="402336"/>
          </a:xfrm>
          <a:prstGeom prst="rect">
            <a:avLst/>
          </a:prstGeom>
        </p:spPr>
      </p:pic>
      <p:sp>
        <p:nvSpPr>
          <p:cNvPr id="28" name="TextBox 27"/>
          <p:cNvSpPr txBox="1"/>
          <p:nvPr/>
        </p:nvSpPr>
        <p:spPr>
          <a:xfrm>
            <a:off x="1280160" y="4443984"/>
            <a:ext cx="10149840" cy="365760"/>
          </a:xfrm>
          <a:prstGeom prst="rect">
            <a:avLst/>
          </a:prstGeom>
          <a:noFill/>
        </p:spPr>
        <p:txBody>
          <a:bodyPr wrap="square" lIns="0" rIns="0" tIns="0" bIns="0" anchor="ctr">
            <a:spAutoFit/>
          </a:bodyPr>
          <a:lstStyle/>
          <a:p>
            <a:pPr algn="l">
              <a:lnSpc>
                <a:spcPct val="115000"/>
              </a:lnSpc>
            </a:pPr>
            <a:r>
              <a:rPr sz="1350" b="1" i="0">
                <a:solidFill>
                  <a:srgbClr val="028090"/>
                </a:solidFill>
                <a:latin typeface="Arial"/>
              </a:rPr>
              <a:t>Поворот доверия: стандартизация подключения ≠ безопасность подключаемого — и усугубляет проблему доверия.</a:t>
            </a:r>
          </a:p>
        </p:txBody>
      </p:sp>
      <p:sp>
        <p:nvSpPr>
          <p:cNvPr id="29" name="Oval 28"/>
          <p:cNvSpPr/>
          <p:nvPr/>
        </p:nvSpPr>
        <p:spPr>
          <a:xfrm>
            <a:off x="76809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9264" y="4901184"/>
            <a:ext cx="534924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MCP-сервер = чужой код в вашем окружении и доступ к данным</a:t>
            </a:r>
          </a:p>
        </p:txBody>
      </p:sp>
      <p:sp>
        <p:nvSpPr>
          <p:cNvPr id="31" name="Oval 30"/>
          <p:cNvSpPr/>
          <p:nvPr/>
        </p:nvSpPr>
        <p:spPr>
          <a:xfrm>
            <a:off x="6391656" y="50200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92824" y="4901184"/>
            <a:ext cx="5349240" cy="402336"/>
          </a:xfrm>
          <a:prstGeom prst="rect">
            <a:avLst/>
          </a:prstGeom>
          <a:noFill/>
        </p:spPr>
        <p:txBody>
          <a:bodyPr wrap="square" lIns="0" rIns="0" tIns="0" bIns="0" anchor="ctr">
            <a:spAutoFit/>
          </a:bodyPr>
          <a:lstStyle/>
          <a:p>
            <a:pPr algn="l">
              <a:lnSpc>
                <a:spcPct val="108000"/>
              </a:lnSpc>
            </a:pPr>
            <a:r>
              <a:rPr sz="1200" b="0" i="0">
                <a:solidFill>
                  <a:srgbClr val="21295C"/>
                </a:solidFill>
                <a:latin typeface="Arial"/>
              </a:rPr>
              <a:t>описание сервера попадает в контекст — носитель инъекции в промпт</a:t>
            </a:r>
          </a:p>
        </p:txBody>
      </p:sp>
      <p:sp>
        <p:nvSpPr>
          <p:cNvPr id="33" name="Rounded Rectangle 32"/>
          <p:cNvSpPr/>
          <p:nvPr/>
        </p:nvSpPr>
        <p:spPr>
          <a:xfrm>
            <a:off x="502920" y="548640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5541264"/>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Модель-компонент и MCP делают подключение удобным, но ни один механизм не делает модель надёжнее — правило лестницы не отменяется. Удобство подключения — не аргумент за подключение.</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9"/>
              </a:rPr>
              <a:t>Anthropic — MCP donation / Agentic AI Foundation (N×M→N+M)</a:t>
            </a:r>
            <a:r>
              <a:rPr sz="850" i="1">
                <a:solidFill>
                  <a:srgbClr val="5B6678"/>
                </a:solidFill>
                <a:latin typeface="Arial"/>
              </a:rPr>
              <a:t>   ·   Масштаб экосистемы MCP и хронология поддержки вендорами — см. источники.</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67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828032"/>
            <a:ext cx="8549640" cy="12984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82896"/>
            <a:ext cx="8147304" cy="1188719"/>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Rounded Rectangle 23"/>
          <p:cNvSpPr/>
          <p:nvPr/>
        </p:nvSpPr>
        <p:spPr>
          <a:xfrm>
            <a:off x="9601200" y="4572000"/>
            <a:ext cx="1783080" cy="1728216"/>
          </a:xfrm>
          <a:prstGeom prst="roundRect">
            <a:avLst>
              <a:gd name="adj" fmla="val 5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19b-batman-ru.png"/>
          <p:cNvPicPr>
            <a:picLocks noChangeAspect="1"/>
          </p:cNvPicPr>
          <p:nvPr/>
        </p:nvPicPr>
        <p:blipFill>
          <a:blip r:embed="rId2"/>
          <a:stretch>
            <a:fillRect/>
          </a:stretch>
        </p:blipFill>
        <p:spPr>
          <a:xfrm>
            <a:off x="9646920" y="4617777"/>
            <a:ext cx="1691640" cy="1636662"/>
          </a:xfrm>
          <a:prstGeom prst="rect">
            <a:avLst/>
          </a:prstGeom>
        </p:spPr>
      </p:pic>
      <p:sp>
        <p:nvSpPr>
          <p:cNvPr id="26" name="TextBox 25"/>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67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67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900" b="1" i="0">
                <a:solidFill>
                  <a:srgbClr val="21295C"/>
                </a:solidFill>
                <a:latin typeface="Arial"/>
              </a:rPr>
              <a:t>MCP или прямой API — это не альтернативы: MCP окупается как флот, ниже порога это лишний слой.</a:t>
            </a:r>
          </a:p>
        </p:txBody>
      </p:sp>
      <p:sp>
        <p:nvSpPr>
          <p:cNvPr id="3" name="Rounded Rectangle 2"/>
          <p:cNvSpPr/>
          <p:nvPr/>
        </p:nvSpPr>
        <p:spPr>
          <a:xfrm>
            <a:off x="502920" y="1188720"/>
            <a:ext cx="11201400" cy="896112"/>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teal.png"/>
          <p:cNvPicPr>
            <a:picLocks noChangeAspect="1"/>
          </p:cNvPicPr>
          <p:nvPr/>
        </p:nvPicPr>
        <p:blipFill>
          <a:blip r:embed="rId2"/>
          <a:stretch>
            <a:fillRect/>
          </a:stretch>
        </p:blipFill>
        <p:spPr>
          <a:xfrm>
            <a:off x="713232" y="1353312"/>
            <a:ext cx="384048" cy="384048"/>
          </a:xfrm>
          <a:prstGeom prst="rect">
            <a:avLst/>
          </a:prstGeom>
        </p:spPr>
      </p:pic>
      <p:sp>
        <p:nvSpPr>
          <p:cNvPr id="5" name="TextBox 4"/>
          <p:cNvSpPr txBox="1"/>
          <p:nvPr/>
        </p:nvSpPr>
        <p:spPr>
          <a:xfrm>
            <a:off x="1243584" y="1280160"/>
            <a:ext cx="10241280" cy="749808"/>
          </a:xfrm>
          <a:prstGeom prst="rect">
            <a:avLst/>
          </a:prstGeom>
          <a:noFill/>
        </p:spPr>
        <p:txBody>
          <a:bodyPr wrap="square" lIns="0" rIns="0" tIns="0" bIns="0" anchor="ctr">
            <a:spAutoFit/>
          </a:bodyPr>
          <a:lstStyle/>
          <a:p>
            <a:pPr algn="l">
              <a:lnSpc>
                <a:spcPct val="114000"/>
              </a:lnSpc>
            </a:pPr>
            <a:r>
              <a:rPr sz="1200" b="0" i="0">
                <a:solidFill>
                  <a:srgbClr val="21295C"/>
                </a:solidFill>
                <a:latin typeface="Arial"/>
              </a:rPr>
              <a:t>База: REST/gRPC — транспорт, который делает работу (ходит в базу, дёргает сервис). </a:t>
            </a:r>
            <a:r>
              <a:rPr sz="1200" b="1" i="0">
                <a:solidFill>
                  <a:srgbClr val="028090"/>
                </a:solidFill>
                <a:latin typeface="Arial"/>
              </a:rPr>
              <a:t>MCP — тонкий стандартный слой ПОВЕРХ</a:t>
            </a:r>
            <a:r>
              <a:rPr sz="1200" b="0" i="0">
                <a:solidFill>
                  <a:srgbClr val="21295C"/>
                </a:solidFill>
                <a:latin typeface="Arial"/>
              </a:rPr>
              <a:t>, позволяющий агенту во время работы обнаружить (`tools/list`) и вызвать инструменты. В большинстве развёртываний MCP-сервер ОБОРАЧИВАЕТ уже существующий REST API, а не заменяет его. Порог: выигрыш N+M &lt; N×M материализуется только когда N, M ≥ 2–3.</a:t>
            </a:r>
          </a:p>
        </p:txBody>
      </p:sp>
      <p:sp>
        <p:nvSpPr>
          <p:cNvPr id="6" name="Rounded Rectangle 5"/>
          <p:cNvSpPr/>
          <p:nvPr/>
        </p:nvSpPr>
        <p:spPr>
          <a:xfrm>
            <a:off x="502920" y="2231136"/>
            <a:ext cx="5532120" cy="2578608"/>
          </a:xfrm>
          <a:prstGeom prst="roundRect">
            <a:avLst>
              <a:gd name="adj" fmla="val 1182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340864"/>
            <a:ext cx="51206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Взять MCP, когда…</a:t>
            </a:r>
          </a:p>
        </p:txBody>
      </p:sp>
      <p:pic>
        <p:nvPicPr>
          <p:cNvPr id="8" name="Picture 7" descr="check-check-mid.png"/>
          <p:cNvPicPr>
            <a:picLocks noChangeAspect="1"/>
          </p:cNvPicPr>
          <p:nvPr/>
        </p:nvPicPr>
        <p:blipFill>
          <a:blip r:embed="rId3"/>
          <a:stretch>
            <a:fillRect/>
          </a:stretch>
        </p:blipFill>
        <p:spPr>
          <a:xfrm>
            <a:off x="749808" y="2724912"/>
            <a:ext cx="201168" cy="201168"/>
          </a:xfrm>
          <a:prstGeom prst="rect">
            <a:avLst/>
          </a:prstGeom>
        </p:spPr>
      </p:pic>
      <p:sp>
        <p:nvSpPr>
          <p:cNvPr id="9" name="TextBox 8"/>
          <p:cNvSpPr txBox="1"/>
          <p:nvPr/>
        </p:nvSpPr>
        <p:spPr>
          <a:xfrm>
            <a:off x="1042415"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много агентов × много инструментов (N, M ≥ 2–3)</a:t>
            </a:r>
          </a:p>
        </p:txBody>
      </p:sp>
      <p:pic>
        <p:nvPicPr>
          <p:cNvPr id="10" name="Picture 9" descr="check-check-mid.png"/>
          <p:cNvPicPr>
            <a:picLocks noChangeAspect="1"/>
          </p:cNvPicPr>
          <p:nvPr/>
        </p:nvPicPr>
        <p:blipFill>
          <a:blip r:embed="rId3"/>
          <a:stretch>
            <a:fillRect/>
          </a:stretch>
        </p:blipFill>
        <p:spPr>
          <a:xfrm>
            <a:off x="749808" y="3145536"/>
            <a:ext cx="201168" cy="201168"/>
          </a:xfrm>
          <a:prstGeom prst="rect">
            <a:avLst/>
          </a:prstGeom>
        </p:spPr>
      </p:pic>
      <p:sp>
        <p:nvSpPr>
          <p:cNvPr id="11" name="TextBox 10"/>
          <p:cNvSpPr txBox="1"/>
          <p:nvPr/>
        </p:nvSpPr>
        <p:spPr>
          <a:xfrm>
            <a:off x="1042415"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нужно обнаружение инструментов во время работы (каталог меняется)</a:t>
            </a:r>
          </a:p>
        </p:txBody>
      </p:sp>
      <p:pic>
        <p:nvPicPr>
          <p:cNvPr id="12" name="Picture 11" descr="check-check-mid.png"/>
          <p:cNvPicPr>
            <a:picLocks noChangeAspect="1"/>
          </p:cNvPicPr>
          <p:nvPr/>
        </p:nvPicPr>
        <p:blipFill>
          <a:blip r:embed="rId3"/>
          <a:stretch>
            <a:fillRect/>
          </a:stretch>
        </p:blipFill>
        <p:spPr>
          <a:xfrm>
            <a:off x="749808" y="3566160"/>
            <a:ext cx="201168" cy="201168"/>
          </a:xfrm>
          <a:prstGeom prst="rect">
            <a:avLst/>
          </a:prstGeom>
        </p:spPr>
      </p:pic>
      <p:sp>
        <p:nvSpPr>
          <p:cNvPr id="13" name="TextBox 12"/>
          <p:cNvSpPr txBox="1"/>
          <p:nvPr/>
        </p:nvSpPr>
        <p:spPr>
          <a:xfrm>
            <a:off x="1042415"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переносимость между вендорами моделей / хостами</a:t>
            </a:r>
          </a:p>
        </p:txBody>
      </p:sp>
      <p:pic>
        <p:nvPicPr>
          <p:cNvPr id="14" name="Picture 13" descr="check-check-mid.png"/>
          <p:cNvPicPr>
            <a:picLocks noChangeAspect="1"/>
          </p:cNvPicPr>
          <p:nvPr/>
        </p:nvPicPr>
        <p:blipFill>
          <a:blip r:embed="rId3"/>
          <a:stretch>
            <a:fillRect/>
          </a:stretch>
        </p:blipFill>
        <p:spPr>
          <a:xfrm>
            <a:off x="749808" y="3986783"/>
            <a:ext cx="201168" cy="201168"/>
          </a:xfrm>
          <a:prstGeom prst="rect">
            <a:avLst/>
          </a:prstGeom>
        </p:spPr>
      </p:pic>
      <p:sp>
        <p:nvSpPr>
          <p:cNvPr id="15" name="TextBox 14"/>
          <p:cNvSpPr txBox="1"/>
          <p:nvPr/>
        </p:nvSpPr>
        <p:spPr>
          <a:xfrm>
            <a:off x="1042415"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серверы переиспользуют другие команды / третьи стороны</a:t>
            </a:r>
          </a:p>
        </p:txBody>
      </p:sp>
      <p:pic>
        <p:nvPicPr>
          <p:cNvPr id="16" name="Picture 15" descr="check-check-mid.png"/>
          <p:cNvPicPr>
            <a:picLocks noChangeAspect="1"/>
          </p:cNvPicPr>
          <p:nvPr/>
        </p:nvPicPr>
        <p:blipFill>
          <a:blip r:embed="rId3"/>
          <a:stretch>
            <a:fillRect/>
          </a:stretch>
        </p:blipFill>
        <p:spPr>
          <a:xfrm>
            <a:off x="749808" y="4407407"/>
            <a:ext cx="201168" cy="201168"/>
          </a:xfrm>
          <a:prstGeom prst="rect">
            <a:avLst/>
          </a:prstGeom>
        </p:spPr>
      </p:pic>
      <p:sp>
        <p:nvSpPr>
          <p:cNvPr id="17" name="TextBox 16"/>
          <p:cNvSpPr txBox="1"/>
          <p:nvPr/>
        </p:nvSpPr>
        <p:spPr>
          <a:xfrm>
            <a:off x="1042415"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готовы провести security-ревью каждого сервера</a:t>
            </a:r>
          </a:p>
        </p:txBody>
      </p:sp>
      <p:sp>
        <p:nvSpPr>
          <p:cNvPr id="18" name="Rounded Rectangle 17"/>
          <p:cNvSpPr/>
          <p:nvPr/>
        </p:nvSpPr>
        <p:spPr>
          <a:xfrm>
            <a:off x="6172200" y="2231136"/>
            <a:ext cx="5532120" cy="2578608"/>
          </a:xfrm>
          <a:prstGeom prst="roundRect">
            <a:avLst>
              <a:gd name="adj" fmla="val 11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2340864"/>
            <a:ext cx="5120640"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Взять прямой API / function-calling, когда…</a:t>
            </a:r>
          </a:p>
        </p:txBody>
      </p:sp>
      <p:sp>
        <p:nvSpPr>
          <p:cNvPr id="20" name="TextBox 19"/>
          <p:cNvSpPr txBox="1"/>
          <p:nvPr/>
        </p:nvSpPr>
        <p:spPr>
          <a:xfrm>
            <a:off x="6675120" y="2706624"/>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одно приложение, один-два известных инструмента (N+M ≥ N×M)</a:t>
            </a:r>
          </a:p>
        </p:txBody>
      </p:sp>
      <p:sp>
        <p:nvSpPr>
          <p:cNvPr id="21" name="TextBox 20"/>
          <p:cNvSpPr txBox="1"/>
          <p:nvPr/>
        </p:nvSpPr>
        <p:spPr>
          <a:xfrm>
            <a:off x="6675120" y="3127248"/>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набор инструментов фиксирован на этапе сборки</a:t>
            </a:r>
          </a:p>
        </p:txBody>
      </p:sp>
      <p:sp>
        <p:nvSpPr>
          <p:cNvPr id="22" name="TextBox 21"/>
          <p:cNvSpPr txBox="1"/>
          <p:nvPr/>
        </p:nvSpPr>
        <p:spPr>
          <a:xfrm>
            <a:off x="6675120" y="3547872"/>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вы зафиксированы на одной модели, одном стеке</a:t>
            </a:r>
          </a:p>
        </p:txBody>
      </p:sp>
      <p:sp>
        <p:nvSpPr>
          <p:cNvPr id="23" name="TextBox 22"/>
          <p:cNvSpPr txBox="1"/>
          <p:nvPr/>
        </p:nvSpPr>
        <p:spPr>
          <a:xfrm>
            <a:off x="6675120" y="3968496"/>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интеграция приватная, единственный потребитель</a:t>
            </a:r>
          </a:p>
        </p:txBody>
      </p:sp>
      <p:sp>
        <p:nvSpPr>
          <p:cNvPr id="24" name="TextBox 23"/>
          <p:cNvSpPr txBox="1"/>
          <p:nvPr/>
        </p:nvSpPr>
        <p:spPr>
          <a:xfrm>
            <a:off x="6675120" y="4389120"/>
            <a:ext cx="4846320" cy="384048"/>
          </a:xfrm>
          <a:prstGeom prst="rect">
            <a:avLst/>
          </a:prstGeom>
          <a:noFill/>
        </p:spPr>
        <p:txBody>
          <a:bodyPr wrap="square" lIns="0" rIns="0" tIns="0" bIns="0" anchor="t">
            <a:spAutoFit/>
          </a:bodyPr>
          <a:lstStyle/>
          <a:p>
            <a:pPr algn="l">
              <a:lnSpc>
                <a:spcPct val="106000"/>
              </a:lnSpc>
            </a:pPr>
            <a:r>
              <a:rPr sz="1050" b="0" i="0">
                <a:solidFill>
                  <a:srgbClr val="21295C"/>
                </a:solidFill>
                <a:latin typeface="Arial"/>
              </a:rPr>
              <a:t>нужна маленькая аудируемая запертая поверхность СЕЙЧАС</a:t>
            </a:r>
          </a:p>
        </p:txBody>
      </p:sp>
      <p:sp>
        <p:nvSpPr>
          <p:cNvPr id="25" name="Rounded Rectangle 24"/>
          <p:cNvSpPr/>
          <p:nvPr/>
        </p:nvSpPr>
        <p:spPr>
          <a:xfrm>
            <a:off x="502920" y="4956048"/>
            <a:ext cx="11201400" cy="6035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029200"/>
            <a:ext cx="105156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~25%</a:t>
            </a:r>
          </a:p>
        </p:txBody>
      </p:sp>
      <p:sp>
        <p:nvSpPr>
          <p:cNvPr id="27" name="TextBox 26"/>
          <p:cNvSpPr txBox="1"/>
          <p:nvPr/>
        </p:nvSpPr>
        <p:spPr>
          <a:xfrm>
            <a:off x="731520" y="5303520"/>
            <a:ext cx="2697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серверов реестра непригодны</a:t>
            </a:r>
            <a:r>
              <a:rPr sz="442" baseline="30000" b="0" i="1">
                <a:latin typeface="Arial"/>
                <a:cs typeface="Arial"/>
                <a:ea typeface="Arial"/>
                <a:solidFill>
                  <a:srgbClr val="1C7293"/>
                </a:solidFill>
              </a:rPr>
              <a:t>[2]</a:t>
            </a:r>
            <a:r>
              <a:rPr sz="850" b="0" i="0">
                <a:latin typeface="Arial"/>
                <a:cs typeface="Arial"/>
                <a:ea typeface="Arial"/>
                <a:solidFill>
                  <a:srgbClr val="21295C"/>
                </a:solidFill>
              </a:rPr>
              <a:t> (пол, не потолок)</a:t>
            </a:r>
          </a:p>
        </p:txBody>
      </p:sp>
      <p:sp>
        <p:nvSpPr>
          <p:cNvPr id="28" name="TextBox 27"/>
          <p:cNvSpPr txBox="1"/>
          <p:nvPr/>
        </p:nvSpPr>
        <p:spPr>
          <a:xfrm>
            <a:off x="3529584" y="5029200"/>
            <a:ext cx="105156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43,7%</a:t>
            </a:r>
          </a:p>
        </p:txBody>
      </p:sp>
      <p:sp>
        <p:nvSpPr>
          <p:cNvPr id="29" name="TextBox 28"/>
          <p:cNvSpPr txBox="1"/>
          <p:nvPr/>
        </p:nvSpPr>
        <p:spPr>
          <a:xfrm>
            <a:off x="3529584" y="5303520"/>
            <a:ext cx="2697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лучший результат на MCP-Universe</a:t>
            </a:r>
            <a:r>
              <a:rPr sz="442" baseline="30000" b="0" i="1">
                <a:latin typeface="Arial"/>
                <a:cs typeface="Arial"/>
                <a:ea typeface="Arial"/>
                <a:solidFill>
                  <a:srgbClr val="1C7293"/>
                </a:solidFill>
              </a:rPr>
              <a:t>[1]</a:t>
            </a:r>
            <a:r>
              <a:rPr sz="850" b="0" i="0">
                <a:latin typeface="Arial"/>
                <a:cs typeface="Arial"/>
                <a:ea typeface="Arial"/>
                <a:solidFill>
                  <a:srgbClr val="21295C"/>
                </a:solidFill>
              </a:rPr>
              <a:t> (&gt;56% задач провалено)</a:t>
            </a:r>
          </a:p>
        </p:txBody>
      </p:sp>
      <p:sp>
        <p:nvSpPr>
          <p:cNvPr id="30" name="TextBox 29"/>
          <p:cNvSpPr txBox="1"/>
          <p:nvPr/>
        </p:nvSpPr>
        <p:spPr>
          <a:xfrm>
            <a:off x="6327648" y="5029200"/>
            <a:ext cx="105156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43%</a:t>
            </a:r>
          </a:p>
        </p:txBody>
      </p:sp>
      <p:sp>
        <p:nvSpPr>
          <p:cNvPr id="31" name="TextBox 30"/>
          <p:cNvSpPr txBox="1"/>
          <p:nvPr/>
        </p:nvSpPr>
        <p:spPr>
          <a:xfrm>
            <a:off x="6327648" y="5303520"/>
            <a:ext cx="2697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command injection у проверенных серверов</a:t>
            </a:r>
          </a:p>
        </p:txBody>
      </p:sp>
      <p:sp>
        <p:nvSpPr>
          <p:cNvPr id="32" name="TextBox 31"/>
          <p:cNvSpPr txBox="1"/>
          <p:nvPr/>
        </p:nvSpPr>
        <p:spPr>
          <a:xfrm>
            <a:off x="9125712" y="5029200"/>
            <a:ext cx="1051560" cy="27432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82%</a:t>
            </a:r>
          </a:p>
        </p:txBody>
      </p:sp>
      <p:sp>
        <p:nvSpPr>
          <p:cNvPr id="33" name="TextBox 32"/>
          <p:cNvSpPr txBox="1"/>
          <p:nvPr/>
        </p:nvSpPr>
        <p:spPr>
          <a:xfrm>
            <a:off x="9125712" y="5303520"/>
            <a:ext cx="2697480" cy="237744"/>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path traversal у 2 614 реализаций</a:t>
            </a:r>
          </a:p>
        </p:txBody>
      </p:sp>
      <p:sp>
        <p:nvSpPr>
          <p:cNvPr id="34" name="Rounded Rectangle 33"/>
          <p:cNvSpPr/>
          <p:nvPr/>
        </p:nvSpPr>
        <p:spPr>
          <a:xfrm>
            <a:off x="502920" y="5650992"/>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4088" y="5705855"/>
            <a:ext cx="10799064" cy="45720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Правило: MCP — стандарт интероперабельности, а не апгрейд производительности. Пропустить MCP для одного агента с одним инструментом — правильное инженерное суждение, не срезанный угол (то же правило лестницы, §5.1).</a:t>
            </a:r>
          </a:p>
        </p:txBody>
      </p:sp>
      <p:sp>
        <p:nvSpPr>
          <p:cNvPr id="36" name="TextBox 3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MCP-Universe (arXiv:2508.14704) — лучший результат 43,7%</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DEV/theopslog audit 2026 — ~25% серверов реестра непригодны</a:t>
            </a:r>
            <a:r>
              <a:rPr sz="850" i="1">
                <a:solidFill>
                  <a:srgbClr val="5B6678"/>
                </a:solidFill>
                <a:latin typeface="Arial"/>
              </a:rPr>
              <a:t>   ·   MCP-Universe (arXiv:2508.14704); DEV/theopslog audit 2026; Endor Labs / Practical DevSecOps 2026 — цифры экосистемы движутся.</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67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Workflow — не примитив: пять паттернов вокруг предсказуемого.</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Прежде чем тянуться к динамическому агенту: большинство «нам нужен агент» закрываются одним из этих пяти паттернов. Все они — предопределённые в коде структуры, сохраняющие предсказуемость и аудируемость.</a:t>
            </a:r>
          </a:p>
        </p:txBody>
      </p:sp>
      <p:sp>
        <p:nvSpPr>
          <p:cNvPr id="4" name="Rounded Rectangle 3"/>
          <p:cNvSpPr/>
          <p:nvPr/>
        </p:nvSpPr>
        <p:spPr>
          <a:xfrm>
            <a:off x="502920"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80160"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white.png"/>
          <p:cNvPicPr>
            <a:picLocks noChangeAspect="1"/>
          </p:cNvPicPr>
          <p:nvPr/>
        </p:nvPicPr>
        <p:blipFill>
          <a:blip r:embed="rId2"/>
          <a:stretch>
            <a:fillRect/>
          </a:stretch>
        </p:blipFill>
        <p:spPr>
          <a:xfrm>
            <a:off x="1362456" y="1801368"/>
            <a:ext cx="493776" cy="493776"/>
          </a:xfrm>
          <a:prstGeom prst="rect">
            <a:avLst/>
          </a:prstGeom>
        </p:spPr>
      </p:pic>
      <p:sp>
        <p:nvSpPr>
          <p:cNvPr id="7" name="Oval 6"/>
          <p:cNvSpPr/>
          <p:nvPr/>
        </p:nvSpPr>
        <p:spPr>
          <a:xfrm>
            <a:off x="630936"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sp>
        <p:nvSpPr>
          <p:cNvPr id="9" name="TextBox 8"/>
          <p:cNvSpPr txBox="1"/>
          <p:nvPr/>
        </p:nvSpPr>
        <p:spPr>
          <a:xfrm>
            <a:off x="612648"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Prompt chaining</a:t>
            </a:r>
          </a:p>
        </p:txBody>
      </p:sp>
      <p:sp>
        <p:nvSpPr>
          <p:cNvPr id="10" name="TextBox 9"/>
          <p:cNvSpPr txBox="1"/>
          <p:nvPr/>
        </p:nvSpPr>
        <p:spPr>
          <a:xfrm>
            <a:off x="649224"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фиксированная цепочка вызовов: выход одного — вход следующего; между шагами — детерминированная проверка (gate)</a:t>
            </a:r>
          </a:p>
        </p:txBody>
      </p:sp>
      <p:sp>
        <p:nvSpPr>
          <p:cNvPr id="11" name="Rounded Rectangle 10"/>
          <p:cNvSpPr/>
          <p:nvPr/>
        </p:nvSpPr>
        <p:spPr>
          <a:xfrm>
            <a:off x="630936"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задача чисто декомпозируется на известные подшаги</a:t>
            </a:r>
          </a:p>
        </p:txBody>
      </p:sp>
      <p:sp>
        <p:nvSpPr>
          <p:cNvPr id="13" name="Rounded Rectangle 12"/>
          <p:cNvSpPr/>
          <p:nvPr/>
        </p:nvSpPr>
        <p:spPr>
          <a:xfrm>
            <a:off x="2807208"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584448"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oute-white.png"/>
          <p:cNvPicPr>
            <a:picLocks noChangeAspect="1"/>
          </p:cNvPicPr>
          <p:nvPr/>
        </p:nvPicPr>
        <p:blipFill>
          <a:blip r:embed="rId3"/>
          <a:stretch>
            <a:fillRect/>
          </a:stretch>
        </p:blipFill>
        <p:spPr>
          <a:xfrm>
            <a:off x="3666744" y="1801368"/>
            <a:ext cx="493776" cy="493776"/>
          </a:xfrm>
          <a:prstGeom prst="rect">
            <a:avLst/>
          </a:prstGeom>
        </p:spPr>
      </p:pic>
      <p:sp>
        <p:nvSpPr>
          <p:cNvPr id="16" name="Oval 15"/>
          <p:cNvSpPr/>
          <p:nvPr/>
        </p:nvSpPr>
        <p:spPr>
          <a:xfrm>
            <a:off x="2935224"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35224"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8" name="TextBox 17"/>
          <p:cNvSpPr txBox="1"/>
          <p:nvPr/>
        </p:nvSpPr>
        <p:spPr>
          <a:xfrm>
            <a:off x="2916936"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Routing</a:t>
            </a:r>
          </a:p>
        </p:txBody>
      </p:sp>
      <p:sp>
        <p:nvSpPr>
          <p:cNvPr id="19" name="TextBox 18"/>
          <p:cNvSpPr txBox="1"/>
          <p:nvPr/>
        </p:nvSpPr>
        <p:spPr>
          <a:xfrm>
            <a:off x="2953512"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первый вызов классифицирует вход и направляет в один из заданных маршрутов (свой промпт/модель)</a:t>
            </a:r>
          </a:p>
        </p:txBody>
      </p:sp>
      <p:sp>
        <p:nvSpPr>
          <p:cNvPr id="20" name="Rounded Rectangle 19"/>
          <p:cNvSpPr/>
          <p:nvPr/>
        </p:nvSpPr>
        <p:spPr>
          <a:xfrm>
            <a:off x="2935224"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6664"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входы разнородны, но классы известны</a:t>
            </a:r>
          </a:p>
        </p:txBody>
      </p:sp>
      <p:sp>
        <p:nvSpPr>
          <p:cNvPr id="22" name="Rounded Rectangle 21"/>
          <p:cNvSpPr/>
          <p:nvPr/>
        </p:nvSpPr>
        <p:spPr>
          <a:xfrm>
            <a:off x="5111496"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888736" y="1719072"/>
            <a:ext cx="658368" cy="65836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it-fork-white.png"/>
          <p:cNvPicPr>
            <a:picLocks noChangeAspect="1"/>
          </p:cNvPicPr>
          <p:nvPr/>
        </p:nvPicPr>
        <p:blipFill>
          <a:blip r:embed="rId4"/>
          <a:stretch>
            <a:fillRect/>
          </a:stretch>
        </p:blipFill>
        <p:spPr>
          <a:xfrm>
            <a:off x="5971031" y="1801368"/>
            <a:ext cx="493776" cy="493776"/>
          </a:xfrm>
          <a:prstGeom prst="rect">
            <a:avLst/>
          </a:prstGeom>
        </p:spPr>
      </p:pic>
      <p:sp>
        <p:nvSpPr>
          <p:cNvPr id="25" name="Oval 24"/>
          <p:cNvSpPr/>
          <p:nvPr/>
        </p:nvSpPr>
        <p:spPr>
          <a:xfrm>
            <a:off x="5239512" y="1645919"/>
            <a:ext cx="310896" cy="31089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39512"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7" name="TextBox 26"/>
          <p:cNvSpPr txBox="1"/>
          <p:nvPr/>
        </p:nvSpPr>
        <p:spPr>
          <a:xfrm>
            <a:off x="5221224"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Parallelization</a:t>
            </a:r>
          </a:p>
        </p:txBody>
      </p:sp>
      <p:sp>
        <p:nvSpPr>
          <p:cNvPr id="28" name="TextBox 27"/>
          <p:cNvSpPr txBox="1"/>
          <p:nvPr/>
        </p:nvSpPr>
        <p:spPr>
          <a:xfrm>
            <a:off x="5257800"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независимые подзадачи параллельно, результаты агрегируются детерминированно (голосование, объединение)</a:t>
            </a:r>
          </a:p>
        </p:txBody>
      </p:sp>
      <p:sp>
        <p:nvSpPr>
          <p:cNvPr id="29" name="Rounded Rectangle 28"/>
          <p:cNvSpPr/>
          <p:nvPr/>
        </p:nvSpPr>
        <p:spPr>
          <a:xfrm>
            <a:off x="5239512"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30952"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подзадачи независимы и известны заранее</a:t>
            </a:r>
          </a:p>
        </p:txBody>
      </p:sp>
      <p:sp>
        <p:nvSpPr>
          <p:cNvPr id="31" name="Rounded Rectangle 30"/>
          <p:cNvSpPr/>
          <p:nvPr/>
        </p:nvSpPr>
        <p:spPr>
          <a:xfrm>
            <a:off x="7415784" y="1517904"/>
            <a:ext cx="2212848" cy="3108960"/>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93024" y="1719072"/>
            <a:ext cx="658368" cy="658368"/>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waypoints-white.png"/>
          <p:cNvPicPr>
            <a:picLocks noChangeAspect="1"/>
          </p:cNvPicPr>
          <p:nvPr/>
        </p:nvPicPr>
        <p:blipFill>
          <a:blip r:embed="rId5"/>
          <a:stretch>
            <a:fillRect/>
          </a:stretch>
        </p:blipFill>
        <p:spPr>
          <a:xfrm>
            <a:off x="8275320" y="1801368"/>
            <a:ext cx="493776" cy="493776"/>
          </a:xfrm>
          <a:prstGeom prst="rect">
            <a:avLst/>
          </a:prstGeom>
        </p:spPr>
      </p:pic>
      <p:sp>
        <p:nvSpPr>
          <p:cNvPr id="34" name="Oval 33"/>
          <p:cNvSpPr/>
          <p:nvPr/>
        </p:nvSpPr>
        <p:spPr>
          <a:xfrm>
            <a:off x="7543800" y="1645919"/>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43800"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6" name="TextBox 35"/>
          <p:cNvSpPr txBox="1"/>
          <p:nvPr/>
        </p:nvSpPr>
        <p:spPr>
          <a:xfrm>
            <a:off x="7525512"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Orchestrator-workers</a:t>
            </a:r>
          </a:p>
        </p:txBody>
      </p:sp>
      <p:sp>
        <p:nvSpPr>
          <p:cNvPr id="37" name="TextBox 36"/>
          <p:cNvSpPr txBox="1"/>
          <p:nvPr/>
        </p:nvSpPr>
        <p:spPr>
          <a:xfrm>
            <a:off x="7562088"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центральный вызов делит задачу динамически, но в заданных рамках, и раздаёт воркерам</a:t>
            </a:r>
          </a:p>
        </p:txBody>
      </p:sp>
      <p:sp>
        <p:nvSpPr>
          <p:cNvPr id="38" name="Rounded Rectangle 37"/>
          <p:cNvSpPr/>
          <p:nvPr/>
        </p:nvSpPr>
        <p:spPr>
          <a:xfrm>
            <a:off x="7543800" y="3913631"/>
            <a:ext cx="1956815" cy="60350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35240" y="3931920"/>
            <a:ext cx="1773936" cy="566928"/>
          </a:xfrm>
          <a:prstGeom prst="rect">
            <a:avLst/>
          </a:prstGeom>
          <a:noFill/>
        </p:spPr>
        <p:txBody>
          <a:bodyPr wrap="square" lIns="0" rIns="0" tIns="0" bIns="0" anchor="ctr">
            <a:spAutoFit/>
          </a:bodyPr>
          <a:lstStyle/>
          <a:p>
            <a:pPr algn="l">
              <a:lnSpc>
                <a:spcPct val="106000"/>
              </a:lnSpc>
            </a:pPr>
            <a:r>
              <a:rPr sz="950" b="0" i="1">
                <a:solidFill>
                  <a:srgbClr val="5B6678"/>
                </a:solidFill>
                <a:latin typeface="Arial"/>
              </a:rPr>
              <a:t>когда: граница workflow↔агент: декомпозиция гибкая, контур фиксирован</a:t>
            </a:r>
          </a:p>
        </p:txBody>
      </p:sp>
      <p:sp>
        <p:nvSpPr>
          <p:cNvPr id="40" name="Rounded Rectangle 39"/>
          <p:cNvSpPr/>
          <p:nvPr/>
        </p:nvSpPr>
        <p:spPr>
          <a:xfrm>
            <a:off x="9720072" y="1517904"/>
            <a:ext cx="2212848" cy="3108960"/>
          </a:xfrm>
          <a:prstGeom prst="roundRect">
            <a:avLst>
              <a:gd name="adj" fmla="val 13774"/>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497312" y="1719072"/>
            <a:ext cx="658368" cy="658368"/>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heck-check-white.png"/>
          <p:cNvPicPr>
            <a:picLocks noChangeAspect="1"/>
          </p:cNvPicPr>
          <p:nvPr/>
        </p:nvPicPr>
        <p:blipFill>
          <a:blip r:embed="rId6"/>
          <a:stretch>
            <a:fillRect/>
          </a:stretch>
        </p:blipFill>
        <p:spPr>
          <a:xfrm>
            <a:off x="10579608" y="1801368"/>
            <a:ext cx="493776" cy="493776"/>
          </a:xfrm>
          <a:prstGeom prst="rect">
            <a:avLst/>
          </a:prstGeom>
        </p:spPr>
      </p:pic>
      <p:sp>
        <p:nvSpPr>
          <p:cNvPr id="43" name="Oval 42"/>
          <p:cNvSpPr/>
          <p:nvPr/>
        </p:nvSpPr>
        <p:spPr>
          <a:xfrm>
            <a:off x="9848088" y="1645919"/>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48088" y="1645919"/>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45" name="TextBox 44"/>
          <p:cNvSpPr txBox="1"/>
          <p:nvPr/>
        </p:nvSpPr>
        <p:spPr>
          <a:xfrm>
            <a:off x="9829800" y="2450591"/>
            <a:ext cx="1993391" cy="420624"/>
          </a:xfrm>
          <a:prstGeom prst="rect">
            <a:avLst/>
          </a:prstGeom>
          <a:noFill/>
        </p:spPr>
        <p:txBody>
          <a:bodyPr wrap="square" lIns="0" rIns="0" tIns="0" bIns="0" anchor="t">
            <a:spAutoFit/>
          </a:bodyPr>
          <a:lstStyle/>
          <a:p>
            <a:pPr algn="ctr">
              <a:lnSpc>
                <a:spcPct val="100000"/>
              </a:lnSpc>
            </a:pPr>
            <a:r>
              <a:rPr sz="1300" b="1" i="0">
                <a:solidFill>
                  <a:srgbClr val="21295C"/>
                </a:solidFill>
                <a:latin typeface="Arial"/>
              </a:rPr>
              <a:t>Evaluator-optimizer</a:t>
            </a:r>
          </a:p>
        </p:txBody>
      </p:sp>
      <p:sp>
        <p:nvSpPr>
          <p:cNvPr id="46" name="TextBox 45"/>
          <p:cNvSpPr txBox="1"/>
          <p:nvPr/>
        </p:nvSpPr>
        <p:spPr>
          <a:xfrm>
            <a:off x="9866376" y="2871215"/>
            <a:ext cx="1920240" cy="987552"/>
          </a:xfrm>
          <a:prstGeom prst="rect">
            <a:avLst/>
          </a:prstGeom>
          <a:noFill/>
        </p:spPr>
        <p:txBody>
          <a:bodyPr wrap="square" lIns="0" rIns="0" tIns="0" bIns="0" anchor="t">
            <a:spAutoFit/>
          </a:bodyPr>
          <a:lstStyle/>
          <a:p>
            <a:pPr algn="l">
              <a:lnSpc>
                <a:spcPct val="108000"/>
              </a:lnSpc>
            </a:pPr>
            <a:r>
              <a:rPr sz="950" b="0" i="0">
                <a:solidFill>
                  <a:srgbClr val="21295C"/>
                </a:solidFill>
                <a:latin typeface="Arial"/>
              </a:rPr>
              <a:t>один вызов генерирует, другой оценивает по критериям; цикл до порога</a:t>
            </a:r>
          </a:p>
        </p:txBody>
      </p:sp>
      <p:sp>
        <p:nvSpPr>
          <p:cNvPr id="47" name="Rounded Rectangle 46"/>
          <p:cNvSpPr/>
          <p:nvPr/>
        </p:nvSpPr>
        <p:spPr>
          <a:xfrm>
            <a:off x="9848088" y="3913631"/>
            <a:ext cx="1956815" cy="603504"/>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39528" y="3931920"/>
            <a:ext cx="1773936" cy="566928"/>
          </a:xfrm>
          <a:prstGeom prst="rect">
            <a:avLst/>
          </a:prstGeom>
          <a:noFill/>
        </p:spPr>
        <p:txBody>
          <a:bodyPr wrap="square" lIns="0" rIns="0" tIns="0" bIns="0" anchor="ctr">
            <a:spAutoFit/>
          </a:bodyPr>
          <a:lstStyle/>
          <a:p>
            <a:pPr algn="l">
              <a:lnSpc>
                <a:spcPct val="106000"/>
              </a:lnSpc>
            </a:pPr>
            <a:r>
              <a:rPr sz="950" b="0" i="1">
                <a:solidFill>
                  <a:srgbClr val="21295C"/>
                </a:solidFill>
                <a:latin typeface="Arial"/>
              </a:rPr>
              <a:t>когда: нужна встроенная проверка между шагами — против reliability compounding</a:t>
            </a:r>
          </a:p>
        </p:txBody>
      </p:sp>
      <p:sp>
        <p:nvSpPr>
          <p:cNvPr id="49" name="Rounded Rectangle 48"/>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Все пять — предопределённые в коде структуры; динамический агент отличается тем, что сам решает, какую структуру построить под конкретный вход, и теряет предсказуемость, которую эти паттерны сохраняют. Найди простейшее: workflow — вокруг предсказуемого, агент — чтобы исследовать непредсказуемое.</a:t>
            </a:r>
          </a:p>
        </p:txBody>
      </p:sp>
      <p:sp>
        <p:nvSpPr>
          <p:cNvPr id="51" name="TextBox 5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(пять паттернов workflow)</a:t>
            </a:r>
            <a:r>
              <a:rPr sz="850" i="1">
                <a:solidFill>
                  <a:srgbClr val="5B6678"/>
                </a:solidFill>
                <a:latin typeface="Arial"/>
              </a:rPr>
              <a:t>   ·   Пять паттернов workflow — Anthropic, Building Effective Agents; выбор агент vs workflow — на следующем слайде.</a:t>
            </a:r>
          </a:p>
        </p:txBody>
      </p:sp>
      <p:sp>
        <p:nvSpPr>
          <p:cNvPr id="52" name="TextBox 5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338560" cy="868680"/>
          </a:xfrm>
          <a:prstGeom prst="rect">
            <a:avLst/>
          </a:prstGeom>
          <a:noFill/>
        </p:spPr>
        <p:txBody>
          <a:bodyPr wrap="square" lIns="0" rIns="0" tIns="0" bIns="0" anchor="t">
            <a:spAutoFit/>
          </a:bodyPr>
          <a:lstStyle/>
          <a:p>
            <a:pPr algn="l">
              <a:lnSpc>
                <a:spcPct val="112000"/>
              </a:lnSpc>
            </a:pPr>
            <a:r>
              <a:rPr sz="2100" b="1" i="0">
                <a:solidFill>
                  <a:srgbClr val="21295C"/>
                </a:solidFill>
                <a:latin typeface="Arial"/>
              </a:rPr>
              <a:t>Фреймворк агента — абстракционный налог; у всех пять общих минусов.</a:t>
            </a:r>
          </a:p>
        </p:txBody>
      </p:sp>
      <p:sp>
        <p:nvSpPr>
          <p:cNvPr id="3" name="TextBox 2"/>
          <p:cNvSpPr txBox="1"/>
          <p:nvPr/>
        </p:nvSpPr>
        <p:spPr>
          <a:xfrm>
            <a:off x="502920" y="914400"/>
            <a:ext cx="11201400" cy="310896"/>
          </a:xfrm>
          <a:prstGeom prst="rect">
            <a:avLst/>
          </a:prstGeom>
          <a:noFill/>
        </p:spPr>
        <p:txBody>
          <a:bodyPr wrap="square" lIns="0" rIns="0" tIns="0" bIns="0" anchor="t">
            <a:spAutoFit/>
          </a:bodyPr>
          <a:lstStyle/>
          <a:p>
            <a:pPr algn="l">
              <a:lnSpc>
                <a:spcPct val="106000"/>
              </a:lnSpc>
            </a:pPr>
            <a:r>
              <a:rPr sz="1100" b="0" i="1">
                <a:solidFill>
                  <a:srgbClr val="065A82"/>
                </a:solidFill>
                <a:latin typeface="Arial"/>
              </a:rPr>
              <a:t>Anthropic: многие паттерны — несколько строк прямых вызовов API</a:t>
            </a:r>
            <a:r>
              <a:rPr sz="572" baseline="30000" b="0" i="1">
                <a:latin typeface="Arial"/>
                <a:cs typeface="Arial"/>
                <a:ea typeface="Arial"/>
                <a:solidFill>
                  <a:srgbClr val="1C7293"/>
                </a:solidFill>
              </a:rPr>
              <a:t>[1]</a:t>
            </a:r>
            <a:r>
              <a:rPr sz="1100" b="0" i="1">
                <a:latin typeface="Arial"/>
                <a:cs typeface="Arial"/>
                <a:ea typeface="Arial"/>
                <a:solidFill>
                  <a:srgbClr val="065A82"/>
                </a:solidFill>
              </a:rPr>
              <a:t>; фреймворки скрывают исходные промпты и усложняют отладку. Сначала пять минусов, общих для ВСЕХ, потом разбор по схеме.</a:t>
            </a:r>
          </a:p>
        </p:txBody>
      </p:sp>
      <p:sp>
        <p:nvSpPr>
          <p:cNvPr id="4" name="Rounded Rectangle 3"/>
          <p:cNvSpPr/>
          <p:nvPr/>
        </p:nvSpPr>
        <p:spPr>
          <a:xfrm>
            <a:off x="365760" y="1298448"/>
            <a:ext cx="11475720" cy="65836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gold.png"/>
          <p:cNvPicPr>
            <a:picLocks noChangeAspect="1"/>
          </p:cNvPicPr>
          <p:nvPr/>
        </p:nvPicPr>
        <p:blipFill>
          <a:blip r:embed="rId2"/>
          <a:stretch>
            <a:fillRect/>
          </a:stretch>
        </p:blipFill>
        <p:spPr>
          <a:xfrm>
            <a:off x="475488" y="1389888"/>
            <a:ext cx="237744" cy="237744"/>
          </a:xfrm>
          <a:prstGeom prst="rect">
            <a:avLst/>
          </a:prstGeom>
        </p:spPr>
      </p:pic>
      <p:sp>
        <p:nvSpPr>
          <p:cNvPr id="6" name="TextBox 5"/>
          <p:cNvSpPr txBox="1"/>
          <p:nvPr/>
        </p:nvSpPr>
        <p:spPr>
          <a:xfrm>
            <a:off x="768096"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Кастомизация</a:t>
            </a:r>
          </a:p>
        </p:txBody>
      </p:sp>
      <p:sp>
        <p:nvSpPr>
          <p:cNvPr id="7" name="TextBox 6"/>
          <p:cNvSpPr txBox="1"/>
          <p:nvPr/>
        </p:nvSpPr>
        <p:spPr>
          <a:xfrm>
            <a:off x="475488"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долг за пределами «счастливого пути»</a:t>
            </a:r>
          </a:p>
        </p:txBody>
      </p:sp>
      <p:pic>
        <p:nvPicPr>
          <p:cNvPr id="8" name="Picture 7" descr="eye-off-gold.png"/>
          <p:cNvPicPr>
            <a:picLocks noChangeAspect="1"/>
          </p:cNvPicPr>
          <p:nvPr/>
        </p:nvPicPr>
        <p:blipFill>
          <a:blip r:embed="rId3"/>
          <a:stretch>
            <a:fillRect/>
          </a:stretch>
        </p:blipFill>
        <p:spPr>
          <a:xfrm>
            <a:off x="2770632" y="1389888"/>
            <a:ext cx="237744" cy="237744"/>
          </a:xfrm>
          <a:prstGeom prst="rect">
            <a:avLst/>
          </a:prstGeom>
        </p:spPr>
      </p:pic>
      <p:sp>
        <p:nvSpPr>
          <p:cNvPr id="9" name="TextBox 8"/>
          <p:cNvSpPr txBox="1"/>
          <p:nvPr/>
        </p:nvSpPr>
        <p:spPr>
          <a:xfrm>
            <a:off x="3063240"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Прозрачность</a:t>
            </a:r>
          </a:p>
        </p:txBody>
      </p:sp>
      <p:sp>
        <p:nvSpPr>
          <p:cNvPr id="10" name="TextBox 9"/>
          <p:cNvSpPr txBox="1"/>
          <p:nvPr/>
        </p:nvSpPr>
        <p:spPr>
          <a:xfrm>
            <a:off x="2770632"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прячет реальные промпты и поток управления</a:t>
            </a:r>
          </a:p>
        </p:txBody>
      </p:sp>
      <p:pic>
        <p:nvPicPr>
          <p:cNvPr id="11" name="Picture 10" descr="lock-gold.png"/>
          <p:cNvPicPr>
            <a:picLocks noChangeAspect="1"/>
          </p:cNvPicPr>
          <p:nvPr/>
        </p:nvPicPr>
        <p:blipFill>
          <a:blip r:embed="rId4"/>
          <a:stretch>
            <a:fillRect/>
          </a:stretch>
        </p:blipFill>
        <p:spPr>
          <a:xfrm>
            <a:off x="5065776" y="1389888"/>
            <a:ext cx="237744" cy="237744"/>
          </a:xfrm>
          <a:prstGeom prst="rect">
            <a:avLst/>
          </a:prstGeom>
        </p:spPr>
      </p:pic>
      <p:sp>
        <p:nvSpPr>
          <p:cNvPr id="12" name="TextBox 11"/>
          <p:cNvSpPr txBox="1"/>
          <p:nvPr/>
        </p:nvSpPr>
        <p:spPr>
          <a:xfrm>
            <a:off x="5358384"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Привязка (lock-in)</a:t>
            </a:r>
          </a:p>
        </p:txBody>
      </p:sp>
      <p:sp>
        <p:nvSpPr>
          <p:cNvPr id="13" name="TextBox 12"/>
          <p:cNvSpPr txBox="1"/>
          <p:nvPr/>
        </p:nvSpPr>
        <p:spPr>
          <a:xfrm>
            <a:off x="5065776"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SDK вендоров привязывают к экосистеме</a:t>
            </a:r>
          </a:p>
        </p:txBody>
      </p:sp>
      <p:pic>
        <p:nvPicPr>
          <p:cNvPr id="14" name="Picture 13" descr="git-pull-request-gold.png"/>
          <p:cNvPicPr>
            <a:picLocks noChangeAspect="1"/>
          </p:cNvPicPr>
          <p:nvPr/>
        </p:nvPicPr>
        <p:blipFill>
          <a:blip r:embed="rId5"/>
          <a:stretch>
            <a:fillRect/>
          </a:stretch>
        </p:blipFill>
        <p:spPr>
          <a:xfrm>
            <a:off x="7360920" y="1389888"/>
            <a:ext cx="237744" cy="237744"/>
          </a:xfrm>
          <a:prstGeom prst="rect">
            <a:avLst/>
          </a:prstGeom>
        </p:spPr>
      </p:pic>
      <p:sp>
        <p:nvSpPr>
          <p:cNvPr id="15" name="TextBox 14"/>
          <p:cNvSpPr txBox="1"/>
          <p:nvPr/>
        </p:nvSpPr>
        <p:spPr>
          <a:xfrm>
            <a:off x="7653528"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Смена версий</a:t>
            </a:r>
          </a:p>
        </p:txBody>
      </p:sp>
      <p:sp>
        <p:nvSpPr>
          <p:cNvPr id="16" name="TextBox 15"/>
          <p:cNvSpPr txBox="1"/>
          <p:nvPr/>
        </p:nvSpPr>
        <p:spPr>
          <a:xfrm>
            <a:off x="7360920"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ломающие API-изменения (LangChain)</a:t>
            </a:r>
          </a:p>
        </p:txBody>
      </p:sp>
      <p:pic>
        <p:nvPicPr>
          <p:cNvPr id="17" name="Picture 16" descr="sliders-horizontal-gold.png"/>
          <p:cNvPicPr>
            <a:picLocks noChangeAspect="1"/>
          </p:cNvPicPr>
          <p:nvPr/>
        </p:nvPicPr>
        <p:blipFill>
          <a:blip r:embed="rId6"/>
          <a:stretch>
            <a:fillRect/>
          </a:stretch>
        </p:blipFill>
        <p:spPr>
          <a:xfrm>
            <a:off x="9656064" y="1389888"/>
            <a:ext cx="237744" cy="237744"/>
          </a:xfrm>
          <a:prstGeom prst="rect">
            <a:avLst/>
          </a:prstGeom>
        </p:spPr>
      </p:pic>
      <p:sp>
        <p:nvSpPr>
          <p:cNvPr id="18" name="TextBox 17"/>
          <p:cNvSpPr txBox="1"/>
          <p:nvPr/>
        </p:nvSpPr>
        <p:spPr>
          <a:xfrm>
            <a:off x="9948672" y="1362456"/>
            <a:ext cx="1837944" cy="256032"/>
          </a:xfrm>
          <a:prstGeom prst="rect">
            <a:avLst/>
          </a:prstGeom>
          <a:noFill/>
        </p:spPr>
        <p:txBody>
          <a:bodyPr wrap="square" lIns="0" rIns="0" tIns="0" bIns="0" anchor="t">
            <a:spAutoFit/>
          </a:bodyPr>
          <a:lstStyle/>
          <a:p>
            <a:pPr algn="l">
              <a:lnSpc>
                <a:spcPct val="115000"/>
              </a:lnSpc>
            </a:pPr>
            <a:r>
              <a:rPr sz="1100" b="1" i="0">
                <a:solidFill>
                  <a:srgbClr val="21295C"/>
                </a:solidFill>
                <a:latin typeface="Arial"/>
              </a:rPr>
              <a:t>Накладные расходы</a:t>
            </a:r>
          </a:p>
        </p:txBody>
      </p:sp>
      <p:sp>
        <p:nvSpPr>
          <p:cNvPr id="19" name="TextBox 18"/>
          <p:cNvSpPr txBox="1"/>
          <p:nvPr/>
        </p:nvSpPr>
        <p:spPr>
          <a:xfrm>
            <a:off x="9656064" y="1627632"/>
            <a:ext cx="2093976" cy="292608"/>
          </a:xfrm>
          <a:prstGeom prst="rect">
            <a:avLst/>
          </a:prstGeom>
          <a:noFill/>
        </p:spPr>
        <p:txBody>
          <a:bodyPr wrap="square" lIns="0" rIns="0" tIns="0" bIns="0" anchor="t">
            <a:spAutoFit/>
          </a:bodyPr>
          <a:lstStyle/>
          <a:p>
            <a:pPr algn="l">
              <a:lnSpc>
                <a:spcPct val="100000"/>
              </a:lnSpc>
            </a:pPr>
            <a:r>
              <a:rPr sz="850" b="0" i="0">
                <a:solidFill>
                  <a:srgbClr val="21295C"/>
                </a:solidFill>
                <a:latin typeface="Arial"/>
              </a:rPr>
              <a:t>CrewAI +18% токенов vs LangGraph</a:t>
            </a:r>
            <a:r>
              <a:rPr sz="442" baseline="30000" b="0" i="1">
                <a:latin typeface="Arial"/>
                <a:cs typeface="Arial"/>
                <a:ea typeface="Arial"/>
                <a:solidFill>
                  <a:srgbClr val="1C7293"/>
                </a:solidFill>
              </a:rPr>
              <a:t>[2]</a:t>
            </a:r>
          </a:p>
        </p:txBody>
      </p:sp>
      <p:sp>
        <p:nvSpPr>
          <p:cNvPr id="20" name="Rounded Rectangle 19"/>
          <p:cNvSpPr/>
          <p:nvPr/>
        </p:nvSpPr>
        <p:spPr>
          <a:xfrm>
            <a:off x="365760" y="2048256"/>
            <a:ext cx="11475720" cy="3145536"/>
          </a:xfrm>
          <a:prstGeom prst="roundRect">
            <a:avLst>
              <a:gd name="adj" fmla="val 96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 y="2121408"/>
            <a:ext cx="23317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121408"/>
            <a:ext cx="21488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Фреймворк</a:t>
            </a:r>
          </a:p>
        </p:txBody>
      </p:sp>
      <p:sp>
        <p:nvSpPr>
          <p:cNvPr id="23" name="Rectangle 22"/>
          <p:cNvSpPr/>
          <p:nvPr/>
        </p:nvSpPr>
        <p:spPr>
          <a:xfrm>
            <a:off x="2807208" y="2121408"/>
            <a:ext cx="288036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98648" y="2121408"/>
            <a:ext cx="269747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Ядро-абстракция</a:t>
            </a:r>
          </a:p>
        </p:txBody>
      </p:sp>
      <p:sp>
        <p:nvSpPr>
          <p:cNvPr id="25" name="Rectangle 24"/>
          <p:cNvSpPr/>
          <p:nvPr/>
        </p:nvSpPr>
        <p:spPr>
          <a:xfrm>
            <a:off x="568756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79007"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Под что подходит</a:t>
            </a:r>
          </a:p>
        </p:txBody>
      </p:sp>
      <p:sp>
        <p:nvSpPr>
          <p:cNvPr id="27" name="Rectangle 26"/>
          <p:cNvSpPr/>
          <p:nvPr/>
        </p:nvSpPr>
        <p:spPr>
          <a:xfrm>
            <a:off x="8705088" y="2121408"/>
            <a:ext cx="3017520" cy="32918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96528" y="2121408"/>
            <a:ext cx="2834639" cy="329184"/>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Один честный минус</a:t>
            </a:r>
          </a:p>
        </p:txBody>
      </p:sp>
      <p:sp>
        <p:nvSpPr>
          <p:cNvPr id="29" name="Rectangle 28"/>
          <p:cNvSpPr/>
          <p:nvPr/>
        </p:nvSpPr>
        <p:spPr>
          <a:xfrm>
            <a:off x="475488" y="2450591"/>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2450591"/>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LangGraph</a:t>
            </a:r>
          </a:p>
        </p:txBody>
      </p:sp>
      <p:sp>
        <p:nvSpPr>
          <p:cNvPr id="31" name="Rectangle 30"/>
          <p:cNvSpPr/>
          <p:nvPr/>
        </p:nvSpPr>
        <p:spPr>
          <a:xfrm>
            <a:off x="2807208" y="2450591"/>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2450591"/>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stateful-граф</a:t>
            </a:r>
          </a:p>
        </p:txBody>
      </p:sp>
      <p:sp>
        <p:nvSpPr>
          <p:cNvPr id="33" name="Rectangle 32"/>
          <p:cNvSpPr/>
          <p:nvPr/>
        </p:nvSpPr>
        <p:spPr>
          <a:xfrm>
            <a:off x="568756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79007"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продакшн: control flow, состояние, HITL</a:t>
            </a:r>
          </a:p>
        </p:txBody>
      </p:sp>
      <p:sp>
        <p:nvSpPr>
          <p:cNvPr id="35" name="Rectangle 34"/>
          <p:cNvSpPr/>
          <p:nvPr/>
        </p:nvSpPr>
        <p:spPr>
          <a:xfrm>
            <a:off x="8705088" y="2450591"/>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96528" y="2450591"/>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крутая кривая; для одного цикла — переинжиниринг</a:t>
            </a:r>
          </a:p>
        </p:txBody>
      </p:sp>
      <p:sp>
        <p:nvSpPr>
          <p:cNvPr id="37" name="Rectangle 36"/>
          <p:cNvSpPr/>
          <p:nvPr/>
        </p:nvSpPr>
        <p:spPr>
          <a:xfrm>
            <a:off x="475488" y="2747264"/>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274726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CrewAI</a:t>
            </a:r>
          </a:p>
        </p:txBody>
      </p:sp>
      <p:sp>
        <p:nvSpPr>
          <p:cNvPr id="39" name="Rectangle 38"/>
          <p:cNvSpPr/>
          <p:nvPr/>
        </p:nvSpPr>
        <p:spPr>
          <a:xfrm>
            <a:off x="2807208" y="2747264"/>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98648" y="274726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ролевые «экипажи»</a:t>
            </a:r>
          </a:p>
        </p:txBody>
      </p:sp>
      <p:sp>
        <p:nvSpPr>
          <p:cNvPr id="41" name="Rectangle 40"/>
          <p:cNvSpPr/>
          <p:nvPr/>
        </p:nvSpPr>
        <p:spPr>
          <a:xfrm>
            <a:off x="568756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79007"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быстрый роль-декомпозируемый прототип</a:t>
            </a:r>
          </a:p>
        </p:txBody>
      </p:sp>
      <p:sp>
        <p:nvSpPr>
          <p:cNvPr id="43" name="Rectangle 42"/>
          <p:cNvSpPr/>
          <p:nvPr/>
        </p:nvSpPr>
        <p:spPr>
          <a:xfrm>
            <a:off x="8705088" y="2747264"/>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96528" y="274726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роль маскирует, что реально происходит; хрупкость мульти-агента</a:t>
            </a:r>
          </a:p>
        </p:txBody>
      </p:sp>
      <p:sp>
        <p:nvSpPr>
          <p:cNvPr id="45" name="Rectangle 44"/>
          <p:cNvSpPr/>
          <p:nvPr/>
        </p:nvSpPr>
        <p:spPr>
          <a:xfrm>
            <a:off x="475488" y="3043936"/>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304393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AutoGen → AG2</a:t>
            </a:r>
          </a:p>
        </p:txBody>
      </p:sp>
      <p:sp>
        <p:nvSpPr>
          <p:cNvPr id="47" name="Rectangle 46"/>
          <p:cNvSpPr/>
          <p:nvPr/>
        </p:nvSpPr>
        <p:spPr>
          <a:xfrm>
            <a:off x="2807208" y="3043936"/>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8648" y="304393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разговор агентов</a:t>
            </a:r>
          </a:p>
        </p:txBody>
      </p:sp>
      <p:sp>
        <p:nvSpPr>
          <p:cNvPr id="49" name="Rectangle 48"/>
          <p:cNvSpPr/>
          <p:nvPr/>
        </p:nvSpPr>
        <p:spPr>
          <a:xfrm>
            <a:off x="568756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79007"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исследование разговорных паттернов</a:t>
            </a:r>
          </a:p>
        </p:txBody>
      </p:sp>
      <p:sp>
        <p:nvSpPr>
          <p:cNvPr id="51" name="Rectangle 50"/>
          <p:cNvSpPr/>
          <p:nvPr/>
        </p:nvSpPr>
        <p:spPr>
          <a:xfrm>
            <a:off x="8705088" y="3043936"/>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96528" y="304393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частые переименования (AutoGen → AG2 / MS Agent) — риск при внедрении</a:t>
            </a:r>
          </a:p>
        </p:txBody>
      </p:sp>
      <p:sp>
        <p:nvSpPr>
          <p:cNvPr id="53" name="Rectangle 52"/>
          <p:cNvSpPr/>
          <p:nvPr/>
        </p:nvSpPr>
        <p:spPr>
          <a:xfrm>
            <a:off x="475488" y="3340608"/>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66928" y="334060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OpenAI Agents SDK</a:t>
            </a:r>
          </a:p>
        </p:txBody>
      </p:sp>
      <p:sp>
        <p:nvSpPr>
          <p:cNvPr id="55" name="Rectangle 54"/>
          <p:cNvSpPr/>
          <p:nvPr/>
        </p:nvSpPr>
        <p:spPr>
          <a:xfrm>
            <a:off x="2807208" y="3340608"/>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898648" y="3340608"/>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handoffs</a:t>
            </a:r>
          </a:p>
        </p:txBody>
      </p:sp>
      <p:sp>
        <p:nvSpPr>
          <p:cNvPr id="57" name="Rectangle 56"/>
          <p:cNvSpPr/>
          <p:nvPr/>
        </p:nvSpPr>
        <p:spPr>
          <a:xfrm>
            <a:off x="568756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779007"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лёгкие handoff + tracing на OpenAI</a:t>
            </a:r>
          </a:p>
        </p:txBody>
      </p:sp>
      <p:sp>
        <p:nvSpPr>
          <p:cNvPr id="59" name="Rectangle 58"/>
          <p:cNvSpPr/>
          <p:nvPr/>
        </p:nvSpPr>
        <p:spPr>
          <a:xfrm>
            <a:off x="8705088" y="3340608"/>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796528" y="3340608"/>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OpenAI-центричность; persistence/RAG приносишь сам</a:t>
            </a:r>
          </a:p>
        </p:txBody>
      </p:sp>
      <p:sp>
        <p:nvSpPr>
          <p:cNvPr id="61" name="Rectangle 60"/>
          <p:cNvSpPr/>
          <p:nvPr/>
        </p:nvSpPr>
        <p:spPr>
          <a:xfrm>
            <a:off x="475488" y="3637280"/>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6928" y="3637280"/>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Claude Agent SDK</a:t>
            </a:r>
          </a:p>
        </p:txBody>
      </p:sp>
      <p:sp>
        <p:nvSpPr>
          <p:cNvPr id="63" name="Rectangle 62"/>
          <p:cNvSpPr/>
          <p:nvPr/>
        </p:nvSpPr>
        <p:spPr>
          <a:xfrm>
            <a:off x="2807208" y="3637280"/>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898648" y="3637280"/>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тот же loop, что Claude Code</a:t>
            </a:r>
          </a:p>
        </p:txBody>
      </p:sp>
      <p:sp>
        <p:nvSpPr>
          <p:cNvPr id="65" name="Rectangle 64"/>
          <p:cNvSpPr/>
          <p:nvPr/>
        </p:nvSpPr>
        <p:spPr>
          <a:xfrm>
            <a:off x="568756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779007"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coding / computer-use, длинные задачи</a:t>
            </a:r>
          </a:p>
        </p:txBody>
      </p:sp>
      <p:sp>
        <p:nvSpPr>
          <p:cNvPr id="67" name="Rectangle 66"/>
          <p:cNvSpPr/>
          <p:nvPr/>
        </p:nvSpPr>
        <p:spPr>
          <a:xfrm>
            <a:off x="8705088" y="3637280"/>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796528" y="3637280"/>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Claude-центричность; тяжёлый harness vs голый API</a:t>
            </a:r>
          </a:p>
        </p:txBody>
      </p:sp>
      <p:sp>
        <p:nvSpPr>
          <p:cNvPr id="69" name="Rectangle 68"/>
          <p:cNvSpPr/>
          <p:nvPr/>
        </p:nvSpPr>
        <p:spPr>
          <a:xfrm>
            <a:off x="475488" y="3933952"/>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66928" y="3933952"/>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smolagents</a:t>
            </a:r>
          </a:p>
        </p:txBody>
      </p:sp>
      <p:sp>
        <p:nvSpPr>
          <p:cNvPr id="71" name="Rectangle 70"/>
          <p:cNvSpPr/>
          <p:nvPr/>
        </p:nvSpPr>
        <p:spPr>
          <a:xfrm>
            <a:off x="2807208" y="3933952"/>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898648" y="3933952"/>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code-агенты (пишут Python)</a:t>
            </a:r>
          </a:p>
        </p:txBody>
      </p:sp>
      <p:sp>
        <p:nvSpPr>
          <p:cNvPr id="73" name="Rectangle 72"/>
          <p:cNvSpPr/>
          <p:nvPr/>
        </p:nvSpPr>
        <p:spPr>
          <a:xfrm>
            <a:off x="568756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779007"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минимальный читаемый агент</a:t>
            </a:r>
          </a:p>
        </p:txBody>
      </p:sp>
      <p:sp>
        <p:nvSpPr>
          <p:cNvPr id="75" name="Rectangle 74"/>
          <p:cNvSpPr/>
          <p:nvPr/>
        </p:nvSpPr>
        <p:spPr>
          <a:xfrm>
            <a:off x="8705088" y="3933952"/>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796528" y="3933952"/>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исполнение кода = поверхность атаки (нужен sandbox)</a:t>
            </a:r>
          </a:p>
        </p:txBody>
      </p:sp>
      <p:sp>
        <p:nvSpPr>
          <p:cNvPr id="77" name="Rectangle 76"/>
          <p:cNvSpPr/>
          <p:nvPr/>
        </p:nvSpPr>
        <p:spPr>
          <a:xfrm>
            <a:off x="475488" y="4230624"/>
            <a:ext cx="23317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66928" y="4230624"/>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LlamaIndex agents</a:t>
            </a:r>
          </a:p>
        </p:txBody>
      </p:sp>
      <p:sp>
        <p:nvSpPr>
          <p:cNvPr id="79" name="Rectangle 78"/>
          <p:cNvSpPr/>
          <p:nvPr/>
        </p:nvSpPr>
        <p:spPr>
          <a:xfrm>
            <a:off x="2807208" y="4230624"/>
            <a:ext cx="288036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2898648" y="4230624"/>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поверх RAG-стека</a:t>
            </a:r>
          </a:p>
        </p:txBody>
      </p:sp>
      <p:sp>
        <p:nvSpPr>
          <p:cNvPr id="81" name="Rectangle 80"/>
          <p:cNvSpPr/>
          <p:nvPr/>
        </p:nvSpPr>
        <p:spPr>
          <a:xfrm>
            <a:off x="568756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79007"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агент над вашими документами/данными</a:t>
            </a:r>
          </a:p>
        </p:txBody>
      </p:sp>
      <p:sp>
        <p:nvSpPr>
          <p:cNvPr id="83" name="Rectangle 82"/>
          <p:cNvSpPr/>
          <p:nvPr/>
        </p:nvSpPr>
        <p:spPr>
          <a:xfrm>
            <a:off x="8705088" y="4230624"/>
            <a:ext cx="3017520" cy="296672"/>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96528" y="4230624"/>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центр тяжести — retrieval, не оркестрация</a:t>
            </a:r>
          </a:p>
        </p:txBody>
      </p:sp>
      <p:sp>
        <p:nvSpPr>
          <p:cNvPr id="85" name="Rectangle 84"/>
          <p:cNvSpPr/>
          <p:nvPr/>
        </p:nvSpPr>
        <p:spPr>
          <a:xfrm>
            <a:off x="475488" y="4527296"/>
            <a:ext cx="23317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66928" y="4527296"/>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Pydantic AI</a:t>
            </a:r>
          </a:p>
        </p:txBody>
      </p:sp>
      <p:sp>
        <p:nvSpPr>
          <p:cNvPr id="87" name="Rectangle 86"/>
          <p:cNvSpPr/>
          <p:nvPr/>
        </p:nvSpPr>
        <p:spPr>
          <a:xfrm>
            <a:off x="2807208" y="4527296"/>
            <a:ext cx="288036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898648" y="4527296"/>
            <a:ext cx="269747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type-safe agent loop</a:t>
            </a:r>
          </a:p>
        </p:txBody>
      </p:sp>
      <p:sp>
        <p:nvSpPr>
          <p:cNvPr id="89" name="Rectangle 88"/>
          <p:cNvSpPr/>
          <p:nvPr/>
        </p:nvSpPr>
        <p:spPr>
          <a:xfrm>
            <a:off x="568756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779007"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валидированные выходы, типовые контракты</a:t>
            </a:r>
          </a:p>
        </p:txBody>
      </p:sp>
      <p:sp>
        <p:nvSpPr>
          <p:cNvPr id="91" name="Rectangle 90"/>
          <p:cNvSpPr/>
          <p:nvPr/>
        </p:nvSpPr>
        <p:spPr>
          <a:xfrm>
            <a:off x="8705088" y="4527296"/>
            <a:ext cx="3017520" cy="296672"/>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796528" y="4527296"/>
            <a:ext cx="2834639" cy="296672"/>
          </a:xfrm>
          <a:prstGeom prst="rect">
            <a:avLst/>
          </a:prstGeom>
          <a:noFill/>
        </p:spPr>
        <p:txBody>
          <a:bodyPr wrap="square" lIns="0" rIns="0" tIns="0" bIns="0" anchor="ctr">
            <a:spAutoFit/>
          </a:bodyPr>
          <a:lstStyle/>
          <a:p>
            <a:pPr algn="l">
              <a:lnSpc>
                <a:spcPct val="100000"/>
              </a:lnSpc>
            </a:pPr>
            <a:r>
              <a:rPr sz="850" b="0" i="0">
                <a:solidFill>
                  <a:srgbClr val="21295C"/>
                </a:solidFill>
                <a:latin typeface="Arial"/>
              </a:rPr>
              <a:t>молод; type-safety ортогонален оркестрации</a:t>
            </a:r>
          </a:p>
        </p:txBody>
      </p:sp>
      <p:sp>
        <p:nvSpPr>
          <p:cNvPr id="93" name="Rectangle 92"/>
          <p:cNvSpPr/>
          <p:nvPr/>
        </p:nvSpPr>
        <p:spPr>
          <a:xfrm>
            <a:off x="475488" y="4823968"/>
            <a:ext cx="23317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566928" y="4823968"/>
            <a:ext cx="21488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НИ ОДНОГО</a:t>
            </a:r>
          </a:p>
        </p:txBody>
      </p:sp>
      <p:sp>
        <p:nvSpPr>
          <p:cNvPr id="95" name="Rectangle 94"/>
          <p:cNvSpPr/>
          <p:nvPr/>
        </p:nvSpPr>
        <p:spPr>
          <a:xfrm>
            <a:off x="2807208" y="4823968"/>
            <a:ext cx="288036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98648" y="4823968"/>
            <a:ext cx="269747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обычный код + прямые вызовы API</a:t>
            </a:r>
          </a:p>
        </p:txBody>
      </p:sp>
      <p:sp>
        <p:nvSpPr>
          <p:cNvPr id="97" name="Rectangle 96"/>
          <p:cNvSpPr/>
          <p:nvPr/>
        </p:nvSpPr>
        <p:spPr>
          <a:xfrm>
            <a:off x="568756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779007"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детерминированные шаги, ≤ пары вызовов LLM</a:t>
            </a:r>
          </a:p>
        </p:txBody>
      </p:sp>
      <p:sp>
        <p:nvSpPr>
          <p:cNvPr id="99" name="Rectangle 98"/>
          <p:cNvSpPr/>
          <p:nvPr/>
        </p:nvSpPr>
        <p:spPr>
          <a:xfrm>
            <a:off x="8705088" y="4823968"/>
            <a:ext cx="3017520" cy="29667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796528" y="4823968"/>
            <a:ext cx="2834639" cy="296672"/>
          </a:xfrm>
          <a:prstGeom prst="rect">
            <a:avLst/>
          </a:prstGeom>
          <a:noFill/>
        </p:spPr>
        <p:txBody>
          <a:bodyPr wrap="square" lIns="0" rIns="0" tIns="0" bIns="0" anchor="ctr">
            <a:spAutoFit/>
          </a:bodyPr>
          <a:lstStyle/>
          <a:p>
            <a:pPr algn="l">
              <a:lnSpc>
                <a:spcPct val="100000"/>
              </a:lnSpc>
            </a:pPr>
            <a:r>
              <a:rPr sz="850" b="1" i="0">
                <a:solidFill>
                  <a:srgbClr val="21295C"/>
                </a:solidFill>
                <a:latin typeface="Arial"/>
              </a:rPr>
              <a:t>требует дисциплины «не тянуться к фреймворку авансом»</a:t>
            </a:r>
          </a:p>
        </p:txBody>
      </p:sp>
      <p:sp>
        <p:nvSpPr>
          <p:cNvPr id="101" name="Rounded Rectangle 100"/>
          <p:cNvSpPr/>
          <p:nvPr/>
        </p:nvSpPr>
        <p:spPr>
          <a:xfrm>
            <a:off x="502920" y="5285232"/>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04088" y="5340096"/>
            <a:ext cx="10799064" cy="713232"/>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Пять минусов выше применимы к КАЖДОЙ строке. Нижняя строка — не для полноты: детерминированный путь + известные шаги + чувствительность к стоимости → обычный код, без агента и без фреймворка. Правило лестницы на уровне выбора инструмента: сложность оснастки оплачивается требованием задачи, а не берётся авансом.</a:t>
            </a:r>
          </a:p>
        </p:txBody>
      </p:sp>
      <p:sp>
        <p:nvSpPr>
          <p:cNvPr id="103" name="TextBox 102"/>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8"/>
              </a:rPr>
              <a:t>Anthropic — Building Effective Agents (фреймворк = абстракционный налог)</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9"/>
              </a:rPr>
              <a:t>LangGraph (LangChain) — stateful-граф, продакшн-оркестрация</a:t>
            </a:r>
          </a:p>
        </p:txBody>
      </p:sp>
      <p:sp>
        <p:nvSpPr>
          <p:cNvPr id="104" name="TextBox 10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900" b="1" i="0">
                <a:solidFill>
                  <a:srgbClr val="21295C"/>
                </a:solidFill>
                <a:latin typeface="Arial"/>
              </a:rPr>
              <a:t>Агент — под открытую задачу; мульти-агент — только под триггер, потому что надёжность падает как pⁿ.</a:t>
            </a:r>
          </a:p>
        </p:txBody>
      </p:sp>
      <p:sp>
        <p:nvSpPr>
          <p:cNvPr id="3" name="TextBox 2"/>
          <p:cNvSpPr txBox="1"/>
          <p:nvPr/>
        </p:nvSpPr>
        <p:spPr>
          <a:xfrm>
            <a:off x="502920" y="1115568"/>
            <a:ext cx="11201400" cy="365760"/>
          </a:xfrm>
          <a:prstGeom prst="rect">
            <a:avLst/>
          </a:prstGeom>
          <a:noFill/>
        </p:spPr>
        <p:txBody>
          <a:bodyPr wrap="square" lIns="0" rIns="0" tIns="0" bIns="0" anchor="t">
            <a:spAutoFit/>
          </a:bodyPr>
          <a:lstStyle/>
          <a:p>
            <a:pPr algn="l">
              <a:lnSpc>
                <a:spcPct val="112000"/>
              </a:lnSpc>
            </a:pPr>
            <a:r>
              <a:rPr sz="1200" b="0" i="1">
                <a:solidFill>
                  <a:srgbClr val="065A82"/>
                </a:solidFill>
                <a:latin typeface="Arial"/>
              </a:rPr>
              <a:t>Сверху вниз: предсказуемо → workflow; непредсказуемо и ценно → один агент; несколько агентов — только под конкретный триггер. Каждый лишний шаг перемножает вероятность успеха, а не усредняет.</a:t>
            </a:r>
          </a:p>
        </p:txBody>
      </p:sp>
      <p:sp>
        <p:nvSpPr>
          <p:cNvPr id="4" name="Rounded Rectangle 3"/>
          <p:cNvSpPr/>
          <p:nvPr/>
        </p:nvSpPr>
        <p:spPr>
          <a:xfrm>
            <a:off x="502920" y="1591056"/>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10512"/>
            <a:ext cx="530352" cy="530352"/>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ute-white.png"/>
          <p:cNvPicPr>
            <a:picLocks noChangeAspect="1"/>
          </p:cNvPicPr>
          <p:nvPr/>
        </p:nvPicPr>
        <p:blipFill>
          <a:blip r:embed="rId2"/>
          <a:stretch>
            <a:fillRect/>
          </a:stretch>
        </p:blipFill>
        <p:spPr>
          <a:xfrm>
            <a:off x="758952" y="1883664"/>
            <a:ext cx="384048" cy="384048"/>
          </a:xfrm>
          <a:prstGeom prst="rect">
            <a:avLst/>
          </a:prstGeom>
        </p:spPr>
      </p:pic>
      <p:sp>
        <p:nvSpPr>
          <p:cNvPr id="7" name="TextBox 6"/>
          <p:cNvSpPr txBox="1"/>
          <p:nvPr/>
        </p:nvSpPr>
        <p:spPr>
          <a:xfrm>
            <a:off x="1362456" y="1737360"/>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1. Предсказуемо → workflow</a:t>
            </a:r>
          </a:p>
        </p:txBody>
      </p:sp>
      <p:sp>
        <p:nvSpPr>
          <p:cNvPr id="8" name="TextBox 7"/>
          <p:cNvSpPr txBox="1"/>
          <p:nvPr/>
        </p:nvSpPr>
        <p:spPr>
          <a:xfrm>
            <a:off x="1362456" y="2121408"/>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известны заранее; предопределённые в коде пути, аудируемость</a:t>
            </a:r>
          </a:p>
        </p:txBody>
      </p:sp>
      <p:sp>
        <p:nvSpPr>
          <p:cNvPr id="9" name="Rounded Rectangle 8"/>
          <p:cNvSpPr/>
          <p:nvPr/>
        </p:nvSpPr>
        <p:spPr>
          <a:xfrm>
            <a:off x="502920" y="2651760"/>
            <a:ext cx="5760720" cy="100583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2871215"/>
            <a:ext cx="530352" cy="530352"/>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t-white.png"/>
          <p:cNvPicPr>
            <a:picLocks noChangeAspect="1"/>
          </p:cNvPicPr>
          <p:nvPr/>
        </p:nvPicPr>
        <p:blipFill>
          <a:blip r:embed="rId3"/>
          <a:stretch>
            <a:fillRect/>
          </a:stretch>
        </p:blipFill>
        <p:spPr>
          <a:xfrm>
            <a:off x="758952" y="2944368"/>
            <a:ext cx="384048" cy="384048"/>
          </a:xfrm>
          <a:prstGeom prst="rect">
            <a:avLst/>
          </a:prstGeom>
        </p:spPr>
      </p:pic>
      <p:sp>
        <p:nvSpPr>
          <p:cNvPr id="12" name="TextBox 11"/>
          <p:cNvSpPr txBox="1"/>
          <p:nvPr/>
        </p:nvSpPr>
        <p:spPr>
          <a:xfrm>
            <a:off x="1362456" y="2798064"/>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2. Непредсказуемо → один агент</a:t>
            </a:r>
          </a:p>
        </p:txBody>
      </p:sp>
      <p:sp>
        <p:nvSpPr>
          <p:cNvPr id="13" name="TextBox 12"/>
          <p:cNvSpPr txBox="1"/>
          <p:nvPr/>
        </p:nvSpPr>
        <p:spPr>
          <a:xfrm>
            <a:off x="1362456" y="3182112"/>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шаги зависят от промежуточных результатов; цена оправдана ценностью</a:t>
            </a:r>
          </a:p>
        </p:txBody>
      </p:sp>
      <p:sp>
        <p:nvSpPr>
          <p:cNvPr id="14" name="Rounded Rectangle 13"/>
          <p:cNvSpPr/>
          <p:nvPr/>
        </p:nvSpPr>
        <p:spPr>
          <a:xfrm>
            <a:off x="502920" y="3712463"/>
            <a:ext cx="5760720" cy="1005839"/>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931920"/>
            <a:ext cx="530352" cy="530352"/>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sers-white.png"/>
          <p:cNvPicPr>
            <a:picLocks noChangeAspect="1"/>
          </p:cNvPicPr>
          <p:nvPr/>
        </p:nvPicPr>
        <p:blipFill>
          <a:blip r:embed="rId4"/>
          <a:stretch>
            <a:fillRect/>
          </a:stretch>
        </p:blipFill>
        <p:spPr>
          <a:xfrm>
            <a:off x="758952" y="4005072"/>
            <a:ext cx="384048" cy="384048"/>
          </a:xfrm>
          <a:prstGeom prst="rect">
            <a:avLst/>
          </a:prstGeom>
        </p:spPr>
      </p:pic>
      <p:sp>
        <p:nvSpPr>
          <p:cNvPr id="17" name="TextBox 16"/>
          <p:cNvSpPr txBox="1"/>
          <p:nvPr/>
        </p:nvSpPr>
        <p:spPr>
          <a:xfrm>
            <a:off x="1362456" y="3858768"/>
            <a:ext cx="4754879" cy="384048"/>
          </a:xfrm>
          <a:prstGeom prst="rect">
            <a:avLst/>
          </a:prstGeom>
          <a:noFill/>
        </p:spPr>
        <p:txBody>
          <a:bodyPr wrap="square" lIns="0" rIns="0" tIns="0" bIns="0" anchor="ctr">
            <a:spAutoFit/>
          </a:bodyPr>
          <a:lstStyle/>
          <a:p>
            <a:pPr algn="l">
              <a:lnSpc>
                <a:spcPct val="115000"/>
              </a:lnSpc>
            </a:pPr>
            <a:r>
              <a:rPr sz="1350" b="1" i="0">
                <a:solidFill>
                  <a:srgbClr val="21295C"/>
                </a:solidFill>
                <a:latin typeface="Arial"/>
              </a:rPr>
              <a:t>3. Мульти-агент → только под триггер</a:t>
            </a:r>
          </a:p>
        </p:txBody>
      </p:sp>
      <p:sp>
        <p:nvSpPr>
          <p:cNvPr id="18" name="TextBox 17"/>
          <p:cNvSpPr txBox="1"/>
          <p:nvPr/>
        </p:nvSpPr>
        <p:spPr>
          <a:xfrm>
            <a:off x="1362456" y="4242816"/>
            <a:ext cx="4754879" cy="457200"/>
          </a:xfrm>
          <a:prstGeom prst="rect">
            <a:avLst/>
          </a:prstGeom>
          <a:noFill/>
        </p:spPr>
        <p:txBody>
          <a:bodyPr wrap="square" lIns="0" rIns="0" tIns="0" bIns="0" anchor="t">
            <a:spAutoFit/>
          </a:bodyPr>
          <a:lstStyle/>
          <a:p>
            <a:pPr algn="l">
              <a:lnSpc>
                <a:spcPct val="108000"/>
              </a:lnSpc>
            </a:pPr>
            <a:r>
              <a:rPr sz="1050" b="0" i="0">
                <a:solidFill>
                  <a:srgbClr val="21295C"/>
                </a:solidFill>
                <a:latin typeface="Arial"/>
              </a:rPr>
              <a:t>ШИРОКО параллельные независимые подзадачи высокой ценности; иначе зря</a:t>
            </a:r>
          </a:p>
        </p:txBody>
      </p:sp>
      <p:sp>
        <p:nvSpPr>
          <p:cNvPr id="19" name="Rounded Rectangle 18"/>
          <p:cNvSpPr/>
          <p:nvPr/>
        </p:nvSpPr>
        <p:spPr>
          <a:xfrm>
            <a:off x="502920" y="4791455"/>
            <a:ext cx="5760720" cy="859536"/>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4864607"/>
            <a:ext cx="5358383" cy="731520"/>
          </a:xfrm>
          <a:prstGeom prst="rect">
            <a:avLst/>
          </a:prstGeom>
          <a:noFill/>
        </p:spPr>
        <p:txBody>
          <a:bodyPr wrap="square" lIns="0" rIns="0" tIns="0" bIns="0" anchor="ctr">
            <a:spAutoFit/>
          </a:bodyPr>
          <a:lstStyle/>
          <a:p>
            <a:pPr algn="l">
              <a:lnSpc>
                <a:spcPct val="114000"/>
              </a:lnSpc>
            </a:pPr>
            <a:r>
              <a:rPr sz="1200" b="1" i="0">
                <a:solidFill>
                  <a:srgbClr val="028090"/>
                </a:solidFill>
                <a:latin typeface="Arial"/>
              </a:rPr>
              <a:t>Надёжность = pⁿ: </a:t>
            </a:r>
            <a:r>
              <a:rPr sz="1100" b="0" i="0">
                <a:solidFill>
                  <a:srgbClr val="21295C"/>
                </a:solidFill>
                <a:latin typeface="Arial"/>
              </a:rPr>
              <a:t>0,95¹⁰ ≈ 60%, 0,95²⁰ ≈ 36%. Замер τ-bench: GPT-4o 61% pass@1 → 25% pass@8</a:t>
            </a:r>
            <a:r>
              <a:rPr sz="572" baseline="30000" b="0" i="1">
                <a:latin typeface="Arial"/>
                <a:cs typeface="Arial"/>
                <a:ea typeface="Arial"/>
                <a:solidFill>
                  <a:srgbClr val="1C7293"/>
                </a:solidFill>
              </a:rPr>
              <a:t>[1]</a:t>
            </a:r>
            <a:r>
              <a:rPr sz="1100" b="0" i="0">
                <a:latin typeface="Arial"/>
                <a:cs typeface="Arial"/>
                <a:ea typeface="Arial"/>
                <a:solidFill>
                  <a:srgbClr val="21295C"/>
                </a:solidFill>
              </a:rPr>
              <a:t> — стабильно на всех восьми лишь в четверти случаев (pⁿ, измеренный вживую).</a:t>
            </a:r>
          </a:p>
        </p:txBody>
      </p:sp>
      <p:sp>
        <p:nvSpPr>
          <p:cNvPr id="21" name="Rounded Rectangle 20"/>
          <p:cNvSpPr/>
          <p:nvPr/>
        </p:nvSpPr>
        <p:spPr>
          <a:xfrm>
            <a:off x="6446520" y="1591056"/>
            <a:ext cx="5257800" cy="129844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47688" y="1682496"/>
            <a:ext cx="4855464" cy="292608"/>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Топология — не деталь: рой vs координатор</a:t>
            </a:r>
          </a:p>
        </p:txBody>
      </p:sp>
      <p:sp>
        <p:nvSpPr>
          <p:cNvPr id="23" name="TextBox 22"/>
          <p:cNvSpPr txBox="1"/>
          <p:nvPr/>
        </p:nvSpPr>
        <p:spPr>
          <a:xfrm>
            <a:off x="6647688" y="2029967"/>
            <a:ext cx="4855464" cy="786384"/>
          </a:xfrm>
          <a:prstGeom prst="rect">
            <a:avLst/>
          </a:prstGeom>
          <a:noFill/>
        </p:spPr>
        <p:txBody>
          <a:bodyPr wrap="square" lIns="0" rIns="0" tIns="0" bIns="0" anchor="t">
            <a:spAutoFit/>
          </a:bodyPr>
          <a:lstStyle/>
          <a:p>
            <a:pPr algn="l">
              <a:lnSpc>
                <a:spcPct val="112000"/>
              </a:lnSpc>
            </a:pPr>
            <a:r>
              <a:rPr sz="1050" b="0" i="0">
                <a:solidFill>
                  <a:srgbClr val="21295C"/>
                </a:solidFill>
                <a:latin typeface="Arial"/>
              </a:rPr>
              <a:t>Децентрализованный «рой» равноправных агентов амплифицирует ошибки </a:t>
            </a:r>
            <a:r>
              <a:rPr sz="1500" b="1" i="0">
                <a:solidFill>
                  <a:srgbClr val="028090"/>
                </a:solidFill>
                <a:latin typeface="Arial"/>
              </a:rPr>
              <a:t>17,2×</a:t>
            </a:r>
            <a:r>
              <a:rPr sz="780" baseline="30000" b="0" i="1">
                <a:latin typeface="Arial"/>
                <a:cs typeface="Arial"/>
                <a:ea typeface="Arial"/>
                <a:solidFill>
                  <a:srgbClr val="1C7293"/>
                </a:solidFill>
              </a:rPr>
              <a:t>[2]</a:t>
            </a:r>
            <a:r>
              <a:rPr sz="1050" b="0" i="0">
                <a:solidFill>
                  <a:srgbClr val="21295C"/>
                </a:solidFill>
                <a:latin typeface="Arial"/>
              </a:rPr>
              <a:t>, один координатор — только </a:t>
            </a:r>
            <a:r>
              <a:rPr sz="1500" b="1" i="0">
                <a:solidFill>
                  <a:srgbClr val="065A82"/>
                </a:solidFill>
                <a:latin typeface="Arial"/>
              </a:rPr>
              <a:t>4,4×</a:t>
            </a:r>
            <a:r>
              <a:rPr sz="1050" b="0" i="0">
                <a:solidFill>
                  <a:srgbClr val="21295C"/>
                </a:solidFill>
                <a:latin typeface="Arial"/>
              </a:rPr>
              <a:t> (Kim et al., 2512.08296). Больше связей = быстрее коллапс.</a:t>
            </a:r>
          </a:p>
        </p:txBody>
      </p:sp>
      <p:sp>
        <p:nvSpPr>
          <p:cNvPr id="24" name="Rounded Rectangle 23"/>
          <p:cNvSpPr/>
          <p:nvPr/>
        </p:nvSpPr>
        <p:spPr>
          <a:xfrm>
            <a:off x="6446520" y="2980944"/>
            <a:ext cx="525780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47688" y="3072384"/>
            <a:ext cx="4855464"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Cognition vs Anthropic — примирение:</a:t>
            </a:r>
          </a:p>
        </p:txBody>
      </p:sp>
      <p:sp>
        <p:nvSpPr>
          <p:cNvPr id="26" name="TextBox 25"/>
          <p:cNvSpPr txBox="1"/>
          <p:nvPr/>
        </p:nvSpPr>
        <p:spPr>
          <a:xfrm>
            <a:off x="6647688" y="3401568"/>
            <a:ext cx="4855464" cy="1042415"/>
          </a:xfrm>
          <a:prstGeom prst="rect">
            <a:avLst/>
          </a:prstGeom>
          <a:noFill/>
        </p:spPr>
        <p:txBody>
          <a:bodyPr wrap="square" lIns="0" rIns="0" tIns="0" bIns="0" anchor="t">
            <a:spAutoFit/>
          </a:bodyPr>
          <a:lstStyle/>
          <a:p>
            <a:pPr algn="l">
              <a:lnSpc>
                <a:spcPct val="110000"/>
              </a:lnSpc>
            </a:pPr>
            <a:r>
              <a:rPr sz="1000" b="0" i="0">
                <a:solidFill>
                  <a:srgbClr val="21295C"/>
                </a:solidFill>
                <a:latin typeface="Arial"/>
              </a:rPr>
              <a:t>Anthropic: мульти-агент выигрывает research-задачи. Cognition: «не стройте мульти-агентов». Противоречия нет: параллельте независимые ЧТЕНИЯ (поиск вширь), но не РЕШЕНИЯ с зависимостями — там субагенты принимают конфликтующие неявные выборы. Anthropic дословно: выигрыш «because it helps spend enough tokens», а не от магии координации.</a:t>
            </a:r>
          </a:p>
        </p:txBody>
      </p:sp>
      <p:sp>
        <p:nvSpPr>
          <p:cNvPr id="27" name="Rounded Rectangle 26"/>
          <p:cNvSpPr/>
          <p:nvPr/>
        </p:nvSpPr>
        <p:spPr>
          <a:xfrm>
            <a:off x="502920" y="5541264"/>
            <a:ext cx="11201400" cy="76809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596127"/>
            <a:ext cx="10799064" cy="658368"/>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Начинай с одного сильного агента. Мульти-агент покупает качество, сжигая токены (одиночный ≈ 4× чата, мульти ≈ 15×) — если задача не распадается на широко-параллельные независимые чтения и ценность не оправдывает кратную цену, это неверный инструмент.</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Sierra — τ-bench (pass^k: 61% pass@1 → 25% pass@8)</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Anthropic — Multi-Agent Research System («spend enough tokens»)</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67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Топология решает: координатор &gt; рой</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«Рой» равноправных агентов амплифицирует ошибки </a:t>
            </a:r>
            <a:r>
              <a:rPr sz="1600" b="1" i="0">
                <a:solidFill>
                  <a:srgbClr val="028090"/>
                </a:solidFill>
                <a:latin typeface="Arial"/>
              </a:rPr>
              <a:t>17,2×</a:t>
            </a:r>
            <a:r>
              <a:rPr sz="1200" b="0" i="0">
                <a:solidFill>
                  <a:srgbClr val="21295C"/>
                </a:solidFill>
                <a:latin typeface="Arial"/>
              </a:rPr>
              <a:t>;  один координатор — только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дословно: «multi-agent works mainly because it helps spend enough tokens to solve the problem» — выигрыш от объёма токенов, не от «магии координации».</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начинай с одного сильного агента.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67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67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во благо.</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выигрышем. Независимая проверка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67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56 /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8275320" cy="14813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7872984" cy="13716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Rounded Rectangle 26"/>
          <p:cNvSpPr/>
          <p:nvPr/>
        </p:nvSpPr>
        <p:spPr>
          <a:xfrm>
            <a:off x="8915400" y="4581144"/>
            <a:ext cx="2834640" cy="1636776"/>
          </a:xfrm>
          <a:prstGeom prst="roundRect">
            <a:avLst>
              <a:gd name="adj" fmla="val 4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24-alwayshasbeen-ru.png"/>
          <p:cNvPicPr>
            <a:picLocks noChangeAspect="1"/>
          </p:cNvPicPr>
          <p:nvPr/>
        </p:nvPicPr>
        <p:blipFill>
          <a:blip r:embed="rId4"/>
          <a:stretch>
            <a:fillRect/>
          </a:stretch>
        </p:blipFill>
        <p:spPr>
          <a:xfrm>
            <a:off x="8961120" y="4628006"/>
            <a:ext cx="2743200" cy="1543050"/>
          </a:xfrm>
          <a:prstGeom prst="rect">
            <a:avLst/>
          </a:prstGeom>
        </p:spPr>
      </p:pic>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57 / 67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переоснащённый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58 / 67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1800" b="1" i="0">
                <a:solidFill>
                  <a:srgbClr val="21295C"/>
                </a:solidFill>
                <a:latin typeface="Arial"/>
              </a:rPr>
              <a:t>Шесть типовых агентных задач по одной схеме: где агент оправдан, а где часть задачи стоит откатить в workflow.</a:t>
            </a:r>
          </a:p>
        </p:txBody>
      </p:sp>
      <p:sp>
        <p:nvSpPr>
          <p:cNvPr id="3" name="Rounded Rectangle 2"/>
          <p:cNvSpPr/>
          <p:nvPr/>
        </p:nvSpPr>
        <p:spPr>
          <a:xfrm>
            <a:off x="365760" y="1298448"/>
            <a:ext cx="11475720" cy="4224528"/>
          </a:xfrm>
          <a:prstGeom prst="roundRect">
            <a:avLst>
              <a:gd name="adj" fmla="val 72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389888"/>
            <a:ext cx="2514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89888"/>
            <a:ext cx="233172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Задача</a:t>
            </a:r>
          </a:p>
        </p:txBody>
      </p:sp>
      <p:sp>
        <p:nvSpPr>
          <p:cNvPr id="6" name="Rectangle 5"/>
          <p:cNvSpPr/>
          <p:nvPr/>
        </p:nvSpPr>
        <p:spPr>
          <a:xfrm>
            <a:off x="2990088" y="1389888"/>
            <a:ext cx="315468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81528" y="1389888"/>
            <a:ext cx="297180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Форма петли</a:t>
            </a:r>
          </a:p>
        </p:txBody>
      </p:sp>
      <p:sp>
        <p:nvSpPr>
          <p:cNvPr id="8" name="Rectangle 7"/>
          <p:cNvSpPr/>
          <p:nvPr/>
        </p:nvSpPr>
        <p:spPr>
          <a:xfrm>
            <a:off x="6144768" y="1389888"/>
            <a:ext cx="37947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36208" y="1389888"/>
            <a:ext cx="36118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Где ломается (число / кейс)</a:t>
            </a:r>
          </a:p>
        </p:txBody>
      </p:sp>
      <p:sp>
        <p:nvSpPr>
          <p:cNvPr id="10" name="Rectangle 9"/>
          <p:cNvSpPr/>
          <p:nvPr/>
        </p:nvSpPr>
        <p:spPr>
          <a:xfrm>
            <a:off x="9939528" y="1389888"/>
            <a:ext cx="196596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30968" y="1389888"/>
            <a:ext cx="1783080" cy="365760"/>
          </a:xfrm>
          <a:prstGeom prst="rect">
            <a:avLst/>
          </a:prstGeom>
          <a:noFill/>
        </p:spPr>
        <p:txBody>
          <a:bodyPr wrap="square" lIns="0" rIns="0" tIns="0" bIns="0" anchor="ctr">
            <a:spAutoFit/>
          </a:bodyPr>
          <a:lstStyle/>
          <a:p>
            <a:pPr algn="l">
              <a:lnSpc>
                <a:spcPct val="115000"/>
              </a:lnSpc>
            </a:pPr>
            <a:r>
              <a:rPr sz="1050" b="1" i="0">
                <a:solidFill>
                  <a:srgbClr val="FFFFFF"/>
                </a:solidFill>
                <a:latin typeface="Arial"/>
              </a:rPr>
              <a:t>Лучше workflow?</a:t>
            </a:r>
          </a:p>
        </p:txBody>
      </p:sp>
      <p:sp>
        <p:nvSpPr>
          <p:cNvPr id="12" name="Rectangle 11"/>
          <p:cNvSpPr/>
          <p:nvPr/>
        </p:nvSpPr>
        <p:spPr>
          <a:xfrm>
            <a:off x="475488" y="1755648"/>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75564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Coding-агент
(Claude Code / Cursor)</a:t>
            </a:r>
          </a:p>
        </p:txBody>
      </p:sp>
      <p:sp>
        <p:nvSpPr>
          <p:cNvPr id="14" name="Rectangle 13"/>
          <p:cNvSpPr/>
          <p:nvPr/>
        </p:nvSpPr>
        <p:spPr>
          <a:xfrm>
            <a:off x="2990088" y="1755648"/>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1528" y="175564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читать репо → план → правки → тесты → PR</a:t>
            </a:r>
          </a:p>
        </p:txBody>
      </p:sp>
      <p:sp>
        <p:nvSpPr>
          <p:cNvPr id="16" name="Rectangle 15"/>
          <p:cNvSpPr/>
          <p:nvPr/>
        </p:nvSpPr>
        <p:spPr>
          <a:xfrm>
            <a:off x="6144768" y="1755648"/>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6208" y="175564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большие рефакторинги; тихие неверные правки; петля на «мигающих» тестах</a:t>
            </a:r>
          </a:p>
        </p:txBody>
      </p:sp>
      <p:sp>
        <p:nvSpPr>
          <p:cNvPr id="18" name="Rectangle 17"/>
          <p:cNvSpPr/>
          <p:nvPr/>
        </p:nvSpPr>
        <p:spPr>
          <a:xfrm>
            <a:off x="9939528" y="1755648"/>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30968" y="1755648"/>
            <a:ext cx="1783080" cy="612647"/>
          </a:xfrm>
          <a:prstGeom prst="rect">
            <a:avLst/>
          </a:prstGeom>
          <a:noFill/>
        </p:spPr>
        <p:txBody>
          <a:bodyPr wrap="square" lIns="0" rIns="0" tIns="0" bIns="0" anchor="ctr">
            <a:spAutoFit/>
          </a:bodyPr>
          <a:lstStyle/>
          <a:p>
            <a:pPr algn="l">
              <a:lnSpc>
                <a:spcPct val="102000"/>
              </a:lnSpc>
            </a:pPr>
            <a:r>
              <a:rPr sz="850" b="0" i="0">
                <a:solidFill>
                  <a:srgbClr val="028090"/>
                </a:solidFill>
                <a:latin typeface="Arial"/>
              </a:rPr>
              <a:t>Нет — открытый поиск по коду требует агентности</a:t>
            </a:r>
          </a:p>
        </p:txBody>
      </p:sp>
      <p:sp>
        <p:nvSpPr>
          <p:cNvPr id="20" name="Rectangle 19"/>
          <p:cNvSpPr/>
          <p:nvPr/>
        </p:nvSpPr>
        <p:spPr>
          <a:xfrm>
            <a:off x="475488" y="2368296"/>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2368296"/>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Клиентская поддержка
(Air Canada · Klarna)</a:t>
            </a:r>
          </a:p>
        </p:txBody>
      </p:sp>
      <p:sp>
        <p:nvSpPr>
          <p:cNvPr id="22" name="Rectangle 21"/>
          <p:cNvSpPr/>
          <p:nvPr/>
        </p:nvSpPr>
        <p:spPr>
          <a:xfrm>
            <a:off x="2990088" y="2368296"/>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81528" y="2368296"/>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классифицировать → достать политику → решить/эскалировать</a:t>
            </a:r>
          </a:p>
        </p:txBody>
      </p:sp>
      <p:sp>
        <p:nvSpPr>
          <p:cNvPr id="24" name="Rectangle 23"/>
          <p:cNvSpPr/>
          <p:nvPr/>
        </p:nvSpPr>
        <p:spPr>
          <a:xfrm>
            <a:off x="6144768" y="2368296"/>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368296"/>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Air Canada: бот выдумал политику</a:t>
            </a:r>
            <a:r>
              <a:rPr sz="442" baseline="30000" b="0" i="1">
                <a:latin typeface="Arial"/>
                <a:cs typeface="Arial"/>
                <a:ea typeface="Arial"/>
                <a:solidFill>
                  <a:srgbClr val="1C7293"/>
                </a:solidFill>
              </a:rPr>
              <a:t>[1]</a:t>
            </a:r>
            <a:r>
              <a:rPr sz="850" b="0" i="0">
                <a:latin typeface="Arial"/>
                <a:cs typeface="Arial"/>
                <a:ea typeface="Arial"/>
                <a:solidFill>
                  <a:srgbClr val="21295C"/>
                </a:solidFill>
              </a:rPr>
              <a:t> → трибунал взыскал. Klarna: «−700 агентов» → вернули людей</a:t>
            </a:r>
          </a:p>
        </p:txBody>
      </p:sp>
      <p:sp>
        <p:nvSpPr>
          <p:cNvPr id="26" name="Rectangle 25"/>
          <p:cNvSpPr/>
          <p:nvPr/>
        </p:nvSpPr>
        <p:spPr>
          <a:xfrm>
            <a:off x="9939528" y="2368296"/>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30968" y="2368296"/>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Часто ДА для риск-части: детерминированная маршрутизация + guardrails</a:t>
            </a:r>
          </a:p>
        </p:txBody>
      </p:sp>
      <p:sp>
        <p:nvSpPr>
          <p:cNvPr id="28" name="Rectangle 27"/>
          <p:cNvSpPr/>
          <p:nvPr/>
        </p:nvSpPr>
        <p:spPr>
          <a:xfrm>
            <a:off x="475488" y="2980944"/>
            <a:ext cx="251460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2980944"/>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ETL / data-pipeline</a:t>
            </a:r>
          </a:p>
        </p:txBody>
      </p:sp>
      <p:sp>
        <p:nvSpPr>
          <p:cNvPr id="30" name="Rectangle 29"/>
          <p:cNvSpPr/>
          <p:nvPr/>
        </p:nvSpPr>
        <p:spPr>
          <a:xfrm>
            <a:off x="2990088" y="2980944"/>
            <a:ext cx="315468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81528" y="2980944"/>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заметить дрейф схемы → пропатчить → провалидировать → применить</a:t>
            </a:r>
          </a:p>
        </p:txBody>
      </p:sp>
      <p:sp>
        <p:nvSpPr>
          <p:cNvPr id="32" name="Rectangle 31"/>
          <p:cNvSpPr/>
          <p:nvPr/>
        </p:nvSpPr>
        <p:spPr>
          <a:xfrm>
            <a:off x="6144768" y="2980944"/>
            <a:ext cx="37947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2980944"/>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тихие плохие преобразования на масштабе; недетерминизм в аудируемом пайплайне</a:t>
            </a:r>
          </a:p>
        </p:txBody>
      </p:sp>
      <p:sp>
        <p:nvSpPr>
          <p:cNvPr id="34" name="Rectangle 33"/>
          <p:cNvSpPr/>
          <p:nvPr/>
        </p:nvSpPr>
        <p:spPr>
          <a:xfrm>
            <a:off x="9939528" y="2980944"/>
            <a:ext cx="1965960" cy="612647"/>
          </a:xfrm>
          <a:prstGeom prst="rect">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30968" y="2980944"/>
            <a:ext cx="178308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В основном ДА: ствол детерминирован, агент — на край починки дрейфа</a:t>
            </a:r>
          </a:p>
        </p:txBody>
      </p:sp>
      <p:sp>
        <p:nvSpPr>
          <p:cNvPr id="36" name="Rectangle 35"/>
          <p:cNvSpPr/>
          <p:nvPr/>
        </p:nvSpPr>
        <p:spPr>
          <a:xfrm>
            <a:off x="475488" y="3593591"/>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3593591"/>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Research-агент
(Deep Research)</a:t>
            </a:r>
          </a:p>
        </p:txBody>
      </p:sp>
      <p:sp>
        <p:nvSpPr>
          <p:cNvPr id="38" name="Rectangle 37"/>
          <p:cNvSpPr/>
          <p:nvPr/>
        </p:nvSpPr>
        <p:spPr>
          <a:xfrm>
            <a:off x="2990088" y="3593591"/>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81528" y="3593591"/>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план под-вопросов → веером искать → синтез → цитаты</a:t>
            </a:r>
          </a:p>
        </p:txBody>
      </p:sp>
      <p:sp>
        <p:nvSpPr>
          <p:cNvPr id="40" name="Rectangle 39"/>
          <p:cNvSpPr/>
          <p:nvPr/>
        </p:nvSpPr>
        <p:spPr>
          <a:xfrm>
            <a:off x="6144768" y="3593591"/>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6208" y="3593591"/>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взрыв стоимости ~15× токенов; галлюцинированные цитаты; поверхностная агентность</a:t>
            </a:r>
          </a:p>
        </p:txBody>
      </p:sp>
      <p:sp>
        <p:nvSpPr>
          <p:cNvPr id="42" name="Rectangle 41"/>
          <p:cNvSpPr/>
          <p:nvPr/>
        </p:nvSpPr>
        <p:spPr>
          <a:xfrm>
            <a:off x="9939528" y="3593591"/>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30968" y="3593591"/>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Нет для открытого «вширь»; ДА если это фиксированный lookup</a:t>
            </a:r>
          </a:p>
        </p:txBody>
      </p:sp>
      <p:sp>
        <p:nvSpPr>
          <p:cNvPr id="44" name="Rectangle 43"/>
          <p:cNvSpPr/>
          <p:nvPr/>
        </p:nvSpPr>
        <p:spPr>
          <a:xfrm>
            <a:off x="475488" y="4206240"/>
            <a:ext cx="251460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4206240"/>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Браузер / Operator</a:t>
            </a:r>
          </a:p>
        </p:txBody>
      </p:sp>
      <p:sp>
        <p:nvSpPr>
          <p:cNvPr id="46" name="Rectangle 45"/>
          <p:cNvSpPr/>
          <p:nvPr/>
        </p:nvSpPr>
        <p:spPr>
          <a:xfrm>
            <a:off x="2990088" y="4206240"/>
            <a:ext cx="315468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081528" y="4206240"/>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скриншот/DOM → план UI-действия → клик → наблюдать</a:t>
            </a:r>
          </a:p>
        </p:txBody>
      </p:sp>
      <p:sp>
        <p:nvSpPr>
          <p:cNvPr id="48" name="Rectangle 47"/>
          <p:cNvSpPr/>
          <p:nvPr/>
        </p:nvSpPr>
        <p:spPr>
          <a:xfrm>
            <a:off x="6144768" y="4206240"/>
            <a:ext cx="37947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36208" y="4206240"/>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OSWorld ~38%</a:t>
            </a:r>
            <a:r>
              <a:rPr sz="442" baseline="30000" b="0" i="1">
                <a:latin typeface="Arial"/>
                <a:cs typeface="Arial"/>
                <a:ea typeface="Arial"/>
                <a:solidFill>
                  <a:srgbClr val="1C7293"/>
                </a:solidFill>
              </a:rPr>
              <a:t>[2]</a:t>
            </a:r>
            <a:r>
              <a:rPr sz="850" b="0" i="0">
                <a:latin typeface="Arial"/>
                <a:cs typeface="Arial"/>
                <a:ea typeface="Arial"/>
                <a:solidFill>
                  <a:srgbClr val="21295C"/>
                </a:solidFill>
              </a:rPr>
              <a:t> (1-е поколение); ~1 задача из 5 проваливается; Operator ЗАКРЫТ</a:t>
            </a:r>
          </a:p>
        </p:txBody>
      </p:sp>
      <p:sp>
        <p:nvSpPr>
          <p:cNvPr id="50" name="Rectangle 49"/>
          <p:cNvSpPr/>
          <p:nvPr/>
        </p:nvSpPr>
        <p:spPr>
          <a:xfrm>
            <a:off x="9939528" y="4206240"/>
            <a:ext cx="1965960" cy="612647"/>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30968" y="4206240"/>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значимых действий (платежи) ДА — используй реальный API</a:t>
            </a:r>
          </a:p>
        </p:txBody>
      </p:sp>
      <p:sp>
        <p:nvSpPr>
          <p:cNvPr id="52" name="Rectangle 51"/>
          <p:cNvSpPr/>
          <p:nvPr/>
        </p:nvSpPr>
        <p:spPr>
          <a:xfrm>
            <a:off x="475488" y="4818888"/>
            <a:ext cx="251460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 y="4818888"/>
            <a:ext cx="2331720" cy="612647"/>
          </a:xfrm>
          <a:prstGeom prst="rect">
            <a:avLst/>
          </a:prstGeom>
          <a:noFill/>
        </p:spPr>
        <p:txBody>
          <a:bodyPr wrap="square" lIns="0" rIns="0" tIns="0" bIns="0" anchor="ctr">
            <a:spAutoFit/>
          </a:bodyPr>
          <a:lstStyle/>
          <a:p>
            <a:pPr algn="l">
              <a:lnSpc>
                <a:spcPct val="102000"/>
              </a:lnSpc>
            </a:pPr>
            <a:r>
              <a:rPr sz="850" b="1" i="0">
                <a:solidFill>
                  <a:srgbClr val="21295C"/>
                </a:solidFill>
                <a:latin typeface="Arial"/>
              </a:rPr>
              <a:t>SRE / ops-агент
(ITBench)</a:t>
            </a:r>
          </a:p>
        </p:txBody>
      </p:sp>
      <p:sp>
        <p:nvSpPr>
          <p:cNvPr id="54" name="Rectangle 53"/>
          <p:cNvSpPr/>
          <p:nvPr/>
        </p:nvSpPr>
        <p:spPr>
          <a:xfrm>
            <a:off x="2990088" y="4818888"/>
            <a:ext cx="315468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081528" y="4818888"/>
            <a:ext cx="297180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телеметрия → гипотеза → дашборд → предложить фикс</a:t>
            </a:r>
          </a:p>
        </p:txBody>
      </p:sp>
      <p:sp>
        <p:nvSpPr>
          <p:cNvPr id="56" name="Rectangle 55"/>
          <p:cNvSpPr/>
          <p:nvPr/>
        </p:nvSpPr>
        <p:spPr>
          <a:xfrm>
            <a:off x="6144768" y="4818888"/>
            <a:ext cx="37947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36208" y="4818888"/>
            <a:ext cx="3611880" cy="612647"/>
          </a:xfrm>
          <a:prstGeom prst="rect">
            <a:avLst/>
          </a:prstGeom>
          <a:noFill/>
        </p:spPr>
        <p:txBody>
          <a:bodyPr wrap="square" lIns="0" rIns="0" tIns="0" bIns="0" anchor="ctr">
            <a:spAutoFit/>
          </a:bodyPr>
          <a:lstStyle/>
          <a:p>
            <a:pPr algn="l">
              <a:lnSpc>
                <a:spcPct val="102000"/>
              </a:lnSpc>
            </a:pPr>
            <a:r>
              <a:rPr sz="850" b="0" i="0">
                <a:solidFill>
                  <a:srgbClr val="21295C"/>
                </a:solidFill>
                <a:latin typeface="Arial"/>
              </a:rPr>
              <a:t>ITBench: ~14% SRE-сценариев решаются автономно — сузить поиск, не заменить человека</a:t>
            </a:r>
          </a:p>
        </p:txBody>
      </p:sp>
      <p:sp>
        <p:nvSpPr>
          <p:cNvPr id="58" name="Rectangle 57"/>
          <p:cNvSpPr/>
          <p:nvPr/>
        </p:nvSpPr>
        <p:spPr>
          <a:xfrm>
            <a:off x="9939528" y="4818888"/>
            <a:ext cx="1965960" cy="612647"/>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030968" y="4818888"/>
            <a:ext cx="1783080" cy="612647"/>
          </a:xfrm>
          <a:prstGeom prst="rect">
            <a:avLst/>
          </a:prstGeom>
          <a:noFill/>
        </p:spPr>
        <p:txBody>
          <a:bodyPr wrap="square" lIns="0" rIns="0" tIns="0" bIns="0" anchor="ctr">
            <a:spAutoFit/>
          </a:bodyPr>
          <a:lstStyle/>
          <a:p>
            <a:pPr algn="l">
              <a:lnSpc>
                <a:spcPct val="102000"/>
              </a:lnSpc>
            </a:pPr>
            <a:r>
              <a:rPr sz="850" b="0" i="0">
                <a:solidFill>
                  <a:srgbClr val="065A82"/>
                </a:solidFill>
                <a:latin typeface="Arial"/>
              </a:rPr>
              <a:t>Для ИСПРАВЛЕНИЯ ДА: workflow + подтверждение; агент — на расследование</a:t>
            </a:r>
          </a:p>
        </p:txBody>
      </p:sp>
      <p:sp>
        <p:nvSpPr>
          <p:cNvPr id="60" name="Rounded Rectangle 59"/>
          <p:cNvSpPr/>
          <p:nvPr/>
        </p:nvSpPr>
        <p:spPr>
          <a:xfrm>
            <a:off x="502920" y="5614416"/>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4088" y="5669279"/>
            <a:ext cx="10799064" cy="548640"/>
          </a:xfrm>
          <a:prstGeom prst="rect">
            <a:avLst/>
          </a:prstGeom>
          <a:noFill/>
        </p:spPr>
        <p:txBody>
          <a:bodyPr wrap="square" lIns="0" rIns="0" tIns="0" bIns="0" anchor="ctr">
            <a:spAutoFit/>
          </a:bodyPr>
          <a:lstStyle/>
          <a:p>
            <a:pPr algn="l">
              <a:lnSpc>
                <a:spcPct val="122000"/>
              </a:lnSpc>
            </a:pPr>
            <a:r>
              <a:rPr sz="1150" b="1" i="0">
                <a:solidFill>
                  <a:srgbClr val="21295C"/>
                </a:solidFill>
                <a:latin typeface="Arial"/>
              </a:rPr>
              <a:t>Сквозной принцип: агент — на адаптивный КРАЙ (открытый поиск, починка дрейфа, расследование), workflow-с-воротами — на СТВОЛ и на значимое действие. Числа Operator (~38%) и ITBench (~14%) означают «сузить пространство поиска», а не «заменить человека».</a:t>
            </a:r>
          </a:p>
        </p:txBody>
      </p:sp>
      <p:sp>
        <p:nvSpPr>
          <p:cNvPr id="62" name="TextBox 6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McCarthy Tétrault — Air Canada (бот выдумал политику)</a:t>
            </a:r>
            <a:r>
              <a:rPr sz="850" i="1">
                <a:solidFill>
                  <a:srgbClr val="1C7293"/>
                </a:solidFill>
                <a:latin typeface="Arial"/>
              </a:rPr>
              <a:t>   ·   </a:t>
            </a:r>
            <a:r>
              <a:rPr sz="850" b="1" i="1">
                <a:solidFill>
                  <a:srgbClr val="065A82"/>
                </a:solidFill>
                <a:latin typeface="Arial"/>
              </a:rPr>
              <a:t>[2] </a:t>
            </a:r>
            <a:r>
              <a:rPr sz="850" i="1">
                <a:solidFill>
                  <a:srgbClr val="1C7293"/>
                </a:solidFill>
                <a:latin typeface="Arial"/>
              </a:rPr>
              <a:t>OSWorld / WebArena / ITBench — бенчмарки агентных задач</a:t>
            </a:r>
            <a:r>
              <a:rPr sz="850" i="1">
                <a:solidFill>
                  <a:srgbClr val="5B6678"/>
                </a:solidFill>
                <a:latin typeface="Arial"/>
              </a:rPr>
              <a:t>   ·   §4.9b; OSWorld / WebArena / ITBench — verify day-of. Отдельные суммы/детали — иллюстративны; классы и привязки (Air Canada, Klarna, Operator) реальны.</a:t>
            </a:r>
          </a:p>
        </p:txBody>
      </p:sp>
      <p:sp>
        <p:nvSpPr>
          <p:cNvPr id="63" name="TextBox 6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59 / 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60 / 67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61 / 67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62 / 67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00584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Что такое дисциплина выбора: KISS, YAGNI, наименьшая мощность.</a:t>
            </a:r>
          </a:p>
        </p:txBody>
      </p:sp>
      <p:sp>
        <p:nvSpPr>
          <p:cNvPr id="3" name="TextBox 2"/>
          <p:cNvSpPr txBox="1"/>
          <p:nvPr/>
        </p:nvSpPr>
        <p:spPr>
          <a:xfrm>
            <a:off x="502920" y="1316736"/>
            <a:ext cx="11201400" cy="512064"/>
          </a:xfrm>
          <a:prstGeom prst="rect">
            <a:avLst/>
          </a:prstGeom>
          <a:noFill/>
        </p:spPr>
        <p:txBody>
          <a:bodyPr wrap="square" lIns="0" rIns="0" tIns="0" bIns="0" anchor="t">
            <a:spAutoFit/>
          </a:bodyPr>
          <a:lstStyle/>
          <a:p>
            <a:pPr algn="l">
              <a:lnSpc>
                <a:spcPct val="112000"/>
              </a:lnSpc>
            </a:pPr>
            <a:r>
              <a:rPr sz="1350" b="0" i="1">
                <a:solidFill>
                  <a:srgbClr val="065A82"/>
                </a:solidFill>
                <a:latin typeface="Arial"/>
              </a:rPr>
              <a:t>Дисциплина выбора — это отбор технологии от требования, а не от инструмента: KISS, YAGNI и принцип наименьшей мощности. На них стоят лестница и чек-лист раздела.</a:t>
            </a:r>
          </a:p>
        </p:txBody>
      </p:sp>
      <p:sp>
        <p:nvSpPr>
          <p:cNvPr id="4" name="Rounded Rectangle 3"/>
          <p:cNvSpPr/>
          <p:nvPr/>
        </p:nvSpPr>
        <p:spPr>
          <a:xfrm>
            <a:off x="502920"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40664" y="2048256"/>
            <a:ext cx="457200" cy="457200"/>
          </a:xfrm>
          <a:prstGeom prst="rect">
            <a:avLst/>
          </a:prstGeom>
        </p:spPr>
      </p:pic>
      <p:sp>
        <p:nvSpPr>
          <p:cNvPr id="6" name="TextBox 5"/>
          <p:cNvSpPr txBox="1"/>
          <p:nvPr/>
        </p:nvSpPr>
        <p:spPr>
          <a:xfrm>
            <a:off x="758952"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47615" y="2048256"/>
            <a:ext cx="457200" cy="457200"/>
          </a:xfrm>
          <a:prstGeom prst="rect">
            <a:avLst/>
          </a:prstGeom>
        </p:spPr>
      </p:pic>
      <p:sp>
        <p:nvSpPr>
          <p:cNvPr id="10" name="TextBox 9"/>
          <p:cNvSpPr txBox="1"/>
          <p:nvPr/>
        </p:nvSpPr>
        <p:spPr>
          <a:xfrm>
            <a:off x="4565904"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KISS (Keep It Simple, Stupid — «делай проще»): простейшее решение под требование. YAGNI (You Aren't Gonna Need It — «не понадобится»): не закладывай мощность «на будущее».</a:t>
            </a:r>
          </a:p>
        </p:txBody>
      </p:sp>
      <p:sp>
        <p:nvSpPr>
          <p:cNvPr id="12" name="Rounded Rectangle 11"/>
          <p:cNvSpPr/>
          <p:nvPr/>
        </p:nvSpPr>
        <p:spPr>
          <a:xfrm>
            <a:off x="8116824" y="1865376"/>
            <a:ext cx="3587496" cy="2414016"/>
          </a:xfrm>
          <a:prstGeom prst="roundRect">
            <a:avLst>
              <a:gd name="adj" fmla="val 126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54568" y="2048256"/>
            <a:ext cx="457200" cy="457200"/>
          </a:xfrm>
          <a:prstGeom prst="rect">
            <a:avLst/>
          </a:prstGeom>
        </p:spPr>
      </p:pic>
      <p:sp>
        <p:nvSpPr>
          <p:cNvPr id="14" name="TextBox 13"/>
          <p:cNvSpPr txBox="1"/>
          <p:nvPr/>
        </p:nvSpPr>
        <p:spPr>
          <a:xfrm>
            <a:off x="8372856" y="2615184"/>
            <a:ext cx="3075432" cy="603504"/>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55264"/>
            <a:ext cx="3075432" cy="932688"/>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63 / 67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нижней достаточной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64 / 67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68833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33472"/>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127248"/>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072384"/>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56616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511296"/>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00507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3950208"/>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443983"/>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389120"/>
            <a:ext cx="3300984" cy="402336"/>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837176"/>
            <a:ext cx="3557016" cy="512064"/>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47488" y="1883664"/>
            <a:ext cx="384048" cy="384048"/>
          </a:xfrm>
          <a:prstGeom prst="rect">
            <a:avLst/>
          </a:prstGeom>
        </p:spPr>
      </p:pic>
      <p:sp>
        <p:nvSpPr>
          <p:cNvPr id="20" name="TextBox 19"/>
          <p:cNvSpPr txBox="1"/>
          <p:nvPr/>
        </p:nvSpPr>
        <p:spPr>
          <a:xfrm>
            <a:off x="5541264" y="184708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Память-бэкенд — когда:</a:t>
            </a:r>
          </a:p>
        </p:txBody>
      </p:sp>
      <p:sp>
        <p:nvSpPr>
          <p:cNvPr id="21" name="TextBox 20"/>
          <p:cNvSpPr txBox="1"/>
          <p:nvPr/>
        </p:nvSpPr>
        <p:spPr>
          <a:xfrm>
            <a:off x="5541264" y="215798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история переросла контекст ИЛИ нужен поиск по фактам. Тот же критерий, что промпт→RAG.</a:t>
            </a:r>
          </a:p>
        </p:txBody>
      </p:sp>
      <p:sp>
        <p:nvSpPr>
          <p:cNvPr id="22" name="Rounded Rectangle 21"/>
          <p:cNvSpPr/>
          <p:nvPr/>
        </p:nvSpPr>
        <p:spPr>
          <a:xfrm>
            <a:off x="4846320" y="298094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47488" y="3163824"/>
            <a:ext cx="384048" cy="384048"/>
          </a:xfrm>
          <a:prstGeom prst="rect">
            <a:avLst/>
          </a:prstGeom>
        </p:spPr>
      </p:pic>
      <p:sp>
        <p:nvSpPr>
          <p:cNvPr id="24" name="TextBox 23"/>
          <p:cNvSpPr txBox="1"/>
          <p:nvPr/>
        </p:nvSpPr>
        <p:spPr>
          <a:xfrm>
            <a:off x="5541264" y="312724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Субагенты — когда:</a:t>
            </a:r>
          </a:p>
        </p:txBody>
      </p:sp>
      <p:sp>
        <p:nvSpPr>
          <p:cNvPr id="25" name="TextBox 24"/>
          <p:cNvSpPr txBox="1"/>
          <p:nvPr/>
        </p:nvSpPr>
        <p:spPr>
          <a:xfrm>
            <a:off x="5541264" y="343814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подзадача требует отдельного окна ИЛИ изоляции недоверенной работы (наименьшие привилегии).</a:t>
            </a:r>
          </a:p>
        </p:txBody>
      </p:sp>
      <p:sp>
        <p:nvSpPr>
          <p:cNvPr id="26" name="Rounded Rectangle 25"/>
          <p:cNvSpPr/>
          <p:nvPr/>
        </p:nvSpPr>
        <p:spPr>
          <a:xfrm>
            <a:off x="4846320" y="4261104"/>
            <a:ext cx="393192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47488" y="4443984"/>
            <a:ext cx="384048" cy="384048"/>
          </a:xfrm>
          <a:prstGeom prst="rect">
            <a:avLst/>
          </a:prstGeom>
        </p:spPr>
      </p:pic>
      <p:sp>
        <p:nvSpPr>
          <p:cNvPr id="28" name="TextBox 27"/>
          <p:cNvSpPr txBox="1"/>
          <p:nvPr/>
        </p:nvSpPr>
        <p:spPr>
          <a:xfrm>
            <a:off x="5541264" y="4407408"/>
            <a:ext cx="3072384" cy="329184"/>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Больше MCP-доступа — когда:</a:t>
            </a:r>
          </a:p>
        </p:txBody>
      </p:sp>
      <p:sp>
        <p:nvSpPr>
          <p:cNvPr id="29" name="TextBox 28"/>
          <p:cNvSpPr txBox="1"/>
          <p:nvPr/>
        </p:nvSpPr>
        <p:spPr>
          <a:xfrm>
            <a:off x="5541264" y="4718304"/>
            <a:ext cx="3072384" cy="62179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конкретная задача требует конкретного инструмента — не «на всякий случай». Каждое подключение — граница доверия.</a:t>
            </a:r>
          </a:p>
        </p:txBody>
      </p:sp>
      <p:sp>
        <p:nvSpPr>
          <p:cNvPr id="30" name="Rounded Rectangle 29"/>
          <p:cNvSpPr/>
          <p:nvPr/>
        </p:nvSpPr>
        <p:spPr>
          <a:xfrm>
            <a:off x="8915400" y="2148840"/>
            <a:ext cx="2788920" cy="283464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27b-bus-ru.png"/>
          <p:cNvPicPr>
            <a:picLocks noChangeAspect="1"/>
          </p:cNvPicPr>
          <p:nvPr/>
        </p:nvPicPr>
        <p:blipFill>
          <a:blip r:embed="rId6"/>
          <a:stretch>
            <a:fillRect/>
          </a:stretch>
        </p:blipFill>
        <p:spPr>
          <a:xfrm>
            <a:off x="9025128" y="2428110"/>
            <a:ext cx="2569463" cy="2276099"/>
          </a:xfrm>
          <a:prstGeom prst="rect">
            <a:avLst/>
          </a:prstGeom>
        </p:spPr>
      </p:pic>
      <p:sp>
        <p:nvSpPr>
          <p:cNvPr id="32" name="Rounded Rectangle 31"/>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65 / 67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66 / 67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77240" y="1417320"/>
            <a:ext cx="2971800" cy="402336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31-skeleton-ru.png"/>
          <p:cNvPicPr>
            <a:picLocks noChangeAspect="1"/>
          </p:cNvPicPr>
          <p:nvPr/>
        </p:nvPicPr>
        <p:blipFill>
          <a:blip r:embed="rId2"/>
          <a:stretch>
            <a:fillRect/>
          </a:stretch>
        </p:blipFill>
        <p:spPr>
          <a:xfrm>
            <a:off x="905256" y="1592666"/>
            <a:ext cx="2715768" cy="3672666"/>
          </a:xfrm>
          <a:prstGeom prst="rect">
            <a:avLst/>
          </a:prstGeom>
        </p:spPr>
      </p:pic>
      <p:sp>
        <p:nvSpPr>
          <p:cNvPr id="4" name="TextBox 3"/>
          <p:cNvSpPr txBox="1"/>
          <p:nvPr/>
        </p:nvSpPr>
        <p:spPr>
          <a:xfrm>
            <a:off x="3977639" y="1874519"/>
            <a:ext cx="7726679"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5" name="TextBox 4"/>
          <p:cNvSpPr txBox="1"/>
          <p:nvPr/>
        </p:nvSpPr>
        <p:spPr>
          <a:xfrm>
            <a:off x="3977639" y="4160520"/>
            <a:ext cx="7726679"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6" name="TextBox 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67 / 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