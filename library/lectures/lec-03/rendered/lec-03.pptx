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основную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конца: выбор архитектуры — это инженерное решение под конкретную задачу, а не следование моде. Часто правильный ответ —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центральный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базовая архитектура. Вокруг него — четыре обвязки, которые мы разберём. Первая — RAG: это и есть тот же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мощный инструмент существует», а «достаточно ли простого, и если нет — то под какое именно требование задачи мы поднимаемся на ступень выше».</a:t>
            </a:r>
          </a:p>
          <a:p/>
          <a:p>
            <a:r>
              <a:t>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задержки и числа способов всё сломать. В этом разделе мы разберём четыре вещи: почему выбор по умолчанию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задержка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Роль-персона — «ты — юрист» — это текст в сообщении, влияет на тон. Протокольные роли system/user/assistant — это разметка структуры диалога, не текст, а разметка «кто говорит». Первая отвечает на вопрос «в каком тоне», вторая — «чья реплика».</a:t>
            </a:r>
          </a:p>
          <a:p/>
          <a:p>
            <a:r>
              <a:t>Протокольные роли нужны, чтобы модель отличала инструкцию разработчика от пользовательского ввода и собственных ответов. Модель обучена относиться к системной роли как более авторитетной — но это статистическая привычка, не архитектурная гарантия. Исследование показало: GPT-4o подчиняется приоритету системной инструкции только в 63,8% случаев. Специальная тренировка подняла до 94,1% — но не 100%. Приоритет — склонность, не граница безопасности.</a:t>
            </a:r>
          </a:p>
          <a:p/>
          <a:p>
            <a:r>
              <a:t>Физически модель получает поток токенов с разметкой ролей. Список сообщений собирается chat-шаблоном, который оборачивает каждое сообщение специальными токенами. Отсюда уязвимость: если во внешний контент — веб-страницу, файл, письмо — попадёт текст, похожий на разметку роли, модель может интерпретировать его как собственную реплику. Это атака Special Token Injection: строка-подделка, имитирующая начало реплики ассистента, вставляется во внешний контент. Исследование на агентных сценариях показало рост успешности атаки в разы и что просьба к модели «не поддаваться» почти не защищает. Реальная защита — экранирование спецтокенов во входящем контенте и проверка chat-шаблона для локальных моделей.</a:t>
            </a:r>
          </a:p>
          <a:p/>
          <a:p>
            <a:r>
              <a:t>Special Token Injection — это частный случай инъекции в промпт. Полный разбор инъекции как класса атак агента будет в разделе про агентов (безопасность агента) — там же меры защиты на уровне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точнее,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Формат промпта — это не косметика и не поиск единственно правильного шаблона. Точная картина такая: эффект формата реален, но зависит от трёх вещей — поколения и размера модели, класса задачи и того, структурируем ли мы вход или принуждаем структуру выхода. И это две разные проблемы, которые постоянно путают.</a:t>
            </a:r>
          </a:p>
          <a:p/>
          <a:p>
            <a:r>
              <a:t>Формат входа — то, как мы раскладываем сам промпт. Здесь эмпирика однозначна: чем крупнее и новее модель, тем меньше она чувствительна к формату. У старых моделей разброс качества между шаблонами доходил до сорока процентов, а frontier-модели 2026 года держатся почти на нуле. Практический вывод: с малой или открытой моделью формат входа стоит подбирать и мерить; с frontier-моделью выигрыш от «идеального» формата мал. Вендорские привычки — Claude любит XML-теги, GPT и Gemini тяготеют к Markdown — это артефакт обучения, а не закон.</a:t>
            </a:r>
          </a:p>
          <a:p/>
          <a:p>
            <a:r>
              <a:t>Формат выхода — вторая, более острая проблема. Принуждение отвечать строго в JSON по схеме на рассуждающих задачах роняет качество: на GSM8K модель падает с 76,6% до 49,3%. Причина — «reasoning tax»: жёсткая схема заставляет поставить поле ответа раньше рассуждения и ломает цепочку мысли. Лечится двухходовкой: сначала дать свободно рассуждать, потом отдельным шагом переформатировать. Обратная сторона: на извлечении и классификации та же строгая схема, наоборот, помогает — парсинг однозначен, а constrained decoding даёт почти стопроцентное соответствие. JSON — интерфейс между моделью и кодом, а не формат для размышления.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помогает»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точнее».</a:t>
            </a:r>
          </a:p>
          <a:p/>
          <a:p>
            <a:r>
              <a:t>Теперь предел этого приёма, и он важнее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если модель рассуждает вслух, можно аудировать решение по его объяснению. Это предположение фундаментально неверно. Faithfulness — степень, в которой проговорённая цепочка рассуждений действительно отражает реальные факторы, повлиявшие на ответ. Низкая faithfulness означает: объяснение и фактическая причина — разные вещи; текст правдоподобен, но не отражает процесс.</a:t>
            </a:r>
          </a:p>
          <a:p/>
          <a:p>
            <a:r>
              <a:t>Anthropic измерила это в апреле 2025 года методом, который делает вывод неопровержимым. Модели давали задачу дважды: без подсказки и с подсказкой (например, «профессор считает, что ответ C»), которая меняла ответ. Затем смотрели: когда подсказка изменила ответ, упоминает ли модель это в рассуждении? Результат: Claude 3.7 упоминал подсказку примерно в одном из четырёх случаев — 25%, DeepSeek R1 — почти в двух из пяти — 39%. В остальных случаях модель меняла ответ, но строила совсем другую аргументацию, не упоминая реальную причину. Хуже: faithfulness падает на трудных задачах, там, где ошибка дороже всего и аудит нужнее.</a:t>
            </a:r>
          </a:p>
          <a:p/>
          <a:p>
            <a:r>
              <a:t>Это структурное, не просто сбой. Цепочка рассуждений — сгенерированный текст, как любой выход модели. Она производится, чтобы быть правдоподобной, не чтобы быть верным протоколом вычисления. Любая архитектура, использующая самообъяснение как контроль, наследует этот дефект: контроль на основе самооценки — не контроль. Вывод: человек-валидатор проверяет сам результат против независимого источника — базы, документа, расчёта, — а не правдоподобность объяснения.</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Ключевой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по умолчанию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существенное: буква R в RAG — retrieval, поиск — это дисциплина с полувековой историей, и именно её устройство определяет, где RAG работает, а где ломается. Разберём классический информационный поиск с нуля, как искали в тексте до эмбеддингов, потому что без этой базы семантический поиск выглядит магией, а он не магия, а следующий слой поверх понятного фундамента.</a:t>
            </a:r>
          </a:p>
          <a:p/>
          <a:p>
            <a:r>
              <a:t>Бытовой предок машинного поиска — библиотечный каталог: карточки, упорядоченные по автору, названию и рубрике, плюс отсылки «см. также». Ровно эту идею машина воспроизводит через инвертированный индекс — структуру, которая для каждого слова хранит список документов, где оно встречается. Вместо сканирования всех текстов система заглядывает в индекс по словам запроса и мгновенно получает кандидатов. Это фундамент любой полнотекстовой системы и до сих пор рабочая лошадь промышленной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TF-IDF взвешивает слово тем сильнее, чем чаще оно в этом документе и реже во всей коллекции. Промышленный стандарт до сегодня — BM25 из семейства Okapi: развитие TF-IDF с насыщением по частоте и нормировкой на длину. BM25 — не устаревший артефакт, а сильная дешёвая базовая линия.</a:t>
            </a:r>
          </a:p>
          <a:p/>
          <a:p>
            <a:r>
              <a:t>Ключевое свойство этой классики — она работает на лексическом совпадении: находит документы с теми же словами, что в запросе. Отсюда сила на кодах и идентификаторах и граница на синонимах. Семантический поиск на эмбеддингах добавляет недостающий слой смысла, но классика не исчезает: сильные RAG-системы 2026 года — гибрид BM25 и векторов, а не dense-only. RAG — расширение классического поиска, и его провалы во многом там, где о классическом фундаменте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«хоть что-то».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§2.4 выводом «лучший RAG 2026 года — возврат классики поверх семантического слоя». Здесь этот вывод разворачивается в конкретную конструкцию — гибридный поиск, который стал дефолтом продакшена. Начнём с вопроса «зачем комбинировать», потому что комбинация не бесплатна. Классический BM25 находит документы по точному совпадению слов: коды, идентификаторы, имена, номера ошибок. Но он бессилен перед синонимом: «сломанный вход» не совпадёт с «authentication failure». Плотный векторный поиск наоборот ловит смысл, но размывается на редких точных токенах и дрейфует, когда две команды называют одно понятие по-разному. Гибрид берёт оба источника recall'а сразу.</a:t>
            </a:r>
          </a:p>
          <a:p/>
          <a:p>
            <a:r>
              <a:t>Как слить два списка? Проблема в том, что оценки BM25 и косинусная близость живут на несовместимых шкалах, нормировать сырые оценки хрупко. Reciprocal Rank Fusion обходит это, сливая по рангам: вклад документа считается как сумма единиц, делённых на «k плюс ранг», который дал ему каждый ретривер. Параметр k по умолчанию около шестидесяти; это конвенция, а не закон, её стоит подбирать.</a:t>
            </a:r>
          </a:p>
          <a:p/>
          <a:p>
            <a:r>
              <a:t>Реранкер — вторая ступень. Первичный retrieval кодирует запрос и документ раздельно: быстро, но грубо. Cross-encoder прогоняет пару вместе через трансформер: точнее, но дорого, поэтому его применяют только к переупорядочиванию верхних пятидесяти-ста кандидатов.</a:t>
            </a:r>
          </a:p>
          <a:p/>
          <a:p>
            <a:r>
              <a:t>Приросты читаем с базой и скептически. На WANDS гибрид даёт NDCG 0,7497 против 0,6983 у BM25 и 0,6953 у чистого вектора — это около семи процентов над уже настроенной базой, скромно. Крупные приросты — там, где лексика или смысл ломается по отдельности: у Anthropic доля промахов упала с 5,7 до 1,9 процента. Выигрыш зависит от корпуса: сначала измерьте разрыв на своих запросах, потом усложняйте.</a:t>
            </a:r>
          </a:p>
          <a:p/>
          <a:p>
            <a:r>
              <a:t>Источники:</a:t>
            </a:r>
          </a:p>
          <a:p>
            <a:r>
              <a:t>[1] denser.ai — Hybrid Search for RAG (WANDS / финтаблицы дельты) — WANDS NDCG 0,7497 гибрид vs 0,6983 BM25 / 0,6953 вектор; финтекст Recall@5 0,816 vs 0,587. https://denser.ai/blog/hybrid-search-for-rag/ [VFY-day-of]</a:t>
            </a:r>
          </a:p>
          <a:p>
            <a:r>
              <a:t>[2] Anthropic — Contextual Retrieval (каскад промахов 5,7→1,9%) — контекст+BM25 → 2,9%; +реранкинг → 1,9% от базы 5,7%.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гибрид оправдан и корпус вырос, встаёт вопрос «в чём хранить и искать векторы». Здесь легко переусложнить: под-каталог движков большой, а правильный выбор для большинства систем — скучный. Пройдём шпаргалку 2026 года, помня, что масштабные потолки движутся и их стоит сверять в день лекции.</a:t>
            </a:r>
          </a:p>
          <a:p/>
          <a:p>
            <a:r>
              <a:t>pgvector — это расширение Postgres. Берут, когда данные уже в Postgres и нужна одна система с транзакционной согласованностью. Комфортно держит порядка пятидесяти миллионов векторов, за пятьдесят-сто миллионов деградирует без специальных надстроек. Qdrant — выделенный движок с минимумом операционной нагрузки, нативными разреженными и multi-vector примитивами. Weaviate несёт встроенный гибрид: вектор, BM25 и фильтры по метаданным из коробки. Milvus рассчитан на сотни миллионов и миллиарды векторов с разделёнными вычислениями и хранилищем, но требует реальных вложений в эксплуатацию. FAISS — это библиотека, а не база: сырая скорость и полный контроль, но persistence, CRUD и фильтры вы пишете сами. Chroma и LanceDB закрывают прототип, ноутбуки и локальный edge-сценарий.</a:t>
            </a:r>
          </a:p>
          <a:p/>
          <a:p>
            <a:r>
              <a:t>Обвязки — отдельная тема. Консенсус 2026 года: LlamaIndex и LangChain не конкуренты, а взаимодополняющие слои. LlamaIndex силён, когда трудная часть — retrieval по грязным приватным документам: ingestion, индексация, разумные дефолты. LangGraph даёт оркестрацию: durable execution, checkpointing, human-in-the-loop с паузой на часы и дни.</a:t>
            </a:r>
          </a:p>
          <a:p/>
          <a:p>
            <a:r>
              <a:t>И скептическая оговорка, замыкающая на правило лестницы: для простого RAG-эндпоинта, где всё сводится к «retrieve, потом generate», не нужен ни один фреймворк. Несколько сотен строк своей склейки избавляют от version churn и утечек абстракций. Обвязку добавляют под агентную, многошаговую сложность, а не по умолчанию.</a:t>
            </a:r>
          </a:p>
          <a:p/>
          <a:p>
            <a:r>
              <a:t>Источники:</a:t>
            </a:r>
          </a:p>
          <a:p>
            <a:r>
              <a:t>[1] firecrawl — Best Vector Databases 2026 (потолки движков) — pgvector ~50M; Milvus 100M+/миллиарды; Qdrant/Weaviate/FAISS/Chroma/LanceDB. https://www.firecrawl.dev/blog/best-vector-databases [VFY-day-of]</a:t>
            </a:r>
          </a:p>
          <a:p>
            <a:r>
              <a:t>[2] TigerData — pgvector vs Qdrant (вендор-бенчмарк, читать скептически) — 471 QPS@99% recall на 50M — вендор-число; мерить на своих данных. https://www.tigerdata.com/blog/pgvector-vs-qdrant [VFY-day-of]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ставить выделенную векторную БД, задайте вопрос, который в 2026 году отсеивает большую долю RAG-систем: а не хватит ли того, что у меня уже есть? Очень многие организации уже эксплуатируют Elasticsearch или OpenSearch для логов и поиска — и оба нативно умеют RRF-гибрид и взвешенную линейную комбинацию keyword и vector. Elasticsearch несёт тип поля dense_vector и kNN, а ELSER — разреженную нейронную модель, которая работает в кластере без внешнего GPU-инференса и заявлена превосходящей recall BM25 на десять-двадцать процентов на доменном контенте. OpenSearch даёт k-NN через FAISS и Lucene и допускает более высокую размерность вектора. Лицензионная линия между ними — стоит знать, но не переоценивать при выборе.</a:t>
            </a:r>
          </a:p>
          <a:p/>
          <a:p>
            <a:r>
              <a:t>Граница решения — конкретно, три яруса. Первый: классического BM25 достаточно, когда запросы и документы делят словарь — внутренние инструменты, поиск по логам, коду, идентификаторам, курированные базы знаний. Никаких эмбеддингов и векторного хранилища, а переиндексация дёшева и наблюдаема — это реальное операционное преимущество. Второй: встроенного гибрида Elastic или OpenSearch достаточно, когда вы уже эксплуатируете один из них и ваш масштаб — миллионы или десятки миллионов векторов; ELSER даёт семантический прирост без поднятия GPU-сервиса эмбеддингов и второго хранилища. Это случай «у вас уже есть молоток». Третий: выделенная векторная БД реально нужна при ста миллионах и больше векторов, при потребности в multi-vector или late-interaction примитивах, при жёстком latency-SLA на горячем пути продукта или при желании развязать векторное хранилище от эксплуатации кластера логов.</a:t>
            </a:r>
          </a:p>
          <a:p/>
          <a:p>
            <a:r>
              <a:t>Anti-hype-вывод: огромная доля RAG-систем никогда не превышает несколько миллионов чанков. На этом масштабе pgvector или встроенный гибрид — скучный правильный ответ, а выделенная векторная БД часто преждевременная оптимизация.</a:t>
            </a:r>
          </a:p>
          <a:p/>
          <a:p>
            <a:r>
              <a:t>Источники:</a:t>
            </a:r>
          </a:p>
          <a:p>
            <a:r>
              <a:t>[1] Pureinsights — From Vector Hype to Hybrid Reality (нужна ли вектор-БД) — большинство систем ≤ несколько млн чанков → pgvector / встроенный гибрид — правильный ответ. https://pureinsights.com/blog/2026/from-vector-hype-to-hybrid-reality-is-elasticsearch-still-the-right-bet/</a:t>
            </a:r>
          </a:p>
          <a:p>
            <a:r>
              <a:t>[2] bigdataboutique — Elastic/OpenSearch vector search (RRF-гибрид нативно) — ELSER (без GPU), BBQ ~16× память; OpenSearch k-NN через FAISS/Lucene. https://bigdataboutique.com/blog/opensearch-and-elasticsearch-vector-search-an-introduction-6af584 [VFY-day-of]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трёх шагов RAG чанкирование недооценивают чаще прочего, а рычаг у него высокий: как вы режете документ на фрагменты, определяет, что вообще может быть извлечено. Мы уже называли плохой chunking одним из трёх технических корней провалов RAG; разберём стратегии по порядку, от простой к сложной.</a:t>
            </a:r>
          </a:p>
          <a:p/>
          <a:p>
            <a:r>
              <a:t>Fixed-size режет каждые N токенов или символов. Это грубо, но быстро, воспроизводимо и на удивление сильная базовая линия. Recursive, или character-стратегия, режет по иерархии разделителей — абзац, потом предложение, потом слово, уважая структуру и ограничивая размер; это прагматичный дефолт. Sentence-window эмбеддит одно предложение для точности, но возвращает модели окно соседних предложений для контекста. Semantic ставит границу там, где эмбеддинг-близость соседних предложений резко падает, то есть по смене темы; звучит интуитивно, но часто не окупается — об этом следующий слайд. Parent-document, он же small-to-big, индексирует маленькие чанки для точности retrieval, а возвращает больший родительский блок для генерации — широко рекомендуемое лечение потерянного контекста. Late chunking сначала эмбеддит весь документ на уровне токенов, а потом пулит в чанк-эмбеддинги, чтобы каждый был контекст-осведомлён, сохраняя местоимения и ссылки.</a:t>
            </a:r>
          </a:p>
          <a:p/>
          <a:p>
            <a:r>
              <a:t>Отдельно стоит Contextual Retrieval: LLM дописывает пятьдесят-сто токенов документ-уровневого контекста к каждому чанку до эмбеддинга и до BM25-индексации. Именно этот приём дал каскад промахов с 5,7 до 1,9 процента, который мы видели на принципе RAG.</a:t>
            </a:r>
          </a:p>
          <a:p/>
          <a:p>
            <a:r>
              <a:t>Держите в голове главное: ни у размера чанка, ни у стратегии нет правильного значения по умолчанию. Их подбирают под корпус, и подбор без метрики — вслепую. О метриках — на слайде про системный дизайн.</a:t>
            </a:r>
          </a:p>
          <a:p/>
          <a:p>
            <a:r>
              <a:t>Источники:</a:t>
            </a:r>
          </a:p>
          <a:p>
            <a:r>
              <a:t>[1] firecrawl — Best Chunking Strategies for RAG — fixed / recursive / sentence-window / semantic / parent-document / late / contextual. https://www.firecrawl.dev/blog/best-chunking-strategies-rag</a:t>
            </a:r>
          </a:p>
          <a:p>
            <a:r>
              <a:t>[2] Anthropic — Contextual Retrieval (50–100 токенов контекста к чанку) — дописывание документ-уровневого контекста до эмбеддинга и BM25.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 самое поучительное для суждения: исследования эффекта чанкирования открыто расходятся, и это само по себе урок. Возьмём три замера, каждый с базой. В февральском бенчмарке 2026 года сравнили семь стратегий на пятидесяти научных статьях: recursive с разбиением по 512 токенов оказался первым при 69 процентах точности, а semantic chunking дал только 54 — и породил крошечные фрагменты примерно по сорок три токена. В клиническом исследовании MDPI за ноябрь 2025 adaptive и topic-boundary chunking дали 87 процентов против 13 у fixed-size — огромный разрыв, но это узкий клинический домен. А NAACL 2025 Findings прямо пишет, что вычислительные издержки semantic chunking не оправданы стабильным приростом: fixed-чанки по двести слов оказались на уровне semantic или лучше.</a:t>
            </a:r>
          </a:p>
          <a:p/>
          <a:p>
            <a:r>
              <a:t>Читать это надо так: заявления «умный chunking побеждает» доменно-специфичны и не консистентны. На многих корпусах простой recursive fixed-size — сильная базовая линия, а semantic chunking проигрывает и по качеству, и по стоимости. Инженерный вывод дословно: не карго-культите semantic chunking. Recursive fixed-size дёшев и силён как отправная точка; усложняйте стратегию только под измеренный на своём корпусе разрыв.</a:t>
            </a:r>
          </a:p>
          <a:p/>
          <a:p>
            <a:r>
              <a:t>И named-провал этого подраздела, on-point для линии провалов: таблицы. Это единственная частая причина тихих провалов retrieval. Расплющивание таблицы в текст уничтожает связи строк и столбцов — модель не может их восстановить, и это не падает с ошибкой, а тихо портит ответ. Лечение — обрабатывать таблицы как структурированные объекты, а не расплющивать в строку. Мета-урок сильнейших команд: те, кто прошёл путь от нескольких месяцев на RAG-кейс до надёжного деплоя, перестали крутить размер чанка и начали управлять слоем знаний — качеством документов, обработкой таблиц, свежестью и метаданными.</a:t>
            </a:r>
          </a:p>
          <a:p/>
          <a:p>
            <a:r>
              <a:t>Источники:</a:t>
            </a:r>
          </a:p>
          <a:p>
            <a:r>
              <a:t>[1] firecrawl — chunking benchmark (recursive-512 69% vs semantic 54%) — 7 стратегий на 50 статьях; semantic дал ~43-токенные фрагменты. https://www.firecrawl.dev/blog/best-chunking-strategies-rag [VFY-day-of]</a:t>
            </a:r>
          </a:p>
          <a:p>
            <a:r>
              <a:t>[2] Anthropic — Contextual Retrieval (таблицы — тихий провал retrieval) — расплющивание таблицы рушит связи строк/столбцов без ошибки — лечить структурой.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RAG обсуждался как логика. Здесь — про то, что ломается, когда логика становится продакшн-системой на миллионах документов и тысячах запросов. Прототип отлично работает на тысяче документов и нескольких пользователях, а ломается на миллионах векторов и тысячах конкурентных запросов. Что добавляется при переходе.</a:t>
            </a:r>
          </a:p>
          <a:p/>
          <a:p>
            <a:r>
              <a:t>Первое: конвейер индексации — ingest, chunk, embed, index — в проде становится двойным: офлайн-батч для массовой индексации и инкрементальный для обновлений. И первое узкое место — обычно ingestion, а не поиск. На миллионах документов chunk и embed не помещаются на одну машину. Интуиция про медленный поиск здесь обманывает: медленна и дорога подготовка индекса, а не запрос по нему.</a:t>
            </a:r>
          </a:p>
          <a:p/>
          <a:p>
            <a:r>
              <a:t>Свежесть — реальная стоимость, не сноска. Батч-переиндексация проста, но даёт устаревание; CDC-синхронизация близка к реальному времени, но утраивает операционную сложность. Один кейс: переход с батча на CDC улучшил SLA свежести с двадцати четырёх часов до субминуты — ценой ops-затрат. И если джоб переиндексации тихо отстаёт, retrieval деградирует невидимо, без ошибки. Отдельный migration-event: смена embedding-модели требует пере-эмбеддить все векторы — старые и новые несравнимы; это миграция всего индекса, а не строка в конфиге.</a:t>
            </a:r>
          </a:p>
          <a:p/>
          <a:p>
            <a:r>
              <a:t>Eval нужен, иначе система деградирует невидимо. Две группы. Со стороны retrieval, где нужны метки: recall@k с ориентиром около 0,8, nDCG около 0,8, precision@k, MRR. End-to-end через LLM-судью без меток — RAGAS: faithfulness, context precision, context recall. Практика — считать обе группы и сверять их, а метрики судьи выборочно проверять человеческими метками.</a:t>
            </a:r>
          </a:p>
          <a:p/>
          <a:p>
            <a:r>
              <a:t>И несущий каунтерфактуал: для базы знаний под двести тысяч токенов всё кладётся в промпт с кэшированием — до девяноста процентов сокращения стоимости — и retrieval пропускается вовсе. Первый вопрос перед всей инфраструктурой — а нужен ли RAG вообще.</a:t>
            </a:r>
          </a:p>
          <a:p/>
          <a:p>
            <a:r>
              <a:t>Источники:</a:t>
            </a:r>
          </a:p>
          <a:p>
            <a:r>
              <a:t>[1] Redis — RAG at Scale (ingestion-горло, CDC 24ч→субминута, кэш ~69%) — POC→прод — двойной конвейер; свежесть батч vs CDC; семантический кэш ~69%. https://redis.io/blog/rag-at-scale/ [VFY-day-of]</a:t>
            </a:r>
          </a:p>
          <a:p>
            <a:r>
              <a:t>[2] futureagi — RAG Evaluation Metrics (recall@k ~0,8, nDCG, RAGAS) — две группы метрик: label-based + LLM-судья; сверять их с человеком. https://futureagi.com/blog/rag-evaluation-metrics-2025/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третий раздел говорил, что делает дообучение и когда оно оправдано. Здесь — количественная ось: во сколько разные варианты обходятся по деньгам, данным, компьюту и скорости итерации. Без порядков величины слова «дообучение дорого» и «LoRA дёшево» остаются лозунгами, а решение «тренировать или нет» принимается именно на порядках.</a:t>
            </a:r>
          </a:p>
          <a:p/>
          <a:p>
            <a:r>
              <a:t>Сравниваем пять вариантов на базе класса 7B. Претрейн с нуля стоит здесь только как масштаб-ориентир: обучить фронтир-модель — это 30,8 миллиона H100-часов и 61–92 миллиона долларов за один прогон (Llama 3.1 405B, документировано Meta), и никто в зале этого не делает. Реальный выбор идёт между Full-FT, LoRA, QLoRA и «вообще не тренировать» — то есть промпт плюс RAG.</a:t>
            </a:r>
          </a:p>
          <a:p/>
          <a:p>
            <a:r>
              <a:t>Дефолт — LoRA и QLoRA. LoRA обучает меньше одного процента параметров: адаптер ранга четыре на одной матрице LLaMA2-7B — это 60 тысяч параметров против 45 миллионов у полного дообучения той же матрицы, примерно 0,13 процента. Полезный 7B-LoRA стоит меньше десяти долларов[1] — это дешевле фронтир-претрейна примерно на семь порядков. QLoRA добавляет 4-битную квантизацию замороженной базы: 65-миллиардную модель можно дообучать на одной 48-гигабайтной карте[2].</a:t>
            </a:r>
          </a:p>
          <a:p/>
          <a:p>
            <a:r>
              <a:t>Практический пол по данным — около тысячи примеров, а реальный прирост начинается от пяти тысяч. Full-FT оправдан только когда датасет превышает ёмкость LoRA — большие доменные корпуса. Для узкой поведенческой адаптации на десятках тысяч примеров полное дообучение не покупает ничего сверх LoRA, а добавляет стоимость и риск катастрофического забывания. Тезис, который зададут эти цифры: тренировка дёшева, а дорогой и нерешённой остаётся оценка того, сработала ли она.</a:t>
            </a:r>
          </a:p>
          <a:p/>
          <a:p>
            <a:r>
              <a:t>Источники:</a:t>
            </a:r>
          </a:p>
          <a:p>
            <a:r>
              <a:t>[1] Thinking Machines — LoRA Without Regret (LoRA ≈ Full-FT при условиях) — LoRA сравнивается с Full-FT на всех слоях и вне ёмкости; ~0,13% параметров, &lt;$10. https://thinkingmachines.ai/blog/lora/ [VFY-day-of]</a:t>
            </a:r>
          </a:p>
          <a:p>
            <a:r>
              <a:t>[2] Dettmers et al. 2023 — QLoRA (65B на одной 48-ГБ карте) — 4-битная NF4-квантизация замороженной базы → дообучение 65B на одном GPU. https://arxiv.org/abs/2305.14314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решающая.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ключевой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выбор по умолчанию.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задержку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Вывод 2026 года снимает ложную дихотомию: чистый выбор «одно из» — редкость, норма — гибрид[1].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 вернее», это «знание и поведение разнесены по правильным механизмам, каждый из которых добавлен под своё собственное требование», а не по инерции или моде.</a:t>
            </a:r>
          </a:p>
          <a:p/>
          <a:p>
            <a:r>
              <a:t>Источники:</a:t>
            </a:r>
          </a:p>
          <a:p>
            <a:r>
              <a:t>[1] BigData Boutique — Fine-Tuning When RAG Isn't Enough — fine-tuning сузился до поведения/стиля/формата/политики; знание → RAG. https://bigdataboutique.com/blog/fine-tuning-llms-when-rag-isnt-enough [VFY-day-of]</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различение, которое часто путают. Fine-tuning меняет само поведение модели — обучает её отвечать в нужном формате, тоне, следовать политике отказов. Дистилляция решает принципиально другую задачу — сжатие: перенос способностей большой модели в маленькую, более дешёвую в эксплуатации. Дистилляция — самостоятельная техника переноса знания и сжатия модели, предложенная Хинтоном с соавторами в 2015 году: компактная модель-ученик учится имитировать выходы или внутренние сигналы крупной модели-учителя через отдельную, специально устроенную функцию потерь, а не через обычное дообучение на «золотых» примерах правильных ответов.</a:t>
            </a:r>
          </a:p>
          <a:p/>
          <a:p>
            <a:r>
              <a:t>Таксономически дистилляц[1,2]ия не является разновидностью fine-tuning — обзоры методов параметр-эффективной настройки явно разносят эти две техники по разным категориям, потому что механизм обучения у них разный: fine-tuning подстраивает веса под целевые примеры, а дистилляция подстраивает student-модель под поведение конкретной teacher-модели. Это не просто терминологическая тонкость — от неё зависит, как вы планируете производственный процесс: считать дистилляцию «ещё одним видом fine-tuning» — значит неправильно понимать, что именно она может и не может сделать.</a:t>
            </a:r>
          </a:p>
          <a:p/>
          <a:p>
            <a:r>
              <a:t>На практике эти две техники, тем не менее, часто применяются в связке, и именно эта связка — содержательный рабочий сценарий, а не два конкурирующих варианта. Сначала крупную модель-учителя дообучают под нужное конкретное поведение — нужный формат вывода, нужный тон, нужную политику. Затем из этой уже дообученной модели дистиллируют компактную модель-ученика, которая наследует то же поведение дёшево и быстро в инференсе. Держите в голове именно эту формулировку: «дообучить учителя, затем дистиллировать ученика» — две отдельные операции в тандеме, а не одна операция под двумя именами. Это разграничение понадобится нам на следующем слайде, где мы соберём полную таблицу критериев, что куда направлять при выборе архитектуры.</a:t>
            </a:r>
          </a:p>
          <a:p/>
          <a:p>
            <a:r>
              <a:t>Источники:</a:t>
            </a:r>
          </a:p>
          <a:p>
            <a:r>
              <a:t>[1] Hinton, Vinyals, Dean 2015 — Distilling the Knowledge — дистилляция — самостоятельная техника, таксономически НЕ вид fine-tuning. https://arxiv.org/abs/1503.02531</a:t>
            </a:r>
          </a:p>
          <a:p>
            <a:r>
              <a:t>[2] PEFT survey — таксономия методов настройки — обзоры разносят дистилляцию и fine-tuning по разным категориям. https://arxiv.org/abs/2403.14608</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слайд показал, что тренировка дёшева. Этот — про то, что оценка того, сработала ли тренировка, дороже и не решена, и это переворачивает интуицию. Полезный 7B-LoRA стоит меньше десяти долларов, а строгая оценка того же адаптера — это триста-тысяча двести долларов человеко-труда за один раунд, и она всё равно может не предсказать поведение в продакшне. Бюджетная строка — не тренировка, а eval.</a:t>
            </a:r>
          </a:p>
          <a:p/>
          <a:p>
            <a:r>
              <a:t>Разберём пять методов, каждый по схеме «когда работает и когда ломается». Публичные бенчмарки вроде MMLU и GSM8K дёшевы и хороши для проверки широких способностей, но вводят в заблуждение на узких дообучениях: около 29 процентов тестовых items MMLU показали признаки контаминации[1], а чистое зеркало GSM8K роняет точность до тринадцати пунктов[2]. Число без проверки на утечку — это театр. Held-out доменный тест-сет, построенный до тренировки, — самый ценный артефакт, но ломается при утечке в трейн, малом объёме или дрейфе от продакшна. LLM-как-судья масштабирует оценку дёшево, но несёт позиционное и self-enhancement смещения, а ранги судьи плывут до четырнадцати позиций между бенчмарками. Human eval — эталон для субъективного качества, но это те самые триста-тысяча двести долларов за раунд. Task-метрики BLEU и ROUGE дёшевы для закрытых форматов, но на открытой генерации коррелируют с людьми слабо, r от 0,25 до 0,52 — они награждают совпадение n-gram, не смысл.</a:t>
            </a:r>
          </a:p>
          <a:p/>
          <a:p>
            <a:r>
              <a:t>Сквозной вывод: ни один метод не самодостаточен. Дешёвые имеют худшую валидность, валидные — дорогие. Измеренный разрыв между лабораторным бенчмарком и продакшном для enterprise-систем — около 37 процентов, и это механика, а не аномалия: как только бенчмарк управляет решениями, экосистема оверфитит его формат. Инженерный вывод дословно: прирост на бенчмарке — это гипотеза, а не результат; подтверждают только чистый held-out и A/B на реальном трафике, и на этот разрыв надо закладывать бюджет.</a:t>
            </a:r>
          </a:p>
          <a:p/>
          <a:p>
            <a:r>
              <a:t>Источники:</a:t>
            </a:r>
          </a:p>
          <a:p>
            <a:r>
              <a:t>[1] Pebblous — LLM Benchmark Contamination (MMLU ~29%) — около 29% items MMLU с признаками загрязнения — бенчмарк-число без проверки на утечку это театр. https://blog.pebblous.ai/blog/llm-benchmark-contamination/en/ [VFY-day-of]</a:t>
            </a:r>
          </a:p>
          <a:p>
            <a:r>
              <a:t>[2] Zhang et al. 2024 — GSM1k (чистое зеркало GSM8K −13 п.п.) — чистое зеркало роняет точность до 13 пунктов — доверяй дельте на clean-зеркале. https://arxiv.org/abs/2405.00332 [VFY-day-of]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крупный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Лекции 2 модель была собеседником в окне чата. Здесь она становится вызываемым компонентом системы, и это ключевой сдвиг для всего раздела агентов. Механику API-слоя — структурированный вывод, вызов инструментов, кэш промптов — мы уже разбирали в Лекции 2, повторять её не нужно. Здесь важна одна специфичная для этой лекции точка: модель сама решает, что нужен инструмент, и формулирует вызов, а исполняет его ваш код, не модель. Модель не выходит наружу сама — она возвращает намерение, система выполняет действие и возвращает результат обратно в контекст. Именно отсюда вырастает цикл агента, который разберём на следующем слайде: модель работает в петле «рассуждение, вызов инструмента, чтение результата».</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Инструмент описал один раз как MCP-сервер — и его видят все модели-клиенты; подключение стало операцией на минуты[1]. Но здесь критический поворот: стандартизация подключения не означает безопасность подключаемого и даже усугубляет проблему доверия. Каждый MCP-сервер — это чужой код в вашем окружении и канал, через который в контекст попадает недоверенный текст, то есть носитель инъекции в промпт.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не так растёт, как интуитивно ожидает инженер. База: один chat-turn стоит центы. Переход к агенту — не надбавка, а кратный скачок: контекст накапливает выводы инструментов, модель рассуждает на каждом шаге, токенов в разы больше. Мульти-агент — ещё ×15 поверх одиночного. Ключевое: множители перемножаются, не складываются. Каждая ступень умножает бюджет, не добавляет.</a:t>
            </a:r>
          </a:p>
          <a:p/>
          <a:p>
            <a:r>
              <a:t>Поэтому prompt caching — переиспользование неизменного префикса вместо пересчёта на каждый запрос — меняет статус с опции на необходимость в агентном цикле. На изолированном вызове кэш приятен, но не критичен. Внутри цикла с десятками обращений к одному префиксу (инструкции, описания, контекст) отсутствие кэша означает оплату за каждый пересчёт. Кэш не убирает множитель, но убирает ненужный пересчёт.</a:t>
            </a:r>
          </a:p>
          <a:p/>
          <a:p>
            <a:r>
              <a:t>Вывод: экономику считай до решения подняться на ступень, не после счёта за API. «Агент дороже» — множительное правило, и мульти-агент умножает снова. Прежде чем добавить ступень, спросись: оправдывает ли ценность задачи этот множитель.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решает, как модель формулирует вызов. MCP решает, как инструмент физически подключается. До 2024 года каждый вендор решал по-своему, порождая комбинаторный взрыв. MCP — открытый стандарт: N моделей × M инструментов = N×M интеграций → N+M. Метафора: USB-C для инструментов. Anthropic открыла его в ноябре 2024, OpenAI и Google приняли в 2025 — де-факто отраслевой стандарт.</a:t>
            </a:r>
          </a:p>
          <a:p/>
          <a:p>
            <a:r>
              <a:t>Масштаб читай критически. Каталоги называют до 90 000 серверов, но реально запускаемых около 10 000 — 11%. Остальное дубли, сломанные, заглушки. Даже работающие не проверены на безопасность.</a:t>
            </a:r>
          </a:p>
          <a:p/>
          <a:p>
            <a:r>
              <a:t>Критический поворот: стандартизация подключения не означает безопасность подключаемого — усугубляет проблему. Каждый инструмент — код, запускаемый в твоём окружении, канал для недоверенного текста. За 60 дней: 30+ CVE на MCP-серверы, 43% — внедрение команд (command injection), 82% реализаций уязвимы к обходу пути (path traversal). «Подключить за минуту» и «доверять подключённому» — разные вопросы. MCP решил первый, сделал второй острее. Удобство не аргумент за подключение.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тянуться к динамическому агенту, полезно знать, что workflow — не примитив. Anthropic в «Building Effective Agents» показывает, что у него есть развитая палитра паттернов, и все они дают структуру вокруг предсказуемого, не уходя в динамический агент. Разберём пять.</a:t>
            </a:r>
          </a:p>
          <a:p/>
          <a:p>
            <a:r>
              <a:t>Prompt chaining — задача разбита на фиксированную последовательность вызовов, выход одного становится входом следующего, а между шагами можно вставить детерминированную проверку-gate и остановиться, если она не прошла. Применять, когда задача чисто декомпозируется на известные подшаги. Routing — первый вызов классифицирует вход и направляет его в один из заранее заданных маршрутов, каждый со своим промптом или моделью; применять, когда входы разнородны, но классы известны. Parallelization — независимые подзадачи выполняются параллельно, а результаты агрегируются детерминированно, голосованием или объединением; применять, когда подзадачи независимы и известны заранее. Orchestrator-workers — центральный вызов делит задачу на подзадачи динамически, но в заданных рамках, и раздаёт их воркерам; это уже граница между workflow и агентом: декомпозиция гибкая, но контур фиксирован. Evaluator-optimizer — один вызов генерирует, другой оценивает по критериям, цикл повторяется до прохождения порога; это встроенная проверка между шагами, прямой инструмент против накопления ошибок.</a:t>
            </a:r>
          </a:p>
          <a:p/>
          <a:p>
            <a:r>
              <a:t>Итог: все пять — предопределённые в коде структуры[1]. Динамический агент отличается тем, что сам решает, какую структуру построить под конкретный вход, и потому теряет предсказуемость, которую эти паттерны сохраняют. Большинство запросов «нам нужен агент» на практике закрываются одним из этих пяти паттернов — это и есть смысл правила «найди простейшее»: workflow строит структуру вокруг предсказуемого, а агента берут, только чтобы исследовать непредсказуемое. Сам выбор агент против workflow разберём на следующем слайде.</a:t>
            </a:r>
          </a:p>
          <a:p/>
          <a:p>
            <a:r>
              <a:t>Источники:</a:t>
            </a:r>
          </a:p>
          <a:p>
            <a:r>
              <a:t>[1] Anthropic — Building Effective Agents (пять паттернов workflow) — prompt chaining / routing / parallelization / orchestrator-workers / evaluator-optimizer — структуры вокруг предсказуемого.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инженер решил, что агент оправдан, встаёт вопрос, на чём его строить. Рынок фреймворков в 2026 году волатилен — переименования и слияния произошли за год, — поэтому разбираем каждый по устойчивой схеме «ядро-абстракция, под что лучше всего, один честный минус», а не по маркетингу. И сразу рамочный тезис Anthropic: многие паттерны реализуются в несколько строк прямых вызовов API[1], а фреймворки часто добавляют слои абстракции, которые скрывают исходные промпты и ответы и усложняют отладку. Фреймворк — это абстракционный налог; его берут, только когда он доказанно улучшает исход.</a:t>
            </a:r>
          </a:p>
          <a:p/>
          <a:p>
            <a:r>
              <a:t>LangGraph строится на явном stateful-граф[2]е — узлы, рёбра, общее состояние — и это рабочая лошадь продакшена, но у него крутая кривая обучения, и для одного цикла вызова инструмента это переинжиниринг. CrewAI даёт ролевые экипажи и быстрый прототип, но ролевая абстракция маскирует, что реально происходит, и наследует хрупкость мульти-агента. AutoGen переехал в AG2 и Microsoft Agent Framework — сам rename-churn это риск adoption. OpenAI Agents SDK — тонкие handoffs, но OpenAI-центричен. Claude Agent SDK даёт готовый harness Claude Code для coding и длинных задач, ценой тяжёлого контекстного оверхеда. smolagents пишет и исполняет Python — это минимализм, но исполнение кода модели требует sandbox. LlamaIndex силён как агент над вашими данными, но центр тяжести у него retrieval. Pydantic AI даёт типовые контракты, но моложе остальных.</a:t>
            </a:r>
          </a:p>
          <a:p/>
          <a:p>
            <a:r>
              <a:t>И — пункт таблицы важнее всех строк: иногда правильный ответ — не брать ни одного фреймворка. Детерминированный путь, известные шаги, пара вызовов LLM без динамического ветвления — это обычный код и прямые вызовы API. Это правило лестницы на уровне выбора инструмента: сложность оснастки оплачивается требованием задачи, а не берётся авансом.</a:t>
            </a:r>
          </a:p>
          <a:p/>
          <a:p>
            <a:r>
              <a:t>Источники:</a:t>
            </a:r>
          </a:p>
          <a:p>
            <a:r>
              <a:t>[1] Anthropic — Building Effective Agents (фреймворк = абстракционный налог) — многие паттерны — несколько строк прямых вызовов API; фреймворки скрывают промпты и усложняют отладку. https://www.anthropic.com/research/building-effective-agents</a:t>
            </a:r>
          </a:p>
          <a:p>
            <a:r>
              <a:t>[2] LangGraph (LangChain) — stateful-граф, продакшн-оркестрация — версии фреймворков волатильны 2026 (rename-churn) — verify day-of. https://github.com/langchain-ai/langgraph [VFY-day-of]</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Различение операциональное, а не терминологическое, и оно даёт прямой критерий выбора. Предсказуемая задача, где последовательность шагов известна заранее, — это workflow: один из пяти паттернов с предыдущего слайда. Непредсказуемая задача, где шаги зависят от промежуточных результатов и где ценность оправдывает кратный рост стоимости, — это агент. Anthropic формулирует размен прямо: агентные системы меняют латентность и стоимость на качество, и нужно оценивать, когда этот размен оправдан.</a:t>
            </a:r>
          </a:p>
          <a:p/>
          <a:p>
            <a:r>
              <a:t>Отдельно про мульти-агент, потому что это одна из самых частых архитектурных ошибок. У неё простая математика. В цепочке из n шагов, где сбой любого портит результат, надёжности перемножаются: успех примерно p в степени n. Даже при 95 процентах на шаг десять шагов дают всего около 60 процентов общей надёжности, а двадцать шагов — уже 36. Инженерная интуиция «каждый шаг почти всегда работает, значит и цепочка почти всегда работает» математически ложна. Это подтверждает живой замер: на бенчмарке τ-bench GPT-4o даёт 61 процент с одной попытки, но только 25 процентов при требовании решить одну и ту же задачу стабильно на всех восьми прогонах[1]. Агент, справляющийся чаще, чем в половине случаев, справляется каждый раз из восьми лишь в четверти случаев.</a:t>
            </a:r>
          </a:p>
          <a:p/>
          <a:p>
            <a:r>
              <a:t>Практический вывод — начинай с одного сильного агента. Anthropic пишет дословно: мульти-агент работает во многом потому, что помогает потратить достаточно токенов на решение задачи, — то есть выигрыш от объёма токенов, а не от магии координации[2]. Относительно одного chat-completion одиночный агент — это примерно четыре раза больше токенов, мульти-агент — пятнадцать. Отсюда критерий в одну строку: если задача не распадается на широко параллельные независимые подзадачи высокой ценности, не строй мульти-агент — координационные издержки и лишние токены не окупятся.</a:t>
            </a:r>
          </a:p>
          <a:p/>
          <a:p>
            <a:r>
              <a:t>Источники:</a:t>
            </a:r>
          </a:p>
          <a:p>
            <a:r>
              <a:t>[1] Sierra — τ-bench (pass^k: 61% pass@1 → 25% pass@8) — надёжность на всех k прогонах, не удача; коллапс pⁿ измерен на живом tool-agent-бенчмарке. https://arxiv.org/abs/2406.12045 [VFY-day-of]</a:t>
            </a:r>
          </a:p>
          <a:p>
            <a:r>
              <a:t>[2] Anthropic — Multi-Agent Research System («spend enough tokens») — мульти-агент ≈ 15× токенов; выигрыш от объёма токенов, не от магии координации. https://www.anthropic.com/engineering/multi-agent-research-system [VFY-day-of]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выигрыш, потому что это одна из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Дальше — вопрос топологии, то есть того, как именно организованы несколько агентов между собой. При одном и том же числе агентов независимые «рои» равноправных агентов, работающих без единого центра, усиливали ошибки почти в семнадцать раз, тогда как централизованная оркестрация с одним координатором сдерживала усиление ошибок до менее чем пяти раз.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более точный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выигрыш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выигрышем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(верхние результаты) до D (нижние)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серьёзно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надёжную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основной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функции в промышленную эксплуатацию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максимально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имеет четыре места отказа; три класса провалов ниже — эти режимы в датированных кейсах, каждый с уроком и альтернативой. Первый. Команда поставила автономного агента на «синхронизировать заказы в CRM» — задача предсказуемая. Внешний API упёрся в ограничение частоты и стал возвращать ошибку 429[1]. Агент, не имея в плане ветки на 429, действовал по своей природе: планирую, вызываю, 429, перепланирую, снова — тысячи раз в час; итог около $4,200 за шестьдесят три часа (постмортем Sattyam Jain, 2026-04; single-author, числа округлены, иллюстративный). Агент конструктивно не понимает ни накопленной стоимости, ни времени, ни того, что действия идентичны. Урок: без жёстких внешних лимитов «пробуй, пока не получится» исполняется буквально и до разорения.</a:t>
            </a:r>
          </a:p>
          <a:p/>
          <a:p>
            <a:r>
              <a:t>Важно назвать базу сравнения. Обычный детерминированный скрипт повтора с нарастающей задержкой решает ту же задачу кратно дешевле: получил 429, подождал секунду, две, четыре, восемь, повторил ограниченное число раз — и либо готово, либо быстро сообщил «не смог, нужно вмешательство». Несколько строк кода, секунды-минуты, стоит почти ничего. То есть $4,200 — не цена автоматизации синхронизации вообще, а цена неправильного выбора архитектуры под предсказуемую задачу. Альтернатива двойная: budget gates вне агента и, на уровне архитектуры, скрипт повтора, а не агент.</a:t>
            </a:r>
          </a:p>
          <a:p/>
          <a:p>
            <a:r>
              <a:t>Второй. В цепочке, где сбой любого компонента портит результат, надёжности перемножа[2]ются: пять шагов по 99% дают примерно 95%, десять — около 90%, двадцать — около 82%. Рассуждение «каждый шаг почти всегда работает, значит и цепочка» математически ложно. Следствие: доработка отдельного агента почти не двигает системную надёжность, а сокращение числа шагов вдвое даёт сопоставимый эффект дешевле. Урок: «докрутить модель» — слабый рычаг, «меньше хопов плюс валидация между шагами» — сильный. Третий. Когда подзадачи зависимы, параллельные субагенты принимают конфликтующие неявные решения и дают несовместимый результат. Урок: мульти-агент[3] по умолчанию — не выигрыш; для задач с зависимостями он хуже одного линейного агента. Во всех трёх «более сложная архитектура» означала «менее надёжная», а не «более продвинутая».</a:t>
            </a:r>
          </a:p>
          <a:p/>
          <a:p>
            <a:r>
              <a:t>Источники:</a:t>
            </a:r>
          </a:p>
          <a:p>
            <a:r>
              <a:t>[1] Sattyam Jain 2026 — The Agent That Burned $4,200 in 63 Hours — петля без лимитов на HTTP 429; retry-скрипт решил бы задачу почти бесплатно. https://medium.com/@sattyamjain96/the-agent-that-burned-4-200-in-63-hours-a-production-ai-postmortem-d38fd9586a85 [VFY-day-of]</a:t>
            </a:r>
          </a:p>
          <a:p>
            <a:r>
              <a:t>[2] MindStudio — Reliability Compounding Problem — 5×99%≈95%, 10→90%, 20→82% — надёжности перемножаются. https://www.mindstudio.ai/blog/reliability-compounding-problem-ai-agent-stacks</a:t>
            </a:r>
          </a:p>
          <a:p>
            <a:r>
              <a:t>[3] Cognition — Don't Build Multi-Agents (хрупкость) — зависимые подзадачи → параллельные субагенты принимают конфликтующие решения.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промышленной эксплуатации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ключевое: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каждый с конкретной базой сравнения. Первый — деструкция при избыточных правах. Coding-агент в тестовом окружении нашёл токен с неограниченными правами и удалил продакшн-том со всеми резервными копиями за девять секунд; ближайший бэкап — три месяца. Урок: системный промпт — не средство безопасности; только архитектурная граница и least-privilege надёжно останавливают агента.</a:t>
            </a:r>
          </a:p>
          <a:p/>
          <a:p>
            <a:r>
              <a:t>Второй — неконтролируемая стоимость. Research-агент без критерия успеха потратил $48k за 14 часов, 100 инстансов сожгли $1,3M за месяц. База: обычная сессия стоит центы-доллары, это на 3–5 порядков выше. Урок: критерий завершения, жёсткий бюджетный потолок, аварийный стоп.</a:t>
            </a:r>
          </a:p>
          <a:p/>
          <a:p>
            <a:r>
              <a:t>Третий — slopsquatting: агенты выдумывают имена пакетов, атакующие регистрируют их с вредом. Почти каждый пятый сгенерированный импорт указывал на несуществующий пакет. Урок: имена зависимостей без проверки против реестра не устанавливать.</a:t>
            </a:r>
          </a:p>
          <a:p/>
          <a:p>
            <a:r>
              <a:t>Четвёртый — мульти-агентный каскад: ошибка одного агента проходит цепочкой как факт, следующие на неё опираются. В реальных инцидентах корень часто не там, где сбой заметен, а на апстримном шаге — в поиске или планировании. Общий вывод: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ключевого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задержка,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самой нижней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задержку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«выигрыш», а обмен: больше возможностей в обмен на стоимость, задержку, аудируемость, поверхность атаки. Инженер, владеющий этим навыком, умеет назвать обе стороны обмена, а не только левую.</a:t>
            </a:r>
          </a:p>
          <a:p/>
          <a:p>
            <a:r>
              <a:t>Источники:</a:t>
            </a:r>
          </a:p>
          <a:p>
            <a:r>
              <a:t>[1] Anthropic — Building Effective Agents (правило лестницы) — оставайся на нижней ступени; каждый подъём — обмен, не выигрыш.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говорит «не поднимайся без нужды», но не говорит, по каким осям мерить нужду. Это даёт план решения — не таблица для сложения баллов, а маршрут вопросов, который вы проходите сверху вниз для конкретной задачи, останавливаясь на первом сработавшем[1]. Первый вопрос и дешёвый отсев: задача детерминированная и верифицируемая[2] — фиксированная цена, политика, парсинг, валидация по схеме, арифметика, маршрутизация по правилам? Если да — обычный код, стоп здесь, остальные вопросы не нужны. Нет — закрывает ли задачу один вызов, возможно с пошаговым рассуждением? Если да — промпт. Дальше решающий вопрос регулируемых доменов: должен ли ответ быть проверяем по источнику? Если да, дальнейший выбор обязан обеспечивать провенанс — строгая опора на источник или код, свободная генерация исключена; это диагноз Air Canada.</a:t>
            </a:r>
          </a:p>
          <a:p/>
          <a:p>
            <a:r>
              <a:t>Следующие вопросы: знание меняется часто или нужен провенанс — RAG, если не заблокировано критериями «когда НЕ»; знание стабильно и мало — длинный контекст с кэшем. Нужно поведение, тон, формат, политика, а не факты — fine-tuning в форме PEFT. Задача многошаговая и последовательность известна заранее — workflow; принципиально непредсказуема и ценность оправдывает рост стоимости — агент с бюджетными лимитами. Подзадачи широко-параллельны, независимы и ценны — мульти-агент, иначе один линейный агент. И параллельно, на любом шаге: данные чувствительны — карта данных по фиче, least-privilege, ZDR или договор, человек-валидатор. Навык, который проверяет основная учебная цель, — не посчитать по таблице, а пройти маршрут и назвать решающий вопрос для этой задачи. «По очкам вышло RAG» — не обоснование; «вопрос про провенанс решающий, ответы юридически значимы, поэтому RAG со строгой опорой и человек-валидатор» — обоснование. И нижняя плашка — несущая строка лекции: детерминированная задача решается обычным кодом, а Air Canada — это выбор генеративной архитектуры для задачи из этой нижней плашки.</a:t>
            </a:r>
          </a:p>
          <a:p/>
          <a:p>
            <a:r>
              <a:t>Источники:</a:t>
            </a:r>
          </a:p>
          <a:p>
            <a:r>
              <a:t>[1] Anthropic — Building Effective Agents (маршрут выбора) — маршрут вопросов сверху вниз; шаг 1 — детерминированная задача → обычный код, СТОП. https://www.anthropic.com/research/building-effective-agents</a:t>
            </a:r>
          </a:p>
          <a:p>
            <a:r>
              <a:t>[2] McCarthy Tétrault — Air Canada (нижняя строка матрицы) — генеративная архитектура на детерминированную задачу = ошибка нижней строки.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По умолчанию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выбор по умолчанию,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материал лекции в одну справочную таблицу — не для запоминания наизусть, а как инструмент, к которому можно возвращаться при проектировании реальной системы. У каждого механизма есть своя граница применимости и своя мера противодействия. Промпт и роль в нём не повышают фактическую точность, только тон и глубину изложения — для точности нужны грамотный контекст и RAG. Chain-of-thought даёт прирост на многошаговых задачах, но его словесное рассуждение нельзя аудировать: верность объяснения составляет менее половины случаев даже у сильных моделей — значит, проверять нужно результат, а не проговорённую цепочку. RAG решает проблему устаревшего знания, но сам факт, что система что-то вернула, не означает, что она вернула правильное, — нужны строгая опора на источник и постоянный мониторинг.</a:t>
            </a:r>
          </a:p>
          <a:p/>
          <a:p>
            <a:r>
              <a:t>Дообучение и его параметр-эффективные варианты — плохое место для фактов и несут риск катастрофического забывания, поэтому обязательны петля оценки и версионирование весов и датасета. Цикл агента — это четыре шага, каждый со своим режимом отказа, и без внешних лимитов по бюджету и числу итераций он способен буквально довести задачу до разорения. Экипировка агента — память, инструкции, навыки, субагенты, доступ к инструментам — это не бесплатный выигрыш, а компромисс, который стоит добавлять только под конкретное требование задачи. Мульти-агентные системы страдают от математического перемножения вероятностей отказа по цепочке шагов, и один координатор надёжнее равноправного «роя»; строить их стоит только под широко параллельные независимые подзадачи. Безопасность агентной системы держится на принципе наименьших привилегий и карте данных по каждой фиче, потому что инъекция через недоверенный контент не решена как проблема, а режим нулевого удержания данных не покрывает всю цепочку сторонних инструментов.</a:t>
            </a:r>
          </a:p>
          <a:p/>
          <a:p>
            <a:r>
              <a:t>И последняя строка таблицы — несущая во всей лекции: если задача детерминирована и верифицируема, правильный ответ — обычный код без всякого ИИ. Знать инструмент — значит знать его границу; хороший архитектор ищет не максимально мощную из доступных архитектур, а нижнюю ступень, которая реально закрывает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ветках лестницы, где есть генерация, остаётся одна сквозная роль — человек-валидатор. Его функция обоснована двумя разделами лекции: пределом chain-of-thought, где рассуждение может быть unfaithful[1], и циклом агента, где шаг check не может быть самооценкой модели. «Модель объяснила, почему она права» — не доказательство правоты, а такой же сгенерированный текст, как и сам ответ. Границу роли часто понимают неверно в обе стороны: это не «человек перечитывает каждый ответ» (не масштабируется) и не «человек смотрит, убедительно ли звучит рассуждение» (ловушка unfaithfulness). Это: на значимых решениях результат проходит проверку против источника истины до того, как станет действием; на незначимых — выборочный аудит.</a:t>
            </a:r>
          </a:p>
          <a:p/>
          <a:p>
            <a:r>
              <a:t>Чтобы роль не осталась лозунгом, разложим её по трём измерениям. Первое — степень автономности: спектр от «агент предлагает, человек подтверждает» до «агент делает и уведомляет постфактум»; чем выше автономность, тем дороже неперехваченная ошибка. Второе — scope доверия: читать данные — низкий риск, ошибку легко откатить; изменять данные — выше; необратимое действие требует человека почти всегда. Третье — continuous monitoring: качество деградирует со временем незаметно, как тихая деградация retrieval, поэтому метрики собираются постоянно и есть алерт на отклонение, а не только проверка на старте. Архитектура должна предусматривать точку этой проверки на проектировании — «человек как-нибудь потом посмотрит» не является контролем.</a:t>
            </a:r>
          </a:p>
          <a:p/>
          <a:p>
            <a:r>
              <a:t>Эту мысль усиливает отчёт MIT NANDA о состоянии корпоративного AI в 2025: около девяноста пяти процентов корпоративных GenAI-пилотов не дали измеримого эффекта на финансовый результат. Цифру подавать как заголовок отчёта с методологией, а не как закон природы. Ключевое — не процент, а причина: корень не в качестве моделей, а в провале интеграции; бюджеты[2] уходили в эффектные витрины, хотя отдача выше в скучном back-office. Урок для архитектора: «запустить ИИ» не равно «получить ценность»; решает архитектурно-интеграционная дисциплина — правильная ступень лестницы, измеримая узкая задача, человек-валидатор, — а не максимально мощная модель. Иногда правильный ответ — простейшая архитектура или не-ИИ.</a:t>
            </a:r>
          </a:p>
          <a:p/>
          <a:p>
            <a:r>
              <a:t>Источники:</a:t>
            </a:r>
          </a:p>
          <a:p>
            <a:r>
              <a:t>[1] Anthropic — Reasoning Models faithfulness (self-rationale ≠ контроль) — человек проверяет результат/факты против источника, не самообъяснение модели. https://www.anthropic.com/research/reasoning-models-dont-say-think [VFY-day-of]</a:t>
            </a:r>
          </a:p>
          <a:p>
            <a:r>
              <a:t>[2] MIT NANDA — State of AI in Business 2025 (~95% пилотов без ROI) — корень — learning gap и провал интеграции, не качество модели; отчёт, не закон.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Удачное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 Id="rId5"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1.png"/><Relationship Id="rId4" Type="http://schemas.openxmlformats.org/officeDocument/2006/relationships/image" Target="../media/image43.png"/><Relationship Id="rId5" Type="http://schemas.openxmlformats.org/officeDocument/2006/relationships/notesSlide" Target="../notesSlides/notesSlide22.xml"/><Relationship Id="rId6" Type="http://schemas.openxmlformats.org/officeDocument/2006/relationships/hyperlink" Target="https://arxiv.org/abs/2005.1140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notesSlide" Target="../notesSlides/notesSlide23.xml"/><Relationship Id="rId7" Type="http://schemas.openxmlformats.org/officeDocument/2006/relationships/hyperlink" Target="https://denser.ai/blog/hybrid-search-for-rag/" TargetMode="External"/><Relationship Id="rId8" Type="http://schemas.openxmlformats.org/officeDocument/2006/relationships/hyperlink" Target="https://www.anthropic.com/engineering/contextual-retrieva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notesSlide" Target="../notesSlides/notesSlide24.xml"/><Relationship Id="rId8" Type="http://schemas.openxmlformats.org/officeDocument/2006/relationships/hyperlink" Target="https://www.firecrawl.dev/blog/best-vector-databases" TargetMode="External"/><Relationship Id="rId9" Type="http://schemas.openxmlformats.org/officeDocument/2006/relationships/hyperlink" Target="https://www.tigerdata.com/blog/pgvector-vs-qdran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25.xml"/><Relationship Id="rId4" Type="http://schemas.openxmlformats.org/officeDocument/2006/relationships/hyperlink" Target="https://pureinsights.com/blog/2026/from-vector-hype-to-hybrid-reality-is-elasticsearch-still-the-right-bet/" TargetMode="External"/><Relationship Id="rId5" Type="http://schemas.openxmlformats.org/officeDocument/2006/relationships/hyperlink" Target="https://bigdataboutique.com/blog/opensearch-and-elasticsearch-vector-search-an-introduction-6af58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3.png"/><Relationship Id="rId4" Type="http://schemas.openxmlformats.org/officeDocument/2006/relationships/image" Target="../media/image53.png"/><Relationship Id="rId5" Type="http://schemas.openxmlformats.org/officeDocument/2006/relationships/image" Target="../media/image45.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notesSlide" Target="../notesSlides/notesSlide26.xml"/><Relationship Id="rId10" Type="http://schemas.openxmlformats.org/officeDocument/2006/relationships/hyperlink" Target="https://www.firecrawl.dev/blog/best-chunking-strategies-rag" TargetMode="External"/><Relationship Id="rId11" Type="http://schemas.openxmlformats.org/officeDocument/2006/relationships/hyperlink" Target="https://www.anthropic.com/engineering/contextual-retrieva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27.xml"/><Relationship Id="rId4" Type="http://schemas.openxmlformats.org/officeDocument/2006/relationships/hyperlink" Target="https://www.firecrawl.dev/blog/best-chunking-strategies-rag" TargetMode="External"/><Relationship Id="rId5" Type="http://schemas.openxmlformats.org/officeDocument/2006/relationships/hyperlink" Target="https://www.anthropic.com/engineering/contextual-retrieva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52.png"/><Relationship Id="rId6" Type="http://schemas.openxmlformats.org/officeDocument/2006/relationships/notesSlide" Target="../notesSlides/notesSlide28.xml"/><Relationship Id="rId7" Type="http://schemas.openxmlformats.org/officeDocument/2006/relationships/hyperlink" Target="https://redis.io/blog/rag-at-scale/" TargetMode="External"/><Relationship Id="rId8" Type="http://schemas.openxmlformats.org/officeDocument/2006/relationships/hyperlink" Target="https://futureagi.com/blog/rag-evaluation-metrics-202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29.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notesSlide" Target="../notesSlides/notesSlide30.xml"/><Relationship Id="rId7" Type="http://schemas.openxmlformats.org/officeDocument/2006/relationships/hyperlink" Target="https://www.redhat.com/en/topics/ai/rag-vs-fine-tuning" TargetMode="External"/><Relationship Id="rId8" Type="http://schemas.openxmlformats.org/officeDocument/2006/relationships/hyperlink" Target="https://www.mccarthy.ca/en/insights/blogs/techlex/moffatt-v-air-canada-misrepresentation-ai-chatbot"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31.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52.png"/><Relationship Id="rId4" Type="http://schemas.openxmlformats.org/officeDocument/2006/relationships/image" Target="../media/image58.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9.png"/><Relationship Id="rId4" Type="http://schemas.openxmlformats.org/officeDocument/2006/relationships/image" Target="../media/image65.png"/><Relationship Id="rId5" Type="http://schemas.openxmlformats.org/officeDocument/2006/relationships/notesSlide" Target="../notesSlides/notesSlide34.xml"/><Relationship Id="rId6" Type="http://schemas.openxmlformats.org/officeDocument/2006/relationships/hyperlink" Target="https://www.ibm.com/think/topics/rag-vs-fine-tuning"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thinkingmachines.ai/blog/lora/" TargetMode="External"/><Relationship Id="rId4" Type="http://schemas.openxmlformats.org/officeDocument/2006/relationships/hyperlink" Target="https://arxiv.org/abs/2305.14314"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36.xml"/><Relationship Id="rId4" Type="http://schemas.openxmlformats.org/officeDocument/2006/relationships/hyperlink" Target="https://arxiv.org/abs/2106.09685" TargetMode="External"/><Relationship Id="rId5" Type="http://schemas.openxmlformats.org/officeDocument/2006/relationships/hyperlink" Target="https://arxiv.org/abs/2305.14314" TargetMode="External"/><Relationship Id="rId6" Type="http://schemas.openxmlformats.org/officeDocument/2006/relationships/hyperlink" Target="https://huggingface.co/blog/peft-beyond-lor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bigdataboutique.com/blog/fine-tuning-llms-when-rag-isnt-enough"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notesSlide" Target="../notesSlides/notesSlide38.xml"/><Relationship Id="rId7" Type="http://schemas.openxmlformats.org/officeDocument/2006/relationships/hyperlink" Target="https://arxiv.org/abs/1503.02531" TargetMode="External"/><Relationship Id="rId8" Type="http://schemas.openxmlformats.org/officeDocument/2006/relationships/hyperlink" Target="https://arxiv.org/abs/2403.14608"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39.xml"/><Relationship Id="rId4" Type="http://schemas.openxmlformats.org/officeDocument/2006/relationships/hyperlink" Target="https://arxiv.org/abs/2308.08747"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40.xml"/><Relationship Id="rId4" Type="http://schemas.openxmlformats.org/officeDocument/2006/relationships/hyperlink" Target="https://blog.pebblous.ai/blog/llm-benchmark-contamination/en/" TargetMode="External"/><Relationship Id="rId5" Type="http://schemas.openxmlformats.org/officeDocument/2006/relationships/hyperlink" Target="https://arxiv.org/abs/2405.0033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58.png"/><Relationship Id="rId4" Type="http://schemas.openxmlformats.org/officeDocument/2006/relationships/image" Target="../media/image41.png"/><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image" Target="../media/image17.png"/><Relationship Id="rId8" Type="http://schemas.openxmlformats.org/officeDocument/2006/relationships/notesSlide" Target="../notesSlides/notesSlide43.xml"/><Relationship Id="rId9" Type="http://schemas.openxmlformats.org/officeDocument/2006/relationships/hyperlink" Target="https://www.anthropic.com/news/donating-the-model-context-protocol-and-establishing-of-the-agentic-ai-foundatio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17.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notesSlide" Target="../notesSlides/notesSlide47.xml"/><Relationship Id="rId8" Type="http://schemas.openxmlformats.org/officeDocument/2006/relationships/hyperlink" Target="https://www.anthropic.com/research/building-effective-agent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www.anthropic.com/research/building-effective-agents" TargetMode="External"/><Relationship Id="rId4" Type="http://schemas.openxmlformats.org/officeDocument/2006/relationships/hyperlink" Target="https://github.com/langchain-ai/langgraph"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notesSlide" Target="../notesSlides/notesSlide49.xml"/><Relationship Id="rId7" Type="http://schemas.openxmlformats.org/officeDocument/2006/relationships/hyperlink" Target="https://arxiv.org/abs/2406.12045" TargetMode="External"/><Relationship Id="rId8" Type="http://schemas.openxmlformats.org/officeDocument/2006/relationships/hyperlink" Target="https://www.anthropic.com/engineering/multi-agent-research-system"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86.png"/><Relationship Id="rId6" Type="http://schemas.openxmlformats.org/officeDocument/2006/relationships/image" Target="../media/image91.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76.png"/><Relationship Id="rId5" Type="http://schemas.openxmlformats.org/officeDocument/2006/relationships/image" Target="../media/image94.png"/><Relationship Id="rId6" Type="http://schemas.openxmlformats.org/officeDocument/2006/relationships/notesSlide" Target="../notesSlides/notesSlide53.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100.png"/><Relationship Id="rId4" Type="http://schemas.openxmlformats.org/officeDocument/2006/relationships/image" Target="../media/image13.png"/><Relationship Id="rId5" Type="http://schemas.openxmlformats.org/officeDocument/2006/relationships/notesSlide" Target="../notesSlides/notesSlide56.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49.png"/><Relationship Id="rId5" Type="http://schemas.openxmlformats.org/officeDocument/2006/relationships/image" Target="../media/image103.pn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52.png"/><Relationship Id="rId4" Type="http://schemas.openxmlformats.org/officeDocument/2006/relationships/image" Target="../media/image106.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1.xml"/><Relationship Id="rId4" Type="http://schemas.openxmlformats.org/officeDocument/2006/relationships/hyperlink" Target="https://www.anthropic.com/research/building-effective-agents"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55.png"/><Relationship Id="rId4" Type="http://schemas.openxmlformats.org/officeDocument/2006/relationships/image" Target="../media/image93.png"/><Relationship Id="rId5" Type="http://schemas.openxmlformats.org/officeDocument/2006/relationships/image" Target="../media/image76.png"/><Relationship Id="rId6" Type="http://schemas.openxmlformats.org/officeDocument/2006/relationships/image" Target="../media/image108.png"/><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notesSlide" Target="../notesSlides/notesSlide65.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МИФ ПРО AI-СИСТЕМЫ</a:t>
            </a:r>
          </a:p>
        </p:txBody>
      </p:sp>
      <p:sp>
        <p:nvSpPr>
          <p:cNvPr id="3" name="TextBox 2"/>
          <p:cNvSpPr txBox="1"/>
          <p:nvPr/>
        </p:nvSpPr>
        <p:spPr>
          <a:xfrm>
            <a:off x="502920" y="786384"/>
            <a:ext cx="11201400" cy="841248"/>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3689604" y="1755648"/>
            <a:ext cx="4809744" cy="3968496"/>
          </a:xfrm>
          <a:prstGeom prst="roundRect">
            <a:avLst>
              <a:gd name="adj" fmla="val 76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drake-ru.png"/>
          <p:cNvPicPr>
            <a:picLocks noChangeAspect="1"/>
          </p:cNvPicPr>
          <p:nvPr/>
        </p:nvPicPr>
        <p:blipFill>
          <a:blip r:embed="rId2"/>
          <a:stretch>
            <a:fillRect/>
          </a:stretch>
        </p:blipFill>
        <p:spPr>
          <a:xfrm>
            <a:off x="4238244" y="1883664"/>
            <a:ext cx="3712463" cy="3712463"/>
          </a:xfrm>
          <a:prstGeom prst="rect">
            <a:avLst/>
          </a:prstGeom>
        </p:spPr>
      </p:pic>
      <p:sp>
        <p:nvSpPr>
          <p:cNvPr id="6" name="Rounded Rectangle 5"/>
          <p:cNvSpPr/>
          <p:nvPr/>
        </p:nvSpPr>
        <p:spPr>
          <a:xfrm>
            <a:off x="502920" y="5797296"/>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852159"/>
            <a:ext cx="10799064" cy="56692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Откуда на самом деле берётся надёжность AI-системы — разбираем всю лекцию.</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Rounded Rectangle 7"/>
          <p:cNvSpPr/>
          <p:nvPr/>
        </p:nvSpPr>
        <p:spPr>
          <a:xfrm>
            <a:off x="612648" y="5468112"/>
            <a:ext cx="2066544" cy="1052417"/>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pirate-crop.png"/>
          <p:cNvPicPr>
            <a:picLocks noChangeAspect="1"/>
          </p:cNvPicPr>
          <p:nvPr/>
        </p:nvPicPr>
        <p:blipFill>
          <a:blip r:embed="rId2"/>
          <a:stretch>
            <a:fillRect/>
          </a:stretch>
        </p:blipFill>
        <p:spPr>
          <a:xfrm>
            <a:off x="685800" y="5541264"/>
            <a:ext cx="1920239" cy="906113"/>
          </a:xfrm>
          <a:prstGeom prst="rect">
            <a:avLst/>
          </a:prstGeom>
        </p:spPr>
      </p:pic>
      <p:sp>
        <p:nvSpPr>
          <p:cNvPr id="10" name="TextBox 9"/>
          <p:cNvSpPr txBox="1"/>
          <p:nvPr/>
        </p:nvSpPr>
        <p:spPr>
          <a:xfrm>
            <a:off x="2862072" y="5486400"/>
            <a:ext cx="4937760" cy="1052417"/>
          </a:xfrm>
          <a:prstGeom prst="rect">
            <a:avLst/>
          </a:prstGeom>
          <a:noFill/>
        </p:spPr>
        <p:txBody>
          <a:bodyPr wrap="square" lIns="0" rIns="0" tIns="0" bIns="0" anchor="ctr">
            <a:spAutoFit/>
          </a:bodyPr>
          <a:lstStyle/>
          <a:p>
            <a:pPr algn="l">
              <a:lnSpc>
                <a:spcPct val="114000"/>
              </a:lnSpc>
            </a:pPr>
            <a:r>
              <a:rPr sz="1400" b="1" i="1">
                <a:solidFill>
                  <a:srgbClr val="065A82"/>
                </a:solidFill>
                <a:latin typeface="Arial"/>
              </a:rPr>
              <a:t>«магической пилюли» не существует</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постановка задачи: откуда берётся надёжность</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Из Лекции 2 берём готовыми два понятия.</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Не переобъясняем — просто вспоминаем, чтобы дальше на них опереться. Всё остальное надстроим по ходу лекции.</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Одиночный вызов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Один проход модели: дал промпт → получил ответ. Без памяти между вызовами, без обращений наружу.</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Модель знает только то, что в промпте и в весах</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Семантический поиск на эмбеддингах</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Текст → вектор смысла; близкие по смыслу фрагменты — близкие векторы. Поиск «по смыслу», а не по точному слову.</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На этом стоит RAG (Раздел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Оба понятия — фундамент из Лекции 2. Всё, что мы надстроим сегодня (RAG, инструменты, дообучение, агенты), опирается на них.</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8" name="Rounded Rectangle 7"/>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точная постановка задачи: спецификация и контракт.</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Точная постановка — это описание нужного результата так, чтобы его можно было проверить: спецификация, детерминированная программа, контракт интерфейса. Отсюда стартует раздел.</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62356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511149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максимальная предсказуемость (нет петель, нет поиска, который тихо деградирует)</a:t>
            </a:r>
          </a:p>
        </p:txBody>
      </p:sp>
      <p:sp>
        <p:nvSpPr>
          <p:cNvPr id="14" name="Rounded Rectangle 13"/>
          <p:cNvSpPr/>
          <p:nvPr/>
        </p:nvSpPr>
        <p:spPr>
          <a:xfrm>
            <a:off x="6355080" y="1847088"/>
            <a:ext cx="534924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11112" y="2048256"/>
            <a:ext cx="4837175"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50" b="1">
                <a:solidFill>
                  <a:srgbClr val="FFFFFF"/>
                </a:solidFill>
                <a:latin typeface="Arial"/>
              </a:rPr>
              <a:t>«НА ВСЯКИЙ СЛУЧАЙ» — ЭСКАЛАЦИЯ</a:t>
            </a:r>
          </a:p>
        </p:txBody>
      </p:sp>
      <p:pic>
        <p:nvPicPr>
          <p:cNvPr id="16" name="Picture 15" descr="s05-gru-ru.png"/>
          <p:cNvPicPr>
            <a:picLocks noChangeAspect="1"/>
          </p:cNvPicPr>
          <p:nvPr/>
        </p:nvPicPr>
        <p:blipFill>
          <a:blip r:embed="rId3"/>
          <a:stretch>
            <a:fillRect/>
          </a:stretch>
        </p:blipFill>
        <p:spPr>
          <a:xfrm>
            <a:off x="7062416" y="2596896"/>
            <a:ext cx="3934567" cy="2523744"/>
          </a:xfrm>
          <a:prstGeom prst="rect">
            <a:avLst/>
          </a:prstGeom>
        </p:spPr>
      </p:pic>
      <p:sp>
        <p:nvSpPr>
          <p:cNvPr id="17" name="Rounded Rectangle 16"/>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(«найди простейшее»)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role spoofing: роль подделывают</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8549640" cy="14447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8147304" cy="133502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Rounded Rectangle 18"/>
          <p:cNvSpPr/>
          <p:nvPr/>
        </p:nvSpPr>
        <p:spPr>
          <a:xfrm>
            <a:off x="9144000" y="4453128"/>
            <a:ext cx="2523744" cy="1719072"/>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05c-pigeon-ru.png"/>
          <p:cNvPicPr>
            <a:picLocks noChangeAspect="1"/>
          </p:cNvPicPr>
          <p:nvPr/>
        </p:nvPicPr>
        <p:blipFill>
          <a:blip r:embed="rId4"/>
          <a:stretch>
            <a:fillRect/>
          </a:stretch>
        </p:blipFill>
        <p:spPr>
          <a:xfrm>
            <a:off x="9499537" y="4498848"/>
            <a:ext cx="1812668" cy="1627632"/>
          </a:xfrm>
          <a:prstGeom prst="rect">
            <a:avLst/>
          </a:prstGeom>
        </p:spPr>
      </p:pic>
      <p:sp>
        <p:nvSpPr>
          <p:cNvPr id="21" name="TextBox 2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67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Формат промпта: вход терпим, выход — с ценой.</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Терпимость к формату ВХОДА и цена принуждения формата ВЫХОДА — две разные проблемы. Их постоянно смешивают.</a:t>
            </a:r>
          </a:p>
        </p:txBody>
      </p:sp>
      <p:sp>
        <p:nvSpPr>
          <p:cNvPr id="4" name="Rounded Rectangle 3"/>
          <p:cNvSpPr/>
          <p:nvPr/>
        </p:nvSpPr>
        <p:spPr>
          <a:xfrm>
            <a:off x="502920" y="16642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37944"/>
            <a:ext cx="457200" cy="438912"/>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de-white.png"/>
          <p:cNvPicPr>
            <a:picLocks noChangeAspect="1"/>
          </p:cNvPicPr>
          <p:nvPr/>
        </p:nvPicPr>
        <p:blipFill>
          <a:blip r:embed="rId2"/>
          <a:stretch>
            <a:fillRect/>
          </a:stretch>
        </p:blipFill>
        <p:spPr>
          <a:xfrm>
            <a:off x="758952" y="1901952"/>
            <a:ext cx="310896" cy="310896"/>
          </a:xfrm>
          <a:prstGeom prst="rect">
            <a:avLst/>
          </a:prstGeom>
        </p:spPr>
      </p:pic>
      <p:sp>
        <p:nvSpPr>
          <p:cNvPr id="7" name="TextBox 6"/>
          <p:cNvSpPr txBox="1"/>
          <p:nvPr/>
        </p:nvSpPr>
        <p:spPr>
          <a:xfrm>
            <a:off x="1289304" y="17556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Markdown</a:t>
            </a:r>
          </a:p>
        </p:txBody>
      </p:sp>
      <p:sp>
        <p:nvSpPr>
          <p:cNvPr id="8" name="TextBox 7"/>
          <p:cNvSpPr txBox="1"/>
          <p:nvPr/>
        </p:nvSpPr>
        <p:spPr>
          <a:xfrm>
            <a:off x="3291839" y="17465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простой запрос, инструкции</a:t>
            </a:r>
          </a:p>
        </p:txBody>
      </p:sp>
      <p:sp>
        <p:nvSpPr>
          <p:cNvPr id="9" name="TextBox 8"/>
          <p:cNvSpPr txBox="1"/>
          <p:nvPr/>
        </p:nvSpPr>
        <p:spPr>
          <a:xfrm>
            <a:off x="3291839" y="20939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GPT/Gemini · вход терпим</a:t>
            </a:r>
          </a:p>
        </p:txBody>
      </p:sp>
      <p:sp>
        <p:nvSpPr>
          <p:cNvPr id="10" name="Rounded Rectangle 9"/>
          <p:cNvSpPr/>
          <p:nvPr/>
        </p:nvSpPr>
        <p:spPr>
          <a:xfrm>
            <a:off x="502920" y="25786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752344"/>
            <a:ext cx="457200" cy="438912"/>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races-white.png"/>
          <p:cNvPicPr>
            <a:picLocks noChangeAspect="1"/>
          </p:cNvPicPr>
          <p:nvPr/>
        </p:nvPicPr>
        <p:blipFill>
          <a:blip r:embed="rId3"/>
          <a:stretch>
            <a:fillRect/>
          </a:stretch>
        </p:blipFill>
        <p:spPr>
          <a:xfrm>
            <a:off x="758952" y="2816352"/>
            <a:ext cx="310896" cy="310896"/>
          </a:xfrm>
          <a:prstGeom prst="rect">
            <a:avLst/>
          </a:prstGeom>
        </p:spPr>
      </p:pic>
      <p:sp>
        <p:nvSpPr>
          <p:cNvPr id="13" name="TextBox 12"/>
          <p:cNvSpPr txBox="1"/>
          <p:nvPr/>
        </p:nvSpPr>
        <p:spPr>
          <a:xfrm>
            <a:off x="1289304" y="26700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XML-теги</a:t>
            </a:r>
          </a:p>
        </p:txBody>
      </p:sp>
      <p:sp>
        <p:nvSpPr>
          <p:cNvPr id="14" name="TextBox 13"/>
          <p:cNvSpPr txBox="1"/>
          <p:nvPr/>
        </p:nvSpPr>
        <p:spPr>
          <a:xfrm>
            <a:off x="3291839" y="26609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длинный контекст, много блоков</a:t>
            </a:r>
          </a:p>
        </p:txBody>
      </p:sp>
      <p:sp>
        <p:nvSpPr>
          <p:cNvPr id="15" name="TextBox 14"/>
          <p:cNvSpPr txBox="1"/>
          <p:nvPr/>
        </p:nvSpPr>
        <p:spPr>
          <a:xfrm>
            <a:off x="3291839" y="30083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Claude · разграничить блоки</a:t>
            </a:r>
          </a:p>
        </p:txBody>
      </p:sp>
      <p:sp>
        <p:nvSpPr>
          <p:cNvPr id="16" name="Rounded Rectangle 15"/>
          <p:cNvSpPr/>
          <p:nvPr/>
        </p:nvSpPr>
        <p:spPr>
          <a:xfrm>
            <a:off x="502920" y="34930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666744"/>
            <a:ext cx="457200" cy="438912"/>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base-white.png"/>
          <p:cNvPicPr>
            <a:picLocks noChangeAspect="1"/>
          </p:cNvPicPr>
          <p:nvPr/>
        </p:nvPicPr>
        <p:blipFill>
          <a:blip r:embed="rId4"/>
          <a:stretch>
            <a:fillRect/>
          </a:stretch>
        </p:blipFill>
        <p:spPr>
          <a:xfrm>
            <a:off x="758952" y="3730752"/>
            <a:ext cx="310896" cy="310896"/>
          </a:xfrm>
          <a:prstGeom prst="rect">
            <a:avLst/>
          </a:prstGeom>
        </p:spPr>
      </p:pic>
      <p:sp>
        <p:nvSpPr>
          <p:cNvPr id="19" name="TextBox 18"/>
          <p:cNvSpPr txBox="1"/>
          <p:nvPr/>
        </p:nvSpPr>
        <p:spPr>
          <a:xfrm>
            <a:off x="1289304" y="35844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 схема</a:t>
            </a:r>
          </a:p>
        </p:txBody>
      </p:sp>
      <p:sp>
        <p:nvSpPr>
          <p:cNvPr id="20" name="TextBox 19"/>
          <p:cNvSpPr txBox="1"/>
          <p:nvPr/>
        </p:nvSpPr>
        <p:spPr>
          <a:xfrm>
            <a:off x="3291839" y="35753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извлечение, классификация, код</a:t>
            </a:r>
          </a:p>
        </p:txBody>
      </p:sp>
      <p:sp>
        <p:nvSpPr>
          <p:cNvPr id="21" name="TextBox 20"/>
          <p:cNvSpPr txBox="1"/>
          <p:nvPr/>
        </p:nvSpPr>
        <p:spPr>
          <a:xfrm>
            <a:off x="3291839" y="39227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constrained decoding → ~100%</a:t>
            </a:r>
          </a:p>
        </p:txBody>
      </p:sp>
      <p:sp>
        <p:nvSpPr>
          <p:cNvPr id="22" name="Rounded Rectangle 21"/>
          <p:cNvSpPr/>
          <p:nvPr/>
        </p:nvSpPr>
        <p:spPr>
          <a:xfrm>
            <a:off x="502920" y="4407408"/>
            <a:ext cx="6446520" cy="7863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581144"/>
            <a:ext cx="457200" cy="438912"/>
          </a:xfrm>
          <a:prstGeom prst="roundRect">
            <a:avLst>
              <a:gd name="adj" fmla="val 22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riangle-alert-white.png"/>
          <p:cNvPicPr>
            <a:picLocks noChangeAspect="1"/>
          </p:cNvPicPr>
          <p:nvPr/>
        </p:nvPicPr>
        <p:blipFill>
          <a:blip r:embed="rId5"/>
          <a:stretch>
            <a:fillRect/>
          </a:stretch>
        </p:blipFill>
        <p:spPr>
          <a:xfrm>
            <a:off x="758952" y="4645152"/>
            <a:ext cx="310896" cy="310896"/>
          </a:xfrm>
          <a:prstGeom prst="rect">
            <a:avLst/>
          </a:prstGeom>
        </p:spPr>
      </p:pic>
      <p:sp>
        <p:nvSpPr>
          <p:cNvPr id="25" name="TextBox 24"/>
          <p:cNvSpPr txBox="1"/>
          <p:nvPr/>
        </p:nvSpPr>
        <p:spPr>
          <a:xfrm>
            <a:off x="1289304" y="44988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на reasoning</a:t>
            </a:r>
          </a:p>
        </p:txBody>
      </p:sp>
      <p:sp>
        <p:nvSpPr>
          <p:cNvPr id="26" name="TextBox 25"/>
          <p:cNvSpPr txBox="1"/>
          <p:nvPr/>
        </p:nvSpPr>
        <p:spPr>
          <a:xfrm>
            <a:off x="3291839" y="44897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не применять к «подумай и реши»</a:t>
            </a:r>
          </a:p>
        </p:txBody>
      </p:sp>
      <p:sp>
        <p:nvSpPr>
          <p:cNvPr id="27" name="TextBox 26"/>
          <p:cNvSpPr txBox="1"/>
          <p:nvPr/>
        </p:nvSpPr>
        <p:spPr>
          <a:xfrm>
            <a:off x="3291839" y="4837176"/>
            <a:ext cx="3474720" cy="310896"/>
          </a:xfrm>
          <a:prstGeom prst="rect">
            <a:avLst/>
          </a:prstGeom>
          <a:noFill/>
        </p:spPr>
        <p:txBody>
          <a:bodyPr wrap="square" lIns="0" rIns="0" tIns="0" bIns="0" anchor="t">
            <a:spAutoFit/>
          </a:bodyPr>
          <a:lstStyle/>
          <a:p>
            <a:pPr algn="l">
              <a:lnSpc>
                <a:spcPct val="115000"/>
              </a:lnSpc>
            </a:pPr>
            <a:r>
              <a:rPr sz="1150" b="0" i="1">
                <a:solidFill>
                  <a:srgbClr val="21295C"/>
                </a:solidFill>
                <a:latin typeface="Arial"/>
              </a:rPr>
              <a:t>reasoning tax</a:t>
            </a:r>
          </a:p>
        </p:txBody>
      </p:sp>
      <p:sp>
        <p:nvSpPr>
          <p:cNvPr id="28" name="Rounded Rectangle 27"/>
          <p:cNvSpPr/>
          <p:nvPr/>
        </p:nvSpPr>
        <p:spPr>
          <a:xfrm>
            <a:off x="7223760" y="1627632"/>
            <a:ext cx="4526280"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fmt-twobuttons-ru.png"/>
          <p:cNvPicPr>
            <a:picLocks noChangeAspect="1"/>
          </p:cNvPicPr>
          <p:nvPr/>
        </p:nvPicPr>
        <p:blipFill>
          <a:blip r:embed="rId6"/>
          <a:stretch>
            <a:fillRect/>
          </a:stretch>
        </p:blipFill>
        <p:spPr>
          <a:xfrm>
            <a:off x="8414393" y="1755648"/>
            <a:ext cx="2145013" cy="3246120"/>
          </a:xfrm>
          <a:prstGeom prst="rect">
            <a:avLst/>
          </a:prstGeom>
        </p:spPr>
      </p:pic>
      <p:sp>
        <p:nvSpPr>
          <p:cNvPr id="30" name="Rounded Rectangle 29"/>
          <p:cNvSpPr/>
          <p:nvPr/>
        </p:nvSpPr>
        <p:spPr>
          <a:xfrm>
            <a:off x="502920" y="523036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285231"/>
            <a:ext cx="10799064"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принуждай структуру ВЫХОДА на рассуждающих задачах: GSM8K падает 76,6% → 49,3% (та же модель, только требование JSON). Митигация — двухходовка «сначала свободно рассуждать, потом переформатировать» (+6,8 п.п.).</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67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393192" y="3675888"/>
            <a:ext cx="3840480" cy="2596896"/>
          </a:xfrm>
          <a:prstGeom prst="roundRect">
            <a:avLst>
              <a:gd name="adj" fmla="val 117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6-distracted-ru.png"/>
          <p:cNvPicPr>
            <a:picLocks noChangeAspect="1"/>
          </p:cNvPicPr>
          <p:nvPr/>
        </p:nvPicPr>
        <p:blipFill>
          <a:blip r:embed="rId2"/>
          <a:stretch>
            <a:fillRect/>
          </a:stretch>
        </p:blipFill>
        <p:spPr>
          <a:xfrm>
            <a:off x="502920" y="3767328"/>
            <a:ext cx="3621024" cy="2414016"/>
          </a:xfrm>
          <a:prstGeom prst="rect">
            <a:avLst/>
          </a:prstGeom>
        </p:spPr>
      </p:pic>
      <p:sp>
        <p:nvSpPr>
          <p:cNvPr id="15" name="Rounded Rectangle 14"/>
          <p:cNvSpPr/>
          <p:nvPr/>
        </p:nvSpPr>
        <p:spPr>
          <a:xfrm>
            <a:off x="4526280" y="4187952"/>
            <a:ext cx="7159751" cy="15727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4315968"/>
            <a:ext cx="6537959" cy="1316736"/>
          </a:xfrm>
          <a:prstGeom prst="rect">
            <a:avLst/>
          </a:prstGeom>
          <a:noFill/>
        </p:spPr>
        <p:txBody>
          <a:bodyPr wrap="square" lIns="0" rIns="0" tIns="0" bIns="0" anchor="ctr">
            <a:spAutoFit/>
          </a:bodyPr>
          <a:lstStyle/>
          <a:p>
            <a:pPr algn="l">
              <a:lnSpc>
                <a:spcPct val="118000"/>
              </a:lnSpc>
            </a:pPr>
            <a:r>
              <a:rPr sz="2100" b="1" i="0">
                <a:solidFill>
                  <a:srgbClr val="21295C"/>
                </a:solidFill>
                <a:latin typeface="Arial"/>
              </a:rPr>
              <a:t>Проверяй результат</a:t>
            </a:r>
            <a:r>
              <a:rPr sz="2100" b="1" i="0">
                <a:solidFill>
                  <a:srgbClr val="21295C"/>
                </a:solidFill>
                <a:latin typeface="Arial"/>
              </a:rPr>
              <a:t>, а не самообъяснение модели.</a:t>
            </a:r>
          </a:p>
          <a:p>
            <a:pPr algn="l">
              <a:lnSpc>
                <a:spcPct val="118000"/>
              </a:lnSpc>
              <a:spcBef>
                <a:spcPts val="800"/>
              </a:spcBef>
            </a:pPr>
            <a:r>
              <a:rPr sz="1500" b="0" i="0">
                <a:solidFill>
                  <a:srgbClr val="21295C"/>
                </a:solidFill>
                <a:latin typeface="Arial"/>
              </a:rPr>
              <a:t>Сверяй факты с внешним источником — правдоподобный текст рассуждения ничего не подтверждает.</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67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92608"/>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Как это выглядит на реальных задачах — четыре типовых класса.</a:t>
            </a:r>
          </a:p>
        </p:txBody>
      </p:sp>
      <p:sp>
        <p:nvSpPr>
          <p:cNvPr id="3" name="TextBox 2"/>
          <p:cNvSpPr txBox="1"/>
          <p:nvPr/>
        </p:nvSpPr>
        <p:spPr>
          <a:xfrm>
            <a:off x="502920" y="676656"/>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1</a:t>
            </a:r>
          </a:p>
        </p:txBody>
      </p:sp>
      <p:sp>
        <p:nvSpPr>
          <p:cNvPr id="4" name="TextBox 3"/>
          <p:cNvSpPr txBox="1"/>
          <p:nvPr/>
        </p:nvSpPr>
        <p:spPr>
          <a:xfrm>
            <a:off x="502920" y="1024128"/>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Ассистент с инструментами: поднимайся по мини-лестнице.</a:t>
            </a:r>
          </a:p>
        </p:txBody>
      </p:sp>
      <p:sp>
        <p:nvSpPr>
          <p:cNvPr id="5" name="Rounded Rectangle 4"/>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assistant-simply-ru.png"/>
          <p:cNvPicPr>
            <a:picLocks noChangeAspect="1"/>
          </p:cNvPicPr>
          <p:nvPr/>
        </p:nvPicPr>
        <p:blipFill>
          <a:blip r:embed="rId2"/>
          <a:stretch>
            <a:fillRect/>
          </a:stretch>
        </p:blipFill>
        <p:spPr>
          <a:xfrm>
            <a:off x="722375" y="2381907"/>
            <a:ext cx="4636008" cy="2734265"/>
          </a:xfrm>
          <a:prstGeom prst="rect">
            <a:avLst/>
          </a:prstGeom>
        </p:spPr>
      </p:pic>
      <p:sp>
        <p:nvSpPr>
          <p:cNvPr id="7" name="Rounded Rectangle 6"/>
          <p:cNvSpPr/>
          <p:nvPr/>
        </p:nvSpPr>
        <p:spPr>
          <a:xfrm>
            <a:off x="5897880" y="1810512"/>
            <a:ext cx="58064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35624" y="1929384"/>
            <a:ext cx="5330952" cy="274320"/>
          </a:xfrm>
          <a:prstGeom prst="rect">
            <a:avLst/>
          </a:prstGeom>
          <a:noFill/>
        </p:spPr>
        <p:txBody>
          <a:bodyPr wrap="square" lIns="0" rIns="0" tIns="0" bIns="0" anchor="t">
            <a:spAutoFit/>
          </a:bodyPr>
          <a:lstStyle/>
          <a:p>
            <a:pPr algn="l">
              <a:lnSpc>
                <a:spcPct val="115000"/>
              </a:lnSpc>
            </a:pPr>
            <a:r>
              <a:rPr sz="1250" b="1" i="0">
                <a:solidFill>
                  <a:srgbClr val="1C7293"/>
                </a:solidFill>
                <a:latin typeface="Arial"/>
              </a:rPr>
              <a:t>Постановка</a:t>
            </a:r>
          </a:p>
        </p:txBody>
      </p:sp>
      <p:sp>
        <p:nvSpPr>
          <p:cNvPr id="9" name="TextBox 8"/>
          <p:cNvSpPr txBox="1"/>
          <p:nvPr/>
        </p:nvSpPr>
        <p:spPr>
          <a:xfrm>
            <a:off x="6135624" y="2231136"/>
            <a:ext cx="5330952"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Пользователь просит не «текст», а «сделай»: узнать во внешней системе и/или совершить действие.</a:t>
            </a:r>
          </a:p>
        </p:txBody>
      </p:sp>
      <p:sp>
        <p:nvSpPr>
          <p:cNvPr id="10" name="Rounded Rectangle 9"/>
          <p:cNvSpPr/>
          <p:nvPr/>
        </p:nvSpPr>
        <p:spPr>
          <a:xfrm>
            <a:off x="5897880" y="2999232"/>
            <a:ext cx="580644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ute-teal.png"/>
          <p:cNvPicPr>
            <a:picLocks noChangeAspect="1"/>
          </p:cNvPicPr>
          <p:nvPr/>
        </p:nvPicPr>
        <p:blipFill>
          <a:blip r:embed="rId3"/>
          <a:stretch>
            <a:fillRect/>
          </a:stretch>
        </p:blipFill>
        <p:spPr>
          <a:xfrm>
            <a:off x="6135624" y="3163824"/>
            <a:ext cx="384048" cy="384048"/>
          </a:xfrm>
          <a:prstGeom prst="rect">
            <a:avLst/>
          </a:prstGeom>
        </p:spPr>
      </p:pic>
      <p:sp>
        <p:nvSpPr>
          <p:cNvPr id="12" name="TextBox 11"/>
          <p:cNvSpPr txBox="1"/>
          <p:nvPr/>
        </p:nvSpPr>
        <p:spPr>
          <a:xfrm>
            <a:off x="6647688" y="3163824"/>
            <a:ext cx="4846320" cy="384048"/>
          </a:xfrm>
          <a:prstGeom prst="rect">
            <a:avLst/>
          </a:prstGeom>
          <a:noFill/>
        </p:spPr>
        <p:txBody>
          <a:bodyPr wrap="square" lIns="0" rIns="0" tIns="0" bIns="0" anchor="ctr">
            <a:spAutoFit/>
          </a:bodyPr>
          <a:lstStyle/>
          <a:p>
            <a:pPr algn="l">
              <a:lnSpc>
                <a:spcPct val="102000"/>
              </a:lnSpc>
            </a:pPr>
            <a:r>
              <a:rPr sz="1450" b="1" i="0">
                <a:solidFill>
                  <a:srgbClr val="028090"/>
                </a:solidFill>
                <a:latin typeface="Arial"/>
              </a:rPr>
              <a:t>One-shot → tool-use → агент</a:t>
            </a:r>
          </a:p>
        </p:txBody>
      </p:sp>
      <p:sp>
        <p:nvSpPr>
          <p:cNvPr id="13" name="TextBox 12"/>
          <p:cNvSpPr txBox="1"/>
          <p:nvPr/>
        </p:nvSpPr>
        <p:spPr>
          <a:xfrm>
            <a:off x="6135624" y="3621024"/>
            <a:ext cx="5330952" cy="74980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Знает ответ, действие не нужно → один вызов. Нужен доступ, шаги известны заранее → tool-use в коде. Шаги неизвестны, есть чем проверить прогресс → агент.</a:t>
            </a:r>
          </a:p>
        </p:txBody>
      </p:sp>
      <p:sp>
        <p:nvSpPr>
          <p:cNvPr id="14" name="Rounded Rectangle 13"/>
          <p:cNvSpPr/>
          <p:nvPr/>
        </p:nvSpPr>
        <p:spPr>
          <a:xfrm>
            <a:off x="5897880" y="4590288"/>
            <a:ext cx="580644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8" y="4645151"/>
            <a:ext cx="5404103" cy="98755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Провал: прыжок сразу к агенту там, где хватило бы одного вызова инструмента, — это ровно петля на $4 200 (Раздел 4), где предсказуемую синхронизацию отдали агенту вместо retry-скрипта.</a:t>
            </a:r>
          </a:p>
        </p:txBody>
      </p:sp>
      <p:sp>
        <p:nvSpPr>
          <p:cNvPr id="16" name="TextBox 1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Подниматься по мини-лестнице только под требование задачи — не потому, что «агент звучит мощнее».</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67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2</a:t>
            </a:r>
          </a:p>
        </p:txBody>
      </p:sp>
      <p:sp>
        <p:nvSpPr>
          <p:cNvPr id="3" name="TextBox 2"/>
          <p:cNvSpPr txBox="1"/>
          <p:nvPr/>
        </p:nvSpPr>
        <p:spPr>
          <a:xfrm>
            <a:off x="502920" y="713232"/>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Текст в заданном тоне: few-shot по образцам.</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ask-tone-fry-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5624" y="1929384"/>
            <a:ext cx="5330952" cy="274320"/>
          </a:xfrm>
          <a:prstGeom prst="rect">
            <a:avLst/>
          </a:prstGeom>
          <a:noFill/>
        </p:spPr>
        <p:txBody>
          <a:bodyPr wrap="square" lIns="0" rIns="0" tIns="0" bIns="0" anchor="t">
            <a:spAutoFit/>
          </a:bodyPr>
          <a:lstStyle/>
          <a:p>
            <a:pPr algn="l">
              <a:lnSpc>
                <a:spcPct val="115000"/>
              </a:lnSpc>
            </a:pPr>
            <a:r>
              <a:rPr sz="1250" b="1" i="0">
                <a:solidFill>
                  <a:srgbClr val="1C7293"/>
                </a:solidFill>
                <a:latin typeface="Arial"/>
              </a:rPr>
              <a:t>Постановка</a:t>
            </a:r>
          </a:p>
        </p:txBody>
      </p:sp>
      <p:sp>
        <p:nvSpPr>
          <p:cNvPr id="8" name="TextBox 7"/>
          <p:cNvSpPr txBox="1"/>
          <p:nvPr/>
        </p:nvSpPr>
        <p:spPr>
          <a:xfrm>
            <a:off x="6135624" y="2231136"/>
            <a:ext cx="5330952"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Нужен текст в определённом голосе, стиле, регистре: бренд-письмо, ответ поддержки, черновик «как человек».</a:t>
            </a:r>
          </a:p>
        </p:txBody>
      </p:sp>
      <p:sp>
        <p:nvSpPr>
          <p:cNvPr id="9" name="Rounded Rectangle 8"/>
          <p:cNvSpPr/>
          <p:nvPr/>
        </p:nvSpPr>
        <p:spPr>
          <a:xfrm>
            <a:off x="5897880" y="2999232"/>
            <a:ext cx="580644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teal.png"/>
          <p:cNvPicPr>
            <a:picLocks noChangeAspect="1"/>
          </p:cNvPicPr>
          <p:nvPr/>
        </p:nvPicPr>
        <p:blipFill>
          <a:blip r:embed="rId3"/>
          <a:stretch>
            <a:fillRect/>
          </a:stretch>
        </p:blipFill>
        <p:spPr>
          <a:xfrm>
            <a:off x="6135624" y="3163824"/>
            <a:ext cx="384048" cy="384048"/>
          </a:xfrm>
          <a:prstGeom prst="rect">
            <a:avLst/>
          </a:prstGeom>
        </p:spPr>
      </p:pic>
      <p:sp>
        <p:nvSpPr>
          <p:cNvPr id="11" name="TextBox 10"/>
          <p:cNvSpPr txBox="1"/>
          <p:nvPr/>
        </p:nvSpPr>
        <p:spPr>
          <a:xfrm>
            <a:off x="6647688" y="3163824"/>
            <a:ext cx="4846320" cy="384048"/>
          </a:xfrm>
          <a:prstGeom prst="rect">
            <a:avLst/>
          </a:prstGeom>
          <a:noFill/>
        </p:spPr>
        <p:txBody>
          <a:bodyPr wrap="square" lIns="0" rIns="0" tIns="0" bIns="0" anchor="ctr">
            <a:spAutoFit/>
          </a:bodyPr>
          <a:lstStyle/>
          <a:p>
            <a:pPr algn="l">
              <a:lnSpc>
                <a:spcPct val="102000"/>
              </a:lnSpc>
            </a:pPr>
            <a:r>
              <a:rPr sz="1450" b="1" i="0">
                <a:solidFill>
                  <a:srgbClr val="028090"/>
                </a:solidFill>
                <a:latin typeface="Arial"/>
              </a:rPr>
              <a:t>Few-shot style transfer</a:t>
            </a:r>
          </a:p>
        </p:txBody>
      </p:sp>
      <p:sp>
        <p:nvSpPr>
          <p:cNvPr id="12" name="TextBox 11"/>
          <p:cNvSpPr txBox="1"/>
          <p:nvPr/>
        </p:nvSpPr>
        <p:spPr>
          <a:xfrm>
            <a:off x="6135624" y="3621024"/>
            <a:ext cx="5330952" cy="74980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3–5 образцов авторского текста в примерах → генерация в том же стиле. Модели копируют публичных персон, но буксуют на индивидуальном стиле рядового автора.</a:t>
            </a:r>
          </a:p>
        </p:txBody>
      </p:sp>
      <p:sp>
        <p:nvSpPr>
          <p:cNvPr id="13" name="Rounded Rectangle 12"/>
          <p:cNvSpPr/>
          <p:nvPr/>
        </p:nvSpPr>
        <p:spPr>
          <a:xfrm>
            <a:off x="5897880" y="4590288"/>
            <a:ext cx="580644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9048" y="4645151"/>
            <a:ext cx="5404103" cy="98755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Провал суждения: AI-детекторам нельзя верить как доказательству. Часть детекторов даёт точность ниже 80%, тексты не-нейтивов флагаются как ИИ до +30% чаще, точность падает после перефразирования.</a:t>
            </a:r>
          </a:p>
        </p:txBody>
      </p:sp>
      <p:sp>
        <p:nvSpPr>
          <p:cNvPr id="15" name="TextBox 14"/>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Детектору нельзя доверять ни как «щиту» (доказать ИИ), ни как «мечу» (гарантированно спрятать ИИ).</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67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3</a:t>
            </a:r>
          </a:p>
        </p:txBody>
      </p:sp>
      <p:sp>
        <p:nvSpPr>
          <p:cNvPr id="3" name="TextBox 2"/>
          <p:cNvSpPr txBox="1"/>
          <p:nvPr/>
        </p:nvSpPr>
        <p:spPr>
          <a:xfrm>
            <a:off x="502920" y="713232"/>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Deep research: RAG + петля + проверка цитат.</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ask-research-panik-ru.png"/>
          <p:cNvPicPr>
            <a:picLocks noChangeAspect="1"/>
          </p:cNvPicPr>
          <p:nvPr/>
        </p:nvPicPr>
        <p:blipFill>
          <a:blip r:embed="rId2"/>
          <a:stretch>
            <a:fillRect/>
          </a:stretch>
        </p:blipFill>
        <p:spPr>
          <a:xfrm>
            <a:off x="1791564" y="2029967"/>
            <a:ext cx="2497630" cy="3438144"/>
          </a:xfrm>
          <a:prstGeom prst="rect">
            <a:avLst/>
          </a:prstGeom>
        </p:spPr>
      </p:pic>
      <p:sp>
        <p:nvSpPr>
          <p:cNvPr id="6" name="Rounded Rectangle 5"/>
          <p:cNvSpPr/>
          <p:nvPr/>
        </p:nvSpPr>
        <p:spPr>
          <a:xfrm>
            <a:off x="5897880" y="1810512"/>
            <a:ext cx="58064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5624" y="1929384"/>
            <a:ext cx="5330952" cy="274320"/>
          </a:xfrm>
          <a:prstGeom prst="rect">
            <a:avLst/>
          </a:prstGeom>
          <a:noFill/>
        </p:spPr>
        <p:txBody>
          <a:bodyPr wrap="square" lIns="0" rIns="0" tIns="0" bIns="0" anchor="t">
            <a:spAutoFit/>
          </a:bodyPr>
          <a:lstStyle/>
          <a:p>
            <a:pPr algn="l">
              <a:lnSpc>
                <a:spcPct val="115000"/>
              </a:lnSpc>
            </a:pPr>
            <a:r>
              <a:rPr sz="1250" b="1" i="0">
                <a:solidFill>
                  <a:srgbClr val="1C7293"/>
                </a:solidFill>
                <a:latin typeface="Arial"/>
              </a:rPr>
              <a:t>Постановка</a:t>
            </a:r>
          </a:p>
        </p:txBody>
      </p:sp>
      <p:sp>
        <p:nvSpPr>
          <p:cNvPr id="8" name="TextBox 7"/>
          <p:cNvSpPr txBox="1"/>
          <p:nvPr/>
        </p:nvSpPr>
        <p:spPr>
          <a:xfrm>
            <a:off x="6135624" y="2231136"/>
            <a:ext cx="5330952"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«Собери и сопоставь информацию по вопросу, дай отчёт со ссылками» — как Deep Research, Perplexity, Claude Research.</a:t>
            </a:r>
          </a:p>
        </p:txBody>
      </p:sp>
      <p:sp>
        <p:nvSpPr>
          <p:cNvPr id="9" name="Rounded Rectangle 8"/>
          <p:cNvSpPr/>
          <p:nvPr/>
        </p:nvSpPr>
        <p:spPr>
          <a:xfrm>
            <a:off x="5897880" y="2999232"/>
            <a:ext cx="580644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ok-open-teal.png"/>
          <p:cNvPicPr>
            <a:picLocks noChangeAspect="1"/>
          </p:cNvPicPr>
          <p:nvPr/>
        </p:nvPicPr>
        <p:blipFill>
          <a:blip r:embed="rId3"/>
          <a:stretch>
            <a:fillRect/>
          </a:stretch>
        </p:blipFill>
        <p:spPr>
          <a:xfrm>
            <a:off x="6135624" y="3163824"/>
            <a:ext cx="384048" cy="384048"/>
          </a:xfrm>
          <a:prstGeom prst="rect">
            <a:avLst/>
          </a:prstGeom>
        </p:spPr>
      </p:pic>
      <p:sp>
        <p:nvSpPr>
          <p:cNvPr id="11" name="TextBox 10"/>
          <p:cNvSpPr txBox="1"/>
          <p:nvPr/>
        </p:nvSpPr>
        <p:spPr>
          <a:xfrm>
            <a:off x="6647688" y="3163824"/>
            <a:ext cx="4846320" cy="384048"/>
          </a:xfrm>
          <a:prstGeom prst="rect">
            <a:avLst/>
          </a:prstGeom>
          <a:noFill/>
        </p:spPr>
        <p:txBody>
          <a:bodyPr wrap="square" lIns="0" rIns="0" tIns="0" bIns="0" anchor="ctr">
            <a:spAutoFit/>
          </a:bodyPr>
          <a:lstStyle/>
          <a:p>
            <a:pPr algn="l">
              <a:lnSpc>
                <a:spcPct val="102000"/>
              </a:lnSpc>
            </a:pPr>
            <a:r>
              <a:rPr sz="1450" b="1" i="0">
                <a:solidFill>
                  <a:srgbClr val="028090"/>
                </a:solidFill>
                <a:latin typeface="Arial"/>
              </a:rPr>
              <a:t>Агентный RAG + верификация цитат</a:t>
            </a:r>
          </a:p>
        </p:txBody>
      </p:sp>
      <p:sp>
        <p:nvSpPr>
          <p:cNvPr id="12" name="TextBox 11"/>
          <p:cNvSpPr txBox="1"/>
          <p:nvPr/>
        </p:nvSpPr>
        <p:spPr>
          <a:xfrm>
            <a:off x="6135624" y="3621024"/>
            <a:ext cx="5330952" cy="74980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Петля: уточнить интент → план → поиск и чтение → синтез → самокритика → привязка к URL. Строить самому — та же связка retrieval + агентная петля + шаг проверки источников.</a:t>
            </a:r>
          </a:p>
        </p:txBody>
      </p:sp>
      <p:sp>
        <p:nvSpPr>
          <p:cNvPr id="13" name="Rounded Rectangle 12"/>
          <p:cNvSpPr/>
          <p:nvPr/>
        </p:nvSpPr>
        <p:spPr>
          <a:xfrm>
            <a:off x="5897880" y="4590288"/>
            <a:ext cx="580644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9048" y="4645151"/>
            <a:ext cx="5404103" cy="98755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Провал: агенты ФАБРИКУЮТ цитаты. 3–13% URL сфабрикованы; deep research хуже обычного поиска (10,7% против 4,8% фейковых цитат на запрос — агент генерирует их кратно больше). Число без базы — красный флаг, а не факт.</a:t>
            </a:r>
          </a:p>
        </p:txBody>
      </p:sp>
      <p:sp>
        <p:nvSpPr>
          <p:cNvPr id="15" name="TextBox 14"/>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Любую метрику из ИИ-ресёрча перепроверяй по резолвящемуся первоисточнику — это замыкает раздел на дисциплину базы.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4</a:t>
            </a:r>
          </a:p>
        </p:txBody>
      </p:sp>
      <p:sp>
        <p:nvSpPr>
          <p:cNvPr id="3" name="TextBox 2"/>
          <p:cNvSpPr txBox="1"/>
          <p:nvPr/>
        </p:nvSpPr>
        <p:spPr>
          <a:xfrm>
            <a:off x="502920" y="713232"/>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Извлечение в JSON: строгая схема помогает.</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ask-extract-trade-ru.png"/>
          <p:cNvPicPr>
            <a:picLocks noChangeAspect="1"/>
          </p:cNvPicPr>
          <p:nvPr/>
        </p:nvPicPr>
        <p:blipFill>
          <a:blip r:embed="rId2"/>
          <a:stretch>
            <a:fillRect/>
          </a:stretch>
        </p:blipFill>
        <p:spPr>
          <a:xfrm>
            <a:off x="1726177" y="2029967"/>
            <a:ext cx="2628405" cy="3438144"/>
          </a:xfrm>
          <a:prstGeom prst="rect">
            <a:avLst/>
          </a:prstGeom>
        </p:spPr>
      </p:pic>
      <p:sp>
        <p:nvSpPr>
          <p:cNvPr id="6" name="Rounded Rectangle 5"/>
          <p:cNvSpPr/>
          <p:nvPr/>
        </p:nvSpPr>
        <p:spPr>
          <a:xfrm>
            <a:off x="5897880" y="1810512"/>
            <a:ext cx="58064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5624" y="1929384"/>
            <a:ext cx="5330952" cy="274320"/>
          </a:xfrm>
          <a:prstGeom prst="rect">
            <a:avLst/>
          </a:prstGeom>
          <a:noFill/>
        </p:spPr>
        <p:txBody>
          <a:bodyPr wrap="square" lIns="0" rIns="0" tIns="0" bIns="0" anchor="t">
            <a:spAutoFit/>
          </a:bodyPr>
          <a:lstStyle/>
          <a:p>
            <a:pPr algn="l">
              <a:lnSpc>
                <a:spcPct val="115000"/>
              </a:lnSpc>
            </a:pPr>
            <a:r>
              <a:rPr sz="1250" b="1" i="0">
                <a:solidFill>
                  <a:srgbClr val="1C7293"/>
                </a:solidFill>
                <a:latin typeface="Arial"/>
              </a:rPr>
              <a:t>Постановка</a:t>
            </a:r>
          </a:p>
        </p:txBody>
      </p:sp>
      <p:sp>
        <p:nvSpPr>
          <p:cNvPr id="8" name="TextBox 7"/>
          <p:cNvSpPr txBox="1"/>
          <p:nvPr/>
        </p:nvSpPr>
        <p:spPr>
          <a:xfrm>
            <a:off x="6135624" y="2231136"/>
            <a:ext cx="5330952"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Из текста достать поля по фиксированной структуре (сущности, атрибуты, класс) — вход для кода, не для чтения.</a:t>
            </a:r>
          </a:p>
        </p:txBody>
      </p:sp>
      <p:sp>
        <p:nvSpPr>
          <p:cNvPr id="9" name="Rounded Rectangle 8"/>
          <p:cNvSpPr/>
          <p:nvPr/>
        </p:nvSpPr>
        <p:spPr>
          <a:xfrm>
            <a:off x="5897880" y="2999232"/>
            <a:ext cx="580644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ces-teal.png"/>
          <p:cNvPicPr>
            <a:picLocks noChangeAspect="1"/>
          </p:cNvPicPr>
          <p:nvPr/>
        </p:nvPicPr>
        <p:blipFill>
          <a:blip r:embed="rId3"/>
          <a:stretch>
            <a:fillRect/>
          </a:stretch>
        </p:blipFill>
        <p:spPr>
          <a:xfrm>
            <a:off x="6135624" y="3163824"/>
            <a:ext cx="384048" cy="384048"/>
          </a:xfrm>
          <a:prstGeom prst="rect">
            <a:avLst/>
          </a:prstGeom>
        </p:spPr>
      </p:pic>
      <p:sp>
        <p:nvSpPr>
          <p:cNvPr id="11" name="TextBox 10"/>
          <p:cNvSpPr txBox="1"/>
          <p:nvPr/>
        </p:nvSpPr>
        <p:spPr>
          <a:xfrm>
            <a:off x="6647688" y="3163824"/>
            <a:ext cx="4846320" cy="384048"/>
          </a:xfrm>
          <a:prstGeom prst="rect">
            <a:avLst/>
          </a:prstGeom>
          <a:noFill/>
        </p:spPr>
        <p:txBody>
          <a:bodyPr wrap="square" lIns="0" rIns="0" tIns="0" bIns="0" anchor="ctr">
            <a:spAutoFit/>
          </a:bodyPr>
          <a:lstStyle/>
          <a:p>
            <a:pPr algn="l">
              <a:lnSpc>
                <a:spcPct val="102000"/>
              </a:lnSpc>
            </a:pPr>
            <a:r>
              <a:rPr sz="1450" b="1" i="0">
                <a:solidFill>
                  <a:srgbClr val="028090"/>
                </a:solidFill>
                <a:latin typeface="Arial"/>
              </a:rPr>
              <a:t>Constrained decoding / JSON mode</a:t>
            </a:r>
          </a:p>
        </p:txBody>
      </p:sp>
      <p:sp>
        <p:nvSpPr>
          <p:cNvPr id="12" name="TextBox 11"/>
          <p:cNvSpPr txBox="1"/>
          <p:nvPr/>
        </p:nvSpPr>
        <p:spPr>
          <a:xfrm>
            <a:off x="6135624" y="3621024"/>
            <a:ext cx="5330952" cy="74980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Ограничение сэмплинга только допустимыми по грамматике токенами даёт близкое к 100% соответствие схеме. JSON — интерфейс между моделью и кодом, а не формат для размышления.</a:t>
            </a:r>
          </a:p>
        </p:txBody>
      </p:sp>
      <p:sp>
        <p:nvSpPr>
          <p:cNvPr id="13" name="Rounded Rectangle 12"/>
          <p:cNvSpPr/>
          <p:nvPr/>
        </p:nvSpPr>
        <p:spPr>
          <a:xfrm>
            <a:off x="5897880" y="4590288"/>
            <a:ext cx="580644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9048" y="4645151"/>
            <a:ext cx="5404103" cy="98755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Граница: тот же JSON на «подумай и реши» роняет качество (reasoning tax из разбора форматов). Применяй строгую схему на стыке с кодом — извлечение, классификация, function calling; не насилуй им рассуждение.</a:t>
            </a:r>
          </a:p>
        </p:txBody>
      </p:sp>
      <p:sp>
        <p:nvSpPr>
          <p:cNvPr id="15" name="TextBox 14"/>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Извлечение и классификация — единственный класс, где принуждение формата выхода надёжно помогает.</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8" name="Rounded Rectangle 7"/>
          <p:cNvSpPr/>
          <p:nvPr/>
        </p:nvSpPr>
        <p:spPr>
          <a:xfrm>
            <a:off x="713232" y="5212080"/>
            <a:ext cx="528523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классический поиск: инвертированный индекс и BM25.</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Буква R в RAG — retrieval, поиск. Это инвертированный индекс, булев отбор и ранжирование BM25. Их устройство определяет, где RAG работает, а где ломается.</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Инвертированный индекс</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Для каждого слова — список документов, где оно встречается (машинный каталог). Фундамент Lucene, Elasticsearch, PostgreSQL full-text.</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Булев поиск</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Запрос как логическое выражение («ошибка AND аутентификация NOT tomcat»): точный, предсказуемый, объяснимый отбор.</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TF-IDF → BM25</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Ранжирование по важности слова (реже в коллекции — сильнее сигнал). BM25 (Okapi) — дешёвая объяснимая линия, которую многие не обгоняют.</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Классика точна на кодах и идентификаторах, где смысл-поиск размывает. Сильный RAG-2026 — гибрид BM25 + плотные векторы, лексические фильтры по метаданным, дисциплина ранжирования (реранкер) и наблюдаемость: recall/precision на эталонном наборе (golden set).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семантический поиск на эмбеддингах (Лекция 2) добавляет поверх классики смысловое совпадение вместо лексического — но не заменяет её. RAG расширяет классический поиск, а не отменяет его.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же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«хоть что-то».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Гибридный поиск: две ступени, слитые по рангам.</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BM25 ловит точные слова, векторы — смысл. Их сливают по рангам (RRF), потом уточняют реранкером. Гибрид не бесплатен — берут под измеренный разрыв.</a:t>
            </a:r>
          </a:p>
        </p:txBody>
      </p:sp>
      <p:sp>
        <p:nvSpPr>
          <p:cNvPr id="4" name="Rounded Rectangle 3"/>
          <p:cNvSpPr/>
          <p:nvPr/>
        </p:nvSpPr>
        <p:spPr>
          <a:xfrm>
            <a:off x="502920" y="1700784"/>
            <a:ext cx="278892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ordered-mid.png"/>
          <p:cNvPicPr>
            <a:picLocks noChangeAspect="1"/>
          </p:cNvPicPr>
          <p:nvPr/>
        </p:nvPicPr>
        <p:blipFill>
          <a:blip r:embed="rId2"/>
          <a:stretch>
            <a:fillRect/>
          </a:stretch>
        </p:blipFill>
        <p:spPr>
          <a:xfrm>
            <a:off x="713232" y="1883664"/>
            <a:ext cx="365760" cy="365760"/>
          </a:xfrm>
          <a:prstGeom prst="rect">
            <a:avLst/>
          </a:prstGeom>
        </p:spPr>
      </p:pic>
      <p:sp>
        <p:nvSpPr>
          <p:cNvPr id="6" name="TextBox 5"/>
          <p:cNvSpPr txBox="1"/>
          <p:nvPr/>
        </p:nvSpPr>
        <p:spPr>
          <a:xfrm>
            <a:off x="1225296" y="1847088"/>
            <a:ext cx="196596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BM25</a:t>
            </a:r>
          </a:p>
        </p:txBody>
      </p:sp>
      <p:sp>
        <p:nvSpPr>
          <p:cNvPr id="7" name="TextBox 6"/>
          <p:cNvSpPr txBox="1"/>
          <p:nvPr/>
        </p:nvSpPr>
        <p:spPr>
          <a:xfrm>
            <a:off x="713232" y="2231136"/>
            <a:ext cx="2368296" cy="457200"/>
          </a:xfrm>
          <a:prstGeom prst="rect">
            <a:avLst/>
          </a:prstGeom>
          <a:noFill/>
        </p:spPr>
        <p:txBody>
          <a:bodyPr wrap="square" lIns="0" rIns="0" tIns="0" bIns="0" anchor="t">
            <a:spAutoFit/>
          </a:bodyPr>
          <a:lstStyle/>
          <a:p>
            <a:pPr algn="l">
              <a:lnSpc>
                <a:spcPct val="106000"/>
              </a:lnSpc>
            </a:pPr>
            <a:r>
              <a:rPr sz="1150" b="0" i="0">
                <a:solidFill>
                  <a:srgbClr val="21295C"/>
                </a:solidFill>
                <a:latin typeface="Arial"/>
              </a:rPr>
              <a:t>разреженный, лексика: коды, ID, редкие термины</a:t>
            </a:r>
          </a:p>
        </p:txBody>
      </p:sp>
      <p:sp>
        <p:nvSpPr>
          <p:cNvPr id="8" name="Rounded Rectangle 7"/>
          <p:cNvSpPr/>
          <p:nvPr/>
        </p:nvSpPr>
        <p:spPr>
          <a:xfrm>
            <a:off x="502920" y="2980944"/>
            <a:ext cx="2788920" cy="106070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rain-circuit-teal.png"/>
          <p:cNvPicPr>
            <a:picLocks noChangeAspect="1"/>
          </p:cNvPicPr>
          <p:nvPr/>
        </p:nvPicPr>
        <p:blipFill>
          <a:blip r:embed="rId3"/>
          <a:stretch>
            <a:fillRect/>
          </a:stretch>
        </p:blipFill>
        <p:spPr>
          <a:xfrm>
            <a:off x="713232" y="3163824"/>
            <a:ext cx="365760" cy="365760"/>
          </a:xfrm>
          <a:prstGeom prst="rect">
            <a:avLst/>
          </a:prstGeom>
        </p:spPr>
      </p:pic>
      <p:sp>
        <p:nvSpPr>
          <p:cNvPr id="10" name="TextBox 9"/>
          <p:cNvSpPr txBox="1"/>
          <p:nvPr/>
        </p:nvSpPr>
        <p:spPr>
          <a:xfrm>
            <a:off x="1225296" y="3127248"/>
            <a:ext cx="196596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Плотные векторы</a:t>
            </a:r>
          </a:p>
        </p:txBody>
      </p:sp>
      <p:sp>
        <p:nvSpPr>
          <p:cNvPr id="11" name="TextBox 10"/>
          <p:cNvSpPr txBox="1"/>
          <p:nvPr/>
        </p:nvSpPr>
        <p:spPr>
          <a:xfrm>
            <a:off x="713232" y="3511296"/>
            <a:ext cx="2368296" cy="457200"/>
          </a:xfrm>
          <a:prstGeom prst="rect">
            <a:avLst/>
          </a:prstGeom>
          <a:noFill/>
        </p:spPr>
        <p:txBody>
          <a:bodyPr wrap="square" lIns="0" rIns="0" tIns="0" bIns="0" anchor="t">
            <a:spAutoFit/>
          </a:bodyPr>
          <a:lstStyle/>
          <a:p>
            <a:pPr algn="l">
              <a:lnSpc>
                <a:spcPct val="106000"/>
              </a:lnSpc>
            </a:pPr>
            <a:r>
              <a:rPr sz="1150" b="0" i="0">
                <a:solidFill>
                  <a:srgbClr val="21295C"/>
                </a:solidFill>
                <a:latin typeface="Arial"/>
              </a:rPr>
              <a:t>смысл: перифраза, синоним; размывается на редких токенах</a:t>
            </a:r>
          </a:p>
        </p:txBody>
      </p:sp>
      <p:sp>
        <p:nvSpPr>
          <p:cNvPr id="12" name="Right Arrow 11"/>
          <p:cNvSpPr/>
          <p:nvPr/>
        </p:nvSpPr>
        <p:spPr>
          <a:xfrm>
            <a:off x="3337559" y="210312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3337559" y="3383279"/>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13632" y="1975104"/>
            <a:ext cx="2788920" cy="133502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git-merge-mid.png"/>
          <p:cNvPicPr>
            <a:picLocks noChangeAspect="1"/>
          </p:cNvPicPr>
          <p:nvPr/>
        </p:nvPicPr>
        <p:blipFill>
          <a:blip r:embed="rId4"/>
          <a:stretch>
            <a:fillRect/>
          </a:stretch>
        </p:blipFill>
        <p:spPr>
          <a:xfrm>
            <a:off x="5106924" y="2103120"/>
            <a:ext cx="402336" cy="402336"/>
          </a:xfrm>
          <a:prstGeom prst="rect">
            <a:avLst/>
          </a:prstGeom>
        </p:spPr>
      </p:pic>
      <p:sp>
        <p:nvSpPr>
          <p:cNvPr id="16" name="TextBox 15"/>
          <p:cNvSpPr txBox="1"/>
          <p:nvPr/>
        </p:nvSpPr>
        <p:spPr>
          <a:xfrm>
            <a:off x="4041648" y="2596896"/>
            <a:ext cx="2532887" cy="310896"/>
          </a:xfrm>
          <a:prstGeom prst="rect">
            <a:avLst/>
          </a:prstGeom>
          <a:noFill/>
        </p:spPr>
        <p:txBody>
          <a:bodyPr wrap="square" lIns="0" rIns="0" tIns="0" bIns="0" anchor="t">
            <a:spAutoFit/>
          </a:bodyPr>
          <a:lstStyle/>
          <a:p>
            <a:pPr algn="ctr">
              <a:lnSpc>
                <a:spcPct val="115000"/>
              </a:lnSpc>
            </a:pPr>
            <a:r>
              <a:rPr sz="1500" b="1" i="0">
                <a:solidFill>
                  <a:srgbClr val="21295C"/>
                </a:solidFill>
                <a:latin typeface="Arial"/>
              </a:rPr>
              <a:t>Слияние RRF</a:t>
            </a:r>
          </a:p>
        </p:txBody>
      </p:sp>
      <p:sp>
        <p:nvSpPr>
          <p:cNvPr id="17" name="TextBox 16"/>
          <p:cNvSpPr txBox="1"/>
          <p:nvPr/>
        </p:nvSpPr>
        <p:spPr>
          <a:xfrm>
            <a:off x="4059936" y="2926080"/>
            <a:ext cx="2496312" cy="566928"/>
          </a:xfrm>
          <a:prstGeom prst="rect">
            <a:avLst/>
          </a:prstGeom>
          <a:noFill/>
        </p:spPr>
        <p:txBody>
          <a:bodyPr wrap="square" lIns="0" rIns="0" tIns="0" bIns="0" anchor="t">
            <a:spAutoFit/>
          </a:bodyPr>
          <a:lstStyle/>
          <a:p>
            <a:pPr algn="ctr">
              <a:lnSpc>
                <a:spcPct val="106000"/>
              </a:lnSpc>
            </a:pPr>
            <a:r>
              <a:rPr sz="1250" b="1" i="0">
                <a:solidFill>
                  <a:srgbClr val="065A82"/>
                </a:solidFill>
                <a:latin typeface="Liberation Mono"/>
              </a:rPr>
              <a:t>score = Σ 1 / (k + ранг),  k ≈ 60</a:t>
            </a:r>
          </a:p>
        </p:txBody>
      </p:sp>
      <p:sp>
        <p:nvSpPr>
          <p:cNvPr id="18" name="Right Arrow 17"/>
          <p:cNvSpPr/>
          <p:nvPr/>
        </p:nvSpPr>
        <p:spPr>
          <a:xfrm>
            <a:off x="6748272" y="2916936"/>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296912" y="1975104"/>
            <a:ext cx="4407408" cy="133502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gold.png"/>
          <p:cNvPicPr>
            <a:picLocks noChangeAspect="1"/>
          </p:cNvPicPr>
          <p:nvPr/>
        </p:nvPicPr>
        <p:blipFill>
          <a:blip r:embed="rId5"/>
          <a:stretch>
            <a:fillRect/>
          </a:stretch>
        </p:blipFill>
        <p:spPr>
          <a:xfrm>
            <a:off x="7516368" y="2139696"/>
            <a:ext cx="402336" cy="402336"/>
          </a:xfrm>
          <a:prstGeom prst="rect">
            <a:avLst/>
          </a:prstGeom>
        </p:spPr>
      </p:pic>
      <p:sp>
        <p:nvSpPr>
          <p:cNvPr id="21" name="TextBox 20"/>
          <p:cNvSpPr txBox="1"/>
          <p:nvPr/>
        </p:nvSpPr>
        <p:spPr>
          <a:xfrm>
            <a:off x="8028432" y="2103120"/>
            <a:ext cx="349300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Реранкер (cross-encoder)</a:t>
            </a:r>
          </a:p>
        </p:txBody>
      </p:sp>
      <p:sp>
        <p:nvSpPr>
          <p:cNvPr id="22" name="TextBox 21"/>
          <p:cNvSpPr txBox="1"/>
          <p:nvPr/>
        </p:nvSpPr>
        <p:spPr>
          <a:xfrm>
            <a:off x="7516368" y="2542032"/>
            <a:ext cx="3968496" cy="676656"/>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bi-encoder кодирует запрос и документ раздельно (быстро, грубо); cross-encoder гоняет пару вместе (точнее, дорого) — только по top-50…100 кандидатам.</a:t>
            </a:r>
          </a:p>
        </p:txBody>
      </p:sp>
      <p:sp>
        <p:nvSpPr>
          <p:cNvPr id="23" name="Rounded Rectangle 22"/>
          <p:cNvSpPr/>
          <p:nvPr/>
        </p:nvSpPr>
        <p:spPr>
          <a:xfrm>
            <a:off x="502920" y="3931920"/>
            <a:ext cx="3587496"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059935"/>
            <a:ext cx="3221736"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Arial"/>
              </a:rPr>
              <a:t>WANDS · NDCG</a:t>
            </a:r>
          </a:p>
        </p:txBody>
      </p:sp>
      <p:sp>
        <p:nvSpPr>
          <p:cNvPr id="25" name="TextBox 24"/>
          <p:cNvSpPr txBox="1"/>
          <p:nvPr/>
        </p:nvSpPr>
        <p:spPr>
          <a:xfrm>
            <a:off x="685800" y="4315968"/>
            <a:ext cx="3221736" cy="384048"/>
          </a:xfrm>
          <a:prstGeom prst="rect">
            <a:avLst/>
          </a:prstGeom>
          <a:noFill/>
        </p:spPr>
        <p:txBody>
          <a:bodyPr wrap="square" lIns="0" rIns="0" tIns="0" bIns="0" anchor="t">
            <a:spAutoFit/>
          </a:bodyPr>
          <a:lstStyle/>
          <a:p>
            <a:pPr algn="l">
              <a:lnSpc>
                <a:spcPct val="115000"/>
              </a:lnSpc>
            </a:pPr>
            <a:r>
              <a:rPr sz="2200" b="1" i="0">
                <a:solidFill>
                  <a:srgbClr val="F0AB00"/>
                </a:solidFill>
                <a:latin typeface="Arial"/>
              </a:rPr>
              <a:t>0,7497</a:t>
            </a:r>
          </a:p>
        </p:txBody>
      </p:sp>
      <p:sp>
        <p:nvSpPr>
          <p:cNvPr id="26" name="TextBox 25"/>
          <p:cNvSpPr txBox="1"/>
          <p:nvPr/>
        </p:nvSpPr>
        <p:spPr>
          <a:xfrm>
            <a:off x="685800" y="4718304"/>
            <a:ext cx="3221736" cy="365760"/>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гибрид vs BM25 0,6983 / вектор 0,6953 → ~7,4% (скромно)</a:t>
            </a:r>
            <a:r>
              <a:rPr sz="546" baseline="30000" b="0" i="1">
                <a:latin typeface="Arial"/>
                <a:cs typeface="Arial"/>
                <a:ea typeface="Arial"/>
                <a:solidFill>
                  <a:srgbClr val="1C7293"/>
                </a:solidFill>
              </a:rPr>
              <a:t>[1]</a:t>
            </a:r>
          </a:p>
        </p:txBody>
      </p:sp>
      <p:sp>
        <p:nvSpPr>
          <p:cNvPr id="27" name="Rounded Rectangle 26"/>
          <p:cNvSpPr/>
          <p:nvPr/>
        </p:nvSpPr>
        <p:spPr>
          <a:xfrm>
            <a:off x="4309872" y="3931920"/>
            <a:ext cx="3587496"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2752" y="4059935"/>
            <a:ext cx="3221736"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Финтекст+таблицы · Recall@5</a:t>
            </a:r>
          </a:p>
        </p:txBody>
      </p:sp>
      <p:sp>
        <p:nvSpPr>
          <p:cNvPr id="29" name="TextBox 28"/>
          <p:cNvSpPr txBox="1"/>
          <p:nvPr/>
        </p:nvSpPr>
        <p:spPr>
          <a:xfrm>
            <a:off x="4492752" y="4315968"/>
            <a:ext cx="3221736" cy="384048"/>
          </a:xfrm>
          <a:prstGeom prst="rect">
            <a:avLst/>
          </a:prstGeom>
          <a:noFill/>
        </p:spPr>
        <p:txBody>
          <a:bodyPr wrap="square" lIns="0" rIns="0" tIns="0" bIns="0" anchor="t">
            <a:spAutoFit/>
          </a:bodyPr>
          <a:lstStyle/>
          <a:p>
            <a:pPr algn="l">
              <a:lnSpc>
                <a:spcPct val="115000"/>
              </a:lnSpc>
            </a:pPr>
            <a:r>
              <a:rPr sz="2200" b="1" i="0">
                <a:solidFill>
                  <a:srgbClr val="F0AB00"/>
                </a:solidFill>
                <a:latin typeface="Arial"/>
              </a:rPr>
              <a:t>0,816</a:t>
            </a:r>
          </a:p>
        </p:txBody>
      </p:sp>
      <p:sp>
        <p:nvSpPr>
          <p:cNvPr id="30" name="TextBox 29"/>
          <p:cNvSpPr txBox="1"/>
          <p:nvPr/>
        </p:nvSpPr>
        <p:spPr>
          <a:xfrm>
            <a:off x="4492752" y="4718304"/>
            <a:ext cx="3221736" cy="365760"/>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гибрид+реранк vs dense-only 0,587 (+0,229)</a:t>
            </a:r>
          </a:p>
        </p:txBody>
      </p:sp>
      <p:sp>
        <p:nvSpPr>
          <p:cNvPr id="31" name="Rounded Rectangle 30"/>
          <p:cNvSpPr/>
          <p:nvPr/>
        </p:nvSpPr>
        <p:spPr>
          <a:xfrm>
            <a:off x="8116823" y="3931920"/>
            <a:ext cx="3587496"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99703" y="4059935"/>
            <a:ext cx="3221736"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 · доля промахов</a:t>
            </a:r>
          </a:p>
        </p:txBody>
      </p:sp>
      <p:sp>
        <p:nvSpPr>
          <p:cNvPr id="33" name="TextBox 32"/>
          <p:cNvSpPr txBox="1"/>
          <p:nvPr/>
        </p:nvSpPr>
        <p:spPr>
          <a:xfrm>
            <a:off x="8299703" y="4315968"/>
            <a:ext cx="3221736" cy="384048"/>
          </a:xfrm>
          <a:prstGeom prst="rect">
            <a:avLst/>
          </a:prstGeom>
          <a:noFill/>
        </p:spPr>
        <p:txBody>
          <a:bodyPr wrap="square" lIns="0" rIns="0" tIns="0" bIns="0" anchor="t">
            <a:spAutoFit/>
          </a:bodyPr>
          <a:lstStyle/>
          <a:p>
            <a:pPr algn="l">
              <a:lnSpc>
                <a:spcPct val="115000"/>
              </a:lnSpc>
            </a:pPr>
            <a:r>
              <a:rPr sz="2200" b="1" i="0">
                <a:solidFill>
                  <a:srgbClr val="F0AB00"/>
                </a:solidFill>
                <a:latin typeface="Arial"/>
              </a:rPr>
              <a:t>5,7 → 1,9%</a:t>
            </a:r>
          </a:p>
        </p:txBody>
      </p:sp>
      <p:sp>
        <p:nvSpPr>
          <p:cNvPr id="34" name="TextBox 33"/>
          <p:cNvSpPr txBox="1"/>
          <p:nvPr/>
        </p:nvSpPr>
        <p:spPr>
          <a:xfrm>
            <a:off x="8299703" y="4718304"/>
            <a:ext cx="3221736" cy="365760"/>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+контекст+BM25 → 2,9%; +реранк → 1,9% (−67%)</a:t>
            </a:r>
            <a:r>
              <a:rPr sz="546" baseline="30000" b="0" i="1">
                <a:latin typeface="Arial"/>
                <a:cs typeface="Arial"/>
                <a:ea typeface="Arial"/>
                <a:solidFill>
                  <a:srgbClr val="1C7293"/>
                </a:solidFill>
              </a:rPr>
              <a:t>[2]</a:t>
            </a:r>
          </a:p>
        </p:txBody>
      </p:sp>
      <p:sp>
        <p:nvSpPr>
          <p:cNvPr id="35" name="Rounded Rectangle 34"/>
          <p:cNvSpPr/>
          <p:nvPr/>
        </p:nvSpPr>
        <p:spPr>
          <a:xfrm>
            <a:off x="502920" y="528523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5340096"/>
            <a:ext cx="10799064" cy="67665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Выигрыш гибрида зависит от корпуса: крупные приросты — там, где лексика ИЛИ смысл ломается по отдельности (жаргон, таблицы, перекрёстные ссылки). На чистой прозе разрыв мал — сначала измерь на своих запросах, потом усложняй.</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denser.ai — Hybrid Search for RAG (WANDS / финтаблицы дельты)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Anthropic — Contextual Retrieval (каскад промахов 5,7→1,9%)</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Где живут векторы: движок выбирают под масштаб.</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Под-каталог движков большой, а правильный выбор для большинства систем — скучный. Потолки движутся — сверяться в день лекции.</a:t>
            </a:r>
          </a:p>
        </p:txBody>
      </p:sp>
      <p:sp>
        <p:nvSpPr>
          <p:cNvPr id="4" name="Rounded Rectangle 3"/>
          <p:cNvSpPr/>
          <p:nvPr/>
        </p:nvSpPr>
        <p:spPr>
          <a:xfrm>
            <a:off x="502920" y="1572768"/>
            <a:ext cx="11201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36776"/>
            <a:ext cx="2148840" cy="274320"/>
          </a:xfrm>
          <a:prstGeom prst="rect">
            <a:avLst/>
          </a:prstGeom>
          <a:noFill/>
        </p:spPr>
        <p:txBody>
          <a:bodyPr wrap="square" lIns="0" rIns="0" tIns="0" bIns="0" anchor="t">
            <a:spAutoFit/>
          </a:bodyPr>
          <a:lstStyle/>
          <a:p>
            <a:pPr algn="l">
              <a:lnSpc>
                <a:spcPct val="115000"/>
              </a:lnSpc>
            </a:pPr>
            <a:r>
              <a:rPr sz="1250" b="1" i="0">
                <a:solidFill>
                  <a:srgbClr val="FFFFFF"/>
                </a:solidFill>
                <a:latin typeface="Arial"/>
              </a:rPr>
              <a:t>Движок</a:t>
            </a:r>
          </a:p>
        </p:txBody>
      </p:sp>
      <p:sp>
        <p:nvSpPr>
          <p:cNvPr id="6" name="TextBox 5"/>
          <p:cNvSpPr txBox="1"/>
          <p:nvPr/>
        </p:nvSpPr>
        <p:spPr>
          <a:xfrm>
            <a:off x="3017520" y="1636776"/>
            <a:ext cx="5577840" cy="274320"/>
          </a:xfrm>
          <a:prstGeom prst="rect">
            <a:avLst/>
          </a:prstGeom>
          <a:noFill/>
        </p:spPr>
        <p:txBody>
          <a:bodyPr wrap="square" lIns="0" rIns="0" tIns="0" bIns="0" anchor="t">
            <a:spAutoFit/>
          </a:bodyPr>
          <a:lstStyle/>
          <a:p>
            <a:pPr algn="l">
              <a:lnSpc>
                <a:spcPct val="115000"/>
              </a:lnSpc>
            </a:pPr>
            <a:r>
              <a:rPr sz="1250" b="1" i="0">
                <a:solidFill>
                  <a:srgbClr val="FFFFFF"/>
                </a:solidFill>
                <a:latin typeface="Arial"/>
              </a:rPr>
              <a:t>Брать когда</a:t>
            </a:r>
          </a:p>
        </p:txBody>
      </p:sp>
      <p:sp>
        <p:nvSpPr>
          <p:cNvPr id="7" name="TextBox 6"/>
          <p:cNvSpPr txBox="1"/>
          <p:nvPr/>
        </p:nvSpPr>
        <p:spPr>
          <a:xfrm>
            <a:off x="8778240" y="1636776"/>
            <a:ext cx="2834639" cy="274320"/>
          </a:xfrm>
          <a:prstGeom prst="rect">
            <a:avLst/>
          </a:prstGeom>
          <a:noFill/>
        </p:spPr>
        <p:txBody>
          <a:bodyPr wrap="square" lIns="0" rIns="0" tIns="0" bIns="0" anchor="t">
            <a:spAutoFit/>
          </a:bodyPr>
          <a:lstStyle/>
          <a:p>
            <a:pPr algn="l">
              <a:lnSpc>
                <a:spcPct val="115000"/>
              </a:lnSpc>
            </a:pPr>
            <a:r>
              <a:rPr sz="1250" b="1" i="0">
                <a:solidFill>
                  <a:srgbClr val="FFFFFF"/>
                </a:solidFill>
                <a:latin typeface="Arial"/>
              </a:rPr>
              <a:t>Ориентир потолка</a:t>
            </a:r>
          </a:p>
        </p:txBody>
      </p:sp>
      <p:sp>
        <p:nvSpPr>
          <p:cNvPr id="8" name="Rectangle 7"/>
          <p:cNvSpPr/>
          <p:nvPr/>
        </p:nvSpPr>
        <p:spPr>
          <a:xfrm>
            <a:off x="502920" y="1956816"/>
            <a:ext cx="11201400" cy="676656"/>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 y="2103120"/>
            <a:ext cx="384048" cy="384048"/>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tabase-white.png"/>
          <p:cNvPicPr>
            <a:picLocks noChangeAspect="1"/>
          </p:cNvPicPr>
          <p:nvPr/>
        </p:nvPicPr>
        <p:blipFill>
          <a:blip r:embed="rId2"/>
          <a:stretch>
            <a:fillRect/>
          </a:stretch>
        </p:blipFill>
        <p:spPr>
          <a:xfrm>
            <a:off x="685800" y="2157984"/>
            <a:ext cx="274320" cy="274320"/>
          </a:xfrm>
          <a:prstGeom prst="rect">
            <a:avLst/>
          </a:prstGeom>
        </p:spPr>
      </p:pic>
      <p:sp>
        <p:nvSpPr>
          <p:cNvPr id="11" name="TextBox 10"/>
          <p:cNvSpPr txBox="1"/>
          <p:nvPr/>
        </p:nvSpPr>
        <p:spPr>
          <a:xfrm>
            <a:off x="1124712" y="2048256"/>
            <a:ext cx="1764792" cy="530352"/>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pgvector</a:t>
            </a:r>
          </a:p>
        </p:txBody>
      </p:sp>
      <p:sp>
        <p:nvSpPr>
          <p:cNvPr id="12" name="TextBox 11"/>
          <p:cNvSpPr txBox="1"/>
          <p:nvPr/>
        </p:nvSpPr>
        <p:spPr>
          <a:xfrm>
            <a:off x="3017520" y="2029968"/>
            <a:ext cx="5541264" cy="548640"/>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у вас уже есть Postgres, нужна одна система и транзакции</a:t>
            </a:r>
          </a:p>
        </p:txBody>
      </p:sp>
      <p:sp>
        <p:nvSpPr>
          <p:cNvPr id="13" name="TextBox 12"/>
          <p:cNvSpPr txBox="1"/>
          <p:nvPr/>
        </p:nvSpPr>
        <p:spPr>
          <a:xfrm>
            <a:off x="8778240" y="2029968"/>
            <a:ext cx="2798063" cy="548640"/>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~50M векторов; за ~50–100M деградирует</a:t>
            </a:r>
            <a:r>
              <a:rPr sz="572" baseline="30000" b="0" i="1">
                <a:latin typeface="Arial"/>
                <a:cs typeface="Arial"/>
                <a:ea typeface="Arial"/>
                <a:solidFill>
                  <a:srgbClr val="1C7293"/>
                </a:solidFill>
              </a:rPr>
              <a:t>[1]</a:t>
            </a:r>
          </a:p>
        </p:txBody>
      </p:sp>
      <p:sp>
        <p:nvSpPr>
          <p:cNvPr id="14" name="Rectangle 13"/>
          <p:cNvSpPr/>
          <p:nvPr/>
        </p:nvSpPr>
        <p:spPr>
          <a:xfrm>
            <a:off x="502920" y="2633472"/>
            <a:ext cx="11201400" cy="676656"/>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936" y="2779776"/>
            <a:ext cx="384048" cy="384048"/>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xes-white.png"/>
          <p:cNvPicPr>
            <a:picLocks noChangeAspect="1"/>
          </p:cNvPicPr>
          <p:nvPr/>
        </p:nvPicPr>
        <p:blipFill>
          <a:blip r:embed="rId3"/>
          <a:stretch>
            <a:fillRect/>
          </a:stretch>
        </p:blipFill>
        <p:spPr>
          <a:xfrm>
            <a:off x="685800" y="2834640"/>
            <a:ext cx="274320" cy="274320"/>
          </a:xfrm>
          <a:prstGeom prst="rect">
            <a:avLst/>
          </a:prstGeom>
        </p:spPr>
      </p:pic>
      <p:sp>
        <p:nvSpPr>
          <p:cNvPr id="17" name="TextBox 16"/>
          <p:cNvSpPr txBox="1"/>
          <p:nvPr/>
        </p:nvSpPr>
        <p:spPr>
          <a:xfrm>
            <a:off x="1124712" y="2724912"/>
            <a:ext cx="1764792" cy="530352"/>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Qdrant</a:t>
            </a:r>
          </a:p>
        </p:txBody>
      </p:sp>
      <p:sp>
        <p:nvSpPr>
          <p:cNvPr id="18" name="TextBox 17"/>
          <p:cNvSpPr txBox="1"/>
          <p:nvPr/>
        </p:nvSpPr>
        <p:spPr>
          <a:xfrm>
            <a:off x="3017520" y="2706624"/>
            <a:ext cx="5541264" cy="548640"/>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нужен целевой движок без большой платформы, sparse + multi-vector</a:t>
            </a:r>
          </a:p>
        </p:txBody>
      </p:sp>
      <p:sp>
        <p:nvSpPr>
          <p:cNvPr id="19" name="TextBox 18"/>
          <p:cNvSpPr txBox="1"/>
          <p:nvPr/>
        </p:nvSpPr>
        <p:spPr>
          <a:xfrm>
            <a:off x="8778240" y="2706624"/>
            <a:ext cx="2798063" cy="548640"/>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крупный узел + кластер</a:t>
            </a:r>
          </a:p>
        </p:txBody>
      </p:sp>
      <p:sp>
        <p:nvSpPr>
          <p:cNvPr id="20" name="Rectangle 19"/>
          <p:cNvSpPr/>
          <p:nvPr/>
        </p:nvSpPr>
        <p:spPr>
          <a:xfrm>
            <a:off x="502920" y="3310128"/>
            <a:ext cx="11201400" cy="676656"/>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936" y="3456432"/>
            <a:ext cx="384048" cy="384048"/>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ayers-white.png"/>
          <p:cNvPicPr>
            <a:picLocks noChangeAspect="1"/>
          </p:cNvPicPr>
          <p:nvPr/>
        </p:nvPicPr>
        <p:blipFill>
          <a:blip r:embed="rId4"/>
          <a:stretch>
            <a:fillRect/>
          </a:stretch>
        </p:blipFill>
        <p:spPr>
          <a:xfrm>
            <a:off x="685800" y="3511296"/>
            <a:ext cx="274320" cy="274320"/>
          </a:xfrm>
          <a:prstGeom prst="rect">
            <a:avLst/>
          </a:prstGeom>
        </p:spPr>
      </p:pic>
      <p:sp>
        <p:nvSpPr>
          <p:cNvPr id="23" name="TextBox 22"/>
          <p:cNvSpPr txBox="1"/>
          <p:nvPr/>
        </p:nvSpPr>
        <p:spPr>
          <a:xfrm>
            <a:off x="1124712" y="3401568"/>
            <a:ext cx="1764792" cy="530352"/>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Weaviate</a:t>
            </a:r>
          </a:p>
        </p:txBody>
      </p:sp>
      <p:sp>
        <p:nvSpPr>
          <p:cNvPr id="24" name="TextBox 23"/>
          <p:cNvSpPr txBox="1"/>
          <p:nvPr/>
        </p:nvSpPr>
        <p:spPr>
          <a:xfrm>
            <a:off x="3017520" y="3383280"/>
            <a:ext cx="5541264" cy="548640"/>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нужен встроенный гибрид (vector+BM25+фильтры) из коробки</a:t>
            </a:r>
          </a:p>
        </p:txBody>
      </p:sp>
      <p:sp>
        <p:nvSpPr>
          <p:cNvPr id="25" name="TextBox 24"/>
          <p:cNvSpPr txBox="1"/>
          <p:nvPr/>
        </p:nvSpPr>
        <p:spPr>
          <a:xfrm>
            <a:off x="8778240" y="3383280"/>
            <a:ext cx="2798063" cy="548640"/>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средне-крупный</a:t>
            </a:r>
          </a:p>
        </p:txBody>
      </p:sp>
      <p:sp>
        <p:nvSpPr>
          <p:cNvPr id="26" name="Rectangle 25"/>
          <p:cNvSpPr/>
          <p:nvPr/>
        </p:nvSpPr>
        <p:spPr>
          <a:xfrm>
            <a:off x="502920" y="3986784"/>
            <a:ext cx="11201400" cy="676656"/>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0936" y="4133088"/>
            <a:ext cx="384048" cy="384048"/>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package-white.png"/>
          <p:cNvPicPr>
            <a:picLocks noChangeAspect="1"/>
          </p:cNvPicPr>
          <p:nvPr/>
        </p:nvPicPr>
        <p:blipFill>
          <a:blip r:embed="rId5"/>
          <a:stretch>
            <a:fillRect/>
          </a:stretch>
        </p:blipFill>
        <p:spPr>
          <a:xfrm>
            <a:off x="685800" y="4187952"/>
            <a:ext cx="274320" cy="274320"/>
          </a:xfrm>
          <a:prstGeom prst="rect">
            <a:avLst/>
          </a:prstGeom>
        </p:spPr>
      </p:pic>
      <p:sp>
        <p:nvSpPr>
          <p:cNvPr id="29" name="TextBox 28"/>
          <p:cNvSpPr txBox="1"/>
          <p:nvPr/>
        </p:nvSpPr>
        <p:spPr>
          <a:xfrm>
            <a:off x="1124712" y="4078224"/>
            <a:ext cx="1764792" cy="530352"/>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Milvus</a:t>
            </a:r>
          </a:p>
        </p:txBody>
      </p:sp>
      <p:sp>
        <p:nvSpPr>
          <p:cNvPr id="30" name="TextBox 29"/>
          <p:cNvSpPr txBox="1"/>
          <p:nvPr/>
        </p:nvSpPr>
        <p:spPr>
          <a:xfrm>
            <a:off x="3017520" y="4059936"/>
            <a:ext cx="5541264" cy="548640"/>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100M+ / миллиарды векторов, тяжёлое горизонтальное масштабирование</a:t>
            </a:r>
          </a:p>
        </p:txBody>
      </p:sp>
      <p:sp>
        <p:nvSpPr>
          <p:cNvPr id="31" name="TextBox 30"/>
          <p:cNvSpPr txBox="1"/>
          <p:nvPr/>
        </p:nvSpPr>
        <p:spPr>
          <a:xfrm>
            <a:off x="8778240" y="4059936"/>
            <a:ext cx="2798063" cy="548640"/>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миллиарды (нужна эксплуатация)</a:t>
            </a:r>
            <a:r>
              <a:rPr sz="572" baseline="30000" b="0" i="1">
                <a:latin typeface="Arial"/>
                <a:cs typeface="Arial"/>
                <a:ea typeface="Arial"/>
                <a:solidFill>
                  <a:srgbClr val="1C7293"/>
                </a:solidFill>
              </a:rPr>
              <a:t>[2]</a:t>
            </a:r>
          </a:p>
        </p:txBody>
      </p:sp>
      <p:sp>
        <p:nvSpPr>
          <p:cNvPr id="32" name="Rectangle 31"/>
          <p:cNvSpPr/>
          <p:nvPr/>
        </p:nvSpPr>
        <p:spPr>
          <a:xfrm>
            <a:off x="502920" y="4663440"/>
            <a:ext cx="11201400" cy="676656"/>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30936" y="4809744"/>
            <a:ext cx="384048" cy="384048"/>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git-branch-white.png"/>
          <p:cNvPicPr>
            <a:picLocks noChangeAspect="1"/>
          </p:cNvPicPr>
          <p:nvPr/>
        </p:nvPicPr>
        <p:blipFill>
          <a:blip r:embed="rId6"/>
          <a:stretch>
            <a:fillRect/>
          </a:stretch>
        </p:blipFill>
        <p:spPr>
          <a:xfrm>
            <a:off x="685800" y="4864608"/>
            <a:ext cx="274320" cy="274320"/>
          </a:xfrm>
          <a:prstGeom prst="rect">
            <a:avLst/>
          </a:prstGeom>
        </p:spPr>
      </p:pic>
      <p:sp>
        <p:nvSpPr>
          <p:cNvPr id="35" name="TextBox 34"/>
          <p:cNvSpPr txBox="1"/>
          <p:nvPr/>
        </p:nvSpPr>
        <p:spPr>
          <a:xfrm>
            <a:off x="1124712" y="4754880"/>
            <a:ext cx="1764792" cy="530352"/>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FAISS · Chroma · LanceDB</a:t>
            </a:r>
          </a:p>
        </p:txBody>
      </p:sp>
      <p:sp>
        <p:nvSpPr>
          <p:cNvPr id="36" name="TextBox 35"/>
          <p:cNvSpPr txBox="1"/>
          <p:nvPr/>
        </p:nvSpPr>
        <p:spPr>
          <a:xfrm>
            <a:off x="3017520" y="4736592"/>
            <a:ext cx="5541264" cy="548640"/>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FAISS — библиотека (persistence на вас); Chroma/LanceDB — прототип/edge</a:t>
            </a:r>
          </a:p>
        </p:txBody>
      </p:sp>
      <p:sp>
        <p:nvSpPr>
          <p:cNvPr id="37" name="TextBox 36"/>
          <p:cNvSpPr txBox="1"/>
          <p:nvPr/>
        </p:nvSpPr>
        <p:spPr>
          <a:xfrm>
            <a:off x="8778240" y="4736592"/>
            <a:ext cx="2798063" cy="548640"/>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от прототипа до embedded</a:t>
            </a:r>
          </a:p>
        </p:txBody>
      </p:sp>
      <p:sp>
        <p:nvSpPr>
          <p:cNvPr id="38" name="Rounded Rectangle 37"/>
          <p:cNvSpPr/>
          <p:nvPr/>
        </p:nvSpPr>
        <p:spPr>
          <a:xfrm>
            <a:off x="502920" y="5486400"/>
            <a:ext cx="5490972" cy="93268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5596128"/>
            <a:ext cx="5088636"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Обвязки дополняют, не конкурируют</a:t>
            </a:r>
          </a:p>
        </p:txBody>
      </p:sp>
      <p:sp>
        <p:nvSpPr>
          <p:cNvPr id="40" name="TextBox 39"/>
          <p:cNvSpPr txBox="1"/>
          <p:nvPr/>
        </p:nvSpPr>
        <p:spPr>
          <a:xfrm>
            <a:off x="704088" y="5888736"/>
            <a:ext cx="5088636" cy="493776"/>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LlamaIndex — ingestion + retrieval по грязным документам; LangGraph — оркестрация (checkpointing, human-in-the-loop).</a:t>
            </a:r>
          </a:p>
        </p:txBody>
      </p:sp>
      <p:sp>
        <p:nvSpPr>
          <p:cNvPr id="41" name="Rounded Rectangle 40"/>
          <p:cNvSpPr/>
          <p:nvPr/>
        </p:nvSpPr>
        <p:spPr>
          <a:xfrm>
            <a:off x="6213348" y="5486400"/>
            <a:ext cx="5490972"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4516" y="5541264"/>
            <a:ext cx="5088636" cy="82296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Для простого RAG-эндпоинта (retrieve → generate) фреймворк не нужен: несколько сотен строк своей склейки против version churn. Обвязку добавляют под агентную сложность, а не по умолчанию.</a:t>
            </a:r>
          </a:p>
        </p:txBody>
      </p:sp>
      <p:sp>
        <p:nvSpPr>
          <p:cNvPr id="43" name="TextBox 4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firecrawl — Best Vector Databases 2026 (потолки движков)</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TigerData — pgvector vs Qdrant (вендор-бенчмарк, читать скептически)</a:t>
            </a:r>
          </a:p>
        </p:txBody>
      </p:sp>
      <p:sp>
        <p:nvSpPr>
          <p:cNvPr id="44" name="TextBox 4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67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Нужна ли выделенная векторная БД: три яруса.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Прежде чем ставить выделенную БД — вопрос «а не хватит ли того, что уже есть». Elastic и OpenSearch нативно дают RRF-гибрид.</a:t>
            </a:r>
          </a:p>
        </p:txBody>
      </p:sp>
      <p:sp>
        <p:nvSpPr>
          <p:cNvPr id="4" name="Rounded Rectangle 3"/>
          <p:cNvSpPr/>
          <p:nvPr/>
        </p:nvSpPr>
        <p:spPr>
          <a:xfrm>
            <a:off x="502920" y="1627632"/>
            <a:ext cx="4846320" cy="3364992"/>
          </a:xfrm>
          <a:prstGeom prst="roundRect">
            <a:avLst>
              <a:gd name="adj" fmla="val 905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elastic-cat-ru.png"/>
          <p:cNvPicPr>
            <a:picLocks noChangeAspect="1"/>
          </p:cNvPicPr>
          <p:nvPr/>
        </p:nvPicPr>
        <p:blipFill>
          <a:blip r:embed="rId2"/>
          <a:stretch>
            <a:fillRect/>
          </a:stretch>
        </p:blipFill>
        <p:spPr>
          <a:xfrm>
            <a:off x="704088" y="1878903"/>
            <a:ext cx="4443983" cy="2862448"/>
          </a:xfrm>
          <a:prstGeom prst="rect">
            <a:avLst/>
          </a:prstGeom>
        </p:spPr>
      </p:pic>
      <p:sp>
        <p:nvSpPr>
          <p:cNvPr id="6" name="Rounded Rectangle 5"/>
          <p:cNvSpPr/>
          <p:nvPr/>
        </p:nvSpPr>
        <p:spPr>
          <a:xfrm>
            <a:off x="5669280" y="1627632"/>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870448" y="1938528"/>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70448" y="1938528"/>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9" name="TextBox 8"/>
          <p:cNvSpPr txBox="1"/>
          <p:nvPr/>
        </p:nvSpPr>
        <p:spPr>
          <a:xfrm>
            <a:off x="6419088" y="1746504"/>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BM25 хватает</a:t>
            </a:r>
          </a:p>
        </p:txBody>
      </p:sp>
      <p:sp>
        <p:nvSpPr>
          <p:cNvPr id="10" name="TextBox 9"/>
          <p:cNvSpPr txBox="1"/>
          <p:nvPr/>
        </p:nvSpPr>
        <p:spPr>
          <a:xfrm>
            <a:off x="6419088" y="2066543"/>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общий словарь, код/логи/ID, курированные базы; переиндексация дёшева и наблюдаема</a:t>
            </a:r>
          </a:p>
        </p:txBody>
      </p:sp>
      <p:sp>
        <p:nvSpPr>
          <p:cNvPr id="11" name="Rounded Rectangle 10"/>
          <p:cNvSpPr/>
          <p:nvPr/>
        </p:nvSpPr>
        <p:spPr>
          <a:xfrm>
            <a:off x="5669280" y="2779776"/>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870448" y="3090672"/>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3090672"/>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4" name="TextBox 13"/>
          <p:cNvSpPr txBox="1"/>
          <p:nvPr/>
        </p:nvSpPr>
        <p:spPr>
          <a:xfrm>
            <a:off x="6419088" y="2898648"/>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Встроенный гибрид Elastic/OpenSearch хватает</a:t>
            </a:r>
          </a:p>
        </p:txBody>
      </p:sp>
      <p:sp>
        <p:nvSpPr>
          <p:cNvPr id="15" name="TextBox 14"/>
          <p:cNvSpPr txBox="1"/>
          <p:nvPr/>
        </p:nvSpPr>
        <p:spPr>
          <a:xfrm>
            <a:off x="6419088" y="3218688"/>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уже эксплуатируете один, масштаб млн–десятки млн; ELSER даёт смысл без GPU-сервиса эмбеддингов</a:t>
            </a:r>
            <a:r>
              <a:rPr sz="598" baseline="30000" b="0" i="1">
                <a:latin typeface="Arial"/>
                <a:cs typeface="Arial"/>
                <a:ea typeface="Arial"/>
                <a:solidFill>
                  <a:srgbClr val="1C7293"/>
                </a:solidFill>
              </a:rPr>
              <a:t>[2]</a:t>
            </a:r>
          </a:p>
        </p:txBody>
      </p:sp>
      <p:sp>
        <p:nvSpPr>
          <p:cNvPr id="16" name="Rounded Rectangle 15"/>
          <p:cNvSpPr/>
          <p:nvPr/>
        </p:nvSpPr>
        <p:spPr>
          <a:xfrm>
            <a:off x="5669280" y="3931920"/>
            <a:ext cx="603504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870448" y="4242816"/>
            <a:ext cx="420624" cy="420624"/>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0448" y="424281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9" name="TextBox 18"/>
          <p:cNvSpPr txBox="1"/>
          <p:nvPr/>
        </p:nvSpPr>
        <p:spPr>
          <a:xfrm>
            <a:off x="6419088" y="4050791"/>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Выделенная векторная БД нужна</a:t>
            </a:r>
          </a:p>
        </p:txBody>
      </p:sp>
      <p:sp>
        <p:nvSpPr>
          <p:cNvPr id="20" name="TextBox 19"/>
          <p:cNvSpPr txBox="1"/>
          <p:nvPr/>
        </p:nvSpPr>
        <p:spPr>
          <a:xfrm>
            <a:off x="6419088" y="4370831"/>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100M+ / multi-vector / latency-SLA горячего пути / развязать эксплуатацию от кластера логов</a:t>
            </a:r>
          </a:p>
        </p:txBody>
      </p:sp>
      <p:sp>
        <p:nvSpPr>
          <p:cNvPr id="21" name="Rounded Rectangle 20"/>
          <p:cNvSpPr/>
          <p:nvPr/>
        </p:nvSpPr>
        <p:spPr>
          <a:xfrm>
            <a:off x="502920" y="523036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285231"/>
            <a:ext cx="10799064" cy="73152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Огромная доля RAG-систем никогда не превышает несколько миллионов чанков — на этом масштабе pgvector или гибрид Elastic/OpenSearch скучный правильный ответ</a:t>
            </a:r>
            <a:r>
              <a:rPr sz="676" baseline="30000" b="0" i="1">
                <a:latin typeface="Arial"/>
                <a:cs typeface="Arial"/>
                <a:ea typeface="Arial"/>
                <a:solidFill>
                  <a:srgbClr val="1C7293"/>
                </a:solidFill>
              </a:rPr>
              <a:t>[1]</a:t>
            </a:r>
            <a:r>
              <a:rPr sz="1300" b="1" i="0">
                <a:latin typeface="Arial"/>
                <a:cs typeface="Arial"/>
                <a:ea typeface="Arial"/>
                <a:solidFill>
                  <a:srgbClr val="21295C"/>
                </a:solidFill>
              </a:rPr>
              <a:t>, а выделенная векторная БД часто преждевременная оптимизация.</a:t>
            </a:r>
          </a:p>
        </p:txBody>
      </p:sp>
      <p:sp>
        <p:nvSpPr>
          <p:cNvPr id="23" name="TextBox 2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Pureinsights — From Vector Hype to Hybrid Reality (нужна ли вектор-БД)</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bigdataboutique — Elastic/OpenSearch vector search (RRF-гибрид нативно)</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Чанкирование: как режешь — то и можно найти.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Из трёх шагов RAG чанкирование недооценивают чаще всего, а рычаг высокий. Стратегии — от простой к сложной; усложнять только под требование.</a:t>
            </a:r>
          </a:p>
        </p:txBody>
      </p:sp>
      <p:sp>
        <p:nvSpPr>
          <p:cNvPr id="4" name="Rounded Rectangle 3"/>
          <p:cNvSpPr/>
          <p:nvPr/>
        </p:nvSpPr>
        <p:spPr>
          <a:xfrm>
            <a:off x="502920"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ale-mid.png"/>
          <p:cNvPicPr>
            <a:picLocks noChangeAspect="1"/>
          </p:cNvPicPr>
          <p:nvPr/>
        </p:nvPicPr>
        <p:blipFill>
          <a:blip r:embed="rId2"/>
          <a:stretch>
            <a:fillRect/>
          </a:stretch>
        </p:blipFill>
        <p:spPr>
          <a:xfrm>
            <a:off x="685800" y="1719072"/>
            <a:ext cx="347472" cy="347472"/>
          </a:xfrm>
          <a:prstGeom prst="rect">
            <a:avLst/>
          </a:prstGeom>
        </p:spPr>
      </p:pic>
      <p:sp>
        <p:nvSpPr>
          <p:cNvPr id="6" name="TextBox 5"/>
          <p:cNvSpPr txBox="1"/>
          <p:nvPr/>
        </p:nvSpPr>
        <p:spPr>
          <a:xfrm>
            <a:off x="1143000" y="170078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Fixed-size</a:t>
            </a:r>
          </a:p>
        </p:txBody>
      </p:sp>
      <p:sp>
        <p:nvSpPr>
          <p:cNvPr id="7" name="TextBox 6"/>
          <p:cNvSpPr txBox="1"/>
          <p:nvPr/>
        </p:nvSpPr>
        <p:spPr>
          <a:xfrm>
            <a:off x="704088"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резать каждые N токенов — грубо, но сильная базовая линия</a:t>
            </a:r>
          </a:p>
        </p:txBody>
      </p:sp>
      <p:sp>
        <p:nvSpPr>
          <p:cNvPr id="8" name="Rounded Rectangle 7"/>
          <p:cNvSpPr/>
          <p:nvPr/>
        </p:nvSpPr>
        <p:spPr>
          <a:xfrm>
            <a:off x="4303776"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486656" y="1719072"/>
            <a:ext cx="347472" cy="347472"/>
          </a:xfrm>
          <a:prstGeom prst="rect">
            <a:avLst/>
          </a:prstGeom>
        </p:spPr>
      </p:pic>
      <p:sp>
        <p:nvSpPr>
          <p:cNvPr id="10" name="TextBox 9"/>
          <p:cNvSpPr txBox="1"/>
          <p:nvPr/>
        </p:nvSpPr>
        <p:spPr>
          <a:xfrm>
            <a:off x="4943856" y="1700784"/>
            <a:ext cx="2813304" cy="384048"/>
          </a:xfrm>
          <a:prstGeom prst="rect">
            <a:avLst/>
          </a:prstGeom>
          <a:noFill/>
        </p:spPr>
        <p:txBody>
          <a:bodyPr wrap="square" lIns="0" rIns="0" tIns="0" bIns="0" anchor="ctr">
            <a:spAutoFit/>
          </a:bodyPr>
          <a:lstStyle/>
          <a:p>
            <a:pPr algn="l">
              <a:lnSpc>
                <a:spcPct val="100000"/>
              </a:lnSpc>
            </a:pPr>
            <a:r>
              <a:rPr sz="1350" b="1" i="0">
                <a:solidFill>
                  <a:srgbClr val="028090"/>
                </a:solidFill>
                <a:latin typeface="Arial"/>
              </a:rPr>
              <a:t>Recursive / character</a:t>
            </a:r>
          </a:p>
        </p:txBody>
      </p:sp>
      <p:sp>
        <p:nvSpPr>
          <p:cNvPr id="11" name="TextBox 10"/>
          <p:cNvSpPr txBox="1"/>
          <p:nvPr/>
        </p:nvSpPr>
        <p:spPr>
          <a:xfrm>
            <a:off x="4504944"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по иерархии разделителей (абзац→предложение) — прагматичный дефолт</a:t>
            </a:r>
            <a:r>
              <a:rPr sz="572" baseline="30000" b="0" i="1">
                <a:latin typeface="Arial"/>
                <a:cs typeface="Arial"/>
                <a:ea typeface="Arial"/>
                <a:solidFill>
                  <a:srgbClr val="1C7293"/>
                </a:solidFill>
              </a:rPr>
              <a:t>[1]</a:t>
            </a:r>
          </a:p>
        </p:txBody>
      </p:sp>
      <p:sp>
        <p:nvSpPr>
          <p:cNvPr id="12" name="Rounded Rectangle 11"/>
          <p:cNvSpPr/>
          <p:nvPr/>
        </p:nvSpPr>
        <p:spPr>
          <a:xfrm>
            <a:off x="8104632"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ayers-mid.png"/>
          <p:cNvPicPr>
            <a:picLocks noChangeAspect="1"/>
          </p:cNvPicPr>
          <p:nvPr/>
        </p:nvPicPr>
        <p:blipFill>
          <a:blip r:embed="rId4"/>
          <a:stretch>
            <a:fillRect/>
          </a:stretch>
        </p:blipFill>
        <p:spPr>
          <a:xfrm>
            <a:off x="8287512" y="1719072"/>
            <a:ext cx="347472" cy="347472"/>
          </a:xfrm>
          <a:prstGeom prst="rect">
            <a:avLst/>
          </a:prstGeom>
        </p:spPr>
      </p:pic>
      <p:sp>
        <p:nvSpPr>
          <p:cNvPr id="14" name="TextBox 13"/>
          <p:cNvSpPr txBox="1"/>
          <p:nvPr/>
        </p:nvSpPr>
        <p:spPr>
          <a:xfrm>
            <a:off x="8744712" y="170078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Sentence-window</a:t>
            </a:r>
          </a:p>
        </p:txBody>
      </p:sp>
      <p:sp>
        <p:nvSpPr>
          <p:cNvPr id="15" name="TextBox 14"/>
          <p:cNvSpPr txBox="1"/>
          <p:nvPr/>
        </p:nvSpPr>
        <p:spPr>
          <a:xfrm>
            <a:off x="8305800"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предложение, возвращать окно соседних для контекста</a:t>
            </a:r>
          </a:p>
        </p:txBody>
      </p:sp>
      <p:sp>
        <p:nvSpPr>
          <p:cNvPr id="16" name="Rounded Rectangle 15"/>
          <p:cNvSpPr/>
          <p:nvPr/>
        </p:nvSpPr>
        <p:spPr>
          <a:xfrm>
            <a:off x="502920"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it-merge-mid.png"/>
          <p:cNvPicPr>
            <a:picLocks noChangeAspect="1"/>
          </p:cNvPicPr>
          <p:nvPr/>
        </p:nvPicPr>
        <p:blipFill>
          <a:blip r:embed="rId5"/>
          <a:stretch>
            <a:fillRect/>
          </a:stretch>
        </p:blipFill>
        <p:spPr>
          <a:xfrm>
            <a:off x="685800" y="3182112"/>
            <a:ext cx="347472" cy="347472"/>
          </a:xfrm>
          <a:prstGeom prst="rect">
            <a:avLst/>
          </a:prstGeom>
        </p:spPr>
      </p:pic>
      <p:sp>
        <p:nvSpPr>
          <p:cNvPr id="18" name="TextBox 17"/>
          <p:cNvSpPr txBox="1"/>
          <p:nvPr/>
        </p:nvSpPr>
        <p:spPr>
          <a:xfrm>
            <a:off x="1143000"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Semantic</a:t>
            </a:r>
          </a:p>
        </p:txBody>
      </p:sp>
      <p:sp>
        <p:nvSpPr>
          <p:cNvPr id="19" name="TextBox 18"/>
          <p:cNvSpPr txBox="1"/>
          <p:nvPr/>
        </p:nvSpPr>
        <p:spPr>
          <a:xfrm>
            <a:off x="704088"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граница по смене темы — интуитивно, но часто не окупается</a:t>
            </a:r>
          </a:p>
        </p:txBody>
      </p:sp>
      <p:sp>
        <p:nvSpPr>
          <p:cNvPr id="20" name="Rounded Rectangle 19"/>
          <p:cNvSpPr/>
          <p:nvPr/>
        </p:nvSpPr>
        <p:spPr>
          <a:xfrm>
            <a:off x="4303776"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xes-mid.png"/>
          <p:cNvPicPr>
            <a:picLocks noChangeAspect="1"/>
          </p:cNvPicPr>
          <p:nvPr/>
        </p:nvPicPr>
        <p:blipFill>
          <a:blip r:embed="rId6"/>
          <a:stretch>
            <a:fillRect/>
          </a:stretch>
        </p:blipFill>
        <p:spPr>
          <a:xfrm>
            <a:off x="4486656" y="3182112"/>
            <a:ext cx="347472" cy="347472"/>
          </a:xfrm>
          <a:prstGeom prst="rect">
            <a:avLst/>
          </a:prstGeom>
        </p:spPr>
      </p:pic>
      <p:sp>
        <p:nvSpPr>
          <p:cNvPr id="22" name="TextBox 21"/>
          <p:cNvSpPr txBox="1"/>
          <p:nvPr/>
        </p:nvSpPr>
        <p:spPr>
          <a:xfrm>
            <a:off x="4943856" y="316382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Parent-document</a:t>
            </a:r>
          </a:p>
        </p:txBody>
      </p:sp>
      <p:sp>
        <p:nvSpPr>
          <p:cNvPr id="23" name="TextBox 22"/>
          <p:cNvSpPr txBox="1"/>
          <p:nvPr/>
        </p:nvSpPr>
        <p:spPr>
          <a:xfrm>
            <a:off x="4504944"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маленькие чанки для точности, больший родитель — для генерации</a:t>
            </a:r>
          </a:p>
        </p:txBody>
      </p:sp>
      <p:sp>
        <p:nvSpPr>
          <p:cNvPr id="24" name="Rounded Rectangle 23"/>
          <p:cNvSpPr/>
          <p:nvPr/>
        </p:nvSpPr>
        <p:spPr>
          <a:xfrm>
            <a:off x="8104632"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rain-circuit-mid.png"/>
          <p:cNvPicPr>
            <a:picLocks noChangeAspect="1"/>
          </p:cNvPicPr>
          <p:nvPr/>
        </p:nvPicPr>
        <p:blipFill>
          <a:blip r:embed="rId7"/>
          <a:stretch>
            <a:fillRect/>
          </a:stretch>
        </p:blipFill>
        <p:spPr>
          <a:xfrm>
            <a:off x="8287512" y="3182112"/>
            <a:ext cx="347472" cy="347472"/>
          </a:xfrm>
          <a:prstGeom prst="rect">
            <a:avLst/>
          </a:prstGeom>
        </p:spPr>
      </p:pic>
      <p:sp>
        <p:nvSpPr>
          <p:cNvPr id="26" name="TextBox 25"/>
          <p:cNvSpPr txBox="1"/>
          <p:nvPr/>
        </p:nvSpPr>
        <p:spPr>
          <a:xfrm>
            <a:off x="8744712"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Late chunking</a:t>
            </a:r>
          </a:p>
        </p:txBody>
      </p:sp>
      <p:sp>
        <p:nvSpPr>
          <p:cNvPr id="27" name="TextBox 26"/>
          <p:cNvSpPr txBox="1"/>
          <p:nvPr/>
        </p:nvSpPr>
        <p:spPr>
          <a:xfrm>
            <a:off x="8305800"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весь документ, потом пулить — чанк контекст-осведомлён</a:t>
            </a:r>
          </a:p>
        </p:txBody>
      </p:sp>
      <p:sp>
        <p:nvSpPr>
          <p:cNvPr id="28" name="Rounded Rectangle 27"/>
          <p:cNvSpPr/>
          <p:nvPr/>
        </p:nvSpPr>
        <p:spPr>
          <a:xfrm>
            <a:off x="502920" y="4480559"/>
            <a:ext cx="11201400" cy="841248"/>
          </a:xfrm>
          <a:prstGeom prst="roundRect">
            <a:avLst>
              <a:gd name="adj" fmla="val 8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ile-text-gold.png"/>
          <p:cNvPicPr>
            <a:picLocks noChangeAspect="1"/>
          </p:cNvPicPr>
          <p:nvPr/>
        </p:nvPicPr>
        <p:blipFill>
          <a:blip r:embed="rId8"/>
          <a:stretch>
            <a:fillRect/>
          </a:stretch>
        </p:blipFill>
        <p:spPr>
          <a:xfrm>
            <a:off x="713232" y="4700016"/>
            <a:ext cx="402336" cy="402336"/>
          </a:xfrm>
          <a:prstGeom prst="rect">
            <a:avLst/>
          </a:prstGeom>
        </p:spPr>
      </p:pic>
      <p:sp>
        <p:nvSpPr>
          <p:cNvPr id="30" name="TextBox 29"/>
          <p:cNvSpPr txBox="1"/>
          <p:nvPr/>
        </p:nvSpPr>
        <p:spPr>
          <a:xfrm>
            <a:off x="1243584" y="4599431"/>
            <a:ext cx="32918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Contextual Retrieval</a:t>
            </a:r>
          </a:p>
        </p:txBody>
      </p:sp>
      <p:sp>
        <p:nvSpPr>
          <p:cNvPr id="31" name="TextBox 30"/>
          <p:cNvSpPr txBox="1"/>
          <p:nvPr/>
        </p:nvSpPr>
        <p:spPr>
          <a:xfrm>
            <a:off x="1243584" y="4910327"/>
            <a:ext cx="10241280" cy="365760"/>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LLM дописывает 50–100 токенов документ-уровневого контекста к каждому чанку до эмбеддинга и BM25</a:t>
            </a:r>
            <a:r>
              <a:rPr sz="598" baseline="30000" b="0" i="1">
                <a:latin typeface="Arial"/>
                <a:cs typeface="Arial"/>
                <a:ea typeface="Arial"/>
                <a:solidFill>
                  <a:srgbClr val="1C7293"/>
                </a:solidFill>
              </a:rPr>
              <a:t>[2]</a:t>
            </a:r>
            <a:r>
              <a:rPr sz="1150" b="0" i="0">
                <a:latin typeface="Arial"/>
                <a:cs typeface="Arial"/>
                <a:ea typeface="Arial"/>
                <a:solidFill>
                  <a:srgbClr val="21295C"/>
                </a:solidFill>
              </a:rPr>
              <a:t> (см. каскад промахов 5,7% → 1,9%).</a:t>
            </a:r>
          </a:p>
        </p:txBody>
      </p:sp>
      <p:sp>
        <p:nvSpPr>
          <p:cNvPr id="32" name="Rounded Rectangle 31"/>
          <p:cNvSpPr/>
          <p:nvPr/>
        </p:nvSpPr>
        <p:spPr>
          <a:xfrm>
            <a:off x="502920" y="5449823"/>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04687"/>
            <a:ext cx="10799064" cy="56692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Ни у размера, ни у стратегии нет правильного значения по умолчанию — их подбирают под корпус. Подбор без метрики качества retrieval — вслепую.</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firecrawl — Best Chunking Strategies for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1"/>
              </a:rPr>
              <a:t>Anthropic — Contextual Retrieval (50–100 токенов контекста к чанку)</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Не карго-культи semantic chunking.</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Исследования эффекта чанкирования открыто расходятся — и это само по себе урок: «умный» chunking доменно-специфичен, простой recursive fixed-size часто сильнее и дешевле.</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chunk2-disaster-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9048" y="1911095"/>
            <a:ext cx="3977639"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recursive-512 vs semantic</a:t>
            </a:r>
          </a:p>
        </p:txBody>
      </p:sp>
      <p:sp>
        <p:nvSpPr>
          <p:cNvPr id="8" name="TextBox 7"/>
          <p:cNvSpPr txBox="1"/>
          <p:nvPr/>
        </p:nvSpPr>
        <p:spPr>
          <a:xfrm>
            <a:off x="9966960" y="1883664"/>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69% vs 54%</a:t>
            </a:r>
          </a:p>
        </p:txBody>
      </p:sp>
      <p:sp>
        <p:nvSpPr>
          <p:cNvPr id="9" name="TextBox 8"/>
          <p:cNvSpPr txBox="1"/>
          <p:nvPr/>
        </p:nvSpPr>
        <p:spPr>
          <a:xfrm>
            <a:off x="6099048" y="2212848"/>
            <a:ext cx="5404103" cy="457200"/>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Feb-2026, 7 стратегий на 50 статьях: recursive 512-token №1; semantic дал ~43-токенные фрагменты</a:t>
            </a:r>
            <a:r>
              <a:rPr sz="572" baseline="30000" b="0" i="1">
                <a:latin typeface="Arial"/>
                <a:cs typeface="Arial"/>
                <a:ea typeface="Arial"/>
                <a:solidFill>
                  <a:srgbClr val="1C7293"/>
                </a:solidFill>
              </a:rPr>
              <a:t>[1]</a:t>
            </a:r>
          </a:p>
        </p:txBody>
      </p:sp>
      <p:sp>
        <p:nvSpPr>
          <p:cNvPr id="10" name="Rounded Rectangle 9"/>
          <p:cNvSpPr/>
          <p:nvPr/>
        </p:nvSpPr>
        <p:spPr>
          <a:xfrm>
            <a:off x="5897880" y="2852928"/>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8" y="2953512"/>
            <a:ext cx="3977639"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Arial"/>
              </a:rPr>
              <a:t>клиника (узкий домен)</a:t>
            </a:r>
          </a:p>
        </p:txBody>
      </p:sp>
      <p:sp>
        <p:nvSpPr>
          <p:cNvPr id="12" name="TextBox 11"/>
          <p:cNvSpPr txBox="1"/>
          <p:nvPr/>
        </p:nvSpPr>
        <p:spPr>
          <a:xfrm>
            <a:off x="9966960" y="2926080"/>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87% vs 13%</a:t>
            </a:r>
          </a:p>
        </p:txBody>
      </p:sp>
      <p:sp>
        <p:nvSpPr>
          <p:cNvPr id="13" name="TextBox 12"/>
          <p:cNvSpPr txBox="1"/>
          <p:nvPr/>
        </p:nvSpPr>
        <p:spPr>
          <a:xfrm>
            <a:off x="6099048" y="3255264"/>
            <a:ext cx="5404103" cy="457200"/>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MDPI ноя-2025: adaptive/topic-boundary vs fixed-size (p=0,001) — реальный, но узкодоменный</a:t>
            </a:r>
          </a:p>
        </p:txBody>
      </p:sp>
      <p:sp>
        <p:nvSpPr>
          <p:cNvPr id="14" name="Rounded Rectangle 13"/>
          <p:cNvSpPr/>
          <p:nvPr/>
        </p:nvSpPr>
        <p:spPr>
          <a:xfrm>
            <a:off x="5897880" y="389534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8" y="3995928"/>
            <a:ext cx="3977639"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NAACL 2025 Findings</a:t>
            </a:r>
          </a:p>
        </p:txBody>
      </p:sp>
      <p:sp>
        <p:nvSpPr>
          <p:cNvPr id="16" name="TextBox 15"/>
          <p:cNvSpPr txBox="1"/>
          <p:nvPr/>
        </p:nvSpPr>
        <p:spPr>
          <a:xfrm>
            <a:off x="9966960" y="3968496"/>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 или хуже</a:t>
            </a:r>
          </a:p>
        </p:txBody>
      </p:sp>
      <p:sp>
        <p:nvSpPr>
          <p:cNvPr id="17" name="TextBox 16"/>
          <p:cNvSpPr txBox="1"/>
          <p:nvPr/>
        </p:nvSpPr>
        <p:spPr>
          <a:xfrm>
            <a:off x="6099048" y="4297680"/>
            <a:ext cx="5404103" cy="457200"/>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«издержки не оправданы стабильным приростом»: fixed 200-word на уровне semantic или лучше</a:t>
            </a:r>
          </a:p>
        </p:txBody>
      </p:sp>
      <p:sp>
        <p:nvSpPr>
          <p:cNvPr id="18" name="Rounded Rectangle 17"/>
          <p:cNvSpPr/>
          <p:nvPr/>
        </p:nvSpPr>
        <p:spPr>
          <a:xfrm>
            <a:off x="5897880" y="4956048"/>
            <a:ext cx="580644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99048" y="5010912"/>
            <a:ext cx="5404103" cy="621792"/>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Тихий провал retrieval — таблицы: расплющивание в текст рушит связи строк/столбцов без единой ошибки</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ответ портится тихо. Лечить как структурированные объекты, а не расплющивать.</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firecrawl — chunking benchmark (recursive-512 69% vs semantic 54%)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Contextual Retrieval (таблицы — тихий провал retrieval)</a:t>
            </a:r>
            <a:r>
              <a:rPr sz="850" i="1">
                <a:solidFill>
                  <a:srgbClr val="5B6678"/>
                </a:solidFill>
                <a:latin typeface="Arial"/>
              </a:rPr>
              <a:t>   ·   Дефолт — recursive fixed-size (дёшев и силён); усложнять стратегию только под измеренный на своём корпусе разрыв.</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Прототип → продакшн — это другая архитектура, не подкрутка.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Прототип работает на 1000 документов; ломается на миллионах векторов и тысячах запросов. Что добавляется при переходе в продакшн.</a:t>
            </a:r>
          </a:p>
        </p:txBody>
      </p:sp>
      <p:sp>
        <p:nvSpPr>
          <p:cNvPr id="4" name="Rounded Rectangle 3"/>
          <p:cNvSpPr/>
          <p:nvPr/>
        </p:nvSpPr>
        <p:spPr>
          <a:xfrm>
            <a:off x="502920" y="1591056"/>
            <a:ext cx="210312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ingest</a:t>
            </a:r>
          </a:p>
        </p:txBody>
      </p:sp>
      <p:sp>
        <p:nvSpPr>
          <p:cNvPr id="6" name="TextBox 5"/>
          <p:cNvSpPr txBox="1"/>
          <p:nvPr/>
        </p:nvSpPr>
        <p:spPr>
          <a:xfrm>
            <a:off x="594360"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первое бутылочное горло</a:t>
            </a:r>
          </a:p>
        </p:txBody>
      </p:sp>
      <p:sp>
        <p:nvSpPr>
          <p:cNvPr id="7" name="Right Arrow 6"/>
          <p:cNvSpPr/>
          <p:nvPr/>
        </p:nvSpPr>
        <p:spPr>
          <a:xfrm>
            <a:off x="2633471"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990087"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81527"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chunk</a:t>
            </a:r>
          </a:p>
        </p:txBody>
      </p:sp>
      <p:sp>
        <p:nvSpPr>
          <p:cNvPr id="10" name="TextBox 9"/>
          <p:cNvSpPr txBox="1"/>
          <p:nvPr/>
        </p:nvSpPr>
        <p:spPr>
          <a:xfrm>
            <a:off x="3081527"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1" name="Right Arrow 10"/>
          <p:cNvSpPr/>
          <p:nvPr/>
        </p:nvSpPr>
        <p:spPr>
          <a:xfrm>
            <a:off x="5120640"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77255"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68695"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embed</a:t>
            </a:r>
          </a:p>
        </p:txBody>
      </p:sp>
      <p:sp>
        <p:nvSpPr>
          <p:cNvPr id="14" name="TextBox 13"/>
          <p:cNvSpPr txBox="1"/>
          <p:nvPr/>
        </p:nvSpPr>
        <p:spPr>
          <a:xfrm>
            <a:off x="5568695"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5" name="Right Arrow 14"/>
          <p:cNvSpPr/>
          <p:nvPr/>
        </p:nvSpPr>
        <p:spPr>
          <a:xfrm>
            <a:off x="7607807"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64423"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3"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index</a:t>
            </a:r>
          </a:p>
        </p:txBody>
      </p:sp>
      <p:sp>
        <p:nvSpPr>
          <p:cNvPr id="18" name="TextBox 17"/>
          <p:cNvSpPr txBox="1"/>
          <p:nvPr/>
        </p:nvSpPr>
        <p:spPr>
          <a:xfrm>
            <a:off x="8055863"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9" name="Rounded Rectangle 18"/>
          <p:cNvSpPr/>
          <p:nvPr/>
        </p:nvSpPr>
        <p:spPr>
          <a:xfrm>
            <a:off x="502920"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ute-mid.png"/>
          <p:cNvPicPr>
            <a:picLocks noChangeAspect="1"/>
          </p:cNvPicPr>
          <p:nvPr/>
        </p:nvPicPr>
        <p:blipFill>
          <a:blip r:embed="rId2"/>
          <a:stretch>
            <a:fillRect/>
          </a:stretch>
        </p:blipFill>
        <p:spPr>
          <a:xfrm>
            <a:off x="667512" y="2633472"/>
            <a:ext cx="329184" cy="329184"/>
          </a:xfrm>
          <a:prstGeom prst="rect">
            <a:avLst/>
          </a:prstGeom>
        </p:spPr>
      </p:pic>
      <p:sp>
        <p:nvSpPr>
          <p:cNvPr id="21" name="TextBox 20"/>
          <p:cNvSpPr txBox="1"/>
          <p:nvPr/>
        </p:nvSpPr>
        <p:spPr>
          <a:xfrm>
            <a:off x="1069848" y="2624328"/>
            <a:ext cx="1954530" cy="32918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Свежесть</a:t>
            </a:r>
          </a:p>
        </p:txBody>
      </p:sp>
      <p:sp>
        <p:nvSpPr>
          <p:cNvPr id="22" name="TextBox 21"/>
          <p:cNvSpPr txBox="1"/>
          <p:nvPr/>
        </p:nvSpPr>
        <p:spPr>
          <a:xfrm>
            <a:off x="685800"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батч → устаревание; CDC → субминута ценой ×3 к эксплуатации. Индекс отстал → retrieval деградирует невидимо.</a:t>
            </a:r>
          </a:p>
        </p:txBody>
      </p:sp>
      <p:sp>
        <p:nvSpPr>
          <p:cNvPr id="23" name="Rounded Rectangle 22"/>
          <p:cNvSpPr/>
          <p:nvPr/>
        </p:nvSpPr>
        <p:spPr>
          <a:xfrm>
            <a:off x="3353562"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branch-mid.png"/>
          <p:cNvPicPr>
            <a:picLocks noChangeAspect="1"/>
          </p:cNvPicPr>
          <p:nvPr/>
        </p:nvPicPr>
        <p:blipFill>
          <a:blip r:embed="rId3"/>
          <a:stretch>
            <a:fillRect/>
          </a:stretch>
        </p:blipFill>
        <p:spPr>
          <a:xfrm>
            <a:off x="3518154" y="2633472"/>
            <a:ext cx="329184" cy="329184"/>
          </a:xfrm>
          <a:prstGeom prst="rect">
            <a:avLst/>
          </a:prstGeom>
        </p:spPr>
      </p:pic>
      <p:sp>
        <p:nvSpPr>
          <p:cNvPr id="25" name="TextBox 24"/>
          <p:cNvSpPr txBox="1"/>
          <p:nvPr/>
        </p:nvSpPr>
        <p:spPr>
          <a:xfrm>
            <a:off x="3920490" y="2624328"/>
            <a:ext cx="1954530" cy="329184"/>
          </a:xfrm>
          <a:prstGeom prst="rect">
            <a:avLst/>
          </a:prstGeom>
          <a:noFill/>
        </p:spPr>
        <p:txBody>
          <a:bodyPr wrap="square" lIns="0" rIns="0" tIns="0" bIns="0" anchor="ctr">
            <a:spAutoFit/>
          </a:bodyPr>
          <a:lstStyle/>
          <a:p>
            <a:pPr algn="l">
              <a:lnSpc>
                <a:spcPct val="115000"/>
              </a:lnSpc>
            </a:pPr>
            <a:r>
              <a:rPr sz="1300" b="1" i="0">
                <a:solidFill>
                  <a:srgbClr val="028090"/>
                </a:solidFill>
                <a:latin typeface="Arial"/>
              </a:rPr>
              <a:t>Смена модели</a:t>
            </a:r>
          </a:p>
        </p:txBody>
      </p:sp>
      <p:sp>
        <p:nvSpPr>
          <p:cNvPr id="26" name="TextBox 25"/>
          <p:cNvSpPr txBox="1"/>
          <p:nvPr/>
        </p:nvSpPr>
        <p:spPr>
          <a:xfrm>
            <a:off x="3536442"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новая embedding-модель = пере-эмбеддить ВСЕ векторы (старые/новые несравнимы) — миграция, не строка конфига.</a:t>
            </a:r>
          </a:p>
        </p:txBody>
      </p:sp>
      <p:sp>
        <p:nvSpPr>
          <p:cNvPr id="27" name="Rounded Rectangle 26"/>
          <p:cNvSpPr/>
          <p:nvPr/>
        </p:nvSpPr>
        <p:spPr>
          <a:xfrm>
            <a:off x="6204204"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eck-check-mid.png"/>
          <p:cNvPicPr>
            <a:picLocks noChangeAspect="1"/>
          </p:cNvPicPr>
          <p:nvPr/>
        </p:nvPicPr>
        <p:blipFill>
          <a:blip r:embed="rId4"/>
          <a:stretch>
            <a:fillRect/>
          </a:stretch>
        </p:blipFill>
        <p:spPr>
          <a:xfrm>
            <a:off x="6368796" y="2633472"/>
            <a:ext cx="329184" cy="329184"/>
          </a:xfrm>
          <a:prstGeom prst="rect">
            <a:avLst/>
          </a:prstGeom>
        </p:spPr>
      </p:pic>
      <p:sp>
        <p:nvSpPr>
          <p:cNvPr id="29" name="TextBox 28"/>
          <p:cNvSpPr txBox="1"/>
          <p:nvPr/>
        </p:nvSpPr>
        <p:spPr>
          <a:xfrm>
            <a:off x="6771132" y="2624328"/>
            <a:ext cx="1954530" cy="329184"/>
          </a:xfrm>
          <a:prstGeom prst="rect">
            <a:avLst/>
          </a:prstGeom>
          <a:noFill/>
        </p:spPr>
        <p:txBody>
          <a:bodyPr wrap="square" lIns="0" rIns="0" tIns="0" bIns="0" anchor="ctr">
            <a:spAutoFit/>
          </a:bodyPr>
          <a:lstStyle/>
          <a:p>
            <a:pPr algn="l">
              <a:lnSpc>
                <a:spcPct val="115000"/>
              </a:lnSpc>
            </a:pPr>
            <a:r>
              <a:rPr sz="1300" b="1" i="0">
                <a:solidFill>
                  <a:srgbClr val="1C7293"/>
                </a:solidFill>
                <a:latin typeface="Arial"/>
              </a:rPr>
              <a:t>Eval</a:t>
            </a:r>
          </a:p>
        </p:txBody>
      </p:sp>
      <p:sp>
        <p:nvSpPr>
          <p:cNvPr id="30" name="TextBox 29"/>
          <p:cNvSpPr txBox="1"/>
          <p:nvPr/>
        </p:nvSpPr>
        <p:spPr>
          <a:xfrm>
            <a:off x="6387084"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метки: recall@k ~0,8, nDCG</a:t>
            </a:r>
            <a:r>
              <a:rPr sz="546" baseline="30000" b="0" i="1">
                <a:latin typeface="Arial"/>
                <a:cs typeface="Arial"/>
                <a:ea typeface="Arial"/>
                <a:solidFill>
                  <a:srgbClr val="1C7293"/>
                </a:solidFill>
              </a:rPr>
              <a:t>[2]</a:t>
            </a:r>
            <a:r>
              <a:rPr sz="1050" b="0" i="0">
                <a:latin typeface="Arial"/>
                <a:cs typeface="Arial"/>
                <a:ea typeface="Arial"/>
                <a:solidFill>
                  <a:srgbClr val="21295C"/>
                </a:solidFill>
              </a:rPr>
              <a:t>; LLM-судья: RAGAS faithfulness/context-precision/recall. Обе группы + сверять с людьми.</a:t>
            </a:r>
          </a:p>
        </p:txBody>
      </p:sp>
      <p:sp>
        <p:nvSpPr>
          <p:cNvPr id="31" name="Rounded Rectangle 30"/>
          <p:cNvSpPr/>
          <p:nvPr/>
        </p:nvSpPr>
        <p:spPr>
          <a:xfrm>
            <a:off x="9054846"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cale-mid.png"/>
          <p:cNvPicPr>
            <a:picLocks noChangeAspect="1"/>
          </p:cNvPicPr>
          <p:nvPr/>
        </p:nvPicPr>
        <p:blipFill>
          <a:blip r:embed="rId5"/>
          <a:stretch>
            <a:fillRect/>
          </a:stretch>
        </p:blipFill>
        <p:spPr>
          <a:xfrm>
            <a:off x="9219438" y="2633472"/>
            <a:ext cx="329184" cy="329184"/>
          </a:xfrm>
          <a:prstGeom prst="rect">
            <a:avLst/>
          </a:prstGeom>
        </p:spPr>
      </p:pic>
      <p:sp>
        <p:nvSpPr>
          <p:cNvPr id="33" name="TextBox 32"/>
          <p:cNvSpPr txBox="1"/>
          <p:nvPr/>
        </p:nvSpPr>
        <p:spPr>
          <a:xfrm>
            <a:off x="9621774" y="2624328"/>
            <a:ext cx="1954530" cy="32918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Стоимость</a:t>
            </a:r>
          </a:p>
        </p:txBody>
      </p:sp>
      <p:sp>
        <p:nvSpPr>
          <p:cNvPr id="34" name="TextBox 33"/>
          <p:cNvSpPr txBox="1"/>
          <p:nvPr/>
        </p:nvSpPr>
        <p:spPr>
          <a:xfrm>
            <a:off x="9237726"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семантическое кэширование ~69% экономии LLM (vs без кэша)</a:t>
            </a:r>
            <a:r>
              <a:rPr sz="546" baseline="30000" b="0" i="1">
                <a:latin typeface="Arial"/>
                <a:cs typeface="Arial"/>
                <a:ea typeface="Arial"/>
                <a:solidFill>
                  <a:srgbClr val="1C7293"/>
                </a:solidFill>
              </a:rPr>
              <a:t>[1]</a:t>
            </a:r>
            <a:r>
              <a:rPr sz="1050" b="0" i="0">
                <a:latin typeface="Arial"/>
                <a:cs typeface="Arial"/>
                <a:ea typeface="Arial"/>
                <a:solidFill>
                  <a:srgbClr val="21295C"/>
                </a:solidFill>
              </a:rPr>
              <a:t>. SLA &lt;50 мс толкают расходы вверх.</a:t>
            </a:r>
          </a:p>
        </p:txBody>
      </p:sp>
      <p:sp>
        <p:nvSpPr>
          <p:cNvPr id="35" name="Rounded Rectangle 34"/>
          <p:cNvSpPr/>
          <p:nvPr/>
        </p:nvSpPr>
        <p:spPr>
          <a:xfrm>
            <a:off x="502920" y="4169663"/>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224527"/>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Каунтерфактуал: база знаний под ~200k токенов целиком кладётся в промпт с кэшированием (до ~90% сокращения стоимости) — retrieval пропускается вовсе. Длинный контекст + кэш — легитимная альтернатива RAG на малом масштабе.</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Redis — RAG at Scale (ingestion-горло, CDC 24ч→субминута, кэш ~69%)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futureagi — RAG Evaluation Metrics (recall@k ~0,8, nDCG, RAGAS)</a:t>
            </a:r>
            <a:r>
              <a:rPr sz="850" i="1">
                <a:solidFill>
                  <a:srgbClr val="5B6678"/>
                </a:solidFill>
                <a:latin typeface="Arial"/>
              </a:rPr>
              <a:t>   ·   Первый вопрос перед всей инфраструктурой — «а нужен ли RAG вообще, или корпус мал и стабилен настолько, что его хватает положить в окно».</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395728"/>
          </a:xfrm>
          <a:prstGeom prst="roundRect">
            <a:avLst>
              <a:gd name="adj" fmla="val 1272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в реальном времени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457200" y="4069080"/>
            <a:ext cx="2057400" cy="11978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12-rollsafe-ru.png"/>
          <p:cNvPicPr>
            <a:picLocks noChangeAspect="1"/>
          </p:cNvPicPr>
          <p:nvPr/>
        </p:nvPicPr>
        <p:blipFill>
          <a:blip r:embed="rId5"/>
          <a:stretch>
            <a:fillRect/>
          </a:stretch>
        </p:blipFill>
        <p:spPr>
          <a:xfrm>
            <a:off x="502920" y="4114910"/>
            <a:ext cx="1965960" cy="1106203"/>
          </a:xfrm>
          <a:prstGeom prst="rect">
            <a:avLst/>
          </a:prstGeom>
        </p:spPr>
      </p:pic>
      <p:sp>
        <p:nvSpPr>
          <p:cNvPr id="27" name="TextBox 26"/>
          <p:cNvSpPr txBox="1"/>
          <p:nvPr/>
        </p:nvSpPr>
        <p:spPr>
          <a:xfrm>
            <a:off x="2798064" y="4133087"/>
            <a:ext cx="8275320" cy="1106424"/>
          </a:xfrm>
          <a:prstGeom prst="rect">
            <a:avLst/>
          </a:prstGeom>
          <a:noFill/>
        </p:spPr>
        <p:txBody>
          <a:bodyPr wrap="square" lIns="0" rIns="0" tIns="0" bIns="0" anchor="ctr">
            <a:spAutoFit/>
          </a:bodyPr>
          <a:lstStyle/>
          <a:p>
            <a:pPr algn="l">
              <a:lnSpc>
                <a:spcPct val="124000"/>
              </a:lnSpc>
            </a:pPr>
            <a:r>
              <a:rPr sz="1350" b="1" i="0">
                <a:solidFill>
                  <a:srgbClr val="065A82"/>
                </a:solidFill>
                <a:latin typeface="Arial"/>
              </a:rPr>
              <a:t>Частый анти-паттерн — ставить RAG-инфраструктуру там, где весь корпус спокойно помещается в контекстное окно и меняется редко.</a:t>
            </a:r>
          </a:p>
        </p:txBody>
      </p:sp>
      <p:sp>
        <p:nvSpPr>
          <p:cNvPr id="28" name="Rounded Rectangle 27"/>
          <p:cNvSpPr/>
          <p:nvPr/>
        </p:nvSpPr>
        <p:spPr>
          <a:xfrm>
            <a:off x="502920" y="5285232"/>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340096"/>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McCarthy Tétrault — Air Canada («генерация поверх фикс. политики»)</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8" name="Rounded Rectangle 7"/>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обучение модели: train/val/test и transfer learning.</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Обучение под задачу — это размеченная выборка с эталоном, разбиение train/val/test и перенос обучения (transfer learning) поверх предобученной модели. На этом стоит дообучение.</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Eval-наборы (golden set) — без них catastrophic forgetting не виден;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Тренировка дёшева и дешевеет — вопрос лишь какой вариант.</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Пять вариантов на базе класса 7B. Претрейн с нуля — только как масштаб-ориентир: никто в зале не тренирует модель с нуля, реальный выбор идёт между Full-FT, LoRA, QLoRA и «вообще не тренировать».</a:t>
            </a:r>
          </a:p>
        </p:txBody>
      </p:sp>
      <p:sp>
        <p:nvSpPr>
          <p:cNvPr id="4" name="Rounded Rectangle 3"/>
          <p:cNvSpPr/>
          <p:nvPr/>
        </p:nvSpPr>
        <p:spPr>
          <a:xfrm>
            <a:off x="365760" y="1517904"/>
            <a:ext cx="11475720" cy="3639312"/>
          </a:xfrm>
          <a:prstGeom prst="roundRect">
            <a:avLst>
              <a:gd name="adj" fmla="val 83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609344"/>
            <a:ext cx="2331720"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9344"/>
            <a:ext cx="2185415"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Ось</a:t>
            </a:r>
          </a:p>
        </p:txBody>
      </p:sp>
      <p:sp>
        <p:nvSpPr>
          <p:cNvPr id="7" name="Rectangle 6"/>
          <p:cNvSpPr/>
          <p:nvPr/>
        </p:nvSpPr>
        <p:spPr>
          <a:xfrm>
            <a:off x="2807208" y="1609344"/>
            <a:ext cx="2084831"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0360" y="1609344"/>
            <a:ext cx="1938527"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Претрейн с нуля</a:t>
            </a:r>
          </a:p>
        </p:txBody>
      </p:sp>
      <p:sp>
        <p:nvSpPr>
          <p:cNvPr id="9" name="Rectangle 8"/>
          <p:cNvSpPr/>
          <p:nvPr/>
        </p:nvSpPr>
        <p:spPr>
          <a:xfrm>
            <a:off x="4892040" y="1609344"/>
            <a:ext cx="1700784"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65192" y="1609344"/>
            <a:ext cx="1554480"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Full-FT</a:t>
            </a:r>
          </a:p>
        </p:txBody>
      </p:sp>
      <p:sp>
        <p:nvSpPr>
          <p:cNvPr id="11" name="Rectangle 10"/>
          <p:cNvSpPr/>
          <p:nvPr/>
        </p:nvSpPr>
        <p:spPr>
          <a:xfrm>
            <a:off x="6592824" y="1609344"/>
            <a:ext cx="1810512" cy="38404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65976" y="1609344"/>
            <a:ext cx="1664208" cy="384048"/>
          </a:xfrm>
          <a:prstGeom prst="rect">
            <a:avLst/>
          </a:prstGeom>
          <a:noFill/>
        </p:spPr>
        <p:txBody>
          <a:bodyPr wrap="square" lIns="0" rIns="0" tIns="0" bIns="0" anchor="ctr">
            <a:spAutoFit/>
          </a:bodyPr>
          <a:lstStyle/>
          <a:p>
            <a:pPr algn="ctr">
              <a:lnSpc>
                <a:spcPct val="100000"/>
              </a:lnSpc>
            </a:pPr>
            <a:r>
              <a:rPr sz="1100" b="1" i="0">
                <a:solidFill>
                  <a:srgbClr val="21295C"/>
                </a:solidFill>
                <a:latin typeface="Arial"/>
              </a:rPr>
              <a:t>LoRA</a:t>
            </a:r>
          </a:p>
        </p:txBody>
      </p:sp>
      <p:sp>
        <p:nvSpPr>
          <p:cNvPr id="13" name="Rectangle 12"/>
          <p:cNvSpPr/>
          <p:nvPr/>
        </p:nvSpPr>
        <p:spPr>
          <a:xfrm>
            <a:off x="8403336" y="1609344"/>
            <a:ext cx="1737360"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76488" y="1609344"/>
            <a:ext cx="1591056"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QLoRA</a:t>
            </a:r>
          </a:p>
        </p:txBody>
      </p:sp>
      <p:sp>
        <p:nvSpPr>
          <p:cNvPr id="15" name="Rectangle 14"/>
          <p:cNvSpPr/>
          <p:nvPr/>
        </p:nvSpPr>
        <p:spPr>
          <a:xfrm>
            <a:off x="10140696" y="1609344"/>
            <a:ext cx="1591056"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13848" y="1609344"/>
            <a:ext cx="1444752"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Промпт / RAG</a:t>
            </a:r>
          </a:p>
        </p:txBody>
      </p:sp>
      <p:sp>
        <p:nvSpPr>
          <p:cNvPr id="17" name="Rectangle 16"/>
          <p:cNvSpPr/>
          <p:nvPr/>
        </p:nvSpPr>
        <p:spPr>
          <a:xfrm>
            <a:off x="475488" y="1993392"/>
            <a:ext cx="233172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1993392"/>
            <a:ext cx="2185415" cy="512063"/>
          </a:xfrm>
          <a:prstGeom prst="rect">
            <a:avLst/>
          </a:prstGeom>
          <a:noFill/>
        </p:spPr>
        <p:txBody>
          <a:bodyPr wrap="square" lIns="0" rIns="0" tIns="0" bIns="0" anchor="ctr">
            <a:spAutoFit/>
          </a:bodyPr>
          <a:lstStyle/>
          <a:p>
            <a:pPr algn="l">
              <a:lnSpc>
                <a:spcPct val="100000"/>
              </a:lnSpc>
            </a:pPr>
            <a:r>
              <a:rPr sz="1000" b="1" i="0">
                <a:solidFill>
                  <a:srgbClr val="21295C"/>
                </a:solidFill>
                <a:latin typeface="Arial"/>
              </a:rPr>
              <a:t>Обучаемые параметры</a:t>
            </a:r>
          </a:p>
        </p:txBody>
      </p:sp>
      <p:sp>
        <p:nvSpPr>
          <p:cNvPr id="19" name="Rectangle 18"/>
          <p:cNvSpPr/>
          <p:nvPr/>
        </p:nvSpPr>
        <p:spPr>
          <a:xfrm>
            <a:off x="2807208" y="1993392"/>
            <a:ext cx="2084831"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80360" y="1993392"/>
            <a:ext cx="1938527"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100% (с нуля)</a:t>
            </a:r>
          </a:p>
        </p:txBody>
      </p:sp>
      <p:sp>
        <p:nvSpPr>
          <p:cNvPr id="21" name="Rectangle 20"/>
          <p:cNvSpPr/>
          <p:nvPr/>
        </p:nvSpPr>
        <p:spPr>
          <a:xfrm>
            <a:off x="4892040" y="1993392"/>
            <a:ext cx="1700784"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65192" y="1993392"/>
            <a:ext cx="1554480"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100% весов</a:t>
            </a:r>
          </a:p>
        </p:txBody>
      </p:sp>
      <p:sp>
        <p:nvSpPr>
          <p:cNvPr id="23" name="Rectangle 22"/>
          <p:cNvSpPr/>
          <p:nvPr/>
        </p:nvSpPr>
        <p:spPr>
          <a:xfrm>
            <a:off x="6592824" y="1993392"/>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65976" y="1993392"/>
            <a:ext cx="1664208" cy="512063"/>
          </a:xfrm>
          <a:prstGeom prst="rect">
            <a:avLst/>
          </a:prstGeom>
          <a:noFill/>
        </p:spPr>
        <p:txBody>
          <a:bodyPr wrap="square" lIns="0" rIns="0" tIns="0" bIns="0" anchor="ctr">
            <a:spAutoFit/>
          </a:bodyPr>
          <a:lstStyle/>
          <a:p>
            <a:pPr algn="ctr">
              <a:lnSpc>
                <a:spcPct val="100000"/>
              </a:lnSpc>
            </a:pPr>
            <a:r>
              <a:rPr sz="1000" b="1" i="0">
                <a:solidFill>
                  <a:srgbClr val="21295C"/>
                </a:solidFill>
                <a:latin typeface="Arial"/>
              </a:rPr>
              <a:t>~0,13% (r=4)</a:t>
            </a:r>
          </a:p>
        </p:txBody>
      </p:sp>
      <p:sp>
        <p:nvSpPr>
          <p:cNvPr id="25" name="Rectangle 24"/>
          <p:cNvSpPr/>
          <p:nvPr/>
        </p:nvSpPr>
        <p:spPr>
          <a:xfrm>
            <a:off x="8403336" y="1993392"/>
            <a:ext cx="173736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76488" y="1993392"/>
            <a:ext cx="1591056"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как LoRA</a:t>
            </a:r>
          </a:p>
        </p:txBody>
      </p:sp>
      <p:sp>
        <p:nvSpPr>
          <p:cNvPr id="27" name="Rectangle 26"/>
          <p:cNvSpPr/>
          <p:nvPr/>
        </p:nvSpPr>
        <p:spPr>
          <a:xfrm>
            <a:off x="10140696" y="1993392"/>
            <a:ext cx="1591056"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3848" y="1993392"/>
            <a:ext cx="1444752"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0% — веса не меняются</a:t>
            </a:r>
          </a:p>
        </p:txBody>
      </p:sp>
      <p:sp>
        <p:nvSpPr>
          <p:cNvPr id="29" name="Rectangle 28"/>
          <p:cNvSpPr/>
          <p:nvPr/>
        </p:nvSpPr>
        <p:spPr>
          <a:xfrm>
            <a:off x="475488" y="2505456"/>
            <a:ext cx="233172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2505456"/>
            <a:ext cx="2185415" cy="512063"/>
          </a:xfrm>
          <a:prstGeom prst="rect">
            <a:avLst/>
          </a:prstGeom>
          <a:noFill/>
        </p:spPr>
        <p:txBody>
          <a:bodyPr wrap="square" lIns="0" rIns="0" tIns="0" bIns="0" anchor="ctr">
            <a:spAutoFit/>
          </a:bodyPr>
          <a:lstStyle/>
          <a:p>
            <a:pPr algn="l">
              <a:lnSpc>
                <a:spcPct val="100000"/>
              </a:lnSpc>
            </a:pPr>
            <a:r>
              <a:rPr sz="1000" b="1" i="0">
                <a:solidFill>
                  <a:srgbClr val="21295C"/>
                </a:solidFill>
                <a:latin typeface="Arial"/>
              </a:rPr>
              <a:t>$ за прогон</a:t>
            </a:r>
          </a:p>
        </p:txBody>
      </p:sp>
      <p:sp>
        <p:nvSpPr>
          <p:cNvPr id="31" name="Rectangle 30"/>
          <p:cNvSpPr/>
          <p:nvPr/>
        </p:nvSpPr>
        <p:spPr>
          <a:xfrm>
            <a:off x="2807208" y="2505456"/>
            <a:ext cx="2084831"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80360" y="2505456"/>
            <a:ext cx="1938527"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$61–92M (405B)</a:t>
            </a:r>
          </a:p>
        </p:txBody>
      </p:sp>
      <p:sp>
        <p:nvSpPr>
          <p:cNvPr id="33" name="Rectangle 32"/>
          <p:cNvSpPr/>
          <p:nvPr/>
        </p:nvSpPr>
        <p:spPr>
          <a:xfrm>
            <a:off x="4892040" y="2505456"/>
            <a:ext cx="1700784"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65192" y="2505456"/>
            <a:ext cx="1554480"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~$200–300</a:t>
            </a:r>
          </a:p>
        </p:txBody>
      </p:sp>
      <p:sp>
        <p:nvSpPr>
          <p:cNvPr id="35" name="Rectangle 34"/>
          <p:cNvSpPr/>
          <p:nvPr/>
        </p:nvSpPr>
        <p:spPr>
          <a:xfrm>
            <a:off x="6592824" y="2505456"/>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65976" y="2505456"/>
            <a:ext cx="1664208" cy="512063"/>
          </a:xfrm>
          <a:prstGeom prst="rect">
            <a:avLst/>
          </a:prstGeom>
          <a:noFill/>
        </p:spPr>
        <p:txBody>
          <a:bodyPr wrap="square" lIns="0" rIns="0" tIns="0" bIns="0" anchor="ctr">
            <a:spAutoFit/>
          </a:bodyPr>
          <a:lstStyle/>
          <a:p>
            <a:pPr algn="ctr">
              <a:lnSpc>
                <a:spcPct val="100000"/>
              </a:lnSpc>
            </a:pPr>
            <a:r>
              <a:rPr sz="1000" b="1" i="0">
                <a:solidFill>
                  <a:srgbClr val="21295C"/>
                </a:solidFill>
                <a:latin typeface="Arial"/>
              </a:rPr>
              <a:t>&lt;$10 (7B)</a:t>
            </a:r>
          </a:p>
        </p:txBody>
      </p:sp>
      <p:sp>
        <p:nvSpPr>
          <p:cNvPr id="37" name="Rectangle 36"/>
          <p:cNvSpPr/>
          <p:nvPr/>
        </p:nvSpPr>
        <p:spPr>
          <a:xfrm>
            <a:off x="8403336" y="2505456"/>
            <a:ext cx="173736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76488" y="2505456"/>
            <a:ext cx="1591056"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 LoRA</a:t>
            </a:r>
          </a:p>
        </p:txBody>
      </p:sp>
      <p:sp>
        <p:nvSpPr>
          <p:cNvPr id="39" name="Rectangle 38"/>
          <p:cNvSpPr/>
          <p:nvPr/>
        </p:nvSpPr>
        <p:spPr>
          <a:xfrm>
            <a:off x="10140696" y="2505456"/>
            <a:ext cx="1591056"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13848" y="2505456"/>
            <a:ext cx="1444752"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$0 тренировки</a:t>
            </a:r>
          </a:p>
        </p:txBody>
      </p:sp>
      <p:sp>
        <p:nvSpPr>
          <p:cNvPr id="41" name="Rectangle 40"/>
          <p:cNvSpPr/>
          <p:nvPr/>
        </p:nvSpPr>
        <p:spPr>
          <a:xfrm>
            <a:off x="475488" y="3017520"/>
            <a:ext cx="233172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3017520"/>
            <a:ext cx="2185415" cy="512063"/>
          </a:xfrm>
          <a:prstGeom prst="rect">
            <a:avLst/>
          </a:prstGeom>
          <a:noFill/>
        </p:spPr>
        <p:txBody>
          <a:bodyPr wrap="square" lIns="0" rIns="0" tIns="0" bIns="0" anchor="ctr">
            <a:spAutoFit/>
          </a:bodyPr>
          <a:lstStyle/>
          <a:p>
            <a:pPr algn="l">
              <a:lnSpc>
                <a:spcPct val="100000"/>
              </a:lnSpc>
            </a:pPr>
            <a:r>
              <a:rPr sz="1000" b="1" i="0">
                <a:solidFill>
                  <a:srgbClr val="21295C"/>
                </a:solidFill>
                <a:latin typeface="Arial"/>
              </a:rPr>
              <a:t>Компьют</a:t>
            </a:r>
          </a:p>
        </p:txBody>
      </p:sp>
      <p:sp>
        <p:nvSpPr>
          <p:cNvPr id="43" name="Rectangle 42"/>
          <p:cNvSpPr/>
          <p:nvPr/>
        </p:nvSpPr>
        <p:spPr>
          <a:xfrm>
            <a:off x="2807208" y="3017520"/>
            <a:ext cx="2084831"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880360" y="3017520"/>
            <a:ext cx="1938527"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30,8M H100-ч</a:t>
            </a:r>
          </a:p>
        </p:txBody>
      </p:sp>
      <p:sp>
        <p:nvSpPr>
          <p:cNvPr id="45" name="Rectangle 44"/>
          <p:cNvSpPr/>
          <p:nvPr/>
        </p:nvSpPr>
        <p:spPr>
          <a:xfrm>
            <a:off x="4892040" y="3017520"/>
            <a:ext cx="1700784"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65192" y="3017520"/>
            <a:ext cx="1554480"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часы–дни</a:t>
            </a:r>
          </a:p>
        </p:txBody>
      </p:sp>
      <p:sp>
        <p:nvSpPr>
          <p:cNvPr id="47" name="Rectangle 46"/>
          <p:cNvSpPr/>
          <p:nvPr/>
        </p:nvSpPr>
        <p:spPr>
          <a:xfrm>
            <a:off x="6592824" y="3017520"/>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65976" y="3017520"/>
            <a:ext cx="1664208" cy="512063"/>
          </a:xfrm>
          <a:prstGeom prst="rect">
            <a:avLst/>
          </a:prstGeom>
          <a:noFill/>
        </p:spPr>
        <p:txBody>
          <a:bodyPr wrap="square" lIns="0" rIns="0" tIns="0" bIns="0" anchor="ctr">
            <a:spAutoFit/>
          </a:bodyPr>
          <a:lstStyle/>
          <a:p>
            <a:pPr algn="ctr">
              <a:lnSpc>
                <a:spcPct val="100000"/>
              </a:lnSpc>
            </a:pPr>
            <a:r>
              <a:rPr sz="1000" b="1" i="0">
                <a:solidFill>
                  <a:srgbClr val="21295C"/>
                </a:solidFill>
                <a:latin typeface="Arial"/>
              </a:rPr>
              <a:t>24 GPU-ч (65B)</a:t>
            </a:r>
          </a:p>
        </p:txBody>
      </p:sp>
      <p:sp>
        <p:nvSpPr>
          <p:cNvPr id="49" name="Rectangle 48"/>
          <p:cNvSpPr/>
          <p:nvPr/>
        </p:nvSpPr>
        <p:spPr>
          <a:xfrm>
            <a:off x="8403336" y="3017520"/>
            <a:ext cx="173736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76488" y="3017520"/>
            <a:ext cx="1591056"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 LoRA</a:t>
            </a:r>
          </a:p>
        </p:txBody>
      </p:sp>
      <p:sp>
        <p:nvSpPr>
          <p:cNvPr id="51" name="Rectangle 50"/>
          <p:cNvSpPr/>
          <p:nvPr/>
        </p:nvSpPr>
        <p:spPr>
          <a:xfrm>
            <a:off x="10140696" y="3017520"/>
            <a:ext cx="1591056"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13848" y="3017520"/>
            <a:ext cx="1444752"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нет</a:t>
            </a:r>
          </a:p>
        </p:txBody>
      </p:sp>
      <p:sp>
        <p:nvSpPr>
          <p:cNvPr id="53" name="Rectangle 52"/>
          <p:cNvSpPr/>
          <p:nvPr/>
        </p:nvSpPr>
        <p:spPr>
          <a:xfrm>
            <a:off x="475488" y="3529584"/>
            <a:ext cx="233172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8640" y="3529584"/>
            <a:ext cx="2185415" cy="512063"/>
          </a:xfrm>
          <a:prstGeom prst="rect">
            <a:avLst/>
          </a:prstGeom>
          <a:noFill/>
        </p:spPr>
        <p:txBody>
          <a:bodyPr wrap="square" lIns="0" rIns="0" tIns="0" bIns="0" anchor="ctr">
            <a:spAutoFit/>
          </a:bodyPr>
          <a:lstStyle/>
          <a:p>
            <a:pPr algn="l">
              <a:lnSpc>
                <a:spcPct val="100000"/>
              </a:lnSpc>
            </a:pPr>
            <a:r>
              <a:rPr sz="1000" b="1" i="0">
                <a:solidFill>
                  <a:srgbClr val="21295C"/>
                </a:solidFill>
                <a:latin typeface="Arial"/>
              </a:rPr>
              <a:t>Объём данных (мин.)</a:t>
            </a:r>
          </a:p>
        </p:txBody>
      </p:sp>
      <p:sp>
        <p:nvSpPr>
          <p:cNvPr id="55" name="Rectangle 54"/>
          <p:cNvSpPr/>
          <p:nvPr/>
        </p:nvSpPr>
        <p:spPr>
          <a:xfrm>
            <a:off x="2807208" y="3529584"/>
            <a:ext cx="2084831"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80360" y="3529584"/>
            <a:ext cx="1938527"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триллионы токенов</a:t>
            </a:r>
          </a:p>
        </p:txBody>
      </p:sp>
      <p:sp>
        <p:nvSpPr>
          <p:cNvPr id="57" name="Rectangle 56"/>
          <p:cNvSpPr/>
          <p:nvPr/>
        </p:nvSpPr>
        <p:spPr>
          <a:xfrm>
            <a:off x="4892040" y="3529584"/>
            <a:ext cx="1700784"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65192" y="3529584"/>
            <a:ext cx="1554480"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тысячи–десятки тыс.</a:t>
            </a:r>
          </a:p>
        </p:txBody>
      </p:sp>
      <p:sp>
        <p:nvSpPr>
          <p:cNvPr id="59" name="Rectangle 58"/>
          <p:cNvSpPr/>
          <p:nvPr/>
        </p:nvSpPr>
        <p:spPr>
          <a:xfrm>
            <a:off x="6592824" y="3529584"/>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65976" y="3529584"/>
            <a:ext cx="1664208" cy="512063"/>
          </a:xfrm>
          <a:prstGeom prst="rect">
            <a:avLst/>
          </a:prstGeom>
          <a:noFill/>
        </p:spPr>
        <p:txBody>
          <a:bodyPr wrap="square" lIns="0" rIns="0" tIns="0" bIns="0" anchor="ctr">
            <a:spAutoFit/>
          </a:bodyPr>
          <a:lstStyle/>
          <a:p>
            <a:pPr algn="ctr">
              <a:lnSpc>
                <a:spcPct val="100000"/>
              </a:lnSpc>
            </a:pPr>
            <a:r>
              <a:rPr sz="1000" b="1" i="0">
                <a:solidFill>
                  <a:srgbClr val="21295C"/>
                </a:solidFill>
                <a:latin typeface="Arial"/>
              </a:rPr>
              <a:t>~1000 (пол); 5k+</a:t>
            </a:r>
          </a:p>
        </p:txBody>
      </p:sp>
      <p:sp>
        <p:nvSpPr>
          <p:cNvPr id="61" name="Rectangle 60"/>
          <p:cNvSpPr/>
          <p:nvPr/>
        </p:nvSpPr>
        <p:spPr>
          <a:xfrm>
            <a:off x="8403336" y="3529584"/>
            <a:ext cx="173736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76488" y="3529584"/>
            <a:ext cx="1591056"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как LoRA</a:t>
            </a:r>
          </a:p>
        </p:txBody>
      </p:sp>
      <p:sp>
        <p:nvSpPr>
          <p:cNvPr id="63" name="Rectangle 62"/>
          <p:cNvSpPr/>
          <p:nvPr/>
        </p:nvSpPr>
        <p:spPr>
          <a:xfrm>
            <a:off x="10140696" y="3529584"/>
            <a:ext cx="1591056"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213848" y="3529584"/>
            <a:ext cx="1444752"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0 (few-shot 3–20)</a:t>
            </a:r>
          </a:p>
        </p:txBody>
      </p:sp>
      <p:sp>
        <p:nvSpPr>
          <p:cNvPr id="65" name="Rectangle 64"/>
          <p:cNvSpPr/>
          <p:nvPr/>
        </p:nvSpPr>
        <p:spPr>
          <a:xfrm>
            <a:off x="475488" y="4041648"/>
            <a:ext cx="233172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8640" y="4041648"/>
            <a:ext cx="2185415" cy="512063"/>
          </a:xfrm>
          <a:prstGeom prst="rect">
            <a:avLst/>
          </a:prstGeom>
          <a:noFill/>
        </p:spPr>
        <p:txBody>
          <a:bodyPr wrap="square" lIns="0" rIns="0" tIns="0" bIns="0" anchor="ctr">
            <a:spAutoFit/>
          </a:bodyPr>
          <a:lstStyle/>
          <a:p>
            <a:pPr algn="l">
              <a:lnSpc>
                <a:spcPct val="100000"/>
              </a:lnSpc>
            </a:pPr>
            <a:r>
              <a:rPr sz="1000" b="1" i="0">
                <a:solidFill>
                  <a:srgbClr val="21295C"/>
                </a:solidFill>
                <a:latin typeface="Arial"/>
              </a:rPr>
              <a:t>VRAM (65–70B)</a:t>
            </a:r>
          </a:p>
        </p:txBody>
      </p:sp>
      <p:sp>
        <p:nvSpPr>
          <p:cNvPr id="67" name="Rectangle 66"/>
          <p:cNvSpPr/>
          <p:nvPr/>
        </p:nvSpPr>
        <p:spPr>
          <a:xfrm>
            <a:off x="2807208" y="4041648"/>
            <a:ext cx="2084831"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880360" y="4041648"/>
            <a:ext cx="1938527"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кластер</a:t>
            </a:r>
          </a:p>
        </p:txBody>
      </p:sp>
      <p:sp>
        <p:nvSpPr>
          <p:cNvPr id="69" name="Rectangle 68"/>
          <p:cNvSpPr/>
          <p:nvPr/>
        </p:nvSpPr>
        <p:spPr>
          <a:xfrm>
            <a:off x="4892040" y="4041648"/>
            <a:ext cx="1700784"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965192" y="4041648"/>
            <a:ext cx="1554480"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много-узловой</a:t>
            </a:r>
          </a:p>
        </p:txBody>
      </p:sp>
      <p:sp>
        <p:nvSpPr>
          <p:cNvPr id="71" name="Rectangle 70"/>
          <p:cNvSpPr/>
          <p:nvPr/>
        </p:nvSpPr>
        <p:spPr>
          <a:xfrm>
            <a:off x="6592824" y="4041648"/>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665976" y="4041648"/>
            <a:ext cx="1664208" cy="512063"/>
          </a:xfrm>
          <a:prstGeom prst="rect">
            <a:avLst/>
          </a:prstGeom>
          <a:noFill/>
        </p:spPr>
        <p:txBody>
          <a:bodyPr wrap="square" lIns="0" rIns="0" tIns="0" bIns="0" anchor="ctr">
            <a:spAutoFit/>
          </a:bodyPr>
          <a:lstStyle/>
          <a:p>
            <a:pPr algn="ctr">
              <a:lnSpc>
                <a:spcPct val="100000"/>
              </a:lnSpc>
            </a:pPr>
            <a:r>
              <a:rPr sz="1000" b="1" i="0">
                <a:solidFill>
                  <a:srgbClr val="21295C"/>
                </a:solidFill>
                <a:latin typeface="Arial"/>
              </a:rPr>
              <a:t>80 ГБ+</a:t>
            </a:r>
          </a:p>
        </p:txBody>
      </p:sp>
      <p:sp>
        <p:nvSpPr>
          <p:cNvPr id="73" name="Rectangle 72"/>
          <p:cNvSpPr/>
          <p:nvPr/>
        </p:nvSpPr>
        <p:spPr>
          <a:xfrm>
            <a:off x="8403336" y="4041648"/>
            <a:ext cx="173736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476488" y="4041648"/>
            <a:ext cx="1591056"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65B на 48 ГБ</a:t>
            </a:r>
            <a:r>
              <a:rPr sz="520" baseline="30000" b="0" i="1">
                <a:latin typeface="Arial"/>
                <a:cs typeface="Arial"/>
                <a:ea typeface="Arial"/>
                <a:solidFill>
                  <a:srgbClr val="1C7293"/>
                </a:solidFill>
              </a:rPr>
              <a:t>[2]</a:t>
            </a:r>
          </a:p>
        </p:txBody>
      </p:sp>
      <p:sp>
        <p:nvSpPr>
          <p:cNvPr id="75" name="Rectangle 74"/>
          <p:cNvSpPr/>
          <p:nvPr/>
        </p:nvSpPr>
        <p:spPr>
          <a:xfrm>
            <a:off x="10140696" y="4041648"/>
            <a:ext cx="1591056"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213848" y="4041648"/>
            <a:ext cx="1444752"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только инференс</a:t>
            </a:r>
          </a:p>
        </p:txBody>
      </p:sp>
      <p:sp>
        <p:nvSpPr>
          <p:cNvPr id="77" name="Rectangle 76"/>
          <p:cNvSpPr/>
          <p:nvPr/>
        </p:nvSpPr>
        <p:spPr>
          <a:xfrm>
            <a:off x="475488" y="4553712"/>
            <a:ext cx="233172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48640" y="4553712"/>
            <a:ext cx="2185415" cy="512063"/>
          </a:xfrm>
          <a:prstGeom prst="rect">
            <a:avLst/>
          </a:prstGeom>
          <a:noFill/>
        </p:spPr>
        <p:txBody>
          <a:bodyPr wrap="square" lIns="0" rIns="0" tIns="0" bIns="0" anchor="ctr">
            <a:spAutoFit/>
          </a:bodyPr>
          <a:lstStyle/>
          <a:p>
            <a:pPr algn="l">
              <a:lnSpc>
                <a:spcPct val="100000"/>
              </a:lnSpc>
            </a:pPr>
            <a:r>
              <a:rPr sz="1000" b="1" i="0">
                <a:solidFill>
                  <a:srgbClr val="21295C"/>
                </a:solidFill>
                <a:latin typeface="Arial"/>
              </a:rPr>
              <a:t>Скорость итерации</a:t>
            </a:r>
          </a:p>
        </p:txBody>
      </p:sp>
      <p:sp>
        <p:nvSpPr>
          <p:cNvPr id="79" name="Rectangle 78"/>
          <p:cNvSpPr/>
          <p:nvPr/>
        </p:nvSpPr>
        <p:spPr>
          <a:xfrm>
            <a:off x="2807208" y="4553712"/>
            <a:ext cx="2084831"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880360" y="4553712"/>
            <a:ext cx="1938527"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месяцы</a:t>
            </a:r>
          </a:p>
        </p:txBody>
      </p:sp>
      <p:sp>
        <p:nvSpPr>
          <p:cNvPr id="81" name="Rectangle 80"/>
          <p:cNvSpPr/>
          <p:nvPr/>
        </p:nvSpPr>
        <p:spPr>
          <a:xfrm>
            <a:off x="4892040" y="4553712"/>
            <a:ext cx="1700784"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965192" y="4553712"/>
            <a:ext cx="1554480"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медленно (LR)</a:t>
            </a:r>
          </a:p>
        </p:txBody>
      </p:sp>
      <p:sp>
        <p:nvSpPr>
          <p:cNvPr id="83" name="Rectangle 82"/>
          <p:cNvSpPr/>
          <p:nvPr/>
        </p:nvSpPr>
        <p:spPr>
          <a:xfrm>
            <a:off x="6592824" y="4553712"/>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665976" y="4553712"/>
            <a:ext cx="1664208" cy="512063"/>
          </a:xfrm>
          <a:prstGeom prst="rect">
            <a:avLst/>
          </a:prstGeom>
          <a:noFill/>
        </p:spPr>
        <p:txBody>
          <a:bodyPr wrap="square" lIns="0" rIns="0" tIns="0" bIns="0" anchor="ctr">
            <a:spAutoFit/>
          </a:bodyPr>
          <a:lstStyle/>
          <a:p>
            <a:pPr algn="ctr">
              <a:lnSpc>
                <a:spcPct val="100000"/>
              </a:lnSpc>
            </a:pPr>
            <a:r>
              <a:rPr sz="1000" b="1" i="0">
                <a:solidFill>
                  <a:srgbClr val="21295C"/>
                </a:solidFill>
                <a:latin typeface="Arial"/>
              </a:rPr>
              <a:t>быстро</a:t>
            </a:r>
          </a:p>
        </p:txBody>
      </p:sp>
      <p:sp>
        <p:nvSpPr>
          <p:cNvPr id="85" name="Rectangle 84"/>
          <p:cNvSpPr/>
          <p:nvPr/>
        </p:nvSpPr>
        <p:spPr>
          <a:xfrm>
            <a:off x="8403336" y="4553712"/>
            <a:ext cx="173736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476488" y="4553712"/>
            <a:ext cx="1591056"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быстро</a:t>
            </a:r>
          </a:p>
        </p:txBody>
      </p:sp>
      <p:sp>
        <p:nvSpPr>
          <p:cNvPr id="87" name="Rectangle 86"/>
          <p:cNvSpPr/>
          <p:nvPr/>
        </p:nvSpPr>
        <p:spPr>
          <a:xfrm>
            <a:off x="10140696" y="4553712"/>
            <a:ext cx="1591056"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213848" y="4553712"/>
            <a:ext cx="1444752" cy="512063"/>
          </a:xfrm>
          <a:prstGeom prst="rect">
            <a:avLst/>
          </a:prstGeom>
          <a:noFill/>
        </p:spPr>
        <p:txBody>
          <a:bodyPr wrap="square" lIns="0" rIns="0" tIns="0" bIns="0" anchor="ctr">
            <a:spAutoFit/>
          </a:bodyPr>
          <a:lstStyle/>
          <a:p>
            <a:pPr algn="ctr">
              <a:lnSpc>
                <a:spcPct val="100000"/>
              </a:lnSpc>
            </a:pPr>
            <a:r>
              <a:rPr sz="1000" b="0" i="0">
                <a:solidFill>
                  <a:srgbClr val="21295C"/>
                </a:solidFill>
                <a:latin typeface="Arial"/>
              </a:rPr>
              <a:t>мгновенно</a:t>
            </a:r>
          </a:p>
        </p:txBody>
      </p:sp>
      <p:sp>
        <p:nvSpPr>
          <p:cNvPr id="89" name="Rounded Rectangle 88"/>
          <p:cNvSpPr/>
          <p:nvPr/>
        </p:nvSpPr>
        <p:spPr>
          <a:xfrm>
            <a:off x="502920" y="5285232"/>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04088" y="5340096"/>
            <a:ext cx="10799064" cy="786384"/>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LoRA/QLoRA — дефолт: &lt;1% обучаемых параметров, полезный 7B-LoRA &lt;$10 — дешевле фронтир-претрейна на ~7 порядков</a:t>
            </a:r>
            <a:r>
              <a:rPr sz="624" baseline="30000" b="0" i="1">
                <a:latin typeface="Arial"/>
                <a:cs typeface="Arial"/>
                <a:ea typeface="Arial"/>
                <a:solidFill>
                  <a:srgbClr val="1C7293"/>
                </a:solidFill>
              </a:rPr>
              <a:t>[1]</a:t>
            </a:r>
            <a:r>
              <a:rPr sz="1200" b="1" i="0">
                <a:latin typeface="Arial"/>
                <a:cs typeface="Arial"/>
                <a:ea typeface="Arial"/>
                <a:solidFill>
                  <a:srgbClr val="21295C"/>
                </a:solidFill>
              </a:rPr>
              <a:t> ($61–92M). Full-FT оправдан только когда датасет превышает ёмкость LoRA (большие корпуса); для узкой поведенческой адаптации он не покупает ничего сверх LoRA, а добавляет стоимость и риск забывания.</a:t>
            </a:r>
          </a:p>
        </p:txBody>
      </p:sp>
      <p:sp>
        <p:nvSpPr>
          <p:cNvPr id="91" name="TextBox 9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Thinking Machines — LoRA Without Regret (LoRA ≈ Full-FT при условиях)</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 (65B на одной 48-ГБ карте)</a:t>
            </a:r>
            <a:r>
              <a:rPr sz="850" i="1">
                <a:solidFill>
                  <a:srgbClr val="5B6678"/>
                </a:solidFill>
                <a:latin typeface="Arial"/>
              </a:rPr>
              <a:t>   ·   Порядки величины, класс 7B если не указано; конкретные $ и часы движутся — важен порядок, не точная цифра.</a:t>
            </a:r>
          </a:p>
        </p:txBody>
      </p:sp>
      <p:sp>
        <p:nvSpPr>
          <p:cNvPr id="92" name="TextBox 9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67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201168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1. Дешевле и быстрее</a:t>
            </a:r>
          </a:p>
        </p:txBody>
      </p:sp>
      <p:sp>
        <p:nvSpPr>
          <p:cNvPr id="16" name="TextBox 15"/>
          <p:cNvSpPr txBox="1"/>
          <p:nvPr/>
        </p:nvSpPr>
        <p:spPr>
          <a:xfrm>
            <a:off x="5504688" y="232257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миллионы параметров вместо миллиардов; QLoRA — на одном GPU</a:t>
            </a:r>
          </a:p>
        </p:txBody>
      </p:sp>
      <p:sp>
        <p:nvSpPr>
          <p:cNvPr id="17" name="Rounded Rectangle 16"/>
          <p:cNvSpPr/>
          <p:nvPr/>
        </p:nvSpPr>
        <p:spPr>
          <a:xfrm>
            <a:off x="5303520" y="292608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04688" y="301752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2. Модульность</a:t>
            </a:r>
          </a:p>
        </p:txBody>
      </p:sp>
      <p:sp>
        <p:nvSpPr>
          <p:cNvPr id="19" name="TextBox 18"/>
          <p:cNvSpPr txBox="1"/>
          <p:nvPr/>
        </p:nvSpPr>
        <p:spPr>
          <a:xfrm>
            <a:off x="5504688" y="332841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931920"/>
            <a:ext cx="3246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4023360"/>
            <a:ext cx="2843784"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3. ↓ Риск забывания</a:t>
            </a:r>
          </a:p>
        </p:txBody>
      </p:sp>
      <p:sp>
        <p:nvSpPr>
          <p:cNvPr id="22" name="TextBox 21"/>
          <p:cNvSpPr txBox="1"/>
          <p:nvPr/>
        </p:nvSpPr>
        <p:spPr>
          <a:xfrm>
            <a:off x="5504688" y="4334256"/>
            <a:ext cx="2843784" cy="475488"/>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база заморожена, физически не переписывается под новый сигнал</a:t>
            </a:r>
          </a:p>
        </p:txBody>
      </p:sp>
      <p:sp>
        <p:nvSpPr>
          <p:cNvPr id="23" name="Rounded Rectangle 22"/>
          <p:cNvSpPr/>
          <p:nvPr/>
        </p:nvSpPr>
        <p:spPr>
          <a:xfrm>
            <a:off x="8732520" y="1920240"/>
            <a:ext cx="297180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15-doge-ru.png"/>
          <p:cNvPicPr>
            <a:picLocks noChangeAspect="1"/>
          </p:cNvPicPr>
          <p:nvPr/>
        </p:nvPicPr>
        <p:blipFill>
          <a:blip r:embed="rId2"/>
          <a:stretch>
            <a:fillRect/>
          </a:stretch>
        </p:blipFill>
        <p:spPr>
          <a:xfrm>
            <a:off x="8842248" y="2302955"/>
            <a:ext cx="2752344" cy="2114928"/>
          </a:xfrm>
          <a:prstGeom prst="rect">
            <a:avLst/>
          </a:prstGeom>
        </p:spPr>
      </p:pic>
      <p:sp>
        <p:nvSpPr>
          <p:cNvPr id="25" name="Rounded Rectangle 24"/>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7" name="TextBox 26"/>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8" name="Rounded Rectangle 27"/>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предпочтительнее полного дообучения: дешевле, модульнее, ↓ риск забывания (forgetting). Полное дообучение в 2026 — почти никогда.</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Дистилляция — не вид дообучения, а отдельная техника.</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Дообучение (fine-tuning) меняет поведение модели. Дистилляция — сжатие: перенос умений большой модели в маленькую. Их часто путают, но это две таксономически разные операции</a:t>
            </a:r>
            <a:r>
              <a:rPr sz="702" baseline="30000" b="0" i="1">
                <a:latin typeface="Arial"/>
                <a:cs typeface="Arial"/>
                <a:ea typeface="Arial"/>
                <a:solidFill>
                  <a:srgbClr val="1C7293"/>
                </a:solidFill>
              </a:rPr>
              <a:t>[1,2]</a:t>
            </a:r>
            <a:r>
              <a:rPr sz="1350" b="0" i="1">
                <a:latin typeface="Arial"/>
                <a:cs typeface="Arial"/>
                <a:ea typeface="Arial"/>
                <a:solidFill>
                  <a:srgbClr val="065A82"/>
                </a:solidFill>
              </a:rPr>
              <a:t>, работающие в связке.</a:t>
            </a:r>
          </a:p>
        </p:txBody>
      </p:sp>
      <p:sp>
        <p:nvSpPr>
          <p:cNvPr id="4" name="Rounded Rectangle 3"/>
          <p:cNvSpPr/>
          <p:nvPr/>
        </p:nvSpPr>
        <p:spPr>
          <a:xfrm>
            <a:off x="502920" y="1737360"/>
            <a:ext cx="781812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249424"/>
            <a:ext cx="1874519" cy="1371600"/>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531620" y="2359152"/>
            <a:ext cx="347472" cy="347472"/>
          </a:xfrm>
          <a:prstGeom prst="rect">
            <a:avLst/>
          </a:prstGeom>
        </p:spPr>
      </p:pic>
      <p:sp>
        <p:nvSpPr>
          <p:cNvPr id="7" name="TextBox 6"/>
          <p:cNvSpPr txBox="1"/>
          <p:nvPr/>
        </p:nvSpPr>
        <p:spPr>
          <a:xfrm>
            <a:off x="850392" y="2779776"/>
            <a:ext cx="1728216"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Учитель</a:t>
            </a:r>
          </a:p>
        </p:txBody>
      </p:sp>
      <p:sp>
        <p:nvSpPr>
          <p:cNvPr id="8" name="TextBox 7"/>
          <p:cNvSpPr txBox="1"/>
          <p:nvPr/>
        </p:nvSpPr>
        <p:spPr>
          <a:xfrm>
            <a:off x="868680" y="3072384"/>
            <a:ext cx="1691639" cy="475488"/>
          </a:xfrm>
          <a:prstGeom prst="rect">
            <a:avLst/>
          </a:prstGeom>
          <a:noFill/>
        </p:spPr>
        <p:txBody>
          <a:bodyPr wrap="square" lIns="0" rIns="0" tIns="0" bIns="0" anchor="t">
            <a:spAutoFit/>
          </a:bodyPr>
          <a:lstStyle/>
          <a:p>
            <a:pPr algn="ctr">
              <a:lnSpc>
                <a:spcPct val="104000"/>
              </a:lnSpc>
            </a:pPr>
            <a:r>
              <a:rPr sz="1050" b="0" i="1">
                <a:solidFill>
                  <a:srgbClr val="5B6678"/>
                </a:solidFill>
                <a:latin typeface="Arial"/>
              </a:rPr>
              <a:t>большая, дообучена под задачу</a:t>
            </a:r>
          </a:p>
        </p:txBody>
      </p:sp>
      <p:sp>
        <p:nvSpPr>
          <p:cNvPr id="9" name="TextBox 8"/>
          <p:cNvSpPr txBox="1"/>
          <p:nvPr/>
        </p:nvSpPr>
        <p:spPr>
          <a:xfrm>
            <a:off x="2359152" y="1883664"/>
            <a:ext cx="114300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дистилляция</a:t>
            </a:r>
          </a:p>
        </p:txBody>
      </p:sp>
      <p:sp>
        <p:nvSpPr>
          <p:cNvPr id="10" name="Right Arrow 9"/>
          <p:cNvSpPr/>
          <p:nvPr/>
        </p:nvSpPr>
        <p:spPr>
          <a:xfrm>
            <a:off x="2706624" y="2779776"/>
            <a:ext cx="621792" cy="31089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83280" y="2432304"/>
            <a:ext cx="1874519" cy="1005840"/>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4165091" y="2505456"/>
            <a:ext cx="292608" cy="292608"/>
          </a:xfrm>
          <a:prstGeom prst="rect">
            <a:avLst/>
          </a:prstGeom>
        </p:spPr>
      </p:pic>
      <p:sp>
        <p:nvSpPr>
          <p:cNvPr id="13" name="TextBox 12"/>
          <p:cNvSpPr txBox="1"/>
          <p:nvPr/>
        </p:nvSpPr>
        <p:spPr>
          <a:xfrm>
            <a:off x="3456432" y="2852928"/>
            <a:ext cx="1728216"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Ученик</a:t>
            </a:r>
          </a:p>
        </p:txBody>
      </p:sp>
      <p:sp>
        <p:nvSpPr>
          <p:cNvPr id="14" name="TextBox 13"/>
          <p:cNvSpPr txBox="1"/>
          <p:nvPr/>
        </p:nvSpPr>
        <p:spPr>
          <a:xfrm>
            <a:off x="3474720" y="3127248"/>
            <a:ext cx="1691639" cy="402336"/>
          </a:xfrm>
          <a:prstGeom prst="rect">
            <a:avLst/>
          </a:prstGeom>
          <a:noFill/>
        </p:spPr>
        <p:txBody>
          <a:bodyPr wrap="square" lIns="0" rIns="0" tIns="0" bIns="0" anchor="t">
            <a:spAutoFit/>
          </a:bodyPr>
          <a:lstStyle/>
          <a:p>
            <a:pPr algn="ctr">
              <a:lnSpc>
                <a:spcPct val="104000"/>
              </a:lnSpc>
            </a:pPr>
            <a:r>
              <a:rPr sz="1050" b="0" i="1">
                <a:solidFill>
                  <a:srgbClr val="5B6678"/>
                </a:solidFill>
                <a:latin typeface="Arial"/>
              </a:rPr>
              <a:t>маленькая, дешевле и быстрее</a:t>
            </a:r>
          </a:p>
        </p:txBody>
      </p:sp>
      <p:sp>
        <p:nvSpPr>
          <p:cNvPr id="15" name="TextBox 14"/>
          <p:cNvSpPr txBox="1"/>
          <p:nvPr/>
        </p:nvSpPr>
        <p:spPr>
          <a:xfrm>
            <a:off x="4965192" y="1883664"/>
            <a:ext cx="1143000" cy="274320"/>
          </a:xfrm>
          <a:prstGeom prst="rect">
            <a:avLst/>
          </a:prstGeom>
          <a:noFill/>
        </p:spPr>
        <p:txBody>
          <a:bodyPr wrap="square" lIns="0" rIns="0" tIns="0" bIns="0" anchor="t">
            <a:spAutoFit/>
          </a:bodyPr>
          <a:lstStyle/>
          <a:p>
            <a:pPr algn="ctr">
              <a:lnSpc>
                <a:spcPct val="115000"/>
              </a:lnSpc>
            </a:pPr>
            <a:r>
              <a:rPr sz="1100" b="1" i="0">
                <a:solidFill>
                  <a:srgbClr val="1C7293"/>
                </a:solidFill>
                <a:latin typeface="Arial"/>
              </a:rPr>
              <a:t>в бой →</a:t>
            </a:r>
          </a:p>
        </p:txBody>
      </p:sp>
      <p:sp>
        <p:nvSpPr>
          <p:cNvPr id="16" name="Right Arrow 15"/>
          <p:cNvSpPr/>
          <p:nvPr/>
        </p:nvSpPr>
        <p:spPr>
          <a:xfrm>
            <a:off x="5312664" y="2779776"/>
            <a:ext cx="621792" cy="31089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89320" y="2249424"/>
            <a:ext cx="1874519" cy="137160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mid.png"/>
          <p:cNvPicPr>
            <a:picLocks noChangeAspect="1"/>
          </p:cNvPicPr>
          <p:nvPr/>
        </p:nvPicPr>
        <p:blipFill>
          <a:blip r:embed="rId4"/>
          <a:stretch>
            <a:fillRect/>
          </a:stretch>
        </p:blipFill>
        <p:spPr>
          <a:xfrm>
            <a:off x="6743699" y="2359152"/>
            <a:ext cx="347472" cy="347472"/>
          </a:xfrm>
          <a:prstGeom prst="rect">
            <a:avLst/>
          </a:prstGeom>
        </p:spPr>
      </p:pic>
      <p:sp>
        <p:nvSpPr>
          <p:cNvPr id="19" name="TextBox 18"/>
          <p:cNvSpPr txBox="1"/>
          <p:nvPr/>
        </p:nvSpPr>
        <p:spPr>
          <a:xfrm>
            <a:off x="6062472" y="2779776"/>
            <a:ext cx="1728216"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В бой</a:t>
            </a:r>
          </a:p>
        </p:txBody>
      </p:sp>
      <p:sp>
        <p:nvSpPr>
          <p:cNvPr id="20" name="TextBox 19"/>
          <p:cNvSpPr txBox="1"/>
          <p:nvPr/>
        </p:nvSpPr>
        <p:spPr>
          <a:xfrm>
            <a:off x="6080759" y="3072384"/>
            <a:ext cx="1691639" cy="475488"/>
          </a:xfrm>
          <a:prstGeom prst="rect">
            <a:avLst/>
          </a:prstGeom>
          <a:noFill/>
        </p:spPr>
        <p:txBody>
          <a:bodyPr wrap="square" lIns="0" rIns="0" tIns="0" bIns="0" anchor="t">
            <a:spAutoFit/>
          </a:bodyPr>
          <a:lstStyle/>
          <a:p>
            <a:pPr algn="ctr">
              <a:lnSpc>
                <a:spcPct val="104000"/>
              </a:lnSpc>
            </a:pPr>
            <a:r>
              <a:rPr sz="1050" b="0" i="1">
                <a:solidFill>
                  <a:srgbClr val="5B6678"/>
                </a:solidFill>
                <a:latin typeface="Arial"/>
              </a:rPr>
              <a:t>ниже стоимость и задержка</a:t>
            </a:r>
          </a:p>
        </p:txBody>
      </p:sp>
      <p:sp>
        <p:nvSpPr>
          <p:cNvPr id="21" name="Rounded Rectangle 20"/>
          <p:cNvSpPr/>
          <p:nvPr/>
        </p:nvSpPr>
        <p:spPr>
          <a:xfrm>
            <a:off x="8549640" y="1737360"/>
            <a:ext cx="3154680" cy="3730752"/>
          </a:xfrm>
          <a:prstGeom prst="roundRect">
            <a:avLst>
              <a:gd name="adj" fmla="val 96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14-yoda-ru.png"/>
          <p:cNvPicPr>
            <a:picLocks noChangeAspect="1"/>
          </p:cNvPicPr>
          <p:nvPr/>
        </p:nvPicPr>
        <p:blipFill>
          <a:blip r:embed="rId5"/>
          <a:stretch>
            <a:fillRect/>
          </a:stretch>
        </p:blipFill>
        <p:spPr>
          <a:xfrm>
            <a:off x="8677656" y="1936013"/>
            <a:ext cx="2898648" cy="3333445"/>
          </a:xfrm>
          <a:prstGeom prst="rect">
            <a:avLst/>
          </a:prstGeom>
        </p:spPr>
      </p:pic>
      <p:sp>
        <p:nvSpPr>
          <p:cNvPr id="23" name="Rounded Rectangle 22"/>
          <p:cNvSpPr/>
          <p:nvPr/>
        </p:nvSpPr>
        <p:spPr>
          <a:xfrm>
            <a:off x="502920" y="4169663"/>
            <a:ext cx="384048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4297679"/>
            <a:ext cx="347472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Дообучение отвечает на:</a:t>
            </a:r>
          </a:p>
        </p:txBody>
      </p:sp>
      <p:sp>
        <p:nvSpPr>
          <p:cNvPr id="25" name="TextBox 24"/>
          <p:cNvSpPr txBox="1"/>
          <p:nvPr/>
        </p:nvSpPr>
        <p:spPr>
          <a:xfrm>
            <a:off x="713232" y="4626864"/>
            <a:ext cx="3474720" cy="78638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«как модель себя ведёт» — тон, формат, политика. Меняет ВЕСА под поведение.</a:t>
            </a:r>
          </a:p>
        </p:txBody>
      </p:sp>
      <p:sp>
        <p:nvSpPr>
          <p:cNvPr id="26" name="Rounded Rectangle 25"/>
          <p:cNvSpPr/>
          <p:nvPr/>
        </p:nvSpPr>
        <p:spPr>
          <a:xfrm>
            <a:off x="4480560" y="4169663"/>
            <a:ext cx="3840480" cy="129844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90872" y="4297679"/>
            <a:ext cx="347472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Дистилляция отвечает на:</a:t>
            </a:r>
          </a:p>
        </p:txBody>
      </p:sp>
      <p:sp>
        <p:nvSpPr>
          <p:cNvPr id="28" name="TextBox 27"/>
          <p:cNvSpPr txBox="1"/>
          <p:nvPr/>
        </p:nvSpPr>
        <p:spPr>
          <a:xfrm>
            <a:off x="4690872" y="4626864"/>
            <a:ext cx="3474720" cy="78638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«как сделать модель дешевле» — тот же навык в меньшей модели. Это сжатие, не смена поведения.</a:t>
            </a:r>
          </a:p>
        </p:txBody>
      </p:sp>
      <p:sp>
        <p:nvSpPr>
          <p:cNvPr id="29" name="Rounded Rectangle 28"/>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не пишите «дистилляция — это дообучение». В связке они идут так: сначала дообучить учителя (teacher) под задачу, потом дистиллировать в ученика (student) ради цены. Критерии «что куда» — на следующем слайде.</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PEFT survey — таксономия методов настройки</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Оценка обучения дороже самого обучения — и не решена.</a:t>
            </a:r>
          </a:p>
        </p:txBody>
      </p:sp>
      <p:sp>
        <p:nvSpPr>
          <p:cNvPr id="3" name="TextBox 2"/>
          <p:cNvSpPr txBox="1"/>
          <p:nvPr/>
        </p:nvSpPr>
        <p:spPr>
          <a:xfrm>
            <a:off x="502920" y="1005840"/>
            <a:ext cx="7726679" cy="603504"/>
          </a:xfrm>
          <a:prstGeom prst="rect">
            <a:avLst/>
          </a:prstGeom>
          <a:noFill/>
        </p:spPr>
        <p:txBody>
          <a:bodyPr wrap="square" lIns="0" rIns="0" tIns="0" bIns="0" anchor="t">
            <a:spAutoFit/>
          </a:bodyPr>
          <a:lstStyle/>
          <a:p>
            <a:pPr algn="l">
              <a:lnSpc>
                <a:spcPct val="116000"/>
              </a:lnSpc>
            </a:pPr>
            <a:r>
              <a:rPr sz="1250" b="0" i="1">
                <a:solidFill>
                  <a:srgbClr val="065A82"/>
                </a:solidFill>
                <a:latin typeface="Arial"/>
              </a:rPr>
              <a:t>Полезный 7B-LoRA стоит &lt;$10 — а строгая оценка того же адаптера — $300–1200 человеко-труда за один раунд и всё равно может не предсказать продакшн. Бюджетная строка — eval, не тренировка.</a:t>
            </a:r>
          </a:p>
        </p:txBody>
      </p:sp>
      <p:sp>
        <p:nvSpPr>
          <p:cNvPr id="4" name="Rounded Rectangle 3"/>
          <p:cNvSpPr/>
          <p:nvPr/>
        </p:nvSpPr>
        <p:spPr>
          <a:xfrm>
            <a:off x="502920" y="1737360"/>
            <a:ext cx="7726679" cy="60350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936" y="1847088"/>
            <a:ext cx="91440"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 y="1792224"/>
            <a:ext cx="2606040" cy="530352"/>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Публичный бенчмарк</a:t>
            </a:r>
          </a:p>
        </p:txBody>
      </p:sp>
      <p:sp>
        <p:nvSpPr>
          <p:cNvPr id="7" name="TextBox 6"/>
          <p:cNvSpPr txBox="1"/>
          <p:nvPr/>
        </p:nvSpPr>
        <p:spPr>
          <a:xfrm>
            <a:off x="3465576" y="1783080"/>
            <a:ext cx="1874519" cy="530352"/>
          </a:xfrm>
          <a:prstGeom prst="rect">
            <a:avLst/>
          </a:prstGeom>
          <a:noFill/>
        </p:spPr>
        <p:txBody>
          <a:bodyPr wrap="square" lIns="0" rIns="0" tIns="0" bIns="0" anchor="ctr">
            <a:spAutoFit/>
          </a:bodyPr>
          <a:lstStyle/>
          <a:p>
            <a:pPr algn="l">
              <a:lnSpc>
                <a:spcPct val="102000"/>
              </a:lnSpc>
            </a:pPr>
            <a:r>
              <a:rPr sz="1050" b="0" i="1">
                <a:solidFill>
                  <a:srgbClr val="065A82"/>
                </a:solidFill>
                <a:latin typeface="Arial"/>
              </a:rPr>
              <a:t>дёшево, масштабно</a:t>
            </a:r>
          </a:p>
        </p:txBody>
      </p:sp>
      <p:sp>
        <p:nvSpPr>
          <p:cNvPr id="8" name="TextBox 7"/>
          <p:cNvSpPr txBox="1"/>
          <p:nvPr/>
        </p:nvSpPr>
        <p:spPr>
          <a:xfrm>
            <a:off x="5385816" y="1783080"/>
            <a:ext cx="2715767" cy="530352"/>
          </a:xfrm>
          <a:prstGeom prst="rect">
            <a:avLst/>
          </a:prstGeom>
          <a:noFill/>
        </p:spPr>
        <p:txBody>
          <a:bodyPr wrap="square" lIns="0" rIns="0" tIns="0" bIns="0" anchor="ctr">
            <a:spAutoFit/>
          </a:bodyPr>
          <a:lstStyle/>
          <a:p>
            <a:pPr algn="l">
              <a:lnSpc>
                <a:spcPct val="104000"/>
              </a:lnSpc>
            </a:pPr>
            <a:r>
              <a:rPr sz="1000" b="0" i="0">
                <a:solidFill>
                  <a:srgbClr val="21295C"/>
                </a:solidFill>
                <a:latin typeface="Arial"/>
              </a:rPr>
              <a:t>ломается: контаминация: MMLU ~29% items</a:t>
            </a:r>
            <a:r>
              <a:rPr sz="520" baseline="30000" b="0" i="1">
                <a:latin typeface="Arial"/>
                <a:cs typeface="Arial"/>
                <a:ea typeface="Arial"/>
                <a:solidFill>
                  <a:srgbClr val="1C7293"/>
                </a:solidFill>
              </a:rPr>
              <a:t>[1]</a:t>
            </a:r>
            <a:r>
              <a:rPr sz="1000" b="0" i="0">
                <a:latin typeface="Arial"/>
                <a:cs typeface="Arial"/>
                <a:ea typeface="Arial"/>
                <a:solidFill>
                  <a:srgbClr val="21295C"/>
                </a:solidFill>
              </a:rPr>
              <a:t>, GSM8K→GSM1k −13 п.п.</a:t>
            </a:r>
            <a:r>
              <a:rPr sz="520" baseline="30000" b="0" i="1">
                <a:latin typeface="Arial"/>
                <a:cs typeface="Arial"/>
                <a:ea typeface="Arial"/>
                <a:solidFill>
                  <a:srgbClr val="1C7293"/>
                </a:solidFill>
              </a:rPr>
              <a:t>[2]</a:t>
            </a:r>
            <a:r>
              <a:rPr sz="1000" b="0" i="0">
                <a:latin typeface="Arial"/>
                <a:cs typeface="Arial"/>
                <a:ea typeface="Arial"/>
                <a:solidFill>
                  <a:srgbClr val="21295C"/>
                </a:solidFill>
              </a:rPr>
              <a:t> — число без проверки на утечку</a:t>
            </a:r>
          </a:p>
        </p:txBody>
      </p:sp>
      <p:sp>
        <p:nvSpPr>
          <p:cNvPr id="9" name="Rounded Rectangle 8"/>
          <p:cNvSpPr/>
          <p:nvPr/>
        </p:nvSpPr>
        <p:spPr>
          <a:xfrm>
            <a:off x="502920" y="2395728"/>
            <a:ext cx="7726679" cy="603503"/>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 y="2505456"/>
            <a:ext cx="91440" cy="38404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 y="2450592"/>
            <a:ext cx="2606040" cy="530352"/>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Held-out тест-сет</a:t>
            </a:r>
          </a:p>
        </p:txBody>
      </p:sp>
      <p:sp>
        <p:nvSpPr>
          <p:cNvPr id="12" name="TextBox 11"/>
          <p:cNvSpPr txBox="1"/>
          <p:nvPr/>
        </p:nvSpPr>
        <p:spPr>
          <a:xfrm>
            <a:off x="3465576" y="2441448"/>
            <a:ext cx="1874519" cy="530352"/>
          </a:xfrm>
          <a:prstGeom prst="rect">
            <a:avLst/>
          </a:prstGeom>
          <a:noFill/>
        </p:spPr>
        <p:txBody>
          <a:bodyPr wrap="square" lIns="0" rIns="0" tIns="0" bIns="0" anchor="ctr">
            <a:spAutoFit/>
          </a:bodyPr>
          <a:lstStyle/>
          <a:p>
            <a:pPr algn="l">
              <a:lnSpc>
                <a:spcPct val="102000"/>
              </a:lnSpc>
            </a:pPr>
            <a:r>
              <a:rPr sz="1050" b="0" i="1">
                <a:solidFill>
                  <a:srgbClr val="21295C"/>
                </a:solidFill>
                <a:latin typeface="Arial"/>
              </a:rPr>
              <a:t>highest-ROI, строишь ДО тренировки</a:t>
            </a:r>
          </a:p>
        </p:txBody>
      </p:sp>
      <p:sp>
        <p:nvSpPr>
          <p:cNvPr id="13" name="TextBox 12"/>
          <p:cNvSpPr txBox="1"/>
          <p:nvPr/>
        </p:nvSpPr>
        <p:spPr>
          <a:xfrm>
            <a:off x="5385816" y="2441448"/>
            <a:ext cx="2715767" cy="530352"/>
          </a:xfrm>
          <a:prstGeom prst="rect">
            <a:avLst/>
          </a:prstGeom>
          <a:noFill/>
        </p:spPr>
        <p:txBody>
          <a:bodyPr wrap="square" lIns="0" rIns="0" tIns="0" bIns="0" anchor="ctr">
            <a:spAutoFit/>
          </a:bodyPr>
          <a:lstStyle/>
          <a:p>
            <a:pPr algn="l">
              <a:lnSpc>
                <a:spcPct val="104000"/>
              </a:lnSpc>
            </a:pPr>
            <a:r>
              <a:rPr sz="1000" b="0" i="0">
                <a:solidFill>
                  <a:srgbClr val="21295C"/>
                </a:solidFill>
                <a:latin typeface="Arial"/>
              </a:rPr>
              <a:t>ломается: ломается при утечке в трейн / малом объёме / дрейфе от продакшна</a:t>
            </a:r>
          </a:p>
        </p:txBody>
      </p:sp>
      <p:sp>
        <p:nvSpPr>
          <p:cNvPr id="14" name="Rounded Rectangle 13"/>
          <p:cNvSpPr/>
          <p:nvPr/>
        </p:nvSpPr>
        <p:spPr>
          <a:xfrm>
            <a:off x="502920" y="3054096"/>
            <a:ext cx="7726679" cy="60350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 y="3163824"/>
            <a:ext cx="91440"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 y="3108960"/>
            <a:ext cx="2606040" cy="530352"/>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LLM-как-судья</a:t>
            </a:r>
          </a:p>
        </p:txBody>
      </p:sp>
      <p:sp>
        <p:nvSpPr>
          <p:cNvPr id="17" name="TextBox 16"/>
          <p:cNvSpPr txBox="1"/>
          <p:nvPr/>
        </p:nvSpPr>
        <p:spPr>
          <a:xfrm>
            <a:off x="3465576" y="3099815"/>
            <a:ext cx="1874519" cy="530352"/>
          </a:xfrm>
          <a:prstGeom prst="rect">
            <a:avLst/>
          </a:prstGeom>
          <a:noFill/>
        </p:spPr>
        <p:txBody>
          <a:bodyPr wrap="square" lIns="0" rIns="0" tIns="0" bIns="0" anchor="ctr">
            <a:spAutoFit/>
          </a:bodyPr>
          <a:lstStyle/>
          <a:p>
            <a:pPr algn="l">
              <a:lnSpc>
                <a:spcPct val="102000"/>
              </a:lnSpc>
            </a:pPr>
            <a:r>
              <a:rPr sz="1050" b="0" i="1">
                <a:solidFill>
                  <a:srgbClr val="065A82"/>
                </a:solidFill>
                <a:latin typeface="Arial"/>
              </a:rPr>
              <a:t>масштабирует rubric дёшево</a:t>
            </a:r>
          </a:p>
        </p:txBody>
      </p:sp>
      <p:sp>
        <p:nvSpPr>
          <p:cNvPr id="18" name="TextBox 17"/>
          <p:cNvSpPr txBox="1"/>
          <p:nvPr/>
        </p:nvSpPr>
        <p:spPr>
          <a:xfrm>
            <a:off x="5385816" y="3099815"/>
            <a:ext cx="2715767" cy="530352"/>
          </a:xfrm>
          <a:prstGeom prst="rect">
            <a:avLst/>
          </a:prstGeom>
          <a:noFill/>
        </p:spPr>
        <p:txBody>
          <a:bodyPr wrap="square" lIns="0" rIns="0" tIns="0" bIns="0" anchor="ctr">
            <a:spAutoFit/>
          </a:bodyPr>
          <a:lstStyle/>
          <a:p>
            <a:pPr algn="l">
              <a:lnSpc>
                <a:spcPct val="104000"/>
              </a:lnSpc>
            </a:pPr>
            <a:r>
              <a:rPr sz="1000" b="0" i="0">
                <a:solidFill>
                  <a:srgbClr val="21295C"/>
                </a:solidFill>
                <a:latin typeface="Arial"/>
              </a:rPr>
              <a:t>ломается: position / self-enhancement bias; ранги плывут до 14 позиций между бенчмарками</a:t>
            </a:r>
          </a:p>
        </p:txBody>
      </p:sp>
      <p:sp>
        <p:nvSpPr>
          <p:cNvPr id="19" name="Rounded Rectangle 18"/>
          <p:cNvSpPr/>
          <p:nvPr/>
        </p:nvSpPr>
        <p:spPr>
          <a:xfrm>
            <a:off x="502920" y="3712463"/>
            <a:ext cx="7726679" cy="60350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 y="3822191"/>
            <a:ext cx="91440" cy="38404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 y="3767327"/>
            <a:ext cx="2606040" cy="530352"/>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Оценка людьми (human)</a:t>
            </a:r>
          </a:p>
        </p:txBody>
      </p:sp>
      <p:sp>
        <p:nvSpPr>
          <p:cNvPr id="22" name="TextBox 21"/>
          <p:cNvSpPr txBox="1"/>
          <p:nvPr/>
        </p:nvSpPr>
        <p:spPr>
          <a:xfrm>
            <a:off x="3465576" y="3758183"/>
            <a:ext cx="1874519" cy="530352"/>
          </a:xfrm>
          <a:prstGeom prst="rect">
            <a:avLst/>
          </a:prstGeom>
          <a:noFill/>
        </p:spPr>
        <p:txBody>
          <a:bodyPr wrap="square" lIns="0" rIns="0" tIns="0" bIns="0" anchor="ctr">
            <a:spAutoFit/>
          </a:bodyPr>
          <a:lstStyle/>
          <a:p>
            <a:pPr algn="l">
              <a:lnSpc>
                <a:spcPct val="102000"/>
              </a:lnSpc>
            </a:pPr>
            <a:r>
              <a:rPr sz="1050" b="0" i="1">
                <a:solidFill>
                  <a:srgbClr val="065A82"/>
                </a:solidFill>
                <a:latin typeface="Arial"/>
              </a:rPr>
              <a:t>эталон для субъективного качества</a:t>
            </a:r>
          </a:p>
        </p:txBody>
      </p:sp>
      <p:sp>
        <p:nvSpPr>
          <p:cNvPr id="23" name="TextBox 22"/>
          <p:cNvSpPr txBox="1"/>
          <p:nvPr/>
        </p:nvSpPr>
        <p:spPr>
          <a:xfrm>
            <a:off x="5385816" y="3758183"/>
            <a:ext cx="2715767" cy="530352"/>
          </a:xfrm>
          <a:prstGeom prst="rect">
            <a:avLst/>
          </a:prstGeom>
          <a:noFill/>
        </p:spPr>
        <p:txBody>
          <a:bodyPr wrap="square" lIns="0" rIns="0" tIns="0" bIns="0" anchor="ctr">
            <a:spAutoFit/>
          </a:bodyPr>
          <a:lstStyle/>
          <a:p>
            <a:pPr algn="l">
              <a:lnSpc>
                <a:spcPct val="104000"/>
              </a:lnSpc>
            </a:pPr>
            <a:r>
              <a:rPr sz="1000" b="0" i="0">
                <a:solidFill>
                  <a:srgbClr val="21295C"/>
                </a:solidFill>
                <a:latin typeface="Arial"/>
              </a:rPr>
              <a:t>ломается: $300–1200 за раунд; κ&lt;0,4 = двусмысленная разметка</a:t>
            </a:r>
          </a:p>
        </p:txBody>
      </p:sp>
      <p:sp>
        <p:nvSpPr>
          <p:cNvPr id="24" name="Rounded Rectangle 23"/>
          <p:cNvSpPr/>
          <p:nvPr/>
        </p:nvSpPr>
        <p:spPr>
          <a:xfrm>
            <a:off x="502920" y="4370831"/>
            <a:ext cx="7726679" cy="60350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0936" y="4480559"/>
            <a:ext cx="91440"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 y="4425695"/>
            <a:ext cx="2606040" cy="530352"/>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Task-метрики (BLEU/ROUGE)</a:t>
            </a:r>
          </a:p>
        </p:txBody>
      </p:sp>
      <p:sp>
        <p:nvSpPr>
          <p:cNvPr id="27" name="TextBox 26"/>
          <p:cNvSpPr txBox="1"/>
          <p:nvPr/>
        </p:nvSpPr>
        <p:spPr>
          <a:xfrm>
            <a:off x="3465576" y="4416551"/>
            <a:ext cx="1874519" cy="530352"/>
          </a:xfrm>
          <a:prstGeom prst="rect">
            <a:avLst/>
          </a:prstGeom>
          <a:noFill/>
        </p:spPr>
        <p:txBody>
          <a:bodyPr wrap="square" lIns="0" rIns="0" tIns="0" bIns="0" anchor="ctr">
            <a:spAutoFit/>
          </a:bodyPr>
          <a:lstStyle/>
          <a:p>
            <a:pPr algn="l">
              <a:lnSpc>
                <a:spcPct val="102000"/>
              </a:lnSpc>
            </a:pPr>
            <a:r>
              <a:rPr sz="1050" b="0" i="1">
                <a:solidFill>
                  <a:srgbClr val="065A82"/>
                </a:solidFill>
                <a:latin typeface="Arial"/>
              </a:rPr>
              <a:t>дёшево для закрытых форматов</a:t>
            </a:r>
          </a:p>
        </p:txBody>
      </p:sp>
      <p:sp>
        <p:nvSpPr>
          <p:cNvPr id="28" name="TextBox 27"/>
          <p:cNvSpPr txBox="1"/>
          <p:nvPr/>
        </p:nvSpPr>
        <p:spPr>
          <a:xfrm>
            <a:off x="5385816" y="4416551"/>
            <a:ext cx="2715767" cy="530352"/>
          </a:xfrm>
          <a:prstGeom prst="rect">
            <a:avLst/>
          </a:prstGeom>
          <a:noFill/>
        </p:spPr>
        <p:txBody>
          <a:bodyPr wrap="square" lIns="0" rIns="0" tIns="0" bIns="0" anchor="ctr">
            <a:spAutoFit/>
          </a:bodyPr>
          <a:lstStyle/>
          <a:p>
            <a:pPr algn="l">
              <a:lnSpc>
                <a:spcPct val="104000"/>
              </a:lnSpc>
            </a:pPr>
            <a:r>
              <a:rPr sz="1000" b="0" i="0">
                <a:solidFill>
                  <a:srgbClr val="21295C"/>
                </a:solidFill>
                <a:latin typeface="Arial"/>
              </a:rPr>
              <a:t>ломается: на открытой генерации r≈0,25–0,52 с людьми — награждают n-gram, не смысл</a:t>
            </a:r>
          </a:p>
        </p:txBody>
      </p:sp>
      <p:sp>
        <p:nvSpPr>
          <p:cNvPr id="29" name="Rounded Rectangle 28"/>
          <p:cNvSpPr/>
          <p:nvPr/>
        </p:nvSpPr>
        <p:spPr>
          <a:xfrm>
            <a:off x="8412480" y="1737360"/>
            <a:ext cx="3291840" cy="3158637"/>
          </a:xfrm>
          <a:prstGeom prst="roundRect">
            <a:avLst>
              <a:gd name="adj" fmla="val 9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ft-eval-leftexit-ru.png"/>
          <p:cNvPicPr>
            <a:picLocks noChangeAspect="1"/>
          </p:cNvPicPr>
          <p:nvPr/>
        </p:nvPicPr>
        <p:blipFill>
          <a:blip r:embed="rId2"/>
          <a:stretch>
            <a:fillRect/>
          </a:stretch>
        </p:blipFill>
        <p:spPr>
          <a:xfrm>
            <a:off x="8503919" y="1833735"/>
            <a:ext cx="3108960" cy="2965886"/>
          </a:xfrm>
          <a:prstGeom prst="rect">
            <a:avLst/>
          </a:prstGeom>
        </p:spPr>
      </p:pic>
      <p:sp>
        <p:nvSpPr>
          <p:cNvPr id="31" name="Rounded Rectangle 30"/>
          <p:cNvSpPr/>
          <p:nvPr/>
        </p:nvSpPr>
        <p:spPr>
          <a:xfrm>
            <a:off x="502920" y="5175504"/>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230368"/>
            <a:ext cx="10799064" cy="896112"/>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Ни один метод не самодостаточен: дешёвые (бенчмарк, BLEU) — худшая валидность; валидные (held-out-эксперт, human, A/B) — дорогие. Измеренный разрыв lab→prod ~37% (2025) — механика, не аномалия: прирост на бенчмарке — это гипотеза, а не результат; подтверждают только held-out-clean + A/B на реальном трафике.</a:t>
            </a:r>
          </a:p>
        </p:txBody>
      </p:sp>
      <p:sp>
        <p:nvSpPr>
          <p:cNvPr id="33" name="TextBox 3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Pebblous — LLM Benchmark Contamination (MMLU ~29%)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Zhang et al. 2024 — GSM1k (чистое зеркало GSM8K −13 п.п.)</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8" name="Rounded Rectangle 7"/>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управляющий цикл: конечный автомат, workflow-движки, OODA.</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Управляемая автоматизация — это конечный автомат состояний, workflow-движки по фиксированной схеме и управляющий цикл plan→act→check (OODA). На этом стоит агент.</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67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Модель становится компонентом системы.</a:t>
            </a:r>
          </a:p>
        </p:txBody>
      </p:sp>
      <p:sp>
        <p:nvSpPr>
          <p:cNvPr id="3" name="TextBox 2"/>
          <p:cNvSpPr txBox="1"/>
          <p:nvPr/>
        </p:nvSpPr>
        <p:spPr>
          <a:xfrm>
            <a:off x="502920" y="1024128"/>
            <a:ext cx="11201400" cy="566928"/>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В Л2 модель была собеседником в окне чата. Здесь она — вызываемый компонент: получает запрос через API, формулирует «вызови инструмент X», а исполняет ваш код система, не модель. Это сдвиг от «поговорить» к «встроить».</a:t>
            </a:r>
          </a:p>
        </p:txBody>
      </p:sp>
      <p:sp>
        <p:nvSpPr>
          <p:cNvPr id="4" name="Rounded Rectangle 3"/>
          <p:cNvSpPr/>
          <p:nvPr/>
        </p:nvSpPr>
        <p:spPr>
          <a:xfrm>
            <a:off x="50292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minal-mid.png"/>
          <p:cNvPicPr>
            <a:picLocks noChangeAspect="1"/>
          </p:cNvPicPr>
          <p:nvPr/>
        </p:nvPicPr>
        <p:blipFill>
          <a:blip r:embed="rId2"/>
          <a:stretch>
            <a:fillRect/>
          </a:stretch>
        </p:blipFill>
        <p:spPr>
          <a:xfrm>
            <a:off x="722376" y="2011680"/>
            <a:ext cx="438912" cy="438912"/>
          </a:xfrm>
          <a:prstGeom prst="rect">
            <a:avLst/>
          </a:prstGeom>
        </p:spPr>
      </p:pic>
      <p:sp>
        <p:nvSpPr>
          <p:cNvPr id="6" name="TextBox 5"/>
          <p:cNvSpPr txBox="1"/>
          <p:nvPr/>
        </p:nvSpPr>
        <p:spPr>
          <a:xfrm>
            <a:off x="1289304" y="2029968"/>
            <a:ext cx="4572000" cy="384048"/>
          </a:xfrm>
          <a:prstGeom prst="rect">
            <a:avLst/>
          </a:prstGeom>
          <a:noFill/>
        </p:spPr>
        <p:txBody>
          <a:bodyPr wrap="square" lIns="0" rIns="0" tIns="0" bIns="0" anchor="ctr">
            <a:spAutoFit/>
          </a:bodyPr>
          <a:lstStyle/>
          <a:p>
            <a:pPr algn="l">
              <a:lnSpc>
                <a:spcPct val="100000"/>
              </a:lnSpc>
            </a:pPr>
            <a:r>
              <a:rPr sz="1500" b="1" i="0">
                <a:solidFill>
                  <a:srgbClr val="065A82"/>
                </a:solidFill>
                <a:latin typeface="Arial"/>
              </a:rPr>
              <a:t>Модель как компонент + tool use</a:t>
            </a:r>
          </a:p>
        </p:txBody>
      </p:sp>
      <p:sp>
        <p:nvSpPr>
          <p:cNvPr id="7" name="TextBox 6"/>
          <p:cNvSpPr txBox="1"/>
          <p:nvPr/>
        </p:nvSpPr>
        <p:spPr>
          <a:xfrm>
            <a:off x="740664" y="2560320"/>
            <a:ext cx="5056631" cy="658368"/>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Модель решает «нужен инструмент» и формулирует вызов; исполняет — ваш код. Модель не выходит наружу сама — она возвращает намерение, а система выполняет и возвращает результат в контекст.</a:t>
            </a:r>
          </a:p>
        </p:txBody>
      </p:sp>
      <p:sp>
        <p:nvSpPr>
          <p:cNvPr id="8" name="Rounded Rectangle 7"/>
          <p:cNvSpPr/>
          <p:nvPr/>
        </p:nvSpPr>
        <p:spPr>
          <a:xfrm>
            <a:off x="740664" y="3557015"/>
            <a:ext cx="5056631" cy="45720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3593591"/>
            <a:ext cx="4745736" cy="402336"/>
          </a:xfrm>
          <a:prstGeom prst="rect">
            <a:avLst/>
          </a:prstGeom>
          <a:noFill/>
        </p:spPr>
        <p:txBody>
          <a:bodyPr wrap="square" lIns="0" rIns="0" tIns="0" bIns="0" anchor="ctr">
            <a:spAutoFit/>
          </a:bodyPr>
          <a:lstStyle/>
          <a:p>
            <a:pPr algn="l">
              <a:lnSpc>
                <a:spcPct val="106000"/>
              </a:lnSpc>
            </a:pPr>
            <a:r>
              <a:rPr sz="1100" b="1" i="0">
                <a:solidFill>
                  <a:srgbClr val="21295C"/>
                </a:solidFill>
                <a:latin typeface="Arial"/>
              </a:rPr>
              <a:t>Отсюда и цикл агента (следующий слайд): модель в петле «reason → вызвать инструмент → прочитать результат».</a:t>
            </a:r>
          </a:p>
        </p:txBody>
      </p:sp>
      <p:sp>
        <p:nvSpPr>
          <p:cNvPr id="10" name="Rounded Rectangle 9"/>
          <p:cNvSpPr/>
          <p:nvPr/>
        </p:nvSpPr>
        <p:spPr>
          <a:xfrm>
            <a:off x="617220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ble-mid.png"/>
          <p:cNvPicPr>
            <a:picLocks noChangeAspect="1"/>
          </p:cNvPicPr>
          <p:nvPr/>
        </p:nvPicPr>
        <p:blipFill>
          <a:blip r:embed="rId3"/>
          <a:stretch>
            <a:fillRect/>
          </a:stretch>
        </p:blipFill>
        <p:spPr>
          <a:xfrm>
            <a:off x="6391656" y="2011680"/>
            <a:ext cx="438912" cy="438912"/>
          </a:xfrm>
          <a:prstGeom prst="rect">
            <a:avLst/>
          </a:prstGeom>
        </p:spPr>
      </p:pic>
      <p:sp>
        <p:nvSpPr>
          <p:cNvPr id="12" name="TextBox 11"/>
          <p:cNvSpPr txBox="1"/>
          <p:nvPr/>
        </p:nvSpPr>
        <p:spPr>
          <a:xfrm>
            <a:off x="6958584" y="2029968"/>
            <a:ext cx="457200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350" b="0" i="0">
                <a:solidFill>
                  <a:srgbClr val="21295C"/>
                </a:solidFill>
                <a:latin typeface="Arial"/>
              </a:rPr>
              <a:t>  — «USB-C для инструментов LLM»</a:t>
            </a:r>
          </a:p>
        </p:txBody>
      </p:sp>
      <p:sp>
        <p:nvSpPr>
          <p:cNvPr id="13" name="TextBox 12"/>
          <p:cNvSpPr txBox="1"/>
          <p:nvPr/>
        </p:nvSpPr>
        <p:spPr>
          <a:xfrm>
            <a:off x="6409944" y="2615184"/>
            <a:ext cx="5056631" cy="402336"/>
          </a:xfrm>
          <a:prstGeom prst="rect">
            <a:avLst/>
          </a:prstGeom>
          <a:noFill/>
        </p:spPr>
        <p:txBody>
          <a:bodyPr wrap="square" lIns="0" rIns="0" tIns="0" bIns="0" anchor="ctr">
            <a:spAutoFit/>
          </a:bodyPr>
          <a:lstStyle/>
          <a:p>
            <a:pPr algn="l">
              <a:lnSpc>
                <a:spcPct val="115000"/>
              </a:lnSpc>
            </a:pPr>
            <a:r>
              <a:rPr sz="2200" b="1" i="0">
                <a:solidFill>
                  <a:srgbClr val="1C7293"/>
                </a:solidFill>
                <a:latin typeface="Arial"/>
              </a:rPr>
              <a:t>N×M</a:t>
            </a:r>
            <a:r>
              <a:rPr sz="1400" b="0" i="0">
                <a:solidFill>
                  <a:srgbClr val="21295C"/>
                </a:solidFill>
                <a:latin typeface="Arial"/>
              </a:rPr>
              <a:t> несовместимых интеграций → </a:t>
            </a:r>
            <a:r>
              <a:rPr sz="2200" b="1" i="0">
                <a:solidFill>
                  <a:srgbClr val="028090"/>
                </a:solidFill>
                <a:latin typeface="Arial"/>
              </a:rPr>
              <a:t>N+M</a:t>
            </a:r>
            <a:r>
              <a:rPr sz="1144" baseline="30000" b="0" i="1">
                <a:latin typeface="Arial"/>
                <a:cs typeface="Arial"/>
                <a:ea typeface="Arial"/>
                <a:solidFill>
                  <a:srgbClr val="1C7293"/>
                </a:solidFill>
              </a:rPr>
              <a:t>[1]</a:t>
            </a:r>
          </a:p>
        </p:txBody>
      </p:sp>
      <p:sp>
        <p:nvSpPr>
          <p:cNvPr id="14" name="TextBox 13"/>
          <p:cNvSpPr txBox="1"/>
          <p:nvPr/>
        </p:nvSpPr>
        <p:spPr>
          <a:xfrm>
            <a:off x="6409944" y="3127248"/>
            <a:ext cx="5056631" cy="310896"/>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инструмент один раз = MCP-сервер; модель один раз = MCP-клиент. Подключение стало операцией на минуты.</a:t>
            </a:r>
          </a:p>
        </p:txBody>
      </p:sp>
      <p:pic>
        <p:nvPicPr>
          <p:cNvPr id="15" name="Picture 14" descr="logo-anthropic.png"/>
          <p:cNvPicPr>
            <a:picLocks noChangeAspect="1"/>
          </p:cNvPicPr>
          <p:nvPr/>
        </p:nvPicPr>
        <p:blipFill>
          <a:blip r:embed="rId4"/>
          <a:stretch>
            <a:fillRect/>
          </a:stretch>
        </p:blipFill>
        <p:spPr>
          <a:xfrm>
            <a:off x="6409944" y="3584448"/>
            <a:ext cx="292608" cy="292608"/>
          </a:xfrm>
          <a:prstGeom prst="rect">
            <a:avLst/>
          </a:prstGeom>
        </p:spPr>
      </p:pic>
      <p:sp>
        <p:nvSpPr>
          <p:cNvPr id="16" name="TextBox 15"/>
          <p:cNvSpPr txBox="1"/>
          <p:nvPr/>
        </p:nvSpPr>
        <p:spPr>
          <a:xfrm>
            <a:off x="6775704"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Anthropic</a:t>
            </a:r>
          </a:p>
        </p:txBody>
      </p:sp>
      <p:sp>
        <p:nvSpPr>
          <p:cNvPr id="17" name="TextBox 16"/>
          <p:cNvSpPr txBox="1"/>
          <p:nvPr/>
        </p:nvSpPr>
        <p:spPr>
          <a:xfrm>
            <a:off x="6775704"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11/2024</a:t>
            </a:r>
          </a:p>
        </p:txBody>
      </p:sp>
      <p:sp>
        <p:nvSpPr>
          <p:cNvPr id="18" name="TextBox 17"/>
          <p:cNvSpPr txBox="1"/>
          <p:nvPr/>
        </p:nvSpPr>
        <p:spPr>
          <a:xfrm>
            <a:off x="7927848"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19" name="Picture 18" descr="logo-openai.png"/>
          <p:cNvPicPr>
            <a:picLocks noChangeAspect="1"/>
          </p:cNvPicPr>
          <p:nvPr/>
        </p:nvPicPr>
        <p:blipFill>
          <a:blip r:embed="rId5"/>
          <a:stretch>
            <a:fillRect/>
          </a:stretch>
        </p:blipFill>
        <p:spPr>
          <a:xfrm>
            <a:off x="8165592" y="3584448"/>
            <a:ext cx="292608" cy="292608"/>
          </a:xfrm>
          <a:prstGeom prst="rect">
            <a:avLst/>
          </a:prstGeom>
        </p:spPr>
      </p:pic>
      <p:sp>
        <p:nvSpPr>
          <p:cNvPr id="20" name="TextBox 19"/>
          <p:cNvSpPr txBox="1"/>
          <p:nvPr/>
        </p:nvSpPr>
        <p:spPr>
          <a:xfrm>
            <a:off x="8531352"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OpenAI</a:t>
            </a:r>
          </a:p>
        </p:txBody>
      </p:sp>
      <p:sp>
        <p:nvSpPr>
          <p:cNvPr id="21" name="TextBox 20"/>
          <p:cNvSpPr txBox="1"/>
          <p:nvPr/>
        </p:nvSpPr>
        <p:spPr>
          <a:xfrm>
            <a:off x="8531352"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03/2025</a:t>
            </a:r>
          </a:p>
        </p:txBody>
      </p:sp>
      <p:sp>
        <p:nvSpPr>
          <p:cNvPr id="22" name="TextBox 21"/>
          <p:cNvSpPr txBox="1"/>
          <p:nvPr/>
        </p:nvSpPr>
        <p:spPr>
          <a:xfrm>
            <a:off x="9683496"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23" name="Picture 22" descr="logo-gemini.png"/>
          <p:cNvPicPr>
            <a:picLocks noChangeAspect="1"/>
          </p:cNvPicPr>
          <p:nvPr/>
        </p:nvPicPr>
        <p:blipFill>
          <a:blip r:embed="rId6"/>
          <a:stretch>
            <a:fillRect/>
          </a:stretch>
        </p:blipFill>
        <p:spPr>
          <a:xfrm>
            <a:off x="9921240" y="3584448"/>
            <a:ext cx="292608" cy="292608"/>
          </a:xfrm>
          <a:prstGeom prst="rect">
            <a:avLst/>
          </a:prstGeom>
        </p:spPr>
      </p:pic>
      <p:sp>
        <p:nvSpPr>
          <p:cNvPr id="24" name="TextBox 23"/>
          <p:cNvSpPr txBox="1"/>
          <p:nvPr/>
        </p:nvSpPr>
        <p:spPr>
          <a:xfrm>
            <a:off x="10287000"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Google</a:t>
            </a:r>
          </a:p>
        </p:txBody>
      </p:sp>
      <p:sp>
        <p:nvSpPr>
          <p:cNvPr id="25" name="TextBox 24"/>
          <p:cNvSpPr txBox="1"/>
          <p:nvPr/>
        </p:nvSpPr>
        <p:spPr>
          <a:xfrm>
            <a:off x="10287000"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04/2025</a:t>
            </a:r>
          </a:p>
        </p:txBody>
      </p:sp>
      <p:sp>
        <p:nvSpPr>
          <p:cNvPr id="26" name="Rounded Rectangle 25"/>
          <p:cNvSpPr/>
          <p:nvPr/>
        </p:nvSpPr>
        <p:spPr>
          <a:xfrm>
            <a:off x="502920" y="4297680"/>
            <a:ext cx="11201400" cy="1042415"/>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hield-alert-teal.png"/>
          <p:cNvPicPr>
            <a:picLocks noChangeAspect="1"/>
          </p:cNvPicPr>
          <p:nvPr/>
        </p:nvPicPr>
        <p:blipFill>
          <a:blip r:embed="rId7"/>
          <a:stretch>
            <a:fillRect/>
          </a:stretch>
        </p:blipFill>
        <p:spPr>
          <a:xfrm>
            <a:off x="731520" y="4480560"/>
            <a:ext cx="402336" cy="402336"/>
          </a:xfrm>
          <a:prstGeom prst="rect">
            <a:avLst/>
          </a:prstGeom>
        </p:spPr>
      </p:pic>
      <p:sp>
        <p:nvSpPr>
          <p:cNvPr id="28" name="TextBox 27"/>
          <p:cNvSpPr txBox="1"/>
          <p:nvPr/>
        </p:nvSpPr>
        <p:spPr>
          <a:xfrm>
            <a:off x="1280160" y="4443984"/>
            <a:ext cx="10149840" cy="365760"/>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Поворот доверия: стандартизация подключения ≠ безопасность подключаемого — и усугубляет проблему доверия.</a:t>
            </a:r>
          </a:p>
        </p:txBody>
      </p:sp>
      <p:sp>
        <p:nvSpPr>
          <p:cNvPr id="29" name="Oval 28"/>
          <p:cNvSpPr/>
          <p:nvPr/>
        </p:nvSpPr>
        <p:spPr>
          <a:xfrm>
            <a:off x="76809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 y="4901184"/>
            <a:ext cx="534924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MCP-сервер = чужой код в вашем окружении и доступ к данным</a:t>
            </a:r>
          </a:p>
        </p:txBody>
      </p:sp>
      <p:sp>
        <p:nvSpPr>
          <p:cNvPr id="31" name="Oval 30"/>
          <p:cNvSpPr/>
          <p:nvPr/>
        </p:nvSpPr>
        <p:spPr>
          <a:xfrm>
            <a:off x="639165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901184"/>
            <a:ext cx="534924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описание сервера попадает в контекст — носитель инъекции в промпт</a:t>
            </a:r>
          </a:p>
        </p:txBody>
      </p:sp>
      <p:sp>
        <p:nvSpPr>
          <p:cNvPr id="33" name="Rounded Rectangle 32"/>
          <p:cNvSpPr/>
          <p:nvPr/>
        </p:nvSpPr>
        <p:spPr>
          <a:xfrm>
            <a:off x="502920" y="548640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5541264"/>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Модель-компонент и MCP делают подключение удобным, но ни один механизм не делает модель надёжнее — правило лестницы не отменяется. Удобство подключения — не аргумент за подключение.</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Anthropic — MCP donation / Agentic AI Foundation (N×M→N+M)</a:t>
            </a:r>
            <a:r>
              <a:rPr sz="850" i="1">
                <a:solidFill>
                  <a:srgbClr val="5B6678"/>
                </a:solidFill>
                <a:latin typeface="Arial"/>
              </a:rPr>
              <a:t>   ·   Масштаб экосистемы MCP и хронология поддержки вендорами — см. источники.</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828032"/>
            <a:ext cx="854964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82896"/>
            <a:ext cx="814730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Rounded Rectangle 23"/>
          <p:cNvSpPr/>
          <p:nvPr/>
        </p:nvSpPr>
        <p:spPr>
          <a:xfrm>
            <a:off x="9601200" y="4572000"/>
            <a:ext cx="1783080" cy="1728216"/>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19b-batman-ru.png"/>
          <p:cNvPicPr>
            <a:picLocks noChangeAspect="1"/>
          </p:cNvPicPr>
          <p:nvPr/>
        </p:nvPicPr>
        <p:blipFill>
          <a:blip r:embed="rId2"/>
          <a:stretch>
            <a:fillRect/>
          </a:stretch>
        </p:blipFill>
        <p:spPr>
          <a:xfrm>
            <a:off x="9646920" y="4617777"/>
            <a:ext cx="1691640" cy="1636662"/>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67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Workflow — не примитив: пять паттернов вокруг предсказуемого.</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Прежде чем тянуться к динамическому агенту: большинство «нам нужен агент» закрываются одним из этих пяти паттернов. Все они — предопределённые в коде структуры, сохраняющие предсказуемость и аудируемость.</a:t>
            </a:r>
          </a:p>
        </p:txBody>
      </p:sp>
      <p:sp>
        <p:nvSpPr>
          <p:cNvPr id="4" name="Rounded Rectangle 3"/>
          <p:cNvSpPr/>
          <p:nvPr/>
        </p:nvSpPr>
        <p:spPr>
          <a:xfrm>
            <a:off x="502920"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0"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white.png"/>
          <p:cNvPicPr>
            <a:picLocks noChangeAspect="1"/>
          </p:cNvPicPr>
          <p:nvPr/>
        </p:nvPicPr>
        <p:blipFill>
          <a:blip r:embed="rId2"/>
          <a:stretch>
            <a:fillRect/>
          </a:stretch>
        </p:blipFill>
        <p:spPr>
          <a:xfrm>
            <a:off x="1362456" y="1801368"/>
            <a:ext cx="493776" cy="493776"/>
          </a:xfrm>
          <a:prstGeom prst="rect">
            <a:avLst/>
          </a:prstGeom>
        </p:spPr>
      </p:pic>
      <p:sp>
        <p:nvSpPr>
          <p:cNvPr id="7" name="Oval 6"/>
          <p:cNvSpPr/>
          <p:nvPr/>
        </p:nvSpPr>
        <p:spPr>
          <a:xfrm>
            <a:off x="630936"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9" name="TextBox 8"/>
          <p:cNvSpPr txBox="1"/>
          <p:nvPr/>
        </p:nvSpPr>
        <p:spPr>
          <a:xfrm>
            <a:off x="612648"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Prompt chaining</a:t>
            </a:r>
          </a:p>
        </p:txBody>
      </p:sp>
      <p:sp>
        <p:nvSpPr>
          <p:cNvPr id="10" name="TextBox 9"/>
          <p:cNvSpPr txBox="1"/>
          <p:nvPr/>
        </p:nvSpPr>
        <p:spPr>
          <a:xfrm>
            <a:off x="649224"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фиксированная цепочка вызовов: выход одного — вход следующего; между шагами — детерминированная проверка (gate)</a:t>
            </a:r>
          </a:p>
        </p:txBody>
      </p:sp>
      <p:sp>
        <p:nvSpPr>
          <p:cNvPr id="11" name="Rounded Rectangle 10"/>
          <p:cNvSpPr/>
          <p:nvPr/>
        </p:nvSpPr>
        <p:spPr>
          <a:xfrm>
            <a:off x="630936"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задача чисто декомпозируется на известные подшаги</a:t>
            </a:r>
          </a:p>
        </p:txBody>
      </p:sp>
      <p:sp>
        <p:nvSpPr>
          <p:cNvPr id="13" name="Rounded Rectangle 12"/>
          <p:cNvSpPr/>
          <p:nvPr/>
        </p:nvSpPr>
        <p:spPr>
          <a:xfrm>
            <a:off x="2807208"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84448"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oute-white.png"/>
          <p:cNvPicPr>
            <a:picLocks noChangeAspect="1"/>
          </p:cNvPicPr>
          <p:nvPr/>
        </p:nvPicPr>
        <p:blipFill>
          <a:blip r:embed="rId3"/>
          <a:stretch>
            <a:fillRect/>
          </a:stretch>
        </p:blipFill>
        <p:spPr>
          <a:xfrm>
            <a:off x="3666744" y="1801368"/>
            <a:ext cx="493776" cy="493776"/>
          </a:xfrm>
          <a:prstGeom prst="rect">
            <a:avLst/>
          </a:prstGeom>
        </p:spPr>
      </p:pic>
      <p:sp>
        <p:nvSpPr>
          <p:cNvPr id="16" name="Oval 15"/>
          <p:cNvSpPr/>
          <p:nvPr/>
        </p:nvSpPr>
        <p:spPr>
          <a:xfrm>
            <a:off x="2935224"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35224"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8" name="TextBox 17"/>
          <p:cNvSpPr txBox="1"/>
          <p:nvPr/>
        </p:nvSpPr>
        <p:spPr>
          <a:xfrm>
            <a:off x="2916936"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Routing</a:t>
            </a:r>
          </a:p>
        </p:txBody>
      </p:sp>
      <p:sp>
        <p:nvSpPr>
          <p:cNvPr id="19" name="TextBox 18"/>
          <p:cNvSpPr txBox="1"/>
          <p:nvPr/>
        </p:nvSpPr>
        <p:spPr>
          <a:xfrm>
            <a:off x="2953512"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первый вызов классифицирует вход и направляет в один из заданных маршрутов (свой промпт/модель)</a:t>
            </a:r>
          </a:p>
        </p:txBody>
      </p:sp>
      <p:sp>
        <p:nvSpPr>
          <p:cNvPr id="20" name="Rounded Rectangle 19"/>
          <p:cNvSpPr/>
          <p:nvPr/>
        </p:nvSpPr>
        <p:spPr>
          <a:xfrm>
            <a:off x="2935224"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6664"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входы разнородны, но классы известны</a:t>
            </a:r>
          </a:p>
        </p:txBody>
      </p:sp>
      <p:sp>
        <p:nvSpPr>
          <p:cNvPr id="22" name="Rounded Rectangle 21"/>
          <p:cNvSpPr/>
          <p:nvPr/>
        </p:nvSpPr>
        <p:spPr>
          <a:xfrm>
            <a:off x="5111496"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888736" y="1719072"/>
            <a:ext cx="658368" cy="65836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fork-white.png"/>
          <p:cNvPicPr>
            <a:picLocks noChangeAspect="1"/>
          </p:cNvPicPr>
          <p:nvPr/>
        </p:nvPicPr>
        <p:blipFill>
          <a:blip r:embed="rId4"/>
          <a:stretch>
            <a:fillRect/>
          </a:stretch>
        </p:blipFill>
        <p:spPr>
          <a:xfrm>
            <a:off x="5971031" y="1801368"/>
            <a:ext cx="493776" cy="493776"/>
          </a:xfrm>
          <a:prstGeom prst="rect">
            <a:avLst/>
          </a:prstGeom>
        </p:spPr>
      </p:pic>
      <p:sp>
        <p:nvSpPr>
          <p:cNvPr id="25" name="Oval 24"/>
          <p:cNvSpPr/>
          <p:nvPr/>
        </p:nvSpPr>
        <p:spPr>
          <a:xfrm>
            <a:off x="5239512" y="1645919"/>
            <a:ext cx="310896" cy="31089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39512"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7" name="TextBox 26"/>
          <p:cNvSpPr txBox="1"/>
          <p:nvPr/>
        </p:nvSpPr>
        <p:spPr>
          <a:xfrm>
            <a:off x="5221224"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Parallelization</a:t>
            </a:r>
          </a:p>
        </p:txBody>
      </p:sp>
      <p:sp>
        <p:nvSpPr>
          <p:cNvPr id="28" name="TextBox 27"/>
          <p:cNvSpPr txBox="1"/>
          <p:nvPr/>
        </p:nvSpPr>
        <p:spPr>
          <a:xfrm>
            <a:off x="5257800"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независимые подзадачи параллельно, результаты агрегируются детерминированно (голосование, объединение)</a:t>
            </a:r>
          </a:p>
        </p:txBody>
      </p:sp>
      <p:sp>
        <p:nvSpPr>
          <p:cNvPr id="29" name="Rounded Rectangle 28"/>
          <p:cNvSpPr/>
          <p:nvPr/>
        </p:nvSpPr>
        <p:spPr>
          <a:xfrm>
            <a:off x="5239512"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30952"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подзадачи независимы и известны заранее</a:t>
            </a:r>
          </a:p>
        </p:txBody>
      </p:sp>
      <p:sp>
        <p:nvSpPr>
          <p:cNvPr id="31" name="Rounded Rectangle 30"/>
          <p:cNvSpPr/>
          <p:nvPr/>
        </p:nvSpPr>
        <p:spPr>
          <a:xfrm>
            <a:off x="7415784"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93024"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waypoints-white.png"/>
          <p:cNvPicPr>
            <a:picLocks noChangeAspect="1"/>
          </p:cNvPicPr>
          <p:nvPr/>
        </p:nvPicPr>
        <p:blipFill>
          <a:blip r:embed="rId5"/>
          <a:stretch>
            <a:fillRect/>
          </a:stretch>
        </p:blipFill>
        <p:spPr>
          <a:xfrm>
            <a:off x="8275320" y="1801368"/>
            <a:ext cx="493776" cy="493776"/>
          </a:xfrm>
          <a:prstGeom prst="rect">
            <a:avLst/>
          </a:prstGeom>
        </p:spPr>
      </p:pic>
      <p:sp>
        <p:nvSpPr>
          <p:cNvPr id="34" name="Oval 33"/>
          <p:cNvSpPr/>
          <p:nvPr/>
        </p:nvSpPr>
        <p:spPr>
          <a:xfrm>
            <a:off x="7543800"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43800"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6" name="TextBox 35"/>
          <p:cNvSpPr txBox="1"/>
          <p:nvPr/>
        </p:nvSpPr>
        <p:spPr>
          <a:xfrm>
            <a:off x="7525512"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Orchestrator-workers</a:t>
            </a:r>
          </a:p>
        </p:txBody>
      </p:sp>
      <p:sp>
        <p:nvSpPr>
          <p:cNvPr id="37" name="TextBox 36"/>
          <p:cNvSpPr txBox="1"/>
          <p:nvPr/>
        </p:nvSpPr>
        <p:spPr>
          <a:xfrm>
            <a:off x="7562088"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центральный вызов делит задачу динамически, но в заданных рамках, и раздаёт воркерам</a:t>
            </a:r>
          </a:p>
        </p:txBody>
      </p:sp>
      <p:sp>
        <p:nvSpPr>
          <p:cNvPr id="38" name="Rounded Rectangle 37"/>
          <p:cNvSpPr/>
          <p:nvPr/>
        </p:nvSpPr>
        <p:spPr>
          <a:xfrm>
            <a:off x="7543800"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35240"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граница workflow↔агент: декомпозиция гибкая, контур фиксирован</a:t>
            </a:r>
          </a:p>
        </p:txBody>
      </p:sp>
      <p:sp>
        <p:nvSpPr>
          <p:cNvPr id="40" name="Rounded Rectangle 39"/>
          <p:cNvSpPr/>
          <p:nvPr/>
        </p:nvSpPr>
        <p:spPr>
          <a:xfrm>
            <a:off x="9720072" y="1517904"/>
            <a:ext cx="2212848" cy="3108960"/>
          </a:xfrm>
          <a:prstGeom prst="roundRect">
            <a:avLst>
              <a:gd name="adj" fmla="val 13774"/>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497312" y="1719072"/>
            <a:ext cx="658368" cy="658368"/>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heck-check-white.png"/>
          <p:cNvPicPr>
            <a:picLocks noChangeAspect="1"/>
          </p:cNvPicPr>
          <p:nvPr/>
        </p:nvPicPr>
        <p:blipFill>
          <a:blip r:embed="rId6"/>
          <a:stretch>
            <a:fillRect/>
          </a:stretch>
        </p:blipFill>
        <p:spPr>
          <a:xfrm>
            <a:off x="10579608" y="1801368"/>
            <a:ext cx="493776" cy="493776"/>
          </a:xfrm>
          <a:prstGeom prst="rect">
            <a:avLst/>
          </a:prstGeom>
        </p:spPr>
      </p:pic>
      <p:sp>
        <p:nvSpPr>
          <p:cNvPr id="43" name="Oval 42"/>
          <p:cNvSpPr/>
          <p:nvPr/>
        </p:nvSpPr>
        <p:spPr>
          <a:xfrm>
            <a:off x="9848088" y="1645919"/>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48088"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45" name="TextBox 44"/>
          <p:cNvSpPr txBox="1"/>
          <p:nvPr/>
        </p:nvSpPr>
        <p:spPr>
          <a:xfrm>
            <a:off x="9829800"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Evaluator-optimizer</a:t>
            </a:r>
          </a:p>
        </p:txBody>
      </p:sp>
      <p:sp>
        <p:nvSpPr>
          <p:cNvPr id="46" name="TextBox 45"/>
          <p:cNvSpPr txBox="1"/>
          <p:nvPr/>
        </p:nvSpPr>
        <p:spPr>
          <a:xfrm>
            <a:off x="9866376"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один вызов генерирует, другой оценивает по критериям; цикл до порога</a:t>
            </a:r>
          </a:p>
        </p:txBody>
      </p:sp>
      <p:sp>
        <p:nvSpPr>
          <p:cNvPr id="47" name="Rounded Rectangle 46"/>
          <p:cNvSpPr/>
          <p:nvPr/>
        </p:nvSpPr>
        <p:spPr>
          <a:xfrm>
            <a:off x="9848088" y="3913631"/>
            <a:ext cx="1956815" cy="603504"/>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39528" y="3931920"/>
            <a:ext cx="1773936" cy="566928"/>
          </a:xfrm>
          <a:prstGeom prst="rect">
            <a:avLst/>
          </a:prstGeom>
          <a:noFill/>
        </p:spPr>
        <p:txBody>
          <a:bodyPr wrap="square" lIns="0" rIns="0" tIns="0" bIns="0" anchor="ctr">
            <a:spAutoFit/>
          </a:bodyPr>
          <a:lstStyle/>
          <a:p>
            <a:pPr algn="l">
              <a:lnSpc>
                <a:spcPct val="106000"/>
              </a:lnSpc>
            </a:pPr>
            <a:r>
              <a:rPr sz="950" b="0" i="1">
                <a:solidFill>
                  <a:srgbClr val="21295C"/>
                </a:solidFill>
                <a:latin typeface="Arial"/>
              </a:rPr>
              <a:t>когда: нужна встроенная проверка между шагами — против reliability compounding</a:t>
            </a:r>
          </a:p>
        </p:txBody>
      </p:sp>
      <p:sp>
        <p:nvSpPr>
          <p:cNvPr id="49" name="Rounded Rectangle 48"/>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Все пять — предопределённые в коде структуры; динамический агент отличается тем, что сам решает, какую структуру построить под конкретный вход, и теряет предсказуемость, которую эти паттерны сохраняют. Найди простейшее: workflow — вокруг предсказуемого, агент — чтобы исследовать непредсказуемое.</a:t>
            </a:r>
          </a:p>
        </p:txBody>
      </p:sp>
      <p:sp>
        <p:nvSpPr>
          <p:cNvPr id="51" name="TextBox 5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(пять паттернов workflow)</a:t>
            </a:r>
            <a:r>
              <a:rPr sz="850" i="1">
                <a:solidFill>
                  <a:srgbClr val="5B6678"/>
                </a:solidFill>
                <a:latin typeface="Arial"/>
              </a:rPr>
              <a:t>   ·   Пять паттернов workflow — Anthropic, Building Effective Agents; выбор агент vs workflow — на следующем слайде.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Фреймворк агента — абстракционный налог; берут под требование.</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Anthropic: многие паттерны — несколько строк прямых вызовов API</a:t>
            </a:r>
            <a:r>
              <a:rPr sz="650" baseline="30000" b="0" i="1">
                <a:latin typeface="Arial"/>
                <a:cs typeface="Arial"/>
                <a:ea typeface="Arial"/>
                <a:solidFill>
                  <a:srgbClr val="1C7293"/>
                </a:solidFill>
              </a:rPr>
              <a:t>[1]</a:t>
            </a:r>
            <a:r>
              <a:rPr sz="1250" b="0" i="1">
                <a:latin typeface="Arial"/>
                <a:cs typeface="Arial"/>
                <a:ea typeface="Arial"/>
                <a:solidFill>
                  <a:srgbClr val="065A82"/>
                </a:solidFill>
              </a:rPr>
              <a:t>; фреймворки скрывают исходные промпты и усложняют отладку. Разбор по устойчивой схеме, а не по маркетингу.</a:t>
            </a:r>
          </a:p>
        </p:txBody>
      </p:sp>
      <p:sp>
        <p:nvSpPr>
          <p:cNvPr id="4" name="Rounded Rectangle 3"/>
          <p:cNvSpPr/>
          <p:nvPr/>
        </p:nvSpPr>
        <p:spPr>
          <a:xfrm>
            <a:off x="365760" y="1481328"/>
            <a:ext cx="11475720" cy="3712463"/>
          </a:xfrm>
          <a:prstGeom prst="roundRect">
            <a:avLst>
              <a:gd name="adj" fmla="val 82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72768"/>
            <a:ext cx="23317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72768"/>
            <a:ext cx="21488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Фреймворк</a:t>
            </a:r>
          </a:p>
        </p:txBody>
      </p:sp>
      <p:sp>
        <p:nvSpPr>
          <p:cNvPr id="7" name="Rectangle 6"/>
          <p:cNvSpPr/>
          <p:nvPr/>
        </p:nvSpPr>
        <p:spPr>
          <a:xfrm>
            <a:off x="2807208" y="1572768"/>
            <a:ext cx="28803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98648" y="1572768"/>
            <a:ext cx="269747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Ядро-абстракция</a:t>
            </a:r>
          </a:p>
        </p:txBody>
      </p:sp>
      <p:sp>
        <p:nvSpPr>
          <p:cNvPr id="9" name="Rectangle 8"/>
          <p:cNvSpPr/>
          <p:nvPr/>
        </p:nvSpPr>
        <p:spPr>
          <a:xfrm>
            <a:off x="5687568" y="1572768"/>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79007" y="1572768"/>
            <a:ext cx="28346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Под что лучше всего</a:t>
            </a:r>
          </a:p>
        </p:txBody>
      </p:sp>
      <p:sp>
        <p:nvSpPr>
          <p:cNvPr id="11" name="Rectangle 10"/>
          <p:cNvSpPr/>
          <p:nvPr/>
        </p:nvSpPr>
        <p:spPr>
          <a:xfrm>
            <a:off x="8705088" y="1572768"/>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1572768"/>
            <a:ext cx="28346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Один честный минус</a:t>
            </a:r>
          </a:p>
        </p:txBody>
      </p:sp>
      <p:sp>
        <p:nvSpPr>
          <p:cNvPr id="13" name="Rectangle 12"/>
          <p:cNvSpPr/>
          <p:nvPr/>
        </p:nvSpPr>
        <p:spPr>
          <a:xfrm>
            <a:off x="475488" y="1938528"/>
            <a:ext cx="23317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938528"/>
            <a:ext cx="214883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LangGraph</a:t>
            </a:r>
            <a:r>
              <a:rPr sz="494" baseline="30000" b="0" i="1">
                <a:latin typeface="Arial"/>
                <a:cs typeface="Arial"/>
                <a:ea typeface="Arial"/>
                <a:solidFill>
                  <a:srgbClr val="1C7293"/>
                </a:solidFill>
              </a:rPr>
              <a:t>[2]</a:t>
            </a:r>
          </a:p>
        </p:txBody>
      </p:sp>
      <p:sp>
        <p:nvSpPr>
          <p:cNvPr id="15" name="Rectangle 14"/>
          <p:cNvSpPr/>
          <p:nvPr/>
        </p:nvSpPr>
        <p:spPr>
          <a:xfrm>
            <a:off x="2807208" y="1938528"/>
            <a:ext cx="288036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98648" y="1938528"/>
            <a:ext cx="269747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stateful-граф</a:t>
            </a:r>
          </a:p>
        </p:txBody>
      </p:sp>
      <p:sp>
        <p:nvSpPr>
          <p:cNvPr id="17" name="Rectangle 16"/>
          <p:cNvSpPr/>
          <p:nvPr/>
        </p:nvSpPr>
        <p:spPr>
          <a:xfrm>
            <a:off x="5687568" y="1938528"/>
            <a:ext cx="30175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79007" y="1938528"/>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продакшн: control flow, состояние, HITL</a:t>
            </a:r>
          </a:p>
        </p:txBody>
      </p:sp>
      <p:sp>
        <p:nvSpPr>
          <p:cNvPr id="19" name="Rectangle 18"/>
          <p:cNvSpPr/>
          <p:nvPr/>
        </p:nvSpPr>
        <p:spPr>
          <a:xfrm>
            <a:off x="8705088" y="1938528"/>
            <a:ext cx="30175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1938528"/>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крутая кривая; для одного цикла — переинжиниринг</a:t>
            </a:r>
          </a:p>
        </p:txBody>
      </p:sp>
      <p:sp>
        <p:nvSpPr>
          <p:cNvPr id="21" name="Rectangle 20"/>
          <p:cNvSpPr/>
          <p:nvPr/>
        </p:nvSpPr>
        <p:spPr>
          <a:xfrm>
            <a:off x="475488" y="2290064"/>
            <a:ext cx="23317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290064"/>
            <a:ext cx="214883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CrewAI</a:t>
            </a:r>
          </a:p>
        </p:txBody>
      </p:sp>
      <p:sp>
        <p:nvSpPr>
          <p:cNvPr id="23" name="Rectangle 22"/>
          <p:cNvSpPr/>
          <p:nvPr/>
        </p:nvSpPr>
        <p:spPr>
          <a:xfrm>
            <a:off x="2807208" y="2290064"/>
            <a:ext cx="288036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290064"/>
            <a:ext cx="269747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ролевые «экипажи»</a:t>
            </a:r>
          </a:p>
        </p:txBody>
      </p:sp>
      <p:sp>
        <p:nvSpPr>
          <p:cNvPr id="25" name="Rectangle 24"/>
          <p:cNvSpPr/>
          <p:nvPr/>
        </p:nvSpPr>
        <p:spPr>
          <a:xfrm>
            <a:off x="5687568" y="2290064"/>
            <a:ext cx="30175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79007" y="2290064"/>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быстрый роль-декомпозируемый прототип</a:t>
            </a:r>
          </a:p>
        </p:txBody>
      </p:sp>
      <p:sp>
        <p:nvSpPr>
          <p:cNvPr id="27" name="Rectangle 26"/>
          <p:cNvSpPr/>
          <p:nvPr/>
        </p:nvSpPr>
        <p:spPr>
          <a:xfrm>
            <a:off x="8705088" y="2290064"/>
            <a:ext cx="30175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290064"/>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роль маскирует, что реально происходит; хрупкость мульти-агента</a:t>
            </a:r>
          </a:p>
        </p:txBody>
      </p:sp>
      <p:sp>
        <p:nvSpPr>
          <p:cNvPr id="29" name="Rectangle 28"/>
          <p:cNvSpPr/>
          <p:nvPr/>
        </p:nvSpPr>
        <p:spPr>
          <a:xfrm>
            <a:off x="475488" y="2641599"/>
            <a:ext cx="23317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2641599"/>
            <a:ext cx="214883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AutoGen → AG2</a:t>
            </a:r>
          </a:p>
        </p:txBody>
      </p:sp>
      <p:sp>
        <p:nvSpPr>
          <p:cNvPr id="31" name="Rectangle 30"/>
          <p:cNvSpPr/>
          <p:nvPr/>
        </p:nvSpPr>
        <p:spPr>
          <a:xfrm>
            <a:off x="2807208" y="2641599"/>
            <a:ext cx="288036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2641599"/>
            <a:ext cx="269747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разговор агентов</a:t>
            </a:r>
          </a:p>
        </p:txBody>
      </p:sp>
      <p:sp>
        <p:nvSpPr>
          <p:cNvPr id="33" name="Rectangle 32"/>
          <p:cNvSpPr/>
          <p:nvPr/>
        </p:nvSpPr>
        <p:spPr>
          <a:xfrm>
            <a:off x="5687568" y="2641599"/>
            <a:ext cx="30175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79007" y="2641599"/>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исследование разговорных паттернов</a:t>
            </a:r>
          </a:p>
        </p:txBody>
      </p:sp>
      <p:sp>
        <p:nvSpPr>
          <p:cNvPr id="35" name="Rectangle 34"/>
          <p:cNvSpPr/>
          <p:nvPr/>
        </p:nvSpPr>
        <p:spPr>
          <a:xfrm>
            <a:off x="8705088" y="2641599"/>
            <a:ext cx="30175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96528" y="2641599"/>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rename-churn (AutoGen → AG2 / MS Agent) — риск при внедрении</a:t>
            </a:r>
          </a:p>
        </p:txBody>
      </p:sp>
      <p:sp>
        <p:nvSpPr>
          <p:cNvPr id="37" name="Rectangle 36"/>
          <p:cNvSpPr/>
          <p:nvPr/>
        </p:nvSpPr>
        <p:spPr>
          <a:xfrm>
            <a:off x="475488" y="2993135"/>
            <a:ext cx="23317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2993135"/>
            <a:ext cx="214883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OpenAI Agents SDK</a:t>
            </a:r>
          </a:p>
        </p:txBody>
      </p:sp>
      <p:sp>
        <p:nvSpPr>
          <p:cNvPr id="39" name="Rectangle 38"/>
          <p:cNvSpPr/>
          <p:nvPr/>
        </p:nvSpPr>
        <p:spPr>
          <a:xfrm>
            <a:off x="2807208" y="2993135"/>
            <a:ext cx="288036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2993135"/>
            <a:ext cx="269747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handoffs</a:t>
            </a:r>
          </a:p>
        </p:txBody>
      </p:sp>
      <p:sp>
        <p:nvSpPr>
          <p:cNvPr id="41" name="Rectangle 40"/>
          <p:cNvSpPr/>
          <p:nvPr/>
        </p:nvSpPr>
        <p:spPr>
          <a:xfrm>
            <a:off x="5687568" y="2993135"/>
            <a:ext cx="30175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79007" y="2993135"/>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лёгкие handoff + tracing на OpenAI</a:t>
            </a:r>
          </a:p>
        </p:txBody>
      </p:sp>
      <p:sp>
        <p:nvSpPr>
          <p:cNvPr id="43" name="Rectangle 42"/>
          <p:cNvSpPr/>
          <p:nvPr/>
        </p:nvSpPr>
        <p:spPr>
          <a:xfrm>
            <a:off x="8705088" y="2993135"/>
            <a:ext cx="30175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96528" y="2993135"/>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OpenAI-центричность; persistence/RAG приносишь сам</a:t>
            </a:r>
          </a:p>
        </p:txBody>
      </p:sp>
      <p:sp>
        <p:nvSpPr>
          <p:cNvPr id="45" name="Rectangle 44"/>
          <p:cNvSpPr/>
          <p:nvPr/>
        </p:nvSpPr>
        <p:spPr>
          <a:xfrm>
            <a:off x="475488" y="3344671"/>
            <a:ext cx="23317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3344671"/>
            <a:ext cx="214883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Claude Agent SDK</a:t>
            </a:r>
          </a:p>
        </p:txBody>
      </p:sp>
      <p:sp>
        <p:nvSpPr>
          <p:cNvPr id="47" name="Rectangle 46"/>
          <p:cNvSpPr/>
          <p:nvPr/>
        </p:nvSpPr>
        <p:spPr>
          <a:xfrm>
            <a:off x="2807208" y="3344671"/>
            <a:ext cx="288036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3344671"/>
            <a:ext cx="269747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тот же loop, что Claude Code</a:t>
            </a:r>
          </a:p>
        </p:txBody>
      </p:sp>
      <p:sp>
        <p:nvSpPr>
          <p:cNvPr id="49" name="Rectangle 48"/>
          <p:cNvSpPr/>
          <p:nvPr/>
        </p:nvSpPr>
        <p:spPr>
          <a:xfrm>
            <a:off x="5687568" y="3344671"/>
            <a:ext cx="30175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79007" y="3344671"/>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coding / computer-use, длинные задачи</a:t>
            </a:r>
          </a:p>
        </p:txBody>
      </p:sp>
      <p:sp>
        <p:nvSpPr>
          <p:cNvPr id="51" name="Rectangle 50"/>
          <p:cNvSpPr/>
          <p:nvPr/>
        </p:nvSpPr>
        <p:spPr>
          <a:xfrm>
            <a:off x="8705088" y="3344671"/>
            <a:ext cx="30175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96528" y="3344671"/>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Claude-центричность; тяжёлый harness vs голый API</a:t>
            </a:r>
          </a:p>
        </p:txBody>
      </p:sp>
      <p:sp>
        <p:nvSpPr>
          <p:cNvPr id="53" name="Rectangle 52"/>
          <p:cNvSpPr/>
          <p:nvPr/>
        </p:nvSpPr>
        <p:spPr>
          <a:xfrm>
            <a:off x="475488" y="3696207"/>
            <a:ext cx="23317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3696207"/>
            <a:ext cx="214883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smolagents</a:t>
            </a:r>
          </a:p>
        </p:txBody>
      </p:sp>
      <p:sp>
        <p:nvSpPr>
          <p:cNvPr id="55" name="Rectangle 54"/>
          <p:cNvSpPr/>
          <p:nvPr/>
        </p:nvSpPr>
        <p:spPr>
          <a:xfrm>
            <a:off x="2807208" y="3696207"/>
            <a:ext cx="288036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3696207"/>
            <a:ext cx="269747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code-агенты (пишут Python)</a:t>
            </a:r>
          </a:p>
        </p:txBody>
      </p:sp>
      <p:sp>
        <p:nvSpPr>
          <p:cNvPr id="57" name="Rectangle 56"/>
          <p:cNvSpPr/>
          <p:nvPr/>
        </p:nvSpPr>
        <p:spPr>
          <a:xfrm>
            <a:off x="5687568" y="3696207"/>
            <a:ext cx="30175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779007" y="3696207"/>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минимальный читаемый агент</a:t>
            </a:r>
          </a:p>
        </p:txBody>
      </p:sp>
      <p:sp>
        <p:nvSpPr>
          <p:cNvPr id="59" name="Rectangle 58"/>
          <p:cNvSpPr/>
          <p:nvPr/>
        </p:nvSpPr>
        <p:spPr>
          <a:xfrm>
            <a:off x="8705088" y="3696207"/>
            <a:ext cx="30175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796528" y="3696207"/>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исполнение кода = поверхность атаки (нужен sandbox)</a:t>
            </a:r>
          </a:p>
        </p:txBody>
      </p:sp>
      <p:sp>
        <p:nvSpPr>
          <p:cNvPr id="61" name="Rectangle 60"/>
          <p:cNvSpPr/>
          <p:nvPr/>
        </p:nvSpPr>
        <p:spPr>
          <a:xfrm>
            <a:off x="475488" y="4047743"/>
            <a:ext cx="23317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6928" y="4047743"/>
            <a:ext cx="214883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LlamaIndex agents</a:t>
            </a:r>
          </a:p>
        </p:txBody>
      </p:sp>
      <p:sp>
        <p:nvSpPr>
          <p:cNvPr id="63" name="Rectangle 62"/>
          <p:cNvSpPr/>
          <p:nvPr/>
        </p:nvSpPr>
        <p:spPr>
          <a:xfrm>
            <a:off x="2807208" y="4047743"/>
            <a:ext cx="288036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898648" y="4047743"/>
            <a:ext cx="269747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агент поверх RAG-стека</a:t>
            </a:r>
          </a:p>
        </p:txBody>
      </p:sp>
      <p:sp>
        <p:nvSpPr>
          <p:cNvPr id="65" name="Rectangle 64"/>
          <p:cNvSpPr/>
          <p:nvPr/>
        </p:nvSpPr>
        <p:spPr>
          <a:xfrm>
            <a:off x="5687568" y="4047743"/>
            <a:ext cx="30175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779007" y="4047743"/>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агент над вашими документами/данными</a:t>
            </a:r>
          </a:p>
        </p:txBody>
      </p:sp>
      <p:sp>
        <p:nvSpPr>
          <p:cNvPr id="67" name="Rectangle 66"/>
          <p:cNvSpPr/>
          <p:nvPr/>
        </p:nvSpPr>
        <p:spPr>
          <a:xfrm>
            <a:off x="8705088" y="4047743"/>
            <a:ext cx="3017520" cy="351535"/>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96528" y="4047743"/>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центр тяжести — retrieval, не оркестрация</a:t>
            </a:r>
          </a:p>
        </p:txBody>
      </p:sp>
      <p:sp>
        <p:nvSpPr>
          <p:cNvPr id="69" name="Rectangle 68"/>
          <p:cNvSpPr/>
          <p:nvPr/>
        </p:nvSpPr>
        <p:spPr>
          <a:xfrm>
            <a:off x="475488" y="4399279"/>
            <a:ext cx="23317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66928" y="4399279"/>
            <a:ext cx="214883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Pydantic AI</a:t>
            </a:r>
          </a:p>
        </p:txBody>
      </p:sp>
      <p:sp>
        <p:nvSpPr>
          <p:cNvPr id="71" name="Rectangle 70"/>
          <p:cNvSpPr/>
          <p:nvPr/>
        </p:nvSpPr>
        <p:spPr>
          <a:xfrm>
            <a:off x="2807208" y="4399279"/>
            <a:ext cx="288036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898648" y="4399279"/>
            <a:ext cx="269747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type-safe agent loop</a:t>
            </a:r>
          </a:p>
        </p:txBody>
      </p:sp>
      <p:sp>
        <p:nvSpPr>
          <p:cNvPr id="73" name="Rectangle 72"/>
          <p:cNvSpPr/>
          <p:nvPr/>
        </p:nvSpPr>
        <p:spPr>
          <a:xfrm>
            <a:off x="5687568" y="4399279"/>
            <a:ext cx="30175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779007" y="4399279"/>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валидированные выходы, типовые контракты</a:t>
            </a:r>
          </a:p>
        </p:txBody>
      </p:sp>
      <p:sp>
        <p:nvSpPr>
          <p:cNvPr id="75" name="Rectangle 74"/>
          <p:cNvSpPr/>
          <p:nvPr/>
        </p:nvSpPr>
        <p:spPr>
          <a:xfrm>
            <a:off x="8705088" y="4399279"/>
            <a:ext cx="3017520" cy="351535"/>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796528" y="4399279"/>
            <a:ext cx="2834639" cy="351535"/>
          </a:xfrm>
          <a:prstGeom prst="rect">
            <a:avLst/>
          </a:prstGeom>
          <a:noFill/>
        </p:spPr>
        <p:txBody>
          <a:bodyPr wrap="square" lIns="0" rIns="0" tIns="0" bIns="0" anchor="ctr">
            <a:spAutoFit/>
          </a:bodyPr>
          <a:lstStyle/>
          <a:p>
            <a:pPr algn="l">
              <a:lnSpc>
                <a:spcPct val="102000"/>
              </a:lnSpc>
            </a:pPr>
            <a:r>
              <a:rPr sz="950" b="0" i="0">
                <a:solidFill>
                  <a:srgbClr val="21295C"/>
                </a:solidFill>
                <a:latin typeface="Arial"/>
              </a:rPr>
              <a:t>молод; type-safety ортогонален оркестрации</a:t>
            </a:r>
          </a:p>
        </p:txBody>
      </p:sp>
      <p:sp>
        <p:nvSpPr>
          <p:cNvPr id="77" name="Rectangle 76"/>
          <p:cNvSpPr/>
          <p:nvPr/>
        </p:nvSpPr>
        <p:spPr>
          <a:xfrm>
            <a:off x="475488" y="4750815"/>
            <a:ext cx="2331720" cy="351535"/>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66928" y="4750815"/>
            <a:ext cx="214883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НИ ОДНОГО</a:t>
            </a:r>
          </a:p>
        </p:txBody>
      </p:sp>
      <p:sp>
        <p:nvSpPr>
          <p:cNvPr id="79" name="Rectangle 78"/>
          <p:cNvSpPr/>
          <p:nvPr/>
        </p:nvSpPr>
        <p:spPr>
          <a:xfrm>
            <a:off x="2807208" y="4750815"/>
            <a:ext cx="2880360" cy="351535"/>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898648" y="4750815"/>
            <a:ext cx="269747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обычный код + прямые вызовы API</a:t>
            </a:r>
          </a:p>
        </p:txBody>
      </p:sp>
      <p:sp>
        <p:nvSpPr>
          <p:cNvPr id="81" name="Rectangle 80"/>
          <p:cNvSpPr/>
          <p:nvPr/>
        </p:nvSpPr>
        <p:spPr>
          <a:xfrm>
            <a:off x="5687568" y="4750815"/>
            <a:ext cx="3017520" cy="351535"/>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79007" y="4750815"/>
            <a:ext cx="283463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детерминированные шаги, ≤ пары вызовов LLM</a:t>
            </a:r>
          </a:p>
        </p:txBody>
      </p:sp>
      <p:sp>
        <p:nvSpPr>
          <p:cNvPr id="83" name="Rectangle 82"/>
          <p:cNvSpPr/>
          <p:nvPr/>
        </p:nvSpPr>
        <p:spPr>
          <a:xfrm>
            <a:off x="8705088" y="4750815"/>
            <a:ext cx="3017520" cy="351535"/>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96528" y="4750815"/>
            <a:ext cx="2834639" cy="351535"/>
          </a:xfrm>
          <a:prstGeom prst="rect">
            <a:avLst/>
          </a:prstGeom>
          <a:noFill/>
        </p:spPr>
        <p:txBody>
          <a:bodyPr wrap="square" lIns="0" rIns="0" tIns="0" bIns="0" anchor="ctr">
            <a:spAutoFit/>
          </a:bodyPr>
          <a:lstStyle/>
          <a:p>
            <a:pPr algn="l">
              <a:lnSpc>
                <a:spcPct val="102000"/>
              </a:lnSpc>
            </a:pPr>
            <a:r>
              <a:rPr sz="950" b="1" i="0">
                <a:solidFill>
                  <a:srgbClr val="21295C"/>
                </a:solidFill>
                <a:latin typeface="Arial"/>
              </a:rPr>
              <a:t>требует дисциплины «не тянуться к фреймворку авансом»</a:t>
            </a:r>
          </a:p>
        </p:txBody>
      </p:sp>
      <p:sp>
        <p:nvSpPr>
          <p:cNvPr id="85" name="Rounded Rectangle 84"/>
          <p:cNvSpPr/>
          <p:nvPr/>
        </p:nvSpPr>
        <p:spPr>
          <a:xfrm>
            <a:off x="502920" y="5303520"/>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04088" y="5358383"/>
            <a:ext cx="10799064" cy="676656"/>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Нижняя строка — не для полноты: детерминированный путь + известные шаги + чувствительность к стоимости → обычный код, без агента и без фреймворка. Это правило лестницы на уровне выбора инструмента: сложность оснастки оплачивается требованием задачи, а не берётся авансом.</a:t>
            </a:r>
          </a:p>
        </p:txBody>
      </p:sp>
      <p:sp>
        <p:nvSpPr>
          <p:cNvPr id="87" name="TextBox 8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(фреймворк = абстракционный налог)</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LangGraph (LangChain) — stateful-граф, продакшн-оркестрация</a:t>
            </a:r>
          </a:p>
        </p:txBody>
      </p:sp>
      <p:sp>
        <p:nvSpPr>
          <p:cNvPr id="88" name="TextBox 8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Агент — под открытую задачу; мульти-агент — только под триггер.</a:t>
            </a:r>
          </a:p>
        </p:txBody>
      </p:sp>
      <p:sp>
        <p:nvSpPr>
          <p:cNvPr id="3" name="TextBox 2"/>
          <p:cNvSpPr txBox="1"/>
          <p:nvPr/>
        </p:nvSpPr>
        <p:spPr>
          <a:xfrm>
            <a:off x="502920" y="987552"/>
            <a:ext cx="7726679" cy="603504"/>
          </a:xfrm>
          <a:prstGeom prst="rect">
            <a:avLst/>
          </a:prstGeom>
          <a:noFill/>
        </p:spPr>
        <p:txBody>
          <a:bodyPr wrap="square" lIns="0" rIns="0" tIns="0" bIns="0" anchor="t">
            <a:spAutoFit/>
          </a:bodyPr>
          <a:lstStyle/>
          <a:p>
            <a:pPr algn="l">
              <a:lnSpc>
                <a:spcPct val="116000"/>
              </a:lnSpc>
            </a:pPr>
            <a:r>
              <a:rPr sz="1250" b="0" i="1">
                <a:solidFill>
                  <a:srgbClr val="065A82"/>
                </a:solidFill>
                <a:latin typeface="Arial"/>
              </a:rPr>
              <a:t>Предсказуемая задача (шаги известны заранее) → workflow. Открытая, непредсказуемая, где ценность оправдывает кратную цену → агент. Несколько агентов — только под конкретный триггер, не «на всякий случай».</a:t>
            </a:r>
          </a:p>
        </p:txBody>
      </p:sp>
      <p:sp>
        <p:nvSpPr>
          <p:cNvPr id="4" name="Rounded Rectangle 3"/>
          <p:cNvSpPr/>
          <p:nvPr/>
        </p:nvSpPr>
        <p:spPr>
          <a:xfrm>
            <a:off x="502920" y="1755648"/>
            <a:ext cx="7726679" cy="98755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1956816"/>
            <a:ext cx="566928" cy="56692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ute-white.png"/>
          <p:cNvPicPr>
            <a:picLocks noChangeAspect="1"/>
          </p:cNvPicPr>
          <p:nvPr/>
        </p:nvPicPr>
        <p:blipFill>
          <a:blip r:embed="rId2"/>
          <a:stretch>
            <a:fillRect/>
          </a:stretch>
        </p:blipFill>
        <p:spPr>
          <a:xfrm>
            <a:off x="777240" y="2029967"/>
            <a:ext cx="420624" cy="420624"/>
          </a:xfrm>
          <a:prstGeom prst="rect">
            <a:avLst/>
          </a:prstGeom>
        </p:spPr>
      </p:pic>
      <p:sp>
        <p:nvSpPr>
          <p:cNvPr id="7" name="TextBox 6"/>
          <p:cNvSpPr txBox="1"/>
          <p:nvPr/>
        </p:nvSpPr>
        <p:spPr>
          <a:xfrm>
            <a:off x="1435608" y="1883664"/>
            <a:ext cx="6629399" cy="384048"/>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Предсказуемо → workflow</a:t>
            </a:r>
          </a:p>
        </p:txBody>
      </p:sp>
      <p:sp>
        <p:nvSpPr>
          <p:cNvPr id="8" name="TextBox 7"/>
          <p:cNvSpPr txBox="1"/>
          <p:nvPr/>
        </p:nvSpPr>
        <p:spPr>
          <a:xfrm>
            <a:off x="1435608" y="2267712"/>
            <a:ext cx="6629399" cy="438912"/>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последовательность шагов известна заранее; предопределённые в коде пути</a:t>
            </a:r>
          </a:p>
        </p:txBody>
      </p:sp>
      <p:sp>
        <p:nvSpPr>
          <p:cNvPr id="9" name="Rounded Rectangle 8"/>
          <p:cNvSpPr/>
          <p:nvPr/>
        </p:nvSpPr>
        <p:spPr>
          <a:xfrm>
            <a:off x="502920" y="2798063"/>
            <a:ext cx="7726679" cy="98755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2999232"/>
            <a:ext cx="566928" cy="56692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t-white.png"/>
          <p:cNvPicPr>
            <a:picLocks noChangeAspect="1"/>
          </p:cNvPicPr>
          <p:nvPr/>
        </p:nvPicPr>
        <p:blipFill>
          <a:blip r:embed="rId3"/>
          <a:stretch>
            <a:fillRect/>
          </a:stretch>
        </p:blipFill>
        <p:spPr>
          <a:xfrm>
            <a:off x="777240" y="3072383"/>
            <a:ext cx="420624" cy="420624"/>
          </a:xfrm>
          <a:prstGeom prst="rect">
            <a:avLst/>
          </a:prstGeom>
        </p:spPr>
      </p:pic>
      <p:sp>
        <p:nvSpPr>
          <p:cNvPr id="12" name="TextBox 11"/>
          <p:cNvSpPr txBox="1"/>
          <p:nvPr/>
        </p:nvSpPr>
        <p:spPr>
          <a:xfrm>
            <a:off x="1435608" y="2926079"/>
            <a:ext cx="6629399" cy="384048"/>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Непредсказуемо → агент</a:t>
            </a:r>
          </a:p>
        </p:txBody>
      </p:sp>
      <p:sp>
        <p:nvSpPr>
          <p:cNvPr id="13" name="TextBox 12"/>
          <p:cNvSpPr txBox="1"/>
          <p:nvPr/>
        </p:nvSpPr>
        <p:spPr>
          <a:xfrm>
            <a:off x="1435608" y="3310127"/>
            <a:ext cx="6629399" cy="438912"/>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шаги зависят от промежуточных результатов; цена оправдана ценностью задачи</a:t>
            </a:r>
          </a:p>
        </p:txBody>
      </p:sp>
      <p:sp>
        <p:nvSpPr>
          <p:cNvPr id="14" name="Rounded Rectangle 13"/>
          <p:cNvSpPr/>
          <p:nvPr/>
        </p:nvSpPr>
        <p:spPr>
          <a:xfrm>
            <a:off x="502920" y="3840479"/>
            <a:ext cx="7726679" cy="987551"/>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041647"/>
            <a:ext cx="566928" cy="566928"/>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sers-white.png"/>
          <p:cNvPicPr>
            <a:picLocks noChangeAspect="1"/>
          </p:cNvPicPr>
          <p:nvPr/>
        </p:nvPicPr>
        <p:blipFill>
          <a:blip r:embed="rId4"/>
          <a:stretch>
            <a:fillRect/>
          </a:stretch>
        </p:blipFill>
        <p:spPr>
          <a:xfrm>
            <a:off x="777240" y="4114799"/>
            <a:ext cx="420624" cy="420624"/>
          </a:xfrm>
          <a:prstGeom prst="rect">
            <a:avLst/>
          </a:prstGeom>
        </p:spPr>
      </p:pic>
      <p:sp>
        <p:nvSpPr>
          <p:cNvPr id="17" name="TextBox 16"/>
          <p:cNvSpPr txBox="1"/>
          <p:nvPr/>
        </p:nvSpPr>
        <p:spPr>
          <a:xfrm>
            <a:off x="1435608" y="3968495"/>
            <a:ext cx="6629399" cy="384048"/>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 → только под триггер</a:t>
            </a:r>
          </a:p>
        </p:txBody>
      </p:sp>
      <p:sp>
        <p:nvSpPr>
          <p:cNvPr id="18" name="TextBox 17"/>
          <p:cNvSpPr txBox="1"/>
          <p:nvPr/>
        </p:nvSpPr>
        <p:spPr>
          <a:xfrm>
            <a:off x="1435608" y="4352544"/>
            <a:ext cx="6629399" cy="438912"/>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широко параллельные независимые подзадачи высокой ценности; иначе +15× токенов зря</a:t>
            </a:r>
          </a:p>
        </p:txBody>
      </p:sp>
      <p:sp>
        <p:nvSpPr>
          <p:cNvPr id="19" name="Rounded Rectangle 18"/>
          <p:cNvSpPr/>
          <p:nvPr/>
        </p:nvSpPr>
        <p:spPr>
          <a:xfrm>
            <a:off x="502920" y="4901183"/>
            <a:ext cx="7726679" cy="78638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974335"/>
            <a:ext cx="7287767" cy="658368"/>
          </a:xfrm>
          <a:prstGeom prst="rect">
            <a:avLst/>
          </a:prstGeom>
          <a:noFill/>
        </p:spPr>
        <p:txBody>
          <a:bodyPr wrap="square" lIns="0" rIns="0" tIns="0" bIns="0" anchor="t">
            <a:spAutoFit/>
          </a:bodyPr>
          <a:lstStyle/>
          <a:p>
            <a:pPr algn="l">
              <a:lnSpc>
                <a:spcPct val="116000"/>
              </a:lnSpc>
            </a:pPr>
            <a:r>
              <a:rPr sz="1250" b="1" i="0">
                <a:solidFill>
                  <a:srgbClr val="028090"/>
                </a:solidFill>
                <a:latin typeface="Arial"/>
              </a:rPr>
              <a:t>Надёжность = pⁿ: </a:t>
            </a:r>
            <a:r>
              <a:rPr sz="1250" b="0" i="0">
                <a:solidFill>
                  <a:srgbClr val="21295C"/>
                </a:solidFill>
                <a:latin typeface="Arial"/>
              </a:rPr>
              <a:t>0,95¹⁰ ≈ 60%, 0,95²⁰ ≈ 36%. </a:t>
            </a:r>
            <a:r>
              <a:rPr sz="1250" b="1" i="0">
                <a:solidFill>
                  <a:srgbClr val="028090"/>
                </a:solidFill>
                <a:latin typeface="Arial"/>
              </a:rPr>
              <a:t>Замер τ-bench: </a:t>
            </a:r>
            <a:r>
              <a:rPr sz="1250" b="0" i="0">
                <a:solidFill>
                  <a:srgbClr val="21295C"/>
                </a:solidFill>
                <a:latin typeface="Arial"/>
              </a:rPr>
              <a:t>GPT-4o 61% pass@1 → 25% pass@8</a:t>
            </a:r>
            <a:r>
              <a:rPr sz="650" baseline="30000" b="0" i="1">
                <a:latin typeface="Arial"/>
                <a:cs typeface="Arial"/>
                <a:ea typeface="Arial"/>
                <a:solidFill>
                  <a:srgbClr val="1C7293"/>
                </a:solidFill>
              </a:rPr>
              <a:t>[1]</a:t>
            </a:r>
            <a:r>
              <a:rPr sz="1250" b="0" i="0">
                <a:latin typeface="Arial"/>
                <a:cs typeface="Arial"/>
                <a:ea typeface="Arial"/>
                <a:solidFill>
                  <a:srgbClr val="21295C"/>
                </a:solidFill>
              </a:rPr>
              <a:t> — стабильно на всех восьми лишь в четверти случаев.</a:t>
            </a:r>
          </a:p>
        </p:txBody>
      </p:sp>
      <p:sp>
        <p:nvSpPr>
          <p:cNvPr id="21" name="Rounded Rectangle 20"/>
          <p:cNvSpPr/>
          <p:nvPr/>
        </p:nvSpPr>
        <p:spPr>
          <a:xfrm>
            <a:off x="8412480" y="1755648"/>
            <a:ext cx="3291840" cy="3520805"/>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agent-when-clown-ru.png"/>
          <p:cNvPicPr>
            <a:picLocks noChangeAspect="1"/>
          </p:cNvPicPr>
          <p:nvPr/>
        </p:nvPicPr>
        <p:blipFill>
          <a:blip r:embed="rId5"/>
          <a:stretch>
            <a:fillRect/>
          </a:stretch>
        </p:blipFill>
        <p:spPr>
          <a:xfrm>
            <a:off x="8503919" y="1862084"/>
            <a:ext cx="3108960" cy="3307933"/>
          </a:xfrm>
          <a:prstGeom prst="rect">
            <a:avLst/>
          </a:prstGeom>
        </p:spPr>
      </p:pic>
      <p:sp>
        <p:nvSpPr>
          <p:cNvPr id="23" name="Rounded Rectangle 22"/>
          <p:cNvSpPr/>
          <p:nvPr/>
        </p:nvSpPr>
        <p:spPr>
          <a:xfrm>
            <a:off x="502920" y="554126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5596127"/>
            <a:ext cx="10799064" cy="658368"/>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Начинай с одного сильного агента. Мульти-агент покупает качество, сжигая токены (4× одиночный, 15× мульти относительно чата</a:t>
            </a:r>
            <a:r>
              <a:rPr sz="624" baseline="30000" b="0" i="1">
                <a:latin typeface="Arial"/>
                <a:cs typeface="Arial"/>
                <a:ea typeface="Arial"/>
                <a:solidFill>
                  <a:srgbClr val="1C7293"/>
                </a:solidFill>
              </a:rPr>
              <a:t>[2]</a:t>
            </a:r>
            <a:r>
              <a:rPr sz="1200" b="1" i="0">
                <a:latin typeface="Arial"/>
                <a:cs typeface="Arial"/>
                <a:ea typeface="Arial"/>
                <a:solidFill>
                  <a:srgbClr val="21295C"/>
                </a:solidFill>
              </a:rPr>
              <a:t>), а не «магией координации» — если задача не embarrassingly-parallel и не quality-over-cost, это неверный инструмент.</a:t>
            </a:r>
          </a:p>
        </p:txBody>
      </p:sp>
      <p:sp>
        <p:nvSpPr>
          <p:cNvPr id="25" name="TextBox 2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Sierra — τ-bench (pass^k: 61% pass@1 → 25% pass@8)</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Anthropic — Multi-Agent Research System («spend enough tokens»)</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выигрыш,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Топология решает: координатор &gt; рой</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«Рой» равноправных агентов амплифицирует ошибки </a:t>
            </a:r>
            <a:r>
              <a:rPr sz="1600" b="1" i="0">
                <a:solidFill>
                  <a:srgbClr val="028090"/>
                </a:solidFill>
                <a:latin typeface="Arial"/>
              </a:rPr>
              <a:t>17,2×</a:t>
            </a:r>
            <a:r>
              <a:rPr sz="1200" b="0" i="0">
                <a:solidFill>
                  <a:srgbClr val="21295C"/>
                </a:solidFill>
                <a:latin typeface="Arial"/>
              </a:rPr>
              <a:t>;  один координатор — только </a:t>
            </a:r>
            <a:r>
              <a:rPr sz="1600" b="1" i="0">
                <a:solidFill>
                  <a:srgbClr val="065A82"/>
                </a:solidFill>
                <a:latin typeface="Arial"/>
              </a:rPr>
              <a:t>4,4×</a:t>
            </a:r>
            <a:r>
              <a:rPr sz="1200" b="0" i="0">
                <a:solidFill>
                  <a:srgbClr val="21295C"/>
                </a:solidFill>
                <a:latin typeface="Arial"/>
              </a:rPr>
              <a:t> (Zartis/Redis).</a:t>
            </a:r>
          </a:p>
        </p:txBody>
      </p:sp>
      <p:sp>
        <p:nvSpPr>
          <p:cNvPr id="19" name="Rounded Rectangle 18"/>
          <p:cNvSpPr/>
          <p:nvPr/>
        </p:nvSpPr>
        <p:spPr>
          <a:xfrm>
            <a:off x="6172200" y="3017520"/>
            <a:ext cx="5532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ssage-circle-mid.png"/>
          <p:cNvPicPr>
            <a:picLocks noChangeAspect="1"/>
          </p:cNvPicPr>
          <p:nvPr/>
        </p:nvPicPr>
        <p:blipFill>
          <a:blip r:embed="rId2"/>
          <a:stretch>
            <a:fillRect/>
          </a:stretch>
        </p:blipFill>
        <p:spPr>
          <a:xfrm>
            <a:off x="6391656" y="3182112"/>
            <a:ext cx="384048" cy="384048"/>
          </a:xfrm>
          <a:prstGeom prst="rect">
            <a:avLst/>
          </a:prstGeom>
        </p:spPr>
      </p:pic>
      <p:sp>
        <p:nvSpPr>
          <p:cNvPr id="21" name="TextBox 20"/>
          <p:cNvSpPr txBox="1"/>
          <p:nvPr/>
        </p:nvSpPr>
        <p:spPr>
          <a:xfrm>
            <a:off x="6391656" y="3621024"/>
            <a:ext cx="5093208" cy="859536"/>
          </a:xfrm>
          <a:prstGeom prst="rect">
            <a:avLst/>
          </a:prstGeom>
          <a:noFill/>
        </p:spPr>
        <p:txBody>
          <a:bodyPr wrap="square" lIns="0" rIns="0" tIns="0" bIns="0" anchor="t">
            <a:spAutoFit/>
          </a:bodyPr>
          <a:lstStyle/>
          <a:p>
            <a:pPr algn="l">
              <a:lnSpc>
                <a:spcPct val="116000"/>
              </a:lnSpc>
            </a:pPr>
            <a:r>
              <a:rPr sz="1200" b="0" i="1">
                <a:solidFill>
                  <a:srgbClr val="21295C"/>
                </a:solidFill>
                <a:latin typeface="Arial"/>
              </a:rPr>
              <a:t>Anthropic дословно: «multi-agent works mainly because it helps spend enough tokens to solve the problem» — выигрыш от объёма токенов, не от «магии координации».</a:t>
            </a:r>
          </a:p>
        </p:txBody>
      </p:sp>
      <p:sp>
        <p:nvSpPr>
          <p:cNvPr id="22" name="Rounded Rectangle 21"/>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начинай с одного сильного агента.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выигрыш.</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во благо.</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выигрышем. Независимая проверка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67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основной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67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8275320" cy="14813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7872984" cy="13716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Rounded Rectangle 26"/>
          <p:cNvSpPr/>
          <p:nvPr/>
        </p:nvSpPr>
        <p:spPr>
          <a:xfrm>
            <a:off x="8915400" y="4581144"/>
            <a:ext cx="2834640" cy="16367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24-alwayshasbeen-ru.png"/>
          <p:cNvPicPr>
            <a:picLocks noChangeAspect="1"/>
          </p:cNvPicPr>
          <p:nvPr/>
        </p:nvPicPr>
        <p:blipFill>
          <a:blip r:embed="rId4"/>
          <a:stretch>
            <a:fillRect/>
          </a:stretch>
        </p:blipFill>
        <p:spPr>
          <a:xfrm>
            <a:off x="8961120" y="4628006"/>
            <a:ext cx="2743200" cy="1543050"/>
          </a:xfrm>
          <a:prstGeom prst="rect">
            <a:avLst/>
          </a:prstGeom>
        </p:spPr>
      </p:pic>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максимально 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Провалы агентов.</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Каждый провал — режим отказа цикла агента в датированном кейсе: урок + альтернатива.</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Петля без лимитов</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Агент на «синхронизируй заказы» получил HTTP 429 → план→вызов→429→…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$4 200 за 63 часа</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База сравнения: скрипт повторов с задержкой решил бы ту же задачу за секунды-минуты, практически бесплатно</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$4 200 — цена не автоматизации, а неправильного выбора архитектуры под предсказуемую задачу</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Более подходящая архитектура: скрипт повторов с задержкой, не агент; лимиты бюджета и итераций ВНЕ агента</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Накопление ошибок (compounding)</a:t>
            </a:r>
          </a:p>
        </p:txBody>
      </p:sp>
      <p:pic>
        <p:nvPicPr>
          <p:cNvPr id="15" name="Picture 14" descr="c23-compounding.png"/>
          <p:cNvPicPr>
            <a:picLocks noChangeAspect="1"/>
          </p:cNvPicPr>
          <p:nvPr/>
        </p:nvPicPr>
        <p:blipFill>
          <a:blip r:embed="rId3"/>
          <a:stretch>
            <a:fillRect/>
          </a:stretch>
        </p:blipFill>
        <p:spPr>
          <a:xfrm>
            <a:off x="4535424" y="2218502"/>
            <a:ext cx="3410712" cy="2064378"/>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Вывод: «докрутить один шаг» — слабый рычаг; «меньше переходов + проверка между шагами» — сильный</a:t>
            </a:r>
            <a:r>
              <a:rPr sz="624" baseline="30000" b="0" i="1">
                <a:latin typeface="Arial"/>
                <a:cs typeface="Arial"/>
                <a:ea typeface="Arial"/>
                <a:solidFill>
                  <a:srgbClr val="1C7293"/>
                </a:solidFill>
              </a:rPr>
              <a:t>[2]</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Мульти-агентная хрупкость</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зависимые подзадачи → параллельные субагенты принимают конфликтующие</a:t>
            </a:r>
            <a:r>
              <a:rPr sz="650" baseline="30000" b="0" i="1">
                <a:latin typeface="Arial"/>
                <a:cs typeface="Arial"/>
                <a:ea typeface="Arial"/>
                <a:solidFill>
                  <a:srgbClr val="1C7293"/>
                </a:solidFill>
              </a:rPr>
              <a:t>[3]</a:t>
            </a:r>
            <a:r>
              <a:rPr sz="1250" b="0" i="0">
                <a:latin typeface="Arial"/>
                <a:cs typeface="Arial"/>
                <a:ea typeface="Arial"/>
                <a:solidFill>
                  <a:srgbClr val="21295C"/>
                </a:solidFill>
              </a:rPr>
              <a:t> неявные решения</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Более подходящая: однопоточный линейный агент; мульти-агент — только широко-параллельное независимое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(хрупкость)</a:t>
            </a:r>
            <a:r>
              <a:rPr sz="850" i="1">
                <a:solidFill>
                  <a:srgbClr val="5B6678"/>
                </a:solidFill>
                <a:latin typeface="Arial"/>
              </a:rPr>
              <a:t>   ·   Атаки через инструменты (инъекция в промпт, утечка через GitHub MCP) — 4-й класс провалов, разобран на слайде безопасности. Петля на $4 200 — постмортем одного автора 2026-04 (иллюстративно); накопление ошибок — MindStudio 2025–2026.</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56 /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«докрутить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57 / 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58 / 67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8" name="Rounded Rectangle 7"/>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59 / 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дисциплина выбора: KISS, YAGNI, наименьшая мощность.</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Дисциплина выбора — это отбор технологии от требования, а не от инструмента: KISS, YAGNI и принцип наименьшей мощности. На них стоят лестница и чек-лист раздела.</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Выбирай простейшее решение, закрывающее требование; не закладывай мощность «на будущее», пока конкретное требование её не потребует.</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самой нижней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чистый выигрыш.</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План решения: маршрут вопросов, а не сумма баллов.</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08000"/>
              </a:lnSpc>
            </a:pPr>
            <a:r>
              <a:rPr sz="1200" b="0" i="1">
                <a:solidFill>
                  <a:srgbClr val="065A82"/>
                </a:solidFill>
                <a:latin typeface="Arial"/>
              </a:rPr>
              <a:t>Пройдите задачу сверху вниз; останавливайтесь на первом сработавшем вопросе</a:t>
            </a:r>
            <a:r>
              <a:rPr sz="624" baseline="30000" b="0" i="1">
                <a:latin typeface="Arial"/>
                <a:cs typeface="Arial"/>
                <a:ea typeface="Arial"/>
                <a:solidFill>
                  <a:srgbClr val="1C7293"/>
                </a:solidFill>
              </a:rPr>
              <a:t>[1]</a:t>
            </a:r>
            <a:r>
              <a:rPr sz="1200" b="0" i="1">
                <a:latin typeface="Arial"/>
                <a:cs typeface="Arial"/>
                <a:ea typeface="Arial"/>
                <a:solidFill>
                  <a:srgbClr val="065A82"/>
                </a:solidFill>
              </a:rPr>
              <a:t>. «Да» → результат справа; «нет» → следующий вопрос ниже.</a:t>
            </a:r>
          </a:p>
        </p:txBody>
      </p:sp>
      <p:sp>
        <p:nvSpPr>
          <p:cNvPr id="4" name="Rounded Rectangle 3"/>
          <p:cNvSpPr/>
          <p:nvPr/>
        </p:nvSpPr>
        <p:spPr>
          <a:xfrm>
            <a:off x="502920" y="1298448"/>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8074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80744"/>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984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Детерминированная и верифицируемая?</a:t>
            </a:r>
          </a:p>
        </p:txBody>
      </p:sp>
      <p:sp>
        <p:nvSpPr>
          <p:cNvPr id="8" name="Rounded Rectangle 7"/>
          <p:cNvSpPr/>
          <p:nvPr/>
        </p:nvSpPr>
        <p:spPr>
          <a:xfrm>
            <a:off x="5504688" y="1344168"/>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441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обычный код · СТОП</a:t>
            </a:r>
          </a:p>
        </p:txBody>
      </p:sp>
      <p:sp>
        <p:nvSpPr>
          <p:cNvPr id="10" name="Right Arrow 9"/>
          <p:cNvSpPr/>
          <p:nvPr/>
        </p:nvSpPr>
        <p:spPr>
          <a:xfrm>
            <a:off x="5399531" y="1444751"/>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58952" y="17556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8470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92938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92938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470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Закрывает один вызов (+CoT)?</a:t>
            </a:r>
          </a:p>
        </p:txBody>
      </p:sp>
      <p:sp>
        <p:nvSpPr>
          <p:cNvPr id="16" name="Rounded Rectangle 15"/>
          <p:cNvSpPr/>
          <p:nvPr/>
        </p:nvSpPr>
        <p:spPr>
          <a:xfrm>
            <a:off x="5504688" y="18928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928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промпт · СТОП</a:t>
            </a:r>
          </a:p>
        </p:txBody>
      </p:sp>
      <p:sp>
        <p:nvSpPr>
          <p:cNvPr id="18" name="Right Arrow 17"/>
          <p:cNvSpPr/>
          <p:nvPr/>
        </p:nvSpPr>
        <p:spPr>
          <a:xfrm>
            <a:off x="5399531" y="19933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758952" y="230428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2920" y="239572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7802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780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9572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Нужен провенанс по источнику?</a:t>
            </a:r>
          </a:p>
        </p:txBody>
      </p:sp>
      <p:sp>
        <p:nvSpPr>
          <p:cNvPr id="24" name="Rounded Rectangle 23"/>
          <p:cNvSpPr/>
          <p:nvPr/>
        </p:nvSpPr>
        <p:spPr>
          <a:xfrm>
            <a:off x="5504688" y="244144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44144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с опорой на источник / код</a:t>
            </a:r>
          </a:p>
        </p:txBody>
      </p:sp>
      <p:sp>
        <p:nvSpPr>
          <p:cNvPr id="26" name="Right Arrow 25"/>
          <p:cNvSpPr/>
          <p:nvPr/>
        </p:nvSpPr>
        <p:spPr>
          <a:xfrm>
            <a:off x="5399531" y="254203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758952" y="285292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 y="294436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302666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302666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94436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Знание меняется / провенанс?</a:t>
            </a:r>
          </a:p>
        </p:txBody>
      </p:sp>
      <p:sp>
        <p:nvSpPr>
          <p:cNvPr id="32" name="Rounded Rectangle 31"/>
          <p:cNvSpPr/>
          <p:nvPr/>
        </p:nvSpPr>
        <p:spPr>
          <a:xfrm>
            <a:off x="5504688" y="299008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9008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(не FT)</a:t>
            </a:r>
          </a:p>
        </p:txBody>
      </p:sp>
      <p:sp>
        <p:nvSpPr>
          <p:cNvPr id="34" name="Right Arrow 33"/>
          <p:cNvSpPr/>
          <p:nvPr/>
        </p:nvSpPr>
        <p:spPr>
          <a:xfrm>
            <a:off x="5399531" y="309067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58952" y="340156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02920" y="3493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7530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7530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93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Нужно поведение / тон / формат?</a:t>
            </a:r>
          </a:p>
        </p:txBody>
      </p:sp>
      <p:sp>
        <p:nvSpPr>
          <p:cNvPr id="40" name="Rounded Rectangle 39"/>
          <p:cNvSpPr/>
          <p:nvPr/>
        </p:nvSpPr>
        <p:spPr>
          <a:xfrm>
            <a:off x="5504688" y="353872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53872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дообучение (PEFT)</a:t>
            </a:r>
          </a:p>
        </p:txBody>
      </p:sp>
      <p:sp>
        <p:nvSpPr>
          <p:cNvPr id="42" name="Right Arrow 41"/>
          <p:cNvSpPr/>
          <p:nvPr/>
        </p:nvSpPr>
        <p:spPr>
          <a:xfrm>
            <a:off x="5399531" y="3639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758952" y="395020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02920" y="404164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12394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12394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40416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Многошагово, порядок известен?</a:t>
            </a:r>
          </a:p>
        </p:txBody>
      </p:sp>
      <p:sp>
        <p:nvSpPr>
          <p:cNvPr id="48" name="Rounded Rectangle 47"/>
          <p:cNvSpPr/>
          <p:nvPr/>
        </p:nvSpPr>
        <p:spPr>
          <a:xfrm>
            <a:off x="5504688" y="408736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873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сценарий · нет → агент+лимиты</a:t>
            </a:r>
          </a:p>
        </p:txBody>
      </p:sp>
      <p:sp>
        <p:nvSpPr>
          <p:cNvPr id="50" name="Right Arrow 49"/>
          <p:cNvSpPr/>
          <p:nvPr/>
        </p:nvSpPr>
        <p:spPr>
          <a:xfrm>
            <a:off x="5399531" y="418795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758952" y="44988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02920" y="45902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67258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67258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5902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Подзадачи параллельны+независимы?</a:t>
            </a:r>
          </a:p>
        </p:txBody>
      </p:sp>
      <p:sp>
        <p:nvSpPr>
          <p:cNvPr id="56" name="Rounded Rectangle 55"/>
          <p:cNvSpPr/>
          <p:nvPr/>
        </p:nvSpPr>
        <p:spPr>
          <a:xfrm>
            <a:off x="5504688" y="46360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6360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мульти-агент · нет → линейный</a:t>
            </a:r>
          </a:p>
        </p:txBody>
      </p:sp>
      <p:sp>
        <p:nvSpPr>
          <p:cNvPr id="58" name="Right Arrow 57"/>
          <p:cNvSpPr/>
          <p:nvPr/>
        </p:nvSpPr>
        <p:spPr>
          <a:xfrm>
            <a:off x="5399531" y="47365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138927"/>
            <a:ext cx="7790688" cy="45720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12648" y="5221223"/>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2648" y="5221223"/>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8</a:t>
            </a:r>
          </a:p>
        </p:txBody>
      </p:sp>
      <p:sp>
        <p:nvSpPr>
          <p:cNvPr id="62" name="TextBox 61"/>
          <p:cNvSpPr txBox="1"/>
          <p:nvPr/>
        </p:nvSpPr>
        <p:spPr>
          <a:xfrm>
            <a:off x="996696" y="5138927"/>
            <a:ext cx="7168896" cy="45720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Данные чувствительны? → на КАЖДОМ шаге: карта данных + наименьшие привилегии + ZDR/BAA</a:t>
            </a:r>
          </a:p>
        </p:txBody>
      </p:sp>
      <p:sp>
        <p:nvSpPr>
          <p:cNvPr id="63" name="Rounded Rectangle 62"/>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Пример (задача A)</a:t>
            </a:r>
          </a:p>
        </p:txBody>
      </p:sp>
      <p:sp>
        <p:nvSpPr>
          <p:cNvPr id="65" name="TextBox 64"/>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регламентов, меняются еженедельно, ответ со ссылкой на пункт» → вопрос 4 (меняется+провенанс) решающий → RAG со строгой опорой на источник. Не дообучение (устареет), не код (нужен NL).</a:t>
            </a:r>
          </a:p>
        </p:txBody>
      </p:sp>
      <p:sp>
        <p:nvSpPr>
          <p:cNvPr id="66" name="Rounded Rectangle 65"/>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Разминка (задача B)</a:t>
            </a:r>
          </a:p>
        </p:txBody>
      </p:sp>
      <p:sp>
        <p:nvSpPr>
          <p:cNvPr id="68" name="TextBox 67"/>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«бот на ~150 FAQ, меняются раз в квартал» — пройдите маршрут сами; разбор на семинаре.</a:t>
            </a:r>
          </a:p>
        </p:txBody>
      </p:sp>
      <p:sp>
        <p:nvSpPr>
          <p:cNvPr id="69" name="Rounded Rectangle 68"/>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Приоритет маршрута: если задача детерминированная и верифицируемая — обычный код, СТОП здесь</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ИИ добавил бы лишь недетерминизм, стоимость, задержку и поверхность для инъекции в промпт (prompt injection).</a:t>
            </a:r>
          </a:p>
        </p:txBody>
      </p:sp>
      <p:sp>
        <p:nvSpPr>
          <p:cNvPr id="71" name="TextBox 7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(маршрут выбора)</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(нижняя строка матрицы)</a:t>
            </a:r>
          </a:p>
        </p:txBody>
      </p:sp>
      <p:sp>
        <p:nvSpPr>
          <p:cNvPr id="72" name="TextBox 7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62 / 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68833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33472"/>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12724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072384"/>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56616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511296"/>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00507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3950208"/>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443983"/>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389120"/>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837176"/>
            <a:ext cx="3557016" cy="512064"/>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47488" y="1883664"/>
            <a:ext cx="384048" cy="384048"/>
          </a:xfrm>
          <a:prstGeom prst="rect">
            <a:avLst/>
          </a:prstGeom>
        </p:spPr>
      </p:pic>
      <p:sp>
        <p:nvSpPr>
          <p:cNvPr id="20" name="TextBox 19"/>
          <p:cNvSpPr txBox="1"/>
          <p:nvPr/>
        </p:nvSpPr>
        <p:spPr>
          <a:xfrm>
            <a:off x="5541264" y="184708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Память-бэкенд — когда:</a:t>
            </a:r>
          </a:p>
        </p:txBody>
      </p:sp>
      <p:sp>
        <p:nvSpPr>
          <p:cNvPr id="21" name="TextBox 20"/>
          <p:cNvSpPr txBox="1"/>
          <p:nvPr/>
        </p:nvSpPr>
        <p:spPr>
          <a:xfrm>
            <a:off x="5541264" y="215798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история переросла контекст ИЛИ нужен поиск по фактам. Тот же критерий, что промпт→RAG.</a:t>
            </a:r>
          </a:p>
        </p:txBody>
      </p:sp>
      <p:sp>
        <p:nvSpPr>
          <p:cNvPr id="22" name="Rounded Rectangle 21"/>
          <p:cNvSpPr/>
          <p:nvPr/>
        </p:nvSpPr>
        <p:spPr>
          <a:xfrm>
            <a:off x="4846320" y="298094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47488" y="3163824"/>
            <a:ext cx="384048" cy="384048"/>
          </a:xfrm>
          <a:prstGeom prst="rect">
            <a:avLst/>
          </a:prstGeom>
        </p:spPr>
      </p:pic>
      <p:sp>
        <p:nvSpPr>
          <p:cNvPr id="24" name="TextBox 23"/>
          <p:cNvSpPr txBox="1"/>
          <p:nvPr/>
        </p:nvSpPr>
        <p:spPr>
          <a:xfrm>
            <a:off x="5541264" y="312724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Субагенты — когда:</a:t>
            </a:r>
          </a:p>
        </p:txBody>
      </p:sp>
      <p:sp>
        <p:nvSpPr>
          <p:cNvPr id="25" name="TextBox 24"/>
          <p:cNvSpPr txBox="1"/>
          <p:nvPr/>
        </p:nvSpPr>
        <p:spPr>
          <a:xfrm>
            <a:off x="5541264" y="343814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подзадача требует отдельного окна ИЛИ изоляции недоверенной работы (наименьшие привилегии).</a:t>
            </a:r>
          </a:p>
        </p:txBody>
      </p:sp>
      <p:sp>
        <p:nvSpPr>
          <p:cNvPr id="26" name="Rounded Rectangle 25"/>
          <p:cNvSpPr/>
          <p:nvPr/>
        </p:nvSpPr>
        <p:spPr>
          <a:xfrm>
            <a:off x="4846320" y="426110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47488" y="4443984"/>
            <a:ext cx="384048" cy="384048"/>
          </a:xfrm>
          <a:prstGeom prst="rect">
            <a:avLst/>
          </a:prstGeom>
        </p:spPr>
      </p:pic>
      <p:sp>
        <p:nvSpPr>
          <p:cNvPr id="28" name="TextBox 27"/>
          <p:cNvSpPr txBox="1"/>
          <p:nvPr/>
        </p:nvSpPr>
        <p:spPr>
          <a:xfrm>
            <a:off x="5541264" y="440740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Больше MCP-доступа — когда:</a:t>
            </a:r>
          </a:p>
        </p:txBody>
      </p:sp>
      <p:sp>
        <p:nvSpPr>
          <p:cNvPr id="29" name="TextBox 28"/>
          <p:cNvSpPr txBox="1"/>
          <p:nvPr/>
        </p:nvSpPr>
        <p:spPr>
          <a:xfrm>
            <a:off x="5541264" y="471830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конкретная задача требует конкретного инструмента — не «на всякий случай». Каждое подключение — граница доверия.</a:t>
            </a:r>
          </a:p>
        </p:txBody>
      </p:sp>
      <p:sp>
        <p:nvSpPr>
          <p:cNvPr id="30" name="Rounded Rectangle 29"/>
          <p:cNvSpPr/>
          <p:nvPr/>
        </p:nvSpPr>
        <p:spPr>
          <a:xfrm>
            <a:off x="8915400" y="2148840"/>
            <a:ext cx="2788920" cy="283464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27b-bus-ru.png"/>
          <p:cNvPicPr>
            <a:picLocks noChangeAspect="1"/>
          </p:cNvPicPr>
          <p:nvPr/>
        </p:nvPicPr>
        <p:blipFill>
          <a:blip r:embed="rId6"/>
          <a:stretch>
            <a:fillRect/>
          </a:stretch>
        </p:blipFill>
        <p:spPr>
          <a:xfrm>
            <a:off x="9025128" y="2428110"/>
            <a:ext cx="2569463" cy="2276099"/>
          </a:xfrm>
          <a:prstGeom prst="rect">
            <a:avLst/>
          </a:prstGeom>
        </p:spPr>
      </p:pic>
      <p:sp>
        <p:nvSpPr>
          <p:cNvPr id="32" name="Rounded Rectangle 31"/>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63 / 67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Итог: механизм → его граница → что делать.</a:t>
            </a:r>
          </a:p>
        </p:txBody>
      </p:sp>
      <p:sp>
        <p:nvSpPr>
          <p:cNvPr id="3" name="Rounded Rectangle 2"/>
          <p:cNvSpPr/>
          <p:nvPr/>
        </p:nvSpPr>
        <p:spPr>
          <a:xfrm>
            <a:off x="365760" y="1024128"/>
            <a:ext cx="11475720" cy="4718304"/>
          </a:xfrm>
          <a:prstGeom prst="roundRect">
            <a:avLst>
              <a:gd name="adj" fmla="val 64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097280"/>
            <a:ext cx="27889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097280"/>
            <a:ext cx="2569463" cy="365760"/>
          </a:xfrm>
          <a:prstGeom prst="rect">
            <a:avLst/>
          </a:prstGeom>
          <a:noFill/>
        </p:spPr>
        <p:txBody>
          <a:bodyPr wrap="square" lIns="0" rIns="0" tIns="0" bIns="0" anchor="ctr">
            <a:spAutoFit/>
          </a:bodyPr>
          <a:lstStyle/>
          <a:p>
            <a:pPr algn="l">
              <a:lnSpc>
                <a:spcPct val="115000"/>
              </a:lnSpc>
            </a:pPr>
            <a:r>
              <a:rPr sz="1150" b="1" i="0">
                <a:solidFill>
                  <a:srgbClr val="FFFFFF"/>
                </a:solidFill>
                <a:latin typeface="Arial"/>
              </a:rPr>
              <a:t>Механизм</a:t>
            </a:r>
          </a:p>
        </p:txBody>
      </p:sp>
      <p:sp>
        <p:nvSpPr>
          <p:cNvPr id="6" name="Rectangle 5"/>
          <p:cNvSpPr/>
          <p:nvPr/>
        </p:nvSpPr>
        <p:spPr>
          <a:xfrm>
            <a:off x="3264408" y="1097280"/>
            <a:ext cx="4160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4136" y="1097280"/>
            <a:ext cx="3941063" cy="365760"/>
          </a:xfrm>
          <a:prstGeom prst="rect">
            <a:avLst/>
          </a:prstGeom>
          <a:noFill/>
        </p:spPr>
        <p:txBody>
          <a:bodyPr wrap="square" lIns="0" rIns="0" tIns="0" bIns="0" anchor="ctr">
            <a:spAutoFit/>
          </a:bodyPr>
          <a:lstStyle/>
          <a:p>
            <a:pPr algn="l">
              <a:lnSpc>
                <a:spcPct val="115000"/>
              </a:lnSpc>
            </a:pPr>
            <a:r>
              <a:rPr sz="1150" b="1" i="0">
                <a:solidFill>
                  <a:srgbClr val="FFFFFF"/>
                </a:solidFill>
                <a:latin typeface="Arial"/>
              </a:rPr>
              <a:t>Где ломается (граница)</a:t>
            </a:r>
          </a:p>
        </p:txBody>
      </p:sp>
      <p:sp>
        <p:nvSpPr>
          <p:cNvPr id="8" name="Rectangle 7"/>
          <p:cNvSpPr/>
          <p:nvPr/>
        </p:nvSpPr>
        <p:spPr>
          <a:xfrm>
            <a:off x="7424927" y="1097280"/>
            <a:ext cx="429768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34655" y="1097280"/>
            <a:ext cx="4078224" cy="365760"/>
          </a:xfrm>
          <a:prstGeom prst="rect">
            <a:avLst/>
          </a:prstGeom>
          <a:noFill/>
        </p:spPr>
        <p:txBody>
          <a:bodyPr wrap="square" lIns="0" rIns="0" tIns="0" bIns="0" anchor="ctr">
            <a:spAutoFit/>
          </a:bodyPr>
          <a:lstStyle/>
          <a:p>
            <a:pPr algn="l">
              <a:lnSpc>
                <a:spcPct val="115000"/>
              </a:lnSpc>
            </a:pPr>
            <a:r>
              <a:rPr sz="1150" b="1" i="0">
                <a:solidFill>
                  <a:srgbClr val="FFFFFF"/>
                </a:solidFill>
                <a:latin typeface="Arial"/>
              </a:rPr>
              <a:t>Что делать</a:t>
            </a:r>
          </a:p>
        </p:txBody>
      </p:sp>
      <p:sp>
        <p:nvSpPr>
          <p:cNvPr id="10" name="Rectangle 9"/>
          <p:cNvSpPr/>
          <p:nvPr/>
        </p:nvSpPr>
        <p:spPr>
          <a:xfrm>
            <a:off x="475488" y="1463040"/>
            <a:ext cx="27889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 y="1463040"/>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Промпт / роль</a:t>
            </a:r>
          </a:p>
        </p:txBody>
      </p:sp>
      <p:sp>
        <p:nvSpPr>
          <p:cNvPr id="12" name="Rectangle 11"/>
          <p:cNvSpPr/>
          <p:nvPr/>
        </p:nvSpPr>
        <p:spPr>
          <a:xfrm>
            <a:off x="3264408" y="1463040"/>
            <a:ext cx="41605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463040"/>
            <a:ext cx="3941063"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роль-персона меняет тон, не точность</a:t>
            </a:r>
          </a:p>
        </p:txBody>
      </p:sp>
      <p:sp>
        <p:nvSpPr>
          <p:cNvPr id="14" name="Rectangle 13"/>
          <p:cNvSpPr/>
          <p:nvPr/>
        </p:nvSpPr>
        <p:spPr>
          <a:xfrm>
            <a:off x="7424927" y="1463040"/>
            <a:ext cx="429768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34655" y="1463040"/>
            <a:ext cx="4078224"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точность — через контекст и RAG, не «ты — эксперт»</a:t>
            </a:r>
          </a:p>
        </p:txBody>
      </p:sp>
      <p:sp>
        <p:nvSpPr>
          <p:cNvPr id="16" name="Rectangle 15"/>
          <p:cNvSpPr/>
          <p:nvPr/>
        </p:nvSpPr>
        <p:spPr>
          <a:xfrm>
            <a:off x="475488" y="1813560"/>
            <a:ext cx="278892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1813560"/>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Chain-of-thought</a:t>
            </a:r>
          </a:p>
        </p:txBody>
      </p:sp>
      <p:sp>
        <p:nvSpPr>
          <p:cNvPr id="18" name="Rectangle 17"/>
          <p:cNvSpPr/>
          <p:nvPr/>
        </p:nvSpPr>
        <p:spPr>
          <a:xfrm>
            <a:off x="3264408" y="1813560"/>
            <a:ext cx="416052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74136" y="1813560"/>
            <a:ext cx="3941063"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faithfulness низкая (~25–39%)</a:t>
            </a:r>
          </a:p>
        </p:txBody>
      </p:sp>
      <p:sp>
        <p:nvSpPr>
          <p:cNvPr id="20" name="Rectangle 19"/>
          <p:cNvSpPr/>
          <p:nvPr/>
        </p:nvSpPr>
        <p:spPr>
          <a:xfrm>
            <a:off x="7424927" y="1813560"/>
            <a:ext cx="429768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34655" y="1813560"/>
            <a:ext cx="4078224"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проверяй результат, не самообъяснение</a:t>
            </a:r>
          </a:p>
        </p:txBody>
      </p:sp>
      <p:sp>
        <p:nvSpPr>
          <p:cNvPr id="22" name="Rectangle 21"/>
          <p:cNvSpPr/>
          <p:nvPr/>
        </p:nvSpPr>
        <p:spPr>
          <a:xfrm>
            <a:off x="475488" y="2164080"/>
            <a:ext cx="27889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 y="2164080"/>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RAG</a:t>
            </a:r>
          </a:p>
        </p:txBody>
      </p:sp>
      <p:sp>
        <p:nvSpPr>
          <p:cNvPr id="24" name="Rectangle 23"/>
          <p:cNvSpPr/>
          <p:nvPr/>
        </p:nvSpPr>
        <p:spPr>
          <a:xfrm>
            <a:off x="3264408" y="2164080"/>
            <a:ext cx="41605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74136" y="2164080"/>
            <a:ext cx="3941063"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«вернул» ≠ «вернул правильное»</a:t>
            </a:r>
          </a:p>
        </p:txBody>
      </p:sp>
      <p:sp>
        <p:nvSpPr>
          <p:cNvPr id="26" name="Rectangle 25"/>
          <p:cNvSpPr/>
          <p:nvPr/>
        </p:nvSpPr>
        <p:spPr>
          <a:xfrm>
            <a:off x="7424927" y="2164080"/>
            <a:ext cx="429768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5" y="2164080"/>
            <a:ext cx="4078224"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опора на источник + метрики поиска + «не знаю» как норма</a:t>
            </a:r>
          </a:p>
        </p:txBody>
      </p:sp>
      <p:sp>
        <p:nvSpPr>
          <p:cNvPr id="28" name="Rectangle 27"/>
          <p:cNvSpPr/>
          <p:nvPr/>
        </p:nvSpPr>
        <p:spPr>
          <a:xfrm>
            <a:off x="475488" y="2514600"/>
            <a:ext cx="278892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216" y="2514600"/>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Гибрид + reranking</a:t>
            </a:r>
          </a:p>
        </p:txBody>
      </p:sp>
      <p:sp>
        <p:nvSpPr>
          <p:cNvPr id="30" name="Rectangle 29"/>
          <p:cNvSpPr/>
          <p:nvPr/>
        </p:nvSpPr>
        <p:spPr>
          <a:xfrm>
            <a:off x="3264408" y="2514600"/>
            <a:ext cx="416052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4136" y="2514600"/>
            <a:ext cx="3941063"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чистый вектор пропускает точные совпадения</a:t>
            </a:r>
          </a:p>
        </p:txBody>
      </p:sp>
      <p:sp>
        <p:nvSpPr>
          <p:cNvPr id="32" name="Rectangle 31"/>
          <p:cNvSpPr/>
          <p:nvPr/>
        </p:nvSpPr>
        <p:spPr>
          <a:xfrm>
            <a:off x="7424927" y="2514600"/>
            <a:ext cx="429768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34655" y="2514600"/>
            <a:ext cx="4078224"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BM25 + вектор + RRF + reranking под требование, не по умолчанию</a:t>
            </a:r>
          </a:p>
        </p:txBody>
      </p:sp>
      <p:sp>
        <p:nvSpPr>
          <p:cNvPr id="34" name="Rectangle 33"/>
          <p:cNvSpPr/>
          <p:nvPr/>
        </p:nvSpPr>
        <p:spPr>
          <a:xfrm>
            <a:off x="475488" y="2865120"/>
            <a:ext cx="27889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2865120"/>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Векторная БД</a:t>
            </a:r>
          </a:p>
        </p:txBody>
      </p:sp>
      <p:sp>
        <p:nvSpPr>
          <p:cNvPr id="36" name="Rectangle 35"/>
          <p:cNvSpPr/>
          <p:nvPr/>
        </p:nvSpPr>
        <p:spPr>
          <a:xfrm>
            <a:off x="3264408" y="2865120"/>
            <a:ext cx="41605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74136" y="2865120"/>
            <a:ext cx="3941063"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выделенная нужна не всегда</a:t>
            </a:r>
          </a:p>
        </p:txBody>
      </p:sp>
      <p:sp>
        <p:nvSpPr>
          <p:cNvPr id="38" name="Rectangle 37"/>
          <p:cNvSpPr/>
          <p:nvPr/>
        </p:nvSpPr>
        <p:spPr>
          <a:xfrm>
            <a:off x="7424927" y="2865120"/>
            <a:ext cx="429768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34655" y="2865120"/>
            <a:ext cx="4078224"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 неск. млн чанков → pgvector / гибрид Elastic; спец-БД — под масштаб</a:t>
            </a:r>
          </a:p>
        </p:txBody>
      </p:sp>
      <p:sp>
        <p:nvSpPr>
          <p:cNvPr id="40" name="Rectangle 39"/>
          <p:cNvSpPr/>
          <p:nvPr/>
        </p:nvSpPr>
        <p:spPr>
          <a:xfrm>
            <a:off x="475488" y="3215640"/>
            <a:ext cx="278892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5216" y="3215640"/>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Чанкинг</a:t>
            </a:r>
          </a:p>
        </p:txBody>
      </p:sp>
      <p:sp>
        <p:nvSpPr>
          <p:cNvPr id="42" name="Rectangle 41"/>
          <p:cNvSpPr/>
          <p:nvPr/>
        </p:nvSpPr>
        <p:spPr>
          <a:xfrm>
            <a:off x="3264408" y="3215640"/>
            <a:ext cx="416052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74136" y="3215640"/>
            <a:ext cx="3941063"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semantic по хайпу; таблицы тихо разъезжаются</a:t>
            </a:r>
          </a:p>
        </p:txBody>
      </p:sp>
      <p:sp>
        <p:nvSpPr>
          <p:cNvPr id="44" name="Rectangle 43"/>
          <p:cNvSpPr/>
          <p:nvPr/>
        </p:nvSpPr>
        <p:spPr>
          <a:xfrm>
            <a:off x="7424927" y="3215640"/>
            <a:ext cx="429768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34655" y="3215640"/>
            <a:ext cx="4078224"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recursive-512 как дефолт; таблицы — структурой, не расплющиванием</a:t>
            </a:r>
          </a:p>
        </p:txBody>
      </p:sp>
      <p:sp>
        <p:nvSpPr>
          <p:cNvPr id="46" name="Rectangle 45"/>
          <p:cNvSpPr/>
          <p:nvPr/>
        </p:nvSpPr>
        <p:spPr>
          <a:xfrm>
            <a:off x="475488" y="3566160"/>
            <a:ext cx="27889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5216" y="3566160"/>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Дообучение / PEFT</a:t>
            </a:r>
          </a:p>
        </p:txBody>
      </p:sp>
      <p:sp>
        <p:nvSpPr>
          <p:cNvPr id="48" name="Rectangle 47"/>
          <p:cNvSpPr/>
          <p:nvPr/>
        </p:nvSpPr>
        <p:spPr>
          <a:xfrm>
            <a:off x="3264408" y="3566160"/>
            <a:ext cx="41605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74136" y="3566160"/>
            <a:ext cx="3941063"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меняет поведение, не знание; забывание</a:t>
            </a:r>
          </a:p>
        </p:txBody>
      </p:sp>
      <p:sp>
        <p:nvSpPr>
          <p:cNvPr id="50" name="Rectangle 49"/>
          <p:cNvSpPr/>
          <p:nvPr/>
        </p:nvSpPr>
        <p:spPr>
          <a:xfrm>
            <a:off x="7424927" y="3566160"/>
            <a:ext cx="429768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34655" y="3566160"/>
            <a:ext cx="4078224"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PEFT + петля проверки + версии; знание → RAG</a:t>
            </a:r>
          </a:p>
        </p:txBody>
      </p:sp>
      <p:sp>
        <p:nvSpPr>
          <p:cNvPr id="52" name="Rectangle 51"/>
          <p:cNvSpPr/>
          <p:nvPr/>
        </p:nvSpPr>
        <p:spPr>
          <a:xfrm>
            <a:off x="475488" y="3916680"/>
            <a:ext cx="278892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216" y="3916680"/>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Измерение обучения</a:t>
            </a:r>
          </a:p>
        </p:txBody>
      </p:sp>
      <p:sp>
        <p:nvSpPr>
          <p:cNvPr id="54" name="Rectangle 53"/>
          <p:cNvSpPr/>
          <p:nvPr/>
        </p:nvSpPr>
        <p:spPr>
          <a:xfrm>
            <a:off x="3264408" y="3916680"/>
            <a:ext cx="416052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74136" y="3916680"/>
            <a:ext cx="3941063"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тренировка дёшева, eval — дорог и не решён</a:t>
            </a:r>
          </a:p>
        </p:txBody>
      </p:sp>
      <p:sp>
        <p:nvSpPr>
          <p:cNvPr id="56" name="Rectangle 55"/>
          <p:cNvSpPr/>
          <p:nvPr/>
        </p:nvSpPr>
        <p:spPr>
          <a:xfrm>
            <a:off x="7424927" y="3916680"/>
            <a:ext cx="429768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34655" y="3916680"/>
            <a:ext cx="4078224"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held-out-clean + A/B; прирост на бенчмарке — гипотеза, не результат</a:t>
            </a:r>
          </a:p>
        </p:txBody>
      </p:sp>
      <p:sp>
        <p:nvSpPr>
          <p:cNvPr id="58" name="Rectangle 57"/>
          <p:cNvSpPr/>
          <p:nvPr/>
        </p:nvSpPr>
        <p:spPr>
          <a:xfrm>
            <a:off x="475488" y="4267199"/>
            <a:ext cx="27889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6" y="4267199"/>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Агент vs workflow</a:t>
            </a:r>
          </a:p>
        </p:txBody>
      </p:sp>
      <p:sp>
        <p:nvSpPr>
          <p:cNvPr id="60" name="Rectangle 59"/>
          <p:cNvSpPr/>
          <p:nvPr/>
        </p:nvSpPr>
        <p:spPr>
          <a:xfrm>
            <a:off x="3264408" y="4267199"/>
            <a:ext cx="41605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74136" y="4267199"/>
            <a:ext cx="3941063"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агент там, где хватило бы workflow</a:t>
            </a:r>
          </a:p>
        </p:txBody>
      </p:sp>
      <p:sp>
        <p:nvSpPr>
          <p:cNvPr id="62" name="Rectangle 61"/>
          <p:cNvSpPr/>
          <p:nvPr/>
        </p:nvSpPr>
        <p:spPr>
          <a:xfrm>
            <a:off x="7424927" y="4267199"/>
            <a:ext cx="429768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534655" y="4267199"/>
            <a:ext cx="4078224"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предсказуемо → один из 5 паттернов workflow; открыто → агент</a:t>
            </a:r>
          </a:p>
        </p:txBody>
      </p:sp>
      <p:sp>
        <p:nvSpPr>
          <p:cNvPr id="64" name="Rectangle 63"/>
          <p:cNvSpPr/>
          <p:nvPr/>
        </p:nvSpPr>
        <p:spPr>
          <a:xfrm>
            <a:off x="475488" y="4617719"/>
            <a:ext cx="278892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85216" y="4617719"/>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Мульти-агент</a:t>
            </a:r>
          </a:p>
        </p:txBody>
      </p:sp>
      <p:sp>
        <p:nvSpPr>
          <p:cNvPr id="66" name="Rectangle 65"/>
          <p:cNvSpPr/>
          <p:nvPr/>
        </p:nvSpPr>
        <p:spPr>
          <a:xfrm>
            <a:off x="3264408" y="4617719"/>
            <a:ext cx="416052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74136" y="4617719"/>
            <a:ext cx="3941063"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pⁿ: 95%×10 ≈ 60%; +15× токенов</a:t>
            </a:r>
          </a:p>
        </p:txBody>
      </p:sp>
      <p:sp>
        <p:nvSpPr>
          <p:cNvPr id="68" name="Rectangle 67"/>
          <p:cNvSpPr/>
          <p:nvPr/>
        </p:nvSpPr>
        <p:spPr>
          <a:xfrm>
            <a:off x="7424927" y="4617719"/>
            <a:ext cx="4297680" cy="350520"/>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34655" y="4617719"/>
            <a:ext cx="4078224"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один сильный агент по умолчанию</a:t>
            </a:r>
          </a:p>
        </p:txBody>
      </p:sp>
      <p:sp>
        <p:nvSpPr>
          <p:cNvPr id="70" name="Rectangle 69"/>
          <p:cNvSpPr/>
          <p:nvPr/>
        </p:nvSpPr>
        <p:spPr>
          <a:xfrm>
            <a:off x="475488" y="4968239"/>
            <a:ext cx="27889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85216" y="4968239"/>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Безопасность</a:t>
            </a:r>
          </a:p>
        </p:txBody>
      </p:sp>
      <p:sp>
        <p:nvSpPr>
          <p:cNvPr id="72" name="Rectangle 71"/>
          <p:cNvSpPr/>
          <p:nvPr/>
        </p:nvSpPr>
        <p:spPr>
          <a:xfrm>
            <a:off x="3264408" y="4968239"/>
            <a:ext cx="416052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374136" y="4968239"/>
            <a:ext cx="3941063"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инъекция × широкие права; ZDR не всё</a:t>
            </a:r>
          </a:p>
        </p:txBody>
      </p:sp>
      <p:sp>
        <p:nvSpPr>
          <p:cNvPr id="74" name="Rectangle 73"/>
          <p:cNvSpPr/>
          <p:nvPr/>
        </p:nvSpPr>
        <p:spPr>
          <a:xfrm>
            <a:off x="7424927" y="4968239"/>
            <a:ext cx="4297680" cy="350520"/>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34655" y="4968239"/>
            <a:ext cx="4078224" cy="350520"/>
          </a:xfrm>
          <a:prstGeom prst="rect">
            <a:avLst/>
          </a:prstGeom>
          <a:noFill/>
        </p:spPr>
        <p:txBody>
          <a:bodyPr wrap="square" lIns="0" rIns="0" tIns="0" bIns="0" anchor="ctr">
            <a:spAutoFit/>
          </a:bodyPr>
          <a:lstStyle/>
          <a:p>
            <a:pPr algn="l">
              <a:lnSpc>
                <a:spcPct val="100000"/>
              </a:lnSpc>
            </a:pPr>
            <a:r>
              <a:rPr sz="950" b="0" i="0">
                <a:solidFill>
                  <a:srgbClr val="21295C"/>
                </a:solidFill>
                <a:latin typeface="Arial"/>
              </a:rPr>
              <a:t>наименьшие привилегии + карта данных по функции</a:t>
            </a:r>
          </a:p>
        </p:txBody>
      </p:sp>
      <p:sp>
        <p:nvSpPr>
          <p:cNvPr id="76" name="Rectangle 75"/>
          <p:cNvSpPr/>
          <p:nvPr/>
        </p:nvSpPr>
        <p:spPr>
          <a:xfrm>
            <a:off x="475488" y="5318759"/>
            <a:ext cx="2788920" cy="350520"/>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85216" y="5318759"/>
            <a:ext cx="25694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«Не ИИ вовсе»</a:t>
            </a:r>
          </a:p>
        </p:txBody>
      </p:sp>
      <p:sp>
        <p:nvSpPr>
          <p:cNvPr id="78" name="Rectangle 77"/>
          <p:cNvSpPr/>
          <p:nvPr/>
        </p:nvSpPr>
        <p:spPr>
          <a:xfrm>
            <a:off x="3264408" y="5318759"/>
            <a:ext cx="4160520" cy="350520"/>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374136" y="5318759"/>
            <a:ext cx="3941063"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детерминированное + верифицируемое</a:t>
            </a:r>
          </a:p>
        </p:txBody>
      </p:sp>
      <p:sp>
        <p:nvSpPr>
          <p:cNvPr id="80" name="Rectangle 79"/>
          <p:cNvSpPr/>
          <p:nvPr/>
        </p:nvSpPr>
        <p:spPr>
          <a:xfrm>
            <a:off x="7424927" y="5318759"/>
            <a:ext cx="4297680" cy="350520"/>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534655" y="5318759"/>
            <a:ext cx="4078224" cy="350520"/>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обычный код — дешевле, предсказуемее, аудируем</a:t>
            </a:r>
          </a:p>
        </p:txBody>
      </p:sp>
      <p:sp>
        <p:nvSpPr>
          <p:cNvPr id="82" name="Rounded Rectangle 81"/>
          <p:cNvSpPr/>
          <p:nvPr/>
        </p:nvSpPr>
        <p:spPr>
          <a:xfrm>
            <a:off x="502920" y="5870448"/>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04088" y="5925312"/>
            <a:ext cx="10799064" cy="512064"/>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Знать инструмент — значит знать его границы. Выбор архитектуры = найти самую нижнюю ступень, которая закрывает требование задачи.</a:t>
            </a:r>
          </a:p>
        </p:txBody>
      </p:sp>
      <p:sp>
        <p:nvSpPr>
          <p:cNvPr id="84" name="TextBox 8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64 / 67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Человек-валидатор + урок MIT NANDA.</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Агент делает — человек проверяет результат и факты</a:t>
            </a:r>
          </a:p>
        </p:txBody>
      </p:sp>
      <p:sp>
        <p:nvSpPr>
          <p:cNvPr id="6" name="TextBox 5"/>
          <p:cNvSpPr txBox="1"/>
          <p:nvPr/>
        </p:nvSpPr>
        <p:spPr>
          <a:xfrm>
            <a:off x="758952" y="2011680"/>
            <a:ext cx="5477256" cy="512064"/>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против независимого источника истины, а не по правдоподобности рассуждения</a:t>
            </a:r>
            <a:r>
              <a:rPr sz="624" baseline="30000" b="0" i="1">
                <a:latin typeface="Arial"/>
                <a:cs typeface="Arial"/>
                <a:ea typeface="Arial"/>
                <a:solidFill>
                  <a:srgbClr val="1C7293"/>
                </a:solidFill>
              </a:rPr>
              <a:t>[1]</a:t>
            </a:r>
            <a:r>
              <a:rPr sz="1200" b="0" i="1">
                <a:latin typeface="Arial"/>
                <a:cs typeface="Arial"/>
                <a:ea typeface="Arial"/>
                <a:solidFill>
                  <a:srgbClr val="5B6678"/>
                </a:solidFill>
              </a:rPr>
              <a:t>: самообъяснение модели ≠ контроль.</a:t>
            </a:r>
          </a:p>
        </p:txBody>
      </p:sp>
      <p:sp>
        <p:nvSpPr>
          <p:cNvPr id="7" name="Rounded Rectangle 6"/>
          <p:cNvSpPr/>
          <p:nvPr/>
        </p:nvSpPr>
        <p:spPr>
          <a:xfrm>
            <a:off x="758952" y="267004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76148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Степень автономности</a:t>
            </a:r>
          </a:p>
        </p:txBody>
      </p:sp>
      <p:sp>
        <p:nvSpPr>
          <p:cNvPr id="9" name="TextBox 8"/>
          <p:cNvSpPr txBox="1"/>
          <p:nvPr/>
        </p:nvSpPr>
        <p:spPr>
          <a:xfrm>
            <a:off x="905256" y="307238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от «человек нажимает кнопку» до «агент уведомляет постфактум»</a:t>
            </a:r>
          </a:p>
        </p:txBody>
      </p:sp>
      <p:sp>
        <p:nvSpPr>
          <p:cNvPr id="10" name="Rounded Rectangle 9"/>
          <p:cNvSpPr/>
          <p:nvPr/>
        </p:nvSpPr>
        <p:spPr>
          <a:xfrm>
            <a:off x="758952" y="356616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65760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Область доверия</a:t>
            </a:r>
          </a:p>
        </p:txBody>
      </p:sp>
      <p:sp>
        <p:nvSpPr>
          <p:cNvPr id="12" name="TextBox 11"/>
          <p:cNvSpPr txBox="1"/>
          <p:nvPr/>
        </p:nvSpPr>
        <p:spPr>
          <a:xfrm>
            <a:off x="905256" y="396849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чтение (легко откатить) vs запись · обратимое vs необратимое</a:t>
            </a:r>
          </a:p>
        </p:txBody>
      </p:sp>
      <p:sp>
        <p:nvSpPr>
          <p:cNvPr id="13" name="Rounded Rectangle 12"/>
          <p:cNvSpPr/>
          <p:nvPr/>
        </p:nvSpPr>
        <p:spPr>
          <a:xfrm>
            <a:off x="758952" y="4462272"/>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553712"/>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Непрерывный мониторинг</a:t>
            </a:r>
          </a:p>
        </p:txBody>
      </p:sp>
      <p:sp>
        <p:nvSpPr>
          <p:cNvPr id="15" name="TextBox 14"/>
          <p:cNvSpPr txBox="1"/>
          <p:nvPr/>
        </p:nvSpPr>
        <p:spPr>
          <a:xfrm>
            <a:off x="905256" y="486460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метрики качества постоянно, не разовая проверка на старте</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корпоративных GenAI-пилотов без измеримого возврата инвестиций — корень в разрыве обучения и провале интеграции, не в качестве модели</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«Запустить ИИ» ≠ «получить ценность». Решает архитектурно-интеграционная дисциплина. Иногда правильный ответ — простейшая архитектура или не-ИИ.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контроль)</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пилотов без ROI)</a:t>
            </a:r>
            <a:r>
              <a:rPr sz="850" i="1">
                <a:solidFill>
                  <a:srgbClr val="5B6678"/>
                </a:solidFill>
                <a:latin typeface="Arial"/>
              </a:rPr>
              <a:t>   ·   MIT NANDA, State of AI in Business 2025 — отчёт с методологией (150 интервью + 350 опрос + 300 внедрений), не универсальный закон.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65 / 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77240" y="1417320"/>
            <a:ext cx="2971800" cy="402336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31-skeleton-ru.png"/>
          <p:cNvPicPr>
            <a:picLocks noChangeAspect="1"/>
          </p:cNvPicPr>
          <p:nvPr/>
        </p:nvPicPr>
        <p:blipFill>
          <a:blip r:embed="rId2"/>
          <a:stretch>
            <a:fillRect/>
          </a:stretch>
        </p:blipFill>
        <p:spPr>
          <a:xfrm>
            <a:off x="905256" y="1592666"/>
            <a:ext cx="2715768" cy="3672666"/>
          </a:xfrm>
          <a:prstGeom prst="rect">
            <a:avLst/>
          </a:prstGeom>
        </p:spPr>
      </p:pic>
      <p:sp>
        <p:nvSpPr>
          <p:cNvPr id="4" name="TextBox 3"/>
          <p:cNvSpPr txBox="1"/>
          <p:nvPr/>
        </p:nvSpPr>
        <p:spPr>
          <a:xfrm>
            <a:off x="3977639" y="1874519"/>
            <a:ext cx="7726679"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5" name="TextBox 4"/>
          <p:cNvSpPr txBox="1"/>
          <p:nvPr/>
        </p:nvSpPr>
        <p:spPr>
          <a:xfrm>
            <a:off x="3977639" y="4160520"/>
            <a:ext cx="7726679"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6" name="TextBox 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67 / 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