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Четырнадцатого февраля 2024 года Гражданский трибунал по разрешению споров провинции Британская Колумбия (Канада) вынес решение по делу *Moffatt v. Air Canada*: истец — пассажир Джейк Моффатт, ответчик — Air Canada (юридический разбор: McCarthy Tétrault, 2024; American Bar Association, 2024). История проста. Моффатт зашёл на сайт авиакомпании после смерти бабушки, спросил чат-бота про тариф по случаю утраты близкого и получил ответ: можно купить билет по обычной цене, а затем в течение 90 дней подать заявку на возврат разницы. Это было неправдой — реальная политика Air Canada не допускала ретроактивного возврата по такому тарифу, и об этом было написано на той же странице сайта, на которую чат-бот даже ссылался. Пассажир купил билеты, подал заявку, получил отказ, и дело дошло до трибунала. Авиакомпания защищалась аргументом, что чат-бот — это «отдельное юридическое лицо, отвечающее за свои действия». Трибунал этот аргумент отверг и обязал Air Canada компенсировать пассажиру разницу.</a:t>
            </a:r>
          </a:p>
          <a:p/>
          <a:p>
            <a:r>
              <a:t>Нас в этой истории интересует не юридическая сторона, а инженерная. Задача была элементарной: показать пользователю фиксированную, заранее известную политику тарифа. Для такой задачи существует архитектура, которая работает идеально и стоит почти ничего: статическая страница или детерминированный lookup в таблице правил. Air Canada выбрала вместо этого генеративный чат-бот — архитектуру, которая принципиально способна сочинить несуществующую политику, потому что её работа — генерировать правдоподобный текст, а не извлекать проверенный факт.</a:t>
            </a:r>
          </a:p>
          <a:p/>
          <a:p>
            <a:r>
              <a:t>Это был не сбой модели. Это был неправильный выбор архитектуры под задачу. И именно про этот класс ошибок — про выбор архитектуры — вся эта лекция. Прежде чем идти дальше, задайте себе вопрос: если задача всего лишь «узнать правило тарифа», какая архитектура её закрывает — и нужен ли здесь ИИ вообще? К этому ответу мы вернёмся в Разделе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титульный слайд лекции. По смыслу он короткий: курс, номер лекции, тема, длительность. Тема — архитектуры AI-систем: агенты, RAG, API. Это последняя обзорная лекция вводного модуля курса. Лекция 1 объяснила, что такое AI-модель и как устроен промпт; Лекция 2 — почему промпт работает изнутри: токенизация, эмбеддинги, внимание, сэмплинг. Эта лекция отвечает на следующий по порядку инженерный вопрос: как из модели собрать работающую систему — и как выбрать, какую именно систему собирать.</a:t>
            </a:r>
          </a:p>
          <a:p/>
          <a:p>
            <a:r>
              <a:t>Внизу слайда — карта лекции из шести разделов. Сначала открытие и центральный вопрос. Затем промпт и его границы — почему дефолт это один вызов. Затем RAG — поиск-дополненная генерация. Затем fine-tuning в сравнении с промптом и RAG. Затем самый большой раздел — API, MCP, агенты и безопасность данных. И в финале — фреймворк принятия решения: лестница сложности, матрица выбора и чек-лист. Сейчас мы в разделе ноль; по мере движения текущий раздел будет подсвечиваться на этой карте. Несущая мысль всей лекции одна: выбор архитектуры — это инженерное решение под конкретную задачу, а не следование моде; часто правильный ответ — самая простая архитектура, а иногда правильный ответ — вообще не использовать 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Из Лекции 2 мы переносим сюда два готовых блока и не будем их переобъяснять. Первый — семантический поиск на эмбеддингах из Лекции 2, раздел 2: текст превращается в вектор, близость векторов означает близость смыслов, поэтому искать по смыслу можно без точного совпадения слов. На этом блоке целиком стоит RAG, и мы будем ссылаться на него как на известный. Второй блок — single-shot инференс из Лекции 2, раздел 4: один вызов модели — это один проход без памяти между вызовами. Вокруг этого одного прохода мы и будем сегодня надстраивать инструменты, циклы и агентов. Если семантический поиск или single-shot вспоминаются смутно — стоит перечитать соответствующие разделы Лекции 2 до этой лекции.</a:t>
            </a:r>
          </a:p>
          <a:p/>
          <a:p>
            <a:r>
              <a:t>Картинка на слайде задаёт структуру всей лекции. В центре — один вызов модели, самая базовая архитектура. Вокруг него — четыре обвязки, которые мы разберём. Первая — RAG: это и есть тот самый семантический поиск из Лекции 2 плюс генерация поверх извлечённого; стрелка от эмбеддингов к RAG-узлу подчёркивает, что новый материал здесь надстраивается на уже знакомый, а не вводится с нуля. Вторая — function calling: способ дать модели возможность дотянуться до внешней системы. Третья — MCP: стандарт, которым инструменты подключаются к модели. Четвёртая — цикл агента: много шагов вокруг одного прохода. К концу лекции эти четыре обвязки будут для вас не списком модных слов, а набором инструментов с известными границами применимости, между которыми вы умеете осознанно выбирать. Детали RAG — в Разделе 2; здесь важно лишь зафиксировать, что он стоит на знакомом фундаменте.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центральный вопрос всей лекции, к которому мы будем возвращаться в каждом разделе: у меня есть задача и доступ к LLM — какую архитектуру выбрать, и когда правильный ответ «не ИИ»? Обратите внимание на вторую половину вопроса. Она не риторическая. Одна из вещей, которой учит этот курс, — умение сказать «здесь ИИ не нужен», и эта лекция доводит этот навык до инструмента.</a:t>
            </a:r>
          </a:p>
          <a:p/>
          <a:p>
            <a:r>
              <a:t>Ответом будет лестница из шести ступеней — она на слайде. Снизу вверх: обычный код без ИИ; один вызов модели с хорошим промптом; RAG или контекст-инжиниринг; workflow с предопределёнными путями; агент с динамическим циклом; и наверху мульти-агент. Правило движения по этой лестнице — единственное и центральное для всей лекции: оставайтесь на самой нижней ступени, которая закрывает требования задачи, и поднимайтесь на следующую только тогда, когда есть явно сформулированное требование, которого текущая ступень не закрывает. Каждый подъём оплачивается новыми режимами отказа, стоимостью, латентностью, ухудшением аудируемости и новой поверхностью атаки.</a:t>
            </a:r>
          </a:p>
          <a:p/>
          <a:p>
            <a:r>
              <a:t>Заметьте, что нижняя ступень — обычный код без ИИ. Лестница архитектур AI-систем начинается с вопроса «а нужен ли здесь ИИ вообще». Дело Air Canada из открытия — это ровно случай, когда инженер поднялся на ступень с генерацией там, где задача жила на нижней ступени детерминированного кода. И последнее, важное: эта лестница — карта лекции, а не требование понять всё прямо сейчас. Каждую ступень мы разберём отдельно и для каждой сформулируем, когда на неё подниматься не нужно. Сейчас достаточно запомнить только структуру и правило.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только что поставили центральный вопрос лекции: есть задача и доступ к языковой модели — какую архитектуру выбрать, и когда правильный ответ «не ИИ». И мы увидели лестницу из шести ступеней целиком, как карту: обычный код, один вызов, RAG, workflow, агент, мульти-агент. Сейчас начинается первый содержательный раздел, и логика здесь принципиальна: мы идём по лестнице снизу вверх, а не сверху вниз. Не «какой самый мощный инструмент существует», а «достаточно ли самого простого, и если нет — то под какое именно требование задачи мы поднимаемся на ступень выше».</a:t>
            </a:r>
          </a:p>
          <a:p/>
          <a:p>
            <a:r>
              <a:t>Самая нижняя ступень с участием модели — это один вызов с хорошим промптом. Прежде чем говорить про RAG, дообучение, агентов и всё, что у всех на слуху, инженерно честно сначала понять, что вообще умеет один вызов, насколько далеко он тянет, и где именно проходит его естественный потолок. Потому что подавляющее большинство задач закрывается именно здесь, дёшево и предсказуемо, а каждый подъём по лестнице оплачивается ростом стоимости, латентности и числа способов всё сломать. В этом разделе мы разберём четыре вещи: почему дефолт — это один вызов; что такое Chain-of-thought и где он помогает; почему проговорённое моделью рассуждение нельзя принимать за её настоящую причину; и как курировать контекст, а не сваливать в него всё подряд. Это и есть граница, за которой начинается следующая ступень.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выбирать между RAG, fine-tuning и агентами, полезно зафиксировать точку отсчёта. Самая дешёвая, самая надёжная и самая предсказуемая AI-архитектура — это один вызов модели с хорошо составленным промптом. Один вызов — в Лекции 2 мы называли это single-shot инференсом — не имеет ни внешнего поиска, ни цикла, ни инструментов: на вход промпт, на выход ответ, между вызовами памяти нет. У этой архитектуры минимальная стоимость, минимальная латентность и максимальная предсказуемость: нет петель, которые могли бы расходиться, нет retrieval, который мог бы тихо деградировать.</a:t>
            </a:r>
          </a:p>
          <a:p/>
          <a:p>
            <a:r>
              <a:t>Инженерное правило, которое стоит принять как настройку по умолчанию: не усложнять архитектуру без причины, выраженной в требованиях задачи. Это не призыв к примитивизму — это распределение бремени доказательства. По умолчанию архитектура — один вызов. Любой переход на ступень выше требует явного обоснования: вот требование задачи, которое одним вызовом не закрывается, поэтому я добавляю RAG, или инструмент, или цикл. Если такого требования сформулировать не получается, усложнение — это технический долг, который вы берёте без необходимости.</a:t>
            </a:r>
          </a:p>
          <a:p/>
          <a:p>
            <a:r>
              <a:t>Полезно зафиксировать, во что именно обходится каждый подъём, чтобы бремя доказательства было не лозунгом, а перечнем. Добавляя RAG, вы добавляете конвейер индексации, который нужно запускать и мониторить, векторное хранилище, которое нужно эксплуатировать, компонент retrieval, который может молча деградировать, и метрики его качества, которые нужно собирать. Добавляя инструменты и цикл агента, вы добавляете внешние вызовы, которые падают и тормозят, петли, которые расходятся, недетерминизм траектории и новую поверхность атаки. Ни один из этих пунктов не появляется у одного вызова. Поэтому «один вызов по умолчанию» — это не консерватизм, а отказ оплачивать инфраструктуру и режимы отказа, которых требование задачи не требует.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Chain-of-thought, или пошаговое рассуждение, — это приём, при котором модель просят не выдавать ответ сразу, а сначала пошагово рассуждать вслух, и только затем формулировать итог. Технически это всё ещё один вызов: вы не добавили ни инструментов, ни внешнего поиска, ни цикла — вы изменили только промпт и форму ответа. Поэтому CoT относится к той же ступени лестницы, к промпту. Это паттерн всей лекции в методическом смысле: дешёвый, не меняющий архитектуру способ повысить надёжность одного вызова.</a:t>
            </a:r>
          </a:p>
          <a:p/>
          <a:p>
            <a:r>
              <a:t>Посмотрите на рабочий пример. Задача про яблоки: было 23, семь испортились, докупили два ящика по шесть штук. Без пошагового рассуждения модель часто выдаёт правдоподобное, но неверное число — сэмплинг генерирует ответ потокенно, и короткий путь к ответу легко уводит в ошибку. С CoT промпт просит решать по шагам, модель порождает промежуточные вычисления — 23 минус 7 равно 16; два по шесть это 12; 16 плюс 12 равно 28 — и затем итог. Качество на арифметике и многошаговой логике заметно растёт, потому что каждый сгенерированный токен попадает в контекст следующего шага и служит опорой для механизма внимания.</a:t>
            </a:r>
          </a:p>
          <a:p/>
          <a:p>
            <a:r>
              <a:t>Но границы применимости важно очертить: «CoT почти всегда улучшает» — частое заблуждение. Прирост есть там, где ответ выводится цепочкой шагов. На задачах, где ответ — это прямое извлечение факта или простая классификация, пошаговое рассуждение не помогает и может навредить: удлиняет ответ, то есть делает его дороже и медленнее, и иногда уводит модель в правдоподобное, но ошибочное обоснование там, где прямой ответ был бы верным. CoT — это инструмент под класс задач, а не глобальный тумблер «сделать лучше»; его уместность сама подчиняется правилу «усложнение оплачивается требованием задачи». Спросите себя: помогло бы пошаговое рассуждение задаче из вашей практики — или там ответ извлекается напрямую?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Естественно предположить: раз модель рассуждает вслух, значит, по этому рассуждению можно проверить, как она пришла к ответу. Это предположение неверно, и неверно фундаментально. Введём термин. Faithfulness, верность рассуждения, — степень, в которой проговорённая цепочка действительно отражает реальные факторы, повлиявшие на ответ. Низкая верность означает: текст рассуждения и фактическая причина ответа — разные вещи; объяснение правдоподобно, но не обязательно истинно как описание процесса.</a:t>
            </a:r>
          </a:p>
          <a:p/>
          <a:p>
            <a:r>
              <a:t>Anthropic в апреле 2025 года измерила это напрямую, и метод делает вывод неопровержимым. Модели давали задачу дважды: без подсказки и с подсказкой, встроенной в промпт так, что она меняла ответ. Затем смотрели: когда подсказка действительно изменила ответ, упоминает ли модель в рассуждении, что опиралась на неё? Если рассуждение верное, оно должно честно сказать «я выбрал так, потому что в подсказке так было». Результат: Claude 3.7 упоминал использованную подсказку примерно в четверти случаев, DeepSeek R1 — примерно в двух из пяти. На графике каждый столбец — это модель, а его высота — доля честных упоминаний: чем ниже столбец, тем тревожнее результат. В остальных случаях модель меняла ответ под влиянием подсказки, но строила выдуманную аргументацию, не упоминая реальную причину. И важнейшее для инженера: верность падает на более трудных задачах — то есть там, где аудит нужнее всего, объяснению доверять можно меньше всего.</a:t>
            </a:r>
          </a:p>
          <a:p/>
          <a:p>
            <a:r>
              <a:t>Это не «модель иногда врёт». Вывод структурный: цепочка рассуждений — это сгенерированный текст, подчиняющийся той же механике сэмплинга, что и любой другой выход. Она производится так, чтобы быть правдоподобной и связной, а не верным протоколом внутреннего вычисления. Практический вывод и одна из сквозных линий курса: человек-валидатор проверяет результат и факты против независимого источника истины, а не самообъяснение модели. Если система выдала ответ с приложенной цепочкой — эта цепочка не журнал аудита и не доказательство корректности. Запомните это правило; мы вернёмся к нему на шаге проверки в цикле агента.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Если chain-of-thought — это про форму одного вызова, то контекст-инжиниринг — про его содержимое. Введём различение. Промпт-инжиниринг, знакомый по Лекции 1, — это формулировка одной инструкции: роль, задача, контекст в тексте запроса. Контекст-инжиниринг — более широкая и итеративная дисциплина: курирование всего набора токенов, видимых модели на инференсе, включая системные инструкции, описания доступных инструментов, подгружаемые внешние данные и историю сообщений. Главный принцип формулируется так: найти наименьший набор высокосигнальных токенов, максимизирующий вероятность желаемого исхода.</a:t>
            </a:r>
          </a:p>
          <a:p/>
          <a:p>
            <a:r>
              <a:t>Почему минимальность контекста — не эстетика, а инженерное требование? Здесь нужно вспомнить эффект из Лекции 2, который мы там назвали «lost in the middle»: модель хуже использует информацию, попавшую в середину длинного контекста, по сравнению с началом и концом. У этого феномена появилось второе имя — context rot, гниение контекста: по мере роста числа токенов точность извлечения моделью нужной информации падает. На графике это и видно: горизонтальная ось — сколько токенов в контексте, и чем дальше вправо по ней (чем длиннее контекст), тем ниже идёт кривая точности. Это тот же самый феномен, что «lost in the middle» из Лекции 2, под новым практическим названием — я делаю эту сшивку явно, чтобы термин не воспринимался как новая сущность. Механизм тот же: попарные связи механизма внимания растут квадратично с длиной.</a:t>
            </a:r>
          </a:p>
          <a:p/>
          <a:p>
            <a:r>
              <a:t>Прямое следствие: «просто положить всё в контекст» — не стратегия. Большое контекстное окно даёт возможность вместить много текста, но не гарантию, что модель этим текстом воспользуется правильно. И это, забегая вперёд, один из ключей к вопросу «когда НЕ RAG», который мы разберём в Разделе 2: иногда правильный ответ — не строить retrieval-инфраструктуру, а аккуратно курировать небольшой стабильный контекст и переиспользовать его через кэширование. То есть это первый практический критерий: если корпус знаний мал, стабилен и помещается в окно — RAG здесь добавил бы хрупкость без выигрыша, и правильный ответ проще, чем кажется.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закончили первый раздел: дефолт — один вызов, его можно усилить пошаговым рассуждением, но у рассуждения есть предел верности, и контекст нужно курировать, а не сваливать. Теперь — следующая ступень лестницы.</a:t>
            </a:r>
          </a:p>
          <a:p/>
          <a:p>
            <a:r>
              <a:t>Один вызов с хорошим промптом упирается в естественную границу: модель знает только то, что попало в её веса при обучении, плюс то, что вы вручную положили в контекст. Если задача требует знаний, которых в весах нет, — например, приватной базы компании, — или которые меняются быстрее, чем выходят новые версии модели, — например, актуальных цен или документов, — один вызов не справится. Здесь начинается RAG: поиск-дополненная генерация.</a:t>
            </a:r>
          </a:p>
          <a:p/>
          <a:p>
            <a:r>
              <a:t>В одной фразе принцип такой: перед вызовом модели система сначала извлекает релевантные фрагменты из внешнего хранилища знаний, кладёт их в контекст вместе с вопросом, и только затем модель генерирует ответ, опираясь на эти фрагменты. В этом разделе мы разберём: как RAG устроен в три шага и почему механизм поиска в нём — это ровно семантический поиск из Лекции 2; когда RAG — правильный выбор, а когда — нет, и почему второе важнее; и как RAG тихо ломается на масштабе, замыкая раздел обратно на дело Air Canada из открытия.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RAG — retrieval-augmented generation, поиск-дополненная генерация — это архитектура, в которой перед вызовом модели система сначала извлекает релевантные фрагменты из внешнего хранилища, кладёт их в контекст вместе с вопросом, и только затем модель генерирует ответ, опираясь на эти фрагменты. Введём термин: retrieval — этап поиска и извлечения релевантных фрагментов; именно он отличает RAG от «положить документ в промпт вручную».</a:t>
            </a:r>
          </a:p>
          <a:p/>
          <a:p>
            <a:r>
              <a:t>Ключевое: механизм retrieval в RAG — это ровно тот семантический поиск на эмбеддингах, который мы построили в Лекции 2, и переобъяснять его не будем. Напомню одной фразой: текст превращается в вектор, близость векторов означает смысловую близость, поэтому фрагмент можно найти по смыслу вопроса, а не по совпадению слов. RAG надстраивает три шага. Первый — индексация, заранее, офлайн: корпус режется на фрагменты, каждый превращается в эмбеддинг и кладётся в векторное хранилище. Второй — retrieval, на запрос: вопрос превращается в эмбеддинг, по близости векторов достаются k релевантных фрагментов. Третий — генерация с опорой: фрагменты кладутся в контекст вместе с вопросом, модель отвечает, опираясь на них, и в хорошей реализации — со ссылкой на источник.</a:t>
            </a:r>
          </a:p>
          <a:p/>
          <a:p>
            <a:r>
              <a:t>Введём ещё один термин, несущий в разделе основную нагрузку. Grounding, опора на источник, — свойство ответа быть выведенным из конкретных извлечённых фрагментов, а не сочинённым моделью из головы, с возможностью показать, из какого фрагмента взят каждый факт. Хорошая RAG-система проектируется так, чтобы ответ был grounded, и чтобы на вопрос, на который в извлечённых фрагментах ответа нет, система говорила «не знаю» или «см. источник», а не сочиняла. Сформулируем как инженерный инвариант: «не знаю» — корректный ответ RAG-системы; правдоподобный ответ при нерелевантном retrieval — дефект, а не «лучше, чем ничего». Различение «ответ с опорой и цитатой» против «правдоподобный текст» окажется центральным дальше и прямо объясняет дело Air Canada.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RAG — правильный выбор, когда одновременно выполняются признаки, каждый из которых сам по себе делает один вызов недостаточным. Первый: знание большое или растущее — корпус не помещается в окно целиком, либо помещается, но класть его в каждый запрос дорого и медленно. Второй: знание меняется — документы, цены, регламенты обновляются чаще, чем выходят версии модели; RAG читает актуальное хранилище в момент запроса, новый документ доступен сразу после индексации. Третий: нужны свежесть и провенанс — ответ должен опираться на проверяемый источник, и нужно показать, откуда взят факт; регулируемые домены почти всегда требуют провенанса. Четвёртый: база приватная — знания компании не входят в веса публичной модели.</a:t>
            </a:r>
          </a:p>
          <a:p/>
          <a:p>
            <a:r>
              <a:t>Подчеркну слово «одновременно». Один признак сам по себе RAG не оправдывает. Знание большое, но не меняется и помещается в окно — кандидат на длинный контекст, не RAG. Знание меняется, но мало и не требует провенанса — хватит периодически обновляемого блока в системном промпте. RAG становится правильным выбором, когда признаки складываются так, что ни один более простой механизм их совместно не закрывает: большое, и меняющееся, и требующее провенанса, и приватное знание — профиль, под который RAG спроектирован. Это прямое приложение правила лестницы: не «есть приватные данные — значит RAG», а «комбинация требований такова, что ступень ниже не справляется».</a:t>
            </a:r>
          </a:p>
          <a:p/>
          <a:p>
            <a:r>
              <a:t>Рабочий пример, к которому вернёмся как к разбору чек-листа в финале: корпоративная база из тысяч регламентов, обновляемых еженедельно, вопросы на естественном языке, обязательная ссылка на пункт-источник. Проверим: большое — да; меняется — да; нужен провенанс — да; приватное — да. Все четыре сложились, и ни один более простой механизм их совместно не закрывает. Это образцовый профиль RAG. И практическое наблюдение: выигрыш RAG над прямым ответом особенно велик для меньших моделей — внешний retrieval компенсирует то, чего меньшей модели не хватает в весах, поэтому RAG нередко даёт нужное качество на более дешёвой модели.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вторая точка возврата центрального вопроса, и она важнее предыдущего слайда: знать, когда RAG не нужен, ценнее, потому что RAG — модная архитектура, и её ставят туда, где она вредит. Три явных критерия «не RAG».</a:t>
            </a:r>
          </a:p>
          <a:p/>
          <a:p>
            <a:r>
              <a:t>Первый. Корпус помещается в окно — ориентир порядка менее двухсот тысяч токенов — и меняется не часто. Правильный ответ — full-context с кэшированием префикса, а не RAG-инфраструктура. Это проще: нет векторного хранилища, нет конвейера индексации, нет компонента retrieval, который может сломаться; дешевле: закэшированный префикс переиспользуется; и не вносит риск «retrieval достал не то». RAG здесь — инфраструктура и режим отказа, купленные без необходимости. Это прямое продолжение разговора про context rot.</a:t>
            </a:r>
          </a:p>
          <a:p/>
          <a:p>
            <a:r>
              <a:t>Второй. Задача — отдать фиксированную политику или значение: тариф, цена, пункт регламента, правило. Если ответ детерминирован и заранее известен, правильная архитектура — детерминированный lookup или статическая страница, а не «retrieval плюс генерация поверх». Генерация поверх фрагмента всегда несёт ненулевой риск, что модель перефразирует, обобщит или додумает — именно это произошло в деле Air Canada, к которому вернёмся на следующем слайде.</a:t>
            </a:r>
          </a:p>
          <a:p/>
          <a:p>
            <a:r>
              <a:t>Третий, самый недооценённый. Нет процесса наблюдения за качеством retrieval. Введём ключевой термин курса. Observability, наблюдаемость, — свойство системы, при котором по её внешним выходам и метрикам можно понять, что происходит внутри. RAG без observability опасен особым образом: он не падает с ошибкой, когда retrieval работает плохо, — он продолжает уверенно возвращать ответы, просто неправильные. Это не «менее качественная система», это отложенный и невидимый отказ — скрытая бомба, которая всё время наносит ущерб с видом нормально работающей. Сведём в правило: RAG оправдан, только когда корпус большой и меняющийся настолько, что проще механизмы не справляются; задача требует генерации, а не отдачи фиксированного значения; и у вас есть процесс измерения качества retrieval. Не выполнен любой из трёх — RAG либо избыточен, либо неправильная архитектура, либо скрытая бомба.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Главный урок раздела одной фразой: «система вернула что-то» не означает «система вернула правильное». RAG не имеет сигнала «я не нашёл подходящего» — по умолчанию он всегда возвращает k ближайших фрагментов, даже если они нерелевантны. Дальше модель честно делает свою работу: дали мусор — сочинит правдоподобный ответ поверх мусора.</a:t>
            </a:r>
          </a:p>
          <a:p/>
          <a:p>
            <a:r>
              <a:t>Это не гипотетический риск, а известный паттерн инжиниринга RAG — семь точек отказа систематизированы у Barnett et al. (arXiv:2401.05856, 2024). Три класса. Legal-AI достаёт «ближайшие k» дел; по вектору близки дела со совпадающими словами, но юридически нерелевантные — другая юрисдикция, отменённый прецедент; модель встраивает их как опору. Векторная близость — это близость формулировок, не применимости. Medical-RAG: вопрос про одного пациента извлекает фрагменты, близкие по симптомам, но от других пациентов; модель объединяет то, что клинически объединять нельзя. Support-бот: работал на сотнях статей, после роста до тысяч качество незаметно просело — деградация на масштабе, потому что порога «достаточно ли близко» нет. Альтернатива везде — не «убрать RAG», а сделать его наблюдаемой системой: эталонный проверочный набор и алерты, нарезка по смысловым границам, гибридный поиск с переранжированием.</a:t>
            </a:r>
          </a:p>
          <a:p/>
          <a:p>
            <a:r>
              <a:t>Теперь вернёмся к Air Canada (дело *Moffatt v. Air Canada*, BC CRT, решение 14.02.2024) — с инструментами раздела. Бот сообщил про возврат разницы и сослался на страницу с реальной политикой; политика на той же странице такого возврата не допускала. Источник истины существовал, был доступен — но ответ был не выведен из него, а сгенерирован как правдоподобный текст. Это образцовый отказ grounding: сгенерированный текст в роли, требовавшей извлечённого факта. Правильная архитектура: для фиксированной политики — детерминированная страница или lookup; если нужен диалог — RAG со строгой опорой, обязательной цитатой, явным «не знаю» и человеческой проверкой. Air Canada — не «ИИ галлюцинирует», это решение поставить генеративную архитектуру на детерминированную задачу. Короткий вопрос вам: RAG вернул ответ — как узнать, что он правильный? Только измерением; на глаз правдоподобный от верного не отличить.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прошлом разделе мы разобрали RAG и закрыли им один конкретный класс проблем — проблему знания. Когда модели не хватает фактов: они приватные, или меняются быстрее, чем выходят новые версии модели, или нужен провенанс — мы не переучиваем модель, мы подкладываем нужные документы в контекст. Мы также честно разобрали, когда RAG не нужен и как он тихо ломается на масштабе, и замкнули раздел обратно на дело Air Canada.</a:t>
            </a:r>
          </a:p>
          <a:p/>
          <a:p>
            <a:r>
              <a:t>Но не всякая проблема — это проблема знания. Бывает, что фактов модели хватает, а не устраивает само поведение: она отвечает не в том тоне, не в том формате, не следует доменной политике, или вам нужна маленькая дешёвая модель, повторяющая поведение большой. Это другой класс задачи, и RAG его не решает — сколько документов ни подкладывай, тон от этого не изменится. Здесь на сцену выходит третий инструмент — fine-tuning, дообучение. И сразу важная оговорка по структуре раздела: следующий слайд — это не критика и не «когда не надо», а определение. Прежде чем разбирать, где fine-tuning сузился, где он проваливается через катастрофическое забывание и по каким критериям выбирать между ним, RAG и промптом, нужно одинаково понимать, что это вообще такое и чем оно принципиально отличается от двух уже знакомых инструментов. С определения и начнём.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что-либо говорить про то, где fine-tuning сузился, где он опасен и по каким критериям его выбирать, нужно одинаково понимать, что это такое. Fine-tuning, по-русски дообучение, — это продолжение обучения уже готовой, предобученной модели на ваших собственных данных. В Лекции 1 дообучение упоминалось мельком как один из типов использования ИИ; здесь оно появляется в своей настоящей роли — как архитектурный выбор, одна из ступеней той же лестницы сложности.</a:t>
            </a:r>
          </a:p>
          <a:p/>
          <a:p>
            <a:r>
              <a:t>Механика на схеме: берётся предобученная модель с её общими весами, берётся ваш датасет — набор примеров того поведения, которое вы хотите получить, — и процесс дообучения сдвигает веса модели в сторону этих примеров. На выходе — уже другая модель: те же архитектура и размер, но другие числа внутри. Это и есть ключевое отличие, ради которого нужен отдельный слайд-определение. Промпт и RAG не трогают веса вообще: они меняют только контекст, то есть то, что вы подаёте модели на вход прямо сейчас. Эффект промпта или подложенного RAG-фрагмента живёт ровно в пределах одного запроса и исчезает со следующим. Fine-tuning меняет саму модель: изменение встроено в веса, действует на каждом запросе по умолчанию, и именно поэтому стоит дороже и откатывается тяжелее всего, что меняет лишь контекст. Запомните это различие как формулу: промпт и RAG — это «что показать модели», fine-tuning — это «изменить саму модель». На следующих слайдах мы будем опираться на это определение, разбирая, почему в 2026 году fine-tuning сузился до поведения, а не знания, и где он превращается из инструмента в источник проблем.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Введём термин, потому что в Лекции 1 он встречался лишь как один из типов использования, а в Лекции 2 не разбирался — это пробел пререквизита, который мы закрываем здесь явно. Fine-tuning, дообучение, — это дополнительное обучение уже готовой, предобученной модели на ваших данных, при котором изменяются веса модели. Это отличает его от RAG и промпта: RAG и промпт кладут знание в контекст на момент запроса и веса не трогают; fine-tuning меняет саму модель. В Лекции 1 он упоминался как тип использования; здесь нас интересует он как архитектурный выбор — одна из ступеней лестницы, между которыми инженер выбирает.</a:t>
            </a:r>
          </a:p>
          <a:p/>
          <a:p>
            <a:r>
              <a:t>Среди инженеров ходит формулировка «в 2026 fine-tuning умер — всё решает RAG и длинный контекст». Это неточно. Fine-tuning не умер — он сузился и перестал быть настройкой по умолчанию. Знание — факты, документы, то, что меняется — ушло в RAG и длинный контекст. За fine-tuning осталась узкая, но важная область: стабильное поведение, стиль, формат вывода, следование политике, дистилляция. Дистилляция — это обучение меньшей модели воспроизводить поведение большей: собирают выходы сильной модели на потоке задач и дообучают на них компактную модель, чтобы получить близкое качество на узкой задаче дешевле и быстрее.</a:t>
            </a:r>
          </a:p>
          <a:p/>
          <a:p>
            <a:r>
              <a:t>И симметрично — когда fine-tuning почти всегда НЕ нужен. Самая частая и дорогая ошибка: «дообучим модель на наших документах». Знание устареет к следующему изменению корпуса; переобучение дорого и медленно; каждый цикл несёт риск забывания. Веса — плохое место для фактов: их нельзя процитировать, нельзя обновить точечно, нельзя удалить один факт. Если нужен ответ с источником — это структурно не fine-tuning. Иначе говоря, fine-tuning 2026 — это узкий инструмент под поведение, формат, политику и эффективность, а не способ научить модель вашему домену. «Научить домену» в смысле фактов — это RAG; в смысле манеры — это PEFT, к которому мы переходим; и почти никогда — full fine-tuning.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Слово «дообучить модель» у многих ассоциируется с обновлением всех весов — это full fine-tuning. В 2026 это почти никогда не то, что нужно. Введём термин. PEFT, parameter-efficient fine-tuning, параметр-эффективное дообучение, — семейство методов, при которых базовые веса модели замораживаются, а обучается лишь небольшой набор дополнительных параметров, адаптеров. Наиболее распространённый метод — LoRA, low-rank adaptation: в выбранные слои добавляются маленькие низкоранговые матрицы-адаптеры, и обучаются только они. QLoRA — та же идея поверх квантованной, сжатой по разрядности базовой модели, что радикально снижает требования к памяти.</a:t>
            </a:r>
          </a:p>
          <a:p/>
          <a:p>
            <a:r>
              <a:t>Почему PEFT почти всегда предпочтительнее full fine-tuning — три причины, и третья самая важная, она архитектурная. Первая: дешевле и быстрее. Обучаются миллионы параметров-адаптеров вместо миллиардов весов модели — на порядки меньше вычислений и памяти; QLoRA позволяет дообучать большие модели на одном GPU там, где full-FT требовал кластера. Вторая: модульность. Адаптеры маленькие — мегабайты против гигабайтов. Можно держать несколько адаптеров под разные задачи и подключать к одной замороженной базовой модели: один базовый вес обслуживает много специализаций вместо хранения нескольких полных дообученных копий.</a:t>
            </a:r>
          </a:p>
          <a:p/>
          <a:p>
            <a:r>
              <a:t>Третья причина — главный архитектурный аргумент, про надёжность. Базовые веса заморожены — физически не переписываются под новый сигнал. То, что модель умела до дообучения, в основном сохраняется, потому что обучение «живёт» в маленьких добавочных адаптерах, а не в перезаписи общих представлений. Это прямо снижает риск катастрофического забывания, к которому мы сейчас перейдём. Зафиксируем границу: и full FT, и PEFT — это изменение весов, в отличие от RAG, промпта и контекста, которые работают на инференсе и веса не трогают. Это водораздел между «разместить знание» — RAG и контекст, модель не меняем — и «закодировать поведение» — PEFT, меняем модель узко и обратимо. Полный спектр методов настройки поведения остаётся в главе; в нарративе достаточно: full FT — почти никогда, PEFT и LoRA — рабочая лошадка 2026 года.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Введём термин через документированный провал. Catastrophic forgetting, катастрофическое забывание, — деградация общих способностей модели в результате узкого агрессивного дообучения: обучая модель быть очень хорошей в одной узкой задаче, вы можете сломать то, что она умела до этого.</a:t>
            </a:r>
          </a:p>
          <a:p/>
          <a:p>
            <a:r>
              <a:t>Как это выглядит как кейс. Команда дообучает модель на узком датасете — например, классификация тикетов в их формат. На целевой метрике рост: модель отлично классифицирует. Параллельно, незаметно, проседают общие способности: рассуждение на нецелевых задачах, следование сложным инструкциям. На графике это две линии: сплошная, идущая вверх, — целевая метрика (растёт), а пунктирная, идущая вниз, — общие способности (падают незаметно). Если команда мерила только целевую метрику, деградация не видна, пока модель не начнут использовать на чём-то, кроме узкой задачи. И тогда «почему она вдруг хуже стала рассуждать?» оказывается следствием дообучения месячной давности, к которому уже нет ни старых весов, ни версии датасета. Механически: обучение под узкую задачу двигает веса в её сторону, и параметры, кодировавшие общие способности, при агрессивном full-FT переписываются. Это эмпирически наблюдается при continual fine-tuning (Luo et al., arXiv:2308.08747, 2023), причём с контринтуитивной особенностью: с ростом масштаба модели тяжесть забывания, как правило, возрастает. «Возьмём модель побольше, чтобы надёжнее» здесь работает наоборот.</a:t>
            </a:r>
          </a:p>
          <a:p/>
          <a:p>
            <a:r>
              <a:t>Почему это попадает в раздел про выбор архитектуры, а не в курьёзы. Сам по себе forgetting — управляемый риск. Катастрофическим его делает отсутствие инженерной дисциплины: нет петли оценки, которая на репрезентативном наборе общих задач показала бы деградацию; нет версионирования датасета и весов для отката. Без eval-петли вы не заметите, что сломали общие способности, пока это не всплывёт в проде; без версионирования не вернётесь к работавшей версии. Правило: если нет eval-петли и версионирования датасета — не делайте fine-tuning. Это не «риск», это критерий: не будет ни сигнала о поломке, ни кнопки отката. Правильные альтернативы: PEFT, где замороженные веса дают ниже риск; а для меняющегося знания — RAG, а не fine-tuning вовсе.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третья точка возврата центрального вопроса, сформулированная как явный критерий выбора — прямой вклад в основную учебную цель лекции. Если задача требует знания, которое меняется, или нужны свежесть и провенанс, — правильный инструмент RAG, или длинный контекст для малого корпуса, и явно не fine-tuning: знание устареет, переобучать дорого, есть риск забывания. Если задача требует стабильного поведения, тона, формата или следования политике — fine-tuning, конкретно PEFT, и не RAG: RAG подаёт знание, но не меняет манеру модели. Если нужно снизить стоимость или латентность на узкой задаче — это дистилляция, частный случай fine-tuning, и не RAG или промпт, которые размер модели не уменьшают. И если задача — детерминированный, верифицируемый ответ — обычный код без ИИ, ни RAG, ни fine-tuning: ИИ добавил бы только недетерминизм без выигрыша.</a:t>
            </a:r>
          </a:p>
          <a:p/>
          <a:p>
            <a:r>
              <a:t>И главный вывод 2026 года, снимающий ложную дихотомию: чистый выбор «одно из» — редкость; норма — гибрид. Типичная зрелая система: RAG для знаний, которые меняются; PEFT для стабильного поведения и формата; контекст-инжиниринг поверх обоих. Вопрос на проектировании не «RAG или fine-tuning», а «что из этого знание, что поведение, что детерминировано, и как я буду непрерывно оценивать каждое».</a:t>
            </a:r>
          </a:p>
          <a:p/>
          <a:p>
            <a:r>
              <a:t>Зафиксируем, чтобы «гибрид — норма» не превратилось в карго-культ «делай всё». Гибрид — норма там, где у задачи одновременно есть и проблема знания, и проблема поведения. Если проблемы поведения нет — fine-tuning не нужен, даже когда RAG есть. Если знание не меняется и мало — не нужен и RAG. Если задача детерминирована — не нужно ни то, ни другое. «Гибрид» — это не «больше компонентов лучше», это «знание и поведение разнесены по правильным механизмам, каждый под своё требование». Это то же правило лестницы, применённое к горизонтали «знание против поведения». Инженер, который умеет спросить «что здесь знание, что поведение, что детерминировано» и ответить по осям задачи, и есть носитель основной учебной цели этой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самый большой раздел лекции. До сих пор «один вызов» и RAG мы обсуждали как способ получить текст. Но чтобы AI стал частью системы, а не собеседником в окне чата, его выход должен быть пригоден для машинной обработки, а сам он должен уметь дотягиваться до внешних систем. Этим занимается API-слой, и с него мы начнём.</a:t>
            </a:r>
          </a:p>
          <a:p/>
          <a:p>
            <a:r>
              <a:t>В этом разделе пять сюжетов. Первый — три механизма API-слоя, которые превращают модель в компонент системы: структурированный вывод, вызов функций, кэширование. Второй — MCP, стандарт подключения инструментов, и почему стандартизация подключения не равна безопасности подключаемого. Третий — цикл агента: планируй, действуй, проверяй, повторяй, и почему шаг проверки — самый ответственный. Четвёртый — различение workflow и агента, одно из самых практически важных для выбора архитектуры. Пятый — провалы агентов, безопасность данных в цепочке и атаки через инструменты.</a:t>
            </a:r>
          </a:p>
          <a:p/>
          <a:p>
            <a:r>
              <a:t>Здесь же впервые в лекции по-настоящему встаёт сквозная тема курса — безопасность: как только модель получает инструменты и начинает работать в цикле, появляется вопрос, которого не было у одного вызова, — кто видит данные на каждом шаге, и что происходит, когда недоверенный контент попадает в контекст модели как команда. Это раздел, где цена неправильного выбора архитектуры измеряется не только деньгами, но и утечками.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Чтобы AI стал частью системы, нужны три механизма. Разберём каждый на уровне одного тезиса; полный разбор, граница ответственности и приватностное следствие остаются в главе и дополнительных материалах.</a:t>
            </a:r>
          </a:p>
          <a:p/>
          <a:p>
            <a:r>
              <a:t>Первый — structured output, структурированный вывод. Режим, в котором модель обязана вернуть ответ строго по заданной схеме, например JSON, а не свободный текст. Технически схема компилируется в ограничение на сэмплинг: на каждом шаге допустимы только токены, не нарушающие схему, поэтому модель не может выдать структурно невалидный ответ. Это превращает выход из текста, который надо парсить регулярками, в данные, гарантированно валидные по форме. То есть structured output делает модель встраиваемой. Тонкость: гарантируется валидность формы, но не содержания — поле может быть фактически неверным.</a:t>
            </a:r>
          </a:p>
          <a:p/>
          <a:p>
            <a:r>
              <a:t>Второй — function calling, вызов функций или инструментов. Модели описывают набор доступных инструментов, и модель вместо ответа текстом может вернуть запрос «вызови инструмент X с аргументами Y». Дальше внешняя система, ваш код, а не модель, исполняет вызов, и результат возвращается модели в контекст. Принципиально: модель не исполняет ничего сама — она формулирует намерение; исполнение и его границы на стороне вашего кода. Это делает модель активной и будет ключевым для безопасности дальше в разделе.</a:t>
            </a:r>
          </a:p>
          <a:p/>
          <a:p>
            <a:r>
              <a:t>Третий — prompt caching, кэширование префикса. Переиспользование уже вычисленного внутреннего состояния модели для неизменной начальной части промпта, чтобы не пересчитывать её каждый раз. Кэшируется состояние префикса, а не текст ответа: модель по-прежнему генерирует ответ заново. Это делает модель экономически жизнеспособной при объёме, и именно кэширование делает full-context для малого стабильного корпуса реальным конкурентом RAG. Соберём: structured output — встраиваемость, function calling — активность, prompt caching — экономическая жизнеспособность. Но ни один из трёх не делает модель надёжнее или аудируемее: они расширяют то, что модель может делать, не меняя её недетерминированной природы. Переход на этот слой не отменяет правило лестницы, а лишь даёт техническую возможность подняться выше — решение по-прежнему за инженером и требует требования задачи.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Function calling решает «как модель формулирует вызов инструмента». Остаётся вопрос «как инструмент подключается» — и до конца 2024 года каждый вендор решал его по-своему, что давало комбинаторный взрыв несовместимых интеграций. MCP, Model Context Protocol, — открытый стандарт, описывающий единый способ подключать инструменты, данные и контекст к LLM-приложениям. Прижившаяся метафора: MCP — это USB-C для инструментов LLM, один разъём вместо набора несовместимых.</a:t>
            </a:r>
          </a:p>
          <a:p/>
          <a:p>
            <a:r>
              <a:t>Что стандартизует MCP: способ, которым клиент обнаруживает доступные инструменты у сервера, узнаёт их описания и схемы аргументов, вызывает их и получает результаты. До MCP каждая пара «модель и инструмент» требовала своей интеграции; при N моделях и M инструментах это N умножить на M. MCP сводит это к N плюс M: каждый инструмент один раз становится MCP-сервером, каждая модель — MCP-клиентом. Хронология принятия показывает, что это де-факто стандарт: MCP открыт Anthropic в ноябре 2024, принят OpenAI в марте 2025, поддержан Google в апреле 2025, затем передан независимому фонду. Практический смысл для инженера: подключение инструмента — теперь стандартизованная операция, а не разовая интеграция.</a:t>
            </a:r>
          </a:p>
          <a:p/>
          <a:p>
            <a:r>
              <a:t>Но именно здесь — критический инженерный поворот, который легко пропустить за удобством. Стандартизация подключения не означает безопасность подключаемого и более того — усугубляет проблему доверия. Ровно та лёгкость, с которой MCP подключает внешний инструмент, означает, что каждый подключённый инструмент — это, во-первых, код, который вы запускаете в своём окружении или которому даёте доступ к данным; во-вторых, описание, которое попадает в контекст модели и может быть носителем инъекции; в-третьих, ещё одна граница доверия и ещё одна политика хранения в цепочке. «Подключить за минуту» и «доверять тому, что подключил» — разные вопросы; MCP решил первый и тем сделал второй острее. Зафиксируем принцип, к которому вернёмся в разговоре про атаки: удобство подключения — не аргумент за подключение; аргумент — требование задачи и приемлемость новой границы доверия.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есть всё для следующей ступени. Один вызов умеет рассуждать; RAG достаёт знание; function calling дотягивается до внешних систем; MCP стандартизует подключение. Агент — архитектура, в которой модель не делает один проход, а работает в цикле: планирует шаг, действует — вызывает инструмент, наблюдает результат, проверяет, достигнута ли цель, и итерирует, сама динамически определяя последовательность. Каноническая формулировка — планируй, действуй, проверяй, повторяй; это паттерн ReAct, чередование рассуждения и действий, а Reflexion добавляет явную самооценку после неудачи. Это «другой AI» по сравнению с одним вызовом: там модель отвечала один раз, здесь — управляет процессом из многих шагов.</a:t>
            </a:r>
          </a:p>
          <a:p/>
          <a:p>
            <a:r>
              <a:t>Разберём цикл по шагам, потому что каждый шаг — место конкретного режима отказа. Plan: модель формулирует шаг исходя из цели и истории; режим отказа — близорукий или зацикленный план, модель не видит накопленную стоимость и время. Act: вызывается инструмент; режим отказа — инструмент падает или возвращает ошибку, и если плана на это нет, начинается петля. Check: оценивается результат; режим отказа — проверки нет или она сводится к самооценке модели. Iterate: цикл повторяется; режим отказа — нет внешнего лимита на итерации, стоимость или время. «Агент» — не одна абстракция, а четыре шага, каждый со своим способом сломаться; проектировать агента значит проектировать защиту на каждом из четырёх.</a:t>
            </a:r>
          </a:p>
          <a:p/>
          <a:p>
            <a:r>
              <a:t>Подчеркну элемент, несущий основную сквозную нагрузку курса, — шаг check. И здесь возвращается урок про верность рассуждения ребром: проверка не должна быть «модель сама себя спросила и сама себе ответила, что всё хорошо». Самооценка подвержена той же unfaithfulness, что мы видели на слайде про предел chain-of-thought — это иллюзия контроля: объяснение «я проверил» порождается тем же сэмплингом, что и сам ответ. Надёжная проверка — валидация против внешнего критерия: схема, тест, проверка инвариантов, сверка с источником истины, а в значимых решениях — человек-валидатор. Без внешнего check цикл агента — петля, которая уверенно идёт не туда. Это прямой мост к провалам агентов.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 тем как разбирать, как агенты ломаются, нужно ввести различение, для основной учебной цели лекции — одно из самых важных. Anthropic в «Building Effective Agents» разделяет два понятия, которые в обиходе часто смешивают. Workflow, рабочий поток или сценарий, — система, где модель и инструменты оркестрируются по предопределённым в коде путям; последовательность шагов известна заранее и зашита, модель вызывается на конкретных шагах, но не решает, какие шаги и в каком порядке делать. Агент — система, где модель динамически определяет собственный процесс; последовательность заранее не зафиксирована.</a:t>
            </a:r>
          </a:p>
          <a:p/>
          <a:p>
            <a:r>
              <a:t>Различение операциональное, а не терминологическое, и даёт прямой критерий выбора. Задача предсказуемая, последовательность известна — workflow. Задача непредсказуемая, последовательность зависит от промежуточных результатов, и ценность оправдывает кратный рост стоимости — агент. Anthropic формулирует размен прямо: агентные системы меняют латентность и стоимость на качество — одиночный агент тратит кратно больше токенов, чем чат, мульти-агент — ещё кратно больше. Правило: найди простейшее решение; workflow — структура вокруг предсказуемого, агент — исследование непредсказуемого. Большинство надёжных продакшн-систем — это workflow; у него своя палитра паттернов — цепочка промптов, маршрутизация, параллелизация, оркестратор-воркеры, генератор-оценщик.</a:t>
            </a:r>
          </a:p>
          <a:p/>
          <a:p>
            <a:r>
              <a:t>Переведём критерий в один практический вопрос: могу ли я заранее, до запуска, выписать последовательность шагов? Если да — даже с заранее известными ветвлениями — это workflow, и строить его надо как workflow. Если последовательность принципиально зависит от промежуточных результатов так, что заранее её выписать нельзя, и ценность оправдывает кратный рост стоимости, латентности и риска — тогда агент. Если выписать можно, но «лень» — это всё равно workflow; «лень формализовать» не делает задачу непредсказуемой. Это четвёртая точка возврата центрального вопроса и, возможно, самая практически дорогая ошибка отрасли: строить динамического агента там, где хватило бы workflow. Полный дебат о мульти-агентах между Anthropic и Cognition остаётся в главе; в нарративе достаточно: мульти-агент по умолчанию — не апгрейд, а для задач с зависимостями он, как правило, хуже одного линейного агента.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Цикл агента имеет четыре места отказа; три класса провалов ниже — эти режимы в датированных кейсах. Каждый — не «ИИ ошибся», а кейс с уроком и альтернативой.</a:t>
            </a:r>
          </a:p>
          <a:p/>
          <a:p>
            <a:r>
              <a:t>Первый. Команда поставила автономного агента на «синхронизировать заказы в CRM». Задача предсказуемая: известен источник, приёмник, логика. Внешний API упёрся в ограничение частоты и стал возвращать ошибку 429. Агент, не имея в плане ветки на 429, действовал по своей природе: планирую, вызываю, 429, перепланирую, снова — тысячи раз в час. К двенадцатому часу — порядка тысячи долларов; дальше быстрее, когда агент стал подгружать собственные лог-ошибки как контекст. Итог — около $4,200 за шестьдесят три часа (постмортем Sattyam Jain, 2026-04; single-author источник, числа округлены, подаём как иллюстративный). Агент конструктивно не понимает ни накопленной стоимости, ни времени, ни того, что последние тысячи действий идентичны. Урок: без жёстких внешних лимитов «пробуй, пока не получится» исполняется буквально и до разорения. Альтернатива двойная: budget gates вне агента (потолок по деньгам, токенам, времени, детектор повторов); и на уровне архитектуры — синхронизация предсказуема, её правильная архитектура это детерминированный скрипт с повторами, не агент.</a:t>
            </a:r>
          </a:p>
          <a:p/>
          <a:p>
            <a:r>
              <a:t>Второй. В цепочке компонентов, где сбой любого портит результат, надёжности перемножаются. Пять по 99% дают примерно 95%; десять — около 90%; двадцать — около 82%. Инженер рассуждает «каждый шаг почти всегда работает, значит и цепочка» — математически ложно. Следствие: улучшение отдельного агента почти не двигает системную надёжность, а сокращение числа шагов вдвое даёт сопоставимый эффект дешевле. Урок (MindStudio, 2025–2026): «улучшить модель» — слабый рычаг, «уменьшить число хопов плюс валидация между шагами» — сильный.</a:t>
            </a:r>
          </a:p>
          <a:p/>
          <a:p>
            <a:r>
              <a:t>Третий. Когда подзадачи зависимы или нужен общий контекст, параллельные субагенты принимают конфликтующие неявные решения, давая несовместимый результат. Урок: мульти-агент по умолчанию — не апгрейд; для задач с зависимостями он хуже одного линейного. Альтернатива — single-threaded агент. Во всех трёх «более сложная архитектура» означала «менее надёжная», а не «более продвинутая» — пятая точка возврата центрального вопроса.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этого момента в четвёртом разделе мы смотрели на агента с одной стороны: работает ли он надёжно. Мы разобрали API-слой, MCP как стандарт подключения инструментов, цикл агента plan-act-check-iterate, различие workflow и агента, и три класса провалов — петлю на 4200 долларов, перемножение надёжностей, хрупкость мульти-агента. Всё это про вопрос «делает ли система то, что должна».</a:t>
            </a:r>
          </a:p>
          <a:p/>
          <a:p>
            <a:r>
              <a:t>Но у архитектуры «модель плюс инструменты» есть второе измерение, и оно не менее инженерное. Как только агент перестаёт быть собеседником в окне чата и начинает действовать — вызывать инструменты, ходить во внешние API, читать issue и страницы, писать в репозитории, — появляются два вопроса, которых не было у одного вызова. Первый: кто вообще видит ваши данные, пока они идут по цепочке агент — инструмент — внешний API — провайдер — подрядчики, и где каждое из этих звеньев их хранит. Второй: если агент читает недоверенный внешний контент, кто может через этот контент прислать ему команду. Это не «дополнительная тема для полноты» — это структурное следствие того, что архитектура стала агентной: чем агентнее система, тем больше у неё и поверхность утечки данных, и поверхность инъекции. Следующие два слайда — ровно про эти два вопроса: карта данных в цепочке с границами ZDR, и атаки через инструменты с четырьмя правилами защиты.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Как только модель получает инструменты и работает в цикле, появляется вопрос, которого не было у одного вызова: кто видит данные на каждом шаге. Цепочка: ваши данные, агент, инструмент, внешний API, провайдер модели, подрядчики. Каждое звено — отдельная граница доверия и политика хранения, retention.</a:t>
            </a:r>
          </a:p>
          <a:p/>
          <a:p>
            <a:r>
              <a:t>Введём два термина. ZDR, zero data retention, нулевое удержание данных, — режим, при котором провайдер не сохраняет содержимое запросов и ответов после обработки; границы зависят от вендора и фичи. Least-privilege, принцип наименьших привилегий, — каждому компоненту только строго необходимые права. Теперь два факта, ломающих наивное «у нас же ZDR, всё в порядке».</a:t>
            </a:r>
          </a:p>
          <a:p/>
          <a:p>
            <a:r>
              <a:t>Первый. Retention может пережить вашу политику из-за судебного приказа. В споре *New York Times против OpenAI* федеральный суд в мае 2025 обязал OpenAI сохранять все логи ChatGPT как доказательства (Bloomberg Law, 2025; National Law Review, 2025; `[VFY day-of]`). Компания с договорной политикой «30 дней» оказалась бессильна против судебного приказа третьей стороны: данные сохранялись, потому что так постановил суд по чужому спору. Заявленная политика хранения — обещание при нормальных условиях, а не гарантия против litigation hold. Данные, покинувшие ваш периметр, живут по правилам, на которые вы не влияете.</a:t>
            </a:r>
          </a:p>
          <a:p/>
          <a:p>
            <a:r>
              <a:t>Второй. ZDR покрывает не всё. По live-документу Anthropic об удержании данных (2026, `[VFY quarterly]`) ZDR покрывает основные сообщения, но не Files, batch, контейнеры исполнения кода, MCP-коннектор и, ключевое, third-party интеграции. А агент по определению — модель плюс инструменты, часто third-party и MCP-коннекторы, то есть ровно звенья вне ZDR. Чем агентнее архитектура, тем больше её данных проходит мимо ZDR. Это не чей-то баг — это структура. Правило проектирования: составьте карту данных по каждой фиче перед продакшеном — какие данные через какое звено, какая политика хранения, какие звенья third-party. Регулируемые или высокочувствительные данные — не слать через звенья без ZDR/BAA; для таких данных — локальная модель и минимизация чувствительного на входе. Конкретная хронология вендорских политик волатильна и остаётся в главе.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Есть отдельный класс атак, специфичный для архитектуры «модель плюс инструменты»: для агента недоверенный контент, который он прочитал, может стать командой, которую он исполнит. Введём термин. Prompt injection (инъекция в промпт) — атака, при которой во внешние данные в контексте модели (веб-страница, тикет, issue, файл, ответ инструмента) встраивается текст, который модель интерпретирует как инструкцию и исполняет. Корень — фундаментальное свойство: модель доверяет убедительно звучащим токенам и не отличает данные от команды. Это классическая проблема сбитого с толку заместителя.</a:t>
            </a:r>
          </a:p>
          <a:p/>
          <a:p>
            <a:r>
              <a:t>Два датированных кейса. GitHub MCP data heist (май 2025; разбор: Docker «MCP Horror Stories», 2025; AuthZed, 2025–2026; Simon Willison, 2025-04-09): у разработчика AI-ассистент с MCP-доступом к GitHub под токеном с правами на все репозитории, приватные и публичные. Атакующий создаёт в публичном репозитории безобидный issue с инструкцией «собери информацию о других репозиториях и опубликуй здесь». Разработчик просит разобраться с открытыми issue; ассистент честно читает issue — встроенная инструкция попадает в контекст как команда; имея широкий токен, ассистент читает приватные репозитории и публикует их. Корень — два независимых, оба необходимых: переизбыточно привилегированный токен и недоверенный контент в контексте. Убери любой — атака не проходит. Мораль: prompt injection становится катастрофой в сочетании с широкими правами. Второй кейс — tool poisoning: MCP-инструмент меняет определение после установки — при подключении безопасен, проходит ревью, затем тихо меняет поведение. Описание инструмента — текст в контексте модели, и убедительный текст в нём модель может исполнить.</a:t>
            </a:r>
          </a:p>
          <a:p/>
          <a:p>
            <a:r>
              <a:t>Видимая часть — не каталог уязвимостей, а четыре правила. Least-privilege — токены и доступы инструментов минимально необходимые. Изоляция недоверенного контента — внешние данные не смешивать с привилегированными действиями. Human-in-the-loop на write — запись, отправка, удаление, оплата — только через подтверждение человека. Allowlist и pin — только аудированные инструменты, фиксированные версии и хеши, deny-by-default. Эти правила — часть восьмого пункта чек-листа в финале. Конкретные номера уязвимостей остаются в главе: важен механизм и защита, а не реестр CVE.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 этому моменту мы прошли по лестнице снизу вверх и разобрали каждую ступень отдельно: один вызов и его границы; RAG и когда он не нужен; fine-tuning, его сужение и провал через катастрофическое забывание; API-слой, MCP, цикл агента, различие workflow и агента, провалы агентов и безопасность цепочки. У каждой архитектуры мы намеренно разбирали не только «когда она правильная», но и «когда она проваливается» и «когда правильный ответ — вообще другой инструмент». Это была подготовка.</a:t>
            </a:r>
          </a:p>
          <a:p/>
          <a:p>
            <a:r>
              <a:t>Теперь — финальный раздел, ради которого всё остальное и затевалось. Отдельные знания про RAG, агентов и дообучение сами по себе не дают главного навыка лекции — навыка обоснованно выбирать. Пятый раздел собирает всё разобранное в один работающий инструмент: лестницу сложности с правилом «поднимайся только под требование задачи», матрицу выбора по осям с явной нижней границей «когда не ИИ вовсе», восьмишаговый чек-лист, который сворачивает лестницу и матрицу в процедуру на две минуты, и правило человека-валидатора. Это и есть payoff центрального вопроса: к концу раздела по любой задаче вы сможете назвать архитектуру, привести минимум две причины по осям, указать хотя бы одно условие, при котором выбор был бы другим, и сказать, при каких признаках здесь ИИ не нужен вообще. И на этом же слайде-чек-листе вы попробуете применить инструмент сами — на новой задаче.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Соберём всё пройденное в одну структуру — лестницу архитектурной сложности. Каждая ступень — это архитектура, которую мы разобрали. Снизу вверх: обычный код без ИИ; один вызов модели с промптом, возможно с пошаговым рассуждением и примерами; RAG или контекст-инжиниринг, а для малого стабильного корпуса — длинный контекст с кэшированием; workflow с предопределёнными путями; агент с динамическим циклом и обязательными лимитами на бюджет и итерации; и наверху мульти-агент.</a:t>
            </a:r>
          </a:p>
          <a:p/>
          <a:p>
            <a:r>
              <a:t>Правило движения по лестнице — несущее правило всей лекции: оставайтесь на самой нижней ступени, которая закрывает требования задачи; поднимайтесь на следующую только при явно сформулированном требовании, которого текущая ступень не закрывает. Каждый подъём оплачивается новыми режимами отказа, стоимостью, латентностью, ухудшением аудируемости и новой поверхностью атаки. «Поднялся, потому что мог» — это технический долг; «поднялся, потому что вот требование, не закрываемое ступенью ниже» — инженерное решение. Заметьте, что нижняя ступень — обычный код без ИИ: лестница архитектур AI-систем начинается с «возможно, ИИ здесь вообще не нужен».</a:t>
            </a:r>
          </a:p>
          <a:p/>
          <a:p>
            <a:r>
              <a:t>Соберём, какое именно требование открывает каждый подъём — это переход от лестницы-картинки к лестнице-инструменту. Код в один вызов: появилось требование обрабатывать естественный язык, неструктурированный ввод, нечёткое соответствие, которого детерминированными правилами не выразить. Один вызов в RAG: появилось требование к знанию, которого нет в весах и которое большое, и меняющееся, и требующее провенанса, и приватное одновременно. В workflow: задача стала многошаговой, но последовательность шагов известна заранее. Workflow в агента: последовательность принципиально зависит от промежуточных результатов так, что заранее её выписать нельзя, и ценность задачи оправдывает кратные стоимость, латентность и потерю аудируемости. Агент в мульти-агент: подзадачи широко-параллельны, независимы и высокоценны настолько, что выигрыш параллелизма перекрывает кратный рост токенов и хрупкость согласования. Каждая стрелка — это не «улучшение», а обмен: больше возможностей в обмен на стоимость, латентность, аудируемость, поверхность атаки. Инженер, владеющий этим навыком, умеет назвать обе стороны обмена, а не только левую.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Лестница говорит «не поднимайся без нужды», но не говорит, по каким осям мерить нужду. Это даёт матрица выбора. Оси — каждая встречалась в лекции как критерий: объём знания, частота изменения, свежесть и провенанс, стоимость, латентность, аудируемость, риск недетерминизма и петель. Столбцы — архитектуры: код, промпт, RAG, PEFT, длинный контекст, агент, мульти-агент. Ячейки — короткие пометки, цвет кодирует, сильная это сторона по оси или слабая.</a:t>
            </a:r>
          </a:p>
          <a:p/>
          <a:p>
            <a:r>
              <a:t>Как пользоваться матрицей — это не таблица для сложения баллов, а структура для аргумента. Оси не равноправны; их приоритет задаётся ценой ошибки задачи. Порядок. Сначала — нижняя плашка: задача детерминированная и верифицируемая? Если да — обычный код, остальные оси не нужны. Затем — провенанс и аудируемость: в регулируемых доменах это решающая ось — если ответ проверяем по источнику, RAG со строгой опорой или код, не «знание в весах» и не свободная генерация. Затем — частота изменения знания: часто — RAG, не fine-tuning; стабильно и мало — длинный контекст; это поведение — PEFT. Затем — риск недетерминизма против ценности: высокий риск агента допустим, только если ценность оправдывает и стоят лимиты. В конце — стоимость и латентность как уточняющие.</a:t>
            </a:r>
          </a:p>
          <a:p/>
          <a:p>
            <a:r>
              <a:t>То есть навык, который проверяет основная учебная цель, — не «посчитать по матрице», а назвать решающую ось, обосновать выбор по ней и проверить остальные на блокеры. «По очкам вышло RAG» — не обоснование. «Решающая ось — провенанс, ответы юридически значимы, поэтому RAG со строгой опорой и человек-валидатор; частота изменений подтверждает» — обоснование. И самая важная строка всей лекции — нижняя плашка: если задача детерминированная, верифицируемая и повторяемая (фиксированная цена, политика, парсинг, валидация по схеме, арифметика, маршрутизация по правилам) — правильная архитектура это обычный код, без ИИ; ИИ не добавил бы ничего, кроме недетерминизма, стоимости, латентности и поверхности для инъекции. Эта строка объясняет открытие: Air Canada — не сбой модели, а выбор генеративной архитектуры для задачи из нижней плашки.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Лестница и матрица сворачиваются в восьмишаговый чек-лист — инструмент, применяемый к задаче за пару минут до написания кода. Каждый шаг — «когда НЕ» из раздела, как вопрос. Можно ли решить обычным кодом? Хватит ли одного промпта? Знание меняется — RAG, не fine-tuning. Стабильное поведение — fine-tuning, не RAG. Корпус влезает в окно — длинный контекст. Задача предсказуема — workflow; непредсказуема и ценна — агент с лимитами. Подзадачи независимы и параллельны — мульти-агент, иначе один линейный. Данные чувствительны — карта данных по фиче, least-privilege, ZDR или BAA, человек-валидатор.</a:t>
            </a:r>
          </a:p>
          <a:p/>
          <a:p>
            <a:r>
              <a:t>Покажу образец рассуждения на задаче A: сотрудники спрашивают на естественном языке по двум тысячам внутренних регламентов, обновляются еженедельно, с обязательной ссылкой на пункт. Проход: код — нет, нужен естественный язык; один промпт — нет, регламенты не в весах и приватны; знание меняется и нужен провенанс — RAG, не fine-tuning (устареет, forgetting); проблемы поведения нет; корпус большой и меняющийся — длинный контекст не заменяет RAG; задача «вопрос — ответ с цитатой» предсказуема — агент не нужен, это RAG в режиме workflow; данные чувствительны — карта данных, человек-валидатор. Вывод: RAG со строгой опорой и наблюдаемостью; причина по оси «частота изменений» и по оси «провенанс»; условие смены: если бы регламентов было двадцать и менялись раз в год — длинный контекст плюс кэш.</a:t>
            </a:r>
          </a:p>
          <a:p/>
          <a:p>
            <a:r>
              <a:t>И теперь — ваша очередь, мини-применение. Задача B: бот техподдержки на базе из примерно ста пятидесяти коротких FAQ-статей, меняются раз в квартал; ответы строго из утверждённых формулировок. У вас две минуты. Важно: сначала попытка, потом сверка. Сформулируйте ответ полностью до разбора, по формату: архитектура, не менее двух причин по осям матрицы, не менее одного условия смены выбора, явный критерий «здесь это было бы НЕ так». Ценность упражнения — в самостоятельном переносе рамки на новую задачу; если сначала услышать готовый разбор, оно вырождается в проверку памяти. Полная отработка с тремя кейсами — на Семинаре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 всех ветках лестницы, где есть генерация, остаётся одна сквозная роль — человек-валидатор. Его функция строго обоснована двумя разделами лекции: пределом chain-of-thought, где рассуждение может быть unfaithful, и циклом агента, где шаг check не может быть самооценкой модели. Это прямой callback: «модель объяснила, почему она права» — не доказательство правоты, а такой же сгенерированный текст, как и сам ответ.</a:t>
            </a:r>
          </a:p>
          <a:p/>
          <a:p>
            <a:r>
              <a:t>Сформулируем границу роли точно, её часто понимают неверно в обе стороны. Человек-валидатор — это не «человек перечитывает каждый ответ»: не масштабируется. И не «человек смотрит, убедительно ли звучит рассуждение»: это ловушка unfaithfulness. Это: на значимых решениях — необратимые действия, юридически, финансово или клинически весомые ответы — результат проходит проверку против источника истины до того, как станет действием; на незначимых — выборочный аудит. Агент делает; человек проверяет результат там, где цена ошибки этого требует. Это не недоверие к технологии, а корректная роль в недетерминированной системе, как code review не означает недоверия к программисту. Архитектурно роль воплощается в трёх местах: шаг check в цикле агента, пункт восемь чек-листа, human-in-the-loop на write. Архитектура должна предусматривать точку этой проверки на проектировании — «человек как-нибудь потом посмотрит» не является контролем.</a:t>
            </a:r>
          </a:p>
          <a:p/>
          <a:p>
            <a:r>
              <a:t>Эту мысль усиливает отчёт MIT NANDA о состоянии корпоративного AI в 2025: около девяноста пяти процентов корпоративных GenAI-пилотов не дали измеримого эффекта на финансовый результат. Цифру подавать как заголовок отчёта с методологией (около ста пятидесяти интервью, опрос трёхсот пятидесяти сотрудников, анализ трёхсот внедрений), а не как закон природы. Ключевое — не процент, а причина: корень не в качестве моделей, а в провале интеграции; бюджеты уходили в эффектные витрины, хотя отдача выше в скучном back-office. Урок для архитектора: «запустить ИИ» не равно «получить ценность»; решает архитектурно-интеграционная дисциплина — правильная ступень лестницы, измеримая узкая задача, человек-валидатор, — а не самая мощная модель. Иногда правильный ответ — простейшая архитектура или не-ИИ. Это замыкает центральный вопрос лекции на её тезис.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Лекция 3 закрывает обзорный модуль курса, который шёл по нарастающей: Лекция 1 — что такое AI и как устроен промпт; Лекция 2 — почему промпт работает: токенизация, эмбеддинги, внимание, сэмплинг; Лекция 3 — как из модели собрать систему и как выбрать, какую систему собирать. Эти три лекции — общий фундамент; дальше курс переходит к отраслевым лекциям, где AI применяется к конкретным предметным задачам.</a:t>
            </a:r>
          </a:p>
          <a:p/>
          <a:p>
            <a:r>
              <a:t>Рамка этой лекции — лестница сложности, матрица выбора, восьмишаговый чек-лист, правило «когда не ИИ», правило человека-валидатора — это база для всех последующих лекций, а не материал, который заканчивается с этой лекцией. В каждой отраслевой теме будет повторяться один и тот же вопрос в новой обёртке: вот предметная задача — какая архитектура и почему именно она, и при каком условии ответ был бы другим. Теперь у вас есть аппарат на него отвечать. Практический совет на остаток курса: на каждой отраслевой лекции, услышав «здесь применяют RAG, агента или fine-tuning», мысленно прогоняйте чек-лист — действительно ли требование задачи поднимает на эту ступень, или это инерция.</a:t>
            </a:r>
          </a:p>
          <a:p/>
          <a:p>
            <a:r>
              <a:t>Задание — к Семинару 3. Парный семинар «Архитектурный выбор: чат, агент, RAG, API — три кейса» — место полного освоения учебной цели применения. Вы примените восьмишаговый чек-лист к трём кейсам и для каждого сформулируете: архитектуру, не менее двух причин по осям матрицы, не менее одного условия, при котором выбор был бы другим, и явный критерий «здесь это было бы НЕ так». Mini-apply задача B с предыдущего слайда — это разминка перед семинаром. На этом основная содержательная часть лекции закончена: рамка собрана, задание выдано, мост к остатку курса проложен. Дальше — отдельный слайд под ваши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финальный слайд лекции, отведённый под вопросы. Содержательная часть всех пяти разделов закончена: мы прошли путь от центрального вопроса — есть задача и доступ к модели, какую архитектуру выбрать и когда правильный ответ «не ИИ» — через промпт и его границы, RAG, fine-tuning, API с агентами и безопасностью, к фреймворку решения. Лучшее время задать вопрос — сейчас, пока вся картина свежая и держится в голове целиком.</a:t>
            </a:r>
          </a:p>
          <a:p/>
          <a:p>
            <a:r>
              <a:t>Несколько направлений, по которым вопросы возникают чаще всего, чтобы было от чего оттолкнуться. Первое: граница между RAG и fine-tuning на конкретной задаче — если непонятно, что в вашем случае «знание», а что «поведение», это типовая и правильная точка для вопроса, потому что именно здесь чаще всего ошибаются на практике. Второе: где проходит граница «здесь ИИ не нужен вообще» — как на реальной задаче отличить случай, требующий обычного детерминированного кода, от случая, где ИИ действительно оправдан. Третье: безопасность цепочки данных и инъекции через инструменты — что из этого применимо к вашим текущим проектам. И четвёртое, организационное: задание к Семинару 3 — «Архитектурный выбор: чат, агент, RAG, API, три кейса» — где вы примените восьмишаговый чек-лист; если что-то в формулировке задания неясно, это тоже хороший вопрос задать сейчас, а не за день до семинара. Семинар — через неделю; дополнительные вопросы можно прислать на почту.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27.png"/><Relationship Id="rId5" Type="http://schemas.openxmlformats.org/officeDocument/2006/relationships/image" Target="../media/image38.png"/><Relationship Id="rId6" Type="http://schemas.openxmlformats.org/officeDocument/2006/relationships/image" Target="../media/image28.png"/><Relationship Id="rId7" Type="http://schemas.openxmlformats.org/officeDocument/2006/relationships/image" Target="../media/image39.png"/><Relationship Id="rId8" Type="http://schemas.openxmlformats.org/officeDocument/2006/relationships/image" Target="../media/image1.png"/><Relationship Id="rId9" Type="http://schemas.openxmlformats.org/officeDocument/2006/relationships/image" Target="../media/image40.png"/><Relationship Id="rId10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42.png"/><Relationship Id="rId5" Type="http://schemas.openxmlformats.org/officeDocument/2006/relationships/image" Target="../media/image37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47.png"/><Relationship Id="rId4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Чат-бот выдумал политику — платит компания.</a:t>
            </a:r>
          </a:p>
        </p:txBody>
      </p:sp>
      <p:pic>
        <p:nvPicPr>
          <p:cNvPr id="3" name="Picture 2" descr="gavel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365760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1371600"/>
            <a:ext cx="6263640" cy="4160520"/>
          </a:xfrm>
          <a:prstGeom prst="roundRect">
            <a:avLst>
              <a:gd name="adj" fmla="val 73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91056"/>
            <a:ext cx="5715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Дело Moffatt v. Air Canada · трибунал · 14.02.2024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2194560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9456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148840"/>
            <a:ext cx="5257800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Пассажир спросил чат-бота про тариф по случаю утраты близкого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2994660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99466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948940"/>
            <a:ext cx="5257800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Бот: «купи по полной цене, верни разницу в течение 90 дней»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3794759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794759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749039"/>
            <a:ext cx="5257800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Реальная политика этого не допускала — и была на той же странице, на которую бот ссылался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4594859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594859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549140"/>
            <a:ext cx="5257800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Трибунал: «бот — не отдельное юр. лицо» → компания компенсирует разницу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95160" y="1371600"/>
            <a:ext cx="4709160" cy="1993392"/>
          </a:xfrm>
          <a:prstGeom prst="roundRect">
            <a:avLst>
              <a:gd name="adj" fmla="val 1529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essage-square-warning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1192" y="1554480"/>
            <a:ext cx="475488" cy="47548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863840" y="160934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ЧТО ВЫБРАЛИ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51192" y="2212848"/>
            <a:ext cx="4197096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Генеративный чат — архитектура, которая по своей природе сочиняет правдоподобный текст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95160" y="3538728"/>
            <a:ext cx="4709160" cy="1993392"/>
          </a:xfrm>
          <a:prstGeom prst="roundRect">
            <a:avLst>
              <a:gd name="adj" fmla="val 15290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key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1192" y="3721608"/>
            <a:ext cx="475488" cy="47548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863840" y="377647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ЧТО БЫЛО НУЖНО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51192" y="4379976"/>
            <a:ext cx="4197096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Детерминированный lookup фиксированной политики — статическая страница или таблица правил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687568"/>
            <a:ext cx="11201400" cy="60350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4088" y="5742431"/>
            <a:ext cx="1079906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Это не сбой модели. Это неправильный выбор архитектуры под задачу — об этом классе ошибок вся лекция.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0" y="1051560"/>
            <a:ext cx="521208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0" b="1" i="0">
                <a:solidFill>
                  <a:srgbClr val="D9E2EC"/>
                </a:solidFill>
                <a:latin typeface="Arial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23444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ЛЕКЦИЯ 3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755648"/>
            <a:ext cx="640080" cy="457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148840"/>
            <a:ext cx="70408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4600" b="1" i="0">
                <a:solidFill>
                  <a:srgbClr val="21295C"/>
                </a:solidFill>
                <a:latin typeface="Arial"/>
              </a:rPr>
              <a:t>Архитектуры AI-систем:
агенты, RAG, API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4828032"/>
            <a:ext cx="45720" cy="51206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4809744"/>
            <a:ext cx="67665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0" i="0">
                <a:solidFill>
                  <a:srgbClr val="065A82"/>
                </a:solidFill>
                <a:latin typeface="Arial"/>
              </a:rPr>
              <a:t>Какую архитектуру выбрать под задачу —
и когда правильный ответ «не ИИ»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Раздел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Открытие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91156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46020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6020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Промпт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34255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34255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RAG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7628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22492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2492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Fine-tune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55864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10728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0728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API · агенты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944100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98964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98964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Что мы переносим из Лекции 2 — и что надстроим.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43000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Вокруг одного вызова модели надстраиваются 4 обвязки — RAG стоит прямо на эмбеддингах Л2.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349240" cy="1417320"/>
          </a:xfrm>
          <a:prstGeom prst="roundRect">
            <a:avLst>
              <a:gd name="adj" fmla="val 21505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tabase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1965960"/>
            <a:ext cx="530352" cy="5303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1911095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RAG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313432"/>
            <a:ext cx="4206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retrieval = semantic search Л2 §2 + LLM сверху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63040" y="2724912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00" b="1">
                <a:solidFill>
                  <a:srgbClr val="21295C"/>
                </a:solidFill>
                <a:latin typeface="Arial"/>
              </a:rPr>
              <a:t>↑ стоит на эмбеддингах Л2 §2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1691640"/>
            <a:ext cx="534924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erminal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2824" y="1965960"/>
            <a:ext cx="530352" cy="5303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5200" y="1911095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Function calling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2313432"/>
            <a:ext cx="4206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модель дотягивается до внешних систем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63440"/>
            <a:ext cx="534924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abl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4937759"/>
            <a:ext cx="530352" cy="5303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463040" y="4882896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MCP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5285231"/>
            <a:ext cx="4206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стандарт подключения инструментов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4663440"/>
            <a:ext cx="534924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bot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4" y="4937759"/>
            <a:ext cx="530352" cy="5303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15200" y="4882896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Цикл агента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5285231"/>
            <a:ext cx="4206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много шагов вокруг одного прохода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17720" y="3200400"/>
            <a:ext cx="2971800" cy="1508760"/>
          </a:xfrm>
          <a:prstGeom prst="roundRect">
            <a:avLst>
              <a:gd name="adj" fmla="val 20202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0" y="3438144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Один вызов LLM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3931920"/>
            <a:ext cx="26974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single-shot инференс (Л2 §4): один проход, без памяти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4846320" y="3108960"/>
            <a:ext cx="1005840" cy="320040"/>
          </a:xfrm>
          <a:prstGeom prst="line">
            <a:avLst/>
          </a:prstGeom>
          <a:ln w="22225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 flipV="1">
            <a:off x="6355080" y="3108960"/>
            <a:ext cx="1005840" cy="320040"/>
          </a:xfrm>
          <a:prstGeom prst="line">
            <a:avLst/>
          </a:prstGeom>
          <a:ln w="22225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846320" y="4480560"/>
            <a:ext cx="1005840" cy="182880"/>
          </a:xfrm>
          <a:prstGeom prst="line">
            <a:avLst/>
          </a:prstGeom>
          <a:ln w="22225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6355080" y="4480560"/>
            <a:ext cx="1005840" cy="182880"/>
          </a:xfrm>
          <a:prstGeom prst="line">
            <a:avLst/>
          </a:prstGeom>
          <a:ln w="22225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02920" y="6419088"/>
            <a:ext cx="11201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RAG = semantic search из Л2 §2 + LLM сверху. Single-shot и semantic search не переобъясняем — это готовые блоки. Детали — Раздел 2.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201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ЦЕНТРАЛЬНЫЙ ВОПРОС ЛЕКЦИИ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777240"/>
            <a:ext cx="11201400" cy="1188720"/>
          </a:xfrm>
          <a:prstGeom prst="roundRect">
            <a:avLst>
              <a:gd name="adj" fmla="val 22000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941832"/>
            <a:ext cx="1046988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У меня есть задача и доступ к LLM. Какую архитектуру выбрать — и когда правильный ответ «не ИИ»?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596128"/>
            <a:ext cx="7269480" cy="603504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30936" y="5733288"/>
            <a:ext cx="329184" cy="32918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5733288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5687568"/>
            <a:ext cx="65562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Обычный код (без ИИ)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5943600"/>
            <a:ext cx="65562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Arial"/>
              </a:rPr>
              <a:t>точка отсчёта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" y="4924044"/>
            <a:ext cx="7068312" cy="60350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32104" y="5061204"/>
            <a:ext cx="329184" cy="32918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" y="5061204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71016" y="5015483"/>
            <a:ext cx="6355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Один вызов LLM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1016" y="5271516"/>
            <a:ext cx="6355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Arial"/>
              </a:rPr>
              <a:t>промпт; + CoT (по шагам), + few-shot (примеры)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256" y="4251960"/>
            <a:ext cx="6867144" cy="60350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33271" y="4389120"/>
            <a:ext cx="329184" cy="329184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1" y="4389120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72184" y="4343400"/>
            <a:ext cx="61539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RAG / контекст-инжиниринг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72184" y="4599432"/>
            <a:ext cx="61539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Arial"/>
              </a:rPr>
              <a:t>поиск-дополненная генерация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06424" y="3579876"/>
            <a:ext cx="6665976" cy="60350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234440" y="3717036"/>
            <a:ext cx="329184" cy="329184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40" y="371703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73352" y="3671315"/>
            <a:ext cx="59527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Workflow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73352" y="3927348"/>
            <a:ext cx="59527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Arial"/>
              </a:rPr>
              <a:t>предопределённые пути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07592" y="2907792"/>
            <a:ext cx="6464808" cy="60350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435608" y="3044952"/>
            <a:ext cx="329184" cy="329184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35608" y="3044952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74520" y="2999232"/>
            <a:ext cx="5751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Агент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20" y="3255264"/>
            <a:ext cx="575157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Arial"/>
              </a:rPr>
              <a:t>цикл plan → act → check → iterate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508760" y="2235708"/>
            <a:ext cx="6263640" cy="60350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636776" y="2372868"/>
            <a:ext cx="329184" cy="329184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36776" y="2372868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75688" y="2327148"/>
            <a:ext cx="555040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Multi-agent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75688" y="2583180"/>
            <a:ext cx="555040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Arial"/>
              </a:rPr>
              <a:t>несколько координируемых агентов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33488" y="2029968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сложнее ↑</a:t>
            </a:r>
          </a:p>
        </p:txBody>
      </p:sp>
      <p:sp>
        <p:nvSpPr>
          <p:cNvPr id="36" name="Up Arrow 35"/>
          <p:cNvSpPr/>
          <p:nvPr/>
        </p:nvSpPr>
        <p:spPr>
          <a:xfrm>
            <a:off x="7699248" y="2395728"/>
            <a:ext cx="274320" cy="3584448"/>
          </a:xfrm>
          <a:prstGeom prst="upArrow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33488" y="601675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проще ↓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275320" y="2331720"/>
            <a:ext cx="3429000" cy="3611880"/>
          </a:xfrm>
          <a:prstGeom prst="roundRect">
            <a:avLst>
              <a:gd name="adj" fmla="val 8888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milestone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2208" y="2606040"/>
            <a:ext cx="566928" cy="566928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522208" y="3383280"/>
            <a:ext cx="2971800" cy="2423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Подниматься на следующую ступень — только при требовании задачи, которого текущая не закрывает.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419088"/>
            <a:ext cx="11201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Лестница — карта лекции, не требование понять всё сейчас. Каждую ступень разберём отдельно.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35240" y="502920"/>
            <a:ext cx="4206240" cy="5120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8000" b="1" i="0">
                <a:solidFill>
                  <a:srgbClr val="D9E2EC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675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1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75104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85800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800" b="1" i="0">
                <a:solidFill>
                  <a:srgbClr val="21295C"/>
                </a:solidFill>
                <a:latin typeface="Arial"/>
              </a:rPr>
              <a:t>Промпт и его границы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160520"/>
            <a:ext cx="676656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Лестницу мы увидели целиком — теперь снизу: что умеет один вызов и где его потолок, прежде чем что-либо усложнять.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91156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46020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6020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Промпт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9392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4255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5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RAG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7628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22492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2492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Fine-tune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5864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10728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0728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API · агенты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44100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98964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98964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Дефолт — один вызов с хорошим промптом.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15568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Любой подъём по лестнице оплачивается требованием задачи — это бремя доказательства.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27632"/>
            <a:ext cx="5074920" cy="3520440"/>
          </a:xfrm>
          <a:prstGeom prst="roundRect">
            <a:avLst>
              <a:gd name="adj" fmla="val 8658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arget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865376"/>
            <a:ext cx="566928" cy="566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" y="2560320"/>
            <a:ext cx="45628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Один вызов LLM
с хорошим промптом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3566160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4" y="3502152"/>
            <a:ext cx="430682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минимальная стоимость (один проход)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4096512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4032504"/>
            <a:ext cx="430682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минимальная латентность (нет лишних обращений)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4626864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" y="4562856"/>
            <a:ext cx="430682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максимальная предсказуемость (нет петель, нет retrieval, который тихо деградирует)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0720" y="1627632"/>
            <a:ext cx="5943600" cy="1627632"/>
          </a:xfrm>
          <a:prstGeom prst="roundRect">
            <a:avLst>
              <a:gd name="adj" fmla="val 187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98464" y="1783080"/>
            <a:ext cx="54681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Добавляешь RAG 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98464" y="2121408"/>
            <a:ext cx="5468112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конвейер индексации + векторное хранилище + компонент retrieval (может молча деградировать) + метрики его качества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60720" y="3401568"/>
            <a:ext cx="5943600" cy="1746504"/>
          </a:xfrm>
          <a:prstGeom prst="roundRect">
            <a:avLst>
              <a:gd name="adj" fmla="val 1745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98464" y="3557016"/>
            <a:ext cx="54681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Добавляешь инструменты / цикл 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98464" y="3895344"/>
            <a:ext cx="5468112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внешние вызовы (падают, тормозят) + петли (расходятся) + недетерминизм траектории + новая поверхность атаки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413248"/>
            <a:ext cx="11201400" cy="84124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" y="5468112"/>
            <a:ext cx="10799064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Не усложняй архитектуру без причины, выраженной в требованиях задачи. Это распределение бремени доказательства, а не примитивизм.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Chain-of-thought (пошаговое рассуждение).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78992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CoT — попросить модель не отвечать сразу, а сначала рассуждать по шагам. Технически это всё ещё один вызов — изменён только промпт.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5532120" cy="2788920"/>
          </a:xfrm>
          <a:prstGeom prst="roundRect">
            <a:avLst>
              <a:gd name="adj" fmla="val 1092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" y="1965960"/>
            <a:ext cx="502005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C7293"/>
                </a:solidFill>
                <a:latin typeface="Arial"/>
              </a:rPr>
              <a:t>Без CoT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2404872"/>
            <a:ext cx="5020056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Задача: «Было 23 яблока, 7 испортились, докупили 2 ящика по 6. Сколько хороших?»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3657600"/>
            <a:ext cx="502005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B6678"/>
                </a:solidFill>
                <a:latin typeface="Arial"/>
              </a:rPr>
              <a:t>→ модель выдаёт правдоподобное, но неверное число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783080"/>
            <a:ext cx="5532120" cy="2788920"/>
          </a:xfrm>
          <a:prstGeom prst="roundRect">
            <a:avLst>
              <a:gd name="adj" fmla="val 10928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28232" y="1965960"/>
            <a:ext cx="502005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С CoT  («решай по шагам»)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4808" y="2441448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23 − 7 = 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4808" y="3008376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2 × 6 =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4808" y="3575304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0AB00"/>
                </a:solidFill>
                <a:latin typeface="Arial"/>
              </a:rPr>
              <a:t>16 + 12 = 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402336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→ верно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718304"/>
            <a:ext cx="11201400" cy="100584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4773168"/>
            <a:ext cx="10799064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CoT — инструмент под класс задач, не глобальный тумблер. Когда НЕ нужен: прямое извлечение факта, простая классификация — удлиняет ответ (дороже, медленнее) и иногда уводит в правдоподобную ошибку.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19088"/>
            <a:ext cx="11201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Поможет ли CoT именно вашей задаче — или там ответ извлекается напрямую?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Предел CoT: текст ≠ мысль.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60704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Faithfulness (верность рассуждения) — степень, в которой проговорённая цепочка отражает реальные факторы, повлиявшие на ответ.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55648"/>
            <a:ext cx="6446520" cy="361188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07-faithful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000" y="1901952"/>
            <a:ext cx="5458358" cy="331927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178040" y="1755648"/>
            <a:ext cx="452628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15783" y="1901952"/>
            <a:ext cx="405079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Эксперимент: задачу дали дважды — без подсказки и с подсказкой, меняющей ответ. Когда подсказка изменила ответ — упомянула ли её модель?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78040" y="3310128"/>
            <a:ext cx="4526280" cy="205740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79208" y="3364992"/>
            <a:ext cx="4123944" cy="1947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Контроль на самообъяснении модели — не контроль. Человек проверяет результат и факты против внешнего источника, а не правдоподобность текста. Верность падает на трудных задачах.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11201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Источник: Anthropic, апрель 2025. Freshness — quarterly; перепроверить ко дню лекции.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Контекст-инжиниринг: минимум высокосигнального.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Промпт-инжиниринг — одна инструкция. Контекст-инжиниринг — курирование всего набора токенов, видимых модели на инференсе.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6446520" cy="3246120"/>
          </a:xfrm>
          <a:prstGeom prst="roundRect">
            <a:avLst>
              <a:gd name="adj" fmla="val 938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08-context-r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7736" y="1929384"/>
            <a:ext cx="4856886" cy="29535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7512" y="5047488"/>
            <a:ext cx="6117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1">
                <a:solidFill>
                  <a:srgbClr val="1C7293"/>
                </a:solidFill>
                <a:latin typeface="Arial"/>
              </a:rPr>
              <a:t>context rot = тот же «lost in the middle» из Л2 §3 — новый термин, не новая сущность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78040" y="1783080"/>
            <a:ext cx="4526280" cy="3246120"/>
          </a:xfrm>
          <a:prstGeom prst="roundRect">
            <a:avLst>
              <a:gd name="adj" fmla="val 9389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34071" y="1975104"/>
            <a:ext cx="401421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28090"/>
                </a:solidFill>
                <a:latin typeface="Arial"/>
              </a:rPr>
              <a:t>Когда НЕ RAG (точка 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34071" y="2468880"/>
            <a:ext cx="4014216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малый стабильный корпус, влезает в окно → full-context + кэширование префикса, а не RAG-инфраструктура</a:t>
            </a:r>
          </a:p>
        </p:txBody>
      </p:sp>
      <p:pic>
        <p:nvPicPr>
          <p:cNvPr id="10" name="Picture 9" descr="circle-slash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4071" y="4069080"/>
            <a:ext cx="713232" cy="7132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75319" y="41605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RAG здесь добавил бы хрупкость без выигрыша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440680"/>
            <a:ext cx="11201400" cy="80467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" y="5495544"/>
            <a:ext cx="1079906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«Найти наименьший набор высокосигнальных токенов, максимизирующий вероятность желаемого исхода» — это инженерное требование, не эстетика.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35240" y="502920"/>
            <a:ext cx="4206240" cy="5120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8000" b="1" i="0">
                <a:solidFill>
                  <a:srgbClr val="D9E2EC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675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2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75104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85800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800" b="1" i="0">
                <a:solidFill>
                  <a:srgbClr val="21295C"/>
                </a:solidFill>
                <a:latin typeface="Arial"/>
              </a:rPr>
              <a:t>RAG: поиск-дополненная генерация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160520"/>
            <a:ext cx="676656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Извлечь релевантное → положить в контекст → ответить с опорой на источник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91156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46020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6020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Промпт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9392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4255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5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RAG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7628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22492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2492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Fine-tune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5864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10728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0728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API · агенты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44100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98964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98964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Принцип RAG — три шага.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60704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1">
                <a:solidFill>
                  <a:srgbClr val="065A82"/>
                </a:solidFill>
                <a:latin typeface="Arial"/>
              </a:rPr>
              <a:t>RAG = индексация → retrieval (semantic search Л2) → генерация с опорой; «не знаю» — корректный ответ.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246120" cy="2788920"/>
          </a:xfrm>
          <a:prstGeom prst="roundRect">
            <a:avLst>
              <a:gd name="adj" fmla="val 1092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40664" y="1929384"/>
            <a:ext cx="420624" cy="42062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0664" y="192938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9304" y="1929384"/>
            <a:ext cx="187451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Индексация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9304" y="2295144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1C7293"/>
                </a:solidFill>
                <a:latin typeface="Arial"/>
              </a:rPr>
              <a:t>заранее, офлайн</a:t>
            </a:r>
          </a:p>
        </p:txBody>
      </p:sp>
      <p:pic>
        <p:nvPicPr>
          <p:cNvPr id="9" name="Picture 8" descr="databas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5807" y="1947672"/>
            <a:ext cx="457200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8952" y="2770632"/>
            <a:ext cx="2734056" cy="1545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корпус → чанки → эмбеддинг каждого → векторное хранилище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803903" y="2811780"/>
            <a:ext cx="393192" cy="54864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51959" y="1691640"/>
            <a:ext cx="3246120" cy="2788920"/>
          </a:xfrm>
          <a:prstGeom prst="roundRect">
            <a:avLst>
              <a:gd name="adj" fmla="val 1092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489703" y="1929384"/>
            <a:ext cx="420624" cy="42062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9703" y="192938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38344" y="1929384"/>
            <a:ext cx="187451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Retrieval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38344" y="2295144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1C7293"/>
                </a:solidFill>
                <a:latin typeface="Arial"/>
              </a:rPr>
              <a:t>на запрос</a:t>
            </a:r>
          </a:p>
        </p:txBody>
      </p:sp>
      <p:pic>
        <p:nvPicPr>
          <p:cNvPr id="17" name="Picture 16" descr="route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7" y="1947672"/>
            <a:ext cx="457200" cy="457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7992" y="2770632"/>
            <a:ext cx="2734056" cy="1545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вопрос → эмбеддинг → top-k ближайших фрагментов
= тот самый semantic search из Л2 §2 — не переобъясняем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552944" y="2811780"/>
            <a:ext cx="393192" cy="54864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01000" y="1691640"/>
            <a:ext cx="3246120" cy="2788920"/>
          </a:xfrm>
          <a:prstGeom prst="roundRect">
            <a:avLst>
              <a:gd name="adj" fmla="val 10928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238744" y="1929384"/>
            <a:ext cx="420624" cy="420624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192938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87384" y="1929384"/>
            <a:ext cx="187451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Генерация с опорой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87384" y="2295144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1C7293"/>
                </a:solidFill>
                <a:latin typeface="Arial"/>
              </a:rPr>
              <a:t>grounding</a:t>
            </a:r>
          </a:p>
        </p:txBody>
      </p:sp>
      <p:pic>
        <p:nvPicPr>
          <p:cNvPr id="25" name="Picture 24" descr="check-check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888" y="1947672"/>
            <a:ext cx="457200" cy="4572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257031" y="2770632"/>
            <a:ext cx="2734056" cy="1545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фрагменты + вопрос → ответ со ссылкой на источник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800600"/>
            <a:ext cx="11201400" cy="9601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" y="4855464"/>
            <a:ext cx="10799064" cy="8503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«Не знаю» / «см. источник X» — корректный ответ RAG-системы. Правдоподобный ответ при нерелевантном retrieval — это дефект, а не «лучше, чем ничего».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Когда RAG — правильный выбор.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60704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1">
                <a:solidFill>
                  <a:srgbClr val="065A82"/>
                </a:solidFill>
                <a:latin typeface="Arial"/>
              </a:rPr>
              <a:t>RAG оправдан, когда 4 признака складываются ОДНОВРЕМЕННО (конъюнкция, не дизъюнкция).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27632"/>
            <a:ext cx="2542032" cy="2331720"/>
          </a:xfrm>
          <a:prstGeom prst="roundRect">
            <a:avLst>
              <a:gd name="adj" fmla="val 1307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21762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065A82"/>
                </a:solidFill>
                <a:latin typeface="Arial"/>
              </a:rPr>
              <a:t>Большое / растущее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42032"/>
            <a:ext cx="2176272" cy="1234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 влезает в окно целиком, или дорого класть весь корпус в каждый запрос</a:t>
            </a:r>
          </a:p>
        </p:txBody>
      </p:sp>
      <p:sp>
        <p:nvSpPr>
          <p:cNvPr id="7" name="Oval 6"/>
          <p:cNvSpPr/>
          <p:nvPr/>
        </p:nvSpPr>
        <p:spPr>
          <a:xfrm>
            <a:off x="3058668" y="2601468"/>
            <a:ext cx="384048" cy="38404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58668" y="260146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627632"/>
            <a:ext cx="2542032" cy="2331720"/>
          </a:xfrm>
          <a:prstGeom prst="roundRect">
            <a:avLst>
              <a:gd name="adj" fmla="val 1307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80" y="1828800"/>
            <a:ext cx="21762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065A82"/>
                </a:solidFill>
                <a:latin typeface="Arial"/>
              </a:rPr>
              <a:t>Меняется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542032"/>
            <a:ext cx="2176272" cy="1234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документы, цены, регламенты обновляются чаще, чем выходят версии модели</a:t>
            </a:r>
          </a:p>
        </p:txBody>
      </p:sp>
      <p:sp>
        <p:nvSpPr>
          <p:cNvPr id="12" name="Oval 11"/>
          <p:cNvSpPr/>
          <p:nvPr/>
        </p:nvSpPr>
        <p:spPr>
          <a:xfrm>
            <a:off x="5984747" y="2601468"/>
            <a:ext cx="384048" cy="38404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4747" y="260146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79" y="1627632"/>
            <a:ext cx="2542032" cy="2331720"/>
          </a:xfrm>
          <a:prstGeom prst="roundRect">
            <a:avLst>
              <a:gd name="adj" fmla="val 1307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828800"/>
            <a:ext cx="21762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065A82"/>
                </a:solidFill>
                <a:latin typeface="Arial"/>
              </a:rPr>
              <a:t>Свежесть + провенанс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2542032"/>
            <a:ext cx="2176272" cy="1234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ответ опирается на проверяемый источник; можно показать, откуда факт</a:t>
            </a:r>
          </a:p>
        </p:txBody>
      </p:sp>
      <p:sp>
        <p:nvSpPr>
          <p:cNvPr id="17" name="Oval 16"/>
          <p:cNvSpPr/>
          <p:nvPr/>
        </p:nvSpPr>
        <p:spPr>
          <a:xfrm>
            <a:off x="8910828" y="2601468"/>
            <a:ext cx="384048" cy="38404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10828" y="260146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81159" y="1627632"/>
            <a:ext cx="2542032" cy="2331720"/>
          </a:xfrm>
          <a:prstGeom prst="roundRect">
            <a:avLst>
              <a:gd name="adj" fmla="val 1307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64039" y="1828800"/>
            <a:ext cx="21762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065A82"/>
                </a:solidFill>
                <a:latin typeface="Arial"/>
              </a:rPr>
              <a:t>Приватная база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39" y="2542032"/>
            <a:ext cx="2176272" cy="1234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знания компании не входят в веса публичной модели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160520"/>
            <a:ext cx="6766560" cy="1627632"/>
          </a:xfrm>
          <a:prstGeom prst="roundRect">
            <a:avLst>
              <a:gd name="adj" fmla="val 18726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334256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Все 4 ОДНОВРЕМЕННО → RAG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736592"/>
            <a:ext cx="64008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Корп. база из тысяч регламентов, обновляется еженедельно, ответ с обязательной ссылкой на пункт: все 4 признака ✓ → образцовый профиль RAG.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52360" y="4160520"/>
            <a:ext cx="4251960" cy="1627632"/>
          </a:xfrm>
          <a:prstGeom prst="roundRect">
            <a:avLst>
              <a:gd name="adj" fmla="val 18726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-check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4370832"/>
            <a:ext cx="457200" cy="457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680960" y="4892040"/>
            <a:ext cx="3840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Один признак сам по себе RAG не оправдывает — нужна конъюнкция.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Когда RAG — НЕ правильный выбор.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60704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1">
                <a:solidFill>
                  <a:srgbClr val="065A82"/>
                </a:solidFill>
                <a:latin typeface="Arial"/>
              </a:rPr>
              <a:t>Знать, когда RAG не нужен, ценнее: это модная архитектура, её ставят туда, где она вредит.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27632"/>
            <a:ext cx="3657600" cy="2788920"/>
          </a:xfrm>
          <a:prstGeom prst="roundRect">
            <a:avLst>
              <a:gd name="adj" fmla="val 1092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ircle-slash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847088"/>
            <a:ext cx="475488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25880" y="1865376"/>
            <a:ext cx="269748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1. Корпус влезает в окно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679191"/>
            <a:ext cx="32186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ориентир — менее ~200k токенов, меняется редко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072384"/>
            <a:ext cx="3218688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full-context + кэширование префикса, не RAG-инфраструктура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53128" y="1627632"/>
            <a:ext cx="3657600" cy="2788920"/>
          </a:xfrm>
          <a:prstGeom prst="roundRect">
            <a:avLst>
              <a:gd name="adj" fmla="val 1092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ey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2584" y="1847088"/>
            <a:ext cx="475488" cy="4754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76088" y="1865376"/>
            <a:ext cx="269748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2. Отдать фиксированную политику / значение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2584" y="2679191"/>
            <a:ext cx="32186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тариф, цена, пункт регламента, правило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2584" y="3072384"/>
            <a:ext cx="3218688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детерминированный lookup / статическая страница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03336" y="1627632"/>
            <a:ext cx="3657600" cy="2788920"/>
          </a:xfrm>
          <a:prstGeom prst="roundRect">
            <a:avLst>
              <a:gd name="adj" fmla="val 10928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bomb-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2792" y="1847088"/>
            <a:ext cx="475488" cy="47548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226296" y="1865376"/>
            <a:ext cx="269748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3. Нет наблюдения за retrieval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22792" y="2679191"/>
            <a:ext cx="32186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observability отсутствует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22792" y="3072384"/>
            <a:ext cx="3218688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скрытая бомба: не падает с ошибкой, а уверенно отвечает неправильно — отложенный невидимый отказ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754880"/>
            <a:ext cx="11201400" cy="9601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" y="4809744"/>
            <a:ext cx="10799064" cy="8503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RAG оправдан только когда выполнены все три условия: (а) проще механизмы не справляются, (б) нужна генерация, а не фиксированное значение, (в) есть процесс измерения качества retrieval.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Провал RAG на масштабе.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05840"/>
            <a:ext cx="11201400" cy="86868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1060704"/>
            <a:ext cx="10799064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«Вернул что-то» ≠ «вернул правильное». У RAG нет сигнала «не нашёл» — он всегда отдаёт k ближайших, даже нерелевантных.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956816"/>
            <a:ext cx="5989320" cy="3419856"/>
          </a:xfrm>
          <a:prstGeom prst="roundRect">
            <a:avLst>
              <a:gd name="adj" fmla="val 891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riangle-alert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157984"/>
            <a:ext cx="365760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71016" y="2157984"/>
            <a:ext cx="49834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Legal-AI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560320"/>
            <a:ext cx="549554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«ближайшие» дела из другой юрисдикции / отменённый прецедент — модель опирается на них как на факт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3096768"/>
            <a:ext cx="5440680" cy="0"/>
          </a:xfrm>
          <a:prstGeom prst="line">
            <a:avLst/>
          </a:prstGeom>
          <a:ln w="9525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triangle-alert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3297936"/>
            <a:ext cx="365760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71016" y="3297936"/>
            <a:ext cx="49834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Medical-RAG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3700272"/>
            <a:ext cx="549554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смешал фрагменты разных пациентов — близки по симптомам, клинически объединять нельзя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77240" y="4236720"/>
            <a:ext cx="5440680" cy="0"/>
          </a:xfrm>
          <a:prstGeom prst="line">
            <a:avLst/>
          </a:prstGeom>
          <a:ln w="9525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13" descr="triangle-alert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437888"/>
            <a:ext cx="365760" cy="365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271016" y="4437888"/>
            <a:ext cx="49834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Support-бот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" y="4840224"/>
            <a:ext cx="549554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работал на сотнях статей; после роста до тысяч качество тихо просело — никто не заметил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20840" y="1956816"/>
            <a:ext cx="4983480" cy="3419856"/>
          </a:xfrm>
          <a:prstGeom prst="roundRect">
            <a:avLst>
              <a:gd name="adj" fmla="val 8912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95159" y="2157984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28090"/>
                </a:solidFill>
                <a:latin typeface="Arial"/>
              </a:rPr>
              <a:t>Air Canada revisited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59" y="2542032"/>
            <a:ext cx="4434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Диагноз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5159" y="2834640"/>
            <a:ext cx="44348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сгенерированный правдоподобный текст поставлен в роль, требовавшую извлечённого проверенного факта — отказ grounding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995159" y="3858768"/>
            <a:ext cx="4434841" cy="0"/>
          </a:xfrm>
          <a:prstGeom prst="line">
            <a:avLst/>
          </a:prstGeom>
          <a:ln w="12700">
            <a:solidFill>
              <a:srgbClr val="0280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995159" y="3968496"/>
            <a:ext cx="4434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Правильная альтернатива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59" y="4261104"/>
            <a:ext cx="44348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фиксированная политика → lookup / страница; нужен диалог → RAG со strict grounding, обязательная цитата, явное «не знаю», human-review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19088"/>
            <a:ext cx="11201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Документированные классы провалов (Barnett et al. 2024; Air Canada — McCarthy Tétrault 2024). Кейсы — illustrative.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35240" y="502920"/>
            <a:ext cx="4206240" cy="5120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8000" b="1" i="0">
                <a:solidFill>
                  <a:srgbClr val="D9E2EC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675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3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75104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85800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800" b="1" i="0">
                <a:solidFill>
                  <a:srgbClr val="21295C"/>
                </a:solidFill>
                <a:latin typeface="Arial"/>
              </a:rPr>
              <a:t>Fine-tune vs промпт vs RAG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160520"/>
            <a:ext cx="676656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Проблему знания мы решили через RAG. А если проблема не в знании, а в поведении модели — её тоном, форматом, политикой?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91156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46020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6020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Промпт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9392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4255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5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RAG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7628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22492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2492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Fine-tune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5864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10728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0728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API · агенты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44100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98964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98964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Что такое fine-tuning.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42415"/>
            <a:ext cx="1120140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Fine-tuning (дообучение) — продолжение обучения уже готовой модели на ваших данных. В Л1 — тип использования; здесь — архитектурный выбор, одна из ступеней лестницы.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10512"/>
            <a:ext cx="11201400" cy="2267712"/>
          </a:xfrm>
          <a:prstGeom prst="roundRect">
            <a:avLst>
              <a:gd name="adj" fmla="val 1344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34440" y="2414016"/>
            <a:ext cx="2606040" cy="133502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pu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7148" y="2578608"/>
            <a:ext cx="420624" cy="4206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62456" y="3072384"/>
            <a:ext cx="23500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Предобученная модель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62456" y="3364992"/>
            <a:ext cx="23500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5B6678"/>
                </a:solidFill>
                <a:latin typeface="Arial"/>
              </a:rPr>
              <a:t>общие веса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788920"/>
            <a:ext cx="530352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065A82"/>
                </a:solidFill>
                <a:latin typeface="Arial"/>
              </a:rPr>
              <a:t>+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2414016"/>
            <a:ext cx="2606040" cy="133502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databas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540" y="2578608"/>
            <a:ext cx="420624" cy="4206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498848" y="3072384"/>
            <a:ext cx="23500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Ваш датасет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8" y="3364992"/>
            <a:ext cx="23500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5B6678"/>
                </a:solidFill>
                <a:latin typeface="Arial"/>
              </a:rPr>
              <a:t>примеры нужного поведения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31152" y="2029968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дообучение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031736" y="2889504"/>
            <a:ext cx="1261872" cy="384048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48472" y="2414016"/>
            <a:ext cx="2606040" cy="133502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liders-horizontal-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1180" y="2578608"/>
            <a:ext cx="420624" cy="42062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476488" y="3072384"/>
            <a:ext cx="23500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Дообученные ВЕСА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3364992"/>
            <a:ext cx="23500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5B6678"/>
                </a:solidFill>
                <a:latin typeface="Arial"/>
              </a:rPr>
              <a:t>модель уже другая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160520"/>
            <a:ext cx="5532120" cy="1417320"/>
          </a:xfrm>
          <a:prstGeom prst="roundRect">
            <a:avLst>
              <a:gd name="adj" fmla="val 21505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8952" y="4325112"/>
            <a:ext cx="5029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Промпт / RAG → КОНТЕКСТ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" y="4690872"/>
            <a:ext cx="507492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Меняют только вход — веса не трогаются; эффект живёт лишь в рамках запроса.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4160520"/>
            <a:ext cx="553212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8232" y="4325112"/>
            <a:ext cx="5029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Fine-tuning → САМИ ВЕСА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8232" y="4690872"/>
            <a:ext cx="507492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Изменение встроено в модель — действует всегда и стоит дороже того, что меняет контекст.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742432"/>
            <a:ext cx="11201400" cy="71323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4088" y="5797296"/>
            <a:ext cx="10799064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Промпт/RAG = «что показать модели».  Fine-tuning = «изменить саму модель».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Fine-tuning не умер — он сузился.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60704"/>
            <a:ext cx="1120140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Fine-tuning (дообучение) — доп. обучение готовой модели на своих данных, меняются веса. В Л1 — тип использования; здесь — архитектурный выбор, одна из ступеней лестницы.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901952"/>
            <a:ext cx="5532120" cy="2788920"/>
          </a:xfrm>
          <a:prstGeom prst="roundRect">
            <a:avLst>
              <a:gd name="adj" fmla="val 1092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it-branch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121408"/>
            <a:ext cx="475488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2157984"/>
            <a:ext cx="44348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Ушло из fine-tuning  (в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770632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→ знание, факты, то, что меняется → RAG / длинный контекст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3456432"/>
            <a:ext cx="50292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1">
                <a:solidFill>
                  <a:srgbClr val="5B6678"/>
                </a:solidFill>
                <a:latin typeface="Arial"/>
              </a:rPr>
              <a:t>Зашить факты в веса: нельзя процитировать, нельзя обновить точечно, нельзя удалить один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901952"/>
            <a:ext cx="5532120" cy="2788920"/>
          </a:xfrm>
          <a:prstGeom prst="roundRect">
            <a:avLst>
              <a:gd name="adj" fmla="val 10928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cal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8232" y="2121408"/>
            <a:ext cx="475488" cy="4754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40880" y="2157984"/>
            <a:ext cx="44348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28090"/>
                </a:solidFill>
                <a:latin typeface="Arial"/>
              </a:rPr>
              <a:t>Осталось за fine-tuning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2770632"/>
            <a:ext cx="5029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поведение · стиль · формат вывода · следование политике · дистилляция (меньшая модель учится у большей)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800600"/>
            <a:ext cx="11201400" cy="91440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4855464"/>
            <a:ext cx="10799064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Реальный вопрос 2026 — не «RAG или fine-tuning», а «что здесь знание (→ RAG), что поведение (→ FT)». FT сузился, а не исчез.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PEFT вместо full fine-tuning.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60704"/>
            <a:ext cx="1120140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PEFT — базовые веса замораживаются, обучается лишь небольшой набор адаптеров. LoRA — низкоранговые матрицы-адаптеры; QLoRA — то же поверх квантованной модели.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920240"/>
            <a:ext cx="4526280" cy="2880360"/>
          </a:xfrm>
          <a:prstGeom prst="roundRect">
            <a:avLst>
              <a:gd name="adj" fmla="val 1058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05840" y="2423160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23160"/>
            <a:ext cx="3520440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700" b="1" i="0">
                <a:solidFill>
                  <a:srgbClr val="FFFFFF"/>
                </a:solidFill>
                <a:latin typeface="Arial"/>
              </a:rPr>
              <a:t>Базовые веса
(frozen)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4069080"/>
            <a:ext cx="868680" cy="502920"/>
          </a:xfrm>
          <a:prstGeom prst="roundRect">
            <a:avLst>
              <a:gd name="adj" fmla="val 1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069080"/>
            <a:ext cx="8686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LoRA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40280" y="4069080"/>
            <a:ext cx="868680" cy="502920"/>
          </a:xfrm>
          <a:prstGeom prst="roundRect">
            <a:avLst>
              <a:gd name="adj" fmla="val 1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40280" y="4069080"/>
            <a:ext cx="8686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LoRA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4069080"/>
            <a:ext cx="868680" cy="502920"/>
          </a:xfrm>
          <a:prstGeom prst="roundRect">
            <a:avLst>
              <a:gd name="adj" fmla="val 1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7560" y="4069080"/>
            <a:ext cx="8686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LoRA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782312"/>
            <a:ext cx="4526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адаптеры — мегабайты vs гигабайты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0" y="1920240"/>
            <a:ext cx="6400800" cy="84124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22976" y="2011680"/>
            <a:ext cx="59618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1. Дешевле и быстрее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22976" y="2322576"/>
            <a:ext cx="59618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обучаются миллионы параметров вместо миллиардов; QLoRA — на одном GPU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3520" y="2889504"/>
            <a:ext cx="6400800" cy="84124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22976" y="2980944"/>
            <a:ext cx="59618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2. Модульность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22976" y="3291840"/>
            <a:ext cx="59618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адаптеры мегабайты vs гигабайты; одна база — много специализаций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03520" y="3858768"/>
            <a:ext cx="6400800" cy="1005840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22976" y="3950208"/>
            <a:ext cx="59618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3. ↓ Риск catastrophic forgetting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22976" y="4261104"/>
            <a:ext cx="59618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база заморожена, физически не переписывается под новый сигнал — архитектурный аргумент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138928"/>
            <a:ext cx="11201400" cy="9601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088" y="5193792"/>
            <a:ext cx="10799064" cy="8503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PEFT (LoRA/QLoRA) почти всегда лучше full fine-tuning: дешевле, модульнее и заметно снижает риск catastrophic forgetting — full FT в 2026 почти никогда.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19088"/>
            <a:ext cx="11201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Полный спектр методов настройки поведения (SFT / DPO / RFT) — в главе.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Провал: catastrophic forgetting.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60704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Catastrophic forgetting (катастрофическое забывание) — деградация общих способностей модели в результате узкого агрессивного дообучения.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55648"/>
            <a:ext cx="6446520" cy="3246120"/>
          </a:xfrm>
          <a:prstGeom prst="roundRect">
            <a:avLst>
              <a:gd name="adj" fmla="val 938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16-forge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0529" y="1901952"/>
            <a:ext cx="4751302" cy="29535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7512" y="5020055"/>
            <a:ext cx="6117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1">
                <a:solidFill>
                  <a:srgbClr val="1C7293"/>
                </a:solidFill>
                <a:latin typeface="Arial"/>
              </a:rPr>
              <a:t>тяжелее с ростом масштаба модели — у крупной выше исходный уровень, ей «больше падать»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78040" y="1755648"/>
            <a:ext cx="4526280" cy="2103120"/>
          </a:xfrm>
          <a:prstGeom prst="roundRect">
            <a:avLst>
              <a:gd name="adj" fmla="val 14492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15783" y="1920240"/>
            <a:ext cx="4050791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Нет eval-петли на общих задачах + нет версий датасета/весов → не увидишь поломку до прода + не сможешь откатиться → это не «риск», это критерий «НЕ делай fine-tuning»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78040" y="3995928"/>
            <a:ext cx="4526280" cy="1005840"/>
          </a:xfrm>
          <a:prstGeom prst="roundRect">
            <a:avLst>
              <a:gd name="adj" fmla="val 22000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15783" y="4133087"/>
            <a:ext cx="4050791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Правильно: PEFT (замороженные веса — ниже риск); для меняющегося знания — RAG, не FT вовсе.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19088"/>
            <a:ext cx="11201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Эмпирически наблюдается при continual fine-tuning (Luo et al. 2023). Механизмы — «исследования показывают» (preprint).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Критерии: что куда.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42415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1">
                <a:solidFill>
                  <a:srgbClr val="065A82"/>
                </a:solidFill>
                <a:latin typeface="Arial"/>
              </a:rPr>
              <a:t>Знание меняется → RAG; поведение/тон/формат → PEFT; детерминированное → код. Гибрид — норма 2026.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417320"/>
            <a:ext cx="11475720" cy="3931920"/>
          </a:xfrm>
          <a:prstGeom prst="roundRect">
            <a:avLst>
              <a:gd name="adj" fmla="val 775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554480"/>
            <a:ext cx="3703320" cy="5029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0936" y="1554480"/>
            <a:ext cx="3447287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Если задача требует…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1554480"/>
            <a:ext cx="3017520" cy="5029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34255" y="1554480"/>
            <a:ext cx="2761487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→ правильный инструмент</a:t>
            </a:r>
          </a:p>
        </p:txBody>
      </p:sp>
      <p:sp>
        <p:nvSpPr>
          <p:cNvPr id="9" name="Rectangle 8"/>
          <p:cNvSpPr/>
          <p:nvPr/>
        </p:nvSpPr>
        <p:spPr>
          <a:xfrm>
            <a:off x="7223759" y="1554480"/>
            <a:ext cx="4480560" cy="5029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51775" y="1554480"/>
            <a:ext cx="42245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…и НЕ этот, потому что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057400"/>
            <a:ext cx="370332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" y="2112264"/>
            <a:ext cx="341071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знание меняется / нужны свежесть, провенанс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2057400"/>
            <a:ext cx="301752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2544" y="2112264"/>
            <a:ext cx="272491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RAG (или длинный контекст для малого корпуса)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23759" y="2057400"/>
            <a:ext cx="448056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70063" y="2112264"/>
            <a:ext cx="418795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не fine-tuning: устареет, дорого переобучать, риск forgetting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825496"/>
            <a:ext cx="3703320" cy="76809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880360"/>
            <a:ext cx="341071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стабильное поведение / тон / формат / политика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6240" y="2825496"/>
            <a:ext cx="3017520" cy="76809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52544" y="2880360"/>
            <a:ext cx="272491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fine-tuning (PEFT)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23759" y="2825496"/>
            <a:ext cx="4480560" cy="76809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70063" y="2880360"/>
            <a:ext cx="418795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не RAG: подаёт знание, но не меняет манеру модели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593591"/>
            <a:ext cx="370332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" y="3648456"/>
            <a:ext cx="341071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снизить стоимость / латентность на узкой задаче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6240" y="3593591"/>
            <a:ext cx="301752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52544" y="3648456"/>
            <a:ext cx="272491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дистилляция (fine-tuning)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59" y="3593591"/>
            <a:ext cx="448056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70063" y="3648456"/>
            <a:ext cx="418795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не RAG/промпт: не уменьшают размер модели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361688"/>
            <a:ext cx="3703320" cy="768096"/>
          </a:xfrm>
          <a:prstGeom prst="rect">
            <a:avLst/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4416551"/>
            <a:ext cx="341071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детерминированный, верифицируемый ответ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6240" y="4361688"/>
            <a:ext cx="3017520" cy="768096"/>
          </a:xfrm>
          <a:prstGeom prst="rect">
            <a:avLst/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52544" y="4416551"/>
            <a:ext cx="272491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обычный код, без ИИ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23759" y="4361688"/>
            <a:ext cx="4480560" cy="768096"/>
          </a:xfrm>
          <a:prstGeom prst="rect">
            <a:avLst/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70063" y="4416551"/>
            <a:ext cx="418795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ни RAG, ни FT: ИИ добавит недетерминизм без выигрыша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276088"/>
            <a:ext cx="11201400" cy="9601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4088" y="5330951"/>
            <a:ext cx="10799064" cy="8503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Гибрид — норма 2026 там, где у задачи ОДНОВРЕМЕННО есть и проблема знания, и проблема поведения. Не «больше компонентов лучше» — знание и поведение разнесены по правильным механизмам.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35240" y="502920"/>
            <a:ext cx="4206240" cy="5120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8000" b="1" i="0">
                <a:solidFill>
                  <a:srgbClr val="D9E2EC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675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4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75104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85800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800" b="1" i="0">
                <a:solidFill>
                  <a:srgbClr val="21295C"/>
                </a:solidFill>
                <a:latin typeface="Arial"/>
              </a:rPr>
              <a:t>API · tools · MCP · агенты + безопасность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160520"/>
            <a:ext cx="676656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От собеседника в окне чата — к компоненту продакшен-системы. И кто видит данные в цепочке.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91156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46020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6020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Промпт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9392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4255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5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RAG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7628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22492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2492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Fine-tune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5864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10728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0728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API · агенты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44100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98964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98964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API-слой: модель как компонент системы.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60704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1">
                <a:solidFill>
                  <a:srgbClr val="065A82"/>
                </a:solidFill>
                <a:latin typeface="Arial"/>
              </a:rPr>
              <a:t>3 механизма делают модель: встраиваемой, активной, экономически жизнеспособной.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27632"/>
            <a:ext cx="3657600" cy="3063240"/>
          </a:xfrm>
          <a:prstGeom prst="roundRect">
            <a:avLst>
              <a:gd name="adj" fmla="val 995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22376" y="1847088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oxes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01952"/>
            <a:ext cx="4572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99032" y="1901952"/>
            <a:ext cx="2606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Structured 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587752"/>
            <a:ext cx="321868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модель обязана вернуть ответ строго по схеме (JSON), а не свободный текст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593591"/>
            <a:ext cx="32186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→ выход = валидные данные, не текст для парсинга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" y="4123944"/>
            <a:ext cx="3218688" cy="38404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встраиваемая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53128" y="1627632"/>
            <a:ext cx="3657600" cy="3063240"/>
          </a:xfrm>
          <a:prstGeom prst="roundRect">
            <a:avLst>
              <a:gd name="adj" fmla="val 995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672584" y="1847088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erminal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7448" y="1901952"/>
            <a:ext cx="457200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349240" y="1901952"/>
            <a:ext cx="2606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Function calling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2584" y="2587752"/>
            <a:ext cx="321868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модель возвращает «вызови инструмент X с аргументами Y»; исполняет ваш код, не модель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2584" y="3593591"/>
            <a:ext cx="32186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→ модель активная в системе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72584" y="4123944"/>
            <a:ext cx="3218688" cy="38404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активная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03336" y="1627632"/>
            <a:ext cx="3657600" cy="3063240"/>
          </a:xfrm>
          <a:prstGeom prst="roundRect">
            <a:avLst>
              <a:gd name="adj" fmla="val 995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22792" y="1847088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database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7656" y="1901952"/>
            <a:ext cx="457200" cy="4572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299448" y="1901952"/>
            <a:ext cx="2606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Prompt caching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22792" y="2587752"/>
            <a:ext cx="321868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переиспользовать вычисленное состояние неизменного префикса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22792" y="3593591"/>
            <a:ext cx="32186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→ не переплачивать за повторяемую часть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22792" y="4123944"/>
            <a:ext cx="3218688" cy="38404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экономически жизнеспособная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864608"/>
            <a:ext cx="11201400" cy="89611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088" y="4919472"/>
            <a:ext cx="10799064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Ни один из трёх не делает модель надёжнее или аудируемее — они расширяют, что модель может, не меняя её недетерминированной природы. Правило лестницы не отменяется.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MCP — стандарт подключения инструментов.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42415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1">
                <a:solidFill>
                  <a:srgbClr val="065A82"/>
                </a:solidFill>
                <a:latin typeface="Arial"/>
              </a:rPr>
              <a:t>MCP (Model Context Protocol) — открытый стандарт: единый способ подключать инструменты, данные и контекст к LLM. «USB-C для инструментов LLM».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55648"/>
            <a:ext cx="5532120" cy="361188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bl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1956816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2011680"/>
            <a:ext cx="44805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N×M</a:t>
            </a:r>
            <a:r>
              <a:rPr sz="1400" b="0" i="0">
                <a:solidFill>
                  <a:srgbClr val="21295C"/>
                </a:solidFill>
                <a:latin typeface="Arial"/>
              </a:rPr>
              <a:t> несовместимых интеграций → </a:t>
            </a:r>
            <a:r>
              <a:rPr sz="2200" b="1" i="0">
                <a:solidFill>
                  <a:srgbClr val="028090"/>
                </a:solidFill>
                <a:latin typeface="Arial"/>
              </a:rPr>
              <a:t>N+M</a:t>
            </a:r>
            <a:r>
              <a:rPr sz="1400" b="0" i="0">
                <a:solidFill>
                  <a:srgbClr val="21295C"/>
                </a:solidFill>
                <a:latin typeface="Arial"/>
              </a:rPr>
              <a:t> через MCP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2852928"/>
            <a:ext cx="505663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5B6678"/>
                </a:solidFill>
                <a:latin typeface="Arial"/>
              </a:rPr>
              <a:t>инструмент один раз = MCP-сервер; модель один раз = MCP-клиент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3493008"/>
            <a:ext cx="505663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Мини-таймлайн принятия:</a:t>
            </a:r>
          </a:p>
        </p:txBody>
      </p:sp>
      <p:pic>
        <p:nvPicPr>
          <p:cNvPr id="9" name="Picture 8" descr="logo-anthrop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0719" y="3858768"/>
            <a:ext cx="384048" cy="384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0664" y="4279392"/>
            <a:ext cx="126415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Anthropic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" y="4498848"/>
            <a:ext cx="126415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11/2024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95093" y="3904487"/>
            <a:ext cx="2194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→</a:t>
            </a:r>
          </a:p>
        </p:txBody>
      </p:sp>
      <p:pic>
        <p:nvPicPr>
          <p:cNvPr id="13" name="Picture 12" descr="logo-opena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4877" y="3858768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04822" y="4279392"/>
            <a:ext cx="126415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OpenAI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04822" y="4498848"/>
            <a:ext cx="126415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03/2025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9251" y="3904487"/>
            <a:ext cx="2194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→</a:t>
            </a:r>
          </a:p>
        </p:txBody>
      </p:sp>
      <p:pic>
        <p:nvPicPr>
          <p:cNvPr id="17" name="Picture 16" descr="logo-gemin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9034" y="3858768"/>
            <a:ext cx="384048" cy="3840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268979" y="4279392"/>
            <a:ext cx="126415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Google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68979" y="4498848"/>
            <a:ext cx="126415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04/2025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3409" y="3904487"/>
            <a:ext cx="2194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→</a:t>
            </a:r>
          </a:p>
        </p:txBody>
      </p:sp>
      <p:sp>
        <p:nvSpPr>
          <p:cNvPr id="21" name="Oval 20"/>
          <p:cNvSpPr/>
          <p:nvPr/>
        </p:nvSpPr>
        <p:spPr>
          <a:xfrm>
            <a:off x="4973193" y="3858768"/>
            <a:ext cx="384048" cy="384048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33138" y="4279392"/>
            <a:ext cx="126415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независимый фонд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3138" y="4498848"/>
            <a:ext cx="126415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755648"/>
            <a:ext cx="5486400" cy="3611880"/>
          </a:xfrm>
          <a:prstGeom prst="roundRect">
            <a:avLst>
              <a:gd name="adj" fmla="val 8438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5664" y="1920240"/>
            <a:ext cx="501091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450" b="1" i="0">
                <a:solidFill>
                  <a:srgbClr val="028090"/>
                </a:solidFill>
                <a:latin typeface="Arial"/>
              </a:rPr>
              <a:t>Стандартизация подключения ≠ безопасность подключаемого — и усугубляет проблему доверия.</a:t>
            </a:r>
          </a:p>
        </p:txBody>
      </p:sp>
      <p:sp>
        <p:nvSpPr>
          <p:cNvPr id="26" name="Oval 25"/>
          <p:cNvSpPr/>
          <p:nvPr/>
        </p:nvSpPr>
        <p:spPr>
          <a:xfrm>
            <a:off x="6473952" y="2761488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11696" y="2697480"/>
            <a:ext cx="473659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код в вашем окружении / доступ к данным</a:t>
            </a:r>
          </a:p>
        </p:txBody>
      </p:sp>
      <p:sp>
        <p:nvSpPr>
          <p:cNvPr id="28" name="Oval 27"/>
          <p:cNvSpPr/>
          <p:nvPr/>
        </p:nvSpPr>
        <p:spPr>
          <a:xfrm>
            <a:off x="6473952" y="3493008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11696" y="3429000"/>
            <a:ext cx="473659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описание попадает в контекст модели — носитель prompt injection (инъекция в промпт; разбор — s25)</a:t>
            </a:r>
          </a:p>
        </p:txBody>
      </p:sp>
      <p:sp>
        <p:nvSpPr>
          <p:cNvPr id="30" name="Oval 29"/>
          <p:cNvSpPr/>
          <p:nvPr/>
        </p:nvSpPr>
        <p:spPr>
          <a:xfrm>
            <a:off x="6473952" y="4224528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11696" y="4160520"/>
            <a:ext cx="473659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ещё одна граница доверия и retention-политика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440680"/>
            <a:ext cx="11201400" cy="80467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088" y="5495544"/>
            <a:ext cx="1079906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Удобство подключения — не аргумент за подключение. Аргумент — требование задачи и приемлемость новой границы доверия.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19088"/>
            <a:ext cx="11201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Принятие/масштаб экосистемы MCP — перепроверить ко дню лекции.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Цикл агента: plan → act → check → iterate.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42415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1">
                <a:solidFill>
                  <a:srgbClr val="065A82"/>
                </a:solidFill>
                <a:latin typeface="Arial"/>
              </a:rPr>
              <a:t>Агент — архитектура, где модель не делает один проход, а работает в цикле, сама определяя последовательность шагов.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72768"/>
            <a:ext cx="2670048" cy="3246120"/>
          </a:xfrm>
          <a:prstGeom prst="roundRect">
            <a:avLst>
              <a:gd name="adj" fmla="val 1141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00199" y="1792224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00199" y="17922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877824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СТАРТ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2395728"/>
            <a:ext cx="245059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816352"/>
            <a:ext cx="234086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формулирует следующий шаг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3566160"/>
            <a:ext cx="2340864" cy="11155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3639311"/>
            <a:ext cx="2157984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 i="1">
                <a:solidFill>
                  <a:srgbClr val="5B6678"/>
                </a:solidFill>
                <a:latin typeface="Arial"/>
              </a:rPr>
              <a:t>режим отказа: близорукий / зацикленный план (не видит накопленной стоимости)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182111" y="2139696"/>
            <a:ext cx="146304" cy="42062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355848" y="1572768"/>
            <a:ext cx="2670048" cy="3246120"/>
          </a:xfrm>
          <a:prstGeom prst="roundRect">
            <a:avLst>
              <a:gd name="adj" fmla="val 1141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453128" y="1792224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8" y="17922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5576" y="2395728"/>
            <a:ext cx="245059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816352"/>
            <a:ext cx="234086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вызывает инструмент (function calling)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20440" y="3566160"/>
            <a:ext cx="2340864" cy="11155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11880" y="3639311"/>
            <a:ext cx="2157984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 i="1">
                <a:solidFill>
                  <a:srgbClr val="5B6678"/>
                </a:solidFill>
                <a:latin typeface="Arial"/>
              </a:rPr>
              <a:t>режим отказа: инструмент падает / тормозит, а ветки на это нет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035040" y="2139696"/>
            <a:ext cx="146304" cy="42062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08776" y="1572768"/>
            <a:ext cx="2670048" cy="3246120"/>
          </a:xfrm>
          <a:prstGeom prst="roundRect">
            <a:avLst>
              <a:gd name="adj" fmla="val 11415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306056" y="1792224"/>
            <a:ext cx="475488" cy="47548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06056" y="17922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18504" y="2395728"/>
            <a:ext cx="245059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3368" y="2816352"/>
            <a:ext cx="234086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достигнута ли цель, корректен ли результат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73368" y="3566160"/>
            <a:ext cx="2340864" cy="111556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27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64808" y="3639311"/>
            <a:ext cx="2157984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 i="1">
                <a:solidFill>
                  <a:srgbClr val="21295C"/>
                </a:solidFill>
                <a:latin typeface="Arial"/>
              </a:rPr>
              <a:t>режим отказа: валидация против ВНЕШНЕГО критерия — не самооценка модели (callback s07)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8887968" y="2139696"/>
            <a:ext cx="146304" cy="42062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061704" y="1572768"/>
            <a:ext cx="2670048" cy="3246120"/>
          </a:xfrm>
          <a:prstGeom prst="roundRect">
            <a:avLst>
              <a:gd name="adj" fmla="val 1141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158984" y="1792224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58984" y="17922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71432" y="2395728"/>
            <a:ext cx="245059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Iterate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26296" y="2816352"/>
            <a:ext cx="234086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цикл повторяется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26296" y="3566160"/>
            <a:ext cx="2340864" cy="11155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17736" y="3639311"/>
            <a:ext cx="2157984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 i="1">
                <a:solidFill>
                  <a:srgbClr val="5B6678"/>
                </a:solidFill>
                <a:latin typeface="Arial"/>
              </a:rPr>
              <a:t>режим отказа: нет внешнего лимита на итерации / стоимость / время → петля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0396728" y="4818888"/>
            <a:ext cx="0" cy="502919"/>
          </a:xfrm>
          <a:prstGeom prst="line">
            <a:avLst/>
          </a:prstGeom>
          <a:ln w="3175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1837943" y="5321807"/>
            <a:ext cx="8558785" cy="0"/>
          </a:xfrm>
          <a:prstGeom prst="line">
            <a:avLst/>
          </a:prstGeom>
          <a:ln w="3175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37943" y="5001768"/>
            <a:ext cx="0" cy="320039"/>
          </a:xfrm>
          <a:prstGeom prst="line">
            <a:avLst/>
          </a:prstGeom>
          <a:ln w="3175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Up Arrow 38"/>
          <p:cNvSpPr/>
          <p:nvPr/>
        </p:nvSpPr>
        <p:spPr>
          <a:xfrm>
            <a:off x="1719072" y="4837175"/>
            <a:ext cx="237744" cy="219456"/>
          </a:xfrm>
          <a:prstGeom prst="up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014216" y="5138927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⟲  цикл ПОВТОРЯЕТСЯ — возврат к Plan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419088"/>
            <a:ext cx="11201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Паттерны цикла (ReAct, Reflexion, Plan-and-Execute) — в главе. Проектировать агента = проектировать защиту на каждом из 4 шагов.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Workflow vs Agent.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60704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1">
                <a:solidFill>
                  <a:srgbClr val="065A82"/>
                </a:solidFill>
                <a:latin typeface="Arial"/>
              </a:rPr>
              <a:t>Предсказуемая задача → workflow; непредсказуемая И ценность оправдывает кратный рост → агент.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27632"/>
            <a:ext cx="5532120" cy="2514600"/>
          </a:xfrm>
          <a:prstGeom prst="roundRect">
            <a:avLst>
              <a:gd name="adj" fmla="val 12121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it-fork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828800"/>
            <a:ext cx="45720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25880" y="1847088"/>
            <a:ext cx="47091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28090"/>
                </a:solidFill>
                <a:latin typeface="Arial"/>
              </a:rPr>
              <a:t>Workflow  (рабочий поток)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404872"/>
            <a:ext cx="502005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LLM и инструменты по предопределённым в коде путям</a:t>
            </a:r>
          </a:p>
        </p:txBody>
      </p:sp>
      <p:sp>
        <p:nvSpPr>
          <p:cNvPr id="8" name="Oval 7"/>
          <p:cNvSpPr/>
          <p:nvPr/>
        </p:nvSpPr>
        <p:spPr>
          <a:xfrm>
            <a:off x="758952" y="2962656"/>
            <a:ext cx="100584" cy="100584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2907791"/>
            <a:ext cx="4343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последовательность шагов известна заранее</a:t>
            </a:r>
          </a:p>
        </p:txBody>
      </p:sp>
      <p:sp>
        <p:nvSpPr>
          <p:cNvPr id="10" name="Oval 9"/>
          <p:cNvSpPr/>
          <p:nvPr/>
        </p:nvSpPr>
        <p:spPr>
          <a:xfrm>
            <a:off x="758952" y="3355848"/>
            <a:ext cx="100584" cy="100584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3300984"/>
            <a:ext cx="4343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предсказуемо, аудируемо</a:t>
            </a:r>
          </a:p>
        </p:txBody>
      </p:sp>
      <p:sp>
        <p:nvSpPr>
          <p:cNvPr id="12" name="Oval 11"/>
          <p:cNvSpPr/>
          <p:nvPr/>
        </p:nvSpPr>
        <p:spPr>
          <a:xfrm>
            <a:off x="758952" y="3749039"/>
            <a:ext cx="100584" cy="100584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3694176"/>
            <a:ext cx="4343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большинство надёжных продакшн-систем — это workflow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627632"/>
            <a:ext cx="5532120" cy="2514600"/>
          </a:xfrm>
          <a:prstGeom prst="roundRect">
            <a:avLst>
              <a:gd name="adj" fmla="val 1212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bot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8232" y="1828800"/>
            <a:ext cx="457200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995160" y="1847088"/>
            <a:ext cx="47091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Агент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2404872"/>
            <a:ext cx="502005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LLM динамически определяет собственный процесс</a:t>
            </a:r>
          </a:p>
        </p:txBody>
      </p:sp>
      <p:sp>
        <p:nvSpPr>
          <p:cNvPr id="18" name="Oval 17"/>
          <p:cNvSpPr/>
          <p:nvPr/>
        </p:nvSpPr>
        <p:spPr>
          <a:xfrm>
            <a:off x="6428232" y="2962656"/>
            <a:ext cx="100584" cy="10058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8544" y="2907791"/>
            <a:ext cx="4343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последовательность заранее не зафиксирована</a:t>
            </a:r>
          </a:p>
        </p:txBody>
      </p:sp>
      <p:sp>
        <p:nvSpPr>
          <p:cNvPr id="20" name="Oval 19"/>
          <p:cNvSpPr/>
          <p:nvPr/>
        </p:nvSpPr>
        <p:spPr>
          <a:xfrm>
            <a:off x="6428232" y="3355848"/>
            <a:ext cx="100584" cy="10058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3300984"/>
            <a:ext cx="4343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кратно больше токенов, чем чат</a:t>
            </a:r>
          </a:p>
        </p:txBody>
      </p:sp>
      <p:sp>
        <p:nvSpPr>
          <p:cNvPr id="22" name="Oval 21"/>
          <p:cNvSpPr/>
          <p:nvPr/>
        </p:nvSpPr>
        <p:spPr>
          <a:xfrm>
            <a:off x="6428232" y="3749039"/>
            <a:ext cx="100584" cy="10058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38544" y="3694176"/>
            <a:ext cx="4343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ниже аудируемость, выше риск петель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297680"/>
            <a:ext cx="11201400" cy="9601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389120"/>
            <a:ext cx="106527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Могу ли я заранее, до запуска, выписать последовательность шагов?  да (даже с ветвлениями) → workflow  ·  принципиально нет И ценность оправдывает кратные стоимость/риск → агент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413248"/>
            <a:ext cx="7818120" cy="84124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4088" y="5468112"/>
            <a:ext cx="7415784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Найди простейшее решение. «Лень формализовать» не делает задачу непредсказуемой.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03920" y="5413248"/>
            <a:ext cx="3200400" cy="84124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0" y="5486400"/>
            <a:ext cx="2834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5B6678"/>
                </a:solidFill>
                <a:latin typeface="Arial"/>
              </a:rPr>
              <a:t>Мульти-агент по умолчанию — не апгрейд (дебат — в главе)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Провалы агентов.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42415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Каждый провал — режим отказа цикла агента в датированном кейсе: урок + альтернатива.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17904"/>
            <a:ext cx="3703320" cy="4160520"/>
          </a:xfrm>
          <a:prstGeom prst="roundRect">
            <a:avLst>
              <a:gd name="adj" fmla="val 823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ame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719072"/>
            <a:ext cx="45720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52728" y="1737360"/>
            <a:ext cx="2788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1. Петля без лимитов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295144"/>
            <a:ext cx="326440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Агент на «синхронизируй заказы» получил HTTP 429 → план→вызов→429→…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182112"/>
            <a:ext cx="326440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0AB00"/>
                </a:solidFill>
                <a:latin typeface="Arial"/>
              </a:rPr>
              <a:t>$4 200 за 63 часа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849624"/>
            <a:ext cx="326440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1">
                <a:solidFill>
                  <a:srgbClr val="5B6678"/>
                </a:solidFill>
                <a:latin typeface="Arial"/>
              </a:rPr>
              <a:t>Почему: агент не «видит» ни стоимости, ни времени, ни повторяемости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4535424"/>
            <a:ext cx="326440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Правильно: задача предсказуема → retry-with-backoff скрипт, не агент; budget/loop-лимиты ВНЕ агента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517904"/>
            <a:ext cx="3703320" cy="41605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08576" y="1700784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2. Reliability compounding</a:t>
            </a:r>
          </a:p>
        </p:txBody>
      </p:sp>
      <p:pic>
        <p:nvPicPr>
          <p:cNvPr id="13" name="Picture 12" descr="c23-compound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5424" y="2218502"/>
            <a:ext cx="3410712" cy="206437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08576" y="4535424"/>
            <a:ext cx="326440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Вывод: «улучшить шаг» — слабый рычаг; «меньше хопов + валидация между шагами» — сильный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1517904"/>
            <a:ext cx="3429000" cy="4160520"/>
          </a:xfrm>
          <a:prstGeom prst="roundRect">
            <a:avLst>
              <a:gd name="adj" fmla="val 888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git-fork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6488" y="1719072"/>
            <a:ext cx="420624" cy="4206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970264" y="1719072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3. Мульти-агентная хрупкость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94776" y="2386584"/>
            <a:ext cx="2990088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зависимые подзадачи → параллельные субагенты принимают конфликтующие неявные решения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4776" y="3986784"/>
            <a:ext cx="2990088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Правильно: single-threaded линейный агент; мульти-агент — только широко-параллельное независимое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19088"/>
            <a:ext cx="11201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$4 200-петля — single-author постмортем 2026-04 (illustrative, числа округлены); reliability compounding — MindStudio 2025–2026.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35240" y="502920"/>
            <a:ext cx="4206240" cy="5120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8000" b="1" i="0">
                <a:solidFill>
                  <a:srgbClr val="D9E2EC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675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4 · БЕЗОПАСНОСТЬ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75104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85800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800" b="1" i="0">
                <a:solidFill>
                  <a:srgbClr val="21295C"/>
                </a:solidFill>
                <a:latin typeface="Arial"/>
              </a:rPr>
              <a:t>Кто видит данные в цепочке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114800"/>
            <a:ext cx="676656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Разобрали, надёжен ли агент. Теперь — другой вопрос: агент действует через инструменты и внешние API, так кто видит ваши данные и кто может прислать команду?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91156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46020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6020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Промпт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9392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4255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5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RAG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7628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22492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2492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Fine-tune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5864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10728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0728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API · агенты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44100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98964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98964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Кто видит данные в цепочке.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42415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Каждое звено — своя граница доверия и своя retention-политика. Данные за периметром живут не по вашим правилам.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27632"/>
            <a:ext cx="11201400" cy="1627632"/>
          </a:xfrm>
          <a:prstGeom prst="roundRect">
            <a:avLst>
              <a:gd name="adj" fmla="val 187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938528"/>
            <a:ext cx="1591056" cy="786384"/>
          </a:xfrm>
          <a:prstGeom prst="roundRect">
            <a:avLst>
              <a:gd name="adj" fmla="val 14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ser-check-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4168" y="2029968"/>
            <a:ext cx="256032" cy="2560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2340864"/>
            <a:ext cx="159105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ваши данные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340864" y="2194560"/>
            <a:ext cx="202996" cy="27432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62148" y="1938528"/>
            <a:ext cx="1591056" cy="786384"/>
          </a:xfrm>
          <a:prstGeom prst="roundRect">
            <a:avLst>
              <a:gd name="adj" fmla="val 14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ot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4796" y="2029968"/>
            <a:ext cx="256032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562148" y="2340864"/>
            <a:ext cx="159105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агент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71492" y="2194560"/>
            <a:ext cx="202996" cy="27432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92777" y="1938528"/>
            <a:ext cx="1591056" cy="786384"/>
          </a:xfrm>
          <a:prstGeom prst="roundRect">
            <a:avLst>
              <a:gd name="adj" fmla="val 14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erminal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5425" y="2029968"/>
            <a:ext cx="256032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92777" y="2340864"/>
            <a:ext cx="159105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инструмент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002121" y="2194560"/>
            <a:ext cx="202996" cy="27432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23406" y="1938528"/>
            <a:ext cx="1591056" cy="786384"/>
          </a:xfrm>
          <a:prstGeom prst="roundRect">
            <a:avLst>
              <a:gd name="adj" fmla="val 14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able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36054" y="2029968"/>
            <a:ext cx="256032" cy="25603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23406" y="2340864"/>
            <a:ext cx="159105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внешний API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832750" y="2194560"/>
            <a:ext cx="202996" cy="27432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054035" y="1938528"/>
            <a:ext cx="1591056" cy="786384"/>
          </a:xfrm>
          <a:prstGeom prst="roundRect">
            <a:avLst>
              <a:gd name="adj" fmla="val 14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atabase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66683" y="2029968"/>
            <a:ext cx="256032" cy="25603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054035" y="2340864"/>
            <a:ext cx="159105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провайдер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9663379" y="2194560"/>
            <a:ext cx="202996" cy="27432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884664" y="1938528"/>
            <a:ext cx="1591056" cy="786384"/>
          </a:xfrm>
          <a:prstGeom prst="roundRect">
            <a:avLst>
              <a:gd name="adj" fmla="val 14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link-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97312" y="2029968"/>
            <a:ext cx="256032" cy="25603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84664" y="2340864"/>
            <a:ext cx="159105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подрядчики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2944368"/>
            <a:ext cx="10744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золото = вы (точка отсчёта); каждая стрелка — новая retention-граница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3474720"/>
            <a:ext cx="553212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gavel-mi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8952" y="3675887"/>
            <a:ext cx="420624" cy="42062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325880" y="3694176"/>
            <a:ext cx="45262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Судебный приказ переживает вашу политику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" y="4261104"/>
            <a:ext cx="5074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суд может обязать хранить логи поверх договорных «30 дней» (NYT v. OpenAI)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72200" y="3474720"/>
            <a:ext cx="553212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eye-off-mi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3675887"/>
            <a:ext cx="420624" cy="42062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995160" y="3694176"/>
            <a:ext cx="45262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ZDR покрывает не всё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4261104"/>
            <a:ext cx="5074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вне ZDR: third-party, Files, batch, MCP — а агент это и есть third-party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102352"/>
            <a:ext cx="11201400" cy="84124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088" y="5157216"/>
            <a:ext cx="10799064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«У нас ZDR» ≠ «нигде ничего не хранится». Контрмера — карта данных по каждой фиче, не галочка. Регулируемое — не слать без ZDR/BAA.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19088"/>
            <a:ext cx="11201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ZDR (Zero Data Retention) — провайдер не хранит содержимое; least-privilege — минимум прав. BAA — договор об обработке. Хронология retention — в главе.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Атаки через инструменты.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42415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1">
                <a:solidFill>
                  <a:srgbClr val="065A82"/>
                </a:solidFill>
                <a:latin typeface="Arial"/>
              </a:rPr>
              <a:t>Prompt injection (инъекция в промпт) — текст во внешних данных модель интерпретирует как инструкцию. Модель не отличает «данные» от «команды».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55648"/>
            <a:ext cx="5989320" cy="361188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1661160" cy="877824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661160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недоверенный
контент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410968" y="2286000"/>
            <a:ext cx="237744" cy="3657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667000" y="2011680"/>
            <a:ext cx="1661160" cy="877824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67000" y="2011680"/>
            <a:ext cx="1661160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контекст
модели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346448" y="2286000"/>
            <a:ext cx="237744" cy="3657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02480" y="2011680"/>
            <a:ext cx="1661160" cy="877824"/>
          </a:xfrm>
          <a:prstGeom prst="roundRect">
            <a:avLst>
              <a:gd name="adj" fmla="val 12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02480" y="2011680"/>
            <a:ext cx="1661160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исполняется
как команда</a:t>
            </a:r>
          </a:p>
        </p:txBody>
      </p:sp>
      <p:pic>
        <p:nvPicPr>
          <p:cNvPr id="13" name="Picture 12" descr="triangle-alert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3145536"/>
            <a:ext cx="365760" cy="3657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71016" y="3127248"/>
            <a:ext cx="49834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GitHub MCP heist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3547872"/>
            <a:ext cx="5495544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issue с инструкцией + переизбыточный токен → ассистент выгрузил приватные репозитории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" y="4462272"/>
            <a:ext cx="5477256" cy="7315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4517136"/>
            <a:ext cx="514807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Катастрофа = инъекция × широкие права. Убери любой из двух — атака не проходит.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20840" y="1755648"/>
            <a:ext cx="4983480" cy="3611880"/>
          </a:xfrm>
          <a:prstGeom prst="roundRect">
            <a:avLst>
              <a:gd name="adj" fmla="val 8438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6872" y="1938528"/>
            <a:ext cx="447141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4 правила проектирования</a:t>
            </a:r>
          </a:p>
        </p:txBody>
      </p:sp>
      <p:sp>
        <p:nvSpPr>
          <p:cNvPr id="20" name="Oval 19"/>
          <p:cNvSpPr/>
          <p:nvPr/>
        </p:nvSpPr>
        <p:spPr>
          <a:xfrm>
            <a:off x="6976872" y="2414016"/>
            <a:ext cx="292608" cy="29260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76872" y="2414016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79208" y="2377440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Least-privilege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9208" y="2688336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5B6678"/>
                </a:solidFill>
                <a:latin typeface="Arial"/>
              </a:rPr>
              <a:t>минимально необходимые токены/доступы</a:t>
            </a:r>
          </a:p>
        </p:txBody>
      </p:sp>
      <p:sp>
        <p:nvSpPr>
          <p:cNvPr id="24" name="Oval 23"/>
          <p:cNvSpPr/>
          <p:nvPr/>
        </p:nvSpPr>
        <p:spPr>
          <a:xfrm>
            <a:off x="6976872" y="3145536"/>
            <a:ext cx="292608" cy="29260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76872" y="3145536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9208" y="3108960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Изоляция недоверенного контента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79208" y="3419856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5B6678"/>
                </a:solidFill>
                <a:latin typeface="Arial"/>
              </a:rPr>
              <a:t>отдельно от привилегий</a:t>
            </a:r>
          </a:p>
        </p:txBody>
      </p:sp>
      <p:sp>
        <p:nvSpPr>
          <p:cNvPr id="28" name="Oval 27"/>
          <p:cNvSpPr/>
          <p:nvPr/>
        </p:nvSpPr>
        <p:spPr>
          <a:xfrm>
            <a:off x="6976872" y="3877056"/>
            <a:ext cx="292608" cy="29260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6872" y="3877056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79208" y="3840480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Human-in-the-loop на write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79208" y="4151376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5B6678"/>
                </a:solidFill>
                <a:latin typeface="Arial"/>
              </a:rPr>
              <a:t>необратимое только через подтверждение человека</a:t>
            </a:r>
          </a:p>
        </p:txBody>
      </p:sp>
      <p:sp>
        <p:nvSpPr>
          <p:cNvPr id="32" name="Oval 31"/>
          <p:cNvSpPr/>
          <p:nvPr/>
        </p:nvSpPr>
        <p:spPr>
          <a:xfrm>
            <a:off x="6976872" y="4608576"/>
            <a:ext cx="292608" cy="29260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76872" y="4608576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79208" y="4572000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Allowlist / pin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79208" y="4882896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5B6678"/>
                </a:solidFill>
                <a:latin typeface="Arial"/>
              </a:rPr>
              <a:t>только аудированные; фиксировать версии/хеши; deny-by-default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19088"/>
            <a:ext cx="11201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Tool poisoning / rug-pull и полная CVE-хронология MCP-инцидентов — в главе/notes, не на видимом слое.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35240" y="502920"/>
            <a:ext cx="4206240" cy="5120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8000" b="1" i="0">
                <a:solidFill>
                  <a:srgbClr val="D9E2EC"/>
                </a:solidFill>
                <a:latin typeface="Arial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675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5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75104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85800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800" b="1" i="0">
                <a:solidFill>
                  <a:srgbClr val="21295C"/>
                </a:solidFill>
                <a:latin typeface="Arial"/>
              </a:rPr>
              <a:t>Как выбрать: фреймворк решения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160520"/>
            <a:ext cx="676656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Мы разобрали все архитектуры по отдельности — и где каждая проваливается. Теперь соберём это в один инструмент выбора.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91156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46020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6020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Промпт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9392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4255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5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RAG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7628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22492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2492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Fine-tune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5864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10728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0728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API · агенты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44100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98964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98964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Лестница архитектурной сложности.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42415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1">
                <a:solidFill>
                  <a:srgbClr val="065A82"/>
                </a:solidFill>
                <a:latin typeface="Arial"/>
              </a:rPr>
              <a:t>Оставайся на нижней ступени; поднимайся только под требование задачи.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5577840"/>
            <a:ext cx="7360920" cy="475488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12648" y="5660136"/>
            <a:ext cx="310896" cy="310896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56601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5577840"/>
            <a:ext cx="670255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Обычный код (без ИИ)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57800"/>
            <a:ext cx="69037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Arial"/>
              </a:rPr>
              <a:t>↑  нужен NL / неструктурированный ввод / неточное соответствие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" y="4791455"/>
            <a:ext cx="7214616" cy="47548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4873751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4873751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9576" y="4791455"/>
            <a:ext cx="655624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Один вызов LLM (промпт; +CoT, +few-shot)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4471416"/>
            <a:ext cx="69037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Arial"/>
              </a:rPr>
              <a:t>↑  знание большое И меняющееся И провенанс И приватное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" y="4005071"/>
            <a:ext cx="7068312" cy="47548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05256" y="4087367"/>
            <a:ext cx="310896" cy="310896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4087367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005071"/>
            <a:ext cx="640994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RAG / контекст-инжиниринг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685031"/>
            <a:ext cx="69037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Arial"/>
              </a:rPr>
              <a:t>↑  задача многошаговая, последовательность известна заранее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1832" y="3218687"/>
            <a:ext cx="6922008" cy="47548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51560" y="3300983"/>
            <a:ext cx="310896" cy="310896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300983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72184" y="3218687"/>
            <a:ext cx="626364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Workflow (предопределённые пути)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2898648"/>
            <a:ext cx="69037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Arial"/>
              </a:rPr>
              <a:t>↑  непредсказуема И ценность оправдывает кратные стоимость/риск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88136" y="2432303"/>
            <a:ext cx="6775704" cy="47548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97864" y="2514599"/>
            <a:ext cx="310896" cy="310896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97864" y="251459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18488" y="2432303"/>
            <a:ext cx="611733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Агент (plan→act→check→iterate + лимиты)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62456" y="2112263"/>
            <a:ext cx="69037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Arial"/>
              </a:rPr>
              <a:t>↑  подзадачи широко-параллельны И независимы И высокоценны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234440" y="1645919"/>
            <a:ext cx="6629400" cy="47548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344168" y="1728215"/>
            <a:ext cx="310896" cy="310896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44168" y="1728215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64792" y="1645919"/>
            <a:ext cx="597103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Multi-agent</a:t>
            </a:r>
          </a:p>
        </p:txBody>
      </p:sp>
      <p:sp>
        <p:nvSpPr>
          <p:cNvPr id="33" name="Up Arrow 32"/>
          <p:cNvSpPr/>
          <p:nvPr/>
        </p:nvSpPr>
        <p:spPr>
          <a:xfrm>
            <a:off x="7918704" y="1810512"/>
            <a:ext cx="237744" cy="4224528"/>
          </a:xfrm>
          <a:prstGeom prst="upArrow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89520" y="1444752"/>
            <a:ext cx="914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сложнее 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89520" y="6053328"/>
            <a:ext cx="914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проще ↓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366760" y="1417320"/>
            <a:ext cx="3337560" cy="4617720"/>
          </a:xfrm>
          <a:prstGeom prst="roundRect">
            <a:avLst>
              <a:gd name="adj" fmla="val 9132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milestone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3648" y="1691640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613648" y="2468880"/>
            <a:ext cx="288036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Оставайся на самой нижней ступени, которая закрывает требования.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13648" y="4069080"/>
            <a:ext cx="2880360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Каждый подъём — это ОБМЕН (возможности ↔ стоимость, латентность, аудируемость, поверхность атаки), а не улучшение.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419088"/>
            <a:ext cx="11201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Нижняя ступень — «обычный код без ИИ»: лестница начинается с вопроса «а нужен ли ИИ вообще».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Матрица выбора.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86384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065A82"/>
                </a:solidFill>
                <a:latin typeface="Arial"/>
              </a:rPr>
              <a:t>Матрица — структура для аргумента, не сумма баллов. Заливка: золото = сильная сторона, бирюза = слабая.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24128"/>
            <a:ext cx="11475720" cy="4096511"/>
          </a:xfrm>
          <a:prstGeom prst="roundRect">
            <a:avLst>
              <a:gd name="adj" fmla="val 744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33856"/>
            <a:ext cx="2468880" cy="694944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33856"/>
            <a:ext cx="2304288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Критерий ↓</a:t>
            </a:r>
          </a:p>
        </p:txBody>
      </p:sp>
      <p:sp>
        <p:nvSpPr>
          <p:cNvPr id="7" name="Rectangle 6"/>
          <p:cNvSpPr/>
          <p:nvPr/>
        </p:nvSpPr>
        <p:spPr>
          <a:xfrm>
            <a:off x="2971800" y="1133856"/>
            <a:ext cx="1783080" cy="69494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rminal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1315" y="1216152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08376" y="1517904"/>
            <a:ext cx="170992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Промпт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1133856"/>
            <a:ext cx="1783080" cy="69494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database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4396" y="121615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91456" y="1517904"/>
            <a:ext cx="170992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RAG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37960" y="1133856"/>
            <a:ext cx="1783080" cy="69494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it-branch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7476" y="1216152"/>
            <a:ext cx="274320" cy="274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74536" y="1517904"/>
            <a:ext cx="170992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Fine-tune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21040" y="1133856"/>
            <a:ext cx="1783080" cy="69494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bot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20555" y="121615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57615" y="1517904"/>
            <a:ext cx="170992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Агент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04119" y="1133856"/>
            <a:ext cx="1783080" cy="69494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-check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03635" y="1216152"/>
            <a:ext cx="274320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140695" y="1517904"/>
            <a:ext cx="170992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Код (без ИИ)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1828800"/>
            <a:ext cx="2468880" cy="640080"/>
          </a:xfrm>
          <a:prstGeom prst="rect">
            <a:avLst/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" y="18288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Знание
большое / меняется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71800" y="1828800"/>
            <a:ext cx="1783080" cy="640080"/>
          </a:xfrm>
          <a:prstGeom prst="rect">
            <a:avLst/>
          </a:prstGeom>
          <a:solidFill>
            <a:srgbClr val="02809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17520" y="182880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мало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0" y="1828800"/>
            <a:ext cx="1783080" cy="640080"/>
          </a:xfrm>
          <a:prstGeom prst="rect">
            <a:avLst/>
          </a:prstGeom>
          <a:solidFill>
            <a:srgbClr val="F0AB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00600" y="182880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37960" y="1828800"/>
            <a:ext cx="1783080" cy="640080"/>
          </a:xfrm>
          <a:prstGeom prst="rect">
            <a:avLst/>
          </a:prstGeom>
          <a:solidFill>
            <a:srgbClr val="02809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0" y="182880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нет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21040" y="1828800"/>
            <a:ext cx="1783080" cy="640080"/>
          </a:xfrm>
          <a:prstGeom prst="rect">
            <a:avLst/>
          </a:prstGeom>
          <a:solidFill>
            <a:srgbClr val="F4F7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66760" y="182880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0" i="0">
                <a:solidFill>
                  <a:srgbClr val="5B6678"/>
                </a:solidFill>
                <a:latin typeface="Arial"/>
              </a:rPr>
              <a:t>через RAG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04119" y="1828800"/>
            <a:ext cx="1783080" cy="640080"/>
          </a:xfrm>
          <a:prstGeom prst="rect">
            <a:avLst/>
          </a:prstGeom>
          <a:solidFill>
            <a:srgbClr val="F4F7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49840" y="182880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0" i="0">
                <a:solidFill>
                  <a:srgbClr val="5B6678"/>
                </a:solidFill>
                <a:latin typeface="Arial"/>
              </a:rPr>
              <a:t>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2468880"/>
            <a:ext cx="2468880" cy="640080"/>
          </a:xfrm>
          <a:prstGeom prst="rect">
            <a:avLst/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2648" y="246888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Свежесть /
провенанс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71800" y="2468880"/>
            <a:ext cx="1783080" cy="640080"/>
          </a:xfrm>
          <a:prstGeom prst="rect">
            <a:avLst/>
          </a:prstGeom>
          <a:solidFill>
            <a:srgbClr val="02809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017520" y="246888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нет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880" y="2468880"/>
            <a:ext cx="1783080" cy="640080"/>
          </a:xfrm>
          <a:prstGeom prst="rect">
            <a:avLst/>
          </a:prstGeom>
          <a:solidFill>
            <a:srgbClr val="F0AB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00600" y="246888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да + цитата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37960" y="2468880"/>
            <a:ext cx="1783080" cy="640080"/>
          </a:xfrm>
          <a:prstGeom prst="rect">
            <a:avLst/>
          </a:prstGeom>
          <a:solidFill>
            <a:srgbClr val="02809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0" y="246888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нет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21040" y="2468880"/>
            <a:ext cx="1783080" cy="640080"/>
          </a:xfrm>
          <a:prstGeom prst="rect">
            <a:avLst/>
          </a:prstGeom>
          <a:solidFill>
            <a:srgbClr val="F0AB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66760" y="246888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да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104119" y="2468880"/>
            <a:ext cx="1783080" cy="640080"/>
          </a:xfrm>
          <a:prstGeom prst="rect">
            <a:avLst/>
          </a:prstGeom>
          <a:solidFill>
            <a:srgbClr val="F0AB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49840" y="246888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детерм.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108960"/>
            <a:ext cx="2468880" cy="640080"/>
          </a:xfrm>
          <a:prstGeom prst="rect">
            <a:avLst/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2648" y="310896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Стоимость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71800" y="3108960"/>
            <a:ext cx="1783080" cy="640080"/>
          </a:xfrm>
          <a:prstGeom prst="rect">
            <a:avLst/>
          </a:prstGeom>
          <a:solidFill>
            <a:srgbClr val="F0AB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17520" y="310896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низкая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754880" y="3108960"/>
            <a:ext cx="1783080" cy="640080"/>
          </a:xfrm>
          <a:prstGeom prst="rect">
            <a:avLst/>
          </a:prstGeom>
          <a:solidFill>
            <a:srgbClr val="F4F7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800600" y="310896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0" i="0">
                <a:solidFill>
                  <a:srgbClr val="5B6678"/>
                </a:solidFill>
                <a:latin typeface="Arial"/>
              </a:rPr>
              <a:t>средняя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37960" y="3108960"/>
            <a:ext cx="1783080" cy="640080"/>
          </a:xfrm>
          <a:prstGeom prst="rect">
            <a:avLst/>
          </a:prstGeom>
          <a:solidFill>
            <a:srgbClr val="02809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0" y="310896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высокая разово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321040" y="3108960"/>
            <a:ext cx="1783080" cy="640080"/>
          </a:xfrm>
          <a:prstGeom prst="rect">
            <a:avLst/>
          </a:prstGeom>
          <a:solidFill>
            <a:srgbClr val="02809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366760" y="310896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кратно выше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104119" y="3108960"/>
            <a:ext cx="1783080" cy="640080"/>
          </a:xfrm>
          <a:prstGeom prst="rect">
            <a:avLst/>
          </a:prstGeom>
          <a:solidFill>
            <a:srgbClr val="F0AB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149840" y="310896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минимум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3749040"/>
            <a:ext cx="2468880" cy="640080"/>
          </a:xfrm>
          <a:prstGeom prst="rect">
            <a:avLst/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2648" y="374904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Аудируемость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971800" y="3749040"/>
            <a:ext cx="1783080" cy="640080"/>
          </a:xfrm>
          <a:prstGeom prst="rect">
            <a:avLst/>
          </a:prstGeom>
          <a:solidFill>
            <a:srgbClr val="F4F7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017520" y="374904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0" i="0">
                <a:solidFill>
                  <a:srgbClr val="5B6678"/>
                </a:solidFill>
                <a:latin typeface="Arial"/>
              </a:rPr>
              <a:t>средняя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54880" y="3749040"/>
            <a:ext cx="1783080" cy="640080"/>
          </a:xfrm>
          <a:prstGeom prst="rect">
            <a:avLst/>
          </a:prstGeom>
          <a:solidFill>
            <a:srgbClr val="F0AB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800600" y="374904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высокая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537960" y="3749040"/>
            <a:ext cx="1783080" cy="640080"/>
          </a:xfrm>
          <a:prstGeom prst="rect">
            <a:avLst/>
          </a:prstGeom>
          <a:solidFill>
            <a:srgbClr val="02809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583680" y="374904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низкая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321040" y="3749040"/>
            <a:ext cx="1783080" cy="640080"/>
          </a:xfrm>
          <a:prstGeom prst="rect">
            <a:avLst/>
          </a:prstGeom>
          <a:solidFill>
            <a:srgbClr val="02809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366760" y="374904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низкая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104119" y="3749040"/>
            <a:ext cx="1783080" cy="640080"/>
          </a:xfrm>
          <a:prstGeom prst="rect">
            <a:avLst/>
          </a:prstGeom>
          <a:solidFill>
            <a:srgbClr val="F0AB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149840" y="374904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полная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2920" y="4389120"/>
            <a:ext cx="2468880" cy="640080"/>
          </a:xfrm>
          <a:prstGeom prst="rect">
            <a:avLst/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12648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Недетерминизм /
риск петель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71800" y="4389120"/>
            <a:ext cx="1783080" cy="640080"/>
          </a:xfrm>
          <a:prstGeom prst="rect">
            <a:avLst/>
          </a:prstGeom>
          <a:solidFill>
            <a:srgbClr val="F0AB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17520" y="438912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низкий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54880" y="4389120"/>
            <a:ext cx="1783080" cy="640080"/>
          </a:xfrm>
          <a:prstGeom prst="rect">
            <a:avLst/>
          </a:prstGeom>
          <a:solidFill>
            <a:srgbClr val="F0AB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800600" y="438912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низкий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537960" y="4389120"/>
            <a:ext cx="1783080" cy="640080"/>
          </a:xfrm>
          <a:prstGeom prst="rect">
            <a:avLst/>
          </a:prstGeom>
          <a:solidFill>
            <a:srgbClr val="F0AB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583680" y="438912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низкий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21040" y="4389120"/>
            <a:ext cx="1783080" cy="640080"/>
          </a:xfrm>
          <a:prstGeom prst="rect">
            <a:avLst/>
          </a:prstGeom>
          <a:solidFill>
            <a:srgbClr val="02809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366760" y="438912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высокий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104119" y="4389120"/>
            <a:ext cx="1783080" cy="640080"/>
          </a:xfrm>
          <a:prstGeom prst="rect">
            <a:avLst/>
          </a:prstGeom>
          <a:solidFill>
            <a:srgbClr val="F0AB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149840" y="438912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нет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65760" y="5212080"/>
            <a:ext cx="11475720" cy="1243583"/>
          </a:xfrm>
          <a:prstGeom prst="roundRect">
            <a:avLst>
              <a:gd name="adj" fmla="val 8000"/>
            </a:avLst>
          </a:prstGeom>
          <a:solidFill>
            <a:srgbClr val="FDF3DC"/>
          </a:solidFill>
          <a:ln w="381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check-check-gol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656" y="5596128"/>
            <a:ext cx="475488" cy="475488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1371600" y="5340096"/>
            <a:ext cx="10195560" cy="9875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Детерминированная, верифицируемая, повторяемая задача → обычный код, без ИИ. ИИ добавил бы лишь недетерминизм + стоимость + латентность + поверхность для prompt injection.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Чек-лист «прежде чем строить».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34440"/>
            <a:ext cx="6446520" cy="4983480"/>
          </a:xfrm>
          <a:prstGeom prst="roundRect">
            <a:avLst>
              <a:gd name="adj" fmla="val 611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58952" y="1545336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" y="15453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9576" y="1508760"/>
            <a:ext cx="5532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Решается обычным кодом (детерм., верифиц.)? → не добавляй ИИ</a:t>
            </a:r>
          </a:p>
        </p:txBody>
      </p:sp>
      <p:sp>
        <p:nvSpPr>
          <p:cNvPr id="7" name="Oval 6"/>
          <p:cNvSpPr/>
          <p:nvPr/>
        </p:nvSpPr>
        <p:spPr>
          <a:xfrm>
            <a:off x="758952" y="2116836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21168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" y="2080260"/>
            <a:ext cx="5532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Хватит одного промпта (+few-shot/CoT)? → остановись здесь</a:t>
            </a:r>
          </a:p>
        </p:txBody>
      </p:sp>
      <p:sp>
        <p:nvSpPr>
          <p:cNvPr id="10" name="Oval 9"/>
          <p:cNvSpPr/>
          <p:nvPr/>
        </p:nvSpPr>
        <p:spPr>
          <a:xfrm>
            <a:off x="758952" y="2688336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6883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9576" y="2651760"/>
            <a:ext cx="5532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Знание меняется / нужны свежесть, провенанс? → RAG, не FT</a:t>
            </a:r>
          </a:p>
        </p:txBody>
      </p:sp>
      <p:sp>
        <p:nvSpPr>
          <p:cNvPr id="13" name="Oval 12"/>
          <p:cNvSpPr/>
          <p:nvPr/>
        </p:nvSpPr>
        <p:spPr>
          <a:xfrm>
            <a:off x="758952" y="3259836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32598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9576" y="3223260"/>
            <a:ext cx="5532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Нужно стабильное поведение / тон / формат? → fine-tuning (PEFT)</a:t>
            </a:r>
          </a:p>
        </p:txBody>
      </p:sp>
      <p:sp>
        <p:nvSpPr>
          <p:cNvPr id="16" name="Oval 15"/>
          <p:cNvSpPr/>
          <p:nvPr/>
        </p:nvSpPr>
        <p:spPr>
          <a:xfrm>
            <a:off x="758952" y="3831336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38313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9576" y="3794760"/>
            <a:ext cx="5532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Корпус влезает в окно и стабилен? → длинный контекст + кэш</a:t>
            </a:r>
          </a:p>
        </p:txBody>
      </p:sp>
      <p:sp>
        <p:nvSpPr>
          <p:cNvPr id="19" name="Oval 18"/>
          <p:cNvSpPr/>
          <p:nvPr/>
        </p:nvSpPr>
        <p:spPr>
          <a:xfrm>
            <a:off x="758952" y="4402836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" y="44028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9576" y="4366260"/>
            <a:ext cx="5532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Предсказуема → workflow. Непредсказуема и ценна → агент+лимиты</a:t>
            </a:r>
          </a:p>
        </p:txBody>
      </p:sp>
      <p:sp>
        <p:nvSpPr>
          <p:cNvPr id="22" name="Oval 21"/>
          <p:cNvSpPr/>
          <p:nvPr/>
        </p:nvSpPr>
        <p:spPr>
          <a:xfrm>
            <a:off x="758952" y="4974336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" y="49743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79576" y="4937760"/>
            <a:ext cx="5532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Подзадачи независимы и параллельны? → мульти-агент; иначе линейный</a:t>
            </a:r>
          </a:p>
        </p:txBody>
      </p:sp>
      <p:sp>
        <p:nvSpPr>
          <p:cNvPr id="25" name="Oval 24"/>
          <p:cNvSpPr/>
          <p:nvPr/>
        </p:nvSpPr>
        <p:spPr>
          <a:xfrm>
            <a:off x="758952" y="5545836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" y="55458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9576" y="5509260"/>
            <a:ext cx="5532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Данные чувствительны? → карта данных + least-privilege + ZDR/BAA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78040" y="1234440"/>
            <a:ext cx="4526280" cy="1828800"/>
          </a:xfrm>
          <a:prstGeom prst="roundRect">
            <a:avLst>
              <a:gd name="adj" fmla="val 16666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15783" y="1371600"/>
            <a:ext cx="405079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Worked example (задача A)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15783" y="1700784"/>
            <a:ext cx="4050791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«2000 регламентов, обновляются еженедельно, ответ со ссылкой на пункт» → шаги 3+8 → RAG со strict grounding. Причины: ось «частота изменений» + ось «провенанс»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78040" y="3200400"/>
            <a:ext cx="452628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15783" y="3328416"/>
            <a:ext cx="405079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Mini-apply (задача B)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15783" y="3648456"/>
            <a:ext cx="4050791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«бот техподдержки на ~150 коротких FAQ, меняются раз в квартал, ответы из утверждённых формулировок» — пройдите чек-лист сами за 2 минуты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78040" y="5029200"/>
            <a:ext cx="4526280" cy="11887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79208" y="5084064"/>
            <a:ext cx="4123944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Сначала попытка — потом сверка. Сформулируйте ответ (архитектура + ≥2 причины по осям + ≥1 условие смены) ДО разбора.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Человек-валидатор + урок MIT NANDA.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5989320" cy="4069080"/>
          </a:xfrm>
          <a:prstGeom prst="roundRect">
            <a:avLst>
              <a:gd name="adj" fmla="val 749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ser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1499616"/>
            <a:ext cx="512064" cy="5120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80744" y="1517904"/>
            <a:ext cx="49377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Агент делает — человек проверяет результат и факты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2304288"/>
            <a:ext cx="109728" cy="10972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4984" y="2240280"/>
            <a:ext cx="522122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против независимого источника истины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3054096"/>
            <a:ext cx="109728" cy="10972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4" y="2990088"/>
            <a:ext cx="522122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на значимых решениях — ДО того, как станет действием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803904"/>
            <a:ext cx="109728" cy="10972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4" y="3739896"/>
            <a:ext cx="522122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НЕ «убедительно ли звучит рассуждение» (callback s07: self-rationale ≠ контроль)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553712"/>
            <a:ext cx="109728" cy="10972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" y="4489704"/>
            <a:ext cx="522122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это шаг check цикла агента + пункт 8 чек-листа + human-in-the-loop на write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20840" y="1280160"/>
            <a:ext cx="4983480" cy="2834640"/>
          </a:xfrm>
          <a:prstGeom prst="roundRect">
            <a:avLst>
              <a:gd name="adj" fmla="val 10752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29-nan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1754504"/>
            <a:ext cx="2240280" cy="184023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235440" y="1600200"/>
            <a:ext cx="22402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i="0">
                <a:solidFill>
                  <a:srgbClr val="F0AB00"/>
                </a:solidFill>
                <a:latin typeface="Arial"/>
              </a:rPr>
              <a:t>~95%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2468880"/>
            <a:ext cx="224028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корпоративных GenAI-пилотов без измеримого ROI — корень в learning gap и провале интеграции, не в качестве модели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20840" y="4251960"/>
            <a:ext cx="4983480" cy="109728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58583" y="4370831"/>
            <a:ext cx="4507992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«Запустить ИИ» ≠ «получить ценность». Решает архитектурно-интеграционная дисциплина. Иногда правильный ответ — простейшая архитектура или не-ИИ.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19088"/>
            <a:ext cx="11201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MIT NANDA, State of AI in Business 2025 — отчёт с методологией (150 интервью + 350 опрос + 300 внедрений), не универсальный закон.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AI-архитектура — несущая ось отраслевых лекций.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88720"/>
            <a:ext cx="1120140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out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426464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99032" y="1371600"/>
            <a:ext cx="101041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Модуль 1 закрыт:  Л1 (что такое AI) → Л2 (почему промпт работает) → Л3 (как собрать систему и КАК ВЫБРАТЬ)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1865376"/>
            <a:ext cx="101041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Дальше — отраслевые Лекции 4–17: тот же вопрос в новой обёртке — «какая архитектура и почему именно она, и при каком условии ответ был бы другим»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880360"/>
            <a:ext cx="11201400" cy="2606040"/>
          </a:xfrm>
          <a:prstGeom prst="roundRect">
            <a:avLst>
              <a:gd name="adj" fmla="val 11695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lipboard-list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3154679"/>
            <a:ext cx="530352" cy="5303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53896" y="3136391"/>
            <a:ext cx="99761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Задание — Семинар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53896" y="3630168"/>
            <a:ext cx="997610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«Архитектурный выбор: чат / агент / RAG / API — 3 кейса»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4178808"/>
            <a:ext cx="1043330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Применить восьмишаговый чек-лист к 3 кейсам; для каждого: архитектура + ≥2 причины по осям матрицы + ≥1 условие смены выбора + критерий «здесь это было бы НЕ так».  Mini-apply задача B (s28) — разминка перед семинаром.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760720"/>
            <a:ext cx="11201400" cy="65836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" y="5815583"/>
            <a:ext cx="10799064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Аппарат для центрального вопроса собран — прогоняйте чек-лист на каждой отраслевой лекции.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201400" cy="2103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0" b="1" i="0">
                <a:solidFill>
                  <a:srgbClr val="21295C"/>
                </a:solidFill>
                <a:latin typeface="Arial"/>
              </a:rPr>
              <a:t>Вопросы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0"/>
            <a:ext cx="112014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0" i="0">
                <a:solidFill>
                  <a:srgbClr val="065A82"/>
                </a:solidFill>
                <a:latin typeface="Arial"/>
              </a:rPr>
              <a:t>Спасибо за внимание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0"/>
            <a:ext cx="11201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 i="1">
                <a:solidFill>
                  <a:srgbClr val="1C7293"/>
                </a:solidFill>
                <a:latin typeface="Arial"/>
              </a:rPr>
              <a:t>Семинар 3 «Архитектурный выбор» — на следующей неделе.  Дополнительные вопросы — на e-mail.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