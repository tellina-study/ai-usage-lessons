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главную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феврале 2024 года Гражданский трибунал провинции Британская Колумбия вынес решение по делу *Moffatt v. Air Canada*. Пассажир спросил чат-бота про тариф по случаю утраты близкого и получил ответ: купи по полной цене, верни разницу в 90 дней. Реальная политика этого не допускала — и была на той же странице, на которую бот ссылался. Авиакомпания защищалась тем, что чат-бот — «отдельное юридическое лицо, отвечающее за свои действия». Трибунал отверг это и обязал Air Canada компенсировать разницу: $812,02.</a:t>
            </a:r>
          </a:p>
          <a:p/>
          <a:p>
            <a:r>
              <a:t>Нас интересует инженерная сторона. Задача была элементарной: показать фиксированную политику тарифа. Для этого существует архитектура идеального решения: статическая страница или детерминированный lookup. Air Canada выбрала генеративный чат-бот — архитектуру, которая по своей природе способна сочинить несуществующую политику, потому что её работа — генерировать правдоподобный текст, не извлекать проверенный факт.</a:t>
            </a:r>
          </a:p>
          <a:p/>
          <a:p>
            <a:r>
              <a:t>Это не сбой модели. Это неправильный выбор архитектуры под задачу. Обратите внимание: трибунал формулирует ясно — компания отвечает за действия системы, бот не является отдельной сущностью, которая может ошибиться безо всяких последствий. Этот довод — «это ответил бот, а не мы» — встретится нам ещё в лекции применительно к другим компаниям; он нигде не сработал как защита. К этому кейсу вернёмся позже как к образцовому провалу grounding — привязки ответа к проверяемому источнику. Именно про выбор архитектуры — вся эта лекция, отвечающее за свои действия».</a:t>
            </a:r>
          </a:p>
          <a:p/>
          <a:p>
            <a:r>
              <a:t>Источники:</a:t>
            </a:r>
          </a:p>
          <a:p>
            <a:r>
              <a:t>[1] McCarthy Tétrault — Moffatt v. Air Canada (BC CRT, 14.02.2024) — бот выдумал политику возврата; трибунал: компания отвечает за ответ бота, отвечающее за свои действия». https://www.mccarthy.ca/en/insights/blogs/techlex/moffatt-v-air-canada-misrepresentation-ai-chatbot</a:t>
            </a:r>
          </a:p>
          <a:p>
            <a:r>
              <a:t>[2] ABA Business Law Today — компании отвечают за AI-чат-бота — «бот — не отдельное юр. лицо»: неправильный выбор архитектуры под задачу lookup.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самого конца: выбор архитектуры — это инженерное решение под конкретную задачу, а не следование моде. Часто правильный ответ — самая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самый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самый большой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самая базовая архитектура. Вокруг него — четыре обвязки, которые мы разберём. Первая — RAG: это и есть тот самый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самый мощный инструмент существует», а «достаточно ли самого простого, и если нет — то под какое именно требование задачи мы поднимаемся на ступень выше».</a:t>
            </a:r>
          </a:p>
          <a:p/>
          <a:p>
            <a:r>
              <a:t>Самая 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латентности и числа способов всё сломать. В этом разделе мы разберём четыре вещи: почему дефолт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Самая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латентность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самый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улучшают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улучшают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лучше,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улучшает»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лучше».</a:t>
            </a:r>
          </a:p>
          <a:p/>
          <a:p>
            <a:r>
              <a:t>Теперь предел этого приёма, и он важнее самого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Главный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самый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дефолт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«лучше, чем ничего».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самая важная.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главный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дефолт.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латентность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Главный 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лучше»,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большой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латентность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самая дорогая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апгрейд.</a:t>
            </a:r>
          </a:p>
          <a:p/>
          <a:p>
            <a:r>
              <a:t>Источники:</a:t>
            </a:r>
          </a:p>
          <a:p>
            <a:r>
              <a:t>[1] Anthropic — Building Effective Agents (workflow vs agent) — workflow = предопределённые пути; агент = динамический процесс; размен латентность/стоимость↔качество. https://www.anthropic.com/research/building-effective-agents</a:t>
            </a:r>
          </a:p>
          <a:p>
            <a:r>
              <a:t>[2] Cognition — Don't Build Multi-Agents — мульти-агент по умолчанию не апгрейд;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апгрейд, потому что это одна из самых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улучшенный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апгрейд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самого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улучшением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(лучшие результаты) до D (худшие)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лучшая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Самая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лучшую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лучше»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главный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фичи в продакшен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самый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улучшение отдельного агента почти не двигает системную надёжность, а сокращение числа шагов вдвое даёт сопоставимый эффект дешевле. Урок: «улучшить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апгрейд;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продакшене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главное: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главного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латентностью,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латентность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«улучшение», а обмен: больше возможностей в обмен на стоимость, латентность,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улучшение.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самый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самая важная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Дефолт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дефолт,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самого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самый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апгрейд,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самая важная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самую мощную из доступных архитектур, а самую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самая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Лучшее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 Id="rId4"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 Id="rId4"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7.xml"/><Relationship Id="rId6" Type="http://schemas.openxmlformats.org/officeDocument/2006/relationships/hyperlink" Target="https://arxiv.org/abs/2005.1140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8.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19.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0.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22.xml"/><Relationship Id="rId6" Type="http://schemas.openxmlformats.org/officeDocument/2006/relationships/hyperlink" Target="https://www.ibm.com/think/topics/rag-vs-fine-tunin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bigdataboutique.com/blog/fine-tuning-llms-when-rag-isnt-enough"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25.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6.xml"/><Relationship Id="rId4" Type="http://schemas.openxmlformats.org/officeDocument/2006/relationships/hyperlink" Target="https://arxiv.org/abs/2308.0874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19.png"/><Relationship Id="rId5" Type="http://schemas.openxmlformats.org/officeDocument/2006/relationships/image" Target="../media/image9.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28.xml"/><Relationship Id="rId10" Type="http://schemas.openxmlformats.org/officeDocument/2006/relationships/hyperlink" Target="https://www.anthropic.com/news/donating-the-model-context-protocol-and-establishing-of-the-agentic-ai-foundation"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10.png"/><Relationship Id="rId4" Type="http://schemas.openxmlformats.org/officeDocument/2006/relationships/notesSlide" Target="../notesSlides/notesSlide32.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23.png"/><Relationship Id="rId5" Type="http://schemas.openxmlformats.org/officeDocument/2006/relationships/notesSlide" Target="../notesSlides/notesSlide37.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9.png"/><Relationship Id="rId5" Type="http://schemas.openxmlformats.org/officeDocument/2006/relationships/image" Target="../media/image57.png"/><Relationship Id="rId6" Type="http://schemas.openxmlformats.org/officeDocument/2006/relationships/notesSlide" Target="../notesSlides/notesSlide38.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5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notesSlide" Target="../notesSlides/notesSlide41.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5.xml"/><Relationship Id="rId4" Type="http://schemas.openxmlformats.org/officeDocument/2006/relationships/hyperlink" Target="https://www.anthropic.com/research/building-effective-agen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54.png"/><Relationship Id="rId4" Type="http://schemas.openxmlformats.org/officeDocument/2006/relationships/image" Target="../media/image56.png"/><Relationship Id="rId5" Type="http://schemas.openxmlformats.org/officeDocument/2006/relationships/image" Target="../media/image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notesSlide" Target="../notesSlides/notesSlide49.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10896"/>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ГЛАВНЫЙ МИФ ПРО AI-СИСТЕМЫ</a:t>
            </a:r>
          </a:p>
        </p:txBody>
      </p:sp>
      <p:sp>
        <p:nvSpPr>
          <p:cNvPr id="3" name="TextBox 2"/>
          <p:cNvSpPr txBox="1"/>
          <p:nvPr/>
        </p:nvSpPr>
        <p:spPr>
          <a:xfrm>
            <a:off x="502920" y="731520"/>
            <a:ext cx="11201400" cy="786384"/>
          </a:xfrm>
          <a:prstGeom prst="rect">
            <a:avLst/>
          </a:prstGeom>
          <a:noFill/>
        </p:spPr>
        <p:txBody>
          <a:bodyPr wrap="square" lIns="0" rIns="0" tIns="0" bIns="0" anchor="t">
            <a:spAutoFit/>
          </a:bodyPr>
          <a:lstStyle/>
          <a:p>
            <a:pPr algn="ctr">
              <a:lnSpc>
                <a:spcPct val="106000"/>
              </a:lnSpc>
            </a:pPr>
            <a:r>
              <a:rPr sz="26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502920" y="1700784"/>
            <a:ext cx="5532120" cy="3401568"/>
          </a:xfrm>
          <a:prstGeom prst="roundRect">
            <a:avLst>
              <a:gd name="adj" fmla="val 896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901952"/>
            <a:ext cx="210312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Arial"/>
              </a:rPr>
              <a:t>ОБЕЩАНИЕ</a:t>
            </a:r>
          </a:p>
        </p:txBody>
      </p:sp>
      <p:sp>
        <p:nvSpPr>
          <p:cNvPr id="6" name="Rounded Rectangle 5"/>
          <p:cNvSpPr/>
          <p:nvPr/>
        </p:nvSpPr>
        <p:spPr>
          <a:xfrm>
            <a:off x="2148840" y="2660904"/>
            <a:ext cx="2240280" cy="8412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68980" y="2660904"/>
            <a:ext cx="1120140" cy="8412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46120" y="2660904"/>
            <a:ext cx="45720"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712464"/>
            <a:ext cx="4983480" cy="1188720"/>
          </a:xfrm>
          <a:prstGeom prst="rect">
            <a:avLst/>
          </a:prstGeom>
          <a:noFill/>
        </p:spPr>
        <p:txBody>
          <a:bodyPr wrap="square" lIns="0" rIns="0" tIns="0" bIns="0" anchor="t">
            <a:spAutoFit/>
          </a:bodyPr>
          <a:lstStyle/>
          <a:p>
            <a:pPr algn="ctr">
              <a:lnSpc>
                <a:spcPct val="118000"/>
              </a:lnSpc>
            </a:pPr>
            <a:r>
              <a:rPr sz="1500" b="1" i="0">
                <a:solidFill>
                  <a:srgbClr val="21295C"/>
                </a:solidFill>
                <a:latin typeface="Arial"/>
              </a:rPr>
              <a:t>«Ты — эксперт-юрист. Рассуждай шаг за шагом, будь очень внимателен…»
→ ждём: ответ станет вернее.</a:t>
            </a:r>
          </a:p>
        </p:txBody>
      </p:sp>
      <p:sp>
        <p:nvSpPr>
          <p:cNvPr id="10" name="Rounded Rectangle 9"/>
          <p:cNvSpPr/>
          <p:nvPr/>
        </p:nvSpPr>
        <p:spPr>
          <a:xfrm>
            <a:off x="6172200" y="1700784"/>
            <a:ext cx="5532120" cy="3401568"/>
          </a:xfrm>
          <a:prstGeom prst="roundRect">
            <a:avLst>
              <a:gd name="adj" fmla="val 896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46520" y="1901952"/>
            <a:ext cx="210312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FFFFFF"/>
                </a:solidFill>
                <a:latin typeface="Arial"/>
              </a:rPr>
              <a:t>РЕАЛЬНОСТЬ</a:t>
            </a:r>
          </a:p>
        </p:txBody>
      </p:sp>
      <p:sp>
        <p:nvSpPr>
          <p:cNvPr id="12" name="Rounded Rectangle 11"/>
          <p:cNvSpPr/>
          <p:nvPr/>
        </p:nvSpPr>
        <p:spPr>
          <a:xfrm>
            <a:off x="7635240" y="2660904"/>
            <a:ext cx="960120" cy="84124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869680" y="2660904"/>
            <a:ext cx="960120" cy="84124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8641080" y="2523744"/>
            <a:ext cx="155448" cy="1115568"/>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46520" y="3712464"/>
            <a:ext cx="4983480" cy="1188720"/>
          </a:xfrm>
          <a:prstGeom prst="rect">
            <a:avLst/>
          </a:prstGeom>
          <a:noFill/>
        </p:spPr>
        <p:txBody>
          <a:bodyPr wrap="square" lIns="0" rIns="0" tIns="0" bIns="0" anchor="t">
            <a:spAutoFit/>
          </a:bodyPr>
          <a:lstStyle/>
          <a:p>
            <a:pPr algn="ctr">
              <a:lnSpc>
                <a:spcPct val="118000"/>
              </a:lnSpc>
            </a:pPr>
            <a:r>
              <a:rPr sz="1500" b="1" i="0">
                <a:solidFill>
                  <a:srgbClr val="21295C"/>
                </a:solidFill>
                <a:latin typeface="Arial"/>
              </a:rPr>
              <a:t>Роль настраивает ТОН, а не точность. Пошаговое рассуждение помогает лишь на цепочках шагов. Усложнение промпта само по себе не даёт прироста точности.</a:t>
            </a:r>
          </a:p>
        </p:txBody>
      </p:sp>
      <p:sp>
        <p:nvSpPr>
          <p:cNvPr id="16" name="Rounded Rectangle 15"/>
          <p:cNvSpPr/>
          <p:nvPr/>
        </p:nvSpPr>
        <p:spPr>
          <a:xfrm>
            <a:off x="502920" y="5285232"/>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340096"/>
            <a:ext cx="10799064" cy="749808"/>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Что делать: разложим, что реально повышает надёжность AI-системы — и научимся выбирать архитектуру под задачу, а не глотать «пилюлю».</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Фото: Air Canada Boeing 787 · Wikimedia · CC-BY-SA</a:t>
            </a:r>
          </a:p>
        </p:txBody>
      </p:sp>
      <p:sp>
        <p:nvSpPr>
          <p:cNvPr id="5" name="TextBox 4"/>
          <p:cNvSpPr txBox="1"/>
          <p:nvPr/>
        </p:nvSpPr>
        <p:spPr>
          <a:xfrm>
            <a:off x="5897880" y="457200"/>
            <a:ext cx="5806440" cy="1371600"/>
          </a:xfrm>
          <a:prstGeom prst="rect">
            <a:avLst/>
          </a:prstGeom>
          <a:noFill/>
        </p:spPr>
        <p:txBody>
          <a:bodyPr wrap="square" lIns="0" rIns="0" tIns="0" bIns="0" anchor="t">
            <a:spAutoFit/>
          </a:bodyPr>
          <a:lstStyle/>
          <a:p>
            <a:pPr algn="l">
              <a:lnSpc>
                <a:spcPct val="106000"/>
              </a:lnSpc>
            </a:pPr>
            <a:r>
              <a:rPr sz="2700" b="1" i="0">
                <a:solidFill>
                  <a:srgbClr val="21295C"/>
                </a:solidFill>
                <a:latin typeface="Arial"/>
              </a:rPr>
              <a:t>Первый разбор: чат-бот выдумал политику — платит компания.</a:t>
            </a:r>
          </a:p>
        </p:txBody>
      </p:sp>
      <p:sp>
        <p:nvSpPr>
          <p:cNvPr id="6" name="TextBox 5"/>
          <p:cNvSpPr txBox="1"/>
          <p:nvPr/>
        </p:nvSpPr>
        <p:spPr>
          <a:xfrm>
            <a:off x="5897880" y="1874519"/>
            <a:ext cx="5806440" cy="329184"/>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Moffatt v. Air Canada · трибунал BC · 14.02.2024</a:t>
            </a:r>
          </a:p>
        </p:txBody>
      </p:sp>
      <p:sp>
        <p:nvSpPr>
          <p:cNvPr id="7" name="Oval 6"/>
          <p:cNvSpPr/>
          <p:nvPr/>
        </p:nvSpPr>
        <p:spPr>
          <a:xfrm>
            <a:off x="5897880" y="2331720"/>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331720"/>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355080" y="2304288"/>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Пассажир спросил чат-бота про тариф по случаю утраты близкого</a:t>
            </a:r>
          </a:p>
        </p:txBody>
      </p:sp>
      <p:sp>
        <p:nvSpPr>
          <p:cNvPr id="10" name="Oval 9"/>
          <p:cNvSpPr/>
          <p:nvPr/>
        </p:nvSpPr>
        <p:spPr>
          <a:xfrm>
            <a:off x="5897880" y="31181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1181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6355080" y="3090672"/>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Бот: «купи по полной цене, верни разницу в течение 90 дней»</a:t>
            </a:r>
          </a:p>
        </p:txBody>
      </p:sp>
      <p:sp>
        <p:nvSpPr>
          <p:cNvPr id="13" name="Oval 12"/>
          <p:cNvSpPr/>
          <p:nvPr/>
        </p:nvSpPr>
        <p:spPr>
          <a:xfrm>
            <a:off x="5897880" y="3904488"/>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904488"/>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5" name="TextBox 14"/>
          <p:cNvSpPr txBox="1"/>
          <p:nvPr/>
        </p:nvSpPr>
        <p:spPr>
          <a:xfrm>
            <a:off x="6355080" y="3877056"/>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Реальная политика этого не допускала — и была на той же странице, куда бот ссылался</a:t>
            </a:r>
          </a:p>
        </p:txBody>
      </p:sp>
      <p:sp>
        <p:nvSpPr>
          <p:cNvPr id="16" name="Oval 15"/>
          <p:cNvSpPr/>
          <p:nvPr/>
        </p:nvSpPr>
        <p:spPr>
          <a:xfrm>
            <a:off x="5897880" y="4690872"/>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690872"/>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18" name="TextBox 17"/>
          <p:cNvSpPr txBox="1"/>
          <p:nvPr/>
        </p:nvSpPr>
        <p:spPr>
          <a:xfrm>
            <a:off x="6355080" y="4663440"/>
            <a:ext cx="5349240" cy="749808"/>
          </a:xfrm>
          <a:prstGeom prst="rect">
            <a:avLst/>
          </a:prstGeom>
          <a:noFill/>
        </p:spPr>
        <p:txBody>
          <a:bodyPr wrap="square" lIns="0" rIns="0" tIns="0" bIns="0" anchor="ctr">
            <a:spAutoFit/>
          </a:bodyPr>
          <a:lstStyle/>
          <a:p>
            <a:pPr algn="l">
              <a:lnSpc>
                <a:spcPct val="110000"/>
              </a:lnSpc>
            </a:pPr>
            <a:r>
              <a:rPr sz="1300" b="0" i="0">
                <a:solidFill>
                  <a:srgbClr val="21295C"/>
                </a:solidFill>
                <a:latin typeface="Arial"/>
              </a:rPr>
              <a:t>Трибунал: «бот — не отдельное юр. лицо» → компания вернула $812,02</a:t>
            </a:r>
            <a:r>
              <a:rPr sz="676" baseline="30000" b="0" i="1">
                <a:latin typeface="Arial"/>
                <a:cs typeface="Arial"/>
                <a:ea typeface="Arial"/>
                <a:solidFill>
                  <a:srgbClr val="1C7293"/>
                </a:solidFill>
              </a:rPr>
              <a:t>[1,2]</a:t>
            </a:r>
          </a:p>
        </p:txBody>
      </p:sp>
      <p:sp>
        <p:nvSpPr>
          <p:cNvPr id="19" name="Rounded Rectangle 18"/>
          <p:cNvSpPr/>
          <p:nvPr/>
        </p:nvSpPr>
        <p:spPr>
          <a:xfrm>
            <a:off x="5897880" y="5468112"/>
            <a:ext cx="580644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522976"/>
            <a:ext cx="5404103"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юридически значимый ответ клиенту — не для генеративного бота. Нужен детерминированный источник политики; бот — лишь навигатор к официальному документу.</a:t>
            </a:r>
          </a:p>
        </p:txBody>
      </p:sp>
      <p:sp>
        <p:nvSpPr>
          <p:cNvPr id="21" name="TextBox 20"/>
          <p:cNvSpPr txBox="1"/>
          <p:nvPr/>
        </p:nvSpPr>
        <p:spPr>
          <a:xfrm>
            <a:off x="5897880" y="6583680"/>
            <a:ext cx="580644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компании отвечают за AI-чат-бота</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3 курс ИУ6 · Модуль 1, обзорная лекция</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неправильная архитектура стоит денег</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Что мы переносим из Лекции 2 — и что надстроим.</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Вокруг одного вызова модели надстраиваются 4 обвязки. Два готовых блока из Лекции 2 не переобъясняем.</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внешнее знание в контекст перед ответом</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Вызов инструментов (function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модель дотягивается до внешних систем</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стандарт подключения инструментов</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Цикл агента</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много шагов вокруг одного прохода</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Один вызов LLM</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одиночный вызов (single-shot) из Лекции 2: один проход, без памяти между вызовами</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Из Лекции 2 берём готовыми: одиночный вызов (single-shot) и семантический поиск на эмбеддингах (основа RAG). Детали каждой обвязки — дальше по разделам.</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нож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10" name="Rounded Rectangle 9"/>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конвейер индексации + векторное хранилище + компонент поиска (может молча деградировать) + метрики его качества</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Добавляешь инструменты / цикл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внешние вызовы (падают, тормозят) + петли (расходятся) + недетерминизм траектории + новая поверхность атаки</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(«найди простейшее»)</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улучшили точность ответа по сравнению с ответом без персоны вообще</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персоны не улучшают точность фактов</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 (низкая верность объяснения):</a:t>
            </a:r>
          </a:p>
        </p:txBody>
      </p:sp>
      <p:sp>
        <p:nvSpPr>
          <p:cNvPr id="13" name="Rounded Rectangle 12"/>
          <p:cNvSpPr/>
          <p:nvPr/>
        </p:nvSpPr>
        <p:spPr>
          <a:xfrm>
            <a:off x="502920" y="3803904"/>
            <a:ext cx="470916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gold.png"/>
          <p:cNvPicPr>
            <a:picLocks noChangeAspect="1"/>
          </p:cNvPicPr>
          <p:nvPr/>
        </p:nvPicPr>
        <p:blipFill>
          <a:blip r:embed="rId2"/>
          <a:stretch>
            <a:fillRect/>
          </a:stretch>
        </p:blipFill>
        <p:spPr>
          <a:xfrm>
            <a:off x="731520" y="4005072"/>
            <a:ext cx="438912" cy="438912"/>
          </a:xfrm>
          <a:prstGeom prst="rect">
            <a:avLst/>
          </a:prstGeom>
        </p:spPr>
      </p:pic>
      <p:sp>
        <p:nvSpPr>
          <p:cNvPr id="15" name="TextBox 14"/>
          <p:cNvSpPr txBox="1"/>
          <p:nvPr/>
        </p:nvSpPr>
        <p:spPr>
          <a:xfrm>
            <a:off x="1298448" y="3986784"/>
            <a:ext cx="3703320" cy="109728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CoT-текст — это сгенерированная аргументация, а не протокол реальных вычислений модели. Прямое измерение верности — на следующем слайде.</a:t>
            </a:r>
          </a:p>
        </p:txBody>
      </p:sp>
      <p:sp>
        <p:nvSpPr>
          <p:cNvPr id="16" name="Rounded Rectangle 15"/>
          <p:cNvSpPr/>
          <p:nvPr/>
        </p:nvSpPr>
        <p:spPr>
          <a:xfrm>
            <a:off x="5394960" y="3803904"/>
            <a:ext cx="6309360" cy="14173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96128" y="3858768"/>
            <a:ext cx="5907024" cy="13075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проверки в цикле агента (Раздел 4) не должен быть самооценкой модели.</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библиотека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10" name="Rounded Rectangle 9"/>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самый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«лучше, чем ничего».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(«генерация поверх фикс. политики»)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пульт настройки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10" name="Rounded Rectangle 9"/>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катастрофического забывания</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лучше полного дообучения: дешевле, модульнее, ↓ риск забывания (forgetting). Полное дообучение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2788920"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952243" y="2377440"/>
            <a:ext cx="402336" cy="402336"/>
          </a:xfrm>
          <a:prstGeom prst="rect">
            <a:avLst/>
          </a:prstGeom>
        </p:spPr>
      </p:pic>
      <p:sp>
        <p:nvSpPr>
          <p:cNvPr id="7" name="TextBox 6"/>
          <p:cNvSpPr txBox="1"/>
          <p:nvPr/>
        </p:nvSpPr>
        <p:spPr>
          <a:xfrm>
            <a:off x="88696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 (большая)</a:t>
            </a:r>
          </a:p>
        </p:txBody>
      </p:sp>
      <p:sp>
        <p:nvSpPr>
          <p:cNvPr id="8" name="TextBox 7"/>
          <p:cNvSpPr txBox="1"/>
          <p:nvPr/>
        </p:nvSpPr>
        <p:spPr>
          <a:xfrm>
            <a:off x="90525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дообучена под задачу</a:t>
            </a:r>
          </a:p>
        </p:txBody>
      </p:sp>
      <p:sp>
        <p:nvSpPr>
          <p:cNvPr id="9" name="TextBox 8"/>
          <p:cNvSpPr txBox="1"/>
          <p:nvPr/>
        </p:nvSpPr>
        <p:spPr>
          <a:xfrm>
            <a:off x="3474720" y="1883664"/>
            <a:ext cx="1143000" cy="274320"/>
          </a:xfrm>
          <a:prstGeom prst="rect">
            <a:avLst/>
          </a:prstGeom>
          <a:noFill/>
        </p:spPr>
        <p:txBody>
          <a:bodyPr wrap="square" lIns="0" rIns="0" tIns="0" bIns="0" anchor="t">
            <a:spAutoFit/>
          </a:bodyPr>
          <a:lstStyle/>
          <a:p>
            <a:pPr algn="ctr">
              <a:lnSpc>
                <a:spcPct val="115000"/>
              </a:lnSpc>
            </a:pPr>
            <a:r>
              <a:rPr sz="1200" b="1" i="0">
                <a:solidFill>
                  <a:srgbClr val="065A82"/>
                </a:solidFill>
                <a:latin typeface="Arial"/>
              </a:rPr>
              <a:t>дистилляция</a:t>
            </a:r>
          </a:p>
        </p:txBody>
      </p:sp>
      <p:sp>
        <p:nvSpPr>
          <p:cNvPr id="10" name="Right Arrow 9"/>
          <p:cNvSpPr/>
          <p:nvPr/>
        </p:nvSpPr>
        <p:spPr>
          <a:xfrm>
            <a:off x="3639312" y="2761488"/>
            <a:ext cx="822960" cy="34747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2432304"/>
            <a:ext cx="2788920"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5747003" y="2523744"/>
            <a:ext cx="329184" cy="329184"/>
          </a:xfrm>
          <a:prstGeom prst="rect">
            <a:avLst/>
          </a:prstGeom>
        </p:spPr>
      </p:pic>
      <p:sp>
        <p:nvSpPr>
          <p:cNvPr id="13" name="TextBox 12"/>
          <p:cNvSpPr txBox="1"/>
          <p:nvPr/>
        </p:nvSpPr>
        <p:spPr>
          <a:xfrm>
            <a:off x="4636008" y="2889504"/>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 (маленькая)</a:t>
            </a:r>
          </a:p>
        </p:txBody>
      </p:sp>
      <p:sp>
        <p:nvSpPr>
          <p:cNvPr id="14" name="TextBox 13"/>
          <p:cNvSpPr txBox="1"/>
          <p:nvPr/>
        </p:nvSpPr>
        <p:spPr>
          <a:xfrm>
            <a:off x="4654296" y="3200400"/>
            <a:ext cx="2532887" cy="310896"/>
          </a:xfrm>
          <a:prstGeom prst="rect">
            <a:avLst/>
          </a:prstGeom>
          <a:noFill/>
        </p:spPr>
        <p:txBody>
          <a:bodyPr wrap="square" lIns="0" rIns="0" tIns="0" bIns="0" anchor="t">
            <a:spAutoFit/>
          </a:bodyPr>
          <a:lstStyle/>
          <a:p>
            <a:pPr algn="ctr">
              <a:lnSpc>
                <a:spcPct val="100000"/>
              </a:lnSpc>
            </a:pPr>
            <a:r>
              <a:rPr sz="1100" b="0" i="1">
                <a:solidFill>
                  <a:srgbClr val="5B6678"/>
                </a:solidFill>
                <a:latin typeface="Arial"/>
              </a:rPr>
              <a:t>дешевле · быстрее · то же качество на узкой задаче</a:t>
            </a:r>
          </a:p>
        </p:txBody>
      </p:sp>
      <p:sp>
        <p:nvSpPr>
          <p:cNvPr id="15" name="TextBox 14"/>
          <p:cNvSpPr txBox="1"/>
          <p:nvPr/>
        </p:nvSpPr>
        <p:spPr>
          <a:xfrm>
            <a:off x="7223760" y="1883664"/>
            <a:ext cx="1143000" cy="274320"/>
          </a:xfrm>
          <a:prstGeom prst="rect">
            <a:avLst/>
          </a:prstGeom>
          <a:noFill/>
        </p:spPr>
        <p:txBody>
          <a:bodyPr wrap="square" lIns="0" rIns="0" tIns="0" bIns="0" anchor="t">
            <a:spAutoFit/>
          </a:bodyPr>
          <a:lstStyle/>
          <a:p>
            <a:pPr algn="ctr">
              <a:lnSpc>
                <a:spcPct val="115000"/>
              </a:lnSpc>
            </a:pPr>
            <a:r>
              <a:rPr sz="1200" b="1" i="0">
                <a:solidFill>
                  <a:srgbClr val="1C7293"/>
                </a:solidFill>
                <a:latin typeface="Arial"/>
              </a:rPr>
              <a:t>в бой →</a:t>
            </a:r>
          </a:p>
        </p:txBody>
      </p:sp>
      <p:sp>
        <p:nvSpPr>
          <p:cNvPr id="16" name="Right Arrow 15"/>
          <p:cNvSpPr/>
          <p:nvPr/>
        </p:nvSpPr>
        <p:spPr>
          <a:xfrm>
            <a:off x="7388352" y="2761488"/>
            <a:ext cx="822960" cy="34747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2249424"/>
            <a:ext cx="2788920"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9450324" y="2377440"/>
            <a:ext cx="402336" cy="402336"/>
          </a:xfrm>
          <a:prstGeom prst="rect">
            <a:avLst/>
          </a:prstGeom>
        </p:spPr>
      </p:pic>
      <p:sp>
        <p:nvSpPr>
          <p:cNvPr id="19" name="TextBox 18"/>
          <p:cNvSpPr txBox="1"/>
          <p:nvPr/>
        </p:nvSpPr>
        <p:spPr>
          <a:xfrm>
            <a:off x="838504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840333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снижены стоимость и задержка на узкой задаче</a:t>
            </a:r>
          </a:p>
        </p:txBody>
      </p:sp>
      <p:sp>
        <p:nvSpPr>
          <p:cNvPr id="21" name="Rounded Rectangle 20"/>
          <p:cNvSpPr/>
          <p:nvPr/>
        </p:nvSpPr>
        <p:spPr>
          <a:xfrm>
            <a:off x="502920" y="4169663"/>
            <a:ext cx="553212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315968"/>
            <a:ext cx="507492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Дообучение отвечает на:</a:t>
            </a:r>
          </a:p>
        </p:txBody>
      </p:sp>
      <p:sp>
        <p:nvSpPr>
          <p:cNvPr id="23" name="TextBox 22"/>
          <p:cNvSpPr txBox="1"/>
          <p:nvPr/>
        </p:nvSpPr>
        <p:spPr>
          <a:xfrm>
            <a:off x="75895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модель себя ведёт» — тон, формат, следование политике. Меняет ВЕСА под поведение.</a:t>
            </a:r>
          </a:p>
        </p:txBody>
      </p:sp>
      <p:sp>
        <p:nvSpPr>
          <p:cNvPr id="24" name="Rounded Rectangle 23"/>
          <p:cNvSpPr/>
          <p:nvPr/>
        </p:nvSpPr>
        <p:spPr>
          <a:xfrm>
            <a:off x="6172200" y="4169663"/>
            <a:ext cx="553212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315968"/>
            <a:ext cx="5074920" cy="310896"/>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Дистилляция отвечает на:</a:t>
            </a:r>
          </a:p>
        </p:txBody>
      </p:sp>
      <p:sp>
        <p:nvSpPr>
          <p:cNvPr id="26" name="TextBox 25"/>
          <p:cNvSpPr txBox="1"/>
          <p:nvPr/>
        </p:nvSpPr>
        <p:spPr>
          <a:xfrm>
            <a:off x="642823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сделать модель дешевле» — тот же навык в меньшей модели. Это сжатие, а не смена поведения.</a:t>
            </a:r>
          </a:p>
        </p:txBody>
      </p:sp>
      <p:sp>
        <p:nvSpPr>
          <p:cNvPr id="27" name="Rounded Rectangle 26"/>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PEFT survey — таксономия методов настройки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промышленный робот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10" name="Rounded Rectangle 9"/>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Структурированный вывод</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разбора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Вызов инструментов</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Кэш промптов</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инъекции в промпт</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см. источники.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937760"/>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92624"/>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Сценарий (workflow) vs агент.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сценарий;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Сценарий  (workflow)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боевых систем — это сценарий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сценарий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проверки кода вызывает сценарий «линтер→тесты→формат» как один шаг; сценарий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улучшение,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улучшение.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граф-баз знаний.</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граф-база знаний</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память пользователя между сессиями</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память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временной граф: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граф-базу знаний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независимая проверка).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лучше.</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улучшением. Независимая проверка показывает: иногда — драматически нет.</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лучше»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самоавторская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лучше» не подтверждается измерением.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(повтор ошибки через 25 дней)</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главный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самый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«улучшить шаг» — слабый рычаг; «меньше переходов + проверка между шагами» — сильный</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«улучшить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Rectangle 3"/>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52944" y="6510528"/>
            <a:ext cx="4510735"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приборная панель · Wikimedia · CC-BY-SA</a:t>
            </a:r>
          </a:p>
        </p:txBody>
      </p:sp>
      <p:sp>
        <p:nvSpPr>
          <p:cNvPr id="6" name="TextBox 5"/>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7" name="Rectangle 6"/>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9" name="TextBox 8"/>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10" name="Rounded Rectangle 9"/>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11" name="Rounded Rectangle 10"/>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3" name="TextBox 12"/>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4" name="Rounded Rectangle 13"/>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6" name="TextBox 15"/>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7" name="Rounded Rectangle 16"/>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9" name="TextBox 18"/>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20" name="Rounded Rectangle 19"/>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2" name="TextBox 21"/>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3" name="Rounded Rectangle 22"/>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5" name="TextBox 24"/>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6" name="Rounded Rectangle 25"/>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8" name="TextBox 27"/>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улучшение.</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структурированный поиск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Субагенты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(наименьшие привилегии).</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Дообучение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забывание</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петля проверки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план→действие→проверка→повтор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проверка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улучшение</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проверкой</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наименьшие привилегии + карта данных по функции</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554479"/>
            <a:ext cx="2240280" cy="224028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Rectangle 2"/>
          <p:cNvSpPr/>
          <p:nvPr/>
        </p:nvSpPr>
        <p:spPr>
          <a:xfrm>
            <a:off x="7406640" y="6492240"/>
            <a:ext cx="4785055"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34656" y="6510528"/>
            <a:ext cx="4529023" cy="310896"/>
          </a:xfrm>
          <a:prstGeom prst="rect">
            <a:avLst/>
          </a:prstGeom>
          <a:noFill/>
        </p:spPr>
        <p:txBody>
          <a:bodyPr wrap="square" lIns="0" rIns="0" tIns="0" bIns="0" anchor="ctr">
            <a:spAutoFit/>
          </a:bodyPr>
          <a:lstStyle/>
          <a:p>
            <a:pPr algn="l">
              <a:lnSpc>
                <a:spcPct val="115000"/>
              </a:lnSpc>
            </a:pPr>
            <a:r>
              <a:rPr sz="1000" b="0" i="1">
                <a:solidFill>
                  <a:srgbClr val="FFFFFF"/>
                </a:solidFill>
                <a:latin typeface="Arial"/>
              </a:rPr>
              <a:t>Фото: разработка ПО · Wikimedia · CC-BY-SA</a:t>
            </a:r>
          </a:p>
        </p:txBody>
      </p:sp>
      <p:sp>
        <p:nvSpPr>
          <p:cNvPr id="5" name="TextBox 4"/>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6" name="TextBox 5"/>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7" name="Rounded Rectangle 6"/>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9" name="TextBox 8"/>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10" name="Rounded Rectangle 9"/>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2" name="TextBox 11"/>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3" name="Rounded Rectangle 12"/>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5" name="TextBox 14"/>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6" name="Rounded Rectangle 15"/>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8" name="TextBox 17"/>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9" name="Rounded Rectangle 18"/>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21" name="Rounded Rectangle 20"/>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