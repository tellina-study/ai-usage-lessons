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Четырнадцатого февраля 2024 года Гражданский трибунал по разрешению споров провинции Британская Колумбия вынес решение по делу *Moffatt v. Air Canada*. История проста. Пассажир Джейк Моффатт зашёл на сайт авиакомпании после смерти бабушки, спросил чат-бота про тариф по случаю утраты близкого и получил ответ: можно купить билет по обычной цене, а затем в течение 90 дней подать заявку на возврат разницы. Это было неправдой — реальная политика Air Canada не допускала ретроактивного возврата по такому тарифу, и об этом было написано на той же странице сайта, на которую чат-бот даже ссылался. Моффатт купил билеты, подал заявку, получил отказ, и дело дошло до трибунала. Авиакомпания защищалась аргументом, что чат-бот — это «отдельное юридическое лицо, отвечающее за свои действия». Трибунал этот аргумент отверг и обязал Air Canada компенсировать пассажиру разницу.</a:t>
            </a:r>
          </a:p>
          <a:p/>
          <a:p>
            <a:r>
              <a:t>Нас в этой истории интересует не юридическая сторона, а инженерная. Задача была элементарной: показать пользователю фиксированную, заранее известную политику тарифа. Для такой задачи существует архитектура, которая работает идеально и стоит почти ничего: статическая страница или детерминированный lookup в таблице правил. Air Canada выбрала вместо этого генеративный чат-бот — архитектуру, которая принципиально способна сочинить несуществующую политику, потому что её работа — генерировать правдоподобный текст, а не извлекать проверенный факт.</a:t>
            </a:r>
          </a:p>
          <a:p/>
          <a:p>
            <a:r>
              <a:t>Это был не сбой модели. Это был неправильный выбор архитектуры под задачу. И именно про этот класс ошибок — про выбор архитектуры — вся эта лекция. Прежде чем идти дальше, задайте себе вопрос: если задача всего лишь «узнать правило тарифа», какая архитектура её закрывает — и нужен ли здесь ИИ вообще? К этому ответу мы вернёмся в разделе про RAG.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самого конца: выбор архитектуры — это инженерное решение под конкретную задачу, а не следование моде. Часто правильный ответ — самая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самый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самый большой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самая базовая архитектура. Вокруг него — четыре обвязки, которые мы разберём. Первая — RAG: это и есть тот самый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самый мощный инструмент существует», а «достаточно ли самого простого, и если нет — то под какое именно требование задачи мы поднимаемся на ступень выше».</a:t>
            </a:r>
          </a:p>
          <a:p/>
          <a:p>
            <a:r>
              <a:t>Самая 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латентности и числа способов всё сломать. В этом разделе мы разберём четыре вещи: почему дефолт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Самая дешёвая, надёжная и предсказуемая AI-архитектура — это один вызов модели с хорошо составленным промптом.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латентность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самый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улучшают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лучше,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улучшает»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лучше».</a:t>
            </a:r>
          </a:p>
          <a:p/>
          <a:p>
            <a:r>
              <a:t>Теперь предел этого приёма, и он важнее самого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 включая системные инструкции, описания доступных инструментов, подгружаемые внешние данные и историю сообщений. Главный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самый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дефолт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«лучше, чем ничего». Различение «ответ с опорой и цитатой» против «правдоподобный текст» окажется центральным дальше и прямо объясняет дело Air Canada.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урок раздела одной фразой: «система вернула что-то» не означает «система вернула правильное».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самая важная.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главный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дефолт.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слайде мы зафиксировали определение: fine-tuning меняет сами веса, тогда как промпт и RAG трогают только контекст. Опираясь на это, разберём область его применения в 2026 году. Среди инженеров ходит формулировка «в 2026 fine-tuning умер — всё решает RAG и длинный контекст». Это неточно. Fine-tuning не умер — он сузился и перестал быть настройкой по умолчанию. Сузился именно потому, что меняет веса: знание — факты, документы, всё, что меняется, — плохо ложится в веса и ушло в RAG и длинный контекст, где его можно процитировать и обновить. За fine-tuning осталась узкая, но важная область — стабильное поведение, стиль, формат вывода, следование политике, а не знания модели.</a:t>
            </a:r>
          </a:p>
          <a:p/>
          <a:p>
            <a:r>
              <a:t>Отдельно и аккуратно про дистилляцию, потому что здесь частая путаница. Дистилляция — самостоятельная техника переноса знания и сжатия модели (Hinton, Vinyals, Dean, 2015): student-модель учится имитировать выходы teacher-модели через отдельную функцию потерь. Таксономически это не разновидность fine-tuning — обзоры методов разносят их по разным категориям. На практике две техники часто комбинируются: сначала teacher-модель дообучают под нужное поведение, а затем из неё дистиллируют компактную student-модель. Держите это как «fine-tune teacher, потом дистилляция student — две отдельные техники в связке», а не «дистилляция как вид fine-tuning».</a:t>
            </a:r>
          </a:p>
          <a:p/>
          <a:p>
            <a:r>
              <a:t>Отсюда критерий что-куда. Знание меняется или нужен провенанс — RAG или длинный контекст, не fine-tuning: знание устареет, переобучение дорого, есть риск забывания. Нужно стабильное поведение, тон, формат, политика — это fine-tuning в форме PEFT, не RAG. Нужно снизить стоимость на узкой задаче — связка fine-tune teacher плюс дистилляция student. Ответ детерминирован и верифицируем — обычный код без ИИ. Иначе говоря, fine-tuning 2026 — узкий инструмент под поведение, формат, политику и эффективность, а не способ научить модель домену; «научить домену» в смысле фактов — это RAG, в смысле манеры — PEFT, и почти никогда full fine-tuning.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большой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латентность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самая дорогая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мульти-агентах остаётся в главе; в нарративе достаточно: мульти-агент по умолчанию — не апгрейд.</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апгрейд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самого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улучшением — агент, который помнит, должен быть полезнее агента, начинающего каждый раз с нуля. Данные agent-harness-registry, независимого реестра,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(лучшие результаты) до D (худшие)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лучшая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Самая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лучшую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лучше» измерением не подтверждается, и делать X стоит только там, где есть конкретное основание.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главный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 GitHub MCP heist, май 2025: у ассистента широкий токен на все репозитории; в публичном issue — инструкция «собери приватные репозитории и опубликуй здесь»;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самый оснащённый вариант по умолчанию».</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улучшение отдельного агента почти не двигает системную надёжность, а сокращение числа шагов вдвое даёт сопоставимый эффект дешевле. Урок: «улучшить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 по умолчанию — не апгрейд; для задач с зависимостями он хуже одного линейного агента. Во всех трёх «более сложная архитектура» означала «менее надёжная», а не «более продвинутая».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главного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латентность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«улучшение», а обмен: больше возможностей в обмен на стоимость, латентность, аудируемость, поверхность атаки. Инженер, владеющий этим навыком, умеет назвать обе стороны обмена, а не только левую.</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 Первый вопрос и самый дешёвый отсев: задача детерминированная и верифицируемая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самая важная строка лекции: детерминированная задача решается обычным кодом, а Air Canada — это выбор генеративной архитектуры для задачи из этой нижней плашки.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Дефолт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дефолт,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самого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самый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самая мощная модель. Иногда правильный ответ — простейшая архитектура или не-ИИ.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курса, который шёл по нарастающей: Лекция 1 — что такое AI и как устроен промпт; Лекция 2 — почему промпт работает: токенизация, эмбеддинги, внимание, сэмплинг; Лекция 3 — как из модели собрать систему и как выбрать, какую систему собирать. Эти три лекции — общий фундамент; дальше курс переходит к отраслевым лекциям, где AI применяется к конкретным предметным задачам.</a:t>
            </a:r>
          </a:p>
          <a:p/>
          <a:p>
            <a:r>
              <a:t>Рамка этой лекции — лестница сложности, маршрут выбора, восьмишаговый чек-лист, правило «когда не ИИ», стартовый комплект агента, правило человека-валидатора — это база для всех последующих лекций, а не материал, который заканчивается с этой лекцией. В каждой отраслевой теме будет повторяться один и тот же вопрос в новой обёртке: вот предметная задача — какая архитектура и почему именно она, и при каком условии ответ был бы другим. Теперь у вас есть аппарат на него отвечать. Практический совет на остаток курса: на каждой отраслевой лекции, услышав «здесь применяют RAG, агента или fine-tuning», мысленно прогоняйте чек-лист — действительно ли требование задачи поднимает на эту ступень, или это инерция.</a:t>
            </a:r>
          </a:p>
          <a:p/>
          <a:p>
            <a:r>
              <a:t>Лекция 4 берёт этот аппарат и прикладывает его к первой отраслевой теме — AI в разработке программного обеспечения. Там вопрос «какая архитектура и почему» встретится снова, уже на конкретных инструментах и задачах разработчика: те же coding-агенты, которые мы разобрали через рамку экипировки — Claude Code, Aider, Cursor, OpenHands, — там будут рассмотрены со стороны инженерной практики разработки. Задание — к Семинару 3. Парный семинар «Архитектурный выбор: чат, агент, RAG, API — три кейса» — место полного освоения учебной цели применения. Вы примените восьмишаговый чек-лист к трём кейсам и для каждого сформулируете: архитектуру, не менее двух причин по осям, не менее одного условия, при котором выбор был бы другим, и явный критерий «здесь это было бы НЕ так». Mini-apply задача B с предыдущего слайда — это разминка перед семинаром.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Лучшее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3.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9.png"/><Relationship Id="rId5" Type="http://schemas.openxmlformats.org/officeDocument/2006/relationships/image" Target="../media/image48.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5.png"/><Relationship Id="rId4" Type="http://schemas.openxmlformats.org/officeDocument/2006/relationships/image" Target="../media/image47.png"/><Relationship Id="rId5" Type="http://schemas.openxmlformats.org/officeDocument/2006/relationships/image" Target="../media/image9.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aircanada_6.05x7.50.png"/>
          <p:cNvPicPr>
            <a:picLocks noChangeAspect="1"/>
          </p:cNvPicPr>
          <p:nvPr/>
        </p:nvPicPr>
        <p:blipFill>
          <a:blip r:embed="rId2"/>
          <a:stretch>
            <a:fillRect/>
          </a:stretch>
        </p:blipFill>
        <p:spPr>
          <a:xfrm>
            <a:off x="0" y="0"/>
            <a:ext cx="5532120" cy="6858000"/>
          </a:xfrm>
          <a:prstGeom prst="rect">
            <a:avLst/>
          </a:prstGeom>
        </p:spPr>
      </p:pic>
      <p:sp>
        <p:nvSpPr>
          <p:cNvPr id="3" name="Rectangle 2"/>
          <p:cNvSpPr/>
          <p:nvPr/>
        </p:nvSpPr>
        <p:spPr>
          <a:xfrm>
            <a:off x="0" y="6492240"/>
            <a:ext cx="35661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 y="6510528"/>
            <a:ext cx="33832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Air Canada Boeing 787 · Wikimedia · CC-BY-SA</a:t>
            </a:r>
          </a:p>
        </p:txBody>
      </p:sp>
      <p:sp>
        <p:nvSpPr>
          <p:cNvPr id="5" name="TextBox 4"/>
          <p:cNvSpPr txBox="1"/>
          <p:nvPr/>
        </p:nvSpPr>
        <p:spPr>
          <a:xfrm>
            <a:off x="5897880" y="502920"/>
            <a:ext cx="5806440" cy="1417320"/>
          </a:xfrm>
          <a:prstGeom prst="rect">
            <a:avLst/>
          </a:prstGeom>
          <a:noFill/>
        </p:spPr>
        <p:txBody>
          <a:bodyPr wrap="square" lIns="0" rIns="0" tIns="0" bIns="0" anchor="t">
            <a:spAutoFit/>
          </a:bodyPr>
          <a:lstStyle/>
          <a:p>
            <a:pPr algn="l">
              <a:lnSpc>
                <a:spcPct val="106000"/>
              </a:lnSpc>
            </a:pPr>
            <a:r>
              <a:rPr sz="3000" b="1" i="0">
                <a:solidFill>
                  <a:srgbClr val="21295C"/>
                </a:solidFill>
                <a:latin typeface="Arial"/>
              </a:rPr>
              <a:t>Чат-бот выдумал политику — платит компания.</a:t>
            </a:r>
          </a:p>
        </p:txBody>
      </p:sp>
      <p:sp>
        <p:nvSpPr>
          <p:cNvPr id="6" name="TextBox 5"/>
          <p:cNvSpPr txBox="1"/>
          <p:nvPr/>
        </p:nvSpPr>
        <p:spPr>
          <a:xfrm>
            <a:off x="5897880" y="1956816"/>
            <a:ext cx="5806440"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Moffatt v. Air Canada · трибунал BC · 14.02.2024</a:t>
            </a:r>
          </a:p>
        </p:txBody>
      </p:sp>
      <p:sp>
        <p:nvSpPr>
          <p:cNvPr id="7" name="Oval 6"/>
          <p:cNvSpPr/>
          <p:nvPr/>
        </p:nvSpPr>
        <p:spPr>
          <a:xfrm>
            <a:off x="5897880" y="24597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24597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6373368" y="243230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Пассажир спросил чат-бота про тариф по случаю утраты близкого</a:t>
            </a:r>
          </a:p>
        </p:txBody>
      </p:sp>
      <p:sp>
        <p:nvSpPr>
          <p:cNvPr id="10" name="Oval 9"/>
          <p:cNvSpPr/>
          <p:nvPr/>
        </p:nvSpPr>
        <p:spPr>
          <a:xfrm>
            <a:off x="5897880" y="328269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97880" y="328269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6373368" y="325526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Бот: «купи по полной цене, верни разницу в течение 90 дней»</a:t>
            </a:r>
          </a:p>
        </p:txBody>
      </p:sp>
      <p:sp>
        <p:nvSpPr>
          <p:cNvPr id="13" name="Oval 12"/>
          <p:cNvSpPr/>
          <p:nvPr/>
        </p:nvSpPr>
        <p:spPr>
          <a:xfrm>
            <a:off x="5897880" y="410565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410565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5" name="TextBox 14"/>
          <p:cNvSpPr txBox="1"/>
          <p:nvPr/>
        </p:nvSpPr>
        <p:spPr>
          <a:xfrm>
            <a:off x="6373368" y="407822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Реальная политика этого не допускала — и была на той же странице, на которую бот ссылался</a:t>
            </a:r>
          </a:p>
        </p:txBody>
      </p:sp>
      <p:sp>
        <p:nvSpPr>
          <p:cNvPr id="16" name="Oval 15"/>
          <p:cNvSpPr/>
          <p:nvPr/>
        </p:nvSpPr>
        <p:spPr>
          <a:xfrm>
            <a:off x="5897880" y="492861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80" y="4928616"/>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4</a:t>
            </a:r>
          </a:p>
        </p:txBody>
      </p:sp>
      <p:sp>
        <p:nvSpPr>
          <p:cNvPr id="18" name="TextBox 17"/>
          <p:cNvSpPr txBox="1"/>
          <p:nvPr/>
        </p:nvSpPr>
        <p:spPr>
          <a:xfrm>
            <a:off x="6373368" y="490118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Трибунал: «бот — не отдельное юр. лицо» → компания компенсирует разницу</a:t>
            </a:r>
          </a:p>
        </p:txBody>
      </p:sp>
      <p:sp>
        <p:nvSpPr>
          <p:cNvPr id="19" name="Rounded Rectangle 18"/>
          <p:cNvSpPr/>
          <p:nvPr/>
        </p:nvSpPr>
        <p:spPr>
          <a:xfrm>
            <a:off x="5897880" y="5797296"/>
            <a:ext cx="580644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5852159"/>
            <a:ext cx="5404103" cy="73152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Это не сбой модели — это неправильный выбор архитектуры под задачу. Об этом классе ошибок вся лекция.</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TextBox 7"/>
          <p:cNvSpPr txBox="1"/>
          <p:nvPr/>
        </p:nvSpPr>
        <p:spPr>
          <a:xfrm>
            <a:off x="685800" y="6172200"/>
            <a:ext cx="6400800"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3 курс ИУ6 · Модуль 1, обзорная лекция</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4" name="Rounded Rectangle 3"/>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7" name="Picture 6" descr="gavel-mid.png"/>
          <p:cNvPicPr>
            <a:picLocks noChangeAspect="1"/>
          </p:cNvPicPr>
          <p:nvPr/>
        </p:nvPicPr>
        <p:blipFill>
          <a:blip r:embed="rId2"/>
          <a:stretch>
            <a:fillRect/>
          </a:stretch>
        </p:blipFill>
        <p:spPr>
          <a:xfrm>
            <a:off x="3438144" y="1975104"/>
            <a:ext cx="457200" cy="457200"/>
          </a:xfrm>
          <a:prstGeom prst="rect">
            <a:avLst/>
          </a:prstGeom>
        </p:spPr>
      </p:pic>
      <p:sp>
        <p:nvSpPr>
          <p:cNvPr id="8" name="TextBox 7"/>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9" name="TextBox 8"/>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Air Canada: неправильная архитектура стоит денег</a:t>
            </a:r>
          </a:p>
        </p:txBody>
      </p:sp>
      <p:sp>
        <p:nvSpPr>
          <p:cNvPr id="10" name="Rounded Rectangle 9"/>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3" name="Picture 12"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4" name="TextBox 13"/>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5" name="TextBox 14"/>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6" name="Rounded Rectangle 15"/>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19" name="Picture 18"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0" name="TextBox 19"/>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1" name="TextBox 20"/>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2" name="Rounded Rectangle 21"/>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5" name="Picture 24"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6" name="TextBox 25"/>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Fine-tune</a:t>
            </a:r>
          </a:p>
        </p:txBody>
      </p:sp>
      <p:sp>
        <p:nvSpPr>
          <p:cNvPr id="27" name="TextBox 26"/>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8" name="Rounded Rectangle 27"/>
          <p:cNvSpPr/>
          <p:nvPr/>
        </p:nvSpPr>
        <p:spPr>
          <a:xfrm>
            <a:off x="4297680" y="4096512"/>
            <a:ext cx="36118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17136" y="4315968"/>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4</a:t>
            </a:r>
          </a:p>
        </p:txBody>
      </p:sp>
      <p:pic>
        <p:nvPicPr>
          <p:cNvPr id="31" name="Picture 30" descr="bot-gold.png"/>
          <p:cNvPicPr>
            <a:picLocks noChangeAspect="1"/>
          </p:cNvPicPr>
          <p:nvPr/>
        </p:nvPicPr>
        <p:blipFill>
          <a:blip r:embed="rId6"/>
          <a:stretch>
            <a:fillRect/>
          </a:stretch>
        </p:blipFill>
        <p:spPr>
          <a:xfrm>
            <a:off x="7232904" y="4334256"/>
            <a:ext cx="457200" cy="457200"/>
          </a:xfrm>
          <a:prstGeom prst="rect">
            <a:avLst/>
          </a:prstGeom>
        </p:spPr>
      </p:pic>
      <p:sp>
        <p:nvSpPr>
          <p:cNvPr id="32" name="TextBox 31"/>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3" name="TextBox 32"/>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4" name="Rounded Rectangle 33"/>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7" name="Picture 36"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8" name="TextBox 37"/>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39" name="TextBox 38"/>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Что мы переносим из Лекции 2 — и что надстроим.</a:t>
            </a:r>
          </a:p>
        </p:txBody>
      </p:sp>
      <p:sp>
        <p:nvSpPr>
          <p:cNvPr id="3" name="TextBox 2"/>
          <p:cNvSpPr txBox="1"/>
          <p:nvPr/>
        </p:nvSpPr>
        <p:spPr>
          <a:xfrm>
            <a:off x="502920" y="1143000"/>
            <a:ext cx="1120140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Вокруг одного вызова модели надстраиваются 4 обвязки. Два готовых блока из Лекции 2 не переобъясняем.</a:t>
            </a:r>
          </a:p>
        </p:txBody>
      </p:sp>
      <p:sp>
        <p:nvSpPr>
          <p:cNvPr id="4" name="Rounded Rectangle 3"/>
          <p:cNvSpPr/>
          <p:nvPr/>
        </p:nvSpPr>
        <p:spPr>
          <a:xfrm>
            <a:off x="50292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02536"/>
            <a:ext cx="530352" cy="530352"/>
          </a:xfrm>
          <a:prstGeom prst="rect">
            <a:avLst/>
          </a:prstGeom>
        </p:spPr>
      </p:pic>
      <p:sp>
        <p:nvSpPr>
          <p:cNvPr id="6" name="TextBox 5"/>
          <p:cNvSpPr txBox="1"/>
          <p:nvPr/>
        </p:nvSpPr>
        <p:spPr>
          <a:xfrm>
            <a:off x="146304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RAG</a:t>
            </a:r>
          </a:p>
        </p:txBody>
      </p:sp>
      <p:sp>
        <p:nvSpPr>
          <p:cNvPr id="7" name="TextBox 6"/>
          <p:cNvSpPr txBox="1"/>
          <p:nvPr/>
        </p:nvSpPr>
        <p:spPr>
          <a:xfrm>
            <a:off x="146304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внешнее знание в контекст перед ответом</a:t>
            </a:r>
          </a:p>
        </p:txBody>
      </p:sp>
      <p:sp>
        <p:nvSpPr>
          <p:cNvPr id="8" name="Rounded Rectangle 7"/>
          <p:cNvSpPr/>
          <p:nvPr/>
        </p:nvSpPr>
        <p:spPr>
          <a:xfrm>
            <a:off x="635508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erminal-mid.png"/>
          <p:cNvPicPr>
            <a:picLocks noChangeAspect="1"/>
          </p:cNvPicPr>
          <p:nvPr/>
        </p:nvPicPr>
        <p:blipFill>
          <a:blip r:embed="rId3"/>
          <a:stretch>
            <a:fillRect/>
          </a:stretch>
        </p:blipFill>
        <p:spPr>
          <a:xfrm>
            <a:off x="6592824" y="2002536"/>
            <a:ext cx="530352" cy="530352"/>
          </a:xfrm>
          <a:prstGeom prst="rect">
            <a:avLst/>
          </a:prstGeom>
        </p:spPr>
      </p:pic>
      <p:sp>
        <p:nvSpPr>
          <p:cNvPr id="10" name="TextBox 9"/>
          <p:cNvSpPr txBox="1"/>
          <p:nvPr/>
        </p:nvSpPr>
        <p:spPr>
          <a:xfrm>
            <a:off x="731520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Function calling</a:t>
            </a:r>
          </a:p>
        </p:txBody>
      </p:sp>
      <p:sp>
        <p:nvSpPr>
          <p:cNvPr id="11" name="TextBox 10"/>
          <p:cNvSpPr txBox="1"/>
          <p:nvPr/>
        </p:nvSpPr>
        <p:spPr>
          <a:xfrm>
            <a:off x="731520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модель дотягивается до внешних систем</a:t>
            </a:r>
          </a:p>
        </p:txBody>
      </p:sp>
      <p:sp>
        <p:nvSpPr>
          <p:cNvPr id="12" name="Rounded Rectangle 11"/>
          <p:cNvSpPr/>
          <p:nvPr/>
        </p:nvSpPr>
        <p:spPr>
          <a:xfrm>
            <a:off x="50292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ble-mid.png"/>
          <p:cNvPicPr>
            <a:picLocks noChangeAspect="1"/>
          </p:cNvPicPr>
          <p:nvPr/>
        </p:nvPicPr>
        <p:blipFill>
          <a:blip r:embed="rId4"/>
          <a:stretch>
            <a:fillRect/>
          </a:stretch>
        </p:blipFill>
        <p:spPr>
          <a:xfrm>
            <a:off x="740664" y="4974336"/>
            <a:ext cx="530352" cy="530352"/>
          </a:xfrm>
          <a:prstGeom prst="rect">
            <a:avLst/>
          </a:prstGeom>
        </p:spPr>
      </p:pic>
      <p:sp>
        <p:nvSpPr>
          <p:cNvPr id="14" name="TextBox 13"/>
          <p:cNvSpPr txBox="1"/>
          <p:nvPr/>
        </p:nvSpPr>
        <p:spPr>
          <a:xfrm>
            <a:off x="146304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MCP</a:t>
            </a:r>
          </a:p>
        </p:txBody>
      </p:sp>
      <p:sp>
        <p:nvSpPr>
          <p:cNvPr id="15" name="TextBox 14"/>
          <p:cNvSpPr txBox="1"/>
          <p:nvPr/>
        </p:nvSpPr>
        <p:spPr>
          <a:xfrm>
            <a:off x="146304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стандарт подключения инструментов</a:t>
            </a:r>
          </a:p>
        </p:txBody>
      </p:sp>
      <p:sp>
        <p:nvSpPr>
          <p:cNvPr id="16" name="Rounded Rectangle 15"/>
          <p:cNvSpPr/>
          <p:nvPr/>
        </p:nvSpPr>
        <p:spPr>
          <a:xfrm>
            <a:off x="635508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mid.png"/>
          <p:cNvPicPr>
            <a:picLocks noChangeAspect="1"/>
          </p:cNvPicPr>
          <p:nvPr/>
        </p:nvPicPr>
        <p:blipFill>
          <a:blip r:embed="rId5"/>
          <a:stretch>
            <a:fillRect/>
          </a:stretch>
        </p:blipFill>
        <p:spPr>
          <a:xfrm>
            <a:off x="6592824" y="4974336"/>
            <a:ext cx="530352" cy="530352"/>
          </a:xfrm>
          <a:prstGeom prst="rect">
            <a:avLst/>
          </a:prstGeom>
        </p:spPr>
      </p:pic>
      <p:sp>
        <p:nvSpPr>
          <p:cNvPr id="18" name="TextBox 17"/>
          <p:cNvSpPr txBox="1"/>
          <p:nvPr/>
        </p:nvSpPr>
        <p:spPr>
          <a:xfrm>
            <a:off x="731520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Цикл агента</a:t>
            </a:r>
          </a:p>
        </p:txBody>
      </p:sp>
      <p:sp>
        <p:nvSpPr>
          <p:cNvPr id="19" name="TextBox 18"/>
          <p:cNvSpPr txBox="1"/>
          <p:nvPr/>
        </p:nvSpPr>
        <p:spPr>
          <a:xfrm>
            <a:off x="731520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много шагов вокруг одного прохода</a:t>
            </a:r>
          </a:p>
        </p:txBody>
      </p:sp>
      <p:sp>
        <p:nvSpPr>
          <p:cNvPr id="20" name="Rounded Rectangle 19"/>
          <p:cNvSpPr/>
          <p:nvPr/>
        </p:nvSpPr>
        <p:spPr>
          <a:xfrm>
            <a:off x="4617720" y="3200400"/>
            <a:ext cx="2971800"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419856"/>
            <a:ext cx="2697480" cy="45720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Один вызов LLM</a:t>
            </a:r>
          </a:p>
        </p:txBody>
      </p:sp>
      <p:sp>
        <p:nvSpPr>
          <p:cNvPr id="22" name="TextBox 21"/>
          <p:cNvSpPr txBox="1"/>
          <p:nvPr/>
        </p:nvSpPr>
        <p:spPr>
          <a:xfrm>
            <a:off x="4754880" y="3895344"/>
            <a:ext cx="2697480" cy="777240"/>
          </a:xfrm>
          <a:prstGeom prst="rect">
            <a:avLst/>
          </a:prstGeom>
          <a:noFill/>
        </p:spPr>
        <p:txBody>
          <a:bodyPr wrap="square" lIns="0" rIns="0" tIns="0" bIns="0" anchor="t">
            <a:spAutoFit/>
          </a:bodyPr>
          <a:lstStyle/>
          <a:p>
            <a:pPr algn="ctr">
              <a:lnSpc>
                <a:spcPct val="114000"/>
              </a:lnSpc>
            </a:pPr>
            <a:r>
              <a:rPr sz="1200" b="0" i="1">
                <a:solidFill>
                  <a:srgbClr val="21295C"/>
                </a:solidFill>
                <a:latin typeface="Arial"/>
              </a:rPr>
              <a:t>single-shot инференс из Лекции 2: один проход, без памяти между вызовами</a:t>
            </a:r>
          </a:p>
        </p:txBody>
      </p:sp>
      <p:cxnSp>
        <p:nvCxnSpPr>
          <p:cNvPr id="23" name="Connector 22"/>
          <p:cNvCxnSpPr/>
          <p:nvPr/>
        </p:nvCxnSpPr>
        <p:spPr>
          <a:xfrm flipV="1">
            <a:off x="484632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635508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4632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35508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Из Лекции 2 берём готовыми: single-shot инференс и семантический поиск на эмбеддингах (основа RAG). Детали каждой обвязки — дальше по разделам.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few-shot (примеры)</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Multi-agent</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1</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Промпт и его границы</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Дефолт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латентность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retrieval, который тихо деградирует)</a:t>
            </a:r>
          </a:p>
        </p:txBody>
      </p:sp>
      <p:sp>
        <p:nvSpPr>
          <p:cNvPr id="14" name="Rounded Rectangle 13"/>
          <p:cNvSpPr/>
          <p:nvPr/>
        </p:nvSpPr>
        <p:spPr>
          <a:xfrm>
            <a:off x="5760720" y="1847088"/>
            <a:ext cx="59436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975104"/>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RAG →</a:t>
            </a:r>
          </a:p>
        </p:txBody>
      </p:sp>
      <p:sp>
        <p:nvSpPr>
          <p:cNvPr id="16" name="TextBox 15"/>
          <p:cNvSpPr txBox="1"/>
          <p:nvPr/>
        </p:nvSpPr>
        <p:spPr>
          <a:xfrm>
            <a:off x="5998464" y="2304288"/>
            <a:ext cx="5468112" cy="10058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конвейер индексации + векторное хранилище + компонент retrieval (может молча деградировать) + метрики его качества</a:t>
            </a:r>
          </a:p>
        </p:txBody>
      </p:sp>
      <p:sp>
        <p:nvSpPr>
          <p:cNvPr id="17" name="Rounded Rectangle 16"/>
          <p:cNvSpPr/>
          <p:nvPr/>
        </p:nvSpPr>
        <p:spPr>
          <a:xfrm>
            <a:off x="5760720" y="3547872"/>
            <a:ext cx="5943600"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98464" y="3675887"/>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инструменты / цикл →</a:t>
            </a:r>
          </a:p>
        </p:txBody>
      </p:sp>
      <p:sp>
        <p:nvSpPr>
          <p:cNvPr id="19" name="TextBox 18"/>
          <p:cNvSpPr txBox="1"/>
          <p:nvPr/>
        </p:nvSpPr>
        <p:spPr>
          <a:xfrm>
            <a:off x="5998464" y="4005072"/>
            <a:ext cx="5468112" cy="109728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внешние вызовы (падают, тормозят) + петли (расходятся) + недетерминизм траектории + новая поверхность атаки</a:t>
            </a:r>
          </a:p>
        </p:txBody>
      </p:sp>
      <p:sp>
        <p:nvSpPr>
          <p:cNvPr id="20" name="Rounded Rectangle 19"/>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 Это распределение бремени доказательства, а не примитивизм.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(механизм — Лекция 2) в сторону текста, похожего на ответ такой роли, — но это про стиль, не про факты.</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«Напишу роль эксперта — и модель будет точнее отвечать по фактам»</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показал эксперимент</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персоны · 6 типов отношений · 8 доменов · 2410 вопросов фактического QA · 4 семейства LLM. Персоны НЕ улучшили точность ответа по сравнению с ответом без персоны вообще.</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На что роль влияет реально</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на тон и глубину изложения — насколько формально и подробно, а не верен ли факт (эффект модель-специфичен).</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Нужна фактическая точность? Инструмент — не формулировка роли, а грамотный контекст и, при необходимости, RAG (опора на проверяемый источник). Это ещё один пункт «магической пилюли», опровергнутый измерением.</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Zheng, Pei, Logeswaran, Lee, Jurgens · Findings of EMNLP 2024 (arXiv:2311.10054) + arXiv:2605.29420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structured output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prompt injection (Раздел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 (низкая faithfulness):</a:t>
            </a:r>
          </a:p>
        </p:txBody>
      </p:sp>
      <p:sp>
        <p:nvSpPr>
          <p:cNvPr id="13" name="Rounded Rectangle 12"/>
          <p:cNvSpPr/>
          <p:nvPr/>
        </p:nvSpPr>
        <p:spPr>
          <a:xfrm>
            <a:off x="502920" y="3803904"/>
            <a:ext cx="214884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968496"/>
            <a:ext cx="1965960" cy="640080"/>
          </a:xfrm>
          <a:prstGeom prst="rect">
            <a:avLst/>
          </a:prstGeom>
          <a:noFill/>
        </p:spPr>
        <p:txBody>
          <a:bodyPr wrap="square" lIns="0" rIns="0" tIns="0" bIns="0" anchor="t">
            <a:spAutoFit/>
          </a:bodyPr>
          <a:lstStyle/>
          <a:p>
            <a:pPr algn="ctr">
              <a:lnSpc>
                <a:spcPct val="115000"/>
              </a:lnSpc>
            </a:pPr>
            <a:r>
              <a:rPr sz="3600" b="1" i="0">
                <a:solidFill>
                  <a:srgbClr val="F0AB00"/>
                </a:solidFill>
                <a:latin typeface="Arial"/>
              </a:rPr>
              <a:t>~25%</a:t>
            </a:r>
          </a:p>
        </p:txBody>
      </p:sp>
      <p:sp>
        <p:nvSpPr>
          <p:cNvPr id="15" name="TextBox 14"/>
          <p:cNvSpPr txBox="1"/>
          <p:nvPr/>
        </p:nvSpPr>
        <p:spPr>
          <a:xfrm>
            <a:off x="594360"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Claude 3.7 Sonnet</a:t>
            </a:r>
          </a:p>
        </p:txBody>
      </p:sp>
      <p:sp>
        <p:nvSpPr>
          <p:cNvPr id="16" name="Rounded Rectangle 15"/>
          <p:cNvSpPr/>
          <p:nvPr/>
        </p:nvSpPr>
        <p:spPr>
          <a:xfrm>
            <a:off x="2834639" y="3803904"/>
            <a:ext cx="21488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79" y="3968496"/>
            <a:ext cx="1965960" cy="640080"/>
          </a:xfrm>
          <a:prstGeom prst="rect">
            <a:avLst/>
          </a:prstGeom>
          <a:noFill/>
        </p:spPr>
        <p:txBody>
          <a:bodyPr wrap="square" lIns="0" rIns="0" tIns="0" bIns="0" anchor="t">
            <a:spAutoFit/>
          </a:bodyPr>
          <a:lstStyle/>
          <a:p>
            <a:pPr algn="ctr">
              <a:lnSpc>
                <a:spcPct val="115000"/>
              </a:lnSpc>
            </a:pPr>
            <a:r>
              <a:rPr sz="3600" b="1" i="0">
                <a:solidFill>
                  <a:srgbClr val="065A82"/>
                </a:solidFill>
                <a:latin typeface="Arial"/>
              </a:rPr>
              <a:t>~39%</a:t>
            </a:r>
          </a:p>
        </p:txBody>
      </p:sp>
      <p:sp>
        <p:nvSpPr>
          <p:cNvPr id="18" name="TextBox 17"/>
          <p:cNvSpPr txBox="1"/>
          <p:nvPr/>
        </p:nvSpPr>
        <p:spPr>
          <a:xfrm>
            <a:off x="2926079"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DeepSeek R1</a:t>
            </a:r>
          </a:p>
        </p:txBody>
      </p:sp>
      <p:sp>
        <p:nvSpPr>
          <p:cNvPr id="19" name="TextBox 18"/>
          <p:cNvSpPr txBox="1"/>
          <p:nvPr/>
        </p:nvSpPr>
        <p:spPr>
          <a:xfrm>
            <a:off x="502920" y="5266944"/>
            <a:ext cx="470916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 доля случаев, где модель упомянула реально использованную подсказку.</a:t>
            </a:r>
          </a:p>
        </p:txBody>
      </p:sp>
      <p:sp>
        <p:nvSpPr>
          <p:cNvPr id="20" name="Rounded Rectangle 19"/>
          <p:cNvSpPr/>
          <p:nvPr/>
        </p:nvSpPr>
        <p:spPr>
          <a:xfrm>
            <a:off x="5394960" y="3803904"/>
            <a:ext cx="6309360" cy="1920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96128" y="3858768"/>
            <a:ext cx="5907024" cy="181051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Контроль на самообъяснении модели — не контроль. Человек-валидатор проверяет РЕЗУЛЬТАТ и факты против внешнего источника, а не правдоподобность текста. И это же — почему шаг check в цикле агента (Раздел 4) не должен быть самооценкой модели.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Anthropic, апрель 2025 · верность падает на трудных задачах · перепроверить ко дню лекции.</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full-context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Чит-шит: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2</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RAG: поиск-дополненная генерация</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Извлечь релевантное → положить в контекст → ответить с опорой на источник</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retrieval (semantic search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Retrieval</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top-k ближайших фрагментов
= тот самый semantic search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80060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855464"/>
            <a:ext cx="10799064"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знаю» / «см. источник X» — корректный ответ RAG-системы. Правдоподобный ответ при нерелевантном retrieval — это дефект, а не «лучше, чем ничего».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 но не строить автоматически: сверьтесь с блокерами на следующем слайде.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full-context + кэширование префикса, не RAG-инфраструктура</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детерминированный lookup / статическая страница</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live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Support-бот</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grounding</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lookup / страница; нужен диалог → RAG со strict grounding,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Документированные классы провалов (Barnett et al. 2024; Air Canada — McCarthy Tétrault 2024). Кейсы — illustrative.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3</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Fine-tune vs промпт vs RAG</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Fine-tuning (дообучение)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Fine-tuning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Fine-tuning = «изменить саму модель». На практике «дообучить» почти всегда означает LoRA/PEFT, а не переобучение всех весов (следующий слайд).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full fine-tuning.</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catastrophic forgetting</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fine-tuning</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лучше full fine-tuning: дешевле, модульнее, ↓ риск forgetting. Full FT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HF PEFT team, «Beyond LoRA?», июнь 2026. Полный спектр методов (SFT / DPO / RFT) — в главе.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Fine-tuning не умер — он сузился до поведения.</a:t>
            </a:r>
          </a:p>
        </p:txBody>
      </p:sp>
      <p:sp>
        <p:nvSpPr>
          <p:cNvPr id="3" name="Rounded Rectangle 2"/>
          <p:cNvSpPr/>
          <p:nvPr/>
        </p:nvSpPr>
        <p:spPr>
          <a:xfrm>
            <a:off x="502920" y="1042415"/>
            <a:ext cx="553212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31520" y="1225295"/>
            <a:ext cx="420624" cy="420624"/>
          </a:xfrm>
          <a:prstGeom prst="rect">
            <a:avLst/>
          </a:prstGeom>
        </p:spPr>
      </p:pic>
      <p:sp>
        <p:nvSpPr>
          <p:cNvPr id="5" name="TextBox 4"/>
          <p:cNvSpPr txBox="1"/>
          <p:nvPr/>
        </p:nvSpPr>
        <p:spPr>
          <a:xfrm>
            <a:off x="1280160" y="1225295"/>
            <a:ext cx="452628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Ушло из fine-tuning (2026)</a:t>
            </a:r>
          </a:p>
        </p:txBody>
      </p:sp>
      <p:sp>
        <p:nvSpPr>
          <p:cNvPr id="6" name="TextBox 5"/>
          <p:cNvSpPr txBox="1"/>
          <p:nvPr/>
        </p:nvSpPr>
        <p:spPr>
          <a:xfrm>
            <a:off x="73152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знание, факты, то, что меняется → RAG / длинный контекст. Зашить факты в веса: нельзя процитировать, обновить точечно, удалить один.</a:t>
            </a:r>
          </a:p>
        </p:txBody>
      </p:sp>
      <p:sp>
        <p:nvSpPr>
          <p:cNvPr id="7" name="Rounded Rectangle 6"/>
          <p:cNvSpPr/>
          <p:nvPr/>
        </p:nvSpPr>
        <p:spPr>
          <a:xfrm>
            <a:off x="6172200" y="1042415"/>
            <a:ext cx="5532120" cy="1572768"/>
          </a:xfrm>
          <a:prstGeom prst="roundRect">
            <a:avLst>
              <a:gd name="adj" fmla="val 1937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ale-teal.png"/>
          <p:cNvPicPr>
            <a:picLocks noChangeAspect="1"/>
          </p:cNvPicPr>
          <p:nvPr/>
        </p:nvPicPr>
        <p:blipFill>
          <a:blip r:embed="rId3"/>
          <a:stretch>
            <a:fillRect/>
          </a:stretch>
        </p:blipFill>
        <p:spPr>
          <a:xfrm>
            <a:off x="6400800" y="1225295"/>
            <a:ext cx="420624" cy="420624"/>
          </a:xfrm>
          <a:prstGeom prst="rect">
            <a:avLst/>
          </a:prstGeom>
        </p:spPr>
      </p:pic>
      <p:sp>
        <p:nvSpPr>
          <p:cNvPr id="9" name="TextBox 8"/>
          <p:cNvSpPr txBox="1"/>
          <p:nvPr/>
        </p:nvSpPr>
        <p:spPr>
          <a:xfrm>
            <a:off x="6949440" y="1225295"/>
            <a:ext cx="452628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Осталось за fine-tuning</a:t>
            </a:r>
          </a:p>
        </p:txBody>
      </p:sp>
      <p:sp>
        <p:nvSpPr>
          <p:cNvPr id="10" name="TextBox 9"/>
          <p:cNvSpPr txBox="1"/>
          <p:nvPr/>
        </p:nvSpPr>
        <p:spPr>
          <a:xfrm>
            <a:off x="640080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поведение · стиль · формат вывода · следование политике. Дистилляция — отдельная техника, часто применяемая в связке с дообучением.</a:t>
            </a:r>
          </a:p>
        </p:txBody>
      </p:sp>
      <p:sp>
        <p:nvSpPr>
          <p:cNvPr id="11" name="Rounded Rectangle 10"/>
          <p:cNvSpPr/>
          <p:nvPr/>
        </p:nvSpPr>
        <p:spPr>
          <a:xfrm>
            <a:off x="365760" y="2761488"/>
            <a:ext cx="11475720" cy="2761488"/>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871216"/>
            <a:ext cx="36118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71216"/>
            <a:ext cx="33558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14" name="Rectangle 13"/>
          <p:cNvSpPr/>
          <p:nvPr/>
        </p:nvSpPr>
        <p:spPr>
          <a:xfrm>
            <a:off x="4114800" y="2871216"/>
            <a:ext cx="31546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42816" y="2871216"/>
            <a:ext cx="28986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16" name="Rectangle 15"/>
          <p:cNvSpPr/>
          <p:nvPr/>
        </p:nvSpPr>
        <p:spPr>
          <a:xfrm>
            <a:off x="7269480" y="2871216"/>
            <a:ext cx="443484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7496" y="2871216"/>
            <a:ext cx="4178807"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8" name="Rectangle 17"/>
          <p:cNvSpPr/>
          <p:nvPr/>
        </p:nvSpPr>
        <p:spPr>
          <a:xfrm>
            <a:off x="502920" y="3310128"/>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3346704"/>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20" name="Rectangle 19"/>
          <p:cNvSpPr/>
          <p:nvPr/>
        </p:nvSpPr>
        <p:spPr>
          <a:xfrm>
            <a:off x="4114800" y="3310128"/>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42816" y="3346704"/>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22" name="Rectangle 21"/>
          <p:cNvSpPr/>
          <p:nvPr/>
        </p:nvSpPr>
        <p:spPr>
          <a:xfrm>
            <a:off x="7269480" y="3310128"/>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97496" y="3346704"/>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fine-tuning: устареет, дорого переобучать, риск forgetting</a:t>
            </a:r>
          </a:p>
        </p:txBody>
      </p:sp>
      <p:sp>
        <p:nvSpPr>
          <p:cNvPr id="24" name="Rectangle 23"/>
          <p:cNvSpPr/>
          <p:nvPr/>
        </p:nvSpPr>
        <p:spPr>
          <a:xfrm>
            <a:off x="502920" y="3840480"/>
            <a:ext cx="36118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3877056"/>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26" name="Rectangle 25"/>
          <p:cNvSpPr/>
          <p:nvPr/>
        </p:nvSpPr>
        <p:spPr>
          <a:xfrm>
            <a:off x="4114800" y="3840480"/>
            <a:ext cx="31546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42816" y="3877056"/>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fine-tuning (PEFT)</a:t>
            </a:r>
          </a:p>
        </p:txBody>
      </p:sp>
      <p:sp>
        <p:nvSpPr>
          <p:cNvPr id="28" name="Rectangle 27"/>
          <p:cNvSpPr/>
          <p:nvPr/>
        </p:nvSpPr>
        <p:spPr>
          <a:xfrm>
            <a:off x="7269480" y="3840480"/>
            <a:ext cx="44348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7496" y="3877056"/>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но не меняет манеру модели</a:t>
            </a:r>
          </a:p>
        </p:txBody>
      </p:sp>
      <p:sp>
        <p:nvSpPr>
          <p:cNvPr id="30" name="Rectangle 29"/>
          <p:cNvSpPr/>
          <p:nvPr/>
        </p:nvSpPr>
        <p:spPr>
          <a:xfrm>
            <a:off x="502920" y="4370832"/>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4407408"/>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латентность на узкой задаче</a:t>
            </a:r>
          </a:p>
        </p:txBody>
      </p:sp>
      <p:sp>
        <p:nvSpPr>
          <p:cNvPr id="32" name="Rectangle 31"/>
          <p:cNvSpPr/>
          <p:nvPr/>
        </p:nvSpPr>
        <p:spPr>
          <a:xfrm>
            <a:off x="4114800" y="4370832"/>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42816" y="4407408"/>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fine-tune teacher + дистилляция student</a:t>
            </a:r>
          </a:p>
        </p:txBody>
      </p:sp>
      <p:sp>
        <p:nvSpPr>
          <p:cNvPr id="34" name="Rectangle 33"/>
          <p:cNvSpPr/>
          <p:nvPr/>
        </p:nvSpPr>
        <p:spPr>
          <a:xfrm>
            <a:off x="7269480" y="4370832"/>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7496" y="4407408"/>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НЕ «дистилляция = вид fine-tuning»</a:t>
            </a:r>
          </a:p>
        </p:txBody>
      </p:sp>
      <p:sp>
        <p:nvSpPr>
          <p:cNvPr id="36" name="Rectangle 35"/>
          <p:cNvSpPr/>
          <p:nvPr/>
        </p:nvSpPr>
        <p:spPr>
          <a:xfrm>
            <a:off x="502920" y="4901184"/>
            <a:ext cx="36118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 y="4937760"/>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8" name="Rectangle 37"/>
          <p:cNvSpPr/>
          <p:nvPr/>
        </p:nvSpPr>
        <p:spPr>
          <a:xfrm>
            <a:off x="4114800" y="4901184"/>
            <a:ext cx="31546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42816" y="4937760"/>
            <a:ext cx="2898648" cy="457199"/>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40" name="Rectangle 39"/>
          <p:cNvSpPr/>
          <p:nvPr/>
        </p:nvSpPr>
        <p:spPr>
          <a:xfrm>
            <a:off x="7269480" y="4901184"/>
            <a:ext cx="443484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97496" y="4937760"/>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42" name="Rounded Rectangle 41"/>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Реальный вопрос 2026 — не «RAG или fine-tuning», а «что здесь знание (→ RAG), что поведение (→ PEFT), что детерминировано (→ код)». Гибрид — норма там, где есть И проблема знания, И проблема поведения.</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catastrophic forgetting.</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Catastrophic forgetting (катастрофическое забывание) — деградация общих способностей модели в результате узкого агрессивного дообучения.</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eval-петли на общих задачах + нет версий датасета/весов → не увидишь поломку до прода + не сможешь откатиться → это не «риск», это критерий «НЕ делай fine-tuning»</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Эмпирически наблюдается при continual fine-tuning (Luo et al. 2023). Механизмы — «исследования показывают» (preprint).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4</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Агенты</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От собеседника в окне чата — к компоненту продакшен-системы: цикл, экипировка, память, доступ к инструментам — и где всё это ломается.</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Structured output</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парсинга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Function calling</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Prompt caching</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prompt injection</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экономии и масштаб экосистемы MCP — в главе методички.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plan → act → check → iterate.</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Plan</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Паттерны цикла (ReAct, Reflexion, Plan-and-Execute) — в главе. Проектировать агента = проектировать защиту на каждом из 4 шагов.</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Workflow vs Agent.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workflow;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Workflow  (рабочий поток)</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продакшн-систем — это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workflow  ·  принципиально нет И ценность оправдывает кратные стоимость/риск → агент</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code review вызывает workflow «линтер→тесты→формат» как один шаг; workflow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апгрейд.</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plan→act→check→iterate ПЛЮС оснастка. Пять типовых слотов:</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Subagents</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Access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subagents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graph-баз.</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graph-база</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cross-session память пользователя</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memory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temporal graph: когда факт верен, когда устарел</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graph-базу агенту с короткими несвязанными сессиями — это тот же технический долг без требования, что RAG для десяти статей.</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Источник: публичный реестр agent-harness-registry (workain lab, live-eval).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лучше.</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улучшением. Независимый live-eval показывает: иногда — драматически нет.</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тихая lossy-суммаризация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agent-harness-registry (workain lab, live-eval 2026-07-05). «Работает хорошо» ≠ «работает всегда» — тот же урок, что RAG на масштабе и forgetting.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лучше»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self-authored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лучше» не подтверждается измерением.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Skills, subagents,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Subagent</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главный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retention-политика</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heist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third-party/MCP вне ZDR.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(subagent)</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Human-in-the-loop на write</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Allowlist / pin</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deny-by-default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coding-агенты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skills, полноценные subagents,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CLI-first · open source</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subagents, без skills.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desktop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self-hosted платформа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самый оснащённый по умолчанию — смотри, какая оснастка нужна именно твоей задаче.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retry-скрипт с backoff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retry-with-backoff скрипт,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«улучшить шаг» — слабый рычаг; «меньше хопов + валидация между шагами» — сильный</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single-threaded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Атаки через инструменты (prompt injection, GitHub MCP heist) — 4-й класс провалов, разобран на слайде безопасности. $4 200-петля — single-author постмортем 2026-04 (illustrative); compounding — MindStudio 2025–2026.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5</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Как выбрать: фреймворк решения</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+few-shot)</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(plan→act→check→iterate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Multi-agent</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 (возможности ↔ стоимость, латентность, аудируемость, поверхность атаки), а не улучшение.</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Нижняя ступень — «обычный код без ИИ»: лестница начинается с вопроса «а нужен ли ИИ вообще».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Пройдите задачу сверху вниз; останавливайтесь на первом сработавшем вопросе.</a:t>
            </a:r>
          </a:p>
        </p:txBody>
      </p:sp>
      <p:sp>
        <p:nvSpPr>
          <p:cNvPr id="4" name="Rounded Rectangle 3"/>
          <p:cNvSpPr/>
          <p:nvPr/>
        </p:nvSpPr>
        <p:spPr>
          <a:xfrm>
            <a:off x="502920" y="1280160"/>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62456"/>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62456"/>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80160"/>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25880"/>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25880"/>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2646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71907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12" name="Rounded Rectangle 11"/>
          <p:cNvSpPr/>
          <p:nvPr/>
        </p:nvSpPr>
        <p:spPr>
          <a:xfrm>
            <a:off x="502920" y="1815084"/>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89737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89737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15084"/>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6080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6080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61388"/>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 y="2253996"/>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20" name="Rounded Rectangle 19"/>
          <p:cNvSpPr/>
          <p:nvPr/>
        </p:nvSpPr>
        <p:spPr>
          <a:xfrm>
            <a:off x="502920" y="2350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323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323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50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39572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39572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grounding / код</a:t>
            </a:r>
          </a:p>
        </p:txBody>
      </p:sp>
      <p:sp>
        <p:nvSpPr>
          <p:cNvPr id="26" name="Right Arrow 25"/>
          <p:cNvSpPr/>
          <p:nvPr/>
        </p:nvSpPr>
        <p:spPr>
          <a:xfrm>
            <a:off x="5399531" y="2496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2788920"/>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28" name="Rounded Rectangle 27"/>
          <p:cNvSpPr/>
          <p:nvPr/>
        </p:nvSpPr>
        <p:spPr>
          <a:xfrm>
            <a:off x="502920" y="2884932"/>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2967227"/>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2967227"/>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884932"/>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30651"/>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30651"/>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31236"/>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 y="3323844"/>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36" name="Rounded Rectangle 35"/>
          <p:cNvSpPr/>
          <p:nvPr/>
        </p:nvSpPr>
        <p:spPr>
          <a:xfrm>
            <a:off x="502920" y="3419856"/>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02151"/>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02151"/>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19856"/>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465575"/>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465575"/>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fine-tuning (PEFT)</a:t>
            </a:r>
          </a:p>
        </p:txBody>
      </p:sp>
      <p:sp>
        <p:nvSpPr>
          <p:cNvPr id="42" name="Right Arrow 41"/>
          <p:cNvSpPr/>
          <p:nvPr/>
        </p:nvSpPr>
        <p:spPr>
          <a:xfrm>
            <a:off x="5399531" y="3566160"/>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224" y="3858768"/>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44" name="Rounded Rectangle 43"/>
          <p:cNvSpPr/>
          <p:nvPr/>
        </p:nvSpPr>
        <p:spPr>
          <a:xfrm>
            <a:off x="502920" y="3954779"/>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037075"/>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037075"/>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3954779"/>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00499"/>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00499"/>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workflow · нет → агент+лимиты</a:t>
            </a:r>
          </a:p>
        </p:txBody>
      </p:sp>
      <p:sp>
        <p:nvSpPr>
          <p:cNvPr id="50" name="Right Arrow 49"/>
          <p:cNvSpPr/>
          <p:nvPr/>
        </p:nvSpPr>
        <p:spPr>
          <a:xfrm>
            <a:off x="5399531" y="410108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439369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52" name="Rounded Rectangle 51"/>
          <p:cNvSpPr/>
          <p:nvPr/>
        </p:nvSpPr>
        <p:spPr>
          <a:xfrm>
            <a:off x="502920" y="4489703"/>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57199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57199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489703"/>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53542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53542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636007"/>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042915"/>
            <a:ext cx="7790688" cy="329184"/>
          </a:xfrm>
          <a:prstGeom prst="roundRect">
            <a:avLst>
              <a:gd name="adj" fmla="val 14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 y="5052059"/>
            <a:ext cx="7516367" cy="310896"/>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8. Данные чувствительны? → параллельно на КАЖДОМ шаге: карта данных + least-privilege + ZDR/BAA</a:t>
            </a:r>
          </a:p>
        </p:txBody>
      </p:sp>
      <p:sp>
        <p:nvSpPr>
          <p:cNvPr id="61" name="Rounded Rectangle 60"/>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3" name="TextBox 62"/>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strict grounding. Не FT (устареет), не код (нужен NL).</a:t>
            </a:r>
          </a:p>
        </p:txBody>
      </p:sp>
      <p:sp>
        <p:nvSpPr>
          <p:cNvPr id="64" name="Rounded Rectangle 63"/>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6" name="TextBox 65"/>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7" name="Rounded Rectangle 66"/>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 ИИ добавил бы лишь недетерминизм, стоимость, латентность и поверхность для prompt injection.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Дефолт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subagents</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skills</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structured retrieval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Subagents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(least-privilege).</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29967"/>
            <a:ext cx="5477256" cy="402336"/>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НЕ по правдоподобности рассуждения (self-rationale ≠ контроль — урок про faithfulness).</a:t>
            </a:r>
          </a:p>
        </p:txBody>
      </p:sp>
      <p:sp>
        <p:nvSpPr>
          <p:cNvPr id="7" name="Rounded Rectangle 6"/>
          <p:cNvSpPr/>
          <p:nvPr/>
        </p:nvSpPr>
        <p:spPr>
          <a:xfrm>
            <a:off x="758952" y="257860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67004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298094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47472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56616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87705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370831"/>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462271"/>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77316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MIT NANDA, State of AI in Business 2025 — отчёт с методологией (150 интервью + 350 опрос + 300 внедрений), не универсальный закон.</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78x7.50.png"/>
          <p:cNvPicPr>
            <a:picLocks noChangeAspect="1"/>
          </p:cNvPicPr>
          <p:nvPr/>
        </p:nvPicPr>
        <p:blipFill>
          <a:blip r:embed="rId2"/>
          <a:stretch>
            <a:fillRect/>
          </a:stretch>
        </p:blipFill>
        <p:spPr>
          <a:xfrm>
            <a:off x="6903720" y="0"/>
            <a:ext cx="5285232" cy="6858000"/>
          </a:xfrm>
          <a:prstGeom prst="rect">
            <a:avLst/>
          </a:prstGeom>
        </p:spPr>
      </p:pic>
      <p:sp>
        <p:nvSpPr>
          <p:cNvPr id="3" name="Rectangle 2"/>
          <p:cNvSpPr/>
          <p:nvPr/>
        </p:nvSpPr>
        <p:spPr>
          <a:xfrm>
            <a:off x="6903720" y="6492240"/>
            <a:ext cx="44805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31736" y="6510528"/>
            <a:ext cx="42976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разработчик за IDE · Wikimedia · CC-BY-SA</a:t>
            </a:r>
          </a:p>
        </p:txBody>
      </p:sp>
      <p:sp>
        <p:nvSpPr>
          <p:cNvPr id="5" name="TextBox 4"/>
          <p:cNvSpPr txBox="1"/>
          <p:nvPr/>
        </p:nvSpPr>
        <p:spPr>
          <a:xfrm>
            <a:off x="502920" y="457200"/>
            <a:ext cx="6172200" cy="1005840"/>
          </a:xfrm>
          <a:prstGeom prst="rect">
            <a:avLst/>
          </a:prstGeom>
          <a:noFill/>
        </p:spPr>
        <p:txBody>
          <a:bodyPr wrap="square" lIns="0" rIns="0" tIns="0" bIns="0" anchor="t">
            <a:spAutoFit/>
          </a:bodyPr>
          <a:lstStyle/>
          <a:p>
            <a:pPr algn="l">
              <a:lnSpc>
                <a:spcPct val="106000"/>
              </a:lnSpc>
            </a:pPr>
            <a:r>
              <a:rPr sz="2600" b="1" i="0">
                <a:solidFill>
                  <a:srgbClr val="21295C"/>
                </a:solidFill>
                <a:latin typeface="Arial"/>
              </a:rPr>
              <a:t>Дальше — отрасли. Начинаем с разработки ПО.</a:t>
            </a:r>
          </a:p>
        </p:txBody>
      </p:sp>
      <p:sp>
        <p:nvSpPr>
          <p:cNvPr id="6" name="Rounded Rectangle 5"/>
          <p:cNvSpPr/>
          <p:nvPr/>
        </p:nvSpPr>
        <p:spPr>
          <a:xfrm>
            <a:off x="502920" y="1554480"/>
            <a:ext cx="617220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de-teal.png"/>
          <p:cNvPicPr>
            <a:picLocks noChangeAspect="1"/>
          </p:cNvPicPr>
          <p:nvPr/>
        </p:nvPicPr>
        <p:blipFill>
          <a:blip r:embed="rId3"/>
          <a:stretch>
            <a:fillRect/>
          </a:stretch>
        </p:blipFill>
        <p:spPr>
          <a:xfrm>
            <a:off x="740664" y="1755648"/>
            <a:ext cx="420624" cy="420624"/>
          </a:xfrm>
          <a:prstGeom prst="rect">
            <a:avLst/>
          </a:prstGeom>
        </p:spPr>
      </p:pic>
      <p:sp>
        <p:nvSpPr>
          <p:cNvPr id="8" name="TextBox 7"/>
          <p:cNvSpPr txBox="1"/>
          <p:nvPr/>
        </p:nvSpPr>
        <p:spPr>
          <a:xfrm>
            <a:off x="1289304" y="1737360"/>
            <a:ext cx="5166360"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Лекция 4</a:t>
            </a:r>
          </a:p>
        </p:txBody>
      </p:sp>
      <p:sp>
        <p:nvSpPr>
          <p:cNvPr id="9" name="TextBox 8"/>
          <p:cNvSpPr txBox="1"/>
          <p:nvPr/>
        </p:nvSpPr>
        <p:spPr>
          <a:xfrm>
            <a:off x="1289304" y="2084831"/>
            <a:ext cx="5166360" cy="420624"/>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AI в разработке программного обеспечения</a:t>
            </a:r>
          </a:p>
        </p:txBody>
      </p:sp>
      <p:sp>
        <p:nvSpPr>
          <p:cNvPr id="10" name="TextBox 9"/>
          <p:cNvSpPr txBox="1"/>
          <p:nvPr/>
        </p:nvSpPr>
        <p:spPr>
          <a:xfrm>
            <a:off x="758952" y="2615184"/>
            <a:ext cx="5660136" cy="77724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тот же аппарат — на конкретных задачах разработчика: те же coding-агенты, что мы разобрали, со стороны инженерной практики.</a:t>
            </a:r>
          </a:p>
        </p:txBody>
      </p:sp>
      <p:sp>
        <p:nvSpPr>
          <p:cNvPr id="11" name="Rounded Rectangle 10"/>
          <p:cNvSpPr/>
          <p:nvPr/>
        </p:nvSpPr>
        <p:spPr>
          <a:xfrm>
            <a:off x="502920" y="3621024"/>
            <a:ext cx="6172200" cy="1975104"/>
          </a:xfrm>
          <a:prstGeom prst="roundRect">
            <a:avLst>
              <a:gd name="adj" fmla="val 154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board-list-gold.png"/>
          <p:cNvPicPr>
            <a:picLocks noChangeAspect="1"/>
          </p:cNvPicPr>
          <p:nvPr/>
        </p:nvPicPr>
        <p:blipFill>
          <a:blip r:embed="rId4"/>
          <a:stretch>
            <a:fillRect/>
          </a:stretch>
        </p:blipFill>
        <p:spPr>
          <a:xfrm>
            <a:off x="758952" y="3785615"/>
            <a:ext cx="457200" cy="457200"/>
          </a:xfrm>
          <a:prstGeom prst="rect">
            <a:avLst/>
          </a:prstGeom>
        </p:spPr>
      </p:pic>
      <p:sp>
        <p:nvSpPr>
          <p:cNvPr id="13" name="TextBox 12"/>
          <p:cNvSpPr txBox="1"/>
          <p:nvPr/>
        </p:nvSpPr>
        <p:spPr>
          <a:xfrm>
            <a:off x="1325880" y="3767328"/>
            <a:ext cx="5120640" cy="402336"/>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Задание — Семинар 3</a:t>
            </a:r>
          </a:p>
        </p:txBody>
      </p:sp>
      <p:sp>
        <p:nvSpPr>
          <p:cNvPr id="14" name="TextBox 13"/>
          <p:cNvSpPr txBox="1"/>
          <p:nvPr/>
        </p:nvSpPr>
        <p:spPr>
          <a:xfrm>
            <a:off x="758952" y="4279392"/>
            <a:ext cx="5660136" cy="365760"/>
          </a:xfrm>
          <a:prstGeom prst="rect">
            <a:avLst/>
          </a:prstGeom>
          <a:noFill/>
        </p:spPr>
        <p:txBody>
          <a:bodyPr wrap="square" lIns="0" rIns="0" tIns="0" bIns="0" anchor="t">
            <a:spAutoFit/>
          </a:bodyPr>
          <a:lstStyle/>
          <a:p>
            <a:pPr algn="l">
              <a:lnSpc>
                <a:spcPct val="105000"/>
              </a:lnSpc>
            </a:pPr>
            <a:r>
              <a:rPr sz="1400" b="1" i="0">
                <a:solidFill>
                  <a:srgbClr val="065A82"/>
                </a:solidFill>
                <a:latin typeface="Arial"/>
              </a:rPr>
              <a:t>«Архитектурный выбор: чат / агент / RAG / API — 3 кейса»</a:t>
            </a:r>
          </a:p>
        </p:txBody>
      </p:sp>
      <p:sp>
        <p:nvSpPr>
          <p:cNvPr id="15" name="TextBox 14"/>
          <p:cNvSpPr txBox="1"/>
          <p:nvPr/>
        </p:nvSpPr>
        <p:spPr>
          <a:xfrm>
            <a:off x="758952" y="4681728"/>
            <a:ext cx="5660136" cy="859536"/>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Применить чек-лист к 3 кейсам; для каждого: архитектура + ≥2 причины по осям + ≥1 условие смены выбора + критерий «здесь это было бы НЕ так». Задача B — разминка.</a:t>
            </a:r>
          </a:p>
        </p:txBody>
      </p:sp>
      <p:sp>
        <p:nvSpPr>
          <p:cNvPr id="16" name="Rounded Rectangle 15"/>
          <p:cNvSpPr/>
          <p:nvPr/>
        </p:nvSpPr>
        <p:spPr>
          <a:xfrm>
            <a:off x="502920" y="5760720"/>
            <a:ext cx="61722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815583"/>
            <a:ext cx="5769864" cy="566928"/>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Аппарат собран — прогоняйте чек-лист на каждой отраслевой лекции.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7589520" y="6126480"/>
            <a:ext cx="4114800" cy="457200"/>
          </a:xfrm>
          <a:prstGeom prst="rect">
            <a:avLst/>
          </a:prstGeom>
          <a:noFill/>
        </p:spPr>
        <p:txBody>
          <a:bodyPr wrap="square" lIns="0" rIns="0" tIns="0" bIns="0" anchor="ctr">
            <a:spAutoFit/>
          </a:bodyPr>
          <a:lstStyle/>
          <a:p>
            <a:pPr algn="r">
              <a:lnSpc>
                <a:spcPct val="110000"/>
              </a:lnSpc>
            </a:pPr>
            <a:r>
              <a:rPr sz="1200" b="0" i="1">
                <a:solidFill>
                  <a:srgbClr val="1C7293"/>
                </a:solidFill>
                <a:latin typeface="Arial"/>
              </a:rPr>
              <a:t>[контакты преподавателя — заполнить перед лекцией]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