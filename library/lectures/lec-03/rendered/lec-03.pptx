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Среди инженеров, работающих с языковыми моделями, живёт устойчивое убеждение: если промпт сформулировать «правильно» — назначить модели роль эксперта, попросить рассуждать шаг за шагом, добавить побольше деталей и условий, — модель станет отвечать точнее по фактам. Это убеждение настолько распространено, что стоит признать его отдельно и явно, прежде чем разбирать архитектуры: назовём его «магической пилюлей» промпт-инжиниринга — верой в то, что удачная формулировка одного вызова может заменить правильный выбор инструмента.</a:t>
            </a:r>
          </a:p>
          <a:p/>
          <a:p>
            <a:r>
              <a:t>Миф живуч, потому что в нём есть крупица правды: формулировка промпта действительно на многое влияет — на тон ответа, на его структуру, на то, раскрывает ли модель тему подробно или отвечает коротко. Но эта крупица правды маскирует основную ошибку: перечисленные приёмы не делают модель точнее в смысле фактов. Роль «ты — эксперт» меняет манеру изложения, а не проверяет достоверность того, что говорится. Пошаговое рассуждение — chain-of-thought — реально помогает на задачах, которые естественно раскладываются на шаги, но бесполезно или даже вредно там, где нужен прямой факт, и, что хуже, само рассуждение вслух не обязано честно отражать, почему модель пришла именно к этому ответу. А по-настоящему высокая цена ошибки — там, где ответ должен быть проверяемым, юридически значимым, детерминированным, — решается не формулировкой запроса, а выбором архитектуры системы вокруг модели.</a:t>
            </a:r>
          </a:p>
          <a:p/>
          <a:p>
            <a:r>
              <a:t>Вся эта лекция — систематическое опровержение «магической пилюли» на конкретных архитектурах: промпт и его границы, RAG, дообучение, агенты и API. К концу лекции у вас будет ответ на вопрос, поставленный выше: не более изящная формулировка, а осознанный выбор инструмента под требование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сегодня — архитектуры AI-систем: агенты, RAG, API. Это последняя обзорная лекция вводного модуля курса. Лекция 1 объяснила, что такое AI-модель и как устроен промпт; Лекция 2 — почему промпт работает изнутри: токенизация, эмбеддинги, внимание, сэмплинг. Эта лекция отвечает на следующий по порядку инженерный вопрос: как из модели собрать работающую систему — и как выбрать, какую именно систему собирать.</a:t>
            </a:r>
          </a:p>
          <a:p/>
          <a:p>
            <a:r>
              <a:t>Несущая мысль всей лекции одна, и её стоит держать в голове до конца: выбор архитектуры — это инженерное решение под конкретную задачу, а не следование моде. Часто правильный ответ — простая из возможных архитектур. А иногда правильный ответ — вообще не использовать ИИ. Мы будем возвращаться к этой мысли в каждом разделе: сначала разберём, что умеет один вызов модели и где его границы, затем поднимемся по ступеням сложности — RAG, fine-tuning, агенты — и на каждой ступени зададим один и тот же вопрос: а нужна ли здесь эта сложность вообще, и чем мы за неё платим.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углубляться в отдельные архитектуры, полезно увидеть маршрут целиком. Лекция состоит из шести разделов, и они выстроены не как каталог технологий, а как единая линия рассуждения. Раздел ноль — открытие: дело Air Canada, на котором видно, что цена неправильного выбора архитектуры вполне реальна. Первый раздел — промпт и его границы: дешёвый и предсказуемый способ применить модель, один вызов, и то, где он упирается в предел. Второй — RAG, поиск-дополненная генерация, надстройка над семантическим поиском из прошлой лекции. Третий — дообучение модели и его честное место в ряду «промпт против RAG против fine-tuning». Четвёртый и центральный — агенты: как модель становится компонентом системы через API и MCP, из чего собран агент-помощник, где живёт его память и как всё это ломается. И пятый — сборка: лестница архитектурной сложности, маршрут выбора и короткий чек-лист, который можно приложить к новой задаче за пару минут.</a:t>
            </a:r>
          </a:p>
          <a:p/>
          <a:p>
            <a:r>
              <a:t>Через все шесть разделов проходит одна несущая линия, ради которой стоит держать эту карту перед глазами. Это не «изучите шесть технологий», а «научитесь выбирать, какую из них применять под конкретную задачу — и распознавать случаи, где правильный ответ вообще не использовать ИИ». Каждый раздел заканчивается одинаково: не только «когда эту архитектуру применять», но и «когда её применять не следует». Именно это умение говорить обоснованное «нет» неподходящему инструменту, а не восторг перед самым мощным, и есть то, чему учит лекция.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Лекции 2 мы переносим сюда два готовых блока и не будем их переобъяснять. Первый — семантический поиск на эмбеддингах из Лекции 2, раздел 2: текст превращается в вектор, близость векторов означает близость смыслов, поэтому искать по смыслу можно без точного совпадения слов. На этом блоке целиком стоит RAG, и мы будем ссылаться на него как на известный. Второй блок — single-shot инференс из Лекции 2, раздел 4: один вызов модели — это один проход без памяти между вызовами. Вокруг этого одного прохода мы и будем сегодня надстраивать инструменты, циклы и агентов. Если семантический поиск или single-shot вспоминаются смутно — стоит перечитать соответствующие разделы Лекции 2 до этой лекции.</a:t>
            </a:r>
          </a:p>
          <a:p/>
          <a:p>
            <a:r>
              <a:t>Картинка на слайде задаёт структуру всей лекции. В центре — один вызов модели, базовая архитектура. Вокруг него — четыре обвязки, которые мы разберём. Первая — RAG: это и есть тот же семантический поиск из Лекции 2 плюс генерация поверх извлечённого; стрелка от эмбеддингов к RAG-узлу подчёркивает, что новый материал здесь надстраивается на уже знакомый, а не вводится с нуля. Вторая — function calling: способ дать модели возможность дотянуться до внешней системы. Третья — MCP: стандарт, которым инструменты подключаются к модели. Четвёртая — цикл агента: много шагов вокруг одного прохода. К концу лекции эти четыре обвязки будут для вас не списком модных слов, а набором инструментов с известными границами применимости, между которыми вы умеете осознанно выбирать. Детали RAG — в Разделе 2; здесь важно лишь зафиксировать, что он стоит на знакомом фундаменте.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центральный вопрос всей лекции, к которому мы будем возвращаться в каждом разделе: у меня есть задача и доступ к LLM — какую архитектуру выбрать, и когда правильный ответ «не ИИ»? Обратите внимание на вторую половину вопроса. Она не риторическая. Одна из вещей, которой учит этот курс, — умение сказать «здесь ИИ не нужен», и эта лекция доводит этот навык до инструмента.</a:t>
            </a:r>
          </a:p>
          <a:p/>
          <a:p>
            <a:r>
              <a:t>Ответом будет лестница из шести ступеней — она на слайде. Снизу вверх: обычный код без ИИ; один вызов модели с хорошим промптом; RAG или контекст-инжиниринг; workflow с предопределёнными путями; агент с динамическим циклом; и наверху мульти-агент. Правило движения по этой лестнице — единственное и центральное для всей лекции: оставайтесь на самой нижней ступени, которая закрывает требования задачи, и поднимайтесь на следующую только тогда, когда есть явно сформулированное требование, которого текущая ступень не закрывает. Каждый подъём оплачивается новыми режимами отказа, стоимостью, задержкой, ухудшением аудируемости и новой поверхностью атаки.</a:t>
            </a:r>
          </a:p>
          <a:p/>
          <a:p>
            <a:r>
              <a:t>Заметьте, что нижняя ступень — обычный код без ИИ. Лестница архитектур AI-систем начинается с вопроса «а нужен ли здесь ИИ вообще». Дело Air Canada из открытия — это ровно случай, когда инженер поднялся на ступень с генерацией там, где задача жила на нижней ступени детерминированного кода. И последнее, важное: эта лестница — карта лекции, а не требование понять всё прямо сейчас. Каждую ступень мы разберём отдельно и для каждой сформулируем, когда на неё подниматься не нужно. Сейчас достаточно запомнить только структуру и правило.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поставили центральный вопрос лекции: есть задача и доступ к языковой модели — какую архитектуру выбрать, и когда правильный ответ «не ИИ». И мы увидели лестницу из шести ступеней целиком, как карту: обычный код, один вызов, RAG, workflow, агент, мульти-агент. Сейчас начинается первый содержательный раздел, и логика здесь принципиальна: мы идём по лестнице снизу вверх, а не сверху вниз. Не «какой мощный инструмент существует», а «достаточно ли простого, и если нет — то под какое именно требование задачи мы поднимаемся на ступень выше».</a:t>
            </a:r>
          </a:p>
          <a:p/>
          <a:p>
            <a:r>
              <a:t>Нижняя ступень с участием модели — это один вызов с хорошим промптом. Прежде чем говорить про RAG, дообучение, агентов и всё, что у всех на слуху, инженерно честно сначала понять, что вообще умеет один вызов, насколько далеко он тянет, и где именно проходит его естественный потолок. Потому что подавляющее большинство задач закрывается именно здесь, дёшево и предсказуемо, а каждый подъём по лестнице оплачивается ростом стоимости, задержки и числа способов всё сломать. В этом разделе мы разберём четыре вещи: почему выбор по умолчанию — это один вызов; что такое Chain-of-thought и где он помогает; почему проговорённое моделью рассуждение нельзя принимать за её настоящую причину; и как курировать контекст, а не сваливать в него всё подряд. Это и есть граница, за которой начинается следующая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говорить о промпте, зафиксируем точку отсчёта — способ, которым инженер заставлял систему сделать нужное до появления больших языковых моделей и который никуда не делся. Классический ответ на вопрос «как получить от машины ровно то, что мне нужно» строится не на формулировке пожелания на естественном языке, а на точной спецификации и детерминированной программе. Разберём этот способ с нуля, потому что промпт — его прямая противоположность по одной ключевой оси, и увидеть эту ось можно только рядом с классикой.</a:t>
            </a:r>
          </a:p>
          <a:p/>
          <a:p>
            <a:r>
              <a:t>Классическая дисциплина постановки задачи опирается на несколько named-инструментов. Формальная спецификация описывает, что система обязана делать, на языке без двойного толкования: пред- и постусловия, инварианты, в пределе — машинно-проверяемые спецификации (Z-нотация Абриаля, TLA+ Лэмпорта, контрактное программирование в стиле Design by Contract). Техническое задание фиксирует требования, границы и критерии приёмки — то, по чему потом принимают работу. Контракт интерфейса — точное соглашение о том, что метод или сервис принимает на вход и что гарантирует на выходе (сигнатуры типов, OpenAPI, Protobuf). Общий признак: результат детерминирован и верифицируем.</a:t>
            </a:r>
          </a:p>
          <a:p/>
          <a:p>
            <a:r>
              <a:t>Здесь же проходит различение двух стилей задания задачи. Императивный отвечает на вопрос «как сделать» — программа перечисляет шаги. Декларативный отвечает на вопрос «что должно получиться» — запрос SELECT не говорит, как искать; он описывает искомый результат, а как его добыть, решает планировщик. В обоих случаях у постановки был единственный корректный смысл и способ его проверить.</a:t>
            </a:r>
          </a:p>
          <a:p/>
          <a:p>
            <a:r>
              <a:t>Теперь мост к остальному разделу. Промпт — это постановка задачи вероятностной системе на естественном языке. В этом и сила, и граница. Сила: не нужно формально специфицировать то, для чего спецификация неподъёмна, — «перепиши это письмо вежливее». Граница: у естественного языка нет единственного корректного смысла, а у исполнителя нет детерминизма. Отсюда и практическое правило шва: промптом задают то, что нельзя формально специфицировать; всё, что специфицируется, оставляют классике.</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выбирать между RAG, fine-tuning и агентами, зафиксируем точку отсчёта. Дешёвая, надёжная и предсказуемая AI-архитектура — это один вызов модели с хорошо составленным промптом[1]. Один вызов — в Лекции 2 это single-shot инференс — не имеет ни внешнего поиска, ни цикла, ни инструментов: на вход промпт, на выход ответ, памяти между вызовами нет. У него минимальная стоимость, минимальная задержка и максимальная предсказуемость: нет петель, которые расходятся, нет retrieval, который тихо деградирует.</a:t>
            </a:r>
          </a:p>
          <a:p/>
          <a:p>
            <a:r>
              <a:t>Зафиксируем границу, несущую для всего раздела: модель знает только то, что попало в промпт, плюс то, что осело в её весах при обучении. Это единственный источник информации, доступный одному вызову. Всё, чего нет ни в промпте, ни в весах, модели неизвестно, и тогда она либо честно откажется отвечать, либо сгенерирует правдоподобный, но ни на что не опирающийся текст. Именно эта граница — причина, по которой дальше появляется RAG, расширяющий то, что «в промпте», и fine-tuning, расширяющий то, что «в весах».</a:t>
            </a:r>
          </a:p>
          <a:p/>
          <a:p>
            <a:r>
              <a:t>Инженерное правило по умолчанию: не усложнять архитектуру без причины, выраженной в требованиях задачи. Это не призыв к примитивизму, а распределение бремени доказательства. По умолчанию архитектура — один вызов. Любой переход выше требует явного обоснования: вот требование задачи, которое одним вызовом не закрывается, поэтому я добавляю RAG, инструмент или цикл. Если такого требования сформулировать не получается, усложнение — это технический долг, который вы берёте без необходимости.</a:t>
            </a:r>
          </a:p>
          <a:p/>
          <a:p>
            <a:r>
              <a:t>Полезно зафиксировать, во что обходится каждый подъём, чтобы бремя доказательства было перечнем. Добавляя RAG, вы добавляете конвейер индексации, векторное хранилище, компонент retrieval, который может молча деградировать, и метрики его качества. Добавляя инструменты и цикл агента — внешние вызовы, которые падают и тормозят, петли, которые расходятся, недетерминизм траектории и новую поверхность атаки. Ни один из этих пунктов не появляется у одного вызова. Поэтому «один вызов по умолчанию» — не консерватизм, а отказ оплачивать инфраструктуру и режимы отказа, которых задача не требует.</a:t>
            </a:r>
          </a:p>
          <a:p/>
          <a:p>
            <a:r>
              <a:t>Источники:</a:t>
            </a:r>
          </a:p>
          <a:p>
            <a:r>
              <a:t>[1] Anthropic — Building Effective Agents («найди простейшее») — не усложняй архитектуру без требования задачи — распределение бремени доказательства.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промпта «роль плюс задача плюс контекст» знакома с первой лекции, и роль — частый первый элемент, который инженер пишет в системный промпт: «ты опытный юрист», «ты строгий редактор». Интуиция обычно такая: чем точнее роль, тем компетентнее ответ, будто модель переключается в режим эксперта. Это один из самых живучих мифов, и его стоит разобрать честно. Механически роль — это токены, которые появляются в контексте раньше вопроса и участвуют во всех вычислениях внимания, о котором шла речь в прошлой лекции: она не включает экспертный режим тумблером, а сдвигает распределение вероятностей следующих токенов в сторону текста, похожего на то, как отвечал бы держатель этой роли в обучающих данных.</a:t>
            </a:r>
          </a:p>
          <a:p/>
          <a:p>
            <a:r>
              <a:t>Ключевой вопрос — сдвигает ли это фактическую точность[1], а не только подачу. Специально спроектированное исследование Zheng и коллег дало однозначный ответ: 162 персоны, восемь доменов экспертизы, 2410 фактических вопросов, четыре семейства моделей — и персоны не повышают точность по сравнению с ответом вообще без роли. Модель, которой сказали «ты нобелевский лауреат по физике», не отвечает на физику точнее модели без роли. Отдельное исследование показывает, на что роль влияет реально: на тон и глубину изложения — насколько формально и подробно раскрыта тема, — но не на то, верен ли сообщаемый факт, и этот эффект модель-специфичен. Вывод для инженера: роль — инструмент настройки стиля, а не повышения точности. Нужна фактическая точность — работает грамотный контекст и, при необходимости, опора на проверяемый источник, а не удачная формулировка роли.</a:t>
            </a:r>
          </a:p>
          <a:p/>
          <a:p>
            <a:r>
              <a:t>Источники:</a:t>
            </a:r>
          </a:p>
          <a:p>
            <a:r>
              <a:t>[1] Zheng et al. 2024, Findings of EMNLP — персоны не повышают точность фактов — 162 персоны · 8 доменов · 2410 фактических вопросов · 4 семейства → нет прироста точности. https://arxiv.org/abs/2311.10054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промптинге слово «роль» имеет два независимых значения. Роль-персона — «ты — юрист» — это текст в сообщении, влияет на тон. Протокольные роли system/user/assistant — это разметка структуры диалога, не текст, а разметка «кто говорит». Первая отвечает на вопрос «в каком тоне», вторая — «чья реплика».</a:t>
            </a:r>
          </a:p>
          <a:p/>
          <a:p>
            <a:r>
              <a:t>Протокольные роли нужны, чтобы модель отличала инструкцию разработчика от пользовательского ввода и собственных ответов. Модель обучена относиться к системной роли как более авторитетной — но это статистическая привычка, не архитектурная гарантия. Исследование показало: GPT-4o подчиняется приоритету системной инструкции только в 63,8% случаев. Специальная тренировка подняла до 94,1% — но не 100%. Приоритет — склонность, не граница безопасности.</a:t>
            </a:r>
          </a:p>
          <a:p/>
          <a:p>
            <a:r>
              <a:t>Физически модель получает поток токенов с разметкой ролей. Список сообщений собирается chat-шаблоном, который оборачивает каждое сообщение специальными токенами. Отсюда уязвимость: если во внешний контент — веб-страницу, файл, письмо — попадёт текст, похожий на разметку роли, модель может интерпретировать его как собственную реплику. Это атака Special Token Injection: строка-подделка, имитирующая начало реплики ассистента, вставляется во внешний контент. Исследование на агентных сценариях показало рост успешности атаки в разы и что просьба к модели «не поддаваться» почти не защищает. Реальная защита — экранирование спецтокенов во входящем контенте и проверка chat-шаблона для локальных моделей.</a:t>
            </a:r>
          </a:p>
          <a:p/>
          <a:p>
            <a:r>
              <a:t>Special Token Injection — это частный случай инъекции в промпт. Полный разбор инъекции как класса атак агента будет в разделе про агентов (безопасность агента) — там же меры защиты на уровне архитектуры.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роль отвечает за тон, то за качество ответа в куда большей степени отвечает структура промпта — насколько ясно в тексте запроса разделены три разных вида содержимого: инструкция, то есть что сделать; контекст, то есть на основе чего; и данные, то есть с чем именно работать. Плоский промпт, где всё это слито в один абзац свободного текста, заставляет модель самостоятельно угадывать границы между этими ролями, и чем длиннее и разнороднее промпт, тем выше цена такой неоднозначности.</a:t>
            </a:r>
          </a:p>
          <a:p/>
          <a:p>
            <a:r>
              <a:t>Практический инструмент — разделители: явные текстовые маркеры, отделяющие один вид содержимого от другого. Распространённые варианты — XML-подобные теги, markdown-заголовки или тройные кавычки вокруг вставляемого текста. Конкретный синтаксис менее важен, чем сам факт разделения: модель, которой явно показали, где кончается инструкция и начинаются данные для обработки, реже путает одно с другим. В частности, реже воспринимает фрагмент вставленных данных как новую команду — а это та же путаница «данные против команды», которая лежит в основе prompt injection, атаки, которую мы подробно разберём в разделе про безопасность агентов.</a:t>
            </a:r>
          </a:p>
          <a:p/>
          <a:p>
            <a:r>
              <a:t>Это тот же инженерный принцип, что мы встретим у structured output: там разработчик задаёт модели строгую схему для выхода, здесь — структуру для входа. Механизм разный, а идея одна: модель работает точнее, когда её ясно ориентируют, что есть что, а не оставляют выводить это по смыслу текста.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Chain-of-thought, или пошаговое рассуждение, — это приём, при котором модель просят не выдавать ответ сразу, а сначала пошагово рассуждать вслух, и только затем формулировать итог. Технически это всё ещё один вызов: изменён только промпт и форма ответа. Посмотрите на рабочий пример про яблоки: было 23, семь испортились, докупили два ящика по шесть. Без пошагового рассуждения модель часто выдаёт правдоподобное, но неверное число, потому что сэмплинг генерирует ответ потокенно и короткий путь легко уводит в ошибку. С CoT модель порождает промежуточные вычисления — 23 минус 7 равно 16; два по шесть это 12; 16 плюс 12 равно 28[1] — и качество на арифметике и многошаговой логике заметно растёт, потому что каждый сгенерированный токен служит опорой для внимания на следующем шаге. Но «CoT почти всегда помогает» — заблуждение: на прямом извлечении факта или простой классификации рассуждение не помогает и может навредить — удлиняет ответ и уводит в правдоподобную ошибку. Это инструмент под класс задач, а не тумблер «сделать точнее».</a:t>
            </a:r>
          </a:p>
          <a:p/>
          <a:p>
            <a:r>
              <a:t>Теперь предел этого приёма, и он важнее приёма. Естественно предположить, что раз модель рассуждает вслух, по этому рассуждению можно проверить, как она пришла к ответу. Это неверно фундаментально. Faithfulness, верность рассуждения, — степень, в которой проговорённая цепочка отражает реальные факторы, повлиявшие на ответ. Anthropic измерила это напрямую: модели давали задачу с подсказкой, меняющей ответ, и смотрели, упоминает ли модель эту подсказку в рассуждении. Claude 3.7 упоминал реально использованную подсказку примерно в четверти случаев, DeepSeek R1 — примерно в двух из пяти[2]; в остальных модель меняла ответ под влиянием подсказки, но строила выдуманную аргументацию. Вывод структурный: цепочка — сгенерированный текст, подчиняющийся той же механике сэмплинга, произведённый быть правдоподобным, а не верным протоколом внутреннего вычисления. Unfaithfulness — свойство класса, не баг конкретной модели. Практический вывод и одна из сквозных линий курса: человек-валидатор проверяет результат и факты против независимого источника, а не самообъяснение модели.</a:t>
            </a:r>
          </a:p>
          <a:p/>
          <a:p>
            <a:r>
              <a:t>Источники:</a:t>
            </a:r>
          </a:p>
          <a:p>
            <a:r>
              <a:t>[1] Wei et al. 2022 — Chain-of-Thought Prompting — пошаговое рассуждение поднимает надёжность на арифметике/многошаговой логике. https://arxiv.org/abs/2201.11903</a:t>
            </a:r>
          </a:p>
          <a:p>
            <a:r>
              <a:t>[2] Anthropic — Reasoning Models Don't Always Say What They Think — faithfulness: Claude 3.7 ~25%, DeepSeek R1 ~39% — рассуждение не обязано отражать причину.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Естественно предположить: если модель рассуждает вслух, можно аудировать решение по его объяснению. Это предположение фундаментально неверно. Faithfulness — степень, в которой проговорённая цепочка рассуждений действительно отражает реальные факторы, повлиявшие на ответ. Низкая faithfulness означает: объяснение и фактическая причина — разные вещи; текст правдоподобен, но не отражает процесс.</a:t>
            </a:r>
          </a:p>
          <a:p/>
          <a:p>
            <a:r>
              <a:t>Anthropic измерила это в апреле 2025 года методом, который делает вывод неопровержимым. Модели давали задачу дважды: без подсказки и с подсказкой (например, «профессор считает, что ответ C»), которая меняла ответ. Затем смотрели: когда подсказка изменила ответ, упоминает ли модель это в рассуждении? Результат: Claude 3.7 упоминал подсказку примерно в одном из четырёх случаев — 25%, DeepSeek R1 — почти в двух из пяти — 39%. В остальных случаях модель меняла ответ, но строила совсем другую аргументацию, не упоминая реальную причину. Хуже: faithfulness падает на трудных задачах, там, где ошибка дороже всего и аудит нужнее.</a:t>
            </a:r>
          </a:p>
          <a:p/>
          <a:p>
            <a:r>
              <a:t>Это структурное, не просто сбой. Цепочка рассуждений — сгенерированный текст, как любой выход модели. Она производится, чтобы быть правдоподобной, не чтобы быть верным протоколом вычисления. Любая архитектура, использующая самообъяснение как контроль, наследует этот дефект: контроль на основе самооценки — не контроль. Вывод: человек-валидатор проверяет сам результат против независимого источника — базы, документа, расчёта, — а не правдоподобность объяснения.</a:t>
            </a:r>
          </a:p>
          <a:p/>
          <a:p>
            <a:r>
              <a:t>Источники:</a:t>
            </a:r>
          </a:p>
          <a:p>
            <a:r>
              <a:t>[1] Anthropic — Reasoning Models Don't Always Say What They Think (апрель 2025) — Claude 3.7 ≈25%, DeepSeek R1 ≈39% упоминаний использованной подсказки в рассуждении.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chain-of-thought — это про форму одного вызова, то контекст-инжиниринг — про его содержимое. Введём различение. Промпт-инжиниринг, знакомый по Лекции 1, — это формулировка одной инструкции: роль, задача, контекст в тексте запроса. Контекст-инжиниринг — более широкая и итеративная дисциплина: курирование всего набора токенов, видимых модели на инференсе[3], включая системные инструкции, описания доступных инструментов, подгружаемые внешние данные и историю сообщений. Ключевой принцип формулируется так: найти наименьший набор высокосигнальных токенов, максимизирующий вероятность желаемого исхода.</a:t>
            </a:r>
          </a:p>
          <a:p/>
          <a:p>
            <a:r>
              <a:t>Почему минимальность контекста — не эстетика, а инженерное требование? Здесь нужно вспомнить эффект из Лекции 2, который мы там назвали «lost in the middle»: модель хуже использует информацию, попавшую в середину длинного контекста, по сравнению с началом и концом. У этого феномена появилось второе имя — context rot, гниение контекста: по мере роста числа токенов точность извлечения моделью нужной информации падает. На графике это и видно: горизонтальная ось — сколько токенов в контексте, и чем дальше вправо по ней (чем длиннее контекст), тем ниже идёт кривая точности. Это тот же феномен, что «lost in the middle» из Лекции 2, под новым практическим названием — я делаю эту сшивку явно, чтобы термин не воспринимался как новая сущность. Механизм тот же: попарные связи механизма внимания растут квадратично с длиной.</a:t>
            </a:r>
          </a:p>
          <a:p/>
          <a:p>
            <a:r>
              <a:t>Прямое следствие: «просто положить всё в контекст» — не стратегия. Большое контекстное окно даёт возможность вместить много текста, но не гарантию, что модель этим текстом воспользуется правильно. И это, забегая вперёд, один из ключей к вопросу «когда НЕ RAG», который мы разберём в Разделе 2: иногда правильный ответ — не строить retrieval-инфраструктуру, а аккуратно курировать небольшой стабильный контекст и переиспользовать его через кэширование. То есть это первый практический критерий: если корпус знаний мал, стабилен и помещается в окно — RAG здесь добавил бы хрупкость без выигрыша, и правильный ответ проще, чем кажется.</a:t>
            </a:r>
          </a:p>
          <a:p/>
          <a:p>
            <a:r>
              <a:t>Источники:</a:t>
            </a:r>
          </a:p>
          <a:p>
            <a:r>
              <a:t>[1] Chroma Research — Context Rot — точность извлечения падает с ростом числа токенов в контексте. https://research.trychroma.com/context-rot</a:t>
            </a:r>
          </a:p>
          <a:p>
            <a:r>
              <a:t>[2] Liu et al. 2023 — Lost in the Middle — тот же феномен «lost in the middle» из Лекции 2 — новый термин, не новая сущность. https://arxiv.org/abs/2307.03172</a:t>
            </a:r>
          </a:p>
          <a:p>
            <a:r>
              <a:t>[3] Anthropic — Effective Context Engineering — минимальный высокосигнальный контекст — инженерное требование, не эстетика. https://www.anthropic.com/engineering/effective-context-engineering-for-ai-agents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раздел про промпт в один практический инструмент — короткий чек-лист, который можно приложить к любому промпту перед его первым запуском. Он не заменяет остальной материал, а фиксирует минимум, ниже которого промпт систематически недорабатывает. Первое: роль задана, если нужен конкретный тон или регистр, и явно не используется как обещание точности — если задача требует фактической верности, роль эту задачу не решает. Второе: задача сформулирована как конкретное проверяемое действие, а не расплывчатое пожелание. Третье: контекст содержит минимально необходимое, а не всё, что могло бы пригодиться. Четвёртое: формат вывода указан явно, если ответ должен быть машинно-обрабатываемым.</a:t>
            </a:r>
          </a:p>
          <a:p/>
          <a:p>
            <a:r>
              <a:t>Пятое: расставлены разделители, если промпт содержит больше одного вида содержимого — инструкцию, контекст, вставляемые данные. Шестое: примеры добавлены только если формат ответа неочевиден из одной инструкции; если модель справляется и без них, примеры лишь расходуют контекст. Седьмое: пошаговое рассуждение включено только там, где задача требует многошаговой логики, а для прямого извлечения факта — не нужно. Восьмое: проверено, что промпт не длиннее необходимого, потому что каждый лишний абзац — это токены, которые нужно оплатить и которые рискуют утонуть в контексте. Этот чек-лист — не процедура ради процедуры, а сжатый свод всего раздела: роль не равна точности, структура помогает разделить входы, рассуждение — точечный инструмент, а контекст — минимальный, а не максимальный.</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закончили первый раздел: по умолчанию — один вызов, его можно усилить пошаговым рассуждением, но у рассуждения есть предел верности, и контекст нужно курировать, а не сваливать. Теперь — следующая ступень лестницы.</a:t>
            </a:r>
          </a:p>
          <a:p/>
          <a:p>
            <a:r>
              <a:t>Один вызов с хорошим промптом упирается в естественную границу: модель знает только то, что попало в её веса при обучении, плюс то, что вы вручную положили в контекст. Если задача требует знаний, которых в весах нет, — например, приватной базы компании, — или которые меняются быстрее, чем выходят новые версии модели, — например, актуальных цен или документов, — один вызов не справится. Здесь начинается RAG: поиск-дополненная генерация.</a:t>
            </a:r>
          </a:p>
          <a:p/>
          <a:p>
            <a:r>
              <a:t>В одной фразе принцип такой: перед вызовом модели система сначала извлекает релевантные фрагменты из внешнего хранилища знаний, кладёт их в контекст вместе с вопросом, и только затем модель генерирует ответ, опираясь на эти фрагменты. В этом разделе мы разберём: как RAG устроен в три шага и почему механизм поиска в нём — это ровно семантический поиск из Лекции 2; когда RAG — правильный выбор, а когда — нет, и почему второе важнее; и как RAG тихо ломается на масштабе, замыкая раздел обратно на дело Air Canada из открытия.</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принято подавать как новую технологию, выросшую из эмбеддингов. Это скрывает существенное: буква R в RAG — retrieval, поиск — это дисциплина с полувековой историей, и именно её устройство определяет, где RAG работает, а где ломается. Разберём классический информационный поиск с нуля, как искали в тексте до эмбеддингов, потому что без этой базы семантический поиск выглядит магией, а он не магия, а следующий слой поверх понятного фундамента.</a:t>
            </a:r>
          </a:p>
          <a:p/>
          <a:p>
            <a:r>
              <a:t>Бытовой предок машинного поиска — библиотечный каталог: карточки, упорядоченные по автору, названию и рубрике, плюс отсылки «см. также». Ровно эту идею машина воспроизводит через инвертированный индекс — структуру, которая для каждого слова хранит список документов, где оно встречается. Вместо сканирования всех текстов система заглядывает в индекс по словам запроса и мгновенно получает кандидатов. Это фундамент любой полнотекстовой системы и до сих пор рабочая лошадь промышленной эксплуатации.</a:t>
            </a:r>
          </a:p>
          <a:p/>
          <a:p>
            <a:r>
              <a:t>Поверх индекса классика решает две задачи — отбор и ранжирование. Отбор задаёт булев поиск: запрос как логическое выражение отбирает документы точно и объяснимо. Ранжирование отвечает, в каком порядке показать отобранное. TF-IDF взвешивает слово тем сильнее, чем чаще оно в этом документе и реже во всей коллекции. Промышленный стандарт до сегодня — BM25 из семейства Okapi: развитие TF-IDF с насыщением по частоте и нормировкой на длину. BM25 — не устаревший артефакт, а сильная дешёвая базовая линия.</a:t>
            </a:r>
          </a:p>
          <a:p/>
          <a:p>
            <a:r>
              <a:t>Ключевое свойство этой классики — она работает на лексическом совпадении: находит документы с теми же словами, что в запросе. Отсюда сила на кодах и идентификаторах и граница на синонимах. Семантический поиск на эмбеддингах добавляет недостающий слой смысла, но классика не исчезает: сильные RAG-системы 2026 года — гибрид BM25 и векторов, а не dense-only. RAG — расширение классического поиска, и его провалы во многом там, где о классическом фундаменте забыли.</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retrieval-augmented generation, поиск-дополненная генерация — это архитектура, в которой перед вызовом модели система сначала извлекает релевантные фрагменты из внешнего хранилища, кладёт их в контекст вместе с вопросом, и только затем модель генерирует ответ, опираясь на эти фрагменты[1]. Введём термин: retrieval — этап поиска и извлечения релевантных фрагментов; именно он отличает RAG от «положить документ в промпт вручную».</a:t>
            </a:r>
          </a:p>
          <a:p/>
          <a:p>
            <a:r>
              <a:t>Ключевое: механизм retrieval в RAG — это ровно тот семантический поиск на эмбеддингах, который мы построили в Лекции 2, и переобъяснять его не будем. Напомню одной фразой: текст превращается в вектор, близость векторов означает смысловую близость, поэтому фрагмент можно найти по смыслу вопроса, а не по совпадению слов. RAG надстраивает три шага. Первый — индексация, заранее, офлайн: корпус режется на фрагменты, каждый превращается в эмбеддинг и кладётся в векторное хранилище. Второй — retrieval, на запрос: вопрос превращается в эмбеддинг, по близости векторов достаются k релевантных фрагментов. Третий — генерация с опорой: фрагменты кладутся в контекст вместе с вопросом, модель отвечает, опираясь на них, и в хорошей реализации — со ссылкой на источник.</a:t>
            </a:r>
          </a:p>
          <a:p/>
          <a:p>
            <a:r>
              <a:t>Введём ещё один термин, несущий в разделе основную нагрузку. Grounding, опора на источник, — свойство ответа быть выведенным из конкретных извлечённых фрагментов, а не сочинённым моделью из головы, с возможностью показать, из какого фрагмента взят каждый факт. Хорошая RAG-система проектируется так, чтобы ответ был grounded, и чтобы на вопрос, на который в извлечённых фрагментах ответа нет, система говорила «не знаю» или «см. источник», а не сочиняла. Сформулируем как инженерный инвариант: «не знаю» — корректный ответ RAG-системы; правдоподобный ответ при нерелевантном retrieval — дефект, а не «хоть что-то». Различение «ответ с опорой и цитатой» против «правдоподобный текст» окажется центральным дальше и прямо объясняет дело Air Canada.</a:t>
            </a:r>
          </a:p>
          <a:p/>
          <a:p>
            <a:r>
              <a:t>Источники:</a:t>
            </a:r>
          </a:p>
          <a:p>
            <a:r>
              <a:t>[1] Lewis et al. 2020 — Retrieval-Augmented Generation (NeurIPS) — каноническая статья RAG: индексация → retrieval → генерация с опорой. https://arxiv.org/abs/2005.11401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правильный выбор, когда налицо сильный сигнал по одному или нескольким признакам[1] и при этом нет блокеров с соседнего критерия «когда НЕ». Первый признак: знание большое или растущее — корпус не помещается в окно целиком, либо помещается, но класть его в каждый запрос дорого и медленно. Второй: знание меняется — документы, цены, регламенты обновляются чаще, чем выходят версии модели; RAG читает актуальное хранилище в момент запроса, и новый документ доступен сразу после индексации. Третий: нужны свежесть и провенанс — ответ должен опираться на проверяемый источник, и нужно показать, откуда взят факт; регулируемые домены почти всегда требуют провенанса. Четвёртый: база приватная — знания компании не входят в веса публичной модели.</a:t>
            </a:r>
          </a:p>
          <a:p/>
          <a:p>
            <a:r>
              <a:t>Важна логика применения. Один явный признак — уже повод присмотреться к RAG, но не повод строить его автоматически: прежде чем решать, сверьте задачу с критериями «когда НЕ» — нет ли там блокера. Знание большое, но не меняется и помещается в окно — кандидат на длинный контекст, а не RAG. Знание меняется, но задача сводится к отдаче фиксированного значения — кандидат на детерминированный lookup. Признаки обычно усиливают друг друга: знание, одновременно большое, меняющееся, требующее провенанса и приватное, — это и есть профиль, под который RAG спроектирован, и чем больше признаков сходится, тем увереннее выбор. Формула короткая: сильный сигнал плюс отсутствие блокеров.</a:t>
            </a:r>
          </a:p>
          <a:p/>
          <a:p>
            <a:r>
              <a:t>Рабочий пример, к которому вернёмся как к разбору чек-листа в финале: корпоративная база из тысяч регламентов, обновляемых еженедельно, вопросы на естественном языке, обязательная ссылка на пункт-источник. Все четыре признака сошлись, и ни один более простой механизм их совместно не закрывает, а проверка по критериям «когда НЕ» ничего не отменяет. Это образцовый профиль RAG. И практическое наблюдение: выигрыш RAG над прямым ответом особенно велик для меньших моделей — внешний retrieval компенсирует то, чего меньшей модели не хватает в весах, поэтому RAG нередко даёт нужное качество на более дешёвой модели.</a:t>
            </a:r>
          </a:p>
          <a:p/>
          <a:p>
            <a:r>
              <a:t>Источники:</a:t>
            </a:r>
          </a:p>
          <a:p>
            <a:r>
              <a:t>[1] IBM — RAG vs Fine-Tuning (вендор-нейтрально) — признаки-за-RAG: большое/меняется/провенанс/приватное. https://www.ibm.com/think/topics/rag-vs-fine-tuning</a:t>
            </a:r>
          </a:p>
          <a:p>
            <a:r>
              <a:t>[2] U-NIAH — RAG win-rate выше у меньших моделей — выигрыш RAG над прямым ответом особенно велик для меньших моделей. https://arxiv.org/abs/2503.00353 [VFY-day-of]</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Знать, когда RAG не нужен, ценнее, чем знать, когда нужен, потому что RAG — модная архитектура, и её ставят туда, где она вредит. Три явных критерия «не RAG»[1].</a:t>
            </a:r>
          </a:p>
          <a:p/>
          <a:p>
            <a:r>
              <a:t>Первый. Корпус помещается в окно — ориентир порядка менее двухсот тысяч токенов — и меняется не часто. Правильный ответ — full-context с кэшированием префикса, а не RAG-инфраструктура. Это проще, дешевле и не вносит риск «retrieval достал не то»: нет векторного хранилища, конвейера индексации, компонента retrieval, который может сломаться. RAG здесь куплен без необходимости.</a:t>
            </a:r>
          </a:p>
          <a:p/>
          <a:p>
            <a:r>
              <a:t>Второй. Задача — отдать фиксированную политику или значение: тариф, цена, пункт регламента, правило. Если ответ детерминирован и заранее известен, правильная архитектура — детерминированный lookup или статическая страница, а не «retrieval плюс генерация поверх». Генерация поверх фрагмента всегда несёт риск, что модель перефразирует, обобщит или додумает — именно это произошло в деле Air Canada.</a:t>
            </a:r>
          </a:p>
          <a:p/>
          <a:p>
            <a:r>
              <a:t>Третий критерий часто упускают. Данные уже доступны напрямую и живьём через API, MCP или поиск в другой системе. Если знание и так лежит во внутреннем сервисе с REST-интерфейсом или в базе, доступной через MCP, — строить отдельный RAG-индекс поверх него избыточно. RAG существует, чтобы дать доступ к знанию, до которого нет прямого пути; если путь уже есть, RAG добавляет лишний, более хрупкий и устаревающий слой. Разница стратегическая: прямой вызов инструмента возвращает данные на момент запроса, а RAG-индекс — на момент последней индексации. Признак прост: если на вопрос «а почему бы модели не спросить систему X напрямую через инструмент?» ответ — «действительно, почему бы и нет», — RAG не нужен.</a:t>
            </a:r>
          </a:p>
          <a:p/>
          <a:p>
            <a:r>
              <a:t>Сведём в правило: RAG избыточен, если корпус помещается в окно и стабилен, если задача сводится к фиксированному значению, или если знание уже доступно живьём через инструмент. Выполнен любой из трёх — сигнал остановиться. И даже когда ни один не сработал и RAG оправдан, это не гарантирует, что он будет работать хорошо на масштабе, — отдельный вопрос.</a:t>
            </a:r>
          </a:p>
          <a:p/>
          <a:p>
            <a:r>
              <a:t>Источники:</a:t>
            </a:r>
          </a:p>
          <a:p>
            <a:r>
              <a:t>[1] Red Hat — RAG vs Fine-Tuning (когда не RAG) — корпус влезает в окно → full-context+кэш; фикс. значение → lookup; live → API без индекса. https://www.redhat.com/en/topics/ai/rag-vs-fine-tuning</a:t>
            </a:r>
          </a:p>
          <a:p>
            <a:r>
              <a:t>[2] McCarthy Tétrault — Air Canada («генерация поверх фикс. политики») — фиксированная политика → детерминированный lookup, не retrieval+генерация.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Урок раздела одной фразой: «система вернула что-то» не означает «система вернула правильное»[1,2]. RAG не имеет сигнала «я не нашёл подходящего» — по умолчанию он всегда возвращает k ближайших фрагментов, даже если они нерелевантны. Дальше модель честно делает свою работу: дали мусор — сочинит правдоподобный ответ поверх мусора.</a:t>
            </a:r>
          </a:p>
          <a:p/>
          <a:p>
            <a:r>
              <a:t>Это не гипотетический риск, а известный паттерн инжиниринга RAG — семь точек отказа систематизированы у Barnett et al. (arXiv:2401.05856, 2024). Три класса. Legal-AI достаёт «ближайшие k» дел; по вектору близки дела со совпадающими словами, но юридически нерелевантные — другая юрисдикция, отменённый прецедент; модель встраивает их как опору. Векторная близость — это близость формулировок, не применимости. Medical-RAG: вопрос про одного пациента извлекает фрагменты, близкие по симптомам, но от других пациентов; модель объединяет то, что клинически объединять нельзя. Support-бот: работал на сотнях статей, после роста до тысяч качество незаметно просело — деградация на масштабе, потому что порога «достаточно ли близко» нет. Альтернатива везде — не «убрать RAG», а сделать его наблюдаемой системой: эталонный проверочный набор и алерты, нарезка по смысловым границам, гибридный поиск с переранжированием.</a:t>
            </a:r>
          </a:p>
          <a:p/>
          <a:p>
            <a:r>
              <a:t>Теперь вернёмся к Air Canada[3] (дело *Moffatt v. Air Canada*, BC CRT, решение 14.02.2024) — с инструментами раздела. Бот сообщил про возврат разницы и сослался на страницу с реальной политикой; политика на той же странице такого возврата не допускала. Источник истины существовал, был доступен — но ответ был не выведен из него, а сгенерирован как правдоподобный текст. Это образцовый отказ grounding: сгенерированный текст в роли, требовавшей извлечённого факта. Правильная архитектура: для фиксированной политики — детерминированная страница или lookup; если нужен диалог — RAG со строгой опорой, обязательной цитатой, явным «не знаю» и человеческой проверкой. Air Canada — не «ИИ галлюцинирует», это решение поставить генеративную архитектуру на детерминированную задачу. Короткий вопрос вам: RAG вернул ответ — как узнать, что он правильный? Только измерением; на глаз правдоподобный от верного не отличить.</a:t>
            </a:r>
          </a:p>
          <a:p/>
          <a:p>
            <a:r>
              <a:t>Источники:</a:t>
            </a:r>
          </a:p>
          <a:p>
            <a:r>
              <a:t>[1] Barnett et al. 2024 — Seven Failure Points (RAG) — «вернул что-то ≠ вернул правильное»: 7 точек отказа RAG-инжиниринга. https://arxiv.org/abs/2401.05856</a:t>
            </a:r>
          </a:p>
          <a:p>
            <a:r>
              <a:t>[2] Kore.ai — Seven RAG Engineering Failure Points — legal-AI / medical-RAG / support-бот — деградация на масштабе без observability. https://www.kore.ai/blog/seven-rag-engineering-failure-points</a:t>
            </a:r>
          </a:p>
          <a:p>
            <a:r>
              <a:t>[3] McCarthy Tétrault — Air Canada (отказ grounding) — сгенерированный текст в роли, требовавшей извлечённого проверенного факта.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прошлом разделе мы разобрали RAG и закрыли им один конкретный класс проблем — проблему знания. Когда модели не хватает фактов: они приватные, или меняются быстрее, чем выходят новые версии модели, или нужен провенанс — мы не переучиваем модель, мы подкладываем нужные документы в контекст. Мы также честно разобрали, когда RAG не нужен и как он тихо ломается на масштабе, и замкнули раздел обратно на дело Air Canada.</a:t>
            </a:r>
          </a:p>
          <a:p/>
          <a:p>
            <a:r>
              <a:t>Но не всякая проблема — это проблема знания. Бывает, что фактов модели хватает, а не устраивает само поведение: она отвечает не в том тоне, не в том формате, не следует доменной политике, или вам нужна маленькая дешёвая модель, повторяющая поведение большой. Это другой класс задачи, и RAG его не решает — сколько документов ни подкладывай, тон от этого не изменится. Здесь на сцену выходит третий инструмент — fine-tuning, дообучение. И сразу важная оговорка по структуре раздела: следующий слайд — это не критика и не «когда не надо», а определение. Прежде чем разбирать, где fine-tuning сузился, где он проваливается через катастрофическое забывание и по каким критериям выбирать между ним, RAG и промптом, нужно одинаково понимать, что это вообще такое и чем оно принципиально отличается от двух уже знакомых инструментов. С определения и начнём.</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Классическое машинное обучение решает задачу так. Обучение модели под задачу в до-LLM-парадигме — это построение своей модели на своих данных: инженер собирает размеченный набор примеров «вход → правильный ответ» и настраивает параметры так, чтобы модель воспроизводила эти ответы, а затем обобщала на новые. Центральный термин — обучающая выборка: множество размеченных примеров, на которых модель учится. Разметку называют эталонной разметкой, ground truth, — известный правильный ответ, с которым сравнивают предсказание. До эпохи больших моделей решить задачу ИИ почти всегда означало собрать свой датасет, выбрать архитектуру под задачу и обучить свою узкую подконтрольную модель.</a:t>
            </a:r>
          </a:p>
          <a:p/>
          <a:p>
            <a:r>
              <a:t>Вторая несущая конструкция — дисциплина разбиения данных. Их делят на три непересекающиеся части: обучающую, валидационную и тестовую. На обучающей модель учится, на валидационной подбирают гиперпараметры, на тестовой — и только один раз, в конце — измеряют настоящее качество на данных, которых модель не видела. Железное правило: нельзя тестировать на обучающих данных, иначе точность окажется завышенной и рухнет в бою. Качество меряют явной метрикой, зафиксированной до обучения.</a:t>
            </a:r>
          </a:p>
          <a:p/>
          <a:p>
            <a:r>
              <a:t>Третья классическая идея, и именно она ведёт к теме раздела, — transfer learning, перенос обучения. Задолго до больших моделей инженеры заметили: обучать с нуля дорого, но если взять модель, предобученную на огромном общем корпусе, и дообучить её на своей маленькой задаче, результат выходит быстрее и точнее. Это классическая двухфазная схема предобучение — дообучение.</a:t>
            </a:r>
          </a:p>
          <a:p/>
          <a:p>
            <a:r>
              <a:t>Именно на неё стоит опереть переход к дообучению больших моделей. PEFT и LoRA — тот же transfer learning, только доведённый до предела дешевизны и поверх несравнимо более крупной модели. Идея не новая — новыми стали масштаб базовой модели и стоимость шага дообучения. Поэтому дообучить большую модель — не экзотика новой эпохи, а прямое продолжение классической схемы, и все её предостережения (дисциплина train/test, метрика, версии, мониторинг дрейфа) остаются в силе.</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что-либо говорить про то, где fine-tuning сузился, где он опасен и по каким критериям его выбирать, нужно одинаково понимать, что это такое. Fine-tuning, по-русски дообучение, — это продолжение обучения уже готовой, предобученной модели[1] на ваших собственных данных. В Лекции 1 дообучение упоминалось мельком как один из типов использования ИИ; здесь оно появляется в своей настоящей роли — как архитектурный выбор, одна из ступеней той же лестницы сложности.</a:t>
            </a:r>
          </a:p>
          <a:p/>
          <a:p>
            <a:r>
              <a:t>Механика на схеме: берётся предобученная модель с её общими весами, берётся ваш датасет — набор примеров того поведения, которое вы хотите получить, — и процесс дообучения сдвигает веса модели в сторону этих примеров. На выходе — уже другая модель: те же архитектура и размер, но другие числа внутри. Это и есть ключевое отличие, ради которого нужен отдельный слайд-определение. Промпт и RAG не трогают веса вообще: они меняют только контекст, то есть то, что вы подаёте модели на вход прямо сейчас. Эффект промпта или подложенного RAG-фрагмента живёт ровно в пределах одного запроса и исчезает со следующим. Fine-tuning меняет саму модель: изменение встроено в веса, действует на каждом запросе по умолчанию, и именно поэтому стоит дороже и откатывается тяжелее всего, что меняет лишь контекст.</a:t>
            </a:r>
          </a:p>
          <a:p/>
          <a:p>
            <a:r>
              <a:t>Важная практическая оговорка сразу: на практике «дообучить модель» почти всегда означает не переобучение всех весов, а параметр-эффективное дообучение, которое обычно называют аббревиатурой PEFT и чаще всего реализуют методом LoRA. Полное дообучение всех весов в 2026 году — редкость, и на следующих слайдах мы разберём, почему это так. Пока запомните различие как формулу: промпт и RAG — это «что показать модели», fine-tuning — это «изменить саму модель». На следующих слайдах мы будем опираться на это определение, разбирая, почему в 2026 году fine-tuning сузился до поведения, а не знания, и где он превращается из инструмента в источник проблем.</a:t>
            </a:r>
          </a:p>
          <a:p/>
          <a:p>
            <a:r>
              <a:t>Источники:</a:t>
            </a:r>
          </a:p>
          <a:p>
            <a:r>
              <a:t>[1] IBM — RAG vs Fine-Tuning (fine-tuning меняет веса) — промпт/RAG меняют контекст; fine-tuning меняет сами веса модели. https://www.ibm.com/think/topics/rag-vs-fine-tuning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Слово «дообучить модель» у многих ассоциируется с обновлением всех весов — это full fine-tuning. В 2026 это почти никогда не то, что нужно. PEFT, параметр-эффективное дообучение, — семейство методов, при которых базовые веса замораживаются, а обучается лишь небольшой набор дополнительных параметров, адаптеров[1]. Наиболее распространённый метод — LoRA: в выбранные слои добавляются маленькие низкоранговые матрицы-адаптеры, и обучаются только они. QLoRA — та же идея поверх квантованной базовой модели, что радикально снижает требования к памяти.</a:t>
            </a:r>
          </a:p>
          <a:p/>
          <a:p>
            <a:r>
              <a:t>Почему PEFT почти всегда предпочтительнее full fine-tuning — три причины, и третья решающая. Первая: дешевле и быстрее — обучаются миллионы параметров-адаптеров вместо миллиардов весов; QLoRA позволяет дообучать большие модели на одном GPU. Вторая: модульность — адаптеры маленькие, мегабайты против гигабайтов, и можно держать несколько адаптеров под разные задачи на одной замороженной базе. Третья, ключевой архитектурный аргумент про надёжность: базовые веса заморожены, физически не переписываются под новый сигнал, поэтому то, что модель умела до дообучения, в основном сохраняется — обучение живёт в маленьких добавочных адаптерах. Это прямо снижает риск катастрофического забывания, к которому мы сейчас перейдём.</a:t>
            </a:r>
          </a:p>
          <a:p/>
          <a:p>
            <a:r>
              <a:t>Насколько LoRA распространён — не оценка на глаз, а измеримый факт. По данным команды PEFT Hugging Face, среди 20 834 карточек моделей с тегом PEFT 98[3].4 процента используют именно LoRA. Оговорка обязательна: это доля среди уже помеченных тегом PEFT, а не среди всего fine-tuning — полное дообучение помечается тегами не так аккуратно и в выборке может быть не видно. Тем не менее среди выбравших параметр-эффективный путь LoRA — практически безальтернативный выбор по умолчанию. И граница: и full FT, и PEFT — это изменение весов, в отличие от RAG, промпта и контекста, которые веса не трогают. Это водораздел между «разместить знание» — RAG и контекст — и «закодировать поведение» — PEFT. В нарративе достаточно: full FT — почти никогда, PEFT и LoRA — рабочая лошадка 2026 года.</a:t>
            </a:r>
          </a:p>
          <a:p/>
          <a:p>
            <a:r>
              <a:t>Источники:</a:t>
            </a:r>
          </a:p>
          <a:p>
            <a:r>
              <a:t>[1] Hu et al. 2021 — LoRA — базовые веса замораживаются, обучаются низкоранговые адаптеры. https://arxiv.org/abs/2106.09685</a:t>
            </a:r>
          </a:p>
          <a:p>
            <a:r>
              <a:t>[2] Dettmers et al. 2023 — QLoRA — LoRA поверх квантованной модели → дообучение на одном GPU. https://arxiv.org/abs/2305.14314</a:t>
            </a:r>
          </a:p>
          <a:p>
            <a:r>
              <a:t>[3] HF PEFT — Beyond LoRA (LoRA 98,4% из 20 834 карточек) — 98,4% моделей с тегом PEFT используют LoRA; оговорка: доля среди помеченных PEFT. https://huggingface.co/blog/peft-beyond-lora [VFY-day-of]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Разложим по сути вопрос, который постоянно путают на практике: не «RAG или fine-tuning», а «что здесь знание, а что поведение». Если задача требует знания, которое меняется или нуждается в свежести и провенансе, — правильный инструмент RAG или длинный контекст, а не дообучение: знание в весах устареет к следующему изменению корпуса, переобучение дорого, и есть риск катастрофического забывания. Если задача требует стабильного поведения, тона, формата вывода или следования политике, а не новых фактов, — правильный инструмент дообучение в форме PEFT, а не RAG: RAG подаёт знание в контекст, но не меняет манеру модели отвечать. Если цель — снизить стоимость и задержку на узкой задаче при сохранении качества, работает связка из двух отдельных техник: сначала дообучают крупную модель-учителя под нужное поведение, а затем из неё дистиллируют компактную модель-ученика. Это не «дистилляция как разновидность fine-tuning» — таксономически это разные операции, которые на практике часто идут в паре. И если ответ должен быть детерминированным и верифицируемым — правильный инструмент обычный код без ИИ вообще: ни RAG, ни дообучение здесь не нужны, они добавят только недетерминизм.</a:t>
            </a:r>
          </a:p>
          <a:p/>
          <a:p>
            <a:r>
              <a:t>Вывод 2026 года снимает ложную дихотомию: чистый выбор «одно из» — редкость, норма — гибрид. Типичная зрелая система сочетает RAG для знаний, которые меняются, PEFT-дообучение для стабильного поведения и контекст-инжиниринг поверх обоих. Но здесь важна оговорка, чтобы «гибрид — норма» не превратилось в новый карго-культ «делай всё сразу»: гибрид оправдан только там, где у задачи одновременно есть и проблема знания, и проблема поведения. Если проблемы поведения нет — дообучение не нужно, даже если RAG уже есть. Если знание не меняется и его мало — не нужен и RAG. Гибрид — это не «больше компонентов — вернее», это «знание и поведение разнесены по правильным механизмам, каждый из которых добавлен под своё собственное требование», а не по инерции или моде.</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Введём различение, которое часто путают. Fine-tuning меняет само поведение модели — обучает её отвечать в нужном формате, тоне, следовать политике отказов. Дистилляция решает принципиально другую задачу — сжатие: перенос способностей большой модели в маленькую, более дешёвую в эксплуатации. Дистилляция — самостоятельная техника переноса знания и сжатия модели, предложенная Хинтоном с соавторами в 2015 году: компактная модель-ученик учится имитировать выходы или внутренние сигналы крупной модели-учителя через отдельную, специально устроенную функцию потерь, а не через обычное дообучение на «золотых» примерах правильных ответов.</a:t>
            </a:r>
          </a:p>
          <a:p/>
          <a:p>
            <a:r>
              <a:t>Таксономически дистилляция не является разновидностью fine-tuning — обзоры методов параметр-эффективной настройки явно разносят эти две техники по разным категориям, потому что механизм обучения у них разный: fine-tuning подстраивает веса под целевые примеры, а дистилляция подстраивает student-модель под поведение конкретной teacher-модели. Это не просто терминологическая тонкость — от неё зависит, как вы планируете производственный процесс: считать дистилляцию «ещё одним видом fine-tuning» — значит неправильно понимать, что именно она может и не может сделать.</a:t>
            </a:r>
          </a:p>
          <a:p/>
          <a:p>
            <a:r>
              <a:t>На практике эти две техники, тем не менее, часто применяются в связке, и именно эта связка — содержательный рабочий сценарий, а не два конкурирующих варианта. Сначала крупную модель-учителя дообучают под нужное конкретное поведение — нужный формат вывода, нужный тон, нужную политику. Затем из этой уже дообученной модели дистиллируют компактную модель-ученика, которая наследует то же поведение дёшево и быстро в инференсе. Держите в голове именно эту формулировку: «дообучить учителя, затем дистиллировать ученика» — две отдельные операции в тандеме, а не одна операция под двумя именами. Это разграничение понадобится нам на следующем слайде, где мы соберём полную таблицу критериев, что куда направлять при выборе архитектуры.</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Введём термин через документированный провал. Catastrophic forgetting, катастрофическое забывание, — деградация общих способностей модели[1] в результате узкого агрессивного дообучения: обучая модель быть очень хорошей в одной узкой задаче, вы можете сломать то, что она умела до этого.</a:t>
            </a:r>
          </a:p>
          <a:p/>
          <a:p>
            <a:r>
              <a:t>Как это выглядит как кейс. Команда дообучает модель на узком датасете — например, классификация тикетов в их формат. На целевой метрике рост: модель отлично классифицирует. Параллельно, незаметно, проседают общие способности: рассуждение на нецелевых задачах, следование сложным инструкциям. На графике это две линии: сплошная, идущая вверх, — целевая метрика (растёт), а пунктирная, идущая вниз, — общие способности (падают незаметно). Если команда мерила только целевую метрику, деградация не видна, пока модель не начнут использовать на чём-то, кроме узкой задачи. И тогда «почему она вдруг хуже стала рассуждать?» оказывается следствием дообучения месячной давности, к которому уже нет ни старых весов, ни версии датасета. Механически: обучение под узкую задачу двигает веса в её сторону, и параметры, кодировавшие общие способности, при агрессивном full-FT переписываются. Это эмпирически наблюдается при continual fine-tuning (Luo et al., arXiv:2308.08747, 2023), причём с контринтуитивной особенностью: с ростом масштаба модели тяжесть забывания, как правило, возрастает. «Возьмём модель побольше, чтобы надёжнее» здесь работает наоборот.</a:t>
            </a:r>
          </a:p>
          <a:p/>
          <a:p>
            <a:r>
              <a:t>Почему это попадает в раздел про выбор архитектуры, а не в курьёзы. Сам по себе forgetting — управляемый риск. Катастрофическим его делает отсутствие инженерной дисциплины: нет петли оценки, которая на репрезентативном наборе общих задач показала бы деградацию; нет версионирования датасета и весов для отката. Без eval-петли вы не заметите, что сломали общие способности, пока это не всплывёт в проде; без версионирования не вернётесь к работавшей версии. Правило: если нет eval-петли и версионирования датасета — не делайте fine-tuning. Это не «риск», это критерий: не будет ни сигнала о поломке, ни кнопки отката. Правильные альтернативы: PEFT, где замороженные веса дают ниже риск; а для меняющегося знания — RAG, а не fine-tuning вовсе.</a:t>
            </a:r>
          </a:p>
          <a:p/>
          <a:p>
            <a:r>
              <a:t>Источники:</a:t>
            </a:r>
          </a:p>
          <a:p>
            <a:r>
              <a:t>[1] Luo et al. 2023 — Catastrophic Forgetting in LLM Continual FT — узкий агрессивный FT ломает общие способности; тяжелее с ростом масштаба модели. https://arxiv.org/abs/2308.08747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крупный раздел лекции, и он про то, как AI перестаёт быть собеседником в окне чата и становится компонентом системы. До сих пор один вызов и RAG мы обсуждали как способ получить текст; здесь модель получает возможность возвращать машинно-обрабатываемые данные, дотягиваться до внешних систем и работать в цикле. Мы разберём механику API-слоя и стандарт подключения инструментов, затем сам цикл агента и различение рабочего потока и агента, потом — из чего собран реальный агент-помощник, где живёт его память и как всё это ломается. Здесь же по-настоящему встаёт сквозная тема безопасности: как только модель получает инструменты, появляется вопрос, которого не было у одного вызова, — кто видит данные на каждом шаге и что происходит, когда недоверенный контент попадает в контекст как команда. Это раздел, где цена неправильного выбора архитектуры измеряется не только деньгами, но и утечками.</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Слово «агент» звучит как изобретение эпохи больших моделей, но управляемая автоматизация процессов — зрелая инженерная дисциплина с многолетней историей, и без неё нельзя честно оценить, что LLM-агент добавляет, а что ломает. Восстановим базу с нуля. Простейшая классическая модель управляемого поведения — конечный автомат: система описывается конечным набором состояний и правилами перехода между ними по событиям. Заявка создана, в обработке, одобрена или отклонена, закрыта — это конечный автомат; в каждом состоянии разрешён строго определённый набор переходов. Поведение полностью предсказуемо и проверяемо: невозможные переходы исключены конструктивно, а не надеждой.</a:t>
            </a:r>
          </a:p>
          <a:p/>
          <a:p>
            <a:r>
              <a:t>Когда процесс сложнее одного автомата, классическая инженерия применяет workflow-движки, оркестраторы, — системы, исполняющие заранее описанный многошаговый процесс по фиксированной схеме. Назовём конкретно: BPMN — стандарт графического описания процесса, исполняемого движком; Airflow-подобные оркестраторы исполняют процесс как направленный ациклический граф задач; RPA автоматизирует рутину поверх существующих интерфейсов по жёсткому сценарию. Всё это объединяет одно: последовательность шагов определена заранее, а не решается на лету. Такой пайплайн детерминирован, аудируем и повторяем.</a:t>
            </a:r>
          </a:p>
          <a:p/>
          <a:p>
            <a:r>
              <a:t>Третья классическая идея, и именно она ведёт к циклу агента, — управляющий цикл plan→act→check как контур обратной связи. Это прямое наследие теории управления и робототехники: система измеряет состояние среды, вычисляет воздействие, применяет его, снова измеряет и корректирует. Военно-инженерный аналог — OODA-петля. Суть одна: не одно действие, а цикл спланируй — сделай — проверь — скорректируй.</a:t>
            </a:r>
          </a:p>
          <a:p/>
          <a:p>
            <a:r>
              <a:t>LLM-агент — это тот же управляющий цикл, но шаги в нём генерирует модель недетерминированно, а не выбирает фиксированное правило автомата. Отсюда видна и мощь, и хрупкость: детерминированный контур всегда делает предсказуемый шаг, а модель способна придумать шаг, которого в схеме не было. Классические же практики надёжности — детерминизм где можно, идемпотентность, лимиты, аудит, наименьшие привилегии — никуда не деваются.</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AI стал частью системы, нужны три механизма API-слоя. Первый — structured output, структурированный вывод: режим, в котором модель обязана вернуть ответ строго по заданной схеме, например JSON, а не свободный текст. Технически схема компилируется в ограничение на сэмплинг, поэтому модель не может выдать структурно невалидный ответ; выход превращается из текста, который надо парсить регулярками, в гарантированно валидные по форме данные. Это делает модель встраиваемой. Тонкость: гарантируется валидность формы, но не содержания — поле может быть фактически неверным. Второй — function calling: модель вместо ответа текстом может вернуть запрос «вызови инструмент X с аргументами Y», а исполняет вызов ваш код, не модель. Модель лишь формулирует намерение — это делает её активной и будет ключевым для безопасности. Третий — prompt caching: переиспользование уже вычисленного состояния неизменного префикса, чтобы не пересчитывать его каждый раз; кэшируется состояние, а не текст ответа. Это делает модель экономически жизнеспособной при объёме и делает full-context для малого стабильного корпуса реальным конкурентом RAG. Ни один из трёх не делает модель надёжнее или аудируемее — они расширяют возможности, не меняя недетерминированной природы, и правило лестницы не отменяют.</a:t>
            </a:r>
          </a:p>
          <a:p/>
          <a:p>
            <a:r>
              <a:t>Остаётся вопрос, как инструмент к модели подключается. До конца 2024 года каждая интеграция решала это по-своему. MCP, Model Context Protocol, — открытый стандарт единого способа подключать[1] инструменты к модели; метафора — «USB-C для инструментов». Суть в арифметике: при N моделях и M инструментах наивно нужно N умножить на M интеграций, а MCP сводит это к N плюс M. Но здесь критический поворот: стандартизация подключения не означает безопасность подключаемого и даже усугубляет проблему доверия. Каждый подключённый инструмент — это код в вашем окружении и канал, через который в контекст попадает недоверенный текст. «Подключить за минуту» и «доверять подключённому» — разные вопросы; MCP решил первый и сделал второй острее. Удобство подключения — не аргумент за подключение.</a:t>
            </a:r>
          </a:p>
          <a:p/>
          <a:p>
            <a:r>
              <a:t>Источники:</a:t>
            </a:r>
          </a:p>
          <a:p>
            <a:r>
              <a:t>[1] Anthropic — MCP donation / Agentic AI Foundation (N×M→N+M) — MCP стандартизует подключение; удобство подключения ≠ безопасность подключаемого. https://www.anthropic.com/news/donating-the-model-context-protocol-and-establishing-of-the-agentic-ai-foundation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Стоимость в архитектурной лестнице не так растёт, как интуитивно ожидает инженер. База: один chat-turn стоит центы. Переход к агенту — не надбавка, а кратный скачок: контекст накапливает выводы инструментов, модель рассуждает на каждом шаге, токенов в разы больше. Мульти-агент — ещё ×15 поверх одиночного. Ключевое: множители перемножаются, не складываются. Каждая ступень умножает бюджет, не добавляет.</a:t>
            </a:r>
          </a:p>
          <a:p/>
          <a:p>
            <a:r>
              <a:t>Поэтому prompt caching — переиспользование неизменного префикса вместо пересчёта на каждый запрос — меняет статус с опции на необходимость в агентном цикле. На изолированном вызове кэш приятен, но не критичен. Внутри цикла с десятками обращений к одному префиксу (инструкции, описания, контекст) отсутствие кэша означает оплату за каждый пересчёт. Кэш не убирает множитель, но убирает ненужный пересчёт.</a:t>
            </a:r>
          </a:p>
          <a:p/>
          <a:p>
            <a:r>
              <a:t>Вывод: экономику считай до решения подняться на ступень, не после счёта за API. «Агент дороже» — множительное правило, и мульти-агент умножает снова. Прежде чем добавить ступень, спросись: оправдывает ли ценность задачи этот множитель.</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 calling решает, как модель формулирует вызов. MCP решает, как инструмент физически подключается. До 2024 года каждый вендор решал по-своему, порождая комбинаторный взрыв. MCP — открытый стандарт: N моделей × M инструментов = N×M интеграций → N+M. Метафора: USB-C для инструментов. Anthropic открыла его в ноябре 2024, OpenAI и Google приняли в 2025 — де-факто отраслевой стандарт.</a:t>
            </a:r>
          </a:p>
          <a:p/>
          <a:p>
            <a:r>
              <a:t>Масштаб читай критически. Каталоги называют до 90 000 серверов, но реально запускаемых около 10 000 — 11%. Остальное дубли, сломанные, заглушки. Даже работающие не проверены на безопасность.</a:t>
            </a:r>
          </a:p>
          <a:p/>
          <a:p>
            <a:r>
              <a:t>Критический поворот: стандартизация подключения не означает безопасность подключаемого — усугубляет проблему. Каждый инструмент — код, запускаемый в твоём окружении, канал для недоверенного текста. За 60 дней: 30+ CVE на MCP-серверы, 43% — внедрение команд (command injection), 82% реализаций уязвимы к обходу пути (path traversal). «Подключить за минуту» и «доверять подключённому» — разные вопросы. MCP решил первый, сделал второй острее. Удобство не аргумент за подключение.</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есть всё для следующей ступени. Один вызов умеет рассуждать; RAG достаёт знание; function calling дотягивается до внешних систем; MCP стандартизует подключение. Агент — архитектура, в которой модель не делает один проход, а работает в цикле[1]: планирует шаг, действует — вызывает инструмент, наблюдает результат, проверяет, достигнута ли цель, и итерирует, сама динамически определяя последовательность. Каноническая формулировка — планируй, действуй, проверяй, повторяй; это паттерн ReAct, чередование рассуждения и действий, а Reflexion добавляет явную самооценку после неудачи. Это «другой AI» по сравнению с одним вызовом: там модель отвечала один раз, здесь — управляет процессом из многих шагов.</a:t>
            </a:r>
          </a:p>
          <a:p/>
          <a:p>
            <a:r>
              <a:t>Разберём цикл по шагам, потому что каждый шаг — место конкретного режима отказа. Plan: модель формулирует шаг исходя из цели и истории; режим отказа — близорукий или зацикленный план, модель не видит накопленную стоимость и время. Act: вызывается инструмент; режим отказа — инструмент падает или возвращает ошибку, и если плана на это нет, начинается петля. Check: оценивается результат; режим отказа — проверки нет или она сводится к самооценке модели. Iterate: цикл повторяется; режим отказа — нет внешнего лимита на итерации, стоимость или время. «Агент» — не одна абстракция, а четыре шага, каждый со своим способом сломаться; проектировать агента значит проектировать защиту на каждом из четырёх.</a:t>
            </a:r>
          </a:p>
          <a:p/>
          <a:p>
            <a:r>
              <a:t>Подчеркну элемент, несущий основную сквозную нагрузку курса, — шаг check[2]. И здесь возвращается урок про верность рассуждения ребром: проверка не должна быть «модель сама себя спросила и сама себе ответила, что всё хорошо». Самооценка подвержена той же unfaithfulness, что мы видели на слайде про предел chain-of-thought — это иллюзия контроля: объяснение «я проверил» порождается тем же сэмплингом, что и сам ответ. Надёжная проверка — валидация против внешнего критерия: схема, тест, проверка инвариантов, сверка с источником истины, а в значимых решениях — человек-валидатор. Без внешнего check цикл агента — петля, которая уверенно идёт не туда. Это прямой мост к провалам агентов.</a:t>
            </a:r>
          </a:p>
          <a:p/>
          <a:p>
            <a:r>
              <a:t>Источники:</a:t>
            </a:r>
          </a:p>
          <a:p>
            <a:r>
              <a:t>[1] Yao et al. 2022 — ReAct (plan→act→check→iterate) — чередование рассуждения и действий; каждый шаг — место отказа. https://arxiv.org/abs/2210.03629</a:t>
            </a:r>
          </a:p>
          <a:p>
            <a:r>
              <a:t>[2] Anthropic — Reasoning Models faithfulness (check ≠ самооценка) — шаг check — валидация против внешнего критерия, не самооценка модели.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тем как разбирать, как агенты ломаются, нужно ввести различение, для основной учебной цели лекции — одно из самых важных. Anthropic в «Building Effective Agents» разделяет два понятия[1], которые в обиходе часто смешивают. Workflow, рабочий поток или сценарий, — система, где модель и инструменты оркестрируются по предопределённым в коде путям; последовательность шагов известна заранее и зашита, модель вызывается на конкретных шагах, но не решает, какие шаги и в каком порядке делать. Агент — система, где модель динамически определяет собственный процесс; последовательность заранее не зафиксирована.</a:t>
            </a:r>
          </a:p>
          <a:p/>
          <a:p>
            <a:r>
              <a:t>Различение операциональное и даёт прямой критерий выбора. Задача предсказуемая, последовательность известна — workflow. Непредсказуемая, последовательность зависит от промежуточных результатов, и ценность оправдывает кратный рост стоимости — агент. Anthropic формулирует размен прямо: агентные системы меняют задержку и стоимость на качество. Переведём критерий в один практический вопрос: могу ли я заранее, до запуска, выписать последовательность шагов? Если да, даже с известными ветвлениями, — это workflow. Если последовательность принципиально зависит от промежуточных результатов, и ценность оправдывает рост риска, — агент. «Лень формализовать» не делает задачу непредсказуемой. Это, возможно, дорогостоящая ошибка отрасли: строить динамического агента там, где хватило бы workflow.</a:t>
            </a:r>
          </a:p>
          <a:p/>
          <a:p>
            <a:r>
              <a:t>Важная оговорка: граница проходит не только по задаче в целом, но и по тому, что происходит внутри конкретного шага, — workflow и агент вкладываются друг в друга, и это норма. Агент на шаге действия может вызвать целый workflow как один инструмент: агент code review сам решает, что проверять, но шаг «линтер, тесты, форматирование» вызывает как единый детерминированный подпроцесс. И наоборот: workflow обработки заявок ведёт маршрут по фиксированным правилам, но шаг «разобраться в свободной жалобе» делегирует мини-агенту. Это не третья архитектура, а признание того, что вопрос «workflow или агент» — про конкретное место в системе: динамика добавляется только там, где нужна. Полный дебат о мульти-агент[2]ах остаётся в главе; в нарративе достаточно: мульти-агент по умолчанию — не выигрыш.</a:t>
            </a:r>
          </a:p>
          <a:p/>
          <a:p>
            <a:r>
              <a:t>Источники:</a:t>
            </a:r>
          </a:p>
          <a:p>
            <a:r>
              <a:t>[1] Anthropic — Building Effective Agents (workflow vs agent) — workflow = предопределённые пути; агент = динамический процесс; размен задержка/стоимость↔качество. https://www.anthropic.com/research/building-effective-agents</a:t>
            </a:r>
          </a:p>
          <a:p>
            <a:r>
              <a:t>[2] Cognition — Don't Build Multi-Agents — мульти-агент по умолчанию не выигрыш; хрупкость параллельных субагентов. https://cognition.ai/blog/dont-build-multi-agents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отдельно, почему мульти-агент по умолчанию не выигрыш, потому что это одна из частых архитектурных ошибок, и у неё есть простая, наглядная математика. В конвейере из n последовательных шагов, где сбой любого шага портит итог, надёжности перемножаются, а не усредняются: общий шанс успеха примерно равен p в степени n. Отсюда контринтуитивные числа: даже при девяноста пяти процентах надёжности на каждый шаг десять шагов подряд дают всего около шестидесяти процентов общей надёжности, а при девяноста процентах на шаг — уже около тридцати пяти. Интуиция инженера «каждый шаг почти всегда работает, значит и вся цепочка почти всегда работает» математически ложна: «почти всегда» на каждом шаге перемножается в «довольно часто нет» на выходе всей системы.</a:t>
            </a:r>
          </a:p>
          <a:p/>
          <a:p>
            <a:r>
              <a:t>Дальше — вопрос топологии, то есть того, как именно организованы несколько агентов между собой. При одном и том же числе агентов независимые «рои» равноправных агентов, работающих без единого центра, усиливали ошибки почти в семнадцать раз, тогда как централизованная оркестрация с одним координатором сдерживала усиление ошибок до менее чем пяти раз. Вывод прямой: оркестрация с одним координатором надёжнее «роя» равноправных агентов, а не наоборот, хотя интуитивно «рой» кажется более гибким и масштабируемым решением.</a:t>
            </a:r>
          </a:p>
          <a:p/>
          <a:p>
            <a:r>
              <a:t>Здесь стоит процитировать позицию Anthropic дословно, потому что она отрезвляет: мульти-агентные системы работают в основном потому, что помогают потратить достаточно токенов для решения задачи — то есть выигрыш во многом объясняется объёмом вычислений, а не какой-то особой магией координации между агентами. Практический совет тех же источников — начинать с одного сильного агента: для многих задач хватает одиночных вызовов с хорошим retrieval и примерами, а команды тратили месяцы на сложные мульти-агентные архитектуры и обнаруживали, что более точный промптинг одного агента давал эквивалентный результат дешевле. Отсюда критерий: не стройте мульти-агент, если задача не распадается на широко параллельные, независимые подзадачи высокой ценности — иначе издержки координации и многократный рост стоимости токенов перевесят любую выгоду от параллелизма.</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мы говорили про агента как про абстрактный цикл: планируй, действуй, проверяй, повторяй. Но реальный агент-помощник, с которым инженер работает каждый день, — это не голый цикл, а цикл плюс оснастка[1]. Набор дополнительных механизмов, которые определяют, что агент помнит, чему следует, какие процедуры умеет переиспользовать, кому может делегировать работу и к каким внешним системам имеет доступ. Дальше в этом разделе мы будем не раз опираться на данные agent-harness-registry — это независимый публичный реестр, который тестирует экипировку агентов (память, skills, subagents, MCP) через live-eval бенчмарки на реальных задачах, а не через вендорские самоотчёты о возможностях. По его данным можно выделить пять типовых слотов этой оснастки. Первый — память: что агент помнит между сессиями. Второй — инструкции-правила: файлы-конвенции проекта и журнал прогресса. Третий — skills, переиспользуемые процедуры под повторяющиеся задачи. Четвёртый — subagents, делегированные под-агенты с собственным контекстным окном. Пятый — доступ к внешним инструментам через MCP.</a:t>
            </a:r>
          </a:p>
          <a:p/>
          <a:p>
            <a:r>
              <a:t>Прежде чем разбирать каждый слот по отдельности, зафиксируем тезис, который рифмуется с центральным правилом всей лекции и с лестницей архитектурной сложности. Каждый слот экипировки — это компромисс между ценой, сложностью и отказоустойчивостью, а не выигрыш по умолчанию. Ровно как не стоит подниматься по лестнице архитектур без требования задачи, не стоит и добавлять агенту память, subagents или новый доступ на всякий случай: каждый добавленный слот несёт свою цену — операционную сложность, новую поверхность отказа, новую границу доверия — и должен отвечать на конкретный, а не абстрактный триггер. Дальше мы пройдём вдоль этой карты слот за слотом и на каждом проверим этот тезис.</a:t>
            </a:r>
          </a:p>
          <a:p/>
          <a:p>
            <a:r>
              <a:t>Источники:</a:t>
            </a:r>
          </a:p>
          <a:p>
            <a:r>
              <a:t>[1] agent-harness-registry — карта слотов экипировки агента — источник не подтверждён canonical-URL 2026-08-30; Claude Code/Cursor/Aider — вендор-сайты, verify day-of.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слот экипировки — память: то, что агент помнит между сессиями, в отличие от контекста одного разговора, который живёт, только пока открыт диалог. Простейшая форма памяти — плоский файл[1]: агент дописывает в текстовый лог факты, выводы, историю решений, и при следующем запуске читает этот файл целиком. Это работает, пока лог небольшой и не растёт бесконтрольно. На другом конце спектра — специализированные векторные или графовые базы памяти. Система mem0 собирает факты о пользователе и его предпочтениях и переиспользует их в будущих сессиях. Cognee строит память на графе знаний, где факты связаны через онтологию, и retrieval учитывает не только текстовую близость, но и связи между сущностями. Graphiti и Zep идут дальше — это temporal knowledge graphs, которые явно отслеживают время действия факта и его происхождение: система знает, когда факт стал верным, когда устарел и откуда взят.</a:t>
            </a:r>
          </a:p>
          <a:p/>
          <a:p>
            <a:r>
              <a:t>Здесь прямо повторяется вопрос, который мы уже разбирали для RAG. Тот же вопрос масштаба знания, что решает RAG для корпуса документов, встаёт для памяти агента. Плоский файл работает, пока история мала и стабильна, — это прямая параллель критерию «корпус помещается в окно». Структурированная база нужна, когда история большая, растущая или требует извлечения по фактам — кто что сказал, когда, актуально ли ещё, — а не просто «дай последние сообщения». Критерий один и тот же, применён к другому объекту. И симметрично работает правило лестницы: не ставьте графовую базу памяти агенту, у которого короткие несвязанные сессии и нечего структурированно вспоминать, — это тот же технический долг без требования, что RAG для десяти статей.</a:t>
            </a:r>
          </a:p>
          <a:p/>
          <a:p>
            <a:r>
              <a:t>Источники:</a:t>
            </a:r>
          </a:p>
          <a:p>
            <a:r>
              <a:t>[1] agent-harness-registry (live-eval) — спектр памяти агента — источник не подтверждён canonical-URL 2026-08-30; параллель с критерием масштаба RAG.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Наличие памяти интуитивно кажется чистым выигрышем — агент, который помнит, должен быть полезнее агента, начинающего каждый раз с нуля. Данные agent-harness-registry, независимого реестра[1], тестирующего системы на реальных задачах, показывают, что это не всегда так, а иногда драматически не так. На слайде системы помечены буквой Tier — это рейтинговая категория реестра от A (верхние результаты) до D (нижние) по сумме бенчмарков live-eval; чем ближе к A, тем стабильнее система показывала себя на полном наборе тестов. Первый кейс — система Letta, Tier D. По данным реестра она проигрывает и голой модели без всякой памяти, и тривиальному плоскому файлу на всех полностью протестированных бенчмарках: на persistbench голая модель дала 1.000, плоский файл 0.833, а Letta лишь 0.750, при этом на порядок медленнее. Выявлены три механизма провала: капитуляция под давлением, когда при повторном вопросе система меняет уже данный верный ответ на неуверенный; многословие, когда длинный приукрашенный ответ прячет короткий правильный факт; и факт, замеченный, но не закоммиченный в память. Оговорка по свежести обязательна: тестировалась версия примерно восемнадцатимесячной давности из-за ограничения установщика, а не из-за срезания угла, поэтому это оценка конкретной устаревшей версии.</a:t>
            </a:r>
          </a:p>
          <a:p/>
          <a:p>
            <a:r>
              <a:t>Второй кейс важнее, потому что это серьёзно протестированная система. Anthropic Memory Tool в целом сильна, но и у неё в четырёх задачах из двадцати четырёх, то есть в 17 процентах, зафиксирована потеря информации: явный отказ записать факт, сочтённый эфемерным; отказ как «вне рамок»; и тихая суммаризация, когда конкретные факты незаметно поглощаются общими категориями. Тревожная деталь — невоспроизводимость: одна и та же беседа, поданная дважды, дала разное поведение. Это не баг, а задокументированный дизайн: модель просят применять суждение, что достойно записи, и это суждение производит реальные, иногда противоречивые провалы. Вывод один: даже за надёжную систему памяти стоит измеримый хвост потерь. «Работает хорошо» и «работает всегда» — разные утверждения, и это тот же урок, что RAG-провал на масштабе и катастрофическое забывание.</a:t>
            </a:r>
          </a:p>
          <a:p/>
          <a:p>
            <a:r>
              <a:t>Источники:</a:t>
            </a:r>
          </a:p>
          <a:p>
            <a:r>
              <a:t>[1] agent-harness-registry (live-eval) — Letta Tier D / Memory Tool 17%-хвост — источник не подтверждён canonical-URL 2026-08-30; числа volatile (1.0/0.833/0.750; 17%).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слот экипировки — операционный слой: файлы-инструкции проекта и журнал задач, в который агент пишет собственный прогресс по многошаговой работе. Файл-инструкция здесь — обобщённое имя для класса файлов-конвенций, где команда фиксирует, как собирать проект, как тестировать, каких паттернов держаться. Интуиция понятна: если написать агенту подробную инструкцию и вести журнал сделанного, качество должно вырасти. Контролируемые исследования показывают, что интуиция заметно расходится с измеренным эффектом. Первое исследование, presence paradox[1], — это рандомизированный эксперимент с тремя плечами: без файла, файл сгенерирован моделью, файл написан разработчиком. Ключевой вывод: само по себе наличие файла не дало статистически значимого прироста успешности задач, при этом стоимость и число шагов, как правило, росли. Единственное исключение осмысленно: сгенерированные файлы помогли именно в репозиториях, где другой документации не было, — то есть файл работает, когда заполняет реальный информационный пробел, а не дублирует то, что модель и так выведет из кода.</a:t>
            </a:r>
          </a:p>
          <a:p/>
          <a:p>
            <a:r>
              <a:t>Второе исследование, Honest Lying, про самоавторскую память: агент сам пишет заметки о своих выводах и ошибках. Оказалось, такая память может не помогать исправлению, а закреплять неверное убеждение — если агент рано ошибочно записал причину сбоя, последующие попытки опираются на неё вместо перепроверки. Третье — реальный кейс claude-code[2]#51735: прошлая ошибка была письменно признана в журнале, и это не предотвратило её повтор через двадцать пять дней. Синтез для инженера: операционный слой — не магическая прививка от ошибок и не ритуал по умолчанию, а инструмент с измеренными, местами скромными и контр-интуитивными эффектами. Тот же паттерн, что у роли в промпте: расхожее «добавь X — станет вернее» измерением не подтверждается, и делать X стоит только там, где есть конкретное основание.</a:t>
            </a:r>
          </a:p>
          <a:p/>
          <a:p>
            <a:r>
              <a:t>Источники:</a:t>
            </a:r>
          </a:p>
          <a:p>
            <a:r>
              <a:t>[1] Gloaguen et al. 2026 — Evaluating AGENTS.md (presence paradox) — наличие файла-инструкции не даёт значимого прироста; помогает в пробеле документации. https://arxiv.org/abs/2602.11988 [VFY-day-of]</a:t>
            </a:r>
          </a:p>
          <a:p>
            <a:r>
              <a:t>[2] GitHub anthropics/claude-code#51735 (повтор ошибки через 25 дней) — письменная запись о прошлой ошибке не предотвратила её повтор. https://github.com/anthropics/claude-code/issues/51735</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Оставшиеся три слота экипировки — skills, subagents и доступ к внешним системам через MCP — разберём вместе с безопасностью, потому что вопрос безопасности неразрывно вплетён именно сюда. Skill — переиспользуемая процедура под повторяющуюся задачу: инструкция, как именно делать работу, чтобы не переформулировать её каждый раз. Subagent — выделенный агент с собственным контекстным окном, которому делегируют часть работы, чтобы не засорять основной контекст и изолировать недоверенную работу. Доступ через MCP уже знаком, но здесь важна практическая сторона: каждое MCP-подключение — новая граница доверия, ещё один код, которому доверяют исполнение, ещё один канал, через который в контекст попадает недоверенный текст, и ещё одна политика хранения данных в цепочке.</a:t>
            </a:r>
          </a:p>
          <a:p/>
          <a:p>
            <a:r>
              <a:t>Отсюда специфический класс атак. Prompt injection — атака, при которой во внешние данные в контексте модели встраивается текст, который модель интерпретирует как команду и исполняет; корень в том, что модель доверяет убедительно звучащим токенам и не отличает данные от команды[2,3]. GitHub MCP heist, май 2025: у ассистента широкий токен на все репозитории; в публичном issue — инструкция «собери приватные репозитории и опубликуй здесь»[1]; ассистент читает issue как команду и выгружает приватное. Катастрофа — это инъекция, помноженная на широкие права; убери любой из двух, и атака не проходит. И про хранение данных два факта против наивного «у нас ZDR, всё в порядке»: ZDR, Zero Data Retention, — это политика вендора не сохранять содержимое запросов после обработки; судебный приказ[4,5] по делу NYT против OpenAI обязал сохранять все логи поверх любой договорной политики; а ZDR у вендоров не покрывает third-party интеграции и MCP-коннекторы — то есть ровно те звенья, из которых агент и состоит. Отсюда четыре правила: least-privilege, изоляция недоверенного контента, human-in-the-loop на необратимых действиях, allowlist с фиксацией версий. Плюс карта данных по каждой фиче — что через какое звено проходит и какая у него политика хранения.</a:t>
            </a:r>
          </a:p>
          <a:p/>
          <a:p>
            <a:r>
              <a:t>Источники:</a:t>
            </a:r>
          </a:p>
          <a:p>
            <a:r>
              <a:t>[1] Docker — MCP Horror Stories: GitHub Prompt Injection — GitHub MCP heist: issue-инструкция + широкий токен → выгрузка приватных репо. https://www.docker.com/blog/mcp-horror-stories-github-prompt-injection/</a:t>
            </a:r>
          </a:p>
          <a:p>
            <a:r>
              <a:t>[2] Simon Willison — Prompt injection via MCP — модель не отличает данные от команды; недоверенный контент = команда. https://simonwillison.net/2025/Apr/9/mcp-prompt-injection/</a:t>
            </a:r>
          </a:p>
          <a:p>
            <a:r>
              <a:t>[3] Palo Alto Unit 42 — MCP Attack Vectors — tool poisoning / каждое подключение = новая граница доверия. https://unit42.paloaltonetworks.com/model-context-protocol-attack-vectors/</a:t>
            </a:r>
          </a:p>
          <a:p>
            <a:r>
              <a:t>[4] Bloomberg Law — NYT v. OpenAI (суд обязал хранить логи) — ZDR покрывает не всё; судебный приказ поверх любой политики хранения. https://news.bloomberglaw.com/ip-law/openai-must-turn-over-20-million-chatgpt-logs-judge-affirms</a:t>
            </a:r>
          </a:p>
          <a:p>
            <a:r>
              <a:t>[5] Anthropic — API and Data Retention (границы ZDR) — ZDR не покрывает third-party / MCP-connector — ровно то, из чего агент состоит. https://platform.claude.com/docs/en/build-with-claude/api-and-data-retention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нас включён ZDR, значит, данные защищены» — типичное и опасное упрощение при проектировании агентной системы. ZDR, zero data retention, — это режим, при котором провайдер не сохраняет содержимое запросов и ответов после обработки, но он покрывает далеко не всю цепочку. У ведущих вендоров ZDR распространяется на основные вызовы модели, но не покрывает целый ряд смежных возможностей: Files API, пакетную обработку, контейнеры исполнения кода, MCP-коннектор, сторонние интеграции и потребительские тарифные планы. Здесь и заключена ловушка именно для агентных систем: агент по определению — это модель плюс инструменты, а инструменты сплошь и рядом оказываются как раз third-party-сервисами или MCP-серверами — ровно теми звеньями, которые ZDR не покрывает. Чем более «агентной» становится архитектура, тем больше данных проходит через звенья, живущие вне защиты нулевого удержания.</a:t>
            </a:r>
          </a:p>
          <a:p/>
          <a:p>
            <a:r>
              <a:t>Второй факт, ломающий наивную уверенность в договорной политике хранения, — дело New York Times против OpenAI. В рамках судебного разбирательства федеральный суд обязал OpenAI сохранить абсолютно все логи ChatGPT как потенциальные доказательства, независимо от того, что было прописано в собственной политике компании. Заявленная провайдером политика «удаляем через тридцать дней» оказалась полностью бессильна перед судебным приказом по совершенно постороннему для клиента спору. Отсюда практический вывод: данные, покинувшие ваш периметр, начинают жить по правилам, на которые вы не влияете, и обещание провайдера — это описание нормальных условий, а не гарантия на любой случай.</a:t>
            </a:r>
          </a:p>
          <a:p/>
          <a:p>
            <a:r>
              <a:t>Правило проектирования, вытекающее из обоих фактов: перед выводом функции в промышленную эксплуатацию нужно составить карту данных — какие именно данные проходят через какое звено цепочки, какая у этого звена реальная политика хранения, и какие звенья вообще принадлежат третьей стороне. Для регулируемых или высокочувствительных данных единственный надёжный вариант — работать только через звенья с ZDR или подписанным договором об обработке данных, либо разворачивать модель на своей инфраструктуре. «Включили ZDR» — это не чек-бокс проекта, а один пункт из карты, которую нужно построить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понятийный аппарат раздела — API и MCP, цикл агента, различение workflow и агента, пять слотов экипировки — в один практический ориентир: как через эти понятия выглядят реальные coding-агенты 2026 года. Показываем каждый инструмент не через маркетинг, а через рамку экипировки[1]: какая у него оснастка по карте пяти слотов. Claude Code — широкая экипировка: собственная память между сессиями, поддержка файлов-инструкций, встроенные skills, полноценные subagents с отдельным контекстным окном, доступ к внешним системам через MCP; заполнены практически все слоты, что даёт возможности ценой большей операционной сложности. Aider — противоположная точка: минимальная файловая простота, без развитой памяти, без subagents, без формальных skills; open-source, CLI-first. Он показывает важный тезис: тонкая экипировка не недоразвитая версия полной, а самостоятельный рабочий выбор для задач, где широкая оснастка не нужна.</a:t>
            </a:r>
          </a:p>
          <a:p/>
          <a:p>
            <a:r>
              <a:t>Cursor — третья точка: не терминал, а desktop-редактор со встроенным агентом, форк VS Code. Он показывает, что оснастка — не единственная ось: форма интеграции в рабочий процесс, терминал против IDE, — отдельное архитектурное решение. OpenHands — self-hosted автономная платформа с лицензией MIT, разворачивается локально или в Docker. По профилю — открытый код, автономность, лицензия MIT — это вероятный кандидат на инструмент, упомянутый на слух как «OpenClaw»; это рабочая гипотеза по совпадению профиля, а не установленный факт, и её стоит подтвердить. Общий вывод обзора: разница между реальными coding-агентами — не в качестве модели внутри них, а в том, какие слоты экипировки заполнены и где агент физически живёт. Это прямое применение всей карты раздела и той же логики «не бери максимально оснащённый вариант по умолчанию».</a:t>
            </a:r>
          </a:p>
          <a:p/>
          <a:p>
            <a:r>
              <a:t>Источники:</a:t>
            </a:r>
          </a:p>
          <a:p>
            <a:r>
              <a:t>[1] agent-harness-registry — обзор через рамку экипировки — источник не подтверждён; Claude Code/Aider/Cursor/OpenHands — вендор-сайты, verify day-of.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Цикл агента имеет четыре места отказа; три класса провалов ниже — эти режимы в датированных кейсах, каждый с уроком и альтернативой. Первый. Команда поставила автономного агента на «синхронизировать заказы в CRM» — задача предсказуемая. Внешний API упёрся в ограничение частоты и стал возвращать ошибку 429[1]. Агент, не имея в плане ветки на 429, действовал по своей природе: планирую, вызываю, 429, перепланирую, снова — тысячи раз в час; итог около $4,200 за шестьдесят три часа (постмортем Sattyam Jain, 2026-04; single-author, числа округлены, иллюстративный). Агент конструктивно не понимает ни накопленной стоимости, ни времени, ни того, что действия идентичны. Урок: без жёстких внешних лимитов «пробуй, пока не получится» исполняется буквально и до разорения.</a:t>
            </a:r>
          </a:p>
          <a:p/>
          <a:p>
            <a:r>
              <a:t>Важно назвать базу сравнения. Обычный детерминированный скрипт повтора с нарастающей задержкой решает ту же задачу кратно дешевле: получил 429, подождал секунду, две, четыре, восемь, повторил ограниченное число раз — и либо готово, либо быстро сообщил «не смог, нужно вмешательство». Несколько строк кода, секунды-минуты, стоит почти ничего. То есть $4,200 — не цена автоматизации синхронизации вообще, а цена неправильного выбора архитектуры под предсказуемую задачу. Альтернатива двойная: budget gates вне агента и, на уровне архитектуры, скрипт повтора, а не агент.</a:t>
            </a:r>
          </a:p>
          <a:p/>
          <a:p>
            <a:r>
              <a:t>Второй. В цепочке, где сбой любого компонента портит результат, надёжности перемножа[2]ются: пять шагов по 99% дают примерно 95%, десять — около 90%, двадцать — около 82%. Рассуждение «каждый шаг почти всегда работает, значит и цепочка» математически ложно. Следствие: доработка отдельного агента почти не двигает системную надёжность, а сокращение числа шагов вдвое даёт сопоставимый эффект дешевле. Урок: «докрутить модель» — слабый рычаг, «меньше хопов плюс валидация между шагами» — сильный. Третий. Когда подзадачи зависимы, параллельные субагенты принимают конфликтующие неявные решения и дают несовместимый результат. Урок: мульти-агент[3] по умолчанию — не выигрыш; для задач с зависимостями он хуже одного линейного агента. Во всех трёх «более сложная архитектура» означала «менее надёжная», а не «более продвинутая».</a:t>
            </a:r>
          </a:p>
          <a:p/>
          <a:p>
            <a:r>
              <a:t>Источники:</a:t>
            </a:r>
          </a:p>
          <a:p>
            <a:r>
              <a:t>[1] Sattyam Jain 2026 — The Agent That Burned $4,200 in 63 Hours — петля без лимитов на HTTP 429; retry-скрипт решил бы задачу почти бесплатно. https://medium.com/@sattyamjain96/the-agent-that-burned-4-200-in-63-hours-a-production-ai-postmortem-d38fd9586a85 [VFY-day-of]</a:t>
            </a:r>
          </a:p>
          <a:p>
            <a:r>
              <a:t>[2] MindStudio — Reliability Compounding Problem — 5×99%≈95%, 10→90%, 20→82% — надёжности перемножаются. https://www.mindstudio.ai/blog/reliability-compounding-problem-ai-agent-stacks</a:t>
            </a:r>
          </a:p>
          <a:p>
            <a:r>
              <a:t>[3] Cognition — Don't Build Multi-Agents (хрупкость) — зависимые подзадачи → параллельные субагенты принимают конфликтующие решения. https://cognition.ai/blog/dont-build-multi-agents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Цикл агента план-действие-проверка-повтор имеет четыре места отказа, и дальше мы разбираем эти режимы в датированных кейсах — каждый с уроком и альтернативой. Но прежде чем идти по кейсам, важно зафиксировать способ чтения всего каталога: учебная единица здесь — класс провала, а не отдельный инцидент; конкретные кейсы — это иллюстрации класса, а не материал для запоминания дат и сумм. Встретив новый инцидент на практике, полезный навык — назвать, к какому именно классу отказа он относится, потому что класс определяет контрмеру: ограничение прав, изоляцию недоверенного контента, валидацию между шагами.</a:t>
            </a:r>
          </a:p>
          <a:p/>
          <a:p>
            <a:r>
              <a:t>Масштаб задаёт опорная цифра: из семи тысяч двухсот сорока шести публично задокументированных ИИ-инцидентов как относящиеся к бизнес-системам отобраны триста сорок четыре, и уже из них в ста восьмидесяти восьми — это около пятидесяти пяти процентов — автономная система нанесла ущерб прямо в промышленной эксплуатации без какого-либо атакующего в цепочке: агент сломал всё сам, без чужого злого умысла. Это меняет интуитивное представление о рисках агентных систем: чаще всего опасность исходит не от внешней атаки, а от собственной логики агента, столкнувшейся с ситуацией, которую никто не предусмотрел.</a:t>
            </a:r>
          </a:p>
          <a:p/>
          <a:p>
            <a:r>
              <a:t>Десять классов из таблицы охватывают всю карту провалов раздела: деструктивное действие в сочетании с избыточными правами, инъекцию через недоверенный контент без единого клика жертвы, неконтролируемый рост стоимости, поставку вредоносного кода через галлюцинированные имена пакетов, недоверенный MCP-сервер, каскад ошибок в мульти-агентной системе, юридическую ответственность компании за слова собственного бота, петлю без бюджетных ограничений, математическое накопление ошибок в цепочке шагов и общую хрупкость мульти-агентных архитектур на зависимых подзадачах. Каждый из них дальше будет разобран отдельно с конкретным кейсом, но держите в голове ключевое: цель — распознавать класс, а не помнить цифры наизусть.</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четыре класса подробнее, каждый с конкретной базой сравнения. Первый — деструкция при избыточных правах. Coding-агент в тестовом окружении нашёл токен с неограниченными правами и удалил продакшн-том со всеми резервными копиями за девять секунд; ближайший бэкап — три месяца. Урок: системный промпт — не средство безопасности; только архитектурная граница и least-privilege надёжно останавливают агента.</a:t>
            </a:r>
          </a:p>
          <a:p/>
          <a:p>
            <a:r>
              <a:t>Второй — неконтролируемая стоимость. Research-агент без критерия успеха потратил $48k за 14 часов, 100 инстансов сожгли $1,3M за месяц. База: обычная сессия стоит центы-доллары, это на 3–5 порядков выше. Урок: критерий завершения, жёсткий бюджетный потолок, аварийный стоп.</a:t>
            </a:r>
          </a:p>
          <a:p/>
          <a:p>
            <a:r>
              <a:t>Третий — slopsquatting: агенты выдумывают имена пакетов, атакующие регистрируют их с вредом. Почти каждый пятый сгенерированный импорт указывал на несуществующий пакет. Урок: имена зависимостей без проверки против реестра не устанавливать.</a:t>
            </a:r>
          </a:p>
          <a:p/>
          <a:p>
            <a:r>
              <a:t>Четвёртый — мульти-агентный каскад: ошибка одного агента проходит цепочкой как факт, следующие на неё опираются. В реальных инцидентах корень часто не там, где сбой заметен, а на апстримном шаге — в поиске или планировании. Общий вывод: агент применён без внешней границы. Такая граница находится вне агента и не заменяется промптом.</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 этому моменту мы прошли по лестнице снизу вверх и разобрали каждую ступень отдельно: один вызов и его границы; RAG и когда он не нужен; fine-tuning, его сужение и провал через катастрофическое забывание; API-слой, MCP, цикл агента, различие workflow и агента, провалы агентов и безопасность цепочки. У каждой архитектуры мы намеренно разбирали не только «когда она правильная», но и «когда она проваливается» и «когда правильный ответ — вообще другой инструмент». Это была подготовка.</a:t>
            </a:r>
          </a:p>
          <a:p/>
          <a:p>
            <a:r>
              <a:t>Теперь — финальный раздел, ради которого всё остальное и затевалось. Отдельные знания про RAG, агентов и дообучение сами по себе не дают ключевого навыка лекции — навыка обоснованно выбирать. Пятый раздел собирает всё разобранное в один работающий инструмент: лестницу сложности с правилом «поднимайся только под требование задачи», матрицу выбора по осям с явной нижней границей «когда не ИИ вовсе», восьмишаговый чек-лист, который сворачивает лестницу и матрицу в процедуру на две минуты, и правило человека-валидатора. Это и есть payoff центрального вопроса: к концу раздела по любой задаче вы сможете назвать архитектуру, привести минимум две причины по осям, указать хотя бы одно условие, при котором выбор был бы другим, и сказать, при каких признаках здесь ИИ не нужен вообще. И на этом же слайде-чек-листе вы попробуете применить инструмент сами — на новой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строить рамку выбора AI-архитектуры, восстановим то, из чего она выросла, — классическую инженерную дисциплину выбора технологии, которая существовала задолго до AI-хайпа и никуда не делась. Каждый предыдущий раздел уже показал одну и ту же фигуру мысли: от классической базы к тому, что добавляет AI, и к тому, что из классики остаётся обязательным. Этот раздел завершает главу тем же ходом на верхнем уровне: сам выбор архитектуры — это не новая AI-специфичная процедура, а прямое применение классических принципов принятия инженерных решений.</a:t>
            </a:r>
          </a:p>
          <a:p/>
          <a:p>
            <a:r>
              <a:t>Классическая дисциплина выбора опирается на несколько named-принципов. Требования-инжиниринг — исходная точка: сначала фиксируется, что система обязана делать, и только потом подбирается инструмент под требование, а не наоборот. Выбор идёт от требования, а не от инструмента: технология берётся потому, что закрывает требование, а не потому, что новая или модная. Build-vs-buy — анализ, решить задачу своей разработкой или взять готовое. KISS требует выбирать простейшее решение, закрывающее требование. YAGNI запрещает закладывать мощность на будущее без конкретного требования. Принцип наименьшей мощности из заметок W3C Бернерса-Ли и Мендельсона: выбирать наименее мощный из достаточных инструментов, потому что его проще анализировать и сопровождать.</a:t>
            </a:r>
          </a:p>
          <a:p/>
          <a:p>
            <a:r>
              <a:t>Как это работало на практике до AI-хайпа. Инженер начинал не с «какой инструмент интересно попробовать», а с требования: нужна ли база данных или хватит файла; нужен ли микросервис или это модуль монолита. Кто ставил распределённую систему туда, где хватало одного процесса, совершал ошибку не техническую, а дисциплинарную — брал мощность без требования.</a:t>
            </a:r>
          </a:p>
          <a:p/>
          <a:p>
            <a:r>
              <a:t>Теперь мост к лестнице. Лестница архитектур — это тот же классический принцип «простейшее, что работает», применённый к выбору AI-архитектуры. Правило движения по ней — не поднимайся без требования, которого ступень ниже не закрывает, — это буквально KISS и YAGNI на языке AI-систем. AI-эпоха не отменяет ни один из этих принципов — она делает их дороже к нарушению, потому что цена лишней ступени выше классической: недетерминизм, токены, задержка, новая поверхность атаки. On-point провал раздела, отчёт MIT NANDA, — прямая иллюстрация цены нарушения: пилоты без ROI берут AI без сформулированного требования.</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всё пройденное в одну структуру — лестницу архитектурной сложности[1]. Каждая ступень — это архитектура, которую мы разобрали. Снизу вверх: обычный код без ИИ; один вызов модели с промптом, возможно с пошаговым рассуждением и примерами; RAG или контекст-инжиниринг, а для малого стабильного корпуса — длинный контекст с кэшированием; workflow с предопределёнными путями; агент с динамическим циклом и обязательными лимитами на бюджет и итерации; и наверху мульти-агент.</a:t>
            </a:r>
          </a:p>
          <a:p/>
          <a:p>
            <a:r>
              <a:t>Правило движения по лестнице — несущее правило всей лекции: оставайтесь на самой нижней ступени, которая закрывает требования задачи; поднимайтесь на следующую только при явно сформулированном требовании, которого текущая ступень не закрывает. Каждый подъём оплачивается новыми режимами отказа, стоимостью, задержкой, ухудшением аудируемости и новой поверхностью атаки. «Поднялся, потому что мог» — это технический долг; «поднялся, потому что вот требование, не закрываемое ступенью ниже» — инженерное решение. Заметьте, что нижняя ступень — обычный код без ИИ: лестница архитектур AI-систем начинается с «возможно, ИИ здесь вообще не нужен».</a:t>
            </a:r>
          </a:p>
          <a:p/>
          <a:p>
            <a:r>
              <a:t>Соберём, какое именно требование открывает каждый подъём — это переход от лестницы-картинки к лестнице-инструменту. Код в один вызов: появилось требование обрабатывать естественный язык, неструктурированный ввод, нечёткое соответствие, которого детерминированными правилами не выразить. Один вызов в RAG: появилось требование к знанию, которого нет в весах и которое большое, и меняющееся, и требующее провенанса, и приватное одновременно. В workflow: задача стала многошаговой, но последовательность шагов известна заранее. Workflow в агента: последовательность принципиально зависит от промежуточных результатов так, что заранее её выписать нельзя, и ценность задачи оправдывает кратные стоимость, задержку и потерю аудируемости. Агент в мульти-агент: подзадачи широко-параллельны, независимы и высокоценны настолько, что выигрыш параллелизма перекрывает кратный рост токенов и хрупкость согласования. Каждая стрелка — это не «выигрыш», а обмен: больше возможностей в обмен на стоимость, задержку, аудируемость, поверхность атаки. Инженер, владеющий этим навыком, умеет назвать обе стороны обмена, а не только левую.</a:t>
            </a:r>
          </a:p>
          <a:p/>
          <a:p>
            <a:r>
              <a:t>Источники:</a:t>
            </a:r>
          </a:p>
          <a:p>
            <a:r>
              <a:t>[1] Anthropic — Building Effective Agents (правило лестницы) — оставайся на нижней ступени; каждый подъём — обмен, не выигрыш.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говорит «не поднимайся без нужды», но не говорит, по каким осям мерить нужду. Это даёт план решения — не таблица для сложения баллов, а маршрут вопросов, который вы проходите сверху вниз для конкретной задачи, останавливаясь на первом сработавшем[1]. Первый вопрос и дешёвый отсев: задача детерминированная и верифицируемая[2] — фиксированная цена, политика, парсинг, валидация по схеме, арифметика, маршрутизация по правилам? Если да — обычный код, стоп здесь, остальные вопросы не нужны. Нет — закрывает ли задачу один вызов, возможно с пошаговым рассуждением? Если да — промпт. Дальше решающий вопрос регулируемых доменов: должен ли ответ быть проверяем по источнику? Если да, дальнейший выбор обязан обеспечивать провенанс — строгая опора на источник или код, свободная генерация исключена; это диагноз Air Canada.</a:t>
            </a:r>
          </a:p>
          <a:p/>
          <a:p>
            <a:r>
              <a:t>Следующие вопросы: знание меняется часто или нужен провенанс — RAG, если не заблокировано критериями «когда НЕ»; знание стабильно и мало — длинный контекст с кэшем. Нужно поведение, тон, формат, политика, а не факты — fine-tuning в форме PEFT. Задача многошаговая и последовательность известна заранее — workflow; принципиально непредсказуема и ценность оправдывает рост стоимости — агент с бюджетными лимитами. Подзадачи широко-параллельны, независимы и ценны — мульти-агент, иначе один линейный агент. И параллельно, на любом шаге: данные чувствительны — карта данных по фиче, least-privilege, ZDR или договор, человек-валидатор. Навык, который проверяет основная учебная цель, — не посчитать по таблице, а пройти маршрут и назвать решающий вопрос для этой задачи. «По очкам вышло RAG» — не обоснование; «вопрос про провенанс решающий, ответы юридически значимы, поэтому RAG со строгой опорой и человек-валидатор» — обоснование. И нижняя плашка — несущая строка лекции: детерминированная задача решается обычным кодом, а Air Canada — это выбор генеративной архитектуры для задачи из этой нижней плашки.</a:t>
            </a:r>
          </a:p>
          <a:p/>
          <a:p>
            <a:r>
              <a:t>Источники:</a:t>
            </a:r>
          </a:p>
          <a:p>
            <a:r>
              <a:t>[1] Anthropic — Building Effective Agents (маршрут выбора) — маршрут вопросов сверху вниз; шаг 1 — детерминированная задача → обычный код, СТОП. https://www.anthropic.com/research/building-effective-agents</a:t>
            </a:r>
          </a:p>
          <a:p>
            <a:r>
              <a:t>[2] McCarthy Tétrault — Air Canada (нижняя строка матрицы) — генеративная архитектура на детерминированную задачу = ошибка нижней строки.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дала правило для архитектуры системы целиком. Тот же принцип нужно применить внутри одной ступени — «агент» — к вопросу, какой именно экипировкой его оснащать по карте пяти слотов. Это не новая идея, а та же лестница на уровень ниже. По умолчанию — тонкий агент. По данным реестра экипировки, стартовая точка для нового агента-помощника — один файл-инструкция и плоская память, без subagents, без сложного набора skills, с минимальным доступом к внешним инструментам. Это ровно тот же выбор по умолчанию, что «один вызов» на лестнице архитектур: не потому что тонкая экипировка всегда достаточна, а потому что бремя доказательства лежит на усложнении, а не на простоте.</a:t>
            </a:r>
          </a:p>
          <a:p/>
          <a:p>
            <a:r>
              <a:t>Триггеры усложнения явные, и каждый отвечает на конкретный вопрос, а не на общее «пригодится». Память-бэкенд вместо плоского файла добавляют, когда история переросла то, что помещается в контекст, или когда нужен структурированный retrieval по фактам, — это дословно тот же критерий, что определяет переход от промпта к RAG, только применённый к истории агента. Subagents добавляют, когда конкретная подзадача требует отдельного контекстного окна или изоляции недоверенной работы; абстрактное «пусть будет для гибкости» — не триггер. Больше доступа через MCP добавляют, когда конкретная задача требует конкретного инструмента, а не на всякий случай, потому что каждое подключение — новая граница доверия. И важная деталь: исследование presence paradox прямо показывает, что добавление файла-инструкции как ритуал не работает без реального пробела, который он заполняет. Дать агенту сразу всё — это тот карго-культ, против которого работает вся лестница.</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материал лекции в одну справочную таблицу — не для запоминания наизусть, а как инструмент, к которому можно возвращаться при проектировании реальной системы. У каждого механизма есть своя граница применимости и своя мера противодействия. Промпт и роль в нём не повышают фактическую точность, только тон и глубину изложения — для точности нужны грамотный контекст и RAG. Chain-of-thought даёт прирост на многошаговых задачах, но его словесное рассуждение нельзя аудировать: верность объяснения составляет менее половины случаев даже у сильных моделей — значит, проверять нужно результат, а не проговорённую цепочку. RAG решает проблему устаревшего знания, но сам факт, что система что-то вернула, не означает, что она вернула правильное, — нужны строгая опора на источник и постоянный мониторинг.</a:t>
            </a:r>
          </a:p>
          <a:p/>
          <a:p>
            <a:r>
              <a:t>Дообучение и его параметр-эффективные варианты — плохое место для фактов и несут риск катастрофического забывания, поэтому обязательны петля оценки и версионирование весов и датасета. Цикл агента — это четыре шага, каждый со своим режимом отказа, и без внешних лимитов по бюджету и числу итераций он способен буквально довести задачу до разорения. Экипировка агента — память, инструкции, навыки, субагенты, доступ к инструментам — это не бесплатный выигрыш, а компромисс, который стоит добавлять только под конкретное требование задачи. Мульти-агентные системы страдают от математического перемножения вероятностей отказа по цепочке шагов, и один координатор надёжнее равноправного «роя»; строить их стоит только под широко параллельные независимые подзадачи. Безопасность агентной системы держится на принципе наименьших привилегий и карте данных по каждой фиче, потому что инъекция через недоверенный контент не решена как проблема, а режим нулевого удержания данных не покрывает всю цепочку сторонних инструментов.</a:t>
            </a:r>
          </a:p>
          <a:p/>
          <a:p>
            <a:r>
              <a:t>И последняя строка таблицы — несущая во всей лекции: если задача детерминирована и верифицируема, правильный ответ — обычный код без всякого ИИ. Знать инструмент — значит знать его границу; хороший архитектор ищет не максимально мощную из доступных архитектур, а нижнюю ступень, которая реально закрывает требование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 всех ветках лестницы, где есть генерация, остаётся одна сквозная роль — человек-валидатор. Его функция обоснована двумя разделами лекции: пределом chain-of-thought, где рассуждение может быть unfaithful[1], и циклом агента, где шаг check не может быть самооценкой модели. «Модель объяснила, почему она права» — не доказательство правоты, а такой же сгенерированный текст, как и сам ответ. Границу роли часто понимают неверно в обе стороны: это не «человек перечитывает каждый ответ» (не масштабируется) и не «человек смотрит, убедительно ли звучит рассуждение» (ловушка unfaithfulness). Это: на значимых решениях результат проходит проверку против источника истины до того, как станет действием; на незначимых — выборочный аудит.</a:t>
            </a:r>
          </a:p>
          <a:p/>
          <a:p>
            <a:r>
              <a:t>Чтобы роль не осталась лозунгом, разложим её по трём измерениям. Первое — степень автономности: спектр от «агент предлагает, человек подтверждает» до «агент делает и уведомляет постфактум»; чем выше автономность, тем дороже неперехваченная ошибка. Второе — scope доверия: читать данные — низкий риск, ошибку легко откатить; изменять данные — выше; необратимое действие требует человека почти всегда. Третье — continuous monitoring: качество деградирует со временем незаметно, как тихая деградация retrieval, поэтому метрики собираются постоянно и есть алерт на отклонение, а не только проверка на старте. Архитектура должна предусматривать точку этой проверки на проектировании — «человек как-нибудь потом посмотрит» не является контролем.</a:t>
            </a:r>
          </a:p>
          <a:p/>
          <a:p>
            <a:r>
              <a:t>Эту мысль усиливает отчёт MIT NANDA о состоянии корпоративного AI в 2025: около девяноста пяти процентов корпоративных GenAI-пилотов не дали измеримого эффекта на финансовый результат. Цифру подавать как заголовок отчёта с методологией, а не как закон природы. Ключевое — не процент, а причина: корень не в качестве моделей, а в провале интеграции; бюджеты[2] уходили в эффектные витрины, хотя отдача выше в скучном back-office. Урок для архитектора: «запустить ИИ» не равно «получить ценность»; решает архитектурно-интеграционная дисциплина — правильная ступень лестницы, измеримая узкая задача, человек-валидатор, — а не максимально мощная модель. Иногда правильный ответ — простейшая архитектура или не-ИИ.</a:t>
            </a:r>
          </a:p>
          <a:p/>
          <a:p>
            <a:r>
              <a:t>Источники:</a:t>
            </a:r>
          </a:p>
          <a:p>
            <a:r>
              <a:t>[1] Anthropic — Reasoning Models faithfulness (self-rationale ≠ контроль) — человек проверяет результат/факты против источника, не самообъяснение модели. https://www.anthropic.com/research/reasoning-models-dont-say-think [VFY-day-of]</a:t>
            </a:r>
          </a:p>
          <a:p>
            <a:r>
              <a:t>[2] MIT NANDA — State of AI in Business 2025 (~95% пилотов без ROI) — корень — learning gap и провал интеграции, не качество модели; отчёт, не закон. https://fortune.com/2025/08/18/mit-report-95-percent-generative-ai-pilots-at-companies-failing-cfo/ [VFY-day-of]</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3 закрывает обзорный модуль: Лекция 1 — что такое AI и промпт; Лекция 2 — почему он работает (токенизация, внимание, сэмплинг); Лекция 3 — как собрать систему и выбрать, какую. Это общий фундамент; дальше отраслевые лекции. Лекция 4 — разработка ПО.</a:t>
            </a:r>
          </a:p>
          <a:p/>
          <a:p>
            <a:r>
              <a:t>Лекция 4 раскладывает весь аппарат вдоль SDLC × AI. На требованиях/дизайне — та же лестница выбора архитектуры. На кодировании — coding-агенты (Claude Code, Aider, Cursor, OpenHands), их провалы по принципу «класс ошибки важнее даты». На тестировании — граница доверия, least-privilege, данные вне защиты. На эксплуатации — правило человека-валидатора: результат против источника, не самообъяснение.</a:t>
            </a:r>
          </a:p>
          <a:p/>
          <a:p>
            <a:r>
              <a:t>Рамка этой лекции — лестница, чек-лист, правило «когда не ИИ», least-privilege, человек-валидатор — это база для всех четырнадцати отраслевых лекций, не только сегодня. В каждой теме: вот задача, какая архитектура, почему, при каком условии другая. Семинар 3 — «Архитектурный выбор: три кейса» — освоение восьмишагового чек-листа: архитектура, две причины по осям, одно условие смены, критерий «здесь не так».</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финальный слайд лекции, отведённый под вопросы. Содержательная часть всех пяти разделов закончена: мы прошли путь от центрального вопроса — есть задача и доступ к модели, какую архитектуру выбрать и когда правильный ответ «не ИИ» — через промпт и его границы, RAG, fine-tuning, API с агентами и безопасностью, к фреймворку решения. Удачное время задать вопрос — сейчас, пока вся картина свежая и держится в голове целиком.</a:t>
            </a:r>
          </a:p>
          <a:p/>
          <a:p>
            <a:r>
              <a:t>Несколько направлений, по которым вопросы возникают чаще всего, чтобы было от чего оттолкнуться. Первое: граница между RAG и fine-tuning на конкретной задаче — если непонятно, что в вашем случае «знание», а что «поведение», это типовая и правильная точка для вопроса, потому что именно здесь чаще всего ошибаются на практике. Второе: где проходит граница «здесь ИИ не нужен вообще» — как на реальной задаче отличить случай, требующий обычного детерминированного кода, от случая, где ИИ действительно оправдан. Третье: безопасность цепочки данных и инъекции через инструменты — что из этого применимо к вашим текущим проектам. И четвёртое, организационное: задание к Семинару 3 — «Архитектурный выбор: чат, агент, RAG, API, три кейса» — где вы примените восьмишаговый чек-лист; если что-то в формулировке задания неясно, это тоже хороший вопрос задать сейчас, а не за день до семинара. Семинар — через неделю; дополнительные вопросы можно прислать на почту.</a:t>
            </a:r>
          </a:p>
          <a:p/>
          <a:p>
            <a:r>
              <a:t>Контакты преподавателя `[VFY-day-of]` — заполнить перед лекцией.</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8.xml"/><Relationship Id="rId5" Type="http://schemas.openxmlformats.org/officeDocument/2006/relationships/hyperlink" Target="https://www.anthropic.com/research/building-effective-agent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9.xml"/><Relationship Id="rId5" Type="http://schemas.openxmlformats.org/officeDocument/2006/relationships/hyperlink" Target="https://arxiv.org/abs/2311.10054"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12.xml"/><Relationship Id="rId4" Type="http://schemas.openxmlformats.org/officeDocument/2006/relationships/hyperlink" Target="https://arxiv.org/abs/2201.11903" TargetMode="External"/><Relationship Id="rId5" Type="http://schemas.openxmlformats.org/officeDocument/2006/relationships/hyperlink" Target="https://www.anthropic.com/research/reasoning-models-dont-say-think"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notesSlide" Target="../notesSlides/notesSlide14.xml"/><Relationship Id="rId5" Type="http://schemas.openxmlformats.org/officeDocument/2006/relationships/hyperlink" Target="https://research.trychroma.com/context-rot" TargetMode="External"/><Relationship Id="rId6" Type="http://schemas.openxmlformats.org/officeDocument/2006/relationships/hyperlink" Target="https://arxiv.org/abs/2307.03172" TargetMode="External"/><Relationship Id="rId7" Type="http://schemas.openxmlformats.org/officeDocument/2006/relationships/hyperlink" Target="https://www.anthropic.com/engineering/effective-context-engineering-for-ai-agent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2.png"/><Relationship Id="rId4" Type="http://schemas.openxmlformats.org/officeDocument/2006/relationships/image" Target="../media/image34.png"/><Relationship Id="rId5" Type="http://schemas.openxmlformats.org/officeDocument/2006/relationships/notesSlide" Target="../notesSlides/notesSlide18.xml"/><Relationship Id="rId6" Type="http://schemas.openxmlformats.org/officeDocument/2006/relationships/hyperlink" Target="https://arxiv.org/abs/2005.11401"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9.xml"/><Relationship Id="rId4" Type="http://schemas.openxmlformats.org/officeDocument/2006/relationships/hyperlink" Target="https://www.ibm.com/think/topics/rag-vs-fine-tuning" TargetMode="External"/><Relationship Id="rId5" Type="http://schemas.openxmlformats.org/officeDocument/2006/relationships/hyperlink" Target="https://arxiv.org/abs/2503.00353"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notesSlide" Target="../notesSlides/notesSlide20.xml"/><Relationship Id="rId7" Type="http://schemas.openxmlformats.org/officeDocument/2006/relationships/hyperlink" Target="https://www.redhat.com/en/topics/ai/rag-vs-fine-tuning" TargetMode="External"/><Relationship Id="rId8" Type="http://schemas.openxmlformats.org/officeDocument/2006/relationships/hyperlink" Target="https://www.mccarthy.ca/en/insights/blogs/techlex/moffatt-v-air-canada-misrepresentation-ai-chatbot"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21.xml"/><Relationship Id="rId4" Type="http://schemas.openxmlformats.org/officeDocument/2006/relationships/hyperlink" Target="https://arxiv.org/abs/2401.05856" TargetMode="External"/><Relationship Id="rId5" Type="http://schemas.openxmlformats.org/officeDocument/2006/relationships/hyperlink" Target="https://www.kore.ai/blog/seven-rag-engineering-failure-points" TargetMode="External"/><Relationship Id="rId6" Type="http://schemas.openxmlformats.org/officeDocument/2006/relationships/hyperlink" Target="https://www.mccarthy.ca/en/insights/blogs/techlex/moffatt-v-air-canada-misrepresentation-ai-chatbot"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9.png"/><Relationship Id="rId4" Type="http://schemas.openxmlformats.org/officeDocument/2006/relationships/image" Target="../media/image42.png"/><Relationship Id="rId5" Type="http://schemas.openxmlformats.org/officeDocument/2006/relationships/notesSlide" Target="../notesSlides/notesSlide24.xml"/><Relationship Id="rId6" Type="http://schemas.openxmlformats.org/officeDocument/2006/relationships/hyperlink" Target="https://www.ibm.com/think/topics/rag-vs-fine-tuning"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25.xml"/><Relationship Id="rId4" Type="http://schemas.openxmlformats.org/officeDocument/2006/relationships/hyperlink" Target="https://arxiv.org/abs/2106.09685" TargetMode="External"/><Relationship Id="rId5" Type="http://schemas.openxmlformats.org/officeDocument/2006/relationships/hyperlink" Target="https://arxiv.org/abs/2305.14314" TargetMode="External"/><Relationship Id="rId6" Type="http://schemas.openxmlformats.org/officeDocument/2006/relationships/hyperlink" Target="https://huggingface.co/blog/peft-beyond-lora"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bigdataboutique.com/blog/fine-tuning-llms-when-rag-isnt-enough"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notesSlide" Target="../notesSlides/notesSlide27.xml"/><Relationship Id="rId7" Type="http://schemas.openxmlformats.org/officeDocument/2006/relationships/hyperlink" Target="https://arxiv.org/abs/1503.02531" TargetMode="External"/><Relationship Id="rId8" Type="http://schemas.openxmlformats.org/officeDocument/2006/relationships/hyperlink" Target="https://arxiv.org/abs/2403.14608"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28.xml"/><Relationship Id="rId4" Type="http://schemas.openxmlformats.org/officeDocument/2006/relationships/hyperlink" Target="https://arxiv.org/abs/2308.08747"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41.png"/><Relationship Id="rId4" Type="http://schemas.openxmlformats.org/officeDocument/2006/relationships/image" Target="../media/image32.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23.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56.png"/><Relationship Id="rId9" Type="http://schemas.openxmlformats.org/officeDocument/2006/relationships/notesSlide" Target="../notesSlides/notesSlide31.xml"/><Relationship Id="rId10" Type="http://schemas.openxmlformats.org/officeDocument/2006/relationships/hyperlink" Target="https://www.anthropic.com/news/donating-the-model-context-protocol-and-establishing-of-the-agentic-ai-foundation"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19.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hyperlink" Target="https://arxiv.org/abs/2210.03629" TargetMode="External"/><Relationship Id="rId4" Type="http://schemas.openxmlformats.org/officeDocument/2006/relationships/hyperlink" Target="https://www.anthropic.com/research/reasoning-models-dont-say-think"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7.png"/><Relationship Id="rId4" Type="http://schemas.openxmlformats.org/officeDocument/2006/relationships/notesSlide" Target="../notesSlides/notesSlide35.xml"/><Relationship Id="rId5" Type="http://schemas.openxmlformats.org/officeDocument/2006/relationships/hyperlink" Target="https://www.anthropic.com/research/building-effective-agents" TargetMode="External"/><Relationship Id="rId6" Type="http://schemas.openxmlformats.org/officeDocument/2006/relationships/hyperlink" Target="https://cognition.ai/blog/dont-build-multi-agents"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image" Target="../media/image67.png"/><Relationship Id="rId4" Type="http://schemas.openxmlformats.org/officeDocument/2006/relationships/image" Target="../media/image27.png"/><Relationship Id="rId5" Type="http://schemas.openxmlformats.org/officeDocument/2006/relationships/image" Target="../media/image68.png"/><Relationship Id="rId6" Type="http://schemas.openxmlformats.org/officeDocument/2006/relationships/notesSlide" Target="../notesSlides/notesSlide40.xml"/><Relationship Id="rId7" Type="http://schemas.openxmlformats.org/officeDocument/2006/relationships/hyperlink" Target="https://arxiv.org/abs/2602.11988" TargetMode="External"/><Relationship Id="rId8" Type="http://schemas.openxmlformats.org/officeDocument/2006/relationships/hyperlink" Target="https://github.com/anthropics/claude-code/issues/51735"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70.png"/><Relationship Id="rId4" Type="http://schemas.openxmlformats.org/officeDocument/2006/relationships/image" Target="../media/image53.png"/><Relationship Id="rId5" Type="http://schemas.openxmlformats.org/officeDocument/2006/relationships/image" Target="../media/image71.png"/><Relationship Id="rId6" Type="http://schemas.openxmlformats.org/officeDocument/2006/relationships/notesSlide" Target="../notesSlides/notesSlide41.xml"/><Relationship Id="rId7" Type="http://schemas.openxmlformats.org/officeDocument/2006/relationships/hyperlink" Target="https://www.docker.com/blog/mcp-horror-stories-github-prompt-injection/" TargetMode="External"/><Relationship Id="rId8" Type="http://schemas.openxmlformats.org/officeDocument/2006/relationships/hyperlink" Target="https://simonwillison.net/2025/Apr/9/mcp-prompt-injection/" TargetMode="External"/><Relationship Id="rId9" Type="http://schemas.openxmlformats.org/officeDocument/2006/relationships/hyperlink" Target="https://unit42.paloaltonetworks.com/model-context-protocol-attack-vectors/" TargetMode="External"/><Relationship Id="rId10" Type="http://schemas.openxmlformats.org/officeDocument/2006/relationships/hyperlink" Target="https://news.bloomberglaw.com/ip-law/openai-must-turn-over-20-million-chatgpt-logs-judge-affirms" TargetMode="External"/><Relationship Id="rId11" Type="http://schemas.openxmlformats.org/officeDocument/2006/relationships/hyperlink" Target="https://platform.claude.com/docs/en/build-with-claude/api-and-data-retention"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77.png"/><Relationship Id="rId4" Type="http://schemas.openxmlformats.org/officeDocument/2006/relationships/image" Target="../media/image13.png"/><Relationship Id="rId5" Type="http://schemas.openxmlformats.org/officeDocument/2006/relationships/notesSlide" Target="../notesSlides/notesSlide44.xml"/><Relationship Id="rId6" Type="http://schemas.openxmlformats.org/officeDocument/2006/relationships/hyperlink" Target="https://medium.com/@sattyamjain96/the-agent-that-burned-4-200-in-63-hours-a-production-ai-postmortem-d38fd9586a85" TargetMode="External"/><Relationship Id="rId7" Type="http://schemas.openxmlformats.org/officeDocument/2006/relationships/hyperlink" Target="https://www.mindstudio.ai/blog/reliability-compounding-problem-ai-agent-stacks" TargetMode="External"/><Relationship Id="rId8" Type="http://schemas.openxmlformats.org/officeDocument/2006/relationships/hyperlink" Target="https://cognition.ai/blog/dont-build-multi-agents"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image" Target="../media/image81.png"/><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image" Target="../media/image40.png"/><Relationship Id="rId4" Type="http://schemas.openxmlformats.org/officeDocument/2006/relationships/image" Target="../media/image84.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9.xml"/><Relationship Id="rId4" Type="http://schemas.openxmlformats.org/officeDocument/2006/relationships/hyperlink" Target="https://www.anthropic.com/research/building-effective-agents"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hyperlink" Target="https://www.anthropic.com/research/building-effective-agents" TargetMode="External"/><Relationship Id="rId4" Type="http://schemas.openxmlformats.org/officeDocument/2006/relationships/hyperlink" Target="https://www.mccarthy.ca/en/insights/blogs/techlex/moffatt-v-air-canada-misrepresentation-ai-chatbot"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 Id="rId3" Type="http://schemas.openxmlformats.org/officeDocument/2006/relationships/image" Target="../media/image67.png"/><Relationship Id="rId4" Type="http://schemas.openxmlformats.org/officeDocument/2006/relationships/image" Target="../media/image70.png"/><Relationship Id="rId5" Type="http://schemas.openxmlformats.org/officeDocument/2006/relationships/image" Target="../media/image53.png"/><Relationship Id="rId6" Type="http://schemas.openxmlformats.org/officeDocument/2006/relationships/image" Target="../media/image86.png"/><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 Id="rId3" Type="http://schemas.openxmlformats.org/officeDocument/2006/relationships/image" Target="../media/image88.png"/><Relationship Id="rId4" Type="http://schemas.openxmlformats.org/officeDocument/2006/relationships/notesSlide" Target="../notesSlides/notesSlide53.xml"/><Relationship Id="rId5" Type="http://schemas.openxmlformats.org/officeDocument/2006/relationships/hyperlink" Target="https://www.anthropic.com/research/reasoning-models-dont-say-think" TargetMode="External"/><Relationship Id="rId6" Type="http://schemas.openxmlformats.org/officeDocument/2006/relationships/hyperlink" Target="https://fortune.com/2025/08/18/mit-report-95-percent-generative-ai-pilots-at-companies-failing-cfo/"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365760"/>
            <a:ext cx="11201400" cy="402336"/>
          </a:xfrm>
          <a:prstGeom prst="rect">
            <a:avLst/>
          </a:prstGeom>
          <a:noFill/>
        </p:spPr>
        <p:txBody>
          <a:bodyPr wrap="square" lIns="0" rIns="0" tIns="0" bIns="0" anchor="t">
            <a:spAutoFit/>
          </a:bodyPr>
          <a:lstStyle/>
          <a:p>
            <a:pPr algn="ctr">
              <a:lnSpc>
                <a:spcPct val="115000"/>
              </a:lnSpc>
            </a:pPr>
            <a:r>
              <a:rPr sz="1500" b="1" i="0">
                <a:solidFill>
                  <a:srgbClr val="028090"/>
                </a:solidFill>
                <a:latin typeface="Arial"/>
              </a:rPr>
              <a:t>МИФ ПРО AI-СИСТЕМЫ</a:t>
            </a:r>
          </a:p>
        </p:txBody>
      </p:sp>
      <p:sp>
        <p:nvSpPr>
          <p:cNvPr id="3" name="TextBox 2"/>
          <p:cNvSpPr txBox="1"/>
          <p:nvPr/>
        </p:nvSpPr>
        <p:spPr>
          <a:xfrm>
            <a:off x="502920" y="786384"/>
            <a:ext cx="11201400" cy="841248"/>
          </a:xfrm>
          <a:prstGeom prst="rect">
            <a:avLst/>
          </a:prstGeom>
          <a:noFill/>
        </p:spPr>
        <p:txBody>
          <a:bodyPr wrap="square" lIns="0" rIns="0" tIns="0" bIns="0" anchor="t">
            <a:spAutoFit/>
          </a:bodyPr>
          <a:lstStyle/>
          <a:p>
            <a:pPr algn="ctr">
              <a:lnSpc>
                <a:spcPct val="106000"/>
              </a:lnSpc>
            </a:pPr>
            <a:r>
              <a:rPr sz="2500" b="1" i="0">
                <a:solidFill>
                  <a:srgbClr val="21295C"/>
                </a:solidFill>
                <a:latin typeface="Arial"/>
              </a:rPr>
              <a:t>«Магическая пилюля»: модель ответит точнее, если попросить её экспертом и усложнить промпт.</a:t>
            </a:r>
          </a:p>
        </p:txBody>
      </p:sp>
      <p:sp>
        <p:nvSpPr>
          <p:cNvPr id="4" name="Rounded Rectangle 3"/>
          <p:cNvSpPr/>
          <p:nvPr/>
        </p:nvSpPr>
        <p:spPr>
          <a:xfrm>
            <a:off x="3689604" y="1755648"/>
            <a:ext cx="4809744" cy="3968496"/>
          </a:xfrm>
          <a:prstGeom prst="roundRect">
            <a:avLst>
              <a:gd name="adj" fmla="val 76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1-drake-ru.png"/>
          <p:cNvPicPr>
            <a:picLocks noChangeAspect="1"/>
          </p:cNvPicPr>
          <p:nvPr/>
        </p:nvPicPr>
        <p:blipFill>
          <a:blip r:embed="rId2"/>
          <a:stretch>
            <a:fillRect/>
          </a:stretch>
        </p:blipFill>
        <p:spPr>
          <a:xfrm>
            <a:off x="4238244" y="1883664"/>
            <a:ext cx="3712463" cy="3712463"/>
          </a:xfrm>
          <a:prstGeom prst="rect">
            <a:avLst/>
          </a:prstGeom>
        </p:spPr>
      </p:pic>
      <p:sp>
        <p:nvSpPr>
          <p:cNvPr id="6" name="Rounded Rectangle 5"/>
          <p:cNvSpPr/>
          <p:nvPr/>
        </p:nvSpPr>
        <p:spPr>
          <a:xfrm>
            <a:off x="502920" y="5797296"/>
            <a:ext cx="11201400" cy="67665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5852159"/>
            <a:ext cx="10799064" cy="566928"/>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Откуда на самом деле берётся надёжность AI-системы — разбираем всю лекцию.</a:t>
            </a:r>
          </a:p>
        </p:txBody>
      </p:sp>
      <p:sp>
        <p:nvSpPr>
          <p:cNvPr id="8" name="TextBox 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 / 55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6949440" y="1051560"/>
            <a:ext cx="5212080" cy="4572000"/>
          </a:xfrm>
          <a:prstGeom prst="rect">
            <a:avLst/>
          </a:prstGeom>
          <a:noFill/>
        </p:spPr>
        <p:txBody>
          <a:bodyPr wrap="square" lIns="0" rIns="0" tIns="0" bIns="0" anchor="t">
            <a:spAutoFit/>
          </a:bodyPr>
          <a:lstStyle/>
          <a:p>
            <a:pPr algn="l">
              <a:lnSpc>
                <a:spcPct val="100000"/>
              </a:lnSpc>
            </a:pPr>
            <a:r>
              <a:rPr sz="30000" b="1" i="0">
                <a:solidFill>
                  <a:srgbClr val="D9E2EC"/>
                </a:solidFill>
                <a:latin typeface="Arial"/>
              </a:rPr>
              <a:t>03</a:t>
            </a:r>
          </a:p>
        </p:txBody>
      </p:sp>
      <p:sp>
        <p:nvSpPr>
          <p:cNvPr id="3" name="TextBox 2"/>
          <p:cNvSpPr txBox="1"/>
          <p:nvPr/>
        </p:nvSpPr>
        <p:spPr>
          <a:xfrm>
            <a:off x="685800" y="1234440"/>
            <a:ext cx="603504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3</a:t>
            </a:r>
          </a:p>
        </p:txBody>
      </p:sp>
      <p:sp>
        <p:nvSpPr>
          <p:cNvPr id="4" name="Rectangle 3"/>
          <p:cNvSpPr/>
          <p:nvPr/>
        </p:nvSpPr>
        <p:spPr>
          <a:xfrm>
            <a:off x="713232" y="1755648"/>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48840"/>
            <a:ext cx="7040880" cy="2468880"/>
          </a:xfrm>
          <a:prstGeom prst="rect">
            <a:avLst/>
          </a:prstGeom>
          <a:noFill/>
        </p:spPr>
        <p:txBody>
          <a:bodyPr wrap="square" lIns="0" rIns="0" tIns="0" bIns="0" anchor="t">
            <a:spAutoFit/>
          </a:bodyPr>
          <a:lstStyle/>
          <a:p>
            <a:pPr algn="l">
              <a:lnSpc>
                <a:spcPct val="108000"/>
              </a:lnSpc>
            </a:pPr>
            <a:r>
              <a:rPr sz="4600" b="1" i="0">
                <a:solidFill>
                  <a:srgbClr val="21295C"/>
                </a:solidFill>
                <a:latin typeface="Arial"/>
              </a:rPr>
              <a:t>Архитектуры AI-систем:
агенты, RAG, API</a:t>
            </a:r>
          </a:p>
        </p:txBody>
      </p:sp>
      <p:sp>
        <p:nvSpPr>
          <p:cNvPr id="6" name="Rectangle 5"/>
          <p:cNvSpPr/>
          <p:nvPr/>
        </p:nvSpPr>
        <p:spPr>
          <a:xfrm>
            <a:off x="713232" y="4828032"/>
            <a:ext cx="45720" cy="51206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4809744"/>
            <a:ext cx="6766560" cy="566928"/>
          </a:xfrm>
          <a:prstGeom prst="rect">
            <a:avLst/>
          </a:prstGeom>
          <a:noFill/>
        </p:spPr>
        <p:txBody>
          <a:bodyPr wrap="square" lIns="0" rIns="0" tIns="0" bIns="0" anchor="t">
            <a:spAutoFit/>
          </a:bodyPr>
          <a:lstStyle/>
          <a:p>
            <a:pPr algn="l">
              <a:lnSpc>
                <a:spcPct val="118000"/>
              </a:lnSpc>
            </a:pPr>
            <a:r>
              <a:rPr sz="1900" b="0" i="0">
                <a:solidFill>
                  <a:srgbClr val="065A82"/>
                </a:solidFill>
                <a:latin typeface="Arial"/>
              </a:rPr>
              <a:t>Какую архитектуру выбрать под задачу —
и когда правильный ответ «не ИИ»</a:t>
            </a:r>
          </a:p>
        </p:txBody>
      </p:sp>
      <p:sp>
        <p:nvSpPr>
          <p:cNvPr id="8" name="Rounded Rectangle 7"/>
          <p:cNvSpPr/>
          <p:nvPr/>
        </p:nvSpPr>
        <p:spPr>
          <a:xfrm>
            <a:off x="612648" y="5468112"/>
            <a:ext cx="2066544" cy="1052417"/>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over-pirate-crop.png"/>
          <p:cNvPicPr>
            <a:picLocks noChangeAspect="1"/>
          </p:cNvPicPr>
          <p:nvPr/>
        </p:nvPicPr>
        <p:blipFill>
          <a:blip r:embed="rId2"/>
          <a:stretch>
            <a:fillRect/>
          </a:stretch>
        </p:blipFill>
        <p:spPr>
          <a:xfrm>
            <a:off x="685800" y="5541264"/>
            <a:ext cx="1920239" cy="906113"/>
          </a:xfrm>
          <a:prstGeom prst="rect">
            <a:avLst/>
          </a:prstGeom>
        </p:spPr>
      </p:pic>
      <p:sp>
        <p:nvSpPr>
          <p:cNvPr id="10" name="TextBox 9"/>
          <p:cNvSpPr txBox="1"/>
          <p:nvPr/>
        </p:nvSpPr>
        <p:spPr>
          <a:xfrm>
            <a:off x="2862072" y="5486400"/>
            <a:ext cx="4937760" cy="1052417"/>
          </a:xfrm>
          <a:prstGeom prst="rect">
            <a:avLst/>
          </a:prstGeom>
          <a:noFill/>
        </p:spPr>
        <p:txBody>
          <a:bodyPr wrap="square" lIns="0" rIns="0" tIns="0" bIns="0" anchor="ctr">
            <a:spAutoFit/>
          </a:bodyPr>
          <a:lstStyle/>
          <a:p>
            <a:pPr algn="l">
              <a:lnSpc>
                <a:spcPct val="114000"/>
              </a:lnSpc>
            </a:pPr>
            <a:r>
              <a:rPr sz="1400" b="1" i="1">
                <a:solidFill>
                  <a:srgbClr val="065A82"/>
                </a:solidFill>
                <a:latin typeface="Arial"/>
              </a:rPr>
              <a:t>«магической пилюли» не существует</a:t>
            </a:r>
          </a:p>
        </p:txBody>
      </p:sp>
      <p:sp>
        <p:nvSpPr>
          <p:cNvPr id="11" name="TextBox 1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 / 55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Маршрут лекции — шесть разделов.</a:t>
            </a:r>
          </a:p>
        </p:txBody>
      </p:sp>
      <p:sp>
        <p:nvSpPr>
          <p:cNvPr id="3" name="Rectangle 2"/>
          <p:cNvSpPr/>
          <p:nvPr/>
        </p:nvSpPr>
        <p:spPr>
          <a:xfrm>
            <a:off x="502920" y="1152144"/>
            <a:ext cx="54864" cy="31089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76656" y="1115568"/>
            <a:ext cx="11018520" cy="384048"/>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Одна несущая линия: выбор архитектуры под задачу — и когда правильный ответ «не ИИ».</a:t>
            </a:r>
          </a:p>
        </p:txBody>
      </p:sp>
      <p:sp>
        <p:nvSpPr>
          <p:cNvPr id="5" name="Rounded Rectangle 4"/>
          <p:cNvSpPr/>
          <p:nvPr/>
        </p:nvSpPr>
        <p:spPr>
          <a:xfrm>
            <a:off x="50292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0</a:t>
            </a:r>
          </a:p>
        </p:txBody>
      </p:sp>
      <p:pic>
        <p:nvPicPr>
          <p:cNvPr id="8" name="Picture 7" descr="gavel-mid.png"/>
          <p:cNvPicPr>
            <a:picLocks noChangeAspect="1"/>
          </p:cNvPicPr>
          <p:nvPr/>
        </p:nvPicPr>
        <p:blipFill>
          <a:blip r:embed="rId2"/>
          <a:stretch>
            <a:fillRect/>
          </a:stretch>
        </p:blipFill>
        <p:spPr>
          <a:xfrm>
            <a:off x="3438144" y="1975104"/>
            <a:ext cx="457200" cy="457200"/>
          </a:xfrm>
          <a:prstGeom prst="rect">
            <a:avLst/>
          </a:prstGeom>
        </p:spPr>
      </p:pic>
      <p:sp>
        <p:nvSpPr>
          <p:cNvPr id="9" name="TextBox 8"/>
          <p:cNvSpPr txBox="1"/>
          <p:nvPr/>
        </p:nvSpPr>
        <p:spPr>
          <a:xfrm>
            <a:off x="72237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Открытие</a:t>
            </a:r>
          </a:p>
        </p:txBody>
      </p:sp>
      <p:sp>
        <p:nvSpPr>
          <p:cNvPr id="10" name="TextBox 9"/>
          <p:cNvSpPr txBox="1"/>
          <p:nvPr/>
        </p:nvSpPr>
        <p:spPr>
          <a:xfrm>
            <a:off x="72237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постановка задачи: откуда берётся надёжность</a:t>
            </a:r>
          </a:p>
        </p:txBody>
      </p:sp>
      <p:sp>
        <p:nvSpPr>
          <p:cNvPr id="11" name="Rounded Rectangle 10"/>
          <p:cNvSpPr/>
          <p:nvPr/>
        </p:nvSpPr>
        <p:spPr>
          <a:xfrm>
            <a:off x="429768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1713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1</a:t>
            </a:r>
          </a:p>
        </p:txBody>
      </p:sp>
      <p:pic>
        <p:nvPicPr>
          <p:cNvPr id="14" name="Picture 13" descr="message-circle-mid.png"/>
          <p:cNvPicPr>
            <a:picLocks noChangeAspect="1"/>
          </p:cNvPicPr>
          <p:nvPr/>
        </p:nvPicPr>
        <p:blipFill>
          <a:blip r:embed="rId3"/>
          <a:stretch>
            <a:fillRect/>
          </a:stretch>
        </p:blipFill>
        <p:spPr>
          <a:xfrm>
            <a:off x="7232904" y="1975104"/>
            <a:ext cx="457200" cy="457200"/>
          </a:xfrm>
          <a:prstGeom prst="rect">
            <a:avLst/>
          </a:prstGeom>
        </p:spPr>
      </p:pic>
      <p:sp>
        <p:nvSpPr>
          <p:cNvPr id="15" name="TextBox 14"/>
          <p:cNvSpPr txBox="1"/>
          <p:nvPr/>
        </p:nvSpPr>
        <p:spPr>
          <a:xfrm>
            <a:off x="451713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Промпт и его границы</a:t>
            </a:r>
          </a:p>
        </p:txBody>
      </p:sp>
      <p:sp>
        <p:nvSpPr>
          <p:cNvPr id="16" name="TextBox 15"/>
          <p:cNvSpPr txBox="1"/>
          <p:nvPr/>
        </p:nvSpPr>
        <p:spPr>
          <a:xfrm>
            <a:off x="451713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что умеет один вызов и где его потолок</a:t>
            </a:r>
          </a:p>
        </p:txBody>
      </p:sp>
      <p:sp>
        <p:nvSpPr>
          <p:cNvPr id="17" name="Rounded Rectangle 16"/>
          <p:cNvSpPr/>
          <p:nvPr/>
        </p:nvSpPr>
        <p:spPr>
          <a:xfrm>
            <a:off x="809244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1189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1189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2</a:t>
            </a:r>
          </a:p>
        </p:txBody>
      </p:sp>
      <p:pic>
        <p:nvPicPr>
          <p:cNvPr id="20" name="Picture 19" descr="database-mid.png"/>
          <p:cNvPicPr>
            <a:picLocks noChangeAspect="1"/>
          </p:cNvPicPr>
          <p:nvPr/>
        </p:nvPicPr>
        <p:blipFill>
          <a:blip r:embed="rId4"/>
          <a:stretch>
            <a:fillRect/>
          </a:stretch>
        </p:blipFill>
        <p:spPr>
          <a:xfrm>
            <a:off x="11027664" y="1975104"/>
            <a:ext cx="457200" cy="457200"/>
          </a:xfrm>
          <a:prstGeom prst="rect">
            <a:avLst/>
          </a:prstGeom>
        </p:spPr>
      </p:pic>
      <p:sp>
        <p:nvSpPr>
          <p:cNvPr id="21" name="TextBox 20"/>
          <p:cNvSpPr txBox="1"/>
          <p:nvPr/>
        </p:nvSpPr>
        <p:spPr>
          <a:xfrm>
            <a:off x="831189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RAG</a:t>
            </a:r>
          </a:p>
        </p:txBody>
      </p:sp>
      <p:sp>
        <p:nvSpPr>
          <p:cNvPr id="22" name="TextBox 21"/>
          <p:cNvSpPr txBox="1"/>
          <p:nvPr/>
        </p:nvSpPr>
        <p:spPr>
          <a:xfrm>
            <a:off x="831189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внешнее знание в контекст — и где оно тихо ломается</a:t>
            </a:r>
          </a:p>
        </p:txBody>
      </p:sp>
      <p:sp>
        <p:nvSpPr>
          <p:cNvPr id="23" name="Rounded Rectangle 22"/>
          <p:cNvSpPr/>
          <p:nvPr/>
        </p:nvSpPr>
        <p:spPr>
          <a:xfrm>
            <a:off x="50292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237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3</a:t>
            </a:r>
          </a:p>
        </p:txBody>
      </p:sp>
      <p:pic>
        <p:nvPicPr>
          <p:cNvPr id="26" name="Picture 25" descr="sliders-horizontal-mid.png"/>
          <p:cNvPicPr>
            <a:picLocks noChangeAspect="1"/>
          </p:cNvPicPr>
          <p:nvPr/>
        </p:nvPicPr>
        <p:blipFill>
          <a:blip r:embed="rId5"/>
          <a:stretch>
            <a:fillRect/>
          </a:stretch>
        </p:blipFill>
        <p:spPr>
          <a:xfrm>
            <a:off x="3438144" y="4334256"/>
            <a:ext cx="457200" cy="457200"/>
          </a:xfrm>
          <a:prstGeom prst="rect">
            <a:avLst/>
          </a:prstGeom>
        </p:spPr>
      </p:pic>
      <p:sp>
        <p:nvSpPr>
          <p:cNvPr id="27" name="TextBox 26"/>
          <p:cNvSpPr txBox="1"/>
          <p:nvPr/>
        </p:nvSpPr>
        <p:spPr>
          <a:xfrm>
            <a:off x="72237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Дообучение</a:t>
            </a:r>
          </a:p>
        </p:txBody>
      </p:sp>
      <p:sp>
        <p:nvSpPr>
          <p:cNvPr id="28" name="TextBox 27"/>
          <p:cNvSpPr txBox="1"/>
          <p:nvPr/>
        </p:nvSpPr>
        <p:spPr>
          <a:xfrm>
            <a:off x="72237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менять веса под поведение, не под знание</a:t>
            </a:r>
          </a:p>
        </p:txBody>
      </p:sp>
      <p:sp>
        <p:nvSpPr>
          <p:cNvPr id="29" name="Rounded Rectangle 28"/>
          <p:cNvSpPr/>
          <p:nvPr/>
        </p:nvSpPr>
        <p:spPr>
          <a:xfrm>
            <a:off x="429768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51713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1713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4</a:t>
            </a:r>
          </a:p>
        </p:txBody>
      </p:sp>
      <p:pic>
        <p:nvPicPr>
          <p:cNvPr id="32" name="Picture 31" descr="bot-mid.png"/>
          <p:cNvPicPr>
            <a:picLocks noChangeAspect="1"/>
          </p:cNvPicPr>
          <p:nvPr/>
        </p:nvPicPr>
        <p:blipFill>
          <a:blip r:embed="rId6"/>
          <a:stretch>
            <a:fillRect/>
          </a:stretch>
        </p:blipFill>
        <p:spPr>
          <a:xfrm>
            <a:off x="7232904" y="4334256"/>
            <a:ext cx="457200" cy="457200"/>
          </a:xfrm>
          <a:prstGeom prst="rect">
            <a:avLst/>
          </a:prstGeom>
        </p:spPr>
      </p:pic>
      <p:sp>
        <p:nvSpPr>
          <p:cNvPr id="33" name="TextBox 32"/>
          <p:cNvSpPr txBox="1"/>
          <p:nvPr/>
        </p:nvSpPr>
        <p:spPr>
          <a:xfrm>
            <a:off x="451713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Агенты</a:t>
            </a:r>
          </a:p>
        </p:txBody>
      </p:sp>
      <p:sp>
        <p:nvSpPr>
          <p:cNvPr id="34" name="TextBox 33"/>
          <p:cNvSpPr txBox="1"/>
          <p:nvPr/>
        </p:nvSpPr>
        <p:spPr>
          <a:xfrm>
            <a:off x="451713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цикл, экипировка, память, безопасность — и провалы</a:t>
            </a:r>
          </a:p>
        </p:txBody>
      </p:sp>
      <p:sp>
        <p:nvSpPr>
          <p:cNvPr id="35" name="Rounded Rectangle 34"/>
          <p:cNvSpPr/>
          <p:nvPr/>
        </p:nvSpPr>
        <p:spPr>
          <a:xfrm>
            <a:off x="809244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31189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1189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5</a:t>
            </a:r>
          </a:p>
        </p:txBody>
      </p:sp>
      <p:pic>
        <p:nvPicPr>
          <p:cNvPr id="38" name="Picture 37" descr="list-checks-mid.png"/>
          <p:cNvPicPr>
            <a:picLocks noChangeAspect="1"/>
          </p:cNvPicPr>
          <p:nvPr/>
        </p:nvPicPr>
        <p:blipFill>
          <a:blip r:embed="rId7"/>
          <a:stretch>
            <a:fillRect/>
          </a:stretch>
        </p:blipFill>
        <p:spPr>
          <a:xfrm>
            <a:off x="11027664" y="4334256"/>
            <a:ext cx="457200" cy="457200"/>
          </a:xfrm>
          <a:prstGeom prst="rect">
            <a:avLst/>
          </a:prstGeom>
        </p:spPr>
      </p:pic>
      <p:sp>
        <p:nvSpPr>
          <p:cNvPr id="39" name="TextBox 38"/>
          <p:cNvSpPr txBox="1"/>
          <p:nvPr/>
        </p:nvSpPr>
        <p:spPr>
          <a:xfrm>
            <a:off x="831189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Фреймворк</a:t>
            </a:r>
          </a:p>
        </p:txBody>
      </p:sp>
      <p:sp>
        <p:nvSpPr>
          <p:cNvPr id="40" name="TextBox 39"/>
          <p:cNvSpPr txBox="1"/>
          <p:nvPr/>
        </p:nvSpPr>
        <p:spPr>
          <a:xfrm>
            <a:off x="831189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лестница + чек-лист: как выбрать быстро и обоснованно</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 / 55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Из Лекции 2 берём готовыми два понятия.</a:t>
            </a:r>
          </a:p>
        </p:txBody>
      </p:sp>
      <p:sp>
        <p:nvSpPr>
          <p:cNvPr id="3" name="TextBox 2"/>
          <p:cNvSpPr txBox="1"/>
          <p:nvPr/>
        </p:nvSpPr>
        <p:spPr>
          <a:xfrm>
            <a:off x="502920" y="1115568"/>
            <a:ext cx="11201400" cy="384048"/>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Не переобъясняем — просто вспоминаем, чтобы дальше на них опереться. Всё остальное надстроим по ходу лекции.</a:t>
            </a:r>
          </a:p>
        </p:txBody>
      </p:sp>
      <p:sp>
        <p:nvSpPr>
          <p:cNvPr id="4" name="Rounded Rectangle 3"/>
          <p:cNvSpPr/>
          <p:nvPr/>
        </p:nvSpPr>
        <p:spPr>
          <a:xfrm>
            <a:off x="502920" y="1874519"/>
            <a:ext cx="553212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ssage-circle-mid.png"/>
          <p:cNvPicPr>
            <a:picLocks noChangeAspect="1"/>
          </p:cNvPicPr>
          <p:nvPr/>
        </p:nvPicPr>
        <p:blipFill>
          <a:blip r:embed="rId2"/>
          <a:stretch>
            <a:fillRect/>
          </a:stretch>
        </p:blipFill>
        <p:spPr>
          <a:xfrm>
            <a:off x="777240" y="2148839"/>
            <a:ext cx="566928" cy="566928"/>
          </a:xfrm>
          <a:prstGeom prst="rect">
            <a:avLst/>
          </a:prstGeom>
        </p:spPr>
      </p:pic>
      <p:sp>
        <p:nvSpPr>
          <p:cNvPr id="6" name="TextBox 5"/>
          <p:cNvSpPr txBox="1"/>
          <p:nvPr/>
        </p:nvSpPr>
        <p:spPr>
          <a:xfrm>
            <a:off x="1554480" y="2148839"/>
            <a:ext cx="4526279" cy="548640"/>
          </a:xfrm>
          <a:prstGeom prst="rect">
            <a:avLst/>
          </a:prstGeom>
          <a:noFill/>
        </p:spPr>
        <p:txBody>
          <a:bodyPr wrap="square" lIns="0" rIns="0" tIns="0" bIns="0" anchor="ctr">
            <a:spAutoFit/>
          </a:bodyPr>
          <a:lstStyle/>
          <a:p>
            <a:pPr algn="l">
              <a:lnSpc>
                <a:spcPct val="105000"/>
              </a:lnSpc>
            </a:pPr>
            <a:r>
              <a:rPr sz="1900" b="1" i="0">
                <a:solidFill>
                  <a:srgbClr val="21295C"/>
                </a:solidFill>
                <a:latin typeface="Arial"/>
              </a:rPr>
              <a:t>Одиночный вызов (single-shot)</a:t>
            </a:r>
          </a:p>
        </p:txBody>
      </p:sp>
      <p:sp>
        <p:nvSpPr>
          <p:cNvPr id="7" name="TextBox 6"/>
          <p:cNvSpPr txBox="1"/>
          <p:nvPr/>
        </p:nvSpPr>
        <p:spPr>
          <a:xfrm>
            <a:off x="777240" y="2971800"/>
            <a:ext cx="4983480" cy="960120"/>
          </a:xfrm>
          <a:prstGeom prst="rect">
            <a:avLst/>
          </a:prstGeom>
          <a:noFill/>
        </p:spPr>
        <p:txBody>
          <a:bodyPr wrap="square" lIns="0" rIns="0" tIns="0" bIns="0" anchor="t">
            <a:spAutoFit/>
          </a:bodyPr>
          <a:lstStyle/>
          <a:p>
            <a:pPr algn="l">
              <a:lnSpc>
                <a:spcPct val="120000"/>
              </a:lnSpc>
            </a:pPr>
            <a:r>
              <a:rPr sz="1500" b="0" i="0">
                <a:solidFill>
                  <a:srgbClr val="21295C"/>
                </a:solidFill>
                <a:latin typeface="Arial"/>
              </a:rPr>
              <a:t>Один проход модели: дал промпт → получил ответ. Без памяти между вызовами, без обращений наружу.</a:t>
            </a:r>
          </a:p>
        </p:txBody>
      </p:sp>
      <p:sp>
        <p:nvSpPr>
          <p:cNvPr id="8" name="Rounded Rectangle 7"/>
          <p:cNvSpPr/>
          <p:nvPr/>
        </p:nvSpPr>
        <p:spPr>
          <a:xfrm>
            <a:off x="777240" y="4160520"/>
            <a:ext cx="4983480" cy="603504"/>
          </a:xfrm>
          <a:prstGeom prst="roundRect">
            <a:avLst>
              <a:gd name="adj" fmla="val 14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187952"/>
            <a:ext cx="4617720" cy="548640"/>
          </a:xfrm>
          <a:prstGeom prst="rect">
            <a:avLst/>
          </a:prstGeom>
          <a:noFill/>
        </p:spPr>
        <p:txBody>
          <a:bodyPr wrap="square" lIns="0" rIns="0" tIns="0" bIns="0" anchor="ctr">
            <a:spAutoFit/>
          </a:bodyPr>
          <a:lstStyle/>
          <a:p>
            <a:pPr algn="l">
              <a:lnSpc>
                <a:spcPct val="105000"/>
              </a:lnSpc>
            </a:pPr>
            <a:r>
              <a:rPr sz="1350" b="1" i="0">
                <a:solidFill>
                  <a:srgbClr val="21295C"/>
                </a:solidFill>
                <a:latin typeface="Arial"/>
              </a:rPr>
              <a:t>Модель знает только то, что в промпте и в весах</a:t>
            </a:r>
          </a:p>
        </p:txBody>
      </p:sp>
      <p:sp>
        <p:nvSpPr>
          <p:cNvPr id="10" name="Rounded Rectangle 9"/>
          <p:cNvSpPr/>
          <p:nvPr/>
        </p:nvSpPr>
        <p:spPr>
          <a:xfrm>
            <a:off x="6172200" y="1874519"/>
            <a:ext cx="5532120" cy="3063240"/>
          </a:xfrm>
          <a:prstGeom prst="roundRect">
            <a:avLst>
              <a:gd name="adj" fmla="val 995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teal.png"/>
          <p:cNvPicPr>
            <a:picLocks noChangeAspect="1"/>
          </p:cNvPicPr>
          <p:nvPr/>
        </p:nvPicPr>
        <p:blipFill>
          <a:blip r:embed="rId3"/>
          <a:stretch>
            <a:fillRect/>
          </a:stretch>
        </p:blipFill>
        <p:spPr>
          <a:xfrm>
            <a:off x="6446520" y="2148839"/>
            <a:ext cx="566928" cy="566928"/>
          </a:xfrm>
          <a:prstGeom prst="rect">
            <a:avLst/>
          </a:prstGeom>
        </p:spPr>
      </p:pic>
      <p:sp>
        <p:nvSpPr>
          <p:cNvPr id="12" name="TextBox 11"/>
          <p:cNvSpPr txBox="1"/>
          <p:nvPr/>
        </p:nvSpPr>
        <p:spPr>
          <a:xfrm>
            <a:off x="7223760" y="2148839"/>
            <a:ext cx="4251960" cy="548640"/>
          </a:xfrm>
          <a:prstGeom prst="rect">
            <a:avLst/>
          </a:prstGeom>
          <a:noFill/>
        </p:spPr>
        <p:txBody>
          <a:bodyPr wrap="square" lIns="0" rIns="0" tIns="0" bIns="0" anchor="ctr">
            <a:spAutoFit/>
          </a:bodyPr>
          <a:lstStyle/>
          <a:p>
            <a:pPr algn="l">
              <a:lnSpc>
                <a:spcPct val="105000"/>
              </a:lnSpc>
            </a:pPr>
            <a:r>
              <a:rPr sz="1900" b="1" i="0">
                <a:solidFill>
                  <a:srgbClr val="028090"/>
                </a:solidFill>
                <a:latin typeface="Arial"/>
              </a:rPr>
              <a:t>Семантический поиск на эмбеддингах</a:t>
            </a:r>
          </a:p>
        </p:txBody>
      </p:sp>
      <p:sp>
        <p:nvSpPr>
          <p:cNvPr id="13" name="TextBox 12"/>
          <p:cNvSpPr txBox="1"/>
          <p:nvPr/>
        </p:nvSpPr>
        <p:spPr>
          <a:xfrm>
            <a:off x="6446520" y="2971800"/>
            <a:ext cx="4983480" cy="960120"/>
          </a:xfrm>
          <a:prstGeom prst="rect">
            <a:avLst/>
          </a:prstGeom>
          <a:noFill/>
        </p:spPr>
        <p:txBody>
          <a:bodyPr wrap="square" lIns="0" rIns="0" tIns="0" bIns="0" anchor="t">
            <a:spAutoFit/>
          </a:bodyPr>
          <a:lstStyle/>
          <a:p>
            <a:pPr algn="l">
              <a:lnSpc>
                <a:spcPct val="120000"/>
              </a:lnSpc>
            </a:pPr>
            <a:r>
              <a:rPr sz="1500" b="0" i="0">
                <a:solidFill>
                  <a:srgbClr val="21295C"/>
                </a:solidFill>
                <a:latin typeface="Arial"/>
              </a:rPr>
              <a:t>Текст → вектор смысла; близкие по смыслу фрагменты — близкие векторы. Поиск «по смыслу», а не по точному слову.</a:t>
            </a:r>
          </a:p>
        </p:txBody>
      </p:sp>
      <p:sp>
        <p:nvSpPr>
          <p:cNvPr id="14" name="Rounded Rectangle 13"/>
          <p:cNvSpPr/>
          <p:nvPr/>
        </p:nvSpPr>
        <p:spPr>
          <a:xfrm>
            <a:off x="6446520" y="4160520"/>
            <a:ext cx="4983480" cy="603504"/>
          </a:xfrm>
          <a:prstGeom prst="roundRect">
            <a:avLst>
              <a:gd name="adj" fmla="val 14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29400" y="4187952"/>
            <a:ext cx="4617720" cy="548640"/>
          </a:xfrm>
          <a:prstGeom prst="rect">
            <a:avLst/>
          </a:prstGeom>
          <a:noFill/>
        </p:spPr>
        <p:txBody>
          <a:bodyPr wrap="square" lIns="0" rIns="0" tIns="0" bIns="0" anchor="ctr">
            <a:spAutoFit/>
          </a:bodyPr>
          <a:lstStyle/>
          <a:p>
            <a:pPr algn="l">
              <a:lnSpc>
                <a:spcPct val="105000"/>
              </a:lnSpc>
            </a:pPr>
            <a:r>
              <a:rPr sz="1350" b="1" i="0">
                <a:solidFill>
                  <a:srgbClr val="21295C"/>
                </a:solidFill>
                <a:latin typeface="Arial"/>
              </a:rPr>
              <a:t>На этом стоит RAG (Раздел 2)</a:t>
            </a:r>
          </a:p>
        </p:txBody>
      </p:sp>
      <p:sp>
        <p:nvSpPr>
          <p:cNvPr id="16" name="Rounded Rectangle 15"/>
          <p:cNvSpPr/>
          <p:nvPr/>
        </p:nvSpPr>
        <p:spPr>
          <a:xfrm>
            <a:off x="502920" y="5230368"/>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5285231"/>
            <a:ext cx="10799064" cy="694944"/>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Оба понятия — фундамент из Лекции 2. Всё, что мы надстроим сегодня (RAG, инструменты, дообучение, агенты), опирается на них.</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 / 55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47472"/>
            <a:ext cx="11201400" cy="384048"/>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ЦЕНТРАЛЬНЫЙ ВОПРОС ЛЕКЦИИ</a:t>
            </a:r>
          </a:p>
        </p:txBody>
      </p:sp>
      <p:sp>
        <p:nvSpPr>
          <p:cNvPr id="3" name="Rounded Rectangle 2"/>
          <p:cNvSpPr/>
          <p:nvPr/>
        </p:nvSpPr>
        <p:spPr>
          <a:xfrm>
            <a:off x="502920" y="777240"/>
            <a:ext cx="11201400" cy="118872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941832"/>
            <a:ext cx="10469880" cy="859536"/>
          </a:xfrm>
          <a:prstGeom prst="rect">
            <a:avLst/>
          </a:prstGeom>
          <a:noFill/>
        </p:spPr>
        <p:txBody>
          <a:bodyPr wrap="square" lIns="0" rIns="0" tIns="0" bIns="0" anchor="ctr">
            <a:spAutoFit/>
          </a:bodyPr>
          <a:lstStyle/>
          <a:p>
            <a:pPr algn="l">
              <a:lnSpc>
                <a:spcPct val="112000"/>
              </a:lnSpc>
            </a:pPr>
            <a:r>
              <a:rPr sz="2300" b="1" i="0">
                <a:solidFill>
                  <a:srgbClr val="21295C"/>
                </a:solidFill>
                <a:latin typeface="Arial"/>
              </a:rPr>
              <a:t>У меня есть задача и доступ к LLM. Какую архитектуру выбрать — и когда правильный ответ «не ИИ»?</a:t>
            </a:r>
          </a:p>
        </p:txBody>
      </p:sp>
      <p:sp>
        <p:nvSpPr>
          <p:cNvPr id="5" name="Rounded Rectangle 4"/>
          <p:cNvSpPr/>
          <p:nvPr/>
        </p:nvSpPr>
        <p:spPr>
          <a:xfrm>
            <a:off x="502920" y="5586983"/>
            <a:ext cx="7269480" cy="676656"/>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9224" y="5714999"/>
            <a:ext cx="420624" cy="42062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 y="5714999"/>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8" name="TextBox 7"/>
          <p:cNvSpPr txBox="1"/>
          <p:nvPr/>
        </p:nvSpPr>
        <p:spPr>
          <a:xfrm>
            <a:off x="1179576" y="5687568"/>
            <a:ext cx="6446520"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Обычный код (без ИИ)</a:t>
            </a:r>
          </a:p>
        </p:txBody>
      </p:sp>
      <p:sp>
        <p:nvSpPr>
          <p:cNvPr id="9" name="TextBox 8"/>
          <p:cNvSpPr txBox="1"/>
          <p:nvPr/>
        </p:nvSpPr>
        <p:spPr>
          <a:xfrm>
            <a:off x="1179576" y="5980175"/>
            <a:ext cx="6446520"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точка отсчёта</a:t>
            </a:r>
          </a:p>
        </p:txBody>
      </p:sp>
      <p:sp>
        <p:nvSpPr>
          <p:cNvPr id="10" name="Rounded Rectangle 9"/>
          <p:cNvSpPr/>
          <p:nvPr/>
        </p:nvSpPr>
        <p:spPr>
          <a:xfrm>
            <a:off x="704088" y="4841748"/>
            <a:ext cx="7068312"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50392" y="496976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496976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3" name="TextBox 12"/>
          <p:cNvSpPr txBox="1"/>
          <p:nvPr/>
        </p:nvSpPr>
        <p:spPr>
          <a:xfrm>
            <a:off x="1380744" y="4942332"/>
            <a:ext cx="6245352"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Один вызов LLM</a:t>
            </a:r>
          </a:p>
        </p:txBody>
      </p:sp>
      <p:sp>
        <p:nvSpPr>
          <p:cNvPr id="14" name="TextBox 13"/>
          <p:cNvSpPr txBox="1"/>
          <p:nvPr/>
        </p:nvSpPr>
        <p:spPr>
          <a:xfrm>
            <a:off x="1380744" y="5234940"/>
            <a:ext cx="6245352"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промпт; + CoT (по шагам), + примеры в промпте (few-shot)</a:t>
            </a:r>
          </a:p>
        </p:txBody>
      </p:sp>
      <p:sp>
        <p:nvSpPr>
          <p:cNvPr id="15" name="Rounded Rectangle 14"/>
          <p:cNvSpPr/>
          <p:nvPr/>
        </p:nvSpPr>
        <p:spPr>
          <a:xfrm>
            <a:off x="905256" y="4096511"/>
            <a:ext cx="6867144"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51560" y="4224527"/>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224527"/>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18" name="TextBox 17"/>
          <p:cNvSpPr txBox="1"/>
          <p:nvPr/>
        </p:nvSpPr>
        <p:spPr>
          <a:xfrm>
            <a:off x="1581912" y="4197096"/>
            <a:ext cx="6044183"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RAG / контекст-инжиниринг</a:t>
            </a:r>
          </a:p>
        </p:txBody>
      </p:sp>
      <p:sp>
        <p:nvSpPr>
          <p:cNvPr id="19" name="TextBox 18"/>
          <p:cNvSpPr txBox="1"/>
          <p:nvPr/>
        </p:nvSpPr>
        <p:spPr>
          <a:xfrm>
            <a:off x="1581912" y="4489703"/>
            <a:ext cx="6044183"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поиск-дополненная генерация</a:t>
            </a:r>
          </a:p>
        </p:txBody>
      </p:sp>
      <p:sp>
        <p:nvSpPr>
          <p:cNvPr id="20" name="Rounded Rectangle 19"/>
          <p:cNvSpPr/>
          <p:nvPr/>
        </p:nvSpPr>
        <p:spPr>
          <a:xfrm>
            <a:off x="1106424" y="3351275"/>
            <a:ext cx="6665976"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252728" y="3479291"/>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479291"/>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4</a:t>
            </a:r>
          </a:p>
        </p:txBody>
      </p:sp>
      <p:sp>
        <p:nvSpPr>
          <p:cNvPr id="23" name="TextBox 22"/>
          <p:cNvSpPr txBox="1"/>
          <p:nvPr/>
        </p:nvSpPr>
        <p:spPr>
          <a:xfrm>
            <a:off x="1783080" y="3451859"/>
            <a:ext cx="5843016"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Сценарий (workflow)</a:t>
            </a:r>
          </a:p>
        </p:txBody>
      </p:sp>
      <p:sp>
        <p:nvSpPr>
          <p:cNvPr id="24" name="TextBox 23"/>
          <p:cNvSpPr txBox="1"/>
          <p:nvPr/>
        </p:nvSpPr>
        <p:spPr>
          <a:xfrm>
            <a:off x="1783080" y="3744468"/>
            <a:ext cx="5843016"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предопределённые пути</a:t>
            </a:r>
          </a:p>
        </p:txBody>
      </p:sp>
      <p:sp>
        <p:nvSpPr>
          <p:cNvPr id="25" name="Rounded Rectangle 24"/>
          <p:cNvSpPr/>
          <p:nvPr/>
        </p:nvSpPr>
        <p:spPr>
          <a:xfrm>
            <a:off x="1307592" y="2606039"/>
            <a:ext cx="6464808"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53896" y="2734056"/>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53896" y="2734056"/>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5</a:t>
            </a:r>
          </a:p>
        </p:txBody>
      </p:sp>
      <p:sp>
        <p:nvSpPr>
          <p:cNvPr id="28" name="TextBox 27"/>
          <p:cNvSpPr txBox="1"/>
          <p:nvPr/>
        </p:nvSpPr>
        <p:spPr>
          <a:xfrm>
            <a:off x="1984248" y="2706623"/>
            <a:ext cx="5641848"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Агент</a:t>
            </a:r>
          </a:p>
        </p:txBody>
      </p:sp>
      <p:sp>
        <p:nvSpPr>
          <p:cNvPr id="29" name="TextBox 28"/>
          <p:cNvSpPr txBox="1"/>
          <p:nvPr/>
        </p:nvSpPr>
        <p:spPr>
          <a:xfrm>
            <a:off x="1984248" y="2999232"/>
            <a:ext cx="5641848"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цикл: план → действие → проверка → повтор (plan → act → check → iterate)</a:t>
            </a:r>
          </a:p>
        </p:txBody>
      </p:sp>
      <p:sp>
        <p:nvSpPr>
          <p:cNvPr id="30" name="Rounded Rectangle 29"/>
          <p:cNvSpPr/>
          <p:nvPr/>
        </p:nvSpPr>
        <p:spPr>
          <a:xfrm>
            <a:off x="1508760" y="1860804"/>
            <a:ext cx="6263640"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655064" y="1988820"/>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55064" y="1988820"/>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6</a:t>
            </a:r>
          </a:p>
        </p:txBody>
      </p:sp>
      <p:sp>
        <p:nvSpPr>
          <p:cNvPr id="33" name="TextBox 32"/>
          <p:cNvSpPr txBox="1"/>
          <p:nvPr/>
        </p:nvSpPr>
        <p:spPr>
          <a:xfrm>
            <a:off x="2185416" y="1961388"/>
            <a:ext cx="5440679"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Мульти-агент</a:t>
            </a:r>
          </a:p>
        </p:txBody>
      </p:sp>
      <p:sp>
        <p:nvSpPr>
          <p:cNvPr id="34" name="TextBox 33"/>
          <p:cNvSpPr txBox="1"/>
          <p:nvPr/>
        </p:nvSpPr>
        <p:spPr>
          <a:xfrm>
            <a:off x="2185416" y="2253996"/>
            <a:ext cx="5440679"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несколько координируемых агентов</a:t>
            </a:r>
          </a:p>
        </p:txBody>
      </p:sp>
      <p:sp>
        <p:nvSpPr>
          <p:cNvPr id="35" name="TextBox 34"/>
          <p:cNvSpPr txBox="1"/>
          <p:nvPr/>
        </p:nvSpPr>
        <p:spPr>
          <a:xfrm>
            <a:off x="7296912" y="2084831"/>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сложнее ↑</a:t>
            </a:r>
          </a:p>
        </p:txBody>
      </p:sp>
      <p:sp>
        <p:nvSpPr>
          <p:cNvPr id="36" name="Up Arrow 35"/>
          <p:cNvSpPr/>
          <p:nvPr/>
        </p:nvSpPr>
        <p:spPr>
          <a:xfrm>
            <a:off x="7680960" y="2487168"/>
            <a:ext cx="365760" cy="3529584"/>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96912" y="6053328"/>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проще ↓</a:t>
            </a:r>
          </a:p>
        </p:txBody>
      </p:sp>
      <p:sp>
        <p:nvSpPr>
          <p:cNvPr id="38" name="Rounded Rectangle 37"/>
          <p:cNvSpPr/>
          <p:nvPr/>
        </p:nvSpPr>
        <p:spPr>
          <a:xfrm>
            <a:off x="8275320" y="2331720"/>
            <a:ext cx="3429000" cy="3611880"/>
          </a:xfrm>
          <a:prstGeom prst="roundRect">
            <a:avLst>
              <a:gd name="adj" fmla="val 888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milestone-gold.png"/>
          <p:cNvPicPr>
            <a:picLocks noChangeAspect="1"/>
          </p:cNvPicPr>
          <p:nvPr/>
        </p:nvPicPr>
        <p:blipFill>
          <a:blip r:embed="rId2"/>
          <a:stretch>
            <a:fillRect/>
          </a:stretch>
        </p:blipFill>
        <p:spPr>
          <a:xfrm>
            <a:off x="8522208" y="2606040"/>
            <a:ext cx="566928" cy="566928"/>
          </a:xfrm>
          <a:prstGeom prst="rect">
            <a:avLst/>
          </a:prstGeom>
        </p:spPr>
      </p:pic>
      <p:sp>
        <p:nvSpPr>
          <p:cNvPr id="40" name="TextBox 39"/>
          <p:cNvSpPr txBox="1"/>
          <p:nvPr/>
        </p:nvSpPr>
        <p:spPr>
          <a:xfrm>
            <a:off x="8522208" y="3383280"/>
            <a:ext cx="2971800" cy="242316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Подниматься на следующую ступень — только при требовании задачи, которого текущая не закрывает.</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Лестница — карта лекции, не требование понять всё сейчас. Каждую ступень разберём отдельно.</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 / 55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1-knife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1</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1</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Промпт и его границы</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Лестницу мы увидели целиком — теперь снизу: что умеет один вызов и где его потолок, прежде чем что-либо усложнять.</a:t>
            </a:r>
          </a:p>
        </p:txBody>
      </p:sp>
      <p:sp>
        <p:nvSpPr>
          <p:cNvPr id="8" name="Rounded Rectangle 7"/>
          <p:cNvSpPr/>
          <p:nvPr/>
        </p:nvSpPr>
        <p:spPr>
          <a:xfrm>
            <a:off x="713232" y="5212080"/>
            <a:ext cx="5413248"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один точный рез · 3 разбора · 1 провал</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 / 55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Как задачу ставили до промпта — и что это меняет.</a:t>
            </a:r>
          </a:p>
        </p:txBody>
      </p:sp>
      <p:sp>
        <p:nvSpPr>
          <p:cNvPr id="3" name="TextBox 2"/>
          <p:cNvSpPr txBox="1"/>
          <p:nvPr/>
        </p:nvSpPr>
        <p:spPr>
          <a:xfrm>
            <a:off x="502920" y="1042415"/>
            <a:ext cx="11201400" cy="548640"/>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До больших моделей «заставить систему сделать нужное» означало не пожелание на естественном языке, а точную спецификацию и детерминированную программу.</a:t>
            </a:r>
          </a:p>
        </p:txBody>
      </p:sp>
      <p:sp>
        <p:nvSpPr>
          <p:cNvPr id="4" name="Rounded Rectangle 3"/>
          <p:cNvSpPr/>
          <p:nvPr/>
        </p:nvSpPr>
        <p:spPr>
          <a:xfrm>
            <a:off x="502920"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le-text-mid.png"/>
          <p:cNvPicPr>
            <a:picLocks noChangeAspect="1"/>
          </p:cNvPicPr>
          <p:nvPr/>
        </p:nvPicPr>
        <p:blipFill>
          <a:blip r:embed="rId2"/>
          <a:stretch>
            <a:fillRect/>
          </a:stretch>
        </p:blipFill>
        <p:spPr>
          <a:xfrm>
            <a:off x="758952" y="1920240"/>
            <a:ext cx="493776" cy="493776"/>
          </a:xfrm>
          <a:prstGeom prst="rect">
            <a:avLst/>
          </a:prstGeom>
        </p:spPr>
      </p:pic>
      <p:sp>
        <p:nvSpPr>
          <p:cNvPr id="6" name="TextBox 5"/>
          <p:cNvSpPr txBox="1"/>
          <p:nvPr/>
        </p:nvSpPr>
        <p:spPr>
          <a:xfrm>
            <a:off x="758952"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Точная спецификация / ТЗ</a:t>
            </a:r>
          </a:p>
        </p:txBody>
      </p:sp>
      <p:sp>
        <p:nvSpPr>
          <p:cNvPr id="7" name="TextBox 6"/>
          <p:cNvSpPr txBox="1"/>
          <p:nvPr/>
        </p:nvSpPr>
        <p:spPr>
          <a:xfrm>
            <a:off x="758952"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Пред- и постусловия, инварианты, критерии приёмки (Z-нотация, TLA+, Design by Contract). Результат детерминирован и проверяем.</a:t>
            </a:r>
          </a:p>
        </p:txBody>
      </p:sp>
      <p:sp>
        <p:nvSpPr>
          <p:cNvPr id="8" name="Rounded Rectangle 7"/>
          <p:cNvSpPr/>
          <p:nvPr/>
        </p:nvSpPr>
        <p:spPr>
          <a:xfrm>
            <a:off x="4309872"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fork-mid.png"/>
          <p:cNvPicPr>
            <a:picLocks noChangeAspect="1"/>
          </p:cNvPicPr>
          <p:nvPr/>
        </p:nvPicPr>
        <p:blipFill>
          <a:blip r:embed="rId3"/>
          <a:stretch>
            <a:fillRect/>
          </a:stretch>
        </p:blipFill>
        <p:spPr>
          <a:xfrm>
            <a:off x="4565904" y="1920240"/>
            <a:ext cx="493776" cy="493776"/>
          </a:xfrm>
          <a:prstGeom prst="rect">
            <a:avLst/>
          </a:prstGeom>
        </p:spPr>
      </p:pic>
      <p:sp>
        <p:nvSpPr>
          <p:cNvPr id="10" name="TextBox 9"/>
          <p:cNvSpPr txBox="1"/>
          <p:nvPr/>
        </p:nvSpPr>
        <p:spPr>
          <a:xfrm>
            <a:off x="4565904"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Императив vs декларатив</a:t>
            </a:r>
          </a:p>
        </p:txBody>
      </p:sp>
      <p:sp>
        <p:nvSpPr>
          <p:cNvPr id="11" name="TextBox 10"/>
          <p:cNvSpPr txBox="1"/>
          <p:nvPr/>
        </p:nvSpPr>
        <p:spPr>
          <a:xfrm>
            <a:off x="4565904"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«Как сделать» (алгоритм по шагам) против «что получить» (SQL/Prolog описывает результат, движок решает как).</a:t>
            </a:r>
          </a:p>
        </p:txBody>
      </p:sp>
      <p:sp>
        <p:nvSpPr>
          <p:cNvPr id="12" name="Rounded Rectangle 11"/>
          <p:cNvSpPr/>
          <p:nvPr/>
        </p:nvSpPr>
        <p:spPr>
          <a:xfrm>
            <a:off x="8116824"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races-mid.png"/>
          <p:cNvPicPr>
            <a:picLocks noChangeAspect="1"/>
          </p:cNvPicPr>
          <p:nvPr/>
        </p:nvPicPr>
        <p:blipFill>
          <a:blip r:embed="rId4"/>
          <a:stretch>
            <a:fillRect/>
          </a:stretch>
        </p:blipFill>
        <p:spPr>
          <a:xfrm>
            <a:off x="8372856" y="1920240"/>
            <a:ext cx="493776" cy="493776"/>
          </a:xfrm>
          <a:prstGeom prst="rect">
            <a:avLst/>
          </a:prstGeom>
        </p:spPr>
      </p:pic>
      <p:sp>
        <p:nvSpPr>
          <p:cNvPr id="14" name="TextBox 13"/>
          <p:cNvSpPr txBox="1"/>
          <p:nvPr/>
        </p:nvSpPr>
        <p:spPr>
          <a:xfrm>
            <a:off x="8372856"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Контракт интерфейса</a:t>
            </a:r>
          </a:p>
        </p:txBody>
      </p:sp>
      <p:sp>
        <p:nvSpPr>
          <p:cNvPr id="15" name="TextBox 14"/>
          <p:cNvSpPr txBox="1"/>
          <p:nvPr/>
        </p:nvSpPr>
        <p:spPr>
          <a:xfrm>
            <a:off x="8372856"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Точное соглашение вход/выход (сигнатуры типов, OpenAPI, Protobuf). Единственный корректный смысл и способ его проверить.</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Дисциплину точной постановки: точный промпт — то же ТЗ на естественном языке. Для детерминированного и верифицируемого (арифметика, валидация по схеме, маршрутизация по правилам) — классический код, а не промпт.</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промпт — постановка задачи вероятностной системе на естественном языке; отсюда и сила (не нужно специфицировать неподъёмное), и граница (нет единственного смысла, нет детерминизма).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7 / 55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По умолчанию — один вызов с хорошим промптом.</a:t>
            </a:r>
          </a:p>
        </p:txBody>
      </p:sp>
      <p:sp>
        <p:nvSpPr>
          <p:cNvPr id="3" name="Rounded Rectangle 2"/>
          <p:cNvSpPr/>
          <p:nvPr/>
        </p:nvSpPr>
        <p:spPr>
          <a:xfrm>
            <a:off x="502920" y="1078992"/>
            <a:ext cx="11201400" cy="60350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133856"/>
            <a:ext cx="10789920" cy="512064"/>
          </a:xfrm>
          <a:prstGeom prst="rect">
            <a:avLst/>
          </a:prstGeom>
          <a:noFill/>
        </p:spPr>
        <p:txBody>
          <a:bodyPr wrap="square" lIns="0" rIns="0" tIns="0" bIns="0" anchor="ctr">
            <a:spAutoFit/>
          </a:bodyPr>
          <a:lstStyle/>
          <a:p>
            <a:pPr algn="l">
              <a:lnSpc>
                <a:spcPct val="112000"/>
              </a:lnSpc>
            </a:pPr>
            <a:r>
              <a:rPr sz="1500" b="1" i="0">
                <a:solidFill>
                  <a:srgbClr val="21295C"/>
                </a:solidFill>
                <a:latin typeface="Arial"/>
              </a:rPr>
              <a:t>Модель знает только то, что в промпте (плюс то, что было в весах на обучении). Больше ей взять неоткуда.</a:t>
            </a:r>
          </a:p>
        </p:txBody>
      </p:sp>
      <p:sp>
        <p:nvSpPr>
          <p:cNvPr id="5" name="Rounded Rectangle 4"/>
          <p:cNvSpPr/>
          <p:nvPr/>
        </p:nvSpPr>
        <p:spPr>
          <a:xfrm>
            <a:off x="502920" y="1847088"/>
            <a:ext cx="5623560" cy="3310128"/>
          </a:xfrm>
          <a:prstGeom prst="roundRect">
            <a:avLst>
              <a:gd name="adj" fmla="val 920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teal.png"/>
          <p:cNvPicPr>
            <a:picLocks noChangeAspect="1"/>
          </p:cNvPicPr>
          <p:nvPr/>
        </p:nvPicPr>
        <p:blipFill>
          <a:blip r:embed="rId2"/>
          <a:stretch>
            <a:fillRect/>
          </a:stretch>
        </p:blipFill>
        <p:spPr>
          <a:xfrm>
            <a:off x="758952" y="2066543"/>
            <a:ext cx="530352" cy="530352"/>
          </a:xfrm>
          <a:prstGeom prst="rect">
            <a:avLst/>
          </a:prstGeom>
        </p:spPr>
      </p:pic>
      <p:sp>
        <p:nvSpPr>
          <p:cNvPr id="7" name="TextBox 6"/>
          <p:cNvSpPr txBox="1"/>
          <p:nvPr/>
        </p:nvSpPr>
        <p:spPr>
          <a:xfrm>
            <a:off x="758952" y="2706624"/>
            <a:ext cx="5111496" cy="548640"/>
          </a:xfrm>
          <a:prstGeom prst="rect">
            <a:avLst/>
          </a:prstGeom>
          <a:noFill/>
        </p:spPr>
        <p:txBody>
          <a:bodyPr wrap="square" lIns="0" rIns="0" tIns="0" bIns="0" anchor="t">
            <a:spAutoFit/>
          </a:bodyPr>
          <a:lstStyle/>
          <a:p>
            <a:pPr algn="l">
              <a:lnSpc>
                <a:spcPct val="110000"/>
              </a:lnSpc>
            </a:pPr>
            <a:r>
              <a:rPr sz="1800" b="1" i="0">
                <a:solidFill>
                  <a:srgbClr val="21295C"/>
                </a:solidFill>
                <a:latin typeface="Arial"/>
              </a:rPr>
              <a:t>Один вызов LLM
с хорошим промптом</a:t>
            </a:r>
          </a:p>
        </p:txBody>
      </p:sp>
      <p:sp>
        <p:nvSpPr>
          <p:cNvPr id="8" name="Oval 7"/>
          <p:cNvSpPr/>
          <p:nvPr/>
        </p:nvSpPr>
        <p:spPr>
          <a:xfrm>
            <a:off x="777240" y="364845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984" y="3584448"/>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минимальная стоимость (один проход)</a:t>
            </a:r>
          </a:p>
        </p:txBody>
      </p:sp>
      <p:sp>
        <p:nvSpPr>
          <p:cNvPr id="10" name="Oval 9"/>
          <p:cNvSpPr/>
          <p:nvPr/>
        </p:nvSpPr>
        <p:spPr>
          <a:xfrm>
            <a:off x="777240" y="416052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4" y="4096512"/>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минимальная задержка (нет лишних обращений)</a:t>
            </a:r>
          </a:p>
        </p:txBody>
      </p:sp>
      <p:sp>
        <p:nvSpPr>
          <p:cNvPr id="12" name="Oval 11"/>
          <p:cNvSpPr/>
          <p:nvPr/>
        </p:nvSpPr>
        <p:spPr>
          <a:xfrm>
            <a:off x="777240" y="467258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4608576"/>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максимальная предсказуемость (нет петель, нет поиска, который тихо деградирует)</a:t>
            </a:r>
          </a:p>
        </p:txBody>
      </p:sp>
      <p:sp>
        <p:nvSpPr>
          <p:cNvPr id="14" name="Rounded Rectangle 13"/>
          <p:cNvSpPr/>
          <p:nvPr/>
        </p:nvSpPr>
        <p:spPr>
          <a:xfrm>
            <a:off x="6355080" y="1847088"/>
            <a:ext cx="5349240" cy="3310128"/>
          </a:xfrm>
          <a:prstGeom prst="roundRect">
            <a:avLst>
              <a:gd name="adj" fmla="val 920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611112" y="2048256"/>
            <a:ext cx="4837175" cy="42062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50" b="1">
                <a:solidFill>
                  <a:srgbClr val="FFFFFF"/>
                </a:solidFill>
                <a:latin typeface="Arial"/>
              </a:rPr>
              <a:t>«НА ВСЯКИЙ СЛУЧАЙ» — ЭСКАЛАЦИЯ</a:t>
            </a:r>
          </a:p>
        </p:txBody>
      </p:sp>
      <p:pic>
        <p:nvPicPr>
          <p:cNvPr id="16" name="Picture 15" descr="s05-gru-ru.png"/>
          <p:cNvPicPr>
            <a:picLocks noChangeAspect="1"/>
          </p:cNvPicPr>
          <p:nvPr/>
        </p:nvPicPr>
        <p:blipFill>
          <a:blip r:embed="rId3"/>
          <a:stretch>
            <a:fillRect/>
          </a:stretch>
        </p:blipFill>
        <p:spPr>
          <a:xfrm>
            <a:off x="7062416" y="2596896"/>
            <a:ext cx="3934567" cy="2523744"/>
          </a:xfrm>
          <a:prstGeom prst="rect">
            <a:avLst/>
          </a:prstGeom>
        </p:spPr>
      </p:pic>
      <p:sp>
        <p:nvSpPr>
          <p:cNvPr id="17" name="Rounded Rectangle 16"/>
          <p:cNvSpPr/>
          <p:nvPr/>
        </p:nvSpPr>
        <p:spPr>
          <a:xfrm>
            <a:off x="502920" y="5413248"/>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468112"/>
            <a:ext cx="10799064" cy="731520"/>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Не усложняй архитектуру без причины, выраженной в требованиях задачи</a:t>
            </a:r>
            <a:r>
              <a:rPr sz="780" baseline="30000" b="0" i="1">
                <a:latin typeface="Arial"/>
                <a:cs typeface="Arial"/>
                <a:ea typeface="Arial"/>
                <a:solidFill>
                  <a:srgbClr val="1C7293"/>
                </a:solidFill>
              </a:rPr>
              <a:t>[1]</a:t>
            </a:r>
            <a:r>
              <a:rPr sz="1500" b="1" i="0">
                <a:latin typeface="Arial"/>
                <a:cs typeface="Arial"/>
                <a:ea typeface="Arial"/>
                <a:solidFill>
                  <a:srgbClr val="21295C"/>
                </a:solidFill>
              </a:rPr>
              <a:t>. Это распределение бремени доказательства, а не примитивизм.</a:t>
            </a:r>
          </a:p>
        </p:txBody>
      </p:sp>
      <p:sp>
        <p:nvSpPr>
          <p:cNvPr id="19" name="TextBox 1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Building Effective Agents («найди простейшее»)</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8 / 55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Роль в промпте настраивает тон — не точность.</a:t>
            </a:r>
          </a:p>
        </p:txBody>
      </p:sp>
      <p:sp>
        <p:nvSpPr>
          <p:cNvPr id="3" name="TextBox 2"/>
          <p:cNvSpPr txBox="1"/>
          <p:nvPr/>
        </p:nvSpPr>
        <p:spPr>
          <a:xfrm>
            <a:off x="502920" y="1060704"/>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«Ты — опытный юрист» сдвигает внимание модели в сторону текста такой роли — но это про стиль, не про факты.</a:t>
            </a:r>
          </a:p>
        </p:txBody>
      </p:sp>
      <p:sp>
        <p:nvSpPr>
          <p:cNvPr id="4" name="Rounded Rectangle 3"/>
          <p:cNvSpPr/>
          <p:nvPr/>
        </p:nvSpPr>
        <p:spPr>
          <a:xfrm>
            <a:off x="502920" y="1627632"/>
            <a:ext cx="3977639" cy="2865462"/>
          </a:xfrm>
          <a:prstGeom prst="roundRect">
            <a:avLst>
              <a:gd name="adj" fmla="val 106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8952" y="1828800"/>
            <a:ext cx="3465575" cy="329184"/>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Расхожий миф</a:t>
            </a:r>
          </a:p>
        </p:txBody>
      </p:sp>
      <p:sp>
        <p:nvSpPr>
          <p:cNvPr id="6" name="TextBox 5"/>
          <p:cNvSpPr txBox="1"/>
          <p:nvPr/>
        </p:nvSpPr>
        <p:spPr>
          <a:xfrm>
            <a:off x="758952" y="2194560"/>
            <a:ext cx="3465575" cy="731520"/>
          </a:xfrm>
          <a:prstGeom prst="rect">
            <a:avLst/>
          </a:prstGeom>
          <a:noFill/>
        </p:spPr>
        <p:txBody>
          <a:bodyPr wrap="square" lIns="0" rIns="0" tIns="0" bIns="0" anchor="t">
            <a:spAutoFit/>
          </a:bodyPr>
          <a:lstStyle/>
          <a:p>
            <a:pPr algn="l">
              <a:lnSpc>
                <a:spcPct val="118000"/>
              </a:lnSpc>
            </a:pPr>
            <a:r>
              <a:rPr sz="1500" b="0" i="1">
                <a:solidFill>
                  <a:srgbClr val="5B6678"/>
                </a:solidFill>
                <a:latin typeface="Arial"/>
              </a:rPr>
              <a:t>«Роль эксперта в промпте — и модель точнее по фактам»</a:t>
            </a:r>
          </a:p>
        </p:txBody>
      </p:sp>
      <p:cxnSp>
        <p:nvCxnSpPr>
          <p:cNvPr id="7" name="Connector 6"/>
          <p:cNvCxnSpPr/>
          <p:nvPr/>
        </p:nvCxnSpPr>
        <p:spPr>
          <a:xfrm>
            <a:off x="758952" y="3072384"/>
            <a:ext cx="3465575" cy="0"/>
          </a:xfrm>
          <a:prstGeom prst="line">
            <a:avLst/>
          </a:prstGeom>
          <a:ln w="127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58952" y="3218688"/>
            <a:ext cx="3465575"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Эксперимент</a:t>
            </a:r>
          </a:p>
        </p:txBody>
      </p:sp>
      <p:sp>
        <p:nvSpPr>
          <p:cNvPr id="9" name="TextBox 8"/>
          <p:cNvSpPr txBox="1"/>
          <p:nvPr/>
        </p:nvSpPr>
        <p:spPr>
          <a:xfrm>
            <a:off x="758952" y="3584448"/>
            <a:ext cx="3465575" cy="822960"/>
          </a:xfrm>
          <a:prstGeom prst="rect">
            <a:avLst/>
          </a:prstGeom>
          <a:noFill/>
        </p:spPr>
        <p:txBody>
          <a:bodyPr wrap="square" lIns="0" rIns="0" tIns="0" bIns="0" anchor="t">
            <a:spAutoFit/>
          </a:bodyPr>
          <a:lstStyle/>
          <a:p>
            <a:pPr algn="l">
              <a:lnSpc>
                <a:spcPct val="126000"/>
              </a:lnSpc>
            </a:pPr>
            <a:r>
              <a:rPr sz="1550" b="1" i="0">
                <a:solidFill>
                  <a:srgbClr val="21295C"/>
                </a:solidFill>
                <a:latin typeface="Arial"/>
              </a:rPr>
              <a:t>162 персоны, 2410 вопросов —
персоны НЕ повысили точность</a:t>
            </a:r>
            <a:r>
              <a:rPr sz="806" baseline="30000" b="0" i="1">
                <a:latin typeface="Arial"/>
                <a:cs typeface="Arial"/>
                <a:ea typeface="Arial"/>
                <a:solidFill>
                  <a:srgbClr val="1C7293"/>
                </a:solidFill>
              </a:rPr>
              <a:t>[1]</a:t>
            </a:r>
            <a:r>
              <a:rPr sz="1550" b="1" i="0">
                <a:latin typeface="Arial"/>
                <a:cs typeface="Arial"/>
                <a:ea typeface="Arial"/>
                <a:solidFill>
                  <a:srgbClr val="21295C"/>
                </a:solidFill>
              </a:rPr>
              <a:t>.</a:t>
            </a:r>
          </a:p>
        </p:txBody>
      </p:sp>
      <p:sp>
        <p:nvSpPr>
          <p:cNvPr id="10" name="Rounded Rectangle 9"/>
          <p:cNvSpPr/>
          <p:nvPr/>
        </p:nvSpPr>
        <p:spPr>
          <a:xfrm>
            <a:off x="4626864" y="1536192"/>
            <a:ext cx="3959352" cy="2956902"/>
          </a:xfrm>
          <a:prstGeom prst="roundRect">
            <a:avLst>
              <a:gd name="adj" fmla="val 1030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05a-changemymind-ru.png"/>
          <p:cNvPicPr>
            <a:picLocks noChangeAspect="1"/>
          </p:cNvPicPr>
          <p:nvPr/>
        </p:nvPicPr>
        <p:blipFill>
          <a:blip r:embed="rId2"/>
          <a:stretch>
            <a:fillRect/>
          </a:stretch>
        </p:blipFill>
        <p:spPr>
          <a:xfrm>
            <a:off x="4754880" y="1627819"/>
            <a:ext cx="3703320" cy="2773648"/>
          </a:xfrm>
          <a:prstGeom prst="rect">
            <a:avLst/>
          </a:prstGeom>
        </p:spPr>
      </p:pic>
      <p:sp>
        <p:nvSpPr>
          <p:cNvPr id="12" name="Rounded Rectangle 11"/>
          <p:cNvSpPr/>
          <p:nvPr/>
        </p:nvSpPr>
        <p:spPr>
          <a:xfrm>
            <a:off x="8732520" y="1627632"/>
            <a:ext cx="2971800" cy="2865462"/>
          </a:xfrm>
          <a:prstGeom prst="roundRect">
            <a:avLst>
              <a:gd name="adj" fmla="val 1063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ser-round-teal.png"/>
          <p:cNvPicPr>
            <a:picLocks noChangeAspect="1"/>
          </p:cNvPicPr>
          <p:nvPr/>
        </p:nvPicPr>
        <p:blipFill>
          <a:blip r:embed="rId3"/>
          <a:stretch>
            <a:fillRect/>
          </a:stretch>
        </p:blipFill>
        <p:spPr>
          <a:xfrm>
            <a:off x="8970264" y="1847088"/>
            <a:ext cx="438912" cy="438912"/>
          </a:xfrm>
          <a:prstGeom prst="rect">
            <a:avLst/>
          </a:prstGeom>
        </p:spPr>
      </p:pic>
      <p:sp>
        <p:nvSpPr>
          <p:cNvPr id="14" name="TextBox 13"/>
          <p:cNvSpPr txBox="1"/>
          <p:nvPr/>
        </p:nvSpPr>
        <p:spPr>
          <a:xfrm>
            <a:off x="9518904" y="1847088"/>
            <a:ext cx="2011680" cy="438912"/>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Роль влияет на:</a:t>
            </a:r>
          </a:p>
        </p:txBody>
      </p:sp>
      <p:sp>
        <p:nvSpPr>
          <p:cNvPr id="15" name="TextBox 14"/>
          <p:cNvSpPr txBox="1"/>
          <p:nvPr/>
        </p:nvSpPr>
        <p:spPr>
          <a:xfrm>
            <a:off x="8970264" y="2487168"/>
            <a:ext cx="2496312" cy="1097280"/>
          </a:xfrm>
          <a:prstGeom prst="rect">
            <a:avLst/>
          </a:prstGeom>
          <a:noFill/>
        </p:spPr>
        <p:txBody>
          <a:bodyPr wrap="square" lIns="0" rIns="0" tIns="0" bIns="0" anchor="t">
            <a:spAutoFit/>
          </a:bodyPr>
          <a:lstStyle/>
          <a:p>
            <a:pPr algn="l">
              <a:lnSpc>
                <a:spcPct val="124000"/>
              </a:lnSpc>
            </a:pPr>
            <a:r>
              <a:rPr sz="1450" b="0" i="0">
                <a:solidFill>
                  <a:srgbClr val="21295C"/>
                </a:solidFill>
                <a:latin typeface="Arial"/>
              </a:rPr>
              <a:t>тон и глубину изложения — насколько формально и подробно, а не на верность факта.</a:t>
            </a:r>
          </a:p>
        </p:txBody>
      </p:sp>
      <p:sp>
        <p:nvSpPr>
          <p:cNvPr id="16" name="Rounded Rectangle 15"/>
          <p:cNvSpPr/>
          <p:nvPr/>
        </p:nvSpPr>
        <p:spPr>
          <a:xfrm>
            <a:off x="502920" y="4639398"/>
            <a:ext cx="11201400" cy="1669961"/>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4694262"/>
            <a:ext cx="10799064" cy="1560233"/>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Нужна точность? Инструмент — не роль, а контекст и RAG (проверяемый источник). Ещё один пункт «магической пилюли», опровергнутый измерением.</a:t>
            </a:r>
          </a:p>
        </p:txBody>
      </p:sp>
      <p:sp>
        <p:nvSpPr>
          <p:cNvPr id="18" name="TextBox 1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Zheng et al. 2024, Findings of EMNLP — персоны не повышают точность фактов</a:t>
            </a:r>
            <a:r>
              <a:rPr sz="850" i="1">
                <a:solidFill>
                  <a:srgbClr val="5B6678"/>
                </a:solidFill>
                <a:latin typeface="Arial"/>
              </a:rPr>
              <a:t>   ·   Zheng, Pei, Logeswaran, Lee, Jurgens · Findings of EMNLP 2024 (arXiv:2311.10054) + arXiv:2605.29420 (2026).</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9 / 55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«Роль» — это два разных механизма. Не путайте их.</a:t>
            </a:r>
          </a:p>
        </p:txBody>
      </p:sp>
      <p:sp>
        <p:nvSpPr>
          <p:cNvPr id="3" name="TextBox 2"/>
          <p:cNvSpPr txBox="1"/>
          <p:nvPr/>
        </p:nvSpPr>
        <p:spPr>
          <a:xfrm>
            <a:off x="502920" y="1060704"/>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Роль-персона («ты — юрист») настраивает тон. Протокольная роль system/user/assistant — это разметка «кто говорит» в потоке токенов. Второе постоянно принимают за первое.</a:t>
            </a:r>
          </a:p>
        </p:txBody>
      </p:sp>
      <p:sp>
        <p:nvSpPr>
          <p:cNvPr id="4" name="Rounded Rectangle 3"/>
          <p:cNvSpPr/>
          <p:nvPr/>
        </p:nvSpPr>
        <p:spPr>
          <a:xfrm>
            <a:off x="502920" y="1664208"/>
            <a:ext cx="5532120" cy="2688336"/>
          </a:xfrm>
          <a:prstGeom prst="roundRect">
            <a:avLst>
              <a:gd name="adj" fmla="val 113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races-mid.png"/>
          <p:cNvPicPr>
            <a:picLocks noChangeAspect="1"/>
          </p:cNvPicPr>
          <p:nvPr/>
        </p:nvPicPr>
        <p:blipFill>
          <a:blip r:embed="rId2"/>
          <a:stretch>
            <a:fillRect/>
          </a:stretch>
        </p:blipFill>
        <p:spPr>
          <a:xfrm>
            <a:off x="740664" y="1847088"/>
            <a:ext cx="402336" cy="402336"/>
          </a:xfrm>
          <a:prstGeom prst="rect">
            <a:avLst/>
          </a:prstGeom>
        </p:spPr>
      </p:pic>
      <p:sp>
        <p:nvSpPr>
          <p:cNvPr id="6" name="TextBox 5"/>
          <p:cNvSpPr txBox="1"/>
          <p:nvPr/>
        </p:nvSpPr>
        <p:spPr>
          <a:xfrm>
            <a:off x="1271016" y="1847088"/>
            <a:ext cx="4617720" cy="384048"/>
          </a:xfrm>
          <a:prstGeom prst="rect">
            <a:avLst/>
          </a:prstGeom>
          <a:noFill/>
        </p:spPr>
        <p:txBody>
          <a:bodyPr wrap="square" lIns="0" rIns="0" tIns="0" bIns="0" anchor="ctr">
            <a:spAutoFit/>
          </a:bodyPr>
          <a:lstStyle/>
          <a:p>
            <a:pPr algn="l">
              <a:lnSpc>
                <a:spcPct val="102000"/>
              </a:lnSpc>
            </a:pPr>
            <a:r>
              <a:rPr sz="1400" b="1" i="0">
                <a:solidFill>
                  <a:srgbClr val="21295C"/>
                </a:solidFill>
                <a:latin typeface="Arial"/>
              </a:rPr>
              <a:t>Chat-шаблон: список ролей → плоский поток токенов</a:t>
            </a:r>
          </a:p>
        </p:txBody>
      </p:sp>
      <p:sp>
        <p:nvSpPr>
          <p:cNvPr id="7" name="Rounded Rectangle 6"/>
          <p:cNvSpPr/>
          <p:nvPr/>
        </p:nvSpPr>
        <p:spPr>
          <a:xfrm>
            <a:off x="740664" y="2450592"/>
            <a:ext cx="5056631" cy="859536"/>
          </a:xfrm>
          <a:prstGeom prst="roundRect">
            <a:avLst>
              <a:gd name="adj" fmla="val 6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2523744"/>
            <a:ext cx="4764024" cy="731520"/>
          </a:xfrm>
          <a:prstGeom prst="rect">
            <a:avLst/>
          </a:prstGeom>
          <a:noFill/>
        </p:spPr>
        <p:txBody>
          <a:bodyPr wrap="square" lIns="0" rIns="0" tIns="0" bIns="0" anchor="t">
            <a:spAutoFit/>
          </a:bodyPr>
          <a:lstStyle/>
          <a:p>
            <a:pPr algn="l">
              <a:lnSpc>
                <a:spcPct val="120000"/>
              </a:lnSpc>
            </a:pPr>
            <a:r>
              <a:rPr sz="1200" b="1" i="0">
                <a:solidFill>
                  <a:srgbClr val="F0AB00"/>
                </a:solidFill>
                <a:latin typeface="Liberation Mono"/>
              </a:rPr>
              <a:t>&lt;|im_start|&gt;system</a:t>
            </a:r>
            <a:r>
              <a:rPr sz="1200" b="0" i="0">
                <a:solidFill>
                  <a:srgbClr val="FFFFFF"/>
                </a:solidFill>
                <a:latin typeface="Liberation Mono"/>
              </a:rPr>
              <a:t>  правила поведения  </a:t>
            </a:r>
            <a:r>
              <a:rPr sz="1200" b="0" i="0">
                <a:solidFill>
                  <a:srgbClr val="028090"/>
                </a:solidFill>
                <a:latin typeface="Liberation Mono"/>
              </a:rPr>
              <a:t>&lt;|im_end|&gt;</a:t>
            </a:r>
          </a:p>
          <a:p>
            <a:pPr algn="l">
              <a:lnSpc>
                <a:spcPct val="120000"/>
              </a:lnSpc>
            </a:pPr>
            <a:r>
              <a:rPr sz="1200" b="1" i="0">
                <a:solidFill>
                  <a:srgbClr val="1C7293"/>
                </a:solidFill>
                <a:latin typeface="Liberation Mono"/>
              </a:rPr>
              <a:t>
&lt;|im_start|&gt;user</a:t>
            </a:r>
            <a:r>
              <a:rPr sz="1200" b="0" i="0">
                <a:solidFill>
                  <a:srgbClr val="FFFFFF"/>
                </a:solidFill>
                <a:latin typeface="Liberation Mono"/>
              </a:rPr>
              <a:t>  вопрос  </a:t>
            </a:r>
            <a:r>
              <a:rPr sz="1200" b="0" i="0">
                <a:solidFill>
                  <a:srgbClr val="028090"/>
                </a:solidFill>
                <a:latin typeface="Liberation Mono"/>
              </a:rPr>
              <a:t>&lt;|im_end|&gt;</a:t>
            </a:r>
          </a:p>
        </p:txBody>
      </p:sp>
      <p:sp>
        <p:nvSpPr>
          <p:cNvPr id="9" name="TextBox 8"/>
          <p:cNvSpPr txBox="1"/>
          <p:nvPr/>
        </p:nvSpPr>
        <p:spPr>
          <a:xfrm>
            <a:off x="740664" y="3438144"/>
            <a:ext cx="5056631" cy="822960"/>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Спецтокены разметки (ChatML, Llama 4) собираются шаблоном — его можно прочитать и подменить.</a:t>
            </a:r>
          </a:p>
        </p:txBody>
      </p:sp>
      <p:sp>
        <p:nvSpPr>
          <p:cNvPr id="10" name="Rounded Rectangle 9"/>
          <p:cNvSpPr/>
          <p:nvPr/>
        </p:nvSpPr>
        <p:spPr>
          <a:xfrm>
            <a:off x="6172200" y="1664208"/>
            <a:ext cx="5532120" cy="1243584"/>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1656" y="1792224"/>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Приоритет system — склонность, не граница</a:t>
            </a:r>
          </a:p>
        </p:txBody>
      </p:sp>
      <p:sp>
        <p:nvSpPr>
          <p:cNvPr id="12" name="TextBox 11"/>
          <p:cNvSpPr txBox="1"/>
          <p:nvPr/>
        </p:nvSpPr>
        <p:spPr>
          <a:xfrm>
            <a:off x="6391656" y="2194560"/>
            <a:ext cx="5093208" cy="64008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GPT-4o слушается приоритета ~</a:t>
            </a:r>
            <a:r>
              <a:rPr sz="1600" b="1" i="0">
                <a:solidFill>
                  <a:srgbClr val="065A82"/>
                </a:solidFill>
                <a:latin typeface="Arial"/>
              </a:rPr>
              <a:t>63,8%</a:t>
            </a:r>
            <a:r>
              <a:rPr sz="1300" b="0" i="0">
                <a:solidFill>
                  <a:srgbClr val="21295C"/>
                </a:solidFill>
                <a:latin typeface="Arial"/>
              </a:rPr>
              <a:t>  — всё равно ≠ 100%: это склонность.</a:t>
            </a:r>
          </a:p>
        </p:txBody>
      </p:sp>
      <p:sp>
        <p:nvSpPr>
          <p:cNvPr id="13" name="Rounded Rectangle 12"/>
          <p:cNvSpPr/>
          <p:nvPr/>
        </p:nvSpPr>
        <p:spPr>
          <a:xfrm>
            <a:off x="6172200" y="3017520"/>
            <a:ext cx="5532120" cy="133502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ield-alert-teal.png"/>
          <p:cNvPicPr>
            <a:picLocks noChangeAspect="1"/>
          </p:cNvPicPr>
          <p:nvPr/>
        </p:nvPicPr>
        <p:blipFill>
          <a:blip r:embed="rId3"/>
          <a:stretch>
            <a:fillRect/>
          </a:stretch>
        </p:blipFill>
        <p:spPr>
          <a:xfrm>
            <a:off x="6391656" y="3182112"/>
            <a:ext cx="384048" cy="384048"/>
          </a:xfrm>
          <a:prstGeom prst="rect">
            <a:avLst/>
          </a:prstGeom>
        </p:spPr>
      </p:pic>
      <p:sp>
        <p:nvSpPr>
          <p:cNvPr id="15" name="TextBox 14"/>
          <p:cNvSpPr txBox="1"/>
          <p:nvPr/>
        </p:nvSpPr>
        <p:spPr>
          <a:xfrm>
            <a:off x="6903720" y="3182112"/>
            <a:ext cx="4617720" cy="365760"/>
          </a:xfrm>
          <a:prstGeom prst="rect">
            <a:avLst/>
          </a:prstGeom>
          <a:noFill/>
        </p:spPr>
        <p:txBody>
          <a:bodyPr wrap="square" lIns="0" rIns="0" tIns="0" bIns="0" anchor="ctr">
            <a:spAutoFit/>
          </a:bodyPr>
          <a:lstStyle/>
          <a:p>
            <a:pPr algn="l">
              <a:lnSpc>
                <a:spcPct val="115000"/>
              </a:lnSpc>
            </a:pPr>
            <a:r>
              <a:rPr sz="1400" b="1" i="0">
                <a:solidFill>
                  <a:srgbClr val="028090"/>
                </a:solidFill>
                <a:latin typeface="Arial"/>
              </a:rPr>
              <a:t>STI / role spoofing: роль подделывают</a:t>
            </a:r>
          </a:p>
        </p:txBody>
      </p:sp>
      <p:sp>
        <p:nvSpPr>
          <p:cNvPr id="16" name="TextBox 15"/>
          <p:cNvSpPr txBox="1"/>
          <p:nvPr/>
        </p:nvSpPr>
        <p:spPr>
          <a:xfrm>
            <a:off x="6391656" y="3602736"/>
            <a:ext cx="509320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Строка </a:t>
            </a:r>
            <a:r>
              <a:rPr sz="1150" b="1" i="0">
                <a:solidFill>
                  <a:srgbClr val="065A82"/>
                </a:solidFill>
                <a:latin typeface="Liberation Mono"/>
              </a:rPr>
              <a:t>&lt;|im_start|&gt;assistant</a:t>
            </a:r>
            <a:r>
              <a:rPr sz="1200" b="0" i="0">
                <a:solidFill>
                  <a:srgbClr val="21295C"/>
                </a:solidFill>
                <a:latin typeface="Arial"/>
              </a:rPr>
              <a:t> из внешнего текста → ChatInject ASR </a:t>
            </a:r>
            <a:r>
              <a:rPr sz="1400" b="1" i="0">
                <a:solidFill>
                  <a:srgbClr val="028090"/>
                </a:solidFill>
                <a:latin typeface="Arial"/>
              </a:rPr>
              <a:t>5,18%→32,05%</a:t>
            </a:r>
            <a:r>
              <a:rPr sz="1200" b="0" i="0">
                <a:solidFill>
                  <a:srgbClr val="21295C"/>
                </a:solidFill>
                <a:latin typeface="Arial"/>
              </a:rPr>
              <a:t> (Llama-4 до 88,3%).</a:t>
            </a:r>
          </a:p>
        </p:txBody>
      </p:sp>
      <p:sp>
        <p:nvSpPr>
          <p:cNvPr id="17" name="Rounded Rectangle 16"/>
          <p:cNvSpPr/>
          <p:nvPr/>
        </p:nvSpPr>
        <p:spPr>
          <a:xfrm>
            <a:off x="502920" y="4498848"/>
            <a:ext cx="8549640" cy="144475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4553712"/>
            <a:ext cx="8147304" cy="1335024"/>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не проектируйте защиту в расчёте «система важнее пользователя всегда». Экранируйте спецтокены во ВХОДЯЩЕМ внешнем контенте и проверяйте chat-шаблон у локальных моделей — чужой шаблон тихо ломает приоритет.</a:t>
            </a:r>
          </a:p>
        </p:txBody>
      </p:sp>
      <p:sp>
        <p:nvSpPr>
          <p:cNvPr id="19" name="Rounded Rectangle 18"/>
          <p:cNvSpPr/>
          <p:nvPr/>
        </p:nvSpPr>
        <p:spPr>
          <a:xfrm>
            <a:off x="9144000" y="4453128"/>
            <a:ext cx="2523744" cy="1719072"/>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05c-pigeon-ru.png"/>
          <p:cNvPicPr>
            <a:picLocks noChangeAspect="1"/>
          </p:cNvPicPr>
          <p:nvPr/>
        </p:nvPicPr>
        <p:blipFill>
          <a:blip r:embed="rId4"/>
          <a:stretch>
            <a:fillRect/>
          </a:stretch>
        </p:blipFill>
        <p:spPr>
          <a:xfrm>
            <a:off x="9499537" y="4498848"/>
            <a:ext cx="1812668" cy="1627632"/>
          </a:xfrm>
          <a:prstGeom prst="rect">
            <a:avLst/>
          </a:prstGeom>
        </p:spPr>
      </p:pic>
      <p:sp>
        <p:nvSpPr>
          <p:cNvPr id="21" name="TextBox 2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Полный разбор инъекции в промпт как класса атак агента — в разделе про агенты (безопасность).</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10 / 55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188720"/>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Структура промпта: разделяй инструкцию, контекст, данные.</a:t>
            </a:r>
          </a:p>
        </p:txBody>
      </p:sp>
      <p:sp>
        <p:nvSpPr>
          <p:cNvPr id="3" name="TextBox 2"/>
          <p:cNvSpPr txBox="1"/>
          <p:nvPr/>
        </p:nvSpPr>
        <p:spPr>
          <a:xfrm>
            <a:off x="502920" y="1444752"/>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Плоский промпт заставляет модель угадывать, где кончается инструкция и начинаются данные. Явная граница снимает эту неоднозначность.</a:t>
            </a:r>
          </a:p>
        </p:txBody>
      </p:sp>
      <p:sp>
        <p:nvSpPr>
          <p:cNvPr id="4" name="Rounded Rectangle 3"/>
          <p:cNvSpPr/>
          <p:nvPr/>
        </p:nvSpPr>
        <p:spPr>
          <a:xfrm>
            <a:off x="502920" y="1956816"/>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04088" y="2157984"/>
            <a:ext cx="658368" cy="658368"/>
          </a:xfrm>
          <a:prstGeom prst="roundRect">
            <a:avLst>
              <a:gd name="adj" fmla="val 1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ces-white.png"/>
          <p:cNvPicPr>
            <a:picLocks noChangeAspect="1"/>
          </p:cNvPicPr>
          <p:nvPr/>
        </p:nvPicPr>
        <p:blipFill>
          <a:blip r:embed="rId2"/>
          <a:stretch>
            <a:fillRect/>
          </a:stretch>
        </p:blipFill>
        <p:spPr>
          <a:xfrm>
            <a:off x="813816" y="2267712"/>
            <a:ext cx="438912" cy="438912"/>
          </a:xfrm>
          <a:prstGeom prst="rect">
            <a:avLst/>
          </a:prstGeom>
        </p:spPr>
      </p:pic>
      <p:sp>
        <p:nvSpPr>
          <p:cNvPr id="7" name="TextBox 6"/>
          <p:cNvSpPr txBox="1"/>
          <p:nvPr/>
        </p:nvSpPr>
        <p:spPr>
          <a:xfrm>
            <a:off x="1545336" y="2139696"/>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Инструкция</a:t>
            </a:r>
          </a:p>
        </p:txBody>
      </p:sp>
      <p:sp>
        <p:nvSpPr>
          <p:cNvPr id="8" name="TextBox 7"/>
          <p:cNvSpPr txBox="1"/>
          <p:nvPr/>
        </p:nvSpPr>
        <p:spPr>
          <a:xfrm>
            <a:off x="1545336" y="2523744"/>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что сделать</a:t>
            </a:r>
          </a:p>
        </p:txBody>
      </p:sp>
      <p:sp>
        <p:nvSpPr>
          <p:cNvPr id="9" name="Rounded Rectangle 8"/>
          <p:cNvSpPr/>
          <p:nvPr/>
        </p:nvSpPr>
        <p:spPr>
          <a:xfrm>
            <a:off x="502920" y="3163824"/>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3364992"/>
            <a:ext cx="658368" cy="658368"/>
          </a:xfrm>
          <a:prstGeom prst="roundRect">
            <a:avLst>
              <a:gd name="adj" fmla="val 16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ok-open-white.png"/>
          <p:cNvPicPr>
            <a:picLocks noChangeAspect="1"/>
          </p:cNvPicPr>
          <p:nvPr/>
        </p:nvPicPr>
        <p:blipFill>
          <a:blip r:embed="rId3"/>
          <a:stretch>
            <a:fillRect/>
          </a:stretch>
        </p:blipFill>
        <p:spPr>
          <a:xfrm>
            <a:off x="813816" y="3474720"/>
            <a:ext cx="438912" cy="438912"/>
          </a:xfrm>
          <a:prstGeom prst="rect">
            <a:avLst/>
          </a:prstGeom>
        </p:spPr>
      </p:pic>
      <p:sp>
        <p:nvSpPr>
          <p:cNvPr id="12" name="TextBox 11"/>
          <p:cNvSpPr txBox="1"/>
          <p:nvPr/>
        </p:nvSpPr>
        <p:spPr>
          <a:xfrm>
            <a:off x="1545336" y="3346704"/>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Контекст</a:t>
            </a:r>
          </a:p>
        </p:txBody>
      </p:sp>
      <p:sp>
        <p:nvSpPr>
          <p:cNvPr id="13" name="TextBox 12"/>
          <p:cNvSpPr txBox="1"/>
          <p:nvPr/>
        </p:nvSpPr>
        <p:spPr>
          <a:xfrm>
            <a:off x="1545336" y="3730752"/>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на основе чего</a:t>
            </a:r>
          </a:p>
        </p:txBody>
      </p:sp>
      <p:sp>
        <p:nvSpPr>
          <p:cNvPr id="14" name="Rounded Rectangle 13"/>
          <p:cNvSpPr/>
          <p:nvPr/>
        </p:nvSpPr>
        <p:spPr>
          <a:xfrm>
            <a:off x="502920" y="4370831"/>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04088" y="4571999"/>
            <a:ext cx="658368" cy="658368"/>
          </a:xfrm>
          <a:prstGeom prst="roundRect">
            <a:avLst>
              <a:gd name="adj" fmla="val 1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atabase-white.png"/>
          <p:cNvPicPr>
            <a:picLocks noChangeAspect="1"/>
          </p:cNvPicPr>
          <p:nvPr/>
        </p:nvPicPr>
        <p:blipFill>
          <a:blip r:embed="rId4"/>
          <a:stretch>
            <a:fillRect/>
          </a:stretch>
        </p:blipFill>
        <p:spPr>
          <a:xfrm>
            <a:off x="813816" y="4681727"/>
            <a:ext cx="438912" cy="438912"/>
          </a:xfrm>
          <a:prstGeom prst="rect">
            <a:avLst/>
          </a:prstGeom>
        </p:spPr>
      </p:pic>
      <p:sp>
        <p:nvSpPr>
          <p:cNvPr id="17" name="TextBox 16"/>
          <p:cNvSpPr txBox="1"/>
          <p:nvPr/>
        </p:nvSpPr>
        <p:spPr>
          <a:xfrm>
            <a:off x="1545336" y="4553712"/>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Данные</a:t>
            </a:r>
          </a:p>
        </p:txBody>
      </p:sp>
      <p:sp>
        <p:nvSpPr>
          <p:cNvPr id="18" name="TextBox 17"/>
          <p:cNvSpPr txBox="1"/>
          <p:nvPr/>
        </p:nvSpPr>
        <p:spPr>
          <a:xfrm>
            <a:off x="1545336" y="4937759"/>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с чем именно работать</a:t>
            </a:r>
          </a:p>
        </p:txBody>
      </p:sp>
      <p:sp>
        <p:nvSpPr>
          <p:cNvPr id="19" name="Rounded Rectangle 18"/>
          <p:cNvSpPr/>
          <p:nvPr/>
        </p:nvSpPr>
        <p:spPr>
          <a:xfrm>
            <a:off x="6537960" y="1956816"/>
            <a:ext cx="516636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93992" y="2121408"/>
            <a:ext cx="4654296"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Разделители (delimiters)</a:t>
            </a:r>
          </a:p>
        </p:txBody>
      </p:sp>
      <p:sp>
        <p:nvSpPr>
          <p:cNvPr id="21" name="Oval 20"/>
          <p:cNvSpPr/>
          <p:nvPr/>
        </p:nvSpPr>
        <p:spPr>
          <a:xfrm>
            <a:off x="6812280" y="256946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52374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XML-теги:  &lt;инструкция&gt;…&lt;/инструкция&gt;</a:t>
            </a:r>
          </a:p>
        </p:txBody>
      </p:sp>
      <p:sp>
        <p:nvSpPr>
          <p:cNvPr id="23" name="Oval 22"/>
          <p:cNvSpPr/>
          <p:nvPr/>
        </p:nvSpPr>
        <p:spPr>
          <a:xfrm>
            <a:off x="6812280" y="293522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31736" y="288950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Markdown-заголовки:  ## Задача · ## Данные</a:t>
            </a:r>
          </a:p>
        </p:txBody>
      </p:sp>
      <p:sp>
        <p:nvSpPr>
          <p:cNvPr id="25" name="Oval 24"/>
          <p:cNvSpPr/>
          <p:nvPr/>
        </p:nvSpPr>
        <p:spPr>
          <a:xfrm>
            <a:off x="6812280" y="330098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31736" y="325526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Arial"/>
              </a:rPr>
              <a:t>Тройные кавычки / бэктики вокруг данных</a:t>
            </a:r>
          </a:p>
        </p:txBody>
      </p:sp>
      <p:sp>
        <p:nvSpPr>
          <p:cNvPr id="27" name="Rounded Rectangle 26"/>
          <p:cNvSpPr/>
          <p:nvPr/>
        </p:nvSpPr>
        <p:spPr>
          <a:xfrm>
            <a:off x="6537960" y="3877056"/>
            <a:ext cx="5166360" cy="1554480"/>
          </a:xfrm>
          <a:prstGeom prst="roundRect">
            <a:avLst>
              <a:gd name="adj" fmla="val 1960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93992" y="4005072"/>
            <a:ext cx="4654296" cy="1316736"/>
          </a:xfrm>
          <a:prstGeom prst="rect">
            <a:avLst/>
          </a:prstGeom>
          <a:noFill/>
        </p:spPr>
        <p:txBody>
          <a:bodyPr wrap="square" lIns="0" rIns="0" tIns="0" bIns="0" anchor="t">
            <a:spAutoFit/>
          </a:bodyPr>
          <a:lstStyle/>
          <a:p>
            <a:pPr algn="l">
              <a:lnSpc>
                <a:spcPct val="120000"/>
              </a:lnSpc>
            </a:pPr>
            <a:r>
              <a:rPr sz="1350" b="0" i="0">
                <a:solidFill>
                  <a:srgbClr val="21295C"/>
                </a:solidFill>
                <a:latin typeface="Arial"/>
              </a:rPr>
              <a:t>Тот же принцип, что структурированный вывод (Раздел 4): там схема задаёт структуру ВЫХОДА, здесь разделители — структуру ВХОДА. Ясная структура вместо «выведи форму по смыслу».</a:t>
            </a:r>
          </a:p>
        </p:txBody>
      </p:sp>
      <p:sp>
        <p:nvSpPr>
          <p:cNvPr id="29" name="Rounded Rectangle 28"/>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Модель, которой показали, где кончается инструкция и начинаются данные, реже принимает фрагмент данных за новую команду — та же путаница лежит в основе инъекции в промпт (prompt injection) (Раздел 4).</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11 / 55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Chain-of-thought помогает — но его нельзя аудировать.</a:t>
            </a:r>
          </a:p>
        </p:txBody>
      </p:sp>
      <p:sp>
        <p:nvSpPr>
          <p:cNvPr id="3" name="Rounded Rectangle 2"/>
          <p:cNvSpPr/>
          <p:nvPr/>
        </p:nvSpPr>
        <p:spPr>
          <a:xfrm>
            <a:off x="502920" y="1060704"/>
            <a:ext cx="553212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1188719"/>
            <a:ext cx="5020056" cy="310896"/>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Без CoT</a:t>
            </a:r>
          </a:p>
        </p:txBody>
      </p:sp>
      <p:sp>
        <p:nvSpPr>
          <p:cNvPr id="5" name="TextBox 4"/>
          <p:cNvSpPr txBox="1"/>
          <p:nvPr/>
        </p:nvSpPr>
        <p:spPr>
          <a:xfrm>
            <a:off x="758952" y="1536192"/>
            <a:ext cx="5020056" cy="77724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«Было 23 яблока, 7 испортились, докупили 2 ящика по 6. Сколько хороших?»</a:t>
            </a:r>
          </a:p>
        </p:txBody>
      </p:sp>
      <p:sp>
        <p:nvSpPr>
          <p:cNvPr id="6" name="TextBox 5"/>
          <p:cNvSpPr txBox="1"/>
          <p:nvPr/>
        </p:nvSpPr>
        <p:spPr>
          <a:xfrm>
            <a:off x="758952" y="2359152"/>
            <a:ext cx="5020056" cy="457200"/>
          </a:xfrm>
          <a:prstGeom prst="rect">
            <a:avLst/>
          </a:prstGeom>
          <a:noFill/>
        </p:spPr>
        <p:txBody>
          <a:bodyPr wrap="square" lIns="0" rIns="0" tIns="0" bIns="0" anchor="t">
            <a:spAutoFit/>
          </a:bodyPr>
          <a:lstStyle/>
          <a:p>
            <a:pPr algn="l">
              <a:lnSpc>
                <a:spcPct val="115000"/>
              </a:lnSpc>
            </a:pPr>
            <a:r>
              <a:rPr sz="1300" b="1" i="0">
                <a:solidFill>
                  <a:srgbClr val="5B6678"/>
                </a:solidFill>
                <a:latin typeface="Arial"/>
              </a:rPr>
              <a:t>→ правдоподобное, но неверное число</a:t>
            </a:r>
          </a:p>
        </p:txBody>
      </p:sp>
      <p:sp>
        <p:nvSpPr>
          <p:cNvPr id="7" name="Rounded Rectangle 6"/>
          <p:cNvSpPr/>
          <p:nvPr/>
        </p:nvSpPr>
        <p:spPr>
          <a:xfrm>
            <a:off x="6172200" y="1060704"/>
            <a:ext cx="5532120" cy="1847088"/>
          </a:xfrm>
          <a:prstGeom prst="roundRect">
            <a:avLst>
              <a:gd name="adj" fmla="val 165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28232" y="1188719"/>
            <a:ext cx="5020056"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С CoT («решай по шагам»)</a:t>
            </a:r>
          </a:p>
        </p:txBody>
      </p:sp>
      <p:sp>
        <p:nvSpPr>
          <p:cNvPr id="9" name="TextBox 8"/>
          <p:cNvSpPr txBox="1"/>
          <p:nvPr/>
        </p:nvSpPr>
        <p:spPr>
          <a:xfrm>
            <a:off x="6446520" y="1572768"/>
            <a:ext cx="4983480" cy="822960"/>
          </a:xfrm>
          <a:prstGeom prst="rect">
            <a:avLst/>
          </a:prstGeom>
          <a:noFill/>
        </p:spPr>
        <p:txBody>
          <a:bodyPr wrap="square" lIns="0" rIns="0" tIns="0" bIns="0" anchor="t">
            <a:spAutoFit/>
          </a:bodyPr>
          <a:lstStyle/>
          <a:p>
            <a:pPr algn="l">
              <a:lnSpc>
                <a:spcPct val="110000"/>
              </a:lnSpc>
            </a:pPr>
            <a:r>
              <a:rPr sz="1500" b="1" i="0">
                <a:solidFill>
                  <a:srgbClr val="21295C"/>
                </a:solidFill>
                <a:latin typeface="Arial"/>
              </a:rPr>
              <a:t>23 − 7 = 16</a:t>
            </a:r>
            <a:r>
              <a:rPr sz="780" baseline="30000" b="0" i="1">
                <a:latin typeface="Arial"/>
                <a:cs typeface="Arial"/>
                <a:ea typeface="Arial"/>
                <a:solidFill>
                  <a:srgbClr val="1C7293"/>
                </a:solidFill>
              </a:rPr>
              <a:t>[1]</a:t>
            </a:r>
            <a:r>
              <a:rPr sz="1500" b="1" i="0">
                <a:latin typeface="Arial"/>
                <a:cs typeface="Arial"/>
                <a:ea typeface="Arial"/>
                <a:solidFill>
                  <a:srgbClr val="21295C"/>
                </a:solidFill>
              </a:rPr>
              <a:t>    ·    2 × 6 = 12</a:t>
            </a:r>
          </a:p>
          <a:p>
            <a:pPr algn="l">
              <a:lnSpc>
                <a:spcPct val="110000"/>
              </a:lnSpc>
              <a:spcBef>
                <a:spcPts val="600"/>
              </a:spcBef>
            </a:pPr>
            <a:r>
              <a:rPr sz="2200" b="1" i="0">
                <a:solidFill>
                  <a:srgbClr val="F0AB00"/>
                </a:solidFill>
                <a:latin typeface="Arial"/>
              </a:rPr>
              <a:t>16 + 12 = 28</a:t>
            </a:r>
          </a:p>
        </p:txBody>
      </p:sp>
      <p:sp>
        <p:nvSpPr>
          <p:cNvPr id="10" name="TextBox 9"/>
          <p:cNvSpPr txBox="1"/>
          <p:nvPr/>
        </p:nvSpPr>
        <p:spPr>
          <a:xfrm>
            <a:off x="6446520" y="2487168"/>
            <a:ext cx="4983480" cy="329184"/>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 верно</a:t>
            </a:r>
          </a:p>
        </p:txBody>
      </p:sp>
      <p:sp>
        <p:nvSpPr>
          <p:cNvPr id="11" name="TextBox 10"/>
          <p:cNvSpPr txBox="1"/>
          <p:nvPr/>
        </p:nvSpPr>
        <p:spPr>
          <a:xfrm>
            <a:off x="502920" y="2962656"/>
            <a:ext cx="11201400" cy="256032"/>
          </a:xfrm>
          <a:prstGeom prst="rect">
            <a:avLst/>
          </a:prstGeom>
          <a:noFill/>
        </p:spPr>
        <p:txBody>
          <a:bodyPr wrap="square" lIns="0" rIns="0" tIns="0" bIns="0" anchor="t">
            <a:spAutoFit/>
          </a:bodyPr>
          <a:lstStyle/>
          <a:p>
            <a:pPr algn="l">
              <a:lnSpc>
                <a:spcPct val="115000"/>
              </a:lnSpc>
            </a:pPr>
            <a:r>
              <a:rPr sz="1200" b="0" i="1">
                <a:solidFill>
                  <a:srgbClr val="065A82"/>
                </a:solidFill>
                <a:latin typeface="Arial"/>
              </a:rPr>
              <a:t>Технически это всё ещё один вызов — CoT инструмент под класс задач (цепочка шагов), не глобальный тумблер.</a:t>
            </a:r>
          </a:p>
        </p:txBody>
      </p:sp>
      <p:sp>
        <p:nvSpPr>
          <p:cNvPr id="12" name="TextBox 11"/>
          <p:cNvSpPr txBox="1"/>
          <p:nvPr/>
        </p:nvSpPr>
        <p:spPr>
          <a:xfrm>
            <a:off x="502920" y="3383280"/>
            <a:ext cx="11201400"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Но проговорённое рассуждение не обязано отражать реальную причину ответа</a:t>
            </a:r>
            <a:r>
              <a:rPr sz="728" baseline="30000" b="0" i="1">
                <a:latin typeface="Arial"/>
                <a:cs typeface="Arial"/>
                <a:ea typeface="Arial"/>
                <a:solidFill>
                  <a:srgbClr val="1C7293"/>
                </a:solidFill>
              </a:rPr>
              <a:t>[2]</a:t>
            </a:r>
            <a:r>
              <a:rPr sz="1400" b="1" i="0">
                <a:latin typeface="Arial"/>
                <a:cs typeface="Arial"/>
                <a:ea typeface="Arial"/>
                <a:solidFill>
                  <a:srgbClr val="21295C"/>
                </a:solidFill>
              </a:rPr>
              <a:t> (низкая верность объяснения):</a:t>
            </a:r>
          </a:p>
        </p:txBody>
      </p:sp>
      <p:sp>
        <p:nvSpPr>
          <p:cNvPr id="13" name="Rounded Rectangle 12"/>
          <p:cNvSpPr/>
          <p:nvPr/>
        </p:nvSpPr>
        <p:spPr>
          <a:xfrm>
            <a:off x="393192" y="3675888"/>
            <a:ext cx="3840480" cy="2596896"/>
          </a:xfrm>
          <a:prstGeom prst="roundRect">
            <a:avLst>
              <a:gd name="adj" fmla="val 117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06-distracted-ru.png"/>
          <p:cNvPicPr>
            <a:picLocks noChangeAspect="1"/>
          </p:cNvPicPr>
          <p:nvPr/>
        </p:nvPicPr>
        <p:blipFill>
          <a:blip r:embed="rId2"/>
          <a:stretch>
            <a:fillRect/>
          </a:stretch>
        </p:blipFill>
        <p:spPr>
          <a:xfrm>
            <a:off x="502920" y="3767328"/>
            <a:ext cx="3621024" cy="2414016"/>
          </a:xfrm>
          <a:prstGeom prst="rect">
            <a:avLst/>
          </a:prstGeom>
        </p:spPr>
      </p:pic>
      <p:sp>
        <p:nvSpPr>
          <p:cNvPr id="15" name="Rounded Rectangle 14"/>
          <p:cNvSpPr/>
          <p:nvPr/>
        </p:nvSpPr>
        <p:spPr>
          <a:xfrm>
            <a:off x="4526280" y="4187952"/>
            <a:ext cx="7159751" cy="15727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37176" y="4315968"/>
            <a:ext cx="6537959" cy="1316736"/>
          </a:xfrm>
          <a:prstGeom prst="rect">
            <a:avLst/>
          </a:prstGeom>
          <a:noFill/>
        </p:spPr>
        <p:txBody>
          <a:bodyPr wrap="square" lIns="0" rIns="0" tIns="0" bIns="0" anchor="ctr">
            <a:spAutoFit/>
          </a:bodyPr>
          <a:lstStyle/>
          <a:p>
            <a:pPr algn="l">
              <a:lnSpc>
                <a:spcPct val="118000"/>
              </a:lnSpc>
            </a:pPr>
            <a:r>
              <a:rPr sz="2100" b="1" i="0">
                <a:solidFill>
                  <a:srgbClr val="21295C"/>
                </a:solidFill>
                <a:latin typeface="Arial"/>
              </a:rPr>
              <a:t>Проверяй результат</a:t>
            </a:r>
            <a:r>
              <a:rPr sz="2100" b="1" i="0">
                <a:solidFill>
                  <a:srgbClr val="21295C"/>
                </a:solidFill>
                <a:latin typeface="Arial"/>
              </a:rPr>
              <a:t>, а не самообъяснение модели.</a:t>
            </a:r>
          </a:p>
          <a:p>
            <a:pPr algn="l">
              <a:lnSpc>
                <a:spcPct val="118000"/>
              </a:lnSpc>
              <a:spcBef>
                <a:spcPts val="800"/>
              </a:spcBef>
            </a:pPr>
            <a:r>
              <a:rPr sz="1500" b="0" i="0">
                <a:solidFill>
                  <a:srgbClr val="21295C"/>
                </a:solidFill>
                <a:latin typeface="Arial"/>
              </a:rPr>
              <a:t>Сверяй факты с внешним источником — правдоподобный текст рассуждения ничего не подтверждает.</a:t>
            </a:r>
          </a:p>
        </p:txBody>
      </p:sp>
      <p:sp>
        <p:nvSpPr>
          <p:cNvPr id="17" name="TextBox 1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Wei et al. 2022 — Chain-of-Thought Prompting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Anthropic — Reasoning Models Don't Always Say What They Think</a:t>
            </a:r>
            <a:r>
              <a:rPr sz="850" i="1">
                <a:solidFill>
                  <a:srgbClr val="5B6678"/>
                </a:solidFill>
                <a:latin typeface="Arial"/>
              </a:rPr>
              <a:t>   ·   Anthropic, апрель 2025 · верность падает на трудных задачах · перепроверить ко дню лекции.</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12 / 55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Рассуждение вслух — не журнал аудита.</a:t>
            </a:r>
          </a:p>
        </p:txBody>
      </p:sp>
      <p:sp>
        <p:nvSpPr>
          <p:cNvPr id="3" name="TextBox 2"/>
          <p:cNvSpPr txBox="1"/>
          <p:nvPr/>
        </p:nvSpPr>
        <p:spPr>
          <a:xfrm>
            <a:off x="502920" y="1060704"/>
            <a:ext cx="11201400" cy="420624"/>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Faithfulness (верность объяснения) — насколько проговорённая цепочка отражает реальную причину ответа. Измерили напрямую — и она низкая.</a:t>
            </a:r>
          </a:p>
        </p:txBody>
      </p:sp>
      <p:sp>
        <p:nvSpPr>
          <p:cNvPr id="4" name="Rounded Rectangle 3"/>
          <p:cNvSpPr/>
          <p:nvPr/>
        </p:nvSpPr>
        <p:spPr>
          <a:xfrm>
            <a:off x="502920" y="1700784"/>
            <a:ext cx="5532120"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47088"/>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Эксперимент Anthropic (апр. 2025)</a:t>
            </a:r>
          </a:p>
        </p:txBody>
      </p:sp>
      <p:pic>
        <p:nvPicPr>
          <p:cNvPr id="6" name="Picture 5" descr="cpu-mid.png"/>
          <p:cNvPicPr>
            <a:picLocks noChangeAspect="1"/>
          </p:cNvPicPr>
          <p:nvPr/>
        </p:nvPicPr>
        <p:blipFill>
          <a:blip r:embed="rId2"/>
          <a:stretch>
            <a:fillRect/>
          </a:stretch>
        </p:blipFill>
        <p:spPr>
          <a:xfrm>
            <a:off x="740664" y="2359152"/>
            <a:ext cx="365760" cy="365760"/>
          </a:xfrm>
          <a:prstGeom prst="rect">
            <a:avLst/>
          </a:prstGeom>
        </p:spPr>
      </p:pic>
      <p:sp>
        <p:nvSpPr>
          <p:cNvPr id="7" name="TextBox 6"/>
          <p:cNvSpPr txBox="1"/>
          <p:nvPr/>
        </p:nvSpPr>
        <p:spPr>
          <a:xfrm>
            <a:off x="1252728" y="2322576"/>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Задачу дают дважды: без подсказки и с подсказкой в промпте, которая меняет ответ («профессор считает, что C»)</a:t>
            </a:r>
          </a:p>
        </p:txBody>
      </p:sp>
      <p:pic>
        <p:nvPicPr>
          <p:cNvPr id="8" name="Picture 7" descr="eye-off-mid.png"/>
          <p:cNvPicPr>
            <a:picLocks noChangeAspect="1"/>
          </p:cNvPicPr>
          <p:nvPr/>
        </p:nvPicPr>
        <p:blipFill>
          <a:blip r:embed="rId3"/>
          <a:stretch>
            <a:fillRect/>
          </a:stretch>
        </p:blipFill>
        <p:spPr>
          <a:xfrm>
            <a:off x="740664" y="3200400"/>
            <a:ext cx="365760" cy="365760"/>
          </a:xfrm>
          <a:prstGeom prst="rect">
            <a:avLst/>
          </a:prstGeom>
        </p:spPr>
      </p:pic>
      <p:sp>
        <p:nvSpPr>
          <p:cNvPr id="9" name="TextBox 8"/>
          <p:cNvSpPr txBox="1"/>
          <p:nvPr/>
        </p:nvSpPr>
        <p:spPr>
          <a:xfrm>
            <a:off x="1252728" y="3163824"/>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Смотрят: когда ответ изменился под подсказку — упомянула ли модель её в рассуждении?</a:t>
            </a:r>
          </a:p>
        </p:txBody>
      </p:sp>
      <p:pic>
        <p:nvPicPr>
          <p:cNvPr id="10" name="Picture 9" descr="triangle-alert-mid.png"/>
          <p:cNvPicPr>
            <a:picLocks noChangeAspect="1"/>
          </p:cNvPicPr>
          <p:nvPr/>
        </p:nvPicPr>
        <p:blipFill>
          <a:blip r:embed="rId4"/>
          <a:stretch>
            <a:fillRect/>
          </a:stretch>
        </p:blipFill>
        <p:spPr>
          <a:xfrm>
            <a:off x="740664" y="4041648"/>
            <a:ext cx="365760" cy="365760"/>
          </a:xfrm>
          <a:prstGeom prst="rect">
            <a:avLst/>
          </a:prstGeom>
        </p:spPr>
      </p:pic>
      <p:sp>
        <p:nvSpPr>
          <p:cNvPr id="11" name="TextBox 10"/>
          <p:cNvSpPr txBox="1"/>
          <p:nvPr/>
        </p:nvSpPr>
        <p:spPr>
          <a:xfrm>
            <a:off x="1252728" y="4005072"/>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Часто модель меняет ответ, но строит ДРУГУЮ, выдуманную аргументацию, не называя реальную причину</a:t>
            </a:r>
          </a:p>
        </p:txBody>
      </p:sp>
      <p:sp>
        <p:nvSpPr>
          <p:cNvPr id="12" name="Rounded Rectangle 11"/>
          <p:cNvSpPr/>
          <p:nvPr/>
        </p:nvSpPr>
        <p:spPr>
          <a:xfrm>
            <a:off x="6172200" y="1700784"/>
            <a:ext cx="5532120" cy="3017520"/>
          </a:xfrm>
          <a:prstGeom prst="roundRect">
            <a:avLst>
              <a:gd name="adj" fmla="val 101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1656" y="1847088"/>
            <a:ext cx="5093208"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Как часто модель признаёт подсказку</a:t>
            </a:r>
          </a:p>
        </p:txBody>
      </p:sp>
      <p:sp>
        <p:nvSpPr>
          <p:cNvPr id="14" name="TextBox 13"/>
          <p:cNvSpPr txBox="1"/>
          <p:nvPr/>
        </p:nvSpPr>
        <p:spPr>
          <a:xfrm>
            <a:off x="6391656" y="2414016"/>
            <a:ext cx="5093208"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Claude 3.7 Sonnet</a:t>
            </a:r>
          </a:p>
        </p:txBody>
      </p:sp>
      <p:sp>
        <p:nvSpPr>
          <p:cNvPr id="15" name="Rounded Rectangle 14"/>
          <p:cNvSpPr/>
          <p:nvPr/>
        </p:nvSpPr>
        <p:spPr>
          <a:xfrm>
            <a:off x="6391656" y="2724912"/>
            <a:ext cx="379476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91656" y="2724912"/>
            <a:ext cx="948690" cy="36576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96144" y="2688336"/>
            <a:ext cx="1280160" cy="438912"/>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~25%</a:t>
            </a:r>
          </a:p>
        </p:txBody>
      </p:sp>
      <p:sp>
        <p:nvSpPr>
          <p:cNvPr id="18" name="TextBox 17"/>
          <p:cNvSpPr txBox="1"/>
          <p:nvPr/>
        </p:nvSpPr>
        <p:spPr>
          <a:xfrm>
            <a:off x="6391656" y="3255264"/>
            <a:ext cx="5093208"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DeepSeek R1</a:t>
            </a:r>
          </a:p>
        </p:txBody>
      </p:sp>
      <p:sp>
        <p:nvSpPr>
          <p:cNvPr id="19" name="Rounded Rectangle 18"/>
          <p:cNvSpPr/>
          <p:nvPr/>
        </p:nvSpPr>
        <p:spPr>
          <a:xfrm>
            <a:off x="6391656" y="3566160"/>
            <a:ext cx="379476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91656" y="3566160"/>
            <a:ext cx="1479956" cy="365760"/>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96144" y="3529584"/>
            <a:ext cx="1280160" cy="438912"/>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~39%</a:t>
            </a:r>
          </a:p>
        </p:txBody>
      </p:sp>
      <p:sp>
        <p:nvSpPr>
          <p:cNvPr id="22" name="TextBox 21"/>
          <p:cNvSpPr txBox="1"/>
          <p:nvPr/>
        </p:nvSpPr>
        <p:spPr>
          <a:xfrm>
            <a:off x="6391656" y="4114800"/>
            <a:ext cx="5093208" cy="53035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 хуже — на трудных задачах (GPQA ниже MMLU): где аудит нужнее всего, объяснению верить можно меньше всего.</a:t>
            </a:r>
          </a:p>
        </p:txBody>
      </p:sp>
      <p:sp>
        <p:nvSpPr>
          <p:cNvPr id="23" name="Rounded Rectangle 22"/>
          <p:cNvSpPr/>
          <p:nvPr/>
        </p:nvSpPr>
        <p:spPr>
          <a:xfrm>
            <a:off x="502920" y="4864608"/>
            <a:ext cx="11201400" cy="8778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4088" y="4919472"/>
            <a:ext cx="10799064" cy="76809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человек-валидатор проверяет РЕЗУЛЬТАТ против независимого источника (база, документ, расчёт, эксперт), а не приложенную «цепочку рассуждений». Контроль на самообъяснении модели — не контроль.</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13 / 55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Контекст-инжиниринг: минимум высокосигнального.</a:t>
            </a:r>
          </a:p>
        </p:txBody>
      </p:sp>
      <p:sp>
        <p:nvSpPr>
          <p:cNvPr id="3" name="TextBox 2"/>
          <p:cNvSpPr txBox="1"/>
          <p:nvPr/>
        </p:nvSpPr>
        <p:spPr>
          <a:xfrm>
            <a:off x="502920" y="1097280"/>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Промпт-инжиниринг — одна инструкция. Контекст-инжиниринг — курирование всего набора токенов, видимых модели на инференсе.</a:t>
            </a:r>
          </a:p>
        </p:txBody>
      </p:sp>
      <p:sp>
        <p:nvSpPr>
          <p:cNvPr id="4" name="Rounded Rectangle 3"/>
          <p:cNvSpPr/>
          <p:nvPr/>
        </p:nvSpPr>
        <p:spPr>
          <a:xfrm>
            <a:off x="502920" y="1783080"/>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08-context-rot.png"/>
          <p:cNvPicPr>
            <a:picLocks noChangeAspect="1"/>
          </p:cNvPicPr>
          <p:nvPr/>
        </p:nvPicPr>
        <p:blipFill>
          <a:blip r:embed="rId2"/>
          <a:stretch>
            <a:fillRect/>
          </a:stretch>
        </p:blipFill>
        <p:spPr>
          <a:xfrm>
            <a:off x="1297736" y="1929384"/>
            <a:ext cx="4856886" cy="2953512"/>
          </a:xfrm>
          <a:prstGeom prst="rect">
            <a:avLst/>
          </a:prstGeom>
        </p:spPr>
      </p:pic>
      <p:sp>
        <p:nvSpPr>
          <p:cNvPr id="6" name="TextBox 5"/>
          <p:cNvSpPr txBox="1"/>
          <p:nvPr/>
        </p:nvSpPr>
        <p:spPr>
          <a:xfrm>
            <a:off x="667512" y="5047488"/>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context rot = тот же «lost in the middle» из Л2</a:t>
            </a:r>
            <a:r>
              <a:rPr sz="598" baseline="30000" b="0" i="1">
                <a:latin typeface="Arial"/>
                <a:cs typeface="Arial"/>
                <a:ea typeface="Arial"/>
                <a:solidFill>
                  <a:srgbClr val="1C7293"/>
                </a:solidFill>
              </a:rPr>
              <a:t>[1,2]</a:t>
            </a:r>
            <a:r>
              <a:rPr sz="1150" b="0" i="1">
                <a:latin typeface="Arial"/>
                <a:cs typeface="Arial"/>
                <a:ea typeface="Arial"/>
                <a:solidFill>
                  <a:srgbClr val="1C7293"/>
                </a:solidFill>
              </a:rPr>
              <a:t> — новый термин, не новая сущность</a:t>
            </a:r>
          </a:p>
        </p:txBody>
      </p:sp>
      <p:sp>
        <p:nvSpPr>
          <p:cNvPr id="7" name="Rounded Rectangle 6"/>
          <p:cNvSpPr/>
          <p:nvPr/>
        </p:nvSpPr>
        <p:spPr>
          <a:xfrm>
            <a:off x="7178040" y="1783080"/>
            <a:ext cx="4526280" cy="3246120"/>
          </a:xfrm>
          <a:prstGeom prst="roundRect">
            <a:avLst>
              <a:gd name="adj" fmla="val 9389"/>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34071" y="1975104"/>
            <a:ext cx="4014216" cy="41148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Когда НЕ RAG (точка 1)</a:t>
            </a:r>
          </a:p>
        </p:txBody>
      </p:sp>
      <p:sp>
        <p:nvSpPr>
          <p:cNvPr id="9" name="TextBox 8"/>
          <p:cNvSpPr txBox="1"/>
          <p:nvPr/>
        </p:nvSpPr>
        <p:spPr>
          <a:xfrm>
            <a:off x="7434071" y="2468880"/>
            <a:ext cx="4014216" cy="1417320"/>
          </a:xfrm>
          <a:prstGeom prst="rect">
            <a:avLst/>
          </a:prstGeom>
          <a:noFill/>
        </p:spPr>
        <p:txBody>
          <a:bodyPr wrap="square" lIns="0" rIns="0" tIns="0" bIns="0" anchor="t">
            <a:spAutoFit/>
          </a:bodyPr>
          <a:lstStyle/>
          <a:p>
            <a:pPr algn="l">
              <a:lnSpc>
                <a:spcPct val="122000"/>
              </a:lnSpc>
            </a:pPr>
            <a:r>
              <a:rPr sz="1500" b="0" i="0">
                <a:solidFill>
                  <a:srgbClr val="21295C"/>
                </a:solidFill>
                <a:latin typeface="Arial"/>
              </a:rPr>
              <a:t>малый стабильный корпус, влезает в окно → полный контекст + кэширование префикса, а не RAG-инфраструктура</a:t>
            </a:r>
          </a:p>
        </p:txBody>
      </p:sp>
      <p:pic>
        <p:nvPicPr>
          <p:cNvPr id="10" name="Picture 9" descr="circle-slash-teal.png"/>
          <p:cNvPicPr>
            <a:picLocks noChangeAspect="1"/>
          </p:cNvPicPr>
          <p:nvPr/>
        </p:nvPicPr>
        <p:blipFill>
          <a:blip r:embed="rId3"/>
          <a:stretch>
            <a:fillRect/>
          </a:stretch>
        </p:blipFill>
        <p:spPr>
          <a:xfrm>
            <a:off x="7434071" y="4069080"/>
            <a:ext cx="713232" cy="713232"/>
          </a:xfrm>
          <a:prstGeom prst="rect">
            <a:avLst/>
          </a:prstGeom>
        </p:spPr>
      </p:pic>
      <p:sp>
        <p:nvSpPr>
          <p:cNvPr id="11" name="TextBox 10"/>
          <p:cNvSpPr txBox="1"/>
          <p:nvPr/>
        </p:nvSpPr>
        <p:spPr>
          <a:xfrm>
            <a:off x="8275319" y="4160520"/>
            <a:ext cx="3200400" cy="777240"/>
          </a:xfrm>
          <a:prstGeom prst="rect">
            <a:avLst/>
          </a:prstGeom>
          <a:noFill/>
        </p:spPr>
        <p:txBody>
          <a:bodyPr wrap="square" lIns="0" rIns="0" tIns="0" bIns="0" anchor="ctr">
            <a:spAutoFit/>
          </a:bodyPr>
          <a:lstStyle/>
          <a:p>
            <a:pPr algn="l">
              <a:lnSpc>
                <a:spcPct val="112000"/>
              </a:lnSpc>
            </a:pPr>
            <a:r>
              <a:rPr sz="1350" b="1" i="0">
                <a:solidFill>
                  <a:srgbClr val="21295C"/>
                </a:solidFill>
                <a:latin typeface="Arial"/>
              </a:rPr>
              <a:t>RAG здесь добавил бы хрупкость без выигрыша</a:t>
            </a:r>
          </a:p>
        </p:txBody>
      </p:sp>
      <p:sp>
        <p:nvSpPr>
          <p:cNvPr id="12" name="Rounded Rectangle 11"/>
          <p:cNvSpPr/>
          <p:nvPr/>
        </p:nvSpPr>
        <p:spPr>
          <a:xfrm>
            <a:off x="502920" y="5440680"/>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5495544"/>
            <a:ext cx="10799064" cy="694944"/>
          </a:xfrm>
          <a:prstGeom prst="rect">
            <a:avLst/>
          </a:prstGeom>
          <a:noFill/>
        </p:spPr>
        <p:txBody>
          <a:bodyPr wrap="square" lIns="0" rIns="0" tIns="0" bIns="0" anchor="ctr">
            <a:spAutoFit/>
          </a:bodyPr>
          <a:lstStyle/>
          <a:p>
            <a:pPr algn="l">
              <a:lnSpc>
                <a:spcPct val="122000"/>
              </a:lnSpc>
            </a:pPr>
            <a:r>
              <a:rPr sz="1450" b="1" i="0">
                <a:solidFill>
                  <a:srgbClr val="21295C"/>
                </a:solidFill>
                <a:latin typeface="Arial"/>
              </a:rPr>
              <a:t>«Найти наименьший набор высокосигнальных токенов, максимизирующий вероятность желаемого исхода» — это инженерное требование, не эстетика</a:t>
            </a:r>
            <a:r>
              <a:rPr sz="754" baseline="30000" b="0" i="1">
                <a:latin typeface="Arial"/>
                <a:cs typeface="Arial"/>
                <a:ea typeface="Arial"/>
                <a:solidFill>
                  <a:srgbClr val="1C7293"/>
                </a:solidFill>
              </a:rPr>
              <a:t>[3]</a:t>
            </a:r>
            <a:r>
              <a:rPr sz="1450" b="1" i="0">
                <a:latin typeface="Arial"/>
                <a:cs typeface="Arial"/>
                <a:ea typeface="Arial"/>
                <a:solidFill>
                  <a:srgbClr val="21295C"/>
                </a:solidFill>
              </a:rPr>
              <a:t>.</a:t>
            </a:r>
          </a:p>
        </p:txBody>
      </p:sp>
      <p:sp>
        <p:nvSpPr>
          <p:cNvPr id="14" name="TextBox 1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Chroma Research — Context Rot</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Liu et al. 2023 — Lost in the Middle</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7"/>
              </a:rPr>
              <a:t>Anthropic — Effective Context Engineering</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14 / 55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Шпаргалка: как строить промпт.</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Минимум, ниже которого промпт систематически недорабатывает. Приложите к любому промпту перед первым запуском.</a:t>
            </a:r>
          </a:p>
        </p:txBody>
      </p:sp>
      <p:sp>
        <p:nvSpPr>
          <p:cNvPr id="4" name="Rounded Rectangle 3"/>
          <p:cNvSpPr/>
          <p:nvPr/>
        </p:nvSpPr>
        <p:spPr>
          <a:xfrm>
            <a:off x="502920" y="1627632"/>
            <a:ext cx="2761488" cy="117043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67512" y="1792224"/>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1792224"/>
            <a:ext cx="310896" cy="310896"/>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106984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Роль</a:t>
            </a:r>
          </a:p>
        </p:txBody>
      </p:sp>
      <p:sp>
        <p:nvSpPr>
          <p:cNvPr id="8" name="TextBox 7"/>
          <p:cNvSpPr txBox="1"/>
          <p:nvPr/>
        </p:nvSpPr>
        <p:spPr>
          <a:xfrm>
            <a:off x="68580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нужен тон/регистр — и НЕ как обещание точности</a:t>
            </a:r>
          </a:p>
        </p:txBody>
      </p:sp>
      <p:sp>
        <p:nvSpPr>
          <p:cNvPr id="9" name="Rounded Rectangle 8"/>
          <p:cNvSpPr/>
          <p:nvPr/>
        </p:nvSpPr>
        <p:spPr>
          <a:xfrm>
            <a:off x="338328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54787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4787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2" name="TextBox 11"/>
          <p:cNvSpPr txBox="1"/>
          <p:nvPr/>
        </p:nvSpPr>
        <p:spPr>
          <a:xfrm>
            <a:off x="395020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Задача</a:t>
            </a:r>
          </a:p>
        </p:txBody>
      </p:sp>
      <p:sp>
        <p:nvSpPr>
          <p:cNvPr id="13" name="TextBox 12"/>
          <p:cNvSpPr txBox="1"/>
          <p:nvPr/>
        </p:nvSpPr>
        <p:spPr>
          <a:xfrm>
            <a:off x="356616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конкретное проверяемое действие, не расплывчатое пожелание</a:t>
            </a:r>
          </a:p>
        </p:txBody>
      </p:sp>
      <p:sp>
        <p:nvSpPr>
          <p:cNvPr id="14" name="Rounded Rectangle 13"/>
          <p:cNvSpPr/>
          <p:nvPr/>
        </p:nvSpPr>
        <p:spPr>
          <a:xfrm>
            <a:off x="626364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28231"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1"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17" name="TextBox 16"/>
          <p:cNvSpPr txBox="1"/>
          <p:nvPr/>
        </p:nvSpPr>
        <p:spPr>
          <a:xfrm>
            <a:off x="683056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Контекст</a:t>
            </a:r>
          </a:p>
        </p:txBody>
      </p:sp>
      <p:sp>
        <p:nvSpPr>
          <p:cNvPr id="18" name="TextBox 17"/>
          <p:cNvSpPr txBox="1"/>
          <p:nvPr/>
        </p:nvSpPr>
        <p:spPr>
          <a:xfrm>
            <a:off x="644652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минимально необходимое, не «всё, что могло бы пригодиться»</a:t>
            </a:r>
          </a:p>
        </p:txBody>
      </p:sp>
      <p:sp>
        <p:nvSpPr>
          <p:cNvPr id="19" name="Rounded Rectangle 18"/>
          <p:cNvSpPr/>
          <p:nvPr/>
        </p:nvSpPr>
        <p:spPr>
          <a:xfrm>
            <a:off x="914400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30859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0859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22" name="TextBox 21"/>
          <p:cNvSpPr txBox="1"/>
          <p:nvPr/>
        </p:nvSpPr>
        <p:spPr>
          <a:xfrm>
            <a:off x="971092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Формат вывода</a:t>
            </a:r>
          </a:p>
        </p:txBody>
      </p:sp>
      <p:sp>
        <p:nvSpPr>
          <p:cNvPr id="23" name="TextBox 22"/>
          <p:cNvSpPr txBox="1"/>
          <p:nvPr/>
        </p:nvSpPr>
        <p:spPr>
          <a:xfrm>
            <a:off x="932688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указан явно, если ответ машинно-обрабатываем</a:t>
            </a:r>
          </a:p>
        </p:txBody>
      </p:sp>
      <p:sp>
        <p:nvSpPr>
          <p:cNvPr id="24" name="Rounded Rectangle 23"/>
          <p:cNvSpPr/>
          <p:nvPr/>
        </p:nvSpPr>
        <p:spPr>
          <a:xfrm>
            <a:off x="50292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27" name="TextBox 26"/>
          <p:cNvSpPr txBox="1"/>
          <p:nvPr/>
        </p:nvSpPr>
        <p:spPr>
          <a:xfrm>
            <a:off x="106984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Разделители</a:t>
            </a:r>
          </a:p>
        </p:txBody>
      </p:sp>
      <p:sp>
        <p:nvSpPr>
          <p:cNvPr id="28" name="TextBox 27"/>
          <p:cNvSpPr txBox="1"/>
          <p:nvPr/>
        </p:nvSpPr>
        <p:spPr>
          <a:xfrm>
            <a:off x="68580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содержимого больше одного вида (инструкция/данные)</a:t>
            </a:r>
          </a:p>
        </p:txBody>
      </p:sp>
      <p:sp>
        <p:nvSpPr>
          <p:cNvPr id="29" name="Rounded Rectangle 28"/>
          <p:cNvSpPr/>
          <p:nvPr/>
        </p:nvSpPr>
        <p:spPr>
          <a:xfrm>
            <a:off x="338328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54787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4787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32" name="TextBox 31"/>
          <p:cNvSpPr txBox="1"/>
          <p:nvPr/>
        </p:nvSpPr>
        <p:spPr>
          <a:xfrm>
            <a:off x="395020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Примеры (few-shot)</a:t>
            </a:r>
          </a:p>
        </p:txBody>
      </p:sp>
      <p:sp>
        <p:nvSpPr>
          <p:cNvPr id="33" name="TextBox 32"/>
          <p:cNvSpPr txBox="1"/>
          <p:nvPr/>
        </p:nvSpPr>
        <p:spPr>
          <a:xfrm>
            <a:off x="356616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формат неочевиден из одной инструкции</a:t>
            </a:r>
          </a:p>
        </p:txBody>
      </p:sp>
      <p:sp>
        <p:nvSpPr>
          <p:cNvPr id="34" name="Rounded Rectangle 33"/>
          <p:cNvSpPr/>
          <p:nvPr/>
        </p:nvSpPr>
        <p:spPr>
          <a:xfrm>
            <a:off x="626364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428231"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28231"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37" name="TextBox 36"/>
          <p:cNvSpPr txBox="1"/>
          <p:nvPr/>
        </p:nvSpPr>
        <p:spPr>
          <a:xfrm>
            <a:off x="683056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CoT</a:t>
            </a:r>
          </a:p>
        </p:txBody>
      </p:sp>
      <p:sp>
        <p:nvSpPr>
          <p:cNvPr id="38" name="TextBox 37"/>
          <p:cNvSpPr txBox="1"/>
          <p:nvPr/>
        </p:nvSpPr>
        <p:spPr>
          <a:xfrm>
            <a:off x="644652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задача требует многошагового рассуждения</a:t>
            </a:r>
          </a:p>
        </p:txBody>
      </p:sp>
      <p:sp>
        <p:nvSpPr>
          <p:cNvPr id="39" name="Rounded Rectangle 38"/>
          <p:cNvSpPr/>
          <p:nvPr/>
        </p:nvSpPr>
        <p:spPr>
          <a:xfrm>
            <a:off x="914400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30859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0859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8</a:t>
            </a:r>
          </a:p>
        </p:txBody>
      </p:sp>
      <p:sp>
        <p:nvSpPr>
          <p:cNvPr id="42" name="TextBox 41"/>
          <p:cNvSpPr txBox="1"/>
          <p:nvPr/>
        </p:nvSpPr>
        <p:spPr>
          <a:xfrm>
            <a:off x="971092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Длина</a:t>
            </a:r>
          </a:p>
        </p:txBody>
      </p:sp>
      <p:sp>
        <p:nvSpPr>
          <p:cNvPr id="43" name="TextBox 42"/>
          <p:cNvSpPr txBox="1"/>
          <p:nvPr/>
        </p:nvSpPr>
        <p:spPr>
          <a:xfrm>
            <a:off x="932688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не длиннее необходимого — лишние токены «тонут» в контексте</a:t>
            </a:r>
          </a:p>
        </p:txBody>
      </p:sp>
      <p:sp>
        <p:nvSpPr>
          <p:cNvPr id="44" name="Rounded Rectangle 43"/>
          <p:cNvSpPr/>
          <p:nvPr/>
        </p:nvSpPr>
        <p:spPr>
          <a:xfrm>
            <a:off x="502920" y="475488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4809744"/>
            <a:ext cx="10799064" cy="85039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Компактная форма всего раздела: роль ≠ точность, структура помогает разделить входы, CoT — точечный инструмент, контекст — минимальный. Для крупных архитектурных решений (RAG / FT / агент) — восьмишаговый чек-лист Раздела 5.</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15 / 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2-library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2</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2</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RAG: поиск-дополненная генерация</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Извлечь релевантное → положить в контекст → ответить с опорой на источник</a:t>
            </a:r>
          </a:p>
        </p:txBody>
      </p:sp>
      <p:sp>
        <p:nvSpPr>
          <p:cNvPr id="8" name="Rounded Rectangle 7"/>
          <p:cNvSpPr/>
          <p:nvPr/>
        </p:nvSpPr>
        <p:spPr>
          <a:xfrm>
            <a:off x="713232" y="5212080"/>
            <a:ext cx="5285232"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внешнее знание · 3 разбора · 1 провал</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16 / 55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Как искали в тексте до эмбеддингов.</a:t>
            </a:r>
          </a:p>
        </p:txBody>
      </p:sp>
      <p:sp>
        <p:nvSpPr>
          <p:cNvPr id="3" name="TextBox 2"/>
          <p:cNvSpPr txBox="1"/>
          <p:nvPr/>
        </p:nvSpPr>
        <p:spPr>
          <a:xfrm>
            <a:off x="502920" y="1042415"/>
            <a:ext cx="11201400" cy="548640"/>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Буква R в RAG — retrieval, поиск: дисциплина с полувековой историей. Именно её устройство определяет, где RAG работает, а где ломается.</a:t>
            </a:r>
          </a:p>
        </p:txBody>
      </p:sp>
      <p:sp>
        <p:nvSpPr>
          <p:cNvPr id="4" name="Rounded Rectangle 3"/>
          <p:cNvSpPr/>
          <p:nvPr/>
        </p:nvSpPr>
        <p:spPr>
          <a:xfrm>
            <a:off x="502920"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ok-open-mid.png"/>
          <p:cNvPicPr>
            <a:picLocks noChangeAspect="1"/>
          </p:cNvPicPr>
          <p:nvPr/>
        </p:nvPicPr>
        <p:blipFill>
          <a:blip r:embed="rId2"/>
          <a:stretch>
            <a:fillRect/>
          </a:stretch>
        </p:blipFill>
        <p:spPr>
          <a:xfrm>
            <a:off x="758952" y="1920240"/>
            <a:ext cx="493776" cy="493776"/>
          </a:xfrm>
          <a:prstGeom prst="rect">
            <a:avLst/>
          </a:prstGeom>
        </p:spPr>
      </p:pic>
      <p:sp>
        <p:nvSpPr>
          <p:cNvPr id="6" name="TextBox 5"/>
          <p:cNvSpPr txBox="1"/>
          <p:nvPr/>
        </p:nvSpPr>
        <p:spPr>
          <a:xfrm>
            <a:off x="758952"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Инвертированный индекс</a:t>
            </a:r>
          </a:p>
        </p:txBody>
      </p:sp>
      <p:sp>
        <p:nvSpPr>
          <p:cNvPr id="7" name="TextBox 6"/>
          <p:cNvSpPr txBox="1"/>
          <p:nvPr/>
        </p:nvSpPr>
        <p:spPr>
          <a:xfrm>
            <a:off x="758952"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Для каждого слова — список документов, где оно встречается (машинный каталог). Фундамент Lucene, Elasticsearch, PostgreSQL full-text.</a:t>
            </a:r>
          </a:p>
        </p:txBody>
      </p:sp>
      <p:sp>
        <p:nvSpPr>
          <p:cNvPr id="8" name="Rounded Rectangle 7"/>
          <p:cNvSpPr/>
          <p:nvPr/>
        </p:nvSpPr>
        <p:spPr>
          <a:xfrm>
            <a:off x="4309872"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ute-mid.png"/>
          <p:cNvPicPr>
            <a:picLocks noChangeAspect="1"/>
          </p:cNvPicPr>
          <p:nvPr/>
        </p:nvPicPr>
        <p:blipFill>
          <a:blip r:embed="rId3"/>
          <a:stretch>
            <a:fillRect/>
          </a:stretch>
        </p:blipFill>
        <p:spPr>
          <a:xfrm>
            <a:off x="4565904" y="1920240"/>
            <a:ext cx="493776" cy="493776"/>
          </a:xfrm>
          <a:prstGeom prst="rect">
            <a:avLst/>
          </a:prstGeom>
        </p:spPr>
      </p:pic>
      <p:sp>
        <p:nvSpPr>
          <p:cNvPr id="10" name="TextBox 9"/>
          <p:cNvSpPr txBox="1"/>
          <p:nvPr/>
        </p:nvSpPr>
        <p:spPr>
          <a:xfrm>
            <a:off x="4565904"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Булев поиск</a:t>
            </a:r>
          </a:p>
        </p:txBody>
      </p:sp>
      <p:sp>
        <p:nvSpPr>
          <p:cNvPr id="11" name="TextBox 10"/>
          <p:cNvSpPr txBox="1"/>
          <p:nvPr/>
        </p:nvSpPr>
        <p:spPr>
          <a:xfrm>
            <a:off x="4565904"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Запрос как логическое выражение («ошибка AND аутентификация NOT tomcat»): точный, предсказуемый, объяснимый отбор.</a:t>
            </a:r>
          </a:p>
        </p:txBody>
      </p:sp>
      <p:sp>
        <p:nvSpPr>
          <p:cNvPr id="12" name="Rounded Rectangle 11"/>
          <p:cNvSpPr/>
          <p:nvPr/>
        </p:nvSpPr>
        <p:spPr>
          <a:xfrm>
            <a:off x="8116824"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ordered-mid.png"/>
          <p:cNvPicPr>
            <a:picLocks noChangeAspect="1"/>
          </p:cNvPicPr>
          <p:nvPr/>
        </p:nvPicPr>
        <p:blipFill>
          <a:blip r:embed="rId4"/>
          <a:stretch>
            <a:fillRect/>
          </a:stretch>
        </p:blipFill>
        <p:spPr>
          <a:xfrm>
            <a:off x="8372856" y="1920240"/>
            <a:ext cx="493776" cy="493776"/>
          </a:xfrm>
          <a:prstGeom prst="rect">
            <a:avLst/>
          </a:prstGeom>
        </p:spPr>
      </p:pic>
      <p:sp>
        <p:nvSpPr>
          <p:cNvPr id="14" name="TextBox 13"/>
          <p:cNvSpPr txBox="1"/>
          <p:nvPr/>
        </p:nvSpPr>
        <p:spPr>
          <a:xfrm>
            <a:off x="8372856"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TF-IDF → BM25</a:t>
            </a:r>
          </a:p>
        </p:txBody>
      </p:sp>
      <p:sp>
        <p:nvSpPr>
          <p:cNvPr id="15" name="TextBox 14"/>
          <p:cNvSpPr txBox="1"/>
          <p:nvPr/>
        </p:nvSpPr>
        <p:spPr>
          <a:xfrm>
            <a:off x="8372856"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Ранжирование по важности слова (реже в коллекции — сильнее сигнал). BM25 (Okapi) — дешёвая объяснимая линия, которую многие не обгоняют.</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Классика точна на кодах и идентификаторах, где смысл-поиск размывает. Сильный RAG-2026 — гибрид BM25 + плотные векторы, лексические фильтры по метаданным, дисциплина ранжирования (реранкер) и наблюдаемость: recall/precision на эталонном наборе (golden set).</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семантический поиск на эмбеддингах (Лекция 2) добавляет поверх классики смысловое совпадение вместо лексического — но не заменяет её. RAG расширяет классический поиск, а не отменяет его.</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17 / 55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Принцип RAG — три шага.</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 индексация → поиск (семантический поиск из Л2) → генерация с опорой; «не знаю» — корректный ответ.</a:t>
            </a:r>
          </a:p>
        </p:txBody>
      </p:sp>
      <p:sp>
        <p:nvSpPr>
          <p:cNvPr id="4" name="Rounded Rectangle 3"/>
          <p:cNvSpPr/>
          <p:nvPr/>
        </p:nvSpPr>
        <p:spPr>
          <a:xfrm>
            <a:off x="502920"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40664"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7" name="TextBox 6"/>
          <p:cNvSpPr txBox="1"/>
          <p:nvPr/>
        </p:nvSpPr>
        <p:spPr>
          <a:xfrm>
            <a:off x="128930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Индексация</a:t>
            </a:r>
          </a:p>
        </p:txBody>
      </p:sp>
      <p:sp>
        <p:nvSpPr>
          <p:cNvPr id="8" name="TextBox 7"/>
          <p:cNvSpPr txBox="1"/>
          <p:nvPr/>
        </p:nvSpPr>
        <p:spPr>
          <a:xfrm>
            <a:off x="128930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заранее, офлайн</a:t>
            </a:r>
          </a:p>
        </p:txBody>
      </p:sp>
      <p:pic>
        <p:nvPicPr>
          <p:cNvPr id="9" name="Picture 8" descr="database-mid.png"/>
          <p:cNvPicPr>
            <a:picLocks noChangeAspect="1"/>
          </p:cNvPicPr>
          <p:nvPr/>
        </p:nvPicPr>
        <p:blipFill>
          <a:blip r:embed="rId2"/>
          <a:stretch>
            <a:fillRect/>
          </a:stretch>
        </p:blipFill>
        <p:spPr>
          <a:xfrm>
            <a:off x="3035807" y="1947672"/>
            <a:ext cx="457200" cy="457200"/>
          </a:xfrm>
          <a:prstGeom prst="rect">
            <a:avLst/>
          </a:prstGeom>
        </p:spPr>
      </p:pic>
      <p:sp>
        <p:nvSpPr>
          <p:cNvPr id="10" name="TextBox 9"/>
          <p:cNvSpPr txBox="1"/>
          <p:nvPr/>
        </p:nvSpPr>
        <p:spPr>
          <a:xfrm>
            <a:off x="75895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корпус → чанки → эмбеддинг каждого → векторное хранилище</a:t>
            </a:r>
          </a:p>
        </p:txBody>
      </p:sp>
      <p:sp>
        <p:nvSpPr>
          <p:cNvPr id="11" name="Right Arrow 10"/>
          <p:cNvSpPr/>
          <p:nvPr/>
        </p:nvSpPr>
        <p:spPr>
          <a:xfrm>
            <a:off x="3803903"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51959"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489703"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9703"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5" name="TextBox 14"/>
          <p:cNvSpPr txBox="1"/>
          <p:nvPr/>
        </p:nvSpPr>
        <p:spPr>
          <a:xfrm>
            <a:off x="503834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Поиск</a:t>
            </a:r>
          </a:p>
        </p:txBody>
      </p:sp>
      <p:sp>
        <p:nvSpPr>
          <p:cNvPr id="16" name="TextBox 15"/>
          <p:cNvSpPr txBox="1"/>
          <p:nvPr/>
        </p:nvSpPr>
        <p:spPr>
          <a:xfrm>
            <a:off x="503834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на запрос</a:t>
            </a:r>
          </a:p>
        </p:txBody>
      </p:sp>
      <p:pic>
        <p:nvPicPr>
          <p:cNvPr id="17" name="Picture 16" descr="route-mid.png"/>
          <p:cNvPicPr>
            <a:picLocks noChangeAspect="1"/>
          </p:cNvPicPr>
          <p:nvPr/>
        </p:nvPicPr>
        <p:blipFill>
          <a:blip r:embed="rId3"/>
          <a:stretch>
            <a:fillRect/>
          </a:stretch>
        </p:blipFill>
        <p:spPr>
          <a:xfrm>
            <a:off x="6784847" y="1947672"/>
            <a:ext cx="457200" cy="457200"/>
          </a:xfrm>
          <a:prstGeom prst="rect">
            <a:avLst/>
          </a:prstGeom>
        </p:spPr>
      </p:pic>
      <p:sp>
        <p:nvSpPr>
          <p:cNvPr id="18" name="TextBox 17"/>
          <p:cNvSpPr txBox="1"/>
          <p:nvPr/>
        </p:nvSpPr>
        <p:spPr>
          <a:xfrm>
            <a:off x="450799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вопрос → эмбеддинг → k ближайших фрагментов
= тот же семантический поиск из Л2 — не переобъясняем</a:t>
            </a:r>
          </a:p>
        </p:txBody>
      </p:sp>
      <p:sp>
        <p:nvSpPr>
          <p:cNvPr id="19" name="Right Arrow 18"/>
          <p:cNvSpPr/>
          <p:nvPr/>
        </p:nvSpPr>
        <p:spPr>
          <a:xfrm>
            <a:off x="7552944"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01000" y="1691640"/>
            <a:ext cx="3246120" cy="2788920"/>
          </a:xfrm>
          <a:prstGeom prst="roundRect">
            <a:avLst>
              <a:gd name="adj" fmla="val 1092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38744" y="1929384"/>
            <a:ext cx="420624" cy="42062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23" name="TextBox 22"/>
          <p:cNvSpPr txBox="1"/>
          <p:nvPr/>
        </p:nvSpPr>
        <p:spPr>
          <a:xfrm>
            <a:off x="878738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Генерация</a:t>
            </a:r>
          </a:p>
        </p:txBody>
      </p:sp>
      <p:sp>
        <p:nvSpPr>
          <p:cNvPr id="24" name="TextBox 23"/>
          <p:cNvSpPr txBox="1"/>
          <p:nvPr/>
        </p:nvSpPr>
        <p:spPr>
          <a:xfrm>
            <a:off x="878738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с опорой на источник (grounding)</a:t>
            </a:r>
          </a:p>
        </p:txBody>
      </p:sp>
      <p:pic>
        <p:nvPicPr>
          <p:cNvPr id="25" name="Picture 24" descr="check-check-teal.png"/>
          <p:cNvPicPr>
            <a:picLocks noChangeAspect="1"/>
          </p:cNvPicPr>
          <p:nvPr/>
        </p:nvPicPr>
        <p:blipFill>
          <a:blip r:embed="rId4"/>
          <a:stretch>
            <a:fillRect/>
          </a:stretch>
        </p:blipFill>
        <p:spPr>
          <a:xfrm>
            <a:off x="10533888" y="1947672"/>
            <a:ext cx="457200" cy="457200"/>
          </a:xfrm>
          <a:prstGeom prst="rect">
            <a:avLst/>
          </a:prstGeom>
        </p:spPr>
      </p:pic>
      <p:sp>
        <p:nvSpPr>
          <p:cNvPr id="26" name="TextBox 25"/>
          <p:cNvSpPr txBox="1"/>
          <p:nvPr/>
        </p:nvSpPr>
        <p:spPr>
          <a:xfrm>
            <a:off x="8257031"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фрагменты + вопрос → ответ со ссылкой на источник</a:t>
            </a:r>
          </a:p>
        </p:txBody>
      </p:sp>
      <p:sp>
        <p:nvSpPr>
          <p:cNvPr id="27" name="Rounded Rectangle 26"/>
          <p:cNvSpPr/>
          <p:nvPr/>
        </p:nvSpPr>
        <p:spPr>
          <a:xfrm>
            <a:off x="502920" y="466344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4718303"/>
            <a:ext cx="10799064" cy="71323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«Не знаю» / «см. источник X» — корректный ответ RAG-системы</a:t>
            </a:r>
            <a:r>
              <a:rPr sz="728" baseline="30000" b="0" i="1">
                <a:latin typeface="Arial"/>
                <a:cs typeface="Arial"/>
                <a:ea typeface="Arial"/>
                <a:solidFill>
                  <a:srgbClr val="1C7293"/>
                </a:solidFill>
              </a:rPr>
              <a:t>[1]</a:t>
            </a:r>
            <a:r>
              <a:rPr sz="1400" b="1" i="0">
                <a:latin typeface="Arial"/>
                <a:cs typeface="Arial"/>
                <a:ea typeface="Arial"/>
                <a:solidFill>
                  <a:srgbClr val="21295C"/>
                </a:solidFill>
              </a:rPr>
              <a:t>. Правдоподобный ответ при нерелевантном поиске — это дефект, а не «хоть что-то».</a:t>
            </a:r>
          </a:p>
        </p:txBody>
      </p:sp>
      <p:sp>
        <p:nvSpPr>
          <p:cNvPr id="29" name="Rounded Rectangle 28"/>
          <p:cNvSpPr/>
          <p:nvPr/>
        </p:nvSpPr>
        <p:spPr>
          <a:xfrm>
            <a:off x="502920" y="5596128"/>
            <a:ext cx="11201400" cy="566928"/>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3232" y="5669280"/>
            <a:ext cx="10789920" cy="438912"/>
          </a:xfrm>
          <a:prstGeom prst="rect">
            <a:avLst/>
          </a:prstGeom>
          <a:noFill/>
        </p:spPr>
        <p:txBody>
          <a:bodyPr wrap="square" lIns="0" rIns="0" tIns="0" bIns="0" anchor="t">
            <a:spAutoFit/>
          </a:bodyPr>
          <a:lstStyle/>
          <a:p>
            <a:pPr algn="l">
              <a:lnSpc>
                <a:spcPct val="110000"/>
              </a:lnSpc>
            </a:pPr>
            <a:r>
              <a:rPr sz="1250" b="1" i="0">
                <a:solidFill>
                  <a:srgbClr val="028090"/>
                </a:solidFill>
                <a:latin typeface="Arial"/>
              </a:rPr>
              <a:t>RAG-2026: </a:t>
            </a:r>
            <a:r>
              <a:rPr sz="1250" b="0" i="0">
                <a:solidFill>
                  <a:srgbClr val="21295C"/>
                </a:solidFill>
                <a:latin typeface="Arial"/>
              </a:rPr>
              <a:t>agentic (агентный) RAG по умолчанию · гибридный поиск (BM25 + плотные векторы) · реранкер · каскад промахов </a:t>
            </a:r>
            <a:r>
              <a:rPr sz="1250" b="1" i="0">
                <a:solidFill>
                  <a:srgbClr val="21295C"/>
                </a:solidFill>
                <a:latin typeface="Arial"/>
              </a:rPr>
              <a:t>5,7% → 1,9%</a:t>
            </a:r>
            <a:r>
              <a:rPr sz="1250" b="0" i="0">
                <a:solidFill>
                  <a:srgbClr val="21295C"/>
                </a:solidFill>
                <a:latin typeface="Arial"/>
              </a:rPr>
              <a:t> (Contextual Retrieval).</a:t>
            </a:r>
          </a:p>
        </p:txBody>
      </p:sp>
      <p:sp>
        <p:nvSpPr>
          <p:cNvPr id="31" name="TextBox 3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Lewis et al. 2020 — Retrieval-Augmented Generation (NeurIPS)</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18 / 55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оправдан при сильном сигнале по признакам ниже</a:t>
            </a:r>
            <a:r>
              <a:rPr sz="754" baseline="30000" b="0" i="1">
                <a:latin typeface="Arial"/>
                <a:cs typeface="Arial"/>
                <a:ea typeface="Arial"/>
                <a:solidFill>
                  <a:srgbClr val="1C7293"/>
                </a:solidFill>
              </a:rPr>
              <a:t>[1]</a:t>
            </a:r>
            <a:r>
              <a:rPr sz="1450" b="0" i="1">
                <a:latin typeface="Arial"/>
                <a:cs typeface="Arial"/>
                <a:ea typeface="Arial"/>
                <a:solidFill>
                  <a:srgbClr val="065A82"/>
                </a:solidFill>
              </a:rPr>
              <a:t> — и отсутствии блокеров со следующего слайда «когда НЕ RAG».</a:t>
            </a:r>
          </a:p>
        </p:txBody>
      </p:sp>
      <p:sp>
        <p:nvSpPr>
          <p:cNvPr id="4" name="Rounded Rectangle 3"/>
          <p:cNvSpPr/>
          <p:nvPr/>
        </p:nvSpPr>
        <p:spPr>
          <a:xfrm>
            <a:off x="50292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Большое / растущее</a:t>
            </a:r>
          </a:p>
        </p:txBody>
      </p:sp>
      <p:sp>
        <p:nvSpPr>
          <p:cNvPr id="6" name="TextBox 5"/>
          <p:cNvSpPr txBox="1"/>
          <p:nvPr/>
        </p:nvSpPr>
        <p:spPr>
          <a:xfrm>
            <a:off x="68580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не влезает в окно целиком, или дорого класть весь корпус в каждый запрос</a:t>
            </a:r>
          </a:p>
        </p:txBody>
      </p:sp>
      <p:sp>
        <p:nvSpPr>
          <p:cNvPr id="7" name="Rounded Rectangle 6"/>
          <p:cNvSpPr/>
          <p:nvPr/>
        </p:nvSpPr>
        <p:spPr>
          <a:xfrm>
            <a:off x="333756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044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Меняется</a:t>
            </a:r>
          </a:p>
        </p:txBody>
      </p:sp>
      <p:sp>
        <p:nvSpPr>
          <p:cNvPr id="9" name="TextBox 8"/>
          <p:cNvSpPr txBox="1"/>
          <p:nvPr/>
        </p:nvSpPr>
        <p:spPr>
          <a:xfrm>
            <a:off x="352044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документы, цены, регламенты обновляются чаще, чем выходят версии модели</a:t>
            </a:r>
          </a:p>
        </p:txBody>
      </p:sp>
      <p:sp>
        <p:nvSpPr>
          <p:cNvPr id="10" name="Rounded Rectangle 9"/>
          <p:cNvSpPr/>
          <p:nvPr/>
        </p:nvSpPr>
        <p:spPr>
          <a:xfrm>
            <a:off x="617220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Свежесть + провенанс</a:t>
            </a:r>
          </a:p>
        </p:txBody>
      </p:sp>
      <p:sp>
        <p:nvSpPr>
          <p:cNvPr id="12" name="TextBox 11"/>
          <p:cNvSpPr txBox="1"/>
          <p:nvPr/>
        </p:nvSpPr>
        <p:spPr>
          <a:xfrm>
            <a:off x="635508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ответ опирается на проверяемый источник; можно показать, откуда факт</a:t>
            </a:r>
          </a:p>
        </p:txBody>
      </p:sp>
      <p:sp>
        <p:nvSpPr>
          <p:cNvPr id="13" name="Rounded Rectangle 12"/>
          <p:cNvSpPr/>
          <p:nvPr/>
        </p:nvSpPr>
        <p:spPr>
          <a:xfrm>
            <a:off x="900684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9719"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Приватная база</a:t>
            </a:r>
          </a:p>
        </p:txBody>
      </p:sp>
      <p:sp>
        <p:nvSpPr>
          <p:cNvPr id="15" name="TextBox 14"/>
          <p:cNvSpPr txBox="1"/>
          <p:nvPr/>
        </p:nvSpPr>
        <p:spPr>
          <a:xfrm>
            <a:off x="9189719"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знания компании не входят в веса публичной модели</a:t>
            </a:r>
          </a:p>
        </p:txBody>
      </p:sp>
      <p:sp>
        <p:nvSpPr>
          <p:cNvPr id="16" name="Rounded Rectangle 15"/>
          <p:cNvSpPr/>
          <p:nvPr/>
        </p:nvSpPr>
        <p:spPr>
          <a:xfrm>
            <a:off x="502920" y="4160520"/>
            <a:ext cx="6903720" cy="1645920"/>
          </a:xfrm>
          <a:prstGeom prst="roundRect">
            <a:avLst>
              <a:gd name="adj" fmla="val 1851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315968"/>
            <a:ext cx="6492240" cy="36576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Признаки усиливают друг друга → RAG</a:t>
            </a:r>
          </a:p>
        </p:txBody>
      </p:sp>
      <p:sp>
        <p:nvSpPr>
          <p:cNvPr id="18" name="TextBox 17"/>
          <p:cNvSpPr txBox="1"/>
          <p:nvPr/>
        </p:nvSpPr>
        <p:spPr>
          <a:xfrm>
            <a:off x="777240" y="4718304"/>
            <a:ext cx="6492240" cy="100584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Корп. база из тысяч регламентов, обновляется еженедельно, ответ с обязательной ссылкой на пункт: все признаки сошлись, ни один более простой механизм их совместно не закрывает → образцовый профиль RAG.</a:t>
            </a:r>
          </a:p>
        </p:txBody>
      </p:sp>
      <p:sp>
        <p:nvSpPr>
          <p:cNvPr id="19" name="Rounded Rectangle 18"/>
          <p:cNvSpPr/>
          <p:nvPr/>
        </p:nvSpPr>
        <p:spPr>
          <a:xfrm>
            <a:off x="7589520" y="4160520"/>
            <a:ext cx="4114800" cy="1645920"/>
          </a:xfrm>
          <a:prstGeom prst="roundRect">
            <a:avLst>
              <a:gd name="adj" fmla="val 1851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check-teal.png"/>
          <p:cNvPicPr>
            <a:picLocks noChangeAspect="1"/>
          </p:cNvPicPr>
          <p:nvPr/>
        </p:nvPicPr>
        <p:blipFill>
          <a:blip r:embed="rId2"/>
          <a:stretch>
            <a:fillRect/>
          </a:stretch>
        </p:blipFill>
        <p:spPr>
          <a:xfrm>
            <a:off x="7818120" y="4334256"/>
            <a:ext cx="402336" cy="402336"/>
          </a:xfrm>
          <a:prstGeom prst="rect">
            <a:avLst/>
          </a:prstGeom>
        </p:spPr>
      </p:pic>
      <p:sp>
        <p:nvSpPr>
          <p:cNvPr id="21" name="TextBox 20"/>
          <p:cNvSpPr txBox="1"/>
          <p:nvPr/>
        </p:nvSpPr>
        <p:spPr>
          <a:xfrm>
            <a:off x="7818120" y="4791456"/>
            <a:ext cx="3703320" cy="91440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Один признак — повод присмотреться</a:t>
            </a:r>
            <a:r>
              <a:rPr sz="650" baseline="30000" b="0" i="1">
                <a:latin typeface="Arial"/>
                <a:cs typeface="Arial"/>
                <a:ea typeface="Arial"/>
                <a:solidFill>
                  <a:srgbClr val="1C7293"/>
                </a:solidFill>
              </a:rPr>
              <a:t>[2]</a:t>
            </a:r>
            <a:r>
              <a:rPr sz="1250" b="1" i="0">
                <a:latin typeface="Arial"/>
                <a:cs typeface="Arial"/>
                <a:ea typeface="Arial"/>
                <a:solidFill>
                  <a:srgbClr val="21295C"/>
                </a:solidFill>
              </a:rPr>
              <a:t>, но не строить автоматически: сверьтесь с блокерами на следующем слайде.</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IBM — RAG vs Fine-Tuning (вендор-нейтрально)</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U-NIAH — RAG win-rate выше у меньших моделей</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19 / 55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НЕ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Знать, когда RAG не нужен, ценнее: это модная архитектура, её ставят туда, где она вредит.</a:t>
            </a:r>
          </a:p>
        </p:txBody>
      </p:sp>
      <p:sp>
        <p:nvSpPr>
          <p:cNvPr id="4" name="Rounded Rectangle 3"/>
          <p:cNvSpPr/>
          <p:nvPr/>
        </p:nvSpPr>
        <p:spPr>
          <a:xfrm>
            <a:off x="502920" y="1627632"/>
            <a:ext cx="3657600" cy="2395728"/>
          </a:xfrm>
          <a:prstGeom prst="roundRect">
            <a:avLst>
              <a:gd name="adj" fmla="val 12722"/>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pic>
        <p:nvPicPr>
          <p:cNvPr id="7" name="Picture 6" descr="circle-slash-teal.png"/>
          <p:cNvPicPr>
            <a:picLocks noChangeAspect="1"/>
          </p:cNvPicPr>
          <p:nvPr/>
        </p:nvPicPr>
        <p:blipFill>
          <a:blip r:embed="rId2"/>
          <a:stretch>
            <a:fillRect/>
          </a:stretch>
        </p:blipFill>
        <p:spPr>
          <a:xfrm>
            <a:off x="3465576" y="1810512"/>
            <a:ext cx="475488" cy="475488"/>
          </a:xfrm>
          <a:prstGeom prst="rect">
            <a:avLst/>
          </a:prstGeom>
        </p:spPr>
      </p:pic>
      <p:sp>
        <p:nvSpPr>
          <p:cNvPr id="8" name="TextBox 7"/>
          <p:cNvSpPr txBox="1"/>
          <p:nvPr/>
        </p:nvSpPr>
        <p:spPr>
          <a:xfrm>
            <a:off x="1106424"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Корпус влезает в окно</a:t>
            </a:r>
          </a:p>
        </p:txBody>
      </p:sp>
      <p:sp>
        <p:nvSpPr>
          <p:cNvPr id="9" name="TextBox 8"/>
          <p:cNvSpPr txBox="1"/>
          <p:nvPr/>
        </p:nvSpPr>
        <p:spPr>
          <a:xfrm>
            <a:off x="722376"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ориентир — менее ~200k токенов, меняется редко</a:t>
            </a:r>
          </a:p>
        </p:txBody>
      </p:sp>
      <p:sp>
        <p:nvSpPr>
          <p:cNvPr id="10" name="TextBox 9"/>
          <p:cNvSpPr txBox="1"/>
          <p:nvPr/>
        </p:nvSpPr>
        <p:spPr>
          <a:xfrm>
            <a:off x="722376" y="3072384"/>
            <a:ext cx="3218688" cy="82296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 полный контекст + кэширование префикса, не RAG-инфраструктура</a:t>
            </a:r>
          </a:p>
        </p:txBody>
      </p:sp>
      <p:sp>
        <p:nvSpPr>
          <p:cNvPr id="11" name="Rounded Rectangle 10"/>
          <p:cNvSpPr/>
          <p:nvPr/>
        </p:nvSpPr>
        <p:spPr>
          <a:xfrm>
            <a:off x="4453128" y="1627632"/>
            <a:ext cx="3657600" cy="2395728"/>
          </a:xfrm>
          <a:prstGeom prst="roundRect">
            <a:avLst>
              <a:gd name="adj" fmla="val 12722"/>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36008"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8"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pic>
        <p:nvPicPr>
          <p:cNvPr id="14" name="Picture 13" descr="key-teal.png"/>
          <p:cNvPicPr>
            <a:picLocks noChangeAspect="1"/>
          </p:cNvPicPr>
          <p:nvPr/>
        </p:nvPicPr>
        <p:blipFill>
          <a:blip r:embed="rId3"/>
          <a:stretch>
            <a:fillRect/>
          </a:stretch>
        </p:blipFill>
        <p:spPr>
          <a:xfrm>
            <a:off x="7415784" y="1810512"/>
            <a:ext cx="475488" cy="475488"/>
          </a:xfrm>
          <a:prstGeom prst="rect">
            <a:avLst/>
          </a:prstGeom>
        </p:spPr>
      </p:pic>
      <p:sp>
        <p:nvSpPr>
          <p:cNvPr id="15" name="TextBox 14"/>
          <p:cNvSpPr txBox="1"/>
          <p:nvPr/>
        </p:nvSpPr>
        <p:spPr>
          <a:xfrm>
            <a:off x="5056632"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Фиксированная политика / значение</a:t>
            </a:r>
            <a:r>
              <a:rPr sz="780" baseline="30000" b="0" i="1">
                <a:latin typeface="Arial"/>
                <a:cs typeface="Arial"/>
                <a:ea typeface="Arial"/>
                <a:solidFill>
                  <a:srgbClr val="1C7293"/>
                </a:solidFill>
              </a:rPr>
              <a:t>[2]</a:t>
            </a:r>
          </a:p>
        </p:txBody>
      </p:sp>
      <p:sp>
        <p:nvSpPr>
          <p:cNvPr id="16" name="TextBox 15"/>
          <p:cNvSpPr txBox="1"/>
          <p:nvPr/>
        </p:nvSpPr>
        <p:spPr>
          <a:xfrm>
            <a:off x="4672584"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тариф, цена, пункт регламента, правило</a:t>
            </a:r>
          </a:p>
        </p:txBody>
      </p:sp>
      <p:sp>
        <p:nvSpPr>
          <p:cNvPr id="17" name="TextBox 16"/>
          <p:cNvSpPr txBox="1"/>
          <p:nvPr/>
        </p:nvSpPr>
        <p:spPr>
          <a:xfrm>
            <a:off x="4672584" y="3072384"/>
            <a:ext cx="3218688" cy="82296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 детерминированная таблица соответствий / статическая страница</a:t>
            </a:r>
          </a:p>
        </p:txBody>
      </p:sp>
      <p:sp>
        <p:nvSpPr>
          <p:cNvPr id="18" name="Rounded Rectangle 17"/>
          <p:cNvSpPr/>
          <p:nvPr/>
        </p:nvSpPr>
        <p:spPr>
          <a:xfrm>
            <a:off x="8403336" y="1627632"/>
            <a:ext cx="3657600" cy="2395728"/>
          </a:xfrm>
          <a:prstGeom prst="roundRect">
            <a:avLst>
              <a:gd name="adj" fmla="val 1272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86216" y="1792224"/>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86216"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pic>
        <p:nvPicPr>
          <p:cNvPr id="21" name="Picture 20" descr="cable-gold.png"/>
          <p:cNvPicPr>
            <a:picLocks noChangeAspect="1"/>
          </p:cNvPicPr>
          <p:nvPr/>
        </p:nvPicPr>
        <p:blipFill>
          <a:blip r:embed="rId4"/>
          <a:stretch>
            <a:fillRect/>
          </a:stretch>
        </p:blipFill>
        <p:spPr>
          <a:xfrm>
            <a:off x="11365992" y="1810512"/>
            <a:ext cx="475488" cy="475488"/>
          </a:xfrm>
          <a:prstGeom prst="rect">
            <a:avLst/>
          </a:prstGeom>
        </p:spPr>
      </p:pic>
      <p:sp>
        <p:nvSpPr>
          <p:cNvPr id="22" name="TextBox 21"/>
          <p:cNvSpPr txBox="1"/>
          <p:nvPr/>
        </p:nvSpPr>
        <p:spPr>
          <a:xfrm>
            <a:off x="9006840" y="1847088"/>
            <a:ext cx="2240280" cy="713232"/>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Данные доступны в реальном времени через API / MCP</a:t>
            </a:r>
          </a:p>
        </p:txBody>
      </p:sp>
      <p:sp>
        <p:nvSpPr>
          <p:cNvPr id="23" name="TextBox 22"/>
          <p:cNvSpPr txBox="1"/>
          <p:nvPr/>
        </p:nvSpPr>
        <p:spPr>
          <a:xfrm>
            <a:off x="8622792"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во внутреннем сервисе, базе, поиске другой системы</a:t>
            </a:r>
          </a:p>
        </p:txBody>
      </p:sp>
      <p:sp>
        <p:nvSpPr>
          <p:cNvPr id="24" name="TextBox 23"/>
          <p:cNvSpPr txBox="1"/>
          <p:nvPr/>
        </p:nvSpPr>
        <p:spPr>
          <a:xfrm>
            <a:off x="8622792" y="3072384"/>
            <a:ext cx="3218688" cy="82296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 вызвать инструмент напрямую; RAG-индекс поверх — лишний, более хрупкий и более устаревающий слой</a:t>
            </a:r>
          </a:p>
        </p:txBody>
      </p:sp>
      <p:sp>
        <p:nvSpPr>
          <p:cNvPr id="25" name="Rounded Rectangle 24"/>
          <p:cNvSpPr/>
          <p:nvPr/>
        </p:nvSpPr>
        <p:spPr>
          <a:xfrm>
            <a:off x="457200" y="4069080"/>
            <a:ext cx="2057400" cy="1197864"/>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12-rollsafe-ru.png"/>
          <p:cNvPicPr>
            <a:picLocks noChangeAspect="1"/>
          </p:cNvPicPr>
          <p:nvPr/>
        </p:nvPicPr>
        <p:blipFill>
          <a:blip r:embed="rId5"/>
          <a:stretch>
            <a:fillRect/>
          </a:stretch>
        </p:blipFill>
        <p:spPr>
          <a:xfrm>
            <a:off x="502920" y="4114910"/>
            <a:ext cx="1965960" cy="1106203"/>
          </a:xfrm>
          <a:prstGeom prst="rect">
            <a:avLst/>
          </a:prstGeom>
        </p:spPr>
      </p:pic>
      <p:sp>
        <p:nvSpPr>
          <p:cNvPr id="27" name="TextBox 26"/>
          <p:cNvSpPr txBox="1"/>
          <p:nvPr/>
        </p:nvSpPr>
        <p:spPr>
          <a:xfrm>
            <a:off x="2798064" y="4133087"/>
            <a:ext cx="8275320" cy="1106424"/>
          </a:xfrm>
          <a:prstGeom prst="rect">
            <a:avLst/>
          </a:prstGeom>
          <a:noFill/>
        </p:spPr>
        <p:txBody>
          <a:bodyPr wrap="square" lIns="0" rIns="0" tIns="0" bIns="0" anchor="ctr">
            <a:spAutoFit/>
          </a:bodyPr>
          <a:lstStyle/>
          <a:p>
            <a:pPr algn="l">
              <a:lnSpc>
                <a:spcPct val="124000"/>
              </a:lnSpc>
            </a:pPr>
            <a:r>
              <a:rPr sz="1350" b="1" i="0">
                <a:solidFill>
                  <a:srgbClr val="065A82"/>
                </a:solidFill>
                <a:latin typeface="Arial"/>
              </a:rPr>
              <a:t>Частый анти-паттерн — ставить RAG-инфраструктуру там, где весь корпус спокойно помещается в контекстное окно и меняется редко.</a:t>
            </a:r>
          </a:p>
        </p:txBody>
      </p:sp>
      <p:sp>
        <p:nvSpPr>
          <p:cNvPr id="28" name="Rounded Rectangle 27"/>
          <p:cNvSpPr/>
          <p:nvPr/>
        </p:nvSpPr>
        <p:spPr>
          <a:xfrm>
            <a:off x="502920" y="5285232"/>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8" y="5340096"/>
            <a:ext cx="10799064" cy="822960"/>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RAG избыточен, если выполнен ЛЮБОЙ из трёх</a:t>
            </a:r>
            <a:r>
              <a:rPr sz="702" baseline="30000" b="0" i="1">
                <a:latin typeface="Arial"/>
                <a:cs typeface="Arial"/>
                <a:ea typeface="Arial"/>
                <a:solidFill>
                  <a:srgbClr val="1C7293"/>
                </a:solidFill>
              </a:rPr>
              <a:t>[1]</a:t>
            </a:r>
            <a:r>
              <a:rPr sz="1350" b="1" i="0">
                <a:latin typeface="Arial"/>
                <a:cs typeface="Arial"/>
                <a:ea typeface="Arial"/>
                <a:solidFill>
                  <a:srgbClr val="21295C"/>
                </a:solidFill>
              </a:rPr>
              <a:t>: (а) корпус влезает в окно и стабилен, (б) задача сводится к фиксированному значению, (в) знание уже доступно напрямую и живьём через инструмент. «Прямой вызов вернёт данные на момент запроса; RAG-индекс — на момент последней индексации.»</a:t>
            </a:r>
          </a:p>
        </p:txBody>
      </p:sp>
      <p:sp>
        <p:nvSpPr>
          <p:cNvPr id="30" name="TextBox 2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7"/>
              </a:rPr>
              <a:t>Red Hat — RAG vs Fine-Tuning (когда не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8"/>
              </a:rPr>
              <a:t>McCarthy Tétrault — Air Canada («генерация поверх фикс. политики»)</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20 / 55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RAG на масштабе.</a:t>
            </a:r>
          </a:p>
        </p:txBody>
      </p:sp>
      <p:sp>
        <p:nvSpPr>
          <p:cNvPr id="3" name="Rounded Rectangle 2"/>
          <p:cNvSpPr/>
          <p:nvPr/>
        </p:nvSpPr>
        <p:spPr>
          <a:xfrm>
            <a:off x="502920" y="1005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1060704"/>
            <a:ext cx="10799064" cy="75895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«Вернул что-то» ≠ «вернул правильное»</a:t>
            </a:r>
            <a:r>
              <a:rPr sz="780" baseline="30000" b="0" i="1">
                <a:latin typeface="Arial"/>
                <a:cs typeface="Arial"/>
                <a:ea typeface="Arial"/>
                <a:solidFill>
                  <a:srgbClr val="1C7293"/>
                </a:solidFill>
              </a:rPr>
              <a:t>[1,2]</a:t>
            </a:r>
            <a:r>
              <a:rPr sz="1500" b="1" i="0">
                <a:latin typeface="Arial"/>
                <a:cs typeface="Arial"/>
                <a:ea typeface="Arial"/>
                <a:solidFill>
                  <a:srgbClr val="21295C"/>
                </a:solidFill>
              </a:rPr>
              <a:t>. У RAG нет сигнала «не нашёл» — он всегда отдаёт k ближайших, даже нерелевантных.</a:t>
            </a:r>
          </a:p>
        </p:txBody>
      </p:sp>
      <p:sp>
        <p:nvSpPr>
          <p:cNvPr id="5" name="Rounded Rectangle 4"/>
          <p:cNvSpPr/>
          <p:nvPr/>
        </p:nvSpPr>
        <p:spPr>
          <a:xfrm>
            <a:off x="502920" y="1956816"/>
            <a:ext cx="5989320" cy="3419856"/>
          </a:xfrm>
          <a:prstGeom prst="roundRect">
            <a:avLst>
              <a:gd name="adj" fmla="val 891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teal.png"/>
          <p:cNvPicPr>
            <a:picLocks noChangeAspect="1"/>
          </p:cNvPicPr>
          <p:nvPr/>
        </p:nvPicPr>
        <p:blipFill>
          <a:blip r:embed="rId2"/>
          <a:stretch>
            <a:fillRect/>
          </a:stretch>
        </p:blipFill>
        <p:spPr>
          <a:xfrm>
            <a:off x="758952" y="2157984"/>
            <a:ext cx="365760" cy="365760"/>
          </a:xfrm>
          <a:prstGeom prst="rect">
            <a:avLst/>
          </a:prstGeom>
        </p:spPr>
      </p:pic>
      <p:sp>
        <p:nvSpPr>
          <p:cNvPr id="7" name="TextBox 6"/>
          <p:cNvSpPr txBox="1"/>
          <p:nvPr/>
        </p:nvSpPr>
        <p:spPr>
          <a:xfrm>
            <a:off x="1271016" y="2157984"/>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Legal-AI</a:t>
            </a:r>
          </a:p>
        </p:txBody>
      </p:sp>
      <p:sp>
        <p:nvSpPr>
          <p:cNvPr id="8" name="TextBox 7"/>
          <p:cNvSpPr txBox="1"/>
          <p:nvPr/>
        </p:nvSpPr>
        <p:spPr>
          <a:xfrm>
            <a:off x="758952" y="2560320"/>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«ближайшие» дела из другой юрисдикции / отменённый прецедент — модель опирается на них как на факт</a:t>
            </a:r>
          </a:p>
        </p:txBody>
      </p:sp>
      <p:cxnSp>
        <p:nvCxnSpPr>
          <p:cNvPr id="9" name="Connector 8"/>
          <p:cNvCxnSpPr/>
          <p:nvPr/>
        </p:nvCxnSpPr>
        <p:spPr>
          <a:xfrm>
            <a:off x="777240" y="3096768"/>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0" name="Picture 9" descr="triangle-alert-teal.png"/>
          <p:cNvPicPr>
            <a:picLocks noChangeAspect="1"/>
          </p:cNvPicPr>
          <p:nvPr/>
        </p:nvPicPr>
        <p:blipFill>
          <a:blip r:embed="rId2"/>
          <a:stretch>
            <a:fillRect/>
          </a:stretch>
        </p:blipFill>
        <p:spPr>
          <a:xfrm>
            <a:off x="758952" y="3297936"/>
            <a:ext cx="365760" cy="365760"/>
          </a:xfrm>
          <a:prstGeom prst="rect">
            <a:avLst/>
          </a:prstGeom>
        </p:spPr>
      </p:pic>
      <p:sp>
        <p:nvSpPr>
          <p:cNvPr id="11" name="TextBox 10"/>
          <p:cNvSpPr txBox="1"/>
          <p:nvPr/>
        </p:nvSpPr>
        <p:spPr>
          <a:xfrm>
            <a:off x="1271016" y="3297936"/>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Medical-RAG</a:t>
            </a:r>
          </a:p>
        </p:txBody>
      </p:sp>
      <p:sp>
        <p:nvSpPr>
          <p:cNvPr id="12" name="TextBox 11"/>
          <p:cNvSpPr txBox="1"/>
          <p:nvPr/>
        </p:nvSpPr>
        <p:spPr>
          <a:xfrm>
            <a:off x="758952" y="3700272"/>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смешал фрагменты разных пациентов — близки по симптомам, клинически объединять нельзя</a:t>
            </a:r>
          </a:p>
        </p:txBody>
      </p:sp>
      <p:cxnSp>
        <p:nvCxnSpPr>
          <p:cNvPr id="13" name="Connector 12"/>
          <p:cNvCxnSpPr/>
          <p:nvPr/>
        </p:nvCxnSpPr>
        <p:spPr>
          <a:xfrm>
            <a:off x="777240" y="4236720"/>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4" name="Picture 13" descr="triangle-alert-teal.png"/>
          <p:cNvPicPr>
            <a:picLocks noChangeAspect="1"/>
          </p:cNvPicPr>
          <p:nvPr/>
        </p:nvPicPr>
        <p:blipFill>
          <a:blip r:embed="rId2"/>
          <a:stretch>
            <a:fillRect/>
          </a:stretch>
        </p:blipFill>
        <p:spPr>
          <a:xfrm>
            <a:off x="758952" y="4437888"/>
            <a:ext cx="365760" cy="365760"/>
          </a:xfrm>
          <a:prstGeom prst="rect">
            <a:avLst/>
          </a:prstGeom>
        </p:spPr>
      </p:pic>
      <p:sp>
        <p:nvSpPr>
          <p:cNvPr id="15" name="TextBox 14"/>
          <p:cNvSpPr txBox="1"/>
          <p:nvPr/>
        </p:nvSpPr>
        <p:spPr>
          <a:xfrm>
            <a:off x="1271016" y="4437888"/>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Бот поддержки</a:t>
            </a:r>
          </a:p>
        </p:txBody>
      </p:sp>
      <p:sp>
        <p:nvSpPr>
          <p:cNvPr id="16" name="TextBox 15"/>
          <p:cNvSpPr txBox="1"/>
          <p:nvPr/>
        </p:nvSpPr>
        <p:spPr>
          <a:xfrm>
            <a:off x="758952" y="4840224"/>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работал на сотнях статей; после роста до тысяч качество тихо просело — никто не заметил</a:t>
            </a:r>
          </a:p>
        </p:txBody>
      </p:sp>
      <p:sp>
        <p:nvSpPr>
          <p:cNvPr id="17" name="Rounded Rectangle 16"/>
          <p:cNvSpPr/>
          <p:nvPr/>
        </p:nvSpPr>
        <p:spPr>
          <a:xfrm>
            <a:off x="6720840" y="1956816"/>
            <a:ext cx="4983480" cy="3419856"/>
          </a:xfrm>
          <a:prstGeom prst="roundRect">
            <a:avLst>
              <a:gd name="adj" fmla="val 891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95159" y="2157984"/>
            <a:ext cx="4434840" cy="310896"/>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Air Canada — разбор архитектуры</a:t>
            </a:r>
            <a:r>
              <a:rPr sz="832" baseline="30000" b="0" i="1">
                <a:latin typeface="Arial"/>
                <a:cs typeface="Arial"/>
                <a:ea typeface="Arial"/>
                <a:solidFill>
                  <a:srgbClr val="1C7293"/>
                </a:solidFill>
              </a:rPr>
              <a:t>[3]</a:t>
            </a:r>
          </a:p>
        </p:txBody>
      </p:sp>
      <p:sp>
        <p:nvSpPr>
          <p:cNvPr id="19" name="TextBox 18"/>
          <p:cNvSpPr txBox="1"/>
          <p:nvPr/>
        </p:nvSpPr>
        <p:spPr>
          <a:xfrm>
            <a:off x="6995159" y="2542032"/>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Диагноз</a:t>
            </a:r>
          </a:p>
        </p:txBody>
      </p:sp>
      <p:sp>
        <p:nvSpPr>
          <p:cNvPr id="20" name="TextBox 19"/>
          <p:cNvSpPr txBox="1"/>
          <p:nvPr/>
        </p:nvSpPr>
        <p:spPr>
          <a:xfrm>
            <a:off x="6995159" y="2834640"/>
            <a:ext cx="4434840" cy="9601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сгенерированный правдоподобный текст поставлен в роль, требовавшую извлечённого проверенного факта — отказ опоры на источник</a:t>
            </a:r>
          </a:p>
        </p:txBody>
      </p:sp>
      <p:cxnSp>
        <p:nvCxnSpPr>
          <p:cNvPr id="21" name="Connector 20"/>
          <p:cNvCxnSpPr/>
          <p:nvPr/>
        </p:nvCxnSpPr>
        <p:spPr>
          <a:xfrm>
            <a:off x="6995159" y="3858768"/>
            <a:ext cx="4434841" cy="0"/>
          </a:xfrm>
          <a:prstGeom prst="line">
            <a:avLst/>
          </a:prstGeom>
          <a:ln w="12700">
            <a:solidFill>
              <a:srgbClr val="02809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995159" y="3968496"/>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Правильная альтернатива</a:t>
            </a:r>
          </a:p>
        </p:txBody>
      </p:sp>
      <p:sp>
        <p:nvSpPr>
          <p:cNvPr id="23" name="TextBox 22"/>
          <p:cNvSpPr txBox="1"/>
          <p:nvPr/>
        </p:nvSpPr>
        <p:spPr>
          <a:xfrm>
            <a:off x="6995159" y="4261104"/>
            <a:ext cx="4434840" cy="105156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фиксированная политика → таблица соответствий / страница; нужен диалог → RAG со строгой опорой на источник, обязательная цитата, явное «не знаю», проверка человеком</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Barnett et al. 2024 — Seven Failure Points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Kore.ai — Seven RAG Engineering Failure Points</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6"/>
              </a:rPr>
              <a:t>McCarthy Tétrault — Air Canada (отказ grounding)</a:t>
            </a:r>
            <a:r>
              <a:rPr sz="850" i="1">
                <a:solidFill>
                  <a:srgbClr val="5B6678"/>
                </a:solidFill>
                <a:latin typeface="Arial"/>
              </a:rPr>
              <a:t>   ·   Документированные классы провалов (Barnett et al. 2024; Air Canada — McCarthy Tétrault 2024). Кейсы — illustrative.</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21 / 55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3-tuning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3</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3</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Дообучение vs промпт vs RAG</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Проблему знания мы решили через RAG. А если проблема не в знании, а в поведении модели — её тоном, форматом, политикой?</a:t>
            </a:r>
          </a:p>
        </p:txBody>
      </p:sp>
      <p:sp>
        <p:nvSpPr>
          <p:cNvPr id="8" name="Rounded Rectangle 7"/>
          <p:cNvSpPr/>
          <p:nvPr/>
        </p:nvSpPr>
        <p:spPr>
          <a:xfrm>
            <a:off x="713232" y="5212080"/>
            <a:ext cx="5925312"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настройка поведения · 4 разбора · 1 провал</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22 / 55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Как решали задачу ML до больших моделей.</a:t>
            </a:r>
          </a:p>
        </p:txBody>
      </p:sp>
      <p:sp>
        <p:nvSpPr>
          <p:cNvPr id="3" name="TextBox 2"/>
          <p:cNvSpPr txBox="1"/>
          <p:nvPr/>
        </p:nvSpPr>
        <p:spPr>
          <a:xfrm>
            <a:off x="502920" y="1042415"/>
            <a:ext cx="11201400" cy="548640"/>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Дообучение большой модели — не экзотика новой эпохи, а прямое продолжение классической схемы transfer learning. Восстановим её с нуля.</a:t>
            </a:r>
          </a:p>
        </p:txBody>
      </p:sp>
      <p:sp>
        <p:nvSpPr>
          <p:cNvPr id="4" name="Rounded Rectangle 3"/>
          <p:cNvSpPr/>
          <p:nvPr/>
        </p:nvSpPr>
        <p:spPr>
          <a:xfrm>
            <a:off x="502920"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tabase-mid.png"/>
          <p:cNvPicPr>
            <a:picLocks noChangeAspect="1"/>
          </p:cNvPicPr>
          <p:nvPr/>
        </p:nvPicPr>
        <p:blipFill>
          <a:blip r:embed="rId2"/>
          <a:stretch>
            <a:fillRect/>
          </a:stretch>
        </p:blipFill>
        <p:spPr>
          <a:xfrm>
            <a:off x="758952" y="1920240"/>
            <a:ext cx="493776" cy="493776"/>
          </a:xfrm>
          <a:prstGeom prst="rect">
            <a:avLst/>
          </a:prstGeom>
        </p:spPr>
      </p:pic>
      <p:sp>
        <p:nvSpPr>
          <p:cNvPr id="6" name="TextBox 5"/>
          <p:cNvSpPr txBox="1"/>
          <p:nvPr/>
        </p:nvSpPr>
        <p:spPr>
          <a:xfrm>
            <a:off x="758952"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Выборка + эталон</a:t>
            </a:r>
          </a:p>
        </p:txBody>
      </p:sp>
      <p:sp>
        <p:nvSpPr>
          <p:cNvPr id="7" name="TextBox 6"/>
          <p:cNvSpPr txBox="1"/>
          <p:nvPr/>
        </p:nvSpPr>
        <p:spPr>
          <a:xfrm>
            <a:off x="758952"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Размеченный набор «вход → правильный ответ» (ground truth, эталонная разметка); модель учится его воспроизводить и обобщать на новые данные.</a:t>
            </a:r>
          </a:p>
        </p:txBody>
      </p:sp>
      <p:sp>
        <p:nvSpPr>
          <p:cNvPr id="8" name="Rounded Rectangle 7"/>
          <p:cNvSpPr/>
          <p:nvPr/>
        </p:nvSpPr>
        <p:spPr>
          <a:xfrm>
            <a:off x="4309872"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ale-mid.png"/>
          <p:cNvPicPr>
            <a:picLocks noChangeAspect="1"/>
          </p:cNvPicPr>
          <p:nvPr/>
        </p:nvPicPr>
        <p:blipFill>
          <a:blip r:embed="rId3"/>
          <a:stretch>
            <a:fillRect/>
          </a:stretch>
        </p:blipFill>
        <p:spPr>
          <a:xfrm>
            <a:off x="4565904" y="1920240"/>
            <a:ext cx="493776" cy="493776"/>
          </a:xfrm>
          <a:prstGeom prst="rect">
            <a:avLst/>
          </a:prstGeom>
        </p:spPr>
      </p:pic>
      <p:sp>
        <p:nvSpPr>
          <p:cNvPr id="10" name="TextBox 9"/>
          <p:cNvSpPr txBox="1"/>
          <p:nvPr/>
        </p:nvSpPr>
        <p:spPr>
          <a:xfrm>
            <a:off x="4565904"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Train / val / test split</a:t>
            </a:r>
          </a:p>
        </p:txBody>
      </p:sp>
      <p:sp>
        <p:nvSpPr>
          <p:cNvPr id="11" name="TextBox 10"/>
          <p:cNvSpPr txBox="1"/>
          <p:nvPr/>
        </p:nvSpPr>
        <p:spPr>
          <a:xfrm>
            <a:off x="4565904"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Три непересекающиеся части: на train учат, на validation подбирают, на test меряют один раз. Правило: нельзя тестировать на обучающих данных.</a:t>
            </a:r>
          </a:p>
        </p:txBody>
      </p:sp>
      <p:sp>
        <p:nvSpPr>
          <p:cNvPr id="12" name="Rounded Rectangle 11"/>
          <p:cNvSpPr/>
          <p:nvPr/>
        </p:nvSpPr>
        <p:spPr>
          <a:xfrm>
            <a:off x="8116824"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git-branch-mid.png"/>
          <p:cNvPicPr>
            <a:picLocks noChangeAspect="1"/>
          </p:cNvPicPr>
          <p:nvPr/>
        </p:nvPicPr>
        <p:blipFill>
          <a:blip r:embed="rId4"/>
          <a:stretch>
            <a:fillRect/>
          </a:stretch>
        </p:blipFill>
        <p:spPr>
          <a:xfrm>
            <a:off x="8372856" y="1920240"/>
            <a:ext cx="493776" cy="493776"/>
          </a:xfrm>
          <a:prstGeom prst="rect">
            <a:avLst/>
          </a:prstGeom>
        </p:spPr>
      </p:pic>
      <p:sp>
        <p:nvSpPr>
          <p:cNvPr id="14" name="TextBox 13"/>
          <p:cNvSpPr txBox="1"/>
          <p:nvPr/>
        </p:nvSpPr>
        <p:spPr>
          <a:xfrm>
            <a:off x="8372856"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Transfer learning (перенос обучения)</a:t>
            </a:r>
          </a:p>
        </p:txBody>
      </p:sp>
      <p:sp>
        <p:nvSpPr>
          <p:cNvPr id="15" name="TextBox 14"/>
          <p:cNvSpPr txBox="1"/>
          <p:nvPr/>
        </p:nvSpPr>
        <p:spPr>
          <a:xfrm>
            <a:off x="8372856"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Взять предобученную на большом корпусе модель и дёшево дообучить под свою узкую задачу: быстрее и точнее, чем с нуля («предобучение → дообучение»).</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Eval-наборы (golden set) — без них catastrophic forgetting не виден; версионирование данных и весов для отката; train/test-дисциплину против утечки; мониторинг дрейфа. LoRA удешевила шаг дообучения, но не дисциплину вокруг него.</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PEFT/LoRA — тот же transfer learning, доведённый до предела дешевизны и поверх несравнимо более крупной модели. Идея не новая — новыми стали масштаб базовой модели и стоимость шага.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23 / 55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Что такое дообучение (fine-tuning).</a:t>
            </a:r>
          </a:p>
        </p:txBody>
      </p:sp>
      <p:sp>
        <p:nvSpPr>
          <p:cNvPr id="3" name="TextBox 2"/>
          <p:cNvSpPr txBox="1"/>
          <p:nvPr/>
        </p:nvSpPr>
        <p:spPr>
          <a:xfrm>
            <a:off x="502920" y="1042415"/>
            <a:ext cx="11201400" cy="676656"/>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Дообучение (fine-tuning) — продолжение обучения уже готовой модели на ваших данных. В Л1 — тип использования; здесь — архитектурный выбор, одна из ступеней лестницы.</a:t>
            </a:r>
          </a:p>
        </p:txBody>
      </p:sp>
      <p:sp>
        <p:nvSpPr>
          <p:cNvPr id="4" name="Rounded Rectangle 3"/>
          <p:cNvSpPr/>
          <p:nvPr/>
        </p:nvSpPr>
        <p:spPr>
          <a:xfrm>
            <a:off x="502920" y="1810512"/>
            <a:ext cx="11201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34440"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mid.png"/>
          <p:cNvPicPr>
            <a:picLocks noChangeAspect="1"/>
          </p:cNvPicPr>
          <p:nvPr/>
        </p:nvPicPr>
        <p:blipFill>
          <a:blip r:embed="rId2"/>
          <a:stretch>
            <a:fillRect/>
          </a:stretch>
        </p:blipFill>
        <p:spPr>
          <a:xfrm>
            <a:off x="2327148" y="2542032"/>
            <a:ext cx="384048" cy="384048"/>
          </a:xfrm>
          <a:prstGeom prst="rect">
            <a:avLst/>
          </a:prstGeom>
        </p:spPr>
      </p:pic>
      <p:sp>
        <p:nvSpPr>
          <p:cNvPr id="7" name="TextBox 6"/>
          <p:cNvSpPr txBox="1"/>
          <p:nvPr/>
        </p:nvSpPr>
        <p:spPr>
          <a:xfrm>
            <a:off x="1325880"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Предобученная
модель</a:t>
            </a:r>
          </a:p>
        </p:txBody>
      </p:sp>
      <p:sp>
        <p:nvSpPr>
          <p:cNvPr id="8" name="TextBox 7"/>
          <p:cNvSpPr txBox="1"/>
          <p:nvPr/>
        </p:nvSpPr>
        <p:spPr>
          <a:xfrm>
            <a:off x="1362456"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общие веса</a:t>
            </a:r>
          </a:p>
        </p:txBody>
      </p:sp>
      <p:sp>
        <p:nvSpPr>
          <p:cNvPr id="9" name="TextBox 8"/>
          <p:cNvSpPr txBox="1"/>
          <p:nvPr/>
        </p:nvSpPr>
        <p:spPr>
          <a:xfrm>
            <a:off x="3840480" y="2788920"/>
            <a:ext cx="530352" cy="585216"/>
          </a:xfrm>
          <a:prstGeom prst="rect">
            <a:avLst/>
          </a:prstGeom>
          <a:noFill/>
        </p:spPr>
        <p:txBody>
          <a:bodyPr wrap="square" lIns="0" rIns="0" tIns="0" bIns="0" anchor="ctr">
            <a:spAutoFit/>
          </a:bodyPr>
          <a:lstStyle/>
          <a:p>
            <a:pPr algn="ctr">
              <a:lnSpc>
                <a:spcPct val="115000"/>
              </a:lnSpc>
            </a:pPr>
            <a:r>
              <a:rPr sz="3000" b="1" i="0">
                <a:solidFill>
                  <a:srgbClr val="065A82"/>
                </a:solidFill>
                <a:latin typeface="Arial"/>
              </a:rPr>
              <a:t>+</a:t>
            </a:r>
          </a:p>
        </p:txBody>
      </p:sp>
      <p:sp>
        <p:nvSpPr>
          <p:cNvPr id="10" name="Rounded Rectangle 9"/>
          <p:cNvSpPr/>
          <p:nvPr/>
        </p:nvSpPr>
        <p:spPr>
          <a:xfrm>
            <a:off x="4370832"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teal.png"/>
          <p:cNvPicPr>
            <a:picLocks noChangeAspect="1"/>
          </p:cNvPicPr>
          <p:nvPr/>
        </p:nvPicPr>
        <p:blipFill>
          <a:blip r:embed="rId3"/>
          <a:stretch>
            <a:fillRect/>
          </a:stretch>
        </p:blipFill>
        <p:spPr>
          <a:xfrm>
            <a:off x="5463540" y="2542032"/>
            <a:ext cx="384048" cy="384048"/>
          </a:xfrm>
          <a:prstGeom prst="rect">
            <a:avLst/>
          </a:prstGeom>
        </p:spPr>
      </p:pic>
      <p:sp>
        <p:nvSpPr>
          <p:cNvPr id="12" name="TextBox 11"/>
          <p:cNvSpPr txBox="1"/>
          <p:nvPr/>
        </p:nvSpPr>
        <p:spPr>
          <a:xfrm>
            <a:off x="4498848" y="2962656"/>
            <a:ext cx="2350008" cy="27432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Ваш датасет</a:t>
            </a:r>
          </a:p>
        </p:txBody>
      </p:sp>
      <p:sp>
        <p:nvSpPr>
          <p:cNvPr id="13" name="TextBox 12"/>
          <p:cNvSpPr txBox="1"/>
          <p:nvPr/>
        </p:nvSpPr>
        <p:spPr>
          <a:xfrm>
            <a:off x="4462272" y="3273552"/>
            <a:ext cx="2423160" cy="457200"/>
          </a:xfrm>
          <a:prstGeom prst="rect">
            <a:avLst/>
          </a:prstGeom>
          <a:noFill/>
        </p:spPr>
        <p:txBody>
          <a:bodyPr wrap="square" lIns="0" rIns="0" tIns="0" bIns="0" anchor="t">
            <a:spAutoFit/>
          </a:bodyPr>
          <a:lstStyle/>
          <a:p>
            <a:pPr algn="ctr">
              <a:lnSpc>
                <a:spcPct val="102000"/>
              </a:lnSpc>
            </a:pPr>
            <a:r>
              <a:rPr sz="1150" b="0" i="1">
                <a:solidFill>
                  <a:srgbClr val="5B6678"/>
                </a:solidFill>
                <a:latin typeface="Arial"/>
              </a:rPr>
              <a:t>примеры нужного
поведения</a:t>
            </a:r>
          </a:p>
        </p:txBody>
      </p:sp>
      <p:sp>
        <p:nvSpPr>
          <p:cNvPr id="14" name="TextBox 13"/>
          <p:cNvSpPr txBox="1"/>
          <p:nvPr/>
        </p:nvSpPr>
        <p:spPr>
          <a:xfrm>
            <a:off x="6931152" y="2029968"/>
            <a:ext cx="1463040" cy="292608"/>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дообучение</a:t>
            </a:r>
          </a:p>
        </p:txBody>
      </p:sp>
      <p:sp>
        <p:nvSpPr>
          <p:cNvPr id="15" name="Right Arrow 14"/>
          <p:cNvSpPr/>
          <p:nvPr/>
        </p:nvSpPr>
        <p:spPr>
          <a:xfrm>
            <a:off x="7031736" y="2889504"/>
            <a:ext cx="1261872" cy="384048"/>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48472" y="2414016"/>
            <a:ext cx="2606040" cy="1335024"/>
          </a:xfrm>
          <a:prstGeom prst="roundRect">
            <a:avLst>
              <a:gd name="adj" fmla="val 10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liders-horizontal-gold.png"/>
          <p:cNvPicPr>
            <a:picLocks noChangeAspect="1"/>
          </p:cNvPicPr>
          <p:nvPr/>
        </p:nvPicPr>
        <p:blipFill>
          <a:blip r:embed="rId4"/>
          <a:stretch>
            <a:fillRect/>
          </a:stretch>
        </p:blipFill>
        <p:spPr>
          <a:xfrm>
            <a:off x="9441180" y="2542032"/>
            <a:ext cx="384048" cy="384048"/>
          </a:xfrm>
          <a:prstGeom prst="rect">
            <a:avLst/>
          </a:prstGeom>
        </p:spPr>
      </p:pic>
      <p:sp>
        <p:nvSpPr>
          <p:cNvPr id="18" name="TextBox 17"/>
          <p:cNvSpPr txBox="1"/>
          <p:nvPr/>
        </p:nvSpPr>
        <p:spPr>
          <a:xfrm>
            <a:off x="8439912"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Дообученные
ВЕСА</a:t>
            </a:r>
          </a:p>
        </p:txBody>
      </p:sp>
      <p:sp>
        <p:nvSpPr>
          <p:cNvPr id="19" name="TextBox 18"/>
          <p:cNvSpPr txBox="1"/>
          <p:nvPr/>
        </p:nvSpPr>
        <p:spPr>
          <a:xfrm>
            <a:off x="8476488"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модель уже другая</a:t>
            </a:r>
          </a:p>
        </p:txBody>
      </p:sp>
      <p:sp>
        <p:nvSpPr>
          <p:cNvPr id="20" name="Rounded Rectangle 19"/>
          <p:cNvSpPr/>
          <p:nvPr/>
        </p:nvSpPr>
        <p:spPr>
          <a:xfrm>
            <a:off x="502920" y="4160520"/>
            <a:ext cx="5532120" cy="1417320"/>
          </a:xfrm>
          <a:prstGeom prst="roundRect">
            <a:avLst>
              <a:gd name="adj" fmla="val 21505"/>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 y="4325112"/>
            <a:ext cx="5029200"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Промпт / RAG → КОНТЕКСТ</a:t>
            </a:r>
          </a:p>
        </p:txBody>
      </p:sp>
      <p:sp>
        <p:nvSpPr>
          <p:cNvPr id="22" name="TextBox 21"/>
          <p:cNvSpPr txBox="1"/>
          <p:nvPr/>
        </p:nvSpPr>
        <p:spPr>
          <a:xfrm>
            <a:off x="75895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Меняют только вход — веса не трогаются; эффект живёт лишь в рамках запроса.</a:t>
            </a:r>
          </a:p>
        </p:txBody>
      </p:sp>
      <p:sp>
        <p:nvSpPr>
          <p:cNvPr id="23" name="Rounded Rectangle 22"/>
          <p:cNvSpPr/>
          <p:nvPr/>
        </p:nvSpPr>
        <p:spPr>
          <a:xfrm>
            <a:off x="6172200" y="4160520"/>
            <a:ext cx="553212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4325112"/>
            <a:ext cx="5029200"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Дообучение → САМИ ВЕСА</a:t>
            </a:r>
          </a:p>
        </p:txBody>
      </p:sp>
      <p:sp>
        <p:nvSpPr>
          <p:cNvPr id="25" name="TextBox 24"/>
          <p:cNvSpPr txBox="1"/>
          <p:nvPr/>
        </p:nvSpPr>
        <p:spPr>
          <a:xfrm>
            <a:off x="642823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Изменение встроено в модель — действует всегда и стоит дороже того, что меняет контекст.</a:t>
            </a:r>
          </a:p>
        </p:txBody>
      </p:sp>
      <p:sp>
        <p:nvSpPr>
          <p:cNvPr id="26" name="Rounded Rectangle 25"/>
          <p:cNvSpPr/>
          <p:nvPr/>
        </p:nvSpPr>
        <p:spPr>
          <a:xfrm>
            <a:off x="502920" y="5742432"/>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5797296"/>
            <a:ext cx="10799064" cy="603504"/>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Промпт/RAG = «что показать модели».  Дообучение = «изменить саму модель»</a:t>
            </a:r>
            <a:r>
              <a:rPr sz="728" baseline="30000" b="0" i="1">
                <a:latin typeface="Arial"/>
                <a:cs typeface="Arial"/>
                <a:ea typeface="Arial"/>
                <a:solidFill>
                  <a:srgbClr val="1C7293"/>
                </a:solidFill>
              </a:rPr>
              <a:t>[1]</a:t>
            </a:r>
            <a:r>
              <a:rPr sz="1400" b="1" i="0">
                <a:latin typeface="Arial"/>
                <a:cs typeface="Arial"/>
                <a:ea typeface="Arial"/>
                <a:solidFill>
                  <a:srgbClr val="21295C"/>
                </a:solidFill>
              </a:rPr>
              <a:t>. На практике «дообучить» почти всегда означает LoRA/PEFT, а не переобучение всех весов (следующий слайд).</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IBM — RAG vs Fine-Tuning (fine-tuning меняет веса)</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24 / 55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PEFT вместо полного дообучения.</a:t>
            </a:r>
          </a:p>
        </p:txBody>
      </p:sp>
      <p:sp>
        <p:nvSpPr>
          <p:cNvPr id="3" name="TextBox 2"/>
          <p:cNvSpPr txBox="1"/>
          <p:nvPr/>
        </p:nvSpPr>
        <p:spPr>
          <a:xfrm>
            <a:off x="502920" y="1060704"/>
            <a:ext cx="11201400" cy="713232"/>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PEFT — базовые веса замораживаются, обучается лишь небольшой набор адаптеров. LoRA — низкоранговые матрицы-адаптеры; QLoRA — то же поверх квантованной модели</a:t>
            </a:r>
            <a:r>
              <a:rPr sz="728" baseline="30000" b="0" i="1">
                <a:latin typeface="Arial"/>
                <a:cs typeface="Arial"/>
                <a:ea typeface="Arial"/>
                <a:solidFill>
                  <a:srgbClr val="1C7293"/>
                </a:solidFill>
              </a:rPr>
              <a:t>[1,2]</a:t>
            </a:r>
            <a:r>
              <a:rPr sz="1400" b="0" i="1">
                <a:latin typeface="Arial"/>
                <a:cs typeface="Arial"/>
                <a:ea typeface="Arial"/>
                <a:solidFill>
                  <a:srgbClr val="065A82"/>
                </a:solidFill>
              </a:rPr>
              <a:t>.</a:t>
            </a:r>
          </a:p>
        </p:txBody>
      </p:sp>
      <p:sp>
        <p:nvSpPr>
          <p:cNvPr id="4" name="Rounded Rectangle 3"/>
          <p:cNvSpPr/>
          <p:nvPr/>
        </p:nvSpPr>
        <p:spPr>
          <a:xfrm>
            <a:off x="502920" y="1920240"/>
            <a:ext cx="452628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423160"/>
            <a:ext cx="3520440" cy="1417320"/>
          </a:xfrm>
          <a:prstGeom prst="roundRect">
            <a:avLst>
              <a:gd name="adj" fmla="val 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423160"/>
            <a:ext cx="3520440" cy="1417320"/>
          </a:xfrm>
          <a:prstGeom prst="rect">
            <a:avLst/>
          </a:prstGeom>
          <a:noFill/>
        </p:spPr>
        <p:txBody>
          <a:bodyPr wrap="square" lIns="0" rIns="0" tIns="0" bIns="0" anchor="ctr">
            <a:spAutoFit/>
          </a:bodyPr>
          <a:lstStyle/>
          <a:p>
            <a:pPr algn="ctr">
              <a:lnSpc>
                <a:spcPct val="110000"/>
              </a:lnSpc>
            </a:pPr>
            <a:r>
              <a:rPr sz="1700" b="1" i="0">
                <a:solidFill>
                  <a:srgbClr val="FFFFFF"/>
                </a:solidFill>
                <a:latin typeface="Arial"/>
              </a:rPr>
              <a:t>Базовые веса
(frozen)</a:t>
            </a:r>
          </a:p>
        </p:txBody>
      </p:sp>
      <p:sp>
        <p:nvSpPr>
          <p:cNvPr id="7" name="Rounded Rectangle 6"/>
          <p:cNvSpPr/>
          <p:nvPr/>
        </p:nvSpPr>
        <p:spPr>
          <a:xfrm>
            <a:off x="114300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9" name="Rounded Rectangle 8"/>
          <p:cNvSpPr/>
          <p:nvPr/>
        </p:nvSpPr>
        <p:spPr>
          <a:xfrm>
            <a:off x="224028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4028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1" name="Rounded Rectangle 10"/>
          <p:cNvSpPr/>
          <p:nvPr/>
        </p:nvSpPr>
        <p:spPr>
          <a:xfrm>
            <a:off x="333756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756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3" name="TextBox 12"/>
          <p:cNvSpPr txBox="1"/>
          <p:nvPr/>
        </p:nvSpPr>
        <p:spPr>
          <a:xfrm>
            <a:off x="502920" y="4782312"/>
            <a:ext cx="452628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адаптеры — мегабайты vs гигабайты</a:t>
            </a:r>
          </a:p>
        </p:txBody>
      </p:sp>
      <p:sp>
        <p:nvSpPr>
          <p:cNvPr id="14" name="Rounded Rectangle 13"/>
          <p:cNvSpPr/>
          <p:nvPr/>
        </p:nvSpPr>
        <p:spPr>
          <a:xfrm>
            <a:off x="5303520" y="1920240"/>
            <a:ext cx="324612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04688" y="2011680"/>
            <a:ext cx="2843784"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1. Дешевле и быстрее</a:t>
            </a:r>
          </a:p>
        </p:txBody>
      </p:sp>
      <p:sp>
        <p:nvSpPr>
          <p:cNvPr id="16" name="TextBox 15"/>
          <p:cNvSpPr txBox="1"/>
          <p:nvPr/>
        </p:nvSpPr>
        <p:spPr>
          <a:xfrm>
            <a:off x="5504688" y="2322576"/>
            <a:ext cx="2843784" cy="438912"/>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миллионы параметров вместо миллиардов; QLoRA — на одном GPU</a:t>
            </a:r>
          </a:p>
        </p:txBody>
      </p:sp>
      <p:sp>
        <p:nvSpPr>
          <p:cNvPr id="17" name="Rounded Rectangle 16"/>
          <p:cNvSpPr/>
          <p:nvPr/>
        </p:nvSpPr>
        <p:spPr>
          <a:xfrm>
            <a:off x="5303520" y="2926080"/>
            <a:ext cx="324612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04688" y="3017520"/>
            <a:ext cx="2843784"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2. Модульность</a:t>
            </a:r>
          </a:p>
        </p:txBody>
      </p:sp>
      <p:sp>
        <p:nvSpPr>
          <p:cNvPr id="19" name="TextBox 18"/>
          <p:cNvSpPr txBox="1"/>
          <p:nvPr/>
        </p:nvSpPr>
        <p:spPr>
          <a:xfrm>
            <a:off x="5504688" y="3328416"/>
            <a:ext cx="2843784" cy="438912"/>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адаптеры мегабайты vs гигабайты; одна база — много специализаций</a:t>
            </a:r>
          </a:p>
        </p:txBody>
      </p:sp>
      <p:sp>
        <p:nvSpPr>
          <p:cNvPr id="20" name="Rounded Rectangle 19"/>
          <p:cNvSpPr/>
          <p:nvPr/>
        </p:nvSpPr>
        <p:spPr>
          <a:xfrm>
            <a:off x="5303520" y="3931920"/>
            <a:ext cx="3246120" cy="9326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04688" y="4023360"/>
            <a:ext cx="2843784"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3. ↓ Риск забывания</a:t>
            </a:r>
          </a:p>
        </p:txBody>
      </p:sp>
      <p:sp>
        <p:nvSpPr>
          <p:cNvPr id="22" name="TextBox 21"/>
          <p:cNvSpPr txBox="1"/>
          <p:nvPr/>
        </p:nvSpPr>
        <p:spPr>
          <a:xfrm>
            <a:off x="5504688" y="4334256"/>
            <a:ext cx="2843784" cy="475488"/>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база заморожена, физически не переписывается под новый сигнал</a:t>
            </a:r>
          </a:p>
        </p:txBody>
      </p:sp>
      <p:sp>
        <p:nvSpPr>
          <p:cNvPr id="23" name="Rounded Rectangle 22"/>
          <p:cNvSpPr/>
          <p:nvPr/>
        </p:nvSpPr>
        <p:spPr>
          <a:xfrm>
            <a:off x="8732520" y="1920240"/>
            <a:ext cx="297180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15-doge-ru.png"/>
          <p:cNvPicPr>
            <a:picLocks noChangeAspect="1"/>
          </p:cNvPicPr>
          <p:nvPr/>
        </p:nvPicPr>
        <p:blipFill>
          <a:blip r:embed="rId2"/>
          <a:stretch>
            <a:fillRect/>
          </a:stretch>
        </p:blipFill>
        <p:spPr>
          <a:xfrm>
            <a:off x="8842248" y="2302955"/>
            <a:ext cx="2752344" cy="2114928"/>
          </a:xfrm>
          <a:prstGeom prst="rect">
            <a:avLst/>
          </a:prstGeom>
        </p:spPr>
      </p:pic>
      <p:sp>
        <p:nvSpPr>
          <p:cNvPr id="25" name="Rounded Rectangle 24"/>
          <p:cNvSpPr/>
          <p:nvPr/>
        </p:nvSpPr>
        <p:spPr>
          <a:xfrm>
            <a:off x="502920" y="5029200"/>
            <a:ext cx="5440680" cy="1207008"/>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175504"/>
            <a:ext cx="5029200" cy="502920"/>
          </a:xfrm>
          <a:prstGeom prst="rect">
            <a:avLst/>
          </a:prstGeom>
          <a:noFill/>
        </p:spPr>
        <p:txBody>
          <a:bodyPr wrap="square" lIns="0" rIns="0" tIns="0" bIns="0" anchor="ctr">
            <a:spAutoFit/>
          </a:bodyPr>
          <a:lstStyle/>
          <a:p>
            <a:pPr algn="l">
              <a:lnSpc>
                <a:spcPct val="100000"/>
              </a:lnSpc>
            </a:pPr>
            <a:r>
              <a:rPr sz="3000" b="1" i="0">
                <a:solidFill>
                  <a:srgbClr val="F0AB00"/>
                </a:solidFill>
                <a:latin typeface="Arial"/>
              </a:rPr>
              <a:t>98,4% </a:t>
            </a:r>
            <a:r>
              <a:rPr sz="1400" b="1" i="0">
                <a:solidFill>
                  <a:srgbClr val="21295C"/>
                </a:solidFill>
                <a:latin typeface="Arial"/>
              </a:rPr>
              <a:t>моделей с тегом PEFT — это LoRA</a:t>
            </a:r>
            <a:r>
              <a:rPr sz="728" baseline="30000" b="0" i="1">
                <a:latin typeface="Arial"/>
                <a:cs typeface="Arial"/>
                <a:ea typeface="Arial"/>
                <a:solidFill>
                  <a:srgbClr val="1C7293"/>
                </a:solidFill>
              </a:rPr>
              <a:t>[3]</a:t>
            </a:r>
          </a:p>
        </p:txBody>
      </p:sp>
      <p:sp>
        <p:nvSpPr>
          <p:cNvPr id="27" name="TextBox 26"/>
          <p:cNvSpPr txBox="1"/>
          <p:nvPr/>
        </p:nvSpPr>
        <p:spPr>
          <a:xfrm>
            <a:off x="731520" y="5687568"/>
            <a:ext cx="4983480" cy="475488"/>
          </a:xfrm>
          <a:prstGeom prst="rect">
            <a:avLst/>
          </a:prstGeom>
          <a:noFill/>
        </p:spPr>
        <p:txBody>
          <a:bodyPr wrap="square" lIns="0" rIns="0" tIns="0" bIns="0" anchor="t">
            <a:spAutoFit/>
          </a:bodyPr>
          <a:lstStyle/>
          <a:p>
            <a:pPr algn="l">
              <a:lnSpc>
                <a:spcPct val="112000"/>
              </a:lnSpc>
            </a:pPr>
            <a:r>
              <a:rPr sz="1100" b="0" i="1">
                <a:solidFill>
                  <a:srgbClr val="5B6678"/>
                </a:solidFill>
                <a:latin typeface="Arial"/>
              </a:rPr>
              <a:t>из 20 834 карточек на Hugging Face Hub · оговорка: доля среди моделей с тегом PEFT, не среди всего дообучения</a:t>
            </a:r>
          </a:p>
        </p:txBody>
      </p:sp>
      <p:sp>
        <p:nvSpPr>
          <p:cNvPr id="28" name="Rounded Rectangle 27"/>
          <p:cNvSpPr/>
          <p:nvPr/>
        </p:nvSpPr>
        <p:spPr>
          <a:xfrm>
            <a:off x="6126480" y="5029200"/>
            <a:ext cx="5577840" cy="12070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27648" y="5084064"/>
            <a:ext cx="5175503" cy="10972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PEFT (LoRA/QLoRA) почти всегда предпочтительнее полного дообучения: дешевле, модульнее, ↓ риск забывания (forgetting). Полное дообучение в 2026 — почти никогда.</a:t>
            </a:r>
          </a:p>
        </p:txBody>
      </p:sp>
      <p:sp>
        <p:nvSpPr>
          <p:cNvPr id="30" name="TextBox 2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Hu et al. 2021 — LoRA</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Dettmers et al. 2023 — QLoRA</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6"/>
              </a:rPr>
              <a:t>HF PEFT — Beyond LoRA (LoRA 98,4% из 20 834 карточек)</a:t>
            </a:r>
            <a:r>
              <a:rPr sz="850" i="1">
                <a:solidFill>
                  <a:srgbClr val="5B6678"/>
                </a:solidFill>
                <a:latin typeface="Arial"/>
              </a:rPr>
              <a:t>   ·   HF PEFT team, «Beyond LoRA?», июнь 2026. Полный спектр методов (SFT / DPO / RFT) — в главе.</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25 / 55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Что здесь знание, что поведение, что детерминировано.</a:t>
            </a:r>
          </a:p>
        </p:txBody>
      </p:sp>
      <p:sp>
        <p:nvSpPr>
          <p:cNvPr id="3" name="TextBox 2"/>
          <p:cNvSpPr txBox="1"/>
          <p:nvPr/>
        </p:nvSpPr>
        <p:spPr>
          <a:xfrm>
            <a:off x="502920" y="1024128"/>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Вопрос на проектировании — не «RAG или дообучение». Разнесите проблему по осям: знание → RAG, поведение → PEFT, дешевле → дистилляция, детерминированное → код.</a:t>
            </a:r>
          </a:p>
        </p:txBody>
      </p:sp>
      <p:sp>
        <p:nvSpPr>
          <p:cNvPr id="4" name="Rounded Rectangle 3"/>
          <p:cNvSpPr/>
          <p:nvPr/>
        </p:nvSpPr>
        <p:spPr>
          <a:xfrm>
            <a:off x="365760" y="1591056"/>
            <a:ext cx="11475720" cy="3054096"/>
          </a:xfrm>
          <a:prstGeom prst="roundRect">
            <a:avLst>
              <a:gd name="adj" fmla="val 99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700784"/>
            <a:ext cx="361188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0936" y="1700784"/>
            <a:ext cx="3355848"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Если задача требует…</a:t>
            </a:r>
          </a:p>
        </p:txBody>
      </p:sp>
      <p:sp>
        <p:nvSpPr>
          <p:cNvPr id="7" name="Rectangle 6"/>
          <p:cNvSpPr/>
          <p:nvPr/>
        </p:nvSpPr>
        <p:spPr>
          <a:xfrm>
            <a:off x="4114800" y="1700784"/>
            <a:ext cx="324612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42816" y="1700784"/>
            <a:ext cx="2990087"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 правильный инструмент</a:t>
            </a:r>
          </a:p>
        </p:txBody>
      </p:sp>
      <p:sp>
        <p:nvSpPr>
          <p:cNvPr id="9" name="Rectangle 8"/>
          <p:cNvSpPr/>
          <p:nvPr/>
        </p:nvSpPr>
        <p:spPr>
          <a:xfrm>
            <a:off x="7360920" y="1700784"/>
            <a:ext cx="434340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88936" y="1700784"/>
            <a:ext cx="4087368"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…и НЕ этот, потому что</a:t>
            </a:r>
          </a:p>
        </p:txBody>
      </p:sp>
      <p:sp>
        <p:nvSpPr>
          <p:cNvPr id="11" name="Rectangle 10"/>
          <p:cNvSpPr/>
          <p:nvPr/>
        </p:nvSpPr>
        <p:spPr>
          <a:xfrm>
            <a:off x="502920" y="2157984"/>
            <a:ext cx="361188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2194560"/>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знание меняется / нужны свежесть, провенанс</a:t>
            </a:r>
          </a:p>
        </p:txBody>
      </p:sp>
      <p:sp>
        <p:nvSpPr>
          <p:cNvPr id="13" name="Rectangle 12"/>
          <p:cNvSpPr/>
          <p:nvPr/>
        </p:nvSpPr>
        <p:spPr>
          <a:xfrm>
            <a:off x="4114800" y="2157984"/>
            <a:ext cx="324612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42816" y="2194560"/>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RAG (или длинный контекст для малого корпуса)</a:t>
            </a:r>
          </a:p>
        </p:txBody>
      </p:sp>
      <p:sp>
        <p:nvSpPr>
          <p:cNvPr id="15" name="Rectangle 14"/>
          <p:cNvSpPr/>
          <p:nvPr/>
        </p:nvSpPr>
        <p:spPr>
          <a:xfrm>
            <a:off x="7360920" y="2157984"/>
            <a:ext cx="434340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88936" y="2194560"/>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дообучение: знание устареет, переобучать дорого, риск забывания</a:t>
            </a:r>
          </a:p>
        </p:txBody>
      </p:sp>
      <p:sp>
        <p:nvSpPr>
          <p:cNvPr id="17" name="Rectangle 16"/>
          <p:cNvSpPr/>
          <p:nvPr/>
        </p:nvSpPr>
        <p:spPr>
          <a:xfrm>
            <a:off x="502920" y="2761488"/>
            <a:ext cx="361188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 y="2798064"/>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стабильное поведение / тон / формат / политика</a:t>
            </a:r>
          </a:p>
        </p:txBody>
      </p:sp>
      <p:sp>
        <p:nvSpPr>
          <p:cNvPr id="19" name="Rectangle 18"/>
          <p:cNvSpPr/>
          <p:nvPr/>
        </p:nvSpPr>
        <p:spPr>
          <a:xfrm>
            <a:off x="4114800" y="2761488"/>
            <a:ext cx="324612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42816" y="2798064"/>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дообучение (PEFT)</a:t>
            </a:r>
          </a:p>
        </p:txBody>
      </p:sp>
      <p:sp>
        <p:nvSpPr>
          <p:cNvPr id="21" name="Rectangle 20"/>
          <p:cNvSpPr/>
          <p:nvPr/>
        </p:nvSpPr>
        <p:spPr>
          <a:xfrm>
            <a:off x="7360920" y="2761488"/>
            <a:ext cx="434340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88936" y="2798064"/>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RAG: подаёт знание в контекст, но не меняет манеру модели</a:t>
            </a:r>
          </a:p>
        </p:txBody>
      </p:sp>
      <p:sp>
        <p:nvSpPr>
          <p:cNvPr id="23" name="Rectangle 22"/>
          <p:cNvSpPr/>
          <p:nvPr/>
        </p:nvSpPr>
        <p:spPr>
          <a:xfrm>
            <a:off x="502920" y="3364992"/>
            <a:ext cx="361188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6" y="3401568"/>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снизить стоимость / задержку на узкой задаче</a:t>
            </a:r>
          </a:p>
        </p:txBody>
      </p:sp>
      <p:sp>
        <p:nvSpPr>
          <p:cNvPr id="25" name="Rectangle 24"/>
          <p:cNvSpPr/>
          <p:nvPr/>
        </p:nvSpPr>
        <p:spPr>
          <a:xfrm>
            <a:off x="4114800" y="3364992"/>
            <a:ext cx="324612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42816" y="3401568"/>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дообучить учителя + дистилляция в ученика</a:t>
            </a:r>
          </a:p>
        </p:txBody>
      </p:sp>
      <p:sp>
        <p:nvSpPr>
          <p:cNvPr id="27" name="Rectangle 26"/>
          <p:cNvSpPr/>
          <p:nvPr/>
        </p:nvSpPr>
        <p:spPr>
          <a:xfrm>
            <a:off x="7360920" y="3364992"/>
            <a:ext cx="434340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88936" y="3401568"/>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две отдельные техники в связке; промпт/RAG не уменьшают размер модели</a:t>
            </a:r>
          </a:p>
        </p:txBody>
      </p:sp>
      <p:sp>
        <p:nvSpPr>
          <p:cNvPr id="29" name="Rectangle 28"/>
          <p:cNvSpPr/>
          <p:nvPr/>
        </p:nvSpPr>
        <p:spPr>
          <a:xfrm>
            <a:off x="502920" y="3968496"/>
            <a:ext cx="361188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936" y="4005072"/>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детерминированный, верифицируемый ответ</a:t>
            </a:r>
          </a:p>
        </p:txBody>
      </p:sp>
      <p:sp>
        <p:nvSpPr>
          <p:cNvPr id="31" name="Rectangle 30"/>
          <p:cNvSpPr/>
          <p:nvPr/>
        </p:nvSpPr>
        <p:spPr>
          <a:xfrm>
            <a:off x="4114800" y="3968496"/>
            <a:ext cx="324612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42816" y="4005072"/>
            <a:ext cx="2990087" cy="530352"/>
          </a:xfrm>
          <a:prstGeom prst="rect">
            <a:avLst/>
          </a:prstGeom>
          <a:noFill/>
        </p:spPr>
        <p:txBody>
          <a:bodyPr wrap="square" lIns="0" rIns="0" tIns="0" bIns="0" anchor="ctr">
            <a:spAutoFit/>
          </a:bodyPr>
          <a:lstStyle/>
          <a:p>
            <a:pPr algn="l">
              <a:lnSpc>
                <a:spcPct val="108000"/>
              </a:lnSpc>
            </a:pPr>
            <a:r>
              <a:rPr sz="1150" b="1" i="0">
                <a:solidFill>
                  <a:srgbClr val="21295C"/>
                </a:solidFill>
                <a:latin typeface="Arial"/>
              </a:rPr>
              <a:t>обычный код, без ИИ</a:t>
            </a:r>
          </a:p>
        </p:txBody>
      </p:sp>
      <p:sp>
        <p:nvSpPr>
          <p:cNvPr id="33" name="Rectangle 32"/>
          <p:cNvSpPr/>
          <p:nvPr/>
        </p:nvSpPr>
        <p:spPr>
          <a:xfrm>
            <a:off x="7360920" y="3968496"/>
            <a:ext cx="434340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88936" y="4005072"/>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ни RAG, ни FT: ИИ добавит недетерминизм без выигрыша</a:t>
            </a:r>
          </a:p>
        </p:txBody>
      </p:sp>
      <p:sp>
        <p:nvSpPr>
          <p:cNvPr id="35" name="Rounded Rectangle 34"/>
          <p:cNvSpPr/>
          <p:nvPr/>
        </p:nvSpPr>
        <p:spPr>
          <a:xfrm>
            <a:off x="502920" y="479145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 y="4846320"/>
            <a:ext cx="10799064" cy="80467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гибрид — норма</a:t>
            </a:r>
            <a:r>
              <a:rPr sz="702" baseline="30000" b="0" i="1">
                <a:latin typeface="Arial"/>
                <a:cs typeface="Arial"/>
                <a:ea typeface="Arial"/>
                <a:solidFill>
                  <a:srgbClr val="1C7293"/>
                </a:solidFill>
              </a:rPr>
              <a:t>[1]</a:t>
            </a:r>
            <a:r>
              <a:rPr sz="1350" b="1" i="0">
                <a:latin typeface="Arial"/>
                <a:cs typeface="Arial"/>
                <a:ea typeface="Arial"/>
                <a:solidFill>
                  <a:srgbClr val="21295C"/>
                </a:solidFill>
              </a:rPr>
              <a:t> ТАМ, где у задачи есть И проблема знания, И проблема поведения. Нет проблемы поведения — FT не нужен, даже когда есть RAG. Каждый компонент добавляется под своё требование — то же правило лестницы.</a:t>
            </a:r>
          </a:p>
        </p:txBody>
      </p:sp>
      <p:sp>
        <p:nvSpPr>
          <p:cNvPr id="37" name="TextBox 3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BigData Boutique — Fine-Tuning When RAG Isn't Enough</a:t>
            </a:r>
          </a:p>
        </p:txBody>
      </p:sp>
      <p:sp>
        <p:nvSpPr>
          <p:cNvPr id="38" name="TextBox 3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26 / 55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Дистилляция — не вид дообучения, а отдельная техника.</a:t>
            </a:r>
          </a:p>
        </p:txBody>
      </p:sp>
      <p:sp>
        <p:nvSpPr>
          <p:cNvPr id="3" name="TextBox 2"/>
          <p:cNvSpPr txBox="1"/>
          <p:nvPr/>
        </p:nvSpPr>
        <p:spPr>
          <a:xfrm>
            <a:off x="502920" y="1024128"/>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Дообучение (fine-tuning) меняет поведение модели. Дистилляция — сжатие: перенос умений большой модели в маленькую. Их часто путают, но это две таксономически разные операции</a:t>
            </a:r>
            <a:r>
              <a:rPr sz="702" baseline="30000" b="0" i="1">
                <a:latin typeface="Arial"/>
                <a:cs typeface="Arial"/>
                <a:ea typeface="Arial"/>
                <a:solidFill>
                  <a:srgbClr val="1C7293"/>
                </a:solidFill>
              </a:rPr>
              <a:t>[1,2]</a:t>
            </a:r>
            <a:r>
              <a:rPr sz="1350" b="0" i="1">
                <a:latin typeface="Arial"/>
                <a:cs typeface="Arial"/>
                <a:ea typeface="Arial"/>
                <a:solidFill>
                  <a:srgbClr val="065A82"/>
                </a:solidFill>
              </a:rPr>
              <a:t>, работающие в связке.</a:t>
            </a:r>
          </a:p>
        </p:txBody>
      </p:sp>
      <p:sp>
        <p:nvSpPr>
          <p:cNvPr id="4" name="Rounded Rectangle 3"/>
          <p:cNvSpPr/>
          <p:nvPr/>
        </p:nvSpPr>
        <p:spPr>
          <a:xfrm>
            <a:off x="502920" y="1737360"/>
            <a:ext cx="781812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2249424"/>
            <a:ext cx="1874519" cy="1371600"/>
          </a:xfrm>
          <a:prstGeom prst="roundRect">
            <a:avLst>
              <a:gd name="adj" fmla="val 8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teal.png"/>
          <p:cNvPicPr>
            <a:picLocks noChangeAspect="1"/>
          </p:cNvPicPr>
          <p:nvPr/>
        </p:nvPicPr>
        <p:blipFill>
          <a:blip r:embed="rId2"/>
          <a:stretch>
            <a:fillRect/>
          </a:stretch>
        </p:blipFill>
        <p:spPr>
          <a:xfrm>
            <a:off x="1531620" y="2359152"/>
            <a:ext cx="347472" cy="347472"/>
          </a:xfrm>
          <a:prstGeom prst="rect">
            <a:avLst/>
          </a:prstGeom>
        </p:spPr>
      </p:pic>
      <p:sp>
        <p:nvSpPr>
          <p:cNvPr id="7" name="TextBox 6"/>
          <p:cNvSpPr txBox="1"/>
          <p:nvPr/>
        </p:nvSpPr>
        <p:spPr>
          <a:xfrm>
            <a:off x="850392" y="2779776"/>
            <a:ext cx="1728216" cy="27432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Учитель</a:t>
            </a:r>
          </a:p>
        </p:txBody>
      </p:sp>
      <p:sp>
        <p:nvSpPr>
          <p:cNvPr id="8" name="TextBox 7"/>
          <p:cNvSpPr txBox="1"/>
          <p:nvPr/>
        </p:nvSpPr>
        <p:spPr>
          <a:xfrm>
            <a:off x="868680" y="3072384"/>
            <a:ext cx="1691639" cy="475488"/>
          </a:xfrm>
          <a:prstGeom prst="rect">
            <a:avLst/>
          </a:prstGeom>
          <a:noFill/>
        </p:spPr>
        <p:txBody>
          <a:bodyPr wrap="square" lIns="0" rIns="0" tIns="0" bIns="0" anchor="t">
            <a:spAutoFit/>
          </a:bodyPr>
          <a:lstStyle/>
          <a:p>
            <a:pPr algn="ctr">
              <a:lnSpc>
                <a:spcPct val="104000"/>
              </a:lnSpc>
            </a:pPr>
            <a:r>
              <a:rPr sz="1050" b="0" i="1">
                <a:solidFill>
                  <a:srgbClr val="5B6678"/>
                </a:solidFill>
                <a:latin typeface="Arial"/>
              </a:rPr>
              <a:t>большая, дообучена под задачу</a:t>
            </a:r>
          </a:p>
        </p:txBody>
      </p:sp>
      <p:sp>
        <p:nvSpPr>
          <p:cNvPr id="9" name="TextBox 8"/>
          <p:cNvSpPr txBox="1"/>
          <p:nvPr/>
        </p:nvSpPr>
        <p:spPr>
          <a:xfrm>
            <a:off x="2359152" y="1883664"/>
            <a:ext cx="1143000" cy="274320"/>
          </a:xfrm>
          <a:prstGeom prst="rect">
            <a:avLst/>
          </a:prstGeom>
          <a:noFill/>
        </p:spPr>
        <p:txBody>
          <a:bodyPr wrap="square" lIns="0" rIns="0" tIns="0" bIns="0" anchor="t">
            <a:spAutoFit/>
          </a:bodyPr>
          <a:lstStyle/>
          <a:p>
            <a:pPr algn="ctr">
              <a:lnSpc>
                <a:spcPct val="115000"/>
              </a:lnSpc>
            </a:pPr>
            <a:r>
              <a:rPr sz="1100" b="1" i="0">
                <a:solidFill>
                  <a:srgbClr val="065A82"/>
                </a:solidFill>
                <a:latin typeface="Arial"/>
              </a:rPr>
              <a:t>дистилляция</a:t>
            </a:r>
          </a:p>
        </p:txBody>
      </p:sp>
      <p:sp>
        <p:nvSpPr>
          <p:cNvPr id="10" name="Right Arrow 9"/>
          <p:cNvSpPr/>
          <p:nvPr/>
        </p:nvSpPr>
        <p:spPr>
          <a:xfrm>
            <a:off x="2706624" y="2779776"/>
            <a:ext cx="621792" cy="31089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383280" y="2432304"/>
            <a:ext cx="1874519" cy="1005840"/>
          </a:xfrm>
          <a:prstGeom prst="roundRect">
            <a:avLst>
              <a:gd name="adj" fmla="val 8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pu-gold.png"/>
          <p:cNvPicPr>
            <a:picLocks noChangeAspect="1"/>
          </p:cNvPicPr>
          <p:nvPr/>
        </p:nvPicPr>
        <p:blipFill>
          <a:blip r:embed="rId3"/>
          <a:stretch>
            <a:fillRect/>
          </a:stretch>
        </p:blipFill>
        <p:spPr>
          <a:xfrm>
            <a:off x="4165091" y="2505456"/>
            <a:ext cx="292608" cy="292608"/>
          </a:xfrm>
          <a:prstGeom prst="rect">
            <a:avLst/>
          </a:prstGeom>
        </p:spPr>
      </p:pic>
      <p:sp>
        <p:nvSpPr>
          <p:cNvPr id="13" name="TextBox 12"/>
          <p:cNvSpPr txBox="1"/>
          <p:nvPr/>
        </p:nvSpPr>
        <p:spPr>
          <a:xfrm>
            <a:off x="3456432" y="2852928"/>
            <a:ext cx="1728216" cy="27432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Ученик</a:t>
            </a:r>
          </a:p>
        </p:txBody>
      </p:sp>
      <p:sp>
        <p:nvSpPr>
          <p:cNvPr id="14" name="TextBox 13"/>
          <p:cNvSpPr txBox="1"/>
          <p:nvPr/>
        </p:nvSpPr>
        <p:spPr>
          <a:xfrm>
            <a:off x="3474720" y="3127248"/>
            <a:ext cx="1691639" cy="402336"/>
          </a:xfrm>
          <a:prstGeom prst="rect">
            <a:avLst/>
          </a:prstGeom>
          <a:noFill/>
        </p:spPr>
        <p:txBody>
          <a:bodyPr wrap="square" lIns="0" rIns="0" tIns="0" bIns="0" anchor="t">
            <a:spAutoFit/>
          </a:bodyPr>
          <a:lstStyle/>
          <a:p>
            <a:pPr algn="ctr">
              <a:lnSpc>
                <a:spcPct val="104000"/>
              </a:lnSpc>
            </a:pPr>
            <a:r>
              <a:rPr sz="1050" b="0" i="1">
                <a:solidFill>
                  <a:srgbClr val="5B6678"/>
                </a:solidFill>
                <a:latin typeface="Arial"/>
              </a:rPr>
              <a:t>маленькая, дешевле и быстрее</a:t>
            </a:r>
          </a:p>
        </p:txBody>
      </p:sp>
      <p:sp>
        <p:nvSpPr>
          <p:cNvPr id="15" name="TextBox 14"/>
          <p:cNvSpPr txBox="1"/>
          <p:nvPr/>
        </p:nvSpPr>
        <p:spPr>
          <a:xfrm>
            <a:off x="4965192" y="1883664"/>
            <a:ext cx="1143000" cy="274320"/>
          </a:xfrm>
          <a:prstGeom prst="rect">
            <a:avLst/>
          </a:prstGeom>
          <a:noFill/>
        </p:spPr>
        <p:txBody>
          <a:bodyPr wrap="square" lIns="0" rIns="0" tIns="0" bIns="0" anchor="t">
            <a:spAutoFit/>
          </a:bodyPr>
          <a:lstStyle/>
          <a:p>
            <a:pPr algn="ctr">
              <a:lnSpc>
                <a:spcPct val="115000"/>
              </a:lnSpc>
            </a:pPr>
            <a:r>
              <a:rPr sz="1100" b="1" i="0">
                <a:solidFill>
                  <a:srgbClr val="1C7293"/>
                </a:solidFill>
                <a:latin typeface="Arial"/>
              </a:rPr>
              <a:t>в бой →</a:t>
            </a:r>
          </a:p>
        </p:txBody>
      </p:sp>
      <p:sp>
        <p:nvSpPr>
          <p:cNvPr id="16" name="Right Arrow 15"/>
          <p:cNvSpPr/>
          <p:nvPr/>
        </p:nvSpPr>
        <p:spPr>
          <a:xfrm>
            <a:off x="5312664" y="2779776"/>
            <a:ext cx="621792" cy="31089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989320" y="2249424"/>
            <a:ext cx="1874519" cy="1371600"/>
          </a:xfrm>
          <a:prstGeom prst="roundRect">
            <a:avLst>
              <a:gd name="adj" fmla="val 8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target-mid.png"/>
          <p:cNvPicPr>
            <a:picLocks noChangeAspect="1"/>
          </p:cNvPicPr>
          <p:nvPr/>
        </p:nvPicPr>
        <p:blipFill>
          <a:blip r:embed="rId4"/>
          <a:stretch>
            <a:fillRect/>
          </a:stretch>
        </p:blipFill>
        <p:spPr>
          <a:xfrm>
            <a:off x="6743699" y="2359152"/>
            <a:ext cx="347472" cy="347472"/>
          </a:xfrm>
          <a:prstGeom prst="rect">
            <a:avLst/>
          </a:prstGeom>
        </p:spPr>
      </p:pic>
      <p:sp>
        <p:nvSpPr>
          <p:cNvPr id="19" name="TextBox 18"/>
          <p:cNvSpPr txBox="1"/>
          <p:nvPr/>
        </p:nvSpPr>
        <p:spPr>
          <a:xfrm>
            <a:off x="6062472" y="2779776"/>
            <a:ext cx="1728216" cy="27432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В бой</a:t>
            </a:r>
          </a:p>
        </p:txBody>
      </p:sp>
      <p:sp>
        <p:nvSpPr>
          <p:cNvPr id="20" name="TextBox 19"/>
          <p:cNvSpPr txBox="1"/>
          <p:nvPr/>
        </p:nvSpPr>
        <p:spPr>
          <a:xfrm>
            <a:off x="6080759" y="3072384"/>
            <a:ext cx="1691639" cy="475488"/>
          </a:xfrm>
          <a:prstGeom prst="rect">
            <a:avLst/>
          </a:prstGeom>
          <a:noFill/>
        </p:spPr>
        <p:txBody>
          <a:bodyPr wrap="square" lIns="0" rIns="0" tIns="0" bIns="0" anchor="t">
            <a:spAutoFit/>
          </a:bodyPr>
          <a:lstStyle/>
          <a:p>
            <a:pPr algn="ctr">
              <a:lnSpc>
                <a:spcPct val="104000"/>
              </a:lnSpc>
            </a:pPr>
            <a:r>
              <a:rPr sz="1050" b="0" i="1">
                <a:solidFill>
                  <a:srgbClr val="5B6678"/>
                </a:solidFill>
                <a:latin typeface="Arial"/>
              </a:rPr>
              <a:t>ниже стоимость и задержка</a:t>
            </a:r>
          </a:p>
        </p:txBody>
      </p:sp>
      <p:sp>
        <p:nvSpPr>
          <p:cNvPr id="21" name="Rounded Rectangle 20"/>
          <p:cNvSpPr/>
          <p:nvPr/>
        </p:nvSpPr>
        <p:spPr>
          <a:xfrm>
            <a:off x="8549640" y="1737360"/>
            <a:ext cx="3154680" cy="3730752"/>
          </a:xfrm>
          <a:prstGeom prst="roundRect">
            <a:avLst>
              <a:gd name="adj" fmla="val 96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14-yoda-ru.png"/>
          <p:cNvPicPr>
            <a:picLocks noChangeAspect="1"/>
          </p:cNvPicPr>
          <p:nvPr/>
        </p:nvPicPr>
        <p:blipFill>
          <a:blip r:embed="rId5"/>
          <a:stretch>
            <a:fillRect/>
          </a:stretch>
        </p:blipFill>
        <p:spPr>
          <a:xfrm>
            <a:off x="8677656" y="1936013"/>
            <a:ext cx="2898648" cy="3333445"/>
          </a:xfrm>
          <a:prstGeom prst="rect">
            <a:avLst/>
          </a:prstGeom>
        </p:spPr>
      </p:pic>
      <p:sp>
        <p:nvSpPr>
          <p:cNvPr id="23" name="Rounded Rectangle 22"/>
          <p:cNvSpPr/>
          <p:nvPr/>
        </p:nvSpPr>
        <p:spPr>
          <a:xfrm>
            <a:off x="502920" y="4169663"/>
            <a:ext cx="3840480"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4297679"/>
            <a:ext cx="3474720"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Дообучение отвечает на:</a:t>
            </a:r>
          </a:p>
        </p:txBody>
      </p:sp>
      <p:sp>
        <p:nvSpPr>
          <p:cNvPr id="25" name="TextBox 24"/>
          <p:cNvSpPr txBox="1"/>
          <p:nvPr/>
        </p:nvSpPr>
        <p:spPr>
          <a:xfrm>
            <a:off x="713232" y="4626864"/>
            <a:ext cx="3474720" cy="78638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«как модель себя ведёт» — тон, формат, политика. Меняет ВЕСА под поведение.</a:t>
            </a:r>
          </a:p>
        </p:txBody>
      </p:sp>
      <p:sp>
        <p:nvSpPr>
          <p:cNvPr id="26" name="Rounded Rectangle 25"/>
          <p:cNvSpPr/>
          <p:nvPr/>
        </p:nvSpPr>
        <p:spPr>
          <a:xfrm>
            <a:off x="4480560" y="4169663"/>
            <a:ext cx="3840480" cy="1298448"/>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90872" y="4297679"/>
            <a:ext cx="3474720"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Дистилляция отвечает на:</a:t>
            </a:r>
          </a:p>
        </p:txBody>
      </p:sp>
      <p:sp>
        <p:nvSpPr>
          <p:cNvPr id="28" name="TextBox 27"/>
          <p:cNvSpPr txBox="1"/>
          <p:nvPr/>
        </p:nvSpPr>
        <p:spPr>
          <a:xfrm>
            <a:off x="4690872" y="4626864"/>
            <a:ext cx="3474720" cy="78638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«как сделать модель дешевле» — тот же навык в меньшей модели. Это сжатие, не смена поведения.</a:t>
            </a:r>
          </a:p>
        </p:txBody>
      </p:sp>
      <p:sp>
        <p:nvSpPr>
          <p:cNvPr id="29" name="Rounded Rectangle 28"/>
          <p:cNvSpPr/>
          <p:nvPr/>
        </p:nvSpPr>
        <p:spPr>
          <a:xfrm>
            <a:off x="502920" y="5614416"/>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669279"/>
            <a:ext cx="10799064"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не пишите «дистилляция — это дообучение». В связке они идут так: сначала дообучить учителя (teacher) под задачу, потом дистиллировать в ученика (student) ради цены. Критерии «что куда» — на следующем слайде.</a:t>
            </a:r>
          </a:p>
        </p:txBody>
      </p:sp>
      <p:sp>
        <p:nvSpPr>
          <p:cNvPr id="31" name="TextBox 3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7"/>
              </a:rPr>
              <a:t>Hinton, Vinyals, Dean 2015 — Distilling the Knowledge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8"/>
              </a:rPr>
              <a:t>PEFT survey — таксономия методов настройки</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27 / 55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катастрофическое забывание.</a:t>
            </a:r>
          </a:p>
        </p:txBody>
      </p:sp>
      <p:sp>
        <p:nvSpPr>
          <p:cNvPr id="3" name="TextBox 2"/>
          <p:cNvSpPr txBox="1"/>
          <p:nvPr/>
        </p:nvSpPr>
        <p:spPr>
          <a:xfrm>
            <a:off x="502920" y="1060704"/>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Катастрофическое забывание (catastrophic forgetting) — деградация общих способностей модели в результате узкого агрессивного дообучения</a:t>
            </a:r>
            <a:r>
              <a:rPr sz="728" baseline="30000" b="0" i="1">
                <a:latin typeface="Arial"/>
                <a:cs typeface="Arial"/>
                <a:ea typeface="Arial"/>
                <a:solidFill>
                  <a:srgbClr val="1C7293"/>
                </a:solidFill>
              </a:rPr>
              <a:t>[1]</a:t>
            </a:r>
            <a:r>
              <a:rPr sz="1400" b="0" i="1">
                <a:latin typeface="Arial"/>
                <a:cs typeface="Arial"/>
                <a:ea typeface="Arial"/>
                <a:solidFill>
                  <a:srgbClr val="065A82"/>
                </a:solidFill>
              </a:rPr>
              <a:t>.</a:t>
            </a:r>
          </a:p>
        </p:txBody>
      </p:sp>
      <p:sp>
        <p:nvSpPr>
          <p:cNvPr id="4" name="Rounded Rectangle 3"/>
          <p:cNvSpPr/>
          <p:nvPr/>
        </p:nvSpPr>
        <p:spPr>
          <a:xfrm>
            <a:off x="502920" y="1755648"/>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16-forgetting.png"/>
          <p:cNvPicPr>
            <a:picLocks noChangeAspect="1"/>
          </p:cNvPicPr>
          <p:nvPr/>
        </p:nvPicPr>
        <p:blipFill>
          <a:blip r:embed="rId2"/>
          <a:stretch>
            <a:fillRect/>
          </a:stretch>
        </p:blipFill>
        <p:spPr>
          <a:xfrm>
            <a:off x="1350529" y="1901952"/>
            <a:ext cx="4751302" cy="2953512"/>
          </a:xfrm>
          <a:prstGeom prst="rect">
            <a:avLst/>
          </a:prstGeom>
        </p:spPr>
      </p:pic>
      <p:sp>
        <p:nvSpPr>
          <p:cNvPr id="6" name="TextBox 5"/>
          <p:cNvSpPr txBox="1"/>
          <p:nvPr/>
        </p:nvSpPr>
        <p:spPr>
          <a:xfrm>
            <a:off x="667512" y="5020055"/>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тяжелее с ростом масштаба модели — у крупной выше исходный уровень, ей «больше падать»</a:t>
            </a:r>
          </a:p>
        </p:txBody>
      </p:sp>
      <p:sp>
        <p:nvSpPr>
          <p:cNvPr id="7" name="Rounded Rectangle 6"/>
          <p:cNvSpPr/>
          <p:nvPr/>
        </p:nvSpPr>
        <p:spPr>
          <a:xfrm>
            <a:off x="7178040" y="1755648"/>
            <a:ext cx="452628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15783" y="1920240"/>
            <a:ext cx="4050791" cy="1828800"/>
          </a:xfrm>
          <a:prstGeom prst="rect">
            <a:avLst/>
          </a:prstGeom>
          <a:noFill/>
        </p:spPr>
        <p:txBody>
          <a:bodyPr wrap="square" lIns="0" rIns="0" tIns="0" bIns="0" anchor="t">
            <a:spAutoFit/>
          </a:bodyPr>
          <a:lstStyle/>
          <a:p>
            <a:pPr algn="l">
              <a:lnSpc>
                <a:spcPct val="120000"/>
              </a:lnSpc>
            </a:pPr>
            <a:r>
              <a:rPr sz="1350" b="1" i="0">
                <a:solidFill>
                  <a:srgbClr val="21295C"/>
                </a:solidFill>
                <a:latin typeface="Arial"/>
              </a:rPr>
              <a:t>Нет петли проверки (eval) на общих задачах + нет версий датасета/весов → не увидишь поломку до боевой эксплуатации + не сможешь откатиться → это не «риск», это критерий «НЕ делай дообучение»</a:t>
            </a:r>
          </a:p>
        </p:txBody>
      </p:sp>
      <p:sp>
        <p:nvSpPr>
          <p:cNvPr id="9" name="Rounded Rectangle 8"/>
          <p:cNvSpPr/>
          <p:nvPr/>
        </p:nvSpPr>
        <p:spPr>
          <a:xfrm>
            <a:off x="7178040" y="3995928"/>
            <a:ext cx="4526280" cy="100584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15783" y="4133087"/>
            <a:ext cx="4050791" cy="777240"/>
          </a:xfrm>
          <a:prstGeom prst="rect">
            <a:avLst/>
          </a:prstGeom>
          <a:noFill/>
        </p:spPr>
        <p:txBody>
          <a:bodyPr wrap="square" lIns="0" rIns="0" tIns="0" bIns="0" anchor="ctr">
            <a:spAutoFit/>
          </a:bodyPr>
          <a:lstStyle/>
          <a:p>
            <a:pPr algn="l">
              <a:lnSpc>
                <a:spcPct val="114000"/>
              </a:lnSpc>
            </a:pPr>
            <a:r>
              <a:rPr sz="1250" b="0" i="0">
                <a:solidFill>
                  <a:srgbClr val="21295C"/>
                </a:solidFill>
                <a:latin typeface="Arial"/>
              </a:rPr>
              <a:t>Правильно: PEFT (замороженные веса — ниже риск); для меняющегося знания — RAG, не FT вовсе.</a:t>
            </a:r>
          </a:p>
        </p:txBody>
      </p:sp>
      <p:sp>
        <p:nvSpPr>
          <p:cNvPr id="11" name="TextBox 1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Luo et al. 2023 — Catastrophic Forgetting in LLM Continual FT</a:t>
            </a:r>
            <a:r>
              <a:rPr sz="850" i="1">
                <a:solidFill>
                  <a:srgbClr val="5B6678"/>
                </a:solidFill>
                <a:latin typeface="Arial"/>
              </a:rPr>
              <a:t>   ·   Эмпирически наблюдается при постоянном дообучении (Luo et al. 2023). Механизмы — «исследования показывают» (препринт).</a:t>
            </a:r>
          </a:p>
        </p:txBody>
      </p:sp>
      <p:sp>
        <p:nvSpPr>
          <p:cNvPr id="12" name="TextBox 1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28 / 55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4-robot-arm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4</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4</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Агенты</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От собеседника в окне чата — к компоненту боевой системы: цикл, экипировка, память, доступ к инструментам — и где всё это ломается.</a:t>
            </a:r>
          </a:p>
        </p:txBody>
      </p:sp>
      <p:sp>
        <p:nvSpPr>
          <p:cNvPr id="8" name="Rounded Rectangle 7"/>
          <p:cNvSpPr/>
          <p:nvPr/>
        </p:nvSpPr>
        <p:spPr>
          <a:xfrm>
            <a:off x="713232" y="5212080"/>
            <a:ext cx="6053328"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агент + экипировка · 5 разборов · 4 провала</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29 / 55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Управляемая автоматизация была задолго до агентов.</a:t>
            </a:r>
          </a:p>
        </p:txBody>
      </p:sp>
      <p:sp>
        <p:nvSpPr>
          <p:cNvPr id="3" name="TextBox 2"/>
          <p:cNvSpPr txBox="1"/>
          <p:nvPr/>
        </p:nvSpPr>
        <p:spPr>
          <a:xfrm>
            <a:off x="502920" y="1042415"/>
            <a:ext cx="11201400" cy="548640"/>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«Агент» звучит как изобретение эпохи больших моделей, но управляемая автоматизация процессов — зрелая дисциплина. Без неё не оценить, что агент добавляет, а что ломает.</a:t>
            </a:r>
          </a:p>
        </p:txBody>
      </p:sp>
      <p:sp>
        <p:nvSpPr>
          <p:cNvPr id="4" name="Rounded Rectangle 3"/>
          <p:cNvSpPr/>
          <p:nvPr/>
        </p:nvSpPr>
        <p:spPr>
          <a:xfrm>
            <a:off x="502920"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ypoints-mid.png"/>
          <p:cNvPicPr>
            <a:picLocks noChangeAspect="1"/>
          </p:cNvPicPr>
          <p:nvPr/>
        </p:nvPicPr>
        <p:blipFill>
          <a:blip r:embed="rId2"/>
          <a:stretch>
            <a:fillRect/>
          </a:stretch>
        </p:blipFill>
        <p:spPr>
          <a:xfrm>
            <a:off x="758952" y="1920240"/>
            <a:ext cx="493776" cy="493776"/>
          </a:xfrm>
          <a:prstGeom prst="rect">
            <a:avLst/>
          </a:prstGeom>
        </p:spPr>
      </p:pic>
      <p:sp>
        <p:nvSpPr>
          <p:cNvPr id="6" name="TextBox 5"/>
          <p:cNvSpPr txBox="1"/>
          <p:nvPr/>
        </p:nvSpPr>
        <p:spPr>
          <a:xfrm>
            <a:off x="758952"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Конечный автомат</a:t>
            </a:r>
          </a:p>
        </p:txBody>
      </p:sp>
      <p:sp>
        <p:nvSpPr>
          <p:cNvPr id="7" name="TextBox 6"/>
          <p:cNvSpPr txBox="1"/>
          <p:nvPr/>
        </p:nvSpPr>
        <p:spPr>
          <a:xfrm>
            <a:off x="758952"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Набор состояний и правил перехода по событиям («создана → в обработке → закрыта»). Возможные переходы видны, невозможные исключены конструктивно.</a:t>
            </a:r>
          </a:p>
        </p:txBody>
      </p:sp>
      <p:sp>
        <p:nvSpPr>
          <p:cNvPr id="8" name="Rounded Rectangle 7"/>
          <p:cNvSpPr/>
          <p:nvPr/>
        </p:nvSpPr>
        <p:spPr>
          <a:xfrm>
            <a:off x="4309872"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branch-mid.png"/>
          <p:cNvPicPr>
            <a:picLocks noChangeAspect="1"/>
          </p:cNvPicPr>
          <p:nvPr/>
        </p:nvPicPr>
        <p:blipFill>
          <a:blip r:embed="rId3"/>
          <a:stretch>
            <a:fillRect/>
          </a:stretch>
        </p:blipFill>
        <p:spPr>
          <a:xfrm>
            <a:off x="4565904" y="1920240"/>
            <a:ext cx="493776" cy="493776"/>
          </a:xfrm>
          <a:prstGeom prst="rect">
            <a:avLst/>
          </a:prstGeom>
        </p:spPr>
      </p:pic>
      <p:sp>
        <p:nvSpPr>
          <p:cNvPr id="10" name="TextBox 9"/>
          <p:cNvSpPr txBox="1"/>
          <p:nvPr/>
        </p:nvSpPr>
        <p:spPr>
          <a:xfrm>
            <a:off x="4565904"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Workflow-движки</a:t>
            </a:r>
          </a:p>
        </p:txBody>
      </p:sp>
      <p:sp>
        <p:nvSpPr>
          <p:cNvPr id="11" name="TextBox 10"/>
          <p:cNvSpPr txBox="1"/>
          <p:nvPr/>
        </p:nvSpPr>
        <p:spPr>
          <a:xfrm>
            <a:off x="4565904"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Исполняют заранее описанный процесс по фиксированной схеме: BPMN, DAG-оркестраторы (Airflow), RPA. Порядок шагов определён заранее, а не на лету.</a:t>
            </a:r>
          </a:p>
        </p:txBody>
      </p:sp>
      <p:sp>
        <p:nvSpPr>
          <p:cNvPr id="12" name="Rounded Rectangle 11"/>
          <p:cNvSpPr/>
          <p:nvPr/>
        </p:nvSpPr>
        <p:spPr>
          <a:xfrm>
            <a:off x="8116824"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oute-mid.png"/>
          <p:cNvPicPr>
            <a:picLocks noChangeAspect="1"/>
          </p:cNvPicPr>
          <p:nvPr/>
        </p:nvPicPr>
        <p:blipFill>
          <a:blip r:embed="rId4"/>
          <a:stretch>
            <a:fillRect/>
          </a:stretch>
        </p:blipFill>
        <p:spPr>
          <a:xfrm>
            <a:off x="8372856" y="1920240"/>
            <a:ext cx="493776" cy="493776"/>
          </a:xfrm>
          <a:prstGeom prst="rect">
            <a:avLst/>
          </a:prstGeom>
        </p:spPr>
      </p:pic>
      <p:sp>
        <p:nvSpPr>
          <p:cNvPr id="14" name="TextBox 13"/>
          <p:cNvSpPr txBox="1"/>
          <p:nvPr/>
        </p:nvSpPr>
        <p:spPr>
          <a:xfrm>
            <a:off x="8372856"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Управляющий цикл</a:t>
            </a:r>
          </a:p>
        </p:txBody>
      </p:sp>
      <p:sp>
        <p:nvSpPr>
          <p:cNvPr id="15" name="TextBox 14"/>
          <p:cNvSpPr txBox="1"/>
          <p:nvPr/>
        </p:nvSpPr>
        <p:spPr>
          <a:xfrm>
            <a:off x="8372856"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plan → act → check как контур обратной связи (теория управления, АСУ); военный аналог — OODA-петля. Не одно действие, а цикл с коррекцией.</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Детерминированные workflow где можно; идемпотентность (повтор шага не ломает состояние); принцип наименьших привилегий (least-privilege) для инструментов; лимиты и аудит цикла. Практики надёжности контура никуда не деваются.</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LLM-агент — тот же управляющий цикл plan→act→check, но шаги в нём генерирует модель недетерминированно, а не выбирает фиксированное правило автомата. Отсюда и гибкость, и провалы раздела.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30 / 55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Модель становится компонентом системы: API + MCP.</a:t>
            </a:r>
          </a:p>
        </p:txBody>
      </p:sp>
      <p:sp>
        <p:nvSpPr>
          <p:cNvPr id="3" name="Rounded Rectangle 2"/>
          <p:cNvSpPr/>
          <p:nvPr/>
        </p:nvSpPr>
        <p:spPr>
          <a:xfrm>
            <a:off x="502920"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4088"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xes-white.png"/>
          <p:cNvPicPr>
            <a:picLocks noChangeAspect="1"/>
          </p:cNvPicPr>
          <p:nvPr/>
        </p:nvPicPr>
        <p:blipFill>
          <a:blip r:embed="rId2"/>
          <a:stretch>
            <a:fillRect/>
          </a:stretch>
        </p:blipFill>
        <p:spPr>
          <a:xfrm>
            <a:off x="758952" y="1280160"/>
            <a:ext cx="402336" cy="402336"/>
          </a:xfrm>
          <a:prstGeom prst="rect">
            <a:avLst/>
          </a:prstGeom>
        </p:spPr>
      </p:pic>
      <p:sp>
        <p:nvSpPr>
          <p:cNvPr id="6" name="TextBox 5"/>
          <p:cNvSpPr txBox="1"/>
          <p:nvPr/>
        </p:nvSpPr>
        <p:spPr>
          <a:xfrm>
            <a:off x="1325880"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Структурированный вывод</a:t>
            </a:r>
          </a:p>
        </p:txBody>
      </p:sp>
      <p:sp>
        <p:nvSpPr>
          <p:cNvPr id="7" name="TextBox 6"/>
          <p:cNvSpPr txBox="1"/>
          <p:nvPr/>
        </p:nvSpPr>
        <p:spPr>
          <a:xfrm>
            <a:off x="722376"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выход строго по схеме (JSON), не текст для разбора</a:t>
            </a:r>
          </a:p>
        </p:txBody>
      </p:sp>
      <p:sp>
        <p:nvSpPr>
          <p:cNvPr id="8" name="Rounded Rectangle 7"/>
          <p:cNvSpPr/>
          <p:nvPr/>
        </p:nvSpPr>
        <p:spPr>
          <a:xfrm>
            <a:off x="722376"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встраиваемая</a:t>
            </a:r>
          </a:p>
        </p:txBody>
      </p:sp>
      <p:sp>
        <p:nvSpPr>
          <p:cNvPr id="9" name="Rounded Rectangle 8"/>
          <p:cNvSpPr/>
          <p:nvPr/>
        </p:nvSpPr>
        <p:spPr>
          <a:xfrm>
            <a:off x="4279392"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80559"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erminal-white.png"/>
          <p:cNvPicPr>
            <a:picLocks noChangeAspect="1"/>
          </p:cNvPicPr>
          <p:nvPr/>
        </p:nvPicPr>
        <p:blipFill>
          <a:blip r:embed="rId3"/>
          <a:stretch>
            <a:fillRect/>
          </a:stretch>
        </p:blipFill>
        <p:spPr>
          <a:xfrm>
            <a:off x="4535424" y="1280160"/>
            <a:ext cx="402336" cy="402336"/>
          </a:xfrm>
          <a:prstGeom prst="rect">
            <a:avLst/>
          </a:prstGeom>
        </p:spPr>
      </p:pic>
      <p:sp>
        <p:nvSpPr>
          <p:cNvPr id="12" name="TextBox 11"/>
          <p:cNvSpPr txBox="1"/>
          <p:nvPr/>
        </p:nvSpPr>
        <p:spPr>
          <a:xfrm>
            <a:off x="5102352"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Вызов инструментов</a:t>
            </a:r>
          </a:p>
        </p:txBody>
      </p:sp>
      <p:sp>
        <p:nvSpPr>
          <p:cNvPr id="13" name="TextBox 12"/>
          <p:cNvSpPr txBox="1"/>
          <p:nvPr/>
        </p:nvSpPr>
        <p:spPr>
          <a:xfrm>
            <a:off x="4498848"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модель формулирует «вызови X»; исполняет ваш код, не модель</a:t>
            </a:r>
          </a:p>
        </p:txBody>
      </p:sp>
      <p:sp>
        <p:nvSpPr>
          <p:cNvPr id="14" name="Rounded Rectangle 13"/>
          <p:cNvSpPr/>
          <p:nvPr/>
        </p:nvSpPr>
        <p:spPr>
          <a:xfrm>
            <a:off x="4498848"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активная</a:t>
            </a:r>
          </a:p>
        </p:txBody>
      </p:sp>
      <p:sp>
        <p:nvSpPr>
          <p:cNvPr id="15" name="Rounded Rectangle 14"/>
          <p:cNvSpPr/>
          <p:nvPr/>
        </p:nvSpPr>
        <p:spPr>
          <a:xfrm>
            <a:off x="8055863"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57031"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atabase-white.png"/>
          <p:cNvPicPr>
            <a:picLocks noChangeAspect="1"/>
          </p:cNvPicPr>
          <p:nvPr/>
        </p:nvPicPr>
        <p:blipFill>
          <a:blip r:embed="rId4"/>
          <a:stretch>
            <a:fillRect/>
          </a:stretch>
        </p:blipFill>
        <p:spPr>
          <a:xfrm>
            <a:off x="8311895" y="1280160"/>
            <a:ext cx="402336" cy="402336"/>
          </a:xfrm>
          <a:prstGeom prst="rect">
            <a:avLst/>
          </a:prstGeom>
        </p:spPr>
      </p:pic>
      <p:sp>
        <p:nvSpPr>
          <p:cNvPr id="18" name="TextBox 17"/>
          <p:cNvSpPr txBox="1"/>
          <p:nvPr/>
        </p:nvSpPr>
        <p:spPr>
          <a:xfrm>
            <a:off x="8878824"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Кэш промптов</a:t>
            </a:r>
          </a:p>
        </p:txBody>
      </p:sp>
      <p:sp>
        <p:nvSpPr>
          <p:cNvPr id="19" name="TextBox 18"/>
          <p:cNvSpPr txBox="1"/>
          <p:nvPr/>
        </p:nvSpPr>
        <p:spPr>
          <a:xfrm>
            <a:off x="8275319"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не пересчитывать неизменный префикс при каждом запросе</a:t>
            </a:r>
          </a:p>
        </p:txBody>
      </p:sp>
      <p:sp>
        <p:nvSpPr>
          <p:cNvPr id="20" name="Rounded Rectangle 19"/>
          <p:cNvSpPr/>
          <p:nvPr/>
        </p:nvSpPr>
        <p:spPr>
          <a:xfrm>
            <a:off x="8275319"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экономичная</a:t>
            </a:r>
          </a:p>
        </p:txBody>
      </p:sp>
      <p:sp>
        <p:nvSpPr>
          <p:cNvPr id="21" name="Rounded Rectangle 20"/>
          <p:cNvSpPr/>
          <p:nvPr/>
        </p:nvSpPr>
        <p:spPr>
          <a:xfrm>
            <a:off x="502920" y="3072384"/>
            <a:ext cx="598932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able-mid.png"/>
          <p:cNvPicPr>
            <a:picLocks noChangeAspect="1"/>
          </p:cNvPicPr>
          <p:nvPr/>
        </p:nvPicPr>
        <p:blipFill>
          <a:blip r:embed="rId5"/>
          <a:stretch>
            <a:fillRect/>
          </a:stretch>
        </p:blipFill>
        <p:spPr>
          <a:xfrm>
            <a:off x="731520" y="3255264"/>
            <a:ext cx="438912" cy="438912"/>
          </a:xfrm>
          <a:prstGeom prst="rect">
            <a:avLst/>
          </a:prstGeom>
        </p:spPr>
      </p:pic>
      <p:sp>
        <p:nvSpPr>
          <p:cNvPr id="23" name="TextBox 22"/>
          <p:cNvSpPr txBox="1"/>
          <p:nvPr/>
        </p:nvSpPr>
        <p:spPr>
          <a:xfrm>
            <a:off x="1280160" y="3273552"/>
            <a:ext cx="5029200" cy="457200"/>
          </a:xfrm>
          <a:prstGeom prst="rect">
            <a:avLst/>
          </a:prstGeom>
          <a:noFill/>
        </p:spPr>
        <p:txBody>
          <a:bodyPr wrap="square" lIns="0" rIns="0" tIns="0" bIns="0" anchor="ctr">
            <a:spAutoFit/>
          </a:bodyPr>
          <a:lstStyle/>
          <a:p>
            <a:pPr algn="l">
              <a:lnSpc>
                <a:spcPct val="115000"/>
              </a:lnSpc>
            </a:pPr>
            <a:r>
              <a:rPr sz="1800" b="1" i="0">
                <a:solidFill>
                  <a:srgbClr val="065A82"/>
                </a:solidFill>
                <a:latin typeface="Arial"/>
              </a:rPr>
              <a:t>MCP</a:t>
            </a:r>
            <a:r>
              <a:rPr sz="1400" b="0" i="0">
                <a:solidFill>
                  <a:srgbClr val="21295C"/>
                </a:solidFill>
                <a:latin typeface="Arial"/>
              </a:rPr>
              <a:t>  — «USB-C для инструментов LLM»</a:t>
            </a:r>
          </a:p>
        </p:txBody>
      </p:sp>
      <p:sp>
        <p:nvSpPr>
          <p:cNvPr id="24" name="TextBox 23"/>
          <p:cNvSpPr txBox="1"/>
          <p:nvPr/>
        </p:nvSpPr>
        <p:spPr>
          <a:xfrm>
            <a:off x="731520" y="3822191"/>
            <a:ext cx="5486400" cy="457200"/>
          </a:xfrm>
          <a:prstGeom prst="rect">
            <a:avLst/>
          </a:prstGeom>
          <a:noFill/>
        </p:spPr>
        <p:txBody>
          <a:bodyPr wrap="square" lIns="0" rIns="0" tIns="0" bIns="0" anchor="ctr">
            <a:spAutoFit/>
          </a:bodyPr>
          <a:lstStyle/>
          <a:p>
            <a:pPr algn="l">
              <a:lnSpc>
                <a:spcPct val="115000"/>
              </a:lnSpc>
            </a:pPr>
            <a:r>
              <a:rPr sz="2000" b="1" i="0">
                <a:solidFill>
                  <a:srgbClr val="1C7293"/>
                </a:solidFill>
                <a:latin typeface="Arial"/>
              </a:rPr>
              <a:t>N×M</a:t>
            </a:r>
            <a:r>
              <a:rPr sz="1300" b="0" i="0">
                <a:solidFill>
                  <a:srgbClr val="21295C"/>
                </a:solidFill>
                <a:latin typeface="Arial"/>
              </a:rPr>
              <a:t> несовместимых интеграций → </a:t>
            </a:r>
            <a:r>
              <a:rPr sz="2000" b="1" i="0">
                <a:solidFill>
                  <a:srgbClr val="028090"/>
                </a:solidFill>
                <a:latin typeface="Arial"/>
              </a:rPr>
              <a:t>N+M</a:t>
            </a:r>
            <a:r>
              <a:rPr sz="1040" baseline="30000" b="0" i="1">
                <a:latin typeface="Arial"/>
                <a:cs typeface="Arial"/>
                <a:ea typeface="Arial"/>
                <a:solidFill>
                  <a:srgbClr val="1C7293"/>
                </a:solidFill>
              </a:rPr>
              <a:t>[1]</a:t>
            </a:r>
          </a:p>
        </p:txBody>
      </p:sp>
      <p:sp>
        <p:nvSpPr>
          <p:cNvPr id="25" name="TextBox 24"/>
          <p:cNvSpPr txBox="1"/>
          <p:nvPr/>
        </p:nvSpPr>
        <p:spPr>
          <a:xfrm>
            <a:off x="731520" y="4315968"/>
            <a:ext cx="5486400" cy="292608"/>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инструмент один раз = MCP-сервер; модель один раз = MCP-клиент</a:t>
            </a:r>
          </a:p>
        </p:txBody>
      </p:sp>
      <p:pic>
        <p:nvPicPr>
          <p:cNvPr id="26" name="Picture 25" descr="logo-anthropic.png"/>
          <p:cNvPicPr>
            <a:picLocks noChangeAspect="1"/>
          </p:cNvPicPr>
          <p:nvPr/>
        </p:nvPicPr>
        <p:blipFill>
          <a:blip r:embed="rId6"/>
          <a:stretch>
            <a:fillRect/>
          </a:stretch>
        </p:blipFill>
        <p:spPr>
          <a:xfrm>
            <a:off x="731520" y="4736592"/>
            <a:ext cx="310896" cy="310896"/>
          </a:xfrm>
          <a:prstGeom prst="rect">
            <a:avLst/>
          </a:prstGeom>
        </p:spPr>
      </p:pic>
      <p:sp>
        <p:nvSpPr>
          <p:cNvPr id="27" name="TextBox 26"/>
          <p:cNvSpPr txBox="1"/>
          <p:nvPr/>
        </p:nvSpPr>
        <p:spPr>
          <a:xfrm>
            <a:off x="11155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Anthropic</a:t>
            </a:r>
          </a:p>
        </p:txBody>
      </p:sp>
      <p:sp>
        <p:nvSpPr>
          <p:cNvPr id="28" name="TextBox 27"/>
          <p:cNvSpPr txBox="1"/>
          <p:nvPr/>
        </p:nvSpPr>
        <p:spPr>
          <a:xfrm>
            <a:off x="11155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11/2024</a:t>
            </a:r>
          </a:p>
        </p:txBody>
      </p:sp>
      <p:sp>
        <p:nvSpPr>
          <p:cNvPr id="29" name="TextBox 28"/>
          <p:cNvSpPr txBox="1"/>
          <p:nvPr/>
        </p:nvSpPr>
        <p:spPr>
          <a:xfrm>
            <a:off x="2304288" y="4736592"/>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30" name="Picture 29" descr="logo-openai.png"/>
          <p:cNvPicPr>
            <a:picLocks noChangeAspect="1"/>
          </p:cNvPicPr>
          <p:nvPr/>
        </p:nvPicPr>
        <p:blipFill>
          <a:blip r:embed="rId7"/>
          <a:stretch>
            <a:fillRect/>
          </a:stretch>
        </p:blipFill>
        <p:spPr>
          <a:xfrm>
            <a:off x="2560320" y="4736592"/>
            <a:ext cx="310896" cy="310896"/>
          </a:xfrm>
          <a:prstGeom prst="rect">
            <a:avLst/>
          </a:prstGeom>
        </p:spPr>
      </p:pic>
      <p:sp>
        <p:nvSpPr>
          <p:cNvPr id="31" name="TextBox 30"/>
          <p:cNvSpPr txBox="1"/>
          <p:nvPr/>
        </p:nvSpPr>
        <p:spPr>
          <a:xfrm>
            <a:off x="29443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OpenAI</a:t>
            </a:r>
          </a:p>
        </p:txBody>
      </p:sp>
      <p:sp>
        <p:nvSpPr>
          <p:cNvPr id="32" name="TextBox 31"/>
          <p:cNvSpPr txBox="1"/>
          <p:nvPr/>
        </p:nvSpPr>
        <p:spPr>
          <a:xfrm>
            <a:off x="29443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03/2025</a:t>
            </a:r>
          </a:p>
        </p:txBody>
      </p:sp>
      <p:sp>
        <p:nvSpPr>
          <p:cNvPr id="33" name="TextBox 32"/>
          <p:cNvSpPr txBox="1"/>
          <p:nvPr/>
        </p:nvSpPr>
        <p:spPr>
          <a:xfrm>
            <a:off x="4133087" y="4736592"/>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34" name="Picture 33" descr="logo-gemini.png"/>
          <p:cNvPicPr>
            <a:picLocks noChangeAspect="1"/>
          </p:cNvPicPr>
          <p:nvPr/>
        </p:nvPicPr>
        <p:blipFill>
          <a:blip r:embed="rId8"/>
          <a:stretch>
            <a:fillRect/>
          </a:stretch>
        </p:blipFill>
        <p:spPr>
          <a:xfrm>
            <a:off x="4389120" y="4736592"/>
            <a:ext cx="310896" cy="310896"/>
          </a:xfrm>
          <a:prstGeom prst="rect">
            <a:avLst/>
          </a:prstGeom>
        </p:spPr>
      </p:pic>
      <p:sp>
        <p:nvSpPr>
          <p:cNvPr id="35" name="TextBox 34"/>
          <p:cNvSpPr txBox="1"/>
          <p:nvPr/>
        </p:nvSpPr>
        <p:spPr>
          <a:xfrm>
            <a:off x="47731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Google</a:t>
            </a:r>
          </a:p>
        </p:txBody>
      </p:sp>
      <p:sp>
        <p:nvSpPr>
          <p:cNvPr id="36" name="TextBox 35"/>
          <p:cNvSpPr txBox="1"/>
          <p:nvPr/>
        </p:nvSpPr>
        <p:spPr>
          <a:xfrm>
            <a:off x="47731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04/2025</a:t>
            </a:r>
          </a:p>
        </p:txBody>
      </p:sp>
      <p:sp>
        <p:nvSpPr>
          <p:cNvPr id="37" name="Rounded Rectangle 36"/>
          <p:cNvSpPr/>
          <p:nvPr/>
        </p:nvSpPr>
        <p:spPr>
          <a:xfrm>
            <a:off x="6629400" y="3072384"/>
            <a:ext cx="5074920" cy="2331720"/>
          </a:xfrm>
          <a:prstGeom prst="roundRect">
            <a:avLst>
              <a:gd name="adj" fmla="val 1307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76288" y="3236976"/>
            <a:ext cx="4663440" cy="658368"/>
          </a:xfrm>
          <a:prstGeom prst="rect">
            <a:avLst/>
          </a:prstGeom>
          <a:noFill/>
        </p:spPr>
        <p:txBody>
          <a:bodyPr wrap="square" lIns="0" rIns="0" tIns="0" bIns="0" anchor="t">
            <a:spAutoFit/>
          </a:bodyPr>
          <a:lstStyle/>
          <a:p>
            <a:pPr algn="l">
              <a:lnSpc>
                <a:spcPct val="114000"/>
              </a:lnSpc>
            </a:pPr>
            <a:r>
              <a:rPr sz="1350" b="1" i="0">
                <a:solidFill>
                  <a:srgbClr val="028090"/>
                </a:solidFill>
                <a:latin typeface="Arial"/>
              </a:rPr>
              <a:t>Стандартизация подключения ≠ безопасность подключаемого — и усугубляет проблему доверия.</a:t>
            </a:r>
          </a:p>
        </p:txBody>
      </p:sp>
      <p:sp>
        <p:nvSpPr>
          <p:cNvPr id="39" name="Oval 38"/>
          <p:cNvSpPr/>
          <p:nvPr/>
        </p:nvSpPr>
        <p:spPr>
          <a:xfrm>
            <a:off x="6894576" y="408736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95744" y="4041648"/>
            <a:ext cx="4572000" cy="438912"/>
          </a:xfrm>
          <a:prstGeom prst="rect">
            <a:avLst/>
          </a:prstGeom>
          <a:noFill/>
        </p:spPr>
        <p:txBody>
          <a:bodyPr wrap="square" lIns="0" rIns="0" tIns="0" bIns="0" anchor="t">
            <a:spAutoFit/>
          </a:bodyPr>
          <a:lstStyle/>
          <a:p>
            <a:pPr algn="l">
              <a:lnSpc>
                <a:spcPct val="110000"/>
              </a:lnSpc>
            </a:pPr>
            <a:r>
              <a:rPr sz="1250" b="0" i="0">
                <a:solidFill>
                  <a:srgbClr val="21295C"/>
                </a:solidFill>
                <a:latin typeface="Arial"/>
              </a:rPr>
              <a:t>код в вашем окружении / доступ к данным</a:t>
            </a:r>
          </a:p>
        </p:txBody>
      </p:sp>
      <p:sp>
        <p:nvSpPr>
          <p:cNvPr id="41" name="Oval 40"/>
          <p:cNvSpPr/>
          <p:nvPr/>
        </p:nvSpPr>
        <p:spPr>
          <a:xfrm>
            <a:off x="6894576" y="4562855"/>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095744" y="4517136"/>
            <a:ext cx="4572000" cy="438912"/>
          </a:xfrm>
          <a:prstGeom prst="rect">
            <a:avLst/>
          </a:prstGeom>
          <a:noFill/>
        </p:spPr>
        <p:txBody>
          <a:bodyPr wrap="square" lIns="0" rIns="0" tIns="0" bIns="0" anchor="t">
            <a:spAutoFit/>
          </a:bodyPr>
          <a:lstStyle/>
          <a:p>
            <a:pPr algn="l">
              <a:lnSpc>
                <a:spcPct val="110000"/>
              </a:lnSpc>
            </a:pPr>
            <a:r>
              <a:rPr sz="1250" b="0" i="0">
                <a:solidFill>
                  <a:srgbClr val="21295C"/>
                </a:solidFill>
                <a:latin typeface="Arial"/>
              </a:rPr>
              <a:t>описание попадает в контекст — носитель инъекции в промпт</a:t>
            </a:r>
          </a:p>
        </p:txBody>
      </p:sp>
      <p:sp>
        <p:nvSpPr>
          <p:cNvPr id="43" name="Rounded Rectangle 42"/>
          <p:cNvSpPr/>
          <p:nvPr/>
        </p:nvSpPr>
        <p:spPr>
          <a:xfrm>
            <a:off x="502920" y="5541264"/>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4088" y="5596127"/>
            <a:ext cx="10799064" cy="62179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Ни один механизм не делает модель надёжнее — правило лестницы не отменяется. Удобство подключения — не аргумент за подключение.</a:t>
            </a:r>
          </a:p>
        </p:txBody>
      </p:sp>
      <p:sp>
        <p:nvSpPr>
          <p:cNvPr id="45" name="TextBox 4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10"/>
              </a:rPr>
              <a:t>Anthropic — MCP donation / Agentic AI Foundation (N×M→N+M)</a:t>
            </a:r>
            <a:r>
              <a:rPr sz="850" i="1">
                <a:solidFill>
                  <a:srgbClr val="5B6678"/>
                </a:solidFill>
                <a:latin typeface="Arial"/>
              </a:rPr>
              <a:t>   ·   Актуальные цифры экономии и масштаб экосистемы MCP — см. источники.</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31 / 55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Агент — это не «чат подороже». Это другой порядок цены.</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База сравнения — один chat-turn (десятки центов). Каждая ступень вверх умножает расход токенов, а не прибавляет его.</a:t>
            </a:r>
          </a:p>
        </p:txBody>
      </p:sp>
      <p:sp>
        <p:nvSpPr>
          <p:cNvPr id="4" name="Rounded Rectangle 3"/>
          <p:cNvSpPr/>
          <p:nvPr/>
        </p:nvSpPr>
        <p:spPr>
          <a:xfrm>
            <a:off x="502920" y="1700784"/>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10512"/>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Один вызов LLM (chat)</a:t>
            </a:r>
          </a:p>
        </p:txBody>
      </p:sp>
      <p:sp>
        <p:nvSpPr>
          <p:cNvPr id="6" name="TextBox 5"/>
          <p:cNvSpPr txBox="1"/>
          <p:nvPr/>
        </p:nvSpPr>
        <p:spPr>
          <a:xfrm>
            <a:off x="722376" y="2194560"/>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базовая стоимость запроса</a:t>
            </a:r>
          </a:p>
        </p:txBody>
      </p:sp>
      <p:sp>
        <p:nvSpPr>
          <p:cNvPr id="7" name="Rounded Rectangle 6"/>
          <p:cNvSpPr/>
          <p:nvPr/>
        </p:nvSpPr>
        <p:spPr>
          <a:xfrm>
            <a:off x="3931920" y="1975104"/>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931920" y="1975104"/>
            <a:ext cx="865022" cy="365760"/>
          </a:xfrm>
          <a:prstGeom prst="roundRect">
            <a:avLst>
              <a:gd name="adj" fmla="val 3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562502" y="1901952"/>
            <a:ext cx="1188720" cy="51206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FFFFFF"/>
                </a:solidFill>
                <a:latin typeface="Arial"/>
              </a:rPr>
              <a:t>×1</a:t>
            </a:r>
          </a:p>
        </p:txBody>
      </p:sp>
      <p:sp>
        <p:nvSpPr>
          <p:cNvPr id="10" name="Rounded Rectangle 9"/>
          <p:cNvSpPr/>
          <p:nvPr/>
        </p:nvSpPr>
        <p:spPr>
          <a:xfrm>
            <a:off x="502920" y="2743200"/>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2852928"/>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Одиночный агент (цикл)</a:t>
            </a:r>
          </a:p>
        </p:txBody>
      </p:sp>
      <p:sp>
        <p:nvSpPr>
          <p:cNvPr id="12" name="TextBox 11"/>
          <p:cNvSpPr txBox="1"/>
          <p:nvPr/>
        </p:nvSpPr>
        <p:spPr>
          <a:xfrm>
            <a:off x="722376" y="3236976"/>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план→действие→проверка→повтор: много проходов на задачу</a:t>
            </a:r>
          </a:p>
        </p:txBody>
      </p:sp>
      <p:sp>
        <p:nvSpPr>
          <p:cNvPr id="13" name="Rounded Rectangle 12"/>
          <p:cNvSpPr/>
          <p:nvPr/>
        </p:nvSpPr>
        <p:spPr>
          <a:xfrm>
            <a:off x="3931920" y="3017520"/>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931920" y="3017520"/>
            <a:ext cx="2830982" cy="36576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528462" y="2944368"/>
            <a:ext cx="1188720" cy="51206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FFFFFF"/>
                </a:solidFill>
                <a:latin typeface="Arial"/>
              </a:rPr>
              <a:t>≈50×</a:t>
            </a:r>
          </a:p>
        </p:txBody>
      </p:sp>
      <p:sp>
        <p:nvSpPr>
          <p:cNvPr id="16" name="Rounded Rectangle 15"/>
          <p:cNvSpPr/>
          <p:nvPr/>
        </p:nvSpPr>
        <p:spPr>
          <a:xfrm>
            <a:off x="502920" y="3785615"/>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3895344"/>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Мульти-агент</a:t>
            </a:r>
          </a:p>
        </p:txBody>
      </p:sp>
      <p:sp>
        <p:nvSpPr>
          <p:cNvPr id="18" name="TextBox 17"/>
          <p:cNvSpPr txBox="1"/>
          <p:nvPr/>
        </p:nvSpPr>
        <p:spPr>
          <a:xfrm>
            <a:off x="722376" y="4279392"/>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поверх агента — координация нескольких агентов (Anthropic, 2025)</a:t>
            </a:r>
          </a:p>
        </p:txBody>
      </p:sp>
      <p:sp>
        <p:nvSpPr>
          <p:cNvPr id="19" name="Rounded Rectangle 18"/>
          <p:cNvSpPr/>
          <p:nvPr/>
        </p:nvSpPr>
        <p:spPr>
          <a:xfrm>
            <a:off x="3931920" y="4059935"/>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931920" y="4059935"/>
            <a:ext cx="7863840" cy="365760"/>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561319" y="3986783"/>
            <a:ext cx="1188720" cy="51206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Arial"/>
              </a:rPr>
              <a:t>ещё ×15</a:t>
            </a:r>
          </a:p>
        </p:txBody>
      </p:sp>
      <p:sp>
        <p:nvSpPr>
          <p:cNvPr id="22" name="Rounded Rectangle 21"/>
          <p:cNvSpPr/>
          <p:nvPr/>
        </p:nvSpPr>
        <p:spPr>
          <a:xfrm>
            <a:off x="502920" y="4828032"/>
            <a:ext cx="8549640" cy="12984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882896"/>
            <a:ext cx="8147304" cy="1188719"/>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считайте бюджет ДО выбора архитектуры. Кэш промптов (не пересчитывать неизменный префикс) в агенте — уже не «приятный ориентир», а необходимость: без него ×N-стоимость цикла становится неподъёмной.</a:t>
            </a:r>
          </a:p>
        </p:txBody>
      </p:sp>
      <p:sp>
        <p:nvSpPr>
          <p:cNvPr id="24" name="Rounded Rectangle 23"/>
          <p:cNvSpPr/>
          <p:nvPr/>
        </p:nvSpPr>
        <p:spPr>
          <a:xfrm>
            <a:off x="9601200" y="4572000"/>
            <a:ext cx="1783080" cy="1728216"/>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19b-batman-ru.png"/>
          <p:cNvPicPr>
            <a:picLocks noChangeAspect="1"/>
          </p:cNvPicPr>
          <p:nvPr/>
        </p:nvPicPr>
        <p:blipFill>
          <a:blip r:embed="rId2"/>
          <a:stretch>
            <a:fillRect/>
          </a:stretch>
        </p:blipFill>
        <p:spPr>
          <a:xfrm>
            <a:off x="9646920" y="4617777"/>
            <a:ext cx="1691640" cy="1636662"/>
          </a:xfrm>
          <a:prstGeom prst="rect">
            <a:avLst/>
          </a:prstGeom>
        </p:spPr>
      </p:pic>
      <p:sp>
        <p:nvSpPr>
          <p:cNvPr id="26" name="TextBox 25"/>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Множители — порядок величины (Anthropic, 2025), не точный тариф; абсолютная цена зависит от модели и задачи.</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32 / 55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MCP: подключить инструмент — теперь операция на минуты.</a:t>
            </a:r>
          </a:p>
        </p:txBody>
      </p:sp>
      <p:sp>
        <p:nvSpPr>
          <p:cNvPr id="3" name="Rounded Rectangle 2"/>
          <p:cNvSpPr/>
          <p:nvPr/>
        </p:nvSpPr>
        <p:spPr>
          <a:xfrm>
            <a:off x="502920" y="1188720"/>
            <a:ext cx="553212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able-mid.png"/>
          <p:cNvPicPr>
            <a:picLocks noChangeAspect="1"/>
          </p:cNvPicPr>
          <p:nvPr/>
        </p:nvPicPr>
        <p:blipFill>
          <a:blip r:embed="rId2"/>
          <a:stretch>
            <a:fillRect/>
          </a:stretch>
        </p:blipFill>
        <p:spPr>
          <a:xfrm>
            <a:off x="722376" y="1353312"/>
            <a:ext cx="402336" cy="402336"/>
          </a:xfrm>
          <a:prstGeom prst="rect">
            <a:avLst/>
          </a:prstGeom>
        </p:spPr>
      </p:pic>
      <p:sp>
        <p:nvSpPr>
          <p:cNvPr id="5" name="TextBox 4"/>
          <p:cNvSpPr txBox="1"/>
          <p:nvPr/>
        </p:nvSpPr>
        <p:spPr>
          <a:xfrm>
            <a:off x="1252728" y="1371600"/>
            <a:ext cx="4617720" cy="384048"/>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MCP</a:t>
            </a:r>
            <a:r>
              <a:rPr sz="1250" b="0" i="0">
                <a:solidFill>
                  <a:srgbClr val="21295C"/>
                </a:solidFill>
                <a:latin typeface="Arial"/>
              </a:rPr>
              <a:t>  — стандарт подключения (уже разобран выше)</a:t>
            </a:r>
          </a:p>
        </p:txBody>
      </p:sp>
      <p:sp>
        <p:nvSpPr>
          <p:cNvPr id="6" name="TextBox 5"/>
          <p:cNvSpPr txBox="1"/>
          <p:nvPr/>
        </p:nvSpPr>
        <p:spPr>
          <a:xfrm>
            <a:off x="740664" y="1938528"/>
            <a:ext cx="5074920" cy="11887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Один раз описал инструмент как MCP-сервер — и его видят все модели-клиенты. Подключение стало операцией на минуты. Но лёгкость подключения ничего не говорит о том, что именно подключаешь.</a:t>
            </a:r>
          </a:p>
        </p:txBody>
      </p:sp>
      <p:sp>
        <p:nvSpPr>
          <p:cNvPr id="7" name="Rounded Rectangle 6"/>
          <p:cNvSpPr/>
          <p:nvPr/>
        </p:nvSpPr>
        <p:spPr>
          <a:xfrm>
            <a:off x="6172200" y="1188720"/>
            <a:ext cx="553212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1656" y="1335024"/>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Читайте каталог критически</a:t>
            </a:r>
          </a:p>
        </p:txBody>
      </p:sp>
      <p:sp>
        <p:nvSpPr>
          <p:cNvPr id="9" name="TextBox 8"/>
          <p:cNvSpPr txBox="1"/>
          <p:nvPr/>
        </p:nvSpPr>
        <p:spPr>
          <a:xfrm>
            <a:off x="6391656" y="1755648"/>
            <a:ext cx="5093208" cy="731520"/>
          </a:xfrm>
          <a:prstGeom prst="rect">
            <a:avLst/>
          </a:prstGeom>
          <a:noFill/>
        </p:spPr>
        <p:txBody>
          <a:bodyPr wrap="square" lIns="0" rIns="0" tIns="0" bIns="0" anchor="t">
            <a:spAutoFit/>
          </a:bodyPr>
          <a:lstStyle/>
          <a:p>
            <a:pPr algn="l">
              <a:lnSpc>
                <a:spcPct val="118000"/>
              </a:lnSpc>
            </a:pPr>
            <a:r>
              <a:rPr sz="1300" b="0" i="0">
                <a:solidFill>
                  <a:srgbClr val="21295C"/>
                </a:solidFill>
                <a:latin typeface="Arial"/>
              </a:rPr>
              <a:t>«до 90 000 серверов»  →  реально запускаемых ≈ </a:t>
            </a:r>
            <a:r>
              <a:rPr sz="1600" b="1" i="0">
                <a:solidFill>
                  <a:srgbClr val="065A82"/>
                </a:solidFill>
                <a:latin typeface="Arial"/>
              </a:rPr>
              <a:t>10 000</a:t>
            </a:r>
            <a:r>
              <a:rPr sz="1300" b="0" i="0">
                <a:solidFill>
                  <a:srgbClr val="21295C"/>
                </a:solidFill>
                <a:latin typeface="Arial"/>
              </a:rPr>
              <a:t>  = </a:t>
            </a:r>
            <a:r>
              <a:rPr sz="2000" b="1" i="0">
                <a:solidFill>
                  <a:srgbClr val="065A82"/>
                </a:solidFill>
                <a:latin typeface="Arial"/>
              </a:rPr>
              <a:t>11%</a:t>
            </a:r>
            <a:r>
              <a:rPr sz="1300" b="0" i="0">
                <a:solidFill>
                  <a:srgbClr val="21295C"/>
                </a:solidFill>
                <a:latin typeface="Arial"/>
              </a:rPr>
              <a:t> каталога.</a:t>
            </a:r>
          </a:p>
        </p:txBody>
      </p:sp>
      <p:sp>
        <p:nvSpPr>
          <p:cNvPr id="10" name="TextBox 9"/>
          <p:cNvSpPr txBox="1"/>
          <p:nvPr/>
        </p:nvSpPr>
        <p:spPr>
          <a:xfrm>
            <a:off x="6391656" y="2505456"/>
            <a:ext cx="5093208" cy="658368"/>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Остальное — дубли, битые и заглушки. И даже рабочие 10 тысяч не проверены на безопасность.</a:t>
            </a:r>
          </a:p>
        </p:txBody>
      </p:sp>
      <p:sp>
        <p:nvSpPr>
          <p:cNvPr id="11" name="Rounded Rectangle 10"/>
          <p:cNvSpPr/>
          <p:nvPr/>
        </p:nvSpPr>
        <p:spPr>
          <a:xfrm>
            <a:off x="502920" y="3456432"/>
            <a:ext cx="11201400" cy="1463040"/>
          </a:xfrm>
          <a:prstGeom prst="roundRect">
            <a:avLst>
              <a:gd name="adj" fmla="val 20833"/>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hield-alert-teal.png"/>
          <p:cNvPicPr>
            <a:picLocks noChangeAspect="1"/>
          </p:cNvPicPr>
          <p:nvPr/>
        </p:nvPicPr>
        <p:blipFill>
          <a:blip r:embed="rId3"/>
          <a:stretch>
            <a:fillRect/>
          </a:stretch>
        </p:blipFill>
        <p:spPr>
          <a:xfrm>
            <a:off x="731520" y="3657600"/>
            <a:ext cx="420624" cy="420624"/>
          </a:xfrm>
          <a:prstGeom prst="rect">
            <a:avLst/>
          </a:prstGeom>
        </p:spPr>
      </p:pic>
      <p:sp>
        <p:nvSpPr>
          <p:cNvPr id="13" name="TextBox 12"/>
          <p:cNvSpPr txBox="1"/>
          <p:nvPr/>
        </p:nvSpPr>
        <p:spPr>
          <a:xfrm>
            <a:off x="1280160" y="3657600"/>
            <a:ext cx="1014984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Поворот доверия: стандартизация подключения ≠ безопасность подключаемого — и обостряет её.</a:t>
            </a:r>
          </a:p>
        </p:txBody>
      </p:sp>
      <p:sp>
        <p:nvSpPr>
          <p:cNvPr id="14" name="TextBox 13"/>
          <p:cNvSpPr txBox="1"/>
          <p:nvPr/>
        </p:nvSpPr>
        <p:spPr>
          <a:xfrm>
            <a:off x="731520" y="4169663"/>
            <a:ext cx="1463040" cy="420624"/>
          </a:xfrm>
          <a:prstGeom prst="rect">
            <a:avLst/>
          </a:prstGeom>
          <a:noFill/>
        </p:spPr>
        <p:txBody>
          <a:bodyPr wrap="square" lIns="0" rIns="0" tIns="0" bIns="0" anchor="t">
            <a:spAutoFit/>
          </a:bodyPr>
          <a:lstStyle/>
          <a:p>
            <a:pPr algn="l">
              <a:lnSpc>
                <a:spcPct val="115000"/>
              </a:lnSpc>
            </a:pPr>
            <a:r>
              <a:rPr sz="2200" b="1" i="0">
                <a:solidFill>
                  <a:srgbClr val="028090"/>
                </a:solidFill>
                <a:latin typeface="Arial"/>
              </a:rPr>
              <a:t>30+ CVE</a:t>
            </a:r>
          </a:p>
        </p:txBody>
      </p:sp>
      <p:sp>
        <p:nvSpPr>
          <p:cNvPr id="15" name="TextBox 14"/>
          <p:cNvSpPr txBox="1"/>
          <p:nvPr/>
        </p:nvSpPr>
        <p:spPr>
          <a:xfrm>
            <a:off x="2240280" y="4187952"/>
            <a:ext cx="3977639" cy="603504"/>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за 60-дневное окно против MCP-серверов (~43% — внедрение команд)</a:t>
            </a:r>
          </a:p>
        </p:txBody>
      </p:sp>
      <p:sp>
        <p:nvSpPr>
          <p:cNvPr id="16" name="TextBox 15"/>
          <p:cNvSpPr txBox="1"/>
          <p:nvPr/>
        </p:nvSpPr>
        <p:spPr>
          <a:xfrm>
            <a:off x="6355080" y="4169663"/>
            <a:ext cx="1463040" cy="420624"/>
          </a:xfrm>
          <a:prstGeom prst="rect">
            <a:avLst/>
          </a:prstGeom>
          <a:noFill/>
        </p:spPr>
        <p:txBody>
          <a:bodyPr wrap="square" lIns="0" rIns="0" tIns="0" bIns="0" anchor="t">
            <a:spAutoFit/>
          </a:bodyPr>
          <a:lstStyle/>
          <a:p>
            <a:pPr algn="l">
              <a:lnSpc>
                <a:spcPct val="115000"/>
              </a:lnSpc>
            </a:pPr>
            <a:r>
              <a:rPr sz="2200" b="1" i="0">
                <a:solidFill>
                  <a:srgbClr val="028090"/>
                </a:solidFill>
                <a:latin typeface="Arial"/>
              </a:rPr>
              <a:t>82%</a:t>
            </a:r>
          </a:p>
        </p:txBody>
      </p:sp>
      <p:sp>
        <p:nvSpPr>
          <p:cNvPr id="17" name="TextBox 16"/>
          <p:cNvSpPr txBox="1"/>
          <p:nvPr/>
        </p:nvSpPr>
        <p:spPr>
          <a:xfrm>
            <a:off x="7863840" y="4187952"/>
            <a:ext cx="3977639" cy="603504"/>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обход пути (path traversal) среди 2 614 проверенных реализаций</a:t>
            </a:r>
          </a:p>
        </p:txBody>
      </p:sp>
      <p:sp>
        <p:nvSpPr>
          <p:cNvPr id="18" name="Rounded Rectangle 17"/>
          <p:cNvSpPr/>
          <p:nvPr/>
        </p:nvSpPr>
        <p:spPr>
          <a:xfrm>
            <a:off x="502920" y="5084064"/>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138927"/>
            <a:ext cx="10799064" cy="713232"/>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удобство подключения — не аргумент за подключение. Каждый MCP-сервер = чужой код в вашем окружении + носитель инъекции в контексте. Подключаете под требование задачи, с оценкой новой границы доверия.</a:t>
            </a:r>
          </a:p>
        </p:txBody>
      </p:sp>
      <p:sp>
        <p:nvSpPr>
          <p:cNvPr id="20" name="TextBox 19"/>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Актуальные цифры экосистемы MCP и хронология CVE — см. источники.</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33 / 55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Цикл агента: план → действие → проверка → повтор.</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Агент — архитектура, где модель не делает один проход, а работает в цикле</a:t>
            </a:r>
            <a:r>
              <a:rPr sz="702" baseline="30000" b="0" i="1">
                <a:latin typeface="Arial"/>
                <a:cs typeface="Arial"/>
                <a:ea typeface="Arial"/>
                <a:solidFill>
                  <a:srgbClr val="1C7293"/>
                </a:solidFill>
              </a:rPr>
              <a:t>[1]</a:t>
            </a:r>
            <a:r>
              <a:rPr sz="1350" b="0" i="1">
                <a:latin typeface="Arial"/>
                <a:cs typeface="Arial"/>
                <a:ea typeface="Arial"/>
                <a:solidFill>
                  <a:srgbClr val="065A82"/>
                </a:solidFill>
              </a:rPr>
              <a:t>, сама определяя последовательность шагов.</a:t>
            </a:r>
          </a:p>
        </p:txBody>
      </p:sp>
      <p:sp>
        <p:nvSpPr>
          <p:cNvPr id="4" name="Rounded Rectangle 3"/>
          <p:cNvSpPr/>
          <p:nvPr/>
        </p:nvSpPr>
        <p:spPr>
          <a:xfrm>
            <a:off x="502920"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600199"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00199"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1</a:t>
            </a:r>
          </a:p>
        </p:txBody>
      </p:sp>
      <p:sp>
        <p:nvSpPr>
          <p:cNvPr id="7" name="Rounded Rectangle 6"/>
          <p:cNvSpPr/>
          <p:nvPr/>
        </p:nvSpPr>
        <p:spPr>
          <a:xfrm>
            <a:off x="777240" y="1847088"/>
            <a:ext cx="877824"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Arial"/>
              </a:rPr>
              <a:t>СТАРТ</a:t>
            </a:r>
          </a:p>
        </p:txBody>
      </p:sp>
      <p:sp>
        <p:nvSpPr>
          <p:cNvPr id="8" name="TextBox 7"/>
          <p:cNvSpPr txBox="1"/>
          <p:nvPr/>
        </p:nvSpPr>
        <p:spPr>
          <a:xfrm>
            <a:off x="612648"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План (plan)</a:t>
            </a:r>
          </a:p>
        </p:txBody>
      </p:sp>
      <p:sp>
        <p:nvSpPr>
          <p:cNvPr id="9" name="TextBox 8"/>
          <p:cNvSpPr txBox="1"/>
          <p:nvPr/>
        </p:nvSpPr>
        <p:spPr>
          <a:xfrm>
            <a:off x="667512"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формулирует следующий шаг</a:t>
            </a:r>
          </a:p>
        </p:txBody>
      </p:sp>
      <p:sp>
        <p:nvSpPr>
          <p:cNvPr id="10" name="Rounded Rectangle 9"/>
          <p:cNvSpPr/>
          <p:nvPr/>
        </p:nvSpPr>
        <p:spPr>
          <a:xfrm>
            <a:off x="667512"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близорукий / зацикленный план (не видит накопленной стоимости)</a:t>
            </a:r>
          </a:p>
        </p:txBody>
      </p:sp>
      <p:sp>
        <p:nvSpPr>
          <p:cNvPr id="12" name="Right Arrow 11"/>
          <p:cNvSpPr/>
          <p:nvPr/>
        </p:nvSpPr>
        <p:spPr>
          <a:xfrm>
            <a:off x="3182111"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55848"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453128"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8"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2</a:t>
            </a:r>
          </a:p>
        </p:txBody>
      </p:sp>
      <p:sp>
        <p:nvSpPr>
          <p:cNvPr id="16" name="TextBox 15"/>
          <p:cNvSpPr txBox="1"/>
          <p:nvPr/>
        </p:nvSpPr>
        <p:spPr>
          <a:xfrm>
            <a:off x="3465576"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Действие (act)</a:t>
            </a:r>
          </a:p>
        </p:txBody>
      </p:sp>
      <p:sp>
        <p:nvSpPr>
          <p:cNvPr id="17" name="TextBox 16"/>
          <p:cNvSpPr txBox="1"/>
          <p:nvPr/>
        </p:nvSpPr>
        <p:spPr>
          <a:xfrm>
            <a:off x="3520440"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вызывает инструмент (function calling)</a:t>
            </a:r>
          </a:p>
        </p:txBody>
      </p:sp>
      <p:sp>
        <p:nvSpPr>
          <p:cNvPr id="18" name="Rounded Rectangle 17"/>
          <p:cNvSpPr/>
          <p:nvPr/>
        </p:nvSpPr>
        <p:spPr>
          <a:xfrm>
            <a:off x="3520440"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11880"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инструмент падает / тормозит, а ветки на это нет</a:t>
            </a:r>
          </a:p>
        </p:txBody>
      </p:sp>
      <p:sp>
        <p:nvSpPr>
          <p:cNvPr id="20" name="Right Arrow 19"/>
          <p:cNvSpPr/>
          <p:nvPr/>
        </p:nvSpPr>
        <p:spPr>
          <a:xfrm>
            <a:off x="6035040"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208776" y="1572768"/>
            <a:ext cx="2670048" cy="3246120"/>
          </a:xfrm>
          <a:prstGeom prst="roundRect">
            <a:avLst>
              <a:gd name="adj" fmla="val 1141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306056" y="1792224"/>
            <a:ext cx="475488" cy="47548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06056" y="1792224"/>
            <a:ext cx="475488" cy="475488"/>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3</a:t>
            </a:r>
          </a:p>
        </p:txBody>
      </p:sp>
      <p:sp>
        <p:nvSpPr>
          <p:cNvPr id="24" name="TextBox 23"/>
          <p:cNvSpPr txBox="1"/>
          <p:nvPr/>
        </p:nvSpPr>
        <p:spPr>
          <a:xfrm>
            <a:off x="6318504"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Проверка (check)</a:t>
            </a:r>
          </a:p>
        </p:txBody>
      </p:sp>
      <p:sp>
        <p:nvSpPr>
          <p:cNvPr id="25" name="TextBox 24"/>
          <p:cNvSpPr txBox="1"/>
          <p:nvPr/>
        </p:nvSpPr>
        <p:spPr>
          <a:xfrm>
            <a:off x="6373368"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достигнута ли цель, корректен ли результат</a:t>
            </a:r>
          </a:p>
        </p:txBody>
      </p:sp>
      <p:sp>
        <p:nvSpPr>
          <p:cNvPr id="26" name="Rounded Rectangle 25"/>
          <p:cNvSpPr/>
          <p:nvPr/>
        </p:nvSpPr>
        <p:spPr>
          <a:xfrm>
            <a:off x="6373368" y="3566160"/>
            <a:ext cx="2340864" cy="1115568"/>
          </a:xfrm>
          <a:prstGeom prst="roundRect">
            <a:avLst>
              <a:gd name="adj" fmla="val 10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64808" y="3639311"/>
            <a:ext cx="2157984" cy="969264"/>
          </a:xfrm>
          <a:prstGeom prst="rect">
            <a:avLst/>
          </a:prstGeom>
          <a:noFill/>
        </p:spPr>
        <p:txBody>
          <a:bodyPr wrap="square" lIns="0" rIns="0" tIns="0" bIns="0" anchor="t">
            <a:spAutoFit/>
          </a:bodyPr>
          <a:lstStyle/>
          <a:p>
            <a:pPr algn="ctr">
              <a:lnSpc>
                <a:spcPct val="112000"/>
              </a:lnSpc>
            </a:pPr>
            <a:r>
              <a:rPr sz="1050" b="0" i="1">
                <a:solidFill>
                  <a:srgbClr val="21295C"/>
                </a:solidFill>
                <a:latin typeface="Arial"/>
              </a:rPr>
              <a:t>режим отказа: валидация против ВНЕШНЕГО критерия — не самооценка модели</a:t>
            </a:r>
            <a:r>
              <a:rPr sz="546" baseline="30000" b="0" i="1">
                <a:latin typeface="Arial"/>
                <a:cs typeface="Arial"/>
                <a:ea typeface="Arial"/>
                <a:solidFill>
                  <a:srgbClr val="1C7293"/>
                </a:solidFill>
              </a:rPr>
              <a:t>[2]</a:t>
            </a:r>
            <a:r>
              <a:rPr sz="1050" b="0" i="1">
                <a:latin typeface="Arial"/>
                <a:cs typeface="Arial"/>
                <a:ea typeface="Arial"/>
                <a:solidFill>
                  <a:srgbClr val="21295C"/>
                </a:solidFill>
              </a:rPr>
              <a:t> (отсылка к пределу CoT)</a:t>
            </a:r>
          </a:p>
        </p:txBody>
      </p:sp>
      <p:sp>
        <p:nvSpPr>
          <p:cNvPr id="28" name="Right Arrow 27"/>
          <p:cNvSpPr/>
          <p:nvPr/>
        </p:nvSpPr>
        <p:spPr>
          <a:xfrm>
            <a:off x="8887968"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061704"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158984"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58984"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4</a:t>
            </a:r>
          </a:p>
        </p:txBody>
      </p:sp>
      <p:sp>
        <p:nvSpPr>
          <p:cNvPr id="32" name="TextBox 31"/>
          <p:cNvSpPr txBox="1"/>
          <p:nvPr/>
        </p:nvSpPr>
        <p:spPr>
          <a:xfrm>
            <a:off x="9171432"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Повтор (iterate)</a:t>
            </a:r>
          </a:p>
        </p:txBody>
      </p:sp>
      <p:sp>
        <p:nvSpPr>
          <p:cNvPr id="33" name="TextBox 32"/>
          <p:cNvSpPr txBox="1"/>
          <p:nvPr/>
        </p:nvSpPr>
        <p:spPr>
          <a:xfrm>
            <a:off x="9226296"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цикл повторяется</a:t>
            </a:r>
          </a:p>
        </p:txBody>
      </p:sp>
      <p:sp>
        <p:nvSpPr>
          <p:cNvPr id="34" name="Rounded Rectangle 33"/>
          <p:cNvSpPr/>
          <p:nvPr/>
        </p:nvSpPr>
        <p:spPr>
          <a:xfrm>
            <a:off x="9226296"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17736"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нет внешнего лимита на итерации / стоимость / время → петля</a:t>
            </a:r>
          </a:p>
        </p:txBody>
      </p:sp>
      <p:cxnSp>
        <p:nvCxnSpPr>
          <p:cNvPr id="36" name="Connector 35"/>
          <p:cNvCxnSpPr/>
          <p:nvPr/>
        </p:nvCxnSpPr>
        <p:spPr>
          <a:xfrm>
            <a:off x="10396728" y="4818888"/>
            <a:ext cx="0" cy="50291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837943" y="5321807"/>
            <a:ext cx="8558785" cy="0"/>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837943" y="5001768"/>
            <a:ext cx="0" cy="32003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sp>
        <p:nvSpPr>
          <p:cNvPr id="39" name="Up Arrow 38"/>
          <p:cNvSpPr/>
          <p:nvPr/>
        </p:nvSpPr>
        <p:spPr>
          <a:xfrm>
            <a:off x="1719072" y="4837175"/>
            <a:ext cx="237744" cy="219456"/>
          </a:xfrm>
          <a:prstGeom prst="up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4014216" y="5138927"/>
            <a:ext cx="4206240" cy="36576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  цикл ПОВТОРЯЕТСЯ — возврат к шагу «План»</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Yao et al. 2022 — ReAct (plan→act→check→iterate)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Anthropic — Reasoning Models faithfulness (check ≠ самооценка)</a:t>
            </a:r>
            <a:r>
              <a:rPr sz="850" i="1">
                <a:solidFill>
                  <a:srgbClr val="5B6678"/>
                </a:solidFill>
                <a:latin typeface="Arial"/>
              </a:rPr>
              <a:t>   ·   Паттерны цикла (ReAct, Reflexion, Plan-and-Execute) — в главе. Проектировать агента = проектировать защиту на каждом из 4 шагов.</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34 / 55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Сценарий (workflow) vs агент.</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Предсказуемая задача → сценарий</a:t>
            </a:r>
            <a:r>
              <a:rPr sz="754" baseline="30000" b="0" i="1">
                <a:latin typeface="Arial"/>
                <a:cs typeface="Arial"/>
                <a:ea typeface="Arial"/>
                <a:solidFill>
                  <a:srgbClr val="1C7293"/>
                </a:solidFill>
              </a:rPr>
              <a:t>[1]</a:t>
            </a:r>
            <a:r>
              <a:rPr sz="1450" b="0" i="1">
                <a:latin typeface="Arial"/>
                <a:cs typeface="Arial"/>
                <a:ea typeface="Arial"/>
                <a:solidFill>
                  <a:srgbClr val="065A82"/>
                </a:solidFill>
              </a:rPr>
              <a:t>; непредсказуемая И ценность оправдывает кратный рост → агент.</a:t>
            </a:r>
          </a:p>
        </p:txBody>
      </p:sp>
      <p:sp>
        <p:nvSpPr>
          <p:cNvPr id="4" name="Rounded Rectangle 3"/>
          <p:cNvSpPr/>
          <p:nvPr/>
        </p:nvSpPr>
        <p:spPr>
          <a:xfrm>
            <a:off x="502920" y="1627632"/>
            <a:ext cx="5532120" cy="2514600"/>
          </a:xfrm>
          <a:prstGeom prst="roundRect">
            <a:avLst>
              <a:gd name="adj" fmla="val 1212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it-fork-teal.png"/>
          <p:cNvPicPr>
            <a:picLocks noChangeAspect="1"/>
          </p:cNvPicPr>
          <p:nvPr/>
        </p:nvPicPr>
        <p:blipFill>
          <a:blip r:embed="rId2"/>
          <a:stretch>
            <a:fillRect/>
          </a:stretch>
        </p:blipFill>
        <p:spPr>
          <a:xfrm>
            <a:off x="758952" y="1828800"/>
            <a:ext cx="457200" cy="457200"/>
          </a:xfrm>
          <a:prstGeom prst="rect">
            <a:avLst/>
          </a:prstGeom>
        </p:spPr>
      </p:pic>
      <p:sp>
        <p:nvSpPr>
          <p:cNvPr id="6" name="TextBox 5"/>
          <p:cNvSpPr txBox="1"/>
          <p:nvPr/>
        </p:nvSpPr>
        <p:spPr>
          <a:xfrm>
            <a:off x="1325880" y="1847088"/>
            <a:ext cx="4709159" cy="457200"/>
          </a:xfrm>
          <a:prstGeom prst="rect">
            <a:avLst/>
          </a:prstGeom>
          <a:noFill/>
        </p:spPr>
        <p:txBody>
          <a:bodyPr wrap="square" lIns="0" rIns="0" tIns="0" bIns="0" anchor="ctr">
            <a:spAutoFit/>
          </a:bodyPr>
          <a:lstStyle/>
          <a:p>
            <a:pPr algn="l">
              <a:lnSpc>
                <a:spcPct val="115000"/>
              </a:lnSpc>
            </a:pPr>
            <a:r>
              <a:rPr sz="1700" b="1" i="0">
                <a:solidFill>
                  <a:srgbClr val="028090"/>
                </a:solidFill>
                <a:latin typeface="Arial"/>
              </a:rPr>
              <a:t>Сценарий  (workflow)</a:t>
            </a:r>
          </a:p>
        </p:txBody>
      </p:sp>
      <p:sp>
        <p:nvSpPr>
          <p:cNvPr id="7" name="TextBox 6"/>
          <p:cNvSpPr txBox="1"/>
          <p:nvPr/>
        </p:nvSpPr>
        <p:spPr>
          <a:xfrm>
            <a:off x="758952" y="2404872"/>
            <a:ext cx="5020056" cy="411480"/>
          </a:xfrm>
          <a:prstGeom prst="rect">
            <a:avLst/>
          </a:prstGeom>
          <a:noFill/>
        </p:spPr>
        <p:txBody>
          <a:bodyPr wrap="square" lIns="0" rIns="0" tIns="0" bIns="0" anchor="t">
            <a:spAutoFit/>
          </a:bodyPr>
          <a:lstStyle/>
          <a:p>
            <a:pPr algn="l">
              <a:lnSpc>
                <a:spcPct val="112000"/>
              </a:lnSpc>
            </a:pPr>
            <a:r>
              <a:rPr sz="1300" b="1" i="0">
                <a:solidFill>
                  <a:srgbClr val="21295C"/>
                </a:solidFill>
                <a:latin typeface="Arial"/>
              </a:rPr>
              <a:t>LLM и инструменты по предопределённым в коде путям</a:t>
            </a:r>
          </a:p>
        </p:txBody>
      </p:sp>
      <p:sp>
        <p:nvSpPr>
          <p:cNvPr id="8" name="Oval 7"/>
          <p:cNvSpPr/>
          <p:nvPr/>
        </p:nvSpPr>
        <p:spPr>
          <a:xfrm>
            <a:off x="758952" y="296265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 y="2907791"/>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последовательность шагов известна заранее</a:t>
            </a:r>
          </a:p>
        </p:txBody>
      </p:sp>
      <p:sp>
        <p:nvSpPr>
          <p:cNvPr id="10" name="Oval 9"/>
          <p:cNvSpPr/>
          <p:nvPr/>
        </p:nvSpPr>
        <p:spPr>
          <a:xfrm>
            <a:off x="758952" y="335584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 y="3300984"/>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предсказуемо, аудируемо</a:t>
            </a:r>
          </a:p>
        </p:txBody>
      </p:sp>
      <p:sp>
        <p:nvSpPr>
          <p:cNvPr id="12" name="Oval 11"/>
          <p:cNvSpPr/>
          <p:nvPr/>
        </p:nvSpPr>
        <p:spPr>
          <a:xfrm>
            <a:off x="758952" y="3749039"/>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9264" y="3694176"/>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большинство надёжных боевых систем — это сценарий (workflow)</a:t>
            </a:r>
          </a:p>
        </p:txBody>
      </p:sp>
      <p:sp>
        <p:nvSpPr>
          <p:cNvPr id="14" name="Rounded Rectangle 13"/>
          <p:cNvSpPr/>
          <p:nvPr/>
        </p:nvSpPr>
        <p:spPr>
          <a:xfrm>
            <a:off x="6172200" y="1627632"/>
            <a:ext cx="5532120" cy="2514600"/>
          </a:xfrm>
          <a:prstGeom prst="roundRect">
            <a:avLst>
              <a:gd name="adj" fmla="val 121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bot-mid.png"/>
          <p:cNvPicPr>
            <a:picLocks noChangeAspect="1"/>
          </p:cNvPicPr>
          <p:nvPr/>
        </p:nvPicPr>
        <p:blipFill>
          <a:blip r:embed="rId3"/>
          <a:stretch>
            <a:fillRect/>
          </a:stretch>
        </p:blipFill>
        <p:spPr>
          <a:xfrm>
            <a:off x="6428232" y="1828800"/>
            <a:ext cx="457200" cy="457200"/>
          </a:xfrm>
          <a:prstGeom prst="rect">
            <a:avLst/>
          </a:prstGeom>
        </p:spPr>
      </p:pic>
      <p:sp>
        <p:nvSpPr>
          <p:cNvPr id="16" name="TextBox 15"/>
          <p:cNvSpPr txBox="1"/>
          <p:nvPr/>
        </p:nvSpPr>
        <p:spPr>
          <a:xfrm>
            <a:off x="6995160" y="1847088"/>
            <a:ext cx="4709159" cy="457200"/>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Агент</a:t>
            </a:r>
          </a:p>
        </p:txBody>
      </p:sp>
      <p:sp>
        <p:nvSpPr>
          <p:cNvPr id="17" name="TextBox 16"/>
          <p:cNvSpPr txBox="1"/>
          <p:nvPr/>
        </p:nvSpPr>
        <p:spPr>
          <a:xfrm>
            <a:off x="6428232" y="2404872"/>
            <a:ext cx="5020056" cy="411480"/>
          </a:xfrm>
          <a:prstGeom prst="rect">
            <a:avLst/>
          </a:prstGeom>
          <a:noFill/>
        </p:spPr>
        <p:txBody>
          <a:bodyPr wrap="square" lIns="0" rIns="0" tIns="0" bIns="0" anchor="t">
            <a:spAutoFit/>
          </a:bodyPr>
          <a:lstStyle/>
          <a:p>
            <a:pPr algn="l">
              <a:lnSpc>
                <a:spcPct val="112000"/>
              </a:lnSpc>
            </a:pPr>
            <a:r>
              <a:rPr sz="1300" b="1" i="0">
                <a:solidFill>
                  <a:srgbClr val="21295C"/>
                </a:solidFill>
                <a:latin typeface="Arial"/>
              </a:rPr>
              <a:t>LLM динамически определяет собственный процесс</a:t>
            </a:r>
          </a:p>
        </p:txBody>
      </p:sp>
      <p:sp>
        <p:nvSpPr>
          <p:cNvPr id="18" name="Oval 17"/>
          <p:cNvSpPr/>
          <p:nvPr/>
        </p:nvSpPr>
        <p:spPr>
          <a:xfrm>
            <a:off x="6428232" y="2962656"/>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2907791"/>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последовательность заранее не зафиксирована</a:t>
            </a:r>
          </a:p>
        </p:txBody>
      </p:sp>
      <p:sp>
        <p:nvSpPr>
          <p:cNvPr id="20" name="Oval 19"/>
          <p:cNvSpPr/>
          <p:nvPr/>
        </p:nvSpPr>
        <p:spPr>
          <a:xfrm>
            <a:off x="6428232" y="335584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38544" y="3300984"/>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кратно больше токенов, чем чат</a:t>
            </a:r>
          </a:p>
        </p:txBody>
      </p:sp>
      <p:sp>
        <p:nvSpPr>
          <p:cNvPr id="22" name="Oval 21"/>
          <p:cNvSpPr/>
          <p:nvPr/>
        </p:nvSpPr>
        <p:spPr>
          <a:xfrm>
            <a:off x="6428232" y="3749039"/>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38544" y="3694176"/>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ниже аудируемость, выше риск петель</a:t>
            </a:r>
          </a:p>
        </p:txBody>
      </p:sp>
      <p:sp>
        <p:nvSpPr>
          <p:cNvPr id="24" name="Rounded Rectangle 23"/>
          <p:cNvSpPr/>
          <p:nvPr/>
        </p:nvSpPr>
        <p:spPr>
          <a:xfrm>
            <a:off x="502920" y="4297680"/>
            <a:ext cx="11201400" cy="9601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4389120"/>
            <a:ext cx="10652760" cy="822960"/>
          </a:xfrm>
          <a:prstGeom prst="rect">
            <a:avLst/>
          </a:prstGeom>
          <a:noFill/>
        </p:spPr>
        <p:txBody>
          <a:bodyPr wrap="square" lIns="0" rIns="0" tIns="0" bIns="0" anchor="ctr">
            <a:spAutoFit/>
          </a:bodyPr>
          <a:lstStyle/>
          <a:p>
            <a:pPr algn="l">
              <a:lnSpc>
                <a:spcPct val="118000"/>
              </a:lnSpc>
            </a:pPr>
            <a:r>
              <a:rPr sz="1350" b="1" i="0">
                <a:solidFill>
                  <a:srgbClr val="21295C"/>
                </a:solidFill>
                <a:latin typeface="Arial"/>
              </a:rPr>
              <a:t>Могу ли я заранее, до запуска, выписать последовательность шагов?  да (даже с ветвлениями) → сценарий  ·  принципиально нет И ценность оправдывает кратные стоимость/риск → агент</a:t>
            </a:r>
            <a:r>
              <a:rPr sz="702" baseline="30000" b="0" i="1">
                <a:latin typeface="Arial"/>
                <a:cs typeface="Arial"/>
                <a:ea typeface="Arial"/>
                <a:solidFill>
                  <a:srgbClr val="1C7293"/>
                </a:solidFill>
              </a:rPr>
              <a:t>[2]</a:t>
            </a:r>
          </a:p>
        </p:txBody>
      </p:sp>
      <p:sp>
        <p:nvSpPr>
          <p:cNvPr id="26" name="Rounded Rectangle 25"/>
          <p:cNvSpPr/>
          <p:nvPr/>
        </p:nvSpPr>
        <p:spPr>
          <a:xfrm>
            <a:off x="502920" y="5394960"/>
            <a:ext cx="7818120" cy="89611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468112"/>
            <a:ext cx="7360920" cy="749808"/>
          </a:xfrm>
          <a:prstGeom prst="rect">
            <a:avLst/>
          </a:prstGeom>
          <a:noFill/>
        </p:spPr>
        <p:txBody>
          <a:bodyPr wrap="square" lIns="0" rIns="0" tIns="0" bIns="0" anchor="ctr">
            <a:spAutoFit/>
          </a:bodyPr>
          <a:lstStyle/>
          <a:p>
            <a:pPr algn="l">
              <a:lnSpc>
                <a:spcPct val="114000"/>
              </a:lnSpc>
            </a:pPr>
            <a:r>
              <a:rPr sz="1250" b="1" i="0">
                <a:solidFill>
                  <a:srgbClr val="21295C"/>
                </a:solidFill>
                <a:latin typeface="Arial"/>
              </a:rPr>
              <a:t>Вложенность — норма: агент проверки кода вызывает сценарий «линтер→тесты→формат» как один шаг; сценарий обработки заявок делегирует мини-агенту разбор свободной жалобы. Динамика — только там, где нужна.</a:t>
            </a:r>
          </a:p>
        </p:txBody>
      </p:sp>
      <p:sp>
        <p:nvSpPr>
          <p:cNvPr id="28" name="Rounded Rectangle 27"/>
          <p:cNvSpPr/>
          <p:nvPr/>
        </p:nvSpPr>
        <p:spPr>
          <a:xfrm>
            <a:off x="8503920" y="5394960"/>
            <a:ext cx="3200400" cy="896112"/>
          </a:xfrm>
          <a:prstGeom prst="roundRect">
            <a:avLst>
              <a:gd name="adj" fmla="val 2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0" y="5468112"/>
            <a:ext cx="2834640" cy="74980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Найди простейшее. «Лень формализовать» не делает задачу непредсказуемой.</a:t>
            </a:r>
          </a:p>
        </p:txBody>
      </p:sp>
      <p:sp>
        <p:nvSpPr>
          <p:cNvPr id="30" name="TextBox 2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Building Effective Agents (workflow vs agent)</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Cognition — Don't Build Multi-Agents</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35 / 55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Мульти-агент по умолчанию — не выигрыш, а множитель риска.</a:t>
            </a:r>
          </a:p>
        </p:txBody>
      </p:sp>
      <p:sp>
        <p:nvSpPr>
          <p:cNvPr id="3" name="TextBox 2"/>
          <p:cNvSpPr txBox="1"/>
          <p:nvPr/>
        </p:nvSpPr>
        <p:spPr>
          <a:xfrm>
            <a:off x="502920" y="1005840"/>
            <a:ext cx="11201400" cy="402336"/>
          </a:xfrm>
          <a:prstGeom prst="rect">
            <a:avLst/>
          </a:prstGeom>
          <a:noFill/>
        </p:spPr>
        <p:txBody>
          <a:bodyPr wrap="square" lIns="0" rIns="0" tIns="0" bIns="0" anchor="t">
            <a:spAutoFit/>
          </a:bodyPr>
          <a:lstStyle/>
          <a:p>
            <a:pPr algn="l">
              <a:lnSpc>
                <a:spcPct val="114000"/>
              </a:lnSpc>
            </a:pPr>
            <a:r>
              <a:rPr sz="1300" b="0" i="1">
                <a:solidFill>
                  <a:srgbClr val="065A82"/>
                </a:solidFill>
                <a:latin typeface="Arial"/>
              </a:rPr>
              <a:t>В цепочке из n шагов, где сбой любого портит результат, надёжности перемножаются: успех ≈ pⁿ. Инженерная интуиция «каждый шаг почти всегда работает» математически ложна.</a:t>
            </a:r>
          </a:p>
        </p:txBody>
      </p:sp>
      <p:sp>
        <p:nvSpPr>
          <p:cNvPr id="4" name="Rounded Rectangle 3"/>
          <p:cNvSpPr/>
          <p:nvPr/>
        </p:nvSpPr>
        <p:spPr>
          <a:xfrm>
            <a:off x="502920" y="1572768"/>
            <a:ext cx="5532120" cy="2999232"/>
          </a:xfrm>
          <a:prstGeom prst="roundRect">
            <a:avLst>
              <a:gd name="adj" fmla="val 1016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682495"/>
            <a:ext cx="5093208"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Надёжность цепочки = pⁿ</a:t>
            </a:r>
          </a:p>
        </p:txBody>
      </p:sp>
      <p:sp>
        <p:nvSpPr>
          <p:cNvPr id="6" name="TextBox 5"/>
          <p:cNvSpPr txBox="1"/>
          <p:nvPr/>
        </p:nvSpPr>
        <p:spPr>
          <a:xfrm>
            <a:off x="722376" y="2103120"/>
            <a:ext cx="5093208" cy="237744"/>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95% × 10 шагов</a:t>
            </a:r>
          </a:p>
        </p:txBody>
      </p:sp>
      <p:sp>
        <p:nvSpPr>
          <p:cNvPr id="7" name="Rounded Rectangle 6"/>
          <p:cNvSpPr/>
          <p:nvPr/>
        </p:nvSpPr>
        <p:spPr>
          <a:xfrm>
            <a:off x="722376" y="2377439"/>
            <a:ext cx="3703320" cy="329184"/>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22376" y="2377439"/>
            <a:ext cx="2221992" cy="329184"/>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7136" y="2340863"/>
            <a:ext cx="1188720" cy="402336"/>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~60%</a:t>
            </a:r>
          </a:p>
        </p:txBody>
      </p:sp>
      <p:sp>
        <p:nvSpPr>
          <p:cNvPr id="10" name="TextBox 9"/>
          <p:cNvSpPr txBox="1"/>
          <p:nvPr/>
        </p:nvSpPr>
        <p:spPr>
          <a:xfrm>
            <a:off x="722376" y="2889503"/>
            <a:ext cx="5093208" cy="237744"/>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90% × 10 шагов</a:t>
            </a:r>
          </a:p>
        </p:txBody>
      </p:sp>
      <p:sp>
        <p:nvSpPr>
          <p:cNvPr id="11" name="Rounded Rectangle 10"/>
          <p:cNvSpPr/>
          <p:nvPr/>
        </p:nvSpPr>
        <p:spPr>
          <a:xfrm>
            <a:off x="722376" y="3163823"/>
            <a:ext cx="3703320" cy="329184"/>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22376" y="3163823"/>
            <a:ext cx="1296162" cy="329184"/>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3127248"/>
            <a:ext cx="1188720" cy="402336"/>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~35%</a:t>
            </a:r>
          </a:p>
        </p:txBody>
      </p:sp>
      <p:sp>
        <p:nvSpPr>
          <p:cNvPr id="14" name="Rounded Rectangle 13"/>
          <p:cNvSpPr/>
          <p:nvPr/>
        </p:nvSpPr>
        <p:spPr>
          <a:xfrm>
            <a:off x="722376" y="3712463"/>
            <a:ext cx="5093208" cy="786384"/>
          </a:xfrm>
          <a:prstGeom prst="roundRect">
            <a:avLst>
              <a:gd name="adj" fmla="val 8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767327"/>
            <a:ext cx="4818888" cy="676656"/>
          </a:xfrm>
          <a:prstGeom prst="rect">
            <a:avLst/>
          </a:prstGeom>
          <a:noFill/>
        </p:spPr>
        <p:txBody>
          <a:bodyPr wrap="square" lIns="0" rIns="0" tIns="0" bIns="0" anchor="ctr">
            <a:spAutoFit/>
          </a:bodyPr>
          <a:lstStyle/>
          <a:p>
            <a:pPr algn="l">
              <a:lnSpc>
                <a:spcPct val="114000"/>
              </a:lnSpc>
            </a:pPr>
            <a:r>
              <a:rPr sz="1150" b="0" i="0">
                <a:solidFill>
                  <a:srgbClr val="21295C"/>
                </a:solidFill>
                <a:latin typeface="Arial"/>
              </a:rPr>
              <a:t>95% на шаг звучит надёжно — но 0,95¹⁰ ≈ 0,60. Больше агентов = больше шагов = ниже общая надёжность.</a:t>
            </a:r>
          </a:p>
        </p:txBody>
      </p:sp>
      <p:sp>
        <p:nvSpPr>
          <p:cNvPr id="16" name="Rounded Rectangle 15"/>
          <p:cNvSpPr/>
          <p:nvPr/>
        </p:nvSpPr>
        <p:spPr>
          <a:xfrm>
            <a:off x="6172200" y="1572768"/>
            <a:ext cx="5532120" cy="133502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91656" y="1700784"/>
            <a:ext cx="5093208" cy="329184"/>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Топология решает: координатор &gt; рой</a:t>
            </a:r>
          </a:p>
        </p:txBody>
      </p:sp>
      <p:sp>
        <p:nvSpPr>
          <p:cNvPr id="18" name="TextBox 17"/>
          <p:cNvSpPr txBox="1"/>
          <p:nvPr/>
        </p:nvSpPr>
        <p:spPr>
          <a:xfrm>
            <a:off x="6391656" y="2103120"/>
            <a:ext cx="5093208" cy="7315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«Рой» равноправных агентов амплифицирует ошибки </a:t>
            </a:r>
            <a:r>
              <a:rPr sz="1600" b="1" i="0">
                <a:solidFill>
                  <a:srgbClr val="028090"/>
                </a:solidFill>
                <a:latin typeface="Arial"/>
              </a:rPr>
              <a:t>17,2×</a:t>
            </a:r>
            <a:r>
              <a:rPr sz="1200" b="0" i="0">
                <a:solidFill>
                  <a:srgbClr val="21295C"/>
                </a:solidFill>
                <a:latin typeface="Arial"/>
              </a:rPr>
              <a:t>;  один координатор — только </a:t>
            </a:r>
            <a:r>
              <a:rPr sz="1600" b="1" i="0">
                <a:solidFill>
                  <a:srgbClr val="065A82"/>
                </a:solidFill>
                <a:latin typeface="Arial"/>
              </a:rPr>
              <a:t>4,4×</a:t>
            </a:r>
            <a:r>
              <a:rPr sz="1200" b="0" i="0">
                <a:solidFill>
                  <a:srgbClr val="21295C"/>
                </a:solidFill>
                <a:latin typeface="Arial"/>
              </a:rPr>
              <a:t> (Zartis/Redis).</a:t>
            </a:r>
          </a:p>
        </p:txBody>
      </p:sp>
      <p:sp>
        <p:nvSpPr>
          <p:cNvPr id="19" name="Rounded Rectangle 18"/>
          <p:cNvSpPr/>
          <p:nvPr/>
        </p:nvSpPr>
        <p:spPr>
          <a:xfrm>
            <a:off x="6172200" y="3017520"/>
            <a:ext cx="553212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message-circle-mid.png"/>
          <p:cNvPicPr>
            <a:picLocks noChangeAspect="1"/>
          </p:cNvPicPr>
          <p:nvPr/>
        </p:nvPicPr>
        <p:blipFill>
          <a:blip r:embed="rId2"/>
          <a:stretch>
            <a:fillRect/>
          </a:stretch>
        </p:blipFill>
        <p:spPr>
          <a:xfrm>
            <a:off x="6391656" y="3182112"/>
            <a:ext cx="384048" cy="384048"/>
          </a:xfrm>
          <a:prstGeom prst="rect">
            <a:avLst/>
          </a:prstGeom>
        </p:spPr>
      </p:pic>
      <p:sp>
        <p:nvSpPr>
          <p:cNvPr id="21" name="TextBox 20"/>
          <p:cNvSpPr txBox="1"/>
          <p:nvPr/>
        </p:nvSpPr>
        <p:spPr>
          <a:xfrm>
            <a:off x="6391656" y="3621024"/>
            <a:ext cx="5093208" cy="859536"/>
          </a:xfrm>
          <a:prstGeom prst="rect">
            <a:avLst/>
          </a:prstGeom>
          <a:noFill/>
        </p:spPr>
        <p:txBody>
          <a:bodyPr wrap="square" lIns="0" rIns="0" tIns="0" bIns="0" anchor="t">
            <a:spAutoFit/>
          </a:bodyPr>
          <a:lstStyle/>
          <a:p>
            <a:pPr algn="l">
              <a:lnSpc>
                <a:spcPct val="116000"/>
              </a:lnSpc>
            </a:pPr>
            <a:r>
              <a:rPr sz="1200" b="0" i="1">
                <a:solidFill>
                  <a:srgbClr val="21295C"/>
                </a:solidFill>
                <a:latin typeface="Arial"/>
              </a:rPr>
              <a:t>Anthropic дословно: «multi-agent works mainly because it helps spend enough tokens to solve the problem» — выигрыш от объёма токенов, не от «магии координации».</a:t>
            </a:r>
          </a:p>
        </p:txBody>
      </p:sp>
      <p:sp>
        <p:nvSpPr>
          <p:cNvPr id="22" name="Rounded Rectangle 21"/>
          <p:cNvSpPr/>
          <p:nvPr/>
        </p:nvSpPr>
        <p:spPr>
          <a:xfrm>
            <a:off x="502920" y="4773168"/>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828031"/>
            <a:ext cx="10799064" cy="82296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начинай с одного сильного агента. Мульти-агент — только если задача распадается на ШИРОКО параллельные независимые подзадачи высокой ценности; иначе +15× токенов и координационные издержки не окупятся.</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36 / 55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Каждый слот экипировки агента — компромисс, не выигрыш.</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Реальный агент-помощник (Claude Code, Cursor, Aider) — это цикл план→действие→проверка→повтор ПЛЮС оснастка. Пять типовых слотов</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16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in-circuit-white.png"/>
          <p:cNvPicPr>
            <a:picLocks noChangeAspect="1"/>
          </p:cNvPicPr>
          <p:nvPr/>
        </p:nvPicPr>
        <p:blipFill>
          <a:blip r:embed="rId2"/>
          <a:stretch>
            <a:fillRect/>
          </a:stretch>
        </p:blipFill>
        <p:spPr>
          <a:xfrm>
            <a:off x="1307592" y="1956816"/>
            <a:ext cx="585216" cy="585216"/>
          </a:xfrm>
          <a:prstGeom prst="rect">
            <a:avLst/>
          </a:prstGeom>
        </p:spPr>
      </p:pic>
      <p:sp>
        <p:nvSpPr>
          <p:cNvPr id="7" name="TextBox 6"/>
          <p:cNvSpPr txBox="1"/>
          <p:nvPr/>
        </p:nvSpPr>
        <p:spPr>
          <a:xfrm>
            <a:off x="594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Память</a:t>
            </a:r>
          </a:p>
        </p:txBody>
      </p:sp>
      <p:sp>
        <p:nvSpPr>
          <p:cNvPr id="8" name="TextBox 7"/>
          <p:cNvSpPr txBox="1"/>
          <p:nvPr/>
        </p:nvSpPr>
        <p:spPr>
          <a:xfrm>
            <a:off x="630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что помнит между сессиями</a:t>
            </a:r>
          </a:p>
        </p:txBody>
      </p:sp>
      <p:sp>
        <p:nvSpPr>
          <p:cNvPr id="9" name="Oval 8"/>
          <p:cNvSpPr/>
          <p:nvPr/>
        </p:nvSpPr>
        <p:spPr>
          <a:xfrm>
            <a:off x="630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11" name="Rounded Rectangle 10"/>
          <p:cNvSpPr/>
          <p:nvPr/>
        </p:nvSpPr>
        <p:spPr>
          <a:xfrm>
            <a:off x="2788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02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le-text-white.png"/>
          <p:cNvPicPr>
            <a:picLocks noChangeAspect="1"/>
          </p:cNvPicPr>
          <p:nvPr/>
        </p:nvPicPr>
        <p:blipFill>
          <a:blip r:embed="rId3"/>
          <a:stretch>
            <a:fillRect/>
          </a:stretch>
        </p:blipFill>
        <p:spPr>
          <a:xfrm>
            <a:off x="3593592" y="1956816"/>
            <a:ext cx="585216" cy="585216"/>
          </a:xfrm>
          <a:prstGeom prst="rect">
            <a:avLst/>
          </a:prstGeom>
        </p:spPr>
      </p:pic>
      <p:sp>
        <p:nvSpPr>
          <p:cNvPr id="14" name="TextBox 13"/>
          <p:cNvSpPr txBox="1"/>
          <p:nvPr/>
        </p:nvSpPr>
        <p:spPr>
          <a:xfrm>
            <a:off x="2880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Инструкции-правила</a:t>
            </a:r>
          </a:p>
        </p:txBody>
      </p:sp>
      <p:sp>
        <p:nvSpPr>
          <p:cNvPr id="15" name="TextBox 14"/>
          <p:cNvSpPr txBox="1"/>
          <p:nvPr/>
        </p:nvSpPr>
        <p:spPr>
          <a:xfrm>
            <a:off x="2916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файлы-конвенции + журнал задач</a:t>
            </a:r>
          </a:p>
        </p:txBody>
      </p:sp>
      <p:sp>
        <p:nvSpPr>
          <p:cNvPr id="16" name="Oval 15"/>
          <p:cNvSpPr/>
          <p:nvPr/>
        </p:nvSpPr>
        <p:spPr>
          <a:xfrm>
            <a:off x="2916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16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2</a:t>
            </a:r>
          </a:p>
        </p:txBody>
      </p:sp>
      <p:sp>
        <p:nvSpPr>
          <p:cNvPr id="18" name="Rounded Rectangle 17"/>
          <p:cNvSpPr/>
          <p:nvPr/>
        </p:nvSpPr>
        <p:spPr>
          <a:xfrm>
            <a:off x="5074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88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puzzle-white.png"/>
          <p:cNvPicPr>
            <a:picLocks noChangeAspect="1"/>
          </p:cNvPicPr>
          <p:nvPr/>
        </p:nvPicPr>
        <p:blipFill>
          <a:blip r:embed="rId4"/>
          <a:stretch>
            <a:fillRect/>
          </a:stretch>
        </p:blipFill>
        <p:spPr>
          <a:xfrm>
            <a:off x="5879592" y="1956816"/>
            <a:ext cx="585216" cy="585216"/>
          </a:xfrm>
          <a:prstGeom prst="rect">
            <a:avLst/>
          </a:prstGeom>
        </p:spPr>
      </p:pic>
      <p:sp>
        <p:nvSpPr>
          <p:cNvPr id="21" name="TextBox 20"/>
          <p:cNvSpPr txBox="1"/>
          <p:nvPr/>
        </p:nvSpPr>
        <p:spPr>
          <a:xfrm>
            <a:off x="5166359"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Навыки (skills)</a:t>
            </a:r>
          </a:p>
        </p:txBody>
      </p:sp>
      <p:sp>
        <p:nvSpPr>
          <p:cNvPr id="22" name="TextBox 21"/>
          <p:cNvSpPr txBox="1"/>
          <p:nvPr/>
        </p:nvSpPr>
        <p:spPr>
          <a:xfrm>
            <a:off x="5202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переиспользуемые процедуры</a:t>
            </a:r>
          </a:p>
        </p:txBody>
      </p:sp>
      <p:sp>
        <p:nvSpPr>
          <p:cNvPr id="23" name="Oval 22"/>
          <p:cNvSpPr/>
          <p:nvPr/>
        </p:nvSpPr>
        <p:spPr>
          <a:xfrm>
            <a:off x="5202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02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3</a:t>
            </a:r>
          </a:p>
        </p:txBody>
      </p:sp>
      <p:sp>
        <p:nvSpPr>
          <p:cNvPr id="25" name="Rounded Rectangle 24"/>
          <p:cNvSpPr/>
          <p:nvPr/>
        </p:nvSpPr>
        <p:spPr>
          <a:xfrm>
            <a:off x="7360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074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users-white.png"/>
          <p:cNvPicPr>
            <a:picLocks noChangeAspect="1"/>
          </p:cNvPicPr>
          <p:nvPr/>
        </p:nvPicPr>
        <p:blipFill>
          <a:blip r:embed="rId5"/>
          <a:stretch>
            <a:fillRect/>
          </a:stretch>
        </p:blipFill>
        <p:spPr>
          <a:xfrm>
            <a:off x="8165592" y="1956816"/>
            <a:ext cx="585216" cy="585216"/>
          </a:xfrm>
          <a:prstGeom prst="rect">
            <a:avLst/>
          </a:prstGeom>
        </p:spPr>
      </p:pic>
      <p:sp>
        <p:nvSpPr>
          <p:cNvPr id="28" name="TextBox 27"/>
          <p:cNvSpPr txBox="1"/>
          <p:nvPr/>
        </p:nvSpPr>
        <p:spPr>
          <a:xfrm>
            <a:off x="7452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Субагенты</a:t>
            </a:r>
          </a:p>
        </p:txBody>
      </p:sp>
      <p:sp>
        <p:nvSpPr>
          <p:cNvPr id="29" name="TextBox 28"/>
          <p:cNvSpPr txBox="1"/>
          <p:nvPr/>
        </p:nvSpPr>
        <p:spPr>
          <a:xfrm>
            <a:off x="7488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делегирование + изоляция</a:t>
            </a:r>
          </a:p>
        </p:txBody>
      </p:sp>
      <p:sp>
        <p:nvSpPr>
          <p:cNvPr id="30" name="Oval 29"/>
          <p:cNvSpPr/>
          <p:nvPr/>
        </p:nvSpPr>
        <p:spPr>
          <a:xfrm>
            <a:off x="7488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88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4</a:t>
            </a:r>
          </a:p>
        </p:txBody>
      </p:sp>
      <p:sp>
        <p:nvSpPr>
          <p:cNvPr id="32" name="Rounded Rectangle 31"/>
          <p:cNvSpPr/>
          <p:nvPr/>
        </p:nvSpPr>
        <p:spPr>
          <a:xfrm>
            <a:off x="9646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0360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cable-white.png"/>
          <p:cNvPicPr>
            <a:picLocks noChangeAspect="1"/>
          </p:cNvPicPr>
          <p:nvPr/>
        </p:nvPicPr>
        <p:blipFill>
          <a:blip r:embed="rId6"/>
          <a:stretch>
            <a:fillRect/>
          </a:stretch>
        </p:blipFill>
        <p:spPr>
          <a:xfrm>
            <a:off x="10451592" y="1956816"/>
            <a:ext cx="585216" cy="585216"/>
          </a:xfrm>
          <a:prstGeom prst="rect">
            <a:avLst/>
          </a:prstGeom>
        </p:spPr>
      </p:pic>
      <p:sp>
        <p:nvSpPr>
          <p:cNvPr id="35" name="TextBox 34"/>
          <p:cNvSpPr txBox="1"/>
          <p:nvPr/>
        </p:nvSpPr>
        <p:spPr>
          <a:xfrm>
            <a:off x="9738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Доступ / MCP</a:t>
            </a:r>
          </a:p>
        </p:txBody>
      </p:sp>
      <p:sp>
        <p:nvSpPr>
          <p:cNvPr id="36" name="TextBox 35"/>
          <p:cNvSpPr txBox="1"/>
          <p:nvPr/>
        </p:nvSpPr>
        <p:spPr>
          <a:xfrm>
            <a:off x="9774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доступ к внешним инструментам</a:t>
            </a:r>
          </a:p>
        </p:txBody>
      </p:sp>
      <p:sp>
        <p:nvSpPr>
          <p:cNvPr id="37" name="Oval 36"/>
          <p:cNvSpPr/>
          <p:nvPr/>
        </p:nvSpPr>
        <p:spPr>
          <a:xfrm>
            <a:off x="9774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774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5</a:t>
            </a:r>
          </a:p>
        </p:txBody>
      </p:sp>
      <p:sp>
        <p:nvSpPr>
          <p:cNvPr id="39" name="Rounded Rectangle 38"/>
          <p:cNvSpPr/>
          <p:nvPr/>
        </p:nvSpPr>
        <p:spPr>
          <a:xfrm>
            <a:off x="502920" y="4261104"/>
            <a:ext cx="11201400" cy="11887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4315968"/>
            <a:ext cx="10799064" cy="107899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Как не поднимаешься по лестнице архитектур без требования задачи — не добавляй агенту память, субагентов или MCP «на всякий случай». Каждый слот несёт свою цену: операционную сложность, новую поверхность отказа, новую границу доверия — и должен отвечать на конкретный триггер (Раздел 5).</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карта слотов экипировки агента</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37 / 55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Память агента — тот же вопрос масштаба, что RAG.</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Память — что агент помнит МЕЖДУ сессиями (в отличие от контекста одного разговора). Спектр — от плоского файла до граф-баз</a:t>
            </a:r>
            <a:r>
              <a:rPr sz="702" baseline="30000" b="0" i="1">
                <a:latin typeface="Arial"/>
                <a:cs typeface="Arial"/>
                <a:ea typeface="Arial"/>
                <a:solidFill>
                  <a:srgbClr val="1C7293"/>
                </a:solidFill>
              </a:rPr>
              <a:t>[1]</a:t>
            </a:r>
            <a:r>
              <a:rPr sz="1350" b="0" i="1">
                <a:latin typeface="Arial"/>
                <a:cs typeface="Arial"/>
                <a:ea typeface="Arial"/>
                <a:solidFill>
                  <a:srgbClr val="065A82"/>
                </a:solidFill>
              </a:rPr>
              <a:t> знаний.</a:t>
            </a:r>
          </a:p>
        </p:txBody>
      </p:sp>
      <p:sp>
        <p:nvSpPr>
          <p:cNvPr id="4" name="Rounded Rectangle 3"/>
          <p:cNvSpPr/>
          <p:nvPr/>
        </p:nvSpPr>
        <p:spPr>
          <a:xfrm>
            <a:off x="502920" y="1700784"/>
            <a:ext cx="5074920" cy="2148840"/>
          </a:xfrm>
          <a:prstGeom prst="roundRect">
            <a:avLst>
              <a:gd name="adj" fmla="val 1418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le-text-mid.png"/>
          <p:cNvPicPr>
            <a:picLocks noChangeAspect="1"/>
          </p:cNvPicPr>
          <p:nvPr/>
        </p:nvPicPr>
        <p:blipFill>
          <a:blip r:embed="rId2"/>
          <a:stretch>
            <a:fillRect/>
          </a:stretch>
        </p:blipFill>
        <p:spPr>
          <a:xfrm>
            <a:off x="749808" y="1901952"/>
            <a:ext cx="457200" cy="457200"/>
          </a:xfrm>
          <a:prstGeom prst="rect">
            <a:avLst/>
          </a:prstGeom>
        </p:spPr>
      </p:pic>
      <p:sp>
        <p:nvSpPr>
          <p:cNvPr id="6" name="TextBox 5"/>
          <p:cNvSpPr txBox="1"/>
          <p:nvPr/>
        </p:nvSpPr>
        <p:spPr>
          <a:xfrm>
            <a:off x="1316736" y="1920240"/>
            <a:ext cx="40233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Плоский файл</a:t>
            </a:r>
          </a:p>
        </p:txBody>
      </p:sp>
      <p:sp>
        <p:nvSpPr>
          <p:cNvPr id="7" name="TextBox 6"/>
          <p:cNvSpPr txBox="1"/>
          <p:nvPr/>
        </p:nvSpPr>
        <p:spPr>
          <a:xfrm>
            <a:off x="749808" y="2487168"/>
            <a:ext cx="4572000" cy="123444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агент дописывает факты в текстовый лог, при запуске читает целиком. Работает, пока лог мал и стабилен — прямая параллель критерию RAG «корпус помещается в окно».</a:t>
            </a:r>
          </a:p>
        </p:txBody>
      </p:sp>
      <p:sp>
        <p:nvSpPr>
          <p:cNvPr id="8" name="Right Arrow 7"/>
          <p:cNvSpPr/>
          <p:nvPr/>
        </p:nvSpPr>
        <p:spPr>
          <a:xfrm>
            <a:off x="5669280" y="2537460"/>
            <a:ext cx="502920" cy="47548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55080" y="1700784"/>
            <a:ext cx="5349240" cy="2148840"/>
          </a:xfrm>
          <a:prstGeom prst="roundRect">
            <a:avLst>
              <a:gd name="adj" fmla="val 14184"/>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rain-circuit-teal.png"/>
          <p:cNvPicPr>
            <a:picLocks noChangeAspect="1"/>
          </p:cNvPicPr>
          <p:nvPr/>
        </p:nvPicPr>
        <p:blipFill>
          <a:blip r:embed="rId3"/>
          <a:stretch>
            <a:fillRect/>
          </a:stretch>
        </p:blipFill>
        <p:spPr>
          <a:xfrm>
            <a:off x="6601968" y="1901952"/>
            <a:ext cx="457200" cy="457200"/>
          </a:xfrm>
          <a:prstGeom prst="rect">
            <a:avLst/>
          </a:prstGeom>
        </p:spPr>
      </p:pic>
      <p:sp>
        <p:nvSpPr>
          <p:cNvPr id="11" name="TextBox 10"/>
          <p:cNvSpPr txBox="1"/>
          <p:nvPr/>
        </p:nvSpPr>
        <p:spPr>
          <a:xfrm>
            <a:off x="7168896" y="1920240"/>
            <a:ext cx="4297680" cy="384048"/>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Векторная / граф-база знаний</a:t>
            </a:r>
          </a:p>
        </p:txBody>
      </p:sp>
      <p:sp>
        <p:nvSpPr>
          <p:cNvPr id="12" name="Oval 11"/>
          <p:cNvSpPr/>
          <p:nvPr/>
        </p:nvSpPr>
        <p:spPr>
          <a:xfrm>
            <a:off x="6620256" y="253288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21424" y="2487168"/>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mem0 — память пользователя между сессиями</a:t>
            </a:r>
          </a:p>
        </p:txBody>
      </p:sp>
      <p:sp>
        <p:nvSpPr>
          <p:cNvPr id="14" name="Oval 13"/>
          <p:cNvSpPr/>
          <p:nvPr/>
        </p:nvSpPr>
        <p:spPr>
          <a:xfrm>
            <a:off x="6620256" y="293522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21424" y="2889504"/>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Cognee — память на графе знаний</a:t>
            </a:r>
          </a:p>
        </p:txBody>
      </p:sp>
      <p:sp>
        <p:nvSpPr>
          <p:cNvPr id="16" name="Oval 15"/>
          <p:cNvSpPr/>
          <p:nvPr/>
        </p:nvSpPr>
        <p:spPr>
          <a:xfrm>
            <a:off x="6620256" y="333756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21424" y="3291840"/>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Graphiti / Zep — временной граф: когда факт верен, когда устарел</a:t>
            </a:r>
          </a:p>
        </p:txBody>
      </p:sp>
      <p:sp>
        <p:nvSpPr>
          <p:cNvPr id="18" name="Rounded Rectangle 17"/>
          <p:cNvSpPr/>
          <p:nvPr/>
        </p:nvSpPr>
        <p:spPr>
          <a:xfrm>
            <a:off x="502920" y="4041648"/>
            <a:ext cx="8275320" cy="17373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4096511"/>
            <a:ext cx="7872984" cy="1627631"/>
          </a:xfrm>
          <a:prstGeom prst="rect">
            <a:avLst/>
          </a:prstGeom>
          <a:noFill/>
        </p:spPr>
        <p:txBody>
          <a:bodyPr wrap="square" lIns="0" rIns="0" tIns="0" bIns="0" anchor="ctr">
            <a:spAutoFit/>
          </a:bodyPr>
          <a:lstStyle/>
          <a:p>
            <a:pPr algn="l">
              <a:lnSpc>
                <a:spcPct val="122000"/>
              </a:lnSpc>
            </a:pPr>
            <a:r>
              <a:rPr sz="1450" b="1" i="0">
                <a:solidFill>
                  <a:srgbClr val="21295C"/>
                </a:solidFill>
                <a:latin typeface="Arial"/>
              </a:rPr>
              <a:t>Тот же вопрос масштаба знания, что решает RAG для корпуса документов, здесь встаёт для памяти самого агента. Не ставьте граф-базу знаний агенту с короткими несвязанными сессиями — это тот же технический долг без требования, что RAG для десяти статей.</a:t>
            </a:r>
          </a:p>
        </p:txBody>
      </p:sp>
      <p:sp>
        <p:nvSpPr>
          <p:cNvPr id="20" name="Rounded Rectangle 19"/>
          <p:cNvSpPr/>
          <p:nvPr/>
        </p:nvSpPr>
        <p:spPr>
          <a:xfrm>
            <a:off x="8915400" y="3995928"/>
            <a:ext cx="2834640" cy="2093976"/>
          </a:xfrm>
          <a:prstGeom prst="roundRect">
            <a:avLst>
              <a:gd name="adj" fmla="val 4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22c-pooh-ru.png"/>
          <p:cNvPicPr>
            <a:picLocks noChangeAspect="1"/>
          </p:cNvPicPr>
          <p:nvPr/>
        </p:nvPicPr>
        <p:blipFill>
          <a:blip r:embed="rId4"/>
          <a:stretch>
            <a:fillRect/>
          </a:stretch>
        </p:blipFill>
        <p:spPr>
          <a:xfrm>
            <a:off x="8961120" y="4045077"/>
            <a:ext cx="2743200" cy="1995678"/>
          </a:xfrm>
          <a:prstGeom prst="rect">
            <a:avLst/>
          </a:prstGeom>
        </p:spPr>
      </p:pic>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(live-eval) — спектр памяти агента</a:t>
            </a:r>
            <a:r>
              <a:rPr sz="850" i="1">
                <a:solidFill>
                  <a:srgbClr val="5B6678"/>
                </a:solidFill>
                <a:latin typeface="Arial"/>
              </a:rPr>
              <a:t>   ·   Источник: публичный реестр agent-harness-registry (workain lab, независимая проверка).</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38 / 55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«Агент, который помнит» — не всегда во благо.</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Наличие памяти интуитивно кажется чистым выигрышем. Независимая проверка показывает: иногда — драматически нет</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700784"/>
            <a:ext cx="57150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iangle-alert-mid.png"/>
          <p:cNvPicPr>
            <a:picLocks noChangeAspect="1"/>
          </p:cNvPicPr>
          <p:nvPr/>
        </p:nvPicPr>
        <p:blipFill>
          <a:blip r:embed="rId2"/>
          <a:stretch>
            <a:fillRect/>
          </a:stretch>
        </p:blipFill>
        <p:spPr>
          <a:xfrm>
            <a:off x="740664" y="1901952"/>
            <a:ext cx="420624" cy="420624"/>
          </a:xfrm>
          <a:prstGeom prst="rect">
            <a:avLst/>
          </a:prstGeom>
        </p:spPr>
      </p:pic>
      <p:sp>
        <p:nvSpPr>
          <p:cNvPr id="6" name="TextBox 5"/>
          <p:cNvSpPr txBox="1"/>
          <p:nvPr/>
        </p:nvSpPr>
        <p:spPr>
          <a:xfrm>
            <a:off x="1271016" y="1901952"/>
            <a:ext cx="47091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Letta — уровень D (Tier D)</a:t>
            </a:r>
          </a:p>
        </p:txBody>
      </p:sp>
      <p:sp>
        <p:nvSpPr>
          <p:cNvPr id="7" name="TextBox 6"/>
          <p:cNvSpPr txBox="1"/>
          <p:nvPr/>
        </p:nvSpPr>
        <p:spPr>
          <a:xfrm>
            <a:off x="740664" y="2414016"/>
            <a:ext cx="5239512" cy="566928"/>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проигрывает И голой модели, И плоскому файлу на всех задачах. persistbench_v1:</a:t>
            </a:r>
          </a:p>
        </p:txBody>
      </p:sp>
      <p:sp>
        <p:nvSpPr>
          <p:cNvPr id="8" name="Rectangle 7"/>
          <p:cNvSpPr/>
          <p:nvPr/>
        </p:nvSpPr>
        <p:spPr>
          <a:xfrm>
            <a:off x="740664" y="3054096"/>
            <a:ext cx="128016" cy="310896"/>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054096"/>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Голая модель</a:t>
            </a:r>
          </a:p>
        </p:txBody>
      </p:sp>
      <p:sp>
        <p:nvSpPr>
          <p:cNvPr id="10" name="TextBox 9"/>
          <p:cNvSpPr txBox="1"/>
          <p:nvPr/>
        </p:nvSpPr>
        <p:spPr>
          <a:xfrm>
            <a:off x="3474720" y="3054096"/>
            <a:ext cx="1188720" cy="310896"/>
          </a:xfrm>
          <a:prstGeom prst="rect">
            <a:avLst/>
          </a:prstGeom>
          <a:noFill/>
        </p:spPr>
        <p:txBody>
          <a:bodyPr wrap="square" lIns="0" rIns="0" tIns="0" bIns="0" anchor="ctr">
            <a:spAutoFit/>
          </a:bodyPr>
          <a:lstStyle/>
          <a:p>
            <a:pPr algn="ctr">
              <a:lnSpc>
                <a:spcPct val="115000"/>
              </a:lnSpc>
            </a:pPr>
            <a:r>
              <a:rPr sz="1300" b="1" i="0">
                <a:solidFill>
                  <a:srgbClr val="028090"/>
                </a:solidFill>
                <a:latin typeface="Arial"/>
              </a:rPr>
              <a:t>1.000</a:t>
            </a:r>
          </a:p>
        </p:txBody>
      </p:sp>
      <p:sp>
        <p:nvSpPr>
          <p:cNvPr id="11" name="TextBox 10"/>
          <p:cNvSpPr txBox="1"/>
          <p:nvPr/>
        </p:nvSpPr>
        <p:spPr>
          <a:xfrm>
            <a:off x="4754880" y="3054096"/>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94 с</a:t>
            </a:r>
          </a:p>
        </p:txBody>
      </p:sp>
      <p:sp>
        <p:nvSpPr>
          <p:cNvPr id="12" name="Rectangle 11"/>
          <p:cNvSpPr/>
          <p:nvPr/>
        </p:nvSpPr>
        <p:spPr>
          <a:xfrm>
            <a:off x="740664" y="3438144"/>
            <a:ext cx="128016" cy="31089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438144"/>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Плоский файл</a:t>
            </a:r>
          </a:p>
        </p:txBody>
      </p:sp>
      <p:sp>
        <p:nvSpPr>
          <p:cNvPr id="14" name="TextBox 13"/>
          <p:cNvSpPr txBox="1"/>
          <p:nvPr/>
        </p:nvSpPr>
        <p:spPr>
          <a:xfrm>
            <a:off x="3474720" y="3438144"/>
            <a:ext cx="1188720" cy="310896"/>
          </a:xfrm>
          <a:prstGeom prst="rect">
            <a:avLst/>
          </a:prstGeom>
          <a:noFill/>
        </p:spPr>
        <p:txBody>
          <a:bodyPr wrap="square" lIns="0" rIns="0" tIns="0" bIns="0" anchor="ctr">
            <a:spAutoFit/>
          </a:bodyPr>
          <a:lstStyle/>
          <a:p>
            <a:pPr algn="ctr">
              <a:lnSpc>
                <a:spcPct val="115000"/>
              </a:lnSpc>
            </a:pPr>
            <a:r>
              <a:rPr sz="1300" b="1" i="0">
                <a:solidFill>
                  <a:srgbClr val="065A82"/>
                </a:solidFill>
                <a:latin typeface="Arial"/>
              </a:rPr>
              <a:t>0.833</a:t>
            </a:r>
          </a:p>
        </p:txBody>
      </p:sp>
      <p:sp>
        <p:nvSpPr>
          <p:cNvPr id="15" name="TextBox 14"/>
          <p:cNvSpPr txBox="1"/>
          <p:nvPr/>
        </p:nvSpPr>
        <p:spPr>
          <a:xfrm>
            <a:off x="4754880" y="3438144"/>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159 с</a:t>
            </a:r>
          </a:p>
        </p:txBody>
      </p:sp>
      <p:sp>
        <p:nvSpPr>
          <p:cNvPr id="16" name="Rectangle 15"/>
          <p:cNvSpPr/>
          <p:nvPr/>
        </p:nvSpPr>
        <p:spPr>
          <a:xfrm>
            <a:off x="740664" y="3822191"/>
            <a:ext cx="128016" cy="31089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2191"/>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Letta</a:t>
            </a:r>
          </a:p>
        </p:txBody>
      </p:sp>
      <p:sp>
        <p:nvSpPr>
          <p:cNvPr id="18" name="TextBox 17"/>
          <p:cNvSpPr txBox="1"/>
          <p:nvPr/>
        </p:nvSpPr>
        <p:spPr>
          <a:xfrm>
            <a:off x="3474720" y="3822191"/>
            <a:ext cx="1188720" cy="310896"/>
          </a:xfrm>
          <a:prstGeom prst="rect">
            <a:avLst/>
          </a:prstGeom>
          <a:noFill/>
        </p:spPr>
        <p:txBody>
          <a:bodyPr wrap="square" lIns="0" rIns="0" tIns="0" bIns="0" anchor="ctr">
            <a:spAutoFit/>
          </a:bodyPr>
          <a:lstStyle/>
          <a:p>
            <a:pPr algn="ctr">
              <a:lnSpc>
                <a:spcPct val="115000"/>
              </a:lnSpc>
            </a:pPr>
            <a:r>
              <a:rPr sz="1300" b="1" i="0">
                <a:solidFill>
                  <a:srgbClr val="F0AB00"/>
                </a:solidFill>
                <a:latin typeface="Arial"/>
              </a:rPr>
              <a:t>0.750</a:t>
            </a:r>
          </a:p>
        </p:txBody>
      </p:sp>
      <p:sp>
        <p:nvSpPr>
          <p:cNvPr id="19" name="TextBox 18"/>
          <p:cNvSpPr txBox="1"/>
          <p:nvPr/>
        </p:nvSpPr>
        <p:spPr>
          <a:xfrm>
            <a:off x="4754880" y="3822191"/>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496 с</a:t>
            </a:r>
          </a:p>
        </p:txBody>
      </p:sp>
      <p:sp>
        <p:nvSpPr>
          <p:cNvPr id="20" name="TextBox 19"/>
          <p:cNvSpPr txBox="1"/>
          <p:nvPr/>
        </p:nvSpPr>
        <p:spPr>
          <a:xfrm>
            <a:off x="740664" y="4224527"/>
            <a:ext cx="5239512" cy="658368"/>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Механизмы: капитуляция под давлением · многословие топит факт · факт замечен, но не закоммичен.</a:t>
            </a:r>
          </a:p>
        </p:txBody>
      </p:sp>
      <p:sp>
        <p:nvSpPr>
          <p:cNvPr id="21" name="Rounded Rectangle 20"/>
          <p:cNvSpPr/>
          <p:nvPr/>
        </p:nvSpPr>
        <p:spPr>
          <a:xfrm>
            <a:off x="740664" y="4837176"/>
            <a:ext cx="5239512" cy="438912"/>
          </a:xfrm>
          <a:prstGeom prst="roundRect">
            <a:avLst>
              <a:gd name="adj" fmla="val 12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873752"/>
            <a:ext cx="4983480" cy="365760"/>
          </a:xfrm>
          <a:prstGeom prst="rect">
            <a:avLst/>
          </a:prstGeom>
          <a:noFill/>
        </p:spPr>
        <p:txBody>
          <a:bodyPr wrap="square" lIns="0" rIns="0" tIns="0" bIns="0" anchor="ctr">
            <a:spAutoFit/>
          </a:bodyPr>
          <a:lstStyle/>
          <a:p>
            <a:pPr algn="l">
              <a:lnSpc>
                <a:spcPct val="115000"/>
              </a:lnSpc>
            </a:pPr>
            <a:r>
              <a:rPr sz="1100" b="0" i="1">
                <a:solidFill>
                  <a:srgbClr val="21295C"/>
                </a:solidFill>
                <a:latin typeface="Arial"/>
              </a:rPr>
              <a:t>Оговорка: тест на Letta v0.6.7 — отстаёт от текущей v0.16.8 (~18 мес).</a:t>
            </a:r>
          </a:p>
        </p:txBody>
      </p:sp>
      <p:sp>
        <p:nvSpPr>
          <p:cNvPr id="23" name="Rounded Rectangle 22"/>
          <p:cNvSpPr/>
          <p:nvPr/>
        </p:nvSpPr>
        <p:spPr>
          <a:xfrm>
            <a:off x="6446520" y="1700784"/>
            <a:ext cx="5257800" cy="3703320"/>
          </a:xfrm>
          <a:prstGeom prst="roundRect">
            <a:avLst>
              <a:gd name="adj" fmla="val 823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02552" y="1901952"/>
            <a:ext cx="4745736" cy="384048"/>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Anthropic Memory Tool — уровень B (Tier B)</a:t>
            </a:r>
          </a:p>
        </p:txBody>
      </p:sp>
      <p:sp>
        <p:nvSpPr>
          <p:cNvPr id="25" name="TextBox 24"/>
          <p:cNvSpPr txBox="1"/>
          <p:nvPr/>
        </p:nvSpPr>
        <p:spPr>
          <a:xfrm>
            <a:off x="6702552" y="2340864"/>
            <a:ext cx="4745736" cy="45720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В целом сильный результат — но даже он теряет данные в</a:t>
            </a:r>
          </a:p>
        </p:txBody>
      </p:sp>
      <p:sp>
        <p:nvSpPr>
          <p:cNvPr id="26" name="TextBox 25"/>
          <p:cNvSpPr txBox="1"/>
          <p:nvPr/>
        </p:nvSpPr>
        <p:spPr>
          <a:xfrm>
            <a:off x="6702552" y="2779776"/>
            <a:ext cx="4745736" cy="640080"/>
          </a:xfrm>
          <a:prstGeom prst="rect">
            <a:avLst/>
          </a:prstGeom>
          <a:noFill/>
        </p:spPr>
        <p:txBody>
          <a:bodyPr wrap="square" lIns="0" rIns="0" tIns="0" bIns="0" anchor="ctr">
            <a:spAutoFit/>
          </a:bodyPr>
          <a:lstStyle/>
          <a:p>
            <a:pPr algn="l">
              <a:lnSpc>
                <a:spcPct val="115000"/>
              </a:lnSpc>
            </a:pPr>
            <a:r>
              <a:rPr sz="3400" b="1" i="0">
                <a:solidFill>
                  <a:srgbClr val="F0AB00"/>
                </a:solidFill>
                <a:latin typeface="Arial"/>
              </a:rPr>
              <a:t>17% </a:t>
            </a:r>
            <a:r>
              <a:rPr sz="1600" b="1" i="0">
                <a:solidFill>
                  <a:srgbClr val="21295C"/>
                </a:solidFill>
                <a:latin typeface="Arial"/>
              </a:rPr>
              <a:t>задач</a:t>
            </a:r>
          </a:p>
        </p:txBody>
      </p:sp>
      <p:sp>
        <p:nvSpPr>
          <p:cNvPr id="27" name="Oval 26"/>
          <p:cNvSpPr/>
          <p:nvPr/>
        </p:nvSpPr>
        <p:spPr>
          <a:xfrm>
            <a:off x="6720840" y="3611880"/>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22008" y="3566160"/>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явный отказ записать «эфемерный» факт</a:t>
            </a:r>
          </a:p>
        </p:txBody>
      </p:sp>
      <p:sp>
        <p:nvSpPr>
          <p:cNvPr id="29" name="Oval 28"/>
          <p:cNvSpPr/>
          <p:nvPr/>
        </p:nvSpPr>
        <p:spPr>
          <a:xfrm>
            <a:off x="6720840" y="399592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22008" y="3950208"/>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немотивированный отказ «вне рамок»</a:t>
            </a:r>
          </a:p>
        </p:txBody>
      </p:sp>
      <p:sp>
        <p:nvSpPr>
          <p:cNvPr id="31" name="Oval 30"/>
          <p:cNvSpPr/>
          <p:nvPr/>
        </p:nvSpPr>
        <p:spPr>
          <a:xfrm>
            <a:off x="6720840" y="4379976"/>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22008" y="4334256"/>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тихое сжатие с потерями — деталь не восстановить</a:t>
            </a:r>
          </a:p>
        </p:txBody>
      </p:sp>
      <p:sp>
        <p:nvSpPr>
          <p:cNvPr id="33" name="Oval 32"/>
          <p:cNvSpPr/>
          <p:nvPr/>
        </p:nvSpPr>
        <p:spPr>
          <a:xfrm>
            <a:off x="6720840" y="4764024"/>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22008" y="4718304"/>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невоспроизводимость: та же беседа дважды → разный результат</a:t>
            </a:r>
          </a:p>
        </p:txBody>
      </p:sp>
      <p:sp>
        <p:nvSpPr>
          <p:cNvPr id="35" name="TextBox 3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(live-eval) — Letta Tier D / Memory Tool 17%-хвост</a:t>
            </a:r>
            <a:r>
              <a:rPr sz="850" i="1">
                <a:solidFill>
                  <a:srgbClr val="5B6678"/>
                </a:solidFill>
                <a:latin typeface="Arial"/>
              </a:rPr>
              <a:t>   ·   agent-harness-registry (workain lab, независимая проверка 2026-07-05). «Работает хорошо» ≠ «работает всегда» — тот же урок, что RAG на масштабе и забывание.</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39 / 55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Файл-инструкция агенту — не «магическая прививка».</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Операционный слой — файлы-конвенции (класс CLAUDE.md / AGENTS.md) + журнал задач. Интуиция «написал инструкцию → и стало вернее» расходится с измерением.</a:t>
            </a:r>
          </a:p>
        </p:txBody>
      </p:sp>
      <p:sp>
        <p:nvSpPr>
          <p:cNvPr id="4" name="Rounded Rectangle 3"/>
          <p:cNvSpPr/>
          <p:nvPr/>
        </p:nvSpPr>
        <p:spPr>
          <a:xfrm>
            <a:off x="502920" y="1645920"/>
            <a:ext cx="3657600" cy="3063240"/>
          </a:xfrm>
          <a:prstGeom prst="roundRect">
            <a:avLst>
              <a:gd name="adj" fmla="val 995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otebook-pen-gold.png"/>
          <p:cNvPicPr>
            <a:picLocks noChangeAspect="1"/>
          </p:cNvPicPr>
          <p:nvPr/>
        </p:nvPicPr>
        <p:blipFill>
          <a:blip r:embed="rId2"/>
          <a:stretch>
            <a:fillRect/>
          </a:stretch>
        </p:blipFill>
        <p:spPr>
          <a:xfrm>
            <a:off x="722376" y="1865376"/>
            <a:ext cx="457200" cy="457200"/>
          </a:xfrm>
          <a:prstGeom prst="rect">
            <a:avLst/>
          </a:prstGeom>
        </p:spPr>
      </p:pic>
      <p:sp>
        <p:nvSpPr>
          <p:cNvPr id="6" name="TextBox 5"/>
          <p:cNvSpPr txBox="1"/>
          <p:nvPr/>
        </p:nvSpPr>
        <p:spPr>
          <a:xfrm>
            <a:off x="1289304"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presence paradox</a:t>
            </a:r>
          </a:p>
        </p:txBody>
      </p:sp>
      <p:sp>
        <p:nvSpPr>
          <p:cNvPr id="7" name="TextBox 6"/>
          <p:cNvSpPr txBox="1"/>
          <p:nvPr/>
        </p:nvSpPr>
        <p:spPr>
          <a:xfrm>
            <a:off x="722376"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RCT (Gloaguen et al. 2026): само наличие файла-инструкции НЕ даёт значимого прироста</a:t>
            </a:r>
            <a:r>
              <a:rPr sz="650" baseline="30000" b="0" i="1">
                <a:latin typeface="Arial"/>
                <a:cs typeface="Arial"/>
                <a:ea typeface="Arial"/>
                <a:solidFill>
                  <a:srgbClr val="1C7293"/>
                </a:solidFill>
              </a:rPr>
              <a:t>[1]</a:t>
            </a:r>
            <a:r>
              <a:rPr sz="1250" b="0" i="0">
                <a:latin typeface="Arial"/>
                <a:cs typeface="Arial"/>
                <a:ea typeface="Arial"/>
                <a:solidFill>
                  <a:srgbClr val="21295C"/>
                </a:solidFill>
              </a:rPr>
              <a:t> успешности — при этом стоимость и число шагов растут.</a:t>
            </a:r>
          </a:p>
        </p:txBody>
      </p:sp>
      <p:sp>
        <p:nvSpPr>
          <p:cNvPr id="8" name="Rounded Rectangle 7"/>
          <p:cNvSpPr/>
          <p:nvPr/>
        </p:nvSpPr>
        <p:spPr>
          <a:xfrm>
            <a:off x="704088"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3977640"/>
            <a:ext cx="3035808" cy="566928"/>
          </a:xfrm>
          <a:prstGeom prst="rect">
            <a:avLst/>
          </a:prstGeom>
          <a:noFill/>
        </p:spPr>
        <p:txBody>
          <a:bodyPr wrap="square" lIns="0" rIns="0" tIns="0" bIns="0" anchor="ctr">
            <a:spAutoFit/>
          </a:bodyPr>
          <a:lstStyle/>
          <a:p>
            <a:pPr algn="l">
              <a:lnSpc>
                <a:spcPct val="110000"/>
              </a:lnSpc>
            </a:pPr>
            <a:r>
              <a:rPr sz="1150" b="0" i="1">
                <a:solidFill>
                  <a:srgbClr val="21295C"/>
                </a:solidFill>
                <a:latin typeface="Arial"/>
              </a:rPr>
              <a:t>Помогает только там, где реально заполняет пробел документации.</a:t>
            </a:r>
          </a:p>
        </p:txBody>
      </p:sp>
      <p:sp>
        <p:nvSpPr>
          <p:cNvPr id="10" name="Rounded Rectangle 9"/>
          <p:cNvSpPr/>
          <p:nvPr/>
        </p:nvSpPr>
        <p:spPr>
          <a:xfrm>
            <a:off x="4279392" y="1645920"/>
            <a:ext cx="365760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ain-circuit-mid.png"/>
          <p:cNvPicPr>
            <a:picLocks noChangeAspect="1"/>
          </p:cNvPicPr>
          <p:nvPr/>
        </p:nvPicPr>
        <p:blipFill>
          <a:blip r:embed="rId3"/>
          <a:stretch>
            <a:fillRect/>
          </a:stretch>
        </p:blipFill>
        <p:spPr>
          <a:xfrm>
            <a:off x="4498848" y="1865376"/>
            <a:ext cx="457200" cy="457200"/>
          </a:xfrm>
          <a:prstGeom prst="rect">
            <a:avLst/>
          </a:prstGeom>
        </p:spPr>
      </p:pic>
      <p:sp>
        <p:nvSpPr>
          <p:cNvPr id="12" name="TextBox 11"/>
          <p:cNvSpPr txBox="1"/>
          <p:nvPr/>
        </p:nvSpPr>
        <p:spPr>
          <a:xfrm>
            <a:off x="5065776"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Honest Lying</a:t>
            </a:r>
          </a:p>
        </p:txBody>
      </p:sp>
      <p:sp>
        <p:nvSpPr>
          <p:cNvPr id="13" name="TextBox 12"/>
          <p:cNvSpPr txBox="1"/>
          <p:nvPr/>
        </p:nvSpPr>
        <p:spPr>
          <a:xfrm>
            <a:off x="4498848"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Dixit, Kamal, Oates 2026: самоавторская память может ЗАКРЕПЛЯТЬ неверное убеждение — журнал бетонирует раннюю ошибку вместо пересмотра.</a:t>
            </a:r>
          </a:p>
        </p:txBody>
      </p:sp>
      <p:sp>
        <p:nvSpPr>
          <p:cNvPr id="14" name="Rounded Rectangle 13"/>
          <p:cNvSpPr/>
          <p:nvPr/>
        </p:nvSpPr>
        <p:spPr>
          <a:xfrm>
            <a:off x="4480559"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8576" y="3977640"/>
            <a:ext cx="3035808" cy="56692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Рефлексия ошибочна → повторные попытки опираются на неё.</a:t>
            </a:r>
          </a:p>
        </p:txBody>
      </p:sp>
      <p:sp>
        <p:nvSpPr>
          <p:cNvPr id="16" name="Rounded Rectangle 15"/>
          <p:cNvSpPr/>
          <p:nvPr/>
        </p:nvSpPr>
        <p:spPr>
          <a:xfrm>
            <a:off x="8055863" y="1645920"/>
            <a:ext cx="365760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riangle-alert-mid.png"/>
          <p:cNvPicPr>
            <a:picLocks noChangeAspect="1"/>
          </p:cNvPicPr>
          <p:nvPr/>
        </p:nvPicPr>
        <p:blipFill>
          <a:blip r:embed="rId4"/>
          <a:stretch>
            <a:fillRect/>
          </a:stretch>
        </p:blipFill>
        <p:spPr>
          <a:xfrm>
            <a:off x="8275319" y="1865376"/>
            <a:ext cx="457200" cy="457200"/>
          </a:xfrm>
          <a:prstGeom prst="rect">
            <a:avLst/>
          </a:prstGeom>
        </p:spPr>
      </p:pic>
      <p:sp>
        <p:nvSpPr>
          <p:cNvPr id="18" name="TextBox 17"/>
          <p:cNvSpPr txBox="1"/>
          <p:nvPr/>
        </p:nvSpPr>
        <p:spPr>
          <a:xfrm>
            <a:off x="8842247"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claude-code#51735</a:t>
            </a:r>
          </a:p>
        </p:txBody>
      </p:sp>
      <p:sp>
        <p:nvSpPr>
          <p:cNvPr id="19" name="TextBox 18"/>
          <p:cNvSpPr txBox="1"/>
          <p:nvPr/>
        </p:nvSpPr>
        <p:spPr>
          <a:xfrm>
            <a:off x="8275319"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Реальный кейс: письменно признанная прошлая ошибка НЕ предотвратила её повторение спустя 25 дней</a:t>
            </a:r>
            <a:r>
              <a:rPr sz="650" baseline="30000" b="0" i="1">
                <a:latin typeface="Arial"/>
                <a:cs typeface="Arial"/>
                <a:ea typeface="Arial"/>
                <a:solidFill>
                  <a:srgbClr val="1C7293"/>
                </a:solidFill>
              </a:rPr>
              <a:t>[2]</a:t>
            </a:r>
            <a:r>
              <a:rPr sz="1250" b="0" i="0">
                <a:latin typeface="Arial"/>
                <a:cs typeface="Arial"/>
                <a:ea typeface="Arial"/>
                <a:solidFill>
                  <a:srgbClr val="21295C"/>
                </a:solidFill>
              </a:rPr>
              <a:t>.</a:t>
            </a:r>
          </a:p>
        </p:txBody>
      </p:sp>
      <p:sp>
        <p:nvSpPr>
          <p:cNvPr id="20" name="Rounded Rectangle 19"/>
          <p:cNvSpPr/>
          <p:nvPr/>
        </p:nvSpPr>
        <p:spPr>
          <a:xfrm>
            <a:off x="8257031"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85047" y="3977640"/>
            <a:ext cx="3035808" cy="56692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Запись о провале ≠ гарантия, что поведение изменится.</a:t>
            </a:r>
          </a:p>
        </p:txBody>
      </p:sp>
      <p:sp>
        <p:nvSpPr>
          <p:cNvPr id="22" name="Rounded Rectangle 21"/>
          <p:cNvSpPr/>
          <p:nvPr/>
        </p:nvSpPr>
        <p:spPr>
          <a:xfrm>
            <a:off x="502920" y="4846320"/>
            <a:ext cx="8275320" cy="12984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901183"/>
            <a:ext cx="7872984" cy="1188719"/>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Полезен, когда заполняет реальный пробел; бесполезен, когда дублирует доступное модели; может навредить, когда самоавторская память закрепляет ошибку. Тот же паттерн, что роль в промпте: «добавить X → станет вернее» не подтверждается измерением.</a:t>
            </a:r>
          </a:p>
        </p:txBody>
      </p:sp>
      <p:sp>
        <p:nvSpPr>
          <p:cNvPr id="24" name="Rounded Rectangle 23"/>
          <p:cNvSpPr/>
          <p:nvPr/>
        </p:nvSpPr>
        <p:spPr>
          <a:xfrm>
            <a:off x="8915400" y="4800600"/>
            <a:ext cx="2834640" cy="1426464"/>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22e-thisisfine-ru.png"/>
          <p:cNvPicPr>
            <a:picLocks noChangeAspect="1"/>
          </p:cNvPicPr>
          <p:nvPr/>
        </p:nvPicPr>
        <p:blipFill>
          <a:blip r:embed="rId5"/>
          <a:stretch>
            <a:fillRect/>
          </a:stretch>
        </p:blipFill>
        <p:spPr>
          <a:xfrm>
            <a:off x="8961120" y="4846950"/>
            <a:ext cx="2743200" cy="1333763"/>
          </a:xfrm>
          <a:prstGeom prst="rect">
            <a:avLst/>
          </a:prstGeom>
        </p:spPr>
      </p:pic>
      <p:sp>
        <p:nvSpPr>
          <p:cNvPr id="26" name="TextBox 25"/>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7"/>
              </a:rPr>
              <a:t>Gloaguen et al. 2026 — Evaluating AGENTS.md (presence paradox)</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8"/>
              </a:rPr>
              <a:t>GitHub anthropics/claude-code#51735 (повтор ошибки через 25 дней)</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40 / 55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Навыки, субагенты, доступ — и граница доверия.</a:t>
            </a:r>
          </a:p>
        </p:txBody>
      </p:sp>
      <p:sp>
        <p:nvSpPr>
          <p:cNvPr id="3" name="Rounded Rectangle 2"/>
          <p:cNvSpPr/>
          <p:nvPr/>
        </p:nvSpPr>
        <p:spPr>
          <a:xfrm>
            <a:off x="502920"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zzle-mid.png"/>
          <p:cNvPicPr>
            <a:picLocks noChangeAspect="1"/>
          </p:cNvPicPr>
          <p:nvPr/>
        </p:nvPicPr>
        <p:blipFill>
          <a:blip r:embed="rId2"/>
          <a:stretch>
            <a:fillRect/>
          </a:stretch>
        </p:blipFill>
        <p:spPr>
          <a:xfrm>
            <a:off x="704088" y="1225296"/>
            <a:ext cx="420624" cy="420624"/>
          </a:xfrm>
          <a:prstGeom prst="rect">
            <a:avLst/>
          </a:prstGeom>
        </p:spPr>
      </p:pic>
      <p:sp>
        <p:nvSpPr>
          <p:cNvPr id="5" name="TextBox 4"/>
          <p:cNvSpPr txBox="1"/>
          <p:nvPr/>
        </p:nvSpPr>
        <p:spPr>
          <a:xfrm>
            <a:off x="1234440"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Навык (skill)</a:t>
            </a:r>
          </a:p>
        </p:txBody>
      </p:sp>
      <p:sp>
        <p:nvSpPr>
          <p:cNvPr id="6" name="TextBox 5"/>
          <p:cNvSpPr txBox="1"/>
          <p:nvPr/>
        </p:nvSpPr>
        <p:spPr>
          <a:xfrm>
            <a:off x="722376"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переиспользуемая процедура «как делать» под повторяющуюся задачу</a:t>
            </a:r>
          </a:p>
        </p:txBody>
      </p:sp>
      <p:sp>
        <p:nvSpPr>
          <p:cNvPr id="7" name="Rounded Rectangle 6"/>
          <p:cNvSpPr/>
          <p:nvPr/>
        </p:nvSpPr>
        <p:spPr>
          <a:xfrm>
            <a:off x="4279392"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mid.png"/>
          <p:cNvPicPr>
            <a:picLocks noChangeAspect="1"/>
          </p:cNvPicPr>
          <p:nvPr/>
        </p:nvPicPr>
        <p:blipFill>
          <a:blip r:embed="rId3"/>
          <a:stretch>
            <a:fillRect/>
          </a:stretch>
        </p:blipFill>
        <p:spPr>
          <a:xfrm>
            <a:off x="4480559" y="1225296"/>
            <a:ext cx="420624" cy="420624"/>
          </a:xfrm>
          <a:prstGeom prst="rect">
            <a:avLst/>
          </a:prstGeom>
        </p:spPr>
      </p:pic>
      <p:sp>
        <p:nvSpPr>
          <p:cNvPr id="9" name="TextBox 8"/>
          <p:cNvSpPr txBox="1"/>
          <p:nvPr/>
        </p:nvSpPr>
        <p:spPr>
          <a:xfrm>
            <a:off x="5010912"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Субагент</a:t>
            </a:r>
          </a:p>
        </p:txBody>
      </p:sp>
      <p:sp>
        <p:nvSpPr>
          <p:cNvPr id="10" name="TextBox 9"/>
          <p:cNvSpPr txBox="1"/>
          <p:nvPr/>
        </p:nvSpPr>
        <p:spPr>
          <a:xfrm>
            <a:off x="4498848"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отдельное контекстное окно: не засорять основной + изолировать недоверенное</a:t>
            </a:r>
          </a:p>
        </p:txBody>
      </p:sp>
      <p:sp>
        <p:nvSpPr>
          <p:cNvPr id="11" name="Rounded Rectangle 10"/>
          <p:cNvSpPr/>
          <p:nvPr/>
        </p:nvSpPr>
        <p:spPr>
          <a:xfrm>
            <a:off x="8055863"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able-mid.png"/>
          <p:cNvPicPr>
            <a:picLocks noChangeAspect="1"/>
          </p:cNvPicPr>
          <p:nvPr/>
        </p:nvPicPr>
        <p:blipFill>
          <a:blip r:embed="rId4"/>
          <a:stretch>
            <a:fillRect/>
          </a:stretch>
        </p:blipFill>
        <p:spPr>
          <a:xfrm>
            <a:off x="8257031" y="1225296"/>
            <a:ext cx="420624" cy="420624"/>
          </a:xfrm>
          <a:prstGeom prst="rect">
            <a:avLst/>
          </a:prstGeom>
        </p:spPr>
      </p:pic>
      <p:sp>
        <p:nvSpPr>
          <p:cNvPr id="13" name="TextBox 12"/>
          <p:cNvSpPr txBox="1"/>
          <p:nvPr/>
        </p:nvSpPr>
        <p:spPr>
          <a:xfrm>
            <a:off x="8787384"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MCP-доступ</a:t>
            </a:r>
          </a:p>
        </p:txBody>
      </p:sp>
      <p:sp>
        <p:nvSpPr>
          <p:cNvPr id="14" name="TextBox 13"/>
          <p:cNvSpPr txBox="1"/>
          <p:nvPr/>
        </p:nvSpPr>
        <p:spPr>
          <a:xfrm>
            <a:off x="8275319"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каждое подключение — новая граница доверия и политика хранения</a:t>
            </a:r>
          </a:p>
        </p:txBody>
      </p:sp>
      <p:sp>
        <p:nvSpPr>
          <p:cNvPr id="15" name="Rounded Rectangle 14"/>
          <p:cNvSpPr/>
          <p:nvPr/>
        </p:nvSpPr>
        <p:spPr>
          <a:xfrm>
            <a:off x="502920" y="2615184"/>
            <a:ext cx="11201400" cy="3291840"/>
          </a:xfrm>
          <a:prstGeom prst="roundRect">
            <a:avLst>
              <a:gd name="adj" fmla="val 9259"/>
            </a:avLst>
          </a:prstGeom>
          <a:solidFill>
            <a:srgbClr val="FDF3DC"/>
          </a:solidFill>
          <a:ln w="381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ield-alert-gold.png"/>
          <p:cNvPicPr>
            <a:picLocks noChangeAspect="1"/>
          </p:cNvPicPr>
          <p:nvPr/>
        </p:nvPicPr>
        <p:blipFill>
          <a:blip r:embed="rId5"/>
          <a:stretch>
            <a:fillRect/>
          </a:stretch>
        </p:blipFill>
        <p:spPr>
          <a:xfrm>
            <a:off x="749808" y="2816352"/>
            <a:ext cx="512064" cy="512064"/>
          </a:xfrm>
          <a:prstGeom prst="rect">
            <a:avLst/>
          </a:prstGeom>
        </p:spPr>
      </p:pic>
      <p:sp>
        <p:nvSpPr>
          <p:cNvPr id="17" name="TextBox 16"/>
          <p:cNvSpPr txBox="1"/>
          <p:nvPr/>
        </p:nvSpPr>
        <p:spPr>
          <a:xfrm>
            <a:off x="1389888" y="2834639"/>
            <a:ext cx="10058400" cy="402336"/>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Безопасность: как только агент делегирует и подключается — появляется поверхность</a:t>
            </a:r>
            <a:r>
              <a:rPr sz="780" baseline="30000" b="0" i="1">
                <a:latin typeface="Arial"/>
                <a:cs typeface="Arial"/>
                <a:ea typeface="Arial"/>
                <a:solidFill>
                  <a:srgbClr val="1C7293"/>
                </a:solidFill>
              </a:rPr>
              <a:t>[2,3]</a:t>
            </a:r>
            <a:r>
              <a:rPr sz="1500" b="1" i="0">
                <a:latin typeface="Arial"/>
                <a:cs typeface="Arial"/>
                <a:ea typeface="Arial"/>
                <a:solidFill>
                  <a:srgbClr val="21295C"/>
                </a:solidFill>
              </a:rPr>
              <a:t>, которой не было у одного вызова</a:t>
            </a:r>
          </a:p>
        </p:txBody>
      </p:sp>
      <p:sp>
        <p:nvSpPr>
          <p:cNvPr id="18" name="TextBox 17"/>
          <p:cNvSpPr txBox="1"/>
          <p:nvPr/>
        </p:nvSpPr>
        <p:spPr>
          <a:xfrm>
            <a:off x="749808" y="3346704"/>
            <a:ext cx="53492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GitHub MCP: утечка через инъекцию (май 2025)</a:t>
            </a:r>
          </a:p>
        </p:txBody>
      </p:sp>
      <p:sp>
        <p:nvSpPr>
          <p:cNvPr id="19" name="TextBox 18"/>
          <p:cNvSpPr txBox="1"/>
          <p:nvPr/>
        </p:nvSpPr>
        <p:spPr>
          <a:xfrm>
            <a:off x="749808" y="3657600"/>
            <a:ext cx="5349240" cy="713232"/>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issue с встроенной инструкцией + переизбыточный токен (PAT на все репо) → ассистент выгрузил приватные репозитории в публичный PR</a:t>
            </a:r>
            <a:r>
              <a:rPr sz="624" baseline="30000" b="0" i="1">
                <a:latin typeface="Arial"/>
                <a:cs typeface="Arial"/>
                <a:ea typeface="Arial"/>
                <a:solidFill>
                  <a:srgbClr val="1C7293"/>
                </a:solidFill>
              </a:rPr>
              <a:t>[1]</a:t>
            </a:r>
            <a:r>
              <a:rPr sz="1200" b="0" i="0">
                <a:latin typeface="Arial"/>
                <a:cs typeface="Arial"/>
                <a:ea typeface="Arial"/>
                <a:solidFill>
                  <a:srgbClr val="21295C"/>
                </a:solidFill>
              </a:rPr>
              <a:t>.</a:t>
            </a:r>
          </a:p>
        </p:txBody>
      </p:sp>
      <p:sp>
        <p:nvSpPr>
          <p:cNvPr id="20" name="Rounded Rectangle 19"/>
          <p:cNvSpPr/>
          <p:nvPr/>
        </p:nvSpPr>
        <p:spPr>
          <a:xfrm>
            <a:off x="749808" y="4407408"/>
            <a:ext cx="5349240" cy="420624"/>
          </a:xfrm>
          <a:prstGeom prst="roundRect">
            <a:avLst>
              <a:gd name="adj" fmla="val 14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4434840"/>
            <a:ext cx="5074920" cy="365760"/>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Катастрофа = инъекция × широкие права. Убери любое — атака не проходит.</a:t>
            </a:r>
          </a:p>
        </p:txBody>
      </p:sp>
      <p:sp>
        <p:nvSpPr>
          <p:cNvPr id="22" name="TextBox 21"/>
          <p:cNvSpPr txBox="1"/>
          <p:nvPr/>
        </p:nvSpPr>
        <p:spPr>
          <a:xfrm>
            <a:off x="749808" y="4882896"/>
            <a:ext cx="5349240" cy="402336"/>
          </a:xfrm>
          <a:prstGeom prst="rect">
            <a:avLst/>
          </a:prstGeom>
          <a:noFill/>
        </p:spPr>
        <p:txBody>
          <a:bodyPr wrap="square" lIns="0" rIns="0" tIns="0" bIns="0" anchor="t">
            <a:spAutoFit/>
          </a:bodyPr>
          <a:lstStyle/>
          <a:p>
            <a:pPr algn="l">
              <a:lnSpc>
                <a:spcPct val="110000"/>
              </a:lnSpc>
            </a:pPr>
            <a:r>
              <a:rPr sz="1100" b="0" i="1">
                <a:solidFill>
                  <a:srgbClr val="21295C"/>
                </a:solidFill>
                <a:latin typeface="Arial"/>
              </a:rPr>
              <a:t>«У нас ZDR» ≠ «нигде не хранится»: судебный приказ (NYT v. OpenAI) + сторонние сервисы/MCP вне ZDR</a:t>
            </a:r>
            <a:r>
              <a:rPr sz="572" baseline="30000" b="0" i="1">
                <a:latin typeface="Arial"/>
                <a:cs typeface="Arial"/>
                <a:ea typeface="Arial"/>
                <a:solidFill>
                  <a:srgbClr val="1C7293"/>
                </a:solidFill>
              </a:rPr>
              <a:t>[4,5]</a:t>
            </a:r>
            <a:r>
              <a:rPr sz="1100" b="0" i="1">
                <a:latin typeface="Arial"/>
                <a:cs typeface="Arial"/>
                <a:ea typeface="Arial"/>
                <a:solidFill>
                  <a:srgbClr val="21295C"/>
                </a:solidFill>
              </a:rPr>
              <a:t>. Регулируемое — не слать без ZDR/BAA.</a:t>
            </a:r>
          </a:p>
        </p:txBody>
      </p:sp>
      <p:sp>
        <p:nvSpPr>
          <p:cNvPr id="23" name="TextBox 22"/>
          <p:cNvSpPr txBox="1"/>
          <p:nvPr/>
        </p:nvSpPr>
        <p:spPr>
          <a:xfrm>
            <a:off x="6446520" y="3346704"/>
            <a:ext cx="502920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4 правила проектирования</a:t>
            </a:r>
          </a:p>
        </p:txBody>
      </p:sp>
      <p:sp>
        <p:nvSpPr>
          <p:cNvPr id="24" name="Oval 23"/>
          <p:cNvSpPr/>
          <p:nvPr/>
        </p:nvSpPr>
        <p:spPr>
          <a:xfrm>
            <a:off x="6446520" y="3721608"/>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3721608"/>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1</a:t>
            </a:r>
          </a:p>
        </p:txBody>
      </p:sp>
      <p:sp>
        <p:nvSpPr>
          <p:cNvPr id="26" name="TextBox 25"/>
          <p:cNvSpPr txBox="1"/>
          <p:nvPr/>
        </p:nvSpPr>
        <p:spPr>
          <a:xfrm>
            <a:off x="6830568" y="3675888"/>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Наименьшие привилегии (least-privilege)</a:t>
            </a:r>
          </a:p>
        </p:txBody>
      </p:sp>
      <p:sp>
        <p:nvSpPr>
          <p:cNvPr id="27" name="TextBox 26"/>
          <p:cNvSpPr txBox="1"/>
          <p:nvPr/>
        </p:nvSpPr>
        <p:spPr>
          <a:xfrm>
            <a:off x="6830568" y="3931920"/>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минимум токенов/прав</a:t>
            </a:r>
          </a:p>
        </p:txBody>
      </p:sp>
      <p:sp>
        <p:nvSpPr>
          <p:cNvPr id="28" name="Oval 27"/>
          <p:cNvSpPr/>
          <p:nvPr/>
        </p:nvSpPr>
        <p:spPr>
          <a:xfrm>
            <a:off x="6446520" y="4251960"/>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4251960"/>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2</a:t>
            </a:r>
          </a:p>
        </p:txBody>
      </p:sp>
      <p:sp>
        <p:nvSpPr>
          <p:cNvPr id="30" name="TextBox 29"/>
          <p:cNvSpPr txBox="1"/>
          <p:nvPr/>
        </p:nvSpPr>
        <p:spPr>
          <a:xfrm>
            <a:off x="6830568" y="4206240"/>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Изоляция недоверенного</a:t>
            </a:r>
          </a:p>
        </p:txBody>
      </p:sp>
      <p:sp>
        <p:nvSpPr>
          <p:cNvPr id="31" name="TextBox 30"/>
          <p:cNvSpPr txBox="1"/>
          <p:nvPr/>
        </p:nvSpPr>
        <p:spPr>
          <a:xfrm>
            <a:off x="6830568" y="4462272"/>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отдельно от привилегий (субагент)</a:t>
            </a:r>
          </a:p>
        </p:txBody>
      </p:sp>
      <p:sp>
        <p:nvSpPr>
          <p:cNvPr id="32" name="Oval 31"/>
          <p:cNvSpPr/>
          <p:nvPr/>
        </p:nvSpPr>
        <p:spPr>
          <a:xfrm>
            <a:off x="6446520" y="4782312"/>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4782312"/>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3</a:t>
            </a:r>
          </a:p>
        </p:txBody>
      </p:sp>
      <p:sp>
        <p:nvSpPr>
          <p:cNvPr id="34" name="TextBox 33"/>
          <p:cNvSpPr txBox="1"/>
          <p:nvPr/>
        </p:nvSpPr>
        <p:spPr>
          <a:xfrm>
            <a:off x="6830568" y="4736592"/>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Человек в контуре на запись</a:t>
            </a:r>
          </a:p>
        </p:txBody>
      </p:sp>
      <p:sp>
        <p:nvSpPr>
          <p:cNvPr id="35" name="TextBox 34"/>
          <p:cNvSpPr txBox="1"/>
          <p:nvPr/>
        </p:nvSpPr>
        <p:spPr>
          <a:xfrm>
            <a:off x="6830568" y="4992624"/>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необратимое — только через человека</a:t>
            </a:r>
          </a:p>
        </p:txBody>
      </p:sp>
      <p:sp>
        <p:nvSpPr>
          <p:cNvPr id="36" name="Oval 35"/>
          <p:cNvSpPr/>
          <p:nvPr/>
        </p:nvSpPr>
        <p:spPr>
          <a:xfrm>
            <a:off x="6446520" y="5312664"/>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5312664"/>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4</a:t>
            </a:r>
          </a:p>
        </p:txBody>
      </p:sp>
      <p:sp>
        <p:nvSpPr>
          <p:cNvPr id="38" name="TextBox 37"/>
          <p:cNvSpPr txBox="1"/>
          <p:nvPr/>
        </p:nvSpPr>
        <p:spPr>
          <a:xfrm>
            <a:off x="6830568" y="5266944"/>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Белый список / фиксация версий</a:t>
            </a:r>
          </a:p>
        </p:txBody>
      </p:sp>
      <p:sp>
        <p:nvSpPr>
          <p:cNvPr id="39" name="TextBox 38"/>
          <p:cNvSpPr txBox="1"/>
          <p:nvPr/>
        </p:nvSpPr>
        <p:spPr>
          <a:xfrm>
            <a:off x="6830568" y="5522976"/>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аудированные версии; запрет по умолчанию</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740" b="1" i="1">
                <a:solidFill>
                  <a:srgbClr val="065A82"/>
                </a:solidFill>
                <a:latin typeface="Arial"/>
              </a:rPr>
              <a:t>[1] </a:t>
            </a:r>
            <a:r>
              <a:rPr sz="740" i="1">
                <a:solidFill>
                  <a:srgbClr val="1C7293"/>
                </a:solidFill>
                <a:latin typeface="Arial"/>
                <a:hlinkClick r:id="rId7"/>
              </a:rPr>
              <a:t>Docker — MCP Horror Stories: GitHub Prompt Injection</a:t>
            </a:r>
            <a:r>
              <a:rPr sz="740" i="1">
                <a:solidFill>
                  <a:srgbClr val="1C7293"/>
                </a:solidFill>
                <a:latin typeface="Arial"/>
              </a:rPr>
              <a:t>   ·   </a:t>
            </a:r>
            <a:r>
              <a:rPr sz="740" b="1" i="1">
                <a:solidFill>
                  <a:srgbClr val="065A82"/>
                </a:solidFill>
                <a:latin typeface="Arial"/>
              </a:rPr>
              <a:t>[2] </a:t>
            </a:r>
            <a:r>
              <a:rPr sz="740" i="1">
                <a:solidFill>
                  <a:srgbClr val="1C7293"/>
                </a:solidFill>
                <a:latin typeface="Arial"/>
                <a:hlinkClick r:id="rId8"/>
              </a:rPr>
              <a:t>Simon Willison — Prompt injection via MCP</a:t>
            </a:r>
            <a:r>
              <a:rPr sz="740" i="1">
                <a:solidFill>
                  <a:srgbClr val="1C7293"/>
                </a:solidFill>
                <a:latin typeface="Arial"/>
              </a:rPr>
              <a:t>   ·   </a:t>
            </a:r>
            <a:r>
              <a:rPr sz="740" b="1" i="1">
                <a:solidFill>
                  <a:srgbClr val="065A82"/>
                </a:solidFill>
                <a:latin typeface="Arial"/>
              </a:rPr>
              <a:t>[3] </a:t>
            </a:r>
            <a:r>
              <a:rPr sz="740" i="1">
                <a:solidFill>
                  <a:srgbClr val="1C7293"/>
                </a:solidFill>
                <a:latin typeface="Arial"/>
                <a:hlinkClick r:id="rId9"/>
              </a:rPr>
              <a:t>Palo Alto Unit 42 — MCP Attack Vectors</a:t>
            </a:r>
            <a:r>
              <a:rPr sz="740" i="1">
                <a:solidFill>
                  <a:srgbClr val="1C7293"/>
                </a:solidFill>
                <a:latin typeface="Arial"/>
              </a:rPr>
              <a:t>   ·   </a:t>
            </a:r>
            <a:r>
              <a:rPr sz="740" b="1" i="1">
                <a:solidFill>
                  <a:srgbClr val="065A82"/>
                </a:solidFill>
                <a:latin typeface="Arial"/>
              </a:rPr>
              <a:t>[4] </a:t>
            </a:r>
            <a:r>
              <a:rPr sz="740" i="1">
                <a:solidFill>
                  <a:srgbClr val="1C7293"/>
                </a:solidFill>
                <a:latin typeface="Arial"/>
                <a:hlinkClick r:id="rId10"/>
              </a:rPr>
              <a:t>Bloomberg Law — NYT v. OpenAI (суд обязал хранить логи)</a:t>
            </a:r>
            <a:r>
              <a:rPr sz="740" i="1">
                <a:solidFill>
                  <a:srgbClr val="1C7293"/>
                </a:solidFill>
                <a:latin typeface="Arial"/>
              </a:rPr>
              <a:t>   ·   </a:t>
            </a:r>
            <a:r>
              <a:rPr sz="740" b="1" i="1">
                <a:solidFill>
                  <a:srgbClr val="065A82"/>
                </a:solidFill>
                <a:latin typeface="Arial"/>
              </a:rPr>
              <a:t>[5] </a:t>
            </a:r>
            <a:r>
              <a:rPr sz="740" i="1">
                <a:solidFill>
                  <a:srgbClr val="1C7293"/>
                </a:solidFill>
                <a:latin typeface="Arial"/>
                <a:hlinkClick r:id="rId11"/>
              </a:rPr>
              <a:t>Anthropic — API and Data Retention (границы ZDR)</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41 / 55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«У нас ZDR» ≠ «данные защищены во всей цепочке».</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ZDR (zero data retention) покрывает основные вызовы модели — но не всю архитектуру. Агент = модель + инструменты, и инструменты часто вне ZDR.</a:t>
            </a:r>
          </a:p>
        </p:txBody>
      </p:sp>
      <p:sp>
        <p:nvSpPr>
          <p:cNvPr id="4" name="Rounded Rectangle 3"/>
          <p:cNvSpPr/>
          <p:nvPr/>
        </p:nvSpPr>
        <p:spPr>
          <a:xfrm>
            <a:off x="502920" y="1664208"/>
            <a:ext cx="5532120" cy="2834640"/>
          </a:xfrm>
          <a:prstGeom prst="roundRect">
            <a:avLst>
              <a:gd name="adj" fmla="val 1075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slash-teal.png"/>
          <p:cNvPicPr>
            <a:picLocks noChangeAspect="1"/>
          </p:cNvPicPr>
          <p:nvPr/>
        </p:nvPicPr>
        <p:blipFill>
          <a:blip r:embed="rId2"/>
          <a:stretch>
            <a:fillRect/>
          </a:stretch>
        </p:blipFill>
        <p:spPr>
          <a:xfrm>
            <a:off x="722376" y="1828800"/>
            <a:ext cx="402336" cy="402336"/>
          </a:xfrm>
          <a:prstGeom prst="rect">
            <a:avLst/>
          </a:prstGeom>
        </p:spPr>
      </p:pic>
      <p:sp>
        <p:nvSpPr>
          <p:cNvPr id="6" name="TextBox 5"/>
          <p:cNvSpPr txBox="1"/>
          <p:nvPr/>
        </p:nvSpPr>
        <p:spPr>
          <a:xfrm>
            <a:off x="1252728" y="1847088"/>
            <a:ext cx="461772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ZDR НЕ покрывает</a:t>
            </a:r>
          </a:p>
        </p:txBody>
      </p:sp>
      <p:sp>
        <p:nvSpPr>
          <p:cNvPr id="7" name="Oval 6"/>
          <p:cNvSpPr/>
          <p:nvPr/>
        </p:nvSpPr>
        <p:spPr>
          <a:xfrm>
            <a:off x="758952" y="241401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359152"/>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Files API</a:t>
            </a:r>
          </a:p>
        </p:txBody>
      </p:sp>
      <p:sp>
        <p:nvSpPr>
          <p:cNvPr id="9" name="Oval 8"/>
          <p:cNvSpPr/>
          <p:nvPr/>
        </p:nvSpPr>
        <p:spPr>
          <a:xfrm>
            <a:off x="3410712" y="241401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11880" y="2359152"/>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пакетную обработку</a:t>
            </a:r>
          </a:p>
        </p:txBody>
      </p:sp>
      <p:sp>
        <p:nvSpPr>
          <p:cNvPr id="11" name="Oval 10"/>
          <p:cNvSpPr/>
          <p:nvPr/>
        </p:nvSpPr>
        <p:spPr>
          <a:xfrm>
            <a:off x="758952" y="292608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2871216"/>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исполнение кода в контейнерах</a:t>
            </a:r>
          </a:p>
        </p:txBody>
      </p:sp>
      <p:sp>
        <p:nvSpPr>
          <p:cNvPr id="13" name="Oval 12"/>
          <p:cNvSpPr/>
          <p:nvPr/>
        </p:nvSpPr>
        <p:spPr>
          <a:xfrm>
            <a:off x="3410712" y="292608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1880" y="2871216"/>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MCP-коннектор</a:t>
            </a:r>
          </a:p>
        </p:txBody>
      </p:sp>
      <p:sp>
        <p:nvSpPr>
          <p:cNvPr id="15" name="Oval 14"/>
          <p:cNvSpPr/>
          <p:nvPr/>
        </p:nvSpPr>
        <p:spPr>
          <a:xfrm>
            <a:off x="758952" y="343814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383280"/>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сторонние интеграции</a:t>
            </a:r>
          </a:p>
        </p:txBody>
      </p:sp>
      <p:sp>
        <p:nvSpPr>
          <p:cNvPr id="17" name="Oval 16"/>
          <p:cNvSpPr/>
          <p:nvPr/>
        </p:nvSpPr>
        <p:spPr>
          <a:xfrm>
            <a:off x="3410712" y="343814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11880" y="3383280"/>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потребительские планы</a:t>
            </a:r>
          </a:p>
        </p:txBody>
      </p:sp>
      <p:sp>
        <p:nvSpPr>
          <p:cNvPr id="19" name="TextBox 18"/>
          <p:cNvSpPr txBox="1"/>
          <p:nvPr/>
        </p:nvSpPr>
        <p:spPr>
          <a:xfrm>
            <a:off x="758952" y="3986784"/>
            <a:ext cx="5020056" cy="420624"/>
          </a:xfrm>
          <a:prstGeom prst="rect">
            <a:avLst/>
          </a:prstGeom>
          <a:noFill/>
        </p:spPr>
        <p:txBody>
          <a:bodyPr wrap="square" lIns="0" rIns="0" tIns="0" bIns="0" anchor="t">
            <a:spAutoFit/>
          </a:bodyPr>
          <a:lstStyle/>
          <a:p>
            <a:pPr algn="l">
              <a:lnSpc>
                <a:spcPct val="110000"/>
              </a:lnSpc>
            </a:pPr>
            <a:r>
              <a:rPr sz="1200" b="1" i="0">
                <a:solidFill>
                  <a:srgbClr val="028090"/>
                </a:solidFill>
                <a:latin typeface="Arial"/>
              </a:rPr>
              <a:t>Чем агентнее архитектура — тем больше её данных проходит через эти звенья.</a:t>
            </a:r>
          </a:p>
        </p:txBody>
      </p:sp>
      <p:sp>
        <p:nvSpPr>
          <p:cNvPr id="20" name="Rounded Rectangle 19"/>
          <p:cNvSpPr/>
          <p:nvPr/>
        </p:nvSpPr>
        <p:spPr>
          <a:xfrm>
            <a:off x="6172200" y="1664208"/>
            <a:ext cx="5532120" cy="2834640"/>
          </a:xfrm>
          <a:prstGeom prst="roundRect">
            <a:avLst>
              <a:gd name="adj" fmla="val 1075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avel-gold.png"/>
          <p:cNvPicPr>
            <a:picLocks noChangeAspect="1"/>
          </p:cNvPicPr>
          <p:nvPr/>
        </p:nvPicPr>
        <p:blipFill>
          <a:blip r:embed="rId3"/>
          <a:stretch>
            <a:fillRect/>
          </a:stretch>
        </p:blipFill>
        <p:spPr>
          <a:xfrm>
            <a:off x="6391656" y="1828800"/>
            <a:ext cx="402336" cy="402336"/>
          </a:xfrm>
          <a:prstGeom prst="rect">
            <a:avLst/>
          </a:prstGeom>
        </p:spPr>
      </p:pic>
      <p:sp>
        <p:nvSpPr>
          <p:cNvPr id="22" name="TextBox 21"/>
          <p:cNvSpPr txBox="1"/>
          <p:nvPr/>
        </p:nvSpPr>
        <p:spPr>
          <a:xfrm>
            <a:off x="6922008" y="1847088"/>
            <a:ext cx="4617720" cy="38404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Судебный приказ переживает вашу политику</a:t>
            </a:r>
          </a:p>
        </p:txBody>
      </p:sp>
      <p:sp>
        <p:nvSpPr>
          <p:cNvPr id="23" name="TextBox 22"/>
          <p:cNvSpPr txBox="1"/>
          <p:nvPr/>
        </p:nvSpPr>
        <p:spPr>
          <a:xfrm>
            <a:off x="6428232" y="2395728"/>
            <a:ext cx="5020056" cy="11887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NYT v. OpenAI (2025): суд обязал сохранять ВСЕ логи ChatGPT как доказательства. Договорная политика «30 дней» оказалась бессильна против litigation hold по чужому спору.</a:t>
            </a:r>
          </a:p>
        </p:txBody>
      </p:sp>
      <p:sp>
        <p:nvSpPr>
          <p:cNvPr id="24" name="TextBox 23"/>
          <p:cNvSpPr txBox="1"/>
          <p:nvPr/>
        </p:nvSpPr>
        <p:spPr>
          <a:xfrm>
            <a:off x="6428232" y="3621024"/>
            <a:ext cx="5020056" cy="786384"/>
          </a:xfrm>
          <a:prstGeom prst="rect">
            <a:avLst/>
          </a:prstGeom>
          <a:noFill/>
        </p:spPr>
        <p:txBody>
          <a:bodyPr wrap="square" lIns="0" rIns="0" tIns="0" bIns="0" anchor="t">
            <a:spAutoFit/>
          </a:bodyPr>
          <a:lstStyle/>
          <a:p>
            <a:pPr algn="l">
              <a:lnSpc>
                <a:spcPct val="116000"/>
              </a:lnSpc>
            </a:pPr>
            <a:r>
              <a:rPr sz="1300" b="1" i="0">
                <a:solidFill>
                  <a:srgbClr val="065A82"/>
                </a:solidFill>
                <a:latin typeface="Arial"/>
              </a:rPr>
              <a:t>Данные, покинувшие ваш периметр, живут по правилам, на которые вы не влияете.</a:t>
            </a:r>
          </a:p>
        </p:txBody>
      </p:sp>
      <p:sp>
        <p:nvSpPr>
          <p:cNvPr id="25" name="Rounded Rectangle 24"/>
          <p:cNvSpPr/>
          <p:nvPr/>
        </p:nvSpPr>
        <p:spPr>
          <a:xfrm>
            <a:off x="502920" y="4626864"/>
            <a:ext cx="8275320" cy="14813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681727"/>
            <a:ext cx="7872984" cy="137160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составьте карту данных по каждой функции до боевой эксплуатации — какие данные, через какое звено, с какой политикой хранения, какие звенья сторонние. Регулируемые/чувствительные данные — только с ZDR/BAA или локально (on-prem).</a:t>
            </a:r>
          </a:p>
        </p:txBody>
      </p:sp>
      <p:sp>
        <p:nvSpPr>
          <p:cNvPr id="27" name="Rounded Rectangle 26"/>
          <p:cNvSpPr/>
          <p:nvPr/>
        </p:nvSpPr>
        <p:spPr>
          <a:xfrm>
            <a:off x="8915400" y="4581144"/>
            <a:ext cx="2834640" cy="1636776"/>
          </a:xfrm>
          <a:prstGeom prst="roundRect">
            <a:avLst>
              <a:gd name="adj" fmla="val 4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s24-alwayshasbeen-ru.png"/>
          <p:cNvPicPr>
            <a:picLocks noChangeAspect="1"/>
          </p:cNvPicPr>
          <p:nvPr/>
        </p:nvPicPr>
        <p:blipFill>
          <a:blip r:embed="rId4"/>
          <a:stretch>
            <a:fillRect/>
          </a:stretch>
        </p:blipFill>
        <p:spPr>
          <a:xfrm>
            <a:off x="8961120" y="4628006"/>
            <a:ext cx="2743200" cy="1543050"/>
          </a:xfrm>
          <a:prstGeom prst="rect">
            <a:avLst/>
          </a:prstGeom>
        </p:spPr>
      </p:pic>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42 / 55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Реальные агенты для кода — через рамку экипировки.</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Разница между инструментами — не в «качестве модели», а в том, какие слоты экипировки заполнены и где агент физически живёт</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de-mid.png"/>
          <p:cNvPicPr>
            <a:picLocks noChangeAspect="1"/>
          </p:cNvPicPr>
          <p:nvPr/>
        </p:nvPicPr>
        <p:blipFill>
          <a:blip r:embed="rId2"/>
          <a:stretch>
            <a:fillRect/>
          </a:stretch>
        </p:blipFill>
        <p:spPr>
          <a:xfrm>
            <a:off x="704088" y="1792224"/>
            <a:ext cx="402336" cy="402336"/>
          </a:xfrm>
          <a:prstGeom prst="rect">
            <a:avLst/>
          </a:prstGeom>
        </p:spPr>
      </p:pic>
      <p:sp>
        <p:nvSpPr>
          <p:cNvPr id="6" name="TextBox 5"/>
          <p:cNvSpPr txBox="1"/>
          <p:nvPr/>
        </p:nvSpPr>
        <p:spPr>
          <a:xfrm>
            <a:off x="119786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 Code</a:t>
            </a:r>
          </a:p>
        </p:txBody>
      </p:sp>
      <p:sp>
        <p:nvSpPr>
          <p:cNvPr id="7" name="TextBox 6"/>
          <p:cNvSpPr txBox="1"/>
          <p:nvPr/>
        </p:nvSpPr>
        <p:spPr>
          <a:xfrm>
            <a:off x="72237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терминал + IDE · проприетарный</a:t>
            </a:r>
          </a:p>
        </p:txBody>
      </p:sp>
      <p:sp>
        <p:nvSpPr>
          <p:cNvPr id="8" name="TextBox 7"/>
          <p:cNvSpPr txBox="1"/>
          <p:nvPr/>
        </p:nvSpPr>
        <p:spPr>
          <a:xfrm>
            <a:off x="72237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экипировка: память, файлы-инструкции, навыки, полноценные субагенты, MCP — почти все 5 слотов</a:t>
            </a:r>
          </a:p>
        </p:txBody>
      </p:sp>
      <p:sp>
        <p:nvSpPr>
          <p:cNvPr id="9" name="Rounded Rectangle 8"/>
          <p:cNvSpPr/>
          <p:nvPr/>
        </p:nvSpPr>
        <p:spPr>
          <a:xfrm>
            <a:off x="68580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цена — большая операционная сложность</a:t>
            </a:r>
          </a:p>
        </p:txBody>
      </p:sp>
      <p:sp>
        <p:nvSpPr>
          <p:cNvPr id="11" name="Rounded Rectangle 10"/>
          <p:cNvSpPr/>
          <p:nvPr/>
        </p:nvSpPr>
        <p:spPr>
          <a:xfrm>
            <a:off x="338328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ode-mid.png"/>
          <p:cNvPicPr>
            <a:picLocks noChangeAspect="1"/>
          </p:cNvPicPr>
          <p:nvPr/>
        </p:nvPicPr>
        <p:blipFill>
          <a:blip r:embed="rId2"/>
          <a:stretch>
            <a:fillRect/>
          </a:stretch>
        </p:blipFill>
        <p:spPr>
          <a:xfrm>
            <a:off x="3584448" y="1792224"/>
            <a:ext cx="402336" cy="402336"/>
          </a:xfrm>
          <a:prstGeom prst="rect">
            <a:avLst/>
          </a:prstGeom>
        </p:spPr>
      </p:pic>
      <p:sp>
        <p:nvSpPr>
          <p:cNvPr id="13" name="TextBox 12"/>
          <p:cNvSpPr txBox="1"/>
          <p:nvPr/>
        </p:nvSpPr>
        <p:spPr>
          <a:xfrm>
            <a:off x="407822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Aider</a:t>
            </a:r>
          </a:p>
        </p:txBody>
      </p:sp>
      <p:sp>
        <p:nvSpPr>
          <p:cNvPr id="14" name="TextBox 13"/>
          <p:cNvSpPr txBox="1"/>
          <p:nvPr/>
        </p:nvSpPr>
        <p:spPr>
          <a:xfrm>
            <a:off x="360273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сначала терминал · открытый код</a:t>
            </a:r>
          </a:p>
        </p:txBody>
      </p:sp>
      <p:sp>
        <p:nvSpPr>
          <p:cNvPr id="15" name="TextBox 14"/>
          <p:cNvSpPr txBox="1"/>
          <p:nvPr/>
        </p:nvSpPr>
        <p:spPr>
          <a:xfrm>
            <a:off x="360273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минимальная простота: без развитой памяти, без субагентов, без навыков. ~47k★ на GitHub</a:t>
            </a:r>
          </a:p>
        </p:txBody>
      </p:sp>
      <p:sp>
        <p:nvSpPr>
          <p:cNvPr id="16" name="Rounded Rectangle 15"/>
          <p:cNvSpPr/>
          <p:nvPr/>
        </p:nvSpPr>
        <p:spPr>
          <a:xfrm>
            <a:off x="356616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«тонкая» оснастка — самостоятельный выбор, не недоразвитость</a:t>
            </a:r>
          </a:p>
        </p:txBody>
      </p:sp>
      <p:sp>
        <p:nvSpPr>
          <p:cNvPr id="18" name="Rounded Rectangle 17"/>
          <p:cNvSpPr/>
          <p:nvPr/>
        </p:nvSpPr>
        <p:spPr>
          <a:xfrm>
            <a:off x="626364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ode-mid.png"/>
          <p:cNvPicPr>
            <a:picLocks noChangeAspect="1"/>
          </p:cNvPicPr>
          <p:nvPr/>
        </p:nvPicPr>
        <p:blipFill>
          <a:blip r:embed="rId2"/>
          <a:stretch>
            <a:fillRect/>
          </a:stretch>
        </p:blipFill>
        <p:spPr>
          <a:xfrm>
            <a:off x="6464807" y="1792224"/>
            <a:ext cx="402336" cy="402336"/>
          </a:xfrm>
          <a:prstGeom prst="rect">
            <a:avLst/>
          </a:prstGeom>
        </p:spPr>
      </p:pic>
      <p:sp>
        <p:nvSpPr>
          <p:cNvPr id="20" name="TextBox 19"/>
          <p:cNvSpPr txBox="1"/>
          <p:nvPr/>
        </p:nvSpPr>
        <p:spPr>
          <a:xfrm>
            <a:off x="6958583"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Cursor</a:t>
            </a:r>
          </a:p>
        </p:txBody>
      </p:sp>
      <p:sp>
        <p:nvSpPr>
          <p:cNvPr id="21" name="TextBox 20"/>
          <p:cNvSpPr txBox="1"/>
          <p:nvPr/>
        </p:nvSpPr>
        <p:spPr>
          <a:xfrm>
            <a:off x="648309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настольная IDE (форк VS Code) · проприетарный</a:t>
            </a:r>
          </a:p>
        </p:txBody>
      </p:sp>
      <p:sp>
        <p:nvSpPr>
          <p:cNvPr id="22" name="TextBox 21"/>
          <p:cNvSpPr txBox="1"/>
          <p:nvPr/>
        </p:nvSpPr>
        <p:spPr>
          <a:xfrm>
            <a:off x="648309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агент внутри редактора — не терминал. Форма интеграции — отдельная ось от оснастки</a:t>
            </a:r>
          </a:p>
        </p:txBody>
      </p:sp>
      <p:sp>
        <p:nvSpPr>
          <p:cNvPr id="23" name="Rounded Rectangle 22"/>
          <p:cNvSpPr/>
          <p:nvPr/>
        </p:nvSpPr>
        <p:spPr>
          <a:xfrm>
            <a:off x="644652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5624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где живёт агент — тоже архитектурное решение</a:t>
            </a:r>
          </a:p>
        </p:txBody>
      </p:sp>
      <p:sp>
        <p:nvSpPr>
          <p:cNvPr id="25" name="Rounded Rectangle 24"/>
          <p:cNvSpPr/>
          <p:nvPr/>
        </p:nvSpPr>
        <p:spPr>
          <a:xfrm>
            <a:off x="9144000" y="1591056"/>
            <a:ext cx="2761488" cy="3703320"/>
          </a:xfrm>
          <a:prstGeom prst="roundRect">
            <a:avLst>
              <a:gd name="adj" fmla="val 11037"/>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ode-gold.png"/>
          <p:cNvPicPr>
            <a:picLocks noChangeAspect="1"/>
          </p:cNvPicPr>
          <p:nvPr/>
        </p:nvPicPr>
        <p:blipFill>
          <a:blip r:embed="rId3"/>
          <a:stretch>
            <a:fillRect/>
          </a:stretch>
        </p:blipFill>
        <p:spPr>
          <a:xfrm>
            <a:off x="9345168" y="1792224"/>
            <a:ext cx="402336" cy="402336"/>
          </a:xfrm>
          <a:prstGeom prst="rect">
            <a:avLst/>
          </a:prstGeom>
        </p:spPr>
      </p:pic>
      <p:sp>
        <p:nvSpPr>
          <p:cNvPr id="27" name="TextBox 26"/>
          <p:cNvSpPr txBox="1"/>
          <p:nvPr/>
        </p:nvSpPr>
        <p:spPr>
          <a:xfrm>
            <a:off x="983894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OpenHands</a:t>
            </a:r>
          </a:p>
        </p:txBody>
      </p:sp>
      <p:sp>
        <p:nvSpPr>
          <p:cNvPr id="28" name="TextBox 27"/>
          <p:cNvSpPr txBox="1"/>
          <p:nvPr/>
        </p:nvSpPr>
        <p:spPr>
          <a:xfrm>
            <a:off x="936345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платформа на своём сервере · MIT · ~80k★</a:t>
            </a:r>
          </a:p>
        </p:txBody>
      </p:sp>
      <p:sp>
        <p:nvSpPr>
          <p:cNvPr id="29" name="TextBox 28"/>
          <p:cNvSpPr txBox="1"/>
          <p:nvPr/>
        </p:nvSpPr>
        <p:spPr>
          <a:xfrm>
            <a:off x="936345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автономность, локальное/Docker/облако развёртывание</a:t>
            </a:r>
          </a:p>
        </p:txBody>
      </p:sp>
      <p:sp>
        <p:nvSpPr>
          <p:cNvPr id="30" name="Rounded Rectangle 29"/>
          <p:cNvSpPr/>
          <p:nvPr/>
        </p:nvSpPr>
        <p:spPr>
          <a:xfrm>
            <a:off x="9326880" y="3977640"/>
            <a:ext cx="2395728" cy="1188720"/>
          </a:xfrm>
          <a:prstGeom prst="roundRect">
            <a:avLst>
              <a:gd name="adj" fmla="val 10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36608" y="4032504"/>
            <a:ext cx="2176272" cy="1097280"/>
          </a:xfrm>
          <a:prstGeom prst="rect">
            <a:avLst/>
          </a:prstGeom>
          <a:noFill/>
        </p:spPr>
        <p:txBody>
          <a:bodyPr wrap="square" lIns="0" rIns="0" tIns="0" bIns="0" anchor="t">
            <a:spAutoFit/>
          </a:bodyPr>
          <a:lstStyle/>
          <a:p>
            <a:pPr algn="l">
              <a:lnSpc>
                <a:spcPct val="110000"/>
              </a:lnSpc>
            </a:pPr>
            <a:r>
              <a:rPr sz="950" b="0" i="1">
                <a:solidFill>
                  <a:srgbClr val="21295C"/>
                </a:solidFill>
                <a:latin typeface="Arial"/>
              </a:rPr>
              <a:t>рабочая гипотеза по совпадению профиля — вероятный кандидат на «OpenClaw», не подтверждённый факт</a:t>
            </a:r>
          </a:p>
        </p:txBody>
      </p:sp>
      <p:sp>
        <p:nvSpPr>
          <p:cNvPr id="32" name="Rounded Rectangle 31"/>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Выбор инструмента подчиняется тому же правилу: не бери максимально оснащённый по умолчанию — смотри, какая оснастка нужна именно твоей задаче.</a:t>
            </a:r>
          </a:p>
        </p:txBody>
      </p:sp>
      <p:sp>
        <p:nvSpPr>
          <p:cNvPr id="34" name="TextBox 3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обзор через рамку экипировки</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43 / 55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Провалы агентов.</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Каждый провал — режим отказа цикла агента в датированном кейсе: урок + альтернатива.</a:t>
            </a:r>
          </a:p>
        </p:txBody>
      </p:sp>
      <p:sp>
        <p:nvSpPr>
          <p:cNvPr id="4" name="Rounded Rectangle 3"/>
          <p:cNvSpPr/>
          <p:nvPr/>
        </p:nvSpPr>
        <p:spPr>
          <a:xfrm>
            <a:off x="502920" y="1517904"/>
            <a:ext cx="3703320" cy="4160520"/>
          </a:xfrm>
          <a:prstGeom prst="roundRect">
            <a:avLst>
              <a:gd name="adj" fmla="val 823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lame-gold.png"/>
          <p:cNvPicPr>
            <a:picLocks noChangeAspect="1"/>
          </p:cNvPicPr>
          <p:nvPr/>
        </p:nvPicPr>
        <p:blipFill>
          <a:blip r:embed="rId2"/>
          <a:stretch>
            <a:fillRect/>
          </a:stretch>
        </p:blipFill>
        <p:spPr>
          <a:xfrm>
            <a:off x="704088" y="1719072"/>
            <a:ext cx="457200" cy="457200"/>
          </a:xfrm>
          <a:prstGeom prst="rect">
            <a:avLst/>
          </a:prstGeom>
        </p:spPr>
      </p:pic>
      <p:sp>
        <p:nvSpPr>
          <p:cNvPr id="6" name="TextBox 5"/>
          <p:cNvSpPr txBox="1"/>
          <p:nvPr/>
        </p:nvSpPr>
        <p:spPr>
          <a:xfrm>
            <a:off x="1252728" y="1737360"/>
            <a:ext cx="2788920" cy="457200"/>
          </a:xfrm>
          <a:prstGeom prst="rect">
            <a:avLst/>
          </a:prstGeom>
          <a:noFill/>
        </p:spPr>
        <p:txBody>
          <a:bodyPr wrap="square" lIns="0" rIns="0" tIns="0" bIns="0" anchor="ctr">
            <a:spAutoFit/>
          </a:bodyPr>
          <a:lstStyle/>
          <a:p>
            <a:pPr algn="l">
              <a:lnSpc>
                <a:spcPct val="115000"/>
              </a:lnSpc>
            </a:pPr>
            <a:r>
              <a:rPr sz="1500" b="1" i="0">
                <a:solidFill>
                  <a:srgbClr val="21295C"/>
                </a:solidFill>
                <a:latin typeface="Arial"/>
              </a:rPr>
              <a:t>1. Петля без лимитов</a:t>
            </a:r>
          </a:p>
        </p:txBody>
      </p:sp>
      <p:sp>
        <p:nvSpPr>
          <p:cNvPr id="7" name="TextBox 6"/>
          <p:cNvSpPr txBox="1"/>
          <p:nvPr/>
        </p:nvSpPr>
        <p:spPr>
          <a:xfrm>
            <a:off x="722376" y="2295144"/>
            <a:ext cx="3264408" cy="868680"/>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Агент на «синхронизируй заказы» получил HTTP 429 → план→вызов→429→…</a:t>
            </a:r>
          </a:p>
        </p:txBody>
      </p:sp>
      <p:sp>
        <p:nvSpPr>
          <p:cNvPr id="8" name="TextBox 7"/>
          <p:cNvSpPr txBox="1"/>
          <p:nvPr/>
        </p:nvSpPr>
        <p:spPr>
          <a:xfrm>
            <a:off x="722376" y="3090672"/>
            <a:ext cx="3264408" cy="457200"/>
          </a:xfrm>
          <a:prstGeom prst="rect">
            <a:avLst/>
          </a:prstGeom>
          <a:noFill/>
        </p:spPr>
        <p:txBody>
          <a:bodyPr wrap="square" lIns="0" rIns="0" tIns="0" bIns="0" anchor="t">
            <a:spAutoFit/>
          </a:bodyPr>
          <a:lstStyle/>
          <a:p>
            <a:pPr algn="l">
              <a:lnSpc>
                <a:spcPct val="100000"/>
              </a:lnSpc>
            </a:pPr>
            <a:r>
              <a:rPr sz="2200" b="1" i="0">
                <a:solidFill>
                  <a:srgbClr val="F0AB00"/>
                </a:solidFill>
                <a:latin typeface="Arial"/>
              </a:rPr>
              <a:t>$4 200 за 63 часа</a:t>
            </a:r>
            <a:r>
              <a:rPr sz="1144" baseline="30000" b="0" i="1">
                <a:latin typeface="Arial"/>
                <a:cs typeface="Arial"/>
                <a:ea typeface="Arial"/>
                <a:solidFill>
                  <a:srgbClr val="1C7293"/>
                </a:solidFill>
              </a:rPr>
              <a:t>[1]</a:t>
            </a:r>
          </a:p>
        </p:txBody>
      </p:sp>
      <p:sp>
        <p:nvSpPr>
          <p:cNvPr id="9" name="Rounded Rectangle 8"/>
          <p:cNvSpPr/>
          <p:nvPr/>
        </p:nvSpPr>
        <p:spPr>
          <a:xfrm>
            <a:off x="722376" y="3566160"/>
            <a:ext cx="3264408" cy="566928"/>
          </a:xfrm>
          <a:prstGeom prst="roundRect">
            <a:avLst>
              <a:gd name="adj" fmla="val 12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3593591"/>
            <a:ext cx="3008376" cy="512064"/>
          </a:xfrm>
          <a:prstGeom prst="rect">
            <a:avLst/>
          </a:prstGeom>
          <a:noFill/>
        </p:spPr>
        <p:txBody>
          <a:bodyPr wrap="square" lIns="0" rIns="0" tIns="0" bIns="0" anchor="ctr">
            <a:spAutoFit/>
          </a:bodyPr>
          <a:lstStyle/>
          <a:p>
            <a:pPr algn="l">
              <a:lnSpc>
                <a:spcPct val="105000"/>
              </a:lnSpc>
            </a:pPr>
            <a:r>
              <a:rPr sz="1000" b="1" i="0">
                <a:solidFill>
                  <a:srgbClr val="21295C"/>
                </a:solidFill>
                <a:latin typeface="Arial"/>
              </a:rPr>
              <a:t>База сравнения: скрипт повторов с задержкой решил бы ту же задачу за секунды-минуты, практически бесплатно</a:t>
            </a:r>
          </a:p>
        </p:txBody>
      </p:sp>
      <p:sp>
        <p:nvSpPr>
          <p:cNvPr id="11" name="TextBox 10"/>
          <p:cNvSpPr txBox="1"/>
          <p:nvPr/>
        </p:nvSpPr>
        <p:spPr>
          <a:xfrm>
            <a:off x="722376" y="4187952"/>
            <a:ext cx="3264408" cy="512064"/>
          </a:xfrm>
          <a:prstGeom prst="rect">
            <a:avLst/>
          </a:prstGeom>
          <a:noFill/>
        </p:spPr>
        <p:txBody>
          <a:bodyPr wrap="square" lIns="0" rIns="0" tIns="0" bIns="0" anchor="t">
            <a:spAutoFit/>
          </a:bodyPr>
          <a:lstStyle/>
          <a:p>
            <a:pPr algn="l">
              <a:lnSpc>
                <a:spcPct val="108000"/>
              </a:lnSpc>
            </a:pPr>
            <a:r>
              <a:rPr sz="1000" b="0" i="1">
                <a:solidFill>
                  <a:srgbClr val="5B6678"/>
                </a:solidFill>
                <a:latin typeface="Arial"/>
              </a:rPr>
              <a:t>$4 200 — цена не автоматизации, а неправильного выбора архитектуры под предсказуемую задачу</a:t>
            </a:r>
          </a:p>
        </p:txBody>
      </p:sp>
      <p:sp>
        <p:nvSpPr>
          <p:cNvPr id="12" name="TextBox 11"/>
          <p:cNvSpPr txBox="1"/>
          <p:nvPr/>
        </p:nvSpPr>
        <p:spPr>
          <a:xfrm>
            <a:off x="722376" y="4754880"/>
            <a:ext cx="3264408" cy="822960"/>
          </a:xfrm>
          <a:prstGeom prst="rect">
            <a:avLst/>
          </a:prstGeom>
          <a:noFill/>
        </p:spPr>
        <p:txBody>
          <a:bodyPr wrap="square" lIns="0" rIns="0" tIns="0" bIns="0" anchor="t">
            <a:spAutoFit/>
          </a:bodyPr>
          <a:lstStyle/>
          <a:p>
            <a:pPr algn="l">
              <a:lnSpc>
                <a:spcPct val="110000"/>
              </a:lnSpc>
            </a:pPr>
            <a:r>
              <a:rPr sz="1100" b="1" i="0">
                <a:solidFill>
                  <a:srgbClr val="21295C"/>
                </a:solidFill>
                <a:latin typeface="Arial"/>
              </a:rPr>
              <a:t>Более подходящая архитектура: скрипт повторов с задержкой, не агент; лимиты бюджета и итераций ВНЕ агента</a:t>
            </a:r>
          </a:p>
        </p:txBody>
      </p:sp>
      <p:sp>
        <p:nvSpPr>
          <p:cNvPr id="13" name="Rounded Rectangle 12"/>
          <p:cNvSpPr/>
          <p:nvPr/>
        </p:nvSpPr>
        <p:spPr>
          <a:xfrm>
            <a:off x="4389120" y="1517904"/>
            <a:ext cx="3703320" cy="41605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08576" y="1700784"/>
            <a:ext cx="3264408"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2. Накопление ошибок (compounding)</a:t>
            </a:r>
          </a:p>
        </p:txBody>
      </p:sp>
      <p:pic>
        <p:nvPicPr>
          <p:cNvPr id="15" name="Picture 14" descr="c23-compounding.png"/>
          <p:cNvPicPr>
            <a:picLocks noChangeAspect="1"/>
          </p:cNvPicPr>
          <p:nvPr/>
        </p:nvPicPr>
        <p:blipFill>
          <a:blip r:embed="rId3"/>
          <a:stretch>
            <a:fillRect/>
          </a:stretch>
        </p:blipFill>
        <p:spPr>
          <a:xfrm>
            <a:off x="4535424" y="2218502"/>
            <a:ext cx="3410712" cy="2064378"/>
          </a:xfrm>
          <a:prstGeom prst="rect">
            <a:avLst/>
          </a:prstGeom>
        </p:spPr>
      </p:pic>
      <p:sp>
        <p:nvSpPr>
          <p:cNvPr id="16" name="TextBox 15"/>
          <p:cNvSpPr txBox="1"/>
          <p:nvPr/>
        </p:nvSpPr>
        <p:spPr>
          <a:xfrm>
            <a:off x="4608576" y="4535424"/>
            <a:ext cx="3264408" cy="960120"/>
          </a:xfrm>
          <a:prstGeom prst="rect">
            <a:avLst/>
          </a:prstGeom>
          <a:noFill/>
        </p:spPr>
        <p:txBody>
          <a:bodyPr wrap="square" lIns="0" rIns="0" tIns="0" bIns="0" anchor="t">
            <a:spAutoFit/>
          </a:bodyPr>
          <a:lstStyle/>
          <a:p>
            <a:pPr algn="l">
              <a:lnSpc>
                <a:spcPct val="116000"/>
              </a:lnSpc>
            </a:pPr>
            <a:r>
              <a:rPr sz="1200" b="1" i="0">
                <a:solidFill>
                  <a:srgbClr val="21295C"/>
                </a:solidFill>
                <a:latin typeface="Arial"/>
              </a:rPr>
              <a:t>Вывод: «докрутить один шаг» — слабый рычаг; «меньше переходов + проверка между шагами» — сильный</a:t>
            </a:r>
            <a:r>
              <a:rPr sz="624" baseline="30000" b="0" i="1">
                <a:latin typeface="Arial"/>
                <a:cs typeface="Arial"/>
                <a:ea typeface="Arial"/>
                <a:solidFill>
                  <a:srgbClr val="1C7293"/>
                </a:solidFill>
              </a:rPr>
              <a:t>[2]</a:t>
            </a:r>
          </a:p>
        </p:txBody>
      </p:sp>
      <p:sp>
        <p:nvSpPr>
          <p:cNvPr id="17" name="Rounded Rectangle 16"/>
          <p:cNvSpPr/>
          <p:nvPr/>
        </p:nvSpPr>
        <p:spPr>
          <a:xfrm>
            <a:off x="8275320" y="1517904"/>
            <a:ext cx="3429000" cy="4160520"/>
          </a:xfrm>
          <a:prstGeom prst="roundRect">
            <a:avLst>
              <a:gd name="adj" fmla="val 8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git-fork-mid.png"/>
          <p:cNvPicPr>
            <a:picLocks noChangeAspect="1"/>
          </p:cNvPicPr>
          <p:nvPr/>
        </p:nvPicPr>
        <p:blipFill>
          <a:blip r:embed="rId4"/>
          <a:stretch>
            <a:fillRect/>
          </a:stretch>
        </p:blipFill>
        <p:spPr>
          <a:xfrm>
            <a:off x="8476488" y="1719072"/>
            <a:ext cx="420624" cy="420624"/>
          </a:xfrm>
          <a:prstGeom prst="rect">
            <a:avLst/>
          </a:prstGeom>
        </p:spPr>
      </p:pic>
      <p:sp>
        <p:nvSpPr>
          <p:cNvPr id="19" name="TextBox 18"/>
          <p:cNvSpPr txBox="1"/>
          <p:nvPr/>
        </p:nvSpPr>
        <p:spPr>
          <a:xfrm>
            <a:off x="8970264" y="1719072"/>
            <a:ext cx="2560320" cy="502920"/>
          </a:xfrm>
          <a:prstGeom prst="rect">
            <a:avLst/>
          </a:prstGeom>
          <a:noFill/>
        </p:spPr>
        <p:txBody>
          <a:bodyPr wrap="square" lIns="0" rIns="0" tIns="0" bIns="0" anchor="ctr">
            <a:spAutoFit/>
          </a:bodyPr>
          <a:lstStyle/>
          <a:p>
            <a:pPr algn="l">
              <a:lnSpc>
                <a:spcPct val="105000"/>
              </a:lnSpc>
            </a:pPr>
            <a:r>
              <a:rPr sz="1450" b="1" i="0">
                <a:solidFill>
                  <a:srgbClr val="065A82"/>
                </a:solidFill>
                <a:latin typeface="Arial"/>
              </a:rPr>
              <a:t>3. Мульти-агентная хрупкость</a:t>
            </a:r>
          </a:p>
        </p:txBody>
      </p:sp>
      <p:sp>
        <p:nvSpPr>
          <p:cNvPr id="20" name="TextBox 19"/>
          <p:cNvSpPr txBox="1"/>
          <p:nvPr/>
        </p:nvSpPr>
        <p:spPr>
          <a:xfrm>
            <a:off x="8494776" y="2386584"/>
            <a:ext cx="2990088" cy="141732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зависимые подзадачи → параллельные субагенты принимают конфликтующие</a:t>
            </a:r>
            <a:r>
              <a:rPr sz="650" baseline="30000" b="0" i="1">
                <a:latin typeface="Arial"/>
                <a:cs typeface="Arial"/>
                <a:ea typeface="Arial"/>
                <a:solidFill>
                  <a:srgbClr val="1C7293"/>
                </a:solidFill>
              </a:rPr>
              <a:t>[3]</a:t>
            </a:r>
            <a:r>
              <a:rPr sz="1250" b="0" i="0">
                <a:latin typeface="Arial"/>
                <a:cs typeface="Arial"/>
                <a:ea typeface="Arial"/>
                <a:solidFill>
                  <a:srgbClr val="21295C"/>
                </a:solidFill>
              </a:rPr>
              <a:t> неявные решения</a:t>
            </a:r>
          </a:p>
        </p:txBody>
      </p:sp>
      <p:sp>
        <p:nvSpPr>
          <p:cNvPr id="21" name="TextBox 20"/>
          <p:cNvSpPr txBox="1"/>
          <p:nvPr/>
        </p:nvSpPr>
        <p:spPr>
          <a:xfrm>
            <a:off x="8494776" y="3986784"/>
            <a:ext cx="2990088" cy="1508760"/>
          </a:xfrm>
          <a:prstGeom prst="rect">
            <a:avLst/>
          </a:prstGeom>
          <a:noFill/>
        </p:spPr>
        <p:txBody>
          <a:bodyPr wrap="square" lIns="0" rIns="0" tIns="0" bIns="0" anchor="t">
            <a:spAutoFit/>
          </a:bodyPr>
          <a:lstStyle/>
          <a:p>
            <a:pPr algn="l">
              <a:lnSpc>
                <a:spcPct val="118000"/>
              </a:lnSpc>
            </a:pPr>
            <a:r>
              <a:rPr sz="1250" b="1" i="0">
                <a:solidFill>
                  <a:srgbClr val="21295C"/>
                </a:solidFill>
                <a:latin typeface="Arial"/>
              </a:rPr>
              <a:t>Более подходящая: однопоточный линейный агент; мульти-агент — только широко-параллельное независимое</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Sattyam Jain 2026 — The Agent That Burned $4,200 in 63 Hours</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MindStudio — Reliability Compounding Problem</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8"/>
              </a:rPr>
              <a:t>Cognition — Don't Build Multi-Agents (хрупкость)</a:t>
            </a:r>
            <a:r>
              <a:rPr sz="850" i="1">
                <a:solidFill>
                  <a:srgbClr val="5B6678"/>
                </a:solidFill>
                <a:latin typeface="Arial"/>
              </a:rPr>
              <a:t>   ·   Атаки через инструменты (инъекция в промпт, утечка через GitHub MCP) — 4-й класс провалов, разобран на слайде безопасности. Петля на $4 200 — постмортем одного автора 2026-04 (иллюстративно); накопление ошибок — MindStudio 2025–2026.</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44 / 55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Провалы агентов — это КЛАССЫ, а не список курьёзов.</a:t>
            </a:r>
          </a:p>
        </p:txBody>
      </p:sp>
      <p:sp>
        <p:nvSpPr>
          <p:cNvPr id="3" name="TextBox 2"/>
          <p:cNvSpPr txBox="1"/>
          <p:nvPr/>
        </p:nvSpPr>
        <p:spPr>
          <a:xfrm>
            <a:off x="502920" y="987552"/>
            <a:ext cx="11201400" cy="402336"/>
          </a:xfrm>
          <a:prstGeom prst="rect">
            <a:avLst/>
          </a:prstGeom>
          <a:noFill/>
        </p:spPr>
        <p:txBody>
          <a:bodyPr wrap="square" lIns="0" rIns="0" tIns="0" bIns="0" anchor="t">
            <a:spAutoFit/>
          </a:bodyPr>
          <a:lstStyle/>
          <a:p>
            <a:pPr algn="l">
              <a:lnSpc>
                <a:spcPct val="114000"/>
              </a:lnSpc>
            </a:pPr>
            <a:r>
              <a:rPr sz="1300" b="0" i="1">
                <a:solidFill>
                  <a:srgbClr val="065A82"/>
                </a:solidFill>
                <a:latin typeface="Arial"/>
              </a:rPr>
              <a:t>Из </a:t>
            </a:r>
            <a:r>
              <a:rPr sz="1400" b="1" i="0">
                <a:solidFill>
                  <a:srgbClr val="065A82"/>
                </a:solidFill>
                <a:latin typeface="Arial"/>
              </a:rPr>
              <a:t>344</a:t>
            </a:r>
            <a:r>
              <a:rPr sz="1300" b="0" i="1">
                <a:solidFill>
                  <a:srgbClr val="065A82"/>
                </a:solidFill>
                <a:latin typeface="Arial"/>
              </a:rPr>
              <a:t> значимых для бизнеса ИИ-инцидентов в </a:t>
            </a:r>
            <a:r>
              <a:rPr sz="1400" b="1" i="0">
                <a:solidFill>
                  <a:srgbClr val="028090"/>
                </a:solidFill>
                <a:latin typeface="Arial"/>
              </a:rPr>
              <a:t>188</a:t>
            </a:r>
            <a:r>
              <a:rPr sz="1300" b="0" i="1">
                <a:solidFill>
                  <a:srgbClr val="065A82"/>
                </a:solidFill>
                <a:latin typeface="Arial"/>
              </a:rPr>
              <a:t> (≈55%) автономная система нанесла ущерб в бою БЕЗ атакующего — агент сломал всё сам. Запоминайте класс, не дату.</a:t>
            </a:r>
          </a:p>
        </p:txBody>
      </p:sp>
      <p:sp>
        <p:nvSpPr>
          <p:cNvPr id="4" name="Rounded Rectangle 3"/>
          <p:cNvSpPr/>
          <p:nvPr/>
        </p:nvSpPr>
        <p:spPr>
          <a:xfrm>
            <a:off x="365760" y="1444752"/>
            <a:ext cx="11475720" cy="4206240"/>
          </a:xfrm>
          <a:prstGeom prst="roundRect">
            <a:avLst>
              <a:gd name="adj" fmla="val 724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75488" y="1536192"/>
            <a:ext cx="34290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1536192"/>
            <a:ext cx="3209544"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Класс провала</a:t>
            </a:r>
          </a:p>
        </p:txBody>
      </p:sp>
      <p:sp>
        <p:nvSpPr>
          <p:cNvPr id="7" name="Rectangle 6"/>
          <p:cNvSpPr/>
          <p:nvPr/>
        </p:nvSpPr>
        <p:spPr>
          <a:xfrm>
            <a:off x="3904487" y="1536192"/>
            <a:ext cx="301752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14215" y="1536192"/>
            <a:ext cx="2798063"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Кейс · дата</a:t>
            </a:r>
          </a:p>
        </p:txBody>
      </p:sp>
      <p:sp>
        <p:nvSpPr>
          <p:cNvPr id="9" name="Rectangle 8"/>
          <p:cNvSpPr/>
          <p:nvPr/>
        </p:nvSpPr>
        <p:spPr>
          <a:xfrm>
            <a:off x="6922007" y="1536192"/>
            <a:ext cx="48006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31736" y="1536192"/>
            <a:ext cx="4581144"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Выученный урок</a:t>
            </a:r>
          </a:p>
        </p:txBody>
      </p:sp>
      <p:sp>
        <p:nvSpPr>
          <p:cNvPr id="11" name="Rectangle 10"/>
          <p:cNvSpPr/>
          <p:nvPr/>
        </p:nvSpPr>
        <p:spPr>
          <a:xfrm>
            <a:off x="475488" y="190195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5216" y="190195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Деструкция + избыток прав</a:t>
            </a:r>
          </a:p>
        </p:txBody>
      </p:sp>
      <p:sp>
        <p:nvSpPr>
          <p:cNvPr id="13" name="Rectangle 12"/>
          <p:cNvSpPr/>
          <p:nvPr/>
        </p:nvSpPr>
        <p:spPr>
          <a:xfrm>
            <a:off x="3904487" y="190195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14215" y="190195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PocketOS · 04.2026</a:t>
            </a:r>
          </a:p>
        </p:txBody>
      </p:sp>
      <p:sp>
        <p:nvSpPr>
          <p:cNvPr id="15" name="Rectangle 14"/>
          <p:cNvSpPr/>
          <p:nvPr/>
        </p:nvSpPr>
        <p:spPr>
          <a:xfrm>
            <a:off x="6922007" y="190195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31736" y="190195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Системный промпт ≠ контроль; жёсткая граница + наименьшие привилегии</a:t>
            </a:r>
          </a:p>
        </p:txBody>
      </p:sp>
      <p:sp>
        <p:nvSpPr>
          <p:cNvPr id="17" name="Rectangle 16"/>
          <p:cNvSpPr/>
          <p:nvPr/>
        </p:nvSpPr>
        <p:spPr>
          <a:xfrm>
            <a:off x="475488" y="226771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5216" y="226771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Инъекция без клика (zero-click)</a:t>
            </a:r>
          </a:p>
        </p:txBody>
      </p:sp>
      <p:sp>
        <p:nvSpPr>
          <p:cNvPr id="19" name="Rectangle 18"/>
          <p:cNvSpPr/>
          <p:nvPr/>
        </p:nvSpPr>
        <p:spPr>
          <a:xfrm>
            <a:off x="3904487" y="226771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14215" y="226771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EchoLeak / M365 Copilot</a:t>
            </a:r>
          </a:p>
        </p:txBody>
      </p:sp>
      <p:sp>
        <p:nvSpPr>
          <p:cNvPr id="21" name="Rectangle 20"/>
          <p:cNvSpPr/>
          <p:nvPr/>
        </p:nvSpPr>
        <p:spPr>
          <a:xfrm>
            <a:off x="6922007" y="226771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26771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«Смертельная тройка» = эксплуатируемо</a:t>
            </a:r>
          </a:p>
        </p:txBody>
      </p:sp>
      <p:sp>
        <p:nvSpPr>
          <p:cNvPr id="23" name="Rectangle 22"/>
          <p:cNvSpPr/>
          <p:nvPr/>
        </p:nvSpPr>
        <p:spPr>
          <a:xfrm>
            <a:off x="475488" y="263347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5216" y="263347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Неуправляемый расход</a:t>
            </a:r>
          </a:p>
        </p:txBody>
      </p:sp>
      <p:sp>
        <p:nvSpPr>
          <p:cNvPr id="25" name="Rectangle 24"/>
          <p:cNvSpPr/>
          <p:nvPr/>
        </p:nvSpPr>
        <p:spPr>
          <a:xfrm>
            <a:off x="3904487" y="263347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14215" y="263347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$48k/14ч · $1,3M/30дн</a:t>
            </a:r>
          </a:p>
        </p:txBody>
      </p:sp>
      <p:sp>
        <p:nvSpPr>
          <p:cNvPr id="27" name="Rectangle 26"/>
          <p:cNvSpPr/>
          <p:nvPr/>
        </p:nvSpPr>
        <p:spPr>
          <a:xfrm>
            <a:off x="6922007" y="263347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31736" y="263347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Нет критерия успеха и жёсткого потолка → цикл не завершится</a:t>
            </a:r>
          </a:p>
        </p:txBody>
      </p:sp>
      <p:sp>
        <p:nvSpPr>
          <p:cNvPr id="29" name="Rectangle 28"/>
          <p:cNvSpPr/>
          <p:nvPr/>
        </p:nvSpPr>
        <p:spPr>
          <a:xfrm>
            <a:off x="475488" y="299923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85216" y="299923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Галлюцинация пакетов</a:t>
            </a:r>
          </a:p>
        </p:txBody>
      </p:sp>
      <p:sp>
        <p:nvSpPr>
          <p:cNvPr id="31" name="Rectangle 30"/>
          <p:cNvSpPr/>
          <p:nvPr/>
        </p:nvSpPr>
        <p:spPr>
          <a:xfrm>
            <a:off x="3904487" y="299923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014215" y="299923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slopsquatting · 19,7%</a:t>
            </a:r>
          </a:p>
        </p:txBody>
      </p:sp>
      <p:sp>
        <p:nvSpPr>
          <p:cNvPr id="33" name="Rectangle 32"/>
          <p:cNvSpPr/>
          <p:nvPr/>
        </p:nvSpPr>
        <p:spPr>
          <a:xfrm>
            <a:off x="6922007" y="299923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1736" y="299923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Выдуманное имя пакета → атакующий его регистрирует; не доверять без реестра</a:t>
            </a:r>
          </a:p>
        </p:txBody>
      </p:sp>
      <p:sp>
        <p:nvSpPr>
          <p:cNvPr id="35" name="Rectangle 34"/>
          <p:cNvSpPr/>
          <p:nvPr/>
        </p:nvSpPr>
        <p:spPr>
          <a:xfrm>
            <a:off x="475488" y="3364991"/>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3364991"/>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Вредоносный MCP-сервер</a:t>
            </a:r>
          </a:p>
        </p:txBody>
      </p:sp>
      <p:sp>
        <p:nvSpPr>
          <p:cNvPr id="37" name="Rectangle 36"/>
          <p:cNvSpPr/>
          <p:nvPr/>
        </p:nvSpPr>
        <p:spPr>
          <a:xfrm>
            <a:off x="3904487" y="3364991"/>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014215" y="3364991"/>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postmark-mcp · 09.2025</a:t>
            </a:r>
          </a:p>
        </p:txBody>
      </p:sp>
      <p:sp>
        <p:nvSpPr>
          <p:cNvPr id="39" name="Rectangle 38"/>
          <p:cNvSpPr/>
          <p:nvPr/>
        </p:nvSpPr>
        <p:spPr>
          <a:xfrm>
            <a:off x="6922007" y="3364991"/>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31736" y="3364991"/>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MCP-сервер = непроверенная цепочка поставок; подмена версии (rug-pull)</a:t>
            </a:r>
          </a:p>
        </p:txBody>
      </p:sp>
      <p:sp>
        <p:nvSpPr>
          <p:cNvPr id="41" name="Rectangle 40"/>
          <p:cNvSpPr/>
          <p:nvPr/>
        </p:nvSpPr>
        <p:spPr>
          <a:xfrm>
            <a:off x="475488" y="373075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5216" y="373075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Мульти-агентный каскад</a:t>
            </a:r>
          </a:p>
        </p:txBody>
      </p:sp>
      <p:sp>
        <p:nvSpPr>
          <p:cNvPr id="43" name="Rectangle 42"/>
          <p:cNvSpPr/>
          <p:nvPr/>
        </p:nvSpPr>
        <p:spPr>
          <a:xfrm>
            <a:off x="3904487" y="373075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014215" y="373075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61% каскадов из апстрима</a:t>
            </a:r>
          </a:p>
        </p:txBody>
      </p:sp>
      <p:sp>
        <p:nvSpPr>
          <p:cNvPr id="45" name="Rectangle 44"/>
          <p:cNvSpPr/>
          <p:nvPr/>
        </p:nvSpPr>
        <p:spPr>
          <a:xfrm>
            <a:off x="6922007" y="373075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031736" y="373075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Где сломалось ≠ где проявилось; ошибки перемножаются</a:t>
            </a:r>
          </a:p>
        </p:txBody>
      </p:sp>
      <p:sp>
        <p:nvSpPr>
          <p:cNvPr id="47" name="Rectangle 46"/>
          <p:cNvSpPr/>
          <p:nvPr/>
        </p:nvSpPr>
        <p:spPr>
          <a:xfrm>
            <a:off x="475488" y="409651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85216" y="409651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Юр. ответственность</a:t>
            </a:r>
          </a:p>
        </p:txBody>
      </p:sp>
      <p:sp>
        <p:nvSpPr>
          <p:cNvPr id="49" name="Rectangle 48"/>
          <p:cNvSpPr/>
          <p:nvPr/>
        </p:nvSpPr>
        <p:spPr>
          <a:xfrm>
            <a:off x="3904487" y="409651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14215" y="409651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OLG Hamm · Air Canada</a:t>
            </a:r>
          </a:p>
        </p:txBody>
      </p:sp>
      <p:sp>
        <p:nvSpPr>
          <p:cNvPr id="51" name="Rectangle 50"/>
          <p:cNvSpPr/>
          <p:nvPr/>
        </p:nvSpPr>
        <p:spPr>
          <a:xfrm>
            <a:off x="6922007" y="409651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031736" y="409651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«Это ответил бот» — не защита; вывод принадлежит компании</a:t>
            </a:r>
          </a:p>
        </p:txBody>
      </p:sp>
      <p:sp>
        <p:nvSpPr>
          <p:cNvPr id="53" name="Rectangle 52"/>
          <p:cNvSpPr/>
          <p:nvPr/>
        </p:nvSpPr>
        <p:spPr>
          <a:xfrm>
            <a:off x="475488" y="446227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85216" y="446227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Петля без бюджета</a:t>
            </a:r>
          </a:p>
        </p:txBody>
      </p:sp>
      <p:sp>
        <p:nvSpPr>
          <p:cNvPr id="55" name="Rectangle 54"/>
          <p:cNvSpPr/>
          <p:nvPr/>
        </p:nvSpPr>
        <p:spPr>
          <a:xfrm>
            <a:off x="3904487" y="446227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014215" y="446227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$4 200 / 63 ч</a:t>
            </a:r>
          </a:p>
        </p:txBody>
      </p:sp>
      <p:sp>
        <p:nvSpPr>
          <p:cNvPr id="57" name="Rectangle 56"/>
          <p:cNvSpPr/>
          <p:nvPr/>
        </p:nvSpPr>
        <p:spPr>
          <a:xfrm>
            <a:off x="6922007" y="446227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031736" y="446227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«Пробуй, пока не выйдет» без лимита = буквально</a:t>
            </a:r>
          </a:p>
        </p:txBody>
      </p:sp>
      <p:sp>
        <p:nvSpPr>
          <p:cNvPr id="59" name="Rectangle 58"/>
          <p:cNvSpPr/>
          <p:nvPr/>
        </p:nvSpPr>
        <p:spPr>
          <a:xfrm>
            <a:off x="475488" y="482803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85216" y="482803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Накопление ошибок</a:t>
            </a:r>
          </a:p>
        </p:txBody>
      </p:sp>
      <p:sp>
        <p:nvSpPr>
          <p:cNvPr id="61" name="Rectangle 60"/>
          <p:cNvSpPr/>
          <p:nvPr/>
        </p:nvSpPr>
        <p:spPr>
          <a:xfrm>
            <a:off x="3904487" y="482803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014215" y="482803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надёжность как pⁿ</a:t>
            </a:r>
          </a:p>
        </p:txBody>
      </p:sp>
      <p:sp>
        <p:nvSpPr>
          <p:cNvPr id="63" name="Rectangle 62"/>
          <p:cNvSpPr/>
          <p:nvPr/>
        </p:nvSpPr>
        <p:spPr>
          <a:xfrm>
            <a:off x="6922007" y="482803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031736" y="482803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pⁿ, а не усреднение; «докрутить модель» — слабый рычаг</a:t>
            </a:r>
          </a:p>
        </p:txBody>
      </p:sp>
      <p:sp>
        <p:nvSpPr>
          <p:cNvPr id="65" name="Rectangle 64"/>
          <p:cNvSpPr/>
          <p:nvPr/>
        </p:nvSpPr>
        <p:spPr>
          <a:xfrm>
            <a:off x="475488" y="519379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85216" y="519379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Мульти-агентная хрупкость</a:t>
            </a:r>
          </a:p>
        </p:txBody>
      </p:sp>
      <p:sp>
        <p:nvSpPr>
          <p:cNvPr id="67" name="Rectangle 66"/>
          <p:cNvSpPr/>
          <p:nvPr/>
        </p:nvSpPr>
        <p:spPr>
          <a:xfrm>
            <a:off x="3904487" y="519379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014215" y="519379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Cognition, 2025</a:t>
            </a:r>
          </a:p>
        </p:txBody>
      </p:sp>
      <p:sp>
        <p:nvSpPr>
          <p:cNvPr id="69" name="Rectangle 68"/>
          <p:cNvSpPr/>
          <p:nvPr/>
        </p:nvSpPr>
        <p:spPr>
          <a:xfrm>
            <a:off x="6922007" y="519379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31736" y="519379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Для задач с зависимостями мульти-агент хуже одного</a:t>
            </a:r>
          </a:p>
        </p:txBody>
      </p:sp>
      <p:sp>
        <p:nvSpPr>
          <p:cNvPr id="71" name="Rounded Rectangle 70"/>
          <p:cNvSpPr/>
          <p:nvPr/>
        </p:nvSpPr>
        <p:spPr>
          <a:xfrm>
            <a:off x="502920" y="5760720"/>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04088" y="5815583"/>
            <a:ext cx="10799064"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столкнувшись с новым инцидентом — назовите ЕГО КЛАСС. Класс задаёт контрмеру (лимит / наименьшие привилегии / проверка между шагами), а конкретные даты и суммы — не нужно.</a:t>
            </a:r>
          </a:p>
        </p:txBody>
      </p:sp>
      <p:sp>
        <p:nvSpPr>
          <p:cNvPr id="73" name="TextBox 7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45 / 55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Четыре класса крупным планом — с базой сравнения.</a:t>
            </a:r>
          </a:p>
        </p:txBody>
      </p:sp>
      <p:sp>
        <p:nvSpPr>
          <p:cNvPr id="3" name="Rounded Rectangle 2"/>
          <p:cNvSpPr/>
          <p:nvPr/>
        </p:nvSpPr>
        <p:spPr>
          <a:xfrm>
            <a:off x="502920" y="1170432"/>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4088" y="1371600"/>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mb-white.png"/>
          <p:cNvPicPr>
            <a:picLocks noChangeAspect="1"/>
          </p:cNvPicPr>
          <p:nvPr/>
        </p:nvPicPr>
        <p:blipFill>
          <a:blip r:embed="rId2"/>
          <a:stretch>
            <a:fillRect/>
          </a:stretch>
        </p:blipFill>
        <p:spPr>
          <a:xfrm>
            <a:off x="758952" y="1426464"/>
            <a:ext cx="365760" cy="365760"/>
          </a:xfrm>
          <a:prstGeom prst="rect">
            <a:avLst/>
          </a:prstGeom>
        </p:spPr>
      </p:pic>
      <p:sp>
        <p:nvSpPr>
          <p:cNvPr id="6" name="TextBox 5"/>
          <p:cNvSpPr txBox="1"/>
          <p:nvPr/>
        </p:nvSpPr>
        <p:spPr>
          <a:xfrm>
            <a:off x="1289304" y="1371600"/>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PocketOS — боевая БД за 9 секунд</a:t>
            </a:r>
          </a:p>
        </p:txBody>
      </p:sp>
      <p:sp>
        <p:nvSpPr>
          <p:cNvPr id="7" name="TextBox 6"/>
          <p:cNvSpPr txBox="1"/>
          <p:nvPr/>
        </p:nvSpPr>
        <p:spPr>
          <a:xfrm>
            <a:off x="722376" y="1956816"/>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Агент нашёл токен с неограниченными правами в чужом файле и удалил том + все резервные копии. Ближайший восстановимый — 3-месячной давности.</a:t>
            </a:r>
          </a:p>
        </p:txBody>
      </p:sp>
      <p:sp>
        <p:nvSpPr>
          <p:cNvPr id="8" name="Rounded Rectangle 7"/>
          <p:cNvSpPr/>
          <p:nvPr/>
        </p:nvSpPr>
        <p:spPr>
          <a:xfrm>
            <a:off x="722376" y="2926080"/>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2926080"/>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системный промпт — не средство контроля безопасности; нужна жёсткая граница.</a:t>
            </a:r>
          </a:p>
        </p:txBody>
      </p:sp>
      <p:sp>
        <p:nvSpPr>
          <p:cNvPr id="10" name="Rounded Rectangle 9"/>
          <p:cNvSpPr/>
          <p:nvPr/>
        </p:nvSpPr>
        <p:spPr>
          <a:xfrm>
            <a:off x="6172200" y="1170432"/>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73368" y="1371600"/>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lame-white.png"/>
          <p:cNvPicPr>
            <a:picLocks noChangeAspect="1"/>
          </p:cNvPicPr>
          <p:nvPr/>
        </p:nvPicPr>
        <p:blipFill>
          <a:blip r:embed="rId3"/>
          <a:stretch>
            <a:fillRect/>
          </a:stretch>
        </p:blipFill>
        <p:spPr>
          <a:xfrm>
            <a:off x="6428232" y="1426464"/>
            <a:ext cx="365760" cy="365760"/>
          </a:xfrm>
          <a:prstGeom prst="rect">
            <a:avLst/>
          </a:prstGeom>
        </p:spPr>
      </p:pic>
      <p:sp>
        <p:nvSpPr>
          <p:cNvPr id="13" name="TextBox 12"/>
          <p:cNvSpPr txBox="1"/>
          <p:nvPr/>
        </p:nvSpPr>
        <p:spPr>
          <a:xfrm>
            <a:off x="6958584" y="1371600"/>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Неуправляемый расход: $48k / 14ч · $1,3M / 30дн</a:t>
            </a:r>
          </a:p>
        </p:txBody>
      </p:sp>
      <p:sp>
        <p:nvSpPr>
          <p:cNvPr id="14" name="TextBox 13"/>
          <p:cNvSpPr txBox="1"/>
          <p:nvPr/>
        </p:nvSpPr>
        <p:spPr>
          <a:xfrm>
            <a:off x="6391656" y="1956816"/>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Запрос без критерия успеха — планировщик расширялся и не завершался. База: обычная сессия — центы-доллары; это на 3–5 порядков выше.</a:t>
            </a:r>
          </a:p>
        </p:txBody>
      </p:sp>
      <p:sp>
        <p:nvSpPr>
          <p:cNvPr id="15" name="Rounded Rectangle 14"/>
          <p:cNvSpPr/>
          <p:nvPr/>
        </p:nvSpPr>
        <p:spPr>
          <a:xfrm>
            <a:off x="6391656" y="2926080"/>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1384" y="2926080"/>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критерий завершения + жёсткий потолок + аварийный стоп обязательны.</a:t>
            </a:r>
          </a:p>
        </p:txBody>
      </p:sp>
      <p:sp>
        <p:nvSpPr>
          <p:cNvPr id="17" name="Rounded Rectangle 16"/>
          <p:cNvSpPr/>
          <p:nvPr/>
        </p:nvSpPr>
        <p:spPr>
          <a:xfrm>
            <a:off x="502920" y="3520439"/>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04088" y="3721607"/>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package-white.png"/>
          <p:cNvPicPr>
            <a:picLocks noChangeAspect="1"/>
          </p:cNvPicPr>
          <p:nvPr/>
        </p:nvPicPr>
        <p:blipFill>
          <a:blip r:embed="rId4"/>
          <a:stretch>
            <a:fillRect/>
          </a:stretch>
        </p:blipFill>
        <p:spPr>
          <a:xfrm>
            <a:off x="758952" y="3776472"/>
            <a:ext cx="365760" cy="365760"/>
          </a:xfrm>
          <a:prstGeom prst="rect">
            <a:avLst/>
          </a:prstGeom>
        </p:spPr>
      </p:pic>
      <p:sp>
        <p:nvSpPr>
          <p:cNvPr id="20" name="TextBox 19"/>
          <p:cNvSpPr txBox="1"/>
          <p:nvPr/>
        </p:nvSpPr>
        <p:spPr>
          <a:xfrm>
            <a:off x="1289304" y="3721607"/>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Slopsquatting — 1 из 5 импортов</a:t>
            </a:r>
          </a:p>
        </p:txBody>
      </p:sp>
      <p:sp>
        <p:nvSpPr>
          <p:cNvPr id="21" name="TextBox 20"/>
          <p:cNvSpPr txBox="1"/>
          <p:nvPr/>
        </p:nvSpPr>
        <p:spPr>
          <a:xfrm>
            <a:off x="722376" y="4306824"/>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На 576 000 примеров кода 19,7% ссылок на пакеты — галлюцинации. Атакующий регистрирует выдуманное имя → следующий агент ставит чужой код.</a:t>
            </a:r>
          </a:p>
        </p:txBody>
      </p:sp>
      <p:sp>
        <p:nvSpPr>
          <p:cNvPr id="22" name="Rounded Rectangle 21"/>
          <p:cNvSpPr/>
          <p:nvPr/>
        </p:nvSpPr>
        <p:spPr>
          <a:xfrm>
            <a:off x="722376" y="5276088"/>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104" y="5276088"/>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фиксация (pin) версий/хешей, lock-файлы, проверка новых зависимостей.</a:t>
            </a:r>
          </a:p>
        </p:txBody>
      </p:sp>
      <p:sp>
        <p:nvSpPr>
          <p:cNvPr id="24" name="Rounded Rectangle 23"/>
          <p:cNvSpPr/>
          <p:nvPr/>
        </p:nvSpPr>
        <p:spPr>
          <a:xfrm>
            <a:off x="6172200" y="3520439"/>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373368" y="3721607"/>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git-merge-white.png"/>
          <p:cNvPicPr>
            <a:picLocks noChangeAspect="1"/>
          </p:cNvPicPr>
          <p:nvPr/>
        </p:nvPicPr>
        <p:blipFill>
          <a:blip r:embed="rId5"/>
          <a:stretch>
            <a:fillRect/>
          </a:stretch>
        </p:blipFill>
        <p:spPr>
          <a:xfrm>
            <a:off x="6428232" y="3776472"/>
            <a:ext cx="365760" cy="365760"/>
          </a:xfrm>
          <a:prstGeom prst="rect">
            <a:avLst/>
          </a:prstGeom>
        </p:spPr>
      </p:pic>
      <p:sp>
        <p:nvSpPr>
          <p:cNvPr id="27" name="TextBox 26"/>
          <p:cNvSpPr txBox="1"/>
          <p:nvPr/>
        </p:nvSpPr>
        <p:spPr>
          <a:xfrm>
            <a:off x="6958584" y="3721607"/>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Каскад — 61% ошибок из апстрима</a:t>
            </a:r>
          </a:p>
        </p:txBody>
      </p:sp>
      <p:sp>
        <p:nvSpPr>
          <p:cNvPr id="28" name="TextBox 27"/>
          <p:cNvSpPr txBox="1"/>
          <p:nvPr/>
        </p:nvSpPr>
        <p:spPr>
          <a:xfrm>
            <a:off x="6391656" y="4306824"/>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На 73 инцидентах: в 61% корень был в апстрим-слое (поиск/план), а не там, где сбой стал заметен. Следующий агент принимает ошибку за факт.</a:t>
            </a:r>
          </a:p>
        </p:txBody>
      </p:sp>
      <p:sp>
        <p:nvSpPr>
          <p:cNvPr id="29" name="Rounded Rectangle 28"/>
          <p:cNvSpPr/>
          <p:nvPr/>
        </p:nvSpPr>
        <p:spPr>
          <a:xfrm>
            <a:off x="6391656" y="5276088"/>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01384" y="5276088"/>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проверка между шагами, меньше переходов, трассируемость.</a:t>
            </a:r>
          </a:p>
        </p:txBody>
      </p:sp>
      <p:sp>
        <p:nvSpPr>
          <p:cNvPr id="31" name="Rounded Rectangle 30"/>
          <p:cNvSpPr/>
          <p:nvPr/>
        </p:nvSpPr>
        <p:spPr>
          <a:xfrm>
            <a:off x="502920" y="5870448"/>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4088" y="5925312"/>
            <a:ext cx="10799064" cy="54864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во всех четырёх корень один — агент применён без внешней границы (прав, бюджета, валидации). Граница ставится ВНЕ агента, промптом её не заменить.</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46 / 55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5-control-panel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5</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5</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Как выбрать: фреймворк решения</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Мы разобрали все архитектуры по отдельности — и где каждая проваливается. Теперь соберём это в один инструмент выбора.</a:t>
            </a:r>
          </a:p>
        </p:txBody>
      </p:sp>
      <p:sp>
        <p:nvSpPr>
          <p:cNvPr id="8" name="Rounded Rectangle 7"/>
          <p:cNvSpPr/>
          <p:nvPr/>
        </p:nvSpPr>
        <p:spPr>
          <a:xfrm>
            <a:off x="713232" y="5212080"/>
            <a:ext cx="4261104"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инструмент выбора · 4 разбора</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47 / 55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Как инженер выбирал технологию до AI-хайпа.</a:t>
            </a:r>
          </a:p>
        </p:txBody>
      </p:sp>
      <p:sp>
        <p:nvSpPr>
          <p:cNvPr id="3" name="TextBox 2"/>
          <p:cNvSpPr txBox="1"/>
          <p:nvPr/>
        </p:nvSpPr>
        <p:spPr>
          <a:xfrm>
            <a:off x="502920" y="1042415"/>
            <a:ext cx="11201400" cy="548640"/>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Сам выбор архитектуры — не новая AI-процедура, а прямое применение классических принципов инженерного решения. На них и стоят лестница и чек-лист раздела.</a:t>
            </a:r>
          </a:p>
        </p:txBody>
      </p:sp>
      <p:sp>
        <p:nvSpPr>
          <p:cNvPr id="4" name="Rounded Rectangle 3"/>
          <p:cNvSpPr/>
          <p:nvPr/>
        </p:nvSpPr>
        <p:spPr>
          <a:xfrm>
            <a:off x="502920"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lipboard-list-mid.png"/>
          <p:cNvPicPr>
            <a:picLocks noChangeAspect="1"/>
          </p:cNvPicPr>
          <p:nvPr/>
        </p:nvPicPr>
        <p:blipFill>
          <a:blip r:embed="rId2"/>
          <a:stretch>
            <a:fillRect/>
          </a:stretch>
        </p:blipFill>
        <p:spPr>
          <a:xfrm>
            <a:off x="758952" y="1920240"/>
            <a:ext cx="493776" cy="493776"/>
          </a:xfrm>
          <a:prstGeom prst="rect">
            <a:avLst/>
          </a:prstGeom>
        </p:spPr>
      </p:pic>
      <p:sp>
        <p:nvSpPr>
          <p:cNvPr id="6" name="TextBox 5"/>
          <p:cNvSpPr txBox="1"/>
          <p:nvPr/>
        </p:nvSpPr>
        <p:spPr>
          <a:xfrm>
            <a:off x="758952"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От требования, не от инструмента</a:t>
            </a:r>
          </a:p>
        </p:txBody>
      </p:sp>
      <p:sp>
        <p:nvSpPr>
          <p:cNvPr id="7" name="TextBox 6"/>
          <p:cNvSpPr txBox="1"/>
          <p:nvPr/>
        </p:nvSpPr>
        <p:spPr>
          <a:xfrm>
            <a:off x="758952"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Требования-инжиниринг: сначала фиксируют, что система обязана делать, потом подбирают инструмент. Build-vs-buy: строить своё или взять готовое.</a:t>
            </a:r>
          </a:p>
        </p:txBody>
      </p:sp>
      <p:sp>
        <p:nvSpPr>
          <p:cNvPr id="8" name="Rounded Rectangle 7"/>
          <p:cNvSpPr/>
          <p:nvPr/>
        </p:nvSpPr>
        <p:spPr>
          <a:xfrm>
            <a:off x="4309872"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ale-mid.png"/>
          <p:cNvPicPr>
            <a:picLocks noChangeAspect="1"/>
          </p:cNvPicPr>
          <p:nvPr/>
        </p:nvPicPr>
        <p:blipFill>
          <a:blip r:embed="rId3"/>
          <a:stretch>
            <a:fillRect/>
          </a:stretch>
        </p:blipFill>
        <p:spPr>
          <a:xfrm>
            <a:off x="4565904" y="1920240"/>
            <a:ext cx="493776" cy="493776"/>
          </a:xfrm>
          <a:prstGeom prst="rect">
            <a:avLst/>
          </a:prstGeom>
        </p:spPr>
      </p:pic>
      <p:sp>
        <p:nvSpPr>
          <p:cNvPr id="10" name="TextBox 9"/>
          <p:cNvSpPr txBox="1"/>
          <p:nvPr/>
        </p:nvSpPr>
        <p:spPr>
          <a:xfrm>
            <a:off x="4565904"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KISS + YAGNI</a:t>
            </a:r>
          </a:p>
        </p:txBody>
      </p:sp>
      <p:sp>
        <p:nvSpPr>
          <p:cNvPr id="11" name="TextBox 10"/>
          <p:cNvSpPr txBox="1"/>
          <p:nvPr/>
        </p:nvSpPr>
        <p:spPr>
          <a:xfrm>
            <a:off x="4565904"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Выбирай простейшее решение, закрывающее требование; не закладывай мощность «на будущее», пока конкретное требование её не потребует.</a:t>
            </a:r>
          </a:p>
        </p:txBody>
      </p:sp>
      <p:sp>
        <p:nvSpPr>
          <p:cNvPr id="12" name="Rounded Rectangle 11"/>
          <p:cNvSpPr/>
          <p:nvPr/>
        </p:nvSpPr>
        <p:spPr>
          <a:xfrm>
            <a:off x="8116824"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ilestone-mid.png"/>
          <p:cNvPicPr>
            <a:picLocks noChangeAspect="1"/>
          </p:cNvPicPr>
          <p:nvPr/>
        </p:nvPicPr>
        <p:blipFill>
          <a:blip r:embed="rId4"/>
          <a:stretch>
            <a:fillRect/>
          </a:stretch>
        </p:blipFill>
        <p:spPr>
          <a:xfrm>
            <a:off x="8372856" y="1920240"/>
            <a:ext cx="493776" cy="493776"/>
          </a:xfrm>
          <a:prstGeom prst="rect">
            <a:avLst/>
          </a:prstGeom>
        </p:spPr>
      </p:pic>
      <p:sp>
        <p:nvSpPr>
          <p:cNvPr id="14" name="TextBox 13"/>
          <p:cNvSpPr txBox="1"/>
          <p:nvPr/>
        </p:nvSpPr>
        <p:spPr>
          <a:xfrm>
            <a:off x="8372856"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Наименьшая мощность</a:t>
            </a:r>
          </a:p>
        </p:txBody>
      </p:sp>
      <p:sp>
        <p:nvSpPr>
          <p:cNvPr id="15" name="TextBox 14"/>
          <p:cNvSpPr txBox="1"/>
          <p:nvPr/>
        </p:nvSpPr>
        <p:spPr>
          <a:xfrm>
            <a:off x="8372856"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Из заметок W3C (Бернерс-Ли и Мендельсон): бери наименее мощный из достаточных инструментов — его проще анализировать, проверять и сопровождать.</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Простейшая достаточная архитектура по умолчанию, а бремя доказательства — на том, кто хочет её усложнить. В AI-эпоху принцип не отменяется, а дорожает: лишняя ступень добавляет недетерминизм, стоимость токенов, задержку, поверхность атаки.</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лестница архитектур (код → один вызов → RAG → workflow → агент → мульти-агент) — тот же принцип наименьшей мощности по AI-архитектурам: оставайся на нижней достаточной ступени, поднимайся только под требование.</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48 / 55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Лестница архитектурной сложности.</a:t>
            </a:r>
          </a:p>
        </p:txBody>
      </p:sp>
      <p:sp>
        <p:nvSpPr>
          <p:cNvPr id="3" name="TextBox 2"/>
          <p:cNvSpPr txBox="1"/>
          <p:nvPr/>
        </p:nvSpPr>
        <p:spPr>
          <a:xfrm>
            <a:off x="502920" y="1042415"/>
            <a:ext cx="768096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Оставайся на нижней ступени; поднимайся только под требование задачи.</a:t>
            </a:r>
          </a:p>
        </p:txBody>
      </p:sp>
      <p:sp>
        <p:nvSpPr>
          <p:cNvPr id="4" name="Rounded Rectangle 3"/>
          <p:cNvSpPr/>
          <p:nvPr/>
        </p:nvSpPr>
        <p:spPr>
          <a:xfrm>
            <a:off x="502920" y="5577840"/>
            <a:ext cx="7360920" cy="4754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5660136"/>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566013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7" name="TextBox 6"/>
          <p:cNvSpPr txBox="1"/>
          <p:nvPr/>
        </p:nvSpPr>
        <p:spPr>
          <a:xfrm>
            <a:off x="1033271" y="5577840"/>
            <a:ext cx="670255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Обычный код (без ИИ)</a:t>
            </a:r>
          </a:p>
        </p:txBody>
      </p:sp>
      <p:sp>
        <p:nvSpPr>
          <p:cNvPr id="8" name="TextBox 7"/>
          <p:cNvSpPr txBox="1"/>
          <p:nvPr/>
        </p:nvSpPr>
        <p:spPr>
          <a:xfrm>
            <a:off x="777240" y="5257800"/>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нужен NL / неструктурированный ввод / неточное соответствие</a:t>
            </a:r>
          </a:p>
        </p:txBody>
      </p:sp>
      <p:sp>
        <p:nvSpPr>
          <p:cNvPr id="9" name="Rounded Rectangle 8"/>
          <p:cNvSpPr/>
          <p:nvPr/>
        </p:nvSpPr>
        <p:spPr>
          <a:xfrm>
            <a:off x="649224" y="4791455"/>
            <a:ext cx="7214616"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58952" y="4873751"/>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4873751"/>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2" name="TextBox 11"/>
          <p:cNvSpPr txBox="1"/>
          <p:nvPr/>
        </p:nvSpPr>
        <p:spPr>
          <a:xfrm>
            <a:off x="1179576" y="4791455"/>
            <a:ext cx="6556248"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Один вызов LLM (промпт; +CoT, +примеры в промпте)</a:t>
            </a:r>
          </a:p>
        </p:txBody>
      </p:sp>
      <p:sp>
        <p:nvSpPr>
          <p:cNvPr id="13" name="TextBox 12"/>
          <p:cNvSpPr txBox="1"/>
          <p:nvPr/>
        </p:nvSpPr>
        <p:spPr>
          <a:xfrm>
            <a:off x="923544" y="4471416"/>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знание большое И меняющееся И провенанс И приватное</a:t>
            </a:r>
          </a:p>
        </p:txBody>
      </p:sp>
      <p:sp>
        <p:nvSpPr>
          <p:cNvPr id="14" name="Rounded Rectangle 13"/>
          <p:cNvSpPr/>
          <p:nvPr/>
        </p:nvSpPr>
        <p:spPr>
          <a:xfrm>
            <a:off x="795528" y="4005071"/>
            <a:ext cx="7068312"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087367"/>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4087367"/>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7" name="TextBox 16"/>
          <p:cNvSpPr txBox="1"/>
          <p:nvPr/>
        </p:nvSpPr>
        <p:spPr>
          <a:xfrm>
            <a:off x="1325880" y="4005071"/>
            <a:ext cx="6409944"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RAG / контекст-инжиниринг</a:t>
            </a:r>
          </a:p>
        </p:txBody>
      </p:sp>
      <p:sp>
        <p:nvSpPr>
          <p:cNvPr id="18" name="TextBox 17"/>
          <p:cNvSpPr txBox="1"/>
          <p:nvPr/>
        </p:nvSpPr>
        <p:spPr>
          <a:xfrm>
            <a:off x="1069848" y="3685031"/>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задача многошаговая, последовательность известна заранее</a:t>
            </a:r>
          </a:p>
        </p:txBody>
      </p:sp>
      <p:sp>
        <p:nvSpPr>
          <p:cNvPr id="19" name="Rounded Rectangle 18"/>
          <p:cNvSpPr/>
          <p:nvPr/>
        </p:nvSpPr>
        <p:spPr>
          <a:xfrm>
            <a:off x="941832" y="3218687"/>
            <a:ext cx="6922008"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51560" y="3300983"/>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300983"/>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4</a:t>
            </a:r>
          </a:p>
        </p:txBody>
      </p:sp>
      <p:sp>
        <p:nvSpPr>
          <p:cNvPr id="22" name="TextBox 21"/>
          <p:cNvSpPr txBox="1"/>
          <p:nvPr/>
        </p:nvSpPr>
        <p:spPr>
          <a:xfrm>
            <a:off x="1472184" y="3218687"/>
            <a:ext cx="6263640"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Сценарий (workflow, предопределённые пути)</a:t>
            </a:r>
          </a:p>
        </p:txBody>
      </p:sp>
      <p:sp>
        <p:nvSpPr>
          <p:cNvPr id="23" name="TextBox 22"/>
          <p:cNvSpPr txBox="1"/>
          <p:nvPr/>
        </p:nvSpPr>
        <p:spPr>
          <a:xfrm>
            <a:off x="1216152" y="2898648"/>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непредсказуема И ценность оправдывает кратные стоимость/риск</a:t>
            </a:r>
          </a:p>
        </p:txBody>
      </p:sp>
      <p:sp>
        <p:nvSpPr>
          <p:cNvPr id="24" name="Rounded Rectangle 23"/>
          <p:cNvSpPr/>
          <p:nvPr/>
        </p:nvSpPr>
        <p:spPr>
          <a:xfrm>
            <a:off x="1088136" y="2432303"/>
            <a:ext cx="6775704"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97864" y="2514599"/>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97864" y="2514599"/>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5</a:t>
            </a:r>
          </a:p>
        </p:txBody>
      </p:sp>
      <p:sp>
        <p:nvSpPr>
          <p:cNvPr id="27" name="TextBox 26"/>
          <p:cNvSpPr txBox="1"/>
          <p:nvPr/>
        </p:nvSpPr>
        <p:spPr>
          <a:xfrm>
            <a:off x="1618488" y="2432303"/>
            <a:ext cx="6117336"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Агент (план→действие→проверка→повтор + лимиты)</a:t>
            </a:r>
          </a:p>
        </p:txBody>
      </p:sp>
      <p:sp>
        <p:nvSpPr>
          <p:cNvPr id="28" name="TextBox 27"/>
          <p:cNvSpPr txBox="1"/>
          <p:nvPr/>
        </p:nvSpPr>
        <p:spPr>
          <a:xfrm>
            <a:off x="1362456" y="2112263"/>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подзадачи широко-параллельны И независимы И высокоценны</a:t>
            </a:r>
          </a:p>
        </p:txBody>
      </p:sp>
      <p:sp>
        <p:nvSpPr>
          <p:cNvPr id="29" name="Rounded Rectangle 28"/>
          <p:cNvSpPr/>
          <p:nvPr/>
        </p:nvSpPr>
        <p:spPr>
          <a:xfrm>
            <a:off x="1234440" y="1645919"/>
            <a:ext cx="6629400"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344168" y="1728215"/>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44168" y="1728215"/>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6</a:t>
            </a:r>
          </a:p>
        </p:txBody>
      </p:sp>
      <p:sp>
        <p:nvSpPr>
          <p:cNvPr id="32" name="TextBox 31"/>
          <p:cNvSpPr txBox="1"/>
          <p:nvPr/>
        </p:nvSpPr>
        <p:spPr>
          <a:xfrm>
            <a:off x="1764792" y="1645919"/>
            <a:ext cx="597103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Мульти-агент</a:t>
            </a:r>
          </a:p>
        </p:txBody>
      </p:sp>
      <p:sp>
        <p:nvSpPr>
          <p:cNvPr id="33" name="Up Arrow 32"/>
          <p:cNvSpPr/>
          <p:nvPr/>
        </p:nvSpPr>
        <p:spPr>
          <a:xfrm>
            <a:off x="7918704" y="1810512"/>
            <a:ext cx="237744" cy="4224528"/>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9520" y="1444752"/>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сложнее ↑</a:t>
            </a:r>
          </a:p>
        </p:txBody>
      </p:sp>
      <p:sp>
        <p:nvSpPr>
          <p:cNvPr id="35" name="TextBox 34"/>
          <p:cNvSpPr txBox="1"/>
          <p:nvPr/>
        </p:nvSpPr>
        <p:spPr>
          <a:xfrm>
            <a:off x="7589520" y="6053328"/>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проще ↓</a:t>
            </a:r>
          </a:p>
        </p:txBody>
      </p:sp>
      <p:sp>
        <p:nvSpPr>
          <p:cNvPr id="36" name="Rounded Rectangle 35"/>
          <p:cNvSpPr/>
          <p:nvPr/>
        </p:nvSpPr>
        <p:spPr>
          <a:xfrm>
            <a:off x="8366760" y="1417320"/>
            <a:ext cx="3337560" cy="4617720"/>
          </a:xfrm>
          <a:prstGeom prst="roundRect">
            <a:avLst>
              <a:gd name="adj" fmla="val 913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milestone-gold.png"/>
          <p:cNvPicPr>
            <a:picLocks noChangeAspect="1"/>
          </p:cNvPicPr>
          <p:nvPr/>
        </p:nvPicPr>
        <p:blipFill>
          <a:blip r:embed="rId2"/>
          <a:stretch>
            <a:fillRect/>
          </a:stretch>
        </p:blipFill>
        <p:spPr>
          <a:xfrm>
            <a:off x="8613648" y="1691640"/>
            <a:ext cx="566928" cy="566928"/>
          </a:xfrm>
          <a:prstGeom prst="rect">
            <a:avLst/>
          </a:prstGeom>
        </p:spPr>
      </p:pic>
      <p:sp>
        <p:nvSpPr>
          <p:cNvPr id="38" name="TextBox 37"/>
          <p:cNvSpPr txBox="1"/>
          <p:nvPr/>
        </p:nvSpPr>
        <p:spPr>
          <a:xfrm>
            <a:off x="8613648" y="2468880"/>
            <a:ext cx="2880360" cy="160020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Оставайся на самой нижней ступени, которая закрывает требования.</a:t>
            </a:r>
          </a:p>
        </p:txBody>
      </p:sp>
      <p:sp>
        <p:nvSpPr>
          <p:cNvPr id="39" name="TextBox 38"/>
          <p:cNvSpPr txBox="1"/>
          <p:nvPr/>
        </p:nvSpPr>
        <p:spPr>
          <a:xfrm>
            <a:off x="8613648" y="4069080"/>
            <a:ext cx="2880360" cy="1874519"/>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Каждый подъём — это ОБМЕН</a:t>
            </a:r>
            <a:r>
              <a:rPr sz="702" baseline="30000" b="0" i="1">
                <a:latin typeface="Arial"/>
                <a:cs typeface="Arial"/>
                <a:ea typeface="Arial"/>
                <a:solidFill>
                  <a:srgbClr val="1C7293"/>
                </a:solidFill>
              </a:rPr>
              <a:t>[1]</a:t>
            </a:r>
            <a:r>
              <a:rPr sz="1350" b="0" i="0">
                <a:latin typeface="Arial"/>
                <a:cs typeface="Arial"/>
                <a:ea typeface="Arial"/>
                <a:solidFill>
                  <a:srgbClr val="21295C"/>
                </a:solidFill>
              </a:rPr>
              <a:t> (возможности ↔ стоимость, задержка, аудируемость, поверхность атаки), а не чистый выигрыш.</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Anthropic — Building Effective Agents (правило лестницы)</a:t>
            </a:r>
            <a:r>
              <a:rPr sz="850" i="1">
                <a:solidFill>
                  <a:srgbClr val="5B6678"/>
                </a:solidFill>
                <a:latin typeface="Arial"/>
              </a:rPr>
              <a:t>   ·   Нижняя ступень — «обычный код без ИИ»: лестница начинается с вопроса «а нужен ли ИИ вообще».</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49 / 55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План решения: маршрут вопросов, а не сумма баллов.</a:t>
            </a:r>
          </a:p>
        </p:txBody>
      </p:sp>
      <p:sp>
        <p:nvSpPr>
          <p:cNvPr id="3" name="TextBox 2"/>
          <p:cNvSpPr txBox="1"/>
          <p:nvPr/>
        </p:nvSpPr>
        <p:spPr>
          <a:xfrm>
            <a:off x="502920" y="932688"/>
            <a:ext cx="7680960" cy="329184"/>
          </a:xfrm>
          <a:prstGeom prst="rect">
            <a:avLst/>
          </a:prstGeom>
          <a:noFill/>
        </p:spPr>
        <p:txBody>
          <a:bodyPr wrap="square" lIns="0" rIns="0" tIns="0" bIns="0" anchor="t">
            <a:spAutoFit/>
          </a:bodyPr>
          <a:lstStyle/>
          <a:p>
            <a:pPr algn="l">
              <a:lnSpc>
                <a:spcPct val="108000"/>
              </a:lnSpc>
            </a:pPr>
            <a:r>
              <a:rPr sz="1200" b="0" i="1">
                <a:solidFill>
                  <a:srgbClr val="065A82"/>
                </a:solidFill>
                <a:latin typeface="Arial"/>
              </a:rPr>
              <a:t>Пройдите задачу сверху вниз; останавливайтесь на первом сработавшем вопросе</a:t>
            </a:r>
            <a:r>
              <a:rPr sz="624" baseline="30000" b="0" i="1">
                <a:latin typeface="Arial"/>
                <a:cs typeface="Arial"/>
                <a:ea typeface="Arial"/>
                <a:solidFill>
                  <a:srgbClr val="1C7293"/>
                </a:solidFill>
              </a:rPr>
              <a:t>[1]</a:t>
            </a:r>
            <a:r>
              <a:rPr sz="1200" b="0" i="1">
                <a:latin typeface="Arial"/>
                <a:cs typeface="Arial"/>
                <a:ea typeface="Arial"/>
                <a:solidFill>
                  <a:srgbClr val="065A82"/>
                </a:solidFill>
              </a:rPr>
              <a:t>. «Да» → результат справа; «нет» → следующий вопрос ниже.</a:t>
            </a:r>
          </a:p>
        </p:txBody>
      </p:sp>
      <p:sp>
        <p:nvSpPr>
          <p:cNvPr id="4" name="Rounded Rectangle 3"/>
          <p:cNvSpPr/>
          <p:nvPr/>
        </p:nvSpPr>
        <p:spPr>
          <a:xfrm>
            <a:off x="502920" y="1298448"/>
            <a:ext cx="4892040" cy="457200"/>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1380744"/>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1380744"/>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996696" y="129844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Детерминированная и верифицируемая?</a:t>
            </a:r>
          </a:p>
        </p:txBody>
      </p:sp>
      <p:sp>
        <p:nvSpPr>
          <p:cNvPr id="8" name="Rounded Rectangle 7"/>
          <p:cNvSpPr/>
          <p:nvPr/>
        </p:nvSpPr>
        <p:spPr>
          <a:xfrm>
            <a:off x="5504688" y="1344168"/>
            <a:ext cx="2788920" cy="365760"/>
          </a:xfrm>
          <a:prstGeom prst="roundRect">
            <a:avLst>
              <a:gd name="adj" fmla="val 12000"/>
            </a:avLst>
          </a:prstGeom>
          <a:solidFill>
            <a:srgbClr val="F0AB0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14416" y="134416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обычный код · СТОП</a:t>
            </a:r>
          </a:p>
        </p:txBody>
      </p:sp>
      <p:sp>
        <p:nvSpPr>
          <p:cNvPr id="10" name="Right Arrow 9"/>
          <p:cNvSpPr/>
          <p:nvPr/>
        </p:nvSpPr>
        <p:spPr>
          <a:xfrm>
            <a:off x="5399531" y="1444751"/>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758952" y="175564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184708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12648" y="192938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 y="192938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5" name="TextBox 14"/>
          <p:cNvSpPr txBox="1"/>
          <p:nvPr/>
        </p:nvSpPr>
        <p:spPr>
          <a:xfrm>
            <a:off x="996696" y="184708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Закрывает один вызов (+CoT)?</a:t>
            </a:r>
          </a:p>
        </p:txBody>
      </p:sp>
      <p:sp>
        <p:nvSpPr>
          <p:cNvPr id="16" name="Rounded Rectangle 15"/>
          <p:cNvSpPr/>
          <p:nvPr/>
        </p:nvSpPr>
        <p:spPr>
          <a:xfrm>
            <a:off x="5504688" y="1892807"/>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14416" y="1892807"/>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промпт · СТОП</a:t>
            </a:r>
          </a:p>
        </p:txBody>
      </p:sp>
      <p:sp>
        <p:nvSpPr>
          <p:cNvPr id="18" name="Right Arrow 17"/>
          <p:cNvSpPr/>
          <p:nvPr/>
        </p:nvSpPr>
        <p:spPr>
          <a:xfrm>
            <a:off x="5399531" y="199339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758952" y="230428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02920" y="239572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12648" y="247802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2648" y="24780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23" name="TextBox 22"/>
          <p:cNvSpPr txBox="1"/>
          <p:nvPr/>
        </p:nvSpPr>
        <p:spPr>
          <a:xfrm>
            <a:off x="996696" y="239572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Нужен провенанс по источнику?</a:t>
            </a:r>
          </a:p>
        </p:txBody>
      </p:sp>
      <p:sp>
        <p:nvSpPr>
          <p:cNvPr id="24" name="Rounded Rectangle 23"/>
          <p:cNvSpPr/>
          <p:nvPr/>
        </p:nvSpPr>
        <p:spPr>
          <a:xfrm>
            <a:off x="5504688" y="2441448"/>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14416" y="244144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RAG с опорой на источник / код</a:t>
            </a:r>
          </a:p>
        </p:txBody>
      </p:sp>
      <p:sp>
        <p:nvSpPr>
          <p:cNvPr id="26" name="Right Arrow 25"/>
          <p:cNvSpPr/>
          <p:nvPr/>
        </p:nvSpPr>
        <p:spPr>
          <a:xfrm>
            <a:off x="5399531" y="254203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758952" y="285292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502920" y="294436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12648" y="302666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2648" y="302666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31" name="TextBox 30"/>
          <p:cNvSpPr txBox="1"/>
          <p:nvPr/>
        </p:nvSpPr>
        <p:spPr>
          <a:xfrm>
            <a:off x="996696" y="294436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Знание меняется / провенанс?</a:t>
            </a:r>
          </a:p>
        </p:txBody>
      </p:sp>
      <p:sp>
        <p:nvSpPr>
          <p:cNvPr id="32" name="Rounded Rectangle 31"/>
          <p:cNvSpPr/>
          <p:nvPr/>
        </p:nvSpPr>
        <p:spPr>
          <a:xfrm>
            <a:off x="5504688" y="2990088"/>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14416" y="299008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RAG (не FT)</a:t>
            </a:r>
          </a:p>
        </p:txBody>
      </p:sp>
      <p:sp>
        <p:nvSpPr>
          <p:cNvPr id="34" name="Right Arrow 33"/>
          <p:cNvSpPr/>
          <p:nvPr/>
        </p:nvSpPr>
        <p:spPr>
          <a:xfrm>
            <a:off x="5399531" y="309067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758952" y="340156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02920" y="349300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12648" y="357530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2648" y="357530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39" name="TextBox 38"/>
          <p:cNvSpPr txBox="1"/>
          <p:nvPr/>
        </p:nvSpPr>
        <p:spPr>
          <a:xfrm>
            <a:off x="996696" y="349300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Нужно поведение / тон / формат?</a:t>
            </a:r>
          </a:p>
        </p:txBody>
      </p:sp>
      <p:sp>
        <p:nvSpPr>
          <p:cNvPr id="40" name="Rounded Rectangle 39"/>
          <p:cNvSpPr/>
          <p:nvPr/>
        </p:nvSpPr>
        <p:spPr>
          <a:xfrm>
            <a:off x="5504688" y="3538728"/>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14416" y="353872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дообучение (PEFT)</a:t>
            </a:r>
          </a:p>
        </p:txBody>
      </p:sp>
      <p:sp>
        <p:nvSpPr>
          <p:cNvPr id="42" name="Right Arrow 41"/>
          <p:cNvSpPr/>
          <p:nvPr/>
        </p:nvSpPr>
        <p:spPr>
          <a:xfrm>
            <a:off x="5399531" y="363931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758952" y="395020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502920" y="404164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12648" y="412394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2648" y="412394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47" name="TextBox 46"/>
          <p:cNvSpPr txBox="1"/>
          <p:nvPr/>
        </p:nvSpPr>
        <p:spPr>
          <a:xfrm>
            <a:off x="996696" y="404164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Многошагово, порядок известен?</a:t>
            </a:r>
          </a:p>
        </p:txBody>
      </p:sp>
      <p:sp>
        <p:nvSpPr>
          <p:cNvPr id="48" name="Rounded Rectangle 47"/>
          <p:cNvSpPr/>
          <p:nvPr/>
        </p:nvSpPr>
        <p:spPr>
          <a:xfrm>
            <a:off x="5504688" y="4087368"/>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14416" y="408736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сценарий · нет → агент+лимиты</a:t>
            </a:r>
          </a:p>
        </p:txBody>
      </p:sp>
      <p:sp>
        <p:nvSpPr>
          <p:cNvPr id="50" name="Right Arrow 49"/>
          <p:cNvSpPr/>
          <p:nvPr/>
        </p:nvSpPr>
        <p:spPr>
          <a:xfrm>
            <a:off x="5399531" y="418795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758952" y="449884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502920" y="459028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12648" y="4672583"/>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2648" y="4672583"/>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55" name="TextBox 54"/>
          <p:cNvSpPr txBox="1"/>
          <p:nvPr/>
        </p:nvSpPr>
        <p:spPr>
          <a:xfrm>
            <a:off x="996696" y="459028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Подзадачи параллельны+независимы?</a:t>
            </a:r>
          </a:p>
        </p:txBody>
      </p:sp>
      <p:sp>
        <p:nvSpPr>
          <p:cNvPr id="56" name="Rounded Rectangle 55"/>
          <p:cNvSpPr/>
          <p:nvPr/>
        </p:nvSpPr>
        <p:spPr>
          <a:xfrm>
            <a:off x="5504688" y="4636007"/>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614416" y="4636007"/>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мульти-агент · нет → линейный</a:t>
            </a:r>
          </a:p>
        </p:txBody>
      </p:sp>
      <p:sp>
        <p:nvSpPr>
          <p:cNvPr id="58" name="Right Arrow 57"/>
          <p:cNvSpPr/>
          <p:nvPr/>
        </p:nvSpPr>
        <p:spPr>
          <a:xfrm>
            <a:off x="5399531" y="473659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502920" y="5138927"/>
            <a:ext cx="7790688" cy="457200"/>
          </a:xfrm>
          <a:prstGeom prst="roundRect">
            <a:avLst>
              <a:gd name="adj" fmla="val 12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612648" y="5221223"/>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12648" y="5221223"/>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8</a:t>
            </a:r>
          </a:p>
        </p:txBody>
      </p:sp>
      <p:sp>
        <p:nvSpPr>
          <p:cNvPr id="62" name="TextBox 61"/>
          <p:cNvSpPr txBox="1"/>
          <p:nvPr/>
        </p:nvSpPr>
        <p:spPr>
          <a:xfrm>
            <a:off x="996696" y="5138927"/>
            <a:ext cx="7168896" cy="45720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Данные чувствительны? → на КАЖДОМ шаге: карта данных + наименьшие привилегии + ZDR/BAA</a:t>
            </a:r>
          </a:p>
        </p:txBody>
      </p:sp>
      <p:sp>
        <p:nvSpPr>
          <p:cNvPr id="63" name="Rounded Rectangle 62"/>
          <p:cNvSpPr/>
          <p:nvPr/>
        </p:nvSpPr>
        <p:spPr>
          <a:xfrm>
            <a:off x="8321040" y="1335024"/>
            <a:ext cx="3383280" cy="2331720"/>
          </a:xfrm>
          <a:prstGeom prst="roundRect">
            <a:avLst>
              <a:gd name="adj" fmla="val 1307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540496" y="1463040"/>
            <a:ext cx="2944368" cy="310896"/>
          </a:xfrm>
          <a:prstGeom prst="rect">
            <a:avLst/>
          </a:prstGeom>
          <a:noFill/>
        </p:spPr>
        <p:txBody>
          <a:bodyPr wrap="square" lIns="0" rIns="0" tIns="0" bIns="0" anchor="t">
            <a:spAutoFit/>
          </a:bodyPr>
          <a:lstStyle/>
          <a:p>
            <a:pPr algn="l">
              <a:lnSpc>
                <a:spcPct val="115000"/>
              </a:lnSpc>
            </a:pPr>
            <a:r>
              <a:rPr sz="1350" b="1" i="0">
                <a:solidFill>
                  <a:srgbClr val="028090"/>
                </a:solidFill>
                <a:latin typeface="Arial"/>
              </a:rPr>
              <a:t>Пример (задача A)</a:t>
            </a:r>
          </a:p>
        </p:txBody>
      </p:sp>
      <p:sp>
        <p:nvSpPr>
          <p:cNvPr id="65" name="TextBox 64"/>
          <p:cNvSpPr txBox="1"/>
          <p:nvPr/>
        </p:nvSpPr>
        <p:spPr>
          <a:xfrm>
            <a:off x="8540496" y="1792224"/>
            <a:ext cx="2944368" cy="1783080"/>
          </a:xfrm>
          <a:prstGeom prst="rect">
            <a:avLst/>
          </a:prstGeom>
          <a:noFill/>
        </p:spPr>
        <p:txBody>
          <a:bodyPr wrap="square" lIns="0" rIns="0" tIns="0" bIns="0" anchor="t">
            <a:spAutoFit/>
          </a:bodyPr>
          <a:lstStyle/>
          <a:p>
            <a:pPr algn="l">
              <a:lnSpc>
                <a:spcPct val="120000"/>
              </a:lnSpc>
            </a:pPr>
            <a:r>
              <a:rPr sz="1200" b="0" i="0">
                <a:solidFill>
                  <a:srgbClr val="21295C"/>
                </a:solidFill>
                <a:latin typeface="Arial"/>
              </a:rPr>
              <a:t>«2000 регламентов, меняются еженедельно, ответ со ссылкой на пункт» → вопрос 4 (меняется+провенанс) решающий → RAG со строгой опорой на источник. Не дообучение (устареет), не код (нужен NL).</a:t>
            </a:r>
          </a:p>
        </p:txBody>
      </p:sp>
      <p:sp>
        <p:nvSpPr>
          <p:cNvPr id="66" name="Rounded Rectangle 65"/>
          <p:cNvSpPr/>
          <p:nvPr/>
        </p:nvSpPr>
        <p:spPr>
          <a:xfrm>
            <a:off x="8321040" y="3767328"/>
            <a:ext cx="338328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540496" y="3895344"/>
            <a:ext cx="2944368"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Разминка (задача B)</a:t>
            </a:r>
          </a:p>
        </p:txBody>
      </p:sp>
      <p:sp>
        <p:nvSpPr>
          <p:cNvPr id="68" name="TextBox 67"/>
          <p:cNvSpPr txBox="1"/>
          <p:nvPr/>
        </p:nvSpPr>
        <p:spPr>
          <a:xfrm>
            <a:off x="8540496" y="4224528"/>
            <a:ext cx="2944368" cy="11887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«бот на ~150 FAQ, меняются раз в квартал» — пройдите маршрут сами; разбор на семинаре.</a:t>
            </a:r>
          </a:p>
        </p:txBody>
      </p:sp>
      <p:sp>
        <p:nvSpPr>
          <p:cNvPr id="69" name="Rounded Rectangle 68"/>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Приоритет маршрута: если задача детерминированная и верифицируемая — обычный код, СТОП здесь</a:t>
            </a:r>
            <a:r>
              <a:rPr sz="728" baseline="30000" b="0" i="1">
                <a:latin typeface="Arial"/>
                <a:cs typeface="Arial"/>
                <a:ea typeface="Arial"/>
                <a:solidFill>
                  <a:srgbClr val="1C7293"/>
                </a:solidFill>
              </a:rPr>
              <a:t>[2]</a:t>
            </a:r>
            <a:r>
              <a:rPr sz="1400" b="1" i="0">
                <a:latin typeface="Arial"/>
                <a:cs typeface="Arial"/>
                <a:ea typeface="Arial"/>
                <a:solidFill>
                  <a:srgbClr val="21295C"/>
                </a:solidFill>
              </a:rPr>
              <a:t>. ИИ добавил бы лишь недетерминизм, стоимость, задержку и поверхность для инъекции в промпт (prompt injection).</a:t>
            </a:r>
          </a:p>
        </p:txBody>
      </p:sp>
      <p:sp>
        <p:nvSpPr>
          <p:cNvPr id="71" name="TextBox 7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Anthropic — Building Effective Agents (маршрут выбора)</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McCarthy Tétrault — Air Canada (нижняя строка матрицы)</a:t>
            </a:r>
          </a:p>
        </p:txBody>
      </p:sp>
      <p:sp>
        <p:nvSpPr>
          <p:cNvPr id="72" name="TextBox 7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50 / 55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Стартовый комплект агента — и когда его усложнять.</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Та же лестница «не усложняй без требования», применённая на уровень ниже — к оснастке одного агента, а не системы целиком.</a:t>
            </a:r>
          </a:p>
        </p:txBody>
      </p:sp>
      <p:sp>
        <p:nvSpPr>
          <p:cNvPr id="4" name="Rounded Rectangle 3"/>
          <p:cNvSpPr/>
          <p:nvPr/>
        </p:nvSpPr>
        <p:spPr>
          <a:xfrm>
            <a:off x="502920" y="1700784"/>
            <a:ext cx="4069080" cy="3703320"/>
          </a:xfrm>
          <a:prstGeom prst="roundRect">
            <a:avLst>
              <a:gd name="adj" fmla="val 823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ckage-teal.png"/>
          <p:cNvPicPr>
            <a:picLocks noChangeAspect="1"/>
          </p:cNvPicPr>
          <p:nvPr/>
        </p:nvPicPr>
        <p:blipFill>
          <a:blip r:embed="rId2"/>
          <a:stretch>
            <a:fillRect/>
          </a:stretch>
        </p:blipFill>
        <p:spPr>
          <a:xfrm>
            <a:off x="740664" y="1920240"/>
            <a:ext cx="493776" cy="493776"/>
          </a:xfrm>
          <a:prstGeom prst="rect">
            <a:avLst/>
          </a:prstGeom>
        </p:spPr>
      </p:pic>
      <p:sp>
        <p:nvSpPr>
          <p:cNvPr id="6" name="TextBox 5"/>
          <p:cNvSpPr txBox="1"/>
          <p:nvPr/>
        </p:nvSpPr>
        <p:spPr>
          <a:xfrm>
            <a:off x="1344168" y="1938528"/>
            <a:ext cx="3063240" cy="457200"/>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По умолчанию — тонкий агент</a:t>
            </a:r>
          </a:p>
        </p:txBody>
      </p:sp>
      <p:sp>
        <p:nvSpPr>
          <p:cNvPr id="7" name="Oval 6"/>
          <p:cNvSpPr/>
          <p:nvPr/>
        </p:nvSpPr>
        <p:spPr>
          <a:xfrm>
            <a:off x="777240" y="268833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2633472"/>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один файл-инструкция</a:t>
            </a:r>
          </a:p>
        </p:txBody>
      </p:sp>
      <p:sp>
        <p:nvSpPr>
          <p:cNvPr id="9" name="Oval 8"/>
          <p:cNvSpPr/>
          <p:nvPr/>
        </p:nvSpPr>
        <p:spPr>
          <a:xfrm>
            <a:off x="777240" y="3127248"/>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3072384"/>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плоская память</a:t>
            </a:r>
          </a:p>
        </p:txBody>
      </p:sp>
      <p:sp>
        <p:nvSpPr>
          <p:cNvPr id="11" name="Oval 10"/>
          <p:cNvSpPr/>
          <p:nvPr/>
        </p:nvSpPr>
        <p:spPr>
          <a:xfrm>
            <a:off x="777240" y="356616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511296"/>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БЕЗ субагентов</a:t>
            </a:r>
          </a:p>
        </p:txBody>
      </p:sp>
      <p:sp>
        <p:nvSpPr>
          <p:cNvPr id="13" name="Oval 12"/>
          <p:cNvSpPr/>
          <p:nvPr/>
        </p:nvSpPr>
        <p:spPr>
          <a:xfrm>
            <a:off x="777240" y="4005072"/>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4" y="3950208"/>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набор навыков</a:t>
            </a:r>
          </a:p>
        </p:txBody>
      </p:sp>
      <p:sp>
        <p:nvSpPr>
          <p:cNvPr id="15" name="Oval 14"/>
          <p:cNvSpPr/>
          <p:nvPr/>
        </p:nvSpPr>
        <p:spPr>
          <a:xfrm>
            <a:off x="777240" y="4443983"/>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 y="4389120"/>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MCP-доступ</a:t>
            </a:r>
          </a:p>
        </p:txBody>
      </p:sp>
      <p:sp>
        <p:nvSpPr>
          <p:cNvPr id="17" name="TextBox 16"/>
          <p:cNvSpPr txBox="1"/>
          <p:nvPr/>
        </p:nvSpPr>
        <p:spPr>
          <a:xfrm>
            <a:off x="758952" y="4837176"/>
            <a:ext cx="3557016" cy="512064"/>
          </a:xfrm>
          <a:prstGeom prst="rect">
            <a:avLst/>
          </a:prstGeom>
          <a:noFill/>
        </p:spPr>
        <p:txBody>
          <a:bodyPr wrap="square" lIns="0" rIns="0" tIns="0" bIns="0" anchor="t">
            <a:spAutoFit/>
          </a:bodyPr>
          <a:lstStyle/>
          <a:p>
            <a:pPr algn="l">
              <a:lnSpc>
                <a:spcPct val="114000"/>
              </a:lnSpc>
            </a:pPr>
            <a:r>
              <a:rPr sz="1200" b="0" i="1">
                <a:solidFill>
                  <a:srgbClr val="21295C"/>
                </a:solidFill>
                <a:latin typeface="Arial"/>
              </a:rPr>
              <a:t>Бремя доказательства — на усложнении, а не на простоте.</a:t>
            </a:r>
          </a:p>
        </p:txBody>
      </p:sp>
      <p:sp>
        <p:nvSpPr>
          <p:cNvPr id="18" name="Rounded Rectangle 17"/>
          <p:cNvSpPr/>
          <p:nvPr/>
        </p:nvSpPr>
        <p:spPr>
          <a:xfrm>
            <a:off x="4846320" y="1700784"/>
            <a:ext cx="393192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brain-circuit-mid.png"/>
          <p:cNvPicPr>
            <a:picLocks noChangeAspect="1"/>
          </p:cNvPicPr>
          <p:nvPr/>
        </p:nvPicPr>
        <p:blipFill>
          <a:blip r:embed="rId3"/>
          <a:stretch>
            <a:fillRect/>
          </a:stretch>
        </p:blipFill>
        <p:spPr>
          <a:xfrm>
            <a:off x="5047488" y="1883664"/>
            <a:ext cx="384048" cy="384048"/>
          </a:xfrm>
          <a:prstGeom prst="rect">
            <a:avLst/>
          </a:prstGeom>
        </p:spPr>
      </p:pic>
      <p:sp>
        <p:nvSpPr>
          <p:cNvPr id="20" name="TextBox 19"/>
          <p:cNvSpPr txBox="1"/>
          <p:nvPr/>
        </p:nvSpPr>
        <p:spPr>
          <a:xfrm>
            <a:off x="5541264" y="1847088"/>
            <a:ext cx="3072384" cy="329184"/>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Память-бэкенд — когда:</a:t>
            </a:r>
          </a:p>
        </p:txBody>
      </p:sp>
      <p:sp>
        <p:nvSpPr>
          <p:cNvPr id="21" name="TextBox 20"/>
          <p:cNvSpPr txBox="1"/>
          <p:nvPr/>
        </p:nvSpPr>
        <p:spPr>
          <a:xfrm>
            <a:off x="5541264" y="2157984"/>
            <a:ext cx="3072384" cy="62179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история переросла контекст ИЛИ нужен поиск по фактам. Тот же критерий, что промпт→RAG.</a:t>
            </a:r>
          </a:p>
        </p:txBody>
      </p:sp>
      <p:sp>
        <p:nvSpPr>
          <p:cNvPr id="22" name="Rounded Rectangle 21"/>
          <p:cNvSpPr/>
          <p:nvPr/>
        </p:nvSpPr>
        <p:spPr>
          <a:xfrm>
            <a:off x="4846320" y="2980944"/>
            <a:ext cx="393192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mid.png"/>
          <p:cNvPicPr>
            <a:picLocks noChangeAspect="1"/>
          </p:cNvPicPr>
          <p:nvPr/>
        </p:nvPicPr>
        <p:blipFill>
          <a:blip r:embed="rId4"/>
          <a:stretch>
            <a:fillRect/>
          </a:stretch>
        </p:blipFill>
        <p:spPr>
          <a:xfrm>
            <a:off x="5047488" y="3163824"/>
            <a:ext cx="384048" cy="384048"/>
          </a:xfrm>
          <a:prstGeom prst="rect">
            <a:avLst/>
          </a:prstGeom>
        </p:spPr>
      </p:pic>
      <p:sp>
        <p:nvSpPr>
          <p:cNvPr id="24" name="TextBox 23"/>
          <p:cNvSpPr txBox="1"/>
          <p:nvPr/>
        </p:nvSpPr>
        <p:spPr>
          <a:xfrm>
            <a:off x="5541264" y="3127248"/>
            <a:ext cx="3072384" cy="329184"/>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Субагенты — когда:</a:t>
            </a:r>
          </a:p>
        </p:txBody>
      </p:sp>
      <p:sp>
        <p:nvSpPr>
          <p:cNvPr id="25" name="TextBox 24"/>
          <p:cNvSpPr txBox="1"/>
          <p:nvPr/>
        </p:nvSpPr>
        <p:spPr>
          <a:xfrm>
            <a:off x="5541264" y="3438144"/>
            <a:ext cx="3072384" cy="62179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подзадача требует отдельного окна ИЛИ изоляции недоверенной работы (наименьшие привилегии).</a:t>
            </a:r>
          </a:p>
        </p:txBody>
      </p:sp>
      <p:sp>
        <p:nvSpPr>
          <p:cNvPr id="26" name="Rounded Rectangle 25"/>
          <p:cNvSpPr/>
          <p:nvPr/>
        </p:nvSpPr>
        <p:spPr>
          <a:xfrm>
            <a:off x="4846320" y="4261104"/>
            <a:ext cx="393192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able-mid.png"/>
          <p:cNvPicPr>
            <a:picLocks noChangeAspect="1"/>
          </p:cNvPicPr>
          <p:nvPr/>
        </p:nvPicPr>
        <p:blipFill>
          <a:blip r:embed="rId5"/>
          <a:stretch>
            <a:fillRect/>
          </a:stretch>
        </p:blipFill>
        <p:spPr>
          <a:xfrm>
            <a:off x="5047488" y="4443984"/>
            <a:ext cx="384048" cy="384048"/>
          </a:xfrm>
          <a:prstGeom prst="rect">
            <a:avLst/>
          </a:prstGeom>
        </p:spPr>
      </p:pic>
      <p:sp>
        <p:nvSpPr>
          <p:cNvPr id="28" name="TextBox 27"/>
          <p:cNvSpPr txBox="1"/>
          <p:nvPr/>
        </p:nvSpPr>
        <p:spPr>
          <a:xfrm>
            <a:off x="5541264" y="4407408"/>
            <a:ext cx="3072384" cy="329184"/>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Больше MCP-доступа — когда:</a:t>
            </a:r>
          </a:p>
        </p:txBody>
      </p:sp>
      <p:sp>
        <p:nvSpPr>
          <p:cNvPr id="29" name="TextBox 28"/>
          <p:cNvSpPr txBox="1"/>
          <p:nvPr/>
        </p:nvSpPr>
        <p:spPr>
          <a:xfrm>
            <a:off x="5541264" y="4718304"/>
            <a:ext cx="3072384" cy="62179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конкретная задача требует конкретного инструмента — не «на всякий случай». Каждое подключение — граница доверия.</a:t>
            </a:r>
          </a:p>
        </p:txBody>
      </p:sp>
      <p:sp>
        <p:nvSpPr>
          <p:cNvPr id="30" name="Rounded Rectangle 29"/>
          <p:cNvSpPr/>
          <p:nvPr/>
        </p:nvSpPr>
        <p:spPr>
          <a:xfrm>
            <a:off x="8915400" y="2148840"/>
            <a:ext cx="2788920" cy="283464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27b-bus-ru.png"/>
          <p:cNvPicPr>
            <a:picLocks noChangeAspect="1"/>
          </p:cNvPicPr>
          <p:nvPr/>
        </p:nvPicPr>
        <p:blipFill>
          <a:blip r:embed="rId6"/>
          <a:stretch>
            <a:fillRect/>
          </a:stretch>
        </p:blipFill>
        <p:spPr>
          <a:xfrm>
            <a:off x="9025128" y="2428110"/>
            <a:ext cx="2569463" cy="2276099"/>
          </a:xfrm>
          <a:prstGeom prst="rect">
            <a:avLst/>
          </a:prstGeom>
        </p:spPr>
      </p:pic>
      <p:sp>
        <p:nvSpPr>
          <p:cNvPr id="32" name="Rounded Rectangle 31"/>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Тот же принцип, что лестница архитектур — применённый к оснастке одного агента: presence paradox показал, что даже файл-инструкция «как ритуал» не работает. Усложняй под конкретный проверяемый триггер.</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51 / 55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Итог: механизм → его граница → что делать.</a:t>
            </a:r>
          </a:p>
        </p:txBody>
      </p:sp>
      <p:sp>
        <p:nvSpPr>
          <p:cNvPr id="3" name="Rounded Rectangle 2"/>
          <p:cNvSpPr/>
          <p:nvPr/>
        </p:nvSpPr>
        <p:spPr>
          <a:xfrm>
            <a:off x="365760" y="1097280"/>
            <a:ext cx="11475720" cy="4626864"/>
          </a:xfrm>
          <a:prstGeom prst="roundRect">
            <a:avLst>
              <a:gd name="adj" fmla="val 658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75488" y="1188720"/>
            <a:ext cx="2788920"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188720"/>
            <a:ext cx="2569463" cy="420624"/>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Механизм</a:t>
            </a:r>
          </a:p>
        </p:txBody>
      </p:sp>
      <p:sp>
        <p:nvSpPr>
          <p:cNvPr id="6" name="Rectangle 5"/>
          <p:cNvSpPr/>
          <p:nvPr/>
        </p:nvSpPr>
        <p:spPr>
          <a:xfrm>
            <a:off x="3264408" y="1188720"/>
            <a:ext cx="4160520"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74136" y="1188720"/>
            <a:ext cx="3941063" cy="420624"/>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Где ломается (граница)</a:t>
            </a:r>
          </a:p>
        </p:txBody>
      </p:sp>
      <p:sp>
        <p:nvSpPr>
          <p:cNvPr id="8" name="Rectangle 7"/>
          <p:cNvSpPr/>
          <p:nvPr/>
        </p:nvSpPr>
        <p:spPr>
          <a:xfrm>
            <a:off x="7424927" y="1188720"/>
            <a:ext cx="4297680"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34655" y="1188720"/>
            <a:ext cx="4078224" cy="420624"/>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Что делать</a:t>
            </a:r>
          </a:p>
        </p:txBody>
      </p:sp>
      <p:sp>
        <p:nvSpPr>
          <p:cNvPr id="10" name="Rectangle 9"/>
          <p:cNvSpPr/>
          <p:nvPr/>
        </p:nvSpPr>
        <p:spPr>
          <a:xfrm>
            <a:off x="475488" y="1609344"/>
            <a:ext cx="27889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 y="160934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Промпт / роль</a:t>
            </a:r>
          </a:p>
        </p:txBody>
      </p:sp>
      <p:sp>
        <p:nvSpPr>
          <p:cNvPr id="12" name="Rectangle 11"/>
          <p:cNvSpPr/>
          <p:nvPr/>
        </p:nvSpPr>
        <p:spPr>
          <a:xfrm>
            <a:off x="3264408" y="1609344"/>
            <a:ext cx="41605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74136" y="160934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роль-персона меняет тон, не точность</a:t>
            </a:r>
          </a:p>
        </p:txBody>
      </p:sp>
      <p:sp>
        <p:nvSpPr>
          <p:cNvPr id="14" name="Rectangle 13"/>
          <p:cNvSpPr/>
          <p:nvPr/>
        </p:nvSpPr>
        <p:spPr>
          <a:xfrm>
            <a:off x="7424927" y="1609344"/>
            <a:ext cx="429768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34655" y="160934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точность — через контекст и RAG, не через «ты — эксперт»</a:t>
            </a:r>
          </a:p>
        </p:txBody>
      </p:sp>
      <p:sp>
        <p:nvSpPr>
          <p:cNvPr id="16" name="Rectangle 15"/>
          <p:cNvSpPr/>
          <p:nvPr/>
        </p:nvSpPr>
        <p:spPr>
          <a:xfrm>
            <a:off x="475488" y="2056383"/>
            <a:ext cx="27889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5216" y="2056383"/>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Chain-of-thought</a:t>
            </a:r>
          </a:p>
        </p:txBody>
      </p:sp>
      <p:sp>
        <p:nvSpPr>
          <p:cNvPr id="18" name="Rectangle 17"/>
          <p:cNvSpPr/>
          <p:nvPr/>
        </p:nvSpPr>
        <p:spPr>
          <a:xfrm>
            <a:off x="3264408" y="2056383"/>
            <a:ext cx="41605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74136" y="2056383"/>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faithfulness низкая (~25–39%)</a:t>
            </a:r>
          </a:p>
        </p:txBody>
      </p:sp>
      <p:sp>
        <p:nvSpPr>
          <p:cNvPr id="20" name="Rectangle 19"/>
          <p:cNvSpPr/>
          <p:nvPr/>
        </p:nvSpPr>
        <p:spPr>
          <a:xfrm>
            <a:off x="7424927" y="2056383"/>
            <a:ext cx="429768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34655" y="2056383"/>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проверяй результат, не самообъяснение</a:t>
            </a:r>
          </a:p>
        </p:txBody>
      </p:sp>
      <p:sp>
        <p:nvSpPr>
          <p:cNvPr id="22" name="Rectangle 21"/>
          <p:cNvSpPr/>
          <p:nvPr/>
        </p:nvSpPr>
        <p:spPr>
          <a:xfrm>
            <a:off x="475488" y="2503424"/>
            <a:ext cx="27889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5216" y="250342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RAG</a:t>
            </a:r>
          </a:p>
        </p:txBody>
      </p:sp>
      <p:sp>
        <p:nvSpPr>
          <p:cNvPr id="24" name="Rectangle 23"/>
          <p:cNvSpPr/>
          <p:nvPr/>
        </p:nvSpPr>
        <p:spPr>
          <a:xfrm>
            <a:off x="3264408" y="2503424"/>
            <a:ext cx="41605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74136" y="250342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«вернул» ≠ «вернул правильное»</a:t>
            </a:r>
          </a:p>
        </p:txBody>
      </p:sp>
      <p:sp>
        <p:nvSpPr>
          <p:cNvPr id="26" name="Rectangle 25"/>
          <p:cNvSpPr/>
          <p:nvPr/>
        </p:nvSpPr>
        <p:spPr>
          <a:xfrm>
            <a:off x="7424927" y="2503424"/>
            <a:ext cx="429768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34655" y="250342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опора на источник + метрики поиска + «не знаю» как норма</a:t>
            </a:r>
          </a:p>
        </p:txBody>
      </p:sp>
      <p:sp>
        <p:nvSpPr>
          <p:cNvPr id="28" name="Rectangle 27"/>
          <p:cNvSpPr/>
          <p:nvPr/>
        </p:nvSpPr>
        <p:spPr>
          <a:xfrm>
            <a:off x="475488" y="2950464"/>
            <a:ext cx="27889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5216" y="295046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Дообучение / PEFT</a:t>
            </a:r>
          </a:p>
        </p:txBody>
      </p:sp>
      <p:sp>
        <p:nvSpPr>
          <p:cNvPr id="30" name="Rectangle 29"/>
          <p:cNvSpPr/>
          <p:nvPr/>
        </p:nvSpPr>
        <p:spPr>
          <a:xfrm>
            <a:off x="3264408" y="2950464"/>
            <a:ext cx="41605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74136" y="295046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меняет поведение, не знание; забывание</a:t>
            </a:r>
          </a:p>
        </p:txBody>
      </p:sp>
      <p:sp>
        <p:nvSpPr>
          <p:cNvPr id="32" name="Rectangle 31"/>
          <p:cNvSpPr/>
          <p:nvPr/>
        </p:nvSpPr>
        <p:spPr>
          <a:xfrm>
            <a:off x="7424927" y="2950464"/>
            <a:ext cx="429768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534655" y="295046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PEFT + петля проверки + версионирование; знание → RAG</a:t>
            </a:r>
          </a:p>
        </p:txBody>
      </p:sp>
      <p:sp>
        <p:nvSpPr>
          <p:cNvPr id="34" name="Rectangle 33"/>
          <p:cNvSpPr/>
          <p:nvPr/>
        </p:nvSpPr>
        <p:spPr>
          <a:xfrm>
            <a:off x="475488" y="3397504"/>
            <a:ext cx="27889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85216" y="339750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Агентный цикл</a:t>
            </a:r>
          </a:p>
        </p:txBody>
      </p:sp>
      <p:sp>
        <p:nvSpPr>
          <p:cNvPr id="36" name="Rectangle 35"/>
          <p:cNvSpPr/>
          <p:nvPr/>
        </p:nvSpPr>
        <p:spPr>
          <a:xfrm>
            <a:off x="3264408" y="3397504"/>
            <a:ext cx="41605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74136" y="339750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план→действие→проверка→повтор — 4 места отказа</a:t>
            </a:r>
          </a:p>
        </p:txBody>
      </p:sp>
      <p:sp>
        <p:nvSpPr>
          <p:cNvPr id="38" name="Rectangle 37"/>
          <p:cNvSpPr/>
          <p:nvPr/>
        </p:nvSpPr>
        <p:spPr>
          <a:xfrm>
            <a:off x="7424927" y="3397504"/>
            <a:ext cx="429768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534655" y="339750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проверка против внешнего критерия; жёсткий потолок на цикл</a:t>
            </a:r>
          </a:p>
        </p:txBody>
      </p:sp>
      <p:sp>
        <p:nvSpPr>
          <p:cNvPr id="40" name="Rectangle 39"/>
          <p:cNvSpPr/>
          <p:nvPr/>
        </p:nvSpPr>
        <p:spPr>
          <a:xfrm>
            <a:off x="475488" y="3844544"/>
            <a:ext cx="27889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85216" y="384454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Экипировка / память</a:t>
            </a:r>
          </a:p>
        </p:txBody>
      </p:sp>
      <p:sp>
        <p:nvSpPr>
          <p:cNvPr id="42" name="Rectangle 41"/>
          <p:cNvSpPr/>
          <p:nvPr/>
        </p:nvSpPr>
        <p:spPr>
          <a:xfrm>
            <a:off x="3264408" y="3844544"/>
            <a:ext cx="41605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374136" y="384454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каждый слот — компромисс, не выигрыш</a:t>
            </a:r>
          </a:p>
        </p:txBody>
      </p:sp>
      <p:sp>
        <p:nvSpPr>
          <p:cNvPr id="44" name="Rectangle 43"/>
          <p:cNvSpPr/>
          <p:nvPr/>
        </p:nvSpPr>
        <p:spPr>
          <a:xfrm>
            <a:off x="7424927" y="3844544"/>
            <a:ext cx="429768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34655" y="384454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добавляй слот под требование, с проверкой</a:t>
            </a:r>
          </a:p>
        </p:txBody>
      </p:sp>
      <p:sp>
        <p:nvSpPr>
          <p:cNvPr id="46" name="Rectangle 45"/>
          <p:cNvSpPr/>
          <p:nvPr/>
        </p:nvSpPr>
        <p:spPr>
          <a:xfrm>
            <a:off x="475488" y="4291584"/>
            <a:ext cx="27889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85216" y="429158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Мульти-агент</a:t>
            </a:r>
          </a:p>
        </p:txBody>
      </p:sp>
      <p:sp>
        <p:nvSpPr>
          <p:cNvPr id="48" name="Rectangle 47"/>
          <p:cNvSpPr/>
          <p:nvPr/>
        </p:nvSpPr>
        <p:spPr>
          <a:xfrm>
            <a:off x="3264408" y="4291584"/>
            <a:ext cx="41605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74136" y="429158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pⁿ: 95%×10 ≈ 60%; +15× токенов</a:t>
            </a:r>
          </a:p>
        </p:txBody>
      </p:sp>
      <p:sp>
        <p:nvSpPr>
          <p:cNvPr id="50" name="Rectangle 49"/>
          <p:cNvSpPr/>
          <p:nvPr/>
        </p:nvSpPr>
        <p:spPr>
          <a:xfrm>
            <a:off x="7424927" y="4291584"/>
            <a:ext cx="429768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534655" y="429158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один сильный агент по умолчанию</a:t>
            </a:r>
          </a:p>
        </p:txBody>
      </p:sp>
      <p:sp>
        <p:nvSpPr>
          <p:cNvPr id="52" name="Rectangle 51"/>
          <p:cNvSpPr/>
          <p:nvPr/>
        </p:nvSpPr>
        <p:spPr>
          <a:xfrm>
            <a:off x="475488" y="4738624"/>
            <a:ext cx="27889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216" y="473862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Безопасность</a:t>
            </a:r>
          </a:p>
        </p:txBody>
      </p:sp>
      <p:sp>
        <p:nvSpPr>
          <p:cNvPr id="54" name="Rectangle 53"/>
          <p:cNvSpPr/>
          <p:nvPr/>
        </p:nvSpPr>
        <p:spPr>
          <a:xfrm>
            <a:off x="3264408" y="4738624"/>
            <a:ext cx="41605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374136" y="473862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инъекция × широкие права; ZDR не всё</a:t>
            </a:r>
          </a:p>
        </p:txBody>
      </p:sp>
      <p:sp>
        <p:nvSpPr>
          <p:cNvPr id="56" name="Rectangle 55"/>
          <p:cNvSpPr/>
          <p:nvPr/>
        </p:nvSpPr>
        <p:spPr>
          <a:xfrm>
            <a:off x="7424927" y="4738624"/>
            <a:ext cx="429768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534655" y="473862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наименьшие привилегии + карта данных по функции</a:t>
            </a:r>
          </a:p>
        </p:txBody>
      </p:sp>
      <p:sp>
        <p:nvSpPr>
          <p:cNvPr id="58" name="Rectangle 57"/>
          <p:cNvSpPr/>
          <p:nvPr/>
        </p:nvSpPr>
        <p:spPr>
          <a:xfrm>
            <a:off x="475488" y="5185664"/>
            <a:ext cx="2788920" cy="447039"/>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85216" y="518566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«Не ИИ вовсе»</a:t>
            </a:r>
          </a:p>
        </p:txBody>
      </p:sp>
      <p:sp>
        <p:nvSpPr>
          <p:cNvPr id="60" name="Rectangle 59"/>
          <p:cNvSpPr/>
          <p:nvPr/>
        </p:nvSpPr>
        <p:spPr>
          <a:xfrm>
            <a:off x="3264408" y="5185664"/>
            <a:ext cx="4160520" cy="447039"/>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74136" y="5185664"/>
            <a:ext cx="39410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детерминированное + верифицируемое</a:t>
            </a:r>
          </a:p>
        </p:txBody>
      </p:sp>
      <p:sp>
        <p:nvSpPr>
          <p:cNvPr id="62" name="Rectangle 61"/>
          <p:cNvSpPr/>
          <p:nvPr/>
        </p:nvSpPr>
        <p:spPr>
          <a:xfrm>
            <a:off x="7424927" y="5185664"/>
            <a:ext cx="4297680" cy="447039"/>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534655" y="5185664"/>
            <a:ext cx="4078224"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обычный код — дешевле, предсказуемее, аудируем</a:t>
            </a:r>
          </a:p>
        </p:txBody>
      </p:sp>
      <p:sp>
        <p:nvSpPr>
          <p:cNvPr id="64" name="Rounded Rectangle 63"/>
          <p:cNvSpPr/>
          <p:nvPr/>
        </p:nvSpPr>
        <p:spPr>
          <a:xfrm>
            <a:off x="502920" y="5815584"/>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04088" y="5870448"/>
            <a:ext cx="10799064" cy="548640"/>
          </a:xfrm>
          <a:prstGeom prst="rect">
            <a:avLst/>
          </a:prstGeom>
          <a:noFill/>
        </p:spPr>
        <p:txBody>
          <a:bodyPr wrap="square" lIns="0" rIns="0" tIns="0" bIns="0" anchor="ctr">
            <a:spAutoFit/>
          </a:bodyPr>
          <a:lstStyle/>
          <a:p>
            <a:pPr algn="ctr">
              <a:lnSpc>
                <a:spcPct val="122000"/>
              </a:lnSpc>
            </a:pPr>
            <a:r>
              <a:rPr sz="1350" b="1" i="0">
                <a:solidFill>
                  <a:srgbClr val="21295C"/>
                </a:solidFill>
                <a:latin typeface="Arial"/>
              </a:rPr>
              <a:t>Знать инструмент — значит знать его границы. Выбор архитектуры = найти самую нижнюю ступень, которая закрывает требование задачи.</a:t>
            </a:r>
          </a:p>
        </p:txBody>
      </p:sp>
      <p:sp>
        <p:nvSpPr>
          <p:cNvPr id="66" name="TextBox 6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52 / 55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Человек-валидатор + урок MIT NANDA.</a:t>
            </a:r>
          </a:p>
        </p:txBody>
      </p:sp>
      <p:sp>
        <p:nvSpPr>
          <p:cNvPr id="3" name="Rounded Rectangle 2"/>
          <p:cNvSpPr/>
          <p:nvPr/>
        </p:nvSpPr>
        <p:spPr>
          <a:xfrm>
            <a:off x="502920" y="1280160"/>
            <a:ext cx="5989320" cy="406908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ser-check-mid.png"/>
          <p:cNvPicPr>
            <a:picLocks noChangeAspect="1"/>
          </p:cNvPicPr>
          <p:nvPr/>
        </p:nvPicPr>
        <p:blipFill>
          <a:blip r:embed="rId2"/>
          <a:stretch>
            <a:fillRect/>
          </a:stretch>
        </p:blipFill>
        <p:spPr>
          <a:xfrm>
            <a:off x="740664" y="1499616"/>
            <a:ext cx="475488" cy="475488"/>
          </a:xfrm>
          <a:prstGeom prst="rect">
            <a:avLst/>
          </a:prstGeom>
        </p:spPr>
      </p:pic>
      <p:sp>
        <p:nvSpPr>
          <p:cNvPr id="5" name="TextBox 4"/>
          <p:cNvSpPr txBox="1"/>
          <p:nvPr/>
        </p:nvSpPr>
        <p:spPr>
          <a:xfrm>
            <a:off x="1344168" y="1499616"/>
            <a:ext cx="4983479" cy="457200"/>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Агент делает — человек проверяет результат и факты</a:t>
            </a:r>
          </a:p>
        </p:txBody>
      </p:sp>
      <p:sp>
        <p:nvSpPr>
          <p:cNvPr id="6" name="TextBox 5"/>
          <p:cNvSpPr txBox="1"/>
          <p:nvPr/>
        </p:nvSpPr>
        <p:spPr>
          <a:xfrm>
            <a:off x="758952" y="2011680"/>
            <a:ext cx="5477256" cy="512064"/>
          </a:xfrm>
          <a:prstGeom prst="rect">
            <a:avLst/>
          </a:prstGeom>
          <a:noFill/>
        </p:spPr>
        <p:txBody>
          <a:bodyPr wrap="square" lIns="0" rIns="0" tIns="0" bIns="0" anchor="t">
            <a:spAutoFit/>
          </a:bodyPr>
          <a:lstStyle/>
          <a:p>
            <a:pPr algn="l">
              <a:lnSpc>
                <a:spcPct val="114000"/>
              </a:lnSpc>
            </a:pPr>
            <a:r>
              <a:rPr sz="1200" b="0" i="1">
                <a:solidFill>
                  <a:srgbClr val="5B6678"/>
                </a:solidFill>
                <a:latin typeface="Arial"/>
              </a:rPr>
              <a:t>против независимого источника истины, а не по правдоподобности рассуждения</a:t>
            </a:r>
            <a:r>
              <a:rPr sz="624" baseline="30000" b="0" i="1">
                <a:latin typeface="Arial"/>
                <a:cs typeface="Arial"/>
                <a:ea typeface="Arial"/>
                <a:solidFill>
                  <a:srgbClr val="1C7293"/>
                </a:solidFill>
              </a:rPr>
              <a:t>[1]</a:t>
            </a:r>
            <a:r>
              <a:rPr sz="1200" b="0" i="1">
                <a:latin typeface="Arial"/>
                <a:cs typeface="Arial"/>
                <a:ea typeface="Arial"/>
                <a:solidFill>
                  <a:srgbClr val="5B6678"/>
                </a:solidFill>
              </a:rPr>
              <a:t>: самообъяснение модели ≠ контроль.</a:t>
            </a:r>
          </a:p>
        </p:txBody>
      </p:sp>
      <p:sp>
        <p:nvSpPr>
          <p:cNvPr id="7" name="Rounded Rectangle 6"/>
          <p:cNvSpPr/>
          <p:nvPr/>
        </p:nvSpPr>
        <p:spPr>
          <a:xfrm>
            <a:off x="758952" y="2670048"/>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2761488"/>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Степень автономности</a:t>
            </a:r>
          </a:p>
        </p:txBody>
      </p:sp>
      <p:sp>
        <p:nvSpPr>
          <p:cNvPr id="9" name="TextBox 8"/>
          <p:cNvSpPr txBox="1"/>
          <p:nvPr/>
        </p:nvSpPr>
        <p:spPr>
          <a:xfrm>
            <a:off x="905256" y="3072384"/>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от «человек нажимает кнопку» до «агент уведомляет постфактум»</a:t>
            </a:r>
          </a:p>
        </p:txBody>
      </p:sp>
      <p:sp>
        <p:nvSpPr>
          <p:cNvPr id="10" name="Rounded Rectangle 9"/>
          <p:cNvSpPr/>
          <p:nvPr/>
        </p:nvSpPr>
        <p:spPr>
          <a:xfrm>
            <a:off x="758952" y="3566160"/>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5256" y="3657600"/>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Область доверия</a:t>
            </a:r>
          </a:p>
        </p:txBody>
      </p:sp>
      <p:sp>
        <p:nvSpPr>
          <p:cNvPr id="12" name="TextBox 11"/>
          <p:cNvSpPr txBox="1"/>
          <p:nvPr/>
        </p:nvSpPr>
        <p:spPr>
          <a:xfrm>
            <a:off x="905256" y="3968496"/>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чтение (легко откатить) vs запись · обратимое vs необратимое</a:t>
            </a:r>
          </a:p>
        </p:txBody>
      </p:sp>
      <p:sp>
        <p:nvSpPr>
          <p:cNvPr id="13" name="Rounded Rectangle 12"/>
          <p:cNvSpPr/>
          <p:nvPr/>
        </p:nvSpPr>
        <p:spPr>
          <a:xfrm>
            <a:off x="758952" y="4462272"/>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4553712"/>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Непрерывный мониторинг</a:t>
            </a:r>
          </a:p>
        </p:txBody>
      </p:sp>
      <p:sp>
        <p:nvSpPr>
          <p:cNvPr id="15" name="TextBox 14"/>
          <p:cNvSpPr txBox="1"/>
          <p:nvPr/>
        </p:nvSpPr>
        <p:spPr>
          <a:xfrm>
            <a:off x="905256" y="4864608"/>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метрики качества постоянно, не разовая проверка на старте</a:t>
            </a:r>
          </a:p>
        </p:txBody>
      </p:sp>
      <p:sp>
        <p:nvSpPr>
          <p:cNvPr id="16" name="Rounded Rectangle 15"/>
          <p:cNvSpPr/>
          <p:nvPr/>
        </p:nvSpPr>
        <p:spPr>
          <a:xfrm>
            <a:off x="6720840" y="1280160"/>
            <a:ext cx="4983480" cy="2834640"/>
          </a:xfrm>
          <a:prstGeom prst="roundRect">
            <a:avLst>
              <a:gd name="adj" fmla="val 1075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29-nanda.png"/>
          <p:cNvPicPr>
            <a:picLocks noChangeAspect="1"/>
          </p:cNvPicPr>
          <p:nvPr/>
        </p:nvPicPr>
        <p:blipFill>
          <a:blip r:embed="rId3"/>
          <a:stretch>
            <a:fillRect/>
          </a:stretch>
        </p:blipFill>
        <p:spPr>
          <a:xfrm>
            <a:off x="6903720" y="1754504"/>
            <a:ext cx="2240280" cy="1840230"/>
          </a:xfrm>
          <a:prstGeom prst="rect">
            <a:avLst/>
          </a:prstGeom>
        </p:spPr>
      </p:pic>
      <p:sp>
        <p:nvSpPr>
          <p:cNvPr id="18" name="TextBox 17"/>
          <p:cNvSpPr txBox="1"/>
          <p:nvPr/>
        </p:nvSpPr>
        <p:spPr>
          <a:xfrm>
            <a:off x="9235440" y="1600200"/>
            <a:ext cx="2240280" cy="868680"/>
          </a:xfrm>
          <a:prstGeom prst="rect">
            <a:avLst/>
          </a:prstGeom>
          <a:noFill/>
        </p:spPr>
        <p:txBody>
          <a:bodyPr wrap="square" lIns="0" rIns="0" tIns="0" bIns="0" anchor="t">
            <a:spAutoFit/>
          </a:bodyPr>
          <a:lstStyle/>
          <a:p>
            <a:pPr algn="l">
              <a:lnSpc>
                <a:spcPct val="100000"/>
              </a:lnSpc>
            </a:pPr>
            <a:r>
              <a:rPr sz="4200" b="1" i="0">
                <a:solidFill>
                  <a:srgbClr val="F0AB00"/>
                </a:solidFill>
                <a:latin typeface="Arial"/>
              </a:rPr>
              <a:t>~95%</a:t>
            </a:r>
          </a:p>
        </p:txBody>
      </p:sp>
      <p:sp>
        <p:nvSpPr>
          <p:cNvPr id="19" name="TextBox 18"/>
          <p:cNvSpPr txBox="1"/>
          <p:nvPr/>
        </p:nvSpPr>
        <p:spPr>
          <a:xfrm>
            <a:off x="9235440" y="2468880"/>
            <a:ext cx="2240280" cy="150876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корпоративных GenAI-пилотов без измеримого возврата инвестиций — корень в разрыве обучения и провале интеграции, не в качестве модели</a:t>
            </a:r>
            <a:r>
              <a:rPr sz="650" baseline="30000" b="0" i="1">
                <a:latin typeface="Arial"/>
                <a:cs typeface="Arial"/>
                <a:ea typeface="Arial"/>
                <a:solidFill>
                  <a:srgbClr val="1C7293"/>
                </a:solidFill>
              </a:rPr>
              <a:t>[2]</a:t>
            </a:r>
          </a:p>
        </p:txBody>
      </p:sp>
      <p:sp>
        <p:nvSpPr>
          <p:cNvPr id="20" name="Rounded Rectangle 19"/>
          <p:cNvSpPr/>
          <p:nvPr/>
        </p:nvSpPr>
        <p:spPr>
          <a:xfrm>
            <a:off x="6720840" y="4251960"/>
            <a:ext cx="4983480" cy="109728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58583" y="4370831"/>
            <a:ext cx="4507992" cy="868680"/>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«Запустить ИИ» ≠ «получить ценность». Решает архитектурно-интеграционная дисциплина. Иногда правильный ответ — простейшая архитектура или не-ИИ.</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Reasoning Models faithfulness (self-rationale ≠ контроль)</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MIT NANDA — State of AI in Business 2025 (~95% пилотов без ROI)</a:t>
            </a:r>
            <a:r>
              <a:rPr sz="850" i="1">
                <a:solidFill>
                  <a:srgbClr val="5B6678"/>
                </a:solidFill>
                <a:latin typeface="Arial"/>
              </a:rPr>
              <a:t>   ·   MIT NANDA, State of AI in Business 2025 — отчёт с методологией (150 интервью + 350 опрос + 300 внедрений), не универсальный закон.</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53 / 55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0-coding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502920" y="384048"/>
            <a:ext cx="6675120" cy="859536"/>
          </a:xfrm>
          <a:prstGeom prst="rect">
            <a:avLst/>
          </a:prstGeom>
          <a:noFill/>
        </p:spPr>
        <p:txBody>
          <a:bodyPr wrap="square" lIns="0" rIns="0" tIns="0" bIns="0" anchor="t">
            <a:spAutoFit/>
          </a:bodyPr>
          <a:lstStyle/>
          <a:p>
            <a:pPr algn="l">
              <a:lnSpc>
                <a:spcPct val="106000"/>
              </a:lnSpc>
            </a:pPr>
            <a:r>
              <a:rPr sz="2400" b="1" i="0">
                <a:solidFill>
                  <a:srgbClr val="21295C"/>
                </a:solidFill>
                <a:latin typeface="Arial"/>
              </a:rPr>
              <a:t>Дальше — отрасли. Старт: разработка ПО, ось SDLC × AI.</a:t>
            </a:r>
          </a:p>
        </p:txBody>
      </p:sp>
      <p:sp>
        <p:nvSpPr>
          <p:cNvPr id="4" name="TextBox 3"/>
          <p:cNvSpPr txBox="1"/>
          <p:nvPr/>
        </p:nvSpPr>
        <p:spPr>
          <a:xfrm>
            <a:off x="502920" y="1225296"/>
            <a:ext cx="6675120" cy="365760"/>
          </a:xfrm>
          <a:prstGeom prst="rect">
            <a:avLst/>
          </a:prstGeom>
          <a:noFill/>
        </p:spPr>
        <p:txBody>
          <a:bodyPr wrap="square" lIns="0" rIns="0" tIns="0" bIns="0" anchor="t">
            <a:spAutoFit/>
          </a:bodyPr>
          <a:lstStyle/>
          <a:p>
            <a:pPr algn="l">
              <a:lnSpc>
                <a:spcPct val="114000"/>
              </a:lnSpc>
            </a:pPr>
            <a:r>
              <a:rPr sz="1250" b="0" i="1">
                <a:solidFill>
                  <a:srgbClr val="065A82"/>
                </a:solidFill>
                <a:latin typeface="Arial"/>
              </a:rPr>
              <a:t>Лекция 4 берёт тот же аппарат и раскладывает его по этапам жизненного цикла ПО. Каждый этап опирается на якорь из этой лекции:</a:t>
            </a:r>
          </a:p>
        </p:txBody>
      </p:sp>
      <p:sp>
        <p:nvSpPr>
          <p:cNvPr id="5" name="Rounded Rectangle 4"/>
          <p:cNvSpPr/>
          <p:nvPr/>
        </p:nvSpPr>
        <p:spPr>
          <a:xfrm>
            <a:off x="502920" y="1737360"/>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67512" y="1883664"/>
            <a:ext cx="2916936"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Требования / дизайн</a:t>
            </a:r>
          </a:p>
        </p:txBody>
      </p:sp>
      <p:sp>
        <p:nvSpPr>
          <p:cNvPr id="7" name="TextBox 6"/>
          <p:cNvSpPr txBox="1"/>
          <p:nvPr/>
        </p:nvSpPr>
        <p:spPr>
          <a:xfrm>
            <a:off x="704088" y="2340864"/>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выбор архитектуры под шаг → лестница из 6 ступеней</a:t>
            </a:r>
          </a:p>
        </p:txBody>
      </p:sp>
      <p:sp>
        <p:nvSpPr>
          <p:cNvPr id="8" name="Rounded Rectangle 7"/>
          <p:cNvSpPr/>
          <p:nvPr/>
        </p:nvSpPr>
        <p:spPr>
          <a:xfrm>
            <a:off x="3886200" y="1737360"/>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050791" y="1883664"/>
            <a:ext cx="187451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Кодирование</a:t>
            </a:r>
          </a:p>
        </p:txBody>
      </p:sp>
      <p:sp>
        <p:nvSpPr>
          <p:cNvPr id="10" name="TextBox 9"/>
          <p:cNvSpPr txBox="1"/>
          <p:nvPr/>
        </p:nvSpPr>
        <p:spPr>
          <a:xfrm>
            <a:off x="4087368" y="2340864"/>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агенты для кода через рамку экипировки; провалы как КЛАСС</a:t>
            </a:r>
          </a:p>
        </p:txBody>
      </p:sp>
      <p:sp>
        <p:nvSpPr>
          <p:cNvPr id="11" name="Rounded Rectangle 10"/>
          <p:cNvSpPr/>
          <p:nvPr/>
        </p:nvSpPr>
        <p:spPr>
          <a:xfrm>
            <a:off x="502920" y="3355848"/>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67512" y="3502152"/>
            <a:ext cx="201167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Тестирование</a:t>
            </a:r>
          </a:p>
        </p:txBody>
      </p:sp>
      <p:sp>
        <p:nvSpPr>
          <p:cNvPr id="13" name="TextBox 12"/>
          <p:cNvSpPr txBox="1"/>
          <p:nvPr/>
        </p:nvSpPr>
        <p:spPr>
          <a:xfrm>
            <a:off x="704088" y="3959352"/>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граница доверия и наименьшие привилегии; данные вне ZDR</a:t>
            </a:r>
          </a:p>
        </p:txBody>
      </p:sp>
      <p:sp>
        <p:nvSpPr>
          <p:cNvPr id="14" name="Rounded Rectangle 13"/>
          <p:cNvSpPr/>
          <p:nvPr/>
        </p:nvSpPr>
        <p:spPr>
          <a:xfrm>
            <a:off x="3886200" y="3355848"/>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050791" y="3502152"/>
            <a:ext cx="201167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Эксплуатация</a:t>
            </a:r>
          </a:p>
        </p:txBody>
      </p:sp>
      <p:sp>
        <p:nvSpPr>
          <p:cNvPr id="16" name="TextBox 15"/>
          <p:cNvSpPr txBox="1"/>
          <p:nvPr/>
        </p:nvSpPr>
        <p:spPr>
          <a:xfrm>
            <a:off x="4087368" y="3959352"/>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человек-валидатор проверяет результат, а не самообъяснение</a:t>
            </a:r>
          </a:p>
        </p:txBody>
      </p:sp>
      <p:sp>
        <p:nvSpPr>
          <p:cNvPr id="17" name="Rounded Rectangle 16"/>
          <p:cNvSpPr/>
          <p:nvPr/>
        </p:nvSpPr>
        <p:spPr>
          <a:xfrm>
            <a:off x="502920" y="4956048"/>
            <a:ext cx="667512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010912"/>
            <a:ext cx="6272783" cy="54864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Задание — Семинар 3: прогнать чек-лист выбора архитектуры на 3 кейсах (чат / агент / RAG / API).</a:t>
            </a:r>
          </a:p>
        </p:txBody>
      </p:sp>
      <p:sp>
        <p:nvSpPr>
          <p:cNvPr id="19" name="Rounded Rectangle 18"/>
          <p:cNvSpPr/>
          <p:nvPr/>
        </p:nvSpPr>
        <p:spPr>
          <a:xfrm>
            <a:off x="502920" y="5742432"/>
            <a:ext cx="667512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5797296"/>
            <a:ext cx="6272783"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эта рамка — база для Лекций 4–17. На каждой отраслевой лекции прогоняйте тот же чек-лист выбора.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54 / 55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77240" y="1417320"/>
            <a:ext cx="2971800" cy="4023360"/>
          </a:xfrm>
          <a:prstGeom prst="roundRect">
            <a:avLst>
              <a:gd name="adj" fmla="val 1025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31-skeleton-ru.png"/>
          <p:cNvPicPr>
            <a:picLocks noChangeAspect="1"/>
          </p:cNvPicPr>
          <p:nvPr/>
        </p:nvPicPr>
        <p:blipFill>
          <a:blip r:embed="rId2"/>
          <a:stretch>
            <a:fillRect/>
          </a:stretch>
        </p:blipFill>
        <p:spPr>
          <a:xfrm>
            <a:off x="905256" y="1592666"/>
            <a:ext cx="2715768" cy="3672666"/>
          </a:xfrm>
          <a:prstGeom prst="rect">
            <a:avLst/>
          </a:prstGeom>
        </p:spPr>
      </p:pic>
      <p:sp>
        <p:nvSpPr>
          <p:cNvPr id="4" name="TextBox 3"/>
          <p:cNvSpPr txBox="1"/>
          <p:nvPr/>
        </p:nvSpPr>
        <p:spPr>
          <a:xfrm>
            <a:off x="3977639" y="1874519"/>
            <a:ext cx="7726679" cy="2103120"/>
          </a:xfrm>
          <a:prstGeom prst="rect">
            <a:avLst/>
          </a:prstGeom>
          <a:noFill/>
        </p:spPr>
        <p:txBody>
          <a:bodyPr wrap="square" lIns="0" rIns="0" tIns="0" bIns="0" anchor="ctr">
            <a:spAutoFit/>
          </a:bodyPr>
          <a:lstStyle/>
          <a:p>
            <a:pPr algn="ctr">
              <a:lnSpc>
                <a:spcPct val="100000"/>
              </a:lnSpc>
            </a:pPr>
            <a:r>
              <a:rPr sz="12000" b="1" i="0">
                <a:solidFill>
                  <a:srgbClr val="21295C"/>
                </a:solidFill>
                <a:latin typeface="Arial"/>
              </a:rPr>
              <a:t>Q&amp;A</a:t>
            </a:r>
          </a:p>
        </p:txBody>
      </p:sp>
      <p:sp>
        <p:nvSpPr>
          <p:cNvPr id="5" name="TextBox 4"/>
          <p:cNvSpPr txBox="1"/>
          <p:nvPr/>
        </p:nvSpPr>
        <p:spPr>
          <a:xfrm>
            <a:off x="3977639" y="4160520"/>
            <a:ext cx="7726679" cy="713232"/>
          </a:xfrm>
          <a:prstGeom prst="rect">
            <a:avLst/>
          </a:prstGeom>
          <a:noFill/>
        </p:spPr>
        <p:txBody>
          <a:bodyPr wrap="square" lIns="0" rIns="0" tIns="0" bIns="0" anchor="ctr">
            <a:spAutoFit/>
          </a:bodyPr>
          <a:lstStyle/>
          <a:p>
            <a:pPr algn="ctr">
              <a:lnSpc>
                <a:spcPct val="120000"/>
              </a:lnSpc>
            </a:pPr>
            <a:r>
              <a:rPr sz="3600" b="0" i="0">
                <a:solidFill>
                  <a:srgbClr val="065A82"/>
                </a:solidFill>
                <a:latin typeface="Arial"/>
              </a:rPr>
              <a:t>Спасибо</a:t>
            </a:r>
          </a:p>
        </p:txBody>
      </p:sp>
      <p:sp>
        <p:nvSpPr>
          <p:cNvPr id="6" name="TextBox 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55 / 55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