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«Вы открывали чужой репозиторий: файл инструкций на триста строк, десяток скиллов, пять подключённых серверов — и копировали это себе, потому что "так делают в хороших проектах". Проблема не в том, что вы не умеете пользоваться агентом. Проблема в том, что часть скопированного — универсальная инженерная гигиена, которую стоило завести с первого дня. А часть — чужие решения под чужой репозиторий, которые ничего не говорят про ваш собственный.</a:t>
            </a:r>
          </a:p>
          <a:p/>
          <a:p>
            <a:r>
              <a:t>Вопрос, на который мы сегодня отвечаем: что в конфигурации агента стоит закладывать сразу, на день 0, как базовую практику — а что нельзя знать заранее, потому что оно специфично для вашего проекта?»</a:t>
            </a:r>
          </a:p>
          <a:p/>
          <a:p>
            <a:r>
              <a:t>Дальше — сразу к постановке задачи, без паузы.</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«Вот как заказчик обычно формулирует задачу — по-человечески, без единого слова о структуре кода, критериях готовности или о том, чего агенту делать нельзя. Ровно с этим текстом в руках вы сейчас открываете чат с агентом.»</a:t>
            </a:r>
          </a:p>
          <a:p/>
          <a:p>
            <a:r>
              <a:t>Открытый вопрос классу: «Можем ли мы сразу дать эту задачу агенту — или сначала нужно зафиксировать требования?»</a:t>
            </a:r>
          </a:p>
          <a:p/>
          <a:p>
            <a:r>
              <a:t>Это открытая дискуссия, не голосование по карточкам: 2–3 голоса, фасилитатор не оценивает ответ как верный/неверный, а собирает аргументы. Типичный разброс — часть зала скажет «конечно можно, агент разберётся», часть — «мало, надо дожать формулировку». Обе позиции по-своему правы, и в этом и есть смысл шага: не выдать правильный ответ, а показать, что вопрос действительно открыт.</a:t>
            </a:r>
          </a:p>
          <a:p/>
          <a:p>
            <a:r>
              <a:t>Если дискуссия уходит в архитектурный спор («а нужен ли вообще бэкенд») — обрывать на первой законченной мысли: «зафиксировал, это отдельный вопрос» — и идти дальше.</a:t>
            </a:r>
          </a:p>
          <a:p/>
          <a:p>
            <a:r>
              <a:t>Мостик: «Оба ответа по-своему правы. Дать можно — агент разберётся с тем, что написано. Вопрос в другом: с чем именно он останется, если написано мало. Давайте зафиксируем это по-настоящему.»</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«Смотрите, что изменилось. Мы не отдаём агенту голый текст заказчика — мы сначала сами раскладываем его на функциональные требования, что должно быть, и нефункциональные, какими свойствами это должно обладать, — и записываем в отдельный файл, spec.md. Обратите внимание на строку "критерий приёмки": заказчик её не произносил, мы вывели её сами — потому что без неё "готово" ничем не отличается от "тест зелёный". Этот файл кладётся в репозиторий сразу, первым коммитом, до первой сессии агента.</a:t>
            </a:r>
          </a:p>
          <a:p/>
          <a:p>
            <a:r>
              <a:t>И ещё одна вещь, которую легко забыть: README.md и другие стандартные базовые артефакты — тоже создаются сейчас, отдельно, не как часть спеки. Спека — про требования к продукту. README — про то, как устроен репозиторий для того, кто в него зайдёт, человек или агент. Именно поэтому требования из spec.md потом не дублируются в файле инструкций агента: там, где уже есть спека и README, повторять их содержание в CLAUDE.md — не забота, а лишняя строка, которая стоит контекста в каждой сессии. Держите это разделение в голове — оно вернётся в разделе 1.</a:t>
            </a:r>
          </a:p>
          <a:p/>
          <a:p>
            <a:r>
              <a:t>Значит, задача агенту звучит теперь иначе: не "собери лендинг с формой", а — "вот spec.md, инициализируй репозиторий и создай проект по нему".»</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«Вот тот же самый пустой каталог — реальный вывод команды, ничего не постановочно. И вот текст, который реально получил агент в этом демо-репозитории. По содержанию это ровно функциональная часть нашей spec.md — та же информация, что мы только что зафиксировали письменно.</a:t>
            </a:r>
          </a:p>
          <a:p/>
          <a:p>
            <a:r>
              <a:t>Агент не задал ни одного уточняющего вопроса. Собрал index.html, src/main.js, package.json, тест — сам прописал скрипты сборки и теста, сам разложил файлы по папкам. Его собственные слова: "все параметры задачи были однозначно выводимы из текста, поэтому работа была начата сразу, без уточнений".</a:t>
            </a:r>
          </a:p>
          <a:p/>
          <a:p>
            <a:r>
              <a:t>Заметьте, о чём он не спросил. Не о критерии приёмки — тот в нашей spec.md уже есть. О структуре: как назвать файлы, куда их положить, как разложить проект. Спека по определению не обязана это описывать — это не требование к продукту, это устройство кода. И агент решил это сам, молча, без единого вопроса.»</a:t>
            </a:r>
          </a:p>
          <a:p/>
          <a:p>
            <a:r>
              <a:t>Мысль, которую надо оставить в зале: «Агент не спросил про структуру репозитория — а нужно ли было писать это заранее в файл инструкций? Это первый настоящий кейс сегодняшнего занятия.»</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Вызвать 2 голоса. Задача фасилитатора на этом слайде — не оценить ответ, а зафиксировать его вслух; таблицы разбора и подсветки целевого варианта здесь нет.</a:t>
            </a:r>
          </a:p>
          <a:p/>
          <a:p>
            <a:r>
              <a:t>Запасная формулировка при молчании зала: «Проще: вот список — гейт готовности, лог решений, обзор репозитория, вложенные файлы, сложная память. Каким из них вы дали бы жить с первого дня, а какие отложили бы до реальной проблемы?»</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«И то и другое — не ошибка, а привычка, которая права ровно наполовину. Здесь нет единого правильного режима на всё. Есть два типа решений.</a:t>
            </a:r>
          </a:p>
          <a:p/>
          <a:p>
            <a:r>
              <a:t>Первый тип — специфичный для проекта: невозможно заранее сказать, понадобится ли это именно здесь, потому что ответ зависит от конкретного репозитория. Обзор репозитория, вложенные файлы конвенций, сложная многоуровневая память — вот сюда. Здесь ждать реального сигнала — не лень, а правильная инженерная практика: сигнал появится, когда появится, и только тогда есть что записывать.</a:t>
            </a:r>
          </a:p>
          <a:p/>
          <a:p>
            <a:r>
              <a:t>Второй тип — универсальная гигиена: дёшево завести сразу, а цена отсутствия непредсказуема, потому что вы не знаете заранее, в какой момент она понадобится и что к этому моменту будет уже потеряно. Гейт готовности и трекинг задач и решений — вот сюда. Сигнала для них можно и не дождаться: боль от отсутствия наступает тихо и постфактум, а не одним явным событием.</a:t>
            </a:r>
          </a:p>
          <a:p/>
          <a:p>
            <a:r>
              <a:t>Обратите внимание: это не то же самое, что "начинайте с малого всегда". Лекция 3 говорила про тонкого агента — про отказ от структурной сложности: субагентов, скиллов, внешнего доступа. Это по-прежнему верно и по-прежнему ждёт сигнала. Но универсальная гигиена — другая категория, и здесь "жди боли" — плохой совет. Сегодня мы пройдём шесть реальных развилок, ровно поровну — три одного типа, три другого.»</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Слайд начинается пустым: пять пустых слотов в ряд. Слоты не читаются с экрана — зал достаёт их из памяти, они уже разбирались на Лекции 3.</a:t>
            </a:r>
          </a:p>
          <a:p/>
          <a:p>
            <a:r>
              <a:t>Реплика-заход: «На лекции про агентов мы разбирали, из чего сделан агент-помощник поверх базового цикла "планируй → действуй → проверяй → повторяй". Там это называлось одним словом — харнесс, экипировка агента. Это единственный раз за занятие, когда я произношу английские названия слотов: Skills, Subagents, Access/MCP — чтобы вы узнали их, когда откроете конспект лекции. Дальше говорим по-русски. Слотов было ровно пять. Назовите те, что помните.»</a:t>
            </a:r>
          </a:p>
          <a:p/>
          <a:p>
            <a:r>
              <a:t>Проявлять по одному, с одной уточняющей репликой на каждый: память — «не контекст текущего разговора, именно то, что переживает конец сессии»; инструкции-правила — «то, что вы пишете сами и что грузится в начало каждой сессии»; скиллы — «методичка, которую снимают с полки, а не регламент на столе»; субагенты — «отдельный сотрудник с чистым столом»; доступ наружу — «каждое подключение — новая граница доверия». Если какой-то слот зал не вспомнил — назвать самому, без паузы и без укора.</a:t>
            </a:r>
          </a:p>
          <a:p/>
          <a:p>
            <a:r>
              <a:t>Дальше — явный честный scope-statement, произносится дословно: «Из этих пяти сегодня мы подробно разберём два — инструкции-правила и память, — и каждый на трёх реальных развилках, а не абстрактно. Три оставшихся — скиллы, субагенты и доступ наружу — и два практических слоя, которые их механически усиливают, хук и процесс, — идут отдельным занятием, Семинаром 5. Это не значит, что они менее важны. Это значит, что за одно занятие честно разобрать глубоко можно два блока, а не семь.»</a:t>
            </a:r>
          </a:p>
          <a:p/>
          <a:p>
            <a:r>
              <a:t>Правило лестницы — одной строкой под картой, дословно: «Оставайтесь на самой нижней ступени, которая закрывает требование задачи. Поднимайтесь на следующую только тогда, когда можете назвать требование, которое текущая ступень не закрывает. Каждый подъём оплачивается новой стоимостью, новыми режимами отказа и новой поверхностью атаки.»</a:t>
            </a:r>
          </a:p>
          <a:p/>
          <a:p>
            <a:r>
              <a:t>Если из зала прозвучит вопрос «почему именно эти два, а не другие?» — ответ: «Файл инструкций и память идут первыми, потому что их триггеры проявляются раньше остальных на любом живом проекте: расхождение "готово" видно уже на первой неделе, а вопрос "что агент помнит между сессиями" встаёт сразу вслед за этим. Скиллы, субагенты и доступ наружу отвечают на вопросы, которые появляются позже, когда проект уже вырос, — и это тема следующего занятия.» Если вопроса не прозвучало — сразу мостик.</a:t>
            </a:r>
          </a:p>
          <a:p/>
          <a:p>
            <a:r>
              <a:t>Мостик к разделу 1: «Итак: заказчик дал задачу по-человечески; мы зафиксировали требования в spec.md и завели README, прежде чем агент увидел хоть строку; агент собрал рабочий проект и не спросил ни разу — в том числе о том, как организован сам репозиторий; и мы только что разошлись в самодиагностике на два лагеря — заводить сразу или ждать сигнала — и увидели, что прав ни один целиком: у решений два разных типа. Раздел первый начинается ровно с того вопроса, который агент не задал: нужно ли было заранее записать что-то про структуру и роль репозитория — или это тоже стоит подождать?»</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Переход одной фразой, без пересказа содержания кейсов заранее: «Раньше этот раздел держался на одном примере. Сегодня — три отдельные развилки про один и тот же файл, `CLAUDE.md` он же `AGENTS.md`, в том порядке, в каком реально накапливается конфигурация демо-репозитория: сначала решаем, чего в файл не писать заранее; потом пишем первое реальное содержимое на реальной боли; потом решаем, стоит ли это содержимое дробить по подпапкам. Каждый кейс устроен одинаково: проблема, открытый вопрос, исследование и разбор.»</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Переход одной фразой: «Репозиторий `signup-landing` — продукт-код есть, спека и README тоже, конфигурации агента ноль строк. Первая развилка — самая ранняя из трёх: открыть пустой `CLAUDE.md` и решить, с чего он начинается.»</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«Пустой репозиторий, форма и тест уже написаны, а CLAUDE.md — ни строки. Первый инстинкт многих из вас — открыть файл и начать с описания: что это за проект, как он устроен, где что лежит. Один разработчик так и сделал в прошлом проекте. Два месяца спустя, после рефакторинга, раздел "Overview" по-прежнему описывал структуру, которой уже не было — и агент один раз отредактировал не тот файл, поверив описанию вместо того, чтобы посмотреть в реальный код. Это тот самый "так делают в хороших проектах" из начала занятия. Сегодня проверяем его первый раз на практике.»</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Вопрос задаётся с готовым набором вариантов на экране. Вызвать 2–3 человека. Задача фасилитатора здесь — зафиксировать ответы вслух, не оценивать: «услышал: опишу структуру репозитория. Услышал: список технологий».</a:t>
            </a:r>
          </a:p>
          <a:p/>
          <a:p>
            <a:r>
              <a:t>Если прозвучит «опишу архитектуру» — не иронизировать: «Держим этот вариант в голове. Сейчас посмотрим, что на этот счёт знает исследование.»</a:t>
            </a:r>
          </a:p>
          <a:p/>
          <a:p>
            <a:r>
              <a:t>Голосование прошло без единой цифры на экране — исследование и разбор идут только следующим слайдом, одним заходом.</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«Контролируемый эксперимент Gloaguen et al. впервые честно сравнил с третьим плечом — файла нет вообще. Результат для repository overview дословный: "are not helpful". Стоимость растёт на двадцать-двадцать три процента, успех — нет. Единственное подтверждённое исключение — репозитории без другой документации вообще.</a:t>
            </a:r>
          </a:p>
          <a:p/>
          <a:p>
            <a:r>
              <a:t>У этого явления есть название: presence paradox. Сам факт присутствия текста в контексте стоит денег — вне зависимости от того, помог ли он решить задачу. Запомните этот термин: он всплывёт в разборе кейса 1.2, кейса 1.3 и снова — уже применительно к памяти — в разделе 2.</a:t>
            </a:r>
          </a:p>
          <a:p/>
          <a:p>
            <a:r>
              <a:t>По остальным источникам коротко: абляция подтверждает механизм — убрали README, overview стал полезен. Lulla et al. — сильный аргумент «за» файл, но про недискаверабельные конвенции, не общее описание. Shepard &amp; Albrecht — статичная непроверенная инструкция хуже динамически верифицированной.</a:t>
            </a:r>
          </a:p>
          <a:p/>
          <a:p>
            <a:r>
              <a:t>Честно про пробел: прямых экспериментов с намеренно устаревшим overview не найдено — анекдот коллеги правдоподобный, но не измеренный.</a:t>
            </a:r>
          </a:p>
          <a:p/>
          <a:p>
            <a:r>
              <a:t>Смотрите на таблицу разбора: единственный целевой ответ — «пока ничего». И вот важнейшая деталь этого кейса. У нас эта документация уже есть — мы создали README.md в самом начале занятия, вместе со spec.md. Если кто-то сейчас думал "разумно, агент же не понимает устройство проекта" — он его понимает, потому что читает README, а структуру видит за секунды сам. Структурированное описание должно существовать — но в README.md, не продублированным в CLAUDE.md. Правильный ответ на этом шаге — не "какой текст написать", а "пока никакой". Файл остаётся пустым.»</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«Файл пуст не потому, что мы ленивы, а потому что для описания структуры репозитория нет сигнала. Но "пусто" не значит "навсегда": часть содержимого `CLAUDE.md` мы заведём сразу, ещё на дне 0, как дешёвую гигиену — это следующий кейс.»</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Переход одной фразой: «Первый кейс решал, чего не писать заранее. Второй — про то, что мы всё-таки решили записать сразу, на день 0, как базовую практику — и что случилось, когда это правило впервые проверила реальность.»</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«Гейт готовности мы заводим не когда прижмёт, а сразу — на день 0, вместе со spec.md. Это не специфика этого проекта, это то, что мы делаем всегда: с первого дня в CLAUDE.md есть строка — "всегда прогоняй тесты и проверяй результат вручную перед готово". Дёшево завести, дорого не завести.</a:t>
            </a:r>
          </a:p>
          <a:p/>
          <a:p>
            <a:r>
              <a:t>Проходит две недели. Заказчик пишет: отправил заявку с вашего сайта — она не пришла. Агент читает код, находит проблему в обработчике отправки формы, правит src/main.js, запускает тест. Тест зелёный. Агент пишет: готово. А наш тест проверяет ровно одно — что форма не отправляется с пустыми полями. Про доставку он не знает ничего, и гейт-фраза, которая лежала в файле все две недели, не сработала. Вы закрываете задачу, заказчик пишет снова: всё ещё не доходит.</a:t>
            </a:r>
          </a:p>
          <a:p/>
          <a:p>
            <a:r>
              <a:t>Вы напоминаете агенту про гейт вручную — на этот раз он открывает страницу руками, находит вторую причину, чинит. Через неделю, в новой сессии, тот же трюк: автотест зелёный, "готово", руками никто не проверил. Гейт был. Заведён правильно, с первого дня. Поведение — нет.»</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Пауза, 2–3 голоса — без единой цифры на экране. Если прозвучит «перепишу капсом» — просто зафиксировать: «Держим в голове, сейчас проверим числом.»</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«Здесь результат по-настоящему контринтуитивный. Исследование TDAD взяло чисто процедурную инструкцию "сначала пиши тесты" без единого изменения в тулинге — и регрессии не упали, а выросли до почти десяти процентов. Хуже, чем вообще без инструкции. Улучшение появилось только тогда, когда то же самое требование зашили в скилл или в тулинг, а не в текст. И отдельно, для цикла "план-код-улучшение": самокритика без внешнего сигнала систематически ухудшает результат. А вот self-repair с реальным прогоном теста даёт плюс пять-тридцать процентных пунктов.</a:t>
            </a:r>
          </a:p>
          <a:p/>
          <a:p>
            <a:r>
              <a:t>Проверяем, кто угадал: "перепишу капсом" — в точности этот путь и проверило TDAD. Капс не превращает просьбу в закон. Ни один из пяти вариантов, кроме "передам механизму вне текста", не решает проблему системно — а мы туда сегодня не идём, это следующее занятие. Значит, честный ответ сегодня: мы всё равно оставим гейт текстом, потому что это лучше, чем ничего — но прямо скажем себе, что он ненадёжен, даже заведённый с первого дня.</a:t>
            </a:r>
          </a:p>
          <a:p/>
          <a:p>
            <a:r>
              <a:t>И вот формула, которая держит весь сегодняшний разбор: правила в промпте — это просьбы, правила в коде — это законы. Текстовый гейт, который у нас с первого дня, — просьба, и это нормально для базовой практики. Но называть вещи своими именами — часть работы: то, что мы записали текстом, не стало законом от того, что мы записали его проактивно.</a:t>
            </a:r>
          </a:p>
          <a:p/>
          <a:p>
            <a:r>
              <a:t>И второй пункт разбора, про "улучшение": если это "агент, посмотри на свой код ещё раз" — не делать так, доказательство однозначное. Если это "агент, открой dist/index.html и отправь форму руками" — делать так всегда.»</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«Вот итог кейса 1.2: тринадцать строк — критерий готовности, гейт-предупреждение вручную проверить доставку, честная граница на деплой. Файл грузится в начало каждой сессии целиком, официальный ориентир — до двухсот строк, у нас — тринадцать. `@`-импорты организуют файл, но контекст не экономят — импортированное всё равно грузится целиком.</a:t>
            </a:r>
          </a:p>
          <a:p/>
          <a:p>
            <a:r>
              <a:t>И мы заводим `AGENTS.md` как симлинк на тот же файл — один источник правды для разных движков. Острый край: `cp -R` без `-P` на macOS разыменовывает симлинк во вторую реальную копию молча — копировать через `cp -a`, `git clone` или `git archive`.»</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Переход одной фразой: «Мы решили, чего не писать, и записали то, что узнали на боли. Третья развилка — не про содержимое файла, а про его форму: репозиторий растёт, стоит ли раскладывать конфигурацию по подпапкам?»</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«Прошёл месяц. signup-landing подрос: в tests/ накопилась пачка тестов, появилась своя договорённость — как называть файлы, какой паттерн использовать. Разработчик решает: вынесу это в отдельный tests/CLAUDE.md, короче, ближе к делу, корневой файл не разбухнет. Кладёт файл в подпапку и ждёт, что агент подхватит его сам, когда будет работать именно в tests/. Логично звучит. Давайте проверим, что там на самом деле происходит с загрузкой.»</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Пауза, 2–3 голоса — без единой цифры на экране. Если прозвучит «положу и всё» — просто зафиксировать: «Держим в голове, сейчас посмотрим, что на самом деле происходит с загрузкой.»</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«Механизм устроен конкретно, не расплывчато. Корневой файл и все родительские грузятся при старте сессии, всегда. Вложенный — только когда агент реально прочитал файл из этой папки, а не когда он просто "работает в ней". И вот эмпирика: самое близкое к нашему вопросу контролируемое исследование, тысяча шестьсот пятьдесят сессий, не нашло значимого эффекта ни у одной структурной переменной. А отдельно — список реальных issue: Claude Code, Cursor, Codex, Copilot CLI. Везде одна и та же жалоба, вплоть до жёсткого архитектурного предела в одном из инструментов.</a:t>
            </a:r>
          </a:p>
          <a:p/>
          <a:p>
            <a:r>
              <a:t>Проверяем, кто угадал: "положу и доверюсь" — вот номер issue, где именно это не сработало, и мейнтейнеры закрыли его "not planned". Смотрите на два пункта одновременно: контролируемое исследование не нашло пользы даже там, где здравый смысл её обещал — а реальная практика показывает регулярные отказы, вплоть до архитектурного предела в одном инструменте. При таком репозитории, как наш, вывод простой — один файл в корне, пока он не стал реально неудобным. И даже тогда — не молчаливое разбиение, а проверенное: /context или прямое наблюдение.»</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«Три кейса, один и тот же файл: мы решили, чего в него не писать заранее; написали то, что узнали на реальной боли, даже когда завели гейт заранее; и решили не дробить его, пока это не доказанная польза. Всё это — знание, которое у вас уже было до работы, записанное заранее, или проверенное на первой же реальной задаче. Но есть знание другого рода: то, что появляется по ходу самой работы. Его нельзя записать заранее, потому что вы его ещё не знаете. Это раздел второй — память.»</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Переход одной фразой, без пересказа обзора раздела целиком: предыдущий раздел закрыл вопрос авторства — что вы знали заранее и записали сами. Этот раздел открывает вопрос памяти — что появляется по ходу работы и должно пережить конец сессии, если это вообще должно куда-то попасть. Первый кейс — про журнал решений, заведённый так же проактивно, на день 0, как и spec.md с файлом инструкций.</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«Прошла ещё неделя. Заказчик прислал заявку с опечаткой в домене почты — форма её приняла. Просите агента ужесточить проверку. Он читает код и говорит: давайте подключим библиотеку валидации форм, вот подходящая. Ту самую, которую вы уже обсуждали и отклонили десять дней назад.</a:t>
            </a:r>
          </a:p>
          <a:p/>
          <a:p>
            <a:r>
              <a:t>Обратите внимание на важную деталь: файл DECISIONS.md у нас уже есть. Мы завели его в первый же день, вместе со спекой и README — ровно так, как и должны заводиться дешёвые практики: сразу, а не когда прижмёт. И тем не менее нужной записи в нём нет. Почему? Потому что решение про библиотеку родилось не за столом, где кто-то открыл DECISIONS.md, а на бегу, посреди рабочего разговора. Между «мы это обсудили и решили» и «кто-то реально дописал строку в файл» есть шаг, который не происходит сам. Завести практику — не то же самое, что воспользоваться ею в нужный момент.</a:t>
            </a:r>
          </a:p>
          <a:p/>
          <a:p>
            <a:r>
              <a:t>И это не "агент забыл". Модель не имеет состояния между вызовами: каждый запрос обрабатывается независимо, а то, что выглядит как память разговора, — это заново отправленная текстовая история. Когда сессия закончилась, не записанное на диск не забылось. Его больше нет.»</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Вопрос читается дословно с экрана — сценарий и диагностика уже прозвучали на предыдущем слайде, здесь не пересказывать их заново, только короткое напоминание одной строкой сверху. В вопросе специально зашита вторая половина — «и почему не в файл инструкций, который мы только что завели» — без неё зал даст правильный по форме ответ и не увидит, что слои разные. Пауза, затем 2–3 голоса. Фасилитатор не комментирует ответы по существу на этом слайде, только фиксирует их вслух: «записал», «принято, идём дальше». Разбор, цифры и связка с исследованием — на следующем слайде.</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«Голосование прошло — теперь можно раскрывать карты. Прежде чем комментировать сами ответы, стоит связать задачу с тем, что занятие уже устанавливало в кейсе 1.1. Помните presence paradox? Контролируемый эксперимент показал: сам факт присутствия текста в контексте создаёт стоимость — плюс двадцать-двадцать три процента — независимо от того, помогает ли этот текст решить задачу.</a:t>
            </a:r>
          </a:p>
          <a:p/>
          <a:p>
            <a:r>
              <a:t>Мы не измеряли это отдельно для журнала решений — это перенос того же механизма на новый объект, не новое доказательство. Но логика та же: DECISIONS.md грузится в контекст целиком, каждую сессию. Каждая записанная строка стоит контекста в любой следующей сессии, даже если сегодняшняя задача её не касается. Десять записей — цена небольшая. Тридцать записей о разных темах — цена уже заметна.»</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«"Допишу в CLAUDE.md" — механически сработает, спорить не о чем; но представьте тридцать таких решений за полгода — файл читается целиком каждую сессию, ориентир двести строк. "Агент сам запомнит" — отвечать не "нет", а механикой: между двумя вызовами модель не хранит ни одного бита. "Скажу "запомни это"" — половина ответа, уходит в авто-память, машинно-локальный слой без синхронизации и ревью. "Запишу в DECISIONS.md — он уже есть" — признать: верно, файл уже есть, создавать нечего. Вопрос не "куда завести", а "кто и когда реально пишет туда в момент решения". "Поставлю систему памяти" — признать разумность направления и отложить на слой провала.</a:t>
            </a:r>
          </a:p>
          <a:p/>
          <a:p>
            <a:r>
              <a:t>Целевой ответ — оба механизма разом, с разделением ролей — и это разделение собирается на следующем шаге, вживую, по карточкам.»</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Фасилитатор берёт карточки по одной и спрашивает коротко: «в какую?». Разбор каждой — одна фраза, не больше.</a:t>
            </a:r>
          </a:p>
          <a:p/>
          <a:p>
            <a:r>
              <a:t>Две карточки несут основную нагрузку. «Обработчик формы лежит в src/main.js» — почти всегда кто-то предлагает записать: агент прочитает это за секунду обычным чтением файлов, а индекс памяти грузится в каждую сессию и имеет жёсткий лимит. «19 сентября тест упал из-за таймаута» — эту карточку зал чаще всего тянет в DECISIONS.md: это «что», а не «почему», и «что» уже есть в истории изменений.</a:t>
            </a:r>
          </a:p>
          <a:p/>
          <a:p>
            <a:r>
              <a:t>Разбор корзины «никуда» — самый ценный момент шага: зал обычно тянется положить туда что-нибудь «на всякий случай», и стоит один раз проговорить, что место в индексе памяти конечное.</a:t>
            </a:r>
          </a:p>
          <a:p/>
          <a:p>
            <a:r>
              <a:t>После сортировки — фасилитатор спрашивает по частям: «дата?», «формулировка решения одной строкой?», «причина?» — и проявляет на слайде запись, которая реально лежит в демо-репозитории. Важно сказать вслух, что это настоящий файл настоящего репозитория, а не пример, сочинённый для слайда, и что сам файл лежит в репозитории с первого дня — новая только строка.</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Два механизма, не один. Авто-память рантайма живёт вне репозитория, в каталоге памяти на машине разработчика: индекс из первых 200 строк или 25 КБ плюс тематические файлы, которые агент создаёт сам. Команда «запомни: не подключаем стороннюю библиотеку валидации» создаёт тематический файл именно там — в дерево справа он не попадает.</a:t>
            </a:r>
          </a:p>
          <a:p/>
          <a:p>
            <a:r>
              <a:t>`DECISIONS.md` — второй механизм, git-трекнутый append-only лог, заведённый ещё на дне 0. Новое здесь — не файл, а первая содержательная запись в нём. Это реальный файл реального демо-репозитория, не пример, сочинённый для слайда, — и это стоит произнести вслух.</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Один критерий различения, одной фразой: разница не в формате — оба markdown, — а в том, кто инициирует запись и кто её потом увидит. Авто-память пишет агент, для себя, на этой машине, без ревью. Журнал решений пишете вы, для команды, в репозиторий, через ревью.</a:t>
            </a:r>
          </a:p>
          <a:p/>
          <a:p>
            <a:r>
              <a:t>Три детали кратко: индекс памяти — только индекс, за двести строк содержимое физически не попадает в сессию; агент сам пропускает то, что выводимо из кода; сжатие контекста переживают только файлы на диске — то, что сказано лишь в разговоре, при сжатии может исчезнуть. Последняя деталь — прямой отклик на предыдущий раздел: «объясню в чате ещё раз» не работает даже внутри одной длинной сессии.</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Два слоя разной природы, сливать нельзя: первый про безопасность, второй про эффективность.</a:t>
            </a:r>
          </a:p>
          <a:p/>
          <a:p>
            <a:r>
              <a:t>Отравление — как история, с датой: сентябрь 2024 года, настольное приложение ChatGPT под macOS, исследователь Йохан Ребергер. Агент прочитал внешний текст — а внутри была вложена инструкция. Эта инструкция попала не в разговор, а в долговременную память. Разговор закончился, память осталась. Конкретный канал утечки производитель закрыл в том же месяце. Принцип не закрыл никто: содержимое памяти по умолчанию читается агентом как доверенный контекст, а не как данные.</a:t>
            </a:r>
          </a:p>
          <a:p/>
          <a:p>
            <a:r>
              <a:t>Масштаб — с явной базой: десяток отравленных шаблонов захватил порядка половины всех последующих обращений к памяти при нуле до отравления; в смежном эксперименте хватило пяти подложенных документов, чтобы управлять выводом более чем в девяти случаях из десяти.</a:t>
            </a:r>
          </a:p>
          <a:p/>
          <a:p>
            <a:r>
              <a:t>Практический вывод — применительно к нашему файлу: мы сегодня записали своё собственное решение, здесь всё в порядке. Но как только агент начнёт записывать в память выводы из чужого issue, чужой страницы или чужого тикета — это уже другой уровень доверия.</a:t>
            </a:r>
          </a:p>
          <a:p/>
          <a:p>
            <a:r>
              <a:t>Второй слой для аудитории практиков даже важнее: он бьёт по интуиции, не по паранойе. Независимый прогон одной популярной системы памяти: с памятью — сорок шесть процентов, без памяти — пятьдесят семь и шесть, та же система, тот же бенчмарк. В живом сравнении шести систем памяти против тривиального «положить весь текст сессии в один файл» часть систем проиграла этому плоскому файлу на двадцать пять — шестьдесят семь пунктов. Честная оговорка про условия: корпуса там маленькие, целиком влезают в контекст — но именно малый корпус это ровно наш случай сегодня.</a:t>
            </a:r>
          </a:p>
          <a:p/>
          <a:p>
            <a:r>
              <a:t>И третья деталь: на двадцати четырёх задачах модель на четырёх — семнадцать процентов — прямо отказалась записать нужный факт. Это не баг — модель по устройству сама решает, что достойно записи. Вывод для инженера: полнота памяти не гарантирована, и если факт критичен — его пишут руками.</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Критерий — по чек-листу, голосом, коротко.</a:t>
            </a:r>
          </a:p>
          <a:p/>
          <a:p>
            <a:r>
              <a:t>Дальше — граница называется прямо: плоский файл перестаёт справляться не мгновенно и не из-за размера самого по себе, а когда одновременно верны два условия — записей стало столько, что найти нужную линейным чтением дольше, чем вспомнить и переобъяснить решение заново, и между записями появились связи, которые в плоском append-only логе физически некуда положить: решение номер семь отменяет часть решения номер два, а рядом с решением номер два об этом ни слова. Это не «нам нужна векторная база» — это ровно следующий кейс: тот же самый журнал решений, только выросший и требующий структуры.</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Переход одной фразой: «Мы закончили прошлый кейс на границе: файл решений перестаёт справляться не когда он "большой", а когда в нём накопились связи, для которых в линейном логе нет места. Вот вам это же в лицах — и, в отличие от прошлого кейса, здесь мы не можем прийти проактивно: заранее нельзя знать, вырастет ли именно ваш журнал решений до такого объёма.»</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«Мы закончили прошлый кейс на границе: файл решений перестаёт справляться не когда он "большой", а когда в нём накопились связи, для которых в линейном логе нет места. Вот вам это же в лицах.</a:t>
            </a:r>
          </a:p>
          <a:p/>
          <a:p>
            <a:r>
              <a:t>Прошло четыре месяца. В команде — новый человек, вашего первого разговора про валидацию формы он не застал. Просит агента добавить защиту от спама. Агент честно открывает DECISIONS.md — там уже тридцать восемь записей — и предлагает решение, которое противоречит более раннему пункту: "не добавляем сторонние виджеты в форму, см. запись номер три". А два месяца назад появилась запись номер тридцать один, которая как раз для случая антиспама это решение отменяет — она лежит в другом конце файла, и на неё нет ни одной ссылки.</a:t>
            </a:r>
          </a:p>
          <a:p/>
          <a:p>
            <a:r>
              <a:t>Разработчик сам открывает файл, чтобы разобраться, — и тратит на чтение тридцати восьми записей больше времени, чем ушло бы просто передумать вопрос с нуля. Файл на месте. Пользоваться им дольше, чем не пользоваться.»</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Формулировка дословно, без исследования до голосования. Фасилитатор зачитывает вопрос и пять карточек, вызывает 2 голоса — и не приводит на этом слайде никаких цифр. Это важное отличие от старого порядка: раньше исследование звучало ещё до того, как зал успевал проголосовать, и по факту подсказывало ответ.</a:t>
            </a:r>
          </a:p>
          <a:p/>
          <a:p>
            <a:r>
              <a:t>Одна реакция стоит подготовки заранее, но фасилитатор придерживает её до момента после голосования: «Поставлю графовую систему памяти» — самый частый «продвинутый» ответ в аудитории инженеров. Не отвергать сразу на этом слайде — просто зафиксировать вслух и перейти к следующему голосу.</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«Прежде чем показывать цифры — короткая честная ремарка. Почти всё, что я сейчас скажу про структурированную память, — это исследования буквально этого года, препринты, которые ещё не прошли рецензирование. Ниша растёт быстрее, чем успевает наука её проверить. Я буду говорить "заявлено в препринте", а не "доказано".</a:t>
            </a:r>
          </a:p>
          <a:p/>
          <a:p>
            <a:r>
              <a:t>Есть измерение: плоская память деградирует на горизонте примерно трёх суток работы — минус четырнадцать процентных пунктов успешности вызовов инструментов. Причины три: контекст насыщается, старые записи теряют вес, смысл записи расходится с текущим состоянием проекта.</a:t>
            </a:r>
          </a:p>
          <a:p/>
          <a:p>
            <a:r>
              <a:t>А вот интересный аргумент, почему структура может окупаться для агента там, где не окупается для человека. Человек заводит вики, и она умирает: поддерживать её дороже, чем она того стоит. У агента стоимость правки полутора десятков файлов за один проход — почти ноль. Это аргумент по механизму — прямого измерения "структура против плоского лога" именно на нашем масштабе нет.</a:t>
            </a:r>
          </a:p>
          <a:p/>
          <a:p>
            <a:r>
              <a:t>И вот цифра, которая должна вас удивить. Бенчмарк Letta, задача на долговременную память LoCoMo: простое файловое хранилище — обычный grep по файлам — семьдесят четыре процента. Графовая система памяти Mem0 — шестьдесят восемь и пять. Простое хранилище обошло умное. Причина, которую называют авторы: модели тренированы на операциях с файлами как на самом привычном инструменте. Держите эту цифру в голове — она вернётся в разборе ваших ответов.»</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«"Оставить как есть, просто грепать" — приемлемо, пока записей десятки; но мы только что видели: плоская память деградирует со временем, и наш файл уже перерос эту границу. "Поставлю графовую систему памяти" — логично звучит, у нас же по сути граф решений. И вот тут я вас удивлю цифрой ещё раз: целевой ответ — тематические файлы со сквозными ссылками, а не графовая система. Бенчмарк Letta показал: простое файловое хранилище обошло графовую Mem0. Структура — не гарантированный выигрыш, она выигрывает здесь потому, что решает конкретную проблему — потерянную связь между решениями, — а не потому что «структурированное всегда лучше плоского».</a:t>
            </a:r>
          </a:p>
          <a:p/>
          <a:p>
            <a:r>
              <a:t>«Один общий SUMMARY.md» — переписывание целиком убивает саму гарантию append-only. «Агент сам найдёт через поиск» — то же заблуждение, что «сам запомнит» из прошлого кейса: решения — не факты кода.»</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«Это не снятый кадр из нашего репозитория — ждём живой сессии, чтобы захватить настоящий. Но устройство ровно такое: тематические файлы плюс оглавление, и в самой записи — явная ссылка на связанную запись. То, чего в плоском логе просто не было места сделать.»</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«И раз уж мы завели структуру — давайте сразу честно, что она стоит. Устаревание содержимого: сводка в оглавлении расходится с содержимым файла, если кто-то поправил один и забыл другой — в плоском логе такой ошибки в принципе не бывает, там один файл — один источник истины. Дублирование: одно и то же решение оказывается пересказано дважды, разными словами, и обе версии выглядят актуальными. Отсутствие каскадного удаления: отменили факт в одном файле — производные записи в других файлах не узнают об этом автоматически. И нагрузка на поддержку: кто-то должен реально ходить и структуру поддерживать, и именно это, по наблюдениям, обычно убивает такую базу знаний у людей. У агента, возможно, иначе — но это гипотеза, не измеренный факт.</a:t>
            </a:r>
          </a:p>
          <a:p/>
          <a:p>
            <a:r>
              <a:t>Структура — это компромисс. Не бесплатный апгрейд.»</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«Если у вас единицы-десятки тематических файлов, один-два человека их правят, и никто не просил "найди решения, похожие по смыслу на это" — вам хватает того, что мы сейчас построили. Полноценная система памяти — это следующий шаг, и он требует замеров на вашем масштабе, не общего совета: мы только что видели, что "умнее" не значит "лучше" без проверки.</a:t>
            </a:r>
          </a:p>
          <a:p/>
          <a:p>
            <a:r>
              <a:t>Теперь смена оси. Всё, что мы обсуждали в этом разделе, — про решения, которые живут навсегда. А что происходит с памятью одной задачи, пока она ещё не закончена? Следующий кейс — именно про это.»</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Переход одной фразой: «Всё, что мы обсуждали до сих пор в этом разделе, — про решения, которые остаются в силе навсегда. Теперь — другой вопрос: что происходит с памятью одной задачи, пока она ещё не закончена? И, как и с журналом решений, практику "файл на задачу" мы заводим сразу, на день 0, не дожидаясь, что кто-то потеряет нить.»</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«У нас в команде заведено правило, такое же дешёвое и такое же обязательное с первого дня, как журнал решений из первого кейса: на каждую многошаговую задачу — свой файл. Разработчик ставит агенту задачу на несколько сессий: разбить форму на пошаговый визард — имя, email, подтверждение, сохранив всю текущую валидацию. По этому же правилу агент перед началом сам создаёт файл задачи с планом.</a:t>
            </a:r>
          </a:p>
          <a:p/>
          <a:p>
            <a:r>
              <a:t>Первая сессия закрывает первые шаги. По ходу, не по плану, а в разговоре, разработчик с агентом договариваются не трогать email-валидацию — это уже отдельное решение, здесь просто перенос вёрстки. Договорённость мелкая, кажется не стоящей того, чтобы прерваться и записать её прямо сейчас. Через несколько реплик сессия обрывается на середине следующего шага — контекст сжимается.</a:t>
            </a:r>
          </a:p>
          <a:p/>
          <a:p>
            <a:r>
              <a:t>Вторая сессия. Файл задачи на месте — он был там с самого начала, это не сюрприз. Агент его открывает, видит план, видит, что первые шаги отмечены сделанными — выглядит убедительно и актуально. Но договорённость про email-валидацию в лог так и не попала: сжатие случилось раньше, чем кто-то её записал. И агент, доверяя файлу, который выглядит достоверным, снова предлагает переписать email-валидацию.»</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Вопрос задаётся точно по карточке. Фасилитатор зачитывает вопрос и пять карточек, вызывает 2 голоса — и не приводит на этом слайде ни одной цифры и ни одной ссылки на источник.</a:t>
            </a:r>
          </a:p>
          <a:p/>
          <a:p>
            <a:r>
              <a:t>Одна реакция стоит подготовки заранее, но фиксируется вслух без комментария по существу: «Дописать в DECISIONS.md» звучит похоже на верный ответ из прошлого кейса — фасилитатор просто фиксирует вариант и переходит дальше, комментарий на следующем слайде.</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«Прежде чем разбирать ваши ответы — прецедент этого паттерна из инженерного блога Anthropic: агент играет в Pokémon тысячи шагов подряд, переживая сбросы контекста, — и справляется благодаря простым структурированным заметкам: счётчики, текущая цель. У Manus похожая техника называется "recitation": агент непрерывно переписывает список дел в конец контекста — модель охотнее следует тому, что видела последним. На задачах порядка полусотни вызовов инструментов это заметно снижает уход от цели.</a:t>
            </a:r>
          </a:p>
          <a:p/>
          <a:p>
            <a:r>
              <a:t>И вот почему в нашем сценарии файл всё равно подвёл, хотя был заведён правильно и с первого дня. Есть измерение на большом числе траекторий: план в среднем помогает. Но дословная цитата авторов — "плохой план вреднее отсутствия плана вообще". Файл, который перестал отражать реальность, не нейтрален — он создаёт ложную уверенность именно там, где нужна бдительность. Полную картину с цифрами покажу через несколько минут, на слайде провала — сейчас достаточно понимать механизм.»</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«Обратите внимание — файл задачи это не то же самое, что журнал решений. DECISIONS.md — про то, что остаётся в силе навсегда, для всех будущих задач. Ход этой конкретной задачи — не решение проекта, это статус: что сделано, что дальше, что мелкое мы успели по ходу решить. Когда задача закончится, всё это можно выбросить. Совсем другой тип памяти, не следующая ступень той же лестницы.</a:t>
            </a:r>
          </a:p>
          <a:p/>
          <a:p>
            <a:r>
              <a:t>Целевой ответ — не «завести файл» (он уже есть), а дисциплина синхронной записи: файл был, практика была, не хватило одного — вписать мелкую договорённость в лог в момент, когда она прозвучала, а не «как будет время». Именно эта секунда дисциплины и есть решение этого кейса.»</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«Один файл на задачу: план, лог хода, результаты — он уже был с первого шага, это не новость этого кейса. Новость — вот эта строка в логе. Показываю пример: это файл, в котором дисциплина сработала — договорённость про email-валидацию попала в лог до того, как сессия оборвалась. Одна и та же структура файла, одна и та же практика — разница ровно в том, записали вовремя или нет.</a:t>
            </a:r>
          </a:p>
          <a:p/>
          <a:p>
            <a:r>
              <a:t>И явная оговорка: это упрощённая версия паттерна. В реальной практике — и в Лекции 3 подробнее — это масштабируется до папки на задачу: отдельный план, отдельный лог, отдельная папка результатов, особенно когда задача не линейная. Для сегодняшнего занятия одного файла достаточно — не усложняем.»</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«Обещанные цифры. Двадцать одна тысяча сто двадцать траекторий, SWE-bench: наличие плана в среднем помогает. И тут же прямая цитата авторов: "плохой план вреднее отсутствия плана вообще". Комплаенс агента к собственному плану падает примерно на тринадцать пунктов на более сложном бенчмарке.</a:t>
            </a:r>
          </a:p>
          <a:p/>
          <a:p>
            <a:r>
              <a:t>А вот эксперимент с более жёстким условием: тридцать контролируемых живых рабочих сценариев, где план не проверялся на актуальность по ходу работы. Устаревший план выполнялся буквально во всех тридцати случаях. Файл задачи, который никто не обновляет, — не нейтральная бумажка. Это источник систематически неверных действий.</a:t>
            </a:r>
          </a:p>
          <a:p/>
          <a:p>
            <a:r>
              <a:t>Есть кейс-стади, очень близкий к нашей ситуации: реальный проект, триста девяносто одна сессия за месяц. Авторы наблюдают, как по мере роста правил агент теряет связь с реальной семантикой проекта. Решение — то же самое разделение, которое мы проводим весь раздел: стабильное отдельно от текущего. Результат — минус семьдесят пять процентов объёма AI-инструкций, ноль повторений проблемы за следующие сто пятьдесят сессий. Сразу честно: это один проект, один автор, action research, не контролируемый эксперимент.</a:t>
            </a:r>
          </a:p>
          <a:p/>
          <a:p>
            <a:r>
              <a:t>И последнее, что нужно сказать прямо: паттерн "файл или папка на задачу" сейчас — не мейнстрим. Исследование почти трёх тысяч реальных репозиториев показывает, что доминируют статические context-файлы. Практику продвигают отдельные лидеры — но это ещё не общепринятая норма.»</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«Если хотя бы половина пунктов неверна — переход к папке на задачу оправдан. Это уже за пределами сегодняшнего занятия — подробно раскрывается в Лекции 3.</a:t>
            </a:r>
          </a:p>
          <a:p/>
          <a:p>
            <a:r>
              <a:t>Подведём черту под разделом памяти. Три кейса — три разных ответа на вопрос "что происходит, когда сессия заканчивается": решение остаётся навсегда в плоском логе, решений становится слишком много и они обрастают структурой, а ход одной задачи живёт ровно до её конца в отдельном файле. Первое и третье мы заводим сразу, на дне 0, потому что это дёшево. Второе — реактивный шаг, потому что заранее нельзя знать, вырастет ли именно ваш журнал решений до нужного объёма.</a:t>
            </a:r>
          </a:p>
          <a:p/>
          <a:p>
            <a:r>
              <a:t>Но все три — текст, который агент читает и может учесть. Заметьте это слово — "может". Дальше в этом занятии мы посмотрим, что происходит, когда прочитать становится недостаточно.»</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«Оглянемся на сегодняшний день. Шесть развилок, по три в каждом из двух разделов. В разделе про файл инструкций — что не писать заранее, как записать гейт «готово» и цикл улучшения, стоит ли дробить файл по подпапкам. В разделе про память — плоский файл решений, структурированная вики-память, задачная память одной сессии.</a:t>
            </a:r>
          </a:p>
          <a:p/>
          <a:p>
            <a:r>
              <a:t>Посмотрите на правую колонку. Три развилки — 1.1, 1.3, 2.2 — специфичны для конкретного репозитория: нельзя было заранее сказать, понадобится ли общее описание структуры, вложенные файлы или сложная память, — мы честно ждали сигнала. Три другие — 1.2, 2.1, 2.3 — универсальная гигиена: гейт готовности, лог решений, задачная память. Их мы завели сразу, не дожидаясь боли, потому что цена сделать это на день 0 маленькая, а цена не сделать — непредсказуемая и наступает тихо.</a:t>
            </a:r>
          </a:p>
          <a:p/>
          <a:p>
            <a:r>
              <a:t>И ещё одна вещь, которая никуда не делась: гейт-фраза в CLAUDE.md и лог решений — оба всё ещё текст, который агент читает и может учесть, не гарантия. Это отдельный вывод, он верен независимо от того, завели мы их сразу или на сигнал, — и мы к нему ещё вернёмся, ровно на минуту, в следующем шаге.»</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«И вот честная цифра, которую стоит назвать прямо, а не оставить подразумеваемой. У харнесса из Лекции 3 — пять слотов. Сегодня мы подробно разобрали два: инструкции-правила и память, каждый на трёх реальных развилках. Три остальных — скиллы, субагенты, доступ наружу — сегодня не звучали вообще, ни одной строкой.</a:t>
            </a:r>
          </a:p>
          <a:p/>
          <a:p>
            <a:r>
              <a:t>И ещё кое-что мы сегодня не трогали ни разу: оба практических слоя, которые механически усиливают текстовый слой, — хук и процесс. Это не забывчивость и не нехватка времени в последнюю минуту. Это прямой ответ на вопрос, который только что прозвучал: что делать, когда просьбы текстом недостаточно, даже если она заведена вовремя, на день 0? Ответ — на следующем занятии, Семинаре 5. Там — оставшиеся три слота и оба механических слоя разом, потому что именно они превращают просьбу в барьер, который агент не может обойти, даже если захочет.»</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Формат намеренно лёгкий и без сбора ответов: пауза 5–7 секунд, без вызова голосов из зала, без разбора «типичных ответов» — в отличие от всех шести предыдущих открытых вопросов занятия, у этого нет разбора, потому что он не проверяет знание, а инициирует перенос на личный контекст каждого.</a:t>
            </a:r>
          </a:p>
          <a:p/>
          <a:p>
            <a:r>
              <a:t>Закрывающая реплика после паузы: «Ответа вслух не будет — это вопрос на понедельник, не на сегодня. Если хотя бы одно решение оказалось «завели слишком рано, без сигнала» — или, наоборот, «давно пора завести, но всё ещё нет» — вот с этого и начните. Это не вопрос ресурсов. Это вопрос дня.»</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2.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ln>
            <a:noFill/>
          </a:ln>
          <a:effectLst/>
          <a:gradFill rotWithShape="1">
            <a:gsLst>
              <a:gs pos="0">
                <a:srgbClr val="21295C"/>
              </a:gs>
              <a:gs pos="50000">
                <a:srgbClr val="065A82"/>
              </a:gs>
              <a:gs pos="100000">
                <a:srgbClr val="1C7293"/>
              </a:gs>
            </a:gsLst>
            <a:lin ang="2700000" scaled="1"/>
          </a:gra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138160" y="45720"/>
            <a:ext cx="3840480" cy="1737360"/>
          </a:xfrm>
          <a:prstGeom prst="rect">
            <a:avLst/>
          </a:prstGeom>
          <a:noFill/>
        </p:spPr>
        <p:txBody>
          <a:bodyPr wrap="square" lIns="0" rIns="0" tIns="0" bIns="0" anchor="ctr">
            <a:spAutoFit/>
          </a:bodyPr>
          <a:lstStyle/>
          <a:p>
            <a:pPr algn="r">
              <a:lnSpc>
                <a:spcPct val="115000"/>
              </a:lnSpc>
            </a:pPr>
            <a:r>
              <a:rPr sz="17000" b="1" i="0">
                <a:solidFill>
                  <a:srgbClr val="33427C"/>
                </a:solidFill>
                <a:latin typeface="Arial"/>
              </a:rPr>
              <a:t>04</a:t>
            </a:r>
          </a:p>
        </p:txBody>
      </p:sp>
      <p:sp>
        <p:nvSpPr>
          <p:cNvPr id="4" name="TextBox 3"/>
          <p:cNvSpPr txBox="1"/>
          <p:nvPr/>
        </p:nvSpPr>
        <p:spPr>
          <a:xfrm>
            <a:off x="0" y="292608"/>
            <a:ext cx="12191695" cy="329184"/>
          </a:xfrm>
          <a:prstGeom prst="rect">
            <a:avLst/>
          </a:prstGeom>
          <a:noFill/>
        </p:spPr>
        <p:txBody>
          <a:bodyPr wrap="square" lIns="0" rIns="0" tIns="0" bIns="0" anchor="t">
            <a:spAutoFit/>
          </a:bodyPr>
          <a:lstStyle/>
          <a:p>
            <a:pPr algn="ctr">
              <a:lnSpc>
                <a:spcPct val="115000"/>
              </a:lnSpc>
            </a:pPr>
            <a:r>
              <a:rPr sz="1300" b="1" i="0">
                <a:solidFill>
                  <a:srgbClr val="F0AB00"/>
                </a:solidFill>
                <a:latin typeface="Arial"/>
              </a:rPr>
              <a:t>СЕМИНАР 4</a:t>
            </a:r>
          </a:p>
        </p:txBody>
      </p:sp>
      <p:sp>
        <p:nvSpPr>
          <p:cNvPr id="5" name="TextBox 4"/>
          <p:cNvSpPr txBox="1"/>
          <p:nvPr/>
        </p:nvSpPr>
        <p:spPr>
          <a:xfrm>
            <a:off x="0" y="621792"/>
            <a:ext cx="12191695" cy="822960"/>
          </a:xfrm>
          <a:prstGeom prst="rect">
            <a:avLst/>
          </a:prstGeom>
          <a:noFill/>
        </p:spPr>
        <p:txBody>
          <a:bodyPr wrap="square" lIns="0" rIns="0" tIns="0" bIns="0" anchor="t">
            <a:spAutoFit/>
          </a:bodyPr>
          <a:lstStyle/>
          <a:p>
            <a:pPr algn="ctr">
              <a:lnSpc>
                <a:spcPct val="115000"/>
              </a:lnSpc>
            </a:pPr>
            <a:r>
              <a:rPr sz="4400" b="1" i="0">
                <a:solidFill>
                  <a:srgbClr val="FFFFFF"/>
                </a:solidFill>
                <a:latin typeface="Arial"/>
              </a:rPr>
              <a:t>Сборка кодинг-агента</a:t>
            </a:r>
          </a:p>
        </p:txBody>
      </p:sp>
      <p:sp>
        <p:nvSpPr>
          <p:cNvPr id="6" name="TextBox 5"/>
          <p:cNvSpPr txBox="1"/>
          <p:nvPr/>
        </p:nvSpPr>
        <p:spPr>
          <a:xfrm>
            <a:off x="914400" y="1371600"/>
            <a:ext cx="10362895" cy="365760"/>
          </a:xfrm>
          <a:prstGeom prst="rect">
            <a:avLst/>
          </a:prstGeom>
          <a:noFill/>
        </p:spPr>
        <p:txBody>
          <a:bodyPr wrap="square" lIns="0" rIns="0" tIns="0" bIns="0" anchor="t">
            <a:spAutoFit/>
          </a:bodyPr>
          <a:lstStyle/>
          <a:p>
            <a:pPr algn="ctr">
              <a:lnSpc>
                <a:spcPct val="115000"/>
              </a:lnSpc>
            </a:pPr>
            <a:r>
              <a:rPr sz="1550" b="0" i="1">
                <a:solidFill>
                  <a:srgbClr val="CFDCEC"/>
                </a:solidFill>
                <a:latin typeface="Arial"/>
              </a:rPr>
              <a:t>День-0 база или жди сигнала — шесть развилок одного сквозного кейса</a:t>
            </a:r>
          </a:p>
        </p:txBody>
      </p:sp>
      <p:sp>
        <p:nvSpPr>
          <p:cNvPr id="7" name="Rounded Rectangle 6"/>
          <p:cNvSpPr/>
          <p:nvPr/>
        </p:nvSpPr>
        <p:spPr>
          <a:xfrm>
            <a:off x="914400" y="1901952"/>
            <a:ext cx="10362895" cy="1188720"/>
          </a:xfrm>
          <a:prstGeom prst="roundRect">
            <a:avLst>
              <a:gd name="adj" fmla="val 12000"/>
            </a:avLst>
          </a:prstGeom>
          <a:solidFill>
            <a:srgbClr val="0B143A"/>
          </a:solidFill>
          <a:ln w="2286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280160" y="1993392"/>
            <a:ext cx="9631375" cy="1005840"/>
          </a:xfrm>
          <a:prstGeom prst="rect">
            <a:avLst/>
          </a:prstGeom>
          <a:noFill/>
        </p:spPr>
        <p:txBody>
          <a:bodyPr wrap="square" lIns="0" rIns="0" tIns="0" bIns="0" anchor="ctr">
            <a:spAutoFit/>
          </a:bodyPr>
          <a:lstStyle/>
          <a:p>
            <a:pPr algn="ctr">
              <a:lnSpc>
                <a:spcPct val="126000"/>
              </a:lnSpc>
            </a:pPr>
            <a:r>
              <a:rPr sz="1600" b="1" i="1">
                <a:solidFill>
                  <a:srgbClr val="F0AB00"/>
                </a:solidFill>
                <a:latin typeface="Arial"/>
              </a:rPr>
              <a:t>«Что в конфигурации агента стоит закладывать сразу, на день 0, как базовую практику — а что нельзя знать заранее, потому что оно специфично для вашего проекта?»</a:t>
            </a:r>
          </a:p>
        </p:txBody>
      </p:sp>
      <p:sp>
        <p:nvSpPr>
          <p:cNvPr id="9" name="TextBox 8"/>
          <p:cNvSpPr txBox="1"/>
          <p:nvPr/>
        </p:nvSpPr>
        <p:spPr>
          <a:xfrm>
            <a:off x="502920" y="3054096"/>
            <a:ext cx="7315200" cy="256032"/>
          </a:xfrm>
          <a:prstGeom prst="rect">
            <a:avLst/>
          </a:prstGeom>
          <a:noFill/>
        </p:spPr>
        <p:txBody>
          <a:bodyPr wrap="square" lIns="0" rIns="0" tIns="0" bIns="0" anchor="t">
            <a:spAutoFit/>
          </a:bodyPr>
          <a:lstStyle/>
          <a:p>
            <a:pPr algn="l">
              <a:lnSpc>
                <a:spcPct val="115000"/>
              </a:lnSpc>
            </a:pPr>
            <a:r>
              <a:rPr sz="1150" b="1" i="0">
                <a:solidFill>
                  <a:srgbClr val="9CAEC9"/>
                </a:solidFill>
                <a:latin typeface="Arial"/>
              </a:rPr>
              <a:t>ПУСТАЯ ДИРЕКТОРИЯ  →  СЕМЬ ДОБАВЛЕНИЙ, ПОКА БЕЗ ИМЁН</a:t>
            </a:r>
          </a:p>
        </p:txBody>
      </p:sp>
      <p:cxnSp>
        <p:nvCxnSpPr>
          <p:cNvPr id="10" name="Connector 9"/>
          <p:cNvCxnSpPr/>
          <p:nvPr/>
        </p:nvCxnSpPr>
        <p:spPr>
          <a:xfrm>
            <a:off x="502920" y="6035040"/>
            <a:ext cx="11183112" cy="0"/>
          </a:xfrm>
          <a:prstGeom prst="line">
            <a:avLst/>
          </a:prstGeom>
          <a:ln w="17780">
            <a:solidFill>
              <a:srgbClr val="4A5C96"/>
            </a:solidFill>
          </a:ln>
        </p:spPr>
        <p:style>
          <a:lnRef idx="2">
            <a:schemeClr val="accent1"/>
          </a:lnRef>
          <a:fillRef idx="0">
            <a:schemeClr val="accent1"/>
          </a:fillRef>
          <a:effectRef idx="1">
            <a:schemeClr val="accent1"/>
          </a:effectRef>
          <a:fontRef idx="minor">
            <a:schemeClr val="tx1"/>
          </a:fontRef>
        </p:style>
      </p:cxnSp>
      <p:sp>
        <p:nvSpPr>
          <p:cNvPr id="11" name="Rounded Rectangle 10"/>
          <p:cNvSpPr/>
          <p:nvPr/>
        </p:nvSpPr>
        <p:spPr>
          <a:xfrm>
            <a:off x="502920" y="5712714"/>
            <a:ext cx="1269873" cy="322326"/>
          </a:xfrm>
          <a:prstGeom prst="roundRect">
            <a:avLst>
              <a:gd name="adj" fmla="val 16000"/>
            </a:avLst>
          </a:prstGeom>
          <a:solidFill>
            <a:srgbClr val="3A4A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57200" y="6062472"/>
            <a:ext cx="1361313" cy="237744"/>
          </a:xfrm>
          <a:prstGeom prst="rect">
            <a:avLst/>
          </a:prstGeom>
          <a:noFill/>
        </p:spPr>
        <p:txBody>
          <a:bodyPr wrap="square" lIns="0" rIns="0" tIns="0" bIns="0" anchor="t">
            <a:spAutoFit/>
          </a:bodyPr>
          <a:lstStyle/>
          <a:p>
            <a:pPr algn="ctr">
              <a:lnSpc>
                <a:spcPct val="115000"/>
              </a:lnSpc>
            </a:pPr>
            <a:r>
              <a:rPr sz="1150" b="0" i="0">
                <a:solidFill>
                  <a:srgbClr val="B9C8DE"/>
                </a:solidFill>
                <a:latin typeface="Arial"/>
              </a:rPr>
              <a:t>0</a:t>
            </a:r>
          </a:p>
        </p:txBody>
      </p:sp>
      <p:sp>
        <p:nvSpPr>
          <p:cNvPr id="13" name="Rounded Rectangle 12"/>
          <p:cNvSpPr/>
          <p:nvPr/>
        </p:nvSpPr>
        <p:spPr>
          <a:xfrm>
            <a:off x="1919097" y="5390388"/>
            <a:ext cx="1269873" cy="644652"/>
          </a:xfrm>
          <a:prstGeom prst="roundRect">
            <a:avLst>
              <a:gd name="adj" fmla="val 16000"/>
            </a:avLst>
          </a:prstGeom>
          <a:solidFill>
            <a:srgbClr val="4252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873377" y="6062472"/>
            <a:ext cx="1361313" cy="237744"/>
          </a:xfrm>
          <a:prstGeom prst="rect">
            <a:avLst/>
          </a:prstGeom>
          <a:noFill/>
        </p:spPr>
        <p:txBody>
          <a:bodyPr wrap="square" lIns="0" rIns="0" tIns="0" bIns="0" anchor="t">
            <a:spAutoFit/>
          </a:bodyPr>
          <a:lstStyle/>
          <a:p>
            <a:pPr algn="ctr">
              <a:lnSpc>
                <a:spcPct val="115000"/>
              </a:lnSpc>
            </a:pPr>
            <a:r>
              <a:rPr sz="1150" b="0" i="0">
                <a:solidFill>
                  <a:srgbClr val="B9C8DE"/>
                </a:solidFill>
                <a:latin typeface="Arial"/>
              </a:rPr>
              <a:t>1</a:t>
            </a:r>
          </a:p>
        </p:txBody>
      </p:sp>
      <p:sp>
        <p:nvSpPr>
          <p:cNvPr id="15" name="Rounded Rectangle 14"/>
          <p:cNvSpPr/>
          <p:nvPr/>
        </p:nvSpPr>
        <p:spPr>
          <a:xfrm>
            <a:off x="3335274" y="5068062"/>
            <a:ext cx="1269873" cy="966978"/>
          </a:xfrm>
          <a:prstGeom prst="roundRect">
            <a:avLst>
              <a:gd name="adj" fmla="val 16000"/>
            </a:avLst>
          </a:prstGeom>
          <a:solidFill>
            <a:srgbClr val="4A5B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289554" y="6062472"/>
            <a:ext cx="1361313" cy="237744"/>
          </a:xfrm>
          <a:prstGeom prst="rect">
            <a:avLst/>
          </a:prstGeom>
          <a:noFill/>
        </p:spPr>
        <p:txBody>
          <a:bodyPr wrap="square" lIns="0" rIns="0" tIns="0" bIns="0" anchor="t">
            <a:spAutoFit/>
          </a:bodyPr>
          <a:lstStyle/>
          <a:p>
            <a:pPr algn="ctr">
              <a:lnSpc>
                <a:spcPct val="115000"/>
              </a:lnSpc>
            </a:pPr>
            <a:r>
              <a:rPr sz="1150" b="0" i="0">
                <a:solidFill>
                  <a:srgbClr val="B9C8DE"/>
                </a:solidFill>
                <a:latin typeface="Arial"/>
              </a:rPr>
              <a:t>2</a:t>
            </a:r>
          </a:p>
        </p:txBody>
      </p:sp>
      <p:sp>
        <p:nvSpPr>
          <p:cNvPr id="17" name="Rounded Rectangle 16"/>
          <p:cNvSpPr/>
          <p:nvPr/>
        </p:nvSpPr>
        <p:spPr>
          <a:xfrm>
            <a:off x="4751451" y="4745736"/>
            <a:ext cx="1269873" cy="1289304"/>
          </a:xfrm>
          <a:prstGeom prst="roundRect">
            <a:avLst>
              <a:gd name="adj" fmla="val 16000"/>
            </a:avLst>
          </a:prstGeom>
          <a:solidFill>
            <a:srgbClr val="5264A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705731" y="6062472"/>
            <a:ext cx="1361313" cy="237744"/>
          </a:xfrm>
          <a:prstGeom prst="rect">
            <a:avLst/>
          </a:prstGeom>
          <a:noFill/>
        </p:spPr>
        <p:txBody>
          <a:bodyPr wrap="square" lIns="0" rIns="0" tIns="0" bIns="0" anchor="t">
            <a:spAutoFit/>
          </a:bodyPr>
          <a:lstStyle/>
          <a:p>
            <a:pPr algn="ctr">
              <a:lnSpc>
                <a:spcPct val="115000"/>
              </a:lnSpc>
            </a:pPr>
            <a:r>
              <a:rPr sz="1150" b="0" i="0">
                <a:solidFill>
                  <a:srgbClr val="B9C8DE"/>
                </a:solidFill>
                <a:latin typeface="Arial"/>
              </a:rPr>
              <a:t>3</a:t>
            </a:r>
          </a:p>
        </p:txBody>
      </p:sp>
      <p:sp>
        <p:nvSpPr>
          <p:cNvPr id="19" name="Rounded Rectangle 18"/>
          <p:cNvSpPr/>
          <p:nvPr/>
        </p:nvSpPr>
        <p:spPr>
          <a:xfrm>
            <a:off x="6167628" y="4423410"/>
            <a:ext cx="1269873" cy="1611630"/>
          </a:xfrm>
          <a:prstGeom prst="roundRect">
            <a:avLst>
              <a:gd name="adj" fmla="val 16000"/>
            </a:avLst>
          </a:prstGeom>
          <a:solidFill>
            <a:srgbClr val="5A6D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121908" y="6062472"/>
            <a:ext cx="1361313" cy="237744"/>
          </a:xfrm>
          <a:prstGeom prst="rect">
            <a:avLst/>
          </a:prstGeom>
          <a:noFill/>
        </p:spPr>
        <p:txBody>
          <a:bodyPr wrap="square" lIns="0" rIns="0" tIns="0" bIns="0" anchor="t">
            <a:spAutoFit/>
          </a:bodyPr>
          <a:lstStyle/>
          <a:p>
            <a:pPr algn="ctr">
              <a:lnSpc>
                <a:spcPct val="115000"/>
              </a:lnSpc>
            </a:pPr>
            <a:r>
              <a:rPr sz="1150" b="0" i="0">
                <a:solidFill>
                  <a:srgbClr val="B9C8DE"/>
                </a:solidFill>
                <a:latin typeface="Arial"/>
              </a:rPr>
              <a:t>4</a:t>
            </a:r>
          </a:p>
        </p:txBody>
      </p:sp>
      <p:sp>
        <p:nvSpPr>
          <p:cNvPr id="21" name="Rounded Rectangle 20"/>
          <p:cNvSpPr/>
          <p:nvPr/>
        </p:nvSpPr>
        <p:spPr>
          <a:xfrm>
            <a:off x="7583804" y="4101084"/>
            <a:ext cx="1269873" cy="1933956"/>
          </a:xfrm>
          <a:prstGeom prst="roundRect">
            <a:avLst>
              <a:gd name="adj" fmla="val 16000"/>
            </a:avLst>
          </a:prstGeom>
          <a:solidFill>
            <a:srgbClr val="6276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538084" y="6062472"/>
            <a:ext cx="1361313" cy="237744"/>
          </a:xfrm>
          <a:prstGeom prst="rect">
            <a:avLst/>
          </a:prstGeom>
          <a:noFill/>
        </p:spPr>
        <p:txBody>
          <a:bodyPr wrap="square" lIns="0" rIns="0" tIns="0" bIns="0" anchor="t">
            <a:spAutoFit/>
          </a:bodyPr>
          <a:lstStyle/>
          <a:p>
            <a:pPr algn="ctr">
              <a:lnSpc>
                <a:spcPct val="115000"/>
              </a:lnSpc>
            </a:pPr>
            <a:r>
              <a:rPr sz="1150" b="0" i="0">
                <a:solidFill>
                  <a:srgbClr val="B9C8DE"/>
                </a:solidFill>
                <a:latin typeface="Arial"/>
              </a:rPr>
              <a:t>5</a:t>
            </a:r>
          </a:p>
        </p:txBody>
      </p:sp>
      <p:sp>
        <p:nvSpPr>
          <p:cNvPr id="23" name="Rounded Rectangle 22"/>
          <p:cNvSpPr/>
          <p:nvPr/>
        </p:nvSpPr>
        <p:spPr>
          <a:xfrm>
            <a:off x="8999982" y="3778758"/>
            <a:ext cx="1269873" cy="2256282"/>
          </a:xfrm>
          <a:prstGeom prst="roundRect">
            <a:avLst>
              <a:gd name="adj" fmla="val 16000"/>
            </a:avLst>
          </a:prstGeom>
          <a:solidFill>
            <a:srgbClr val="6B7F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8954261" y="6062472"/>
            <a:ext cx="1361313" cy="237744"/>
          </a:xfrm>
          <a:prstGeom prst="rect">
            <a:avLst/>
          </a:prstGeom>
          <a:noFill/>
        </p:spPr>
        <p:txBody>
          <a:bodyPr wrap="square" lIns="0" rIns="0" tIns="0" bIns="0" anchor="t">
            <a:spAutoFit/>
          </a:bodyPr>
          <a:lstStyle/>
          <a:p>
            <a:pPr algn="ctr">
              <a:lnSpc>
                <a:spcPct val="115000"/>
              </a:lnSpc>
            </a:pPr>
            <a:r>
              <a:rPr sz="1150" b="0" i="0">
                <a:solidFill>
                  <a:srgbClr val="B9C8DE"/>
                </a:solidFill>
                <a:latin typeface="Arial"/>
              </a:rPr>
              <a:t>6</a:t>
            </a:r>
          </a:p>
        </p:txBody>
      </p:sp>
      <p:sp>
        <p:nvSpPr>
          <p:cNvPr id="25" name="Rounded Rectangle 24"/>
          <p:cNvSpPr/>
          <p:nvPr/>
        </p:nvSpPr>
        <p:spPr>
          <a:xfrm>
            <a:off x="10416159" y="3456432"/>
            <a:ext cx="1269873" cy="2578608"/>
          </a:xfrm>
          <a:prstGeom prst="roundRect">
            <a:avLst>
              <a:gd name="adj" fmla="val 16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10370438" y="6062472"/>
            <a:ext cx="1361313" cy="237744"/>
          </a:xfrm>
          <a:prstGeom prst="rect">
            <a:avLst/>
          </a:prstGeom>
          <a:noFill/>
        </p:spPr>
        <p:txBody>
          <a:bodyPr wrap="square" lIns="0" rIns="0" tIns="0" bIns="0" anchor="t">
            <a:spAutoFit/>
          </a:bodyPr>
          <a:lstStyle/>
          <a:p>
            <a:pPr algn="ctr">
              <a:lnSpc>
                <a:spcPct val="115000"/>
              </a:lnSpc>
            </a:pPr>
            <a:r>
              <a:rPr sz="1150" b="1" i="0">
                <a:solidFill>
                  <a:srgbClr val="F0AB00"/>
                </a:solidFill>
                <a:latin typeface="Arial"/>
              </a:rPr>
              <a:t>7</a:t>
            </a:r>
          </a:p>
        </p:txBody>
      </p:sp>
      <p:sp>
        <p:nvSpPr>
          <p:cNvPr id="27" name="TextBox 26"/>
          <p:cNvSpPr txBox="1"/>
          <p:nvPr/>
        </p:nvSpPr>
        <p:spPr>
          <a:xfrm>
            <a:off x="502920" y="6364224"/>
            <a:ext cx="10972800" cy="274320"/>
          </a:xfrm>
          <a:prstGeom prst="rect">
            <a:avLst/>
          </a:prstGeom>
          <a:noFill/>
        </p:spPr>
        <p:txBody>
          <a:bodyPr wrap="square" lIns="0" rIns="0" tIns="0" bIns="0" anchor="t">
            <a:spAutoFit/>
          </a:bodyPr>
          <a:lstStyle/>
          <a:p>
            <a:pPr algn="l">
              <a:lnSpc>
                <a:spcPct val="115000"/>
              </a:lnSpc>
            </a:pPr>
            <a:r>
              <a:rPr sz="950" b="0" i="1">
                <a:solidFill>
                  <a:srgbClr val="8A9BC0"/>
                </a:solidFill>
                <a:latin typeface="Arial"/>
              </a:rPr>
              <a:t>Реальные 7 стадий демо-репозитория signup-landing/ (git ls-tree по коммитам) · источник: captures/21–27</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29184"/>
            <a:ext cx="10515600" cy="292608"/>
          </a:xfrm>
          <a:prstGeom prst="rect">
            <a:avLst/>
          </a:prstGeom>
          <a:noFill/>
        </p:spPr>
        <p:txBody>
          <a:bodyPr wrap="square" lIns="0" rIns="0" tIns="0" bIns="0" anchor="t">
            <a:spAutoFit/>
          </a:bodyPr>
          <a:lstStyle/>
          <a:p>
            <a:pPr algn="l">
              <a:lnSpc>
                <a:spcPct val="115000"/>
              </a:lnSpc>
            </a:pPr>
            <a:r>
              <a:rPr sz="1150" b="1" i="0">
                <a:solidFill>
                  <a:srgbClr val="028090"/>
                </a:solidFill>
                <a:latin typeface="Arial"/>
              </a:rPr>
              <a:t>РАЗДЕЛ 0 · ЗАДАЧА ОТ ЗАКАЗЧИКА</a:t>
            </a:r>
          </a:p>
        </p:txBody>
      </p:sp>
      <p:sp>
        <p:nvSpPr>
          <p:cNvPr id="3" name="TextBox 2"/>
          <p:cNvSpPr txBox="1"/>
          <p:nvPr/>
        </p:nvSpPr>
        <p:spPr>
          <a:xfrm>
            <a:off x="502920" y="640080"/>
            <a:ext cx="11183112" cy="1371600"/>
          </a:xfrm>
          <a:prstGeom prst="rect">
            <a:avLst/>
          </a:prstGeom>
          <a:noFill/>
        </p:spPr>
        <p:txBody>
          <a:bodyPr wrap="square" lIns="0" rIns="0" tIns="0" bIns="0" anchor="t">
            <a:spAutoFit/>
          </a:bodyPr>
          <a:lstStyle/>
          <a:p>
            <a:pPr algn="l">
              <a:lnSpc>
                <a:spcPct val="114000"/>
              </a:lnSpc>
            </a:pPr>
            <a:r>
              <a:rPr sz="1300" b="1" i="0">
                <a:solidFill>
                  <a:srgbClr val="21295C"/>
                </a:solidFill>
                <a:latin typeface="Arial"/>
              </a:rPr>
              <a:t>Заказчик формулирует задачу по-человечески, без единого слова о структуре, критериях готовности или границах действий — и с этим текстом вы открываете чат с агентом</a:t>
            </a:r>
          </a:p>
        </p:txBody>
      </p:sp>
      <p:sp>
        <p:nvSpPr>
          <p:cNvPr id="4" name="Rounded Rectangle 3"/>
          <p:cNvSpPr/>
          <p:nvPr/>
        </p:nvSpPr>
        <p:spPr>
          <a:xfrm>
            <a:off x="502920" y="2176272"/>
            <a:ext cx="11183112" cy="1417320"/>
          </a:xfrm>
          <a:prstGeom prst="roundRect">
            <a:avLst>
              <a:gd name="adj" fmla="val 21505"/>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7240" y="2322576"/>
            <a:ext cx="10607040" cy="1124712"/>
          </a:xfrm>
          <a:prstGeom prst="rect">
            <a:avLst/>
          </a:prstGeom>
          <a:noFill/>
        </p:spPr>
        <p:txBody>
          <a:bodyPr wrap="square" lIns="0" rIns="0" tIns="0" bIns="0" anchor="ctr">
            <a:spAutoFit/>
          </a:bodyPr>
          <a:lstStyle/>
          <a:p>
            <a:pPr algn="l">
              <a:lnSpc>
                <a:spcPct val="132000"/>
              </a:lnSpc>
            </a:pPr>
            <a:r>
              <a:rPr sz="1600" b="0" i="1">
                <a:solidFill>
                  <a:srgbClr val="21295C"/>
                </a:solidFill>
                <a:latin typeface="Arial"/>
              </a:rPr>
              <a:t>«Нужен лендинг с формой заявки на демо-урок: одна статическая страница, поля ‘имя’ и ‘email’, кнопка отправки. Своего бэкенда нет — присылайте заявку на наш сервис приёма форм.»</a:t>
            </a:r>
          </a:p>
        </p:txBody>
      </p:sp>
      <p:sp>
        <p:nvSpPr>
          <p:cNvPr id="6" name="Rounded Rectangle 5"/>
          <p:cNvSpPr/>
          <p:nvPr/>
        </p:nvSpPr>
        <p:spPr>
          <a:xfrm>
            <a:off x="502920" y="3867912"/>
            <a:ext cx="11183112" cy="2167127"/>
          </a:xfrm>
          <a:prstGeom prst="roundRect">
            <a:avLst>
              <a:gd name="adj" fmla="val 10000"/>
            </a:avLst>
          </a:prstGeom>
          <a:solidFill>
            <a:srgbClr val="FEF5E0"/>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04088" y="3941064"/>
            <a:ext cx="10780776" cy="2020823"/>
          </a:xfrm>
          <a:prstGeom prst="rect">
            <a:avLst/>
          </a:prstGeom>
          <a:noFill/>
        </p:spPr>
        <p:txBody>
          <a:bodyPr wrap="square" lIns="0" rIns="0" tIns="0" bIns="0" anchor="ctr">
            <a:spAutoFit/>
          </a:bodyPr>
          <a:lstStyle/>
          <a:p>
            <a:pPr algn="ctr">
              <a:lnSpc>
                <a:spcPct val="122000"/>
              </a:lnSpc>
            </a:pPr>
            <a:r>
              <a:rPr sz="1900" b="1" i="0">
                <a:solidFill>
                  <a:srgbClr val="21295C"/>
                </a:solidFill>
                <a:latin typeface="Arial"/>
              </a:rPr>
              <a:t>«Можем ли мы сразу дать эту задачу агенту — или сначала нужно зафиксировать требования?»</a:t>
            </a:r>
          </a:p>
        </p:txBody>
      </p:sp>
      <p:sp>
        <p:nvSpPr>
          <p:cNvPr id="8" name="TextBox 7"/>
          <p:cNvSpPr txBox="1"/>
          <p:nvPr/>
        </p:nvSpPr>
        <p:spPr>
          <a:xfrm>
            <a:off x="502920" y="6108192"/>
            <a:ext cx="11183112" cy="274320"/>
          </a:xfrm>
          <a:prstGeom prst="rect">
            <a:avLst/>
          </a:prstGeom>
          <a:noFill/>
        </p:spPr>
        <p:txBody>
          <a:bodyPr wrap="square" lIns="0" rIns="0" tIns="0" bIns="0" anchor="t">
            <a:spAutoFit/>
          </a:bodyPr>
          <a:lstStyle/>
          <a:p>
            <a:pPr algn="ctr">
              <a:lnSpc>
                <a:spcPct val="115000"/>
              </a:lnSpc>
            </a:pPr>
            <a:r>
              <a:rPr sz="1100" b="0" i="1">
                <a:solidFill>
                  <a:srgbClr val="6B7685"/>
                </a:solidFill>
                <a:latin typeface="Arial"/>
              </a:rPr>
              <a:t>открытая дискуссия, не голосование</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29184"/>
            <a:ext cx="10515600" cy="292608"/>
          </a:xfrm>
          <a:prstGeom prst="rect">
            <a:avLst/>
          </a:prstGeom>
          <a:noFill/>
        </p:spPr>
        <p:txBody>
          <a:bodyPr wrap="square" lIns="0" rIns="0" tIns="0" bIns="0" anchor="t">
            <a:spAutoFit/>
          </a:bodyPr>
          <a:lstStyle/>
          <a:p>
            <a:pPr algn="l">
              <a:lnSpc>
                <a:spcPct val="115000"/>
              </a:lnSpc>
            </a:pPr>
            <a:r>
              <a:rPr sz="1150" b="1" i="0">
                <a:solidFill>
                  <a:srgbClr val="028090"/>
                </a:solidFill>
                <a:latin typeface="Arial"/>
              </a:rPr>
              <a:t>РАЗДЕЛ 0 · SPEC.MD</a:t>
            </a:r>
          </a:p>
        </p:txBody>
      </p:sp>
      <p:sp>
        <p:nvSpPr>
          <p:cNvPr id="3" name="TextBox 2"/>
          <p:cNvSpPr txBox="1"/>
          <p:nvPr/>
        </p:nvSpPr>
        <p:spPr>
          <a:xfrm>
            <a:off x="502920" y="640080"/>
            <a:ext cx="11183112" cy="1188720"/>
          </a:xfrm>
          <a:prstGeom prst="rect">
            <a:avLst/>
          </a:prstGeom>
          <a:noFill/>
        </p:spPr>
        <p:txBody>
          <a:bodyPr wrap="square" lIns="0" rIns="0" tIns="0" bIns="0" anchor="t">
            <a:spAutoFit/>
          </a:bodyPr>
          <a:lstStyle/>
          <a:p>
            <a:pPr algn="l">
              <a:lnSpc>
                <a:spcPct val="114000"/>
              </a:lnSpc>
            </a:pPr>
            <a:r>
              <a:rPr sz="1450" b="1" i="0">
                <a:solidFill>
                  <a:srgbClr val="21295C"/>
                </a:solidFill>
                <a:latin typeface="Arial"/>
              </a:rPr>
              <a:t>Требования — функциональные и нефункциональные — раскладываются и записываются в spec.md до того, как агент увидел хоть строку задачи</a:t>
            </a:r>
          </a:p>
        </p:txBody>
      </p:sp>
      <p:sp>
        <p:nvSpPr>
          <p:cNvPr id="4" name="Rounded Rectangle 3"/>
          <p:cNvSpPr/>
          <p:nvPr/>
        </p:nvSpPr>
        <p:spPr>
          <a:xfrm>
            <a:off x="502920" y="1993392"/>
            <a:ext cx="11183112" cy="3108960"/>
          </a:xfrm>
          <a:prstGeom prst="roundRect">
            <a:avLst>
              <a:gd name="adj" fmla="val 3500"/>
            </a:avLst>
          </a:prstGeom>
          <a:solidFill>
            <a:srgbClr val="161C30"/>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04088" y="2194560"/>
            <a:ext cx="10780776" cy="2706624"/>
          </a:xfrm>
          <a:prstGeom prst="rect">
            <a:avLst/>
          </a:prstGeom>
          <a:noFill/>
        </p:spPr>
        <p:txBody>
          <a:bodyPr wrap="square" lIns="0" rIns="0" tIns="0" bIns="0" anchor="t">
            <a:spAutoFit/>
          </a:bodyPr>
          <a:lstStyle/>
          <a:p>
            <a:pPr algn="l">
              <a:lnSpc>
                <a:spcPct val="124000"/>
              </a:lnSpc>
              <a:spcAft>
                <a:spcPts val="200"/>
              </a:spcAft>
            </a:pPr>
            <a:r>
              <a:rPr sz="1100" b="1" i="0">
                <a:solidFill>
                  <a:srgbClr val="028090"/>
                </a:solidFill>
                <a:latin typeface="Consolas"/>
              </a:rPr>
              <a:t># spec.md — signup-landing</a:t>
            </a:r>
          </a:p>
          <a:p>
            <a:pPr algn="l">
              <a:lnSpc>
                <a:spcPct val="124000"/>
              </a:lnSpc>
              <a:spcAft>
                <a:spcPts val="200"/>
              </a:spcAft>
            </a:pPr>
            <a:r>
              <a:rPr sz="1100" b="0" i="0">
                <a:solidFill>
                  <a:srgbClr val="E3E9F2"/>
                </a:solidFill>
                <a:latin typeface="Consolas"/>
              </a:rPr>
              <a:t/>
            </a:r>
          </a:p>
          <a:p>
            <a:pPr algn="l">
              <a:lnSpc>
                <a:spcPct val="124000"/>
              </a:lnSpc>
              <a:spcAft>
                <a:spcPts val="200"/>
              </a:spcAft>
            </a:pPr>
            <a:r>
              <a:rPr sz="1100" b="1" i="0">
                <a:solidFill>
                  <a:srgbClr val="028090"/>
                </a:solidFill>
                <a:latin typeface="Consolas"/>
              </a:rPr>
              <a:t>## Функциональные требования</a:t>
            </a:r>
          </a:p>
          <a:p>
            <a:pPr algn="l">
              <a:lnSpc>
                <a:spcPct val="124000"/>
              </a:lnSpc>
              <a:spcAft>
                <a:spcPts val="200"/>
              </a:spcAft>
            </a:pPr>
            <a:r>
              <a:rPr sz="1100" b="0" i="0">
                <a:solidFill>
                  <a:srgbClr val="E3E9F2"/>
                </a:solidFill>
                <a:latin typeface="Consolas"/>
              </a:rPr>
              <a:t>- Статическая страница-лендинг, форма заявки на демо-урок</a:t>
            </a:r>
          </a:p>
          <a:p>
            <a:pPr algn="l">
              <a:lnSpc>
                <a:spcPct val="124000"/>
              </a:lnSpc>
              <a:spcAft>
                <a:spcPts val="200"/>
              </a:spcAft>
            </a:pPr>
            <a:r>
              <a:rPr sz="1100" b="0" i="0">
                <a:solidFill>
                  <a:srgbClr val="E3E9F2"/>
                </a:solidFill>
                <a:latin typeface="Consolas"/>
              </a:rPr>
              <a:t>- Поля: имя (обязательное), email (обязательное)</a:t>
            </a:r>
          </a:p>
          <a:p>
            <a:pPr algn="l">
              <a:lnSpc>
                <a:spcPct val="124000"/>
              </a:lnSpc>
              <a:spcAft>
                <a:spcPts val="200"/>
              </a:spcAft>
            </a:pPr>
            <a:r>
              <a:rPr sz="1100" b="0" i="0">
                <a:solidFill>
                  <a:srgbClr val="E3E9F2"/>
                </a:solidFill>
                <a:latin typeface="Consolas"/>
              </a:rPr>
              <a:t>- Кнопка отправки; без бэкенда — заявка уходит на внешний сервис</a:t>
            </a:r>
          </a:p>
          <a:p>
            <a:pPr algn="l">
              <a:lnSpc>
                <a:spcPct val="124000"/>
              </a:lnSpc>
              <a:spcAft>
                <a:spcPts val="200"/>
              </a:spcAft>
            </a:pPr>
            <a:r>
              <a:rPr sz="1100" b="0" i="0">
                <a:solidFill>
                  <a:srgbClr val="E3E9F2"/>
                </a:solidFill>
                <a:latin typeface="Consolas"/>
              </a:rPr>
              <a:t/>
            </a:r>
          </a:p>
          <a:p>
            <a:pPr algn="l">
              <a:lnSpc>
                <a:spcPct val="124000"/>
              </a:lnSpc>
              <a:spcAft>
                <a:spcPts val="200"/>
              </a:spcAft>
            </a:pPr>
            <a:r>
              <a:rPr sz="1100" b="1" i="0">
                <a:solidFill>
                  <a:srgbClr val="028090"/>
                </a:solidFill>
                <a:latin typeface="Consolas"/>
              </a:rPr>
              <a:t>## Нефункциональные требования</a:t>
            </a:r>
          </a:p>
          <a:p>
            <a:pPr algn="l">
              <a:lnSpc>
                <a:spcPct val="124000"/>
              </a:lnSpc>
              <a:spcAft>
                <a:spcPts val="200"/>
              </a:spcAft>
            </a:pPr>
            <a:r>
              <a:rPr sz="1100" b="0" i="0">
                <a:solidFill>
                  <a:srgbClr val="E3E9F2"/>
                </a:solidFill>
                <a:latin typeface="Consolas"/>
              </a:rPr>
              <a:t>- Критерий приёмки: форма реально доставляет заявку — проверено</a:t>
            </a:r>
          </a:p>
          <a:p>
            <a:pPr algn="l">
              <a:lnSpc>
                <a:spcPct val="124000"/>
              </a:lnSpc>
              <a:spcAft>
                <a:spcPts val="200"/>
              </a:spcAft>
            </a:pPr>
            <a:r>
              <a:rPr sz="1100" b="0" i="0">
                <a:solidFill>
                  <a:srgbClr val="E3E9F2"/>
                </a:solidFill>
                <a:latin typeface="Consolas"/>
              </a:rPr>
              <a:t>  на проде, а не только «тест зелёный»</a:t>
            </a:r>
          </a:p>
          <a:p>
            <a:pPr algn="l">
              <a:lnSpc>
                <a:spcPct val="124000"/>
              </a:lnSpc>
              <a:spcAft>
                <a:spcPts val="200"/>
              </a:spcAft>
            </a:pPr>
            <a:r>
              <a:rPr sz="1100" b="0" i="0">
                <a:solidFill>
                  <a:srgbClr val="E3E9F2"/>
                </a:solidFill>
                <a:latin typeface="Consolas"/>
              </a:rPr>
              <a:t>- Граница действий: не деплоить на прод без явного запроса</a:t>
            </a:r>
          </a:p>
        </p:txBody>
      </p:sp>
      <p:sp>
        <p:nvSpPr>
          <p:cNvPr id="6" name="Rounded Rectangle 5"/>
          <p:cNvSpPr/>
          <p:nvPr/>
        </p:nvSpPr>
        <p:spPr>
          <a:xfrm>
            <a:off x="502920" y="5285232"/>
            <a:ext cx="11183112" cy="1115567"/>
          </a:xfrm>
          <a:prstGeom prst="roundRect">
            <a:avLst>
              <a:gd name="adj" fmla="val 10000"/>
            </a:avLst>
          </a:prstGeom>
          <a:solidFill>
            <a:srgbClr val="FEF5E0"/>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04088" y="5358384"/>
            <a:ext cx="10780776" cy="969263"/>
          </a:xfrm>
          <a:prstGeom prst="rect">
            <a:avLst/>
          </a:prstGeom>
          <a:noFill/>
        </p:spPr>
        <p:txBody>
          <a:bodyPr wrap="square" lIns="0" rIns="0" tIns="0" bIns="0" anchor="ctr">
            <a:spAutoFit/>
          </a:bodyPr>
          <a:lstStyle/>
          <a:p>
            <a:pPr algn="l">
              <a:lnSpc>
                <a:spcPct val="122000"/>
              </a:lnSpc>
            </a:pPr>
            <a:r>
              <a:rPr sz="1300" b="1" i="0">
                <a:solidFill>
                  <a:srgbClr val="21295C"/>
                </a:solidFill>
                <a:latin typeface="Arial"/>
              </a:rPr>
              <a:t>«README.md и другие базовые артефакты создаются сейчас же, отдельно от spec.md. Спека — про требования к продукту. README — про устройство репозитория. Именно поэтому требования из spec.md потом не дублируются в файле инструкций агента.»</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29184"/>
            <a:ext cx="10515600" cy="292608"/>
          </a:xfrm>
          <a:prstGeom prst="rect">
            <a:avLst/>
          </a:prstGeom>
          <a:noFill/>
        </p:spPr>
        <p:txBody>
          <a:bodyPr wrap="square" lIns="0" rIns="0" tIns="0" bIns="0" anchor="t">
            <a:spAutoFit/>
          </a:bodyPr>
          <a:lstStyle/>
          <a:p>
            <a:pPr algn="l">
              <a:lnSpc>
                <a:spcPct val="115000"/>
              </a:lnSpc>
            </a:pPr>
            <a:r>
              <a:rPr sz="1150" b="1" i="0">
                <a:solidFill>
                  <a:srgbClr val="028090"/>
                </a:solidFill>
                <a:latin typeface="Arial"/>
              </a:rPr>
              <a:t>РАЗДЕЛ 0 · СКВОЗНОЙ КЕЙС</a:t>
            </a:r>
          </a:p>
        </p:txBody>
      </p:sp>
      <p:sp>
        <p:nvSpPr>
          <p:cNvPr id="3" name="TextBox 2"/>
          <p:cNvSpPr txBox="1"/>
          <p:nvPr/>
        </p:nvSpPr>
        <p:spPr>
          <a:xfrm>
            <a:off x="502920" y="640080"/>
            <a:ext cx="11183112" cy="960120"/>
          </a:xfrm>
          <a:prstGeom prst="rect">
            <a:avLst/>
          </a:prstGeom>
          <a:noFill/>
        </p:spPr>
        <p:txBody>
          <a:bodyPr wrap="square" lIns="0" rIns="0" tIns="0" bIns="0" anchor="t">
            <a:spAutoFit/>
          </a:bodyPr>
          <a:lstStyle/>
          <a:p>
            <a:pPr algn="l">
              <a:lnSpc>
                <a:spcPct val="114000"/>
              </a:lnSpc>
            </a:pPr>
            <a:r>
              <a:rPr sz="1450" b="1" i="0">
                <a:solidFill>
                  <a:srgbClr val="21295C"/>
                </a:solidFill>
                <a:latin typeface="Arial"/>
              </a:rPr>
              <a:t>Репозиторий буквально пуст, а агент не задал ни одного уточняющего вопроса — и то, чего spec.md не покрывает, структуру, решил за вас молча</a:t>
            </a:r>
          </a:p>
        </p:txBody>
      </p:sp>
      <p:sp>
        <p:nvSpPr>
          <p:cNvPr id="4" name="Rounded Rectangle 3"/>
          <p:cNvSpPr/>
          <p:nvPr/>
        </p:nvSpPr>
        <p:spPr>
          <a:xfrm>
            <a:off x="502920" y="1691640"/>
            <a:ext cx="5349240" cy="1417320"/>
          </a:xfrm>
          <a:prstGeom prst="roundRect">
            <a:avLst>
              <a:gd name="adj" fmla="val 3500"/>
            </a:avLst>
          </a:prstGeom>
          <a:solidFill>
            <a:srgbClr val="161C30"/>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04088" y="1892808"/>
            <a:ext cx="4946903" cy="1014983"/>
          </a:xfrm>
          <a:prstGeom prst="rect">
            <a:avLst/>
          </a:prstGeom>
          <a:noFill/>
        </p:spPr>
        <p:txBody>
          <a:bodyPr wrap="square" lIns="0" rIns="0" tIns="0" bIns="0" anchor="t">
            <a:spAutoFit/>
          </a:bodyPr>
          <a:lstStyle/>
          <a:p>
            <a:pPr algn="l">
              <a:lnSpc>
                <a:spcPct val="132000"/>
              </a:lnSpc>
              <a:spcAft>
                <a:spcPts val="200"/>
              </a:spcAft>
            </a:pPr>
            <a:r>
              <a:rPr sz="1100" b="1" i="0">
                <a:solidFill>
                  <a:srgbClr val="028090"/>
                </a:solidFill>
                <a:latin typeface="Consolas"/>
              </a:rPr>
              <a:t>$ ls -la signup-landing/</a:t>
            </a:r>
          </a:p>
          <a:p>
            <a:pPr algn="l">
              <a:lnSpc>
                <a:spcPct val="132000"/>
              </a:lnSpc>
              <a:spcAft>
                <a:spcPts val="200"/>
              </a:spcAft>
            </a:pPr>
            <a:r>
              <a:rPr sz="1100" b="0" i="0">
                <a:solidFill>
                  <a:srgbClr val="E3E9F2"/>
                </a:solidFill>
                <a:latin typeface="Consolas"/>
              </a:rPr>
              <a:t>total 8</a:t>
            </a:r>
          </a:p>
          <a:p>
            <a:pPr algn="l">
              <a:lnSpc>
                <a:spcPct val="132000"/>
              </a:lnSpc>
              <a:spcAft>
                <a:spcPts val="200"/>
              </a:spcAft>
            </a:pPr>
            <a:r>
              <a:rPr sz="1100" b="0" i="0">
                <a:solidFill>
                  <a:srgbClr val="E3E9F2"/>
                </a:solidFill>
                <a:latin typeface="Consolas"/>
              </a:rPr>
              <a:t>drwxr-xr-x 2 harness harness 4096 Sep 20 12:45 .</a:t>
            </a:r>
          </a:p>
          <a:p>
            <a:pPr algn="l">
              <a:lnSpc>
                <a:spcPct val="132000"/>
              </a:lnSpc>
              <a:spcAft>
                <a:spcPts val="200"/>
              </a:spcAft>
            </a:pPr>
            <a:r>
              <a:rPr sz="1100" b="0" i="0">
                <a:solidFill>
                  <a:srgbClr val="E3E9F2"/>
                </a:solidFill>
                <a:latin typeface="Consolas"/>
              </a:rPr>
              <a:t>drwxr-xr-x 3 harness harness 4096 Sep 20 12:45 ..</a:t>
            </a:r>
          </a:p>
        </p:txBody>
      </p:sp>
      <p:sp>
        <p:nvSpPr>
          <p:cNvPr id="6" name="TextBox 5"/>
          <p:cNvSpPr txBox="1"/>
          <p:nvPr/>
        </p:nvSpPr>
        <p:spPr>
          <a:xfrm>
            <a:off x="502920" y="3136392"/>
            <a:ext cx="5349240" cy="219456"/>
          </a:xfrm>
          <a:prstGeom prst="rect">
            <a:avLst/>
          </a:prstGeom>
          <a:noFill/>
        </p:spPr>
        <p:txBody>
          <a:bodyPr wrap="square" lIns="0" rIns="0" tIns="0" bIns="0" anchor="t">
            <a:spAutoFit/>
          </a:bodyPr>
          <a:lstStyle/>
          <a:p>
            <a:pPr algn="ctr">
              <a:lnSpc>
                <a:spcPct val="115000"/>
              </a:lnSpc>
            </a:pPr>
            <a:r>
              <a:rPr sz="1050" b="0" i="1">
                <a:solidFill>
                  <a:srgbClr val="6B7685"/>
                </a:solidFill>
                <a:latin typeface="Arial"/>
              </a:rPr>
              <a:t>реальный вывод, не макет</a:t>
            </a:r>
          </a:p>
        </p:txBody>
      </p:sp>
      <p:sp>
        <p:nvSpPr>
          <p:cNvPr id="7" name="Rounded Rectangle 6"/>
          <p:cNvSpPr/>
          <p:nvPr/>
        </p:nvSpPr>
        <p:spPr>
          <a:xfrm>
            <a:off x="6153912" y="1691640"/>
            <a:ext cx="5349240" cy="1417320"/>
          </a:xfrm>
          <a:prstGeom prst="roundRect">
            <a:avLst>
              <a:gd name="adj" fmla="val 21505"/>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36792" y="1801368"/>
            <a:ext cx="4983479" cy="1197864"/>
          </a:xfrm>
          <a:prstGeom prst="rect">
            <a:avLst/>
          </a:prstGeom>
          <a:noFill/>
        </p:spPr>
        <p:txBody>
          <a:bodyPr wrap="square" lIns="0" rIns="0" tIns="0" bIns="0" anchor="t">
            <a:spAutoFit/>
          </a:bodyPr>
          <a:lstStyle/>
          <a:p>
            <a:pPr algn="l">
              <a:lnSpc>
                <a:spcPct val="122000"/>
              </a:lnSpc>
            </a:pPr>
            <a:r>
              <a:rPr sz="1030" b="0" i="1">
                <a:solidFill>
                  <a:srgbClr val="21295C"/>
                </a:solidFill>
                <a:latin typeface="Arial"/>
              </a:rPr>
              <a:t>«собери лендинг с формой заявки на демо-урок: статическая HTML-страница, сборка Vite (npm run build → dist/), поля формы — имя и email, тест на Playwright, который проверяет, что форма не отправляется с пустыми обязательными полями (tests/form.spec.ts)» — по содержанию совпадает со spec.md</a:t>
            </a:r>
          </a:p>
        </p:txBody>
      </p:sp>
      <p:sp>
        <p:nvSpPr>
          <p:cNvPr id="9" name="Rounded Rectangle 8"/>
          <p:cNvSpPr/>
          <p:nvPr/>
        </p:nvSpPr>
        <p:spPr>
          <a:xfrm>
            <a:off x="502920" y="3401568"/>
            <a:ext cx="11183112" cy="960120"/>
          </a:xfrm>
          <a:prstGeom prst="roundRect">
            <a:avLst>
              <a:gd name="adj" fmla="val 10000"/>
            </a:avLst>
          </a:prstGeom>
          <a:solidFill>
            <a:srgbClr val="FEF5E0"/>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04088" y="3474720"/>
            <a:ext cx="10780776" cy="813816"/>
          </a:xfrm>
          <a:prstGeom prst="rect">
            <a:avLst/>
          </a:prstGeom>
          <a:noFill/>
        </p:spPr>
        <p:txBody>
          <a:bodyPr wrap="square" lIns="0" rIns="0" tIns="0" bIns="0" anchor="ctr">
            <a:spAutoFit/>
          </a:bodyPr>
          <a:lstStyle/>
          <a:p>
            <a:pPr algn="l">
              <a:lnSpc>
                <a:spcPct val="122000"/>
              </a:lnSpc>
            </a:pPr>
            <a:r>
              <a:rPr sz="1300" b="1" i="0">
                <a:solidFill>
                  <a:srgbClr val="21295C"/>
                </a:solidFill>
                <a:latin typeface="Arial"/>
              </a:rPr>
              <a:t>«Уточняющий вопрос не задавался. Все параметры задачи… были однозначно выводимы из текста задачи, поэтому работа была начата сразу, без уточнений.» Но о структуре — как назвать файлы, куда их положить, как разложить проект — агент не спросил тоже: spec.md по определению это не описывает, это устройство кода, а не требование к продукту.</a:t>
            </a:r>
          </a:p>
        </p:txBody>
      </p:sp>
      <p:sp>
        <p:nvSpPr>
          <p:cNvPr id="11" name="Rounded Rectangle 10"/>
          <p:cNvSpPr/>
          <p:nvPr/>
        </p:nvSpPr>
        <p:spPr>
          <a:xfrm>
            <a:off x="502920" y="4562856"/>
            <a:ext cx="5349240" cy="2057400"/>
          </a:xfrm>
          <a:prstGeom prst="roundRect">
            <a:avLst>
              <a:gd name="adj" fmla="val 3500"/>
            </a:avLst>
          </a:prstGeom>
          <a:solidFill>
            <a:srgbClr val="161C30"/>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04088" y="4764024"/>
            <a:ext cx="4946903" cy="274320"/>
          </a:xfrm>
          <a:prstGeom prst="rect">
            <a:avLst/>
          </a:prstGeom>
          <a:noFill/>
        </p:spPr>
        <p:txBody>
          <a:bodyPr wrap="square" lIns="0" rIns="0" tIns="0" bIns="0" anchor="t">
            <a:spAutoFit/>
          </a:bodyPr>
          <a:lstStyle/>
          <a:p>
            <a:pPr algn="l">
              <a:lnSpc>
                <a:spcPct val="115000"/>
              </a:lnSpc>
            </a:pPr>
            <a:r>
              <a:rPr sz="1100" b="1" i="0">
                <a:solidFill>
                  <a:srgbClr val="028090"/>
                </a:solidFill>
                <a:latin typeface="Consolas"/>
              </a:rPr>
              <a:t>что создал</a:t>
            </a:r>
          </a:p>
        </p:txBody>
      </p:sp>
      <p:sp>
        <p:nvSpPr>
          <p:cNvPr id="13" name="TextBox 12"/>
          <p:cNvSpPr txBox="1"/>
          <p:nvPr/>
        </p:nvSpPr>
        <p:spPr>
          <a:xfrm>
            <a:off x="704088" y="5074920"/>
            <a:ext cx="4946903" cy="1344168"/>
          </a:xfrm>
          <a:prstGeom prst="rect">
            <a:avLst/>
          </a:prstGeom>
          <a:noFill/>
        </p:spPr>
        <p:txBody>
          <a:bodyPr wrap="square" lIns="0" rIns="0" tIns="0" bIns="0" anchor="t">
            <a:spAutoFit/>
          </a:bodyPr>
          <a:lstStyle/>
          <a:p>
            <a:pPr algn="l">
              <a:lnSpc>
                <a:spcPct val="132000"/>
              </a:lnSpc>
              <a:spcAft>
                <a:spcPts val="200"/>
              </a:spcAft>
            </a:pPr>
            <a:r>
              <a:rPr sz="1200" b="0" i="0">
                <a:solidFill>
                  <a:srgbClr val="E3E9F2"/>
                </a:solidFill>
                <a:latin typeface="Consolas"/>
              </a:rPr>
              <a:t>index.html</a:t>
            </a:r>
          </a:p>
          <a:p>
            <a:pPr algn="l">
              <a:lnSpc>
                <a:spcPct val="132000"/>
              </a:lnSpc>
              <a:spcAft>
                <a:spcPts val="200"/>
              </a:spcAft>
            </a:pPr>
            <a:r>
              <a:rPr sz="1200" b="0" i="0">
                <a:solidFill>
                  <a:srgbClr val="E3E9F2"/>
                </a:solidFill>
                <a:latin typeface="Consolas"/>
              </a:rPr>
              <a:t>src/main.js</a:t>
            </a:r>
          </a:p>
          <a:p>
            <a:pPr algn="l">
              <a:lnSpc>
                <a:spcPct val="132000"/>
              </a:lnSpc>
              <a:spcAft>
                <a:spcPts val="200"/>
              </a:spcAft>
            </a:pPr>
            <a:r>
              <a:rPr sz="1200" b="0" i="0">
                <a:solidFill>
                  <a:srgbClr val="E3E9F2"/>
                </a:solidFill>
                <a:latin typeface="Consolas"/>
              </a:rPr>
              <a:t>package.json</a:t>
            </a:r>
          </a:p>
          <a:p>
            <a:pPr algn="l">
              <a:lnSpc>
                <a:spcPct val="132000"/>
              </a:lnSpc>
              <a:spcAft>
                <a:spcPts val="200"/>
              </a:spcAft>
            </a:pPr>
            <a:r>
              <a:rPr sz="1200" b="0" i="0">
                <a:solidFill>
                  <a:srgbClr val="E3E9F2"/>
                </a:solidFill>
                <a:latin typeface="Consolas"/>
              </a:rPr>
              <a:t>tests/form.spec.ts</a:t>
            </a:r>
          </a:p>
          <a:p>
            <a:pPr algn="l">
              <a:lnSpc>
                <a:spcPct val="132000"/>
              </a:lnSpc>
              <a:spcAft>
                <a:spcPts val="200"/>
              </a:spcAft>
            </a:pPr>
            <a:r>
              <a:rPr sz="1200" b="1" i="0">
                <a:solidFill>
                  <a:srgbClr val="8B9BB4"/>
                </a:solidFill>
                <a:latin typeface="Consolas"/>
              </a:rPr>
              <a:t># + spec.md, README.md (раздел 0) — агент их не создавал</a:t>
            </a:r>
          </a:p>
        </p:txBody>
      </p:sp>
      <p:sp>
        <p:nvSpPr>
          <p:cNvPr id="14" name="Rounded Rectangle 13"/>
          <p:cNvSpPr/>
          <p:nvPr/>
        </p:nvSpPr>
        <p:spPr>
          <a:xfrm>
            <a:off x="6153912" y="4562856"/>
            <a:ext cx="5349240" cy="2057400"/>
          </a:xfrm>
          <a:prstGeom prst="roundRect">
            <a:avLst>
              <a:gd name="adj" fmla="val 3500"/>
            </a:avLst>
          </a:prstGeom>
          <a:solidFill>
            <a:srgbClr val="161C30"/>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355079" y="4764024"/>
            <a:ext cx="4946903" cy="274320"/>
          </a:xfrm>
          <a:prstGeom prst="rect">
            <a:avLst/>
          </a:prstGeom>
          <a:noFill/>
        </p:spPr>
        <p:txBody>
          <a:bodyPr wrap="square" lIns="0" rIns="0" tIns="0" bIns="0" anchor="t">
            <a:spAutoFit/>
          </a:bodyPr>
          <a:lstStyle/>
          <a:p>
            <a:pPr algn="l">
              <a:lnSpc>
                <a:spcPct val="115000"/>
              </a:lnSpc>
            </a:pPr>
            <a:r>
              <a:rPr sz="1100" b="1" i="0">
                <a:solidFill>
                  <a:srgbClr val="028090"/>
                </a:solidFill>
                <a:latin typeface="Consolas"/>
              </a:rPr>
              <a:t>из финального ответа</a:t>
            </a:r>
          </a:p>
        </p:txBody>
      </p:sp>
      <p:sp>
        <p:nvSpPr>
          <p:cNvPr id="16" name="TextBox 15"/>
          <p:cNvSpPr txBox="1"/>
          <p:nvPr/>
        </p:nvSpPr>
        <p:spPr>
          <a:xfrm>
            <a:off x="6355079" y="5074920"/>
            <a:ext cx="4946903" cy="1344168"/>
          </a:xfrm>
          <a:prstGeom prst="rect">
            <a:avLst/>
          </a:prstGeom>
          <a:noFill/>
        </p:spPr>
        <p:txBody>
          <a:bodyPr wrap="square" lIns="0" rIns="0" tIns="0" bIns="0" anchor="t">
            <a:spAutoFit/>
          </a:bodyPr>
          <a:lstStyle/>
          <a:p>
            <a:pPr algn="l">
              <a:lnSpc>
                <a:spcPct val="132000"/>
              </a:lnSpc>
              <a:spcAft>
                <a:spcPts val="200"/>
              </a:spcAft>
            </a:pPr>
            <a:r>
              <a:rPr sz="1200" b="0" i="0">
                <a:solidFill>
                  <a:srgbClr val="E3E9F2"/>
                </a:solidFill>
                <a:latin typeface="Consolas"/>
              </a:rPr>
              <a:t>npm install</a:t>
            </a:r>
          </a:p>
          <a:p>
            <a:pPr algn="l">
              <a:lnSpc>
                <a:spcPct val="132000"/>
              </a:lnSpc>
              <a:spcAft>
                <a:spcPts val="200"/>
              </a:spcAft>
            </a:pPr>
            <a:r>
              <a:rPr sz="1200" b="0" i="0">
                <a:solidFill>
                  <a:srgbClr val="E3E9F2"/>
                </a:solidFill>
                <a:latin typeface="Consolas"/>
              </a:rPr>
              <a:t>npm run build          # → dist/</a:t>
            </a:r>
          </a:p>
          <a:p>
            <a:pPr algn="l">
              <a:lnSpc>
                <a:spcPct val="132000"/>
              </a:lnSpc>
              <a:spcAft>
                <a:spcPts val="200"/>
              </a:spcAft>
            </a:pPr>
            <a:r>
              <a:rPr sz="1200" b="0" i="0">
                <a:solidFill>
                  <a:srgbClr val="E3E9F2"/>
                </a:solidFill>
                <a:latin typeface="Consolas"/>
              </a:rPr>
              <a:t>npm run test:e2e       # playwright test</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29184"/>
            <a:ext cx="10515600" cy="292608"/>
          </a:xfrm>
          <a:prstGeom prst="rect">
            <a:avLst/>
          </a:prstGeom>
          <a:noFill/>
        </p:spPr>
        <p:txBody>
          <a:bodyPr wrap="square" lIns="0" rIns="0" tIns="0" bIns="0" anchor="t">
            <a:spAutoFit/>
          </a:bodyPr>
          <a:lstStyle/>
          <a:p>
            <a:pPr algn="l">
              <a:lnSpc>
                <a:spcPct val="115000"/>
              </a:lnSpc>
            </a:pPr>
            <a:r>
              <a:rPr sz="1150" b="1" i="0">
                <a:solidFill>
                  <a:srgbClr val="028090"/>
                </a:solidFill>
                <a:latin typeface="Arial"/>
              </a:rPr>
              <a:t>РАЗДЕЛ 0 · ДВА РЕЖИМА</a:t>
            </a:r>
          </a:p>
        </p:txBody>
      </p:sp>
      <p:sp>
        <p:nvSpPr>
          <p:cNvPr id="3" name="TextBox 2"/>
          <p:cNvSpPr txBox="1"/>
          <p:nvPr/>
        </p:nvSpPr>
        <p:spPr>
          <a:xfrm>
            <a:off x="502920" y="640080"/>
            <a:ext cx="11183112" cy="960120"/>
          </a:xfrm>
          <a:prstGeom prst="rect">
            <a:avLst/>
          </a:prstGeom>
          <a:noFill/>
        </p:spPr>
        <p:txBody>
          <a:bodyPr wrap="square" lIns="0" rIns="0" tIns="0" bIns="0" anchor="t">
            <a:spAutoFit/>
          </a:bodyPr>
          <a:lstStyle/>
          <a:p>
            <a:pPr algn="l">
              <a:lnSpc>
                <a:spcPct val="114000"/>
              </a:lnSpc>
            </a:pPr>
            <a:r>
              <a:rPr sz="1900" b="1" i="0">
                <a:solidFill>
                  <a:srgbClr val="21295C"/>
                </a:solidFill>
                <a:latin typeface="Arial"/>
              </a:rPr>
              <a:t>Настраивая нового агента в новом репозитории, каждый ближе к одному из двух режимов</a:t>
            </a:r>
          </a:p>
        </p:txBody>
      </p:sp>
      <p:sp>
        <p:nvSpPr>
          <p:cNvPr id="4" name="TextBox 3"/>
          <p:cNvSpPr txBox="1"/>
          <p:nvPr/>
        </p:nvSpPr>
        <p:spPr>
          <a:xfrm>
            <a:off x="502920" y="1600200"/>
            <a:ext cx="11183112" cy="274320"/>
          </a:xfrm>
          <a:prstGeom prst="rect">
            <a:avLst/>
          </a:prstGeom>
          <a:noFill/>
        </p:spPr>
        <p:txBody>
          <a:bodyPr wrap="square" lIns="0" rIns="0" tIns="0" bIns="0" anchor="t">
            <a:spAutoFit/>
          </a:bodyPr>
          <a:lstStyle/>
          <a:p>
            <a:pPr algn="l">
              <a:lnSpc>
                <a:spcPct val="115000"/>
              </a:lnSpc>
            </a:pPr>
            <a:r>
              <a:rPr sz="1250" b="0" i="1">
                <a:solidFill>
                  <a:srgbClr val="6B7685"/>
                </a:solidFill>
                <a:latin typeface="Arial"/>
              </a:rPr>
              <a:t>Прежде чем мы пойдём разбирать конкретные развилки — проверим на себе.</a:t>
            </a:r>
          </a:p>
        </p:txBody>
      </p:sp>
      <p:sp>
        <p:nvSpPr>
          <p:cNvPr id="5" name="Rounded Rectangle 4"/>
          <p:cNvSpPr/>
          <p:nvPr/>
        </p:nvSpPr>
        <p:spPr>
          <a:xfrm>
            <a:off x="502920" y="1920240"/>
            <a:ext cx="11183112" cy="777240"/>
          </a:xfrm>
          <a:prstGeom prst="roundRect">
            <a:avLst>
              <a:gd name="adj" fmla="val 10000"/>
            </a:avLst>
          </a:prstGeom>
          <a:solidFill>
            <a:srgbClr val="FEF5E0"/>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04088" y="1993392"/>
            <a:ext cx="10780776" cy="630936"/>
          </a:xfrm>
          <a:prstGeom prst="rect">
            <a:avLst/>
          </a:prstGeom>
          <a:noFill/>
        </p:spPr>
        <p:txBody>
          <a:bodyPr wrap="square" lIns="0" rIns="0" tIns="0" bIns="0" anchor="ctr">
            <a:spAutoFit/>
          </a:bodyPr>
          <a:lstStyle/>
          <a:p>
            <a:pPr algn="ctr">
              <a:lnSpc>
                <a:spcPct val="122000"/>
              </a:lnSpc>
            </a:pPr>
            <a:r>
              <a:rPr sz="1500" b="1" i="0">
                <a:solidFill>
                  <a:srgbClr val="21295C"/>
                </a:solidFill>
                <a:latin typeface="Arial"/>
              </a:rPr>
              <a:t>«Когда вы настраиваете нового агента в новом репозитории — какой из двух режимов вам обычно ближе?»</a:t>
            </a:r>
          </a:p>
        </p:txBody>
      </p:sp>
      <p:sp>
        <p:nvSpPr>
          <p:cNvPr id="7" name="Rounded Rectangle 6"/>
          <p:cNvSpPr/>
          <p:nvPr/>
        </p:nvSpPr>
        <p:spPr>
          <a:xfrm>
            <a:off x="502920" y="2926080"/>
            <a:ext cx="5349240" cy="2743200"/>
          </a:xfrm>
          <a:prstGeom prst="roundRect">
            <a:avLst>
              <a:gd name="adj" fmla="val 11111"/>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85800" y="3063240"/>
            <a:ext cx="4983479" cy="365760"/>
          </a:xfrm>
          <a:prstGeom prst="rect">
            <a:avLst/>
          </a:prstGeom>
          <a:noFill/>
        </p:spPr>
        <p:txBody>
          <a:bodyPr wrap="square" lIns="0" rIns="0" tIns="0" bIns="0" anchor="t">
            <a:spAutoFit/>
          </a:bodyPr>
          <a:lstStyle/>
          <a:p>
            <a:pPr algn="l">
              <a:lnSpc>
                <a:spcPct val="115000"/>
              </a:lnSpc>
            </a:pPr>
            <a:r>
              <a:rPr sz="1500" b="1" i="0">
                <a:solidFill>
                  <a:srgbClr val="065A82"/>
                </a:solidFill>
                <a:latin typeface="Arial"/>
              </a:rPr>
              <a:t>A · «Закладываю базу сразу»</a:t>
            </a:r>
          </a:p>
        </p:txBody>
      </p:sp>
      <p:sp>
        <p:nvSpPr>
          <p:cNvPr id="9" name="TextBox 8"/>
          <p:cNvSpPr txBox="1"/>
          <p:nvPr/>
        </p:nvSpPr>
        <p:spPr>
          <a:xfrm>
            <a:off x="685800" y="3566160"/>
            <a:ext cx="4983479" cy="1371600"/>
          </a:xfrm>
          <a:prstGeom prst="rect">
            <a:avLst/>
          </a:prstGeom>
          <a:noFill/>
        </p:spPr>
        <p:txBody>
          <a:bodyPr wrap="square" lIns="0" rIns="0" tIns="0" bIns="0" anchor="t">
            <a:spAutoFit/>
          </a:bodyPr>
          <a:lstStyle/>
          <a:p>
            <a:pPr algn="l">
              <a:lnSpc>
                <a:spcPct val="140000"/>
              </a:lnSpc>
            </a:pPr>
            <a:r>
              <a:rPr sz="1300" b="0" i="0">
                <a:solidFill>
                  <a:srgbClr val="21295C"/>
                </a:solidFill>
                <a:latin typeface="Arial"/>
              </a:rPr>
              <a:t>гейт готовности («что считается сделано»)
трекинг задач и решений</a:t>
            </a:r>
          </a:p>
        </p:txBody>
      </p:sp>
      <p:sp>
        <p:nvSpPr>
          <p:cNvPr id="10" name="Rounded Rectangle 9"/>
          <p:cNvSpPr/>
          <p:nvPr/>
        </p:nvSpPr>
        <p:spPr>
          <a:xfrm>
            <a:off x="6153912" y="2926080"/>
            <a:ext cx="5349240" cy="2743200"/>
          </a:xfrm>
          <a:prstGeom prst="roundRect">
            <a:avLst>
              <a:gd name="adj" fmla="val 11111"/>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336792" y="3063240"/>
            <a:ext cx="4983479" cy="365760"/>
          </a:xfrm>
          <a:prstGeom prst="rect">
            <a:avLst/>
          </a:prstGeom>
          <a:noFill/>
        </p:spPr>
        <p:txBody>
          <a:bodyPr wrap="square" lIns="0" rIns="0" tIns="0" bIns="0" anchor="t">
            <a:spAutoFit/>
          </a:bodyPr>
          <a:lstStyle/>
          <a:p>
            <a:pPr algn="l">
              <a:lnSpc>
                <a:spcPct val="115000"/>
              </a:lnSpc>
            </a:pPr>
            <a:r>
              <a:rPr sz="1500" b="1" i="0">
                <a:solidFill>
                  <a:srgbClr val="065A82"/>
                </a:solidFill>
                <a:latin typeface="Arial"/>
              </a:rPr>
              <a:t>B · «Жду, пока не заболит»</a:t>
            </a:r>
          </a:p>
        </p:txBody>
      </p:sp>
      <p:sp>
        <p:nvSpPr>
          <p:cNvPr id="12" name="TextBox 11"/>
          <p:cNvSpPr txBox="1"/>
          <p:nvPr/>
        </p:nvSpPr>
        <p:spPr>
          <a:xfrm>
            <a:off x="6336792" y="3566160"/>
            <a:ext cx="4983479" cy="1645920"/>
          </a:xfrm>
          <a:prstGeom prst="rect">
            <a:avLst/>
          </a:prstGeom>
          <a:noFill/>
        </p:spPr>
        <p:txBody>
          <a:bodyPr wrap="square" lIns="0" rIns="0" tIns="0" bIns="0" anchor="t">
            <a:spAutoFit/>
          </a:bodyPr>
          <a:lstStyle/>
          <a:p>
            <a:pPr algn="l">
              <a:lnSpc>
                <a:spcPct val="140000"/>
              </a:lnSpc>
            </a:pPr>
            <a:r>
              <a:rPr sz="1300" b="0" i="0">
                <a:solidFill>
                  <a:srgbClr val="21295C"/>
                </a:solidFill>
                <a:latin typeface="Arial"/>
              </a:rPr>
              <a:t>обзор репозитория
вложенные файлы конвенций
сложная, многоуровневая память</a:t>
            </a:r>
          </a:p>
        </p:txBody>
      </p:sp>
      <p:sp>
        <p:nvSpPr>
          <p:cNvPr id="13" name="TextBox 12"/>
          <p:cNvSpPr txBox="1"/>
          <p:nvPr/>
        </p:nvSpPr>
        <p:spPr>
          <a:xfrm>
            <a:off x="502920" y="5806440"/>
            <a:ext cx="11183112" cy="320040"/>
          </a:xfrm>
          <a:prstGeom prst="rect">
            <a:avLst/>
          </a:prstGeom>
          <a:noFill/>
        </p:spPr>
        <p:txBody>
          <a:bodyPr wrap="square" lIns="0" rIns="0" tIns="0" bIns="0" anchor="t">
            <a:spAutoFit/>
          </a:bodyPr>
          <a:lstStyle/>
          <a:p>
            <a:pPr algn="ctr">
              <a:lnSpc>
                <a:spcPct val="115000"/>
              </a:lnSpc>
            </a:pPr>
            <a:r>
              <a:rPr sz="1200" b="0" i="1">
                <a:solidFill>
                  <a:srgbClr val="6B7685"/>
                </a:solidFill>
                <a:latin typeface="Arial"/>
              </a:rPr>
              <a:t>разбор — на следующем слайде</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29184"/>
            <a:ext cx="10515600" cy="292608"/>
          </a:xfrm>
          <a:prstGeom prst="rect">
            <a:avLst/>
          </a:prstGeom>
          <a:noFill/>
        </p:spPr>
        <p:txBody>
          <a:bodyPr wrap="square" lIns="0" rIns="0" tIns="0" bIns="0" anchor="t">
            <a:spAutoFit/>
          </a:bodyPr>
          <a:lstStyle/>
          <a:p>
            <a:pPr algn="l">
              <a:lnSpc>
                <a:spcPct val="115000"/>
              </a:lnSpc>
            </a:pPr>
            <a:r>
              <a:rPr sz="1150" b="1" i="0">
                <a:solidFill>
                  <a:srgbClr val="028090"/>
                </a:solidFill>
                <a:latin typeface="Arial"/>
              </a:rPr>
              <a:t>РАЗДЕЛ 0 · РАЗБОР ДВУХ РЕЖИМОВ</a:t>
            </a:r>
          </a:p>
        </p:txBody>
      </p:sp>
      <p:sp>
        <p:nvSpPr>
          <p:cNvPr id="3" name="TextBox 2"/>
          <p:cNvSpPr txBox="1"/>
          <p:nvPr/>
        </p:nvSpPr>
        <p:spPr>
          <a:xfrm>
            <a:off x="502920" y="640080"/>
            <a:ext cx="11183112" cy="1188720"/>
          </a:xfrm>
          <a:prstGeom prst="rect">
            <a:avLst/>
          </a:prstGeom>
          <a:noFill/>
        </p:spPr>
        <p:txBody>
          <a:bodyPr wrap="square" lIns="0" rIns="0" tIns="0" bIns="0" anchor="t">
            <a:spAutoFit/>
          </a:bodyPr>
          <a:lstStyle/>
          <a:p>
            <a:pPr algn="l">
              <a:lnSpc>
                <a:spcPct val="114000"/>
              </a:lnSpc>
            </a:pPr>
            <a:r>
              <a:rPr sz="1450" b="1" i="0">
                <a:solidFill>
                  <a:srgbClr val="21295C"/>
                </a:solidFill>
                <a:latin typeface="Arial"/>
              </a:rPr>
              <a:t>И то и другое — не ошибка, а привычка, которая права ровно наполовину: специфичное для проекта ждёт сигнала, универсальная гигиена заводится сразу</a:t>
            </a:r>
          </a:p>
        </p:txBody>
      </p:sp>
      <p:sp>
        <p:nvSpPr>
          <p:cNvPr id="4" name="Rounded Rectangle 3"/>
          <p:cNvSpPr/>
          <p:nvPr/>
        </p:nvSpPr>
        <p:spPr>
          <a:xfrm>
            <a:off x="502920" y="1993392"/>
            <a:ext cx="11183112" cy="2743200"/>
          </a:xfrm>
          <a:prstGeom prst="roundRect">
            <a:avLst>
              <a:gd name="adj" fmla="val 11111"/>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22376" y="2176272"/>
            <a:ext cx="5225796" cy="292608"/>
          </a:xfrm>
          <a:prstGeom prst="rect">
            <a:avLst/>
          </a:prstGeom>
          <a:noFill/>
        </p:spPr>
        <p:txBody>
          <a:bodyPr wrap="square" lIns="0" rIns="0" tIns="0" bIns="0" anchor="t">
            <a:spAutoFit/>
          </a:bodyPr>
          <a:lstStyle/>
          <a:p>
            <a:pPr algn="l">
              <a:lnSpc>
                <a:spcPct val="115000"/>
              </a:lnSpc>
            </a:pPr>
            <a:r>
              <a:rPr sz="1300" b="1" i="0">
                <a:solidFill>
                  <a:srgbClr val="065A82"/>
                </a:solidFill>
                <a:latin typeface="Arial"/>
              </a:rPr>
              <a:t>СПЕЦИФИЧНОЕ ДЛЯ ПРОЕКТА — ЖДАТЬ СИГНАЛА</a:t>
            </a:r>
          </a:p>
        </p:txBody>
      </p:sp>
      <p:sp>
        <p:nvSpPr>
          <p:cNvPr id="6" name="TextBox 5"/>
          <p:cNvSpPr txBox="1"/>
          <p:nvPr/>
        </p:nvSpPr>
        <p:spPr>
          <a:xfrm>
            <a:off x="6240780" y="2176272"/>
            <a:ext cx="5225796" cy="292608"/>
          </a:xfrm>
          <a:prstGeom prst="rect">
            <a:avLst/>
          </a:prstGeom>
          <a:noFill/>
        </p:spPr>
        <p:txBody>
          <a:bodyPr wrap="square" lIns="0" rIns="0" tIns="0" bIns="0" anchor="t">
            <a:spAutoFit/>
          </a:bodyPr>
          <a:lstStyle/>
          <a:p>
            <a:pPr algn="l">
              <a:lnSpc>
                <a:spcPct val="115000"/>
              </a:lnSpc>
            </a:pPr>
            <a:r>
              <a:rPr sz="1300" b="1" i="0">
                <a:solidFill>
                  <a:srgbClr val="8A6200"/>
                </a:solidFill>
                <a:latin typeface="Arial"/>
              </a:rPr>
              <a:t>УНИВЕРСАЛЬНАЯ ГИГИЕНА — ДЕНЬ 0</a:t>
            </a:r>
          </a:p>
        </p:txBody>
      </p:sp>
      <p:sp>
        <p:nvSpPr>
          <p:cNvPr id="7" name="Rounded Rectangle 6"/>
          <p:cNvSpPr/>
          <p:nvPr/>
        </p:nvSpPr>
        <p:spPr>
          <a:xfrm>
            <a:off x="722376" y="2578608"/>
            <a:ext cx="5134356" cy="555711"/>
          </a:xfrm>
          <a:prstGeom prst="roundRect">
            <a:avLst>
              <a:gd name="adj" fmla="val 18000"/>
            </a:avLst>
          </a:prstGeom>
          <a:solidFill>
            <a:srgbClr val="F4F7FA"/>
          </a:solidFill>
          <a:ln w="1397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50392" y="2578608"/>
            <a:ext cx="4878324" cy="555711"/>
          </a:xfrm>
          <a:prstGeom prst="rect">
            <a:avLst/>
          </a:prstGeom>
          <a:noFill/>
        </p:spPr>
        <p:txBody>
          <a:bodyPr wrap="square" lIns="0" rIns="0" tIns="0" bIns="0" anchor="ctr">
            <a:spAutoFit/>
          </a:bodyPr>
          <a:lstStyle/>
          <a:p>
            <a:pPr algn="l">
              <a:lnSpc>
                <a:spcPct val="115000"/>
              </a:lnSpc>
            </a:pPr>
            <a:r>
              <a:rPr sz="1180" b="0" i="0">
                <a:solidFill>
                  <a:srgbClr val="21295C"/>
                </a:solidFill>
                <a:latin typeface="Arial"/>
              </a:rPr>
              <a:t>обзор репозитория</a:t>
            </a:r>
          </a:p>
        </p:txBody>
      </p:sp>
      <p:sp>
        <p:nvSpPr>
          <p:cNvPr id="9" name="Rounded Rectangle 8"/>
          <p:cNvSpPr/>
          <p:nvPr/>
        </p:nvSpPr>
        <p:spPr>
          <a:xfrm>
            <a:off x="6240780" y="2578608"/>
            <a:ext cx="5134356" cy="555711"/>
          </a:xfrm>
          <a:prstGeom prst="roundRect">
            <a:avLst>
              <a:gd name="adj" fmla="val 18000"/>
            </a:avLst>
          </a:prstGeom>
          <a:solidFill>
            <a:srgbClr val="FEF5E0"/>
          </a:solidFill>
          <a:ln w="16510">
            <a:solidFill>
              <a:srgbClr val="8A62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368796" y="2578608"/>
            <a:ext cx="4878324" cy="555711"/>
          </a:xfrm>
          <a:prstGeom prst="rect">
            <a:avLst/>
          </a:prstGeom>
          <a:noFill/>
        </p:spPr>
        <p:txBody>
          <a:bodyPr wrap="square" lIns="0" rIns="0" tIns="0" bIns="0" anchor="ctr">
            <a:spAutoFit/>
          </a:bodyPr>
          <a:lstStyle/>
          <a:p>
            <a:pPr algn="l">
              <a:lnSpc>
                <a:spcPct val="115000"/>
              </a:lnSpc>
            </a:pPr>
            <a:r>
              <a:rPr sz="1180" b="1" i="0">
                <a:solidFill>
                  <a:srgbClr val="8A6200"/>
                </a:solidFill>
                <a:latin typeface="Arial"/>
              </a:rPr>
              <a:t>гейт готовности</a:t>
            </a:r>
          </a:p>
        </p:txBody>
      </p:sp>
      <p:sp>
        <p:nvSpPr>
          <p:cNvPr id="11" name="Rounded Rectangle 10"/>
          <p:cNvSpPr/>
          <p:nvPr/>
        </p:nvSpPr>
        <p:spPr>
          <a:xfrm>
            <a:off x="722376" y="3211860"/>
            <a:ext cx="5134356" cy="555711"/>
          </a:xfrm>
          <a:prstGeom prst="roundRect">
            <a:avLst>
              <a:gd name="adj" fmla="val 18000"/>
            </a:avLst>
          </a:prstGeom>
          <a:solidFill>
            <a:srgbClr val="F4F7FA"/>
          </a:solidFill>
          <a:ln w="1397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50392" y="3211860"/>
            <a:ext cx="4878324" cy="555711"/>
          </a:xfrm>
          <a:prstGeom prst="rect">
            <a:avLst/>
          </a:prstGeom>
          <a:noFill/>
        </p:spPr>
        <p:txBody>
          <a:bodyPr wrap="square" lIns="0" rIns="0" tIns="0" bIns="0" anchor="ctr">
            <a:spAutoFit/>
          </a:bodyPr>
          <a:lstStyle/>
          <a:p>
            <a:pPr algn="l">
              <a:lnSpc>
                <a:spcPct val="115000"/>
              </a:lnSpc>
            </a:pPr>
            <a:r>
              <a:rPr sz="1180" b="0" i="0">
                <a:solidFill>
                  <a:srgbClr val="21295C"/>
                </a:solidFill>
                <a:latin typeface="Arial"/>
              </a:rPr>
              <a:t>вложенные файлы конвенций</a:t>
            </a:r>
          </a:p>
        </p:txBody>
      </p:sp>
      <p:sp>
        <p:nvSpPr>
          <p:cNvPr id="13" name="Rounded Rectangle 12"/>
          <p:cNvSpPr/>
          <p:nvPr/>
        </p:nvSpPr>
        <p:spPr>
          <a:xfrm>
            <a:off x="6240780" y="3211860"/>
            <a:ext cx="5134356" cy="555711"/>
          </a:xfrm>
          <a:prstGeom prst="roundRect">
            <a:avLst>
              <a:gd name="adj" fmla="val 18000"/>
            </a:avLst>
          </a:prstGeom>
          <a:solidFill>
            <a:srgbClr val="FEF5E0"/>
          </a:solidFill>
          <a:ln w="16510">
            <a:solidFill>
              <a:srgbClr val="8A62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368796" y="3211860"/>
            <a:ext cx="4878324" cy="555711"/>
          </a:xfrm>
          <a:prstGeom prst="rect">
            <a:avLst/>
          </a:prstGeom>
          <a:noFill/>
        </p:spPr>
        <p:txBody>
          <a:bodyPr wrap="square" lIns="0" rIns="0" tIns="0" bIns="0" anchor="ctr">
            <a:spAutoFit/>
          </a:bodyPr>
          <a:lstStyle/>
          <a:p>
            <a:pPr algn="l">
              <a:lnSpc>
                <a:spcPct val="115000"/>
              </a:lnSpc>
            </a:pPr>
            <a:r>
              <a:rPr sz="1180" b="1" i="0">
                <a:solidFill>
                  <a:srgbClr val="8A6200"/>
                </a:solidFill>
                <a:latin typeface="Arial"/>
              </a:rPr>
              <a:t>трекинг задач и решений</a:t>
            </a:r>
          </a:p>
        </p:txBody>
      </p:sp>
      <p:sp>
        <p:nvSpPr>
          <p:cNvPr id="15" name="Rounded Rectangle 14"/>
          <p:cNvSpPr/>
          <p:nvPr/>
        </p:nvSpPr>
        <p:spPr>
          <a:xfrm>
            <a:off x="722376" y="3845112"/>
            <a:ext cx="5134356" cy="555711"/>
          </a:xfrm>
          <a:prstGeom prst="roundRect">
            <a:avLst>
              <a:gd name="adj" fmla="val 18000"/>
            </a:avLst>
          </a:prstGeom>
          <a:solidFill>
            <a:srgbClr val="F4F7FA"/>
          </a:solidFill>
          <a:ln w="1397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50392" y="3845112"/>
            <a:ext cx="4878324" cy="555711"/>
          </a:xfrm>
          <a:prstGeom prst="rect">
            <a:avLst/>
          </a:prstGeom>
          <a:noFill/>
        </p:spPr>
        <p:txBody>
          <a:bodyPr wrap="square" lIns="0" rIns="0" tIns="0" bIns="0" anchor="ctr">
            <a:spAutoFit/>
          </a:bodyPr>
          <a:lstStyle/>
          <a:p>
            <a:pPr algn="l">
              <a:lnSpc>
                <a:spcPct val="115000"/>
              </a:lnSpc>
            </a:pPr>
            <a:r>
              <a:rPr sz="1180" b="0" i="0">
                <a:solidFill>
                  <a:srgbClr val="21295C"/>
                </a:solidFill>
                <a:latin typeface="Arial"/>
              </a:rPr>
              <a:t>сложная, многоуровневая память</a:t>
            </a:r>
          </a:p>
        </p:txBody>
      </p:sp>
      <p:sp>
        <p:nvSpPr>
          <p:cNvPr id="17" name="Rounded Rectangle 16"/>
          <p:cNvSpPr/>
          <p:nvPr/>
        </p:nvSpPr>
        <p:spPr>
          <a:xfrm>
            <a:off x="502920" y="4965192"/>
            <a:ext cx="11183112" cy="1435608"/>
          </a:xfrm>
          <a:prstGeom prst="roundRect">
            <a:avLst>
              <a:gd name="adj" fmla="val 10000"/>
            </a:avLst>
          </a:prstGeom>
          <a:solidFill>
            <a:srgbClr val="FEF5E0"/>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04088" y="5038344"/>
            <a:ext cx="10780776" cy="1289304"/>
          </a:xfrm>
          <a:prstGeom prst="rect">
            <a:avLst/>
          </a:prstGeom>
          <a:noFill/>
        </p:spPr>
        <p:txBody>
          <a:bodyPr wrap="square" lIns="0" rIns="0" tIns="0" bIns="0" anchor="ctr">
            <a:spAutoFit/>
          </a:bodyPr>
          <a:lstStyle/>
          <a:p>
            <a:pPr algn="l">
              <a:lnSpc>
                <a:spcPct val="122000"/>
              </a:lnSpc>
            </a:pPr>
            <a:r>
              <a:rPr sz="1230" b="1" i="0">
                <a:solidFill>
                  <a:srgbClr val="21295C"/>
                </a:solidFill>
                <a:latin typeface="Arial"/>
              </a:rPr>
              <a:t>«Это не то же самое, что ‘начинайте с малого всегда’. Лекция 3 говорила про тонкого агента — про отказ от структурной сложности. Это по-прежнему верно и по-прежнему ждёт сигнала. Но универсальная гигиена — другая категория, и здесь ‘жди боли’ — плохой совет. Сегодня — шесть развилок, ровно поровну.»</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29184"/>
            <a:ext cx="10515600" cy="292608"/>
          </a:xfrm>
          <a:prstGeom prst="rect">
            <a:avLst/>
          </a:prstGeom>
          <a:noFill/>
        </p:spPr>
        <p:txBody>
          <a:bodyPr wrap="square" lIns="0" rIns="0" tIns="0" bIns="0" anchor="t">
            <a:spAutoFit/>
          </a:bodyPr>
          <a:lstStyle/>
          <a:p>
            <a:pPr algn="l">
              <a:lnSpc>
                <a:spcPct val="115000"/>
              </a:lnSpc>
            </a:pPr>
            <a:r>
              <a:rPr sz="1150" b="1" i="0">
                <a:solidFill>
                  <a:srgbClr val="028090"/>
                </a:solidFill>
                <a:latin typeface="Arial"/>
              </a:rPr>
              <a:t>РАЗДЕЛ 0 · ОПОРНАЯ КАРТА</a:t>
            </a:r>
          </a:p>
        </p:txBody>
      </p:sp>
      <p:sp>
        <p:nvSpPr>
          <p:cNvPr id="3" name="TextBox 2"/>
          <p:cNvSpPr txBox="1"/>
          <p:nvPr/>
        </p:nvSpPr>
        <p:spPr>
          <a:xfrm>
            <a:off x="502920" y="640080"/>
            <a:ext cx="11183112" cy="1188720"/>
          </a:xfrm>
          <a:prstGeom prst="rect">
            <a:avLst/>
          </a:prstGeom>
          <a:noFill/>
        </p:spPr>
        <p:txBody>
          <a:bodyPr wrap="square" lIns="0" rIns="0" tIns="0" bIns="0" anchor="t">
            <a:spAutoFit/>
          </a:bodyPr>
          <a:lstStyle/>
          <a:p>
            <a:pPr algn="l">
              <a:lnSpc>
                <a:spcPct val="114000"/>
              </a:lnSpc>
            </a:pPr>
            <a:r>
              <a:rPr sz="1450" b="1" i="0">
                <a:solidFill>
                  <a:srgbClr val="21295C"/>
                </a:solidFill>
                <a:latin typeface="Arial"/>
              </a:rPr>
              <a:t>Из пяти слотов экипировки агента сегодня подробно разбираются два — инструкции-правила и память; остальные три и оба практических слоя — дальше, Семинаром 5</a:t>
            </a:r>
          </a:p>
        </p:txBody>
      </p:sp>
      <p:sp>
        <p:nvSpPr>
          <p:cNvPr id="4" name="Rounded Rectangle 3"/>
          <p:cNvSpPr/>
          <p:nvPr/>
        </p:nvSpPr>
        <p:spPr>
          <a:xfrm>
            <a:off x="502920" y="1993392"/>
            <a:ext cx="11183112" cy="1783080"/>
          </a:xfrm>
          <a:prstGeom prst="roundRect">
            <a:avLst>
              <a:gd name="adj" fmla="val 17094"/>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740664" y="2231136"/>
            <a:ext cx="2009851" cy="1307592"/>
          </a:xfrm>
          <a:prstGeom prst="roundRect">
            <a:avLst>
              <a:gd name="adj" fmla="val 12000"/>
            </a:avLst>
          </a:prstGeom>
          <a:solidFill>
            <a:srgbClr val="FEF5E0"/>
          </a:solidFill>
          <a:ln w="19050">
            <a:solidFill>
              <a:srgbClr val="8A62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40664" y="2322576"/>
            <a:ext cx="2009851" cy="256032"/>
          </a:xfrm>
          <a:prstGeom prst="rect">
            <a:avLst/>
          </a:prstGeom>
          <a:noFill/>
        </p:spPr>
        <p:txBody>
          <a:bodyPr wrap="square" lIns="0" rIns="0" tIns="0" bIns="0" anchor="t">
            <a:spAutoFit/>
          </a:bodyPr>
          <a:lstStyle/>
          <a:p>
            <a:pPr algn="ctr">
              <a:lnSpc>
                <a:spcPct val="115000"/>
              </a:lnSpc>
            </a:pPr>
            <a:r>
              <a:rPr sz="1300" b="1" i="0">
                <a:solidFill>
                  <a:srgbClr val="8A6200"/>
                </a:solidFill>
                <a:latin typeface="Arial"/>
              </a:rPr>
              <a:t>1</a:t>
            </a:r>
          </a:p>
        </p:txBody>
      </p:sp>
      <p:sp>
        <p:nvSpPr>
          <p:cNvPr id="7" name="TextBox 6"/>
          <p:cNvSpPr txBox="1"/>
          <p:nvPr/>
        </p:nvSpPr>
        <p:spPr>
          <a:xfrm>
            <a:off x="795528" y="2615184"/>
            <a:ext cx="1900123" cy="530352"/>
          </a:xfrm>
          <a:prstGeom prst="rect">
            <a:avLst/>
          </a:prstGeom>
          <a:noFill/>
        </p:spPr>
        <p:txBody>
          <a:bodyPr wrap="square" lIns="0" rIns="0" tIns="0" bIns="0" anchor="t">
            <a:spAutoFit/>
          </a:bodyPr>
          <a:lstStyle/>
          <a:p>
            <a:pPr algn="ctr">
              <a:lnSpc>
                <a:spcPct val="105000"/>
              </a:lnSpc>
              <a:spcAft>
                <a:spcPts val="0"/>
              </a:spcAft>
            </a:pPr>
            <a:r>
              <a:rPr sz="1230" b="1" i="0">
                <a:solidFill>
                  <a:srgbClr val="8A6200"/>
                </a:solidFill>
                <a:latin typeface="Arial"/>
              </a:rPr>
              <a:t>память</a:t>
            </a:r>
          </a:p>
        </p:txBody>
      </p:sp>
      <p:sp>
        <p:nvSpPr>
          <p:cNvPr id="8" name="TextBox 7"/>
          <p:cNvSpPr txBox="1"/>
          <p:nvPr/>
        </p:nvSpPr>
        <p:spPr>
          <a:xfrm>
            <a:off x="804672" y="3163824"/>
            <a:ext cx="1881835" cy="301751"/>
          </a:xfrm>
          <a:prstGeom prst="rect">
            <a:avLst/>
          </a:prstGeom>
          <a:noFill/>
        </p:spPr>
        <p:txBody>
          <a:bodyPr wrap="square" lIns="0" rIns="0" tIns="0" bIns="0" anchor="t">
            <a:spAutoFit/>
          </a:bodyPr>
          <a:lstStyle/>
          <a:p>
            <a:pPr algn="ctr">
              <a:lnSpc>
                <a:spcPct val="108000"/>
              </a:lnSpc>
            </a:pPr>
            <a:r>
              <a:rPr sz="919" b="0" i="1">
                <a:solidFill>
                  <a:srgbClr val="6B7685"/>
                </a:solidFill>
                <a:latin typeface="Arial"/>
              </a:rPr>
              <a:t>что агент помнит между сессиями</a:t>
            </a:r>
          </a:p>
        </p:txBody>
      </p:sp>
      <p:sp>
        <p:nvSpPr>
          <p:cNvPr id="9" name="Rounded Rectangle 8"/>
          <p:cNvSpPr/>
          <p:nvPr/>
        </p:nvSpPr>
        <p:spPr>
          <a:xfrm>
            <a:off x="2915107" y="2231136"/>
            <a:ext cx="2009851" cy="1307592"/>
          </a:xfrm>
          <a:prstGeom prst="roundRect">
            <a:avLst>
              <a:gd name="adj" fmla="val 12000"/>
            </a:avLst>
          </a:prstGeom>
          <a:solidFill>
            <a:srgbClr val="FEF5E0"/>
          </a:solidFill>
          <a:ln w="19050">
            <a:solidFill>
              <a:srgbClr val="8A62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915107" y="2322576"/>
            <a:ext cx="2009851" cy="256032"/>
          </a:xfrm>
          <a:prstGeom prst="rect">
            <a:avLst/>
          </a:prstGeom>
          <a:noFill/>
        </p:spPr>
        <p:txBody>
          <a:bodyPr wrap="square" lIns="0" rIns="0" tIns="0" bIns="0" anchor="t">
            <a:spAutoFit/>
          </a:bodyPr>
          <a:lstStyle/>
          <a:p>
            <a:pPr algn="ctr">
              <a:lnSpc>
                <a:spcPct val="115000"/>
              </a:lnSpc>
            </a:pPr>
            <a:r>
              <a:rPr sz="1300" b="1" i="0">
                <a:solidFill>
                  <a:srgbClr val="8A6200"/>
                </a:solidFill>
                <a:latin typeface="Arial"/>
              </a:rPr>
              <a:t>2</a:t>
            </a:r>
          </a:p>
        </p:txBody>
      </p:sp>
      <p:sp>
        <p:nvSpPr>
          <p:cNvPr id="11" name="TextBox 10"/>
          <p:cNvSpPr txBox="1"/>
          <p:nvPr/>
        </p:nvSpPr>
        <p:spPr>
          <a:xfrm>
            <a:off x="2969971" y="2615184"/>
            <a:ext cx="1900123" cy="530352"/>
          </a:xfrm>
          <a:prstGeom prst="rect">
            <a:avLst/>
          </a:prstGeom>
          <a:noFill/>
        </p:spPr>
        <p:txBody>
          <a:bodyPr wrap="square" lIns="0" rIns="0" tIns="0" bIns="0" anchor="t">
            <a:spAutoFit/>
          </a:bodyPr>
          <a:lstStyle/>
          <a:p>
            <a:pPr algn="ctr">
              <a:lnSpc>
                <a:spcPct val="105000"/>
              </a:lnSpc>
              <a:spcAft>
                <a:spcPts val="0"/>
              </a:spcAft>
            </a:pPr>
            <a:r>
              <a:rPr sz="1230" b="1" i="0">
                <a:solidFill>
                  <a:srgbClr val="8A6200"/>
                </a:solidFill>
                <a:latin typeface="Arial"/>
              </a:rPr>
              <a:t>инструкции-</a:t>
            </a:r>
          </a:p>
          <a:p>
            <a:pPr algn="ctr">
              <a:lnSpc>
                <a:spcPct val="105000"/>
              </a:lnSpc>
              <a:spcAft>
                <a:spcPts val="0"/>
              </a:spcAft>
            </a:pPr>
            <a:r>
              <a:rPr sz="1230" b="1" i="0">
                <a:solidFill>
                  <a:srgbClr val="8A6200"/>
                </a:solidFill>
                <a:latin typeface="Arial"/>
              </a:rPr>
              <a:t>правила</a:t>
            </a:r>
          </a:p>
        </p:txBody>
      </p:sp>
      <p:sp>
        <p:nvSpPr>
          <p:cNvPr id="12" name="TextBox 11"/>
          <p:cNvSpPr txBox="1"/>
          <p:nvPr/>
        </p:nvSpPr>
        <p:spPr>
          <a:xfrm>
            <a:off x="2979115" y="3163824"/>
            <a:ext cx="1881835" cy="301751"/>
          </a:xfrm>
          <a:prstGeom prst="rect">
            <a:avLst/>
          </a:prstGeom>
          <a:noFill/>
        </p:spPr>
        <p:txBody>
          <a:bodyPr wrap="square" lIns="0" rIns="0" tIns="0" bIns="0" anchor="t">
            <a:spAutoFit/>
          </a:bodyPr>
          <a:lstStyle/>
          <a:p>
            <a:pPr algn="ctr">
              <a:lnSpc>
                <a:spcPct val="108000"/>
              </a:lnSpc>
            </a:pPr>
            <a:r>
              <a:rPr sz="919" b="0" i="1">
                <a:solidFill>
                  <a:srgbClr val="6B7685"/>
                </a:solidFill>
                <a:latin typeface="Arial"/>
              </a:rPr>
              <a:t>файл-конвенция проекта + журнал задач</a:t>
            </a:r>
          </a:p>
        </p:txBody>
      </p:sp>
      <p:sp>
        <p:nvSpPr>
          <p:cNvPr id="13" name="Rounded Rectangle 12"/>
          <p:cNvSpPr/>
          <p:nvPr/>
        </p:nvSpPr>
        <p:spPr>
          <a:xfrm>
            <a:off x="5089550" y="2231136"/>
            <a:ext cx="2009851" cy="1307592"/>
          </a:xfrm>
          <a:prstGeom prst="roundRect">
            <a:avLst>
              <a:gd name="adj" fmla="val 12000"/>
            </a:avLst>
          </a:prstGeom>
          <a:solidFill>
            <a:srgbClr val="E4E9EF"/>
          </a:solidFill>
          <a:ln w="13970">
            <a:solidFill>
              <a:srgbClr val="6B768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089550" y="2322576"/>
            <a:ext cx="2009851" cy="256032"/>
          </a:xfrm>
          <a:prstGeom prst="rect">
            <a:avLst/>
          </a:prstGeom>
          <a:noFill/>
        </p:spPr>
        <p:txBody>
          <a:bodyPr wrap="square" lIns="0" rIns="0" tIns="0" bIns="0" anchor="t">
            <a:spAutoFit/>
          </a:bodyPr>
          <a:lstStyle/>
          <a:p>
            <a:pPr algn="ctr">
              <a:lnSpc>
                <a:spcPct val="115000"/>
              </a:lnSpc>
            </a:pPr>
            <a:r>
              <a:rPr sz="1300" b="1" i="0">
                <a:solidFill>
                  <a:srgbClr val="6B7685"/>
                </a:solidFill>
                <a:latin typeface="Arial"/>
              </a:rPr>
              <a:t>3</a:t>
            </a:r>
          </a:p>
        </p:txBody>
      </p:sp>
      <p:sp>
        <p:nvSpPr>
          <p:cNvPr id="15" name="TextBox 14"/>
          <p:cNvSpPr txBox="1"/>
          <p:nvPr/>
        </p:nvSpPr>
        <p:spPr>
          <a:xfrm>
            <a:off x="5144414" y="2615184"/>
            <a:ext cx="1900123" cy="530352"/>
          </a:xfrm>
          <a:prstGeom prst="rect">
            <a:avLst/>
          </a:prstGeom>
          <a:noFill/>
        </p:spPr>
        <p:txBody>
          <a:bodyPr wrap="square" lIns="0" rIns="0" tIns="0" bIns="0" anchor="t">
            <a:spAutoFit/>
          </a:bodyPr>
          <a:lstStyle/>
          <a:p>
            <a:pPr algn="ctr">
              <a:lnSpc>
                <a:spcPct val="105000"/>
              </a:lnSpc>
              <a:spcAft>
                <a:spcPts val="0"/>
              </a:spcAft>
            </a:pPr>
            <a:r>
              <a:rPr sz="1230" b="1" i="0">
                <a:solidFill>
                  <a:srgbClr val="21295C"/>
                </a:solidFill>
                <a:latin typeface="Arial"/>
              </a:rPr>
              <a:t>скиллы</a:t>
            </a:r>
          </a:p>
        </p:txBody>
      </p:sp>
      <p:sp>
        <p:nvSpPr>
          <p:cNvPr id="16" name="TextBox 15"/>
          <p:cNvSpPr txBox="1"/>
          <p:nvPr/>
        </p:nvSpPr>
        <p:spPr>
          <a:xfrm>
            <a:off x="5153558" y="3163824"/>
            <a:ext cx="1881835" cy="301751"/>
          </a:xfrm>
          <a:prstGeom prst="rect">
            <a:avLst/>
          </a:prstGeom>
          <a:noFill/>
        </p:spPr>
        <p:txBody>
          <a:bodyPr wrap="square" lIns="0" rIns="0" tIns="0" bIns="0" anchor="t">
            <a:spAutoFit/>
          </a:bodyPr>
          <a:lstStyle/>
          <a:p>
            <a:pPr algn="ctr">
              <a:lnSpc>
                <a:spcPct val="108000"/>
              </a:lnSpc>
            </a:pPr>
            <a:r>
              <a:rPr sz="919" b="0" i="1">
                <a:solidFill>
                  <a:srgbClr val="6B7685"/>
                </a:solidFill>
                <a:latin typeface="Arial"/>
              </a:rPr>
              <a:t>переиспользуемые процедуры под повторяющиеся задачи</a:t>
            </a:r>
          </a:p>
        </p:txBody>
      </p:sp>
      <p:sp>
        <p:nvSpPr>
          <p:cNvPr id="17" name="Rounded Rectangle 16"/>
          <p:cNvSpPr/>
          <p:nvPr/>
        </p:nvSpPr>
        <p:spPr>
          <a:xfrm>
            <a:off x="7263993" y="2231136"/>
            <a:ext cx="2009851" cy="1307592"/>
          </a:xfrm>
          <a:prstGeom prst="roundRect">
            <a:avLst>
              <a:gd name="adj" fmla="val 12000"/>
            </a:avLst>
          </a:prstGeom>
          <a:solidFill>
            <a:srgbClr val="E4E9EF"/>
          </a:solidFill>
          <a:ln w="13970">
            <a:solidFill>
              <a:srgbClr val="6B768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263993" y="2322576"/>
            <a:ext cx="2009851" cy="256032"/>
          </a:xfrm>
          <a:prstGeom prst="rect">
            <a:avLst/>
          </a:prstGeom>
          <a:noFill/>
        </p:spPr>
        <p:txBody>
          <a:bodyPr wrap="square" lIns="0" rIns="0" tIns="0" bIns="0" anchor="t">
            <a:spAutoFit/>
          </a:bodyPr>
          <a:lstStyle/>
          <a:p>
            <a:pPr algn="ctr">
              <a:lnSpc>
                <a:spcPct val="115000"/>
              </a:lnSpc>
            </a:pPr>
            <a:r>
              <a:rPr sz="1300" b="1" i="0">
                <a:solidFill>
                  <a:srgbClr val="6B7685"/>
                </a:solidFill>
                <a:latin typeface="Arial"/>
              </a:rPr>
              <a:t>4</a:t>
            </a:r>
          </a:p>
        </p:txBody>
      </p:sp>
      <p:sp>
        <p:nvSpPr>
          <p:cNvPr id="19" name="TextBox 18"/>
          <p:cNvSpPr txBox="1"/>
          <p:nvPr/>
        </p:nvSpPr>
        <p:spPr>
          <a:xfrm>
            <a:off x="7318857" y="2615184"/>
            <a:ext cx="1900123" cy="530352"/>
          </a:xfrm>
          <a:prstGeom prst="rect">
            <a:avLst/>
          </a:prstGeom>
          <a:noFill/>
        </p:spPr>
        <p:txBody>
          <a:bodyPr wrap="square" lIns="0" rIns="0" tIns="0" bIns="0" anchor="t">
            <a:spAutoFit/>
          </a:bodyPr>
          <a:lstStyle/>
          <a:p>
            <a:pPr algn="ctr">
              <a:lnSpc>
                <a:spcPct val="105000"/>
              </a:lnSpc>
              <a:spcAft>
                <a:spcPts val="0"/>
              </a:spcAft>
            </a:pPr>
            <a:r>
              <a:rPr sz="1230" b="1" i="0">
                <a:solidFill>
                  <a:srgbClr val="21295C"/>
                </a:solidFill>
                <a:latin typeface="Arial"/>
              </a:rPr>
              <a:t>субагенты</a:t>
            </a:r>
          </a:p>
        </p:txBody>
      </p:sp>
      <p:sp>
        <p:nvSpPr>
          <p:cNvPr id="20" name="TextBox 19"/>
          <p:cNvSpPr txBox="1"/>
          <p:nvPr/>
        </p:nvSpPr>
        <p:spPr>
          <a:xfrm>
            <a:off x="7328001" y="3163824"/>
            <a:ext cx="1881835" cy="301751"/>
          </a:xfrm>
          <a:prstGeom prst="rect">
            <a:avLst/>
          </a:prstGeom>
          <a:noFill/>
        </p:spPr>
        <p:txBody>
          <a:bodyPr wrap="square" lIns="0" rIns="0" tIns="0" bIns="0" anchor="t">
            <a:spAutoFit/>
          </a:bodyPr>
          <a:lstStyle/>
          <a:p>
            <a:pPr algn="ctr">
              <a:lnSpc>
                <a:spcPct val="108000"/>
              </a:lnSpc>
            </a:pPr>
            <a:r>
              <a:rPr sz="919" b="0" i="1">
                <a:solidFill>
                  <a:srgbClr val="6B7685"/>
                </a:solidFill>
                <a:latin typeface="Arial"/>
              </a:rPr>
              <a:t>делегирование с отдельным контекстным окном</a:t>
            </a:r>
          </a:p>
        </p:txBody>
      </p:sp>
      <p:sp>
        <p:nvSpPr>
          <p:cNvPr id="21" name="Rounded Rectangle 20"/>
          <p:cNvSpPr/>
          <p:nvPr/>
        </p:nvSpPr>
        <p:spPr>
          <a:xfrm>
            <a:off x="9438436" y="2231136"/>
            <a:ext cx="2009851" cy="1307592"/>
          </a:xfrm>
          <a:prstGeom prst="roundRect">
            <a:avLst>
              <a:gd name="adj" fmla="val 12000"/>
            </a:avLst>
          </a:prstGeom>
          <a:solidFill>
            <a:srgbClr val="E4E9EF"/>
          </a:solidFill>
          <a:ln w="13970">
            <a:solidFill>
              <a:srgbClr val="6B768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9438436" y="2322576"/>
            <a:ext cx="2009851" cy="256032"/>
          </a:xfrm>
          <a:prstGeom prst="rect">
            <a:avLst/>
          </a:prstGeom>
          <a:noFill/>
        </p:spPr>
        <p:txBody>
          <a:bodyPr wrap="square" lIns="0" rIns="0" tIns="0" bIns="0" anchor="t">
            <a:spAutoFit/>
          </a:bodyPr>
          <a:lstStyle/>
          <a:p>
            <a:pPr algn="ctr">
              <a:lnSpc>
                <a:spcPct val="115000"/>
              </a:lnSpc>
            </a:pPr>
            <a:r>
              <a:rPr sz="1300" b="1" i="0">
                <a:solidFill>
                  <a:srgbClr val="6B7685"/>
                </a:solidFill>
                <a:latin typeface="Arial"/>
              </a:rPr>
              <a:t>5</a:t>
            </a:r>
          </a:p>
        </p:txBody>
      </p:sp>
      <p:sp>
        <p:nvSpPr>
          <p:cNvPr id="23" name="TextBox 22"/>
          <p:cNvSpPr txBox="1"/>
          <p:nvPr/>
        </p:nvSpPr>
        <p:spPr>
          <a:xfrm>
            <a:off x="9493300" y="2615184"/>
            <a:ext cx="1900123" cy="530352"/>
          </a:xfrm>
          <a:prstGeom prst="rect">
            <a:avLst/>
          </a:prstGeom>
          <a:noFill/>
        </p:spPr>
        <p:txBody>
          <a:bodyPr wrap="square" lIns="0" rIns="0" tIns="0" bIns="0" anchor="t">
            <a:spAutoFit/>
          </a:bodyPr>
          <a:lstStyle/>
          <a:p>
            <a:pPr algn="ctr">
              <a:lnSpc>
                <a:spcPct val="105000"/>
              </a:lnSpc>
              <a:spcAft>
                <a:spcPts val="0"/>
              </a:spcAft>
            </a:pPr>
            <a:r>
              <a:rPr sz="1230" b="1" i="0">
                <a:solidFill>
                  <a:srgbClr val="21295C"/>
                </a:solidFill>
                <a:latin typeface="Arial"/>
              </a:rPr>
              <a:t>доступ</a:t>
            </a:r>
          </a:p>
          <a:p>
            <a:pPr algn="ctr">
              <a:lnSpc>
                <a:spcPct val="105000"/>
              </a:lnSpc>
              <a:spcAft>
                <a:spcPts val="0"/>
              </a:spcAft>
            </a:pPr>
            <a:r>
              <a:rPr sz="1230" b="1" i="0">
                <a:solidFill>
                  <a:srgbClr val="21295C"/>
                </a:solidFill>
                <a:latin typeface="Arial"/>
              </a:rPr>
              <a:t>наружу (MCP)</a:t>
            </a:r>
          </a:p>
        </p:txBody>
      </p:sp>
      <p:sp>
        <p:nvSpPr>
          <p:cNvPr id="24" name="TextBox 23"/>
          <p:cNvSpPr txBox="1"/>
          <p:nvPr/>
        </p:nvSpPr>
        <p:spPr>
          <a:xfrm>
            <a:off x="9502444" y="3163824"/>
            <a:ext cx="1881835" cy="301751"/>
          </a:xfrm>
          <a:prstGeom prst="rect">
            <a:avLst/>
          </a:prstGeom>
          <a:noFill/>
        </p:spPr>
        <p:txBody>
          <a:bodyPr wrap="square" lIns="0" rIns="0" tIns="0" bIns="0" anchor="t">
            <a:spAutoFit/>
          </a:bodyPr>
          <a:lstStyle/>
          <a:p>
            <a:pPr algn="ctr">
              <a:lnSpc>
                <a:spcPct val="108000"/>
              </a:lnSpc>
            </a:pPr>
            <a:r>
              <a:rPr sz="919" b="0" i="1">
                <a:solidFill>
                  <a:srgbClr val="6B7685"/>
                </a:solidFill>
                <a:latin typeface="Arial"/>
              </a:rPr>
              <a:t>доступ к внешним системам</a:t>
            </a:r>
          </a:p>
        </p:txBody>
      </p:sp>
      <p:sp>
        <p:nvSpPr>
          <p:cNvPr id="25" name="TextBox 24"/>
          <p:cNvSpPr txBox="1"/>
          <p:nvPr/>
        </p:nvSpPr>
        <p:spPr>
          <a:xfrm>
            <a:off x="502920" y="3959352"/>
            <a:ext cx="11183112" cy="502920"/>
          </a:xfrm>
          <a:prstGeom prst="rect">
            <a:avLst/>
          </a:prstGeom>
          <a:noFill/>
        </p:spPr>
        <p:txBody>
          <a:bodyPr wrap="square" lIns="0" rIns="0" tIns="0" bIns="0" anchor="t">
            <a:spAutoFit/>
          </a:bodyPr>
          <a:lstStyle/>
          <a:p>
            <a:pPr algn="ctr">
              <a:lnSpc>
                <a:spcPct val="120000"/>
              </a:lnSpc>
            </a:pPr>
            <a:r>
              <a:rPr sz="1450" b="1" i="1">
                <a:solidFill>
                  <a:srgbClr val="065A82"/>
                </a:solidFill>
                <a:latin typeface="Arial"/>
              </a:rPr>
              <a:t>Сегодня подробно — два. Дальше, Семинар 5: скиллы, субагенты, доступ наружу + хук, процесс.</a:t>
            </a:r>
          </a:p>
        </p:txBody>
      </p:sp>
      <p:sp>
        <p:nvSpPr>
          <p:cNvPr id="26" name="Rounded Rectangle 25"/>
          <p:cNvSpPr/>
          <p:nvPr/>
        </p:nvSpPr>
        <p:spPr>
          <a:xfrm>
            <a:off x="502920" y="4507992"/>
            <a:ext cx="11183112" cy="1892808"/>
          </a:xfrm>
          <a:prstGeom prst="roundRect">
            <a:avLst>
              <a:gd name="adj" fmla="val 10000"/>
            </a:avLst>
          </a:prstGeom>
          <a:solidFill>
            <a:srgbClr val="FEF5E0"/>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704088" y="4581144"/>
            <a:ext cx="10780776" cy="1746504"/>
          </a:xfrm>
          <a:prstGeom prst="rect">
            <a:avLst/>
          </a:prstGeom>
          <a:noFill/>
        </p:spPr>
        <p:txBody>
          <a:bodyPr wrap="square" lIns="0" rIns="0" tIns="0" bIns="0" anchor="ctr">
            <a:spAutoFit/>
          </a:bodyPr>
          <a:lstStyle/>
          <a:p>
            <a:pPr algn="l">
              <a:lnSpc>
                <a:spcPct val="122000"/>
              </a:lnSpc>
            </a:pPr>
            <a:r>
              <a:rPr sz="1300" b="1" i="0">
                <a:solidFill>
                  <a:srgbClr val="21295C"/>
                </a:solidFill>
                <a:latin typeface="Arial"/>
              </a:rPr>
              <a:t>«Оставайтесь на самой нижней ступени, которая закрывает требование задачи. Поднимайтесь на следующую только тогда, когда можете назвать требование, которое текущая ступень не закрывает. Каждый подъём оплачивается новой стоимостью, новыми режимами отказа и новой поверхностью атаки.»</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ln>
            <a:noFill/>
          </a:ln>
          <a:effectLst/>
          <a:gradFill rotWithShape="1">
            <a:gsLst>
              <a:gs pos="0">
                <a:srgbClr val="21295C"/>
              </a:gs>
              <a:gs pos="55000">
                <a:srgbClr val="065A82"/>
              </a:gs>
              <a:gs pos="100000">
                <a:srgbClr val="1C7293"/>
              </a:gs>
            </a:gsLst>
            <a:lin ang="2700000" scaled="1"/>
          </a:gra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9646919" y="4617720"/>
            <a:ext cx="1783080" cy="1783080"/>
          </a:xfrm>
          <a:prstGeom prst="roundRect">
            <a:avLst>
              <a:gd name="adj" fmla="val 18000"/>
            </a:avLst>
          </a:prstGeom>
          <a:solidFill>
            <a:srgbClr val="0B14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file-text-F0AB00-128.png"/>
          <p:cNvPicPr>
            <a:picLocks noChangeAspect="1"/>
          </p:cNvPicPr>
          <p:nvPr/>
        </p:nvPicPr>
        <p:blipFill>
          <a:blip r:embed="rId2"/>
          <a:stretch>
            <a:fillRect/>
          </a:stretch>
        </p:blipFill>
        <p:spPr>
          <a:xfrm>
            <a:off x="9921240" y="4892040"/>
            <a:ext cx="1234440" cy="1234440"/>
          </a:xfrm>
          <a:prstGeom prst="rect">
            <a:avLst/>
          </a:prstGeom>
        </p:spPr>
      </p:pic>
      <p:sp>
        <p:nvSpPr>
          <p:cNvPr id="5" name="Rounded Rectangle 4"/>
          <p:cNvSpPr/>
          <p:nvPr/>
        </p:nvSpPr>
        <p:spPr>
          <a:xfrm>
            <a:off x="502920" y="411480"/>
            <a:ext cx="2478024" cy="256032"/>
          </a:xfrm>
          <a:prstGeom prst="roundRect">
            <a:avLst>
              <a:gd name="adj" fmla="val 40000"/>
            </a:avLst>
          </a:prstGeom>
          <a:solidFill>
            <a:srgbClr val="3E4C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3090672" y="411480"/>
            <a:ext cx="2478024" cy="256032"/>
          </a:xfrm>
          <a:prstGeom prst="roundRect">
            <a:avLst>
              <a:gd name="adj" fmla="val 4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5678424" y="411480"/>
            <a:ext cx="2478024" cy="256032"/>
          </a:xfrm>
          <a:prstGeom prst="roundRect">
            <a:avLst>
              <a:gd name="adj" fmla="val 40000"/>
            </a:avLst>
          </a:prstGeom>
          <a:solidFill>
            <a:srgbClr val="3E4C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8266175" y="411480"/>
            <a:ext cx="2478024" cy="256032"/>
          </a:xfrm>
          <a:prstGeom prst="roundRect">
            <a:avLst>
              <a:gd name="adj" fmla="val 40000"/>
            </a:avLst>
          </a:prstGeom>
          <a:solidFill>
            <a:srgbClr val="3E4C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566928" y="1069848"/>
            <a:ext cx="694944" cy="694944"/>
          </a:xfrm>
          <a:prstGeom prst="ellipse">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66928" y="1069848"/>
            <a:ext cx="694944" cy="694944"/>
          </a:xfrm>
          <a:prstGeom prst="rect">
            <a:avLst/>
          </a:prstGeom>
          <a:noFill/>
        </p:spPr>
        <p:txBody>
          <a:bodyPr wrap="square" lIns="0" rIns="0" tIns="0" bIns="0" anchor="ctr">
            <a:spAutoFit/>
          </a:bodyPr>
          <a:lstStyle/>
          <a:p>
            <a:pPr algn="ctr">
              <a:lnSpc>
                <a:spcPct val="115000"/>
              </a:lnSpc>
            </a:pPr>
            <a:r>
              <a:rPr sz="2600" b="1" i="0">
                <a:solidFill>
                  <a:srgbClr val="21295C"/>
                </a:solidFill>
                <a:latin typeface="Arial"/>
              </a:rPr>
              <a:t>1</a:t>
            </a:r>
          </a:p>
        </p:txBody>
      </p:sp>
      <p:sp>
        <p:nvSpPr>
          <p:cNvPr id="11" name="TextBox 10"/>
          <p:cNvSpPr txBox="1"/>
          <p:nvPr/>
        </p:nvSpPr>
        <p:spPr>
          <a:xfrm>
            <a:off x="1508760" y="1508760"/>
            <a:ext cx="8869680" cy="1005840"/>
          </a:xfrm>
          <a:prstGeom prst="rect">
            <a:avLst/>
          </a:prstGeom>
          <a:noFill/>
        </p:spPr>
        <p:txBody>
          <a:bodyPr wrap="square" lIns="0" rIns="0" tIns="0" bIns="0" anchor="t">
            <a:spAutoFit/>
          </a:bodyPr>
          <a:lstStyle/>
          <a:p>
            <a:pPr algn="l">
              <a:lnSpc>
                <a:spcPct val="105000"/>
              </a:lnSpc>
            </a:pPr>
            <a:r>
              <a:rPr sz="3600" b="1" i="0">
                <a:solidFill>
                  <a:srgbClr val="FFFFFF"/>
                </a:solidFill>
                <a:latin typeface="Arial"/>
              </a:rPr>
              <a:t>Раздел 1 · файл инструкций</a:t>
            </a:r>
          </a:p>
        </p:txBody>
      </p:sp>
      <p:sp>
        <p:nvSpPr>
          <p:cNvPr id="12" name="Rounded Rectangle 11"/>
          <p:cNvSpPr/>
          <p:nvPr/>
        </p:nvSpPr>
        <p:spPr>
          <a:xfrm>
            <a:off x="822960" y="2788920"/>
            <a:ext cx="128016" cy="128016"/>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97280" y="2679191"/>
            <a:ext cx="8046720" cy="384048"/>
          </a:xfrm>
          <a:prstGeom prst="rect">
            <a:avLst/>
          </a:prstGeom>
          <a:noFill/>
        </p:spPr>
        <p:txBody>
          <a:bodyPr wrap="square" lIns="0" rIns="0" tIns="0" bIns="0" anchor="t">
            <a:spAutoFit/>
          </a:bodyPr>
          <a:lstStyle/>
          <a:p>
            <a:pPr algn="l">
              <a:lnSpc>
                <a:spcPct val="115000"/>
              </a:lnSpc>
            </a:pPr>
            <a:r>
              <a:rPr sz="1650" b="0" i="0">
                <a:solidFill>
                  <a:srgbClr val="E1E9F6"/>
                </a:solidFill>
                <a:latin typeface="Arial"/>
              </a:rPr>
              <a:t>Кейс 1.1 · роль агента и репозиторий</a:t>
            </a:r>
          </a:p>
        </p:txBody>
      </p:sp>
      <p:sp>
        <p:nvSpPr>
          <p:cNvPr id="14" name="Rounded Rectangle 13"/>
          <p:cNvSpPr/>
          <p:nvPr/>
        </p:nvSpPr>
        <p:spPr>
          <a:xfrm>
            <a:off x="822960" y="3300984"/>
            <a:ext cx="128016" cy="128016"/>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097280" y="3191256"/>
            <a:ext cx="8046720" cy="384048"/>
          </a:xfrm>
          <a:prstGeom prst="rect">
            <a:avLst/>
          </a:prstGeom>
          <a:noFill/>
        </p:spPr>
        <p:txBody>
          <a:bodyPr wrap="square" lIns="0" rIns="0" tIns="0" bIns="0" anchor="t">
            <a:spAutoFit/>
          </a:bodyPr>
          <a:lstStyle/>
          <a:p>
            <a:pPr algn="l">
              <a:lnSpc>
                <a:spcPct val="115000"/>
              </a:lnSpc>
            </a:pPr>
            <a:r>
              <a:rPr sz="1650" b="0" i="0">
                <a:solidFill>
                  <a:srgbClr val="E1E9F6"/>
                </a:solidFill>
                <a:latin typeface="Arial"/>
              </a:rPr>
              <a:t>Кейс 1.2 · базовые процессы: гейты и цикл улучшения</a:t>
            </a:r>
          </a:p>
        </p:txBody>
      </p:sp>
      <p:sp>
        <p:nvSpPr>
          <p:cNvPr id="16" name="Rounded Rectangle 15"/>
          <p:cNvSpPr/>
          <p:nvPr/>
        </p:nvSpPr>
        <p:spPr>
          <a:xfrm>
            <a:off x="822960" y="3813048"/>
            <a:ext cx="128016" cy="128016"/>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097280" y="3703320"/>
            <a:ext cx="8046720" cy="384048"/>
          </a:xfrm>
          <a:prstGeom prst="rect">
            <a:avLst/>
          </a:prstGeom>
          <a:noFill/>
        </p:spPr>
        <p:txBody>
          <a:bodyPr wrap="square" lIns="0" rIns="0" tIns="0" bIns="0" anchor="t">
            <a:spAutoFit/>
          </a:bodyPr>
          <a:lstStyle/>
          <a:p>
            <a:pPr algn="l">
              <a:lnSpc>
                <a:spcPct val="115000"/>
              </a:lnSpc>
            </a:pPr>
            <a:r>
              <a:rPr sz="1650" b="0" i="0">
                <a:solidFill>
                  <a:srgbClr val="E1E9F6"/>
                </a:solidFill>
                <a:latin typeface="Arial"/>
              </a:rPr>
              <a:t>Кейс 1.3 · вложенные файлы по подпапкам</a:t>
            </a:r>
          </a:p>
        </p:txBody>
      </p:sp>
      <p:sp>
        <p:nvSpPr>
          <p:cNvPr id="18" name="Rounded Rectangle 17"/>
          <p:cNvSpPr/>
          <p:nvPr/>
        </p:nvSpPr>
        <p:spPr>
          <a:xfrm>
            <a:off x="822960" y="4553712"/>
            <a:ext cx="5120640" cy="502920"/>
          </a:xfrm>
          <a:prstGeom prst="roundRect">
            <a:avLst>
              <a:gd name="adj" fmla="val 28000"/>
            </a:avLst>
          </a:prstGeom>
          <a:solidFill>
            <a:srgbClr val="0B143A"/>
          </a:solidFill>
          <a:ln w="1524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078992" y="4553712"/>
            <a:ext cx="4608575" cy="502920"/>
          </a:xfrm>
          <a:prstGeom prst="rect">
            <a:avLst/>
          </a:prstGeom>
          <a:noFill/>
        </p:spPr>
        <p:txBody>
          <a:bodyPr wrap="square" lIns="0" rIns="0" tIns="0" bIns="0" anchor="ctr">
            <a:spAutoFit/>
          </a:bodyPr>
          <a:lstStyle/>
          <a:p>
            <a:pPr algn="ctr">
              <a:lnSpc>
                <a:spcPct val="115000"/>
              </a:lnSpc>
            </a:pPr>
            <a:r>
              <a:rPr sz="1150" b="1" i="0">
                <a:solidFill>
                  <a:srgbClr val="F0AB00"/>
                </a:solidFill>
                <a:latin typeface="Arial"/>
              </a:rPr>
              <a:t>ОДИН ФАЙЛ, ТРИ РАЗВИЛКИ</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ln>
            <a:noFill/>
          </a:ln>
          <a:effectLst/>
          <a:gradFill rotWithShape="1">
            <a:gsLst>
              <a:gs pos="0">
                <a:srgbClr val="21295C"/>
              </a:gs>
              <a:gs pos="55000">
                <a:srgbClr val="065A82"/>
              </a:gs>
              <a:gs pos="100000">
                <a:srgbClr val="1C7293"/>
              </a:gs>
            </a:gsLst>
            <a:lin ang="2700000" scaled="1"/>
          </a:gra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9646919" y="4617720"/>
            <a:ext cx="1783080" cy="1783080"/>
          </a:xfrm>
          <a:prstGeom prst="roundRect">
            <a:avLst>
              <a:gd name="adj" fmla="val 18000"/>
            </a:avLst>
          </a:prstGeom>
          <a:solidFill>
            <a:srgbClr val="0B14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file-text-F0AB00-128.png"/>
          <p:cNvPicPr>
            <a:picLocks noChangeAspect="1"/>
          </p:cNvPicPr>
          <p:nvPr/>
        </p:nvPicPr>
        <p:blipFill>
          <a:blip r:embed="rId2"/>
          <a:stretch>
            <a:fillRect/>
          </a:stretch>
        </p:blipFill>
        <p:spPr>
          <a:xfrm>
            <a:off x="9921240" y="4892040"/>
            <a:ext cx="1234440" cy="1234440"/>
          </a:xfrm>
          <a:prstGeom prst="rect">
            <a:avLst/>
          </a:prstGeom>
        </p:spPr>
      </p:pic>
      <p:sp>
        <p:nvSpPr>
          <p:cNvPr id="5" name="Rounded Rectangle 4"/>
          <p:cNvSpPr/>
          <p:nvPr/>
        </p:nvSpPr>
        <p:spPr>
          <a:xfrm>
            <a:off x="822960" y="548640"/>
            <a:ext cx="1328927" cy="256032"/>
          </a:xfrm>
          <a:prstGeom prst="roundRect">
            <a:avLst>
              <a:gd name="adj" fmla="val 4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2261616" y="548640"/>
            <a:ext cx="1328927" cy="256032"/>
          </a:xfrm>
          <a:prstGeom prst="roundRect">
            <a:avLst>
              <a:gd name="adj" fmla="val 40000"/>
            </a:avLst>
          </a:prstGeom>
          <a:solidFill>
            <a:srgbClr val="3E4C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3700272" y="548640"/>
            <a:ext cx="1328927" cy="256032"/>
          </a:xfrm>
          <a:prstGeom prst="roundRect">
            <a:avLst>
              <a:gd name="adj" fmla="val 40000"/>
            </a:avLst>
          </a:prstGeom>
          <a:solidFill>
            <a:srgbClr val="3E4C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8961120" cy="1005840"/>
          </a:xfrm>
          <a:prstGeom prst="rect">
            <a:avLst/>
          </a:prstGeom>
          <a:noFill/>
        </p:spPr>
        <p:txBody>
          <a:bodyPr wrap="square" lIns="0" rIns="0" tIns="0" bIns="0" anchor="t">
            <a:spAutoFit/>
          </a:bodyPr>
          <a:lstStyle/>
          <a:p>
            <a:pPr algn="l">
              <a:lnSpc>
                <a:spcPct val="105000"/>
              </a:lnSpc>
            </a:pPr>
            <a:r>
              <a:rPr sz="3300" b="1" i="0">
                <a:solidFill>
                  <a:srgbClr val="FFFFFF"/>
                </a:solidFill>
                <a:latin typeface="Arial"/>
              </a:rPr>
              <a:t>Кейс 1.1 · роль агента и репозиторий</a:t>
            </a:r>
          </a:p>
        </p:txBody>
      </p:sp>
      <p:sp>
        <p:nvSpPr>
          <p:cNvPr id="9" name="TextBox 8"/>
          <p:cNvSpPr txBox="1"/>
          <p:nvPr/>
        </p:nvSpPr>
        <p:spPr>
          <a:xfrm>
            <a:off x="868680" y="3090672"/>
            <a:ext cx="8778240" cy="822960"/>
          </a:xfrm>
          <a:prstGeom prst="rect">
            <a:avLst/>
          </a:prstGeom>
          <a:noFill/>
        </p:spPr>
        <p:txBody>
          <a:bodyPr wrap="square" lIns="0" rIns="0" tIns="0" bIns="0" anchor="t">
            <a:spAutoFit/>
          </a:bodyPr>
          <a:lstStyle/>
          <a:p>
            <a:pPr algn="l">
              <a:lnSpc>
                <a:spcPct val="130000"/>
              </a:lnSpc>
            </a:pPr>
            <a:r>
              <a:rPr sz="1600" b="0" i="1">
                <a:solidFill>
                  <a:srgbClr val="CFDCEC"/>
                </a:solidFill>
                <a:latin typeface="Arial"/>
              </a:rPr>
              <a:t>Что писать в пустой файл, пока не случилось ни одной реальной сессии</a:t>
            </a:r>
          </a:p>
        </p:txBody>
      </p:sp>
      <p:sp>
        <p:nvSpPr>
          <p:cNvPr id="10" name="Rounded Rectangle 9"/>
          <p:cNvSpPr/>
          <p:nvPr/>
        </p:nvSpPr>
        <p:spPr>
          <a:xfrm>
            <a:off x="868680" y="3950208"/>
            <a:ext cx="5486400" cy="502920"/>
          </a:xfrm>
          <a:prstGeom prst="roundRect">
            <a:avLst>
              <a:gd name="adj" fmla="val 28000"/>
            </a:avLst>
          </a:prstGeom>
          <a:solidFill>
            <a:srgbClr val="0B143A"/>
          </a:solidFill>
          <a:ln w="1524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124712" y="3950208"/>
            <a:ext cx="4974336" cy="502920"/>
          </a:xfrm>
          <a:prstGeom prst="rect">
            <a:avLst/>
          </a:prstGeom>
          <a:noFill/>
        </p:spPr>
        <p:txBody>
          <a:bodyPr wrap="square" lIns="0" rIns="0" tIns="0" bIns="0" anchor="ctr">
            <a:spAutoFit/>
          </a:bodyPr>
          <a:lstStyle/>
          <a:p>
            <a:pPr algn="ctr">
              <a:lnSpc>
                <a:spcPct val="115000"/>
              </a:lnSpc>
            </a:pPr>
            <a:r>
              <a:rPr sz="1100" b="1" i="0">
                <a:solidFill>
                  <a:srgbClr val="028090"/>
                </a:solidFill>
                <a:latin typeface="Arial"/>
              </a:rPr>
              <a:t>СПЕЦИФИЧНО ДЛЯ ПРОЕКТА · ЖДЁМ СИГНАЛА</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29184"/>
            <a:ext cx="10515600" cy="292608"/>
          </a:xfrm>
          <a:prstGeom prst="rect">
            <a:avLst/>
          </a:prstGeom>
          <a:noFill/>
        </p:spPr>
        <p:txBody>
          <a:bodyPr wrap="square" lIns="0" rIns="0" tIns="0" bIns="0" anchor="t">
            <a:spAutoFit/>
          </a:bodyPr>
          <a:lstStyle/>
          <a:p>
            <a:pPr algn="l">
              <a:lnSpc>
                <a:spcPct val="115000"/>
              </a:lnSpc>
            </a:pPr>
            <a:r>
              <a:rPr sz="1150" b="1" i="0">
                <a:solidFill>
                  <a:srgbClr val="028090"/>
                </a:solidFill>
                <a:latin typeface="Arial"/>
              </a:rPr>
              <a:t>КЕЙС 1.1 · РОЛЬ И РЕПОЗИТОРИЙ</a:t>
            </a:r>
          </a:p>
        </p:txBody>
      </p:sp>
      <p:sp>
        <p:nvSpPr>
          <p:cNvPr id="3" name="TextBox 2"/>
          <p:cNvSpPr txBox="1"/>
          <p:nvPr/>
        </p:nvSpPr>
        <p:spPr>
          <a:xfrm>
            <a:off x="502920" y="640080"/>
            <a:ext cx="11183112" cy="1371600"/>
          </a:xfrm>
          <a:prstGeom prst="rect">
            <a:avLst/>
          </a:prstGeom>
          <a:noFill/>
        </p:spPr>
        <p:txBody>
          <a:bodyPr wrap="square" lIns="0" rIns="0" tIns="0" bIns="0" anchor="t">
            <a:spAutoFit/>
          </a:bodyPr>
          <a:lstStyle/>
          <a:p>
            <a:pPr algn="l">
              <a:lnSpc>
                <a:spcPct val="114000"/>
              </a:lnSpc>
            </a:pPr>
            <a:r>
              <a:rPr sz="1300" b="1" i="0">
                <a:solidFill>
                  <a:srgbClr val="21295C"/>
                </a:solidFill>
                <a:latin typeface="Arial"/>
              </a:rPr>
              <a:t>Первый инстинкт — открыть пустой файл и начать с описания структуры репозитория; привычка сильная, но это ровно та фраза «так делают в хороших проектах», которую занятие проверяет впервые</a:t>
            </a:r>
          </a:p>
        </p:txBody>
      </p:sp>
      <p:sp>
        <p:nvSpPr>
          <p:cNvPr id="4" name="Rounded Rectangle 3"/>
          <p:cNvSpPr/>
          <p:nvPr/>
        </p:nvSpPr>
        <p:spPr>
          <a:xfrm>
            <a:off x="502920" y="2176272"/>
            <a:ext cx="5349240" cy="2103120"/>
          </a:xfrm>
          <a:prstGeom prst="roundRect">
            <a:avLst>
              <a:gd name="adj" fmla="val 3500"/>
            </a:avLst>
          </a:prstGeom>
          <a:solidFill>
            <a:srgbClr val="161C30"/>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04088" y="2377440"/>
            <a:ext cx="4946903" cy="274320"/>
          </a:xfrm>
          <a:prstGeom prst="rect">
            <a:avLst/>
          </a:prstGeom>
          <a:noFill/>
        </p:spPr>
        <p:txBody>
          <a:bodyPr wrap="square" lIns="0" rIns="0" tIns="0" bIns="0" anchor="t">
            <a:spAutoFit/>
          </a:bodyPr>
          <a:lstStyle/>
          <a:p>
            <a:pPr algn="l">
              <a:lnSpc>
                <a:spcPct val="115000"/>
              </a:lnSpc>
            </a:pPr>
            <a:r>
              <a:rPr sz="1100" b="1" i="0">
                <a:solidFill>
                  <a:srgbClr val="028090"/>
                </a:solidFill>
                <a:latin typeface="Consolas"/>
              </a:rPr>
              <a:t>дерево на входе в кейс</a:t>
            </a:r>
          </a:p>
        </p:txBody>
      </p:sp>
      <p:sp>
        <p:nvSpPr>
          <p:cNvPr id="6" name="TextBox 5"/>
          <p:cNvSpPr txBox="1"/>
          <p:nvPr/>
        </p:nvSpPr>
        <p:spPr>
          <a:xfrm>
            <a:off x="704088" y="2688336"/>
            <a:ext cx="4946903" cy="1389887"/>
          </a:xfrm>
          <a:prstGeom prst="rect">
            <a:avLst/>
          </a:prstGeom>
          <a:noFill/>
        </p:spPr>
        <p:txBody>
          <a:bodyPr wrap="square" lIns="0" rIns="0" tIns="0" bIns="0" anchor="t">
            <a:spAutoFit/>
          </a:bodyPr>
          <a:lstStyle/>
          <a:p>
            <a:pPr algn="l">
              <a:lnSpc>
                <a:spcPct val="132000"/>
              </a:lnSpc>
              <a:spcAft>
                <a:spcPts val="200"/>
              </a:spcAft>
            </a:pPr>
            <a:r>
              <a:rPr sz="1250" b="0" i="0">
                <a:solidFill>
                  <a:srgbClr val="E3E9F2"/>
                </a:solidFill>
                <a:latin typeface="Consolas"/>
              </a:rPr>
              <a:t>index.html</a:t>
            </a:r>
          </a:p>
          <a:p>
            <a:pPr algn="l">
              <a:lnSpc>
                <a:spcPct val="132000"/>
              </a:lnSpc>
              <a:spcAft>
                <a:spcPts val="200"/>
              </a:spcAft>
            </a:pPr>
            <a:r>
              <a:rPr sz="1250" b="0" i="0">
                <a:solidFill>
                  <a:srgbClr val="E3E9F2"/>
                </a:solidFill>
                <a:latin typeface="Consolas"/>
              </a:rPr>
              <a:t>package.json</a:t>
            </a:r>
          </a:p>
          <a:p>
            <a:pPr algn="l">
              <a:lnSpc>
                <a:spcPct val="132000"/>
              </a:lnSpc>
              <a:spcAft>
                <a:spcPts val="200"/>
              </a:spcAft>
            </a:pPr>
            <a:r>
              <a:rPr sz="1250" b="0" i="0">
                <a:solidFill>
                  <a:srgbClr val="E3E9F2"/>
                </a:solidFill>
                <a:latin typeface="Consolas"/>
              </a:rPr>
              <a:t>src/main.js</a:t>
            </a:r>
          </a:p>
          <a:p>
            <a:pPr algn="l">
              <a:lnSpc>
                <a:spcPct val="132000"/>
              </a:lnSpc>
              <a:spcAft>
                <a:spcPts val="200"/>
              </a:spcAft>
            </a:pPr>
            <a:r>
              <a:rPr sz="1250" b="0" i="0">
                <a:solidFill>
                  <a:srgbClr val="E3E9F2"/>
                </a:solidFill>
                <a:latin typeface="Consolas"/>
              </a:rPr>
              <a:t>tests/form.spec.ts</a:t>
            </a:r>
          </a:p>
          <a:p>
            <a:pPr algn="l">
              <a:lnSpc>
                <a:spcPct val="132000"/>
              </a:lnSpc>
              <a:spcAft>
                <a:spcPts val="200"/>
              </a:spcAft>
            </a:pPr>
            <a:r>
              <a:rPr sz="1250" b="1" i="0">
                <a:solidFill>
                  <a:srgbClr val="8B9BB4"/>
                </a:solidFill>
                <a:latin typeface="Consolas"/>
              </a:rPr>
              <a:t># + spec.md, README.md (раздел 0) — здесь не показаны</a:t>
            </a:r>
          </a:p>
        </p:txBody>
      </p:sp>
      <p:sp>
        <p:nvSpPr>
          <p:cNvPr id="7" name="Rounded Rectangle 6"/>
          <p:cNvSpPr/>
          <p:nvPr/>
        </p:nvSpPr>
        <p:spPr>
          <a:xfrm>
            <a:off x="6153912" y="2176272"/>
            <a:ext cx="5349240" cy="2103120"/>
          </a:xfrm>
          <a:prstGeom prst="roundRect">
            <a:avLst>
              <a:gd name="adj" fmla="val 14492"/>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36792" y="2304288"/>
            <a:ext cx="4983479" cy="1847087"/>
          </a:xfrm>
          <a:prstGeom prst="rect">
            <a:avLst/>
          </a:prstGeom>
          <a:noFill/>
        </p:spPr>
        <p:txBody>
          <a:bodyPr wrap="square" lIns="0" rIns="0" tIns="0" bIns="0" anchor="t">
            <a:spAutoFit/>
          </a:bodyPr>
          <a:lstStyle/>
          <a:p>
            <a:pPr algn="l">
              <a:lnSpc>
                <a:spcPct val="130000"/>
              </a:lnSpc>
            </a:pPr>
            <a:r>
              <a:rPr sz="1300" b="0" i="0">
                <a:solidFill>
                  <a:srgbClr val="21295C"/>
                </a:solidFill>
                <a:latin typeface="Arial"/>
              </a:rPr>
              <a:t>Разработчик открывает пустой CLAUDE.md и по привычке тянется первым делом написать «Repository overview» — из чего собран сайт, где лежит форма, какая структура папок.</a:t>
            </a:r>
          </a:p>
        </p:txBody>
      </p:sp>
      <p:sp>
        <p:nvSpPr>
          <p:cNvPr id="9" name="Rounded Rectangle 8"/>
          <p:cNvSpPr/>
          <p:nvPr/>
        </p:nvSpPr>
        <p:spPr>
          <a:xfrm>
            <a:off x="502920" y="4507992"/>
            <a:ext cx="11183112" cy="1417320"/>
          </a:xfrm>
          <a:prstGeom prst="roundRect">
            <a:avLst>
              <a:gd name="adj" fmla="val 10000"/>
            </a:avLst>
          </a:prstGeom>
          <a:solidFill>
            <a:srgbClr val="FEF5E0"/>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04088" y="4581144"/>
            <a:ext cx="10780776" cy="1271016"/>
          </a:xfrm>
          <a:prstGeom prst="rect">
            <a:avLst/>
          </a:prstGeom>
          <a:noFill/>
        </p:spPr>
        <p:txBody>
          <a:bodyPr wrap="square" lIns="0" rIns="0" tIns="0" bIns="0" anchor="ctr">
            <a:spAutoFit/>
          </a:bodyPr>
          <a:lstStyle/>
          <a:p>
            <a:pPr algn="l">
              <a:lnSpc>
                <a:spcPct val="122000"/>
              </a:lnSpc>
            </a:pPr>
            <a:r>
              <a:rPr sz="1350" b="1" i="0">
                <a:solidFill>
                  <a:srgbClr val="21295C"/>
                </a:solidFill>
                <a:latin typeface="Arial"/>
              </a:rPr>
              <a:t>«В одном из прошлых проектов раздел «Overview» пережил рефакторинг и два месяца спустя продолжал описывать структуру, которой больше не существовало — агент один раз отредактировал не тот файл, поверив описанию, а не факту.»</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29184"/>
            <a:ext cx="10515600" cy="292608"/>
          </a:xfrm>
          <a:prstGeom prst="rect">
            <a:avLst/>
          </a:prstGeom>
          <a:noFill/>
        </p:spPr>
        <p:txBody>
          <a:bodyPr wrap="square" lIns="0" rIns="0" tIns="0" bIns="0" anchor="t">
            <a:spAutoFit/>
          </a:bodyPr>
          <a:lstStyle/>
          <a:p>
            <a:pPr algn="l">
              <a:lnSpc>
                <a:spcPct val="115000"/>
              </a:lnSpc>
            </a:pPr>
            <a:r>
              <a:rPr sz="1150" b="1" i="0">
                <a:solidFill>
                  <a:srgbClr val="028090"/>
                </a:solidFill>
                <a:latin typeface="Arial"/>
              </a:rPr>
              <a:t>КЕЙС 1.1 · ВОПРОС</a:t>
            </a:r>
          </a:p>
        </p:txBody>
      </p:sp>
      <p:sp>
        <p:nvSpPr>
          <p:cNvPr id="3" name="TextBox 2"/>
          <p:cNvSpPr txBox="1"/>
          <p:nvPr/>
        </p:nvSpPr>
        <p:spPr>
          <a:xfrm>
            <a:off x="502920" y="640080"/>
            <a:ext cx="11183112" cy="1005840"/>
          </a:xfrm>
          <a:prstGeom prst="rect">
            <a:avLst/>
          </a:prstGeom>
          <a:noFill/>
        </p:spPr>
        <p:txBody>
          <a:bodyPr wrap="square" lIns="0" rIns="0" tIns="0" bIns="0" anchor="t">
            <a:spAutoFit/>
          </a:bodyPr>
          <a:lstStyle/>
          <a:p>
            <a:pPr algn="l">
              <a:lnSpc>
                <a:spcPct val="114000"/>
              </a:lnSpc>
            </a:pPr>
            <a:r>
              <a:rPr sz="1650" b="1" i="0">
                <a:solidFill>
                  <a:srgbClr val="21295C"/>
                </a:solidFill>
                <a:latin typeface="Arial"/>
              </a:rPr>
              <a:t>Перед пустым CLAUDE.md выбор из пяти вариантов — и «пока ничего» среди них не менее весомый вариант, чем остальные четыре</a:t>
            </a:r>
          </a:p>
        </p:txBody>
      </p:sp>
      <p:sp>
        <p:nvSpPr>
          <p:cNvPr id="4" name="Rounded Rectangle 3"/>
          <p:cNvSpPr/>
          <p:nvPr/>
        </p:nvSpPr>
        <p:spPr>
          <a:xfrm>
            <a:off x="502920" y="1810512"/>
            <a:ext cx="11183112" cy="1005840"/>
          </a:xfrm>
          <a:prstGeom prst="roundRect">
            <a:avLst>
              <a:gd name="adj" fmla="val 10000"/>
            </a:avLst>
          </a:prstGeom>
          <a:solidFill>
            <a:srgbClr val="FEF5E0"/>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04088" y="1883664"/>
            <a:ext cx="10780776" cy="859536"/>
          </a:xfrm>
          <a:prstGeom prst="rect">
            <a:avLst/>
          </a:prstGeom>
          <a:noFill/>
        </p:spPr>
        <p:txBody>
          <a:bodyPr wrap="square" lIns="0" rIns="0" tIns="0" bIns="0" anchor="ctr">
            <a:spAutoFit/>
          </a:bodyPr>
          <a:lstStyle/>
          <a:p>
            <a:pPr algn="l">
              <a:lnSpc>
                <a:spcPct val="122000"/>
              </a:lnSpc>
            </a:pPr>
            <a:r>
              <a:rPr sz="1400" b="1" i="0">
                <a:solidFill>
                  <a:srgbClr val="21295C"/>
                </a:solidFill>
                <a:latin typeface="Arial"/>
              </a:rPr>
              <a:t>«Перед вами пустой CLAUDE.md для signup-landing. Выберите, что из перечисленного вы включите в файл прямо сейчас, до первой реальной сессии агента — из карточек ниже.»</a:t>
            </a:r>
          </a:p>
        </p:txBody>
      </p:sp>
      <p:sp>
        <p:nvSpPr>
          <p:cNvPr id="6" name="Rounded Rectangle 5"/>
          <p:cNvSpPr/>
          <p:nvPr/>
        </p:nvSpPr>
        <p:spPr>
          <a:xfrm>
            <a:off x="502920" y="3017520"/>
            <a:ext cx="2119579" cy="1600200"/>
          </a:xfrm>
          <a:prstGeom prst="roundRect">
            <a:avLst>
              <a:gd name="adj" fmla="val 19047"/>
            </a:avLst>
          </a:prstGeom>
          <a:solidFill>
            <a:srgbClr val="F4F7FA"/>
          </a:solidFill>
          <a:ln w="1397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76072" y="3017520"/>
            <a:ext cx="1973275" cy="1600200"/>
          </a:xfrm>
          <a:prstGeom prst="rect">
            <a:avLst/>
          </a:prstGeom>
          <a:noFill/>
        </p:spPr>
        <p:txBody>
          <a:bodyPr wrap="square" lIns="0" rIns="0" tIns="0" bIns="0" anchor="ctr">
            <a:spAutoFit/>
          </a:bodyPr>
          <a:lstStyle/>
          <a:p>
            <a:pPr algn="ctr">
              <a:lnSpc>
                <a:spcPct val="115000"/>
              </a:lnSpc>
              <a:spcAft>
                <a:spcPts val="0"/>
              </a:spcAft>
            </a:pPr>
            <a:r>
              <a:rPr sz="1250" b="1" i="0">
                <a:solidFill>
                  <a:srgbClr val="21295C"/>
                </a:solidFill>
                <a:latin typeface="Arial"/>
              </a:rPr>
              <a:t>подробное описание</a:t>
            </a:r>
          </a:p>
          <a:p>
            <a:pPr algn="ctr">
              <a:lnSpc>
                <a:spcPct val="115000"/>
              </a:lnSpc>
              <a:spcAft>
                <a:spcPts val="0"/>
              </a:spcAft>
            </a:pPr>
            <a:r>
              <a:rPr sz="1250" b="1" i="0">
                <a:solidFill>
                  <a:srgbClr val="21295C"/>
                </a:solidFill>
                <a:latin typeface="Arial"/>
              </a:rPr>
              <a:t>структуры репозитория</a:t>
            </a:r>
          </a:p>
        </p:txBody>
      </p:sp>
      <p:sp>
        <p:nvSpPr>
          <p:cNvPr id="8" name="Rounded Rectangle 7"/>
          <p:cNvSpPr/>
          <p:nvPr/>
        </p:nvSpPr>
        <p:spPr>
          <a:xfrm>
            <a:off x="2768803" y="3017520"/>
            <a:ext cx="2119579" cy="1600200"/>
          </a:xfrm>
          <a:prstGeom prst="roundRect">
            <a:avLst>
              <a:gd name="adj" fmla="val 19047"/>
            </a:avLst>
          </a:prstGeom>
          <a:solidFill>
            <a:srgbClr val="F4F7FA"/>
          </a:solidFill>
          <a:ln w="1397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2841955" y="3017520"/>
            <a:ext cx="1973275" cy="1600200"/>
          </a:xfrm>
          <a:prstGeom prst="rect">
            <a:avLst/>
          </a:prstGeom>
          <a:noFill/>
        </p:spPr>
        <p:txBody>
          <a:bodyPr wrap="square" lIns="0" rIns="0" tIns="0" bIns="0" anchor="ctr">
            <a:spAutoFit/>
          </a:bodyPr>
          <a:lstStyle/>
          <a:p>
            <a:pPr algn="ctr">
              <a:lnSpc>
                <a:spcPct val="115000"/>
              </a:lnSpc>
              <a:spcAft>
                <a:spcPts val="0"/>
              </a:spcAft>
            </a:pPr>
            <a:r>
              <a:rPr sz="1250" b="1" i="0">
                <a:solidFill>
                  <a:srgbClr val="21295C"/>
                </a:solidFill>
                <a:latin typeface="Arial"/>
              </a:rPr>
              <a:t>список технологий</a:t>
            </a:r>
          </a:p>
          <a:p>
            <a:pPr algn="ctr">
              <a:lnSpc>
                <a:spcPct val="115000"/>
              </a:lnSpc>
              <a:spcAft>
                <a:spcPts val="0"/>
              </a:spcAft>
            </a:pPr>
            <a:r>
              <a:rPr sz="1250" b="1" i="0">
                <a:solidFill>
                  <a:srgbClr val="21295C"/>
                </a:solidFill>
                <a:latin typeface="Arial"/>
              </a:rPr>
              <a:t>и зависимостей</a:t>
            </a:r>
          </a:p>
        </p:txBody>
      </p:sp>
      <p:sp>
        <p:nvSpPr>
          <p:cNvPr id="10" name="Rounded Rectangle 9"/>
          <p:cNvSpPr/>
          <p:nvPr/>
        </p:nvSpPr>
        <p:spPr>
          <a:xfrm>
            <a:off x="5034686" y="3017520"/>
            <a:ext cx="2119579" cy="1600200"/>
          </a:xfrm>
          <a:prstGeom prst="roundRect">
            <a:avLst>
              <a:gd name="adj" fmla="val 19047"/>
            </a:avLst>
          </a:prstGeom>
          <a:solidFill>
            <a:srgbClr val="F4F7FA"/>
          </a:solidFill>
          <a:ln w="1397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107838" y="3017520"/>
            <a:ext cx="1973275" cy="1600200"/>
          </a:xfrm>
          <a:prstGeom prst="rect">
            <a:avLst/>
          </a:prstGeom>
          <a:noFill/>
        </p:spPr>
        <p:txBody>
          <a:bodyPr wrap="square" lIns="0" rIns="0" tIns="0" bIns="0" anchor="ctr">
            <a:spAutoFit/>
          </a:bodyPr>
          <a:lstStyle/>
          <a:p>
            <a:pPr algn="ctr">
              <a:lnSpc>
                <a:spcPct val="115000"/>
              </a:lnSpc>
              <a:spcAft>
                <a:spcPts val="0"/>
              </a:spcAft>
            </a:pPr>
            <a:r>
              <a:rPr sz="1250" b="1" i="0">
                <a:solidFill>
                  <a:srgbClr val="21295C"/>
                </a:solidFill>
                <a:latin typeface="Arial"/>
              </a:rPr>
              <a:t>инструкцию, где лежит</a:t>
            </a:r>
          </a:p>
          <a:p>
            <a:pPr algn="ctr">
              <a:lnSpc>
                <a:spcPct val="115000"/>
              </a:lnSpc>
              <a:spcAft>
                <a:spcPts val="0"/>
              </a:spcAft>
            </a:pPr>
            <a:r>
              <a:rPr sz="1250" b="1" i="0">
                <a:solidFill>
                  <a:srgbClr val="21295C"/>
                </a:solidFill>
                <a:latin typeface="Arial"/>
              </a:rPr>
              <a:t>форма и как её найти</a:t>
            </a:r>
          </a:p>
        </p:txBody>
      </p:sp>
      <p:sp>
        <p:nvSpPr>
          <p:cNvPr id="12" name="Rounded Rectangle 11"/>
          <p:cNvSpPr/>
          <p:nvPr/>
        </p:nvSpPr>
        <p:spPr>
          <a:xfrm>
            <a:off x="7300569" y="3017520"/>
            <a:ext cx="2119579" cy="1600200"/>
          </a:xfrm>
          <a:prstGeom prst="roundRect">
            <a:avLst>
              <a:gd name="adj" fmla="val 19047"/>
            </a:avLst>
          </a:prstGeom>
          <a:solidFill>
            <a:srgbClr val="F4F7FA"/>
          </a:solidFill>
          <a:ln w="1397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373721" y="3017520"/>
            <a:ext cx="1973275" cy="1600200"/>
          </a:xfrm>
          <a:prstGeom prst="rect">
            <a:avLst/>
          </a:prstGeom>
          <a:noFill/>
        </p:spPr>
        <p:txBody>
          <a:bodyPr wrap="square" lIns="0" rIns="0" tIns="0" bIns="0" anchor="ctr">
            <a:spAutoFit/>
          </a:bodyPr>
          <a:lstStyle/>
          <a:p>
            <a:pPr algn="ctr">
              <a:lnSpc>
                <a:spcPct val="115000"/>
              </a:lnSpc>
              <a:spcAft>
                <a:spcPts val="0"/>
              </a:spcAft>
            </a:pPr>
            <a:r>
              <a:rPr sz="1250" b="1" i="0">
                <a:solidFill>
                  <a:srgbClr val="21295C"/>
                </a:solidFill>
                <a:latin typeface="Arial"/>
              </a:rPr>
              <a:t>неочевидную конвенцию,</a:t>
            </a:r>
          </a:p>
          <a:p>
            <a:pPr algn="ctr">
              <a:lnSpc>
                <a:spcPct val="115000"/>
              </a:lnSpc>
              <a:spcAft>
                <a:spcPts val="0"/>
              </a:spcAft>
            </a:pPr>
            <a:r>
              <a:rPr sz="1250" b="1" i="0">
                <a:solidFill>
                  <a:srgbClr val="21295C"/>
                </a:solidFill>
                <a:latin typeface="Arial"/>
              </a:rPr>
              <a:t>которую агент не угадает сам</a:t>
            </a:r>
          </a:p>
        </p:txBody>
      </p:sp>
      <p:sp>
        <p:nvSpPr>
          <p:cNvPr id="14" name="Rounded Rectangle 13"/>
          <p:cNvSpPr/>
          <p:nvPr/>
        </p:nvSpPr>
        <p:spPr>
          <a:xfrm>
            <a:off x="9566452" y="3017520"/>
            <a:ext cx="2119579" cy="1600200"/>
          </a:xfrm>
          <a:prstGeom prst="roundRect">
            <a:avLst>
              <a:gd name="adj" fmla="val 19047"/>
            </a:avLst>
          </a:prstGeom>
          <a:solidFill>
            <a:srgbClr val="F4F7FA"/>
          </a:solidFill>
          <a:ln w="1397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639604" y="3017520"/>
            <a:ext cx="1973275" cy="1600200"/>
          </a:xfrm>
          <a:prstGeom prst="rect">
            <a:avLst/>
          </a:prstGeom>
          <a:noFill/>
        </p:spPr>
        <p:txBody>
          <a:bodyPr wrap="square" lIns="0" rIns="0" tIns="0" bIns="0" anchor="ctr">
            <a:spAutoFit/>
          </a:bodyPr>
          <a:lstStyle/>
          <a:p>
            <a:pPr algn="ctr">
              <a:lnSpc>
                <a:spcPct val="115000"/>
              </a:lnSpc>
              <a:spcAft>
                <a:spcPts val="0"/>
              </a:spcAft>
            </a:pPr>
            <a:r>
              <a:rPr sz="1250" b="1" i="0">
                <a:solidFill>
                  <a:srgbClr val="21295C"/>
                </a:solidFill>
                <a:latin typeface="Arial"/>
              </a:rPr>
              <a:t>пока ничего — до</a:t>
            </a:r>
          </a:p>
          <a:p>
            <a:pPr algn="ctr">
              <a:lnSpc>
                <a:spcPct val="115000"/>
              </a:lnSpc>
              <a:spcAft>
                <a:spcPts val="0"/>
              </a:spcAft>
            </a:pPr>
            <a:r>
              <a:rPr sz="1250" b="1" i="0">
                <a:solidFill>
                  <a:srgbClr val="21295C"/>
                </a:solidFill>
                <a:latin typeface="Arial"/>
              </a:rPr>
              <a:t>первого реального сигнала</a:t>
            </a:r>
          </a:p>
        </p:txBody>
      </p:sp>
      <p:sp>
        <p:nvSpPr>
          <p:cNvPr id="16" name="TextBox 15"/>
          <p:cNvSpPr txBox="1"/>
          <p:nvPr/>
        </p:nvSpPr>
        <p:spPr>
          <a:xfrm>
            <a:off x="502920" y="4764024"/>
            <a:ext cx="11183112" cy="320040"/>
          </a:xfrm>
          <a:prstGeom prst="rect">
            <a:avLst/>
          </a:prstGeom>
          <a:noFill/>
        </p:spPr>
        <p:txBody>
          <a:bodyPr wrap="square" lIns="0" rIns="0" tIns="0" bIns="0" anchor="t">
            <a:spAutoFit/>
          </a:bodyPr>
          <a:lstStyle/>
          <a:p>
            <a:pPr algn="ctr">
              <a:lnSpc>
                <a:spcPct val="115000"/>
              </a:lnSpc>
            </a:pPr>
            <a:r>
              <a:rPr sz="1200" b="0" i="1">
                <a:solidFill>
                  <a:srgbClr val="6B7685"/>
                </a:solidFill>
                <a:latin typeface="Arial"/>
              </a:rPr>
              <a:t>разбор — на следующем слайде</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29184"/>
            <a:ext cx="10515600" cy="292608"/>
          </a:xfrm>
          <a:prstGeom prst="rect">
            <a:avLst/>
          </a:prstGeom>
          <a:noFill/>
        </p:spPr>
        <p:txBody>
          <a:bodyPr wrap="square" lIns="0" rIns="0" tIns="0" bIns="0" anchor="t">
            <a:spAutoFit/>
          </a:bodyPr>
          <a:lstStyle/>
          <a:p>
            <a:pPr algn="l">
              <a:lnSpc>
                <a:spcPct val="115000"/>
              </a:lnSpc>
            </a:pPr>
            <a:r>
              <a:rPr sz="1150" b="1" i="0">
                <a:solidFill>
                  <a:srgbClr val="028090"/>
                </a:solidFill>
                <a:latin typeface="Arial"/>
              </a:rPr>
              <a:t>КЕЙС 1.1 · ИССЛЕДОВАНИЕ И РАЗБОР</a:t>
            </a:r>
          </a:p>
        </p:txBody>
      </p:sp>
      <p:sp>
        <p:nvSpPr>
          <p:cNvPr id="3" name="TextBox 2"/>
          <p:cNvSpPr txBox="1"/>
          <p:nvPr/>
        </p:nvSpPr>
        <p:spPr>
          <a:xfrm>
            <a:off x="502920" y="640080"/>
            <a:ext cx="11183112" cy="1188720"/>
          </a:xfrm>
          <a:prstGeom prst="rect">
            <a:avLst/>
          </a:prstGeom>
          <a:noFill/>
        </p:spPr>
        <p:txBody>
          <a:bodyPr wrap="square" lIns="0" rIns="0" tIns="0" bIns="0" anchor="t">
            <a:spAutoFit/>
          </a:bodyPr>
          <a:lstStyle/>
          <a:p>
            <a:pPr algn="l">
              <a:lnSpc>
                <a:spcPct val="114000"/>
              </a:lnSpc>
            </a:pPr>
            <a:r>
              <a:rPr sz="1450" b="1" i="0">
                <a:solidFill>
                  <a:srgbClr val="21295C"/>
                </a:solidFill>
                <a:latin typeface="Arial"/>
              </a:rPr>
              <a:t>Repository overview измеримо не помогает и стоит контекста — а структурированное описание должно жить в README.md, не дублироваться в CLAUDE.md</a:t>
            </a:r>
          </a:p>
        </p:txBody>
      </p:sp>
      <p:sp>
        <p:nvSpPr>
          <p:cNvPr id="4" name="Rounded Rectangle 3"/>
          <p:cNvSpPr/>
          <p:nvPr/>
        </p:nvSpPr>
        <p:spPr>
          <a:xfrm>
            <a:off x="502920" y="1993392"/>
            <a:ext cx="11183112" cy="1554480"/>
          </a:xfrm>
          <a:prstGeom prst="roundRect">
            <a:avLst>
              <a:gd name="adj" fmla="val 19607"/>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85800" y="2176272"/>
            <a:ext cx="2955706" cy="329184"/>
          </a:xfrm>
          <a:prstGeom prst="rect">
            <a:avLst/>
          </a:prstGeom>
          <a:noFill/>
        </p:spPr>
        <p:txBody>
          <a:bodyPr wrap="square" lIns="0" rIns="0" tIns="0" bIns="0" anchor="t">
            <a:spAutoFit/>
          </a:bodyPr>
          <a:lstStyle/>
          <a:p>
            <a:pPr algn="l">
              <a:lnSpc>
                <a:spcPct val="115000"/>
              </a:lnSpc>
            </a:pPr>
            <a:r>
              <a:rPr sz="950" b="1" i="0">
                <a:solidFill>
                  <a:srgbClr val="6B7685"/>
                </a:solidFill>
                <a:latin typeface="Arial"/>
              </a:rPr>
              <a:t>Источник</a:t>
            </a:r>
          </a:p>
        </p:txBody>
      </p:sp>
      <p:sp>
        <p:nvSpPr>
          <p:cNvPr id="6" name="TextBox 5"/>
          <p:cNvSpPr txBox="1"/>
          <p:nvPr/>
        </p:nvSpPr>
        <p:spPr>
          <a:xfrm>
            <a:off x="3714658" y="2176272"/>
            <a:ext cx="5335524" cy="329184"/>
          </a:xfrm>
          <a:prstGeom prst="rect">
            <a:avLst/>
          </a:prstGeom>
          <a:noFill/>
        </p:spPr>
        <p:txBody>
          <a:bodyPr wrap="square" lIns="0" rIns="0" tIns="0" bIns="0" anchor="t">
            <a:spAutoFit/>
          </a:bodyPr>
          <a:lstStyle/>
          <a:p>
            <a:pPr algn="l">
              <a:lnSpc>
                <a:spcPct val="115000"/>
              </a:lnSpc>
            </a:pPr>
            <a:r>
              <a:rPr sz="950" b="1" i="0">
                <a:solidFill>
                  <a:srgbClr val="6B7685"/>
                </a:solidFill>
                <a:latin typeface="Arial"/>
              </a:rPr>
              <a:t>Тезис</a:t>
            </a:r>
          </a:p>
        </p:txBody>
      </p:sp>
      <p:sp>
        <p:nvSpPr>
          <p:cNvPr id="7" name="TextBox 6"/>
          <p:cNvSpPr txBox="1"/>
          <p:nvPr/>
        </p:nvSpPr>
        <p:spPr>
          <a:xfrm>
            <a:off x="9123334" y="2176272"/>
            <a:ext cx="2306665" cy="329184"/>
          </a:xfrm>
          <a:prstGeom prst="rect">
            <a:avLst/>
          </a:prstGeom>
          <a:noFill/>
        </p:spPr>
        <p:txBody>
          <a:bodyPr wrap="square" lIns="0" rIns="0" tIns="0" bIns="0" anchor="t">
            <a:spAutoFit/>
          </a:bodyPr>
          <a:lstStyle/>
          <a:p>
            <a:pPr algn="l">
              <a:lnSpc>
                <a:spcPct val="115000"/>
              </a:lnSpc>
            </a:pPr>
            <a:r>
              <a:rPr sz="950" b="1" i="0">
                <a:solidFill>
                  <a:srgbClr val="6B7685"/>
                </a:solidFill>
                <a:latin typeface="Arial"/>
              </a:rPr>
              <a:t>Сила</a:t>
            </a:r>
          </a:p>
        </p:txBody>
      </p:sp>
      <p:sp>
        <p:nvSpPr>
          <p:cNvPr id="8" name="Rectangle 7"/>
          <p:cNvSpPr/>
          <p:nvPr/>
        </p:nvSpPr>
        <p:spPr>
          <a:xfrm>
            <a:off x="557784" y="2560320"/>
            <a:ext cx="11073384" cy="201168"/>
          </a:xfrm>
          <a:prstGeom prst="rect">
            <a:avLst/>
          </a:prstGeom>
          <a:solidFill>
            <a:srgbClr val="FEF5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85800" y="2560320"/>
            <a:ext cx="2937418" cy="201168"/>
          </a:xfrm>
          <a:prstGeom prst="rect">
            <a:avLst/>
          </a:prstGeom>
          <a:noFill/>
        </p:spPr>
        <p:txBody>
          <a:bodyPr wrap="square" lIns="0" rIns="0" tIns="0" bIns="0" anchor="ctr">
            <a:spAutoFit/>
          </a:bodyPr>
          <a:lstStyle/>
          <a:p>
            <a:pPr algn="l">
              <a:lnSpc>
                <a:spcPct val="115000"/>
              </a:lnSpc>
            </a:pPr>
            <a:r>
              <a:rPr sz="900" b="0" i="0">
                <a:solidFill>
                  <a:srgbClr val="21295C"/>
                </a:solidFill>
                <a:latin typeface="Arial"/>
              </a:rPr>
              <a:t>Gloaguen et al., arXiv:2602.11988</a:t>
            </a:r>
          </a:p>
        </p:txBody>
      </p:sp>
      <p:sp>
        <p:nvSpPr>
          <p:cNvPr id="10" name="TextBox 9"/>
          <p:cNvSpPr txBox="1"/>
          <p:nvPr/>
        </p:nvSpPr>
        <p:spPr>
          <a:xfrm>
            <a:off x="3714658" y="2560320"/>
            <a:ext cx="5317236" cy="201168"/>
          </a:xfrm>
          <a:prstGeom prst="rect">
            <a:avLst/>
          </a:prstGeom>
          <a:noFill/>
        </p:spPr>
        <p:txBody>
          <a:bodyPr wrap="square" lIns="0" rIns="0" tIns="0" bIns="0" anchor="ctr">
            <a:spAutoFit/>
          </a:bodyPr>
          <a:lstStyle/>
          <a:p>
            <a:pPr algn="l">
              <a:lnSpc>
                <a:spcPct val="115000"/>
              </a:lnSpc>
            </a:pPr>
            <a:r>
              <a:rPr sz="900" b="0" i="0">
                <a:solidFill>
                  <a:srgbClr val="21295C"/>
                </a:solidFill>
                <a:latin typeface="Arial"/>
              </a:rPr>
              <a:t>«are not helpful» — шагов до файла не падает; cost +20–23% без прироста success</a:t>
            </a:r>
          </a:p>
        </p:txBody>
      </p:sp>
      <p:sp>
        <p:nvSpPr>
          <p:cNvPr id="11" name="TextBox 10"/>
          <p:cNvSpPr txBox="1"/>
          <p:nvPr/>
        </p:nvSpPr>
        <p:spPr>
          <a:xfrm>
            <a:off x="9123334" y="2560320"/>
            <a:ext cx="2288377" cy="201168"/>
          </a:xfrm>
          <a:prstGeom prst="rect">
            <a:avLst/>
          </a:prstGeom>
          <a:noFill/>
        </p:spPr>
        <p:txBody>
          <a:bodyPr wrap="square" lIns="0" rIns="0" tIns="0" bIns="0" anchor="ctr">
            <a:spAutoFit/>
          </a:bodyPr>
          <a:lstStyle/>
          <a:p>
            <a:pPr algn="l">
              <a:lnSpc>
                <a:spcPct val="115000"/>
              </a:lnSpc>
            </a:pPr>
            <a:r>
              <a:rPr sz="900" b="0" i="0">
                <a:solidFill>
                  <a:srgbClr val="21295C"/>
                </a:solidFill>
                <a:latin typeface="Arial"/>
              </a:rPr>
              <a:t>Сильное: контролируемый эксперимент</a:t>
            </a:r>
          </a:p>
        </p:txBody>
      </p:sp>
      <p:cxnSp>
        <p:nvCxnSpPr>
          <p:cNvPr id="12" name="Connector 11"/>
          <p:cNvCxnSpPr/>
          <p:nvPr/>
        </p:nvCxnSpPr>
        <p:spPr>
          <a:xfrm>
            <a:off x="685800" y="2761488"/>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685800" y="2761488"/>
            <a:ext cx="2937418" cy="201168"/>
          </a:xfrm>
          <a:prstGeom prst="rect">
            <a:avLst/>
          </a:prstGeom>
          <a:noFill/>
        </p:spPr>
        <p:txBody>
          <a:bodyPr wrap="square" lIns="0" rIns="0" tIns="0" bIns="0" anchor="ctr">
            <a:spAutoFit/>
          </a:bodyPr>
          <a:lstStyle/>
          <a:p>
            <a:pPr algn="l">
              <a:lnSpc>
                <a:spcPct val="115000"/>
              </a:lnSpc>
            </a:pPr>
            <a:r>
              <a:rPr sz="900" b="0" i="0">
                <a:solidFill>
                  <a:srgbClr val="21295C"/>
                </a:solidFill>
                <a:latin typeface="Arial"/>
              </a:rPr>
              <a:t>Та же работа, абляция</a:t>
            </a:r>
          </a:p>
        </p:txBody>
      </p:sp>
      <p:sp>
        <p:nvSpPr>
          <p:cNvPr id="14" name="TextBox 13"/>
          <p:cNvSpPr txBox="1"/>
          <p:nvPr/>
        </p:nvSpPr>
        <p:spPr>
          <a:xfrm>
            <a:off x="3714658" y="2761488"/>
            <a:ext cx="5317236" cy="201168"/>
          </a:xfrm>
          <a:prstGeom prst="rect">
            <a:avLst/>
          </a:prstGeom>
          <a:noFill/>
        </p:spPr>
        <p:txBody>
          <a:bodyPr wrap="square" lIns="0" rIns="0" tIns="0" bIns="0" anchor="ctr">
            <a:spAutoFit/>
          </a:bodyPr>
          <a:lstStyle/>
          <a:p>
            <a:pPr algn="l">
              <a:lnSpc>
                <a:spcPct val="115000"/>
              </a:lnSpc>
            </a:pPr>
            <a:r>
              <a:rPr sz="900" b="0" i="0">
                <a:solidFill>
                  <a:srgbClr val="21295C"/>
                </a:solidFill>
                <a:latin typeface="Arial"/>
              </a:rPr>
              <a:t>Убрали README — LLM-overview стал полезен (+2,7%)</a:t>
            </a:r>
          </a:p>
        </p:txBody>
      </p:sp>
      <p:sp>
        <p:nvSpPr>
          <p:cNvPr id="15" name="TextBox 14"/>
          <p:cNvSpPr txBox="1"/>
          <p:nvPr/>
        </p:nvSpPr>
        <p:spPr>
          <a:xfrm>
            <a:off x="9123334" y="2761488"/>
            <a:ext cx="2288377" cy="201168"/>
          </a:xfrm>
          <a:prstGeom prst="rect">
            <a:avLst/>
          </a:prstGeom>
          <a:noFill/>
        </p:spPr>
        <p:txBody>
          <a:bodyPr wrap="square" lIns="0" rIns="0" tIns="0" bIns="0" anchor="ctr">
            <a:spAutoFit/>
          </a:bodyPr>
          <a:lstStyle/>
          <a:p>
            <a:pPr algn="l">
              <a:lnSpc>
                <a:spcPct val="115000"/>
              </a:lnSpc>
            </a:pPr>
            <a:r>
              <a:rPr sz="900" b="0" i="0">
                <a:solidFill>
                  <a:srgbClr val="21295C"/>
                </a:solidFill>
                <a:latin typeface="Arial"/>
              </a:rPr>
              <a:t>Подтверждает механизм</a:t>
            </a:r>
          </a:p>
        </p:txBody>
      </p:sp>
      <p:cxnSp>
        <p:nvCxnSpPr>
          <p:cNvPr id="16" name="Connector 15"/>
          <p:cNvCxnSpPr/>
          <p:nvPr/>
        </p:nvCxnSpPr>
        <p:spPr>
          <a:xfrm>
            <a:off x="685800" y="2962656"/>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685800" y="2962656"/>
            <a:ext cx="2937418" cy="201168"/>
          </a:xfrm>
          <a:prstGeom prst="rect">
            <a:avLst/>
          </a:prstGeom>
          <a:noFill/>
        </p:spPr>
        <p:txBody>
          <a:bodyPr wrap="square" lIns="0" rIns="0" tIns="0" bIns="0" anchor="ctr">
            <a:spAutoFit/>
          </a:bodyPr>
          <a:lstStyle/>
          <a:p>
            <a:pPr algn="l">
              <a:lnSpc>
                <a:spcPct val="115000"/>
              </a:lnSpc>
            </a:pPr>
            <a:r>
              <a:rPr sz="900" b="0" i="0">
                <a:solidFill>
                  <a:srgbClr val="21295C"/>
                </a:solidFill>
                <a:latin typeface="Arial"/>
              </a:rPr>
              <a:t>Lulla et al., arXiv:2601.20404</a:t>
            </a:r>
          </a:p>
        </p:txBody>
      </p:sp>
      <p:sp>
        <p:nvSpPr>
          <p:cNvPr id="18" name="TextBox 17"/>
          <p:cNvSpPr txBox="1"/>
          <p:nvPr/>
        </p:nvSpPr>
        <p:spPr>
          <a:xfrm>
            <a:off x="3714658" y="2962656"/>
            <a:ext cx="5317236" cy="201168"/>
          </a:xfrm>
          <a:prstGeom prst="rect">
            <a:avLst/>
          </a:prstGeom>
          <a:noFill/>
        </p:spPr>
        <p:txBody>
          <a:bodyPr wrap="square" lIns="0" rIns="0" tIns="0" bIns="0" anchor="ctr">
            <a:spAutoFit/>
          </a:bodyPr>
          <a:lstStyle/>
          <a:p>
            <a:pPr algn="l">
              <a:lnSpc>
                <a:spcPct val="115000"/>
              </a:lnSpc>
            </a:pPr>
            <a:r>
              <a:rPr sz="900" b="0" i="0">
                <a:solidFill>
                  <a:srgbClr val="21295C"/>
                </a:solidFill>
                <a:latin typeface="Arial"/>
              </a:rPr>
              <a:t>AGENTS.md про недискаверабельные конвенции: −28,6% runtime (124 PR)</a:t>
            </a:r>
          </a:p>
        </p:txBody>
      </p:sp>
      <p:sp>
        <p:nvSpPr>
          <p:cNvPr id="19" name="TextBox 18"/>
          <p:cNvSpPr txBox="1"/>
          <p:nvPr/>
        </p:nvSpPr>
        <p:spPr>
          <a:xfrm>
            <a:off x="9123334" y="2962656"/>
            <a:ext cx="2288377" cy="201168"/>
          </a:xfrm>
          <a:prstGeom prst="rect">
            <a:avLst/>
          </a:prstGeom>
          <a:noFill/>
        </p:spPr>
        <p:txBody>
          <a:bodyPr wrap="square" lIns="0" rIns="0" tIns="0" bIns="0" anchor="ctr">
            <a:spAutoFit/>
          </a:bodyPr>
          <a:lstStyle/>
          <a:p>
            <a:pPr algn="l">
              <a:lnSpc>
                <a:spcPct val="115000"/>
              </a:lnSpc>
            </a:pPr>
            <a:r>
              <a:rPr sz="900" b="0" i="0">
                <a:solidFill>
                  <a:srgbClr val="21295C"/>
                </a:solidFill>
                <a:latin typeface="Arial"/>
              </a:rPr>
              <a:t>Умеренно «за» — не общее описание</a:t>
            </a:r>
          </a:p>
        </p:txBody>
      </p:sp>
      <p:cxnSp>
        <p:nvCxnSpPr>
          <p:cNvPr id="20" name="Connector 19"/>
          <p:cNvCxnSpPr/>
          <p:nvPr/>
        </p:nvCxnSpPr>
        <p:spPr>
          <a:xfrm>
            <a:off x="685800" y="3163824"/>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1" name="TextBox 20"/>
          <p:cNvSpPr txBox="1"/>
          <p:nvPr/>
        </p:nvSpPr>
        <p:spPr>
          <a:xfrm>
            <a:off x="685800" y="3163824"/>
            <a:ext cx="2937418" cy="201168"/>
          </a:xfrm>
          <a:prstGeom prst="rect">
            <a:avLst/>
          </a:prstGeom>
          <a:noFill/>
        </p:spPr>
        <p:txBody>
          <a:bodyPr wrap="square" lIns="0" rIns="0" tIns="0" bIns="0" anchor="ctr">
            <a:spAutoFit/>
          </a:bodyPr>
          <a:lstStyle/>
          <a:p>
            <a:pPr algn="l">
              <a:lnSpc>
                <a:spcPct val="115000"/>
              </a:lnSpc>
            </a:pPr>
            <a:r>
              <a:rPr sz="900" b="0" i="0">
                <a:solidFill>
                  <a:srgbClr val="21295C"/>
                </a:solidFill>
                <a:latin typeface="Arial"/>
              </a:rPr>
              <a:t>Shepard &amp; Albrecht, arXiv:2606.20512</a:t>
            </a:r>
          </a:p>
        </p:txBody>
      </p:sp>
      <p:sp>
        <p:nvSpPr>
          <p:cNvPr id="22" name="TextBox 21"/>
          <p:cNvSpPr txBox="1"/>
          <p:nvPr/>
        </p:nvSpPr>
        <p:spPr>
          <a:xfrm>
            <a:off x="3714658" y="3163824"/>
            <a:ext cx="5317236" cy="201168"/>
          </a:xfrm>
          <a:prstGeom prst="rect">
            <a:avLst/>
          </a:prstGeom>
          <a:noFill/>
        </p:spPr>
        <p:txBody>
          <a:bodyPr wrap="square" lIns="0" rIns="0" tIns="0" bIns="0" anchor="ctr">
            <a:spAutoFit/>
          </a:bodyPr>
          <a:lstStyle/>
          <a:p>
            <a:pPr algn="l">
              <a:lnSpc>
                <a:spcPct val="115000"/>
              </a:lnSpc>
            </a:pPr>
            <a:r>
              <a:rPr sz="900" b="0" i="0">
                <a:solidFill>
                  <a:srgbClr val="21295C"/>
                </a:solidFill>
                <a:latin typeface="Arial"/>
              </a:rPr>
              <a:t>Статичное guidance (28,3%) хуже верифицированного (33,0%, p&lt;0,001)</a:t>
            </a:r>
          </a:p>
        </p:txBody>
      </p:sp>
      <p:sp>
        <p:nvSpPr>
          <p:cNvPr id="23" name="TextBox 22"/>
          <p:cNvSpPr txBox="1"/>
          <p:nvPr/>
        </p:nvSpPr>
        <p:spPr>
          <a:xfrm>
            <a:off x="9123334" y="3163824"/>
            <a:ext cx="2288377" cy="201168"/>
          </a:xfrm>
          <a:prstGeom prst="rect">
            <a:avLst/>
          </a:prstGeom>
          <a:noFill/>
        </p:spPr>
        <p:txBody>
          <a:bodyPr wrap="square" lIns="0" rIns="0" tIns="0" bIns="0" anchor="ctr">
            <a:spAutoFit/>
          </a:bodyPr>
          <a:lstStyle/>
          <a:p>
            <a:pPr algn="l">
              <a:lnSpc>
                <a:spcPct val="115000"/>
              </a:lnSpc>
            </a:pPr>
            <a:r>
              <a:rPr sz="900" b="0" i="0">
                <a:solidFill>
                  <a:srgbClr val="21295C"/>
                </a:solidFill>
                <a:latin typeface="Arial"/>
              </a:rPr>
              <a:t>Косвенное</a:t>
            </a:r>
          </a:p>
        </p:txBody>
      </p:sp>
      <p:sp>
        <p:nvSpPr>
          <p:cNvPr id="24" name="Rounded Rectangle 23"/>
          <p:cNvSpPr/>
          <p:nvPr/>
        </p:nvSpPr>
        <p:spPr>
          <a:xfrm>
            <a:off x="502920" y="3657600"/>
            <a:ext cx="11183112" cy="1508760"/>
          </a:xfrm>
          <a:prstGeom prst="roundRect">
            <a:avLst>
              <a:gd name="adj" fmla="val 20202"/>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85800" y="3840480"/>
            <a:ext cx="3172053" cy="329184"/>
          </a:xfrm>
          <a:prstGeom prst="rect">
            <a:avLst/>
          </a:prstGeom>
          <a:noFill/>
        </p:spPr>
        <p:txBody>
          <a:bodyPr wrap="square" lIns="0" rIns="0" tIns="0" bIns="0" anchor="t">
            <a:spAutoFit/>
          </a:bodyPr>
          <a:lstStyle/>
          <a:p>
            <a:pPr algn="l">
              <a:lnSpc>
                <a:spcPct val="115000"/>
              </a:lnSpc>
            </a:pPr>
            <a:r>
              <a:rPr sz="930" b="1" i="0">
                <a:solidFill>
                  <a:srgbClr val="6B7685"/>
                </a:solidFill>
                <a:latin typeface="Arial"/>
              </a:rPr>
              <a:t>Вариант</a:t>
            </a:r>
          </a:p>
        </p:txBody>
      </p:sp>
      <p:sp>
        <p:nvSpPr>
          <p:cNvPr id="26" name="TextBox 25"/>
          <p:cNvSpPr txBox="1"/>
          <p:nvPr/>
        </p:nvSpPr>
        <p:spPr>
          <a:xfrm>
            <a:off x="3931005" y="3840480"/>
            <a:ext cx="2955706" cy="329184"/>
          </a:xfrm>
          <a:prstGeom prst="rect">
            <a:avLst/>
          </a:prstGeom>
          <a:noFill/>
        </p:spPr>
        <p:txBody>
          <a:bodyPr wrap="square" lIns="0" rIns="0" tIns="0" bIns="0" anchor="t">
            <a:spAutoFit/>
          </a:bodyPr>
          <a:lstStyle/>
          <a:p>
            <a:pPr algn="l">
              <a:lnSpc>
                <a:spcPct val="115000"/>
              </a:lnSpc>
            </a:pPr>
            <a:r>
              <a:rPr sz="930" b="1" i="0">
                <a:solidFill>
                  <a:srgbClr val="6B7685"/>
                </a:solidFill>
                <a:latin typeface="Arial"/>
              </a:rPr>
              <a:t>Где работает</a:t>
            </a:r>
          </a:p>
        </p:txBody>
      </p:sp>
      <p:sp>
        <p:nvSpPr>
          <p:cNvPr id="27" name="TextBox 26"/>
          <p:cNvSpPr txBox="1"/>
          <p:nvPr/>
        </p:nvSpPr>
        <p:spPr>
          <a:xfrm>
            <a:off x="6959864" y="3840480"/>
            <a:ext cx="4470135" cy="329184"/>
          </a:xfrm>
          <a:prstGeom prst="rect">
            <a:avLst/>
          </a:prstGeom>
          <a:noFill/>
        </p:spPr>
        <p:txBody>
          <a:bodyPr wrap="square" lIns="0" rIns="0" tIns="0" bIns="0" anchor="t">
            <a:spAutoFit/>
          </a:bodyPr>
          <a:lstStyle/>
          <a:p>
            <a:pPr algn="l">
              <a:lnSpc>
                <a:spcPct val="115000"/>
              </a:lnSpc>
            </a:pPr>
            <a:r>
              <a:rPr sz="930" b="1" i="0">
                <a:solidFill>
                  <a:srgbClr val="6B7685"/>
                </a:solidFill>
                <a:latin typeface="Arial"/>
              </a:rPr>
              <a:t>Почему рано — что вместо</a:t>
            </a:r>
          </a:p>
        </p:txBody>
      </p:sp>
      <p:sp>
        <p:nvSpPr>
          <p:cNvPr id="28" name="TextBox 27"/>
          <p:cNvSpPr txBox="1"/>
          <p:nvPr/>
        </p:nvSpPr>
        <p:spPr>
          <a:xfrm>
            <a:off x="685800" y="4224528"/>
            <a:ext cx="3153765" cy="151790"/>
          </a:xfrm>
          <a:prstGeom prst="rect">
            <a:avLst/>
          </a:prstGeom>
          <a:noFill/>
        </p:spPr>
        <p:txBody>
          <a:bodyPr wrap="square" lIns="0" rIns="0" tIns="0" bIns="0" anchor="ctr">
            <a:spAutoFit/>
          </a:bodyPr>
          <a:lstStyle/>
          <a:p>
            <a:pPr algn="l">
              <a:lnSpc>
                <a:spcPct val="115000"/>
              </a:lnSpc>
            </a:pPr>
            <a:r>
              <a:rPr sz="880" b="0" i="0">
                <a:solidFill>
                  <a:srgbClr val="21295C"/>
                </a:solidFill>
                <a:latin typeface="Arial"/>
              </a:rPr>
              <a:t>«Описание структуры»</a:t>
            </a:r>
          </a:p>
        </p:txBody>
      </p:sp>
      <p:sp>
        <p:nvSpPr>
          <p:cNvPr id="29" name="TextBox 28"/>
          <p:cNvSpPr txBox="1"/>
          <p:nvPr/>
        </p:nvSpPr>
        <p:spPr>
          <a:xfrm>
            <a:off x="3931005" y="4224528"/>
            <a:ext cx="2937418" cy="151790"/>
          </a:xfrm>
          <a:prstGeom prst="rect">
            <a:avLst/>
          </a:prstGeom>
          <a:noFill/>
        </p:spPr>
        <p:txBody>
          <a:bodyPr wrap="square" lIns="0" rIns="0" tIns="0" bIns="0" anchor="ctr">
            <a:spAutoFit/>
          </a:bodyPr>
          <a:lstStyle/>
          <a:p>
            <a:pPr algn="l">
              <a:lnSpc>
                <a:spcPct val="115000"/>
              </a:lnSpc>
            </a:pPr>
            <a:r>
              <a:rPr sz="880" b="0" i="0">
                <a:solidFill>
                  <a:srgbClr val="21295C"/>
                </a:solidFill>
                <a:latin typeface="Arial"/>
              </a:rPr>
              <a:t>Почти нигде</a:t>
            </a:r>
          </a:p>
        </p:txBody>
      </p:sp>
      <p:sp>
        <p:nvSpPr>
          <p:cNvPr id="30" name="TextBox 29"/>
          <p:cNvSpPr txBox="1"/>
          <p:nvPr/>
        </p:nvSpPr>
        <p:spPr>
          <a:xfrm>
            <a:off x="6959864" y="4224528"/>
            <a:ext cx="4451847" cy="151790"/>
          </a:xfrm>
          <a:prstGeom prst="rect">
            <a:avLst/>
          </a:prstGeom>
          <a:noFill/>
        </p:spPr>
        <p:txBody>
          <a:bodyPr wrap="square" lIns="0" rIns="0" tIns="0" bIns="0" anchor="ctr">
            <a:spAutoFit/>
          </a:bodyPr>
          <a:lstStyle/>
          <a:p>
            <a:pPr algn="l">
              <a:lnSpc>
                <a:spcPct val="115000"/>
              </a:lnSpc>
            </a:pPr>
            <a:r>
              <a:rPr sz="880" b="0" i="0">
                <a:solidFill>
                  <a:srgbClr val="21295C"/>
                </a:solidFill>
                <a:latin typeface="Arial"/>
              </a:rPr>
              <a:t>Агент выведет сам за секунды; устареет</a:t>
            </a:r>
          </a:p>
        </p:txBody>
      </p:sp>
      <p:cxnSp>
        <p:nvCxnSpPr>
          <p:cNvPr id="31" name="Connector 30"/>
          <p:cNvCxnSpPr/>
          <p:nvPr/>
        </p:nvCxnSpPr>
        <p:spPr>
          <a:xfrm>
            <a:off x="685800" y="4376318"/>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32" name="TextBox 31"/>
          <p:cNvSpPr txBox="1"/>
          <p:nvPr/>
        </p:nvSpPr>
        <p:spPr>
          <a:xfrm>
            <a:off x="685800" y="4376318"/>
            <a:ext cx="3153765" cy="151790"/>
          </a:xfrm>
          <a:prstGeom prst="rect">
            <a:avLst/>
          </a:prstGeom>
          <a:noFill/>
        </p:spPr>
        <p:txBody>
          <a:bodyPr wrap="square" lIns="0" rIns="0" tIns="0" bIns="0" anchor="ctr">
            <a:spAutoFit/>
          </a:bodyPr>
          <a:lstStyle/>
          <a:p>
            <a:pPr algn="l">
              <a:lnSpc>
                <a:spcPct val="115000"/>
              </a:lnSpc>
            </a:pPr>
            <a:r>
              <a:rPr sz="880" b="0" i="0">
                <a:solidFill>
                  <a:srgbClr val="21295C"/>
                </a:solidFill>
                <a:latin typeface="Arial"/>
              </a:rPr>
              <a:t>«Список технологий»</a:t>
            </a:r>
          </a:p>
        </p:txBody>
      </p:sp>
      <p:sp>
        <p:nvSpPr>
          <p:cNvPr id="33" name="TextBox 32"/>
          <p:cNvSpPr txBox="1"/>
          <p:nvPr/>
        </p:nvSpPr>
        <p:spPr>
          <a:xfrm>
            <a:off x="3931005" y="4376318"/>
            <a:ext cx="2937418" cy="151790"/>
          </a:xfrm>
          <a:prstGeom prst="rect">
            <a:avLst/>
          </a:prstGeom>
          <a:noFill/>
        </p:spPr>
        <p:txBody>
          <a:bodyPr wrap="square" lIns="0" rIns="0" tIns="0" bIns="0" anchor="ctr">
            <a:spAutoFit/>
          </a:bodyPr>
          <a:lstStyle/>
          <a:p>
            <a:pPr algn="l">
              <a:lnSpc>
                <a:spcPct val="115000"/>
              </a:lnSpc>
            </a:pPr>
            <a:r>
              <a:rPr sz="880" b="0" i="0">
                <a:solidFill>
                  <a:srgbClr val="21295C"/>
                </a:solidFill>
                <a:latin typeface="Arial"/>
              </a:rPr>
              <a:t>Версии критичны, не видны</a:t>
            </a:r>
          </a:p>
        </p:txBody>
      </p:sp>
      <p:sp>
        <p:nvSpPr>
          <p:cNvPr id="34" name="TextBox 33"/>
          <p:cNvSpPr txBox="1"/>
          <p:nvPr/>
        </p:nvSpPr>
        <p:spPr>
          <a:xfrm>
            <a:off x="6959864" y="4376318"/>
            <a:ext cx="4451847" cy="151790"/>
          </a:xfrm>
          <a:prstGeom prst="rect">
            <a:avLst/>
          </a:prstGeom>
          <a:noFill/>
        </p:spPr>
        <p:txBody>
          <a:bodyPr wrap="square" lIns="0" rIns="0" tIns="0" bIns="0" anchor="ctr">
            <a:spAutoFit/>
          </a:bodyPr>
          <a:lstStyle/>
          <a:p>
            <a:pPr algn="l">
              <a:lnSpc>
                <a:spcPct val="115000"/>
              </a:lnSpc>
            </a:pPr>
            <a:r>
              <a:rPr sz="880" b="0" i="0">
                <a:solidFill>
                  <a:srgbClr val="21295C"/>
                </a:solidFill>
                <a:latin typeface="Arial"/>
              </a:rPr>
              <a:t>Обычно тоже выводимо</a:t>
            </a:r>
          </a:p>
        </p:txBody>
      </p:sp>
      <p:cxnSp>
        <p:nvCxnSpPr>
          <p:cNvPr id="35" name="Connector 34"/>
          <p:cNvCxnSpPr/>
          <p:nvPr/>
        </p:nvCxnSpPr>
        <p:spPr>
          <a:xfrm>
            <a:off x="685800" y="4528108"/>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36" name="TextBox 35"/>
          <p:cNvSpPr txBox="1"/>
          <p:nvPr/>
        </p:nvSpPr>
        <p:spPr>
          <a:xfrm>
            <a:off x="685800" y="4528108"/>
            <a:ext cx="3153765" cy="151790"/>
          </a:xfrm>
          <a:prstGeom prst="rect">
            <a:avLst/>
          </a:prstGeom>
          <a:noFill/>
        </p:spPr>
        <p:txBody>
          <a:bodyPr wrap="square" lIns="0" rIns="0" tIns="0" bIns="0" anchor="ctr">
            <a:spAutoFit/>
          </a:bodyPr>
          <a:lstStyle/>
          <a:p>
            <a:pPr algn="l">
              <a:lnSpc>
                <a:spcPct val="115000"/>
              </a:lnSpc>
            </a:pPr>
            <a:r>
              <a:rPr sz="880" b="0" i="0">
                <a:solidFill>
                  <a:srgbClr val="21295C"/>
                </a:solidFill>
                <a:latin typeface="Arial"/>
              </a:rPr>
              <a:t>«Инструкция, где форма»</a:t>
            </a:r>
          </a:p>
        </p:txBody>
      </p:sp>
      <p:sp>
        <p:nvSpPr>
          <p:cNvPr id="37" name="TextBox 36"/>
          <p:cNvSpPr txBox="1"/>
          <p:nvPr/>
        </p:nvSpPr>
        <p:spPr>
          <a:xfrm>
            <a:off x="3931005" y="4528108"/>
            <a:ext cx="2937418" cy="151790"/>
          </a:xfrm>
          <a:prstGeom prst="rect">
            <a:avLst/>
          </a:prstGeom>
          <a:noFill/>
        </p:spPr>
        <p:txBody>
          <a:bodyPr wrap="square" lIns="0" rIns="0" tIns="0" bIns="0" anchor="ctr">
            <a:spAutoFit/>
          </a:bodyPr>
          <a:lstStyle/>
          <a:p>
            <a:pPr algn="l">
              <a:lnSpc>
                <a:spcPct val="115000"/>
              </a:lnSpc>
            </a:pPr>
            <a:r>
              <a:rPr sz="880" b="0" i="0">
                <a:solidFill>
                  <a:srgbClr val="21295C"/>
                </a:solidFill>
                <a:latin typeface="Arial"/>
              </a:rPr>
              <a:t>Почти нигде на малом репо</a:t>
            </a:r>
          </a:p>
        </p:txBody>
      </p:sp>
      <p:sp>
        <p:nvSpPr>
          <p:cNvPr id="38" name="TextBox 37"/>
          <p:cNvSpPr txBox="1"/>
          <p:nvPr/>
        </p:nvSpPr>
        <p:spPr>
          <a:xfrm>
            <a:off x="6959864" y="4528108"/>
            <a:ext cx="4451847" cy="151790"/>
          </a:xfrm>
          <a:prstGeom prst="rect">
            <a:avLst/>
          </a:prstGeom>
          <a:noFill/>
        </p:spPr>
        <p:txBody>
          <a:bodyPr wrap="square" lIns="0" rIns="0" tIns="0" bIns="0" anchor="ctr">
            <a:spAutoFit/>
          </a:bodyPr>
          <a:lstStyle/>
          <a:p>
            <a:pPr algn="l">
              <a:lnSpc>
                <a:spcPct val="115000"/>
              </a:lnSpc>
            </a:pPr>
            <a:r>
              <a:rPr sz="880" b="0" i="0">
                <a:solidFill>
                  <a:srgbClr val="21295C"/>
                </a:solidFill>
                <a:latin typeface="Arial"/>
              </a:rPr>
              <a:t>4 файла — весь экран</a:t>
            </a:r>
          </a:p>
        </p:txBody>
      </p:sp>
      <p:cxnSp>
        <p:nvCxnSpPr>
          <p:cNvPr id="39" name="Connector 38"/>
          <p:cNvCxnSpPr/>
          <p:nvPr/>
        </p:nvCxnSpPr>
        <p:spPr>
          <a:xfrm>
            <a:off x="685800" y="4679899"/>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40" name="TextBox 39"/>
          <p:cNvSpPr txBox="1"/>
          <p:nvPr/>
        </p:nvSpPr>
        <p:spPr>
          <a:xfrm>
            <a:off x="685800" y="4679899"/>
            <a:ext cx="3153765" cy="151790"/>
          </a:xfrm>
          <a:prstGeom prst="rect">
            <a:avLst/>
          </a:prstGeom>
          <a:noFill/>
        </p:spPr>
        <p:txBody>
          <a:bodyPr wrap="square" lIns="0" rIns="0" tIns="0" bIns="0" anchor="ctr">
            <a:spAutoFit/>
          </a:bodyPr>
          <a:lstStyle/>
          <a:p>
            <a:pPr algn="l">
              <a:lnSpc>
                <a:spcPct val="115000"/>
              </a:lnSpc>
            </a:pPr>
            <a:r>
              <a:rPr sz="880" b="0" i="0">
                <a:solidFill>
                  <a:srgbClr val="21295C"/>
                </a:solidFill>
                <a:latin typeface="Arial"/>
              </a:rPr>
              <a:t>«Неочевидная конвенция»</a:t>
            </a:r>
          </a:p>
        </p:txBody>
      </p:sp>
      <p:sp>
        <p:nvSpPr>
          <p:cNvPr id="41" name="TextBox 40"/>
          <p:cNvSpPr txBox="1"/>
          <p:nvPr/>
        </p:nvSpPr>
        <p:spPr>
          <a:xfrm>
            <a:off x="3931005" y="4679899"/>
            <a:ext cx="2937418" cy="151790"/>
          </a:xfrm>
          <a:prstGeom prst="rect">
            <a:avLst/>
          </a:prstGeom>
          <a:noFill/>
        </p:spPr>
        <p:txBody>
          <a:bodyPr wrap="square" lIns="0" rIns="0" tIns="0" bIns="0" anchor="ctr">
            <a:spAutoFit/>
          </a:bodyPr>
          <a:lstStyle/>
          <a:p>
            <a:pPr algn="l">
              <a:lnSpc>
                <a:spcPct val="115000"/>
              </a:lnSpc>
            </a:pPr>
            <a:r>
              <a:rPr sz="880" b="0" i="0">
                <a:solidFill>
                  <a:srgbClr val="21295C"/>
                </a:solidFill>
                <a:latin typeface="Arial"/>
              </a:rPr>
              <a:t>Когда реально есть</a:t>
            </a:r>
          </a:p>
        </p:txBody>
      </p:sp>
      <p:sp>
        <p:nvSpPr>
          <p:cNvPr id="42" name="TextBox 41"/>
          <p:cNvSpPr txBox="1"/>
          <p:nvPr/>
        </p:nvSpPr>
        <p:spPr>
          <a:xfrm>
            <a:off x="6959864" y="4679899"/>
            <a:ext cx="4451847" cy="151790"/>
          </a:xfrm>
          <a:prstGeom prst="rect">
            <a:avLst/>
          </a:prstGeom>
          <a:noFill/>
        </p:spPr>
        <p:txBody>
          <a:bodyPr wrap="square" lIns="0" rIns="0" tIns="0" bIns="0" anchor="ctr">
            <a:spAutoFit/>
          </a:bodyPr>
          <a:lstStyle/>
          <a:p>
            <a:pPr algn="l">
              <a:lnSpc>
                <a:spcPct val="115000"/>
              </a:lnSpc>
            </a:pPr>
            <a:r>
              <a:rPr sz="880" b="0" i="0">
                <a:solidFill>
                  <a:srgbClr val="21295C"/>
                </a:solidFill>
                <a:latin typeface="Arial"/>
              </a:rPr>
              <a:t>Такой конвенции ещё нет</a:t>
            </a:r>
          </a:p>
        </p:txBody>
      </p:sp>
      <p:cxnSp>
        <p:nvCxnSpPr>
          <p:cNvPr id="43" name="Connector 42"/>
          <p:cNvCxnSpPr/>
          <p:nvPr/>
        </p:nvCxnSpPr>
        <p:spPr>
          <a:xfrm>
            <a:off x="685800" y="4831689"/>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44" name="Rectangle 43"/>
          <p:cNvSpPr/>
          <p:nvPr/>
        </p:nvSpPr>
        <p:spPr>
          <a:xfrm>
            <a:off x="557784" y="4831689"/>
            <a:ext cx="11073384" cy="151790"/>
          </a:xfrm>
          <a:prstGeom prst="rect">
            <a:avLst/>
          </a:prstGeom>
          <a:solidFill>
            <a:srgbClr val="FEF5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685800" y="4831689"/>
            <a:ext cx="3153765" cy="151790"/>
          </a:xfrm>
          <a:prstGeom prst="rect">
            <a:avLst/>
          </a:prstGeom>
          <a:noFill/>
        </p:spPr>
        <p:txBody>
          <a:bodyPr wrap="square" lIns="0" rIns="0" tIns="0" bIns="0" anchor="ctr">
            <a:spAutoFit/>
          </a:bodyPr>
          <a:lstStyle/>
          <a:p>
            <a:pPr algn="l">
              <a:lnSpc>
                <a:spcPct val="115000"/>
              </a:lnSpc>
            </a:pPr>
            <a:r>
              <a:rPr sz="880" b="0" i="0">
                <a:solidFill>
                  <a:srgbClr val="21295C"/>
                </a:solidFill>
                <a:latin typeface="Arial"/>
              </a:rPr>
              <a:t>«Пока ничего — до сигнала»</a:t>
            </a:r>
          </a:p>
        </p:txBody>
      </p:sp>
      <p:sp>
        <p:nvSpPr>
          <p:cNvPr id="46" name="TextBox 45"/>
          <p:cNvSpPr txBox="1"/>
          <p:nvPr/>
        </p:nvSpPr>
        <p:spPr>
          <a:xfrm>
            <a:off x="3931005" y="4831689"/>
            <a:ext cx="2937418" cy="151790"/>
          </a:xfrm>
          <a:prstGeom prst="rect">
            <a:avLst/>
          </a:prstGeom>
          <a:noFill/>
        </p:spPr>
        <p:txBody>
          <a:bodyPr wrap="square" lIns="0" rIns="0" tIns="0" bIns="0" anchor="ctr">
            <a:spAutoFit/>
          </a:bodyPr>
          <a:lstStyle/>
          <a:p>
            <a:pPr algn="l">
              <a:lnSpc>
                <a:spcPct val="115000"/>
              </a:lnSpc>
            </a:pPr>
            <a:r>
              <a:rPr sz="880" b="0" i="0">
                <a:solidFill>
                  <a:srgbClr val="21295C"/>
                </a:solidFill>
                <a:latin typeface="Arial"/>
              </a:rPr>
              <a:t>Здесь и сейчас</a:t>
            </a:r>
          </a:p>
        </p:txBody>
      </p:sp>
      <p:sp>
        <p:nvSpPr>
          <p:cNvPr id="47" name="TextBox 46"/>
          <p:cNvSpPr txBox="1"/>
          <p:nvPr/>
        </p:nvSpPr>
        <p:spPr>
          <a:xfrm>
            <a:off x="6959864" y="4831689"/>
            <a:ext cx="4451847" cy="151790"/>
          </a:xfrm>
          <a:prstGeom prst="rect">
            <a:avLst/>
          </a:prstGeom>
          <a:noFill/>
        </p:spPr>
        <p:txBody>
          <a:bodyPr wrap="square" lIns="0" rIns="0" tIns="0" bIns="0" anchor="ctr">
            <a:spAutoFit/>
          </a:bodyPr>
          <a:lstStyle/>
          <a:p>
            <a:pPr algn="l">
              <a:lnSpc>
                <a:spcPct val="115000"/>
              </a:lnSpc>
            </a:pPr>
            <a:r>
              <a:rPr sz="880" b="0" i="0">
                <a:solidFill>
                  <a:srgbClr val="21295C"/>
                </a:solidFill>
                <a:latin typeface="Arial"/>
              </a:rPr>
              <a:t>ЦЕЛЕВОЙ ОТВЕТ</a:t>
            </a:r>
          </a:p>
        </p:txBody>
      </p:sp>
      <p:sp>
        <p:nvSpPr>
          <p:cNvPr id="48" name="Rounded Rectangle 47"/>
          <p:cNvSpPr/>
          <p:nvPr/>
        </p:nvSpPr>
        <p:spPr>
          <a:xfrm>
            <a:off x="502920" y="5367528"/>
            <a:ext cx="11183112" cy="1033271"/>
          </a:xfrm>
          <a:prstGeom prst="roundRect">
            <a:avLst>
              <a:gd name="adj" fmla="val 10000"/>
            </a:avLst>
          </a:prstGeom>
          <a:solidFill>
            <a:srgbClr val="FEF5E0"/>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704088" y="5440680"/>
            <a:ext cx="10780776" cy="886967"/>
          </a:xfrm>
          <a:prstGeom prst="rect">
            <a:avLst/>
          </a:prstGeom>
          <a:noFill/>
        </p:spPr>
        <p:txBody>
          <a:bodyPr wrap="square" lIns="0" rIns="0" tIns="0" bIns="0" anchor="ctr">
            <a:spAutoFit/>
          </a:bodyPr>
          <a:lstStyle/>
          <a:p>
            <a:pPr algn="l">
              <a:lnSpc>
                <a:spcPct val="122000"/>
              </a:lnSpc>
            </a:pPr>
            <a:r>
              <a:rPr sz="1200" b="1" i="0">
                <a:solidFill>
                  <a:srgbClr val="21295C"/>
                </a:solidFill>
                <a:latin typeface="Arial"/>
              </a:rPr>
              <a:t>README, не AGENTS.md: структурированное описание должно существовать — но оно живёт в README.md (заведён в разделе 0), а не дублируется в CLAUDE.md. Именно поэтому «Repository overview» здесь не нужен — не потому что описание вообще не нужно, а потому что оно уже есть.</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29184"/>
            <a:ext cx="10515600" cy="292608"/>
          </a:xfrm>
          <a:prstGeom prst="rect">
            <a:avLst/>
          </a:prstGeom>
          <a:noFill/>
        </p:spPr>
        <p:txBody>
          <a:bodyPr wrap="square" lIns="0" rIns="0" tIns="0" bIns="0" anchor="t">
            <a:spAutoFit/>
          </a:bodyPr>
          <a:lstStyle/>
          <a:p>
            <a:pPr algn="l">
              <a:lnSpc>
                <a:spcPct val="115000"/>
              </a:lnSpc>
            </a:pPr>
            <a:r>
              <a:rPr sz="1150" b="1" i="0">
                <a:solidFill>
                  <a:srgbClr val="028090"/>
                </a:solidFill>
                <a:latin typeface="Arial"/>
              </a:rPr>
              <a:t>КЕЙС 1.1 · РЕШЕНИЕ</a:t>
            </a:r>
          </a:p>
        </p:txBody>
      </p:sp>
      <p:sp>
        <p:nvSpPr>
          <p:cNvPr id="3" name="TextBox 2"/>
          <p:cNvSpPr txBox="1"/>
          <p:nvPr/>
        </p:nvSpPr>
        <p:spPr>
          <a:xfrm>
            <a:off x="502920" y="640080"/>
            <a:ext cx="11183112" cy="1371600"/>
          </a:xfrm>
          <a:prstGeom prst="rect">
            <a:avLst/>
          </a:prstGeom>
          <a:noFill/>
        </p:spPr>
        <p:txBody>
          <a:bodyPr wrap="square" lIns="0" rIns="0" tIns="0" bIns="0" anchor="t">
            <a:spAutoFit/>
          </a:bodyPr>
          <a:lstStyle/>
          <a:p>
            <a:pPr algn="l">
              <a:lnSpc>
                <a:spcPct val="114000"/>
              </a:lnSpc>
            </a:pPr>
            <a:r>
              <a:rPr sz="1300" b="1" i="0">
                <a:solidFill>
                  <a:srgbClr val="21295C"/>
                </a:solidFill>
                <a:latin typeface="Arial"/>
              </a:rPr>
              <a:t>CLAUDE.md остаётся пустым для описания структуры репозитория — не из лени, а потому что нет сигнала; часть его содержимого заводится сразу, на дне 0, как дешёвая гигиена — это кейс 1.2</a:t>
            </a:r>
          </a:p>
        </p:txBody>
      </p:sp>
      <p:sp>
        <p:nvSpPr>
          <p:cNvPr id="4" name="Rounded Rectangle 3"/>
          <p:cNvSpPr/>
          <p:nvPr/>
        </p:nvSpPr>
        <p:spPr>
          <a:xfrm>
            <a:off x="502920" y="2176272"/>
            <a:ext cx="11183112" cy="2423160"/>
          </a:xfrm>
          <a:prstGeom prst="roundRect">
            <a:avLst>
              <a:gd name="adj" fmla="val 3500"/>
            </a:avLst>
          </a:prstGeom>
          <a:solidFill>
            <a:srgbClr val="161C30"/>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04088" y="2377440"/>
            <a:ext cx="10780776" cy="274320"/>
          </a:xfrm>
          <a:prstGeom prst="rect">
            <a:avLst/>
          </a:prstGeom>
          <a:noFill/>
        </p:spPr>
        <p:txBody>
          <a:bodyPr wrap="square" lIns="0" rIns="0" tIns="0" bIns="0" anchor="t">
            <a:spAutoFit/>
          </a:bodyPr>
          <a:lstStyle/>
          <a:p>
            <a:pPr algn="l">
              <a:lnSpc>
                <a:spcPct val="115000"/>
              </a:lnSpc>
            </a:pPr>
            <a:r>
              <a:rPr sz="1100" b="1" i="0">
                <a:solidFill>
                  <a:srgbClr val="028090"/>
                </a:solidFill>
                <a:latin typeface="Consolas"/>
              </a:rPr>
              <a:t>дерево репозитория — без изменений</a:t>
            </a:r>
          </a:p>
        </p:txBody>
      </p:sp>
      <p:sp>
        <p:nvSpPr>
          <p:cNvPr id="6" name="TextBox 5"/>
          <p:cNvSpPr txBox="1"/>
          <p:nvPr/>
        </p:nvSpPr>
        <p:spPr>
          <a:xfrm>
            <a:off x="704088" y="2688336"/>
            <a:ext cx="10780776" cy="1709928"/>
          </a:xfrm>
          <a:prstGeom prst="rect">
            <a:avLst/>
          </a:prstGeom>
          <a:noFill/>
        </p:spPr>
        <p:txBody>
          <a:bodyPr wrap="square" lIns="0" rIns="0" tIns="0" bIns="0" anchor="t">
            <a:spAutoFit/>
          </a:bodyPr>
          <a:lstStyle/>
          <a:p>
            <a:pPr algn="l">
              <a:lnSpc>
                <a:spcPct val="132000"/>
              </a:lnSpc>
              <a:spcAft>
                <a:spcPts val="200"/>
              </a:spcAft>
            </a:pPr>
            <a:r>
              <a:rPr sz="1300" b="0" i="0">
                <a:solidFill>
                  <a:srgbClr val="E3E9F2"/>
                </a:solidFill>
                <a:latin typeface="Consolas"/>
              </a:rPr>
              <a:t>index.html</a:t>
            </a:r>
          </a:p>
          <a:p>
            <a:pPr algn="l">
              <a:lnSpc>
                <a:spcPct val="132000"/>
              </a:lnSpc>
              <a:spcAft>
                <a:spcPts val="200"/>
              </a:spcAft>
            </a:pPr>
            <a:r>
              <a:rPr sz="1300" b="0" i="0">
                <a:solidFill>
                  <a:srgbClr val="E3E9F2"/>
                </a:solidFill>
                <a:latin typeface="Consolas"/>
              </a:rPr>
              <a:t>package.json</a:t>
            </a:r>
          </a:p>
          <a:p>
            <a:pPr algn="l">
              <a:lnSpc>
                <a:spcPct val="132000"/>
              </a:lnSpc>
              <a:spcAft>
                <a:spcPts val="200"/>
              </a:spcAft>
            </a:pPr>
            <a:r>
              <a:rPr sz="1300" b="0" i="0">
                <a:solidFill>
                  <a:srgbClr val="E3E9F2"/>
                </a:solidFill>
                <a:latin typeface="Consolas"/>
              </a:rPr>
              <a:t>src/main.js</a:t>
            </a:r>
          </a:p>
          <a:p>
            <a:pPr algn="l">
              <a:lnSpc>
                <a:spcPct val="132000"/>
              </a:lnSpc>
              <a:spcAft>
                <a:spcPts val="200"/>
              </a:spcAft>
            </a:pPr>
            <a:r>
              <a:rPr sz="1300" b="0" i="0">
                <a:solidFill>
                  <a:srgbClr val="E3E9F2"/>
                </a:solidFill>
                <a:latin typeface="Consolas"/>
              </a:rPr>
              <a:t>tests/form.spec.ts</a:t>
            </a:r>
          </a:p>
          <a:p>
            <a:pPr algn="l">
              <a:lnSpc>
                <a:spcPct val="132000"/>
              </a:lnSpc>
              <a:spcAft>
                <a:spcPts val="200"/>
              </a:spcAft>
            </a:pPr>
            <a:r>
              <a:rPr sz="1300" b="1" i="0">
                <a:solidFill>
                  <a:srgbClr val="8B9BB4"/>
                </a:solidFill>
                <a:latin typeface="Consolas"/>
              </a:rPr>
              <a:t># CLAUDE.md — не создан</a:t>
            </a:r>
          </a:p>
          <a:p>
            <a:pPr algn="l">
              <a:lnSpc>
                <a:spcPct val="132000"/>
              </a:lnSpc>
              <a:spcAft>
                <a:spcPts val="200"/>
              </a:spcAft>
            </a:pPr>
            <a:r>
              <a:rPr sz="1300" b="1" i="0">
                <a:solidFill>
                  <a:srgbClr val="8B9BB4"/>
                </a:solidFill>
                <a:latin typeface="Consolas"/>
              </a:rPr>
              <a:t># + spec.md, README.md (раздел 0) — не в этом git-дереве</a:t>
            </a:r>
          </a:p>
        </p:txBody>
      </p:sp>
      <p:sp>
        <p:nvSpPr>
          <p:cNvPr id="7" name="Rounded Rectangle 6"/>
          <p:cNvSpPr/>
          <p:nvPr/>
        </p:nvSpPr>
        <p:spPr>
          <a:xfrm>
            <a:off x="502920" y="4828032"/>
            <a:ext cx="11183112" cy="1572767"/>
          </a:xfrm>
          <a:prstGeom prst="roundRect">
            <a:avLst>
              <a:gd name="adj" fmla="val 10000"/>
            </a:avLst>
          </a:prstGeom>
          <a:solidFill>
            <a:srgbClr val="FEF5E0"/>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04088" y="4901184"/>
            <a:ext cx="10780776" cy="1426463"/>
          </a:xfrm>
          <a:prstGeom prst="rect">
            <a:avLst/>
          </a:prstGeom>
          <a:noFill/>
        </p:spPr>
        <p:txBody>
          <a:bodyPr wrap="square" lIns="0" rIns="0" tIns="0" bIns="0" anchor="ctr">
            <a:spAutoFit/>
          </a:bodyPr>
          <a:lstStyle/>
          <a:p>
            <a:pPr algn="ctr">
              <a:lnSpc>
                <a:spcPct val="122000"/>
              </a:lnSpc>
            </a:pPr>
            <a:r>
              <a:rPr sz="1700" b="1" i="0">
                <a:solidFill>
                  <a:srgbClr val="21295C"/>
                </a:solidFill>
                <a:latin typeface="Arial"/>
              </a:rPr>
              <a:t>«Файл пуст не потому, что мы ленивы, а потому что для описания структуры репозитория нет сигнала. Но «пусто» не значит «навсегда»: часть содержимого CLAUDE.md мы заведём сразу, ещё на дне 0, как дешёвую гигиену — это следующий кейс.»</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ln>
            <a:noFill/>
          </a:ln>
          <a:effectLst/>
          <a:gradFill rotWithShape="1">
            <a:gsLst>
              <a:gs pos="0">
                <a:srgbClr val="21295C"/>
              </a:gs>
              <a:gs pos="55000">
                <a:srgbClr val="065A82"/>
              </a:gs>
              <a:gs pos="100000">
                <a:srgbClr val="1C7293"/>
              </a:gs>
            </a:gsLst>
            <a:lin ang="2700000" scaled="1"/>
          </a:gra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9646919" y="4617720"/>
            <a:ext cx="1783080" cy="1783080"/>
          </a:xfrm>
          <a:prstGeom prst="roundRect">
            <a:avLst>
              <a:gd name="adj" fmla="val 18000"/>
            </a:avLst>
          </a:prstGeom>
          <a:solidFill>
            <a:srgbClr val="0B14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file-text-F0AB00-128.png"/>
          <p:cNvPicPr>
            <a:picLocks noChangeAspect="1"/>
          </p:cNvPicPr>
          <p:nvPr/>
        </p:nvPicPr>
        <p:blipFill>
          <a:blip r:embed="rId2"/>
          <a:stretch>
            <a:fillRect/>
          </a:stretch>
        </p:blipFill>
        <p:spPr>
          <a:xfrm>
            <a:off x="9921240" y="4892040"/>
            <a:ext cx="1234440" cy="1234440"/>
          </a:xfrm>
          <a:prstGeom prst="rect">
            <a:avLst/>
          </a:prstGeom>
        </p:spPr>
      </p:pic>
      <p:sp>
        <p:nvSpPr>
          <p:cNvPr id="5" name="Rounded Rectangle 4"/>
          <p:cNvSpPr/>
          <p:nvPr/>
        </p:nvSpPr>
        <p:spPr>
          <a:xfrm>
            <a:off x="822960" y="548640"/>
            <a:ext cx="1328927" cy="256032"/>
          </a:xfrm>
          <a:prstGeom prst="roundRect">
            <a:avLst>
              <a:gd name="adj" fmla="val 40000"/>
            </a:avLst>
          </a:prstGeom>
          <a:solidFill>
            <a:srgbClr val="3E4C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2261616" y="548640"/>
            <a:ext cx="1328927" cy="256032"/>
          </a:xfrm>
          <a:prstGeom prst="roundRect">
            <a:avLst>
              <a:gd name="adj" fmla="val 4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3700272" y="548640"/>
            <a:ext cx="1328927" cy="256032"/>
          </a:xfrm>
          <a:prstGeom prst="roundRect">
            <a:avLst>
              <a:gd name="adj" fmla="val 40000"/>
            </a:avLst>
          </a:prstGeom>
          <a:solidFill>
            <a:srgbClr val="3E4C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8961120" cy="1005840"/>
          </a:xfrm>
          <a:prstGeom prst="rect">
            <a:avLst/>
          </a:prstGeom>
          <a:noFill/>
        </p:spPr>
        <p:txBody>
          <a:bodyPr wrap="square" lIns="0" rIns="0" tIns="0" bIns="0" anchor="t">
            <a:spAutoFit/>
          </a:bodyPr>
          <a:lstStyle/>
          <a:p>
            <a:pPr algn="l">
              <a:lnSpc>
                <a:spcPct val="105000"/>
              </a:lnSpc>
            </a:pPr>
            <a:r>
              <a:rPr sz="3300" b="1" i="0">
                <a:solidFill>
                  <a:srgbClr val="FFFFFF"/>
                </a:solidFill>
                <a:latin typeface="Arial"/>
              </a:rPr>
              <a:t>Кейс 1.2 · базовые процессы</a:t>
            </a:r>
          </a:p>
        </p:txBody>
      </p:sp>
      <p:sp>
        <p:nvSpPr>
          <p:cNvPr id="9" name="TextBox 8"/>
          <p:cNvSpPr txBox="1"/>
          <p:nvPr/>
        </p:nvSpPr>
        <p:spPr>
          <a:xfrm>
            <a:off x="868680" y="3090672"/>
            <a:ext cx="8778240" cy="822960"/>
          </a:xfrm>
          <a:prstGeom prst="rect">
            <a:avLst/>
          </a:prstGeom>
          <a:noFill/>
        </p:spPr>
        <p:txBody>
          <a:bodyPr wrap="square" lIns="0" rIns="0" tIns="0" bIns="0" anchor="t">
            <a:spAutoFit/>
          </a:bodyPr>
          <a:lstStyle/>
          <a:p>
            <a:pPr algn="l">
              <a:lnSpc>
                <a:spcPct val="130000"/>
              </a:lnSpc>
            </a:pPr>
            <a:r>
              <a:rPr sz="1600" b="0" i="1">
                <a:solidFill>
                  <a:srgbClr val="CFDCEC"/>
                </a:solidFill>
                <a:latin typeface="Arial"/>
              </a:rPr>
              <a:t>Гейт-фраза и цикл «план → код → улучшение» — заведены с первого дня, и всё равно подводят</a:t>
            </a:r>
          </a:p>
        </p:txBody>
      </p:sp>
      <p:sp>
        <p:nvSpPr>
          <p:cNvPr id="10" name="Rounded Rectangle 9"/>
          <p:cNvSpPr/>
          <p:nvPr/>
        </p:nvSpPr>
        <p:spPr>
          <a:xfrm>
            <a:off x="868680" y="3950208"/>
            <a:ext cx="5486400" cy="502920"/>
          </a:xfrm>
          <a:prstGeom prst="roundRect">
            <a:avLst>
              <a:gd name="adj" fmla="val 28000"/>
            </a:avLst>
          </a:prstGeom>
          <a:solidFill>
            <a:srgbClr val="0B143A"/>
          </a:solidFill>
          <a:ln w="1524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124712" y="3950208"/>
            <a:ext cx="4974336" cy="502920"/>
          </a:xfrm>
          <a:prstGeom prst="rect">
            <a:avLst/>
          </a:prstGeom>
          <a:noFill/>
        </p:spPr>
        <p:txBody>
          <a:bodyPr wrap="square" lIns="0" rIns="0" tIns="0" bIns="0" anchor="ctr">
            <a:spAutoFit/>
          </a:bodyPr>
          <a:lstStyle/>
          <a:p>
            <a:pPr algn="ctr">
              <a:lnSpc>
                <a:spcPct val="115000"/>
              </a:lnSpc>
            </a:pPr>
            <a:r>
              <a:rPr sz="1100" b="1" i="0">
                <a:solidFill>
                  <a:srgbClr val="028090"/>
                </a:solidFill>
                <a:latin typeface="Arial"/>
              </a:rPr>
              <a:t>УНИВЕРСАЛЬНАЯ ГИГИЕНА · ДЕНЬ 0</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29184"/>
            <a:ext cx="10515600" cy="292608"/>
          </a:xfrm>
          <a:prstGeom prst="rect">
            <a:avLst/>
          </a:prstGeom>
          <a:noFill/>
        </p:spPr>
        <p:txBody>
          <a:bodyPr wrap="square" lIns="0" rIns="0" tIns="0" bIns="0" anchor="t">
            <a:spAutoFit/>
          </a:bodyPr>
          <a:lstStyle/>
          <a:p>
            <a:pPr algn="l">
              <a:lnSpc>
                <a:spcPct val="115000"/>
              </a:lnSpc>
            </a:pPr>
            <a:r>
              <a:rPr sz="1150" b="1" i="0">
                <a:solidFill>
                  <a:srgbClr val="028090"/>
                </a:solidFill>
                <a:latin typeface="Arial"/>
              </a:rPr>
              <a:t>КЕЙС 1.2 · БАЗОВЫЕ ПРОЦЕССЫ</a:t>
            </a:r>
          </a:p>
        </p:txBody>
      </p:sp>
      <p:sp>
        <p:nvSpPr>
          <p:cNvPr id="3" name="TextBox 2"/>
          <p:cNvSpPr txBox="1"/>
          <p:nvPr/>
        </p:nvSpPr>
        <p:spPr>
          <a:xfrm>
            <a:off x="502920" y="640080"/>
            <a:ext cx="11183112" cy="1005840"/>
          </a:xfrm>
          <a:prstGeom prst="rect">
            <a:avLst/>
          </a:prstGeom>
          <a:noFill/>
        </p:spPr>
        <p:txBody>
          <a:bodyPr wrap="square" lIns="0" rIns="0" tIns="0" bIns="0" anchor="t">
            <a:spAutoFit/>
          </a:bodyPr>
          <a:lstStyle/>
          <a:p>
            <a:pPr algn="l">
              <a:lnSpc>
                <a:spcPct val="114000"/>
              </a:lnSpc>
            </a:pPr>
            <a:r>
              <a:rPr sz="1650" b="1" i="0">
                <a:solidFill>
                  <a:srgbClr val="21295C"/>
                </a:solidFill>
                <a:latin typeface="Arial"/>
              </a:rPr>
              <a:t>Гейт готовности заведён с первого дня, вместе со spec.md — и всё равно «готово» расходится с реальностью дважды подряд</a:t>
            </a:r>
          </a:p>
        </p:txBody>
      </p:sp>
      <p:sp>
        <p:nvSpPr>
          <p:cNvPr id="4" name="Rounded Rectangle 3"/>
          <p:cNvSpPr/>
          <p:nvPr/>
        </p:nvSpPr>
        <p:spPr>
          <a:xfrm>
            <a:off x="502920" y="1810512"/>
            <a:ext cx="11183112" cy="1691640"/>
          </a:xfrm>
          <a:prstGeom prst="roundRect">
            <a:avLst>
              <a:gd name="adj" fmla="val 18018"/>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 y="1938528"/>
            <a:ext cx="10698480" cy="1435608"/>
          </a:xfrm>
          <a:prstGeom prst="rect">
            <a:avLst/>
          </a:prstGeom>
          <a:noFill/>
        </p:spPr>
        <p:txBody>
          <a:bodyPr wrap="square" lIns="0" rIns="0" tIns="0" bIns="0" anchor="t">
            <a:spAutoFit/>
          </a:bodyPr>
          <a:lstStyle/>
          <a:p>
            <a:pPr algn="l">
              <a:lnSpc>
                <a:spcPct val="128000"/>
              </a:lnSpc>
            </a:pPr>
            <a:r>
              <a:rPr sz="1300" b="0" i="0">
                <a:solidFill>
                  <a:srgbClr val="21295C"/>
                </a:solidFill>
                <a:latin typeface="Arial"/>
              </a:rPr>
              <a:t>Гейт готовности заводится не когда прижмёт, а сразу, на день 0, вместе со spec.md: «Всегда прогоняй тесты и вручную проверяй результат перед тем как сказать ‘готово’».</a:t>
            </a:r>
          </a:p>
        </p:txBody>
      </p:sp>
      <p:sp>
        <p:nvSpPr>
          <p:cNvPr id="6" name="Rounded Rectangle 5"/>
          <p:cNvSpPr/>
          <p:nvPr/>
        </p:nvSpPr>
        <p:spPr>
          <a:xfrm>
            <a:off x="502920" y="3685032"/>
            <a:ext cx="11183112" cy="1691640"/>
          </a:xfrm>
          <a:prstGeom prst="roundRect">
            <a:avLst>
              <a:gd name="adj" fmla="val 18018"/>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31520" y="3813048"/>
            <a:ext cx="10698480" cy="1435608"/>
          </a:xfrm>
          <a:prstGeom prst="rect">
            <a:avLst/>
          </a:prstGeom>
          <a:noFill/>
        </p:spPr>
        <p:txBody>
          <a:bodyPr wrap="square" lIns="0" rIns="0" tIns="0" bIns="0" anchor="t">
            <a:spAutoFit/>
          </a:bodyPr>
          <a:lstStyle/>
          <a:p>
            <a:pPr algn="l">
              <a:lnSpc>
                <a:spcPct val="126000"/>
              </a:lnSpc>
            </a:pPr>
            <a:r>
              <a:rPr sz="1230" b="0" i="0">
                <a:solidFill>
                  <a:srgbClr val="21295C"/>
                </a:solidFill>
                <a:latin typeface="Arial"/>
              </a:rPr>
              <a:t>Две недели спустя: заказчик — «заявка не пришла». Агент читает код, правит обработчик, прогоняет тест — зелёный — «Готово». Тест проверяет только пустые поля. Разработчик напоминает про гейт — агент проверяет руками, чинит. Неделю спустя, другой баг — то же самое: тест зелёный, руками не проверено.</a:t>
            </a:r>
          </a:p>
        </p:txBody>
      </p:sp>
      <p:sp>
        <p:nvSpPr>
          <p:cNvPr id="8" name="Rounded Rectangle 7"/>
          <p:cNvSpPr/>
          <p:nvPr/>
        </p:nvSpPr>
        <p:spPr>
          <a:xfrm>
            <a:off x="502920" y="5541264"/>
            <a:ext cx="11183112" cy="859535"/>
          </a:xfrm>
          <a:prstGeom prst="roundRect">
            <a:avLst>
              <a:gd name="adj" fmla="val 10000"/>
            </a:avLst>
          </a:prstGeom>
          <a:solidFill>
            <a:srgbClr val="FEF5E0"/>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04088" y="5614416"/>
            <a:ext cx="10780776" cy="713231"/>
          </a:xfrm>
          <a:prstGeom prst="rect">
            <a:avLst/>
          </a:prstGeom>
          <a:noFill/>
        </p:spPr>
        <p:txBody>
          <a:bodyPr wrap="square" lIns="0" rIns="0" tIns="0" bIns="0" anchor="ctr">
            <a:spAutoFit/>
          </a:bodyPr>
          <a:lstStyle/>
          <a:p>
            <a:pPr algn="ctr">
              <a:lnSpc>
                <a:spcPct val="122000"/>
              </a:lnSpc>
            </a:pPr>
            <a:r>
              <a:rPr sz="1700" b="1" i="0">
                <a:solidFill>
                  <a:srgbClr val="21295C"/>
                </a:solidFill>
                <a:latin typeface="Arial"/>
              </a:rPr>
              <a:t>«Гейт был. Заведён правильно, с первого дня. Поведение — нет.»</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29184"/>
            <a:ext cx="10515600" cy="292608"/>
          </a:xfrm>
          <a:prstGeom prst="rect">
            <a:avLst/>
          </a:prstGeom>
          <a:noFill/>
        </p:spPr>
        <p:txBody>
          <a:bodyPr wrap="square" lIns="0" rIns="0" tIns="0" bIns="0" anchor="t">
            <a:spAutoFit/>
          </a:bodyPr>
          <a:lstStyle/>
          <a:p>
            <a:pPr algn="l">
              <a:lnSpc>
                <a:spcPct val="115000"/>
              </a:lnSpc>
            </a:pPr>
            <a:r>
              <a:rPr sz="1150" b="1" i="0">
                <a:solidFill>
                  <a:srgbClr val="028090"/>
                </a:solidFill>
                <a:latin typeface="Arial"/>
              </a:rPr>
              <a:t>КЕЙС 1.2 · ВОПРОС</a:t>
            </a:r>
          </a:p>
        </p:txBody>
      </p:sp>
      <p:sp>
        <p:nvSpPr>
          <p:cNvPr id="3" name="TextBox 2"/>
          <p:cNvSpPr txBox="1"/>
          <p:nvPr/>
        </p:nvSpPr>
        <p:spPr>
          <a:xfrm>
            <a:off x="502920" y="640080"/>
            <a:ext cx="11183112" cy="868680"/>
          </a:xfrm>
          <a:prstGeom prst="rect">
            <a:avLst/>
          </a:prstGeom>
          <a:noFill/>
        </p:spPr>
        <p:txBody>
          <a:bodyPr wrap="square" lIns="0" rIns="0" tIns="0" bIns="0" anchor="t">
            <a:spAutoFit/>
          </a:bodyPr>
          <a:lstStyle/>
          <a:p>
            <a:pPr algn="l">
              <a:lnSpc>
                <a:spcPct val="114000"/>
              </a:lnSpc>
            </a:pPr>
            <a:r>
              <a:rPr sz="1900" b="1" i="0">
                <a:solidFill>
                  <a:srgbClr val="21295C"/>
                </a:solidFill>
                <a:latin typeface="Arial"/>
              </a:rPr>
              <a:t>Гейт-фраза уже есть с самого начала и не сработала — выбор из пяти вариантов, что делать дальше</a:t>
            </a:r>
          </a:p>
        </p:txBody>
      </p:sp>
      <p:sp>
        <p:nvSpPr>
          <p:cNvPr id="4" name="Rounded Rectangle 3"/>
          <p:cNvSpPr/>
          <p:nvPr/>
        </p:nvSpPr>
        <p:spPr>
          <a:xfrm>
            <a:off x="502920" y="1673351"/>
            <a:ext cx="11183112" cy="1188720"/>
          </a:xfrm>
          <a:prstGeom prst="roundRect">
            <a:avLst>
              <a:gd name="adj" fmla="val 10000"/>
            </a:avLst>
          </a:prstGeom>
          <a:solidFill>
            <a:srgbClr val="FEF5E0"/>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04088" y="1746504"/>
            <a:ext cx="10780776" cy="1042416"/>
          </a:xfrm>
          <a:prstGeom prst="rect">
            <a:avLst/>
          </a:prstGeom>
          <a:noFill/>
        </p:spPr>
        <p:txBody>
          <a:bodyPr wrap="square" lIns="0" rIns="0" tIns="0" bIns="0" anchor="ctr">
            <a:spAutoFit/>
          </a:bodyPr>
          <a:lstStyle/>
          <a:p>
            <a:pPr algn="l">
              <a:lnSpc>
                <a:spcPct val="122000"/>
              </a:lnSpc>
            </a:pPr>
            <a:r>
              <a:rPr sz="1400" b="1" i="0">
                <a:solidFill>
                  <a:srgbClr val="21295C"/>
                </a:solidFill>
                <a:latin typeface="Arial"/>
              </a:rPr>
              <a:t>«У вас гейт-фраза в CLAUDE.md есть с самого начала, а поведение агента всё равно расходится с ней второй раз подряд — заявка снова не проверена руками. Выберите, что вы сделаете дальше — из карточек ниже — так, чтобы это реально сработало в следующей сессии.»</a:t>
            </a:r>
          </a:p>
        </p:txBody>
      </p:sp>
      <p:sp>
        <p:nvSpPr>
          <p:cNvPr id="6" name="Rounded Rectangle 5"/>
          <p:cNvSpPr/>
          <p:nvPr/>
        </p:nvSpPr>
        <p:spPr>
          <a:xfrm>
            <a:off x="502920" y="3063239"/>
            <a:ext cx="2119579" cy="1600200"/>
          </a:xfrm>
          <a:prstGeom prst="roundRect">
            <a:avLst>
              <a:gd name="adj" fmla="val 19047"/>
            </a:avLst>
          </a:prstGeom>
          <a:solidFill>
            <a:srgbClr val="F4F7FA"/>
          </a:solidFill>
          <a:ln w="1397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76072" y="3063239"/>
            <a:ext cx="1973275" cy="1600200"/>
          </a:xfrm>
          <a:prstGeom prst="rect">
            <a:avLst/>
          </a:prstGeom>
          <a:noFill/>
        </p:spPr>
        <p:txBody>
          <a:bodyPr wrap="square" lIns="0" rIns="0" tIns="0" bIns="0" anchor="ctr">
            <a:spAutoFit/>
          </a:bodyPr>
          <a:lstStyle/>
          <a:p>
            <a:pPr algn="ctr">
              <a:lnSpc>
                <a:spcPct val="115000"/>
              </a:lnSpc>
              <a:spcAft>
                <a:spcPts val="0"/>
              </a:spcAft>
            </a:pPr>
            <a:r>
              <a:rPr sz="1250" b="1" i="0">
                <a:solidFill>
                  <a:srgbClr val="21295C"/>
                </a:solidFill>
                <a:latin typeface="Arial"/>
              </a:rPr>
              <a:t>перепишу фразу</a:t>
            </a:r>
          </a:p>
          <a:p>
            <a:pPr algn="ctr">
              <a:lnSpc>
                <a:spcPct val="115000"/>
              </a:lnSpc>
              <a:spcAft>
                <a:spcPts val="0"/>
              </a:spcAft>
            </a:pPr>
            <a:r>
              <a:rPr sz="1250" b="1" i="0">
                <a:solidFill>
                  <a:srgbClr val="21295C"/>
                </a:solidFill>
                <a:latin typeface="Arial"/>
              </a:rPr>
              <a:t>капсом / жёстче</a:t>
            </a:r>
          </a:p>
        </p:txBody>
      </p:sp>
      <p:sp>
        <p:nvSpPr>
          <p:cNvPr id="8" name="Rounded Rectangle 7"/>
          <p:cNvSpPr/>
          <p:nvPr/>
        </p:nvSpPr>
        <p:spPr>
          <a:xfrm>
            <a:off x="2768803" y="3063239"/>
            <a:ext cx="2119579" cy="1600200"/>
          </a:xfrm>
          <a:prstGeom prst="roundRect">
            <a:avLst>
              <a:gd name="adj" fmla="val 19047"/>
            </a:avLst>
          </a:prstGeom>
          <a:solidFill>
            <a:srgbClr val="F4F7FA"/>
          </a:solidFill>
          <a:ln w="1397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2841955" y="3063239"/>
            <a:ext cx="1973275" cy="1600200"/>
          </a:xfrm>
          <a:prstGeom prst="rect">
            <a:avLst/>
          </a:prstGeom>
          <a:noFill/>
        </p:spPr>
        <p:txBody>
          <a:bodyPr wrap="square" lIns="0" rIns="0" tIns="0" bIns="0" anchor="ctr">
            <a:spAutoFit/>
          </a:bodyPr>
          <a:lstStyle/>
          <a:p>
            <a:pPr algn="ctr">
              <a:lnSpc>
                <a:spcPct val="115000"/>
              </a:lnSpc>
              <a:spcAft>
                <a:spcPts val="0"/>
              </a:spcAft>
            </a:pPr>
            <a:r>
              <a:rPr sz="1250" b="1" i="0">
                <a:solidFill>
                  <a:srgbClr val="21295C"/>
                </a:solidFill>
                <a:latin typeface="Arial"/>
              </a:rPr>
              <a:t>продублирую фразу</a:t>
            </a:r>
          </a:p>
          <a:p>
            <a:pPr algn="ctr">
              <a:lnSpc>
                <a:spcPct val="115000"/>
              </a:lnSpc>
              <a:spcAft>
                <a:spcPts val="0"/>
              </a:spcAft>
            </a:pPr>
            <a:r>
              <a:rPr sz="1250" b="1" i="0">
                <a:solidFill>
                  <a:srgbClr val="21295C"/>
                </a:solidFill>
                <a:latin typeface="Arial"/>
              </a:rPr>
              <a:t>вторым пунктом</a:t>
            </a:r>
          </a:p>
        </p:txBody>
      </p:sp>
      <p:sp>
        <p:nvSpPr>
          <p:cNvPr id="10" name="Rounded Rectangle 9"/>
          <p:cNvSpPr/>
          <p:nvPr/>
        </p:nvSpPr>
        <p:spPr>
          <a:xfrm>
            <a:off x="5034686" y="3063239"/>
            <a:ext cx="2119579" cy="1600200"/>
          </a:xfrm>
          <a:prstGeom prst="roundRect">
            <a:avLst>
              <a:gd name="adj" fmla="val 19047"/>
            </a:avLst>
          </a:prstGeom>
          <a:solidFill>
            <a:srgbClr val="F4F7FA"/>
          </a:solidFill>
          <a:ln w="1397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107838" y="3063239"/>
            <a:ext cx="1973275" cy="1600200"/>
          </a:xfrm>
          <a:prstGeom prst="rect">
            <a:avLst/>
          </a:prstGeom>
          <a:noFill/>
        </p:spPr>
        <p:txBody>
          <a:bodyPr wrap="square" lIns="0" rIns="0" tIns="0" bIns="0" anchor="ctr">
            <a:spAutoFit/>
          </a:bodyPr>
          <a:lstStyle/>
          <a:p>
            <a:pPr algn="ctr">
              <a:lnSpc>
                <a:spcPct val="115000"/>
              </a:lnSpc>
              <a:spcAft>
                <a:spcPts val="0"/>
              </a:spcAft>
            </a:pPr>
            <a:r>
              <a:rPr sz="1250" b="1" i="0">
                <a:solidFill>
                  <a:srgbClr val="21295C"/>
                </a:solidFill>
                <a:latin typeface="Arial"/>
              </a:rPr>
              <a:t>заведу отдельный</a:t>
            </a:r>
          </a:p>
          <a:p>
            <a:pPr algn="ctr">
              <a:lnSpc>
                <a:spcPct val="115000"/>
              </a:lnSpc>
              <a:spcAft>
                <a:spcPts val="0"/>
              </a:spcAft>
            </a:pPr>
            <a:r>
              <a:rPr sz="1250" b="1" i="0">
                <a:solidFill>
                  <a:srgbClr val="21295C"/>
                </a:solidFill>
                <a:latin typeface="Arial"/>
              </a:rPr>
              <a:t>файл-чеклист рядом</a:t>
            </a:r>
          </a:p>
        </p:txBody>
      </p:sp>
      <p:sp>
        <p:nvSpPr>
          <p:cNvPr id="12" name="Rounded Rectangle 11"/>
          <p:cNvSpPr/>
          <p:nvPr/>
        </p:nvSpPr>
        <p:spPr>
          <a:xfrm>
            <a:off x="7300569" y="3063239"/>
            <a:ext cx="2119579" cy="1600200"/>
          </a:xfrm>
          <a:prstGeom prst="roundRect">
            <a:avLst>
              <a:gd name="adj" fmla="val 19047"/>
            </a:avLst>
          </a:prstGeom>
          <a:solidFill>
            <a:srgbClr val="F4F7FA"/>
          </a:solidFill>
          <a:ln w="1397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373721" y="3063239"/>
            <a:ext cx="1973275" cy="1600200"/>
          </a:xfrm>
          <a:prstGeom prst="rect">
            <a:avLst/>
          </a:prstGeom>
          <a:noFill/>
        </p:spPr>
        <p:txBody>
          <a:bodyPr wrap="square" lIns="0" rIns="0" tIns="0" bIns="0" anchor="ctr">
            <a:spAutoFit/>
          </a:bodyPr>
          <a:lstStyle/>
          <a:p>
            <a:pPr algn="ctr">
              <a:lnSpc>
                <a:spcPct val="115000"/>
              </a:lnSpc>
              <a:spcAft>
                <a:spcPts val="0"/>
              </a:spcAft>
            </a:pPr>
            <a:r>
              <a:rPr sz="1250" b="1" i="0">
                <a:solidFill>
                  <a:srgbClr val="21295C"/>
                </a:solidFill>
                <a:latin typeface="Arial"/>
              </a:rPr>
              <a:t>передам проверку</a:t>
            </a:r>
          </a:p>
          <a:p>
            <a:pPr algn="ctr">
              <a:lnSpc>
                <a:spcPct val="115000"/>
              </a:lnSpc>
              <a:spcAft>
                <a:spcPts val="0"/>
              </a:spcAft>
            </a:pPr>
            <a:r>
              <a:rPr sz="1250" b="1" i="0">
                <a:solidFill>
                  <a:srgbClr val="21295C"/>
                </a:solidFill>
                <a:latin typeface="Arial"/>
              </a:rPr>
              <a:t>механизму вне текста</a:t>
            </a:r>
          </a:p>
        </p:txBody>
      </p:sp>
      <p:sp>
        <p:nvSpPr>
          <p:cNvPr id="14" name="Rounded Rectangle 13"/>
          <p:cNvSpPr/>
          <p:nvPr/>
        </p:nvSpPr>
        <p:spPr>
          <a:xfrm>
            <a:off x="9566452" y="3063239"/>
            <a:ext cx="2119579" cy="1600200"/>
          </a:xfrm>
          <a:prstGeom prst="roundRect">
            <a:avLst>
              <a:gd name="adj" fmla="val 19047"/>
            </a:avLst>
          </a:prstGeom>
          <a:solidFill>
            <a:srgbClr val="F4F7FA"/>
          </a:solidFill>
          <a:ln w="1397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639604" y="3063239"/>
            <a:ext cx="1973275" cy="1600200"/>
          </a:xfrm>
          <a:prstGeom prst="rect">
            <a:avLst/>
          </a:prstGeom>
          <a:noFill/>
        </p:spPr>
        <p:txBody>
          <a:bodyPr wrap="square" lIns="0" rIns="0" tIns="0" bIns="0" anchor="ctr">
            <a:spAutoFit/>
          </a:bodyPr>
          <a:lstStyle/>
          <a:p>
            <a:pPr algn="ctr">
              <a:lnSpc>
                <a:spcPct val="115000"/>
              </a:lnSpc>
              <a:spcAft>
                <a:spcPts val="0"/>
              </a:spcAft>
            </a:pPr>
            <a:r>
              <a:rPr sz="1250" b="1" i="0">
                <a:solidFill>
                  <a:srgbClr val="21295C"/>
                </a:solidFill>
                <a:latin typeface="Arial"/>
              </a:rPr>
              <a:t>смирюсь — сработает</a:t>
            </a:r>
          </a:p>
          <a:p>
            <a:pPr algn="ctr">
              <a:lnSpc>
                <a:spcPct val="115000"/>
              </a:lnSpc>
              <a:spcAft>
                <a:spcPts val="0"/>
              </a:spcAft>
            </a:pPr>
            <a:r>
              <a:rPr sz="1250" b="1" i="0">
                <a:solidFill>
                  <a:srgbClr val="21295C"/>
                </a:solidFill>
                <a:latin typeface="Arial"/>
              </a:rPr>
              <a:t>не всегда, это норма</a:t>
            </a:r>
          </a:p>
        </p:txBody>
      </p:sp>
      <p:sp>
        <p:nvSpPr>
          <p:cNvPr id="16" name="TextBox 15"/>
          <p:cNvSpPr txBox="1"/>
          <p:nvPr/>
        </p:nvSpPr>
        <p:spPr>
          <a:xfrm>
            <a:off x="502920" y="4809744"/>
            <a:ext cx="11183112" cy="320040"/>
          </a:xfrm>
          <a:prstGeom prst="rect">
            <a:avLst/>
          </a:prstGeom>
          <a:noFill/>
        </p:spPr>
        <p:txBody>
          <a:bodyPr wrap="square" lIns="0" rIns="0" tIns="0" bIns="0" anchor="t">
            <a:spAutoFit/>
          </a:bodyPr>
          <a:lstStyle/>
          <a:p>
            <a:pPr algn="ctr">
              <a:lnSpc>
                <a:spcPct val="115000"/>
              </a:lnSpc>
            </a:pPr>
            <a:r>
              <a:rPr sz="1200" b="0" i="1">
                <a:solidFill>
                  <a:srgbClr val="6B7685"/>
                </a:solidFill>
                <a:latin typeface="Arial"/>
              </a:rPr>
              <a:t>разбор — на следующем слайде</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29184"/>
            <a:ext cx="10515600" cy="292608"/>
          </a:xfrm>
          <a:prstGeom prst="rect">
            <a:avLst/>
          </a:prstGeom>
          <a:noFill/>
        </p:spPr>
        <p:txBody>
          <a:bodyPr wrap="square" lIns="0" rIns="0" tIns="0" bIns="0" anchor="t">
            <a:spAutoFit/>
          </a:bodyPr>
          <a:lstStyle/>
          <a:p>
            <a:pPr algn="l">
              <a:lnSpc>
                <a:spcPct val="115000"/>
              </a:lnSpc>
            </a:pPr>
            <a:r>
              <a:rPr sz="1150" b="1" i="0">
                <a:solidFill>
                  <a:srgbClr val="028090"/>
                </a:solidFill>
                <a:latin typeface="Arial"/>
              </a:rPr>
              <a:t>КЕЙС 1.2 · ИССЛЕДОВАНИЕ И РАЗБОР</a:t>
            </a:r>
          </a:p>
        </p:txBody>
      </p:sp>
      <p:sp>
        <p:nvSpPr>
          <p:cNvPr id="3" name="TextBox 2"/>
          <p:cNvSpPr txBox="1"/>
          <p:nvPr/>
        </p:nvSpPr>
        <p:spPr>
          <a:xfrm>
            <a:off x="502920" y="640080"/>
            <a:ext cx="11183112" cy="621792"/>
          </a:xfrm>
          <a:prstGeom prst="rect">
            <a:avLst/>
          </a:prstGeom>
          <a:noFill/>
        </p:spPr>
        <p:txBody>
          <a:bodyPr wrap="square" lIns="0" rIns="0" tIns="0" bIns="0" anchor="t">
            <a:spAutoFit/>
          </a:bodyPr>
          <a:lstStyle/>
          <a:p>
            <a:pPr algn="l">
              <a:lnSpc>
                <a:spcPct val="114000"/>
              </a:lnSpc>
            </a:pPr>
            <a:r>
              <a:rPr sz="1300" b="1" i="0">
                <a:solidFill>
                  <a:srgbClr val="21295C"/>
                </a:solidFill>
                <a:latin typeface="Arial"/>
              </a:rPr>
              <a:t>Текстовый гейт без тулинга не просто бесполезен, а вреден — регрессии выросли почти до 10%; правила в промпте — просьбы, правила в коде — законы</a:t>
            </a:r>
          </a:p>
        </p:txBody>
      </p:sp>
      <p:sp>
        <p:nvSpPr>
          <p:cNvPr id="4" name="Rounded Rectangle 3"/>
          <p:cNvSpPr/>
          <p:nvPr/>
        </p:nvSpPr>
        <p:spPr>
          <a:xfrm>
            <a:off x="502920" y="1353312"/>
            <a:ext cx="11183112" cy="1234440"/>
          </a:xfrm>
          <a:prstGeom prst="roundRect">
            <a:avLst>
              <a:gd name="adj" fmla="val 24691"/>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85800" y="1536192"/>
            <a:ext cx="3172053" cy="329184"/>
          </a:xfrm>
          <a:prstGeom prst="rect">
            <a:avLst/>
          </a:prstGeom>
          <a:noFill/>
        </p:spPr>
        <p:txBody>
          <a:bodyPr wrap="square" lIns="0" rIns="0" tIns="0" bIns="0" anchor="t">
            <a:spAutoFit/>
          </a:bodyPr>
          <a:lstStyle/>
          <a:p>
            <a:pPr algn="l">
              <a:lnSpc>
                <a:spcPct val="115000"/>
              </a:lnSpc>
            </a:pPr>
            <a:r>
              <a:rPr sz="930" b="1" i="0">
                <a:solidFill>
                  <a:srgbClr val="6B7685"/>
                </a:solidFill>
                <a:latin typeface="Arial"/>
              </a:rPr>
              <a:t>Источник</a:t>
            </a:r>
          </a:p>
        </p:txBody>
      </p:sp>
      <p:sp>
        <p:nvSpPr>
          <p:cNvPr id="6" name="TextBox 5"/>
          <p:cNvSpPr txBox="1"/>
          <p:nvPr/>
        </p:nvSpPr>
        <p:spPr>
          <a:xfrm>
            <a:off x="3931005" y="1536192"/>
            <a:ext cx="5119176" cy="329184"/>
          </a:xfrm>
          <a:prstGeom prst="rect">
            <a:avLst/>
          </a:prstGeom>
          <a:noFill/>
        </p:spPr>
        <p:txBody>
          <a:bodyPr wrap="square" lIns="0" rIns="0" tIns="0" bIns="0" anchor="t">
            <a:spAutoFit/>
          </a:bodyPr>
          <a:lstStyle/>
          <a:p>
            <a:pPr algn="l">
              <a:lnSpc>
                <a:spcPct val="115000"/>
              </a:lnSpc>
            </a:pPr>
            <a:r>
              <a:rPr sz="930" b="1" i="0">
                <a:solidFill>
                  <a:srgbClr val="6B7685"/>
                </a:solidFill>
                <a:latin typeface="Arial"/>
              </a:rPr>
              <a:t>Тезис</a:t>
            </a:r>
          </a:p>
        </p:txBody>
      </p:sp>
      <p:sp>
        <p:nvSpPr>
          <p:cNvPr id="7" name="TextBox 6"/>
          <p:cNvSpPr txBox="1"/>
          <p:nvPr/>
        </p:nvSpPr>
        <p:spPr>
          <a:xfrm>
            <a:off x="9123334" y="1536192"/>
            <a:ext cx="2306665" cy="329184"/>
          </a:xfrm>
          <a:prstGeom prst="rect">
            <a:avLst/>
          </a:prstGeom>
          <a:noFill/>
        </p:spPr>
        <p:txBody>
          <a:bodyPr wrap="square" lIns="0" rIns="0" tIns="0" bIns="0" anchor="t">
            <a:spAutoFit/>
          </a:bodyPr>
          <a:lstStyle/>
          <a:p>
            <a:pPr algn="l">
              <a:lnSpc>
                <a:spcPct val="115000"/>
              </a:lnSpc>
            </a:pPr>
            <a:r>
              <a:rPr sz="930" b="1" i="0">
                <a:solidFill>
                  <a:srgbClr val="6B7685"/>
                </a:solidFill>
                <a:latin typeface="Arial"/>
              </a:rPr>
              <a:t>Сила</a:t>
            </a:r>
          </a:p>
        </p:txBody>
      </p:sp>
      <p:sp>
        <p:nvSpPr>
          <p:cNvPr id="8" name="TextBox 7"/>
          <p:cNvSpPr txBox="1"/>
          <p:nvPr/>
        </p:nvSpPr>
        <p:spPr>
          <a:xfrm>
            <a:off x="685800" y="1920240"/>
            <a:ext cx="3153765" cy="161544"/>
          </a:xfrm>
          <a:prstGeom prst="rect">
            <a:avLst/>
          </a:prstGeom>
          <a:noFill/>
        </p:spPr>
        <p:txBody>
          <a:bodyPr wrap="square" lIns="0" rIns="0" tIns="0" bIns="0" anchor="ctr">
            <a:spAutoFit/>
          </a:bodyPr>
          <a:lstStyle/>
          <a:p>
            <a:pPr algn="l">
              <a:lnSpc>
                <a:spcPct val="115000"/>
              </a:lnSpc>
            </a:pPr>
            <a:r>
              <a:rPr sz="869" b="0" i="0">
                <a:solidFill>
                  <a:srgbClr val="21295C"/>
                </a:solidFill>
                <a:latin typeface="Arial"/>
              </a:rPr>
              <a:t>SWE-Gate/SpecBench/CapCode (4 препринта)</a:t>
            </a:r>
          </a:p>
        </p:txBody>
      </p:sp>
      <p:sp>
        <p:nvSpPr>
          <p:cNvPr id="9" name="TextBox 8"/>
          <p:cNvSpPr txBox="1"/>
          <p:nvPr/>
        </p:nvSpPr>
        <p:spPr>
          <a:xfrm>
            <a:off x="3931005" y="1920240"/>
            <a:ext cx="5100888" cy="161544"/>
          </a:xfrm>
          <a:prstGeom prst="rect">
            <a:avLst/>
          </a:prstGeom>
          <a:noFill/>
        </p:spPr>
        <p:txBody>
          <a:bodyPr wrap="square" lIns="0" rIns="0" tIns="0" bIns="0" anchor="ctr">
            <a:spAutoFit/>
          </a:bodyPr>
          <a:lstStyle/>
          <a:p>
            <a:pPr algn="l">
              <a:lnSpc>
                <a:spcPct val="115000"/>
              </a:lnSpc>
            </a:pPr>
            <a:r>
              <a:rPr sz="869" b="0" i="0">
                <a:solidFill>
                  <a:srgbClr val="21295C"/>
                </a:solidFill>
                <a:latin typeface="Arial"/>
              </a:rPr>
              <a:t>Согласие 4+ независимых исследований: агенты обходят видимые гейты</a:t>
            </a:r>
          </a:p>
        </p:txBody>
      </p:sp>
      <p:sp>
        <p:nvSpPr>
          <p:cNvPr id="10" name="TextBox 9"/>
          <p:cNvSpPr txBox="1"/>
          <p:nvPr/>
        </p:nvSpPr>
        <p:spPr>
          <a:xfrm>
            <a:off x="9123334" y="1920240"/>
            <a:ext cx="2288377" cy="161544"/>
          </a:xfrm>
          <a:prstGeom prst="rect">
            <a:avLst/>
          </a:prstGeom>
          <a:noFill/>
        </p:spPr>
        <p:txBody>
          <a:bodyPr wrap="square" lIns="0" rIns="0" tIns="0" bIns="0" anchor="ctr">
            <a:spAutoFit/>
          </a:bodyPr>
          <a:lstStyle/>
          <a:p>
            <a:pPr algn="l">
              <a:lnSpc>
                <a:spcPct val="115000"/>
              </a:lnSpc>
            </a:pPr>
            <a:r>
              <a:rPr sz="869" b="0" i="0">
                <a:solidFill>
                  <a:srgbClr val="21295C"/>
                </a:solidFill>
                <a:latin typeface="Arial"/>
              </a:rPr>
              <a:t>Сильное — консенсус</a:t>
            </a:r>
          </a:p>
        </p:txBody>
      </p:sp>
      <p:cxnSp>
        <p:nvCxnSpPr>
          <p:cNvPr id="11" name="Connector 10"/>
          <p:cNvCxnSpPr/>
          <p:nvPr/>
        </p:nvCxnSpPr>
        <p:spPr>
          <a:xfrm>
            <a:off x="685800" y="2081784"/>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2" name="Rectangle 11"/>
          <p:cNvSpPr/>
          <p:nvPr/>
        </p:nvSpPr>
        <p:spPr>
          <a:xfrm>
            <a:off x="557784" y="2081784"/>
            <a:ext cx="11073384" cy="161544"/>
          </a:xfrm>
          <a:prstGeom prst="rect">
            <a:avLst/>
          </a:prstGeom>
          <a:solidFill>
            <a:srgbClr val="FEF5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85800" y="2081784"/>
            <a:ext cx="3153765" cy="161544"/>
          </a:xfrm>
          <a:prstGeom prst="rect">
            <a:avLst/>
          </a:prstGeom>
          <a:noFill/>
        </p:spPr>
        <p:txBody>
          <a:bodyPr wrap="square" lIns="0" rIns="0" tIns="0" bIns="0" anchor="ctr">
            <a:spAutoFit/>
          </a:bodyPr>
          <a:lstStyle/>
          <a:p>
            <a:pPr algn="l">
              <a:lnSpc>
                <a:spcPct val="115000"/>
              </a:lnSpc>
            </a:pPr>
            <a:r>
              <a:rPr sz="869" b="0" i="0">
                <a:solidFill>
                  <a:srgbClr val="21295C"/>
                </a:solidFill>
                <a:latin typeface="Arial"/>
              </a:rPr>
              <a:t>TDAD, arXiv:2603.17973</a:t>
            </a:r>
          </a:p>
        </p:txBody>
      </p:sp>
      <p:sp>
        <p:nvSpPr>
          <p:cNvPr id="14" name="TextBox 13"/>
          <p:cNvSpPr txBox="1"/>
          <p:nvPr/>
        </p:nvSpPr>
        <p:spPr>
          <a:xfrm>
            <a:off x="3931005" y="2081784"/>
            <a:ext cx="5100888" cy="161544"/>
          </a:xfrm>
          <a:prstGeom prst="rect">
            <a:avLst/>
          </a:prstGeom>
          <a:noFill/>
        </p:spPr>
        <p:txBody>
          <a:bodyPr wrap="square" lIns="0" rIns="0" tIns="0" bIns="0" anchor="ctr">
            <a:spAutoFit/>
          </a:bodyPr>
          <a:lstStyle/>
          <a:p>
            <a:pPr algn="l">
              <a:lnSpc>
                <a:spcPct val="115000"/>
              </a:lnSpc>
            </a:pPr>
            <a:r>
              <a:rPr sz="869" b="0" i="0">
                <a:solidFill>
                  <a:srgbClr val="21295C"/>
                </a:solidFill>
                <a:latin typeface="Arial"/>
              </a:rPr>
              <a:t>«Сначала пиши тесты» без тулинга — регрессии до 9,94%, хуже отсутствия</a:t>
            </a:r>
          </a:p>
        </p:txBody>
      </p:sp>
      <p:sp>
        <p:nvSpPr>
          <p:cNvPr id="15" name="TextBox 14"/>
          <p:cNvSpPr txBox="1"/>
          <p:nvPr/>
        </p:nvSpPr>
        <p:spPr>
          <a:xfrm>
            <a:off x="9123334" y="2081784"/>
            <a:ext cx="2288377" cy="161544"/>
          </a:xfrm>
          <a:prstGeom prst="rect">
            <a:avLst/>
          </a:prstGeom>
          <a:noFill/>
        </p:spPr>
        <p:txBody>
          <a:bodyPr wrap="square" lIns="0" rIns="0" tIns="0" bIns="0" anchor="ctr">
            <a:spAutoFit/>
          </a:bodyPr>
          <a:lstStyle/>
          <a:p>
            <a:pPr algn="l">
              <a:lnSpc>
                <a:spcPct val="115000"/>
              </a:lnSpc>
            </a:pPr>
            <a:r>
              <a:rPr sz="869" b="0" i="0">
                <a:solidFill>
                  <a:srgbClr val="21295C"/>
                </a:solidFill>
                <a:latin typeface="Arial"/>
              </a:rPr>
              <a:t>Сильное и контринтуитивное</a:t>
            </a:r>
          </a:p>
        </p:txBody>
      </p:sp>
      <p:cxnSp>
        <p:nvCxnSpPr>
          <p:cNvPr id="16" name="Connector 15"/>
          <p:cNvCxnSpPr/>
          <p:nvPr/>
        </p:nvCxnSpPr>
        <p:spPr>
          <a:xfrm>
            <a:off x="685800" y="2243328"/>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685800" y="2243328"/>
            <a:ext cx="3153765" cy="161544"/>
          </a:xfrm>
          <a:prstGeom prst="rect">
            <a:avLst/>
          </a:prstGeom>
          <a:noFill/>
        </p:spPr>
        <p:txBody>
          <a:bodyPr wrap="square" lIns="0" rIns="0" tIns="0" bIns="0" anchor="ctr">
            <a:spAutoFit/>
          </a:bodyPr>
          <a:lstStyle/>
          <a:p>
            <a:pPr algn="l">
              <a:lnSpc>
                <a:spcPct val="115000"/>
              </a:lnSpc>
            </a:pPr>
            <a:r>
              <a:rPr sz="869" b="0" i="0">
                <a:solidFill>
                  <a:srgbClr val="21295C"/>
                </a:solidFill>
                <a:latin typeface="Arial"/>
              </a:rPr>
              <a:t>Agent Scaffolding Beats Model Upgrades</a:t>
            </a:r>
          </a:p>
        </p:txBody>
      </p:sp>
      <p:sp>
        <p:nvSpPr>
          <p:cNvPr id="18" name="TextBox 17"/>
          <p:cNvSpPr txBox="1"/>
          <p:nvPr/>
        </p:nvSpPr>
        <p:spPr>
          <a:xfrm>
            <a:off x="3931005" y="2243328"/>
            <a:ext cx="5100888" cy="161544"/>
          </a:xfrm>
          <a:prstGeom prst="rect">
            <a:avLst/>
          </a:prstGeom>
          <a:noFill/>
        </p:spPr>
        <p:txBody>
          <a:bodyPr wrap="square" lIns="0" rIns="0" tIns="0" bIns="0" anchor="ctr">
            <a:spAutoFit/>
          </a:bodyPr>
          <a:lstStyle/>
          <a:p>
            <a:pPr algn="l">
              <a:lnSpc>
                <a:spcPct val="115000"/>
              </a:lnSpc>
            </a:pPr>
            <a:r>
              <a:rPr sz="869" b="0" i="0">
                <a:solidFill>
                  <a:srgbClr val="21295C"/>
                </a:solidFill>
                <a:latin typeface="Arial"/>
              </a:rPr>
              <a:t>Архитектура харнесса даёт +20 п.п.; смена модели — ~1 п.п.</a:t>
            </a:r>
          </a:p>
        </p:txBody>
      </p:sp>
      <p:sp>
        <p:nvSpPr>
          <p:cNvPr id="19" name="TextBox 18"/>
          <p:cNvSpPr txBox="1"/>
          <p:nvPr/>
        </p:nvSpPr>
        <p:spPr>
          <a:xfrm>
            <a:off x="9123334" y="2243328"/>
            <a:ext cx="2288377" cy="161544"/>
          </a:xfrm>
          <a:prstGeom prst="rect">
            <a:avLst/>
          </a:prstGeom>
          <a:noFill/>
        </p:spPr>
        <p:txBody>
          <a:bodyPr wrap="square" lIns="0" rIns="0" tIns="0" bIns="0" anchor="ctr">
            <a:spAutoFit/>
          </a:bodyPr>
          <a:lstStyle/>
          <a:p>
            <a:pPr algn="l">
              <a:lnSpc>
                <a:spcPct val="115000"/>
              </a:lnSpc>
            </a:pPr>
            <a:r>
              <a:rPr sz="869" b="0" i="0">
                <a:solidFill>
                  <a:srgbClr val="21295C"/>
                </a:solidFill>
                <a:latin typeface="Arial"/>
              </a:rPr>
              <a:t>Сильное — механизм против модели</a:t>
            </a:r>
          </a:p>
        </p:txBody>
      </p:sp>
      <p:sp>
        <p:nvSpPr>
          <p:cNvPr id="20" name="Rounded Rectangle 19"/>
          <p:cNvSpPr/>
          <p:nvPr/>
        </p:nvSpPr>
        <p:spPr>
          <a:xfrm>
            <a:off x="502920" y="2679192"/>
            <a:ext cx="11183112" cy="1234440"/>
          </a:xfrm>
          <a:prstGeom prst="roundRect">
            <a:avLst>
              <a:gd name="adj" fmla="val 24691"/>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85800" y="2862072"/>
            <a:ext cx="3172053" cy="329184"/>
          </a:xfrm>
          <a:prstGeom prst="rect">
            <a:avLst/>
          </a:prstGeom>
          <a:noFill/>
        </p:spPr>
        <p:txBody>
          <a:bodyPr wrap="square" lIns="0" rIns="0" tIns="0" bIns="0" anchor="t">
            <a:spAutoFit/>
          </a:bodyPr>
          <a:lstStyle/>
          <a:p>
            <a:pPr algn="l">
              <a:lnSpc>
                <a:spcPct val="115000"/>
              </a:lnSpc>
            </a:pPr>
            <a:r>
              <a:rPr sz="930" b="1" i="0">
                <a:solidFill>
                  <a:srgbClr val="6B7685"/>
                </a:solidFill>
                <a:latin typeface="Arial"/>
              </a:rPr>
              <a:t>Источник</a:t>
            </a:r>
          </a:p>
        </p:txBody>
      </p:sp>
      <p:sp>
        <p:nvSpPr>
          <p:cNvPr id="22" name="TextBox 21"/>
          <p:cNvSpPr txBox="1"/>
          <p:nvPr/>
        </p:nvSpPr>
        <p:spPr>
          <a:xfrm>
            <a:off x="3931005" y="2862072"/>
            <a:ext cx="5119176" cy="329184"/>
          </a:xfrm>
          <a:prstGeom prst="rect">
            <a:avLst/>
          </a:prstGeom>
          <a:noFill/>
        </p:spPr>
        <p:txBody>
          <a:bodyPr wrap="square" lIns="0" rIns="0" tIns="0" bIns="0" anchor="t">
            <a:spAutoFit/>
          </a:bodyPr>
          <a:lstStyle/>
          <a:p>
            <a:pPr algn="l">
              <a:lnSpc>
                <a:spcPct val="115000"/>
              </a:lnSpc>
            </a:pPr>
            <a:r>
              <a:rPr sz="930" b="1" i="0">
                <a:solidFill>
                  <a:srgbClr val="6B7685"/>
                </a:solidFill>
                <a:latin typeface="Arial"/>
              </a:rPr>
              <a:t>Тезис</a:t>
            </a:r>
          </a:p>
        </p:txBody>
      </p:sp>
      <p:sp>
        <p:nvSpPr>
          <p:cNvPr id="23" name="TextBox 22"/>
          <p:cNvSpPr txBox="1"/>
          <p:nvPr/>
        </p:nvSpPr>
        <p:spPr>
          <a:xfrm>
            <a:off x="9123334" y="2862072"/>
            <a:ext cx="2306665" cy="329184"/>
          </a:xfrm>
          <a:prstGeom prst="rect">
            <a:avLst/>
          </a:prstGeom>
          <a:noFill/>
        </p:spPr>
        <p:txBody>
          <a:bodyPr wrap="square" lIns="0" rIns="0" tIns="0" bIns="0" anchor="t">
            <a:spAutoFit/>
          </a:bodyPr>
          <a:lstStyle/>
          <a:p>
            <a:pPr algn="l">
              <a:lnSpc>
                <a:spcPct val="115000"/>
              </a:lnSpc>
            </a:pPr>
            <a:r>
              <a:rPr sz="930" b="1" i="0">
                <a:solidFill>
                  <a:srgbClr val="6B7685"/>
                </a:solidFill>
                <a:latin typeface="Arial"/>
              </a:rPr>
              <a:t>Сила</a:t>
            </a:r>
          </a:p>
        </p:txBody>
      </p:sp>
      <p:sp>
        <p:nvSpPr>
          <p:cNvPr id="24" name="TextBox 23"/>
          <p:cNvSpPr txBox="1"/>
          <p:nvPr/>
        </p:nvSpPr>
        <p:spPr>
          <a:xfrm>
            <a:off x="685800" y="3246120"/>
            <a:ext cx="3153765" cy="161544"/>
          </a:xfrm>
          <a:prstGeom prst="rect">
            <a:avLst/>
          </a:prstGeom>
          <a:noFill/>
        </p:spPr>
        <p:txBody>
          <a:bodyPr wrap="square" lIns="0" rIns="0" tIns="0" bIns="0" anchor="ctr">
            <a:spAutoFit/>
          </a:bodyPr>
          <a:lstStyle/>
          <a:p>
            <a:pPr algn="l">
              <a:lnSpc>
                <a:spcPct val="115000"/>
              </a:lnSpc>
            </a:pPr>
            <a:r>
              <a:rPr sz="869" b="0" i="0">
                <a:solidFill>
                  <a:srgbClr val="21295C"/>
                </a:solidFill>
                <a:latin typeface="Arial"/>
              </a:rPr>
              <a:t>Self-planning, 2303.06689</a:t>
            </a:r>
          </a:p>
        </p:txBody>
      </p:sp>
      <p:sp>
        <p:nvSpPr>
          <p:cNvPr id="25" name="TextBox 24"/>
          <p:cNvSpPr txBox="1"/>
          <p:nvPr/>
        </p:nvSpPr>
        <p:spPr>
          <a:xfrm>
            <a:off x="3931005" y="3246120"/>
            <a:ext cx="5100888" cy="161544"/>
          </a:xfrm>
          <a:prstGeom prst="rect">
            <a:avLst/>
          </a:prstGeom>
          <a:noFill/>
        </p:spPr>
        <p:txBody>
          <a:bodyPr wrap="square" lIns="0" rIns="0" tIns="0" bIns="0" anchor="ctr">
            <a:spAutoFit/>
          </a:bodyPr>
          <a:lstStyle/>
          <a:p>
            <a:pPr algn="l">
              <a:lnSpc>
                <a:spcPct val="115000"/>
              </a:lnSpc>
            </a:pPr>
            <a:r>
              <a:rPr sz="869" b="0" i="0">
                <a:solidFill>
                  <a:srgbClr val="21295C"/>
                </a:solidFill>
                <a:latin typeface="Arial"/>
              </a:rPr>
              <a:t>Планирование перед кодом: +25,4% pass@1</a:t>
            </a:r>
          </a:p>
        </p:txBody>
      </p:sp>
      <p:sp>
        <p:nvSpPr>
          <p:cNvPr id="26" name="TextBox 25"/>
          <p:cNvSpPr txBox="1"/>
          <p:nvPr/>
        </p:nvSpPr>
        <p:spPr>
          <a:xfrm>
            <a:off x="9123334" y="3246120"/>
            <a:ext cx="2288377" cy="161544"/>
          </a:xfrm>
          <a:prstGeom prst="rect">
            <a:avLst/>
          </a:prstGeom>
          <a:noFill/>
        </p:spPr>
        <p:txBody>
          <a:bodyPr wrap="square" lIns="0" rIns="0" tIns="0" bIns="0" anchor="ctr">
            <a:spAutoFit/>
          </a:bodyPr>
          <a:lstStyle/>
          <a:p>
            <a:pPr algn="l">
              <a:lnSpc>
                <a:spcPct val="115000"/>
              </a:lnSpc>
            </a:pPr>
            <a:r>
              <a:rPr sz="869" b="0" i="0">
                <a:solidFill>
                  <a:srgbClr val="21295C"/>
                </a:solidFill>
                <a:latin typeface="Arial"/>
              </a:rPr>
              <a:t>Умеренно-сильное «за»</a:t>
            </a:r>
          </a:p>
        </p:txBody>
      </p:sp>
      <p:cxnSp>
        <p:nvCxnSpPr>
          <p:cNvPr id="27" name="Connector 26"/>
          <p:cNvCxnSpPr/>
          <p:nvPr/>
        </p:nvCxnSpPr>
        <p:spPr>
          <a:xfrm>
            <a:off x="685800" y="3407664"/>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8" name="TextBox 27"/>
          <p:cNvSpPr txBox="1"/>
          <p:nvPr/>
        </p:nvSpPr>
        <p:spPr>
          <a:xfrm>
            <a:off x="685800" y="3407664"/>
            <a:ext cx="3153765" cy="161544"/>
          </a:xfrm>
          <a:prstGeom prst="rect">
            <a:avLst/>
          </a:prstGeom>
          <a:noFill/>
        </p:spPr>
        <p:txBody>
          <a:bodyPr wrap="square" lIns="0" rIns="0" tIns="0" bIns="0" anchor="ctr">
            <a:spAutoFit/>
          </a:bodyPr>
          <a:lstStyle/>
          <a:p>
            <a:pPr algn="l">
              <a:lnSpc>
                <a:spcPct val="115000"/>
              </a:lnSpc>
            </a:pPr>
            <a:r>
              <a:rPr sz="869" b="0" i="0">
                <a:solidFill>
                  <a:srgbClr val="21295C"/>
                </a:solidFill>
                <a:latin typeface="Arial"/>
              </a:rPr>
              <a:t>LLMs Cannot Self-Correct, ICLR'24</a:t>
            </a:r>
          </a:p>
        </p:txBody>
      </p:sp>
      <p:sp>
        <p:nvSpPr>
          <p:cNvPr id="29" name="TextBox 28"/>
          <p:cNvSpPr txBox="1"/>
          <p:nvPr/>
        </p:nvSpPr>
        <p:spPr>
          <a:xfrm>
            <a:off x="3931005" y="3407664"/>
            <a:ext cx="5100888" cy="161544"/>
          </a:xfrm>
          <a:prstGeom prst="rect">
            <a:avLst/>
          </a:prstGeom>
          <a:noFill/>
        </p:spPr>
        <p:txBody>
          <a:bodyPr wrap="square" lIns="0" rIns="0" tIns="0" bIns="0" anchor="ctr">
            <a:spAutoFit/>
          </a:bodyPr>
          <a:lstStyle/>
          <a:p>
            <a:pPr algn="l">
              <a:lnSpc>
                <a:spcPct val="115000"/>
              </a:lnSpc>
            </a:pPr>
            <a:r>
              <a:rPr sz="869" b="0" i="0">
                <a:solidFill>
                  <a:srgbClr val="21295C"/>
                </a:solidFill>
                <a:latin typeface="Arial"/>
              </a:rPr>
              <a:t>Самокоррекция без сигнала ухудшает</a:t>
            </a:r>
          </a:p>
        </p:txBody>
      </p:sp>
      <p:sp>
        <p:nvSpPr>
          <p:cNvPr id="30" name="TextBox 29"/>
          <p:cNvSpPr txBox="1"/>
          <p:nvPr/>
        </p:nvSpPr>
        <p:spPr>
          <a:xfrm>
            <a:off x="9123334" y="3407664"/>
            <a:ext cx="2288377" cy="161544"/>
          </a:xfrm>
          <a:prstGeom prst="rect">
            <a:avLst/>
          </a:prstGeom>
          <a:noFill/>
        </p:spPr>
        <p:txBody>
          <a:bodyPr wrap="square" lIns="0" rIns="0" tIns="0" bIns="0" anchor="ctr">
            <a:spAutoFit/>
          </a:bodyPr>
          <a:lstStyle/>
          <a:p>
            <a:pPr algn="l">
              <a:lnSpc>
                <a:spcPct val="115000"/>
              </a:lnSpc>
            </a:pPr>
            <a:r>
              <a:rPr sz="869" b="0" i="0">
                <a:solidFill>
                  <a:srgbClr val="21295C"/>
                </a:solidFill>
                <a:latin typeface="Arial"/>
              </a:rPr>
              <a:t>Сильное «против» self-review</a:t>
            </a:r>
          </a:p>
        </p:txBody>
      </p:sp>
      <p:cxnSp>
        <p:nvCxnSpPr>
          <p:cNvPr id="31" name="Connector 30"/>
          <p:cNvCxnSpPr/>
          <p:nvPr/>
        </p:nvCxnSpPr>
        <p:spPr>
          <a:xfrm>
            <a:off x="685800" y="3569208"/>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32" name="Rectangle 31"/>
          <p:cNvSpPr/>
          <p:nvPr/>
        </p:nvSpPr>
        <p:spPr>
          <a:xfrm>
            <a:off x="557784" y="3569208"/>
            <a:ext cx="11073384" cy="161544"/>
          </a:xfrm>
          <a:prstGeom prst="rect">
            <a:avLst/>
          </a:prstGeom>
          <a:solidFill>
            <a:srgbClr val="FEF5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685800" y="3569208"/>
            <a:ext cx="3153765" cy="161544"/>
          </a:xfrm>
          <a:prstGeom prst="rect">
            <a:avLst/>
          </a:prstGeom>
          <a:noFill/>
        </p:spPr>
        <p:txBody>
          <a:bodyPr wrap="square" lIns="0" rIns="0" tIns="0" bIns="0" anchor="ctr">
            <a:spAutoFit/>
          </a:bodyPr>
          <a:lstStyle/>
          <a:p>
            <a:pPr algn="l">
              <a:lnSpc>
                <a:spcPct val="115000"/>
              </a:lnSpc>
            </a:pPr>
            <a:r>
              <a:rPr sz="869" b="0" i="0">
                <a:solidFill>
                  <a:srgbClr val="21295C"/>
                </a:solidFill>
                <a:latin typeface="Arial"/>
              </a:rPr>
              <a:t>arXiv:2604.10508</a:t>
            </a:r>
          </a:p>
        </p:txBody>
      </p:sp>
      <p:sp>
        <p:nvSpPr>
          <p:cNvPr id="34" name="TextBox 33"/>
          <p:cNvSpPr txBox="1"/>
          <p:nvPr/>
        </p:nvSpPr>
        <p:spPr>
          <a:xfrm>
            <a:off x="3931005" y="3569208"/>
            <a:ext cx="5100888" cy="161544"/>
          </a:xfrm>
          <a:prstGeom prst="rect">
            <a:avLst/>
          </a:prstGeom>
          <a:noFill/>
        </p:spPr>
        <p:txBody>
          <a:bodyPr wrap="square" lIns="0" rIns="0" tIns="0" bIns="0" anchor="ctr">
            <a:spAutoFit/>
          </a:bodyPr>
          <a:lstStyle/>
          <a:p>
            <a:pPr algn="l">
              <a:lnSpc>
                <a:spcPct val="115000"/>
              </a:lnSpc>
            </a:pPr>
            <a:r>
              <a:rPr sz="869" b="0" i="0">
                <a:solidFill>
                  <a:srgbClr val="21295C"/>
                </a:solidFill>
                <a:latin typeface="Arial"/>
              </a:rPr>
              <a:t>Self-repair с реальной проверкой: +4,9…+30 п.п.</a:t>
            </a:r>
          </a:p>
        </p:txBody>
      </p:sp>
      <p:sp>
        <p:nvSpPr>
          <p:cNvPr id="35" name="TextBox 34"/>
          <p:cNvSpPr txBox="1"/>
          <p:nvPr/>
        </p:nvSpPr>
        <p:spPr>
          <a:xfrm>
            <a:off x="9123334" y="3569208"/>
            <a:ext cx="2288377" cy="161544"/>
          </a:xfrm>
          <a:prstGeom prst="rect">
            <a:avLst/>
          </a:prstGeom>
          <a:noFill/>
        </p:spPr>
        <p:txBody>
          <a:bodyPr wrap="square" lIns="0" rIns="0" tIns="0" bIns="0" anchor="ctr">
            <a:spAutoFit/>
          </a:bodyPr>
          <a:lstStyle/>
          <a:p>
            <a:pPr algn="l">
              <a:lnSpc>
                <a:spcPct val="115000"/>
              </a:lnSpc>
            </a:pPr>
            <a:r>
              <a:rPr sz="869" b="0" i="0">
                <a:solidFill>
                  <a:srgbClr val="21295C"/>
                </a:solidFill>
                <a:latin typeface="Arial"/>
              </a:rPr>
              <a:t>Сильное «за» — с проверкой</a:t>
            </a:r>
          </a:p>
        </p:txBody>
      </p:sp>
      <p:sp>
        <p:nvSpPr>
          <p:cNvPr id="36" name="Rounded Rectangle 35"/>
          <p:cNvSpPr/>
          <p:nvPr/>
        </p:nvSpPr>
        <p:spPr>
          <a:xfrm>
            <a:off x="502920" y="4005072"/>
            <a:ext cx="11183112" cy="1783080"/>
          </a:xfrm>
          <a:prstGeom prst="roundRect">
            <a:avLst>
              <a:gd name="adj" fmla="val 17094"/>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685800" y="4187952"/>
            <a:ext cx="2955706" cy="329184"/>
          </a:xfrm>
          <a:prstGeom prst="rect">
            <a:avLst/>
          </a:prstGeom>
          <a:noFill/>
        </p:spPr>
        <p:txBody>
          <a:bodyPr wrap="square" lIns="0" rIns="0" tIns="0" bIns="0" anchor="t">
            <a:spAutoFit/>
          </a:bodyPr>
          <a:lstStyle/>
          <a:p>
            <a:pPr algn="l">
              <a:lnSpc>
                <a:spcPct val="115000"/>
              </a:lnSpc>
            </a:pPr>
            <a:r>
              <a:rPr sz="900" b="1" i="0">
                <a:solidFill>
                  <a:srgbClr val="6B7685"/>
                </a:solidFill>
                <a:latin typeface="Arial"/>
              </a:rPr>
              <a:t>Вариант</a:t>
            </a:r>
          </a:p>
        </p:txBody>
      </p:sp>
      <p:sp>
        <p:nvSpPr>
          <p:cNvPr id="38" name="TextBox 37"/>
          <p:cNvSpPr txBox="1"/>
          <p:nvPr/>
        </p:nvSpPr>
        <p:spPr>
          <a:xfrm>
            <a:off x="3714658" y="4187952"/>
            <a:ext cx="3172053" cy="329184"/>
          </a:xfrm>
          <a:prstGeom prst="rect">
            <a:avLst/>
          </a:prstGeom>
          <a:noFill/>
        </p:spPr>
        <p:txBody>
          <a:bodyPr wrap="square" lIns="0" rIns="0" tIns="0" bIns="0" anchor="t">
            <a:spAutoFit/>
          </a:bodyPr>
          <a:lstStyle/>
          <a:p>
            <a:pPr algn="l">
              <a:lnSpc>
                <a:spcPct val="115000"/>
              </a:lnSpc>
            </a:pPr>
            <a:r>
              <a:rPr sz="900" b="1" i="0">
                <a:solidFill>
                  <a:srgbClr val="6B7685"/>
                </a:solidFill>
                <a:latin typeface="Arial"/>
              </a:rPr>
              <a:t>Где работает</a:t>
            </a:r>
          </a:p>
        </p:txBody>
      </p:sp>
      <p:sp>
        <p:nvSpPr>
          <p:cNvPr id="39" name="TextBox 38"/>
          <p:cNvSpPr txBox="1"/>
          <p:nvPr/>
        </p:nvSpPr>
        <p:spPr>
          <a:xfrm>
            <a:off x="6959864" y="4187952"/>
            <a:ext cx="4470135" cy="329184"/>
          </a:xfrm>
          <a:prstGeom prst="rect">
            <a:avLst/>
          </a:prstGeom>
          <a:noFill/>
        </p:spPr>
        <p:txBody>
          <a:bodyPr wrap="square" lIns="0" rIns="0" tIns="0" bIns="0" anchor="t">
            <a:spAutoFit/>
          </a:bodyPr>
          <a:lstStyle/>
          <a:p>
            <a:pPr algn="l">
              <a:lnSpc>
                <a:spcPct val="115000"/>
              </a:lnSpc>
            </a:pPr>
            <a:r>
              <a:rPr sz="900" b="1" i="0">
                <a:solidFill>
                  <a:srgbClr val="6B7685"/>
                </a:solidFill>
                <a:latin typeface="Arial"/>
              </a:rPr>
              <a:t>Почему рано — что вместо</a:t>
            </a:r>
          </a:p>
        </p:txBody>
      </p:sp>
      <p:sp>
        <p:nvSpPr>
          <p:cNvPr id="40" name="TextBox 39"/>
          <p:cNvSpPr txBox="1"/>
          <p:nvPr/>
        </p:nvSpPr>
        <p:spPr>
          <a:xfrm>
            <a:off x="685800" y="4572000"/>
            <a:ext cx="2937418" cy="206654"/>
          </a:xfrm>
          <a:prstGeom prst="rect">
            <a:avLst/>
          </a:prstGeom>
          <a:noFill/>
        </p:spPr>
        <p:txBody>
          <a:bodyPr wrap="square" lIns="0" rIns="0" tIns="0" bIns="0" anchor="ctr">
            <a:spAutoFit/>
          </a:bodyPr>
          <a:lstStyle/>
          <a:p>
            <a:pPr algn="l">
              <a:lnSpc>
                <a:spcPct val="115000"/>
              </a:lnSpc>
            </a:pPr>
            <a:r>
              <a:rPr sz="830" b="0" i="0">
                <a:solidFill>
                  <a:srgbClr val="21295C"/>
                </a:solidFill>
                <a:latin typeface="Arial"/>
              </a:rPr>
              <a:t>«Капсом / жёстче»</a:t>
            </a:r>
          </a:p>
        </p:txBody>
      </p:sp>
      <p:sp>
        <p:nvSpPr>
          <p:cNvPr id="41" name="TextBox 40"/>
          <p:cNvSpPr txBox="1"/>
          <p:nvPr/>
        </p:nvSpPr>
        <p:spPr>
          <a:xfrm>
            <a:off x="3714658" y="4572000"/>
            <a:ext cx="3153765" cy="206654"/>
          </a:xfrm>
          <a:prstGeom prst="rect">
            <a:avLst/>
          </a:prstGeom>
          <a:noFill/>
        </p:spPr>
        <p:txBody>
          <a:bodyPr wrap="square" lIns="0" rIns="0" tIns="0" bIns="0" anchor="ctr">
            <a:spAutoFit/>
          </a:bodyPr>
          <a:lstStyle/>
          <a:p>
            <a:pPr algn="l">
              <a:lnSpc>
                <a:spcPct val="115000"/>
              </a:lnSpc>
            </a:pPr>
            <a:r>
              <a:rPr sz="830" b="0" i="0">
                <a:solidFill>
                  <a:srgbClr val="21295C"/>
                </a:solidFill>
                <a:latin typeface="Arial"/>
              </a:rPr>
              <a:t>Нигде системно</a:t>
            </a:r>
          </a:p>
        </p:txBody>
      </p:sp>
      <p:sp>
        <p:nvSpPr>
          <p:cNvPr id="42" name="TextBox 41"/>
          <p:cNvSpPr txBox="1"/>
          <p:nvPr/>
        </p:nvSpPr>
        <p:spPr>
          <a:xfrm>
            <a:off x="6959864" y="4572000"/>
            <a:ext cx="4451847" cy="206654"/>
          </a:xfrm>
          <a:prstGeom prst="rect">
            <a:avLst/>
          </a:prstGeom>
          <a:noFill/>
        </p:spPr>
        <p:txBody>
          <a:bodyPr wrap="square" lIns="0" rIns="0" tIns="0" bIns="0" anchor="ctr">
            <a:spAutoFit/>
          </a:bodyPr>
          <a:lstStyle/>
          <a:p>
            <a:pPr algn="l">
              <a:lnSpc>
                <a:spcPct val="115000"/>
              </a:lnSpc>
            </a:pPr>
            <a:r>
              <a:rPr sz="830" b="0" i="0">
                <a:solidFill>
                  <a:srgbClr val="21295C"/>
                </a:solidFill>
                <a:latin typeface="Arial"/>
              </a:rPr>
              <a:t>TDAD: регрессии выросли до 9,94%</a:t>
            </a:r>
          </a:p>
        </p:txBody>
      </p:sp>
      <p:cxnSp>
        <p:nvCxnSpPr>
          <p:cNvPr id="43" name="Connector 42"/>
          <p:cNvCxnSpPr/>
          <p:nvPr/>
        </p:nvCxnSpPr>
        <p:spPr>
          <a:xfrm>
            <a:off x="685800" y="4778654"/>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44" name="TextBox 43"/>
          <p:cNvSpPr txBox="1"/>
          <p:nvPr/>
        </p:nvSpPr>
        <p:spPr>
          <a:xfrm>
            <a:off x="685800" y="4778654"/>
            <a:ext cx="2937418" cy="206654"/>
          </a:xfrm>
          <a:prstGeom prst="rect">
            <a:avLst/>
          </a:prstGeom>
          <a:noFill/>
        </p:spPr>
        <p:txBody>
          <a:bodyPr wrap="square" lIns="0" rIns="0" tIns="0" bIns="0" anchor="ctr">
            <a:spAutoFit/>
          </a:bodyPr>
          <a:lstStyle/>
          <a:p>
            <a:pPr algn="l">
              <a:lnSpc>
                <a:spcPct val="115000"/>
              </a:lnSpc>
            </a:pPr>
            <a:r>
              <a:rPr sz="830" b="0" i="0">
                <a:solidFill>
                  <a:srgbClr val="21295C"/>
                </a:solidFill>
                <a:latin typeface="Arial"/>
              </a:rPr>
              <a:t>«Продублирую вторым пунктом»</a:t>
            </a:r>
          </a:p>
        </p:txBody>
      </p:sp>
      <p:sp>
        <p:nvSpPr>
          <p:cNvPr id="45" name="TextBox 44"/>
          <p:cNvSpPr txBox="1"/>
          <p:nvPr/>
        </p:nvSpPr>
        <p:spPr>
          <a:xfrm>
            <a:off x="3714658" y="4778654"/>
            <a:ext cx="3153765" cy="206654"/>
          </a:xfrm>
          <a:prstGeom prst="rect">
            <a:avLst/>
          </a:prstGeom>
          <a:noFill/>
        </p:spPr>
        <p:txBody>
          <a:bodyPr wrap="square" lIns="0" rIns="0" tIns="0" bIns="0" anchor="ctr">
            <a:spAutoFit/>
          </a:bodyPr>
          <a:lstStyle/>
          <a:p>
            <a:pPr algn="l">
              <a:lnSpc>
                <a:spcPct val="115000"/>
              </a:lnSpc>
            </a:pPr>
            <a:r>
              <a:rPr sz="830" b="0" i="0">
                <a:solidFill>
                  <a:srgbClr val="21295C"/>
                </a:solidFill>
                <a:latin typeface="Arial"/>
              </a:rPr>
              <a:t>Иногда чуть повышает шанс прочитать</a:t>
            </a:r>
          </a:p>
        </p:txBody>
      </p:sp>
      <p:sp>
        <p:nvSpPr>
          <p:cNvPr id="46" name="TextBox 45"/>
          <p:cNvSpPr txBox="1"/>
          <p:nvPr/>
        </p:nvSpPr>
        <p:spPr>
          <a:xfrm>
            <a:off x="6959864" y="4778654"/>
            <a:ext cx="4451847" cy="206654"/>
          </a:xfrm>
          <a:prstGeom prst="rect">
            <a:avLst/>
          </a:prstGeom>
          <a:noFill/>
        </p:spPr>
        <p:txBody>
          <a:bodyPr wrap="square" lIns="0" rIns="0" tIns="0" bIns="0" anchor="ctr">
            <a:spAutoFit/>
          </a:bodyPr>
          <a:lstStyle/>
          <a:p>
            <a:pPr algn="l">
              <a:lnSpc>
                <a:spcPct val="115000"/>
              </a:lnSpc>
            </a:pPr>
            <a:r>
              <a:rPr sz="830" b="0" i="0">
                <a:solidFill>
                  <a:srgbClr val="21295C"/>
                </a:solidFill>
                <a:latin typeface="Arial"/>
              </a:rPr>
              <a:t>Presence paradox: лишняя строка стоит контекста</a:t>
            </a:r>
          </a:p>
        </p:txBody>
      </p:sp>
      <p:cxnSp>
        <p:nvCxnSpPr>
          <p:cNvPr id="47" name="Connector 46"/>
          <p:cNvCxnSpPr/>
          <p:nvPr/>
        </p:nvCxnSpPr>
        <p:spPr>
          <a:xfrm>
            <a:off x="685800" y="4985308"/>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48" name="TextBox 47"/>
          <p:cNvSpPr txBox="1"/>
          <p:nvPr/>
        </p:nvSpPr>
        <p:spPr>
          <a:xfrm>
            <a:off x="685800" y="4985308"/>
            <a:ext cx="2937418" cy="206654"/>
          </a:xfrm>
          <a:prstGeom prst="rect">
            <a:avLst/>
          </a:prstGeom>
          <a:noFill/>
        </p:spPr>
        <p:txBody>
          <a:bodyPr wrap="square" lIns="0" rIns="0" tIns="0" bIns="0" anchor="ctr">
            <a:spAutoFit/>
          </a:bodyPr>
          <a:lstStyle/>
          <a:p>
            <a:pPr algn="l">
              <a:lnSpc>
                <a:spcPct val="115000"/>
              </a:lnSpc>
            </a:pPr>
            <a:r>
              <a:rPr sz="830" b="0" i="0">
                <a:solidFill>
                  <a:srgbClr val="21295C"/>
                </a:solidFill>
                <a:latin typeface="Arial"/>
              </a:rPr>
              <a:t>«Отдельный файл-чеклист»</a:t>
            </a:r>
          </a:p>
        </p:txBody>
      </p:sp>
      <p:sp>
        <p:nvSpPr>
          <p:cNvPr id="49" name="TextBox 48"/>
          <p:cNvSpPr txBox="1"/>
          <p:nvPr/>
        </p:nvSpPr>
        <p:spPr>
          <a:xfrm>
            <a:off x="3714658" y="4985308"/>
            <a:ext cx="3153765" cy="206654"/>
          </a:xfrm>
          <a:prstGeom prst="rect">
            <a:avLst/>
          </a:prstGeom>
          <a:noFill/>
        </p:spPr>
        <p:txBody>
          <a:bodyPr wrap="square" lIns="0" rIns="0" tIns="0" bIns="0" anchor="ctr">
            <a:spAutoFit/>
          </a:bodyPr>
          <a:lstStyle/>
          <a:p>
            <a:pPr algn="l">
              <a:lnSpc>
                <a:spcPct val="115000"/>
              </a:lnSpc>
            </a:pPr>
            <a:r>
              <a:rPr sz="830" b="0" i="0">
                <a:solidFill>
                  <a:srgbClr val="21295C"/>
                </a:solidFill>
                <a:latin typeface="Arial"/>
              </a:rPr>
              <a:t>Помогает человеку, слабо — агенту</a:t>
            </a:r>
          </a:p>
        </p:txBody>
      </p:sp>
      <p:sp>
        <p:nvSpPr>
          <p:cNvPr id="50" name="TextBox 49"/>
          <p:cNvSpPr txBox="1"/>
          <p:nvPr/>
        </p:nvSpPr>
        <p:spPr>
          <a:xfrm>
            <a:off x="6959864" y="4985308"/>
            <a:ext cx="4451847" cy="206654"/>
          </a:xfrm>
          <a:prstGeom prst="rect">
            <a:avLst/>
          </a:prstGeom>
          <a:noFill/>
        </p:spPr>
        <p:txBody>
          <a:bodyPr wrap="square" lIns="0" rIns="0" tIns="0" bIns="0" anchor="ctr">
            <a:spAutoFit/>
          </a:bodyPr>
          <a:lstStyle/>
          <a:p>
            <a:pPr algn="l">
              <a:lnSpc>
                <a:spcPct val="115000"/>
              </a:lnSpc>
            </a:pPr>
            <a:r>
              <a:rPr sz="830" b="0" i="0">
                <a:solidFill>
                  <a:srgbClr val="21295C"/>
                </a:solidFill>
                <a:latin typeface="Arial"/>
              </a:rPr>
              <a:t>Тот же класс решения — снова текст, снова просьба</a:t>
            </a:r>
          </a:p>
        </p:txBody>
      </p:sp>
      <p:cxnSp>
        <p:nvCxnSpPr>
          <p:cNvPr id="51" name="Connector 50"/>
          <p:cNvCxnSpPr/>
          <p:nvPr/>
        </p:nvCxnSpPr>
        <p:spPr>
          <a:xfrm>
            <a:off x="685800" y="5191963"/>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52" name="TextBox 51"/>
          <p:cNvSpPr txBox="1"/>
          <p:nvPr/>
        </p:nvSpPr>
        <p:spPr>
          <a:xfrm>
            <a:off x="685800" y="5191963"/>
            <a:ext cx="2937418" cy="206654"/>
          </a:xfrm>
          <a:prstGeom prst="rect">
            <a:avLst/>
          </a:prstGeom>
          <a:noFill/>
        </p:spPr>
        <p:txBody>
          <a:bodyPr wrap="square" lIns="0" rIns="0" tIns="0" bIns="0" anchor="ctr">
            <a:spAutoFit/>
          </a:bodyPr>
          <a:lstStyle/>
          <a:p>
            <a:pPr algn="l">
              <a:lnSpc>
                <a:spcPct val="115000"/>
              </a:lnSpc>
            </a:pPr>
            <a:r>
              <a:rPr sz="830" b="0" i="0">
                <a:solidFill>
                  <a:srgbClr val="21295C"/>
                </a:solidFill>
                <a:latin typeface="Arial"/>
              </a:rPr>
              <a:t>«Передам механизму вне текста»</a:t>
            </a:r>
          </a:p>
        </p:txBody>
      </p:sp>
      <p:sp>
        <p:nvSpPr>
          <p:cNvPr id="53" name="TextBox 52"/>
          <p:cNvSpPr txBox="1"/>
          <p:nvPr/>
        </p:nvSpPr>
        <p:spPr>
          <a:xfrm>
            <a:off x="3714658" y="5191963"/>
            <a:ext cx="3153765" cy="206654"/>
          </a:xfrm>
          <a:prstGeom prst="rect">
            <a:avLst/>
          </a:prstGeom>
          <a:noFill/>
        </p:spPr>
        <p:txBody>
          <a:bodyPr wrap="square" lIns="0" rIns="0" tIns="0" bIns="0" anchor="ctr">
            <a:spAutoFit/>
          </a:bodyPr>
          <a:lstStyle/>
          <a:p>
            <a:pPr algn="l">
              <a:lnSpc>
                <a:spcPct val="115000"/>
              </a:lnSpc>
            </a:pPr>
            <a:r>
              <a:rPr sz="830" b="0" i="0">
                <a:solidFill>
                  <a:srgbClr val="21295C"/>
                </a:solidFill>
                <a:latin typeface="Arial"/>
              </a:rPr>
              <a:t>Системно работает: +20 п.п.</a:t>
            </a:r>
          </a:p>
        </p:txBody>
      </p:sp>
      <p:sp>
        <p:nvSpPr>
          <p:cNvPr id="54" name="TextBox 53"/>
          <p:cNvSpPr txBox="1"/>
          <p:nvPr/>
        </p:nvSpPr>
        <p:spPr>
          <a:xfrm>
            <a:off x="6959864" y="5191963"/>
            <a:ext cx="4451847" cy="206654"/>
          </a:xfrm>
          <a:prstGeom prst="rect">
            <a:avLst/>
          </a:prstGeom>
          <a:noFill/>
        </p:spPr>
        <p:txBody>
          <a:bodyPr wrap="square" lIns="0" rIns="0" tIns="0" bIns="0" anchor="ctr">
            <a:spAutoFit/>
          </a:bodyPr>
          <a:lstStyle/>
          <a:p>
            <a:pPr algn="l">
              <a:lnSpc>
                <a:spcPct val="115000"/>
              </a:lnSpc>
            </a:pPr>
            <a:r>
              <a:rPr sz="830" b="0" i="0">
                <a:solidFill>
                  <a:srgbClr val="21295C"/>
                </a:solidFill>
                <a:latin typeface="Arial"/>
              </a:rPr>
              <a:t>Верное направление — но не тема сегодня, Семинар 5</a:t>
            </a:r>
          </a:p>
        </p:txBody>
      </p:sp>
      <p:cxnSp>
        <p:nvCxnSpPr>
          <p:cNvPr id="55" name="Connector 54"/>
          <p:cNvCxnSpPr/>
          <p:nvPr/>
        </p:nvCxnSpPr>
        <p:spPr>
          <a:xfrm>
            <a:off x="685800" y="5398617"/>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56" name="TextBox 55"/>
          <p:cNvSpPr txBox="1"/>
          <p:nvPr/>
        </p:nvSpPr>
        <p:spPr>
          <a:xfrm>
            <a:off x="685800" y="5398617"/>
            <a:ext cx="2937418" cy="206654"/>
          </a:xfrm>
          <a:prstGeom prst="rect">
            <a:avLst/>
          </a:prstGeom>
          <a:noFill/>
        </p:spPr>
        <p:txBody>
          <a:bodyPr wrap="square" lIns="0" rIns="0" tIns="0" bIns="0" anchor="ctr">
            <a:spAutoFit/>
          </a:bodyPr>
          <a:lstStyle/>
          <a:p>
            <a:pPr algn="l">
              <a:lnSpc>
                <a:spcPct val="115000"/>
              </a:lnSpc>
            </a:pPr>
            <a:r>
              <a:rPr sz="830" b="0" i="0">
                <a:solidFill>
                  <a:srgbClr val="21295C"/>
                </a:solidFill>
                <a:latin typeface="Arial"/>
              </a:rPr>
              <a:t>«Смирюсь, это нормально»</a:t>
            </a:r>
          </a:p>
        </p:txBody>
      </p:sp>
      <p:sp>
        <p:nvSpPr>
          <p:cNvPr id="57" name="TextBox 56"/>
          <p:cNvSpPr txBox="1"/>
          <p:nvPr/>
        </p:nvSpPr>
        <p:spPr>
          <a:xfrm>
            <a:off x="3714658" y="5398617"/>
            <a:ext cx="3153765" cy="206654"/>
          </a:xfrm>
          <a:prstGeom prst="rect">
            <a:avLst/>
          </a:prstGeom>
          <a:noFill/>
        </p:spPr>
        <p:txBody>
          <a:bodyPr wrap="square" lIns="0" rIns="0" tIns="0" bIns="0" anchor="ctr">
            <a:spAutoFit/>
          </a:bodyPr>
          <a:lstStyle/>
          <a:p>
            <a:pPr algn="l">
              <a:lnSpc>
                <a:spcPct val="115000"/>
              </a:lnSpc>
            </a:pPr>
            <a:r>
              <a:rPr sz="830" b="0" i="0">
                <a:solidFill>
                  <a:srgbClr val="21295C"/>
                </a:solidFill>
                <a:latin typeface="Arial"/>
              </a:rPr>
              <a:t>Приемлемо для некритичных предпочтений</a:t>
            </a:r>
          </a:p>
        </p:txBody>
      </p:sp>
      <p:sp>
        <p:nvSpPr>
          <p:cNvPr id="58" name="TextBox 57"/>
          <p:cNvSpPr txBox="1"/>
          <p:nvPr/>
        </p:nvSpPr>
        <p:spPr>
          <a:xfrm>
            <a:off x="6959864" y="5398617"/>
            <a:ext cx="4451847" cy="206654"/>
          </a:xfrm>
          <a:prstGeom prst="rect">
            <a:avLst/>
          </a:prstGeom>
          <a:noFill/>
        </p:spPr>
        <p:txBody>
          <a:bodyPr wrap="square" lIns="0" rIns="0" tIns="0" bIns="0" anchor="ctr">
            <a:spAutoFit/>
          </a:bodyPr>
          <a:lstStyle/>
          <a:p>
            <a:pPr algn="l">
              <a:lnSpc>
                <a:spcPct val="115000"/>
              </a:lnSpc>
            </a:pPr>
            <a:r>
              <a:rPr sz="830" b="0" i="0">
                <a:solidFill>
                  <a:srgbClr val="21295C"/>
                </a:solidFill>
                <a:latin typeface="Arial"/>
              </a:rPr>
              <a:t>Для правила, чьё нарушение стоит дорого — решение не решать</a:t>
            </a:r>
          </a:p>
        </p:txBody>
      </p:sp>
      <p:sp>
        <p:nvSpPr>
          <p:cNvPr id="59" name="Rounded Rectangle 58"/>
          <p:cNvSpPr/>
          <p:nvPr/>
        </p:nvSpPr>
        <p:spPr>
          <a:xfrm>
            <a:off x="502920" y="5879592"/>
            <a:ext cx="11183112" cy="795527"/>
          </a:xfrm>
          <a:prstGeom prst="roundRect">
            <a:avLst>
              <a:gd name="adj" fmla="val 10000"/>
            </a:avLst>
          </a:prstGeom>
          <a:solidFill>
            <a:srgbClr val="FEF5E0"/>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TextBox 59"/>
          <p:cNvSpPr txBox="1"/>
          <p:nvPr/>
        </p:nvSpPr>
        <p:spPr>
          <a:xfrm>
            <a:off x="704088" y="5952744"/>
            <a:ext cx="10780776" cy="649223"/>
          </a:xfrm>
          <a:prstGeom prst="rect">
            <a:avLst/>
          </a:prstGeom>
          <a:noFill/>
        </p:spPr>
        <p:txBody>
          <a:bodyPr wrap="square" lIns="0" rIns="0" tIns="0" bIns="0" anchor="ctr">
            <a:spAutoFit/>
          </a:bodyPr>
          <a:lstStyle/>
          <a:p>
            <a:pPr algn="l">
              <a:lnSpc>
                <a:spcPct val="122000"/>
              </a:lnSpc>
            </a:pPr>
            <a:r>
              <a:rPr sz="1100" b="1" i="0">
                <a:solidFill>
                  <a:srgbClr val="21295C"/>
                </a:solidFill>
                <a:latin typeface="Arial"/>
              </a:rPr>
              <a:t>Правила в промпте — просьбы, правила в коде — законы. Текстовый гейт — просьба, и сегодня мы записываем именно просьбу. Цикл «улучшение»: «посмотри на свой код» — не делать; «прогони реальную проверку» — делать всегда.</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29184"/>
            <a:ext cx="10515600" cy="292608"/>
          </a:xfrm>
          <a:prstGeom prst="rect">
            <a:avLst/>
          </a:prstGeom>
          <a:noFill/>
        </p:spPr>
        <p:txBody>
          <a:bodyPr wrap="square" lIns="0" rIns="0" tIns="0" bIns="0" anchor="t">
            <a:spAutoFit/>
          </a:bodyPr>
          <a:lstStyle/>
          <a:p>
            <a:pPr algn="l">
              <a:lnSpc>
                <a:spcPct val="115000"/>
              </a:lnSpc>
            </a:pPr>
            <a:r>
              <a:rPr sz="1150" b="1" i="0">
                <a:solidFill>
                  <a:srgbClr val="028090"/>
                </a:solidFill>
                <a:latin typeface="Arial"/>
              </a:rPr>
              <a:t>КЕЙС 1.2 · РЕШЕНИЕ</a:t>
            </a:r>
          </a:p>
        </p:txBody>
      </p:sp>
      <p:sp>
        <p:nvSpPr>
          <p:cNvPr id="3" name="TextBox 2"/>
          <p:cNvSpPr txBox="1"/>
          <p:nvPr/>
        </p:nvSpPr>
        <p:spPr>
          <a:xfrm>
            <a:off x="502920" y="640080"/>
            <a:ext cx="11183112" cy="1188720"/>
          </a:xfrm>
          <a:prstGeom prst="rect">
            <a:avLst/>
          </a:prstGeom>
          <a:noFill/>
        </p:spPr>
        <p:txBody>
          <a:bodyPr wrap="square" lIns="0" rIns="0" tIns="0" bIns="0" anchor="t">
            <a:spAutoFit/>
          </a:bodyPr>
          <a:lstStyle/>
          <a:p>
            <a:pPr algn="l">
              <a:lnSpc>
                <a:spcPct val="114000"/>
              </a:lnSpc>
            </a:pPr>
            <a:r>
              <a:rPr sz="1450" b="1" i="0">
                <a:solidFill>
                  <a:srgbClr val="21295C"/>
                </a:solidFill>
                <a:latin typeface="Arial"/>
              </a:rPr>
              <a:t>Итоговый файл — тринадцать строк: критерий готово, гейт-предупреждение, честная оговорка предела; AGENTS.md — симлинк на тот же файл</a:t>
            </a:r>
          </a:p>
        </p:txBody>
      </p:sp>
      <p:sp>
        <p:nvSpPr>
          <p:cNvPr id="4" name="Rounded Rectangle 3"/>
          <p:cNvSpPr/>
          <p:nvPr/>
        </p:nvSpPr>
        <p:spPr>
          <a:xfrm>
            <a:off x="502920" y="1993392"/>
            <a:ext cx="6126480" cy="4343400"/>
          </a:xfrm>
          <a:prstGeom prst="roundRect">
            <a:avLst>
              <a:gd name="adj" fmla="val 3500"/>
            </a:avLst>
          </a:prstGeom>
          <a:solidFill>
            <a:srgbClr val="161C30"/>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04088" y="2194560"/>
            <a:ext cx="5724144" cy="3941063"/>
          </a:xfrm>
          <a:prstGeom prst="rect">
            <a:avLst/>
          </a:prstGeom>
          <a:noFill/>
        </p:spPr>
        <p:txBody>
          <a:bodyPr wrap="square" lIns="0" rIns="0" tIns="0" bIns="0" anchor="t">
            <a:spAutoFit/>
          </a:bodyPr>
          <a:lstStyle/>
          <a:p>
            <a:pPr algn="l">
              <a:lnSpc>
                <a:spcPct val="128000"/>
              </a:lnSpc>
              <a:spcAft>
                <a:spcPts val="200"/>
              </a:spcAft>
            </a:pPr>
            <a:r>
              <a:rPr sz="1100" b="1" i="0">
                <a:solidFill>
                  <a:srgbClr val="028090"/>
                </a:solidFill>
                <a:latin typeface="Consolas"/>
              </a:rPr>
              <a:t># CLAUDE.md</a:t>
            </a:r>
          </a:p>
          <a:p>
            <a:pPr algn="l">
              <a:lnSpc>
                <a:spcPct val="128000"/>
              </a:lnSpc>
              <a:spcAft>
                <a:spcPts val="200"/>
              </a:spcAft>
            </a:pPr>
            <a:r>
              <a:rPr sz="1100" b="0" i="0">
                <a:solidFill>
                  <a:srgbClr val="E3E9F2"/>
                </a:solidFill>
                <a:latin typeface="Consolas"/>
              </a:rPr>
              <a:t/>
            </a:r>
          </a:p>
          <a:p>
            <a:pPr algn="l">
              <a:lnSpc>
                <a:spcPct val="128000"/>
              </a:lnSpc>
              <a:spcAft>
                <a:spcPts val="200"/>
              </a:spcAft>
            </a:pPr>
            <a:r>
              <a:rPr sz="1100" b="0" i="0">
                <a:solidFill>
                  <a:srgbClr val="E3E9F2"/>
                </a:solidFill>
                <a:latin typeface="Consolas"/>
              </a:rPr>
              <a:t>signup-landing: статический лендинг с формой заявки на демо-урок.</a:t>
            </a:r>
          </a:p>
          <a:p>
            <a:pPr algn="l">
              <a:lnSpc>
                <a:spcPct val="128000"/>
              </a:lnSpc>
              <a:spcAft>
                <a:spcPts val="200"/>
              </a:spcAft>
            </a:pPr>
            <a:r>
              <a:rPr sz="1100" b="0" i="0">
                <a:solidFill>
                  <a:srgbClr val="E3E9F2"/>
                </a:solidFill>
                <a:latin typeface="Consolas"/>
              </a:rPr>
              <a:t>Готово = npm run build код 0, npx playwright test зелёный,</a:t>
            </a:r>
          </a:p>
          <a:p>
            <a:pPr algn="l">
              <a:lnSpc>
                <a:spcPct val="128000"/>
              </a:lnSpc>
              <a:spcAft>
                <a:spcPts val="200"/>
              </a:spcAft>
            </a:pPr>
            <a:r>
              <a:rPr sz="1100" b="0" i="0">
                <a:solidFill>
                  <a:srgbClr val="E3E9F2"/>
                </a:solidFill>
                <a:latin typeface="Consolas"/>
              </a:rPr>
              <a:t>форма реально отправляет заявку на проде.</a:t>
            </a:r>
          </a:p>
          <a:p>
            <a:pPr algn="l">
              <a:lnSpc>
                <a:spcPct val="128000"/>
              </a:lnSpc>
              <a:spcAft>
                <a:spcPts val="200"/>
              </a:spcAft>
            </a:pPr>
            <a:r>
              <a:rPr sz="1100" b="0" i="0">
                <a:solidFill>
                  <a:srgbClr val="E3E9F2"/>
                </a:solidFill>
                <a:latin typeface="Consolas"/>
              </a:rPr>
              <a:t/>
            </a:r>
          </a:p>
          <a:p>
            <a:pPr algn="l">
              <a:lnSpc>
                <a:spcPct val="128000"/>
              </a:lnSpc>
              <a:spcAft>
                <a:spcPts val="200"/>
              </a:spcAft>
            </a:pPr>
            <a:r>
              <a:rPr sz="1100" b="1" i="0">
                <a:solidFill>
                  <a:srgbClr val="028090"/>
                </a:solidFill>
                <a:latin typeface="Consolas"/>
              </a:rPr>
              <a:t>## Safety / scope boundaries</a:t>
            </a:r>
          </a:p>
          <a:p>
            <a:pPr algn="l">
              <a:lnSpc>
                <a:spcPct val="128000"/>
              </a:lnSpc>
              <a:spcAft>
                <a:spcPts val="200"/>
              </a:spcAft>
            </a:pPr>
            <a:r>
              <a:rPr sz="1100" b="0" i="0">
                <a:solidFill>
                  <a:srgbClr val="E3E9F2"/>
                </a:solidFill>
                <a:latin typeface="Consolas"/>
              </a:rPr>
              <a:t>- Никогда не запускать деплой на прод без явного запроса.</a:t>
            </a:r>
          </a:p>
          <a:p>
            <a:pPr algn="l">
              <a:lnSpc>
                <a:spcPct val="128000"/>
              </a:lnSpc>
              <a:spcAft>
                <a:spcPts val="200"/>
              </a:spcAft>
            </a:pPr>
            <a:r>
              <a:rPr sz="1100" b="0" i="0">
                <a:solidFill>
                  <a:srgbClr val="E3E9F2"/>
                </a:solidFill>
                <a:latin typeface="Consolas"/>
              </a:rPr>
              <a:t/>
            </a:r>
          </a:p>
          <a:p>
            <a:pPr algn="l">
              <a:lnSpc>
                <a:spcPct val="128000"/>
              </a:lnSpc>
              <a:spcAft>
                <a:spcPts val="200"/>
              </a:spcAft>
            </a:pPr>
            <a:r>
              <a:rPr sz="1100" b="1" i="0">
                <a:solidFill>
                  <a:srgbClr val="028090"/>
                </a:solidFill>
                <a:latin typeface="Consolas"/>
              </a:rPr>
              <a:t>## Build, test, verify</a:t>
            </a:r>
          </a:p>
          <a:p>
            <a:pPr algn="l">
              <a:lnSpc>
                <a:spcPct val="128000"/>
              </a:lnSpc>
              <a:spcAft>
                <a:spcPts val="200"/>
              </a:spcAft>
            </a:pPr>
            <a:r>
              <a:rPr sz="1100" b="0" i="0">
                <a:solidFill>
                  <a:srgbClr val="E3E9F2"/>
                </a:solidFill>
                <a:latin typeface="Consolas"/>
              </a:rPr>
              <a:t>- To verify: открыть dist/index.html после сборки, вручную</a:t>
            </a:r>
          </a:p>
          <a:p>
            <a:pPr algn="l">
              <a:lnSpc>
                <a:spcPct val="128000"/>
              </a:lnSpc>
              <a:spcAft>
                <a:spcPts val="200"/>
              </a:spcAft>
            </a:pPr>
            <a:r>
              <a:rPr sz="1100" b="0" i="0">
                <a:solidFill>
                  <a:srgbClr val="E3E9F2"/>
                </a:solidFill>
                <a:latin typeface="Consolas"/>
              </a:rPr>
              <a:t>  отправить форму с заполненными и с пустыми полями.</a:t>
            </a:r>
          </a:p>
        </p:txBody>
      </p:sp>
      <p:sp>
        <p:nvSpPr>
          <p:cNvPr id="6" name="Rounded Rectangle 5"/>
          <p:cNvSpPr/>
          <p:nvPr/>
        </p:nvSpPr>
        <p:spPr>
          <a:xfrm>
            <a:off x="6903720" y="1993392"/>
            <a:ext cx="4782312" cy="4343400"/>
          </a:xfrm>
          <a:prstGeom prst="roundRect">
            <a:avLst>
              <a:gd name="adj" fmla="val 7017"/>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23176" y="2212848"/>
            <a:ext cx="457200" cy="1301495"/>
          </a:xfrm>
          <a:prstGeom prst="rect">
            <a:avLst/>
          </a:prstGeom>
          <a:noFill/>
        </p:spPr>
        <p:txBody>
          <a:bodyPr wrap="square" lIns="0" rIns="0" tIns="0" bIns="0" anchor="ctr">
            <a:spAutoFit/>
          </a:bodyPr>
          <a:lstStyle/>
          <a:p>
            <a:pPr algn="l">
              <a:lnSpc>
                <a:spcPct val="115000"/>
              </a:lnSpc>
            </a:pPr>
            <a:r>
              <a:rPr sz="1600" b="1" i="0">
                <a:solidFill>
                  <a:srgbClr val="028090"/>
                </a:solidFill>
                <a:latin typeface="Arial"/>
              </a:rPr>
              <a:t>1</a:t>
            </a:r>
          </a:p>
        </p:txBody>
      </p:sp>
      <p:sp>
        <p:nvSpPr>
          <p:cNvPr id="8" name="TextBox 7"/>
          <p:cNvSpPr txBox="1"/>
          <p:nvPr/>
        </p:nvSpPr>
        <p:spPr>
          <a:xfrm>
            <a:off x="7626096" y="2212848"/>
            <a:ext cx="3840480" cy="1301495"/>
          </a:xfrm>
          <a:prstGeom prst="rect">
            <a:avLst/>
          </a:prstGeom>
          <a:noFill/>
        </p:spPr>
        <p:txBody>
          <a:bodyPr wrap="square" lIns="0" rIns="0" tIns="0" bIns="0" anchor="ctr">
            <a:spAutoFit/>
          </a:bodyPr>
          <a:lstStyle/>
          <a:p>
            <a:pPr algn="l">
              <a:lnSpc>
                <a:spcPct val="122000"/>
              </a:lnSpc>
            </a:pPr>
            <a:r>
              <a:rPr sz="1200" b="0" i="0">
                <a:solidFill>
                  <a:srgbClr val="21295C"/>
                </a:solidFill>
                <a:latin typeface="Arial"/>
              </a:rPr>
              <a:t>Файл грузится в начало каждой сессии целиком (официальный ориентир — до 200 строк, наш итог — 13)</a:t>
            </a:r>
          </a:p>
        </p:txBody>
      </p:sp>
      <p:cxnSp>
        <p:nvCxnSpPr>
          <p:cNvPr id="9" name="Connector 8"/>
          <p:cNvCxnSpPr/>
          <p:nvPr/>
        </p:nvCxnSpPr>
        <p:spPr>
          <a:xfrm>
            <a:off x="7123176" y="3514343"/>
            <a:ext cx="4343400" cy="0"/>
          </a:xfrm>
          <a:prstGeom prst="line">
            <a:avLst/>
          </a:prstGeom>
          <a:ln w="7620">
            <a:solidFill>
              <a:srgbClr val="E5EAF0"/>
            </a:solidFill>
          </a:ln>
        </p:spPr>
        <p:style>
          <a:lnRef idx="2">
            <a:schemeClr val="accent1"/>
          </a:lnRef>
          <a:fillRef idx="0">
            <a:schemeClr val="accent1"/>
          </a:fillRef>
          <a:effectRef idx="1">
            <a:schemeClr val="accent1"/>
          </a:effectRef>
          <a:fontRef idx="minor">
            <a:schemeClr val="tx1"/>
          </a:fontRef>
        </p:style>
      </p:cxnSp>
      <p:sp>
        <p:nvSpPr>
          <p:cNvPr id="10" name="TextBox 9"/>
          <p:cNvSpPr txBox="1"/>
          <p:nvPr/>
        </p:nvSpPr>
        <p:spPr>
          <a:xfrm>
            <a:off x="7123176" y="3514343"/>
            <a:ext cx="457200" cy="1301495"/>
          </a:xfrm>
          <a:prstGeom prst="rect">
            <a:avLst/>
          </a:prstGeom>
          <a:noFill/>
        </p:spPr>
        <p:txBody>
          <a:bodyPr wrap="square" lIns="0" rIns="0" tIns="0" bIns="0" anchor="ctr">
            <a:spAutoFit/>
          </a:bodyPr>
          <a:lstStyle/>
          <a:p>
            <a:pPr algn="l">
              <a:lnSpc>
                <a:spcPct val="115000"/>
              </a:lnSpc>
            </a:pPr>
            <a:r>
              <a:rPr sz="1600" b="1" i="0">
                <a:solidFill>
                  <a:srgbClr val="028090"/>
                </a:solidFill>
                <a:latin typeface="Arial"/>
              </a:rPr>
              <a:t>2</a:t>
            </a:r>
          </a:p>
        </p:txBody>
      </p:sp>
      <p:sp>
        <p:nvSpPr>
          <p:cNvPr id="11" name="TextBox 10"/>
          <p:cNvSpPr txBox="1"/>
          <p:nvPr/>
        </p:nvSpPr>
        <p:spPr>
          <a:xfrm>
            <a:off x="7626096" y="3514343"/>
            <a:ext cx="3840480" cy="1301495"/>
          </a:xfrm>
          <a:prstGeom prst="rect">
            <a:avLst/>
          </a:prstGeom>
          <a:noFill/>
        </p:spPr>
        <p:txBody>
          <a:bodyPr wrap="square" lIns="0" rIns="0" tIns="0" bIns="0" anchor="ctr">
            <a:spAutoFit/>
          </a:bodyPr>
          <a:lstStyle/>
          <a:p>
            <a:pPr algn="l">
              <a:lnSpc>
                <a:spcPct val="122000"/>
              </a:lnSpc>
            </a:pPr>
            <a:r>
              <a:rPr sz="1200" b="0" i="0">
                <a:solidFill>
                  <a:srgbClr val="21295C"/>
                </a:solidFill>
                <a:latin typeface="Arial"/>
              </a:rPr>
              <a:t>@-импорты организуют файл, но не экономят контекст</a:t>
            </a:r>
          </a:p>
        </p:txBody>
      </p:sp>
      <p:cxnSp>
        <p:nvCxnSpPr>
          <p:cNvPr id="12" name="Connector 11"/>
          <p:cNvCxnSpPr/>
          <p:nvPr/>
        </p:nvCxnSpPr>
        <p:spPr>
          <a:xfrm>
            <a:off x="7123176" y="4815839"/>
            <a:ext cx="4343400" cy="0"/>
          </a:xfrm>
          <a:prstGeom prst="line">
            <a:avLst/>
          </a:prstGeom>
          <a:ln w="7620">
            <a:solidFill>
              <a:srgbClr val="E5EAF0"/>
            </a:solidFill>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7123176" y="4815839"/>
            <a:ext cx="457200" cy="1301495"/>
          </a:xfrm>
          <a:prstGeom prst="rect">
            <a:avLst/>
          </a:prstGeom>
          <a:noFill/>
        </p:spPr>
        <p:txBody>
          <a:bodyPr wrap="square" lIns="0" rIns="0" tIns="0" bIns="0" anchor="ctr">
            <a:spAutoFit/>
          </a:bodyPr>
          <a:lstStyle/>
          <a:p>
            <a:pPr algn="l">
              <a:lnSpc>
                <a:spcPct val="115000"/>
              </a:lnSpc>
            </a:pPr>
            <a:r>
              <a:rPr sz="1600" b="1" i="0">
                <a:solidFill>
                  <a:srgbClr val="028090"/>
                </a:solidFill>
                <a:latin typeface="Arial"/>
              </a:rPr>
              <a:t>3</a:t>
            </a:r>
          </a:p>
        </p:txBody>
      </p:sp>
      <p:sp>
        <p:nvSpPr>
          <p:cNvPr id="14" name="TextBox 13"/>
          <p:cNvSpPr txBox="1"/>
          <p:nvPr/>
        </p:nvSpPr>
        <p:spPr>
          <a:xfrm>
            <a:off x="7626096" y="4815839"/>
            <a:ext cx="3840480" cy="1301495"/>
          </a:xfrm>
          <a:prstGeom prst="rect">
            <a:avLst/>
          </a:prstGeom>
          <a:noFill/>
        </p:spPr>
        <p:txBody>
          <a:bodyPr wrap="square" lIns="0" rIns="0" tIns="0" bIns="0" anchor="ctr">
            <a:spAutoFit/>
          </a:bodyPr>
          <a:lstStyle/>
          <a:p>
            <a:pPr algn="l">
              <a:lnSpc>
                <a:spcPct val="122000"/>
              </a:lnSpc>
            </a:pPr>
            <a:r>
              <a:rPr sz="1200" b="0" i="0">
                <a:solidFill>
                  <a:srgbClr val="21295C"/>
                </a:solidFill>
                <a:latin typeface="Arial"/>
              </a:rPr>
              <a:t>AGENTS.md — симлинк на тот же файл (ln -s CLAUDE.md AGENTS.md). Острый край: cp -R без -P на macOS разыменовывает симлинк во вторую копию молча — копировать через cp -a / git clone / git archive</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ln>
            <a:noFill/>
          </a:ln>
          <a:effectLst/>
          <a:gradFill rotWithShape="1">
            <a:gsLst>
              <a:gs pos="0">
                <a:srgbClr val="21295C"/>
              </a:gs>
              <a:gs pos="55000">
                <a:srgbClr val="065A82"/>
              </a:gs>
              <a:gs pos="100000">
                <a:srgbClr val="1C7293"/>
              </a:gs>
            </a:gsLst>
            <a:lin ang="2700000" scaled="1"/>
          </a:gra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9646919" y="4617720"/>
            <a:ext cx="1783080" cy="1783080"/>
          </a:xfrm>
          <a:prstGeom prst="roundRect">
            <a:avLst>
              <a:gd name="adj" fmla="val 18000"/>
            </a:avLst>
          </a:prstGeom>
          <a:solidFill>
            <a:srgbClr val="0B14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file-text-F0AB00-128.png"/>
          <p:cNvPicPr>
            <a:picLocks noChangeAspect="1"/>
          </p:cNvPicPr>
          <p:nvPr/>
        </p:nvPicPr>
        <p:blipFill>
          <a:blip r:embed="rId2"/>
          <a:stretch>
            <a:fillRect/>
          </a:stretch>
        </p:blipFill>
        <p:spPr>
          <a:xfrm>
            <a:off x="9921240" y="4892040"/>
            <a:ext cx="1234440" cy="1234440"/>
          </a:xfrm>
          <a:prstGeom prst="rect">
            <a:avLst/>
          </a:prstGeom>
        </p:spPr>
      </p:pic>
      <p:sp>
        <p:nvSpPr>
          <p:cNvPr id="5" name="Rounded Rectangle 4"/>
          <p:cNvSpPr/>
          <p:nvPr/>
        </p:nvSpPr>
        <p:spPr>
          <a:xfrm>
            <a:off x="822960" y="548640"/>
            <a:ext cx="1328927" cy="256032"/>
          </a:xfrm>
          <a:prstGeom prst="roundRect">
            <a:avLst>
              <a:gd name="adj" fmla="val 40000"/>
            </a:avLst>
          </a:prstGeom>
          <a:solidFill>
            <a:srgbClr val="3E4C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2261616" y="548640"/>
            <a:ext cx="1328927" cy="256032"/>
          </a:xfrm>
          <a:prstGeom prst="roundRect">
            <a:avLst>
              <a:gd name="adj" fmla="val 40000"/>
            </a:avLst>
          </a:prstGeom>
          <a:solidFill>
            <a:srgbClr val="3E4C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3700272" y="548640"/>
            <a:ext cx="1328927" cy="256032"/>
          </a:xfrm>
          <a:prstGeom prst="roundRect">
            <a:avLst>
              <a:gd name="adj" fmla="val 4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8961120" cy="1005840"/>
          </a:xfrm>
          <a:prstGeom prst="rect">
            <a:avLst/>
          </a:prstGeom>
          <a:noFill/>
        </p:spPr>
        <p:txBody>
          <a:bodyPr wrap="square" lIns="0" rIns="0" tIns="0" bIns="0" anchor="t">
            <a:spAutoFit/>
          </a:bodyPr>
          <a:lstStyle/>
          <a:p>
            <a:pPr algn="l">
              <a:lnSpc>
                <a:spcPct val="105000"/>
              </a:lnSpc>
            </a:pPr>
            <a:r>
              <a:rPr sz="3300" b="1" i="0">
                <a:solidFill>
                  <a:srgbClr val="FFFFFF"/>
                </a:solidFill>
                <a:latin typeface="Arial"/>
              </a:rPr>
              <a:t>Кейс 1.3 · вложенные файлы</a:t>
            </a:r>
          </a:p>
        </p:txBody>
      </p:sp>
      <p:sp>
        <p:nvSpPr>
          <p:cNvPr id="9" name="TextBox 8"/>
          <p:cNvSpPr txBox="1"/>
          <p:nvPr/>
        </p:nvSpPr>
        <p:spPr>
          <a:xfrm>
            <a:off x="868680" y="3090672"/>
            <a:ext cx="8778240" cy="822960"/>
          </a:xfrm>
          <a:prstGeom prst="rect">
            <a:avLst/>
          </a:prstGeom>
          <a:noFill/>
        </p:spPr>
        <p:txBody>
          <a:bodyPr wrap="square" lIns="0" rIns="0" tIns="0" bIns="0" anchor="t">
            <a:spAutoFit/>
          </a:bodyPr>
          <a:lstStyle/>
          <a:p>
            <a:pPr algn="l">
              <a:lnSpc>
                <a:spcPct val="130000"/>
              </a:lnSpc>
            </a:pPr>
            <a:r>
              <a:rPr sz="1600" b="0" i="1">
                <a:solidFill>
                  <a:srgbClr val="CFDCEC"/>
                </a:solidFill>
                <a:latin typeface="Arial"/>
              </a:rPr>
              <a:t>Месяц спустя репозиторий подрос — дробить файл или нет</a:t>
            </a:r>
          </a:p>
        </p:txBody>
      </p:sp>
      <p:sp>
        <p:nvSpPr>
          <p:cNvPr id="10" name="Rounded Rectangle 9"/>
          <p:cNvSpPr/>
          <p:nvPr/>
        </p:nvSpPr>
        <p:spPr>
          <a:xfrm>
            <a:off x="868680" y="3950208"/>
            <a:ext cx="5486400" cy="502920"/>
          </a:xfrm>
          <a:prstGeom prst="roundRect">
            <a:avLst>
              <a:gd name="adj" fmla="val 28000"/>
            </a:avLst>
          </a:prstGeom>
          <a:solidFill>
            <a:srgbClr val="0B143A"/>
          </a:solidFill>
          <a:ln w="1524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124712" y="3950208"/>
            <a:ext cx="4974336" cy="502920"/>
          </a:xfrm>
          <a:prstGeom prst="rect">
            <a:avLst/>
          </a:prstGeom>
          <a:noFill/>
        </p:spPr>
        <p:txBody>
          <a:bodyPr wrap="square" lIns="0" rIns="0" tIns="0" bIns="0" anchor="ctr">
            <a:spAutoFit/>
          </a:bodyPr>
          <a:lstStyle/>
          <a:p>
            <a:pPr algn="ctr">
              <a:lnSpc>
                <a:spcPct val="115000"/>
              </a:lnSpc>
            </a:pPr>
            <a:r>
              <a:rPr sz="1100" b="1" i="0">
                <a:solidFill>
                  <a:srgbClr val="028090"/>
                </a:solidFill>
                <a:latin typeface="Arial"/>
              </a:rPr>
              <a:t>СПЕЦИФИЧНО ДЛЯ ПРОЕКТА · ЖДЁМ СИГНАЛА</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29184"/>
            <a:ext cx="10515600" cy="292608"/>
          </a:xfrm>
          <a:prstGeom prst="rect">
            <a:avLst/>
          </a:prstGeom>
          <a:noFill/>
        </p:spPr>
        <p:txBody>
          <a:bodyPr wrap="square" lIns="0" rIns="0" tIns="0" bIns="0" anchor="t">
            <a:spAutoFit/>
          </a:bodyPr>
          <a:lstStyle/>
          <a:p>
            <a:pPr algn="l">
              <a:lnSpc>
                <a:spcPct val="115000"/>
              </a:lnSpc>
            </a:pPr>
            <a:r>
              <a:rPr sz="1150" b="1" i="0">
                <a:solidFill>
                  <a:srgbClr val="028090"/>
                </a:solidFill>
                <a:latin typeface="Arial"/>
              </a:rPr>
              <a:t>КЕЙС 1.3 · ВЛОЖЕННЫЕ ФАЙЛЫ</a:t>
            </a:r>
          </a:p>
        </p:txBody>
      </p:sp>
      <p:sp>
        <p:nvSpPr>
          <p:cNvPr id="3" name="TextBox 2"/>
          <p:cNvSpPr txBox="1"/>
          <p:nvPr/>
        </p:nvSpPr>
        <p:spPr>
          <a:xfrm>
            <a:off x="502920" y="640080"/>
            <a:ext cx="11183112" cy="1371600"/>
          </a:xfrm>
          <a:prstGeom prst="rect">
            <a:avLst/>
          </a:prstGeom>
          <a:noFill/>
        </p:spPr>
        <p:txBody>
          <a:bodyPr wrap="square" lIns="0" rIns="0" tIns="0" bIns="0" anchor="t">
            <a:spAutoFit/>
          </a:bodyPr>
          <a:lstStyle/>
          <a:p>
            <a:pPr algn="l">
              <a:lnSpc>
                <a:spcPct val="114000"/>
              </a:lnSpc>
            </a:pPr>
            <a:r>
              <a:rPr sz="1300" b="1" i="0">
                <a:solidFill>
                  <a:srgbClr val="21295C"/>
                </a:solidFill>
                <a:latin typeface="Arial"/>
              </a:rPr>
              <a:t>Разработчик выносит правила тестов в tests/CLAUDE.md и ждёт, что агент подхватит его сам — логично звучит, но стоит проверить, что там реально происходит с загрузкой</a:t>
            </a:r>
          </a:p>
        </p:txBody>
      </p:sp>
      <p:sp>
        <p:nvSpPr>
          <p:cNvPr id="4" name="Rounded Rectangle 3"/>
          <p:cNvSpPr/>
          <p:nvPr/>
        </p:nvSpPr>
        <p:spPr>
          <a:xfrm>
            <a:off x="502920" y="2176272"/>
            <a:ext cx="5349240" cy="2011680"/>
          </a:xfrm>
          <a:prstGeom prst="roundRect">
            <a:avLst>
              <a:gd name="adj" fmla="val 3500"/>
            </a:avLst>
          </a:prstGeom>
          <a:solidFill>
            <a:srgbClr val="161C30"/>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04088" y="2377440"/>
            <a:ext cx="4946903" cy="274320"/>
          </a:xfrm>
          <a:prstGeom prst="rect">
            <a:avLst/>
          </a:prstGeom>
          <a:noFill/>
        </p:spPr>
        <p:txBody>
          <a:bodyPr wrap="square" lIns="0" rIns="0" tIns="0" bIns="0" anchor="t">
            <a:spAutoFit/>
          </a:bodyPr>
          <a:lstStyle/>
          <a:p>
            <a:pPr algn="l">
              <a:lnSpc>
                <a:spcPct val="115000"/>
              </a:lnSpc>
            </a:pPr>
            <a:r>
              <a:rPr sz="1100" b="1" i="0">
                <a:solidFill>
                  <a:srgbClr val="028090"/>
                </a:solidFill>
                <a:latin typeface="Consolas"/>
              </a:rPr>
              <a:t>месяц спустя: tests/ подрос</a:t>
            </a:r>
          </a:p>
        </p:txBody>
      </p:sp>
      <p:sp>
        <p:nvSpPr>
          <p:cNvPr id="6" name="TextBox 5"/>
          <p:cNvSpPr txBox="1"/>
          <p:nvPr/>
        </p:nvSpPr>
        <p:spPr>
          <a:xfrm>
            <a:off x="704088" y="2688336"/>
            <a:ext cx="4946903" cy="1298448"/>
          </a:xfrm>
          <a:prstGeom prst="rect">
            <a:avLst/>
          </a:prstGeom>
          <a:noFill/>
        </p:spPr>
        <p:txBody>
          <a:bodyPr wrap="square" lIns="0" rIns="0" tIns="0" bIns="0" anchor="t">
            <a:spAutoFit/>
          </a:bodyPr>
          <a:lstStyle/>
          <a:p>
            <a:pPr algn="l">
              <a:lnSpc>
                <a:spcPct val="132000"/>
              </a:lnSpc>
              <a:spcAft>
                <a:spcPts val="200"/>
              </a:spcAft>
            </a:pPr>
            <a:r>
              <a:rPr sz="1150" b="1" i="0">
                <a:solidFill>
                  <a:srgbClr val="028090"/>
                </a:solidFill>
                <a:latin typeface="Consolas"/>
              </a:rPr>
              <a:t>tests/</a:t>
            </a:r>
          </a:p>
          <a:p>
            <a:pPr algn="l">
              <a:lnSpc>
                <a:spcPct val="132000"/>
              </a:lnSpc>
              <a:spcAft>
                <a:spcPts val="200"/>
              </a:spcAft>
            </a:pPr>
            <a:r>
              <a:rPr sz="1150" b="0" i="0">
                <a:solidFill>
                  <a:srgbClr val="E3E9F2"/>
                </a:solidFill>
                <a:latin typeface="Consolas"/>
              </a:rPr>
              <a:t>  form.spec.ts</a:t>
            </a:r>
          </a:p>
          <a:p>
            <a:pPr algn="l">
              <a:lnSpc>
                <a:spcPct val="132000"/>
              </a:lnSpc>
              <a:spcAft>
                <a:spcPts val="200"/>
              </a:spcAft>
            </a:pPr>
            <a:r>
              <a:rPr sz="1150" b="0" i="0">
                <a:solidFill>
                  <a:srgbClr val="E3E9F2"/>
                </a:solidFill>
                <a:latin typeface="Consolas"/>
              </a:rPr>
              <a:t>  wizard.spec.ts</a:t>
            </a:r>
          </a:p>
          <a:p>
            <a:pPr algn="l">
              <a:lnSpc>
                <a:spcPct val="132000"/>
              </a:lnSpc>
              <a:spcAft>
                <a:spcPts val="200"/>
              </a:spcAft>
            </a:pPr>
            <a:r>
              <a:rPr sz="1150" b="0" i="0">
                <a:solidFill>
                  <a:srgbClr val="E3E9F2"/>
                </a:solidFill>
                <a:latin typeface="Consolas"/>
              </a:rPr>
              <a:t>  page-objects/form.page.ts</a:t>
            </a:r>
          </a:p>
          <a:p>
            <a:pPr algn="l">
              <a:lnSpc>
                <a:spcPct val="132000"/>
              </a:lnSpc>
              <a:spcAft>
                <a:spcPts val="200"/>
              </a:spcAft>
            </a:pPr>
            <a:r>
              <a:rPr sz="1150" b="0" i="0">
                <a:solidFill>
                  <a:srgbClr val="8B9BB4"/>
                </a:solidFill>
                <a:latin typeface="Consolas"/>
              </a:rPr>
              <a:t>  # своя конвенция именования + Page Object</a:t>
            </a:r>
          </a:p>
        </p:txBody>
      </p:sp>
      <p:sp>
        <p:nvSpPr>
          <p:cNvPr id="7" name="Rounded Rectangle 6"/>
          <p:cNvSpPr/>
          <p:nvPr/>
        </p:nvSpPr>
        <p:spPr>
          <a:xfrm>
            <a:off x="6153912" y="2176272"/>
            <a:ext cx="5349240" cy="2011680"/>
          </a:xfrm>
          <a:prstGeom prst="roundRect">
            <a:avLst>
              <a:gd name="adj" fmla="val 15151"/>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36792" y="2304288"/>
            <a:ext cx="4983479" cy="1755648"/>
          </a:xfrm>
          <a:prstGeom prst="rect">
            <a:avLst/>
          </a:prstGeom>
          <a:noFill/>
        </p:spPr>
        <p:txBody>
          <a:bodyPr wrap="square" lIns="0" rIns="0" tIns="0" bIns="0" anchor="t">
            <a:spAutoFit/>
          </a:bodyPr>
          <a:lstStyle/>
          <a:p>
            <a:pPr algn="l">
              <a:lnSpc>
                <a:spcPct val="128000"/>
              </a:lnSpc>
            </a:pPr>
            <a:r>
              <a:rPr sz="1250" b="0" i="0">
                <a:solidFill>
                  <a:srgbClr val="21295C"/>
                </a:solidFill>
                <a:latin typeface="Arial"/>
              </a:rPr>
              <a:t>«Вынесу эти правила в отдельный tests/CLAUDE.md — короче, релевантнее контексту, корневой файл не разбухнет.» Кладёт файл в подпапку, ожидая автоматической подхватки.</a:t>
            </a:r>
          </a:p>
        </p:txBody>
      </p:sp>
      <p:sp>
        <p:nvSpPr>
          <p:cNvPr id="9" name="Rounded Rectangle 8"/>
          <p:cNvSpPr/>
          <p:nvPr/>
        </p:nvSpPr>
        <p:spPr>
          <a:xfrm>
            <a:off x="502920" y="4462272"/>
            <a:ext cx="11183112" cy="1938528"/>
          </a:xfrm>
          <a:prstGeom prst="roundRect">
            <a:avLst>
              <a:gd name="adj" fmla="val 10000"/>
            </a:avLst>
          </a:prstGeom>
          <a:solidFill>
            <a:srgbClr val="FEF5E0"/>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04088" y="4535424"/>
            <a:ext cx="10780776" cy="1792224"/>
          </a:xfrm>
          <a:prstGeom prst="rect">
            <a:avLst/>
          </a:prstGeom>
          <a:noFill/>
        </p:spPr>
        <p:txBody>
          <a:bodyPr wrap="square" lIns="0" rIns="0" tIns="0" bIns="0" anchor="ctr">
            <a:spAutoFit/>
          </a:bodyPr>
          <a:lstStyle/>
          <a:p>
            <a:pPr algn="ctr">
              <a:lnSpc>
                <a:spcPct val="122000"/>
              </a:lnSpc>
            </a:pPr>
            <a:r>
              <a:rPr sz="1600" b="1" i="0">
                <a:solidFill>
                  <a:srgbClr val="21295C"/>
                </a:solidFill>
                <a:latin typeface="Arial"/>
              </a:rPr>
              <a:t>«Логично звучит. Давайте проверим, что там на самом деле происходит с загрузкой.»</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29184"/>
            <a:ext cx="10515600" cy="292608"/>
          </a:xfrm>
          <a:prstGeom prst="rect">
            <a:avLst/>
          </a:prstGeom>
          <a:noFill/>
        </p:spPr>
        <p:txBody>
          <a:bodyPr wrap="square" lIns="0" rIns="0" tIns="0" bIns="0" anchor="t">
            <a:spAutoFit/>
          </a:bodyPr>
          <a:lstStyle/>
          <a:p>
            <a:pPr algn="l">
              <a:lnSpc>
                <a:spcPct val="115000"/>
              </a:lnSpc>
            </a:pPr>
            <a:r>
              <a:rPr sz="1150" b="1" i="0">
                <a:solidFill>
                  <a:srgbClr val="028090"/>
                </a:solidFill>
                <a:latin typeface="Arial"/>
              </a:rPr>
              <a:t>КЕЙС 1.3 · ВОПРОС</a:t>
            </a:r>
          </a:p>
        </p:txBody>
      </p:sp>
      <p:sp>
        <p:nvSpPr>
          <p:cNvPr id="3" name="TextBox 2"/>
          <p:cNvSpPr txBox="1"/>
          <p:nvPr/>
        </p:nvSpPr>
        <p:spPr>
          <a:xfrm>
            <a:off x="502920" y="640080"/>
            <a:ext cx="11183112" cy="1005840"/>
          </a:xfrm>
          <a:prstGeom prst="rect">
            <a:avLst/>
          </a:prstGeom>
          <a:noFill/>
        </p:spPr>
        <p:txBody>
          <a:bodyPr wrap="square" lIns="0" rIns="0" tIns="0" bIns="0" anchor="t">
            <a:spAutoFit/>
          </a:bodyPr>
          <a:lstStyle/>
          <a:p>
            <a:pPr algn="l">
              <a:lnSpc>
                <a:spcPct val="114000"/>
              </a:lnSpc>
            </a:pPr>
            <a:r>
              <a:rPr sz="1650" b="1" i="0">
                <a:solidFill>
                  <a:srgbClr val="21295C"/>
                </a:solidFill>
                <a:latin typeface="Arial"/>
              </a:rPr>
              <a:t>Как гарантировать, что агент реально прочитает конвенции из tests/CLAUDE.md — выбор из пяти вариантов</a:t>
            </a:r>
          </a:p>
        </p:txBody>
      </p:sp>
      <p:sp>
        <p:nvSpPr>
          <p:cNvPr id="4" name="Rounded Rectangle 3"/>
          <p:cNvSpPr/>
          <p:nvPr/>
        </p:nvSpPr>
        <p:spPr>
          <a:xfrm>
            <a:off x="502920" y="1810512"/>
            <a:ext cx="11183112" cy="1005840"/>
          </a:xfrm>
          <a:prstGeom prst="roundRect">
            <a:avLst>
              <a:gd name="adj" fmla="val 10000"/>
            </a:avLst>
          </a:prstGeom>
          <a:solidFill>
            <a:srgbClr val="FEF5E0"/>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04088" y="1883664"/>
            <a:ext cx="10780776" cy="859536"/>
          </a:xfrm>
          <a:prstGeom prst="rect">
            <a:avLst/>
          </a:prstGeom>
          <a:noFill/>
        </p:spPr>
        <p:txBody>
          <a:bodyPr wrap="square" lIns="0" rIns="0" tIns="0" bIns="0" anchor="ctr">
            <a:spAutoFit/>
          </a:bodyPr>
          <a:lstStyle/>
          <a:p>
            <a:pPr algn="l">
              <a:lnSpc>
                <a:spcPct val="122000"/>
              </a:lnSpc>
            </a:pPr>
            <a:r>
              <a:rPr sz="1400" b="1" i="0">
                <a:solidFill>
                  <a:srgbClr val="21295C"/>
                </a:solidFill>
                <a:latin typeface="Arial"/>
              </a:rPr>
              <a:t>«Выберите, как вы гарантируете, что агент реально прочитает конвенции из tests/CLAUDE.md, когда работает именно в этой папке — из карточек ниже.»</a:t>
            </a:r>
          </a:p>
        </p:txBody>
      </p:sp>
      <p:sp>
        <p:nvSpPr>
          <p:cNvPr id="6" name="Rounded Rectangle 5"/>
          <p:cNvSpPr/>
          <p:nvPr/>
        </p:nvSpPr>
        <p:spPr>
          <a:xfrm>
            <a:off x="502920" y="3017520"/>
            <a:ext cx="2119579" cy="1600200"/>
          </a:xfrm>
          <a:prstGeom prst="roundRect">
            <a:avLst>
              <a:gd name="adj" fmla="val 19047"/>
            </a:avLst>
          </a:prstGeom>
          <a:solidFill>
            <a:srgbClr val="F4F7FA"/>
          </a:solidFill>
          <a:ln w="1397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76072" y="3017520"/>
            <a:ext cx="1973275" cy="1600200"/>
          </a:xfrm>
          <a:prstGeom prst="rect">
            <a:avLst/>
          </a:prstGeom>
          <a:noFill/>
        </p:spPr>
        <p:txBody>
          <a:bodyPr wrap="square" lIns="0" rIns="0" tIns="0" bIns="0" anchor="ctr">
            <a:spAutoFit/>
          </a:bodyPr>
          <a:lstStyle/>
          <a:p>
            <a:pPr algn="ctr">
              <a:lnSpc>
                <a:spcPct val="115000"/>
              </a:lnSpc>
              <a:spcAft>
                <a:spcPts val="0"/>
              </a:spcAft>
            </a:pPr>
            <a:r>
              <a:rPr sz="1250" b="1" i="0">
                <a:solidFill>
                  <a:srgbClr val="21295C"/>
                </a:solidFill>
                <a:latin typeface="Arial"/>
              </a:rPr>
              <a:t>положу файл в tests/</a:t>
            </a:r>
          </a:p>
          <a:p>
            <a:pPr algn="ctr">
              <a:lnSpc>
                <a:spcPct val="115000"/>
              </a:lnSpc>
              <a:spcAft>
                <a:spcPts val="0"/>
              </a:spcAft>
            </a:pPr>
            <a:r>
              <a:rPr sz="1250" b="1" i="0">
                <a:solidFill>
                  <a:srgbClr val="21295C"/>
                </a:solidFill>
                <a:latin typeface="Arial"/>
              </a:rPr>
              <a:t>и доверюсь автозагрузке</a:t>
            </a:r>
          </a:p>
        </p:txBody>
      </p:sp>
      <p:sp>
        <p:nvSpPr>
          <p:cNvPr id="8" name="Rounded Rectangle 7"/>
          <p:cNvSpPr/>
          <p:nvPr/>
        </p:nvSpPr>
        <p:spPr>
          <a:xfrm>
            <a:off x="2768803" y="3017520"/>
            <a:ext cx="2119579" cy="1600200"/>
          </a:xfrm>
          <a:prstGeom prst="roundRect">
            <a:avLst>
              <a:gd name="adj" fmla="val 19047"/>
            </a:avLst>
          </a:prstGeom>
          <a:solidFill>
            <a:srgbClr val="F4F7FA"/>
          </a:solidFill>
          <a:ln w="1397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2841955" y="3017520"/>
            <a:ext cx="1973275" cy="1600200"/>
          </a:xfrm>
          <a:prstGeom prst="rect">
            <a:avLst/>
          </a:prstGeom>
          <a:noFill/>
        </p:spPr>
        <p:txBody>
          <a:bodyPr wrap="square" lIns="0" rIns="0" tIns="0" bIns="0" anchor="ctr">
            <a:spAutoFit/>
          </a:bodyPr>
          <a:lstStyle/>
          <a:p>
            <a:pPr algn="ctr">
              <a:lnSpc>
                <a:spcPct val="115000"/>
              </a:lnSpc>
              <a:spcAft>
                <a:spcPts val="0"/>
              </a:spcAft>
            </a:pPr>
            <a:r>
              <a:rPr sz="1250" b="1" i="0">
                <a:solidFill>
                  <a:srgbClr val="21295C"/>
                </a:solidFill>
                <a:latin typeface="Arial"/>
              </a:rPr>
              <a:t>явно попрошу агента</a:t>
            </a:r>
          </a:p>
          <a:p>
            <a:pPr algn="ctr">
              <a:lnSpc>
                <a:spcPct val="115000"/>
              </a:lnSpc>
              <a:spcAft>
                <a:spcPts val="0"/>
              </a:spcAft>
            </a:pPr>
            <a:r>
              <a:rPr sz="1250" b="1" i="0">
                <a:solidFill>
                  <a:srgbClr val="21295C"/>
                </a:solidFill>
                <a:latin typeface="Arial"/>
              </a:rPr>
              <a:t>прочитать файл в начале задачи</a:t>
            </a:r>
          </a:p>
        </p:txBody>
      </p:sp>
      <p:sp>
        <p:nvSpPr>
          <p:cNvPr id="10" name="Rounded Rectangle 9"/>
          <p:cNvSpPr/>
          <p:nvPr/>
        </p:nvSpPr>
        <p:spPr>
          <a:xfrm>
            <a:off x="5034686" y="3017520"/>
            <a:ext cx="2119579" cy="1600200"/>
          </a:xfrm>
          <a:prstGeom prst="roundRect">
            <a:avLst>
              <a:gd name="adj" fmla="val 19047"/>
            </a:avLst>
          </a:prstGeom>
          <a:solidFill>
            <a:srgbClr val="F4F7FA"/>
          </a:solidFill>
          <a:ln w="1397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107838" y="3017520"/>
            <a:ext cx="1973275" cy="1600200"/>
          </a:xfrm>
          <a:prstGeom prst="rect">
            <a:avLst/>
          </a:prstGeom>
          <a:noFill/>
        </p:spPr>
        <p:txBody>
          <a:bodyPr wrap="square" lIns="0" rIns="0" tIns="0" bIns="0" anchor="ctr">
            <a:spAutoFit/>
          </a:bodyPr>
          <a:lstStyle/>
          <a:p>
            <a:pPr algn="ctr">
              <a:lnSpc>
                <a:spcPct val="115000"/>
              </a:lnSpc>
              <a:spcAft>
                <a:spcPts val="0"/>
              </a:spcAft>
            </a:pPr>
            <a:r>
              <a:rPr sz="1250" b="1" i="0">
                <a:solidFill>
                  <a:srgbClr val="21295C"/>
                </a:solidFill>
                <a:latin typeface="Arial"/>
              </a:rPr>
              <a:t>продублирую содержимое</a:t>
            </a:r>
          </a:p>
          <a:p>
            <a:pPr algn="ctr">
              <a:lnSpc>
                <a:spcPct val="115000"/>
              </a:lnSpc>
              <a:spcAft>
                <a:spcPts val="0"/>
              </a:spcAft>
            </a:pPr>
            <a:r>
              <a:rPr sz="1250" b="1" i="0">
                <a:solidFill>
                  <a:srgbClr val="21295C"/>
                </a:solidFill>
                <a:latin typeface="Arial"/>
              </a:rPr>
              <a:t>в корневом CLAUDE.md</a:t>
            </a:r>
          </a:p>
        </p:txBody>
      </p:sp>
      <p:sp>
        <p:nvSpPr>
          <p:cNvPr id="12" name="Rounded Rectangle 11"/>
          <p:cNvSpPr/>
          <p:nvPr/>
        </p:nvSpPr>
        <p:spPr>
          <a:xfrm>
            <a:off x="7300569" y="3017520"/>
            <a:ext cx="2119579" cy="1600200"/>
          </a:xfrm>
          <a:prstGeom prst="roundRect">
            <a:avLst>
              <a:gd name="adj" fmla="val 19047"/>
            </a:avLst>
          </a:prstGeom>
          <a:solidFill>
            <a:srgbClr val="F4F7FA"/>
          </a:solidFill>
          <a:ln w="1397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373721" y="3017520"/>
            <a:ext cx="1973275" cy="1600200"/>
          </a:xfrm>
          <a:prstGeom prst="rect">
            <a:avLst/>
          </a:prstGeom>
          <a:noFill/>
        </p:spPr>
        <p:txBody>
          <a:bodyPr wrap="square" lIns="0" rIns="0" tIns="0" bIns="0" anchor="ctr">
            <a:spAutoFit/>
          </a:bodyPr>
          <a:lstStyle/>
          <a:p>
            <a:pPr algn="ctr">
              <a:lnSpc>
                <a:spcPct val="115000"/>
              </a:lnSpc>
              <a:spcAft>
                <a:spcPts val="0"/>
              </a:spcAft>
            </a:pPr>
            <a:r>
              <a:rPr sz="1250" b="1" i="0">
                <a:solidFill>
                  <a:srgbClr val="21295C"/>
                </a:solidFill>
                <a:latin typeface="Arial"/>
              </a:rPr>
              <a:t>проверю через /context,</a:t>
            </a:r>
          </a:p>
          <a:p>
            <a:pPr algn="ctr">
              <a:lnSpc>
                <a:spcPct val="115000"/>
              </a:lnSpc>
              <a:spcAft>
                <a:spcPts val="0"/>
              </a:spcAft>
            </a:pPr>
            <a:r>
              <a:rPr sz="1250" b="1" i="0">
                <a:solidFill>
                  <a:srgbClr val="21295C"/>
                </a:solidFill>
                <a:latin typeface="Arial"/>
              </a:rPr>
              <a:t>что реально загружено</a:t>
            </a:r>
          </a:p>
        </p:txBody>
      </p:sp>
      <p:sp>
        <p:nvSpPr>
          <p:cNvPr id="14" name="Rounded Rectangle 13"/>
          <p:cNvSpPr/>
          <p:nvPr/>
        </p:nvSpPr>
        <p:spPr>
          <a:xfrm>
            <a:off x="9566452" y="3017520"/>
            <a:ext cx="2119579" cy="1600200"/>
          </a:xfrm>
          <a:prstGeom prst="roundRect">
            <a:avLst>
              <a:gd name="adj" fmla="val 19047"/>
            </a:avLst>
          </a:prstGeom>
          <a:solidFill>
            <a:srgbClr val="F4F7FA"/>
          </a:solidFill>
          <a:ln w="1397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639604" y="3017520"/>
            <a:ext cx="1973275" cy="1600200"/>
          </a:xfrm>
          <a:prstGeom prst="rect">
            <a:avLst/>
          </a:prstGeom>
          <a:noFill/>
        </p:spPr>
        <p:txBody>
          <a:bodyPr wrap="square" lIns="0" rIns="0" tIns="0" bIns="0" anchor="ctr">
            <a:spAutoFit/>
          </a:bodyPr>
          <a:lstStyle/>
          <a:p>
            <a:pPr algn="ctr">
              <a:lnSpc>
                <a:spcPct val="115000"/>
              </a:lnSpc>
              <a:spcAft>
                <a:spcPts val="0"/>
              </a:spcAft>
            </a:pPr>
            <a:r>
              <a:rPr sz="1250" b="1" i="0">
                <a:solidFill>
                  <a:srgbClr val="21295C"/>
                </a:solidFill>
                <a:latin typeface="Arial"/>
              </a:rPr>
              <a:t>объединю всё в один</a:t>
            </a:r>
          </a:p>
          <a:p>
            <a:pPr algn="ctr">
              <a:lnSpc>
                <a:spcPct val="115000"/>
              </a:lnSpc>
              <a:spcAft>
                <a:spcPts val="0"/>
              </a:spcAft>
            </a:pPr>
            <a:r>
              <a:rPr sz="1250" b="1" i="0">
                <a:solidFill>
                  <a:srgbClr val="21295C"/>
                </a:solidFill>
                <a:latin typeface="Arial"/>
              </a:rPr>
              <a:t>файл в корне, пока не мешает</a:t>
            </a:r>
          </a:p>
        </p:txBody>
      </p:sp>
      <p:sp>
        <p:nvSpPr>
          <p:cNvPr id="16" name="TextBox 15"/>
          <p:cNvSpPr txBox="1"/>
          <p:nvPr/>
        </p:nvSpPr>
        <p:spPr>
          <a:xfrm>
            <a:off x="502920" y="4764024"/>
            <a:ext cx="11183112" cy="320040"/>
          </a:xfrm>
          <a:prstGeom prst="rect">
            <a:avLst/>
          </a:prstGeom>
          <a:noFill/>
        </p:spPr>
        <p:txBody>
          <a:bodyPr wrap="square" lIns="0" rIns="0" tIns="0" bIns="0" anchor="t">
            <a:spAutoFit/>
          </a:bodyPr>
          <a:lstStyle/>
          <a:p>
            <a:pPr algn="ctr">
              <a:lnSpc>
                <a:spcPct val="115000"/>
              </a:lnSpc>
            </a:pPr>
            <a:r>
              <a:rPr sz="1200" b="0" i="1">
                <a:solidFill>
                  <a:srgbClr val="6B7685"/>
                </a:solidFill>
                <a:latin typeface="Arial"/>
              </a:rPr>
              <a:t>разбор — на следующем слайде</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29184"/>
            <a:ext cx="10515600" cy="292608"/>
          </a:xfrm>
          <a:prstGeom prst="rect">
            <a:avLst/>
          </a:prstGeom>
          <a:noFill/>
        </p:spPr>
        <p:txBody>
          <a:bodyPr wrap="square" lIns="0" rIns="0" tIns="0" bIns="0" anchor="t">
            <a:spAutoFit/>
          </a:bodyPr>
          <a:lstStyle/>
          <a:p>
            <a:pPr algn="l">
              <a:lnSpc>
                <a:spcPct val="115000"/>
              </a:lnSpc>
            </a:pPr>
            <a:r>
              <a:rPr sz="1150" b="1" i="0">
                <a:solidFill>
                  <a:srgbClr val="028090"/>
                </a:solidFill>
                <a:latin typeface="Arial"/>
              </a:rPr>
              <a:t>КЕЙС 1.3 · ИССЛЕДОВАНИЕ И РАЗБОР</a:t>
            </a:r>
          </a:p>
        </p:txBody>
      </p:sp>
      <p:sp>
        <p:nvSpPr>
          <p:cNvPr id="3" name="TextBox 2"/>
          <p:cNvSpPr txBox="1"/>
          <p:nvPr/>
        </p:nvSpPr>
        <p:spPr>
          <a:xfrm>
            <a:off x="502920" y="640080"/>
            <a:ext cx="11183112" cy="1188720"/>
          </a:xfrm>
          <a:prstGeom prst="rect">
            <a:avLst/>
          </a:prstGeom>
          <a:noFill/>
        </p:spPr>
        <p:txBody>
          <a:bodyPr wrap="square" lIns="0" rIns="0" tIns="0" bIns="0" anchor="t">
            <a:spAutoFit/>
          </a:bodyPr>
          <a:lstStyle/>
          <a:p>
            <a:pPr algn="l">
              <a:lnSpc>
                <a:spcPct val="114000"/>
              </a:lnSpc>
            </a:pPr>
            <a:r>
              <a:rPr sz="1450" b="1" i="0">
                <a:solidFill>
                  <a:srgbClr val="21295C"/>
                </a:solidFill>
                <a:latin typeface="Arial"/>
              </a:rPr>
              <a:t>Вложенный файл грузится on-demand, только по факту чтения; контролируемое исследование не нашло пользы от разбиения, а практика показывает регулярные отказы</a:t>
            </a:r>
          </a:p>
        </p:txBody>
      </p:sp>
      <p:sp>
        <p:nvSpPr>
          <p:cNvPr id="4" name="Rounded Rectangle 3"/>
          <p:cNvSpPr/>
          <p:nvPr/>
        </p:nvSpPr>
        <p:spPr>
          <a:xfrm>
            <a:off x="502920" y="1993392"/>
            <a:ext cx="11183112" cy="548640"/>
          </a:xfrm>
          <a:prstGeom prst="roundRect">
            <a:avLst>
              <a:gd name="adj" fmla="val 25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85800" y="2066544"/>
            <a:ext cx="10835640" cy="402335"/>
          </a:xfrm>
          <a:prstGeom prst="rect">
            <a:avLst/>
          </a:prstGeom>
          <a:noFill/>
        </p:spPr>
        <p:txBody>
          <a:bodyPr wrap="square" lIns="0" rIns="0" tIns="0" bIns="0" anchor="t">
            <a:spAutoFit/>
          </a:bodyPr>
          <a:lstStyle/>
          <a:p>
            <a:pPr algn="l">
              <a:lnSpc>
                <a:spcPct val="118000"/>
              </a:lnSpc>
            </a:pPr>
            <a:r>
              <a:rPr sz="1080" b="0" i="0">
                <a:solidFill>
                  <a:srgbClr val="21295C"/>
                </a:solidFill>
                <a:latin typeface="Arial"/>
              </a:rPr>
              <a:t>Механизм: корневой CLAUDE.md грузится при старте сессии автоматически. Вложенные — только on-demand, по факту чтения. /context — единственный надёжный способ проверить.</a:t>
            </a:r>
          </a:p>
        </p:txBody>
      </p:sp>
      <p:sp>
        <p:nvSpPr>
          <p:cNvPr id="6" name="Rounded Rectangle 5"/>
          <p:cNvSpPr/>
          <p:nvPr/>
        </p:nvSpPr>
        <p:spPr>
          <a:xfrm>
            <a:off x="502920" y="2651760"/>
            <a:ext cx="11183112" cy="1600200"/>
          </a:xfrm>
          <a:prstGeom prst="roundRect">
            <a:avLst>
              <a:gd name="adj" fmla="val 19047"/>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85800" y="2834640"/>
            <a:ext cx="2955706" cy="329184"/>
          </a:xfrm>
          <a:prstGeom prst="rect">
            <a:avLst/>
          </a:prstGeom>
          <a:noFill/>
        </p:spPr>
        <p:txBody>
          <a:bodyPr wrap="square" lIns="0" rIns="0" tIns="0" bIns="0" anchor="t">
            <a:spAutoFit/>
          </a:bodyPr>
          <a:lstStyle/>
          <a:p>
            <a:pPr algn="l">
              <a:lnSpc>
                <a:spcPct val="115000"/>
              </a:lnSpc>
            </a:pPr>
            <a:r>
              <a:rPr sz="950" b="1" i="0">
                <a:solidFill>
                  <a:srgbClr val="6B7685"/>
                </a:solidFill>
                <a:latin typeface="Arial"/>
              </a:rPr>
              <a:t>Источник</a:t>
            </a:r>
          </a:p>
        </p:txBody>
      </p:sp>
      <p:sp>
        <p:nvSpPr>
          <p:cNvPr id="8" name="TextBox 7"/>
          <p:cNvSpPr txBox="1"/>
          <p:nvPr/>
        </p:nvSpPr>
        <p:spPr>
          <a:xfrm>
            <a:off x="3714658" y="2834640"/>
            <a:ext cx="4902829" cy="329184"/>
          </a:xfrm>
          <a:prstGeom prst="rect">
            <a:avLst/>
          </a:prstGeom>
          <a:noFill/>
        </p:spPr>
        <p:txBody>
          <a:bodyPr wrap="square" lIns="0" rIns="0" tIns="0" bIns="0" anchor="t">
            <a:spAutoFit/>
          </a:bodyPr>
          <a:lstStyle/>
          <a:p>
            <a:pPr algn="l">
              <a:lnSpc>
                <a:spcPct val="115000"/>
              </a:lnSpc>
            </a:pPr>
            <a:r>
              <a:rPr sz="950" b="1" i="0">
                <a:solidFill>
                  <a:srgbClr val="6B7685"/>
                </a:solidFill>
                <a:latin typeface="Arial"/>
              </a:rPr>
              <a:t>Тезис</a:t>
            </a:r>
          </a:p>
        </p:txBody>
      </p:sp>
      <p:sp>
        <p:nvSpPr>
          <p:cNvPr id="9" name="TextBox 8"/>
          <p:cNvSpPr txBox="1"/>
          <p:nvPr/>
        </p:nvSpPr>
        <p:spPr>
          <a:xfrm>
            <a:off x="8690640" y="2834640"/>
            <a:ext cx="2739359" cy="329184"/>
          </a:xfrm>
          <a:prstGeom prst="rect">
            <a:avLst/>
          </a:prstGeom>
          <a:noFill/>
        </p:spPr>
        <p:txBody>
          <a:bodyPr wrap="square" lIns="0" rIns="0" tIns="0" bIns="0" anchor="t">
            <a:spAutoFit/>
          </a:bodyPr>
          <a:lstStyle/>
          <a:p>
            <a:pPr algn="l">
              <a:lnSpc>
                <a:spcPct val="115000"/>
              </a:lnSpc>
            </a:pPr>
            <a:r>
              <a:rPr sz="950" b="1" i="0">
                <a:solidFill>
                  <a:srgbClr val="6B7685"/>
                </a:solidFill>
                <a:latin typeface="Arial"/>
              </a:rPr>
              <a:t>Сила</a:t>
            </a:r>
          </a:p>
        </p:txBody>
      </p:sp>
      <p:sp>
        <p:nvSpPr>
          <p:cNvPr id="10" name="Rectangle 9"/>
          <p:cNvSpPr/>
          <p:nvPr/>
        </p:nvSpPr>
        <p:spPr>
          <a:xfrm>
            <a:off x="557784" y="3218688"/>
            <a:ext cx="11073384" cy="212598"/>
          </a:xfrm>
          <a:prstGeom prst="rect">
            <a:avLst/>
          </a:prstGeom>
          <a:solidFill>
            <a:srgbClr val="FEF5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85800" y="3218688"/>
            <a:ext cx="2937418" cy="212598"/>
          </a:xfrm>
          <a:prstGeom prst="rect">
            <a:avLst/>
          </a:prstGeom>
          <a:noFill/>
        </p:spPr>
        <p:txBody>
          <a:bodyPr wrap="square" lIns="0" rIns="0" tIns="0" bIns="0" anchor="ctr">
            <a:spAutoFit/>
          </a:bodyPr>
          <a:lstStyle/>
          <a:p>
            <a:pPr algn="l">
              <a:lnSpc>
                <a:spcPct val="115000"/>
              </a:lnSpc>
            </a:pPr>
            <a:r>
              <a:rPr sz="890" b="0" i="0">
                <a:solidFill>
                  <a:srgbClr val="21295C"/>
                </a:solidFill>
                <a:latin typeface="Arial"/>
              </a:rPr>
              <a:t>McMillan, 2605.10039 (1650 сессий)</a:t>
            </a:r>
          </a:p>
        </p:txBody>
      </p:sp>
      <p:sp>
        <p:nvSpPr>
          <p:cNvPr id="12" name="TextBox 11"/>
          <p:cNvSpPr txBox="1"/>
          <p:nvPr/>
        </p:nvSpPr>
        <p:spPr>
          <a:xfrm>
            <a:off x="3714658" y="3218688"/>
            <a:ext cx="4884541" cy="212598"/>
          </a:xfrm>
          <a:prstGeom prst="rect">
            <a:avLst/>
          </a:prstGeom>
          <a:noFill/>
        </p:spPr>
        <p:txBody>
          <a:bodyPr wrap="square" lIns="0" rIns="0" tIns="0" bIns="0" anchor="ctr">
            <a:spAutoFit/>
          </a:bodyPr>
          <a:lstStyle/>
          <a:p>
            <a:pPr algn="l">
              <a:lnSpc>
                <a:spcPct val="115000"/>
              </a:lnSpc>
            </a:pPr>
            <a:r>
              <a:rPr sz="890" b="0" i="0">
                <a:solidFill>
                  <a:srgbClr val="21295C"/>
                </a:solidFill>
                <a:latin typeface="Arial"/>
              </a:rPr>
              <a:t>Ни одна из 4 структурных переменных не дала эффекта</a:t>
            </a:r>
          </a:p>
        </p:txBody>
      </p:sp>
      <p:sp>
        <p:nvSpPr>
          <p:cNvPr id="13" name="TextBox 12"/>
          <p:cNvSpPr txBox="1"/>
          <p:nvPr/>
        </p:nvSpPr>
        <p:spPr>
          <a:xfrm>
            <a:off x="8690640" y="3218688"/>
            <a:ext cx="2721071" cy="212598"/>
          </a:xfrm>
          <a:prstGeom prst="rect">
            <a:avLst/>
          </a:prstGeom>
          <a:noFill/>
        </p:spPr>
        <p:txBody>
          <a:bodyPr wrap="square" lIns="0" rIns="0" tIns="0" bIns="0" anchor="ctr">
            <a:spAutoFit/>
          </a:bodyPr>
          <a:lstStyle/>
          <a:p>
            <a:pPr algn="l">
              <a:lnSpc>
                <a:spcPct val="115000"/>
              </a:lnSpc>
            </a:pPr>
            <a:r>
              <a:rPr sz="890" b="0" i="0">
                <a:solidFill>
                  <a:srgbClr val="21295C"/>
                </a:solidFill>
                <a:latin typeface="Arial"/>
              </a:rPr>
              <a:t>Сильное и контринтуитивное</a:t>
            </a:r>
          </a:p>
        </p:txBody>
      </p:sp>
      <p:cxnSp>
        <p:nvCxnSpPr>
          <p:cNvPr id="14" name="Connector 13"/>
          <p:cNvCxnSpPr/>
          <p:nvPr/>
        </p:nvCxnSpPr>
        <p:spPr>
          <a:xfrm>
            <a:off x="685800" y="3431286"/>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685800" y="3431286"/>
            <a:ext cx="2937418" cy="212598"/>
          </a:xfrm>
          <a:prstGeom prst="rect">
            <a:avLst/>
          </a:prstGeom>
          <a:noFill/>
        </p:spPr>
        <p:txBody>
          <a:bodyPr wrap="square" lIns="0" rIns="0" tIns="0" bIns="0" anchor="ctr">
            <a:spAutoFit/>
          </a:bodyPr>
          <a:lstStyle/>
          <a:p>
            <a:pPr algn="l">
              <a:lnSpc>
                <a:spcPct val="115000"/>
              </a:lnSpc>
            </a:pPr>
            <a:r>
              <a:rPr sz="890" b="0" i="0">
                <a:solidFill>
                  <a:srgbClr val="21295C"/>
                </a:solidFill>
                <a:latin typeface="Arial"/>
              </a:rPr>
              <a:t>Claude Code #2571 / #6972</a:t>
            </a:r>
          </a:p>
        </p:txBody>
      </p:sp>
      <p:sp>
        <p:nvSpPr>
          <p:cNvPr id="16" name="TextBox 15"/>
          <p:cNvSpPr txBox="1"/>
          <p:nvPr/>
        </p:nvSpPr>
        <p:spPr>
          <a:xfrm>
            <a:off x="3714658" y="3431286"/>
            <a:ext cx="4884541" cy="212598"/>
          </a:xfrm>
          <a:prstGeom prst="rect">
            <a:avLst/>
          </a:prstGeom>
          <a:noFill/>
        </p:spPr>
        <p:txBody>
          <a:bodyPr wrap="square" lIns="0" rIns="0" tIns="0" bIns="0" anchor="ctr">
            <a:spAutoFit/>
          </a:bodyPr>
          <a:lstStyle/>
          <a:p>
            <a:pPr algn="l">
              <a:lnSpc>
                <a:spcPct val="115000"/>
              </a:lnSpc>
            </a:pPr>
            <a:r>
              <a:rPr sz="890" b="0" i="0">
                <a:solidFill>
                  <a:srgbClr val="21295C"/>
                </a:solidFill>
                <a:latin typeface="Arial"/>
              </a:rPr>
              <a:t>Не подхватывается автоматически; документация вводит в заблуждение</a:t>
            </a:r>
          </a:p>
        </p:txBody>
      </p:sp>
      <p:sp>
        <p:nvSpPr>
          <p:cNvPr id="17" name="TextBox 16"/>
          <p:cNvSpPr txBox="1"/>
          <p:nvPr/>
        </p:nvSpPr>
        <p:spPr>
          <a:xfrm>
            <a:off x="8690640" y="3431286"/>
            <a:ext cx="2721071" cy="212598"/>
          </a:xfrm>
          <a:prstGeom prst="rect">
            <a:avLst/>
          </a:prstGeom>
          <a:noFill/>
        </p:spPr>
        <p:txBody>
          <a:bodyPr wrap="square" lIns="0" rIns="0" tIns="0" bIns="0" anchor="ctr">
            <a:spAutoFit/>
          </a:bodyPr>
          <a:lstStyle/>
          <a:p>
            <a:pPr algn="l">
              <a:lnSpc>
                <a:spcPct val="115000"/>
              </a:lnSpc>
            </a:pPr>
            <a:r>
              <a:rPr sz="890" b="0" i="0">
                <a:solidFill>
                  <a:srgbClr val="21295C"/>
                </a:solidFill>
                <a:latin typeface="Arial"/>
              </a:rPr>
              <a:t>Прямое наблюдение</a:t>
            </a:r>
          </a:p>
        </p:txBody>
      </p:sp>
      <p:cxnSp>
        <p:nvCxnSpPr>
          <p:cNvPr id="18" name="Connector 17"/>
          <p:cNvCxnSpPr/>
          <p:nvPr/>
        </p:nvCxnSpPr>
        <p:spPr>
          <a:xfrm>
            <a:off x="685800" y="3643884"/>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685800" y="3643884"/>
            <a:ext cx="2937418" cy="212598"/>
          </a:xfrm>
          <a:prstGeom prst="rect">
            <a:avLst/>
          </a:prstGeom>
          <a:noFill/>
        </p:spPr>
        <p:txBody>
          <a:bodyPr wrap="square" lIns="0" rIns="0" tIns="0" bIns="0" anchor="ctr">
            <a:spAutoFit/>
          </a:bodyPr>
          <a:lstStyle/>
          <a:p>
            <a:pPr algn="l">
              <a:lnSpc>
                <a:spcPct val="115000"/>
              </a:lnSpc>
            </a:pPr>
            <a:r>
              <a:rPr sz="890" b="0" i="0">
                <a:solidFill>
                  <a:srgbClr val="21295C"/>
                </a:solidFill>
                <a:latin typeface="Arial"/>
              </a:rPr>
              <a:t>Cursor / Codex CLI</a:t>
            </a:r>
          </a:p>
        </p:txBody>
      </p:sp>
      <p:sp>
        <p:nvSpPr>
          <p:cNvPr id="20" name="TextBox 19"/>
          <p:cNvSpPr txBox="1"/>
          <p:nvPr/>
        </p:nvSpPr>
        <p:spPr>
          <a:xfrm>
            <a:off x="3714658" y="3643884"/>
            <a:ext cx="4884541" cy="212598"/>
          </a:xfrm>
          <a:prstGeom prst="rect">
            <a:avLst/>
          </a:prstGeom>
          <a:noFill/>
        </p:spPr>
        <p:txBody>
          <a:bodyPr wrap="square" lIns="0" rIns="0" tIns="0" bIns="0" anchor="ctr">
            <a:spAutoFit/>
          </a:bodyPr>
          <a:lstStyle/>
          <a:p>
            <a:pPr algn="l">
              <a:lnSpc>
                <a:spcPct val="115000"/>
              </a:lnSpc>
            </a:pPr>
            <a:r>
              <a:rPr sz="890" b="0" i="0">
                <a:solidFill>
                  <a:srgbClr val="21295C"/>
                </a:solidFill>
                <a:latin typeface="Arial"/>
              </a:rPr>
              <a:t>Баг nested-функциональности / ненадёжная подгрузка</a:t>
            </a:r>
          </a:p>
        </p:txBody>
      </p:sp>
      <p:sp>
        <p:nvSpPr>
          <p:cNvPr id="21" name="TextBox 20"/>
          <p:cNvSpPr txBox="1"/>
          <p:nvPr/>
        </p:nvSpPr>
        <p:spPr>
          <a:xfrm>
            <a:off x="8690640" y="3643884"/>
            <a:ext cx="2721071" cy="212598"/>
          </a:xfrm>
          <a:prstGeom prst="rect">
            <a:avLst/>
          </a:prstGeom>
          <a:noFill/>
        </p:spPr>
        <p:txBody>
          <a:bodyPr wrap="square" lIns="0" rIns="0" tIns="0" bIns="0" anchor="ctr">
            <a:spAutoFit/>
          </a:bodyPr>
          <a:lstStyle/>
          <a:p>
            <a:pPr algn="l">
              <a:lnSpc>
                <a:spcPct val="115000"/>
              </a:lnSpc>
            </a:pPr>
            <a:r>
              <a:rPr sz="890" b="0" i="0">
                <a:solidFill>
                  <a:srgbClr val="21295C"/>
                </a:solidFill>
                <a:latin typeface="Arial"/>
              </a:rPr>
              <a:t>Прямое, другие инструменты</a:t>
            </a:r>
          </a:p>
        </p:txBody>
      </p:sp>
      <p:cxnSp>
        <p:nvCxnSpPr>
          <p:cNvPr id="22" name="Connector 21"/>
          <p:cNvCxnSpPr/>
          <p:nvPr/>
        </p:nvCxnSpPr>
        <p:spPr>
          <a:xfrm>
            <a:off x="685800" y="3856482"/>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3" name="Rectangle 22"/>
          <p:cNvSpPr/>
          <p:nvPr/>
        </p:nvSpPr>
        <p:spPr>
          <a:xfrm>
            <a:off x="557784" y="3856482"/>
            <a:ext cx="11073384" cy="212598"/>
          </a:xfrm>
          <a:prstGeom prst="rect">
            <a:avLst/>
          </a:prstGeom>
          <a:solidFill>
            <a:srgbClr val="E0F1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85800" y="3856482"/>
            <a:ext cx="2937418" cy="212598"/>
          </a:xfrm>
          <a:prstGeom prst="rect">
            <a:avLst/>
          </a:prstGeom>
          <a:noFill/>
        </p:spPr>
        <p:txBody>
          <a:bodyPr wrap="square" lIns="0" rIns="0" tIns="0" bIns="0" anchor="ctr">
            <a:spAutoFit/>
          </a:bodyPr>
          <a:lstStyle/>
          <a:p>
            <a:pPr algn="l">
              <a:lnSpc>
                <a:spcPct val="115000"/>
              </a:lnSpc>
            </a:pPr>
            <a:r>
              <a:rPr sz="890" b="0" i="0">
                <a:solidFill>
                  <a:srgbClr val="21295C"/>
                </a:solidFill>
                <a:latin typeface="Arial"/>
              </a:rPr>
              <a:t>GitHub Copilot CLI #3051</a:t>
            </a:r>
          </a:p>
        </p:txBody>
      </p:sp>
      <p:sp>
        <p:nvSpPr>
          <p:cNvPr id="25" name="TextBox 24"/>
          <p:cNvSpPr txBox="1"/>
          <p:nvPr/>
        </p:nvSpPr>
        <p:spPr>
          <a:xfrm>
            <a:off x="3714658" y="3856482"/>
            <a:ext cx="4884541" cy="212598"/>
          </a:xfrm>
          <a:prstGeom prst="rect">
            <a:avLst/>
          </a:prstGeom>
          <a:noFill/>
        </p:spPr>
        <p:txBody>
          <a:bodyPr wrap="square" lIns="0" rIns="0" tIns="0" bIns="0" anchor="ctr">
            <a:spAutoFit/>
          </a:bodyPr>
          <a:lstStyle/>
          <a:p>
            <a:pPr algn="l">
              <a:lnSpc>
                <a:spcPct val="115000"/>
              </a:lnSpc>
            </a:pPr>
            <a:r>
              <a:rPr sz="890" b="0" i="0">
                <a:solidFill>
                  <a:srgbClr val="21295C"/>
                </a:solidFill>
                <a:latin typeface="Arial"/>
              </a:rPr>
              <a:t>Документированный структурный предел discovery</a:t>
            </a:r>
          </a:p>
        </p:txBody>
      </p:sp>
      <p:sp>
        <p:nvSpPr>
          <p:cNvPr id="26" name="TextBox 25"/>
          <p:cNvSpPr txBox="1"/>
          <p:nvPr/>
        </p:nvSpPr>
        <p:spPr>
          <a:xfrm>
            <a:off x="8690640" y="3856482"/>
            <a:ext cx="2721071" cy="212598"/>
          </a:xfrm>
          <a:prstGeom prst="rect">
            <a:avLst/>
          </a:prstGeom>
          <a:noFill/>
        </p:spPr>
        <p:txBody>
          <a:bodyPr wrap="square" lIns="0" rIns="0" tIns="0" bIns="0" anchor="ctr">
            <a:spAutoFit/>
          </a:bodyPr>
          <a:lstStyle/>
          <a:p>
            <a:pPr algn="l">
              <a:lnSpc>
                <a:spcPct val="115000"/>
              </a:lnSpc>
            </a:pPr>
            <a:r>
              <a:rPr sz="890" b="0" i="0">
                <a:solidFill>
                  <a:srgbClr val="21295C"/>
                </a:solidFill>
                <a:latin typeface="Arial"/>
              </a:rPr>
              <a:t>Самое жёсткое — архитектурный предел</a:t>
            </a:r>
          </a:p>
        </p:txBody>
      </p:sp>
      <p:sp>
        <p:nvSpPr>
          <p:cNvPr id="27" name="Rounded Rectangle 26"/>
          <p:cNvSpPr/>
          <p:nvPr/>
        </p:nvSpPr>
        <p:spPr>
          <a:xfrm>
            <a:off x="502920" y="4361688"/>
            <a:ext cx="11183112" cy="1664208"/>
          </a:xfrm>
          <a:prstGeom prst="roundRect">
            <a:avLst>
              <a:gd name="adj" fmla="val 18315"/>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85800" y="4544568"/>
            <a:ext cx="2631186" cy="329184"/>
          </a:xfrm>
          <a:prstGeom prst="rect">
            <a:avLst/>
          </a:prstGeom>
          <a:noFill/>
        </p:spPr>
        <p:txBody>
          <a:bodyPr wrap="square" lIns="0" rIns="0" tIns="0" bIns="0" anchor="t">
            <a:spAutoFit/>
          </a:bodyPr>
          <a:lstStyle/>
          <a:p>
            <a:pPr algn="l">
              <a:lnSpc>
                <a:spcPct val="115000"/>
              </a:lnSpc>
            </a:pPr>
            <a:r>
              <a:rPr sz="900" b="1" i="0">
                <a:solidFill>
                  <a:srgbClr val="6B7685"/>
                </a:solidFill>
                <a:latin typeface="Arial"/>
              </a:rPr>
              <a:t>Вариант</a:t>
            </a:r>
          </a:p>
        </p:txBody>
      </p:sp>
      <p:sp>
        <p:nvSpPr>
          <p:cNvPr id="29" name="TextBox 28"/>
          <p:cNvSpPr txBox="1"/>
          <p:nvPr/>
        </p:nvSpPr>
        <p:spPr>
          <a:xfrm>
            <a:off x="3390138" y="4544568"/>
            <a:ext cx="2739359" cy="329184"/>
          </a:xfrm>
          <a:prstGeom prst="rect">
            <a:avLst/>
          </a:prstGeom>
          <a:noFill/>
        </p:spPr>
        <p:txBody>
          <a:bodyPr wrap="square" lIns="0" rIns="0" tIns="0" bIns="0" anchor="t">
            <a:spAutoFit/>
          </a:bodyPr>
          <a:lstStyle/>
          <a:p>
            <a:pPr algn="l">
              <a:lnSpc>
                <a:spcPct val="115000"/>
              </a:lnSpc>
            </a:pPr>
            <a:r>
              <a:rPr sz="900" b="1" i="0">
                <a:solidFill>
                  <a:srgbClr val="6B7685"/>
                </a:solidFill>
                <a:latin typeface="Arial"/>
              </a:rPr>
              <a:t>Где работает</a:t>
            </a:r>
          </a:p>
        </p:txBody>
      </p:sp>
      <p:sp>
        <p:nvSpPr>
          <p:cNvPr id="30" name="TextBox 29"/>
          <p:cNvSpPr txBox="1"/>
          <p:nvPr/>
        </p:nvSpPr>
        <p:spPr>
          <a:xfrm>
            <a:off x="6202649" y="4544568"/>
            <a:ext cx="5227350" cy="329184"/>
          </a:xfrm>
          <a:prstGeom prst="rect">
            <a:avLst/>
          </a:prstGeom>
          <a:noFill/>
        </p:spPr>
        <p:txBody>
          <a:bodyPr wrap="square" lIns="0" rIns="0" tIns="0" bIns="0" anchor="t">
            <a:spAutoFit/>
          </a:bodyPr>
          <a:lstStyle/>
          <a:p>
            <a:pPr algn="l">
              <a:lnSpc>
                <a:spcPct val="115000"/>
              </a:lnSpc>
            </a:pPr>
            <a:r>
              <a:rPr sz="900" b="1" i="0">
                <a:solidFill>
                  <a:srgbClr val="6B7685"/>
                </a:solidFill>
                <a:latin typeface="Arial"/>
              </a:rPr>
              <a:t>Почему рано — что вместо</a:t>
            </a:r>
          </a:p>
        </p:txBody>
      </p:sp>
      <p:sp>
        <p:nvSpPr>
          <p:cNvPr id="31" name="TextBox 30"/>
          <p:cNvSpPr txBox="1"/>
          <p:nvPr/>
        </p:nvSpPr>
        <p:spPr>
          <a:xfrm>
            <a:off x="685800" y="4928616"/>
            <a:ext cx="2612898" cy="182880"/>
          </a:xfrm>
          <a:prstGeom prst="rect">
            <a:avLst/>
          </a:prstGeom>
          <a:noFill/>
        </p:spPr>
        <p:txBody>
          <a:bodyPr wrap="square" lIns="0" rIns="0" tIns="0" bIns="0" anchor="ctr">
            <a:spAutoFit/>
          </a:bodyPr>
          <a:lstStyle/>
          <a:p>
            <a:pPr algn="l">
              <a:lnSpc>
                <a:spcPct val="115000"/>
              </a:lnSpc>
            </a:pPr>
            <a:r>
              <a:rPr sz="880" b="0" i="0">
                <a:solidFill>
                  <a:srgbClr val="21295C"/>
                </a:solidFill>
                <a:latin typeface="Arial"/>
              </a:rPr>
              <a:t>«Доверюсь автозагрузке»</a:t>
            </a:r>
          </a:p>
        </p:txBody>
      </p:sp>
      <p:sp>
        <p:nvSpPr>
          <p:cNvPr id="32" name="TextBox 31"/>
          <p:cNvSpPr txBox="1"/>
          <p:nvPr/>
        </p:nvSpPr>
        <p:spPr>
          <a:xfrm>
            <a:off x="3390138" y="4928616"/>
            <a:ext cx="2721071" cy="182880"/>
          </a:xfrm>
          <a:prstGeom prst="rect">
            <a:avLst/>
          </a:prstGeom>
          <a:noFill/>
        </p:spPr>
        <p:txBody>
          <a:bodyPr wrap="square" lIns="0" rIns="0" tIns="0" bIns="0" anchor="ctr">
            <a:spAutoFit/>
          </a:bodyPr>
          <a:lstStyle/>
          <a:p>
            <a:pPr algn="l">
              <a:lnSpc>
                <a:spcPct val="115000"/>
              </a:lnSpc>
            </a:pPr>
            <a:r>
              <a:rPr sz="880" b="0" i="0">
                <a:solidFill>
                  <a:srgbClr val="21295C"/>
                </a:solidFill>
                <a:latin typeface="Arial"/>
              </a:rPr>
              <a:t>Никогда гарантированно</a:t>
            </a:r>
          </a:p>
        </p:txBody>
      </p:sp>
      <p:sp>
        <p:nvSpPr>
          <p:cNvPr id="33" name="TextBox 32"/>
          <p:cNvSpPr txBox="1"/>
          <p:nvPr/>
        </p:nvSpPr>
        <p:spPr>
          <a:xfrm>
            <a:off x="6202649" y="4928616"/>
            <a:ext cx="5209062" cy="182880"/>
          </a:xfrm>
          <a:prstGeom prst="rect">
            <a:avLst/>
          </a:prstGeom>
          <a:noFill/>
        </p:spPr>
        <p:txBody>
          <a:bodyPr wrap="square" lIns="0" rIns="0" tIns="0" bIns="0" anchor="ctr">
            <a:spAutoFit/>
          </a:bodyPr>
          <a:lstStyle/>
          <a:p>
            <a:pPr algn="l">
              <a:lnSpc>
                <a:spcPct val="115000"/>
              </a:lnSpc>
            </a:pPr>
            <a:r>
              <a:rPr sz="880" b="0" i="0">
                <a:solidFill>
                  <a:srgbClr val="21295C"/>
                </a:solidFill>
                <a:latin typeface="Arial"/>
              </a:rPr>
              <a:t>Вложенные файлы грузятся on-demand. Задокументированные отказы — системная категория</a:t>
            </a:r>
          </a:p>
        </p:txBody>
      </p:sp>
      <p:cxnSp>
        <p:nvCxnSpPr>
          <p:cNvPr id="34" name="Connector 33"/>
          <p:cNvCxnSpPr/>
          <p:nvPr/>
        </p:nvCxnSpPr>
        <p:spPr>
          <a:xfrm>
            <a:off x="685800" y="5111496"/>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35" name="TextBox 34"/>
          <p:cNvSpPr txBox="1"/>
          <p:nvPr/>
        </p:nvSpPr>
        <p:spPr>
          <a:xfrm>
            <a:off x="685800" y="5111496"/>
            <a:ext cx="2612898" cy="182880"/>
          </a:xfrm>
          <a:prstGeom prst="rect">
            <a:avLst/>
          </a:prstGeom>
          <a:noFill/>
        </p:spPr>
        <p:txBody>
          <a:bodyPr wrap="square" lIns="0" rIns="0" tIns="0" bIns="0" anchor="ctr">
            <a:spAutoFit/>
          </a:bodyPr>
          <a:lstStyle/>
          <a:p>
            <a:pPr algn="l">
              <a:lnSpc>
                <a:spcPct val="115000"/>
              </a:lnSpc>
            </a:pPr>
            <a:r>
              <a:rPr sz="880" b="0" i="0">
                <a:solidFill>
                  <a:srgbClr val="21295C"/>
                </a:solidFill>
                <a:latin typeface="Arial"/>
              </a:rPr>
              <a:t>«Явно попрошу прочитать»</a:t>
            </a:r>
          </a:p>
        </p:txBody>
      </p:sp>
      <p:sp>
        <p:nvSpPr>
          <p:cNvPr id="36" name="TextBox 35"/>
          <p:cNvSpPr txBox="1"/>
          <p:nvPr/>
        </p:nvSpPr>
        <p:spPr>
          <a:xfrm>
            <a:off x="3390138" y="5111496"/>
            <a:ext cx="2721071" cy="182880"/>
          </a:xfrm>
          <a:prstGeom prst="rect">
            <a:avLst/>
          </a:prstGeom>
          <a:noFill/>
        </p:spPr>
        <p:txBody>
          <a:bodyPr wrap="square" lIns="0" rIns="0" tIns="0" bIns="0" anchor="ctr">
            <a:spAutoFit/>
          </a:bodyPr>
          <a:lstStyle/>
          <a:p>
            <a:pPr algn="l">
              <a:lnSpc>
                <a:spcPct val="115000"/>
              </a:lnSpc>
            </a:pPr>
            <a:r>
              <a:rPr sz="880" b="0" i="0">
                <a:solidFill>
                  <a:srgbClr val="21295C"/>
                </a:solidFill>
                <a:latin typeface="Arial"/>
              </a:rPr>
              <a:t>Работает, требует ручной дисциплины</a:t>
            </a:r>
          </a:p>
        </p:txBody>
      </p:sp>
      <p:sp>
        <p:nvSpPr>
          <p:cNvPr id="37" name="TextBox 36"/>
          <p:cNvSpPr txBox="1"/>
          <p:nvPr/>
        </p:nvSpPr>
        <p:spPr>
          <a:xfrm>
            <a:off x="6202649" y="5111496"/>
            <a:ext cx="5209062" cy="182880"/>
          </a:xfrm>
          <a:prstGeom prst="rect">
            <a:avLst/>
          </a:prstGeom>
          <a:noFill/>
        </p:spPr>
        <p:txBody>
          <a:bodyPr wrap="square" lIns="0" rIns="0" tIns="0" bIns="0" anchor="ctr">
            <a:spAutoFit/>
          </a:bodyPr>
          <a:lstStyle/>
          <a:p>
            <a:pPr algn="l">
              <a:lnSpc>
                <a:spcPct val="115000"/>
              </a:lnSpc>
            </a:pPr>
            <a:r>
              <a:rPr sz="880" b="0" i="0">
                <a:solidFill>
                  <a:srgbClr val="21295C"/>
                </a:solidFill>
                <a:latin typeface="Arial"/>
              </a:rPr>
              <a:t>Надёжнее автозагрузки, но перекладывает ответственность на человека</a:t>
            </a:r>
          </a:p>
        </p:txBody>
      </p:sp>
      <p:cxnSp>
        <p:nvCxnSpPr>
          <p:cNvPr id="38" name="Connector 37"/>
          <p:cNvCxnSpPr/>
          <p:nvPr/>
        </p:nvCxnSpPr>
        <p:spPr>
          <a:xfrm>
            <a:off x="685800" y="5294376"/>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39" name="TextBox 38"/>
          <p:cNvSpPr txBox="1"/>
          <p:nvPr/>
        </p:nvSpPr>
        <p:spPr>
          <a:xfrm>
            <a:off x="685800" y="5294376"/>
            <a:ext cx="2612898" cy="182880"/>
          </a:xfrm>
          <a:prstGeom prst="rect">
            <a:avLst/>
          </a:prstGeom>
          <a:noFill/>
        </p:spPr>
        <p:txBody>
          <a:bodyPr wrap="square" lIns="0" rIns="0" tIns="0" bIns="0" anchor="ctr">
            <a:spAutoFit/>
          </a:bodyPr>
          <a:lstStyle/>
          <a:p>
            <a:pPr algn="l">
              <a:lnSpc>
                <a:spcPct val="115000"/>
              </a:lnSpc>
            </a:pPr>
            <a:r>
              <a:rPr sz="880" b="0" i="0">
                <a:solidFill>
                  <a:srgbClr val="21295C"/>
                </a:solidFill>
                <a:latin typeface="Arial"/>
              </a:rPr>
              <a:t>«Продублирую в корневой»</a:t>
            </a:r>
          </a:p>
        </p:txBody>
      </p:sp>
      <p:sp>
        <p:nvSpPr>
          <p:cNvPr id="40" name="TextBox 39"/>
          <p:cNvSpPr txBox="1"/>
          <p:nvPr/>
        </p:nvSpPr>
        <p:spPr>
          <a:xfrm>
            <a:off x="3390138" y="5294376"/>
            <a:ext cx="2721071" cy="182880"/>
          </a:xfrm>
          <a:prstGeom prst="rect">
            <a:avLst/>
          </a:prstGeom>
          <a:noFill/>
        </p:spPr>
        <p:txBody>
          <a:bodyPr wrap="square" lIns="0" rIns="0" tIns="0" bIns="0" anchor="ctr">
            <a:spAutoFit/>
          </a:bodyPr>
          <a:lstStyle/>
          <a:p>
            <a:pPr algn="l">
              <a:lnSpc>
                <a:spcPct val="115000"/>
              </a:lnSpc>
            </a:pPr>
            <a:r>
              <a:rPr sz="880" b="0" i="0">
                <a:solidFill>
                  <a:srgbClr val="21295C"/>
                </a:solidFill>
                <a:latin typeface="Arial"/>
              </a:rPr>
              <a:t>Работает всегда — корень грузится при старте</a:t>
            </a:r>
          </a:p>
        </p:txBody>
      </p:sp>
      <p:sp>
        <p:nvSpPr>
          <p:cNvPr id="41" name="TextBox 40"/>
          <p:cNvSpPr txBox="1"/>
          <p:nvPr/>
        </p:nvSpPr>
        <p:spPr>
          <a:xfrm>
            <a:off x="6202649" y="5294376"/>
            <a:ext cx="5209062" cy="182880"/>
          </a:xfrm>
          <a:prstGeom prst="rect">
            <a:avLst/>
          </a:prstGeom>
          <a:noFill/>
        </p:spPr>
        <p:txBody>
          <a:bodyPr wrap="square" lIns="0" rIns="0" tIns="0" bIns="0" anchor="ctr">
            <a:spAutoFit/>
          </a:bodyPr>
          <a:lstStyle/>
          <a:p>
            <a:pPr algn="l">
              <a:lnSpc>
                <a:spcPct val="115000"/>
              </a:lnSpc>
            </a:pPr>
            <a:r>
              <a:rPr sz="880" b="0" i="0">
                <a:solidFill>
                  <a:srgbClr val="21295C"/>
                </a:solidFill>
                <a:latin typeface="Arial"/>
              </a:rPr>
              <a:t>Снова presence paradox: продублированная строка стоит контекста везде</a:t>
            </a:r>
          </a:p>
        </p:txBody>
      </p:sp>
      <p:cxnSp>
        <p:nvCxnSpPr>
          <p:cNvPr id="42" name="Connector 41"/>
          <p:cNvCxnSpPr/>
          <p:nvPr/>
        </p:nvCxnSpPr>
        <p:spPr>
          <a:xfrm>
            <a:off x="685800" y="5477256"/>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43" name="TextBox 42"/>
          <p:cNvSpPr txBox="1"/>
          <p:nvPr/>
        </p:nvSpPr>
        <p:spPr>
          <a:xfrm>
            <a:off x="685800" y="5477256"/>
            <a:ext cx="2612898" cy="182880"/>
          </a:xfrm>
          <a:prstGeom prst="rect">
            <a:avLst/>
          </a:prstGeom>
          <a:noFill/>
        </p:spPr>
        <p:txBody>
          <a:bodyPr wrap="square" lIns="0" rIns="0" tIns="0" bIns="0" anchor="ctr">
            <a:spAutoFit/>
          </a:bodyPr>
          <a:lstStyle/>
          <a:p>
            <a:pPr algn="l">
              <a:lnSpc>
                <a:spcPct val="115000"/>
              </a:lnSpc>
            </a:pPr>
            <a:r>
              <a:rPr sz="880" b="0" i="0">
                <a:solidFill>
                  <a:srgbClr val="21295C"/>
                </a:solidFill>
                <a:latin typeface="Arial"/>
              </a:rPr>
              <a:t>«Проверю через /context»</a:t>
            </a:r>
          </a:p>
        </p:txBody>
      </p:sp>
      <p:sp>
        <p:nvSpPr>
          <p:cNvPr id="44" name="TextBox 43"/>
          <p:cNvSpPr txBox="1"/>
          <p:nvPr/>
        </p:nvSpPr>
        <p:spPr>
          <a:xfrm>
            <a:off x="3390138" y="5477256"/>
            <a:ext cx="2721071" cy="182880"/>
          </a:xfrm>
          <a:prstGeom prst="rect">
            <a:avLst/>
          </a:prstGeom>
          <a:noFill/>
        </p:spPr>
        <p:txBody>
          <a:bodyPr wrap="square" lIns="0" rIns="0" tIns="0" bIns="0" anchor="ctr">
            <a:spAutoFit/>
          </a:bodyPr>
          <a:lstStyle/>
          <a:p>
            <a:pPr algn="l">
              <a:lnSpc>
                <a:spcPct val="115000"/>
              </a:lnSpc>
            </a:pPr>
            <a:r>
              <a:rPr sz="880" b="0" i="0">
                <a:solidFill>
                  <a:srgbClr val="21295C"/>
                </a:solidFill>
                <a:latin typeface="Arial"/>
              </a:rPr>
              <a:t>Единственный способ узнать факт</a:t>
            </a:r>
          </a:p>
        </p:txBody>
      </p:sp>
      <p:sp>
        <p:nvSpPr>
          <p:cNvPr id="45" name="TextBox 44"/>
          <p:cNvSpPr txBox="1"/>
          <p:nvPr/>
        </p:nvSpPr>
        <p:spPr>
          <a:xfrm>
            <a:off x="6202649" y="5477256"/>
            <a:ext cx="5209062" cy="182880"/>
          </a:xfrm>
          <a:prstGeom prst="rect">
            <a:avLst/>
          </a:prstGeom>
          <a:noFill/>
        </p:spPr>
        <p:txBody>
          <a:bodyPr wrap="square" lIns="0" rIns="0" tIns="0" bIns="0" anchor="ctr">
            <a:spAutoFit/>
          </a:bodyPr>
          <a:lstStyle/>
          <a:p>
            <a:pPr algn="l">
              <a:lnSpc>
                <a:spcPct val="115000"/>
              </a:lnSpc>
            </a:pPr>
            <a:r>
              <a:rPr sz="880" b="0" i="0">
                <a:solidFill>
                  <a:srgbClr val="21295C"/>
                </a:solidFill>
                <a:latin typeface="Arial"/>
              </a:rPr>
              <a:t>Диагностика, не решение</a:t>
            </a:r>
          </a:p>
        </p:txBody>
      </p:sp>
      <p:cxnSp>
        <p:nvCxnSpPr>
          <p:cNvPr id="46" name="Connector 45"/>
          <p:cNvCxnSpPr/>
          <p:nvPr/>
        </p:nvCxnSpPr>
        <p:spPr>
          <a:xfrm>
            <a:off x="685800" y="5660136"/>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47" name="Rectangle 46"/>
          <p:cNvSpPr/>
          <p:nvPr/>
        </p:nvSpPr>
        <p:spPr>
          <a:xfrm>
            <a:off x="557784" y="5660136"/>
            <a:ext cx="11073384" cy="182880"/>
          </a:xfrm>
          <a:prstGeom prst="rect">
            <a:avLst/>
          </a:prstGeom>
          <a:solidFill>
            <a:srgbClr val="FEF5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685800" y="5660136"/>
            <a:ext cx="2612898" cy="182880"/>
          </a:xfrm>
          <a:prstGeom prst="rect">
            <a:avLst/>
          </a:prstGeom>
          <a:noFill/>
        </p:spPr>
        <p:txBody>
          <a:bodyPr wrap="square" lIns="0" rIns="0" tIns="0" bIns="0" anchor="ctr">
            <a:spAutoFit/>
          </a:bodyPr>
          <a:lstStyle/>
          <a:p>
            <a:pPr algn="l">
              <a:lnSpc>
                <a:spcPct val="115000"/>
              </a:lnSpc>
            </a:pPr>
            <a:r>
              <a:rPr sz="880" b="0" i="0">
                <a:solidFill>
                  <a:srgbClr val="21295C"/>
                </a:solidFill>
                <a:latin typeface="Arial"/>
              </a:rPr>
              <a:t>«Объединю в один файл в корне»</a:t>
            </a:r>
          </a:p>
        </p:txBody>
      </p:sp>
      <p:sp>
        <p:nvSpPr>
          <p:cNvPr id="49" name="TextBox 48"/>
          <p:cNvSpPr txBox="1"/>
          <p:nvPr/>
        </p:nvSpPr>
        <p:spPr>
          <a:xfrm>
            <a:off x="3390138" y="5660136"/>
            <a:ext cx="2721071" cy="182880"/>
          </a:xfrm>
          <a:prstGeom prst="rect">
            <a:avLst/>
          </a:prstGeom>
          <a:noFill/>
        </p:spPr>
        <p:txBody>
          <a:bodyPr wrap="square" lIns="0" rIns="0" tIns="0" bIns="0" anchor="ctr">
            <a:spAutoFit/>
          </a:bodyPr>
          <a:lstStyle/>
          <a:p>
            <a:pPr algn="l">
              <a:lnSpc>
                <a:spcPct val="115000"/>
              </a:lnSpc>
            </a:pPr>
            <a:r>
              <a:rPr sz="880" b="0" i="0">
                <a:solidFill>
                  <a:srgbClr val="21295C"/>
                </a:solidFill>
                <a:latin typeface="Arial"/>
              </a:rPr>
              <a:t>Здесь и сейчас — репозиторий маленький</a:t>
            </a:r>
          </a:p>
        </p:txBody>
      </p:sp>
      <p:sp>
        <p:nvSpPr>
          <p:cNvPr id="50" name="TextBox 49"/>
          <p:cNvSpPr txBox="1"/>
          <p:nvPr/>
        </p:nvSpPr>
        <p:spPr>
          <a:xfrm>
            <a:off x="6202649" y="5660136"/>
            <a:ext cx="5209062" cy="182880"/>
          </a:xfrm>
          <a:prstGeom prst="rect">
            <a:avLst/>
          </a:prstGeom>
          <a:noFill/>
        </p:spPr>
        <p:txBody>
          <a:bodyPr wrap="square" lIns="0" rIns="0" tIns="0" bIns="0" anchor="ctr">
            <a:spAutoFit/>
          </a:bodyPr>
          <a:lstStyle/>
          <a:p>
            <a:pPr algn="l">
              <a:lnSpc>
                <a:spcPct val="115000"/>
              </a:lnSpc>
            </a:pPr>
            <a:r>
              <a:rPr sz="880" b="0" i="0">
                <a:solidFill>
                  <a:srgbClr val="21295C"/>
                </a:solidFill>
                <a:latin typeface="Arial"/>
              </a:rPr>
              <a:t>Целевой ответ. Исследование не нашло значимого эффекта ни у одной структурной переменной</a:t>
            </a:r>
          </a:p>
        </p:txBody>
      </p:sp>
      <p:sp>
        <p:nvSpPr>
          <p:cNvPr id="51" name="Rounded Rectangle 50"/>
          <p:cNvSpPr/>
          <p:nvPr/>
        </p:nvSpPr>
        <p:spPr>
          <a:xfrm>
            <a:off x="502920" y="6117336"/>
            <a:ext cx="11183112" cy="557783"/>
          </a:xfrm>
          <a:prstGeom prst="roundRect">
            <a:avLst>
              <a:gd name="adj" fmla="val 10000"/>
            </a:avLst>
          </a:prstGeom>
          <a:solidFill>
            <a:srgbClr val="FEF5E0"/>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704088" y="6190488"/>
            <a:ext cx="10780776" cy="411479"/>
          </a:xfrm>
          <a:prstGeom prst="rect">
            <a:avLst/>
          </a:prstGeom>
          <a:noFill/>
        </p:spPr>
        <p:txBody>
          <a:bodyPr wrap="square" lIns="0" rIns="0" tIns="0" bIns="0" anchor="ctr">
            <a:spAutoFit/>
          </a:bodyPr>
          <a:lstStyle/>
          <a:p>
            <a:pPr algn="l">
              <a:lnSpc>
                <a:spcPct val="122000"/>
              </a:lnSpc>
            </a:pPr>
            <a:r>
              <a:rPr sz="1150" b="1" i="0">
                <a:solidFill>
                  <a:srgbClr val="21295C"/>
                </a:solidFill>
                <a:latin typeface="Arial"/>
              </a:rPr>
              <a:t>Пока корневой файл помещается в разумный объём (до 50–70 строк), дробление не нужно никогда. Даже при росте — только после явной проверки через /context.</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29184"/>
            <a:ext cx="10515600" cy="292608"/>
          </a:xfrm>
          <a:prstGeom prst="rect">
            <a:avLst/>
          </a:prstGeom>
          <a:noFill/>
        </p:spPr>
        <p:txBody>
          <a:bodyPr wrap="square" lIns="0" rIns="0" tIns="0" bIns="0" anchor="t">
            <a:spAutoFit/>
          </a:bodyPr>
          <a:lstStyle/>
          <a:p>
            <a:pPr algn="l">
              <a:lnSpc>
                <a:spcPct val="115000"/>
              </a:lnSpc>
            </a:pPr>
            <a:r>
              <a:rPr sz="1150" b="1" i="0">
                <a:solidFill>
                  <a:srgbClr val="028090"/>
                </a:solidFill>
                <a:latin typeface="Arial"/>
              </a:rPr>
              <a:t>КЕЙС 1.3 · РЕШЕНИЕ</a:t>
            </a:r>
          </a:p>
        </p:txBody>
      </p:sp>
      <p:sp>
        <p:nvSpPr>
          <p:cNvPr id="3" name="TextBox 2"/>
          <p:cNvSpPr txBox="1"/>
          <p:nvPr/>
        </p:nvSpPr>
        <p:spPr>
          <a:xfrm>
            <a:off x="502920" y="640080"/>
            <a:ext cx="11183112" cy="1371600"/>
          </a:xfrm>
          <a:prstGeom prst="rect">
            <a:avLst/>
          </a:prstGeom>
          <a:noFill/>
        </p:spPr>
        <p:txBody>
          <a:bodyPr wrap="square" lIns="0" rIns="0" tIns="0" bIns="0" anchor="t">
            <a:spAutoFit/>
          </a:bodyPr>
          <a:lstStyle/>
          <a:p>
            <a:pPr algn="l">
              <a:lnSpc>
                <a:spcPct val="114000"/>
              </a:lnSpc>
            </a:pPr>
            <a:r>
              <a:rPr sz="1300" b="1" i="0">
                <a:solidFill>
                  <a:srgbClr val="21295C"/>
                </a:solidFill>
                <a:latin typeface="Arial"/>
              </a:rPr>
              <a:t>Репозиторий остаётся с одним корневым файлом; три кейса — три решения знания, известного заранее, но есть знание другого рода, которое появляется по ходу работы — это раздел второй, память</a:t>
            </a:r>
          </a:p>
        </p:txBody>
      </p:sp>
      <p:sp>
        <p:nvSpPr>
          <p:cNvPr id="4" name="Rounded Rectangle 3"/>
          <p:cNvSpPr/>
          <p:nvPr/>
        </p:nvSpPr>
        <p:spPr>
          <a:xfrm>
            <a:off x="502920" y="2176272"/>
            <a:ext cx="11183112" cy="2697480"/>
          </a:xfrm>
          <a:prstGeom prst="roundRect">
            <a:avLst>
              <a:gd name="adj" fmla="val 3500"/>
            </a:avLst>
          </a:prstGeom>
          <a:solidFill>
            <a:srgbClr val="161C30"/>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04088" y="2377440"/>
            <a:ext cx="10780776" cy="274320"/>
          </a:xfrm>
          <a:prstGeom prst="rect">
            <a:avLst/>
          </a:prstGeom>
          <a:noFill/>
        </p:spPr>
        <p:txBody>
          <a:bodyPr wrap="square" lIns="0" rIns="0" tIns="0" bIns="0" anchor="t">
            <a:spAutoFit/>
          </a:bodyPr>
          <a:lstStyle/>
          <a:p>
            <a:pPr algn="l">
              <a:lnSpc>
                <a:spcPct val="115000"/>
              </a:lnSpc>
            </a:pPr>
            <a:r>
              <a:rPr sz="1100" b="1" i="0">
                <a:solidFill>
                  <a:srgbClr val="028090"/>
                </a:solidFill>
                <a:latin typeface="Consolas"/>
              </a:rPr>
              <a:t>дерево репозитория — без изменений</a:t>
            </a:r>
          </a:p>
        </p:txBody>
      </p:sp>
      <p:sp>
        <p:nvSpPr>
          <p:cNvPr id="6" name="TextBox 5"/>
          <p:cNvSpPr txBox="1"/>
          <p:nvPr/>
        </p:nvSpPr>
        <p:spPr>
          <a:xfrm>
            <a:off x="704088" y="2688336"/>
            <a:ext cx="10780776" cy="1984248"/>
          </a:xfrm>
          <a:prstGeom prst="rect">
            <a:avLst/>
          </a:prstGeom>
          <a:noFill/>
        </p:spPr>
        <p:txBody>
          <a:bodyPr wrap="square" lIns="0" rIns="0" tIns="0" bIns="0" anchor="t">
            <a:spAutoFit/>
          </a:bodyPr>
          <a:lstStyle/>
          <a:p>
            <a:pPr algn="l">
              <a:lnSpc>
                <a:spcPct val="132000"/>
              </a:lnSpc>
              <a:spcAft>
                <a:spcPts val="200"/>
              </a:spcAft>
            </a:pPr>
            <a:r>
              <a:rPr sz="1100" b="0" i="0">
                <a:solidFill>
                  <a:srgbClr val="E3E9F2"/>
                </a:solidFill>
                <a:latin typeface="Consolas"/>
              </a:rPr>
              <a:t>AGENTS.md</a:t>
            </a:r>
          </a:p>
          <a:p>
            <a:pPr algn="l">
              <a:lnSpc>
                <a:spcPct val="132000"/>
              </a:lnSpc>
              <a:spcAft>
                <a:spcPts val="200"/>
              </a:spcAft>
            </a:pPr>
            <a:r>
              <a:rPr sz="1100" b="0" i="0">
                <a:solidFill>
                  <a:srgbClr val="E3E9F2"/>
                </a:solidFill>
                <a:latin typeface="Consolas"/>
              </a:rPr>
              <a:t>CLAUDE.md</a:t>
            </a:r>
          </a:p>
          <a:p>
            <a:pPr algn="l">
              <a:lnSpc>
                <a:spcPct val="132000"/>
              </a:lnSpc>
              <a:spcAft>
                <a:spcPts val="200"/>
              </a:spcAft>
            </a:pPr>
            <a:r>
              <a:rPr sz="1100" b="0" i="0">
                <a:solidFill>
                  <a:srgbClr val="E3E9F2"/>
                </a:solidFill>
                <a:latin typeface="Consolas"/>
              </a:rPr>
              <a:t>index.html</a:t>
            </a:r>
          </a:p>
          <a:p>
            <a:pPr algn="l">
              <a:lnSpc>
                <a:spcPct val="132000"/>
              </a:lnSpc>
              <a:spcAft>
                <a:spcPts val="200"/>
              </a:spcAft>
            </a:pPr>
            <a:r>
              <a:rPr sz="1100" b="0" i="0">
                <a:solidFill>
                  <a:srgbClr val="E3E9F2"/>
                </a:solidFill>
                <a:latin typeface="Consolas"/>
              </a:rPr>
              <a:t>package.json</a:t>
            </a:r>
          </a:p>
          <a:p>
            <a:pPr algn="l">
              <a:lnSpc>
                <a:spcPct val="132000"/>
              </a:lnSpc>
              <a:spcAft>
                <a:spcPts val="200"/>
              </a:spcAft>
            </a:pPr>
            <a:r>
              <a:rPr sz="1100" b="0" i="0">
                <a:solidFill>
                  <a:srgbClr val="E3E9F2"/>
                </a:solidFill>
                <a:latin typeface="Consolas"/>
              </a:rPr>
              <a:t>src/main.js</a:t>
            </a:r>
          </a:p>
          <a:p>
            <a:pPr algn="l">
              <a:lnSpc>
                <a:spcPct val="132000"/>
              </a:lnSpc>
              <a:spcAft>
                <a:spcPts val="200"/>
              </a:spcAft>
            </a:pPr>
            <a:r>
              <a:rPr sz="1100" b="0" i="0">
                <a:solidFill>
                  <a:srgbClr val="E3E9F2"/>
                </a:solidFill>
                <a:latin typeface="Consolas"/>
              </a:rPr>
              <a:t>tests/form.spec.ts</a:t>
            </a:r>
          </a:p>
          <a:p>
            <a:pPr algn="l">
              <a:lnSpc>
                <a:spcPct val="132000"/>
              </a:lnSpc>
              <a:spcAft>
                <a:spcPts val="200"/>
              </a:spcAft>
            </a:pPr>
            <a:r>
              <a:rPr sz="1100" b="1" i="0">
                <a:solidFill>
                  <a:srgbClr val="8B9BB4"/>
                </a:solidFill>
                <a:latin typeface="Consolas"/>
              </a:rPr>
              <a:t># tests/CLAUDE.md — не появляется</a:t>
            </a:r>
          </a:p>
          <a:p>
            <a:pPr algn="l">
              <a:lnSpc>
                <a:spcPct val="132000"/>
              </a:lnSpc>
              <a:spcAft>
                <a:spcPts val="200"/>
              </a:spcAft>
            </a:pPr>
            <a:r>
              <a:rPr sz="1100" b="1" i="0">
                <a:solidFill>
                  <a:srgbClr val="8B9BB4"/>
                </a:solidFill>
                <a:latin typeface="Consolas"/>
              </a:rPr>
              <a:t># + spec.md, README.md (раздел 0) — не в этом git-дереве</a:t>
            </a:r>
          </a:p>
        </p:txBody>
      </p:sp>
      <p:sp>
        <p:nvSpPr>
          <p:cNvPr id="7" name="Rounded Rectangle 6"/>
          <p:cNvSpPr/>
          <p:nvPr/>
        </p:nvSpPr>
        <p:spPr>
          <a:xfrm>
            <a:off x="502920" y="5038344"/>
            <a:ext cx="11183112" cy="1362456"/>
          </a:xfrm>
          <a:prstGeom prst="roundRect">
            <a:avLst>
              <a:gd name="adj" fmla="val 10000"/>
            </a:avLst>
          </a:prstGeom>
          <a:solidFill>
            <a:srgbClr val="FEF5E0"/>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04088" y="5111496"/>
            <a:ext cx="10780776" cy="1216152"/>
          </a:xfrm>
          <a:prstGeom prst="rect">
            <a:avLst/>
          </a:prstGeom>
          <a:noFill/>
        </p:spPr>
        <p:txBody>
          <a:bodyPr wrap="square" lIns="0" rIns="0" tIns="0" bIns="0" anchor="ctr">
            <a:spAutoFit/>
          </a:bodyPr>
          <a:lstStyle/>
          <a:p>
            <a:pPr algn="l">
              <a:lnSpc>
                <a:spcPct val="122000"/>
              </a:lnSpc>
            </a:pPr>
            <a:r>
              <a:rPr sz="1300" b="1" i="0">
                <a:solidFill>
                  <a:srgbClr val="21295C"/>
                </a:solidFill>
                <a:latin typeface="Arial"/>
              </a:rPr>
              <a:t>«Три кейса, один и тот же файл: мы решили, чего в него не писать заранее; написали то, что узнали на реальной боли, даже когда завели гейт заранее; и решили не дробить его, пока это не доказанная польза. Но есть знание другого рода, которое появляется по ходу самой работы. Это раздел второй — память.»</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ln>
            <a:noFill/>
          </a:ln>
          <a:effectLst/>
          <a:gradFill rotWithShape="1">
            <a:gsLst>
              <a:gs pos="0">
                <a:srgbClr val="21295C"/>
              </a:gs>
              <a:gs pos="55000">
                <a:srgbClr val="065A82"/>
              </a:gs>
              <a:gs pos="100000">
                <a:srgbClr val="1C7293"/>
              </a:gs>
            </a:gsLst>
            <a:lin ang="2700000" scaled="1"/>
          </a:gra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9646919" y="4617720"/>
            <a:ext cx="1783080" cy="1783080"/>
          </a:xfrm>
          <a:prstGeom prst="roundRect">
            <a:avLst>
              <a:gd name="adj" fmla="val 18000"/>
            </a:avLst>
          </a:prstGeom>
          <a:solidFill>
            <a:srgbClr val="0B14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database-F0AB00-128.png"/>
          <p:cNvPicPr>
            <a:picLocks noChangeAspect="1"/>
          </p:cNvPicPr>
          <p:nvPr/>
        </p:nvPicPr>
        <p:blipFill>
          <a:blip r:embed="rId2"/>
          <a:stretch>
            <a:fillRect/>
          </a:stretch>
        </p:blipFill>
        <p:spPr>
          <a:xfrm>
            <a:off x="9921240" y="4892040"/>
            <a:ext cx="1234440" cy="1234440"/>
          </a:xfrm>
          <a:prstGeom prst="rect">
            <a:avLst/>
          </a:prstGeom>
        </p:spPr>
      </p:pic>
      <p:sp>
        <p:nvSpPr>
          <p:cNvPr id="5" name="Rounded Rectangle 4"/>
          <p:cNvSpPr/>
          <p:nvPr/>
        </p:nvSpPr>
        <p:spPr>
          <a:xfrm>
            <a:off x="502920" y="384048"/>
            <a:ext cx="2478024" cy="256032"/>
          </a:xfrm>
          <a:prstGeom prst="roundRect">
            <a:avLst>
              <a:gd name="adj" fmla="val 40000"/>
            </a:avLst>
          </a:prstGeom>
          <a:solidFill>
            <a:srgbClr val="3E4C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3090672" y="384048"/>
            <a:ext cx="2478024" cy="256032"/>
          </a:xfrm>
          <a:prstGeom prst="roundRect">
            <a:avLst>
              <a:gd name="adj" fmla="val 40000"/>
            </a:avLst>
          </a:prstGeom>
          <a:solidFill>
            <a:srgbClr val="3E4C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5678424" y="384048"/>
            <a:ext cx="2478024" cy="256032"/>
          </a:xfrm>
          <a:prstGeom prst="roundRect">
            <a:avLst>
              <a:gd name="adj" fmla="val 4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8266175" y="384048"/>
            <a:ext cx="2478024" cy="256032"/>
          </a:xfrm>
          <a:prstGeom prst="roundRect">
            <a:avLst>
              <a:gd name="adj" fmla="val 40000"/>
            </a:avLst>
          </a:prstGeom>
          <a:solidFill>
            <a:srgbClr val="3E4C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566928" y="1069848"/>
            <a:ext cx="694944" cy="694944"/>
          </a:xfrm>
          <a:prstGeom prst="ellipse">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66928" y="1069848"/>
            <a:ext cx="694944" cy="694944"/>
          </a:xfrm>
          <a:prstGeom prst="rect">
            <a:avLst/>
          </a:prstGeom>
          <a:noFill/>
        </p:spPr>
        <p:txBody>
          <a:bodyPr wrap="square" lIns="0" rIns="0" tIns="0" bIns="0" anchor="ctr">
            <a:spAutoFit/>
          </a:bodyPr>
          <a:lstStyle/>
          <a:p>
            <a:pPr algn="ctr">
              <a:lnSpc>
                <a:spcPct val="115000"/>
              </a:lnSpc>
            </a:pPr>
            <a:r>
              <a:rPr sz="2600" b="1" i="0">
                <a:solidFill>
                  <a:srgbClr val="21295C"/>
                </a:solidFill>
                <a:latin typeface="Arial"/>
              </a:rPr>
              <a:t>2</a:t>
            </a:r>
          </a:p>
        </p:txBody>
      </p:sp>
      <p:sp>
        <p:nvSpPr>
          <p:cNvPr id="11" name="Rounded Rectangle 10"/>
          <p:cNvSpPr/>
          <p:nvPr/>
        </p:nvSpPr>
        <p:spPr>
          <a:xfrm>
            <a:off x="868680" y="768096"/>
            <a:ext cx="1207008" cy="182880"/>
          </a:xfrm>
          <a:prstGeom prst="roundRect">
            <a:avLst>
              <a:gd name="adj" fmla="val 4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2185415" y="768096"/>
            <a:ext cx="1207008" cy="182880"/>
          </a:xfrm>
          <a:prstGeom prst="roundRect">
            <a:avLst>
              <a:gd name="adj" fmla="val 40000"/>
            </a:avLst>
          </a:prstGeom>
          <a:solidFill>
            <a:srgbClr val="3E4C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3502151" y="768096"/>
            <a:ext cx="1207008" cy="182880"/>
          </a:xfrm>
          <a:prstGeom prst="roundRect">
            <a:avLst>
              <a:gd name="adj" fmla="val 40000"/>
            </a:avLst>
          </a:prstGeom>
          <a:solidFill>
            <a:srgbClr val="3E4C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508760" y="1444752"/>
            <a:ext cx="8686800" cy="777240"/>
          </a:xfrm>
          <a:prstGeom prst="rect">
            <a:avLst/>
          </a:prstGeom>
          <a:noFill/>
        </p:spPr>
        <p:txBody>
          <a:bodyPr wrap="square" lIns="0" rIns="0" tIns="0" bIns="0" anchor="t">
            <a:spAutoFit/>
          </a:bodyPr>
          <a:lstStyle/>
          <a:p>
            <a:pPr algn="l">
              <a:lnSpc>
                <a:spcPct val="105000"/>
              </a:lnSpc>
            </a:pPr>
            <a:r>
              <a:rPr sz="3200" b="1" i="0">
                <a:solidFill>
                  <a:srgbClr val="FFFFFF"/>
                </a:solidFill>
                <a:latin typeface="Arial"/>
              </a:rPr>
              <a:t>Раздел 2 · память</a:t>
            </a:r>
          </a:p>
        </p:txBody>
      </p:sp>
      <p:sp>
        <p:nvSpPr>
          <p:cNvPr id="15" name="TextBox 14"/>
          <p:cNvSpPr txBox="1"/>
          <p:nvPr/>
        </p:nvSpPr>
        <p:spPr>
          <a:xfrm>
            <a:off x="1508760" y="2176272"/>
            <a:ext cx="8686800" cy="594360"/>
          </a:xfrm>
          <a:prstGeom prst="rect">
            <a:avLst/>
          </a:prstGeom>
          <a:noFill/>
        </p:spPr>
        <p:txBody>
          <a:bodyPr wrap="square" lIns="0" rIns="0" tIns="0" bIns="0" anchor="t">
            <a:spAutoFit/>
          </a:bodyPr>
          <a:lstStyle/>
          <a:p>
            <a:pPr algn="l">
              <a:lnSpc>
                <a:spcPct val="105000"/>
              </a:lnSpc>
            </a:pPr>
            <a:r>
              <a:rPr sz="1900" b="1" i="0">
                <a:solidFill>
                  <a:srgbClr val="028090"/>
                </a:solidFill>
                <a:latin typeface="Arial"/>
              </a:rPr>
              <a:t>Кейс 2.1 · плоский файл, день 0</a:t>
            </a:r>
          </a:p>
        </p:txBody>
      </p:sp>
      <p:sp>
        <p:nvSpPr>
          <p:cNvPr id="16" name="TextBox 15"/>
          <p:cNvSpPr txBox="1"/>
          <p:nvPr/>
        </p:nvSpPr>
        <p:spPr>
          <a:xfrm>
            <a:off x="868680" y="2944368"/>
            <a:ext cx="9052560" cy="777240"/>
          </a:xfrm>
          <a:prstGeom prst="rect">
            <a:avLst/>
          </a:prstGeom>
          <a:noFill/>
        </p:spPr>
        <p:txBody>
          <a:bodyPr wrap="square" lIns="0" rIns="0" tIns="0" bIns="0" anchor="t">
            <a:spAutoFit/>
          </a:bodyPr>
          <a:lstStyle/>
          <a:p>
            <a:pPr algn="l">
              <a:lnSpc>
                <a:spcPct val="130000"/>
              </a:lnSpc>
            </a:pPr>
            <a:r>
              <a:rPr sz="1500" b="0" i="1">
                <a:solidFill>
                  <a:srgbClr val="CFDCEC"/>
                </a:solidFill>
                <a:latin typeface="Arial"/>
              </a:rPr>
              <a:t>Между сессиями агент не хранит ни бита — если это не лежит на диске</a:t>
            </a:r>
          </a:p>
        </p:txBody>
      </p:sp>
      <p:sp>
        <p:nvSpPr>
          <p:cNvPr id="17" name="Rounded Rectangle 16"/>
          <p:cNvSpPr/>
          <p:nvPr/>
        </p:nvSpPr>
        <p:spPr>
          <a:xfrm>
            <a:off x="868680" y="3822191"/>
            <a:ext cx="118872" cy="118872"/>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133856" y="3721607"/>
            <a:ext cx="8046720" cy="347472"/>
          </a:xfrm>
          <a:prstGeom prst="rect">
            <a:avLst/>
          </a:prstGeom>
          <a:noFill/>
        </p:spPr>
        <p:txBody>
          <a:bodyPr wrap="square" lIns="0" rIns="0" tIns="0" bIns="0" anchor="t">
            <a:spAutoFit/>
          </a:bodyPr>
          <a:lstStyle/>
          <a:p>
            <a:pPr algn="l">
              <a:lnSpc>
                <a:spcPct val="115000"/>
              </a:lnSpc>
            </a:pPr>
            <a:r>
              <a:rPr sz="1400" b="0" i="0">
                <a:solidFill>
                  <a:srgbClr val="E1E9F6"/>
                </a:solidFill>
                <a:latin typeface="Arial"/>
              </a:rPr>
              <a:t>Кейс 2.1 · плоский файл</a:t>
            </a:r>
          </a:p>
        </p:txBody>
      </p:sp>
      <p:sp>
        <p:nvSpPr>
          <p:cNvPr id="19" name="Rounded Rectangle 18"/>
          <p:cNvSpPr/>
          <p:nvPr/>
        </p:nvSpPr>
        <p:spPr>
          <a:xfrm>
            <a:off x="868680" y="4224528"/>
            <a:ext cx="118872" cy="118872"/>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133856" y="4123944"/>
            <a:ext cx="8046720" cy="347472"/>
          </a:xfrm>
          <a:prstGeom prst="rect">
            <a:avLst/>
          </a:prstGeom>
          <a:noFill/>
        </p:spPr>
        <p:txBody>
          <a:bodyPr wrap="square" lIns="0" rIns="0" tIns="0" bIns="0" anchor="t">
            <a:spAutoFit/>
          </a:bodyPr>
          <a:lstStyle/>
          <a:p>
            <a:pPr algn="l">
              <a:lnSpc>
                <a:spcPct val="115000"/>
              </a:lnSpc>
            </a:pPr>
            <a:r>
              <a:rPr sz="1400" b="0" i="0">
                <a:solidFill>
                  <a:srgbClr val="E1E9F6"/>
                </a:solidFill>
                <a:latin typeface="Arial"/>
              </a:rPr>
              <a:t>Кейс 2.2 · структурированная вики-память</a:t>
            </a:r>
          </a:p>
        </p:txBody>
      </p:sp>
      <p:sp>
        <p:nvSpPr>
          <p:cNvPr id="21" name="Rounded Rectangle 20"/>
          <p:cNvSpPr/>
          <p:nvPr/>
        </p:nvSpPr>
        <p:spPr>
          <a:xfrm>
            <a:off x="868680" y="4626864"/>
            <a:ext cx="118872" cy="118872"/>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1133856" y="4526280"/>
            <a:ext cx="8046720" cy="347472"/>
          </a:xfrm>
          <a:prstGeom prst="rect">
            <a:avLst/>
          </a:prstGeom>
          <a:noFill/>
        </p:spPr>
        <p:txBody>
          <a:bodyPr wrap="square" lIns="0" rIns="0" tIns="0" bIns="0" anchor="t">
            <a:spAutoFit/>
          </a:bodyPr>
          <a:lstStyle/>
          <a:p>
            <a:pPr algn="l">
              <a:lnSpc>
                <a:spcPct val="115000"/>
              </a:lnSpc>
            </a:pPr>
            <a:r>
              <a:rPr sz="1400" b="0" i="0">
                <a:solidFill>
                  <a:srgbClr val="E1E9F6"/>
                </a:solidFill>
                <a:latin typeface="Arial"/>
              </a:rPr>
              <a:t>Кейс 2.3 · операционная память</a:t>
            </a:r>
          </a:p>
        </p:txBody>
      </p:sp>
      <p:sp>
        <p:nvSpPr>
          <p:cNvPr id="23" name="Rounded Rectangle 22"/>
          <p:cNvSpPr/>
          <p:nvPr/>
        </p:nvSpPr>
        <p:spPr>
          <a:xfrm>
            <a:off x="868680" y="5175504"/>
            <a:ext cx="5120640" cy="502920"/>
          </a:xfrm>
          <a:prstGeom prst="roundRect">
            <a:avLst>
              <a:gd name="adj" fmla="val 28000"/>
            </a:avLst>
          </a:prstGeom>
          <a:solidFill>
            <a:srgbClr val="0B143A"/>
          </a:solidFill>
          <a:ln w="1524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1124712" y="5175504"/>
            <a:ext cx="4608575" cy="502920"/>
          </a:xfrm>
          <a:prstGeom prst="rect">
            <a:avLst/>
          </a:prstGeom>
          <a:noFill/>
        </p:spPr>
        <p:txBody>
          <a:bodyPr wrap="square" lIns="0" rIns="0" tIns="0" bIns="0" anchor="ctr">
            <a:spAutoFit/>
          </a:bodyPr>
          <a:lstStyle/>
          <a:p>
            <a:pPr algn="ctr">
              <a:lnSpc>
                <a:spcPct val="115000"/>
              </a:lnSpc>
            </a:pPr>
            <a:r>
              <a:rPr sz="1100" b="1" i="0">
                <a:solidFill>
                  <a:srgbClr val="F0AB00"/>
                </a:solidFill>
                <a:latin typeface="Arial"/>
              </a:rPr>
              <a:t>УНИВЕРСАЛЬНАЯ ГИГИЕНА · ДЕНЬ 0</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29184"/>
            <a:ext cx="10515600" cy="292608"/>
          </a:xfrm>
          <a:prstGeom prst="rect">
            <a:avLst/>
          </a:prstGeom>
          <a:noFill/>
        </p:spPr>
        <p:txBody>
          <a:bodyPr wrap="square" lIns="0" rIns="0" tIns="0" bIns="0" anchor="t">
            <a:spAutoFit/>
          </a:bodyPr>
          <a:lstStyle/>
          <a:p>
            <a:pPr algn="l">
              <a:lnSpc>
                <a:spcPct val="115000"/>
              </a:lnSpc>
            </a:pPr>
            <a:r>
              <a:rPr sz="1150" b="1" i="0">
                <a:solidFill>
                  <a:srgbClr val="028090"/>
                </a:solidFill>
                <a:latin typeface="Arial"/>
              </a:rPr>
              <a:t>КЕЙС 2.1 · ПЛОСКИЙ ФАЙЛ</a:t>
            </a:r>
          </a:p>
        </p:txBody>
      </p:sp>
      <p:sp>
        <p:nvSpPr>
          <p:cNvPr id="3" name="TextBox 2"/>
          <p:cNvSpPr txBox="1"/>
          <p:nvPr/>
        </p:nvSpPr>
        <p:spPr>
          <a:xfrm>
            <a:off x="502920" y="640080"/>
            <a:ext cx="11183112" cy="1188720"/>
          </a:xfrm>
          <a:prstGeom prst="rect">
            <a:avLst/>
          </a:prstGeom>
          <a:noFill/>
        </p:spPr>
        <p:txBody>
          <a:bodyPr wrap="square" lIns="0" rIns="0" tIns="0" bIns="0" anchor="t">
            <a:spAutoFit/>
          </a:bodyPr>
          <a:lstStyle/>
          <a:p>
            <a:pPr algn="l">
              <a:lnSpc>
                <a:spcPct val="114000"/>
              </a:lnSpc>
            </a:pPr>
            <a:r>
              <a:rPr sz="1450" b="1" i="0">
                <a:solidFill>
                  <a:srgbClr val="21295C"/>
                </a:solidFill>
                <a:latin typeface="Arial"/>
              </a:rPr>
              <a:t>Файл DECISIONS.md заведён с первого дня — и нужной записи в нём всё равно нет, потому что решение родилось в разговоре, а не за столом</a:t>
            </a:r>
          </a:p>
        </p:txBody>
      </p:sp>
      <p:sp>
        <p:nvSpPr>
          <p:cNvPr id="4" name="Rounded Rectangle 3"/>
          <p:cNvSpPr/>
          <p:nvPr/>
        </p:nvSpPr>
        <p:spPr>
          <a:xfrm>
            <a:off x="502920" y="1993392"/>
            <a:ext cx="11183112" cy="1828800"/>
          </a:xfrm>
          <a:prstGeom prst="roundRect">
            <a:avLst>
              <a:gd name="adj" fmla="val 16666"/>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13232" y="2121408"/>
            <a:ext cx="10789920" cy="1572768"/>
          </a:xfrm>
          <a:prstGeom prst="rect">
            <a:avLst/>
          </a:prstGeom>
          <a:noFill/>
        </p:spPr>
        <p:txBody>
          <a:bodyPr wrap="square" lIns="0" rIns="0" tIns="0" bIns="0" anchor="t">
            <a:spAutoFit/>
          </a:bodyPr>
          <a:lstStyle/>
          <a:p>
            <a:pPr algn="l">
              <a:lnSpc>
                <a:spcPct val="126000"/>
              </a:lnSpc>
            </a:pPr>
            <a:r>
              <a:rPr sz="1250" b="0" i="0">
                <a:solidFill>
                  <a:srgbClr val="21295C"/>
                </a:solidFill>
                <a:latin typeface="Arial"/>
              </a:rPr>
              <a:t>Третья сессия за две недели. Заказчик прислал заявку с опечаткой в домене почты, форма её приняла. Агент предлагает подключить стороннюю библиотеку валидации форм — ту самую, которую уже обсуждали и отклонили: форма из двух полей, хватает нативных required/pattern.</a:t>
            </a:r>
          </a:p>
        </p:txBody>
      </p:sp>
      <p:sp>
        <p:nvSpPr>
          <p:cNvPr id="6" name="Rounded Rectangle 5"/>
          <p:cNvSpPr/>
          <p:nvPr/>
        </p:nvSpPr>
        <p:spPr>
          <a:xfrm>
            <a:off x="502920" y="4023360"/>
            <a:ext cx="11183112" cy="2377439"/>
          </a:xfrm>
          <a:prstGeom prst="roundRect">
            <a:avLst>
              <a:gd name="adj" fmla="val 10000"/>
            </a:avLst>
          </a:prstGeom>
          <a:solidFill>
            <a:srgbClr val="FEF5E0"/>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04088" y="4096512"/>
            <a:ext cx="10780776" cy="2231135"/>
          </a:xfrm>
          <a:prstGeom prst="rect">
            <a:avLst/>
          </a:prstGeom>
          <a:noFill/>
        </p:spPr>
        <p:txBody>
          <a:bodyPr wrap="square" lIns="0" rIns="0" tIns="0" bIns="0" anchor="ctr">
            <a:spAutoFit/>
          </a:bodyPr>
          <a:lstStyle/>
          <a:p>
            <a:pPr algn="l">
              <a:lnSpc>
                <a:spcPct val="122000"/>
              </a:lnSpc>
            </a:pPr>
            <a:r>
              <a:rPr sz="1300" b="1" i="0">
                <a:solidFill>
                  <a:srgbClr val="21295C"/>
                </a:solidFill>
                <a:latin typeface="Arial"/>
              </a:rPr>
              <a:t>«Файл DECISIONS.md уже есть — заведён с первого дня, вместе со spec.md и README. И тем не менее нужной записи в нём нет: решение родилось не за столом, а на бегу, в потоке рабочего разговора. Завести практику — не то же самое, что воспользоваться ею в момент, когда это имеет значение.»</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29184"/>
            <a:ext cx="10515600" cy="292608"/>
          </a:xfrm>
          <a:prstGeom prst="rect">
            <a:avLst/>
          </a:prstGeom>
          <a:noFill/>
        </p:spPr>
        <p:txBody>
          <a:bodyPr wrap="square" lIns="0" rIns="0" tIns="0" bIns="0" anchor="t">
            <a:spAutoFit/>
          </a:bodyPr>
          <a:lstStyle/>
          <a:p>
            <a:pPr algn="l">
              <a:lnSpc>
                <a:spcPct val="115000"/>
              </a:lnSpc>
            </a:pPr>
            <a:r>
              <a:rPr sz="1150" b="1" i="0">
                <a:solidFill>
                  <a:srgbClr val="028090"/>
                </a:solidFill>
                <a:latin typeface="Arial"/>
              </a:rPr>
              <a:t>КЕЙС 2.1 · ВОПРОС</a:t>
            </a:r>
          </a:p>
        </p:txBody>
      </p:sp>
      <p:sp>
        <p:nvSpPr>
          <p:cNvPr id="3" name="TextBox 2"/>
          <p:cNvSpPr txBox="1"/>
          <p:nvPr/>
        </p:nvSpPr>
        <p:spPr>
          <a:xfrm>
            <a:off x="502920" y="640080"/>
            <a:ext cx="11183112" cy="1005840"/>
          </a:xfrm>
          <a:prstGeom prst="rect">
            <a:avLst/>
          </a:prstGeom>
          <a:noFill/>
        </p:spPr>
        <p:txBody>
          <a:bodyPr wrap="square" lIns="0" rIns="0" tIns="0" bIns="0" anchor="t">
            <a:spAutoFit/>
          </a:bodyPr>
          <a:lstStyle/>
          <a:p>
            <a:pPr algn="l">
              <a:lnSpc>
                <a:spcPct val="114000"/>
              </a:lnSpc>
            </a:pPr>
            <a:r>
              <a:rPr sz="1650" b="1" i="0">
                <a:solidFill>
                  <a:srgbClr val="21295C"/>
                </a:solidFill>
                <a:latin typeface="Arial"/>
              </a:rPr>
              <a:t>Выберите, куда записать отклонённое решение — из карточек ниже — так, чтобы не объяснять его в третий раз</a:t>
            </a:r>
          </a:p>
        </p:txBody>
      </p:sp>
      <p:sp>
        <p:nvSpPr>
          <p:cNvPr id="4" name="TextBox 3"/>
          <p:cNvSpPr txBox="1"/>
          <p:nvPr/>
        </p:nvSpPr>
        <p:spPr>
          <a:xfrm>
            <a:off x="502920" y="1810512"/>
            <a:ext cx="11183112" cy="777240"/>
          </a:xfrm>
          <a:prstGeom prst="rect">
            <a:avLst/>
          </a:prstGeom>
          <a:noFill/>
        </p:spPr>
        <p:txBody>
          <a:bodyPr wrap="square" lIns="0" rIns="0" tIns="0" bIns="0" anchor="t">
            <a:spAutoFit/>
          </a:bodyPr>
          <a:lstStyle/>
          <a:p>
            <a:pPr algn="l">
              <a:lnSpc>
                <a:spcPct val="122000"/>
              </a:lnSpc>
            </a:pPr>
            <a:r>
              <a:rPr sz="1200" b="0" i="1">
                <a:solidFill>
                  <a:srgbClr val="6B7685"/>
                </a:solidFill>
                <a:latin typeface="Arial"/>
              </a:rPr>
              <a:t>напоминание: отклонённая библиотека валидации всплыла снова — решение родилось в разговоре и нигде не осталось, даже при уже заведённом DECISIONS.md</a:t>
            </a:r>
          </a:p>
        </p:txBody>
      </p:sp>
      <p:sp>
        <p:nvSpPr>
          <p:cNvPr id="5" name="Rounded Rectangle 4"/>
          <p:cNvSpPr/>
          <p:nvPr/>
        </p:nvSpPr>
        <p:spPr>
          <a:xfrm>
            <a:off x="502920" y="2679191"/>
            <a:ext cx="11183112" cy="1188720"/>
          </a:xfrm>
          <a:prstGeom prst="roundRect">
            <a:avLst>
              <a:gd name="adj" fmla="val 10000"/>
            </a:avLst>
          </a:prstGeom>
          <a:solidFill>
            <a:srgbClr val="FEF5E0"/>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04088" y="2752344"/>
            <a:ext cx="10780776" cy="1042416"/>
          </a:xfrm>
          <a:prstGeom prst="rect">
            <a:avLst/>
          </a:prstGeom>
          <a:noFill/>
        </p:spPr>
        <p:txBody>
          <a:bodyPr wrap="square" lIns="0" rIns="0" tIns="0" bIns="0" anchor="ctr">
            <a:spAutoFit/>
          </a:bodyPr>
          <a:lstStyle/>
          <a:p>
            <a:pPr algn="l">
              <a:lnSpc>
                <a:spcPct val="122000"/>
              </a:lnSpc>
            </a:pPr>
            <a:r>
              <a:rPr sz="1400" b="1" i="0">
                <a:solidFill>
                  <a:srgbClr val="21295C"/>
                </a:solidFill>
                <a:latin typeface="Arial"/>
              </a:rPr>
              <a:t>«Вы второй раз за две недели объясняете агенту, почему в этой форме нет сторонней библиотеки валидации. Выберите, куда записать это решение — из карточек ниже — так, чтобы не объяснять его в третий раз, и обоснуйте, почему не в тот файл инструкций, который мы только что завели.»</a:t>
            </a:r>
          </a:p>
        </p:txBody>
      </p:sp>
      <p:sp>
        <p:nvSpPr>
          <p:cNvPr id="7" name="Rounded Rectangle 6"/>
          <p:cNvSpPr/>
          <p:nvPr/>
        </p:nvSpPr>
        <p:spPr>
          <a:xfrm>
            <a:off x="502920" y="4069079"/>
            <a:ext cx="2119579" cy="1463040"/>
          </a:xfrm>
          <a:prstGeom prst="roundRect">
            <a:avLst>
              <a:gd name="adj" fmla="val 20833"/>
            </a:avLst>
          </a:prstGeom>
          <a:solidFill>
            <a:srgbClr val="F4F7FA"/>
          </a:solidFill>
          <a:ln w="1397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76072" y="4069079"/>
            <a:ext cx="1973275" cy="1463040"/>
          </a:xfrm>
          <a:prstGeom prst="rect">
            <a:avLst/>
          </a:prstGeom>
          <a:noFill/>
        </p:spPr>
        <p:txBody>
          <a:bodyPr wrap="square" lIns="0" rIns="0" tIns="0" bIns="0" anchor="ctr">
            <a:spAutoFit/>
          </a:bodyPr>
          <a:lstStyle/>
          <a:p>
            <a:pPr algn="ctr">
              <a:lnSpc>
                <a:spcPct val="115000"/>
              </a:lnSpc>
              <a:spcAft>
                <a:spcPts val="0"/>
              </a:spcAft>
            </a:pPr>
            <a:r>
              <a:rPr sz="1250" b="1" i="0">
                <a:solidFill>
                  <a:srgbClr val="21295C"/>
                </a:solidFill>
                <a:latin typeface="Arial"/>
              </a:rPr>
              <a:t>дописать</a:t>
            </a:r>
          </a:p>
          <a:p>
            <a:pPr algn="ctr">
              <a:lnSpc>
                <a:spcPct val="115000"/>
              </a:lnSpc>
              <a:spcAft>
                <a:spcPts val="0"/>
              </a:spcAft>
            </a:pPr>
            <a:r>
              <a:rPr sz="1250" b="1" i="0">
                <a:solidFill>
                  <a:srgbClr val="21295C"/>
                </a:solidFill>
                <a:latin typeface="Arial"/>
              </a:rPr>
              <a:t>в CLAUDE.md</a:t>
            </a:r>
          </a:p>
        </p:txBody>
      </p:sp>
      <p:sp>
        <p:nvSpPr>
          <p:cNvPr id="9" name="Rounded Rectangle 8"/>
          <p:cNvSpPr/>
          <p:nvPr/>
        </p:nvSpPr>
        <p:spPr>
          <a:xfrm>
            <a:off x="2768803" y="4069079"/>
            <a:ext cx="2119579" cy="1463040"/>
          </a:xfrm>
          <a:prstGeom prst="roundRect">
            <a:avLst>
              <a:gd name="adj" fmla="val 20833"/>
            </a:avLst>
          </a:prstGeom>
          <a:solidFill>
            <a:srgbClr val="F4F7FA"/>
          </a:solidFill>
          <a:ln w="1397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841955" y="4069079"/>
            <a:ext cx="1973275" cy="1463040"/>
          </a:xfrm>
          <a:prstGeom prst="rect">
            <a:avLst/>
          </a:prstGeom>
          <a:noFill/>
        </p:spPr>
        <p:txBody>
          <a:bodyPr wrap="square" lIns="0" rIns="0" tIns="0" bIns="0" anchor="ctr">
            <a:spAutoFit/>
          </a:bodyPr>
          <a:lstStyle/>
          <a:p>
            <a:pPr algn="ctr">
              <a:lnSpc>
                <a:spcPct val="115000"/>
              </a:lnSpc>
              <a:spcAft>
                <a:spcPts val="0"/>
              </a:spcAft>
            </a:pPr>
            <a:r>
              <a:rPr sz="1250" b="1" i="0">
                <a:solidFill>
                  <a:srgbClr val="21295C"/>
                </a:solidFill>
                <a:latin typeface="Arial"/>
              </a:rPr>
              <a:t>сказать агенту</a:t>
            </a:r>
          </a:p>
          <a:p>
            <a:pPr algn="ctr">
              <a:lnSpc>
                <a:spcPct val="115000"/>
              </a:lnSpc>
              <a:spcAft>
                <a:spcPts val="0"/>
              </a:spcAft>
            </a:pPr>
            <a:r>
              <a:rPr sz="1250" b="1" i="0">
                <a:solidFill>
                  <a:srgbClr val="21295C"/>
                </a:solidFill>
                <a:latin typeface="Arial"/>
              </a:rPr>
              <a:t>«запомни это»</a:t>
            </a:r>
          </a:p>
        </p:txBody>
      </p:sp>
      <p:sp>
        <p:nvSpPr>
          <p:cNvPr id="11" name="Rounded Rectangle 10"/>
          <p:cNvSpPr/>
          <p:nvPr/>
        </p:nvSpPr>
        <p:spPr>
          <a:xfrm>
            <a:off x="5034686" y="4069079"/>
            <a:ext cx="2119579" cy="1463040"/>
          </a:xfrm>
          <a:prstGeom prst="roundRect">
            <a:avLst>
              <a:gd name="adj" fmla="val 20833"/>
            </a:avLst>
          </a:prstGeom>
          <a:solidFill>
            <a:srgbClr val="F4F7FA"/>
          </a:solidFill>
          <a:ln w="1397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107838" y="4069079"/>
            <a:ext cx="1973275" cy="1463040"/>
          </a:xfrm>
          <a:prstGeom prst="rect">
            <a:avLst/>
          </a:prstGeom>
          <a:noFill/>
        </p:spPr>
        <p:txBody>
          <a:bodyPr wrap="square" lIns="0" rIns="0" tIns="0" bIns="0" anchor="ctr">
            <a:spAutoFit/>
          </a:bodyPr>
          <a:lstStyle/>
          <a:p>
            <a:pPr algn="ctr">
              <a:lnSpc>
                <a:spcPct val="115000"/>
              </a:lnSpc>
              <a:spcAft>
                <a:spcPts val="0"/>
              </a:spcAft>
            </a:pPr>
            <a:r>
              <a:rPr sz="1250" b="1" i="0">
                <a:solidFill>
                  <a:srgbClr val="21295C"/>
                </a:solidFill>
                <a:latin typeface="Arial"/>
              </a:rPr>
              <a:t>записать в</a:t>
            </a:r>
          </a:p>
          <a:p>
            <a:pPr algn="ctr">
              <a:lnSpc>
                <a:spcPct val="115000"/>
              </a:lnSpc>
              <a:spcAft>
                <a:spcPts val="0"/>
              </a:spcAft>
            </a:pPr>
            <a:r>
              <a:rPr sz="1250" b="1" i="0">
                <a:solidFill>
                  <a:srgbClr val="21295C"/>
                </a:solidFill>
                <a:latin typeface="Arial"/>
              </a:rPr>
              <a:t>DECISIONS.md — он уже есть</a:t>
            </a:r>
          </a:p>
        </p:txBody>
      </p:sp>
      <p:sp>
        <p:nvSpPr>
          <p:cNvPr id="13" name="Rounded Rectangle 12"/>
          <p:cNvSpPr/>
          <p:nvPr/>
        </p:nvSpPr>
        <p:spPr>
          <a:xfrm>
            <a:off x="7300569" y="4069079"/>
            <a:ext cx="2119579" cy="1463040"/>
          </a:xfrm>
          <a:prstGeom prst="roundRect">
            <a:avLst>
              <a:gd name="adj" fmla="val 20833"/>
            </a:avLst>
          </a:prstGeom>
          <a:solidFill>
            <a:srgbClr val="F4F7FA"/>
          </a:solidFill>
          <a:ln w="1397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373721" y="4069079"/>
            <a:ext cx="1973275" cy="1463040"/>
          </a:xfrm>
          <a:prstGeom prst="rect">
            <a:avLst/>
          </a:prstGeom>
          <a:noFill/>
        </p:spPr>
        <p:txBody>
          <a:bodyPr wrap="square" lIns="0" rIns="0" tIns="0" bIns="0" anchor="ctr">
            <a:spAutoFit/>
          </a:bodyPr>
          <a:lstStyle/>
          <a:p>
            <a:pPr algn="ctr">
              <a:lnSpc>
                <a:spcPct val="115000"/>
              </a:lnSpc>
              <a:spcAft>
                <a:spcPts val="0"/>
              </a:spcAft>
            </a:pPr>
            <a:r>
              <a:rPr sz="1250" b="1" i="0">
                <a:solidFill>
                  <a:srgbClr val="21295C"/>
                </a:solidFill>
                <a:latin typeface="Arial"/>
              </a:rPr>
              <a:t>поставить систему</a:t>
            </a:r>
          </a:p>
          <a:p>
            <a:pPr algn="ctr">
              <a:lnSpc>
                <a:spcPct val="115000"/>
              </a:lnSpc>
              <a:spcAft>
                <a:spcPts val="0"/>
              </a:spcAft>
            </a:pPr>
            <a:r>
              <a:rPr sz="1250" b="1" i="0">
                <a:solidFill>
                  <a:srgbClr val="21295C"/>
                </a:solidFill>
                <a:latin typeface="Arial"/>
              </a:rPr>
              <a:t>памяти</a:t>
            </a:r>
          </a:p>
        </p:txBody>
      </p:sp>
      <p:sp>
        <p:nvSpPr>
          <p:cNvPr id="15" name="Rounded Rectangle 14"/>
          <p:cNvSpPr/>
          <p:nvPr/>
        </p:nvSpPr>
        <p:spPr>
          <a:xfrm>
            <a:off x="9566452" y="4069079"/>
            <a:ext cx="2119579" cy="1463040"/>
          </a:xfrm>
          <a:prstGeom prst="roundRect">
            <a:avLst>
              <a:gd name="adj" fmla="val 20833"/>
            </a:avLst>
          </a:prstGeom>
          <a:solidFill>
            <a:srgbClr val="F4F7FA"/>
          </a:solidFill>
          <a:ln w="1397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639604" y="4069079"/>
            <a:ext cx="1973275" cy="1463040"/>
          </a:xfrm>
          <a:prstGeom prst="rect">
            <a:avLst/>
          </a:prstGeom>
          <a:noFill/>
        </p:spPr>
        <p:txBody>
          <a:bodyPr wrap="square" lIns="0" rIns="0" tIns="0" bIns="0" anchor="ctr">
            <a:spAutoFit/>
          </a:bodyPr>
          <a:lstStyle/>
          <a:p>
            <a:pPr algn="ctr">
              <a:lnSpc>
                <a:spcPct val="115000"/>
              </a:lnSpc>
              <a:spcAft>
                <a:spcPts val="0"/>
              </a:spcAft>
            </a:pPr>
            <a:r>
              <a:rPr sz="1250" b="1" i="0">
                <a:solidFill>
                  <a:srgbClr val="21295C"/>
                </a:solidFill>
                <a:latin typeface="Arial"/>
              </a:rPr>
              <a:t>ничего — сам</a:t>
            </a:r>
          </a:p>
          <a:p>
            <a:pPr algn="ctr">
              <a:lnSpc>
                <a:spcPct val="115000"/>
              </a:lnSpc>
              <a:spcAft>
                <a:spcPts val="0"/>
              </a:spcAft>
            </a:pPr>
            <a:r>
              <a:rPr sz="1250" b="1" i="0">
                <a:solidFill>
                  <a:srgbClr val="21295C"/>
                </a:solidFill>
                <a:latin typeface="Arial"/>
              </a:rPr>
              <a:t>запомнит</a:t>
            </a:r>
          </a:p>
        </p:txBody>
      </p:sp>
      <p:sp>
        <p:nvSpPr>
          <p:cNvPr id="17" name="TextBox 16"/>
          <p:cNvSpPr txBox="1"/>
          <p:nvPr/>
        </p:nvSpPr>
        <p:spPr>
          <a:xfrm>
            <a:off x="502920" y="5678423"/>
            <a:ext cx="11183112" cy="320040"/>
          </a:xfrm>
          <a:prstGeom prst="rect">
            <a:avLst/>
          </a:prstGeom>
          <a:noFill/>
        </p:spPr>
        <p:txBody>
          <a:bodyPr wrap="square" lIns="0" rIns="0" tIns="0" bIns="0" anchor="t">
            <a:spAutoFit/>
          </a:bodyPr>
          <a:lstStyle/>
          <a:p>
            <a:pPr algn="ctr">
              <a:lnSpc>
                <a:spcPct val="115000"/>
              </a:lnSpc>
            </a:pPr>
            <a:r>
              <a:rPr sz="1200" b="0" i="1">
                <a:solidFill>
                  <a:srgbClr val="6B7685"/>
                </a:solidFill>
                <a:latin typeface="Arial"/>
              </a:rPr>
              <a:t>разбор — на следующем слайде</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29184"/>
            <a:ext cx="10515600" cy="292608"/>
          </a:xfrm>
          <a:prstGeom prst="rect">
            <a:avLst/>
          </a:prstGeom>
          <a:noFill/>
        </p:spPr>
        <p:txBody>
          <a:bodyPr wrap="square" lIns="0" rIns="0" tIns="0" bIns="0" anchor="t">
            <a:spAutoFit/>
          </a:bodyPr>
          <a:lstStyle/>
          <a:p>
            <a:pPr algn="l">
              <a:lnSpc>
                <a:spcPct val="115000"/>
              </a:lnSpc>
            </a:pPr>
            <a:r>
              <a:rPr sz="1150" b="1" i="0">
                <a:solidFill>
                  <a:srgbClr val="028090"/>
                </a:solidFill>
                <a:latin typeface="Arial"/>
              </a:rPr>
              <a:t>КЕЙС 2.1 · ИССЛЕДОВАНИЕ</a:t>
            </a:r>
          </a:p>
        </p:txBody>
      </p:sp>
      <p:sp>
        <p:nvSpPr>
          <p:cNvPr id="3" name="TextBox 2"/>
          <p:cNvSpPr txBox="1"/>
          <p:nvPr/>
        </p:nvSpPr>
        <p:spPr>
          <a:xfrm>
            <a:off x="502920" y="640080"/>
            <a:ext cx="11183112" cy="1188720"/>
          </a:xfrm>
          <a:prstGeom prst="rect">
            <a:avLst/>
          </a:prstGeom>
          <a:noFill/>
        </p:spPr>
        <p:txBody>
          <a:bodyPr wrap="square" lIns="0" rIns="0" tIns="0" bIns="0" anchor="t">
            <a:spAutoFit/>
          </a:bodyPr>
          <a:lstStyle/>
          <a:p>
            <a:pPr algn="l">
              <a:lnSpc>
                <a:spcPct val="114000"/>
              </a:lnSpc>
            </a:pPr>
            <a:r>
              <a:rPr sz="1450" b="1" i="0">
                <a:solidFill>
                  <a:srgbClr val="21295C"/>
                </a:solidFill>
                <a:latin typeface="Arial"/>
              </a:rPr>
              <a:t>Presence paradox из кейса 1.1 применяется и здесь: то, что лежит в DECISIONS.md, стоит контекста в каждой сессии независимо от того, нужна ли эта запись сегодня</a:t>
            </a:r>
          </a:p>
        </p:txBody>
      </p:sp>
      <p:sp>
        <p:nvSpPr>
          <p:cNvPr id="4" name="Rounded Rectangle 3"/>
          <p:cNvSpPr/>
          <p:nvPr/>
        </p:nvSpPr>
        <p:spPr>
          <a:xfrm>
            <a:off x="502920" y="1993392"/>
            <a:ext cx="5349240" cy="2286000"/>
          </a:xfrm>
          <a:prstGeom prst="roundRect">
            <a:avLst>
              <a:gd name="adj" fmla="val 13333"/>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85800" y="2121408"/>
            <a:ext cx="4983479" cy="2029967"/>
          </a:xfrm>
          <a:prstGeom prst="rect">
            <a:avLst/>
          </a:prstGeom>
          <a:noFill/>
        </p:spPr>
        <p:txBody>
          <a:bodyPr wrap="square" lIns="0" rIns="0" tIns="0" bIns="0" anchor="t">
            <a:spAutoFit/>
          </a:bodyPr>
          <a:lstStyle/>
          <a:p>
            <a:pPr algn="l">
              <a:lnSpc>
                <a:spcPct val="128000"/>
              </a:lnSpc>
            </a:pPr>
            <a:r>
              <a:rPr sz="1250" b="0" i="0">
                <a:solidFill>
                  <a:srgbClr val="21295C"/>
                </a:solidFill>
                <a:latin typeface="Arial"/>
              </a:rPr>
              <a:t>Кейс 1.1: Gloaguen et al. — сам факт присутствия текста в контексте создаёт стоимость (+20–23%), независимо от того, помогает ли он решить задачу. Мы назвали это presence paradox.</a:t>
            </a:r>
          </a:p>
        </p:txBody>
      </p:sp>
      <p:sp>
        <p:nvSpPr>
          <p:cNvPr id="6" name="Rounded Rectangle 5"/>
          <p:cNvSpPr/>
          <p:nvPr/>
        </p:nvSpPr>
        <p:spPr>
          <a:xfrm>
            <a:off x="6153912" y="1993392"/>
            <a:ext cx="5349240" cy="2286000"/>
          </a:xfrm>
          <a:prstGeom prst="roundRect">
            <a:avLst>
              <a:gd name="adj" fmla="val 6000"/>
            </a:avLst>
          </a:prstGeom>
          <a:solidFill>
            <a:srgbClr val="F4F7FA"/>
          </a:solidFill>
          <a:ln w="1778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336792" y="2121408"/>
            <a:ext cx="4983479" cy="2029967"/>
          </a:xfrm>
          <a:prstGeom prst="rect">
            <a:avLst/>
          </a:prstGeom>
          <a:noFill/>
        </p:spPr>
        <p:txBody>
          <a:bodyPr wrap="square" lIns="0" rIns="0" tIns="0" bIns="0" anchor="t">
            <a:spAutoFit/>
          </a:bodyPr>
          <a:lstStyle/>
          <a:p>
            <a:pPr algn="l">
              <a:lnSpc>
                <a:spcPct val="128000"/>
              </a:lnSpc>
            </a:pPr>
            <a:r>
              <a:rPr sz="1250" b="0" i="0">
                <a:solidFill>
                  <a:srgbClr val="21295C"/>
                </a:solidFill>
                <a:latin typeface="Arial"/>
              </a:rPr>
              <a:t>DECISIONS.md — не исключение. Каждая строка грузится в контекст в каждой следующей сессии, не только когда она реально нужна. Тридцать записей о разных темах — цена уже заметна, даже если задача касается только одной из них.</a:t>
            </a:r>
          </a:p>
        </p:txBody>
      </p:sp>
      <p:sp>
        <p:nvSpPr>
          <p:cNvPr id="8" name="TextBox 7"/>
          <p:cNvSpPr txBox="1"/>
          <p:nvPr/>
        </p:nvSpPr>
        <p:spPr>
          <a:xfrm>
            <a:off x="502920" y="4507992"/>
            <a:ext cx="11183112" cy="548640"/>
          </a:xfrm>
          <a:prstGeom prst="rect">
            <a:avLst/>
          </a:prstGeom>
          <a:noFill/>
        </p:spPr>
        <p:txBody>
          <a:bodyPr wrap="square" lIns="0" rIns="0" tIns="0" bIns="0" anchor="t">
            <a:spAutoFit/>
          </a:bodyPr>
          <a:lstStyle/>
          <a:p>
            <a:pPr algn="ctr">
              <a:lnSpc>
                <a:spcPct val="125000"/>
              </a:lnSpc>
            </a:pPr>
            <a:r>
              <a:rPr sz="1150" b="0" i="1">
                <a:solidFill>
                  <a:srgbClr val="6B7685"/>
                </a:solidFill>
                <a:latin typeface="Arial"/>
              </a:rPr>
              <a:t>прямого измерения именно на журналах решений не проводилось — это перенос уже установленного механизма на новый объект, не отдельное новое исследование</a:t>
            </a:r>
          </a:p>
        </p:txBody>
      </p:sp>
      <p:sp>
        <p:nvSpPr>
          <p:cNvPr id="9" name="Rounded Rectangle 8"/>
          <p:cNvSpPr/>
          <p:nvPr/>
        </p:nvSpPr>
        <p:spPr>
          <a:xfrm>
            <a:off x="502920" y="5148072"/>
            <a:ext cx="11183112" cy="1252728"/>
          </a:xfrm>
          <a:prstGeom prst="roundRect">
            <a:avLst>
              <a:gd name="adj" fmla="val 10000"/>
            </a:avLst>
          </a:prstGeom>
          <a:solidFill>
            <a:srgbClr val="FEF5E0"/>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04088" y="5221224"/>
            <a:ext cx="10780776" cy="1106424"/>
          </a:xfrm>
          <a:prstGeom prst="rect">
            <a:avLst/>
          </a:prstGeom>
          <a:noFill/>
        </p:spPr>
        <p:txBody>
          <a:bodyPr wrap="square" lIns="0" rIns="0" tIns="0" bIns="0" anchor="ctr">
            <a:spAutoFit/>
          </a:bodyPr>
          <a:lstStyle/>
          <a:p>
            <a:pPr algn="ctr">
              <a:lnSpc>
                <a:spcPct val="122000"/>
              </a:lnSpc>
            </a:pPr>
            <a:r>
              <a:rPr sz="1450" b="1" i="0">
                <a:solidFill>
                  <a:srgbClr val="21295C"/>
                </a:solidFill>
                <a:latin typeface="Arial"/>
              </a:rPr>
              <a:t>если запись не бесплатна — точно ли туда идёт вообще всё, что можно туда положить?</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29184"/>
            <a:ext cx="10515600" cy="292608"/>
          </a:xfrm>
          <a:prstGeom prst="rect">
            <a:avLst/>
          </a:prstGeom>
          <a:noFill/>
        </p:spPr>
        <p:txBody>
          <a:bodyPr wrap="square" lIns="0" rIns="0" tIns="0" bIns="0" anchor="t">
            <a:spAutoFit/>
          </a:bodyPr>
          <a:lstStyle/>
          <a:p>
            <a:pPr algn="l">
              <a:lnSpc>
                <a:spcPct val="115000"/>
              </a:lnSpc>
            </a:pPr>
            <a:r>
              <a:rPr sz="1150" b="1" i="0">
                <a:solidFill>
                  <a:srgbClr val="028090"/>
                </a:solidFill>
                <a:latin typeface="Arial"/>
              </a:rPr>
              <a:t>КЕЙС 2.1 · РАЗБОР</a:t>
            </a:r>
          </a:p>
        </p:txBody>
      </p:sp>
      <p:sp>
        <p:nvSpPr>
          <p:cNvPr id="3" name="TextBox 2"/>
          <p:cNvSpPr txBox="1"/>
          <p:nvPr/>
        </p:nvSpPr>
        <p:spPr>
          <a:xfrm>
            <a:off x="502920" y="640080"/>
            <a:ext cx="11183112" cy="1005840"/>
          </a:xfrm>
          <a:prstGeom prst="rect">
            <a:avLst/>
          </a:prstGeom>
          <a:noFill/>
        </p:spPr>
        <p:txBody>
          <a:bodyPr wrap="square" lIns="0" rIns="0" tIns="0" bIns="0" anchor="t">
            <a:spAutoFit/>
          </a:bodyPr>
          <a:lstStyle/>
          <a:p>
            <a:pPr algn="l">
              <a:lnSpc>
                <a:spcPct val="114000"/>
              </a:lnSpc>
            </a:pPr>
            <a:r>
              <a:rPr sz="1650" b="1" i="0">
                <a:solidFill>
                  <a:srgbClr val="21295C"/>
                </a:solidFill>
                <a:latin typeface="Arial"/>
              </a:rPr>
              <a:t>Командное решение с обоснованием идёт в DECISIONS.md, личное предпочтение — в авто-память, выводимое из кода — никуда</a:t>
            </a:r>
          </a:p>
        </p:txBody>
      </p:sp>
      <p:sp>
        <p:nvSpPr>
          <p:cNvPr id="4" name="TextBox 3"/>
          <p:cNvSpPr txBox="1"/>
          <p:nvPr/>
        </p:nvSpPr>
        <p:spPr>
          <a:xfrm>
            <a:off x="502920" y="1810512"/>
            <a:ext cx="11183112" cy="274320"/>
          </a:xfrm>
          <a:prstGeom prst="rect">
            <a:avLst/>
          </a:prstGeom>
          <a:noFill/>
        </p:spPr>
        <p:txBody>
          <a:bodyPr wrap="square" lIns="0" rIns="0" tIns="0" bIns="0" anchor="t">
            <a:spAutoFit/>
          </a:bodyPr>
          <a:lstStyle/>
          <a:p>
            <a:pPr algn="l">
              <a:lnSpc>
                <a:spcPct val="115000"/>
              </a:lnSpc>
            </a:pPr>
            <a:r>
              <a:rPr sz="1130" b="0" i="1">
                <a:solidFill>
                  <a:srgbClr val="6B7685"/>
                </a:solidFill>
                <a:latin typeface="Arial"/>
              </a:rPr>
              <a:t>вопрос для контекста: «Куда записать отклонённое решение — и почему не в файл инструкций?»</a:t>
            </a:r>
          </a:p>
        </p:txBody>
      </p:sp>
      <p:sp>
        <p:nvSpPr>
          <p:cNvPr id="5" name="Rounded Rectangle 4"/>
          <p:cNvSpPr/>
          <p:nvPr/>
        </p:nvSpPr>
        <p:spPr>
          <a:xfrm>
            <a:off x="502920" y="2176272"/>
            <a:ext cx="11183112" cy="3383280"/>
          </a:xfrm>
          <a:prstGeom prst="roundRect">
            <a:avLst>
              <a:gd name="adj" fmla="val 9009"/>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85800" y="2359152"/>
            <a:ext cx="2523012" cy="329184"/>
          </a:xfrm>
          <a:prstGeom prst="rect">
            <a:avLst/>
          </a:prstGeom>
          <a:noFill/>
        </p:spPr>
        <p:txBody>
          <a:bodyPr wrap="square" lIns="0" rIns="0" tIns="0" bIns="0" anchor="t">
            <a:spAutoFit/>
          </a:bodyPr>
          <a:lstStyle/>
          <a:p>
            <a:pPr algn="l">
              <a:lnSpc>
                <a:spcPct val="115000"/>
              </a:lnSpc>
            </a:pPr>
            <a:r>
              <a:rPr sz="1030" b="1" i="0">
                <a:solidFill>
                  <a:srgbClr val="6B7685"/>
                </a:solidFill>
                <a:latin typeface="Arial"/>
              </a:rPr>
              <a:t>Вариант</a:t>
            </a:r>
          </a:p>
        </p:txBody>
      </p:sp>
      <p:sp>
        <p:nvSpPr>
          <p:cNvPr id="7" name="TextBox 6"/>
          <p:cNvSpPr txBox="1"/>
          <p:nvPr/>
        </p:nvSpPr>
        <p:spPr>
          <a:xfrm>
            <a:off x="3281964" y="2359152"/>
            <a:ext cx="3172053" cy="329184"/>
          </a:xfrm>
          <a:prstGeom prst="rect">
            <a:avLst/>
          </a:prstGeom>
          <a:noFill/>
        </p:spPr>
        <p:txBody>
          <a:bodyPr wrap="square" lIns="0" rIns="0" tIns="0" bIns="0" anchor="t">
            <a:spAutoFit/>
          </a:bodyPr>
          <a:lstStyle/>
          <a:p>
            <a:pPr algn="l">
              <a:lnSpc>
                <a:spcPct val="115000"/>
              </a:lnSpc>
            </a:pPr>
            <a:r>
              <a:rPr sz="1030" b="1" i="0">
                <a:solidFill>
                  <a:srgbClr val="6B7685"/>
                </a:solidFill>
                <a:latin typeface="Arial"/>
              </a:rPr>
              <a:t>Где это работает</a:t>
            </a:r>
          </a:p>
        </p:txBody>
      </p:sp>
      <p:sp>
        <p:nvSpPr>
          <p:cNvPr id="8" name="TextBox 7"/>
          <p:cNvSpPr txBox="1"/>
          <p:nvPr/>
        </p:nvSpPr>
        <p:spPr>
          <a:xfrm>
            <a:off x="6527170" y="2359152"/>
            <a:ext cx="4902829" cy="329184"/>
          </a:xfrm>
          <a:prstGeom prst="rect">
            <a:avLst/>
          </a:prstGeom>
          <a:noFill/>
        </p:spPr>
        <p:txBody>
          <a:bodyPr wrap="square" lIns="0" rIns="0" tIns="0" bIns="0" anchor="t">
            <a:spAutoFit/>
          </a:bodyPr>
          <a:lstStyle/>
          <a:p>
            <a:pPr algn="l">
              <a:lnSpc>
                <a:spcPct val="115000"/>
              </a:lnSpc>
            </a:pPr>
            <a:r>
              <a:rPr sz="1030" b="1" i="0">
                <a:solidFill>
                  <a:srgbClr val="6B7685"/>
                </a:solidFill>
                <a:latin typeface="Arial"/>
              </a:rPr>
              <a:t>Почему здесь ещё рано — и что вместо</a:t>
            </a:r>
          </a:p>
        </p:txBody>
      </p:sp>
      <p:sp>
        <p:nvSpPr>
          <p:cNvPr id="9" name="TextBox 8"/>
          <p:cNvSpPr txBox="1"/>
          <p:nvPr/>
        </p:nvSpPr>
        <p:spPr>
          <a:xfrm>
            <a:off x="685800" y="2743200"/>
            <a:ext cx="2504724" cy="526694"/>
          </a:xfrm>
          <a:prstGeom prst="rect">
            <a:avLst/>
          </a:prstGeom>
          <a:noFill/>
        </p:spPr>
        <p:txBody>
          <a:bodyPr wrap="square" lIns="0" rIns="0" tIns="0" bIns="0" anchor="ctr">
            <a:spAutoFit/>
          </a:bodyPr>
          <a:lstStyle/>
          <a:p>
            <a:pPr algn="l">
              <a:lnSpc>
                <a:spcPct val="115000"/>
              </a:lnSpc>
            </a:pPr>
            <a:r>
              <a:rPr sz="1000" b="0" i="0">
                <a:solidFill>
                  <a:srgbClr val="21295C"/>
                </a:solidFill>
                <a:latin typeface="Arial"/>
              </a:rPr>
              <a:t>«Допишу в CLAUDE.md»</a:t>
            </a:r>
          </a:p>
        </p:txBody>
      </p:sp>
      <p:sp>
        <p:nvSpPr>
          <p:cNvPr id="10" name="TextBox 9"/>
          <p:cNvSpPr txBox="1"/>
          <p:nvPr/>
        </p:nvSpPr>
        <p:spPr>
          <a:xfrm>
            <a:off x="3281964" y="2743200"/>
            <a:ext cx="3153765" cy="526694"/>
          </a:xfrm>
          <a:prstGeom prst="rect">
            <a:avLst/>
          </a:prstGeom>
          <a:noFill/>
        </p:spPr>
        <p:txBody>
          <a:bodyPr wrap="square" lIns="0" rIns="0" tIns="0" bIns="0" anchor="ctr">
            <a:spAutoFit/>
          </a:bodyPr>
          <a:lstStyle/>
          <a:p>
            <a:pPr algn="l">
              <a:lnSpc>
                <a:spcPct val="115000"/>
              </a:lnSpc>
            </a:pPr>
            <a:r>
              <a:rPr sz="1000" b="0" i="0">
                <a:solidFill>
                  <a:srgbClr val="21295C"/>
                </a:solidFill>
                <a:latin typeface="Arial"/>
              </a:rPr>
              <a:t>Механически сработает: файл читается каждую сессию</a:t>
            </a:r>
          </a:p>
        </p:txBody>
      </p:sp>
      <p:sp>
        <p:nvSpPr>
          <p:cNvPr id="11" name="TextBox 10"/>
          <p:cNvSpPr txBox="1"/>
          <p:nvPr/>
        </p:nvSpPr>
        <p:spPr>
          <a:xfrm>
            <a:off x="6527170" y="2743200"/>
            <a:ext cx="4884541" cy="526694"/>
          </a:xfrm>
          <a:prstGeom prst="rect">
            <a:avLst/>
          </a:prstGeom>
          <a:noFill/>
        </p:spPr>
        <p:txBody>
          <a:bodyPr wrap="square" lIns="0" rIns="0" tIns="0" bIns="0" anchor="ctr">
            <a:spAutoFit/>
          </a:bodyPr>
          <a:lstStyle/>
          <a:p>
            <a:pPr algn="l">
              <a:lnSpc>
                <a:spcPct val="115000"/>
              </a:lnSpc>
            </a:pPr>
            <a:r>
              <a:rPr sz="1000" b="0" i="0">
                <a:solidFill>
                  <a:srgbClr val="21295C"/>
                </a:solidFill>
                <a:latin typeface="Arial"/>
              </a:rPr>
              <a:t>Смешивает стабильные правила и растущий лог решений. На десятке решений файл выйдет за ориентир в 200 строк</a:t>
            </a:r>
          </a:p>
        </p:txBody>
      </p:sp>
      <p:cxnSp>
        <p:nvCxnSpPr>
          <p:cNvPr id="12" name="Connector 11"/>
          <p:cNvCxnSpPr/>
          <p:nvPr/>
        </p:nvCxnSpPr>
        <p:spPr>
          <a:xfrm>
            <a:off x="685800" y="3269894"/>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685800" y="3269894"/>
            <a:ext cx="2504724" cy="526694"/>
          </a:xfrm>
          <a:prstGeom prst="rect">
            <a:avLst/>
          </a:prstGeom>
          <a:noFill/>
        </p:spPr>
        <p:txBody>
          <a:bodyPr wrap="square" lIns="0" rIns="0" tIns="0" bIns="0" anchor="ctr">
            <a:spAutoFit/>
          </a:bodyPr>
          <a:lstStyle/>
          <a:p>
            <a:pPr algn="l">
              <a:lnSpc>
                <a:spcPct val="115000"/>
              </a:lnSpc>
            </a:pPr>
            <a:r>
              <a:rPr sz="1000" b="0" i="0">
                <a:solidFill>
                  <a:srgbClr val="21295C"/>
                </a:solidFill>
                <a:latin typeface="Arial"/>
              </a:rPr>
              <a:t>«Ничего, агент сам запомнит»</a:t>
            </a:r>
          </a:p>
        </p:txBody>
      </p:sp>
      <p:sp>
        <p:nvSpPr>
          <p:cNvPr id="14" name="TextBox 13"/>
          <p:cNvSpPr txBox="1"/>
          <p:nvPr/>
        </p:nvSpPr>
        <p:spPr>
          <a:xfrm>
            <a:off x="3281964" y="3269894"/>
            <a:ext cx="3153765" cy="526694"/>
          </a:xfrm>
          <a:prstGeom prst="rect">
            <a:avLst/>
          </a:prstGeom>
          <a:noFill/>
        </p:spPr>
        <p:txBody>
          <a:bodyPr wrap="square" lIns="0" rIns="0" tIns="0" bIns="0" anchor="ctr">
            <a:spAutoFit/>
          </a:bodyPr>
          <a:lstStyle/>
          <a:p>
            <a:pPr algn="l">
              <a:lnSpc>
                <a:spcPct val="115000"/>
              </a:lnSpc>
            </a:pPr>
            <a:r>
              <a:rPr sz="1000" b="0" i="0">
                <a:solidFill>
                  <a:srgbClr val="21295C"/>
                </a:solidFill>
                <a:latin typeface="Arial"/>
              </a:rPr>
              <a:t>Нигде: это не настройка, которую забыли включить</a:t>
            </a:r>
          </a:p>
        </p:txBody>
      </p:sp>
      <p:sp>
        <p:nvSpPr>
          <p:cNvPr id="15" name="TextBox 14"/>
          <p:cNvSpPr txBox="1"/>
          <p:nvPr/>
        </p:nvSpPr>
        <p:spPr>
          <a:xfrm>
            <a:off x="6527170" y="3269894"/>
            <a:ext cx="4884541" cy="526694"/>
          </a:xfrm>
          <a:prstGeom prst="rect">
            <a:avLst/>
          </a:prstGeom>
          <a:noFill/>
        </p:spPr>
        <p:txBody>
          <a:bodyPr wrap="square" lIns="0" rIns="0" tIns="0" bIns="0" anchor="ctr">
            <a:spAutoFit/>
          </a:bodyPr>
          <a:lstStyle/>
          <a:p>
            <a:pPr algn="l">
              <a:lnSpc>
                <a:spcPct val="115000"/>
              </a:lnSpc>
            </a:pPr>
            <a:r>
              <a:rPr sz="1000" b="0" i="0">
                <a:solidFill>
                  <a:srgbClr val="21295C"/>
                </a:solidFill>
                <a:latin typeface="Arial"/>
              </a:rPr>
              <a:t>Модель не имеет состояния между вызовами по конструкции</a:t>
            </a:r>
          </a:p>
        </p:txBody>
      </p:sp>
      <p:cxnSp>
        <p:nvCxnSpPr>
          <p:cNvPr id="16" name="Connector 15"/>
          <p:cNvCxnSpPr/>
          <p:nvPr/>
        </p:nvCxnSpPr>
        <p:spPr>
          <a:xfrm>
            <a:off x="685800" y="3796588"/>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685800" y="3796588"/>
            <a:ext cx="2504724" cy="526694"/>
          </a:xfrm>
          <a:prstGeom prst="rect">
            <a:avLst/>
          </a:prstGeom>
          <a:noFill/>
        </p:spPr>
        <p:txBody>
          <a:bodyPr wrap="square" lIns="0" rIns="0" tIns="0" bIns="0" anchor="ctr">
            <a:spAutoFit/>
          </a:bodyPr>
          <a:lstStyle/>
          <a:p>
            <a:pPr algn="l">
              <a:lnSpc>
                <a:spcPct val="115000"/>
              </a:lnSpc>
            </a:pPr>
            <a:r>
              <a:rPr sz="1000" b="0" i="0">
                <a:solidFill>
                  <a:srgbClr val="21295C"/>
                </a:solidFill>
                <a:latin typeface="Arial"/>
              </a:rPr>
              <a:t>«Скажу агенту ‘запомни это’»</a:t>
            </a:r>
          </a:p>
        </p:txBody>
      </p:sp>
      <p:sp>
        <p:nvSpPr>
          <p:cNvPr id="18" name="TextBox 17"/>
          <p:cNvSpPr txBox="1"/>
          <p:nvPr/>
        </p:nvSpPr>
        <p:spPr>
          <a:xfrm>
            <a:off x="3281964" y="3796588"/>
            <a:ext cx="3153765" cy="526694"/>
          </a:xfrm>
          <a:prstGeom prst="rect">
            <a:avLst/>
          </a:prstGeom>
          <a:noFill/>
        </p:spPr>
        <p:txBody>
          <a:bodyPr wrap="square" lIns="0" rIns="0" tIns="0" bIns="0" anchor="ctr">
            <a:spAutoFit/>
          </a:bodyPr>
          <a:lstStyle/>
          <a:p>
            <a:pPr algn="l">
              <a:lnSpc>
                <a:spcPct val="115000"/>
              </a:lnSpc>
            </a:pPr>
            <a:r>
              <a:rPr sz="1000" b="0" i="0">
                <a:solidFill>
                  <a:srgbClr val="21295C"/>
                </a:solidFill>
                <a:latin typeface="Arial"/>
              </a:rPr>
              <a:t>Для личного предпочтения — идеально</a:t>
            </a:r>
          </a:p>
        </p:txBody>
      </p:sp>
      <p:sp>
        <p:nvSpPr>
          <p:cNvPr id="19" name="TextBox 18"/>
          <p:cNvSpPr txBox="1"/>
          <p:nvPr/>
        </p:nvSpPr>
        <p:spPr>
          <a:xfrm>
            <a:off x="6527170" y="3796588"/>
            <a:ext cx="4884541" cy="526694"/>
          </a:xfrm>
          <a:prstGeom prst="rect">
            <a:avLst/>
          </a:prstGeom>
          <a:noFill/>
        </p:spPr>
        <p:txBody>
          <a:bodyPr wrap="square" lIns="0" rIns="0" tIns="0" bIns="0" anchor="ctr">
            <a:spAutoFit/>
          </a:bodyPr>
          <a:lstStyle/>
          <a:p>
            <a:pPr algn="l">
              <a:lnSpc>
                <a:spcPct val="115000"/>
              </a:lnSpc>
            </a:pPr>
            <a:r>
              <a:rPr sz="1000" b="0" i="0">
                <a:solidFill>
                  <a:srgbClr val="21295C"/>
                </a:solidFill>
                <a:latin typeface="Arial"/>
              </a:rPr>
              <a:t>Половина ответа. Уходит в авто-память: машинно-локальный слой без синхронизации и код-ревью</a:t>
            </a:r>
          </a:p>
        </p:txBody>
      </p:sp>
      <p:cxnSp>
        <p:nvCxnSpPr>
          <p:cNvPr id="20" name="Connector 19"/>
          <p:cNvCxnSpPr/>
          <p:nvPr/>
        </p:nvCxnSpPr>
        <p:spPr>
          <a:xfrm>
            <a:off x="685800" y="4323283"/>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1" name="TextBox 20"/>
          <p:cNvSpPr txBox="1"/>
          <p:nvPr/>
        </p:nvSpPr>
        <p:spPr>
          <a:xfrm>
            <a:off x="685800" y="4323283"/>
            <a:ext cx="2504724" cy="526694"/>
          </a:xfrm>
          <a:prstGeom prst="rect">
            <a:avLst/>
          </a:prstGeom>
          <a:noFill/>
        </p:spPr>
        <p:txBody>
          <a:bodyPr wrap="square" lIns="0" rIns="0" tIns="0" bIns="0" anchor="ctr">
            <a:spAutoFit/>
          </a:bodyPr>
          <a:lstStyle/>
          <a:p>
            <a:pPr algn="l">
              <a:lnSpc>
                <a:spcPct val="115000"/>
              </a:lnSpc>
            </a:pPr>
            <a:r>
              <a:rPr sz="1000" b="0" i="0">
                <a:solidFill>
                  <a:srgbClr val="21295C"/>
                </a:solidFill>
                <a:latin typeface="Arial"/>
              </a:rPr>
              <a:t>«Заведу DECISIONS.md»</a:t>
            </a:r>
          </a:p>
        </p:txBody>
      </p:sp>
      <p:sp>
        <p:nvSpPr>
          <p:cNvPr id="22" name="TextBox 21"/>
          <p:cNvSpPr txBox="1"/>
          <p:nvPr/>
        </p:nvSpPr>
        <p:spPr>
          <a:xfrm>
            <a:off x="3281964" y="4323283"/>
            <a:ext cx="3153765" cy="526694"/>
          </a:xfrm>
          <a:prstGeom prst="rect">
            <a:avLst/>
          </a:prstGeom>
          <a:noFill/>
        </p:spPr>
        <p:txBody>
          <a:bodyPr wrap="square" lIns="0" rIns="0" tIns="0" bIns="0" anchor="ctr">
            <a:spAutoFit/>
          </a:bodyPr>
          <a:lstStyle/>
          <a:p>
            <a:pPr algn="l">
              <a:lnSpc>
                <a:spcPct val="115000"/>
              </a:lnSpc>
            </a:pPr>
            <a:r>
              <a:rPr sz="1000" b="0" i="0">
                <a:solidFill>
                  <a:srgbClr val="21295C"/>
                </a:solidFill>
                <a:latin typeface="Arial"/>
              </a:rPr>
              <a:t>Для командного решения с обоснованием — именно то, что нужно</a:t>
            </a:r>
          </a:p>
        </p:txBody>
      </p:sp>
      <p:sp>
        <p:nvSpPr>
          <p:cNvPr id="23" name="TextBox 22"/>
          <p:cNvSpPr txBox="1"/>
          <p:nvPr/>
        </p:nvSpPr>
        <p:spPr>
          <a:xfrm>
            <a:off x="6527170" y="4323283"/>
            <a:ext cx="4884541" cy="526694"/>
          </a:xfrm>
          <a:prstGeom prst="rect">
            <a:avLst/>
          </a:prstGeom>
          <a:noFill/>
        </p:spPr>
        <p:txBody>
          <a:bodyPr wrap="square" lIns="0" rIns="0" tIns="0" bIns="0" anchor="ctr">
            <a:spAutoFit/>
          </a:bodyPr>
          <a:lstStyle/>
          <a:p>
            <a:pPr algn="l">
              <a:lnSpc>
                <a:spcPct val="115000"/>
              </a:lnSpc>
            </a:pPr>
            <a:r>
              <a:rPr sz="1000" b="0" i="0">
                <a:solidFill>
                  <a:srgbClr val="21295C"/>
                </a:solidFill>
                <a:latin typeface="Arial"/>
              </a:rPr>
              <a:t>Вторая половина ответа. Требует писать «почему», а не «что»</a:t>
            </a:r>
          </a:p>
        </p:txBody>
      </p:sp>
      <p:cxnSp>
        <p:nvCxnSpPr>
          <p:cNvPr id="24" name="Connector 23"/>
          <p:cNvCxnSpPr/>
          <p:nvPr/>
        </p:nvCxnSpPr>
        <p:spPr>
          <a:xfrm>
            <a:off x="685800" y="4849977"/>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685800" y="4849977"/>
            <a:ext cx="2504724" cy="526694"/>
          </a:xfrm>
          <a:prstGeom prst="rect">
            <a:avLst/>
          </a:prstGeom>
          <a:noFill/>
        </p:spPr>
        <p:txBody>
          <a:bodyPr wrap="square" lIns="0" rIns="0" tIns="0" bIns="0" anchor="ctr">
            <a:spAutoFit/>
          </a:bodyPr>
          <a:lstStyle/>
          <a:p>
            <a:pPr algn="l">
              <a:lnSpc>
                <a:spcPct val="115000"/>
              </a:lnSpc>
            </a:pPr>
            <a:r>
              <a:rPr sz="1000" b="0" i="0">
                <a:solidFill>
                  <a:srgbClr val="21295C"/>
                </a:solidFill>
                <a:latin typeface="Arial"/>
              </a:rPr>
              <a:t>«Поставлю систему памяти»</a:t>
            </a:r>
          </a:p>
        </p:txBody>
      </p:sp>
      <p:sp>
        <p:nvSpPr>
          <p:cNvPr id="26" name="TextBox 25"/>
          <p:cNvSpPr txBox="1"/>
          <p:nvPr/>
        </p:nvSpPr>
        <p:spPr>
          <a:xfrm>
            <a:off x="3281964" y="4849977"/>
            <a:ext cx="3153765" cy="526694"/>
          </a:xfrm>
          <a:prstGeom prst="rect">
            <a:avLst/>
          </a:prstGeom>
          <a:noFill/>
        </p:spPr>
        <p:txBody>
          <a:bodyPr wrap="square" lIns="0" rIns="0" tIns="0" bIns="0" anchor="ctr">
            <a:spAutoFit/>
          </a:bodyPr>
          <a:lstStyle/>
          <a:p>
            <a:pPr algn="l">
              <a:lnSpc>
                <a:spcPct val="115000"/>
              </a:lnSpc>
            </a:pPr>
            <a:r>
              <a:rPr sz="1000" b="0" i="0">
                <a:solidFill>
                  <a:srgbClr val="21295C"/>
                </a:solidFill>
                <a:latin typeface="Arial"/>
              </a:rPr>
              <a:t>На десятках-сотнях записей, нескольких пользователях</a:t>
            </a:r>
          </a:p>
        </p:txBody>
      </p:sp>
      <p:sp>
        <p:nvSpPr>
          <p:cNvPr id="27" name="TextBox 26"/>
          <p:cNvSpPr txBox="1"/>
          <p:nvPr/>
        </p:nvSpPr>
        <p:spPr>
          <a:xfrm>
            <a:off x="6527170" y="4849977"/>
            <a:ext cx="4884541" cy="526694"/>
          </a:xfrm>
          <a:prstGeom prst="rect">
            <a:avLst/>
          </a:prstGeom>
          <a:noFill/>
        </p:spPr>
        <p:txBody>
          <a:bodyPr wrap="square" lIns="0" rIns="0" tIns="0" bIns="0" anchor="ctr">
            <a:spAutoFit/>
          </a:bodyPr>
          <a:lstStyle/>
          <a:p>
            <a:pPr algn="l">
              <a:lnSpc>
                <a:spcPct val="115000"/>
              </a:lnSpc>
            </a:pPr>
            <a:r>
              <a:rPr sz="1000" b="0" i="0">
                <a:solidFill>
                  <a:srgbClr val="21295C"/>
                </a:solidFill>
                <a:latin typeface="Arial"/>
              </a:rPr>
              <a:t>Рано на порядок: на малых корпусах простой файл регулярно конкурентен со сложными системами</a:t>
            </a:r>
          </a:p>
        </p:txBody>
      </p:sp>
      <p:sp>
        <p:nvSpPr>
          <p:cNvPr id="28" name="Rounded Rectangle 27"/>
          <p:cNvSpPr/>
          <p:nvPr/>
        </p:nvSpPr>
        <p:spPr>
          <a:xfrm>
            <a:off x="502920" y="5705856"/>
            <a:ext cx="11183112" cy="640080"/>
          </a:xfrm>
          <a:prstGeom prst="roundRect">
            <a:avLst>
              <a:gd name="adj" fmla="val 10000"/>
            </a:avLst>
          </a:prstGeom>
          <a:solidFill>
            <a:srgbClr val="FEF5E0"/>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704088" y="5779008"/>
            <a:ext cx="10780776" cy="493775"/>
          </a:xfrm>
          <a:prstGeom prst="rect">
            <a:avLst/>
          </a:prstGeom>
          <a:noFill/>
        </p:spPr>
        <p:txBody>
          <a:bodyPr wrap="square" lIns="0" rIns="0" tIns="0" bIns="0" anchor="ctr">
            <a:spAutoFit/>
          </a:bodyPr>
          <a:lstStyle/>
          <a:p>
            <a:pPr algn="l">
              <a:lnSpc>
                <a:spcPct val="122000"/>
              </a:lnSpc>
            </a:pPr>
            <a:r>
              <a:rPr sz="1500" b="1" i="0">
                <a:solidFill>
                  <a:srgbClr val="21295C"/>
                </a:solidFill>
                <a:latin typeface="Arial"/>
              </a:rPr>
              <a:t>целевой ответ — оба механизма разом, с разделением ролей</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29184"/>
            <a:ext cx="10515600" cy="292608"/>
          </a:xfrm>
          <a:prstGeom prst="rect">
            <a:avLst/>
          </a:prstGeom>
          <a:noFill/>
        </p:spPr>
        <p:txBody>
          <a:bodyPr wrap="square" lIns="0" rIns="0" tIns="0" bIns="0" anchor="t">
            <a:spAutoFit/>
          </a:bodyPr>
          <a:lstStyle/>
          <a:p>
            <a:pPr algn="l">
              <a:lnSpc>
                <a:spcPct val="115000"/>
              </a:lnSpc>
            </a:pPr>
            <a:r>
              <a:rPr sz="1150" b="1" i="0">
                <a:solidFill>
                  <a:srgbClr val="028090"/>
                </a:solidFill>
                <a:latin typeface="Arial"/>
              </a:rPr>
              <a:t>КЕЙС 2.1 · СОВМЕСТНОЕ ФОРМИРОВАНИЕ</a:t>
            </a:r>
          </a:p>
        </p:txBody>
      </p:sp>
      <p:sp>
        <p:nvSpPr>
          <p:cNvPr id="3" name="TextBox 2"/>
          <p:cNvSpPr txBox="1"/>
          <p:nvPr/>
        </p:nvSpPr>
        <p:spPr>
          <a:xfrm>
            <a:off x="502920" y="640080"/>
            <a:ext cx="11183112" cy="1005840"/>
          </a:xfrm>
          <a:prstGeom prst="rect">
            <a:avLst/>
          </a:prstGeom>
          <a:noFill/>
        </p:spPr>
        <p:txBody>
          <a:bodyPr wrap="square" lIns="0" rIns="0" tIns="0" bIns="0" anchor="t">
            <a:spAutoFit/>
          </a:bodyPr>
          <a:lstStyle/>
          <a:p>
            <a:pPr algn="l">
              <a:lnSpc>
                <a:spcPct val="114000"/>
              </a:lnSpc>
            </a:pPr>
            <a:r>
              <a:rPr sz="1650" b="1" i="0">
                <a:solidFill>
                  <a:srgbClr val="21295C"/>
                </a:solidFill>
                <a:latin typeface="Arial"/>
              </a:rPr>
              <a:t>Не всё, что узнал агент, вообще стоит записывать — третья корзина такая же законная, как первые две</a:t>
            </a:r>
          </a:p>
        </p:txBody>
      </p:sp>
      <p:sp>
        <p:nvSpPr>
          <p:cNvPr id="4" name="Rounded Rectangle 3"/>
          <p:cNvSpPr/>
          <p:nvPr/>
        </p:nvSpPr>
        <p:spPr>
          <a:xfrm>
            <a:off x="502920" y="1810512"/>
            <a:ext cx="3581400" cy="2468880"/>
          </a:xfrm>
          <a:prstGeom prst="roundRect">
            <a:avLst>
              <a:gd name="adj" fmla="val 12345"/>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9224" y="1920240"/>
            <a:ext cx="3288792" cy="310896"/>
          </a:xfrm>
          <a:prstGeom prst="rect">
            <a:avLst/>
          </a:prstGeom>
          <a:noFill/>
        </p:spPr>
        <p:txBody>
          <a:bodyPr wrap="square" lIns="0" rIns="0" tIns="0" bIns="0" anchor="t">
            <a:spAutoFit/>
          </a:bodyPr>
          <a:lstStyle/>
          <a:p>
            <a:pPr algn="ctr">
              <a:lnSpc>
                <a:spcPct val="115000"/>
              </a:lnSpc>
            </a:pPr>
            <a:r>
              <a:rPr sz="1250" b="1" i="0">
                <a:solidFill>
                  <a:srgbClr val="065A82"/>
                </a:solidFill>
                <a:latin typeface="Arial"/>
              </a:rPr>
              <a:t>АВТО-ПАМЯТЬ</a:t>
            </a:r>
          </a:p>
        </p:txBody>
      </p:sp>
      <p:sp>
        <p:nvSpPr>
          <p:cNvPr id="6" name="Rounded Rectangle 5"/>
          <p:cNvSpPr/>
          <p:nvPr/>
        </p:nvSpPr>
        <p:spPr>
          <a:xfrm>
            <a:off x="630936" y="2350008"/>
            <a:ext cx="3325368" cy="1783080"/>
          </a:xfrm>
          <a:prstGeom prst="roundRect">
            <a:avLst>
              <a:gd name="adj" fmla="val 20000"/>
            </a:avLst>
          </a:prstGeom>
          <a:solidFill>
            <a:srgbClr val="ECF0F5"/>
          </a:solidFill>
          <a:ln w="1143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22376" y="2350008"/>
            <a:ext cx="3142488" cy="1783080"/>
          </a:xfrm>
          <a:prstGeom prst="rect">
            <a:avLst/>
          </a:prstGeom>
          <a:noFill/>
        </p:spPr>
        <p:txBody>
          <a:bodyPr wrap="square" lIns="0" rIns="0" tIns="0" bIns="0" anchor="ctr">
            <a:spAutoFit/>
          </a:bodyPr>
          <a:lstStyle/>
          <a:p>
            <a:pPr algn="l">
              <a:lnSpc>
                <a:spcPct val="112000"/>
              </a:lnSpc>
            </a:pPr>
            <a:r>
              <a:rPr sz="1030" b="0" i="0">
                <a:solidFill>
                  <a:srgbClr val="21295C"/>
                </a:solidFill>
                <a:latin typeface="Arial"/>
              </a:rPr>
              <a:t>Разработчик просит отвечать
коротко, без преамбул</a:t>
            </a:r>
          </a:p>
        </p:txBody>
      </p:sp>
      <p:sp>
        <p:nvSpPr>
          <p:cNvPr id="8" name="Rounded Rectangle 7"/>
          <p:cNvSpPr/>
          <p:nvPr/>
        </p:nvSpPr>
        <p:spPr>
          <a:xfrm>
            <a:off x="4303775" y="1810512"/>
            <a:ext cx="3581400" cy="2468880"/>
          </a:xfrm>
          <a:prstGeom prst="roundRect">
            <a:avLst>
              <a:gd name="adj" fmla="val 12345"/>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450080" y="1920240"/>
            <a:ext cx="3288792" cy="310896"/>
          </a:xfrm>
          <a:prstGeom prst="rect">
            <a:avLst/>
          </a:prstGeom>
          <a:noFill/>
        </p:spPr>
        <p:txBody>
          <a:bodyPr wrap="square" lIns="0" rIns="0" tIns="0" bIns="0" anchor="t">
            <a:spAutoFit/>
          </a:bodyPr>
          <a:lstStyle/>
          <a:p>
            <a:pPr algn="ctr">
              <a:lnSpc>
                <a:spcPct val="115000"/>
              </a:lnSpc>
            </a:pPr>
            <a:r>
              <a:rPr sz="1250" b="1" i="0">
                <a:solidFill>
                  <a:srgbClr val="065A82"/>
                </a:solidFill>
                <a:latin typeface="Arial"/>
              </a:rPr>
              <a:t>DECISIONS.MD</a:t>
            </a:r>
          </a:p>
        </p:txBody>
      </p:sp>
      <p:sp>
        <p:nvSpPr>
          <p:cNvPr id="10" name="Rounded Rectangle 9"/>
          <p:cNvSpPr/>
          <p:nvPr/>
        </p:nvSpPr>
        <p:spPr>
          <a:xfrm>
            <a:off x="4431791" y="2350008"/>
            <a:ext cx="3325368" cy="845820"/>
          </a:xfrm>
          <a:prstGeom prst="roundRect">
            <a:avLst>
              <a:gd name="adj" fmla="val 20000"/>
            </a:avLst>
          </a:prstGeom>
          <a:solidFill>
            <a:srgbClr val="ECF0F5"/>
          </a:solidFill>
          <a:ln w="1143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523232" y="2350008"/>
            <a:ext cx="3142488" cy="845820"/>
          </a:xfrm>
          <a:prstGeom prst="rect">
            <a:avLst/>
          </a:prstGeom>
          <a:noFill/>
        </p:spPr>
        <p:txBody>
          <a:bodyPr wrap="square" lIns="0" rIns="0" tIns="0" bIns="0" anchor="ctr">
            <a:spAutoFit/>
          </a:bodyPr>
          <a:lstStyle/>
          <a:p>
            <a:pPr algn="l">
              <a:lnSpc>
                <a:spcPct val="112000"/>
              </a:lnSpc>
            </a:pPr>
            <a:r>
              <a:rPr sz="1030" b="0" i="0">
                <a:solidFill>
                  <a:srgbClr val="21295C"/>
                </a:solidFill>
                <a:latin typeface="Arial"/>
              </a:rPr>
              <a:t>Не подключаем стороннюю библиотеку
валидации — форма из двух полей</a:t>
            </a:r>
          </a:p>
        </p:txBody>
      </p:sp>
      <p:sp>
        <p:nvSpPr>
          <p:cNvPr id="12" name="Rounded Rectangle 11"/>
          <p:cNvSpPr/>
          <p:nvPr/>
        </p:nvSpPr>
        <p:spPr>
          <a:xfrm>
            <a:off x="4431791" y="3287268"/>
            <a:ext cx="3325368" cy="845820"/>
          </a:xfrm>
          <a:prstGeom prst="roundRect">
            <a:avLst>
              <a:gd name="adj" fmla="val 20000"/>
            </a:avLst>
          </a:prstGeom>
          <a:solidFill>
            <a:srgbClr val="ECF0F5"/>
          </a:solidFill>
          <a:ln w="1143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523232" y="3287268"/>
            <a:ext cx="3142488" cy="845820"/>
          </a:xfrm>
          <a:prstGeom prst="rect">
            <a:avLst/>
          </a:prstGeom>
          <a:noFill/>
        </p:spPr>
        <p:txBody>
          <a:bodyPr wrap="square" lIns="0" rIns="0" tIns="0" bIns="0" anchor="ctr">
            <a:spAutoFit/>
          </a:bodyPr>
          <a:lstStyle/>
          <a:p>
            <a:pPr algn="l">
              <a:lnSpc>
                <a:spcPct val="112000"/>
              </a:lnSpc>
            </a:pPr>
            <a:r>
              <a:rPr sz="1030" b="0" i="0">
                <a:solidFill>
                  <a:srgbClr val="21295C"/>
                </a:solidFill>
                <a:latin typeface="Arial"/>
              </a:rPr>
              <a:t>Своего бэкенда не делаем — заявка
уходит на внешний сервис приёма форм</a:t>
            </a:r>
          </a:p>
        </p:txBody>
      </p:sp>
      <p:sp>
        <p:nvSpPr>
          <p:cNvPr id="14" name="Rounded Rectangle 13"/>
          <p:cNvSpPr/>
          <p:nvPr/>
        </p:nvSpPr>
        <p:spPr>
          <a:xfrm>
            <a:off x="8104632" y="1810512"/>
            <a:ext cx="3581400" cy="2468880"/>
          </a:xfrm>
          <a:prstGeom prst="roundRect">
            <a:avLst>
              <a:gd name="adj" fmla="val 12345"/>
            </a:avLst>
          </a:prstGeom>
          <a:solidFill>
            <a:srgbClr val="FEF5E0"/>
          </a:solidFill>
          <a:ln w="22860">
            <a:solidFill>
              <a:srgbClr val="8A620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250936" y="1920240"/>
            <a:ext cx="3288792" cy="310896"/>
          </a:xfrm>
          <a:prstGeom prst="rect">
            <a:avLst/>
          </a:prstGeom>
          <a:noFill/>
        </p:spPr>
        <p:txBody>
          <a:bodyPr wrap="square" lIns="0" rIns="0" tIns="0" bIns="0" anchor="t">
            <a:spAutoFit/>
          </a:bodyPr>
          <a:lstStyle/>
          <a:p>
            <a:pPr algn="ctr">
              <a:lnSpc>
                <a:spcPct val="115000"/>
              </a:lnSpc>
            </a:pPr>
            <a:r>
              <a:rPr sz="1250" b="1" i="0">
                <a:solidFill>
                  <a:srgbClr val="8A6200"/>
                </a:solidFill>
                <a:latin typeface="Arial"/>
              </a:rPr>
              <a:t>НИКУДА</a:t>
            </a:r>
          </a:p>
        </p:txBody>
      </p:sp>
      <p:sp>
        <p:nvSpPr>
          <p:cNvPr id="16" name="Rounded Rectangle 15"/>
          <p:cNvSpPr/>
          <p:nvPr/>
        </p:nvSpPr>
        <p:spPr>
          <a:xfrm>
            <a:off x="8232648" y="2350008"/>
            <a:ext cx="3325368" cy="845820"/>
          </a:xfrm>
          <a:prstGeom prst="roundRect">
            <a:avLst>
              <a:gd name="adj" fmla="val 20000"/>
            </a:avLst>
          </a:prstGeom>
          <a:solidFill>
            <a:srgbClr val="FFFFFF"/>
          </a:solidFill>
          <a:ln w="1143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324088" y="2350008"/>
            <a:ext cx="3142488" cy="845820"/>
          </a:xfrm>
          <a:prstGeom prst="rect">
            <a:avLst/>
          </a:prstGeom>
          <a:noFill/>
        </p:spPr>
        <p:txBody>
          <a:bodyPr wrap="square" lIns="0" rIns="0" tIns="0" bIns="0" anchor="ctr">
            <a:spAutoFit/>
          </a:bodyPr>
          <a:lstStyle/>
          <a:p>
            <a:pPr algn="l">
              <a:lnSpc>
                <a:spcPct val="112000"/>
              </a:lnSpc>
            </a:pPr>
            <a:r>
              <a:rPr sz="1030" b="0" i="0">
                <a:solidFill>
                  <a:srgbClr val="21295C"/>
                </a:solidFill>
                <a:latin typeface="Arial"/>
              </a:rPr>
              <a:t>Обработчик формы лежит
в src/main.js</a:t>
            </a:r>
          </a:p>
        </p:txBody>
      </p:sp>
      <p:sp>
        <p:nvSpPr>
          <p:cNvPr id="18" name="Rounded Rectangle 17"/>
          <p:cNvSpPr/>
          <p:nvPr/>
        </p:nvSpPr>
        <p:spPr>
          <a:xfrm>
            <a:off x="8232648" y="3287268"/>
            <a:ext cx="3325368" cy="845820"/>
          </a:xfrm>
          <a:prstGeom prst="roundRect">
            <a:avLst>
              <a:gd name="adj" fmla="val 20000"/>
            </a:avLst>
          </a:prstGeom>
          <a:solidFill>
            <a:srgbClr val="FFFFFF"/>
          </a:solidFill>
          <a:ln w="1143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324088" y="3287268"/>
            <a:ext cx="3142488" cy="845820"/>
          </a:xfrm>
          <a:prstGeom prst="rect">
            <a:avLst/>
          </a:prstGeom>
          <a:noFill/>
        </p:spPr>
        <p:txBody>
          <a:bodyPr wrap="square" lIns="0" rIns="0" tIns="0" bIns="0" anchor="ctr">
            <a:spAutoFit/>
          </a:bodyPr>
          <a:lstStyle/>
          <a:p>
            <a:pPr algn="l">
              <a:lnSpc>
                <a:spcPct val="112000"/>
              </a:lnSpc>
            </a:pPr>
            <a:r>
              <a:rPr sz="1030" b="0" i="0">
                <a:solidFill>
                  <a:srgbClr val="21295C"/>
                </a:solidFill>
                <a:latin typeface="Arial"/>
              </a:rPr>
              <a:t>19 сентября тест упал из-за
таймаута, увеличили ожидание</a:t>
            </a:r>
          </a:p>
        </p:txBody>
      </p:sp>
      <p:sp>
        <p:nvSpPr>
          <p:cNvPr id="20" name="Rounded Rectangle 19"/>
          <p:cNvSpPr/>
          <p:nvPr/>
        </p:nvSpPr>
        <p:spPr>
          <a:xfrm>
            <a:off x="502920" y="4507992"/>
            <a:ext cx="11183112" cy="1892808"/>
          </a:xfrm>
          <a:prstGeom prst="roundRect">
            <a:avLst>
              <a:gd name="adj" fmla="val 3500"/>
            </a:avLst>
          </a:prstGeom>
          <a:solidFill>
            <a:srgbClr val="161C30"/>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04088" y="4709159"/>
            <a:ext cx="10780776" cy="274320"/>
          </a:xfrm>
          <a:prstGeom prst="rect">
            <a:avLst/>
          </a:prstGeom>
          <a:noFill/>
        </p:spPr>
        <p:txBody>
          <a:bodyPr wrap="square" lIns="0" rIns="0" tIns="0" bIns="0" anchor="t">
            <a:spAutoFit/>
          </a:bodyPr>
          <a:lstStyle/>
          <a:p>
            <a:pPr algn="l">
              <a:lnSpc>
                <a:spcPct val="115000"/>
              </a:lnSpc>
            </a:pPr>
            <a:r>
              <a:rPr sz="1100" b="1" i="0">
                <a:solidFill>
                  <a:srgbClr val="028090"/>
                </a:solidFill>
                <a:latin typeface="Consolas"/>
              </a:rPr>
              <a:t>собранная запись — реальный файл демо-репозитория</a:t>
            </a:r>
          </a:p>
        </p:txBody>
      </p:sp>
      <p:sp>
        <p:nvSpPr>
          <p:cNvPr id="22" name="TextBox 21"/>
          <p:cNvSpPr txBox="1"/>
          <p:nvPr/>
        </p:nvSpPr>
        <p:spPr>
          <a:xfrm>
            <a:off x="704088" y="5020055"/>
            <a:ext cx="10780776" cy="1179576"/>
          </a:xfrm>
          <a:prstGeom prst="rect">
            <a:avLst/>
          </a:prstGeom>
          <a:noFill/>
        </p:spPr>
        <p:txBody>
          <a:bodyPr wrap="square" lIns="0" rIns="0" tIns="0" bIns="0" anchor="t">
            <a:spAutoFit/>
          </a:bodyPr>
          <a:lstStyle/>
          <a:p>
            <a:pPr algn="l">
              <a:lnSpc>
                <a:spcPct val="132000"/>
              </a:lnSpc>
              <a:spcAft>
                <a:spcPts val="200"/>
              </a:spcAft>
            </a:pPr>
            <a:r>
              <a:rPr sz="1150" b="1" i="0">
                <a:solidFill>
                  <a:srgbClr val="028090"/>
                </a:solidFill>
                <a:latin typeface="Consolas"/>
              </a:rPr>
              <a:t>## 2026-09-20 — не подключаем библиотеку валидации форм</a:t>
            </a:r>
          </a:p>
          <a:p>
            <a:pPr algn="l">
              <a:lnSpc>
                <a:spcPct val="132000"/>
              </a:lnSpc>
              <a:spcAft>
                <a:spcPts val="200"/>
              </a:spcAft>
            </a:pPr>
            <a:r>
              <a:rPr sz="1150" b="0" i="0">
                <a:solidFill>
                  <a:srgbClr val="E3E9F2"/>
                </a:solidFill>
                <a:latin typeface="Consolas"/>
              </a:rPr>
              <a:t>Форма — два поля (имя, email), хватает нативных required/pattern в</a:t>
            </a:r>
          </a:p>
          <a:p>
            <a:pPr algn="l">
              <a:lnSpc>
                <a:spcPct val="132000"/>
              </a:lnSpc>
              <a:spcAft>
                <a:spcPts val="200"/>
              </a:spcAft>
            </a:pPr>
            <a:r>
              <a:rPr sz="1150" b="0" i="0">
                <a:solidFill>
                  <a:srgbClr val="E3E9F2"/>
                </a:solidFill>
                <a:latin typeface="Consolas"/>
              </a:rPr>
              <a:t>index.html. Сторонняя библиотека — лишняя зависимость ради этого объёма.</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29184"/>
            <a:ext cx="10515600" cy="292608"/>
          </a:xfrm>
          <a:prstGeom prst="rect">
            <a:avLst/>
          </a:prstGeom>
          <a:noFill/>
        </p:spPr>
        <p:txBody>
          <a:bodyPr wrap="square" lIns="0" rIns="0" tIns="0" bIns="0" anchor="t">
            <a:spAutoFit/>
          </a:bodyPr>
          <a:lstStyle/>
          <a:p>
            <a:pPr algn="l">
              <a:lnSpc>
                <a:spcPct val="115000"/>
              </a:lnSpc>
            </a:pPr>
            <a:r>
              <a:rPr sz="1150" b="1" i="0">
                <a:solidFill>
                  <a:srgbClr val="028090"/>
                </a:solidFill>
                <a:latin typeface="Arial"/>
              </a:rPr>
              <a:t>КЕЙС 2.1 · РЕШЕНИЕ</a:t>
            </a:r>
          </a:p>
        </p:txBody>
      </p:sp>
      <p:sp>
        <p:nvSpPr>
          <p:cNvPr id="3" name="TextBox 2"/>
          <p:cNvSpPr txBox="1"/>
          <p:nvPr/>
        </p:nvSpPr>
        <p:spPr>
          <a:xfrm>
            <a:off x="502920" y="640080"/>
            <a:ext cx="11183112" cy="868680"/>
          </a:xfrm>
          <a:prstGeom prst="rect">
            <a:avLst/>
          </a:prstGeom>
          <a:noFill/>
        </p:spPr>
        <p:txBody>
          <a:bodyPr wrap="square" lIns="0" rIns="0" tIns="0" bIns="0" anchor="t">
            <a:spAutoFit/>
          </a:bodyPr>
          <a:lstStyle/>
          <a:p>
            <a:pPr algn="l">
              <a:lnSpc>
                <a:spcPct val="114000"/>
              </a:lnSpc>
            </a:pPr>
            <a:r>
              <a:rPr sz="1900" b="1" i="0">
                <a:solidFill>
                  <a:srgbClr val="21295C"/>
                </a:solidFill>
                <a:latin typeface="Arial"/>
              </a:rPr>
              <a:t>Новое — не файл (он с нами с первого дня), а первая содержательная запись в нём</a:t>
            </a:r>
          </a:p>
        </p:txBody>
      </p:sp>
      <p:sp>
        <p:nvSpPr>
          <p:cNvPr id="4" name="Rounded Rectangle 3"/>
          <p:cNvSpPr/>
          <p:nvPr/>
        </p:nvSpPr>
        <p:spPr>
          <a:xfrm>
            <a:off x="502920" y="1673351"/>
            <a:ext cx="6126480" cy="4069080"/>
          </a:xfrm>
          <a:prstGeom prst="roundRect">
            <a:avLst>
              <a:gd name="adj" fmla="val 3500"/>
            </a:avLst>
          </a:prstGeom>
          <a:solidFill>
            <a:srgbClr val="161C30"/>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04088" y="1874519"/>
            <a:ext cx="5724144" cy="274320"/>
          </a:xfrm>
          <a:prstGeom prst="rect">
            <a:avLst/>
          </a:prstGeom>
          <a:noFill/>
        </p:spPr>
        <p:txBody>
          <a:bodyPr wrap="square" lIns="0" rIns="0" tIns="0" bIns="0" anchor="t">
            <a:spAutoFit/>
          </a:bodyPr>
          <a:lstStyle/>
          <a:p>
            <a:pPr algn="l">
              <a:lnSpc>
                <a:spcPct val="115000"/>
              </a:lnSpc>
            </a:pPr>
            <a:r>
              <a:rPr sz="1100" b="1" i="0">
                <a:solidFill>
                  <a:srgbClr val="028090"/>
                </a:solidFill>
                <a:latin typeface="Consolas"/>
              </a:rPr>
              <a:t>DECISIONS.md — целиком</a:t>
            </a:r>
          </a:p>
        </p:txBody>
      </p:sp>
      <p:sp>
        <p:nvSpPr>
          <p:cNvPr id="6" name="TextBox 5"/>
          <p:cNvSpPr txBox="1"/>
          <p:nvPr/>
        </p:nvSpPr>
        <p:spPr>
          <a:xfrm>
            <a:off x="704088" y="2185415"/>
            <a:ext cx="5724144" cy="3355848"/>
          </a:xfrm>
          <a:prstGeom prst="rect">
            <a:avLst/>
          </a:prstGeom>
          <a:noFill/>
        </p:spPr>
        <p:txBody>
          <a:bodyPr wrap="square" lIns="0" rIns="0" tIns="0" bIns="0" anchor="t">
            <a:spAutoFit/>
          </a:bodyPr>
          <a:lstStyle/>
          <a:p>
            <a:pPr algn="l">
              <a:lnSpc>
                <a:spcPct val="132000"/>
              </a:lnSpc>
              <a:spcAft>
                <a:spcPts val="200"/>
              </a:spcAft>
            </a:pPr>
            <a:r>
              <a:rPr sz="1100" b="1" i="0">
                <a:solidFill>
                  <a:srgbClr val="028090"/>
                </a:solidFill>
                <a:latin typeface="Consolas"/>
              </a:rPr>
              <a:t># Decisions</a:t>
            </a:r>
          </a:p>
          <a:p>
            <a:pPr algn="l">
              <a:lnSpc>
                <a:spcPct val="132000"/>
              </a:lnSpc>
              <a:spcAft>
                <a:spcPts val="200"/>
              </a:spcAft>
            </a:pPr>
            <a:r>
              <a:rPr sz="1100" b="0" i="0">
                <a:solidFill>
                  <a:srgbClr val="E3E9F2"/>
                </a:solidFill>
                <a:latin typeface="Consolas"/>
              </a:rPr>
              <a:t/>
            </a:r>
          </a:p>
          <a:p>
            <a:pPr algn="l">
              <a:lnSpc>
                <a:spcPct val="132000"/>
              </a:lnSpc>
              <a:spcAft>
                <a:spcPts val="200"/>
              </a:spcAft>
            </a:pPr>
            <a:r>
              <a:rPr sz="1100" b="0" i="0">
                <a:solidFill>
                  <a:srgbClr val="8B9BB4"/>
                </a:solidFill>
                <a:latin typeface="Consolas"/>
              </a:rPr>
              <a:t>Append-only log of why, in date order.</a:t>
            </a:r>
          </a:p>
          <a:p>
            <a:pPr algn="l">
              <a:lnSpc>
                <a:spcPct val="132000"/>
              </a:lnSpc>
              <a:spcAft>
                <a:spcPts val="200"/>
              </a:spcAft>
            </a:pPr>
            <a:r>
              <a:rPr sz="1100" b="0" i="0">
                <a:solidFill>
                  <a:srgbClr val="E3E9F2"/>
                </a:solidFill>
                <a:latin typeface="Consolas"/>
              </a:rPr>
              <a:t/>
            </a:r>
          </a:p>
          <a:p>
            <a:pPr algn="l">
              <a:lnSpc>
                <a:spcPct val="132000"/>
              </a:lnSpc>
              <a:spcAft>
                <a:spcPts val="200"/>
              </a:spcAft>
            </a:pPr>
            <a:r>
              <a:rPr sz="1100" b="1" i="0">
                <a:solidFill>
                  <a:srgbClr val="028090"/>
                </a:solidFill>
                <a:latin typeface="Consolas"/>
              </a:rPr>
              <a:t>## 2026-09-20 — не подключаем библиотеку валидации форм</a:t>
            </a:r>
          </a:p>
          <a:p>
            <a:pPr algn="l">
              <a:lnSpc>
                <a:spcPct val="132000"/>
              </a:lnSpc>
              <a:spcAft>
                <a:spcPts val="200"/>
              </a:spcAft>
            </a:pPr>
            <a:r>
              <a:rPr sz="1100" b="0" i="0">
                <a:solidFill>
                  <a:srgbClr val="E3E9F2"/>
                </a:solidFill>
                <a:latin typeface="Consolas"/>
              </a:rPr>
              <a:t>Форма — два поля (имя, email), хватает нативных required/pattern</a:t>
            </a:r>
          </a:p>
          <a:p>
            <a:pPr algn="l">
              <a:lnSpc>
                <a:spcPct val="132000"/>
              </a:lnSpc>
              <a:spcAft>
                <a:spcPts val="200"/>
              </a:spcAft>
            </a:pPr>
            <a:r>
              <a:rPr sz="1100" b="0" i="0">
                <a:solidFill>
                  <a:srgbClr val="E3E9F2"/>
                </a:solidFill>
                <a:latin typeface="Consolas"/>
              </a:rPr>
              <a:t>в index.html. Сторонняя библиотека — лишняя зависимость и лишние</a:t>
            </a:r>
          </a:p>
          <a:p>
            <a:pPr algn="l">
              <a:lnSpc>
                <a:spcPct val="132000"/>
              </a:lnSpc>
              <a:spcAft>
                <a:spcPts val="200"/>
              </a:spcAft>
            </a:pPr>
            <a:r>
              <a:rPr sz="1100" b="0" i="0">
                <a:solidFill>
                  <a:srgbClr val="E3E9F2"/>
                </a:solidFill>
                <a:latin typeface="Consolas"/>
              </a:rPr>
              <a:t>килобайты в сборке ради этого объёма.</a:t>
            </a:r>
          </a:p>
        </p:txBody>
      </p:sp>
      <p:sp>
        <p:nvSpPr>
          <p:cNvPr id="7" name="Rounded Rectangle 6"/>
          <p:cNvSpPr/>
          <p:nvPr/>
        </p:nvSpPr>
        <p:spPr>
          <a:xfrm>
            <a:off x="6903720" y="1673351"/>
            <a:ext cx="4782312" cy="4069080"/>
          </a:xfrm>
          <a:prstGeom prst="roundRect">
            <a:avLst>
              <a:gd name="adj" fmla="val 3500"/>
            </a:avLst>
          </a:prstGeom>
          <a:solidFill>
            <a:srgbClr val="161C30"/>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104888" y="1874519"/>
            <a:ext cx="4379976" cy="274320"/>
          </a:xfrm>
          <a:prstGeom prst="rect">
            <a:avLst/>
          </a:prstGeom>
          <a:noFill/>
        </p:spPr>
        <p:txBody>
          <a:bodyPr wrap="square" lIns="0" rIns="0" tIns="0" bIns="0" anchor="t">
            <a:spAutoFit/>
          </a:bodyPr>
          <a:lstStyle/>
          <a:p>
            <a:pPr algn="l">
              <a:lnSpc>
                <a:spcPct val="115000"/>
              </a:lnSpc>
            </a:pPr>
            <a:r>
              <a:rPr sz="1100" b="1" i="0">
                <a:solidFill>
                  <a:srgbClr val="028090"/>
                </a:solidFill>
                <a:latin typeface="Consolas"/>
              </a:rPr>
              <a:t>дерево кейса 2.1</a:t>
            </a:r>
          </a:p>
        </p:txBody>
      </p:sp>
      <p:sp>
        <p:nvSpPr>
          <p:cNvPr id="9" name="TextBox 8"/>
          <p:cNvSpPr txBox="1"/>
          <p:nvPr/>
        </p:nvSpPr>
        <p:spPr>
          <a:xfrm>
            <a:off x="7104888" y="2185415"/>
            <a:ext cx="4379976" cy="3355848"/>
          </a:xfrm>
          <a:prstGeom prst="rect">
            <a:avLst/>
          </a:prstGeom>
          <a:noFill/>
        </p:spPr>
        <p:txBody>
          <a:bodyPr wrap="square" lIns="0" rIns="0" tIns="0" bIns="0" anchor="t">
            <a:spAutoFit/>
          </a:bodyPr>
          <a:lstStyle/>
          <a:p>
            <a:pPr algn="l">
              <a:lnSpc>
                <a:spcPct val="132000"/>
              </a:lnSpc>
              <a:spcAft>
                <a:spcPts val="200"/>
              </a:spcAft>
            </a:pPr>
            <a:r>
              <a:rPr sz="1050" b="0" i="0">
                <a:solidFill>
                  <a:srgbClr val="E3E9F2"/>
                </a:solidFill>
                <a:latin typeface="Consolas"/>
              </a:rPr>
              <a:t>AGENTS.md</a:t>
            </a:r>
          </a:p>
          <a:p>
            <a:pPr algn="l">
              <a:lnSpc>
                <a:spcPct val="132000"/>
              </a:lnSpc>
              <a:spcAft>
                <a:spcPts val="200"/>
              </a:spcAft>
            </a:pPr>
            <a:r>
              <a:rPr sz="1050" b="0" i="0">
                <a:solidFill>
                  <a:srgbClr val="E3E9F2"/>
                </a:solidFill>
                <a:latin typeface="Consolas"/>
              </a:rPr>
              <a:t>CLAUDE.md</a:t>
            </a:r>
          </a:p>
          <a:p>
            <a:pPr algn="l">
              <a:lnSpc>
                <a:spcPct val="132000"/>
              </a:lnSpc>
              <a:spcAft>
                <a:spcPts val="200"/>
              </a:spcAft>
            </a:pPr>
            <a:r>
              <a:rPr sz="1050" b="1" i="0">
                <a:solidFill>
                  <a:srgbClr val="F0AB00"/>
                </a:solidFill>
                <a:latin typeface="Consolas"/>
              </a:rPr>
              <a:t>DECISIONS.md</a:t>
            </a:r>
          </a:p>
          <a:p>
            <a:pPr algn="l">
              <a:lnSpc>
                <a:spcPct val="132000"/>
              </a:lnSpc>
              <a:spcAft>
                <a:spcPts val="200"/>
              </a:spcAft>
            </a:pPr>
            <a:r>
              <a:rPr sz="1050" b="0" i="0">
                <a:solidFill>
                  <a:srgbClr val="E3E9F2"/>
                </a:solidFill>
                <a:latin typeface="Consolas"/>
              </a:rPr>
              <a:t>index.html</a:t>
            </a:r>
          </a:p>
          <a:p>
            <a:pPr algn="l">
              <a:lnSpc>
                <a:spcPct val="132000"/>
              </a:lnSpc>
              <a:spcAft>
                <a:spcPts val="200"/>
              </a:spcAft>
            </a:pPr>
            <a:r>
              <a:rPr sz="1050" b="0" i="0">
                <a:solidFill>
                  <a:srgbClr val="E3E9F2"/>
                </a:solidFill>
                <a:latin typeface="Consolas"/>
              </a:rPr>
              <a:t>package.json</a:t>
            </a:r>
          </a:p>
          <a:p>
            <a:pPr algn="l">
              <a:lnSpc>
                <a:spcPct val="132000"/>
              </a:lnSpc>
              <a:spcAft>
                <a:spcPts val="200"/>
              </a:spcAft>
            </a:pPr>
            <a:r>
              <a:rPr sz="1050" b="0" i="0">
                <a:solidFill>
                  <a:srgbClr val="E3E9F2"/>
                </a:solidFill>
                <a:latin typeface="Consolas"/>
              </a:rPr>
              <a:t>src/main.js</a:t>
            </a:r>
          </a:p>
          <a:p>
            <a:pPr algn="l">
              <a:lnSpc>
                <a:spcPct val="132000"/>
              </a:lnSpc>
              <a:spcAft>
                <a:spcPts val="200"/>
              </a:spcAft>
            </a:pPr>
            <a:r>
              <a:rPr sz="1050" b="0" i="0">
                <a:solidFill>
                  <a:srgbClr val="E3E9F2"/>
                </a:solidFill>
                <a:latin typeface="Consolas"/>
              </a:rPr>
              <a:t>tests/form.spec.ts</a:t>
            </a:r>
          </a:p>
          <a:p>
            <a:pPr algn="l">
              <a:lnSpc>
                <a:spcPct val="132000"/>
              </a:lnSpc>
              <a:spcAft>
                <a:spcPts val="200"/>
              </a:spcAft>
            </a:pPr>
            <a:r>
              <a:rPr sz="1050" b="1" i="0">
                <a:solidFill>
                  <a:srgbClr val="8B9BB4"/>
                </a:solidFill>
                <a:latin typeface="Consolas"/>
              </a:rPr>
              <a:t># + spec.md, README.md (раздел 0) — не в этом git-дереве</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29184"/>
            <a:ext cx="10515600" cy="292608"/>
          </a:xfrm>
          <a:prstGeom prst="rect">
            <a:avLst/>
          </a:prstGeom>
          <a:noFill/>
        </p:spPr>
        <p:txBody>
          <a:bodyPr wrap="square" lIns="0" rIns="0" tIns="0" bIns="0" anchor="t">
            <a:spAutoFit/>
          </a:bodyPr>
          <a:lstStyle/>
          <a:p>
            <a:pPr algn="l">
              <a:lnSpc>
                <a:spcPct val="115000"/>
              </a:lnSpc>
            </a:pPr>
            <a:r>
              <a:rPr sz="1150" b="1" i="0">
                <a:solidFill>
                  <a:srgbClr val="028090"/>
                </a:solidFill>
                <a:latin typeface="Arial"/>
              </a:rPr>
              <a:t>КЕЙС 2.1 · ТРИ СЛОЯ</a:t>
            </a:r>
          </a:p>
        </p:txBody>
      </p:sp>
      <p:sp>
        <p:nvSpPr>
          <p:cNvPr id="3" name="TextBox 2"/>
          <p:cNvSpPr txBox="1"/>
          <p:nvPr/>
        </p:nvSpPr>
        <p:spPr>
          <a:xfrm>
            <a:off x="502920" y="640080"/>
            <a:ext cx="11183112" cy="1005840"/>
          </a:xfrm>
          <a:prstGeom prst="rect">
            <a:avLst/>
          </a:prstGeom>
          <a:noFill/>
        </p:spPr>
        <p:txBody>
          <a:bodyPr wrap="square" lIns="0" rIns="0" tIns="0" bIns="0" anchor="t">
            <a:spAutoFit/>
          </a:bodyPr>
          <a:lstStyle/>
          <a:p>
            <a:pPr algn="l">
              <a:lnSpc>
                <a:spcPct val="114000"/>
              </a:lnSpc>
            </a:pPr>
            <a:r>
              <a:rPr sz="1650" b="1" i="0">
                <a:solidFill>
                  <a:srgbClr val="21295C"/>
                </a:solidFill>
                <a:latin typeface="Arial"/>
              </a:rPr>
              <a:t>Разница между слоями не в формате — оба markdown, — а в том, кто инициирует запись и кто её потом увидит</a:t>
            </a:r>
          </a:p>
        </p:txBody>
      </p:sp>
      <p:sp>
        <p:nvSpPr>
          <p:cNvPr id="4" name="Rounded Rectangle 3"/>
          <p:cNvSpPr/>
          <p:nvPr/>
        </p:nvSpPr>
        <p:spPr>
          <a:xfrm>
            <a:off x="502920" y="1810512"/>
            <a:ext cx="11183112" cy="3246120"/>
          </a:xfrm>
          <a:prstGeom prst="roundRect">
            <a:avLst>
              <a:gd name="adj" fmla="val 9389"/>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85800" y="1993392"/>
            <a:ext cx="2306665" cy="329184"/>
          </a:xfrm>
          <a:prstGeom prst="rect">
            <a:avLst/>
          </a:prstGeom>
          <a:noFill/>
        </p:spPr>
        <p:txBody>
          <a:bodyPr wrap="square" lIns="0" rIns="0" tIns="0" bIns="0" anchor="t">
            <a:spAutoFit/>
          </a:bodyPr>
          <a:lstStyle/>
          <a:p>
            <a:pPr algn="l">
              <a:lnSpc>
                <a:spcPct val="115000"/>
              </a:lnSpc>
            </a:pPr>
            <a:r>
              <a:rPr sz="1150" b="1" i="0">
                <a:solidFill>
                  <a:srgbClr val="6B7685"/>
                </a:solidFill>
                <a:latin typeface="Arial"/>
              </a:rPr>
              <a:t/>
            </a:r>
          </a:p>
        </p:txBody>
      </p:sp>
      <p:sp>
        <p:nvSpPr>
          <p:cNvPr id="6" name="TextBox 5"/>
          <p:cNvSpPr txBox="1"/>
          <p:nvPr/>
        </p:nvSpPr>
        <p:spPr>
          <a:xfrm>
            <a:off x="3065617" y="1993392"/>
            <a:ext cx="2739359" cy="329184"/>
          </a:xfrm>
          <a:prstGeom prst="rect">
            <a:avLst/>
          </a:prstGeom>
          <a:noFill/>
        </p:spPr>
        <p:txBody>
          <a:bodyPr wrap="square" lIns="0" rIns="0" tIns="0" bIns="0" anchor="t">
            <a:spAutoFit/>
          </a:bodyPr>
          <a:lstStyle/>
          <a:p>
            <a:pPr algn="l">
              <a:lnSpc>
                <a:spcPct val="115000"/>
              </a:lnSpc>
            </a:pPr>
            <a:r>
              <a:rPr sz="1150" b="1" i="0">
                <a:solidFill>
                  <a:srgbClr val="6B7685"/>
                </a:solidFill>
                <a:latin typeface="Arial"/>
              </a:rPr>
              <a:t>Файл инструкций</a:t>
            </a:r>
          </a:p>
        </p:txBody>
      </p:sp>
      <p:sp>
        <p:nvSpPr>
          <p:cNvPr id="7" name="TextBox 6"/>
          <p:cNvSpPr txBox="1"/>
          <p:nvPr/>
        </p:nvSpPr>
        <p:spPr>
          <a:xfrm>
            <a:off x="5878128" y="1993392"/>
            <a:ext cx="2739359" cy="329184"/>
          </a:xfrm>
          <a:prstGeom prst="rect">
            <a:avLst/>
          </a:prstGeom>
          <a:noFill/>
        </p:spPr>
        <p:txBody>
          <a:bodyPr wrap="square" lIns="0" rIns="0" tIns="0" bIns="0" anchor="t">
            <a:spAutoFit/>
          </a:bodyPr>
          <a:lstStyle/>
          <a:p>
            <a:pPr algn="l">
              <a:lnSpc>
                <a:spcPct val="115000"/>
              </a:lnSpc>
            </a:pPr>
            <a:r>
              <a:rPr sz="1150" b="1" i="0">
                <a:solidFill>
                  <a:srgbClr val="6B7685"/>
                </a:solidFill>
                <a:latin typeface="Arial"/>
              </a:rPr>
              <a:t>Авто-память</a:t>
            </a:r>
          </a:p>
        </p:txBody>
      </p:sp>
      <p:sp>
        <p:nvSpPr>
          <p:cNvPr id="8" name="TextBox 7"/>
          <p:cNvSpPr txBox="1"/>
          <p:nvPr/>
        </p:nvSpPr>
        <p:spPr>
          <a:xfrm>
            <a:off x="8690640" y="1993392"/>
            <a:ext cx="2739359" cy="329184"/>
          </a:xfrm>
          <a:prstGeom prst="rect">
            <a:avLst/>
          </a:prstGeom>
          <a:noFill/>
        </p:spPr>
        <p:txBody>
          <a:bodyPr wrap="square" lIns="0" rIns="0" tIns="0" bIns="0" anchor="t">
            <a:spAutoFit/>
          </a:bodyPr>
          <a:lstStyle/>
          <a:p>
            <a:pPr algn="l">
              <a:lnSpc>
                <a:spcPct val="115000"/>
              </a:lnSpc>
            </a:pPr>
            <a:r>
              <a:rPr sz="1150" b="1" i="0">
                <a:solidFill>
                  <a:srgbClr val="6B7685"/>
                </a:solidFill>
                <a:latin typeface="Arial"/>
              </a:rPr>
              <a:t>DECISIONS.md</a:t>
            </a:r>
          </a:p>
        </p:txBody>
      </p:sp>
      <p:sp>
        <p:nvSpPr>
          <p:cNvPr id="9" name="TextBox 8"/>
          <p:cNvSpPr txBox="1"/>
          <p:nvPr/>
        </p:nvSpPr>
        <p:spPr>
          <a:xfrm>
            <a:off x="685800" y="2377440"/>
            <a:ext cx="2288377" cy="416051"/>
          </a:xfrm>
          <a:prstGeom prst="rect">
            <a:avLst/>
          </a:prstGeom>
          <a:noFill/>
        </p:spPr>
        <p:txBody>
          <a:bodyPr wrap="square" lIns="0" rIns="0" tIns="0" bIns="0" anchor="ctr">
            <a:spAutoFit/>
          </a:bodyPr>
          <a:lstStyle/>
          <a:p>
            <a:pPr algn="l">
              <a:lnSpc>
                <a:spcPct val="115000"/>
              </a:lnSpc>
            </a:pPr>
            <a:r>
              <a:rPr sz="1050" b="0" i="0">
                <a:solidFill>
                  <a:srgbClr val="21295C"/>
                </a:solidFill>
                <a:latin typeface="Arial"/>
              </a:rPr>
              <a:t>Кто автор</a:t>
            </a:r>
          </a:p>
        </p:txBody>
      </p:sp>
      <p:sp>
        <p:nvSpPr>
          <p:cNvPr id="10" name="TextBox 9"/>
          <p:cNvSpPr txBox="1"/>
          <p:nvPr/>
        </p:nvSpPr>
        <p:spPr>
          <a:xfrm>
            <a:off x="3065617" y="2377440"/>
            <a:ext cx="2721071" cy="416051"/>
          </a:xfrm>
          <a:prstGeom prst="rect">
            <a:avLst/>
          </a:prstGeom>
          <a:noFill/>
        </p:spPr>
        <p:txBody>
          <a:bodyPr wrap="square" lIns="0" rIns="0" tIns="0" bIns="0" anchor="ctr">
            <a:spAutoFit/>
          </a:bodyPr>
          <a:lstStyle/>
          <a:p>
            <a:pPr algn="l">
              <a:lnSpc>
                <a:spcPct val="115000"/>
              </a:lnSpc>
            </a:pPr>
            <a:r>
              <a:rPr sz="1050" b="0" i="0">
                <a:solidFill>
                  <a:srgbClr val="21295C"/>
                </a:solidFill>
                <a:latin typeface="Arial"/>
              </a:rPr>
              <a:t>вы, заранее</a:t>
            </a:r>
          </a:p>
        </p:txBody>
      </p:sp>
      <p:sp>
        <p:nvSpPr>
          <p:cNvPr id="11" name="TextBox 10"/>
          <p:cNvSpPr txBox="1"/>
          <p:nvPr/>
        </p:nvSpPr>
        <p:spPr>
          <a:xfrm>
            <a:off x="5878128" y="2377440"/>
            <a:ext cx="2721071" cy="416051"/>
          </a:xfrm>
          <a:prstGeom prst="rect">
            <a:avLst/>
          </a:prstGeom>
          <a:noFill/>
        </p:spPr>
        <p:txBody>
          <a:bodyPr wrap="square" lIns="0" rIns="0" tIns="0" bIns="0" anchor="ctr">
            <a:spAutoFit/>
          </a:bodyPr>
          <a:lstStyle/>
          <a:p>
            <a:pPr algn="l">
              <a:lnSpc>
                <a:spcPct val="115000"/>
              </a:lnSpc>
            </a:pPr>
            <a:r>
              <a:rPr sz="1050" b="0" i="0">
                <a:solidFill>
                  <a:srgbClr val="21295C"/>
                </a:solidFill>
                <a:latin typeface="Arial"/>
              </a:rPr>
              <a:t>агент, по ходу</a:t>
            </a:r>
          </a:p>
        </p:txBody>
      </p:sp>
      <p:sp>
        <p:nvSpPr>
          <p:cNvPr id="12" name="TextBox 11"/>
          <p:cNvSpPr txBox="1"/>
          <p:nvPr/>
        </p:nvSpPr>
        <p:spPr>
          <a:xfrm>
            <a:off x="8690640" y="2377440"/>
            <a:ext cx="2721071" cy="416051"/>
          </a:xfrm>
          <a:prstGeom prst="rect">
            <a:avLst/>
          </a:prstGeom>
          <a:noFill/>
        </p:spPr>
        <p:txBody>
          <a:bodyPr wrap="square" lIns="0" rIns="0" tIns="0" bIns="0" anchor="ctr">
            <a:spAutoFit/>
          </a:bodyPr>
          <a:lstStyle/>
          <a:p>
            <a:pPr algn="l">
              <a:lnSpc>
                <a:spcPct val="115000"/>
              </a:lnSpc>
            </a:pPr>
            <a:r>
              <a:rPr sz="1050" b="0" i="0">
                <a:solidFill>
                  <a:srgbClr val="21295C"/>
                </a:solidFill>
                <a:latin typeface="Arial"/>
              </a:rPr>
              <a:t>вы, в момент решения</a:t>
            </a:r>
          </a:p>
        </p:txBody>
      </p:sp>
      <p:cxnSp>
        <p:nvCxnSpPr>
          <p:cNvPr id="13" name="Connector 12"/>
          <p:cNvCxnSpPr/>
          <p:nvPr/>
        </p:nvCxnSpPr>
        <p:spPr>
          <a:xfrm>
            <a:off x="685800" y="2793492"/>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4" name="TextBox 13"/>
          <p:cNvSpPr txBox="1"/>
          <p:nvPr/>
        </p:nvSpPr>
        <p:spPr>
          <a:xfrm>
            <a:off x="685800" y="2793492"/>
            <a:ext cx="2288377" cy="416051"/>
          </a:xfrm>
          <a:prstGeom prst="rect">
            <a:avLst/>
          </a:prstGeom>
          <a:noFill/>
        </p:spPr>
        <p:txBody>
          <a:bodyPr wrap="square" lIns="0" rIns="0" tIns="0" bIns="0" anchor="ctr">
            <a:spAutoFit/>
          </a:bodyPr>
          <a:lstStyle/>
          <a:p>
            <a:pPr algn="l">
              <a:lnSpc>
                <a:spcPct val="115000"/>
              </a:lnSpc>
            </a:pPr>
            <a:r>
              <a:rPr sz="1050" b="0" i="0">
                <a:solidFill>
                  <a:srgbClr val="21295C"/>
                </a:solidFill>
                <a:latin typeface="Arial"/>
              </a:rPr>
              <a:t>Где живёт</a:t>
            </a:r>
          </a:p>
        </p:txBody>
      </p:sp>
      <p:sp>
        <p:nvSpPr>
          <p:cNvPr id="15" name="TextBox 14"/>
          <p:cNvSpPr txBox="1"/>
          <p:nvPr/>
        </p:nvSpPr>
        <p:spPr>
          <a:xfrm>
            <a:off x="3065617" y="2793492"/>
            <a:ext cx="2721071" cy="416051"/>
          </a:xfrm>
          <a:prstGeom prst="rect">
            <a:avLst/>
          </a:prstGeom>
          <a:noFill/>
        </p:spPr>
        <p:txBody>
          <a:bodyPr wrap="square" lIns="0" rIns="0" tIns="0" bIns="0" anchor="ctr">
            <a:spAutoFit/>
          </a:bodyPr>
          <a:lstStyle/>
          <a:p>
            <a:pPr algn="l">
              <a:lnSpc>
                <a:spcPct val="115000"/>
              </a:lnSpc>
            </a:pPr>
            <a:r>
              <a:rPr sz="1050" b="0" i="0">
                <a:solidFill>
                  <a:srgbClr val="21295C"/>
                </a:solidFill>
                <a:latin typeface="Arial"/>
              </a:rPr>
              <a:t>в репозитории, git</a:t>
            </a:r>
          </a:p>
        </p:txBody>
      </p:sp>
      <p:sp>
        <p:nvSpPr>
          <p:cNvPr id="16" name="TextBox 15"/>
          <p:cNvSpPr txBox="1"/>
          <p:nvPr/>
        </p:nvSpPr>
        <p:spPr>
          <a:xfrm>
            <a:off x="5878128" y="2793492"/>
            <a:ext cx="2721071" cy="416051"/>
          </a:xfrm>
          <a:prstGeom prst="rect">
            <a:avLst/>
          </a:prstGeom>
          <a:noFill/>
        </p:spPr>
        <p:txBody>
          <a:bodyPr wrap="square" lIns="0" rIns="0" tIns="0" bIns="0" anchor="ctr">
            <a:spAutoFit/>
          </a:bodyPr>
          <a:lstStyle/>
          <a:p>
            <a:pPr algn="l">
              <a:lnSpc>
                <a:spcPct val="115000"/>
              </a:lnSpc>
            </a:pPr>
            <a:r>
              <a:rPr sz="1050" b="0" i="0">
                <a:solidFill>
                  <a:srgbClr val="21295C"/>
                </a:solidFill>
                <a:latin typeface="Arial"/>
              </a:rPr>
              <a:t>вне репозитория, на этой машине</a:t>
            </a:r>
          </a:p>
        </p:txBody>
      </p:sp>
      <p:sp>
        <p:nvSpPr>
          <p:cNvPr id="17" name="TextBox 16"/>
          <p:cNvSpPr txBox="1"/>
          <p:nvPr/>
        </p:nvSpPr>
        <p:spPr>
          <a:xfrm>
            <a:off x="8690640" y="2793492"/>
            <a:ext cx="2721071" cy="416051"/>
          </a:xfrm>
          <a:prstGeom prst="rect">
            <a:avLst/>
          </a:prstGeom>
          <a:noFill/>
        </p:spPr>
        <p:txBody>
          <a:bodyPr wrap="square" lIns="0" rIns="0" tIns="0" bIns="0" anchor="ctr">
            <a:spAutoFit/>
          </a:bodyPr>
          <a:lstStyle/>
          <a:p>
            <a:pPr algn="l">
              <a:lnSpc>
                <a:spcPct val="115000"/>
              </a:lnSpc>
            </a:pPr>
            <a:r>
              <a:rPr sz="1050" b="0" i="0">
                <a:solidFill>
                  <a:srgbClr val="21295C"/>
                </a:solidFill>
                <a:latin typeface="Arial"/>
              </a:rPr>
              <a:t>в репозитории, git</a:t>
            </a:r>
          </a:p>
        </p:txBody>
      </p:sp>
      <p:cxnSp>
        <p:nvCxnSpPr>
          <p:cNvPr id="18" name="Connector 17"/>
          <p:cNvCxnSpPr/>
          <p:nvPr/>
        </p:nvCxnSpPr>
        <p:spPr>
          <a:xfrm>
            <a:off x="685800" y="3209544"/>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685800" y="3209544"/>
            <a:ext cx="2288377" cy="416051"/>
          </a:xfrm>
          <a:prstGeom prst="rect">
            <a:avLst/>
          </a:prstGeom>
          <a:noFill/>
        </p:spPr>
        <p:txBody>
          <a:bodyPr wrap="square" lIns="0" rIns="0" tIns="0" bIns="0" anchor="ctr">
            <a:spAutoFit/>
          </a:bodyPr>
          <a:lstStyle/>
          <a:p>
            <a:pPr algn="l">
              <a:lnSpc>
                <a:spcPct val="115000"/>
              </a:lnSpc>
            </a:pPr>
            <a:r>
              <a:rPr sz="1050" b="0" i="0">
                <a:solidFill>
                  <a:srgbClr val="21295C"/>
                </a:solidFill>
                <a:latin typeface="Arial"/>
              </a:rPr>
              <a:t>Что грузится</a:t>
            </a:r>
          </a:p>
        </p:txBody>
      </p:sp>
      <p:sp>
        <p:nvSpPr>
          <p:cNvPr id="20" name="TextBox 19"/>
          <p:cNvSpPr txBox="1"/>
          <p:nvPr/>
        </p:nvSpPr>
        <p:spPr>
          <a:xfrm>
            <a:off x="3065617" y="3209544"/>
            <a:ext cx="2721071" cy="416051"/>
          </a:xfrm>
          <a:prstGeom prst="rect">
            <a:avLst/>
          </a:prstGeom>
          <a:noFill/>
        </p:spPr>
        <p:txBody>
          <a:bodyPr wrap="square" lIns="0" rIns="0" tIns="0" bIns="0" anchor="ctr">
            <a:spAutoFit/>
          </a:bodyPr>
          <a:lstStyle/>
          <a:p>
            <a:pPr algn="l">
              <a:lnSpc>
                <a:spcPct val="115000"/>
              </a:lnSpc>
            </a:pPr>
            <a:r>
              <a:rPr sz="1050" b="0" i="0">
                <a:solidFill>
                  <a:srgbClr val="21295C"/>
                </a:solidFill>
                <a:latin typeface="Arial"/>
              </a:rPr>
              <a:t>целиком, каждую сессию</a:t>
            </a:r>
          </a:p>
        </p:txBody>
      </p:sp>
      <p:sp>
        <p:nvSpPr>
          <p:cNvPr id="21" name="TextBox 20"/>
          <p:cNvSpPr txBox="1"/>
          <p:nvPr/>
        </p:nvSpPr>
        <p:spPr>
          <a:xfrm>
            <a:off x="5878128" y="3209544"/>
            <a:ext cx="2721071" cy="416051"/>
          </a:xfrm>
          <a:prstGeom prst="rect">
            <a:avLst/>
          </a:prstGeom>
          <a:noFill/>
        </p:spPr>
        <p:txBody>
          <a:bodyPr wrap="square" lIns="0" rIns="0" tIns="0" bIns="0" anchor="ctr">
            <a:spAutoFit/>
          </a:bodyPr>
          <a:lstStyle/>
          <a:p>
            <a:pPr algn="l">
              <a:lnSpc>
                <a:spcPct val="115000"/>
              </a:lnSpc>
            </a:pPr>
            <a:r>
              <a:rPr sz="1050" b="0" i="0">
                <a:solidFill>
                  <a:srgbClr val="21295C"/>
                </a:solidFill>
                <a:latin typeface="Arial"/>
              </a:rPr>
              <a:t>индекс: первые 200 строк / 25 КБ</a:t>
            </a:r>
          </a:p>
        </p:txBody>
      </p:sp>
      <p:sp>
        <p:nvSpPr>
          <p:cNvPr id="22" name="TextBox 21"/>
          <p:cNvSpPr txBox="1"/>
          <p:nvPr/>
        </p:nvSpPr>
        <p:spPr>
          <a:xfrm>
            <a:off x="8690640" y="3209544"/>
            <a:ext cx="2721071" cy="416051"/>
          </a:xfrm>
          <a:prstGeom prst="rect">
            <a:avLst/>
          </a:prstGeom>
          <a:noFill/>
        </p:spPr>
        <p:txBody>
          <a:bodyPr wrap="square" lIns="0" rIns="0" tIns="0" bIns="0" anchor="ctr">
            <a:spAutoFit/>
          </a:bodyPr>
          <a:lstStyle/>
          <a:p>
            <a:pPr algn="l">
              <a:lnSpc>
                <a:spcPct val="115000"/>
              </a:lnSpc>
            </a:pPr>
            <a:r>
              <a:rPr sz="1050" b="0" i="0">
                <a:solidFill>
                  <a:srgbClr val="21295C"/>
                </a:solidFill>
                <a:latin typeface="Arial"/>
              </a:rPr>
              <a:t>ничего автоматически</a:t>
            </a:r>
          </a:p>
        </p:txBody>
      </p:sp>
      <p:cxnSp>
        <p:nvCxnSpPr>
          <p:cNvPr id="23" name="Connector 22"/>
          <p:cNvCxnSpPr/>
          <p:nvPr/>
        </p:nvCxnSpPr>
        <p:spPr>
          <a:xfrm>
            <a:off x="685800" y="3625596"/>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4" name="TextBox 23"/>
          <p:cNvSpPr txBox="1"/>
          <p:nvPr/>
        </p:nvSpPr>
        <p:spPr>
          <a:xfrm>
            <a:off x="685800" y="3625596"/>
            <a:ext cx="2288377" cy="416051"/>
          </a:xfrm>
          <a:prstGeom prst="rect">
            <a:avLst/>
          </a:prstGeom>
          <a:noFill/>
        </p:spPr>
        <p:txBody>
          <a:bodyPr wrap="square" lIns="0" rIns="0" tIns="0" bIns="0" anchor="ctr">
            <a:spAutoFit/>
          </a:bodyPr>
          <a:lstStyle/>
          <a:p>
            <a:pPr algn="l">
              <a:lnSpc>
                <a:spcPct val="115000"/>
              </a:lnSpc>
            </a:pPr>
            <a:r>
              <a:rPr sz="1050" b="0" i="0">
                <a:solidFill>
                  <a:srgbClr val="21295C"/>
                </a:solidFill>
                <a:latin typeface="Arial"/>
              </a:rPr>
              <a:t>Проходит код-ревью</a:t>
            </a:r>
          </a:p>
        </p:txBody>
      </p:sp>
      <p:sp>
        <p:nvSpPr>
          <p:cNvPr id="25" name="TextBox 24"/>
          <p:cNvSpPr txBox="1"/>
          <p:nvPr/>
        </p:nvSpPr>
        <p:spPr>
          <a:xfrm>
            <a:off x="3065617" y="3625596"/>
            <a:ext cx="2721071" cy="416051"/>
          </a:xfrm>
          <a:prstGeom prst="rect">
            <a:avLst/>
          </a:prstGeom>
          <a:noFill/>
        </p:spPr>
        <p:txBody>
          <a:bodyPr wrap="square" lIns="0" rIns="0" tIns="0" bIns="0" anchor="ctr">
            <a:spAutoFit/>
          </a:bodyPr>
          <a:lstStyle/>
          <a:p>
            <a:pPr algn="l">
              <a:lnSpc>
                <a:spcPct val="115000"/>
              </a:lnSpc>
            </a:pPr>
            <a:r>
              <a:rPr sz="1050" b="0" i="0">
                <a:solidFill>
                  <a:srgbClr val="21295C"/>
                </a:solidFill>
                <a:latin typeface="Arial"/>
              </a:rPr>
              <a:t>да</a:t>
            </a:r>
          </a:p>
        </p:txBody>
      </p:sp>
      <p:sp>
        <p:nvSpPr>
          <p:cNvPr id="26" name="TextBox 25"/>
          <p:cNvSpPr txBox="1"/>
          <p:nvPr/>
        </p:nvSpPr>
        <p:spPr>
          <a:xfrm>
            <a:off x="5878128" y="3625596"/>
            <a:ext cx="2721071" cy="416051"/>
          </a:xfrm>
          <a:prstGeom prst="rect">
            <a:avLst/>
          </a:prstGeom>
          <a:noFill/>
        </p:spPr>
        <p:txBody>
          <a:bodyPr wrap="square" lIns="0" rIns="0" tIns="0" bIns="0" anchor="ctr">
            <a:spAutoFit/>
          </a:bodyPr>
          <a:lstStyle/>
          <a:p>
            <a:pPr algn="l">
              <a:lnSpc>
                <a:spcPct val="115000"/>
              </a:lnSpc>
            </a:pPr>
            <a:r>
              <a:rPr sz="1050" b="0" i="0">
                <a:solidFill>
                  <a:srgbClr val="21295C"/>
                </a:solidFill>
                <a:latin typeface="Arial"/>
              </a:rPr>
              <a:t>нет</a:t>
            </a:r>
          </a:p>
        </p:txBody>
      </p:sp>
      <p:sp>
        <p:nvSpPr>
          <p:cNvPr id="27" name="TextBox 26"/>
          <p:cNvSpPr txBox="1"/>
          <p:nvPr/>
        </p:nvSpPr>
        <p:spPr>
          <a:xfrm>
            <a:off x="8690640" y="3625596"/>
            <a:ext cx="2721071" cy="416051"/>
          </a:xfrm>
          <a:prstGeom prst="rect">
            <a:avLst/>
          </a:prstGeom>
          <a:noFill/>
        </p:spPr>
        <p:txBody>
          <a:bodyPr wrap="square" lIns="0" rIns="0" tIns="0" bIns="0" anchor="ctr">
            <a:spAutoFit/>
          </a:bodyPr>
          <a:lstStyle/>
          <a:p>
            <a:pPr algn="l">
              <a:lnSpc>
                <a:spcPct val="115000"/>
              </a:lnSpc>
            </a:pPr>
            <a:r>
              <a:rPr sz="1050" b="0" i="0">
                <a:solidFill>
                  <a:srgbClr val="21295C"/>
                </a:solidFill>
                <a:latin typeface="Arial"/>
              </a:rPr>
              <a:t>да</a:t>
            </a:r>
          </a:p>
        </p:txBody>
      </p:sp>
      <p:cxnSp>
        <p:nvCxnSpPr>
          <p:cNvPr id="28" name="Connector 27"/>
          <p:cNvCxnSpPr/>
          <p:nvPr/>
        </p:nvCxnSpPr>
        <p:spPr>
          <a:xfrm>
            <a:off x="685800" y="4041648"/>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9" name="TextBox 28"/>
          <p:cNvSpPr txBox="1"/>
          <p:nvPr/>
        </p:nvSpPr>
        <p:spPr>
          <a:xfrm>
            <a:off x="685800" y="4041648"/>
            <a:ext cx="2288377" cy="416051"/>
          </a:xfrm>
          <a:prstGeom prst="rect">
            <a:avLst/>
          </a:prstGeom>
          <a:noFill/>
        </p:spPr>
        <p:txBody>
          <a:bodyPr wrap="square" lIns="0" rIns="0" tIns="0" bIns="0" anchor="ctr">
            <a:spAutoFit/>
          </a:bodyPr>
          <a:lstStyle/>
          <a:p>
            <a:pPr algn="l">
              <a:lnSpc>
                <a:spcPct val="115000"/>
              </a:lnSpc>
            </a:pPr>
            <a:r>
              <a:rPr sz="1050" b="0" i="0">
                <a:solidFill>
                  <a:srgbClr val="21295C"/>
                </a:solidFill>
                <a:latin typeface="Arial"/>
              </a:rPr>
              <a:t>Переживает смену машины</a:t>
            </a:r>
          </a:p>
        </p:txBody>
      </p:sp>
      <p:sp>
        <p:nvSpPr>
          <p:cNvPr id="30" name="TextBox 29"/>
          <p:cNvSpPr txBox="1"/>
          <p:nvPr/>
        </p:nvSpPr>
        <p:spPr>
          <a:xfrm>
            <a:off x="3065617" y="4041648"/>
            <a:ext cx="2721071" cy="416051"/>
          </a:xfrm>
          <a:prstGeom prst="rect">
            <a:avLst/>
          </a:prstGeom>
          <a:noFill/>
        </p:spPr>
        <p:txBody>
          <a:bodyPr wrap="square" lIns="0" rIns="0" tIns="0" bIns="0" anchor="ctr">
            <a:spAutoFit/>
          </a:bodyPr>
          <a:lstStyle/>
          <a:p>
            <a:pPr algn="l">
              <a:lnSpc>
                <a:spcPct val="115000"/>
              </a:lnSpc>
            </a:pPr>
            <a:r>
              <a:rPr sz="1050" b="0" i="0">
                <a:solidFill>
                  <a:srgbClr val="21295C"/>
                </a:solidFill>
                <a:latin typeface="Arial"/>
              </a:rPr>
              <a:t>да</a:t>
            </a:r>
          </a:p>
        </p:txBody>
      </p:sp>
      <p:sp>
        <p:nvSpPr>
          <p:cNvPr id="31" name="TextBox 30"/>
          <p:cNvSpPr txBox="1"/>
          <p:nvPr/>
        </p:nvSpPr>
        <p:spPr>
          <a:xfrm>
            <a:off x="5878128" y="4041648"/>
            <a:ext cx="2721071" cy="416051"/>
          </a:xfrm>
          <a:prstGeom prst="rect">
            <a:avLst/>
          </a:prstGeom>
          <a:noFill/>
        </p:spPr>
        <p:txBody>
          <a:bodyPr wrap="square" lIns="0" rIns="0" tIns="0" bIns="0" anchor="ctr">
            <a:spAutoFit/>
          </a:bodyPr>
          <a:lstStyle/>
          <a:p>
            <a:pPr algn="l">
              <a:lnSpc>
                <a:spcPct val="115000"/>
              </a:lnSpc>
            </a:pPr>
            <a:r>
              <a:rPr sz="1050" b="0" i="0">
                <a:solidFill>
                  <a:srgbClr val="21295C"/>
                </a:solidFill>
                <a:latin typeface="Arial"/>
              </a:rPr>
              <a:t>нет</a:t>
            </a:r>
          </a:p>
        </p:txBody>
      </p:sp>
      <p:sp>
        <p:nvSpPr>
          <p:cNvPr id="32" name="TextBox 31"/>
          <p:cNvSpPr txBox="1"/>
          <p:nvPr/>
        </p:nvSpPr>
        <p:spPr>
          <a:xfrm>
            <a:off x="8690640" y="4041648"/>
            <a:ext cx="2721071" cy="416051"/>
          </a:xfrm>
          <a:prstGeom prst="rect">
            <a:avLst/>
          </a:prstGeom>
          <a:noFill/>
        </p:spPr>
        <p:txBody>
          <a:bodyPr wrap="square" lIns="0" rIns="0" tIns="0" bIns="0" anchor="ctr">
            <a:spAutoFit/>
          </a:bodyPr>
          <a:lstStyle/>
          <a:p>
            <a:pPr algn="l">
              <a:lnSpc>
                <a:spcPct val="115000"/>
              </a:lnSpc>
            </a:pPr>
            <a:r>
              <a:rPr sz="1050" b="0" i="0">
                <a:solidFill>
                  <a:srgbClr val="21295C"/>
                </a:solidFill>
                <a:latin typeface="Arial"/>
              </a:rPr>
              <a:t>да</a:t>
            </a:r>
          </a:p>
        </p:txBody>
      </p:sp>
      <p:cxnSp>
        <p:nvCxnSpPr>
          <p:cNvPr id="33" name="Connector 32"/>
          <p:cNvCxnSpPr/>
          <p:nvPr/>
        </p:nvCxnSpPr>
        <p:spPr>
          <a:xfrm>
            <a:off x="685800" y="4457700"/>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34" name="TextBox 33"/>
          <p:cNvSpPr txBox="1"/>
          <p:nvPr/>
        </p:nvSpPr>
        <p:spPr>
          <a:xfrm>
            <a:off x="685800" y="4457700"/>
            <a:ext cx="2288377" cy="416051"/>
          </a:xfrm>
          <a:prstGeom prst="rect">
            <a:avLst/>
          </a:prstGeom>
          <a:noFill/>
        </p:spPr>
        <p:txBody>
          <a:bodyPr wrap="square" lIns="0" rIns="0" tIns="0" bIns="0" anchor="ctr">
            <a:spAutoFit/>
          </a:bodyPr>
          <a:lstStyle/>
          <a:p>
            <a:pPr algn="l">
              <a:lnSpc>
                <a:spcPct val="115000"/>
              </a:lnSpc>
            </a:pPr>
            <a:r>
              <a:rPr sz="1050" b="0" i="0">
                <a:solidFill>
                  <a:srgbClr val="21295C"/>
                </a:solidFill>
                <a:latin typeface="Arial"/>
              </a:rPr>
              <a:t>Что туда идёт</a:t>
            </a:r>
          </a:p>
        </p:txBody>
      </p:sp>
      <p:sp>
        <p:nvSpPr>
          <p:cNvPr id="35" name="TextBox 34"/>
          <p:cNvSpPr txBox="1"/>
          <p:nvPr/>
        </p:nvSpPr>
        <p:spPr>
          <a:xfrm>
            <a:off x="3065617" y="4457700"/>
            <a:ext cx="2721071" cy="416051"/>
          </a:xfrm>
          <a:prstGeom prst="rect">
            <a:avLst/>
          </a:prstGeom>
          <a:noFill/>
        </p:spPr>
        <p:txBody>
          <a:bodyPr wrap="square" lIns="0" rIns="0" tIns="0" bIns="0" anchor="ctr">
            <a:spAutoFit/>
          </a:bodyPr>
          <a:lstStyle/>
          <a:p>
            <a:pPr algn="l">
              <a:lnSpc>
                <a:spcPct val="115000"/>
              </a:lnSpc>
            </a:pPr>
            <a:r>
              <a:rPr sz="1050" b="0" i="0">
                <a:solidFill>
                  <a:srgbClr val="21295C"/>
                </a:solidFill>
                <a:latin typeface="Arial"/>
              </a:rPr>
              <a:t>стабильные правила и границы</a:t>
            </a:r>
          </a:p>
        </p:txBody>
      </p:sp>
      <p:sp>
        <p:nvSpPr>
          <p:cNvPr id="36" name="TextBox 35"/>
          <p:cNvSpPr txBox="1"/>
          <p:nvPr/>
        </p:nvSpPr>
        <p:spPr>
          <a:xfrm>
            <a:off x="5878128" y="4457700"/>
            <a:ext cx="2721071" cy="416051"/>
          </a:xfrm>
          <a:prstGeom prst="rect">
            <a:avLst/>
          </a:prstGeom>
          <a:noFill/>
        </p:spPr>
        <p:txBody>
          <a:bodyPr wrap="square" lIns="0" rIns="0" tIns="0" bIns="0" anchor="ctr">
            <a:spAutoFit/>
          </a:bodyPr>
          <a:lstStyle/>
          <a:p>
            <a:pPr algn="l">
              <a:lnSpc>
                <a:spcPct val="115000"/>
              </a:lnSpc>
            </a:pPr>
            <a:r>
              <a:rPr sz="1050" b="0" i="0">
                <a:solidFill>
                  <a:srgbClr val="21295C"/>
                </a:solidFill>
                <a:latin typeface="Arial"/>
              </a:rPr>
              <a:t>предпочтения, подтверждённые подходы</a:t>
            </a:r>
          </a:p>
        </p:txBody>
      </p:sp>
      <p:sp>
        <p:nvSpPr>
          <p:cNvPr id="37" name="TextBox 36"/>
          <p:cNvSpPr txBox="1"/>
          <p:nvPr/>
        </p:nvSpPr>
        <p:spPr>
          <a:xfrm>
            <a:off x="8690640" y="4457700"/>
            <a:ext cx="2721071" cy="416051"/>
          </a:xfrm>
          <a:prstGeom prst="rect">
            <a:avLst/>
          </a:prstGeom>
          <a:noFill/>
        </p:spPr>
        <p:txBody>
          <a:bodyPr wrap="square" lIns="0" rIns="0" tIns="0" bIns="0" anchor="ctr">
            <a:spAutoFit/>
          </a:bodyPr>
          <a:lstStyle/>
          <a:p>
            <a:pPr algn="l">
              <a:lnSpc>
                <a:spcPct val="115000"/>
              </a:lnSpc>
            </a:pPr>
            <a:r>
              <a:rPr sz="1050" b="0" i="0">
                <a:solidFill>
                  <a:srgbClr val="21295C"/>
                </a:solidFill>
                <a:latin typeface="Arial"/>
              </a:rPr>
              <a:t>решения и их «почему»</a:t>
            </a:r>
          </a:p>
        </p:txBody>
      </p:sp>
      <p:sp>
        <p:nvSpPr>
          <p:cNvPr id="38" name="TextBox 37"/>
          <p:cNvSpPr txBox="1"/>
          <p:nvPr/>
        </p:nvSpPr>
        <p:spPr>
          <a:xfrm>
            <a:off x="502920" y="5202936"/>
            <a:ext cx="11183112" cy="685800"/>
          </a:xfrm>
          <a:prstGeom prst="rect">
            <a:avLst/>
          </a:prstGeom>
          <a:noFill/>
        </p:spPr>
        <p:txBody>
          <a:bodyPr wrap="square" lIns="0" rIns="0" tIns="0" bIns="0" anchor="t">
            <a:spAutoFit/>
          </a:bodyPr>
          <a:lstStyle/>
          <a:p>
            <a:pPr algn="ctr">
              <a:lnSpc>
                <a:spcPct val="125000"/>
              </a:lnSpc>
            </a:pPr>
            <a:r>
              <a:rPr sz="1250" b="0" i="1">
                <a:solidFill>
                  <a:srgbClr val="065A82"/>
                </a:solidFill>
                <a:latin typeface="Arial"/>
              </a:rPr>
              <a:t>индекс памяти — только индекс  ·  агент сам пропускает выводимое из кода  ·  сжатие контекста переживают только файлы на диске</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29184"/>
            <a:ext cx="10515600" cy="292608"/>
          </a:xfrm>
          <a:prstGeom prst="rect">
            <a:avLst/>
          </a:prstGeom>
          <a:noFill/>
        </p:spPr>
        <p:txBody>
          <a:bodyPr wrap="square" lIns="0" rIns="0" tIns="0" bIns="0" anchor="t">
            <a:spAutoFit/>
          </a:bodyPr>
          <a:lstStyle/>
          <a:p>
            <a:pPr algn="l">
              <a:lnSpc>
                <a:spcPct val="115000"/>
              </a:lnSpc>
            </a:pPr>
            <a:r>
              <a:rPr sz="1150" b="1" i="0">
                <a:solidFill>
                  <a:srgbClr val="028090"/>
                </a:solidFill>
                <a:latin typeface="Arial"/>
              </a:rPr>
              <a:t>КЕЙС 2.1 · ПРОВАЛ И ЭФФЕКТИВНОСТЬ</a:t>
            </a:r>
          </a:p>
        </p:txBody>
      </p:sp>
      <p:sp>
        <p:nvSpPr>
          <p:cNvPr id="3" name="TextBox 2"/>
          <p:cNvSpPr txBox="1"/>
          <p:nvPr/>
        </p:nvSpPr>
        <p:spPr>
          <a:xfrm>
            <a:off x="502920" y="640080"/>
            <a:ext cx="11183112" cy="1005840"/>
          </a:xfrm>
          <a:prstGeom prst="rect">
            <a:avLst/>
          </a:prstGeom>
          <a:noFill/>
        </p:spPr>
        <p:txBody>
          <a:bodyPr wrap="square" lIns="0" rIns="0" tIns="0" bIns="0" anchor="t">
            <a:spAutoFit/>
          </a:bodyPr>
          <a:lstStyle/>
          <a:p>
            <a:pPr algn="l">
              <a:lnSpc>
                <a:spcPct val="114000"/>
              </a:lnSpc>
            </a:pPr>
            <a:r>
              <a:rPr sz="1650" b="1" i="0">
                <a:solidFill>
                  <a:srgbClr val="21295C"/>
                </a:solidFill>
                <a:latin typeface="Arial"/>
              </a:rPr>
              <a:t>Память по умолчанию читается как доверенный контекст, а не как данные — и включение памяти не обязательно улучшает результат</a:t>
            </a:r>
          </a:p>
        </p:txBody>
      </p:sp>
      <p:sp>
        <p:nvSpPr>
          <p:cNvPr id="4" name="Rounded Rectangle 3"/>
          <p:cNvSpPr/>
          <p:nvPr/>
        </p:nvSpPr>
        <p:spPr>
          <a:xfrm>
            <a:off x="502920" y="1810512"/>
            <a:ext cx="6949440" cy="1965960"/>
          </a:xfrm>
          <a:prstGeom prst="roundRect">
            <a:avLst>
              <a:gd name="adj" fmla="val 15503"/>
            </a:avLst>
          </a:prstGeom>
          <a:solidFill>
            <a:srgbClr val="F4F7FA"/>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alert-triangle-21295C-96.png"/>
          <p:cNvPicPr>
            <a:picLocks noChangeAspect="1"/>
          </p:cNvPicPr>
          <p:nvPr/>
        </p:nvPicPr>
        <p:blipFill>
          <a:blip r:embed="rId2"/>
          <a:stretch>
            <a:fillRect/>
          </a:stretch>
        </p:blipFill>
        <p:spPr>
          <a:xfrm>
            <a:off x="704088" y="2011680"/>
            <a:ext cx="365760" cy="365760"/>
          </a:xfrm>
          <a:prstGeom prst="rect">
            <a:avLst/>
          </a:prstGeom>
        </p:spPr>
      </p:pic>
      <p:sp>
        <p:nvSpPr>
          <p:cNvPr id="6" name="TextBox 5"/>
          <p:cNvSpPr txBox="1"/>
          <p:nvPr/>
        </p:nvSpPr>
        <p:spPr>
          <a:xfrm>
            <a:off x="1197864" y="1993392"/>
            <a:ext cx="6053327" cy="347472"/>
          </a:xfrm>
          <a:prstGeom prst="rect">
            <a:avLst/>
          </a:prstGeom>
          <a:noFill/>
        </p:spPr>
        <p:txBody>
          <a:bodyPr wrap="square" lIns="0" rIns="0" tIns="0" bIns="0" anchor="t">
            <a:spAutoFit/>
          </a:bodyPr>
          <a:lstStyle/>
          <a:p>
            <a:pPr algn="l">
              <a:lnSpc>
                <a:spcPct val="115000"/>
              </a:lnSpc>
            </a:pPr>
            <a:r>
              <a:rPr sz="1250" b="1" i="0">
                <a:solidFill>
                  <a:srgbClr val="21295C"/>
                </a:solidFill>
                <a:latin typeface="Arial"/>
              </a:rPr>
              <a:t>Отравление памяти — SpAIware (сентябрь 2024)</a:t>
            </a:r>
          </a:p>
        </p:txBody>
      </p:sp>
      <p:sp>
        <p:nvSpPr>
          <p:cNvPr id="7" name="TextBox 6"/>
          <p:cNvSpPr txBox="1"/>
          <p:nvPr/>
        </p:nvSpPr>
        <p:spPr>
          <a:xfrm>
            <a:off x="704088" y="2414016"/>
            <a:ext cx="6547103" cy="1161288"/>
          </a:xfrm>
          <a:prstGeom prst="rect">
            <a:avLst/>
          </a:prstGeom>
          <a:noFill/>
        </p:spPr>
        <p:txBody>
          <a:bodyPr wrap="square" lIns="0" rIns="0" tIns="0" bIns="0" anchor="t">
            <a:spAutoFit/>
          </a:bodyPr>
          <a:lstStyle/>
          <a:p>
            <a:pPr algn="l">
              <a:lnSpc>
                <a:spcPct val="128000"/>
              </a:lnSpc>
            </a:pPr>
            <a:r>
              <a:rPr sz="1150" b="0" i="0">
                <a:solidFill>
                  <a:srgbClr val="21295C"/>
                </a:solidFill>
                <a:latin typeface="Arial"/>
              </a:rPr>
              <a:t>Внешний текст с вложенной инструкцией → долговременная память → активация в последующих сессиях, эксфильтрация переписки. Вектор закрыт в версии 1.2024.247; структурный принцип остался.</a:t>
            </a:r>
          </a:p>
        </p:txBody>
      </p:sp>
      <p:sp>
        <p:nvSpPr>
          <p:cNvPr id="8" name="Rounded Rectangle 7"/>
          <p:cNvSpPr/>
          <p:nvPr/>
        </p:nvSpPr>
        <p:spPr>
          <a:xfrm>
            <a:off x="7708392" y="1810512"/>
            <a:ext cx="3977640" cy="1965960"/>
          </a:xfrm>
          <a:prstGeom prst="roundRect">
            <a:avLst>
              <a:gd name="adj" fmla="val 15503"/>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872983" y="1938528"/>
            <a:ext cx="3648456" cy="1709928"/>
          </a:xfrm>
          <a:prstGeom prst="rect">
            <a:avLst/>
          </a:prstGeom>
          <a:noFill/>
        </p:spPr>
        <p:txBody>
          <a:bodyPr wrap="square" lIns="0" rIns="0" tIns="0" bIns="0" anchor="t">
            <a:spAutoFit/>
          </a:bodyPr>
          <a:lstStyle/>
          <a:p>
            <a:pPr algn="l">
              <a:lnSpc>
                <a:spcPct val="126000"/>
              </a:lnSpc>
            </a:pPr>
            <a:r>
              <a:rPr sz="1150" b="0" i="0">
                <a:solidFill>
                  <a:srgbClr val="21295C"/>
                </a:solidFill>
                <a:latin typeface="Arial"/>
              </a:rPr>
              <a:t>≈48% всех последующих обращений к памяти захвачено (MemoryGraft, 2025; до отравления — 0%). В смежном эксперименте 5 подложенных документов управляют выводом в &gt;90% случаев.</a:t>
            </a:r>
          </a:p>
        </p:txBody>
      </p:sp>
      <p:sp>
        <p:nvSpPr>
          <p:cNvPr id="10" name="Rounded Rectangle 9"/>
          <p:cNvSpPr/>
          <p:nvPr/>
        </p:nvSpPr>
        <p:spPr>
          <a:xfrm>
            <a:off x="502920" y="3959352"/>
            <a:ext cx="11183112" cy="1691640"/>
          </a:xfrm>
          <a:prstGeom prst="roundRect">
            <a:avLst>
              <a:gd name="adj" fmla="val 18018"/>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85800" y="4142232"/>
            <a:ext cx="4470135" cy="329184"/>
          </a:xfrm>
          <a:prstGeom prst="rect">
            <a:avLst/>
          </a:prstGeom>
          <a:noFill/>
        </p:spPr>
        <p:txBody>
          <a:bodyPr wrap="square" lIns="0" rIns="0" tIns="0" bIns="0" anchor="t">
            <a:spAutoFit/>
          </a:bodyPr>
          <a:lstStyle/>
          <a:p>
            <a:pPr algn="l">
              <a:lnSpc>
                <a:spcPct val="115000"/>
              </a:lnSpc>
            </a:pPr>
            <a:r>
              <a:rPr sz="1030" b="1" i="0">
                <a:solidFill>
                  <a:srgbClr val="6B7685"/>
                </a:solidFill>
                <a:latin typeface="Arial"/>
              </a:rPr>
              <a:t>Замер</a:t>
            </a:r>
          </a:p>
        </p:txBody>
      </p:sp>
      <p:sp>
        <p:nvSpPr>
          <p:cNvPr id="12" name="TextBox 11"/>
          <p:cNvSpPr txBox="1"/>
          <p:nvPr/>
        </p:nvSpPr>
        <p:spPr>
          <a:xfrm>
            <a:off x="5229087" y="4142232"/>
            <a:ext cx="3388400" cy="329184"/>
          </a:xfrm>
          <a:prstGeom prst="rect">
            <a:avLst/>
          </a:prstGeom>
          <a:noFill/>
        </p:spPr>
        <p:txBody>
          <a:bodyPr wrap="square" lIns="0" rIns="0" tIns="0" bIns="0" anchor="t">
            <a:spAutoFit/>
          </a:bodyPr>
          <a:lstStyle/>
          <a:p>
            <a:pPr algn="l">
              <a:lnSpc>
                <a:spcPct val="115000"/>
              </a:lnSpc>
            </a:pPr>
            <a:r>
              <a:rPr sz="1030" b="1" i="0">
                <a:solidFill>
                  <a:srgbClr val="6B7685"/>
                </a:solidFill>
                <a:latin typeface="Arial"/>
              </a:rPr>
              <a:t>Значение</a:t>
            </a:r>
          </a:p>
        </p:txBody>
      </p:sp>
      <p:sp>
        <p:nvSpPr>
          <p:cNvPr id="13" name="TextBox 12"/>
          <p:cNvSpPr txBox="1"/>
          <p:nvPr/>
        </p:nvSpPr>
        <p:spPr>
          <a:xfrm>
            <a:off x="8690640" y="4142232"/>
            <a:ext cx="2739359" cy="329184"/>
          </a:xfrm>
          <a:prstGeom prst="rect">
            <a:avLst/>
          </a:prstGeom>
          <a:noFill/>
        </p:spPr>
        <p:txBody>
          <a:bodyPr wrap="square" lIns="0" rIns="0" tIns="0" bIns="0" anchor="t">
            <a:spAutoFit/>
          </a:bodyPr>
          <a:lstStyle/>
          <a:p>
            <a:pPr algn="l">
              <a:lnSpc>
                <a:spcPct val="115000"/>
              </a:lnSpc>
            </a:pPr>
            <a:r>
              <a:rPr sz="1030" b="1" i="0">
                <a:solidFill>
                  <a:srgbClr val="6B7685"/>
                </a:solidFill>
                <a:latin typeface="Arial"/>
              </a:rPr>
              <a:t>База сравнения</a:t>
            </a:r>
          </a:p>
        </p:txBody>
      </p:sp>
      <p:sp>
        <p:nvSpPr>
          <p:cNvPr id="14" name="Rectangle 13"/>
          <p:cNvSpPr/>
          <p:nvPr/>
        </p:nvSpPr>
        <p:spPr>
          <a:xfrm>
            <a:off x="557784" y="4526280"/>
            <a:ext cx="11073384" cy="313944"/>
          </a:xfrm>
          <a:prstGeom prst="rect">
            <a:avLst/>
          </a:prstGeom>
          <a:solidFill>
            <a:srgbClr val="FEF5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85800" y="4526280"/>
            <a:ext cx="4451847" cy="313944"/>
          </a:xfrm>
          <a:prstGeom prst="rect">
            <a:avLst/>
          </a:prstGeom>
          <a:noFill/>
        </p:spPr>
        <p:txBody>
          <a:bodyPr wrap="square" lIns="0" rIns="0" tIns="0" bIns="0" anchor="ctr">
            <a:spAutoFit/>
          </a:bodyPr>
          <a:lstStyle/>
          <a:p>
            <a:pPr algn="l">
              <a:lnSpc>
                <a:spcPct val="115000"/>
              </a:lnSpc>
            </a:pPr>
            <a:r>
              <a:rPr sz="980" b="0" i="0">
                <a:solidFill>
                  <a:srgbClr val="21295C"/>
                </a:solidFill>
                <a:latin typeface="Arial"/>
              </a:rPr>
              <a:t>Популярная система памяти на бенчмарке долговременной памяти</a:t>
            </a:r>
          </a:p>
        </p:txBody>
      </p:sp>
      <p:sp>
        <p:nvSpPr>
          <p:cNvPr id="16" name="TextBox 15"/>
          <p:cNvSpPr txBox="1"/>
          <p:nvPr/>
        </p:nvSpPr>
        <p:spPr>
          <a:xfrm>
            <a:off x="5229087" y="4526280"/>
            <a:ext cx="3370112" cy="313944"/>
          </a:xfrm>
          <a:prstGeom prst="rect">
            <a:avLst/>
          </a:prstGeom>
          <a:noFill/>
        </p:spPr>
        <p:txBody>
          <a:bodyPr wrap="square" lIns="0" rIns="0" tIns="0" bIns="0" anchor="ctr">
            <a:spAutoFit/>
          </a:bodyPr>
          <a:lstStyle/>
          <a:p>
            <a:pPr algn="l">
              <a:lnSpc>
                <a:spcPct val="115000"/>
              </a:lnSpc>
            </a:pPr>
            <a:r>
              <a:rPr sz="980" b="0" i="0">
                <a:solidFill>
                  <a:srgbClr val="21295C"/>
                </a:solidFill>
                <a:latin typeface="Arial"/>
              </a:rPr>
              <a:t>46,0% с памятью против 57,6% без</a:t>
            </a:r>
          </a:p>
        </p:txBody>
      </p:sp>
      <p:sp>
        <p:nvSpPr>
          <p:cNvPr id="17" name="TextBox 16"/>
          <p:cNvSpPr txBox="1"/>
          <p:nvPr/>
        </p:nvSpPr>
        <p:spPr>
          <a:xfrm>
            <a:off x="8690640" y="4526280"/>
            <a:ext cx="2721071" cy="313944"/>
          </a:xfrm>
          <a:prstGeom prst="rect">
            <a:avLst/>
          </a:prstGeom>
          <a:noFill/>
        </p:spPr>
        <p:txBody>
          <a:bodyPr wrap="square" lIns="0" rIns="0" tIns="0" bIns="0" anchor="ctr">
            <a:spAutoFit/>
          </a:bodyPr>
          <a:lstStyle/>
          <a:p>
            <a:pPr algn="l">
              <a:lnSpc>
                <a:spcPct val="115000"/>
              </a:lnSpc>
            </a:pPr>
            <a:r>
              <a:rPr sz="980" b="0" i="0">
                <a:solidFill>
                  <a:srgbClr val="21295C"/>
                </a:solidFill>
                <a:latin typeface="Arial"/>
              </a:rPr>
              <a:t>та же система, память выключена</a:t>
            </a:r>
          </a:p>
        </p:txBody>
      </p:sp>
      <p:cxnSp>
        <p:nvCxnSpPr>
          <p:cNvPr id="18" name="Connector 17"/>
          <p:cNvCxnSpPr/>
          <p:nvPr/>
        </p:nvCxnSpPr>
        <p:spPr>
          <a:xfrm>
            <a:off x="685800" y="4840224"/>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685800" y="4840224"/>
            <a:ext cx="4451847" cy="313944"/>
          </a:xfrm>
          <a:prstGeom prst="rect">
            <a:avLst/>
          </a:prstGeom>
          <a:noFill/>
        </p:spPr>
        <p:txBody>
          <a:bodyPr wrap="square" lIns="0" rIns="0" tIns="0" bIns="0" anchor="ctr">
            <a:spAutoFit/>
          </a:bodyPr>
          <a:lstStyle/>
          <a:p>
            <a:pPr algn="l">
              <a:lnSpc>
                <a:spcPct val="115000"/>
              </a:lnSpc>
            </a:pPr>
            <a:r>
              <a:rPr sz="980" b="0" i="0">
                <a:solidFill>
                  <a:srgbClr val="21295C"/>
                </a:solidFill>
                <a:latin typeface="Arial"/>
              </a:rPr>
              <a:t>Шесть систем памяти против «весь текст сессии в один файл»</a:t>
            </a:r>
          </a:p>
        </p:txBody>
      </p:sp>
      <p:sp>
        <p:nvSpPr>
          <p:cNvPr id="20" name="TextBox 19"/>
          <p:cNvSpPr txBox="1"/>
          <p:nvPr/>
        </p:nvSpPr>
        <p:spPr>
          <a:xfrm>
            <a:off x="5229087" y="4840224"/>
            <a:ext cx="3370112" cy="313944"/>
          </a:xfrm>
          <a:prstGeom prst="rect">
            <a:avLst/>
          </a:prstGeom>
          <a:noFill/>
        </p:spPr>
        <p:txBody>
          <a:bodyPr wrap="square" lIns="0" rIns="0" tIns="0" bIns="0" anchor="ctr">
            <a:spAutoFit/>
          </a:bodyPr>
          <a:lstStyle/>
          <a:p>
            <a:pPr algn="l">
              <a:lnSpc>
                <a:spcPct val="115000"/>
              </a:lnSpc>
            </a:pPr>
            <a:r>
              <a:rPr sz="980" b="0" i="0">
                <a:solidFill>
                  <a:srgbClr val="21295C"/>
                </a:solidFill>
                <a:latin typeface="Arial"/>
              </a:rPr>
              <a:t>проигрыш плоскому файлу на 25–67 пунктов</a:t>
            </a:r>
          </a:p>
        </p:txBody>
      </p:sp>
      <p:sp>
        <p:nvSpPr>
          <p:cNvPr id="21" name="TextBox 20"/>
          <p:cNvSpPr txBox="1"/>
          <p:nvPr/>
        </p:nvSpPr>
        <p:spPr>
          <a:xfrm>
            <a:off x="8690640" y="4840224"/>
            <a:ext cx="2721071" cy="313944"/>
          </a:xfrm>
          <a:prstGeom prst="rect">
            <a:avLst/>
          </a:prstGeom>
          <a:noFill/>
        </p:spPr>
        <p:txBody>
          <a:bodyPr wrap="square" lIns="0" rIns="0" tIns="0" bIns="0" anchor="ctr">
            <a:spAutoFit/>
          </a:bodyPr>
          <a:lstStyle/>
          <a:p>
            <a:pPr algn="l">
              <a:lnSpc>
                <a:spcPct val="115000"/>
              </a:lnSpc>
            </a:pPr>
            <a:r>
              <a:rPr sz="980" b="0" i="0">
                <a:solidFill>
                  <a:srgbClr val="21295C"/>
                </a:solidFill>
                <a:latin typeface="Arial"/>
              </a:rPr>
              <a:t>тот же плоский файл</a:t>
            </a:r>
          </a:p>
        </p:txBody>
      </p:sp>
      <p:cxnSp>
        <p:nvCxnSpPr>
          <p:cNvPr id="22" name="Connector 21"/>
          <p:cNvCxnSpPr/>
          <p:nvPr/>
        </p:nvCxnSpPr>
        <p:spPr>
          <a:xfrm>
            <a:off x="685800" y="5154168"/>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3" name="TextBox 22"/>
          <p:cNvSpPr txBox="1"/>
          <p:nvPr/>
        </p:nvSpPr>
        <p:spPr>
          <a:xfrm>
            <a:off x="685800" y="5154168"/>
            <a:ext cx="4451847" cy="313944"/>
          </a:xfrm>
          <a:prstGeom prst="rect">
            <a:avLst/>
          </a:prstGeom>
          <a:noFill/>
        </p:spPr>
        <p:txBody>
          <a:bodyPr wrap="square" lIns="0" rIns="0" tIns="0" bIns="0" anchor="ctr">
            <a:spAutoFit/>
          </a:bodyPr>
          <a:lstStyle/>
          <a:p>
            <a:pPr algn="l">
              <a:lnSpc>
                <a:spcPct val="115000"/>
              </a:lnSpc>
            </a:pPr>
            <a:r>
              <a:rPr sz="980" b="0" i="0">
                <a:solidFill>
                  <a:srgbClr val="21295C"/>
                </a:solidFill>
                <a:latin typeface="Arial"/>
              </a:rPr>
              <a:t>Дискреционность записи</a:t>
            </a:r>
          </a:p>
        </p:txBody>
      </p:sp>
      <p:sp>
        <p:nvSpPr>
          <p:cNvPr id="24" name="TextBox 23"/>
          <p:cNvSpPr txBox="1"/>
          <p:nvPr/>
        </p:nvSpPr>
        <p:spPr>
          <a:xfrm>
            <a:off x="5229087" y="5154168"/>
            <a:ext cx="3370112" cy="313944"/>
          </a:xfrm>
          <a:prstGeom prst="rect">
            <a:avLst/>
          </a:prstGeom>
          <a:noFill/>
        </p:spPr>
        <p:txBody>
          <a:bodyPr wrap="square" lIns="0" rIns="0" tIns="0" bIns="0" anchor="ctr">
            <a:spAutoFit/>
          </a:bodyPr>
          <a:lstStyle/>
          <a:p>
            <a:pPr algn="l">
              <a:lnSpc>
                <a:spcPct val="115000"/>
              </a:lnSpc>
            </a:pPr>
            <a:r>
              <a:rPr sz="980" b="0" i="0">
                <a:solidFill>
                  <a:srgbClr val="21295C"/>
                </a:solidFill>
                <a:latin typeface="Arial"/>
              </a:rPr>
              <a:t>17% (4 задачи из 24) — модель отказалась записать нужный факт</a:t>
            </a:r>
          </a:p>
        </p:txBody>
      </p:sp>
      <p:sp>
        <p:nvSpPr>
          <p:cNvPr id="25" name="TextBox 24"/>
          <p:cNvSpPr txBox="1"/>
          <p:nvPr/>
        </p:nvSpPr>
        <p:spPr>
          <a:xfrm>
            <a:off x="8690640" y="5154168"/>
            <a:ext cx="2721071" cy="313944"/>
          </a:xfrm>
          <a:prstGeom prst="rect">
            <a:avLst/>
          </a:prstGeom>
          <a:noFill/>
        </p:spPr>
        <p:txBody>
          <a:bodyPr wrap="square" lIns="0" rIns="0" tIns="0" bIns="0" anchor="ctr">
            <a:spAutoFit/>
          </a:bodyPr>
          <a:lstStyle/>
          <a:p>
            <a:pPr algn="l">
              <a:lnSpc>
                <a:spcPct val="115000"/>
              </a:lnSpc>
            </a:pPr>
            <a:r>
              <a:rPr sz="980" b="0" i="0">
                <a:solidFill>
                  <a:srgbClr val="21295C"/>
                </a:solidFill>
                <a:latin typeface="Arial"/>
              </a:rPr>
              <a:t>те же 24 задачи</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29184"/>
            <a:ext cx="10515600" cy="292608"/>
          </a:xfrm>
          <a:prstGeom prst="rect">
            <a:avLst/>
          </a:prstGeom>
          <a:noFill/>
        </p:spPr>
        <p:txBody>
          <a:bodyPr wrap="square" lIns="0" rIns="0" tIns="0" bIns="0" anchor="t">
            <a:spAutoFit/>
          </a:bodyPr>
          <a:lstStyle/>
          <a:p>
            <a:pPr algn="l">
              <a:lnSpc>
                <a:spcPct val="115000"/>
              </a:lnSpc>
            </a:pPr>
            <a:r>
              <a:rPr sz="1150" b="1" i="0">
                <a:solidFill>
                  <a:srgbClr val="028090"/>
                </a:solidFill>
                <a:latin typeface="Arial"/>
              </a:rPr>
              <a:t>КЕЙС 2.1 · КРИТЕРИЙ И ГРАНИЦА</a:t>
            </a:r>
          </a:p>
        </p:txBody>
      </p:sp>
      <p:sp>
        <p:nvSpPr>
          <p:cNvPr id="3" name="TextBox 2"/>
          <p:cNvSpPr txBox="1"/>
          <p:nvPr/>
        </p:nvSpPr>
        <p:spPr>
          <a:xfrm>
            <a:off x="502920" y="640080"/>
            <a:ext cx="11183112" cy="1005840"/>
          </a:xfrm>
          <a:prstGeom prst="rect">
            <a:avLst/>
          </a:prstGeom>
          <a:noFill/>
        </p:spPr>
        <p:txBody>
          <a:bodyPr wrap="square" lIns="0" rIns="0" tIns="0" bIns="0" anchor="t">
            <a:spAutoFit/>
          </a:bodyPr>
          <a:lstStyle/>
          <a:p>
            <a:pPr algn="l">
              <a:lnSpc>
                <a:spcPct val="114000"/>
              </a:lnSpc>
            </a:pPr>
            <a:r>
              <a:rPr sz="1650" b="1" i="0">
                <a:solidFill>
                  <a:srgbClr val="21295C"/>
                </a:solidFill>
                <a:latin typeface="Arial"/>
              </a:rPr>
              <a:t>Плоского файла достаточно, пока история решений влезает в контекст целиком и связей между записями ещё нет</a:t>
            </a:r>
          </a:p>
        </p:txBody>
      </p:sp>
      <p:sp>
        <p:nvSpPr>
          <p:cNvPr id="4" name="Rounded Rectangle 3"/>
          <p:cNvSpPr/>
          <p:nvPr/>
        </p:nvSpPr>
        <p:spPr>
          <a:xfrm>
            <a:off x="502920" y="1810512"/>
            <a:ext cx="11183112" cy="3346704"/>
          </a:xfrm>
          <a:prstGeom prst="roundRect">
            <a:avLst>
              <a:gd name="adj" fmla="val 9107"/>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713232" y="2048256"/>
            <a:ext cx="201168" cy="201168"/>
          </a:xfrm>
          <a:prstGeom prst="roundRect">
            <a:avLst>
              <a:gd name="adj" fmla="val 25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42415" y="1975104"/>
            <a:ext cx="10424160" cy="438912"/>
          </a:xfrm>
          <a:prstGeom prst="rect">
            <a:avLst/>
          </a:prstGeom>
          <a:noFill/>
        </p:spPr>
        <p:txBody>
          <a:bodyPr wrap="square" lIns="0" rIns="0" tIns="0" bIns="0" anchor="ctr">
            <a:spAutoFit/>
          </a:bodyPr>
          <a:lstStyle/>
          <a:p>
            <a:pPr algn="l">
              <a:lnSpc>
                <a:spcPct val="118000"/>
              </a:lnSpc>
            </a:pPr>
            <a:r>
              <a:rPr sz="1350" b="0" i="0">
                <a:solidFill>
                  <a:srgbClr val="21295C"/>
                </a:solidFill>
                <a:latin typeface="Arial"/>
              </a:rPr>
              <a:t>Задача одноразовая, второй сессии по этому контексту не будет.</a:t>
            </a:r>
          </a:p>
        </p:txBody>
      </p:sp>
      <p:sp>
        <p:nvSpPr>
          <p:cNvPr id="7" name="Rounded Rectangle 6"/>
          <p:cNvSpPr/>
          <p:nvPr/>
        </p:nvSpPr>
        <p:spPr>
          <a:xfrm>
            <a:off x="713232" y="2560320"/>
            <a:ext cx="201168" cy="201168"/>
          </a:xfrm>
          <a:prstGeom prst="roundRect">
            <a:avLst>
              <a:gd name="adj" fmla="val 25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42415" y="2487168"/>
            <a:ext cx="10424160" cy="438912"/>
          </a:xfrm>
          <a:prstGeom prst="rect">
            <a:avLst/>
          </a:prstGeom>
          <a:noFill/>
        </p:spPr>
        <p:txBody>
          <a:bodyPr wrap="square" lIns="0" rIns="0" tIns="0" bIns="0" anchor="ctr">
            <a:spAutoFit/>
          </a:bodyPr>
          <a:lstStyle/>
          <a:p>
            <a:pPr algn="l">
              <a:lnSpc>
                <a:spcPct val="118000"/>
              </a:lnSpc>
            </a:pPr>
            <a:r>
              <a:rPr sz="1350" b="0" i="0">
                <a:solidFill>
                  <a:srgbClr val="21295C"/>
                </a:solidFill>
                <a:latin typeface="Arial"/>
              </a:rPr>
              <a:t>Весь нужный контекст помещается в одно контекстное окно без потерь.</a:t>
            </a:r>
          </a:p>
        </p:txBody>
      </p:sp>
      <p:sp>
        <p:nvSpPr>
          <p:cNvPr id="9" name="Rounded Rectangle 8"/>
          <p:cNvSpPr/>
          <p:nvPr/>
        </p:nvSpPr>
        <p:spPr>
          <a:xfrm>
            <a:off x="713232" y="3072384"/>
            <a:ext cx="201168" cy="201168"/>
          </a:xfrm>
          <a:prstGeom prst="roundRect">
            <a:avLst>
              <a:gd name="adj" fmla="val 25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42415" y="2999232"/>
            <a:ext cx="10424160" cy="438912"/>
          </a:xfrm>
          <a:prstGeom prst="rect">
            <a:avLst/>
          </a:prstGeom>
          <a:noFill/>
        </p:spPr>
        <p:txBody>
          <a:bodyPr wrap="square" lIns="0" rIns="0" tIns="0" bIns="0" anchor="ctr">
            <a:spAutoFit/>
          </a:bodyPr>
          <a:lstStyle/>
          <a:p>
            <a:pPr algn="l">
              <a:lnSpc>
                <a:spcPct val="118000"/>
              </a:lnSpc>
            </a:pPr>
            <a:r>
              <a:rPr sz="1350" b="0" i="0">
                <a:solidFill>
                  <a:srgbClr val="21295C"/>
                </a:solidFill>
                <a:latin typeface="Arial"/>
              </a:rPr>
              <a:t>Правила проекта стабильны и укладываются в файл инструкций короче 200 строк.</a:t>
            </a:r>
          </a:p>
        </p:txBody>
      </p:sp>
      <p:sp>
        <p:nvSpPr>
          <p:cNvPr id="11" name="Rounded Rectangle 10"/>
          <p:cNvSpPr/>
          <p:nvPr/>
        </p:nvSpPr>
        <p:spPr>
          <a:xfrm>
            <a:off x="713232" y="3584448"/>
            <a:ext cx="201168" cy="201168"/>
          </a:xfrm>
          <a:prstGeom prst="roundRect">
            <a:avLst>
              <a:gd name="adj" fmla="val 25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42415" y="3511296"/>
            <a:ext cx="10424160" cy="438912"/>
          </a:xfrm>
          <a:prstGeom prst="rect">
            <a:avLst/>
          </a:prstGeom>
          <a:noFill/>
        </p:spPr>
        <p:txBody>
          <a:bodyPr wrap="square" lIns="0" rIns="0" tIns="0" bIns="0" anchor="ctr">
            <a:spAutoFit/>
          </a:bodyPr>
          <a:lstStyle/>
          <a:p>
            <a:pPr algn="l">
              <a:lnSpc>
                <a:spcPct val="118000"/>
              </a:lnSpc>
            </a:pPr>
            <a:r>
              <a:rPr sz="1350" b="0" i="0">
                <a:solidFill>
                  <a:srgbClr val="21295C"/>
                </a:solidFill>
                <a:latin typeface="Arial"/>
              </a:rPr>
              <a:t>Никто не повторяет вручную одну и ту же правку из сессии в сессию.</a:t>
            </a:r>
          </a:p>
        </p:txBody>
      </p:sp>
      <p:sp>
        <p:nvSpPr>
          <p:cNvPr id="13" name="Rounded Rectangle 12"/>
          <p:cNvSpPr/>
          <p:nvPr/>
        </p:nvSpPr>
        <p:spPr>
          <a:xfrm>
            <a:off x="713232" y="4096512"/>
            <a:ext cx="201168" cy="201168"/>
          </a:xfrm>
          <a:prstGeom prst="roundRect">
            <a:avLst>
              <a:gd name="adj" fmla="val 25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042415" y="4023360"/>
            <a:ext cx="10424160" cy="438912"/>
          </a:xfrm>
          <a:prstGeom prst="rect">
            <a:avLst/>
          </a:prstGeom>
          <a:noFill/>
        </p:spPr>
        <p:txBody>
          <a:bodyPr wrap="square" lIns="0" rIns="0" tIns="0" bIns="0" anchor="ctr">
            <a:spAutoFit/>
          </a:bodyPr>
          <a:lstStyle/>
          <a:p>
            <a:pPr algn="l">
              <a:lnSpc>
                <a:spcPct val="118000"/>
              </a:lnSpc>
            </a:pPr>
            <a:r>
              <a:rPr sz="1350" b="0" i="0">
                <a:solidFill>
                  <a:srgbClr val="21295C"/>
                </a:solidFill>
                <a:latin typeface="Arial"/>
              </a:rPr>
              <a:t>Нет нескольких участников, которым нужно делиться контекстом асинхронно.</a:t>
            </a:r>
          </a:p>
        </p:txBody>
      </p:sp>
      <p:sp>
        <p:nvSpPr>
          <p:cNvPr id="15" name="Rounded Rectangle 14"/>
          <p:cNvSpPr/>
          <p:nvPr/>
        </p:nvSpPr>
        <p:spPr>
          <a:xfrm>
            <a:off x="713232" y="4608576"/>
            <a:ext cx="201168" cy="201168"/>
          </a:xfrm>
          <a:prstGeom prst="roundRect">
            <a:avLst>
              <a:gd name="adj" fmla="val 25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042415" y="4535424"/>
            <a:ext cx="10424160" cy="438912"/>
          </a:xfrm>
          <a:prstGeom prst="rect">
            <a:avLst/>
          </a:prstGeom>
          <a:noFill/>
        </p:spPr>
        <p:txBody>
          <a:bodyPr wrap="square" lIns="0" rIns="0" tIns="0" bIns="0" anchor="ctr">
            <a:spAutoFit/>
          </a:bodyPr>
          <a:lstStyle/>
          <a:p>
            <a:pPr algn="l">
              <a:lnSpc>
                <a:spcPct val="118000"/>
              </a:lnSpc>
            </a:pPr>
            <a:r>
              <a:rPr sz="1350" b="0" i="0">
                <a:solidFill>
                  <a:srgbClr val="21295C"/>
                </a:solidFill>
                <a:latin typeface="Arial"/>
              </a:rPr>
              <a:t>Факт выводим из кода или истории изменений.</a:t>
            </a:r>
          </a:p>
        </p:txBody>
      </p:sp>
      <p:sp>
        <p:nvSpPr>
          <p:cNvPr id="17" name="Rounded Rectangle 16"/>
          <p:cNvSpPr/>
          <p:nvPr/>
        </p:nvSpPr>
        <p:spPr>
          <a:xfrm>
            <a:off x="502920" y="5340096"/>
            <a:ext cx="11183112" cy="1060704"/>
          </a:xfrm>
          <a:prstGeom prst="roundRect">
            <a:avLst>
              <a:gd name="adj" fmla="val 10000"/>
            </a:avLst>
          </a:prstGeom>
          <a:solidFill>
            <a:srgbClr val="FEF5E0"/>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04088" y="5413248"/>
            <a:ext cx="10780776" cy="914400"/>
          </a:xfrm>
          <a:prstGeom prst="rect">
            <a:avLst/>
          </a:prstGeom>
          <a:noFill/>
        </p:spPr>
        <p:txBody>
          <a:bodyPr wrap="square" lIns="0" rIns="0" tIns="0" bIns="0" anchor="ctr">
            <a:spAutoFit/>
          </a:bodyPr>
          <a:lstStyle/>
          <a:p>
            <a:pPr algn="l">
              <a:lnSpc>
                <a:spcPct val="122000"/>
              </a:lnSpc>
            </a:pPr>
            <a:r>
              <a:rPr sz="1300" b="1" i="0">
                <a:solidFill>
                  <a:srgbClr val="21295C"/>
                </a:solidFill>
                <a:latin typeface="Arial"/>
              </a:rPr>
              <a:t>Плоский DECISIONS.md перестаёт справляться, когда записей набралось настолько много, что найти нужную линейным чтением дольше, чем переобъяснить решение заново, — и между записями появились связи, для которых в append-only логе физически некуда положить.</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ln>
            <a:noFill/>
          </a:ln>
          <a:effectLst/>
          <a:gradFill rotWithShape="1">
            <a:gsLst>
              <a:gs pos="0">
                <a:srgbClr val="21295C"/>
              </a:gs>
              <a:gs pos="55000">
                <a:srgbClr val="065A82"/>
              </a:gs>
              <a:gs pos="100000">
                <a:srgbClr val="1C7293"/>
              </a:gs>
            </a:gsLst>
            <a:lin ang="2700000" scaled="1"/>
          </a:gra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9646919" y="4617720"/>
            <a:ext cx="1783080" cy="1783080"/>
          </a:xfrm>
          <a:prstGeom prst="roundRect">
            <a:avLst>
              <a:gd name="adj" fmla="val 18000"/>
            </a:avLst>
          </a:prstGeom>
          <a:solidFill>
            <a:srgbClr val="0B14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git-branch-F0AB00-128.png"/>
          <p:cNvPicPr>
            <a:picLocks noChangeAspect="1"/>
          </p:cNvPicPr>
          <p:nvPr/>
        </p:nvPicPr>
        <p:blipFill>
          <a:blip r:embed="rId2"/>
          <a:stretch>
            <a:fillRect/>
          </a:stretch>
        </p:blipFill>
        <p:spPr>
          <a:xfrm>
            <a:off x="9921240" y="4892040"/>
            <a:ext cx="1234440" cy="1234440"/>
          </a:xfrm>
          <a:prstGeom prst="rect">
            <a:avLst/>
          </a:prstGeom>
        </p:spPr>
      </p:pic>
      <p:sp>
        <p:nvSpPr>
          <p:cNvPr id="5" name="Rounded Rectangle 4"/>
          <p:cNvSpPr/>
          <p:nvPr/>
        </p:nvSpPr>
        <p:spPr>
          <a:xfrm>
            <a:off x="822960" y="548640"/>
            <a:ext cx="1328927" cy="256032"/>
          </a:xfrm>
          <a:prstGeom prst="roundRect">
            <a:avLst>
              <a:gd name="adj" fmla="val 40000"/>
            </a:avLst>
          </a:prstGeom>
          <a:solidFill>
            <a:srgbClr val="3E4C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2261616" y="548640"/>
            <a:ext cx="1328927" cy="256032"/>
          </a:xfrm>
          <a:prstGeom prst="roundRect">
            <a:avLst>
              <a:gd name="adj" fmla="val 4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3700272" y="548640"/>
            <a:ext cx="1328927" cy="256032"/>
          </a:xfrm>
          <a:prstGeom prst="roundRect">
            <a:avLst>
              <a:gd name="adj" fmla="val 40000"/>
            </a:avLst>
          </a:prstGeom>
          <a:solidFill>
            <a:srgbClr val="3E4C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8961120" cy="1005840"/>
          </a:xfrm>
          <a:prstGeom prst="rect">
            <a:avLst/>
          </a:prstGeom>
          <a:noFill/>
        </p:spPr>
        <p:txBody>
          <a:bodyPr wrap="square" lIns="0" rIns="0" tIns="0" bIns="0" anchor="t">
            <a:spAutoFit/>
          </a:bodyPr>
          <a:lstStyle/>
          <a:p>
            <a:pPr algn="l">
              <a:lnSpc>
                <a:spcPct val="105000"/>
              </a:lnSpc>
            </a:pPr>
            <a:r>
              <a:rPr sz="3300" b="1" i="0">
                <a:solidFill>
                  <a:srgbClr val="FFFFFF"/>
                </a:solidFill>
                <a:latin typeface="Arial"/>
              </a:rPr>
              <a:t>Кейс 2.2 · структурированная вики-память</a:t>
            </a:r>
          </a:p>
        </p:txBody>
      </p:sp>
      <p:sp>
        <p:nvSpPr>
          <p:cNvPr id="9" name="TextBox 8"/>
          <p:cNvSpPr txBox="1"/>
          <p:nvPr/>
        </p:nvSpPr>
        <p:spPr>
          <a:xfrm>
            <a:off x="868680" y="3090672"/>
            <a:ext cx="8778240" cy="822960"/>
          </a:xfrm>
          <a:prstGeom prst="rect">
            <a:avLst/>
          </a:prstGeom>
          <a:noFill/>
        </p:spPr>
        <p:txBody>
          <a:bodyPr wrap="square" lIns="0" rIns="0" tIns="0" bIns="0" anchor="t">
            <a:spAutoFit/>
          </a:bodyPr>
          <a:lstStyle/>
          <a:p>
            <a:pPr algn="l">
              <a:lnSpc>
                <a:spcPct val="130000"/>
              </a:lnSpc>
            </a:pPr>
            <a:r>
              <a:rPr sz="1600" b="0" i="1">
                <a:solidFill>
                  <a:srgbClr val="CFDCEC"/>
                </a:solidFill>
                <a:latin typeface="Arial"/>
              </a:rPr>
              <a:t>Тот же DECISIONS.md, но разросшийся — плоский лог больше не хранит связей</a:t>
            </a:r>
          </a:p>
        </p:txBody>
      </p:sp>
      <p:sp>
        <p:nvSpPr>
          <p:cNvPr id="10" name="Rounded Rectangle 9"/>
          <p:cNvSpPr/>
          <p:nvPr/>
        </p:nvSpPr>
        <p:spPr>
          <a:xfrm>
            <a:off x="868680" y="3950208"/>
            <a:ext cx="5486400" cy="502920"/>
          </a:xfrm>
          <a:prstGeom prst="roundRect">
            <a:avLst>
              <a:gd name="adj" fmla="val 28000"/>
            </a:avLst>
          </a:prstGeom>
          <a:solidFill>
            <a:srgbClr val="0B143A"/>
          </a:solidFill>
          <a:ln w="1524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124712" y="3950208"/>
            <a:ext cx="4974336" cy="502920"/>
          </a:xfrm>
          <a:prstGeom prst="rect">
            <a:avLst/>
          </a:prstGeom>
          <a:noFill/>
        </p:spPr>
        <p:txBody>
          <a:bodyPr wrap="square" lIns="0" rIns="0" tIns="0" bIns="0" anchor="ctr">
            <a:spAutoFit/>
          </a:bodyPr>
          <a:lstStyle/>
          <a:p>
            <a:pPr algn="ctr">
              <a:lnSpc>
                <a:spcPct val="115000"/>
              </a:lnSpc>
            </a:pPr>
            <a:r>
              <a:rPr sz="1100" b="1" i="0">
                <a:solidFill>
                  <a:srgbClr val="028090"/>
                </a:solidFill>
                <a:latin typeface="Arial"/>
              </a:rPr>
              <a:t>СПЕЦИФИЧНО ДЛЯ ПРОЕКТА · ЖДЁМ СИГНАЛА</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29184"/>
            <a:ext cx="10515600" cy="292608"/>
          </a:xfrm>
          <a:prstGeom prst="rect">
            <a:avLst/>
          </a:prstGeom>
          <a:noFill/>
        </p:spPr>
        <p:txBody>
          <a:bodyPr wrap="square" lIns="0" rIns="0" tIns="0" bIns="0" anchor="t">
            <a:spAutoFit/>
          </a:bodyPr>
          <a:lstStyle/>
          <a:p>
            <a:pPr algn="l">
              <a:lnSpc>
                <a:spcPct val="115000"/>
              </a:lnSpc>
            </a:pPr>
            <a:r>
              <a:rPr sz="1150" b="1" i="0">
                <a:solidFill>
                  <a:srgbClr val="028090"/>
                </a:solidFill>
                <a:latin typeface="Arial"/>
              </a:rPr>
              <a:t>КЕЙС 2.2 · ВИКИ-ПАМЯТЬ</a:t>
            </a:r>
          </a:p>
        </p:txBody>
      </p:sp>
      <p:sp>
        <p:nvSpPr>
          <p:cNvPr id="3" name="TextBox 2"/>
          <p:cNvSpPr txBox="1"/>
          <p:nvPr/>
        </p:nvSpPr>
        <p:spPr>
          <a:xfrm>
            <a:off x="502920" y="640080"/>
            <a:ext cx="11183112" cy="1005840"/>
          </a:xfrm>
          <a:prstGeom prst="rect">
            <a:avLst/>
          </a:prstGeom>
          <a:noFill/>
        </p:spPr>
        <p:txBody>
          <a:bodyPr wrap="square" lIns="0" rIns="0" tIns="0" bIns="0" anchor="t">
            <a:spAutoFit/>
          </a:bodyPr>
          <a:lstStyle/>
          <a:p>
            <a:pPr algn="l">
              <a:lnSpc>
                <a:spcPct val="114000"/>
              </a:lnSpc>
            </a:pPr>
            <a:r>
              <a:rPr sz="1650" b="1" i="0">
                <a:solidFill>
                  <a:srgbClr val="21295C"/>
                </a:solidFill>
                <a:latin typeface="Arial"/>
              </a:rPr>
              <a:t>Файл технически на месте, но пользоваться им дольше, чем не пользоваться — линейный лог не хранит связей между записями</a:t>
            </a:r>
          </a:p>
        </p:txBody>
      </p:sp>
      <p:sp>
        <p:nvSpPr>
          <p:cNvPr id="4" name="Rounded Rectangle 3"/>
          <p:cNvSpPr/>
          <p:nvPr/>
        </p:nvSpPr>
        <p:spPr>
          <a:xfrm>
            <a:off x="502920" y="1810512"/>
            <a:ext cx="11183112" cy="3218687"/>
          </a:xfrm>
          <a:prstGeom prst="roundRect">
            <a:avLst>
              <a:gd name="adj" fmla="val 9469"/>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22960" y="1993392"/>
            <a:ext cx="10515600" cy="2852927"/>
          </a:xfrm>
          <a:prstGeom prst="rect">
            <a:avLst/>
          </a:prstGeom>
          <a:noFill/>
        </p:spPr>
        <p:txBody>
          <a:bodyPr wrap="square" lIns="0" rIns="0" tIns="0" bIns="0" anchor="ctr">
            <a:spAutoFit/>
          </a:bodyPr>
          <a:lstStyle/>
          <a:p>
            <a:pPr algn="l">
              <a:lnSpc>
                <a:spcPct val="132000"/>
              </a:lnSpc>
            </a:pPr>
            <a:r>
              <a:rPr sz="1400" b="0" i="0">
                <a:solidFill>
                  <a:srgbClr val="21295C"/>
                </a:solidFill>
                <a:latin typeface="Arial"/>
              </a:rPr>
              <a:t>Прошло четыре месяца. Новый разработчик в команде просит агента добавить капчу на форму: появился спам. Агент листает DECISIONS.md целиком (тридцать восемь записей) и предлагает решение, которое противоречит более раннему решению №14: «не добавляем сторонние виджеты в форму, см. запись №3». Агент нашёл запись №3, но не нашёл запись №31 — она отменяет часть решения №3 конкретно для случая антиспама, дописана двумя месяцами позже, в другом конце файла, без единой отсылки назад.</a:t>
            </a:r>
          </a:p>
        </p:txBody>
      </p:sp>
      <p:sp>
        <p:nvSpPr>
          <p:cNvPr id="6" name="Rounded Rectangle 5"/>
          <p:cNvSpPr/>
          <p:nvPr/>
        </p:nvSpPr>
        <p:spPr>
          <a:xfrm>
            <a:off x="502920" y="5193792"/>
            <a:ext cx="11183112" cy="777240"/>
          </a:xfrm>
          <a:prstGeom prst="roundRect">
            <a:avLst>
              <a:gd name="adj" fmla="val 10000"/>
            </a:avLst>
          </a:prstGeom>
          <a:solidFill>
            <a:srgbClr val="FEF5E0"/>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04088" y="5266944"/>
            <a:ext cx="10780776" cy="630936"/>
          </a:xfrm>
          <a:prstGeom prst="rect">
            <a:avLst/>
          </a:prstGeom>
          <a:noFill/>
        </p:spPr>
        <p:txBody>
          <a:bodyPr wrap="square" lIns="0" rIns="0" tIns="0" bIns="0" anchor="ctr">
            <a:spAutoFit/>
          </a:bodyPr>
          <a:lstStyle/>
          <a:p>
            <a:pPr algn="ctr">
              <a:lnSpc>
                <a:spcPct val="122000"/>
              </a:lnSpc>
            </a:pPr>
            <a:r>
              <a:rPr sz="1500" b="1" i="0">
                <a:solidFill>
                  <a:srgbClr val="21295C"/>
                </a:solidFill>
                <a:latin typeface="Arial"/>
              </a:rPr>
              <a:t>Разработчик открывает файл сам и тратит на линейное чтение тридцати восьми записей больше времени, чем ушло бы на то, чтобы заново передумать вопрос с нуля.</a:t>
            </a:r>
          </a:p>
        </p:txBody>
      </p:sp>
      <p:sp>
        <p:nvSpPr>
          <p:cNvPr id="8" name="TextBox 7"/>
          <p:cNvSpPr txBox="1"/>
          <p:nvPr/>
        </p:nvSpPr>
        <p:spPr>
          <a:xfrm>
            <a:off x="502920" y="6044183"/>
            <a:ext cx="11183112" cy="274320"/>
          </a:xfrm>
          <a:prstGeom prst="rect">
            <a:avLst/>
          </a:prstGeom>
          <a:noFill/>
        </p:spPr>
        <p:txBody>
          <a:bodyPr wrap="square" lIns="0" rIns="0" tIns="0" bIns="0" anchor="t">
            <a:spAutoFit/>
          </a:bodyPr>
          <a:lstStyle/>
          <a:p>
            <a:pPr algn="ctr">
              <a:lnSpc>
                <a:spcPct val="115000"/>
              </a:lnSpc>
            </a:pPr>
            <a:r>
              <a:rPr sz="1050" b="0" i="1">
                <a:solidFill>
                  <a:srgbClr val="6B7685"/>
                </a:solidFill>
                <a:latin typeface="Arial"/>
              </a:rPr>
              <a:t>Пример иллюстративный — реального разросшегося DECISIONS.md на 38 записей не захвачено.</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29184"/>
            <a:ext cx="10515600" cy="292608"/>
          </a:xfrm>
          <a:prstGeom prst="rect">
            <a:avLst/>
          </a:prstGeom>
          <a:noFill/>
        </p:spPr>
        <p:txBody>
          <a:bodyPr wrap="square" lIns="0" rIns="0" tIns="0" bIns="0" anchor="t">
            <a:spAutoFit/>
          </a:bodyPr>
          <a:lstStyle/>
          <a:p>
            <a:pPr algn="l">
              <a:lnSpc>
                <a:spcPct val="115000"/>
              </a:lnSpc>
            </a:pPr>
            <a:r>
              <a:rPr sz="1150" b="1" i="0">
                <a:solidFill>
                  <a:srgbClr val="028090"/>
                </a:solidFill>
                <a:latin typeface="Arial"/>
              </a:rPr>
              <a:t>КЕЙС 2.2 · ВОПРОС</a:t>
            </a:r>
          </a:p>
        </p:txBody>
      </p:sp>
      <p:sp>
        <p:nvSpPr>
          <p:cNvPr id="3" name="TextBox 2"/>
          <p:cNvSpPr txBox="1"/>
          <p:nvPr/>
        </p:nvSpPr>
        <p:spPr>
          <a:xfrm>
            <a:off x="502920" y="640080"/>
            <a:ext cx="11183112" cy="1188720"/>
          </a:xfrm>
          <a:prstGeom prst="rect">
            <a:avLst/>
          </a:prstGeom>
          <a:noFill/>
        </p:spPr>
        <p:txBody>
          <a:bodyPr wrap="square" lIns="0" rIns="0" tIns="0" bIns="0" anchor="t">
            <a:spAutoFit/>
          </a:bodyPr>
          <a:lstStyle/>
          <a:p>
            <a:pPr algn="l">
              <a:lnSpc>
                <a:spcPct val="114000"/>
              </a:lnSpc>
            </a:pPr>
            <a:r>
              <a:rPr sz="1450" b="1" i="0">
                <a:solidFill>
                  <a:srgbClr val="21295C"/>
                </a:solidFill>
                <a:latin typeface="Arial"/>
              </a:rPr>
              <a:t>Разросшийся журнал решений и потерянная связь между двумя записями — повод выбрать, как его реорганизовать, а не заводить заново</a:t>
            </a:r>
          </a:p>
        </p:txBody>
      </p:sp>
      <p:sp>
        <p:nvSpPr>
          <p:cNvPr id="4" name="Rounded Rectangle 3"/>
          <p:cNvSpPr/>
          <p:nvPr/>
        </p:nvSpPr>
        <p:spPr>
          <a:xfrm>
            <a:off x="502920" y="1993392"/>
            <a:ext cx="11183112" cy="1188720"/>
          </a:xfrm>
          <a:prstGeom prst="roundRect">
            <a:avLst>
              <a:gd name="adj" fmla="val 10000"/>
            </a:avLst>
          </a:prstGeom>
          <a:solidFill>
            <a:srgbClr val="FEF5E0"/>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04088" y="2066544"/>
            <a:ext cx="10780776" cy="1042416"/>
          </a:xfrm>
          <a:prstGeom prst="rect">
            <a:avLst/>
          </a:prstGeom>
          <a:noFill/>
        </p:spPr>
        <p:txBody>
          <a:bodyPr wrap="square" lIns="0" rIns="0" tIns="0" bIns="0" anchor="ctr">
            <a:spAutoFit/>
          </a:bodyPr>
          <a:lstStyle/>
          <a:p>
            <a:pPr algn="l">
              <a:lnSpc>
                <a:spcPct val="122000"/>
              </a:lnSpc>
            </a:pPr>
            <a:r>
              <a:rPr sz="1400" b="1" i="0">
                <a:solidFill>
                  <a:srgbClr val="21295C"/>
                </a:solidFill>
                <a:latin typeface="Arial"/>
              </a:rPr>
              <a:t>«DECISIONS.md разросся, и в нём уже есть решение, которое отменяет часть более раннего решения, — без единой ссылки между ними. Выберите, как реорганизовать этот файл — из карточек ниже — так, чтобы агент быстро находил нужное решение и видел связи между решениями, а не листал линейный лог с начала. Обоснуйте выбор.»</a:t>
            </a:r>
          </a:p>
        </p:txBody>
      </p:sp>
      <p:sp>
        <p:nvSpPr>
          <p:cNvPr id="6" name="Rounded Rectangle 5"/>
          <p:cNvSpPr/>
          <p:nvPr/>
        </p:nvSpPr>
        <p:spPr>
          <a:xfrm>
            <a:off x="502920" y="3383280"/>
            <a:ext cx="2119579" cy="1600200"/>
          </a:xfrm>
          <a:prstGeom prst="roundRect">
            <a:avLst>
              <a:gd name="adj" fmla="val 19047"/>
            </a:avLst>
          </a:prstGeom>
          <a:solidFill>
            <a:srgbClr val="F4F7FA"/>
          </a:solidFill>
          <a:ln w="1397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76072" y="3383280"/>
            <a:ext cx="1973275" cy="1600200"/>
          </a:xfrm>
          <a:prstGeom prst="rect">
            <a:avLst/>
          </a:prstGeom>
          <a:noFill/>
        </p:spPr>
        <p:txBody>
          <a:bodyPr wrap="square" lIns="0" rIns="0" tIns="0" bIns="0" anchor="ctr">
            <a:spAutoFit/>
          </a:bodyPr>
          <a:lstStyle/>
          <a:p>
            <a:pPr algn="ctr">
              <a:lnSpc>
                <a:spcPct val="115000"/>
              </a:lnSpc>
              <a:spcAft>
                <a:spcPts val="0"/>
              </a:spcAft>
            </a:pPr>
            <a:r>
              <a:rPr sz="1250" b="1" i="0">
                <a:solidFill>
                  <a:srgbClr val="21295C"/>
                </a:solidFill>
                <a:latin typeface="Arial"/>
              </a:rPr>
              <a:t>оставить как есть —</a:t>
            </a:r>
          </a:p>
          <a:p>
            <a:pPr algn="ctr">
              <a:lnSpc>
                <a:spcPct val="115000"/>
              </a:lnSpc>
              <a:spcAft>
                <a:spcPts val="0"/>
              </a:spcAft>
            </a:pPr>
            <a:r>
              <a:rPr sz="1250" b="1" i="0">
                <a:solidFill>
                  <a:srgbClr val="21295C"/>
                </a:solidFill>
                <a:latin typeface="Arial"/>
              </a:rPr>
              <a:t>просто грепать</a:t>
            </a:r>
          </a:p>
        </p:txBody>
      </p:sp>
      <p:sp>
        <p:nvSpPr>
          <p:cNvPr id="8" name="Rounded Rectangle 7"/>
          <p:cNvSpPr/>
          <p:nvPr/>
        </p:nvSpPr>
        <p:spPr>
          <a:xfrm>
            <a:off x="2768803" y="3383280"/>
            <a:ext cx="2119579" cy="1600200"/>
          </a:xfrm>
          <a:prstGeom prst="roundRect">
            <a:avLst>
              <a:gd name="adj" fmla="val 19047"/>
            </a:avLst>
          </a:prstGeom>
          <a:solidFill>
            <a:srgbClr val="F4F7FA"/>
          </a:solidFill>
          <a:ln w="1397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2841955" y="3383280"/>
            <a:ext cx="1973275" cy="1600200"/>
          </a:xfrm>
          <a:prstGeom prst="rect">
            <a:avLst/>
          </a:prstGeom>
          <a:noFill/>
        </p:spPr>
        <p:txBody>
          <a:bodyPr wrap="square" lIns="0" rIns="0" tIns="0" bIns="0" anchor="ctr">
            <a:spAutoFit/>
          </a:bodyPr>
          <a:lstStyle/>
          <a:p>
            <a:pPr algn="ctr">
              <a:lnSpc>
                <a:spcPct val="115000"/>
              </a:lnSpc>
              <a:spcAft>
                <a:spcPts val="0"/>
              </a:spcAft>
            </a:pPr>
            <a:r>
              <a:rPr sz="1250" b="1" i="0">
                <a:solidFill>
                  <a:srgbClr val="21295C"/>
                </a:solidFill>
                <a:latin typeface="Arial"/>
              </a:rPr>
              <a:t>разбить на тематические</a:t>
            </a:r>
          </a:p>
          <a:p>
            <a:pPr algn="ctr">
              <a:lnSpc>
                <a:spcPct val="115000"/>
              </a:lnSpc>
              <a:spcAft>
                <a:spcPts val="0"/>
              </a:spcAft>
            </a:pPr>
            <a:r>
              <a:rPr sz="1250" b="1" i="0">
                <a:solidFill>
                  <a:srgbClr val="21295C"/>
                </a:solidFill>
                <a:latin typeface="Arial"/>
              </a:rPr>
              <a:t>файлы со ссылками</a:t>
            </a:r>
          </a:p>
        </p:txBody>
      </p:sp>
      <p:sp>
        <p:nvSpPr>
          <p:cNvPr id="10" name="Rounded Rectangle 9"/>
          <p:cNvSpPr/>
          <p:nvPr/>
        </p:nvSpPr>
        <p:spPr>
          <a:xfrm>
            <a:off x="5034686" y="3383280"/>
            <a:ext cx="2119579" cy="1600200"/>
          </a:xfrm>
          <a:prstGeom prst="roundRect">
            <a:avLst>
              <a:gd name="adj" fmla="val 19047"/>
            </a:avLst>
          </a:prstGeom>
          <a:solidFill>
            <a:srgbClr val="F4F7FA"/>
          </a:solidFill>
          <a:ln w="1397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107838" y="3383280"/>
            <a:ext cx="1973275" cy="1600200"/>
          </a:xfrm>
          <a:prstGeom prst="rect">
            <a:avLst/>
          </a:prstGeom>
          <a:noFill/>
        </p:spPr>
        <p:txBody>
          <a:bodyPr wrap="square" lIns="0" rIns="0" tIns="0" bIns="0" anchor="ctr">
            <a:spAutoFit/>
          </a:bodyPr>
          <a:lstStyle/>
          <a:p>
            <a:pPr algn="ctr">
              <a:lnSpc>
                <a:spcPct val="115000"/>
              </a:lnSpc>
              <a:spcAft>
                <a:spcPts val="0"/>
              </a:spcAft>
            </a:pPr>
            <a:r>
              <a:rPr sz="1250" b="1" i="0">
                <a:solidFill>
                  <a:srgbClr val="21295C"/>
                </a:solidFill>
                <a:latin typeface="Arial"/>
              </a:rPr>
              <a:t>поставить графовую/</a:t>
            </a:r>
          </a:p>
          <a:p>
            <a:pPr algn="ctr">
              <a:lnSpc>
                <a:spcPct val="115000"/>
              </a:lnSpc>
              <a:spcAft>
                <a:spcPts val="0"/>
              </a:spcAft>
            </a:pPr>
            <a:r>
              <a:rPr sz="1250" b="1" i="0">
                <a:solidFill>
                  <a:srgbClr val="21295C"/>
                </a:solidFill>
                <a:latin typeface="Arial"/>
              </a:rPr>
              <a:t>векторную систему памяти</a:t>
            </a:r>
          </a:p>
        </p:txBody>
      </p:sp>
      <p:sp>
        <p:nvSpPr>
          <p:cNvPr id="12" name="Rounded Rectangle 11"/>
          <p:cNvSpPr/>
          <p:nvPr/>
        </p:nvSpPr>
        <p:spPr>
          <a:xfrm>
            <a:off x="7300569" y="3383280"/>
            <a:ext cx="2119579" cy="1600200"/>
          </a:xfrm>
          <a:prstGeom prst="roundRect">
            <a:avLst>
              <a:gd name="adj" fmla="val 19047"/>
            </a:avLst>
          </a:prstGeom>
          <a:solidFill>
            <a:srgbClr val="F4F7FA"/>
          </a:solidFill>
          <a:ln w="1397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373721" y="3383280"/>
            <a:ext cx="1973275" cy="1600200"/>
          </a:xfrm>
          <a:prstGeom prst="rect">
            <a:avLst/>
          </a:prstGeom>
          <a:noFill/>
        </p:spPr>
        <p:txBody>
          <a:bodyPr wrap="square" lIns="0" rIns="0" tIns="0" bIns="0" anchor="ctr">
            <a:spAutoFit/>
          </a:bodyPr>
          <a:lstStyle/>
          <a:p>
            <a:pPr algn="ctr">
              <a:lnSpc>
                <a:spcPct val="115000"/>
              </a:lnSpc>
              <a:spcAft>
                <a:spcPts val="0"/>
              </a:spcAft>
            </a:pPr>
            <a:r>
              <a:rPr sz="1250" b="1" i="0">
                <a:solidFill>
                  <a:srgbClr val="21295C"/>
                </a:solidFill>
                <a:latin typeface="Arial"/>
              </a:rPr>
              <a:t>завести один общий</a:t>
            </a:r>
          </a:p>
          <a:p>
            <a:pPr algn="ctr">
              <a:lnSpc>
                <a:spcPct val="115000"/>
              </a:lnSpc>
              <a:spcAft>
                <a:spcPts val="0"/>
              </a:spcAft>
            </a:pPr>
            <a:r>
              <a:rPr sz="1250" b="1" i="0">
                <a:solidFill>
                  <a:srgbClr val="21295C"/>
                </a:solidFill>
                <a:latin typeface="Arial"/>
              </a:rPr>
              <a:t>SUMMARY.md, переписываемый целиком</a:t>
            </a:r>
          </a:p>
        </p:txBody>
      </p:sp>
      <p:sp>
        <p:nvSpPr>
          <p:cNvPr id="14" name="Rounded Rectangle 13"/>
          <p:cNvSpPr/>
          <p:nvPr/>
        </p:nvSpPr>
        <p:spPr>
          <a:xfrm>
            <a:off x="9566452" y="3383280"/>
            <a:ext cx="2119579" cy="1600200"/>
          </a:xfrm>
          <a:prstGeom prst="roundRect">
            <a:avLst>
              <a:gd name="adj" fmla="val 19047"/>
            </a:avLst>
          </a:prstGeom>
          <a:solidFill>
            <a:srgbClr val="F4F7FA"/>
          </a:solidFill>
          <a:ln w="1397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639604" y="3383280"/>
            <a:ext cx="1973275" cy="1600200"/>
          </a:xfrm>
          <a:prstGeom prst="rect">
            <a:avLst/>
          </a:prstGeom>
          <a:noFill/>
        </p:spPr>
        <p:txBody>
          <a:bodyPr wrap="square" lIns="0" rIns="0" tIns="0" bIns="0" anchor="ctr">
            <a:spAutoFit/>
          </a:bodyPr>
          <a:lstStyle/>
          <a:p>
            <a:pPr algn="ctr">
              <a:lnSpc>
                <a:spcPct val="115000"/>
              </a:lnSpc>
              <a:spcAft>
                <a:spcPts val="0"/>
              </a:spcAft>
            </a:pPr>
            <a:r>
              <a:rPr sz="1250" b="1" i="0">
                <a:solidFill>
                  <a:srgbClr val="21295C"/>
                </a:solidFill>
                <a:latin typeface="Arial"/>
              </a:rPr>
              <a:t>агент сам найдёт</a:t>
            </a:r>
          </a:p>
          <a:p>
            <a:pPr algn="ctr">
              <a:lnSpc>
                <a:spcPct val="115000"/>
              </a:lnSpc>
              <a:spcAft>
                <a:spcPts val="0"/>
              </a:spcAft>
            </a:pPr>
            <a:r>
              <a:rPr sz="1250" b="1" i="0">
                <a:solidFill>
                  <a:srgbClr val="21295C"/>
                </a:solidFill>
                <a:latin typeface="Arial"/>
              </a:rPr>
              <a:t>через поиск по репозиторию</a:t>
            </a:r>
          </a:p>
        </p:txBody>
      </p:sp>
      <p:sp>
        <p:nvSpPr>
          <p:cNvPr id="16" name="TextBox 15"/>
          <p:cNvSpPr txBox="1"/>
          <p:nvPr/>
        </p:nvSpPr>
        <p:spPr>
          <a:xfrm>
            <a:off x="502920" y="5129784"/>
            <a:ext cx="11183112" cy="320040"/>
          </a:xfrm>
          <a:prstGeom prst="rect">
            <a:avLst/>
          </a:prstGeom>
          <a:noFill/>
        </p:spPr>
        <p:txBody>
          <a:bodyPr wrap="square" lIns="0" rIns="0" tIns="0" bIns="0" anchor="t">
            <a:spAutoFit/>
          </a:bodyPr>
          <a:lstStyle/>
          <a:p>
            <a:pPr algn="ctr">
              <a:lnSpc>
                <a:spcPct val="115000"/>
              </a:lnSpc>
            </a:pPr>
            <a:r>
              <a:rPr sz="1200" b="0" i="1">
                <a:solidFill>
                  <a:srgbClr val="6B7685"/>
                </a:solidFill>
                <a:latin typeface="Arial"/>
              </a:rPr>
              <a:t>разбор — на следующем слайде</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29184"/>
            <a:ext cx="10515600" cy="292608"/>
          </a:xfrm>
          <a:prstGeom prst="rect">
            <a:avLst/>
          </a:prstGeom>
          <a:noFill/>
        </p:spPr>
        <p:txBody>
          <a:bodyPr wrap="square" lIns="0" rIns="0" tIns="0" bIns="0" anchor="t">
            <a:spAutoFit/>
          </a:bodyPr>
          <a:lstStyle/>
          <a:p>
            <a:pPr algn="l">
              <a:lnSpc>
                <a:spcPct val="115000"/>
              </a:lnSpc>
            </a:pPr>
            <a:r>
              <a:rPr sz="1150" b="1" i="0">
                <a:solidFill>
                  <a:srgbClr val="028090"/>
                </a:solidFill>
                <a:latin typeface="Arial"/>
              </a:rPr>
              <a:t>КЕЙС 2.2 · ИССЛЕДОВАНИЕ</a:t>
            </a:r>
          </a:p>
        </p:txBody>
      </p:sp>
      <p:sp>
        <p:nvSpPr>
          <p:cNvPr id="3" name="TextBox 2"/>
          <p:cNvSpPr txBox="1"/>
          <p:nvPr/>
        </p:nvSpPr>
        <p:spPr>
          <a:xfrm>
            <a:off x="502920" y="640080"/>
            <a:ext cx="11183112" cy="1188720"/>
          </a:xfrm>
          <a:prstGeom prst="rect">
            <a:avLst/>
          </a:prstGeom>
          <a:noFill/>
        </p:spPr>
        <p:txBody>
          <a:bodyPr wrap="square" lIns="0" rIns="0" tIns="0" bIns="0" anchor="t">
            <a:spAutoFit/>
          </a:bodyPr>
          <a:lstStyle/>
          <a:p>
            <a:pPr algn="l">
              <a:lnSpc>
                <a:spcPct val="114000"/>
              </a:lnSpc>
            </a:pPr>
            <a:r>
              <a:rPr sz="1450" b="1" i="0">
                <a:solidFill>
                  <a:srgbClr val="21295C"/>
                </a:solidFill>
                <a:latin typeface="Arial"/>
              </a:rPr>
              <a:t>Плоская память деградирует со временем, а структура может окупаться именно для агента там, где не окупается для человека — но «умнее» не значит «лучше»</a:t>
            </a:r>
          </a:p>
        </p:txBody>
      </p:sp>
      <p:sp>
        <p:nvSpPr>
          <p:cNvPr id="4" name="TextBox 3"/>
          <p:cNvSpPr txBox="1"/>
          <p:nvPr/>
        </p:nvSpPr>
        <p:spPr>
          <a:xfrm>
            <a:off x="502920" y="1993392"/>
            <a:ext cx="11183112" cy="457200"/>
          </a:xfrm>
          <a:prstGeom prst="rect">
            <a:avLst/>
          </a:prstGeom>
          <a:noFill/>
        </p:spPr>
        <p:txBody>
          <a:bodyPr wrap="square" lIns="0" rIns="0" tIns="0" bIns="0" anchor="t">
            <a:spAutoFit/>
          </a:bodyPr>
          <a:lstStyle/>
          <a:p>
            <a:pPr algn="l">
              <a:lnSpc>
                <a:spcPct val="120000"/>
              </a:lnSpc>
            </a:pPr>
            <a:r>
              <a:rPr sz="1080" b="0" i="1">
                <a:solidFill>
                  <a:srgbClr val="6B7685"/>
                </a:solidFill>
                <a:latin typeface="Arial"/>
              </a:rPr>
              <a:t>почти все источники ниже — свежие непроверенные препринты 2026 года; цифры — «заявлено в препринте», а не установленный факт</a:t>
            </a:r>
          </a:p>
        </p:txBody>
      </p:sp>
      <p:sp>
        <p:nvSpPr>
          <p:cNvPr id="5" name="Rounded Rectangle 4"/>
          <p:cNvSpPr/>
          <p:nvPr/>
        </p:nvSpPr>
        <p:spPr>
          <a:xfrm>
            <a:off x="502920" y="2523744"/>
            <a:ext cx="11183112" cy="1417320"/>
          </a:xfrm>
          <a:prstGeom prst="roundRect">
            <a:avLst>
              <a:gd name="adj" fmla="val 21505"/>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13232" y="2633472"/>
            <a:ext cx="10744200" cy="1197864"/>
          </a:xfrm>
          <a:prstGeom prst="rect">
            <a:avLst/>
          </a:prstGeom>
          <a:noFill/>
        </p:spPr>
        <p:txBody>
          <a:bodyPr wrap="square" lIns="0" rIns="0" tIns="0" bIns="0" anchor="t">
            <a:spAutoFit/>
          </a:bodyPr>
          <a:lstStyle/>
          <a:p>
            <a:pPr algn="l">
              <a:lnSpc>
                <a:spcPct val="124000"/>
              </a:lnSpc>
            </a:pPr>
            <a:r>
              <a:rPr sz="1130" b="0" i="0">
                <a:solidFill>
                  <a:srgbClr val="21295C"/>
                </a:solidFill>
                <a:latin typeface="Arial"/>
              </a:rPr>
              <a:t>MEMTIER (arXiv:2605.03675): плоская память деградирует на горизонте порядка 72 часов работы — минус 14 п.п. успешности вызовов инструментов (насыщение контекста, temporal decay, semantic drift). Логика «raw sources → wiki → schema»: у человека вики умирает — поддержка дороже ценности; у агента стоимость правки полутора десятков файлов близка к нулю.</a:t>
            </a:r>
          </a:p>
        </p:txBody>
      </p:sp>
      <p:sp>
        <p:nvSpPr>
          <p:cNvPr id="7" name="Rounded Rectangle 6"/>
          <p:cNvSpPr/>
          <p:nvPr/>
        </p:nvSpPr>
        <p:spPr>
          <a:xfrm>
            <a:off x="502920" y="4105656"/>
            <a:ext cx="11183112" cy="1188720"/>
          </a:xfrm>
          <a:prstGeom prst="roundRect">
            <a:avLst>
              <a:gd name="adj" fmla="val 25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85800" y="4288536"/>
            <a:ext cx="7715341" cy="329184"/>
          </a:xfrm>
          <a:prstGeom prst="rect">
            <a:avLst/>
          </a:prstGeom>
          <a:noFill/>
        </p:spPr>
        <p:txBody>
          <a:bodyPr wrap="square" lIns="0" rIns="0" tIns="0" bIns="0" anchor="t">
            <a:spAutoFit/>
          </a:bodyPr>
          <a:lstStyle/>
          <a:p>
            <a:pPr algn="l">
              <a:lnSpc>
                <a:spcPct val="115000"/>
              </a:lnSpc>
            </a:pPr>
            <a:r>
              <a:rPr sz="1150" b="1" i="0">
                <a:solidFill>
                  <a:srgbClr val="6B7685"/>
                </a:solidFill>
                <a:latin typeface="Arial"/>
              </a:rPr>
              <a:t>Система</a:t>
            </a:r>
          </a:p>
        </p:txBody>
      </p:sp>
      <p:sp>
        <p:nvSpPr>
          <p:cNvPr id="9" name="TextBox 8"/>
          <p:cNvSpPr txBox="1"/>
          <p:nvPr/>
        </p:nvSpPr>
        <p:spPr>
          <a:xfrm>
            <a:off x="8474293" y="4288536"/>
            <a:ext cx="2955706" cy="329184"/>
          </a:xfrm>
          <a:prstGeom prst="rect">
            <a:avLst/>
          </a:prstGeom>
          <a:noFill/>
        </p:spPr>
        <p:txBody>
          <a:bodyPr wrap="square" lIns="0" rIns="0" tIns="0" bIns="0" anchor="t">
            <a:spAutoFit/>
          </a:bodyPr>
          <a:lstStyle/>
          <a:p>
            <a:pPr algn="l">
              <a:lnSpc>
                <a:spcPct val="115000"/>
              </a:lnSpc>
            </a:pPr>
            <a:r>
              <a:rPr sz="1150" b="1" i="0">
                <a:solidFill>
                  <a:srgbClr val="6B7685"/>
                </a:solidFill>
                <a:latin typeface="Arial"/>
              </a:rPr>
              <a:t>LoCoMo (долговременная память)</a:t>
            </a:r>
          </a:p>
        </p:txBody>
      </p:sp>
      <p:sp>
        <p:nvSpPr>
          <p:cNvPr id="10" name="Rectangle 9"/>
          <p:cNvSpPr/>
          <p:nvPr/>
        </p:nvSpPr>
        <p:spPr>
          <a:xfrm>
            <a:off x="557784" y="4672584"/>
            <a:ext cx="11073384" cy="219456"/>
          </a:xfrm>
          <a:prstGeom prst="rect">
            <a:avLst/>
          </a:prstGeom>
          <a:solidFill>
            <a:srgbClr val="FEF5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85800" y="4672584"/>
            <a:ext cx="7697053" cy="219456"/>
          </a:xfrm>
          <a:prstGeom prst="rect">
            <a:avLst/>
          </a:prstGeom>
          <a:noFill/>
        </p:spPr>
        <p:txBody>
          <a:bodyPr wrap="square" lIns="0" rIns="0" tIns="0" bIns="0" anchor="ctr">
            <a:spAutoFit/>
          </a:bodyPr>
          <a:lstStyle/>
          <a:p>
            <a:pPr algn="l">
              <a:lnSpc>
                <a:spcPct val="115000"/>
              </a:lnSpc>
            </a:pPr>
            <a:r>
              <a:rPr sz="1300" b="0" i="0">
                <a:solidFill>
                  <a:srgbClr val="21295C"/>
                </a:solidFill>
                <a:latin typeface="Arial"/>
              </a:rPr>
              <a:t>Простое файловое хранилище (grep/чтение файлов)</a:t>
            </a:r>
          </a:p>
        </p:txBody>
      </p:sp>
      <p:sp>
        <p:nvSpPr>
          <p:cNvPr id="12" name="TextBox 11"/>
          <p:cNvSpPr txBox="1"/>
          <p:nvPr/>
        </p:nvSpPr>
        <p:spPr>
          <a:xfrm>
            <a:off x="8474293" y="4672584"/>
            <a:ext cx="2937418" cy="219456"/>
          </a:xfrm>
          <a:prstGeom prst="rect">
            <a:avLst/>
          </a:prstGeom>
          <a:noFill/>
        </p:spPr>
        <p:txBody>
          <a:bodyPr wrap="square" lIns="0" rIns="0" tIns="0" bIns="0" anchor="ctr">
            <a:spAutoFit/>
          </a:bodyPr>
          <a:lstStyle/>
          <a:p>
            <a:pPr algn="l">
              <a:lnSpc>
                <a:spcPct val="115000"/>
              </a:lnSpc>
            </a:pPr>
            <a:r>
              <a:rPr sz="1300" b="0" i="0">
                <a:solidFill>
                  <a:srgbClr val="21295C"/>
                </a:solidFill>
                <a:latin typeface="Arial"/>
              </a:rPr>
              <a:t>74,0%</a:t>
            </a:r>
          </a:p>
        </p:txBody>
      </p:sp>
      <p:cxnSp>
        <p:nvCxnSpPr>
          <p:cNvPr id="13" name="Connector 12"/>
          <p:cNvCxnSpPr/>
          <p:nvPr/>
        </p:nvCxnSpPr>
        <p:spPr>
          <a:xfrm>
            <a:off x="685800" y="4892040"/>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4" name="TextBox 13"/>
          <p:cNvSpPr txBox="1"/>
          <p:nvPr/>
        </p:nvSpPr>
        <p:spPr>
          <a:xfrm>
            <a:off x="685800" y="4892040"/>
            <a:ext cx="7697053" cy="219456"/>
          </a:xfrm>
          <a:prstGeom prst="rect">
            <a:avLst/>
          </a:prstGeom>
          <a:noFill/>
        </p:spPr>
        <p:txBody>
          <a:bodyPr wrap="square" lIns="0" rIns="0" tIns="0" bIns="0" anchor="ctr">
            <a:spAutoFit/>
          </a:bodyPr>
          <a:lstStyle/>
          <a:p>
            <a:pPr algn="l">
              <a:lnSpc>
                <a:spcPct val="115000"/>
              </a:lnSpc>
            </a:pPr>
            <a:r>
              <a:rPr sz="1300" b="0" i="0">
                <a:solidFill>
                  <a:srgbClr val="21295C"/>
                </a:solidFill>
                <a:latin typeface="Arial"/>
              </a:rPr>
              <a:t>Mem0 (graph-based)</a:t>
            </a:r>
          </a:p>
        </p:txBody>
      </p:sp>
      <p:sp>
        <p:nvSpPr>
          <p:cNvPr id="15" name="TextBox 14"/>
          <p:cNvSpPr txBox="1"/>
          <p:nvPr/>
        </p:nvSpPr>
        <p:spPr>
          <a:xfrm>
            <a:off x="8474293" y="4892040"/>
            <a:ext cx="2937418" cy="219456"/>
          </a:xfrm>
          <a:prstGeom prst="rect">
            <a:avLst/>
          </a:prstGeom>
          <a:noFill/>
        </p:spPr>
        <p:txBody>
          <a:bodyPr wrap="square" lIns="0" rIns="0" tIns="0" bIns="0" anchor="ctr">
            <a:spAutoFit/>
          </a:bodyPr>
          <a:lstStyle/>
          <a:p>
            <a:pPr algn="l">
              <a:lnSpc>
                <a:spcPct val="115000"/>
              </a:lnSpc>
            </a:pPr>
            <a:r>
              <a:rPr sz="1300" b="0" i="0">
                <a:solidFill>
                  <a:srgbClr val="21295C"/>
                </a:solidFill>
                <a:latin typeface="Arial"/>
              </a:rPr>
              <a:t>68,5%</a:t>
            </a:r>
          </a:p>
        </p:txBody>
      </p:sp>
      <p:sp>
        <p:nvSpPr>
          <p:cNvPr id="16" name="TextBox 15"/>
          <p:cNvSpPr txBox="1"/>
          <p:nvPr/>
        </p:nvSpPr>
        <p:spPr>
          <a:xfrm>
            <a:off x="502920" y="5422392"/>
            <a:ext cx="11183112" cy="978408"/>
          </a:xfrm>
          <a:prstGeom prst="rect">
            <a:avLst/>
          </a:prstGeom>
          <a:noFill/>
        </p:spPr>
        <p:txBody>
          <a:bodyPr wrap="square" lIns="0" rIns="0" tIns="0" bIns="0" anchor="t">
            <a:spAutoFit/>
          </a:bodyPr>
          <a:lstStyle/>
          <a:p>
            <a:pPr algn="l">
              <a:lnSpc>
                <a:spcPct val="125000"/>
              </a:lnSpc>
            </a:pPr>
            <a:r>
              <a:rPr sz="1150" b="0" i="1">
                <a:solidFill>
                  <a:srgbClr val="6B7685"/>
                </a:solidFill>
                <a:latin typeface="Arial"/>
              </a:rPr>
              <a:t>Летта-контрпример: простое хранилище обошло графовую систему памяти — модели тренированы на файловых операциях как на самом привычном инструменте. Держите эту цифру в голове — она вернётся в разборе.</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29184"/>
            <a:ext cx="10515600" cy="292608"/>
          </a:xfrm>
          <a:prstGeom prst="rect">
            <a:avLst/>
          </a:prstGeom>
          <a:noFill/>
        </p:spPr>
        <p:txBody>
          <a:bodyPr wrap="square" lIns="0" rIns="0" tIns="0" bIns="0" anchor="t">
            <a:spAutoFit/>
          </a:bodyPr>
          <a:lstStyle/>
          <a:p>
            <a:pPr algn="l">
              <a:lnSpc>
                <a:spcPct val="115000"/>
              </a:lnSpc>
            </a:pPr>
            <a:r>
              <a:rPr sz="1150" b="1" i="0">
                <a:solidFill>
                  <a:srgbClr val="028090"/>
                </a:solidFill>
                <a:latin typeface="Arial"/>
              </a:rPr>
              <a:t>КЕЙС 2.2 · РАЗБОР</a:t>
            </a:r>
          </a:p>
        </p:txBody>
      </p:sp>
      <p:sp>
        <p:nvSpPr>
          <p:cNvPr id="3" name="TextBox 2"/>
          <p:cNvSpPr txBox="1"/>
          <p:nvPr/>
        </p:nvSpPr>
        <p:spPr>
          <a:xfrm>
            <a:off x="502920" y="640080"/>
            <a:ext cx="11183112" cy="1005840"/>
          </a:xfrm>
          <a:prstGeom prst="rect">
            <a:avLst/>
          </a:prstGeom>
          <a:noFill/>
        </p:spPr>
        <p:txBody>
          <a:bodyPr wrap="square" lIns="0" rIns="0" tIns="0" bIns="0" anchor="t">
            <a:spAutoFit/>
          </a:bodyPr>
          <a:lstStyle/>
          <a:p>
            <a:pPr algn="l">
              <a:lnSpc>
                <a:spcPct val="114000"/>
              </a:lnSpc>
            </a:pPr>
            <a:r>
              <a:rPr sz="1650" b="1" i="0">
                <a:solidFill>
                  <a:srgbClr val="21295C"/>
                </a:solidFill>
                <a:latin typeface="Arial"/>
              </a:rPr>
              <a:t>Разбить на тематические файлы со сквозными ссылками — целевой ответ, но не бесплатный: структура сама создаёт новую нагрузку</a:t>
            </a:r>
          </a:p>
        </p:txBody>
      </p:sp>
      <p:sp>
        <p:nvSpPr>
          <p:cNvPr id="4" name="TextBox 3"/>
          <p:cNvSpPr txBox="1"/>
          <p:nvPr/>
        </p:nvSpPr>
        <p:spPr>
          <a:xfrm>
            <a:off x="502920" y="1810512"/>
            <a:ext cx="11183112" cy="274320"/>
          </a:xfrm>
          <a:prstGeom prst="rect">
            <a:avLst/>
          </a:prstGeom>
          <a:noFill/>
        </p:spPr>
        <p:txBody>
          <a:bodyPr wrap="square" lIns="0" rIns="0" tIns="0" bIns="0" anchor="t">
            <a:spAutoFit/>
          </a:bodyPr>
          <a:lstStyle/>
          <a:p>
            <a:pPr algn="l">
              <a:lnSpc>
                <a:spcPct val="115000"/>
              </a:lnSpc>
            </a:pPr>
            <a:r>
              <a:rPr sz="1130" b="0" i="1">
                <a:solidFill>
                  <a:srgbClr val="6B7685"/>
                </a:solidFill>
                <a:latin typeface="Arial"/>
              </a:rPr>
              <a:t>вопрос для контекста: «Как реорганизовать разросшийся журнал решений?»</a:t>
            </a:r>
          </a:p>
        </p:txBody>
      </p:sp>
      <p:sp>
        <p:nvSpPr>
          <p:cNvPr id="5" name="Rounded Rectangle 4"/>
          <p:cNvSpPr/>
          <p:nvPr/>
        </p:nvSpPr>
        <p:spPr>
          <a:xfrm>
            <a:off x="502920" y="2176272"/>
            <a:ext cx="11183112" cy="3337560"/>
          </a:xfrm>
          <a:prstGeom prst="roundRect">
            <a:avLst>
              <a:gd name="adj" fmla="val 9132"/>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85800" y="2359152"/>
            <a:ext cx="2739359" cy="329184"/>
          </a:xfrm>
          <a:prstGeom prst="rect">
            <a:avLst/>
          </a:prstGeom>
          <a:noFill/>
        </p:spPr>
        <p:txBody>
          <a:bodyPr wrap="square" lIns="0" rIns="0" tIns="0" bIns="0" anchor="t">
            <a:spAutoFit/>
          </a:bodyPr>
          <a:lstStyle/>
          <a:p>
            <a:pPr algn="l">
              <a:lnSpc>
                <a:spcPct val="115000"/>
              </a:lnSpc>
            </a:pPr>
            <a:r>
              <a:rPr sz="1030" b="1" i="0">
                <a:solidFill>
                  <a:srgbClr val="6B7685"/>
                </a:solidFill>
                <a:latin typeface="Arial"/>
              </a:rPr>
              <a:t>Вариант</a:t>
            </a:r>
          </a:p>
        </p:txBody>
      </p:sp>
      <p:sp>
        <p:nvSpPr>
          <p:cNvPr id="7" name="TextBox 6"/>
          <p:cNvSpPr txBox="1"/>
          <p:nvPr/>
        </p:nvSpPr>
        <p:spPr>
          <a:xfrm>
            <a:off x="3498311" y="2359152"/>
            <a:ext cx="2955706" cy="329184"/>
          </a:xfrm>
          <a:prstGeom prst="rect">
            <a:avLst/>
          </a:prstGeom>
          <a:noFill/>
        </p:spPr>
        <p:txBody>
          <a:bodyPr wrap="square" lIns="0" rIns="0" tIns="0" bIns="0" anchor="t">
            <a:spAutoFit/>
          </a:bodyPr>
          <a:lstStyle/>
          <a:p>
            <a:pPr algn="l">
              <a:lnSpc>
                <a:spcPct val="115000"/>
              </a:lnSpc>
            </a:pPr>
            <a:r>
              <a:rPr sz="1030" b="1" i="0">
                <a:solidFill>
                  <a:srgbClr val="6B7685"/>
                </a:solidFill>
                <a:latin typeface="Arial"/>
              </a:rPr>
              <a:t>Где это работает</a:t>
            </a:r>
          </a:p>
        </p:txBody>
      </p:sp>
      <p:sp>
        <p:nvSpPr>
          <p:cNvPr id="8" name="TextBox 7"/>
          <p:cNvSpPr txBox="1"/>
          <p:nvPr/>
        </p:nvSpPr>
        <p:spPr>
          <a:xfrm>
            <a:off x="6527170" y="2359152"/>
            <a:ext cx="4902829" cy="329184"/>
          </a:xfrm>
          <a:prstGeom prst="rect">
            <a:avLst/>
          </a:prstGeom>
          <a:noFill/>
        </p:spPr>
        <p:txBody>
          <a:bodyPr wrap="square" lIns="0" rIns="0" tIns="0" bIns="0" anchor="t">
            <a:spAutoFit/>
          </a:bodyPr>
          <a:lstStyle/>
          <a:p>
            <a:pPr algn="l">
              <a:lnSpc>
                <a:spcPct val="115000"/>
              </a:lnSpc>
            </a:pPr>
            <a:r>
              <a:rPr sz="1030" b="1" i="0">
                <a:solidFill>
                  <a:srgbClr val="6B7685"/>
                </a:solidFill>
                <a:latin typeface="Arial"/>
              </a:rPr>
              <a:t>Почему здесь ещё рано — и что вместо</a:t>
            </a:r>
          </a:p>
        </p:txBody>
      </p:sp>
      <p:sp>
        <p:nvSpPr>
          <p:cNvPr id="9" name="TextBox 8"/>
          <p:cNvSpPr txBox="1"/>
          <p:nvPr/>
        </p:nvSpPr>
        <p:spPr>
          <a:xfrm>
            <a:off x="685800" y="2743200"/>
            <a:ext cx="2721071" cy="517550"/>
          </a:xfrm>
          <a:prstGeom prst="rect">
            <a:avLst/>
          </a:prstGeom>
          <a:noFill/>
        </p:spPr>
        <p:txBody>
          <a:bodyPr wrap="square" lIns="0" rIns="0" tIns="0" bIns="0" anchor="ctr">
            <a:spAutoFit/>
          </a:bodyPr>
          <a:lstStyle/>
          <a:p>
            <a:pPr algn="l">
              <a:lnSpc>
                <a:spcPct val="115000"/>
              </a:lnSpc>
            </a:pPr>
            <a:r>
              <a:rPr sz="1000" b="0" i="0">
                <a:solidFill>
                  <a:srgbClr val="21295C"/>
                </a:solidFill>
                <a:latin typeface="Arial"/>
              </a:rPr>
              <a:t>«Оставить как есть, просто грепать»</a:t>
            </a:r>
          </a:p>
        </p:txBody>
      </p:sp>
      <p:sp>
        <p:nvSpPr>
          <p:cNvPr id="10" name="TextBox 9"/>
          <p:cNvSpPr txBox="1"/>
          <p:nvPr/>
        </p:nvSpPr>
        <p:spPr>
          <a:xfrm>
            <a:off x="3498311" y="2743200"/>
            <a:ext cx="2937418" cy="517550"/>
          </a:xfrm>
          <a:prstGeom prst="rect">
            <a:avLst/>
          </a:prstGeom>
          <a:noFill/>
        </p:spPr>
        <p:txBody>
          <a:bodyPr wrap="square" lIns="0" rIns="0" tIns="0" bIns="0" anchor="ctr">
            <a:spAutoFit/>
          </a:bodyPr>
          <a:lstStyle/>
          <a:p>
            <a:pPr algn="l">
              <a:lnSpc>
                <a:spcPct val="115000"/>
              </a:lnSpc>
            </a:pPr>
            <a:r>
              <a:rPr sz="1000" b="0" i="0">
                <a:solidFill>
                  <a:srgbClr val="21295C"/>
                </a:solidFill>
                <a:latin typeface="Arial"/>
              </a:rPr>
              <a:t>Пока записей десятки и они укладываются в контекст целиком</a:t>
            </a:r>
          </a:p>
        </p:txBody>
      </p:sp>
      <p:sp>
        <p:nvSpPr>
          <p:cNvPr id="11" name="TextBox 10"/>
          <p:cNvSpPr txBox="1"/>
          <p:nvPr/>
        </p:nvSpPr>
        <p:spPr>
          <a:xfrm>
            <a:off x="6527170" y="2743200"/>
            <a:ext cx="4884541" cy="517550"/>
          </a:xfrm>
          <a:prstGeom prst="rect">
            <a:avLst/>
          </a:prstGeom>
          <a:noFill/>
        </p:spPr>
        <p:txBody>
          <a:bodyPr wrap="square" lIns="0" rIns="0" tIns="0" bIns="0" anchor="ctr">
            <a:spAutoFit/>
          </a:bodyPr>
          <a:lstStyle/>
          <a:p>
            <a:pPr algn="l">
              <a:lnSpc>
                <a:spcPct val="115000"/>
              </a:lnSpc>
            </a:pPr>
            <a:r>
              <a:rPr sz="1000" b="0" i="0">
                <a:solidFill>
                  <a:srgbClr val="21295C"/>
                </a:solidFill>
                <a:latin typeface="Arial"/>
              </a:rPr>
              <a:t>Деградация плоской памяти со временем задокументирована (~72 ч, −14 п.п.); наш файл уже перерос эту границу</a:t>
            </a:r>
          </a:p>
        </p:txBody>
      </p:sp>
      <p:cxnSp>
        <p:nvCxnSpPr>
          <p:cNvPr id="12" name="Connector 11"/>
          <p:cNvCxnSpPr/>
          <p:nvPr/>
        </p:nvCxnSpPr>
        <p:spPr>
          <a:xfrm>
            <a:off x="685800" y="3260750"/>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3" name="Rectangle 12"/>
          <p:cNvSpPr/>
          <p:nvPr/>
        </p:nvSpPr>
        <p:spPr>
          <a:xfrm>
            <a:off x="557784" y="3260750"/>
            <a:ext cx="11073384" cy="517550"/>
          </a:xfrm>
          <a:prstGeom prst="rect">
            <a:avLst/>
          </a:prstGeom>
          <a:solidFill>
            <a:srgbClr val="FEF5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85800" y="3260750"/>
            <a:ext cx="2721071" cy="517550"/>
          </a:xfrm>
          <a:prstGeom prst="rect">
            <a:avLst/>
          </a:prstGeom>
          <a:noFill/>
        </p:spPr>
        <p:txBody>
          <a:bodyPr wrap="square" lIns="0" rIns="0" tIns="0" bIns="0" anchor="ctr">
            <a:spAutoFit/>
          </a:bodyPr>
          <a:lstStyle/>
          <a:p>
            <a:pPr algn="l">
              <a:lnSpc>
                <a:spcPct val="115000"/>
              </a:lnSpc>
            </a:pPr>
            <a:r>
              <a:rPr sz="1000" b="0" i="0">
                <a:solidFill>
                  <a:srgbClr val="21295C"/>
                </a:solidFill>
                <a:latin typeface="Arial"/>
              </a:rPr>
              <a:t>«Разбить на тематические файлы со сквозными ссылками»</a:t>
            </a:r>
          </a:p>
        </p:txBody>
      </p:sp>
      <p:sp>
        <p:nvSpPr>
          <p:cNvPr id="15" name="TextBox 14"/>
          <p:cNvSpPr txBox="1"/>
          <p:nvPr/>
        </p:nvSpPr>
        <p:spPr>
          <a:xfrm>
            <a:off x="3498311" y="3260750"/>
            <a:ext cx="2937418" cy="517550"/>
          </a:xfrm>
          <a:prstGeom prst="rect">
            <a:avLst/>
          </a:prstGeom>
          <a:noFill/>
        </p:spPr>
        <p:txBody>
          <a:bodyPr wrap="square" lIns="0" rIns="0" tIns="0" bIns="0" anchor="ctr">
            <a:spAutoFit/>
          </a:bodyPr>
          <a:lstStyle/>
          <a:p>
            <a:pPr algn="l">
              <a:lnSpc>
                <a:spcPct val="115000"/>
              </a:lnSpc>
            </a:pPr>
            <a:r>
              <a:rPr sz="1000" b="0" i="0">
                <a:solidFill>
                  <a:srgbClr val="21295C"/>
                </a:solidFill>
                <a:latin typeface="Arial"/>
              </a:rPr>
              <a:t>Именно этот случай</a:t>
            </a:r>
          </a:p>
        </p:txBody>
      </p:sp>
      <p:sp>
        <p:nvSpPr>
          <p:cNvPr id="16" name="TextBox 15"/>
          <p:cNvSpPr txBox="1"/>
          <p:nvPr/>
        </p:nvSpPr>
        <p:spPr>
          <a:xfrm>
            <a:off x="6527170" y="3260750"/>
            <a:ext cx="4884541" cy="517550"/>
          </a:xfrm>
          <a:prstGeom prst="rect">
            <a:avLst/>
          </a:prstGeom>
          <a:noFill/>
        </p:spPr>
        <p:txBody>
          <a:bodyPr wrap="square" lIns="0" rIns="0" tIns="0" bIns="0" anchor="ctr">
            <a:spAutoFit/>
          </a:bodyPr>
          <a:lstStyle/>
          <a:p>
            <a:pPr algn="l">
              <a:lnSpc>
                <a:spcPct val="115000"/>
              </a:lnSpc>
            </a:pPr>
            <a:r>
              <a:rPr sz="1000" b="0" i="0">
                <a:solidFill>
                  <a:srgbClr val="21295C"/>
                </a:solidFill>
                <a:latin typeface="Arial"/>
              </a:rPr>
              <a:t>Целевой ответ, но не бесплатный — структура сама создаёт новую нагрузку (staleness, дублирование, поддержка)</a:t>
            </a:r>
          </a:p>
        </p:txBody>
      </p:sp>
      <p:cxnSp>
        <p:nvCxnSpPr>
          <p:cNvPr id="17" name="Connector 16"/>
          <p:cNvCxnSpPr/>
          <p:nvPr/>
        </p:nvCxnSpPr>
        <p:spPr>
          <a:xfrm>
            <a:off x="685800" y="3778300"/>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8" name="TextBox 17"/>
          <p:cNvSpPr txBox="1"/>
          <p:nvPr/>
        </p:nvSpPr>
        <p:spPr>
          <a:xfrm>
            <a:off x="685800" y="3778300"/>
            <a:ext cx="2721071" cy="517550"/>
          </a:xfrm>
          <a:prstGeom prst="rect">
            <a:avLst/>
          </a:prstGeom>
          <a:noFill/>
        </p:spPr>
        <p:txBody>
          <a:bodyPr wrap="square" lIns="0" rIns="0" tIns="0" bIns="0" anchor="ctr">
            <a:spAutoFit/>
          </a:bodyPr>
          <a:lstStyle/>
          <a:p>
            <a:pPr algn="l">
              <a:lnSpc>
                <a:spcPct val="115000"/>
              </a:lnSpc>
            </a:pPr>
            <a:r>
              <a:rPr sz="1000" b="0" i="0">
                <a:solidFill>
                  <a:srgbClr val="21295C"/>
                </a:solidFill>
                <a:latin typeface="Arial"/>
              </a:rPr>
              <a:t>«Поставлю графовую/векторную систему памяти»</a:t>
            </a:r>
          </a:p>
        </p:txBody>
      </p:sp>
      <p:sp>
        <p:nvSpPr>
          <p:cNvPr id="19" name="TextBox 18"/>
          <p:cNvSpPr txBox="1"/>
          <p:nvPr/>
        </p:nvSpPr>
        <p:spPr>
          <a:xfrm>
            <a:off x="3498311" y="3778300"/>
            <a:ext cx="2937418" cy="517550"/>
          </a:xfrm>
          <a:prstGeom prst="rect">
            <a:avLst/>
          </a:prstGeom>
          <a:noFill/>
        </p:spPr>
        <p:txBody>
          <a:bodyPr wrap="square" lIns="0" rIns="0" tIns="0" bIns="0" anchor="ctr">
            <a:spAutoFit/>
          </a:bodyPr>
          <a:lstStyle/>
          <a:p>
            <a:pPr algn="l">
              <a:lnSpc>
                <a:spcPct val="115000"/>
              </a:lnSpc>
            </a:pPr>
            <a:r>
              <a:rPr sz="1000" b="0" i="0">
                <a:solidFill>
                  <a:srgbClr val="21295C"/>
                </a:solidFill>
                <a:latin typeface="Arial"/>
              </a:rPr>
              <a:t>На больших многопользовательских корпусах с семантическим поиском</a:t>
            </a:r>
          </a:p>
        </p:txBody>
      </p:sp>
      <p:sp>
        <p:nvSpPr>
          <p:cNvPr id="20" name="TextBox 19"/>
          <p:cNvSpPr txBox="1"/>
          <p:nvPr/>
        </p:nvSpPr>
        <p:spPr>
          <a:xfrm>
            <a:off x="6527170" y="3778300"/>
            <a:ext cx="4884541" cy="517550"/>
          </a:xfrm>
          <a:prstGeom prst="rect">
            <a:avLst/>
          </a:prstGeom>
          <a:noFill/>
        </p:spPr>
        <p:txBody>
          <a:bodyPr wrap="square" lIns="0" rIns="0" tIns="0" bIns="0" anchor="ctr">
            <a:spAutoFit/>
          </a:bodyPr>
          <a:lstStyle/>
          <a:p>
            <a:pPr algn="l">
              <a:lnSpc>
                <a:spcPct val="115000"/>
              </a:lnSpc>
            </a:pPr>
            <a:r>
              <a:rPr sz="1000" b="0" i="0">
                <a:solidFill>
                  <a:srgbClr val="21295C"/>
                </a:solidFill>
                <a:latin typeface="Arial"/>
              </a:rPr>
              <a:t>Контрпример прямо про наш масштаб: файловое хранилище обошло graph-based систему на LoCoMo</a:t>
            </a:r>
          </a:p>
        </p:txBody>
      </p:sp>
      <p:cxnSp>
        <p:nvCxnSpPr>
          <p:cNvPr id="21" name="Connector 20"/>
          <p:cNvCxnSpPr/>
          <p:nvPr/>
        </p:nvCxnSpPr>
        <p:spPr>
          <a:xfrm>
            <a:off x="685800" y="4295851"/>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2" name="TextBox 21"/>
          <p:cNvSpPr txBox="1"/>
          <p:nvPr/>
        </p:nvSpPr>
        <p:spPr>
          <a:xfrm>
            <a:off x="685800" y="4295851"/>
            <a:ext cx="2721071" cy="517550"/>
          </a:xfrm>
          <a:prstGeom prst="rect">
            <a:avLst/>
          </a:prstGeom>
          <a:noFill/>
        </p:spPr>
        <p:txBody>
          <a:bodyPr wrap="square" lIns="0" rIns="0" tIns="0" bIns="0" anchor="ctr">
            <a:spAutoFit/>
          </a:bodyPr>
          <a:lstStyle/>
          <a:p>
            <a:pPr algn="l">
              <a:lnSpc>
                <a:spcPct val="115000"/>
              </a:lnSpc>
            </a:pPr>
            <a:r>
              <a:rPr sz="1000" b="0" i="0">
                <a:solidFill>
                  <a:srgbClr val="21295C"/>
                </a:solidFill>
                <a:latin typeface="Arial"/>
              </a:rPr>
              <a:t>«Один общий SUMMARY.md, переписываемый целиком»</a:t>
            </a:r>
          </a:p>
        </p:txBody>
      </p:sp>
      <p:sp>
        <p:nvSpPr>
          <p:cNvPr id="23" name="TextBox 22"/>
          <p:cNvSpPr txBox="1"/>
          <p:nvPr/>
        </p:nvSpPr>
        <p:spPr>
          <a:xfrm>
            <a:off x="3498311" y="4295851"/>
            <a:ext cx="2937418" cy="517550"/>
          </a:xfrm>
          <a:prstGeom prst="rect">
            <a:avLst/>
          </a:prstGeom>
          <a:noFill/>
        </p:spPr>
        <p:txBody>
          <a:bodyPr wrap="square" lIns="0" rIns="0" tIns="0" bIns="0" anchor="ctr">
            <a:spAutoFit/>
          </a:bodyPr>
          <a:lstStyle/>
          <a:p>
            <a:pPr algn="l">
              <a:lnSpc>
                <a:spcPct val="115000"/>
              </a:lnSpc>
            </a:pPr>
            <a:r>
              <a:rPr sz="1000" b="0" i="0">
                <a:solidFill>
                  <a:srgbClr val="21295C"/>
                </a:solidFill>
                <a:latin typeface="Arial"/>
              </a:rPr>
              <a:t>Для совсем маленького проекта</a:t>
            </a:r>
          </a:p>
        </p:txBody>
      </p:sp>
      <p:sp>
        <p:nvSpPr>
          <p:cNvPr id="24" name="TextBox 23"/>
          <p:cNvSpPr txBox="1"/>
          <p:nvPr/>
        </p:nvSpPr>
        <p:spPr>
          <a:xfrm>
            <a:off x="6527170" y="4295851"/>
            <a:ext cx="4884541" cy="517550"/>
          </a:xfrm>
          <a:prstGeom prst="rect">
            <a:avLst/>
          </a:prstGeom>
          <a:noFill/>
        </p:spPr>
        <p:txBody>
          <a:bodyPr wrap="square" lIns="0" rIns="0" tIns="0" bIns="0" anchor="ctr">
            <a:spAutoFit/>
          </a:bodyPr>
          <a:lstStyle/>
          <a:p>
            <a:pPr algn="l">
              <a:lnSpc>
                <a:spcPct val="115000"/>
              </a:lnSpc>
            </a:pPr>
            <a:r>
              <a:rPr sz="1000" b="0" i="0">
                <a:solidFill>
                  <a:srgbClr val="21295C"/>
                </a:solidFill>
                <a:latin typeface="Arial"/>
              </a:rPr>
              <a:t>Переписывание целиком убивает append-only гарантию</a:t>
            </a:r>
          </a:p>
        </p:txBody>
      </p:sp>
      <p:cxnSp>
        <p:nvCxnSpPr>
          <p:cNvPr id="25" name="Connector 24"/>
          <p:cNvCxnSpPr/>
          <p:nvPr/>
        </p:nvCxnSpPr>
        <p:spPr>
          <a:xfrm>
            <a:off x="685800" y="4813401"/>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6" name="TextBox 25"/>
          <p:cNvSpPr txBox="1"/>
          <p:nvPr/>
        </p:nvSpPr>
        <p:spPr>
          <a:xfrm>
            <a:off x="685800" y="4813401"/>
            <a:ext cx="2721071" cy="517550"/>
          </a:xfrm>
          <a:prstGeom prst="rect">
            <a:avLst/>
          </a:prstGeom>
          <a:noFill/>
        </p:spPr>
        <p:txBody>
          <a:bodyPr wrap="square" lIns="0" rIns="0" tIns="0" bIns="0" anchor="ctr">
            <a:spAutoFit/>
          </a:bodyPr>
          <a:lstStyle/>
          <a:p>
            <a:pPr algn="l">
              <a:lnSpc>
                <a:spcPct val="115000"/>
              </a:lnSpc>
            </a:pPr>
            <a:r>
              <a:rPr sz="1000" b="0" i="0">
                <a:solidFill>
                  <a:srgbClr val="21295C"/>
                </a:solidFill>
                <a:latin typeface="Arial"/>
              </a:rPr>
              <a:t>«Агент сам найдёт через поиск по репозиторию»</a:t>
            </a:r>
          </a:p>
        </p:txBody>
      </p:sp>
      <p:sp>
        <p:nvSpPr>
          <p:cNvPr id="27" name="TextBox 26"/>
          <p:cNvSpPr txBox="1"/>
          <p:nvPr/>
        </p:nvSpPr>
        <p:spPr>
          <a:xfrm>
            <a:off x="3498311" y="4813401"/>
            <a:ext cx="2937418" cy="517550"/>
          </a:xfrm>
          <a:prstGeom prst="rect">
            <a:avLst/>
          </a:prstGeom>
          <a:noFill/>
        </p:spPr>
        <p:txBody>
          <a:bodyPr wrap="square" lIns="0" rIns="0" tIns="0" bIns="0" anchor="ctr">
            <a:spAutoFit/>
          </a:bodyPr>
          <a:lstStyle/>
          <a:p>
            <a:pPr algn="l">
              <a:lnSpc>
                <a:spcPct val="115000"/>
              </a:lnSpc>
            </a:pPr>
            <a:r>
              <a:rPr sz="1000" b="0" i="0">
                <a:solidFill>
                  <a:srgbClr val="21295C"/>
                </a:solidFill>
                <a:latin typeface="Arial"/>
              </a:rPr>
              <a:t>Для фактов, выводимых из кода</a:t>
            </a:r>
          </a:p>
        </p:txBody>
      </p:sp>
      <p:sp>
        <p:nvSpPr>
          <p:cNvPr id="28" name="TextBox 27"/>
          <p:cNvSpPr txBox="1"/>
          <p:nvPr/>
        </p:nvSpPr>
        <p:spPr>
          <a:xfrm>
            <a:off x="6527170" y="4813401"/>
            <a:ext cx="4884541" cy="517550"/>
          </a:xfrm>
          <a:prstGeom prst="rect">
            <a:avLst/>
          </a:prstGeom>
          <a:noFill/>
        </p:spPr>
        <p:txBody>
          <a:bodyPr wrap="square" lIns="0" rIns="0" tIns="0" bIns="0" anchor="ctr">
            <a:spAutoFit/>
          </a:bodyPr>
          <a:lstStyle/>
          <a:p>
            <a:pPr algn="l">
              <a:lnSpc>
                <a:spcPct val="115000"/>
              </a:lnSpc>
            </a:pPr>
            <a:r>
              <a:rPr sz="1000" b="0" i="0">
                <a:solidFill>
                  <a:srgbClr val="21295C"/>
                </a:solidFill>
                <a:latin typeface="Arial"/>
              </a:rPr>
              <a:t>Решения — не факты кода. «Сам найдёт» — то же заблуждение, что «сам запомнит»</a:t>
            </a:r>
          </a:p>
        </p:txBody>
      </p:sp>
      <p:sp>
        <p:nvSpPr>
          <p:cNvPr id="29" name="Rounded Rectangle 28"/>
          <p:cNvSpPr/>
          <p:nvPr/>
        </p:nvSpPr>
        <p:spPr>
          <a:xfrm>
            <a:off x="502920" y="5660136"/>
            <a:ext cx="11183112" cy="777240"/>
          </a:xfrm>
          <a:prstGeom prst="roundRect">
            <a:avLst>
              <a:gd name="adj" fmla="val 10000"/>
            </a:avLst>
          </a:prstGeom>
          <a:solidFill>
            <a:srgbClr val="FEF5E0"/>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704088" y="5733288"/>
            <a:ext cx="10780776" cy="630936"/>
          </a:xfrm>
          <a:prstGeom prst="rect">
            <a:avLst/>
          </a:prstGeom>
          <a:noFill/>
        </p:spPr>
        <p:txBody>
          <a:bodyPr wrap="square" lIns="0" rIns="0" tIns="0" bIns="0" anchor="ctr">
            <a:spAutoFit/>
          </a:bodyPr>
          <a:lstStyle/>
          <a:p>
            <a:pPr algn="l">
              <a:lnSpc>
                <a:spcPct val="122000"/>
              </a:lnSpc>
            </a:pPr>
            <a:r>
              <a:rPr sz="1300" b="1" i="0">
                <a:solidFill>
                  <a:srgbClr val="21295C"/>
                </a:solidFill>
                <a:latin typeface="Arial"/>
              </a:rPr>
              <a:t>целевой ответ — разбить на тематические файлы со сквозными ссылками, со списком реальных издержек, а не как безусловный апгрейд</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29184"/>
            <a:ext cx="10515600" cy="292608"/>
          </a:xfrm>
          <a:prstGeom prst="rect">
            <a:avLst/>
          </a:prstGeom>
          <a:noFill/>
        </p:spPr>
        <p:txBody>
          <a:bodyPr wrap="square" lIns="0" rIns="0" tIns="0" bIns="0" anchor="t">
            <a:spAutoFit/>
          </a:bodyPr>
          <a:lstStyle/>
          <a:p>
            <a:pPr algn="l">
              <a:lnSpc>
                <a:spcPct val="115000"/>
              </a:lnSpc>
            </a:pPr>
            <a:r>
              <a:rPr sz="1150" b="1" i="0">
                <a:solidFill>
                  <a:srgbClr val="028090"/>
                </a:solidFill>
                <a:latin typeface="Arial"/>
              </a:rPr>
              <a:t>КЕЙС 2.2 · РЕШЕНИЕ</a:t>
            </a:r>
          </a:p>
        </p:txBody>
      </p:sp>
      <p:sp>
        <p:nvSpPr>
          <p:cNvPr id="3" name="TextBox 2"/>
          <p:cNvSpPr txBox="1"/>
          <p:nvPr/>
        </p:nvSpPr>
        <p:spPr>
          <a:xfrm>
            <a:off x="502920" y="640080"/>
            <a:ext cx="11183112" cy="1005840"/>
          </a:xfrm>
          <a:prstGeom prst="rect">
            <a:avLst/>
          </a:prstGeom>
          <a:noFill/>
        </p:spPr>
        <p:txBody>
          <a:bodyPr wrap="square" lIns="0" rIns="0" tIns="0" bIns="0" anchor="t">
            <a:spAutoFit/>
          </a:bodyPr>
          <a:lstStyle/>
          <a:p>
            <a:pPr algn="l">
              <a:lnSpc>
                <a:spcPct val="114000"/>
              </a:lnSpc>
            </a:pPr>
            <a:r>
              <a:rPr sz="1650" b="1" i="0">
                <a:solidFill>
                  <a:srgbClr val="21295C"/>
                </a:solidFill>
                <a:latin typeface="Arial"/>
              </a:rPr>
              <a:t>Запись явно ссылается на связанную запись — то, чего в плоском append-only логе не было в принципе</a:t>
            </a:r>
          </a:p>
        </p:txBody>
      </p:sp>
      <p:sp>
        <p:nvSpPr>
          <p:cNvPr id="4" name="Rounded Rectangle 3"/>
          <p:cNvSpPr/>
          <p:nvPr/>
        </p:nvSpPr>
        <p:spPr>
          <a:xfrm>
            <a:off x="502920" y="1810512"/>
            <a:ext cx="4572000" cy="3200400"/>
          </a:xfrm>
          <a:prstGeom prst="roundRect">
            <a:avLst>
              <a:gd name="adj" fmla="val 3500"/>
            </a:avLst>
          </a:prstGeom>
          <a:solidFill>
            <a:srgbClr val="161C30"/>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04088" y="2011680"/>
            <a:ext cx="4169663" cy="2798064"/>
          </a:xfrm>
          <a:prstGeom prst="rect">
            <a:avLst/>
          </a:prstGeom>
          <a:noFill/>
        </p:spPr>
        <p:txBody>
          <a:bodyPr wrap="square" lIns="0" rIns="0" tIns="0" bIns="0" anchor="t">
            <a:spAutoFit/>
          </a:bodyPr>
          <a:lstStyle/>
          <a:p>
            <a:pPr algn="l">
              <a:lnSpc>
                <a:spcPct val="132000"/>
              </a:lnSpc>
              <a:spcAft>
                <a:spcPts val="200"/>
              </a:spcAft>
            </a:pPr>
            <a:r>
              <a:rPr sz="1150" b="1" i="0">
                <a:solidFill>
                  <a:srgbClr val="028090"/>
                </a:solidFill>
                <a:latin typeface="Consolas"/>
              </a:rPr>
              <a:t>memory/decisions/</a:t>
            </a:r>
          </a:p>
          <a:p>
            <a:pPr algn="l">
              <a:lnSpc>
                <a:spcPct val="132000"/>
              </a:lnSpc>
              <a:spcAft>
                <a:spcPts val="200"/>
              </a:spcAft>
            </a:pPr>
            <a:r>
              <a:rPr sz="1150" b="0" i="0">
                <a:solidFill>
                  <a:srgbClr val="E3E9F2"/>
                </a:solidFill>
                <a:latin typeface="Consolas"/>
              </a:rPr>
              <a:t>  index.md        ← оглавление тем + ссылки</a:t>
            </a:r>
          </a:p>
          <a:p>
            <a:pPr algn="l">
              <a:lnSpc>
                <a:spcPct val="132000"/>
              </a:lnSpc>
              <a:spcAft>
                <a:spcPts val="200"/>
              </a:spcAft>
            </a:pPr>
            <a:r>
              <a:rPr sz="1150" b="0" i="0">
                <a:solidFill>
                  <a:srgbClr val="E3E9F2"/>
                </a:solidFill>
                <a:latin typeface="Consolas"/>
              </a:rPr>
              <a:t>  validation.md   ← решения по валидации формы</a:t>
            </a:r>
          </a:p>
          <a:p>
            <a:pPr algn="l">
              <a:lnSpc>
                <a:spcPct val="132000"/>
              </a:lnSpc>
              <a:spcAft>
                <a:spcPts val="200"/>
              </a:spcAft>
            </a:pPr>
            <a:r>
              <a:rPr sz="1150" b="0" i="0">
                <a:solidFill>
                  <a:srgbClr val="E3E9F2"/>
                </a:solidFill>
                <a:latin typeface="Consolas"/>
              </a:rPr>
              <a:t>  backend.md      ← решения о том, чего мы НЕ делаем</a:t>
            </a:r>
          </a:p>
          <a:p>
            <a:pPr algn="l">
              <a:lnSpc>
                <a:spcPct val="132000"/>
              </a:lnSpc>
              <a:spcAft>
                <a:spcPts val="200"/>
              </a:spcAft>
            </a:pPr>
            <a:r>
              <a:rPr sz="1150" b="0" i="0">
                <a:solidFill>
                  <a:srgbClr val="E3E9F2"/>
                </a:solidFill>
                <a:latin typeface="Consolas"/>
              </a:rPr>
              <a:t>  deploy.md</a:t>
            </a:r>
          </a:p>
        </p:txBody>
      </p:sp>
      <p:sp>
        <p:nvSpPr>
          <p:cNvPr id="6" name="Rounded Rectangle 5"/>
          <p:cNvSpPr/>
          <p:nvPr/>
        </p:nvSpPr>
        <p:spPr>
          <a:xfrm>
            <a:off x="5349240" y="1810512"/>
            <a:ext cx="6336792" cy="3200400"/>
          </a:xfrm>
          <a:prstGeom prst="roundRect">
            <a:avLst>
              <a:gd name="adj" fmla="val 3500"/>
            </a:avLst>
          </a:prstGeom>
          <a:solidFill>
            <a:srgbClr val="161C30"/>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550407" y="2011680"/>
            <a:ext cx="5934456" cy="274320"/>
          </a:xfrm>
          <a:prstGeom prst="rect">
            <a:avLst/>
          </a:prstGeom>
          <a:noFill/>
        </p:spPr>
        <p:txBody>
          <a:bodyPr wrap="square" lIns="0" rIns="0" tIns="0" bIns="0" anchor="t">
            <a:spAutoFit/>
          </a:bodyPr>
          <a:lstStyle/>
          <a:p>
            <a:pPr algn="l">
              <a:lnSpc>
                <a:spcPct val="115000"/>
              </a:lnSpc>
            </a:pPr>
            <a:r>
              <a:rPr sz="1100" b="1" i="0">
                <a:solidFill>
                  <a:srgbClr val="028090"/>
                </a:solidFill>
                <a:latin typeface="Consolas"/>
              </a:rPr>
              <a:t>validation.md — пример записи</a:t>
            </a:r>
          </a:p>
        </p:txBody>
      </p:sp>
      <p:sp>
        <p:nvSpPr>
          <p:cNvPr id="8" name="TextBox 7"/>
          <p:cNvSpPr txBox="1"/>
          <p:nvPr/>
        </p:nvSpPr>
        <p:spPr>
          <a:xfrm>
            <a:off x="5550407" y="2322576"/>
            <a:ext cx="5934456" cy="2487168"/>
          </a:xfrm>
          <a:prstGeom prst="rect">
            <a:avLst/>
          </a:prstGeom>
          <a:noFill/>
        </p:spPr>
        <p:txBody>
          <a:bodyPr wrap="square" lIns="0" rIns="0" tIns="0" bIns="0" anchor="t">
            <a:spAutoFit/>
          </a:bodyPr>
          <a:lstStyle/>
          <a:p>
            <a:pPr algn="l">
              <a:lnSpc>
                <a:spcPct val="132000"/>
              </a:lnSpc>
              <a:spcAft>
                <a:spcPts val="200"/>
              </a:spcAft>
            </a:pPr>
            <a:r>
              <a:rPr sz="1030" b="1" i="0">
                <a:solidFill>
                  <a:srgbClr val="028090"/>
                </a:solidFill>
                <a:latin typeface="Consolas"/>
              </a:rPr>
              <a:t>## 2026-09-20 — не подключаем библиотеку валидации форм</a:t>
            </a:r>
          </a:p>
          <a:p>
            <a:pPr algn="l">
              <a:lnSpc>
                <a:spcPct val="132000"/>
              </a:lnSpc>
              <a:spcAft>
                <a:spcPts val="200"/>
              </a:spcAft>
            </a:pPr>
            <a:r>
              <a:rPr sz="1030" b="0" i="0">
                <a:solidFill>
                  <a:srgbClr val="E3E9F2"/>
                </a:solidFill>
                <a:latin typeface="Consolas"/>
              </a:rPr>
              <a:t>Форма — два поля, хватает нативных required/pattern.</a:t>
            </a:r>
          </a:p>
          <a:p>
            <a:pPr algn="l">
              <a:lnSpc>
                <a:spcPct val="132000"/>
              </a:lnSpc>
              <a:spcAft>
                <a:spcPts val="200"/>
              </a:spcAft>
            </a:pPr>
            <a:r>
              <a:rPr sz="1030" b="0" i="0">
                <a:solidFill>
                  <a:srgbClr val="E3E9F2"/>
                </a:solidFill>
                <a:latin typeface="Consolas"/>
              </a:rPr>
              <a:t>См. также: 2026-11-30 (антиспам) — это решение НЕ</a:t>
            </a:r>
          </a:p>
          <a:p>
            <a:pPr algn="l">
              <a:lnSpc>
                <a:spcPct val="132000"/>
              </a:lnSpc>
              <a:spcAft>
                <a:spcPts val="200"/>
              </a:spcAft>
            </a:pPr>
            <a:r>
              <a:rPr sz="1030" b="0" i="0">
                <a:solidFill>
                  <a:srgbClr val="E3E9F2"/>
                </a:solidFill>
                <a:latin typeface="Consolas"/>
              </a:rPr>
              <a:t>распространяется на защиту от спама, другой механизм.</a:t>
            </a:r>
          </a:p>
          <a:p>
            <a:pPr algn="l">
              <a:lnSpc>
                <a:spcPct val="132000"/>
              </a:lnSpc>
              <a:spcAft>
                <a:spcPts val="200"/>
              </a:spcAft>
            </a:pPr>
            <a:r>
              <a:rPr sz="1030" b="0" i="0">
                <a:solidFill>
                  <a:srgbClr val="E3E9F2"/>
                </a:solidFill>
                <a:latin typeface="Consolas"/>
              </a:rPr>
              <a:t/>
            </a:r>
          </a:p>
          <a:p>
            <a:pPr algn="l">
              <a:lnSpc>
                <a:spcPct val="132000"/>
              </a:lnSpc>
              <a:spcAft>
                <a:spcPts val="200"/>
              </a:spcAft>
            </a:pPr>
            <a:r>
              <a:rPr sz="1030" b="1" i="0">
                <a:solidFill>
                  <a:srgbClr val="028090"/>
                </a:solidFill>
                <a:latin typeface="Consolas"/>
              </a:rPr>
              <a:t>## 2026-11-30 — антиспам через honeypot-поле, без капчи</a:t>
            </a:r>
          </a:p>
          <a:p>
            <a:pPr algn="l">
              <a:lnSpc>
                <a:spcPct val="132000"/>
              </a:lnSpc>
              <a:spcAft>
                <a:spcPts val="200"/>
              </a:spcAft>
            </a:pPr>
            <a:r>
              <a:rPr sz="1030" b="0" i="0">
                <a:solidFill>
                  <a:srgbClr val="E3E9F2"/>
                </a:solidFill>
                <a:latin typeface="Consolas"/>
              </a:rPr>
              <a:t>Отменяет часть решения от 2026-09-20 для случая антиспама.</a:t>
            </a:r>
          </a:p>
        </p:txBody>
      </p:sp>
      <p:sp>
        <p:nvSpPr>
          <p:cNvPr id="9" name="TextBox 8"/>
          <p:cNvSpPr txBox="1"/>
          <p:nvPr/>
        </p:nvSpPr>
        <p:spPr>
          <a:xfrm>
            <a:off x="502920" y="5193792"/>
            <a:ext cx="11183112" cy="1207007"/>
          </a:xfrm>
          <a:prstGeom prst="rect">
            <a:avLst/>
          </a:prstGeom>
          <a:noFill/>
        </p:spPr>
        <p:txBody>
          <a:bodyPr wrap="square" lIns="0" rIns="0" tIns="0" bIns="0" anchor="t">
            <a:spAutoFit/>
          </a:bodyPr>
          <a:lstStyle/>
          <a:p>
            <a:pPr algn="ctr">
              <a:lnSpc>
                <a:spcPct val="115000"/>
              </a:lnSpc>
            </a:pPr>
            <a:r>
              <a:rPr sz="1150" b="0" i="1">
                <a:solidFill>
                  <a:srgbClr val="6B7685"/>
                </a:solidFill>
                <a:latin typeface="Arial"/>
              </a:rPr>
              <a:t>иллюстративный пример, не захваченный вживую — ждёт реальной сессии</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29184"/>
            <a:ext cx="10515600" cy="292608"/>
          </a:xfrm>
          <a:prstGeom prst="rect">
            <a:avLst/>
          </a:prstGeom>
          <a:noFill/>
        </p:spPr>
        <p:txBody>
          <a:bodyPr wrap="square" lIns="0" rIns="0" tIns="0" bIns="0" anchor="t">
            <a:spAutoFit/>
          </a:bodyPr>
          <a:lstStyle/>
          <a:p>
            <a:pPr algn="l">
              <a:lnSpc>
                <a:spcPct val="115000"/>
              </a:lnSpc>
            </a:pPr>
            <a:r>
              <a:rPr sz="1150" b="1" i="0">
                <a:solidFill>
                  <a:srgbClr val="028090"/>
                </a:solidFill>
                <a:latin typeface="Arial"/>
              </a:rPr>
              <a:t>КЕЙС 2.2 · ПРОВАЛ И ИЗДЕРЖКИ</a:t>
            </a:r>
          </a:p>
        </p:txBody>
      </p:sp>
      <p:sp>
        <p:nvSpPr>
          <p:cNvPr id="3" name="TextBox 2"/>
          <p:cNvSpPr txBox="1"/>
          <p:nvPr/>
        </p:nvSpPr>
        <p:spPr>
          <a:xfrm>
            <a:off x="502920" y="640080"/>
            <a:ext cx="11183112" cy="1371600"/>
          </a:xfrm>
          <a:prstGeom prst="rect">
            <a:avLst/>
          </a:prstGeom>
          <a:noFill/>
        </p:spPr>
        <p:txBody>
          <a:bodyPr wrap="square" lIns="0" rIns="0" tIns="0" bIns="0" anchor="t">
            <a:spAutoFit/>
          </a:bodyPr>
          <a:lstStyle/>
          <a:p>
            <a:pPr algn="l">
              <a:lnSpc>
                <a:spcPct val="114000"/>
              </a:lnSpc>
            </a:pPr>
            <a:r>
              <a:rPr sz="1300" b="1" i="0">
                <a:solidFill>
                  <a:srgbClr val="21295C"/>
                </a:solidFill>
                <a:latin typeface="Arial"/>
              </a:rPr>
              <a:t>Структура — не гарантированный выигрыш и не бесплатный апгрейд: простое файловое хранилище обошло графовую систему памяти, а сама структура добавляет свою собственную нагрузку</a:t>
            </a:r>
          </a:p>
        </p:txBody>
      </p:sp>
      <p:sp>
        <p:nvSpPr>
          <p:cNvPr id="4" name="TextBox 3"/>
          <p:cNvSpPr txBox="1"/>
          <p:nvPr/>
        </p:nvSpPr>
        <p:spPr>
          <a:xfrm>
            <a:off x="502920" y="2176272"/>
            <a:ext cx="11183112" cy="457200"/>
          </a:xfrm>
          <a:prstGeom prst="rect">
            <a:avLst/>
          </a:prstGeom>
          <a:noFill/>
        </p:spPr>
        <p:txBody>
          <a:bodyPr wrap="square" lIns="0" rIns="0" tIns="0" bIns="0" anchor="t">
            <a:spAutoFit/>
          </a:bodyPr>
          <a:lstStyle/>
          <a:p>
            <a:pPr algn="l">
              <a:lnSpc>
                <a:spcPct val="120000"/>
              </a:lnSpc>
            </a:pPr>
            <a:r>
              <a:rPr sz="1080" b="0" i="1">
                <a:solidFill>
                  <a:srgbClr val="6B7685"/>
                </a:solidFill>
                <a:latin typeface="Arial"/>
              </a:rPr>
              <a:t>почти все источники ниже — свежие непроверенные препринты 2026 года; цифры — «заявлено в препринте», а не установленный факт</a:t>
            </a:r>
          </a:p>
        </p:txBody>
      </p:sp>
      <p:sp>
        <p:nvSpPr>
          <p:cNvPr id="5" name="Rounded Rectangle 4"/>
          <p:cNvSpPr/>
          <p:nvPr/>
        </p:nvSpPr>
        <p:spPr>
          <a:xfrm>
            <a:off x="502920" y="2679192"/>
            <a:ext cx="11183112" cy="1371600"/>
          </a:xfrm>
          <a:prstGeom prst="roundRect">
            <a:avLst>
              <a:gd name="adj" fmla="val 22222"/>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85800" y="2862072"/>
            <a:ext cx="7715341" cy="329184"/>
          </a:xfrm>
          <a:prstGeom prst="rect">
            <a:avLst/>
          </a:prstGeom>
          <a:noFill/>
        </p:spPr>
        <p:txBody>
          <a:bodyPr wrap="square" lIns="0" rIns="0" tIns="0" bIns="0" anchor="t">
            <a:spAutoFit/>
          </a:bodyPr>
          <a:lstStyle/>
          <a:p>
            <a:pPr algn="l">
              <a:lnSpc>
                <a:spcPct val="115000"/>
              </a:lnSpc>
            </a:pPr>
            <a:r>
              <a:rPr sz="1150" b="1" i="0">
                <a:solidFill>
                  <a:srgbClr val="6B7685"/>
                </a:solidFill>
                <a:latin typeface="Arial"/>
              </a:rPr>
              <a:t>Система</a:t>
            </a:r>
          </a:p>
        </p:txBody>
      </p:sp>
      <p:sp>
        <p:nvSpPr>
          <p:cNvPr id="7" name="TextBox 6"/>
          <p:cNvSpPr txBox="1"/>
          <p:nvPr/>
        </p:nvSpPr>
        <p:spPr>
          <a:xfrm>
            <a:off x="8474293" y="2862072"/>
            <a:ext cx="2955706" cy="329184"/>
          </a:xfrm>
          <a:prstGeom prst="rect">
            <a:avLst/>
          </a:prstGeom>
          <a:noFill/>
        </p:spPr>
        <p:txBody>
          <a:bodyPr wrap="square" lIns="0" rIns="0" tIns="0" bIns="0" anchor="t">
            <a:spAutoFit/>
          </a:bodyPr>
          <a:lstStyle/>
          <a:p>
            <a:pPr algn="l">
              <a:lnSpc>
                <a:spcPct val="115000"/>
              </a:lnSpc>
            </a:pPr>
            <a:r>
              <a:rPr sz="1150" b="1" i="0">
                <a:solidFill>
                  <a:srgbClr val="6B7685"/>
                </a:solidFill>
                <a:latin typeface="Arial"/>
              </a:rPr>
              <a:t>LoCoMo (долговременная память)</a:t>
            </a:r>
          </a:p>
        </p:txBody>
      </p:sp>
      <p:sp>
        <p:nvSpPr>
          <p:cNvPr id="8" name="Rectangle 7"/>
          <p:cNvSpPr/>
          <p:nvPr/>
        </p:nvSpPr>
        <p:spPr>
          <a:xfrm>
            <a:off x="557784" y="3246120"/>
            <a:ext cx="11073384" cy="310896"/>
          </a:xfrm>
          <a:prstGeom prst="rect">
            <a:avLst/>
          </a:prstGeom>
          <a:solidFill>
            <a:srgbClr val="FEF5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85800" y="3246120"/>
            <a:ext cx="7697053" cy="310896"/>
          </a:xfrm>
          <a:prstGeom prst="rect">
            <a:avLst/>
          </a:prstGeom>
          <a:noFill/>
        </p:spPr>
        <p:txBody>
          <a:bodyPr wrap="square" lIns="0" rIns="0" tIns="0" bIns="0" anchor="ctr">
            <a:spAutoFit/>
          </a:bodyPr>
          <a:lstStyle/>
          <a:p>
            <a:pPr algn="l">
              <a:lnSpc>
                <a:spcPct val="115000"/>
              </a:lnSpc>
            </a:pPr>
            <a:r>
              <a:rPr sz="1300" b="0" i="0">
                <a:solidFill>
                  <a:srgbClr val="21295C"/>
                </a:solidFill>
                <a:latin typeface="Arial"/>
              </a:rPr>
              <a:t>Простое файловое хранилище (grep/чтение файлов)</a:t>
            </a:r>
          </a:p>
        </p:txBody>
      </p:sp>
      <p:sp>
        <p:nvSpPr>
          <p:cNvPr id="10" name="TextBox 9"/>
          <p:cNvSpPr txBox="1"/>
          <p:nvPr/>
        </p:nvSpPr>
        <p:spPr>
          <a:xfrm>
            <a:off x="8474293" y="3246120"/>
            <a:ext cx="2937418" cy="310896"/>
          </a:xfrm>
          <a:prstGeom prst="rect">
            <a:avLst/>
          </a:prstGeom>
          <a:noFill/>
        </p:spPr>
        <p:txBody>
          <a:bodyPr wrap="square" lIns="0" rIns="0" tIns="0" bIns="0" anchor="ctr">
            <a:spAutoFit/>
          </a:bodyPr>
          <a:lstStyle/>
          <a:p>
            <a:pPr algn="l">
              <a:lnSpc>
                <a:spcPct val="115000"/>
              </a:lnSpc>
            </a:pPr>
            <a:r>
              <a:rPr sz="1300" b="0" i="0">
                <a:solidFill>
                  <a:srgbClr val="21295C"/>
                </a:solidFill>
                <a:latin typeface="Arial"/>
              </a:rPr>
              <a:t>74,0%</a:t>
            </a:r>
          </a:p>
        </p:txBody>
      </p:sp>
      <p:cxnSp>
        <p:nvCxnSpPr>
          <p:cNvPr id="11" name="Connector 10"/>
          <p:cNvCxnSpPr/>
          <p:nvPr/>
        </p:nvCxnSpPr>
        <p:spPr>
          <a:xfrm>
            <a:off x="685800" y="3557016"/>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685800" y="3557016"/>
            <a:ext cx="7697053" cy="310896"/>
          </a:xfrm>
          <a:prstGeom prst="rect">
            <a:avLst/>
          </a:prstGeom>
          <a:noFill/>
        </p:spPr>
        <p:txBody>
          <a:bodyPr wrap="square" lIns="0" rIns="0" tIns="0" bIns="0" anchor="ctr">
            <a:spAutoFit/>
          </a:bodyPr>
          <a:lstStyle/>
          <a:p>
            <a:pPr algn="l">
              <a:lnSpc>
                <a:spcPct val="115000"/>
              </a:lnSpc>
            </a:pPr>
            <a:r>
              <a:rPr sz="1300" b="0" i="0">
                <a:solidFill>
                  <a:srgbClr val="21295C"/>
                </a:solidFill>
                <a:latin typeface="Arial"/>
              </a:rPr>
              <a:t>Mem0 (graph-based)</a:t>
            </a:r>
          </a:p>
        </p:txBody>
      </p:sp>
      <p:sp>
        <p:nvSpPr>
          <p:cNvPr id="13" name="TextBox 12"/>
          <p:cNvSpPr txBox="1"/>
          <p:nvPr/>
        </p:nvSpPr>
        <p:spPr>
          <a:xfrm>
            <a:off x="8474293" y="3557016"/>
            <a:ext cx="2937418" cy="310896"/>
          </a:xfrm>
          <a:prstGeom prst="rect">
            <a:avLst/>
          </a:prstGeom>
          <a:noFill/>
        </p:spPr>
        <p:txBody>
          <a:bodyPr wrap="square" lIns="0" rIns="0" tIns="0" bIns="0" anchor="ctr">
            <a:spAutoFit/>
          </a:bodyPr>
          <a:lstStyle/>
          <a:p>
            <a:pPr algn="l">
              <a:lnSpc>
                <a:spcPct val="115000"/>
              </a:lnSpc>
            </a:pPr>
            <a:r>
              <a:rPr sz="1300" b="0" i="0">
                <a:solidFill>
                  <a:srgbClr val="21295C"/>
                </a:solidFill>
                <a:latin typeface="Arial"/>
              </a:rPr>
              <a:t>68,5%</a:t>
            </a:r>
          </a:p>
        </p:txBody>
      </p:sp>
      <p:sp>
        <p:nvSpPr>
          <p:cNvPr id="14" name="TextBox 13"/>
          <p:cNvSpPr txBox="1"/>
          <p:nvPr/>
        </p:nvSpPr>
        <p:spPr>
          <a:xfrm>
            <a:off x="502920" y="4178808"/>
            <a:ext cx="11183112" cy="365760"/>
          </a:xfrm>
          <a:prstGeom prst="rect">
            <a:avLst/>
          </a:prstGeom>
          <a:noFill/>
        </p:spPr>
        <p:txBody>
          <a:bodyPr wrap="square" lIns="0" rIns="0" tIns="0" bIns="0" anchor="t">
            <a:spAutoFit/>
          </a:bodyPr>
          <a:lstStyle/>
          <a:p>
            <a:pPr algn="l">
              <a:lnSpc>
                <a:spcPct val="115000"/>
              </a:lnSpc>
            </a:pPr>
            <a:r>
              <a:rPr sz="1100" b="0" i="1">
                <a:solidFill>
                  <a:srgbClr val="6B7685"/>
                </a:solidFill>
                <a:latin typeface="Arial"/>
              </a:rPr>
              <a:t>объяснение авторов: модели тренированы на файловых операциях как на самом привычном инструменте</a:t>
            </a:r>
          </a:p>
        </p:txBody>
      </p:sp>
      <p:sp>
        <p:nvSpPr>
          <p:cNvPr id="15" name="Rounded Rectangle 14"/>
          <p:cNvSpPr/>
          <p:nvPr/>
        </p:nvSpPr>
        <p:spPr>
          <a:xfrm>
            <a:off x="502920" y="4590288"/>
            <a:ext cx="11183112" cy="1810511"/>
          </a:xfrm>
          <a:prstGeom prst="roundRect">
            <a:avLst>
              <a:gd name="adj" fmla="val 10000"/>
            </a:avLst>
          </a:prstGeom>
          <a:solidFill>
            <a:srgbClr val="EEF2F6"/>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67512" y="4636008"/>
            <a:ext cx="10853928" cy="219456"/>
          </a:xfrm>
          <a:prstGeom prst="rect">
            <a:avLst/>
          </a:prstGeom>
          <a:noFill/>
        </p:spPr>
        <p:txBody>
          <a:bodyPr wrap="square" lIns="0" rIns="0" tIns="0" bIns="0" anchor="t">
            <a:spAutoFit/>
          </a:bodyPr>
          <a:lstStyle/>
          <a:p>
            <a:pPr algn="l">
              <a:lnSpc>
                <a:spcPct val="115000"/>
              </a:lnSpc>
            </a:pPr>
            <a:r>
              <a:rPr sz="1050" b="1" i="0">
                <a:solidFill>
                  <a:srgbClr val="6B7685"/>
                </a:solidFill>
                <a:latin typeface="Arial"/>
              </a:rPr>
              <a:t>ЧЕСТНО НАЗВАННЫЕ НЕДОСТАТКИ ВИКИ-ПАМЯТИ</a:t>
            </a:r>
          </a:p>
        </p:txBody>
      </p:sp>
      <p:sp>
        <p:nvSpPr>
          <p:cNvPr id="17" name="TextBox 16"/>
          <p:cNvSpPr txBox="1"/>
          <p:nvPr/>
        </p:nvSpPr>
        <p:spPr>
          <a:xfrm>
            <a:off x="667512" y="4846320"/>
            <a:ext cx="10853928" cy="1508759"/>
          </a:xfrm>
          <a:prstGeom prst="rect">
            <a:avLst/>
          </a:prstGeom>
          <a:noFill/>
        </p:spPr>
        <p:txBody>
          <a:bodyPr wrap="square" lIns="0" rIns="0" tIns="0" bIns="0" anchor="t">
            <a:spAutoFit/>
          </a:bodyPr>
          <a:lstStyle/>
          <a:p>
            <a:pPr algn="l">
              <a:lnSpc>
                <a:spcPct val="120000"/>
              </a:lnSpc>
            </a:pPr>
            <a:r>
              <a:rPr sz="1100" b="0" i="0">
                <a:solidFill>
                  <a:srgbClr val="21295C"/>
                </a:solidFill>
                <a:latin typeface="Arial"/>
              </a:rPr>
              <a:t>Staleness — сводка в оглавлении расходится с содержимым тематического файла.  ·  Duplication — устаревшие версии одного и того же факта накапливаются вместо замены.  ·  Отсутствие каскадного удаления — удалили факт в одном файле, производные записи в других остались жить как верные.  ·  Maintenance burden — кто-то должен реально ходить и поддерживать структуру актуальной.</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29184"/>
            <a:ext cx="10515600" cy="292608"/>
          </a:xfrm>
          <a:prstGeom prst="rect">
            <a:avLst/>
          </a:prstGeom>
          <a:noFill/>
        </p:spPr>
        <p:txBody>
          <a:bodyPr wrap="square" lIns="0" rIns="0" tIns="0" bIns="0" anchor="t">
            <a:spAutoFit/>
          </a:bodyPr>
          <a:lstStyle/>
          <a:p>
            <a:pPr algn="l">
              <a:lnSpc>
                <a:spcPct val="115000"/>
              </a:lnSpc>
            </a:pPr>
            <a:r>
              <a:rPr sz="1150" b="1" i="0">
                <a:solidFill>
                  <a:srgbClr val="028090"/>
                </a:solidFill>
                <a:latin typeface="Arial"/>
              </a:rPr>
              <a:t>КЕЙС 2.2 · КРИТЕРИЙ И МОСТ</a:t>
            </a:r>
          </a:p>
        </p:txBody>
      </p:sp>
      <p:sp>
        <p:nvSpPr>
          <p:cNvPr id="3" name="TextBox 2"/>
          <p:cNvSpPr txBox="1"/>
          <p:nvPr/>
        </p:nvSpPr>
        <p:spPr>
          <a:xfrm>
            <a:off x="502920" y="640080"/>
            <a:ext cx="11183112" cy="1371600"/>
          </a:xfrm>
          <a:prstGeom prst="rect">
            <a:avLst/>
          </a:prstGeom>
          <a:noFill/>
        </p:spPr>
        <p:txBody>
          <a:bodyPr wrap="square" lIns="0" rIns="0" tIns="0" bIns="0" anchor="t">
            <a:spAutoFit/>
          </a:bodyPr>
          <a:lstStyle/>
          <a:p>
            <a:pPr algn="l">
              <a:lnSpc>
                <a:spcPct val="114000"/>
              </a:lnSpc>
            </a:pPr>
            <a:r>
              <a:rPr sz="1300" b="1" i="0">
                <a:solidFill>
                  <a:srgbClr val="21295C"/>
                </a:solidFill>
                <a:latin typeface="Arial"/>
              </a:rPr>
              <a:t>Единиц-десятков тематических файлов, которые правят один-два человека, достаточно — полноценная система памяти требует замеров на своём масштабе, не общего совета</a:t>
            </a:r>
          </a:p>
        </p:txBody>
      </p:sp>
      <p:sp>
        <p:nvSpPr>
          <p:cNvPr id="4" name="Rounded Rectangle 3"/>
          <p:cNvSpPr/>
          <p:nvPr/>
        </p:nvSpPr>
        <p:spPr>
          <a:xfrm>
            <a:off x="502920" y="2176272"/>
            <a:ext cx="11183112" cy="2322576"/>
          </a:xfrm>
          <a:prstGeom prst="roundRect">
            <a:avLst>
              <a:gd name="adj" fmla="val 13123"/>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713232" y="2414016"/>
            <a:ext cx="201168" cy="201168"/>
          </a:xfrm>
          <a:prstGeom prst="roundRect">
            <a:avLst>
              <a:gd name="adj" fmla="val 25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42415" y="2340864"/>
            <a:ext cx="10424160" cy="438912"/>
          </a:xfrm>
          <a:prstGeom prst="rect">
            <a:avLst/>
          </a:prstGeom>
          <a:noFill/>
        </p:spPr>
        <p:txBody>
          <a:bodyPr wrap="square" lIns="0" rIns="0" tIns="0" bIns="0" anchor="ctr">
            <a:spAutoFit/>
          </a:bodyPr>
          <a:lstStyle/>
          <a:p>
            <a:pPr algn="l">
              <a:lnSpc>
                <a:spcPct val="118000"/>
              </a:lnSpc>
            </a:pPr>
            <a:r>
              <a:rPr sz="1350" b="0" i="0">
                <a:solidFill>
                  <a:srgbClr val="21295C"/>
                </a:solidFill>
                <a:latin typeface="Arial"/>
              </a:rPr>
              <a:t>Число тематических файлов — единицы-десятки, не сотни.</a:t>
            </a:r>
          </a:p>
        </p:txBody>
      </p:sp>
      <p:sp>
        <p:nvSpPr>
          <p:cNvPr id="7" name="Rounded Rectangle 6"/>
          <p:cNvSpPr/>
          <p:nvPr/>
        </p:nvSpPr>
        <p:spPr>
          <a:xfrm>
            <a:off x="713232" y="2926080"/>
            <a:ext cx="201168" cy="201168"/>
          </a:xfrm>
          <a:prstGeom prst="roundRect">
            <a:avLst>
              <a:gd name="adj" fmla="val 25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42415" y="2852928"/>
            <a:ext cx="10424160" cy="438912"/>
          </a:xfrm>
          <a:prstGeom prst="rect">
            <a:avLst/>
          </a:prstGeom>
          <a:noFill/>
        </p:spPr>
        <p:txBody>
          <a:bodyPr wrap="square" lIns="0" rIns="0" tIns="0" bIns="0" anchor="ctr">
            <a:spAutoFit/>
          </a:bodyPr>
          <a:lstStyle/>
          <a:p>
            <a:pPr algn="l">
              <a:lnSpc>
                <a:spcPct val="118000"/>
              </a:lnSpc>
            </a:pPr>
            <a:r>
              <a:rPr sz="1350" b="0" i="0">
                <a:solidFill>
                  <a:srgbClr val="21295C"/>
                </a:solidFill>
                <a:latin typeface="Arial"/>
              </a:rPr>
              <a:t>Поиск нужной записи — по имени темы или простому grep, а не по смысловой близости.</a:t>
            </a:r>
          </a:p>
        </p:txBody>
      </p:sp>
      <p:sp>
        <p:nvSpPr>
          <p:cNvPr id="9" name="Rounded Rectangle 8"/>
          <p:cNvSpPr/>
          <p:nvPr/>
        </p:nvSpPr>
        <p:spPr>
          <a:xfrm>
            <a:off x="713232" y="3438144"/>
            <a:ext cx="201168" cy="201168"/>
          </a:xfrm>
          <a:prstGeom prst="roundRect">
            <a:avLst>
              <a:gd name="adj" fmla="val 25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42415" y="3364992"/>
            <a:ext cx="10424160" cy="438912"/>
          </a:xfrm>
          <a:prstGeom prst="rect">
            <a:avLst/>
          </a:prstGeom>
          <a:noFill/>
        </p:spPr>
        <p:txBody>
          <a:bodyPr wrap="square" lIns="0" rIns="0" tIns="0" bIns="0" anchor="ctr">
            <a:spAutoFit/>
          </a:bodyPr>
          <a:lstStyle/>
          <a:p>
            <a:pPr algn="l">
              <a:lnSpc>
                <a:spcPct val="118000"/>
              </a:lnSpc>
            </a:pPr>
            <a:r>
              <a:rPr sz="1350" b="0" i="0">
                <a:solidFill>
                  <a:srgbClr val="21295C"/>
                </a:solidFill>
                <a:latin typeface="Arial"/>
              </a:rPr>
              <a:t>Участников, одновременно правящих память, — один-два.</a:t>
            </a:r>
          </a:p>
        </p:txBody>
      </p:sp>
      <p:sp>
        <p:nvSpPr>
          <p:cNvPr id="11" name="Rounded Rectangle 10"/>
          <p:cNvSpPr/>
          <p:nvPr/>
        </p:nvSpPr>
        <p:spPr>
          <a:xfrm>
            <a:off x="713232" y="3950208"/>
            <a:ext cx="201168" cy="201168"/>
          </a:xfrm>
          <a:prstGeom prst="roundRect">
            <a:avLst>
              <a:gd name="adj" fmla="val 25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42415" y="3877056"/>
            <a:ext cx="10424160" cy="438912"/>
          </a:xfrm>
          <a:prstGeom prst="rect">
            <a:avLst/>
          </a:prstGeom>
          <a:noFill/>
        </p:spPr>
        <p:txBody>
          <a:bodyPr wrap="square" lIns="0" rIns="0" tIns="0" bIns="0" anchor="ctr">
            <a:spAutoFit/>
          </a:bodyPr>
          <a:lstStyle/>
          <a:p>
            <a:pPr algn="l">
              <a:lnSpc>
                <a:spcPct val="118000"/>
              </a:lnSpc>
            </a:pPr>
            <a:r>
              <a:rPr sz="1350" b="0" i="0">
                <a:solidFill>
                  <a:srgbClr val="21295C"/>
                </a:solidFill>
                <a:latin typeface="Arial"/>
              </a:rPr>
              <a:t>Никто не просил «найди решения, похожие по смыслу на…».</a:t>
            </a:r>
          </a:p>
        </p:txBody>
      </p:sp>
      <p:sp>
        <p:nvSpPr>
          <p:cNvPr id="13" name="Rounded Rectangle 12"/>
          <p:cNvSpPr/>
          <p:nvPr/>
        </p:nvSpPr>
        <p:spPr>
          <a:xfrm>
            <a:off x="502920" y="4681728"/>
            <a:ext cx="11183112" cy="1719071"/>
          </a:xfrm>
          <a:prstGeom prst="roundRect">
            <a:avLst>
              <a:gd name="adj" fmla="val 10000"/>
            </a:avLst>
          </a:prstGeom>
          <a:solidFill>
            <a:srgbClr val="FEF5E0"/>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4088" y="4754880"/>
            <a:ext cx="10780776" cy="1572767"/>
          </a:xfrm>
          <a:prstGeom prst="rect">
            <a:avLst/>
          </a:prstGeom>
          <a:noFill/>
        </p:spPr>
        <p:txBody>
          <a:bodyPr wrap="square" lIns="0" rIns="0" tIns="0" bIns="0" anchor="ctr">
            <a:spAutoFit/>
          </a:bodyPr>
          <a:lstStyle/>
          <a:p>
            <a:pPr algn="l">
              <a:lnSpc>
                <a:spcPct val="122000"/>
              </a:lnSpc>
            </a:pPr>
            <a:r>
              <a:rPr sz="1300" b="1" i="0">
                <a:solidFill>
                  <a:srgbClr val="21295C"/>
                </a:solidFill>
                <a:latin typeface="Arial"/>
              </a:rPr>
              <a:t>Смена оси: всё в этом и предыдущем кейсе — про решения, которые живут навсегда. Что происходит с памятью одной задачи, пока она ещё не закончена?</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ln>
            <a:noFill/>
          </a:ln>
          <a:effectLst/>
          <a:gradFill rotWithShape="1">
            <a:gsLst>
              <a:gs pos="0">
                <a:srgbClr val="21295C"/>
              </a:gs>
              <a:gs pos="55000">
                <a:srgbClr val="065A82"/>
              </a:gs>
              <a:gs pos="100000">
                <a:srgbClr val="1C7293"/>
              </a:gs>
            </a:gsLst>
            <a:lin ang="2700000" scaled="1"/>
          </a:gra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9646919" y="4617720"/>
            <a:ext cx="1783080" cy="1783080"/>
          </a:xfrm>
          <a:prstGeom prst="roundRect">
            <a:avLst>
              <a:gd name="adj" fmla="val 18000"/>
            </a:avLst>
          </a:prstGeom>
          <a:solidFill>
            <a:srgbClr val="0B14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pboard-check-F0AB00-128.png"/>
          <p:cNvPicPr>
            <a:picLocks noChangeAspect="1"/>
          </p:cNvPicPr>
          <p:nvPr/>
        </p:nvPicPr>
        <p:blipFill>
          <a:blip r:embed="rId2"/>
          <a:stretch>
            <a:fillRect/>
          </a:stretch>
        </p:blipFill>
        <p:spPr>
          <a:xfrm>
            <a:off x="9921240" y="4892040"/>
            <a:ext cx="1234440" cy="1234440"/>
          </a:xfrm>
          <a:prstGeom prst="rect">
            <a:avLst/>
          </a:prstGeom>
        </p:spPr>
      </p:pic>
      <p:sp>
        <p:nvSpPr>
          <p:cNvPr id="5" name="Rounded Rectangle 4"/>
          <p:cNvSpPr/>
          <p:nvPr/>
        </p:nvSpPr>
        <p:spPr>
          <a:xfrm>
            <a:off x="822960" y="548640"/>
            <a:ext cx="1328927" cy="256032"/>
          </a:xfrm>
          <a:prstGeom prst="roundRect">
            <a:avLst>
              <a:gd name="adj" fmla="val 40000"/>
            </a:avLst>
          </a:prstGeom>
          <a:solidFill>
            <a:srgbClr val="3E4C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2261616" y="548640"/>
            <a:ext cx="1328927" cy="256032"/>
          </a:xfrm>
          <a:prstGeom prst="roundRect">
            <a:avLst>
              <a:gd name="adj" fmla="val 40000"/>
            </a:avLst>
          </a:prstGeom>
          <a:solidFill>
            <a:srgbClr val="3E4C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3700272" y="548640"/>
            <a:ext cx="1328927" cy="256032"/>
          </a:xfrm>
          <a:prstGeom prst="roundRect">
            <a:avLst>
              <a:gd name="adj" fmla="val 4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8961120" cy="1005840"/>
          </a:xfrm>
          <a:prstGeom prst="rect">
            <a:avLst/>
          </a:prstGeom>
          <a:noFill/>
        </p:spPr>
        <p:txBody>
          <a:bodyPr wrap="square" lIns="0" rIns="0" tIns="0" bIns="0" anchor="t">
            <a:spAutoFit/>
          </a:bodyPr>
          <a:lstStyle/>
          <a:p>
            <a:pPr algn="l">
              <a:lnSpc>
                <a:spcPct val="105000"/>
              </a:lnSpc>
            </a:pPr>
            <a:r>
              <a:rPr sz="3300" b="1" i="0">
                <a:solidFill>
                  <a:srgbClr val="FFFFFF"/>
                </a:solidFill>
                <a:latin typeface="Arial"/>
              </a:rPr>
              <a:t>Кейс 2.3 · операционная память</a:t>
            </a:r>
          </a:p>
        </p:txBody>
      </p:sp>
      <p:sp>
        <p:nvSpPr>
          <p:cNvPr id="9" name="TextBox 8"/>
          <p:cNvSpPr txBox="1"/>
          <p:nvPr/>
        </p:nvSpPr>
        <p:spPr>
          <a:xfrm>
            <a:off x="868680" y="3090672"/>
            <a:ext cx="8778240" cy="822960"/>
          </a:xfrm>
          <a:prstGeom prst="rect">
            <a:avLst/>
          </a:prstGeom>
          <a:noFill/>
        </p:spPr>
        <p:txBody>
          <a:bodyPr wrap="square" lIns="0" rIns="0" tIns="0" bIns="0" anchor="t">
            <a:spAutoFit/>
          </a:bodyPr>
          <a:lstStyle/>
          <a:p>
            <a:pPr algn="l">
              <a:lnSpc>
                <a:spcPct val="130000"/>
              </a:lnSpc>
            </a:pPr>
            <a:r>
              <a:rPr sz="1600" b="0" i="1">
                <a:solidFill>
                  <a:srgbClr val="CFDCEC"/>
                </a:solidFill>
                <a:latin typeface="Arial"/>
              </a:rPr>
              <a:t>Смена оси: не решения навсегда, а ход одной задачи между её сессиями</a:t>
            </a:r>
          </a:p>
        </p:txBody>
      </p:sp>
      <p:sp>
        <p:nvSpPr>
          <p:cNvPr id="10" name="Rounded Rectangle 9"/>
          <p:cNvSpPr/>
          <p:nvPr/>
        </p:nvSpPr>
        <p:spPr>
          <a:xfrm>
            <a:off x="868680" y="3950208"/>
            <a:ext cx="5486400" cy="502920"/>
          </a:xfrm>
          <a:prstGeom prst="roundRect">
            <a:avLst>
              <a:gd name="adj" fmla="val 28000"/>
            </a:avLst>
          </a:prstGeom>
          <a:solidFill>
            <a:srgbClr val="0B143A"/>
          </a:solidFill>
          <a:ln w="1524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124712" y="3950208"/>
            <a:ext cx="4974336" cy="502920"/>
          </a:xfrm>
          <a:prstGeom prst="rect">
            <a:avLst/>
          </a:prstGeom>
          <a:noFill/>
        </p:spPr>
        <p:txBody>
          <a:bodyPr wrap="square" lIns="0" rIns="0" tIns="0" bIns="0" anchor="ctr">
            <a:spAutoFit/>
          </a:bodyPr>
          <a:lstStyle/>
          <a:p>
            <a:pPr algn="ctr">
              <a:lnSpc>
                <a:spcPct val="115000"/>
              </a:lnSpc>
            </a:pPr>
            <a:r>
              <a:rPr sz="1100" b="1" i="0">
                <a:solidFill>
                  <a:srgbClr val="028090"/>
                </a:solidFill>
                <a:latin typeface="Arial"/>
              </a:rPr>
              <a:t>УНИВЕРСАЛЬНАЯ ГИГИЕНА · ДЕНЬ 0</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29184"/>
            <a:ext cx="10515600" cy="292608"/>
          </a:xfrm>
          <a:prstGeom prst="rect">
            <a:avLst/>
          </a:prstGeom>
          <a:noFill/>
        </p:spPr>
        <p:txBody>
          <a:bodyPr wrap="square" lIns="0" rIns="0" tIns="0" bIns="0" anchor="t">
            <a:spAutoFit/>
          </a:bodyPr>
          <a:lstStyle/>
          <a:p>
            <a:pPr algn="l">
              <a:lnSpc>
                <a:spcPct val="115000"/>
              </a:lnSpc>
            </a:pPr>
            <a:r>
              <a:rPr sz="1150" b="1" i="0">
                <a:solidFill>
                  <a:srgbClr val="028090"/>
                </a:solidFill>
                <a:latin typeface="Arial"/>
              </a:rPr>
              <a:t>КЕЙС 2.3 · ЗАДАЧНАЯ ПАМЯТЬ</a:t>
            </a:r>
          </a:p>
        </p:txBody>
      </p:sp>
      <p:sp>
        <p:nvSpPr>
          <p:cNvPr id="3" name="TextBox 2"/>
          <p:cNvSpPr txBox="1"/>
          <p:nvPr/>
        </p:nvSpPr>
        <p:spPr>
          <a:xfrm>
            <a:off x="502920" y="640080"/>
            <a:ext cx="11183112" cy="1188720"/>
          </a:xfrm>
          <a:prstGeom prst="rect">
            <a:avLst/>
          </a:prstGeom>
          <a:noFill/>
        </p:spPr>
        <p:txBody>
          <a:bodyPr wrap="square" lIns="0" rIns="0" tIns="0" bIns="0" anchor="t">
            <a:spAutoFit/>
          </a:bodyPr>
          <a:lstStyle/>
          <a:p>
            <a:pPr algn="l">
              <a:lnSpc>
                <a:spcPct val="114000"/>
              </a:lnSpc>
            </a:pPr>
            <a:r>
              <a:rPr sz="1450" b="1" i="0">
                <a:solidFill>
                  <a:srgbClr val="21295C"/>
                </a:solidFill>
                <a:latin typeface="Arial"/>
              </a:rPr>
              <a:t>Файл задачи существовал с самого начала, план в нём выглядит актуальным — и всё равно вторая сессия предлагает переписать то, что уже негласно решили не трогать</a:t>
            </a:r>
          </a:p>
        </p:txBody>
      </p:sp>
      <p:sp>
        <p:nvSpPr>
          <p:cNvPr id="4" name="Rounded Rectangle 3"/>
          <p:cNvSpPr/>
          <p:nvPr/>
        </p:nvSpPr>
        <p:spPr>
          <a:xfrm>
            <a:off x="502920" y="1993392"/>
            <a:ext cx="11183112" cy="3355848"/>
          </a:xfrm>
          <a:prstGeom prst="roundRect">
            <a:avLst>
              <a:gd name="adj" fmla="val 9082"/>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22960" y="2176272"/>
            <a:ext cx="10515600" cy="2990088"/>
          </a:xfrm>
          <a:prstGeom prst="rect">
            <a:avLst/>
          </a:prstGeom>
          <a:noFill/>
        </p:spPr>
        <p:txBody>
          <a:bodyPr wrap="square" lIns="0" rIns="0" tIns="0" bIns="0" anchor="ctr">
            <a:spAutoFit/>
          </a:bodyPr>
          <a:lstStyle/>
          <a:p>
            <a:pPr algn="l">
              <a:lnSpc>
                <a:spcPct val="132000"/>
              </a:lnSpc>
            </a:pPr>
            <a:r>
              <a:rPr sz="1400" b="0" i="0">
                <a:solidFill>
                  <a:srgbClr val="21295C"/>
                </a:solidFill>
                <a:latin typeface="Arial"/>
              </a:rPr>
              <a:t>Команда завела практику «файл на задачу» с первого дня работы над signup-landing — как и DECISIONS.md, это дешёвая гигиена, которую заводят сразу. Разработчик ставит агенту задачу на несколько сессий: разбить форму на пошаговый визард, сохранив всю текущую валидацию. По заведённой практике агент перед началом сам создаёт файл задачи с планом. Первая сессия закрывает первые шаги. По ходу — не по плану, а в разговоре — разработчик и агент договариваются не трогать email-валидацию. Договорённость мелкая, кажется не стоящей того, чтобы прерваться и записать её прямо в моменте. Сессия обрывается на середине следующего шага: контекст сжимается. Вторая сессия — файл на месте, выглядит актуальным и достоверным, но договорённость про email-валидацию в лог так и не попала. Агент предлагает переписать email-валидацию заново.</a:t>
            </a:r>
          </a:p>
        </p:txBody>
      </p:sp>
      <p:sp>
        <p:nvSpPr>
          <p:cNvPr id="6" name="Rounded Rectangle 5"/>
          <p:cNvSpPr/>
          <p:nvPr/>
        </p:nvSpPr>
        <p:spPr>
          <a:xfrm>
            <a:off x="502920" y="5513832"/>
            <a:ext cx="11183112" cy="777240"/>
          </a:xfrm>
          <a:prstGeom prst="roundRect">
            <a:avLst>
              <a:gd name="adj" fmla="val 10000"/>
            </a:avLst>
          </a:prstGeom>
          <a:solidFill>
            <a:srgbClr val="FEF5E0"/>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04088" y="5586984"/>
            <a:ext cx="10780776" cy="630936"/>
          </a:xfrm>
          <a:prstGeom prst="rect">
            <a:avLst/>
          </a:prstGeom>
          <a:noFill/>
        </p:spPr>
        <p:txBody>
          <a:bodyPr wrap="square" lIns="0" rIns="0" tIns="0" bIns="0" anchor="ctr">
            <a:spAutoFit/>
          </a:bodyPr>
          <a:lstStyle/>
          <a:p>
            <a:pPr algn="ctr">
              <a:lnSpc>
                <a:spcPct val="122000"/>
              </a:lnSpc>
            </a:pPr>
            <a:r>
              <a:rPr sz="1500" b="1" i="0">
                <a:solidFill>
                  <a:srgbClr val="21295C"/>
                </a:solidFill>
                <a:latin typeface="Arial"/>
              </a:rPr>
              <a:t>«Файл был. Практика была. Не хватило одного: вписать мелкую договорённость в лог в момент, когда она прозвучала.»</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29184"/>
            <a:ext cx="10515600" cy="292608"/>
          </a:xfrm>
          <a:prstGeom prst="rect">
            <a:avLst/>
          </a:prstGeom>
          <a:noFill/>
        </p:spPr>
        <p:txBody>
          <a:bodyPr wrap="square" lIns="0" rIns="0" tIns="0" bIns="0" anchor="t">
            <a:spAutoFit/>
          </a:bodyPr>
          <a:lstStyle/>
          <a:p>
            <a:pPr algn="l">
              <a:lnSpc>
                <a:spcPct val="115000"/>
              </a:lnSpc>
            </a:pPr>
            <a:r>
              <a:rPr sz="1150" b="1" i="0">
                <a:solidFill>
                  <a:srgbClr val="028090"/>
                </a:solidFill>
                <a:latin typeface="Arial"/>
              </a:rPr>
              <a:t>КЕЙС 2.3 · ВОПРОС</a:t>
            </a:r>
          </a:p>
        </p:txBody>
      </p:sp>
      <p:sp>
        <p:nvSpPr>
          <p:cNvPr id="3" name="TextBox 2"/>
          <p:cNvSpPr txBox="1"/>
          <p:nvPr/>
        </p:nvSpPr>
        <p:spPr>
          <a:xfrm>
            <a:off x="502920" y="640080"/>
            <a:ext cx="11183112" cy="1005840"/>
          </a:xfrm>
          <a:prstGeom prst="rect">
            <a:avLst/>
          </a:prstGeom>
          <a:noFill/>
        </p:spPr>
        <p:txBody>
          <a:bodyPr wrap="square" lIns="0" rIns="0" tIns="0" bIns="0" anchor="t">
            <a:spAutoFit/>
          </a:bodyPr>
          <a:lstStyle/>
          <a:p>
            <a:pPr algn="l">
              <a:lnSpc>
                <a:spcPct val="114000"/>
              </a:lnSpc>
            </a:pPr>
            <a:r>
              <a:rPr sz="1650" b="1" i="0">
                <a:solidFill>
                  <a:srgbClr val="21295C"/>
                </a:solidFill>
                <a:latin typeface="Arial"/>
              </a:rPr>
              <a:t>Файл задачи существовал с самого начала и всё равно ввёл в заблуждение — выбор из пяти вариантов</a:t>
            </a:r>
          </a:p>
        </p:txBody>
      </p:sp>
      <p:sp>
        <p:nvSpPr>
          <p:cNvPr id="4" name="Rounded Rectangle 3"/>
          <p:cNvSpPr/>
          <p:nvPr/>
        </p:nvSpPr>
        <p:spPr>
          <a:xfrm>
            <a:off x="502920" y="1810512"/>
            <a:ext cx="11183112" cy="1188720"/>
          </a:xfrm>
          <a:prstGeom prst="roundRect">
            <a:avLst>
              <a:gd name="adj" fmla="val 10000"/>
            </a:avLst>
          </a:prstGeom>
          <a:solidFill>
            <a:srgbClr val="FEF5E0"/>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04088" y="1883664"/>
            <a:ext cx="10780776" cy="1042416"/>
          </a:xfrm>
          <a:prstGeom prst="rect">
            <a:avLst/>
          </a:prstGeom>
          <a:noFill/>
        </p:spPr>
        <p:txBody>
          <a:bodyPr wrap="square" lIns="0" rIns="0" tIns="0" bIns="0" anchor="ctr">
            <a:spAutoFit/>
          </a:bodyPr>
          <a:lstStyle/>
          <a:p>
            <a:pPr algn="l">
              <a:lnSpc>
                <a:spcPct val="122000"/>
              </a:lnSpc>
            </a:pPr>
            <a:r>
              <a:rPr sz="1400" b="1" i="0">
                <a:solidFill>
                  <a:srgbClr val="21295C"/>
                </a:solidFill>
                <a:latin typeface="Arial"/>
              </a:rPr>
              <a:t>«Файл задачи существовал с самого начала, план в нём выглядит актуальным — первые шаги отмечены сделанными. И всё равно вторая сессия предлагает переписать то, что уже негласно решили не трогать. Выберите, что нужно сделать иначе — из карточек ниже — так, чтобы файл задачи не вводил в заблуждение, а реально отражал ход работы. Обоснуйте выбор.»</a:t>
            </a:r>
          </a:p>
        </p:txBody>
      </p:sp>
      <p:sp>
        <p:nvSpPr>
          <p:cNvPr id="6" name="Rounded Rectangle 5"/>
          <p:cNvSpPr/>
          <p:nvPr/>
        </p:nvSpPr>
        <p:spPr>
          <a:xfrm>
            <a:off x="502920" y="3200400"/>
            <a:ext cx="2119579" cy="1600200"/>
          </a:xfrm>
          <a:prstGeom prst="roundRect">
            <a:avLst>
              <a:gd name="adj" fmla="val 19047"/>
            </a:avLst>
          </a:prstGeom>
          <a:solidFill>
            <a:srgbClr val="F4F7FA"/>
          </a:solidFill>
          <a:ln w="1397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76072" y="3200400"/>
            <a:ext cx="1973275" cy="1600200"/>
          </a:xfrm>
          <a:prstGeom prst="rect">
            <a:avLst/>
          </a:prstGeom>
          <a:noFill/>
        </p:spPr>
        <p:txBody>
          <a:bodyPr wrap="square" lIns="0" rIns="0" tIns="0" bIns="0" anchor="ctr">
            <a:spAutoFit/>
          </a:bodyPr>
          <a:lstStyle/>
          <a:p>
            <a:pPr algn="ctr">
              <a:lnSpc>
                <a:spcPct val="115000"/>
              </a:lnSpc>
              <a:spcAft>
                <a:spcPts val="0"/>
              </a:spcAft>
            </a:pPr>
            <a:r>
              <a:rPr sz="1250" b="1" i="0">
                <a:solidFill>
                  <a:srgbClr val="21295C"/>
                </a:solidFill>
                <a:latin typeface="Arial"/>
              </a:rPr>
              <a:t>надеяться на</a:t>
            </a:r>
          </a:p>
          <a:p>
            <a:pPr algn="ctr">
              <a:lnSpc>
                <a:spcPct val="115000"/>
              </a:lnSpc>
              <a:spcAft>
                <a:spcPts val="0"/>
              </a:spcAft>
            </a:pPr>
            <a:r>
              <a:rPr sz="1250" b="1" i="0">
                <a:solidFill>
                  <a:srgbClr val="21295C"/>
                </a:solidFill>
                <a:latin typeface="Arial"/>
              </a:rPr>
              <a:t>контекстное окно</a:t>
            </a:r>
          </a:p>
        </p:txBody>
      </p:sp>
      <p:sp>
        <p:nvSpPr>
          <p:cNvPr id="8" name="Rounded Rectangle 7"/>
          <p:cNvSpPr/>
          <p:nvPr/>
        </p:nvSpPr>
        <p:spPr>
          <a:xfrm>
            <a:off x="2768803" y="3200400"/>
            <a:ext cx="2119579" cy="1600200"/>
          </a:xfrm>
          <a:prstGeom prst="roundRect">
            <a:avLst>
              <a:gd name="adj" fmla="val 19047"/>
            </a:avLst>
          </a:prstGeom>
          <a:solidFill>
            <a:srgbClr val="F4F7FA"/>
          </a:solidFill>
          <a:ln w="1397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2841955" y="3200400"/>
            <a:ext cx="1973275" cy="1600200"/>
          </a:xfrm>
          <a:prstGeom prst="rect">
            <a:avLst/>
          </a:prstGeom>
          <a:noFill/>
        </p:spPr>
        <p:txBody>
          <a:bodyPr wrap="square" lIns="0" rIns="0" tIns="0" bIns="0" anchor="ctr">
            <a:spAutoFit/>
          </a:bodyPr>
          <a:lstStyle/>
          <a:p>
            <a:pPr algn="ctr">
              <a:lnSpc>
                <a:spcPct val="115000"/>
              </a:lnSpc>
              <a:spcAft>
                <a:spcPts val="0"/>
              </a:spcAft>
            </a:pPr>
            <a:r>
              <a:rPr sz="1250" b="1" i="0">
                <a:solidFill>
                  <a:srgbClr val="21295C"/>
                </a:solidFill>
                <a:latin typeface="Arial"/>
              </a:rPr>
              <a:t>записать план</a:t>
            </a:r>
          </a:p>
          <a:p>
            <a:pPr algn="ctr">
              <a:lnSpc>
                <a:spcPct val="115000"/>
              </a:lnSpc>
              <a:spcAft>
                <a:spcPts val="0"/>
              </a:spcAft>
            </a:pPr>
            <a:r>
              <a:rPr sz="1250" b="1" i="0">
                <a:solidFill>
                  <a:srgbClr val="21295C"/>
                </a:solidFill>
                <a:latin typeface="Arial"/>
              </a:rPr>
              <a:t>в DECISIONS.md</a:t>
            </a:r>
          </a:p>
        </p:txBody>
      </p:sp>
      <p:sp>
        <p:nvSpPr>
          <p:cNvPr id="10" name="Rounded Rectangle 9"/>
          <p:cNvSpPr/>
          <p:nvPr/>
        </p:nvSpPr>
        <p:spPr>
          <a:xfrm>
            <a:off x="5034686" y="3200400"/>
            <a:ext cx="2119579" cy="1600200"/>
          </a:xfrm>
          <a:prstGeom prst="roundRect">
            <a:avLst>
              <a:gd name="adj" fmla="val 19047"/>
            </a:avLst>
          </a:prstGeom>
          <a:solidFill>
            <a:srgbClr val="F4F7FA"/>
          </a:solidFill>
          <a:ln w="1397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107838" y="3200400"/>
            <a:ext cx="1973275" cy="1600200"/>
          </a:xfrm>
          <a:prstGeom prst="rect">
            <a:avLst/>
          </a:prstGeom>
          <a:noFill/>
        </p:spPr>
        <p:txBody>
          <a:bodyPr wrap="square" lIns="0" rIns="0" tIns="0" bIns="0" anchor="ctr">
            <a:spAutoFit/>
          </a:bodyPr>
          <a:lstStyle/>
          <a:p>
            <a:pPr algn="ctr">
              <a:lnSpc>
                <a:spcPct val="115000"/>
              </a:lnSpc>
              <a:spcAft>
                <a:spcPts val="0"/>
              </a:spcAft>
            </a:pPr>
            <a:r>
              <a:rPr sz="1250" b="1" i="0">
                <a:solidFill>
                  <a:srgbClr val="21295C"/>
                </a:solidFill>
                <a:latin typeface="Arial"/>
              </a:rPr>
              <a:t>дисциплинированно дописывать</a:t>
            </a:r>
          </a:p>
          <a:p>
            <a:pPr algn="ctr">
              <a:lnSpc>
                <a:spcPct val="115000"/>
              </a:lnSpc>
              <a:spcAft>
                <a:spcPts val="0"/>
              </a:spcAft>
            </a:pPr>
            <a:r>
              <a:rPr sz="1250" b="1" i="0">
                <a:solidFill>
                  <a:srgbClr val="21295C"/>
                </a:solidFill>
                <a:latin typeface="Arial"/>
              </a:rPr>
              <a:t>лог хода сразу</a:t>
            </a:r>
          </a:p>
        </p:txBody>
      </p:sp>
      <p:sp>
        <p:nvSpPr>
          <p:cNvPr id="12" name="Rounded Rectangle 11"/>
          <p:cNvSpPr/>
          <p:nvPr/>
        </p:nvSpPr>
        <p:spPr>
          <a:xfrm>
            <a:off x="7300569" y="3200400"/>
            <a:ext cx="2119579" cy="1600200"/>
          </a:xfrm>
          <a:prstGeom prst="roundRect">
            <a:avLst>
              <a:gd name="adj" fmla="val 19047"/>
            </a:avLst>
          </a:prstGeom>
          <a:solidFill>
            <a:srgbClr val="F4F7FA"/>
          </a:solidFill>
          <a:ln w="1397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373721" y="3200400"/>
            <a:ext cx="1973275" cy="1600200"/>
          </a:xfrm>
          <a:prstGeom prst="rect">
            <a:avLst/>
          </a:prstGeom>
          <a:noFill/>
        </p:spPr>
        <p:txBody>
          <a:bodyPr wrap="square" lIns="0" rIns="0" tIns="0" bIns="0" anchor="ctr">
            <a:spAutoFit/>
          </a:bodyPr>
          <a:lstStyle/>
          <a:p>
            <a:pPr algn="ctr">
              <a:lnSpc>
                <a:spcPct val="115000"/>
              </a:lnSpc>
              <a:spcAft>
                <a:spcPts val="0"/>
              </a:spcAft>
            </a:pPr>
            <a:r>
              <a:rPr sz="1250" b="1" i="0">
                <a:solidFill>
                  <a:srgbClr val="21295C"/>
                </a:solidFill>
                <a:latin typeface="Arial"/>
              </a:rPr>
              <a:t>завести папку на задачу</a:t>
            </a:r>
          </a:p>
          <a:p>
            <a:pPr algn="ctr">
              <a:lnSpc>
                <a:spcPct val="115000"/>
              </a:lnSpc>
              <a:spcAft>
                <a:spcPts val="0"/>
              </a:spcAft>
            </a:pPr>
            <a:r>
              <a:rPr sz="1250" b="1" i="0">
                <a:solidFill>
                  <a:srgbClr val="21295C"/>
                </a:solidFill>
                <a:latin typeface="Arial"/>
              </a:rPr>
              <a:t>с файлом под каждый шаг</a:t>
            </a:r>
          </a:p>
        </p:txBody>
      </p:sp>
      <p:sp>
        <p:nvSpPr>
          <p:cNvPr id="14" name="Rounded Rectangle 13"/>
          <p:cNvSpPr/>
          <p:nvPr/>
        </p:nvSpPr>
        <p:spPr>
          <a:xfrm>
            <a:off x="9566452" y="3200400"/>
            <a:ext cx="2119579" cy="1600200"/>
          </a:xfrm>
          <a:prstGeom prst="roundRect">
            <a:avLst>
              <a:gd name="adj" fmla="val 19047"/>
            </a:avLst>
          </a:prstGeom>
          <a:solidFill>
            <a:srgbClr val="F4F7FA"/>
          </a:solidFill>
          <a:ln w="1397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639604" y="3200400"/>
            <a:ext cx="1973275" cy="1600200"/>
          </a:xfrm>
          <a:prstGeom prst="rect">
            <a:avLst/>
          </a:prstGeom>
          <a:noFill/>
        </p:spPr>
        <p:txBody>
          <a:bodyPr wrap="square" lIns="0" rIns="0" tIns="0" bIns="0" anchor="ctr">
            <a:spAutoFit/>
          </a:bodyPr>
          <a:lstStyle/>
          <a:p>
            <a:pPr algn="ctr">
              <a:lnSpc>
                <a:spcPct val="115000"/>
              </a:lnSpc>
              <a:spcAft>
                <a:spcPts val="0"/>
              </a:spcAft>
            </a:pPr>
            <a:r>
              <a:rPr sz="1250" b="1" i="0">
                <a:solidFill>
                  <a:srgbClr val="21295C"/>
                </a:solidFill>
                <a:latin typeface="Arial"/>
              </a:rPr>
              <a:t>попросить агента</a:t>
            </a:r>
          </a:p>
          <a:p>
            <a:pPr algn="ctr">
              <a:lnSpc>
                <a:spcPct val="115000"/>
              </a:lnSpc>
              <a:spcAft>
                <a:spcPts val="0"/>
              </a:spcAft>
            </a:pPr>
            <a:r>
              <a:rPr sz="1250" b="1" i="0">
                <a:solidFill>
                  <a:srgbClr val="21295C"/>
                </a:solidFill>
                <a:latin typeface="Arial"/>
              </a:rPr>
              <a:t>«продолжи с того места»</a:t>
            </a:r>
          </a:p>
        </p:txBody>
      </p:sp>
      <p:sp>
        <p:nvSpPr>
          <p:cNvPr id="16" name="TextBox 15"/>
          <p:cNvSpPr txBox="1"/>
          <p:nvPr/>
        </p:nvSpPr>
        <p:spPr>
          <a:xfrm>
            <a:off x="502920" y="4946904"/>
            <a:ext cx="11183112" cy="320040"/>
          </a:xfrm>
          <a:prstGeom prst="rect">
            <a:avLst/>
          </a:prstGeom>
          <a:noFill/>
        </p:spPr>
        <p:txBody>
          <a:bodyPr wrap="square" lIns="0" rIns="0" tIns="0" bIns="0" anchor="t">
            <a:spAutoFit/>
          </a:bodyPr>
          <a:lstStyle/>
          <a:p>
            <a:pPr algn="ctr">
              <a:lnSpc>
                <a:spcPct val="115000"/>
              </a:lnSpc>
            </a:pPr>
            <a:r>
              <a:rPr sz="1200" b="0" i="1">
                <a:solidFill>
                  <a:srgbClr val="6B7685"/>
                </a:solidFill>
                <a:latin typeface="Arial"/>
              </a:rPr>
              <a:t>разбор — на следующем слайде</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29184"/>
            <a:ext cx="10515600" cy="292608"/>
          </a:xfrm>
          <a:prstGeom prst="rect">
            <a:avLst/>
          </a:prstGeom>
          <a:noFill/>
        </p:spPr>
        <p:txBody>
          <a:bodyPr wrap="square" lIns="0" rIns="0" tIns="0" bIns="0" anchor="t">
            <a:spAutoFit/>
          </a:bodyPr>
          <a:lstStyle/>
          <a:p>
            <a:pPr algn="l">
              <a:lnSpc>
                <a:spcPct val="115000"/>
              </a:lnSpc>
            </a:pPr>
            <a:r>
              <a:rPr sz="1150" b="1" i="0">
                <a:solidFill>
                  <a:srgbClr val="028090"/>
                </a:solidFill>
                <a:latin typeface="Arial"/>
              </a:rPr>
              <a:t>КЕЙС 2.3 · ИССЛЕДОВАНИЕ</a:t>
            </a:r>
          </a:p>
        </p:txBody>
      </p:sp>
      <p:sp>
        <p:nvSpPr>
          <p:cNvPr id="3" name="TextBox 2"/>
          <p:cNvSpPr txBox="1"/>
          <p:nvPr/>
        </p:nvSpPr>
        <p:spPr>
          <a:xfrm>
            <a:off x="502920" y="640080"/>
            <a:ext cx="11183112" cy="1188720"/>
          </a:xfrm>
          <a:prstGeom prst="rect">
            <a:avLst/>
          </a:prstGeom>
          <a:noFill/>
        </p:spPr>
        <p:txBody>
          <a:bodyPr wrap="square" lIns="0" rIns="0" tIns="0" bIns="0" anchor="t">
            <a:spAutoFit/>
          </a:bodyPr>
          <a:lstStyle/>
          <a:p>
            <a:pPr algn="l">
              <a:lnSpc>
                <a:spcPct val="114000"/>
              </a:lnSpc>
            </a:pPr>
            <a:r>
              <a:rPr sz="1450" b="1" i="0">
                <a:solidFill>
                  <a:srgbClr val="21295C"/>
                </a:solidFill>
                <a:latin typeface="Arial"/>
              </a:rPr>
              <a:t>От Pokémon до recitation — практика структурированных заметок о ходе задачи известна и работает; и она объясняет, почему наш файл всё равно подвёл</a:t>
            </a:r>
          </a:p>
        </p:txBody>
      </p:sp>
      <p:sp>
        <p:nvSpPr>
          <p:cNvPr id="4" name="Rounded Rectangle 3"/>
          <p:cNvSpPr/>
          <p:nvPr/>
        </p:nvSpPr>
        <p:spPr>
          <a:xfrm>
            <a:off x="502920" y="1993392"/>
            <a:ext cx="11183112" cy="2331720"/>
          </a:xfrm>
          <a:prstGeom prst="roundRect">
            <a:avLst>
              <a:gd name="adj" fmla="val 13071"/>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13232" y="2121408"/>
            <a:ext cx="10744200" cy="2075688"/>
          </a:xfrm>
          <a:prstGeom prst="rect">
            <a:avLst/>
          </a:prstGeom>
          <a:noFill/>
        </p:spPr>
        <p:txBody>
          <a:bodyPr wrap="square" lIns="0" rIns="0" tIns="0" bIns="0" anchor="t">
            <a:spAutoFit/>
          </a:bodyPr>
          <a:lstStyle/>
          <a:p>
            <a:pPr algn="l">
              <a:lnSpc>
                <a:spcPct val="128000"/>
              </a:lnSpc>
            </a:pPr>
            <a:r>
              <a:rPr sz="1200" b="0" i="0">
                <a:solidFill>
                  <a:srgbClr val="21295C"/>
                </a:solidFill>
                <a:latin typeface="Arial"/>
              </a:rPr>
              <a:t>Anthropic, инженерный блог: «structured note-taking» — агент играет в Pokémon тысячи шагов подряд, ведя простые структурированные заметки, переживая сбросы контекста без потери прогресса. Manus, «recitation»: агент непрерывно переписывает todo.md в конец контекста — снижает уход от цели. metasphere-agents: файл на задачу в .tasks/active/, архивируется в .tasks/done/ по завершении.</a:t>
            </a:r>
          </a:p>
        </p:txBody>
      </p:sp>
      <p:sp>
        <p:nvSpPr>
          <p:cNvPr id="6" name="Rounded Rectangle 5"/>
          <p:cNvSpPr/>
          <p:nvPr/>
        </p:nvSpPr>
        <p:spPr>
          <a:xfrm>
            <a:off x="502920" y="4507992"/>
            <a:ext cx="11183112" cy="1892807"/>
          </a:xfrm>
          <a:prstGeom prst="roundRect">
            <a:avLst>
              <a:gd name="adj" fmla="val 10000"/>
            </a:avLst>
          </a:prstGeom>
          <a:solidFill>
            <a:srgbClr val="FEF5E0"/>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04088" y="4581144"/>
            <a:ext cx="10780776" cy="1746503"/>
          </a:xfrm>
          <a:prstGeom prst="rect">
            <a:avLst/>
          </a:prstGeom>
          <a:noFill/>
        </p:spPr>
        <p:txBody>
          <a:bodyPr wrap="square" lIns="0" rIns="0" tIns="0" bIns="0" anchor="ctr">
            <a:spAutoFit/>
          </a:bodyPr>
          <a:lstStyle/>
          <a:p>
            <a:pPr algn="l">
              <a:lnSpc>
                <a:spcPct val="122000"/>
              </a:lnSpc>
            </a:pPr>
            <a:r>
              <a:rPr sz="1300" b="1" i="0">
                <a:solidFill>
                  <a:srgbClr val="21295C"/>
                </a:solidFill>
                <a:latin typeface="Arial"/>
              </a:rPr>
              <a:t>«Есть измерение на большом числе траекторий: план в среднем помогает. Но дословная цитата авторов — ‘плохой план вреднее отсутствия плана вообще’. Полную картину с цифрами покажу на слайде провала.»</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29184"/>
            <a:ext cx="10515600" cy="292608"/>
          </a:xfrm>
          <a:prstGeom prst="rect">
            <a:avLst/>
          </a:prstGeom>
          <a:noFill/>
        </p:spPr>
        <p:txBody>
          <a:bodyPr wrap="square" lIns="0" rIns="0" tIns="0" bIns="0" anchor="t">
            <a:spAutoFit/>
          </a:bodyPr>
          <a:lstStyle/>
          <a:p>
            <a:pPr algn="l">
              <a:lnSpc>
                <a:spcPct val="115000"/>
              </a:lnSpc>
            </a:pPr>
            <a:r>
              <a:rPr sz="1150" b="1" i="0">
                <a:solidFill>
                  <a:srgbClr val="028090"/>
                </a:solidFill>
                <a:latin typeface="Arial"/>
              </a:rPr>
              <a:t>КЕЙС 2.3 · РАЗБОР</a:t>
            </a:r>
          </a:p>
        </p:txBody>
      </p:sp>
      <p:sp>
        <p:nvSpPr>
          <p:cNvPr id="3" name="TextBox 2"/>
          <p:cNvSpPr txBox="1"/>
          <p:nvPr/>
        </p:nvSpPr>
        <p:spPr>
          <a:xfrm>
            <a:off x="502920" y="640080"/>
            <a:ext cx="11183112" cy="1188720"/>
          </a:xfrm>
          <a:prstGeom prst="rect">
            <a:avLst/>
          </a:prstGeom>
          <a:noFill/>
        </p:spPr>
        <p:txBody>
          <a:bodyPr wrap="square" lIns="0" rIns="0" tIns="0" bIns="0" anchor="t">
            <a:spAutoFit/>
          </a:bodyPr>
          <a:lstStyle/>
          <a:p>
            <a:pPr algn="l">
              <a:lnSpc>
                <a:spcPct val="114000"/>
              </a:lnSpc>
            </a:pPr>
            <a:r>
              <a:rPr sz="1450" b="1" i="0">
                <a:solidFill>
                  <a:srgbClr val="21295C"/>
                </a:solidFill>
                <a:latin typeface="Arial"/>
              </a:rPr>
              <a:t>Дисциплина синхронной записи в уже существующий файл на задачу — целевой ответ; файл задачи это не то же самое, что журнал решений</a:t>
            </a:r>
          </a:p>
        </p:txBody>
      </p:sp>
      <p:sp>
        <p:nvSpPr>
          <p:cNvPr id="4" name="TextBox 3"/>
          <p:cNvSpPr txBox="1"/>
          <p:nvPr/>
        </p:nvSpPr>
        <p:spPr>
          <a:xfrm>
            <a:off x="502920" y="1993392"/>
            <a:ext cx="11183112" cy="274320"/>
          </a:xfrm>
          <a:prstGeom prst="rect">
            <a:avLst/>
          </a:prstGeom>
          <a:noFill/>
        </p:spPr>
        <p:txBody>
          <a:bodyPr wrap="square" lIns="0" rIns="0" tIns="0" bIns="0" anchor="t">
            <a:spAutoFit/>
          </a:bodyPr>
          <a:lstStyle/>
          <a:p>
            <a:pPr algn="l">
              <a:lnSpc>
                <a:spcPct val="115000"/>
              </a:lnSpc>
            </a:pPr>
            <a:r>
              <a:rPr sz="1130" b="0" i="1">
                <a:solidFill>
                  <a:srgbClr val="6B7685"/>
                </a:solidFill>
                <a:latin typeface="Arial"/>
              </a:rPr>
              <a:t>вопрос для контекста: «Файл задачи ввёл в заблуждение — что сделать иначе?»</a:t>
            </a:r>
          </a:p>
        </p:txBody>
      </p:sp>
      <p:sp>
        <p:nvSpPr>
          <p:cNvPr id="5" name="Rounded Rectangle 4"/>
          <p:cNvSpPr/>
          <p:nvPr/>
        </p:nvSpPr>
        <p:spPr>
          <a:xfrm>
            <a:off x="502920" y="2359152"/>
            <a:ext cx="11183112" cy="3337560"/>
          </a:xfrm>
          <a:prstGeom prst="roundRect">
            <a:avLst>
              <a:gd name="adj" fmla="val 9132"/>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85800" y="2542032"/>
            <a:ext cx="2739359" cy="329184"/>
          </a:xfrm>
          <a:prstGeom prst="rect">
            <a:avLst/>
          </a:prstGeom>
          <a:noFill/>
        </p:spPr>
        <p:txBody>
          <a:bodyPr wrap="square" lIns="0" rIns="0" tIns="0" bIns="0" anchor="t">
            <a:spAutoFit/>
          </a:bodyPr>
          <a:lstStyle/>
          <a:p>
            <a:pPr algn="l">
              <a:lnSpc>
                <a:spcPct val="115000"/>
              </a:lnSpc>
            </a:pPr>
            <a:r>
              <a:rPr sz="1030" b="1" i="0">
                <a:solidFill>
                  <a:srgbClr val="6B7685"/>
                </a:solidFill>
                <a:latin typeface="Arial"/>
              </a:rPr>
              <a:t>Вариант</a:t>
            </a:r>
          </a:p>
        </p:txBody>
      </p:sp>
      <p:sp>
        <p:nvSpPr>
          <p:cNvPr id="7" name="TextBox 6"/>
          <p:cNvSpPr txBox="1"/>
          <p:nvPr/>
        </p:nvSpPr>
        <p:spPr>
          <a:xfrm>
            <a:off x="3498311" y="2542032"/>
            <a:ext cx="3172053" cy="329184"/>
          </a:xfrm>
          <a:prstGeom prst="rect">
            <a:avLst/>
          </a:prstGeom>
          <a:noFill/>
        </p:spPr>
        <p:txBody>
          <a:bodyPr wrap="square" lIns="0" rIns="0" tIns="0" bIns="0" anchor="t">
            <a:spAutoFit/>
          </a:bodyPr>
          <a:lstStyle/>
          <a:p>
            <a:pPr algn="l">
              <a:lnSpc>
                <a:spcPct val="115000"/>
              </a:lnSpc>
            </a:pPr>
            <a:r>
              <a:rPr sz="1030" b="1" i="0">
                <a:solidFill>
                  <a:srgbClr val="6B7685"/>
                </a:solidFill>
                <a:latin typeface="Arial"/>
              </a:rPr>
              <a:t>Где это работает</a:t>
            </a:r>
          </a:p>
        </p:txBody>
      </p:sp>
      <p:sp>
        <p:nvSpPr>
          <p:cNvPr id="8" name="TextBox 7"/>
          <p:cNvSpPr txBox="1"/>
          <p:nvPr/>
        </p:nvSpPr>
        <p:spPr>
          <a:xfrm>
            <a:off x="6743517" y="2542032"/>
            <a:ext cx="4686482" cy="329184"/>
          </a:xfrm>
          <a:prstGeom prst="rect">
            <a:avLst/>
          </a:prstGeom>
          <a:noFill/>
        </p:spPr>
        <p:txBody>
          <a:bodyPr wrap="square" lIns="0" rIns="0" tIns="0" bIns="0" anchor="t">
            <a:spAutoFit/>
          </a:bodyPr>
          <a:lstStyle/>
          <a:p>
            <a:pPr algn="l">
              <a:lnSpc>
                <a:spcPct val="115000"/>
              </a:lnSpc>
            </a:pPr>
            <a:r>
              <a:rPr sz="1030" b="1" i="0">
                <a:solidFill>
                  <a:srgbClr val="6B7685"/>
                </a:solidFill>
                <a:latin typeface="Arial"/>
              </a:rPr>
              <a:t>Почему рано — и что вместо</a:t>
            </a:r>
          </a:p>
        </p:txBody>
      </p:sp>
      <p:sp>
        <p:nvSpPr>
          <p:cNvPr id="9" name="TextBox 8"/>
          <p:cNvSpPr txBox="1"/>
          <p:nvPr/>
        </p:nvSpPr>
        <p:spPr>
          <a:xfrm>
            <a:off x="685800" y="2926080"/>
            <a:ext cx="2721071" cy="517550"/>
          </a:xfrm>
          <a:prstGeom prst="rect">
            <a:avLst/>
          </a:prstGeom>
          <a:noFill/>
        </p:spPr>
        <p:txBody>
          <a:bodyPr wrap="square" lIns="0" rIns="0" tIns="0" bIns="0" anchor="ctr">
            <a:spAutoFit/>
          </a:bodyPr>
          <a:lstStyle/>
          <a:p>
            <a:pPr algn="l">
              <a:lnSpc>
                <a:spcPct val="115000"/>
              </a:lnSpc>
            </a:pPr>
            <a:r>
              <a:rPr sz="1000" b="0" i="0">
                <a:solidFill>
                  <a:srgbClr val="21295C"/>
                </a:solidFill>
                <a:latin typeface="Arial"/>
              </a:rPr>
              <a:t>«Не сжимать, не закрывать сессию»</a:t>
            </a:r>
          </a:p>
        </p:txBody>
      </p:sp>
      <p:sp>
        <p:nvSpPr>
          <p:cNvPr id="10" name="TextBox 9"/>
          <p:cNvSpPr txBox="1"/>
          <p:nvPr/>
        </p:nvSpPr>
        <p:spPr>
          <a:xfrm>
            <a:off x="3498311" y="2926080"/>
            <a:ext cx="3153765" cy="517550"/>
          </a:xfrm>
          <a:prstGeom prst="rect">
            <a:avLst/>
          </a:prstGeom>
          <a:noFill/>
        </p:spPr>
        <p:txBody>
          <a:bodyPr wrap="square" lIns="0" rIns="0" tIns="0" bIns="0" anchor="ctr">
            <a:spAutoFit/>
          </a:bodyPr>
          <a:lstStyle/>
          <a:p>
            <a:pPr algn="l">
              <a:lnSpc>
                <a:spcPct val="115000"/>
              </a:lnSpc>
            </a:pPr>
            <a:r>
              <a:rPr sz="1000" b="0" i="0">
                <a:solidFill>
                  <a:srgbClr val="21295C"/>
                </a:solidFill>
                <a:latin typeface="Arial"/>
              </a:rPr>
              <a:t>Для задачи, целиком укладывающейся в одну короткую сессию</a:t>
            </a:r>
          </a:p>
        </p:txBody>
      </p:sp>
      <p:sp>
        <p:nvSpPr>
          <p:cNvPr id="11" name="TextBox 10"/>
          <p:cNvSpPr txBox="1"/>
          <p:nvPr/>
        </p:nvSpPr>
        <p:spPr>
          <a:xfrm>
            <a:off x="6743517" y="2926080"/>
            <a:ext cx="4668194" cy="517550"/>
          </a:xfrm>
          <a:prstGeom prst="rect">
            <a:avLst/>
          </a:prstGeom>
          <a:noFill/>
        </p:spPr>
        <p:txBody>
          <a:bodyPr wrap="square" lIns="0" rIns="0" tIns="0" bIns="0" anchor="ctr">
            <a:spAutoFit/>
          </a:bodyPr>
          <a:lstStyle/>
          <a:p>
            <a:pPr algn="l">
              <a:lnSpc>
                <a:spcPct val="115000"/>
              </a:lnSpc>
            </a:pPr>
            <a:r>
              <a:rPr sz="1000" b="0" i="0">
                <a:solidFill>
                  <a:srgbClr val="21295C"/>
                </a:solidFill>
                <a:latin typeface="Arial"/>
              </a:rPr>
              <a:t>Контекстное окно конечно; на многошаговой задаче рано или поздно случится сжатие или разрыв сессии — это отсутствие стратегии</a:t>
            </a:r>
          </a:p>
        </p:txBody>
      </p:sp>
      <p:cxnSp>
        <p:nvCxnSpPr>
          <p:cNvPr id="12" name="Connector 11"/>
          <p:cNvCxnSpPr/>
          <p:nvPr/>
        </p:nvCxnSpPr>
        <p:spPr>
          <a:xfrm>
            <a:off x="685800" y="3443630"/>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685800" y="3443630"/>
            <a:ext cx="2721071" cy="517550"/>
          </a:xfrm>
          <a:prstGeom prst="rect">
            <a:avLst/>
          </a:prstGeom>
          <a:noFill/>
        </p:spPr>
        <p:txBody>
          <a:bodyPr wrap="square" lIns="0" rIns="0" tIns="0" bIns="0" anchor="ctr">
            <a:spAutoFit/>
          </a:bodyPr>
          <a:lstStyle/>
          <a:p>
            <a:pPr algn="l">
              <a:lnSpc>
                <a:spcPct val="115000"/>
              </a:lnSpc>
            </a:pPr>
            <a:r>
              <a:rPr sz="1000" b="0" i="0">
                <a:solidFill>
                  <a:srgbClr val="21295C"/>
                </a:solidFill>
                <a:latin typeface="Arial"/>
              </a:rPr>
              <a:t>«Записать план в DECISIONS.md»</a:t>
            </a:r>
          </a:p>
        </p:txBody>
      </p:sp>
      <p:sp>
        <p:nvSpPr>
          <p:cNvPr id="14" name="TextBox 13"/>
          <p:cNvSpPr txBox="1"/>
          <p:nvPr/>
        </p:nvSpPr>
        <p:spPr>
          <a:xfrm>
            <a:off x="3498311" y="3443630"/>
            <a:ext cx="3153765" cy="517550"/>
          </a:xfrm>
          <a:prstGeom prst="rect">
            <a:avLst/>
          </a:prstGeom>
          <a:noFill/>
        </p:spPr>
        <p:txBody>
          <a:bodyPr wrap="square" lIns="0" rIns="0" tIns="0" bIns="0" anchor="ctr">
            <a:spAutoFit/>
          </a:bodyPr>
          <a:lstStyle/>
          <a:p>
            <a:pPr algn="l">
              <a:lnSpc>
                <a:spcPct val="115000"/>
              </a:lnSpc>
            </a:pPr>
            <a:r>
              <a:rPr sz="1000" b="0" i="0">
                <a:solidFill>
                  <a:srgbClr val="21295C"/>
                </a:solidFill>
                <a:latin typeface="Arial"/>
              </a:rPr>
              <a:t>Никогда — не тот слой памяти</a:t>
            </a:r>
          </a:p>
        </p:txBody>
      </p:sp>
      <p:sp>
        <p:nvSpPr>
          <p:cNvPr id="15" name="TextBox 14"/>
          <p:cNvSpPr txBox="1"/>
          <p:nvPr/>
        </p:nvSpPr>
        <p:spPr>
          <a:xfrm>
            <a:off x="6743517" y="3443630"/>
            <a:ext cx="4668194" cy="517550"/>
          </a:xfrm>
          <a:prstGeom prst="rect">
            <a:avLst/>
          </a:prstGeom>
          <a:noFill/>
        </p:spPr>
        <p:txBody>
          <a:bodyPr wrap="square" lIns="0" rIns="0" tIns="0" bIns="0" anchor="ctr">
            <a:spAutoFit/>
          </a:bodyPr>
          <a:lstStyle/>
          <a:p>
            <a:pPr algn="l">
              <a:lnSpc>
                <a:spcPct val="115000"/>
              </a:lnSpc>
            </a:pPr>
            <a:r>
              <a:rPr sz="1000" b="0" i="0">
                <a:solidFill>
                  <a:srgbClr val="21295C"/>
                </a:solidFill>
                <a:latin typeface="Arial"/>
              </a:rPr>
              <a:t>DECISIONS.md — про решения, которые остаются в силе навсегда; статус одной задачи туда не относится</a:t>
            </a:r>
          </a:p>
        </p:txBody>
      </p:sp>
      <p:cxnSp>
        <p:nvCxnSpPr>
          <p:cNvPr id="16" name="Connector 15"/>
          <p:cNvCxnSpPr/>
          <p:nvPr/>
        </p:nvCxnSpPr>
        <p:spPr>
          <a:xfrm>
            <a:off x="685800" y="3961180"/>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7" name="Rectangle 16"/>
          <p:cNvSpPr/>
          <p:nvPr/>
        </p:nvSpPr>
        <p:spPr>
          <a:xfrm>
            <a:off x="557784" y="3961180"/>
            <a:ext cx="11073384" cy="517550"/>
          </a:xfrm>
          <a:prstGeom prst="rect">
            <a:avLst/>
          </a:prstGeom>
          <a:solidFill>
            <a:srgbClr val="FEF5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85800" y="3961180"/>
            <a:ext cx="2721071" cy="517550"/>
          </a:xfrm>
          <a:prstGeom prst="rect">
            <a:avLst/>
          </a:prstGeom>
          <a:noFill/>
        </p:spPr>
        <p:txBody>
          <a:bodyPr wrap="square" lIns="0" rIns="0" tIns="0" bIns="0" anchor="ctr">
            <a:spAutoFit/>
          </a:bodyPr>
          <a:lstStyle/>
          <a:p>
            <a:pPr algn="l">
              <a:lnSpc>
                <a:spcPct val="115000"/>
              </a:lnSpc>
            </a:pPr>
            <a:r>
              <a:rPr sz="1000" b="0" i="0">
                <a:solidFill>
                  <a:srgbClr val="21295C"/>
                </a:solidFill>
                <a:latin typeface="Arial"/>
              </a:rPr>
              <a:t>«Дисциплинированно дописывать лог хода сразу»</a:t>
            </a:r>
          </a:p>
        </p:txBody>
      </p:sp>
      <p:sp>
        <p:nvSpPr>
          <p:cNvPr id="19" name="TextBox 18"/>
          <p:cNvSpPr txBox="1"/>
          <p:nvPr/>
        </p:nvSpPr>
        <p:spPr>
          <a:xfrm>
            <a:off x="3498311" y="3961180"/>
            <a:ext cx="3153765" cy="517550"/>
          </a:xfrm>
          <a:prstGeom prst="rect">
            <a:avLst/>
          </a:prstGeom>
          <a:noFill/>
        </p:spPr>
        <p:txBody>
          <a:bodyPr wrap="square" lIns="0" rIns="0" tIns="0" bIns="0" anchor="ctr">
            <a:spAutoFit/>
          </a:bodyPr>
          <a:lstStyle/>
          <a:p>
            <a:pPr algn="l">
              <a:lnSpc>
                <a:spcPct val="115000"/>
              </a:lnSpc>
            </a:pPr>
            <a:r>
              <a:rPr sz="1000" b="0" i="0">
                <a:solidFill>
                  <a:srgbClr val="21295C"/>
                </a:solidFill>
                <a:latin typeface="Arial"/>
              </a:rPr>
              <a:t>Ровно наш случай</a:t>
            </a:r>
          </a:p>
        </p:txBody>
      </p:sp>
      <p:sp>
        <p:nvSpPr>
          <p:cNvPr id="20" name="TextBox 19"/>
          <p:cNvSpPr txBox="1"/>
          <p:nvPr/>
        </p:nvSpPr>
        <p:spPr>
          <a:xfrm>
            <a:off x="6743517" y="3961180"/>
            <a:ext cx="4668194" cy="517550"/>
          </a:xfrm>
          <a:prstGeom prst="rect">
            <a:avLst/>
          </a:prstGeom>
          <a:noFill/>
        </p:spPr>
        <p:txBody>
          <a:bodyPr wrap="square" lIns="0" rIns="0" tIns="0" bIns="0" anchor="ctr">
            <a:spAutoFit/>
          </a:bodyPr>
          <a:lstStyle/>
          <a:p>
            <a:pPr algn="l">
              <a:lnSpc>
                <a:spcPct val="115000"/>
              </a:lnSpc>
            </a:pPr>
            <a:r>
              <a:rPr sz="1000" b="0" i="0">
                <a:solidFill>
                  <a:srgbClr val="21295C"/>
                </a:solidFill>
                <a:latin typeface="Arial"/>
              </a:rPr>
              <a:t>Целевой ответ для этого масштаба</a:t>
            </a:r>
          </a:p>
        </p:txBody>
      </p:sp>
      <p:cxnSp>
        <p:nvCxnSpPr>
          <p:cNvPr id="21" name="Connector 20"/>
          <p:cNvCxnSpPr/>
          <p:nvPr/>
        </p:nvCxnSpPr>
        <p:spPr>
          <a:xfrm>
            <a:off x="685800" y="4478731"/>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2" name="TextBox 21"/>
          <p:cNvSpPr txBox="1"/>
          <p:nvPr/>
        </p:nvSpPr>
        <p:spPr>
          <a:xfrm>
            <a:off x="685800" y="4478731"/>
            <a:ext cx="2721071" cy="517550"/>
          </a:xfrm>
          <a:prstGeom prst="rect">
            <a:avLst/>
          </a:prstGeom>
          <a:noFill/>
        </p:spPr>
        <p:txBody>
          <a:bodyPr wrap="square" lIns="0" rIns="0" tIns="0" bIns="0" anchor="ctr">
            <a:spAutoFit/>
          </a:bodyPr>
          <a:lstStyle/>
          <a:p>
            <a:pPr algn="l">
              <a:lnSpc>
                <a:spcPct val="115000"/>
              </a:lnSpc>
            </a:pPr>
            <a:r>
              <a:rPr sz="1000" b="0" i="0">
                <a:solidFill>
                  <a:srgbClr val="21295C"/>
                </a:solidFill>
                <a:latin typeface="Arial"/>
              </a:rPr>
              <a:t>«Папка на задачу с файлом под каждый шаг»</a:t>
            </a:r>
          </a:p>
        </p:txBody>
      </p:sp>
      <p:sp>
        <p:nvSpPr>
          <p:cNvPr id="23" name="TextBox 22"/>
          <p:cNvSpPr txBox="1"/>
          <p:nvPr/>
        </p:nvSpPr>
        <p:spPr>
          <a:xfrm>
            <a:off x="3498311" y="4478731"/>
            <a:ext cx="3153765" cy="517550"/>
          </a:xfrm>
          <a:prstGeom prst="rect">
            <a:avLst/>
          </a:prstGeom>
          <a:noFill/>
        </p:spPr>
        <p:txBody>
          <a:bodyPr wrap="square" lIns="0" rIns="0" tIns="0" bIns="0" anchor="ctr">
            <a:spAutoFit/>
          </a:bodyPr>
          <a:lstStyle/>
          <a:p>
            <a:pPr algn="l">
              <a:lnSpc>
                <a:spcPct val="115000"/>
              </a:lnSpc>
            </a:pPr>
            <a:r>
              <a:rPr sz="1000" b="0" i="0">
                <a:solidFill>
                  <a:srgbClr val="21295C"/>
                </a:solidFill>
                <a:latin typeface="Arial"/>
              </a:rPr>
              <a:t>Параллельные подзадачи, несколько субагентов, разросшийся лог</a:t>
            </a:r>
          </a:p>
        </p:txBody>
      </p:sp>
      <p:sp>
        <p:nvSpPr>
          <p:cNvPr id="24" name="TextBox 23"/>
          <p:cNvSpPr txBox="1"/>
          <p:nvPr/>
        </p:nvSpPr>
        <p:spPr>
          <a:xfrm>
            <a:off x="6743517" y="4478731"/>
            <a:ext cx="4668194" cy="517550"/>
          </a:xfrm>
          <a:prstGeom prst="rect">
            <a:avLst/>
          </a:prstGeom>
          <a:noFill/>
        </p:spPr>
        <p:txBody>
          <a:bodyPr wrap="square" lIns="0" rIns="0" tIns="0" bIns="0" anchor="ctr">
            <a:spAutoFit/>
          </a:bodyPr>
          <a:lstStyle/>
          <a:p>
            <a:pPr algn="l">
              <a:lnSpc>
                <a:spcPct val="115000"/>
              </a:lnSpc>
            </a:pPr>
            <a:r>
              <a:rPr sz="1000" b="0" i="0">
                <a:solidFill>
                  <a:srgbClr val="21295C"/>
                </a:solidFill>
                <a:latin typeface="Arial"/>
              </a:rPr>
              <a:t>Оверинжиниринг для одной линейной задачи здесь и сейчас</a:t>
            </a:r>
          </a:p>
        </p:txBody>
      </p:sp>
      <p:cxnSp>
        <p:nvCxnSpPr>
          <p:cNvPr id="25" name="Connector 24"/>
          <p:cNvCxnSpPr/>
          <p:nvPr/>
        </p:nvCxnSpPr>
        <p:spPr>
          <a:xfrm>
            <a:off x="685800" y="4996281"/>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6" name="TextBox 25"/>
          <p:cNvSpPr txBox="1"/>
          <p:nvPr/>
        </p:nvSpPr>
        <p:spPr>
          <a:xfrm>
            <a:off x="685800" y="4996281"/>
            <a:ext cx="2721071" cy="517550"/>
          </a:xfrm>
          <a:prstGeom prst="rect">
            <a:avLst/>
          </a:prstGeom>
          <a:noFill/>
        </p:spPr>
        <p:txBody>
          <a:bodyPr wrap="square" lIns="0" rIns="0" tIns="0" bIns="0" anchor="ctr">
            <a:spAutoFit/>
          </a:bodyPr>
          <a:lstStyle/>
          <a:p>
            <a:pPr algn="l">
              <a:lnSpc>
                <a:spcPct val="115000"/>
              </a:lnSpc>
            </a:pPr>
            <a:r>
              <a:rPr sz="1000" b="0" i="0">
                <a:solidFill>
                  <a:srgbClr val="21295C"/>
                </a:solidFill>
                <a:latin typeface="Arial"/>
              </a:rPr>
              <a:t>«Попросить ‘продолжи с того места’»</a:t>
            </a:r>
          </a:p>
        </p:txBody>
      </p:sp>
      <p:sp>
        <p:nvSpPr>
          <p:cNvPr id="27" name="TextBox 26"/>
          <p:cNvSpPr txBox="1"/>
          <p:nvPr/>
        </p:nvSpPr>
        <p:spPr>
          <a:xfrm>
            <a:off x="3498311" y="4996281"/>
            <a:ext cx="3153765" cy="517550"/>
          </a:xfrm>
          <a:prstGeom prst="rect">
            <a:avLst/>
          </a:prstGeom>
          <a:noFill/>
        </p:spPr>
        <p:txBody>
          <a:bodyPr wrap="square" lIns="0" rIns="0" tIns="0" bIns="0" anchor="ctr">
            <a:spAutoFit/>
          </a:bodyPr>
          <a:lstStyle/>
          <a:p>
            <a:pPr algn="l">
              <a:lnSpc>
                <a:spcPct val="115000"/>
              </a:lnSpc>
            </a:pPr>
            <a:r>
              <a:rPr sz="1000" b="0" i="0">
                <a:solidFill>
                  <a:srgbClr val="21295C"/>
                </a:solidFill>
                <a:latin typeface="Arial"/>
              </a:rPr>
              <a:t>Внутри одной непрерывной сессии, до сжатия</a:t>
            </a:r>
          </a:p>
        </p:txBody>
      </p:sp>
      <p:sp>
        <p:nvSpPr>
          <p:cNvPr id="28" name="TextBox 27"/>
          <p:cNvSpPr txBox="1"/>
          <p:nvPr/>
        </p:nvSpPr>
        <p:spPr>
          <a:xfrm>
            <a:off x="6743517" y="4996281"/>
            <a:ext cx="4668194" cy="517550"/>
          </a:xfrm>
          <a:prstGeom prst="rect">
            <a:avLst/>
          </a:prstGeom>
          <a:noFill/>
        </p:spPr>
        <p:txBody>
          <a:bodyPr wrap="square" lIns="0" rIns="0" tIns="0" bIns="0" anchor="ctr">
            <a:spAutoFit/>
          </a:bodyPr>
          <a:lstStyle/>
          <a:p>
            <a:pPr algn="l">
              <a:lnSpc>
                <a:spcPct val="115000"/>
              </a:lnSpc>
            </a:pPr>
            <a:r>
              <a:rPr sz="1000" b="0" i="0">
                <a:solidFill>
                  <a:srgbClr val="21295C"/>
                </a:solidFill>
                <a:latin typeface="Arial"/>
              </a:rPr>
              <a:t>После сжатия или в новой сессии буквально нечего продолжать</a:t>
            </a:r>
          </a:p>
        </p:txBody>
      </p:sp>
      <p:sp>
        <p:nvSpPr>
          <p:cNvPr id="29" name="Rounded Rectangle 28"/>
          <p:cNvSpPr/>
          <p:nvPr/>
        </p:nvSpPr>
        <p:spPr>
          <a:xfrm>
            <a:off x="502920" y="5843016"/>
            <a:ext cx="11183112" cy="777240"/>
          </a:xfrm>
          <a:prstGeom prst="roundRect">
            <a:avLst>
              <a:gd name="adj" fmla="val 10000"/>
            </a:avLst>
          </a:prstGeom>
          <a:solidFill>
            <a:srgbClr val="FEF5E0"/>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704088" y="5916168"/>
            <a:ext cx="10780776" cy="630936"/>
          </a:xfrm>
          <a:prstGeom prst="rect">
            <a:avLst/>
          </a:prstGeom>
          <a:noFill/>
        </p:spPr>
        <p:txBody>
          <a:bodyPr wrap="square" lIns="0" rIns="0" tIns="0" bIns="0" anchor="ctr">
            <a:spAutoFit/>
          </a:bodyPr>
          <a:lstStyle/>
          <a:p>
            <a:pPr algn="l">
              <a:lnSpc>
                <a:spcPct val="122000"/>
              </a:lnSpc>
            </a:pPr>
            <a:r>
              <a:rPr sz="1250" b="1" i="0">
                <a:solidFill>
                  <a:srgbClr val="21295C"/>
                </a:solidFill>
                <a:latin typeface="Arial"/>
              </a:rPr>
              <a:t>целевой ответ — дисциплина синхронной записи в уже существующий файл, с явной оговоркой об упрощении до файла</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29184"/>
            <a:ext cx="10515600" cy="292608"/>
          </a:xfrm>
          <a:prstGeom prst="rect">
            <a:avLst/>
          </a:prstGeom>
          <a:noFill/>
        </p:spPr>
        <p:txBody>
          <a:bodyPr wrap="square" lIns="0" rIns="0" tIns="0" bIns="0" anchor="t">
            <a:spAutoFit/>
          </a:bodyPr>
          <a:lstStyle/>
          <a:p>
            <a:pPr algn="l">
              <a:lnSpc>
                <a:spcPct val="115000"/>
              </a:lnSpc>
            </a:pPr>
            <a:r>
              <a:rPr sz="1150" b="1" i="0">
                <a:solidFill>
                  <a:srgbClr val="028090"/>
                </a:solidFill>
                <a:latin typeface="Arial"/>
              </a:rPr>
              <a:t>КЕЙС 2.3 · РЕШЕНИЕ</a:t>
            </a:r>
          </a:p>
        </p:txBody>
      </p:sp>
      <p:sp>
        <p:nvSpPr>
          <p:cNvPr id="3" name="TextBox 2"/>
          <p:cNvSpPr txBox="1"/>
          <p:nvPr/>
        </p:nvSpPr>
        <p:spPr>
          <a:xfrm>
            <a:off x="502920" y="640080"/>
            <a:ext cx="11183112" cy="868680"/>
          </a:xfrm>
          <a:prstGeom prst="rect">
            <a:avLst/>
          </a:prstGeom>
          <a:noFill/>
        </p:spPr>
        <p:txBody>
          <a:bodyPr wrap="square" lIns="0" rIns="0" tIns="0" bIns="0" anchor="t">
            <a:spAutoFit/>
          </a:bodyPr>
          <a:lstStyle/>
          <a:p>
            <a:pPr algn="l">
              <a:lnSpc>
                <a:spcPct val="114000"/>
              </a:lnSpc>
            </a:pPr>
            <a:r>
              <a:rPr sz="1900" b="1" i="0">
                <a:solidFill>
                  <a:srgbClr val="21295C"/>
                </a:solidFill>
                <a:latin typeface="Arial"/>
              </a:rPr>
              <a:t>Один и тот же файл, одна и та же практика — разница ровно в том, записали вовремя или нет</a:t>
            </a:r>
          </a:p>
        </p:txBody>
      </p:sp>
      <p:sp>
        <p:nvSpPr>
          <p:cNvPr id="4" name="Rounded Rectangle 3"/>
          <p:cNvSpPr/>
          <p:nvPr/>
        </p:nvSpPr>
        <p:spPr>
          <a:xfrm>
            <a:off x="502920" y="1673351"/>
            <a:ext cx="11183112" cy="3977639"/>
          </a:xfrm>
          <a:prstGeom prst="roundRect">
            <a:avLst>
              <a:gd name="adj" fmla="val 3500"/>
            </a:avLst>
          </a:prstGeom>
          <a:solidFill>
            <a:srgbClr val="161C30"/>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04088" y="1874519"/>
            <a:ext cx="10780776" cy="274320"/>
          </a:xfrm>
          <a:prstGeom prst="rect">
            <a:avLst/>
          </a:prstGeom>
          <a:noFill/>
        </p:spPr>
        <p:txBody>
          <a:bodyPr wrap="square" lIns="0" rIns="0" tIns="0" bIns="0" anchor="t">
            <a:spAutoFit/>
          </a:bodyPr>
          <a:lstStyle/>
          <a:p>
            <a:pPr algn="l">
              <a:lnSpc>
                <a:spcPct val="115000"/>
              </a:lnSpc>
            </a:pPr>
            <a:r>
              <a:rPr sz="1100" b="1" i="0">
                <a:solidFill>
                  <a:srgbClr val="028090"/>
                </a:solidFill>
                <a:latin typeface="Consolas"/>
              </a:rPr>
              <a:t>.tasks/active/signup-wizard.md</a:t>
            </a:r>
          </a:p>
        </p:txBody>
      </p:sp>
      <p:sp>
        <p:nvSpPr>
          <p:cNvPr id="6" name="TextBox 5"/>
          <p:cNvSpPr txBox="1"/>
          <p:nvPr/>
        </p:nvSpPr>
        <p:spPr>
          <a:xfrm>
            <a:off x="704088" y="2185415"/>
            <a:ext cx="10780776" cy="3264408"/>
          </a:xfrm>
          <a:prstGeom prst="rect">
            <a:avLst/>
          </a:prstGeom>
          <a:noFill/>
        </p:spPr>
        <p:txBody>
          <a:bodyPr wrap="square" lIns="0" rIns="0" tIns="0" bIns="0" anchor="t">
            <a:spAutoFit/>
          </a:bodyPr>
          <a:lstStyle/>
          <a:p>
            <a:pPr algn="l">
              <a:lnSpc>
                <a:spcPct val="112000"/>
              </a:lnSpc>
              <a:spcAft>
                <a:spcPts val="200"/>
              </a:spcAft>
            </a:pPr>
            <a:r>
              <a:rPr sz="969" b="1" i="0">
                <a:solidFill>
                  <a:srgbClr val="028090"/>
                </a:solidFill>
                <a:latin typeface="Consolas"/>
              </a:rPr>
              <a:t># Задача: разбить форму на пошаговый визард</a:t>
            </a:r>
          </a:p>
          <a:p>
            <a:pPr algn="l">
              <a:lnSpc>
                <a:spcPct val="112000"/>
              </a:lnSpc>
              <a:spcAft>
                <a:spcPts val="200"/>
              </a:spcAft>
            </a:pPr>
            <a:r>
              <a:rPr sz="969" b="0" i="0">
                <a:solidFill>
                  <a:srgbClr val="E3E9F2"/>
                </a:solidFill>
                <a:latin typeface="Consolas"/>
              </a:rPr>
              <a:t/>
            </a:r>
          </a:p>
          <a:p>
            <a:pPr algn="l">
              <a:lnSpc>
                <a:spcPct val="112000"/>
              </a:lnSpc>
              <a:spcAft>
                <a:spcPts val="200"/>
              </a:spcAft>
            </a:pPr>
            <a:r>
              <a:rPr sz="969" b="1" i="0">
                <a:solidFill>
                  <a:srgbClr val="028090"/>
                </a:solidFill>
                <a:latin typeface="Consolas"/>
              </a:rPr>
              <a:t>## План</a:t>
            </a:r>
          </a:p>
          <a:p>
            <a:pPr algn="l">
              <a:lnSpc>
                <a:spcPct val="112000"/>
              </a:lnSpc>
              <a:spcAft>
                <a:spcPts val="200"/>
              </a:spcAft>
            </a:pPr>
            <a:r>
              <a:rPr sz="969" b="0" i="0">
                <a:solidFill>
                  <a:srgbClr val="E3E9F2"/>
                </a:solidFill>
                <a:latin typeface="Consolas"/>
              </a:rPr>
              <a:t>1. [x] Разметка трёх шагов (имя / email / подтверждение)</a:t>
            </a:r>
          </a:p>
          <a:p>
            <a:pPr algn="l">
              <a:lnSpc>
                <a:spcPct val="112000"/>
              </a:lnSpc>
              <a:spcAft>
                <a:spcPts val="200"/>
              </a:spcAft>
            </a:pPr>
            <a:r>
              <a:rPr sz="969" b="0" i="0">
                <a:solidFill>
                  <a:srgbClr val="E3E9F2"/>
                </a:solidFill>
                <a:latin typeface="Consolas"/>
              </a:rPr>
              <a:t>2. [x] Перенос текущей валидации без изменений</a:t>
            </a:r>
          </a:p>
          <a:p>
            <a:pPr algn="l">
              <a:lnSpc>
                <a:spcPct val="112000"/>
              </a:lnSpc>
              <a:spcAft>
                <a:spcPts val="200"/>
              </a:spcAft>
            </a:pPr>
            <a:r>
              <a:rPr sz="969" b="0" i="0">
                <a:solidFill>
                  <a:srgbClr val="E3E9F2"/>
                </a:solidFill>
                <a:latin typeface="Consolas"/>
              </a:rPr>
              <a:t>3. [ ] Состояние текущего шага (JS)</a:t>
            </a:r>
          </a:p>
          <a:p>
            <a:pPr algn="l">
              <a:lnSpc>
                <a:spcPct val="112000"/>
              </a:lnSpc>
              <a:spcAft>
                <a:spcPts val="200"/>
              </a:spcAft>
            </a:pPr>
            <a:r>
              <a:rPr sz="969" b="0" i="0">
                <a:solidFill>
                  <a:srgbClr val="E3E9F2"/>
                </a:solidFill>
                <a:latin typeface="Consolas"/>
              </a:rPr>
              <a:t>4. [ ] Кнопки «назад»/«далее»</a:t>
            </a:r>
          </a:p>
          <a:p>
            <a:pPr algn="l">
              <a:lnSpc>
                <a:spcPct val="112000"/>
              </a:lnSpc>
              <a:spcAft>
                <a:spcPts val="200"/>
              </a:spcAft>
            </a:pPr>
            <a:r>
              <a:rPr sz="969" b="0" i="0">
                <a:solidFill>
                  <a:srgbClr val="E3E9F2"/>
                </a:solidFill>
                <a:latin typeface="Consolas"/>
              </a:rPr>
              <a:t>5. [ ] Тесты на переключение шагов</a:t>
            </a:r>
          </a:p>
          <a:p>
            <a:pPr algn="l">
              <a:lnSpc>
                <a:spcPct val="112000"/>
              </a:lnSpc>
              <a:spcAft>
                <a:spcPts val="200"/>
              </a:spcAft>
            </a:pPr>
            <a:r>
              <a:rPr sz="969" b="0" i="0">
                <a:solidFill>
                  <a:srgbClr val="E3E9F2"/>
                </a:solidFill>
                <a:latin typeface="Consolas"/>
              </a:rPr>
              <a:t>6. [ ] Ручная проверка полного прохождения</a:t>
            </a:r>
          </a:p>
          <a:p>
            <a:pPr algn="l">
              <a:lnSpc>
                <a:spcPct val="112000"/>
              </a:lnSpc>
              <a:spcAft>
                <a:spcPts val="200"/>
              </a:spcAft>
            </a:pPr>
            <a:r>
              <a:rPr sz="969" b="0" i="0">
                <a:solidFill>
                  <a:srgbClr val="E3E9F2"/>
                </a:solidFill>
                <a:latin typeface="Consolas"/>
              </a:rPr>
              <a:t/>
            </a:r>
          </a:p>
          <a:p>
            <a:pPr algn="l">
              <a:lnSpc>
                <a:spcPct val="112000"/>
              </a:lnSpc>
              <a:spcAft>
                <a:spcPts val="200"/>
              </a:spcAft>
            </a:pPr>
            <a:r>
              <a:rPr sz="969" b="1" i="0">
                <a:solidFill>
                  <a:srgbClr val="028090"/>
                </a:solidFill>
                <a:latin typeface="Consolas"/>
              </a:rPr>
              <a:t>## Лог хода</a:t>
            </a:r>
          </a:p>
          <a:p>
            <a:pPr algn="l">
              <a:lnSpc>
                <a:spcPct val="112000"/>
              </a:lnSpc>
              <a:spcAft>
                <a:spcPts val="200"/>
              </a:spcAft>
            </a:pPr>
            <a:r>
              <a:rPr sz="969" b="0" i="0">
                <a:solidFill>
                  <a:srgbClr val="E3E9F2"/>
                </a:solidFill>
                <a:latin typeface="Consolas"/>
              </a:rPr>
              <a:t>- 2026-09-20: шаги 1–2 закрыты. Договорились НЕ трогать email-</a:t>
            </a:r>
          </a:p>
          <a:p>
            <a:pPr algn="l">
              <a:lnSpc>
                <a:spcPct val="112000"/>
              </a:lnSpc>
              <a:spcAft>
                <a:spcPts val="200"/>
              </a:spcAft>
            </a:pPr>
            <a:r>
              <a:rPr sz="969" b="0" i="0">
                <a:solidFill>
                  <a:srgbClr val="E3E9F2"/>
                </a:solidFill>
                <a:latin typeface="Consolas"/>
              </a:rPr>
              <a:t>  валидацию — обсуждалась в DECISIONS.md (2026-09-20), тут перенос.</a:t>
            </a:r>
          </a:p>
          <a:p>
            <a:pPr algn="l">
              <a:lnSpc>
                <a:spcPct val="112000"/>
              </a:lnSpc>
              <a:spcAft>
                <a:spcPts val="200"/>
              </a:spcAft>
            </a:pPr>
            <a:r>
              <a:rPr sz="969" b="0" i="0">
                <a:solidFill>
                  <a:srgbClr val="E3E9F2"/>
                </a:solidFill>
                <a:latin typeface="Consolas"/>
              </a:rPr>
              <a:t>- 2026-09-22: начат шаг 3, не закончен — контекст сжат в середине.</a:t>
            </a:r>
          </a:p>
          <a:p>
            <a:pPr algn="l">
              <a:lnSpc>
                <a:spcPct val="112000"/>
              </a:lnSpc>
              <a:spcAft>
                <a:spcPts val="200"/>
              </a:spcAft>
            </a:pPr>
            <a:r>
              <a:rPr sz="969" b="0" i="0">
                <a:solidFill>
                  <a:srgbClr val="E3E9F2"/>
                </a:solidFill>
                <a:latin typeface="Consolas"/>
              </a:rPr>
              <a:t/>
            </a:r>
          </a:p>
          <a:p>
            <a:pPr algn="l">
              <a:lnSpc>
                <a:spcPct val="112000"/>
              </a:lnSpc>
              <a:spcAft>
                <a:spcPts val="200"/>
              </a:spcAft>
            </a:pPr>
            <a:r>
              <a:rPr sz="969" b="1" i="0">
                <a:solidFill>
                  <a:srgbClr val="028090"/>
                </a:solidFill>
                <a:latin typeface="Consolas"/>
              </a:rPr>
              <a:t>## Результаты (заполняется по завершении)</a:t>
            </a:r>
          </a:p>
          <a:p>
            <a:pPr algn="l">
              <a:lnSpc>
                <a:spcPct val="112000"/>
              </a:lnSpc>
              <a:spcAft>
                <a:spcPts val="200"/>
              </a:spcAft>
            </a:pPr>
            <a:r>
              <a:rPr sz="969" b="0" i="0">
                <a:solidFill>
                  <a:srgbClr val="E3E9F2"/>
                </a:solidFill>
                <a:latin typeface="Consolas"/>
              </a:rPr>
              <a:t>—</a:t>
            </a:r>
          </a:p>
        </p:txBody>
      </p:sp>
      <p:sp>
        <p:nvSpPr>
          <p:cNvPr id="7" name="TextBox 6"/>
          <p:cNvSpPr txBox="1"/>
          <p:nvPr/>
        </p:nvSpPr>
        <p:spPr>
          <a:xfrm>
            <a:off x="502920" y="5788152"/>
            <a:ext cx="11183112" cy="1024128"/>
          </a:xfrm>
          <a:prstGeom prst="rect">
            <a:avLst/>
          </a:prstGeom>
          <a:noFill/>
        </p:spPr>
        <p:txBody>
          <a:bodyPr wrap="square" lIns="0" rIns="0" tIns="0" bIns="0" anchor="t">
            <a:spAutoFit/>
          </a:bodyPr>
          <a:lstStyle/>
          <a:p>
            <a:pPr algn="ctr">
              <a:lnSpc>
                <a:spcPct val="120000"/>
              </a:lnSpc>
            </a:pPr>
            <a:r>
              <a:rPr sz="1050" b="0" i="1">
                <a:solidFill>
                  <a:srgbClr val="6B7685"/>
                </a:solidFill>
                <a:latin typeface="Arial"/>
              </a:rPr>
              <a:t>иллюстративный пример, не захваченный вживую — ждёт реальной многошаговой сессии владельца · упрощение до файла — масштабируется до папки, подробнее за пределами этого занятия</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29184"/>
            <a:ext cx="10515600" cy="292608"/>
          </a:xfrm>
          <a:prstGeom prst="rect">
            <a:avLst/>
          </a:prstGeom>
          <a:noFill/>
        </p:spPr>
        <p:txBody>
          <a:bodyPr wrap="square" lIns="0" rIns="0" tIns="0" bIns="0" anchor="t">
            <a:spAutoFit/>
          </a:bodyPr>
          <a:lstStyle/>
          <a:p>
            <a:pPr algn="l">
              <a:lnSpc>
                <a:spcPct val="115000"/>
              </a:lnSpc>
            </a:pPr>
            <a:r>
              <a:rPr sz="1150" b="1" i="0">
                <a:solidFill>
                  <a:srgbClr val="028090"/>
                </a:solidFill>
                <a:latin typeface="Arial"/>
              </a:rPr>
              <a:t>КЕЙС 2.3 · ПРОВАЛ</a:t>
            </a:r>
          </a:p>
        </p:txBody>
      </p:sp>
      <p:sp>
        <p:nvSpPr>
          <p:cNvPr id="3" name="TextBox 2"/>
          <p:cNvSpPr txBox="1"/>
          <p:nvPr/>
        </p:nvSpPr>
        <p:spPr>
          <a:xfrm>
            <a:off x="502920" y="640080"/>
            <a:ext cx="11183112" cy="1005840"/>
          </a:xfrm>
          <a:prstGeom prst="rect">
            <a:avLst/>
          </a:prstGeom>
          <a:noFill/>
        </p:spPr>
        <p:txBody>
          <a:bodyPr wrap="square" lIns="0" rIns="0" tIns="0" bIns="0" anchor="t">
            <a:spAutoFit/>
          </a:bodyPr>
          <a:lstStyle/>
          <a:p>
            <a:pPr algn="l">
              <a:lnSpc>
                <a:spcPct val="114000"/>
              </a:lnSpc>
            </a:pPr>
            <a:r>
              <a:rPr sz="1650" b="1" i="0">
                <a:solidFill>
                  <a:srgbClr val="21295C"/>
                </a:solidFill>
                <a:latin typeface="Arial"/>
              </a:rPr>
              <a:t>Плохой план хуже отсутствия плана вообще — и это подтверждено количественно, а не только интуицией</a:t>
            </a:r>
          </a:p>
        </p:txBody>
      </p:sp>
      <p:sp>
        <p:nvSpPr>
          <p:cNvPr id="4" name="Rounded Rectangle 3"/>
          <p:cNvSpPr/>
          <p:nvPr/>
        </p:nvSpPr>
        <p:spPr>
          <a:xfrm>
            <a:off x="502920" y="1810512"/>
            <a:ext cx="11183112" cy="1737360"/>
          </a:xfrm>
          <a:prstGeom prst="roundRect">
            <a:avLst>
              <a:gd name="adj" fmla="val 17543"/>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85800" y="1993392"/>
            <a:ext cx="4470135" cy="329184"/>
          </a:xfrm>
          <a:prstGeom prst="rect">
            <a:avLst/>
          </a:prstGeom>
          <a:noFill/>
        </p:spPr>
        <p:txBody>
          <a:bodyPr wrap="square" lIns="0" rIns="0" tIns="0" bIns="0" anchor="t">
            <a:spAutoFit/>
          </a:bodyPr>
          <a:lstStyle/>
          <a:p>
            <a:pPr algn="l">
              <a:lnSpc>
                <a:spcPct val="115000"/>
              </a:lnSpc>
            </a:pPr>
            <a:r>
              <a:rPr sz="1100" b="1" i="0">
                <a:solidFill>
                  <a:srgbClr val="6B7685"/>
                </a:solidFill>
                <a:latin typeface="Arial"/>
              </a:rPr>
              <a:t>Источник</a:t>
            </a:r>
          </a:p>
        </p:txBody>
      </p:sp>
      <p:sp>
        <p:nvSpPr>
          <p:cNvPr id="6" name="TextBox 5"/>
          <p:cNvSpPr txBox="1"/>
          <p:nvPr/>
        </p:nvSpPr>
        <p:spPr>
          <a:xfrm>
            <a:off x="5229087" y="1993392"/>
            <a:ext cx="6200912" cy="329184"/>
          </a:xfrm>
          <a:prstGeom prst="rect">
            <a:avLst/>
          </a:prstGeom>
          <a:noFill/>
        </p:spPr>
        <p:txBody>
          <a:bodyPr wrap="square" lIns="0" rIns="0" tIns="0" bIns="0" anchor="t">
            <a:spAutoFit/>
          </a:bodyPr>
          <a:lstStyle/>
          <a:p>
            <a:pPr algn="l">
              <a:lnSpc>
                <a:spcPct val="115000"/>
              </a:lnSpc>
            </a:pPr>
            <a:r>
              <a:rPr sz="1100" b="1" i="0">
                <a:solidFill>
                  <a:srgbClr val="6B7685"/>
                </a:solidFill>
                <a:latin typeface="Arial"/>
              </a:rPr>
              <a:t>Результат</a:t>
            </a:r>
          </a:p>
        </p:txBody>
      </p:sp>
      <p:sp>
        <p:nvSpPr>
          <p:cNvPr id="7" name="TextBox 6"/>
          <p:cNvSpPr txBox="1"/>
          <p:nvPr/>
        </p:nvSpPr>
        <p:spPr>
          <a:xfrm>
            <a:off x="685800" y="2377440"/>
            <a:ext cx="4451847" cy="493775"/>
          </a:xfrm>
          <a:prstGeom prst="rect">
            <a:avLst/>
          </a:prstGeom>
          <a:noFill/>
        </p:spPr>
        <p:txBody>
          <a:bodyPr wrap="square" lIns="0" rIns="0" tIns="0" bIns="0" anchor="ctr">
            <a:spAutoFit/>
          </a:bodyPr>
          <a:lstStyle/>
          <a:p>
            <a:pPr algn="l">
              <a:lnSpc>
                <a:spcPct val="115000"/>
              </a:lnSpc>
            </a:pPr>
            <a:r>
              <a:rPr sz="1030" b="0" i="0">
                <a:solidFill>
                  <a:srgbClr val="21295C"/>
                </a:solidFill>
                <a:latin typeface="Arial"/>
              </a:rPr>
              <a:t>Evaluating Plan Compliance, 21 120 траекторий, SWE-bench Verified/Pro</a:t>
            </a:r>
          </a:p>
        </p:txBody>
      </p:sp>
      <p:sp>
        <p:nvSpPr>
          <p:cNvPr id="8" name="TextBox 7"/>
          <p:cNvSpPr txBox="1"/>
          <p:nvPr/>
        </p:nvSpPr>
        <p:spPr>
          <a:xfrm>
            <a:off x="5229087" y="2377440"/>
            <a:ext cx="6182624" cy="493775"/>
          </a:xfrm>
          <a:prstGeom prst="rect">
            <a:avLst/>
          </a:prstGeom>
          <a:noFill/>
        </p:spPr>
        <p:txBody>
          <a:bodyPr wrap="square" lIns="0" rIns="0" tIns="0" bIns="0" anchor="ctr">
            <a:spAutoFit/>
          </a:bodyPr>
          <a:lstStyle/>
          <a:p>
            <a:pPr algn="l">
              <a:lnSpc>
                <a:spcPct val="115000"/>
              </a:lnSpc>
            </a:pPr>
            <a:r>
              <a:rPr sz="1030" b="0" i="0">
                <a:solidFill>
                  <a:srgbClr val="21295C"/>
                </a:solidFill>
                <a:latin typeface="Arial"/>
              </a:rPr>
              <a:t>«bad plans hurt performance more than no plan at all»; комплаенс к плану падает ~на 13 п.п. на сложном бенчмарке</a:t>
            </a:r>
          </a:p>
        </p:txBody>
      </p:sp>
      <p:cxnSp>
        <p:nvCxnSpPr>
          <p:cNvPr id="9" name="Connector 8"/>
          <p:cNvCxnSpPr/>
          <p:nvPr/>
        </p:nvCxnSpPr>
        <p:spPr>
          <a:xfrm>
            <a:off x="685800" y="2871216"/>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0" name="TextBox 9"/>
          <p:cNvSpPr txBox="1"/>
          <p:nvPr/>
        </p:nvSpPr>
        <p:spPr>
          <a:xfrm>
            <a:off x="685800" y="2871216"/>
            <a:ext cx="4451847" cy="493775"/>
          </a:xfrm>
          <a:prstGeom prst="rect">
            <a:avLst/>
          </a:prstGeom>
          <a:noFill/>
        </p:spPr>
        <p:txBody>
          <a:bodyPr wrap="square" lIns="0" rIns="0" tIns="0" bIns="0" anchor="ctr">
            <a:spAutoFit/>
          </a:bodyPr>
          <a:lstStyle/>
          <a:p>
            <a:pPr algn="l">
              <a:lnSpc>
                <a:spcPct val="115000"/>
              </a:lnSpc>
            </a:pPr>
            <a:r>
              <a:rPr sz="1030" b="0" i="0">
                <a:solidFill>
                  <a:srgbClr val="21295C"/>
                </a:solidFill>
                <a:latin typeface="Arial"/>
              </a:rPr>
              <a:t>Fresh Memory, Stale Plans, 30 контролируемых живых сценариев</a:t>
            </a:r>
          </a:p>
        </p:txBody>
      </p:sp>
      <p:sp>
        <p:nvSpPr>
          <p:cNvPr id="11" name="TextBox 10"/>
          <p:cNvSpPr txBox="1"/>
          <p:nvPr/>
        </p:nvSpPr>
        <p:spPr>
          <a:xfrm>
            <a:off x="5229087" y="2871216"/>
            <a:ext cx="6182624" cy="493775"/>
          </a:xfrm>
          <a:prstGeom prst="rect">
            <a:avLst/>
          </a:prstGeom>
          <a:noFill/>
        </p:spPr>
        <p:txBody>
          <a:bodyPr wrap="square" lIns="0" rIns="0" tIns="0" bIns="0" anchor="ctr">
            <a:spAutoFit/>
          </a:bodyPr>
          <a:lstStyle/>
          <a:p>
            <a:pPr algn="l">
              <a:lnSpc>
                <a:spcPct val="115000"/>
              </a:lnSpc>
            </a:pPr>
            <a:r>
              <a:rPr sz="1030" b="0" i="0">
                <a:solidFill>
                  <a:srgbClr val="21295C"/>
                </a:solidFill>
                <a:latin typeface="Arial"/>
              </a:rPr>
              <a:t>без проверки актуальности плана исполнитель действовал по устаревшему плану во всех 30 случаях (100%)</a:t>
            </a:r>
          </a:p>
        </p:txBody>
      </p:sp>
      <p:sp>
        <p:nvSpPr>
          <p:cNvPr id="12" name="Rounded Rectangle 11"/>
          <p:cNvSpPr/>
          <p:nvPr/>
        </p:nvSpPr>
        <p:spPr>
          <a:xfrm>
            <a:off x="502920" y="3712464"/>
            <a:ext cx="11183112" cy="1691640"/>
          </a:xfrm>
          <a:prstGeom prst="roundRect">
            <a:avLst>
              <a:gd name="adj" fmla="val 18018"/>
            </a:avLst>
          </a:prstGeom>
          <a:solidFill>
            <a:srgbClr val="F4F7FA"/>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alert-octagon-21295C-96.png"/>
          <p:cNvPicPr>
            <a:picLocks noChangeAspect="1"/>
          </p:cNvPicPr>
          <p:nvPr/>
        </p:nvPicPr>
        <p:blipFill>
          <a:blip r:embed="rId2"/>
          <a:stretch>
            <a:fillRect/>
          </a:stretch>
        </p:blipFill>
        <p:spPr>
          <a:xfrm>
            <a:off x="704088" y="3913632"/>
            <a:ext cx="365760" cy="365760"/>
          </a:xfrm>
          <a:prstGeom prst="rect">
            <a:avLst/>
          </a:prstGeom>
        </p:spPr>
      </p:pic>
      <p:sp>
        <p:nvSpPr>
          <p:cNvPr id="14" name="TextBox 13"/>
          <p:cNvSpPr txBox="1"/>
          <p:nvPr/>
        </p:nvSpPr>
        <p:spPr>
          <a:xfrm>
            <a:off x="1197864" y="3895344"/>
            <a:ext cx="10287000" cy="347472"/>
          </a:xfrm>
          <a:prstGeom prst="rect">
            <a:avLst/>
          </a:prstGeom>
          <a:noFill/>
        </p:spPr>
        <p:txBody>
          <a:bodyPr wrap="square" lIns="0" rIns="0" tIns="0" bIns="0" anchor="t">
            <a:spAutoFit/>
          </a:bodyPr>
          <a:lstStyle/>
          <a:p>
            <a:pPr algn="l">
              <a:lnSpc>
                <a:spcPct val="115000"/>
              </a:lnSpc>
            </a:pPr>
            <a:r>
              <a:rPr sz="1300" b="1" i="0">
                <a:solidFill>
                  <a:srgbClr val="21295C"/>
                </a:solidFill>
                <a:latin typeface="Arial"/>
              </a:rPr>
              <a:t>Кейс-стади «Index Sickness» (n=1, честная оговорка)</a:t>
            </a:r>
          </a:p>
        </p:txBody>
      </p:sp>
      <p:sp>
        <p:nvSpPr>
          <p:cNvPr id="15" name="TextBox 14"/>
          <p:cNvSpPr txBox="1"/>
          <p:nvPr/>
        </p:nvSpPr>
        <p:spPr>
          <a:xfrm>
            <a:off x="704088" y="4315968"/>
            <a:ext cx="10780776" cy="886968"/>
          </a:xfrm>
          <a:prstGeom prst="rect">
            <a:avLst/>
          </a:prstGeom>
          <a:noFill/>
        </p:spPr>
        <p:txBody>
          <a:bodyPr wrap="square" lIns="0" rIns="0" tIns="0" bIns="0" anchor="t">
            <a:spAutoFit/>
          </a:bodyPr>
          <a:lstStyle/>
          <a:p>
            <a:pPr algn="l">
              <a:lnSpc>
                <a:spcPct val="128000"/>
              </a:lnSpc>
            </a:pPr>
            <a:r>
              <a:rPr sz="1200" b="0" i="0">
                <a:solidFill>
                  <a:srgbClr val="21295C"/>
                </a:solidFill>
                <a:latin typeface="Arial"/>
              </a:rPr>
              <a:t>Реальный проект, 391 сессия за месяц. Решение — физическое разделение baseline-инструкций и append-only лога сессии. Результат: объём AI-инструкций сократился ~на 75%, рецидивов не было за следующие ~150 сессий. n=1 action research одного автора, не контролируемый эксперимент.</a:t>
            </a:r>
          </a:p>
        </p:txBody>
      </p:sp>
      <p:sp>
        <p:nvSpPr>
          <p:cNvPr id="16" name="TextBox 15"/>
          <p:cNvSpPr txBox="1"/>
          <p:nvPr/>
        </p:nvSpPr>
        <p:spPr>
          <a:xfrm>
            <a:off x="502920" y="5568696"/>
            <a:ext cx="11183112" cy="832103"/>
          </a:xfrm>
          <a:prstGeom prst="rect">
            <a:avLst/>
          </a:prstGeom>
          <a:noFill/>
        </p:spPr>
        <p:txBody>
          <a:bodyPr wrap="square" lIns="0" rIns="0" tIns="0" bIns="0" anchor="t">
            <a:spAutoFit/>
          </a:bodyPr>
          <a:lstStyle/>
          <a:p>
            <a:pPr algn="ctr">
              <a:lnSpc>
                <a:spcPct val="125000"/>
              </a:lnSpc>
            </a:pPr>
            <a:r>
              <a:rPr sz="1150" b="0" i="1">
                <a:solidFill>
                  <a:srgbClr val="6B7685"/>
                </a:solidFill>
                <a:latin typeface="Arial"/>
              </a:rPr>
              <a:t>практика «файл/папка на задачу» пока не мейнстрим — 2853 реальных репозитория, доминируют статические context-файлы</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29184"/>
            <a:ext cx="10515600" cy="292608"/>
          </a:xfrm>
          <a:prstGeom prst="rect">
            <a:avLst/>
          </a:prstGeom>
          <a:noFill/>
        </p:spPr>
        <p:txBody>
          <a:bodyPr wrap="square" lIns="0" rIns="0" tIns="0" bIns="0" anchor="t">
            <a:spAutoFit/>
          </a:bodyPr>
          <a:lstStyle/>
          <a:p>
            <a:pPr algn="l">
              <a:lnSpc>
                <a:spcPct val="115000"/>
              </a:lnSpc>
            </a:pPr>
            <a:r>
              <a:rPr sz="1150" b="1" i="0">
                <a:solidFill>
                  <a:srgbClr val="028090"/>
                </a:solidFill>
                <a:latin typeface="Arial"/>
              </a:rPr>
              <a:t>КЕЙС 2.3 · КРИТЕРИЙ</a:t>
            </a:r>
          </a:p>
        </p:txBody>
      </p:sp>
      <p:sp>
        <p:nvSpPr>
          <p:cNvPr id="3" name="TextBox 2"/>
          <p:cNvSpPr txBox="1"/>
          <p:nvPr/>
        </p:nvSpPr>
        <p:spPr>
          <a:xfrm>
            <a:off x="502920" y="640080"/>
            <a:ext cx="11183112" cy="1188720"/>
          </a:xfrm>
          <a:prstGeom prst="rect">
            <a:avLst/>
          </a:prstGeom>
          <a:noFill/>
        </p:spPr>
        <p:txBody>
          <a:bodyPr wrap="square" lIns="0" rIns="0" tIns="0" bIns="0" anchor="t">
            <a:spAutoFit/>
          </a:bodyPr>
          <a:lstStyle/>
          <a:p>
            <a:pPr algn="l">
              <a:lnSpc>
                <a:spcPct val="114000"/>
              </a:lnSpc>
            </a:pPr>
            <a:r>
              <a:rPr sz="1450" b="1" i="0">
                <a:solidFill>
                  <a:srgbClr val="21295C"/>
                </a:solidFill>
                <a:latin typeface="Arial"/>
              </a:rPr>
              <a:t>Одного файла на задачу достаточно, пока задача линейная и её ведёт один агент и один разработчик — иначе оправдан переход к папке</a:t>
            </a:r>
          </a:p>
        </p:txBody>
      </p:sp>
      <p:sp>
        <p:nvSpPr>
          <p:cNvPr id="4" name="Rounded Rectangle 3"/>
          <p:cNvSpPr/>
          <p:nvPr/>
        </p:nvSpPr>
        <p:spPr>
          <a:xfrm>
            <a:off x="502920" y="1993392"/>
            <a:ext cx="11183112" cy="2322576"/>
          </a:xfrm>
          <a:prstGeom prst="roundRect">
            <a:avLst>
              <a:gd name="adj" fmla="val 13123"/>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713232" y="2231136"/>
            <a:ext cx="201168" cy="201168"/>
          </a:xfrm>
          <a:prstGeom prst="roundRect">
            <a:avLst>
              <a:gd name="adj" fmla="val 25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42415" y="2157984"/>
            <a:ext cx="10424160" cy="438912"/>
          </a:xfrm>
          <a:prstGeom prst="rect">
            <a:avLst/>
          </a:prstGeom>
          <a:noFill/>
        </p:spPr>
        <p:txBody>
          <a:bodyPr wrap="square" lIns="0" rIns="0" tIns="0" bIns="0" anchor="ctr">
            <a:spAutoFit/>
          </a:bodyPr>
          <a:lstStyle/>
          <a:p>
            <a:pPr algn="l">
              <a:lnSpc>
                <a:spcPct val="118000"/>
              </a:lnSpc>
            </a:pPr>
            <a:r>
              <a:rPr sz="1350" b="0" i="0">
                <a:solidFill>
                  <a:srgbClr val="21295C"/>
                </a:solidFill>
                <a:latin typeface="Arial"/>
              </a:rPr>
              <a:t>Задача линейная: шаги идут по порядку, не параллельно.</a:t>
            </a:r>
          </a:p>
        </p:txBody>
      </p:sp>
      <p:sp>
        <p:nvSpPr>
          <p:cNvPr id="7" name="Rounded Rectangle 6"/>
          <p:cNvSpPr/>
          <p:nvPr/>
        </p:nvSpPr>
        <p:spPr>
          <a:xfrm>
            <a:off x="713232" y="2743200"/>
            <a:ext cx="201168" cy="201168"/>
          </a:xfrm>
          <a:prstGeom prst="roundRect">
            <a:avLst>
              <a:gd name="adj" fmla="val 25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42415" y="2670048"/>
            <a:ext cx="10424160" cy="438912"/>
          </a:xfrm>
          <a:prstGeom prst="rect">
            <a:avLst/>
          </a:prstGeom>
          <a:noFill/>
        </p:spPr>
        <p:txBody>
          <a:bodyPr wrap="square" lIns="0" rIns="0" tIns="0" bIns="0" anchor="ctr">
            <a:spAutoFit/>
          </a:bodyPr>
          <a:lstStyle/>
          <a:p>
            <a:pPr algn="l">
              <a:lnSpc>
                <a:spcPct val="118000"/>
              </a:lnSpc>
            </a:pPr>
            <a:r>
              <a:rPr sz="1350" b="0" i="0">
                <a:solidFill>
                  <a:srgbClr val="21295C"/>
                </a:solidFill>
                <a:latin typeface="Arial"/>
              </a:rPr>
              <a:t>Работает один агент (без субагентов/параллельных веток) и один разработчик.</a:t>
            </a:r>
          </a:p>
        </p:txBody>
      </p:sp>
      <p:sp>
        <p:nvSpPr>
          <p:cNvPr id="9" name="Rounded Rectangle 8"/>
          <p:cNvSpPr/>
          <p:nvPr/>
        </p:nvSpPr>
        <p:spPr>
          <a:xfrm>
            <a:off x="713232" y="3255264"/>
            <a:ext cx="201168" cy="201168"/>
          </a:xfrm>
          <a:prstGeom prst="roundRect">
            <a:avLst>
              <a:gd name="adj" fmla="val 25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42415" y="3182112"/>
            <a:ext cx="10424160" cy="438912"/>
          </a:xfrm>
          <a:prstGeom prst="rect">
            <a:avLst/>
          </a:prstGeom>
          <a:noFill/>
        </p:spPr>
        <p:txBody>
          <a:bodyPr wrap="square" lIns="0" rIns="0" tIns="0" bIns="0" anchor="ctr">
            <a:spAutoFit/>
          </a:bodyPr>
          <a:lstStyle/>
          <a:p>
            <a:pPr algn="l">
              <a:lnSpc>
                <a:spcPct val="118000"/>
              </a:lnSpc>
            </a:pPr>
            <a:r>
              <a:rPr sz="1350" b="0" i="0">
                <a:solidFill>
                  <a:srgbClr val="21295C"/>
                </a:solidFill>
                <a:latin typeface="Arial"/>
              </a:rPr>
              <a:t>Лог хода помещается в разумный файл (сотни строк, не тысячи) без потери читаемости.</a:t>
            </a:r>
          </a:p>
        </p:txBody>
      </p:sp>
      <p:sp>
        <p:nvSpPr>
          <p:cNvPr id="11" name="Rounded Rectangle 10"/>
          <p:cNvSpPr/>
          <p:nvPr/>
        </p:nvSpPr>
        <p:spPr>
          <a:xfrm>
            <a:off x="713232" y="3767328"/>
            <a:ext cx="201168" cy="201168"/>
          </a:xfrm>
          <a:prstGeom prst="roundRect">
            <a:avLst>
              <a:gd name="adj" fmla="val 25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42415" y="3694176"/>
            <a:ext cx="10424160" cy="438912"/>
          </a:xfrm>
          <a:prstGeom prst="rect">
            <a:avLst/>
          </a:prstGeom>
          <a:noFill/>
        </p:spPr>
        <p:txBody>
          <a:bodyPr wrap="square" lIns="0" rIns="0" tIns="0" bIns="0" anchor="ctr">
            <a:spAutoFit/>
          </a:bodyPr>
          <a:lstStyle/>
          <a:p>
            <a:pPr algn="l">
              <a:lnSpc>
                <a:spcPct val="118000"/>
              </a:lnSpc>
            </a:pPr>
            <a:r>
              <a:rPr sz="1350" b="0" i="0">
                <a:solidFill>
                  <a:srgbClr val="21295C"/>
                </a:solidFill>
                <a:latin typeface="Arial"/>
              </a:rPr>
              <a:t>Результатов и артефактов на выходе немного — не нужен отдельный файл на каждый.</a:t>
            </a:r>
          </a:p>
        </p:txBody>
      </p:sp>
      <p:sp>
        <p:nvSpPr>
          <p:cNvPr id="13" name="Rounded Rectangle 12"/>
          <p:cNvSpPr/>
          <p:nvPr/>
        </p:nvSpPr>
        <p:spPr>
          <a:xfrm>
            <a:off x="502920" y="4498848"/>
            <a:ext cx="11183112" cy="1261872"/>
          </a:xfrm>
          <a:prstGeom prst="roundRect">
            <a:avLst>
              <a:gd name="adj" fmla="val 10000"/>
            </a:avLst>
          </a:prstGeom>
          <a:solidFill>
            <a:srgbClr val="FEF5E0"/>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4088" y="4572000"/>
            <a:ext cx="10780776" cy="1115568"/>
          </a:xfrm>
          <a:prstGeom prst="rect">
            <a:avLst/>
          </a:prstGeom>
          <a:noFill/>
        </p:spPr>
        <p:txBody>
          <a:bodyPr wrap="square" lIns="0" rIns="0" tIns="0" bIns="0" anchor="ctr">
            <a:spAutoFit/>
          </a:bodyPr>
          <a:lstStyle/>
          <a:p>
            <a:pPr algn="l">
              <a:lnSpc>
                <a:spcPct val="122000"/>
              </a:lnSpc>
            </a:pPr>
            <a:r>
              <a:rPr sz="1300" b="1" i="0">
                <a:solidFill>
                  <a:srgbClr val="21295C"/>
                </a:solidFill>
                <a:latin typeface="Arial"/>
              </a:rPr>
              <a:t>Если хотя бы половина пунктов неверна — переход к папке на задачу оправдан.</a:t>
            </a:r>
          </a:p>
        </p:txBody>
      </p:sp>
      <p:sp>
        <p:nvSpPr>
          <p:cNvPr id="15" name="TextBox 14"/>
          <p:cNvSpPr txBox="1"/>
          <p:nvPr/>
        </p:nvSpPr>
        <p:spPr>
          <a:xfrm>
            <a:off x="502920" y="5852159"/>
            <a:ext cx="11183112" cy="502920"/>
          </a:xfrm>
          <a:prstGeom prst="rect">
            <a:avLst/>
          </a:prstGeom>
          <a:noFill/>
        </p:spPr>
        <p:txBody>
          <a:bodyPr wrap="square" lIns="0" rIns="0" tIns="0" bIns="0" anchor="t">
            <a:spAutoFit/>
          </a:bodyPr>
          <a:lstStyle/>
          <a:p>
            <a:pPr algn="l">
              <a:lnSpc>
                <a:spcPct val="120000"/>
              </a:lnSpc>
            </a:pPr>
            <a:r>
              <a:rPr sz="1130" b="0" i="1">
                <a:solidFill>
                  <a:srgbClr val="6B7685"/>
                </a:solidFill>
                <a:latin typeface="Arial"/>
              </a:rPr>
              <a:t>честная оговорка: паттерн «файл/папка на задачу» пока не мейнстрим (2853 реальных репозитория, доминируют статические context-файлы) — практику продвигают отдельные лидеры, это не общепринятая норма</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29184"/>
            <a:ext cx="10515600" cy="292608"/>
          </a:xfrm>
          <a:prstGeom prst="rect">
            <a:avLst/>
          </a:prstGeom>
          <a:noFill/>
        </p:spPr>
        <p:txBody>
          <a:bodyPr wrap="square" lIns="0" rIns="0" tIns="0" bIns="0" anchor="t">
            <a:spAutoFit/>
          </a:bodyPr>
          <a:lstStyle/>
          <a:p>
            <a:pPr algn="l">
              <a:lnSpc>
                <a:spcPct val="115000"/>
              </a:lnSpc>
            </a:pPr>
            <a:r>
              <a:rPr sz="1150" b="1" i="0">
                <a:solidFill>
                  <a:srgbClr val="028090"/>
                </a:solidFill>
                <a:latin typeface="Arial"/>
              </a:rPr>
              <a:t>РАЗДЕЛ 3 · СИНТЕЗ</a:t>
            </a:r>
          </a:p>
        </p:txBody>
      </p:sp>
      <p:sp>
        <p:nvSpPr>
          <p:cNvPr id="3" name="TextBox 2"/>
          <p:cNvSpPr txBox="1"/>
          <p:nvPr/>
        </p:nvSpPr>
        <p:spPr>
          <a:xfrm>
            <a:off x="502920" y="640080"/>
            <a:ext cx="11183112" cy="1188720"/>
          </a:xfrm>
          <a:prstGeom prst="rect">
            <a:avLst/>
          </a:prstGeom>
          <a:noFill/>
        </p:spPr>
        <p:txBody>
          <a:bodyPr wrap="square" lIns="0" rIns="0" tIns="0" bIns="0" anchor="t">
            <a:spAutoFit/>
          </a:bodyPr>
          <a:lstStyle/>
          <a:p>
            <a:pPr algn="l">
              <a:lnSpc>
                <a:spcPct val="114000"/>
              </a:lnSpc>
            </a:pPr>
            <a:r>
              <a:rPr sz="1450" b="1" i="0">
                <a:solidFill>
                  <a:srgbClr val="21295C"/>
                </a:solidFill>
                <a:latin typeface="Arial"/>
              </a:rPr>
              <a:t>Шесть развилок сегодняшнего занятия делились на два типа: специфичное для проекта (ждать сигнала) и универсальная гигиена (заводить сразу, на день 0)</a:t>
            </a:r>
          </a:p>
        </p:txBody>
      </p:sp>
      <p:sp>
        <p:nvSpPr>
          <p:cNvPr id="4" name="Rounded Rectangle 3"/>
          <p:cNvSpPr/>
          <p:nvPr/>
        </p:nvSpPr>
        <p:spPr>
          <a:xfrm>
            <a:off x="502920" y="1993392"/>
            <a:ext cx="11183112" cy="3337560"/>
          </a:xfrm>
          <a:prstGeom prst="roundRect">
            <a:avLst>
              <a:gd name="adj" fmla="val 9132"/>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85800" y="2176272"/>
            <a:ext cx="792236" cy="329184"/>
          </a:xfrm>
          <a:prstGeom prst="rect">
            <a:avLst/>
          </a:prstGeom>
          <a:noFill/>
        </p:spPr>
        <p:txBody>
          <a:bodyPr wrap="square" lIns="0" rIns="0" tIns="0" bIns="0" anchor="t">
            <a:spAutoFit/>
          </a:bodyPr>
          <a:lstStyle/>
          <a:p>
            <a:pPr algn="l">
              <a:lnSpc>
                <a:spcPct val="115000"/>
              </a:lnSpc>
            </a:pPr>
            <a:r>
              <a:rPr sz="1150" b="1" i="0">
                <a:solidFill>
                  <a:srgbClr val="6B7685"/>
                </a:solidFill>
                <a:latin typeface="Arial"/>
              </a:rPr>
              <a:t>Кейс</a:t>
            </a:r>
          </a:p>
        </p:txBody>
      </p:sp>
      <p:sp>
        <p:nvSpPr>
          <p:cNvPr id="6" name="TextBox 5"/>
          <p:cNvSpPr txBox="1"/>
          <p:nvPr/>
        </p:nvSpPr>
        <p:spPr>
          <a:xfrm>
            <a:off x="1551188" y="2176272"/>
            <a:ext cx="3929268" cy="329184"/>
          </a:xfrm>
          <a:prstGeom prst="rect">
            <a:avLst/>
          </a:prstGeom>
          <a:noFill/>
        </p:spPr>
        <p:txBody>
          <a:bodyPr wrap="square" lIns="0" rIns="0" tIns="0" bIns="0" anchor="t">
            <a:spAutoFit/>
          </a:bodyPr>
          <a:lstStyle/>
          <a:p>
            <a:pPr algn="l">
              <a:lnSpc>
                <a:spcPct val="115000"/>
              </a:lnSpc>
            </a:pPr>
            <a:r>
              <a:rPr sz="1150" b="1" i="0">
                <a:solidFill>
                  <a:srgbClr val="6B7685"/>
                </a:solidFill>
                <a:latin typeface="Arial"/>
              </a:rPr>
              <a:t>Развилка</a:t>
            </a:r>
          </a:p>
        </p:txBody>
      </p:sp>
      <p:sp>
        <p:nvSpPr>
          <p:cNvPr id="7" name="TextBox 6"/>
          <p:cNvSpPr txBox="1"/>
          <p:nvPr/>
        </p:nvSpPr>
        <p:spPr>
          <a:xfrm>
            <a:off x="5553608" y="2176272"/>
            <a:ext cx="4253788" cy="329184"/>
          </a:xfrm>
          <a:prstGeom prst="rect">
            <a:avLst/>
          </a:prstGeom>
          <a:noFill/>
        </p:spPr>
        <p:txBody>
          <a:bodyPr wrap="square" lIns="0" rIns="0" tIns="0" bIns="0" anchor="t">
            <a:spAutoFit/>
          </a:bodyPr>
          <a:lstStyle/>
          <a:p>
            <a:pPr algn="l">
              <a:lnSpc>
                <a:spcPct val="115000"/>
              </a:lnSpc>
            </a:pPr>
            <a:r>
              <a:rPr sz="1150" b="1" i="0">
                <a:solidFill>
                  <a:srgbClr val="6B7685"/>
                </a:solidFill>
                <a:latin typeface="Arial"/>
              </a:rPr>
              <a:t>Что мы записали</a:t>
            </a:r>
          </a:p>
        </p:txBody>
      </p:sp>
      <p:sp>
        <p:nvSpPr>
          <p:cNvPr id="8" name="TextBox 7"/>
          <p:cNvSpPr txBox="1"/>
          <p:nvPr/>
        </p:nvSpPr>
        <p:spPr>
          <a:xfrm>
            <a:off x="9880549" y="2176272"/>
            <a:ext cx="1549450" cy="329184"/>
          </a:xfrm>
          <a:prstGeom prst="rect">
            <a:avLst/>
          </a:prstGeom>
          <a:noFill/>
        </p:spPr>
        <p:txBody>
          <a:bodyPr wrap="square" lIns="0" rIns="0" tIns="0" bIns="0" anchor="t">
            <a:spAutoFit/>
          </a:bodyPr>
          <a:lstStyle/>
          <a:p>
            <a:pPr algn="l">
              <a:lnSpc>
                <a:spcPct val="115000"/>
              </a:lnSpc>
            </a:pPr>
            <a:r>
              <a:rPr sz="1150" b="1" i="0">
                <a:solidFill>
                  <a:srgbClr val="6B7685"/>
                </a:solidFill>
                <a:latin typeface="Arial"/>
              </a:rPr>
              <a:t>Когда</a:t>
            </a:r>
          </a:p>
        </p:txBody>
      </p:sp>
      <p:sp>
        <p:nvSpPr>
          <p:cNvPr id="9" name="Rectangle 8"/>
          <p:cNvSpPr/>
          <p:nvPr/>
        </p:nvSpPr>
        <p:spPr>
          <a:xfrm>
            <a:off x="557784" y="2560320"/>
            <a:ext cx="11073384" cy="431291"/>
          </a:xfrm>
          <a:prstGeom prst="rect">
            <a:avLst/>
          </a:prstGeom>
          <a:solidFill>
            <a:srgbClr val="E0F1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85800" y="2560320"/>
            <a:ext cx="773948" cy="431291"/>
          </a:xfrm>
          <a:prstGeom prst="rect">
            <a:avLst/>
          </a:prstGeom>
          <a:noFill/>
        </p:spPr>
        <p:txBody>
          <a:bodyPr wrap="square" lIns="0" rIns="0" tIns="0" bIns="0" anchor="ctr">
            <a:spAutoFit/>
          </a:bodyPr>
          <a:lstStyle/>
          <a:p>
            <a:pPr algn="l">
              <a:lnSpc>
                <a:spcPct val="115000"/>
              </a:lnSpc>
            </a:pPr>
            <a:r>
              <a:rPr sz="1130" b="0" i="0">
                <a:solidFill>
                  <a:srgbClr val="21295C"/>
                </a:solidFill>
                <a:latin typeface="Arial"/>
              </a:rPr>
              <a:t>1.1</a:t>
            </a:r>
          </a:p>
        </p:txBody>
      </p:sp>
      <p:sp>
        <p:nvSpPr>
          <p:cNvPr id="11" name="TextBox 10"/>
          <p:cNvSpPr txBox="1"/>
          <p:nvPr/>
        </p:nvSpPr>
        <p:spPr>
          <a:xfrm>
            <a:off x="1551188" y="2560320"/>
            <a:ext cx="3910980" cy="431291"/>
          </a:xfrm>
          <a:prstGeom prst="rect">
            <a:avLst/>
          </a:prstGeom>
          <a:noFill/>
        </p:spPr>
        <p:txBody>
          <a:bodyPr wrap="square" lIns="0" rIns="0" tIns="0" bIns="0" anchor="ctr">
            <a:spAutoFit/>
          </a:bodyPr>
          <a:lstStyle/>
          <a:p>
            <a:pPr algn="l">
              <a:lnSpc>
                <a:spcPct val="115000"/>
              </a:lnSpc>
            </a:pPr>
            <a:r>
              <a:rPr sz="1130" b="0" i="0">
                <a:solidFill>
                  <a:srgbClr val="21295C"/>
                </a:solidFill>
                <a:latin typeface="Arial"/>
              </a:rPr>
              <a:t>Роль агента и общее описание репозитория</a:t>
            </a:r>
          </a:p>
        </p:txBody>
      </p:sp>
      <p:sp>
        <p:nvSpPr>
          <p:cNvPr id="12" name="TextBox 11"/>
          <p:cNvSpPr txBox="1"/>
          <p:nvPr/>
        </p:nvSpPr>
        <p:spPr>
          <a:xfrm>
            <a:off x="5553608" y="2560320"/>
            <a:ext cx="4235500" cy="431291"/>
          </a:xfrm>
          <a:prstGeom prst="rect">
            <a:avLst/>
          </a:prstGeom>
          <a:noFill/>
        </p:spPr>
        <p:txBody>
          <a:bodyPr wrap="square" lIns="0" rIns="0" tIns="0" bIns="0" anchor="ctr">
            <a:spAutoFit/>
          </a:bodyPr>
          <a:lstStyle/>
          <a:p>
            <a:pPr algn="l">
              <a:lnSpc>
                <a:spcPct val="115000"/>
              </a:lnSpc>
            </a:pPr>
            <a:r>
              <a:rPr sz="1130" b="0" i="0">
                <a:solidFill>
                  <a:srgbClr val="21295C"/>
                </a:solidFill>
                <a:latin typeface="Arial"/>
              </a:rPr>
              <a:t>Ничего — до первого реального сигнала</a:t>
            </a:r>
          </a:p>
        </p:txBody>
      </p:sp>
      <p:sp>
        <p:nvSpPr>
          <p:cNvPr id="13" name="TextBox 12"/>
          <p:cNvSpPr txBox="1"/>
          <p:nvPr/>
        </p:nvSpPr>
        <p:spPr>
          <a:xfrm>
            <a:off x="9880549" y="2560320"/>
            <a:ext cx="1531162" cy="431291"/>
          </a:xfrm>
          <a:prstGeom prst="rect">
            <a:avLst/>
          </a:prstGeom>
          <a:noFill/>
        </p:spPr>
        <p:txBody>
          <a:bodyPr wrap="square" lIns="0" rIns="0" tIns="0" bIns="0" anchor="ctr">
            <a:spAutoFit/>
          </a:bodyPr>
          <a:lstStyle/>
          <a:p>
            <a:pPr algn="l">
              <a:lnSpc>
                <a:spcPct val="115000"/>
              </a:lnSpc>
            </a:pPr>
            <a:r>
              <a:rPr sz="1130" b="0" i="0">
                <a:solidFill>
                  <a:srgbClr val="21295C"/>
                </a:solidFill>
                <a:latin typeface="Arial"/>
              </a:rPr>
              <a:t>по сигналу</a:t>
            </a:r>
          </a:p>
        </p:txBody>
      </p:sp>
      <p:cxnSp>
        <p:nvCxnSpPr>
          <p:cNvPr id="14" name="Connector 13"/>
          <p:cNvCxnSpPr/>
          <p:nvPr/>
        </p:nvCxnSpPr>
        <p:spPr>
          <a:xfrm>
            <a:off x="685800" y="2991612"/>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5" name="Rectangle 14"/>
          <p:cNvSpPr/>
          <p:nvPr/>
        </p:nvSpPr>
        <p:spPr>
          <a:xfrm>
            <a:off x="557784" y="2991612"/>
            <a:ext cx="11073384" cy="431291"/>
          </a:xfrm>
          <a:prstGeom prst="rect">
            <a:avLst/>
          </a:prstGeom>
          <a:solidFill>
            <a:srgbClr val="FEF5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85800" y="2991612"/>
            <a:ext cx="773948" cy="431291"/>
          </a:xfrm>
          <a:prstGeom prst="rect">
            <a:avLst/>
          </a:prstGeom>
          <a:noFill/>
        </p:spPr>
        <p:txBody>
          <a:bodyPr wrap="square" lIns="0" rIns="0" tIns="0" bIns="0" anchor="ctr">
            <a:spAutoFit/>
          </a:bodyPr>
          <a:lstStyle/>
          <a:p>
            <a:pPr algn="l">
              <a:lnSpc>
                <a:spcPct val="115000"/>
              </a:lnSpc>
            </a:pPr>
            <a:r>
              <a:rPr sz="1130" b="0" i="0">
                <a:solidFill>
                  <a:srgbClr val="21295C"/>
                </a:solidFill>
                <a:latin typeface="Arial"/>
              </a:rPr>
              <a:t>1.2</a:t>
            </a:r>
          </a:p>
        </p:txBody>
      </p:sp>
      <p:sp>
        <p:nvSpPr>
          <p:cNvPr id="17" name="TextBox 16"/>
          <p:cNvSpPr txBox="1"/>
          <p:nvPr/>
        </p:nvSpPr>
        <p:spPr>
          <a:xfrm>
            <a:off x="1551188" y="2991612"/>
            <a:ext cx="3910980" cy="431291"/>
          </a:xfrm>
          <a:prstGeom prst="rect">
            <a:avLst/>
          </a:prstGeom>
          <a:noFill/>
        </p:spPr>
        <p:txBody>
          <a:bodyPr wrap="square" lIns="0" rIns="0" tIns="0" bIns="0" anchor="ctr">
            <a:spAutoFit/>
          </a:bodyPr>
          <a:lstStyle/>
          <a:p>
            <a:pPr algn="l">
              <a:lnSpc>
                <a:spcPct val="115000"/>
              </a:lnSpc>
            </a:pPr>
            <a:r>
              <a:rPr sz="1130" b="0" i="0">
                <a:solidFill>
                  <a:srgbClr val="21295C"/>
                </a:solidFill>
                <a:latin typeface="Arial"/>
              </a:rPr>
              <a:t>Базовые процессы: гейт «готово» + цикл улучшения</a:t>
            </a:r>
          </a:p>
        </p:txBody>
      </p:sp>
      <p:sp>
        <p:nvSpPr>
          <p:cNvPr id="18" name="TextBox 17"/>
          <p:cNvSpPr txBox="1"/>
          <p:nvPr/>
        </p:nvSpPr>
        <p:spPr>
          <a:xfrm>
            <a:off x="5553608" y="2991612"/>
            <a:ext cx="4235500" cy="431291"/>
          </a:xfrm>
          <a:prstGeom prst="rect">
            <a:avLst/>
          </a:prstGeom>
          <a:noFill/>
        </p:spPr>
        <p:txBody>
          <a:bodyPr wrap="square" lIns="0" rIns="0" tIns="0" bIns="0" anchor="ctr">
            <a:spAutoFit/>
          </a:bodyPr>
          <a:lstStyle/>
          <a:p>
            <a:pPr algn="l">
              <a:lnSpc>
                <a:spcPct val="115000"/>
              </a:lnSpc>
            </a:pPr>
            <a:r>
              <a:rPr sz="1130" b="0" i="0">
                <a:solidFill>
                  <a:srgbClr val="21295C"/>
                </a:solidFill>
                <a:latin typeface="Arial"/>
              </a:rPr>
              <a:t>Гейт-фраза текстом в CLAUDE.md</a:t>
            </a:r>
          </a:p>
        </p:txBody>
      </p:sp>
      <p:sp>
        <p:nvSpPr>
          <p:cNvPr id="19" name="TextBox 18"/>
          <p:cNvSpPr txBox="1"/>
          <p:nvPr/>
        </p:nvSpPr>
        <p:spPr>
          <a:xfrm>
            <a:off x="9880549" y="2991612"/>
            <a:ext cx="1531162" cy="431291"/>
          </a:xfrm>
          <a:prstGeom prst="rect">
            <a:avLst/>
          </a:prstGeom>
          <a:noFill/>
        </p:spPr>
        <p:txBody>
          <a:bodyPr wrap="square" lIns="0" rIns="0" tIns="0" bIns="0" anchor="ctr">
            <a:spAutoFit/>
          </a:bodyPr>
          <a:lstStyle/>
          <a:p>
            <a:pPr algn="l">
              <a:lnSpc>
                <a:spcPct val="115000"/>
              </a:lnSpc>
            </a:pPr>
            <a:r>
              <a:rPr sz="1130" b="0" i="0">
                <a:solidFill>
                  <a:srgbClr val="21295C"/>
                </a:solidFill>
                <a:latin typeface="Arial"/>
              </a:rPr>
              <a:t>сразу</a:t>
            </a:r>
          </a:p>
        </p:txBody>
      </p:sp>
      <p:cxnSp>
        <p:nvCxnSpPr>
          <p:cNvPr id="20" name="Connector 19"/>
          <p:cNvCxnSpPr/>
          <p:nvPr/>
        </p:nvCxnSpPr>
        <p:spPr>
          <a:xfrm>
            <a:off x="685800" y="3422904"/>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1" name="Rectangle 20"/>
          <p:cNvSpPr/>
          <p:nvPr/>
        </p:nvSpPr>
        <p:spPr>
          <a:xfrm>
            <a:off x="557784" y="3422904"/>
            <a:ext cx="11073384" cy="431291"/>
          </a:xfrm>
          <a:prstGeom prst="rect">
            <a:avLst/>
          </a:prstGeom>
          <a:solidFill>
            <a:srgbClr val="E0F1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85800" y="3422904"/>
            <a:ext cx="773948" cy="431291"/>
          </a:xfrm>
          <a:prstGeom prst="rect">
            <a:avLst/>
          </a:prstGeom>
          <a:noFill/>
        </p:spPr>
        <p:txBody>
          <a:bodyPr wrap="square" lIns="0" rIns="0" tIns="0" bIns="0" anchor="ctr">
            <a:spAutoFit/>
          </a:bodyPr>
          <a:lstStyle/>
          <a:p>
            <a:pPr algn="l">
              <a:lnSpc>
                <a:spcPct val="115000"/>
              </a:lnSpc>
            </a:pPr>
            <a:r>
              <a:rPr sz="1130" b="0" i="0">
                <a:solidFill>
                  <a:srgbClr val="21295C"/>
                </a:solidFill>
                <a:latin typeface="Arial"/>
              </a:rPr>
              <a:t>1.3</a:t>
            </a:r>
          </a:p>
        </p:txBody>
      </p:sp>
      <p:sp>
        <p:nvSpPr>
          <p:cNvPr id="23" name="TextBox 22"/>
          <p:cNvSpPr txBox="1"/>
          <p:nvPr/>
        </p:nvSpPr>
        <p:spPr>
          <a:xfrm>
            <a:off x="1551188" y="3422904"/>
            <a:ext cx="3910980" cy="431291"/>
          </a:xfrm>
          <a:prstGeom prst="rect">
            <a:avLst/>
          </a:prstGeom>
          <a:noFill/>
        </p:spPr>
        <p:txBody>
          <a:bodyPr wrap="square" lIns="0" rIns="0" tIns="0" bIns="0" anchor="ctr">
            <a:spAutoFit/>
          </a:bodyPr>
          <a:lstStyle/>
          <a:p>
            <a:pPr algn="l">
              <a:lnSpc>
                <a:spcPct val="115000"/>
              </a:lnSpc>
            </a:pPr>
            <a:r>
              <a:rPr sz="1130" b="0" i="0">
                <a:solidFill>
                  <a:srgbClr val="21295C"/>
                </a:solidFill>
                <a:latin typeface="Arial"/>
              </a:rPr>
              <a:t>Вложенные файлы инструкций по подпапкам</a:t>
            </a:r>
          </a:p>
        </p:txBody>
      </p:sp>
      <p:sp>
        <p:nvSpPr>
          <p:cNvPr id="24" name="TextBox 23"/>
          <p:cNvSpPr txBox="1"/>
          <p:nvPr/>
        </p:nvSpPr>
        <p:spPr>
          <a:xfrm>
            <a:off x="5553608" y="3422904"/>
            <a:ext cx="4235500" cy="431291"/>
          </a:xfrm>
          <a:prstGeom prst="rect">
            <a:avLst/>
          </a:prstGeom>
          <a:noFill/>
        </p:spPr>
        <p:txBody>
          <a:bodyPr wrap="square" lIns="0" rIns="0" tIns="0" bIns="0" anchor="ctr">
            <a:spAutoFit/>
          </a:bodyPr>
          <a:lstStyle/>
          <a:p>
            <a:pPr algn="l">
              <a:lnSpc>
                <a:spcPct val="115000"/>
              </a:lnSpc>
            </a:pPr>
            <a:r>
              <a:rPr sz="1130" b="0" i="0">
                <a:solidFill>
                  <a:srgbClr val="21295C"/>
                </a:solidFill>
                <a:latin typeface="Arial"/>
              </a:rPr>
              <a:t>Не дробим — один файл в корне</a:t>
            </a:r>
          </a:p>
        </p:txBody>
      </p:sp>
      <p:sp>
        <p:nvSpPr>
          <p:cNvPr id="25" name="TextBox 24"/>
          <p:cNvSpPr txBox="1"/>
          <p:nvPr/>
        </p:nvSpPr>
        <p:spPr>
          <a:xfrm>
            <a:off x="9880549" y="3422904"/>
            <a:ext cx="1531162" cy="431291"/>
          </a:xfrm>
          <a:prstGeom prst="rect">
            <a:avLst/>
          </a:prstGeom>
          <a:noFill/>
        </p:spPr>
        <p:txBody>
          <a:bodyPr wrap="square" lIns="0" rIns="0" tIns="0" bIns="0" anchor="ctr">
            <a:spAutoFit/>
          </a:bodyPr>
          <a:lstStyle/>
          <a:p>
            <a:pPr algn="l">
              <a:lnSpc>
                <a:spcPct val="115000"/>
              </a:lnSpc>
            </a:pPr>
            <a:r>
              <a:rPr sz="1130" b="0" i="0">
                <a:solidFill>
                  <a:srgbClr val="21295C"/>
                </a:solidFill>
                <a:latin typeface="Arial"/>
              </a:rPr>
              <a:t>по сигналу</a:t>
            </a:r>
          </a:p>
        </p:txBody>
      </p:sp>
      <p:cxnSp>
        <p:nvCxnSpPr>
          <p:cNvPr id="26" name="Connector 25"/>
          <p:cNvCxnSpPr/>
          <p:nvPr/>
        </p:nvCxnSpPr>
        <p:spPr>
          <a:xfrm>
            <a:off x="685800" y="3854196"/>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7" name="Rectangle 26"/>
          <p:cNvSpPr/>
          <p:nvPr/>
        </p:nvSpPr>
        <p:spPr>
          <a:xfrm>
            <a:off x="557784" y="3854196"/>
            <a:ext cx="11073384" cy="431291"/>
          </a:xfrm>
          <a:prstGeom prst="rect">
            <a:avLst/>
          </a:prstGeom>
          <a:solidFill>
            <a:srgbClr val="FEF5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85800" y="3854196"/>
            <a:ext cx="773948" cy="431291"/>
          </a:xfrm>
          <a:prstGeom prst="rect">
            <a:avLst/>
          </a:prstGeom>
          <a:noFill/>
        </p:spPr>
        <p:txBody>
          <a:bodyPr wrap="square" lIns="0" rIns="0" tIns="0" bIns="0" anchor="ctr">
            <a:spAutoFit/>
          </a:bodyPr>
          <a:lstStyle/>
          <a:p>
            <a:pPr algn="l">
              <a:lnSpc>
                <a:spcPct val="115000"/>
              </a:lnSpc>
            </a:pPr>
            <a:r>
              <a:rPr sz="1130" b="0" i="0">
                <a:solidFill>
                  <a:srgbClr val="21295C"/>
                </a:solidFill>
                <a:latin typeface="Arial"/>
              </a:rPr>
              <a:t>2.1</a:t>
            </a:r>
          </a:p>
        </p:txBody>
      </p:sp>
      <p:sp>
        <p:nvSpPr>
          <p:cNvPr id="29" name="TextBox 28"/>
          <p:cNvSpPr txBox="1"/>
          <p:nvPr/>
        </p:nvSpPr>
        <p:spPr>
          <a:xfrm>
            <a:off x="1551188" y="3854196"/>
            <a:ext cx="3910980" cy="431291"/>
          </a:xfrm>
          <a:prstGeom prst="rect">
            <a:avLst/>
          </a:prstGeom>
          <a:noFill/>
        </p:spPr>
        <p:txBody>
          <a:bodyPr wrap="square" lIns="0" rIns="0" tIns="0" bIns="0" anchor="ctr">
            <a:spAutoFit/>
          </a:bodyPr>
          <a:lstStyle/>
          <a:p>
            <a:pPr algn="l">
              <a:lnSpc>
                <a:spcPct val="115000"/>
              </a:lnSpc>
            </a:pPr>
            <a:r>
              <a:rPr sz="1130" b="0" i="0">
                <a:solidFill>
                  <a:srgbClr val="21295C"/>
                </a:solidFill>
                <a:latin typeface="Arial"/>
              </a:rPr>
              <a:t>Плоский файл памяти (DECISIONS.md)</a:t>
            </a:r>
          </a:p>
        </p:txBody>
      </p:sp>
      <p:sp>
        <p:nvSpPr>
          <p:cNvPr id="30" name="TextBox 29"/>
          <p:cNvSpPr txBox="1"/>
          <p:nvPr/>
        </p:nvSpPr>
        <p:spPr>
          <a:xfrm>
            <a:off x="5553608" y="3854196"/>
            <a:ext cx="4235500" cy="431291"/>
          </a:xfrm>
          <a:prstGeom prst="rect">
            <a:avLst/>
          </a:prstGeom>
          <a:noFill/>
        </p:spPr>
        <p:txBody>
          <a:bodyPr wrap="square" lIns="0" rIns="0" tIns="0" bIns="0" anchor="ctr">
            <a:spAutoFit/>
          </a:bodyPr>
          <a:lstStyle/>
          <a:p>
            <a:pPr algn="l">
              <a:lnSpc>
                <a:spcPct val="115000"/>
              </a:lnSpc>
            </a:pPr>
            <a:r>
              <a:rPr sz="1130" b="0" i="0">
                <a:solidFill>
                  <a:srgbClr val="21295C"/>
                </a:solidFill>
                <a:latin typeface="Arial"/>
              </a:rPr>
              <a:t>Решение записано в файл + авто-память</a:t>
            </a:r>
          </a:p>
        </p:txBody>
      </p:sp>
      <p:sp>
        <p:nvSpPr>
          <p:cNvPr id="31" name="TextBox 30"/>
          <p:cNvSpPr txBox="1"/>
          <p:nvPr/>
        </p:nvSpPr>
        <p:spPr>
          <a:xfrm>
            <a:off x="9880549" y="3854196"/>
            <a:ext cx="1531162" cy="431291"/>
          </a:xfrm>
          <a:prstGeom prst="rect">
            <a:avLst/>
          </a:prstGeom>
          <a:noFill/>
        </p:spPr>
        <p:txBody>
          <a:bodyPr wrap="square" lIns="0" rIns="0" tIns="0" bIns="0" anchor="ctr">
            <a:spAutoFit/>
          </a:bodyPr>
          <a:lstStyle/>
          <a:p>
            <a:pPr algn="l">
              <a:lnSpc>
                <a:spcPct val="115000"/>
              </a:lnSpc>
            </a:pPr>
            <a:r>
              <a:rPr sz="1130" b="0" i="0">
                <a:solidFill>
                  <a:srgbClr val="21295C"/>
                </a:solidFill>
                <a:latin typeface="Arial"/>
              </a:rPr>
              <a:t>сразу</a:t>
            </a:r>
          </a:p>
        </p:txBody>
      </p:sp>
      <p:cxnSp>
        <p:nvCxnSpPr>
          <p:cNvPr id="32" name="Connector 31"/>
          <p:cNvCxnSpPr/>
          <p:nvPr/>
        </p:nvCxnSpPr>
        <p:spPr>
          <a:xfrm>
            <a:off x="685800" y="4285488"/>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33" name="Rectangle 32"/>
          <p:cNvSpPr/>
          <p:nvPr/>
        </p:nvSpPr>
        <p:spPr>
          <a:xfrm>
            <a:off x="557784" y="4285488"/>
            <a:ext cx="11073384" cy="431291"/>
          </a:xfrm>
          <a:prstGeom prst="rect">
            <a:avLst/>
          </a:prstGeom>
          <a:solidFill>
            <a:srgbClr val="E0F1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685800" y="4285488"/>
            <a:ext cx="773948" cy="431291"/>
          </a:xfrm>
          <a:prstGeom prst="rect">
            <a:avLst/>
          </a:prstGeom>
          <a:noFill/>
        </p:spPr>
        <p:txBody>
          <a:bodyPr wrap="square" lIns="0" rIns="0" tIns="0" bIns="0" anchor="ctr">
            <a:spAutoFit/>
          </a:bodyPr>
          <a:lstStyle/>
          <a:p>
            <a:pPr algn="l">
              <a:lnSpc>
                <a:spcPct val="115000"/>
              </a:lnSpc>
            </a:pPr>
            <a:r>
              <a:rPr sz="1130" b="0" i="0">
                <a:solidFill>
                  <a:srgbClr val="21295C"/>
                </a:solidFill>
                <a:latin typeface="Arial"/>
              </a:rPr>
              <a:t>2.2</a:t>
            </a:r>
          </a:p>
        </p:txBody>
      </p:sp>
      <p:sp>
        <p:nvSpPr>
          <p:cNvPr id="35" name="TextBox 34"/>
          <p:cNvSpPr txBox="1"/>
          <p:nvPr/>
        </p:nvSpPr>
        <p:spPr>
          <a:xfrm>
            <a:off x="1551188" y="4285488"/>
            <a:ext cx="3910980" cy="431291"/>
          </a:xfrm>
          <a:prstGeom prst="rect">
            <a:avLst/>
          </a:prstGeom>
          <a:noFill/>
        </p:spPr>
        <p:txBody>
          <a:bodyPr wrap="square" lIns="0" rIns="0" tIns="0" bIns="0" anchor="ctr">
            <a:spAutoFit/>
          </a:bodyPr>
          <a:lstStyle/>
          <a:p>
            <a:pPr algn="l">
              <a:lnSpc>
                <a:spcPct val="115000"/>
              </a:lnSpc>
            </a:pPr>
            <a:r>
              <a:rPr sz="1130" b="0" i="0">
                <a:solidFill>
                  <a:srgbClr val="21295C"/>
                </a:solidFill>
                <a:latin typeface="Arial"/>
              </a:rPr>
              <a:t>Структурированная вики-память</a:t>
            </a:r>
          </a:p>
        </p:txBody>
      </p:sp>
      <p:sp>
        <p:nvSpPr>
          <p:cNvPr id="36" name="TextBox 35"/>
          <p:cNvSpPr txBox="1"/>
          <p:nvPr/>
        </p:nvSpPr>
        <p:spPr>
          <a:xfrm>
            <a:off x="5553608" y="4285488"/>
            <a:ext cx="4235500" cy="431291"/>
          </a:xfrm>
          <a:prstGeom prst="rect">
            <a:avLst/>
          </a:prstGeom>
          <a:noFill/>
        </p:spPr>
        <p:txBody>
          <a:bodyPr wrap="square" lIns="0" rIns="0" tIns="0" bIns="0" anchor="ctr">
            <a:spAutoFit/>
          </a:bodyPr>
          <a:lstStyle/>
          <a:p>
            <a:pPr algn="l">
              <a:lnSpc>
                <a:spcPct val="115000"/>
              </a:lnSpc>
            </a:pPr>
            <a:r>
              <a:rPr sz="1130" b="0" i="0">
                <a:solidFill>
                  <a:srgbClr val="21295C"/>
                </a:solidFill>
                <a:latin typeface="Arial"/>
              </a:rPr>
              <a:t>Тематические файлы со сквозными ссылками</a:t>
            </a:r>
          </a:p>
        </p:txBody>
      </p:sp>
      <p:sp>
        <p:nvSpPr>
          <p:cNvPr id="37" name="TextBox 36"/>
          <p:cNvSpPr txBox="1"/>
          <p:nvPr/>
        </p:nvSpPr>
        <p:spPr>
          <a:xfrm>
            <a:off x="9880549" y="4285488"/>
            <a:ext cx="1531162" cy="431291"/>
          </a:xfrm>
          <a:prstGeom prst="rect">
            <a:avLst/>
          </a:prstGeom>
          <a:noFill/>
        </p:spPr>
        <p:txBody>
          <a:bodyPr wrap="square" lIns="0" rIns="0" tIns="0" bIns="0" anchor="ctr">
            <a:spAutoFit/>
          </a:bodyPr>
          <a:lstStyle/>
          <a:p>
            <a:pPr algn="l">
              <a:lnSpc>
                <a:spcPct val="115000"/>
              </a:lnSpc>
            </a:pPr>
            <a:r>
              <a:rPr sz="1130" b="0" i="0">
                <a:solidFill>
                  <a:srgbClr val="21295C"/>
                </a:solidFill>
                <a:latin typeface="Arial"/>
              </a:rPr>
              <a:t>по сигналу</a:t>
            </a:r>
          </a:p>
        </p:txBody>
      </p:sp>
      <p:cxnSp>
        <p:nvCxnSpPr>
          <p:cNvPr id="38" name="Connector 37"/>
          <p:cNvCxnSpPr/>
          <p:nvPr/>
        </p:nvCxnSpPr>
        <p:spPr>
          <a:xfrm>
            <a:off x="685800" y="4716780"/>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39" name="Rectangle 38"/>
          <p:cNvSpPr/>
          <p:nvPr/>
        </p:nvSpPr>
        <p:spPr>
          <a:xfrm>
            <a:off x="557784" y="4716780"/>
            <a:ext cx="11073384" cy="431291"/>
          </a:xfrm>
          <a:prstGeom prst="rect">
            <a:avLst/>
          </a:prstGeom>
          <a:solidFill>
            <a:srgbClr val="FEF5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685800" y="4716780"/>
            <a:ext cx="773948" cy="431291"/>
          </a:xfrm>
          <a:prstGeom prst="rect">
            <a:avLst/>
          </a:prstGeom>
          <a:noFill/>
        </p:spPr>
        <p:txBody>
          <a:bodyPr wrap="square" lIns="0" rIns="0" tIns="0" bIns="0" anchor="ctr">
            <a:spAutoFit/>
          </a:bodyPr>
          <a:lstStyle/>
          <a:p>
            <a:pPr algn="l">
              <a:lnSpc>
                <a:spcPct val="115000"/>
              </a:lnSpc>
            </a:pPr>
            <a:r>
              <a:rPr sz="1130" b="0" i="0">
                <a:solidFill>
                  <a:srgbClr val="21295C"/>
                </a:solidFill>
                <a:latin typeface="Arial"/>
              </a:rPr>
              <a:t>2.3</a:t>
            </a:r>
          </a:p>
        </p:txBody>
      </p:sp>
      <p:sp>
        <p:nvSpPr>
          <p:cNvPr id="41" name="TextBox 40"/>
          <p:cNvSpPr txBox="1"/>
          <p:nvPr/>
        </p:nvSpPr>
        <p:spPr>
          <a:xfrm>
            <a:off x="1551188" y="4716780"/>
            <a:ext cx="3910980" cy="431291"/>
          </a:xfrm>
          <a:prstGeom prst="rect">
            <a:avLst/>
          </a:prstGeom>
          <a:noFill/>
        </p:spPr>
        <p:txBody>
          <a:bodyPr wrap="square" lIns="0" rIns="0" tIns="0" bIns="0" anchor="ctr">
            <a:spAutoFit/>
          </a:bodyPr>
          <a:lstStyle/>
          <a:p>
            <a:pPr algn="l">
              <a:lnSpc>
                <a:spcPct val="115000"/>
              </a:lnSpc>
            </a:pPr>
            <a:r>
              <a:rPr sz="1130" b="0" i="0">
                <a:solidFill>
                  <a:srgbClr val="21295C"/>
                </a:solidFill>
                <a:latin typeface="Arial"/>
              </a:rPr>
              <a:t>Операционная задачная память</a:t>
            </a:r>
          </a:p>
        </p:txBody>
      </p:sp>
      <p:sp>
        <p:nvSpPr>
          <p:cNvPr id="42" name="TextBox 41"/>
          <p:cNvSpPr txBox="1"/>
          <p:nvPr/>
        </p:nvSpPr>
        <p:spPr>
          <a:xfrm>
            <a:off x="5553608" y="4716780"/>
            <a:ext cx="4235500" cy="431291"/>
          </a:xfrm>
          <a:prstGeom prst="rect">
            <a:avLst/>
          </a:prstGeom>
          <a:noFill/>
        </p:spPr>
        <p:txBody>
          <a:bodyPr wrap="square" lIns="0" rIns="0" tIns="0" bIns="0" anchor="ctr">
            <a:spAutoFit/>
          </a:bodyPr>
          <a:lstStyle/>
          <a:p>
            <a:pPr algn="l">
              <a:lnSpc>
                <a:spcPct val="115000"/>
              </a:lnSpc>
            </a:pPr>
            <a:r>
              <a:rPr sz="1130" b="0" i="0">
                <a:solidFill>
                  <a:srgbClr val="21295C"/>
                </a:solidFill>
                <a:latin typeface="Arial"/>
              </a:rPr>
              <a:t>Один файл на задачу: план + лог + результаты</a:t>
            </a:r>
          </a:p>
        </p:txBody>
      </p:sp>
      <p:sp>
        <p:nvSpPr>
          <p:cNvPr id="43" name="TextBox 42"/>
          <p:cNvSpPr txBox="1"/>
          <p:nvPr/>
        </p:nvSpPr>
        <p:spPr>
          <a:xfrm>
            <a:off x="9880549" y="4716780"/>
            <a:ext cx="1531162" cy="431291"/>
          </a:xfrm>
          <a:prstGeom prst="rect">
            <a:avLst/>
          </a:prstGeom>
          <a:noFill/>
        </p:spPr>
        <p:txBody>
          <a:bodyPr wrap="square" lIns="0" rIns="0" tIns="0" bIns="0" anchor="ctr">
            <a:spAutoFit/>
          </a:bodyPr>
          <a:lstStyle/>
          <a:p>
            <a:pPr algn="l">
              <a:lnSpc>
                <a:spcPct val="115000"/>
              </a:lnSpc>
            </a:pPr>
            <a:r>
              <a:rPr sz="1130" b="0" i="0">
                <a:solidFill>
                  <a:srgbClr val="21295C"/>
                </a:solidFill>
                <a:latin typeface="Arial"/>
              </a:rPr>
              <a:t>сразу</a:t>
            </a:r>
          </a:p>
        </p:txBody>
      </p:sp>
      <p:sp>
        <p:nvSpPr>
          <p:cNvPr id="44" name="TextBox 43"/>
          <p:cNvSpPr txBox="1"/>
          <p:nvPr/>
        </p:nvSpPr>
        <p:spPr>
          <a:xfrm>
            <a:off x="502920" y="5513832"/>
            <a:ext cx="11183112" cy="886967"/>
          </a:xfrm>
          <a:prstGeom prst="rect">
            <a:avLst/>
          </a:prstGeom>
          <a:noFill/>
        </p:spPr>
        <p:txBody>
          <a:bodyPr wrap="square" lIns="0" rIns="0" tIns="0" bIns="0" anchor="ctr">
            <a:spAutoFit/>
          </a:bodyPr>
          <a:lstStyle/>
          <a:p>
            <a:pPr algn="ctr">
              <a:lnSpc>
                <a:spcPct val="115000"/>
              </a:lnSpc>
            </a:pPr>
            <a:r>
              <a:rPr sz="1700" b="1" i="0">
                <a:solidFill>
                  <a:srgbClr val="21295C"/>
                </a:solidFill>
                <a:latin typeface="Arial"/>
              </a:rPr>
              <a:t>Три развилки ждали реального сигнала. Три — не нуждались в сигнале вообще, их стоило завести сразу.</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29184"/>
            <a:ext cx="10515600" cy="292608"/>
          </a:xfrm>
          <a:prstGeom prst="rect">
            <a:avLst/>
          </a:prstGeom>
          <a:noFill/>
        </p:spPr>
        <p:txBody>
          <a:bodyPr wrap="square" lIns="0" rIns="0" tIns="0" bIns="0" anchor="t">
            <a:spAutoFit/>
          </a:bodyPr>
          <a:lstStyle/>
          <a:p>
            <a:pPr algn="l">
              <a:lnSpc>
                <a:spcPct val="115000"/>
              </a:lnSpc>
            </a:pPr>
            <a:r>
              <a:rPr sz="1150" b="1" i="0">
                <a:solidFill>
                  <a:srgbClr val="028090"/>
                </a:solidFill>
                <a:latin typeface="Arial"/>
              </a:rPr>
              <a:t>РАЗДЕЛ 3 · ОХВАТ</a:t>
            </a:r>
          </a:p>
        </p:txBody>
      </p:sp>
      <p:sp>
        <p:nvSpPr>
          <p:cNvPr id="3" name="TextBox 2"/>
          <p:cNvSpPr txBox="1"/>
          <p:nvPr/>
        </p:nvSpPr>
        <p:spPr>
          <a:xfrm>
            <a:off x="502920" y="640080"/>
            <a:ext cx="11183112" cy="1188720"/>
          </a:xfrm>
          <a:prstGeom prst="rect">
            <a:avLst/>
          </a:prstGeom>
          <a:noFill/>
        </p:spPr>
        <p:txBody>
          <a:bodyPr wrap="square" lIns="0" rIns="0" tIns="0" bIns="0" anchor="t">
            <a:spAutoFit/>
          </a:bodyPr>
          <a:lstStyle/>
          <a:p>
            <a:pPr algn="l">
              <a:lnSpc>
                <a:spcPct val="114000"/>
              </a:lnSpc>
            </a:pPr>
            <a:r>
              <a:rPr sz="1450" b="1" i="0">
                <a:solidFill>
                  <a:srgbClr val="21295C"/>
                </a:solidFill>
                <a:latin typeface="Arial"/>
              </a:rPr>
              <a:t>Сегодня закрыты подробно два слота харнесса из пяти; оставшиеся три плюс оба механических слоя, которые превращают просьбу в барьер, — материал Семинара 5</a:t>
            </a:r>
          </a:p>
        </p:txBody>
      </p:sp>
      <p:sp>
        <p:nvSpPr>
          <p:cNvPr id="4" name="Rounded Rectangle 3"/>
          <p:cNvSpPr/>
          <p:nvPr/>
        </p:nvSpPr>
        <p:spPr>
          <a:xfrm>
            <a:off x="502920" y="1993392"/>
            <a:ext cx="11183112" cy="1783080"/>
          </a:xfrm>
          <a:prstGeom prst="roundRect">
            <a:avLst>
              <a:gd name="adj" fmla="val 17094"/>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740664" y="2231136"/>
            <a:ext cx="2009851" cy="1307592"/>
          </a:xfrm>
          <a:prstGeom prst="roundRect">
            <a:avLst>
              <a:gd name="adj" fmla="val 12000"/>
            </a:avLst>
          </a:prstGeom>
          <a:solidFill>
            <a:srgbClr val="FEF5E0"/>
          </a:solidFill>
          <a:ln w="19050">
            <a:solidFill>
              <a:srgbClr val="8A62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40664" y="2322576"/>
            <a:ext cx="2009851" cy="256032"/>
          </a:xfrm>
          <a:prstGeom prst="rect">
            <a:avLst/>
          </a:prstGeom>
          <a:noFill/>
        </p:spPr>
        <p:txBody>
          <a:bodyPr wrap="square" lIns="0" rIns="0" tIns="0" bIns="0" anchor="t">
            <a:spAutoFit/>
          </a:bodyPr>
          <a:lstStyle/>
          <a:p>
            <a:pPr algn="ctr">
              <a:lnSpc>
                <a:spcPct val="115000"/>
              </a:lnSpc>
            </a:pPr>
            <a:r>
              <a:rPr sz="1300" b="1" i="0">
                <a:solidFill>
                  <a:srgbClr val="8A6200"/>
                </a:solidFill>
                <a:latin typeface="Arial"/>
              </a:rPr>
              <a:t>1</a:t>
            </a:r>
          </a:p>
        </p:txBody>
      </p:sp>
      <p:sp>
        <p:nvSpPr>
          <p:cNvPr id="7" name="TextBox 6"/>
          <p:cNvSpPr txBox="1"/>
          <p:nvPr/>
        </p:nvSpPr>
        <p:spPr>
          <a:xfrm>
            <a:off x="795528" y="2615184"/>
            <a:ext cx="1900123" cy="530352"/>
          </a:xfrm>
          <a:prstGeom prst="rect">
            <a:avLst/>
          </a:prstGeom>
          <a:noFill/>
        </p:spPr>
        <p:txBody>
          <a:bodyPr wrap="square" lIns="0" rIns="0" tIns="0" bIns="0" anchor="t">
            <a:spAutoFit/>
          </a:bodyPr>
          <a:lstStyle/>
          <a:p>
            <a:pPr algn="ctr">
              <a:lnSpc>
                <a:spcPct val="105000"/>
              </a:lnSpc>
              <a:spcAft>
                <a:spcPts val="0"/>
              </a:spcAft>
            </a:pPr>
            <a:r>
              <a:rPr sz="1230" b="1" i="0">
                <a:solidFill>
                  <a:srgbClr val="8A6200"/>
                </a:solidFill>
                <a:latin typeface="Arial"/>
              </a:rPr>
              <a:t>память</a:t>
            </a:r>
          </a:p>
        </p:txBody>
      </p:sp>
      <p:sp>
        <p:nvSpPr>
          <p:cNvPr id="8" name="TextBox 7"/>
          <p:cNvSpPr txBox="1"/>
          <p:nvPr/>
        </p:nvSpPr>
        <p:spPr>
          <a:xfrm>
            <a:off x="804672" y="3163824"/>
            <a:ext cx="1881835" cy="301751"/>
          </a:xfrm>
          <a:prstGeom prst="rect">
            <a:avLst/>
          </a:prstGeom>
          <a:noFill/>
        </p:spPr>
        <p:txBody>
          <a:bodyPr wrap="square" lIns="0" rIns="0" tIns="0" bIns="0" anchor="t">
            <a:spAutoFit/>
          </a:bodyPr>
          <a:lstStyle/>
          <a:p>
            <a:pPr algn="ctr">
              <a:lnSpc>
                <a:spcPct val="108000"/>
              </a:lnSpc>
            </a:pPr>
            <a:r>
              <a:rPr sz="919" b="0" i="1">
                <a:solidFill>
                  <a:srgbClr val="6B7685"/>
                </a:solidFill>
                <a:latin typeface="Arial"/>
              </a:rPr>
              <a:t>что агент помнит между сессиями</a:t>
            </a:r>
          </a:p>
        </p:txBody>
      </p:sp>
      <p:sp>
        <p:nvSpPr>
          <p:cNvPr id="9" name="Rounded Rectangle 8"/>
          <p:cNvSpPr/>
          <p:nvPr/>
        </p:nvSpPr>
        <p:spPr>
          <a:xfrm>
            <a:off x="2915107" y="2231136"/>
            <a:ext cx="2009851" cy="1307592"/>
          </a:xfrm>
          <a:prstGeom prst="roundRect">
            <a:avLst>
              <a:gd name="adj" fmla="val 12000"/>
            </a:avLst>
          </a:prstGeom>
          <a:solidFill>
            <a:srgbClr val="FEF5E0"/>
          </a:solidFill>
          <a:ln w="19050">
            <a:solidFill>
              <a:srgbClr val="8A62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915107" y="2322576"/>
            <a:ext cx="2009851" cy="256032"/>
          </a:xfrm>
          <a:prstGeom prst="rect">
            <a:avLst/>
          </a:prstGeom>
          <a:noFill/>
        </p:spPr>
        <p:txBody>
          <a:bodyPr wrap="square" lIns="0" rIns="0" tIns="0" bIns="0" anchor="t">
            <a:spAutoFit/>
          </a:bodyPr>
          <a:lstStyle/>
          <a:p>
            <a:pPr algn="ctr">
              <a:lnSpc>
                <a:spcPct val="115000"/>
              </a:lnSpc>
            </a:pPr>
            <a:r>
              <a:rPr sz="1300" b="1" i="0">
                <a:solidFill>
                  <a:srgbClr val="8A6200"/>
                </a:solidFill>
                <a:latin typeface="Arial"/>
              </a:rPr>
              <a:t>2</a:t>
            </a:r>
          </a:p>
        </p:txBody>
      </p:sp>
      <p:sp>
        <p:nvSpPr>
          <p:cNvPr id="11" name="TextBox 10"/>
          <p:cNvSpPr txBox="1"/>
          <p:nvPr/>
        </p:nvSpPr>
        <p:spPr>
          <a:xfrm>
            <a:off x="2969971" y="2615184"/>
            <a:ext cx="1900123" cy="530352"/>
          </a:xfrm>
          <a:prstGeom prst="rect">
            <a:avLst/>
          </a:prstGeom>
          <a:noFill/>
        </p:spPr>
        <p:txBody>
          <a:bodyPr wrap="square" lIns="0" rIns="0" tIns="0" bIns="0" anchor="t">
            <a:spAutoFit/>
          </a:bodyPr>
          <a:lstStyle/>
          <a:p>
            <a:pPr algn="ctr">
              <a:lnSpc>
                <a:spcPct val="105000"/>
              </a:lnSpc>
              <a:spcAft>
                <a:spcPts val="0"/>
              </a:spcAft>
            </a:pPr>
            <a:r>
              <a:rPr sz="1230" b="1" i="0">
                <a:solidFill>
                  <a:srgbClr val="8A6200"/>
                </a:solidFill>
                <a:latin typeface="Arial"/>
              </a:rPr>
              <a:t>инструкции-</a:t>
            </a:r>
          </a:p>
          <a:p>
            <a:pPr algn="ctr">
              <a:lnSpc>
                <a:spcPct val="105000"/>
              </a:lnSpc>
              <a:spcAft>
                <a:spcPts val="0"/>
              </a:spcAft>
            </a:pPr>
            <a:r>
              <a:rPr sz="1230" b="1" i="0">
                <a:solidFill>
                  <a:srgbClr val="8A6200"/>
                </a:solidFill>
                <a:latin typeface="Arial"/>
              </a:rPr>
              <a:t>правила</a:t>
            </a:r>
          </a:p>
        </p:txBody>
      </p:sp>
      <p:sp>
        <p:nvSpPr>
          <p:cNvPr id="12" name="TextBox 11"/>
          <p:cNvSpPr txBox="1"/>
          <p:nvPr/>
        </p:nvSpPr>
        <p:spPr>
          <a:xfrm>
            <a:off x="2979115" y="3163824"/>
            <a:ext cx="1881835" cy="301751"/>
          </a:xfrm>
          <a:prstGeom prst="rect">
            <a:avLst/>
          </a:prstGeom>
          <a:noFill/>
        </p:spPr>
        <p:txBody>
          <a:bodyPr wrap="square" lIns="0" rIns="0" tIns="0" bIns="0" anchor="t">
            <a:spAutoFit/>
          </a:bodyPr>
          <a:lstStyle/>
          <a:p>
            <a:pPr algn="ctr">
              <a:lnSpc>
                <a:spcPct val="108000"/>
              </a:lnSpc>
            </a:pPr>
            <a:r>
              <a:rPr sz="919" b="0" i="1">
                <a:solidFill>
                  <a:srgbClr val="6B7685"/>
                </a:solidFill>
                <a:latin typeface="Arial"/>
              </a:rPr>
              <a:t>файл-конвенция проекта + журнал задач</a:t>
            </a:r>
          </a:p>
        </p:txBody>
      </p:sp>
      <p:sp>
        <p:nvSpPr>
          <p:cNvPr id="13" name="Rounded Rectangle 12"/>
          <p:cNvSpPr/>
          <p:nvPr/>
        </p:nvSpPr>
        <p:spPr>
          <a:xfrm>
            <a:off x="5089550" y="2231136"/>
            <a:ext cx="2009851" cy="1307592"/>
          </a:xfrm>
          <a:prstGeom prst="roundRect">
            <a:avLst>
              <a:gd name="adj" fmla="val 12000"/>
            </a:avLst>
          </a:prstGeom>
          <a:solidFill>
            <a:srgbClr val="E4E9EF"/>
          </a:solidFill>
          <a:ln w="13970">
            <a:solidFill>
              <a:srgbClr val="6B768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089550" y="2322576"/>
            <a:ext cx="2009851" cy="256032"/>
          </a:xfrm>
          <a:prstGeom prst="rect">
            <a:avLst/>
          </a:prstGeom>
          <a:noFill/>
        </p:spPr>
        <p:txBody>
          <a:bodyPr wrap="square" lIns="0" rIns="0" tIns="0" bIns="0" anchor="t">
            <a:spAutoFit/>
          </a:bodyPr>
          <a:lstStyle/>
          <a:p>
            <a:pPr algn="ctr">
              <a:lnSpc>
                <a:spcPct val="115000"/>
              </a:lnSpc>
            </a:pPr>
            <a:r>
              <a:rPr sz="1300" b="1" i="0">
                <a:solidFill>
                  <a:srgbClr val="6B7685"/>
                </a:solidFill>
                <a:latin typeface="Arial"/>
              </a:rPr>
              <a:t>3</a:t>
            </a:r>
          </a:p>
        </p:txBody>
      </p:sp>
      <p:sp>
        <p:nvSpPr>
          <p:cNvPr id="15" name="TextBox 14"/>
          <p:cNvSpPr txBox="1"/>
          <p:nvPr/>
        </p:nvSpPr>
        <p:spPr>
          <a:xfrm>
            <a:off x="5144414" y="2615184"/>
            <a:ext cx="1900123" cy="530352"/>
          </a:xfrm>
          <a:prstGeom prst="rect">
            <a:avLst/>
          </a:prstGeom>
          <a:noFill/>
        </p:spPr>
        <p:txBody>
          <a:bodyPr wrap="square" lIns="0" rIns="0" tIns="0" bIns="0" anchor="t">
            <a:spAutoFit/>
          </a:bodyPr>
          <a:lstStyle/>
          <a:p>
            <a:pPr algn="ctr">
              <a:lnSpc>
                <a:spcPct val="105000"/>
              </a:lnSpc>
              <a:spcAft>
                <a:spcPts val="0"/>
              </a:spcAft>
            </a:pPr>
            <a:r>
              <a:rPr sz="1230" b="1" i="0">
                <a:solidFill>
                  <a:srgbClr val="21295C"/>
                </a:solidFill>
                <a:latin typeface="Arial"/>
              </a:rPr>
              <a:t>скиллы</a:t>
            </a:r>
          </a:p>
        </p:txBody>
      </p:sp>
      <p:sp>
        <p:nvSpPr>
          <p:cNvPr id="16" name="TextBox 15"/>
          <p:cNvSpPr txBox="1"/>
          <p:nvPr/>
        </p:nvSpPr>
        <p:spPr>
          <a:xfrm>
            <a:off x="5153558" y="3163824"/>
            <a:ext cx="1881835" cy="301751"/>
          </a:xfrm>
          <a:prstGeom prst="rect">
            <a:avLst/>
          </a:prstGeom>
          <a:noFill/>
        </p:spPr>
        <p:txBody>
          <a:bodyPr wrap="square" lIns="0" rIns="0" tIns="0" bIns="0" anchor="t">
            <a:spAutoFit/>
          </a:bodyPr>
          <a:lstStyle/>
          <a:p>
            <a:pPr algn="ctr">
              <a:lnSpc>
                <a:spcPct val="108000"/>
              </a:lnSpc>
            </a:pPr>
            <a:r>
              <a:rPr sz="919" b="0" i="1">
                <a:solidFill>
                  <a:srgbClr val="6B7685"/>
                </a:solidFill>
                <a:latin typeface="Arial"/>
              </a:rPr>
              <a:t>переиспользуемые процедуры под повторяющиеся задачи</a:t>
            </a:r>
          </a:p>
        </p:txBody>
      </p:sp>
      <p:sp>
        <p:nvSpPr>
          <p:cNvPr id="17" name="Rounded Rectangle 16"/>
          <p:cNvSpPr/>
          <p:nvPr/>
        </p:nvSpPr>
        <p:spPr>
          <a:xfrm>
            <a:off x="7263993" y="2231136"/>
            <a:ext cx="2009851" cy="1307592"/>
          </a:xfrm>
          <a:prstGeom prst="roundRect">
            <a:avLst>
              <a:gd name="adj" fmla="val 12000"/>
            </a:avLst>
          </a:prstGeom>
          <a:solidFill>
            <a:srgbClr val="E4E9EF"/>
          </a:solidFill>
          <a:ln w="13970">
            <a:solidFill>
              <a:srgbClr val="6B768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263993" y="2322576"/>
            <a:ext cx="2009851" cy="256032"/>
          </a:xfrm>
          <a:prstGeom prst="rect">
            <a:avLst/>
          </a:prstGeom>
          <a:noFill/>
        </p:spPr>
        <p:txBody>
          <a:bodyPr wrap="square" lIns="0" rIns="0" tIns="0" bIns="0" anchor="t">
            <a:spAutoFit/>
          </a:bodyPr>
          <a:lstStyle/>
          <a:p>
            <a:pPr algn="ctr">
              <a:lnSpc>
                <a:spcPct val="115000"/>
              </a:lnSpc>
            </a:pPr>
            <a:r>
              <a:rPr sz="1300" b="1" i="0">
                <a:solidFill>
                  <a:srgbClr val="6B7685"/>
                </a:solidFill>
                <a:latin typeface="Arial"/>
              </a:rPr>
              <a:t>4</a:t>
            </a:r>
          </a:p>
        </p:txBody>
      </p:sp>
      <p:sp>
        <p:nvSpPr>
          <p:cNvPr id="19" name="TextBox 18"/>
          <p:cNvSpPr txBox="1"/>
          <p:nvPr/>
        </p:nvSpPr>
        <p:spPr>
          <a:xfrm>
            <a:off x="7318857" y="2615184"/>
            <a:ext cx="1900123" cy="530352"/>
          </a:xfrm>
          <a:prstGeom prst="rect">
            <a:avLst/>
          </a:prstGeom>
          <a:noFill/>
        </p:spPr>
        <p:txBody>
          <a:bodyPr wrap="square" lIns="0" rIns="0" tIns="0" bIns="0" anchor="t">
            <a:spAutoFit/>
          </a:bodyPr>
          <a:lstStyle/>
          <a:p>
            <a:pPr algn="ctr">
              <a:lnSpc>
                <a:spcPct val="105000"/>
              </a:lnSpc>
              <a:spcAft>
                <a:spcPts val="0"/>
              </a:spcAft>
            </a:pPr>
            <a:r>
              <a:rPr sz="1230" b="1" i="0">
                <a:solidFill>
                  <a:srgbClr val="21295C"/>
                </a:solidFill>
                <a:latin typeface="Arial"/>
              </a:rPr>
              <a:t>субагенты</a:t>
            </a:r>
          </a:p>
        </p:txBody>
      </p:sp>
      <p:sp>
        <p:nvSpPr>
          <p:cNvPr id="20" name="TextBox 19"/>
          <p:cNvSpPr txBox="1"/>
          <p:nvPr/>
        </p:nvSpPr>
        <p:spPr>
          <a:xfrm>
            <a:off x="7328001" y="3163824"/>
            <a:ext cx="1881835" cy="301751"/>
          </a:xfrm>
          <a:prstGeom prst="rect">
            <a:avLst/>
          </a:prstGeom>
          <a:noFill/>
        </p:spPr>
        <p:txBody>
          <a:bodyPr wrap="square" lIns="0" rIns="0" tIns="0" bIns="0" anchor="t">
            <a:spAutoFit/>
          </a:bodyPr>
          <a:lstStyle/>
          <a:p>
            <a:pPr algn="ctr">
              <a:lnSpc>
                <a:spcPct val="108000"/>
              </a:lnSpc>
            </a:pPr>
            <a:r>
              <a:rPr sz="919" b="0" i="1">
                <a:solidFill>
                  <a:srgbClr val="6B7685"/>
                </a:solidFill>
                <a:latin typeface="Arial"/>
              </a:rPr>
              <a:t>делегирование с отдельным контекстным окном</a:t>
            </a:r>
          </a:p>
        </p:txBody>
      </p:sp>
      <p:sp>
        <p:nvSpPr>
          <p:cNvPr id="21" name="Rounded Rectangle 20"/>
          <p:cNvSpPr/>
          <p:nvPr/>
        </p:nvSpPr>
        <p:spPr>
          <a:xfrm>
            <a:off x="9438436" y="2231136"/>
            <a:ext cx="2009851" cy="1307592"/>
          </a:xfrm>
          <a:prstGeom prst="roundRect">
            <a:avLst>
              <a:gd name="adj" fmla="val 12000"/>
            </a:avLst>
          </a:prstGeom>
          <a:solidFill>
            <a:srgbClr val="E4E9EF"/>
          </a:solidFill>
          <a:ln w="13970">
            <a:solidFill>
              <a:srgbClr val="6B768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9438436" y="2322576"/>
            <a:ext cx="2009851" cy="256032"/>
          </a:xfrm>
          <a:prstGeom prst="rect">
            <a:avLst/>
          </a:prstGeom>
          <a:noFill/>
        </p:spPr>
        <p:txBody>
          <a:bodyPr wrap="square" lIns="0" rIns="0" tIns="0" bIns="0" anchor="t">
            <a:spAutoFit/>
          </a:bodyPr>
          <a:lstStyle/>
          <a:p>
            <a:pPr algn="ctr">
              <a:lnSpc>
                <a:spcPct val="115000"/>
              </a:lnSpc>
            </a:pPr>
            <a:r>
              <a:rPr sz="1300" b="1" i="0">
                <a:solidFill>
                  <a:srgbClr val="6B7685"/>
                </a:solidFill>
                <a:latin typeface="Arial"/>
              </a:rPr>
              <a:t>5</a:t>
            </a:r>
          </a:p>
        </p:txBody>
      </p:sp>
      <p:sp>
        <p:nvSpPr>
          <p:cNvPr id="23" name="TextBox 22"/>
          <p:cNvSpPr txBox="1"/>
          <p:nvPr/>
        </p:nvSpPr>
        <p:spPr>
          <a:xfrm>
            <a:off x="9493300" y="2615184"/>
            <a:ext cx="1900123" cy="530352"/>
          </a:xfrm>
          <a:prstGeom prst="rect">
            <a:avLst/>
          </a:prstGeom>
          <a:noFill/>
        </p:spPr>
        <p:txBody>
          <a:bodyPr wrap="square" lIns="0" rIns="0" tIns="0" bIns="0" anchor="t">
            <a:spAutoFit/>
          </a:bodyPr>
          <a:lstStyle/>
          <a:p>
            <a:pPr algn="ctr">
              <a:lnSpc>
                <a:spcPct val="105000"/>
              </a:lnSpc>
              <a:spcAft>
                <a:spcPts val="0"/>
              </a:spcAft>
            </a:pPr>
            <a:r>
              <a:rPr sz="1230" b="1" i="0">
                <a:solidFill>
                  <a:srgbClr val="21295C"/>
                </a:solidFill>
                <a:latin typeface="Arial"/>
              </a:rPr>
              <a:t>доступ</a:t>
            </a:r>
          </a:p>
          <a:p>
            <a:pPr algn="ctr">
              <a:lnSpc>
                <a:spcPct val="105000"/>
              </a:lnSpc>
              <a:spcAft>
                <a:spcPts val="0"/>
              </a:spcAft>
            </a:pPr>
            <a:r>
              <a:rPr sz="1230" b="1" i="0">
                <a:solidFill>
                  <a:srgbClr val="21295C"/>
                </a:solidFill>
                <a:latin typeface="Arial"/>
              </a:rPr>
              <a:t>наружу (MCP)</a:t>
            </a:r>
          </a:p>
        </p:txBody>
      </p:sp>
      <p:sp>
        <p:nvSpPr>
          <p:cNvPr id="24" name="TextBox 23"/>
          <p:cNvSpPr txBox="1"/>
          <p:nvPr/>
        </p:nvSpPr>
        <p:spPr>
          <a:xfrm>
            <a:off x="9502444" y="3163824"/>
            <a:ext cx="1881835" cy="301751"/>
          </a:xfrm>
          <a:prstGeom prst="rect">
            <a:avLst/>
          </a:prstGeom>
          <a:noFill/>
        </p:spPr>
        <p:txBody>
          <a:bodyPr wrap="square" lIns="0" rIns="0" tIns="0" bIns="0" anchor="t">
            <a:spAutoFit/>
          </a:bodyPr>
          <a:lstStyle/>
          <a:p>
            <a:pPr algn="ctr">
              <a:lnSpc>
                <a:spcPct val="108000"/>
              </a:lnSpc>
            </a:pPr>
            <a:r>
              <a:rPr sz="919" b="0" i="1">
                <a:solidFill>
                  <a:srgbClr val="6B7685"/>
                </a:solidFill>
                <a:latin typeface="Arial"/>
              </a:rPr>
              <a:t>доступ к внешним системам</a:t>
            </a:r>
          </a:p>
        </p:txBody>
      </p:sp>
      <p:sp>
        <p:nvSpPr>
          <p:cNvPr id="25" name="Rounded Rectangle 24"/>
          <p:cNvSpPr/>
          <p:nvPr/>
        </p:nvSpPr>
        <p:spPr>
          <a:xfrm>
            <a:off x="502920" y="4005072"/>
            <a:ext cx="11183112" cy="2395728"/>
          </a:xfrm>
          <a:prstGeom prst="roundRect">
            <a:avLst>
              <a:gd name="adj" fmla="val 10000"/>
            </a:avLst>
          </a:prstGeom>
          <a:solidFill>
            <a:srgbClr val="FEF5E0"/>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04088" y="4078224"/>
            <a:ext cx="10780776" cy="2249424"/>
          </a:xfrm>
          <a:prstGeom prst="rect">
            <a:avLst/>
          </a:prstGeom>
          <a:noFill/>
        </p:spPr>
        <p:txBody>
          <a:bodyPr wrap="square" lIns="0" rIns="0" tIns="0" bIns="0" anchor="ctr">
            <a:spAutoFit/>
          </a:bodyPr>
          <a:lstStyle/>
          <a:p>
            <a:pPr algn="ctr">
              <a:lnSpc>
                <a:spcPct val="122000"/>
              </a:lnSpc>
            </a:pPr>
            <a:r>
              <a:rPr sz="1600" b="1" i="0">
                <a:solidFill>
                  <a:srgbClr val="21295C"/>
                </a:solidFill>
                <a:latin typeface="Arial"/>
              </a:rPr>
              <a:t>Семинар 5: скиллы · субагенты · доступ наружу (MCP) + хук · процесс</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29184"/>
            <a:ext cx="10515600" cy="292608"/>
          </a:xfrm>
          <a:prstGeom prst="rect">
            <a:avLst/>
          </a:prstGeom>
          <a:noFill/>
        </p:spPr>
        <p:txBody>
          <a:bodyPr wrap="square" lIns="0" rIns="0" tIns="0" bIns="0" anchor="t">
            <a:spAutoFit/>
          </a:bodyPr>
          <a:lstStyle/>
          <a:p>
            <a:pPr algn="l">
              <a:lnSpc>
                <a:spcPct val="115000"/>
              </a:lnSpc>
            </a:pPr>
            <a:r>
              <a:rPr sz="1150" b="1" i="0">
                <a:solidFill>
                  <a:srgbClr val="028090"/>
                </a:solidFill>
                <a:latin typeface="Arial"/>
              </a:rPr>
              <a:t>РАЗДЕЛ 3 · ПЕРЕНОС</a:t>
            </a:r>
          </a:p>
        </p:txBody>
      </p:sp>
      <p:sp>
        <p:nvSpPr>
          <p:cNvPr id="3" name="TextBox 2"/>
          <p:cNvSpPr txBox="1"/>
          <p:nvPr/>
        </p:nvSpPr>
        <p:spPr>
          <a:xfrm>
            <a:off x="502920" y="640080"/>
            <a:ext cx="11183112" cy="1371600"/>
          </a:xfrm>
          <a:prstGeom prst="rect">
            <a:avLst/>
          </a:prstGeom>
          <a:noFill/>
        </p:spPr>
        <p:txBody>
          <a:bodyPr wrap="square" lIns="0" rIns="0" tIns="0" bIns="0" anchor="t">
            <a:spAutoFit/>
          </a:bodyPr>
          <a:lstStyle/>
          <a:p>
            <a:pPr algn="l">
              <a:lnSpc>
                <a:spcPct val="114000"/>
              </a:lnSpc>
            </a:pPr>
            <a:r>
              <a:rPr sz="1300" b="1" i="0">
                <a:solidFill>
                  <a:srgbClr val="21295C"/>
                </a:solidFill>
                <a:latin typeface="Arial"/>
              </a:rPr>
              <a:t>Перенесите шесть сегодняшних решений на свой репозиторий — и проверьте, какое из них реально день-0-база, а какое вы отложили без причины или завели раньше времени без сигнала</a:t>
            </a:r>
          </a:p>
        </p:txBody>
      </p:sp>
      <p:sp>
        <p:nvSpPr>
          <p:cNvPr id="4" name="TextBox 3"/>
          <p:cNvSpPr txBox="1"/>
          <p:nvPr/>
        </p:nvSpPr>
        <p:spPr>
          <a:xfrm>
            <a:off x="502920" y="2176272"/>
            <a:ext cx="11183112" cy="365760"/>
          </a:xfrm>
          <a:prstGeom prst="rect">
            <a:avLst/>
          </a:prstGeom>
          <a:noFill/>
        </p:spPr>
        <p:txBody>
          <a:bodyPr wrap="square" lIns="0" rIns="0" tIns="0" bIns="0" anchor="t">
            <a:spAutoFit/>
          </a:bodyPr>
          <a:lstStyle/>
          <a:p>
            <a:pPr algn="ctr">
              <a:lnSpc>
                <a:spcPct val="115000"/>
              </a:lnSpc>
            </a:pPr>
            <a:r>
              <a:rPr sz="1400" b="0" i="0">
                <a:solidFill>
                  <a:srgbClr val="065A82"/>
                </a:solidFill>
                <a:latin typeface="Arial"/>
              </a:rPr>
              <a:t>1.1  →  1.2  →  1.3  →  2.1  →  2.2  →  2.3</a:t>
            </a:r>
          </a:p>
        </p:txBody>
      </p:sp>
      <p:sp>
        <p:nvSpPr>
          <p:cNvPr id="5" name="Rounded Rectangle 4"/>
          <p:cNvSpPr/>
          <p:nvPr/>
        </p:nvSpPr>
        <p:spPr>
          <a:xfrm>
            <a:off x="502920" y="2587752"/>
            <a:ext cx="11183112" cy="3310128"/>
          </a:xfrm>
          <a:prstGeom prst="roundRect">
            <a:avLst>
              <a:gd name="adj" fmla="val 10000"/>
            </a:avLst>
          </a:prstGeom>
          <a:solidFill>
            <a:srgbClr val="FEF5E0"/>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04088" y="2660904"/>
            <a:ext cx="10780776" cy="3163824"/>
          </a:xfrm>
          <a:prstGeom prst="rect">
            <a:avLst/>
          </a:prstGeom>
          <a:noFill/>
        </p:spPr>
        <p:txBody>
          <a:bodyPr wrap="square" lIns="0" rIns="0" tIns="0" bIns="0" anchor="ctr">
            <a:spAutoFit/>
          </a:bodyPr>
          <a:lstStyle/>
          <a:p>
            <a:pPr algn="ctr">
              <a:lnSpc>
                <a:spcPct val="122000"/>
              </a:lnSpc>
            </a:pPr>
            <a:r>
              <a:rPr sz="1650" b="1" i="0">
                <a:solidFill>
                  <a:srgbClr val="21295C"/>
                </a:solidFill>
                <a:latin typeface="Arial"/>
              </a:rPr>
              <a:t>«По каждой развилке спросите: это действительно день-0-база — то, что стоило завести сразу, независимо от конкретики проекта? Или вы завели это раньше времени, без реального сигнала, просто по привычке? А может, наоборот — что-то из универсальной гигиены вы всё ещё откладываете без всякой причины?»</a:t>
            </a:r>
          </a:p>
        </p:txBody>
      </p:sp>
      <p:sp>
        <p:nvSpPr>
          <p:cNvPr id="7" name="TextBox 6"/>
          <p:cNvSpPr txBox="1"/>
          <p:nvPr/>
        </p:nvSpPr>
        <p:spPr>
          <a:xfrm>
            <a:off x="502920" y="5943600"/>
            <a:ext cx="11183112" cy="365760"/>
          </a:xfrm>
          <a:prstGeom prst="rect">
            <a:avLst/>
          </a:prstGeom>
          <a:noFill/>
        </p:spPr>
        <p:txBody>
          <a:bodyPr wrap="square" lIns="0" rIns="0" tIns="0" bIns="0" anchor="t">
            <a:spAutoFit/>
          </a:bodyPr>
          <a:lstStyle/>
          <a:p>
            <a:pPr algn="ctr">
              <a:lnSpc>
                <a:spcPct val="115000"/>
              </a:lnSpc>
            </a:pPr>
            <a:r>
              <a:rPr sz="1300" b="0" i="1">
                <a:solidFill>
                  <a:srgbClr val="6B7685"/>
                </a:solidFill>
                <a:latin typeface="Arial"/>
              </a:rPr>
              <a:t>«Не вслух. Не на бумаге. Себе.»</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