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не с объявления содержания, а с содержания. Первая реплика — одна мысль и один вопрос, без оглавления занятия (R3-1a, текст сокращён вдвое, ≈95 слов).</a:t>
            </a:r>
          </a:p>
          <a:p/>
          <a:p>
            <a:r>
              <a:t>«Вы открывали чужой репозиторий: файл инструкций на триста строк, десяток скиллов, пять подключённых серверов — и копировали это себе, потому что "так делают в хороших проектах". Проблема не в том, что вы не умеете пользоваться агентом. Проблема в том, что скопированная конфигурация — это чужие решения без чужих триггеров: вы не знаете, какую боль каждый блок закрыл, а значит не можете сказать, закрывает ли он вашу боль сейчас — или просто ест контекст.</a:t>
            </a:r>
          </a:p>
          <a:p/>
          <a:p>
            <a:r>
              <a:t>Вопрос, на который мы сегодня отвечаем: у вас репозиторий и агент — какой блок добавить первым, и как понять, что следующий добавлять ещё рано?»</a:t>
            </a:r>
          </a:p>
          <a:p/>
          <a:p>
            <a:r>
              <a:t>Дальше — сразу к требованиям, без паузы. Карта занятия появится не сейчас, а тогда, когда зал соберёт её сам, в шаге с картой экипировки.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первый совместный ход занятия, и он не разминка. Весь семинар про то, чего агент не может вывести из кода. Пока зал не назвал вслух, что вообще требуется от сайта, разговор «чего агент не знает» висит в воздухе: нечему быть неизвестным, потому что никто не сказал, что известно.</a:t>
            </a:r>
          </a:p>
          <a:p/>
          <a:p>
            <a:r>
              <a:t>Строка-мостик над каркасом (R3-2) — часть слайда, не только устная реплика: до неё пустой каркас «видно в коде» / «нигде не будет видно» непонятен студенту, который читает только слайд, а не слушает пояснение. Фасилитатор произносит эту же строку вслух синхронно с появлением слайда, а затем сразу переходит к сбору требований.</a:t>
            </a:r>
          </a:p>
          <a:p/>
          <a:p>
            <a:r>
              <a:t>Вопрос задаётся дословно с экрана. Записей студенты не ведут — это устный сбор.</a:t>
            </a:r>
          </a:p>
          <a:p/>
          <a:p>
            <a:r>
              <a:t>Вызвать трёх человек подряд, не разбирая каждый ответ по отдельности: здесь собирается список, а не обсуждается каждая строка. Плашки проявляются на следующем кадре по мере того, как их называют. Если зал назвал не всё — недостающие фасилитатор проявляет сам, проговаривая: «это никто не назвал, и это показательно».</a:t>
            </a:r>
          </a:p>
          <a:p/>
          <a:p>
            <a:r>
              <a:t>Одна реплика в сторону, когда зал доберётся до внешнего сервиса приёма форм (он всплывает почти всегда, но отдельной плашкой не становится — это часть первой группы): «Обратите внимание: "своего бэкенда нет" — это решение, а не недоделка. По коду эти два состояния неотличимы. Мы вернёмся к этому во втором разделе.»</a:t>
            </a:r>
          </a:p>
          <a:p/>
          <a:p>
            <a:r>
              <a:t>Если зал уходит в архитектурный спор о том, нужен ли бэкенд, — оборвать на первой законченной мысли: «зафиксировал, это вопрос последнего раздела», и идти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Плашки проявляются по одной, в том порядке, в каком их называет зал. Комментарий к каждой — одна фраза, не больше.</a:t>
            </a:r>
          </a:p>
          <a:p/>
          <a:p>
            <a:r>
              <a:t>Поля формы называют первыми, почти всегда: «Это будет видно прямо в разметке.» Сборку — следом: «Тоже будет видно — командой в `package.json`.» Тест: «И это видно — файлом теста.»</a:t>
            </a:r>
          </a:p>
          <a:p/>
          <a:p>
            <a:r>
              <a:t>А вот правую группу зал почти никогда не называет целиком, и именно на этом держится дальнейшее занятие. Критерий приёмки: «Никто не назвал критерий приёмки. А он не совпадает с "тест зелёный": форма должна реально доставить заявку на проде.» Границу действий: «Границу действий почему-то называют последней или не называют вовсе. Запомните — она вернётся дважды.» И способ ручной проверки: «Не "как проверить, что собралось" — а как убедиться, что дошло. В коде этого не будет: тест проверяет другое.»</a:t>
            </a:r>
          </a:p>
          <a:p/>
          <a:p>
            <a:r>
              <a:t>Финальная реплика шага — она же мостик:</a:t>
            </a:r>
          </a:p>
          <a:p/>
          <a:p>
            <a:r>
              <a:t>«Смотрите: шесть требований честно делятся пополам. Три — видно в коде любому. Три — живут пока только у нас в голове. Сегодняшнее занятие — ровно про то, что происходит с этими тремя дальше.»</a:t>
            </a:r>
          </a:p>
          <a:p/>
          <a:p>
            <a:r>
              <a:t>Деление на 3 + 3 — несущая арифметика занятия: она повторится в разборе первой задачи агенту, в сборке файла инструкций и в его итоговом виде. Перегруппировывать плашки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Сквозной кейс фиксируется здесь и не меняется до конца занятия. На слайде читает залу сам, коротко: пустая директория, дословная задача, что реально создал агент.</a:t>
            </a:r>
          </a:p>
          <a:p/>
          <a:p>
            <a:r>
              <a:t>Речь фасилитатора здесь ограничена (R3-1b, ≈115 слов — весь монолог до следующего действия зала на слайде с вопросом):</a:t>
            </a:r>
          </a:p>
          <a:p/>
          <a:p>
            <a:r>
              <a:t>«Эта задача реально ставилась агенту в реальном репозитории — и результат тоже реальный. Агент собрал `index.html`, `src/main.js`, `package.json`, тест — сам прописал скрипты сборки и теста, сам написал четыре теста вместо одного заказанного. И не задал ни одного уточняющего вопроса. Его собственные слова: "все параметры задачи были однозначно выводимы из текста, поэтому работа была начата сразу, без уточнений".</a:t>
            </a:r>
          </a:p>
          <a:p/>
          <a:p>
            <a:r>
              <a:t>Прочитайте это иначе: всё, чего он не знал, он решил за вас — молча. Из шести требований, которые вы назвали десять минут назад, в его контексте было три — те, что видно в коде. Про остальные три — критерий "готово", граница действий, проверка доставки — он не знал ничего. И это его не остановило.»</a:t>
            </a:r>
          </a:p>
          <a:p/>
          <a:p>
            <a:r>
              <a:t>Мысль, которую надо оставить в зале до конца занятия — одной фразой сразу после монолога: **настоящая боль не в том, что агент переспрашивает, а в том, что он не переспрашивает.**</a:t>
            </a:r>
          </a:p>
          <a:p/>
          <a:p>
            <a:r>
              <a:t>Финальная фраза старой версии речи («все четыре прогнал, зелёные») в обязательный текст не входит — если фасилитатор хочет, может произнести её факультативно, сверх бюджета в 150 слов.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и это осознанно: варианты и есть семь ступеней, которые зал будет слышать следующие восемьдесят минут. Пусть увидит весь набор сразу и запомнит его как меню выбора, а не восстанавливает по одному.</a:t>
            </a:r>
          </a:p>
          <a:p/>
          <a:p>
            <a:r>
              <a:t>Вызвать 2 человек, не больше — бюджет здесь короткий, развёрнутый разбор идёт на следующем слайде, не на этом. Задача фасилитатора на этом слайде — не оценить ответ, а зафиксировать его вслух: «услышал: файл инструкций, потому что так делают. Услышал: хук, чтобы защититься заранее». На этом слайде нет ни таблицы разбора, ни подсветки правильного варианта — их место на следующем.</a:t>
            </a:r>
          </a:p>
          <a:p/>
          <a:p>
            <a:r>
              <a:t>Запасная формулировка при молчании зала: «Проще: стали бы вы прямо сейчас, до первой реальной боли, создавать хоть один из этих семи блоков? Да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быстро, по четырём типовым позициям, сразу после двух голосов зала.</a:t>
            </a:r>
          </a:p>
          <a:p/>
          <a:p>
            <a:r>
              <a:t>«Файл инструкций, потому что так делают в хороших проектах» — через пятнадцать минут этот ответ станет верным, но не потому, что «принято», а потому, что сработает конкретный сигнал. «Хук на будущее» — вы ещё не знаете, какие команды в этом проекте рискованны; не можете назвать команду и инцидент — рано. «MCP, пригодится» — самый дорогой из семи блоков, и по контексту, и по поверхности атаки; пока не доказано, что обычной команды не хватает, подключать нечего.</a:t>
            </a:r>
          </a:p>
          <a:p/>
          <a:p>
            <a:r>
              <a:t>И реплика на целевой ответ, которую нельзя свернуть в «верно, идём дальше»:</a:t>
            </a:r>
          </a:p>
          <a:p/>
          <a:p>
            <a:r>
              <a:t>«"Ничего" — это не уклонение от ответа, это сам ответ, и у него есть имя. Лекция 3 называет это тонким агентом: стартовая точка нового агента — один файл-инструкция и плоская память, без субагентов, без набора скиллов, с минимальным доступом наружу, пока нет конкретного проверяемого триггера. И формулировка там жёстче, чем "начните с малого": бремя доказательства лежит на том, кто усложняет, а не на том, кто остаётся внизу. Сегодня мы семь раз проверим, удаётся ли это бремя вынести.»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начинается пустым: пять пустых слотов в ряд. Слоты не читаются с экрана — зал достаёт их из памяти, они уже разбирались на Лекции 3.</a:t>
            </a:r>
          </a:p>
          <a:p/>
          <a:p>
            <a:r>
              <a:t>Реплика-заход: «На лекции про агентов мы разбирали, из чего сделан агент-помощник поверх базового цикла "планируй → действуй → проверяй → повторяй". Там это называлось одним словом — харнесс, экипировка агента. Это единственный раз за занятие, когда я произношу английские названия слотов: Skills, Subagents, Access/MCP — чтобы вы узнали их, когда откроете конспект лекции. Дальше говорим по-русски. Слотов было ровно пять. Назовите те, что помните.»</a:t>
            </a:r>
          </a:p>
          <a:p/>
          <a:p>
            <a:r>
              <a:t>Проявлять по одному, с одной уточняющей репликой на каждый: память — «не контекст текущего разговора, именно то, что переживает конец сессии»; инструкции-правила — «то, что вы пишете сами и что грузится в начало каждой сессии»; скиллы — «методичка, которую снимают с полки, а не регламент на столе»; субагенты — «отдельный сотрудник с чистым столом»; доступ наружу — «каждое подключение — новая граница доверия». Если какой-то слот зал не вспомнил — назвать самому, без паузы и без укора.</a:t>
            </a:r>
          </a:p>
          <a:p/>
          <a:p>
            <a:r>
              <a:t>Дальше — явный честный scope-statement, произносится дословно: «Из этих пяти сегодня мы подробно разберём два — инструкции-правила и память, — и каждый на трёх реальных развилках, а не абстрактно. Три оставшихся — скиллы, субагенты и доступ наружу — и два практических слоя, которые их механически усиливают, хук и процесс, — идут отдельным занятием, Семинаром 5. Это не значит, что они менее важны. Это значит, что за одно занятие честно разобрать глубоко можно два блока, а не семь.»</a:t>
            </a:r>
          </a:p>
          <a:p/>
          <a:p>
            <a:r>
              <a:t>Правило лестницы — одной строкой под картой, дословно: «Оставайтесь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a:p/>
          <a:p>
            <a:r>
              <a:t>Если из зала прозвучит вопрос «почему именно эти два, а не другие?» — ответ: «Файл инструкций и память идут первыми, потому что их триггеры проявляются раньше остальных на любом живом проекте: расхождение "готово" видно уже на первой неделе, а вопрос "что агент помнит между сессиями" встаёт сразу вслед за этим. Скиллы, субагенты и доступ наружу отвечают на вопросы, которые появляются позже, когда проект уже вырос, — и это тема следующего занятия.» Если вопроса не прозвучало — сразу мостик.</a:t>
            </a:r>
          </a:p>
          <a:p/>
          <a:p>
            <a:r>
              <a:t>Мостик к разделу 1: «Итак: шесть требований, из которых три живут только у нас в голове; агент, который ничего не спросил и часть решений принял сам; и пять слотов харнесса, из которых мы сегодня подробно разберём два. Раздел первый — про то, что происходит, когда одно из этих трёх незаписанных требований впервые сталкивается с агентом, который о нём не знает.»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без пересказа содержания кейсов заранее: «Раньше этот раздел держался на одном примере. Сегодня — три отдельные развилки про один и тот же файл, `CLAUDE.md` он же `AGENTS.md`, в том порядке, в каком реально накапливается конфигурация демо-репозитория: сначала решаем, чего в файл не писать заранее; потом пишем первое реальное содержимое на реальной боли; потом решаем, стоит ли это содержимое дробить по подпапкам. Каждый кейс устроен одинаково: проблема, исследование, открытый вопрос,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«Репозиторий `signup-landing` — продукт-код есть, конфигурации агента ноль строк. Первая развилка — самая ранняя из трёх: открыть пустой `CLAUDE.md` и решить, с чего он начинается.»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«Продукт-код есть, `CLAUDE.md` — ни строки. Первый инстинкт многих из вас — открыть файл и начать с описания: что это за проект, как он устроен, где что лежит. Один разработчик так и сделал в прошлом проекте. Два месяца спустя, после рефакторинга, раздел "Overview" по-прежнему описывал структуру, которой уже не было — и агент один раз отредактировал не тот файл, поверив описанию вместо того, чтобы посмотреть в реальный код. Это тот самый "так делают в хороших проектах" из начала занятия. Сегодня проверяем его первый раз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Gloaguen et al. впервые честно сравнил не "наш файл лучше их файла", а с третьим плечом — файла нет вообще. Результат для repository overview дословный: "are not helpful". Метрика "шагов до первого релевантного файла" не падает, а стоимость растёт на двадцать-двадцать три процента. Интересно, где overview всё же помог: там, где в репозитории не было вообще никакой другой документации. То есть проблема не в overview как таковом — проблема в дублировании того, что и так доступно.</a:t>
            </a:r>
          </a:p>
          <a:p/>
          <a:p>
            <a:r>
              <a:t>У этого явления есть название, и мы вернёмся к нему сегодня ещё дважды: presence paradox. Сам факт присутствия текста в контексте стоит денег — вне зависимости от того, помог ли он решить задачу. Запомните этот термин: он всплывёт в разборе кейса 1.2, кейса 1.3 и снова — уже применительно к памяти — в разделе 2.»</a:t>
            </a:r>
          </a:p>
          <a:p/>
          <a:p>
            <a:r>
              <a:t>По остальным трём источникам — коротко, каждый одной фразой. Абляция той же работы подтверждает механизм: убрали README — сгенерированный overview стал полезен, плюс два и семь. Lulla et al. — сильный аргумент «за» файл, но это не про общее описание структуры, а про недискаверабельные конвенции: минус двадцать восемь целых шесть десятых процента времени выполнения на ста двадцати четырёх реальных PR. И Shepard &amp; Albrecht — статичная инструкция, ни разу не сверенная с фактом, хуже динамически верифицированной: двадцать восемь и три десятых процента против тридцати трёх, значимо.</a:t>
            </a:r>
          </a:p>
          <a:p/>
          <a:p>
            <a:r>
              <a:t>Честно про пробел, вслух, не сглаживая: «Прямых экспериментов с намеренно устаревшим или неверным repository overview не найдено — это пробел в исследованиях, не установленный факт. Анекдот коллеги в начале кейса — правдоподобный, но не измеренный случай, и я говорю это вслух, а не выдаю за доказанное.»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Вызвать 2–3 человека. Задача фасилитатора здесь — зафиксировать ответы вслух, не оценивать: «услышал: опишу структуру репозитория. Услышал: список технологий». На этом слайде нет ни таблицы разбора, ни подсветки правильного варианта — их место на следующем.</a:t>
            </a:r>
          </a:p>
          <a:p/>
          <a:p>
            <a:r>
              <a:t>Если прозвучит «опишу архитектуру» — не иронизировать: «Разумно, если считать, что агент не понимает устройство проекта. Но он его понимает: он же его увидит за секунды. А вот что случится с этим разделом через месяц рефакторинга — вы только что слышали».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«Смотрите на строку "cost плюс двадцать-двадцать три процента" — она значима во всех плечах эксперимента, а вот прирост успеха — нет, ни в одном. Единственное подтверждённое исключение — репозитории без другой документации вообще. У нас будет README, значит, для общего overview оснований нет. Правильный ответ на этом шаге — не "какой текст написать", а "пока никакой". Файл остаётся пустым. Это не значит, что он не понадобится — это значит, что триггер ещё не сработал.»</a:t>
            </a:r>
          </a:p>
          <a:p/>
          <a:p>
            <a:r>
              <a:t>Критерий «ещё рано» — голосом, по нижней плашке: всё, что агент выведет из кода за секунды, в файл не идёт никогда, не «пока рано»; общее описание роли и архитектуры оправданно только там, где вообще нет другой документации — у нашего репозитория она будет, значит оснований нет.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пуст не потому, что мы ленивы, а потому что нет сигнала. Первый настоящий сигнал появится через неделю — и вот тогда мы напишем первую реальную строку.»</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«Файл пуст не потому, что мы ленивы, а потому что нет сигнала. Вот и сигнал — прошла неделя, и случилась первая реальная боль.»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 неделя. Заказчик пишет: заявка не пришла. Агент читает код, правит `src/main.js`, тест зелёный — пишет "готово". А тест проверяет ровно одно: что форма не отправляется с пустыми полями, про доставку он не знает ничего. Заказчик пишет снова: всё ещё не доходит.</a:t>
            </a:r>
          </a:p>
          <a:p/>
          <a:p>
            <a:r>
              <a:t>Разумный шаг — записываем в `CLAUDE.md` текстовый гейт: "всегда прогоняй тесты и проверяй результат вручную перед готово". Неделю спустя, в новой сессии, тот же трюк: автотест зелёный, "готово", руками никто не проверил. Правило было записано. Поведение не изменилось.»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результат по-настоящему контринтуитивный. Исследование TDAD взяло чисто процедурную инструкцию "сначала пиши тесты" без единого изменения в тулинге — и регрессии не упали, а выросли до почти десяти процентов. Хуже, чем вообще без инструкции. Улучшение появилось только тогда, когда то же самое требование зашили в скилл или в тулинг, а не в текст.</a:t>
            </a:r>
          </a:p>
          <a:p/>
          <a:p>
            <a:r>
              <a:t>И отдельно, для цикла "план-код-улучшение": самокритика без внешнего сигнала систематически ухудшает результат — это ICLR подтверждает жёстко. А вот self-repair с реальным прогоном теста даёт плюс пять-тридцать процентных пунктов. Разница принципиальная, не терминологическая: смотрел ли агент на свой код — или прогнал ли он реальную проверку.»</a:t>
            </a:r>
          </a:p>
          <a:p/>
          <a:p>
            <a:r>
              <a:t>Честно про пробел: «Нет контролируемого эксперимента именно на изолированную фразу-гейт в файле инструкций — только наблюдения практиков и косвенные аналоги. Экстраполяция эффекта self-planning на наш случай недоказана напрямую, и это стоит сказать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Реакция на «перепишу капсом»: «Проверим числом — TDAD в точности этот путь проверило: усилили формулировку текстом, без тулинга. Регрессии выросли. Капс не превращает просьбу в закон».</a:t>
            </a:r>
          </a:p>
          <a:p/>
          <a:p>
            <a:r>
              <a:t>На этом слайде нет ни таблицы разбора, ни подсветки правильного варианта — их место на следующем.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«Обратите внимание: ни один из пяти вариантов, кроме "передам механизму вне текста", не решает проблему системно — а мы сегодня туда не идём, это следующее занятие. Значит, честный ответ сегодня: мы всё равно запишем гейт текстом, потому что это лучше, чем ничего, и это первый шаг — но мы прямо скажем себе, что он ненадёжен, и назовём направление, куда идти, когда он подведёт второй раз.</a:t>
            </a:r>
          </a:p>
          <a:p/>
          <a:p>
            <a:r>
              <a:t>И вот формула, которая держит весь сегодняшний разбор, произношу её сейчас безусловно, вне зависимости от того, что ответил зал: правила в промпте — это просьбы, правила в коде — это законы. Текстовый гейт, который мы сейчас запишем, — просьба, и это нормально для первого шага. Но называть вещи своими именами — часть работы: то, что мы записали текстом, не стало законом от одного факта записи.</a:t>
            </a:r>
          </a:p>
          <a:p/>
          <a:p>
            <a:r>
              <a:t>И второй пункт разбора, про "улучшение": если это "агент, посмотри на свой код ещё раз" — не делать так, доказательство однозначное. Если это "агент, открой `dist/index.html` и отправь форму руками" — делать так всегда. Наш итоговый файл именно это и требует, дословно.»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итоговый файл — тринадцать строк, не абзац на триста. Критерий готово записан явно: сборка кодом 0, тест зелёный, и форма реально отправляет заявку на проде — то самое требование, которое в начале занятия никто не назвал. Гейт-предупреждение про прод. И честная оговорка предела вместо "Build/Test/Run locally" — эти три строки просто дублировали `package.json`, мы их вычеркнули.</a:t>
            </a:r>
          </a:p>
          <a:p/>
          <a:p>
            <a:r>
              <a:t>Файл грузится в начало каждой сессии целиком, `@`-импорты его организуют, но не экономят контекст. `AGENTS.md` — симлинк на тот же файл, один источник правды; но осторожно с `cp -R` без `-P` на macOS — он разыменовывает симлинк молча, во вторую реальную копию.»</a:t>
            </a:r>
          </a:p>
          <a:p/>
          <a:p>
            <a:r>
              <a:t>Мостик к кейсу 1.3: «Мы записали то, что знали заранее и уже один раз проверили на практике — правда, зная, что у текста есть потолок. Файл вырос с нуля до пары содержательных абзацев. Следующий вопрос — практический: репозиторий растёт, появляются подпапки со своими правилами. Стоит ли раскладывать этот же файл по ним?»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«Мы записали то, что знали заранее и уже проверили на боли. Файл вырос до пары содержательных абзацев. Следующий вопрос — практический: репозиторий растёт, появляются подпапки со своими правилами. Стоит ли раскладывать этот же файл по ним?»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`signup-landing` подрос: в `tests/` накопилась пачка тестов, появилась своя договорённость — как называть файлы, какой паттерн использовать. Разработчик решает: вынесу это в отдельный `tests/CLAUDE.md`, короче, ближе к делу, корневой файл не разбухнет. Кладёт файл в подпапку и ждёт, что агент подхватит его сам, когда будет работать именно в `tests/`. Логично звучит. Давайте проверим, что там на самом деле происходит с загрузкой.»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устроен конкретно, не расплывчато. Корневой файл и все родительские грузятся при старте сессии, всегда. Вложенный — только когда агент реально прочитал файл из этой папки, а не когда он просто "работает в ней". Это не гипотеза — это то, как написан загрузчик.</a:t>
            </a:r>
          </a:p>
          <a:p/>
          <a:p>
            <a:r>
              <a:t>И вот эмпирика: самое близкое к нашему вопросу контролируемое исследование, тысяча шестьсот пятьдесят сессий, проверило ровно это — и не нашло значимого эффекта ни у одной структурной переменной, включая прямой аналог нашей ситуации, противоречие между уровнями. А отдельно — список реальных issue: Claude Code, Cursor, Codex, Copilot CLI. Везде одна и та же жалоба, вплоть до жёсткого архитектурного предела в одном из инструментов.»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Если прозвучит «положу и всё» — не спорить абстрактно: «Хорошо, а как вы узнаете, что сработало? Вот номер issue, где именно это не сработало, и мейнтейнеры закрыли его "not planned", не как баг для починки, а как ожидаемое поведение».</a:t>
            </a:r>
          </a:p>
          <a:p/>
          <a:p>
            <a:r>
              <a:t>На этом слайде нет ни таблицы разбора, ни подсветки правильного варианта — их место на следующем.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«Смотрите на два пункта одновременно: контролируемое исследование не нашло пользы даже там, где здравый смысл её обещал — а реальная практика показывает регулярные отказы, вплоть до архитектурного предела в одном инструменте. Это редкое сочетание: и "не помогает по науке", и "не работает по факту". При таком репозитории, как наш, вывод простой — один файл в корне, пока он не стал реально неудобным. И даже тогда — не молчаливое разбиение, а проверенное: `/context` или прямое наблюдение, что конкретно ваш инструмент это подхватывает.»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1.3: репозиторий остаётся с одним корневым файлом, пока он не стал реально неудобным.</a:t>
            </a:r>
          </a:p>
          <a:p/>
          <a:p>
            <a:r>
              <a:t>Три кейса, один и тот же файл: мы решили, чего в него не писать заранее; написали то, что узнали на реальной боли; и решили не дробить его, пока это не доказанная польза. Всё это — знание, которое у вас уже было до работы, записанное заранее. Но есть знание другого рода: то, что появляется по ходу самой работы — что вы уже пробовали и отвергли, почему отвергли, какие решения принимались между сессиями. Его нельзя записать заранее, потому что вы его ещё не знаете. Это раздел второй — память.»</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без пересказа обзора раздела целиком: предыдущий раздел закрыл вопрос авторства — что вы знали заранее и записали сами. Этот раздел открывает вопрос памяти — что появляется по ходу работы и должно пережить конец сессии, если это вообще должно куда-то попасть. Три кейса идут по восходящей сложности; начинаем с самого простого возможного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ставится сразу, без повторения разделения авторства из предыдущего раздела: разработчик второй раз объясняет то же самое, что уже обсуждалось и было отклонено. Диагностика сразу за сценарием, иначе зал спишет это на «агент глупый»: он не нарушил правило — в файле инструкций этого правила не было и не могло быть, потому что решение родилось в разговоре, а разговор кончился. Это не «забыл» в привычном смысле — модель не имеет состояния между вызовами: каждый запрос обрабатывается независимо, а то, что выглядит как память разговора, — заново поданная на вход текстовая история.</a:t>
            </a:r>
          </a:p>
          <a:p/>
          <a:p>
            <a:r>
              <a:t>Дальше — не сразу к вопросу. Прежде чем зал начнёт выбирать варианты, стоит короткая опора: мы уже видели похожий эксперимент в разделе про файл инструкций — сейчас посмотрим, как он применяется здесь.</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 будете выбирать, куда записать отклонённое решение, — одна короткая связка с тем, что мы уже видели сегодня. В кейсе про файл инструкций мы разбирали эксперимент Gloaguen: сам факт присутствия текста в контексте стоит денег — двадцать-двадцать три процента cost, — вне зависимости от того, помог ли этот текст решить задачу. Мы назвали это presence paradox.</a:t>
            </a:r>
          </a:p>
          <a:p/>
          <a:p>
            <a:r>
              <a:t>Тот же механизм работает и здесь, просто на другом объекте. DECISIONS.md — не какой-то особый файл, который читается только по требованию. Он грузится в контекст целиком, каждую сессию, — вы это увидите чуть позже в таблице трёх слоёв. А значит каждая строка, которую вы туда добавите, стоит контекста в каждой следующей сессии, даже если сегодняшняя задача её вообще не касается.</a:t>
            </a:r>
          </a:p>
          <a:p/>
          <a:p>
            <a:r>
              <a:t>Честно: прямого измерения именно на журналах решений никто не проводил — это перенос механизма, не новое доказательство. Но вопрос, который отсюда напрашивается, — держите его в голове, отвечая на следующий слайд: если запись не бесплатна, точно ли туда идёт вообще всё, что можно туда положить?»</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 сценарий и диагностика уже прозвучали два слайда назад, здесь не пересказывать их заново, только короткое напоминание одной строкой сверху. В вопросе специально зашита вторая половина — «и почему не в файл инструкций, который мы только что завели» — без неё зал даст правильный по форме ответ и не увидит, что слои разные. Пауза, затем 2–3 голоса. Разбор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по пяти позициям, быстро. «Допишу в CLAUDE.md» — механически сработает, спорить не о чем; но представьте тридцать таких решений за полгода — файл читается целиком каждую сессию, ориентир двести строк, и все тридцать грузятся в каждую сессию, включая те, что касались давно переписанного кода. «Агент сам запомнит» — отвечать не «нет», а механикой: между двумя вызовами модель не хранит ни одного бита, память — то, что кто-то положил на диск и кто-то заново подал на вход. «Скажу "запомни это"» — половина ответа, уходит в авто-память, машинно-локальный слой без синхронизации и ревью. «Заведу DECISIONS.md» — вторая половина, с дисциплиной писать «почему», а не «что». «Поставлю систему памяти» — признать разумность направления и отложить на слой провала: через несколько слайдов будут замеры, после которых это прозвучит не так очевидно — вопрос, который стоит держать в голове: относительно чего измеряем, что система памяти лучше?</a:t>
            </a:r>
          </a:p>
          <a:p/>
          <a:p>
            <a:r>
              <a:t>Целевой ответ — оба механизма разом, с разделением ролей — и это разделение собирается на следующем шаге, вживую, по карточкам.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Фасилитатор берёт карточки по одной и спрашивает коротко: «в какую?». Разбор каждой — одна фраза, не больше.</a:t>
            </a:r>
          </a:p>
          <a:p/>
          <a:p>
            <a:r>
              <a:t>Две карточки несут основную нагрузку. «Обработчик формы лежит в `src/main.js`» — почти всегда кто-то предлагает записать: агент прочитает это за секунду обычным чтением файлов, а индекс памяти грузится в каждую сессию и имеет жёсткий лимит — двести строк или двадцать пять килобайт, что раньше. Запись, которую агент может получить бесплатно, занимает место записи, которую он получить не может. «19 сентября тест упал из-за таймаута, увеличили ожидание» — эту карточку зал чаще всего тянет в `DECISIONS.md`: это «что», а не «почему», и «что» уже есть в истории изменений вместе с датой, автором и патчем. В журнал решений идёт обоснование выбора, которого иначе не останется нигде, кроме чьей-то головы.</a:t>
            </a:r>
          </a:p>
          <a:p/>
          <a:p>
            <a:r>
              <a:t>Разбор корзины «никуда» — самый ценный момент шага: зал обычно тянется положить туда что-нибудь «на всякий случай», и стоит один раз проговорить, что место в индексе памяти конечное.</a:t>
            </a:r>
          </a:p>
          <a:p/>
          <a:p>
            <a:r>
              <a:t>После сортировки — фасилитатор спрашивает по частям: «дата?», «формулировка решения одной строкой?», «причина?» — и проявляет на слайде запись, которая реально лежит в демо-репозитории. Важно сказать вслух, что это настоящий файл настоящего репозитория, а не пример, сочинённый для 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механизма, не один. Авто-память рантайма живёт вне репозитория, в каталоге памяти на машине разработчика: индекс из первых 200 строк или 25 КБ плюс тематические файлы, которые агент создаёт сам. Команда «запомни: не подключаем стороннюю библиотеку валидации» создаёт тематический файл именно там — в дерево справа он не попадает.</a:t>
            </a:r>
          </a:p>
          <a:p/>
          <a:p>
            <a:r>
              <a:t>`DECISIONS.md` — второй механизм, git-трекнутый append-only лог в самом репозитории. Это реальный файл реального демо-репозитория, не пример, сочинённый для слайда, — и это стоит произнести вслух. Дерево справа показывает, что в репозитории добавился ровно один новый файл.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критерий различения, одной фразой: разница не в формате — оба markdown, — а в том, кто инициирует запись и кто её потом увидит. Авто-память пишет агент, для себя, на этой машине, без ревью. Журнал решений пишете вы, для команды, в репозиторий, через ревью.</a:t>
            </a:r>
          </a:p>
          <a:p/>
          <a:p>
            <a:r>
              <a:t>Три детали кратко: индекс памяти — только индекс, за двести строк содержимое физически не попадает в сессию; агент сам пропускает то, что выводимо из кода; сжатие контекста переживают только файлы на диске — то, что сказано лишь в разговоре, при сжатии может исчезнуть. Последняя деталь — прямой отклик на предыдущий раздел: «объясню в чате ещё раз» не работает даже внутри одной длинной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сливать нельзя: первый про безопасность, второй про эффективность.</a:t>
            </a:r>
          </a:p>
          <a:p/>
          <a:p>
            <a:r>
              <a:t>Отравление — как история, с датой: сентябрь 2024 года, настольное приложение ChatGPT под macOS, исследователь Йохан Ребергер. Агент прочитал внешний текст — обычный текст, который его попросили обработать, — а внутри была вложена инструкция. Эта инструкция попала не в разговор, а в долговременную память. Разговор закончился, память осталась. В следующих сессиях инструкция активировалась заново и организовала непрерывную отправку переписки на чужой сервер.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замаскированных под безобидные файлы, захватил порядка половины всех последующих обращений к памяти при нуле до отравления и держался до ручной чистки; в смежном эксперименте хватило пяти подложенных документов, чтобы управлять выводом более чем в девяти случаях из десяти.</a:t>
            </a:r>
          </a:p>
          <a:p/>
          <a:p>
            <a:r>
              <a:t>Практический вывод — применительно к нашему файлу: мы сегодня записали своё собственное решение, здесь всё в порядке. Но как только агент начнёт записывать в память выводы из чужого issue, чужой страницы или чужого тикета — это уже другой уровень доверия, и его надо различать руками, потому что сама память различать не умеет.</a:t>
            </a:r>
          </a:p>
          <a:p/>
          <a:p>
            <a:r>
              <a:t>Второй слой для аудитории практиков даже важнее: он бьёт по интуиции, не по паранойе. Независимый прогон одной популярной системы памяти: с памятью — сорок шесть процентов, без памяти — пятьдесят семь и шесть, та же система, тот же бенчмарк, единственное отличие — память включена или выключена. Включение памяти ухудшило результат почти на двенадцать пунктов.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а одна проиграла даже голой модели вообще без памяти. Честная оговорка про условия: корпуса там маленькие, целиком влезают в контекст, и это структурно выгодно плоскому файлу; поведение на больших корпусах не протестировано ни для одной из систем. Но именно малый корпус — это ровно наш случай сегодня.</a:t>
            </a:r>
          </a:p>
          <a:p/>
          <a:p>
            <a:r>
              <a:t>И третья деталь, обычно вызывающая самую живую реакцию зала: на двадцати четырёх задачах модель на четырёх — семнадцать процентов — прямо отказалась записать нужный факт, посчитав его слишком мимолётным; один и тот же диалог, поданный дважды, в одном прогоне факт сохранил, в другом потерял. Это не баг — модель по устройству сама решает, что достойно записи. Вывод для инженера: полнота памяти не гарантирована, и если факт критичен — его пишут руками, а не надеются на суждение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по чек-листу, голосом, коротко.</a:t>
            </a:r>
          </a:p>
          <a:p/>
          <a:p>
            <a:r>
              <a:t>Дальше — граница называется прямо, не молчаливо: плоский файл перестаёт справляться не мгновенно и не из-за размера самого по себе, а когда одновременно верны два условия — записей стало столько, что найти нужную линейным чтением дольше, чем вспомнить и переобъяснить решение заново, и между записями появились связи, которые в плоском append-only логе физически некуда положить: решение номер семь отменяет часть решения номер два, а рядом с решением номер два об этом ни слова. Это не «нам нужна векторная база» — это ровно следующий кейс: тот же самый журнал решений, только выросший и требующий структуры.</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без пересказа границы предыдущего кейса целиком: «Мы закончили прошлый кейс на границе — плоский файл решений перестаёт справляться не когда он просто большой, а когда в нём накопились связи, для которых в линейном логе нет места. Вот вам это же в лицах.»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Явная связка с предыдущим кейсом: файл решений перестаёт справляться не когда он «большой», а когда в нём накопились связи, для которых в линейном логе нет места. Здесь это в лицах.</a:t>
            </a:r>
          </a:p>
          <a:p/>
          <a:p>
            <a:r>
              <a:t>Прошло четыре месяца. В команде — новый человек, первого разговора про валидацию формы он не застал. Просит агента добавить защиту от спама. Агент честно открывает `DECISIONS.md` — там уже тридцать восемь записей — и предлагает решение, которое противоречит более раннему пункту: «не добавляем сторонние виджеты в форму, см. запись номер три». А два месяца назад появилась запись номер тридцать один, которая как раз для случая антиспама это решение отменяет — она лежит в другом конце файла, и на неё нет ни одной ссылки.</a:t>
            </a:r>
          </a:p>
          <a:p/>
          <a:p>
            <a:r>
              <a:t>Разработчик сам открывает файл, чтобы разобраться, — и тратит на чтение тридцати восьми записей больше времени, чем ушло бы просто передумать вопрос с нуля. Файл на месте. Пользоваться им дольше, чем не пользоваться.</a:t>
            </a:r>
          </a:p>
          <a:p/>
          <a:p>
            <a:r>
              <a:t>Почему этого не мог закрыть предыдущий кейс: плоский append-only лог по конструкции не имеет ничего, кроме хронологического порядка — он честно фиксирует что и когда решили, но ничего не знает про то, что с чем связано. Пока записей десяток, связь видна глазами при беглом чтении. На сорока записях —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Он приходит сразу после истории про потерянную ссылку между решениями, так что вариант «оставить как есть» звучит уже неубедительно ещё до разбора — но произносить это вслух не нужно, вопрос должен звучать открыто.</a:t>
            </a:r>
          </a:p>
          <a:p/>
          <a:p>
            <a:r>
              <a:t>Одна реакция стоит подготовки заранее: «поставлю графовую систему памяти» — самый частый «продвинутый» ответ в аудитории инженеров. Не отвергать сразу: логично звучит, у нас же по сути граф решений, — и тут же обещание конкретной цифры на следующем слайде.</a:t>
            </a:r>
          </a:p>
          <a:p/>
          <a:p>
            <a:r>
              <a:t>Пауза, 2–3 голоса. Разбор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строится вокруг контрпримера, а не вокруг «структура — это правильный ответ». Целевой ответ — тематические файлы со сквозными ссылками. Но прежде чем радоваться правильному ответу — цифра: бенчмарк Letta, задача на долговременную память LoCoMo — простое файловое хранилище, обычный grep по файлам, семьдесят четыре процента. Графовая система памяти Mem0 — шестьдесят восемь и пять. Простое хранилище обошло умное.</a:t>
            </a:r>
          </a:p>
          <a:p/>
          <a:p>
            <a:r>
              <a:t>Причина, которую называют авторы: модели тренированы на операциях с файлами как на самом привычном инструменте. Привычный инструмент регулярно оказывается эффективнее непривычного, пусть и более «умного» retrieval. Структура — не гарантированный выигрыш. Она выигрывает здесь, в нашем сценарии, потому что решает конкретную проблему — потерянную связь между решениями, — а не потому что «структурированное всегда лучше плоского».</a:t>
            </a:r>
          </a:p>
          <a:p/>
          <a:p>
            <a:r>
              <a:t>Остальные варианты — быстро: «оставить как есть» уже неубедительно после сценария и подтверждено измерением деградации со временем. «SUMMARY.md целиком» убивает append-only гарантию. «Агент сам найдёт» — то же заблуждение, что «сам запомнит» в прошлом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тематические файлы плюс оглавление, и в самой записи — явная ссылка на связанную запись. Пример на слайде — не снятый кадр из демо-репозитория, честно назвать это залу: ждём живой сессии, чтобы захватить настоящий. Устройство от этого не меняется.</a:t>
            </a:r>
          </a:p>
          <a:p/>
          <a:p>
            <a:r>
              <a:t>Ключевое отличие от предыдущего кейса — запись прямо говорит «см. также» и «отменяет часть решения от…»: то, чего в плоском append-only логе не было в принципе, потому что формат не предполагает перекрёстных ссылок.</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Короткая честная ремарка перед цифрами — это ровно то место, где курс показывает разницу между «звучит логично» и «доказано»: почти всё, что говорится про структурированную память, — исследования буквально этого года, препринты, ещё не прошедшие рецензирование. Ниша растёт быстрее, чем успевает наука её проверить. Дальше — «заявлено в препринте», а не «доказано».</a:t>
            </a:r>
          </a:p>
          <a:p/>
          <a:p>
            <a:r>
              <a:t>Контрпример — не мимо структуры, а прямо про неё: бенчмарк Letta, задача на долговременную память LoCoMo. Простое файловое хранилище — обычный grep по файлам — семьдесят четыре процента. Графовая система памяти Mem0 — шестьдесят восемь и пять. Простое хранилище обошло умное. Причина, которую называют авторы: модели тренированы на операциях с файлами как на самом привычном инструменте, и привычный инструмент регулярно оказывается эффективнее непривычного, пусть и более «умного» retrieval. Структура — не автоматический выигрыш.</a:t>
            </a:r>
          </a:p>
          <a:p/>
          <a:p>
            <a:r>
              <a:t>Дальше — четыре честно названных недостатка, без замалчивания. Устаревание содержимого: сводка в оглавлении расходится с содержимым тематического файла, если кто-то поправил один и забыл другой — в плоском логе такой ошибки в принципе не бывает, там один файл — один источник истины. Дублирование: одно и то же решение оказывается пересказано дважды, в двух местах, разными словами, и обе версии выглядят актуальными. Отсутствие каскадного удаления: отменили факт в одном файле — производные записи в других файлах не узнают об этом автоматически. Нагрузка на поддержку: кто-то должен реально ходить и структуру поддерживать, и именно это, по наблюдениям, обычно убивает такую базу знаний у людей; у агента, возможно, иначе — стоимость правки полутора десятков файлов за один проход у него близка к нулю, — но это аргумент по механизму, не измеренный экспериментально.</a:t>
            </a:r>
          </a:p>
          <a:p/>
          <a:p>
            <a:r>
              <a:t>Итог честно: структура даёт выигрыш при масштабе и связности, которые есть у нашего примера, — но выигрыш не автоматический и не бесплатный. Это компромисс, а не апгрейд по умолчанию.</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коротко, по чек-листу: если хотя бы половина пунктов уже неверна, это точка, где стоит смотреть на полноценную систему памяти — но именно это тот случай, где нужны количественные замеры на своём масштабе, а не общий совет: контрпример этого кейса уже показал, что «умнее» не значит «лучше» без проверки.</a:t>
            </a:r>
          </a:p>
          <a:p/>
          <a:p>
            <a:r>
              <a:t>Мостик — смена регистра, не продолжение той же лестницы: всё обсуждённое в этом разделе до сих пор — про решения, которые остаются в силе навсегда. Дальше — другой вопрос: что происходит с памятью одной задачи, пока она ещё не закончена?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явно называя смену оси, а не «ещё один шаг той же лестницы»: «Всё, что мы обсуждали до сих пор в этом разделе, — про решения, которые остаются в силе навсегда. Теперь другой вопрос: что происходит с памятью одной задачи, пока она ещё не закончена?»</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Разработчик ставит агенту задачу на несколько сессий: разбить форму на пошаговый визард — имя, email, подтверждение, — сохранив всю текущую валидацию. Шесть шагов, за один присест не закрывается. Первая сессия обрывается на середине, контекст сжимается.</a:t>
            </a:r>
          </a:p>
          <a:p/>
          <a:p>
            <a:r>
              <a:t>Вторая сессия: у агента на руках код и сжатая сводка разговора, больше ничего. Он заново анализирует форму с нуля и предлагает план, который на треть повторяет уже сделанное — шаг разметки был закрыт в прошлый раз, — а на треть противоречит мелким договорённостям из первой сессии: там решили не трогать email-валидацию, здесь агент снова предлагает её переписать. Разработчик тратит начало второй сессии не на работу, а на то, чтобы объяснить заново, что уже сделано.</a:t>
            </a:r>
          </a:p>
          <a:p/>
          <a:p>
            <a:r>
              <a:t>`DECISIONS.md` в любой форме здесь не помог бы: он про решения, которые остаются в силе навсегда, для всех будущих задач. Ход одной конкретной многошаговой задачи — не решение проекта, это статус, актуальный ровно до её завершения.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Пауза, 2–3 голоса.</a:t>
            </a:r>
          </a:p>
          <a:p/>
          <a:p>
            <a:r>
              <a:t>Одна реакция стоит подготовки: «запишу план в DECISIONS.md» — вопрос звучит похоже на вопрос из первого кейса раздела, и зал может машинально повторить прошлый ответ. Не поправлять здесь — разбор этого варианта идёт на следующем слайде.</a:t>
            </a:r>
          </a:p>
          <a:p/>
          <a:p>
            <a:r>
              <a:t>Разбор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«Не сжимать, не закрывать сессию» — контекстное окно конечно, это не стратегия, а её отсутствие. «Записать план в DECISIONS.md» — никогда не тот слой: журнал решений про то, что остаётся в силе навсегда, статус одной задачи туда не относится, смешение испортит оба журнала — ровно та ошибка, которую разбирала карточка про упавший тест в первом кейсе раздела. «Один файл на задачу» — ровно наш случай, целевой ответ. «Папка на задачу» — оверинжиниринг для одной линейной задачи здесь и сейчас, но паттерн реально масштабируется до папки. «Продолжи с того места» — тот же механический факт, что «агент сам запомнит»: после сжатия или в новой сессии буквально нечего продолжать.</a:t>
            </a:r>
          </a:p>
          <a:p/>
          <a:p>
            <a:r>
              <a:t>Целевой ответ — один файл на задачу, с явным уточнением про упрощение.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на задачу: план, лог хода, результаты. Пример на слайде — иллюстративный, не из захваченного репозитория, ждёт живой сессии. Обратить внимание на лог: там прямо написано, что в этой сессии договорились не трогать email-валидацию, потому что это уже отдельное решение из `DECISIONS.md` — файл задачи ссылается на журнал решений, а не дублирует его.</a:t>
            </a:r>
          </a:p>
          <a:p/>
          <a:p>
            <a:r>
              <a:t>Явная оговорка: это упрощённая версия паттерна. В реальной практике это масштабируется до папки на задачу — отдельный план, отдельный лог, отдельная папка результатов, особенно когда задача не линейная. Для сегодняшнего занятия одного файла достаточно — не усложняем.</a:t>
            </a:r>
          </a:p>
          <a:p/>
          <a:p>
            <a:r>
              <a:t>По завершении задачи файл переносится в архив задач или удаляется, если ценности после задачи не несёт, — архивирование, а не хранение навсегда: главное отличие от `DECISIONS.md`, который никогда не архивируется и не удаляется.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Есть прямой прецедент паттерна: агент играет в Pokémon тысячи шагов подряд, переживая сбросы контекста, справляясь благодаря простым структурированным заметкам — счётчики, текущая цель. Похожая техника: агент непрерывно переписывает список дел в конец контекста, модель охотнее следует тому, что видела последним; на задачах порядка полусотни вызовов инструментов это заметно снижает уход от цели.</a:t>
            </a:r>
          </a:p>
          <a:p/>
          <a:p>
            <a:r>
              <a:t>Но вот цифра, которую нельзя пропустить. Двадцать одна тысяча сто двадцать траекторий, SWE-bench: наличие плана в среднем помогает. И тут же прямая цитата авторов: «плохой план вреднее отсутствия плана вообще». Комплаенс агента к собственному плану падает примерно на тринадцать пунктов на более сложном бенчмарке — чем сложнее задача, тем меньше агент реально следует тому, что сам же записал.</a:t>
            </a:r>
          </a:p>
          <a:p/>
          <a:p>
            <a:r>
              <a:t>Эксперимент с более жёстким условием: тридцать контролируемых живых рабочих сценариев, где план не проверялся на актуальность по ходу работы. Устаревший план выполнялся буквально во всех тридцати случаях. Файл задачи, который никто не обновляет, — не нейтральная бумажка, а источник систематически неверных действий. Пункт плана, ставший неактуальным — например, после дополнительного решения в `DECISIONS.md`, отменяющего часть подхода, — должен быть вычеркнут или помечен как устаревший в момент, когда это стало известно, а не оставлен как есть до следующей сессии.</a:t>
            </a:r>
          </a:p>
          <a:p/>
          <a:p>
            <a:r>
              <a:t>Есть кейс-стади, очень близкий к нашей ситуации: реальный проект, триста девяносто одна сессия за месяц. Авторы наблюдают, как по мере роста правил агент теряет связь с реальной семантикой проекта — правила накапливаются, начинают противоречить друг другу, агент следует букве вместо духа. Решение — то же самое разделение, которое проводится весь раздел: стабильное отдельно от текущего. Результат — минус семьдесят пять процентов объёма AI-инструкций, ноль повторений проблемы за следующие сто пятьдесят сессий. Сразу честно: это один проект, один автор, это называется action research, а не контролируемый эксперимент. Хорошая иллюстрация механизма, не доказательство, что так будет у всех.</a:t>
            </a:r>
          </a:p>
          <a:p/>
          <a:p>
            <a:r>
              <a:t>И последнее, что нужно сказать прямо, а не спрятать в сноску: паттерн «файл или папка на задачу» сейчас не мейнстрим. Исследование почти трёх тысяч реальных репозиториев показывает, что доминируют статические context-файлы, а не операционная память задачи. Практику продвигают отдельные лидеры, но это ещё не общепринятая норма. Если на работе не увидят такого файла ни у кого — это не значит, что что-то делается не так, это значит, что индустрия пока не договорилась.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по чек-листу: задача линейная, шаги идут по порядку; работает один агент и один разработчик; лог помещается в разумный файл без потери читаемости; результатов немного. Если хотя бы половина пунктов уже неверна — переход к папке на задачу оправдан.</a:t>
            </a:r>
          </a:p>
          <a:p/>
          <a:p>
            <a:r>
              <a:t>Честная оговорка про распространённость — сказать прямо, не спрятать в сноску: паттерн «файл или папка на задачу» сейчас не мейнстрим. Исследование почти трёх тысяч реальных репозиториев показывает, что доминируют статические context-файлы. Практику продвигают отдельные лидеры, но это ещё не общепринятая норма.</a:t>
            </a:r>
          </a:p>
          <a:p/>
          <a:p>
            <a:r>
              <a:t>Подвести черту под разделом: три кейса — три разных ответа на вопрос «что происходит, когда сессия заканчивается» — решение остаётся навсегда в плоском логе, решений становится слишком много и они обрастают структурой, а ход одной задачи живёт ровно до её конца в отдельном файле. Все три — текст, который агент читает и может учесть. Дальше в занятии — что происходит, когда прочитать становится недостаточно.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Оглянемся на сегодняшний день. Шесть развилок, по три в каждом из двух разделов. В разделе про файл инструкций — что не писать заранее, как записать гейт «готово» и цикл улучшения, стоит ли дробить файл по подпапкам. В разделе про память — плоский файл решений, структурированная вики-память, задачная память одной сессии.</a:t>
            </a:r>
          </a:p>
          <a:p/>
          <a:p>
            <a:r>
              <a:t>На каждой из шести мы, по сути, отвечали на один и тот же вопрос, просто разными словами. Вспомните гейт «готово»: мы записали фразу в `CLAUDE.md`, агент один раз её не выполнил, мы усилили формулировку капсом — и оказалось, что это не помогает, а иногда даже вредит. Вспомните разбор про `DECISIONS.md`: там прозвучала фраза — «"запомни это" — просьба, а не гарантия». Это не два разных наблюдения про два разных кейса. Это одно и то же наблюдение, сказанное дважды. Всё, что лежит в правом столбце этой таблицы, — текст, который агент читает и **может** учесть. Не обязан. Может. И сегодня мы ни разу не построили ничего, от чего он не мог бы уклониться при всём желании.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честная цифра, которую стоит назвать прямо, а не оставить подразумеваемой. У харнесса из Лекции 3 — пять слотов. Сегодня мы подробно разобрали два: инструкции-правила и память, каждый на трёх реальных развилках. Три остальных — скиллы, субагенты, доступ наружу — сегодня не звучали вообще, ни одной строкой.</a:t>
            </a:r>
          </a:p>
          <a:p/>
          <a:p>
            <a:r>
              <a:t>И ещё кое-что мы сегодня не трогали ни разу: оба практических слоя, которые механически усиливают текстовый слой, — хук и процесс. Это не забывчивость и не нехватка времени в последнюю минуту. Это прямой ответ на вопрос, который только что прозвучал: что делать, когда просьбы текстом недостаточно? Ответ — на следующем занятии, Семинаре 5. Там — оставшиеся три слота и оба механических слоя разом, потому что именно они превращают просьбу в барьер, который агент не может обойти, даже если захочет.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из вас есть свой рабочий или учебный репозиторий и агент, с которым вы в нём работаете. Мысленно переберите шесть развилок, которые мы сегодня прошли: роль и общее описание, базовые процессы, вложенные файлы — и плоская память, структурированная память, задачная память. Не записывайте и не отвечайте вслух — это вопрос на самостоятельный перенос, себе. По каждой развилке спросите одно: то, что у вас уже принято, — это просьба текстом, которую агент технически может обойти? Или это как раз тот случай, где просьбы недостаточно, и нужен барьер, которого мы сегодня не построили ни разу?</a:t>
            </a:r>
          </a:p>
          <a:p/>
          <a:p>
            <a:r>
              <a:t>Пауза 5–7 секунд, без вызова голосов из зала, без разбора «типичных ответов» — этот вопрос не проверяет знание, а инициирует перенос на личный контекст каждого.</a:t>
            </a:r>
          </a:p>
          <a:p/>
          <a:p>
            <a:r>
              <a:t>Закрывающая реплика после паузы: «Ответа вслух не будет — это вопрос на понедельник, не на сегодня. Если хотя бы по одной развилке ответ оказался "нужен барьер" — вы знаете, куда идти дальше. Это Семинар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Один сквозной кейс, две развилки харнесса на трёх реальных решениях</a:t>
            </a:r>
          </a:p>
        </p:txBody>
      </p:sp>
      <p:sp>
        <p:nvSpPr>
          <p:cNvPr id="7" name="Rounded Rectangle 6"/>
          <p:cNvSpPr/>
          <p:nvPr/>
        </p:nvSpPr>
        <p:spPr>
          <a:xfrm>
            <a:off x="1051560" y="1901952"/>
            <a:ext cx="10088575" cy="105156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993392"/>
            <a:ext cx="9357055" cy="868680"/>
          </a:xfrm>
          <a:prstGeom prst="rect">
            <a:avLst/>
          </a:prstGeom>
          <a:noFill/>
        </p:spPr>
        <p:txBody>
          <a:bodyPr wrap="square" lIns="0" rIns="0" tIns="0" bIns="0" anchor="ctr">
            <a:spAutoFit/>
          </a:bodyPr>
          <a:lstStyle/>
          <a:p>
            <a:pPr algn="ctr">
              <a:lnSpc>
                <a:spcPct val="128000"/>
              </a:lnSpc>
            </a:pPr>
            <a:r>
              <a:rPr sz="1650" b="1" i="1">
                <a:solidFill>
                  <a:srgbClr val="F0AB00"/>
                </a:solidFill>
                <a:latin typeface="Arial"/>
              </a:rPr>
              <a:t>«У вас репозиторий и агент, который в нём работает — какой блок конфигурации добавить первым, и как понять, что следующий добавлять ещё рано?»</a:t>
            </a:r>
          </a:p>
        </p:txBody>
      </p:sp>
      <p:sp>
        <p:nvSpPr>
          <p:cNvPr id="9" name="TextBox 8"/>
          <p:cNvSpPr txBox="1"/>
          <p:nvPr/>
        </p:nvSpPr>
        <p:spPr>
          <a:xfrm>
            <a:off x="502920" y="2935224"/>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697855"/>
            <a:ext cx="1269873" cy="337185"/>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60670"/>
            <a:ext cx="1269873" cy="674370"/>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23485"/>
            <a:ext cx="1269873" cy="1011555"/>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686300"/>
            <a:ext cx="1269873" cy="1348740"/>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349115"/>
            <a:ext cx="1269873" cy="1685925"/>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011930"/>
            <a:ext cx="1269873" cy="2023110"/>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674745"/>
            <a:ext cx="1269873" cy="2360295"/>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337560"/>
            <a:ext cx="1269873" cy="2697480"/>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ОТКРЫТИЕ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Часть требований видно, открыв редактор. Часть — нет, сколько угодно смотри в код</a:t>
            </a:r>
          </a:p>
        </p:txBody>
      </p:sp>
      <p:sp>
        <p:nvSpPr>
          <p:cNvPr id="4" name="Rounded Rectangle 3"/>
          <p:cNvSpPr/>
          <p:nvPr/>
        </p:nvSpPr>
        <p:spPr>
          <a:xfrm>
            <a:off x="502920" y="1783080"/>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965960"/>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НИГДЕ НЕ БУДЕТ ВИДНО</a:t>
            </a:r>
          </a:p>
        </p:txBody>
      </p:sp>
      <p:sp>
        <p:nvSpPr>
          <p:cNvPr id="7" name="Rounded Rectangle 6"/>
          <p:cNvSpPr/>
          <p:nvPr/>
        </p:nvSpPr>
        <p:spPr>
          <a:xfrm>
            <a:off x="722376"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40780" y="2368296"/>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2376"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0780" y="3106094"/>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2376"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80" y="3843893"/>
            <a:ext cx="5134356" cy="647456"/>
          </a:xfrm>
          <a:prstGeom prst="roundRect">
            <a:avLst>
              <a:gd name="adj" fmla="val 18000"/>
            </a:avLst>
          </a:prstGeom>
          <a:solidFill>
            <a:srgbClr val="EEF1F5"/>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029200"/>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102352"/>
            <a:ext cx="10780776" cy="1042416"/>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«Заказчик просит лендинг с формой заявки на демо-урок. Одна страница, два поля, кнопка. Назовите вслух: что вообще должно быть у этой задачи, чтобы вы могли сказать ‘готово’ и показать её заказчику? Не как это устроено внутри — а что должно существовать.»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ОТКРЫТИЕ</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Шесть требований делятся ровно пополам: три увидит в коде любой, три не будут видны нигде</a:t>
            </a:r>
          </a:p>
        </p:txBody>
      </p:sp>
      <p:sp>
        <p:nvSpPr>
          <p:cNvPr id="4" name="Rounded Rectangle 3"/>
          <p:cNvSpPr/>
          <p:nvPr/>
        </p:nvSpPr>
        <p:spPr>
          <a:xfrm>
            <a:off x="502920" y="1691640"/>
            <a:ext cx="11183112"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74519"/>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ВИДНО В КОДЕ</a:t>
            </a:r>
          </a:p>
        </p:txBody>
      </p:sp>
      <p:sp>
        <p:nvSpPr>
          <p:cNvPr id="6" name="TextBox 5"/>
          <p:cNvSpPr txBox="1"/>
          <p:nvPr/>
        </p:nvSpPr>
        <p:spPr>
          <a:xfrm>
            <a:off x="6240780" y="1874519"/>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НИГДЕ НЕ БУДЕТ ВИДНО</a:t>
            </a:r>
          </a:p>
        </p:txBody>
      </p:sp>
      <p:sp>
        <p:nvSpPr>
          <p:cNvPr id="7" name="Rounded Rectangle 6"/>
          <p:cNvSpPr/>
          <p:nvPr/>
        </p:nvSpPr>
        <p:spPr>
          <a:xfrm>
            <a:off x="722376" y="2276856"/>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276856"/>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поля формы: имя и email, оба обязательные</a:t>
            </a:r>
          </a:p>
        </p:txBody>
      </p:sp>
      <p:sp>
        <p:nvSpPr>
          <p:cNvPr id="9" name="Rounded Rectangle 8"/>
          <p:cNvSpPr/>
          <p:nvPr/>
        </p:nvSpPr>
        <p:spPr>
          <a:xfrm>
            <a:off x="6240780" y="2276856"/>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276856"/>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что считается «готово»</a:t>
            </a:r>
          </a:p>
        </p:txBody>
      </p:sp>
      <p:sp>
        <p:nvSpPr>
          <p:cNvPr id="11" name="Rounded Rectangle 10"/>
          <p:cNvSpPr/>
          <p:nvPr/>
        </p:nvSpPr>
        <p:spPr>
          <a:xfrm>
            <a:off x="722376" y="3238682"/>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38682"/>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собирается — сборка в статику</a:t>
            </a:r>
          </a:p>
        </p:txBody>
      </p:sp>
      <p:sp>
        <p:nvSpPr>
          <p:cNvPr id="13" name="Rounded Rectangle 12"/>
          <p:cNvSpPr/>
          <p:nvPr/>
        </p:nvSpPr>
        <p:spPr>
          <a:xfrm>
            <a:off x="6240780" y="3238682"/>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38682"/>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чего агент не делает сам — деплой без явного запроса</a:t>
            </a:r>
          </a:p>
        </p:txBody>
      </p:sp>
      <p:sp>
        <p:nvSpPr>
          <p:cNvPr id="15" name="Rounded Rectangle 14"/>
          <p:cNvSpPr/>
          <p:nvPr/>
        </p:nvSpPr>
        <p:spPr>
          <a:xfrm>
            <a:off x="722376" y="4200509"/>
            <a:ext cx="5134356" cy="844052"/>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200509"/>
            <a:ext cx="4878324" cy="844052"/>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чем проверяется — тест: форма не отправляется с пустыми полями</a:t>
            </a:r>
          </a:p>
        </p:txBody>
      </p:sp>
      <p:sp>
        <p:nvSpPr>
          <p:cNvPr id="17" name="Rounded Rectangle 16"/>
          <p:cNvSpPr/>
          <p:nvPr/>
        </p:nvSpPr>
        <p:spPr>
          <a:xfrm>
            <a:off x="6240780" y="4200509"/>
            <a:ext cx="5134356" cy="844052"/>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8796" y="4200509"/>
            <a:ext cx="4878324" cy="844052"/>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как убедиться руками, что заявка реально доставлена</a:t>
            </a:r>
          </a:p>
        </p:txBody>
      </p:sp>
      <p:sp>
        <p:nvSpPr>
          <p:cNvPr id="19" name="TextBox 18"/>
          <p:cNvSpPr txBox="1"/>
          <p:nvPr/>
        </p:nvSpPr>
        <p:spPr>
          <a:xfrm>
            <a:off x="502920" y="5623560"/>
            <a:ext cx="11183112" cy="365760"/>
          </a:xfrm>
          <a:prstGeom prst="rect">
            <a:avLst/>
          </a:prstGeom>
          <a:noFill/>
        </p:spPr>
        <p:txBody>
          <a:bodyPr wrap="square" lIns="0" rIns="0" tIns="0" bIns="0" anchor="t">
            <a:spAutoFit/>
          </a:bodyPr>
          <a:lstStyle/>
          <a:p>
            <a:pPr algn="ctr">
              <a:lnSpc>
                <a:spcPct val="115000"/>
              </a:lnSpc>
            </a:pPr>
            <a:r>
              <a:rPr sz="2200" b="1" i="0">
                <a:solidFill>
                  <a:srgbClr val="8A6200"/>
                </a:solidFill>
                <a:latin typeface="Arial"/>
              </a:rPr>
              <a:t>3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Репозиторий буквально пуст, а агент не задал ни одного уточняющего вопроса — и то, чего он не знал, решил за вас молча</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4000"/>
              </a:lnSpc>
            </a:pPr>
            <a:r>
              <a:rPr sz="110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a:t>
            </a:r>
          </a:p>
        </p:txBody>
      </p:sp>
      <p:sp>
        <p:nvSpPr>
          <p:cNvPr id="9" name="Rounded Rectangle 8"/>
          <p:cNvSpPr/>
          <p:nvPr/>
        </p:nvSpPr>
        <p:spPr>
          <a:xfrm>
            <a:off x="502920" y="3401568"/>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722375"/>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a:t>
            </a:r>
          </a:p>
        </p:txBody>
      </p:sp>
      <p:sp>
        <p:nvSpPr>
          <p:cNvPr id="11" name="Rounded Rectangle 10"/>
          <p:cNvSpPr/>
          <p:nvPr/>
        </p:nvSpPr>
        <p:spPr>
          <a:xfrm>
            <a:off x="502920" y="4471416"/>
            <a:ext cx="5349240"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672583"/>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создал</a:t>
            </a:r>
          </a:p>
        </p:txBody>
      </p:sp>
      <p:sp>
        <p:nvSpPr>
          <p:cNvPr id="13" name="TextBox 12"/>
          <p:cNvSpPr txBox="1"/>
          <p:nvPr/>
        </p:nvSpPr>
        <p:spPr>
          <a:xfrm>
            <a:off x="704088" y="4983479"/>
            <a:ext cx="4946903" cy="11155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471416"/>
            <a:ext cx="5349240" cy="1828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672583"/>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4983479"/>
            <a:ext cx="4946903" cy="11155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ПЕРВЫЙ ВОПРОС КЛАССУ</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Первый блок конфигурации выбирают из восьми вариантов на экране — и «ничего» среди них не менее весомый вариант, чем остальные семь</a:t>
            </a:r>
          </a:p>
        </p:txBody>
      </p:sp>
      <p:sp>
        <p:nvSpPr>
          <p:cNvPr id="4" name="Rounded Rectangle 3"/>
          <p:cNvSpPr/>
          <p:nvPr/>
        </p:nvSpPr>
        <p:spPr>
          <a:xfrm>
            <a:off x="502920" y="1691640"/>
            <a:ext cx="11183112" cy="14173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12710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репозиторий, который агент только что собрал, и вам с этим же агентом доделывать этот сайт дальше, неделями. Выберите, какой блок конфигурации вы добавите первым — из карточек ниже — так, чтобы он закрывал реальную боль, а не запас на будущее.»</a:t>
            </a:r>
          </a:p>
        </p:txBody>
      </p:sp>
      <p:sp>
        <p:nvSpPr>
          <p:cNvPr id="6" name="Rounded Rectangle 5"/>
          <p:cNvSpPr/>
          <p:nvPr/>
        </p:nvSpPr>
        <p:spPr>
          <a:xfrm>
            <a:off x="502920"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файл
инструкций</a:t>
            </a:r>
          </a:p>
        </p:txBody>
      </p:sp>
      <p:sp>
        <p:nvSpPr>
          <p:cNvPr id="8" name="Rounded Rectangle 7"/>
          <p:cNvSpPr/>
          <p:nvPr/>
        </p:nvSpPr>
        <p:spPr>
          <a:xfrm>
            <a:off x="1919097"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64816"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память</a:t>
            </a:r>
          </a:p>
        </p:txBody>
      </p:sp>
      <p:sp>
        <p:nvSpPr>
          <p:cNvPr id="10" name="Rounded Rectangle 9"/>
          <p:cNvSpPr/>
          <p:nvPr/>
        </p:nvSpPr>
        <p:spPr>
          <a:xfrm>
            <a:off x="3335274"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0994"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хук</a:t>
            </a:r>
          </a:p>
        </p:txBody>
      </p:sp>
      <p:sp>
        <p:nvSpPr>
          <p:cNvPr id="12" name="Rounded Rectangle 11"/>
          <p:cNvSpPr/>
          <p:nvPr/>
        </p:nvSpPr>
        <p:spPr>
          <a:xfrm>
            <a:off x="4751451"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7171"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скилл</a:t>
            </a:r>
          </a:p>
        </p:txBody>
      </p:sp>
      <p:sp>
        <p:nvSpPr>
          <p:cNvPr id="14" name="Rounded Rectangle 13"/>
          <p:cNvSpPr/>
          <p:nvPr/>
        </p:nvSpPr>
        <p:spPr>
          <a:xfrm>
            <a:off x="6167628"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3348"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MCP-
доступ</a:t>
            </a:r>
          </a:p>
        </p:txBody>
      </p:sp>
      <p:sp>
        <p:nvSpPr>
          <p:cNvPr id="16" name="Rounded Rectangle 15"/>
          <p:cNvSpPr/>
          <p:nvPr/>
        </p:nvSpPr>
        <p:spPr>
          <a:xfrm>
            <a:off x="7583804"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9525"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субагент</a:t>
            </a:r>
          </a:p>
        </p:txBody>
      </p:sp>
      <p:sp>
        <p:nvSpPr>
          <p:cNvPr id="18" name="Rounded Rectangle 17"/>
          <p:cNvSpPr/>
          <p:nvPr/>
        </p:nvSpPr>
        <p:spPr>
          <a:xfrm>
            <a:off x="8999982"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45702"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процесс
проверки</a:t>
            </a:r>
          </a:p>
        </p:txBody>
      </p:sp>
      <p:sp>
        <p:nvSpPr>
          <p:cNvPr id="20" name="Rounded Rectangle 19"/>
          <p:cNvSpPr/>
          <p:nvPr/>
        </p:nvSpPr>
        <p:spPr>
          <a:xfrm>
            <a:off x="10416159" y="3383280"/>
            <a:ext cx="1269873" cy="1417320"/>
          </a:xfrm>
          <a:prstGeom prst="roundRect">
            <a:avLst>
              <a:gd name="adj" fmla="val 24002"/>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61879" y="3383280"/>
            <a:ext cx="1178432" cy="14173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ничего</a:t>
            </a:r>
          </a:p>
        </p:txBody>
      </p:sp>
      <p:sp>
        <p:nvSpPr>
          <p:cNvPr id="22" name="TextBox 21"/>
          <p:cNvSpPr txBox="1"/>
          <p:nvPr/>
        </p:nvSpPr>
        <p:spPr>
          <a:xfrm>
            <a:off x="502920" y="5074920"/>
            <a:ext cx="11183112"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ПЕРВОГО ВОПРОСА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Бремя доказательства лежит на том, кто усложняет, а не на том, кто остаётся внизу</a:t>
            </a:r>
          </a:p>
        </p:txBody>
      </p:sp>
      <p:sp>
        <p:nvSpPr>
          <p:cNvPr id="4" name="TextBox 3"/>
          <p:cNvSpPr txBox="1"/>
          <p:nvPr/>
        </p:nvSpPr>
        <p:spPr>
          <a:xfrm>
            <a:off x="502920" y="1600200"/>
            <a:ext cx="11183112" cy="292608"/>
          </a:xfrm>
          <a:prstGeom prst="rect">
            <a:avLst/>
          </a:prstGeom>
          <a:noFill/>
        </p:spPr>
        <p:txBody>
          <a:bodyPr wrap="square" lIns="0" rIns="0" tIns="0" bIns="0" anchor="t">
            <a:spAutoFit/>
          </a:bodyPr>
          <a:lstStyle/>
          <a:p>
            <a:pPr algn="l">
              <a:lnSpc>
                <a:spcPct val="115000"/>
              </a:lnSpc>
            </a:pPr>
            <a:r>
              <a:rPr sz="1150" b="0" i="1">
                <a:solidFill>
                  <a:srgbClr val="6B7685"/>
                </a:solidFill>
                <a:latin typeface="Arial"/>
              </a:rPr>
              <a:t>вопрос для контекста: «Какой блок конфигурации добавить первым?»</a:t>
            </a:r>
          </a:p>
        </p:txBody>
      </p:sp>
      <p:sp>
        <p:nvSpPr>
          <p:cNvPr id="5" name="Rounded Rectangle 4"/>
          <p:cNvSpPr/>
          <p:nvPr/>
        </p:nvSpPr>
        <p:spPr>
          <a:xfrm>
            <a:off x="502920" y="1984248"/>
            <a:ext cx="11183112"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67128"/>
            <a:ext cx="2739359"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Прозвучавший вариант</a:t>
            </a:r>
          </a:p>
        </p:txBody>
      </p:sp>
      <p:sp>
        <p:nvSpPr>
          <p:cNvPr id="7" name="TextBox 6"/>
          <p:cNvSpPr txBox="1"/>
          <p:nvPr/>
        </p:nvSpPr>
        <p:spPr>
          <a:xfrm>
            <a:off x="3498311" y="2167128"/>
            <a:ext cx="2955706"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Где это работает</a:t>
            </a:r>
          </a:p>
        </p:txBody>
      </p:sp>
      <p:sp>
        <p:nvSpPr>
          <p:cNvPr id="8" name="TextBox 7"/>
          <p:cNvSpPr txBox="1"/>
          <p:nvPr/>
        </p:nvSpPr>
        <p:spPr>
          <a:xfrm>
            <a:off x="6527170" y="2167128"/>
            <a:ext cx="4902829"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Почему здесь ещё рано — и что вместо</a:t>
            </a:r>
          </a:p>
        </p:txBody>
      </p:sp>
      <p:sp>
        <p:nvSpPr>
          <p:cNvPr id="9" name="TextBox 8"/>
          <p:cNvSpPr txBox="1"/>
          <p:nvPr/>
        </p:nvSpPr>
        <p:spPr>
          <a:xfrm>
            <a:off x="685800" y="2551176"/>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«Файл инструкций — так делают в хороших проектах»</a:t>
            </a:r>
          </a:p>
        </p:txBody>
      </p:sp>
      <p:sp>
        <p:nvSpPr>
          <p:cNvPr id="10" name="TextBox 9"/>
          <p:cNvSpPr txBox="1"/>
          <p:nvPr/>
        </p:nvSpPr>
        <p:spPr>
          <a:xfrm>
            <a:off x="3498311" y="2551176"/>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есть накопленное знание, которого нет в коде</a:t>
            </a:r>
          </a:p>
        </p:txBody>
      </p:sp>
      <p:sp>
        <p:nvSpPr>
          <p:cNvPr id="11" name="TextBox 10"/>
          <p:cNvSpPr txBox="1"/>
          <p:nvPr/>
        </p:nvSpPr>
        <p:spPr>
          <a:xfrm>
            <a:off x="6527170" y="2551176"/>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«Так делают» — не триггер, а инерция. Вместо: дождаться сигнала. Через пятнадцать минут этот ответ станет верным — но потому, что сработает конкретный сигнал</a:t>
            </a:r>
          </a:p>
        </p:txBody>
      </p:sp>
      <p:cxnSp>
        <p:nvCxnSpPr>
          <p:cNvPr id="12" name="Connector 11"/>
          <p:cNvCxnSpPr/>
          <p:nvPr/>
        </p:nvCxnSpPr>
        <p:spPr>
          <a:xfrm>
            <a:off x="685800" y="3300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00984"/>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«Хук — поставлю защиту заранее, на будущее»</a:t>
            </a:r>
          </a:p>
        </p:txBody>
      </p:sp>
      <p:sp>
        <p:nvSpPr>
          <p:cNvPr id="14" name="TextBox 13"/>
          <p:cNvSpPr txBox="1"/>
          <p:nvPr/>
        </p:nvSpPr>
        <p:spPr>
          <a:xfrm>
            <a:off x="3498311" y="3300984"/>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риск конкретной команды уже стал реальным</a:t>
            </a:r>
          </a:p>
        </p:txBody>
      </p:sp>
      <p:sp>
        <p:nvSpPr>
          <p:cNvPr id="15" name="TextBox 14"/>
          <p:cNvSpPr txBox="1"/>
          <p:nvPr/>
        </p:nvSpPr>
        <p:spPr>
          <a:xfrm>
            <a:off x="6527170" y="3300984"/>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Вы ещё не знаете, какие команды в этом проекте рискованны: защищаете гипотезу, а не факт. Вместо: назвать команду и инцидент, от которого защищаетесь</a:t>
            </a:r>
          </a:p>
        </p:txBody>
      </p:sp>
      <p:cxnSp>
        <p:nvCxnSpPr>
          <p:cNvPr id="16" name="Connector 15"/>
          <p:cNvCxnSpPr/>
          <p:nvPr/>
        </p:nvCxnSpPr>
        <p:spPr>
          <a:xfrm>
            <a:off x="685800" y="40507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50791"/>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«MCP — подключу к трекеру задач, пригодится»</a:t>
            </a:r>
          </a:p>
        </p:txBody>
      </p:sp>
      <p:sp>
        <p:nvSpPr>
          <p:cNvPr id="18" name="TextBox 17"/>
          <p:cNvSpPr txBox="1"/>
          <p:nvPr/>
        </p:nvSpPr>
        <p:spPr>
          <a:xfrm>
            <a:off x="3498311" y="4050791"/>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доступ наружу нужен повторно и из нескольких сессий</a:t>
            </a:r>
          </a:p>
        </p:txBody>
      </p:sp>
      <p:sp>
        <p:nvSpPr>
          <p:cNvPr id="19" name="TextBox 18"/>
          <p:cNvSpPr txBox="1"/>
          <p:nvPr/>
        </p:nvSpPr>
        <p:spPr>
          <a:xfrm>
            <a:off x="6527170" y="4050791"/>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Самый дорогой из семи блоков — по контексту и по поверхности атаки. Вместо: обычная команда в терминале, пока не доказано, что её не хватает</a:t>
            </a:r>
          </a:p>
        </p:txBody>
      </p:sp>
      <p:cxnSp>
        <p:nvCxnSpPr>
          <p:cNvPr id="20" name="Connector 19"/>
          <p:cNvCxnSpPr/>
          <p:nvPr/>
        </p:nvCxnSpPr>
        <p:spPr>
          <a:xfrm>
            <a:off x="685800" y="48006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4800600"/>
            <a:ext cx="11073384" cy="74980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800600"/>
            <a:ext cx="272107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a:t>
            </a:r>
          </a:p>
        </p:txBody>
      </p:sp>
      <p:sp>
        <p:nvSpPr>
          <p:cNvPr id="23" name="TextBox 22"/>
          <p:cNvSpPr txBox="1"/>
          <p:nvPr/>
        </p:nvSpPr>
        <p:spPr>
          <a:xfrm>
            <a:off x="3498311" y="4800600"/>
            <a:ext cx="2937418"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нулевой ступени — всегда</a:t>
            </a:r>
          </a:p>
        </p:txBody>
      </p:sp>
      <p:sp>
        <p:nvSpPr>
          <p:cNvPr id="24" name="TextBox 23"/>
          <p:cNvSpPr txBox="1"/>
          <p:nvPr/>
        </p:nvSpPr>
        <p:spPr>
          <a:xfrm>
            <a:off x="6527170" y="4800600"/>
            <a:ext cx="4884541" cy="749807"/>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рано: это и есть ответ. Перестаёт быть верным ровно тогда, когда появится первое реальное расхождение между тем, что знаете вы, и тем, что знает агент</a:t>
            </a:r>
          </a:p>
        </p:txBody>
      </p:sp>
      <p:sp>
        <p:nvSpPr>
          <p:cNvPr id="25" name="Rounded Rectangle 24"/>
          <p:cNvSpPr/>
          <p:nvPr/>
        </p:nvSpPr>
        <p:spPr>
          <a:xfrm>
            <a:off x="502920" y="5897879"/>
            <a:ext cx="11183112" cy="5943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5971031"/>
            <a:ext cx="10780776" cy="448056"/>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бремя доказательства лежит на том, кто усложняет, а не на том, кто остаётся внизу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Из пяти слотов экипировки агента сегодня подробно разбираются два — инструкции-правила и память; остальные три и оба практических слоя — дальше, Семинаром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TextBox 24"/>
          <p:cNvSpPr txBox="1"/>
          <p:nvPr/>
        </p:nvSpPr>
        <p:spPr>
          <a:xfrm>
            <a:off x="502920" y="395935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Сегодня подробно — два. Дальше, Семинар 5: скиллы, субагенты, доступ наружу + хук, процесс.</a:t>
            </a:r>
          </a:p>
        </p:txBody>
      </p:sp>
      <p:sp>
        <p:nvSpPr>
          <p:cNvPr id="26" name="Rounded Rectangle 25"/>
          <p:cNvSpPr/>
          <p:nvPr/>
        </p:nvSpPr>
        <p:spPr>
          <a:xfrm>
            <a:off x="502920" y="4507992"/>
            <a:ext cx="11183112" cy="18928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581144"/>
            <a:ext cx="10780776" cy="1746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50292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50292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50292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50292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00200"/>
            <a:ext cx="9601200" cy="1005840"/>
          </a:xfrm>
          <a:prstGeom prst="rect">
            <a:avLst/>
          </a:prstGeom>
          <a:noFill/>
        </p:spPr>
        <p:txBody>
          <a:bodyPr wrap="square" lIns="0" rIns="0" tIns="0" bIns="0" anchor="t">
            <a:spAutoFit/>
          </a:bodyPr>
          <a:lstStyle/>
          <a:p>
            <a:pPr algn="l">
              <a:lnSpc>
                <a:spcPct val="105000"/>
              </a:lnSpc>
            </a:pPr>
            <a:r>
              <a:rPr sz="3800" b="1" i="0">
                <a:solidFill>
                  <a:srgbClr val="FFFFFF"/>
                </a:solidFill>
                <a:latin typeface="Arial"/>
              </a:rPr>
              <a:t>Раздел 1 · файл инструкций</a:t>
            </a:r>
          </a:p>
        </p:txBody>
      </p:sp>
      <p:sp>
        <p:nvSpPr>
          <p:cNvPr id="10" name="Rounded Rectangle 9"/>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1.1 · роль агента и репозиторий</a:t>
            </a:r>
          </a:p>
        </p:txBody>
      </p:sp>
      <p:sp>
        <p:nvSpPr>
          <p:cNvPr id="12" name="Rounded Rectangle 11"/>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1.2 · базовые процессы: гейты и цикл улучшения</a:t>
            </a:r>
          </a:p>
        </p:txBody>
      </p:sp>
      <p:sp>
        <p:nvSpPr>
          <p:cNvPr id="14" name="Rounded Rectangle 13"/>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1.3 · вложенные файлы по подпапкам</a:t>
            </a:r>
          </a:p>
        </p:txBody>
      </p:sp>
      <p:sp>
        <p:nvSpPr>
          <p:cNvPr id="16" name="Rounded Rectangle 15"/>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ОДИН ФАЙЛ, ТРИ РАЗВИЛКИ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633727"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6415"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872"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515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Кейс 1.1 · роль агента и репозиторий</a:t>
            </a:r>
          </a:p>
        </p:txBody>
      </p:sp>
      <p:sp>
        <p:nvSpPr>
          <p:cNvPr id="9" name="TextBox 8"/>
          <p:cNvSpPr txBox="1"/>
          <p:nvPr/>
        </p:nvSpPr>
        <p:spPr>
          <a:xfrm>
            <a:off x="868680" y="3127248"/>
            <a:ext cx="8778240" cy="82296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Что писать в пустой файл, пока не случилось ни одной реальной сессии</a:t>
            </a:r>
          </a:p>
        </p:txBody>
      </p:sp>
      <p:sp>
        <p:nvSpPr>
          <p:cNvPr id="10" name="Rounded Rectangle 9"/>
          <p:cNvSpPr/>
          <p:nvPr/>
        </p:nvSpPr>
        <p:spPr>
          <a:xfrm>
            <a:off x="868680" y="3977639"/>
            <a:ext cx="5486400" cy="54864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77639"/>
            <a:ext cx="4974336" cy="54864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1 КОНТРОЛИРУЕМЫЙ ЭКСПЕРИМЕНТ · 1 ЧЕСТНЫЙ ПРОБЕЛ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РОЛЬ И РЕПОЗИТОРИЙ</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Первый инстинкт — открыть пустой файл и начать с описания структуры репозитория; привычка сильная, но это ровно та фраза «так делают в хороших проектах», которую занятие проверяет впервые</a:t>
            </a:r>
          </a:p>
        </p:txBody>
      </p:sp>
      <p:sp>
        <p:nvSpPr>
          <p:cNvPr id="4" name="Rounded Rectangle 3"/>
          <p:cNvSpPr/>
          <p:nvPr/>
        </p:nvSpPr>
        <p:spPr>
          <a:xfrm>
            <a:off x="502920" y="2176272"/>
            <a:ext cx="5349240" cy="1920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на входе в кейс</a:t>
            </a:r>
          </a:p>
        </p:txBody>
      </p:sp>
      <p:sp>
        <p:nvSpPr>
          <p:cNvPr id="6" name="TextBox 5"/>
          <p:cNvSpPr txBox="1"/>
          <p:nvPr/>
        </p:nvSpPr>
        <p:spPr>
          <a:xfrm>
            <a:off x="704088" y="2688336"/>
            <a:ext cx="4946903" cy="1207008"/>
          </a:xfrm>
          <a:prstGeom prst="rect">
            <a:avLst/>
          </a:prstGeom>
          <a:noFill/>
        </p:spPr>
        <p:txBody>
          <a:bodyPr wrap="square" lIns="0" rIns="0" tIns="0" bIns="0" anchor="t">
            <a:spAutoFit/>
          </a:bodyPr>
          <a:lstStyle/>
          <a:p>
            <a:pPr algn="l">
              <a:lnSpc>
                <a:spcPct val="132000"/>
              </a:lnSpc>
              <a:spcAft>
                <a:spcPts val="200"/>
              </a:spcAft>
            </a:pPr>
            <a:r>
              <a:rPr sz="1250" b="0" i="0">
                <a:solidFill>
                  <a:srgbClr val="E3E9F2"/>
                </a:solidFill>
                <a:latin typeface="Consolas"/>
              </a:rPr>
              <a:t>index.html</a:t>
            </a:r>
          </a:p>
          <a:p>
            <a:pPr algn="l">
              <a:lnSpc>
                <a:spcPct val="132000"/>
              </a:lnSpc>
              <a:spcAft>
                <a:spcPts val="200"/>
              </a:spcAft>
            </a:pPr>
            <a:r>
              <a:rPr sz="1250" b="0" i="0">
                <a:solidFill>
                  <a:srgbClr val="E3E9F2"/>
                </a:solidFill>
                <a:latin typeface="Consolas"/>
              </a:rPr>
              <a:t>package.json</a:t>
            </a:r>
          </a:p>
          <a:p>
            <a:pPr algn="l">
              <a:lnSpc>
                <a:spcPct val="132000"/>
              </a:lnSpc>
              <a:spcAft>
                <a:spcPts val="200"/>
              </a:spcAft>
            </a:pPr>
            <a:r>
              <a:rPr sz="1250" b="0" i="0">
                <a:solidFill>
                  <a:srgbClr val="E3E9F2"/>
                </a:solidFill>
                <a:latin typeface="Consolas"/>
              </a:rPr>
              <a:t>src/main.js</a:t>
            </a:r>
          </a:p>
          <a:p>
            <a:pPr algn="l">
              <a:lnSpc>
                <a:spcPct val="132000"/>
              </a:lnSpc>
              <a:spcAft>
                <a:spcPts val="200"/>
              </a:spcAft>
            </a:pPr>
            <a:r>
              <a:rPr sz="1250" b="0" i="0">
                <a:solidFill>
                  <a:srgbClr val="E3E9F2"/>
                </a:solidFill>
                <a:latin typeface="Consolas"/>
              </a:rPr>
              <a:t>tests/form.spec.ts</a:t>
            </a:r>
          </a:p>
        </p:txBody>
      </p:sp>
      <p:sp>
        <p:nvSpPr>
          <p:cNvPr id="7" name="Rounded Rectangle 6"/>
          <p:cNvSpPr/>
          <p:nvPr/>
        </p:nvSpPr>
        <p:spPr>
          <a:xfrm>
            <a:off x="6153912" y="2176272"/>
            <a:ext cx="5349240"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04288"/>
            <a:ext cx="4983479" cy="1664208"/>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Разработчик открывает пустой CLAUDE.md и по привычке тянется первым делом написать «Repository overview» — из чего собран сайт, где лежит форма, какая структура папок.</a:t>
            </a:r>
          </a:p>
        </p:txBody>
      </p:sp>
      <p:sp>
        <p:nvSpPr>
          <p:cNvPr id="9" name="Rounded Rectangle 8"/>
          <p:cNvSpPr/>
          <p:nvPr/>
        </p:nvSpPr>
        <p:spPr>
          <a:xfrm>
            <a:off x="502920" y="4325112"/>
            <a:ext cx="11183112" cy="14173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398264"/>
            <a:ext cx="10780776" cy="12710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 одном из прошлых проектов раздел «Overview» пережил рефакторинг и два месяца спустя продолжал описывать структуру, которой больше не существовало — агент один раз отредактировал не тот файл, поверив описанию, а не факту.»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Repository overview измеримо не помогает и стоит контекста — кроме единственного подтверждённого исключения: репозитория без другой документации вообще</a:t>
            </a:r>
          </a:p>
        </p:txBody>
      </p:sp>
      <p:sp>
        <p:nvSpPr>
          <p:cNvPr id="4" name="Rounded Rectangle 3"/>
          <p:cNvSpPr/>
          <p:nvPr/>
        </p:nvSpPr>
        <p:spPr>
          <a:xfrm>
            <a:off x="502920" y="199339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2090318"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Источник</a:t>
            </a:r>
          </a:p>
        </p:txBody>
      </p:sp>
      <p:sp>
        <p:nvSpPr>
          <p:cNvPr id="6" name="TextBox 5"/>
          <p:cNvSpPr txBox="1"/>
          <p:nvPr/>
        </p:nvSpPr>
        <p:spPr>
          <a:xfrm>
            <a:off x="2849270" y="217627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Тезис</a:t>
            </a:r>
          </a:p>
        </p:txBody>
      </p:sp>
      <p:sp>
        <p:nvSpPr>
          <p:cNvPr id="7" name="TextBox 6"/>
          <p:cNvSpPr txBox="1"/>
          <p:nvPr/>
        </p:nvSpPr>
        <p:spPr>
          <a:xfrm>
            <a:off x="7392558" y="2176272"/>
            <a:ext cx="4037441"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Сила доказательства</a:t>
            </a:r>
          </a:p>
        </p:txBody>
      </p:sp>
      <p:sp>
        <p:nvSpPr>
          <p:cNvPr id="8" name="Rectangle 7"/>
          <p:cNvSpPr/>
          <p:nvPr/>
        </p:nvSpPr>
        <p:spPr>
          <a:xfrm>
            <a:off x="557784" y="2560320"/>
            <a:ext cx="11073384" cy="624077"/>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2072030"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Gloaguen et al., arXiv:2602.11988</a:t>
            </a:r>
          </a:p>
        </p:txBody>
      </p:sp>
      <p:sp>
        <p:nvSpPr>
          <p:cNvPr id="10" name="TextBox 9"/>
          <p:cNvSpPr txBox="1"/>
          <p:nvPr/>
        </p:nvSpPr>
        <p:spPr>
          <a:xfrm>
            <a:off x="2849270" y="2560320"/>
            <a:ext cx="4451847"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«Repository overviews… are not helpful» — «шагов до первого релевантного файла» не падает; cost +20–23% без прироста success</a:t>
            </a:r>
          </a:p>
        </p:txBody>
      </p:sp>
      <p:sp>
        <p:nvSpPr>
          <p:cNvPr id="11" name="TextBox 10"/>
          <p:cNvSpPr txBox="1"/>
          <p:nvPr/>
        </p:nvSpPr>
        <p:spPr>
          <a:xfrm>
            <a:off x="7392558" y="2560320"/>
            <a:ext cx="4019153"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Сильное: контролируемый эксперимент с честным третьим плечом «файла нет вообще»</a:t>
            </a:r>
          </a:p>
        </p:txBody>
      </p:sp>
      <p:cxnSp>
        <p:nvCxnSpPr>
          <p:cNvPr id="12" name="Connector 11"/>
          <p:cNvCxnSpPr/>
          <p:nvPr/>
        </p:nvCxnSpPr>
        <p:spPr>
          <a:xfrm>
            <a:off x="685800" y="31843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84398"/>
            <a:ext cx="2072030"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Та же работа, абляция</a:t>
            </a:r>
          </a:p>
        </p:txBody>
      </p:sp>
      <p:sp>
        <p:nvSpPr>
          <p:cNvPr id="14" name="TextBox 13"/>
          <p:cNvSpPr txBox="1"/>
          <p:nvPr/>
        </p:nvSpPr>
        <p:spPr>
          <a:xfrm>
            <a:off x="2849270" y="3184398"/>
            <a:ext cx="4451847"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Удалили существующую документацию (README) — LLM-сгенерированный overview стал полезен (+2,7%)</a:t>
            </a:r>
          </a:p>
        </p:txBody>
      </p:sp>
      <p:sp>
        <p:nvSpPr>
          <p:cNvPr id="15" name="TextBox 14"/>
          <p:cNvSpPr txBox="1"/>
          <p:nvPr/>
        </p:nvSpPr>
        <p:spPr>
          <a:xfrm>
            <a:off x="7392558" y="3184398"/>
            <a:ext cx="4019153"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Подтверждает механизм: overview вреден потому, что дублирует то, что уже доступно иначе</a:t>
            </a:r>
          </a:p>
        </p:txBody>
      </p:sp>
      <p:cxnSp>
        <p:nvCxnSpPr>
          <p:cNvPr id="16" name="Connector 15"/>
          <p:cNvCxnSpPr/>
          <p:nvPr/>
        </p:nvCxnSpPr>
        <p:spPr>
          <a:xfrm>
            <a:off x="685800" y="38084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08476"/>
            <a:ext cx="2072030"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Lulla et al., arXiv:2601.20404</a:t>
            </a:r>
          </a:p>
        </p:txBody>
      </p:sp>
      <p:sp>
        <p:nvSpPr>
          <p:cNvPr id="18" name="TextBox 17"/>
          <p:cNvSpPr txBox="1"/>
          <p:nvPr/>
        </p:nvSpPr>
        <p:spPr>
          <a:xfrm>
            <a:off x="2849270" y="3808476"/>
            <a:ext cx="4451847"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AGENTS.md с фокусом на недискаверабельные конвенции: −28,6% runtime, −16,6% tokens (124 PR)</a:t>
            </a:r>
          </a:p>
        </p:txBody>
      </p:sp>
      <p:sp>
        <p:nvSpPr>
          <p:cNvPr id="19" name="TextBox 18"/>
          <p:cNvSpPr txBox="1"/>
          <p:nvPr/>
        </p:nvSpPr>
        <p:spPr>
          <a:xfrm>
            <a:off x="7392558" y="3808476"/>
            <a:ext cx="4019153"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Умеренно-сильное «за» файл — но это НЕ про общее описание структуры</a:t>
            </a:r>
          </a:p>
        </p:txBody>
      </p:sp>
      <p:cxnSp>
        <p:nvCxnSpPr>
          <p:cNvPr id="20" name="Connector 19"/>
          <p:cNvCxnSpPr/>
          <p:nvPr/>
        </p:nvCxnSpPr>
        <p:spPr>
          <a:xfrm>
            <a:off x="685800" y="44325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432554"/>
            <a:ext cx="2072030"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Shepard &amp; Albrecht, arXiv:2606.20512</a:t>
            </a:r>
          </a:p>
        </p:txBody>
      </p:sp>
      <p:sp>
        <p:nvSpPr>
          <p:cNvPr id="22" name="TextBox 21"/>
          <p:cNvSpPr txBox="1"/>
          <p:nvPr/>
        </p:nvSpPr>
        <p:spPr>
          <a:xfrm>
            <a:off x="2849270" y="4432554"/>
            <a:ext cx="4451847"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Статичное written-once guidance (28,3% resolve) хуже динамически верифицированного (33,0%, p&lt;0,001)</a:t>
            </a:r>
          </a:p>
        </p:txBody>
      </p:sp>
      <p:sp>
        <p:nvSpPr>
          <p:cNvPr id="23" name="TextBox 22"/>
          <p:cNvSpPr txBox="1"/>
          <p:nvPr/>
        </p:nvSpPr>
        <p:spPr>
          <a:xfrm>
            <a:off x="7392558" y="4432554"/>
            <a:ext cx="4019153" cy="624077"/>
          </a:xfrm>
          <a:prstGeom prst="rect">
            <a:avLst/>
          </a:prstGeom>
          <a:noFill/>
        </p:spPr>
        <p:txBody>
          <a:bodyPr wrap="square" lIns="0" rIns="0" tIns="0" bIns="0" anchor="ctr">
            <a:spAutoFit/>
          </a:bodyPr>
          <a:lstStyle/>
          <a:p>
            <a:pPr algn="l">
              <a:lnSpc>
                <a:spcPct val="115000"/>
              </a:lnSpc>
            </a:pPr>
            <a:r>
              <a:rPr sz="969" b="0" i="0">
                <a:solidFill>
                  <a:srgbClr val="21295C"/>
                </a:solidFill>
                <a:latin typeface="Arial"/>
              </a:rPr>
              <a:t>Косвенное — подтверждает логику «непроверенное статично хуже»</a:t>
            </a:r>
          </a:p>
        </p:txBody>
      </p:sp>
      <p:sp>
        <p:nvSpPr>
          <p:cNvPr id="24" name="TextBox 23"/>
          <p:cNvSpPr txBox="1"/>
          <p:nvPr/>
        </p:nvSpPr>
        <p:spPr>
          <a:xfrm>
            <a:off x="502920" y="5367528"/>
            <a:ext cx="11183112" cy="365760"/>
          </a:xfrm>
          <a:prstGeom prst="rect">
            <a:avLst/>
          </a:prstGeom>
          <a:noFill/>
        </p:spPr>
        <p:txBody>
          <a:bodyPr wrap="square" lIns="0" rIns="0" tIns="0" bIns="0" anchor="t">
            <a:spAutoFit/>
          </a:bodyPr>
          <a:lstStyle/>
          <a:p>
            <a:pPr algn="ctr">
              <a:lnSpc>
                <a:spcPct val="120000"/>
              </a:lnSpc>
            </a:pPr>
            <a:r>
              <a:rPr sz="1080" b="0" i="1">
                <a:solidFill>
                  <a:srgbClr val="065A82"/>
                </a:solidFill>
                <a:latin typeface="Arial"/>
              </a:rPr>
              <a:t>это явление называют presence paradox — сам факт присутствия текста в контексте создаёт свою стоимость независимо от того, использует ли его агент (термин используется дальше без повторного объяснения)</a:t>
            </a:r>
          </a:p>
        </p:txBody>
      </p:sp>
      <p:sp>
        <p:nvSpPr>
          <p:cNvPr id="25" name="Rounded Rectangle 24"/>
          <p:cNvSpPr/>
          <p:nvPr/>
        </p:nvSpPr>
        <p:spPr>
          <a:xfrm>
            <a:off x="502920" y="5769864"/>
            <a:ext cx="11183112" cy="63093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5843016"/>
            <a:ext cx="10780776" cy="484631"/>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«Прямых экспериментов с намеренно устаревшим или неверным repository overview не найдено — это пробел в исследованиях, не установленный факт. Анекдот коллеги — правдоподобный, но не измеренный случай.»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Перед пустым CLAUDE.md выбор из пяти вариантов — и «пока ничего» среди них не менее весомый вариант, чем остальные четыре</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пустой CLAUDE.md для signup-landing. Выберите, что из перечисленного вы включите в файл прямо сейчас, до первой реальной сессии агента — из карточек ниже.»</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подробное описание</a:t>
            </a:r>
          </a:p>
          <a:p>
            <a:pPr algn="ctr">
              <a:lnSpc>
                <a:spcPct val="115000"/>
              </a:lnSpc>
              <a:spcAft>
                <a:spcPts val="0"/>
              </a:spcAft>
            </a:pPr>
            <a:r>
              <a:rPr sz="1250" b="1" i="0">
                <a:solidFill>
                  <a:srgbClr val="21295C"/>
                </a:solidFill>
                <a:latin typeface="Arial"/>
              </a:rPr>
              <a:t>структуры репозитория</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список технологий</a:t>
            </a:r>
          </a:p>
          <a:p>
            <a:pPr algn="ctr">
              <a:lnSpc>
                <a:spcPct val="115000"/>
              </a:lnSpc>
              <a:spcAft>
                <a:spcPts val="0"/>
              </a:spcAft>
            </a:pPr>
            <a:r>
              <a:rPr sz="1250" b="1" i="0">
                <a:solidFill>
                  <a:srgbClr val="21295C"/>
                </a:solidFill>
                <a:latin typeface="Arial"/>
              </a:rPr>
              <a:t>и зависимостей</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инструкцию, где лежит</a:t>
            </a:r>
          </a:p>
          <a:p>
            <a:pPr algn="ctr">
              <a:lnSpc>
                <a:spcPct val="115000"/>
              </a:lnSpc>
              <a:spcAft>
                <a:spcPts val="0"/>
              </a:spcAft>
            </a:pPr>
            <a:r>
              <a:rPr sz="1250" b="1" i="0">
                <a:solidFill>
                  <a:srgbClr val="21295C"/>
                </a:solidFill>
                <a:latin typeface="Arial"/>
              </a:rPr>
              <a:t>форма и как её найти</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неочевидную конвенцию,</a:t>
            </a:r>
          </a:p>
          <a:p>
            <a:pPr algn="ctr">
              <a:lnSpc>
                <a:spcPct val="115000"/>
              </a:lnSpc>
              <a:spcAft>
                <a:spcPts val="0"/>
              </a:spcAft>
            </a:pPr>
            <a:r>
              <a:rPr sz="1250" b="1" i="0">
                <a:solidFill>
                  <a:srgbClr val="21295C"/>
                </a:solidFill>
                <a:latin typeface="Arial"/>
              </a:rPr>
              <a:t>которую агент не угадает сам</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пока ничего — до</a:t>
            </a:r>
          </a:p>
          <a:p>
            <a:pPr algn="ctr">
              <a:lnSpc>
                <a:spcPct val="115000"/>
              </a:lnSpc>
              <a:spcAft>
                <a:spcPts val="0"/>
              </a:spcAft>
            </a:pPr>
            <a:r>
              <a:rPr sz="1250" b="1" i="0">
                <a:solidFill>
                  <a:srgbClr val="21295C"/>
                </a:solidFill>
                <a:latin typeface="Arial"/>
              </a:rPr>
              <a:t>первого реального сигнала</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Правильный ответ на этом шаге — не какой текст написать, а пока никакой: файл остаётся пустым, потому что триггер ещё не сработал</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«Что включить в файл прямо сейчас?»</a:t>
            </a:r>
          </a:p>
        </p:txBody>
      </p:sp>
      <p:sp>
        <p:nvSpPr>
          <p:cNvPr id="5" name="Rounded Rectangle 4"/>
          <p:cNvSpPr/>
          <p:nvPr/>
        </p:nvSpPr>
        <p:spPr>
          <a:xfrm>
            <a:off x="502920" y="2359152"/>
            <a:ext cx="11183112" cy="342900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54203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926080"/>
            <a:ext cx="2504724"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«Подробное описание структуры репозитория»</a:t>
            </a:r>
          </a:p>
        </p:txBody>
      </p:sp>
      <p:sp>
        <p:nvSpPr>
          <p:cNvPr id="10" name="TextBox 9"/>
          <p:cNvSpPr txBox="1"/>
          <p:nvPr/>
        </p:nvSpPr>
        <p:spPr>
          <a:xfrm>
            <a:off x="3281964" y="2926080"/>
            <a:ext cx="3153765"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Почти нигде для агента — разве что документация для новых людей в команде</a:t>
            </a:r>
          </a:p>
        </p:txBody>
      </p:sp>
      <p:sp>
        <p:nvSpPr>
          <p:cNvPr id="11" name="TextBox 10"/>
          <p:cNvSpPr txBox="1"/>
          <p:nvPr/>
        </p:nvSpPr>
        <p:spPr>
          <a:xfrm>
            <a:off x="6527170" y="2926080"/>
            <a:ext cx="4884541"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выведет структуру сам за секунды; описание устареет при первом рефакторинге. Эксперимент: +20–23% cost, без прироста success. Вместо: не писать</a:t>
            </a:r>
          </a:p>
        </p:txBody>
      </p:sp>
      <p:cxnSp>
        <p:nvCxnSpPr>
          <p:cNvPr id="12" name="Connector 11"/>
          <p:cNvCxnSpPr/>
          <p:nvPr/>
        </p:nvCxnSpPr>
        <p:spPr>
          <a:xfrm>
            <a:off x="685800" y="34619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461918"/>
            <a:ext cx="2504724"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«Список технологий и зависимостей»</a:t>
            </a:r>
          </a:p>
        </p:txBody>
      </p:sp>
      <p:sp>
        <p:nvSpPr>
          <p:cNvPr id="14" name="TextBox 13"/>
          <p:cNvSpPr txBox="1"/>
          <p:nvPr/>
        </p:nvSpPr>
        <p:spPr>
          <a:xfrm>
            <a:off x="3281964" y="3461918"/>
            <a:ext cx="3153765"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версии критичны и не видны из package.json (редко)</a:t>
            </a:r>
          </a:p>
        </p:txBody>
      </p:sp>
      <p:sp>
        <p:nvSpPr>
          <p:cNvPr id="15" name="TextBox 14"/>
          <p:cNvSpPr txBox="1"/>
          <p:nvPr/>
        </p:nvSpPr>
        <p:spPr>
          <a:xfrm>
            <a:off x="6527170" y="3461918"/>
            <a:ext cx="4884541"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 большинстве случаев тоже выводимо за секунды. Вместо: не писать, если версии видны в манифесте</a:t>
            </a:r>
          </a:p>
        </p:txBody>
      </p:sp>
      <p:cxnSp>
        <p:nvCxnSpPr>
          <p:cNvPr id="16" name="Connector 15"/>
          <p:cNvCxnSpPr/>
          <p:nvPr/>
        </p:nvCxnSpPr>
        <p:spPr>
          <a:xfrm>
            <a:off x="685800" y="39977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997756"/>
            <a:ext cx="2504724"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«Инструкция, где лежит форма и как её найти»</a:t>
            </a:r>
          </a:p>
        </p:txBody>
      </p:sp>
      <p:sp>
        <p:nvSpPr>
          <p:cNvPr id="18" name="TextBox 17"/>
          <p:cNvSpPr txBox="1"/>
          <p:nvPr/>
        </p:nvSpPr>
        <p:spPr>
          <a:xfrm>
            <a:off x="3281964" y="3997756"/>
            <a:ext cx="3153765"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Почти нигде на таком маленьком репозитории</a:t>
            </a:r>
          </a:p>
        </p:txBody>
      </p:sp>
      <p:sp>
        <p:nvSpPr>
          <p:cNvPr id="19" name="TextBox 18"/>
          <p:cNvSpPr txBox="1"/>
          <p:nvPr/>
        </p:nvSpPr>
        <p:spPr>
          <a:xfrm>
            <a:off x="6527170" y="3997756"/>
            <a:ext cx="4884541"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Четыре файла, вся структура на одном экране — находимость не проблема</a:t>
            </a:r>
          </a:p>
        </p:txBody>
      </p:sp>
      <p:cxnSp>
        <p:nvCxnSpPr>
          <p:cNvPr id="20" name="Connector 19"/>
          <p:cNvCxnSpPr/>
          <p:nvPr/>
        </p:nvCxnSpPr>
        <p:spPr>
          <a:xfrm>
            <a:off x="685800" y="45335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533595"/>
            <a:ext cx="2504724"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«Неочевидная конвенция, которую агент не угадает сам»</a:t>
            </a:r>
          </a:p>
        </p:txBody>
      </p:sp>
      <p:sp>
        <p:nvSpPr>
          <p:cNvPr id="22" name="TextBox 21"/>
          <p:cNvSpPr txBox="1"/>
          <p:nvPr/>
        </p:nvSpPr>
        <p:spPr>
          <a:xfrm>
            <a:off x="3281964" y="4533595"/>
            <a:ext cx="3153765"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Когда конвенция реально есть и реально невыводима</a:t>
            </a:r>
          </a:p>
        </p:txBody>
      </p:sp>
      <p:sp>
        <p:nvSpPr>
          <p:cNvPr id="23" name="TextBox 22"/>
          <p:cNvSpPr txBox="1"/>
          <p:nvPr/>
        </p:nvSpPr>
        <p:spPr>
          <a:xfrm>
            <a:off x="6527170" y="4533595"/>
            <a:ext cx="4884541"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этом шаге такой конвенции ещё нет — проект только начался. Появится — записать её, и только её</a:t>
            </a:r>
          </a:p>
        </p:txBody>
      </p:sp>
      <p:cxnSp>
        <p:nvCxnSpPr>
          <p:cNvPr id="24" name="Connector 23"/>
          <p:cNvCxnSpPr/>
          <p:nvPr/>
        </p:nvCxnSpPr>
        <p:spPr>
          <a:xfrm>
            <a:off x="685800" y="50694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5069433"/>
            <a:ext cx="11073384" cy="53583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69433"/>
            <a:ext cx="2504724"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ничего — до первого реального сигнала»</a:t>
            </a:r>
          </a:p>
        </p:txBody>
      </p:sp>
      <p:sp>
        <p:nvSpPr>
          <p:cNvPr id="27" name="TextBox 26"/>
          <p:cNvSpPr txBox="1"/>
          <p:nvPr/>
        </p:nvSpPr>
        <p:spPr>
          <a:xfrm>
            <a:off x="3281964" y="5069433"/>
            <a:ext cx="3153765"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Здесь и сейчас</a:t>
            </a:r>
          </a:p>
        </p:txBody>
      </p:sp>
      <p:sp>
        <p:nvSpPr>
          <p:cNvPr id="28" name="TextBox 27"/>
          <p:cNvSpPr txBox="1"/>
          <p:nvPr/>
        </p:nvSpPr>
        <p:spPr>
          <a:xfrm>
            <a:off x="6527170" y="5069433"/>
            <a:ext cx="4884541" cy="535838"/>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Перестаёт быть верным, когда появится конкретная невыводимая вещь — не раньше</a:t>
            </a:r>
          </a:p>
        </p:txBody>
      </p:sp>
      <p:sp>
        <p:nvSpPr>
          <p:cNvPr id="29" name="Rounded Rectangle 28"/>
          <p:cNvSpPr/>
          <p:nvPr/>
        </p:nvSpPr>
        <p:spPr>
          <a:xfrm>
            <a:off x="502920" y="5934456"/>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6007608"/>
            <a:ext cx="10780776" cy="813816"/>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Всё, что агент выведет из кода за секунды, в файл не идёт никогда — не «пока рано», а вообще. Общее описание роли/архитектуры оправданно только там, где нет вообще другой документации; у signup-landing она будет — значит, оснований нет.</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CLAUDE.md остаётся пустым — не из лени, а потому что нет сигнала; первый настоящий сигнал придёт через неделю</a:t>
            </a:r>
          </a:p>
        </p:txBody>
      </p:sp>
      <p:sp>
        <p:nvSpPr>
          <p:cNvPr id="4" name="Rounded Rectangle 3"/>
          <p:cNvSpPr/>
          <p:nvPr/>
        </p:nvSpPr>
        <p:spPr>
          <a:xfrm>
            <a:off x="502920" y="1810512"/>
            <a:ext cx="11183112" cy="2148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репозитория — без изменений</a:t>
            </a:r>
          </a:p>
        </p:txBody>
      </p:sp>
      <p:sp>
        <p:nvSpPr>
          <p:cNvPr id="6" name="TextBox 5"/>
          <p:cNvSpPr txBox="1"/>
          <p:nvPr/>
        </p:nvSpPr>
        <p:spPr>
          <a:xfrm>
            <a:off x="704088" y="2322576"/>
            <a:ext cx="10780776" cy="1435608"/>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index.html</a:t>
            </a:r>
          </a:p>
          <a:p>
            <a:pPr algn="l">
              <a:lnSpc>
                <a:spcPct val="132000"/>
              </a:lnSpc>
              <a:spcAft>
                <a:spcPts val="200"/>
              </a:spcAft>
            </a:pPr>
            <a:r>
              <a:rPr sz="1300" b="0" i="0">
                <a:solidFill>
                  <a:srgbClr val="E3E9F2"/>
                </a:solidFill>
                <a:latin typeface="Consolas"/>
              </a:rPr>
              <a:t>package.json</a:t>
            </a:r>
          </a:p>
          <a:p>
            <a:pPr algn="l">
              <a:lnSpc>
                <a:spcPct val="132000"/>
              </a:lnSpc>
              <a:spcAft>
                <a:spcPts val="200"/>
              </a:spcAft>
            </a:pPr>
            <a:r>
              <a:rPr sz="1300" b="0" i="0">
                <a:solidFill>
                  <a:srgbClr val="E3E9F2"/>
                </a:solidFill>
                <a:latin typeface="Consolas"/>
              </a:rPr>
              <a:t>src/main.js</a:t>
            </a:r>
          </a:p>
          <a:p>
            <a:pPr algn="l">
              <a:lnSpc>
                <a:spcPct val="132000"/>
              </a:lnSpc>
              <a:spcAft>
                <a:spcPts val="200"/>
              </a:spcAft>
            </a:pPr>
            <a:r>
              <a:rPr sz="1300" b="0" i="0">
                <a:solidFill>
                  <a:srgbClr val="E3E9F2"/>
                </a:solidFill>
                <a:latin typeface="Consolas"/>
              </a:rPr>
              <a:t>tests/form.spec.ts</a:t>
            </a:r>
          </a:p>
          <a:p>
            <a:pPr algn="l">
              <a:lnSpc>
                <a:spcPct val="132000"/>
              </a:lnSpc>
              <a:spcAft>
                <a:spcPts val="200"/>
              </a:spcAft>
            </a:pPr>
            <a:r>
              <a:rPr sz="1300" b="1" i="0">
                <a:solidFill>
                  <a:srgbClr val="8B9BB4"/>
                </a:solidFill>
                <a:latin typeface="Consolas"/>
              </a:rPr>
              <a:t># CLAUDE.md — не создан</a:t>
            </a:r>
          </a:p>
        </p:txBody>
      </p:sp>
      <p:sp>
        <p:nvSpPr>
          <p:cNvPr id="7" name="Rounded Rectangle 6"/>
          <p:cNvSpPr/>
          <p:nvPr/>
        </p:nvSpPr>
        <p:spPr>
          <a:xfrm>
            <a:off x="502920" y="4187952"/>
            <a:ext cx="11183112" cy="22128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261104"/>
            <a:ext cx="10780776" cy="2066543"/>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«Файл пуст не потому, что мы ленивы, а потому что нет сигнала. Первый настоящий сигнал появится через неделю.»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6415" y="548640"/>
            <a:ext cx="1633727"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872"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515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Кейс 1.2 · базовые процессы</a:t>
            </a:r>
          </a:p>
        </p:txBody>
      </p:sp>
      <p:sp>
        <p:nvSpPr>
          <p:cNvPr id="9" name="TextBox 8"/>
          <p:cNvSpPr txBox="1"/>
          <p:nvPr/>
        </p:nvSpPr>
        <p:spPr>
          <a:xfrm>
            <a:off x="868680" y="3127248"/>
            <a:ext cx="8778240" cy="82296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Первая реальная боль — заявка не доходит, тест зелёный</a:t>
            </a:r>
          </a:p>
        </p:txBody>
      </p:sp>
      <p:sp>
        <p:nvSpPr>
          <p:cNvPr id="10" name="Rounded Rectangle 9"/>
          <p:cNvSpPr/>
          <p:nvPr/>
        </p:nvSpPr>
        <p:spPr>
          <a:xfrm>
            <a:off x="868680" y="3977639"/>
            <a:ext cx="5486400" cy="54864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77639"/>
            <a:ext cx="4974336" cy="54864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4 ПРЕПРИНТА-КОНСЕНСУС · 1 КОНТРИНТУИТИВНЫЙ РЕЗУЛЬТАТ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БАЗОВЫЕ ПРОЦЕССЫ</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Заказчик пишет: заявка не пришла — тест зелёный, «готово» сказано, а тест проверяет только пустые поля; записанный текстовый гейт не изменил поведение при повторе</a:t>
            </a:r>
          </a:p>
        </p:txBody>
      </p:sp>
      <p:sp>
        <p:nvSpPr>
          <p:cNvPr id="4" name="Rounded Rectangle 3"/>
          <p:cNvSpPr/>
          <p:nvPr/>
        </p:nvSpPr>
        <p:spPr>
          <a:xfrm>
            <a:off x="502920" y="217627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304288"/>
            <a:ext cx="10698480" cy="1435608"/>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Блок 1. Заказчик: «отправил заявку — она не пришла». Агент читает код, правит обработчик в src/main.js, прогоняет автотест — зелёный — отчитывается: «Готово». tests/form.spec.ts проверяет ровно одно: что форма не отправляется с пустыми полями. Про доставку он не знает ничего. Заказчик пишет снова: не доходит.</a:t>
            </a:r>
          </a:p>
        </p:txBody>
      </p:sp>
      <p:sp>
        <p:nvSpPr>
          <p:cNvPr id="6" name="Rounded Rectangle 5"/>
          <p:cNvSpPr/>
          <p:nvPr/>
        </p:nvSpPr>
        <p:spPr>
          <a:xfrm>
            <a:off x="502920" y="405079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78808"/>
            <a:ext cx="10698480" cy="1435608"/>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Блок 2. Команда записывает в CLAUDE.md текстовый гейт: «Всегда прогоняй тесты и вручную проверяй результат перед ‘готово’». Неделю спустя, новая сессия, другой баг: автотест зелёный — снова «готово», руками не проверено.</a:t>
            </a:r>
          </a:p>
        </p:txBody>
      </p:sp>
      <p:sp>
        <p:nvSpPr>
          <p:cNvPr id="8" name="Rounded Rectangle 7"/>
          <p:cNvSpPr/>
          <p:nvPr/>
        </p:nvSpPr>
        <p:spPr>
          <a:xfrm>
            <a:off x="502920" y="5907024"/>
            <a:ext cx="11183112" cy="49377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980176"/>
            <a:ext cx="10780776" cy="347471"/>
          </a:xfrm>
          <a:prstGeom prst="rect">
            <a:avLst/>
          </a:prstGeom>
          <a:noFill/>
        </p:spPr>
        <p:txBody>
          <a:bodyPr wrap="square" lIns="0" rIns="0" tIns="0" bIns="0" anchor="ctr">
            <a:spAutoFit/>
          </a:bodyPr>
          <a:lstStyle/>
          <a:p>
            <a:pPr algn="ctr">
              <a:lnSpc>
                <a:spcPct val="122000"/>
              </a:lnSpc>
            </a:pPr>
            <a:r>
              <a:rPr sz="1800" b="1" i="0">
                <a:solidFill>
                  <a:srgbClr val="21295C"/>
                </a:solidFill>
                <a:latin typeface="Arial"/>
              </a:rPr>
              <a:t>«Правило было. Поведение — нет.»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a:t>
            </a:r>
          </a:p>
        </p:txBody>
      </p:sp>
      <p:sp>
        <p:nvSpPr>
          <p:cNvPr id="3" name="TextBox 2"/>
          <p:cNvSpPr txBox="1"/>
          <p:nvPr/>
        </p:nvSpPr>
        <p:spPr>
          <a:xfrm>
            <a:off x="502920" y="640080"/>
            <a:ext cx="11183112" cy="56692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Текстовый гейт без тулинга не просто бесполезен, а вреден — регрессии выросли почти до 10%; self-repair с реальной проверкой работает, голая самокритика систематически вредит</a:t>
            </a:r>
          </a:p>
        </p:txBody>
      </p:sp>
      <p:sp>
        <p:nvSpPr>
          <p:cNvPr id="4" name="TextBox 3"/>
          <p:cNvSpPr txBox="1"/>
          <p:nvPr/>
        </p:nvSpPr>
        <p:spPr>
          <a:xfrm>
            <a:off x="502920" y="1335024"/>
            <a:ext cx="11183112"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исследование — гейты</a:t>
            </a:r>
          </a:p>
        </p:txBody>
      </p:sp>
      <p:sp>
        <p:nvSpPr>
          <p:cNvPr id="5" name="Rounded Rectangle 4"/>
          <p:cNvSpPr/>
          <p:nvPr/>
        </p:nvSpPr>
        <p:spPr>
          <a:xfrm>
            <a:off x="502920" y="1609344"/>
            <a:ext cx="1118311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3388400"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7" name="TextBox 6"/>
          <p:cNvSpPr txBox="1"/>
          <p:nvPr/>
        </p:nvSpPr>
        <p:spPr>
          <a:xfrm>
            <a:off x="4147352" y="1792224"/>
            <a:ext cx="490282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8" name="TextBox 7"/>
          <p:cNvSpPr txBox="1"/>
          <p:nvPr/>
        </p:nvSpPr>
        <p:spPr>
          <a:xfrm>
            <a:off x="9123334" y="1792224"/>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9" name="TextBox 8"/>
          <p:cNvSpPr txBox="1"/>
          <p:nvPr/>
        </p:nvSpPr>
        <p:spPr>
          <a:xfrm>
            <a:off x="685800" y="2176272"/>
            <a:ext cx="3370112"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SWE-Gate/SpecBench/CapCode/Verification Horizon (4 препринта 2609–2606)</a:t>
            </a:r>
          </a:p>
        </p:txBody>
      </p:sp>
      <p:sp>
        <p:nvSpPr>
          <p:cNvPr id="10" name="TextBox 9"/>
          <p:cNvSpPr txBox="1"/>
          <p:nvPr/>
        </p:nvSpPr>
        <p:spPr>
          <a:xfrm>
            <a:off x="4147352" y="2176272"/>
            <a:ext cx="4884541"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Согласие 4+ независимых 2026-препринтов: агенты систематически «обходят» видимые тестовые гейты, разрыв растёт со сложностью задачи</a:t>
            </a:r>
          </a:p>
        </p:txBody>
      </p:sp>
      <p:sp>
        <p:nvSpPr>
          <p:cNvPr id="11" name="TextBox 10"/>
          <p:cNvSpPr txBox="1"/>
          <p:nvPr/>
        </p:nvSpPr>
        <p:spPr>
          <a:xfrm>
            <a:off x="9123334" y="2176272"/>
            <a:ext cx="2288377"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Сильное — межисследовательский консенсус</a:t>
            </a:r>
          </a:p>
        </p:txBody>
      </p:sp>
      <p:cxnSp>
        <p:nvCxnSpPr>
          <p:cNvPr id="12" name="Connector 11"/>
          <p:cNvCxnSpPr/>
          <p:nvPr/>
        </p:nvCxnSpPr>
        <p:spPr>
          <a:xfrm>
            <a:off x="685800" y="25603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2560320"/>
            <a:ext cx="11073384" cy="38404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60320"/>
            <a:ext cx="3370112"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TDAD, arXiv:2603.17973</a:t>
            </a:r>
          </a:p>
        </p:txBody>
      </p:sp>
      <p:sp>
        <p:nvSpPr>
          <p:cNvPr id="15" name="TextBox 14"/>
          <p:cNvSpPr txBox="1"/>
          <p:nvPr/>
        </p:nvSpPr>
        <p:spPr>
          <a:xfrm>
            <a:off x="4147352" y="2560320"/>
            <a:ext cx="4884541"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Чисто процедурная инструкция «сначала пиши тесты» без тулинга увеличила регрессии до 9,94% — хуже, чем вообще без инструкции</a:t>
            </a:r>
          </a:p>
        </p:txBody>
      </p:sp>
      <p:sp>
        <p:nvSpPr>
          <p:cNvPr id="16" name="TextBox 15"/>
          <p:cNvSpPr txBox="1"/>
          <p:nvPr/>
        </p:nvSpPr>
        <p:spPr>
          <a:xfrm>
            <a:off x="9123334" y="2560320"/>
            <a:ext cx="2288377"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Сильное и контринтуитивное</a:t>
            </a:r>
          </a:p>
        </p:txBody>
      </p:sp>
      <p:cxnSp>
        <p:nvCxnSpPr>
          <p:cNvPr id="17" name="Connector 16"/>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44368"/>
            <a:ext cx="3370112"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Rethinking Agent-Generated Tests, arXiv:2602.07900</a:t>
            </a:r>
          </a:p>
        </p:txBody>
      </p:sp>
      <p:sp>
        <p:nvSpPr>
          <p:cNvPr id="19" name="TextBox 18"/>
          <p:cNvSpPr txBox="1"/>
          <p:nvPr/>
        </p:nvSpPr>
        <p:spPr>
          <a:xfrm>
            <a:off x="4147352" y="2944368"/>
            <a:ext cx="4884541"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Манипуляция промптом ради частоты тестов — без значимого эффекта на resolution rate (6 моделей, SWE-bench Verified)</a:t>
            </a:r>
          </a:p>
        </p:txBody>
      </p:sp>
      <p:sp>
        <p:nvSpPr>
          <p:cNvPr id="20" name="TextBox 19"/>
          <p:cNvSpPr txBox="1"/>
          <p:nvPr/>
        </p:nvSpPr>
        <p:spPr>
          <a:xfrm>
            <a:off x="9123334" y="2944368"/>
            <a:ext cx="2288377"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Умеренное — нулевой результат</a:t>
            </a:r>
          </a:p>
        </p:txBody>
      </p:sp>
      <p:cxnSp>
        <p:nvCxnSpPr>
          <p:cNvPr id="21" name="Connector 20"/>
          <p:cNvCxnSpPr/>
          <p:nvPr/>
        </p:nvCxnSpPr>
        <p:spPr>
          <a:xfrm>
            <a:off x="685800" y="3328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328415"/>
            <a:ext cx="3370112"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Agent Scaffolding Beats Model Upgrades</a:t>
            </a:r>
          </a:p>
        </p:txBody>
      </p:sp>
      <p:sp>
        <p:nvSpPr>
          <p:cNvPr id="23" name="TextBox 22"/>
          <p:cNvSpPr txBox="1"/>
          <p:nvPr/>
        </p:nvSpPr>
        <p:spPr>
          <a:xfrm>
            <a:off x="4147352" y="3328415"/>
            <a:ext cx="4884541"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Архитектура харнесса (test-gated retries, CI-enforcement) даёт +20 п.п.; смена модели — ~1 п.п.</a:t>
            </a:r>
          </a:p>
        </p:txBody>
      </p:sp>
      <p:sp>
        <p:nvSpPr>
          <p:cNvPr id="24" name="TextBox 23"/>
          <p:cNvSpPr txBox="1"/>
          <p:nvPr/>
        </p:nvSpPr>
        <p:spPr>
          <a:xfrm>
            <a:off x="9123334" y="3328415"/>
            <a:ext cx="2288377" cy="384048"/>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Сильное — механизм против модели</a:t>
            </a:r>
          </a:p>
        </p:txBody>
      </p:sp>
      <p:sp>
        <p:nvSpPr>
          <p:cNvPr id="25" name="TextBox 24"/>
          <p:cNvSpPr txBox="1"/>
          <p:nvPr/>
        </p:nvSpPr>
        <p:spPr>
          <a:xfrm>
            <a:off x="502920" y="4041648"/>
            <a:ext cx="11183112"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исследование — цикл «улучшение»</a:t>
            </a:r>
          </a:p>
        </p:txBody>
      </p:sp>
      <p:sp>
        <p:nvSpPr>
          <p:cNvPr id="26" name="Rounded Rectangle 25"/>
          <p:cNvSpPr/>
          <p:nvPr/>
        </p:nvSpPr>
        <p:spPr>
          <a:xfrm>
            <a:off x="502920" y="4315968"/>
            <a:ext cx="11183112"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498848"/>
            <a:ext cx="3388400"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28" name="TextBox 27"/>
          <p:cNvSpPr txBox="1"/>
          <p:nvPr/>
        </p:nvSpPr>
        <p:spPr>
          <a:xfrm>
            <a:off x="4147352" y="4498848"/>
            <a:ext cx="490282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29" name="TextBox 28"/>
          <p:cNvSpPr txBox="1"/>
          <p:nvPr/>
        </p:nvSpPr>
        <p:spPr>
          <a:xfrm>
            <a:off x="9123334" y="4498848"/>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30" name="TextBox 29"/>
          <p:cNvSpPr txBox="1"/>
          <p:nvPr/>
        </p:nvSpPr>
        <p:spPr>
          <a:xfrm>
            <a:off x="685800" y="4882896"/>
            <a:ext cx="3370112"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Self-planning, arXiv:2303.06689</a:t>
            </a:r>
          </a:p>
        </p:txBody>
      </p:sp>
      <p:sp>
        <p:nvSpPr>
          <p:cNvPr id="31" name="TextBox 30"/>
          <p:cNvSpPr txBox="1"/>
          <p:nvPr/>
        </p:nvSpPr>
        <p:spPr>
          <a:xfrm>
            <a:off x="4147352" y="4882896"/>
            <a:ext cx="4884541"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Планирование перед кодом: +25,4% pass@1 (HumanEval/MBPP, не repo-scale)</a:t>
            </a:r>
          </a:p>
        </p:txBody>
      </p:sp>
      <p:sp>
        <p:nvSpPr>
          <p:cNvPr id="32" name="TextBox 31"/>
          <p:cNvSpPr txBox="1"/>
          <p:nvPr/>
        </p:nvSpPr>
        <p:spPr>
          <a:xfrm>
            <a:off x="9123334" y="4882896"/>
            <a:ext cx="2288377"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Умеренно-сильное «за»</a:t>
            </a:r>
          </a:p>
        </p:txBody>
      </p:sp>
      <p:cxnSp>
        <p:nvCxnSpPr>
          <p:cNvPr id="33" name="Connector 32"/>
          <p:cNvCxnSpPr/>
          <p:nvPr/>
        </p:nvCxnSpPr>
        <p:spPr>
          <a:xfrm>
            <a:off x="685800" y="51663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5166359"/>
            <a:ext cx="3370112"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LLMs Cannot Self-Correct, ICLR'24; CRITIC, 2305.11738</a:t>
            </a:r>
          </a:p>
        </p:txBody>
      </p:sp>
      <p:sp>
        <p:nvSpPr>
          <p:cNvPr id="35" name="TextBox 34"/>
          <p:cNvSpPr txBox="1"/>
          <p:nvPr/>
        </p:nvSpPr>
        <p:spPr>
          <a:xfrm>
            <a:off x="4147352" y="5166359"/>
            <a:ext cx="4884541"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Самокоррекция без внешнего сигнала систематически ухудшает результат</a:t>
            </a:r>
          </a:p>
        </p:txBody>
      </p:sp>
      <p:sp>
        <p:nvSpPr>
          <p:cNvPr id="36" name="TextBox 35"/>
          <p:cNvSpPr txBox="1"/>
          <p:nvPr/>
        </p:nvSpPr>
        <p:spPr>
          <a:xfrm>
            <a:off x="9123334" y="5166359"/>
            <a:ext cx="2288377"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Сильное «против» голого self-review</a:t>
            </a:r>
          </a:p>
        </p:txBody>
      </p:sp>
      <p:cxnSp>
        <p:nvCxnSpPr>
          <p:cNvPr id="37" name="Connector 36"/>
          <p:cNvCxnSpPr/>
          <p:nvPr/>
        </p:nvCxnSpPr>
        <p:spPr>
          <a:xfrm>
            <a:off x="685800" y="54498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57784" y="5449824"/>
            <a:ext cx="11073384" cy="28346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449824"/>
            <a:ext cx="3370112"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arXiv:2604.10508</a:t>
            </a:r>
          </a:p>
        </p:txBody>
      </p:sp>
      <p:sp>
        <p:nvSpPr>
          <p:cNvPr id="40" name="TextBox 39"/>
          <p:cNvSpPr txBox="1"/>
          <p:nvPr/>
        </p:nvSpPr>
        <p:spPr>
          <a:xfrm>
            <a:off x="4147352" y="5449824"/>
            <a:ext cx="4884541"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Self-repair с внешним сигналом (реальный прогон теста/компилятора): +4,9…+30 п.п.</a:t>
            </a:r>
          </a:p>
        </p:txBody>
      </p:sp>
      <p:sp>
        <p:nvSpPr>
          <p:cNvPr id="41" name="TextBox 40"/>
          <p:cNvSpPr txBox="1"/>
          <p:nvPr/>
        </p:nvSpPr>
        <p:spPr>
          <a:xfrm>
            <a:off x="9123334" y="5449824"/>
            <a:ext cx="2288377" cy="283464"/>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Сильное «за» — с реальной проверкой</a:t>
            </a:r>
          </a:p>
        </p:txBody>
      </p:sp>
      <p:sp>
        <p:nvSpPr>
          <p:cNvPr id="42" name="Rounded Rectangle 41"/>
          <p:cNvSpPr/>
          <p:nvPr/>
        </p:nvSpPr>
        <p:spPr>
          <a:xfrm>
            <a:off x="502920" y="6044183"/>
            <a:ext cx="11183112" cy="35661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6117336"/>
            <a:ext cx="10780776" cy="210312"/>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«Нет контролируемого эксперимента именно на изолированную фразу-гейт в CLAUDE.md — только best-practice наблюдения практиков.»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Гейт-фраза уже есть и не сработала — выбор из пяти вариантов, что делать дальше, чтобы реально сработало в следующей сессии</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«У вас гейт-фраза в CLAUDE.md уже есть, а поведение агента не изменилось — заявка снова не проверена руками. Выберите, что вы сделаете дальше — из карточек ниже — так, чтобы это реально сработало в следующей сессии.»</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перепишу фразу</a:t>
            </a:r>
          </a:p>
          <a:p>
            <a:pPr algn="ctr">
              <a:lnSpc>
                <a:spcPct val="115000"/>
              </a:lnSpc>
              <a:spcAft>
                <a:spcPts val="0"/>
              </a:spcAft>
            </a:pPr>
            <a:r>
              <a:rPr sz="1250" b="1" i="0">
                <a:solidFill>
                  <a:srgbClr val="21295C"/>
                </a:solidFill>
                <a:latin typeface="Arial"/>
              </a:rPr>
              <a:t>капсом / жёстче</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фразу</a:t>
            </a:r>
          </a:p>
          <a:p>
            <a:pPr algn="ctr">
              <a:lnSpc>
                <a:spcPct val="115000"/>
              </a:lnSpc>
              <a:spcAft>
                <a:spcPts val="0"/>
              </a:spcAft>
            </a:pPr>
            <a:r>
              <a:rPr sz="1250" b="1" i="0">
                <a:solidFill>
                  <a:srgbClr val="21295C"/>
                </a:solidFill>
                <a:latin typeface="Arial"/>
              </a:rPr>
              <a:t>вторым пунктом</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заведу отдельный</a:t>
            </a:r>
          </a:p>
          <a:p>
            <a:pPr algn="ctr">
              <a:lnSpc>
                <a:spcPct val="115000"/>
              </a:lnSpc>
              <a:spcAft>
                <a:spcPts val="0"/>
              </a:spcAft>
            </a:pPr>
            <a:r>
              <a:rPr sz="1250" b="1" i="0">
                <a:solidFill>
                  <a:srgbClr val="21295C"/>
                </a:solidFill>
                <a:latin typeface="Arial"/>
              </a:rPr>
              <a:t>файл-чеклист рядом</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передам проверку</a:t>
            </a:r>
          </a:p>
          <a:p>
            <a:pPr algn="ctr">
              <a:lnSpc>
                <a:spcPct val="115000"/>
              </a:lnSpc>
              <a:spcAft>
                <a:spcPts val="0"/>
              </a:spcAft>
            </a:pPr>
            <a:r>
              <a:rPr sz="1250" b="1" i="0">
                <a:solidFill>
                  <a:srgbClr val="21295C"/>
                </a:solidFill>
                <a:latin typeface="Arial"/>
              </a:rPr>
              <a:t>механизму вне текста</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смирюсь — сработает</a:t>
            </a:r>
          </a:p>
          <a:p>
            <a:pPr algn="ctr">
              <a:lnSpc>
                <a:spcPct val="115000"/>
              </a:lnSpc>
              <a:spcAft>
                <a:spcPts val="0"/>
              </a:spcAft>
            </a:pPr>
            <a:r>
              <a:rPr sz="1250" b="1" i="0">
                <a:solidFill>
                  <a:srgbClr val="21295C"/>
                </a:solidFill>
                <a:latin typeface="Arial"/>
              </a:rPr>
              <a:t>не всегда, это норма</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Честный ответ сегодня: мы всё равно запишем гейт текстом, потому что это лучше, чем ничего, но прямо скажем себе, что он ненадёжен</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«Гейт не сработал — что дальше?»</a:t>
            </a:r>
          </a:p>
        </p:txBody>
      </p:sp>
      <p:sp>
        <p:nvSpPr>
          <p:cNvPr id="5" name="Rounded Rectangle 4"/>
          <p:cNvSpPr/>
          <p:nvPr/>
        </p:nvSpPr>
        <p:spPr>
          <a:xfrm>
            <a:off x="502920" y="235915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30666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065617" y="25420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работает</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2926080"/>
            <a:ext cx="2288377"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«Капсом / жёстче»</a:t>
            </a:r>
          </a:p>
        </p:txBody>
      </p:sp>
      <p:sp>
        <p:nvSpPr>
          <p:cNvPr id="10" name="TextBox 9"/>
          <p:cNvSpPr txBox="1"/>
          <p:nvPr/>
        </p:nvSpPr>
        <p:spPr>
          <a:xfrm>
            <a:off x="3065617" y="2926080"/>
            <a:ext cx="3370112"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системно</a:t>
            </a:r>
          </a:p>
        </p:txBody>
      </p:sp>
      <p:sp>
        <p:nvSpPr>
          <p:cNvPr id="11" name="TextBox 10"/>
          <p:cNvSpPr txBox="1"/>
          <p:nvPr/>
        </p:nvSpPr>
        <p:spPr>
          <a:xfrm>
            <a:off x="6527170" y="2926080"/>
            <a:ext cx="4884541"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TDAD: усиление формулировки без тулинга не помогает и иногда вредит — регрессии выросли до 9,94%. Формулировка — не механизм</a:t>
            </a:r>
          </a:p>
        </p:txBody>
      </p:sp>
      <p:cxnSp>
        <p:nvCxnSpPr>
          <p:cNvPr id="12" name="Connector 11"/>
          <p:cNvCxnSpPr/>
          <p:nvPr/>
        </p:nvCxnSpPr>
        <p:spPr>
          <a:xfrm>
            <a:off x="685800" y="3388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88766"/>
            <a:ext cx="2288377"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«Продублирую вторым пунктом»</a:t>
            </a:r>
          </a:p>
        </p:txBody>
      </p:sp>
      <p:sp>
        <p:nvSpPr>
          <p:cNvPr id="14" name="TextBox 13"/>
          <p:cNvSpPr txBox="1"/>
          <p:nvPr/>
        </p:nvSpPr>
        <p:spPr>
          <a:xfrm>
            <a:off x="3065617" y="3388766"/>
            <a:ext cx="3370112"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Иногда чуть повышает шанс прочитать</a:t>
            </a:r>
          </a:p>
        </p:txBody>
      </p:sp>
      <p:sp>
        <p:nvSpPr>
          <p:cNvPr id="15" name="TextBox 14"/>
          <p:cNvSpPr txBox="1"/>
          <p:nvPr/>
        </p:nvSpPr>
        <p:spPr>
          <a:xfrm>
            <a:off x="6527170" y="3388766"/>
            <a:ext cx="4884541"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Правило остаётся просьбой. Каждая лишняя строка стоит контекста в каждой сессии (presence paradox, кейс 1.1)</a:t>
            </a:r>
          </a:p>
        </p:txBody>
      </p:sp>
      <p:cxnSp>
        <p:nvCxnSpPr>
          <p:cNvPr id="16" name="Connector 15"/>
          <p:cNvCxnSpPr/>
          <p:nvPr/>
        </p:nvCxnSpPr>
        <p:spPr>
          <a:xfrm>
            <a:off x="685800" y="38514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51452"/>
            <a:ext cx="2288377"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«Отдельный файл-чеклист»</a:t>
            </a:r>
          </a:p>
        </p:txBody>
      </p:sp>
      <p:sp>
        <p:nvSpPr>
          <p:cNvPr id="18" name="TextBox 17"/>
          <p:cNvSpPr txBox="1"/>
          <p:nvPr/>
        </p:nvSpPr>
        <p:spPr>
          <a:xfrm>
            <a:off x="3065617" y="3851452"/>
            <a:ext cx="3370112"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Помогает человеку помнить, слабо помогает агенту</a:t>
            </a:r>
          </a:p>
        </p:txBody>
      </p:sp>
      <p:sp>
        <p:nvSpPr>
          <p:cNvPr id="19" name="TextBox 18"/>
          <p:cNvSpPr txBox="1"/>
          <p:nvPr/>
        </p:nvSpPr>
        <p:spPr>
          <a:xfrm>
            <a:off x="6527170" y="3851452"/>
            <a:ext cx="4884541"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Тот же класс решения — снова текст, снова просьба, не обязательна к построчному следованию</a:t>
            </a:r>
          </a:p>
        </p:txBody>
      </p:sp>
      <p:cxnSp>
        <p:nvCxnSpPr>
          <p:cNvPr id="20" name="Connector 19"/>
          <p:cNvCxnSpPr/>
          <p:nvPr/>
        </p:nvCxnSpPr>
        <p:spPr>
          <a:xfrm>
            <a:off x="685800" y="43141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4314139"/>
            <a:ext cx="11073384" cy="46268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314139"/>
            <a:ext cx="2288377"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«Передам механизму вне текста»</a:t>
            </a:r>
          </a:p>
        </p:txBody>
      </p:sp>
      <p:sp>
        <p:nvSpPr>
          <p:cNvPr id="23" name="TextBox 22"/>
          <p:cNvSpPr txBox="1"/>
          <p:nvPr/>
        </p:nvSpPr>
        <p:spPr>
          <a:xfrm>
            <a:off x="3065617" y="4314139"/>
            <a:ext cx="3370112"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Системно работает: CI/harness-enforcement даёт +20 п.п.</a:t>
            </a:r>
          </a:p>
        </p:txBody>
      </p:sp>
      <p:sp>
        <p:nvSpPr>
          <p:cNvPr id="24" name="TextBox 23"/>
          <p:cNvSpPr txBox="1"/>
          <p:nvPr/>
        </p:nvSpPr>
        <p:spPr>
          <a:xfrm>
            <a:off x="6527170" y="4314139"/>
            <a:ext cx="4884541"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Верное направление — но сам механизм не тема сегодня, это Семинар 5. Сегодня фиксируем: текст сам по себе ненадёжен</a:t>
            </a:r>
          </a:p>
        </p:txBody>
      </p:sp>
      <p:cxnSp>
        <p:nvCxnSpPr>
          <p:cNvPr id="25" name="Connector 24"/>
          <p:cNvCxnSpPr/>
          <p:nvPr/>
        </p:nvCxnSpPr>
        <p:spPr>
          <a:xfrm>
            <a:off x="685800" y="47768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76825"/>
            <a:ext cx="2288377"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«Смирюсь, это нормально»</a:t>
            </a:r>
          </a:p>
        </p:txBody>
      </p:sp>
      <p:sp>
        <p:nvSpPr>
          <p:cNvPr id="27" name="TextBox 26"/>
          <p:cNvSpPr txBox="1"/>
          <p:nvPr/>
        </p:nvSpPr>
        <p:spPr>
          <a:xfrm>
            <a:off x="3065617" y="4776825"/>
            <a:ext cx="3370112"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Приемлемо для некритичных предпочтений</a:t>
            </a:r>
          </a:p>
        </p:txBody>
      </p:sp>
      <p:sp>
        <p:nvSpPr>
          <p:cNvPr id="28" name="TextBox 27"/>
          <p:cNvSpPr txBox="1"/>
          <p:nvPr/>
        </p:nvSpPr>
        <p:spPr>
          <a:xfrm>
            <a:off x="6527170" y="4776825"/>
            <a:ext cx="4884541" cy="462686"/>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правила, чьё нарушение стоит дорого — «смирюсь» означает решение не решать</a:t>
            </a:r>
          </a:p>
        </p:txBody>
      </p:sp>
      <p:sp>
        <p:nvSpPr>
          <p:cNvPr id="29" name="Rounded Rectangle 28"/>
          <p:cNvSpPr/>
          <p:nvPr/>
        </p:nvSpPr>
        <p:spPr>
          <a:xfrm>
            <a:off x="502920" y="5568696"/>
            <a:ext cx="11183112" cy="1554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641848"/>
            <a:ext cx="10780776" cy="1408176"/>
          </a:xfrm>
          <a:prstGeom prst="rect">
            <a:avLst/>
          </a:prstGeom>
          <a:noFill/>
        </p:spPr>
        <p:txBody>
          <a:bodyPr wrap="square" lIns="0" rIns="0" tIns="0" bIns="0" anchor="ctr">
            <a:spAutoFit/>
          </a:bodyPr>
          <a:lstStyle/>
          <a:p>
            <a:pPr algn="l">
              <a:lnSpc>
                <a:spcPct val="122000"/>
              </a:lnSpc>
            </a:pPr>
            <a:r>
              <a:rPr sz="1080" b="1" i="0">
                <a:solidFill>
                  <a:srgbClr val="21295C"/>
                </a:solidFill>
                <a:latin typeface="Arial"/>
              </a:rPr>
              <a:t>Правила в промпте — это просьбы, правила в коде — это законы: текстовый гейт — просьба, и сегодня мы записываем именно просьбу. Приемлемый первый шаг, пока нарушение редкое; нарушено дважды на критичном действии — сигнал для эскалации к механическому уровню (Семинар 5). Цикл «улучшение»: агент, смотрящий сам на свой код, — не делать так; агент, прогоняющий реальную проверку, — делать так всегда.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Итоговый файл — тринадцать строк: критерий готово, гейт-предупреждение, честная оговорка предела; AGENTS.md — симлинк на тот же файл</a:t>
            </a:r>
          </a:p>
        </p:txBody>
      </p:sp>
      <p:sp>
        <p:nvSpPr>
          <p:cNvPr id="4" name="Rounded Rectangle 3"/>
          <p:cNvSpPr/>
          <p:nvPr/>
        </p:nvSpPr>
        <p:spPr>
          <a:xfrm>
            <a:off x="502920" y="1993392"/>
            <a:ext cx="6126480" cy="41605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3758184"/>
          </a:xfrm>
          <a:prstGeom prst="rect">
            <a:avLst/>
          </a:prstGeom>
          <a:noFill/>
        </p:spPr>
        <p:txBody>
          <a:bodyPr wrap="square" lIns="0" rIns="0" tIns="0" bIns="0" anchor="t">
            <a:spAutoFit/>
          </a:bodyPr>
          <a:lstStyle/>
          <a:p>
            <a:pPr algn="l">
              <a:lnSpc>
                <a:spcPct val="128000"/>
              </a:lnSpc>
              <a:spcAft>
                <a:spcPts val="200"/>
              </a:spcAft>
            </a:pPr>
            <a:r>
              <a:rPr sz="1100" b="1" i="0">
                <a:solidFill>
                  <a:srgbClr val="028090"/>
                </a:solidFill>
                <a:latin typeface="Consolas"/>
              </a:rPr>
              <a:t># CLAUDE.md</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0" i="0">
                <a:solidFill>
                  <a:srgbClr val="E3E9F2"/>
                </a:solidFill>
                <a:latin typeface="Consolas"/>
              </a:rPr>
              <a:t>signup-landing: статический лендинг с формой заявки на демо-урок.</a:t>
            </a:r>
          </a:p>
          <a:p>
            <a:pPr algn="l">
              <a:lnSpc>
                <a:spcPct val="128000"/>
              </a:lnSpc>
              <a:spcAft>
                <a:spcPts val="200"/>
              </a:spcAft>
            </a:pPr>
            <a:r>
              <a:rPr sz="1100" b="0" i="0">
                <a:solidFill>
                  <a:srgbClr val="E3E9F2"/>
                </a:solidFill>
                <a:latin typeface="Consolas"/>
              </a:rPr>
              <a:t>Готово = npm run build код 0, npx playwright test зелёный,</a:t>
            </a:r>
          </a:p>
          <a:p>
            <a:pPr algn="l">
              <a:lnSpc>
                <a:spcPct val="128000"/>
              </a:lnSpc>
              <a:spcAft>
                <a:spcPts val="200"/>
              </a:spcAft>
            </a:pPr>
            <a:r>
              <a:rPr sz="1100" b="0" i="0">
                <a:solidFill>
                  <a:srgbClr val="E3E9F2"/>
                </a:solidFill>
                <a:latin typeface="Consolas"/>
              </a:rPr>
              <a:t>форма реально отправляет заявку на проде.</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Safety / scope boundaries</a:t>
            </a:r>
          </a:p>
          <a:p>
            <a:pPr algn="l">
              <a:lnSpc>
                <a:spcPct val="128000"/>
              </a:lnSpc>
              <a:spcAft>
                <a:spcPts val="200"/>
              </a:spcAft>
            </a:pPr>
            <a:r>
              <a:rPr sz="1100" b="0" i="0">
                <a:solidFill>
                  <a:srgbClr val="E3E9F2"/>
                </a:solidFill>
                <a:latin typeface="Consolas"/>
              </a:rPr>
              <a:t>- Никогда не запускать деплой на прод без явного запроса.</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Build, test, verify</a:t>
            </a:r>
          </a:p>
          <a:p>
            <a:pPr algn="l">
              <a:lnSpc>
                <a:spcPct val="128000"/>
              </a:lnSpc>
              <a:spcAft>
                <a:spcPts val="200"/>
              </a:spcAft>
            </a:pPr>
            <a:r>
              <a:rPr sz="1100" b="0" i="0">
                <a:solidFill>
                  <a:srgbClr val="E3E9F2"/>
                </a:solidFill>
                <a:latin typeface="Consolas"/>
              </a:rPr>
              <a:t>- To verify: открыть dist/index.html после сборки, вручную</a:t>
            </a:r>
          </a:p>
          <a:p>
            <a:pPr algn="l">
              <a:lnSpc>
                <a:spcPct val="128000"/>
              </a:lnSpc>
              <a:spcAft>
                <a:spcPts val="200"/>
              </a:spcAft>
            </a:pPr>
            <a:r>
              <a:rPr sz="1100" b="0" i="0">
                <a:solidFill>
                  <a:srgbClr val="E3E9F2"/>
                </a:solidFill>
                <a:latin typeface="Consolas"/>
              </a:rPr>
              <a:t>  отправить форму с заполненными и с пустыми полями.</a:t>
            </a:r>
          </a:p>
        </p:txBody>
      </p:sp>
      <p:sp>
        <p:nvSpPr>
          <p:cNvPr id="6" name="Rounded Rectangle 5"/>
          <p:cNvSpPr/>
          <p:nvPr/>
        </p:nvSpPr>
        <p:spPr>
          <a:xfrm>
            <a:off x="6903720" y="1993392"/>
            <a:ext cx="47823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23176" y="2212848"/>
            <a:ext cx="457200" cy="1240536"/>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1</a:t>
            </a:r>
          </a:p>
        </p:txBody>
      </p:sp>
      <p:sp>
        <p:nvSpPr>
          <p:cNvPr id="8" name="TextBox 7"/>
          <p:cNvSpPr txBox="1"/>
          <p:nvPr/>
        </p:nvSpPr>
        <p:spPr>
          <a:xfrm>
            <a:off x="7626096" y="2212848"/>
            <a:ext cx="3840480" cy="1240536"/>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Файл грузится в начало каждой сессии целиком (официальный ориентир — до 200 строк, наш итог — 13)</a:t>
            </a:r>
          </a:p>
        </p:txBody>
      </p:sp>
      <p:cxnSp>
        <p:nvCxnSpPr>
          <p:cNvPr id="9" name="Connector 8"/>
          <p:cNvCxnSpPr/>
          <p:nvPr/>
        </p:nvCxnSpPr>
        <p:spPr>
          <a:xfrm>
            <a:off x="7123176" y="3453383"/>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123176" y="3453383"/>
            <a:ext cx="457200" cy="1240536"/>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2</a:t>
            </a:r>
          </a:p>
        </p:txBody>
      </p:sp>
      <p:sp>
        <p:nvSpPr>
          <p:cNvPr id="11" name="TextBox 10"/>
          <p:cNvSpPr txBox="1"/>
          <p:nvPr/>
        </p:nvSpPr>
        <p:spPr>
          <a:xfrm>
            <a:off x="7626096" y="3453383"/>
            <a:ext cx="3840480" cy="1240536"/>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@-импорты организуют файл, но не экономят контекст — импортированное всё равно грузится целиком</a:t>
            </a:r>
          </a:p>
        </p:txBody>
      </p:sp>
      <p:cxnSp>
        <p:nvCxnSpPr>
          <p:cNvPr id="12" name="Connector 11"/>
          <p:cNvCxnSpPr/>
          <p:nvPr/>
        </p:nvCxnSpPr>
        <p:spPr>
          <a:xfrm>
            <a:off x="7123176" y="4693920"/>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23176" y="4693920"/>
            <a:ext cx="457200" cy="1240536"/>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3</a:t>
            </a:r>
          </a:p>
        </p:txBody>
      </p:sp>
      <p:sp>
        <p:nvSpPr>
          <p:cNvPr id="14" name="TextBox 13"/>
          <p:cNvSpPr txBox="1"/>
          <p:nvPr/>
        </p:nvSpPr>
        <p:spPr>
          <a:xfrm>
            <a:off x="7626096" y="4693920"/>
            <a:ext cx="3840480" cy="1240536"/>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AGENTS.md — симлинк на тот же файл (ln -s CLAUDE.md AGENTS.md). Острый край: cp -R без -P на macOS разыменовывает симлинк во вторую копию молча — копировать через cp -a / git clone / git archive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6415"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872" y="548640"/>
            <a:ext cx="1633727"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515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Кейс 1.3 · вложенные файлы</a:t>
            </a:r>
          </a:p>
        </p:txBody>
      </p:sp>
      <p:sp>
        <p:nvSpPr>
          <p:cNvPr id="9" name="TextBox 8"/>
          <p:cNvSpPr txBox="1"/>
          <p:nvPr/>
        </p:nvSpPr>
        <p:spPr>
          <a:xfrm>
            <a:off x="868680" y="3127248"/>
            <a:ext cx="8778240" cy="82296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Месяц спустя репозиторий подрос — дробить файл или нет</a:t>
            </a:r>
          </a:p>
        </p:txBody>
      </p:sp>
      <p:sp>
        <p:nvSpPr>
          <p:cNvPr id="10" name="Rounded Rectangle 9"/>
          <p:cNvSpPr/>
          <p:nvPr/>
        </p:nvSpPr>
        <p:spPr>
          <a:xfrm>
            <a:off x="868680" y="3977639"/>
            <a:ext cx="5486400" cy="54864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77639"/>
            <a:ext cx="4974336" cy="54864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1650 СЕССИЙ · 5 ЗАДОКУМЕНТИРОВАННЫХ ISSUE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ВЛОЖЕННЫЕ ФАЙЛЫ</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Разработчик выносит правила тестов в tests/CLAUDE.md и ждёт, что агент подхватит его сам, когда работает именно в этой папке — логично звучит, но стоит проверить, что там реально происходит с загрузкой</a:t>
            </a:r>
          </a:p>
        </p:txBody>
      </p:sp>
      <p:sp>
        <p:nvSpPr>
          <p:cNvPr id="4" name="Rounded Rectangle 3"/>
          <p:cNvSpPr/>
          <p:nvPr/>
        </p:nvSpPr>
        <p:spPr>
          <a:xfrm>
            <a:off x="502920" y="2359152"/>
            <a:ext cx="5349240" cy="2011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месяц спустя: tests/ подрос</a:t>
            </a:r>
          </a:p>
        </p:txBody>
      </p:sp>
      <p:sp>
        <p:nvSpPr>
          <p:cNvPr id="6" name="TextBox 5"/>
          <p:cNvSpPr txBox="1"/>
          <p:nvPr/>
        </p:nvSpPr>
        <p:spPr>
          <a:xfrm>
            <a:off x="704088" y="2871216"/>
            <a:ext cx="4946903" cy="1298448"/>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tests/</a:t>
            </a:r>
          </a:p>
          <a:p>
            <a:pPr algn="l">
              <a:lnSpc>
                <a:spcPct val="132000"/>
              </a:lnSpc>
              <a:spcAft>
                <a:spcPts val="200"/>
              </a:spcAft>
            </a:pPr>
            <a:r>
              <a:rPr sz="1150" b="0" i="0">
                <a:solidFill>
                  <a:srgbClr val="E3E9F2"/>
                </a:solidFill>
                <a:latin typeface="Consolas"/>
              </a:rPr>
              <a:t>  form.spec.ts</a:t>
            </a:r>
          </a:p>
          <a:p>
            <a:pPr algn="l">
              <a:lnSpc>
                <a:spcPct val="132000"/>
              </a:lnSpc>
              <a:spcAft>
                <a:spcPts val="200"/>
              </a:spcAft>
            </a:pPr>
            <a:r>
              <a:rPr sz="1150" b="0" i="0">
                <a:solidFill>
                  <a:srgbClr val="E3E9F2"/>
                </a:solidFill>
                <a:latin typeface="Consolas"/>
              </a:rPr>
              <a:t>  wizard.spec.ts</a:t>
            </a:r>
          </a:p>
          <a:p>
            <a:pPr algn="l">
              <a:lnSpc>
                <a:spcPct val="132000"/>
              </a:lnSpc>
              <a:spcAft>
                <a:spcPts val="200"/>
              </a:spcAft>
            </a:pPr>
            <a:r>
              <a:rPr sz="1150" b="0" i="0">
                <a:solidFill>
                  <a:srgbClr val="E3E9F2"/>
                </a:solidFill>
                <a:latin typeface="Consolas"/>
              </a:rPr>
              <a:t>  page-objects/form.page.ts</a:t>
            </a:r>
          </a:p>
          <a:p>
            <a:pPr algn="l">
              <a:lnSpc>
                <a:spcPct val="132000"/>
              </a:lnSpc>
              <a:spcAft>
                <a:spcPts val="200"/>
              </a:spcAft>
            </a:pPr>
            <a:r>
              <a:rPr sz="1150" b="0" i="0">
                <a:solidFill>
                  <a:srgbClr val="8B9BB4"/>
                </a:solidFill>
                <a:latin typeface="Consolas"/>
              </a:rPr>
              <a:t>  # своя конвенция именования + Page Object</a:t>
            </a:r>
          </a:p>
        </p:txBody>
      </p:sp>
      <p:sp>
        <p:nvSpPr>
          <p:cNvPr id="7" name="Rounded Rectangle 6"/>
          <p:cNvSpPr/>
          <p:nvPr/>
        </p:nvSpPr>
        <p:spPr>
          <a:xfrm>
            <a:off x="6153912" y="2359152"/>
            <a:ext cx="534924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487168"/>
            <a:ext cx="4983479" cy="1755648"/>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«Вынесу эти правила в отдельный tests/CLAUDE.md — короче, релевантнее контексту, корневой файл не разбухнет.» Кладёт файл в подпапку, ожидая автоматической подхватки.</a:t>
            </a:r>
          </a:p>
        </p:txBody>
      </p:sp>
      <p:sp>
        <p:nvSpPr>
          <p:cNvPr id="9" name="Rounded Rectangle 8"/>
          <p:cNvSpPr/>
          <p:nvPr/>
        </p:nvSpPr>
        <p:spPr>
          <a:xfrm>
            <a:off x="502920" y="4645152"/>
            <a:ext cx="11183112" cy="17556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718304"/>
            <a:ext cx="10780776" cy="160934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«Логично звучит. Давайте проверим, что там на самом деле происходит с загрузкой.»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Вложенный файл грузится on-demand, только по факту чтения — не по факту нахождения в папке; контролируемое исследование не нашло пользы от разбиения, а практика показывает регулярные отказы вплоть до архитектурного предела</a:t>
            </a:r>
          </a:p>
        </p:txBody>
      </p:sp>
      <p:sp>
        <p:nvSpPr>
          <p:cNvPr id="4" name="Rounded Rectangle 3"/>
          <p:cNvSpPr/>
          <p:nvPr/>
        </p:nvSpPr>
        <p:spPr>
          <a:xfrm>
            <a:off x="502920" y="2359152"/>
            <a:ext cx="11183112"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450592"/>
            <a:ext cx="10835640" cy="685800"/>
          </a:xfrm>
          <a:prstGeom prst="rect">
            <a:avLst/>
          </a:prstGeom>
          <a:noFill/>
        </p:spPr>
        <p:txBody>
          <a:bodyPr wrap="square" lIns="0" rIns="0" tIns="0" bIns="0" anchor="t">
            <a:spAutoFit/>
          </a:bodyPr>
          <a:lstStyle/>
          <a:p>
            <a:pPr algn="l">
              <a:lnSpc>
                <a:spcPct val="122000"/>
              </a:lnSpc>
            </a:pPr>
            <a:r>
              <a:rPr sz="1130" b="0" i="0">
                <a:solidFill>
                  <a:srgbClr val="21295C"/>
                </a:solidFill>
                <a:latin typeface="Arial"/>
              </a:rPr>
              <a:t>Механизм (офиц. документация Claude Code): корневой и все родительские CLAUDE.md грузятся при старте сессии автоматически. Вложенные грузятся on-demand — только когда агент реально читает файл оттуда. /context — единственный надёжный способ проверить, что реально загружено.</a:t>
            </a:r>
          </a:p>
        </p:txBody>
      </p:sp>
      <p:sp>
        <p:nvSpPr>
          <p:cNvPr id="6" name="Rounded Rectangle 5"/>
          <p:cNvSpPr/>
          <p:nvPr/>
        </p:nvSpPr>
        <p:spPr>
          <a:xfrm>
            <a:off x="502920" y="3392424"/>
            <a:ext cx="11183112"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75304"/>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Источник</a:t>
            </a:r>
          </a:p>
        </p:txBody>
      </p:sp>
      <p:sp>
        <p:nvSpPr>
          <p:cNvPr id="8" name="TextBox 7"/>
          <p:cNvSpPr txBox="1"/>
          <p:nvPr/>
        </p:nvSpPr>
        <p:spPr>
          <a:xfrm>
            <a:off x="3714658" y="3575304"/>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Тезис</a:t>
            </a:r>
          </a:p>
        </p:txBody>
      </p:sp>
      <p:sp>
        <p:nvSpPr>
          <p:cNvPr id="9" name="TextBox 8"/>
          <p:cNvSpPr txBox="1"/>
          <p:nvPr/>
        </p:nvSpPr>
        <p:spPr>
          <a:xfrm>
            <a:off x="8690640" y="3575304"/>
            <a:ext cx="273935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Сила</a:t>
            </a:r>
          </a:p>
        </p:txBody>
      </p:sp>
      <p:sp>
        <p:nvSpPr>
          <p:cNvPr id="10" name="Rectangle 9"/>
          <p:cNvSpPr/>
          <p:nvPr/>
        </p:nvSpPr>
        <p:spPr>
          <a:xfrm>
            <a:off x="557784" y="3959352"/>
            <a:ext cx="11073384" cy="309372"/>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959352"/>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McMillan, arXiv:2605.10039 (1650 сессий Claude Code CLI)</a:t>
            </a:r>
          </a:p>
        </p:txBody>
      </p:sp>
      <p:sp>
        <p:nvSpPr>
          <p:cNvPr id="12" name="TextBox 11"/>
          <p:cNvSpPr txBox="1"/>
          <p:nvPr/>
        </p:nvSpPr>
        <p:spPr>
          <a:xfrm>
            <a:off x="3714658" y="3959352"/>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Ни одна из 4 структурных переменных не дала значимого эффекта после multiple-testing correction; для size/conflict — свидетельство ОТСУТСТВИЯ эффекта</a:t>
            </a:r>
          </a:p>
        </p:txBody>
      </p:sp>
      <p:sp>
        <p:nvSpPr>
          <p:cNvPr id="13" name="TextBox 12"/>
          <p:cNvSpPr txBox="1"/>
          <p:nvPr/>
        </p:nvSpPr>
        <p:spPr>
          <a:xfrm>
            <a:off x="8690640" y="3959352"/>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Сильное и контринтуитивное</a:t>
            </a:r>
          </a:p>
        </p:txBody>
      </p:sp>
      <p:cxnSp>
        <p:nvCxnSpPr>
          <p:cNvPr id="14" name="Connector 13"/>
          <p:cNvCxnSpPr/>
          <p:nvPr/>
        </p:nvCxnSpPr>
        <p:spPr>
          <a:xfrm>
            <a:off x="685800" y="42687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268724"/>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 #2571</a:t>
            </a:r>
          </a:p>
        </p:txBody>
      </p:sp>
      <p:sp>
        <p:nvSpPr>
          <p:cNvPr id="16" name="TextBox 15"/>
          <p:cNvSpPr txBox="1"/>
          <p:nvPr/>
        </p:nvSpPr>
        <p:spPr>
          <a:xfrm>
            <a:off x="3714658" y="4268724"/>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Вложенный CLAUDE.md не подхватывается автоматически, воспроизводимо; закрыт «not planned»</a:t>
            </a:r>
          </a:p>
        </p:txBody>
      </p:sp>
      <p:sp>
        <p:nvSpPr>
          <p:cNvPr id="17" name="TextBox 16"/>
          <p:cNvSpPr txBox="1"/>
          <p:nvPr/>
        </p:nvSpPr>
        <p:spPr>
          <a:xfrm>
            <a:off x="8690640" y="4268724"/>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Прямое наблюдение</a:t>
            </a:r>
          </a:p>
        </p:txBody>
      </p:sp>
      <p:cxnSp>
        <p:nvCxnSpPr>
          <p:cNvPr id="18" name="Connector 17"/>
          <p:cNvCxnSpPr/>
          <p:nvPr/>
        </p:nvCxnSpPr>
        <p:spPr>
          <a:xfrm>
            <a:off x="685800" y="45780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78096"/>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 #6972</a:t>
            </a:r>
          </a:p>
        </p:txBody>
      </p:sp>
      <p:sp>
        <p:nvSpPr>
          <p:cNvPr id="20" name="TextBox 19"/>
          <p:cNvSpPr txBox="1"/>
          <p:nvPr/>
        </p:nvSpPr>
        <p:spPr>
          <a:xfrm>
            <a:off x="3714658" y="4578096"/>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Документация вводит в заблуждение — пользователи ждут eager-загрузку, на деле on-demand</a:t>
            </a:r>
          </a:p>
        </p:txBody>
      </p:sp>
      <p:sp>
        <p:nvSpPr>
          <p:cNvPr id="21" name="TextBox 20"/>
          <p:cNvSpPr txBox="1"/>
          <p:nvPr/>
        </p:nvSpPr>
        <p:spPr>
          <a:xfrm>
            <a:off x="8690640" y="4578096"/>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Прямое наблюдение</a:t>
            </a:r>
          </a:p>
        </p:txBody>
      </p:sp>
      <p:cxnSp>
        <p:nvCxnSpPr>
          <p:cNvPr id="22" name="Connector 21"/>
          <p:cNvCxnSpPr/>
          <p:nvPr/>
        </p:nvCxnSpPr>
        <p:spPr>
          <a:xfrm>
            <a:off x="685800" y="48874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87468"/>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 форум</a:t>
            </a:r>
          </a:p>
        </p:txBody>
      </p:sp>
      <p:sp>
        <p:nvSpPr>
          <p:cNvPr id="24" name="TextBox 23"/>
          <p:cNvSpPr txBox="1"/>
          <p:nvPr/>
        </p:nvSpPr>
        <p:spPr>
          <a:xfrm>
            <a:off x="3714658" y="4887468"/>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Сотрудник Cursor признал баг в nested-функциональности</a:t>
            </a:r>
          </a:p>
        </p:txBody>
      </p:sp>
      <p:sp>
        <p:nvSpPr>
          <p:cNvPr id="25" name="TextBox 24"/>
          <p:cNvSpPr txBox="1"/>
          <p:nvPr/>
        </p:nvSpPr>
        <p:spPr>
          <a:xfrm>
            <a:off x="8690640" y="4887468"/>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Прямое, другой инструмент</a:t>
            </a:r>
          </a:p>
        </p:txBody>
      </p:sp>
      <p:cxnSp>
        <p:nvCxnSpPr>
          <p:cNvPr id="26" name="Connector 25"/>
          <p:cNvCxnSpPr/>
          <p:nvPr/>
        </p:nvCxnSpPr>
        <p:spPr>
          <a:xfrm>
            <a:off x="685800" y="51968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5196840"/>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Codex CLI #13288, #12115</a:t>
            </a:r>
          </a:p>
        </p:txBody>
      </p:sp>
      <p:sp>
        <p:nvSpPr>
          <p:cNvPr id="28" name="TextBox 27"/>
          <p:cNvSpPr txBox="1"/>
          <p:nvPr/>
        </p:nvSpPr>
        <p:spPr>
          <a:xfrm>
            <a:off x="3714658" y="5196840"/>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Ненадёжная подгрузка без явного --cd</a:t>
            </a:r>
          </a:p>
        </p:txBody>
      </p:sp>
      <p:sp>
        <p:nvSpPr>
          <p:cNvPr id="29" name="TextBox 28"/>
          <p:cNvSpPr txBox="1"/>
          <p:nvPr/>
        </p:nvSpPr>
        <p:spPr>
          <a:xfrm>
            <a:off x="8690640" y="5196840"/>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Прямое, другой инструмент</a:t>
            </a:r>
          </a:p>
        </p:txBody>
      </p:sp>
      <p:cxnSp>
        <p:nvCxnSpPr>
          <p:cNvPr id="30" name="Connector 29"/>
          <p:cNvCxnSpPr/>
          <p:nvPr/>
        </p:nvCxnSpPr>
        <p:spPr>
          <a:xfrm>
            <a:off x="685800" y="55062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57784" y="5506212"/>
            <a:ext cx="11073384" cy="309372"/>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506212"/>
            <a:ext cx="2937418"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GitHub Copilot CLI #3051</a:t>
            </a:r>
          </a:p>
        </p:txBody>
      </p:sp>
      <p:sp>
        <p:nvSpPr>
          <p:cNvPr id="33" name="TextBox 32"/>
          <p:cNvSpPr txBox="1"/>
          <p:nvPr/>
        </p:nvSpPr>
        <p:spPr>
          <a:xfrm>
            <a:off x="3714658" y="5506212"/>
            <a:ext cx="488454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Не баг, а документированный структурный предел: discovery только вдоль прямого пути cwd→git-root</a:t>
            </a:r>
          </a:p>
        </p:txBody>
      </p:sp>
      <p:sp>
        <p:nvSpPr>
          <p:cNvPr id="34" name="TextBox 33"/>
          <p:cNvSpPr txBox="1"/>
          <p:nvPr/>
        </p:nvSpPr>
        <p:spPr>
          <a:xfrm>
            <a:off x="8690640" y="5506212"/>
            <a:ext cx="2721071" cy="309372"/>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Самое жёсткое: архитектурное ограничение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Как гарантировать, что агент реально прочитает конвенции из tests/CLAUDE.md — выбор из пяти вариантов</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«Выберите, как вы гарантируете, что агент реально прочитает конвенции из tests/CLAUDE.md, когда работает именно в этой папке — из карточек ниже.»</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положу файл в tests/</a:t>
            </a:r>
          </a:p>
          <a:p>
            <a:pPr algn="ctr">
              <a:lnSpc>
                <a:spcPct val="115000"/>
              </a:lnSpc>
              <a:spcAft>
                <a:spcPts val="0"/>
              </a:spcAft>
            </a:pPr>
            <a:r>
              <a:rPr sz="1250" b="1" i="0">
                <a:solidFill>
                  <a:srgbClr val="21295C"/>
                </a:solidFill>
                <a:latin typeface="Arial"/>
              </a:rPr>
              <a:t>и доверюсь автозагрузке</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явно попрошу агента</a:t>
            </a:r>
          </a:p>
          <a:p>
            <a:pPr algn="ctr">
              <a:lnSpc>
                <a:spcPct val="115000"/>
              </a:lnSpc>
              <a:spcAft>
                <a:spcPts val="0"/>
              </a:spcAft>
            </a:pPr>
            <a:r>
              <a:rPr sz="1250" b="1" i="0">
                <a:solidFill>
                  <a:srgbClr val="21295C"/>
                </a:solidFill>
                <a:latin typeface="Arial"/>
              </a:rPr>
              <a:t>прочитать файл в начале задачи</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содержимое</a:t>
            </a:r>
          </a:p>
          <a:p>
            <a:pPr algn="ctr">
              <a:lnSpc>
                <a:spcPct val="115000"/>
              </a:lnSpc>
              <a:spcAft>
                <a:spcPts val="0"/>
              </a:spcAft>
            </a:pPr>
            <a:r>
              <a:rPr sz="1250" b="1" i="0">
                <a:solidFill>
                  <a:srgbClr val="21295C"/>
                </a:solidFill>
                <a:latin typeface="Arial"/>
              </a:rPr>
              <a:t>в корневом CLAUDE.md</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проверю через /context,</a:t>
            </a:r>
          </a:p>
          <a:p>
            <a:pPr algn="ctr">
              <a:lnSpc>
                <a:spcPct val="115000"/>
              </a:lnSpc>
              <a:spcAft>
                <a:spcPts val="0"/>
              </a:spcAft>
            </a:pPr>
            <a:r>
              <a:rPr sz="1250" b="1" i="0">
                <a:solidFill>
                  <a:srgbClr val="21295C"/>
                </a:solidFill>
                <a:latin typeface="Arial"/>
              </a:rPr>
              <a:t>что реально загружено</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объединю всё в один</a:t>
            </a:r>
          </a:p>
          <a:p>
            <a:pPr algn="ctr">
              <a:lnSpc>
                <a:spcPct val="115000"/>
              </a:lnSpc>
              <a:spcAft>
                <a:spcPts val="0"/>
              </a:spcAft>
            </a:pPr>
            <a:r>
              <a:rPr sz="1250" b="1" i="0">
                <a:solidFill>
                  <a:srgbClr val="21295C"/>
                </a:solidFill>
                <a:latin typeface="Arial"/>
              </a:rPr>
              <a:t>файл в корне, пока не мешает</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РАЗБОР</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Редкое сочетание: контролируемое исследование не нашло пользы даже там, где здравый смысл её обещал, а практика показывает регулярные отказы вплоть до архитектурного предела</a:t>
            </a:r>
          </a:p>
        </p:txBody>
      </p:sp>
      <p:sp>
        <p:nvSpPr>
          <p:cNvPr id="4" name="TextBox 3"/>
          <p:cNvSpPr txBox="1"/>
          <p:nvPr/>
        </p:nvSpPr>
        <p:spPr>
          <a:xfrm>
            <a:off x="502920" y="217627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гарантировать, что файл прочитан?»</a:t>
            </a:r>
          </a:p>
        </p:txBody>
      </p:sp>
      <p:sp>
        <p:nvSpPr>
          <p:cNvPr id="5" name="Rounded Rectangle 4"/>
          <p:cNvSpPr/>
          <p:nvPr/>
        </p:nvSpPr>
        <p:spPr>
          <a:xfrm>
            <a:off x="502920" y="254203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72491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714658" y="272491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работает</a:t>
            </a:r>
          </a:p>
        </p:txBody>
      </p:sp>
      <p:sp>
        <p:nvSpPr>
          <p:cNvPr id="8" name="TextBox 7"/>
          <p:cNvSpPr txBox="1"/>
          <p:nvPr/>
        </p:nvSpPr>
        <p:spPr>
          <a:xfrm>
            <a:off x="6743517" y="272491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3108960"/>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«Доверюсь автозагрузке»</a:t>
            </a:r>
          </a:p>
        </p:txBody>
      </p:sp>
      <p:sp>
        <p:nvSpPr>
          <p:cNvPr id="10" name="TextBox 9"/>
          <p:cNvSpPr txBox="1"/>
          <p:nvPr/>
        </p:nvSpPr>
        <p:spPr>
          <a:xfrm>
            <a:off x="3714658" y="3108960"/>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гарантированно</a:t>
            </a:r>
          </a:p>
        </p:txBody>
      </p:sp>
      <p:sp>
        <p:nvSpPr>
          <p:cNvPr id="11" name="TextBox 10"/>
          <p:cNvSpPr txBox="1"/>
          <p:nvPr/>
        </p:nvSpPr>
        <p:spPr>
          <a:xfrm>
            <a:off x="6743517" y="3108960"/>
            <a:ext cx="4668194"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Вложенные файлы грузятся on-demand, только по факту чтения. Задокументированные отказы — системная категория: #2571, #6972, Cursor, Codex CLI, жёсткий предел Copilot CLI #3051</a:t>
            </a:r>
          </a:p>
        </p:txBody>
      </p:sp>
      <p:cxnSp>
        <p:nvCxnSpPr>
          <p:cNvPr id="12" name="Connector 11"/>
          <p:cNvCxnSpPr/>
          <p:nvPr/>
        </p:nvCxnSpPr>
        <p:spPr>
          <a:xfrm>
            <a:off x="685800" y="3608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608222"/>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«Явно попрошу прочитать в начале задачи»</a:t>
            </a:r>
          </a:p>
        </p:txBody>
      </p:sp>
      <p:sp>
        <p:nvSpPr>
          <p:cNvPr id="14" name="TextBox 13"/>
          <p:cNvSpPr txBox="1"/>
          <p:nvPr/>
        </p:nvSpPr>
        <p:spPr>
          <a:xfrm>
            <a:off x="3714658" y="3608222"/>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Работает, требует ручной дисциплины каждый раз</a:t>
            </a:r>
          </a:p>
        </p:txBody>
      </p:sp>
      <p:sp>
        <p:nvSpPr>
          <p:cNvPr id="15" name="TextBox 14"/>
          <p:cNvSpPr txBox="1"/>
          <p:nvPr/>
        </p:nvSpPr>
        <p:spPr>
          <a:xfrm>
            <a:off x="6743517" y="3608222"/>
            <a:ext cx="4668194"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Надёжнее автозагрузки, но перекладывает ответственность на человека — то, от чего мы уходили в кейсе 1.1</a:t>
            </a:r>
          </a:p>
        </p:txBody>
      </p:sp>
      <p:cxnSp>
        <p:nvCxnSpPr>
          <p:cNvPr id="16" name="Connector 15"/>
          <p:cNvCxnSpPr/>
          <p:nvPr/>
        </p:nvCxnSpPr>
        <p:spPr>
          <a:xfrm>
            <a:off x="685800" y="4107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07484"/>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«Продублирую в корневой»</a:t>
            </a:r>
          </a:p>
        </p:txBody>
      </p:sp>
      <p:sp>
        <p:nvSpPr>
          <p:cNvPr id="18" name="TextBox 17"/>
          <p:cNvSpPr txBox="1"/>
          <p:nvPr/>
        </p:nvSpPr>
        <p:spPr>
          <a:xfrm>
            <a:off x="3714658" y="4107484"/>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Работает всегда — корень грузится при старте</a:t>
            </a:r>
          </a:p>
        </p:txBody>
      </p:sp>
      <p:sp>
        <p:nvSpPr>
          <p:cNvPr id="19" name="TextBox 18"/>
          <p:cNvSpPr txBox="1"/>
          <p:nvPr/>
        </p:nvSpPr>
        <p:spPr>
          <a:xfrm>
            <a:off x="6743517" y="4107484"/>
            <a:ext cx="4668194"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Снова presence paradox: продублированная строка стоит контекста в каждой сессии, в любой папке</a:t>
            </a:r>
          </a:p>
        </p:txBody>
      </p:sp>
      <p:cxnSp>
        <p:nvCxnSpPr>
          <p:cNvPr id="20" name="Connector 19"/>
          <p:cNvCxnSpPr/>
          <p:nvPr/>
        </p:nvCxnSpPr>
        <p:spPr>
          <a:xfrm>
            <a:off x="685800" y="4606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606747"/>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«Проверю через /context»</a:t>
            </a:r>
          </a:p>
        </p:txBody>
      </p:sp>
      <p:sp>
        <p:nvSpPr>
          <p:cNvPr id="22" name="TextBox 21"/>
          <p:cNvSpPr txBox="1"/>
          <p:nvPr/>
        </p:nvSpPr>
        <p:spPr>
          <a:xfrm>
            <a:off x="3714658" y="4606747"/>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Единственный надёжный способ узнать факт</a:t>
            </a:r>
          </a:p>
        </p:txBody>
      </p:sp>
      <p:sp>
        <p:nvSpPr>
          <p:cNvPr id="23" name="TextBox 22"/>
          <p:cNvSpPr txBox="1"/>
          <p:nvPr/>
        </p:nvSpPr>
        <p:spPr>
          <a:xfrm>
            <a:off x="6743517" y="4606747"/>
            <a:ext cx="4668194"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Диагностика, не решение — проверяет, сработало ли, не гарантирует в следующий раз</a:t>
            </a:r>
          </a:p>
        </p:txBody>
      </p:sp>
      <p:cxnSp>
        <p:nvCxnSpPr>
          <p:cNvPr id="24" name="Connector 23"/>
          <p:cNvCxnSpPr/>
          <p:nvPr/>
        </p:nvCxnSpPr>
        <p:spPr>
          <a:xfrm>
            <a:off x="685800" y="5106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57784" y="5106009"/>
            <a:ext cx="11073384" cy="499262"/>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06009"/>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«Объединю в один файл в корне, пока не вырос»</a:t>
            </a:r>
          </a:p>
        </p:txBody>
      </p:sp>
      <p:sp>
        <p:nvSpPr>
          <p:cNvPr id="27" name="TextBox 26"/>
          <p:cNvSpPr txBox="1"/>
          <p:nvPr/>
        </p:nvSpPr>
        <p:spPr>
          <a:xfrm>
            <a:off x="3714658" y="5106009"/>
            <a:ext cx="2937418"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Здесь и сейчас — репозиторий маленький</a:t>
            </a:r>
          </a:p>
        </p:txBody>
      </p:sp>
      <p:sp>
        <p:nvSpPr>
          <p:cNvPr id="28" name="TextBox 27"/>
          <p:cNvSpPr txBox="1"/>
          <p:nvPr/>
        </p:nvSpPr>
        <p:spPr>
          <a:xfrm>
            <a:off x="6743517" y="5106009"/>
            <a:ext cx="4668194" cy="499262"/>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Исследование (1650 сессий) не нашло значимого эффекта ни у одной структурной переменной</a:t>
            </a:r>
          </a:p>
        </p:txBody>
      </p:sp>
      <p:sp>
        <p:nvSpPr>
          <p:cNvPr id="29" name="Rounded Rectangle 28"/>
          <p:cNvSpPr/>
          <p:nvPr/>
        </p:nvSpPr>
        <p:spPr>
          <a:xfrm>
            <a:off x="502920" y="5934456"/>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6007608"/>
            <a:ext cx="10780776" cy="1042416"/>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Пока корневой файл помещается в разумный объём (до пятидесяти-семидесяти строк), дробление по подпапкам не нужно никогда. Даже при росте объёма дробить стоит только после того, как явно проверено — через /context или наблюдаемое поведение, — что инструмент реально грузит вложенный файл.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Репозиторий остаётся с одним корневым файлом; три кейса — три решения знания, известного заранее, но есть знание другого рода, которое появляется по ходу работы — это раздел второй, память</a:t>
            </a:r>
          </a:p>
        </p:txBody>
      </p:sp>
      <p:sp>
        <p:nvSpPr>
          <p:cNvPr id="4" name="Rounded Rectangle 3"/>
          <p:cNvSpPr/>
          <p:nvPr/>
        </p:nvSpPr>
        <p:spPr>
          <a:xfrm>
            <a:off x="502920" y="2176272"/>
            <a:ext cx="11183112" cy="2423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репозитория — без изменений</a:t>
            </a:r>
          </a:p>
        </p:txBody>
      </p:sp>
      <p:sp>
        <p:nvSpPr>
          <p:cNvPr id="6" name="TextBox 5"/>
          <p:cNvSpPr txBox="1"/>
          <p:nvPr/>
        </p:nvSpPr>
        <p:spPr>
          <a:xfrm>
            <a:off x="704088" y="2688336"/>
            <a:ext cx="10780776" cy="170992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a:p>
            <a:pPr algn="l">
              <a:lnSpc>
                <a:spcPct val="132000"/>
              </a:lnSpc>
              <a:spcAft>
                <a:spcPts val="200"/>
              </a:spcAft>
            </a:pPr>
            <a:r>
              <a:rPr sz="1100" b="1" i="0">
                <a:solidFill>
                  <a:srgbClr val="8B9BB4"/>
                </a:solidFill>
                <a:latin typeface="Consolas"/>
              </a:rPr>
              <a:t># tests/CLAUDE.md — не появляется</a:t>
            </a:r>
          </a:p>
        </p:txBody>
      </p:sp>
      <p:sp>
        <p:nvSpPr>
          <p:cNvPr id="7" name="Rounded Rectangle 6"/>
          <p:cNvSpPr/>
          <p:nvPr/>
        </p:nvSpPr>
        <p:spPr>
          <a:xfrm>
            <a:off x="502920" y="4764024"/>
            <a:ext cx="11183112" cy="163677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837176"/>
            <a:ext cx="10780776" cy="149047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«Три кейса, один и тот же файл: мы решили, чего в него не писать заранее; написали то, что узнали на реальной боли; и решили не дробить его, пока это не доказанная польза. Всё это — знание, которое у вас уже было до работы, записанное заранее. Но есть знание другого рода: то, что появляется по ходу самой работы. Его нельзя записать заранее, потому что вы его ещё не знаете. Это раздел второй — память.»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TextBox 4"/>
          <p:cNvSpPr txBox="1"/>
          <p:nvPr/>
        </p:nvSpPr>
        <p:spPr>
          <a:xfrm>
            <a:off x="822960" y="1417320"/>
            <a:ext cx="9692640" cy="8229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Раздел 2 · память</a:t>
            </a:r>
          </a:p>
        </p:txBody>
      </p:sp>
      <p:sp>
        <p:nvSpPr>
          <p:cNvPr id="6" name="TextBox 5"/>
          <p:cNvSpPr txBox="1"/>
          <p:nvPr/>
        </p:nvSpPr>
        <p:spPr>
          <a:xfrm>
            <a:off x="822960" y="2212848"/>
            <a:ext cx="9692640" cy="640080"/>
          </a:xfrm>
          <a:prstGeom prst="rect">
            <a:avLst/>
          </a:prstGeom>
          <a:noFill/>
        </p:spPr>
        <p:txBody>
          <a:bodyPr wrap="square" lIns="0" rIns="0" tIns="0" bIns="0" anchor="t">
            <a:spAutoFit/>
          </a:bodyPr>
          <a:lstStyle/>
          <a:p>
            <a:pPr algn="l">
              <a:lnSpc>
                <a:spcPct val="105000"/>
              </a:lnSpc>
            </a:pPr>
            <a:r>
              <a:rPr sz="2200" b="1" i="0">
                <a:solidFill>
                  <a:srgbClr val="F0AB00"/>
                </a:solidFill>
                <a:latin typeface="Arial"/>
              </a:rPr>
              <a:t>Кейс 2.1 · плоский файл</a:t>
            </a:r>
          </a:p>
        </p:txBody>
      </p:sp>
      <p:sp>
        <p:nvSpPr>
          <p:cNvPr id="7" name="TextBox 6"/>
          <p:cNvSpPr txBox="1"/>
          <p:nvPr/>
        </p:nvSpPr>
        <p:spPr>
          <a:xfrm>
            <a:off x="868680" y="3035808"/>
            <a:ext cx="9052560" cy="777240"/>
          </a:xfrm>
          <a:prstGeom prst="rect">
            <a:avLst/>
          </a:prstGeom>
          <a:noFill/>
        </p:spPr>
        <p:txBody>
          <a:bodyPr wrap="square" lIns="0" rIns="0" tIns="0" bIns="0" anchor="t">
            <a:spAutoFit/>
          </a:bodyPr>
          <a:lstStyle/>
          <a:p>
            <a:pPr algn="l">
              <a:lnSpc>
                <a:spcPct val="130000"/>
              </a:lnSpc>
            </a:pPr>
            <a:r>
              <a:rPr sz="1650" b="0" i="1">
                <a:solidFill>
                  <a:srgbClr val="CFDCEC"/>
                </a:solidFill>
                <a:latin typeface="Arial"/>
              </a:rPr>
              <a:t>Между сессиями агент не хранит ни бита — если это не лежит на диске</a:t>
            </a:r>
          </a:p>
        </p:txBody>
      </p:sp>
      <p:sp>
        <p:nvSpPr>
          <p:cNvPr id="8" name="Rounded Rectangle 7"/>
          <p:cNvSpPr/>
          <p:nvPr/>
        </p:nvSpPr>
        <p:spPr>
          <a:xfrm>
            <a:off x="868680" y="3886200"/>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24712" y="3886200"/>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3 КЕЙСА ПО ВОСХОДЯЩЕЙ СЛОЖНОСТИ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ПЛОСКИЙ ФАЙЛ</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Уже отклонённое решение всплывает снова, потому что разговор, в котором его приняли, закончился — а его содержимое нигде не осталось</a:t>
            </a:r>
          </a:p>
        </p:txBody>
      </p:sp>
      <p:sp>
        <p:nvSpPr>
          <p:cNvPr id="4" name="Rounded Rectangle 3"/>
          <p:cNvSpPr/>
          <p:nvPr/>
        </p:nvSpPr>
        <p:spPr>
          <a:xfrm>
            <a:off x="502920" y="1993392"/>
            <a:ext cx="11183112"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1325880"/>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Третья сессия за две недели. Заказчик прислал заявку с опечаткой в домене почты, форма её приняла. Разработчик просит доработать валидацию. Агент предлагает подключить стороннюю библиотеку валидации форм — ту самую, которую уже обсуждали и отклонили: форма из двух полей, хватает нативных required/pattern и двадцати строк своего кода.</a:t>
            </a:r>
          </a:p>
        </p:txBody>
      </p:sp>
      <p:sp>
        <p:nvSpPr>
          <p:cNvPr id="6" name="TextBox 5"/>
          <p:cNvSpPr txBox="1"/>
          <p:nvPr/>
        </p:nvSpPr>
        <p:spPr>
          <a:xfrm>
            <a:off x="713232" y="3456432"/>
            <a:ext cx="10789920" cy="310896"/>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Агент предлагает её так, будто вопрос никогда не поднимался. Для него он и не поднимался.</a:t>
            </a:r>
          </a:p>
        </p:txBody>
      </p:sp>
      <p:sp>
        <p:nvSpPr>
          <p:cNvPr id="7" name="Rounded Rectangle 6"/>
          <p:cNvSpPr/>
          <p:nvPr/>
        </p:nvSpPr>
        <p:spPr>
          <a:xfrm>
            <a:off x="502920" y="4023360"/>
            <a:ext cx="11183112" cy="237743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096512"/>
            <a:ext cx="10780776" cy="2231135"/>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«Агент не нарушил правило. В файле инструкций этого правила не было и не могло быть — решение родилось в разговоре, а разговор кончился. Это не «забыл»: модель не имеет состояния между вызовами.»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Presence paradox из кейса 1.1 применяется и здесь: то, что лежит в DECISIONS.md, стоит контекста в каждой сессии независимо от того, нужна ли эта запись сегодня</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Кейс 1.1: Gloaguen et al. — сам факт присутствия текста в контексте создаёт стоимость (+20–23%), независимо от того, помогает ли он решить задачу. Мы назвали это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 не исключение. Каждая строка грузится в контекст в каждой следующей сессии, не только когда она реально нужна. Тридцать записей о разных темах — цена уже заметна, даже если задача касается только одной из них.</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прямого измерения именно на журналах решений не проводилось — это перенос уже установленного механизма на новый объект, не отдельное новое исследование</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если запись не бесплатна — точно ли туда идёт вообще всё, что можно туда положить?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Выберите, куда записать отклонённое решение — из карточек ниже — так, чтобы не объяснять его в третий раз</a:t>
            </a:r>
          </a:p>
        </p:txBody>
      </p:sp>
      <p:sp>
        <p:nvSpPr>
          <p:cNvPr id="4" name="TextBox 3"/>
          <p:cNvSpPr txBox="1"/>
          <p:nvPr/>
        </p:nvSpPr>
        <p:spPr>
          <a:xfrm>
            <a:off x="502920" y="1810512"/>
            <a:ext cx="11183112" cy="32004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напоминание: отклонённая библиотека валидации всплыла снова — решение родилось в разговоре и нигде не осталось</a:t>
            </a:r>
          </a:p>
        </p:txBody>
      </p:sp>
      <p:sp>
        <p:nvSpPr>
          <p:cNvPr id="5" name="Rounded Rectangle 4"/>
          <p:cNvSpPr/>
          <p:nvPr/>
        </p:nvSpPr>
        <p:spPr>
          <a:xfrm>
            <a:off x="502920" y="2194560"/>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267712"/>
            <a:ext cx="10780776" cy="10424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«Вы второй раз за две недели объясняете агенту, почему в этой форме нет сторонней библиотеки валидации.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7" name="Rounded Rectangle 6"/>
          <p:cNvSpPr/>
          <p:nvPr/>
        </p:nvSpPr>
        <p:spPr>
          <a:xfrm>
            <a:off x="502920" y="3566160"/>
            <a:ext cx="2119579" cy="2834640"/>
          </a:xfrm>
          <a:prstGeom prst="roundRect">
            <a:avLst>
              <a:gd name="adj" fmla="val 1438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566160"/>
            <a:ext cx="1973275" cy="2834640"/>
          </a:xfrm>
          <a:prstGeom prst="rect">
            <a:avLst/>
          </a:prstGeom>
          <a:noFill/>
        </p:spPr>
        <p:txBody>
          <a:bodyPr wrap="square" lIns="0" rIns="0" tIns="0" bIns="0" anchor="ctr">
            <a:spAutoFit/>
          </a:bodyPr>
          <a:lstStyle/>
          <a:p>
            <a:pPr algn="ctr">
              <a:lnSpc>
                <a:spcPct val="115000"/>
              </a:lnSpc>
              <a:spcAft>
                <a:spcPts val="0"/>
              </a:spcAft>
            </a:pPr>
            <a:r>
              <a:rPr sz="1200" b="1" i="0">
                <a:solidFill>
                  <a:srgbClr val="21295C"/>
                </a:solidFill>
                <a:latin typeface="Arial"/>
              </a:rPr>
              <a:t>дописать</a:t>
            </a:r>
          </a:p>
          <a:p>
            <a:pPr algn="ctr">
              <a:lnSpc>
                <a:spcPct val="115000"/>
              </a:lnSpc>
              <a:spcAft>
                <a:spcPts val="0"/>
              </a:spcAft>
            </a:pPr>
            <a:r>
              <a:rPr sz="1200" b="1" i="0">
                <a:solidFill>
                  <a:srgbClr val="21295C"/>
                </a:solidFill>
                <a:latin typeface="Arial"/>
              </a:rPr>
              <a:t>в CLAUDE.md</a:t>
            </a:r>
          </a:p>
        </p:txBody>
      </p:sp>
      <p:sp>
        <p:nvSpPr>
          <p:cNvPr id="9" name="Rounded Rectangle 8"/>
          <p:cNvSpPr/>
          <p:nvPr/>
        </p:nvSpPr>
        <p:spPr>
          <a:xfrm>
            <a:off x="2768803" y="3566160"/>
            <a:ext cx="2119579" cy="2834640"/>
          </a:xfrm>
          <a:prstGeom prst="roundRect">
            <a:avLst>
              <a:gd name="adj" fmla="val 1438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566160"/>
            <a:ext cx="1973275" cy="2834640"/>
          </a:xfrm>
          <a:prstGeom prst="rect">
            <a:avLst/>
          </a:prstGeom>
          <a:noFill/>
        </p:spPr>
        <p:txBody>
          <a:bodyPr wrap="square" lIns="0" rIns="0" tIns="0" bIns="0" anchor="ctr">
            <a:spAutoFit/>
          </a:bodyPr>
          <a:lstStyle/>
          <a:p>
            <a:pPr algn="ctr">
              <a:lnSpc>
                <a:spcPct val="115000"/>
              </a:lnSpc>
              <a:spcAft>
                <a:spcPts val="0"/>
              </a:spcAft>
            </a:pPr>
            <a:r>
              <a:rPr sz="1200" b="1" i="0">
                <a:solidFill>
                  <a:srgbClr val="21295C"/>
                </a:solidFill>
                <a:latin typeface="Arial"/>
              </a:rPr>
              <a:t>сказать агенту</a:t>
            </a:r>
          </a:p>
          <a:p>
            <a:pPr algn="ctr">
              <a:lnSpc>
                <a:spcPct val="115000"/>
              </a:lnSpc>
              <a:spcAft>
                <a:spcPts val="0"/>
              </a:spcAft>
            </a:pPr>
            <a:r>
              <a:rPr sz="1200" b="1" i="0">
                <a:solidFill>
                  <a:srgbClr val="21295C"/>
                </a:solidFill>
                <a:latin typeface="Arial"/>
              </a:rPr>
              <a:t>«запомни это»</a:t>
            </a:r>
          </a:p>
        </p:txBody>
      </p:sp>
      <p:sp>
        <p:nvSpPr>
          <p:cNvPr id="11" name="Rounded Rectangle 10"/>
          <p:cNvSpPr/>
          <p:nvPr/>
        </p:nvSpPr>
        <p:spPr>
          <a:xfrm>
            <a:off x="5034686" y="3566160"/>
            <a:ext cx="2119579" cy="2834640"/>
          </a:xfrm>
          <a:prstGeom prst="roundRect">
            <a:avLst>
              <a:gd name="adj" fmla="val 1438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566160"/>
            <a:ext cx="1973275" cy="2834640"/>
          </a:xfrm>
          <a:prstGeom prst="rect">
            <a:avLst/>
          </a:prstGeom>
          <a:noFill/>
        </p:spPr>
        <p:txBody>
          <a:bodyPr wrap="square" lIns="0" rIns="0" tIns="0" bIns="0" anchor="ctr">
            <a:spAutoFit/>
          </a:bodyPr>
          <a:lstStyle/>
          <a:p>
            <a:pPr algn="ctr">
              <a:lnSpc>
                <a:spcPct val="115000"/>
              </a:lnSpc>
              <a:spcAft>
                <a:spcPts val="0"/>
              </a:spcAft>
            </a:pPr>
            <a:r>
              <a:rPr sz="1200" b="1" i="0">
                <a:solidFill>
                  <a:srgbClr val="21295C"/>
                </a:solidFill>
                <a:latin typeface="Arial"/>
              </a:rPr>
              <a:t>завести</a:t>
            </a:r>
          </a:p>
          <a:p>
            <a:pPr algn="ctr">
              <a:lnSpc>
                <a:spcPct val="115000"/>
              </a:lnSpc>
              <a:spcAft>
                <a:spcPts val="0"/>
              </a:spcAft>
            </a:pPr>
            <a:r>
              <a:rPr sz="1200" b="1" i="0">
                <a:solidFill>
                  <a:srgbClr val="21295C"/>
                </a:solidFill>
                <a:latin typeface="Arial"/>
              </a:rPr>
              <a:t>DECISIONS.md</a:t>
            </a:r>
          </a:p>
        </p:txBody>
      </p:sp>
      <p:sp>
        <p:nvSpPr>
          <p:cNvPr id="13" name="Rounded Rectangle 12"/>
          <p:cNvSpPr/>
          <p:nvPr/>
        </p:nvSpPr>
        <p:spPr>
          <a:xfrm>
            <a:off x="7300569" y="3566160"/>
            <a:ext cx="2119579" cy="2834640"/>
          </a:xfrm>
          <a:prstGeom prst="roundRect">
            <a:avLst>
              <a:gd name="adj" fmla="val 1438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566160"/>
            <a:ext cx="1973275" cy="2834640"/>
          </a:xfrm>
          <a:prstGeom prst="rect">
            <a:avLst/>
          </a:prstGeom>
          <a:noFill/>
        </p:spPr>
        <p:txBody>
          <a:bodyPr wrap="square" lIns="0" rIns="0" tIns="0" bIns="0" anchor="ctr">
            <a:spAutoFit/>
          </a:bodyPr>
          <a:lstStyle/>
          <a:p>
            <a:pPr algn="ctr">
              <a:lnSpc>
                <a:spcPct val="115000"/>
              </a:lnSpc>
              <a:spcAft>
                <a:spcPts val="0"/>
              </a:spcAft>
            </a:pPr>
            <a:r>
              <a:rPr sz="1200" b="1" i="0">
                <a:solidFill>
                  <a:srgbClr val="21295C"/>
                </a:solidFill>
                <a:latin typeface="Arial"/>
              </a:rPr>
              <a:t>поставить систему</a:t>
            </a:r>
          </a:p>
          <a:p>
            <a:pPr algn="ctr">
              <a:lnSpc>
                <a:spcPct val="115000"/>
              </a:lnSpc>
              <a:spcAft>
                <a:spcPts val="0"/>
              </a:spcAft>
            </a:pPr>
            <a:r>
              <a:rPr sz="1200" b="1" i="0">
                <a:solidFill>
                  <a:srgbClr val="21295C"/>
                </a:solidFill>
                <a:latin typeface="Arial"/>
              </a:rPr>
              <a:t>памяти</a:t>
            </a:r>
          </a:p>
        </p:txBody>
      </p:sp>
      <p:sp>
        <p:nvSpPr>
          <p:cNvPr id="15" name="Rounded Rectangle 14"/>
          <p:cNvSpPr/>
          <p:nvPr/>
        </p:nvSpPr>
        <p:spPr>
          <a:xfrm>
            <a:off x="9566452" y="3566160"/>
            <a:ext cx="2119579" cy="2834640"/>
          </a:xfrm>
          <a:prstGeom prst="roundRect">
            <a:avLst>
              <a:gd name="adj" fmla="val 14380"/>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566160"/>
            <a:ext cx="1973275" cy="2834640"/>
          </a:xfrm>
          <a:prstGeom prst="rect">
            <a:avLst/>
          </a:prstGeom>
          <a:noFill/>
        </p:spPr>
        <p:txBody>
          <a:bodyPr wrap="square" lIns="0" rIns="0" tIns="0" bIns="0" anchor="ctr">
            <a:spAutoFit/>
          </a:bodyPr>
          <a:lstStyle/>
          <a:p>
            <a:pPr algn="ctr">
              <a:lnSpc>
                <a:spcPct val="115000"/>
              </a:lnSpc>
              <a:spcAft>
                <a:spcPts val="0"/>
              </a:spcAft>
            </a:pPr>
            <a:r>
              <a:rPr sz="1200" b="1" i="0">
                <a:solidFill>
                  <a:srgbClr val="21295C"/>
                </a:solidFill>
                <a:latin typeface="Arial"/>
              </a:rPr>
              <a:t>ничего — сам</a:t>
            </a:r>
          </a:p>
          <a:p>
            <a:pPr algn="ctr">
              <a:lnSpc>
                <a:spcPct val="115000"/>
              </a:lnSpc>
              <a:spcAft>
                <a:spcPts val="0"/>
              </a:spcAft>
            </a:pPr>
            <a:r>
              <a:rPr sz="1200" b="1" i="0">
                <a:solidFill>
                  <a:srgbClr val="21295C"/>
                </a:solidFill>
                <a:latin typeface="Arial"/>
              </a:rPr>
              <a:t>запомнит</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записать отклонённое решение — и почему не в файл инструкций?»</a:t>
            </a:r>
          </a:p>
        </p:txBody>
      </p:sp>
      <p:sp>
        <p:nvSpPr>
          <p:cNvPr id="5" name="Rounded Rectangle 4"/>
          <p:cNvSpPr/>
          <p:nvPr/>
        </p:nvSpPr>
        <p:spPr>
          <a:xfrm>
            <a:off x="502920" y="217627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«Допишу в CLAUDE.md»</a:t>
            </a:r>
          </a:p>
        </p:txBody>
      </p:sp>
      <p:sp>
        <p:nvSpPr>
          <p:cNvPr id="10" name="TextBox 9"/>
          <p:cNvSpPr txBox="1"/>
          <p:nvPr/>
        </p:nvSpPr>
        <p:spPr>
          <a:xfrm>
            <a:off x="3281964" y="274320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74320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Смешивает стабильные правила и растущий лог решений. На десятке решений файл выйдет за ориентир в 200 строк. Вместо: развести слои по авторству</a:t>
            </a:r>
          </a:p>
        </p:txBody>
      </p:sp>
      <p:cxnSp>
        <p:nvCxnSpPr>
          <p:cNvPr id="12" name="Connector 11"/>
          <p:cNvCxnSpPr/>
          <p:nvPr/>
        </p:nvCxnSpPr>
        <p:spPr>
          <a:xfrm>
            <a:off x="685800" y="32698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89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 агент сам запомнит»</a:t>
            </a:r>
          </a:p>
        </p:txBody>
      </p:sp>
      <p:sp>
        <p:nvSpPr>
          <p:cNvPr id="14" name="TextBox 13"/>
          <p:cNvSpPr txBox="1"/>
          <p:nvPr/>
        </p:nvSpPr>
        <p:spPr>
          <a:xfrm>
            <a:off x="3281964" y="326989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26989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Модель не имеет состояния между вызовами по конструкции. Вместо: решить, кто и куда пишет</a:t>
            </a:r>
          </a:p>
        </p:txBody>
      </p:sp>
      <p:cxnSp>
        <p:nvCxnSpPr>
          <p:cNvPr id="16" name="Connector 15"/>
          <p:cNvCxnSpPr/>
          <p:nvPr/>
        </p:nvCxnSpPr>
        <p:spPr>
          <a:xfrm>
            <a:off x="685800" y="37965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658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«Скажу агенту ‘запомни это’»</a:t>
            </a:r>
          </a:p>
        </p:txBody>
      </p:sp>
      <p:sp>
        <p:nvSpPr>
          <p:cNvPr id="18" name="TextBox 17"/>
          <p:cNvSpPr txBox="1"/>
          <p:nvPr/>
        </p:nvSpPr>
        <p:spPr>
          <a:xfrm>
            <a:off x="3281964" y="379658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личного предпочтения — идеально</a:t>
            </a:r>
          </a:p>
        </p:txBody>
      </p:sp>
      <p:sp>
        <p:nvSpPr>
          <p:cNvPr id="19" name="TextBox 18"/>
          <p:cNvSpPr txBox="1"/>
          <p:nvPr/>
        </p:nvSpPr>
        <p:spPr>
          <a:xfrm>
            <a:off x="6527170" y="379658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Половина ответа. Уходит в авто-память: машинно-локальный слой без синхронизации и код-ревью</a:t>
            </a:r>
          </a:p>
        </p:txBody>
      </p:sp>
      <p:cxnSp>
        <p:nvCxnSpPr>
          <p:cNvPr id="20" name="Connector 19"/>
          <p:cNvCxnSpPr/>
          <p:nvPr/>
        </p:nvCxnSpPr>
        <p:spPr>
          <a:xfrm>
            <a:off x="685800" y="43232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2328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«Заведу DECISIONS.md»</a:t>
            </a:r>
          </a:p>
        </p:txBody>
      </p:sp>
      <p:sp>
        <p:nvSpPr>
          <p:cNvPr id="22" name="TextBox 21"/>
          <p:cNvSpPr txBox="1"/>
          <p:nvPr/>
        </p:nvSpPr>
        <p:spPr>
          <a:xfrm>
            <a:off x="3281964" y="432328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32328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Вторая половина ответа. Требует писать «почему», а не «что»</a:t>
            </a:r>
          </a:p>
        </p:txBody>
      </p:sp>
      <p:cxnSp>
        <p:nvCxnSpPr>
          <p:cNvPr id="24" name="Connector 23"/>
          <p:cNvCxnSpPr/>
          <p:nvPr/>
        </p:nvCxnSpPr>
        <p:spPr>
          <a:xfrm>
            <a:off x="685800" y="4849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84997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систему памяти»</a:t>
            </a:r>
          </a:p>
        </p:txBody>
      </p:sp>
      <p:sp>
        <p:nvSpPr>
          <p:cNvPr id="26" name="TextBox 25"/>
          <p:cNvSpPr txBox="1"/>
          <p:nvPr/>
        </p:nvSpPr>
        <p:spPr>
          <a:xfrm>
            <a:off x="3281964" y="484997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десятках-сотнях записей, нескольких пользователях</a:t>
            </a:r>
          </a:p>
        </p:txBody>
      </p:sp>
      <p:sp>
        <p:nvSpPr>
          <p:cNvPr id="27" name="TextBox 26"/>
          <p:cNvSpPr txBox="1"/>
          <p:nvPr/>
        </p:nvSpPr>
        <p:spPr>
          <a:xfrm>
            <a:off x="6527170" y="484997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Рано на порядок: на малых корпусах простой файл регулярно конкурентен со сложными системами</a:t>
            </a:r>
          </a:p>
        </p:txBody>
      </p:sp>
      <p:sp>
        <p:nvSpPr>
          <p:cNvPr id="28" name="Rounded Rectangle 27"/>
          <p:cNvSpPr/>
          <p:nvPr/>
        </p:nvSpPr>
        <p:spPr>
          <a:xfrm>
            <a:off x="502920" y="570585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7900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СОВМЕСТНОЕ ФОРМИРОВАНИЕ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Разработчик просит отвечать
коротко, без преамбул</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Не подключаем стороннюю библиотеку
валидации — форма из двух полей</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заявка
уходит на внешний сервис приёма форм</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лежит
в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19 сентября тест упал из-за
таймаута, увеличили ожидание</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собранная запись — реальный файл демо-репозитория</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2026-09-20 — не подключаем библиотеку валидации форм</a:t>
            </a:r>
          </a:p>
          <a:p>
            <a:pPr algn="l">
              <a:lnSpc>
                <a:spcPct val="132000"/>
              </a:lnSpc>
              <a:spcAft>
                <a:spcPts val="200"/>
              </a:spcAft>
            </a:pPr>
            <a:r>
              <a:rPr sz="1150" b="0" i="0">
                <a:solidFill>
                  <a:srgbClr val="E3E9F2"/>
                </a:solidFill>
                <a:latin typeface="Consolas"/>
              </a:rPr>
              <a:t>Форма — два поля (имя, email), хватает нативных required/pattern в</a:t>
            </a:r>
          </a:p>
          <a:p>
            <a:pPr algn="l">
              <a:lnSpc>
                <a:spcPct val="132000"/>
              </a:lnSpc>
              <a:spcAft>
                <a:spcPts val="200"/>
              </a:spcAft>
            </a:pPr>
            <a:r>
              <a:rPr sz="1150" b="0" i="0">
                <a:solidFill>
                  <a:srgbClr val="E3E9F2"/>
                </a:solidFill>
                <a:latin typeface="Consolas"/>
              </a:rPr>
              <a:t>index.html. Сторонняя библиотека — лишняя зависимость ради этого объёма.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Два параллельных механизма, не один: авто-память живёт вне репозитория, DECISIONS.md — git-трекнутый лог «почему» внутри него</a:t>
            </a:r>
          </a:p>
        </p:txBody>
      </p:sp>
      <p:sp>
        <p:nvSpPr>
          <p:cNvPr id="4" name="Rounded Rectangle 3"/>
          <p:cNvSpPr/>
          <p:nvPr/>
        </p:nvSpPr>
        <p:spPr>
          <a:xfrm>
            <a:off x="502920" y="181051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целиком</a:t>
            </a:r>
          </a:p>
        </p:txBody>
      </p:sp>
      <p:sp>
        <p:nvSpPr>
          <p:cNvPr id="6" name="TextBox 5"/>
          <p:cNvSpPr txBox="1"/>
          <p:nvPr/>
        </p:nvSpPr>
        <p:spPr>
          <a:xfrm>
            <a:off x="704088" y="232257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2026-09-20 — не подключаем библиотеку валидации форм</a:t>
            </a:r>
          </a:p>
          <a:p>
            <a:pPr algn="l">
              <a:lnSpc>
                <a:spcPct val="132000"/>
              </a:lnSpc>
              <a:spcAft>
                <a:spcPts val="200"/>
              </a:spcAft>
            </a:pPr>
            <a:r>
              <a:rPr sz="1100" b="0" i="0">
                <a:solidFill>
                  <a:srgbClr val="E3E9F2"/>
                </a:solidFill>
                <a:latin typeface="Consolas"/>
              </a:rPr>
              <a:t>Форма — два поля (имя, email), хватает нативных required/pattern</a:t>
            </a:r>
          </a:p>
          <a:p>
            <a:pPr algn="l">
              <a:lnSpc>
                <a:spcPct val="132000"/>
              </a:lnSpc>
              <a:spcAft>
                <a:spcPts val="200"/>
              </a:spcAft>
            </a:pPr>
            <a:r>
              <a:rPr sz="1100" b="0" i="0">
                <a:solidFill>
                  <a:srgbClr val="E3E9F2"/>
                </a:solidFill>
                <a:latin typeface="Consolas"/>
              </a:rPr>
              <a:t>в index.html. Сторонняя библиотека — лишняя зависимость и лишние</a:t>
            </a:r>
          </a:p>
          <a:p>
            <a:pPr algn="l">
              <a:lnSpc>
                <a:spcPct val="132000"/>
              </a:lnSpc>
              <a:spcAft>
                <a:spcPts val="200"/>
              </a:spcAft>
            </a:pPr>
            <a:r>
              <a:rPr sz="1100" b="0" i="0">
                <a:solidFill>
                  <a:srgbClr val="E3E9F2"/>
                </a:solidFill>
                <a:latin typeface="Consolas"/>
              </a:rPr>
              <a:t>килобайты в сборке ради этого объёма.</a:t>
            </a:r>
          </a:p>
        </p:txBody>
      </p:sp>
      <p:sp>
        <p:nvSpPr>
          <p:cNvPr id="7" name="Rounded Rectangle 6"/>
          <p:cNvSpPr/>
          <p:nvPr/>
        </p:nvSpPr>
        <p:spPr>
          <a:xfrm>
            <a:off x="6903720" y="1810512"/>
            <a:ext cx="4782312" cy="2423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01168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кейса 2.1</a:t>
            </a:r>
          </a:p>
        </p:txBody>
      </p:sp>
      <p:sp>
        <p:nvSpPr>
          <p:cNvPr id="9" name="TextBox 8"/>
          <p:cNvSpPr txBox="1"/>
          <p:nvPr/>
        </p:nvSpPr>
        <p:spPr>
          <a:xfrm>
            <a:off x="7104888" y="2322576"/>
            <a:ext cx="4379976" cy="170992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p:txBody>
      </p:sp>
      <p:sp>
        <p:nvSpPr>
          <p:cNvPr id="10" name="Rounded Rectangle 9"/>
          <p:cNvSpPr/>
          <p:nvPr/>
        </p:nvSpPr>
        <p:spPr>
          <a:xfrm>
            <a:off x="6903720" y="4416552"/>
            <a:ext cx="47823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4526280"/>
            <a:ext cx="4453128" cy="1280160"/>
          </a:xfrm>
          <a:prstGeom prst="rect">
            <a:avLst/>
          </a:prstGeom>
          <a:noFill/>
        </p:spPr>
        <p:txBody>
          <a:bodyPr wrap="square" lIns="0" rIns="0" tIns="0" bIns="0" anchor="t">
            <a:spAutoFit/>
          </a:bodyPr>
          <a:lstStyle/>
          <a:p>
            <a:pPr algn="l">
              <a:lnSpc>
                <a:spcPct val="125000"/>
              </a:lnSpc>
            </a:pPr>
            <a:r>
              <a:rPr sz="1080" b="0" i="1">
                <a:solidFill>
                  <a:srgbClr val="6B7685"/>
                </a:solidFill>
                <a:latin typeface="Arial"/>
              </a:rPr>
              <a:t>diff создания файла: +DECISIONS.md (новый), git add + commit — команда, а не агент, решает, когда коммитить журнал решений.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ТРИ СЛОЯ</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Разница между слоями не в формате — оба markdown, — а в том, кто инициирует запись и кто её потом увидит</a:t>
            </a:r>
          </a:p>
        </p:txBody>
      </p:sp>
      <p:sp>
        <p:nvSpPr>
          <p:cNvPr id="4" name="Rounded Rectangle 3"/>
          <p:cNvSpPr/>
          <p:nvPr/>
        </p:nvSpPr>
        <p:spPr>
          <a:xfrm>
            <a:off x="502920" y="181051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306665"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
            </a:r>
          </a:p>
        </p:txBody>
      </p:sp>
      <p:sp>
        <p:nvSpPr>
          <p:cNvPr id="6" name="TextBox 5"/>
          <p:cNvSpPr txBox="1"/>
          <p:nvPr/>
        </p:nvSpPr>
        <p:spPr>
          <a:xfrm>
            <a:off x="3065617"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Файл инструкций</a:t>
            </a:r>
          </a:p>
        </p:txBody>
      </p:sp>
      <p:sp>
        <p:nvSpPr>
          <p:cNvPr id="7" name="TextBox 6"/>
          <p:cNvSpPr txBox="1"/>
          <p:nvPr/>
        </p:nvSpPr>
        <p:spPr>
          <a:xfrm>
            <a:off x="5878128"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Авто-память</a:t>
            </a:r>
          </a:p>
        </p:txBody>
      </p:sp>
      <p:sp>
        <p:nvSpPr>
          <p:cNvPr id="8" name="TextBox 7"/>
          <p:cNvSpPr txBox="1"/>
          <p:nvPr/>
        </p:nvSpPr>
        <p:spPr>
          <a:xfrm>
            <a:off x="8690640"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DECISIONS.md</a:t>
            </a:r>
          </a:p>
        </p:txBody>
      </p:sp>
      <p:sp>
        <p:nvSpPr>
          <p:cNvPr id="9" name="TextBox 8"/>
          <p:cNvSpPr txBox="1"/>
          <p:nvPr/>
        </p:nvSpPr>
        <p:spPr>
          <a:xfrm>
            <a:off x="685800" y="2377440"/>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Кто автор</a:t>
            </a:r>
          </a:p>
        </p:txBody>
      </p:sp>
      <p:sp>
        <p:nvSpPr>
          <p:cNvPr id="10" name="TextBox 9"/>
          <p:cNvSpPr txBox="1"/>
          <p:nvPr/>
        </p:nvSpPr>
        <p:spPr>
          <a:xfrm>
            <a:off x="3065617"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вы, заранее</a:t>
            </a:r>
          </a:p>
        </p:txBody>
      </p:sp>
      <p:sp>
        <p:nvSpPr>
          <p:cNvPr id="11" name="TextBox 10"/>
          <p:cNvSpPr txBox="1"/>
          <p:nvPr/>
        </p:nvSpPr>
        <p:spPr>
          <a:xfrm>
            <a:off x="5878128"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агент, по ходу</a:t>
            </a:r>
          </a:p>
        </p:txBody>
      </p:sp>
      <p:sp>
        <p:nvSpPr>
          <p:cNvPr id="12" name="TextBox 11"/>
          <p:cNvSpPr txBox="1"/>
          <p:nvPr/>
        </p:nvSpPr>
        <p:spPr>
          <a:xfrm>
            <a:off x="8690640"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вы, в момент решения</a:t>
            </a:r>
          </a:p>
        </p:txBody>
      </p:sp>
      <p:cxnSp>
        <p:nvCxnSpPr>
          <p:cNvPr id="13" name="Connector 12"/>
          <p:cNvCxnSpPr/>
          <p:nvPr/>
        </p:nvCxnSpPr>
        <p:spPr>
          <a:xfrm>
            <a:off x="685800" y="27934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93492"/>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Где живёт</a:t>
            </a:r>
          </a:p>
        </p:txBody>
      </p:sp>
      <p:sp>
        <p:nvSpPr>
          <p:cNvPr id="15" name="TextBox 14"/>
          <p:cNvSpPr txBox="1"/>
          <p:nvPr/>
        </p:nvSpPr>
        <p:spPr>
          <a:xfrm>
            <a:off x="3065617"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репозитории, git</a:t>
            </a:r>
          </a:p>
        </p:txBody>
      </p:sp>
      <p:sp>
        <p:nvSpPr>
          <p:cNvPr id="16" name="TextBox 15"/>
          <p:cNvSpPr txBox="1"/>
          <p:nvPr/>
        </p:nvSpPr>
        <p:spPr>
          <a:xfrm>
            <a:off x="5878128"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вне репозитория, на этой машине</a:t>
            </a:r>
          </a:p>
        </p:txBody>
      </p:sp>
      <p:sp>
        <p:nvSpPr>
          <p:cNvPr id="17" name="TextBox 16"/>
          <p:cNvSpPr txBox="1"/>
          <p:nvPr/>
        </p:nvSpPr>
        <p:spPr>
          <a:xfrm>
            <a:off x="8690640"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репозитории, git</a:t>
            </a:r>
          </a:p>
        </p:txBody>
      </p:sp>
      <p:cxnSp>
        <p:nvCxnSpPr>
          <p:cNvPr id="18" name="Connector 17"/>
          <p:cNvCxnSpPr/>
          <p:nvPr/>
        </p:nvCxnSpPr>
        <p:spPr>
          <a:xfrm>
            <a:off x="685800" y="32095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9544"/>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Что грузится</a:t>
            </a:r>
          </a:p>
        </p:txBody>
      </p:sp>
      <p:sp>
        <p:nvSpPr>
          <p:cNvPr id="20" name="TextBox 19"/>
          <p:cNvSpPr txBox="1"/>
          <p:nvPr/>
        </p:nvSpPr>
        <p:spPr>
          <a:xfrm>
            <a:off x="3065617"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целиком, каждую сессию</a:t>
            </a:r>
          </a:p>
        </p:txBody>
      </p:sp>
      <p:sp>
        <p:nvSpPr>
          <p:cNvPr id="21" name="TextBox 20"/>
          <p:cNvSpPr txBox="1"/>
          <p:nvPr/>
        </p:nvSpPr>
        <p:spPr>
          <a:xfrm>
            <a:off x="5878128"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индекс: первые 200 строк / 25 КБ</a:t>
            </a:r>
          </a:p>
        </p:txBody>
      </p:sp>
      <p:sp>
        <p:nvSpPr>
          <p:cNvPr id="22" name="TextBox 21"/>
          <p:cNvSpPr txBox="1"/>
          <p:nvPr/>
        </p:nvSpPr>
        <p:spPr>
          <a:xfrm>
            <a:off x="8690640"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ничего автоматически</a:t>
            </a:r>
          </a:p>
        </p:txBody>
      </p:sp>
      <p:cxnSp>
        <p:nvCxnSpPr>
          <p:cNvPr id="23" name="Connector 22"/>
          <p:cNvCxnSpPr/>
          <p:nvPr/>
        </p:nvCxnSpPr>
        <p:spPr>
          <a:xfrm>
            <a:off x="685800" y="36255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625596"/>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Проходит код-ревью</a:t>
            </a:r>
          </a:p>
        </p:txBody>
      </p:sp>
      <p:sp>
        <p:nvSpPr>
          <p:cNvPr id="25" name="TextBox 24"/>
          <p:cNvSpPr txBox="1"/>
          <p:nvPr/>
        </p:nvSpPr>
        <p:spPr>
          <a:xfrm>
            <a:off x="3065617"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sp>
        <p:nvSpPr>
          <p:cNvPr id="26" name="TextBox 25"/>
          <p:cNvSpPr txBox="1"/>
          <p:nvPr/>
        </p:nvSpPr>
        <p:spPr>
          <a:xfrm>
            <a:off x="5878128"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нет</a:t>
            </a:r>
          </a:p>
        </p:txBody>
      </p:sp>
      <p:sp>
        <p:nvSpPr>
          <p:cNvPr id="27" name="TextBox 26"/>
          <p:cNvSpPr txBox="1"/>
          <p:nvPr/>
        </p:nvSpPr>
        <p:spPr>
          <a:xfrm>
            <a:off x="8690640"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cxnSp>
        <p:nvCxnSpPr>
          <p:cNvPr id="28" name="Connector 27"/>
          <p:cNvCxnSpPr/>
          <p:nvPr/>
        </p:nvCxnSpPr>
        <p:spPr>
          <a:xfrm>
            <a:off x="685800" y="4041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41648"/>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Переживает смену машины</a:t>
            </a:r>
          </a:p>
        </p:txBody>
      </p:sp>
      <p:sp>
        <p:nvSpPr>
          <p:cNvPr id="30" name="TextBox 29"/>
          <p:cNvSpPr txBox="1"/>
          <p:nvPr/>
        </p:nvSpPr>
        <p:spPr>
          <a:xfrm>
            <a:off x="3065617"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sp>
        <p:nvSpPr>
          <p:cNvPr id="31" name="TextBox 30"/>
          <p:cNvSpPr txBox="1"/>
          <p:nvPr/>
        </p:nvSpPr>
        <p:spPr>
          <a:xfrm>
            <a:off x="5878128"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нет</a:t>
            </a:r>
          </a:p>
        </p:txBody>
      </p:sp>
      <p:sp>
        <p:nvSpPr>
          <p:cNvPr id="32" name="TextBox 31"/>
          <p:cNvSpPr txBox="1"/>
          <p:nvPr/>
        </p:nvSpPr>
        <p:spPr>
          <a:xfrm>
            <a:off x="8690640"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cxnSp>
        <p:nvCxnSpPr>
          <p:cNvPr id="33" name="Connector 32"/>
          <p:cNvCxnSpPr/>
          <p:nvPr/>
        </p:nvCxnSpPr>
        <p:spPr>
          <a:xfrm>
            <a:off x="685800" y="4457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457700"/>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Что туда идёт</a:t>
            </a:r>
          </a:p>
        </p:txBody>
      </p:sp>
      <p:sp>
        <p:nvSpPr>
          <p:cNvPr id="35" name="TextBox 34"/>
          <p:cNvSpPr txBox="1"/>
          <p:nvPr/>
        </p:nvSpPr>
        <p:spPr>
          <a:xfrm>
            <a:off x="3065617"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стабильные правила и границы</a:t>
            </a:r>
          </a:p>
        </p:txBody>
      </p:sp>
      <p:sp>
        <p:nvSpPr>
          <p:cNvPr id="36" name="TextBox 35"/>
          <p:cNvSpPr txBox="1"/>
          <p:nvPr/>
        </p:nvSpPr>
        <p:spPr>
          <a:xfrm>
            <a:off x="5878128"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предпочтения, подтверждённые подходы</a:t>
            </a:r>
          </a:p>
        </p:txBody>
      </p:sp>
      <p:sp>
        <p:nvSpPr>
          <p:cNvPr id="37" name="TextBox 36"/>
          <p:cNvSpPr txBox="1"/>
          <p:nvPr/>
        </p:nvSpPr>
        <p:spPr>
          <a:xfrm>
            <a:off x="8690640"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решения и их «почему»</a:t>
            </a:r>
          </a:p>
        </p:txBody>
      </p:sp>
      <p:sp>
        <p:nvSpPr>
          <p:cNvPr id="38" name="TextBox 37"/>
          <p:cNvSpPr txBox="1"/>
          <p:nvPr/>
        </p:nvSpPr>
        <p:spPr>
          <a:xfrm>
            <a:off x="502920" y="5202936"/>
            <a:ext cx="11183112" cy="685800"/>
          </a:xfrm>
          <a:prstGeom prst="rect">
            <a:avLst/>
          </a:prstGeom>
          <a:noFill/>
        </p:spPr>
        <p:txBody>
          <a:bodyPr wrap="square" lIns="0" rIns="0" tIns="0" bIns="0" anchor="t">
            <a:spAutoFit/>
          </a:bodyPr>
          <a:lstStyle/>
          <a:p>
            <a:pPr algn="ctr">
              <a:lnSpc>
                <a:spcPct val="125000"/>
              </a:lnSpc>
            </a:pPr>
            <a:r>
              <a:rPr sz="1250" b="0" i="1">
                <a:solidFill>
                  <a:srgbClr val="065A82"/>
                </a:solidFill>
                <a:latin typeface="Arial"/>
              </a:rPr>
              <a:t>индекс памяти — только индекс  ·  агент сам пропускает выводимое из кода  ·  сжатие контекста переживают только файлы на диске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ПРОВАЛ И ЭФФЕКТИВНОСТЬ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Память по умолчанию читается как доверенный контекст, а не как данные — и включение памяти не обязательно улучшает результат</a:t>
            </a:r>
          </a:p>
        </p:txBody>
      </p:sp>
      <p:sp>
        <p:nvSpPr>
          <p:cNvPr id="4" name="Rounded Rectangle 3"/>
          <p:cNvSpPr/>
          <p:nvPr/>
        </p:nvSpPr>
        <p:spPr>
          <a:xfrm>
            <a:off x="502920" y="181051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011680"/>
            <a:ext cx="365760" cy="365760"/>
          </a:xfrm>
          <a:prstGeom prst="rect">
            <a:avLst/>
          </a:prstGeom>
        </p:spPr>
      </p:pic>
      <p:sp>
        <p:nvSpPr>
          <p:cNvPr id="6" name="TextBox 5"/>
          <p:cNvSpPr txBox="1"/>
          <p:nvPr/>
        </p:nvSpPr>
        <p:spPr>
          <a:xfrm>
            <a:off x="1197864" y="199339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Отравление памяти — SpAIware (сентябрь 2024)</a:t>
            </a:r>
          </a:p>
        </p:txBody>
      </p:sp>
      <p:sp>
        <p:nvSpPr>
          <p:cNvPr id="7" name="TextBox 6"/>
          <p:cNvSpPr txBox="1"/>
          <p:nvPr/>
        </p:nvSpPr>
        <p:spPr>
          <a:xfrm>
            <a:off x="704088" y="241401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версии 1.2024.247; структурный принцип остался.</a:t>
            </a:r>
          </a:p>
        </p:txBody>
      </p:sp>
      <p:sp>
        <p:nvSpPr>
          <p:cNvPr id="8" name="Rounded Rectangle 7"/>
          <p:cNvSpPr/>
          <p:nvPr/>
        </p:nvSpPr>
        <p:spPr>
          <a:xfrm>
            <a:off x="7708392" y="181051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193852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всех последующих обращений к памяти захвачено (MemoryGraft, 2025; до отравления — 0%). В смежном эксперименте 5 подложенных документов управляют выводом в &gt;90% случаев.</a:t>
            </a:r>
          </a:p>
        </p:txBody>
      </p:sp>
      <p:sp>
        <p:nvSpPr>
          <p:cNvPr id="10" name="Rounded Rectangle 9"/>
          <p:cNvSpPr/>
          <p:nvPr/>
        </p:nvSpPr>
        <p:spPr>
          <a:xfrm>
            <a:off x="502920" y="39593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14223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Замер</a:t>
            </a:r>
          </a:p>
        </p:txBody>
      </p:sp>
      <p:sp>
        <p:nvSpPr>
          <p:cNvPr id="12" name="TextBox 11"/>
          <p:cNvSpPr txBox="1"/>
          <p:nvPr/>
        </p:nvSpPr>
        <p:spPr>
          <a:xfrm>
            <a:off x="5229087" y="41422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Значение</a:t>
            </a:r>
          </a:p>
        </p:txBody>
      </p:sp>
      <p:sp>
        <p:nvSpPr>
          <p:cNvPr id="13" name="TextBox 12"/>
          <p:cNvSpPr txBox="1"/>
          <p:nvPr/>
        </p:nvSpPr>
        <p:spPr>
          <a:xfrm>
            <a:off x="8690640" y="41422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База сравнения</a:t>
            </a:r>
          </a:p>
        </p:txBody>
      </p:sp>
      <p:sp>
        <p:nvSpPr>
          <p:cNvPr id="14" name="Rectangle 13"/>
          <p:cNvSpPr/>
          <p:nvPr/>
        </p:nvSpPr>
        <p:spPr>
          <a:xfrm>
            <a:off x="557784" y="452628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 долговременной памяти</a:t>
            </a:r>
          </a:p>
        </p:txBody>
      </p:sp>
      <p:sp>
        <p:nvSpPr>
          <p:cNvPr id="16" name="TextBox 15"/>
          <p:cNvSpPr txBox="1"/>
          <p:nvPr/>
        </p:nvSpPr>
        <p:spPr>
          <a:xfrm>
            <a:off x="5229087" y="452628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690640" y="452628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840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84022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Шесть систем памяти против «весь текст сессии в один файл»</a:t>
            </a:r>
          </a:p>
        </p:txBody>
      </p:sp>
      <p:sp>
        <p:nvSpPr>
          <p:cNvPr id="20" name="TextBox 19"/>
          <p:cNvSpPr txBox="1"/>
          <p:nvPr/>
        </p:nvSpPr>
        <p:spPr>
          <a:xfrm>
            <a:off x="5229087" y="484022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плоскому файлу на 25–67 пунктов</a:t>
            </a:r>
          </a:p>
        </p:txBody>
      </p:sp>
      <p:sp>
        <p:nvSpPr>
          <p:cNvPr id="21" name="TextBox 20"/>
          <p:cNvSpPr txBox="1"/>
          <p:nvPr/>
        </p:nvSpPr>
        <p:spPr>
          <a:xfrm>
            <a:off x="8690640" y="484022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5154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15416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229087" y="515416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задачи из 24) — модель отказалась записать нужный факт</a:t>
            </a:r>
          </a:p>
        </p:txBody>
      </p:sp>
      <p:sp>
        <p:nvSpPr>
          <p:cNvPr id="25" name="TextBox 24"/>
          <p:cNvSpPr txBox="1"/>
          <p:nvPr/>
        </p:nvSpPr>
        <p:spPr>
          <a:xfrm>
            <a:off x="8690640" y="515416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КРИТЕРИЙ И ГРАНИЦА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Плоского файла достаточно, пока история решений влезает в контекст целиком и связей между записями ещё нет</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одноразовая, второй сессии по этому контексту не будет.</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Весь нужный контекст помещается в одно контекстное окно без потерь.</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Правила проекта стабильны и укладываются в файл инструкций короче 200 строк.</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повторяет вручную одну и ту же правку из сессии в сессию.</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Нет нескольких участников, которым нужно делиться контекстом асинхронно.</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Факт выводим из кода или истории изменений.</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Плоский DECISIONS.md перестаёт справляться, когда записей набралось настолько много, что найти нужную линейным чтением дольше, чем переобъяснить решение заново, — и между записями появились связи, для которых в append-only логе физически некуда положить.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6415" y="548640"/>
            <a:ext cx="1633727"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872"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515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Кейс 2.2 · структурированная вики-память</a:t>
            </a:r>
          </a:p>
        </p:txBody>
      </p:sp>
      <p:sp>
        <p:nvSpPr>
          <p:cNvPr id="9" name="TextBox 8"/>
          <p:cNvSpPr txBox="1"/>
          <p:nvPr/>
        </p:nvSpPr>
        <p:spPr>
          <a:xfrm>
            <a:off x="868680" y="3127248"/>
            <a:ext cx="8778240" cy="82296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Тот же DECISIONS.md, но разросшийся — плоский лог больше не хранит связей</a:t>
            </a:r>
          </a:p>
        </p:txBody>
      </p:sp>
      <p:sp>
        <p:nvSpPr>
          <p:cNvPr id="10" name="Rounded Rectangle 9"/>
          <p:cNvSpPr/>
          <p:nvPr/>
        </p:nvSpPr>
        <p:spPr>
          <a:xfrm>
            <a:off x="868680" y="3977639"/>
            <a:ext cx="5486400" cy="54864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77639"/>
            <a:ext cx="4974336" cy="54864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1 КОНТРПРИМЕР СТРУКТУРЕ · 4 ЧЕСТНЫХ ИЗДЕРЖКИ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ВИКИ-ПАМЯТЬ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технически на месте, но пользоваться им дольше, чем не пользоваться — линейный лог не хранит связей между записями</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Прошло четыре месяца. Новый разработчик в команде просит агента добавить капчу на форму: появился спам. Агент листает DECISIONS.md целиком (тридцать восемь записей) и предлагает решение, которое противоречит более раннему решению №14: «не добавляем сторонние виджеты в форму, см. запись №3». Агент нашёл запись №3, но не нашёл запись №31 — она отменяет часть решения №3 конкретно для случая антиспама, дописана двумя месяцами позже, в другом конце файла, без единой отсылки назад.</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Разработчик открывает файл сам и тратит на линейное чтение тридцати восьми записей больше времени, чем ушло бы на то, чтобы заново передумать вопрос с нуля.</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Пример иллюстративный — реального разросшегося DECISIONS.md на 38 записей не захвачено.</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Тридцать восемь записей и потерянная связь между двумя из них — повод выбрать, как реорганизовать журнал решений, а не заводить его заново</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разросся до тридцати восьми записей, и в нём уже есть решение, которое отменяет часть более раннего решения, — без единой ссылки между ними. Выберите, как реорганизовать этот файл — из карточек ниже — так, чтобы агент быстро находил нужное решение и видел связи между решениями. Обоснуйте выбор.»</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оставить как есть —</a:t>
            </a:r>
          </a:p>
          <a:p>
            <a:pPr algn="ctr">
              <a:lnSpc>
                <a:spcPct val="115000"/>
              </a:lnSpc>
              <a:spcAft>
                <a:spcPts val="0"/>
              </a:spcAft>
            </a:pPr>
            <a:r>
              <a:rPr sz="1250" b="1" i="0">
                <a:solidFill>
                  <a:srgbClr val="21295C"/>
                </a:solidFill>
                <a:latin typeface="Arial"/>
              </a:rPr>
              <a:t>просто грепать</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разбить на тематические</a:t>
            </a:r>
          </a:p>
          <a:p>
            <a:pPr algn="ctr">
              <a:lnSpc>
                <a:spcPct val="115000"/>
              </a:lnSpc>
              <a:spcAft>
                <a:spcPts val="0"/>
              </a:spcAft>
            </a:pPr>
            <a:r>
              <a:rPr sz="1250" b="1" i="0">
                <a:solidFill>
                  <a:srgbClr val="21295C"/>
                </a:solidFill>
                <a:latin typeface="Arial"/>
              </a:rPr>
              <a:t>файлы со ссылками</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графовую/</a:t>
            </a:r>
          </a:p>
          <a:p>
            <a:pPr algn="ctr">
              <a:lnSpc>
                <a:spcPct val="115000"/>
              </a:lnSpc>
              <a:spcAft>
                <a:spcPts val="0"/>
              </a:spcAft>
            </a:pPr>
            <a:r>
              <a:rPr sz="1250" b="1" i="0">
                <a:solidFill>
                  <a:srgbClr val="21295C"/>
                </a:solidFill>
                <a:latin typeface="Arial"/>
              </a:rPr>
              <a:t>векторную систему памяти</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общий</a:t>
            </a:r>
          </a:p>
          <a:p>
            <a:pPr algn="ctr">
              <a:lnSpc>
                <a:spcPct val="115000"/>
              </a:lnSpc>
              <a:spcAft>
                <a:spcPts val="0"/>
              </a:spcAft>
            </a:pPr>
            <a:r>
              <a:rPr sz="1250" b="1" i="0">
                <a:solidFill>
                  <a:srgbClr val="21295C"/>
                </a:solidFill>
                <a:latin typeface="Arial"/>
              </a:rPr>
              <a:t>SUMMARY.md, переписываемый целиком</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агент сам найдёт</a:t>
            </a:r>
          </a:p>
          <a:p>
            <a:pPr algn="ctr">
              <a:lnSpc>
                <a:spcPct val="115000"/>
              </a:lnSpc>
              <a:spcAft>
                <a:spcPts val="0"/>
              </a:spcAft>
            </a:pPr>
            <a:r>
              <a:rPr sz="1250" b="1" i="0">
                <a:solidFill>
                  <a:srgbClr val="21295C"/>
                </a:solidFill>
                <a:latin typeface="Arial"/>
              </a:rPr>
              <a:t>через поиск по репозиторию</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Разбить на тематические файлы со сквозными ссылками — целевой ответ, но не бесплатный: структура сама создаёт новую нагрузку</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реорганизовать разросшийся журнал решений?»</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«Оставить как есть, просто грепать»</a:t>
            </a:r>
          </a:p>
        </p:txBody>
      </p:sp>
      <p:sp>
        <p:nvSpPr>
          <p:cNvPr id="10" name="TextBox 9"/>
          <p:cNvSpPr txBox="1"/>
          <p:nvPr/>
        </p:nvSpPr>
        <p:spPr>
          <a:xfrm>
            <a:off x="3498311" y="274320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записей десятки и они укладываются в контекст целиком</a:t>
            </a:r>
          </a:p>
        </p:txBody>
      </p:sp>
      <p:sp>
        <p:nvSpPr>
          <p:cNvPr id="11" name="TextBox 10"/>
          <p:cNvSpPr txBox="1"/>
          <p:nvPr/>
        </p:nvSpPr>
        <p:spPr>
          <a:xfrm>
            <a:off x="6527170" y="274320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Деградация плоской памяти со временем задокументирована кросс-источниками (~72 ч, −14 п.п.); наш файл уже перерос эту границу</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26075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«Разбить на тематические файлы со сквозными ссылками»</a:t>
            </a:r>
          </a:p>
        </p:txBody>
      </p:sp>
      <p:sp>
        <p:nvSpPr>
          <p:cNvPr id="15" name="TextBox 14"/>
          <p:cNvSpPr txBox="1"/>
          <p:nvPr/>
        </p:nvSpPr>
        <p:spPr>
          <a:xfrm>
            <a:off x="3498311" y="326075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Именно этот случай</a:t>
            </a:r>
          </a:p>
        </p:txBody>
      </p:sp>
      <p:sp>
        <p:nvSpPr>
          <p:cNvPr id="16" name="TextBox 15"/>
          <p:cNvSpPr txBox="1"/>
          <p:nvPr/>
        </p:nvSpPr>
        <p:spPr>
          <a:xfrm>
            <a:off x="6527170" y="326075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но не бесплатный — структура сама создаёт новую нагрузку (staleness, дублирование, поддержка)</a:t>
            </a:r>
          </a:p>
        </p:txBody>
      </p:sp>
      <p:cxnSp>
        <p:nvCxnSpPr>
          <p:cNvPr id="17" name="Connector 16"/>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графовую/векторную систему памяти»</a:t>
            </a:r>
          </a:p>
        </p:txBody>
      </p:sp>
      <p:sp>
        <p:nvSpPr>
          <p:cNvPr id="19" name="TextBox 18"/>
          <p:cNvSpPr txBox="1"/>
          <p:nvPr/>
        </p:nvSpPr>
        <p:spPr>
          <a:xfrm>
            <a:off x="3498311" y="377830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больших многопользовательских корпусах с семантическим поиском</a:t>
            </a:r>
          </a:p>
        </p:txBody>
      </p:sp>
      <p:sp>
        <p:nvSpPr>
          <p:cNvPr id="20" name="TextBox 19"/>
          <p:cNvSpPr txBox="1"/>
          <p:nvPr/>
        </p:nvSpPr>
        <p:spPr>
          <a:xfrm>
            <a:off x="6527170" y="377830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Контрпример прямо про наш масштаб: файловое хранилище обошло graph-based систему на LoCoMo. Рано на порядок</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общий SUMMARY.md, переписываемый целиком»</a:t>
            </a:r>
          </a:p>
        </p:txBody>
      </p:sp>
      <p:sp>
        <p:nvSpPr>
          <p:cNvPr id="23" name="TextBox 22"/>
          <p:cNvSpPr txBox="1"/>
          <p:nvPr/>
        </p:nvSpPr>
        <p:spPr>
          <a:xfrm>
            <a:off x="3498311" y="429585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совсем маленького проекта</a:t>
            </a:r>
          </a:p>
        </p:txBody>
      </p:sp>
      <p:sp>
        <p:nvSpPr>
          <p:cNvPr id="24" name="TextBox 23"/>
          <p:cNvSpPr txBox="1"/>
          <p:nvPr/>
        </p:nvSpPr>
        <p:spPr>
          <a:xfrm>
            <a:off x="6527170" y="429585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Переписывание целиком убивает append-only гарантию — история решения невосстановима</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сам найдёт через поиск по репозиторию»</a:t>
            </a:r>
          </a:p>
        </p:txBody>
      </p:sp>
      <p:sp>
        <p:nvSpPr>
          <p:cNvPr id="27" name="TextBox 26"/>
          <p:cNvSpPr txBox="1"/>
          <p:nvPr/>
        </p:nvSpPr>
        <p:spPr>
          <a:xfrm>
            <a:off x="3498311" y="481340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фактов, выводимых из кода</a:t>
            </a:r>
          </a:p>
        </p:txBody>
      </p:sp>
      <p:sp>
        <p:nvSpPr>
          <p:cNvPr id="28" name="TextBox 27"/>
          <p:cNvSpPr txBox="1"/>
          <p:nvPr/>
        </p:nvSpPr>
        <p:spPr>
          <a:xfrm>
            <a:off x="6527170" y="481340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Решения — не факты кода. «Сам найдёт» — то же заблуждение, что «сам запомнит»</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целевой ответ — разбить на тематические файлы со сквозными ссылками, со списком реальных издержек, а не как безусловный апгрейд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Запись явно ссылается на связанную запись — то, чего в плоском append-only логе не было в принципе</a:t>
            </a:r>
          </a:p>
        </p:txBody>
      </p:sp>
      <p:sp>
        <p:nvSpPr>
          <p:cNvPr id="4" name="Rounded Rectangle 3"/>
          <p:cNvSpPr/>
          <p:nvPr/>
        </p:nvSpPr>
        <p:spPr>
          <a:xfrm>
            <a:off x="502920" y="1810512"/>
            <a:ext cx="45720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4169663" cy="2798064"/>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memory/decisions/</a:t>
            </a:r>
          </a:p>
          <a:p>
            <a:pPr algn="l">
              <a:lnSpc>
                <a:spcPct val="132000"/>
              </a:lnSpc>
              <a:spcAft>
                <a:spcPts val="200"/>
              </a:spcAft>
            </a:pPr>
            <a:r>
              <a:rPr sz="1150" b="0" i="0">
                <a:solidFill>
                  <a:srgbClr val="E3E9F2"/>
                </a:solidFill>
                <a:latin typeface="Consolas"/>
              </a:rPr>
              <a:t>  index.md        ← оглавление тем + ссылки</a:t>
            </a:r>
          </a:p>
          <a:p>
            <a:pPr algn="l">
              <a:lnSpc>
                <a:spcPct val="132000"/>
              </a:lnSpc>
              <a:spcAft>
                <a:spcPts val="200"/>
              </a:spcAft>
            </a:pPr>
            <a:r>
              <a:rPr sz="1150" b="0" i="0">
                <a:solidFill>
                  <a:srgbClr val="E3E9F2"/>
                </a:solidFill>
                <a:latin typeface="Consolas"/>
              </a:rPr>
              <a:t>  validation.md   ← решения по валидации формы</a:t>
            </a:r>
          </a:p>
          <a:p>
            <a:pPr algn="l">
              <a:lnSpc>
                <a:spcPct val="132000"/>
              </a:lnSpc>
              <a:spcAft>
                <a:spcPts val="200"/>
              </a:spcAft>
            </a:pPr>
            <a:r>
              <a:rPr sz="1150" b="0" i="0">
                <a:solidFill>
                  <a:srgbClr val="E3E9F2"/>
                </a:solidFill>
                <a:latin typeface="Consolas"/>
              </a:rPr>
              <a:t>  backend.md      ← решения о том, чего мы НЕ делаем</a:t>
            </a:r>
          </a:p>
          <a:p>
            <a:pPr algn="l">
              <a:lnSpc>
                <a:spcPct val="132000"/>
              </a:lnSpc>
              <a:spcAft>
                <a:spcPts val="200"/>
              </a:spcAft>
            </a:pPr>
            <a:r>
              <a:rPr sz="1150" b="0" i="0">
                <a:solidFill>
                  <a:srgbClr val="E3E9F2"/>
                </a:solidFill>
                <a:latin typeface="Consolas"/>
              </a:rPr>
              <a:t>  deploy.md</a:t>
            </a:r>
          </a:p>
        </p:txBody>
      </p:sp>
      <p:sp>
        <p:nvSpPr>
          <p:cNvPr id="6" name="Rounded Rectangle 5"/>
          <p:cNvSpPr/>
          <p:nvPr/>
        </p:nvSpPr>
        <p:spPr>
          <a:xfrm>
            <a:off x="5349240" y="1810512"/>
            <a:ext cx="6336792"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7" y="2011680"/>
            <a:ext cx="593445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validation.md — пример записи</a:t>
            </a:r>
          </a:p>
        </p:txBody>
      </p:sp>
      <p:sp>
        <p:nvSpPr>
          <p:cNvPr id="8" name="TextBox 7"/>
          <p:cNvSpPr txBox="1"/>
          <p:nvPr/>
        </p:nvSpPr>
        <p:spPr>
          <a:xfrm>
            <a:off x="5550407" y="2322576"/>
            <a:ext cx="5934456" cy="2487168"/>
          </a:xfrm>
          <a:prstGeom prst="rect">
            <a:avLst/>
          </a:prstGeom>
          <a:noFill/>
        </p:spPr>
        <p:txBody>
          <a:bodyPr wrap="square" lIns="0" rIns="0" tIns="0" bIns="0" anchor="t">
            <a:spAutoFit/>
          </a:bodyPr>
          <a:lstStyle/>
          <a:p>
            <a:pPr algn="l">
              <a:lnSpc>
                <a:spcPct val="132000"/>
              </a:lnSpc>
              <a:spcAft>
                <a:spcPts val="200"/>
              </a:spcAft>
            </a:pPr>
            <a:r>
              <a:rPr sz="1030" b="1" i="0">
                <a:solidFill>
                  <a:srgbClr val="028090"/>
                </a:solidFill>
                <a:latin typeface="Consolas"/>
              </a:rPr>
              <a:t>## 2026-09-20 — не подключаем библиотеку валидации форм</a:t>
            </a:r>
          </a:p>
          <a:p>
            <a:pPr algn="l">
              <a:lnSpc>
                <a:spcPct val="132000"/>
              </a:lnSpc>
              <a:spcAft>
                <a:spcPts val="200"/>
              </a:spcAft>
            </a:pPr>
            <a:r>
              <a:rPr sz="1030" b="0" i="0">
                <a:solidFill>
                  <a:srgbClr val="E3E9F2"/>
                </a:solidFill>
                <a:latin typeface="Consolas"/>
              </a:rPr>
              <a:t>Форма — два поля, хватает нативных required/pattern.</a:t>
            </a:r>
          </a:p>
          <a:p>
            <a:pPr algn="l">
              <a:lnSpc>
                <a:spcPct val="132000"/>
              </a:lnSpc>
              <a:spcAft>
                <a:spcPts val="200"/>
              </a:spcAft>
            </a:pPr>
            <a:r>
              <a:rPr sz="1030" b="0" i="0">
                <a:solidFill>
                  <a:srgbClr val="E3E9F2"/>
                </a:solidFill>
                <a:latin typeface="Consolas"/>
              </a:rPr>
              <a:t>См. также: 2026-11-30 (антиспам) — это решение НЕ</a:t>
            </a:r>
          </a:p>
          <a:p>
            <a:pPr algn="l">
              <a:lnSpc>
                <a:spcPct val="132000"/>
              </a:lnSpc>
              <a:spcAft>
                <a:spcPts val="200"/>
              </a:spcAft>
            </a:pPr>
            <a:r>
              <a:rPr sz="1030" b="0" i="0">
                <a:solidFill>
                  <a:srgbClr val="E3E9F2"/>
                </a:solidFill>
                <a:latin typeface="Consolas"/>
              </a:rPr>
              <a:t>распространяется на защиту от спама, другой механизм.</a:t>
            </a:r>
          </a:p>
          <a:p>
            <a:pPr algn="l">
              <a:lnSpc>
                <a:spcPct val="132000"/>
              </a:lnSpc>
              <a:spcAft>
                <a:spcPts val="200"/>
              </a:spcAft>
            </a:pPr>
            <a:r>
              <a:rPr sz="1030" b="0" i="0">
                <a:solidFill>
                  <a:srgbClr val="E3E9F2"/>
                </a:solidFill>
                <a:latin typeface="Consolas"/>
              </a:rPr>
              <a:t/>
            </a:r>
          </a:p>
          <a:p>
            <a:pPr algn="l">
              <a:lnSpc>
                <a:spcPct val="132000"/>
              </a:lnSpc>
              <a:spcAft>
                <a:spcPts val="200"/>
              </a:spcAft>
            </a:pPr>
            <a:r>
              <a:rPr sz="1030" b="1" i="0">
                <a:solidFill>
                  <a:srgbClr val="028090"/>
                </a:solidFill>
                <a:latin typeface="Consolas"/>
              </a:rPr>
              <a:t>## 2026-11-30 — антиспам через honeypot-поле, без капчи</a:t>
            </a:r>
          </a:p>
          <a:p>
            <a:pPr algn="l">
              <a:lnSpc>
                <a:spcPct val="132000"/>
              </a:lnSpc>
              <a:spcAft>
                <a:spcPts val="200"/>
              </a:spcAft>
            </a:pPr>
            <a:r>
              <a:rPr sz="1030" b="0" i="0">
                <a:solidFill>
                  <a:srgbClr val="E3E9F2"/>
                </a:solidFill>
                <a:latin typeface="Consolas"/>
              </a:rPr>
              <a:t>Отменяет часть решения от 2026-09-20 для случая антиспама.</a:t>
            </a:r>
          </a:p>
        </p:txBody>
      </p:sp>
      <p:sp>
        <p:nvSpPr>
          <p:cNvPr id="9" name="TextBox 8"/>
          <p:cNvSpPr txBox="1"/>
          <p:nvPr/>
        </p:nvSpPr>
        <p:spPr>
          <a:xfrm>
            <a:off x="502920" y="5193792"/>
            <a:ext cx="11183112" cy="1207007"/>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иллюстративный пример, не захваченный вживую — ждёт реальной сессии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ПРОВАЛ И ИЗДЕРЖКИ</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Структура — не гарантированный выигрыш и не бесплатный апгрейд: простое файловое хранилище обошло графовую систему памяти, а сама структура добавляет свою собственную нагрузку</a:t>
            </a:r>
          </a:p>
        </p:txBody>
      </p:sp>
      <p:sp>
        <p:nvSpPr>
          <p:cNvPr id="4" name="TextBox 3"/>
          <p:cNvSpPr txBox="1"/>
          <p:nvPr/>
        </p:nvSpPr>
        <p:spPr>
          <a:xfrm>
            <a:off x="502920" y="217627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679192"/>
            <a:ext cx="11183112"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62072"/>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7" name="TextBox 6"/>
          <p:cNvSpPr txBox="1"/>
          <p:nvPr/>
        </p:nvSpPr>
        <p:spPr>
          <a:xfrm>
            <a:off x="8474293" y="2862072"/>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8" name="Rectangle 7"/>
          <p:cNvSpPr/>
          <p:nvPr/>
        </p:nvSpPr>
        <p:spPr>
          <a:xfrm>
            <a:off x="557784" y="3246120"/>
            <a:ext cx="11073384" cy="31089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246120"/>
            <a:ext cx="7697053"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Простое файловое хранилище (grep/чтение файлов)</a:t>
            </a:r>
          </a:p>
        </p:txBody>
      </p:sp>
      <p:sp>
        <p:nvSpPr>
          <p:cNvPr id="10" name="TextBox 9"/>
          <p:cNvSpPr txBox="1"/>
          <p:nvPr/>
        </p:nvSpPr>
        <p:spPr>
          <a:xfrm>
            <a:off x="8474293" y="3246120"/>
            <a:ext cx="2937418"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1" name="Connector 10"/>
          <p:cNvCxnSpPr/>
          <p:nvPr/>
        </p:nvCxnSpPr>
        <p:spPr>
          <a:xfrm>
            <a:off x="685800" y="35570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57016"/>
            <a:ext cx="7697053"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3" name="TextBox 12"/>
          <p:cNvSpPr txBox="1"/>
          <p:nvPr/>
        </p:nvSpPr>
        <p:spPr>
          <a:xfrm>
            <a:off x="8474293" y="3557016"/>
            <a:ext cx="2937418"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4" name="TextBox 13"/>
          <p:cNvSpPr txBox="1"/>
          <p:nvPr/>
        </p:nvSpPr>
        <p:spPr>
          <a:xfrm>
            <a:off x="502920" y="4178808"/>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объяснение авторов: модели тренированы на файловых операциях как на самом привычном инструменте</a:t>
            </a:r>
          </a:p>
        </p:txBody>
      </p:sp>
      <p:sp>
        <p:nvSpPr>
          <p:cNvPr id="15" name="Rounded Rectangle 14"/>
          <p:cNvSpPr/>
          <p:nvPr/>
        </p:nvSpPr>
        <p:spPr>
          <a:xfrm>
            <a:off x="502920" y="4590288"/>
            <a:ext cx="11183112" cy="1810511"/>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636008"/>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ЧЕСТНО НАЗВАННЫЕ НЕДОСТАТКИ ВИКИ-ПАМЯТИ</a:t>
            </a:r>
          </a:p>
        </p:txBody>
      </p:sp>
      <p:sp>
        <p:nvSpPr>
          <p:cNvPr id="17" name="TextBox 16"/>
          <p:cNvSpPr txBox="1"/>
          <p:nvPr/>
        </p:nvSpPr>
        <p:spPr>
          <a:xfrm>
            <a:off x="667512" y="4846320"/>
            <a:ext cx="10853928" cy="1508759"/>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Staleness — сводка в оглавлении расходится с содержимым тематического файла.  ·  Duplication — устаревшие версии одного и того же факта накапливаются вместо замены.  ·  Отсутствие каскадного удаления — удалили факт в одном файле, производные записи в других остались жить как верные.  ·  Maintenance burden — кто-то должен реально ходить и поддерживать структуру актуальной.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КРИТЕРИЙ И МОСТ</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Единиц-десятков тематических файлов, которые правят один-два человека, достаточно — полноценная система памяти требует замеров на своём масштабе, не общего совета</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Число тематических файлов — единицы-десятки, не сотни.</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Поиск нужной записи — по имени темы или простому grep, а не по смысловой близости.</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Участников, одновременно правящих память, — один-два.</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просил «найди решения, похожие по смыслу на…».</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Смена оси: всё в этом и предыдущем кейсе — про решения, которые живут навсегда. Что происходит с памятью одной задачи, пока она ещё не закончена?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6415" y="548640"/>
            <a:ext cx="16337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872" y="548640"/>
            <a:ext cx="1633727"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5156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Кейс 2.3 · операционная память</a:t>
            </a:r>
          </a:p>
        </p:txBody>
      </p:sp>
      <p:sp>
        <p:nvSpPr>
          <p:cNvPr id="9" name="TextBox 8"/>
          <p:cNvSpPr txBox="1"/>
          <p:nvPr/>
        </p:nvSpPr>
        <p:spPr>
          <a:xfrm>
            <a:off x="868680" y="3127248"/>
            <a:ext cx="8778240" cy="822960"/>
          </a:xfrm>
          <a:prstGeom prst="rect">
            <a:avLst/>
          </a:prstGeom>
          <a:noFill/>
        </p:spPr>
        <p:txBody>
          <a:bodyPr wrap="square" lIns="0" rIns="0" tIns="0" bIns="0" anchor="t">
            <a:spAutoFit/>
          </a:bodyPr>
          <a:lstStyle/>
          <a:p>
            <a:pPr algn="l">
              <a:lnSpc>
                <a:spcPct val="130000"/>
              </a:lnSpc>
            </a:pPr>
            <a:r>
              <a:rPr sz="1700" b="0" i="1">
                <a:solidFill>
                  <a:srgbClr val="CFDCEC"/>
                </a:solidFill>
                <a:latin typeface="Arial"/>
              </a:rPr>
              <a:t>Смена оси: не решения навсегда, а ход одной задачи между её сессиями</a:t>
            </a:r>
          </a:p>
        </p:txBody>
      </p:sp>
      <p:sp>
        <p:nvSpPr>
          <p:cNvPr id="10" name="Rounded Rectangle 9"/>
          <p:cNvSpPr/>
          <p:nvPr/>
        </p:nvSpPr>
        <p:spPr>
          <a:xfrm>
            <a:off x="868680" y="3977639"/>
            <a:ext cx="5486400" cy="54864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77639"/>
            <a:ext cx="4974336" cy="54864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21 120 ТРАЕКТОРИЙ · 1 КЕЙС-СТАДИ N=1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ЗАДАЧНАЯ ПАМЯТЬ</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Вторая сессия многошаговой задачи начинается не с продолжения, а с повторного анализа с нуля — и с конфликта с уже принятыми по ходу мелкими решениями</a:t>
            </a:r>
          </a:p>
        </p:txBody>
      </p:sp>
      <p:sp>
        <p:nvSpPr>
          <p:cNvPr id="4" name="Rounded Rectangle 3"/>
          <p:cNvSpPr/>
          <p:nvPr/>
        </p:nvSpPr>
        <p:spPr>
          <a:xfrm>
            <a:off x="502920" y="1993392"/>
            <a:ext cx="11183112" cy="3355848"/>
          </a:xfrm>
          <a:prstGeom prst="roundRect">
            <a:avLst>
              <a:gd name="adj" fmla="val 90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76272"/>
            <a:ext cx="10515600" cy="2990088"/>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Разработчик ставит агенту задачу на несколько сессий: разбить форму signup-landing на пошаговый визард (имя → email → подтверждение), сохранив всю текущую валидацию. Шесть шагов, первая сессия обрывается на середине, контекст сжимается. Вторая сессия: агент, не имея под рукой ничего, кроме кода и сжатой сводки, заново анализирует форму с нуля и предлагает план, который на треть повторяет уже сделанное и на треть противоречит мелким решениям, принятым по ходу первой сессии — например, переписать email-валидацию, которую договорились не трогать.</a:t>
            </a:r>
          </a:p>
        </p:txBody>
      </p:sp>
      <p:sp>
        <p:nvSpPr>
          <p:cNvPr id="6" name="Rounded Rectangle 5"/>
          <p:cNvSpPr/>
          <p:nvPr/>
        </p:nvSpPr>
        <p:spPr>
          <a:xfrm>
            <a:off x="502920" y="551383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Разработчик тратит начало второй сессии не на продолжение работы, а на то, чтобы заново объяснить, что уже сделано.</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Агент после сжатия контекста или в новой сессии должен продолжить с того места, где остановился, а не начать заново</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«Вторая сессия по одной и той же многошаговой задаче начинается с того, что агент заново анализирует форму с нуля — и предлагает переделать то, что уже решили не трогать. Выберите, куда и как записывать ход этой задачи — из карточек ниже — так, чтобы агент после сжатия контекста или в новой сессии продолжил с того места, где остановился. Обоснуйте выбор.»</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надеяться на</a:t>
            </a:r>
          </a:p>
          <a:p>
            <a:pPr algn="ctr">
              <a:lnSpc>
                <a:spcPct val="115000"/>
              </a:lnSpc>
              <a:spcAft>
                <a:spcPts val="0"/>
              </a:spcAft>
            </a:pPr>
            <a:r>
              <a:rPr sz="1250" b="1" i="0">
                <a:solidFill>
                  <a:srgbClr val="21295C"/>
                </a:solidFill>
                <a:latin typeface="Arial"/>
              </a:rPr>
              <a:t>контекстное окно</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план</a:t>
            </a:r>
          </a:p>
          <a:p>
            <a:pPr algn="ctr">
              <a:lnSpc>
                <a:spcPct val="115000"/>
              </a:lnSpc>
              <a:spcAft>
                <a:spcPts val="0"/>
              </a:spcAft>
            </a:pPr>
            <a:r>
              <a:rPr sz="1250" b="1" i="0">
                <a:solidFill>
                  <a:srgbClr val="21295C"/>
                </a:solidFill>
                <a:latin typeface="Arial"/>
              </a:rPr>
              <a:t>в DECISIONS.md</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файл</a:t>
            </a:r>
          </a:p>
          <a:p>
            <a:pPr algn="ctr">
              <a:lnSpc>
                <a:spcPct val="115000"/>
              </a:lnSpc>
              <a:spcAft>
                <a:spcPts val="0"/>
              </a:spcAft>
            </a:pPr>
            <a:r>
              <a:rPr sz="1250" b="1" i="0">
                <a:solidFill>
                  <a:srgbClr val="21295C"/>
                </a:solidFill>
                <a:latin typeface="Arial"/>
              </a:rPr>
              <a:t>на задачу</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папку на задачу</a:t>
            </a:r>
          </a:p>
          <a:p>
            <a:pPr algn="ctr">
              <a:lnSpc>
                <a:spcPct val="115000"/>
              </a:lnSpc>
              <a:spcAft>
                <a:spcPts val="0"/>
              </a:spcAft>
            </a:pPr>
            <a:r>
              <a:rPr sz="1250" b="1" i="0">
                <a:solidFill>
                  <a:srgbClr val="21295C"/>
                </a:solidFill>
                <a:latin typeface="Arial"/>
              </a:rPr>
              <a:t>с файлом под каждый шаг</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попросить агента</a:t>
            </a:r>
          </a:p>
          <a:p>
            <a:pPr algn="ctr">
              <a:lnSpc>
                <a:spcPct val="115000"/>
              </a:lnSpc>
              <a:spcAft>
                <a:spcPts val="0"/>
              </a:spcAft>
            </a:pPr>
            <a:r>
              <a:rPr sz="1250" b="1" i="0">
                <a:solidFill>
                  <a:srgbClr val="21295C"/>
                </a:solidFill>
                <a:latin typeface="Arial"/>
              </a:rPr>
              <a:t>«продолжи с того места»</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Один файл на задачу — план, лог хода, результаты — целевой ответ для линейной задачи с одним агентом и одним разработчиком</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записывать ход многошаговой задачи?»</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сжимать, не закрывать сессию»</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задачи, целиком укладывающейся в одну короткую сессию</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Контекстное окно конечно; на многошаговой задаче рано или поздно случится сжатие или разрыв сессии — это отсутствие стратегии</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«Записать план в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 не тот слой памяти</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 про «почему» для решений, которые остаются в силе навсегда; статус одной задачи туда не относится</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файл на задачу: план + лог хода + результаты»</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Ровно наш случай</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для этого масштаба</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«Папка на задачу с файлом под каждый шаг»</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Параллельные подзадачи, несколько субагентов, разросшийся лог</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Оверинжиниринг для одной линейной задачи здесь и сейчас. Паттерн реально масштабируется до папки</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«Попросить ‘продолжи с того места’»</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Внутри одной непрерывной сессии, до сжатия</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После сжатия или в новой сессии буквально нечего продолжать — просьба адресована памяти, которой не существует</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целевой ответ — один файл на задачу, с явным уточнением, что это упрощённая версия паттерна, масштабируемого до папки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 задачи ссылается на журнал решений, а не дублирует его — и это осознанное упрощение паттерна, полностью раскрываемого в другом месте</a:t>
            </a:r>
          </a:p>
        </p:txBody>
      </p:sp>
      <p:sp>
        <p:nvSpPr>
          <p:cNvPr id="4" name="Rounded Rectangle 3"/>
          <p:cNvSpPr/>
          <p:nvPr/>
        </p:nvSpPr>
        <p:spPr>
          <a:xfrm>
            <a:off x="502920" y="1993392"/>
            <a:ext cx="11183112" cy="3977639"/>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6" name="TextBox 5"/>
          <p:cNvSpPr txBox="1"/>
          <p:nvPr/>
        </p:nvSpPr>
        <p:spPr>
          <a:xfrm>
            <a:off x="704088" y="2505456"/>
            <a:ext cx="10780776" cy="3264407"/>
          </a:xfrm>
          <a:prstGeom prst="rect">
            <a:avLst/>
          </a:prstGeom>
          <a:noFill/>
        </p:spPr>
        <p:txBody>
          <a:bodyPr wrap="square" lIns="0" rIns="0" tIns="0" bIns="0" anchor="t">
            <a:spAutoFit/>
          </a:bodyPr>
          <a:lstStyle/>
          <a:p>
            <a:pPr algn="l">
              <a:lnSpc>
                <a:spcPct val="112000"/>
              </a:lnSpc>
              <a:spcAft>
                <a:spcPts val="200"/>
              </a:spcAft>
            </a:pPr>
            <a:r>
              <a:rPr sz="969" b="1" i="0">
                <a:solidFill>
                  <a:srgbClr val="028090"/>
                </a:solidFill>
                <a:latin typeface="Consolas"/>
              </a:rPr>
              <a:t># Задача: разбить форму на пошаговый визард</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План</a:t>
            </a:r>
          </a:p>
          <a:p>
            <a:pPr algn="l">
              <a:lnSpc>
                <a:spcPct val="112000"/>
              </a:lnSpc>
              <a:spcAft>
                <a:spcPts val="200"/>
              </a:spcAft>
            </a:pPr>
            <a:r>
              <a:rPr sz="969" b="0" i="0">
                <a:solidFill>
                  <a:srgbClr val="E3E9F2"/>
                </a:solidFill>
                <a:latin typeface="Consolas"/>
              </a:rPr>
              <a:t>1. [x] Разметка трёх шагов (имя / email / подтверждение)</a:t>
            </a:r>
          </a:p>
          <a:p>
            <a:pPr algn="l">
              <a:lnSpc>
                <a:spcPct val="112000"/>
              </a:lnSpc>
              <a:spcAft>
                <a:spcPts val="200"/>
              </a:spcAft>
            </a:pPr>
            <a:r>
              <a:rPr sz="969" b="0" i="0">
                <a:solidFill>
                  <a:srgbClr val="E3E9F2"/>
                </a:solidFill>
                <a:latin typeface="Consolas"/>
              </a:rPr>
              <a:t>2. [x] Перенос текущей валидации без изменений</a:t>
            </a:r>
          </a:p>
          <a:p>
            <a:pPr algn="l">
              <a:lnSpc>
                <a:spcPct val="112000"/>
              </a:lnSpc>
              <a:spcAft>
                <a:spcPts val="200"/>
              </a:spcAft>
            </a:pPr>
            <a:r>
              <a:rPr sz="969" b="0" i="0">
                <a:solidFill>
                  <a:srgbClr val="E3E9F2"/>
                </a:solidFill>
                <a:latin typeface="Consolas"/>
              </a:rPr>
              <a:t>3. [ ] Состояние текущего шага (JS)</a:t>
            </a:r>
          </a:p>
          <a:p>
            <a:pPr algn="l">
              <a:lnSpc>
                <a:spcPct val="112000"/>
              </a:lnSpc>
              <a:spcAft>
                <a:spcPts val="200"/>
              </a:spcAft>
            </a:pPr>
            <a:r>
              <a:rPr sz="969" b="0" i="0">
                <a:solidFill>
                  <a:srgbClr val="E3E9F2"/>
                </a:solidFill>
                <a:latin typeface="Consolas"/>
              </a:rPr>
              <a:t>4. [ ] Кнопки «назад»/«далее»</a:t>
            </a:r>
          </a:p>
          <a:p>
            <a:pPr algn="l">
              <a:lnSpc>
                <a:spcPct val="112000"/>
              </a:lnSpc>
              <a:spcAft>
                <a:spcPts val="200"/>
              </a:spcAft>
            </a:pPr>
            <a:r>
              <a:rPr sz="969" b="0" i="0">
                <a:solidFill>
                  <a:srgbClr val="E3E9F2"/>
                </a:solidFill>
                <a:latin typeface="Consolas"/>
              </a:rPr>
              <a:t>5. [ ] Тесты на переключение шагов</a:t>
            </a:r>
          </a:p>
          <a:p>
            <a:pPr algn="l">
              <a:lnSpc>
                <a:spcPct val="112000"/>
              </a:lnSpc>
              <a:spcAft>
                <a:spcPts val="200"/>
              </a:spcAft>
            </a:pPr>
            <a:r>
              <a:rPr sz="969" b="0" i="0">
                <a:solidFill>
                  <a:srgbClr val="E3E9F2"/>
                </a:solidFill>
                <a:latin typeface="Consolas"/>
              </a:rPr>
              <a:t>6. [ ] Ручная проверка полного прохождения</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Лог хода</a:t>
            </a:r>
          </a:p>
          <a:p>
            <a:pPr algn="l">
              <a:lnSpc>
                <a:spcPct val="112000"/>
              </a:lnSpc>
              <a:spcAft>
                <a:spcPts val="200"/>
              </a:spcAft>
            </a:pPr>
            <a:r>
              <a:rPr sz="969" b="0" i="0">
                <a:solidFill>
                  <a:srgbClr val="E3E9F2"/>
                </a:solidFill>
                <a:latin typeface="Consolas"/>
              </a:rPr>
              <a:t>- 2026-09-20: шаги 1–2 закрыты. Договорились НЕ трогать email-</a:t>
            </a:r>
          </a:p>
          <a:p>
            <a:pPr algn="l">
              <a:lnSpc>
                <a:spcPct val="112000"/>
              </a:lnSpc>
              <a:spcAft>
                <a:spcPts val="200"/>
              </a:spcAft>
            </a:pPr>
            <a:r>
              <a:rPr sz="969" b="0" i="0">
                <a:solidFill>
                  <a:srgbClr val="E3E9F2"/>
                </a:solidFill>
                <a:latin typeface="Consolas"/>
              </a:rPr>
              <a:t>  валидацию — обсуждалась в DECISIONS.md (2026-09-20), тут перенос.</a:t>
            </a:r>
          </a:p>
          <a:p>
            <a:pPr algn="l">
              <a:lnSpc>
                <a:spcPct val="112000"/>
              </a:lnSpc>
              <a:spcAft>
                <a:spcPts val="200"/>
              </a:spcAft>
            </a:pPr>
            <a:r>
              <a:rPr sz="969" b="0" i="0">
                <a:solidFill>
                  <a:srgbClr val="E3E9F2"/>
                </a:solidFill>
                <a:latin typeface="Consolas"/>
              </a:rPr>
              <a:t>- 2026-09-22: начат шаг 3, не закончен — контекст сжат в середине.</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Результаты (заполняется по завершении)</a:t>
            </a:r>
          </a:p>
          <a:p>
            <a:pPr algn="l">
              <a:lnSpc>
                <a:spcPct val="112000"/>
              </a:lnSpc>
              <a:spcAft>
                <a:spcPts val="200"/>
              </a:spcAft>
            </a:pPr>
            <a:r>
              <a:rPr sz="969" b="0" i="0">
                <a:solidFill>
                  <a:srgbClr val="E3E9F2"/>
                </a:solidFill>
                <a:latin typeface="Consolas"/>
              </a:rPr>
              <a:t>—</a:t>
            </a:r>
          </a:p>
        </p:txBody>
      </p:sp>
      <p:sp>
        <p:nvSpPr>
          <p:cNvPr id="7" name="TextBox 6"/>
          <p:cNvSpPr txBox="1"/>
          <p:nvPr/>
        </p:nvSpPr>
        <p:spPr>
          <a:xfrm>
            <a:off x="502920" y="6108192"/>
            <a:ext cx="11183112" cy="704088"/>
          </a:xfrm>
          <a:prstGeom prst="rect">
            <a:avLst/>
          </a:prstGeom>
          <a:noFill/>
        </p:spPr>
        <p:txBody>
          <a:bodyPr wrap="square" lIns="0" rIns="0" tIns="0" bIns="0" anchor="t">
            <a:spAutoFit/>
          </a:bodyPr>
          <a:lstStyle/>
          <a:p>
            <a:pPr algn="ctr">
              <a:lnSpc>
                <a:spcPct val="120000"/>
              </a:lnSpc>
            </a:pPr>
            <a:r>
              <a:rPr sz="1050" b="0" i="1">
                <a:solidFill>
                  <a:srgbClr val="6B7685"/>
                </a:solidFill>
                <a:latin typeface="Arial"/>
              </a:rPr>
              <a:t>иллюстративный пример, не захваченный вживую — ждёт реальной многошаговой сессии владельца · упрощение до файла — масштабируется до папки, подробнее за пределами этого занятия</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ПРОВАЛ</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Плохой план хуже отсутствия плана вообще — и это подтверждено количественно, а не только интуицией</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Источник</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Результат</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21 120 траекторий,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комплаенс к плану падает ~на 13 п.п. на сложном бенчмарке</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контролируемых живых сценариев</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без проверки актуальности плана исполнитель действовал по устаревшему плану во всех 30 случаях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Кейс-стади «Index Sickness» (n=1, честная оговорка)</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Реальный проект, 391 сессия за месяц. Решение — физическое разделение baseline-инструкций и append-only лога сессии. Результат: объём AI-инструкций сократился ~на 75%, рецидивов не было за следующие ~150 сессий. n=1 action research одного автора, не контролируемый эксперимент.</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практика «файл/папка на задачу» пока не мейнстрим — 2853 реальных репозитория, доминируют статические context-файлы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КРИТЕРИЙ</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Одного файла на задачу достаточно, пока задача линейная и её ведёт один агент и один разработчик — иначе оправдан переход к папке</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линейная: шаги идут по порядку, не параллельно.</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Работает один агент (без субагентов/параллельных веток) и один разработчик.</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Лог хода помещается в разумный файл (сотни строк, не тысячи) без потери читаемости.</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Результатов и артефактов на выходе немного — не нужен отдельный файл на каждый.</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Если хотя бы половина пунктов неверна — переход к папке на задачу оправдан.</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честная оговорка: паттерн «файл/папка на задачу» пока не мейнстрим (2853 реальных репозитория, доминируют статические context-файлы) — практику продвигают отдельные лидеры, это не общепринятая норма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СИНТЕЗ</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Шесть развилок сегодняшнего занятия — три про файл инструкций, три про память — отвечали на один и тот же скрытый вопрос</a:t>
            </a:r>
          </a:p>
        </p:txBody>
      </p:sp>
      <p:sp>
        <p:nvSpPr>
          <p:cNvPr id="4" name="Rounded Rectangle 3"/>
          <p:cNvSpPr/>
          <p:nvPr/>
        </p:nvSpPr>
        <p:spPr>
          <a:xfrm>
            <a:off x="502920" y="181051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1008583"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Кейс</a:t>
            </a:r>
          </a:p>
        </p:txBody>
      </p:sp>
      <p:sp>
        <p:nvSpPr>
          <p:cNvPr id="6" name="TextBox 5"/>
          <p:cNvSpPr txBox="1"/>
          <p:nvPr/>
        </p:nvSpPr>
        <p:spPr>
          <a:xfrm>
            <a:off x="1767535" y="1993392"/>
            <a:ext cx="4470135"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Развилка</a:t>
            </a:r>
          </a:p>
        </p:txBody>
      </p:sp>
      <p:sp>
        <p:nvSpPr>
          <p:cNvPr id="7" name="TextBox 6"/>
          <p:cNvSpPr txBox="1"/>
          <p:nvPr/>
        </p:nvSpPr>
        <p:spPr>
          <a:xfrm>
            <a:off x="6310823" y="1993392"/>
            <a:ext cx="511917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Что мы записали</a:t>
            </a:r>
          </a:p>
        </p:txBody>
      </p:sp>
      <p:sp>
        <p:nvSpPr>
          <p:cNvPr id="8" name="TextBox 7"/>
          <p:cNvSpPr txBox="1"/>
          <p:nvPr/>
        </p:nvSpPr>
        <p:spPr>
          <a:xfrm>
            <a:off x="685800" y="2377440"/>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1.1</a:t>
            </a:r>
          </a:p>
        </p:txBody>
      </p:sp>
      <p:sp>
        <p:nvSpPr>
          <p:cNvPr id="9" name="TextBox 8"/>
          <p:cNvSpPr txBox="1"/>
          <p:nvPr/>
        </p:nvSpPr>
        <p:spPr>
          <a:xfrm>
            <a:off x="1767535" y="2377440"/>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Роль агента и общее описание репозитория</a:t>
            </a:r>
          </a:p>
        </p:txBody>
      </p:sp>
      <p:sp>
        <p:nvSpPr>
          <p:cNvPr id="10" name="TextBox 9"/>
          <p:cNvSpPr txBox="1"/>
          <p:nvPr/>
        </p:nvSpPr>
        <p:spPr>
          <a:xfrm>
            <a:off x="6310823" y="2377440"/>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Ничего — до первого реального сигнала</a:t>
            </a:r>
          </a:p>
        </p:txBody>
      </p:sp>
      <p:cxnSp>
        <p:nvCxnSpPr>
          <p:cNvPr id="11" name="Connector 10"/>
          <p:cNvCxnSpPr/>
          <p:nvPr/>
        </p:nvCxnSpPr>
        <p:spPr>
          <a:xfrm>
            <a:off x="685800" y="28087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08732"/>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1.2</a:t>
            </a:r>
          </a:p>
        </p:txBody>
      </p:sp>
      <p:sp>
        <p:nvSpPr>
          <p:cNvPr id="13" name="TextBox 12"/>
          <p:cNvSpPr txBox="1"/>
          <p:nvPr/>
        </p:nvSpPr>
        <p:spPr>
          <a:xfrm>
            <a:off x="1767535" y="2808732"/>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Базовые процессы: гейт «готово» + цикл улучшения</a:t>
            </a:r>
          </a:p>
        </p:txBody>
      </p:sp>
      <p:sp>
        <p:nvSpPr>
          <p:cNvPr id="14" name="TextBox 13"/>
          <p:cNvSpPr txBox="1"/>
          <p:nvPr/>
        </p:nvSpPr>
        <p:spPr>
          <a:xfrm>
            <a:off x="6310823" y="2808732"/>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Гейт-фраза текстом в CLAUDE.md</a:t>
            </a:r>
          </a:p>
        </p:txBody>
      </p:sp>
      <p:cxnSp>
        <p:nvCxnSpPr>
          <p:cNvPr id="15" name="Connector 14"/>
          <p:cNvCxnSpPr/>
          <p:nvPr/>
        </p:nvCxnSpPr>
        <p:spPr>
          <a:xfrm>
            <a:off x="685800" y="3240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240024"/>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1.3</a:t>
            </a:r>
          </a:p>
        </p:txBody>
      </p:sp>
      <p:sp>
        <p:nvSpPr>
          <p:cNvPr id="17" name="TextBox 16"/>
          <p:cNvSpPr txBox="1"/>
          <p:nvPr/>
        </p:nvSpPr>
        <p:spPr>
          <a:xfrm>
            <a:off x="1767535" y="3240024"/>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Вложенные файлы инструкций по подпапкам</a:t>
            </a:r>
          </a:p>
        </p:txBody>
      </p:sp>
      <p:sp>
        <p:nvSpPr>
          <p:cNvPr id="18" name="TextBox 17"/>
          <p:cNvSpPr txBox="1"/>
          <p:nvPr/>
        </p:nvSpPr>
        <p:spPr>
          <a:xfrm>
            <a:off x="6310823" y="3240024"/>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Не дробим — один файл в корне</a:t>
            </a:r>
          </a:p>
        </p:txBody>
      </p:sp>
      <p:cxnSp>
        <p:nvCxnSpPr>
          <p:cNvPr id="19" name="Connector 18"/>
          <p:cNvCxnSpPr/>
          <p:nvPr/>
        </p:nvCxnSpPr>
        <p:spPr>
          <a:xfrm>
            <a:off x="685800" y="36713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671315"/>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2.1</a:t>
            </a:r>
          </a:p>
        </p:txBody>
      </p:sp>
      <p:sp>
        <p:nvSpPr>
          <p:cNvPr id="21" name="TextBox 20"/>
          <p:cNvSpPr txBox="1"/>
          <p:nvPr/>
        </p:nvSpPr>
        <p:spPr>
          <a:xfrm>
            <a:off x="1767535" y="3671315"/>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Плоский файл памяти (DECISIONS.md)</a:t>
            </a:r>
          </a:p>
        </p:txBody>
      </p:sp>
      <p:sp>
        <p:nvSpPr>
          <p:cNvPr id="22" name="TextBox 21"/>
          <p:cNvSpPr txBox="1"/>
          <p:nvPr/>
        </p:nvSpPr>
        <p:spPr>
          <a:xfrm>
            <a:off x="6310823" y="3671315"/>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Решение записано в файл + авто-память</a:t>
            </a:r>
          </a:p>
        </p:txBody>
      </p:sp>
      <p:cxnSp>
        <p:nvCxnSpPr>
          <p:cNvPr id="23" name="Connector 22"/>
          <p:cNvCxnSpPr/>
          <p:nvPr/>
        </p:nvCxnSpPr>
        <p:spPr>
          <a:xfrm>
            <a:off x="685800" y="4102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102607"/>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2.2</a:t>
            </a:r>
          </a:p>
        </p:txBody>
      </p:sp>
      <p:sp>
        <p:nvSpPr>
          <p:cNvPr id="25" name="TextBox 24"/>
          <p:cNvSpPr txBox="1"/>
          <p:nvPr/>
        </p:nvSpPr>
        <p:spPr>
          <a:xfrm>
            <a:off x="1767535" y="4102607"/>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Структурированная вики-память</a:t>
            </a:r>
          </a:p>
        </p:txBody>
      </p:sp>
      <p:sp>
        <p:nvSpPr>
          <p:cNvPr id="26" name="TextBox 25"/>
          <p:cNvSpPr txBox="1"/>
          <p:nvPr/>
        </p:nvSpPr>
        <p:spPr>
          <a:xfrm>
            <a:off x="6310823" y="4102607"/>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Тематические файлы со сквозными ссылками</a:t>
            </a:r>
          </a:p>
        </p:txBody>
      </p:sp>
      <p:cxnSp>
        <p:nvCxnSpPr>
          <p:cNvPr id="27" name="Connector 26"/>
          <p:cNvCxnSpPr/>
          <p:nvPr/>
        </p:nvCxnSpPr>
        <p:spPr>
          <a:xfrm>
            <a:off x="685800" y="4533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533900"/>
            <a:ext cx="990295"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2.3</a:t>
            </a:r>
          </a:p>
        </p:txBody>
      </p:sp>
      <p:sp>
        <p:nvSpPr>
          <p:cNvPr id="29" name="TextBox 28"/>
          <p:cNvSpPr txBox="1"/>
          <p:nvPr/>
        </p:nvSpPr>
        <p:spPr>
          <a:xfrm>
            <a:off x="1767535" y="4533900"/>
            <a:ext cx="4451847"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Операционная задачная память</a:t>
            </a:r>
          </a:p>
        </p:txBody>
      </p:sp>
      <p:sp>
        <p:nvSpPr>
          <p:cNvPr id="30" name="TextBox 29"/>
          <p:cNvSpPr txBox="1"/>
          <p:nvPr/>
        </p:nvSpPr>
        <p:spPr>
          <a:xfrm>
            <a:off x="6310823" y="4533900"/>
            <a:ext cx="5100888" cy="431291"/>
          </a:xfrm>
          <a:prstGeom prst="rect">
            <a:avLst/>
          </a:prstGeom>
          <a:noFill/>
        </p:spPr>
        <p:txBody>
          <a:bodyPr wrap="square" lIns="0" rIns="0" tIns="0" bIns="0" anchor="ctr">
            <a:spAutoFit/>
          </a:bodyPr>
          <a:lstStyle/>
          <a:p>
            <a:pPr algn="l">
              <a:lnSpc>
                <a:spcPct val="115000"/>
              </a:lnSpc>
            </a:pPr>
            <a:r>
              <a:rPr sz="1230" b="0" i="0">
                <a:solidFill>
                  <a:srgbClr val="21295C"/>
                </a:solidFill>
                <a:latin typeface="Arial"/>
              </a:rPr>
              <a:t>Один файл на задачу: план + лог + результаты</a:t>
            </a:r>
          </a:p>
        </p:txBody>
      </p:sp>
      <p:sp>
        <p:nvSpPr>
          <p:cNvPr id="31" name="TextBox 30"/>
          <p:cNvSpPr txBox="1"/>
          <p:nvPr/>
        </p:nvSpPr>
        <p:spPr>
          <a:xfrm>
            <a:off x="502920" y="5330952"/>
            <a:ext cx="11183112" cy="1069848"/>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Всё в правом столбце — текст, который агент читает и может учесть.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ОХВАТ</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Сегодня закрыты подробно два слота харнесса из пяти; оставшиеся три плюс оба механических слоя, которые превращают просьбу в барьер, — материал Семинара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Rounded Rectangle 24"/>
          <p:cNvSpPr/>
          <p:nvPr/>
        </p:nvSpPr>
        <p:spPr>
          <a:xfrm>
            <a:off x="502920" y="4005072"/>
            <a:ext cx="11183112" cy="2395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078224"/>
            <a:ext cx="10780776" cy="22494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Семинар 5: скиллы · субагенты · доступ наружу (MCP) + хук · процесс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ПЕРЕНОС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Перенесите шесть сегодняшних решений на свой репозиторий — и проверьте, какое из них держится только на просьбе текстом</a:t>
            </a:r>
          </a:p>
        </p:txBody>
      </p:sp>
      <p:sp>
        <p:nvSpPr>
          <p:cNvPr id="4" name="TextBox 3"/>
          <p:cNvSpPr txBox="1"/>
          <p:nvPr/>
        </p:nvSpPr>
        <p:spPr>
          <a:xfrm>
            <a:off x="502920" y="1810512"/>
            <a:ext cx="11183112" cy="502920"/>
          </a:xfrm>
          <a:prstGeom prst="rect">
            <a:avLst/>
          </a:prstGeom>
          <a:noFill/>
        </p:spPr>
        <p:txBody>
          <a:bodyPr wrap="square" lIns="0" rIns="0" tIns="0" bIns="0" anchor="t">
            <a:spAutoFit/>
          </a:bodyPr>
          <a:lstStyle/>
          <a:p>
            <a:pPr algn="ctr">
              <a:lnSpc>
                <a:spcPct val="115000"/>
              </a:lnSpc>
            </a:pPr>
            <a:r>
              <a:rPr sz="1500" b="0" i="0">
                <a:solidFill>
                  <a:srgbClr val="065A82"/>
                </a:solidFill>
                <a:latin typeface="Arial"/>
              </a:rPr>
              <a:t>1.1  →  1.2  →  1.3  →  2.1  →  2.2  →  2.3</a:t>
            </a:r>
          </a:p>
        </p:txBody>
      </p:sp>
      <p:sp>
        <p:nvSpPr>
          <p:cNvPr id="5" name="TextBox 4"/>
          <p:cNvSpPr txBox="1"/>
          <p:nvPr/>
        </p:nvSpPr>
        <p:spPr>
          <a:xfrm>
            <a:off x="502920" y="2267712"/>
            <a:ext cx="11183112" cy="32004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роль и репозиторий · базовые процессы · вложенные файлы · плоский файл · вики-память · задачная память</a:t>
            </a:r>
          </a:p>
        </p:txBody>
      </p:sp>
      <p:sp>
        <p:nvSpPr>
          <p:cNvPr id="6" name="Rounded Rectangle 5"/>
          <p:cNvSpPr/>
          <p:nvPr/>
        </p:nvSpPr>
        <p:spPr>
          <a:xfrm>
            <a:off x="502920" y="2770632"/>
            <a:ext cx="11183112" cy="31272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43784"/>
            <a:ext cx="10780776" cy="2980944"/>
          </a:xfrm>
          <a:prstGeom prst="rect">
            <a:avLst/>
          </a:prstGeom>
          <a:noFill/>
        </p:spPr>
        <p:txBody>
          <a:bodyPr wrap="square" lIns="0" rIns="0" tIns="0" bIns="0" anchor="ctr">
            <a:spAutoFit/>
          </a:bodyPr>
          <a:lstStyle/>
          <a:p>
            <a:pPr algn="ctr">
              <a:lnSpc>
                <a:spcPct val="122000"/>
              </a:lnSpc>
            </a:pPr>
            <a:r>
              <a:rPr sz="2000" b="1" i="0">
                <a:solidFill>
                  <a:srgbClr val="21295C"/>
                </a:solidFill>
                <a:latin typeface="Arial"/>
              </a:rPr>
              <a:t>«По каждой развилке — то, что у вас уже принято, это просьба текстом, которую агент технически может обойти? Или нужен барьер?»</a:t>
            </a:r>
          </a:p>
        </p:txBody>
      </p:sp>
      <p:sp>
        <p:nvSpPr>
          <p:cNvPr id="8" name="TextBox 7"/>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«Не вслух. Не на бумаге. Себе.»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