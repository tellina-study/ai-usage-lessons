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«Стандартный способ настроить агента на новом проекте — открыть репозиторий, который выглядит зрелым, и перенести к себе его конфигурацию: файл инструкций на триста строк, десяток скиллов, несколько подключённых серверов. Часть этого — универсальная инженерная гигиена, которая окупается на любом проекте. Часть — решения под чужой репозиторий, принятые по сигналам, которых в вашем не было.</a:t>
            </a:r>
          </a:p>
          <a:p/>
          <a:p>
            <a:r>
              <a:t>Сегодня мы разбираем это не в общем виде, а на одном проекте от начала: берём задачу от заказчика, фиксируем требования, поднимаем репозиторий, получаем работающий прототип — и дальше, по ходу обычной работы, шесть раз упираемся в развилку «записать это в конфигурацию агента или нет».</a:t>
            </a:r>
          </a:p>
          <a:p/>
          <a:p>
            <a:r>
              <a:t>Вопрос занятия: что стоит закладывать сразу, на день 0, а что нельзя знать заранее, потому что оно специфично для вашего проекта?»</a:t>
            </a:r>
          </a:p>
          <a:p/>
          <a:p>
            <a:r>
              <a:t>Дальше — сразу к задаче, без паузы.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задача в том виде, в каком она приходит: что должно получиться — сказано, как это устроено внутри, что считается сделанным и чего делать нельзя — не сказано. С этим текстом вы садитесь за работу.»</a:t>
            </a:r>
          </a:p>
          <a:p/>
          <a:p>
            <a:r>
              <a:t>Открытый вопрос: «Отдаём эту формулировку агенту как есть — или сначала фиксируем требования?»</a:t>
            </a:r>
          </a:p>
          <a:p/>
          <a:p>
            <a:r>
              <a:t>Формат — дискуссия, 2–3 голоса, аргументы собираются, а не оцениваются. Разброс обычно предсказуемый: одни отдают как есть и дожимают по ходу, другие сначала дописывают формулировку. Обе позиции рабочие, и смысл шага в том, чтобы это прозвучало вслух.</a:t>
            </a:r>
          </a:p>
          <a:p/>
          <a:p>
            <a:r>
              <a:t>Если разговор уходит в архитектуру («а нужен ли тут вообще бэкенд») — зафиксировать как отдельный вопрос и идти дальше.</a:t>
            </a:r>
          </a:p>
          <a:p/>
          <a:p>
            <a:r>
              <a:t>Мостик: «Дать можно — агент разберётся с тем, что написано. Вопрос в том, с чем он останется, если написано мало. Зафиксируем требования.»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«Первые десять минут работы над проектом уходят не на код. Формулировку заказчика раскладываем на функциональные требования — что должно быть, — и нефункциональные — какими свойствами это должно обладать, — и кладём в `spec.md` первым коммитом.</a:t>
            </a:r>
          </a:p>
          <a:p/>
          <a:p>
            <a:r>
              <a:t>Отдельно стоит посмотреть на строку «критерий приёмки». Заказчик её не произносил, она выведена нами: без неё «готово» ничем не отличается от «тест зелёный», а это разные утверждения о системе.</a:t>
            </a:r>
          </a:p>
          <a:p/>
          <a:p>
            <a:r>
              <a:t>Тем же коммитом заводится `README.md`. Спека отвечает на вопрос, что должно получиться; README — на вопрос, как устроен репозиторий. Разделение практическое: два разных читателя, два разных срока жизни. Требования меняются по договорённости с заказчиком, устройство репозитория — по мере рефакторингов.</a:t>
            </a:r>
          </a:p>
          <a:p/>
          <a:p>
            <a:r>
              <a:t>Теперь задача агенту формулируется иначе: не «собери лендинг с формой», а «вот `spec.md`, инициализируй репозиторий и собери проект по нему».»</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«Директория пустая — это реальный вывод команды до прогона. Дальше агент получает задачу по спеке и за один проход отдаёт собранный проект: разметка, обработчик формы, манифест пакета со скриптами сборки и теста, тест на Playwright. Прототип рабочий — команды из его финального ответа отрабатывают.</a:t>
            </a:r>
          </a:p>
          <a:p/>
          <a:p>
            <a:r>
              <a:t>Уточняющих вопросов не было ни одного; в захваченной сессии это зафиксировано прямо: все параметры задачи выводились из текста.</a:t>
            </a:r>
          </a:p>
          <a:p/>
          <a:p>
            <a:r>
              <a:t>И здесь стоит остановиться на том, чего в этом тексте не было. Критерий приёмки был — мы записали его в спеку сами. А вот структура: как назвать файлы, где разместить обработчик, как разложить проект по папкам — в спеке этого нет и быть не должно, это устройство кода, а не требование к продукту. Эти решения агент принял сам и молча: `src/main.js`, `tests/form.spec.ts`, скрипты в `package.json`.</a:t>
            </a:r>
          </a:p>
          <a:p/>
          <a:p>
            <a:r>
              <a:t>Прототип есть. Дальше с этим репозиторием предстоит работать не один день — и вот здесь начинается вопрос о конфигурации агента.»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голоса, ответы фиксируются вслух и не комментируются: разбор идёт следующим слайдом.</a:t>
            </a:r>
          </a:p>
          <a:p/>
          <a:p>
            <a:r>
              <a:t>Запасная формулировка при молчании зала: «Иначе: вот список — гейт готовности, лог решений, обзор репозитория, вложенные файлы, сложная память. Что из этого вы заводите в первый день, а что откладываете до реальной проблемы?»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«Единого правильного режима нет — есть два типа решений с разной ценой ошибки.</a:t>
            </a:r>
          </a:p>
          <a:p/>
          <a:p>
            <a:r>
              <a:t>Первый тип — специфичное для проекта. Понадобится ли это именно здесь, заранее неизвестно: ответ зависит от конкретного репозитория. Обзор структуры, вложенные файлы конвенций, многоуровневая память — сюда. Ждать реального сигнала здесь не лень, а нормальная инженерная практика: пока сигнала нет, записывать нечего.</a:t>
            </a:r>
          </a:p>
          <a:p/>
          <a:p>
            <a:r>
              <a:t>Второй тип — универсальная гигиена. Завести дёшево, а цена отсутствия непредсказуема: неизвестно, в какой момент она понадобится и что к этому моменту будет потеряно. Гейт готовности, трекинг задач и решений — сюда. Сигнала здесь можно и не дождаться: недостача проявляется постфактум, а не одним явным событием.</a:t>
            </a:r>
          </a:p>
          <a:p/>
          <a:p>
            <a:r>
              <a:t>Отдельно — чтобы не смешивать с Лекцией 3. Тезис про тонкого агента был про структурную сложность: субагенты, скиллы, внешний доступ. Он в силе и по-прежнему требует сигнала. Универсальная гигиена — другой класс решений.</a:t>
            </a:r>
          </a:p>
          <a:p/>
          <a:p>
            <a:r>
              <a:t>Дальше в проекте нас ждут шесть развилок. К какому типу относится каждая — решаем по ходу, на месте.»</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идти дальше — что в этом репозитории появилось в первый день, кроме кода.</a:t>
            </a:r>
          </a:p>
          <a:p/>
          <a:p>
            <a:r>
              <a:t>Спека и README — их мы уже видели, они легли первым коммитом. Тем же днём заводится `CLAUDE.md`, файл инструкций агенту. В нём пока одна строка: что считается «готово» и требование проверить результат руками. Описания устройства репозитория в нём нет — для него ещё нет причины. Заводится `DECISIONS.md`, журнал решений: что решили и почему. И заводится практика файла на задачу — на каждую многошаговую работу отдельный файл с планом и отметками.</a:t>
            </a:r>
          </a:p>
          <a:p/>
          <a:p>
            <a:r>
              <a:t>Ни одно из этого не ждало сигнала, и вот почему. Каждое стоит сегодня одной строки. А цена отсутствия заранее неизвестна и всплывает задним числом: сигнала, по которому стало бы ясно, что пора, может не быть вовсе — узнаёшь в тот момент, когда искать уже поздно.</a:t>
            </a:r>
          </a:p>
          <a:p/>
          <a:p>
            <a:r>
              <a:t>Дальше все четыре встретятся в работе поимённо, каждое в своей развилке.»</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начинается пустым: пять пустых слотов в ряд. Слоты не читаются с экрана — зал достаёт их из памяти, они разбирались на Лекции 3.</a:t>
            </a:r>
          </a:p>
          <a:p/>
          <a:p>
            <a:r>
              <a:t>Реплика-заход: «На Лекции 3 мы разбирали, из чего собран агент-помощник поверх цикла «планируй → действуй → проверяй → повторяй». В конспекте это называется харнесс — Harness, а слоты подписаны английскими Skills, Subagents, Access/MCP. Дальше на слайдах и в разговоре — по-русски. Слотов пять. Назовите те, что помните.»</a:t>
            </a:r>
          </a:p>
          <a:p/>
          <a:p>
            <a:r>
              <a:t>Проявлять по одному, с одной репликой на каждый: память — «не контекст текущего разговора, а то, что переживает конец сессии»; инструкции-правила — «то, что пишете вы и что грузится в начало каждой сессии»; скиллы — «методичка, которую снимают с полки, а не регламент на столе»; субагенты — «отдельный исполнитель с чистым контекстом»; доступ наружу — «каждое подключение — новая граница доверия». Слот, который зал не назвал, назвать самому и идти дальше.</a:t>
            </a:r>
          </a:p>
          <a:p/>
          <a:p>
            <a:r>
              <a:t>Дальше — одной фразой: «В сегодняшнем проекте работают два слота: инструкции-правила и память. Остальные три и механические слои — хук и процесс — отдельным занятием, Семинаром 5.»</a:t>
            </a:r>
          </a:p>
          <a:p/>
          <a:p>
            <a:r>
              <a:t>Правило лестницы — дословно, под картой: «Оставайтесь на самой нижней ступени, которая закрывает требование задачи. Поднимайтесь на следующую только тогда, когда можете назвать требование, которое текущая ступень не закрывает. Каждый подъём оплачивается новой стоимостью, новыми режимами отказа и новой поверхностью атаки.»</a:t>
            </a:r>
          </a:p>
          <a:p/>
          <a:p>
            <a:r>
              <a:t>Мостик: «Вернёмся в репозиторий. Прототип собран, дальше с ним работать не один день — и первое решение по конфигурации агента принимается прямо сейчас.»</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Переход одной фразой: «Файл инструкций проекта — `CLAUDE.md`, он же `AGENTS.md`. За сегодняшний проект он трижды окажется предметом решения: чего в него не писать, что в него записать и где какому знанию жить. Три развилки идут в том порядке, в каком встречаются в работе.»</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Переход одной фразой: «В репозитории `signup-landing` есть продуктовый код, спека и README. Конфигурации агента — ноль строк. Первая развилка: чем заполняется пустой `CLAUDE.md`.»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«Прототип собран, но работа не закончена: впереди ещё несколько дней задач по этому же репозиторию, и каждая — новая сессия агента с нуля. Разработчик заводит `CLAUDE.md` — файл, который грузится в начало каждой сессии, — и открывает файл: там одна строка, гейт готовности, остальное пусто.</a:t>
            </a:r>
          </a:p>
          <a:p/>
          <a:p>
            <a:r>
              <a:t>Откроете почти любой публичный репозиторий с таким файлом — он начинается с раздела «Repository overview»: что это за проект, как устроен, где что лежит. Это сложившаяся конвенция, и вопрос первой развилки ровно про неё: что из этого имеет смысл записать здесь, в этом репозитории, на этом шаге.»</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задаётся с готовым набором вариантов на экране. Два-три голоса. Ответы фиксируются нейтрально и без оценки: «структура репозитория — записал», «список технологий — записал».</a:t>
            </a:r>
          </a:p>
          <a:p/>
          <a:p>
            <a:r>
              <a:t>Любой прозвучавший вариант фиксируется одинаково, включая «опишу архитектуру»: «Принято, возвращаемся к этому через минуту.»</a:t>
            </a:r>
          </a:p>
          <a:p/>
          <a:p>
            <a:r>
              <a:t>Голосование проходит без единой цифры на экране — исследование и разбор идут следующим слайдом, одним заходом.</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«Контролируемый эксперимент Gloaguen et al. впервые сравнил с третьим плечом — файла нет вообще. Результат для repository overview дословный: "are not helpful". Стоимость растёт на двадцать-двадцать три процента, успешность — нет. Единственное подтверждённое исключение — репозитории без другой документации вообще.</a:t>
            </a:r>
          </a:p>
          <a:p/>
          <a:p>
            <a:r>
              <a:t>У явления есть название: presence paradox. Присутствие текста в контексте стоит денег независимо от того, помог ли он решить задачу. Термин понадобится ещё дважды: в кейсах 1.2 и 1.3, и дальше в разделе про память.</a:t>
            </a:r>
          </a:p>
          <a:p/>
          <a:p>
            <a:r>
              <a:t>По остальным источникам коротко: абляция подтверждает механизм — убрали README, overview стал полезен. Lulla et al. — сильный аргумент за файл, но про недискаверабельные конвенции, не про общее описание. Shepard &amp; Albrecht — статичная непроверенная инструкция хуже динамически верифицированной.</a:t>
            </a:r>
          </a:p>
          <a:p/>
          <a:p>
            <a:r>
              <a:t>Про пробел честно: прямых экспериментов с намеренно устаревшим overview нет. Режим отказа, который видно на практике, — описание пережило рефакторинг, агент правит файл по нему, а не по коду — правдоподобен, но не измерен, и выдавать его за доказанный не будем.</a:t>
            </a:r>
          </a:p>
          <a:p/>
          <a:p>
            <a:r>
              <a:t>Теперь разбор. Для нашего репозитория целевой ответ — «пока ничего»: структуру из шести файлов агент видит сам, описание проекта уже лежит в README. Структурированное описание должно существовать, но не продублированным в файле инструкций. Ответ на этом шаге — не «какой текст написать», а «пока никакой».»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«Итог первой развилки: описания структуры в файле нет — сигнала для него нет, а стоимость присутствия есть.</a:t>
            </a:r>
          </a:p>
          <a:p/>
          <a:p>
            <a:r>
              <a:t>Но пустой файл — не позиция на весь проект. Часть содержимого `CLAUDE.md` появится в нём уже на этой неделе, и по другой причине: не потому, что что-то сломалось, а потому, что это базовая практика, которая стоит дёшево. Это следующая развилка.»</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Переход одной фразой: «Первая развилка решала, чего в файл не писать. Вторая — про то, что в нём с первого дня уже лежит: гейт готовности. Идёт первая неделя работы над репозиторием.»</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«Гейт готовности мы записываем в файл инструкций тем же днём, что и спеку: «всегда прогоняй тесты и проверяй результат вручную перед тем как сказать готово». Строка дешёвая, и она в файле с самого начала.</a:t>
            </a:r>
          </a:p>
          <a:p/>
          <a:p>
            <a:r>
              <a:t>Идёт первая неделя. Заказчик пишет: отправил заявку с вашего сайта — она не пришла. Агент читает код, находит проблему в обработчике отправки формы, правит `src/main.js`, запускает тест. Тест зелёный. Агент пишет: готово. А наш тест проверяет ровно одно — что форма не отправляется с пустыми полями. Про доставку он не знает ничего. Вы закрываете задачу, заказчик пишет снова: всё ещё не доходит.</a:t>
            </a:r>
          </a:p>
          <a:p/>
          <a:p>
            <a:r>
              <a:t>Вы напоминаете агенту про гейт вручную — на этот раз он открывает страницу руками, находит вторую причину, чинит. Через два дня, в новой сессии, на другом баге — то же самое: автотест зелёный, «готово», руками никто не проверил.</a:t>
            </a:r>
          </a:p>
          <a:p/>
          <a:p>
            <a:r>
              <a:t>Гейт-фраза лежала в файле все эти дни и загружалась в начало каждой сессии. Оба раза «готово» прозвучало до ручной проверки.»</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Пауза, 2–3 голоса — без единой цифры на экране. Любой прозвучавший вариант фиксируется одинаково, включая «перепишу капсом»: «Принято, возвращаемся к этому через минуту.»</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результат по-настоящему контринтуитивный. Исследование TDAD взяло чисто процедурную инструкцию "сначала пиши тесты" без единого изменения в тулинге — и регрессии не упали, а выросли до почти десяти процентов. Хуже, чем вообще без инструкции. Улучшение появилось только тогда, когда то же самое требование зашили в скилл или в тулинг, а не в текст. И отдельно, для цикла "план-код-улучшение": самокритика без внешнего сигнала систематически ухудшает результат — это ICLR подтверждает жёстко. А вот self-repair с реальным прогоном теста даёт плюс пять-тридцать процентных пунктов. Разница принципиальная, не терминологическая: смотрел ли агент на свой код — или прогнал ли он реальную проверку.</a:t>
            </a:r>
          </a:p>
          <a:p/>
          <a:p>
            <a:r>
              <a:t>Отдельного контролируемого эксперимента именно на изолированную фразу-гейт в файле инструкций нет — здесь у нас best-practice наблюдения практиков, не отдельное измерение.</a:t>
            </a:r>
          </a:p>
          <a:p/>
          <a:p>
            <a:r>
              <a:t>Теперь разбор. Вариант "перепишу капсом" — в точности тот путь, который проверило TDAD: усилили формулировку текстом, без тулинга. Регрессии выросли. Капс не превращает просьбу в закон. "Продублирую вторым пунктом" — presence paradox из первого кейса: лишняя строка стоит контекста в каждой сессии. "Отдельный файл-чеклист" — тот же класс решения, снова текст, снова просьба. "Смирюсь, это нормально" — для правила, чьё нарушение стоит дорого, это решение не решать.</a:t>
            </a:r>
          </a:p>
          <a:p/>
          <a:p>
            <a:r>
              <a:t>И только один вариант из пяти — "передам проверку механизму вне текста" — системно работает: механизм даёт двадцать процентных пунктов там, где смена модели даёт один. Это верное направление. Сам механизм — на следующем слайде.»</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«Вариант "перепишу капсом" — в точности тот путь, который проверило TDAD. Капс не превращает просьбу в закон. И ни один из пяти вариантов, кроме "передам механизму вне текста", не решает проблему системно — а мы туда сегодня не идём, это следующее занятие. Значит, честный ответ сегодня: мы всё равно оставим гейт текстом, потому что это лучше, чем ничего — но прямо скажем себе, что он ненадёжен, даже заведённый с первого дня, и назовём направление, куда идти, когда он подведёт второй раз.</a:t>
            </a:r>
          </a:p>
          <a:p/>
          <a:p>
            <a:r>
              <a:t>И вот формула, которая держит весь сегодняшний разбор: правила в промпте — это просьбы, правила в коде — это законы. Текстовый гейт, который у нас с первого дня, — просьба, и это нормально для базовой практики. Но называть вещи своими именами — часть работы: то, что мы записали текстом, не стало законом от того, что мы записали его проактивно.</a:t>
            </a:r>
          </a:p>
          <a:p/>
          <a:p>
            <a:r>
              <a:t>Теперь прямой вопрос, на который стоит ответить здесь, а не оставлять его висеть: можно ли сегодня обойтись без хука — и если да, то зачем мы вообще про него говорим.</a:t>
            </a:r>
          </a:p>
          <a:p/>
          <a:p>
            <a:r>
              <a:t>Обойтись сегодня можно, и вот на каком основании. Текстовый гейт ловит честную ошибку: случай, когда проверку не обошли, а просто про неё не вспомнили. Это реальная работа, и стоит она одной строки. В нашем кейсе это видно буквально: из трёх раз гейт сработал один — тот, когда про него напомнили вслух. Чего он не делает — не держится под давлением. Срок, спешка, "тест зелёный, отчитаемся" — и строка в файле перестаёт существовать. Это и измерено: усиление текста текстом подняло регрессии почти до десяти процентов, а механизм даёт двадцать процентных пунктов там, где смена модели даёт один.</a:t>
            </a:r>
          </a:p>
          <a:p/>
          <a:p>
            <a:r>
              <a:t>Граница проходит не по важности правила, а по тому, можете ли вы назвать конкретику. Хук нужен, когда цена нарушения высокая и предсказуемая: есть конкретное действие, конкретная команда, конкретный ущерб. Пока действие не названо, хук ставить рано — он платный на каждом вызове и проверяет совпадение с шаблоном, а не смысл.</a:t>
            </a:r>
          </a:p>
          <a:p/>
          <a:p>
            <a:r>
              <a:t>В нашем проекте действие как раз названо: "готово" без ручной проверки, два раза подряд, цена — заявка не дошла, а у заказчика показ. То есть честный вывод сегодня не "текста достаточно", а "текста достаточно ровно до этого места" — и дальше начинается материал следующего занятия.</a:t>
            </a:r>
          </a:p>
          <a:p/>
          <a:p>
            <a:r>
              <a:t>И отсюда ответ на вопрос "зачем нам знать про хук, если мы его сегодня не ставим". Затем, чтобы не принять текстовый гейт за решение. Человек, который не знает про следующий уровень, усиливает текст: капсом, дублем, третьим чеклистом — ровно тот путь, который TDAD измерил. Знание про хук даёт критерий, по которому вы узнаёте момент: назовите действие, цену нарушения и частоту. Назвали — пора ставить хук. Не назвали — текста хватает.</a:t>
            </a:r>
          </a:p>
          <a:p/>
          <a:p>
            <a:r>
              <a:t>И второй пункт разбора, про "улучшение": если это "агент, посмотри на свой код ещё раз" — не делать так, доказательство однозначное. Если это "агент, открой dist/index.html и отправь форму руками" — делать так всегда.»</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итог кейса 1.2: тринадцать строк — критерий готовности, гейт-предупреждение вручную проверить доставку, честная граница на деплой. Файл грузится в начало каждой сессии целиком, официальный ориентир — до двухсот строк, у нас — тринадцать. `@`-импорты организуют файл, но контекст не экономят — импортированное всё равно грузится целиком.</a:t>
            </a:r>
          </a:p>
          <a:p/>
          <a:p>
            <a:r>
              <a:t>И мы заводим `AGENTS.md` как симлинк на тот же файл — один источник правды для разных движков. Острый край: `cp -R` без `-P` на macOS разыменовывает симлинк во вторую реальную копию молча — копировать через `cp -a`, `git clone` или `git archive`.»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«Из кейса 1.2 легко унести неверный вывод: единственное, что стоило завести заранее, — одна строка, про которую нам только что сказали, что она ненадёжна. Значит, заранее делать особо нечего. Это не так, и вот три вещи, которые заводятся в первый день.</a:t>
            </a:r>
          </a:p>
          <a:p/>
          <a:p>
            <a:r>
              <a:t>Первая — цикл «создай, прожарь, улучши». Черновик плана, потом проход по нему фиксированным списком вопросов: это самая простая версия, которая работает; какие допущения не проверены; нет ли преждевременной абстракции; у каждого нового файла есть владелец; не склеены ли в одну пачку рискованные изменения. Потом правки — и только потом показать и согласовать. Мы минуту назад читали, что самокритика без внешнего сигнала ухудшает результат, — и это не противоречие. Внешних сигнала тут два: список вопросов, который не зависит от только что написанного текста, и человек на шаге «покажи». И прожаривается план, а не готовый код — там правка дешевле всего. Команда, которая делает этот курс, работает именно так: цикл записан в её файле инструкций как обязательный для любой нетривиальной задачи.</a:t>
            </a:r>
          </a:p>
          <a:p/>
          <a:p>
            <a:r>
              <a:t>Вторая — журнал хода работы по задаче, в любом виде. Файл на задачу, список шагов с отметками, просто лог. Всё, что держится только внутри сессии, к следующей сессии недоступно. Как такой журнал ведут и где он ломается — отдельный кейс в разделе про память.</a:t>
            </a:r>
          </a:p>
          <a:p/>
          <a:p>
            <a:r>
              <a:t>Третья — правило пишется вместе с причиной. Рядом с правилом строка: какой случай его породил. Правило без причины через месяц читается как вкусовщина и снимается первым. Правило с названной ценой нарушения — это готовый критерий, по которому видно, когда текст пора подпирать механизмом. Тот самый критерий: назвать действие, цену и частоту.»</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Переход одной фразой: «Две развилки были про то, что писать в файл инструкций. Третья — про то, где вообще держать документацию проекта: прошёл месяц, знания накопилось больше, чем помещается в один файл.»</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«Месяц работы над `signup-landing`. За это время в репозитории накопились два куска знания, которых нет ни в корневом файле, ни в описании проекта.</a:t>
            </a:r>
          </a:p>
          <a:p/>
          <a:p>
            <a:r>
              <a:t>Первый: в папке с тестами сложилась договорённость — как называются файлы проверок и что со страницей работают через объект страницы, а не через селекторы напрямую. Это правило для всей папки: оно нужно всякий раз, когда кто-то трогает тесты.</a:t>
            </a:r>
          </a:p>
          <a:p/>
          <a:p>
            <a:r>
              <a:t>Второй кусок другой по природе. Функция отправки формы при таймауте повторяет запрос один раз — значит, обработчик на сервере обязан быть идемпотентным, иначе заявка уедет дважды. Это знание нужно ровно тому, кто правит эту функцию, и больше никому.</a:t>
            </a:r>
          </a:p>
          <a:p/>
          <a:p>
            <a:r>
              <a:t>Разработчик поступает с обоими одинаково: заводит `tests/CLAUDE.md` и `src/CLAUDE.md`. Расчёт — что агент прочитает файл сам, когда будет работать в этой папке. На этом состояние зафиксировано; дальше — вопрос.»</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Пауза, 2–3 голоса — без единой цифры на экране.</a:t>
            </a:r>
          </a:p>
          <a:p/>
          <a:p>
            <a:r>
              <a:t>Сказать до голосования, а не после: карточек можно выбрать несколько, и два куска знания можно развести по разным карточкам — вопрос не требует одного ответа на оба.</a:t>
            </a:r>
          </a:p>
          <a:p/>
          <a:p>
            <a:r>
              <a:t>Любой прозвучавший вариант фиксируется одинаково, включая «положу и всё»: «Принято, возвращаемся к этому через минуту.»</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"куда положить" — это на самом деле вопрос "дойдёт ли текст до агента и сколько он стоит". Ответ механический, и он разный у пяти каналов.</a:t>
            </a:r>
          </a:p>
          <a:p/>
          <a:p>
            <a:r>
              <a:t>Корневой файл и все каталоги выше грузятся при старте сессии: доходит всегда, платим всегда. Импорт через собачку разворачивается тоже при старте — организует файл, контекст не экономит, мы это считали в прошлом кейсе. Комментарий в коде доходит тогда, когда агент открыл файл, — а он его открыл, если правит функцию. Вложенный файл в подпапке доходит только когда агент прочитал что-то из этой папки, и то если инструмент вообще так умеет.</a:t>
            </a:r>
          </a:p>
          <a:p/>
          <a:p>
            <a:r>
              <a:t>Дальше — факт, ради которого этот кейс существует. Три инструмента независимо друг от друга сделали один и тот же механизм: правило с объявленным шаблоном путей, лежащее в одном общем каталоге правил. У Claude Code это поле `paths`, у Cursor — `globs`, у VS Code — `applyTo`. Формулировка везде одна: правило подключается, когда агент работает с файлом, подходящим под шаблон. Триггер объявлен явно, и файл лежит там, куда инструмент смотрит всегда, — не надо надеяться, что он забредёт в подпапку.</a:t>
            </a:r>
          </a:p>
          <a:p/>
          <a:p>
            <a:r>
              <a:t>А "просто положи файл в папку" у тех же четырёх инструментов: закрыт как "not planned", признан багом сотрудником, помечен экспериментальным и выключен по умолчанию, не реализован вовсе. Четыре инструмента, четыре разных отказа.</a:t>
            </a:r>
          </a:p>
          <a:p/>
          <a:p>
            <a:r>
              <a:t>Обещание, на которое все опираются, даёт не инструмент, а стандарт `agents.md`: агенты автоматически читают ближайший файл в дереве каталогов. Это описание типичного поведения, а не требование. Обещание не выполняется, потому что его никто и не давал.»</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неудобная часть. Два контролируемых измерения проверяли, помогает ли всё это вообще. Первое — тысяча шестьсот пятьдесят сессий, четыре структурных переменных конфиг-файла: значимого эффекта нет ни у одной. Второе, свежее, — двести восемьдесят восемь прогонов на двух агентах и трёх репозиториях, три режима: файла нет, файл в каждом ходу, раздельные документы для подгрузки по требованию. У Claude все три в пределах двух процентных пунктов. У Codex вариант "файла нет" оказался лучшим. Значимости нет. А разбор провалов показал, что задачи падали на мастерстве реализации, не на нехватке знания о репозитории.</a:t>
            </a:r>
          </a:p>
          <a:p/>
          <a:p>
            <a:r>
              <a:t>Оговорку авторы делают сами, и мы её повторим: на пятнадцати задачах различимый эффект — больше тридцати процентных пунктов. Эффект в десять они бы не увидели. "Не нашли" — не "нет".</a:t>
            </a:r>
          </a:p>
          <a:p/>
          <a:p>
            <a:r>
              <a:t>Что из этого следует практически. Канал доставки мы выбираем не потому, что кто-то доказал его пользу — никто не доказал. Мы выбираем по двум вещам, которые знаем точно: доходит ли текст и сколько он стоит в сессиях, где не нужен. Отсюда правило трёх адресов. Знание про одну функцию — рядом с ней, в код: единственный канал, где доставка следует из механизма. Знание про класс файлов — в правило с объявленным шаблоном путей. Знание про весь проект — в корневой файл, коротко.</a:t>
            </a:r>
          </a:p>
          <a:p/>
          <a:p>
            <a:r>
              <a:t>И ответ на вопрос, который обычно повисает: где живёт свод. Свод — не отдельный документ, который агент должен найти. Свод — это оглавление в том единственном файле, который грузится при старте: одна строка на документ, где лежит и когда туда идти. Всё остальное — "у нас есть вики, посмотри там" — это надежда, а не канал доставки.</a:t>
            </a:r>
          </a:p>
          <a:p/>
          <a:p>
            <a:r>
              <a:t>Цену этого свода мы тоже знаем, из единственной работы, где его построили целиком: час-два в неделю на поддержание, и главный режим отказа — устаревание. Дословно: агенты доверяют документации абсолютно, и устаревшие спецификации дают тихие отказы. Это опыт одного разработчика на одном проекте, без контрольной группы, — но других цифр про цену свода у нас нет.»</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нашем репозитории корневой файл не изменился — те же тринадцать строк. Деталь про повторную отправку ушла комментарием к самой функции: правишь её — читаешь файл — видишь комментарий. Конвенция тестов не завелась отдельным файлом, потому что она уже лежит в трёх существующих тестах: агент, открывший любой из них, видит объект страницы в коде. Та же логика, что в первом кейсе, — выводимое агент выведет сам, — и с той же честной пометкой: следует из механизма, прямо не измерено. Ни `tests/CLAUDE.md`, ни `src/CLAUDE.md` в репозитории так и не появилось.</a:t>
            </a:r>
          </a:p>
          <a:p/>
          <a:p>
            <a:r>
              <a:t>Порог для каждого адреса. Комментарий в коде — без сигнала, он и человеку полезен, а агенту достаётся бесплатно. Правило с шаблоном путей — когда конвенция перестала помещаться в корневой файл и вы можете назвать шаблон одним выражением; пока она в две строки — рано. Указатель-свод — когда появился документ, на который указывать, и человек, который его поддерживает; указатель без документа — это строка контекста в каждой сессии ни за что. Вложенный файл в подпапке — никогда как единственная гарантия: только если вы проверили через `/context`, что ваш инструмент в вашей версии его берёт, и готовы перепроверять после каждого обновления.</a:t>
            </a:r>
          </a:p>
          <a:p/>
          <a:p>
            <a:r>
              <a:t>Три развилки, один и тот же файл: мы решили, чего в него не писать заранее; записали гейт готовности, который завели на дне 0; и решили, что у знания есть адрес — и вложенная папка им не является. Всё это — знание, которое у вас уже было до работы: записанное заранее или проверенное на первой реальной задаче.</a:t>
            </a:r>
          </a:p>
          <a:p/>
          <a:p>
            <a:r>
              <a:t>Но есть знание другого рода: то, что появляется по ходу самой работы. Его нельзя записать заранее, потому что вы его ещё не знаете. И у него тоже есть адрес. Это раздел второй — память.»</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Переход одной фразой: раздел 1 закрыл вопрос авторства — что вы знали заранее и записали сами. Этот раздел открывает вопрос памяти — что появляется по ходу работы и должно пережить конец сессии. Первая развилка — про журнал решений проекта, и мы возвращаемся к той же первой неделе, что и во втором кейсе.</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«Конец первой недели. Заказчик прислал заявку с опечаткой в домене почты — форма её приняла. Просите агента ужесточить проверку. Он читает код и говорит: давайте подключим библиотеку валидации форм, вот подходящая. Ту самую, которую вы обсуждали и отклонили несколько дней назад — форма из двух полей, хватает нативных `required` и `pattern`.</a:t>
            </a:r>
          </a:p>
          <a:p/>
          <a:p>
            <a:r>
              <a:t>Состояние репозитория на этот момент: `DECISIONS.md` в нём есть. Он заведён на дне 0, в тот же день, что спека и README, — как и всё, что стоит дёшево и заводится сразу. Записи про библиотеку валидации в нём нет. Решение прозвучало в рабочем обсуждении, и между «мы это обсудили и решили» и «строка появилась в файле» есть шаг, который сам не происходит.</a:t>
            </a:r>
          </a:p>
          <a:p/>
          <a:p>
            <a:r>
              <a:t>И это не «агент забыл». Модель не имеет состояния между вызовами: каждый запрос обрабатывается независимо, а то, что выглядит как память обсуждения, — это заново отправленная текстовая история. Когда сессия закончилась, не записанное на диск не забылось. Его больше нет.»</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читается дословно с экрана — сценарий и диагностика уже прозвучали на предыдущем слайде, здесь не пересказывать их заново, только короткое напоминание одной строкой сверху. В вопросе специально зашита вторая половина — «и почему не в файл инструкций, который мы только что завели» — без неё зал даст правильный по форме ответ и не увидит, что слои разные. Пауза, затем 2–3 голоса. Фасилитатор не комментирует ответы по существу на этом слайде, только фиксирует их вслух: «записал», «принято, идём дальше». Разбор, цифры и связка с исследованием — на следующем слайде.</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разбирать ответы — одна механическая вещь, которую легко смешать, и смешивать её дорого. В кейсе 1.3 мы разбирали автозагрузку по официальной документации: корневой файл инструкций и все родительские грузятся при старте сессии сами, вложенные — только по факту чтения файла из этой папки.</a:t>
            </a:r>
          </a:p>
          <a:p/>
          <a:p>
            <a:r>
              <a:t>`DECISIONS.md` под это правило не попадает вообще. Это обычный файл репозитория, ничем не отличающийся от `src/main.js`: ни один инструмент не подаёт его в контекст автоматически. Агент открывает его, если сам решил его открыть, — или если вы на него сослались.</a:t>
            </a:r>
          </a:p>
          <a:p/>
          <a:p>
            <a:r>
              <a:t>Отсюда поправка к presence paradox. В кейсе 1.1 контролируемый эксперимент показал: сам факт присутствия текста в контексте стоит плюс двадцать-двадцать три процента, независимо от того, помогает ли текст решить задачу. Для журнала решений это верно условно: цена возникает не в каждой сессии, а в каждой, где файл прочитан. Но читается он целиком — по одной нужной записи файл не читают. Тридцать записей о разных темах оплачиваются полностью ради той одной, которая сегодня относится к делу.</a:t>
            </a:r>
          </a:p>
          <a:p/>
          <a:p>
            <a:r>
              <a:t>Отдельного измерения именно на логах решений не проводилось — это перенос механизма на новый объект, не новое доказательство, и так это и подаётся.</a:t>
            </a:r>
          </a:p>
          <a:p/>
          <a:p>
            <a:r>
              <a:t>И обратная сторона, которую честнее назвать сразу: запись, которую агент не открыл, не стоит ничего и не даёт ничего. В нашем итоговом файле инструкций — тринадцать строк из кейса 1.2 — ссылки на `DECISIONS.md` нет. Значит, гарантированного пути от автозагружаемого слоя к журналу решений у нас сейчас нет. Это открытый вопрос, а не закрытый.»</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Один критерий различения, одной фразой: разница не в формате — первые три слоя все markdown, — а в том, кто инициирует запись, кто её потом увидит и по какому механизму она попадает в контекст. Файл инструкций пишете вы заранее, и он грузится сам. Авто-память пишет агент, для себя, на этой машине, без ревью. Журнал решений пишете вы, для команды, в репозиторий, через ревью — но он не грузится сам: агент открывает его по своей инициативе или по явной ссылке.</a:t>
            </a:r>
          </a:p>
          <a:p/>
          <a:p>
            <a:r>
              <a:t>Четвёртая колонка — внешняя система памяти: векторная или графовая база, отдельный сервис. Там запись формирует не человек: сервис сам извлекает факты из хода работы и сам решает, что подать в контекст по запросу. Плюс — переживает смену машины, в отличие от авто-памяти. Минус — в репозитории не лежит ничего, значит ни истории изменений, ни ревью, а формулировку записи вы не контролируете. И выигрыш от неё не автоматический: на малых корпусах простой файл регулярно её обходит — замеры по этому на слайде провала.</a:t>
            </a:r>
          </a:p>
          <a:p/>
          <a:p>
            <a:r>
              <a:t>Четыре детали кратко: индекс памяти — только индекс, за двести строк содержимое физически не попадает в сессию; агент сам пропускает то, что выводимо из кода; сжатие контекста переживают только файлы на диске — то, что сказано лишь в разговоре, при сжатии может исчезнуть; и усложнение слоя само по себе результата не улучшает. Третья деталь — прямой отклик на предыдущий раздел: расчёт «объясню агенту ещё раз по ходу работы» не работает даже внутри одной длинной сессии.</a:t>
            </a:r>
          </a:p>
          <a:p/>
          <a:p>
            <a:r>
              <a:t>Теперь, с этой таблицей на руках, разбираем то, что выбрал зал.</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«Слои перед глазами — теперь по вариантам, которые прозвучали.</a:t>
            </a:r>
          </a:p>
          <a:p/>
          <a:p>
            <a:r>
              <a:t>"Допишу в CLAUDE.md" — механически сработает, спорить не о чем; но представьте тридцать таких решений за полгода — файл читается целиком каждую сессию, ориентир двести строк. "Агент сам запомнит" — отвечать не "нет", а механикой: между двумя вызовами модель не хранит ни одного бита. "Скажу "запомни это"" — половина ответа, уходит в авто-память, машинно-локальный слой без синхронизации и ревью. "Запишу в DECISIONS.md — он уже есть" — признать: верно, файл уже есть, создавать нечего. Вопрос не "куда завести", а "кто и когда реально пишет туда в момент решения" — и как агент до этого файла доберётся, раз сам он не грузится. "Поставлю систему памяти" — признать разумность направления и отложить на слой провала.</a:t>
            </a:r>
          </a:p>
          <a:p/>
          <a:p>
            <a:r>
              <a:t>Целевой ответ — оба механизма разом, с разделением ролей — и это разделение собирается на следующем шаге, вживую, по карточкам.»</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Фасилитатор берёт карточки по одной и спрашивает коротко: «в какую?». Разбор каждой — одна фраза, не больше.</a:t>
            </a:r>
          </a:p>
          <a:p/>
          <a:p>
            <a:r>
              <a:t>Две карточки несут основную нагрузку. «Обработчик формы лежит в src/main.js» — почти всегда кто-то предлагает записать: агент прочитает это за секунду обычным чтением файлов, а индекс памяти грузится в каждую сессию и имеет жёсткий лимит. «24 сентября тест упал из-за таймаута» — эту карточку зал чаще всего тянет в DECISIONS.md: это «что», а не «почему», и «что» уже есть в истории изменений.</a:t>
            </a:r>
          </a:p>
          <a:p/>
          <a:p>
            <a:r>
              <a:t>По корзине «никуда» один раз проговаривается механика: место в индексе памяти конечное, и всё, что туда положено «на всякий случай», занимает его в каждой следующей сессии.</a:t>
            </a:r>
          </a:p>
          <a:p/>
          <a:p>
            <a:r>
              <a:t>После сортировки — фасилитатор спрашивает по частям: «дата?», «формулировка решения одной строкой?», «причина?» — и проявляет на слайде запись, которая реально лежит в демо-репозитории. Важно сказать вслух, что это настоящий файл настоящего репозитория, а не пример, сочинённый для слайда, и что сам файл лежит в репозитории с первого дня — новая только строка.</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механизма, не один. Авто-память рантайма живёт вне репозитория, в каталоге памяти на машине разработчика: индекс из первых 200 строк или 25 КБ плюс тематические файлы, которые агент создаёт сам. Команда «запомни: сторонние виджеты в форму не добавляем» создаёт тематический файл именно там — в дерево справа он не попадает.</a:t>
            </a:r>
          </a:p>
          <a:p/>
          <a:p>
            <a:r>
              <a:t>`DECISIONS.md` — второй механизм, git-трекнутый append-only лог, заведённый на дне 0. Новое здесь — не файл, а первая содержательная запись в нём, и дата у неё сегодняшняя: решение принято несколько дней назад, а записано только сейчас. Это реальный файл реального демо-репозитория, не пример, сочинённый для слайда.</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слоя разной природы, сливать нельзя: первый про безопасность, второй про эффективность.</a:t>
            </a:r>
          </a:p>
          <a:p/>
          <a:p>
            <a:r>
              <a:t>Отравление — как история, с датой: сентябрь 2024 года, настольное приложение ChatGPT под macOS, исследователь Йохан Ребергер. Агент прочитал внешний текст — а внутри была вложена инструкция. Эта инструкция попала не в разговор, а в долговременную память. Разговор закончился, память осталась. Конкретный канал утечки производитель закрыл в том же месяце. Принцип не закрыл никто: содержимое памяти по умолчанию читается агентом как доверенный контекст, а не как данные.</a:t>
            </a:r>
          </a:p>
          <a:p/>
          <a:p>
            <a:r>
              <a:t>Масштаб — с явной базой: десяток отравленных шаблонов захватил порядка половины всех последующих обращений к памяти при нуле до отравления; в смежном эксперименте хватило пяти подложенных документов, чтобы управлять выводом более чем в девяти случаях из десяти.</a:t>
            </a:r>
          </a:p>
          <a:p/>
          <a:p>
            <a:r>
              <a:t>Практический вывод — применительно к нашему файлу: мы сегодня записали своё собственное решение, здесь всё в порядке. Но как только агент начнёт записывать в память выводы из чужого issue, чужой страницы или чужого тикета — это уже другой уровень доверия.</a:t>
            </a:r>
          </a:p>
          <a:p/>
          <a:p>
            <a:r>
              <a:t>Второй слой бьёт не по паранойе, а по интуиции. Независимый прогон одной популярной системы памяти: с памятью — сорок шесть процентов, без памяти — пятьдесят семь и шесть, та же система, тот же бенчмарк. В живом сравнении шести систем памяти против тривиального «положить весь текст сессии в один файл» часть систем проиграла этому плоскому файлу на двадцать пять — шестьдесят семь пунктов. Честная оговорка про условия: корпуса там маленькие, целиком влезают в контекст — но именно малый корпус это ровно наш случай сегодня.</a:t>
            </a:r>
          </a:p>
          <a:p/>
          <a:p>
            <a:r>
              <a:t>И третья деталь: на двадцати четырёх задачах модель на четырёх — семнадцать процентов — прямо отказалась записать нужный факт. Это не баг — модель по устройству сама решает, что достойно записи. Вывод для инженера: полнота памяти не гарантирована, и если факт критичен — его пишут руками.</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Критерий — по чек-листу, голосом, коротко.</a:t>
            </a:r>
          </a:p>
          <a:p/>
          <a:p>
            <a:r>
              <a:t>Дальше — граница называется прямо: плоский файл перестаёт справляться не мгновенно и не из-за размера самого по себе, а когда одновременно верны два условия — записей стало столько, что найти нужную линейным чтением дольше, чем вспомнить и переобъяснить решение заново, и между записями появились связи, которые в плоском append-only логе физически некуда положить: решение номер семь отменяет часть решения номер два, а рядом с решением номер два об этом ни слова. Это не «нам нужна векторная база» — это ровно следующий кейс: тот же самый журнал решений, только выросший и требующий структуры.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Переход одной фразой: «Прошлый кейс закончился на границе: плоский файл перестаёт справляться не когда он большой, а когда в нём накопились связи, для которых в линейном логе нет места. Вот та же граница в лицах — четвёртый месяц работы над репозиторием.»</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«Прошлый кейс закончился на границе: плоский файл перестаёт справляться не когда он большой, а когда в нём накопились связи, для которых в линейном логе нет места. Вот та же граница в лицах.</a:t>
            </a:r>
          </a:p>
          <a:p/>
          <a:p>
            <a:r>
              <a:t>Четвёртый месяц работы над репозиторием. На форму пошёл спам. В команде к этому времени работает ещё один человек, прежних обсуждений он не застал, и он просит агента поставить защиту. Агент честно читает журнал решений — там уже двести записей — и отвечает по записи от двадцать шестого сентября: сторонние виджеты в форму не добавляем. Значит, капча отпадает, и он предлагает обсуждать вопрос с нуля.</a:t>
            </a:r>
          </a:p>
          <a:p/>
          <a:p>
            <a:r>
              <a:t>А двадцать восьмого ноября в журнале появилась вторая запись: антиспам делаем honeypot-полем, без капчи. Она закрывает ровно этот случай и лежит на полторы сотни записей ниже, ближе к концу файла. Ни одна из двух не ссылается на другую.</a:t>
            </a:r>
          </a:p>
          <a:p/>
          <a:p>
            <a:r>
              <a:t>Обе записи в одном файле. Найти обе в плоском логе можно только одним способом — прочитать все двести подряд.»</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Формулировка дословно. Фасилитатор зачитывает вопрос и пять карточек, вызывает 2 голоса — и не приводит на этом слайде никаких цифр: исследование идёт следующим слайдом.</a:t>
            </a:r>
          </a:p>
          <a:p/>
          <a:p>
            <a:r>
              <a:t>Ответ «поставлю графовую систему памяти» разбирается не здесь: он фиксируется вслух наравне с остальными, комментарий — на следующем слайде.</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показывать цифры — короткая честная ремарка. Почти всё, что я сейчас скажу про структурированную память, — это исследования буквально этого года, препринты, которые ещё не прошли рецензирование. Ниша растёт быстрее, чем успевает наука её проверить. Я буду говорить "заявлено в препринте", а не "доказано".</a:t>
            </a:r>
          </a:p>
          <a:p/>
          <a:p>
            <a:r>
              <a:t>Есть измерение: плоская память деградирует на горизонте примерно трёх суток работы — минус четырнадцать процентных пунктов успешности вызовов инструментов. Причины три: контекст насыщается, старые записи теряют вес, смысл записи расходится с текущим состоянием проекта.</a:t>
            </a:r>
          </a:p>
          <a:p/>
          <a:p>
            <a:r>
              <a:t>А вот интересный аргумент, почему структура может окупаться для агента там, где не окупается для человека. Человек заводит вики, и она умирает: поддерживать её дороже, чем она того стоит. У агента стоимость правки полутора десятков файлов за один проход — почти ноль. Это аргумент по механизму — прямого измерения "структура против плоского лога" именно на нашем масштабе нет.</a:t>
            </a:r>
          </a:p>
          <a:p/>
          <a:p>
            <a:r>
              <a:t>И контрпример. Бенчмарк Letta, задача на долговременную память LoCoMo: файловое хранилище — оно автоматически разбирается и индексируется, агенту доступен поиск по смыслу, не только grep — семьдесят четыре процента. Графовая система памяти Mem0 — шестьдесят восемь и пять. Простое хранилище обошло структурированное. Причина, которую называют авторы: модели тренированы на операциях с файлами как на самом привычном инструменте. Эта цифра понадобится ещё раз в разборе.»</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«"Оставить как есть, просто грепать" — приемлемо, пока записей десятки; но мы только что видели: плоская память деградирует со временем, и наш файл уже перерос эту границу. «Поставлю графовую систему памяти» — у нас же по сути граф решений. Целевой ответ всё равно другой: отдельные файлы, по одному на решение, со сквозными ссылками, а не графовая система. Бенчмарк Letta показал: простое файловое хранилище обошло графовую Mem0. Структура — не гарантированный выигрыш, она выигрывает здесь потому, что решает конкретную проблему — потерянную связь между решениями, — а не потому что «структурированное всегда лучше плоского».</a:t>
            </a:r>
          </a:p>
          <a:p/>
          <a:p>
            <a:r>
              <a:t>«Один общий SUMMARY.md» — переписывание целиком убивает саму гарантию append-only. «Агент сам найдёт через поиск» — то же заблуждение, что «сам запомнит» из прошлого кейса: решения — не факты кода.»</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«Структуру здесь не изобретали — взяли готовую. Записи об архитектурных решениях, ADR, описаны Майклом Найгардом в 2011 году, и у практики есть эталонный набор команд — `adr-tools`. Устройство ровно такое, как на слайде.</a:t>
            </a:r>
          </a:p>
          <a:p/>
          <a:p>
            <a:r>
              <a:t>Одно решение — один файл: четырёхзначный номер по порядку плюс название через дефисы. Внутри — заголовок с номером, дата и четыре раздела: `Status` (статус), `Context` (что вынудило решать), `Decision` (что решили), `Consequences` (что станет проще, а что сложнее).</a:t>
            </a:r>
          </a:p>
          <a:p/>
          <a:p>
            <a:r>
              <a:t>Главное для нашего случая — раздел `Status`: кроме статуса там лежат ссылки на другие решения. В ноябрьской записи стоит `Amends` — «уточняет» — и ссылка на сентябрьскую; в сентябрьской инструмент дописал встречную строку `Amended by`. Это и есть то, чего в плоском логе не было: агенту, открывшему сентябрьское решение, больше не нужно дочитывать файл до конца — ссылка на ноябрьское уточнение стоит прямо в нём.</a:t>
            </a:r>
          </a:p>
          <a:p/>
          <a:p>
            <a:r>
              <a:t>Ключевое слово — «инструмент дописал»: ссылку в обе стороны ставит команда, а не дисциплина автора. Флаг `-s` означает «отменяет» и переводит старую запись из `Accepted` в «отменено записью такой-то»; флаг `-l` просто связывает, статуса не трогая. У нас второй случай — ноябрьское решение не отменяет сентябрьское, а уточняет его для одного вопроса. Оглавление тоже не ручное: `adr generate toc` печатает список всех записей со ссылками, его кладут в `README.md`.</a:t>
            </a:r>
          </a:p>
          <a:p/>
          <a:p>
            <a:r>
              <a:t>Честно про силу доказательства: это практика для людей. Она задокументирована с 2011 года и широко применяется — в работе 2026 года из открытых репозиториев набрали больше четырёх с половиной тысяч ADR из семисот пятидесяти проектов. Но контролируемого измерения «ADR помогают кодинг-агенту» нет ни одного. Содержимое наших двух записей — иллюстративное, реальный снимок ждёт живой сессии.»</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принимать эту цифру, разберёмся, что за ней стоит — иначе она означает не то, что кажется.</a:t>
            </a:r>
          </a:p>
          <a:p/>
          <a:p>
            <a:r>
              <a:t>LoCoMo — бенчмарк на память в очень длинных диалогах. Один пример — переписка двух вымышленных собеседников: до тридцати пяти сессий, около трёхсот реплик, порядка девяти тысяч токенов. Дальше задают вопросы о фактах, которые в этой переписке прозвучали, и считают долю верных ответов.</a:t>
            </a:r>
          </a:p>
          <a:p/>
          <a:p>
            <a:r>
              <a:t>Компания Letta собрала предельно простое решение: всю переписку положили в файл и дали агенту три инструмента — поиск по смыслу, текстовый grep и «ответить». Модель — gpt-4o-mini, не самая сильная. Получилось семьдесят четыре процента. У Mem0, специализированной системы памяти на графе, в их собственной публикации — шестьдесят восемь с половиной. Объяснение авторов простое: операции с файлами были в обучающих данных, агент владеет ими уверенно, а непривычный механизм поиска, пусть и более умный, регулярно проигрывает привычному.</a:t>
            </a:r>
          </a:p>
          <a:p/>
          <a:p>
            <a:r>
              <a:t>Теперь три оговорки, без которых эту цифру нельзя использовать. Первая: это не один прогон — числа из двух разных публикаций; авторы Letta сами называют такое сравнение «яблоки с апельсинами» и пишут, что нынешние бенчмарки памяти могут быть мало осмысленными вообще. Вторая: «файловое хранилище» здесь — не «только grep»: файл индексируется, поиск по смыслу у агента был. Третья, для нас главная: измеряли вопросы о фактах из переписки — не поиск связанного решения в журнале решений проекта. Наш случай никто не мерил.</a:t>
            </a:r>
          </a:p>
          <a:p/>
          <a:p>
            <a:r>
              <a:t>Что из этого берём: структура сама по себе выигрыша не гарантирует. Дальше — во что она обходится.»</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 раз уж мы завели структуру — сразу честно, во что она обходится. Показываю на нашем же каталоге.</a:t>
            </a:r>
          </a:p>
          <a:p/>
          <a:p>
            <a:r>
              <a:t>Устаревание. Оглавление сгенерировано командой в октябре. Записи со сто восемьдесят восьмой по двухсотую в него не попали, а выглядит оно полным — агент, которому дали оглавление, ноябрьского решения не увидит. В одном плоском файле расходиться было нечему.</a:t>
            </a:r>
          </a:p>
          <a:p/>
          <a:p>
            <a:r>
              <a:t>Дублирование. Кто-то не нашёл сто восемьдесят седьмую запись и завёл сто девяносто третью про тот же honeypot. Обе приняты, ссылки между ними нет. Формат не запрещает два решения об одном, а инструмент не ищет похожие.</a:t>
            </a:r>
          </a:p>
          <a:p/>
          <a:p>
            <a:r>
              <a:t>Нет каскадного удаления. Допустим, сентябрьское решение отменили — инструмент честно перевёл его статус и проставил ссылки. Но ноябрьская запись обоснована фразой "капча запрещена решением тридцать один", и она осталась принятой, хотя её обоснование больше не действует. Инструмент чинит ссылки, но не смысл производной записи.</a:t>
            </a:r>
          </a:p>
          <a:p/>
          <a:p>
            <a:r>
              <a:t>И поддержка. Двести решений — двести файлов: номер, дата, статус, ссылки в обе стороны, регенерация оглавления. Часть делают команды. А заметить, что новая запись про то же, что сто восемьдесят седьмая, не делает никто.</a:t>
            </a:r>
          </a:p>
          <a:p/>
          <a:p>
            <a:r>
              <a:t>У людей именно эта нагрузка обычно и убивает такую базу знаний — это наблюдение, не измерение. У агента правка полутора десятков файлов за проход стоит почти ноль, и, возможно, у него выйдет иначе. Это гипотеза о механизме, не измеренный факт.</a:t>
            </a:r>
          </a:p>
          <a:p/>
          <a:p>
            <a:r>
              <a:t>Структура — это компромисс. Не бесплатный апгрейд.»</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у записи единицы связей, а не десятки, один-два человека правят память, и никто не просил "найди решения, похожие по смыслу на это" — вам хватает того, что мы сейчас построили. Полноценная система памяти — это следующий шаг, и он требует замеров на вашем масштабе, не общего совета: мы только что видели, что "умнее" не значит "лучше" без проверки.</a:t>
            </a:r>
          </a:p>
          <a:p/>
          <a:p>
            <a:r>
              <a:t>Теперь смена оси. Всё, что мы обсуждали в этом разделе, — про решения, которые живут навсегда. А что происходит с памятью одной задачи, пока она ещё не закончена? Следующий кейс — именно про это.»</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Переход одной фразой: «Обе предыдущие развилки — про решения, которые остаются в силе навсегда. Теперь другой вопрос: что происходит с памятью одной задачи, пока она ещё не закончена?»</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«Практика «файл на задачу» у нас заведена на дне 0, рядом с журналом решений: любая задача длиннее одной сессии получает свой файл — план и лог хода. Задача здесь такая: разбить форму на пошаговый визард — имя, email, подтверждение, — сохранив всю текущую валидацию. Файл создан до начала работы, план расписан на шесть шагов.</a:t>
            </a:r>
          </a:p>
          <a:p/>
          <a:p>
            <a:r>
              <a:t>Первая сессия закрывает первые два шага. По ходу второго шага становится видно, что значения полей надо где-то держать между шагами, и прямо в работе — не в плане — выбирается способ: состояние визарда хранить одним объектом в sessionStorage, под ключом signup-wizard, чтобы перезагрузка страницы на третьем шаге не сбрасывала уже заполненные поля. В плане третий шаг записан одной строкой: «состояние текущего шага»; как именно его делать, там не сказано. В лог хода выбранный способ не попадает. Сессия обрывается в середине третьего шага, контекст сжимается.</a:t>
            </a:r>
          </a:p>
          <a:p/>
          <a:p>
            <a:r>
              <a:t>Вторая сессия. Агент открывает файл: план на месте, два шага отмечены выполненными, третий открыт. Про sessionStorage в файле нет ни строки. Агент делает третий шаг самым коротким способом — держит состояние в переменной модуля, никуда не сохраняя. Переключение шагов работает, тесты пятого шага зелёные. Расхождение всплывает только на шестом шаге, при ручной проверке полного прохождения: перезагрузка на третьем шаге очищает форму — ровно то, ради чего в первой сессии и выбрали sessionStorage. Третий шаг переделывается целиком, вместе с тем, что успели на него завязать.</a:t>
            </a:r>
          </a:p>
          <a:p/>
          <a:p>
            <a:r>
              <a:t>На входе во вторую сессию у агента есть ровно то, что лежит в файле: шесть шагов и две отметки. Всё остальное было в контексте первой сессии, которого больше нет.»</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задаётся точно по карточке. Фасилитатор зачитывает вопрос и пять карточек, вызывает 2 голоса — и не приводит на этом слайде ни одной цифры и ни одной ссылки на источник.</a:t>
            </a:r>
          </a:p>
          <a:p/>
          <a:p>
            <a:r>
              <a:t>Одна реакция стоит подготовки заранее, но фиксируется вслух без комментария по существу: «Дописать в DECISIONS.md» звучит похоже на верный ответ из прошлого кейса — фасилитатор просто фиксирует вариант и переходит дальше, комментарий на следующем слайде.</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одна связка, без неё дальше не сойдётся. Файл задачи — это и есть письменный план, по которому работает следующая сессия. Агент, который её открывает, первую сессию не помнит: он восстанавливает задачу целиком из того, что записано в файле. И отличить «про это договорились, но не записали» от «про это не было речи» ему нечем — того, чего в файле нет, для него не забыто, его просто нет.</a:t>
            </a:r>
          </a:p>
          <a:p/>
          <a:p>
            <a:r>
              <a:t>Отсюда два следствия. Первое: полнота файла задачи — это не аккуратность ради аккуратности, это буквально полнота плана, по которому будет действовать исполнитель без других источников. Второе: значит, наша развилка — частный случай вопроса, который измеряли: что происходит с работой агента, когда план, которым он руководствуется, неполон или разошёлся с реальностью.</a:t>
            </a:r>
          </a:p>
          <a:p/>
          <a:p>
            <a:r>
              <a:t>Сначала о том, что на этот счёт делают. Прецедент паттерна из инженерного блога Anthropic: агент играет в Pokémon тысячи шагов подряд, переживая сбросы контекста, — и справляется благодаря простым структурированным заметкам: счётчики, текущая цель. У Manus похожая техника называется "recitation": агент непрерывно переписывает список дел в конец контекста — модель охотнее следует тому, что видела последним. На задачах порядка полусотни вызовов инструментов это заметно снижает уход от цели. И есть открытый проект, metasphere-agents, где это сделано ровно так, как мы обсуждаем: файл на задачу, который по завершении уезжает в архив.</a:t>
            </a:r>
          </a:p>
          <a:p/>
          <a:p>
            <a:r>
              <a:t>А теперь — почему в нашем сценарии файл всё равно подвёл, хотя был заведён правильно и с первого дня. Есть измерение на большом числе траекторий: план в среднем помогает. Но дословная цитата авторов — "плохой план вреднее отсутствия плана вообще". Файл, который перестал отражать реальность, не нейтрален — он создаёт ложную уверенность именно там, где нужна бдительность. Полную картину с цифрами покажу через несколько минут, на слайде провала — сейчас достаточно понимать механизм.»</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«Файл задачи — не то же самое, что журнал решений. DECISIONS.md — про то, что остаётся в силе навсегда, для всех будущих задач. Ход этой конкретной задачи — не решение проекта, это статус: что сделано, что дальше, что мелкое мы успели по ходу решить. Как хранить состояние визарда — решение ровно на время этой задачи: закончим — и это просто деталь кода, не правило проекта. Когда задача закончится, всё это можно выбросить. Совсем другой тип памяти, не следующая ступень той же лестницы.</a:t>
            </a:r>
          </a:p>
          <a:p/>
          <a:p>
            <a:r>
              <a:t>Целевой ответ — не «завести файл», он уже есть, и не «не забывать дописывать». Файл был, практика была. Не хватило одной строки — но не в логе, а в CLAUDE.md: дописывать договорённость в файл задачи сразу, как она прозвучала, а не «когда будет время».</a:t>
            </a:r>
          </a:p>
          <a:p/>
          <a:p>
            <a:r>
              <a:t>Адресат этой строки — не разработчик, а агент, который файл и так ведёт: он читает инструкции в начале каждой сессии, он отмечает шаги, он пишет лог. Ему просто не было сказано, когда писать. Решение кейса — сказать это в файле инструкций, а не полагаться на то, что кто-то вспомнит сам.</a:t>
            </a:r>
          </a:p>
          <a:p/>
          <a:p>
            <a:r>
              <a:t>И ровно та же оговорка, что в кейсе про гейт готовности: правило в тексте — просьба, не закон, сработает не каждый раз. Разница в том, что просьба адресована исполнителю, который открывает эти инструкции каждую сессию, — а человеческая внимательность не масштабируется вообще никак.»</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«Один файл на задачу: план, лог хода, результаты — он уже был с первого шага, это не новость этого кейса. Новость — вот этот блок в CLAUDE.md, три строки. Первая описывает сам файл. Вторая говорит, когда в него писать: договорённость, принятую по ходу работы, дописывать в лог сразу, тем же ответом. Третья — сверять план с репозиторием в начале и в конце сессии; к ней вернёмся через минуту, когда посмотрим цифры, она оттуда и взялась.</a:t>
            </a:r>
          </a:p>
          <a:p/>
          <a:p>
            <a:r>
              <a:t>Справа — что из этого получается в самом файле задачи: договорённость про sessionStorage попала в лог до того, как сессия оборвалась. Структура файла та же, практика та же — разница ровно в том, записали вовремя или нет. И записывает это агент, по инструкции, а не вы по памяти: заставлять себя помнить про лог посреди работы — ровно то решение, которое не работает.</a:t>
            </a:r>
          </a:p>
          <a:p/>
          <a:p>
            <a:r>
              <a:t>Честная граница, та же, что в кейсе про гейт готовности: эти строки — просьба текстом. Агент их читает и может выполнить; гарантии, что дописал каждый раз, они не дают. Поэтому третья строка про сверку и стоит рядом с первыми двумя: одна просьба страхует другую, но барьером ни одна из них не становится.</a:t>
            </a:r>
          </a:p>
          <a:p/>
          <a:p>
            <a:r>
              <a:t>И явная оговорка про масштаб: это упрощённая версия паттерна. В реальной практике это масштабируется до папки на задачу — отдельный план, отдельный лог, отдельная папка результатов, особенно когда задача не линейная. Для сегодняшнего занятия одного файла достаточно — не усложняем.»</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«Обещанные цифры. Двадцать одна тысяча сто двадцать траекторий, SWE-bench: наличие плана в среднем помогает. И тут же прямая цитата авторов: "плохой план вреднее отсутствия плана вообще". Комплаенс агента к собственному плану падает примерно на тринадцать пунктов на более сложном бенчмарке.</a:t>
            </a:r>
          </a:p>
          <a:p/>
          <a:p>
            <a:r>
              <a:t>А вот эксперимент с более жёстким условием: тридцать контролируемых живых рабочих сценариев, где план не проверялся на актуальность по ходу работы. Устаревший план выполнялся буквально во всех тридцати случаях. Файл задачи, который никто не обновляет, — не нейтральная бумажка. Это источник систематически неверных действий.</a:t>
            </a:r>
          </a:p>
          <a:p/>
          <a:p>
            <a:r>
              <a:t>И прочитайте условие этого эксперимента ещё раз: сто процентов — это прогоны без проверки актуальности плана. Измерена не неизбежность провала, а цена пропуска одного конкретного шага. Значит, шаг надо вернуть — и это та самая третья строка, которую мы записали пару слайдов назад: сверять план с состоянием репозитория в начале и в конце сессии и ставить в файле строку «сверено» с датой.</a:t>
            </a:r>
          </a:p>
          <a:p/>
          <a:p>
            <a:r>
              <a:t>Три вещи в этой формулировке не случайны. Первое — «и в конце». Сверка в начале защищает эту сессию, сверка в конце защищает следующую: она дописывает то, что выяснилось под конец, пока контекст ещё цел. В нашем сценарии сессия оборвалась на середине третьего шага, и сверки в конце не случилось — но сверка в начале второй сессии сравнила бы план с кодом и показала бы: шаг начат, а как его делать — в файле не сказано. Не гарантия, но место, где расхождение становится видно.</a:t>
            </a:r>
          </a:p>
          <a:p/>
          <a:p>
            <a:r>
              <a:t>Второе — сама строка «сверено, дата». Без неё следующая сессия не отличит свежий план от плана трёхнедельной давности: и тот и другой выглядят одинаково уверенно, и это ровно тот механизм, из-за которого плохой план вреднее отсутствия плана. Дата делает свежесть видимой. Третье — сверять с репозиторием, а не с памятью: код и история изменений переживают сжатие контекста, память — нет.</a:t>
            </a:r>
          </a:p>
          <a:p/>
          <a:p>
            <a:r>
              <a:t>И граница этой меры — та же, что у гейта готовности из первого раздела: это снова просьба текстом. Риск она снижает, но не снимает. У Manus, о котором говорили на прошлом слайде, тот же приём работает внутри одной сессии — они переписывают список дел в конец контекста; сверка делает то же самое между сессиями. Механического барьера, который не даст работать по несверенному плану, мы сегодня не ставим.</a:t>
            </a:r>
          </a:p>
          <a:p/>
          <a:p>
            <a:r>
              <a:t>Есть ещё кейс-стади, очень близкий к нашей ситуации: реальный проект, триста девяносто одна сессия за месяц. Авторы наблюдают, как по мере роста правил агент теряет связь с реальной семантикой проекта. Решение — то же самое разделение, которое мы проводим весь раздел: стабильное отдельно от текущего. Результат — минус семьдесят пять процентов объёма AI-инструкций, ноль повторений проблемы за следующие сто пятьдесят сессий. Сразу честно: это один проект, один автор, action research, не контролируемый эксперимент.</a:t>
            </a:r>
          </a:p>
          <a:p/>
          <a:p>
            <a:r>
              <a:t>И последнее, что нужно сказать прямо: паттерн "файл или папка на задачу" сейчас — не мейнстрим. Исследование почти трёх тысяч реальных репозиториев показывает, что доминируют статические context-файлы. Практику продвигают отдельные лидеры — но это ещё не общепринятая норма.»</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хотя бы половина пунктов неверна — переход к папке на задачу оправдан. Это уже за пределами сегодняшнего занятия — подробно раскрывается в Лекции 3.</a:t>
            </a:r>
          </a:p>
          <a:p/>
          <a:p>
            <a:r>
              <a:t>Подведём черту под разделом памяти. Три кейса — три разных ответа на вопрос "что происходит, когда сессия заканчивается": решение остаётся навсегда в плоском логе, решений становится слишком много и они обрастают структурой, а ход одной задачи живёт ровно до её конца в отдельном файле. Первое и третье мы заводим сразу, на дне 0, потому что это дёшево. Второе — реактивный шаг, потому что заранее нельзя знать, вырастет ли именно ваш журнал решений до нужного объёма.</a:t>
            </a:r>
          </a:p>
          <a:p/>
          <a:p>
            <a:r>
              <a:t>Но все три — текст, который агент читает и может учесть. Именно «может», а не «учтёт». Дальше в этом занятии мы посмотрим, что происходит, когда прочитать становится недостаточно.»</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«Оглянемся на сегодняшний день. Шесть развилок, по три в каждом из двух разделов. В разделе про файл инструкций — что не писать заранее, как записать гейт «готово» и цикл улучшения, стоит ли дробить файл по подпапкам. В разделе про память — плоский файл решений, структурированная вики-память, задачная память одной сессии.</a:t>
            </a:r>
          </a:p>
          <a:p/>
          <a:p>
            <a:r>
              <a:t>В правой колонке — две логики. Три развилки — 1.1, 1.3, 2.2 — специфичны для конкретного репозитория: нельзя было заранее сказать, понадобится ли общее описание структуры, вложенные файлы или сложная память, — мы честно ждали сигнала. Три другие — 1.2, 2.1, 2.3 — универсальная гигиена: гейт готовности, лог решений, задачная память. Их мы завели сразу, не дожидаясь боли, потому что цена сделать это на день 0 маленькая, а цена не сделать — непредсказуемая и наступает тихо.</a:t>
            </a:r>
          </a:p>
          <a:p/>
          <a:p>
            <a:r>
              <a:t>И ещё одна вещь, которая никуда не делась: гейт-фраза в CLAUDE.md и лог решений — оба всё ещё текст, который агент читает и может учесть, не гарантия. Это отдельный вывод, он верен независимо от того, завели мы их сразу или на сигнал, — и мы к нему ещё вернёмся, ровно на минуту, в следующем шаге.»</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 вот честная цифра, которую стоит назвать прямо, а не оставить подразумеваемой. У харнесса из Лекции 3 — пять слотов. Сегодня мы подробно разобрали два: инструкции-правила и память, каждый на трёх реальных развилках. Три остальных — скиллы, субагенты, доступ наружу — сегодня не звучали вообще, ни одной строкой.</a:t>
            </a:r>
          </a:p>
          <a:p/>
          <a:p>
            <a:r>
              <a:t>И ещё кое-что мы сегодня не трогали ни разу: оба практических слоя, которые механически усиливают текстовый слой, — хук и процесс. Это не забывчивость и не нехватка времени в последнюю минуту. Это прямой ответ на вопрос, который только что прозвучал: что делать, когда просьбы текстом недостаточно, даже если она заведена вовремя, на день 0? Ответ — на следующем занятии, Семинаре 5. Там — оставшиеся три слота и оба механических слоя разом, потому что именно они превращают просьбу в барьер, который агент не может обойти, даже если захочет.»</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Формат намеренно лёгкий и без сбора ответов: пауза 5–7 секунд, без вызова голосов из зала, без разбора «типичных ответов» — в отличие от всех шести предыдущих открытых вопросов занятия, у этого нет разбора, потому что он не проверяет знание, а инициирует перенос на личный контекст каждого.</a:t>
            </a:r>
          </a:p>
          <a:p/>
          <a:p>
            <a:r>
              <a:t>Закрывающая реплика после паузы: «Ответа вслух не будет. Если хотя бы одно решение оказалось «завели слишком рано, без сигнала» — или, наоборот, «давно пора завести, но всё ещё нет» — вот с этого и начните. Это не вопрос ресурсов. Это вопрос дня.»</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0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0" y="45720"/>
            <a:ext cx="3840480" cy="1737360"/>
          </a:xfrm>
          <a:prstGeom prst="rect">
            <a:avLst/>
          </a:prstGeom>
          <a:noFill/>
        </p:spPr>
        <p:txBody>
          <a:bodyPr wrap="square" lIns="0" rIns="0" tIns="0" bIns="0" anchor="ctr">
            <a:spAutoFit/>
          </a:bodyPr>
          <a:lstStyle/>
          <a:p>
            <a:pPr algn="r">
              <a:lnSpc>
                <a:spcPct val="115000"/>
              </a:lnSpc>
            </a:pPr>
            <a:r>
              <a:rPr sz="17000" b="1" i="0">
                <a:solidFill>
                  <a:srgbClr val="33427C"/>
                </a:solidFill>
                <a:latin typeface="Arial"/>
              </a:rPr>
              <a:t>04</a:t>
            </a:r>
          </a:p>
        </p:txBody>
      </p:sp>
      <p:sp>
        <p:nvSpPr>
          <p:cNvPr id="4" name="TextBox 3"/>
          <p:cNvSpPr txBox="1"/>
          <p:nvPr/>
        </p:nvSpPr>
        <p:spPr>
          <a:xfrm>
            <a:off x="0" y="292608"/>
            <a:ext cx="12191695" cy="329184"/>
          </a:xfrm>
          <a:prstGeom prst="rect">
            <a:avLst/>
          </a:prstGeom>
          <a:noFill/>
        </p:spPr>
        <p:txBody>
          <a:bodyPr wrap="square" lIns="0" rIns="0" tIns="0" bIns="0" anchor="t">
            <a:spAutoFit/>
          </a:bodyPr>
          <a:lstStyle/>
          <a:p>
            <a:pPr algn="ctr">
              <a:lnSpc>
                <a:spcPct val="115000"/>
              </a:lnSpc>
            </a:pPr>
            <a:r>
              <a:rPr sz="1300" b="1" i="0">
                <a:solidFill>
                  <a:srgbClr val="F0AB00"/>
                </a:solidFill>
                <a:latin typeface="Arial"/>
              </a:rPr>
              <a:t>СЕМИНАР 4</a:t>
            </a:r>
          </a:p>
        </p:txBody>
      </p:sp>
      <p:sp>
        <p:nvSpPr>
          <p:cNvPr id="5" name="TextBox 4"/>
          <p:cNvSpPr txBox="1"/>
          <p:nvPr/>
        </p:nvSpPr>
        <p:spPr>
          <a:xfrm>
            <a:off x="0" y="621792"/>
            <a:ext cx="12191695" cy="822960"/>
          </a:xfrm>
          <a:prstGeom prst="rect">
            <a:avLst/>
          </a:prstGeom>
          <a:noFill/>
        </p:spPr>
        <p:txBody>
          <a:bodyPr wrap="square" lIns="0" rIns="0" tIns="0" bIns="0" anchor="t">
            <a:spAutoFit/>
          </a:bodyPr>
          <a:lstStyle/>
          <a:p>
            <a:pPr algn="ctr">
              <a:lnSpc>
                <a:spcPct val="115000"/>
              </a:lnSpc>
            </a:pPr>
            <a:r>
              <a:rPr sz="4400" b="1" i="0">
                <a:solidFill>
                  <a:srgbClr val="FFFFFF"/>
                </a:solidFill>
                <a:latin typeface="Arial"/>
              </a:rPr>
              <a:t>Сборка кодинг-агента</a:t>
            </a:r>
          </a:p>
        </p:txBody>
      </p:sp>
      <p:sp>
        <p:nvSpPr>
          <p:cNvPr id="6" name="TextBox 5"/>
          <p:cNvSpPr txBox="1"/>
          <p:nvPr/>
        </p:nvSpPr>
        <p:spPr>
          <a:xfrm>
            <a:off x="914400" y="1371600"/>
            <a:ext cx="10362895" cy="365760"/>
          </a:xfrm>
          <a:prstGeom prst="rect">
            <a:avLst/>
          </a:prstGeom>
          <a:noFill/>
        </p:spPr>
        <p:txBody>
          <a:bodyPr wrap="square" lIns="0" rIns="0" tIns="0" bIns="0" anchor="t">
            <a:spAutoFit/>
          </a:bodyPr>
          <a:lstStyle/>
          <a:p>
            <a:pPr algn="ctr">
              <a:lnSpc>
                <a:spcPct val="115000"/>
              </a:lnSpc>
            </a:pPr>
            <a:r>
              <a:rPr sz="1550" b="0" i="1">
                <a:solidFill>
                  <a:srgbClr val="CFDCEC"/>
                </a:solidFill>
                <a:latin typeface="Arial"/>
              </a:rPr>
              <a:t>День-0 база или жди сигнала — шесть развилок одного сквозного кейса</a:t>
            </a:r>
          </a:p>
        </p:txBody>
      </p:sp>
      <p:sp>
        <p:nvSpPr>
          <p:cNvPr id="7" name="Rounded Rectangle 6"/>
          <p:cNvSpPr/>
          <p:nvPr/>
        </p:nvSpPr>
        <p:spPr>
          <a:xfrm>
            <a:off x="914400" y="1901952"/>
            <a:ext cx="10362895" cy="1188720"/>
          </a:xfrm>
          <a:prstGeom prst="roundRect">
            <a:avLst>
              <a:gd name="adj" fmla="val 12000"/>
            </a:avLst>
          </a:prstGeom>
          <a:solidFill>
            <a:srgbClr val="0B143A"/>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1993392"/>
            <a:ext cx="9631375" cy="1005840"/>
          </a:xfrm>
          <a:prstGeom prst="rect">
            <a:avLst/>
          </a:prstGeom>
          <a:noFill/>
        </p:spPr>
        <p:txBody>
          <a:bodyPr wrap="square" lIns="0" rIns="0" tIns="0" bIns="0" anchor="ctr">
            <a:spAutoFit/>
          </a:bodyPr>
          <a:lstStyle/>
          <a:p>
            <a:pPr algn="ctr">
              <a:lnSpc>
                <a:spcPct val="126000"/>
              </a:lnSpc>
            </a:pPr>
            <a:r>
              <a:rPr sz="1600" b="1" i="1">
                <a:solidFill>
                  <a:srgbClr val="F0AB00"/>
                </a:solidFill>
                <a:latin typeface="Arial"/>
              </a:rPr>
              <a:t>«Что в конфигурации агента стоит закладывать сразу, на день 0, как базовую практику — а что нельзя знать заранее, потому что оно специфично для вашего проекта?»</a:t>
            </a:r>
          </a:p>
        </p:txBody>
      </p:sp>
      <p:sp>
        <p:nvSpPr>
          <p:cNvPr id="9" name="TextBox 8"/>
          <p:cNvSpPr txBox="1"/>
          <p:nvPr/>
        </p:nvSpPr>
        <p:spPr>
          <a:xfrm>
            <a:off x="502920" y="3054096"/>
            <a:ext cx="7315200" cy="256032"/>
          </a:xfrm>
          <a:prstGeom prst="rect">
            <a:avLst/>
          </a:prstGeom>
          <a:noFill/>
        </p:spPr>
        <p:txBody>
          <a:bodyPr wrap="square" lIns="0" rIns="0" tIns="0" bIns="0" anchor="t">
            <a:spAutoFit/>
          </a:bodyPr>
          <a:lstStyle/>
          <a:p>
            <a:pPr algn="l">
              <a:lnSpc>
                <a:spcPct val="115000"/>
              </a:lnSpc>
            </a:pPr>
            <a:r>
              <a:rPr sz="1150" b="1" i="0">
                <a:solidFill>
                  <a:srgbClr val="9CAEC9"/>
                </a:solidFill>
                <a:latin typeface="Arial"/>
              </a:rPr>
              <a:t>ПУСТАЯ ДИРЕКТОРИЯ  →  СЕМЬ ДОБАВЛЕНИЙ, ПОКА БЕЗ ИМЁН</a:t>
            </a:r>
          </a:p>
        </p:txBody>
      </p:sp>
      <p:cxnSp>
        <p:nvCxnSpPr>
          <p:cNvPr id="10" name="Connector 9"/>
          <p:cNvCxnSpPr/>
          <p:nvPr/>
        </p:nvCxnSpPr>
        <p:spPr>
          <a:xfrm>
            <a:off x="502920" y="6035040"/>
            <a:ext cx="11183112" cy="0"/>
          </a:xfrm>
          <a:prstGeom prst="line">
            <a:avLst/>
          </a:prstGeom>
          <a:ln w="17780">
            <a:solidFill>
              <a:srgbClr val="4A5C9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5712714"/>
            <a:ext cx="1269873" cy="322326"/>
          </a:xfrm>
          <a:prstGeom prst="roundRect">
            <a:avLst>
              <a:gd name="adj" fmla="val 16000"/>
            </a:avLst>
          </a:prstGeom>
          <a:solidFill>
            <a:srgbClr val="3A4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0</a:t>
            </a:r>
          </a:p>
        </p:txBody>
      </p:sp>
      <p:sp>
        <p:nvSpPr>
          <p:cNvPr id="13" name="Rounded Rectangle 12"/>
          <p:cNvSpPr/>
          <p:nvPr/>
        </p:nvSpPr>
        <p:spPr>
          <a:xfrm>
            <a:off x="1919097" y="5390388"/>
            <a:ext cx="1269873" cy="644652"/>
          </a:xfrm>
          <a:prstGeom prst="roundRect">
            <a:avLst>
              <a:gd name="adj" fmla="val 16000"/>
            </a:avLst>
          </a:prstGeom>
          <a:solidFill>
            <a:srgbClr val="425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73377"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1</a:t>
            </a:r>
          </a:p>
        </p:txBody>
      </p:sp>
      <p:sp>
        <p:nvSpPr>
          <p:cNvPr id="15" name="Rounded Rectangle 14"/>
          <p:cNvSpPr/>
          <p:nvPr/>
        </p:nvSpPr>
        <p:spPr>
          <a:xfrm>
            <a:off x="3335274" y="5068062"/>
            <a:ext cx="1269873" cy="966978"/>
          </a:xfrm>
          <a:prstGeom prst="roundRect">
            <a:avLst>
              <a:gd name="adj" fmla="val 16000"/>
            </a:avLst>
          </a:prstGeom>
          <a:solidFill>
            <a:srgbClr val="4A5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89554"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2</a:t>
            </a:r>
          </a:p>
        </p:txBody>
      </p:sp>
      <p:sp>
        <p:nvSpPr>
          <p:cNvPr id="17" name="Rounded Rectangle 16"/>
          <p:cNvSpPr/>
          <p:nvPr/>
        </p:nvSpPr>
        <p:spPr>
          <a:xfrm>
            <a:off x="4751451" y="4745736"/>
            <a:ext cx="1269873" cy="1289304"/>
          </a:xfrm>
          <a:prstGeom prst="roundRect">
            <a:avLst>
              <a:gd name="adj" fmla="val 16000"/>
            </a:avLst>
          </a:prstGeom>
          <a:solidFill>
            <a:srgbClr val="5264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5731"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3</a:t>
            </a:r>
          </a:p>
        </p:txBody>
      </p:sp>
      <p:sp>
        <p:nvSpPr>
          <p:cNvPr id="19" name="Rounded Rectangle 18"/>
          <p:cNvSpPr/>
          <p:nvPr/>
        </p:nvSpPr>
        <p:spPr>
          <a:xfrm>
            <a:off x="6167628" y="4423410"/>
            <a:ext cx="1269873" cy="1611630"/>
          </a:xfrm>
          <a:prstGeom prst="roundRect">
            <a:avLst>
              <a:gd name="adj" fmla="val 16000"/>
            </a:avLst>
          </a:prstGeom>
          <a:solidFill>
            <a:srgbClr val="5A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1908"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4</a:t>
            </a:r>
          </a:p>
        </p:txBody>
      </p:sp>
      <p:sp>
        <p:nvSpPr>
          <p:cNvPr id="21" name="Rounded Rectangle 20"/>
          <p:cNvSpPr/>
          <p:nvPr/>
        </p:nvSpPr>
        <p:spPr>
          <a:xfrm>
            <a:off x="7583804" y="4101084"/>
            <a:ext cx="1269873" cy="1933956"/>
          </a:xfrm>
          <a:prstGeom prst="roundRect">
            <a:avLst>
              <a:gd name="adj" fmla="val 16000"/>
            </a:avLst>
          </a:prstGeom>
          <a:solidFill>
            <a:srgbClr val="627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38084"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5</a:t>
            </a:r>
          </a:p>
        </p:txBody>
      </p:sp>
      <p:sp>
        <p:nvSpPr>
          <p:cNvPr id="23" name="Rounded Rectangle 22"/>
          <p:cNvSpPr/>
          <p:nvPr/>
        </p:nvSpPr>
        <p:spPr>
          <a:xfrm>
            <a:off x="8999982" y="3778758"/>
            <a:ext cx="1269873" cy="2256282"/>
          </a:xfrm>
          <a:prstGeom prst="roundRect">
            <a:avLst>
              <a:gd name="adj" fmla="val 16000"/>
            </a:avLst>
          </a:prstGeom>
          <a:solidFill>
            <a:srgbClr val="6B7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4261" y="6062472"/>
            <a:ext cx="1361313" cy="237744"/>
          </a:xfrm>
          <a:prstGeom prst="rect">
            <a:avLst/>
          </a:prstGeom>
          <a:noFill/>
        </p:spPr>
        <p:txBody>
          <a:bodyPr wrap="square" lIns="0" rIns="0" tIns="0" bIns="0" anchor="t">
            <a:spAutoFit/>
          </a:bodyPr>
          <a:lstStyle/>
          <a:p>
            <a:pPr algn="ctr">
              <a:lnSpc>
                <a:spcPct val="115000"/>
              </a:lnSpc>
            </a:pPr>
            <a:r>
              <a:rPr sz="1150" b="0" i="0">
                <a:solidFill>
                  <a:srgbClr val="B9C8DE"/>
                </a:solidFill>
                <a:latin typeface="Arial"/>
              </a:rPr>
              <a:t>6</a:t>
            </a:r>
          </a:p>
        </p:txBody>
      </p:sp>
      <p:sp>
        <p:nvSpPr>
          <p:cNvPr id="25" name="Rounded Rectangle 24"/>
          <p:cNvSpPr/>
          <p:nvPr/>
        </p:nvSpPr>
        <p:spPr>
          <a:xfrm>
            <a:off x="10416159" y="3456432"/>
            <a:ext cx="1269873" cy="2578608"/>
          </a:xfrm>
          <a:prstGeom prst="roundRect">
            <a:avLst>
              <a:gd name="adj" fmla="val 16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70438" y="6062472"/>
            <a:ext cx="1361313" cy="237744"/>
          </a:xfrm>
          <a:prstGeom prst="rect">
            <a:avLst/>
          </a:prstGeom>
          <a:noFill/>
        </p:spPr>
        <p:txBody>
          <a:bodyPr wrap="square" lIns="0" rIns="0" tIns="0" bIns="0" anchor="t">
            <a:spAutoFit/>
          </a:bodyPr>
          <a:lstStyle/>
          <a:p>
            <a:pPr algn="ctr">
              <a:lnSpc>
                <a:spcPct val="115000"/>
              </a:lnSpc>
            </a:pPr>
            <a:r>
              <a:rPr sz="1150" b="1" i="0">
                <a:solidFill>
                  <a:srgbClr val="F0AB00"/>
                </a:solidFill>
                <a:latin typeface="Arial"/>
              </a:rPr>
              <a:t>7</a:t>
            </a:r>
          </a:p>
        </p:txBody>
      </p:sp>
      <p:sp>
        <p:nvSpPr>
          <p:cNvPr id="27" name="TextBox 26"/>
          <p:cNvSpPr txBox="1"/>
          <p:nvPr/>
        </p:nvSpPr>
        <p:spPr>
          <a:xfrm>
            <a:off x="502920" y="6364224"/>
            <a:ext cx="10972800" cy="274320"/>
          </a:xfrm>
          <a:prstGeom prst="rect">
            <a:avLst/>
          </a:prstGeom>
          <a:noFill/>
        </p:spPr>
        <p:txBody>
          <a:bodyPr wrap="square" lIns="0" rIns="0" tIns="0" bIns="0" anchor="t">
            <a:spAutoFit/>
          </a:bodyPr>
          <a:lstStyle/>
          <a:p>
            <a:pPr algn="l">
              <a:lnSpc>
                <a:spcPct val="115000"/>
              </a:lnSpc>
            </a:pPr>
            <a:r>
              <a:rPr sz="950" b="0" i="1">
                <a:solidFill>
                  <a:srgbClr val="8A9BC0"/>
                </a:solidFill>
                <a:latin typeface="Arial"/>
              </a:rPr>
              <a:t>Реальные 7 стадий демо-репозитория signup-landing/ (git ls-tree по коммитам) · источник: captures/21–27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РАЗДЕЛ 0 · ЗАДАЧА ОТ ЗАКАЗЧИКА</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Задача приходит в формулировке заказчика: что должно получиться — есть, устройства кода, критериев готовности и границ действий — нет</a:t>
            </a:r>
          </a:p>
        </p:txBody>
      </p:sp>
      <p:sp>
        <p:nvSpPr>
          <p:cNvPr id="4" name="Rounded Rectangle 3"/>
          <p:cNvSpPr/>
          <p:nvPr/>
        </p:nvSpPr>
        <p:spPr>
          <a:xfrm>
            <a:off x="502920" y="1993392"/>
            <a:ext cx="11183112"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39696"/>
            <a:ext cx="10607040" cy="1124712"/>
          </a:xfrm>
          <a:prstGeom prst="rect">
            <a:avLst/>
          </a:prstGeom>
          <a:noFill/>
        </p:spPr>
        <p:txBody>
          <a:bodyPr wrap="square" lIns="0" rIns="0" tIns="0" bIns="0" anchor="ctr">
            <a:spAutoFit/>
          </a:bodyPr>
          <a:lstStyle/>
          <a:p>
            <a:pPr algn="l">
              <a:lnSpc>
                <a:spcPct val="132000"/>
              </a:lnSpc>
            </a:pPr>
            <a:r>
              <a:rPr sz="1600" b="0" i="1">
                <a:solidFill>
                  <a:srgbClr val="21295C"/>
                </a:solidFill>
                <a:latin typeface="Arial"/>
              </a:rPr>
              <a:t>«Нужен лендинг с формой заявки на демо-урок: одна статическая страница, поля ‘имя’ и ‘email’, кнопка отправки. Своего бэкенда нет — присылайте заявку на наш сервис приёма форм.»</a:t>
            </a:r>
          </a:p>
        </p:txBody>
      </p:sp>
      <p:sp>
        <p:nvSpPr>
          <p:cNvPr id="6" name="Rounded Rectangle 5"/>
          <p:cNvSpPr/>
          <p:nvPr/>
        </p:nvSpPr>
        <p:spPr>
          <a:xfrm>
            <a:off x="502920" y="3685032"/>
            <a:ext cx="11183112" cy="235000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3758184"/>
            <a:ext cx="10780776" cy="2203703"/>
          </a:xfrm>
          <a:prstGeom prst="rect">
            <a:avLst/>
          </a:prstGeom>
          <a:noFill/>
        </p:spPr>
        <p:txBody>
          <a:bodyPr wrap="square" lIns="0" rIns="0" tIns="0" bIns="0" anchor="ctr">
            <a:spAutoFit/>
          </a:bodyPr>
          <a:lstStyle/>
          <a:p>
            <a:pPr algn="ctr">
              <a:lnSpc>
                <a:spcPct val="122000"/>
              </a:lnSpc>
            </a:pPr>
            <a:r>
              <a:rPr sz="1900" b="1" i="0">
                <a:solidFill>
                  <a:srgbClr val="21295C"/>
                </a:solidFill>
                <a:latin typeface="Arial"/>
              </a:rPr>
              <a:t>«Отдаём эту формулировку агенту как есть — или сначала фиксируем требования?»</a:t>
            </a:r>
          </a:p>
        </p:txBody>
      </p:sp>
      <p:sp>
        <p:nvSpPr>
          <p:cNvPr id="8" name="TextBox 7"/>
          <p:cNvSpPr txBox="1"/>
          <p:nvPr/>
        </p:nvSpPr>
        <p:spPr>
          <a:xfrm>
            <a:off x="502920" y="6108192"/>
            <a:ext cx="11183112" cy="27432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открытая дискуссия, не голосование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РАЗДЕЛ 0 · SPEC.MD</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Требования раскладываются на функциональные и нефункциональные и ложатся в spec.md первым коммитом; README описывает устройство репозитория и заводится тем же коммитом</a:t>
            </a:r>
          </a:p>
        </p:txBody>
      </p:sp>
      <p:sp>
        <p:nvSpPr>
          <p:cNvPr id="4" name="Rounded Rectangle 3"/>
          <p:cNvSpPr/>
          <p:nvPr/>
        </p:nvSpPr>
        <p:spPr>
          <a:xfrm>
            <a:off x="502920" y="2176272"/>
            <a:ext cx="11183112" cy="310896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377440"/>
            <a:ext cx="10780776" cy="2706624"/>
          </a:xfrm>
          <a:prstGeom prst="rect">
            <a:avLst/>
          </a:prstGeom>
          <a:noFill/>
        </p:spPr>
        <p:txBody>
          <a:bodyPr wrap="square" lIns="0" rIns="0" tIns="0" bIns="0" anchor="t">
            <a:spAutoFit/>
          </a:bodyPr>
          <a:lstStyle/>
          <a:p>
            <a:pPr algn="l">
              <a:lnSpc>
                <a:spcPct val="124000"/>
              </a:lnSpc>
              <a:spcAft>
                <a:spcPts val="200"/>
              </a:spcAft>
            </a:pPr>
            <a:r>
              <a:rPr sz="1100" b="1" i="0">
                <a:solidFill>
                  <a:srgbClr val="028090"/>
                </a:solidFill>
                <a:latin typeface="Consolas"/>
              </a:rPr>
              <a:t># spec.md — signup-landing</a:t>
            </a:r>
          </a:p>
          <a:p>
            <a:pPr algn="l">
              <a:lnSpc>
                <a:spcPct val="124000"/>
              </a:lnSpc>
              <a:spcAft>
                <a:spcPts val="200"/>
              </a:spcAft>
            </a:pPr>
            <a:r>
              <a:rPr sz="1100" b="0" i="0">
                <a:solidFill>
                  <a:srgbClr val="E3E9F2"/>
                </a:solidFill>
                <a:latin typeface="Consolas"/>
              </a:rPr>
              <a:t/>
            </a:r>
          </a:p>
          <a:p>
            <a:pPr algn="l">
              <a:lnSpc>
                <a:spcPct val="124000"/>
              </a:lnSpc>
              <a:spcAft>
                <a:spcPts val="200"/>
              </a:spcAft>
            </a:pPr>
            <a:r>
              <a:rPr sz="1100" b="1" i="0">
                <a:solidFill>
                  <a:srgbClr val="028090"/>
                </a:solidFill>
                <a:latin typeface="Consolas"/>
              </a:rPr>
              <a:t>## Функциональные требования</a:t>
            </a:r>
          </a:p>
          <a:p>
            <a:pPr algn="l">
              <a:lnSpc>
                <a:spcPct val="124000"/>
              </a:lnSpc>
              <a:spcAft>
                <a:spcPts val="200"/>
              </a:spcAft>
            </a:pPr>
            <a:r>
              <a:rPr sz="1100" b="0" i="0">
                <a:solidFill>
                  <a:srgbClr val="E3E9F2"/>
                </a:solidFill>
                <a:latin typeface="Consolas"/>
              </a:rPr>
              <a:t>- Статическая страница-лендинг, форма заявки на демо-урок</a:t>
            </a:r>
          </a:p>
          <a:p>
            <a:pPr algn="l">
              <a:lnSpc>
                <a:spcPct val="124000"/>
              </a:lnSpc>
              <a:spcAft>
                <a:spcPts val="200"/>
              </a:spcAft>
            </a:pPr>
            <a:r>
              <a:rPr sz="1100" b="0" i="0">
                <a:solidFill>
                  <a:srgbClr val="E3E9F2"/>
                </a:solidFill>
                <a:latin typeface="Consolas"/>
              </a:rPr>
              <a:t>- Поля: имя (обязательное), email (обязательное)</a:t>
            </a:r>
          </a:p>
          <a:p>
            <a:pPr algn="l">
              <a:lnSpc>
                <a:spcPct val="124000"/>
              </a:lnSpc>
              <a:spcAft>
                <a:spcPts val="200"/>
              </a:spcAft>
            </a:pPr>
            <a:r>
              <a:rPr sz="1100" b="0" i="0">
                <a:solidFill>
                  <a:srgbClr val="E3E9F2"/>
                </a:solidFill>
                <a:latin typeface="Consolas"/>
              </a:rPr>
              <a:t>- Кнопка отправки; без бэкенда — заявка уходит на внешний сервис</a:t>
            </a:r>
          </a:p>
          <a:p>
            <a:pPr algn="l">
              <a:lnSpc>
                <a:spcPct val="124000"/>
              </a:lnSpc>
              <a:spcAft>
                <a:spcPts val="200"/>
              </a:spcAft>
            </a:pPr>
            <a:r>
              <a:rPr sz="1100" b="0" i="0">
                <a:solidFill>
                  <a:srgbClr val="E3E9F2"/>
                </a:solidFill>
                <a:latin typeface="Consolas"/>
              </a:rPr>
              <a:t/>
            </a:r>
          </a:p>
          <a:p>
            <a:pPr algn="l">
              <a:lnSpc>
                <a:spcPct val="124000"/>
              </a:lnSpc>
              <a:spcAft>
                <a:spcPts val="200"/>
              </a:spcAft>
            </a:pPr>
            <a:r>
              <a:rPr sz="1100" b="1" i="0">
                <a:solidFill>
                  <a:srgbClr val="028090"/>
                </a:solidFill>
                <a:latin typeface="Consolas"/>
              </a:rPr>
              <a:t>## Нефункциональные требования</a:t>
            </a:r>
          </a:p>
          <a:p>
            <a:pPr algn="l">
              <a:lnSpc>
                <a:spcPct val="124000"/>
              </a:lnSpc>
              <a:spcAft>
                <a:spcPts val="200"/>
              </a:spcAft>
            </a:pPr>
            <a:r>
              <a:rPr sz="1100" b="0" i="0">
                <a:solidFill>
                  <a:srgbClr val="E3E9F2"/>
                </a:solidFill>
                <a:latin typeface="Consolas"/>
              </a:rPr>
              <a:t>- Критерий приёмки: форма реально доставляет заявку — проверено</a:t>
            </a:r>
          </a:p>
          <a:p>
            <a:pPr algn="l">
              <a:lnSpc>
                <a:spcPct val="124000"/>
              </a:lnSpc>
              <a:spcAft>
                <a:spcPts val="200"/>
              </a:spcAft>
            </a:pPr>
            <a:r>
              <a:rPr sz="1100" b="0" i="0">
                <a:solidFill>
                  <a:srgbClr val="E3E9F2"/>
                </a:solidFill>
                <a:latin typeface="Consolas"/>
              </a:rPr>
              <a:t>  на проде, а не только «тест зелёный»</a:t>
            </a:r>
          </a:p>
          <a:p>
            <a:pPr algn="l">
              <a:lnSpc>
                <a:spcPct val="124000"/>
              </a:lnSpc>
              <a:spcAft>
                <a:spcPts val="200"/>
              </a:spcAft>
            </a:pPr>
            <a:r>
              <a:rPr sz="1100" b="0" i="0">
                <a:solidFill>
                  <a:srgbClr val="E3E9F2"/>
                </a:solidFill>
                <a:latin typeface="Consolas"/>
              </a:rPr>
              <a:t>- Граница действий: не деплоить на прод без явного запроса</a:t>
            </a:r>
          </a:p>
        </p:txBody>
      </p:sp>
      <p:sp>
        <p:nvSpPr>
          <p:cNvPr id="6" name="TextBox 5"/>
          <p:cNvSpPr txBox="1"/>
          <p:nvPr/>
        </p:nvSpPr>
        <p:spPr>
          <a:xfrm>
            <a:off x="502920" y="5394960"/>
            <a:ext cx="11183112" cy="274320"/>
          </a:xfrm>
          <a:prstGeom prst="rect">
            <a:avLst/>
          </a:prstGeom>
          <a:noFill/>
        </p:spPr>
        <p:txBody>
          <a:bodyPr wrap="square" lIns="0" rIns="0" tIns="0" bIns="0" anchor="t">
            <a:spAutoFit/>
          </a:bodyPr>
          <a:lstStyle/>
          <a:p>
            <a:pPr algn="ctr">
              <a:lnSpc>
                <a:spcPct val="115000"/>
              </a:lnSpc>
            </a:pPr>
            <a:r>
              <a:rPr sz="1050" b="0" i="1">
                <a:solidFill>
                  <a:srgbClr val="6B7685"/>
                </a:solidFill>
                <a:latin typeface="Arial"/>
              </a:rPr>
              <a:t>иллюстративный пример, не захваченный артефакт</a:t>
            </a:r>
          </a:p>
        </p:txBody>
      </p:sp>
      <p:sp>
        <p:nvSpPr>
          <p:cNvPr id="7" name="Rounded Rectangle 6"/>
          <p:cNvSpPr/>
          <p:nvPr/>
        </p:nvSpPr>
        <p:spPr>
          <a:xfrm>
            <a:off x="502920" y="5742432"/>
            <a:ext cx="11183112" cy="658367"/>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5815584"/>
            <a:ext cx="10780776" cy="512063"/>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«README.md заводится тем же коммитом, отдельно от spec.md. Спека — требования к продукту. README — устройство репозитория для того, кто в него зайдёт: человек или агент.»</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РАЗДЕЛ 0 · СКВОЗНОЙ КЕЙС</a:t>
            </a:r>
          </a:p>
        </p:txBody>
      </p:sp>
      <p:sp>
        <p:nvSpPr>
          <p:cNvPr id="3" name="TextBox 2"/>
          <p:cNvSpPr txBox="1"/>
          <p:nvPr/>
        </p:nvSpPr>
        <p:spPr>
          <a:xfrm>
            <a:off x="502920" y="640080"/>
            <a:ext cx="11183112" cy="9601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Агент собрал работающий прототип по спеке без единого уточняющего вопроса — и структуру репозитория при этом выбрал сам, потому что spec.md её не описывает</a:t>
            </a:r>
          </a:p>
        </p:txBody>
      </p:sp>
      <p:sp>
        <p:nvSpPr>
          <p:cNvPr id="4" name="Rounded Rectangle 3"/>
          <p:cNvSpPr/>
          <p:nvPr/>
        </p:nvSpPr>
        <p:spPr>
          <a:xfrm>
            <a:off x="502920" y="1691640"/>
            <a:ext cx="5349240" cy="141732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892808"/>
            <a:ext cx="4946903" cy="1014983"/>
          </a:xfrm>
          <a:prstGeom prst="rect">
            <a:avLst/>
          </a:prstGeom>
          <a:noFill/>
        </p:spPr>
        <p:txBody>
          <a:bodyPr wrap="square" lIns="0" rIns="0" tIns="0" bIns="0" anchor="t">
            <a:spAutoFit/>
          </a:bodyPr>
          <a:lstStyle/>
          <a:p>
            <a:pPr algn="l">
              <a:lnSpc>
                <a:spcPct val="132000"/>
              </a:lnSpc>
              <a:spcAft>
                <a:spcPts val="200"/>
              </a:spcAft>
            </a:pPr>
            <a:r>
              <a:rPr sz="1100" b="1" i="0">
                <a:solidFill>
                  <a:srgbClr val="028090"/>
                </a:solidFill>
                <a:latin typeface="Consolas"/>
              </a:rPr>
              <a:t>$ ls -la signup-landing/</a:t>
            </a:r>
          </a:p>
          <a:p>
            <a:pPr algn="l">
              <a:lnSpc>
                <a:spcPct val="132000"/>
              </a:lnSpc>
              <a:spcAft>
                <a:spcPts val="200"/>
              </a:spcAft>
            </a:pPr>
            <a:r>
              <a:rPr sz="1100" b="0" i="0">
                <a:solidFill>
                  <a:srgbClr val="E3E9F2"/>
                </a:solidFill>
                <a:latin typeface="Consolas"/>
              </a:rPr>
              <a:t>total 8</a:t>
            </a:r>
          </a:p>
          <a:p>
            <a:pPr algn="l">
              <a:lnSpc>
                <a:spcPct val="132000"/>
              </a:lnSpc>
              <a:spcAft>
                <a:spcPts val="200"/>
              </a:spcAft>
            </a:pPr>
            <a:r>
              <a:rPr sz="1100" b="0" i="0">
                <a:solidFill>
                  <a:srgbClr val="E3E9F2"/>
                </a:solidFill>
                <a:latin typeface="Consolas"/>
              </a:rPr>
              <a:t>drwxr-xr-x 2 harness harness 4096 Sep 20 12:45 .</a:t>
            </a:r>
          </a:p>
          <a:p>
            <a:pPr algn="l">
              <a:lnSpc>
                <a:spcPct val="132000"/>
              </a:lnSpc>
              <a:spcAft>
                <a:spcPts val="200"/>
              </a:spcAft>
            </a:pPr>
            <a:r>
              <a:rPr sz="1100" b="0" i="0">
                <a:solidFill>
                  <a:srgbClr val="E3E9F2"/>
                </a:solidFill>
                <a:latin typeface="Consolas"/>
              </a:rPr>
              <a:t>drwxr-xr-x 3 harness harness 4096 Sep 20 12:45 ..</a:t>
            </a:r>
          </a:p>
        </p:txBody>
      </p:sp>
      <p:sp>
        <p:nvSpPr>
          <p:cNvPr id="6" name="TextBox 5"/>
          <p:cNvSpPr txBox="1"/>
          <p:nvPr/>
        </p:nvSpPr>
        <p:spPr>
          <a:xfrm>
            <a:off x="502920" y="3136392"/>
            <a:ext cx="5349240" cy="219456"/>
          </a:xfrm>
          <a:prstGeom prst="rect">
            <a:avLst/>
          </a:prstGeom>
          <a:noFill/>
        </p:spPr>
        <p:txBody>
          <a:bodyPr wrap="square" lIns="0" rIns="0" tIns="0" bIns="0" anchor="t">
            <a:spAutoFit/>
          </a:bodyPr>
          <a:lstStyle/>
          <a:p>
            <a:pPr algn="ctr">
              <a:lnSpc>
                <a:spcPct val="115000"/>
              </a:lnSpc>
            </a:pPr>
            <a:r>
              <a:rPr sz="1050" b="0" i="1">
                <a:solidFill>
                  <a:srgbClr val="6B7685"/>
                </a:solidFill>
                <a:latin typeface="Arial"/>
              </a:rPr>
              <a:t>реальный вывод, не макет</a:t>
            </a:r>
          </a:p>
        </p:txBody>
      </p:sp>
      <p:sp>
        <p:nvSpPr>
          <p:cNvPr id="7" name="Rounded Rectangle 6"/>
          <p:cNvSpPr/>
          <p:nvPr/>
        </p:nvSpPr>
        <p:spPr>
          <a:xfrm>
            <a:off x="6153912" y="1691640"/>
            <a:ext cx="534924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36792" y="1801368"/>
            <a:ext cx="4983479" cy="1197864"/>
          </a:xfrm>
          <a:prstGeom prst="rect">
            <a:avLst/>
          </a:prstGeom>
          <a:noFill/>
        </p:spPr>
        <p:txBody>
          <a:bodyPr wrap="square" lIns="0" rIns="0" tIns="0" bIns="0" anchor="t">
            <a:spAutoFit/>
          </a:bodyPr>
          <a:lstStyle/>
          <a:p>
            <a:pPr algn="l">
              <a:lnSpc>
                <a:spcPct val="122000"/>
              </a:lnSpc>
            </a:pPr>
            <a:r>
              <a:rPr sz="1030" b="0" i="1">
                <a:solidFill>
                  <a:srgbClr val="21295C"/>
                </a:solidFill>
                <a:latin typeface="Arial"/>
              </a:rPr>
              <a:t>«собери лендинг с формой заявки на демо-урок: статическая HTML-страница, сборка Vite (npm run build → dist/), поля формы — имя и email, тест на Playwright, который проверяет, что форма не отправляется с пустыми обязательными полями (tests/form.spec.ts)» — по содержанию совпадает со spec.md</a:t>
            </a:r>
          </a:p>
        </p:txBody>
      </p:sp>
      <p:sp>
        <p:nvSpPr>
          <p:cNvPr id="9" name="Rounded Rectangle 8"/>
          <p:cNvSpPr/>
          <p:nvPr/>
        </p:nvSpPr>
        <p:spPr>
          <a:xfrm>
            <a:off x="502920" y="3401568"/>
            <a:ext cx="11183112" cy="9601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474720"/>
            <a:ext cx="10780776" cy="813816"/>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«Уточняющий вопрос не задавался. Все параметры задачи были однозначно выводимы из текста задачи, поэтому работа была начата сразу, без уточнений.»  — строка из захваченной сессии</a:t>
            </a:r>
          </a:p>
        </p:txBody>
      </p:sp>
      <p:sp>
        <p:nvSpPr>
          <p:cNvPr id="11" name="Rounded Rectangle 10"/>
          <p:cNvSpPr/>
          <p:nvPr/>
        </p:nvSpPr>
        <p:spPr>
          <a:xfrm>
            <a:off x="502920" y="4562856"/>
            <a:ext cx="5349240" cy="205740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4764024"/>
            <a:ext cx="4946903"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создано агентом</a:t>
            </a:r>
          </a:p>
        </p:txBody>
      </p:sp>
      <p:sp>
        <p:nvSpPr>
          <p:cNvPr id="13" name="TextBox 12"/>
          <p:cNvSpPr txBox="1"/>
          <p:nvPr/>
        </p:nvSpPr>
        <p:spPr>
          <a:xfrm>
            <a:off x="704088" y="5074920"/>
            <a:ext cx="4946903" cy="1344168"/>
          </a:xfrm>
          <a:prstGeom prst="rect">
            <a:avLst/>
          </a:prstGeom>
          <a:noFill/>
        </p:spPr>
        <p:txBody>
          <a:bodyPr wrap="square" lIns="0" rIns="0" tIns="0" bIns="0" anchor="t">
            <a:spAutoFit/>
          </a:bodyPr>
          <a:lstStyle/>
          <a:p>
            <a:pPr algn="l">
              <a:lnSpc>
                <a:spcPct val="132000"/>
              </a:lnSpc>
              <a:spcAft>
                <a:spcPts val="200"/>
              </a:spcAft>
            </a:pPr>
            <a:r>
              <a:rPr sz="1200" b="0" i="0">
                <a:solidFill>
                  <a:srgbClr val="E3E9F2"/>
                </a:solidFill>
                <a:latin typeface="Consolas"/>
              </a:rPr>
              <a:t>index.html</a:t>
            </a:r>
          </a:p>
          <a:p>
            <a:pPr algn="l">
              <a:lnSpc>
                <a:spcPct val="132000"/>
              </a:lnSpc>
              <a:spcAft>
                <a:spcPts val="200"/>
              </a:spcAft>
            </a:pPr>
            <a:r>
              <a:rPr sz="1200" b="0" i="0">
                <a:solidFill>
                  <a:srgbClr val="E3E9F2"/>
                </a:solidFill>
                <a:latin typeface="Consolas"/>
              </a:rPr>
              <a:t>src/main.js</a:t>
            </a:r>
          </a:p>
          <a:p>
            <a:pPr algn="l">
              <a:lnSpc>
                <a:spcPct val="132000"/>
              </a:lnSpc>
              <a:spcAft>
                <a:spcPts val="200"/>
              </a:spcAft>
            </a:pPr>
            <a:r>
              <a:rPr sz="1200" b="0" i="0">
                <a:solidFill>
                  <a:srgbClr val="E3E9F2"/>
                </a:solidFill>
                <a:latin typeface="Consolas"/>
              </a:rPr>
              <a:t>package.json</a:t>
            </a:r>
          </a:p>
          <a:p>
            <a:pPr algn="l">
              <a:lnSpc>
                <a:spcPct val="132000"/>
              </a:lnSpc>
              <a:spcAft>
                <a:spcPts val="200"/>
              </a:spcAft>
            </a:pPr>
            <a:r>
              <a:rPr sz="1200" b="0" i="0">
                <a:solidFill>
                  <a:srgbClr val="E3E9F2"/>
                </a:solidFill>
                <a:latin typeface="Consolas"/>
              </a:rPr>
              <a:t>tests/form.spec.ts</a:t>
            </a:r>
          </a:p>
        </p:txBody>
      </p:sp>
      <p:sp>
        <p:nvSpPr>
          <p:cNvPr id="14" name="Rounded Rectangle 13"/>
          <p:cNvSpPr/>
          <p:nvPr/>
        </p:nvSpPr>
        <p:spPr>
          <a:xfrm>
            <a:off x="6153912" y="4562856"/>
            <a:ext cx="5349240" cy="205740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79" y="4764024"/>
            <a:ext cx="4946903"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из финального ответа</a:t>
            </a:r>
          </a:p>
        </p:txBody>
      </p:sp>
      <p:sp>
        <p:nvSpPr>
          <p:cNvPr id="16" name="TextBox 15"/>
          <p:cNvSpPr txBox="1"/>
          <p:nvPr/>
        </p:nvSpPr>
        <p:spPr>
          <a:xfrm>
            <a:off x="6355079" y="5074920"/>
            <a:ext cx="4946903" cy="1344168"/>
          </a:xfrm>
          <a:prstGeom prst="rect">
            <a:avLst/>
          </a:prstGeom>
          <a:noFill/>
        </p:spPr>
        <p:txBody>
          <a:bodyPr wrap="square" lIns="0" rIns="0" tIns="0" bIns="0" anchor="t">
            <a:spAutoFit/>
          </a:bodyPr>
          <a:lstStyle/>
          <a:p>
            <a:pPr algn="l">
              <a:lnSpc>
                <a:spcPct val="132000"/>
              </a:lnSpc>
              <a:spcAft>
                <a:spcPts val="200"/>
              </a:spcAft>
            </a:pPr>
            <a:r>
              <a:rPr sz="1200" b="0" i="0">
                <a:solidFill>
                  <a:srgbClr val="E3E9F2"/>
                </a:solidFill>
                <a:latin typeface="Consolas"/>
              </a:rPr>
              <a:t>npm install</a:t>
            </a:r>
          </a:p>
          <a:p>
            <a:pPr algn="l">
              <a:lnSpc>
                <a:spcPct val="132000"/>
              </a:lnSpc>
              <a:spcAft>
                <a:spcPts val="200"/>
              </a:spcAft>
            </a:pPr>
            <a:r>
              <a:rPr sz="1200" b="0" i="0">
                <a:solidFill>
                  <a:srgbClr val="E3E9F2"/>
                </a:solidFill>
                <a:latin typeface="Consolas"/>
              </a:rPr>
              <a:t>npm run build          # → dist/</a:t>
            </a:r>
          </a:p>
          <a:p>
            <a:pPr algn="l">
              <a:lnSpc>
                <a:spcPct val="132000"/>
              </a:lnSpc>
              <a:spcAft>
                <a:spcPts val="200"/>
              </a:spcAft>
            </a:pPr>
            <a:r>
              <a:rPr sz="1200" b="0" i="0">
                <a:solidFill>
                  <a:srgbClr val="E3E9F2"/>
                </a:solidFill>
                <a:latin typeface="Consolas"/>
              </a:rPr>
              <a:t>npm run test:e2e       # playwright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РАЗДЕЛ 0 · ДВА РЕЖИМА</a:t>
            </a:r>
          </a:p>
        </p:txBody>
      </p:sp>
      <p:sp>
        <p:nvSpPr>
          <p:cNvPr id="3" name="TextBox 2"/>
          <p:cNvSpPr txBox="1"/>
          <p:nvPr/>
        </p:nvSpPr>
        <p:spPr>
          <a:xfrm>
            <a:off x="502920" y="640080"/>
            <a:ext cx="11183112" cy="960120"/>
          </a:xfrm>
          <a:prstGeom prst="rect">
            <a:avLst/>
          </a:prstGeom>
          <a:noFill/>
        </p:spPr>
        <p:txBody>
          <a:bodyPr wrap="square" lIns="0" rIns="0" tIns="0" bIns="0" anchor="t">
            <a:spAutoFit/>
          </a:bodyPr>
          <a:lstStyle/>
          <a:p>
            <a:pPr algn="l">
              <a:lnSpc>
                <a:spcPct val="114000"/>
              </a:lnSpc>
            </a:pPr>
            <a:r>
              <a:rPr sz="1900" b="1" i="0">
                <a:solidFill>
                  <a:srgbClr val="21295C"/>
                </a:solidFill>
                <a:latin typeface="Arial"/>
              </a:rPr>
              <a:t>Настраивая агента в новом репозитории, каждый работает в одном из двух режимов — заложить базу сразу или дождаться реальной проблемы</a:t>
            </a:r>
          </a:p>
        </p:txBody>
      </p:sp>
      <p:sp>
        <p:nvSpPr>
          <p:cNvPr id="4" name="TextBox 3"/>
          <p:cNvSpPr txBox="1"/>
          <p:nvPr/>
        </p:nvSpPr>
        <p:spPr>
          <a:xfrm>
            <a:off x="502920" y="1600200"/>
            <a:ext cx="11183112" cy="274320"/>
          </a:xfrm>
          <a:prstGeom prst="rect">
            <a:avLst/>
          </a:prstGeom>
          <a:noFill/>
        </p:spPr>
        <p:txBody>
          <a:bodyPr wrap="square" lIns="0" rIns="0" tIns="0" bIns="0" anchor="t">
            <a:spAutoFit/>
          </a:bodyPr>
          <a:lstStyle/>
          <a:p>
            <a:pPr algn="l">
              <a:lnSpc>
                <a:spcPct val="115000"/>
              </a:lnSpc>
            </a:pPr>
            <a:r>
              <a:rPr sz="1250" b="0" i="1">
                <a:solidFill>
                  <a:srgbClr val="6B7685"/>
                </a:solidFill>
                <a:latin typeface="Arial"/>
              </a:rPr>
              <a:t>Короткий срез по залу, прежде чем идти дальше.</a:t>
            </a:r>
          </a:p>
        </p:txBody>
      </p:sp>
      <p:sp>
        <p:nvSpPr>
          <p:cNvPr id="5" name="Rounded Rectangle 4"/>
          <p:cNvSpPr/>
          <p:nvPr/>
        </p:nvSpPr>
        <p:spPr>
          <a:xfrm>
            <a:off x="502920" y="1920240"/>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993392"/>
            <a:ext cx="10780776" cy="630936"/>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«Когда вы настраиваете нового агента в новом репозитории — какой из двух режимов вам обычно ближе?»</a:t>
            </a:r>
          </a:p>
        </p:txBody>
      </p:sp>
      <p:sp>
        <p:nvSpPr>
          <p:cNvPr id="7" name="Rounded Rectangle 6"/>
          <p:cNvSpPr/>
          <p:nvPr/>
        </p:nvSpPr>
        <p:spPr>
          <a:xfrm>
            <a:off x="502920" y="2926080"/>
            <a:ext cx="5349240" cy="2743200"/>
          </a:xfrm>
          <a:prstGeom prst="roundRect">
            <a:avLst>
              <a:gd name="adj" fmla="val 1111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063240"/>
            <a:ext cx="4983479"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A · «Закладываю базу сразу»</a:t>
            </a:r>
          </a:p>
        </p:txBody>
      </p:sp>
      <p:sp>
        <p:nvSpPr>
          <p:cNvPr id="9" name="TextBox 8"/>
          <p:cNvSpPr txBox="1"/>
          <p:nvPr/>
        </p:nvSpPr>
        <p:spPr>
          <a:xfrm>
            <a:off x="685800" y="3566160"/>
            <a:ext cx="4983479" cy="1371600"/>
          </a:xfrm>
          <a:prstGeom prst="rect">
            <a:avLst/>
          </a:prstGeom>
          <a:noFill/>
        </p:spPr>
        <p:txBody>
          <a:bodyPr wrap="square" lIns="0" rIns="0" tIns="0" bIns="0" anchor="t">
            <a:spAutoFit/>
          </a:bodyPr>
          <a:lstStyle/>
          <a:p>
            <a:pPr algn="l">
              <a:lnSpc>
                <a:spcPct val="140000"/>
              </a:lnSpc>
            </a:pPr>
            <a:r>
              <a:rPr sz="1300" b="0" i="0">
                <a:solidFill>
                  <a:srgbClr val="21295C"/>
                </a:solidFill>
                <a:latin typeface="Arial"/>
              </a:rPr>
              <a:t>гейт готовности («что считается сделано»)
трекинг задач и решений</a:t>
            </a:r>
          </a:p>
        </p:txBody>
      </p:sp>
      <p:sp>
        <p:nvSpPr>
          <p:cNvPr id="10" name="Rounded Rectangle 9"/>
          <p:cNvSpPr/>
          <p:nvPr/>
        </p:nvSpPr>
        <p:spPr>
          <a:xfrm>
            <a:off x="6153912" y="2926080"/>
            <a:ext cx="5349240" cy="2743200"/>
          </a:xfrm>
          <a:prstGeom prst="roundRect">
            <a:avLst>
              <a:gd name="adj" fmla="val 1111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3063240"/>
            <a:ext cx="4983479"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B · «Жду, пока не заболит»</a:t>
            </a:r>
          </a:p>
        </p:txBody>
      </p:sp>
      <p:sp>
        <p:nvSpPr>
          <p:cNvPr id="12" name="TextBox 11"/>
          <p:cNvSpPr txBox="1"/>
          <p:nvPr/>
        </p:nvSpPr>
        <p:spPr>
          <a:xfrm>
            <a:off x="6336792" y="3566160"/>
            <a:ext cx="4983479" cy="1645920"/>
          </a:xfrm>
          <a:prstGeom prst="rect">
            <a:avLst/>
          </a:prstGeom>
          <a:noFill/>
        </p:spPr>
        <p:txBody>
          <a:bodyPr wrap="square" lIns="0" rIns="0" tIns="0" bIns="0" anchor="t">
            <a:spAutoFit/>
          </a:bodyPr>
          <a:lstStyle/>
          <a:p>
            <a:pPr algn="l">
              <a:lnSpc>
                <a:spcPct val="140000"/>
              </a:lnSpc>
            </a:pPr>
            <a:r>
              <a:rPr sz="1300" b="0" i="0">
                <a:solidFill>
                  <a:srgbClr val="21295C"/>
                </a:solidFill>
                <a:latin typeface="Arial"/>
              </a:rPr>
              <a:t>обзор репозитория
вложенные файлы конвенций
сложная, многоуровневая память</a:t>
            </a:r>
          </a:p>
        </p:txBody>
      </p:sp>
      <p:sp>
        <p:nvSpPr>
          <p:cNvPr id="13" name="TextBox 12"/>
          <p:cNvSpPr txBox="1"/>
          <p:nvPr/>
        </p:nvSpPr>
        <p:spPr>
          <a:xfrm>
            <a:off x="502920" y="5806440"/>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разбор — на следующем слайде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РАЗДЕЛ 0 · РАЗБОР ДВУХ РЕЖИМОВ</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Оба режима рабочие — вопрос в том, к какому типу решения они применяются: специфичное для проекта ждёт сигнала, универсальная гигиена заводится сразу</a:t>
            </a:r>
          </a:p>
        </p:txBody>
      </p:sp>
      <p:sp>
        <p:nvSpPr>
          <p:cNvPr id="4" name="Rounded Rectangle 3"/>
          <p:cNvSpPr/>
          <p:nvPr/>
        </p:nvSpPr>
        <p:spPr>
          <a:xfrm>
            <a:off x="502920" y="1993392"/>
            <a:ext cx="11183112" cy="2743200"/>
          </a:xfrm>
          <a:prstGeom prst="roundRect">
            <a:avLst>
              <a:gd name="adj" fmla="val 1111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2176272"/>
            <a:ext cx="5225796" cy="292608"/>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СПЕЦИФИЧНОЕ ДЛЯ ПРОЕКТА — ЖДАТЬ СИГНАЛА</a:t>
            </a:r>
          </a:p>
        </p:txBody>
      </p:sp>
      <p:sp>
        <p:nvSpPr>
          <p:cNvPr id="6" name="TextBox 5"/>
          <p:cNvSpPr txBox="1"/>
          <p:nvPr/>
        </p:nvSpPr>
        <p:spPr>
          <a:xfrm>
            <a:off x="6240780" y="2176272"/>
            <a:ext cx="5225796" cy="292608"/>
          </a:xfrm>
          <a:prstGeom prst="rect">
            <a:avLst/>
          </a:prstGeom>
          <a:noFill/>
        </p:spPr>
        <p:txBody>
          <a:bodyPr wrap="square" lIns="0" rIns="0" tIns="0" bIns="0" anchor="t">
            <a:spAutoFit/>
          </a:bodyPr>
          <a:lstStyle/>
          <a:p>
            <a:pPr algn="l">
              <a:lnSpc>
                <a:spcPct val="115000"/>
              </a:lnSpc>
            </a:pPr>
            <a:r>
              <a:rPr sz="1300" b="1" i="0">
                <a:solidFill>
                  <a:srgbClr val="8A6200"/>
                </a:solidFill>
                <a:latin typeface="Arial"/>
              </a:rPr>
              <a:t>УНИВЕРСАЛЬНАЯ ГИГИЕНА — ДЕНЬ 0</a:t>
            </a:r>
          </a:p>
        </p:txBody>
      </p:sp>
      <p:sp>
        <p:nvSpPr>
          <p:cNvPr id="7" name="Rounded Rectangle 6"/>
          <p:cNvSpPr/>
          <p:nvPr/>
        </p:nvSpPr>
        <p:spPr>
          <a:xfrm>
            <a:off x="722376" y="2578608"/>
            <a:ext cx="5134356" cy="555711"/>
          </a:xfrm>
          <a:prstGeom prst="roundRect">
            <a:avLst>
              <a:gd name="adj" fmla="val 18000"/>
            </a:avLst>
          </a:prstGeom>
          <a:solidFill>
            <a:srgbClr val="F4F7FA"/>
          </a:solidFill>
          <a:ln w="1397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578608"/>
            <a:ext cx="4878324" cy="555711"/>
          </a:xfrm>
          <a:prstGeom prst="rect">
            <a:avLst/>
          </a:prstGeom>
          <a:noFill/>
        </p:spPr>
        <p:txBody>
          <a:bodyPr wrap="square" lIns="0" rIns="0" tIns="0" bIns="0" anchor="ctr">
            <a:spAutoFit/>
          </a:bodyPr>
          <a:lstStyle/>
          <a:p>
            <a:pPr algn="l">
              <a:lnSpc>
                <a:spcPct val="115000"/>
              </a:lnSpc>
            </a:pPr>
            <a:r>
              <a:rPr sz="1180" b="0" i="0">
                <a:solidFill>
                  <a:srgbClr val="21295C"/>
                </a:solidFill>
                <a:latin typeface="Arial"/>
              </a:rPr>
              <a:t>обзор репозитория</a:t>
            </a:r>
          </a:p>
        </p:txBody>
      </p:sp>
      <p:sp>
        <p:nvSpPr>
          <p:cNvPr id="9" name="Rounded Rectangle 8"/>
          <p:cNvSpPr/>
          <p:nvPr/>
        </p:nvSpPr>
        <p:spPr>
          <a:xfrm>
            <a:off x="6240780" y="2578608"/>
            <a:ext cx="5134356" cy="555711"/>
          </a:xfrm>
          <a:prstGeom prst="roundRect">
            <a:avLst>
              <a:gd name="adj" fmla="val 18000"/>
            </a:avLst>
          </a:prstGeom>
          <a:solidFill>
            <a:srgbClr val="FEF5E0"/>
          </a:solidFill>
          <a:ln w="1651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8796" y="2578608"/>
            <a:ext cx="4878324" cy="555711"/>
          </a:xfrm>
          <a:prstGeom prst="rect">
            <a:avLst/>
          </a:prstGeom>
          <a:noFill/>
        </p:spPr>
        <p:txBody>
          <a:bodyPr wrap="square" lIns="0" rIns="0" tIns="0" bIns="0" anchor="ctr">
            <a:spAutoFit/>
          </a:bodyPr>
          <a:lstStyle/>
          <a:p>
            <a:pPr algn="l">
              <a:lnSpc>
                <a:spcPct val="115000"/>
              </a:lnSpc>
            </a:pPr>
            <a:r>
              <a:rPr sz="1180" b="1" i="0">
                <a:solidFill>
                  <a:srgbClr val="8A6200"/>
                </a:solidFill>
                <a:latin typeface="Arial"/>
              </a:rPr>
              <a:t>гейт готовности</a:t>
            </a:r>
          </a:p>
        </p:txBody>
      </p:sp>
      <p:sp>
        <p:nvSpPr>
          <p:cNvPr id="11" name="Rounded Rectangle 10"/>
          <p:cNvSpPr/>
          <p:nvPr/>
        </p:nvSpPr>
        <p:spPr>
          <a:xfrm>
            <a:off x="722376" y="3211860"/>
            <a:ext cx="5134356" cy="555711"/>
          </a:xfrm>
          <a:prstGeom prst="roundRect">
            <a:avLst>
              <a:gd name="adj" fmla="val 18000"/>
            </a:avLst>
          </a:prstGeom>
          <a:solidFill>
            <a:srgbClr val="F4F7FA"/>
          </a:solidFill>
          <a:ln w="1397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3211860"/>
            <a:ext cx="4878324" cy="555711"/>
          </a:xfrm>
          <a:prstGeom prst="rect">
            <a:avLst/>
          </a:prstGeom>
          <a:noFill/>
        </p:spPr>
        <p:txBody>
          <a:bodyPr wrap="square" lIns="0" rIns="0" tIns="0" bIns="0" anchor="ctr">
            <a:spAutoFit/>
          </a:bodyPr>
          <a:lstStyle/>
          <a:p>
            <a:pPr algn="l">
              <a:lnSpc>
                <a:spcPct val="115000"/>
              </a:lnSpc>
            </a:pPr>
            <a:r>
              <a:rPr sz="1180" b="0" i="0">
                <a:solidFill>
                  <a:srgbClr val="21295C"/>
                </a:solidFill>
                <a:latin typeface="Arial"/>
              </a:rPr>
              <a:t>вложенные файлы конвенций</a:t>
            </a:r>
          </a:p>
        </p:txBody>
      </p:sp>
      <p:sp>
        <p:nvSpPr>
          <p:cNvPr id="13" name="Rounded Rectangle 12"/>
          <p:cNvSpPr/>
          <p:nvPr/>
        </p:nvSpPr>
        <p:spPr>
          <a:xfrm>
            <a:off x="6240780" y="3211860"/>
            <a:ext cx="5134356" cy="555711"/>
          </a:xfrm>
          <a:prstGeom prst="roundRect">
            <a:avLst>
              <a:gd name="adj" fmla="val 18000"/>
            </a:avLst>
          </a:prstGeom>
          <a:solidFill>
            <a:srgbClr val="FEF5E0"/>
          </a:solidFill>
          <a:ln w="1651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3211860"/>
            <a:ext cx="4878324" cy="555711"/>
          </a:xfrm>
          <a:prstGeom prst="rect">
            <a:avLst/>
          </a:prstGeom>
          <a:noFill/>
        </p:spPr>
        <p:txBody>
          <a:bodyPr wrap="square" lIns="0" rIns="0" tIns="0" bIns="0" anchor="ctr">
            <a:spAutoFit/>
          </a:bodyPr>
          <a:lstStyle/>
          <a:p>
            <a:pPr algn="l">
              <a:lnSpc>
                <a:spcPct val="115000"/>
              </a:lnSpc>
            </a:pPr>
            <a:r>
              <a:rPr sz="1180" b="1" i="0">
                <a:solidFill>
                  <a:srgbClr val="8A6200"/>
                </a:solidFill>
                <a:latin typeface="Arial"/>
              </a:rPr>
              <a:t>трекинг задач и решений</a:t>
            </a:r>
          </a:p>
        </p:txBody>
      </p:sp>
      <p:sp>
        <p:nvSpPr>
          <p:cNvPr id="15" name="Rounded Rectangle 14"/>
          <p:cNvSpPr/>
          <p:nvPr/>
        </p:nvSpPr>
        <p:spPr>
          <a:xfrm>
            <a:off x="722376" y="3845112"/>
            <a:ext cx="5134356" cy="555711"/>
          </a:xfrm>
          <a:prstGeom prst="roundRect">
            <a:avLst>
              <a:gd name="adj" fmla="val 18000"/>
            </a:avLst>
          </a:prstGeom>
          <a:solidFill>
            <a:srgbClr val="F4F7FA"/>
          </a:solidFill>
          <a:ln w="1397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3845112"/>
            <a:ext cx="4878324" cy="555711"/>
          </a:xfrm>
          <a:prstGeom prst="rect">
            <a:avLst/>
          </a:prstGeom>
          <a:noFill/>
        </p:spPr>
        <p:txBody>
          <a:bodyPr wrap="square" lIns="0" rIns="0" tIns="0" bIns="0" anchor="ctr">
            <a:spAutoFit/>
          </a:bodyPr>
          <a:lstStyle/>
          <a:p>
            <a:pPr algn="l">
              <a:lnSpc>
                <a:spcPct val="115000"/>
              </a:lnSpc>
            </a:pPr>
            <a:r>
              <a:rPr sz="1180" b="0" i="0">
                <a:solidFill>
                  <a:srgbClr val="21295C"/>
                </a:solidFill>
                <a:latin typeface="Arial"/>
              </a:rPr>
              <a:t>сложная, многоуровневая память</a:t>
            </a:r>
          </a:p>
        </p:txBody>
      </p:sp>
      <p:sp>
        <p:nvSpPr>
          <p:cNvPr id="17" name="Rounded Rectangle 16"/>
          <p:cNvSpPr/>
          <p:nvPr/>
        </p:nvSpPr>
        <p:spPr>
          <a:xfrm>
            <a:off x="502920" y="4965192"/>
            <a:ext cx="11183112" cy="143560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5038344"/>
            <a:ext cx="10780776" cy="1289304"/>
          </a:xfrm>
          <a:prstGeom prst="rect">
            <a:avLst/>
          </a:prstGeom>
          <a:noFill/>
        </p:spPr>
        <p:txBody>
          <a:bodyPr wrap="square" lIns="0" rIns="0" tIns="0" bIns="0" anchor="ctr">
            <a:spAutoFit/>
          </a:bodyPr>
          <a:lstStyle/>
          <a:p>
            <a:pPr algn="l">
              <a:lnSpc>
                <a:spcPct val="122000"/>
              </a:lnSpc>
            </a:pPr>
            <a:r>
              <a:rPr sz="1280" b="1" i="0">
                <a:solidFill>
                  <a:srgbClr val="21295C"/>
                </a:solidFill>
                <a:latin typeface="Arial"/>
              </a:rPr>
              <a:t>«Лекция 3 говорила про тонкого агента — про отказ от структурной сложности: субагентов, скиллов, внешнего доступа. Там сигнал нужен. Универсальная гигиена — другая категория: здесь ‘жди боли’ работает против вас.»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РАЗДЕЛ 0 · ЧТО ЗАВЕДЕНО В ПЕРВЫЙ ДЕНЬ</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Кроме спеки и README в репозиторий в тот же день кладётся ещё три вещи — ни одна из них не ждала сигнала</a:t>
            </a:r>
          </a:p>
        </p:txBody>
      </p:sp>
      <p:sp>
        <p:nvSpPr>
          <p:cNvPr id="4" name="Rounded Rectangle 3"/>
          <p:cNvSpPr/>
          <p:nvPr/>
        </p:nvSpPr>
        <p:spPr>
          <a:xfrm>
            <a:off x="502920" y="1810512"/>
            <a:ext cx="11183112" cy="3063240"/>
          </a:xfrm>
          <a:prstGeom prst="roundRect">
            <a:avLst>
              <a:gd name="adj" fmla="val 995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93392"/>
            <a:ext cx="2955706" cy="329184"/>
          </a:xfrm>
          <a:prstGeom prst="rect">
            <a:avLst/>
          </a:prstGeom>
          <a:noFill/>
        </p:spPr>
        <p:txBody>
          <a:bodyPr wrap="square" lIns="0" rIns="0" tIns="0" bIns="0" anchor="t">
            <a:spAutoFit/>
          </a:bodyPr>
          <a:lstStyle/>
          <a:p>
            <a:pPr algn="l">
              <a:lnSpc>
                <a:spcPct val="115000"/>
              </a:lnSpc>
            </a:pPr>
            <a:r>
              <a:rPr sz="1200" b="1" i="0">
                <a:solidFill>
                  <a:srgbClr val="6B7685"/>
                </a:solidFill>
                <a:latin typeface="Arial"/>
              </a:rPr>
              <a:t>Что заведено</a:t>
            </a:r>
          </a:p>
        </p:txBody>
      </p:sp>
      <p:sp>
        <p:nvSpPr>
          <p:cNvPr id="6" name="TextBox 5"/>
          <p:cNvSpPr txBox="1"/>
          <p:nvPr/>
        </p:nvSpPr>
        <p:spPr>
          <a:xfrm>
            <a:off x="3714658" y="1993392"/>
            <a:ext cx="7715341" cy="329184"/>
          </a:xfrm>
          <a:prstGeom prst="rect">
            <a:avLst/>
          </a:prstGeom>
          <a:noFill/>
        </p:spPr>
        <p:txBody>
          <a:bodyPr wrap="square" lIns="0" rIns="0" tIns="0" bIns="0" anchor="t">
            <a:spAutoFit/>
          </a:bodyPr>
          <a:lstStyle/>
          <a:p>
            <a:pPr algn="l">
              <a:lnSpc>
                <a:spcPct val="115000"/>
              </a:lnSpc>
            </a:pPr>
            <a:r>
              <a:rPr sz="1200" b="1" i="0">
                <a:solidFill>
                  <a:srgbClr val="6B7685"/>
                </a:solidFill>
                <a:latin typeface="Arial"/>
              </a:rPr>
              <a:t>Зачем именно сразу</a:t>
            </a:r>
          </a:p>
        </p:txBody>
      </p:sp>
      <p:sp>
        <p:nvSpPr>
          <p:cNvPr id="7" name="TextBox 6"/>
          <p:cNvSpPr txBox="1"/>
          <p:nvPr/>
        </p:nvSpPr>
        <p:spPr>
          <a:xfrm>
            <a:off x="685800" y="2377440"/>
            <a:ext cx="2937418"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spec.md + README.md</a:t>
            </a:r>
          </a:p>
        </p:txBody>
      </p:sp>
      <p:sp>
        <p:nvSpPr>
          <p:cNvPr id="8" name="TextBox 7"/>
          <p:cNvSpPr txBox="1"/>
          <p:nvPr/>
        </p:nvSpPr>
        <p:spPr>
          <a:xfrm>
            <a:off x="3714658" y="2377440"/>
            <a:ext cx="7697053"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что должно получиться и как устроен репозиторий — первым коммитом, до задачи агенту</a:t>
            </a:r>
          </a:p>
        </p:txBody>
      </p:sp>
      <p:cxnSp>
        <p:nvCxnSpPr>
          <p:cNvPr id="9" name="Connector 8"/>
          <p:cNvCxnSpPr/>
          <p:nvPr/>
        </p:nvCxnSpPr>
        <p:spPr>
          <a:xfrm>
            <a:off x="685800" y="295579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2955798"/>
            <a:ext cx="2937418"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CLAUDE.md</a:t>
            </a:r>
          </a:p>
        </p:txBody>
      </p:sp>
      <p:sp>
        <p:nvSpPr>
          <p:cNvPr id="11" name="TextBox 10"/>
          <p:cNvSpPr txBox="1"/>
          <p:nvPr/>
        </p:nvSpPr>
        <p:spPr>
          <a:xfrm>
            <a:off x="3714658" y="2955798"/>
            <a:ext cx="7697053"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файл инструкций агенту. В первый день в нём одна строка: критерий «готово» и требование проверить результат руками. Описания устройства репозитория в нём нет — для него ещё нет причины</a:t>
            </a:r>
          </a:p>
        </p:txBody>
      </p:sp>
      <p:cxnSp>
        <p:nvCxnSpPr>
          <p:cNvPr id="12" name="Connector 11"/>
          <p:cNvCxnSpPr/>
          <p:nvPr/>
        </p:nvCxnSpPr>
        <p:spPr>
          <a:xfrm>
            <a:off x="685800" y="353415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534156"/>
            <a:ext cx="2937418"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DECISIONS.md</a:t>
            </a:r>
          </a:p>
        </p:txBody>
      </p:sp>
      <p:sp>
        <p:nvSpPr>
          <p:cNvPr id="14" name="TextBox 13"/>
          <p:cNvSpPr txBox="1"/>
          <p:nvPr/>
        </p:nvSpPr>
        <p:spPr>
          <a:xfrm>
            <a:off x="3714658" y="3534156"/>
            <a:ext cx="7697053"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журнал решений проекта: что решили и почему. Чтобы отклонённый вариант не пришлось разбирать заново через месяц</a:t>
            </a:r>
          </a:p>
        </p:txBody>
      </p:sp>
      <p:cxnSp>
        <p:nvCxnSpPr>
          <p:cNvPr id="15" name="Connector 14"/>
          <p:cNvCxnSpPr/>
          <p:nvPr/>
        </p:nvCxnSpPr>
        <p:spPr>
          <a:xfrm>
            <a:off x="685800" y="411251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800" y="4112514"/>
            <a:ext cx="2937418"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Практика файла-на-задачу</a:t>
            </a:r>
          </a:p>
        </p:txBody>
      </p:sp>
      <p:sp>
        <p:nvSpPr>
          <p:cNvPr id="17" name="TextBox 16"/>
          <p:cNvSpPr txBox="1"/>
          <p:nvPr/>
        </p:nvSpPr>
        <p:spPr>
          <a:xfrm>
            <a:off x="3714658" y="4112514"/>
            <a:ext cx="7697053" cy="578358"/>
          </a:xfrm>
          <a:prstGeom prst="rect">
            <a:avLst/>
          </a:prstGeom>
          <a:noFill/>
        </p:spPr>
        <p:txBody>
          <a:bodyPr wrap="square" lIns="0" rIns="0" tIns="0" bIns="0" anchor="ctr">
            <a:spAutoFit/>
          </a:bodyPr>
          <a:lstStyle/>
          <a:p>
            <a:pPr algn="l">
              <a:lnSpc>
                <a:spcPct val="115000"/>
              </a:lnSpc>
            </a:pPr>
            <a:r>
              <a:rPr sz="1250" b="0" i="0">
                <a:solidFill>
                  <a:srgbClr val="21295C"/>
                </a:solidFill>
                <a:latin typeface="Arial"/>
              </a:rPr>
              <a:t>на многошаговую задачу — отдельный файл с планом и отметками о ходе работы</a:t>
            </a:r>
          </a:p>
        </p:txBody>
      </p:sp>
      <p:sp>
        <p:nvSpPr>
          <p:cNvPr id="18" name="Rounded Rectangle 17"/>
          <p:cNvSpPr/>
          <p:nvPr/>
        </p:nvSpPr>
        <p:spPr>
          <a:xfrm>
            <a:off x="502920" y="5056632"/>
            <a:ext cx="11183112" cy="8686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129784"/>
            <a:ext cx="10780776" cy="722375"/>
          </a:xfrm>
          <a:prstGeom prst="rect">
            <a:avLst/>
          </a:prstGeom>
          <a:noFill/>
        </p:spPr>
        <p:txBody>
          <a:bodyPr wrap="square" lIns="0" rIns="0" tIns="0" bIns="0" anchor="ctr">
            <a:spAutoFit/>
          </a:bodyPr>
          <a:lstStyle/>
          <a:p>
            <a:pPr algn="l">
              <a:lnSpc>
                <a:spcPct val="122000"/>
              </a:lnSpc>
            </a:pPr>
            <a:r>
              <a:rPr sz="1250" b="1" i="0">
                <a:solidFill>
                  <a:srgbClr val="21295C"/>
                </a:solidFill>
                <a:latin typeface="Arial"/>
              </a:rPr>
              <a:t>Каждое из этого стоит сегодня одной строки. Цена отсутствия заранее неизвестна и обнаруживается задним числом: сигнала, по которому стало бы понятно, что пора, может не быть вовсе.</a:t>
            </a:r>
          </a:p>
        </p:txBody>
      </p:sp>
      <p:sp>
        <p:nvSpPr>
          <p:cNvPr id="20" name="TextBox 19"/>
          <p:cNvSpPr txBox="1"/>
          <p:nvPr/>
        </p:nvSpPr>
        <p:spPr>
          <a:xfrm>
            <a:off x="502920" y="6035040"/>
            <a:ext cx="11183112" cy="365760"/>
          </a:xfrm>
          <a:prstGeom prst="rect">
            <a:avLst/>
          </a:prstGeom>
          <a:noFill/>
        </p:spPr>
        <p:txBody>
          <a:bodyPr wrap="square" lIns="0" rIns="0" tIns="0" bIns="0" anchor="t">
            <a:spAutoFit/>
          </a:bodyPr>
          <a:lstStyle/>
          <a:p>
            <a:pPr algn="ctr">
              <a:lnSpc>
                <a:spcPct val="115000"/>
              </a:lnSpc>
            </a:pPr>
            <a:r>
              <a:rPr sz="1150" b="0" i="1">
                <a:solidFill>
                  <a:srgbClr val="6B7685"/>
                </a:solidFill>
                <a:latin typeface="Arial"/>
              </a:rPr>
              <a:t>Дальше все четыре встречаются в работе поимённо — каждое в своей развилке.</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РАЗДЕЛ 0 · ОПОРНАЯ КАРТА</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Конфигурация агента раскладывается на пять слотов; сегодняшний проект задействует два — инструкции-правила и память</a:t>
            </a:r>
          </a:p>
        </p:txBody>
      </p:sp>
      <p:sp>
        <p:nvSpPr>
          <p:cNvPr id="4" name="Rounded Rectangle 3"/>
          <p:cNvSpPr/>
          <p:nvPr/>
        </p:nvSpPr>
        <p:spPr>
          <a:xfrm>
            <a:off x="502920" y="1810512"/>
            <a:ext cx="11183112" cy="1783080"/>
          </a:xfrm>
          <a:prstGeom prst="roundRect">
            <a:avLst>
              <a:gd name="adj" fmla="val 1709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0664" y="2048256"/>
            <a:ext cx="2009851" cy="1307592"/>
          </a:xfrm>
          <a:prstGeom prst="roundRect">
            <a:avLst>
              <a:gd name="adj" fmla="val 12000"/>
            </a:avLst>
          </a:prstGeom>
          <a:solidFill>
            <a:srgbClr val="FEF5E0"/>
          </a:solidFill>
          <a:ln w="1905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2139696"/>
            <a:ext cx="2009851" cy="256032"/>
          </a:xfrm>
          <a:prstGeom prst="rect">
            <a:avLst/>
          </a:prstGeom>
          <a:noFill/>
        </p:spPr>
        <p:txBody>
          <a:bodyPr wrap="square" lIns="0" rIns="0" tIns="0" bIns="0" anchor="t">
            <a:spAutoFit/>
          </a:bodyPr>
          <a:lstStyle/>
          <a:p>
            <a:pPr algn="ctr">
              <a:lnSpc>
                <a:spcPct val="115000"/>
              </a:lnSpc>
            </a:pPr>
            <a:r>
              <a:rPr sz="1300" b="1" i="0">
                <a:solidFill>
                  <a:srgbClr val="8A6200"/>
                </a:solidFill>
                <a:latin typeface="Arial"/>
              </a:rPr>
              <a:t>1</a:t>
            </a:r>
          </a:p>
        </p:txBody>
      </p:sp>
      <p:sp>
        <p:nvSpPr>
          <p:cNvPr id="7" name="TextBox 6"/>
          <p:cNvSpPr txBox="1"/>
          <p:nvPr/>
        </p:nvSpPr>
        <p:spPr>
          <a:xfrm>
            <a:off x="795528" y="243230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8A6200"/>
                </a:solidFill>
                <a:latin typeface="Arial"/>
              </a:rPr>
              <a:t>память</a:t>
            </a:r>
          </a:p>
        </p:txBody>
      </p:sp>
      <p:sp>
        <p:nvSpPr>
          <p:cNvPr id="8" name="TextBox 7"/>
          <p:cNvSpPr txBox="1"/>
          <p:nvPr/>
        </p:nvSpPr>
        <p:spPr>
          <a:xfrm>
            <a:off x="804672" y="298094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что агент помнит между сессиями</a:t>
            </a:r>
          </a:p>
        </p:txBody>
      </p:sp>
      <p:sp>
        <p:nvSpPr>
          <p:cNvPr id="9" name="Rounded Rectangle 8"/>
          <p:cNvSpPr/>
          <p:nvPr/>
        </p:nvSpPr>
        <p:spPr>
          <a:xfrm>
            <a:off x="2915107" y="2048256"/>
            <a:ext cx="2009851" cy="1307592"/>
          </a:xfrm>
          <a:prstGeom prst="roundRect">
            <a:avLst>
              <a:gd name="adj" fmla="val 12000"/>
            </a:avLst>
          </a:prstGeom>
          <a:solidFill>
            <a:srgbClr val="FEF5E0"/>
          </a:solidFill>
          <a:ln w="1905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15107" y="2139696"/>
            <a:ext cx="2009851" cy="256032"/>
          </a:xfrm>
          <a:prstGeom prst="rect">
            <a:avLst/>
          </a:prstGeom>
          <a:noFill/>
        </p:spPr>
        <p:txBody>
          <a:bodyPr wrap="square" lIns="0" rIns="0" tIns="0" bIns="0" anchor="t">
            <a:spAutoFit/>
          </a:bodyPr>
          <a:lstStyle/>
          <a:p>
            <a:pPr algn="ctr">
              <a:lnSpc>
                <a:spcPct val="115000"/>
              </a:lnSpc>
            </a:pPr>
            <a:r>
              <a:rPr sz="1300" b="1" i="0">
                <a:solidFill>
                  <a:srgbClr val="8A6200"/>
                </a:solidFill>
                <a:latin typeface="Arial"/>
              </a:rPr>
              <a:t>2</a:t>
            </a:r>
          </a:p>
        </p:txBody>
      </p:sp>
      <p:sp>
        <p:nvSpPr>
          <p:cNvPr id="11" name="TextBox 10"/>
          <p:cNvSpPr txBox="1"/>
          <p:nvPr/>
        </p:nvSpPr>
        <p:spPr>
          <a:xfrm>
            <a:off x="2969971" y="243230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8A6200"/>
                </a:solidFill>
                <a:latin typeface="Arial"/>
              </a:rPr>
              <a:t>инструкции-</a:t>
            </a:r>
          </a:p>
          <a:p>
            <a:pPr algn="ctr">
              <a:lnSpc>
                <a:spcPct val="105000"/>
              </a:lnSpc>
              <a:spcAft>
                <a:spcPts val="0"/>
              </a:spcAft>
            </a:pPr>
            <a:r>
              <a:rPr sz="1230" b="1" i="0">
                <a:solidFill>
                  <a:srgbClr val="8A6200"/>
                </a:solidFill>
                <a:latin typeface="Arial"/>
              </a:rPr>
              <a:t>правила</a:t>
            </a:r>
          </a:p>
        </p:txBody>
      </p:sp>
      <p:sp>
        <p:nvSpPr>
          <p:cNvPr id="12" name="TextBox 11"/>
          <p:cNvSpPr txBox="1"/>
          <p:nvPr/>
        </p:nvSpPr>
        <p:spPr>
          <a:xfrm>
            <a:off x="2979115" y="298094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файл-конвенция проекта + журнал задач</a:t>
            </a:r>
          </a:p>
        </p:txBody>
      </p:sp>
      <p:sp>
        <p:nvSpPr>
          <p:cNvPr id="13" name="Rounded Rectangle 12"/>
          <p:cNvSpPr/>
          <p:nvPr/>
        </p:nvSpPr>
        <p:spPr>
          <a:xfrm>
            <a:off x="5089550" y="204825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9550" y="213969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3</a:t>
            </a:r>
          </a:p>
        </p:txBody>
      </p:sp>
      <p:sp>
        <p:nvSpPr>
          <p:cNvPr id="15" name="TextBox 14"/>
          <p:cNvSpPr txBox="1"/>
          <p:nvPr/>
        </p:nvSpPr>
        <p:spPr>
          <a:xfrm>
            <a:off x="5144414" y="243230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скиллы</a:t>
            </a:r>
          </a:p>
        </p:txBody>
      </p:sp>
      <p:sp>
        <p:nvSpPr>
          <p:cNvPr id="16" name="TextBox 15"/>
          <p:cNvSpPr txBox="1"/>
          <p:nvPr/>
        </p:nvSpPr>
        <p:spPr>
          <a:xfrm>
            <a:off x="5153558" y="298094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переиспользуемые процедуры под повторяющиеся задачи</a:t>
            </a:r>
          </a:p>
        </p:txBody>
      </p:sp>
      <p:sp>
        <p:nvSpPr>
          <p:cNvPr id="17" name="Rounded Rectangle 16"/>
          <p:cNvSpPr/>
          <p:nvPr/>
        </p:nvSpPr>
        <p:spPr>
          <a:xfrm>
            <a:off x="7263993" y="204825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3993" y="213969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4</a:t>
            </a:r>
          </a:p>
        </p:txBody>
      </p:sp>
      <p:sp>
        <p:nvSpPr>
          <p:cNvPr id="19" name="TextBox 18"/>
          <p:cNvSpPr txBox="1"/>
          <p:nvPr/>
        </p:nvSpPr>
        <p:spPr>
          <a:xfrm>
            <a:off x="7318857" y="243230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субагенты</a:t>
            </a:r>
          </a:p>
        </p:txBody>
      </p:sp>
      <p:sp>
        <p:nvSpPr>
          <p:cNvPr id="20" name="TextBox 19"/>
          <p:cNvSpPr txBox="1"/>
          <p:nvPr/>
        </p:nvSpPr>
        <p:spPr>
          <a:xfrm>
            <a:off x="7328001" y="298094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делегирование с отдельным контекстным окном</a:t>
            </a:r>
          </a:p>
        </p:txBody>
      </p:sp>
      <p:sp>
        <p:nvSpPr>
          <p:cNvPr id="21" name="Rounded Rectangle 20"/>
          <p:cNvSpPr/>
          <p:nvPr/>
        </p:nvSpPr>
        <p:spPr>
          <a:xfrm>
            <a:off x="9438436" y="204825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38436" y="213969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5</a:t>
            </a:r>
          </a:p>
        </p:txBody>
      </p:sp>
      <p:sp>
        <p:nvSpPr>
          <p:cNvPr id="23" name="TextBox 22"/>
          <p:cNvSpPr txBox="1"/>
          <p:nvPr/>
        </p:nvSpPr>
        <p:spPr>
          <a:xfrm>
            <a:off x="9493300" y="243230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доступ</a:t>
            </a:r>
          </a:p>
          <a:p>
            <a:pPr algn="ctr">
              <a:lnSpc>
                <a:spcPct val="105000"/>
              </a:lnSpc>
              <a:spcAft>
                <a:spcPts val="0"/>
              </a:spcAft>
            </a:pPr>
            <a:r>
              <a:rPr sz="1230" b="1" i="0">
                <a:solidFill>
                  <a:srgbClr val="21295C"/>
                </a:solidFill>
                <a:latin typeface="Arial"/>
              </a:rPr>
              <a:t>наружу (MCP)</a:t>
            </a:r>
          </a:p>
        </p:txBody>
      </p:sp>
      <p:sp>
        <p:nvSpPr>
          <p:cNvPr id="24" name="TextBox 23"/>
          <p:cNvSpPr txBox="1"/>
          <p:nvPr/>
        </p:nvSpPr>
        <p:spPr>
          <a:xfrm>
            <a:off x="9502444" y="298094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доступ к внешним системам</a:t>
            </a:r>
          </a:p>
        </p:txBody>
      </p:sp>
      <p:sp>
        <p:nvSpPr>
          <p:cNvPr id="25" name="TextBox 24"/>
          <p:cNvSpPr txBox="1"/>
          <p:nvPr/>
        </p:nvSpPr>
        <p:spPr>
          <a:xfrm>
            <a:off x="502920" y="3776472"/>
            <a:ext cx="11183112" cy="502920"/>
          </a:xfrm>
          <a:prstGeom prst="rect">
            <a:avLst/>
          </a:prstGeom>
          <a:noFill/>
        </p:spPr>
        <p:txBody>
          <a:bodyPr wrap="square" lIns="0" rIns="0" tIns="0" bIns="0" anchor="t">
            <a:spAutoFit/>
          </a:bodyPr>
          <a:lstStyle/>
          <a:p>
            <a:pPr algn="ctr">
              <a:lnSpc>
                <a:spcPct val="120000"/>
              </a:lnSpc>
            </a:pPr>
            <a:r>
              <a:rPr sz="1450" b="1" i="1">
                <a:solidFill>
                  <a:srgbClr val="065A82"/>
                </a:solidFill>
                <a:latin typeface="Arial"/>
              </a:rPr>
              <a:t>Сегодня в работе — два. Скиллы, субагенты, доступ наружу и механические слои (хук, процесс) — Семинар 5.</a:t>
            </a:r>
          </a:p>
        </p:txBody>
      </p:sp>
      <p:sp>
        <p:nvSpPr>
          <p:cNvPr id="26" name="Rounded Rectangle 25"/>
          <p:cNvSpPr/>
          <p:nvPr/>
        </p:nvSpPr>
        <p:spPr>
          <a:xfrm>
            <a:off x="502920" y="4325112"/>
            <a:ext cx="11183112" cy="207568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4398264"/>
            <a:ext cx="10780776" cy="1929384"/>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«Оставайтесь на самой нижней ступени, которая закрывает требование задачи. Поднимайтесь на следующую только тогда, когда можете назвать требование, которое текущая ступень не закрывает. Каждый подъём оплачивается новой стоимостью, новыми режимами отказа и новой поверхностью атаки.»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text-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502920" y="411480"/>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090672" y="411480"/>
            <a:ext cx="2478024" cy="256032"/>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78424" y="411480"/>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66175" y="411480"/>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66928" y="1069848"/>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069848"/>
            <a:ext cx="694944" cy="694944"/>
          </a:xfrm>
          <a:prstGeom prst="rect">
            <a:avLst/>
          </a:prstGeom>
          <a:noFill/>
        </p:spPr>
        <p:txBody>
          <a:bodyPr wrap="square" lIns="0" rIns="0" tIns="0" bIns="0" anchor="ctr">
            <a:spAutoFit/>
          </a:bodyPr>
          <a:lstStyle/>
          <a:p>
            <a:pPr algn="ctr">
              <a:lnSpc>
                <a:spcPct val="115000"/>
              </a:lnSpc>
            </a:pPr>
            <a:r>
              <a:rPr sz="2600" b="1" i="0">
                <a:solidFill>
                  <a:srgbClr val="21295C"/>
                </a:solidFill>
                <a:latin typeface="Arial"/>
              </a:rPr>
              <a:t>1</a:t>
            </a:r>
          </a:p>
        </p:txBody>
      </p:sp>
      <p:sp>
        <p:nvSpPr>
          <p:cNvPr id="11" name="TextBox 10"/>
          <p:cNvSpPr txBox="1"/>
          <p:nvPr/>
        </p:nvSpPr>
        <p:spPr>
          <a:xfrm>
            <a:off x="1508760" y="1508760"/>
            <a:ext cx="8869680" cy="1005840"/>
          </a:xfrm>
          <a:prstGeom prst="rect">
            <a:avLst/>
          </a:prstGeom>
          <a:noFill/>
        </p:spPr>
        <p:txBody>
          <a:bodyPr wrap="square" lIns="0" rIns="0" tIns="0" bIns="0" anchor="t">
            <a:spAutoFit/>
          </a:bodyPr>
          <a:lstStyle/>
          <a:p>
            <a:pPr algn="l">
              <a:lnSpc>
                <a:spcPct val="105000"/>
              </a:lnSpc>
            </a:pPr>
            <a:r>
              <a:rPr sz="3600" b="1" i="0">
                <a:solidFill>
                  <a:srgbClr val="FFFFFF"/>
                </a:solidFill>
                <a:latin typeface="Arial"/>
              </a:rPr>
              <a:t>Раздел 1 · файл инструкций</a:t>
            </a:r>
          </a:p>
        </p:txBody>
      </p:sp>
      <p:sp>
        <p:nvSpPr>
          <p:cNvPr id="12" name="Rounded Rectangle 11"/>
          <p:cNvSpPr/>
          <p:nvPr/>
        </p:nvSpPr>
        <p:spPr>
          <a:xfrm>
            <a:off x="822960" y="2788920"/>
            <a:ext cx="128016" cy="12801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679191"/>
            <a:ext cx="8046720" cy="384048"/>
          </a:xfrm>
          <a:prstGeom prst="rect">
            <a:avLst/>
          </a:prstGeom>
          <a:noFill/>
        </p:spPr>
        <p:txBody>
          <a:bodyPr wrap="square" lIns="0" rIns="0" tIns="0" bIns="0" anchor="t">
            <a:spAutoFit/>
          </a:bodyPr>
          <a:lstStyle/>
          <a:p>
            <a:pPr algn="l">
              <a:lnSpc>
                <a:spcPct val="115000"/>
              </a:lnSpc>
            </a:pPr>
            <a:r>
              <a:rPr sz="1650" b="0" i="0">
                <a:solidFill>
                  <a:srgbClr val="E1E9F6"/>
                </a:solidFill>
                <a:latin typeface="Arial"/>
              </a:rPr>
              <a:t>Кейс 1.1 · роль агента и репозиторий</a:t>
            </a:r>
          </a:p>
        </p:txBody>
      </p:sp>
      <p:sp>
        <p:nvSpPr>
          <p:cNvPr id="14" name="Rounded Rectangle 13"/>
          <p:cNvSpPr/>
          <p:nvPr/>
        </p:nvSpPr>
        <p:spPr>
          <a:xfrm>
            <a:off x="822960" y="3300984"/>
            <a:ext cx="128016" cy="12801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191256"/>
            <a:ext cx="8046720" cy="384048"/>
          </a:xfrm>
          <a:prstGeom prst="rect">
            <a:avLst/>
          </a:prstGeom>
          <a:noFill/>
        </p:spPr>
        <p:txBody>
          <a:bodyPr wrap="square" lIns="0" rIns="0" tIns="0" bIns="0" anchor="t">
            <a:spAutoFit/>
          </a:bodyPr>
          <a:lstStyle/>
          <a:p>
            <a:pPr algn="l">
              <a:lnSpc>
                <a:spcPct val="115000"/>
              </a:lnSpc>
            </a:pPr>
            <a:r>
              <a:rPr sz="1650" b="0" i="0">
                <a:solidFill>
                  <a:srgbClr val="E1E9F6"/>
                </a:solidFill>
                <a:latin typeface="Arial"/>
              </a:rPr>
              <a:t>Кейс 1.2 · базовые процессы: гейты и цикл улучшения</a:t>
            </a:r>
          </a:p>
        </p:txBody>
      </p:sp>
      <p:sp>
        <p:nvSpPr>
          <p:cNvPr id="16" name="Rounded Rectangle 15"/>
          <p:cNvSpPr/>
          <p:nvPr/>
        </p:nvSpPr>
        <p:spPr>
          <a:xfrm>
            <a:off x="822960" y="3813048"/>
            <a:ext cx="128016" cy="12801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03320"/>
            <a:ext cx="8046720" cy="384048"/>
          </a:xfrm>
          <a:prstGeom prst="rect">
            <a:avLst/>
          </a:prstGeom>
          <a:noFill/>
        </p:spPr>
        <p:txBody>
          <a:bodyPr wrap="square" lIns="0" rIns="0" tIns="0" bIns="0" anchor="t">
            <a:spAutoFit/>
          </a:bodyPr>
          <a:lstStyle/>
          <a:p>
            <a:pPr algn="l">
              <a:lnSpc>
                <a:spcPct val="115000"/>
              </a:lnSpc>
            </a:pPr>
            <a:r>
              <a:rPr sz="1650" b="0" i="0">
                <a:solidFill>
                  <a:srgbClr val="E1E9F6"/>
                </a:solidFill>
                <a:latin typeface="Arial"/>
              </a:rPr>
              <a:t>Кейс 1.3 · вложенные файлы по подпапкам</a:t>
            </a:r>
          </a:p>
        </p:txBody>
      </p:sp>
      <p:sp>
        <p:nvSpPr>
          <p:cNvPr id="18" name="Rounded Rectangle 17"/>
          <p:cNvSpPr/>
          <p:nvPr/>
        </p:nvSpPr>
        <p:spPr>
          <a:xfrm>
            <a:off x="822960" y="4553712"/>
            <a:ext cx="5120640" cy="502920"/>
          </a:xfrm>
          <a:prstGeom prst="roundRect">
            <a:avLst>
              <a:gd name="adj" fmla="val 28000"/>
            </a:avLst>
          </a:prstGeom>
          <a:solidFill>
            <a:srgbClr val="0B143A"/>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4553712"/>
            <a:ext cx="4608575" cy="502920"/>
          </a:xfrm>
          <a:prstGeom prst="rect">
            <a:avLst/>
          </a:prstGeom>
          <a:noFill/>
        </p:spPr>
        <p:txBody>
          <a:bodyPr wrap="square" lIns="0" rIns="0" tIns="0" bIns="0" anchor="ctr">
            <a:spAutoFit/>
          </a:bodyPr>
          <a:lstStyle/>
          <a:p>
            <a:pPr algn="ctr">
              <a:lnSpc>
                <a:spcPct val="115000"/>
              </a:lnSpc>
            </a:pPr>
            <a:r>
              <a:rPr sz="1150" b="1" i="0">
                <a:solidFill>
                  <a:srgbClr val="F0AB00"/>
                </a:solidFill>
                <a:latin typeface="Arial"/>
              </a:rPr>
              <a:t>ОДИН ФАЙЛ, ТРИ РАЗВИЛКИ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text-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822960" y="548640"/>
            <a:ext cx="1328927" cy="256032"/>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1616"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00272"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8961120" cy="1005840"/>
          </a:xfrm>
          <a:prstGeom prst="rect">
            <a:avLst/>
          </a:prstGeom>
          <a:noFill/>
        </p:spPr>
        <p:txBody>
          <a:bodyPr wrap="square" lIns="0" rIns="0" tIns="0" bIns="0" anchor="t">
            <a:spAutoFit/>
          </a:bodyPr>
          <a:lstStyle/>
          <a:p>
            <a:pPr algn="l">
              <a:lnSpc>
                <a:spcPct val="105000"/>
              </a:lnSpc>
            </a:pPr>
            <a:r>
              <a:rPr sz="3300" b="1" i="0">
                <a:solidFill>
                  <a:srgbClr val="FFFFFF"/>
                </a:solidFill>
                <a:latin typeface="Arial"/>
              </a:rPr>
              <a:t>Кейс 1.1 · роль агента и репозиторий</a:t>
            </a:r>
          </a:p>
        </p:txBody>
      </p:sp>
      <p:sp>
        <p:nvSpPr>
          <p:cNvPr id="9" name="TextBox 8"/>
          <p:cNvSpPr txBox="1"/>
          <p:nvPr/>
        </p:nvSpPr>
        <p:spPr>
          <a:xfrm>
            <a:off x="868680" y="3090672"/>
            <a:ext cx="8778240" cy="822960"/>
          </a:xfrm>
          <a:prstGeom prst="rect">
            <a:avLst/>
          </a:prstGeom>
          <a:noFill/>
        </p:spPr>
        <p:txBody>
          <a:bodyPr wrap="square" lIns="0" rIns="0" tIns="0" bIns="0" anchor="t">
            <a:spAutoFit/>
          </a:bodyPr>
          <a:lstStyle/>
          <a:p>
            <a:pPr algn="l">
              <a:lnSpc>
                <a:spcPct val="130000"/>
              </a:lnSpc>
            </a:pPr>
            <a:r>
              <a:rPr sz="1600" b="0" i="1">
                <a:solidFill>
                  <a:srgbClr val="CFDCEC"/>
                </a:solidFill>
                <a:latin typeface="Arial"/>
              </a:rPr>
              <a:t>Чем заполняется пустой файл инструкций</a:t>
            </a:r>
          </a:p>
        </p:txBody>
      </p:sp>
      <p:sp>
        <p:nvSpPr>
          <p:cNvPr id="10" name="Rounded Rectangle 9"/>
          <p:cNvSpPr/>
          <p:nvPr/>
        </p:nvSpPr>
        <p:spPr>
          <a:xfrm>
            <a:off x="868680" y="3950208"/>
            <a:ext cx="5486400" cy="502920"/>
          </a:xfrm>
          <a:prstGeom prst="roundRect">
            <a:avLst>
              <a:gd name="adj" fmla="val 28000"/>
            </a:avLst>
          </a:prstGeom>
          <a:solidFill>
            <a:srgbClr val="0B143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950208"/>
            <a:ext cx="4974336" cy="502920"/>
          </a:xfrm>
          <a:prstGeom prst="rect">
            <a:avLst/>
          </a:prstGeom>
          <a:noFill/>
        </p:spPr>
        <p:txBody>
          <a:bodyPr wrap="square" lIns="0" rIns="0" tIns="0" bIns="0" anchor="ctr">
            <a:spAutoFit/>
          </a:bodyPr>
          <a:lstStyle/>
          <a:p>
            <a:pPr algn="ctr">
              <a:lnSpc>
                <a:spcPct val="115000"/>
              </a:lnSpc>
            </a:pPr>
            <a:r>
              <a:rPr sz="1100" b="1" i="0">
                <a:solidFill>
                  <a:srgbClr val="028090"/>
                </a:solidFill>
                <a:latin typeface="Arial"/>
              </a:rPr>
              <a:t>ПЕРВОЕ РЕШЕНИЕ ПО КОНФИГУРАЦИИ</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1.1 · РОЛЬ И РЕПОЗИТОРИЙ</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Прототип собран, следующая сессия будет завтра — в CLAUDE.md уже есть строка гейта готовности, остальное пусто, а стандартный первый раздел такого файла называется «Repository overview»</a:t>
            </a:r>
          </a:p>
        </p:txBody>
      </p:sp>
      <p:sp>
        <p:nvSpPr>
          <p:cNvPr id="4" name="Rounded Rectangle 3"/>
          <p:cNvSpPr/>
          <p:nvPr/>
        </p:nvSpPr>
        <p:spPr>
          <a:xfrm>
            <a:off x="502920" y="2176272"/>
            <a:ext cx="5349240" cy="278892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377440"/>
            <a:ext cx="4946903"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состояние репозитория</a:t>
            </a:r>
          </a:p>
        </p:txBody>
      </p:sp>
      <p:sp>
        <p:nvSpPr>
          <p:cNvPr id="6" name="TextBox 5"/>
          <p:cNvSpPr txBox="1"/>
          <p:nvPr/>
        </p:nvSpPr>
        <p:spPr>
          <a:xfrm>
            <a:off x="704088" y="2688336"/>
            <a:ext cx="4946903" cy="2075687"/>
          </a:xfrm>
          <a:prstGeom prst="rect">
            <a:avLst/>
          </a:prstGeom>
          <a:noFill/>
        </p:spPr>
        <p:txBody>
          <a:bodyPr wrap="square" lIns="0" rIns="0" tIns="0" bIns="0" anchor="t">
            <a:spAutoFit/>
          </a:bodyPr>
          <a:lstStyle/>
          <a:p>
            <a:pPr algn="l">
              <a:lnSpc>
                <a:spcPct val="132000"/>
              </a:lnSpc>
              <a:spcAft>
                <a:spcPts val="200"/>
              </a:spcAft>
            </a:pPr>
            <a:r>
              <a:rPr sz="1150" b="0" i="0">
                <a:solidFill>
                  <a:srgbClr val="E3E9F2"/>
                </a:solidFill>
                <a:latin typeface="Consolas"/>
              </a:rPr>
              <a:t>README.md</a:t>
            </a:r>
          </a:p>
          <a:p>
            <a:pPr algn="l">
              <a:lnSpc>
                <a:spcPct val="132000"/>
              </a:lnSpc>
              <a:spcAft>
                <a:spcPts val="200"/>
              </a:spcAft>
            </a:pPr>
            <a:r>
              <a:rPr sz="1150" b="0" i="0">
                <a:solidFill>
                  <a:srgbClr val="E3E9F2"/>
                </a:solidFill>
                <a:latin typeface="Consolas"/>
              </a:rPr>
              <a:t>spec.md</a:t>
            </a:r>
          </a:p>
          <a:p>
            <a:pPr algn="l">
              <a:lnSpc>
                <a:spcPct val="132000"/>
              </a:lnSpc>
              <a:spcAft>
                <a:spcPts val="200"/>
              </a:spcAft>
            </a:pPr>
            <a:r>
              <a:rPr sz="1150" b="0" i="0">
                <a:solidFill>
                  <a:srgbClr val="E3E9F2"/>
                </a:solidFill>
                <a:latin typeface="Consolas"/>
              </a:rPr>
              <a:t>DECISIONS.md</a:t>
            </a:r>
          </a:p>
          <a:p>
            <a:pPr algn="l">
              <a:lnSpc>
                <a:spcPct val="132000"/>
              </a:lnSpc>
              <a:spcAft>
                <a:spcPts val="200"/>
              </a:spcAft>
            </a:pPr>
            <a:r>
              <a:rPr sz="1150" b="0" i="0">
                <a:solidFill>
                  <a:srgbClr val="E3E9F2"/>
                </a:solidFill>
                <a:latin typeface="Consolas"/>
              </a:rPr>
              <a:t>index.html</a:t>
            </a:r>
          </a:p>
          <a:p>
            <a:pPr algn="l">
              <a:lnSpc>
                <a:spcPct val="132000"/>
              </a:lnSpc>
              <a:spcAft>
                <a:spcPts val="200"/>
              </a:spcAft>
            </a:pPr>
            <a:r>
              <a:rPr sz="1150" b="0" i="0">
                <a:solidFill>
                  <a:srgbClr val="E3E9F2"/>
                </a:solidFill>
                <a:latin typeface="Consolas"/>
              </a:rPr>
              <a:t>package.json</a:t>
            </a:r>
          </a:p>
          <a:p>
            <a:pPr algn="l">
              <a:lnSpc>
                <a:spcPct val="132000"/>
              </a:lnSpc>
              <a:spcAft>
                <a:spcPts val="200"/>
              </a:spcAft>
            </a:pPr>
            <a:r>
              <a:rPr sz="1150" b="0" i="0">
                <a:solidFill>
                  <a:srgbClr val="E3E9F2"/>
                </a:solidFill>
                <a:latin typeface="Consolas"/>
              </a:rPr>
              <a:t>src/main.js</a:t>
            </a:r>
          </a:p>
          <a:p>
            <a:pPr algn="l">
              <a:lnSpc>
                <a:spcPct val="132000"/>
              </a:lnSpc>
              <a:spcAft>
                <a:spcPts val="200"/>
              </a:spcAft>
            </a:pPr>
            <a:r>
              <a:rPr sz="1150" b="0" i="0">
                <a:solidFill>
                  <a:srgbClr val="E3E9F2"/>
                </a:solidFill>
                <a:latin typeface="Consolas"/>
              </a:rPr>
              <a:t>tests/form.spec.ts</a:t>
            </a:r>
          </a:p>
          <a:p>
            <a:pPr algn="l">
              <a:lnSpc>
                <a:spcPct val="132000"/>
              </a:lnSpc>
              <a:spcAft>
                <a:spcPts val="200"/>
              </a:spcAft>
            </a:pPr>
            <a:r>
              <a:rPr sz="1150" b="1" i="0">
                <a:solidFill>
                  <a:srgbClr val="F0AB00"/>
                </a:solidFill>
                <a:latin typeface="Consolas"/>
              </a:rPr>
              <a:t>CLAUDE.md ← гейт есть, остальное пусто</a:t>
            </a:r>
          </a:p>
        </p:txBody>
      </p:sp>
      <p:sp>
        <p:nvSpPr>
          <p:cNvPr id="7" name="Rounded Rectangle 6"/>
          <p:cNvSpPr/>
          <p:nvPr/>
        </p:nvSpPr>
        <p:spPr>
          <a:xfrm>
            <a:off x="6153912" y="2176272"/>
            <a:ext cx="5349240" cy="278892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36792" y="2322576"/>
            <a:ext cx="4983479" cy="2496312"/>
          </a:xfrm>
          <a:prstGeom prst="rect">
            <a:avLst/>
          </a:prstGeom>
          <a:noFill/>
        </p:spPr>
        <p:txBody>
          <a:bodyPr wrap="square" lIns="0" rIns="0" tIns="0" bIns="0" anchor="ctr">
            <a:spAutoFit/>
          </a:bodyPr>
          <a:lstStyle/>
          <a:p>
            <a:pPr algn="l">
              <a:lnSpc>
                <a:spcPct val="130000"/>
              </a:lnSpc>
            </a:pPr>
            <a:r>
              <a:rPr sz="1300" b="0" i="0">
                <a:solidFill>
                  <a:srgbClr val="21295C"/>
                </a:solidFill>
                <a:latin typeface="Arial"/>
              </a:rPr>
              <a:t>Прототип работает, задач по нему ещё на несколько дней. Разработчик заводит CLAUDE.md, чтобы агент в следующих сессиях работал с проектом одинаково, и открывает файл — там одна строка, гейт готовности, остальное пусто.</a:t>
            </a:r>
          </a:p>
        </p:txBody>
      </p:sp>
      <p:sp>
        <p:nvSpPr>
          <p:cNvPr id="9" name="Rounded Rectangle 8"/>
          <p:cNvSpPr/>
          <p:nvPr/>
        </p:nvSpPr>
        <p:spPr>
          <a:xfrm>
            <a:off x="502920" y="5193792"/>
            <a:ext cx="11183112" cy="120700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266944"/>
            <a:ext cx="10780776" cy="1060704"/>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Первый раздел, с которого такой файл обычно начинается, — «Repository overview»: из чего собран сайт, где лежит форма, какая структура папок. Так устроено большинство файлов инструкций, которые можно открыть в публичных репозиториях.</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1.1 · ВОПРОС</a:t>
            </a:r>
          </a:p>
        </p:txBody>
      </p:sp>
      <p:sp>
        <p:nvSpPr>
          <p:cNvPr id="3" name="TextBox 2"/>
          <p:cNvSpPr txBox="1"/>
          <p:nvPr/>
        </p:nvSpPr>
        <p:spPr>
          <a:xfrm>
            <a:off x="502920" y="640080"/>
            <a:ext cx="11183112" cy="868680"/>
          </a:xfrm>
          <a:prstGeom prst="rect">
            <a:avLst/>
          </a:prstGeom>
          <a:noFill/>
        </p:spPr>
        <p:txBody>
          <a:bodyPr wrap="square" lIns="0" rIns="0" tIns="0" bIns="0" anchor="t">
            <a:spAutoFit/>
          </a:bodyPr>
          <a:lstStyle/>
          <a:p>
            <a:pPr algn="l">
              <a:lnSpc>
                <a:spcPct val="114000"/>
              </a:lnSpc>
            </a:pPr>
            <a:r>
              <a:rPr sz="1900" b="1" i="0">
                <a:solidFill>
                  <a:srgbClr val="21295C"/>
                </a:solidFill>
                <a:latin typeface="Arial"/>
              </a:rPr>
              <a:t>Выбор из пяти вариантов: что из перечисленного попадёт в файл сейчас, перед следующей сессией</a:t>
            </a:r>
          </a:p>
        </p:txBody>
      </p:sp>
      <p:sp>
        <p:nvSpPr>
          <p:cNvPr id="4" name="Rounded Rectangle 3"/>
          <p:cNvSpPr/>
          <p:nvPr/>
        </p:nvSpPr>
        <p:spPr>
          <a:xfrm>
            <a:off x="502920" y="1673351"/>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746504"/>
            <a:ext cx="10780776" cy="63093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«Перед вами пустой CLAUDE.md репозитория signup-landing. Выберите из карточек, что попадёт в файл сейчас, перед следующей сессией агента.»</a:t>
            </a:r>
          </a:p>
        </p:txBody>
      </p:sp>
      <p:sp>
        <p:nvSpPr>
          <p:cNvPr id="6" name="Rounded Rectangle 5"/>
          <p:cNvSpPr/>
          <p:nvPr/>
        </p:nvSpPr>
        <p:spPr>
          <a:xfrm>
            <a:off x="502920" y="265176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265176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подробное описание</a:t>
            </a:r>
          </a:p>
          <a:p>
            <a:pPr algn="ctr">
              <a:lnSpc>
                <a:spcPct val="115000"/>
              </a:lnSpc>
              <a:spcAft>
                <a:spcPts val="0"/>
              </a:spcAft>
            </a:pPr>
            <a:r>
              <a:rPr sz="1250" b="1" i="0">
                <a:solidFill>
                  <a:srgbClr val="21295C"/>
                </a:solidFill>
                <a:latin typeface="Arial"/>
              </a:rPr>
              <a:t>структуры репозитория</a:t>
            </a:r>
          </a:p>
        </p:txBody>
      </p:sp>
      <p:sp>
        <p:nvSpPr>
          <p:cNvPr id="8" name="Rounded Rectangle 7"/>
          <p:cNvSpPr/>
          <p:nvPr/>
        </p:nvSpPr>
        <p:spPr>
          <a:xfrm>
            <a:off x="2768803" y="265176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1955" y="265176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список технологий</a:t>
            </a:r>
          </a:p>
          <a:p>
            <a:pPr algn="ctr">
              <a:lnSpc>
                <a:spcPct val="115000"/>
              </a:lnSpc>
              <a:spcAft>
                <a:spcPts val="0"/>
              </a:spcAft>
            </a:pPr>
            <a:r>
              <a:rPr sz="1250" b="1" i="0">
                <a:solidFill>
                  <a:srgbClr val="21295C"/>
                </a:solidFill>
                <a:latin typeface="Arial"/>
              </a:rPr>
              <a:t>и зависимостей</a:t>
            </a:r>
          </a:p>
        </p:txBody>
      </p:sp>
      <p:sp>
        <p:nvSpPr>
          <p:cNvPr id="10" name="Rounded Rectangle 9"/>
          <p:cNvSpPr/>
          <p:nvPr/>
        </p:nvSpPr>
        <p:spPr>
          <a:xfrm>
            <a:off x="5034686" y="265176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7838" y="265176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инструкцию, где лежит</a:t>
            </a:r>
          </a:p>
          <a:p>
            <a:pPr algn="ctr">
              <a:lnSpc>
                <a:spcPct val="115000"/>
              </a:lnSpc>
              <a:spcAft>
                <a:spcPts val="0"/>
              </a:spcAft>
            </a:pPr>
            <a:r>
              <a:rPr sz="1250" b="1" i="0">
                <a:solidFill>
                  <a:srgbClr val="21295C"/>
                </a:solidFill>
                <a:latin typeface="Arial"/>
              </a:rPr>
              <a:t>форма и как её найти</a:t>
            </a:r>
          </a:p>
        </p:txBody>
      </p:sp>
      <p:sp>
        <p:nvSpPr>
          <p:cNvPr id="12" name="Rounded Rectangle 11"/>
          <p:cNvSpPr/>
          <p:nvPr/>
        </p:nvSpPr>
        <p:spPr>
          <a:xfrm>
            <a:off x="7300569" y="265176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3721" y="265176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неочевидную конвенцию,</a:t>
            </a:r>
          </a:p>
          <a:p>
            <a:pPr algn="ctr">
              <a:lnSpc>
                <a:spcPct val="115000"/>
              </a:lnSpc>
              <a:spcAft>
                <a:spcPts val="0"/>
              </a:spcAft>
            </a:pPr>
            <a:r>
              <a:rPr sz="1250" b="1" i="0">
                <a:solidFill>
                  <a:srgbClr val="21295C"/>
                </a:solidFill>
                <a:latin typeface="Arial"/>
              </a:rPr>
              <a:t>которую агент не угадает сам</a:t>
            </a:r>
          </a:p>
        </p:txBody>
      </p:sp>
      <p:sp>
        <p:nvSpPr>
          <p:cNvPr id="14" name="Rounded Rectangle 13"/>
          <p:cNvSpPr/>
          <p:nvPr/>
        </p:nvSpPr>
        <p:spPr>
          <a:xfrm>
            <a:off x="9566452" y="265176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39604" y="265176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пока ничего — до</a:t>
            </a:r>
          </a:p>
          <a:p>
            <a:pPr algn="ctr">
              <a:lnSpc>
                <a:spcPct val="115000"/>
              </a:lnSpc>
              <a:spcAft>
                <a:spcPts val="0"/>
              </a:spcAft>
            </a:pPr>
            <a:r>
              <a:rPr sz="1250" b="1" i="0">
                <a:solidFill>
                  <a:srgbClr val="21295C"/>
                </a:solidFill>
                <a:latin typeface="Arial"/>
              </a:rPr>
              <a:t>первого реального сигнала</a:t>
            </a:r>
          </a:p>
        </p:txBody>
      </p:sp>
      <p:sp>
        <p:nvSpPr>
          <p:cNvPr id="16" name="TextBox 15"/>
          <p:cNvSpPr txBox="1"/>
          <p:nvPr/>
        </p:nvSpPr>
        <p:spPr>
          <a:xfrm>
            <a:off x="502920" y="4398264"/>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разбор — на следующем слайде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1.1 · ИССЛЕДОВАНИЕ И РАЗБОР</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Repository overview измеримо не повышает успешность и стоит контекста — а структурированное описание, если оно нужно, живёт в README.md и не дублируется в CLAUDE.md</a:t>
            </a:r>
          </a:p>
        </p:txBody>
      </p:sp>
      <p:sp>
        <p:nvSpPr>
          <p:cNvPr id="4" name="Rounded Rectangle 3"/>
          <p:cNvSpPr/>
          <p:nvPr/>
        </p:nvSpPr>
        <p:spPr>
          <a:xfrm>
            <a:off x="502920" y="2176272"/>
            <a:ext cx="11183112" cy="1554480"/>
          </a:xfrm>
          <a:prstGeom prst="roundRect">
            <a:avLst>
              <a:gd name="adj" fmla="val 196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59152"/>
            <a:ext cx="2955706"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Источник</a:t>
            </a:r>
          </a:p>
        </p:txBody>
      </p:sp>
      <p:sp>
        <p:nvSpPr>
          <p:cNvPr id="6" name="TextBox 5"/>
          <p:cNvSpPr txBox="1"/>
          <p:nvPr/>
        </p:nvSpPr>
        <p:spPr>
          <a:xfrm>
            <a:off x="3714658" y="2359152"/>
            <a:ext cx="5335524"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Тезис</a:t>
            </a:r>
          </a:p>
        </p:txBody>
      </p:sp>
      <p:sp>
        <p:nvSpPr>
          <p:cNvPr id="7" name="TextBox 6"/>
          <p:cNvSpPr txBox="1"/>
          <p:nvPr/>
        </p:nvSpPr>
        <p:spPr>
          <a:xfrm>
            <a:off x="9123334" y="2359152"/>
            <a:ext cx="2306665"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Сила</a:t>
            </a:r>
          </a:p>
        </p:txBody>
      </p:sp>
      <p:sp>
        <p:nvSpPr>
          <p:cNvPr id="8" name="Rectangle 7"/>
          <p:cNvSpPr/>
          <p:nvPr/>
        </p:nvSpPr>
        <p:spPr>
          <a:xfrm>
            <a:off x="557784" y="2743200"/>
            <a:ext cx="11073384" cy="201168"/>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743200"/>
            <a:ext cx="2937418"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Gloaguen et al., arXiv:2602.11988</a:t>
            </a:r>
          </a:p>
        </p:txBody>
      </p:sp>
      <p:sp>
        <p:nvSpPr>
          <p:cNvPr id="10" name="TextBox 9"/>
          <p:cNvSpPr txBox="1"/>
          <p:nvPr/>
        </p:nvSpPr>
        <p:spPr>
          <a:xfrm>
            <a:off x="3714658" y="2743200"/>
            <a:ext cx="5317236"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«are not helpful» — шагов до файла не падает; cost +20–23% без прироста success</a:t>
            </a:r>
          </a:p>
        </p:txBody>
      </p:sp>
      <p:sp>
        <p:nvSpPr>
          <p:cNvPr id="11" name="TextBox 10"/>
          <p:cNvSpPr txBox="1"/>
          <p:nvPr/>
        </p:nvSpPr>
        <p:spPr>
          <a:xfrm>
            <a:off x="9123334" y="2743200"/>
            <a:ext cx="2288377"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Сильное: контролируемый эксперимент</a:t>
            </a:r>
          </a:p>
        </p:txBody>
      </p:sp>
      <p:cxnSp>
        <p:nvCxnSpPr>
          <p:cNvPr id="12" name="Connector 11"/>
          <p:cNvCxnSpPr/>
          <p:nvPr/>
        </p:nvCxnSpPr>
        <p:spPr>
          <a:xfrm>
            <a:off x="685800" y="294436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944368"/>
            <a:ext cx="2937418"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Та же работа, абляция</a:t>
            </a:r>
          </a:p>
        </p:txBody>
      </p:sp>
      <p:sp>
        <p:nvSpPr>
          <p:cNvPr id="14" name="TextBox 13"/>
          <p:cNvSpPr txBox="1"/>
          <p:nvPr/>
        </p:nvSpPr>
        <p:spPr>
          <a:xfrm>
            <a:off x="3714658" y="2944368"/>
            <a:ext cx="5317236"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Убрали README — LLM-overview стал полезен (+2,7%)</a:t>
            </a:r>
          </a:p>
        </p:txBody>
      </p:sp>
      <p:sp>
        <p:nvSpPr>
          <p:cNvPr id="15" name="TextBox 14"/>
          <p:cNvSpPr txBox="1"/>
          <p:nvPr/>
        </p:nvSpPr>
        <p:spPr>
          <a:xfrm>
            <a:off x="9123334" y="2944368"/>
            <a:ext cx="2288377"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Подтверждает механизм</a:t>
            </a:r>
          </a:p>
        </p:txBody>
      </p:sp>
      <p:cxnSp>
        <p:nvCxnSpPr>
          <p:cNvPr id="16" name="Connector 15"/>
          <p:cNvCxnSpPr/>
          <p:nvPr/>
        </p:nvCxnSpPr>
        <p:spPr>
          <a:xfrm>
            <a:off x="685800" y="314553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3145536"/>
            <a:ext cx="2937418"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Lulla et al., arXiv:2601.20404</a:t>
            </a:r>
          </a:p>
        </p:txBody>
      </p:sp>
      <p:sp>
        <p:nvSpPr>
          <p:cNvPr id="18" name="TextBox 17"/>
          <p:cNvSpPr txBox="1"/>
          <p:nvPr/>
        </p:nvSpPr>
        <p:spPr>
          <a:xfrm>
            <a:off x="3714658" y="3145536"/>
            <a:ext cx="5317236"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AGENTS.md про недискаверабельные конвенции: −28,6% runtime (124 PR)</a:t>
            </a:r>
          </a:p>
        </p:txBody>
      </p:sp>
      <p:sp>
        <p:nvSpPr>
          <p:cNvPr id="19" name="TextBox 18"/>
          <p:cNvSpPr txBox="1"/>
          <p:nvPr/>
        </p:nvSpPr>
        <p:spPr>
          <a:xfrm>
            <a:off x="9123334" y="3145536"/>
            <a:ext cx="2288377"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Умеренно «за» — не общее описание</a:t>
            </a:r>
          </a:p>
        </p:txBody>
      </p:sp>
      <p:cxnSp>
        <p:nvCxnSpPr>
          <p:cNvPr id="20" name="Connector 19"/>
          <p:cNvCxnSpPr/>
          <p:nvPr/>
        </p:nvCxnSpPr>
        <p:spPr>
          <a:xfrm>
            <a:off x="685800" y="334670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3346704"/>
            <a:ext cx="2937418"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Shepard &amp; Albrecht, arXiv:2606.20512</a:t>
            </a:r>
          </a:p>
        </p:txBody>
      </p:sp>
      <p:sp>
        <p:nvSpPr>
          <p:cNvPr id="22" name="TextBox 21"/>
          <p:cNvSpPr txBox="1"/>
          <p:nvPr/>
        </p:nvSpPr>
        <p:spPr>
          <a:xfrm>
            <a:off x="3714658" y="3346704"/>
            <a:ext cx="5317236"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Статичное guidance (28,3%) хуже верифицированного (33,0%, p&lt;0,001)</a:t>
            </a:r>
          </a:p>
        </p:txBody>
      </p:sp>
      <p:sp>
        <p:nvSpPr>
          <p:cNvPr id="23" name="TextBox 22"/>
          <p:cNvSpPr txBox="1"/>
          <p:nvPr/>
        </p:nvSpPr>
        <p:spPr>
          <a:xfrm>
            <a:off x="9123334" y="3346704"/>
            <a:ext cx="2288377" cy="20116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Косвенное</a:t>
            </a:r>
          </a:p>
        </p:txBody>
      </p:sp>
      <p:sp>
        <p:nvSpPr>
          <p:cNvPr id="24" name="Rounded Rectangle 23"/>
          <p:cNvSpPr/>
          <p:nvPr/>
        </p:nvSpPr>
        <p:spPr>
          <a:xfrm>
            <a:off x="502920" y="3840480"/>
            <a:ext cx="11183112" cy="1508760"/>
          </a:xfrm>
          <a:prstGeom prst="roundRect">
            <a:avLst>
              <a:gd name="adj" fmla="val 2020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023360"/>
            <a:ext cx="3172053"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Вариант</a:t>
            </a:r>
          </a:p>
        </p:txBody>
      </p:sp>
      <p:sp>
        <p:nvSpPr>
          <p:cNvPr id="26" name="TextBox 25"/>
          <p:cNvSpPr txBox="1"/>
          <p:nvPr/>
        </p:nvSpPr>
        <p:spPr>
          <a:xfrm>
            <a:off x="3931005" y="4023360"/>
            <a:ext cx="2955706"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Где работает</a:t>
            </a:r>
          </a:p>
        </p:txBody>
      </p:sp>
      <p:sp>
        <p:nvSpPr>
          <p:cNvPr id="27" name="TextBox 26"/>
          <p:cNvSpPr txBox="1"/>
          <p:nvPr/>
        </p:nvSpPr>
        <p:spPr>
          <a:xfrm>
            <a:off x="6959864" y="4023360"/>
            <a:ext cx="4470135"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Почему рано — что вместо</a:t>
            </a:r>
          </a:p>
        </p:txBody>
      </p:sp>
      <p:sp>
        <p:nvSpPr>
          <p:cNvPr id="28" name="TextBox 27"/>
          <p:cNvSpPr txBox="1"/>
          <p:nvPr/>
        </p:nvSpPr>
        <p:spPr>
          <a:xfrm>
            <a:off x="685800" y="4407408"/>
            <a:ext cx="3153765"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«Описание структуры»</a:t>
            </a:r>
          </a:p>
        </p:txBody>
      </p:sp>
      <p:sp>
        <p:nvSpPr>
          <p:cNvPr id="29" name="TextBox 28"/>
          <p:cNvSpPr txBox="1"/>
          <p:nvPr/>
        </p:nvSpPr>
        <p:spPr>
          <a:xfrm>
            <a:off x="3931005" y="4407408"/>
            <a:ext cx="2937418"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Почти нигде</a:t>
            </a:r>
          </a:p>
        </p:txBody>
      </p:sp>
      <p:sp>
        <p:nvSpPr>
          <p:cNvPr id="30" name="TextBox 29"/>
          <p:cNvSpPr txBox="1"/>
          <p:nvPr/>
        </p:nvSpPr>
        <p:spPr>
          <a:xfrm>
            <a:off x="6959864" y="4407408"/>
            <a:ext cx="4451847"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Агент выведет сам за секунды; устареет</a:t>
            </a:r>
          </a:p>
        </p:txBody>
      </p:sp>
      <p:cxnSp>
        <p:nvCxnSpPr>
          <p:cNvPr id="31" name="Connector 30"/>
          <p:cNvCxnSpPr/>
          <p:nvPr/>
        </p:nvCxnSpPr>
        <p:spPr>
          <a:xfrm>
            <a:off x="685800" y="455919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 y="4559198"/>
            <a:ext cx="3153765"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«Список технологий»</a:t>
            </a:r>
          </a:p>
        </p:txBody>
      </p:sp>
      <p:sp>
        <p:nvSpPr>
          <p:cNvPr id="33" name="TextBox 32"/>
          <p:cNvSpPr txBox="1"/>
          <p:nvPr/>
        </p:nvSpPr>
        <p:spPr>
          <a:xfrm>
            <a:off x="3931005" y="4559198"/>
            <a:ext cx="2937418"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Версии критичны, не видны</a:t>
            </a:r>
          </a:p>
        </p:txBody>
      </p:sp>
      <p:sp>
        <p:nvSpPr>
          <p:cNvPr id="34" name="TextBox 33"/>
          <p:cNvSpPr txBox="1"/>
          <p:nvPr/>
        </p:nvSpPr>
        <p:spPr>
          <a:xfrm>
            <a:off x="6959864" y="4559198"/>
            <a:ext cx="4451847"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Обычно тоже выводимо</a:t>
            </a:r>
          </a:p>
        </p:txBody>
      </p:sp>
      <p:cxnSp>
        <p:nvCxnSpPr>
          <p:cNvPr id="35" name="Connector 34"/>
          <p:cNvCxnSpPr/>
          <p:nvPr/>
        </p:nvCxnSpPr>
        <p:spPr>
          <a:xfrm>
            <a:off x="685800" y="471098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5800" y="4710988"/>
            <a:ext cx="3153765"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«Инструкция, где форма»</a:t>
            </a:r>
          </a:p>
        </p:txBody>
      </p:sp>
      <p:sp>
        <p:nvSpPr>
          <p:cNvPr id="37" name="TextBox 36"/>
          <p:cNvSpPr txBox="1"/>
          <p:nvPr/>
        </p:nvSpPr>
        <p:spPr>
          <a:xfrm>
            <a:off x="3931005" y="4710988"/>
            <a:ext cx="2937418"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Почти нигде на малом репо</a:t>
            </a:r>
          </a:p>
        </p:txBody>
      </p:sp>
      <p:sp>
        <p:nvSpPr>
          <p:cNvPr id="38" name="TextBox 37"/>
          <p:cNvSpPr txBox="1"/>
          <p:nvPr/>
        </p:nvSpPr>
        <p:spPr>
          <a:xfrm>
            <a:off x="6959864" y="4710988"/>
            <a:ext cx="4451847"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Шесть файлов — вся структура на одном экране</a:t>
            </a:r>
          </a:p>
        </p:txBody>
      </p:sp>
      <p:cxnSp>
        <p:nvCxnSpPr>
          <p:cNvPr id="39" name="Connector 38"/>
          <p:cNvCxnSpPr/>
          <p:nvPr/>
        </p:nvCxnSpPr>
        <p:spPr>
          <a:xfrm>
            <a:off x="685800" y="486277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5800" y="4862779"/>
            <a:ext cx="3153765"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«Неочевидная конвенция»</a:t>
            </a:r>
          </a:p>
        </p:txBody>
      </p:sp>
      <p:sp>
        <p:nvSpPr>
          <p:cNvPr id="41" name="TextBox 40"/>
          <p:cNvSpPr txBox="1"/>
          <p:nvPr/>
        </p:nvSpPr>
        <p:spPr>
          <a:xfrm>
            <a:off x="3931005" y="4862779"/>
            <a:ext cx="2937418"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Когда реально есть</a:t>
            </a:r>
          </a:p>
        </p:txBody>
      </p:sp>
      <p:sp>
        <p:nvSpPr>
          <p:cNvPr id="42" name="TextBox 41"/>
          <p:cNvSpPr txBox="1"/>
          <p:nvPr/>
        </p:nvSpPr>
        <p:spPr>
          <a:xfrm>
            <a:off x="6959864" y="4862779"/>
            <a:ext cx="4451847"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Такой конвенции ещё нет</a:t>
            </a:r>
          </a:p>
        </p:txBody>
      </p:sp>
      <p:cxnSp>
        <p:nvCxnSpPr>
          <p:cNvPr id="43" name="Connector 42"/>
          <p:cNvCxnSpPr/>
          <p:nvPr/>
        </p:nvCxnSpPr>
        <p:spPr>
          <a:xfrm>
            <a:off x="685800" y="501456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57784" y="5014569"/>
            <a:ext cx="11073384" cy="15179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5014569"/>
            <a:ext cx="3153765"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«Пока ничего — до сигнала»</a:t>
            </a:r>
          </a:p>
        </p:txBody>
      </p:sp>
      <p:sp>
        <p:nvSpPr>
          <p:cNvPr id="46" name="TextBox 45"/>
          <p:cNvSpPr txBox="1"/>
          <p:nvPr/>
        </p:nvSpPr>
        <p:spPr>
          <a:xfrm>
            <a:off x="3931005" y="5014569"/>
            <a:ext cx="2937418"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Здесь и сейчас</a:t>
            </a:r>
          </a:p>
        </p:txBody>
      </p:sp>
      <p:sp>
        <p:nvSpPr>
          <p:cNvPr id="47" name="TextBox 46"/>
          <p:cNvSpPr txBox="1"/>
          <p:nvPr/>
        </p:nvSpPr>
        <p:spPr>
          <a:xfrm>
            <a:off x="6959864" y="5014569"/>
            <a:ext cx="4451847" cy="151790"/>
          </a:xfrm>
          <a:prstGeom prst="rect">
            <a:avLst/>
          </a:prstGeom>
          <a:noFill/>
        </p:spPr>
        <p:txBody>
          <a:bodyPr wrap="square" lIns="0" rIns="0" tIns="0" bIns="0" anchor="ctr">
            <a:spAutoFit/>
          </a:bodyPr>
          <a:lstStyle/>
          <a:p>
            <a:pPr algn="l">
              <a:lnSpc>
                <a:spcPct val="115000"/>
              </a:lnSpc>
            </a:pPr>
            <a:r>
              <a:rPr sz="880" b="0" i="0">
                <a:solidFill>
                  <a:srgbClr val="21295C"/>
                </a:solidFill>
                <a:latin typeface="Arial"/>
              </a:rPr>
              <a:t>ЦЕЛЕВОЙ ОТВЕТ</a:t>
            </a:r>
          </a:p>
        </p:txBody>
      </p:sp>
      <p:sp>
        <p:nvSpPr>
          <p:cNvPr id="48" name="Rounded Rectangle 47"/>
          <p:cNvSpPr/>
          <p:nvPr/>
        </p:nvSpPr>
        <p:spPr>
          <a:xfrm>
            <a:off x="502920" y="5550408"/>
            <a:ext cx="11183112" cy="850391"/>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4088" y="5623560"/>
            <a:ext cx="10780776" cy="704087"/>
          </a:xfrm>
          <a:prstGeom prst="rect">
            <a:avLst/>
          </a:prstGeom>
          <a:noFill/>
        </p:spPr>
        <p:txBody>
          <a:bodyPr wrap="square" lIns="0" rIns="0" tIns="0" bIns="0" anchor="ctr">
            <a:spAutoFit/>
          </a:bodyPr>
          <a:lstStyle/>
          <a:p>
            <a:pPr algn="l">
              <a:lnSpc>
                <a:spcPct val="122000"/>
              </a:lnSpc>
            </a:pPr>
            <a:r>
              <a:rPr sz="1200" b="1" i="0">
                <a:solidFill>
                  <a:srgbClr val="21295C"/>
                </a:solidFill>
                <a:latin typeface="Arial"/>
              </a:rPr>
              <a:t>README, не AGENTS.md: структурированное описание репозитория должно существовать — этот кейс не отменяет потребность в нём, он называет место. Оно живёт в README.md, заведённом первым коммитом, а не дублируется в CLAUDE.md. Отдельный «Repository overview» в файле инструкций не нужен: описание уже есть, просто в другом файле.</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1.1 · РЕШЕНИЕ</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Описания структуры репозитория в CLAUDE.md не появляется: сигнала для него нет — а первое содержимое у файла появится уже в следующем кейсе, и по другой причине</a:t>
            </a:r>
          </a:p>
        </p:txBody>
      </p:sp>
      <p:sp>
        <p:nvSpPr>
          <p:cNvPr id="4" name="Rounded Rectangle 3"/>
          <p:cNvSpPr/>
          <p:nvPr/>
        </p:nvSpPr>
        <p:spPr>
          <a:xfrm>
            <a:off x="502920" y="1993392"/>
            <a:ext cx="11183112" cy="283464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194560"/>
            <a:ext cx="10780776"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состояние репозитория</a:t>
            </a:r>
          </a:p>
        </p:txBody>
      </p:sp>
      <p:sp>
        <p:nvSpPr>
          <p:cNvPr id="6" name="TextBox 5"/>
          <p:cNvSpPr txBox="1"/>
          <p:nvPr/>
        </p:nvSpPr>
        <p:spPr>
          <a:xfrm>
            <a:off x="704088" y="2505456"/>
            <a:ext cx="10780776" cy="2121408"/>
          </a:xfrm>
          <a:prstGeom prst="rect">
            <a:avLst/>
          </a:prstGeom>
          <a:noFill/>
        </p:spPr>
        <p:txBody>
          <a:bodyPr wrap="square" lIns="0" rIns="0" tIns="0" bIns="0" anchor="t">
            <a:spAutoFit/>
          </a:bodyPr>
          <a:lstStyle/>
          <a:p>
            <a:pPr algn="l">
              <a:lnSpc>
                <a:spcPct val="132000"/>
              </a:lnSpc>
              <a:spcAft>
                <a:spcPts val="200"/>
              </a:spcAft>
            </a:pPr>
            <a:r>
              <a:rPr sz="1150" b="0" i="0">
                <a:solidFill>
                  <a:srgbClr val="E3E9F2"/>
                </a:solidFill>
                <a:latin typeface="Consolas"/>
              </a:rPr>
              <a:t>README.md</a:t>
            </a:r>
          </a:p>
          <a:p>
            <a:pPr algn="l">
              <a:lnSpc>
                <a:spcPct val="132000"/>
              </a:lnSpc>
              <a:spcAft>
                <a:spcPts val="200"/>
              </a:spcAft>
            </a:pPr>
            <a:r>
              <a:rPr sz="1150" b="0" i="0">
                <a:solidFill>
                  <a:srgbClr val="E3E9F2"/>
                </a:solidFill>
                <a:latin typeface="Consolas"/>
              </a:rPr>
              <a:t>spec.md</a:t>
            </a:r>
          </a:p>
          <a:p>
            <a:pPr algn="l">
              <a:lnSpc>
                <a:spcPct val="132000"/>
              </a:lnSpc>
              <a:spcAft>
                <a:spcPts val="200"/>
              </a:spcAft>
            </a:pPr>
            <a:r>
              <a:rPr sz="1150" b="0" i="0">
                <a:solidFill>
                  <a:srgbClr val="E3E9F2"/>
                </a:solidFill>
                <a:latin typeface="Consolas"/>
              </a:rPr>
              <a:t>DECISIONS.md</a:t>
            </a:r>
          </a:p>
          <a:p>
            <a:pPr algn="l">
              <a:lnSpc>
                <a:spcPct val="132000"/>
              </a:lnSpc>
              <a:spcAft>
                <a:spcPts val="200"/>
              </a:spcAft>
            </a:pPr>
            <a:r>
              <a:rPr sz="1150" b="0" i="0">
                <a:solidFill>
                  <a:srgbClr val="E3E9F2"/>
                </a:solidFill>
                <a:latin typeface="Consolas"/>
              </a:rPr>
              <a:t>index.html</a:t>
            </a:r>
          </a:p>
          <a:p>
            <a:pPr algn="l">
              <a:lnSpc>
                <a:spcPct val="132000"/>
              </a:lnSpc>
              <a:spcAft>
                <a:spcPts val="200"/>
              </a:spcAft>
            </a:pPr>
            <a:r>
              <a:rPr sz="1150" b="0" i="0">
                <a:solidFill>
                  <a:srgbClr val="E3E9F2"/>
                </a:solidFill>
                <a:latin typeface="Consolas"/>
              </a:rPr>
              <a:t>package.json</a:t>
            </a:r>
          </a:p>
          <a:p>
            <a:pPr algn="l">
              <a:lnSpc>
                <a:spcPct val="132000"/>
              </a:lnSpc>
              <a:spcAft>
                <a:spcPts val="200"/>
              </a:spcAft>
            </a:pPr>
            <a:r>
              <a:rPr sz="1150" b="0" i="0">
                <a:solidFill>
                  <a:srgbClr val="E3E9F2"/>
                </a:solidFill>
                <a:latin typeface="Consolas"/>
              </a:rPr>
              <a:t>src/main.js</a:t>
            </a:r>
          </a:p>
          <a:p>
            <a:pPr algn="l">
              <a:lnSpc>
                <a:spcPct val="132000"/>
              </a:lnSpc>
              <a:spcAft>
                <a:spcPts val="200"/>
              </a:spcAft>
            </a:pPr>
            <a:r>
              <a:rPr sz="1150" b="0" i="0">
                <a:solidFill>
                  <a:srgbClr val="E3E9F2"/>
                </a:solidFill>
                <a:latin typeface="Consolas"/>
              </a:rPr>
              <a:t>tests/form.spec.ts</a:t>
            </a:r>
          </a:p>
          <a:p>
            <a:pPr algn="l">
              <a:lnSpc>
                <a:spcPct val="132000"/>
              </a:lnSpc>
              <a:spcAft>
                <a:spcPts val="200"/>
              </a:spcAft>
            </a:pPr>
            <a:r>
              <a:rPr sz="1150" b="1" i="0">
                <a:solidFill>
                  <a:srgbClr val="F0AB00"/>
                </a:solidFill>
                <a:latin typeface="Consolas"/>
              </a:rPr>
              <a:t>CLAUDE.md        ← заведён, по-прежнему пуст</a:t>
            </a:r>
          </a:p>
        </p:txBody>
      </p:sp>
      <p:sp>
        <p:nvSpPr>
          <p:cNvPr id="7" name="Rounded Rectangle 6"/>
          <p:cNvSpPr/>
          <p:nvPr/>
        </p:nvSpPr>
        <p:spPr>
          <a:xfrm>
            <a:off x="502920" y="5029200"/>
            <a:ext cx="11183112" cy="137160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5102352"/>
            <a:ext cx="10780776" cy="1225296"/>
          </a:xfrm>
          <a:prstGeom prst="rect">
            <a:avLst/>
          </a:prstGeom>
          <a:noFill/>
        </p:spPr>
        <p:txBody>
          <a:bodyPr wrap="square" lIns="0" rIns="0" tIns="0" bIns="0" anchor="ctr">
            <a:spAutoFit/>
          </a:bodyPr>
          <a:lstStyle/>
          <a:p>
            <a:pPr algn="ctr">
              <a:lnSpc>
                <a:spcPct val="122000"/>
              </a:lnSpc>
            </a:pPr>
            <a:r>
              <a:rPr sz="1550" b="1" i="0">
                <a:solidFill>
                  <a:srgbClr val="21295C"/>
                </a:solidFill>
                <a:latin typeface="Arial"/>
              </a:rPr>
              <a:t>«Описания структуры репозитория в файле нет: сигнала для него нет. Пусто — не навсегда: часть содержимого CLAUDE.md появится в нём уже на этой неделе, и по другой причине — не по сигналу, а как базовая практика.»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text-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822960"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1616" y="548640"/>
            <a:ext cx="1328927" cy="256032"/>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00272"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8961120" cy="1005840"/>
          </a:xfrm>
          <a:prstGeom prst="rect">
            <a:avLst/>
          </a:prstGeom>
          <a:noFill/>
        </p:spPr>
        <p:txBody>
          <a:bodyPr wrap="square" lIns="0" rIns="0" tIns="0" bIns="0" anchor="t">
            <a:spAutoFit/>
          </a:bodyPr>
          <a:lstStyle/>
          <a:p>
            <a:pPr algn="l">
              <a:lnSpc>
                <a:spcPct val="105000"/>
              </a:lnSpc>
            </a:pPr>
            <a:r>
              <a:rPr sz="3300" b="1" i="0">
                <a:solidFill>
                  <a:srgbClr val="FFFFFF"/>
                </a:solidFill>
                <a:latin typeface="Arial"/>
              </a:rPr>
              <a:t>Кейс 1.2 · базовые процессы</a:t>
            </a:r>
          </a:p>
        </p:txBody>
      </p:sp>
      <p:sp>
        <p:nvSpPr>
          <p:cNvPr id="9" name="TextBox 8"/>
          <p:cNvSpPr txBox="1"/>
          <p:nvPr/>
        </p:nvSpPr>
        <p:spPr>
          <a:xfrm>
            <a:off x="868680" y="3090672"/>
            <a:ext cx="8778240" cy="822960"/>
          </a:xfrm>
          <a:prstGeom prst="rect">
            <a:avLst/>
          </a:prstGeom>
          <a:noFill/>
        </p:spPr>
        <p:txBody>
          <a:bodyPr wrap="square" lIns="0" rIns="0" tIns="0" bIns="0" anchor="t">
            <a:spAutoFit/>
          </a:bodyPr>
          <a:lstStyle/>
          <a:p>
            <a:pPr algn="l">
              <a:lnSpc>
                <a:spcPct val="130000"/>
              </a:lnSpc>
            </a:pPr>
            <a:r>
              <a:rPr sz="1600" b="0" i="1">
                <a:solidFill>
                  <a:srgbClr val="CFDCEC"/>
                </a:solidFill>
                <a:latin typeface="Arial"/>
              </a:rPr>
              <a:t>Гейт готовности и цикл «план → код → улучшение» — то, что лежит в файле с первого дня</a:t>
            </a:r>
          </a:p>
        </p:txBody>
      </p:sp>
      <p:sp>
        <p:nvSpPr>
          <p:cNvPr id="10" name="Rounded Rectangle 9"/>
          <p:cNvSpPr/>
          <p:nvPr/>
        </p:nvSpPr>
        <p:spPr>
          <a:xfrm>
            <a:off x="868680" y="3950208"/>
            <a:ext cx="5486400" cy="502920"/>
          </a:xfrm>
          <a:prstGeom prst="roundRect">
            <a:avLst>
              <a:gd name="adj" fmla="val 28000"/>
            </a:avLst>
          </a:prstGeom>
          <a:solidFill>
            <a:srgbClr val="0B143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950208"/>
            <a:ext cx="4974336" cy="502920"/>
          </a:xfrm>
          <a:prstGeom prst="rect">
            <a:avLst/>
          </a:prstGeom>
          <a:noFill/>
        </p:spPr>
        <p:txBody>
          <a:bodyPr wrap="square" lIns="0" rIns="0" tIns="0" bIns="0" anchor="ctr">
            <a:spAutoFit/>
          </a:bodyPr>
          <a:lstStyle/>
          <a:p>
            <a:pPr algn="ctr">
              <a:lnSpc>
                <a:spcPct val="115000"/>
              </a:lnSpc>
            </a:pPr>
            <a:r>
              <a:rPr sz="1100" b="1" i="0">
                <a:solidFill>
                  <a:srgbClr val="028090"/>
                </a:solidFill>
                <a:latin typeface="Arial"/>
              </a:rPr>
              <a:t>ГЕЙТ ГОТОВНОСТИ В ФАЙЛЕ ИНСТРУКЦИЙ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1.2 · БАЗОВЫЕ ПРОЦЕССЫ</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Гейт готовности лежит в CLAUDE.md с дня 0 — и дважды подряд «готово» прозвучало до того, как доставку заявки проверили руками</a:t>
            </a:r>
          </a:p>
        </p:txBody>
      </p:sp>
      <p:sp>
        <p:nvSpPr>
          <p:cNvPr id="4" name="Rounded Rectangle 3"/>
          <p:cNvSpPr/>
          <p:nvPr/>
        </p:nvSpPr>
        <p:spPr>
          <a:xfrm>
            <a:off x="502920" y="1810512"/>
            <a:ext cx="11183112"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938528"/>
            <a:ext cx="10698480" cy="1435608"/>
          </a:xfrm>
          <a:prstGeom prst="rect">
            <a:avLst/>
          </a:prstGeom>
          <a:noFill/>
        </p:spPr>
        <p:txBody>
          <a:bodyPr wrap="square" lIns="0" rIns="0" tIns="0" bIns="0" anchor="ctr">
            <a:spAutoFit/>
          </a:bodyPr>
          <a:lstStyle/>
          <a:p>
            <a:pPr algn="l">
              <a:lnSpc>
                <a:spcPct val="128000"/>
              </a:lnSpc>
            </a:pPr>
            <a:r>
              <a:rPr sz="1300" b="0" i="0">
                <a:solidFill>
                  <a:srgbClr val="21295C"/>
                </a:solidFill>
                <a:latin typeface="Arial"/>
              </a:rPr>
              <a:t>День 0: гейт готовности записан в CLAUDE.md тем же днём, что и spec.md — «Всегда прогоняй тесты и вручную проверяй результат перед тем как сказать ‘готово’».</a:t>
            </a:r>
          </a:p>
        </p:txBody>
      </p:sp>
      <p:sp>
        <p:nvSpPr>
          <p:cNvPr id="6" name="Rounded Rectangle 5"/>
          <p:cNvSpPr/>
          <p:nvPr/>
        </p:nvSpPr>
        <p:spPr>
          <a:xfrm>
            <a:off x="502920" y="3685032"/>
            <a:ext cx="11183112"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813048"/>
            <a:ext cx="10698480" cy="1435608"/>
          </a:xfrm>
          <a:prstGeom prst="rect">
            <a:avLst/>
          </a:prstGeom>
          <a:noFill/>
        </p:spPr>
        <p:txBody>
          <a:bodyPr wrap="square" lIns="0" rIns="0" tIns="0" bIns="0" anchor="ctr">
            <a:spAutoFit/>
          </a:bodyPr>
          <a:lstStyle/>
          <a:p>
            <a:pPr algn="l">
              <a:lnSpc>
                <a:spcPct val="126000"/>
              </a:lnSpc>
            </a:pPr>
            <a:r>
              <a:rPr sz="1230" b="0" i="0">
                <a:solidFill>
                  <a:srgbClr val="21295C"/>
                </a:solidFill>
                <a:latin typeface="Arial"/>
              </a:rPr>
              <a:t>Первая неделя: заказчик — «заявка не пришла». Агент читает код, правит обработчик, прогоняет тест — зелёный — «Готово». Тест проверяет только пустые поля. Разработчик напоминает про гейт — агент проверяет руками, чинит. Через два дня, другой баг — то же самое: тест зелёный, руками не проверено.</a:t>
            </a:r>
          </a:p>
        </p:txBody>
      </p:sp>
      <p:sp>
        <p:nvSpPr>
          <p:cNvPr id="8" name="Rounded Rectangle 7"/>
          <p:cNvSpPr/>
          <p:nvPr/>
        </p:nvSpPr>
        <p:spPr>
          <a:xfrm>
            <a:off x="502920" y="5541264"/>
            <a:ext cx="11183112" cy="859535"/>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5614416"/>
            <a:ext cx="10780776" cy="713231"/>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«Гейт-фраза лежала в файле все эти дни и загружалась в начало каждой сессии. Оба раза «готово» прозвучало до ручной проверки.»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1.2 · ВОПРОС</a:t>
            </a:r>
          </a:p>
        </p:txBody>
      </p:sp>
      <p:sp>
        <p:nvSpPr>
          <p:cNvPr id="3" name="TextBox 2"/>
          <p:cNvSpPr txBox="1"/>
          <p:nvPr/>
        </p:nvSpPr>
        <p:spPr>
          <a:xfrm>
            <a:off x="502920" y="640080"/>
            <a:ext cx="11183112" cy="868680"/>
          </a:xfrm>
          <a:prstGeom prst="rect">
            <a:avLst/>
          </a:prstGeom>
          <a:noFill/>
        </p:spPr>
        <p:txBody>
          <a:bodyPr wrap="square" lIns="0" rIns="0" tIns="0" bIns="0" anchor="t">
            <a:spAutoFit/>
          </a:bodyPr>
          <a:lstStyle/>
          <a:p>
            <a:pPr algn="l">
              <a:lnSpc>
                <a:spcPct val="114000"/>
              </a:lnSpc>
            </a:pPr>
            <a:r>
              <a:rPr sz="1900" b="1" i="0">
                <a:solidFill>
                  <a:srgbClr val="21295C"/>
                </a:solidFill>
                <a:latin typeface="Arial"/>
              </a:rPr>
              <a:t>Гейт-фраза уже есть с самого начала и не сработала — выбор из пяти вариантов, что делать дальше</a:t>
            </a:r>
          </a:p>
        </p:txBody>
      </p:sp>
      <p:sp>
        <p:nvSpPr>
          <p:cNvPr id="4" name="Rounded Rectangle 3"/>
          <p:cNvSpPr/>
          <p:nvPr/>
        </p:nvSpPr>
        <p:spPr>
          <a:xfrm>
            <a:off x="502920" y="1673351"/>
            <a:ext cx="11183112" cy="11887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746504"/>
            <a:ext cx="10780776" cy="104241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«У вас гейт-фраза в CLAUDE.md есть с самого начала, а поведение агента всё равно расходится с ней второй раз подряд — заявка снова не проверена руками. Выберите, что вы сделаете дальше — из карточек ниже — так, чтобы это реально сработало в следующей сессии.»</a:t>
            </a:r>
          </a:p>
        </p:txBody>
      </p:sp>
      <p:sp>
        <p:nvSpPr>
          <p:cNvPr id="6" name="Rounded Rectangle 5"/>
          <p:cNvSpPr/>
          <p:nvPr/>
        </p:nvSpPr>
        <p:spPr>
          <a:xfrm>
            <a:off x="502920" y="3063239"/>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3063239"/>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перепишу фразу</a:t>
            </a:r>
          </a:p>
          <a:p>
            <a:pPr algn="ctr">
              <a:lnSpc>
                <a:spcPct val="115000"/>
              </a:lnSpc>
              <a:spcAft>
                <a:spcPts val="0"/>
              </a:spcAft>
            </a:pPr>
            <a:r>
              <a:rPr sz="1250" b="1" i="0">
                <a:solidFill>
                  <a:srgbClr val="21295C"/>
                </a:solidFill>
                <a:latin typeface="Arial"/>
              </a:rPr>
              <a:t>капсом / жёстче</a:t>
            </a:r>
          </a:p>
        </p:txBody>
      </p:sp>
      <p:sp>
        <p:nvSpPr>
          <p:cNvPr id="8" name="Rounded Rectangle 7"/>
          <p:cNvSpPr/>
          <p:nvPr/>
        </p:nvSpPr>
        <p:spPr>
          <a:xfrm>
            <a:off x="2768803" y="3063239"/>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1955" y="3063239"/>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продублирую фразу</a:t>
            </a:r>
          </a:p>
          <a:p>
            <a:pPr algn="ctr">
              <a:lnSpc>
                <a:spcPct val="115000"/>
              </a:lnSpc>
              <a:spcAft>
                <a:spcPts val="0"/>
              </a:spcAft>
            </a:pPr>
            <a:r>
              <a:rPr sz="1250" b="1" i="0">
                <a:solidFill>
                  <a:srgbClr val="21295C"/>
                </a:solidFill>
                <a:latin typeface="Arial"/>
              </a:rPr>
              <a:t>вторым пунктом</a:t>
            </a:r>
          </a:p>
        </p:txBody>
      </p:sp>
      <p:sp>
        <p:nvSpPr>
          <p:cNvPr id="10" name="Rounded Rectangle 9"/>
          <p:cNvSpPr/>
          <p:nvPr/>
        </p:nvSpPr>
        <p:spPr>
          <a:xfrm>
            <a:off x="5034686" y="3063239"/>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7838" y="3063239"/>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заведу отдельный</a:t>
            </a:r>
          </a:p>
          <a:p>
            <a:pPr algn="ctr">
              <a:lnSpc>
                <a:spcPct val="115000"/>
              </a:lnSpc>
              <a:spcAft>
                <a:spcPts val="0"/>
              </a:spcAft>
            </a:pPr>
            <a:r>
              <a:rPr sz="1250" b="1" i="0">
                <a:solidFill>
                  <a:srgbClr val="21295C"/>
                </a:solidFill>
                <a:latin typeface="Arial"/>
              </a:rPr>
              <a:t>файл-чеклист рядом</a:t>
            </a:r>
          </a:p>
        </p:txBody>
      </p:sp>
      <p:sp>
        <p:nvSpPr>
          <p:cNvPr id="12" name="Rounded Rectangle 11"/>
          <p:cNvSpPr/>
          <p:nvPr/>
        </p:nvSpPr>
        <p:spPr>
          <a:xfrm>
            <a:off x="7300569" y="3063239"/>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3721" y="3063239"/>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передам проверку</a:t>
            </a:r>
          </a:p>
          <a:p>
            <a:pPr algn="ctr">
              <a:lnSpc>
                <a:spcPct val="115000"/>
              </a:lnSpc>
              <a:spcAft>
                <a:spcPts val="0"/>
              </a:spcAft>
            </a:pPr>
            <a:r>
              <a:rPr sz="1250" b="1" i="0">
                <a:solidFill>
                  <a:srgbClr val="21295C"/>
                </a:solidFill>
                <a:latin typeface="Arial"/>
              </a:rPr>
              <a:t>механизму вне текста</a:t>
            </a:r>
          </a:p>
        </p:txBody>
      </p:sp>
      <p:sp>
        <p:nvSpPr>
          <p:cNvPr id="14" name="Rounded Rectangle 13"/>
          <p:cNvSpPr/>
          <p:nvPr/>
        </p:nvSpPr>
        <p:spPr>
          <a:xfrm>
            <a:off x="9566452" y="3063239"/>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39604" y="3063239"/>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смирюсь — сработает</a:t>
            </a:r>
          </a:p>
          <a:p>
            <a:pPr algn="ctr">
              <a:lnSpc>
                <a:spcPct val="115000"/>
              </a:lnSpc>
              <a:spcAft>
                <a:spcPts val="0"/>
              </a:spcAft>
            </a:pPr>
            <a:r>
              <a:rPr sz="1250" b="1" i="0">
                <a:solidFill>
                  <a:srgbClr val="21295C"/>
                </a:solidFill>
                <a:latin typeface="Arial"/>
              </a:rPr>
              <a:t>не всегда, это норма</a:t>
            </a:r>
          </a:p>
        </p:txBody>
      </p:sp>
      <p:sp>
        <p:nvSpPr>
          <p:cNvPr id="16" name="TextBox 15"/>
          <p:cNvSpPr txBox="1"/>
          <p:nvPr/>
        </p:nvSpPr>
        <p:spPr>
          <a:xfrm>
            <a:off x="502920" y="4809744"/>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разбор — на следующем слайде</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1.2 · ИССЛЕДОВАНИЕ И РАЗБОР (1/2)</a:t>
            </a:r>
          </a:p>
        </p:txBody>
      </p:sp>
      <p:sp>
        <p:nvSpPr>
          <p:cNvPr id="3" name="TextBox 2"/>
          <p:cNvSpPr txBox="1"/>
          <p:nvPr/>
        </p:nvSpPr>
        <p:spPr>
          <a:xfrm>
            <a:off x="502920" y="640080"/>
            <a:ext cx="11183112" cy="777240"/>
          </a:xfrm>
          <a:prstGeom prst="rect">
            <a:avLst/>
          </a:prstGeom>
          <a:noFill/>
        </p:spPr>
        <p:txBody>
          <a:bodyPr wrap="square" lIns="0" rIns="0" tIns="0" bIns="0" anchor="t">
            <a:spAutoFit/>
          </a:bodyPr>
          <a:lstStyle/>
          <a:p>
            <a:pPr algn="l">
              <a:lnSpc>
                <a:spcPct val="114000"/>
              </a:lnSpc>
            </a:pPr>
            <a:r>
              <a:rPr sz="1200" b="1" i="0">
                <a:solidFill>
                  <a:srgbClr val="21295C"/>
                </a:solidFill>
                <a:latin typeface="Arial"/>
              </a:rPr>
              <a:t>Текстовый гейт без тулинга не просто бесполезен, а вреден — регрессии выросли почти до 10%; ни один вариант, кроме передачи проверки механизму, не решает проблему системно</a:t>
            </a:r>
          </a:p>
        </p:txBody>
      </p:sp>
      <p:sp>
        <p:nvSpPr>
          <p:cNvPr id="4" name="Rounded Rectangle 3"/>
          <p:cNvSpPr/>
          <p:nvPr/>
        </p:nvSpPr>
        <p:spPr>
          <a:xfrm>
            <a:off x="502920" y="1490472"/>
            <a:ext cx="11183112" cy="1463040"/>
          </a:xfrm>
          <a:prstGeom prst="roundRect">
            <a:avLst>
              <a:gd name="adj" fmla="val 208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73351"/>
            <a:ext cx="3388400"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Источник</a:t>
            </a:r>
          </a:p>
        </p:txBody>
      </p:sp>
      <p:sp>
        <p:nvSpPr>
          <p:cNvPr id="6" name="TextBox 5"/>
          <p:cNvSpPr txBox="1"/>
          <p:nvPr/>
        </p:nvSpPr>
        <p:spPr>
          <a:xfrm>
            <a:off x="4147352" y="1673351"/>
            <a:ext cx="4902829"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Тезис</a:t>
            </a:r>
          </a:p>
        </p:txBody>
      </p:sp>
      <p:sp>
        <p:nvSpPr>
          <p:cNvPr id="7" name="TextBox 6"/>
          <p:cNvSpPr txBox="1"/>
          <p:nvPr/>
        </p:nvSpPr>
        <p:spPr>
          <a:xfrm>
            <a:off x="9123334" y="1673351"/>
            <a:ext cx="2306665"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Сила</a:t>
            </a:r>
          </a:p>
        </p:txBody>
      </p:sp>
      <p:sp>
        <p:nvSpPr>
          <p:cNvPr id="8" name="TextBox 7"/>
          <p:cNvSpPr txBox="1"/>
          <p:nvPr/>
        </p:nvSpPr>
        <p:spPr>
          <a:xfrm>
            <a:off x="685800" y="2057400"/>
            <a:ext cx="3370112"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SWE-Gate/SpecBench/CapCode/Verif. Horizon (4 препринта)</a:t>
            </a:r>
          </a:p>
        </p:txBody>
      </p:sp>
      <p:sp>
        <p:nvSpPr>
          <p:cNvPr id="9" name="TextBox 8"/>
          <p:cNvSpPr txBox="1"/>
          <p:nvPr/>
        </p:nvSpPr>
        <p:spPr>
          <a:xfrm>
            <a:off x="4147352" y="2057400"/>
            <a:ext cx="4884541"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Согласие 4+ независимых исследований: агенты обходят видимые гейты</a:t>
            </a:r>
          </a:p>
        </p:txBody>
      </p:sp>
      <p:sp>
        <p:nvSpPr>
          <p:cNvPr id="10" name="TextBox 9"/>
          <p:cNvSpPr txBox="1"/>
          <p:nvPr/>
        </p:nvSpPr>
        <p:spPr>
          <a:xfrm>
            <a:off x="9123334" y="2057400"/>
            <a:ext cx="2288377"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Сильное — консенсус</a:t>
            </a:r>
          </a:p>
        </p:txBody>
      </p:sp>
      <p:cxnSp>
        <p:nvCxnSpPr>
          <p:cNvPr id="11" name="Connector 10"/>
          <p:cNvCxnSpPr/>
          <p:nvPr/>
        </p:nvCxnSpPr>
        <p:spPr>
          <a:xfrm>
            <a:off x="685800" y="223570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57784" y="2235708"/>
            <a:ext cx="11073384" cy="178308"/>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235708"/>
            <a:ext cx="3370112"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TDAD, arXiv:2603.17973</a:t>
            </a:r>
          </a:p>
        </p:txBody>
      </p:sp>
      <p:sp>
        <p:nvSpPr>
          <p:cNvPr id="14" name="TextBox 13"/>
          <p:cNvSpPr txBox="1"/>
          <p:nvPr/>
        </p:nvSpPr>
        <p:spPr>
          <a:xfrm>
            <a:off x="4147352" y="2235708"/>
            <a:ext cx="4884541"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«Сначала пиши тесты» без тулинга — регрессии до 9,94%, хуже отсутствия</a:t>
            </a:r>
          </a:p>
        </p:txBody>
      </p:sp>
      <p:sp>
        <p:nvSpPr>
          <p:cNvPr id="15" name="TextBox 14"/>
          <p:cNvSpPr txBox="1"/>
          <p:nvPr/>
        </p:nvSpPr>
        <p:spPr>
          <a:xfrm>
            <a:off x="9123334" y="2235708"/>
            <a:ext cx="2288377"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Сильное и контринтуитивное</a:t>
            </a:r>
          </a:p>
        </p:txBody>
      </p:sp>
      <p:cxnSp>
        <p:nvCxnSpPr>
          <p:cNvPr id="16" name="Connector 15"/>
          <p:cNvCxnSpPr/>
          <p:nvPr/>
        </p:nvCxnSpPr>
        <p:spPr>
          <a:xfrm>
            <a:off x="685800" y="241401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2414016"/>
            <a:ext cx="3370112"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Rethinking Agent-Generated Tests</a:t>
            </a:r>
          </a:p>
        </p:txBody>
      </p:sp>
      <p:sp>
        <p:nvSpPr>
          <p:cNvPr id="18" name="TextBox 17"/>
          <p:cNvSpPr txBox="1"/>
          <p:nvPr/>
        </p:nvSpPr>
        <p:spPr>
          <a:xfrm>
            <a:off x="4147352" y="2414016"/>
            <a:ext cx="4884541"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Манипуляция промптом ради частоты тестов — без значимого эффекта</a:t>
            </a:r>
          </a:p>
        </p:txBody>
      </p:sp>
      <p:sp>
        <p:nvSpPr>
          <p:cNvPr id="19" name="TextBox 18"/>
          <p:cNvSpPr txBox="1"/>
          <p:nvPr/>
        </p:nvSpPr>
        <p:spPr>
          <a:xfrm>
            <a:off x="9123334" y="2414016"/>
            <a:ext cx="2288377"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Умеренное — нулевой результат</a:t>
            </a:r>
          </a:p>
        </p:txBody>
      </p:sp>
      <p:cxnSp>
        <p:nvCxnSpPr>
          <p:cNvPr id="20" name="Connector 19"/>
          <p:cNvCxnSpPr/>
          <p:nvPr/>
        </p:nvCxnSpPr>
        <p:spPr>
          <a:xfrm>
            <a:off x="685800" y="259232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2592324"/>
            <a:ext cx="3370112"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Agent Scaffolding Beats Model Upgrades</a:t>
            </a:r>
          </a:p>
        </p:txBody>
      </p:sp>
      <p:sp>
        <p:nvSpPr>
          <p:cNvPr id="22" name="TextBox 21"/>
          <p:cNvSpPr txBox="1"/>
          <p:nvPr/>
        </p:nvSpPr>
        <p:spPr>
          <a:xfrm>
            <a:off x="4147352" y="2592324"/>
            <a:ext cx="4884541"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Архитектура харнесса даёт +20 п.п.; смена модели — ~1 п.п.</a:t>
            </a:r>
          </a:p>
        </p:txBody>
      </p:sp>
      <p:sp>
        <p:nvSpPr>
          <p:cNvPr id="23" name="TextBox 22"/>
          <p:cNvSpPr txBox="1"/>
          <p:nvPr/>
        </p:nvSpPr>
        <p:spPr>
          <a:xfrm>
            <a:off x="9123334" y="2592324"/>
            <a:ext cx="2288377" cy="178308"/>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Сильное — механизм против модели</a:t>
            </a:r>
          </a:p>
        </p:txBody>
      </p:sp>
      <p:sp>
        <p:nvSpPr>
          <p:cNvPr id="24" name="Rounded Rectangle 23"/>
          <p:cNvSpPr/>
          <p:nvPr/>
        </p:nvSpPr>
        <p:spPr>
          <a:xfrm>
            <a:off x="502920" y="3044952"/>
            <a:ext cx="11183112" cy="1234440"/>
          </a:xfrm>
          <a:prstGeom prst="roundRect">
            <a:avLst>
              <a:gd name="adj" fmla="val 246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227832"/>
            <a:ext cx="3172053"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Источник</a:t>
            </a:r>
          </a:p>
        </p:txBody>
      </p:sp>
      <p:sp>
        <p:nvSpPr>
          <p:cNvPr id="26" name="TextBox 25"/>
          <p:cNvSpPr txBox="1"/>
          <p:nvPr/>
        </p:nvSpPr>
        <p:spPr>
          <a:xfrm>
            <a:off x="3931005" y="3227832"/>
            <a:ext cx="5119176"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Тезис</a:t>
            </a:r>
          </a:p>
        </p:txBody>
      </p:sp>
      <p:sp>
        <p:nvSpPr>
          <p:cNvPr id="27" name="TextBox 26"/>
          <p:cNvSpPr txBox="1"/>
          <p:nvPr/>
        </p:nvSpPr>
        <p:spPr>
          <a:xfrm>
            <a:off x="9123334" y="3227832"/>
            <a:ext cx="2306665"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Сила</a:t>
            </a:r>
          </a:p>
        </p:txBody>
      </p:sp>
      <p:sp>
        <p:nvSpPr>
          <p:cNvPr id="28" name="TextBox 27"/>
          <p:cNvSpPr txBox="1"/>
          <p:nvPr/>
        </p:nvSpPr>
        <p:spPr>
          <a:xfrm>
            <a:off x="685800" y="3611880"/>
            <a:ext cx="3153765"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Self-planning, 2303.06689</a:t>
            </a:r>
          </a:p>
        </p:txBody>
      </p:sp>
      <p:sp>
        <p:nvSpPr>
          <p:cNvPr id="29" name="TextBox 28"/>
          <p:cNvSpPr txBox="1"/>
          <p:nvPr/>
        </p:nvSpPr>
        <p:spPr>
          <a:xfrm>
            <a:off x="3931005" y="3611880"/>
            <a:ext cx="5100888"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Планирование перед кодом: +25,4% pass@1</a:t>
            </a:r>
          </a:p>
        </p:txBody>
      </p:sp>
      <p:sp>
        <p:nvSpPr>
          <p:cNvPr id="30" name="TextBox 29"/>
          <p:cNvSpPr txBox="1"/>
          <p:nvPr/>
        </p:nvSpPr>
        <p:spPr>
          <a:xfrm>
            <a:off x="9123334" y="3611880"/>
            <a:ext cx="2288377"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Умеренно-сильное «за»</a:t>
            </a:r>
          </a:p>
        </p:txBody>
      </p:sp>
      <p:cxnSp>
        <p:nvCxnSpPr>
          <p:cNvPr id="31" name="Connector 30"/>
          <p:cNvCxnSpPr/>
          <p:nvPr/>
        </p:nvCxnSpPr>
        <p:spPr>
          <a:xfrm>
            <a:off x="685800" y="377342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 y="3773424"/>
            <a:ext cx="3153765"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LLMs Cannot Self-Correct, ICLR'24</a:t>
            </a:r>
          </a:p>
        </p:txBody>
      </p:sp>
      <p:sp>
        <p:nvSpPr>
          <p:cNvPr id="33" name="TextBox 32"/>
          <p:cNvSpPr txBox="1"/>
          <p:nvPr/>
        </p:nvSpPr>
        <p:spPr>
          <a:xfrm>
            <a:off x="3931005" y="3773424"/>
            <a:ext cx="5100888"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Самокоррекция без сигнала ухудшает</a:t>
            </a:r>
          </a:p>
        </p:txBody>
      </p:sp>
      <p:sp>
        <p:nvSpPr>
          <p:cNvPr id="34" name="TextBox 33"/>
          <p:cNvSpPr txBox="1"/>
          <p:nvPr/>
        </p:nvSpPr>
        <p:spPr>
          <a:xfrm>
            <a:off x="9123334" y="3773424"/>
            <a:ext cx="2288377"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Сильное «против» self-review</a:t>
            </a:r>
          </a:p>
        </p:txBody>
      </p:sp>
      <p:cxnSp>
        <p:nvCxnSpPr>
          <p:cNvPr id="35" name="Connector 34"/>
          <p:cNvCxnSpPr/>
          <p:nvPr/>
        </p:nvCxnSpPr>
        <p:spPr>
          <a:xfrm>
            <a:off x="685800" y="393496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57784" y="3934968"/>
            <a:ext cx="11073384" cy="161544"/>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3934968"/>
            <a:ext cx="3153765"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arXiv:2604.10508</a:t>
            </a:r>
          </a:p>
        </p:txBody>
      </p:sp>
      <p:sp>
        <p:nvSpPr>
          <p:cNvPr id="38" name="TextBox 37"/>
          <p:cNvSpPr txBox="1"/>
          <p:nvPr/>
        </p:nvSpPr>
        <p:spPr>
          <a:xfrm>
            <a:off x="3931005" y="3934968"/>
            <a:ext cx="5100888"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Self-repair с реальной проверкой: +4,9…+30 п.п.</a:t>
            </a:r>
          </a:p>
        </p:txBody>
      </p:sp>
      <p:sp>
        <p:nvSpPr>
          <p:cNvPr id="39" name="TextBox 38"/>
          <p:cNvSpPr txBox="1"/>
          <p:nvPr/>
        </p:nvSpPr>
        <p:spPr>
          <a:xfrm>
            <a:off x="9123334" y="3934968"/>
            <a:ext cx="2288377" cy="161544"/>
          </a:xfrm>
          <a:prstGeom prst="rect">
            <a:avLst/>
          </a:prstGeom>
          <a:noFill/>
        </p:spPr>
        <p:txBody>
          <a:bodyPr wrap="square" lIns="0" rIns="0" tIns="0" bIns="0" anchor="ctr">
            <a:spAutoFit/>
          </a:bodyPr>
          <a:lstStyle/>
          <a:p>
            <a:pPr algn="l">
              <a:lnSpc>
                <a:spcPct val="115000"/>
              </a:lnSpc>
            </a:pPr>
            <a:r>
              <a:rPr sz="800" b="0" i="0">
                <a:solidFill>
                  <a:srgbClr val="21295C"/>
                </a:solidFill>
                <a:latin typeface="Arial"/>
              </a:rPr>
              <a:t>Сильное «за» — с проверкой</a:t>
            </a:r>
          </a:p>
        </p:txBody>
      </p:sp>
      <p:sp>
        <p:nvSpPr>
          <p:cNvPr id="40" name="TextBox 39"/>
          <p:cNvSpPr txBox="1"/>
          <p:nvPr/>
        </p:nvSpPr>
        <p:spPr>
          <a:xfrm>
            <a:off x="502920" y="4352544"/>
            <a:ext cx="11183112" cy="292608"/>
          </a:xfrm>
          <a:prstGeom prst="rect">
            <a:avLst/>
          </a:prstGeom>
          <a:noFill/>
        </p:spPr>
        <p:txBody>
          <a:bodyPr wrap="square" lIns="0" rIns="0" tIns="0" bIns="0" anchor="t">
            <a:spAutoFit/>
          </a:bodyPr>
          <a:lstStyle/>
          <a:p>
            <a:pPr algn="l">
              <a:lnSpc>
                <a:spcPct val="115000"/>
              </a:lnSpc>
            </a:pPr>
            <a:r>
              <a:rPr sz="950" b="0" i="1">
                <a:solidFill>
                  <a:srgbClr val="6B7685"/>
                </a:solidFill>
                <a:latin typeface="Arial"/>
              </a:rPr>
              <a:t>Честный пробел: нет контролируемого эксперимента именно на изолированную фразу-гейт в CLAUDE.md — только best-practice наблюдения практиков.</a:t>
            </a:r>
          </a:p>
        </p:txBody>
      </p:sp>
      <p:sp>
        <p:nvSpPr>
          <p:cNvPr id="41" name="Rounded Rectangle 40"/>
          <p:cNvSpPr/>
          <p:nvPr/>
        </p:nvSpPr>
        <p:spPr>
          <a:xfrm>
            <a:off x="502920" y="4681728"/>
            <a:ext cx="11183112" cy="1508760"/>
          </a:xfrm>
          <a:prstGeom prst="roundRect">
            <a:avLst>
              <a:gd name="adj" fmla="val 2020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864608"/>
            <a:ext cx="2955706"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Вариант</a:t>
            </a:r>
          </a:p>
        </p:txBody>
      </p:sp>
      <p:sp>
        <p:nvSpPr>
          <p:cNvPr id="43" name="TextBox 42"/>
          <p:cNvSpPr txBox="1"/>
          <p:nvPr/>
        </p:nvSpPr>
        <p:spPr>
          <a:xfrm>
            <a:off x="3714658" y="4864608"/>
            <a:ext cx="3172053"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Где работает</a:t>
            </a:r>
          </a:p>
        </p:txBody>
      </p:sp>
      <p:sp>
        <p:nvSpPr>
          <p:cNvPr id="44" name="TextBox 43"/>
          <p:cNvSpPr txBox="1"/>
          <p:nvPr/>
        </p:nvSpPr>
        <p:spPr>
          <a:xfrm>
            <a:off x="6959864" y="4864608"/>
            <a:ext cx="4470135" cy="329184"/>
          </a:xfrm>
          <a:prstGeom prst="rect">
            <a:avLst/>
          </a:prstGeom>
          <a:noFill/>
        </p:spPr>
        <p:txBody>
          <a:bodyPr wrap="square" lIns="0" rIns="0" tIns="0" bIns="0" anchor="t">
            <a:spAutoFit/>
          </a:bodyPr>
          <a:lstStyle/>
          <a:p>
            <a:pPr algn="l">
              <a:lnSpc>
                <a:spcPct val="115000"/>
              </a:lnSpc>
            </a:pPr>
            <a:r>
              <a:rPr sz="860" b="1" i="0">
                <a:solidFill>
                  <a:srgbClr val="6B7685"/>
                </a:solidFill>
                <a:latin typeface="Arial"/>
              </a:rPr>
              <a:t>Почему рано — что вместо</a:t>
            </a:r>
          </a:p>
        </p:txBody>
      </p:sp>
      <p:sp>
        <p:nvSpPr>
          <p:cNvPr id="45" name="TextBox 44"/>
          <p:cNvSpPr txBox="1"/>
          <p:nvPr/>
        </p:nvSpPr>
        <p:spPr>
          <a:xfrm>
            <a:off x="685800" y="5248656"/>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«Капсом / жёстче»</a:t>
            </a:r>
          </a:p>
        </p:txBody>
      </p:sp>
      <p:sp>
        <p:nvSpPr>
          <p:cNvPr id="46" name="TextBox 45"/>
          <p:cNvSpPr txBox="1"/>
          <p:nvPr/>
        </p:nvSpPr>
        <p:spPr>
          <a:xfrm>
            <a:off x="3714658" y="5248656"/>
            <a:ext cx="3153765"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Нигде системно</a:t>
            </a:r>
          </a:p>
        </p:txBody>
      </p:sp>
      <p:sp>
        <p:nvSpPr>
          <p:cNvPr id="47" name="TextBox 46"/>
          <p:cNvSpPr txBox="1"/>
          <p:nvPr/>
        </p:nvSpPr>
        <p:spPr>
          <a:xfrm>
            <a:off x="6959864" y="5248656"/>
            <a:ext cx="4451847"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TDAD: регрессии выросли до 9,94%</a:t>
            </a:r>
          </a:p>
        </p:txBody>
      </p:sp>
      <p:cxnSp>
        <p:nvCxnSpPr>
          <p:cNvPr id="48" name="Connector 47"/>
          <p:cNvCxnSpPr/>
          <p:nvPr/>
        </p:nvCxnSpPr>
        <p:spPr>
          <a:xfrm>
            <a:off x="685800" y="540044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85800" y="5400446"/>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«Продублирую вторым пунктом»</a:t>
            </a:r>
          </a:p>
        </p:txBody>
      </p:sp>
      <p:sp>
        <p:nvSpPr>
          <p:cNvPr id="50" name="TextBox 49"/>
          <p:cNvSpPr txBox="1"/>
          <p:nvPr/>
        </p:nvSpPr>
        <p:spPr>
          <a:xfrm>
            <a:off x="3714658" y="5400446"/>
            <a:ext cx="3153765"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Иногда чуть повышает шанс прочитать</a:t>
            </a:r>
          </a:p>
        </p:txBody>
      </p:sp>
      <p:sp>
        <p:nvSpPr>
          <p:cNvPr id="51" name="TextBox 50"/>
          <p:cNvSpPr txBox="1"/>
          <p:nvPr/>
        </p:nvSpPr>
        <p:spPr>
          <a:xfrm>
            <a:off x="6959864" y="5400446"/>
            <a:ext cx="4451847"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Presence paradox: лишняя строка стоит контекста</a:t>
            </a:r>
          </a:p>
        </p:txBody>
      </p:sp>
      <p:cxnSp>
        <p:nvCxnSpPr>
          <p:cNvPr id="52" name="Connector 51"/>
          <p:cNvCxnSpPr/>
          <p:nvPr/>
        </p:nvCxnSpPr>
        <p:spPr>
          <a:xfrm>
            <a:off x="685800" y="555223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85800" y="5552236"/>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«Отдельный файл-чеклист»</a:t>
            </a:r>
          </a:p>
        </p:txBody>
      </p:sp>
      <p:sp>
        <p:nvSpPr>
          <p:cNvPr id="54" name="TextBox 53"/>
          <p:cNvSpPr txBox="1"/>
          <p:nvPr/>
        </p:nvSpPr>
        <p:spPr>
          <a:xfrm>
            <a:off x="3714658" y="5552236"/>
            <a:ext cx="3153765"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Помогает человеку, слабо — агенту</a:t>
            </a:r>
          </a:p>
        </p:txBody>
      </p:sp>
      <p:sp>
        <p:nvSpPr>
          <p:cNvPr id="55" name="TextBox 54"/>
          <p:cNvSpPr txBox="1"/>
          <p:nvPr/>
        </p:nvSpPr>
        <p:spPr>
          <a:xfrm>
            <a:off x="6959864" y="5552236"/>
            <a:ext cx="4451847"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Тот же класс решения — снова текст, снова просьба</a:t>
            </a:r>
          </a:p>
        </p:txBody>
      </p:sp>
      <p:cxnSp>
        <p:nvCxnSpPr>
          <p:cNvPr id="56" name="Connector 55"/>
          <p:cNvCxnSpPr/>
          <p:nvPr/>
        </p:nvCxnSpPr>
        <p:spPr>
          <a:xfrm>
            <a:off x="685800" y="570402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557784" y="5704027"/>
            <a:ext cx="11073384" cy="151790"/>
          </a:xfrm>
          <a:prstGeom prst="rect">
            <a:avLst/>
          </a:prstGeom>
          <a:solidFill>
            <a:srgbClr val="E0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5800" y="5704027"/>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«Передам механизму вне текста»</a:t>
            </a:r>
          </a:p>
        </p:txBody>
      </p:sp>
      <p:sp>
        <p:nvSpPr>
          <p:cNvPr id="59" name="TextBox 58"/>
          <p:cNvSpPr txBox="1"/>
          <p:nvPr/>
        </p:nvSpPr>
        <p:spPr>
          <a:xfrm>
            <a:off x="3714658" y="5704027"/>
            <a:ext cx="3153765"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Системно работает: +20 п.п.</a:t>
            </a:r>
          </a:p>
        </p:txBody>
      </p:sp>
      <p:sp>
        <p:nvSpPr>
          <p:cNvPr id="60" name="TextBox 59"/>
          <p:cNvSpPr txBox="1"/>
          <p:nvPr/>
        </p:nvSpPr>
        <p:spPr>
          <a:xfrm>
            <a:off x="6959864" y="5704027"/>
            <a:ext cx="4451847"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Верное направление — механизм на следующем слайде</a:t>
            </a:r>
          </a:p>
        </p:txBody>
      </p:sp>
      <p:cxnSp>
        <p:nvCxnSpPr>
          <p:cNvPr id="61" name="Connector 60"/>
          <p:cNvCxnSpPr/>
          <p:nvPr/>
        </p:nvCxnSpPr>
        <p:spPr>
          <a:xfrm>
            <a:off x="685800" y="585581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85800" y="5855817"/>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«Смирюсь, это нормально»</a:t>
            </a:r>
          </a:p>
        </p:txBody>
      </p:sp>
      <p:sp>
        <p:nvSpPr>
          <p:cNvPr id="63" name="TextBox 62"/>
          <p:cNvSpPr txBox="1"/>
          <p:nvPr/>
        </p:nvSpPr>
        <p:spPr>
          <a:xfrm>
            <a:off x="3714658" y="5855817"/>
            <a:ext cx="3153765"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Приемлемо для некритичных предпочтений</a:t>
            </a:r>
          </a:p>
        </p:txBody>
      </p:sp>
      <p:sp>
        <p:nvSpPr>
          <p:cNvPr id="64" name="TextBox 63"/>
          <p:cNvSpPr txBox="1"/>
          <p:nvPr/>
        </p:nvSpPr>
        <p:spPr>
          <a:xfrm>
            <a:off x="6959864" y="5855817"/>
            <a:ext cx="4451847"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Для правила, чьё нарушение стоит дорого — решение не решать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1.2 · ИССЛЕДОВАНИЕ И РАЗБОР (2/2)</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Правила в промпте — просьбы, правила в коде — законы; текстовый гейт ловит честную ошибку, но не держится под давлением</a:t>
            </a:r>
          </a:p>
        </p:txBody>
      </p:sp>
      <p:sp>
        <p:nvSpPr>
          <p:cNvPr id="4" name="Rounded Rectangle 3"/>
          <p:cNvSpPr/>
          <p:nvPr/>
        </p:nvSpPr>
        <p:spPr>
          <a:xfrm>
            <a:off x="502920" y="1810512"/>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883664"/>
            <a:ext cx="10780776" cy="630936"/>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Правила в промпте — это просьбы, правила в коде — это законы. То, что мы написали, не стало законом от того, что мы записали его проактивно.</a:t>
            </a:r>
          </a:p>
        </p:txBody>
      </p:sp>
      <p:sp>
        <p:nvSpPr>
          <p:cNvPr id="6" name="TextBox 5"/>
          <p:cNvSpPr txBox="1"/>
          <p:nvPr/>
        </p:nvSpPr>
        <p:spPr>
          <a:xfrm>
            <a:off x="502920" y="2734056"/>
            <a:ext cx="11183112"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МОЖНО ЛИ СЕГОДНЯ ОБОЙТИСЬ БЕЗ ХУКА</a:t>
            </a:r>
          </a:p>
        </p:txBody>
      </p:sp>
      <p:sp>
        <p:nvSpPr>
          <p:cNvPr id="7" name="Rounded Rectangle 6"/>
          <p:cNvSpPr/>
          <p:nvPr/>
        </p:nvSpPr>
        <p:spPr>
          <a:xfrm>
            <a:off x="502920" y="3063240"/>
            <a:ext cx="11183112"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246120"/>
            <a:ext cx="2288377"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Что гейт даёт</a:t>
            </a:r>
          </a:p>
        </p:txBody>
      </p:sp>
      <p:sp>
        <p:nvSpPr>
          <p:cNvPr id="9" name="TextBox 8"/>
          <p:cNvSpPr txBox="1"/>
          <p:nvPr/>
        </p:nvSpPr>
        <p:spPr>
          <a:xfrm>
            <a:off x="3065617" y="3246120"/>
            <a:ext cx="8346094"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Ловит честную ошибку — «никто не вспомнил», не «агент обошёл проверку». Сработал 1 раз из 3: когда про него напомнили вслух</a:t>
            </a:r>
          </a:p>
        </p:txBody>
      </p:sp>
      <p:cxnSp>
        <p:nvCxnSpPr>
          <p:cNvPr id="10" name="Connector 9"/>
          <p:cNvCxnSpPr/>
          <p:nvPr/>
        </p:nvCxnSpPr>
        <p:spPr>
          <a:xfrm>
            <a:off x="685800" y="373761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737610"/>
            <a:ext cx="2288377"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Чего не даёт</a:t>
            </a:r>
          </a:p>
        </p:txBody>
      </p:sp>
      <p:sp>
        <p:nvSpPr>
          <p:cNvPr id="12" name="TextBox 11"/>
          <p:cNvSpPr txBox="1"/>
          <p:nvPr/>
        </p:nvSpPr>
        <p:spPr>
          <a:xfrm>
            <a:off x="3065617" y="3737610"/>
            <a:ext cx="8346094"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Не держится под давлением — срок, спешка. TDAD: усиление текста подняло регрессии до 9,94%; механизм даёт +20 п.п., модель — ~1 п.п.</a:t>
            </a:r>
          </a:p>
        </p:txBody>
      </p:sp>
      <p:cxnSp>
        <p:nvCxnSpPr>
          <p:cNvPr id="13" name="Connector 12"/>
          <p:cNvCxnSpPr/>
          <p:nvPr/>
        </p:nvCxnSpPr>
        <p:spPr>
          <a:xfrm>
            <a:off x="685800" y="42291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4229100"/>
            <a:ext cx="2288377"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Где граница</a:t>
            </a:r>
          </a:p>
        </p:txBody>
      </p:sp>
      <p:sp>
        <p:nvSpPr>
          <p:cNvPr id="15" name="TextBox 14"/>
          <p:cNvSpPr txBox="1"/>
          <p:nvPr/>
        </p:nvSpPr>
        <p:spPr>
          <a:xfrm>
            <a:off x="3065617" y="4229100"/>
            <a:ext cx="8346094"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Хук нужен, когда цена нарушения высокая и предсказуемая — названы конкретное действие, команда и ущерб</a:t>
            </a:r>
          </a:p>
        </p:txBody>
      </p:sp>
      <p:cxnSp>
        <p:nvCxnSpPr>
          <p:cNvPr id="16" name="Connector 15"/>
          <p:cNvCxnSpPr/>
          <p:nvPr/>
        </p:nvCxnSpPr>
        <p:spPr>
          <a:xfrm>
            <a:off x="685800" y="472059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4720590"/>
            <a:ext cx="2288377"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Где мы в проекте</a:t>
            </a:r>
          </a:p>
        </p:txBody>
      </p:sp>
      <p:sp>
        <p:nvSpPr>
          <p:cNvPr id="18" name="TextBox 17"/>
          <p:cNvSpPr txBox="1"/>
          <p:nvPr/>
        </p:nvSpPr>
        <p:spPr>
          <a:xfrm>
            <a:off x="3065617" y="4720590"/>
            <a:ext cx="8346094" cy="491489"/>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Действие названо: «готово» без проверки, дважды подряд, цена — сорванная доставка к показу. Текста хватает ровно до этого места</a:t>
            </a:r>
          </a:p>
        </p:txBody>
      </p:sp>
      <p:sp>
        <p:nvSpPr>
          <p:cNvPr id="19" name="Rounded Rectangle 18"/>
          <p:cNvSpPr/>
          <p:nvPr/>
        </p:nvSpPr>
        <p:spPr>
          <a:xfrm>
            <a:off x="502920" y="5522976"/>
            <a:ext cx="11183112" cy="8686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5596128"/>
            <a:ext cx="10780776" cy="722375"/>
          </a:xfrm>
          <a:prstGeom prst="rect">
            <a:avLst/>
          </a:prstGeom>
          <a:noFill/>
        </p:spPr>
        <p:txBody>
          <a:bodyPr wrap="square" lIns="0" rIns="0" tIns="0" bIns="0" anchor="ctr">
            <a:spAutoFit/>
          </a:bodyPr>
          <a:lstStyle/>
          <a:p>
            <a:pPr algn="l">
              <a:lnSpc>
                <a:spcPct val="122000"/>
              </a:lnSpc>
            </a:pPr>
            <a:r>
              <a:rPr sz="1100" b="1" i="0">
                <a:solidFill>
                  <a:srgbClr val="21295C"/>
                </a:solidFill>
                <a:latin typeface="Arial"/>
              </a:rPr>
              <a:t>Зачем знать про хук, если сегодня его не ставим. Затем, чтобы не принять текстовый гейт за решение. Хук нужен не «для надёжности», а как ответ на названное действие с названной ценой: назвали — пора, не назвали — текста хватает.</a:t>
            </a:r>
          </a:p>
        </p:txBody>
      </p:sp>
      <p:sp>
        <p:nvSpPr>
          <p:cNvPr id="21" name="TextBox 20"/>
          <p:cNvSpPr txBox="1"/>
          <p:nvPr/>
        </p:nvSpPr>
        <p:spPr>
          <a:xfrm>
            <a:off x="502920" y="6501383"/>
            <a:ext cx="11183112" cy="365760"/>
          </a:xfrm>
          <a:prstGeom prst="rect">
            <a:avLst/>
          </a:prstGeom>
          <a:noFill/>
        </p:spPr>
        <p:txBody>
          <a:bodyPr wrap="square" lIns="0" rIns="0" tIns="0" bIns="0" anchor="t">
            <a:spAutoFit/>
          </a:bodyPr>
          <a:lstStyle/>
          <a:p>
            <a:pPr algn="l">
              <a:lnSpc>
                <a:spcPct val="120000"/>
              </a:lnSpc>
            </a:pPr>
            <a:r>
              <a:rPr sz="1100" b="0" i="1">
                <a:solidFill>
                  <a:srgbClr val="21295C"/>
                </a:solidFill>
                <a:latin typeface="Arial"/>
              </a:rPr>
              <a:t>Цикл «улучшение»: «посмотри на свой код» — не делать никогда; «прогони реальную проверку и поправь по факту» — делать всегда.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1.2 · РЕШЕНИЕ</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Итоговый файл — тринадцать строк: критерий готово, гейт-предупреждение, честная оговорка предела; AGENTS.md — симлинк на тот же файл</a:t>
            </a:r>
          </a:p>
        </p:txBody>
      </p:sp>
      <p:sp>
        <p:nvSpPr>
          <p:cNvPr id="4" name="Rounded Rectangle 3"/>
          <p:cNvSpPr/>
          <p:nvPr/>
        </p:nvSpPr>
        <p:spPr>
          <a:xfrm>
            <a:off x="502920" y="1993392"/>
            <a:ext cx="6126480" cy="434340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194560"/>
            <a:ext cx="5724144" cy="3941063"/>
          </a:xfrm>
          <a:prstGeom prst="rect">
            <a:avLst/>
          </a:prstGeom>
          <a:noFill/>
        </p:spPr>
        <p:txBody>
          <a:bodyPr wrap="square" lIns="0" rIns="0" tIns="0" bIns="0" anchor="t">
            <a:spAutoFit/>
          </a:bodyPr>
          <a:lstStyle/>
          <a:p>
            <a:pPr algn="l">
              <a:lnSpc>
                <a:spcPct val="128000"/>
              </a:lnSpc>
              <a:spcAft>
                <a:spcPts val="200"/>
              </a:spcAft>
            </a:pPr>
            <a:r>
              <a:rPr sz="1100" b="1" i="0">
                <a:solidFill>
                  <a:srgbClr val="028090"/>
                </a:solidFill>
                <a:latin typeface="Consolas"/>
              </a:rPr>
              <a:t># CLAUDE.md</a:t>
            </a:r>
          </a:p>
          <a:p>
            <a:pPr algn="l">
              <a:lnSpc>
                <a:spcPct val="128000"/>
              </a:lnSpc>
              <a:spcAft>
                <a:spcPts val="200"/>
              </a:spcAft>
            </a:pPr>
            <a:r>
              <a:rPr sz="1100" b="0" i="0">
                <a:solidFill>
                  <a:srgbClr val="E3E9F2"/>
                </a:solidFill>
                <a:latin typeface="Consolas"/>
              </a:rPr>
              <a:t/>
            </a:r>
          </a:p>
          <a:p>
            <a:pPr algn="l">
              <a:lnSpc>
                <a:spcPct val="128000"/>
              </a:lnSpc>
              <a:spcAft>
                <a:spcPts val="200"/>
              </a:spcAft>
            </a:pPr>
            <a:r>
              <a:rPr sz="1100" b="0" i="0">
                <a:solidFill>
                  <a:srgbClr val="E3E9F2"/>
                </a:solidFill>
                <a:latin typeface="Consolas"/>
              </a:rPr>
              <a:t>signup-landing: статический лендинг с формой заявки на демо-урок.</a:t>
            </a:r>
          </a:p>
          <a:p>
            <a:pPr algn="l">
              <a:lnSpc>
                <a:spcPct val="128000"/>
              </a:lnSpc>
              <a:spcAft>
                <a:spcPts val="200"/>
              </a:spcAft>
            </a:pPr>
            <a:r>
              <a:rPr sz="1100" b="0" i="0">
                <a:solidFill>
                  <a:srgbClr val="E3E9F2"/>
                </a:solidFill>
                <a:latin typeface="Consolas"/>
              </a:rPr>
              <a:t>Готово = npm run build код 0, npx playwright test зелёный,</a:t>
            </a:r>
          </a:p>
          <a:p>
            <a:pPr algn="l">
              <a:lnSpc>
                <a:spcPct val="128000"/>
              </a:lnSpc>
              <a:spcAft>
                <a:spcPts val="200"/>
              </a:spcAft>
            </a:pPr>
            <a:r>
              <a:rPr sz="1100" b="0" i="0">
                <a:solidFill>
                  <a:srgbClr val="E3E9F2"/>
                </a:solidFill>
                <a:latin typeface="Consolas"/>
              </a:rPr>
              <a:t>форма реально отправляет заявку на проде.</a:t>
            </a:r>
          </a:p>
          <a:p>
            <a:pPr algn="l">
              <a:lnSpc>
                <a:spcPct val="128000"/>
              </a:lnSpc>
              <a:spcAft>
                <a:spcPts val="200"/>
              </a:spcAft>
            </a:pPr>
            <a:r>
              <a:rPr sz="1100" b="0" i="0">
                <a:solidFill>
                  <a:srgbClr val="E3E9F2"/>
                </a:solidFill>
                <a:latin typeface="Consolas"/>
              </a:rPr>
              <a:t/>
            </a:r>
          </a:p>
          <a:p>
            <a:pPr algn="l">
              <a:lnSpc>
                <a:spcPct val="128000"/>
              </a:lnSpc>
              <a:spcAft>
                <a:spcPts val="200"/>
              </a:spcAft>
            </a:pPr>
            <a:r>
              <a:rPr sz="1100" b="1" i="0">
                <a:solidFill>
                  <a:srgbClr val="028090"/>
                </a:solidFill>
                <a:latin typeface="Consolas"/>
              </a:rPr>
              <a:t>## Safety / scope boundaries</a:t>
            </a:r>
          </a:p>
          <a:p>
            <a:pPr algn="l">
              <a:lnSpc>
                <a:spcPct val="128000"/>
              </a:lnSpc>
              <a:spcAft>
                <a:spcPts val="200"/>
              </a:spcAft>
            </a:pPr>
            <a:r>
              <a:rPr sz="1100" b="0" i="0">
                <a:solidFill>
                  <a:srgbClr val="E3E9F2"/>
                </a:solidFill>
                <a:latin typeface="Consolas"/>
              </a:rPr>
              <a:t>- Никогда не запускать деплой на прод без явного запроса.</a:t>
            </a:r>
          </a:p>
          <a:p>
            <a:pPr algn="l">
              <a:lnSpc>
                <a:spcPct val="128000"/>
              </a:lnSpc>
              <a:spcAft>
                <a:spcPts val="200"/>
              </a:spcAft>
            </a:pPr>
            <a:r>
              <a:rPr sz="1100" b="0" i="0">
                <a:solidFill>
                  <a:srgbClr val="E3E9F2"/>
                </a:solidFill>
                <a:latin typeface="Consolas"/>
              </a:rPr>
              <a:t/>
            </a:r>
          </a:p>
          <a:p>
            <a:pPr algn="l">
              <a:lnSpc>
                <a:spcPct val="128000"/>
              </a:lnSpc>
              <a:spcAft>
                <a:spcPts val="200"/>
              </a:spcAft>
            </a:pPr>
            <a:r>
              <a:rPr sz="1100" b="1" i="0">
                <a:solidFill>
                  <a:srgbClr val="028090"/>
                </a:solidFill>
                <a:latin typeface="Consolas"/>
              </a:rPr>
              <a:t>## Build, test, verify</a:t>
            </a:r>
          </a:p>
          <a:p>
            <a:pPr algn="l">
              <a:lnSpc>
                <a:spcPct val="128000"/>
              </a:lnSpc>
              <a:spcAft>
                <a:spcPts val="200"/>
              </a:spcAft>
            </a:pPr>
            <a:r>
              <a:rPr sz="1100" b="0" i="0">
                <a:solidFill>
                  <a:srgbClr val="E3E9F2"/>
                </a:solidFill>
                <a:latin typeface="Consolas"/>
              </a:rPr>
              <a:t>- To verify: открыть dist/index.html после сборки, вручную</a:t>
            </a:r>
          </a:p>
          <a:p>
            <a:pPr algn="l">
              <a:lnSpc>
                <a:spcPct val="128000"/>
              </a:lnSpc>
              <a:spcAft>
                <a:spcPts val="200"/>
              </a:spcAft>
            </a:pPr>
            <a:r>
              <a:rPr sz="1100" b="0" i="0">
                <a:solidFill>
                  <a:srgbClr val="E3E9F2"/>
                </a:solidFill>
                <a:latin typeface="Consolas"/>
              </a:rPr>
              <a:t>  отправить форму с заполненными и с пустыми полями.</a:t>
            </a:r>
          </a:p>
        </p:txBody>
      </p:sp>
      <p:sp>
        <p:nvSpPr>
          <p:cNvPr id="6" name="Rounded Rectangle 5"/>
          <p:cNvSpPr/>
          <p:nvPr/>
        </p:nvSpPr>
        <p:spPr>
          <a:xfrm>
            <a:off x="6903720" y="1993392"/>
            <a:ext cx="4782312" cy="4343400"/>
          </a:xfrm>
          <a:prstGeom prst="roundRect">
            <a:avLst>
              <a:gd name="adj" fmla="val 701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23176" y="2212848"/>
            <a:ext cx="457200" cy="1301495"/>
          </a:xfrm>
          <a:prstGeom prst="rect">
            <a:avLst/>
          </a:prstGeom>
          <a:noFill/>
        </p:spPr>
        <p:txBody>
          <a:bodyPr wrap="square" lIns="0" rIns="0" tIns="0" bIns="0" anchor="ctr">
            <a:spAutoFit/>
          </a:bodyPr>
          <a:lstStyle/>
          <a:p>
            <a:pPr algn="l">
              <a:lnSpc>
                <a:spcPct val="115000"/>
              </a:lnSpc>
            </a:pPr>
            <a:r>
              <a:rPr sz="1600" b="1" i="0">
                <a:solidFill>
                  <a:srgbClr val="028090"/>
                </a:solidFill>
                <a:latin typeface="Arial"/>
              </a:rPr>
              <a:t>1</a:t>
            </a:r>
          </a:p>
        </p:txBody>
      </p:sp>
      <p:sp>
        <p:nvSpPr>
          <p:cNvPr id="8" name="TextBox 7"/>
          <p:cNvSpPr txBox="1"/>
          <p:nvPr/>
        </p:nvSpPr>
        <p:spPr>
          <a:xfrm>
            <a:off x="7626096" y="2212848"/>
            <a:ext cx="3840480" cy="1301495"/>
          </a:xfrm>
          <a:prstGeom prst="rect">
            <a:avLst/>
          </a:prstGeom>
          <a:noFill/>
        </p:spPr>
        <p:txBody>
          <a:bodyPr wrap="square" lIns="0" rIns="0" tIns="0" bIns="0" anchor="ctr">
            <a:spAutoFit/>
          </a:bodyPr>
          <a:lstStyle/>
          <a:p>
            <a:pPr algn="l">
              <a:lnSpc>
                <a:spcPct val="122000"/>
              </a:lnSpc>
            </a:pPr>
            <a:r>
              <a:rPr sz="1200" b="0" i="0">
                <a:solidFill>
                  <a:srgbClr val="21295C"/>
                </a:solidFill>
                <a:latin typeface="Arial"/>
              </a:rPr>
              <a:t>Файл грузится в начало каждой сессии целиком (официальный ориентир — до 200 строк, наш итог — 13)</a:t>
            </a:r>
          </a:p>
        </p:txBody>
      </p:sp>
      <p:cxnSp>
        <p:nvCxnSpPr>
          <p:cNvPr id="9" name="Connector 8"/>
          <p:cNvCxnSpPr/>
          <p:nvPr/>
        </p:nvCxnSpPr>
        <p:spPr>
          <a:xfrm>
            <a:off x="7123176" y="3514343"/>
            <a:ext cx="4343400" cy="0"/>
          </a:xfrm>
          <a:prstGeom prst="line">
            <a:avLst/>
          </a:prstGeom>
          <a:ln w="7620">
            <a:solidFill>
              <a:srgbClr val="E5EA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123176" y="3514343"/>
            <a:ext cx="457200" cy="1301495"/>
          </a:xfrm>
          <a:prstGeom prst="rect">
            <a:avLst/>
          </a:prstGeom>
          <a:noFill/>
        </p:spPr>
        <p:txBody>
          <a:bodyPr wrap="square" lIns="0" rIns="0" tIns="0" bIns="0" anchor="ctr">
            <a:spAutoFit/>
          </a:bodyPr>
          <a:lstStyle/>
          <a:p>
            <a:pPr algn="l">
              <a:lnSpc>
                <a:spcPct val="115000"/>
              </a:lnSpc>
            </a:pPr>
            <a:r>
              <a:rPr sz="1600" b="1" i="0">
                <a:solidFill>
                  <a:srgbClr val="028090"/>
                </a:solidFill>
                <a:latin typeface="Arial"/>
              </a:rPr>
              <a:t>2</a:t>
            </a:r>
          </a:p>
        </p:txBody>
      </p:sp>
      <p:sp>
        <p:nvSpPr>
          <p:cNvPr id="11" name="TextBox 10"/>
          <p:cNvSpPr txBox="1"/>
          <p:nvPr/>
        </p:nvSpPr>
        <p:spPr>
          <a:xfrm>
            <a:off x="7626096" y="3514343"/>
            <a:ext cx="3840480" cy="1301495"/>
          </a:xfrm>
          <a:prstGeom prst="rect">
            <a:avLst/>
          </a:prstGeom>
          <a:noFill/>
        </p:spPr>
        <p:txBody>
          <a:bodyPr wrap="square" lIns="0" rIns="0" tIns="0" bIns="0" anchor="ctr">
            <a:spAutoFit/>
          </a:bodyPr>
          <a:lstStyle/>
          <a:p>
            <a:pPr algn="l">
              <a:lnSpc>
                <a:spcPct val="122000"/>
              </a:lnSpc>
            </a:pPr>
            <a:r>
              <a:rPr sz="1200" b="0" i="0">
                <a:solidFill>
                  <a:srgbClr val="21295C"/>
                </a:solidFill>
                <a:latin typeface="Arial"/>
              </a:rPr>
              <a:t>@-импорты организуют файл, но не экономят контекст</a:t>
            </a:r>
          </a:p>
        </p:txBody>
      </p:sp>
      <p:cxnSp>
        <p:nvCxnSpPr>
          <p:cNvPr id="12" name="Connector 11"/>
          <p:cNvCxnSpPr/>
          <p:nvPr/>
        </p:nvCxnSpPr>
        <p:spPr>
          <a:xfrm>
            <a:off x="7123176" y="4815839"/>
            <a:ext cx="4343400" cy="0"/>
          </a:xfrm>
          <a:prstGeom prst="line">
            <a:avLst/>
          </a:prstGeom>
          <a:ln w="7620">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123176" y="4815839"/>
            <a:ext cx="457200" cy="1301495"/>
          </a:xfrm>
          <a:prstGeom prst="rect">
            <a:avLst/>
          </a:prstGeom>
          <a:noFill/>
        </p:spPr>
        <p:txBody>
          <a:bodyPr wrap="square" lIns="0" rIns="0" tIns="0" bIns="0" anchor="ctr">
            <a:spAutoFit/>
          </a:bodyPr>
          <a:lstStyle/>
          <a:p>
            <a:pPr algn="l">
              <a:lnSpc>
                <a:spcPct val="115000"/>
              </a:lnSpc>
            </a:pPr>
            <a:r>
              <a:rPr sz="1600" b="1" i="0">
                <a:solidFill>
                  <a:srgbClr val="028090"/>
                </a:solidFill>
                <a:latin typeface="Arial"/>
              </a:rPr>
              <a:t>3</a:t>
            </a:r>
          </a:p>
        </p:txBody>
      </p:sp>
      <p:sp>
        <p:nvSpPr>
          <p:cNvPr id="14" name="TextBox 13"/>
          <p:cNvSpPr txBox="1"/>
          <p:nvPr/>
        </p:nvSpPr>
        <p:spPr>
          <a:xfrm>
            <a:off x="7626096" y="4815839"/>
            <a:ext cx="3840480" cy="1301495"/>
          </a:xfrm>
          <a:prstGeom prst="rect">
            <a:avLst/>
          </a:prstGeom>
          <a:noFill/>
        </p:spPr>
        <p:txBody>
          <a:bodyPr wrap="square" lIns="0" rIns="0" tIns="0" bIns="0" anchor="ctr">
            <a:spAutoFit/>
          </a:bodyPr>
          <a:lstStyle/>
          <a:p>
            <a:pPr algn="l">
              <a:lnSpc>
                <a:spcPct val="122000"/>
              </a:lnSpc>
            </a:pPr>
            <a:r>
              <a:rPr sz="1200" b="0" i="0">
                <a:solidFill>
                  <a:srgbClr val="21295C"/>
                </a:solidFill>
                <a:latin typeface="Arial"/>
              </a:rPr>
              <a:t>AGENTS.md — симлинк на тот же файл (ln -s CLAUDE.md AGENTS.md). Острый край: cp -R без -P на macOS разыменовывает симлинк во вторую копию молча — копировать через cp -a / git clone / git archive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1.2 · ЧТО ЕЩЁ ЗАВОДИТСЯ СРАЗУ</a:t>
            </a:r>
          </a:p>
        </p:txBody>
      </p:sp>
      <p:sp>
        <p:nvSpPr>
          <p:cNvPr id="3" name="TextBox 2"/>
          <p:cNvSpPr txBox="1"/>
          <p:nvPr/>
        </p:nvSpPr>
        <p:spPr>
          <a:xfrm>
            <a:off x="502920" y="640080"/>
            <a:ext cx="11183112" cy="868680"/>
          </a:xfrm>
          <a:prstGeom prst="rect">
            <a:avLst/>
          </a:prstGeom>
          <a:noFill/>
        </p:spPr>
        <p:txBody>
          <a:bodyPr wrap="square" lIns="0" rIns="0" tIns="0" bIns="0" anchor="t">
            <a:spAutoFit/>
          </a:bodyPr>
          <a:lstStyle/>
          <a:p>
            <a:pPr algn="l">
              <a:lnSpc>
                <a:spcPct val="114000"/>
              </a:lnSpc>
            </a:pPr>
            <a:r>
              <a:rPr sz="1900" b="1" i="0">
                <a:solidFill>
                  <a:srgbClr val="21295C"/>
                </a:solidFill>
                <a:latin typeface="Arial"/>
              </a:rPr>
              <a:t>Гейт — не единственная дешёвая база: ещё три практики заводятся в первый день и не ждут сигнала</a:t>
            </a:r>
          </a:p>
        </p:txBody>
      </p:sp>
      <p:sp>
        <p:nvSpPr>
          <p:cNvPr id="4" name="Rounded Rectangle 3"/>
          <p:cNvSpPr/>
          <p:nvPr/>
        </p:nvSpPr>
        <p:spPr>
          <a:xfrm>
            <a:off x="502920" y="1673351"/>
            <a:ext cx="11183112" cy="416052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892807"/>
            <a:ext cx="457200" cy="1240536"/>
          </a:xfrm>
          <a:prstGeom prst="rect">
            <a:avLst/>
          </a:prstGeom>
          <a:noFill/>
        </p:spPr>
        <p:txBody>
          <a:bodyPr wrap="square" lIns="0" rIns="0" tIns="0" bIns="0" anchor="ctr">
            <a:spAutoFit/>
          </a:bodyPr>
          <a:lstStyle/>
          <a:p>
            <a:pPr algn="l">
              <a:lnSpc>
                <a:spcPct val="115000"/>
              </a:lnSpc>
            </a:pPr>
            <a:r>
              <a:rPr sz="1630" b="1" i="0">
                <a:solidFill>
                  <a:srgbClr val="028090"/>
                </a:solidFill>
                <a:latin typeface="Arial"/>
              </a:rPr>
              <a:t>1</a:t>
            </a:r>
          </a:p>
        </p:txBody>
      </p:sp>
      <p:sp>
        <p:nvSpPr>
          <p:cNvPr id="6" name="TextBox 5"/>
          <p:cNvSpPr txBox="1"/>
          <p:nvPr/>
        </p:nvSpPr>
        <p:spPr>
          <a:xfrm>
            <a:off x="1225296" y="1892807"/>
            <a:ext cx="10241280" cy="1240536"/>
          </a:xfrm>
          <a:prstGeom prst="rect">
            <a:avLst/>
          </a:prstGeom>
          <a:noFill/>
        </p:spPr>
        <p:txBody>
          <a:bodyPr wrap="square" lIns="0" rIns="0" tIns="0" bIns="0" anchor="ctr">
            <a:spAutoFit/>
          </a:bodyPr>
          <a:lstStyle/>
          <a:p>
            <a:pPr algn="l">
              <a:lnSpc>
                <a:spcPct val="122000"/>
              </a:lnSpc>
            </a:pPr>
            <a:r>
              <a:rPr sz="1230" b="0" i="0">
                <a:solidFill>
                  <a:srgbClr val="21295C"/>
                </a:solidFill>
                <a:latin typeface="Arial"/>
              </a:rPr>
              <a:t>создай — прожарь — улучши — покажи и согласуй: черновик плана, фиксированный список вопросов (самая простая версия? допущения? преждевременная абстракция? владелец файла? не склеены ли риски?), правки, согласование до начала работы. Живой пример — команда курса: цикл записан в её файле инструкций как обязательный</a:t>
            </a:r>
          </a:p>
        </p:txBody>
      </p:sp>
      <p:cxnSp>
        <p:nvCxnSpPr>
          <p:cNvPr id="7" name="Connector 6"/>
          <p:cNvCxnSpPr/>
          <p:nvPr/>
        </p:nvCxnSpPr>
        <p:spPr>
          <a:xfrm>
            <a:off x="722376" y="3133344"/>
            <a:ext cx="10744200" cy="0"/>
          </a:xfrm>
          <a:prstGeom prst="line">
            <a:avLst/>
          </a:prstGeom>
          <a:ln w="7620">
            <a:solidFill>
              <a:srgbClr val="E5EA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22376" y="3133344"/>
            <a:ext cx="457200" cy="1240536"/>
          </a:xfrm>
          <a:prstGeom prst="rect">
            <a:avLst/>
          </a:prstGeom>
          <a:noFill/>
        </p:spPr>
        <p:txBody>
          <a:bodyPr wrap="square" lIns="0" rIns="0" tIns="0" bIns="0" anchor="ctr">
            <a:spAutoFit/>
          </a:bodyPr>
          <a:lstStyle/>
          <a:p>
            <a:pPr algn="l">
              <a:lnSpc>
                <a:spcPct val="115000"/>
              </a:lnSpc>
            </a:pPr>
            <a:r>
              <a:rPr sz="1630" b="1" i="0">
                <a:solidFill>
                  <a:srgbClr val="028090"/>
                </a:solidFill>
                <a:latin typeface="Arial"/>
              </a:rPr>
              <a:t>2</a:t>
            </a:r>
          </a:p>
        </p:txBody>
      </p:sp>
      <p:sp>
        <p:nvSpPr>
          <p:cNvPr id="9" name="TextBox 8"/>
          <p:cNvSpPr txBox="1"/>
          <p:nvPr/>
        </p:nvSpPr>
        <p:spPr>
          <a:xfrm>
            <a:off x="1225296" y="3133344"/>
            <a:ext cx="10241280" cy="1240536"/>
          </a:xfrm>
          <a:prstGeom prst="rect">
            <a:avLst/>
          </a:prstGeom>
          <a:noFill/>
        </p:spPr>
        <p:txBody>
          <a:bodyPr wrap="square" lIns="0" rIns="0" tIns="0" bIns="0" anchor="ctr">
            <a:spAutoFit/>
          </a:bodyPr>
          <a:lstStyle/>
          <a:p>
            <a:pPr algn="l">
              <a:lnSpc>
                <a:spcPct val="122000"/>
              </a:lnSpc>
            </a:pPr>
            <a:r>
              <a:rPr sz="1230" b="0" i="0">
                <a:solidFill>
                  <a:srgbClr val="21295C"/>
                </a:solidFill>
                <a:latin typeface="Arial"/>
              </a:rPr>
              <a:t>журнал хода работы по задаче, в любом виде — файл на задачу, список шагов, простой лог. Форма не важна, важно, что он есть — всё, что живёт только в сессии, к следующей сессии недоступно (подробный разбор — раздел про память)</a:t>
            </a:r>
          </a:p>
        </p:txBody>
      </p:sp>
      <p:cxnSp>
        <p:nvCxnSpPr>
          <p:cNvPr id="10" name="Connector 9"/>
          <p:cNvCxnSpPr/>
          <p:nvPr/>
        </p:nvCxnSpPr>
        <p:spPr>
          <a:xfrm>
            <a:off x="722376" y="4373880"/>
            <a:ext cx="10744200" cy="0"/>
          </a:xfrm>
          <a:prstGeom prst="line">
            <a:avLst/>
          </a:prstGeom>
          <a:ln w="7620">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22376" y="4373880"/>
            <a:ext cx="457200" cy="1240536"/>
          </a:xfrm>
          <a:prstGeom prst="rect">
            <a:avLst/>
          </a:prstGeom>
          <a:noFill/>
        </p:spPr>
        <p:txBody>
          <a:bodyPr wrap="square" lIns="0" rIns="0" tIns="0" bIns="0" anchor="ctr">
            <a:spAutoFit/>
          </a:bodyPr>
          <a:lstStyle/>
          <a:p>
            <a:pPr algn="l">
              <a:lnSpc>
                <a:spcPct val="115000"/>
              </a:lnSpc>
            </a:pPr>
            <a:r>
              <a:rPr sz="1630" b="1" i="0">
                <a:solidFill>
                  <a:srgbClr val="028090"/>
                </a:solidFill>
                <a:latin typeface="Arial"/>
              </a:rPr>
              <a:t>3</a:t>
            </a:r>
          </a:p>
        </p:txBody>
      </p:sp>
      <p:sp>
        <p:nvSpPr>
          <p:cNvPr id="12" name="TextBox 11"/>
          <p:cNvSpPr txBox="1"/>
          <p:nvPr/>
        </p:nvSpPr>
        <p:spPr>
          <a:xfrm>
            <a:off x="1225296" y="4373880"/>
            <a:ext cx="10241280" cy="1240536"/>
          </a:xfrm>
          <a:prstGeom prst="rect">
            <a:avLst/>
          </a:prstGeom>
          <a:noFill/>
        </p:spPr>
        <p:txBody>
          <a:bodyPr wrap="square" lIns="0" rIns="0" tIns="0" bIns="0" anchor="ctr">
            <a:spAutoFit/>
          </a:bodyPr>
          <a:lstStyle/>
          <a:p>
            <a:pPr algn="l">
              <a:lnSpc>
                <a:spcPct val="122000"/>
              </a:lnSpc>
            </a:pPr>
            <a:r>
              <a:rPr sz="1230" b="0" i="0">
                <a:solidFill>
                  <a:srgbClr val="21295C"/>
                </a:solidFill>
                <a:latin typeface="Arial"/>
              </a:rPr>
              <a:t>правило записывается вместе с причиной — строка «почему» рядом с каждым правилом: какой случай его породил. Без причины правило читается как вкусовщина и снимается первым; с названной ценой — это готовый критерий, когда текст пора подпирать механизмом</a:t>
            </a:r>
          </a:p>
        </p:txBody>
      </p:sp>
      <p:sp>
        <p:nvSpPr>
          <p:cNvPr id="13" name="Rounded Rectangle 12"/>
          <p:cNvSpPr/>
          <p:nvPr/>
        </p:nvSpPr>
        <p:spPr>
          <a:xfrm>
            <a:off x="502920" y="6035040"/>
            <a:ext cx="11183112" cy="3657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6108192"/>
            <a:ext cx="10780776" cy="219456"/>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Ни одна из трёх не требует сигнала и не стоит почти ничего в первый день. Поэтому их и заводят сразу — вместе с гейтом, а не вместо него.</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text-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822960"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1616"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00272" y="548640"/>
            <a:ext cx="1328927" cy="256032"/>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8961120" cy="1005840"/>
          </a:xfrm>
          <a:prstGeom prst="rect">
            <a:avLst/>
          </a:prstGeom>
          <a:noFill/>
        </p:spPr>
        <p:txBody>
          <a:bodyPr wrap="square" lIns="0" rIns="0" tIns="0" bIns="0" anchor="t">
            <a:spAutoFit/>
          </a:bodyPr>
          <a:lstStyle/>
          <a:p>
            <a:pPr algn="l">
              <a:lnSpc>
                <a:spcPct val="105000"/>
              </a:lnSpc>
            </a:pPr>
            <a:r>
              <a:rPr sz="3300" b="1" i="0">
                <a:solidFill>
                  <a:srgbClr val="FFFFFF"/>
                </a:solidFill>
                <a:latin typeface="Arial"/>
              </a:rPr>
              <a:t>Кейс 1.3 · вложенные файлы</a:t>
            </a:r>
          </a:p>
        </p:txBody>
      </p:sp>
      <p:sp>
        <p:nvSpPr>
          <p:cNvPr id="9" name="TextBox 8"/>
          <p:cNvSpPr txBox="1"/>
          <p:nvPr/>
        </p:nvSpPr>
        <p:spPr>
          <a:xfrm>
            <a:off x="868680" y="3090672"/>
            <a:ext cx="8778240" cy="822960"/>
          </a:xfrm>
          <a:prstGeom prst="rect">
            <a:avLst/>
          </a:prstGeom>
          <a:noFill/>
        </p:spPr>
        <p:txBody>
          <a:bodyPr wrap="square" lIns="0" rIns="0" tIns="0" bIns="0" anchor="t">
            <a:spAutoFit/>
          </a:bodyPr>
          <a:lstStyle/>
          <a:p>
            <a:pPr algn="l">
              <a:lnSpc>
                <a:spcPct val="130000"/>
              </a:lnSpc>
            </a:pPr>
            <a:r>
              <a:rPr sz="1600" b="0" i="1">
                <a:solidFill>
                  <a:srgbClr val="CFDCEC"/>
                </a:solidFill>
                <a:latin typeface="Arial"/>
              </a:rPr>
              <a:t>Месяц спустя репозиторий подрос — дробить файл по подпапкам или нет</a:t>
            </a:r>
          </a:p>
        </p:txBody>
      </p:sp>
      <p:sp>
        <p:nvSpPr>
          <p:cNvPr id="10" name="Rounded Rectangle 9"/>
          <p:cNvSpPr/>
          <p:nvPr/>
        </p:nvSpPr>
        <p:spPr>
          <a:xfrm>
            <a:off x="868680" y="3950208"/>
            <a:ext cx="5486400" cy="502920"/>
          </a:xfrm>
          <a:prstGeom prst="roundRect">
            <a:avLst>
              <a:gd name="adj" fmla="val 28000"/>
            </a:avLst>
          </a:prstGeom>
          <a:solidFill>
            <a:srgbClr val="0B143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950208"/>
            <a:ext cx="4974336" cy="502920"/>
          </a:xfrm>
          <a:prstGeom prst="rect">
            <a:avLst/>
          </a:prstGeom>
          <a:noFill/>
        </p:spPr>
        <p:txBody>
          <a:bodyPr wrap="square" lIns="0" rIns="0" tIns="0" bIns="0" anchor="ctr">
            <a:spAutoFit/>
          </a:bodyPr>
          <a:lstStyle/>
          <a:p>
            <a:pPr algn="ctr">
              <a:lnSpc>
                <a:spcPct val="115000"/>
              </a:lnSpc>
            </a:pPr>
            <a:r>
              <a:rPr sz="1100" b="1" i="0">
                <a:solidFill>
                  <a:srgbClr val="028090"/>
                </a:solidFill>
                <a:latin typeface="Arial"/>
              </a:rPr>
              <a:t>ФОРМА ФАЙЛА, А НЕ СОДЕРЖИМОЕ</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1.3 · ДВА КУСКА ЗНАНИЯ</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За месяц накопились два куска знания разной природы — конвенция целой папки и деталь про одну функцию, — и разработчик поступает с обоими одинаково: заводит вложенные файлы инструкций</a:t>
            </a:r>
          </a:p>
        </p:txBody>
      </p:sp>
      <p:sp>
        <p:nvSpPr>
          <p:cNvPr id="4" name="Rounded Rectangle 3"/>
          <p:cNvSpPr/>
          <p:nvPr/>
        </p:nvSpPr>
        <p:spPr>
          <a:xfrm>
            <a:off x="502920" y="2176272"/>
            <a:ext cx="5349240" cy="2971800"/>
          </a:xfrm>
          <a:prstGeom prst="roundRect">
            <a:avLst>
              <a:gd name="adj" fmla="val 1025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04288"/>
            <a:ext cx="4983479" cy="2715768"/>
          </a:xfrm>
          <a:prstGeom prst="rect">
            <a:avLst/>
          </a:prstGeom>
          <a:noFill/>
        </p:spPr>
        <p:txBody>
          <a:bodyPr wrap="square" lIns="0" rIns="0" tIns="0" bIns="0" anchor="t">
            <a:spAutoFit/>
          </a:bodyPr>
          <a:lstStyle/>
          <a:p>
            <a:pPr algn="l">
              <a:lnSpc>
                <a:spcPct val="126000"/>
              </a:lnSpc>
            </a:pPr>
            <a:r>
              <a:rPr sz="1180" b="0" i="0">
                <a:solidFill>
                  <a:srgbClr val="21295C"/>
                </a:solidFill>
                <a:latin typeface="Arial"/>
              </a:rPr>
              <a:t>Конвенция папки tests/ — как называются файлы проверок и что со страницей работают через объект страницы, а не через селекторы напрямую. Нужна всякий раз, когда трогают тесты.
Деталь про одну функцию — submitForm() в src/main.js при таймауте повторяет запрос один раз, поэтому обработчик на сервере обязан быть идемпотентным. Нужна тому, кто правит эту функцию, и больше никому.</a:t>
            </a:r>
          </a:p>
        </p:txBody>
      </p:sp>
      <p:sp>
        <p:nvSpPr>
          <p:cNvPr id="6" name="Rounded Rectangle 5"/>
          <p:cNvSpPr/>
          <p:nvPr/>
        </p:nvSpPr>
        <p:spPr>
          <a:xfrm>
            <a:off x="6153912" y="2176272"/>
            <a:ext cx="5349240" cy="297180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79" y="2377440"/>
            <a:ext cx="4946903"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что сделал разработчик</a:t>
            </a:r>
          </a:p>
        </p:txBody>
      </p:sp>
      <p:sp>
        <p:nvSpPr>
          <p:cNvPr id="8" name="TextBox 7"/>
          <p:cNvSpPr txBox="1"/>
          <p:nvPr/>
        </p:nvSpPr>
        <p:spPr>
          <a:xfrm>
            <a:off x="6355079" y="2688336"/>
            <a:ext cx="4946903" cy="2258568"/>
          </a:xfrm>
          <a:prstGeom prst="rect">
            <a:avLst/>
          </a:prstGeom>
          <a:noFill/>
        </p:spPr>
        <p:txBody>
          <a:bodyPr wrap="square" lIns="0" rIns="0" tIns="0" bIns="0" anchor="t">
            <a:spAutoFit/>
          </a:bodyPr>
          <a:lstStyle/>
          <a:p>
            <a:pPr algn="l">
              <a:lnSpc>
                <a:spcPct val="132000"/>
              </a:lnSpc>
              <a:spcAft>
                <a:spcPts val="200"/>
              </a:spcAft>
            </a:pPr>
            <a:r>
              <a:rPr sz="1080" b="1" i="0">
                <a:solidFill>
                  <a:srgbClr val="F0AB00"/>
                </a:solidFill>
                <a:latin typeface="Consolas"/>
              </a:rPr>
              <a:t>tests/CLAUDE.md     ← конвенция папки</a:t>
            </a:r>
          </a:p>
          <a:p>
            <a:pPr algn="l">
              <a:lnSpc>
                <a:spcPct val="132000"/>
              </a:lnSpc>
              <a:spcAft>
                <a:spcPts val="200"/>
              </a:spcAft>
            </a:pPr>
            <a:r>
              <a:rPr sz="1080" b="1" i="0">
                <a:solidFill>
                  <a:srgbClr val="F0AB00"/>
                </a:solidFill>
                <a:latin typeface="Consolas"/>
              </a:rPr>
              <a:t>src/CLAUDE.md       ← деталь про функцию</a:t>
            </a:r>
          </a:p>
          <a:p>
            <a:pPr algn="l">
              <a:lnSpc>
                <a:spcPct val="132000"/>
              </a:lnSpc>
              <a:spcAft>
                <a:spcPts val="200"/>
              </a:spcAft>
            </a:pPr>
            <a:r>
              <a:rPr sz="1080" b="0" i="0">
                <a:solidFill>
                  <a:srgbClr val="E3E9F2"/>
                </a:solidFill>
                <a:latin typeface="Consolas"/>
              </a:rPr>
              <a:t/>
            </a:r>
          </a:p>
          <a:p>
            <a:pPr algn="l">
              <a:lnSpc>
                <a:spcPct val="132000"/>
              </a:lnSpc>
              <a:spcAft>
                <a:spcPts val="200"/>
              </a:spcAft>
            </a:pPr>
            <a:r>
              <a:rPr sz="1080" b="0" i="0">
                <a:solidFill>
                  <a:srgbClr val="8B9BB4"/>
                </a:solidFill>
                <a:latin typeface="Consolas"/>
              </a:rPr>
              <a:t>«Вынесу каждое туда, где оно применяется —</a:t>
            </a:r>
          </a:p>
          <a:p>
            <a:pPr algn="l">
              <a:lnSpc>
                <a:spcPct val="132000"/>
              </a:lnSpc>
              <a:spcAft>
                <a:spcPts val="200"/>
              </a:spcAft>
            </a:pPr>
            <a:r>
              <a:rPr sz="1080" b="0" i="0">
                <a:solidFill>
                  <a:srgbClr val="8B9BB4"/>
                </a:solidFill>
                <a:latin typeface="Consolas"/>
              </a:rPr>
              <a:t> короче, релевантнее контексту, корневой</a:t>
            </a:r>
          </a:p>
          <a:p>
            <a:pPr algn="l">
              <a:lnSpc>
                <a:spcPct val="132000"/>
              </a:lnSpc>
              <a:spcAft>
                <a:spcPts val="200"/>
              </a:spcAft>
            </a:pPr>
            <a:r>
              <a:rPr sz="1080" b="0" i="0">
                <a:solidFill>
                  <a:srgbClr val="8B9BB4"/>
                </a:solidFill>
                <a:latin typeface="Consolas"/>
              </a:rPr>
              <a:t> файл не разбухнет.»</a:t>
            </a:r>
          </a:p>
        </p:txBody>
      </p:sp>
      <p:sp>
        <p:nvSpPr>
          <p:cNvPr id="9" name="Rounded Rectangle 8"/>
          <p:cNvSpPr/>
          <p:nvPr/>
        </p:nvSpPr>
        <p:spPr>
          <a:xfrm>
            <a:off x="502920" y="5349240"/>
            <a:ext cx="11183112" cy="1051559"/>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422392"/>
            <a:ext cx="10780776" cy="905255"/>
          </a:xfrm>
          <a:prstGeom prst="rect">
            <a:avLst/>
          </a:prstGeom>
          <a:noFill/>
        </p:spPr>
        <p:txBody>
          <a:bodyPr wrap="square" lIns="0" rIns="0" tIns="0" bIns="0" anchor="ctr">
            <a:spAutoFit/>
          </a:bodyPr>
          <a:lstStyle/>
          <a:p>
            <a:pPr algn="ctr">
              <a:lnSpc>
                <a:spcPct val="122000"/>
              </a:lnSpc>
            </a:pPr>
            <a:r>
              <a:rPr sz="1400" b="1" i="0">
                <a:solidFill>
                  <a:srgbClr val="21295C"/>
                </a:solidFill>
                <a:latin typeface="Arial"/>
              </a:rPr>
              <a:t>«Оба файла лежат в подпапках. Расчёт — что агент прочитает их сам, когда будет работать в этих папках.»</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1.3 · ВОПРОС</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Куда положить каждый из двух кусков знания, чтобы агент получил его тогда, когда оно нужно, и не платил за него в остальных сессиях</a:t>
            </a:r>
          </a:p>
        </p:txBody>
      </p:sp>
      <p:sp>
        <p:nvSpPr>
          <p:cNvPr id="4" name="TextBox 3"/>
          <p:cNvSpPr txBox="1"/>
          <p:nvPr/>
        </p:nvSpPr>
        <p:spPr>
          <a:xfrm>
            <a:off x="502920" y="1993392"/>
            <a:ext cx="11183112" cy="777240"/>
          </a:xfrm>
          <a:prstGeom prst="rect">
            <a:avLst/>
          </a:prstGeom>
          <a:noFill/>
        </p:spPr>
        <p:txBody>
          <a:bodyPr wrap="square" lIns="0" rIns="0" tIns="0" bIns="0" anchor="t">
            <a:spAutoFit/>
          </a:bodyPr>
          <a:lstStyle/>
          <a:p>
            <a:pPr algn="l">
              <a:lnSpc>
                <a:spcPct val="122000"/>
              </a:lnSpc>
            </a:pPr>
            <a:r>
              <a:rPr sz="1200" b="0" i="1">
                <a:solidFill>
                  <a:srgbClr val="6B7685"/>
                </a:solidFill>
                <a:latin typeface="Arial"/>
              </a:rPr>
              <a:t>Два куска знания: конвенция для всей папки tests/ и деталь про одну функцию в src/main.js. Карточек можно выбрать несколько.</a:t>
            </a:r>
          </a:p>
        </p:txBody>
      </p:sp>
      <p:sp>
        <p:nvSpPr>
          <p:cNvPr id="5" name="Rounded Rectangle 4"/>
          <p:cNvSpPr/>
          <p:nvPr/>
        </p:nvSpPr>
        <p:spPr>
          <a:xfrm>
            <a:off x="502920" y="2862072"/>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2935224"/>
            <a:ext cx="10780776" cy="63093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«Выберите из карточек, куда положить каждый кусок, чтобы агент получил его тогда, когда оно нужно, и не платил за него в остальных сессиях.»</a:t>
            </a:r>
          </a:p>
        </p:txBody>
      </p:sp>
      <p:sp>
        <p:nvSpPr>
          <p:cNvPr id="7" name="Rounded Rectangle 6"/>
          <p:cNvSpPr/>
          <p:nvPr/>
        </p:nvSpPr>
        <p:spPr>
          <a:xfrm>
            <a:off x="502920" y="38404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38404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вложенный файл</a:t>
            </a:r>
          </a:p>
          <a:p>
            <a:pPr algn="ctr">
              <a:lnSpc>
                <a:spcPct val="115000"/>
              </a:lnSpc>
              <a:spcAft>
                <a:spcPts val="0"/>
              </a:spcAft>
            </a:pPr>
            <a:r>
              <a:rPr sz="1250" b="1" i="0">
                <a:solidFill>
                  <a:srgbClr val="21295C"/>
                </a:solidFill>
                <a:latin typeface="Arial"/>
              </a:rPr>
              <a:t>инструкций в самой папке</a:t>
            </a:r>
          </a:p>
        </p:txBody>
      </p:sp>
      <p:sp>
        <p:nvSpPr>
          <p:cNvPr id="9" name="Rounded Rectangle 8"/>
          <p:cNvSpPr/>
          <p:nvPr/>
        </p:nvSpPr>
        <p:spPr>
          <a:xfrm>
            <a:off x="2768803" y="38404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1955" y="38404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правило с объявленным</a:t>
            </a:r>
          </a:p>
          <a:p>
            <a:pPr algn="ctr">
              <a:lnSpc>
                <a:spcPct val="115000"/>
              </a:lnSpc>
              <a:spcAft>
                <a:spcPts val="0"/>
              </a:spcAft>
            </a:pPr>
            <a:r>
              <a:rPr sz="1250" b="1" i="0">
                <a:solidFill>
                  <a:srgbClr val="21295C"/>
                </a:solidFill>
                <a:latin typeface="Arial"/>
              </a:rPr>
              <a:t>шаблоном путей</a:t>
            </a:r>
          </a:p>
        </p:txBody>
      </p:sp>
      <p:sp>
        <p:nvSpPr>
          <p:cNvPr id="11" name="Rounded Rectangle 10"/>
          <p:cNvSpPr/>
          <p:nvPr/>
        </p:nvSpPr>
        <p:spPr>
          <a:xfrm>
            <a:off x="5034686" y="38404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07838" y="38404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комментарий</a:t>
            </a:r>
          </a:p>
          <a:p>
            <a:pPr algn="ctr">
              <a:lnSpc>
                <a:spcPct val="115000"/>
              </a:lnSpc>
              <a:spcAft>
                <a:spcPts val="0"/>
              </a:spcAft>
            </a:pPr>
            <a:r>
              <a:rPr sz="1250" b="1" i="0">
                <a:solidFill>
                  <a:srgbClr val="21295C"/>
                </a:solidFill>
                <a:latin typeface="Arial"/>
              </a:rPr>
              <a:t>рядом с самим кодом</a:t>
            </a:r>
          </a:p>
        </p:txBody>
      </p:sp>
      <p:sp>
        <p:nvSpPr>
          <p:cNvPr id="13" name="Rounded Rectangle 12"/>
          <p:cNvSpPr/>
          <p:nvPr/>
        </p:nvSpPr>
        <p:spPr>
          <a:xfrm>
            <a:off x="7300569" y="38404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3721" y="38404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отдельный документ +</a:t>
            </a:r>
          </a:p>
          <a:p>
            <a:pPr algn="ctr">
              <a:lnSpc>
                <a:spcPct val="115000"/>
              </a:lnSpc>
              <a:spcAft>
                <a:spcPts val="0"/>
              </a:spcAft>
            </a:pPr>
            <a:r>
              <a:rPr sz="1250" b="1" i="0">
                <a:solidFill>
                  <a:srgbClr val="21295C"/>
                </a:solidFill>
                <a:latin typeface="Arial"/>
              </a:rPr>
              <a:t>указатель в корневом файле</a:t>
            </a:r>
          </a:p>
        </p:txBody>
      </p:sp>
      <p:sp>
        <p:nvSpPr>
          <p:cNvPr id="15" name="Rounded Rectangle 14"/>
          <p:cNvSpPr/>
          <p:nvPr/>
        </p:nvSpPr>
        <p:spPr>
          <a:xfrm>
            <a:off x="9566452" y="38404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39604" y="38404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дописать в</a:t>
            </a:r>
          </a:p>
          <a:p>
            <a:pPr algn="ctr">
              <a:lnSpc>
                <a:spcPct val="115000"/>
              </a:lnSpc>
              <a:spcAft>
                <a:spcPts val="0"/>
              </a:spcAft>
            </a:pPr>
            <a:r>
              <a:rPr sz="1250" b="1" i="0">
                <a:solidFill>
                  <a:srgbClr val="21295C"/>
                </a:solidFill>
                <a:latin typeface="Arial"/>
              </a:rPr>
              <a:t>корневой файл инструкций</a:t>
            </a:r>
          </a:p>
        </p:txBody>
      </p:sp>
      <p:sp>
        <p:nvSpPr>
          <p:cNvPr id="17" name="TextBox 16"/>
          <p:cNvSpPr txBox="1"/>
          <p:nvPr/>
        </p:nvSpPr>
        <p:spPr>
          <a:xfrm>
            <a:off x="502920" y="5586984"/>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разбор — на следующем слайде</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1.3 · ИССЛЕДОВАНИЕ (1/2)</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«Куда положить» — это вопрос «дойдёт ли текст до агента и сколько он стоит»; у пяти каналов пять разных ответов, и три инструмента из четырёх независимо сошлись на объявленном шаблоне путей</a:t>
            </a:r>
          </a:p>
        </p:txBody>
      </p:sp>
      <p:sp>
        <p:nvSpPr>
          <p:cNvPr id="4" name="Rounded Rectangle 3"/>
          <p:cNvSpPr/>
          <p:nvPr/>
        </p:nvSpPr>
        <p:spPr>
          <a:xfrm>
            <a:off x="502920" y="2176272"/>
            <a:ext cx="11183112" cy="1965960"/>
          </a:xfrm>
          <a:prstGeom prst="roundRect">
            <a:avLst>
              <a:gd name="adj" fmla="val 155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59152"/>
            <a:ext cx="3172053"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Канал</a:t>
            </a:r>
          </a:p>
        </p:txBody>
      </p:sp>
      <p:sp>
        <p:nvSpPr>
          <p:cNvPr id="6" name="TextBox 5"/>
          <p:cNvSpPr txBox="1"/>
          <p:nvPr/>
        </p:nvSpPr>
        <p:spPr>
          <a:xfrm>
            <a:off x="3931005" y="2359152"/>
            <a:ext cx="2739359"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Когда доходит</a:t>
            </a:r>
          </a:p>
        </p:txBody>
      </p:sp>
      <p:sp>
        <p:nvSpPr>
          <p:cNvPr id="7" name="TextBox 6"/>
          <p:cNvSpPr txBox="1"/>
          <p:nvPr/>
        </p:nvSpPr>
        <p:spPr>
          <a:xfrm>
            <a:off x="6743517" y="2359152"/>
            <a:ext cx="2523012"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Гарантия</a:t>
            </a:r>
          </a:p>
        </p:txBody>
      </p:sp>
      <p:sp>
        <p:nvSpPr>
          <p:cNvPr id="8" name="TextBox 7"/>
          <p:cNvSpPr txBox="1"/>
          <p:nvPr/>
        </p:nvSpPr>
        <p:spPr>
          <a:xfrm>
            <a:off x="9339681" y="2359152"/>
            <a:ext cx="2090318"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Цена контекста</a:t>
            </a:r>
          </a:p>
        </p:txBody>
      </p:sp>
      <p:sp>
        <p:nvSpPr>
          <p:cNvPr id="9" name="TextBox 8"/>
          <p:cNvSpPr txBox="1"/>
          <p:nvPr/>
        </p:nvSpPr>
        <p:spPr>
          <a:xfrm>
            <a:off x="685800" y="2743200"/>
            <a:ext cx="3153765"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Корневой файл + @-импорты</a:t>
            </a:r>
          </a:p>
        </p:txBody>
      </p:sp>
      <p:sp>
        <p:nvSpPr>
          <p:cNvPr id="10" name="TextBox 9"/>
          <p:cNvSpPr txBox="1"/>
          <p:nvPr/>
        </p:nvSpPr>
        <p:spPr>
          <a:xfrm>
            <a:off x="3931005" y="2743200"/>
            <a:ext cx="2721071"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при старте сессии</a:t>
            </a:r>
          </a:p>
        </p:txBody>
      </p:sp>
      <p:sp>
        <p:nvSpPr>
          <p:cNvPr id="11" name="TextBox 10"/>
          <p:cNvSpPr txBox="1"/>
          <p:nvPr/>
        </p:nvSpPr>
        <p:spPr>
          <a:xfrm>
            <a:off x="6743517" y="2743200"/>
            <a:ext cx="2504724"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есть</a:t>
            </a:r>
          </a:p>
        </p:txBody>
      </p:sp>
      <p:sp>
        <p:nvSpPr>
          <p:cNvPr id="12" name="TextBox 11"/>
          <p:cNvSpPr txBox="1"/>
          <p:nvPr/>
        </p:nvSpPr>
        <p:spPr>
          <a:xfrm>
            <a:off x="9339681" y="2743200"/>
            <a:ext cx="2072030"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платится всегда</a:t>
            </a:r>
          </a:p>
        </p:txBody>
      </p:sp>
      <p:cxnSp>
        <p:nvCxnSpPr>
          <p:cNvPr id="13" name="Connector 12"/>
          <p:cNvCxnSpPr/>
          <p:nvPr/>
        </p:nvCxnSpPr>
        <p:spPr>
          <a:xfrm>
            <a:off x="685800" y="298643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2986430"/>
            <a:ext cx="3153765"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Правило с шаблоном путей</a:t>
            </a:r>
          </a:p>
        </p:txBody>
      </p:sp>
      <p:sp>
        <p:nvSpPr>
          <p:cNvPr id="15" name="TextBox 14"/>
          <p:cNvSpPr txBox="1"/>
          <p:nvPr/>
        </p:nvSpPr>
        <p:spPr>
          <a:xfrm>
            <a:off x="3931005" y="2986430"/>
            <a:ext cx="2721071"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когда файл подходит под шаблон</a:t>
            </a:r>
          </a:p>
        </p:txBody>
      </p:sp>
      <p:sp>
        <p:nvSpPr>
          <p:cNvPr id="16" name="TextBox 15"/>
          <p:cNvSpPr txBox="1"/>
          <p:nvPr/>
        </p:nvSpPr>
        <p:spPr>
          <a:xfrm>
            <a:off x="6743517" y="2986430"/>
            <a:ext cx="2504724"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условная — триггер явный</a:t>
            </a:r>
          </a:p>
        </p:txBody>
      </p:sp>
      <p:sp>
        <p:nvSpPr>
          <p:cNvPr id="17" name="TextBox 16"/>
          <p:cNvSpPr txBox="1"/>
          <p:nvPr/>
        </p:nvSpPr>
        <p:spPr>
          <a:xfrm>
            <a:off x="9339681" y="2986430"/>
            <a:ext cx="2072030"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ноль до срабатывания</a:t>
            </a:r>
          </a:p>
        </p:txBody>
      </p:sp>
      <p:cxnSp>
        <p:nvCxnSpPr>
          <p:cNvPr id="18" name="Connector 17"/>
          <p:cNvCxnSpPr/>
          <p:nvPr/>
        </p:nvCxnSpPr>
        <p:spPr>
          <a:xfrm>
            <a:off x="685800" y="322966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229660"/>
            <a:ext cx="3153765"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Комментарий рядом с кодом</a:t>
            </a:r>
          </a:p>
        </p:txBody>
      </p:sp>
      <p:sp>
        <p:nvSpPr>
          <p:cNvPr id="20" name="TextBox 19"/>
          <p:cNvSpPr txBox="1"/>
          <p:nvPr/>
        </p:nvSpPr>
        <p:spPr>
          <a:xfrm>
            <a:off x="3931005" y="3229660"/>
            <a:ext cx="2721071"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когда агент открыл файл</a:t>
            </a:r>
          </a:p>
        </p:txBody>
      </p:sp>
      <p:sp>
        <p:nvSpPr>
          <p:cNvPr id="21" name="TextBox 20"/>
          <p:cNvSpPr txBox="1"/>
          <p:nvPr/>
        </p:nvSpPr>
        <p:spPr>
          <a:xfrm>
            <a:off x="6743517" y="3229660"/>
            <a:ext cx="2504724"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следует из механизма</a:t>
            </a:r>
          </a:p>
        </p:txBody>
      </p:sp>
      <p:sp>
        <p:nvSpPr>
          <p:cNvPr id="22" name="TextBox 21"/>
          <p:cNvSpPr txBox="1"/>
          <p:nvPr/>
        </p:nvSpPr>
        <p:spPr>
          <a:xfrm>
            <a:off x="9339681" y="3229660"/>
            <a:ext cx="2072030"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ноль сверх читаемого</a:t>
            </a:r>
          </a:p>
        </p:txBody>
      </p:sp>
      <p:cxnSp>
        <p:nvCxnSpPr>
          <p:cNvPr id="23" name="Connector 22"/>
          <p:cNvCxnSpPr/>
          <p:nvPr/>
        </p:nvCxnSpPr>
        <p:spPr>
          <a:xfrm>
            <a:off x="685800" y="347289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57784" y="3472891"/>
            <a:ext cx="11073384" cy="24323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472891"/>
            <a:ext cx="3153765"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Вложенный файл в подпапке</a:t>
            </a:r>
          </a:p>
        </p:txBody>
      </p:sp>
      <p:sp>
        <p:nvSpPr>
          <p:cNvPr id="26" name="TextBox 25"/>
          <p:cNvSpPr txBox="1"/>
          <p:nvPr/>
        </p:nvSpPr>
        <p:spPr>
          <a:xfrm>
            <a:off x="3931005" y="3472891"/>
            <a:ext cx="2721071"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если инструмент так умеет</a:t>
            </a:r>
          </a:p>
        </p:txBody>
      </p:sp>
      <p:sp>
        <p:nvSpPr>
          <p:cNvPr id="27" name="TextBox 26"/>
          <p:cNvSpPr txBox="1"/>
          <p:nvPr/>
        </p:nvSpPr>
        <p:spPr>
          <a:xfrm>
            <a:off x="6743517" y="3472891"/>
            <a:ext cx="2504724"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НЕТ ни в одном из 4 инструментов</a:t>
            </a:r>
          </a:p>
        </p:txBody>
      </p:sp>
      <p:sp>
        <p:nvSpPr>
          <p:cNvPr id="28" name="TextBox 27"/>
          <p:cNvSpPr txBox="1"/>
          <p:nvPr/>
        </p:nvSpPr>
        <p:spPr>
          <a:xfrm>
            <a:off x="9339681" y="3472891"/>
            <a:ext cx="2072030"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ноль до срабатывания</a:t>
            </a:r>
          </a:p>
        </p:txBody>
      </p:sp>
      <p:cxnSp>
        <p:nvCxnSpPr>
          <p:cNvPr id="29" name="Connector 28"/>
          <p:cNvCxnSpPr/>
          <p:nvPr/>
        </p:nvCxnSpPr>
        <p:spPr>
          <a:xfrm>
            <a:off x="685800" y="371612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85800" y="3716121"/>
            <a:ext cx="3153765"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Отдельный документ без указателя</a:t>
            </a:r>
          </a:p>
        </p:txBody>
      </p:sp>
      <p:sp>
        <p:nvSpPr>
          <p:cNvPr id="31" name="TextBox 30"/>
          <p:cNvSpPr txBox="1"/>
          <p:nvPr/>
        </p:nvSpPr>
        <p:spPr>
          <a:xfrm>
            <a:off x="3931005" y="3716121"/>
            <a:ext cx="2721071"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если агент догадается</a:t>
            </a:r>
          </a:p>
        </p:txBody>
      </p:sp>
      <p:sp>
        <p:nvSpPr>
          <p:cNvPr id="32" name="TextBox 31"/>
          <p:cNvSpPr txBox="1"/>
          <p:nvPr/>
        </p:nvSpPr>
        <p:spPr>
          <a:xfrm>
            <a:off x="6743517" y="3716121"/>
            <a:ext cx="2504724"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нет</a:t>
            </a:r>
          </a:p>
        </p:txBody>
      </p:sp>
      <p:sp>
        <p:nvSpPr>
          <p:cNvPr id="33" name="TextBox 32"/>
          <p:cNvSpPr txBox="1"/>
          <p:nvPr/>
        </p:nvSpPr>
        <p:spPr>
          <a:xfrm>
            <a:off x="9339681" y="3716121"/>
            <a:ext cx="2072030" cy="243230"/>
          </a:xfrm>
          <a:prstGeom prst="rect">
            <a:avLst/>
          </a:prstGeom>
          <a:noFill/>
        </p:spPr>
        <p:txBody>
          <a:bodyPr wrap="square" lIns="0" rIns="0" tIns="0" bIns="0" anchor="ctr">
            <a:spAutoFit/>
          </a:bodyPr>
          <a:lstStyle/>
          <a:p>
            <a:pPr algn="l">
              <a:lnSpc>
                <a:spcPct val="115000"/>
              </a:lnSpc>
            </a:pPr>
            <a:r>
              <a:rPr sz="890" b="0" i="0">
                <a:solidFill>
                  <a:srgbClr val="21295C"/>
                </a:solidFill>
                <a:latin typeface="Arial"/>
              </a:rPr>
              <a:t>ноль — и ноль доставки</a:t>
            </a:r>
          </a:p>
        </p:txBody>
      </p:sp>
      <p:sp>
        <p:nvSpPr>
          <p:cNvPr id="34" name="Rounded Rectangle 33"/>
          <p:cNvSpPr/>
          <p:nvPr/>
        </p:nvSpPr>
        <p:spPr>
          <a:xfrm>
            <a:off x="502920" y="4233672"/>
            <a:ext cx="11183112"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4416552"/>
            <a:ext cx="2090318"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Инструмент</a:t>
            </a:r>
          </a:p>
        </p:txBody>
      </p:sp>
      <p:sp>
        <p:nvSpPr>
          <p:cNvPr id="36" name="TextBox 35"/>
          <p:cNvSpPr txBox="1"/>
          <p:nvPr/>
        </p:nvSpPr>
        <p:spPr>
          <a:xfrm>
            <a:off x="2849270" y="4416552"/>
            <a:ext cx="3604747"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Объявленный шаблон путей</a:t>
            </a:r>
          </a:p>
        </p:txBody>
      </p:sp>
      <p:sp>
        <p:nvSpPr>
          <p:cNvPr id="37" name="TextBox 36"/>
          <p:cNvSpPr txBox="1"/>
          <p:nvPr/>
        </p:nvSpPr>
        <p:spPr>
          <a:xfrm>
            <a:off x="6527170" y="4416552"/>
            <a:ext cx="4902829" cy="329184"/>
          </a:xfrm>
          <a:prstGeom prst="rect">
            <a:avLst/>
          </a:prstGeom>
          <a:noFill/>
        </p:spPr>
        <p:txBody>
          <a:bodyPr wrap="square" lIns="0" rIns="0" tIns="0" bIns="0" anchor="t">
            <a:spAutoFit/>
          </a:bodyPr>
          <a:lstStyle/>
          <a:p>
            <a:pPr algn="l">
              <a:lnSpc>
                <a:spcPct val="115000"/>
              </a:lnSpc>
            </a:pPr>
            <a:r>
              <a:rPr sz="930" b="1" i="0">
                <a:solidFill>
                  <a:srgbClr val="6B7685"/>
                </a:solidFill>
                <a:latin typeface="Arial"/>
              </a:rPr>
              <a:t>«Просто положи файл в папку»</a:t>
            </a:r>
          </a:p>
        </p:txBody>
      </p:sp>
      <p:sp>
        <p:nvSpPr>
          <p:cNvPr id="38" name="TextBox 37"/>
          <p:cNvSpPr txBox="1"/>
          <p:nvPr/>
        </p:nvSpPr>
        <p:spPr>
          <a:xfrm>
            <a:off x="685800" y="4800600"/>
            <a:ext cx="2072030"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Claude Code</a:t>
            </a:r>
          </a:p>
        </p:txBody>
      </p:sp>
      <p:sp>
        <p:nvSpPr>
          <p:cNvPr id="39" name="TextBox 38"/>
          <p:cNvSpPr txBox="1"/>
          <p:nvPr/>
        </p:nvSpPr>
        <p:spPr>
          <a:xfrm>
            <a:off x="2849270" y="4800600"/>
            <a:ext cx="3586459"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.claude/rules/*.md, поле paths:</a:t>
            </a:r>
          </a:p>
        </p:txBody>
      </p:sp>
      <p:sp>
        <p:nvSpPr>
          <p:cNvPr id="40" name="TextBox 39"/>
          <p:cNvSpPr txBox="1"/>
          <p:nvPr/>
        </p:nvSpPr>
        <p:spPr>
          <a:xfrm>
            <a:off x="6527170" y="4800600"/>
            <a:ext cx="4884541"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вложенный CLAUDE.md — #2571 закрыт «not planned»</a:t>
            </a:r>
          </a:p>
        </p:txBody>
      </p:sp>
      <p:cxnSp>
        <p:nvCxnSpPr>
          <p:cNvPr id="41" name="Connector 40"/>
          <p:cNvCxnSpPr/>
          <p:nvPr/>
        </p:nvCxnSpPr>
        <p:spPr>
          <a:xfrm>
            <a:off x="685800" y="503605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85800" y="5036058"/>
            <a:ext cx="2072030"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Cursor</a:t>
            </a:r>
          </a:p>
        </p:txBody>
      </p:sp>
      <p:sp>
        <p:nvSpPr>
          <p:cNvPr id="43" name="TextBox 42"/>
          <p:cNvSpPr txBox="1"/>
          <p:nvPr/>
        </p:nvSpPr>
        <p:spPr>
          <a:xfrm>
            <a:off x="2849270" y="5036058"/>
            <a:ext cx="3586459"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.cursor/rules/*.mdc, поле globs:</a:t>
            </a:r>
          </a:p>
        </p:txBody>
      </p:sp>
      <p:sp>
        <p:nvSpPr>
          <p:cNvPr id="44" name="TextBox 43"/>
          <p:cNvSpPr txBox="1"/>
          <p:nvPr/>
        </p:nvSpPr>
        <p:spPr>
          <a:xfrm>
            <a:off x="6527170" y="5036058"/>
            <a:ext cx="4884541"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вложенные AGENTS.md — признанный баг</a:t>
            </a:r>
          </a:p>
        </p:txBody>
      </p:sp>
      <p:cxnSp>
        <p:nvCxnSpPr>
          <p:cNvPr id="45" name="Connector 44"/>
          <p:cNvCxnSpPr/>
          <p:nvPr/>
        </p:nvCxnSpPr>
        <p:spPr>
          <a:xfrm>
            <a:off x="685800" y="52715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85800" y="5271516"/>
            <a:ext cx="2072030"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VS Code (Copilot)</a:t>
            </a:r>
          </a:p>
        </p:txBody>
      </p:sp>
      <p:sp>
        <p:nvSpPr>
          <p:cNvPr id="47" name="TextBox 46"/>
          <p:cNvSpPr txBox="1"/>
          <p:nvPr/>
        </p:nvSpPr>
        <p:spPr>
          <a:xfrm>
            <a:off x="2849270" y="5271516"/>
            <a:ext cx="3586459"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.instructions.md, поле applyTo:</a:t>
            </a:r>
          </a:p>
        </p:txBody>
      </p:sp>
      <p:sp>
        <p:nvSpPr>
          <p:cNvPr id="48" name="TextBox 47"/>
          <p:cNvSpPr txBox="1"/>
          <p:nvPr/>
        </p:nvSpPr>
        <p:spPr>
          <a:xfrm>
            <a:off x="6527170" y="5271516"/>
            <a:ext cx="4884541"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вложенные AGENTS.md — экспериментально, выключено по умолчанию</a:t>
            </a:r>
          </a:p>
        </p:txBody>
      </p:sp>
      <p:cxnSp>
        <p:nvCxnSpPr>
          <p:cNvPr id="49" name="Connector 48"/>
          <p:cNvCxnSpPr/>
          <p:nvPr/>
        </p:nvCxnSpPr>
        <p:spPr>
          <a:xfrm>
            <a:off x="685800" y="550697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85800" y="5506974"/>
            <a:ext cx="2072030"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Copilot CLI</a:t>
            </a:r>
          </a:p>
        </p:txBody>
      </p:sp>
      <p:sp>
        <p:nvSpPr>
          <p:cNvPr id="51" name="TextBox 50"/>
          <p:cNvSpPr txBox="1"/>
          <p:nvPr/>
        </p:nvSpPr>
        <p:spPr>
          <a:xfrm>
            <a:off x="2849270" y="5506974"/>
            <a:ext cx="3586459"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a:t>
            </a:r>
          </a:p>
        </p:txBody>
      </p:sp>
      <p:sp>
        <p:nvSpPr>
          <p:cNvPr id="52" name="TextBox 51"/>
          <p:cNvSpPr txBox="1"/>
          <p:nvPr/>
        </p:nvSpPr>
        <p:spPr>
          <a:xfrm>
            <a:off x="6527170" y="5506974"/>
            <a:ext cx="4884541" cy="235458"/>
          </a:xfrm>
          <a:prstGeom prst="rect">
            <a:avLst/>
          </a:prstGeom>
          <a:noFill/>
        </p:spPr>
        <p:txBody>
          <a:bodyPr wrap="square" lIns="0" rIns="0" tIns="0" bIns="0" anchor="ctr">
            <a:spAutoFit/>
          </a:bodyPr>
          <a:lstStyle/>
          <a:p>
            <a:pPr algn="l">
              <a:lnSpc>
                <a:spcPct val="115000"/>
              </a:lnSpc>
            </a:pPr>
            <a:r>
              <a:rPr sz="860" b="0" i="0">
                <a:solidFill>
                  <a:srgbClr val="21295C"/>
                </a:solidFill>
                <a:latin typeface="Arial"/>
              </a:rPr>
              <a:t>рекурсивного обнаружения нет вовсе — #3051</a:t>
            </a:r>
          </a:p>
        </p:txBody>
      </p:sp>
      <p:sp>
        <p:nvSpPr>
          <p:cNvPr id="53" name="TextBox 52"/>
          <p:cNvSpPr txBox="1"/>
          <p:nvPr/>
        </p:nvSpPr>
        <p:spPr>
          <a:xfrm>
            <a:off x="502920" y="6016752"/>
            <a:ext cx="11183112" cy="521207"/>
          </a:xfrm>
          <a:prstGeom prst="rect">
            <a:avLst/>
          </a:prstGeom>
          <a:noFill/>
        </p:spPr>
        <p:txBody>
          <a:bodyPr wrap="square" lIns="0" rIns="0" tIns="0" bIns="0" anchor="t">
            <a:spAutoFit/>
          </a:bodyPr>
          <a:lstStyle/>
          <a:p>
            <a:pPr algn="l">
              <a:lnSpc>
                <a:spcPct val="122000"/>
              </a:lnSpc>
            </a:pPr>
            <a:r>
              <a:rPr sz="1100" b="0" i="1">
                <a:solidFill>
                  <a:srgbClr val="6B7685"/>
                </a:solidFill>
                <a:latin typeface="Arial"/>
              </a:rPr>
              <a:t>Обещание «агенты автоматически читают ближайший файл в дереве каталогов» даёт стандарт agents.md — описание типичного поведения, не требование к инструменту. Обещание не выполняется, потому что его никто и не давал.</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1.3 · ИССЛЕДОВАНИЕ (2/2) И РАЗБОР</a:t>
            </a:r>
          </a:p>
        </p:txBody>
      </p:sp>
      <p:sp>
        <p:nvSpPr>
          <p:cNvPr id="3" name="TextBox 2"/>
          <p:cNvSpPr txBox="1"/>
          <p:nvPr/>
        </p:nvSpPr>
        <p:spPr>
          <a:xfrm>
            <a:off x="502920" y="640080"/>
            <a:ext cx="11183112" cy="777240"/>
          </a:xfrm>
          <a:prstGeom prst="rect">
            <a:avLst/>
          </a:prstGeom>
          <a:noFill/>
        </p:spPr>
        <p:txBody>
          <a:bodyPr wrap="square" lIns="0" rIns="0" tIns="0" bIns="0" anchor="t">
            <a:spAutoFit/>
          </a:bodyPr>
          <a:lstStyle/>
          <a:p>
            <a:pPr algn="l">
              <a:lnSpc>
                <a:spcPct val="114000"/>
              </a:lnSpc>
            </a:pPr>
            <a:r>
              <a:rPr sz="1150" b="1" i="0">
                <a:solidFill>
                  <a:srgbClr val="21295C"/>
                </a:solidFill>
                <a:latin typeface="Arial"/>
              </a:rPr>
              <a:t>Ни одно из двух контролируемых измерений не нашло, что распределение документации улучшает результат — канал выбирается по доставке и цене</a:t>
            </a:r>
          </a:p>
        </p:txBody>
      </p:sp>
      <p:sp>
        <p:nvSpPr>
          <p:cNvPr id="4" name="Rounded Rectangle 3"/>
          <p:cNvSpPr/>
          <p:nvPr/>
        </p:nvSpPr>
        <p:spPr>
          <a:xfrm>
            <a:off x="502920" y="1490472"/>
            <a:ext cx="11183112" cy="1463040"/>
          </a:xfrm>
          <a:prstGeom prst="roundRect">
            <a:avLst>
              <a:gd name="adj" fmla="val 208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73351"/>
            <a:ext cx="2955706"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Источник</a:t>
            </a:r>
          </a:p>
        </p:txBody>
      </p:sp>
      <p:sp>
        <p:nvSpPr>
          <p:cNvPr id="6" name="TextBox 5"/>
          <p:cNvSpPr txBox="1"/>
          <p:nvPr/>
        </p:nvSpPr>
        <p:spPr>
          <a:xfrm>
            <a:off x="3714658" y="1673351"/>
            <a:ext cx="5335524"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Тезис</a:t>
            </a:r>
          </a:p>
        </p:txBody>
      </p:sp>
      <p:sp>
        <p:nvSpPr>
          <p:cNvPr id="7" name="TextBox 6"/>
          <p:cNvSpPr txBox="1"/>
          <p:nvPr/>
        </p:nvSpPr>
        <p:spPr>
          <a:xfrm>
            <a:off x="9123334" y="1673351"/>
            <a:ext cx="2306665"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Сила</a:t>
            </a:r>
          </a:p>
        </p:txBody>
      </p:sp>
      <p:sp>
        <p:nvSpPr>
          <p:cNvPr id="8" name="Rectangle 7"/>
          <p:cNvSpPr/>
          <p:nvPr/>
        </p:nvSpPr>
        <p:spPr>
          <a:xfrm>
            <a:off x="557784" y="2057400"/>
            <a:ext cx="11073384" cy="178308"/>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57400"/>
            <a:ext cx="2937418"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McMillan, 2605.10039 (1650 сессий)</a:t>
            </a:r>
          </a:p>
        </p:txBody>
      </p:sp>
      <p:sp>
        <p:nvSpPr>
          <p:cNvPr id="10" name="TextBox 9"/>
          <p:cNvSpPr txBox="1"/>
          <p:nvPr/>
        </p:nvSpPr>
        <p:spPr>
          <a:xfrm>
            <a:off x="3714658" y="2057400"/>
            <a:ext cx="5317236"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Ни одна из 4 структурных переменных не дала эффекта</a:t>
            </a:r>
          </a:p>
        </p:txBody>
      </p:sp>
      <p:sp>
        <p:nvSpPr>
          <p:cNvPr id="11" name="TextBox 10"/>
          <p:cNvSpPr txBox="1"/>
          <p:nvPr/>
        </p:nvSpPr>
        <p:spPr>
          <a:xfrm>
            <a:off x="9123334" y="2057400"/>
            <a:ext cx="2288377"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Сильное и контринтуитивное</a:t>
            </a:r>
          </a:p>
        </p:txBody>
      </p:sp>
      <p:cxnSp>
        <p:nvCxnSpPr>
          <p:cNvPr id="12" name="Connector 11"/>
          <p:cNvCxnSpPr/>
          <p:nvPr/>
        </p:nvCxnSpPr>
        <p:spPr>
          <a:xfrm>
            <a:off x="685800" y="223570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235708"/>
            <a:ext cx="2937418"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Khatri, 2607.27250 (288 прогонов)</a:t>
            </a:r>
          </a:p>
        </p:txBody>
      </p:sp>
      <p:sp>
        <p:nvSpPr>
          <p:cNvPr id="14" name="TextBox 13"/>
          <p:cNvSpPr txBox="1"/>
          <p:nvPr/>
        </p:nvSpPr>
        <p:spPr>
          <a:xfrm>
            <a:off x="3714658" y="2235708"/>
            <a:ext cx="5317236"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Файл нет/каждый ход/раздельные документы — все в пределах 2 п.п., значимости нет</a:t>
            </a:r>
          </a:p>
        </p:txBody>
      </p:sp>
      <p:sp>
        <p:nvSpPr>
          <p:cNvPr id="15" name="TextBox 14"/>
          <p:cNvSpPr txBox="1"/>
          <p:nvPr/>
        </p:nvSpPr>
        <p:spPr>
          <a:xfrm>
            <a:off x="9123334" y="2235708"/>
            <a:ext cx="2288377"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Сильное по замыслу, слабое по мощности</a:t>
            </a:r>
          </a:p>
        </p:txBody>
      </p:sp>
      <p:cxnSp>
        <p:nvCxnSpPr>
          <p:cNvPr id="16" name="Connector 15"/>
          <p:cNvCxnSpPr/>
          <p:nvPr/>
        </p:nvCxnSpPr>
        <p:spPr>
          <a:xfrm>
            <a:off x="685800" y="241401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2414016"/>
            <a:ext cx="2937418"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Vasilopoulos, 2602.20478 (283 сессии)</a:t>
            </a:r>
          </a:p>
        </p:txBody>
      </p:sp>
      <p:sp>
        <p:nvSpPr>
          <p:cNvPr id="18" name="TextBox 17"/>
          <p:cNvSpPr txBox="1"/>
          <p:nvPr/>
        </p:nvSpPr>
        <p:spPr>
          <a:xfrm>
            <a:off x="3714658" y="2414016"/>
            <a:ext cx="5317236"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Единственный построенный целиком свод: ядро + документы по требованию</a:t>
            </a:r>
          </a:p>
        </p:txBody>
      </p:sp>
      <p:sp>
        <p:nvSpPr>
          <p:cNvPr id="19" name="TextBox 18"/>
          <p:cNvSpPr txBox="1"/>
          <p:nvPr/>
        </p:nvSpPr>
        <p:spPr>
          <a:xfrm>
            <a:off x="9123334" y="2414016"/>
            <a:ext cx="2288377"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Слабое — один человек, без контроля</a:t>
            </a:r>
          </a:p>
        </p:txBody>
      </p:sp>
      <p:cxnSp>
        <p:nvCxnSpPr>
          <p:cNvPr id="20" name="Connector 19"/>
          <p:cNvCxnSpPr/>
          <p:nvPr/>
        </p:nvCxnSpPr>
        <p:spPr>
          <a:xfrm>
            <a:off x="685800" y="259232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2592324"/>
            <a:ext cx="2937418"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Он же, про режим отказа</a:t>
            </a:r>
          </a:p>
        </p:txBody>
      </p:sp>
      <p:sp>
        <p:nvSpPr>
          <p:cNvPr id="22" name="TextBox 21"/>
          <p:cNvSpPr txBox="1"/>
          <p:nvPr/>
        </p:nvSpPr>
        <p:spPr>
          <a:xfrm>
            <a:off x="3714658" y="2592324"/>
            <a:ext cx="5317236"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«Агенты доверяют документации абсолютно» — устаревание главный режим отказа</a:t>
            </a:r>
          </a:p>
        </p:txBody>
      </p:sp>
      <p:sp>
        <p:nvSpPr>
          <p:cNvPr id="23" name="TextBox 22"/>
          <p:cNvSpPr txBox="1"/>
          <p:nvPr/>
        </p:nvSpPr>
        <p:spPr>
          <a:xfrm>
            <a:off x="9123334" y="2592324"/>
            <a:ext cx="2288377" cy="178308"/>
          </a:xfrm>
          <a:prstGeom prst="rect">
            <a:avLst/>
          </a:prstGeom>
          <a:noFill/>
        </p:spPr>
        <p:txBody>
          <a:bodyPr wrap="square" lIns="0" rIns="0" tIns="0" bIns="0" anchor="ctr">
            <a:spAutoFit/>
          </a:bodyPr>
          <a:lstStyle/>
          <a:p>
            <a:pPr algn="l">
              <a:lnSpc>
                <a:spcPct val="115000"/>
              </a:lnSpc>
            </a:pPr>
            <a:r>
              <a:rPr sz="790" b="0" i="0">
                <a:solidFill>
                  <a:srgbClr val="21295C"/>
                </a:solidFill>
                <a:latin typeface="Arial"/>
              </a:rPr>
              <a:t>Прямое наблюдение владельца</a:t>
            </a:r>
          </a:p>
        </p:txBody>
      </p:sp>
      <p:sp>
        <p:nvSpPr>
          <p:cNvPr id="24" name="TextBox 23"/>
          <p:cNvSpPr txBox="1"/>
          <p:nvPr/>
        </p:nvSpPr>
        <p:spPr>
          <a:xfrm>
            <a:off x="502920" y="3026664"/>
            <a:ext cx="11183112" cy="384048"/>
          </a:xfrm>
          <a:prstGeom prst="rect">
            <a:avLst/>
          </a:prstGeom>
          <a:noFill/>
        </p:spPr>
        <p:txBody>
          <a:bodyPr wrap="square" lIns="0" rIns="0" tIns="0" bIns="0" anchor="t">
            <a:spAutoFit/>
          </a:bodyPr>
          <a:lstStyle/>
          <a:p>
            <a:pPr algn="l">
              <a:lnSpc>
                <a:spcPct val="115000"/>
              </a:lnSpc>
            </a:pPr>
            <a:r>
              <a:rPr sz="930" b="0" i="1">
                <a:solidFill>
                  <a:srgbClr val="6B7685"/>
                </a:solidFill>
                <a:latin typeface="Arial"/>
              </a:rPr>
              <a:t>Честно про пробел: «не нашли эффекта» ≠ «эффекта нет»; гарантия комментария в коде выведена из механизма, не измерена; шаблон путей — тоже условная загрузка, не гарантия.</a:t>
            </a:r>
          </a:p>
        </p:txBody>
      </p:sp>
      <p:sp>
        <p:nvSpPr>
          <p:cNvPr id="25" name="Rounded Rectangle 24"/>
          <p:cNvSpPr/>
          <p:nvPr/>
        </p:nvSpPr>
        <p:spPr>
          <a:xfrm>
            <a:off x="502920" y="3447288"/>
            <a:ext cx="11183112" cy="1508760"/>
          </a:xfrm>
          <a:prstGeom prst="roundRect">
            <a:avLst>
              <a:gd name="adj" fmla="val 2020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630168"/>
            <a:ext cx="2739359"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Вариант</a:t>
            </a:r>
          </a:p>
        </p:txBody>
      </p:sp>
      <p:sp>
        <p:nvSpPr>
          <p:cNvPr id="27" name="TextBox 26"/>
          <p:cNvSpPr txBox="1"/>
          <p:nvPr/>
        </p:nvSpPr>
        <p:spPr>
          <a:xfrm>
            <a:off x="3498311" y="3630168"/>
            <a:ext cx="2955706"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Где работает</a:t>
            </a:r>
          </a:p>
        </p:txBody>
      </p:sp>
      <p:sp>
        <p:nvSpPr>
          <p:cNvPr id="28" name="TextBox 27"/>
          <p:cNvSpPr txBox="1"/>
          <p:nvPr/>
        </p:nvSpPr>
        <p:spPr>
          <a:xfrm>
            <a:off x="6527170" y="3630168"/>
            <a:ext cx="4902829" cy="329184"/>
          </a:xfrm>
          <a:prstGeom prst="rect">
            <a:avLst/>
          </a:prstGeom>
          <a:noFill/>
        </p:spPr>
        <p:txBody>
          <a:bodyPr wrap="square" lIns="0" rIns="0" tIns="0" bIns="0" anchor="t">
            <a:spAutoFit/>
          </a:bodyPr>
          <a:lstStyle/>
          <a:p>
            <a:pPr algn="l">
              <a:lnSpc>
                <a:spcPct val="115000"/>
              </a:lnSpc>
            </a:pPr>
            <a:r>
              <a:rPr sz="850" b="1" i="0">
                <a:solidFill>
                  <a:srgbClr val="6B7685"/>
                </a:solidFill>
                <a:latin typeface="Arial"/>
              </a:rPr>
              <a:t>Почему рано — что вместо</a:t>
            </a:r>
          </a:p>
        </p:txBody>
      </p:sp>
      <p:sp>
        <p:nvSpPr>
          <p:cNvPr id="29" name="TextBox 28"/>
          <p:cNvSpPr txBox="1"/>
          <p:nvPr/>
        </p:nvSpPr>
        <p:spPr>
          <a:xfrm>
            <a:off x="685800" y="4014215"/>
            <a:ext cx="272107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«Вложенный файл в папке»</a:t>
            </a:r>
          </a:p>
        </p:txBody>
      </p:sp>
      <p:sp>
        <p:nvSpPr>
          <p:cNvPr id="30" name="TextBox 29"/>
          <p:cNvSpPr txBox="1"/>
          <p:nvPr/>
        </p:nvSpPr>
        <p:spPr>
          <a:xfrm>
            <a:off x="3498311" y="4014215"/>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Нигде гарантированно</a:t>
            </a:r>
          </a:p>
        </p:txBody>
      </p:sp>
      <p:sp>
        <p:nvSpPr>
          <p:cNvPr id="31" name="TextBox 30"/>
          <p:cNvSpPr txBox="1"/>
          <p:nvPr/>
        </p:nvSpPr>
        <p:spPr>
          <a:xfrm>
            <a:off x="6527170" y="4014215"/>
            <a:ext cx="488454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Единственный вариант без гарантии во всех 4 инструментах</a:t>
            </a:r>
          </a:p>
        </p:txBody>
      </p:sp>
      <p:cxnSp>
        <p:nvCxnSpPr>
          <p:cNvPr id="32" name="Connector 31"/>
          <p:cNvCxnSpPr/>
          <p:nvPr/>
        </p:nvCxnSpPr>
        <p:spPr>
          <a:xfrm>
            <a:off x="685800" y="416600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85800" y="4166006"/>
            <a:ext cx="272107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«Правило с шаблоном путей»</a:t>
            </a:r>
          </a:p>
        </p:txBody>
      </p:sp>
      <p:sp>
        <p:nvSpPr>
          <p:cNvPr id="34" name="TextBox 33"/>
          <p:cNvSpPr txBox="1"/>
          <p:nvPr/>
        </p:nvSpPr>
        <p:spPr>
          <a:xfrm>
            <a:off x="3498311" y="4166006"/>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Когда у класса файлов есть конвенция</a:t>
            </a:r>
          </a:p>
        </p:txBody>
      </p:sp>
      <p:sp>
        <p:nvSpPr>
          <p:cNvPr id="35" name="TextBox 34"/>
          <p:cNvSpPr txBox="1"/>
          <p:nvPr/>
        </p:nvSpPr>
        <p:spPr>
          <a:xfrm>
            <a:off x="6527170" y="4166006"/>
            <a:ext cx="488454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Верно, но не у нас — конвенция tests/ помещается в 2 строки</a:t>
            </a:r>
          </a:p>
        </p:txBody>
      </p:sp>
      <p:cxnSp>
        <p:nvCxnSpPr>
          <p:cNvPr id="36" name="Connector 35"/>
          <p:cNvCxnSpPr/>
          <p:nvPr/>
        </p:nvCxnSpPr>
        <p:spPr>
          <a:xfrm>
            <a:off x="685800" y="43177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57784" y="4317796"/>
            <a:ext cx="11073384" cy="15179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317796"/>
            <a:ext cx="272107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«Комментарий рядом с кодом»</a:t>
            </a:r>
          </a:p>
        </p:txBody>
      </p:sp>
      <p:sp>
        <p:nvSpPr>
          <p:cNvPr id="39" name="TextBox 38"/>
          <p:cNvSpPr txBox="1"/>
          <p:nvPr/>
        </p:nvSpPr>
        <p:spPr>
          <a:xfrm>
            <a:off x="3498311" y="4317796"/>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Всегда — для знания про код</a:t>
            </a:r>
          </a:p>
        </p:txBody>
      </p:sp>
      <p:sp>
        <p:nvSpPr>
          <p:cNvPr id="40" name="TextBox 39"/>
          <p:cNvSpPr txBox="1"/>
          <p:nvPr/>
        </p:nvSpPr>
        <p:spPr>
          <a:xfrm>
            <a:off x="6527170" y="4317796"/>
            <a:ext cx="488454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Часть целевого ответа — единственный канал, где доставка следует из механизма</a:t>
            </a:r>
          </a:p>
        </p:txBody>
      </p:sp>
      <p:cxnSp>
        <p:nvCxnSpPr>
          <p:cNvPr id="41" name="Connector 40"/>
          <p:cNvCxnSpPr/>
          <p:nvPr/>
        </p:nvCxnSpPr>
        <p:spPr>
          <a:xfrm>
            <a:off x="685800" y="446958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557784" y="4469587"/>
            <a:ext cx="11073384" cy="15179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4469587"/>
            <a:ext cx="272107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«Документ + указатель в корне»</a:t>
            </a:r>
          </a:p>
        </p:txBody>
      </p:sp>
      <p:sp>
        <p:nvSpPr>
          <p:cNvPr id="44" name="TextBox 43"/>
          <p:cNvSpPr txBox="1"/>
          <p:nvPr/>
        </p:nvSpPr>
        <p:spPr>
          <a:xfrm>
            <a:off x="3498311" y="4469587"/>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Когда документ есть и его поддерживают</a:t>
            </a:r>
          </a:p>
        </p:txBody>
      </p:sp>
      <p:sp>
        <p:nvSpPr>
          <p:cNvPr id="45" name="TextBox 44"/>
          <p:cNvSpPr txBox="1"/>
          <p:nvPr/>
        </p:nvSpPr>
        <p:spPr>
          <a:xfrm>
            <a:off x="6527170" y="4469587"/>
            <a:ext cx="488454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Часть целевого ответа — и ответ на «где живёт свод»</a:t>
            </a:r>
          </a:p>
        </p:txBody>
      </p:sp>
      <p:cxnSp>
        <p:nvCxnSpPr>
          <p:cNvPr id="46" name="Connector 45"/>
          <p:cNvCxnSpPr/>
          <p:nvPr/>
        </p:nvCxnSpPr>
        <p:spPr>
          <a:xfrm>
            <a:off x="685800" y="462137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85800" y="4621377"/>
            <a:ext cx="272107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«Дописать в корневой файл»</a:t>
            </a:r>
          </a:p>
        </p:txBody>
      </p:sp>
      <p:sp>
        <p:nvSpPr>
          <p:cNvPr id="48" name="TextBox 47"/>
          <p:cNvSpPr txBox="1"/>
          <p:nvPr/>
        </p:nvSpPr>
        <p:spPr>
          <a:xfrm>
            <a:off x="3498311" y="4621377"/>
            <a:ext cx="2937418"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Когда знание нужно в каждой сессии</a:t>
            </a:r>
          </a:p>
        </p:txBody>
      </p:sp>
      <p:sp>
        <p:nvSpPr>
          <p:cNvPr id="49" name="TextBox 48"/>
          <p:cNvSpPr txBox="1"/>
          <p:nvPr/>
        </p:nvSpPr>
        <p:spPr>
          <a:xfrm>
            <a:off x="6527170" y="4621377"/>
            <a:ext cx="4884541" cy="151790"/>
          </a:xfrm>
          <a:prstGeom prst="rect">
            <a:avLst/>
          </a:prstGeom>
          <a:noFill/>
        </p:spPr>
        <p:txBody>
          <a:bodyPr wrap="square" lIns="0" rIns="0" tIns="0" bIns="0" anchor="ctr">
            <a:spAutoFit/>
          </a:bodyPr>
          <a:lstStyle/>
          <a:p>
            <a:pPr algn="l">
              <a:lnSpc>
                <a:spcPct val="115000"/>
              </a:lnSpc>
            </a:pPr>
            <a:r>
              <a:rPr sz="780" b="0" i="0">
                <a:solidFill>
                  <a:srgbClr val="21295C"/>
                </a:solidFill>
                <a:latin typeface="Arial"/>
              </a:rPr>
              <a:t>Presence paradox: строка про tests/ стоит контекста и без тестов</a:t>
            </a:r>
          </a:p>
        </p:txBody>
      </p:sp>
      <p:sp>
        <p:nvSpPr>
          <p:cNvPr id="50" name="Rounded Rectangle 49"/>
          <p:cNvSpPr/>
          <p:nvPr/>
        </p:nvSpPr>
        <p:spPr>
          <a:xfrm>
            <a:off x="502920" y="5047488"/>
            <a:ext cx="11183112" cy="1627632"/>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4088" y="5120640"/>
            <a:ext cx="10780776" cy="1481328"/>
          </a:xfrm>
          <a:prstGeom prst="rect">
            <a:avLst/>
          </a:prstGeom>
          <a:noFill/>
        </p:spPr>
        <p:txBody>
          <a:bodyPr wrap="square" lIns="0" rIns="0" tIns="0" bIns="0" anchor="ctr">
            <a:spAutoFit/>
          </a:bodyPr>
          <a:lstStyle/>
          <a:p>
            <a:pPr algn="l">
              <a:lnSpc>
                <a:spcPct val="122000"/>
              </a:lnSpc>
            </a:pPr>
            <a:r>
              <a:rPr sz="1050" b="1" i="0">
                <a:solidFill>
                  <a:srgbClr val="21295C"/>
                </a:solidFill>
                <a:latin typeface="Arial"/>
              </a:rPr>
              <a:t>Знание про функцию — в код. Про класс файлов — в правило с шаблоном путей. Про весь проект — в корень, коротко, указателями. Вложенный файл в подпапке — единственное место, куда знание класть не надо.</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1.3 · РЕШЕНИЕ</a:t>
            </a:r>
          </a:p>
        </p:txBody>
      </p:sp>
      <p:sp>
        <p:nvSpPr>
          <p:cNvPr id="3" name="TextBox 2"/>
          <p:cNvSpPr txBox="1"/>
          <p:nvPr/>
        </p:nvSpPr>
        <p:spPr>
          <a:xfrm>
            <a:off x="502920" y="640080"/>
            <a:ext cx="11183112" cy="914400"/>
          </a:xfrm>
          <a:prstGeom prst="rect">
            <a:avLst/>
          </a:prstGeom>
          <a:noFill/>
        </p:spPr>
        <p:txBody>
          <a:bodyPr wrap="square" lIns="0" rIns="0" tIns="0" bIns="0" anchor="t">
            <a:spAutoFit/>
          </a:bodyPr>
          <a:lstStyle/>
          <a:p>
            <a:pPr algn="l">
              <a:lnSpc>
                <a:spcPct val="114000"/>
              </a:lnSpc>
            </a:pPr>
            <a:r>
              <a:rPr sz="1200" b="1" i="0">
                <a:solidFill>
                  <a:srgbClr val="21295C"/>
                </a:solidFill>
                <a:latin typeface="Arial"/>
              </a:rPr>
              <a:t>Корневой файл остался тем же, на тринадцать строк — деталь ушла комментарием к функции, конвенция тестов уже в самих тестах, ни одного вложенного файла инструкций не завелось</a:t>
            </a:r>
          </a:p>
        </p:txBody>
      </p:sp>
      <p:sp>
        <p:nvSpPr>
          <p:cNvPr id="4" name="Rounded Rectangle 3"/>
          <p:cNvSpPr/>
          <p:nvPr/>
        </p:nvSpPr>
        <p:spPr>
          <a:xfrm>
            <a:off x="502920" y="1645920"/>
            <a:ext cx="11183112" cy="256032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847088"/>
            <a:ext cx="10780776"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состояние репозитория, месяц 1</a:t>
            </a:r>
          </a:p>
        </p:txBody>
      </p:sp>
      <p:sp>
        <p:nvSpPr>
          <p:cNvPr id="6" name="TextBox 5"/>
          <p:cNvSpPr txBox="1"/>
          <p:nvPr/>
        </p:nvSpPr>
        <p:spPr>
          <a:xfrm>
            <a:off x="704088" y="2157984"/>
            <a:ext cx="10780776" cy="1847088"/>
          </a:xfrm>
          <a:prstGeom prst="rect">
            <a:avLst/>
          </a:prstGeom>
          <a:noFill/>
        </p:spPr>
        <p:txBody>
          <a:bodyPr wrap="square" lIns="0" rIns="0" tIns="0" bIns="0" anchor="t">
            <a:spAutoFit/>
          </a:bodyPr>
          <a:lstStyle/>
          <a:p>
            <a:pPr algn="l">
              <a:lnSpc>
                <a:spcPct val="116000"/>
              </a:lnSpc>
              <a:spcAft>
                <a:spcPts val="200"/>
              </a:spcAft>
            </a:pPr>
            <a:r>
              <a:rPr sz="960" b="0" i="0">
                <a:solidFill>
                  <a:srgbClr val="E3E9F2"/>
                </a:solidFill>
                <a:latin typeface="Consolas"/>
              </a:rPr>
              <a:t>README.md · spec.md · DECISIONS.md</a:t>
            </a:r>
          </a:p>
          <a:p>
            <a:pPr algn="l">
              <a:lnSpc>
                <a:spcPct val="116000"/>
              </a:lnSpc>
              <a:spcAft>
                <a:spcPts val="200"/>
              </a:spcAft>
            </a:pPr>
            <a:r>
              <a:rPr sz="960" b="0" i="0">
                <a:solidFill>
                  <a:srgbClr val="E3E9F2"/>
                </a:solidFill>
                <a:latin typeface="Consolas"/>
              </a:rPr>
              <a:t>CLAUDE.md              ← те же 13 строк, не выросли</a:t>
            </a:r>
          </a:p>
          <a:p>
            <a:pPr algn="l">
              <a:lnSpc>
                <a:spcPct val="116000"/>
              </a:lnSpc>
              <a:spcAft>
                <a:spcPts val="200"/>
              </a:spcAft>
            </a:pPr>
            <a:r>
              <a:rPr sz="960" b="0" i="0">
                <a:solidFill>
                  <a:srgbClr val="E3E9F2"/>
                </a:solidFill>
                <a:latin typeface="Consolas"/>
              </a:rPr>
              <a:t>AGENTS.md              → симлинк на CLAUDE.md</a:t>
            </a:r>
          </a:p>
          <a:p>
            <a:pPr algn="l">
              <a:lnSpc>
                <a:spcPct val="116000"/>
              </a:lnSpc>
              <a:spcAft>
                <a:spcPts val="200"/>
              </a:spcAft>
            </a:pPr>
            <a:r>
              <a:rPr sz="960" b="0" i="0">
                <a:solidFill>
                  <a:srgbClr val="E3E9F2"/>
                </a:solidFill>
                <a:latin typeface="Consolas"/>
              </a:rPr>
              <a:t>index.html · package.json</a:t>
            </a:r>
          </a:p>
          <a:p>
            <a:pPr algn="l">
              <a:lnSpc>
                <a:spcPct val="116000"/>
              </a:lnSpc>
              <a:spcAft>
                <a:spcPts val="200"/>
              </a:spcAft>
            </a:pPr>
            <a:r>
              <a:rPr sz="960" b="1" i="0">
                <a:solidFill>
                  <a:srgbClr val="F0AB00"/>
                </a:solidFill>
                <a:latin typeface="Consolas"/>
              </a:rPr>
              <a:t>src/main.js  ← комментарий к submitForm(): повтор при</a:t>
            </a:r>
          </a:p>
          <a:p>
            <a:pPr algn="l">
              <a:lnSpc>
                <a:spcPct val="116000"/>
              </a:lnSpc>
              <a:spcAft>
                <a:spcPts val="200"/>
              </a:spcAft>
            </a:pPr>
            <a:r>
              <a:rPr sz="960" b="1" i="0">
                <a:solidFill>
                  <a:srgbClr val="F0AB00"/>
                </a:solidFill>
                <a:latin typeface="Consolas"/>
              </a:rPr>
              <a:t>               таймауте, обработчик обязан быть идемпотентным</a:t>
            </a:r>
          </a:p>
          <a:p>
            <a:pPr algn="l">
              <a:lnSpc>
                <a:spcPct val="116000"/>
              </a:lnSpc>
              <a:spcAft>
                <a:spcPts val="200"/>
              </a:spcAft>
            </a:pPr>
            <a:r>
              <a:rPr sz="960" b="0" i="0">
                <a:solidFill>
                  <a:srgbClr val="E3E9F2"/>
                </a:solidFill>
                <a:latin typeface="Consolas"/>
              </a:rPr>
              <a:t>tests/  form.spec.ts, delivery.spec.ts, page-objects/form.page.ts</a:t>
            </a:r>
          </a:p>
          <a:p>
            <a:pPr algn="l">
              <a:lnSpc>
                <a:spcPct val="116000"/>
              </a:lnSpc>
              <a:spcAft>
                <a:spcPts val="200"/>
              </a:spcAft>
            </a:pPr>
            <a:r>
              <a:rPr sz="960" b="1" i="0">
                <a:solidFill>
                  <a:srgbClr val="8B9BB4"/>
                </a:solidFill>
                <a:latin typeface="Consolas"/>
              </a:rPr>
              <a:t># tests/CLAUDE.md и src/CLAUDE.md — не появляются</a:t>
            </a:r>
          </a:p>
        </p:txBody>
      </p:sp>
      <p:sp>
        <p:nvSpPr>
          <p:cNvPr id="7" name="Rounded Rectangle 6"/>
          <p:cNvSpPr/>
          <p:nvPr/>
        </p:nvSpPr>
        <p:spPr>
          <a:xfrm>
            <a:off x="502920" y="4315968"/>
            <a:ext cx="11183112"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498848"/>
            <a:ext cx="2739359"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Адрес</a:t>
            </a:r>
          </a:p>
        </p:txBody>
      </p:sp>
      <p:sp>
        <p:nvSpPr>
          <p:cNvPr id="9" name="TextBox 8"/>
          <p:cNvSpPr txBox="1"/>
          <p:nvPr/>
        </p:nvSpPr>
        <p:spPr>
          <a:xfrm>
            <a:off x="3498311" y="4498848"/>
            <a:ext cx="4253788"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Когда включать</a:t>
            </a:r>
          </a:p>
        </p:txBody>
      </p:sp>
      <p:sp>
        <p:nvSpPr>
          <p:cNvPr id="10" name="TextBox 9"/>
          <p:cNvSpPr txBox="1"/>
          <p:nvPr/>
        </p:nvSpPr>
        <p:spPr>
          <a:xfrm>
            <a:off x="7825252" y="4498848"/>
            <a:ext cx="3604747" cy="329184"/>
          </a:xfrm>
          <a:prstGeom prst="rect">
            <a:avLst/>
          </a:prstGeom>
          <a:noFill/>
        </p:spPr>
        <p:txBody>
          <a:bodyPr wrap="square" lIns="0" rIns="0" tIns="0" bIns="0" anchor="t">
            <a:spAutoFit/>
          </a:bodyPr>
          <a:lstStyle/>
          <a:p>
            <a:pPr algn="l">
              <a:lnSpc>
                <a:spcPct val="115000"/>
              </a:lnSpc>
            </a:pPr>
            <a:r>
              <a:rPr sz="950" b="1" i="0">
                <a:solidFill>
                  <a:srgbClr val="6B7685"/>
                </a:solidFill>
                <a:latin typeface="Arial"/>
              </a:rPr>
              <a:t>Когда рано</a:t>
            </a:r>
          </a:p>
        </p:txBody>
      </p:sp>
      <p:sp>
        <p:nvSpPr>
          <p:cNvPr id="11" name="TextBox 10"/>
          <p:cNvSpPr txBox="1"/>
          <p:nvPr/>
        </p:nvSpPr>
        <p:spPr>
          <a:xfrm>
            <a:off x="685800" y="4882896"/>
            <a:ext cx="2721071"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Комментарий в коде</a:t>
            </a:r>
          </a:p>
        </p:txBody>
      </p:sp>
      <p:sp>
        <p:nvSpPr>
          <p:cNvPr id="12" name="TextBox 11"/>
          <p:cNvSpPr txBox="1"/>
          <p:nvPr/>
        </p:nvSpPr>
        <p:spPr>
          <a:xfrm>
            <a:off x="3498311" y="4882896"/>
            <a:ext cx="4235500"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сразу, без сигнала</a:t>
            </a:r>
          </a:p>
        </p:txBody>
      </p:sp>
      <p:sp>
        <p:nvSpPr>
          <p:cNvPr id="13" name="TextBox 12"/>
          <p:cNvSpPr txBox="1"/>
          <p:nvPr/>
        </p:nvSpPr>
        <p:spPr>
          <a:xfrm>
            <a:off x="7825252" y="4882896"/>
            <a:ext cx="3586459"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никогда не рано</a:t>
            </a:r>
          </a:p>
        </p:txBody>
      </p:sp>
      <p:cxnSp>
        <p:nvCxnSpPr>
          <p:cNvPr id="14" name="Connector 13"/>
          <p:cNvCxnSpPr/>
          <p:nvPr/>
        </p:nvCxnSpPr>
        <p:spPr>
          <a:xfrm>
            <a:off x="685800" y="504977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5049774"/>
            <a:ext cx="2721071"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Правило с шаблоном путей</a:t>
            </a:r>
          </a:p>
        </p:txBody>
      </p:sp>
      <p:sp>
        <p:nvSpPr>
          <p:cNvPr id="16" name="TextBox 15"/>
          <p:cNvSpPr txBox="1"/>
          <p:nvPr/>
        </p:nvSpPr>
        <p:spPr>
          <a:xfrm>
            <a:off x="3498311" y="5049774"/>
            <a:ext cx="4235500"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конвенция класса файлов не помещается в корень</a:t>
            </a:r>
          </a:p>
        </p:txBody>
      </p:sp>
      <p:sp>
        <p:nvSpPr>
          <p:cNvPr id="17" name="TextBox 16"/>
          <p:cNvSpPr txBox="1"/>
          <p:nvPr/>
        </p:nvSpPr>
        <p:spPr>
          <a:xfrm>
            <a:off x="7825252" y="5049774"/>
            <a:ext cx="3586459"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пока конвенция в две строки</a:t>
            </a:r>
          </a:p>
        </p:txBody>
      </p:sp>
      <p:cxnSp>
        <p:nvCxnSpPr>
          <p:cNvPr id="18" name="Connector 17"/>
          <p:cNvCxnSpPr/>
          <p:nvPr/>
        </p:nvCxnSpPr>
        <p:spPr>
          <a:xfrm>
            <a:off x="685800" y="521665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5216652"/>
            <a:ext cx="2721071"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Указатель-свод в корне</a:t>
            </a:r>
          </a:p>
        </p:txBody>
      </p:sp>
      <p:sp>
        <p:nvSpPr>
          <p:cNvPr id="20" name="TextBox 19"/>
          <p:cNvSpPr txBox="1"/>
          <p:nvPr/>
        </p:nvSpPr>
        <p:spPr>
          <a:xfrm>
            <a:off x="3498311" y="5216652"/>
            <a:ext cx="4235500"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документ уже есть и его есть кому поддерживать</a:t>
            </a:r>
          </a:p>
        </p:txBody>
      </p:sp>
      <p:sp>
        <p:nvSpPr>
          <p:cNvPr id="21" name="TextBox 20"/>
          <p:cNvSpPr txBox="1"/>
          <p:nvPr/>
        </p:nvSpPr>
        <p:spPr>
          <a:xfrm>
            <a:off x="7825252" y="5216652"/>
            <a:ext cx="3586459"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указатель без документа</a:t>
            </a:r>
          </a:p>
        </p:txBody>
      </p:sp>
      <p:cxnSp>
        <p:nvCxnSpPr>
          <p:cNvPr id="22" name="Connector 21"/>
          <p:cNvCxnSpPr/>
          <p:nvPr/>
        </p:nvCxnSpPr>
        <p:spPr>
          <a:xfrm>
            <a:off x="685800" y="538353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5383530"/>
            <a:ext cx="2721071"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Вложенный файл в подпапке</a:t>
            </a:r>
          </a:p>
        </p:txBody>
      </p:sp>
      <p:sp>
        <p:nvSpPr>
          <p:cNvPr id="24" name="TextBox 23"/>
          <p:cNvSpPr txBox="1"/>
          <p:nvPr/>
        </p:nvSpPr>
        <p:spPr>
          <a:xfrm>
            <a:off x="3498311" y="5383530"/>
            <a:ext cx="4235500"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никогда как единственная гарантия</a:t>
            </a:r>
          </a:p>
        </p:txBody>
      </p:sp>
      <p:sp>
        <p:nvSpPr>
          <p:cNvPr id="25" name="TextBox 24"/>
          <p:cNvSpPr txBox="1"/>
          <p:nvPr/>
        </p:nvSpPr>
        <p:spPr>
          <a:xfrm>
            <a:off x="7825252" y="5383530"/>
            <a:ext cx="3586459" cy="166878"/>
          </a:xfrm>
          <a:prstGeom prst="rect">
            <a:avLst/>
          </a:prstGeom>
          <a:noFill/>
        </p:spPr>
        <p:txBody>
          <a:bodyPr wrap="square" lIns="0" rIns="0" tIns="0" bIns="0" anchor="ctr">
            <a:spAutoFit/>
          </a:bodyPr>
          <a:lstStyle/>
          <a:p>
            <a:pPr algn="l">
              <a:lnSpc>
                <a:spcPct val="115000"/>
              </a:lnSpc>
            </a:pPr>
            <a:r>
              <a:rPr sz="900" b="0" i="0">
                <a:solidFill>
                  <a:srgbClr val="21295C"/>
                </a:solidFill>
                <a:latin typeface="Arial"/>
              </a:rPr>
              <a:t>всегда, пока /context не проверен</a:t>
            </a:r>
          </a:p>
        </p:txBody>
      </p:sp>
      <p:sp>
        <p:nvSpPr>
          <p:cNvPr id="26" name="Rounded Rectangle 25"/>
          <p:cNvSpPr/>
          <p:nvPr/>
        </p:nvSpPr>
        <p:spPr>
          <a:xfrm>
            <a:off x="502920" y="5861304"/>
            <a:ext cx="11183112" cy="813815"/>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5934456"/>
            <a:ext cx="10780776" cy="667511"/>
          </a:xfrm>
          <a:prstGeom prst="rect">
            <a:avLst/>
          </a:prstGeom>
          <a:noFill/>
        </p:spPr>
        <p:txBody>
          <a:bodyPr wrap="square" lIns="0" rIns="0" tIns="0" bIns="0" anchor="ctr">
            <a:spAutoFit/>
          </a:bodyPr>
          <a:lstStyle/>
          <a:p>
            <a:pPr algn="l">
              <a:lnSpc>
                <a:spcPct val="122000"/>
              </a:lnSpc>
            </a:pPr>
            <a:r>
              <a:rPr sz="1100" b="1" i="0">
                <a:solidFill>
                  <a:srgbClr val="21295C"/>
                </a:solidFill>
                <a:latin typeface="Arial"/>
              </a:rPr>
              <a:t>«Три развилки, один и тот же файл: решили, чего в него не писать заранее; записали гейт готовности, заведённый на дне 0; и решили, что у знания есть адрес — и вложенная папка им не является. Но есть знание другого рода: то, что появляется по ходу самой работы. Это раздел второй — память.»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tabase-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502920" y="384048"/>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090672" y="384048"/>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78424" y="384048"/>
            <a:ext cx="2478024" cy="256032"/>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66175" y="384048"/>
            <a:ext cx="2478024"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66928" y="1069848"/>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069848"/>
            <a:ext cx="694944" cy="694944"/>
          </a:xfrm>
          <a:prstGeom prst="rect">
            <a:avLst/>
          </a:prstGeom>
          <a:noFill/>
        </p:spPr>
        <p:txBody>
          <a:bodyPr wrap="square" lIns="0" rIns="0" tIns="0" bIns="0" anchor="ctr">
            <a:spAutoFit/>
          </a:bodyPr>
          <a:lstStyle/>
          <a:p>
            <a:pPr algn="ctr">
              <a:lnSpc>
                <a:spcPct val="115000"/>
              </a:lnSpc>
            </a:pPr>
            <a:r>
              <a:rPr sz="2600" b="1" i="0">
                <a:solidFill>
                  <a:srgbClr val="21295C"/>
                </a:solidFill>
                <a:latin typeface="Arial"/>
              </a:rPr>
              <a:t>2</a:t>
            </a:r>
          </a:p>
        </p:txBody>
      </p:sp>
      <p:sp>
        <p:nvSpPr>
          <p:cNvPr id="11" name="Rounded Rectangle 10"/>
          <p:cNvSpPr/>
          <p:nvPr/>
        </p:nvSpPr>
        <p:spPr>
          <a:xfrm>
            <a:off x="868680" y="768096"/>
            <a:ext cx="1207008" cy="182880"/>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185415" y="768096"/>
            <a:ext cx="1207008" cy="182880"/>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02151" y="768096"/>
            <a:ext cx="1207008" cy="182880"/>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1444752"/>
            <a:ext cx="8686800" cy="777240"/>
          </a:xfrm>
          <a:prstGeom prst="rect">
            <a:avLst/>
          </a:prstGeom>
          <a:noFill/>
        </p:spPr>
        <p:txBody>
          <a:bodyPr wrap="square" lIns="0" rIns="0" tIns="0" bIns="0" anchor="t">
            <a:spAutoFit/>
          </a:bodyPr>
          <a:lstStyle/>
          <a:p>
            <a:pPr algn="l">
              <a:lnSpc>
                <a:spcPct val="105000"/>
              </a:lnSpc>
            </a:pPr>
            <a:r>
              <a:rPr sz="3200" b="1" i="0">
                <a:solidFill>
                  <a:srgbClr val="FFFFFF"/>
                </a:solidFill>
                <a:latin typeface="Arial"/>
              </a:rPr>
              <a:t>Раздел 2 · память</a:t>
            </a:r>
          </a:p>
        </p:txBody>
      </p:sp>
      <p:sp>
        <p:nvSpPr>
          <p:cNvPr id="15" name="TextBox 14"/>
          <p:cNvSpPr txBox="1"/>
          <p:nvPr/>
        </p:nvSpPr>
        <p:spPr>
          <a:xfrm>
            <a:off x="1508760" y="2176272"/>
            <a:ext cx="8686800" cy="594360"/>
          </a:xfrm>
          <a:prstGeom prst="rect">
            <a:avLst/>
          </a:prstGeom>
          <a:noFill/>
        </p:spPr>
        <p:txBody>
          <a:bodyPr wrap="square" lIns="0" rIns="0" tIns="0" bIns="0" anchor="t">
            <a:spAutoFit/>
          </a:bodyPr>
          <a:lstStyle/>
          <a:p>
            <a:pPr algn="l">
              <a:lnSpc>
                <a:spcPct val="105000"/>
              </a:lnSpc>
            </a:pPr>
            <a:r>
              <a:rPr sz="1900" b="1" i="0">
                <a:solidFill>
                  <a:srgbClr val="028090"/>
                </a:solidFill>
                <a:latin typeface="Arial"/>
              </a:rPr>
              <a:t>Кейс 2.1 · плоский файл</a:t>
            </a:r>
          </a:p>
        </p:txBody>
      </p:sp>
      <p:sp>
        <p:nvSpPr>
          <p:cNvPr id="16" name="TextBox 15"/>
          <p:cNvSpPr txBox="1"/>
          <p:nvPr/>
        </p:nvSpPr>
        <p:spPr>
          <a:xfrm>
            <a:off x="868680" y="2944368"/>
            <a:ext cx="9052560" cy="777240"/>
          </a:xfrm>
          <a:prstGeom prst="rect">
            <a:avLst/>
          </a:prstGeom>
          <a:noFill/>
        </p:spPr>
        <p:txBody>
          <a:bodyPr wrap="square" lIns="0" rIns="0" tIns="0" bIns="0" anchor="t">
            <a:spAutoFit/>
          </a:bodyPr>
          <a:lstStyle/>
          <a:p>
            <a:pPr algn="l">
              <a:lnSpc>
                <a:spcPct val="130000"/>
              </a:lnSpc>
            </a:pPr>
            <a:r>
              <a:rPr sz="1500" b="0" i="1">
                <a:solidFill>
                  <a:srgbClr val="CFDCEC"/>
                </a:solidFill>
                <a:latin typeface="Arial"/>
              </a:rPr>
              <a:t>Между сессиями агент не хранит ни бита — если это не лежит на диске</a:t>
            </a:r>
          </a:p>
        </p:txBody>
      </p:sp>
      <p:sp>
        <p:nvSpPr>
          <p:cNvPr id="17" name="Rounded Rectangle 16"/>
          <p:cNvSpPr/>
          <p:nvPr/>
        </p:nvSpPr>
        <p:spPr>
          <a:xfrm>
            <a:off x="868680" y="3822191"/>
            <a:ext cx="118872" cy="1188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33856" y="3721607"/>
            <a:ext cx="8046720" cy="347472"/>
          </a:xfrm>
          <a:prstGeom prst="rect">
            <a:avLst/>
          </a:prstGeom>
          <a:noFill/>
        </p:spPr>
        <p:txBody>
          <a:bodyPr wrap="square" lIns="0" rIns="0" tIns="0" bIns="0" anchor="t">
            <a:spAutoFit/>
          </a:bodyPr>
          <a:lstStyle/>
          <a:p>
            <a:pPr algn="l">
              <a:lnSpc>
                <a:spcPct val="115000"/>
              </a:lnSpc>
            </a:pPr>
            <a:r>
              <a:rPr sz="1400" b="0" i="0">
                <a:solidFill>
                  <a:srgbClr val="E1E9F6"/>
                </a:solidFill>
                <a:latin typeface="Arial"/>
              </a:rPr>
              <a:t>Кейс 2.1 · плоский файл</a:t>
            </a:r>
          </a:p>
        </p:txBody>
      </p:sp>
      <p:sp>
        <p:nvSpPr>
          <p:cNvPr id="19" name="Rounded Rectangle 18"/>
          <p:cNvSpPr/>
          <p:nvPr/>
        </p:nvSpPr>
        <p:spPr>
          <a:xfrm>
            <a:off x="868680" y="4224528"/>
            <a:ext cx="118872" cy="1188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33856" y="4123944"/>
            <a:ext cx="8046720" cy="347472"/>
          </a:xfrm>
          <a:prstGeom prst="rect">
            <a:avLst/>
          </a:prstGeom>
          <a:noFill/>
        </p:spPr>
        <p:txBody>
          <a:bodyPr wrap="square" lIns="0" rIns="0" tIns="0" bIns="0" anchor="t">
            <a:spAutoFit/>
          </a:bodyPr>
          <a:lstStyle/>
          <a:p>
            <a:pPr algn="l">
              <a:lnSpc>
                <a:spcPct val="115000"/>
              </a:lnSpc>
            </a:pPr>
            <a:r>
              <a:rPr sz="1400" b="0" i="0">
                <a:solidFill>
                  <a:srgbClr val="E1E9F6"/>
                </a:solidFill>
                <a:latin typeface="Arial"/>
              </a:rPr>
              <a:t>Кейс 2.2 · структурированная вики-память</a:t>
            </a:r>
          </a:p>
        </p:txBody>
      </p:sp>
      <p:sp>
        <p:nvSpPr>
          <p:cNvPr id="21" name="Rounded Rectangle 20"/>
          <p:cNvSpPr/>
          <p:nvPr/>
        </p:nvSpPr>
        <p:spPr>
          <a:xfrm>
            <a:off x="868680" y="4626864"/>
            <a:ext cx="118872" cy="1188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33856" y="4526280"/>
            <a:ext cx="8046720" cy="347472"/>
          </a:xfrm>
          <a:prstGeom prst="rect">
            <a:avLst/>
          </a:prstGeom>
          <a:noFill/>
        </p:spPr>
        <p:txBody>
          <a:bodyPr wrap="square" lIns="0" rIns="0" tIns="0" bIns="0" anchor="t">
            <a:spAutoFit/>
          </a:bodyPr>
          <a:lstStyle/>
          <a:p>
            <a:pPr algn="l">
              <a:lnSpc>
                <a:spcPct val="115000"/>
              </a:lnSpc>
            </a:pPr>
            <a:r>
              <a:rPr sz="1400" b="0" i="0">
                <a:solidFill>
                  <a:srgbClr val="E1E9F6"/>
                </a:solidFill>
                <a:latin typeface="Arial"/>
              </a:rPr>
              <a:t>Кейс 2.3 · операционная память</a:t>
            </a:r>
          </a:p>
        </p:txBody>
      </p:sp>
      <p:sp>
        <p:nvSpPr>
          <p:cNvPr id="23" name="Rounded Rectangle 22"/>
          <p:cNvSpPr/>
          <p:nvPr/>
        </p:nvSpPr>
        <p:spPr>
          <a:xfrm>
            <a:off x="868680" y="5175504"/>
            <a:ext cx="5120640" cy="502920"/>
          </a:xfrm>
          <a:prstGeom prst="roundRect">
            <a:avLst>
              <a:gd name="adj" fmla="val 28000"/>
            </a:avLst>
          </a:prstGeom>
          <a:solidFill>
            <a:srgbClr val="0B143A"/>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4712" y="5175504"/>
            <a:ext cx="4608575" cy="502920"/>
          </a:xfrm>
          <a:prstGeom prst="rect">
            <a:avLst/>
          </a:prstGeom>
          <a:noFill/>
        </p:spPr>
        <p:txBody>
          <a:bodyPr wrap="square" lIns="0" rIns="0" tIns="0" bIns="0" anchor="ctr">
            <a:spAutoFit/>
          </a:bodyPr>
          <a:lstStyle/>
          <a:p>
            <a:pPr algn="ctr">
              <a:lnSpc>
                <a:spcPct val="115000"/>
              </a:lnSpc>
            </a:pPr>
            <a:r>
              <a:rPr sz="1100" b="1" i="0">
                <a:solidFill>
                  <a:srgbClr val="F0AB00"/>
                </a:solidFill>
                <a:latin typeface="Arial"/>
              </a:rPr>
              <a:t>ЖУРНАЛ РЕШЕНИЙ ПРОЕКТА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2.1 · ПЛОСКИЙ ФАЙЛ</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Конец первой недели: отклонённое решение по валидации всплывает снова — DECISIONS.md заведён на дне 0, но записи об этом решении в нём нет</a:t>
            </a:r>
          </a:p>
        </p:txBody>
      </p:sp>
      <p:sp>
        <p:nvSpPr>
          <p:cNvPr id="4" name="Rounded Rectangle 3"/>
          <p:cNvSpPr/>
          <p:nvPr/>
        </p:nvSpPr>
        <p:spPr>
          <a:xfrm>
            <a:off x="502920" y="1993392"/>
            <a:ext cx="11183112"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121408"/>
            <a:ext cx="10789920" cy="2075687"/>
          </a:xfrm>
          <a:prstGeom prst="rect">
            <a:avLst/>
          </a:prstGeom>
          <a:noFill/>
        </p:spPr>
        <p:txBody>
          <a:bodyPr wrap="square" lIns="0" rIns="0" tIns="0" bIns="0" anchor="ctr">
            <a:spAutoFit/>
          </a:bodyPr>
          <a:lstStyle/>
          <a:p>
            <a:pPr algn="l">
              <a:lnSpc>
                <a:spcPct val="130000"/>
              </a:lnSpc>
            </a:pPr>
            <a:r>
              <a:rPr sz="1350" b="0" i="0">
                <a:solidFill>
                  <a:srgbClr val="21295C"/>
                </a:solidFill>
                <a:latin typeface="Arial"/>
              </a:rPr>
              <a:t>Конец первой недели работы над signup-landing. Заказчик прислал заявку с опечаткой в домене почты, форма её приняла. Разработчик просит агента ужесточить проверку. Агент предлагает подключить стороннюю библиотеку валидации форм — ту самую, которую обсуждали и отклонили несколько дней назад: форма из двух полей, хватает нативных required/pattern.</a:t>
            </a:r>
          </a:p>
        </p:txBody>
      </p:sp>
      <p:sp>
        <p:nvSpPr>
          <p:cNvPr id="6" name="Rounded Rectangle 5"/>
          <p:cNvSpPr/>
          <p:nvPr/>
        </p:nvSpPr>
        <p:spPr>
          <a:xfrm>
            <a:off x="502920" y="4526280"/>
            <a:ext cx="11183112" cy="1874519"/>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4599432"/>
            <a:ext cx="10780776" cy="172821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«DECISIONS.md заведён на дне 0, в тот же день, что spec.md и README. Записи про библиотеку валидации в нём нет: решение прозвучало в рабочем обсуждении и на диск не попало. Модель между вызовами не хранит ни бита — то, чего нет в файле, во второй сессии не существует.»</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2.1 · ВОПРОС</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Выберите, куда записать отклонённое решение — из карточек ниже — так, чтобы не объяснять его в третий раз</a:t>
            </a:r>
          </a:p>
        </p:txBody>
      </p:sp>
      <p:sp>
        <p:nvSpPr>
          <p:cNvPr id="4" name="TextBox 3"/>
          <p:cNvSpPr txBox="1"/>
          <p:nvPr/>
        </p:nvSpPr>
        <p:spPr>
          <a:xfrm>
            <a:off x="502920" y="1810512"/>
            <a:ext cx="11183112" cy="777240"/>
          </a:xfrm>
          <a:prstGeom prst="rect">
            <a:avLst/>
          </a:prstGeom>
          <a:noFill/>
        </p:spPr>
        <p:txBody>
          <a:bodyPr wrap="square" lIns="0" rIns="0" tIns="0" bIns="0" anchor="t">
            <a:spAutoFit/>
          </a:bodyPr>
          <a:lstStyle/>
          <a:p>
            <a:pPr algn="l">
              <a:lnSpc>
                <a:spcPct val="122000"/>
              </a:lnSpc>
            </a:pPr>
            <a:r>
              <a:rPr sz="1200" b="0" i="1">
                <a:solidFill>
                  <a:srgbClr val="6B7685"/>
                </a:solidFill>
                <a:latin typeface="Arial"/>
              </a:rPr>
              <a:t>напоминание: отклонённая библиотека валидации всплыла снова — решение родилось в разговоре и нигде не осталось, даже при уже заведённом DECISIONS.md</a:t>
            </a:r>
          </a:p>
        </p:txBody>
      </p:sp>
      <p:sp>
        <p:nvSpPr>
          <p:cNvPr id="5" name="Rounded Rectangle 4"/>
          <p:cNvSpPr/>
          <p:nvPr/>
        </p:nvSpPr>
        <p:spPr>
          <a:xfrm>
            <a:off x="502920" y="2679191"/>
            <a:ext cx="11183112" cy="11887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2752344"/>
            <a:ext cx="10780776" cy="104241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«Вы второй раз за две недели объясняете агенту, почему в этой форме нет сторонней библиотеки валидации. Выберите, куда записать это решение — из карточек ниже — так, чтобы не объяснять его в третий раз, и обоснуйте, почему не в тот файл инструкций, который мы только что завели.»</a:t>
            </a:r>
          </a:p>
        </p:txBody>
      </p:sp>
      <p:sp>
        <p:nvSpPr>
          <p:cNvPr id="7" name="Rounded Rectangle 6"/>
          <p:cNvSpPr/>
          <p:nvPr/>
        </p:nvSpPr>
        <p:spPr>
          <a:xfrm>
            <a:off x="502920" y="4069079"/>
            <a:ext cx="2119579" cy="1463040"/>
          </a:xfrm>
          <a:prstGeom prst="roundRect">
            <a:avLst>
              <a:gd name="adj" fmla="val 20833"/>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4069079"/>
            <a:ext cx="1973275" cy="146304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дописать</a:t>
            </a:r>
          </a:p>
          <a:p>
            <a:pPr algn="ctr">
              <a:lnSpc>
                <a:spcPct val="115000"/>
              </a:lnSpc>
              <a:spcAft>
                <a:spcPts val="0"/>
              </a:spcAft>
            </a:pPr>
            <a:r>
              <a:rPr sz="1250" b="1" i="0">
                <a:solidFill>
                  <a:srgbClr val="21295C"/>
                </a:solidFill>
                <a:latin typeface="Arial"/>
              </a:rPr>
              <a:t>в CLAUDE.md</a:t>
            </a:r>
          </a:p>
        </p:txBody>
      </p:sp>
      <p:sp>
        <p:nvSpPr>
          <p:cNvPr id="9" name="Rounded Rectangle 8"/>
          <p:cNvSpPr/>
          <p:nvPr/>
        </p:nvSpPr>
        <p:spPr>
          <a:xfrm>
            <a:off x="2768803" y="4069079"/>
            <a:ext cx="2119579" cy="1463040"/>
          </a:xfrm>
          <a:prstGeom prst="roundRect">
            <a:avLst>
              <a:gd name="adj" fmla="val 20833"/>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1955" y="4069079"/>
            <a:ext cx="1973275" cy="146304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сказать агенту</a:t>
            </a:r>
          </a:p>
          <a:p>
            <a:pPr algn="ctr">
              <a:lnSpc>
                <a:spcPct val="115000"/>
              </a:lnSpc>
              <a:spcAft>
                <a:spcPts val="0"/>
              </a:spcAft>
            </a:pPr>
            <a:r>
              <a:rPr sz="1250" b="1" i="0">
                <a:solidFill>
                  <a:srgbClr val="21295C"/>
                </a:solidFill>
                <a:latin typeface="Arial"/>
              </a:rPr>
              <a:t>«запомни это»</a:t>
            </a:r>
          </a:p>
        </p:txBody>
      </p:sp>
      <p:sp>
        <p:nvSpPr>
          <p:cNvPr id="11" name="Rounded Rectangle 10"/>
          <p:cNvSpPr/>
          <p:nvPr/>
        </p:nvSpPr>
        <p:spPr>
          <a:xfrm>
            <a:off x="5034686" y="4069079"/>
            <a:ext cx="2119579" cy="1463040"/>
          </a:xfrm>
          <a:prstGeom prst="roundRect">
            <a:avLst>
              <a:gd name="adj" fmla="val 20833"/>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07838" y="4069079"/>
            <a:ext cx="1973275" cy="146304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записать в</a:t>
            </a:r>
          </a:p>
          <a:p>
            <a:pPr algn="ctr">
              <a:lnSpc>
                <a:spcPct val="115000"/>
              </a:lnSpc>
              <a:spcAft>
                <a:spcPts val="0"/>
              </a:spcAft>
            </a:pPr>
            <a:r>
              <a:rPr sz="1250" b="1" i="0">
                <a:solidFill>
                  <a:srgbClr val="21295C"/>
                </a:solidFill>
                <a:latin typeface="Arial"/>
              </a:rPr>
              <a:t>DECISIONS.md — он уже есть</a:t>
            </a:r>
          </a:p>
        </p:txBody>
      </p:sp>
      <p:sp>
        <p:nvSpPr>
          <p:cNvPr id="13" name="Rounded Rectangle 12"/>
          <p:cNvSpPr/>
          <p:nvPr/>
        </p:nvSpPr>
        <p:spPr>
          <a:xfrm>
            <a:off x="7300569" y="4069079"/>
            <a:ext cx="2119579" cy="1463040"/>
          </a:xfrm>
          <a:prstGeom prst="roundRect">
            <a:avLst>
              <a:gd name="adj" fmla="val 20833"/>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3721" y="4069079"/>
            <a:ext cx="1973275" cy="146304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поставить систему</a:t>
            </a:r>
          </a:p>
          <a:p>
            <a:pPr algn="ctr">
              <a:lnSpc>
                <a:spcPct val="115000"/>
              </a:lnSpc>
              <a:spcAft>
                <a:spcPts val="0"/>
              </a:spcAft>
            </a:pPr>
            <a:r>
              <a:rPr sz="1250" b="1" i="0">
                <a:solidFill>
                  <a:srgbClr val="21295C"/>
                </a:solidFill>
                <a:latin typeface="Arial"/>
              </a:rPr>
              <a:t>памяти</a:t>
            </a:r>
          </a:p>
        </p:txBody>
      </p:sp>
      <p:sp>
        <p:nvSpPr>
          <p:cNvPr id="15" name="Rounded Rectangle 14"/>
          <p:cNvSpPr/>
          <p:nvPr/>
        </p:nvSpPr>
        <p:spPr>
          <a:xfrm>
            <a:off x="9566452" y="4069079"/>
            <a:ext cx="2119579" cy="1463040"/>
          </a:xfrm>
          <a:prstGeom prst="roundRect">
            <a:avLst>
              <a:gd name="adj" fmla="val 20833"/>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39604" y="4069079"/>
            <a:ext cx="1973275" cy="146304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ничего — сам</a:t>
            </a:r>
          </a:p>
          <a:p>
            <a:pPr algn="ctr">
              <a:lnSpc>
                <a:spcPct val="115000"/>
              </a:lnSpc>
              <a:spcAft>
                <a:spcPts val="0"/>
              </a:spcAft>
            </a:pPr>
            <a:r>
              <a:rPr sz="1250" b="1" i="0">
                <a:solidFill>
                  <a:srgbClr val="21295C"/>
                </a:solidFill>
                <a:latin typeface="Arial"/>
              </a:rPr>
              <a:t>запомнит</a:t>
            </a:r>
          </a:p>
        </p:txBody>
      </p:sp>
      <p:sp>
        <p:nvSpPr>
          <p:cNvPr id="17" name="TextBox 16"/>
          <p:cNvSpPr txBox="1"/>
          <p:nvPr/>
        </p:nvSpPr>
        <p:spPr>
          <a:xfrm>
            <a:off x="502920" y="5678423"/>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разбор — на следующем слайде</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2.1 · ИССЛЕДОВАНИЕ</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Presence paradox из кейса 1.1 применяется и здесь: то, что лежит в DECISIONS.md, стоит контекста в каждой сессии независимо от того, нужна ли эта запись сегодня</a:t>
            </a:r>
          </a:p>
        </p:txBody>
      </p:sp>
      <p:sp>
        <p:nvSpPr>
          <p:cNvPr id="4" name="Rounded Rectangle 3"/>
          <p:cNvSpPr/>
          <p:nvPr/>
        </p:nvSpPr>
        <p:spPr>
          <a:xfrm>
            <a:off x="502920" y="1993392"/>
            <a:ext cx="5349240" cy="2286000"/>
          </a:xfrm>
          <a:prstGeom prst="roundRect">
            <a:avLst>
              <a:gd name="adj" fmla="val 13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21408"/>
            <a:ext cx="4983479" cy="2029967"/>
          </a:xfrm>
          <a:prstGeom prst="rect">
            <a:avLst/>
          </a:prstGeom>
          <a:noFill/>
        </p:spPr>
        <p:txBody>
          <a:bodyPr wrap="square" lIns="0" rIns="0" tIns="0" bIns="0" anchor="t">
            <a:spAutoFit/>
          </a:bodyPr>
          <a:lstStyle/>
          <a:p>
            <a:pPr algn="l">
              <a:lnSpc>
                <a:spcPct val="128000"/>
              </a:lnSpc>
            </a:pPr>
            <a:r>
              <a:rPr sz="1250" b="0" i="0">
                <a:solidFill>
                  <a:srgbClr val="21295C"/>
                </a:solidFill>
                <a:latin typeface="Arial"/>
              </a:rPr>
              <a:t>Кейс 1.1: Gloaguen et al. — сам факт присутствия текста в контексте создаёт стоимость (+20–23%), независимо от того, помогает ли он решить задачу. Мы назвали это presence paradox.</a:t>
            </a:r>
          </a:p>
        </p:txBody>
      </p:sp>
      <p:sp>
        <p:nvSpPr>
          <p:cNvPr id="6" name="Rounded Rectangle 5"/>
          <p:cNvSpPr/>
          <p:nvPr/>
        </p:nvSpPr>
        <p:spPr>
          <a:xfrm>
            <a:off x="6153912" y="1993392"/>
            <a:ext cx="5349240" cy="2286000"/>
          </a:xfrm>
          <a:prstGeom prst="roundRect">
            <a:avLst>
              <a:gd name="adj" fmla="val 6000"/>
            </a:avLst>
          </a:prstGeom>
          <a:solidFill>
            <a:srgbClr val="F4F7FA"/>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36792" y="2121408"/>
            <a:ext cx="4983479" cy="2029967"/>
          </a:xfrm>
          <a:prstGeom prst="rect">
            <a:avLst/>
          </a:prstGeom>
          <a:noFill/>
        </p:spPr>
        <p:txBody>
          <a:bodyPr wrap="square" lIns="0" rIns="0" tIns="0" bIns="0" anchor="t">
            <a:spAutoFit/>
          </a:bodyPr>
          <a:lstStyle/>
          <a:p>
            <a:pPr algn="l">
              <a:lnSpc>
                <a:spcPct val="128000"/>
              </a:lnSpc>
            </a:pPr>
            <a:r>
              <a:rPr sz="1250" b="0" i="0">
                <a:solidFill>
                  <a:srgbClr val="21295C"/>
                </a:solidFill>
                <a:latin typeface="Arial"/>
              </a:rPr>
              <a:t>DECISIONS.md — не исключение. Каждая строка грузится в контекст в каждой следующей сессии, не только когда она реально нужна. Тридцать записей о разных темах — цена уже заметна, даже если задача касается только одной из них.</a:t>
            </a:r>
          </a:p>
        </p:txBody>
      </p:sp>
      <p:sp>
        <p:nvSpPr>
          <p:cNvPr id="8" name="TextBox 7"/>
          <p:cNvSpPr txBox="1"/>
          <p:nvPr/>
        </p:nvSpPr>
        <p:spPr>
          <a:xfrm>
            <a:off x="502920" y="4507992"/>
            <a:ext cx="11183112" cy="548640"/>
          </a:xfrm>
          <a:prstGeom prst="rect">
            <a:avLst/>
          </a:prstGeom>
          <a:noFill/>
        </p:spPr>
        <p:txBody>
          <a:bodyPr wrap="square" lIns="0" rIns="0" tIns="0" bIns="0" anchor="t">
            <a:spAutoFit/>
          </a:bodyPr>
          <a:lstStyle/>
          <a:p>
            <a:pPr algn="ctr">
              <a:lnSpc>
                <a:spcPct val="125000"/>
              </a:lnSpc>
            </a:pPr>
            <a:r>
              <a:rPr sz="1150" b="0" i="1">
                <a:solidFill>
                  <a:srgbClr val="6B7685"/>
                </a:solidFill>
                <a:latin typeface="Arial"/>
              </a:rPr>
              <a:t>прямого измерения именно на журналах решений не проводилось — это перенос уже установленного механизма на новый объект, не отдельное новое исследование</a:t>
            </a:r>
          </a:p>
        </p:txBody>
      </p:sp>
      <p:sp>
        <p:nvSpPr>
          <p:cNvPr id="9" name="Rounded Rectangle 8"/>
          <p:cNvSpPr/>
          <p:nvPr/>
        </p:nvSpPr>
        <p:spPr>
          <a:xfrm>
            <a:off x="502920" y="5148072"/>
            <a:ext cx="11183112" cy="125272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221224"/>
            <a:ext cx="10780776" cy="1106424"/>
          </a:xfrm>
          <a:prstGeom prst="rect">
            <a:avLst/>
          </a:prstGeom>
          <a:noFill/>
        </p:spPr>
        <p:txBody>
          <a:bodyPr wrap="square" lIns="0" rIns="0" tIns="0" bIns="0" anchor="ctr">
            <a:spAutoFit/>
          </a:bodyPr>
          <a:lstStyle/>
          <a:p>
            <a:pPr algn="ctr">
              <a:lnSpc>
                <a:spcPct val="122000"/>
              </a:lnSpc>
            </a:pPr>
            <a:r>
              <a:rPr sz="1450" b="1" i="0">
                <a:solidFill>
                  <a:srgbClr val="21295C"/>
                </a:solidFill>
                <a:latin typeface="Arial"/>
              </a:rPr>
              <a:t>если запись не бесплатна — точно ли туда идёт вообще всё, что можно туда положить?</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2.1 · ЧЕТЫРЕ СЛОЯ</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Разница между слоями не в формате, а в том, кто инициирует запись, кто её потом увидит и по какому механизму она вообще попадает в контекст</a:t>
            </a:r>
          </a:p>
        </p:txBody>
      </p:sp>
      <p:sp>
        <p:nvSpPr>
          <p:cNvPr id="4" name="Rounded Rectangle 3"/>
          <p:cNvSpPr/>
          <p:nvPr/>
        </p:nvSpPr>
        <p:spPr>
          <a:xfrm>
            <a:off x="502920" y="1993392"/>
            <a:ext cx="11183112"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76272"/>
            <a:ext cx="1982144" cy="329184"/>
          </a:xfrm>
          <a:prstGeom prst="rect">
            <a:avLst/>
          </a:prstGeom>
          <a:noFill/>
        </p:spPr>
        <p:txBody>
          <a:bodyPr wrap="square" lIns="0" rIns="0" tIns="0" bIns="0" anchor="t">
            <a:spAutoFit/>
          </a:bodyPr>
          <a:lstStyle/>
          <a:p>
            <a:pPr algn="l">
              <a:lnSpc>
                <a:spcPct val="115000"/>
              </a:lnSpc>
            </a:pPr>
            <a:r>
              <a:rPr sz="1000" b="1" i="0">
                <a:solidFill>
                  <a:srgbClr val="6B7685"/>
                </a:solidFill>
                <a:latin typeface="Arial"/>
              </a:rPr>
              <a:t/>
            </a:r>
          </a:p>
        </p:txBody>
      </p:sp>
      <p:sp>
        <p:nvSpPr>
          <p:cNvPr id="6" name="TextBox 5"/>
          <p:cNvSpPr txBox="1"/>
          <p:nvPr/>
        </p:nvSpPr>
        <p:spPr>
          <a:xfrm>
            <a:off x="2741096" y="2176272"/>
            <a:ext cx="2090318" cy="329184"/>
          </a:xfrm>
          <a:prstGeom prst="rect">
            <a:avLst/>
          </a:prstGeom>
          <a:noFill/>
        </p:spPr>
        <p:txBody>
          <a:bodyPr wrap="square" lIns="0" rIns="0" tIns="0" bIns="0" anchor="t">
            <a:spAutoFit/>
          </a:bodyPr>
          <a:lstStyle/>
          <a:p>
            <a:pPr algn="l">
              <a:lnSpc>
                <a:spcPct val="115000"/>
              </a:lnSpc>
            </a:pPr>
            <a:r>
              <a:rPr sz="1000" b="1" i="0">
                <a:solidFill>
                  <a:srgbClr val="6B7685"/>
                </a:solidFill>
                <a:latin typeface="Arial"/>
              </a:rPr>
              <a:t>Файл инстр.</a:t>
            </a:r>
          </a:p>
        </p:txBody>
      </p:sp>
      <p:sp>
        <p:nvSpPr>
          <p:cNvPr id="7" name="TextBox 6"/>
          <p:cNvSpPr txBox="1"/>
          <p:nvPr/>
        </p:nvSpPr>
        <p:spPr>
          <a:xfrm>
            <a:off x="4904567" y="2176272"/>
            <a:ext cx="2090318" cy="329184"/>
          </a:xfrm>
          <a:prstGeom prst="rect">
            <a:avLst/>
          </a:prstGeom>
          <a:noFill/>
        </p:spPr>
        <p:txBody>
          <a:bodyPr wrap="square" lIns="0" rIns="0" tIns="0" bIns="0" anchor="t">
            <a:spAutoFit/>
          </a:bodyPr>
          <a:lstStyle/>
          <a:p>
            <a:pPr algn="l">
              <a:lnSpc>
                <a:spcPct val="115000"/>
              </a:lnSpc>
            </a:pPr>
            <a:r>
              <a:rPr sz="1000" b="1" i="0">
                <a:solidFill>
                  <a:srgbClr val="6B7685"/>
                </a:solidFill>
                <a:latin typeface="Arial"/>
              </a:rPr>
              <a:t>Авто-память</a:t>
            </a:r>
          </a:p>
        </p:txBody>
      </p:sp>
      <p:sp>
        <p:nvSpPr>
          <p:cNvPr id="8" name="TextBox 7"/>
          <p:cNvSpPr txBox="1"/>
          <p:nvPr/>
        </p:nvSpPr>
        <p:spPr>
          <a:xfrm>
            <a:off x="7068037" y="2176272"/>
            <a:ext cx="2090318" cy="329184"/>
          </a:xfrm>
          <a:prstGeom prst="rect">
            <a:avLst/>
          </a:prstGeom>
          <a:noFill/>
        </p:spPr>
        <p:txBody>
          <a:bodyPr wrap="square" lIns="0" rIns="0" tIns="0" bIns="0" anchor="t">
            <a:spAutoFit/>
          </a:bodyPr>
          <a:lstStyle/>
          <a:p>
            <a:pPr algn="l">
              <a:lnSpc>
                <a:spcPct val="115000"/>
              </a:lnSpc>
            </a:pPr>
            <a:r>
              <a:rPr sz="1000" b="1" i="0">
                <a:solidFill>
                  <a:srgbClr val="6B7685"/>
                </a:solidFill>
                <a:latin typeface="Arial"/>
              </a:rPr>
              <a:t>DECISIONS.md</a:t>
            </a:r>
          </a:p>
        </p:txBody>
      </p:sp>
      <p:sp>
        <p:nvSpPr>
          <p:cNvPr id="9" name="TextBox 8"/>
          <p:cNvSpPr txBox="1"/>
          <p:nvPr/>
        </p:nvSpPr>
        <p:spPr>
          <a:xfrm>
            <a:off x="9231508" y="2176272"/>
            <a:ext cx="2198491" cy="329184"/>
          </a:xfrm>
          <a:prstGeom prst="rect">
            <a:avLst/>
          </a:prstGeom>
          <a:noFill/>
        </p:spPr>
        <p:txBody>
          <a:bodyPr wrap="square" lIns="0" rIns="0" tIns="0" bIns="0" anchor="t">
            <a:spAutoFit/>
          </a:bodyPr>
          <a:lstStyle/>
          <a:p>
            <a:pPr algn="l">
              <a:lnSpc>
                <a:spcPct val="115000"/>
              </a:lnSpc>
            </a:pPr>
            <a:r>
              <a:rPr sz="1000" b="1" i="0">
                <a:solidFill>
                  <a:srgbClr val="6B7685"/>
                </a:solidFill>
                <a:latin typeface="Arial"/>
              </a:rPr>
              <a:t>Сложная система</a:t>
            </a:r>
          </a:p>
        </p:txBody>
      </p:sp>
      <p:sp>
        <p:nvSpPr>
          <p:cNvPr id="10" name="TextBox 9"/>
          <p:cNvSpPr txBox="1"/>
          <p:nvPr/>
        </p:nvSpPr>
        <p:spPr>
          <a:xfrm>
            <a:off x="685800" y="2560320"/>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Кто автор</a:t>
            </a:r>
          </a:p>
        </p:txBody>
      </p:sp>
      <p:sp>
        <p:nvSpPr>
          <p:cNvPr id="11" name="TextBox 10"/>
          <p:cNvSpPr txBox="1"/>
          <p:nvPr/>
        </p:nvSpPr>
        <p:spPr>
          <a:xfrm>
            <a:off x="2741096" y="2560320"/>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вы, заранее</a:t>
            </a:r>
          </a:p>
        </p:txBody>
      </p:sp>
      <p:sp>
        <p:nvSpPr>
          <p:cNvPr id="12" name="TextBox 11"/>
          <p:cNvSpPr txBox="1"/>
          <p:nvPr/>
        </p:nvSpPr>
        <p:spPr>
          <a:xfrm>
            <a:off x="4904567" y="2560320"/>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агент, по ходу</a:t>
            </a:r>
          </a:p>
        </p:txBody>
      </p:sp>
      <p:sp>
        <p:nvSpPr>
          <p:cNvPr id="13" name="TextBox 12"/>
          <p:cNvSpPr txBox="1"/>
          <p:nvPr/>
        </p:nvSpPr>
        <p:spPr>
          <a:xfrm>
            <a:off x="7068037" y="2560320"/>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вы, в момент решения</a:t>
            </a:r>
          </a:p>
        </p:txBody>
      </p:sp>
      <p:sp>
        <p:nvSpPr>
          <p:cNvPr id="14" name="TextBox 13"/>
          <p:cNvSpPr txBox="1"/>
          <p:nvPr/>
        </p:nvSpPr>
        <p:spPr>
          <a:xfrm>
            <a:off x="9231508" y="2560320"/>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сервис, сам</a:t>
            </a:r>
          </a:p>
        </p:txBody>
      </p:sp>
      <p:cxnSp>
        <p:nvCxnSpPr>
          <p:cNvPr id="15" name="Connector 14"/>
          <p:cNvCxnSpPr/>
          <p:nvPr/>
        </p:nvCxnSpPr>
        <p:spPr>
          <a:xfrm>
            <a:off x="685800" y="297637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800" y="2976372"/>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Где живёт</a:t>
            </a:r>
          </a:p>
        </p:txBody>
      </p:sp>
      <p:sp>
        <p:nvSpPr>
          <p:cNvPr id="17" name="TextBox 16"/>
          <p:cNvSpPr txBox="1"/>
          <p:nvPr/>
        </p:nvSpPr>
        <p:spPr>
          <a:xfrm>
            <a:off x="2741096" y="2976372"/>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в репо, git</a:t>
            </a:r>
          </a:p>
        </p:txBody>
      </p:sp>
      <p:sp>
        <p:nvSpPr>
          <p:cNvPr id="18" name="TextBox 17"/>
          <p:cNvSpPr txBox="1"/>
          <p:nvPr/>
        </p:nvSpPr>
        <p:spPr>
          <a:xfrm>
            <a:off x="4904567" y="2976372"/>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вне репо, на машине</a:t>
            </a:r>
          </a:p>
        </p:txBody>
      </p:sp>
      <p:sp>
        <p:nvSpPr>
          <p:cNvPr id="19" name="TextBox 18"/>
          <p:cNvSpPr txBox="1"/>
          <p:nvPr/>
        </p:nvSpPr>
        <p:spPr>
          <a:xfrm>
            <a:off x="7068037" y="2976372"/>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в репо, git</a:t>
            </a:r>
          </a:p>
        </p:txBody>
      </p:sp>
      <p:sp>
        <p:nvSpPr>
          <p:cNvPr id="20" name="TextBox 19"/>
          <p:cNvSpPr txBox="1"/>
          <p:nvPr/>
        </p:nvSpPr>
        <p:spPr>
          <a:xfrm>
            <a:off x="9231508" y="2976372"/>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вне репо, отдельно</a:t>
            </a:r>
          </a:p>
        </p:txBody>
      </p:sp>
      <p:cxnSp>
        <p:nvCxnSpPr>
          <p:cNvPr id="21" name="Connector 20"/>
          <p:cNvCxnSpPr/>
          <p:nvPr/>
        </p:nvCxnSpPr>
        <p:spPr>
          <a:xfrm>
            <a:off x="685800" y="339242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3392424"/>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Что грузится</a:t>
            </a:r>
          </a:p>
        </p:txBody>
      </p:sp>
      <p:sp>
        <p:nvSpPr>
          <p:cNvPr id="23" name="TextBox 22"/>
          <p:cNvSpPr txBox="1"/>
          <p:nvPr/>
        </p:nvSpPr>
        <p:spPr>
          <a:xfrm>
            <a:off x="2741096" y="3392424"/>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целиком, каждую сессию</a:t>
            </a:r>
          </a:p>
        </p:txBody>
      </p:sp>
      <p:sp>
        <p:nvSpPr>
          <p:cNvPr id="24" name="TextBox 23"/>
          <p:cNvSpPr txBox="1"/>
          <p:nvPr/>
        </p:nvSpPr>
        <p:spPr>
          <a:xfrm>
            <a:off x="4904567" y="3392424"/>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индекс: 200 строк / 25 КБ</a:t>
            </a:r>
          </a:p>
        </p:txBody>
      </p:sp>
      <p:sp>
        <p:nvSpPr>
          <p:cNvPr id="25" name="TextBox 24"/>
          <p:cNvSpPr txBox="1"/>
          <p:nvPr/>
        </p:nvSpPr>
        <p:spPr>
          <a:xfrm>
            <a:off x="7068037" y="3392424"/>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ничего автоматически</a:t>
            </a:r>
          </a:p>
        </p:txBody>
      </p:sp>
      <p:sp>
        <p:nvSpPr>
          <p:cNvPr id="26" name="TextBox 25"/>
          <p:cNvSpPr txBox="1"/>
          <p:nvPr/>
        </p:nvSpPr>
        <p:spPr>
          <a:xfrm>
            <a:off x="9231508" y="3392424"/>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ничего автоматически</a:t>
            </a:r>
          </a:p>
        </p:txBody>
      </p:sp>
      <p:cxnSp>
        <p:nvCxnSpPr>
          <p:cNvPr id="27" name="Connector 26"/>
          <p:cNvCxnSpPr/>
          <p:nvPr/>
        </p:nvCxnSpPr>
        <p:spPr>
          <a:xfrm>
            <a:off x="685800" y="380847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5800" y="3808476"/>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Код-ревью</a:t>
            </a:r>
          </a:p>
        </p:txBody>
      </p:sp>
      <p:sp>
        <p:nvSpPr>
          <p:cNvPr id="29" name="TextBox 28"/>
          <p:cNvSpPr txBox="1"/>
          <p:nvPr/>
        </p:nvSpPr>
        <p:spPr>
          <a:xfrm>
            <a:off x="2741096" y="3808476"/>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да</a:t>
            </a:r>
          </a:p>
        </p:txBody>
      </p:sp>
      <p:sp>
        <p:nvSpPr>
          <p:cNvPr id="30" name="TextBox 29"/>
          <p:cNvSpPr txBox="1"/>
          <p:nvPr/>
        </p:nvSpPr>
        <p:spPr>
          <a:xfrm>
            <a:off x="4904567" y="3808476"/>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нет</a:t>
            </a:r>
          </a:p>
        </p:txBody>
      </p:sp>
      <p:sp>
        <p:nvSpPr>
          <p:cNvPr id="31" name="TextBox 30"/>
          <p:cNvSpPr txBox="1"/>
          <p:nvPr/>
        </p:nvSpPr>
        <p:spPr>
          <a:xfrm>
            <a:off x="7068037" y="3808476"/>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да</a:t>
            </a:r>
          </a:p>
        </p:txBody>
      </p:sp>
      <p:sp>
        <p:nvSpPr>
          <p:cNvPr id="32" name="TextBox 31"/>
          <p:cNvSpPr txBox="1"/>
          <p:nvPr/>
        </p:nvSpPr>
        <p:spPr>
          <a:xfrm>
            <a:off x="9231508" y="3808476"/>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нет</a:t>
            </a:r>
          </a:p>
        </p:txBody>
      </p:sp>
      <p:cxnSp>
        <p:nvCxnSpPr>
          <p:cNvPr id="33" name="Connector 32"/>
          <p:cNvCxnSpPr/>
          <p:nvPr/>
        </p:nvCxnSpPr>
        <p:spPr>
          <a:xfrm>
            <a:off x="685800" y="422452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 y="4224528"/>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Смена машины</a:t>
            </a:r>
          </a:p>
        </p:txBody>
      </p:sp>
      <p:sp>
        <p:nvSpPr>
          <p:cNvPr id="35" name="TextBox 34"/>
          <p:cNvSpPr txBox="1"/>
          <p:nvPr/>
        </p:nvSpPr>
        <p:spPr>
          <a:xfrm>
            <a:off x="2741096" y="4224528"/>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да</a:t>
            </a:r>
          </a:p>
        </p:txBody>
      </p:sp>
      <p:sp>
        <p:nvSpPr>
          <p:cNvPr id="36" name="TextBox 35"/>
          <p:cNvSpPr txBox="1"/>
          <p:nvPr/>
        </p:nvSpPr>
        <p:spPr>
          <a:xfrm>
            <a:off x="4904567" y="4224528"/>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нет</a:t>
            </a:r>
          </a:p>
        </p:txBody>
      </p:sp>
      <p:sp>
        <p:nvSpPr>
          <p:cNvPr id="37" name="TextBox 36"/>
          <p:cNvSpPr txBox="1"/>
          <p:nvPr/>
        </p:nvSpPr>
        <p:spPr>
          <a:xfrm>
            <a:off x="7068037" y="4224528"/>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да</a:t>
            </a:r>
          </a:p>
        </p:txBody>
      </p:sp>
      <p:sp>
        <p:nvSpPr>
          <p:cNvPr id="38" name="TextBox 37"/>
          <p:cNvSpPr txBox="1"/>
          <p:nvPr/>
        </p:nvSpPr>
        <p:spPr>
          <a:xfrm>
            <a:off x="9231508" y="4224528"/>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да, если доступен</a:t>
            </a:r>
          </a:p>
        </p:txBody>
      </p:sp>
      <p:cxnSp>
        <p:nvCxnSpPr>
          <p:cNvPr id="39" name="Connector 38"/>
          <p:cNvCxnSpPr/>
          <p:nvPr/>
        </p:nvCxnSpPr>
        <p:spPr>
          <a:xfrm>
            <a:off x="685800" y="464058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5800" y="4640579"/>
            <a:ext cx="1963856"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Что туда идёт</a:t>
            </a:r>
          </a:p>
        </p:txBody>
      </p:sp>
      <p:sp>
        <p:nvSpPr>
          <p:cNvPr id="41" name="TextBox 40"/>
          <p:cNvSpPr txBox="1"/>
          <p:nvPr/>
        </p:nvSpPr>
        <p:spPr>
          <a:xfrm>
            <a:off x="2741096" y="4640579"/>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стабильные правила</a:t>
            </a:r>
          </a:p>
        </p:txBody>
      </p:sp>
      <p:sp>
        <p:nvSpPr>
          <p:cNvPr id="42" name="TextBox 41"/>
          <p:cNvSpPr txBox="1"/>
          <p:nvPr/>
        </p:nvSpPr>
        <p:spPr>
          <a:xfrm>
            <a:off x="4904567" y="4640579"/>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предпочтения, подходы</a:t>
            </a:r>
          </a:p>
        </p:txBody>
      </p:sp>
      <p:sp>
        <p:nvSpPr>
          <p:cNvPr id="43" name="TextBox 42"/>
          <p:cNvSpPr txBox="1"/>
          <p:nvPr/>
        </p:nvSpPr>
        <p:spPr>
          <a:xfrm>
            <a:off x="7068037" y="4640579"/>
            <a:ext cx="2072030"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решения и «почему»</a:t>
            </a:r>
          </a:p>
        </p:txBody>
      </p:sp>
      <p:sp>
        <p:nvSpPr>
          <p:cNvPr id="44" name="TextBox 43"/>
          <p:cNvSpPr txBox="1"/>
          <p:nvPr/>
        </p:nvSpPr>
        <p:spPr>
          <a:xfrm>
            <a:off x="9231508" y="4640579"/>
            <a:ext cx="2180203" cy="416051"/>
          </a:xfrm>
          <a:prstGeom prst="rect">
            <a:avLst/>
          </a:prstGeom>
          <a:noFill/>
        </p:spPr>
        <p:txBody>
          <a:bodyPr wrap="square" lIns="0" rIns="0" tIns="0" bIns="0" anchor="ctr">
            <a:spAutoFit/>
          </a:bodyPr>
          <a:lstStyle/>
          <a:p>
            <a:pPr algn="l">
              <a:lnSpc>
                <a:spcPct val="115000"/>
              </a:lnSpc>
            </a:pPr>
            <a:r>
              <a:rPr sz="919" b="0" i="0">
                <a:solidFill>
                  <a:srgbClr val="21295C"/>
                </a:solidFill>
                <a:latin typeface="Arial"/>
              </a:rPr>
              <a:t>что сервис счёл достойным</a:t>
            </a:r>
          </a:p>
        </p:txBody>
      </p:sp>
      <p:sp>
        <p:nvSpPr>
          <p:cNvPr id="45" name="TextBox 44"/>
          <p:cNvSpPr txBox="1"/>
          <p:nvPr/>
        </p:nvSpPr>
        <p:spPr>
          <a:xfrm>
            <a:off x="502920" y="5385816"/>
            <a:ext cx="11183112" cy="685800"/>
          </a:xfrm>
          <a:prstGeom prst="rect">
            <a:avLst/>
          </a:prstGeom>
          <a:noFill/>
        </p:spPr>
        <p:txBody>
          <a:bodyPr wrap="square" lIns="0" rIns="0" tIns="0" bIns="0" anchor="t">
            <a:spAutoFit/>
          </a:bodyPr>
          <a:lstStyle/>
          <a:p>
            <a:pPr algn="ctr">
              <a:lnSpc>
                <a:spcPct val="120000"/>
              </a:lnSpc>
            </a:pPr>
            <a:r>
              <a:rPr sz="1150" b="0" i="1">
                <a:solidFill>
                  <a:srgbClr val="065A82"/>
                </a:solidFill>
                <a:latin typeface="Arial"/>
              </a:rPr>
              <a:t>индекс памяти — только индекс  ·  агент сам пропускает выводимое из кода  ·  сжатие контекста переживают только файлы на диске  ·  усложнение слоя само по себе результата не улучшает</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2.1 · РАЗБОР</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Командное решение с обоснованием идёт в DECISIONS.md, личное предпочтение — в авто-память, выводимое из кода — никуда</a:t>
            </a:r>
          </a:p>
        </p:txBody>
      </p:sp>
      <p:sp>
        <p:nvSpPr>
          <p:cNvPr id="4" name="TextBox 3"/>
          <p:cNvSpPr txBox="1"/>
          <p:nvPr/>
        </p:nvSpPr>
        <p:spPr>
          <a:xfrm>
            <a:off x="502920" y="1810512"/>
            <a:ext cx="11183112" cy="274320"/>
          </a:xfrm>
          <a:prstGeom prst="rect">
            <a:avLst/>
          </a:prstGeom>
          <a:noFill/>
        </p:spPr>
        <p:txBody>
          <a:bodyPr wrap="square" lIns="0" rIns="0" tIns="0" bIns="0" anchor="t">
            <a:spAutoFit/>
          </a:bodyPr>
          <a:lstStyle/>
          <a:p>
            <a:pPr algn="l">
              <a:lnSpc>
                <a:spcPct val="115000"/>
              </a:lnSpc>
            </a:pPr>
            <a:r>
              <a:rPr sz="1130" b="0" i="1">
                <a:solidFill>
                  <a:srgbClr val="6B7685"/>
                </a:solidFill>
                <a:latin typeface="Arial"/>
              </a:rPr>
              <a:t>вопрос для контекста: «Куда записать отклонённое решение — и почему не в файл инструкций?»</a:t>
            </a:r>
          </a:p>
        </p:txBody>
      </p:sp>
      <p:sp>
        <p:nvSpPr>
          <p:cNvPr id="5" name="Rounded Rectangle 4"/>
          <p:cNvSpPr/>
          <p:nvPr/>
        </p:nvSpPr>
        <p:spPr>
          <a:xfrm>
            <a:off x="502920" y="2176272"/>
            <a:ext cx="11183112" cy="3383280"/>
          </a:xfrm>
          <a:prstGeom prst="roundRect">
            <a:avLst>
              <a:gd name="adj" fmla="val 900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359152"/>
            <a:ext cx="2523012"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Вариант</a:t>
            </a:r>
          </a:p>
        </p:txBody>
      </p:sp>
      <p:sp>
        <p:nvSpPr>
          <p:cNvPr id="7" name="TextBox 6"/>
          <p:cNvSpPr txBox="1"/>
          <p:nvPr/>
        </p:nvSpPr>
        <p:spPr>
          <a:xfrm>
            <a:off x="3281964" y="2359152"/>
            <a:ext cx="3172053"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Где это работает</a:t>
            </a:r>
          </a:p>
        </p:txBody>
      </p:sp>
      <p:sp>
        <p:nvSpPr>
          <p:cNvPr id="8" name="TextBox 7"/>
          <p:cNvSpPr txBox="1"/>
          <p:nvPr/>
        </p:nvSpPr>
        <p:spPr>
          <a:xfrm>
            <a:off x="6527170" y="2359152"/>
            <a:ext cx="4902829"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Почему здесь ещё рано — и что вместо</a:t>
            </a:r>
          </a:p>
        </p:txBody>
      </p:sp>
      <p:sp>
        <p:nvSpPr>
          <p:cNvPr id="9" name="TextBox 8"/>
          <p:cNvSpPr txBox="1"/>
          <p:nvPr/>
        </p:nvSpPr>
        <p:spPr>
          <a:xfrm>
            <a:off x="685800" y="2743200"/>
            <a:ext cx="2504724"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«Допишу в CLAUDE.md»</a:t>
            </a:r>
          </a:p>
        </p:txBody>
      </p:sp>
      <p:sp>
        <p:nvSpPr>
          <p:cNvPr id="10" name="TextBox 9"/>
          <p:cNvSpPr txBox="1"/>
          <p:nvPr/>
        </p:nvSpPr>
        <p:spPr>
          <a:xfrm>
            <a:off x="3281964" y="2743200"/>
            <a:ext cx="3153765"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Механически сработает: файл читается каждую сессию</a:t>
            </a:r>
          </a:p>
        </p:txBody>
      </p:sp>
      <p:sp>
        <p:nvSpPr>
          <p:cNvPr id="11" name="TextBox 10"/>
          <p:cNvSpPr txBox="1"/>
          <p:nvPr/>
        </p:nvSpPr>
        <p:spPr>
          <a:xfrm>
            <a:off x="6527170" y="2743200"/>
            <a:ext cx="4884541"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Смешивает стабильные правила и растущий лог решений. На десятке решений файл выйдет за ориентир в 200 строк</a:t>
            </a:r>
          </a:p>
        </p:txBody>
      </p:sp>
      <p:cxnSp>
        <p:nvCxnSpPr>
          <p:cNvPr id="12" name="Connector 11"/>
          <p:cNvCxnSpPr/>
          <p:nvPr/>
        </p:nvCxnSpPr>
        <p:spPr>
          <a:xfrm>
            <a:off x="685800" y="326989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269894"/>
            <a:ext cx="2504724"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«Ничего, агент сам запомнит»</a:t>
            </a:r>
          </a:p>
        </p:txBody>
      </p:sp>
      <p:sp>
        <p:nvSpPr>
          <p:cNvPr id="14" name="TextBox 13"/>
          <p:cNvSpPr txBox="1"/>
          <p:nvPr/>
        </p:nvSpPr>
        <p:spPr>
          <a:xfrm>
            <a:off x="3281964" y="3269894"/>
            <a:ext cx="3153765"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Нигде: это не настройка, которую забыли включить</a:t>
            </a:r>
          </a:p>
        </p:txBody>
      </p:sp>
      <p:sp>
        <p:nvSpPr>
          <p:cNvPr id="15" name="TextBox 14"/>
          <p:cNvSpPr txBox="1"/>
          <p:nvPr/>
        </p:nvSpPr>
        <p:spPr>
          <a:xfrm>
            <a:off x="6527170" y="3269894"/>
            <a:ext cx="4884541"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Модель не имеет состояния между вызовами по конструкции</a:t>
            </a:r>
          </a:p>
        </p:txBody>
      </p:sp>
      <p:cxnSp>
        <p:nvCxnSpPr>
          <p:cNvPr id="16" name="Connector 15"/>
          <p:cNvCxnSpPr/>
          <p:nvPr/>
        </p:nvCxnSpPr>
        <p:spPr>
          <a:xfrm>
            <a:off x="685800" y="379658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3796588"/>
            <a:ext cx="2504724"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«Скажу агенту ‘запомни это’»</a:t>
            </a:r>
          </a:p>
        </p:txBody>
      </p:sp>
      <p:sp>
        <p:nvSpPr>
          <p:cNvPr id="18" name="TextBox 17"/>
          <p:cNvSpPr txBox="1"/>
          <p:nvPr/>
        </p:nvSpPr>
        <p:spPr>
          <a:xfrm>
            <a:off x="3281964" y="3796588"/>
            <a:ext cx="3153765"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Для личного предпочтения — идеально</a:t>
            </a:r>
          </a:p>
        </p:txBody>
      </p:sp>
      <p:sp>
        <p:nvSpPr>
          <p:cNvPr id="19" name="TextBox 18"/>
          <p:cNvSpPr txBox="1"/>
          <p:nvPr/>
        </p:nvSpPr>
        <p:spPr>
          <a:xfrm>
            <a:off x="6527170" y="3796588"/>
            <a:ext cx="4884541"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Половина ответа. Уходит в авто-память: машинно-локальный слой без синхронизации и код-ревью</a:t>
            </a:r>
          </a:p>
        </p:txBody>
      </p:sp>
      <p:cxnSp>
        <p:nvCxnSpPr>
          <p:cNvPr id="20" name="Connector 19"/>
          <p:cNvCxnSpPr/>
          <p:nvPr/>
        </p:nvCxnSpPr>
        <p:spPr>
          <a:xfrm>
            <a:off x="685800" y="432328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4323283"/>
            <a:ext cx="2504724"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«Запишу в DECISIONS.md — он уже есть»</a:t>
            </a:r>
          </a:p>
        </p:txBody>
      </p:sp>
      <p:sp>
        <p:nvSpPr>
          <p:cNvPr id="22" name="TextBox 21"/>
          <p:cNvSpPr txBox="1"/>
          <p:nvPr/>
        </p:nvSpPr>
        <p:spPr>
          <a:xfrm>
            <a:off x="3281964" y="4323283"/>
            <a:ext cx="3153765"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Для командного решения с обоснованием — именно то, что нужно</a:t>
            </a:r>
          </a:p>
        </p:txBody>
      </p:sp>
      <p:sp>
        <p:nvSpPr>
          <p:cNvPr id="23" name="TextBox 22"/>
          <p:cNvSpPr txBox="1"/>
          <p:nvPr/>
        </p:nvSpPr>
        <p:spPr>
          <a:xfrm>
            <a:off x="6527170" y="4323283"/>
            <a:ext cx="4884541"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Вторая половина ответа. Дело не в создании, а в дисциплине: писать «почему», а не «что»</a:t>
            </a:r>
          </a:p>
        </p:txBody>
      </p:sp>
      <p:cxnSp>
        <p:nvCxnSpPr>
          <p:cNvPr id="24" name="Connector 23"/>
          <p:cNvCxnSpPr/>
          <p:nvPr/>
        </p:nvCxnSpPr>
        <p:spPr>
          <a:xfrm>
            <a:off x="685800" y="484997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4849977"/>
            <a:ext cx="2504724"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«Поставлю систему памяти»</a:t>
            </a:r>
          </a:p>
        </p:txBody>
      </p:sp>
      <p:sp>
        <p:nvSpPr>
          <p:cNvPr id="26" name="TextBox 25"/>
          <p:cNvSpPr txBox="1"/>
          <p:nvPr/>
        </p:nvSpPr>
        <p:spPr>
          <a:xfrm>
            <a:off x="3281964" y="4849977"/>
            <a:ext cx="3153765"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На десятках-сотнях записей, нескольких пользователях</a:t>
            </a:r>
          </a:p>
        </p:txBody>
      </p:sp>
      <p:sp>
        <p:nvSpPr>
          <p:cNvPr id="27" name="TextBox 26"/>
          <p:cNvSpPr txBox="1"/>
          <p:nvPr/>
        </p:nvSpPr>
        <p:spPr>
          <a:xfrm>
            <a:off x="6527170" y="4849977"/>
            <a:ext cx="4884541" cy="526694"/>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Рано на порядок: на малых корпусах простой файл регулярно конкурентен со сложными системами</a:t>
            </a:r>
          </a:p>
        </p:txBody>
      </p:sp>
      <p:sp>
        <p:nvSpPr>
          <p:cNvPr id="28" name="Rounded Rectangle 27"/>
          <p:cNvSpPr/>
          <p:nvPr/>
        </p:nvSpPr>
        <p:spPr>
          <a:xfrm>
            <a:off x="502920" y="5705856"/>
            <a:ext cx="11183112"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5779008"/>
            <a:ext cx="10780776" cy="493775"/>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целевой ответ — оба механизма разом, с разделением ролей</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2.1 · СОВМЕСТНОЕ ФОРМИРОВАНИЕ</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Не всё, что узнал агент, вообще стоит записывать — третья корзина такая же законная, как первые две</a:t>
            </a:r>
          </a:p>
        </p:txBody>
      </p:sp>
      <p:sp>
        <p:nvSpPr>
          <p:cNvPr id="4" name="Rounded Rectangle 3"/>
          <p:cNvSpPr/>
          <p:nvPr/>
        </p:nvSpPr>
        <p:spPr>
          <a:xfrm>
            <a:off x="502920" y="1810512"/>
            <a:ext cx="3581400" cy="2468880"/>
          </a:xfrm>
          <a:prstGeom prst="roundRect">
            <a:avLst>
              <a:gd name="adj" fmla="val 1234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9224" y="1920240"/>
            <a:ext cx="3288792" cy="310896"/>
          </a:xfrm>
          <a:prstGeom prst="rect">
            <a:avLst/>
          </a:prstGeom>
          <a:noFill/>
        </p:spPr>
        <p:txBody>
          <a:bodyPr wrap="square" lIns="0" rIns="0" tIns="0" bIns="0" anchor="t">
            <a:spAutoFit/>
          </a:bodyPr>
          <a:lstStyle/>
          <a:p>
            <a:pPr algn="ctr">
              <a:lnSpc>
                <a:spcPct val="115000"/>
              </a:lnSpc>
            </a:pPr>
            <a:r>
              <a:rPr sz="1250" b="1" i="0">
                <a:solidFill>
                  <a:srgbClr val="065A82"/>
                </a:solidFill>
                <a:latin typeface="Arial"/>
              </a:rPr>
              <a:t>АВТО-ПАМЯТЬ</a:t>
            </a:r>
          </a:p>
        </p:txBody>
      </p:sp>
      <p:sp>
        <p:nvSpPr>
          <p:cNvPr id="6" name="Rounded Rectangle 5"/>
          <p:cNvSpPr/>
          <p:nvPr/>
        </p:nvSpPr>
        <p:spPr>
          <a:xfrm>
            <a:off x="630936" y="2350008"/>
            <a:ext cx="3325368" cy="1783080"/>
          </a:xfrm>
          <a:prstGeom prst="roundRect">
            <a:avLst>
              <a:gd name="adj" fmla="val 20000"/>
            </a:avLst>
          </a:prstGeom>
          <a:solidFill>
            <a:srgbClr val="ECF0F5"/>
          </a:solidFill>
          <a:ln w="1143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350008"/>
            <a:ext cx="3142488" cy="1783080"/>
          </a:xfrm>
          <a:prstGeom prst="rect">
            <a:avLst/>
          </a:prstGeom>
          <a:noFill/>
        </p:spPr>
        <p:txBody>
          <a:bodyPr wrap="square" lIns="0" rIns="0" tIns="0" bIns="0" anchor="ctr">
            <a:spAutoFit/>
          </a:bodyPr>
          <a:lstStyle/>
          <a:p>
            <a:pPr algn="l">
              <a:lnSpc>
                <a:spcPct val="112000"/>
              </a:lnSpc>
            </a:pPr>
            <a:r>
              <a:rPr sz="1030" b="0" i="0">
                <a:solidFill>
                  <a:srgbClr val="21295C"/>
                </a:solidFill>
                <a:latin typeface="Arial"/>
              </a:rPr>
              <a:t>Разработчик просит отвечать
коротко, без преамбул</a:t>
            </a:r>
          </a:p>
        </p:txBody>
      </p:sp>
      <p:sp>
        <p:nvSpPr>
          <p:cNvPr id="8" name="Rounded Rectangle 7"/>
          <p:cNvSpPr/>
          <p:nvPr/>
        </p:nvSpPr>
        <p:spPr>
          <a:xfrm>
            <a:off x="4303775" y="1810512"/>
            <a:ext cx="3581400" cy="2468880"/>
          </a:xfrm>
          <a:prstGeom prst="roundRect">
            <a:avLst>
              <a:gd name="adj" fmla="val 1234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50080" y="1920240"/>
            <a:ext cx="3288792" cy="310896"/>
          </a:xfrm>
          <a:prstGeom prst="rect">
            <a:avLst/>
          </a:prstGeom>
          <a:noFill/>
        </p:spPr>
        <p:txBody>
          <a:bodyPr wrap="square" lIns="0" rIns="0" tIns="0" bIns="0" anchor="t">
            <a:spAutoFit/>
          </a:bodyPr>
          <a:lstStyle/>
          <a:p>
            <a:pPr algn="ctr">
              <a:lnSpc>
                <a:spcPct val="115000"/>
              </a:lnSpc>
            </a:pPr>
            <a:r>
              <a:rPr sz="1250" b="1" i="0">
                <a:solidFill>
                  <a:srgbClr val="065A82"/>
                </a:solidFill>
                <a:latin typeface="Arial"/>
              </a:rPr>
              <a:t>DECISIONS.MD</a:t>
            </a:r>
          </a:p>
        </p:txBody>
      </p:sp>
      <p:sp>
        <p:nvSpPr>
          <p:cNvPr id="10" name="Rounded Rectangle 9"/>
          <p:cNvSpPr/>
          <p:nvPr/>
        </p:nvSpPr>
        <p:spPr>
          <a:xfrm>
            <a:off x="4431791" y="2350008"/>
            <a:ext cx="3325368" cy="845820"/>
          </a:xfrm>
          <a:prstGeom prst="roundRect">
            <a:avLst>
              <a:gd name="adj" fmla="val 20000"/>
            </a:avLst>
          </a:prstGeom>
          <a:solidFill>
            <a:srgbClr val="ECF0F5"/>
          </a:solidFill>
          <a:ln w="1143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3232" y="2350008"/>
            <a:ext cx="3142488" cy="845820"/>
          </a:xfrm>
          <a:prstGeom prst="rect">
            <a:avLst/>
          </a:prstGeom>
          <a:noFill/>
        </p:spPr>
        <p:txBody>
          <a:bodyPr wrap="square" lIns="0" rIns="0" tIns="0" bIns="0" anchor="ctr">
            <a:spAutoFit/>
          </a:bodyPr>
          <a:lstStyle/>
          <a:p>
            <a:pPr algn="l">
              <a:lnSpc>
                <a:spcPct val="112000"/>
              </a:lnSpc>
            </a:pPr>
            <a:r>
              <a:rPr sz="1030" b="0" i="0">
                <a:solidFill>
                  <a:srgbClr val="21295C"/>
                </a:solidFill>
                <a:latin typeface="Arial"/>
              </a:rPr>
              <a:t>Не подключаем стороннюю библиотеку
валидации — форма из двух полей</a:t>
            </a:r>
          </a:p>
        </p:txBody>
      </p:sp>
      <p:sp>
        <p:nvSpPr>
          <p:cNvPr id="12" name="Rounded Rectangle 11"/>
          <p:cNvSpPr/>
          <p:nvPr/>
        </p:nvSpPr>
        <p:spPr>
          <a:xfrm>
            <a:off x="4431791" y="3287268"/>
            <a:ext cx="3325368" cy="845820"/>
          </a:xfrm>
          <a:prstGeom prst="roundRect">
            <a:avLst>
              <a:gd name="adj" fmla="val 20000"/>
            </a:avLst>
          </a:prstGeom>
          <a:solidFill>
            <a:srgbClr val="ECF0F5"/>
          </a:solidFill>
          <a:ln w="1143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3232" y="3287268"/>
            <a:ext cx="3142488" cy="845820"/>
          </a:xfrm>
          <a:prstGeom prst="rect">
            <a:avLst/>
          </a:prstGeom>
          <a:noFill/>
        </p:spPr>
        <p:txBody>
          <a:bodyPr wrap="square" lIns="0" rIns="0" tIns="0" bIns="0" anchor="ctr">
            <a:spAutoFit/>
          </a:bodyPr>
          <a:lstStyle/>
          <a:p>
            <a:pPr algn="l">
              <a:lnSpc>
                <a:spcPct val="112000"/>
              </a:lnSpc>
            </a:pPr>
            <a:r>
              <a:rPr sz="1030" b="0" i="0">
                <a:solidFill>
                  <a:srgbClr val="21295C"/>
                </a:solidFill>
                <a:latin typeface="Arial"/>
              </a:rPr>
              <a:t>Своего бэкенда не делаем — заявка
уходит на внешний сервис приёма форм</a:t>
            </a:r>
          </a:p>
        </p:txBody>
      </p:sp>
      <p:sp>
        <p:nvSpPr>
          <p:cNvPr id="14" name="Rounded Rectangle 13"/>
          <p:cNvSpPr/>
          <p:nvPr/>
        </p:nvSpPr>
        <p:spPr>
          <a:xfrm>
            <a:off x="8104632" y="1810512"/>
            <a:ext cx="3581400" cy="2468880"/>
          </a:xfrm>
          <a:prstGeom prst="roundRect">
            <a:avLst>
              <a:gd name="adj" fmla="val 12345"/>
            </a:avLst>
          </a:prstGeom>
          <a:solidFill>
            <a:srgbClr val="FEF5E0"/>
          </a:solidFill>
          <a:ln w="22860">
            <a:solidFill>
              <a:srgbClr val="8A6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0936" y="1920240"/>
            <a:ext cx="3288792" cy="310896"/>
          </a:xfrm>
          <a:prstGeom prst="rect">
            <a:avLst/>
          </a:prstGeom>
          <a:noFill/>
        </p:spPr>
        <p:txBody>
          <a:bodyPr wrap="square" lIns="0" rIns="0" tIns="0" bIns="0" anchor="t">
            <a:spAutoFit/>
          </a:bodyPr>
          <a:lstStyle/>
          <a:p>
            <a:pPr algn="ctr">
              <a:lnSpc>
                <a:spcPct val="115000"/>
              </a:lnSpc>
            </a:pPr>
            <a:r>
              <a:rPr sz="1250" b="1" i="0">
                <a:solidFill>
                  <a:srgbClr val="8A6200"/>
                </a:solidFill>
                <a:latin typeface="Arial"/>
              </a:rPr>
              <a:t>НИКУДА</a:t>
            </a:r>
          </a:p>
        </p:txBody>
      </p:sp>
      <p:sp>
        <p:nvSpPr>
          <p:cNvPr id="16" name="Rounded Rectangle 15"/>
          <p:cNvSpPr/>
          <p:nvPr/>
        </p:nvSpPr>
        <p:spPr>
          <a:xfrm>
            <a:off x="8232648" y="2350008"/>
            <a:ext cx="3325368" cy="845820"/>
          </a:xfrm>
          <a:prstGeom prst="roundRect">
            <a:avLst>
              <a:gd name="adj" fmla="val 20000"/>
            </a:avLst>
          </a:prstGeom>
          <a:solidFill>
            <a:srgbClr val="FFFFFF"/>
          </a:solidFill>
          <a:ln w="1143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4088" y="2350008"/>
            <a:ext cx="3142488" cy="845820"/>
          </a:xfrm>
          <a:prstGeom prst="rect">
            <a:avLst/>
          </a:prstGeom>
          <a:noFill/>
        </p:spPr>
        <p:txBody>
          <a:bodyPr wrap="square" lIns="0" rIns="0" tIns="0" bIns="0" anchor="ctr">
            <a:spAutoFit/>
          </a:bodyPr>
          <a:lstStyle/>
          <a:p>
            <a:pPr algn="l">
              <a:lnSpc>
                <a:spcPct val="112000"/>
              </a:lnSpc>
            </a:pPr>
            <a:r>
              <a:rPr sz="1030" b="0" i="0">
                <a:solidFill>
                  <a:srgbClr val="21295C"/>
                </a:solidFill>
                <a:latin typeface="Arial"/>
              </a:rPr>
              <a:t>Обработчик формы лежит
в src/main.js</a:t>
            </a:r>
          </a:p>
        </p:txBody>
      </p:sp>
      <p:sp>
        <p:nvSpPr>
          <p:cNvPr id="18" name="Rounded Rectangle 17"/>
          <p:cNvSpPr/>
          <p:nvPr/>
        </p:nvSpPr>
        <p:spPr>
          <a:xfrm>
            <a:off x="8232648" y="3287268"/>
            <a:ext cx="3325368" cy="845820"/>
          </a:xfrm>
          <a:prstGeom prst="roundRect">
            <a:avLst>
              <a:gd name="adj" fmla="val 20000"/>
            </a:avLst>
          </a:prstGeom>
          <a:solidFill>
            <a:srgbClr val="FFFFFF"/>
          </a:solidFill>
          <a:ln w="1143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4088" y="3287268"/>
            <a:ext cx="3142488" cy="845820"/>
          </a:xfrm>
          <a:prstGeom prst="rect">
            <a:avLst/>
          </a:prstGeom>
          <a:noFill/>
        </p:spPr>
        <p:txBody>
          <a:bodyPr wrap="square" lIns="0" rIns="0" tIns="0" bIns="0" anchor="ctr">
            <a:spAutoFit/>
          </a:bodyPr>
          <a:lstStyle/>
          <a:p>
            <a:pPr algn="l">
              <a:lnSpc>
                <a:spcPct val="112000"/>
              </a:lnSpc>
            </a:pPr>
            <a:r>
              <a:rPr sz="1030" b="0" i="0">
                <a:solidFill>
                  <a:srgbClr val="21295C"/>
                </a:solidFill>
                <a:latin typeface="Arial"/>
              </a:rPr>
              <a:t>24 сентября тест упал из-за
таймаута, увеличили ожидание</a:t>
            </a:r>
          </a:p>
        </p:txBody>
      </p:sp>
      <p:sp>
        <p:nvSpPr>
          <p:cNvPr id="20" name="Rounded Rectangle 19"/>
          <p:cNvSpPr/>
          <p:nvPr/>
        </p:nvSpPr>
        <p:spPr>
          <a:xfrm>
            <a:off x="502920" y="4507992"/>
            <a:ext cx="11183112" cy="1892808"/>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709159"/>
            <a:ext cx="10780776"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собранная запись — реальный файл демо-репозитория</a:t>
            </a:r>
          </a:p>
        </p:txBody>
      </p:sp>
      <p:sp>
        <p:nvSpPr>
          <p:cNvPr id="22" name="TextBox 21"/>
          <p:cNvSpPr txBox="1"/>
          <p:nvPr/>
        </p:nvSpPr>
        <p:spPr>
          <a:xfrm>
            <a:off x="704088" y="5020055"/>
            <a:ext cx="10780776" cy="1179576"/>
          </a:xfrm>
          <a:prstGeom prst="rect">
            <a:avLst/>
          </a:prstGeom>
          <a:noFill/>
        </p:spPr>
        <p:txBody>
          <a:bodyPr wrap="square" lIns="0" rIns="0" tIns="0" bIns="0" anchor="t">
            <a:spAutoFit/>
          </a:bodyPr>
          <a:lstStyle/>
          <a:p>
            <a:pPr algn="l">
              <a:lnSpc>
                <a:spcPct val="132000"/>
              </a:lnSpc>
              <a:spcAft>
                <a:spcPts val="200"/>
              </a:spcAft>
            </a:pPr>
            <a:r>
              <a:rPr sz="1150" b="1" i="0">
                <a:solidFill>
                  <a:srgbClr val="028090"/>
                </a:solidFill>
                <a:latin typeface="Consolas"/>
              </a:rPr>
              <a:t>## 2026-09-20 — не подключаем библиотеку валидации форм</a:t>
            </a:r>
          </a:p>
          <a:p>
            <a:pPr algn="l">
              <a:lnSpc>
                <a:spcPct val="132000"/>
              </a:lnSpc>
              <a:spcAft>
                <a:spcPts val="200"/>
              </a:spcAft>
            </a:pPr>
            <a:r>
              <a:rPr sz="1150" b="0" i="0">
                <a:solidFill>
                  <a:srgbClr val="E3E9F2"/>
                </a:solidFill>
                <a:latin typeface="Consolas"/>
              </a:rPr>
              <a:t>Форма — два поля (имя, email), хватает нативных required/pattern в</a:t>
            </a:r>
          </a:p>
          <a:p>
            <a:pPr algn="l">
              <a:lnSpc>
                <a:spcPct val="132000"/>
              </a:lnSpc>
              <a:spcAft>
                <a:spcPts val="200"/>
              </a:spcAft>
            </a:pPr>
            <a:r>
              <a:rPr sz="1150" b="0" i="0">
                <a:solidFill>
                  <a:srgbClr val="E3E9F2"/>
                </a:solidFill>
                <a:latin typeface="Consolas"/>
              </a:rPr>
              <a:t>index.html. Сторонняя библиотека — лишняя зависимость ради этого объёма.</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2.1 · РЕШЕНИЕ</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Новое — не файл (он заведён на дне 0), а первая содержательная запись в нём, датированная днём, когда решение записали</a:t>
            </a:r>
          </a:p>
        </p:txBody>
      </p:sp>
      <p:sp>
        <p:nvSpPr>
          <p:cNvPr id="4" name="Rounded Rectangle 3"/>
          <p:cNvSpPr/>
          <p:nvPr/>
        </p:nvSpPr>
        <p:spPr>
          <a:xfrm>
            <a:off x="502920" y="1810512"/>
            <a:ext cx="6126480" cy="406908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011680"/>
            <a:ext cx="5724144"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DECISIONS.md — целиком</a:t>
            </a:r>
          </a:p>
        </p:txBody>
      </p:sp>
      <p:sp>
        <p:nvSpPr>
          <p:cNvPr id="6" name="TextBox 5"/>
          <p:cNvSpPr txBox="1"/>
          <p:nvPr/>
        </p:nvSpPr>
        <p:spPr>
          <a:xfrm>
            <a:off x="704088" y="2322576"/>
            <a:ext cx="5724144" cy="3355848"/>
          </a:xfrm>
          <a:prstGeom prst="rect">
            <a:avLst/>
          </a:prstGeom>
          <a:noFill/>
        </p:spPr>
        <p:txBody>
          <a:bodyPr wrap="square" lIns="0" rIns="0" tIns="0" bIns="0" anchor="t">
            <a:spAutoFit/>
          </a:bodyPr>
          <a:lstStyle/>
          <a:p>
            <a:pPr algn="l">
              <a:lnSpc>
                <a:spcPct val="132000"/>
              </a:lnSpc>
              <a:spcAft>
                <a:spcPts val="200"/>
              </a:spcAft>
            </a:pPr>
            <a:r>
              <a:rPr sz="1100" b="1" i="0">
                <a:solidFill>
                  <a:srgbClr val="028090"/>
                </a:solidFill>
                <a:latin typeface="Consolas"/>
              </a:rPr>
              <a:t># Decisions</a:t>
            </a:r>
          </a:p>
          <a:p>
            <a:pPr algn="l">
              <a:lnSpc>
                <a:spcPct val="132000"/>
              </a:lnSpc>
              <a:spcAft>
                <a:spcPts val="200"/>
              </a:spcAft>
            </a:pPr>
            <a:r>
              <a:rPr sz="1100" b="0" i="0">
                <a:solidFill>
                  <a:srgbClr val="E3E9F2"/>
                </a:solidFill>
                <a:latin typeface="Consolas"/>
              </a:rPr>
              <a:t/>
            </a:r>
          </a:p>
          <a:p>
            <a:pPr algn="l">
              <a:lnSpc>
                <a:spcPct val="132000"/>
              </a:lnSpc>
              <a:spcAft>
                <a:spcPts val="200"/>
              </a:spcAft>
            </a:pPr>
            <a:r>
              <a:rPr sz="1100" b="0" i="0">
                <a:solidFill>
                  <a:srgbClr val="8B9BB4"/>
                </a:solidFill>
                <a:latin typeface="Consolas"/>
              </a:rPr>
              <a:t>Append-only log of why, in date order.</a:t>
            </a:r>
          </a:p>
          <a:p>
            <a:pPr algn="l">
              <a:lnSpc>
                <a:spcPct val="132000"/>
              </a:lnSpc>
              <a:spcAft>
                <a:spcPts val="200"/>
              </a:spcAft>
            </a:pPr>
            <a:r>
              <a:rPr sz="1100" b="0" i="0">
                <a:solidFill>
                  <a:srgbClr val="E3E9F2"/>
                </a:solidFill>
                <a:latin typeface="Consolas"/>
              </a:rPr>
              <a:t/>
            </a:r>
          </a:p>
          <a:p>
            <a:pPr algn="l">
              <a:lnSpc>
                <a:spcPct val="132000"/>
              </a:lnSpc>
              <a:spcAft>
                <a:spcPts val="200"/>
              </a:spcAft>
            </a:pPr>
            <a:r>
              <a:rPr sz="1100" b="1" i="0">
                <a:solidFill>
                  <a:srgbClr val="028090"/>
                </a:solidFill>
                <a:latin typeface="Consolas"/>
              </a:rPr>
              <a:t>## 2026-09-26 — сторонние виджеты в форму не добавляем</a:t>
            </a:r>
          </a:p>
          <a:p>
            <a:pPr algn="l">
              <a:lnSpc>
                <a:spcPct val="132000"/>
              </a:lnSpc>
              <a:spcAft>
                <a:spcPts val="200"/>
              </a:spcAft>
            </a:pPr>
            <a:r>
              <a:rPr sz="1100" b="0" i="0">
                <a:solidFill>
                  <a:srgbClr val="E3E9F2"/>
                </a:solidFill>
                <a:latin typeface="Consolas"/>
              </a:rPr>
              <a:t>Форма — два поля (имя, email), хватает нативных required/pattern</a:t>
            </a:r>
          </a:p>
          <a:p>
            <a:pPr algn="l">
              <a:lnSpc>
                <a:spcPct val="132000"/>
              </a:lnSpc>
              <a:spcAft>
                <a:spcPts val="200"/>
              </a:spcAft>
            </a:pPr>
            <a:r>
              <a:rPr sz="1100" b="0" i="0">
                <a:solidFill>
                  <a:srgbClr val="E3E9F2"/>
                </a:solidFill>
                <a:latin typeface="Consolas"/>
              </a:rPr>
              <a:t>в index.html. Сторонний виджет — лишняя зависимость и лишние</a:t>
            </a:r>
          </a:p>
          <a:p>
            <a:pPr algn="l">
              <a:lnSpc>
                <a:spcPct val="132000"/>
              </a:lnSpc>
              <a:spcAft>
                <a:spcPts val="200"/>
              </a:spcAft>
            </a:pPr>
            <a:r>
              <a:rPr sz="1100" b="0" i="0">
                <a:solidFill>
                  <a:srgbClr val="E3E9F2"/>
                </a:solidFill>
                <a:latin typeface="Consolas"/>
              </a:rPr>
              <a:t>килобайты в сборке ради этого объёма.</a:t>
            </a:r>
          </a:p>
        </p:txBody>
      </p:sp>
      <p:sp>
        <p:nvSpPr>
          <p:cNvPr id="7" name="Rounded Rectangle 6"/>
          <p:cNvSpPr/>
          <p:nvPr/>
        </p:nvSpPr>
        <p:spPr>
          <a:xfrm>
            <a:off x="6903720" y="1810512"/>
            <a:ext cx="4782312" cy="406908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04888" y="2011680"/>
            <a:ext cx="4379976"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состояние репозитория, неделя 1</a:t>
            </a:r>
          </a:p>
        </p:txBody>
      </p:sp>
      <p:sp>
        <p:nvSpPr>
          <p:cNvPr id="9" name="TextBox 8"/>
          <p:cNvSpPr txBox="1"/>
          <p:nvPr/>
        </p:nvSpPr>
        <p:spPr>
          <a:xfrm>
            <a:off x="7104888" y="2322576"/>
            <a:ext cx="4379976" cy="3355848"/>
          </a:xfrm>
          <a:prstGeom prst="rect">
            <a:avLst/>
          </a:prstGeom>
          <a:noFill/>
        </p:spPr>
        <p:txBody>
          <a:bodyPr wrap="square" lIns="0" rIns="0" tIns="0" bIns="0" anchor="t">
            <a:spAutoFit/>
          </a:bodyPr>
          <a:lstStyle/>
          <a:p>
            <a:pPr algn="l">
              <a:lnSpc>
                <a:spcPct val="132000"/>
              </a:lnSpc>
              <a:spcAft>
                <a:spcPts val="200"/>
              </a:spcAft>
            </a:pPr>
            <a:r>
              <a:rPr sz="1050" b="0" i="0">
                <a:solidFill>
                  <a:srgbClr val="E3E9F2"/>
                </a:solidFill>
                <a:latin typeface="Consolas"/>
              </a:rPr>
              <a:t>README.md</a:t>
            </a:r>
          </a:p>
          <a:p>
            <a:pPr algn="l">
              <a:lnSpc>
                <a:spcPct val="132000"/>
              </a:lnSpc>
              <a:spcAft>
                <a:spcPts val="200"/>
              </a:spcAft>
            </a:pPr>
            <a:r>
              <a:rPr sz="1050" b="0" i="0">
                <a:solidFill>
                  <a:srgbClr val="E3E9F2"/>
                </a:solidFill>
                <a:latin typeface="Consolas"/>
              </a:rPr>
              <a:t>spec.md</a:t>
            </a:r>
          </a:p>
          <a:p>
            <a:pPr algn="l">
              <a:lnSpc>
                <a:spcPct val="132000"/>
              </a:lnSpc>
              <a:spcAft>
                <a:spcPts val="200"/>
              </a:spcAft>
            </a:pPr>
            <a:r>
              <a:rPr sz="1050" b="1" i="0">
                <a:solidFill>
                  <a:srgbClr val="F0AB00"/>
                </a:solidFill>
                <a:latin typeface="Consolas"/>
              </a:rPr>
              <a:t>DECISIONS.md</a:t>
            </a:r>
          </a:p>
          <a:p>
            <a:pPr algn="l">
              <a:lnSpc>
                <a:spcPct val="132000"/>
              </a:lnSpc>
              <a:spcAft>
                <a:spcPts val="200"/>
              </a:spcAft>
            </a:pPr>
            <a:r>
              <a:rPr sz="1050" b="0" i="0">
                <a:solidFill>
                  <a:srgbClr val="E3E9F2"/>
                </a:solidFill>
                <a:latin typeface="Consolas"/>
              </a:rPr>
              <a:t>CLAUDE.md</a:t>
            </a:r>
          </a:p>
          <a:p>
            <a:pPr algn="l">
              <a:lnSpc>
                <a:spcPct val="132000"/>
              </a:lnSpc>
              <a:spcAft>
                <a:spcPts val="200"/>
              </a:spcAft>
            </a:pPr>
            <a:r>
              <a:rPr sz="1050" b="0" i="0">
                <a:solidFill>
                  <a:srgbClr val="E3E9F2"/>
                </a:solidFill>
                <a:latin typeface="Consolas"/>
              </a:rPr>
              <a:t>AGENTS.md</a:t>
            </a:r>
          </a:p>
          <a:p>
            <a:pPr algn="l">
              <a:lnSpc>
                <a:spcPct val="132000"/>
              </a:lnSpc>
              <a:spcAft>
                <a:spcPts val="200"/>
              </a:spcAft>
            </a:pPr>
            <a:r>
              <a:rPr sz="1050" b="0" i="0">
                <a:solidFill>
                  <a:srgbClr val="E3E9F2"/>
                </a:solidFill>
                <a:latin typeface="Consolas"/>
              </a:rPr>
              <a:t>index.html</a:t>
            </a:r>
          </a:p>
          <a:p>
            <a:pPr algn="l">
              <a:lnSpc>
                <a:spcPct val="132000"/>
              </a:lnSpc>
              <a:spcAft>
                <a:spcPts val="200"/>
              </a:spcAft>
            </a:pPr>
            <a:r>
              <a:rPr sz="1050" b="0" i="0">
                <a:solidFill>
                  <a:srgbClr val="E3E9F2"/>
                </a:solidFill>
                <a:latin typeface="Consolas"/>
              </a:rPr>
              <a:t>package.json</a:t>
            </a:r>
          </a:p>
          <a:p>
            <a:pPr algn="l">
              <a:lnSpc>
                <a:spcPct val="132000"/>
              </a:lnSpc>
              <a:spcAft>
                <a:spcPts val="200"/>
              </a:spcAft>
            </a:pPr>
            <a:r>
              <a:rPr sz="1050" b="0" i="0">
                <a:solidFill>
                  <a:srgbClr val="E3E9F2"/>
                </a:solidFill>
                <a:latin typeface="Consolas"/>
              </a:rPr>
              <a:t>src/main.js</a:t>
            </a:r>
          </a:p>
          <a:p>
            <a:pPr algn="l">
              <a:lnSpc>
                <a:spcPct val="132000"/>
              </a:lnSpc>
              <a:spcAft>
                <a:spcPts val="200"/>
              </a:spcAft>
            </a:pPr>
            <a:r>
              <a:rPr sz="1050" b="0" i="0">
                <a:solidFill>
                  <a:srgbClr val="E3E9F2"/>
                </a:solidFill>
                <a:latin typeface="Consolas"/>
              </a:rPr>
              <a:t>tests/form.spec.ts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2.1 · ПРОВАЛ И ЭФФЕКТИВНОСТЬ</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Память по умолчанию читается как доверенный контекст, а не как данные — и включение памяти не обязательно улучшает результат</a:t>
            </a:r>
          </a:p>
        </p:txBody>
      </p:sp>
      <p:sp>
        <p:nvSpPr>
          <p:cNvPr id="4" name="Rounded Rectangle 3"/>
          <p:cNvSpPr/>
          <p:nvPr/>
        </p:nvSpPr>
        <p:spPr>
          <a:xfrm>
            <a:off x="502920" y="1810512"/>
            <a:ext cx="6949440" cy="1965960"/>
          </a:xfrm>
          <a:prstGeom prst="roundRect">
            <a:avLst>
              <a:gd name="adj" fmla="val 15503"/>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lert-triangle-21295C-96.png"/>
          <p:cNvPicPr>
            <a:picLocks noChangeAspect="1"/>
          </p:cNvPicPr>
          <p:nvPr/>
        </p:nvPicPr>
        <p:blipFill>
          <a:blip r:embed="rId2"/>
          <a:stretch>
            <a:fillRect/>
          </a:stretch>
        </p:blipFill>
        <p:spPr>
          <a:xfrm>
            <a:off x="704088" y="2011680"/>
            <a:ext cx="365760" cy="365760"/>
          </a:xfrm>
          <a:prstGeom prst="rect">
            <a:avLst/>
          </a:prstGeom>
        </p:spPr>
      </p:pic>
      <p:sp>
        <p:nvSpPr>
          <p:cNvPr id="6" name="TextBox 5"/>
          <p:cNvSpPr txBox="1"/>
          <p:nvPr/>
        </p:nvSpPr>
        <p:spPr>
          <a:xfrm>
            <a:off x="1197864" y="1993392"/>
            <a:ext cx="6053327" cy="347472"/>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Отравление памяти — SpAIware (сентябрь 2024)</a:t>
            </a:r>
          </a:p>
        </p:txBody>
      </p:sp>
      <p:sp>
        <p:nvSpPr>
          <p:cNvPr id="7" name="TextBox 6"/>
          <p:cNvSpPr txBox="1"/>
          <p:nvPr/>
        </p:nvSpPr>
        <p:spPr>
          <a:xfrm>
            <a:off x="704088" y="2414016"/>
            <a:ext cx="6547103" cy="1161288"/>
          </a:xfrm>
          <a:prstGeom prst="rect">
            <a:avLst/>
          </a:prstGeom>
          <a:noFill/>
        </p:spPr>
        <p:txBody>
          <a:bodyPr wrap="square" lIns="0" rIns="0" tIns="0" bIns="0" anchor="t">
            <a:spAutoFit/>
          </a:bodyPr>
          <a:lstStyle/>
          <a:p>
            <a:pPr algn="l">
              <a:lnSpc>
                <a:spcPct val="128000"/>
              </a:lnSpc>
            </a:pPr>
            <a:r>
              <a:rPr sz="1150" b="0" i="0">
                <a:solidFill>
                  <a:srgbClr val="21295C"/>
                </a:solidFill>
                <a:latin typeface="Arial"/>
              </a:rPr>
              <a:t>Внешний текст с вложенной инструкцией → долговременная память → активация в последующих сессиях, эксфильтрация переписки. Вектор закрыт в версии 1.2024.247; структурный принцип остался.</a:t>
            </a:r>
          </a:p>
        </p:txBody>
      </p:sp>
      <p:sp>
        <p:nvSpPr>
          <p:cNvPr id="8" name="Rounded Rectangle 7"/>
          <p:cNvSpPr/>
          <p:nvPr/>
        </p:nvSpPr>
        <p:spPr>
          <a:xfrm>
            <a:off x="7708392" y="1810512"/>
            <a:ext cx="3977640" cy="1965960"/>
          </a:xfrm>
          <a:prstGeom prst="roundRect">
            <a:avLst>
              <a:gd name="adj" fmla="val 155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2983" y="1938528"/>
            <a:ext cx="3648456" cy="1709928"/>
          </a:xfrm>
          <a:prstGeom prst="rect">
            <a:avLst/>
          </a:prstGeom>
          <a:noFill/>
        </p:spPr>
        <p:txBody>
          <a:bodyPr wrap="square" lIns="0" rIns="0" tIns="0" bIns="0" anchor="t">
            <a:spAutoFit/>
          </a:bodyPr>
          <a:lstStyle/>
          <a:p>
            <a:pPr algn="l">
              <a:lnSpc>
                <a:spcPct val="126000"/>
              </a:lnSpc>
            </a:pPr>
            <a:r>
              <a:rPr sz="1150" b="0" i="0">
                <a:solidFill>
                  <a:srgbClr val="21295C"/>
                </a:solidFill>
                <a:latin typeface="Arial"/>
              </a:rPr>
              <a:t>≈48% всех последующих обращений к памяти захвачено (MemoryGraft, 2025; до отравления — 0%). В смежном эксперименте 5 подложенных документов управляют выводом в &gt;90% случаев.</a:t>
            </a:r>
          </a:p>
        </p:txBody>
      </p:sp>
      <p:sp>
        <p:nvSpPr>
          <p:cNvPr id="10" name="Rounded Rectangle 9"/>
          <p:cNvSpPr/>
          <p:nvPr/>
        </p:nvSpPr>
        <p:spPr>
          <a:xfrm>
            <a:off x="502920" y="3959352"/>
            <a:ext cx="11183112"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142232"/>
            <a:ext cx="4470135"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Замер</a:t>
            </a:r>
          </a:p>
        </p:txBody>
      </p:sp>
      <p:sp>
        <p:nvSpPr>
          <p:cNvPr id="12" name="TextBox 11"/>
          <p:cNvSpPr txBox="1"/>
          <p:nvPr/>
        </p:nvSpPr>
        <p:spPr>
          <a:xfrm>
            <a:off x="5229087" y="4142232"/>
            <a:ext cx="3388400"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Значение</a:t>
            </a:r>
          </a:p>
        </p:txBody>
      </p:sp>
      <p:sp>
        <p:nvSpPr>
          <p:cNvPr id="13" name="TextBox 12"/>
          <p:cNvSpPr txBox="1"/>
          <p:nvPr/>
        </p:nvSpPr>
        <p:spPr>
          <a:xfrm>
            <a:off x="8690640" y="4142232"/>
            <a:ext cx="2739359"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База сравнения</a:t>
            </a:r>
          </a:p>
        </p:txBody>
      </p:sp>
      <p:sp>
        <p:nvSpPr>
          <p:cNvPr id="14" name="Rectangle 13"/>
          <p:cNvSpPr/>
          <p:nvPr/>
        </p:nvSpPr>
        <p:spPr>
          <a:xfrm>
            <a:off x="557784" y="4526280"/>
            <a:ext cx="11073384" cy="313944"/>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26280"/>
            <a:ext cx="4451847"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Популярная система памяти на бенчмарке долговременной памяти</a:t>
            </a:r>
          </a:p>
        </p:txBody>
      </p:sp>
      <p:sp>
        <p:nvSpPr>
          <p:cNvPr id="16" name="TextBox 15"/>
          <p:cNvSpPr txBox="1"/>
          <p:nvPr/>
        </p:nvSpPr>
        <p:spPr>
          <a:xfrm>
            <a:off x="5229087" y="4526280"/>
            <a:ext cx="3370112"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46,0% с памятью против 57,6% без</a:t>
            </a:r>
          </a:p>
        </p:txBody>
      </p:sp>
      <p:sp>
        <p:nvSpPr>
          <p:cNvPr id="17" name="TextBox 16"/>
          <p:cNvSpPr txBox="1"/>
          <p:nvPr/>
        </p:nvSpPr>
        <p:spPr>
          <a:xfrm>
            <a:off x="8690640" y="4526280"/>
            <a:ext cx="2721071"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та же система, память выключена</a:t>
            </a:r>
          </a:p>
        </p:txBody>
      </p:sp>
      <p:cxnSp>
        <p:nvCxnSpPr>
          <p:cNvPr id="18" name="Connector 17"/>
          <p:cNvCxnSpPr/>
          <p:nvPr/>
        </p:nvCxnSpPr>
        <p:spPr>
          <a:xfrm>
            <a:off x="685800" y="484022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4840224"/>
            <a:ext cx="4451847"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Шесть систем памяти против «весь текст сессии в один файл»</a:t>
            </a:r>
          </a:p>
        </p:txBody>
      </p:sp>
      <p:sp>
        <p:nvSpPr>
          <p:cNvPr id="20" name="TextBox 19"/>
          <p:cNvSpPr txBox="1"/>
          <p:nvPr/>
        </p:nvSpPr>
        <p:spPr>
          <a:xfrm>
            <a:off x="5229087" y="4840224"/>
            <a:ext cx="3370112"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проигрыш плоскому файлу на 25–67 пунктов</a:t>
            </a:r>
          </a:p>
        </p:txBody>
      </p:sp>
      <p:sp>
        <p:nvSpPr>
          <p:cNvPr id="21" name="TextBox 20"/>
          <p:cNvSpPr txBox="1"/>
          <p:nvPr/>
        </p:nvSpPr>
        <p:spPr>
          <a:xfrm>
            <a:off x="8690640" y="4840224"/>
            <a:ext cx="2721071"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тот же плоский файл</a:t>
            </a:r>
          </a:p>
        </p:txBody>
      </p:sp>
      <p:cxnSp>
        <p:nvCxnSpPr>
          <p:cNvPr id="22" name="Connector 21"/>
          <p:cNvCxnSpPr/>
          <p:nvPr/>
        </p:nvCxnSpPr>
        <p:spPr>
          <a:xfrm>
            <a:off x="685800" y="515416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5154168"/>
            <a:ext cx="4451847"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Дискреционность записи</a:t>
            </a:r>
          </a:p>
        </p:txBody>
      </p:sp>
      <p:sp>
        <p:nvSpPr>
          <p:cNvPr id="24" name="TextBox 23"/>
          <p:cNvSpPr txBox="1"/>
          <p:nvPr/>
        </p:nvSpPr>
        <p:spPr>
          <a:xfrm>
            <a:off x="5229087" y="5154168"/>
            <a:ext cx="3370112"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17% (4 задачи из 24) — модель отказалась записать нужный факт</a:t>
            </a:r>
          </a:p>
        </p:txBody>
      </p:sp>
      <p:sp>
        <p:nvSpPr>
          <p:cNvPr id="25" name="TextBox 24"/>
          <p:cNvSpPr txBox="1"/>
          <p:nvPr/>
        </p:nvSpPr>
        <p:spPr>
          <a:xfrm>
            <a:off x="8690640" y="5154168"/>
            <a:ext cx="2721071" cy="313944"/>
          </a:xfrm>
          <a:prstGeom prst="rect">
            <a:avLst/>
          </a:prstGeom>
          <a:noFill/>
        </p:spPr>
        <p:txBody>
          <a:bodyPr wrap="square" lIns="0" rIns="0" tIns="0" bIns="0" anchor="ctr">
            <a:spAutoFit/>
          </a:bodyPr>
          <a:lstStyle/>
          <a:p>
            <a:pPr algn="l">
              <a:lnSpc>
                <a:spcPct val="115000"/>
              </a:lnSpc>
            </a:pPr>
            <a:r>
              <a:rPr sz="980" b="0" i="0">
                <a:solidFill>
                  <a:srgbClr val="21295C"/>
                </a:solidFill>
                <a:latin typeface="Arial"/>
              </a:rPr>
              <a:t>те же 24 задачи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2.1 · КРИТЕРИЙ И ГРАНИЦА</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Плоского файла достаточно, пока история решений влезает в контекст целиком и связей между записями ещё нет</a:t>
            </a:r>
          </a:p>
        </p:txBody>
      </p:sp>
      <p:sp>
        <p:nvSpPr>
          <p:cNvPr id="4" name="Rounded Rectangle 3"/>
          <p:cNvSpPr/>
          <p:nvPr/>
        </p:nvSpPr>
        <p:spPr>
          <a:xfrm>
            <a:off x="502920" y="1810512"/>
            <a:ext cx="11183112" cy="3346704"/>
          </a:xfrm>
          <a:prstGeom prst="roundRect">
            <a:avLst>
              <a:gd name="adj" fmla="val 91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2048256"/>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5" y="1975104"/>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Задача одноразовая, второй сессии по этому контексту не будет.</a:t>
            </a:r>
          </a:p>
        </p:txBody>
      </p:sp>
      <p:sp>
        <p:nvSpPr>
          <p:cNvPr id="7" name="Rounded Rectangle 6"/>
          <p:cNvSpPr/>
          <p:nvPr/>
        </p:nvSpPr>
        <p:spPr>
          <a:xfrm>
            <a:off x="713232" y="2560320"/>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5" y="2487168"/>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Весь нужный контекст помещается в одно контекстное окно без потерь.</a:t>
            </a:r>
          </a:p>
        </p:txBody>
      </p:sp>
      <p:sp>
        <p:nvSpPr>
          <p:cNvPr id="9" name="Rounded Rectangle 8"/>
          <p:cNvSpPr/>
          <p:nvPr/>
        </p:nvSpPr>
        <p:spPr>
          <a:xfrm>
            <a:off x="713232" y="3072384"/>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2999232"/>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Правила проекта стабильны и укладываются в файл инструкций короче 200 строк.</a:t>
            </a:r>
          </a:p>
        </p:txBody>
      </p:sp>
      <p:sp>
        <p:nvSpPr>
          <p:cNvPr id="11" name="Rounded Rectangle 10"/>
          <p:cNvSpPr/>
          <p:nvPr/>
        </p:nvSpPr>
        <p:spPr>
          <a:xfrm>
            <a:off x="713232" y="3584448"/>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 y="3511296"/>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Никто не повторяет вручную одну и ту же правку из сессии в сессию.</a:t>
            </a:r>
          </a:p>
        </p:txBody>
      </p:sp>
      <p:sp>
        <p:nvSpPr>
          <p:cNvPr id="13" name="Rounded Rectangle 12"/>
          <p:cNvSpPr/>
          <p:nvPr/>
        </p:nvSpPr>
        <p:spPr>
          <a:xfrm>
            <a:off x="713232" y="4096512"/>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4023360"/>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Нет нескольких участников, которым нужно делиться контекстом асинхронно.</a:t>
            </a:r>
          </a:p>
        </p:txBody>
      </p:sp>
      <p:sp>
        <p:nvSpPr>
          <p:cNvPr id="15" name="Rounded Rectangle 14"/>
          <p:cNvSpPr/>
          <p:nvPr/>
        </p:nvSpPr>
        <p:spPr>
          <a:xfrm>
            <a:off x="713232" y="4608576"/>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5" y="4535424"/>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Факт выводим из кода или истории изменений.</a:t>
            </a:r>
          </a:p>
        </p:txBody>
      </p:sp>
      <p:sp>
        <p:nvSpPr>
          <p:cNvPr id="17" name="Rounded Rectangle 16"/>
          <p:cNvSpPr/>
          <p:nvPr/>
        </p:nvSpPr>
        <p:spPr>
          <a:xfrm>
            <a:off x="502920" y="5340096"/>
            <a:ext cx="11183112" cy="1060704"/>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5413248"/>
            <a:ext cx="10780776" cy="91440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Плоский DECISIONS.md перестаёт справляться, когда записей набралось настолько много, что найти нужную линейным чтением дольше, чем переобъяснить решение заново, — и между записями появились связи, для которых в append-only логе физически некуда положить.</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it-branch-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822960"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1616" y="548640"/>
            <a:ext cx="1328927" cy="256032"/>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00272"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8961120" cy="1005840"/>
          </a:xfrm>
          <a:prstGeom prst="rect">
            <a:avLst/>
          </a:prstGeom>
          <a:noFill/>
        </p:spPr>
        <p:txBody>
          <a:bodyPr wrap="square" lIns="0" rIns="0" tIns="0" bIns="0" anchor="t">
            <a:spAutoFit/>
          </a:bodyPr>
          <a:lstStyle/>
          <a:p>
            <a:pPr algn="l">
              <a:lnSpc>
                <a:spcPct val="105000"/>
              </a:lnSpc>
            </a:pPr>
            <a:r>
              <a:rPr sz="3300" b="1" i="0">
                <a:solidFill>
                  <a:srgbClr val="FFFFFF"/>
                </a:solidFill>
                <a:latin typeface="Arial"/>
              </a:rPr>
              <a:t>Кейс 2.2 · структурированная вики-память</a:t>
            </a:r>
          </a:p>
        </p:txBody>
      </p:sp>
      <p:sp>
        <p:nvSpPr>
          <p:cNvPr id="9" name="TextBox 8"/>
          <p:cNvSpPr txBox="1"/>
          <p:nvPr/>
        </p:nvSpPr>
        <p:spPr>
          <a:xfrm>
            <a:off x="868680" y="3090672"/>
            <a:ext cx="8778240" cy="822960"/>
          </a:xfrm>
          <a:prstGeom prst="rect">
            <a:avLst/>
          </a:prstGeom>
          <a:noFill/>
        </p:spPr>
        <p:txBody>
          <a:bodyPr wrap="square" lIns="0" rIns="0" tIns="0" bIns="0" anchor="t">
            <a:spAutoFit/>
          </a:bodyPr>
          <a:lstStyle/>
          <a:p>
            <a:pPr algn="l">
              <a:lnSpc>
                <a:spcPct val="130000"/>
              </a:lnSpc>
            </a:pPr>
            <a:r>
              <a:rPr sz="1600" b="0" i="1">
                <a:solidFill>
                  <a:srgbClr val="CFDCEC"/>
                </a:solidFill>
                <a:latin typeface="Arial"/>
              </a:rPr>
              <a:t>Тот же DECISIONS.md, четыре месяца спустя</a:t>
            </a:r>
          </a:p>
        </p:txBody>
      </p:sp>
      <p:sp>
        <p:nvSpPr>
          <p:cNvPr id="10" name="Rounded Rectangle 9"/>
          <p:cNvSpPr/>
          <p:nvPr/>
        </p:nvSpPr>
        <p:spPr>
          <a:xfrm>
            <a:off x="868680" y="3950208"/>
            <a:ext cx="5486400" cy="502920"/>
          </a:xfrm>
          <a:prstGeom prst="roundRect">
            <a:avLst>
              <a:gd name="adj" fmla="val 28000"/>
            </a:avLst>
          </a:prstGeom>
          <a:solidFill>
            <a:srgbClr val="0B143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950208"/>
            <a:ext cx="4974336" cy="502920"/>
          </a:xfrm>
          <a:prstGeom prst="rect">
            <a:avLst/>
          </a:prstGeom>
          <a:noFill/>
        </p:spPr>
        <p:txBody>
          <a:bodyPr wrap="square" lIns="0" rIns="0" tIns="0" bIns="0" anchor="ctr">
            <a:spAutoFit/>
          </a:bodyPr>
          <a:lstStyle/>
          <a:p>
            <a:pPr algn="ctr">
              <a:lnSpc>
                <a:spcPct val="115000"/>
              </a:lnSpc>
            </a:pPr>
            <a:r>
              <a:rPr sz="1100" b="1" i="0">
                <a:solidFill>
                  <a:srgbClr val="028090"/>
                </a:solidFill>
                <a:latin typeface="Arial"/>
              </a:rPr>
              <a:t>СТРУКТУРА ЖУРНАЛА РЕШЕНИЙ</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2.2 · ВИКИ-ПАМЯТЬ</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Четвёртый месяц: в DECISIONS.md двести записей, две из них относятся к одному вопросу — и ни одна не ссылается на другую</a:t>
            </a:r>
          </a:p>
        </p:txBody>
      </p:sp>
      <p:sp>
        <p:nvSpPr>
          <p:cNvPr id="4" name="Rounded Rectangle 3"/>
          <p:cNvSpPr/>
          <p:nvPr/>
        </p:nvSpPr>
        <p:spPr>
          <a:xfrm>
            <a:off x="502920" y="1810512"/>
            <a:ext cx="11183112" cy="3218687"/>
          </a:xfrm>
          <a:prstGeom prst="roundRect">
            <a:avLst>
              <a:gd name="adj" fmla="val 946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93392"/>
            <a:ext cx="10515600" cy="2852927"/>
          </a:xfrm>
          <a:prstGeom prst="rect">
            <a:avLst/>
          </a:prstGeom>
          <a:noFill/>
        </p:spPr>
        <p:txBody>
          <a:bodyPr wrap="square" lIns="0" rIns="0" tIns="0" bIns="0" anchor="ctr">
            <a:spAutoFit/>
          </a:bodyPr>
          <a:lstStyle/>
          <a:p>
            <a:pPr algn="l">
              <a:lnSpc>
                <a:spcPct val="132000"/>
              </a:lnSpc>
            </a:pPr>
            <a:r>
              <a:rPr sz="1400" b="0" i="0">
                <a:solidFill>
                  <a:srgbClr val="21295C"/>
                </a:solidFill>
                <a:latin typeface="Arial"/>
              </a:rPr>
              <a:t>Четвёртый месяц работы над signup-landing. На форму пошёл спам; в команде к этому времени работает ещё один разработчик, который прежних обсуждений не застал, и он просит агента поставить защиту.
Агент читает DECISIONS.md — двести записей — и отвечает по записи от 26 сентября: «сторонние виджеты в форму не добавляем». Значит, капча отпадает, и агент предлагает обсуждать вопрос заново.
Запись от 28 ноября — «антиспам делаем honeypot-полем, без капчи» — лежит на полторы сотни записей ниже, ближе к концу файла, и закрывает ровно этот случай. Ни сентябрьская запись не ссылается на ноябрьскую, ни ноябрьская на сентябрьскую.</a:t>
            </a:r>
          </a:p>
        </p:txBody>
      </p:sp>
      <p:sp>
        <p:nvSpPr>
          <p:cNvPr id="6" name="Rounded Rectangle 5"/>
          <p:cNvSpPr/>
          <p:nvPr/>
        </p:nvSpPr>
        <p:spPr>
          <a:xfrm>
            <a:off x="502920" y="5193792"/>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5266944"/>
            <a:ext cx="10780776" cy="630936"/>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«Обе записи лежат в одном файле. В плоском append-only логе найти обе можно только линейным чтением всех двухсот.»</a:t>
            </a:r>
          </a:p>
        </p:txBody>
      </p:sp>
      <p:sp>
        <p:nvSpPr>
          <p:cNvPr id="8" name="TextBox 7"/>
          <p:cNvSpPr txBox="1"/>
          <p:nvPr/>
        </p:nvSpPr>
        <p:spPr>
          <a:xfrm>
            <a:off x="502920" y="6044183"/>
            <a:ext cx="11183112" cy="274320"/>
          </a:xfrm>
          <a:prstGeom prst="rect">
            <a:avLst/>
          </a:prstGeom>
          <a:noFill/>
        </p:spPr>
        <p:txBody>
          <a:bodyPr wrap="square" lIns="0" rIns="0" tIns="0" bIns="0" anchor="t">
            <a:spAutoFit/>
          </a:bodyPr>
          <a:lstStyle/>
          <a:p>
            <a:pPr algn="ctr">
              <a:lnSpc>
                <a:spcPct val="115000"/>
              </a:lnSpc>
            </a:pPr>
            <a:r>
              <a:rPr sz="1050" b="0" i="1">
                <a:solidFill>
                  <a:srgbClr val="6B7685"/>
                </a:solidFill>
                <a:latin typeface="Arial"/>
              </a:rPr>
              <a:t>Пример иллюстративный — реального DECISIONS.md на 200 записей не захвачено.</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2.2 · ВОПРОС</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Разросшийся журнал решений и потерянная связь между двумя записями — повод выбрать, как его реорганизовать, а не заводить заново</a:t>
            </a:r>
          </a:p>
        </p:txBody>
      </p:sp>
      <p:sp>
        <p:nvSpPr>
          <p:cNvPr id="4" name="Rounded Rectangle 3"/>
          <p:cNvSpPr/>
          <p:nvPr/>
        </p:nvSpPr>
        <p:spPr>
          <a:xfrm>
            <a:off x="502920" y="1993392"/>
            <a:ext cx="11183112" cy="11887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066544"/>
            <a:ext cx="10780776" cy="104241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«DECISIONS.md разросся, и в нём уже есть решение, которое отменяет часть более раннего решения, — без единой ссылки между ними. Выберите, как реорганизовать этот файл — из карточек ниже — так, чтобы агент быстро находил нужное решение и видел связи между решениями, а не листал линейный лог с начала. Обоснуйте выбор.»</a:t>
            </a:r>
          </a:p>
        </p:txBody>
      </p:sp>
      <p:sp>
        <p:nvSpPr>
          <p:cNvPr id="6" name="Rounded Rectangle 5"/>
          <p:cNvSpPr/>
          <p:nvPr/>
        </p:nvSpPr>
        <p:spPr>
          <a:xfrm>
            <a:off x="502920" y="33832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33832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оставить как есть —</a:t>
            </a:r>
          </a:p>
          <a:p>
            <a:pPr algn="ctr">
              <a:lnSpc>
                <a:spcPct val="115000"/>
              </a:lnSpc>
              <a:spcAft>
                <a:spcPts val="0"/>
              </a:spcAft>
            </a:pPr>
            <a:r>
              <a:rPr sz="1250" b="1" i="0">
                <a:solidFill>
                  <a:srgbClr val="21295C"/>
                </a:solidFill>
                <a:latin typeface="Arial"/>
              </a:rPr>
              <a:t>просто грепать</a:t>
            </a:r>
          </a:p>
        </p:txBody>
      </p:sp>
      <p:sp>
        <p:nvSpPr>
          <p:cNvPr id="8" name="Rounded Rectangle 7"/>
          <p:cNvSpPr/>
          <p:nvPr/>
        </p:nvSpPr>
        <p:spPr>
          <a:xfrm>
            <a:off x="2768803" y="33832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1955" y="33832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разбить на отдельные</a:t>
            </a:r>
          </a:p>
          <a:p>
            <a:pPr algn="ctr">
              <a:lnSpc>
                <a:spcPct val="115000"/>
              </a:lnSpc>
              <a:spcAft>
                <a:spcPts val="0"/>
              </a:spcAft>
            </a:pPr>
            <a:r>
              <a:rPr sz="1250" b="1" i="0">
                <a:solidFill>
                  <a:srgbClr val="21295C"/>
                </a:solidFill>
                <a:latin typeface="Arial"/>
              </a:rPr>
              <a:t>файлы со ссылками</a:t>
            </a:r>
          </a:p>
        </p:txBody>
      </p:sp>
      <p:sp>
        <p:nvSpPr>
          <p:cNvPr id="10" name="Rounded Rectangle 9"/>
          <p:cNvSpPr/>
          <p:nvPr/>
        </p:nvSpPr>
        <p:spPr>
          <a:xfrm>
            <a:off x="5034686" y="33832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7838" y="33832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поставить графовую/</a:t>
            </a:r>
          </a:p>
          <a:p>
            <a:pPr algn="ctr">
              <a:lnSpc>
                <a:spcPct val="115000"/>
              </a:lnSpc>
              <a:spcAft>
                <a:spcPts val="0"/>
              </a:spcAft>
            </a:pPr>
            <a:r>
              <a:rPr sz="1250" b="1" i="0">
                <a:solidFill>
                  <a:srgbClr val="21295C"/>
                </a:solidFill>
                <a:latin typeface="Arial"/>
              </a:rPr>
              <a:t>векторную систему памяти</a:t>
            </a:r>
          </a:p>
        </p:txBody>
      </p:sp>
      <p:sp>
        <p:nvSpPr>
          <p:cNvPr id="12" name="Rounded Rectangle 11"/>
          <p:cNvSpPr/>
          <p:nvPr/>
        </p:nvSpPr>
        <p:spPr>
          <a:xfrm>
            <a:off x="7300569" y="33832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3721" y="33832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завести один общий</a:t>
            </a:r>
          </a:p>
          <a:p>
            <a:pPr algn="ctr">
              <a:lnSpc>
                <a:spcPct val="115000"/>
              </a:lnSpc>
              <a:spcAft>
                <a:spcPts val="0"/>
              </a:spcAft>
            </a:pPr>
            <a:r>
              <a:rPr sz="1250" b="1" i="0">
                <a:solidFill>
                  <a:srgbClr val="21295C"/>
                </a:solidFill>
                <a:latin typeface="Arial"/>
              </a:rPr>
              <a:t>SUMMARY.md, переписываемый целиком</a:t>
            </a:r>
          </a:p>
        </p:txBody>
      </p:sp>
      <p:sp>
        <p:nvSpPr>
          <p:cNvPr id="14" name="Rounded Rectangle 13"/>
          <p:cNvSpPr/>
          <p:nvPr/>
        </p:nvSpPr>
        <p:spPr>
          <a:xfrm>
            <a:off x="9566452" y="338328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39604" y="338328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агент сам найдёт</a:t>
            </a:r>
          </a:p>
          <a:p>
            <a:pPr algn="ctr">
              <a:lnSpc>
                <a:spcPct val="115000"/>
              </a:lnSpc>
              <a:spcAft>
                <a:spcPts val="0"/>
              </a:spcAft>
            </a:pPr>
            <a:r>
              <a:rPr sz="1250" b="1" i="0">
                <a:solidFill>
                  <a:srgbClr val="21295C"/>
                </a:solidFill>
                <a:latin typeface="Arial"/>
              </a:rPr>
              <a:t>через поиск по репозиторию</a:t>
            </a:r>
          </a:p>
        </p:txBody>
      </p:sp>
      <p:sp>
        <p:nvSpPr>
          <p:cNvPr id="16" name="TextBox 15"/>
          <p:cNvSpPr txBox="1"/>
          <p:nvPr/>
        </p:nvSpPr>
        <p:spPr>
          <a:xfrm>
            <a:off x="502920" y="5129784"/>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разбор — на следующем слайде</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2.2 · ИССЛЕДОВАНИЕ</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Плоская память деградирует со временем, а структура может окупаться именно для агента там, где не окупается для человека — но «умнее» не значит «лучше»</a:t>
            </a:r>
          </a:p>
        </p:txBody>
      </p:sp>
      <p:sp>
        <p:nvSpPr>
          <p:cNvPr id="4" name="TextBox 3"/>
          <p:cNvSpPr txBox="1"/>
          <p:nvPr/>
        </p:nvSpPr>
        <p:spPr>
          <a:xfrm>
            <a:off x="502920" y="1993392"/>
            <a:ext cx="11183112" cy="457200"/>
          </a:xfrm>
          <a:prstGeom prst="rect">
            <a:avLst/>
          </a:prstGeom>
          <a:noFill/>
        </p:spPr>
        <p:txBody>
          <a:bodyPr wrap="square" lIns="0" rIns="0" tIns="0" bIns="0" anchor="t">
            <a:spAutoFit/>
          </a:bodyPr>
          <a:lstStyle/>
          <a:p>
            <a:pPr algn="l">
              <a:lnSpc>
                <a:spcPct val="120000"/>
              </a:lnSpc>
            </a:pPr>
            <a:r>
              <a:rPr sz="1080" b="0" i="1">
                <a:solidFill>
                  <a:srgbClr val="6B7685"/>
                </a:solidFill>
                <a:latin typeface="Arial"/>
              </a:rPr>
              <a:t>почти все источники ниже — свежие непроверенные препринты 2026 года; цифры — «заявлено в препринте», а не установленный факт</a:t>
            </a:r>
          </a:p>
        </p:txBody>
      </p:sp>
      <p:sp>
        <p:nvSpPr>
          <p:cNvPr id="5" name="Rounded Rectangle 4"/>
          <p:cNvSpPr/>
          <p:nvPr/>
        </p:nvSpPr>
        <p:spPr>
          <a:xfrm>
            <a:off x="502920" y="2523744"/>
            <a:ext cx="11183112"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633472"/>
            <a:ext cx="10744200" cy="1197864"/>
          </a:xfrm>
          <a:prstGeom prst="rect">
            <a:avLst/>
          </a:prstGeom>
          <a:noFill/>
        </p:spPr>
        <p:txBody>
          <a:bodyPr wrap="square" lIns="0" rIns="0" tIns="0" bIns="0" anchor="t">
            <a:spAutoFit/>
          </a:bodyPr>
          <a:lstStyle/>
          <a:p>
            <a:pPr algn="l">
              <a:lnSpc>
                <a:spcPct val="124000"/>
              </a:lnSpc>
            </a:pPr>
            <a:r>
              <a:rPr sz="1130" b="0" i="0">
                <a:solidFill>
                  <a:srgbClr val="21295C"/>
                </a:solidFill>
                <a:latin typeface="Arial"/>
              </a:rPr>
              <a:t>MEMTIER (arXiv:2605.03675): плоская память деградирует на горизонте порядка 72 часов работы — минус 14 п.п. успешности вызовов инструментов (насыщение контекста, temporal decay, semantic drift). Логика «raw sources → wiki → schema»: у человека вики умирает — поддержка дороже ценности; у агента стоимость правки полутора десятков файлов близка к нулю.</a:t>
            </a:r>
          </a:p>
        </p:txBody>
      </p:sp>
      <p:sp>
        <p:nvSpPr>
          <p:cNvPr id="7" name="Rounded Rectangle 6"/>
          <p:cNvSpPr/>
          <p:nvPr/>
        </p:nvSpPr>
        <p:spPr>
          <a:xfrm>
            <a:off x="502920" y="4105656"/>
            <a:ext cx="11183112" cy="11887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288536"/>
            <a:ext cx="7715341"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Система</a:t>
            </a:r>
          </a:p>
        </p:txBody>
      </p:sp>
      <p:sp>
        <p:nvSpPr>
          <p:cNvPr id="9" name="TextBox 8"/>
          <p:cNvSpPr txBox="1"/>
          <p:nvPr/>
        </p:nvSpPr>
        <p:spPr>
          <a:xfrm>
            <a:off x="8474293" y="4288536"/>
            <a:ext cx="2955706"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LoCoMo (долговременная память)</a:t>
            </a:r>
          </a:p>
        </p:txBody>
      </p:sp>
      <p:sp>
        <p:nvSpPr>
          <p:cNvPr id="10" name="Rectangle 9"/>
          <p:cNvSpPr/>
          <p:nvPr/>
        </p:nvSpPr>
        <p:spPr>
          <a:xfrm>
            <a:off x="557784" y="4672584"/>
            <a:ext cx="11073384" cy="219456"/>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72584"/>
            <a:ext cx="7697053" cy="219456"/>
          </a:xfrm>
          <a:prstGeom prst="rect">
            <a:avLst/>
          </a:prstGeom>
          <a:noFill/>
        </p:spPr>
        <p:txBody>
          <a:bodyPr wrap="square" lIns="0" rIns="0" tIns="0" bIns="0" anchor="ctr">
            <a:spAutoFit/>
          </a:bodyPr>
          <a:lstStyle/>
          <a:p>
            <a:pPr algn="l">
              <a:lnSpc>
                <a:spcPct val="115000"/>
              </a:lnSpc>
            </a:pPr>
            <a:r>
              <a:rPr sz="1300" b="0" i="0">
                <a:solidFill>
                  <a:srgbClr val="21295C"/>
                </a:solidFill>
                <a:latin typeface="Arial"/>
              </a:rPr>
              <a:t>Файловое хранилище (авто-индекс + поиск по смыслу, не только grep)</a:t>
            </a:r>
          </a:p>
        </p:txBody>
      </p:sp>
      <p:sp>
        <p:nvSpPr>
          <p:cNvPr id="12" name="TextBox 11"/>
          <p:cNvSpPr txBox="1"/>
          <p:nvPr/>
        </p:nvSpPr>
        <p:spPr>
          <a:xfrm>
            <a:off x="8474293" y="4672584"/>
            <a:ext cx="2937418" cy="219456"/>
          </a:xfrm>
          <a:prstGeom prst="rect">
            <a:avLst/>
          </a:prstGeom>
          <a:noFill/>
        </p:spPr>
        <p:txBody>
          <a:bodyPr wrap="square" lIns="0" rIns="0" tIns="0" bIns="0" anchor="ctr">
            <a:spAutoFit/>
          </a:bodyPr>
          <a:lstStyle/>
          <a:p>
            <a:pPr algn="l">
              <a:lnSpc>
                <a:spcPct val="115000"/>
              </a:lnSpc>
            </a:pPr>
            <a:r>
              <a:rPr sz="1300" b="0" i="0">
                <a:solidFill>
                  <a:srgbClr val="21295C"/>
                </a:solidFill>
                <a:latin typeface="Arial"/>
              </a:rPr>
              <a:t>74,0%</a:t>
            </a:r>
          </a:p>
        </p:txBody>
      </p:sp>
      <p:cxnSp>
        <p:nvCxnSpPr>
          <p:cNvPr id="13" name="Connector 12"/>
          <p:cNvCxnSpPr/>
          <p:nvPr/>
        </p:nvCxnSpPr>
        <p:spPr>
          <a:xfrm>
            <a:off x="685800" y="489204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4892040"/>
            <a:ext cx="7697053" cy="219456"/>
          </a:xfrm>
          <a:prstGeom prst="rect">
            <a:avLst/>
          </a:prstGeom>
          <a:noFill/>
        </p:spPr>
        <p:txBody>
          <a:bodyPr wrap="square" lIns="0" rIns="0" tIns="0" bIns="0" anchor="ctr">
            <a:spAutoFit/>
          </a:bodyPr>
          <a:lstStyle/>
          <a:p>
            <a:pPr algn="l">
              <a:lnSpc>
                <a:spcPct val="115000"/>
              </a:lnSpc>
            </a:pPr>
            <a:r>
              <a:rPr sz="1300" b="0" i="0">
                <a:solidFill>
                  <a:srgbClr val="21295C"/>
                </a:solidFill>
                <a:latin typeface="Arial"/>
              </a:rPr>
              <a:t>Mem0 (graph-based)</a:t>
            </a:r>
          </a:p>
        </p:txBody>
      </p:sp>
      <p:sp>
        <p:nvSpPr>
          <p:cNvPr id="15" name="TextBox 14"/>
          <p:cNvSpPr txBox="1"/>
          <p:nvPr/>
        </p:nvSpPr>
        <p:spPr>
          <a:xfrm>
            <a:off x="8474293" y="4892040"/>
            <a:ext cx="2937418" cy="219456"/>
          </a:xfrm>
          <a:prstGeom prst="rect">
            <a:avLst/>
          </a:prstGeom>
          <a:noFill/>
        </p:spPr>
        <p:txBody>
          <a:bodyPr wrap="square" lIns="0" rIns="0" tIns="0" bIns="0" anchor="ctr">
            <a:spAutoFit/>
          </a:bodyPr>
          <a:lstStyle/>
          <a:p>
            <a:pPr algn="l">
              <a:lnSpc>
                <a:spcPct val="115000"/>
              </a:lnSpc>
            </a:pPr>
            <a:r>
              <a:rPr sz="1300" b="0" i="0">
                <a:solidFill>
                  <a:srgbClr val="21295C"/>
                </a:solidFill>
                <a:latin typeface="Arial"/>
              </a:rPr>
              <a:t>68,5%</a:t>
            </a:r>
          </a:p>
        </p:txBody>
      </p:sp>
      <p:sp>
        <p:nvSpPr>
          <p:cNvPr id="16" name="TextBox 15"/>
          <p:cNvSpPr txBox="1"/>
          <p:nvPr/>
        </p:nvSpPr>
        <p:spPr>
          <a:xfrm>
            <a:off x="502920" y="5422392"/>
            <a:ext cx="11183112" cy="978408"/>
          </a:xfrm>
          <a:prstGeom prst="rect">
            <a:avLst/>
          </a:prstGeom>
          <a:noFill/>
        </p:spPr>
        <p:txBody>
          <a:bodyPr wrap="square" lIns="0" rIns="0" tIns="0" bIns="0" anchor="t">
            <a:spAutoFit/>
          </a:bodyPr>
          <a:lstStyle/>
          <a:p>
            <a:pPr algn="l">
              <a:lnSpc>
                <a:spcPct val="125000"/>
              </a:lnSpc>
            </a:pPr>
            <a:r>
              <a:rPr sz="1150" b="0" i="1">
                <a:solidFill>
                  <a:srgbClr val="6B7685"/>
                </a:solidFill>
                <a:latin typeface="Arial"/>
              </a:rPr>
              <a:t>Летта-контрпример: простое хранилище обошло графовую систему памяти — модели тренированы на файловых операциях как на самом привычном инструменте.</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2.2 · РАЗБОР</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Разбить на отдельные файлы (по одному на решение) со сквозными ссылками — целевой ответ, но не бесплатный: структура сама создаёт новую нагрузку</a:t>
            </a:r>
          </a:p>
        </p:txBody>
      </p:sp>
      <p:sp>
        <p:nvSpPr>
          <p:cNvPr id="4" name="TextBox 3"/>
          <p:cNvSpPr txBox="1"/>
          <p:nvPr/>
        </p:nvSpPr>
        <p:spPr>
          <a:xfrm>
            <a:off x="502920" y="1993392"/>
            <a:ext cx="11183112" cy="274320"/>
          </a:xfrm>
          <a:prstGeom prst="rect">
            <a:avLst/>
          </a:prstGeom>
          <a:noFill/>
        </p:spPr>
        <p:txBody>
          <a:bodyPr wrap="square" lIns="0" rIns="0" tIns="0" bIns="0" anchor="t">
            <a:spAutoFit/>
          </a:bodyPr>
          <a:lstStyle/>
          <a:p>
            <a:pPr algn="l">
              <a:lnSpc>
                <a:spcPct val="115000"/>
              </a:lnSpc>
            </a:pPr>
            <a:r>
              <a:rPr sz="1130" b="0" i="1">
                <a:solidFill>
                  <a:srgbClr val="6B7685"/>
                </a:solidFill>
                <a:latin typeface="Arial"/>
              </a:rPr>
              <a:t>вопрос для контекста: «Как реорганизовать разросшийся журнал решений?»</a:t>
            </a:r>
          </a:p>
        </p:txBody>
      </p:sp>
      <p:sp>
        <p:nvSpPr>
          <p:cNvPr id="5" name="Rounded Rectangle 4"/>
          <p:cNvSpPr/>
          <p:nvPr/>
        </p:nvSpPr>
        <p:spPr>
          <a:xfrm>
            <a:off x="502920" y="2359152"/>
            <a:ext cx="11183112" cy="3337560"/>
          </a:xfrm>
          <a:prstGeom prst="roundRect">
            <a:avLst>
              <a:gd name="adj" fmla="val 91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542032"/>
            <a:ext cx="2739359"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Вариант</a:t>
            </a:r>
          </a:p>
        </p:txBody>
      </p:sp>
      <p:sp>
        <p:nvSpPr>
          <p:cNvPr id="7" name="TextBox 6"/>
          <p:cNvSpPr txBox="1"/>
          <p:nvPr/>
        </p:nvSpPr>
        <p:spPr>
          <a:xfrm>
            <a:off x="3498311" y="2542032"/>
            <a:ext cx="2955706"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Где это работает</a:t>
            </a:r>
          </a:p>
        </p:txBody>
      </p:sp>
      <p:sp>
        <p:nvSpPr>
          <p:cNvPr id="8" name="TextBox 7"/>
          <p:cNvSpPr txBox="1"/>
          <p:nvPr/>
        </p:nvSpPr>
        <p:spPr>
          <a:xfrm>
            <a:off x="6527170" y="2542032"/>
            <a:ext cx="4902829"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Почему здесь ещё рано — и что вместо</a:t>
            </a:r>
          </a:p>
        </p:txBody>
      </p:sp>
      <p:sp>
        <p:nvSpPr>
          <p:cNvPr id="9" name="TextBox 8"/>
          <p:cNvSpPr txBox="1"/>
          <p:nvPr/>
        </p:nvSpPr>
        <p:spPr>
          <a:xfrm>
            <a:off x="685800" y="292608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«Оставить как есть, просто грепать»</a:t>
            </a:r>
          </a:p>
        </p:txBody>
      </p:sp>
      <p:sp>
        <p:nvSpPr>
          <p:cNvPr id="10" name="TextBox 9"/>
          <p:cNvSpPr txBox="1"/>
          <p:nvPr/>
        </p:nvSpPr>
        <p:spPr>
          <a:xfrm>
            <a:off x="3498311" y="2926080"/>
            <a:ext cx="2937418"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Пока записей десятки и они укладываются в контекст целиком</a:t>
            </a:r>
          </a:p>
        </p:txBody>
      </p:sp>
      <p:sp>
        <p:nvSpPr>
          <p:cNvPr id="11" name="TextBox 10"/>
          <p:cNvSpPr txBox="1"/>
          <p:nvPr/>
        </p:nvSpPr>
        <p:spPr>
          <a:xfrm>
            <a:off x="6527170" y="2926080"/>
            <a:ext cx="488454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Деградация плоской памяти со временем задокументирована (~72 ч, −14 п.п.); наш файл уже перерос эту границу</a:t>
            </a:r>
          </a:p>
        </p:txBody>
      </p:sp>
      <p:cxnSp>
        <p:nvCxnSpPr>
          <p:cNvPr id="12" name="Connector 11"/>
          <p:cNvCxnSpPr/>
          <p:nvPr/>
        </p:nvCxnSpPr>
        <p:spPr>
          <a:xfrm>
            <a:off x="685800" y="344363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57784" y="3443630"/>
            <a:ext cx="11073384" cy="51755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4363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«Разбить на отдельные файлы (по одному на решение) со сквозными ссылками»</a:t>
            </a:r>
          </a:p>
        </p:txBody>
      </p:sp>
      <p:sp>
        <p:nvSpPr>
          <p:cNvPr id="15" name="TextBox 14"/>
          <p:cNvSpPr txBox="1"/>
          <p:nvPr/>
        </p:nvSpPr>
        <p:spPr>
          <a:xfrm>
            <a:off x="3498311" y="3443630"/>
            <a:ext cx="2937418"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Именно этот случай</a:t>
            </a:r>
          </a:p>
        </p:txBody>
      </p:sp>
      <p:sp>
        <p:nvSpPr>
          <p:cNvPr id="16" name="TextBox 15"/>
          <p:cNvSpPr txBox="1"/>
          <p:nvPr/>
        </p:nvSpPr>
        <p:spPr>
          <a:xfrm>
            <a:off x="6527170" y="3443630"/>
            <a:ext cx="488454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Целевой ответ, но не бесплатный — структура сама создаёт новую нагрузку (staleness, дублирование, поддержка)</a:t>
            </a:r>
          </a:p>
        </p:txBody>
      </p:sp>
      <p:cxnSp>
        <p:nvCxnSpPr>
          <p:cNvPr id="17" name="Connector 16"/>
          <p:cNvCxnSpPr/>
          <p:nvPr/>
        </p:nvCxnSpPr>
        <p:spPr>
          <a:xfrm>
            <a:off x="685800" y="396118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96118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«Поставлю графовую/векторную систему памяти»</a:t>
            </a:r>
          </a:p>
        </p:txBody>
      </p:sp>
      <p:sp>
        <p:nvSpPr>
          <p:cNvPr id="19" name="TextBox 18"/>
          <p:cNvSpPr txBox="1"/>
          <p:nvPr/>
        </p:nvSpPr>
        <p:spPr>
          <a:xfrm>
            <a:off x="3498311" y="3961180"/>
            <a:ext cx="2937418"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На больших многопользовательских корпусах с семантическим поиском</a:t>
            </a:r>
          </a:p>
        </p:txBody>
      </p:sp>
      <p:sp>
        <p:nvSpPr>
          <p:cNvPr id="20" name="TextBox 19"/>
          <p:cNvSpPr txBox="1"/>
          <p:nvPr/>
        </p:nvSpPr>
        <p:spPr>
          <a:xfrm>
            <a:off x="6527170" y="3961180"/>
            <a:ext cx="488454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Контрпример прямо про наш масштаб: файловое хранилище обошло graph-based систему на LoCoMo</a:t>
            </a:r>
          </a:p>
        </p:txBody>
      </p:sp>
      <p:cxnSp>
        <p:nvCxnSpPr>
          <p:cNvPr id="21" name="Connector 20"/>
          <p:cNvCxnSpPr/>
          <p:nvPr/>
        </p:nvCxnSpPr>
        <p:spPr>
          <a:xfrm>
            <a:off x="685800" y="447873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4478731"/>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«Один общий SUMMARY.md, переписываемый целиком»</a:t>
            </a:r>
          </a:p>
        </p:txBody>
      </p:sp>
      <p:sp>
        <p:nvSpPr>
          <p:cNvPr id="23" name="TextBox 22"/>
          <p:cNvSpPr txBox="1"/>
          <p:nvPr/>
        </p:nvSpPr>
        <p:spPr>
          <a:xfrm>
            <a:off x="3498311" y="4478731"/>
            <a:ext cx="2937418"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Для совсем маленького проекта</a:t>
            </a:r>
          </a:p>
        </p:txBody>
      </p:sp>
      <p:sp>
        <p:nvSpPr>
          <p:cNvPr id="24" name="TextBox 23"/>
          <p:cNvSpPr txBox="1"/>
          <p:nvPr/>
        </p:nvSpPr>
        <p:spPr>
          <a:xfrm>
            <a:off x="6527170" y="4478731"/>
            <a:ext cx="488454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Переписывание целиком убивает append-only гарантию</a:t>
            </a:r>
          </a:p>
        </p:txBody>
      </p:sp>
      <p:cxnSp>
        <p:nvCxnSpPr>
          <p:cNvPr id="25" name="Connector 24"/>
          <p:cNvCxnSpPr/>
          <p:nvPr/>
        </p:nvCxnSpPr>
        <p:spPr>
          <a:xfrm>
            <a:off x="685800" y="499628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5800" y="4996281"/>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«Агент сам найдёт через поиск по репозиторию»</a:t>
            </a:r>
          </a:p>
        </p:txBody>
      </p:sp>
      <p:sp>
        <p:nvSpPr>
          <p:cNvPr id="27" name="TextBox 26"/>
          <p:cNvSpPr txBox="1"/>
          <p:nvPr/>
        </p:nvSpPr>
        <p:spPr>
          <a:xfrm>
            <a:off x="3498311" y="4996281"/>
            <a:ext cx="2937418"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Для фактов, выводимых из кода</a:t>
            </a:r>
          </a:p>
        </p:txBody>
      </p:sp>
      <p:sp>
        <p:nvSpPr>
          <p:cNvPr id="28" name="TextBox 27"/>
          <p:cNvSpPr txBox="1"/>
          <p:nvPr/>
        </p:nvSpPr>
        <p:spPr>
          <a:xfrm>
            <a:off x="6527170" y="4996281"/>
            <a:ext cx="488454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Решения — не факты кода. «Сам найдёт» — то же заблуждение, что «сам запомнит»</a:t>
            </a:r>
          </a:p>
        </p:txBody>
      </p:sp>
      <p:sp>
        <p:nvSpPr>
          <p:cNvPr id="29" name="Rounded Rectangle 28"/>
          <p:cNvSpPr/>
          <p:nvPr/>
        </p:nvSpPr>
        <p:spPr>
          <a:xfrm>
            <a:off x="502920" y="5843016"/>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5916168"/>
            <a:ext cx="10780776" cy="630936"/>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целевой ответ — разбить на отдельные файлы (по одному на решение) со сквозными ссылками, со списком реальных издержек, а не как безусловный апгрейд</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2.2 · РЕШЕНИЕ</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Практика ADR: одно решение — один нумерованный файл, а связь между решениями — строка в разделе Status, которую инструмент проставляет сразу в обе стороны</a:t>
            </a:r>
          </a:p>
        </p:txBody>
      </p:sp>
      <p:sp>
        <p:nvSpPr>
          <p:cNvPr id="4" name="Rounded Rectangle 3"/>
          <p:cNvSpPr/>
          <p:nvPr/>
        </p:nvSpPr>
        <p:spPr>
          <a:xfrm>
            <a:off x="502920" y="1993392"/>
            <a:ext cx="4297680" cy="320040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194560"/>
            <a:ext cx="3895344" cy="2798063"/>
          </a:xfrm>
          <a:prstGeom prst="rect">
            <a:avLst/>
          </a:prstGeom>
          <a:noFill/>
        </p:spPr>
        <p:txBody>
          <a:bodyPr wrap="square" lIns="0" rIns="0" tIns="0" bIns="0" anchor="t">
            <a:spAutoFit/>
          </a:bodyPr>
          <a:lstStyle/>
          <a:p>
            <a:pPr algn="l">
              <a:lnSpc>
                <a:spcPct val="132000"/>
              </a:lnSpc>
              <a:spcAft>
                <a:spcPts val="200"/>
              </a:spcAft>
            </a:pPr>
            <a:r>
              <a:rPr sz="1080" b="1" i="0">
                <a:solidFill>
                  <a:srgbClr val="028090"/>
                </a:solidFill>
                <a:latin typeface="Consolas"/>
              </a:rPr>
              <a:t>doc/adr/</a:t>
            </a:r>
          </a:p>
          <a:p>
            <a:pPr algn="l">
              <a:lnSpc>
                <a:spcPct val="132000"/>
              </a:lnSpc>
              <a:spcAft>
                <a:spcPts val="200"/>
              </a:spcAft>
            </a:pPr>
            <a:r>
              <a:rPr sz="1080" b="0" i="0">
                <a:solidFill>
                  <a:srgbClr val="E3E9F2"/>
                </a:solidFill>
                <a:latin typeface="Consolas"/>
              </a:rPr>
              <a:t>  0001-record-architecture-...md</a:t>
            </a:r>
          </a:p>
          <a:p>
            <a:pPr algn="l">
              <a:lnSpc>
                <a:spcPct val="132000"/>
              </a:lnSpc>
              <a:spcAft>
                <a:spcPts val="200"/>
              </a:spcAft>
            </a:pPr>
            <a:r>
              <a:rPr sz="1080" b="0" i="0">
                <a:solidFill>
                  <a:srgbClr val="8B9BB4"/>
                </a:solidFill>
                <a:latin typeface="Consolas"/>
              </a:rPr>
              <a:t>  ...</a:t>
            </a:r>
          </a:p>
          <a:p>
            <a:pPr algn="l">
              <a:lnSpc>
                <a:spcPct val="132000"/>
              </a:lnSpc>
              <a:spcAft>
                <a:spcPts val="200"/>
              </a:spcAft>
            </a:pPr>
            <a:r>
              <a:rPr sz="1080" b="0" i="0">
                <a:solidFill>
                  <a:srgbClr val="E3E9F2"/>
                </a:solidFill>
                <a:latin typeface="Consolas"/>
              </a:rPr>
              <a:t>  0031-storonnie-vidzhety-...md</a:t>
            </a:r>
          </a:p>
          <a:p>
            <a:pPr algn="l">
              <a:lnSpc>
                <a:spcPct val="132000"/>
              </a:lnSpc>
              <a:spcAft>
                <a:spcPts val="200"/>
              </a:spcAft>
            </a:pPr>
            <a:r>
              <a:rPr sz="1080" b="0" i="0">
                <a:solidFill>
                  <a:srgbClr val="8B9BB4"/>
                </a:solidFill>
                <a:latin typeface="Consolas"/>
              </a:rPr>
              <a:t>  ...</a:t>
            </a:r>
          </a:p>
          <a:p>
            <a:pPr algn="l">
              <a:lnSpc>
                <a:spcPct val="132000"/>
              </a:lnSpc>
              <a:spcAft>
                <a:spcPts val="200"/>
              </a:spcAft>
            </a:pPr>
            <a:r>
              <a:rPr sz="1080" b="1" i="0">
                <a:solidFill>
                  <a:srgbClr val="F0AB00"/>
                </a:solidFill>
                <a:latin typeface="Consolas"/>
              </a:rPr>
              <a:t>  0187-antispam-honeypot-...md</a:t>
            </a:r>
          </a:p>
          <a:p>
            <a:pPr algn="l">
              <a:lnSpc>
                <a:spcPct val="132000"/>
              </a:lnSpc>
              <a:spcAft>
                <a:spcPts val="200"/>
              </a:spcAft>
            </a:pPr>
            <a:r>
              <a:rPr sz="1080" b="0" i="0">
                <a:solidFill>
                  <a:srgbClr val="E3E9F2"/>
                </a:solidFill>
                <a:latin typeface="Consolas"/>
              </a:rPr>
              <a:t>  README.md   ← adr generate toc</a:t>
            </a:r>
          </a:p>
        </p:txBody>
      </p:sp>
      <p:sp>
        <p:nvSpPr>
          <p:cNvPr id="6" name="Rounded Rectangle 5"/>
          <p:cNvSpPr/>
          <p:nvPr/>
        </p:nvSpPr>
        <p:spPr>
          <a:xfrm>
            <a:off x="5056632" y="1993392"/>
            <a:ext cx="6629400" cy="320040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2194560"/>
            <a:ext cx="6227064"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ноябрьская запись — по шаблону adr-tools</a:t>
            </a:r>
          </a:p>
        </p:txBody>
      </p:sp>
      <p:sp>
        <p:nvSpPr>
          <p:cNvPr id="8" name="TextBox 7"/>
          <p:cNvSpPr txBox="1"/>
          <p:nvPr/>
        </p:nvSpPr>
        <p:spPr>
          <a:xfrm>
            <a:off x="5257800" y="2505456"/>
            <a:ext cx="6227064" cy="2487168"/>
          </a:xfrm>
          <a:prstGeom prst="rect">
            <a:avLst/>
          </a:prstGeom>
          <a:noFill/>
        </p:spPr>
        <p:txBody>
          <a:bodyPr wrap="square" lIns="0" rIns="0" tIns="0" bIns="0" anchor="t">
            <a:spAutoFit/>
          </a:bodyPr>
          <a:lstStyle/>
          <a:p>
            <a:pPr algn="l">
              <a:lnSpc>
                <a:spcPct val="132000"/>
              </a:lnSpc>
              <a:spcAft>
                <a:spcPts val="200"/>
              </a:spcAft>
            </a:pPr>
            <a:r>
              <a:rPr sz="980" b="1" i="0">
                <a:solidFill>
                  <a:srgbClr val="028090"/>
                </a:solidFill>
                <a:latin typeface="Consolas"/>
              </a:rPr>
              <a:t># 187. Антиспам — honeypot-поле, без капчи</a:t>
            </a:r>
          </a:p>
          <a:p>
            <a:pPr algn="l">
              <a:lnSpc>
                <a:spcPct val="132000"/>
              </a:lnSpc>
              <a:spcAft>
                <a:spcPts val="200"/>
              </a:spcAft>
            </a:pPr>
            <a:r>
              <a:rPr sz="980" b="0" i="0">
                <a:solidFill>
                  <a:srgbClr val="8B9BB4"/>
                </a:solidFill>
                <a:latin typeface="Consolas"/>
              </a:rPr>
              <a:t>Date: 2026-11-28</a:t>
            </a:r>
          </a:p>
          <a:p>
            <a:pPr algn="l">
              <a:lnSpc>
                <a:spcPct val="132000"/>
              </a:lnSpc>
              <a:spcAft>
                <a:spcPts val="200"/>
              </a:spcAft>
            </a:pPr>
            <a:r>
              <a:rPr sz="980" b="0" i="0">
                <a:solidFill>
                  <a:srgbClr val="E3E9F2"/>
                </a:solidFill>
                <a:latin typeface="Consolas"/>
              </a:rPr>
              <a:t/>
            </a:r>
          </a:p>
          <a:p>
            <a:pPr algn="l">
              <a:lnSpc>
                <a:spcPct val="132000"/>
              </a:lnSpc>
              <a:spcAft>
                <a:spcPts val="200"/>
              </a:spcAft>
            </a:pPr>
            <a:r>
              <a:rPr sz="980" b="1" i="0">
                <a:solidFill>
                  <a:srgbClr val="028090"/>
                </a:solidFill>
                <a:latin typeface="Consolas"/>
              </a:rPr>
              <a:t>## Status</a:t>
            </a:r>
          </a:p>
          <a:p>
            <a:pPr algn="l">
              <a:lnSpc>
                <a:spcPct val="132000"/>
              </a:lnSpc>
              <a:spcAft>
                <a:spcPts val="200"/>
              </a:spcAft>
            </a:pPr>
            <a:r>
              <a:rPr sz="980" b="0" i="0">
                <a:solidFill>
                  <a:srgbClr val="E3E9F2"/>
                </a:solidFill>
                <a:latin typeface="Consolas"/>
              </a:rPr>
              <a:t>Accepted</a:t>
            </a:r>
          </a:p>
          <a:p>
            <a:pPr algn="l">
              <a:lnSpc>
                <a:spcPct val="132000"/>
              </a:lnSpc>
              <a:spcAft>
                <a:spcPts val="200"/>
              </a:spcAft>
            </a:pPr>
            <a:r>
              <a:rPr sz="980" b="1" i="0">
                <a:solidFill>
                  <a:srgbClr val="F0AB00"/>
                </a:solidFill>
                <a:latin typeface="Consolas"/>
              </a:rPr>
              <a:t>Amends [31. Сторонние виджеты не добавляем]</a:t>
            </a:r>
          </a:p>
          <a:p>
            <a:pPr algn="l">
              <a:lnSpc>
                <a:spcPct val="132000"/>
              </a:lnSpc>
              <a:spcAft>
                <a:spcPts val="200"/>
              </a:spcAft>
            </a:pPr>
            <a:r>
              <a:rPr sz="980" b="0" i="0">
                <a:solidFill>
                  <a:srgbClr val="8B9BB4"/>
                </a:solidFill>
                <a:latin typeface="Consolas"/>
              </a:rPr>
              <a:t>## Context / Decision / Consequences</a:t>
            </a:r>
          </a:p>
          <a:p>
            <a:pPr algn="l">
              <a:lnSpc>
                <a:spcPct val="132000"/>
              </a:lnSpc>
              <a:spcAft>
                <a:spcPts val="200"/>
              </a:spcAft>
            </a:pPr>
            <a:r>
              <a:rPr sz="980" b="0" i="0">
                <a:solidFill>
                  <a:srgbClr val="8B9BB4"/>
                </a:solidFill>
                <a:latin typeface="Consolas"/>
              </a:rPr>
              <a:t>...</a:t>
            </a:r>
          </a:p>
        </p:txBody>
      </p:sp>
      <p:sp>
        <p:nvSpPr>
          <p:cNvPr id="9" name="Rounded Rectangle 8"/>
          <p:cNvSpPr/>
          <p:nvPr/>
        </p:nvSpPr>
        <p:spPr>
          <a:xfrm>
            <a:off x="502920" y="5358383"/>
            <a:ext cx="11183112" cy="64008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431536"/>
            <a:ext cx="10780776" cy="493775"/>
          </a:xfrm>
          <a:prstGeom prst="rect">
            <a:avLst/>
          </a:prstGeom>
          <a:noFill/>
        </p:spPr>
        <p:txBody>
          <a:bodyPr wrap="square" lIns="0" rIns="0" tIns="0" bIns="0" anchor="ctr">
            <a:spAutoFit/>
          </a:bodyPr>
          <a:lstStyle/>
          <a:p>
            <a:pPr algn="l">
              <a:lnSpc>
                <a:spcPct val="122000"/>
              </a:lnSpc>
            </a:pPr>
            <a:r>
              <a:rPr sz="1100" b="1" i="0">
                <a:solidFill>
                  <a:srgbClr val="21295C"/>
                </a:solidFill>
                <a:latin typeface="Arial"/>
              </a:rPr>
              <a:t>adr new -l "31:Amends:Amended by" ... — и в файл 31 инструмент сам дописал встречную строку Amended by [187...]. Обе ссылки написал инструмент, а не автор записи.</a:t>
            </a:r>
          </a:p>
        </p:txBody>
      </p:sp>
      <p:sp>
        <p:nvSpPr>
          <p:cNvPr id="11" name="TextBox 10"/>
          <p:cNvSpPr txBox="1"/>
          <p:nvPr/>
        </p:nvSpPr>
        <p:spPr>
          <a:xfrm>
            <a:off x="502920" y="6126479"/>
            <a:ext cx="11183112" cy="274320"/>
          </a:xfrm>
          <a:prstGeom prst="rect">
            <a:avLst/>
          </a:prstGeom>
          <a:noFill/>
        </p:spPr>
        <p:txBody>
          <a:bodyPr wrap="square" lIns="0" rIns="0" tIns="0" bIns="0" anchor="t">
            <a:spAutoFit/>
          </a:bodyPr>
          <a:lstStyle/>
          <a:p>
            <a:pPr algn="l">
              <a:lnSpc>
                <a:spcPct val="122000"/>
              </a:lnSpc>
            </a:pPr>
            <a:r>
              <a:rPr sz="1050" b="0" i="1">
                <a:solidFill>
                  <a:srgbClr val="6B7685"/>
                </a:solidFill>
                <a:latin typeface="Arial"/>
              </a:rPr>
              <a:t>Источник практики: ADR — Майкл Найгард, 2011; adr-tools. Сила доказательства: задокументированная практика для людей (4500+ ADR в 750 проектах), но контролируемого измерения «ADR помогают агенту» нет. Содержимое записей иллюстративное, ждёт живой сессии.</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2.2 · КОНТРПРИМЕР: ЧТО ИМЕННО ИЗМЕРИЛИ</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Файловое хранилище обошло графовую память — но измеряли вопросы по длинному диалогу, а не поиск связанного решения в журнале проекта</a:t>
            </a:r>
          </a:p>
        </p:txBody>
      </p:sp>
      <p:sp>
        <p:nvSpPr>
          <p:cNvPr id="4" name="Rounded Rectangle 3"/>
          <p:cNvSpPr/>
          <p:nvPr/>
        </p:nvSpPr>
        <p:spPr>
          <a:xfrm>
            <a:off x="502920" y="1993392"/>
            <a:ext cx="11183112" cy="9601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084832"/>
            <a:ext cx="10835640" cy="777240"/>
          </a:xfrm>
          <a:prstGeom prst="rect">
            <a:avLst/>
          </a:prstGeom>
          <a:noFill/>
        </p:spPr>
        <p:txBody>
          <a:bodyPr wrap="square" lIns="0" rIns="0" tIns="0" bIns="0" anchor="t">
            <a:spAutoFit/>
          </a:bodyPr>
          <a:lstStyle/>
          <a:p>
            <a:pPr algn="l">
              <a:lnSpc>
                <a:spcPct val="120000"/>
              </a:lnSpc>
            </a:pPr>
            <a:r>
              <a:rPr sz="1080" b="0" i="0">
                <a:solidFill>
                  <a:srgbClr val="21295C"/>
                </a:solidFill>
                <a:latin typeface="Arial"/>
              </a:rPr>
              <a:t>LoCoMo — бенчмарк памяти в очень длинных диалогах (Maharana и др., 2024): переписка двух собеседников, до 35 сессий, ~300 реплик, ~9 тыс. токенов. Доля вопросов о фактах переписки с верным ответом.</a:t>
            </a:r>
          </a:p>
        </p:txBody>
      </p:sp>
      <p:sp>
        <p:nvSpPr>
          <p:cNvPr id="6" name="Rounded Rectangle 5"/>
          <p:cNvSpPr/>
          <p:nvPr/>
        </p:nvSpPr>
        <p:spPr>
          <a:xfrm>
            <a:off x="502920" y="3081528"/>
            <a:ext cx="11183112" cy="11887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3264408"/>
            <a:ext cx="7715341" cy="329184"/>
          </a:xfrm>
          <a:prstGeom prst="rect">
            <a:avLst/>
          </a:prstGeom>
          <a:noFill/>
        </p:spPr>
        <p:txBody>
          <a:bodyPr wrap="square" lIns="0" rIns="0" tIns="0" bIns="0" anchor="t">
            <a:spAutoFit/>
          </a:bodyPr>
          <a:lstStyle/>
          <a:p>
            <a:pPr algn="l">
              <a:lnSpc>
                <a:spcPct val="115000"/>
              </a:lnSpc>
            </a:pPr>
            <a:r>
              <a:rPr sz="1100" b="1" i="0">
                <a:solidFill>
                  <a:srgbClr val="6B7685"/>
                </a:solidFill>
                <a:latin typeface="Arial"/>
              </a:rPr>
              <a:t>Система</a:t>
            </a:r>
          </a:p>
        </p:txBody>
      </p:sp>
      <p:sp>
        <p:nvSpPr>
          <p:cNvPr id="8" name="TextBox 7"/>
          <p:cNvSpPr txBox="1"/>
          <p:nvPr/>
        </p:nvSpPr>
        <p:spPr>
          <a:xfrm>
            <a:off x="8474293" y="3264408"/>
            <a:ext cx="2955706" cy="329184"/>
          </a:xfrm>
          <a:prstGeom prst="rect">
            <a:avLst/>
          </a:prstGeom>
          <a:noFill/>
        </p:spPr>
        <p:txBody>
          <a:bodyPr wrap="square" lIns="0" rIns="0" tIns="0" bIns="0" anchor="t">
            <a:spAutoFit/>
          </a:bodyPr>
          <a:lstStyle/>
          <a:p>
            <a:pPr algn="l">
              <a:lnSpc>
                <a:spcPct val="115000"/>
              </a:lnSpc>
            </a:pPr>
            <a:r>
              <a:rPr sz="1100" b="1" i="0">
                <a:solidFill>
                  <a:srgbClr val="6B7685"/>
                </a:solidFill>
                <a:latin typeface="Arial"/>
              </a:rPr>
              <a:t>LoCoMo (долговременная память)</a:t>
            </a:r>
          </a:p>
        </p:txBody>
      </p:sp>
      <p:sp>
        <p:nvSpPr>
          <p:cNvPr id="9" name="Rectangle 8"/>
          <p:cNvSpPr/>
          <p:nvPr/>
        </p:nvSpPr>
        <p:spPr>
          <a:xfrm>
            <a:off x="557784" y="3648456"/>
            <a:ext cx="11073384" cy="219456"/>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648456"/>
            <a:ext cx="7697053" cy="219456"/>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Файловое хранилище Letta (авто-индекс + поиск по смыслу, не только grep)</a:t>
            </a:r>
          </a:p>
        </p:txBody>
      </p:sp>
      <p:sp>
        <p:nvSpPr>
          <p:cNvPr id="11" name="TextBox 10"/>
          <p:cNvSpPr txBox="1"/>
          <p:nvPr/>
        </p:nvSpPr>
        <p:spPr>
          <a:xfrm>
            <a:off x="8474293" y="3648456"/>
            <a:ext cx="2937418" cy="219456"/>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74,0%</a:t>
            </a:r>
          </a:p>
        </p:txBody>
      </p:sp>
      <p:cxnSp>
        <p:nvCxnSpPr>
          <p:cNvPr id="12" name="Connector 11"/>
          <p:cNvCxnSpPr/>
          <p:nvPr/>
        </p:nvCxnSpPr>
        <p:spPr>
          <a:xfrm>
            <a:off x="685800" y="386791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867912"/>
            <a:ext cx="7697053" cy="219456"/>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Mem0, графовый вариант (число из публикации Mem0)</a:t>
            </a:r>
          </a:p>
        </p:txBody>
      </p:sp>
      <p:sp>
        <p:nvSpPr>
          <p:cNvPr id="14" name="TextBox 13"/>
          <p:cNvSpPr txBox="1"/>
          <p:nvPr/>
        </p:nvSpPr>
        <p:spPr>
          <a:xfrm>
            <a:off x="8474293" y="3867912"/>
            <a:ext cx="2937418" cy="219456"/>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68,5%</a:t>
            </a:r>
          </a:p>
        </p:txBody>
      </p:sp>
      <p:sp>
        <p:nvSpPr>
          <p:cNvPr id="15" name="TextBox 14"/>
          <p:cNvSpPr txBox="1"/>
          <p:nvPr/>
        </p:nvSpPr>
        <p:spPr>
          <a:xfrm>
            <a:off x="502920" y="4398264"/>
            <a:ext cx="11183112" cy="365760"/>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объяснение авторов: модели тренированы на файловых операциях как на самом привычном инструменте</a:t>
            </a:r>
          </a:p>
        </p:txBody>
      </p:sp>
      <p:sp>
        <p:nvSpPr>
          <p:cNvPr id="16" name="Rounded Rectangle 15"/>
          <p:cNvSpPr/>
          <p:nvPr/>
        </p:nvSpPr>
        <p:spPr>
          <a:xfrm>
            <a:off x="502920" y="4809744"/>
            <a:ext cx="11183112" cy="1591055"/>
          </a:xfrm>
          <a:prstGeom prst="roundRect">
            <a:avLst>
              <a:gd name="adj" fmla="val 10000"/>
            </a:avLst>
          </a:prstGeom>
          <a:solidFill>
            <a:srgbClr val="EEF2F6"/>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4855464"/>
            <a:ext cx="10853928" cy="219456"/>
          </a:xfrm>
          <a:prstGeom prst="rect">
            <a:avLst/>
          </a:prstGeom>
          <a:noFill/>
        </p:spPr>
        <p:txBody>
          <a:bodyPr wrap="square" lIns="0" rIns="0" tIns="0" bIns="0" anchor="t">
            <a:spAutoFit/>
          </a:bodyPr>
          <a:lstStyle/>
          <a:p>
            <a:pPr algn="l">
              <a:lnSpc>
                <a:spcPct val="115000"/>
              </a:lnSpc>
            </a:pPr>
            <a:r>
              <a:rPr sz="1050" b="1" i="0">
                <a:solidFill>
                  <a:srgbClr val="6B7685"/>
                </a:solidFill>
                <a:latin typeface="Arial"/>
              </a:rPr>
              <a:t>ЧЕГО ЭТОТ РЕЗУЛЬТАТ НЕ ГОВОРИТ</a:t>
            </a:r>
          </a:p>
        </p:txBody>
      </p:sp>
      <p:sp>
        <p:nvSpPr>
          <p:cNvPr id="18" name="TextBox 17"/>
          <p:cNvSpPr txBox="1"/>
          <p:nvPr/>
        </p:nvSpPr>
        <p:spPr>
          <a:xfrm>
            <a:off x="667512" y="5065776"/>
            <a:ext cx="10853928" cy="1289303"/>
          </a:xfrm>
          <a:prstGeom prst="rect">
            <a:avLst/>
          </a:prstGeom>
          <a:noFill/>
        </p:spPr>
        <p:txBody>
          <a:bodyPr wrap="square" lIns="0" rIns="0" tIns="0" bIns="0" anchor="t">
            <a:spAutoFit/>
          </a:bodyPr>
          <a:lstStyle/>
          <a:p>
            <a:pPr algn="l">
              <a:lnSpc>
                <a:spcPct val="120000"/>
              </a:lnSpc>
            </a:pPr>
            <a:r>
              <a:rPr sz="1100" b="0" i="0">
                <a:solidFill>
                  <a:srgbClr val="21295C"/>
                </a:solidFill>
                <a:latin typeface="Arial"/>
              </a:rPr>
              <a:t>Это не один прогон — числа из двух разных публикаций; авторы Letta сами называют такое сравнение «яблоки с апельсинами».  ·  «Файловое хранилище» — не «только grep»: файл индексируется, поиск по смыслу у агента был.  ·  Задача другая: измеряли вопросы о фактах переписки, а не поиск связанного решения в журнале решений проекта. Наш случай никто не мерил.</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2.2 · ЦЕНА СТРУКТУРЫ — НА НАШЕМ ЖЕ DOC/ADR/</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Четыре издержки структуры — не общие категории, а конкретные файлы нашего же doc/adr/: сгенерированное оглавление, лишняя запись, осиротевшее обоснование и ручная сверка</a:t>
            </a:r>
          </a:p>
        </p:txBody>
      </p:sp>
      <p:sp>
        <p:nvSpPr>
          <p:cNvPr id="4" name="Rounded Rectangle 3"/>
          <p:cNvSpPr/>
          <p:nvPr/>
        </p:nvSpPr>
        <p:spPr>
          <a:xfrm>
            <a:off x="502920" y="2176272"/>
            <a:ext cx="5454396" cy="1828800"/>
          </a:xfrm>
          <a:prstGeom prst="roundRect">
            <a:avLst>
              <a:gd name="adj" fmla="val 16666"/>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lock-21295C-96.png"/>
          <p:cNvPicPr>
            <a:picLocks noChangeAspect="1"/>
          </p:cNvPicPr>
          <p:nvPr/>
        </p:nvPicPr>
        <p:blipFill>
          <a:blip r:embed="rId2"/>
          <a:stretch>
            <a:fillRect/>
          </a:stretch>
        </p:blipFill>
        <p:spPr>
          <a:xfrm>
            <a:off x="704088" y="2377440"/>
            <a:ext cx="365760" cy="365760"/>
          </a:xfrm>
          <a:prstGeom prst="rect">
            <a:avLst/>
          </a:prstGeom>
        </p:spPr>
      </p:pic>
      <p:sp>
        <p:nvSpPr>
          <p:cNvPr id="6" name="TextBox 5"/>
          <p:cNvSpPr txBox="1"/>
          <p:nvPr/>
        </p:nvSpPr>
        <p:spPr>
          <a:xfrm>
            <a:off x="1197864" y="2359152"/>
            <a:ext cx="4558283" cy="34747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Устаревание (staleness)</a:t>
            </a:r>
          </a:p>
        </p:txBody>
      </p:sp>
      <p:sp>
        <p:nvSpPr>
          <p:cNvPr id="7" name="TextBox 6"/>
          <p:cNvSpPr txBox="1"/>
          <p:nvPr/>
        </p:nvSpPr>
        <p:spPr>
          <a:xfrm>
            <a:off x="704088" y="2779776"/>
            <a:ext cx="5052059" cy="1024128"/>
          </a:xfrm>
          <a:prstGeom prst="rect">
            <a:avLst/>
          </a:prstGeom>
          <a:noFill/>
        </p:spPr>
        <p:txBody>
          <a:bodyPr wrap="square" lIns="0" rIns="0" tIns="0" bIns="0" anchor="t">
            <a:spAutoFit/>
          </a:bodyPr>
          <a:lstStyle/>
          <a:p>
            <a:pPr algn="l">
              <a:lnSpc>
                <a:spcPct val="128000"/>
              </a:lnSpc>
            </a:pPr>
            <a:r>
              <a:rPr sz="1100" b="0" i="0">
                <a:solidFill>
                  <a:srgbClr val="21295C"/>
                </a:solidFill>
                <a:latin typeface="Arial"/>
              </a:rPr>
              <a:t>README.md собран командой adr generate toc в октябре. Записи с 0188 по 0200 в него не попали, а выглядит он полным.</a:t>
            </a:r>
          </a:p>
        </p:txBody>
      </p:sp>
      <p:sp>
        <p:nvSpPr>
          <p:cNvPr id="8" name="Rounded Rectangle 7"/>
          <p:cNvSpPr/>
          <p:nvPr/>
        </p:nvSpPr>
        <p:spPr>
          <a:xfrm>
            <a:off x="6231636" y="2176272"/>
            <a:ext cx="5454396" cy="1828800"/>
          </a:xfrm>
          <a:prstGeom prst="roundRect">
            <a:avLst>
              <a:gd name="adj" fmla="val 16666"/>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it-fork-21295C-96.png"/>
          <p:cNvPicPr>
            <a:picLocks noChangeAspect="1"/>
          </p:cNvPicPr>
          <p:nvPr/>
        </p:nvPicPr>
        <p:blipFill>
          <a:blip r:embed="rId3"/>
          <a:stretch>
            <a:fillRect/>
          </a:stretch>
        </p:blipFill>
        <p:spPr>
          <a:xfrm>
            <a:off x="6432803" y="2377440"/>
            <a:ext cx="365760" cy="365760"/>
          </a:xfrm>
          <a:prstGeom prst="rect">
            <a:avLst/>
          </a:prstGeom>
        </p:spPr>
      </p:pic>
      <p:sp>
        <p:nvSpPr>
          <p:cNvPr id="10" name="TextBox 9"/>
          <p:cNvSpPr txBox="1"/>
          <p:nvPr/>
        </p:nvSpPr>
        <p:spPr>
          <a:xfrm>
            <a:off x="6926579" y="2359152"/>
            <a:ext cx="4558283" cy="34747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Дублирование (duplication)</a:t>
            </a:r>
          </a:p>
        </p:txBody>
      </p:sp>
      <p:sp>
        <p:nvSpPr>
          <p:cNvPr id="11" name="TextBox 10"/>
          <p:cNvSpPr txBox="1"/>
          <p:nvPr/>
        </p:nvSpPr>
        <p:spPr>
          <a:xfrm>
            <a:off x="6432803" y="2779776"/>
            <a:ext cx="5052059" cy="1024128"/>
          </a:xfrm>
          <a:prstGeom prst="rect">
            <a:avLst/>
          </a:prstGeom>
          <a:noFill/>
        </p:spPr>
        <p:txBody>
          <a:bodyPr wrap="square" lIns="0" rIns="0" tIns="0" bIns="0" anchor="t">
            <a:spAutoFit/>
          </a:bodyPr>
          <a:lstStyle/>
          <a:p>
            <a:pPr algn="l">
              <a:lnSpc>
                <a:spcPct val="128000"/>
              </a:lnSpc>
            </a:pPr>
            <a:r>
              <a:rPr sz="1100" b="0" i="0">
                <a:solidFill>
                  <a:srgbClr val="21295C"/>
                </a:solidFill>
                <a:latin typeface="Arial"/>
              </a:rPr>
              <a:t>Кто-то не нашёл 0187 и завёл 0193 «Пороги антиспама» про тот же honeypot. Обе Accepted, ссылки между ними нет.</a:t>
            </a:r>
          </a:p>
        </p:txBody>
      </p:sp>
      <p:sp>
        <p:nvSpPr>
          <p:cNvPr id="12" name="Rounded Rectangle 11"/>
          <p:cNvSpPr/>
          <p:nvPr/>
        </p:nvSpPr>
        <p:spPr>
          <a:xfrm>
            <a:off x="502920" y="4187952"/>
            <a:ext cx="5454396" cy="1828800"/>
          </a:xfrm>
          <a:prstGeom prst="roundRect">
            <a:avLst>
              <a:gd name="adj" fmla="val 16666"/>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it-branch-21295C-96.png"/>
          <p:cNvPicPr>
            <a:picLocks noChangeAspect="1"/>
          </p:cNvPicPr>
          <p:nvPr/>
        </p:nvPicPr>
        <p:blipFill>
          <a:blip r:embed="rId4"/>
          <a:stretch>
            <a:fillRect/>
          </a:stretch>
        </p:blipFill>
        <p:spPr>
          <a:xfrm>
            <a:off x="704088" y="4389120"/>
            <a:ext cx="365760" cy="365760"/>
          </a:xfrm>
          <a:prstGeom prst="rect">
            <a:avLst/>
          </a:prstGeom>
        </p:spPr>
      </p:pic>
      <p:sp>
        <p:nvSpPr>
          <p:cNvPr id="14" name="TextBox 13"/>
          <p:cNvSpPr txBox="1"/>
          <p:nvPr/>
        </p:nvSpPr>
        <p:spPr>
          <a:xfrm>
            <a:off x="1197864" y="4370832"/>
            <a:ext cx="4558283" cy="34747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Нет каскадного удаления</a:t>
            </a:r>
          </a:p>
        </p:txBody>
      </p:sp>
      <p:sp>
        <p:nvSpPr>
          <p:cNvPr id="15" name="TextBox 14"/>
          <p:cNvSpPr txBox="1"/>
          <p:nvPr/>
        </p:nvSpPr>
        <p:spPr>
          <a:xfrm>
            <a:off x="704088" y="4791456"/>
            <a:ext cx="5052059" cy="1024128"/>
          </a:xfrm>
          <a:prstGeom prst="rect">
            <a:avLst/>
          </a:prstGeom>
          <a:noFill/>
        </p:spPr>
        <p:txBody>
          <a:bodyPr wrap="square" lIns="0" rIns="0" tIns="0" bIns="0" anchor="t">
            <a:spAutoFit/>
          </a:bodyPr>
          <a:lstStyle/>
          <a:p>
            <a:pPr algn="l">
              <a:lnSpc>
                <a:spcPct val="128000"/>
              </a:lnSpc>
            </a:pPr>
            <a:r>
              <a:rPr sz="1100" b="0" i="0">
                <a:solidFill>
                  <a:srgbClr val="21295C"/>
                </a:solidFill>
                <a:latin typeface="Arial"/>
              </a:rPr>
              <a:t>0031 отменили — статус и ссылки перевелись. Но 0187 обоснована фразой «запрещено решением 31» и осталась Accepted.</a:t>
            </a:r>
          </a:p>
        </p:txBody>
      </p:sp>
      <p:sp>
        <p:nvSpPr>
          <p:cNvPr id="16" name="Rounded Rectangle 15"/>
          <p:cNvSpPr/>
          <p:nvPr/>
        </p:nvSpPr>
        <p:spPr>
          <a:xfrm>
            <a:off x="6231636" y="4187952"/>
            <a:ext cx="5454396" cy="1828800"/>
          </a:xfrm>
          <a:prstGeom prst="roundRect">
            <a:avLst>
              <a:gd name="adj" fmla="val 16666"/>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og-21295C-96.png"/>
          <p:cNvPicPr>
            <a:picLocks noChangeAspect="1"/>
          </p:cNvPicPr>
          <p:nvPr/>
        </p:nvPicPr>
        <p:blipFill>
          <a:blip r:embed="rId5"/>
          <a:stretch>
            <a:fillRect/>
          </a:stretch>
        </p:blipFill>
        <p:spPr>
          <a:xfrm>
            <a:off x="6432803" y="4389120"/>
            <a:ext cx="365760" cy="365760"/>
          </a:xfrm>
          <a:prstGeom prst="rect">
            <a:avLst/>
          </a:prstGeom>
        </p:spPr>
      </p:pic>
      <p:sp>
        <p:nvSpPr>
          <p:cNvPr id="18" name="TextBox 17"/>
          <p:cNvSpPr txBox="1"/>
          <p:nvPr/>
        </p:nvSpPr>
        <p:spPr>
          <a:xfrm>
            <a:off x="6926579" y="4370832"/>
            <a:ext cx="4558283" cy="34747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Нагрузка на поддержку</a:t>
            </a:r>
          </a:p>
        </p:txBody>
      </p:sp>
      <p:sp>
        <p:nvSpPr>
          <p:cNvPr id="19" name="TextBox 18"/>
          <p:cNvSpPr txBox="1"/>
          <p:nvPr/>
        </p:nvSpPr>
        <p:spPr>
          <a:xfrm>
            <a:off x="6432803" y="4791456"/>
            <a:ext cx="5052059" cy="1024128"/>
          </a:xfrm>
          <a:prstGeom prst="rect">
            <a:avLst/>
          </a:prstGeom>
          <a:noFill/>
        </p:spPr>
        <p:txBody>
          <a:bodyPr wrap="square" lIns="0" rIns="0" tIns="0" bIns="0" anchor="t">
            <a:spAutoFit/>
          </a:bodyPr>
          <a:lstStyle/>
          <a:p>
            <a:pPr algn="l">
              <a:lnSpc>
                <a:spcPct val="128000"/>
              </a:lnSpc>
            </a:pPr>
            <a:r>
              <a:rPr sz="1100" b="0" i="0">
                <a:solidFill>
                  <a:srgbClr val="21295C"/>
                </a:solidFill>
                <a:latin typeface="Arial"/>
              </a:rPr>
              <a:t>Двести решений — двести файлов: номер, дата, статус, ссылки, регенерация оглавления. Заметить дубль не делает никто.</a:t>
            </a:r>
          </a:p>
        </p:txBody>
      </p:sp>
      <p:sp>
        <p:nvSpPr>
          <p:cNvPr id="20" name="TextBox 19"/>
          <p:cNvSpPr txBox="1"/>
          <p:nvPr/>
        </p:nvSpPr>
        <p:spPr>
          <a:xfrm>
            <a:off x="502920" y="6181344"/>
            <a:ext cx="11183112" cy="219455"/>
          </a:xfrm>
          <a:prstGeom prst="rect">
            <a:avLst/>
          </a:prstGeom>
          <a:noFill/>
        </p:spPr>
        <p:txBody>
          <a:bodyPr wrap="square" lIns="0" rIns="0" tIns="0" bIns="0" anchor="t">
            <a:spAutoFit/>
          </a:bodyPr>
          <a:lstStyle/>
          <a:p>
            <a:pPr algn="ctr">
              <a:lnSpc>
                <a:spcPct val="120000"/>
              </a:lnSpc>
            </a:pPr>
            <a:r>
              <a:rPr sz="1080" b="0" i="1">
                <a:solidFill>
                  <a:srgbClr val="6B7685"/>
                </a:solidFill>
                <a:latin typeface="Arial"/>
              </a:rPr>
              <a:t>У человека эта нагрузка обычно убивает вики — наблюдение, не измерение. У агента правка полутора десятков файлов за проход стоит почти ноль — но это гипотеза о механизме. Структура — компромисс, не бесплатный апгрейд.</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2.2 · КРИТЕРИЙ И МОСТ</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Единицы связей на запись и один-два человека, правящих память, — структуры достаточно; полноценная система памяти требует замеров на своём масштабе, не общего совета</a:t>
            </a:r>
          </a:p>
        </p:txBody>
      </p:sp>
      <p:sp>
        <p:nvSpPr>
          <p:cNvPr id="4" name="Rounded Rectangle 3"/>
          <p:cNvSpPr/>
          <p:nvPr/>
        </p:nvSpPr>
        <p:spPr>
          <a:xfrm>
            <a:off x="502920" y="2176272"/>
            <a:ext cx="11183112" cy="2322576"/>
          </a:xfrm>
          <a:prstGeom prst="roundRect">
            <a:avLst>
              <a:gd name="adj" fmla="val 1312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2414016"/>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5" y="2340864"/>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Связей у записи — единицы, а не десятки: их видно в разделе Status.</a:t>
            </a:r>
          </a:p>
        </p:txBody>
      </p:sp>
      <p:sp>
        <p:nvSpPr>
          <p:cNvPr id="7" name="Rounded Rectangle 6"/>
          <p:cNvSpPr/>
          <p:nvPr/>
        </p:nvSpPr>
        <p:spPr>
          <a:xfrm>
            <a:off x="713232" y="2926080"/>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5" y="2852928"/>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Поиск нужной записи — по номеру, названию файла или простому grep, а не по смысловой близости.</a:t>
            </a:r>
          </a:p>
        </p:txBody>
      </p:sp>
      <p:sp>
        <p:nvSpPr>
          <p:cNvPr id="9" name="Rounded Rectangle 8"/>
          <p:cNvSpPr/>
          <p:nvPr/>
        </p:nvSpPr>
        <p:spPr>
          <a:xfrm>
            <a:off x="713232" y="3438144"/>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3364992"/>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Участников, одновременно правящих память, — один-два.</a:t>
            </a:r>
          </a:p>
        </p:txBody>
      </p:sp>
      <p:sp>
        <p:nvSpPr>
          <p:cNvPr id="11" name="Rounded Rectangle 10"/>
          <p:cNvSpPr/>
          <p:nvPr/>
        </p:nvSpPr>
        <p:spPr>
          <a:xfrm>
            <a:off x="713232" y="3950208"/>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 y="3877056"/>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Никто не просил «найди решения, похожие по смыслу на…».</a:t>
            </a:r>
          </a:p>
        </p:txBody>
      </p:sp>
      <p:sp>
        <p:nvSpPr>
          <p:cNvPr id="13" name="Rounded Rectangle 12"/>
          <p:cNvSpPr/>
          <p:nvPr/>
        </p:nvSpPr>
        <p:spPr>
          <a:xfrm>
            <a:off x="502920" y="4681728"/>
            <a:ext cx="11183112" cy="1719071"/>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4754880"/>
            <a:ext cx="10780776" cy="1572767"/>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Смена оси: всё в этом и предыдущем кейсе — про решения, которые живут навсегда. Что происходит с памятью одной задачи, пока она ещё не закончена?</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46919" y="4617720"/>
            <a:ext cx="1783080" cy="1783080"/>
          </a:xfrm>
          <a:prstGeom prst="roundRect">
            <a:avLst>
              <a:gd name="adj" fmla="val 18000"/>
            </a:avLst>
          </a:prstGeom>
          <a:solidFill>
            <a:srgbClr val="0B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pboard-check-F0AB00-128.png"/>
          <p:cNvPicPr>
            <a:picLocks noChangeAspect="1"/>
          </p:cNvPicPr>
          <p:nvPr/>
        </p:nvPicPr>
        <p:blipFill>
          <a:blip r:embed="rId2"/>
          <a:stretch>
            <a:fillRect/>
          </a:stretch>
        </p:blipFill>
        <p:spPr>
          <a:xfrm>
            <a:off x="9921240" y="4892040"/>
            <a:ext cx="1234440" cy="1234440"/>
          </a:xfrm>
          <a:prstGeom prst="rect">
            <a:avLst/>
          </a:prstGeom>
        </p:spPr>
      </p:pic>
      <p:sp>
        <p:nvSpPr>
          <p:cNvPr id="5" name="Rounded Rectangle 4"/>
          <p:cNvSpPr/>
          <p:nvPr/>
        </p:nvSpPr>
        <p:spPr>
          <a:xfrm>
            <a:off x="822960"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1616" y="548640"/>
            <a:ext cx="1328927" cy="256032"/>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00272" y="548640"/>
            <a:ext cx="1328927" cy="256032"/>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8961120" cy="1005840"/>
          </a:xfrm>
          <a:prstGeom prst="rect">
            <a:avLst/>
          </a:prstGeom>
          <a:noFill/>
        </p:spPr>
        <p:txBody>
          <a:bodyPr wrap="square" lIns="0" rIns="0" tIns="0" bIns="0" anchor="t">
            <a:spAutoFit/>
          </a:bodyPr>
          <a:lstStyle/>
          <a:p>
            <a:pPr algn="l">
              <a:lnSpc>
                <a:spcPct val="105000"/>
              </a:lnSpc>
            </a:pPr>
            <a:r>
              <a:rPr sz="3300" b="1" i="0">
                <a:solidFill>
                  <a:srgbClr val="FFFFFF"/>
                </a:solidFill>
                <a:latin typeface="Arial"/>
              </a:rPr>
              <a:t>Кейс 2.3 · операционная память</a:t>
            </a:r>
          </a:p>
        </p:txBody>
      </p:sp>
      <p:sp>
        <p:nvSpPr>
          <p:cNvPr id="9" name="TextBox 8"/>
          <p:cNvSpPr txBox="1"/>
          <p:nvPr/>
        </p:nvSpPr>
        <p:spPr>
          <a:xfrm>
            <a:off x="868680" y="3090672"/>
            <a:ext cx="8778240" cy="822960"/>
          </a:xfrm>
          <a:prstGeom prst="rect">
            <a:avLst/>
          </a:prstGeom>
          <a:noFill/>
        </p:spPr>
        <p:txBody>
          <a:bodyPr wrap="square" lIns="0" rIns="0" tIns="0" bIns="0" anchor="t">
            <a:spAutoFit/>
          </a:bodyPr>
          <a:lstStyle/>
          <a:p>
            <a:pPr algn="l">
              <a:lnSpc>
                <a:spcPct val="130000"/>
              </a:lnSpc>
            </a:pPr>
            <a:r>
              <a:rPr sz="1600" b="0" i="1">
                <a:solidFill>
                  <a:srgbClr val="CFDCEC"/>
                </a:solidFill>
                <a:latin typeface="Arial"/>
              </a:rPr>
              <a:t>Смена оси: не решения навсегда, а ход одной задачи между её сессиями</a:t>
            </a:r>
          </a:p>
        </p:txBody>
      </p:sp>
      <p:sp>
        <p:nvSpPr>
          <p:cNvPr id="10" name="Rounded Rectangle 9"/>
          <p:cNvSpPr/>
          <p:nvPr/>
        </p:nvSpPr>
        <p:spPr>
          <a:xfrm>
            <a:off x="868680" y="3950208"/>
            <a:ext cx="5486400" cy="502920"/>
          </a:xfrm>
          <a:prstGeom prst="roundRect">
            <a:avLst>
              <a:gd name="adj" fmla="val 28000"/>
            </a:avLst>
          </a:prstGeom>
          <a:solidFill>
            <a:srgbClr val="0B143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950208"/>
            <a:ext cx="4974336" cy="502920"/>
          </a:xfrm>
          <a:prstGeom prst="rect">
            <a:avLst/>
          </a:prstGeom>
          <a:noFill/>
        </p:spPr>
        <p:txBody>
          <a:bodyPr wrap="square" lIns="0" rIns="0" tIns="0" bIns="0" anchor="ctr">
            <a:spAutoFit/>
          </a:bodyPr>
          <a:lstStyle/>
          <a:p>
            <a:pPr algn="ctr">
              <a:lnSpc>
                <a:spcPct val="115000"/>
              </a:lnSpc>
            </a:pPr>
            <a:r>
              <a:rPr sz="1100" b="1" i="0">
                <a:solidFill>
                  <a:srgbClr val="028090"/>
                </a:solidFill>
                <a:latin typeface="Arial"/>
              </a:rPr>
              <a:t>ПАМЯТЬ ОДНОЙ ЗАДАЧИ</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2.3 · ЗАДАЧНАЯ ПАМЯТЬ</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Файл задачи заведён на дне 0 и план в нём отмечен по первым шагам — а договорённость о том, как делать следующий шаг, принятая по ходу первой сессии, в него не попала</a:t>
            </a:r>
          </a:p>
        </p:txBody>
      </p:sp>
      <p:sp>
        <p:nvSpPr>
          <p:cNvPr id="4" name="Rounded Rectangle 3"/>
          <p:cNvSpPr/>
          <p:nvPr/>
        </p:nvSpPr>
        <p:spPr>
          <a:xfrm>
            <a:off x="502920" y="2176272"/>
            <a:ext cx="11183112" cy="3172967"/>
          </a:xfrm>
          <a:prstGeom prst="roundRect">
            <a:avLst>
              <a:gd name="adj" fmla="val 960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59152"/>
            <a:ext cx="10515600" cy="2807207"/>
          </a:xfrm>
          <a:prstGeom prst="rect">
            <a:avLst/>
          </a:prstGeom>
          <a:noFill/>
        </p:spPr>
        <p:txBody>
          <a:bodyPr wrap="square" lIns="0" rIns="0" tIns="0" bIns="0" anchor="ctr">
            <a:spAutoFit/>
          </a:bodyPr>
          <a:lstStyle/>
          <a:p>
            <a:pPr algn="l">
              <a:lnSpc>
                <a:spcPct val="132000"/>
              </a:lnSpc>
            </a:pPr>
            <a:r>
              <a:rPr sz="1400" b="0" i="0">
                <a:solidFill>
                  <a:srgbClr val="21295C"/>
                </a:solidFill>
                <a:latin typeface="Arial"/>
              </a:rPr>
              <a:t>Практика «файл на задачу» заведена на дне 0, вместе с DECISIONS.md: на каждую многошаговую задачу — свой файл с планом и логом хода. Задача: разбить форму на пошаговый визард — имя, email, подтверждение, — сохранив всю текущую валидацию. Файл создан перед началом работы, план расписан на шесть шагов.
Первая сессия закрывает шаги 1-2. По ходу шага 2 видно, что значения полей надо где-то держать между шагами, и в рабочем обсуждении — не в плане — выбирается способ: состояние визарда хранить одним объектом в sessionStorage, ключ signup-wizard. В лог хода выбранный способ не попадает. Сессия обрывается в середине шага 3 — контекст сжимается.
Вторая сессия. Агент открывает файл: план на месте, шаги 1-2 отмечены выполненными. Про sessionStorage в файле нет ни строки. Агент делает шаг 3 самым коротким способом — держит состояние в переменной модуля. Тесты шага 5 зелёные. Расхождение всплывает на шаге 6: перезагрузка страницы на третьем шаге очищает форму.</a:t>
            </a:r>
          </a:p>
        </p:txBody>
      </p:sp>
      <p:sp>
        <p:nvSpPr>
          <p:cNvPr id="6" name="Rounded Rectangle 5"/>
          <p:cNvSpPr/>
          <p:nvPr/>
        </p:nvSpPr>
        <p:spPr>
          <a:xfrm>
            <a:off x="502920" y="5513831"/>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5586983"/>
            <a:ext cx="10780776" cy="630936"/>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«На входе во вторую сессию у агента есть ровно то, что лежит в файле: шесть шагов плана и две отметки о выполнении. Договорённость про хранение состояния осталась в контексте первой сессии, которого больше нет.»</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2.3 · ВОПРОС</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Файл задачи существовал с самого начала и всё равно ввёл в заблуждение — выбор из пяти вариантов</a:t>
            </a:r>
          </a:p>
        </p:txBody>
      </p:sp>
      <p:sp>
        <p:nvSpPr>
          <p:cNvPr id="4" name="Rounded Rectangle 3"/>
          <p:cNvSpPr/>
          <p:nvPr/>
        </p:nvSpPr>
        <p:spPr>
          <a:xfrm>
            <a:off x="502920" y="1810512"/>
            <a:ext cx="11183112" cy="118872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883664"/>
            <a:ext cx="10780776" cy="104241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«Файл задачи существовал с самого начала, план в нём выглядит актуальным — первые шаги отмечены сделанными. И всё равно вторая сессия делает шаг 3 не так, как договорились в первой. Выберите, что нужно сделать иначе — из карточек ниже — так, чтобы файл задачи не вводил в заблуждение, а реально отражал ход работы. Обоснуйте выбор.»</a:t>
            </a:r>
          </a:p>
        </p:txBody>
      </p:sp>
      <p:sp>
        <p:nvSpPr>
          <p:cNvPr id="6" name="Rounded Rectangle 5"/>
          <p:cNvSpPr/>
          <p:nvPr/>
        </p:nvSpPr>
        <p:spPr>
          <a:xfrm>
            <a:off x="502920" y="320040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320040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надеяться на</a:t>
            </a:r>
          </a:p>
          <a:p>
            <a:pPr algn="ctr">
              <a:lnSpc>
                <a:spcPct val="115000"/>
              </a:lnSpc>
              <a:spcAft>
                <a:spcPts val="0"/>
              </a:spcAft>
            </a:pPr>
            <a:r>
              <a:rPr sz="1250" b="1" i="0">
                <a:solidFill>
                  <a:srgbClr val="21295C"/>
                </a:solidFill>
                <a:latin typeface="Arial"/>
              </a:rPr>
              <a:t>контекстное окно</a:t>
            </a:r>
          </a:p>
        </p:txBody>
      </p:sp>
      <p:sp>
        <p:nvSpPr>
          <p:cNvPr id="8" name="Rounded Rectangle 7"/>
          <p:cNvSpPr/>
          <p:nvPr/>
        </p:nvSpPr>
        <p:spPr>
          <a:xfrm>
            <a:off x="2768803" y="320040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41955" y="320040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записать план</a:t>
            </a:r>
          </a:p>
          <a:p>
            <a:pPr algn="ctr">
              <a:lnSpc>
                <a:spcPct val="115000"/>
              </a:lnSpc>
              <a:spcAft>
                <a:spcPts val="0"/>
              </a:spcAft>
            </a:pPr>
            <a:r>
              <a:rPr sz="1250" b="1" i="0">
                <a:solidFill>
                  <a:srgbClr val="21295C"/>
                </a:solidFill>
                <a:latin typeface="Arial"/>
              </a:rPr>
              <a:t>в DECISIONS.md</a:t>
            </a:r>
          </a:p>
        </p:txBody>
      </p:sp>
      <p:sp>
        <p:nvSpPr>
          <p:cNvPr id="10" name="Rounded Rectangle 9"/>
          <p:cNvSpPr/>
          <p:nvPr/>
        </p:nvSpPr>
        <p:spPr>
          <a:xfrm>
            <a:off x="5034686" y="320040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7838" y="320040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правило в CLAUDE.md:</a:t>
            </a:r>
          </a:p>
          <a:p>
            <a:pPr algn="ctr">
              <a:lnSpc>
                <a:spcPct val="115000"/>
              </a:lnSpc>
              <a:spcAft>
                <a:spcPts val="0"/>
              </a:spcAft>
            </a:pPr>
            <a:r>
              <a:rPr sz="1250" b="1" i="0">
                <a:solidFill>
                  <a:srgbClr val="21295C"/>
                </a:solidFill>
                <a:latin typeface="Arial"/>
              </a:rPr>
              <a:t>договорённость — сразу в файл</a:t>
            </a:r>
          </a:p>
        </p:txBody>
      </p:sp>
      <p:sp>
        <p:nvSpPr>
          <p:cNvPr id="12" name="Rounded Rectangle 11"/>
          <p:cNvSpPr/>
          <p:nvPr/>
        </p:nvSpPr>
        <p:spPr>
          <a:xfrm>
            <a:off x="7300569" y="320040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3721" y="320040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завести папку на задачу</a:t>
            </a:r>
          </a:p>
          <a:p>
            <a:pPr algn="ctr">
              <a:lnSpc>
                <a:spcPct val="115000"/>
              </a:lnSpc>
              <a:spcAft>
                <a:spcPts val="0"/>
              </a:spcAft>
            </a:pPr>
            <a:r>
              <a:rPr sz="1250" b="1" i="0">
                <a:solidFill>
                  <a:srgbClr val="21295C"/>
                </a:solidFill>
                <a:latin typeface="Arial"/>
              </a:rPr>
              <a:t>с файлом под каждый шаг</a:t>
            </a:r>
          </a:p>
        </p:txBody>
      </p:sp>
      <p:sp>
        <p:nvSpPr>
          <p:cNvPr id="14" name="Rounded Rectangle 13"/>
          <p:cNvSpPr/>
          <p:nvPr/>
        </p:nvSpPr>
        <p:spPr>
          <a:xfrm>
            <a:off x="9566452" y="3200400"/>
            <a:ext cx="2119579" cy="1600200"/>
          </a:xfrm>
          <a:prstGeom prst="roundRect">
            <a:avLst>
              <a:gd name="adj" fmla="val 19047"/>
            </a:avLst>
          </a:prstGeom>
          <a:solidFill>
            <a:srgbClr val="F4F7FA"/>
          </a:solidFill>
          <a:ln w="1397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39604" y="3200400"/>
            <a:ext cx="1973275" cy="1600200"/>
          </a:xfrm>
          <a:prstGeom prst="rect">
            <a:avLst/>
          </a:prstGeom>
          <a:noFill/>
        </p:spPr>
        <p:txBody>
          <a:bodyPr wrap="square" lIns="0" rIns="0" tIns="0" bIns="0" anchor="ctr">
            <a:spAutoFit/>
          </a:bodyPr>
          <a:lstStyle/>
          <a:p>
            <a:pPr algn="ctr">
              <a:lnSpc>
                <a:spcPct val="115000"/>
              </a:lnSpc>
              <a:spcAft>
                <a:spcPts val="0"/>
              </a:spcAft>
            </a:pPr>
            <a:r>
              <a:rPr sz="1250" b="1" i="0">
                <a:solidFill>
                  <a:srgbClr val="21295C"/>
                </a:solidFill>
                <a:latin typeface="Arial"/>
              </a:rPr>
              <a:t>попросить агента</a:t>
            </a:r>
          </a:p>
          <a:p>
            <a:pPr algn="ctr">
              <a:lnSpc>
                <a:spcPct val="115000"/>
              </a:lnSpc>
              <a:spcAft>
                <a:spcPts val="0"/>
              </a:spcAft>
            </a:pPr>
            <a:r>
              <a:rPr sz="1250" b="1" i="0">
                <a:solidFill>
                  <a:srgbClr val="21295C"/>
                </a:solidFill>
                <a:latin typeface="Arial"/>
              </a:rPr>
              <a:t>«продолжи с того места»</a:t>
            </a:r>
          </a:p>
        </p:txBody>
      </p:sp>
      <p:sp>
        <p:nvSpPr>
          <p:cNvPr id="16" name="TextBox 15"/>
          <p:cNvSpPr txBox="1"/>
          <p:nvPr/>
        </p:nvSpPr>
        <p:spPr>
          <a:xfrm>
            <a:off x="502920" y="4946904"/>
            <a:ext cx="11183112" cy="32004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разбор — на следующем слайде</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2.3 · ИССЛЕДОВАНИЕ</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От Pokémon до recitation — практика структурированных заметок о ходе задачи известна и работает; и она объясняет, почему наш файл всё равно подвёл</a:t>
            </a:r>
          </a:p>
        </p:txBody>
      </p:sp>
      <p:sp>
        <p:nvSpPr>
          <p:cNvPr id="4" name="Rounded Rectangle 3"/>
          <p:cNvSpPr/>
          <p:nvPr/>
        </p:nvSpPr>
        <p:spPr>
          <a:xfrm>
            <a:off x="502920" y="1993392"/>
            <a:ext cx="11183112"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121408"/>
            <a:ext cx="10744200" cy="2075688"/>
          </a:xfrm>
          <a:prstGeom prst="rect">
            <a:avLst/>
          </a:prstGeom>
          <a:noFill/>
        </p:spPr>
        <p:txBody>
          <a:bodyPr wrap="square" lIns="0" rIns="0" tIns="0" bIns="0" anchor="t">
            <a:spAutoFit/>
          </a:bodyPr>
          <a:lstStyle/>
          <a:p>
            <a:pPr algn="l">
              <a:lnSpc>
                <a:spcPct val="128000"/>
              </a:lnSpc>
            </a:pPr>
            <a:r>
              <a:rPr sz="1200" b="0" i="0">
                <a:solidFill>
                  <a:srgbClr val="21295C"/>
                </a:solidFill>
                <a:latin typeface="Arial"/>
              </a:rPr>
              <a:t>Anthropic, инженерный блог: «structured note-taking» — агент играет в Pokémon тысячи шагов подряд, ведя простые структурированные заметки, переживая сбросы контекста без потери прогресса. Manus, «recitation»: агент непрерывно переписывает todo.md в конец контекста — снижает уход от цели. metasphere-agents: файл на задачу в .tasks/active/, архивируется в .tasks/done/ по завершении.</a:t>
            </a:r>
          </a:p>
        </p:txBody>
      </p:sp>
      <p:sp>
        <p:nvSpPr>
          <p:cNvPr id="6" name="Rounded Rectangle 5"/>
          <p:cNvSpPr/>
          <p:nvPr/>
        </p:nvSpPr>
        <p:spPr>
          <a:xfrm>
            <a:off x="502920" y="4507992"/>
            <a:ext cx="11183112" cy="1892807"/>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4581144"/>
            <a:ext cx="10780776" cy="1746503"/>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«Есть измерение на большом числе траекторий: план в среднем помогает. Но дословная цитата авторов — ‘плохой план вреднее отсутствия плана вообще’. Полную картину с цифрами покажу на слайде провала.»</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2.3 · РАЗБОР</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Целевой ответ — строка в CLAUDE.md, обязывающая агента дописывать договорённость в файл задачи в момент, когда она прозвучала</a:t>
            </a:r>
          </a:p>
        </p:txBody>
      </p:sp>
      <p:sp>
        <p:nvSpPr>
          <p:cNvPr id="4" name="TextBox 3"/>
          <p:cNvSpPr txBox="1"/>
          <p:nvPr/>
        </p:nvSpPr>
        <p:spPr>
          <a:xfrm>
            <a:off x="502920" y="1810512"/>
            <a:ext cx="11183112" cy="274320"/>
          </a:xfrm>
          <a:prstGeom prst="rect">
            <a:avLst/>
          </a:prstGeom>
          <a:noFill/>
        </p:spPr>
        <p:txBody>
          <a:bodyPr wrap="square" lIns="0" rIns="0" tIns="0" bIns="0" anchor="t">
            <a:spAutoFit/>
          </a:bodyPr>
          <a:lstStyle/>
          <a:p>
            <a:pPr algn="l">
              <a:lnSpc>
                <a:spcPct val="115000"/>
              </a:lnSpc>
            </a:pPr>
            <a:r>
              <a:rPr sz="1130" b="0" i="1">
                <a:solidFill>
                  <a:srgbClr val="6B7685"/>
                </a:solidFill>
                <a:latin typeface="Arial"/>
              </a:rPr>
              <a:t>вопрос для контекста: «Файл задачи ввёл в заблуждение — что сделать иначе?»</a:t>
            </a:r>
          </a:p>
        </p:txBody>
      </p:sp>
      <p:sp>
        <p:nvSpPr>
          <p:cNvPr id="5" name="Rounded Rectangle 4"/>
          <p:cNvSpPr/>
          <p:nvPr/>
        </p:nvSpPr>
        <p:spPr>
          <a:xfrm>
            <a:off x="502920" y="2176272"/>
            <a:ext cx="11183112" cy="3337560"/>
          </a:xfrm>
          <a:prstGeom prst="roundRect">
            <a:avLst>
              <a:gd name="adj" fmla="val 91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359152"/>
            <a:ext cx="2739359"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Вариант</a:t>
            </a:r>
          </a:p>
        </p:txBody>
      </p:sp>
      <p:sp>
        <p:nvSpPr>
          <p:cNvPr id="7" name="TextBox 6"/>
          <p:cNvSpPr txBox="1"/>
          <p:nvPr/>
        </p:nvSpPr>
        <p:spPr>
          <a:xfrm>
            <a:off x="3498311" y="2359152"/>
            <a:ext cx="3172053"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Где это работает</a:t>
            </a:r>
          </a:p>
        </p:txBody>
      </p:sp>
      <p:sp>
        <p:nvSpPr>
          <p:cNvPr id="8" name="TextBox 7"/>
          <p:cNvSpPr txBox="1"/>
          <p:nvPr/>
        </p:nvSpPr>
        <p:spPr>
          <a:xfrm>
            <a:off x="6743517" y="2359152"/>
            <a:ext cx="4686482" cy="329184"/>
          </a:xfrm>
          <a:prstGeom prst="rect">
            <a:avLst/>
          </a:prstGeom>
          <a:noFill/>
        </p:spPr>
        <p:txBody>
          <a:bodyPr wrap="square" lIns="0" rIns="0" tIns="0" bIns="0" anchor="t">
            <a:spAutoFit/>
          </a:bodyPr>
          <a:lstStyle/>
          <a:p>
            <a:pPr algn="l">
              <a:lnSpc>
                <a:spcPct val="115000"/>
              </a:lnSpc>
            </a:pPr>
            <a:r>
              <a:rPr sz="1030" b="1" i="0">
                <a:solidFill>
                  <a:srgbClr val="6B7685"/>
                </a:solidFill>
                <a:latin typeface="Arial"/>
              </a:rPr>
              <a:t>Почему рано — и что вместо</a:t>
            </a:r>
          </a:p>
        </p:txBody>
      </p:sp>
      <p:sp>
        <p:nvSpPr>
          <p:cNvPr id="9" name="TextBox 8"/>
          <p:cNvSpPr txBox="1"/>
          <p:nvPr/>
        </p:nvSpPr>
        <p:spPr>
          <a:xfrm>
            <a:off x="685800" y="274320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«Не сжимать, не закрывать сессию»</a:t>
            </a:r>
          </a:p>
        </p:txBody>
      </p:sp>
      <p:sp>
        <p:nvSpPr>
          <p:cNvPr id="10" name="TextBox 9"/>
          <p:cNvSpPr txBox="1"/>
          <p:nvPr/>
        </p:nvSpPr>
        <p:spPr>
          <a:xfrm>
            <a:off x="3498311" y="2743200"/>
            <a:ext cx="3153765"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Для задачи, целиком укладывающейся в одну короткую сессию</a:t>
            </a:r>
          </a:p>
        </p:txBody>
      </p:sp>
      <p:sp>
        <p:nvSpPr>
          <p:cNvPr id="11" name="TextBox 10"/>
          <p:cNvSpPr txBox="1"/>
          <p:nvPr/>
        </p:nvSpPr>
        <p:spPr>
          <a:xfrm>
            <a:off x="6743517" y="2743200"/>
            <a:ext cx="4668194"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Контекстное окно конечно; на многошаговой задаче рано или поздно случится сжатие или разрыв сессии — это отсутствие стратегии</a:t>
            </a:r>
          </a:p>
        </p:txBody>
      </p:sp>
      <p:cxnSp>
        <p:nvCxnSpPr>
          <p:cNvPr id="12" name="Connector 11"/>
          <p:cNvCxnSpPr/>
          <p:nvPr/>
        </p:nvCxnSpPr>
        <p:spPr>
          <a:xfrm>
            <a:off x="685800" y="326075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326075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«Записать план в DECISIONS.md»</a:t>
            </a:r>
          </a:p>
        </p:txBody>
      </p:sp>
      <p:sp>
        <p:nvSpPr>
          <p:cNvPr id="14" name="TextBox 13"/>
          <p:cNvSpPr txBox="1"/>
          <p:nvPr/>
        </p:nvSpPr>
        <p:spPr>
          <a:xfrm>
            <a:off x="3498311" y="3260750"/>
            <a:ext cx="3153765"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Никогда — не тот слой памяти</a:t>
            </a:r>
          </a:p>
        </p:txBody>
      </p:sp>
      <p:sp>
        <p:nvSpPr>
          <p:cNvPr id="15" name="TextBox 14"/>
          <p:cNvSpPr txBox="1"/>
          <p:nvPr/>
        </p:nvSpPr>
        <p:spPr>
          <a:xfrm>
            <a:off x="6743517" y="3260750"/>
            <a:ext cx="4668194"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DECISIONS.md — про решения, которые остаются в силе навсегда; статус одной задачи туда не относится</a:t>
            </a:r>
          </a:p>
        </p:txBody>
      </p:sp>
      <p:cxnSp>
        <p:nvCxnSpPr>
          <p:cNvPr id="16" name="Connector 15"/>
          <p:cNvCxnSpPr/>
          <p:nvPr/>
        </p:nvCxnSpPr>
        <p:spPr>
          <a:xfrm>
            <a:off x="685800" y="37783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57784" y="3778300"/>
            <a:ext cx="11073384" cy="517550"/>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778300"/>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«Правило в CLAUDE.md: договорённость — сразу в файл задачи»</a:t>
            </a:r>
          </a:p>
        </p:txBody>
      </p:sp>
      <p:sp>
        <p:nvSpPr>
          <p:cNvPr id="19" name="TextBox 18"/>
          <p:cNvSpPr txBox="1"/>
          <p:nvPr/>
        </p:nvSpPr>
        <p:spPr>
          <a:xfrm>
            <a:off x="3498311" y="3778300"/>
            <a:ext cx="3153765"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Ровно наш случай — файл уже есть, не хватило строки в инструкциях</a:t>
            </a:r>
          </a:p>
        </p:txBody>
      </p:sp>
      <p:sp>
        <p:nvSpPr>
          <p:cNvPr id="20" name="TextBox 19"/>
          <p:cNvSpPr txBox="1"/>
          <p:nvPr/>
        </p:nvSpPr>
        <p:spPr>
          <a:xfrm>
            <a:off x="6743517" y="3778300"/>
            <a:ext cx="4668194"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Целевой ответ. Адресат — агент, который файл и так ведёт, не память разработчика</a:t>
            </a:r>
          </a:p>
        </p:txBody>
      </p:sp>
      <p:cxnSp>
        <p:nvCxnSpPr>
          <p:cNvPr id="21" name="Connector 20"/>
          <p:cNvCxnSpPr/>
          <p:nvPr/>
        </p:nvCxnSpPr>
        <p:spPr>
          <a:xfrm>
            <a:off x="685800" y="429585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4295851"/>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«Папка на задачу с файлом под каждый шаг»</a:t>
            </a:r>
          </a:p>
        </p:txBody>
      </p:sp>
      <p:sp>
        <p:nvSpPr>
          <p:cNvPr id="23" name="TextBox 22"/>
          <p:cNvSpPr txBox="1"/>
          <p:nvPr/>
        </p:nvSpPr>
        <p:spPr>
          <a:xfrm>
            <a:off x="3498311" y="4295851"/>
            <a:ext cx="3153765"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Параллельные подзадачи, несколько субагентов, разросшийся лог</a:t>
            </a:r>
          </a:p>
        </p:txBody>
      </p:sp>
      <p:sp>
        <p:nvSpPr>
          <p:cNvPr id="24" name="TextBox 23"/>
          <p:cNvSpPr txBox="1"/>
          <p:nvPr/>
        </p:nvSpPr>
        <p:spPr>
          <a:xfrm>
            <a:off x="6743517" y="4295851"/>
            <a:ext cx="4668194"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Оверинжиниринг для одной линейной задачи здесь и сейчас</a:t>
            </a:r>
          </a:p>
        </p:txBody>
      </p:sp>
      <p:cxnSp>
        <p:nvCxnSpPr>
          <p:cNvPr id="25" name="Connector 24"/>
          <p:cNvCxnSpPr/>
          <p:nvPr/>
        </p:nvCxnSpPr>
        <p:spPr>
          <a:xfrm>
            <a:off x="685800" y="481340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5800" y="4813401"/>
            <a:ext cx="2721071"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«Попросить ‘продолжи с того места’»</a:t>
            </a:r>
          </a:p>
        </p:txBody>
      </p:sp>
      <p:sp>
        <p:nvSpPr>
          <p:cNvPr id="27" name="TextBox 26"/>
          <p:cNvSpPr txBox="1"/>
          <p:nvPr/>
        </p:nvSpPr>
        <p:spPr>
          <a:xfrm>
            <a:off x="3498311" y="4813401"/>
            <a:ext cx="3153765"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Внутри одной непрерывной сессии, до сжатия</a:t>
            </a:r>
          </a:p>
        </p:txBody>
      </p:sp>
      <p:sp>
        <p:nvSpPr>
          <p:cNvPr id="28" name="TextBox 27"/>
          <p:cNvSpPr txBox="1"/>
          <p:nvPr/>
        </p:nvSpPr>
        <p:spPr>
          <a:xfrm>
            <a:off x="6743517" y="4813401"/>
            <a:ext cx="4668194" cy="517550"/>
          </a:xfrm>
          <a:prstGeom prst="rect">
            <a:avLst/>
          </a:prstGeom>
          <a:noFill/>
        </p:spPr>
        <p:txBody>
          <a:bodyPr wrap="square" lIns="0" rIns="0" tIns="0" bIns="0" anchor="ctr">
            <a:spAutoFit/>
          </a:bodyPr>
          <a:lstStyle/>
          <a:p>
            <a:pPr algn="l">
              <a:lnSpc>
                <a:spcPct val="115000"/>
              </a:lnSpc>
            </a:pPr>
            <a:r>
              <a:rPr sz="1000" b="0" i="0">
                <a:solidFill>
                  <a:srgbClr val="21295C"/>
                </a:solidFill>
                <a:latin typeface="Arial"/>
              </a:rPr>
              <a:t>После сжатия или в новой сессии буквально нечего продолжать</a:t>
            </a:r>
          </a:p>
        </p:txBody>
      </p:sp>
      <p:sp>
        <p:nvSpPr>
          <p:cNvPr id="29" name="Rounded Rectangle 28"/>
          <p:cNvSpPr/>
          <p:nvPr/>
        </p:nvSpPr>
        <p:spPr>
          <a:xfrm>
            <a:off x="502920" y="5660136"/>
            <a:ext cx="11183112" cy="77724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5733288"/>
            <a:ext cx="10780776" cy="630936"/>
          </a:xfrm>
          <a:prstGeom prst="rect">
            <a:avLst/>
          </a:prstGeom>
          <a:noFill/>
        </p:spPr>
        <p:txBody>
          <a:bodyPr wrap="square" lIns="0" rIns="0" tIns="0" bIns="0" anchor="ctr">
            <a:spAutoFit/>
          </a:bodyPr>
          <a:lstStyle/>
          <a:p>
            <a:pPr algn="l">
              <a:lnSpc>
                <a:spcPct val="122000"/>
              </a:lnSpc>
            </a:pPr>
            <a:r>
              <a:rPr sz="1250" b="1" i="0">
                <a:solidFill>
                  <a:srgbClr val="21295C"/>
                </a:solidFill>
                <a:latin typeface="Arial"/>
              </a:rPr>
              <a:t>целевой ответ — строка в CLAUDE.md, адресованная агенту, с явной оговоркой об упрощении до файла</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2.3 · РЕШЕНИЕ</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Новое в этом кейсе — не файл, а три строки в CLAUDE.md: они говорят агенту, когда в этот файл писать</a:t>
            </a:r>
          </a:p>
        </p:txBody>
      </p:sp>
      <p:sp>
        <p:nvSpPr>
          <p:cNvPr id="4" name="Rounded Rectangle 3"/>
          <p:cNvSpPr/>
          <p:nvPr/>
        </p:nvSpPr>
        <p:spPr>
          <a:xfrm>
            <a:off x="502920" y="1810512"/>
            <a:ext cx="4206240" cy="356616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011680"/>
            <a:ext cx="3803903"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CLAUDE.md — добавлено</a:t>
            </a:r>
          </a:p>
        </p:txBody>
      </p:sp>
      <p:sp>
        <p:nvSpPr>
          <p:cNvPr id="6" name="TextBox 5"/>
          <p:cNvSpPr txBox="1"/>
          <p:nvPr/>
        </p:nvSpPr>
        <p:spPr>
          <a:xfrm>
            <a:off x="704088" y="2322576"/>
            <a:ext cx="3803903" cy="2852928"/>
          </a:xfrm>
          <a:prstGeom prst="rect">
            <a:avLst/>
          </a:prstGeom>
          <a:noFill/>
        </p:spPr>
        <p:txBody>
          <a:bodyPr wrap="square" lIns="0" rIns="0" tIns="0" bIns="0" anchor="t">
            <a:spAutoFit/>
          </a:bodyPr>
          <a:lstStyle/>
          <a:p>
            <a:pPr algn="l">
              <a:lnSpc>
                <a:spcPct val="122000"/>
              </a:lnSpc>
              <a:spcAft>
                <a:spcPts val="200"/>
              </a:spcAft>
            </a:pPr>
            <a:r>
              <a:rPr sz="1019" b="1" i="0">
                <a:solidFill>
                  <a:srgbClr val="028090"/>
                </a:solidFill>
                <a:latin typeface="Consolas"/>
              </a:rPr>
              <a:t>## Задачная память</a:t>
            </a:r>
          </a:p>
          <a:p>
            <a:pPr algn="l">
              <a:lnSpc>
                <a:spcPct val="122000"/>
              </a:lnSpc>
              <a:spcAft>
                <a:spcPts val="200"/>
              </a:spcAft>
            </a:pPr>
            <a:r>
              <a:rPr sz="1019" b="0" i="0">
                <a:solidFill>
                  <a:srgbClr val="E3E9F2"/>
                </a:solidFill>
                <a:latin typeface="Consolas"/>
              </a:rPr>
              <a:t>- файл .tasks/active/&lt;задача&gt;.md:</a:t>
            </a:r>
          </a:p>
          <a:p>
            <a:pPr algn="l">
              <a:lnSpc>
                <a:spcPct val="122000"/>
              </a:lnSpc>
              <a:spcAft>
                <a:spcPts val="200"/>
              </a:spcAft>
            </a:pPr>
            <a:r>
              <a:rPr sz="1019" b="0" i="0">
                <a:solidFill>
                  <a:srgbClr val="E3E9F2"/>
                </a:solidFill>
                <a:latin typeface="Consolas"/>
              </a:rPr>
              <a:t>  план, лог хода, результаты</a:t>
            </a:r>
          </a:p>
          <a:p>
            <a:pPr algn="l">
              <a:lnSpc>
                <a:spcPct val="122000"/>
              </a:lnSpc>
              <a:spcAft>
                <a:spcPts val="200"/>
              </a:spcAft>
            </a:pPr>
            <a:r>
              <a:rPr sz="1019" b="0" i="0">
                <a:solidFill>
                  <a:srgbClr val="E3E9F2"/>
                </a:solidFill>
                <a:latin typeface="Consolas"/>
              </a:rPr>
              <a:t>- договорённость дописывать в</a:t>
            </a:r>
          </a:p>
          <a:p>
            <a:pPr algn="l">
              <a:lnSpc>
                <a:spcPct val="122000"/>
              </a:lnSpc>
              <a:spcAft>
                <a:spcPts val="200"/>
              </a:spcAft>
            </a:pPr>
            <a:r>
              <a:rPr sz="1019" b="0" i="0">
                <a:solidFill>
                  <a:srgbClr val="E3E9F2"/>
                </a:solidFill>
                <a:latin typeface="Consolas"/>
              </a:rPr>
              <a:t>  «Лог хода» сразу, тем же ответом</a:t>
            </a:r>
          </a:p>
          <a:p>
            <a:pPr algn="l">
              <a:lnSpc>
                <a:spcPct val="122000"/>
              </a:lnSpc>
              <a:spcAft>
                <a:spcPts val="200"/>
              </a:spcAft>
            </a:pPr>
            <a:r>
              <a:rPr sz="1019" b="0" i="0">
                <a:solidFill>
                  <a:srgbClr val="E3E9F2"/>
                </a:solidFill>
                <a:latin typeface="Consolas"/>
              </a:rPr>
              <a:t>- в начале и в конце сессии сверять</a:t>
            </a:r>
          </a:p>
          <a:p>
            <a:pPr algn="l">
              <a:lnSpc>
                <a:spcPct val="122000"/>
              </a:lnSpc>
              <a:spcAft>
                <a:spcPts val="200"/>
              </a:spcAft>
            </a:pPr>
            <a:r>
              <a:rPr sz="1019" b="0" i="0">
                <a:solidFill>
                  <a:srgbClr val="E3E9F2"/>
                </a:solidFill>
                <a:latin typeface="Consolas"/>
              </a:rPr>
              <a:t>  план с репозиторием, строка</a:t>
            </a:r>
          </a:p>
          <a:p>
            <a:pPr algn="l">
              <a:lnSpc>
                <a:spcPct val="122000"/>
              </a:lnSpc>
              <a:spcAft>
                <a:spcPts val="200"/>
              </a:spcAft>
            </a:pPr>
            <a:r>
              <a:rPr sz="1019" b="0" i="0">
                <a:solidFill>
                  <a:srgbClr val="E3E9F2"/>
                </a:solidFill>
                <a:latin typeface="Consolas"/>
              </a:rPr>
              <a:t>  «Сверено: &lt;дата&gt;»</a:t>
            </a:r>
          </a:p>
        </p:txBody>
      </p:sp>
      <p:sp>
        <p:nvSpPr>
          <p:cNvPr id="7" name="Rounded Rectangle 6"/>
          <p:cNvSpPr/>
          <p:nvPr/>
        </p:nvSpPr>
        <p:spPr>
          <a:xfrm>
            <a:off x="4965192" y="1810512"/>
            <a:ext cx="6720840" cy="3566160"/>
          </a:xfrm>
          <a:prstGeom prst="roundRect">
            <a:avLst>
              <a:gd name="adj" fmla="val 3500"/>
            </a:avLst>
          </a:prstGeom>
          <a:solidFill>
            <a:srgbClr val="161C3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59" y="2011680"/>
            <a:ext cx="6318504" cy="274320"/>
          </a:xfrm>
          <a:prstGeom prst="rect">
            <a:avLst/>
          </a:prstGeom>
          <a:noFill/>
        </p:spPr>
        <p:txBody>
          <a:bodyPr wrap="square" lIns="0" rIns="0" tIns="0" bIns="0" anchor="t">
            <a:spAutoFit/>
          </a:bodyPr>
          <a:lstStyle/>
          <a:p>
            <a:pPr algn="l">
              <a:lnSpc>
                <a:spcPct val="115000"/>
              </a:lnSpc>
            </a:pPr>
            <a:r>
              <a:rPr sz="1100" b="1" i="0">
                <a:solidFill>
                  <a:srgbClr val="028090"/>
                </a:solidFill>
                <a:latin typeface="Consolas"/>
              </a:rPr>
              <a:t>.tasks/active/signup-wizard.md</a:t>
            </a:r>
          </a:p>
        </p:txBody>
      </p:sp>
      <p:sp>
        <p:nvSpPr>
          <p:cNvPr id="9" name="TextBox 8"/>
          <p:cNvSpPr txBox="1"/>
          <p:nvPr/>
        </p:nvSpPr>
        <p:spPr>
          <a:xfrm>
            <a:off x="5166359" y="2322576"/>
            <a:ext cx="6318504" cy="2852928"/>
          </a:xfrm>
          <a:prstGeom prst="rect">
            <a:avLst/>
          </a:prstGeom>
          <a:noFill/>
        </p:spPr>
        <p:txBody>
          <a:bodyPr wrap="square" lIns="0" rIns="0" tIns="0" bIns="0" anchor="t">
            <a:spAutoFit/>
          </a:bodyPr>
          <a:lstStyle/>
          <a:p>
            <a:pPr algn="l">
              <a:lnSpc>
                <a:spcPct val="112000"/>
              </a:lnSpc>
              <a:spcAft>
                <a:spcPts val="200"/>
              </a:spcAft>
            </a:pPr>
            <a:r>
              <a:rPr sz="930" b="1" i="0">
                <a:solidFill>
                  <a:srgbClr val="028090"/>
                </a:solidFill>
                <a:latin typeface="Consolas"/>
              </a:rPr>
              <a:t># Задача: разбить форму на пошаговый визард</a:t>
            </a:r>
          </a:p>
          <a:p>
            <a:pPr algn="l">
              <a:lnSpc>
                <a:spcPct val="112000"/>
              </a:lnSpc>
              <a:spcAft>
                <a:spcPts val="200"/>
              </a:spcAft>
            </a:pPr>
            <a:r>
              <a:rPr sz="930" b="0" i="0">
                <a:solidFill>
                  <a:srgbClr val="E3E9F2"/>
                </a:solidFill>
                <a:latin typeface="Consolas"/>
              </a:rPr>
              <a:t/>
            </a:r>
          </a:p>
          <a:p>
            <a:pPr algn="l">
              <a:lnSpc>
                <a:spcPct val="112000"/>
              </a:lnSpc>
              <a:spcAft>
                <a:spcPts val="200"/>
              </a:spcAft>
            </a:pPr>
            <a:r>
              <a:rPr sz="930" b="1" i="0">
                <a:solidFill>
                  <a:srgbClr val="028090"/>
                </a:solidFill>
                <a:latin typeface="Consolas"/>
              </a:rPr>
              <a:t>## План</a:t>
            </a:r>
          </a:p>
          <a:p>
            <a:pPr algn="l">
              <a:lnSpc>
                <a:spcPct val="112000"/>
              </a:lnSpc>
              <a:spcAft>
                <a:spcPts val="200"/>
              </a:spcAft>
            </a:pPr>
            <a:r>
              <a:rPr sz="930" b="0" i="0">
                <a:solidFill>
                  <a:srgbClr val="E3E9F2"/>
                </a:solidFill>
                <a:latin typeface="Consolas"/>
              </a:rPr>
              <a:t>1. [x] Разметка трёх шагов</a:t>
            </a:r>
          </a:p>
          <a:p>
            <a:pPr algn="l">
              <a:lnSpc>
                <a:spcPct val="112000"/>
              </a:lnSpc>
              <a:spcAft>
                <a:spcPts val="200"/>
              </a:spcAft>
            </a:pPr>
            <a:r>
              <a:rPr sz="930" b="0" i="0">
                <a:solidFill>
                  <a:srgbClr val="E3E9F2"/>
                </a:solidFill>
                <a:latin typeface="Consolas"/>
              </a:rPr>
              <a:t>2. [x] Перенос текущей валидации</a:t>
            </a:r>
          </a:p>
          <a:p>
            <a:pPr algn="l">
              <a:lnSpc>
                <a:spcPct val="112000"/>
              </a:lnSpc>
              <a:spcAft>
                <a:spcPts val="200"/>
              </a:spcAft>
            </a:pPr>
            <a:r>
              <a:rPr sz="930" b="0" i="0">
                <a:solidFill>
                  <a:srgbClr val="E3E9F2"/>
                </a:solidFill>
                <a:latin typeface="Consolas"/>
              </a:rPr>
              <a:t>3. [ ] Состояние текущего шага (JS)</a:t>
            </a:r>
          </a:p>
          <a:p>
            <a:pPr algn="l">
              <a:lnSpc>
                <a:spcPct val="112000"/>
              </a:lnSpc>
              <a:spcAft>
                <a:spcPts val="200"/>
              </a:spcAft>
            </a:pPr>
            <a:r>
              <a:rPr sz="930" b="0" i="0">
                <a:solidFill>
                  <a:srgbClr val="E3E9F2"/>
                </a:solidFill>
                <a:latin typeface="Consolas"/>
              </a:rPr>
              <a:t/>
            </a:r>
          </a:p>
          <a:p>
            <a:pPr algn="l">
              <a:lnSpc>
                <a:spcPct val="112000"/>
              </a:lnSpc>
              <a:spcAft>
                <a:spcPts val="200"/>
              </a:spcAft>
            </a:pPr>
            <a:r>
              <a:rPr sz="930" b="1" i="0">
                <a:solidFill>
                  <a:srgbClr val="028090"/>
                </a:solidFill>
                <a:latin typeface="Consolas"/>
              </a:rPr>
              <a:t>## Лог хода</a:t>
            </a:r>
          </a:p>
          <a:p>
            <a:pPr algn="l">
              <a:lnSpc>
                <a:spcPct val="112000"/>
              </a:lnSpc>
              <a:spcAft>
                <a:spcPts val="200"/>
              </a:spcAft>
            </a:pPr>
            <a:r>
              <a:rPr sz="930" b="1" i="0">
                <a:solidFill>
                  <a:srgbClr val="F0AB00"/>
                </a:solidFill>
                <a:latin typeface="Consolas"/>
              </a:rPr>
              <a:t>- 2027-01-26: шаги 1-2 закрыты. Состояние</a:t>
            </a:r>
          </a:p>
          <a:p>
            <a:pPr algn="l">
              <a:lnSpc>
                <a:spcPct val="112000"/>
              </a:lnSpc>
              <a:spcAft>
                <a:spcPts val="200"/>
              </a:spcAft>
            </a:pPr>
            <a:r>
              <a:rPr sz="930" b="1" i="0">
                <a:solidFill>
                  <a:srgbClr val="F0AB00"/>
                </a:solidFill>
                <a:latin typeface="Consolas"/>
              </a:rPr>
              <a:t>  визарда — sessionStorage, ключ signup-</a:t>
            </a:r>
          </a:p>
          <a:p>
            <a:pPr algn="l">
              <a:lnSpc>
                <a:spcPct val="112000"/>
              </a:lnSpc>
              <a:spcAft>
                <a:spcPts val="200"/>
              </a:spcAft>
            </a:pPr>
            <a:r>
              <a:rPr sz="930" b="1" i="0">
                <a:solidFill>
                  <a:srgbClr val="F0AB00"/>
                </a:solidFill>
                <a:latin typeface="Consolas"/>
              </a:rPr>
              <a:t>  wizard. Решено по ходу, в плане нет.</a:t>
            </a:r>
          </a:p>
          <a:p>
            <a:pPr algn="l">
              <a:lnSpc>
                <a:spcPct val="112000"/>
              </a:lnSpc>
              <a:spcAft>
                <a:spcPts val="200"/>
              </a:spcAft>
            </a:pPr>
            <a:r>
              <a:rPr sz="930" b="0" i="0">
                <a:solidFill>
                  <a:srgbClr val="E3E9F2"/>
                </a:solidFill>
                <a:latin typeface="Consolas"/>
              </a:rPr>
              <a:t>- 2027-01-28: начат шаг 3 — контекст сжат.</a:t>
            </a:r>
          </a:p>
          <a:p>
            <a:pPr algn="l">
              <a:lnSpc>
                <a:spcPct val="112000"/>
              </a:lnSpc>
              <a:spcAft>
                <a:spcPts val="200"/>
              </a:spcAft>
            </a:pPr>
            <a:r>
              <a:rPr sz="930" b="0" i="0">
                <a:solidFill>
                  <a:srgbClr val="E3E9F2"/>
                </a:solidFill>
                <a:latin typeface="Consolas"/>
              </a:rPr>
              <a:t/>
            </a:r>
          </a:p>
          <a:p>
            <a:pPr algn="l">
              <a:lnSpc>
                <a:spcPct val="112000"/>
              </a:lnSpc>
              <a:spcAft>
                <a:spcPts val="200"/>
              </a:spcAft>
            </a:pPr>
            <a:r>
              <a:rPr sz="930" b="1" i="0">
                <a:solidFill>
                  <a:srgbClr val="028090"/>
                </a:solidFill>
                <a:latin typeface="Consolas"/>
              </a:rPr>
              <a:t>## Сверено</a:t>
            </a:r>
          </a:p>
          <a:p>
            <a:pPr algn="l">
              <a:lnSpc>
                <a:spcPct val="112000"/>
              </a:lnSpc>
              <a:spcAft>
                <a:spcPts val="200"/>
              </a:spcAft>
            </a:pPr>
            <a:r>
              <a:rPr sz="930" b="0" i="0">
                <a:solidFill>
                  <a:srgbClr val="E3E9F2"/>
                </a:solidFill>
                <a:latin typeface="Consolas"/>
              </a:rPr>
              <a:t>2027-01-28: план сверен, расхождений нет.</a:t>
            </a:r>
          </a:p>
        </p:txBody>
      </p:sp>
      <p:sp>
        <p:nvSpPr>
          <p:cNvPr id="10" name="TextBox 9"/>
          <p:cNvSpPr txBox="1"/>
          <p:nvPr/>
        </p:nvSpPr>
        <p:spPr>
          <a:xfrm>
            <a:off x="502920" y="5513832"/>
            <a:ext cx="11183112" cy="1298448"/>
          </a:xfrm>
          <a:prstGeom prst="rect">
            <a:avLst/>
          </a:prstGeom>
          <a:noFill/>
        </p:spPr>
        <p:txBody>
          <a:bodyPr wrap="square" lIns="0" rIns="0" tIns="0" bIns="0" anchor="t">
            <a:spAutoFit/>
          </a:bodyPr>
          <a:lstStyle/>
          <a:p>
            <a:pPr algn="ctr">
              <a:lnSpc>
                <a:spcPct val="120000"/>
              </a:lnSpc>
            </a:pPr>
            <a:r>
              <a:rPr sz="1030" b="0" i="1">
                <a:solidFill>
                  <a:srgbClr val="6B7685"/>
                </a:solidFill>
                <a:latin typeface="Arial"/>
              </a:rPr>
              <a:t>иллюстративный пример, не захваченный вживую · правило в тексте — просьба, не закон · упрощение до файла — масштабируется до папки, подробнее за пределами этого занятия</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2.3 · ПРОВАЛ</a:t>
            </a:r>
          </a:p>
        </p:txBody>
      </p:sp>
      <p:sp>
        <p:nvSpPr>
          <p:cNvPr id="3" name="TextBox 2"/>
          <p:cNvSpPr txBox="1"/>
          <p:nvPr/>
        </p:nvSpPr>
        <p:spPr>
          <a:xfrm>
            <a:off x="502920" y="640080"/>
            <a:ext cx="11183112" cy="1005840"/>
          </a:xfrm>
          <a:prstGeom prst="rect">
            <a:avLst/>
          </a:prstGeom>
          <a:noFill/>
        </p:spPr>
        <p:txBody>
          <a:bodyPr wrap="square" lIns="0" rIns="0" tIns="0" bIns="0" anchor="t">
            <a:spAutoFit/>
          </a:bodyPr>
          <a:lstStyle/>
          <a:p>
            <a:pPr algn="l">
              <a:lnSpc>
                <a:spcPct val="114000"/>
              </a:lnSpc>
            </a:pPr>
            <a:r>
              <a:rPr sz="1650" b="1" i="0">
                <a:solidFill>
                  <a:srgbClr val="21295C"/>
                </a:solidFill>
                <a:latin typeface="Arial"/>
              </a:rPr>
              <a:t>Плохой план хуже отсутствия плана вообще — и это подтверждено количественно, а не только интуицией</a:t>
            </a:r>
          </a:p>
        </p:txBody>
      </p:sp>
      <p:sp>
        <p:nvSpPr>
          <p:cNvPr id="4" name="Rounded Rectangle 3"/>
          <p:cNvSpPr/>
          <p:nvPr/>
        </p:nvSpPr>
        <p:spPr>
          <a:xfrm>
            <a:off x="502920" y="1810512"/>
            <a:ext cx="11183112" cy="1737360"/>
          </a:xfrm>
          <a:prstGeom prst="roundRect">
            <a:avLst>
              <a:gd name="adj" fmla="val 1754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93392"/>
            <a:ext cx="4470135" cy="329184"/>
          </a:xfrm>
          <a:prstGeom prst="rect">
            <a:avLst/>
          </a:prstGeom>
          <a:noFill/>
        </p:spPr>
        <p:txBody>
          <a:bodyPr wrap="square" lIns="0" rIns="0" tIns="0" bIns="0" anchor="t">
            <a:spAutoFit/>
          </a:bodyPr>
          <a:lstStyle/>
          <a:p>
            <a:pPr algn="l">
              <a:lnSpc>
                <a:spcPct val="115000"/>
              </a:lnSpc>
            </a:pPr>
            <a:r>
              <a:rPr sz="1100" b="1" i="0">
                <a:solidFill>
                  <a:srgbClr val="6B7685"/>
                </a:solidFill>
                <a:latin typeface="Arial"/>
              </a:rPr>
              <a:t>Источник</a:t>
            </a:r>
          </a:p>
        </p:txBody>
      </p:sp>
      <p:sp>
        <p:nvSpPr>
          <p:cNvPr id="6" name="TextBox 5"/>
          <p:cNvSpPr txBox="1"/>
          <p:nvPr/>
        </p:nvSpPr>
        <p:spPr>
          <a:xfrm>
            <a:off x="5229087" y="1993392"/>
            <a:ext cx="6200912" cy="329184"/>
          </a:xfrm>
          <a:prstGeom prst="rect">
            <a:avLst/>
          </a:prstGeom>
          <a:noFill/>
        </p:spPr>
        <p:txBody>
          <a:bodyPr wrap="square" lIns="0" rIns="0" tIns="0" bIns="0" anchor="t">
            <a:spAutoFit/>
          </a:bodyPr>
          <a:lstStyle/>
          <a:p>
            <a:pPr algn="l">
              <a:lnSpc>
                <a:spcPct val="115000"/>
              </a:lnSpc>
            </a:pPr>
            <a:r>
              <a:rPr sz="1100" b="1" i="0">
                <a:solidFill>
                  <a:srgbClr val="6B7685"/>
                </a:solidFill>
                <a:latin typeface="Arial"/>
              </a:rPr>
              <a:t>Результат</a:t>
            </a:r>
          </a:p>
        </p:txBody>
      </p:sp>
      <p:sp>
        <p:nvSpPr>
          <p:cNvPr id="7" name="TextBox 6"/>
          <p:cNvSpPr txBox="1"/>
          <p:nvPr/>
        </p:nvSpPr>
        <p:spPr>
          <a:xfrm>
            <a:off x="685800" y="2377440"/>
            <a:ext cx="4451847" cy="493775"/>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Evaluating Plan Compliance, 21 120 траекторий, SWE-bench Verified/Pro</a:t>
            </a:r>
          </a:p>
        </p:txBody>
      </p:sp>
      <p:sp>
        <p:nvSpPr>
          <p:cNvPr id="8" name="TextBox 7"/>
          <p:cNvSpPr txBox="1"/>
          <p:nvPr/>
        </p:nvSpPr>
        <p:spPr>
          <a:xfrm>
            <a:off x="5229087" y="2377440"/>
            <a:ext cx="6182624" cy="493775"/>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«bad plans hurt performance more than no plan at all»; комплаенс к плану падает ~на 13 п.п. на сложном бенчмарке</a:t>
            </a:r>
          </a:p>
        </p:txBody>
      </p:sp>
      <p:cxnSp>
        <p:nvCxnSpPr>
          <p:cNvPr id="9" name="Connector 8"/>
          <p:cNvCxnSpPr/>
          <p:nvPr/>
        </p:nvCxnSpPr>
        <p:spPr>
          <a:xfrm>
            <a:off x="685800" y="28712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2871216"/>
            <a:ext cx="4451847" cy="493775"/>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Fresh Memory, Stale Plans, 30 контролируемых живых сценариев</a:t>
            </a:r>
          </a:p>
        </p:txBody>
      </p:sp>
      <p:sp>
        <p:nvSpPr>
          <p:cNvPr id="11" name="TextBox 10"/>
          <p:cNvSpPr txBox="1"/>
          <p:nvPr/>
        </p:nvSpPr>
        <p:spPr>
          <a:xfrm>
            <a:off x="5229087" y="2871216"/>
            <a:ext cx="6182624" cy="493775"/>
          </a:xfrm>
          <a:prstGeom prst="rect">
            <a:avLst/>
          </a:prstGeom>
          <a:noFill/>
        </p:spPr>
        <p:txBody>
          <a:bodyPr wrap="square" lIns="0" rIns="0" tIns="0" bIns="0" anchor="ctr">
            <a:spAutoFit/>
          </a:bodyPr>
          <a:lstStyle/>
          <a:p>
            <a:pPr algn="l">
              <a:lnSpc>
                <a:spcPct val="115000"/>
              </a:lnSpc>
            </a:pPr>
            <a:r>
              <a:rPr sz="1030" b="0" i="0">
                <a:solidFill>
                  <a:srgbClr val="21295C"/>
                </a:solidFill>
                <a:latin typeface="Arial"/>
              </a:rPr>
              <a:t>без проверки актуальности плана исполнитель действовал по устаревшему плану во всех 30 случаях (100%)</a:t>
            </a:r>
          </a:p>
        </p:txBody>
      </p:sp>
      <p:sp>
        <p:nvSpPr>
          <p:cNvPr id="12" name="Rounded Rectangle 11"/>
          <p:cNvSpPr/>
          <p:nvPr/>
        </p:nvSpPr>
        <p:spPr>
          <a:xfrm>
            <a:off x="502920" y="3712464"/>
            <a:ext cx="11183112" cy="1691640"/>
          </a:xfrm>
          <a:prstGeom prst="roundRect">
            <a:avLst>
              <a:gd name="adj" fmla="val 18018"/>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lert-octagon-21295C-96.png"/>
          <p:cNvPicPr>
            <a:picLocks noChangeAspect="1"/>
          </p:cNvPicPr>
          <p:nvPr/>
        </p:nvPicPr>
        <p:blipFill>
          <a:blip r:embed="rId2"/>
          <a:stretch>
            <a:fillRect/>
          </a:stretch>
        </p:blipFill>
        <p:spPr>
          <a:xfrm>
            <a:off x="704088" y="3913632"/>
            <a:ext cx="365760" cy="365760"/>
          </a:xfrm>
          <a:prstGeom prst="rect">
            <a:avLst/>
          </a:prstGeom>
        </p:spPr>
      </p:pic>
      <p:sp>
        <p:nvSpPr>
          <p:cNvPr id="14" name="TextBox 13"/>
          <p:cNvSpPr txBox="1"/>
          <p:nvPr/>
        </p:nvSpPr>
        <p:spPr>
          <a:xfrm>
            <a:off x="1197864" y="3895344"/>
            <a:ext cx="10287000" cy="34747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Кейс-стади «Index Sickness» (n=1, честная оговорка)</a:t>
            </a:r>
          </a:p>
        </p:txBody>
      </p:sp>
      <p:sp>
        <p:nvSpPr>
          <p:cNvPr id="15" name="TextBox 14"/>
          <p:cNvSpPr txBox="1"/>
          <p:nvPr/>
        </p:nvSpPr>
        <p:spPr>
          <a:xfrm>
            <a:off x="704088" y="4315968"/>
            <a:ext cx="10780776" cy="886968"/>
          </a:xfrm>
          <a:prstGeom prst="rect">
            <a:avLst/>
          </a:prstGeom>
          <a:noFill/>
        </p:spPr>
        <p:txBody>
          <a:bodyPr wrap="square" lIns="0" rIns="0" tIns="0" bIns="0" anchor="t">
            <a:spAutoFit/>
          </a:bodyPr>
          <a:lstStyle/>
          <a:p>
            <a:pPr algn="l">
              <a:lnSpc>
                <a:spcPct val="128000"/>
              </a:lnSpc>
            </a:pPr>
            <a:r>
              <a:rPr sz="1200" b="0" i="0">
                <a:solidFill>
                  <a:srgbClr val="21295C"/>
                </a:solidFill>
                <a:latin typeface="Arial"/>
              </a:rPr>
              <a:t>Реальный проект, 391 сессия за месяц. Решение — физическое разделение baseline-инструкций и append-only лога сессии. Результат: объём AI-инструкций сократился ~на 75%, рецидивов не было за следующие ~150 сессий. n=1 action research одного автора, не контролируемый эксперимент.</a:t>
            </a:r>
          </a:p>
        </p:txBody>
      </p:sp>
      <p:sp>
        <p:nvSpPr>
          <p:cNvPr id="16" name="TextBox 15"/>
          <p:cNvSpPr txBox="1"/>
          <p:nvPr/>
        </p:nvSpPr>
        <p:spPr>
          <a:xfrm>
            <a:off x="502920" y="5568696"/>
            <a:ext cx="11183112" cy="832103"/>
          </a:xfrm>
          <a:prstGeom prst="rect">
            <a:avLst/>
          </a:prstGeom>
          <a:noFill/>
        </p:spPr>
        <p:txBody>
          <a:bodyPr wrap="square" lIns="0" rIns="0" tIns="0" bIns="0" anchor="t">
            <a:spAutoFit/>
          </a:bodyPr>
          <a:lstStyle/>
          <a:p>
            <a:pPr algn="ctr">
              <a:lnSpc>
                <a:spcPct val="125000"/>
              </a:lnSpc>
            </a:pPr>
            <a:r>
              <a:rPr sz="1150" b="0" i="1">
                <a:solidFill>
                  <a:srgbClr val="6B7685"/>
                </a:solidFill>
                <a:latin typeface="Arial"/>
              </a:rPr>
              <a:t>практика «файл/папка на задачу» пока не мейнстрим — 2853 реальных репозитория, доминируют статические context-файлы</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КЕЙС 2.3 · КРИТЕРИЙ</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Одного файла на задачу достаточно, пока задача линейная и её ведёт один агент и один разработчик — иначе оправдан переход к папке</a:t>
            </a:r>
          </a:p>
        </p:txBody>
      </p:sp>
      <p:sp>
        <p:nvSpPr>
          <p:cNvPr id="4" name="Rounded Rectangle 3"/>
          <p:cNvSpPr/>
          <p:nvPr/>
        </p:nvSpPr>
        <p:spPr>
          <a:xfrm>
            <a:off x="502920" y="1993392"/>
            <a:ext cx="11183112" cy="2322576"/>
          </a:xfrm>
          <a:prstGeom prst="roundRect">
            <a:avLst>
              <a:gd name="adj" fmla="val 1312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2231136"/>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5" y="2157984"/>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Задача линейная: шаги идут по порядку, не параллельно.</a:t>
            </a:r>
          </a:p>
        </p:txBody>
      </p:sp>
      <p:sp>
        <p:nvSpPr>
          <p:cNvPr id="7" name="Rounded Rectangle 6"/>
          <p:cNvSpPr/>
          <p:nvPr/>
        </p:nvSpPr>
        <p:spPr>
          <a:xfrm>
            <a:off x="713232" y="2743200"/>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5" y="2670048"/>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Работает один агент (без субагентов/параллельных веток) и один разработчик.</a:t>
            </a:r>
          </a:p>
        </p:txBody>
      </p:sp>
      <p:sp>
        <p:nvSpPr>
          <p:cNvPr id="9" name="Rounded Rectangle 8"/>
          <p:cNvSpPr/>
          <p:nvPr/>
        </p:nvSpPr>
        <p:spPr>
          <a:xfrm>
            <a:off x="713232" y="3255264"/>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3182112"/>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Лог хода помещается в разумный файл (сотни строк, не тысячи) без потери читаемости.</a:t>
            </a:r>
          </a:p>
        </p:txBody>
      </p:sp>
      <p:sp>
        <p:nvSpPr>
          <p:cNvPr id="11" name="Rounded Rectangle 10"/>
          <p:cNvSpPr/>
          <p:nvPr/>
        </p:nvSpPr>
        <p:spPr>
          <a:xfrm>
            <a:off x="713232" y="3767328"/>
            <a:ext cx="201168" cy="201168"/>
          </a:xfrm>
          <a:prstGeom prst="roundRect">
            <a:avLst>
              <a:gd name="adj" fmla="val 2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 y="3694176"/>
            <a:ext cx="10424160" cy="438912"/>
          </a:xfrm>
          <a:prstGeom prst="rect">
            <a:avLst/>
          </a:prstGeom>
          <a:noFill/>
        </p:spPr>
        <p:txBody>
          <a:bodyPr wrap="square" lIns="0" rIns="0" tIns="0" bIns="0" anchor="ctr">
            <a:spAutoFit/>
          </a:bodyPr>
          <a:lstStyle/>
          <a:p>
            <a:pPr algn="l">
              <a:lnSpc>
                <a:spcPct val="118000"/>
              </a:lnSpc>
            </a:pPr>
            <a:r>
              <a:rPr sz="1350" b="0" i="0">
                <a:solidFill>
                  <a:srgbClr val="21295C"/>
                </a:solidFill>
                <a:latin typeface="Arial"/>
              </a:rPr>
              <a:t>Результатов и артефактов на выходе немного — не нужен отдельный файл на каждый.</a:t>
            </a:r>
          </a:p>
        </p:txBody>
      </p:sp>
      <p:sp>
        <p:nvSpPr>
          <p:cNvPr id="13" name="Rounded Rectangle 12"/>
          <p:cNvSpPr/>
          <p:nvPr/>
        </p:nvSpPr>
        <p:spPr>
          <a:xfrm>
            <a:off x="502920" y="4498848"/>
            <a:ext cx="11183112" cy="1261872"/>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4572000"/>
            <a:ext cx="10780776" cy="1115568"/>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Если хотя бы половина пунктов неверна — переход к папке на задачу оправдан.</a:t>
            </a:r>
          </a:p>
        </p:txBody>
      </p:sp>
      <p:sp>
        <p:nvSpPr>
          <p:cNvPr id="15" name="TextBox 14"/>
          <p:cNvSpPr txBox="1"/>
          <p:nvPr/>
        </p:nvSpPr>
        <p:spPr>
          <a:xfrm>
            <a:off x="502920" y="5852159"/>
            <a:ext cx="11183112" cy="502920"/>
          </a:xfrm>
          <a:prstGeom prst="rect">
            <a:avLst/>
          </a:prstGeom>
          <a:noFill/>
        </p:spPr>
        <p:txBody>
          <a:bodyPr wrap="square" lIns="0" rIns="0" tIns="0" bIns="0" anchor="t">
            <a:spAutoFit/>
          </a:bodyPr>
          <a:lstStyle/>
          <a:p>
            <a:pPr algn="l">
              <a:lnSpc>
                <a:spcPct val="120000"/>
              </a:lnSpc>
            </a:pPr>
            <a:r>
              <a:rPr sz="1130" b="0" i="1">
                <a:solidFill>
                  <a:srgbClr val="6B7685"/>
                </a:solidFill>
                <a:latin typeface="Arial"/>
              </a:rPr>
              <a:t>честная оговорка: паттерн «файл/папка на задачу» пока не мейнстрим (2853 реальных репозитория, доминируют статические context-файлы) — практику продвигают отдельные лидеры, это не общепринятая норма</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РАЗДЕЛ 3 · СИНТЕЗ</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Шесть развилок сегодняшнего занятия делились на два типа: специфичное для проекта (ждать сигнала) и универсальная гигиена (заводить сразу, на день 0)</a:t>
            </a:r>
          </a:p>
        </p:txBody>
      </p:sp>
      <p:sp>
        <p:nvSpPr>
          <p:cNvPr id="4" name="Rounded Rectangle 3"/>
          <p:cNvSpPr/>
          <p:nvPr/>
        </p:nvSpPr>
        <p:spPr>
          <a:xfrm>
            <a:off x="502920" y="1993392"/>
            <a:ext cx="11183112" cy="3337560"/>
          </a:xfrm>
          <a:prstGeom prst="roundRect">
            <a:avLst>
              <a:gd name="adj" fmla="val 91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76272"/>
            <a:ext cx="792236"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Кейс</a:t>
            </a:r>
          </a:p>
        </p:txBody>
      </p:sp>
      <p:sp>
        <p:nvSpPr>
          <p:cNvPr id="6" name="TextBox 5"/>
          <p:cNvSpPr txBox="1"/>
          <p:nvPr/>
        </p:nvSpPr>
        <p:spPr>
          <a:xfrm>
            <a:off x="1551188" y="2176272"/>
            <a:ext cx="3929268"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Развилка</a:t>
            </a:r>
          </a:p>
        </p:txBody>
      </p:sp>
      <p:sp>
        <p:nvSpPr>
          <p:cNvPr id="7" name="TextBox 6"/>
          <p:cNvSpPr txBox="1"/>
          <p:nvPr/>
        </p:nvSpPr>
        <p:spPr>
          <a:xfrm>
            <a:off x="5553608" y="2176272"/>
            <a:ext cx="4253788"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Что мы записали</a:t>
            </a:r>
          </a:p>
        </p:txBody>
      </p:sp>
      <p:sp>
        <p:nvSpPr>
          <p:cNvPr id="8" name="TextBox 7"/>
          <p:cNvSpPr txBox="1"/>
          <p:nvPr/>
        </p:nvSpPr>
        <p:spPr>
          <a:xfrm>
            <a:off x="9880549" y="2176272"/>
            <a:ext cx="1549450" cy="329184"/>
          </a:xfrm>
          <a:prstGeom prst="rect">
            <a:avLst/>
          </a:prstGeom>
          <a:noFill/>
        </p:spPr>
        <p:txBody>
          <a:bodyPr wrap="square" lIns="0" rIns="0" tIns="0" bIns="0" anchor="t">
            <a:spAutoFit/>
          </a:bodyPr>
          <a:lstStyle/>
          <a:p>
            <a:pPr algn="l">
              <a:lnSpc>
                <a:spcPct val="115000"/>
              </a:lnSpc>
            </a:pPr>
            <a:r>
              <a:rPr sz="1150" b="1" i="0">
                <a:solidFill>
                  <a:srgbClr val="6B7685"/>
                </a:solidFill>
                <a:latin typeface="Arial"/>
              </a:rPr>
              <a:t>Когда</a:t>
            </a:r>
          </a:p>
        </p:txBody>
      </p:sp>
      <p:sp>
        <p:nvSpPr>
          <p:cNvPr id="9" name="Rectangle 8"/>
          <p:cNvSpPr/>
          <p:nvPr/>
        </p:nvSpPr>
        <p:spPr>
          <a:xfrm>
            <a:off x="557784" y="2560320"/>
            <a:ext cx="11073384" cy="431291"/>
          </a:xfrm>
          <a:prstGeom prst="rect">
            <a:avLst/>
          </a:prstGeom>
          <a:solidFill>
            <a:srgbClr val="E0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560320"/>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1.1</a:t>
            </a:r>
          </a:p>
        </p:txBody>
      </p:sp>
      <p:sp>
        <p:nvSpPr>
          <p:cNvPr id="11" name="TextBox 10"/>
          <p:cNvSpPr txBox="1"/>
          <p:nvPr/>
        </p:nvSpPr>
        <p:spPr>
          <a:xfrm>
            <a:off x="1551188" y="2560320"/>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Роль агента и общее описание репозитория</a:t>
            </a:r>
          </a:p>
        </p:txBody>
      </p:sp>
      <p:sp>
        <p:nvSpPr>
          <p:cNvPr id="12" name="TextBox 11"/>
          <p:cNvSpPr txBox="1"/>
          <p:nvPr/>
        </p:nvSpPr>
        <p:spPr>
          <a:xfrm>
            <a:off x="5553608" y="2560320"/>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Ничего — до первого реального сигнала</a:t>
            </a:r>
          </a:p>
        </p:txBody>
      </p:sp>
      <p:sp>
        <p:nvSpPr>
          <p:cNvPr id="13" name="TextBox 12"/>
          <p:cNvSpPr txBox="1"/>
          <p:nvPr/>
        </p:nvSpPr>
        <p:spPr>
          <a:xfrm>
            <a:off x="9880549" y="2560320"/>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по сигналу</a:t>
            </a:r>
          </a:p>
        </p:txBody>
      </p:sp>
      <p:cxnSp>
        <p:nvCxnSpPr>
          <p:cNvPr id="14" name="Connector 13"/>
          <p:cNvCxnSpPr/>
          <p:nvPr/>
        </p:nvCxnSpPr>
        <p:spPr>
          <a:xfrm>
            <a:off x="685800" y="299161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7784" y="2991612"/>
            <a:ext cx="11073384" cy="431291"/>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991612"/>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1.2</a:t>
            </a:r>
          </a:p>
        </p:txBody>
      </p:sp>
      <p:sp>
        <p:nvSpPr>
          <p:cNvPr id="17" name="TextBox 16"/>
          <p:cNvSpPr txBox="1"/>
          <p:nvPr/>
        </p:nvSpPr>
        <p:spPr>
          <a:xfrm>
            <a:off x="1551188" y="2991612"/>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Базовые процессы: гейт «готово» + цикл улучшения</a:t>
            </a:r>
          </a:p>
        </p:txBody>
      </p:sp>
      <p:sp>
        <p:nvSpPr>
          <p:cNvPr id="18" name="TextBox 17"/>
          <p:cNvSpPr txBox="1"/>
          <p:nvPr/>
        </p:nvSpPr>
        <p:spPr>
          <a:xfrm>
            <a:off x="5553608" y="2991612"/>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Гейт-фраза текстом в CLAUDE.md</a:t>
            </a:r>
          </a:p>
        </p:txBody>
      </p:sp>
      <p:sp>
        <p:nvSpPr>
          <p:cNvPr id="19" name="TextBox 18"/>
          <p:cNvSpPr txBox="1"/>
          <p:nvPr/>
        </p:nvSpPr>
        <p:spPr>
          <a:xfrm>
            <a:off x="9880549" y="2991612"/>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сразу</a:t>
            </a:r>
          </a:p>
        </p:txBody>
      </p:sp>
      <p:cxnSp>
        <p:nvCxnSpPr>
          <p:cNvPr id="20" name="Connector 19"/>
          <p:cNvCxnSpPr/>
          <p:nvPr/>
        </p:nvCxnSpPr>
        <p:spPr>
          <a:xfrm>
            <a:off x="685800" y="342290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57784" y="3422904"/>
            <a:ext cx="11073384" cy="431291"/>
          </a:xfrm>
          <a:prstGeom prst="rect">
            <a:avLst/>
          </a:prstGeom>
          <a:solidFill>
            <a:srgbClr val="E0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422904"/>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1.3</a:t>
            </a:r>
          </a:p>
        </p:txBody>
      </p:sp>
      <p:sp>
        <p:nvSpPr>
          <p:cNvPr id="23" name="TextBox 22"/>
          <p:cNvSpPr txBox="1"/>
          <p:nvPr/>
        </p:nvSpPr>
        <p:spPr>
          <a:xfrm>
            <a:off x="1551188" y="3422904"/>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Вложенные файлы инструкций по подпапкам</a:t>
            </a:r>
          </a:p>
        </p:txBody>
      </p:sp>
      <p:sp>
        <p:nvSpPr>
          <p:cNvPr id="24" name="TextBox 23"/>
          <p:cNvSpPr txBox="1"/>
          <p:nvPr/>
        </p:nvSpPr>
        <p:spPr>
          <a:xfrm>
            <a:off x="5553608" y="3422904"/>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Правило трёх адресов: функция → код, класс файлов → шаблон, проект → корень</a:t>
            </a:r>
          </a:p>
        </p:txBody>
      </p:sp>
      <p:sp>
        <p:nvSpPr>
          <p:cNvPr id="25" name="TextBox 24"/>
          <p:cNvSpPr txBox="1"/>
          <p:nvPr/>
        </p:nvSpPr>
        <p:spPr>
          <a:xfrm>
            <a:off x="9880549" y="3422904"/>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по сигналу</a:t>
            </a:r>
          </a:p>
        </p:txBody>
      </p:sp>
      <p:cxnSp>
        <p:nvCxnSpPr>
          <p:cNvPr id="26" name="Connector 25"/>
          <p:cNvCxnSpPr/>
          <p:nvPr/>
        </p:nvCxnSpPr>
        <p:spPr>
          <a:xfrm>
            <a:off x="685800" y="38541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57784" y="3854196"/>
            <a:ext cx="11073384" cy="431291"/>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3854196"/>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2.1</a:t>
            </a:r>
          </a:p>
        </p:txBody>
      </p:sp>
      <p:sp>
        <p:nvSpPr>
          <p:cNvPr id="29" name="TextBox 28"/>
          <p:cNvSpPr txBox="1"/>
          <p:nvPr/>
        </p:nvSpPr>
        <p:spPr>
          <a:xfrm>
            <a:off x="1551188" y="3854196"/>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Плоский файл памяти (DECISIONS.md)</a:t>
            </a:r>
          </a:p>
        </p:txBody>
      </p:sp>
      <p:sp>
        <p:nvSpPr>
          <p:cNvPr id="30" name="TextBox 29"/>
          <p:cNvSpPr txBox="1"/>
          <p:nvPr/>
        </p:nvSpPr>
        <p:spPr>
          <a:xfrm>
            <a:off x="5553608" y="3854196"/>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Решение записано в файл + авто-память</a:t>
            </a:r>
          </a:p>
        </p:txBody>
      </p:sp>
      <p:sp>
        <p:nvSpPr>
          <p:cNvPr id="31" name="TextBox 30"/>
          <p:cNvSpPr txBox="1"/>
          <p:nvPr/>
        </p:nvSpPr>
        <p:spPr>
          <a:xfrm>
            <a:off x="9880549" y="3854196"/>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сразу</a:t>
            </a:r>
          </a:p>
        </p:txBody>
      </p:sp>
      <p:cxnSp>
        <p:nvCxnSpPr>
          <p:cNvPr id="32" name="Connector 31"/>
          <p:cNvCxnSpPr/>
          <p:nvPr/>
        </p:nvCxnSpPr>
        <p:spPr>
          <a:xfrm>
            <a:off x="685800" y="428548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57784" y="4285488"/>
            <a:ext cx="11073384" cy="431291"/>
          </a:xfrm>
          <a:prstGeom prst="rect">
            <a:avLst/>
          </a:prstGeom>
          <a:solidFill>
            <a:srgbClr val="E0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285488"/>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2.2</a:t>
            </a:r>
          </a:p>
        </p:txBody>
      </p:sp>
      <p:sp>
        <p:nvSpPr>
          <p:cNvPr id="35" name="TextBox 34"/>
          <p:cNvSpPr txBox="1"/>
          <p:nvPr/>
        </p:nvSpPr>
        <p:spPr>
          <a:xfrm>
            <a:off x="1551188" y="4285488"/>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Структурированная вики-память</a:t>
            </a:r>
          </a:p>
        </p:txBody>
      </p:sp>
      <p:sp>
        <p:nvSpPr>
          <p:cNvPr id="36" name="TextBox 35"/>
          <p:cNvSpPr txBox="1"/>
          <p:nvPr/>
        </p:nvSpPr>
        <p:spPr>
          <a:xfrm>
            <a:off x="5553608" y="4285488"/>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Отдельные файлы (ADR) со сквозными ссылками</a:t>
            </a:r>
          </a:p>
        </p:txBody>
      </p:sp>
      <p:sp>
        <p:nvSpPr>
          <p:cNvPr id="37" name="TextBox 36"/>
          <p:cNvSpPr txBox="1"/>
          <p:nvPr/>
        </p:nvSpPr>
        <p:spPr>
          <a:xfrm>
            <a:off x="9880549" y="4285488"/>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по сигналу</a:t>
            </a:r>
          </a:p>
        </p:txBody>
      </p:sp>
      <p:cxnSp>
        <p:nvCxnSpPr>
          <p:cNvPr id="38" name="Connector 37"/>
          <p:cNvCxnSpPr/>
          <p:nvPr/>
        </p:nvCxnSpPr>
        <p:spPr>
          <a:xfrm>
            <a:off x="685800" y="471678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57784" y="4716780"/>
            <a:ext cx="11073384" cy="431291"/>
          </a:xfrm>
          <a:prstGeom prst="rect">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4716780"/>
            <a:ext cx="773948"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2.3</a:t>
            </a:r>
          </a:p>
        </p:txBody>
      </p:sp>
      <p:sp>
        <p:nvSpPr>
          <p:cNvPr id="41" name="TextBox 40"/>
          <p:cNvSpPr txBox="1"/>
          <p:nvPr/>
        </p:nvSpPr>
        <p:spPr>
          <a:xfrm>
            <a:off x="1551188" y="4716780"/>
            <a:ext cx="391098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Операционная задачная память</a:t>
            </a:r>
          </a:p>
        </p:txBody>
      </p:sp>
      <p:sp>
        <p:nvSpPr>
          <p:cNvPr id="42" name="TextBox 41"/>
          <p:cNvSpPr txBox="1"/>
          <p:nvPr/>
        </p:nvSpPr>
        <p:spPr>
          <a:xfrm>
            <a:off x="5553608" y="4716780"/>
            <a:ext cx="4235500"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Один файл на задачу: план + лог + результаты</a:t>
            </a:r>
          </a:p>
        </p:txBody>
      </p:sp>
      <p:sp>
        <p:nvSpPr>
          <p:cNvPr id="43" name="TextBox 42"/>
          <p:cNvSpPr txBox="1"/>
          <p:nvPr/>
        </p:nvSpPr>
        <p:spPr>
          <a:xfrm>
            <a:off x="9880549" y="4716780"/>
            <a:ext cx="1531162" cy="431291"/>
          </a:xfrm>
          <a:prstGeom prst="rect">
            <a:avLst/>
          </a:prstGeom>
          <a:noFill/>
        </p:spPr>
        <p:txBody>
          <a:bodyPr wrap="square" lIns="0" rIns="0" tIns="0" bIns="0" anchor="ctr">
            <a:spAutoFit/>
          </a:bodyPr>
          <a:lstStyle/>
          <a:p>
            <a:pPr algn="l">
              <a:lnSpc>
                <a:spcPct val="115000"/>
              </a:lnSpc>
            </a:pPr>
            <a:r>
              <a:rPr sz="1130" b="0" i="0">
                <a:solidFill>
                  <a:srgbClr val="21295C"/>
                </a:solidFill>
                <a:latin typeface="Arial"/>
              </a:rPr>
              <a:t>сразу</a:t>
            </a:r>
          </a:p>
        </p:txBody>
      </p:sp>
      <p:sp>
        <p:nvSpPr>
          <p:cNvPr id="44" name="TextBox 43"/>
          <p:cNvSpPr txBox="1"/>
          <p:nvPr/>
        </p:nvSpPr>
        <p:spPr>
          <a:xfrm>
            <a:off x="502920" y="5513832"/>
            <a:ext cx="11183112" cy="886967"/>
          </a:xfrm>
          <a:prstGeom prst="rect">
            <a:avLst/>
          </a:prstGeom>
          <a:noFill/>
        </p:spPr>
        <p:txBody>
          <a:bodyPr wrap="square" lIns="0" rIns="0" tIns="0" bIns="0" anchor="ctr">
            <a:spAutoFit/>
          </a:bodyPr>
          <a:lstStyle/>
          <a:p>
            <a:pPr algn="ctr">
              <a:lnSpc>
                <a:spcPct val="115000"/>
              </a:lnSpc>
            </a:pPr>
            <a:r>
              <a:rPr sz="1700" b="1" i="0">
                <a:solidFill>
                  <a:srgbClr val="21295C"/>
                </a:solidFill>
                <a:latin typeface="Arial"/>
              </a:rPr>
              <a:t>Три развилки ждали реального сигнала. Три — не нуждались в сигнале вообще, их стоило завести сразу.</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РАЗДЕЛ 3 · ОХВАТ</a:t>
            </a:r>
          </a:p>
        </p:txBody>
      </p:sp>
      <p:sp>
        <p:nvSpPr>
          <p:cNvPr id="3" name="TextBox 2"/>
          <p:cNvSpPr txBox="1"/>
          <p:nvPr/>
        </p:nvSpPr>
        <p:spPr>
          <a:xfrm>
            <a:off x="502920" y="640080"/>
            <a:ext cx="11183112" cy="1188720"/>
          </a:xfrm>
          <a:prstGeom prst="rect">
            <a:avLst/>
          </a:prstGeom>
          <a:noFill/>
        </p:spPr>
        <p:txBody>
          <a:bodyPr wrap="square" lIns="0" rIns="0" tIns="0" bIns="0" anchor="t">
            <a:spAutoFit/>
          </a:bodyPr>
          <a:lstStyle/>
          <a:p>
            <a:pPr algn="l">
              <a:lnSpc>
                <a:spcPct val="114000"/>
              </a:lnSpc>
            </a:pPr>
            <a:r>
              <a:rPr sz="1450" b="1" i="0">
                <a:solidFill>
                  <a:srgbClr val="21295C"/>
                </a:solidFill>
                <a:latin typeface="Arial"/>
              </a:rPr>
              <a:t>Сегодня закрыты подробно два слота харнесса из пяти; оставшиеся три плюс оба механических слоя, которые превращают просьбу в барьер, — материал Семинара 5</a:t>
            </a:r>
          </a:p>
        </p:txBody>
      </p:sp>
      <p:sp>
        <p:nvSpPr>
          <p:cNvPr id="4" name="Rounded Rectangle 3"/>
          <p:cNvSpPr/>
          <p:nvPr/>
        </p:nvSpPr>
        <p:spPr>
          <a:xfrm>
            <a:off x="502920" y="1993392"/>
            <a:ext cx="11183112" cy="1783080"/>
          </a:xfrm>
          <a:prstGeom prst="roundRect">
            <a:avLst>
              <a:gd name="adj" fmla="val 1709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0664" y="2231136"/>
            <a:ext cx="2009851" cy="1307592"/>
          </a:xfrm>
          <a:prstGeom prst="roundRect">
            <a:avLst>
              <a:gd name="adj" fmla="val 12000"/>
            </a:avLst>
          </a:prstGeom>
          <a:solidFill>
            <a:srgbClr val="FEF5E0"/>
          </a:solidFill>
          <a:ln w="1905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2322576"/>
            <a:ext cx="2009851" cy="256032"/>
          </a:xfrm>
          <a:prstGeom prst="rect">
            <a:avLst/>
          </a:prstGeom>
          <a:noFill/>
        </p:spPr>
        <p:txBody>
          <a:bodyPr wrap="square" lIns="0" rIns="0" tIns="0" bIns="0" anchor="t">
            <a:spAutoFit/>
          </a:bodyPr>
          <a:lstStyle/>
          <a:p>
            <a:pPr algn="ctr">
              <a:lnSpc>
                <a:spcPct val="115000"/>
              </a:lnSpc>
            </a:pPr>
            <a:r>
              <a:rPr sz="1300" b="1" i="0">
                <a:solidFill>
                  <a:srgbClr val="8A6200"/>
                </a:solidFill>
                <a:latin typeface="Arial"/>
              </a:rPr>
              <a:t>1</a:t>
            </a:r>
          </a:p>
        </p:txBody>
      </p:sp>
      <p:sp>
        <p:nvSpPr>
          <p:cNvPr id="7" name="TextBox 6"/>
          <p:cNvSpPr txBox="1"/>
          <p:nvPr/>
        </p:nvSpPr>
        <p:spPr>
          <a:xfrm>
            <a:off x="795528" y="261518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8A6200"/>
                </a:solidFill>
                <a:latin typeface="Arial"/>
              </a:rPr>
              <a:t>память</a:t>
            </a:r>
          </a:p>
        </p:txBody>
      </p:sp>
      <p:sp>
        <p:nvSpPr>
          <p:cNvPr id="8" name="TextBox 7"/>
          <p:cNvSpPr txBox="1"/>
          <p:nvPr/>
        </p:nvSpPr>
        <p:spPr>
          <a:xfrm>
            <a:off x="804672" y="316382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что агент помнит между сессиями</a:t>
            </a:r>
          </a:p>
        </p:txBody>
      </p:sp>
      <p:sp>
        <p:nvSpPr>
          <p:cNvPr id="9" name="Rounded Rectangle 8"/>
          <p:cNvSpPr/>
          <p:nvPr/>
        </p:nvSpPr>
        <p:spPr>
          <a:xfrm>
            <a:off x="2915107" y="2231136"/>
            <a:ext cx="2009851" cy="1307592"/>
          </a:xfrm>
          <a:prstGeom prst="roundRect">
            <a:avLst>
              <a:gd name="adj" fmla="val 12000"/>
            </a:avLst>
          </a:prstGeom>
          <a:solidFill>
            <a:srgbClr val="FEF5E0"/>
          </a:solidFill>
          <a:ln w="19050">
            <a:solidFill>
              <a:srgbClr val="8A6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15107" y="2322576"/>
            <a:ext cx="2009851" cy="256032"/>
          </a:xfrm>
          <a:prstGeom prst="rect">
            <a:avLst/>
          </a:prstGeom>
          <a:noFill/>
        </p:spPr>
        <p:txBody>
          <a:bodyPr wrap="square" lIns="0" rIns="0" tIns="0" bIns="0" anchor="t">
            <a:spAutoFit/>
          </a:bodyPr>
          <a:lstStyle/>
          <a:p>
            <a:pPr algn="ctr">
              <a:lnSpc>
                <a:spcPct val="115000"/>
              </a:lnSpc>
            </a:pPr>
            <a:r>
              <a:rPr sz="1300" b="1" i="0">
                <a:solidFill>
                  <a:srgbClr val="8A6200"/>
                </a:solidFill>
                <a:latin typeface="Arial"/>
              </a:rPr>
              <a:t>2</a:t>
            </a:r>
          </a:p>
        </p:txBody>
      </p:sp>
      <p:sp>
        <p:nvSpPr>
          <p:cNvPr id="11" name="TextBox 10"/>
          <p:cNvSpPr txBox="1"/>
          <p:nvPr/>
        </p:nvSpPr>
        <p:spPr>
          <a:xfrm>
            <a:off x="2969971" y="261518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8A6200"/>
                </a:solidFill>
                <a:latin typeface="Arial"/>
              </a:rPr>
              <a:t>инструкции-</a:t>
            </a:r>
          </a:p>
          <a:p>
            <a:pPr algn="ctr">
              <a:lnSpc>
                <a:spcPct val="105000"/>
              </a:lnSpc>
              <a:spcAft>
                <a:spcPts val="0"/>
              </a:spcAft>
            </a:pPr>
            <a:r>
              <a:rPr sz="1230" b="1" i="0">
                <a:solidFill>
                  <a:srgbClr val="8A6200"/>
                </a:solidFill>
                <a:latin typeface="Arial"/>
              </a:rPr>
              <a:t>правила</a:t>
            </a:r>
          </a:p>
        </p:txBody>
      </p:sp>
      <p:sp>
        <p:nvSpPr>
          <p:cNvPr id="12" name="TextBox 11"/>
          <p:cNvSpPr txBox="1"/>
          <p:nvPr/>
        </p:nvSpPr>
        <p:spPr>
          <a:xfrm>
            <a:off x="2979115" y="316382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файл-конвенция проекта + журнал задач</a:t>
            </a:r>
          </a:p>
        </p:txBody>
      </p:sp>
      <p:sp>
        <p:nvSpPr>
          <p:cNvPr id="13" name="Rounded Rectangle 12"/>
          <p:cNvSpPr/>
          <p:nvPr/>
        </p:nvSpPr>
        <p:spPr>
          <a:xfrm>
            <a:off x="5089550" y="223113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9550" y="232257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3</a:t>
            </a:r>
          </a:p>
        </p:txBody>
      </p:sp>
      <p:sp>
        <p:nvSpPr>
          <p:cNvPr id="15" name="TextBox 14"/>
          <p:cNvSpPr txBox="1"/>
          <p:nvPr/>
        </p:nvSpPr>
        <p:spPr>
          <a:xfrm>
            <a:off x="5144414" y="261518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скиллы</a:t>
            </a:r>
          </a:p>
        </p:txBody>
      </p:sp>
      <p:sp>
        <p:nvSpPr>
          <p:cNvPr id="16" name="TextBox 15"/>
          <p:cNvSpPr txBox="1"/>
          <p:nvPr/>
        </p:nvSpPr>
        <p:spPr>
          <a:xfrm>
            <a:off x="5153558" y="316382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переиспользуемые процедуры под повторяющиеся задачи</a:t>
            </a:r>
          </a:p>
        </p:txBody>
      </p:sp>
      <p:sp>
        <p:nvSpPr>
          <p:cNvPr id="17" name="Rounded Rectangle 16"/>
          <p:cNvSpPr/>
          <p:nvPr/>
        </p:nvSpPr>
        <p:spPr>
          <a:xfrm>
            <a:off x="7263993" y="223113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3993" y="232257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4</a:t>
            </a:r>
          </a:p>
        </p:txBody>
      </p:sp>
      <p:sp>
        <p:nvSpPr>
          <p:cNvPr id="19" name="TextBox 18"/>
          <p:cNvSpPr txBox="1"/>
          <p:nvPr/>
        </p:nvSpPr>
        <p:spPr>
          <a:xfrm>
            <a:off x="7318857" y="261518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субагенты</a:t>
            </a:r>
          </a:p>
        </p:txBody>
      </p:sp>
      <p:sp>
        <p:nvSpPr>
          <p:cNvPr id="20" name="TextBox 19"/>
          <p:cNvSpPr txBox="1"/>
          <p:nvPr/>
        </p:nvSpPr>
        <p:spPr>
          <a:xfrm>
            <a:off x="7328001" y="316382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делегирование с отдельным контекстным окном</a:t>
            </a:r>
          </a:p>
        </p:txBody>
      </p:sp>
      <p:sp>
        <p:nvSpPr>
          <p:cNvPr id="21" name="Rounded Rectangle 20"/>
          <p:cNvSpPr/>
          <p:nvPr/>
        </p:nvSpPr>
        <p:spPr>
          <a:xfrm>
            <a:off x="9438436" y="2231136"/>
            <a:ext cx="2009851" cy="1307592"/>
          </a:xfrm>
          <a:prstGeom prst="roundRect">
            <a:avLst>
              <a:gd name="adj" fmla="val 12000"/>
            </a:avLst>
          </a:prstGeom>
          <a:solidFill>
            <a:srgbClr val="E4E9EF"/>
          </a:solidFill>
          <a:ln w="13970">
            <a:solidFill>
              <a:srgbClr val="6B76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38436" y="2322576"/>
            <a:ext cx="2009851" cy="256032"/>
          </a:xfrm>
          <a:prstGeom prst="rect">
            <a:avLst/>
          </a:prstGeom>
          <a:noFill/>
        </p:spPr>
        <p:txBody>
          <a:bodyPr wrap="square" lIns="0" rIns="0" tIns="0" bIns="0" anchor="t">
            <a:spAutoFit/>
          </a:bodyPr>
          <a:lstStyle/>
          <a:p>
            <a:pPr algn="ctr">
              <a:lnSpc>
                <a:spcPct val="115000"/>
              </a:lnSpc>
            </a:pPr>
            <a:r>
              <a:rPr sz="1300" b="1" i="0">
                <a:solidFill>
                  <a:srgbClr val="6B7685"/>
                </a:solidFill>
                <a:latin typeface="Arial"/>
              </a:rPr>
              <a:t>5</a:t>
            </a:r>
          </a:p>
        </p:txBody>
      </p:sp>
      <p:sp>
        <p:nvSpPr>
          <p:cNvPr id="23" name="TextBox 22"/>
          <p:cNvSpPr txBox="1"/>
          <p:nvPr/>
        </p:nvSpPr>
        <p:spPr>
          <a:xfrm>
            <a:off x="9493300" y="2615184"/>
            <a:ext cx="1900123" cy="530352"/>
          </a:xfrm>
          <a:prstGeom prst="rect">
            <a:avLst/>
          </a:prstGeom>
          <a:noFill/>
        </p:spPr>
        <p:txBody>
          <a:bodyPr wrap="square" lIns="0" rIns="0" tIns="0" bIns="0" anchor="t">
            <a:spAutoFit/>
          </a:bodyPr>
          <a:lstStyle/>
          <a:p>
            <a:pPr algn="ctr">
              <a:lnSpc>
                <a:spcPct val="105000"/>
              </a:lnSpc>
              <a:spcAft>
                <a:spcPts val="0"/>
              </a:spcAft>
            </a:pPr>
            <a:r>
              <a:rPr sz="1230" b="1" i="0">
                <a:solidFill>
                  <a:srgbClr val="21295C"/>
                </a:solidFill>
                <a:latin typeface="Arial"/>
              </a:rPr>
              <a:t>доступ</a:t>
            </a:r>
          </a:p>
          <a:p>
            <a:pPr algn="ctr">
              <a:lnSpc>
                <a:spcPct val="105000"/>
              </a:lnSpc>
              <a:spcAft>
                <a:spcPts val="0"/>
              </a:spcAft>
            </a:pPr>
            <a:r>
              <a:rPr sz="1230" b="1" i="0">
                <a:solidFill>
                  <a:srgbClr val="21295C"/>
                </a:solidFill>
                <a:latin typeface="Arial"/>
              </a:rPr>
              <a:t>наружу (MCP)</a:t>
            </a:r>
          </a:p>
        </p:txBody>
      </p:sp>
      <p:sp>
        <p:nvSpPr>
          <p:cNvPr id="24" name="TextBox 23"/>
          <p:cNvSpPr txBox="1"/>
          <p:nvPr/>
        </p:nvSpPr>
        <p:spPr>
          <a:xfrm>
            <a:off x="9502444" y="3163824"/>
            <a:ext cx="1881835" cy="301751"/>
          </a:xfrm>
          <a:prstGeom prst="rect">
            <a:avLst/>
          </a:prstGeom>
          <a:noFill/>
        </p:spPr>
        <p:txBody>
          <a:bodyPr wrap="square" lIns="0" rIns="0" tIns="0" bIns="0" anchor="t">
            <a:spAutoFit/>
          </a:bodyPr>
          <a:lstStyle/>
          <a:p>
            <a:pPr algn="ctr">
              <a:lnSpc>
                <a:spcPct val="108000"/>
              </a:lnSpc>
            </a:pPr>
            <a:r>
              <a:rPr sz="919" b="0" i="1">
                <a:solidFill>
                  <a:srgbClr val="6B7685"/>
                </a:solidFill>
                <a:latin typeface="Arial"/>
              </a:rPr>
              <a:t>доступ к внешним системам</a:t>
            </a:r>
          </a:p>
        </p:txBody>
      </p:sp>
      <p:sp>
        <p:nvSpPr>
          <p:cNvPr id="25" name="Rounded Rectangle 24"/>
          <p:cNvSpPr/>
          <p:nvPr/>
        </p:nvSpPr>
        <p:spPr>
          <a:xfrm>
            <a:off x="502920" y="4005072"/>
            <a:ext cx="11183112" cy="239572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078224"/>
            <a:ext cx="10780776" cy="2249424"/>
          </a:xfrm>
          <a:prstGeom prst="rect">
            <a:avLst/>
          </a:prstGeom>
          <a:noFill/>
        </p:spPr>
        <p:txBody>
          <a:bodyPr wrap="square" lIns="0" rIns="0" tIns="0" bIns="0" anchor="ctr">
            <a:spAutoFit/>
          </a:bodyPr>
          <a:lstStyle/>
          <a:p>
            <a:pPr algn="ctr">
              <a:lnSpc>
                <a:spcPct val="122000"/>
              </a:lnSpc>
            </a:pPr>
            <a:r>
              <a:rPr sz="1600" b="1" i="0">
                <a:solidFill>
                  <a:srgbClr val="21295C"/>
                </a:solidFill>
                <a:latin typeface="Arial"/>
              </a:rPr>
              <a:t>Семинар 5: скиллы · субагенты · доступ наружу (MCP) + хук · процесс</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10515600" cy="292608"/>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РАЗДЕЛ 3 · ПЕРЕНОС</a:t>
            </a:r>
          </a:p>
        </p:txBody>
      </p:sp>
      <p:sp>
        <p:nvSpPr>
          <p:cNvPr id="3" name="TextBox 2"/>
          <p:cNvSpPr txBox="1"/>
          <p:nvPr/>
        </p:nvSpPr>
        <p:spPr>
          <a:xfrm>
            <a:off x="502920" y="640080"/>
            <a:ext cx="11183112" cy="137160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Перенесите шесть сегодняшних решений на свой репозиторий — и проверьте, какое из них реально день-0-база, а какое вы отложили без причины или завели раньше времени без сигнала</a:t>
            </a:r>
          </a:p>
        </p:txBody>
      </p:sp>
      <p:sp>
        <p:nvSpPr>
          <p:cNvPr id="4" name="TextBox 3"/>
          <p:cNvSpPr txBox="1"/>
          <p:nvPr/>
        </p:nvSpPr>
        <p:spPr>
          <a:xfrm>
            <a:off x="502920" y="2176272"/>
            <a:ext cx="11183112" cy="365760"/>
          </a:xfrm>
          <a:prstGeom prst="rect">
            <a:avLst/>
          </a:prstGeom>
          <a:noFill/>
        </p:spPr>
        <p:txBody>
          <a:bodyPr wrap="square" lIns="0" rIns="0" tIns="0" bIns="0" anchor="t">
            <a:spAutoFit/>
          </a:bodyPr>
          <a:lstStyle/>
          <a:p>
            <a:pPr algn="ctr">
              <a:lnSpc>
                <a:spcPct val="115000"/>
              </a:lnSpc>
            </a:pPr>
            <a:r>
              <a:rPr sz="1400" b="0" i="0">
                <a:solidFill>
                  <a:srgbClr val="065A82"/>
                </a:solidFill>
                <a:latin typeface="Arial"/>
              </a:rPr>
              <a:t>1.1  →  1.2  →  1.3  →  2.1  →  2.2  →  2.3</a:t>
            </a:r>
          </a:p>
        </p:txBody>
      </p:sp>
      <p:sp>
        <p:nvSpPr>
          <p:cNvPr id="5" name="Rounded Rectangle 4"/>
          <p:cNvSpPr/>
          <p:nvPr/>
        </p:nvSpPr>
        <p:spPr>
          <a:xfrm>
            <a:off x="502920" y="2587752"/>
            <a:ext cx="11183112" cy="3310128"/>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2660904"/>
            <a:ext cx="10780776" cy="3163824"/>
          </a:xfrm>
          <a:prstGeom prst="rect">
            <a:avLst/>
          </a:prstGeom>
          <a:noFill/>
        </p:spPr>
        <p:txBody>
          <a:bodyPr wrap="square" lIns="0" rIns="0" tIns="0" bIns="0" anchor="ctr">
            <a:spAutoFit/>
          </a:bodyPr>
          <a:lstStyle/>
          <a:p>
            <a:pPr algn="ctr">
              <a:lnSpc>
                <a:spcPct val="122000"/>
              </a:lnSpc>
            </a:pPr>
            <a:r>
              <a:rPr sz="1650" b="1" i="0">
                <a:solidFill>
                  <a:srgbClr val="21295C"/>
                </a:solidFill>
                <a:latin typeface="Arial"/>
              </a:rPr>
              <a:t>«По каждой развилке спросите: это действительно день-0-база — то, что стоило завести сразу, независимо от конкретики проекта? Или вы завели это раньше времени, без реального сигнала, просто по привычке? А может, наоборот — что-то из универсальной гигиены вы всё ещё откладываете без всякой причины?»</a:t>
            </a:r>
          </a:p>
        </p:txBody>
      </p:sp>
      <p:sp>
        <p:nvSpPr>
          <p:cNvPr id="7" name="TextBox 6"/>
          <p:cNvSpPr txBox="1"/>
          <p:nvPr/>
        </p:nvSpPr>
        <p:spPr>
          <a:xfrm>
            <a:off x="502920" y="5943600"/>
            <a:ext cx="11183112" cy="365760"/>
          </a:xfrm>
          <a:prstGeom prst="rect">
            <a:avLst/>
          </a:prstGeom>
          <a:noFill/>
        </p:spPr>
        <p:txBody>
          <a:bodyPr wrap="square" lIns="0" rIns="0" tIns="0" bIns="0" anchor="t">
            <a:spAutoFit/>
          </a:bodyPr>
          <a:lstStyle/>
          <a:p>
            <a:pPr algn="ctr">
              <a:lnSpc>
                <a:spcPct val="115000"/>
              </a:lnSpc>
            </a:pPr>
            <a:r>
              <a:rPr sz="1300" b="0" i="1">
                <a:solidFill>
                  <a:srgbClr val="6B7685"/>
                </a:solidFill>
                <a:latin typeface="Arial"/>
              </a:rPr>
              <a:t>«Не вслух. Не на бумаге. Себе.»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