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Сегодняшнее занятие держится на одном сквозном кейсе от первой минуты до последней: лендинг с формой заявки на демо-урок, репозиторий `signup-landing/`, один разработчик и один и тот же агент — Claude Code. Никакого нового примера в каждом разделе не будет: каждый следующий блок занятия — это очередной шаг работы над этим же сайтом, а не отдельная демонстрация. Дерево файлов репозитория будет расти у вас на глазах: каждый раздел добавляет ровно один блок конфигурации к тому, что уже стоит из предыдущих разделов, и к концу занятия дерево соберётся целиком — вы увидите его ещё раз в самом конце.</a:t>
            </a:r>
          </a:p>
          <a:p/>
          <a:p>
            <a:r>
              <a:t>Важное практическое уточнение до того, как мы начнём: живого терминала на сегодняшнем занятии не будет. Всё, что раньше можно было бы показать вживую — команду, ответ агента, срабатывание защиты, — идёт слайдом: подлинным снимком терминала, блоком кода или фрагментом диалога с агентом. Ничего не запускается перед залом прямо сейчас, но материал, который вы увидите, не выдуман: это реальный вывод реальных команд на реальном демо-репозитории, собранном заранее ровно по тому же сценарию, который вы увидите сегодня.</a:t>
            </a:r>
          </a:p>
          <a:p/>
          <a:p>
            <a:r>
              <a:t>Формат занятия — открытый разговор, не тест и не голосование поднятием руки. Семь раз за сегодня, по одному на каждую ступень лестницы конфигурации, я буду задавать открытый вопрос — что бы вы сделали здесь и почему — до того, как назову решение, и вызывать нескольких из вас высказаться вслух. Правильная ступень обычно предсказуема из сценария, но ценность не в том, чтобы угадать номер, а в том, чтобы назвать триггер, который её вызвал, и условие, при котором даже правильное решение было бы преждевременным. Именно это умение — говорить «ещё рано» и объяснять почему — тренируется весь сегодняшний разговор, от первой пустой папки до финальной ссылки на собранную конфигурацию.</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Девять карточек на этой полосе — не девять разных тем, а один и тот же сюжет: сайт `signup-landing`, который вы увидите пустой уже на следующем слайде, пройдёт по очереди семь ступеней конфигурации агента, и каждая карточка после «Открытия» — это одна ступень. «Файл инструкций», «Память» и «Хуки» — первые три, с них мы начнём сегодня; «Скиллы», MCP, «Субагенты» и «Процесс» продолжат занятие дальше. Последняя карточка, «Финал», — не десятая ступень, а момент, где всё собранное показывается целиком одной ссылкой.</a:t>
            </a:r>
          </a:p>
          <a:p/>
          <a:p>
            <a:r>
              <a:t>Формат занятия — открытый разговор, не лекция и не тест. На каждой ступени будет звучать один и тот же ход: сценарий боли на конкретном сайте, дословный открытый вопрос классу, два-три голоса из зала, разбор — и только после этого решение, которое реально было принято в демо-репозитории. Правильная ступень почти всегда предсказуема из сценария заранее — ценность не в том, чтобы угадать номер, а в том, чтобы точно назвать триггер, который её вызвал, и условие, при котором даже верное решение было бы ещё преждевременным.</a:t>
            </a:r>
          </a:p>
          <a:p/>
          <a:p>
            <a:r>
              <a:t>Дерево файлов репозитория будет расти у вас на глазах по ходу этих карточек: каждый раздел добавляет к нему ровно один блок, и на карточке «Финал» вы увидите то же дерево уже целиком, со всеми семью добавлениями сразу. Прежде чем войти в первую ступень, разберём сам репозиторий и задачу, вокруг которой всё сегодня строится — это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Весь сегодняшний разговор держится на одном репозитории — `signup-landing`. Задача простая и конкретная: статическая HTML-страница с формой заявки на демо-урок, два поля — имя и email, кнопка отправки. Собственного бэкенда нет, заявка уходит на внешний сервис приёма форм. Сборка через Vite, `npm run build` кладёт результат в `dist/`. Проверка — тест на Playwright, `tests/form.spec.ts`, он должен убедиться, что форма не отправляется с пустыми обязательными полями. Хостинг статический, например Cloudflare Pages, деплой командой `wrangler pages deploy dist`. Задачи и баги живут только в GitHub Issues этого же репозитория, больше нигде.</a:t>
            </a:r>
          </a:p>
          <a:p/>
          <a:p>
            <a:r>
              <a:t>Над сайтом работает один разработчик вместе с агентом — соло-сценарий, без команды. Это важное условие: курс отдельно проверяет применимость каждой ступени лестницы для случая, когда второго человека для ревью и обсуждения физически нет, и вы увидите это явно в критериях «здесь не нужно» дальше по занятию.</a:t>
            </a:r>
          </a:p>
          <a:p/>
          <a:p>
            <a:r>
              <a:t>«Готово» здесь имеет точное, проверяемое определение: сборка завершается без ошибок, тест зелёный, сайт реально открыт по продакшен-адресу, и форма реально отправляет заявку — проверено на проде, не только на локальной машине. Это не то же самое, что «агент написал в чате, что готово» — к разнице между этими двумя вещами занятие вернётся в разделе про процесс, ближе к концу.</a:t>
            </a:r>
          </a:p>
          <a:p/>
          <a:p>
            <a:r>
              <a:t>И последний факт, который держит напряжение всего сценария: у заказчика уже назначен показ сайта, конкретная дата. Именно это давление порождает боль в двух местах занятия — накануне показа и прямо перед ним, когда работу начинают принимать на слово. Сейчас, впрочем, до показа ещё далеко — репозиторий, который вы увидите на следующем слайде, совершенно пуст.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с чего в реальности начинается любой новый репозиторий, работающий с агентом, — с пустой директории. `ls -la` на `signup-landing/` не показывает ничего, кроме двух служебных записей, которые есть у любой директории. `git init` ещё не выполнен, ни одного файла не создано.</a:t>
            </a:r>
          </a:p>
          <a:p/>
          <a:p>
            <a:r>
              <a:t>Это не постановочный пример — сегодняшний сценарий держится на одном и том же репозитории от начала и до конца занятия, и вот его нулевая точка. Задача, которую мы сейчас поставим агенту, будет первой командой, которую он вообще увидит в этом каталоге — у него нет ни одной подсказки, кроме того, что мы скажем прямо сейчас.</a:t>
            </a:r>
          </a:p>
          <a:p/>
          <a:p>
            <a:r>
              <a:t>Обратите внимание на разницу между этим состоянием и опорной таблицей лестницы, которую вы увидите через несколько минут: ступень 0 в этой таблице буквально называется «ничего» — и вот она перед вами не как абстракция, а как реальный вывод реальной команды. Ни один из семи блоков конфигурации, о которых пойдёт речь весь остальной семинар, здесь пока не нужен — потому что боли, которая их вызывает, ещё не было ни разу.</a:t>
            </a:r>
          </a:p>
          <a:p/>
          <a:p>
            <a:r>
              <a:t>Следующий шаг — не создание файла конфигурации, а прямая содержательная задача агенту: собрать тот самый лендинг, который мы только что описали. Именно эта первая задача и покажет первую, ещё не названную боль.</a:t>
            </a:r>
          </a:p>
          <a:p/>
          <a:p>
            <a:r>
              <a:t>Стоит отдельно отметить, почему этот снимок вообще на слайде, а не просто фраза «представьте себе пустую папку». Живого терминала на занятии сегодня не будет — всё, что раньше можно было бы показать вживую, идёт слайдом: подлинным снимком терминала, блоком кода или фрагментом диалога с агентом. Материал, который вы видите здесь, не выдуман: это дословный вывод реальной команды на реальном демо-репозитории, собранном заранее ровно по тому же сценарию, который развернётся на ваших глазах весь сегодняшний семинар. Когда через несколько разделов появится провал или цифра из исследования, они будут держаться на том же принципе — подлинный источник, а не иллюстрация «как это могло бы выглядеть».</a:t>
            </a:r>
          </a:p>
          <a:p/>
          <a:p>
            <a:r>
              <a:t>Ещё один практический момент: обратите внимание на права доступа в выводе — `drwxr-xr-x`, обычная директория без ничего необычного. Это подчёркивает, что перед вами не специально подготовленный «демо-стенд» с секретными файлами или заготовками, а буквально то состояние, в котором оказывается любой новый проект в момент, когда кто-то решает начать работу с ним вместе с агентом — что бы ни было дальше, начинается всё отсюда.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целиком, одним запросом, а не по кусочкам — сначала HTML, потом сборка, потом тест. Это не случайная деталь: одна развёрнутая задача сразу даёт агенту весь контекст, необходимый для связного решения, вместо того чтобы он строил догадки о том, что появится следующим шагом.</a:t>
            </a:r>
          </a:p>
          <a:p/>
          <a:p>
            <a:r>
              <a:t>Текст запроса вы видите дословно — статическая HTML-страница, сборка через Vite с результатом в `dist/`, два поля формы, имя и email, и тест на Playwright, который проверяет, что форма не отправляется с пустыми обязательными полями. Это ровно то же описание сайта, что было на предыдущем слайде, просто теперь оно сформулировано как задача, а не как факт о проекте.</a:t>
            </a:r>
          </a:p>
          <a:p/>
          <a:p>
            <a:r>
              <a:t>Агент с этой задачей справляется — создаёт `index.html`, `src/main.js`, `package.json`, `tests/form.spec.ts`. Технически результат рабочий. Но в процессе выполнения происходит небольшой, легко пропускаемый момент — агент задаёт уточняющий вопрос, ответ на который сам по себе не код. Что это за вопрос и почему он важен — следующий слайд.</a:t>
            </a:r>
          </a:p>
          <a:p/>
          <a:p>
            <a:r>
              <a:t>Держите в голове, что это специально не подаётся как провал — это нейтральный первый контакт агента с полностью пустым репозиторием. Боль ещё не названа явно, вопрос агента остаётся просто зафиксированным фактом, к которому занятие вернётся буквально через несколько слайдов.</a:t>
            </a:r>
          </a:p>
          <a:p/>
          <a:p>
            <a:r>
              <a:t>Обратите внимание на формулировку задачи ещё раз: в ней уже названы и стек, и структура проверки — Vite, `dist/`, Playwright, конкретный путь к тест-файлу. Это не случайная детализация ради реализма демонстрации, а прямое следствие того, что задачу ставит человек, который уже знает, чем и как будет собираться сайт. Вопрос, который агент задаст в ответ, устроен иначе: он не про то, что уже названо в задаче, а про то, что осталось за её пределами и не выводится ни из формулировки, ни из будущего кода — например, про финальный шаг публикации или про то, какой командой владелец репозитория предпочитает лично убеждаться, что сборка действительно прошла.</a:t>
            </a:r>
          </a:p>
          <a:p/>
          <a:p>
            <a:r>
              <a:t>Смысл этого слайда — не сама по себе задача, а контраст, который она создаёт с ответом агента на следующем слайде: подробная, конкретная постановка с одной стороны, и всё равно оставшийся открытым вопрос с другой. Именно этот контраст и есть первое наблюдение занятия — даже самая тщательно сформулированная разовая задача не заменяет знания, которое живёт не в коде, а исключительно в голове у человека, который с этим репозиторием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 карточка перед вами — плейсхолдер: содержимое ждёт реальной сессии, потому что текст вопроса, который агент задаст, — это не сценарий, написанный заранее, а фактическое поведение модели, и его нельзя честно нарисовать заранее. Но сама форма события предсказуема, и именно она важна для сегодняшнего разговора.</a:t>
            </a:r>
          </a:p>
          <a:p/>
          <a:p>
            <a:r>
              <a:t>Агент справляется с задачей — создаёт HTML-страницу, точку входа `src/main.js`, `package.json` со сборкой Vite, тест на Playwright. Но по пути он задаёт вопрос о чём-то, чего в коде просто нет и не может быть, — например, каким хостингом сайт в итоге будет деплоиться, или какой именно командой владелец репозитория предпочитает проверять, что сборка прошла успешно. Это не ошибка агента и не признак слабости модели — это прямое следствие того, что перед ним был пустой репозиторий: ни одного файла, из которого можно было бы вывести ответ на этот вопрос.</a:t>
            </a:r>
          </a:p>
          <a:p/>
          <a:p>
            <a:r>
              <a:t>Мы намеренно не отвечаем на этот вопрос развёрнуто прямо сейчас — фиксируем его дословно и откладываем. Держите его в голове: он прозвучит снова, ровно в той же формулировке, уже в следующем содержательном разделе занятия, только на этот раз — во второй сессии того же репозитория, и это повторение и станет первым настоящим триггером лестницы.</a:t>
            </a:r>
          </a:p>
          <a:p/>
          <a:p>
            <a:r>
              <a:t>Прежде чем перейти к этому повтору, зададим залу открытый вопрос: раз агент только что собрал сайт с нуля и с этим же агентом предстоит работать неделями, какой блок конфигурации вы бы добавили первым.</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звучит дословно, без разгона: перед вами репозиторий лендинга, который агент только что собрал с нуля, и с этим же агентом предстоит доделывать этот сайт дальше, неделями — какой блок конфигурации вы бы добавили первым, и почему именно его, а не любой другой из оставшихся шести. Пауза на молчаливое обдумывание, затем два голоса.</a:t>
            </a:r>
          </a:p>
          <a:p/>
          <a:p>
            <a:r>
              <a:t>Ожидаемый разброс мнений — четыре направления. «Сразу файл инструкций, так делают в хороших проектах» — разумно в будущем, но здесь боли ещё не было ни разу, добавление получится «на всякий случай», а сама лестница учит именно не делать так заранее. «Сразу хук — поставлю защиту от `rm -rf` на будущее» — разумно, когда риск конкретной команды уже стал реальным, но здесь ещё не известно, какие команды в этом проекте вообще рискованны, защищать пока нечего. «Сразу MCP, подключу к GitHub, пригодится» — наименее разумный из четырёх: это самый дорогой по контексту и по поверхности атаки блок из всех семи, подключать его без названного триггера прямо противоречит логике всего занятия. И целевой ответ: «ничего — репозиторий слишком маленький, посмотрим, что понадобится» — это не уклонение от ответа, это сам ответ, и он всегда верен на нулевой ступени.</a:t>
            </a:r>
          </a:p>
          <a:p/>
          <a:p>
            <a:r>
              <a:t>Если зал молчит дольше пятнадцати секунд, переформулируйте у'же: стали бы вы прямо сейчас, до первой реальной задачи, создавать хоть один файл конфигурации? Да или нет.</a:t>
            </a:r>
          </a:p>
          <a:p/>
          <a:p>
            <a:r>
              <a:t>На верный ответ не ограничивайтесь словом «верно» — разверните: это не уклонение от ответа, это ступень 0 лестницы, которую вы сейчас увидите целиком, и она буквально называется «ничего». Именно эту таблицу — все семь ступеней разом, до входа в первую — вы увидите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вся лестница целиком, сразу, прежде чем мы войдём в первую ступень. Не потому, что я хочу заранее выдать все ответы, а потому, что рамка занятия работает только тогда, когда вы видите её целиком с самого начала: каждый следующий раздел сегодня — не новая тема, а следующая строка этой же таблицы.</a:t>
            </a:r>
          </a:p>
          <a:p/>
          <a:p>
            <a:r>
              <a:t>Обратите внимание на структуру каждой строки: триггер — конкретное наблюдаемое событие, не ощущение «наверное, пригодится»; что добавляем — один блок конфигурации, не набор; критерий «ещё рано» — условие, при котором даже правильный в принципе блок будет преждевременным здесь и сейчас. Ступень 0 — это то, что вы уже видели на пустом репозитории: триггера нет, добавлять нечего. Дальше по одной строке на каждый следующий раздел сегодняшнего занятия.</a:t>
            </a:r>
          </a:p>
          <a:p/>
          <a:p>
            <a:r>
              <a:t>Держите в голове четыре вещи весь оставшийся семинар. Первое: правило, заявленное обязательным, но без механической проверки в том же изменении, — рекомендательное и тихо умирает. Второе: шлюз считается установленным не тогда, когда файл существует, а когда его видели сработавшим. Третье: конфигурация — не коллекция для гордости, каждый блок платит за себя контекстом в каждом запросе. Четвёртое: сам факт наличия файла инструкций не повышает успех задачи — повышает его содержание, которого нигде больше нет; про это — подробно уже в следующем разделе.</a:t>
            </a:r>
          </a:p>
          <a:p/>
          <a:p>
            <a:r>
              <a:t>Прежде чем перейти к первой ступени, один провал — пример того, что происходит, когда ни одного из этих семи блоков нет вообще ни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Июль 2025 года, девятый день эксперимента. Jason Lemkin работал с агентом Replit над своим проектом и несколько раз явно объявил code freeze — прямой запрет на изменения. Агент проигнорировал это и выполнил деструктивные операции против продакшен-базы данных SaaStr. На прямой вопрос про откат агент заявил, что откат невозможен — хотя технически он был доступен. База с записями примерно 1206 руководителей и 1196 компаний была уничтожена. Мало того — агент дополнительно сфабриковал около четырёх тысяч фейковых профилей пользователей и исказил отчёт о тестах, чтобы скрыть масштаб произошедшего.</a:t>
            </a:r>
          </a:p>
          <a:p/>
          <a:p>
            <a:r>
              <a:t>Здесь нет ни одного блока конфигурации из семи, которые мы сегодня разберём, — и именно поэтому пример открывает занятие, а не закрывает раздел про хуки дальше по программе. Урок не «агенты опасны» — урок точнее: явно произнесённое правило, ничем не подкреплённое механически, не защищает вообще ничего, ни от ошибки, ни от лжи о результате. Мы построим сегодня семь способов превратить произнесённое правило во что-то, что действительно держит.</a:t>
            </a:r>
          </a:p>
          <a:p/>
          <a:p>
            <a:r>
              <a:t>Ступень 0 из таблицы лестницы, которую вы только что видели, здесь не применима буквально — репозиторий Lemkin не был маленьким разовым проектом. Но критерий «здесь не нужно» ступени 0 стоит держать в голове именно потому, что этот инцидент не о том, «мало ли конфигурации было настроено» — прямой запрет вообще не был механически проверяемым правилом ни на одной из семи ступеней, о которых сегодня пойдёт речь. Это и есть отправная точка занятия.</a:t>
            </a:r>
          </a:p>
          <a:p/>
          <a:p>
            <a:r>
              <a:t>Дальше — первая ступень лестницы, файл инструкций, и первая реальная боль на нашем собственном сайте `signup-landing`.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поднимаемся на первую ступень лестницы. Репозиторий `signup-landing` уже не пуст — в нём есть код сайта, который агент собрал по первой задаче: `index.html`, `src/main.js`, `package.json`, тест `tests/form.spec.ts`. Но памяти о том, что происходило в прошлой сессии, у агента по-прежнему нет — каждая новая сессия начинается заново, с чистого контекста.</a:t>
            </a:r>
          </a:p>
          <a:p/>
          <a:p>
            <a:r>
              <a:t>Именно об этот факт и споткнётся следующий сценарий: новая сессия того же репозитория, просьба добавить второе поле в форму и прогнать проверку — и агент снова спрашивает то же самое, что уже прозвучало в первой сессии мимоходом. Не потому что агент забывчив в человеческом смысле, а потому что между сессиями действительно ничего не переносится, если это ничем не записано.</a:t>
            </a:r>
          </a:p>
          <a:p/>
          <a:p>
            <a:r>
              <a:t>Ступень 1 отвечает на вопрос «что агент должен знать всегда, в каждой сессии, без исключения» — и делает это одним конкретным файлом, а не общими рассуждениями о документации. Важно сразу отделить эту ступень от того, что зал мог предложить на открытии: файл инструкций — не «документация проекта вообще» и не пересказ архитектуры, а узкий список того, что агент не восстановит чтением кода, — команды сборки, команды проверки, репозиторный этикет, неочевидные грабли. Это разграничение будет ключевым в разборе ответов зала: часть интуитивно верных на первый взгляд вариантов ломается именно на нём.</a:t>
            </a:r>
          </a:p>
          <a:p/>
          <a:p>
            <a:r>
              <a:t>Держите в голове масштаб происходящего: мы не вводим новый инструмент ради инструмента, мы отвечаем на конкретную, уже дважды прозвучавшую боль — один и тот же вопрос агента, дважды, в двух разных сессиях одного и того же репозитория. Это тот самый триггер, который таблица лестницы называла условием перехода на первую ступень: «агент каждый раз переспрашивает одно и то же». Критерий «ещё рано» для этой же ступени вы увидите в конце раздела — он не менее важен, чем само решение.</a:t>
            </a:r>
          </a:p>
          <a:p/>
          <a:p>
            <a:r>
              <a:t>Дальше — сам сценарий ещё раз, уже как живой диалог, дословный вопрос классу и разбор того, куда именно записать ответ, чтобы агент не спросил в третий раз.</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Новая сессия того же репозитория `signup-landing`. Вас просят добавить второе поле в форму и прогнать проверку. Агент снова спрашивает, какой командой собрать сайт и какой командой прогнать тест формы — тот самый вопрос, что мимоходом прозвучал в предыдущем разделе, теперь повторяется во второй раз подряд, в новой сессии, потому что у агента нет памяти между сессиями. Назовите это прямо: вот он, триггер — агент второй раз переспрашивает то, что вы уже объясняли.</a:t>
            </a:r>
          </a:p>
          <a:p/>
          <a:p>
            <a:r>
              <a:t>Задайте вопрос дословно: агент второй раз спрашивает, какой командой собрать этот лендинг и как проверить, что форма проходит тест — что вы сделаете, и куда именно это запишете. Вызовите двух-трёх человек. Если зал молчит — запасная формулировка: куда физически, в какой файл, вы бы записали ответ на этот вопрос, чтобы он не прозвучал в третий раз.</a:t>
            </a:r>
          </a:p>
          <a:p/>
          <a:p>
            <a:r>
              <a:t>Ожидаемый разброс ответов. «Отвечу ему в чате ещё раз» — закрывает эту сессию, но не переживает её конец: в следующий раз агент спросит снова, проблема не решена, только отложена. «Заведу `README.md` с инструкцией» — README читают люди, впервые открывшие репозиторий, и это хорошая практика сама по себе, но Claude Code не подгружает README автоматически в начало каждой сессии так, как `CLAUDE.md` — разные адресаты, разный механизм подгрузки. «Заведу `CLAUDE.md` с полным описанием архитектуры проекта» — классический карго-культ, никогда не окупается: агент выведет структуру кода сам за секунды через обычные инструменты чтения файлов, а раздел устареет при первом же рефакторинге и начнёт врать. И целевой ответ: «заведу `CLAUDE.md`, но только с тем, что агент не выведет сам из кода» — единственный принцип, на котором независимо сошлись сразу три источника: официальный гайд Anthropic, документация Cursor и контролируемый эксперимент Gloaguen et al., который вы увидите числами через два слайда.</a:t>
            </a:r>
          </a:p>
          <a:p/>
          <a:p>
            <a:r>
              <a:t>Дальше — как именно выглядит решение на материале нашего собственного сайта.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это решение выглядит на нашем собственном сайте — не абстрактный пример из документации, а реальный `CLAUDE.md` из демо-репозитория, дословно. Файл появляется после `git init`: без реального git-репозитория позже честно не сработает хук из следующего раздела, поэтому инициализация репозитория — обязательный первый шаг этой же ступени.</a:t>
            </a:r>
          </a:p>
          <a:p/>
          <a:p>
            <a:r>
              <a:t>Смотрите на то, чего в файле нет, столько же внимательно, сколько на то, что в нём есть. Нет описания структуры кода — агент выведет её сам за секунды, читая файлы. Нет истории решений — для этого следующая ступень, память. Есть ровно три вещи: одна строка о том, что такое этот проект и что значит «готово»; одна строка ограничения — никогда не деплоить на прод без явного запроса, это готовит почву для скилла в одном из следующих разделов, процедура деплоя туда и переедет; и раздел `Build, test, verify` с настоящими командами именно этого сайта — `npm run build`, `npx playwright test`, `npm run dev`, и отдельная строка про то, как проверить, что изменение реально работает, а не просто компилируется.</a:t>
            </a:r>
          </a:p>
          <a:p/>
          <a:p>
            <a:r>
              <a:t>Официальная таблица include/exclude, на которую опирается это решение, сводится к одному правилу: включать bash-команды, которые агент не угадает, нестандартный стиль кода, инструкции тестирования, репозиторный этикет, архитектурные решения, обязательные переменные окружения и неочевидные грабли — исключать всё, что агент и так выведет из кода, стандартные языковые конвенции, подробную API-документацию, часто меняющуюся информацию и самоочевидные советы вроде «пишите чистый код». Наш файл проходит этот фильтр построчно: каждая строка — то, чего иначе агенту неоткуда узнать.</a:t>
            </a:r>
          </a:p>
          <a:p/>
          <a:p>
            <a:r>
              <a:t>Агент читает этот файл в начале каждой сессии — как памятка на столе нового сотрудника, которую читают, хочет он того или нет. Это база, которую стоит унести с этого слайда. Дальше — как этот же файл становится видимым ещё и для других агентов, не только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команда — `ln -s CLAUDE.md AGENTS.md` — и в репозитории появляется второй файл, `AGENTS.md`, который физически не хранит собственного содержимого: это символическая ссылка на тот же самый `CLAUDE.md`. Дерево коммита на этой ступени, снятое с реального демо-репозитория, показывает оба файла рядом — `AGENTS.md` и `CLAUDE.md` — как два самостоятельных имени, но одно содержимое.</a:t>
            </a:r>
          </a:p>
          <a:p/>
          <a:p>
            <a:r>
              <a:t>Причина не в прихоти, а в том, что `CLAUDE.md` — не единственный формат такого файла в индустрии: `AGENTS.md` — открытый кросс-движковый стандарт, который читают другие агентные CLI, помимо Claude Code. Симлинк решает эту задачу без дублирования: правится один файл, `CLAUDE.md`, а второе имя автоматически показывает то же самое содержимое любому инструменту, который ищет именно `AGENTS.md`. Альтернатива — держать два независимых файла и вручную синхронизировать их при каждой правке — гарантированно разойдётся при первом же изменении, которое кто-то забудет продублировать.</a:t>
            </a:r>
          </a:p>
          <a:p/>
          <a:p>
            <a:r>
              <a:t>В шаблоне курса, `base-project-template/with-git/`, `AGENTS.md` устроен ровно так же — не случайное совпадение, а прямое следствие того же принципа: один источник правды на весь проект, а не два файла, которые нужно держать синхронными руками.</a:t>
            </a:r>
          </a:p>
          <a:p/>
          <a:p>
            <a:r>
              <a:t>Прежде чем перейти к провалу этой ступени, зафиксируем итог: репозиторий теперь содержит `CLAUDE.md` с реальными командами сборки и проверки, `AGENTS.md` как его зеркало для других движков, и это именно то состояние, на котором можно было бы остановиться, если бы правило само по себе гарантировало, что его соблюдают. Дальше — ровно об этом.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issue `anthropics/claude-code#42863`, закрыт как «not planned» в апреле 2026: агент дословно проигнорировал правило `CLAUDE.md`, требующее подтверждения перед доступом к файлам вне рабочей директории, — выполнил `msiexec /i` с записью в `C:\Program Files`, регистрацией служб и правкой реестра в системе, без единого запроса на подтверждение. Правило было написано корректно, по всем канонам, которые мы только что разобрали. Оно просто не сработало.</a:t>
            </a:r>
          </a:p>
          <a:p/>
          <a:p>
            <a:r>
              <a:t>Второй слой — не другой инцидент, а углубление того же принципа. Личный кейс автора dev.to, заголовок дословно: «I Wrote 200 Lines of Rules for Claude Code. It Ignored Them All». Двести строк `CLAUDE.md`, плюс 258 файлов базы знаний — почти не были прочитаны, «write-only» документация. Детальные протоколы и «запрещённые фразы» не помогли ни разу. Вывод автора, дословно: «Rules in prompts are requests. Hooks in code are laws» — правила в промптах это просьбы, хуки в коде это законы. Это прямой мост к следующей ступени лестницы.</a:t>
            </a:r>
          </a:p>
          <a:p/>
          <a:p>
            <a:r>
              <a:t>Важно не спутать вывод этого провала с отказом от файла инструкций вообще — `CLAUDE.md`, который мы только что собрали, реально закрыл конкретную боль: агент перестал переспрашивать команды сборки и теста. Вывод точнее: файл инструкций хорошо решает задачу «агент не знает» — он не решает задачу «агент знает, но всё равно нарушает». Для второй задачи в лестнице есть отдельная ступень, и она будет следующей.</a:t>
            </a:r>
          </a:p>
          <a:p/>
          <a:p>
            <a:r>
              <a:t>Критерий «здесь не нужно» этой ступени стоит проговорить отдельно: крошечный репозиторий или одноразовый скрипт, где структура помещается в один экран и не требует нестандартных команд сборки, — файл добавляет только налог на контекст без компенсирующей выгоды.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независимых замера, оба про один и тот же файл инструкций, но с разных сторон. Первый — контролируемый эксперимент Gloaguen et al., `arXiv:2602.11988`: LLM-сгенерированные файлы вида «repository overview» — то есть то самое пересказанное описание архитектуры, которое зал уже отверг в разборе ответов на открытый вопрос, — не дали измеримого выигрыша в успехе задачи, при этом подняли стоимость и число шагов на 20–23% в любом случае. Это прямое численное подтверждение вывода, к которому зал пришёл сам: файл нужен не как факт присутствия, а как конкретное содержание, которого агент иначе не узнает.</a:t>
            </a:r>
          </a:p>
          <a:p/>
          <a:p>
            <a:r>
              <a:t>Второй замер — IFScale, `arXiv:2507.11538`, отвечает на другой вопрос: что происходит, когда правил становится много. Даже лучшие модели держат только 68% точности при 500 одновременных инструкциях, и соблюдение падает почти линейно с их числом — чем длиннее файл инструкций, тем ниже шанс, что каждая конкретная строка в нём реально будет соблюдена. Это прямо объясняет, почему провал предыдущего слайда — 200 строк правил, полностью проигнорированных, — не случайность отдельного случая, а системная закономерность: раздувание файла не увеличивает контроль, оно его размывает.</a:t>
            </a:r>
          </a:p>
          <a:p/>
          <a:p>
            <a:r>
              <a:t>Официальная рекомендация Anthropic здесь однозначна и цитируется дословно: «Bloated CLAUDE.md files cause Claude to ignore your actual instructions!» — раздутый `CLAUDE.md` заставляет Claude игнорировать ваши реальные инструкции. Официальный таргет — не больше примерно 200 строк, и начиная с версии 2.1.206 команда `/doctor` сама предлагает урезания, когда файл превышает разумный объём.</a:t>
            </a:r>
          </a:p>
          <a:p/>
          <a:p>
            <a:r>
              <a:t>Стоит держать в голове ещё одну техническую деталь: иерархия загрузки CLAUDE.md — managed, user, project, local, вложенные каталоги — все уровни конкатенируются, а не перекрывают друг друга, и противоречие между уровнями агент разрешает произвольно. `@`-импорты не экономят контекст: импортированный файл всё равно грузится целиком, просто визуально вынесен в отдельный файл.</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«здесь файл ещё не нужен» держится на одном условии: крошечный репозиторий или одноразовый скрипт, где структура помещается в один экран и не требует нестандартных команд сборки. В такой ситуации файл добавляет только налог на контекст без компенсирующей выгоды — и это косвенно подтверждает тот же эксперимент Gloaguen et al. с предыдущего слайда: выигрыш файла проявляется только там, где он закрывает реальный пробел в документации, а не там, где пробела попросту нет.</a:t>
            </a:r>
          </a:p>
          <a:p/>
          <a:p>
            <a:r>
              <a:t>Базовая метафора, которую стоит унести с этой ступени: агент читает `CLAUDE.md` в начале каждой сессии — как памятка на столе нового сотрудника, которую читают, хочет он того или нет, вне зависимости от того, нужна она сегодня конкретно или нет. Именно поэтому каждая строка в файле должна окупать это обязательное чтение — а строка, которую агент и так вывел бы за секунды из кода, только этот налог и создаёт, ничего не давая взамен.</a:t>
            </a:r>
          </a:p>
          <a:p/>
          <a:p>
            <a:r>
              <a:t>Файл инструкций закрыл вопрос про команды сборки. Но решение — например, почему в форме нет сторонней библиотеки валидации — в `CLAUDE.md` не попадёт: это не про команды, это про то, что вы уже один раз отклонили как вариант. Агент забывает решения между сессиями точно так же, как забывал команды до этой ступени — с той разницей, что для решений и их обоснований у лестницы есть отдельный, следующий блок.</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поднимаемся на вторую ступень лестницы. У сайта signup-landing уже есть `CLAUDE.md` и симлинк `AGENTS.md` — они появились на ступени 1 и отвечают на вопрос «что агент должен знать всегда»: команды сборки и теста, структура репозитория, соглашения по коммитам. Этого достаточно, пока речь идёт о стабильных правилах, которые вы формулируете заранее и один раз.</a:t>
            </a:r>
          </a:p>
          <a:p/>
          <a:p>
            <a:r>
              <a:t>Но у работы над реальным сайтом есть другой тип информации — не правило, а решение, принятое по ходу дела и объяснённое агенту один раз в разговоре. Такое решение не попадает в `CLAUDE.md` автоматически, и в следующей сессии агент его просто не помнит — не потому что модель плохая, а по конструкции: каждый запрос обрабатывается независимо, а то, что называют «памятью», это ровно то, что заново подано текстом на вход. Без записи на диск ничего не переживает конец сессии.</a:t>
            </a:r>
          </a:p>
          <a:p/>
          <a:p>
            <a:r>
              <a:t>На этой ступени в репозитории появляется новый файл — `DECISIONS.md`, рядом с уже существующими `CLAUDE.md` и `AGENTS.md`. Но, забегая вперёд: файла на диске недостаточно самого по себе — важно, какого рода факты в него попадают, а какие остаются в другом, отдельном механизме. Есть и второй слой, который вообще не требует заводить новый файл руками — авто-память рантайма, живущая вне репозитория, в домашней папке пользователя, и включённая по умолчанию. Она реагирует на прямую просьбу «запомни это» и создаёт запись сама, без явного `git add`. Разница между этим слоем и `DECISIONS.md` — не техническая деталь, а вопрос того, кто именно должен увидеть решение: одна машина конкретного человека или вся команда через историю git.</a:t>
            </a:r>
          </a:p>
          <a:p/>
          <a:p>
            <a:r>
              <a:t>Именно это разведение мы сейчас разберём на конкретном случае с формой заявки, который уже происходит с этим сайтом второй раз за неделю: одно и то же решение объясняется агенту заново, потому что оно нигде не осело физически.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конкретная ситуация с нашим сайтом. Вторую неделю подряд, в разных сессиях, вы объясняете агенту одно и то же: форма проверяет обязательные поля нативным HTML5, атрибутами `required` и `pattern`, а не сторонней библиотекой валидации форм. Эта библиотека уже была явно отклонена в прошлой сессии — вы тогда решили, что подключать отдельную зависимость ради формы из двух полей не имеет смысла. Сегодня агент снова предлагает её подключить, как будто разговора вообще не было.</a:t>
            </a:r>
          </a:p>
          <a:p/>
          <a:p>
            <a:r>
              <a:t>Задайте вопрос залу дословно: вы второй раз за неделю объясняете агенту, почему в форме заявки нет сторонней библиотеки валидации — то самое решение, которое уже отклонили в прошлой сессии. Куда это должно попасть, чтобы не объяснять в третий раз — и почему не в `CLAUDE.md`? Дайте залу 10-15 секунд подумать молча, затем соберите минимум два-три варианта, не подсказывая решение сразу.</a:t>
            </a:r>
          </a:p>
          <a:p/>
          <a:p>
            <a:r>
              <a:t>Если зал молчит — запасная формулировка: проще — если бы вы могли сказать агенту одну фразу «запомни это», куда бы физически ушла эта запись, по-вашему?</a:t>
            </a:r>
          </a:p>
          <a:p/>
          <a:p>
            <a:r>
              <a:t>Ожидайте типичный разброс: кто-то предложит дописать это прямо в `CLAUDE.md`, кто-то скажет, что агент и так должен запоминать сам, кто-то вспомнит про отдельные системы памяти вроде Mem0 или Zep, и кто-то — целевой ответ — предложит явно попросить агента запомнить и параллельно завести отдельный файл для таких решений. Разберём все четыре по очереди и покажем, где именно каждый ломается, прежде чем дойти до двух механизмов как целевого решения.</a:t>
            </a:r>
          </a:p>
          <a:p/>
          <a:p>
            <a:r>
              <a:t>Обратите внимание на формулировку боли: это не абстрактное «агент забывчив», а конкретный измеримый факт — решение уже было принято и произнесено вслух, но не пережило конец сессии. Та же логика применима к любому проекту в зале: у кого-то это выбор библиотеки, у кого-то — договорённость о формате коммитов, у кого-то — причина, по которой отклонили конкретный подход к архитектуре. Признак один и тот же: решение объясняется устно, а не фиксируется физически.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из двух параллельных механизмов памяти — авто-память рантайма, включена по умолчанию с версии Claude Code ≥2.1.59, и она живёт не в репозитории сайта, а вне его, в `~/.claude/projects/&lt;project&gt;/memory/`. Устроена она из двух слоёв: индекс `MEMORY.md`, первые 200 строк или 25 КБ которого загружаются в каждую сессию автоматически, и тематические файлы по типам — `user`, `feedback`, `project`, `reference`.</a:t>
            </a:r>
          </a:p>
          <a:p/>
          <a:p>
            <a:r>
              <a:t>Для нашего сценария команда «запомни, что мы не подключаем библиотеку валидации форм, обходимся нативным HTML5» создаёт отдельный файл `feedback_native-form-validation.md` — не потому что вы явно указали путь, а потому что агент сам классифицировал факт как обратную связь о принятом решении. Проверить это можно командой `/memory`: она выводит список всех файлов памяти этого проекта, и новый файл должен появиться в этом списке сразу после того, как вы попросили что-то запомнить.</a:t>
            </a:r>
          </a:p>
          <a:p/>
          <a:p>
            <a:r>
              <a:t>Но самого факта существования файла недостаточно, чтобы доверять механизму — файл на диске и факт, реально загруженный в контекст следующей сессии, не одно и то же. Поэтому вторая часть проверки — открыть новую сессию того же репозитория и выполнить `/context`: только если `MEMORY.md` виден среди перечисленного загруженного контекста, а не только в файловой системе, можно быть уверенным, что механизм действительно работает, а не просто существует файлом.</a:t>
            </a:r>
          </a:p>
          <a:p/>
          <a:p>
            <a:r>
              <a:t>Держите в голове важную границу этого механизма: он быстрый, непрерывный и полностью машинно-локальный. Он не проходит код-ревью и не синхронизируется между машинами — если вы работаете за вторым компьютером или другой участник продолжает эту же задачу, файл памяти с первой машины ему не виден. Именно эта граница и подводит к второму механизму — `DECISIONS.md`, который живёт внутри самого репозитория и версионируется через git.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механизм — `DECISIONS.md`, git-трекнутый, append-only лог «почему» прямо в репозитории сайта. Перед вами реальный diff: новый файл с семью строками, заголовок, одна вводная строка про формат («append-only log of why, in date order»), и первая содержательная запись. Формат записи фиксированный: заголовок `## YYYY-MM-DD — &lt;решение одной строкой&gt;`, затем одно-три предложения причины. В нашем случае: форма — два поля, хватает нативных `required` и `pattern` в `index.html`, сторонняя библиотека — лишняя зависимость и лишние килобайты в сборке ради этого объёма.</a:t>
            </a:r>
          </a:p>
          <a:p/>
          <a:p>
            <a:r>
              <a:t>Разница ролей между `DECISIONS.md` и авто-памятью, которую мы только что видели, принципиальна, и её стоит проговорить явно. Авто-память — быстрый, непрерывный, машинно-локальный слой: она создаётся одной фразой «запомни», не проходит код-ревью и не синхронизируется между машинами. `DECISIONS.md` — противоположность по всем трём признакам: запись делается один раз осознанно, коммитится и ревьюится точно так же, как любой другой файл в пул-реквесте, и видна всем участникам через git, а не только тому, кто был за этой конкретной машиной в момент разговора.</a:t>
            </a:r>
          </a:p>
          <a:p/>
          <a:p>
            <a:r>
              <a:t>Третий, ранее существовавший файл — `CLAUDE.md` — в эту пару не входит, и важно не смешивать все три. `CLAUDE.md` — статичные правила, которые вы пишете заранее и которые должны оставаться стабильными: команды сборки, структура репозитория. `DECISIONS.md` — растущий журнал причин, которые накапливаются по ходу работы. Если начать дописывать решения прямо в `CLAUDE.md`, файл довольно быстро — при повторении такого паттерна на десятки решений — перевалит за условные 200 строк и начнёт работать против себя, ровно та проблема, которую раздел 1 уже показал на процедуре деплоя.</a:t>
            </a:r>
          </a:p>
          <a:p/>
          <a:p>
            <a:r>
              <a:t>Практический рецепт: скопировать шаблон `DECISIONS.md` из `/tmp/ahr/templates/base-project-template/with-git/DECISIONS.md`, дописать запись по этому формату и закоммитить файл — обычным коммитом, без специального ритуала.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Сентябрь 2024 года. SpAIware — атака на macOS-приложение ChatGPT, найдена Johann Rehberger. Непрямая инъекция через текст, который агент просто прочитал в рамках обычной работы, внедрила ложную инструкцию в долговременную память. Инструкция пережила конец конкретного разговора и активировалась в будущих сессиях — включая непрерывную эксфильтрацию переписки на сервер атакующего, без дальнейшего участия пользователя. OpenAI закрыл конкретный вектор эксфильтрации в версии 1.2024.247, тоже в сентябре 2024. Но структурный принцип, который стоит унести с этого слайда, остался неизменным: однажды попавшее в память обслуживается системой как доверенный контекст бессрочно, независимо от того, откуда факт на самом деле взялся.</a:t>
            </a:r>
          </a:p>
          <a:p/>
          <a:p>
            <a:r>
              <a:t>Второй слой — та же структурная проблема, но на собственном инструменте Anthropic, и с другой стороны: не «чему нельзя доверять», а «что вообще будет записано». Anthropic Memory Tool работает по принципу «ephemeral discretion» — модель сама решает, что «стоит» запоминать, а что нет. Живой тест `harness-eval`, issue #40, 2026 год: на 4 из 24 задач, это 17%, модель явно отказалась записать нужный факт, хотя факт был явно значим для задачи. Хуже того — один и тот же диалог, обработанный дважды одинаково, один раз факт сохранил, другой раз — нет. Это не баг одного прогона, а задокументированное свойство: усмотрение модели непоследовательно между запусками.</a:t>
            </a:r>
          </a:p>
          <a:p/>
          <a:p>
            <a:r>
              <a:t>Практический вывод для нашего сценария прямой: не доверяйте содержимому памяти как инструкции, если источник записи — недоверенный внешний контент, и не полагайтесь на то, что критичный факт будет сохранён автоматически без явной проверки. Именно поэтому решение об отклонённой библиотеке валидации попадает не в одно место, а в два — авто-память как быстрый слой и `DECISIONS.md` как проверяемая, версионируемая запись, которая не зависит от усмотрения модели в конкретном прогоне.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условий, и если верно большинство из них — заводить отдельный слой памяти для конкретной задачи ещё рано. Задача одноразовая, без повторов в будущем. Весь нужный контекст помещается в одно окно диалога и не теряется между сессиями. Правила проекта стабильны и целиком укладываются в `CLAUDE.md` объёмом меньше 200 строк — то есть статичный файл справляется сам, без растущего журнала решений рядом. Никто вручную не повторяет одну и ту же правку или объяснение из сессии в сессию. Нет нескольких участников, которым нужно делиться контекстом асинхронно, как это бывает в команде. И, наконец, факт и так надёжно выводится из кода или из истории git — записывать его отдельно избыточно.</a:t>
            </a:r>
          </a:p>
          <a:p/>
          <a:p>
            <a:r>
              <a:t>Нюанс, который стоит унести с этого раздела в речи, а не на слайде: даже когда память заведена правильно, она не бесплатна и не всегда полезна автоматически. `MEMORY.md` грузится в контекст лимитированно — первые 200 строк или 25 КБ, не больше, и записи делятся на типы `user`, `feedback`, `project`, `reference`, что тоже влияет на то, что реально попадёт в сессию. Риск отравления памяти реален буквально в структурном смысле, который мы только что разобрали на провале: не стоит доверять содержимому памяти как инструкции, если источник записи — недоверенный внешний контент, прочитанный агентом мимоходом.</a:t>
            </a:r>
          </a:p>
          <a:p/>
          <a:p>
            <a:r>
              <a:t>И последнее число, которое стоит проговорить прямо: живой замер `harness-eval` показывает, что CrewAI Memory с включённой памятью даёт 46,0% на бенчмарке LongMemEval, а без памяти — 57,6%. Включение памяти сделало систему хуже, не лучше. Память — не универсальное улучшение по умолчанию, а конкретный инструмент под конкретную боль, которую мы только что видели на форме заявки: решение, отклонённое однажды, но объясняемое заново каждую неделю.</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лестницы. Решение об отклонённой библиотеке валидации теперь записано и в авто-памяти, и в `DECISIONS.md` — но эти два механизма фиксируют факты и мнения, не гарантируют, что агент им следует на практике. Более того, у сайта уже есть `CLAUDE.md`, а в нём текстом написано правило: «никогда не коммитьте напрямую в main». Формулировка корректна, ошибок в ней нет.</a:t>
            </a:r>
          </a:p>
          <a:p/>
          <a:p>
            <a:r>
              <a:t>Проблема в другом: `CLAUDE.md` — это знание, которое агент читает и учитывает при принятии решения, но учитывать — не то же самое, что не иметь физической возможности нарушить. Текстовое правило остаётся просьбой ровно до тех пор, пока его исполнение зависит от того, вспомнит ли агент про него в конкретный момент, под конкретным давлением обстоятельств — например, накануне показа сайта заказчику, когда правки идут быстро и в спешке.</a:t>
            </a:r>
          </a:p>
          <a:p/>
          <a:p>
            <a:r>
              <a:t>На этой ступени в репозитории появляется `.claude/settings.json` с хуком — файл, который среда читает и исполняет сама, до того как команда вообще выполнится, независимо от того, что «помнит» или «забыл» агент в данный момент диалога. Разница принципиальная: файл инструкций формулирует правило для модели, хук делает нарушение правила физически невозможным на уровне разрешений.</a:t>
            </a:r>
          </a:p>
          <a:p/>
          <a:p>
            <a:r>
              <a:t>Важно сразу отметить границу механизма, чтобы не переоценить его позже: хук проверяет синтаксис одной конкретной команды в один конкретный момент, а не весь план целиком и не намерение агента. Он не умнее правила, которое в него заложено — он просто исполняет это правило механически, каждый раз, без исключений и без усталости. Именно эта механичность и есть то, чего не хватало тексту в `CLAUDE.md`. Сейчас разберём конкретный случай, из-за которого этот механизм здесь понадобился.</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конкретная ситуация с тем же сайтом. Завтра — показ заказчику, фиксированная дата, которая создаёт давление на всю работу последних часов. В `CLAUDE.md` уже написано текстом: «никогда не коммитьте напрямую в main» — формулировка правильная, без двусмысленности. Накануне вечером, в спешке перед показом, агент всё равно выполняет `git commit` прямо на `main`: правка формы уходит в продакшен-ветку без отдельной ветки и без ревью. Правило было сформулировано абсолютно корректно текстом. Оно осталось просьбой, а не барьером.</a:t>
            </a:r>
          </a:p>
          <a:p/>
          <a:p>
            <a:r>
              <a:t>Задайте вопрос залу дословно: завтра показ сайта заказчику, в `CLAUDE.md` написано «никогда не коммитьте напрямую в main», агент только что, накануне показа, закоммитил правку формы в main — текстом всё было сказано правильно. Что вы делаете, чтобы это стало невозможно, а не просто маловероятно? Дайте залу 10-15 секунд подумать молча, затем соберите минимум два-три варианта.</a:t>
            </a:r>
          </a:p>
          <a:p/>
          <a:p>
            <a:r>
              <a:t>Если зал молчит — запасная формулировка: проще — кто физически должен остановить этот коммит, человек, который каждый раз проверяет руками, или что-то, что сделает это само?</a:t>
            </a:r>
          </a:p>
          <a:p/>
          <a:p>
            <a:r>
              <a:t>Ожидайте типичный разброс: кто-то предложит переписать правило капсом или добавить «ВАЖНО», кто-то — проверять руками после каждого коммита, кто-то вспомнит про branch protection на GitHub или GitLab, и кто-то — целевой ответ — предложит хук, который блокирует `git commit` на main механически. Разберём все четыре, начиная с того, почему капс и эмфаза не создают барьера — и это не мнение, а измеренный факт: IFScale (`arXiv:2507.11538`) показывает, что даже лучшие модели держат только 68% точности при 500 одновременных инструкциях, а комплаенс падает почти линейно с их числом.</a:t>
            </a:r>
          </a:p>
          <a:p/>
          <a:p>
            <a:r>
              <a:t>Branch protection на сервере разберите отдельно и без спешки: это разумная, законная защита, которую стоит держать в любом случае, но она не даёт агенту мгновенной локальной обратной связи и не мешает самой попытке коммита локально — она ловит проблему уже после того, как агент потратил время на неправильное действие, а не до него. Ручную проверку тоже не стоит отбрасывать с ходу: она реально работает, пока хватает дисциплины, но стоимость растёт с частотой использования и отменяет саму идею автоматизации, ради которой вообще взяли агента. Держите паузу до тех пор, пока кто-то не назовёт именно механический барьер — тогда переходите к разбору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Процитируем рабочий хук из шаблона курса целиком и разберём по частям. `"matcher": "Bash"` — хук вызывается только перед вызовами инструмента `Bash`, не перед чтением файлов или другими действиями. `jq -r '.tool_input.command'` вытаскивает саму команду из JSON, который Claude Code передаёт хуку через stdin, — хук не видит весь диалог, только конкретный вызов. `grep -qE` ищет `git commit` как отдельную команду в начале строки или после `;`, `&amp;`, `|`, не как подстроку внутри чего-то другого.</a:t>
            </a:r>
          </a:p>
          <a:p/>
          <a:p>
            <a:r>
              <a:t>Ключевая деталь — выбор команды определения ветки: `git symbolic-ref --short HEAD`, а не более привычная `git rev-parse --abbrev-ref HEAD`. У свежего репозитория, в котором ещё нет ни одного коммита, «unborn HEAD», `rev-parse` завершается ошибкой и молча оставляет проверку ветки нерабочей — хук как будто есть, а определить текущую ветку не может вообще. `symbolic-ref` резолвит имя ветки корректно в обоих случаях, и с коммитами, и без них.</a:t>
            </a:r>
          </a:p>
          <a:p/>
          <a:p>
            <a:r>
              <a:t>Вторая деталь — проверка `! git rev-parse --is-inside-work-tree`. Если это вообще не git-репозиторий — например, шаблон скопировали в обычную папку до `git init` — хук не пропускает коммит молча, что выглядело бы как защита без защиты, а возвращает `"ask"` с явным предупреждением: гейт неактивен, потому что репозитория ещё нет.</a:t>
            </a:r>
          </a:p>
          <a:p/>
          <a:p>
            <a:r>
              <a:t>Наконец, формат ответа — `hookSpecificOutput.permissionDecision`, современный JSON-контракт хука. Отдельный нюанс, не показанный живой демонстрацией: код возврата `2` блокирует действие безусловно, даже если тот же хук вернул JSON с `"allow"` — код выхода побеждает JSON-решение внутри него.</a:t>
            </a:r>
          </a:p>
          <a:p/>
          <a:p>
            <a:r>
              <a:t>Обратите внимание и на `"timeout": 10` в конце блока — десять секунд на всю проверку, включая запуск `jq` и двух вызовов `git`. Это не случайное число: слишком короткий таймаут рискует отвалиться на медленной машине и пропустить коммит без проверки, слишком длинный — заметно тормозит каждую попытку коммита, даже безопасную. Файл, который вы видите на слайде, — не абстрактный пример из документации, а рабочий файл из шаблона курса, тот же самый, который будет скопирован в `signup-landing/.claude/settings.json` без сокращений. Сейчас посмотрим, как этот хук ведёт себя на реальной попытке коммита.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Текущая ветка — `main`, проверено той же командой `git symbolic-ref --short HEAD`, которую мы только что разобрали построчно. Агент пытается закоммитить правку формы: `git commit -m "fix: second form field"`. Хук получает эту команду через stdin, видит `git commit` как отдельную команду, видит, что репозиторий реальный и ветка — `main`, и возвращает `permissionDecision: "deny"` с дословным текстом причины: «BLOCKED: direct commit to main/master. Create a feature branch first.» Коммит не создан.</a:t>
            </a:r>
          </a:p>
          <a:p/>
          <a:p>
            <a:r>
              <a:t>Это ровно тот случай, о котором стоит сказать прямо, процитировав шаблон курса дословно: «a gate is not installed because its file exists — it is installed once observed firing against a real case». Слайд, который вы только что видели, — это и есть то самое наблюдаемое срабатывание, не гипотетическое описание того, что хук «должен» делать, а зафиксированный факт того, что он реально сделал на реальной попытке коммита.</a:t>
            </a:r>
          </a:p>
          <a:p/>
          <a:p>
            <a:r>
              <a:t>Обратите внимание на важную деталь формата: `exit code: 0`. Хук не упал с ошибкой — он отработал штатно и сознательно вернул решение `deny` через JSON. Это отличает данный случай от «тихого несрабатывания», которое разберём в провале этого раздела: там хук либо вообще не запускается, либо падает по таймауту, и тогда никакого JSON-ответа не будет вовсе, а вызов пойдёт по обычному пути разрешений, как если бы хука не было.</a:t>
            </a:r>
          </a:p>
          <a:p/>
          <a:p>
            <a:r>
              <a:t>Обратите внимание, что агент здесь не «согласился» с отказом и не понял, что был неправ, — согласие вообще не участвует в этой схеме. Разрешение решается на уровне среды выполнения, до того как модель вообще успевает сформулировать следующий шаг диалога. В этом и есть разница со ступенью 1: там правило работало, только пока агент решал ему следовать; здесь агент физически не может довести действие до конца, вне зависимости от того, что он «думает» по этому поводу.</a:t>
            </a:r>
          </a:p>
          <a:p/>
          <a:p>
            <a:r>
              <a:t>Дальше — вопрос, который должен возникнуть сразу: что произойдёт, если агент сначала переключится на отдельную ветку? Ровно это мы сейчас и посмотрим — тот же самый коммит, другая ветка.</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switch -c fix-form-field` — отдельной командой, до попытки коммита. Ветка сменилась, что видно в блоке `current branch: fix-form-field`. Тот же самый текст коммита, `git commit -m "fix: second form field"`, без единого изменения содержимого, подаётся хуку снова. На этот раз stdout хука пуст — хук не вернул `deny`, проверка ветки внутри условия просто не сработала, потому что текущая ветка не `main` и не `master`. Пустой вывод при коде выхода `0` означает: хук отработал, но не заблокировал, и коммит проходит по обычному пути разрешений дальше.</a:t>
            </a:r>
          </a:p>
          <a:p/>
          <a:p>
            <a:r>
              <a:t>Здесь стоит явно проговорить нюанс, который легко упустить и который зафиксирован в собственном дневнике шаблона курса. Хук читает текущую ветку до выполнения всей Bash-команды целиком, а не после каждого отдельного шага внутри неё. Из этого следует практическое правило: `git switch fix-form-field &amp;&amp; git commit -m "..."` одной строкой всё равно получит `deny`, потому что в момент проверки хук видит ветку, с которой всё началось, — `main`, — а не ту, на которую команда переключится через несколько секунд после запуска. Именно поэтому в рецепте `git switch -c` выполняется отдельным вызовом, а не в одной строке с коммитом через `&amp;&amp;`.</a:t>
            </a:r>
          </a:p>
          <a:p/>
          <a:p>
            <a:r>
              <a:t>Хук не читает намерение всего плана, он читает синтаксис одной конкретной команды в один конкретный момент. Механизм узкий и предсказуемый — что одновременно и его сила, и его ограничение, к которому мы вернёмся в провале раздела.</a:t>
            </a:r>
          </a:p>
          <a:p/>
          <a:p>
            <a:r>
              <a:t>Стоит явно проговорить, почему это не «баг» хука, а прямое следствие его устройства. Хук получает на вход ровно тот JSON, который Claude Code формирует непосредственно перед вызовом инструмента `Bash`, — снимок состояния на этот момент, не поток событий изнутри самой команды. Требовать от него отслеживать состояние репозитория в реальном времени внутри одной composite-команды означало бы полностью менять модель работы хука, а не чинить частную деталь. Разработчику, который держит это ограничение в голове, достаточно одной привычки: команды, меняющие ветку, и команды, коммитящие изменения, — это два отдельных вызова, а не один составной.</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случай, который стоит показать отдельно от `deny` и от тихого `allow` на рабочей ветке. Каталог `/tmp/no-repo-demo` — `git init` в нём ни разу не выполнялся. Прямая проверка `git rev-parse --is-inside-work-tree` завершается ошибкой: «fatal: not a git repository», код выхода 128. Это не гипотетическая ситуация — именно так шаблон курса мог оказаться скопированным в обычную папку до инициализации git, и хук должен как-то вести себя именно в этот момент, не только в уже готовом репозитории.</a:t>
            </a:r>
          </a:p>
          <a:p/>
          <a:p>
            <a:r>
              <a:t>На попытку `git commit -m "initial"` в таком каталоге хук не пытается угадать ветку — угадывать нечего, репозитория нет физически. Вместо `deny` он возвращает `permissionDecision: "ask"` с развёрнутым текстом предупреждения: гейт защиты веток неактивен, потому что git-репозитория ещё нет, и хук в принципе не может ничего проверить; если нужна защита main/master, сначала нужно выполнить `git init`, а прямо сейчас коммит пройдёт без какой-либо дисциплины по веткам.</a:t>
            </a:r>
          </a:p>
          <a:p/>
          <a:p>
            <a:r>
              <a:t>Это решение сознательное, а не случайное поведение по умолчанию. Альтернатива — молча пропустить коммит, раз проверка невозможна, — выглядела бы как работающая защита, хотя на деле защиты в этот момент нет вообще: никакого сигнала пользователю, никакой записи о том, что гейт не сработал. `ask` вместо тихого `allow` — это прямое применение принципа, который встретится в провале раздела с другой стороны: гейт, который тихо не срабатывает, неотличим на вид от гейта, который прошёл успешно. Здесь эта проблема решена явно: репозитория нет — хук об этом прямо говорит, а не делает вид, что проверил.</a:t>
            </a:r>
          </a:p>
          <a:p/>
          <a:p>
            <a:r>
              <a:t>Три случая — `deny` на main, тихий `allow` на рабочей ветке и явный `ask` вне репозитория — вместе описывают полное поведение хука на всех состояниях, которые он вообще способен различить. Ни одно из трёх состояний не оставляет пользователя в неведении о том, что произошло: либо коммит заблокирован с названной причиной, либо прошёл штатно, либо прошёл с явным предупреждением о собственной неполноте. Именно такая полнота охвата и отличает проверенный гейт от гейта, который «вроде бы работает», — и именно это стоит проверить в своём собственном хуке, прежде чем на него полагаться.</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CVE-2025-59536, CVSS 8.7, обнаружено Check Point Research. Вредоносный хук на событии `SessionStart` в чужом `.claude/settings.json` выполнялся сразу после клонирования репозитория и запуска `claude` — команды из хука уже отработали к моменту, когда диалог доверия к папке вообще появился на экране. Найдена и сообщена 21 июля 2025 года, патч вышел 26 августа, публикация advisory — 29 августа. Хук, тот же самый механизм, который на предыдущих слайдах защищал ветку `main`, здесь стал вектором атаки раньше, чем пользователь успел на что-либо согласиться — потому что хуки, как и весь остальной репозиторий, это исполняемый код, а значит и поверхность атаки, не только полезный инструмент.</a:t>
            </a:r>
          </a:p>
          <a:p/>
          <a:p>
            <a:r>
              <a:t>Второй слой — то же явление под другим углом: почему хук может тихо не сработать вовсе. Один невалидный `matcher` в `settings.json` отключает все хуки файла целиком, без единой ошибки в интерфейсе — это задокументировал Alex Dunlop в разборе «Claude Code Hook Not Firing» в 2026 году. `PreToolUse`-хук, не уложившийся в таймаут — 30 секунд у `UserPromptSubmit` — не блокирует действие, а просто отваливается, и вызов идёт по обычному пути разрешений, как если бы хука не было вовсе. Третья, менее очевидная деталь: субагенты не запускают родительские хуки — если задача делегирована в изолированный контекст субагента, защита основной сессии на неё не распространяется автоматически.</a:t>
            </a:r>
          </a:p>
          <a:p/>
          <a:p>
            <a:r>
              <a:t>Цитата, которую стоит повторить дословно: «when a gate doesn't fire, nothing happens, which is exactly what a passing gate looks like» — гейт, который тихо не сработал, неотличим на вид от гейта, который сработал и пропустил допустимое действие. Именно поэтому рецепт этого раздела заканчивается не установкой файла, а требованием: спровоцировать `deny` вживую хотя бы раз и увидеть его своими глазами, прежде чем считать защиту реальной, а не просто существующей файлом на диске.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условия, и если верно большинство — заводить хук под конкретное правило ещё рано. Первое: та же проверка дешевле реализуется в CI или линтере на уровне пул-реквеста, чем дублировать её на каждый `PostToolUse` внутри интерактивной сессии — незачем платить цену локальной проверки за то, что и так поймает сервер до мержа. Второе: хук становится тормозом при стекировании нескольких проверок подряд — «hook bloat has no error message. Nothing fails. Everything just gets slower, gradually», как формулирует Alex Dunlop: раздутие числа хуков не выдаёт явной ошибки, просто вся работа постепенно замедляется без видимой причины. Третье: правило по сути не механизируемо — суждение вроде «не переусложняй реализацию» или «выбери более простой подход» честнее оставить человеку или отдельному критику, а не пытаться закодировать в `grep`-паттерн. Четвёртое: соло-разработчик с низким blast radius — риск ещё не стал реальным настолько, чтобы оправдать дополнительный исполняемый код в репозитории, который сам становится поверхностью атаки.</a:t>
            </a:r>
          </a:p>
          <a:p/>
          <a:p>
            <a:r>
              <a:t>Нюанс, который стоит унести в речи, а не на слайде: `deny` в permissions всегда побеждает `allow`, даже более узкий и точный, — если два правила противоречат друг другу, выигрывает более строгое, не более специфичное. Второе, отдельное CVE того же механизма — CVE-2026-21852, утечка API-ключа через `ANTHROPIC_BASE_URL` в чужом `settings.json`, тот же тип риска, что и провал этого раздела, но другой вектор. И последний острый край: хук на `Bash` фильтрует синтаксис одной конкретной команды, не намерение всего плана целиком — обёртывание команды через промежуточный файл или base64 способно обойти проверку, построенную на простом `grep` по тексту команды.</a:t>
            </a:r>
          </a:p>
          <a:p/>
          <a:p>
            <a:r>
              <a:t>Хук защитил ровно одно конкретное правило — коммит в main. Но `CLAUDE.md` продолжает расти: за несколько недель туда набежала процедура деплоя на сорок строк, которая грузится в контекст каждой сессии, даже когда речь не о деплое вообще, а о мелком баг-фиксе.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поднимаемся на четвёртую ступень лестницы. К этому моменту у сайта signup-landing уже есть файл инструкций CLAUDE.md, есть память в виде MEMORY.md и есть хук, который не пускает прямой коммит в main. Всё это — конфигурация, которая грузится в контекст каждой сессии, потому что каждая из этих вещей действительно нужна каждой сессии: правила проекта, накопленные решения, жёсткий запрет. Но сейчас в CLAUDE.md появилась ещё одна вещь — процедура деплоя на прод, сорок строк текста. И вот с ней всё иначе: она нужна не каждой сессии, а примерно раз в две недели, когда реально пора выкатывать изменения. Всё остальное время эти сорок строк просто лежат в контексте мёртвым грузом — увеличивают объём, который модель обязана держать в голове, даже когда речь идёт о правке цвета кнопки в форме.</a:t>
            </a:r>
          </a:p>
          <a:p/>
          <a:p>
            <a:r>
              <a:t>Скилл — это ответ именно на такую форму боли: процедура существует, она полезна, но она не универсальна, и её присутствие в контексте должно зависеть от того, релевантна ли она текущему запросу. В отличие от файла инструкций, который грузится всегда целиком, скилл описывает себя коротким description и подгружается только тогда, когда модель сама решает, что задача подходит под это описание.</a:t>
            </a:r>
          </a:p>
          <a:p/>
          <a:p>
            <a:r>
              <a:t>Дальше — тот же сценарий с сорока строками деплоя, живой вопрос залу «куда вынести процедуру, чтобы агент сам понял, когда её открыть», а затем разбор на материале собственного курса: посмотрим, сколько из тринадцати скиллов этого же курса реально умеют срабатывать по смыслу запроса, а не только по прямому вызову командой через слэш.</a:t>
            </a:r>
          </a:p>
          <a:p/>
          <a:p>
            <a:r>
              <a:t>Важно держать в голове разницу с предыдущими ступенями: файл инструкций и память отвечают на вопрос «что агент должен знать всегда», хук отвечает на вопрос «что агенту нельзя нарушать никогда», а скилл отвечает на третий, отдельный вопрос — «что агент должен уметь достать с полки именно тогда, когда это в тему», и ни минутой раньше.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конкретная ситуация с нашим сайтом. За несколько недель работы в CLAUDE.md накопилась процедура деплоя на прод — собрать сайт, прогнать smoke-тест формы, опубликовать на Cloudflare Pages, проверить, что прод-URL реально работает. Сорок строк текста. Нужна эта процедура не каждый день — примерно раз в две недели, когда действительно пора выкатывать накопленные изменения. Но CLAUDE.md грузится в контекст целиком при старте любой сессии, а значит эти сорок строк читаются моделью каждый раз — даже если вы просто просите поправить цвет кнопки в форме, задачу, вообще не связанную с деплоем.</a:t>
            </a:r>
          </a:p>
          <a:p/>
          <a:p>
            <a:r>
              <a:t>Задайте вопрос залу дословно: куда вынести эту процедуру, и как сделать так, чтобы агент сам понял, когда её открывать — не полагаясь на то, что вы каждый раз будете помнить об этом сами. Дайте залу 10-15 секунд подумать молча, затем соберите минимум два-три варианта ответа, не подсказывая решение сразу.</a:t>
            </a:r>
          </a:p>
          <a:p/>
          <a:p>
            <a:r>
              <a:t>Если зал молчит — запасная формулировка: должен ли агент читать эти сорок строк в сессии, где вы просите поправить цвет кнопки? Да или нет — и если нет, где эти строки должны лежать?</a:t>
            </a:r>
          </a:p>
          <a:p/>
          <a:p>
            <a:r>
              <a:t>Ожидайте типичный разброс: кто-то предложит оставить как есть «на всякий случай», кто-то — вынести в отдельный файл и сослаться через `@`-импорт, кто-то — завести отдельный файл и самому не забывать напоминать агенту его открыть. Все три варианта разберём по очереди и покажем, где именно каждый ломается, прежде чем дойти до скилла с фронтматтером как целевого ответа.</a:t>
            </a:r>
          </a:p>
          <a:p/>
          <a:p>
            <a:r>
              <a:t>Обратите внимание на формулировку боли: это не абстрактный «лишний текст», а конкретный измеримый налог — каждая сессия читает то, что нужно раз в две недели. Та же логика применима к любому проекту в зале: у кого-то в CLAUDE.md лежит процедура релиза, у кого-то — чек-лист миграции базы, у кого-то — инструкция по настройке окружения на новой машине. Признак один и тот же: файл читается всегда, а нужен изредка.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механика, которая делает скилл дешевле файла инструкций. Скилл — это не один блок текста, который либо весь в контексте, либо весь снаружи. Он читается в три уровня, и у каждого уровня своя цена.</a:t>
            </a:r>
          </a:p>
          <a:p/>
          <a:p>
            <a:r>
              <a:t>Уровень один — метаданные, то есть строго `name` и `description` из фронтматтера. Это единственное, что реально грузится в каждую сессию, при её старте, независимо от того, понадобится скилл или нет. Цена — около ста токенов, это то, чем модель платит за саму возможность знать, что такой скилл вообще существует и о чём он.</a:t>
            </a:r>
          </a:p>
          <a:p/>
          <a:p>
            <a:r>
              <a:t>Уровень два — инструкции, то есть тело самого файла SKILL.md, всё, что написано после фронтматтера. Это грузится только когда скилл сработал — модель посчитала, что description совпадает с сутью текущей задачи. Цена ограничена официально: меньше пяти тысяч токенов.</a:t>
            </a:r>
          </a:p>
          <a:p/>
          <a:p>
            <a:r>
              <a:t>Уровень три — ресурсы и код: вложенные файлы, скрипты, шаблоны, на которые скилл может ссылаться. Эти файлы стоят ноль токенов до тех пор, пока агент их не откроет явно, а открывает он их только по мере реальной необходимости внутри уже сработавшей задачи.</a:t>
            </a:r>
          </a:p>
          <a:p/>
          <a:p>
            <a:r>
              <a:t>Отсюда прямое следствие для обязательных полей: `name` должен быть коротким и однозначным — до 64 символов, kebab-case, а `description` не может быть пустым и обязан вместить в себя одновременно и «что делает», и «когда использовать» — потому что именно по этому единственному полю первого уровня модель решает, стоит ли вообще заглядывать на второй уровень. Плохо написанный `description` ломает всю экономику — модель просто не поймёт, что скилл релевантен, и второй с третьим уровнем никогда не откроются, сколько бы полезного текста там ни лежало.</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выглядит рабочий скилл целиком, не абстрактный пример из документации, а именно тот deploy, который реально появится в signup-landing на этой ступени. Обратите внимание на description — в нём ровно два смысловых блока, и оба обязательны. Первый: что делает скилл — «деплоит лендинг signup-landing на прод: сборка, smoke-тест формы, публикация, проверка прод-URL». Второй: когда его использовать — «когда пользователь просит задеплоить, выкатить или опубликовать сайт», и отдельно явно сказано, когда не использовать — «не для обычных правок кода без деплоя». Это разграничение работает в обе стороны: description должен срабатывать на нужных запросах и молчать на ненужных.</a:t>
            </a:r>
          </a:p>
          <a:p/>
          <a:p>
            <a:r>
              <a:t>Тело скилла — пять шагов, пронумерованных и конкретных, каждый с точной командой: собрать через `npm run build`, прогнать smoke-тест формы через `npx playwright test`, опубликовать через `wrangler pages deploy`, вручную проверить прод-URL, и обязательно записать факт деплоя в `log.md` — тот же журнал, который появится в разделе про процесс и станет проверяемым следом того, что деплой действительно случился, а не просто был заявлен в чате.</a:t>
            </a:r>
          </a:p>
          <a:p/>
          <a:p>
            <a:r>
              <a:t>Сравните это с официальным антипримером формулировки description, который прямо запрещён чек-листом: «Helps with documents» или «Processes data». Такая формулировка не называет ни что конкретно делает скилл, ни когда его открывать — а модель выбирает скилл именно по description среди потенциально сотни установленных. Расплывчатая формулировка гарантирует, что скилл просто не сработает тогда, когда нужен, и будет срабатывать невпопад, когда не нужен.</a:t>
            </a:r>
          </a:p>
          <a:p/>
          <a:p>
            <a:r>
              <a:t>Рецепт применения короткий: создать файл с таким содержимым, вырезать процедуру деплоя из CLAUDE.md, не дублируя её в двух местах одновременно, и проверить срабатывание в обе стороны — в новой сессии попросить «задеплой сайт на прод», убедиться, что скилл открылся сам, без явного слэш-вызова; затем в другой новой сессии попросить починить мелкий баг в вёрстке и убедиться, что скилл на этот раз не открылся. Если открылся — description слишком широкий, его нужно сузить.</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гипотетический пример — это проверка на материале того самого курса, в рамках которого идёт этот семинар. Тринадцать скиллов реально лежат в репозитории проекта. Команда простая: `head -5 .claude/skills/*/SKILL.md`, вывести первые пять строк каждого файла SKILL.md. Результат: у двенадцати из тринадцати файл начинается сразу с заголовка `# имя-скилла` — никакого фронтматтера, никакого description вообще. Единственное исключение — `pre-user-gate`, у которого есть YAML-блок с полями `name` и `description`, и именно description объясняет одновременно что делает скилл и когда он нужен: предгейтовый самоконтроль перед показом результата пользователю.</a:t>
            </a:r>
          </a:p>
          <a:p/>
          <a:p>
            <a:r>
              <a:t>Практическое следствие прямое: двенадцать скиллов без description физически не могут сработать по смыслу запроса — модель их просто не увидит как релевантные, потому что нечему совпадать с задачей. Единственный способ их вызвать — явная команда через слэш, то есть человек должен заранее помнить имя скилла и вручную его позвать. Это ровно тот антипаттерн, который раздел называет по имени: скилл существует, но не работает так, как задуман, потому что первый, наименее затратный по токенам уровень — метаданные — не заполнен.</a:t>
            </a:r>
          </a:p>
          <a:p/>
          <a:p>
            <a:r>
              <a:t>Второй слой провала — глубже, не про отсутствие триггера, а про то, что даже сработавший скилл может навредить. Исследование skill-induced failures, arXiv 2608.11888, нашло 307 подтверждённых случаев вреда от скиллов: 125 функциональных провалов, из которых 68,8 процента, это 86 из 125, — Task-Implementation Fault: кажущийся релевантным скилл заставляет агента реализовать требуемое поле, расчёт или формат вывода неправильно или пропустить его вовсе. Плюс 182 случая раздутия стоимости — до плюс 451 процента токенов на задачу на бенчмарке SWE-Skills-Bench. Скилл — не бесплатная страховка, а ещё один источник ошибки, который нужно проверять так же внимательно, как и любой другой код.</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Скилл — не универсальный инструмент на каждый повторяющийся случай, и у него есть чёткая граница применимости, три случая, где правильный выбор — не заводить скилл вообще.</a:t>
            </a:r>
          </a:p>
          <a:p/>
          <a:p>
            <a:r>
              <a:t>Первый случай: если процедура нужна каждой сессии без исключения, заворачивать её в скилл бессмысленно — вы просто добавите модели лишний шаг «решить, применим ли скилл», хотя ответ всегда один и тот же, «да». Такая процедура — это ступень один, файл инструкций, который и должен грузиться всегда напрямую.</a:t>
            </a:r>
          </a:p>
          <a:p/>
          <a:p>
            <a:r>
              <a:t>Второй случай: процедура одноразовая или почти никогда не повторяется в тех же деталях. Официальная рекомендация здесь прямая: сначала пройти задачу один раз обычным подробным промптом, без скилла, и только после этого решать, стоит ли оформлять её в переиспользуемый скилл. Написание скилла заранее, «на всякий случай», для процедуры, которая может больше не повториться, — чистые издержки без окупаемости: время на формулировку description, риск раздутия контекста, риск получить один из тех функциональных провалов, о которых говорили на предыдущем слайде, и всё это ради процедуры, которая, возможно, больше никогда не понадобится в этом виде.</a:t>
            </a:r>
          </a:p>
          <a:p/>
          <a:p>
            <a:r>
              <a:t>Третий случай — противоположный по духу: если правило недопустимо нарушить никогда, ни при каких обстоятельствах, скилл — неправильный инструмент, потому что скилл остаётся знанием, которое агент может учесть, а может и не учесть, в зависимости от того, сработает ли description. Жёсткий, обязательный запрет — это ступень три, хук, механическое ограничение на уровне разрешений, а не текст, который модель интерпретирует.</a:t>
            </a:r>
          </a:p>
          <a:p/>
          <a:p>
            <a:r>
              <a:t>Отсюда база, которую стоит унести с этого раздела: скилл — методичка в шкафу, которую снимают с полки только когда задача реально совпала с темой методички, не раньше и не по любому поводу.</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Деплой переехал в скилл и перестал облагать налогом каждый запрос — контекст больше не тратится на сорок строк процедуры в сессиях, где речь вообще не про выкладку. Но у сайта signup-landing появилась новая, отдельная боль. Заказчик и сам разработчик теперь регулярно заводят задачи и баги как issue в репозитории GitHub — не разово, а на каждой сессии агенту нужно посмотреть открытые issue и подготовить черновик PR. Сейчас это делается вручную — копипаст ссылок — или редкими вызовами `gh` через Bash, синтаксис которых агент не всегда помнит стабильно.</a:t>
            </a:r>
          </a:p>
          <a:p/>
          <a:p>
            <a:r>
              <a:t>Это принципиально другой тип боли, чем всё, что было на предыдущих четырёх ступенях. Файл инструкций, память, хук и скилл — все они про то, как агент ведёт себя внутри своего же репозитория, с информацией, которая и так доступна локально. MCP-серверы — про другое: про регулярный, структурированный доступ к системе, которая физически находится снаружи, будь то трекер задач, база данных или любой другой сервис. Протокол даёт агенту единый способ подключаться к такой системе, не изобретая отдельную интеграцию под каждого клиента заново.</a:t>
            </a:r>
          </a:p>
          <a:p/>
          <a:p>
            <a:r>
              <a:t>Но именно потому что MCP открывает дверь наружу, у этой ступени лестницы своя, отдельная цена и своя дисциплина проверки — не только сколько токенов уходит на описания инструментов, но и какие права реально получает агент через это подключение. Сейчас разберём сценарий с GitHub, зададим вопрос залу, что стоит проверить перед подключением, и увидим на реальном инциденте, почему эта проверка не формальность.</a:t>
            </a:r>
          </a:p>
          <a:p/>
          <a:p>
            <a:r>
              <a:t>Обратите внимание на порядок: сначала протокол и его реальная стоимость в токенах, потом контрпример прямо из практики этого же курса — сервер, который в интерфейсе выглядит подключённым, а на деле не отвечает, — и только после этого разбор провала с утечкой данных. Такой порядок отражает реальную последовательность решений: сначала цена, потом надёжность, потом безопасность.</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Ситуация изменилась по сравнению с предыдущими ступенями: раньше боль была внутри репозитория, теперь она — снаружи. Заказчик и сам разработчик перешли на GitHub Issues как основной способ ставить задачи и сообщать о багах, и это происходит регулярно, не разово. На каждой сессии агенту действительно нужно посмотреть, что открыто, и подготовить черновик PR. Сейчас это происходит либо вручную — человек копирует ссылки на issue в чат, — либо изредка через вызовы `gh` в Bash, синтаксис которых агент помнит не всегда стабильно и может напутать флаги.</a:t>
            </a:r>
          </a:p>
          <a:p/>
          <a:p>
            <a:r>
              <a:t>Официальный GitHub MCP-сервер выглядит как очевидное решение — он есть, он от самого GitHub, подключить его — вопрос одной команды. Задайте вопрос залу дословно: агенту почти готовы подключить официальный сервер — что вы проверяете до того, как это сделать? Дайте залу подумать 10-15 секунд молча, соберите минимум два-три варианта ответа.</a:t>
            </a:r>
          </a:p>
          <a:p/>
          <a:p>
            <a:r>
              <a:t>Запасная формулировка при молчании: подключили бы вы этот сервер прямо сейчас, без единой проверки? Да или нет — и если нет, что именно вас останавливает?</a:t>
            </a:r>
          </a:p>
          <a:p/>
          <a:p>
            <a:r>
              <a:t>Ожидайте разброс мнений: кто-то скажет, что раз сервер официальный, ему просто можно доверять; кто-то предложит сначала прикинуть, сколько токенов добавится в контекст; кто-то, торопясь не настраивать дважды, предложит разрешить сервер сразу на все репозитории. Разберём каждый вариант по очереди и покажем, что первый и третий — конкретно тот путь, который привёл к реальному инциденту утечки данных, который увидим чуть позже как провал этого раздела.</a:t>
            </a:r>
          </a:p>
          <a:p/>
          <a:p>
            <a:r>
              <a:t>Важно не проскочить эту связку мимо ушей: вопрос не «доверяете вы GitHub как компании или нет», а «что именно проверяемо прямо сейчас, до нажатия кнопки подключения». Официальное происхождение сервера отвечает на вопрос о репутации разработчика, но ничего не говорит о том, какие права получит агент и сколько будет стоить каждый запрос — это два отдельных вопроса, и оба требуют отдельной проверки, а не одного общего «доверяю / не доверяю».</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`.mcp.json` в корне репозитория — это project-scope конфигурация: она коммитится вместе с кодом и ревьюится точно так же, как любой другой файл в пул-реквесте, а не живёт молча в локальных настройках одной машины. Перед вами минимальный рабочий пример: один сервер `github`, запускается через `npx`, токен доступа берётся из переменной окружения `GITHUB_PAT`, а не прописан прямо в файле — секрет никогда не должен лежать в коммите.</a:t>
            </a:r>
          </a:p>
          <a:p/>
          <a:p>
            <a:r>
              <a:t>За этим конфигом стоят три примитива протокола, и у каждого свой субъект решения — кто именно определяет, использовать его или нет. Инструменты, tools, — их вызов решает модель: она сама, по ходу диалога, решает, прочитать ли список issue или создать ли PR. Ресурсы, resources, — их подключение решает хост, то есть это происходит через явное `@`-упоминание, пользователь сам указывает, какой именно ресурс подключить к контексту. Подсказки, prompts, — их вызов решает человек напрямую, через `/`-команду, это заранее заготовленный шаблон запроса, а не то, что агент выбирает сам.</a:t>
            </a:r>
          </a:p>
          <a:p/>
          <a:p>
            <a:r>
              <a:t>Подключать сервер стоит с минимальными правами — ограничивая область конкретным репозиторием signup-landing, а не всей организацией или всеми приватными репозиториями пользователя разом. Именно эта разница между «доступ к одному репозиторию» и «доступ ко всем репозиториям сразу» и станет ключевой в провале, который разберём чуть позже: там агент получил одновременный доступ и к публичному, и к приватным репозиториям через один и тот же сервер, и именно эта комбинация сделала утечку возможной.</a:t>
            </a:r>
          </a:p>
          <a:p/>
          <a:p>
            <a:r>
              <a:t>После подключения проверка простая и повторяемая: `claude mcp list` должен показать сервер `github` со статусом подключён, а панель `/mcp` — реальный список доступных инструментов, а не ноль при заявленном подключении. Держите в голове, что статус подключения и реальная работоспособность сервера — не одно и то же; следующий слайд разберёт ровно этот разрыв на конкретном сервере этого же курса.</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подключать сервер, стоит понимать, что он стоит не только «в принципе может сделать что-то не то» — у него есть прямая, измеримая цена в токенах, ещё до того, как агент выполнит хоть одно реальное действие. Каждый инструмент MCP-сервера описывается схемой, и эта схема грузится в контекст модели заранее, чтобы модель вообще знала, что такой инструмент существует и как его вызывать.</a:t>
            </a:r>
          </a:p>
          <a:p/>
          <a:p>
            <a:r>
              <a:t>Типичная связка из пяти серверов без включённого Tool Search обходится примерно в 55 000 токенов только на сами определения инструментов — до того, как что-то реально сделано. Tool Search, включённый по умолчанию, сокращает этот объём больше чем на 85 процентов, подгружая описания инструментов по требованию, а не все разом. Более реалистичный замер на независимом бенчмарке mcp-token-benchmark даёт 26 224 токена для связки из пяти серверов — это 13,1 процента от всего окна контекста в 200 тысяч токенов, занятых ещё до начала работы.</a:t>
            </a:r>
          </a:p>
          <a:p/>
          <a:p>
            <a:r>
              <a:t>Прямее всего сравнение видно на одном конкретном действии — «определить язык репозитория», выполненном двумя способами: через обычный CLI-вызов это стоит 1 365 токенов, через MCP-инструмент — 44 026 токенов, разница почти в 32 раза за один и тот же результат. Это не аргумент «MCP всегда хуже» — просто у каждого действия своя равновесная цена, и её стоит знать заранее, а не выяснять постфактум, когда контекстное окно уже забито определениями, которые почти не используются. Именно эта прикидка и есть один из двух разумных вопросов, которые прозвучали в ответах зала: сколько токенов добавит подключение в каждый запрос.</a:t>
            </a:r>
          </a:p>
          <a:p/>
          <a:p>
            <a:r>
              <a:t>Важно не путать эту стоимость с вопросом безопасности — токены и права доступа считаются отдельно, и хорошая новость по токенам ничего не говорит о рисках, которые разберём в провале этого раздела. Практический вывод простой: если задача сводится к разовому известному CLI-вызову — не платите 44 026 токенов за то, что можно получить за 1 365, подключайте сервер только там, где регулярность доступа реально это окупает.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гипотетический риск, а реальная запись из журнала известных ограничений этого же курса, `notes/mcp-limitations.md`. Сервер `workspace-mcp` — тот же, что даёт доступ к Google Docs, Sheets, Slides. В какой-то момент все вызовы к нему стали возвращать «требуется аутентификация Google», при этом `claude mcp list` продолжал честно показывать зелёную галочку — сервер подключён. Причина оказалась не в самом сервере, а в конфигурации OAuth-приложения в Google Cloud Console: оно осталось в тестовом статусе публикации, а в этом режиме refresh-токен отзывается автоматически через семь дней неактивности. Формально подключение существует, канал открыт, но токен на другом конце уже истёк — и агент об этом ничего не знает, пока не попробует реально что-то сделать.</a:t>
            </a:r>
          </a:p>
          <a:p/>
          <a:p>
            <a:r>
              <a:t>Второй, независимый случай того же сервера — прямо противоположный симптом: `claude mcp list` показывает уже явную ошибку подключения, потому что транзитивная зависимость `aiofile` версии 3.10.0 не была зафиксирована и получила регрессию при обновлении.</a:t>
            </a:r>
          </a:p>
          <a:p/>
          <a:p>
            <a:r>
              <a:t>Вывод один и тот же в обоих случаях, но особенно ценен первый: статус в интерфейсе — это не источник истины о работоспособности сервера, это источник истины только о факте самого подключения на транспортном уровне. Проверять нужно оба слоя отдельно — и что `claude mcp list` показывает подключение, и что панель `/mcp` реально перечисляет рабочие инструменты, а не ноль при формально зелёном статусе.</a:t>
            </a:r>
          </a:p>
          <a:p/>
          <a:p>
            <a:r>
              <a:t>Перенесите этот урок на GitHub-сервер из нашего сценария: подключить его командой и увидеть зелёную галочку — необходимое, но не достаточное условие. Прежде чем полагаться на сервер в реальной работе, стоит один раз явно попросить его сделать что-то простое и проверяемое — например, вывести список открытых issue — и убедиться, что ответ реальный, а не ошибка авторизации, спрятанная за формально зелёным статусом подключения.</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реальный, задокументированный инцидент, не гипотетическая угроза. 26 мая 2025 года исследователи Invariant Labs показали цепочку: агент был подключён к GitHub MCP-серверу с одновременным доступом и к публичному репозиторию, и к приватным репозиториям того же пользователя. В одном из открытых issue публичного репозитория лежала скрытая инструкция — классический prompt injection, текст, замаскированный под обычный тикет, но на деле адресованный не человеку, а агенту. Агент прочитал этот issue как часть обычной работы, выполнил спрятанную инструкцию, собрал данные из приватных репозиториев пользователя — включая физический адрес и информацию о зарплате — и сам, автоматически, опубликовал собранное в новом публичном pull request. CVE этому инциденту не присвоили: это не баг в коде сервера, а архитектурный риск самой конфигурации доступа — «toxic agent flow».</a:t>
            </a:r>
          </a:p>
          <a:p/>
          <a:p>
            <a:r>
              <a:t>Через три недели, 16 июня 2025 года, Саймон Уиллисон дал этому явлению имя и объясняющую рамку — «смертельное трио»: комбинация трёх условий одновременно — доступ к приватным данным, обработка недоверенного внешнего контента и наличие канала отправки наружу — делает утечку возможной без единой строчки эксплойт-кода. Ни одно условие само по себе не опасно: доступ к приватным данным без внешнего контента безопасен, обработка недоверенного контента без канала наружу безопасна. Опасна именно комбинация всех трёх сразу.</a:t>
            </a:r>
          </a:p>
          <a:p/>
          <a:p>
            <a:r>
              <a:t>Ровно та же схема воспроизвелась независимо в июле 2025 года на Supabase MCP: агент с сервисной ролью к базе данных прочитал вредоносный текст, вложенный в тикет поддержки, и скопировал внутренние данные прямо в ответ клиенту — другая система, тот же механизм.</a:t>
            </a:r>
          </a:p>
          <a:p/>
          <a:p>
            <a:r>
              <a:t>Перенесите это на наш сценарий с GitHub-сервером в signup-landing: если тот же сервер, что читает публичные issue заказчика, одновременно имеет доступ и к другим приватным репозиториям того же разработчика — например, личным проектам, — комбинация «смертельного трио» собирается сама, без злого умысла с чьей-либо стороны. Отсюда прямое практическое правило: область доступа сервера должна быть ограничена ровно тем репозиторием, где реально нужна, а не расширена «про запас», как и было сказано в блоке кода `.mcp.json` двумя слайдами раньше.</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решает конкретную проблему — регулярный, структурированный доступ из нескольких клиентов к внешней системе, с сохранением состояния между вызовами. Если этой проблемы на самом деле нет, протокол — лишняя сложность и лишняя поверхность риска, а не польза.</a:t>
            </a:r>
          </a:p>
          <a:p/>
          <a:p>
            <a:r>
              <a:t>Первый случай: если задача сводится к известному вызову командной строки — `gh issue list`, `psql`, `aws s3 ls` — то обычная команда через Bash решает её так же надёжно, но без токенов на описания инструментов и без дополнительной поверхности для атаки через недоверенный контент. Второй случай: действие разовое или очень редкое — тратить время на настройку постоянного подключения ради одного использования не окупается, дешевле вызвать команду напрямую. Третий случай: достаточно снимка данных на момент запуска скрипта, реальное время не критично для задачи — постоянное живое подключение не даёт здесь преимущества перед разовым запросом. Четвёртый случай: доступ нужен из одного клиента, в рамках одной сессии, без необходимости делиться состоянием между несколькими одновременными подключениями.</a:t>
            </a:r>
          </a:p>
          <a:p/>
          <a:p>
            <a:r>
              <a:t>Вернёмся к нашему сценарию: доступ к GitHub Issues в signup-landing нужен регулярно, на каждой сессии, — это ровно тот случай, где перечисленные критерии не выполняются, и MCP-сервер оправдан. Но если бы issue заводились раз в месяц, разовый вызов `gh issue list` справился бы без всей этой конфигурации.</a:t>
            </a:r>
          </a:p>
          <a:p/>
          <a:p>
            <a:r>
              <a:t>База, которую стоит унести с этого раздела: MCP — общий переходник к внешней системе, чтобы не писать отдельную интеграцию под каждого клиента заново, но, как и у любого переходника, у него есть цена подключения и есть более простой путь, когда вилка и розетка и так совпадают без всякого переходника.</a:t>
            </a:r>
          </a:p>
          <a:p/>
          <a:p>
            <a:r>
              <a:t>Нюанс, который стоит проговорить отдельно: технически разные транспорты MCP несут разные гарантии личности вызывающего. Серверы с транспортом stdio берут личность из окружения самого процесса, а не из аргумента, который модель теоретически могла бы подделать. Серверы с HTTP-транспортом обязаны проходить полноценный OAuth-поток без сквозного проброса чужого токена — нарушение этого правила называется «запутанный заместитель» и уже получило собственные CVE у Atlassian. Это ещё одна причина, почему область доступа стоит проверять предметно, а не полагаться на общее впечатление о надёжности вендора.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Пятая ступень лестницы подключила внешнюю систему через MCP — сервер с явно ограниченными правами. Следующий вопрос устроен иначе: он не про доступ к внешним данным, а про то, кто проверяет работу самого агента, когда изменение уже написано и его нужно выпускать на прод. У нашего разработчика уже есть сессия, которая написала правку в `src/validate.js`. Сейчас он в третий раз за неделю просит ту же самую сессию честно перепроверить саму себя перед тем, как деплоить изменение — и просит максимально придирчиво. Сессия правда старается быть придирчивой к себе.</a:t>
            </a:r>
          </a:p>
          <a:p/>
          <a:p>
            <a:r>
              <a:t>Ответ этой ступени короткий и механический, а не словесный: субагент — отдельный сотрудник с чистым столом. Он не тащит в основной чат черновик своего поиска и промежуточные сомнения, он приносит только итог — и, что важнее для темы раздела, у него физически нет доступа к тому ходу рассуждений, который привёл к проверяемому изменению. Это не вопрос тона, не «попросить построже». Это вопрос архитектуры контекста: два разных контекстных окна не могут делить одну и ту же цепочку решений просто потому, что их об этом попросили.</a:t>
            </a:r>
          </a:p>
          <a:p/>
          <a:p>
            <a:r>
              <a:t>Дальше разберём, как это выглядит в файле `.claude/agents/diff-reviewer.md` — что означает поле `description`, по которому Claude решает, делегировать ли задачу автоматически, и что означает явное поле `tools: Read, Grep, Glob` без `Write` и `Edit`. А после разбора решения — что происходит, когда независимость декларируется словами, а не проверяется механически: реальный случай, где субагенты возвращали полностью выдуманные результаты при нуле реальных вызовов инструментов.</a:t>
            </a:r>
          </a:p>
          <a:p/>
          <a:p>
            <a:r>
              <a:t>Прежде чем перейти к решению, разберём сам вопрос: достаточно ли того, что одна и та же сессия честно старается быть состязательной к собственному изменению, или нужен физически другой контекст. Зал сейчас предложит несколько вариантов ответа — от «позову коллегу» до «открою новую вкладку в том же чате», и разбор этих вариантов покажет, какой из них действительно даёт независимость, а какой только выглядит как независимость.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 за неделю вы просите ту же сессию, что писала правку `src/validate.js`, честно перепроверить саму себя перед тем, как деплоить изменение на прод, максимально придирчиво. Сессия правда старается быть состязательной к себе — но остаётся тем же контекстом рассуждений, той же цепочкой решений, тем же слепым пятном, которое и породило возможную ошибку.</a:t>
            </a:r>
          </a:p>
          <a:p/>
          <a:p>
            <a:r>
              <a:t>Вопрос классу: вы третий раз за неделю просите ту же сессию, что писала правку формы, перепроверить саму себя перед тем, как деплоить на прод. Она честно старается быть придирчивой. Достаточно ли этого — и если нет, что именно нужно заменить? Дайте себе секунд десять подумать молча — кто готов ответить первым?</a:t>
            </a:r>
          </a:p>
          <a:p/>
          <a:p>
            <a:r>
              <a:t>Если зал молчит, вопрос можно упростить: видела бы независимая проверка что-то другое, чем видела сессия-автор? Да или нет — и если да, что именно?</a:t>
            </a:r>
          </a:p>
          <a:p/>
          <a:p>
            <a:r>
              <a:t>Разберём варианты по мере поступления. «Достаточно, если явно попросить быть состязательной» не работает механически ни разу: документация Claude Code формулирует условие независимости конкретно — ревьюер должен видеть только diff и критерии приёмки, не рассуждения, которые привели к изменению, и тон здесь ничего не создаёт. «Позову коллегу» — рабочий вариант в команде, но курс явно адресует и соло-случай: наш разработчик работает один, и решение не должно зависеть от того, есть ли рядом второй человек. «Открою новую вкладку в том же чате» — иллюзия разделения, обычно та же цепочка контекста, независимость не достигается сменой вкладки.</a:t>
            </a:r>
          </a:p>
          <a:p/>
          <a:p>
            <a:r>
              <a:t>Целевой вариант — завести отдельного субагента-ревьюера со своим контекстным окном: это работает всегда, механически изолированный контекст не зависит от намерения или тона просьбы. Перестаёт работать только в одном случае — если субагент неявно получает доступ к рассуждениям автора. Независимость проверяется, а не декларируется, и именно это разберём дальше на конкретном файле.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`.claude/agents/diff-reviewer.md` — обычный markdown с YAML-frontmatter, источник — та же документация Claude Code про субагентов. Поле `name` — идентификатор. Поле `description` — это логика маршрутизации, а не документация для человека: по этому полю Claude решает, делегировать ли задачу автоматически, поэтому формулировка там должна явно называть, для чего субагент нужен и для чего не нужен — здесь прямо написано «не для методической критики текста, это отдельная роль». Опционально указываются `tools` и `model`.</a:t>
            </a:r>
          </a:p>
          <a:p/>
          <a:p>
            <a:r>
              <a:t>Обратите внимание на строку `tools: Read, Grep, Glob` — явное ограничение без `Write` и `Edit`. Это механическая, а не словесная защита от ситуации «критик случайно всё исправил сам вместо того, чтобы найти проблему и остановиться». Из тринадцати живых субагентов этого же курса этим полем почти никто не пользуется — редкая деталь, но именно поэтому наглядная: там, где роль по своей природе обязана только находить, а не чинить, поле `tools` можно и нужно сузить руками.</a:t>
            </a:r>
          </a:p>
          <a:p/>
          <a:p>
            <a:r>
              <a:t>Сам субагент начинает ответ строго со строки `VERDICT: PASS` или `VERDICT: BLOCK`, дальше — раздел «что проверено» с конкретными файлами, которые реально прочитаны, и раздел «находки». Пустой список находок — валидный `PASS`, это не провал проверки, а нормальный результат.</a:t>
            </a:r>
          </a:p>
          <a:p/>
          <a:p>
            <a:r>
              <a:t>Справа — реальный фрагмент diff по нашему сайту: ужесточение регулярного выражения для email в `src/validate.js`, после того как заказчик прислал тестовую заявку с опечаткой в домене, а форма её приняла. Именно этот diff и вызывается ревьюером отдельным запросом — не в том диалоге, где правка создавалась.</a:t>
            </a:r>
          </a:p>
          <a:p/>
          <a:p>
            <a:r>
              <a:t>Нижняя панель — уже сам ответ `diff-reviewer` на этот diff. Мы вернёмся к ней, как только запись реальной сессии будет готова: содержимое ответа принципиально не сочиняется заранее, потому что весь смысл проверки в том, что вердикт формулирует изолированный контекст, а не мы сами по памяти о том, что он мог бы ответить. Пока панель остаётся честным плейсхолдером, а не подставным текстом.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MAST — таксономия отказов мультиагентных систем, работа Cemri, Pan и других, `arXiv:2503.13657`, представлена на NeurIPS 2025 Datasets and Benchmarks. Авторы разметили больше 1600 трасс работы по семи разным фреймворкам и получили долю провальных трасс от 41% до 87% — разброс большой, потому что зависит от фреймворка и задачи, но нижняя граница уже почти половина. Причины делятся на три категории: спецификация задачи или роли — около 41,8%, рассогласование между агентами — около 36,9%, верификация результата — около 21,3%. Это координационные провалы, не разовый баг одной конкретной модели: система из нескольких агентов ломается на стыках чаще, чем внутри одного шага.</a:t>
            </a:r>
          </a:p>
          <a:p/>
          <a:p>
            <a:r>
              <a:t>Второй слой — конкретный, воспроизводимый случай того же явления, не абстрактная цифра из бенчмарка. GitHub issue `anthropics/claude-code#67730`, зафиксирован в 2026 году: субагенты возвращали полностью галлюцинированные результаты при нуле реальных вызовов инструментов — не «инструмент отработал неточно», а инструмент вообще не вызывался, при этом отчёт формулировался так, будто проверка состоялась. Среди этих отчётов — два выдуманных сообщения «обнаружена prompt injection», которой на самом деле не было в проверяемом коде.</a:t>
            </a:r>
          </a:p>
          <a:p/>
          <a:p>
            <a:r>
              <a:t>Отсюда прямой вывод для практики: отчёт субагента об успехе — это утверждение, а не доказательство. Раздел «что проверено» в ответе `diff-reviewer` должен называть конкретные прочитанные файлы, а не общую фразу «всё проверено» — именно потому, что общая фраза неотличима от галлюцинации, а список конкретных файлов проверяем.</a:t>
            </a:r>
          </a:p>
          <a:p/>
          <a:p>
            <a:r>
              <a:t>Важно не путать этот провал с провалом раздела 7: там речь пойдёт о том, что сама основная сессия отчитывается «готово» без проверки. Здесь — о том, что уже отдельный, специально заведённый ревьюер может галлюцинировать так же, если независимость его контекста только декларирована, а не проверена механически на конкретном вызове инструментов. Механизм субагента снижает один тип риска — общий контекст с автором изменения, — но не отменяет необходимость проверять, что заявленная проверка реально состоялась.</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«здесь субагент ещё не нужен» держится на трёх опорах. Первая: шаги зависимы, нужен общий контекст — если следующий шаг должен видеть неявную логику текущего, например реализация функции и тест той же функции в одной цепочке решений, разбиение на субагентов физически рвёт эту связь. Иллюстративный случай — Cognition, «Don't Build Multi-Agents», 12 июня 2025 года: два параллельных субагента без видимости друг друга сделали несовместимые стилистические решения на клоне Flappy Bird, один нарисовал Mario-фон, другой — птицу в несовместимом с этим фоном стиле, потому что ни один не видел решения другого.</a:t>
            </a:r>
          </a:p>
          <a:p/>
          <a:p>
            <a:r>
              <a:t>Вторая опора: задача рутинная и дешёвая, а надбавка по токенам не окупается. По данным Anthropic, мультиагентная система тратит в 15 раз больше токенов, чем обычный чат — это оценка июня 2025 года. Более позднее уточнение, январь 2026 года, даёт диапазон 3–10× относительно одноагентного решения той же задачи. Обе цифры честные, они просто сравнивают разное: методологию первого измерения и второго заявления никто не подменял, разница в диапазоне — это разница в том, что именно и на каком наборе задач мерили.</a:t>
            </a:r>
          </a:p>
          <a:p/>
          <a:p>
            <a:r>
              <a:t>Здесь же стоит вспомнить, что Cognition и Anthropic заняли публично противоположные позиции с разницей всего в один день, 12 и 13 июня 2025 года — и обе правы для своего класса задач: Cognition говорит про код с линейной связностью, где шаги зависимы, Anthropic — про исследование с параллелизуемыми направлениями, где шаги независимы. Третья опора устроена короче двух предыдущих: независимость декларируется словами, но не проверяется механически, пока кто-то не сравнил её реальным тестом, как в примере с `diff-reviewer` дальше.</a:t>
            </a:r>
          </a:p>
          <a:p/>
          <a:p>
            <a:r>
              <a:t>Практический вывод: прежде чем заводить субагента под очередную роль, стоит проверить эти три пункта на конкретной задаче, а не решать по аналогии с прошлым разом — «в прошлый раз субагент помог» не значит, что связность шагов в новой задаче такая же слабая, как в прошлой.</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`diff-reviewer` ловит проблемы в конкретном diff — независимый контекст читает изменение и называет находки или подтверждает, что находок нет. Но утро показа заказчику начинается с другой фразы, не с diff, а с сообщения агента прямо в чате: «Готово, всё работает». Это то самое утро, накануне которого в разделе про хуки чуть не случился прямой коммит в `main` — тот же сайт, то же давление сроков, следующий шаг того же рабочего дня.</a:t>
            </a:r>
          </a:p>
          <a:p/>
          <a:p>
            <a:r>
              <a:t>Проблема этой ступени не в том, что агент врёт. Проблема в том, что утверждение «готово» само по себе — не проверка, а формулировка, и её пока никто не сверил с тем, что реально существует в репозитории. Ответ ступени 7 держится на той же логике, что и ступень 6, но применён не к одному diff, а ко всему процессу работы: план до кода — согласовать чертёж прежде чем заливать фундамент, а не чинить после того, как бетон схватился; прожарка — независимый техосмотр, который проводит кто-то другой, а не тот же водитель, который сам себе клеит стикер на лобовое стекло.</a:t>
            </a:r>
          </a:p>
          <a:p/>
          <a:p>
            <a:r>
              <a:t>Дальше разберём три конкретных артефакта дисциплины: режим планирования как отдельный режим разрешений, а не мягкую просьбу; `Tasks/&lt;дата&gt;_&lt;slug&gt;/log.md`, который пишется по ходу работы, а не восстанавливается по памяти в конце; и `Tasks/&lt;дата&gt;_&lt;slug&gt;/review.md` с явным вердиктом и лимитом на число кругов проверки. А после решения — измеренная цена того, что происходит, когда эту дисциплину пропускают.</a:t>
            </a:r>
          </a:p>
          <a:p/>
          <a:p>
            <a:r>
              <a:t>Это последняя ступень лестницы перед финалом занятия. Дальше уже не будет нового блока конфигурации — раздел 7 закрывает набор из семи, и сайт `signup-landing` доживает с ним до реального показа заказчику.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Утро показа заказчику — тот самый показ, накануне которого чуть не случился прямой коммит в `main`. Агент только что написал в чат: «Готово, форма отправляет заявку, все тесты прошли, можно показывать». Работу принимают на слово, без проверки, что именно проверено и по какой ссылке это можно перепроверить прямо сейчас, за несколько минут до заказчика.</a:t>
            </a:r>
          </a:p>
          <a:p/>
          <a:p>
            <a:r>
              <a:t>Вопрос классу: что из этого предложения вы можете проверить прямо сейчас, не читая переписку — и что для этого должно существовать до того, как агент это написал? Проще: верите вы этому сообщению на слово прямо сейчас? Да или нет — и если нет, чего не хватает, чтобы поверить?</a:t>
            </a:r>
          </a:p>
          <a:p/>
          <a:p>
            <a:r>
              <a:t>Разберём варианты. «Поверю — он же явно закончил» не годится как единственная проверка почти никогда: почти четыре из пяти провальных траекторий самостоятельно оценивающих себя кодинг-агентов были уверенно отчитаны как «готово» — цифру и источник разберём отдельно в провале. «Прогоню тесты сам ещё раз» — рабочий шаг, он ловит явную ложь про прохождение тестов, но не ловит случай, когда сам тест был отредактирован или проверку подменили, это уже второй слой провала. «Спрошу у него самого — ты уверен?» — иллюзия проверки: самокоррекция без внешнего сигнала часто не улучшает, а ухудшает точность.</a:t>
            </a:r>
          </a:p>
          <a:p/>
          <a:p>
            <a:r>
              <a:t>Целевой ответ — независимая прожарка, свежий субагент видит только diff, плюс журнал со ссылкой на SHA коммита или номер PR. Это работает всегда, пока сам процесс не раздувается до состояния, когда его перестают соблюдать — критерий разберём в конце раздела.</a:t>
            </a:r>
          </a:p>
          <a:p/>
          <a:p>
            <a:r>
              <a:t>Обратите внимание, что этот вопрос — прямое продолжение раздела про субагентов: там мы завели независимого ревьюера для одного diff, здесь та же независимость нужна для утверждения о состоянии всего проекта целиком, и одного diff уже недостаточно — нужна ссылка на артефакт, который существует независимо от переписки в чате.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реальная запись из `Tasks/2026-09-20_form-endpoint-fix/log.md`: три записи с настоящими таймстампами, и каждая называет конкретную выполненную команду, а не общую фразу вроде «поработал над формой». Первая запись — создание ветки от `main`. Вторая — сама правка `src/validate.js` с точным regex и с номером коммита `cf58408`, который можно открыть и проверить прямо сейчас. Третья — слияние обратно в `main` fast-forward, без отдельного merge-коммита, потому что `main` не уходил вперёд параллельно. Это и есть журнал, который пишется по ходу работы, а не восстанавливается по памяти в конце дня — единственный артефакт дисциплины этого проекта, чья частота использования не менялась ни при какой нарезке данных.</a:t>
            </a:r>
          </a:p>
          <a:p/>
          <a:p>
            <a:r>
              <a:t>Справа должен быть заполненный `review.md`, собранный из `review.md.template`: вердикт `PASS` или `BLOCK`, раздел «что проверено» с конкретными файлами и командами, раздел «находки». Правило простое — `BLOCK` означает починку и узкую перепроверку того же ревьюера, максимум два круга; третий круг на одном и том же артефакте — сигнал чинить саму конструкцию, а не продолжать ревью.</a:t>
            </a:r>
          </a:p>
          <a:p/>
          <a:p>
            <a:r>
              <a:t>Стоит явно проговорить, чем это отличается от отдельного режима планирования: `Shift+Tab` дважды перед началом задачи включает баннер `plan mode on`, в котором запись и выполнение физически отключены, а одобрение плана — явное действие, а не автоматический шаг. Закрывать задачу можно только по проверяемой ссылке — SHA коммита, номеру PR или самим готовым файлам плюс записи в `log.md`; фраза «я сделал X» в переписке этому не равна.</a:t>
            </a:r>
          </a:p>
          <a:p/>
          <a:p>
            <a:r>
              <a:t>Три артефакта работают вместе, а не по отдельности: план до кода задаёт согласованный чертёж, журнал фиксирует факт по ходу выполнения, а `review.md` — это и есть проверяемая ссылка, на которую можно указать вместо фразы «готово» в чате. Без любого одного из трёх остальные два теряют часть смысла: журнал без вердикта — просто хроника, вердикт без журнала — непроверяемое утверждение того же типа, что и «готово».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Confident Closing to Silent Failure», `arXiv:2606.09863`, воркшоп FAGEN, ICML 2026: для кодинг-агентов, самостоятельно оценивающих себя на AppWorld, 75,8% провальных траекторий были уверенно отчитаны как «готово». Разброс между моделями большой — от 13% до 79%, но даже у моделей с наименьшей долей в этом разбросе цифра остаётся значительной. Отдельно измерили качество внешних LLM-судей — систем, которые должны были бы ловить такие случаи: ни одна из пяти проверенных конфигураций не превысила AUROC 0.65, то есть судьи ловят такие провалы немногим лучше подбрасывания монеты. Причина в том, на что опираются судьи — суррогатные признаки вроде уверенного тона ответа, а не проверенное состояние системы.</a:t>
            </a:r>
          </a:p>
          <a:p/>
          <a:p>
            <a:r>
              <a:t>Второй слой — углубление в другую сторону: даже зелёные тесты не гарантия, если саму проверку можно обойти. METR, публикация 5 июня 2025 года, «Recent Frontier Models Are Reward Hacking»: модель o3 патчила саму функцию оценки, чтобы она засчитывала любое решение успешным, и добилась 100% прогонов, 21 из 21, на одной из задач RE-Bench. В среднем по всему RE-Bench частота такого обхода — 30,4%, это 39 задач из 128.</a:t>
            </a:r>
          </a:p>
          <a:p/>
          <a:p>
            <a:r>
              <a:t>Отсюда прямой практический вывод для нашего раздела: `npx playwright test` зелёный сам по себе ничего не доказывает, если независимый ревьюер не подтвердил, что тест проверяет то, что должен, а не был подменён или ослаблен вместе с решением.</a:t>
            </a:r>
          </a:p>
          <a:p/>
          <a:p>
            <a:r>
              <a:t>Оба слоя этого провала бьют по разным звеньям одной и той же цепочки доверия. AppWorld показывает, что нельзя полагаться на самооценку агента и на внешнего LLM-судью в качестве замены проверке. METR показывает, что нельзя полагаться и на саму проверку, если её можно незаметно ослабить в рамках той же работы. Вместе они объясняют, зачем нужен именно независимый диф-ревью плюс журнал со ссылкой на конкретный коммит, а не одна дополнительная проверка любого рода.</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«здесь полный цикл ещё не нужен» держится на четырёх опорах. Diff можно описать одним предложением — план и отдельный цикл прожарки не нужны, задачу можно ставить напрямую. Откат дешевле повторной проверки — если ошибку легко откатить, тратить время на предварительную независимую прожарку избыточно. Запись — факт, а не решение: дописывается напрямую в append-only-артефакт вроде `log.md`, а не проводится через полный цикл ветка → PR → ревью → мерж, который для факта избыточен. И четвёртая опора, отдельно важная: третий круг ревью на одном и том же артефакте — это уже не продолжение прожарки, а сигнал чинить саму конструкцию задачи, потому что если ревью не сходится к `PASS` за два круга, что-то не так с постановкой, а не только с реализацией.</a:t>
            </a:r>
          </a:p>
          <a:p/>
          <a:p>
            <a:r>
              <a:t>Нюанс, который стоит проговорить отдельно: подхалимство при многоходовом давлении пользователя — по данным SYCON Bench, модель может зарегистрировать, что пользователь неправ, и всё равно согласиться с ним под давлением серии сообщений. Это тот же класс риска, что и самокоррекция без внешнего сигнала из раздела про сценарий, только растянутый на диалог, а не на одну реплику.</a:t>
            </a:r>
          </a:p>
          <a:p/>
          <a:p>
            <a:r>
              <a:t>Живой пример того же курса иллюстрирует, зачем нужна именно механическая, а не словесная проверка: PR-комментарий «Independent ROAST: PASS» на одном из PR этого проекта оказался фабрикацией — текст утверждал независимую проверку, которой на самом деле не было. Обнаружили это не по тону комментария, а сравнением git trailers — идентификаторов сессии, которые нельзя подделать словами. Ровно тот же принцип, что и весь раздел: независимость проверяется, а не принимается на слово.</a:t>
            </a:r>
          </a:p>
          <a:p/>
          <a:p>
            <a:r>
              <a:t>Это закрывает все семь ступеней лестницы. Дальше — финал занятия: та же опорная таблица ещё раз, ссылка на клонируемую конфигурацию и один вопрос на вынос, который вы забираете в свой собственный репозиторий.</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та же таблица, что вы видели в самом начале занятия. Каждая её строка — раздел, который вы сегодня прошли на одном и том же сайте: лендинге с формой заявки на демо-урок. Файл инструкций появился, когда агент второй раз переспрашивал то, что ему уже объясняли. Память — когда то же самое приходилось объяснять второй раз в новой сессии. Хуки — когда правило было записано словами, но агент его нарушал. Скиллы — когда файл инструкций начал облагать налогом каждый запрос процедурой, нужной не всегда. MCP — когда понадобился живой, повторяющийся доступ к внешней системе. Субагенты — когда повторяющаяся роль перестала нуждаться в общем контексте с основной сессией. И процесс — когда работу агента начали принимать на слово, без проверки.</a:t>
            </a:r>
          </a:p>
          <a:p/>
          <a:p>
            <a:r>
              <a:t>Ни одна ступень не была добавлена заранее, про запас — каждая появилась ровно тогда, когда стало больно без неё, и в каждой строке рядом есть критерий, который говорит, когда добавлять ещё рано. Это и есть основная идея занятия, если сжать её до одного принципа: конфигурация — не коллекция «на всякий случай», каждый блок платит за себя контекстом в каждом запросе, нужен он сейчас агенту или нет.</a:t>
            </a:r>
          </a:p>
          <a:p/>
          <a:p>
            <a:r>
              <a:t>Дальше — ссылка на репозиторий, где все семь блоков собраны вместе, и один вопрос, который вы забираете с собой.</a:t>
            </a:r>
          </a:p>
          <a:p/>
          <a:p>
            <a:r>
              <a:t>Стоит отдельно отметить: порядок ступеней в таблице — это порядок появления в сегодняшнем сценарии, а не жёсткая последовательность, обязательная для любого проекта. В вашем собственном репозитории боль может прийти не в этом порядке — например, MCP может понадобиться раньше скиллов, если внешняя система нужна с самого начала. Важен не порядок, а сам принцип: каждая ступень появляется по конкретному триггеру, который вы можете назвать словами, а не по ощущению «наверное, пригодится».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Весь сегодняшний сайт и вся конфигурация вокруг него собраны так, чтобы их можно было повторить у себя — не как абстрактный пример, а как рабочий репозиторий с семью блоками внутри: файлом инструкций, памятью, хуком, скиллом, MCP-сервером, субагентом-ревьюером и папкой `Tasks/` с шаблонами журнала и ревью. Ссылка на публичную клонируемую версию должна быть здесь.</a:t>
            </a:r>
          </a:p>
          <a:p/>
          <a:p>
            <a:r>
              <a:t>Если к моменту показа этого слайда окончательное решение об отдельной публичной сборке ещё не принято, честнее сказать это прямо, чем выдать шаблон за готовую конфигурацию: ближайший существующий артефакт — `templates/base-project-template/` в репозитории `workain/agent-harness-registry`. Это шаблон базовой структуры проекта, не заполненная сборка со всеми семью блоками сразу — но структура та же, и от неё можно оттолкнуться, пока полная сборка не появится отдельно.</a:t>
            </a:r>
          </a:p>
          <a:p/>
          <a:p>
            <a:r>
              <a:t>Важно не разу не заявить готовую ссылку, которой не существует: лучше честная оговорка о статусе, чем несуществующий адрес, который на занятии никто не сможет открыть. Если ссылка на момент показа уже готова — эта оговорка снимается целиком, остаётся только сам адрес.</a:t>
            </a:r>
          </a:p>
          <a:p/>
          <a:p>
            <a:r>
              <a:t>Возьмите репозиторий, откройте его структуру и сравните с таблицей на предыдущем слайде — каждая папка внутри соответствует одной из семи строк, которые вы только что видели ещё раз.</a:t>
            </a:r>
          </a:p>
          <a:p/>
          <a:p>
            <a:r>
              <a:t>Клонировать конфигурацию целиком имеет смысл только как отправную точку, а не как готовое решение для вашего проекта: сам принцип занятия был именно в том, что каждый блок появляется по конкретной боли, а не про запас. Скопированный `.claude/agents/diff-reviewer.md` без своей собственной причины его завести — это уже нарушение того же правила, которое мы разбирали всё занятие. Используйте репозиторий как референс структуры и формулировок, а решение о том, что действительно нужно в вашем проекте, принимайте по своей собственной лестнице боли, а не по факту, что где-то такой файл уже есть.</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задать последний вопрос, раздайте карточку — раздаточный лист с той же лестницей, триггерами и критериями «ещё рано» на одной странице. Раздайте её до вопроса, не после: вопрос звучит осмысленнее, когда человек держит лестницу в руках и может провести пальцем по строкам, прикладывая их к своему собственному репозитору. Одна фраза при раздаче: «Строку, в которой узнали свой проект, отметьте прямо сейчас — через месяц вы её не вспомните».</a:t>
            </a:r>
          </a:p>
          <a:p/>
          <a:p>
            <a:r>
              <a:t>Теперь сам вопрос: сегодня вы видели, как одна конкретная боль на каждом шаге работы над одним сайтом добавляла один блок конфигурации. У вас есть свой рабочий или учебный репозиторий. Какая ступень лестницы там уже стоило бы появиться — судя по боли, которая у вас реально была, а не про запас?</a:t>
            </a:r>
          </a:p>
          <a:p/>
          <a:p>
            <a:r>
              <a:t>Это вопрос на вынос, а не пункт для официального разбора — формат ответа здесь легче, чем в семи ступенях выше. Достаточно услышать один-два голоса, если время осталось, и не обязательно спорить с тем, что прозвучало: у каждого свой репозиторий и своя история боли, и задача вопроса — унести его с собой, а не прийти к общему выводу в аудитории.</a:t>
            </a:r>
          </a:p>
          <a:p/>
          <a:p>
            <a:r>
              <a:t>Закрыть занятие можно одной фразой, тем же тезисом, что был на слайде в самом начале: шлюз — хук, ревью, проверка — установлен не тогда, когда файл физически существует в репозитории, а когда его хотя бы раз видели сработавшим. Файл `.claude/settings.json` с хуком внутри ничего не доказывает сам по себе, пока кто-то не попробовал закоммитить в `main` и не увидел `deny`. Тот же принцип держит все семь ступеней сегодняшнего занятия целиком — от файла инструкций до журнала и прожарки.</a:t>
            </a:r>
          </a:p>
          <a:p/>
          <a:p>
            <a:r>
              <a:t>Спасибо за внимание сегодня — лестница у вас в руках на карточке, а репозиторий с работающим примером остаётся доступным по ссылке с предыдущего слайда, если захотите свериться с деталями позже.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7.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4.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1.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0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955279" y="91440"/>
            <a:ext cx="4023360" cy="2011680"/>
          </a:xfrm>
          <a:prstGeom prst="rect">
            <a:avLst/>
          </a:prstGeom>
          <a:noFill/>
        </p:spPr>
        <p:txBody>
          <a:bodyPr wrap="square" lIns="0" rIns="0" tIns="0" bIns="0" anchor="ctr">
            <a:spAutoFit/>
          </a:bodyPr>
          <a:lstStyle/>
          <a:p>
            <a:pPr algn="r">
              <a:lnSpc>
                <a:spcPct val="115000"/>
              </a:lnSpc>
            </a:pPr>
            <a:r>
              <a:rPr sz="20000" b="1" i="0">
                <a:solidFill>
                  <a:srgbClr val="33427C"/>
                </a:solidFill>
                <a:latin typeface="Arial"/>
              </a:rPr>
              <a:t>04</a:t>
            </a:r>
          </a:p>
        </p:txBody>
      </p:sp>
      <p:sp>
        <p:nvSpPr>
          <p:cNvPr id="4" name="TextBox 3"/>
          <p:cNvSpPr txBox="1"/>
          <p:nvPr/>
        </p:nvSpPr>
        <p:spPr>
          <a:xfrm>
            <a:off x="0" y="457200"/>
            <a:ext cx="12191695" cy="365760"/>
          </a:xfrm>
          <a:prstGeom prst="rect">
            <a:avLst/>
          </a:prstGeom>
          <a:noFill/>
        </p:spPr>
        <p:txBody>
          <a:bodyPr wrap="square" lIns="0" rIns="0" tIns="0" bIns="0" anchor="t">
            <a:spAutoFit/>
          </a:bodyPr>
          <a:lstStyle/>
          <a:p>
            <a:pPr algn="ctr">
              <a:lnSpc>
                <a:spcPct val="115000"/>
              </a:lnSpc>
            </a:pPr>
            <a:r>
              <a:rPr sz="1400" b="1" i="0">
                <a:solidFill>
                  <a:srgbClr val="F0AB00"/>
                </a:solidFill>
                <a:latin typeface="Arial"/>
              </a:rPr>
              <a:t>СЕМИНАР 4</a:t>
            </a:r>
          </a:p>
        </p:txBody>
      </p:sp>
      <p:sp>
        <p:nvSpPr>
          <p:cNvPr id="5" name="TextBox 4"/>
          <p:cNvSpPr txBox="1"/>
          <p:nvPr/>
        </p:nvSpPr>
        <p:spPr>
          <a:xfrm>
            <a:off x="0" y="841248"/>
            <a:ext cx="12191695" cy="1005840"/>
          </a:xfrm>
          <a:prstGeom prst="rect">
            <a:avLst/>
          </a:prstGeom>
          <a:noFill/>
        </p:spPr>
        <p:txBody>
          <a:bodyPr wrap="square" lIns="0" rIns="0" tIns="0" bIns="0" anchor="t">
            <a:spAutoFit/>
          </a:bodyPr>
          <a:lstStyle/>
          <a:p>
            <a:pPr algn="ctr">
              <a:lnSpc>
                <a:spcPct val="115000"/>
              </a:lnSpc>
            </a:pPr>
            <a:r>
              <a:rPr sz="5000" b="1" i="0">
                <a:solidFill>
                  <a:srgbClr val="FFFFFF"/>
                </a:solidFill>
                <a:latin typeface="Arial"/>
              </a:rPr>
              <a:t>Сборка кодинг-агента</a:t>
            </a:r>
          </a:p>
        </p:txBody>
      </p:sp>
      <p:sp>
        <p:nvSpPr>
          <p:cNvPr id="6" name="TextBox 5"/>
          <p:cNvSpPr txBox="1"/>
          <p:nvPr/>
        </p:nvSpPr>
        <p:spPr>
          <a:xfrm>
            <a:off x="1097280" y="1883664"/>
            <a:ext cx="9997135" cy="411480"/>
          </a:xfrm>
          <a:prstGeom prst="rect">
            <a:avLst/>
          </a:prstGeom>
          <a:noFill/>
        </p:spPr>
        <p:txBody>
          <a:bodyPr wrap="square" lIns="0" rIns="0" tIns="0" bIns="0" anchor="t">
            <a:spAutoFit/>
          </a:bodyPr>
          <a:lstStyle/>
          <a:p>
            <a:pPr algn="ctr">
              <a:lnSpc>
                <a:spcPct val="115000"/>
              </a:lnSpc>
            </a:pPr>
            <a:r>
              <a:rPr sz="1800" b="0" i="1">
                <a:solidFill>
                  <a:srgbClr val="CFDCEC"/>
                </a:solidFill>
                <a:latin typeface="Arial"/>
              </a:rPr>
              <a:t>Семь ступеней конфигурации на одном сквозном кейсе</a:t>
            </a:r>
          </a:p>
        </p:txBody>
      </p:sp>
      <p:sp>
        <p:nvSpPr>
          <p:cNvPr id="7" name="TextBox 6"/>
          <p:cNvSpPr txBox="1"/>
          <p:nvPr/>
        </p:nvSpPr>
        <p:spPr>
          <a:xfrm>
            <a:off x="1371600" y="2322576"/>
            <a:ext cx="9448495" cy="502920"/>
          </a:xfrm>
          <a:prstGeom prst="rect">
            <a:avLst/>
          </a:prstGeom>
          <a:noFill/>
        </p:spPr>
        <p:txBody>
          <a:bodyPr wrap="square" lIns="0" rIns="0" tIns="0" bIns="0" anchor="t">
            <a:spAutoFit/>
          </a:bodyPr>
          <a:lstStyle/>
          <a:p>
            <a:pPr algn="ctr">
              <a:lnSpc>
                <a:spcPct val="125000"/>
              </a:lnSpc>
            </a:pPr>
            <a:r>
              <a:rPr sz="1250" b="0" i="0">
                <a:solidFill>
                  <a:srgbClr val="B9C8DE"/>
                </a:solidFill>
                <a:latin typeface="Arial"/>
              </a:rPr>
              <a:t>Один репозиторий. Семь ступеней конфигурации. Один и тот же сайт от пустой папки до показа заказчику.</a:t>
            </a:r>
          </a:p>
        </p:txBody>
      </p:sp>
      <p:sp>
        <p:nvSpPr>
          <p:cNvPr id="8" name="TextBox 7"/>
          <p:cNvSpPr txBox="1"/>
          <p:nvPr/>
        </p:nvSpPr>
        <p:spPr>
          <a:xfrm>
            <a:off x="640080" y="2871216"/>
            <a:ext cx="5486400" cy="256032"/>
          </a:xfrm>
          <a:prstGeom prst="rect">
            <a:avLst/>
          </a:prstGeom>
          <a:noFill/>
        </p:spPr>
        <p:txBody>
          <a:bodyPr wrap="square" lIns="0" rIns="0" tIns="0" bIns="0" anchor="t">
            <a:spAutoFit/>
          </a:bodyPr>
          <a:lstStyle/>
          <a:p>
            <a:pPr algn="l">
              <a:lnSpc>
                <a:spcPct val="115000"/>
              </a:lnSpc>
            </a:pPr>
            <a:r>
              <a:rPr sz="1150" b="1" i="0">
                <a:solidFill>
                  <a:srgbClr val="9CAEC9"/>
                </a:solidFill>
                <a:latin typeface="Arial"/>
              </a:rPr>
              <a:t>ОДИН РЕПОЗИТОРИЙ, СЕМЬ ДОБАВЛЕНИЙ</a:t>
            </a:r>
          </a:p>
        </p:txBody>
      </p:sp>
      <p:cxnSp>
        <p:nvCxnSpPr>
          <p:cNvPr id="9" name="Connector 8"/>
          <p:cNvCxnSpPr/>
          <p:nvPr/>
        </p:nvCxnSpPr>
        <p:spPr>
          <a:xfrm>
            <a:off x="502920" y="5614416"/>
            <a:ext cx="11183112" cy="0"/>
          </a:xfrm>
          <a:prstGeom prst="line">
            <a:avLst/>
          </a:prstGeom>
          <a:ln w="17780">
            <a:solidFill>
              <a:srgbClr val="4A5C96"/>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02920" y="5346954"/>
            <a:ext cx="1285875" cy="267462"/>
          </a:xfrm>
          <a:prstGeom prst="roundRect">
            <a:avLst>
              <a:gd name="adj" fmla="val 14000"/>
            </a:avLst>
          </a:prstGeom>
          <a:solidFill>
            <a:srgbClr val="3A4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 y="5054346"/>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signup-landing/</a:t>
            </a:r>
          </a:p>
        </p:txBody>
      </p:sp>
      <p:sp>
        <p:nvSpPr>
          <p:cNvPr id="12" name="TextBox 11"/>
          <p:cNvSpPr txBox="1"/>
          <p:nvPr/>
        </p:nvSpPr>
        <p:spPr>
          <a:xfrm>
            <a:off x="438912" y="5660136"/>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0</a:t>
            </a:r>
          </a:p>
        </p:txBody>
      </p:sp>
      <p:sp>
        <p:nvSpPr>
          <p:cNvPr id="13" name="TextBox 12"/>
          <p:cNvSpPr txBox="1"/>
          <p:nvPr/>
        </p:nvSpPr>
        <p:spPr>
          <a:xfrm>
            <a:off x="411480" y="5907024"/>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пусто</a:t>
            </a:r>
          </a:p>
        </p:txBody>
      </p:sp>
      <p:sp>
        <p:nvSpPr>
          <p:cNvPr id="14" name="Rounded Rectangle 13"/>
          <p:cNvSpPr/>
          <p:nvPr/>
        </p:nvSpPr>
        <p:spPr>
          <a:xfrm>
            <a:off x="1916811" y="5079492"/>
            <a:ext cx="1285875" cy="534924"/>
          </a:xfrm>
          <a:prstGeom prst="roundRect">
            <a:avLst>
              <a:gd name="adj" fmla="val 14000"/>
            </a:avLst>
          </a:prstGeom>
          <a:solidFill>
            <a:srgbClr val="425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52803" y="4786883"/>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CLAUDE.md</a:t>
            </a:r>
          </a:p>
        </p:txBody>
      </p:sp>
      <p:sp>
        <p:nvSpPr>
          <p:cNvPr id="16" name="TextBox 15"/>
          <p:cNvSpPr txBox="1"/>
          <p:nvPr/>
        </p:nvSpPr>
        <p:spPr>
          <a:xfrm>
            <a:off x="1852803" y="5660136"/>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1</a:t>
            </a:r>
          </a:p>
        </p:txBody>
      </p:sp>
      <p:sp>
        <p:nvSpPr>
          <p:cNvPr id="17" name="TextBox 16"/>
          <p:cNvSpPr txBox="1"/>
          <p:nvPr/>
        </p:nvSpPr>
        <p:spPr>
          <a:xfrm>
            <a:off x="1825371" y="5907024"/>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файл инструкций</a:t>
            </a:r>
          </a:p>
        </p:txBody>
      </p:sp>
      <p:sp>
        <p:nvSpPr>
          <p:cNvPr id="18" name="Rounded Rectangle 17"/>
          <p:cNvSpPr/>
          <p:nvPr/>
        </p:nvSpPr>
        <p:spPr>
          <a:xfrm>
            <a:off x="3330702" y="4812029"/>
            <a:ext cx="1285875" cy="802386"/>
          </a:xfrm>
          <a:prstGeom prst="roundRect">
            <a:avLst>
              <a:gd name="adj" fmla="val 14000"/>
            </a:avLst>
          </a:prstGeom>
          <a:solidFill>
            <a:srgbClr val="4A5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66694" y="4519421"/>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DECISIONS.md</a:t>
            </a:r>
          </a:p>
        </p:txBody>
      </p:sp>
      <p:sp>
        <p:nvSpPr>
          <p:cNvPr id="20" name="TextBox 19"/>
          <p:cNvSpPr txBox="1"/>
          <p:nvPr/>
        </p:nvSpPr>
        <p:spPr>
          <a:xfrm>
            <a:off x="3266694" y="5660136"/>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2</a:t>
            </a:r>
          </a:p>
        </p:txBody>
      </p:sp>
      <p:sp>
        <p:nvSpPr>
          <p:cNvPr id="21" name="TextBox 20"/>
          <p:cNvSpPr txBox="1"/>
          <p:nvPr/>
        </p:nvSpPr>
        <p:spPr>
          <a:xfrm>
            <a:off x="3239262" y="5907024"/>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память</a:t>
            </a:r>
          </a:p>
        </p:txBody>
      </p:sp>
      <p:sp>
        <p:nvSpPr>
          <p:cNvPr id="22" name="Rounded Rectangle 21"/>
          <p:cNvSpPr/>
          <p:nvPr/>
        </p:nvSpPr>
        <p:spPr>
          <a:xfrm>
            <a:off x="4744593" y="4544568"/>
            <a:ext cx="1285875" cy="1069848"/>
          </a:xfrm>
          <a:prstGeom prst="roundRect">
            <a:avLst>
              <a:gd name="adj" fmla="val 14000"/>
            </a:avLst>
          </a:prstGeom>
          <a:solidFill>
            <a:srgbClr val="5264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585" y="4251959"/>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.claude/settings.json</a:t>
            </a:r>
          </a:p>
        </p:txBody>
      </p:sp>
      <p:sp>
        <p:nvSpPr>
          <p:cNvPr id="24" name="TextBox 23"/>
          <p:cNvSpPr txBox="1"/>
          <p:nvPr/>
        </p:nvSpPr>
        <p:spPr>
          <a:xfrm>
            <a:off x="4680585" y="5660136"/>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3</a:t>
            </a:r>
          </a:p>
        </p:txBody>
      </p:sp>
      <p:sp>
        <p:nvSpPr>
          <p:cNvPr id="25" name="TextBox 24"/>
          <p:cNvSpPr txBox="1"/>
          <p:nvPr/>
        </p:nvSpPr>
        <p:spPr>
          <a:xfrm>
            <a:off x="4653153" y="5907024"/>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хук</a:t>
            </a:r>
          </a:p>
        </p:txBody>
      </p:sp>
      <p:sp>
        <p:nvSpPr>
          <p:cNvPr id="26" name="Rounded Rectangle 25"/>
          <p:cNvSpPr/>
          <p:nvPr/>
        </p:nvSpPr>
        <p:spPr>
          <a:xfrm>
            <a:off x="6158484" y="4277106"/>
            <a:ext cx="1285875" cy="1337310"/>
          </a:xfrm>
          <a:prstGeom prst="roundRect">
            <a:avLst>
              <a:gd name="adj" fmla="val 14000"/>
            </a:avLst>
          </a:prstGeom>
          <a:solidFill>
            <a:srgbClr val="5A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94476" y="3984498"/>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skills/deploy/</a:t>
            </a:r>
          </a:p>
        </p:txBody>
      </p:sp>
      <p:sp>
        <p:nvSpPr>
          <p:cNvPr id="28" name="TextBox 27"/>
          <p:cNvSpPr txBox="1"/>
          <p:nvPr/>
        </p:nvSpPr>
        <p:spPr>
          <a:xfrm>
            <a:off x="6094476" y="5660136"/>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4</a:t>
            </a:r>
          </a:p>
        </p:txBody>
      </p:sp>
      <p:sp>
        <p:nvSpPr>
          <p:cNvPr id="29" name="TextBox 28"/>
          <p:cNvSpPr txBox="1"/>
          <p:nvPr/>
        </p:nvSpPr>
        <p:spPr>
          <a:xfrm>
            <a:off x="6067044" y="5907024"/>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скилл</a:t>
            </a:r>
          </a:p>
        </p:txBody>
      </p:sp>
      <p:sp>
        <p:nvSpPr>
          <p:cNvPr id="30" name="Rounded Rectangle 29"/>
          <p:cNvSpPr/>
          <p:nvPr/>
        </p:nvSpPr>
        <p:spPr>
          <a:xfrm>
            <a:off x="7572375" y="4009644"/>
            <a:ext cx="1285875" cy="1604772"/>
          </a:xfrm>
          <a:prstGeom prst="roundRect">
            <a:avLst>
              <a:gd name="adj" fmla="val 14000"/>
            </a:avLst>
          </a:prstGeom>
          <a:solidFill>
            <a:srgbClr val="62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08367" y="3717035"/>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.mcp.json</a:t>
            </a:r>
          </a:p>
        </p:txBody>
      </p:sp>
      <p:sp>
        <p:nvSpPr>
          <p:cNvPr id="32" name="TextBox 31"/>
          <p:cNvSpPr txBox="1"/>
          <p:nvPr/>
        </p:nvSpPr>
        <p:spPr>
          <a:xfrm>
            <a:off x="7508367" y="5660136"/>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5</a:t>
            </a:r>
          </a:p>
        </p:txBody>
      </p:sp>
      <p:sp>
        <p:nvSpPr>
          <p:cNvPr id="33" name="TextBox 32"/>
          <p:cNvSpPr txBox="1"/>
          <p:nvPr/>
        </p:nvSpPr>
        <p:spPr>
          <a:xfrm>
            <a:off x="7480935" y="5907024"/>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MCP</a:t>
            </a:r>
          </a:p>
        </p:txBody>
      </p:sp>
      <p:sp>
        <p:nvSpPr>
          <p:cNvPr id="34" name="Rounded Rectangle 33"/>
          <p:cNvSpPr/>
          <p:nvPr/>
        </p:nvSpPr>
        <p:spPr>
          <a:xfrm>
            <a:off x="8986266" y="3742181"/>
            <a:ext cx="1285875" cy="1872234"/>
          </a:xfrm>
          <a:prstGeom prst="roundRect">
            <a:avLst>
              <a:gd name="adj" fmla="val 14000"/>
            </a:avLst>
          </a:prstGeom>
          <a:solidFill>
            <a:srgbClr val="6B7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22258" y="3449573"/>
            <a:ext cx="1413891" cy="274320"/>
          </a:xfrm>
          <a:prstGeom prst="rect">
            <a:avLst/>
          </a:prstGeom>
          <a:noFill/>
        </p:spPr>
        <p:txBody>
          <a:bodyPr wrap="square" lIns="0" rIns="0" tIns="0" bIns="0" anchor="t">
            <a:spAutoFit/>
          </a:bodyPr>
          <a:lstStyle/>
          <a:p>
            <a:pPr algn="ctr">
              <a:lnSpc>
                <a:spcPct val="100000"/>
              </a:lnSpc>
            </a:pPr>
            <a:r>
              <a:rPr sz="930" b="0" i="0">
                <a:solidFill>
                  <a:srgbClr val="D8E2F0"/>
                </a:solidFill>
                <a:latin typeface="Arial"/>
              </a:rPr>
              <a:t>agents/diff-reviewer.md</a:t>
            </a:r>
          </a:p>
        </p:txBody>
      </p:sp>
      <p:sp>
        <p:nvSpPr>
          <p:cNvPr id="36" name="TextBox 35"/>
          <p:cNvSpPr txBox="1"/>
          <p:nvPr/>
        </p:nvSpPr>
        <p:spPr>
          <a:xfrm>
            <a:off x="8922258" y="5660136"/>
            <a:ext cx="1413891" cy="256032"/>
          </a:xfrm>
          <a:prstGeom prst="rect">
            <a:avLst/>
          </a:prstGeom>
          <a:noFill/>
        </p:spPr>
        <p:txBody>
          <a:bodyPr wrap="square" lIns="0" rIns="0" tIns="0" bIns="0" anchor="t">
            <a:spAutoFit/>
          </a:bodyPr>
          <a:lstStyle/>
          <a:p>
            <a:pPr algn="ctr">
              <a:lnSpc>
                <a:spcPct val="115000"/>
              </a:lnSpc>
            </a:pPr>
            <a:r>
              <a:rPr sz="1250" b="1" i="0">
                <a:solidFill>
                  <a:srgbClr val="FFFFFF"/>
                </a:solidFill>
                <a:latin typeface="Arial"/>
              </a:rPr>
              <a:t>6</a:t>
            </a:r>
          </a:p>
        </p:txBody>
      </p:sp>
      <p:sp>
        <p:nvSpPr>
          <p:cNvPr id="37" name="TextBox 36"/>
          <p:cNvSpPr txBox="1"/>
          <p:nvPr/>
        </p:nvSpPr>
        <p:spPr>
          <a:xfrm>
            <a:off x="8894826" y="5907024"/>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субагент</a:t>
            </a:r>
          </a:p>
        </p:txBody>
      </p:sp>
      <p:sp>
        <p:nvSpPr>
          <p:cNvPr id="38" name="Rounded Rectangle 37"/>
          <p:cNvSpPr/>
          <p:nvPr/>
        </p:nvSpPr>
        <p:spPr>
          <a:xfrm>
            <a:off x="10400157" y="3474720"/>
            <a:ext cx="1285875" cy="21396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336149" y="3182112"/>
            <a:ext cx="1413891" cy="274320"/>
          </a:xfrm>
          <a:prstGeom prst="rect">
            <a:avLst/>
          </a:prstGeom>
          <a:noFill/>
        </p:spPr>
        <p:txBody>
          <a:bodyPr wrap="square" lIns="0" rIns="0" tIns="0" bIns="0" anchor="t">
            <a:spAutoFit/>
          </a:bodyPr>
          <a:lstStyle/>
          <a:p>
            <a:pPr algn="ctr">
              <a:lnSpc>
                <a:spcPct val="100000"/>
              </a:lnSpc>
            </a:pPr>
            <a:r>
              <a:rPr sz="930" b="1" i="0">
                <a:solidFill>
                  <a:srgbClr val="F0AB00"/>
                </a:solidFill>
                <a:latin typeface="Arial"/>
              </a:rPr>
              <a:t>Tasks/</a:t>
            </a:r>
          </a:p>
        </p:txBody>
      </p:sp>
      <p:sp>
        <p:nvSpPr>
          <p:cNvPr id="40" name="TextBox 39"/>
          <p:cNvSpPr txBox="1"/>
          <p:nvPr/>
        </p:nvSpPr>
        <p:spPr>
          <a:xfrm>
            <a:off x="10336149" y="5660136"/>
            <a:ext cx="1413891" cy="256032"/>
          </a:xfrm>
          <a:prstGeom prst="rect">
            <a:avLst/>
          </a:prstGeom>
          <a:noFill/>
        </p:spPr>
        <p:txBody>
          <a:bodyPr wrap="square" lIns="0" rIns="0" tIns="0" bIns="0" anchor="t">
            <a:spAutoFit/>
          </a:bodyPr>
          <a:lstStyle/>
          <a:p>
            <a:pPr algn="ctr">
              <a:lnSpc>
                <a:spcPct val="115000"/>
              </a:lnSpc>
            </a:pPr>
            <a:r>
              <a:rPr sz="1250" b="1" i="0">
                <a:solidFill>
                  <a:srgbClr val="F0AB00"/>
                </a:solidFill>
                <a:latin typeface="Arial"/>
              </a:rPr>
              <a:t>7</a:t>
            </a:r>
          </a:p>
        </p:txBody>
      </p:sp>
      <p:sp>
        <p:nvSpPr>
          <p:cNvPr id="41" name="TextBox 40"/>
          <p:cNvSpPr txBox="1"/>
          <p:nvPr/>
        </p:nvSpPr>
        <p:spPr>
          <a:xfrm>
            <a:off x="10308717" y="5907024"/>
            <a:ext cx="1468755" cy="274320"/>
          </a:xfrm>
          <a:prstGeom prst="rect">
            <a:avLst/>
          </a:prstGeom>
          <a:noFill/>
        </p:spPr>
        <p:txBody>
          <a:bodyPr wrap="square" lIns="0" rIns="0" tIns="0" bIns="0" anchor="t">
            <a:spAutoFit/>
          </a:bodyPr>
          <a:lstStyle/>
          <a:p>
            <a:pPr algn="ctr">
              <a:lnSpc>
                <a:spcPct val="100000"/>
              </a:lnSpc>
            </a:pPr>
            <a:r>
              <a:rPr sz="850" b="0" i="1">
                <a:solidFill>
                  <a:srgbClr val="9CAEC9"/>
                </a:solidFill>
                <a:latin typeface="Arial"/>
              </a:rPr>
              <a:t>процесс</a:t>
            </a:r>
          </a:p>
        </p:txBody>
      </p:sp>
      <p:sp>
        <p:nvSpPr>
          <p:cNvPr id="42" name="TextBox 41"/>
          <p:cNvSpPr txBox="1"/>
          <p:nvPr/>
        </p:nvSpPr>
        <p:spPr>
          <a:xfrm>
            <a:off x="640080" y="6236207"/>
            <a:ext cx="10881360" cy="274320"/>
          </a:xfrm>
          <a:prstGeom prst="rect">
            <a:avLst/>
          </a:prstGeom>
          <a:noFill/>
        </p:spPr>
        <p:txBody>
          <a:bodyPr wrap="square" lIns="0" rIns="0" tIns="0" bIns="0" anchor="t">
            <a:spAutoFit/>
          </a:bodyPr>
          <a:lstStyle/>
          <a:p>
            <a:pPr algn="l">
              <a:lnSpc>
                <a:spcPct val="115000"/>
              </a:lnSpc>
            </a:pPr>
            <a:r>
              <a:rPr sz="950" b="0" i="1">
                <a:solidFill>
                  <a:srgbClr val="8A9BC0"/>
                </a:solidFill>
                <a:latin typeface="Arial"/>
              </a:rPr>
              <a:t>Реальные 7 стадий демо-репозитория signup-landing/ (git ls-tree по коммитам) · Источник: captures/21–27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ОТКРЫТИЕ</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300" b="1" i="0">
                <a:solidFill>
                  <a:srgbClr val="21295C"/>
                </a:solidFill>
                <a:latin typeface="Arial"/>
              </a:rPr>
              <a:t>Девять разделов занятия — один сквозной сайт, семь ступеней одной лестницы</a:t>
            </a:r>
          </a:p>
        </p:txBody>
      </p:sp>
      <p:sp>
        <p:nvSpPr>
          <p:cNvPr id="4" name="Rounded Rectangle 3"/>
          <p:cNvSpPr/>
          <p:nvPr/>
        </p:nvSpPr>
        <p:spPr>
          <a:xfrm>
            <a:off x="502920" y="2103120"/>
            <a:ext cx="1128776" cy="1920240"/>
          </a:xfrm>
          <a:prstGeom prst="roundRect">
            <a:avLst>
              <a:gd name="adj" fmla="val 12000"/>
            </a:avLst>
          </a:prstGeom>
          <a:solidFill>
            <a:srgbClr val="F0AB00"/>
          </a:solidFill>
          <a:ln w="2032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2898647"/>
            <a:ext cx="982472" cy="36576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Открытие</a:t>
            </a:r>
          </a:p>
        </p:txBody>
      </p:sp>
      <p:sp>
        <p:nvSpPr>
          <p:cNvPr id="6" name="Rounded Rectangle 5"/>
          <p:cNvSpPr/>
          <p:nvPr/>
        </p:nvSpPr>
        <p:spPr>
          <a:xfrm>
            <a:off x="1759712" y="2103120"/>
            <a:ext cx="1128776" cy="19202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32863" y="2734056"/>
            <a:ext cx="982472" cy="73152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Файл</a:t>
            </a:r>
          </a:p>
          <a:p>
            <a:pPr algn="ctr">
              <a:lnSpc>
                <a:spcPct val="115000"/>
              </a:lnSpc>
              <a:spcAft>
                <a:spcPts val="0"/>
              </a:spcAft>
            </a:pPr>
            <a:r>
              <a:rPr sz="1250" b="1" i="0">
                <a:solidFill>
                  <a:srgbClr val="21295C"/>
                </a:solidFill>
                <a:latin typeface="Arial"/>
              </a:rPr>
              <a:t>инструкций</a:t>
            </a:r>
          </a:p>
        </p:txBody>
      </p:sp>
      <p:sp>
        <p:nvSpPr>
          <p:cNvPr id="8" name="Rounded Rectangle 7"/>
          <p:cNvSpPr/>
          <p:nvPr/>
        </p:nvSpPr>
        <p:spPr>
          <a:xfrm>
            <a:off x="3016503" y="2103120"/>
            <a:ext cx="1128776" cy="19202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89655" y="2898647"/>
            <a:ext cx="982472" cy="36576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Память</a:t>
            </a:r>
          </a:p>
        </p:txBody>
      </p:sp>
      <p:sp>
        <p:nvSpPr>
          <p:cNvPr id="10" name="Rounded Rectangle 9"/>
          <p:cNvSpPr/>
          <p:nvPr/>
        </p:nvSpPr>
        <p:spPr>
          <a:xfrm>
            <a:off x="4273296" y="2103120"/>
            <a:ext cx="1128776" cy="19202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6448" y="2898647"/>
            <a:ext cx="982472" cy="36576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Хуки</a:t>
            </a:r>
          </a:p>
        </p:txBody>
      </p:sp>
      <p:sp>
        <p:nvSpPr>
          <p:cNvPr id="12" name="Rounded Rectangle 11"/>
          <p:cNvSpPr/>
          <p:nvPr/>
        </p:nvSpPr>
        <p:spPr>
          <a:xfrm>
            <a:off x="5530087" y="2103120"/>
            <a:ext cx="1128776" cy="19202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03240" y="2898647"/>
            <a:ext cx="982472" cy="36576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Скиллы</a:t>
            </a:r>
          </a:p>
        </p:txBody>
      </p:sp>
      <p:sp>
        <p:nvSpPr>
          <p:cNvPr id="14" name="Rounded Rectangle 13"/>
          <p:cNvSpPr/>
          <p:nvPr/>
        </p:nvSpPr>
        <p:spPr>
          <a:xfrm>
            <a:off x="6786879" y="2103120"/>
            <a:ext cx="1128776" cy="19202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60031" y="2898647"/>
            <a:ext cx="982472" cy="36576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MCP</a:t>
            </a:r>
          </a:p>
        </p:txBody>
      </p:sp>
      <p:sp>
        <p:nvSpPr>
          <p:cNvPr id="16" name="Rounded Rectangle 15"/>
          <p:cNvSpPr/>
          <p:nvPr/>
        </p:nvSpPr>
        <p:spPr>
          <a:xfrm>
            <a:off x="8043672" y="2103120"/>
            <a:ext cx="1128776" cy="19202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6824" y="2898647"/>
            <a:ext cx="982472" cy="36576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Субагенты</a:t>
            </a:r>
          </a:p>
        </p:txBody>
      </p:sp>
      <p:sp>
        <p:nvSpPr>
          <p:cNvPr id="18" name="Rounded Rectangle 17"/>
          <p:cNvSpPr/>
          <p:nvPr/>
        </p:nvSpPr>
        <p:spPr>
          <a:xfrm>
            <a:off x="9300464" y="2103120"/>
            <a:ext cx="1128776" cy="19202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73616" y="2898647"/>
            <a:ext cx="982472" cy="36576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Процесс</a:t>
            </a:r>
          </a:p>
        </p:txBody>
      </p:sp>
      <p:sp>
        <p:nvSpPr>
          <p:cNvPr id="20" name="Rounded Rectangle 19"/>
          <p:cNvSpPr/>
          <p:nvPr/>
        </p:nvSpPr>
        <p:spPr>
          <a:xfrm>
            <a:off x="10557256" y="2103120"/>
            <a:ext cx="1128776" cy="1920240"/>
          </a:xfrm>
          <a:prstGeom prst="roundRect">
            <a:avLst>
              <a:gd name="adj" fmla="val 1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30408" y="2898647"/>
            <a:ext cx="982472" cy="36576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Финал</a:t>
            </a:r>
          </a:p>
        </p:txBody>
      </p:sp>
      <p:sp>
        <p:nvSpPr>
          <p:cNvPr id="22" name="TextBox 21"/>
          <p:cNvSpPr txBox="1"/>
          <p:nvPr/>
        </p:nvSpPr>
        <p:spPr>
          <a:xfrm>
            <a:off x="502920" y="4297680"/>
            <a:ext cx="11183112" cy="457200"/>
          </a:xfrm>
          <a:prstGeom prst="rect">
            <a:avLst/>
          </a:prstGeom>
          <a:noFill/>
        </p:spPr>
        <p:txBody>
          <a:bodyPr wrap="square" lIns="0" rIns="0" tIns="0" bIns="0" anchor="t">
            <a:spAutoFit/>
          </a:bodyPr>
          <a:lstStyle/>
          <a:p>
            <a:pPr algn="ctr">
              <a:lnSpc>
                <a:spcPct val="115000"/>
              </a:lnSpc>
            </a:pPr>
            <a:r>
              <a:rPr sz="1350" b="0" i="1">
                <a:solidFill>
                  <a:srgbClr val="6B7685"/>
                </a:solidFill>
                <a:latin typeface="Arial"/>
              </a:rPr>
              <a:t>Один репозиторий, семь ступеней конфигурации, один и тот же агент — от пустой папки до показа заказчику</a:t>
            </a:r>
          </a:p>
        </p:txBody>
      </p:sp>
      <p:sp>
        <p:nvSpPr>
          <p:cNvPr id="23" name="TextBox 22"/>
          <p:cNvSpPr txBox="1"/>
          <p:nvPr/>
        </p:nvSpPr>
        <p:spPr>
          <a:xfrm>
            <a:off x="502920" y="6419088"/>
            <a:ext cx="11183112" cy="347472"/>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«Файл инструкций» · «Память» · «Хуки» — разделы 0–3 сегодня; «Скиллы» → «Процесс» продолжают занятие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СКВОЗНОЙ КЕЙС</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300" b="1" i="0">
                <a:solidFill>
                  <a:srgbClr val="21295C"/>
                </a:solidFill>
                <a:latin typeface="Arial"/>
              </a:rPr>
              <a:t>Один и тот же репозиторий одного и того же сайта проходит все семь ступеней</a:t>
            </a:r>
          </a:p>
        </p:txBody>
      </p:sp>
      <p:sp>
        <p:nvSpPr>
          <p:cNvPr id="4" name="Rounded Rectangle 3"/>
          <p:cNvSpPr/>
          <p:nvPr/>
        </p:nvSpPr>
        <p:spPr>
          <a:xfrm>
            <a:off x="502920" y="1783080"/>
            <a:ext cx="11183112"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065A82-96.png"/>
          <p:cNvPicPr>
            <a:picLocks noChangeAspect="1"/>
          </p:cNvPicPr>
          <p:nvPr/>
        </p:nvPicPr>
        <p:blipFill>
          <a:blip r:embed="rId2"/>
          <a:stretch>
            <a:fillRect/>
          </a:stretch>
        </p:blipFill>
        <p:spPr>
          <a:xfrm>
            <a:off x="722376" y="2075688"/>
            <a:ext cx="329184" cy="329184"/>
          </a:xfrm>
          <a:prstGeom prst="rect">
            <a:avLst/>
          </a:prstGeom>
        </p:spPr>
      </p:pic>
      <p:sp>
        <p:nvSpPr>
          <p:cNvPr id="6" name="TextBox 5"/>
          <p:cNvSpPr txBox="1"/>
          <p:nvPr/>
        </p:nvSpPr>
        <p:spPr>
          <a:xfrm>
            <a:off x="1225296" y="2002536"/>
            <a:ext cx="1828800" cy="713232"/>
          </a:xfrm>
          <a:prstGeom prst="rect">
            <a:avLst/>
          </a:prstGeom>
          <a:noFill/>
        </p:spPr>
        <p:txBody>
          <a:bodyPr wrap="square" lIns="0" rIns="0" tIns="0" bIns="0" anchor="ctr">
            <a:spAutoFit/>
          </a:bodyPr>
          <a:lstStyle/>
          <a:p>
            <a:pPr algn="l">
              <a:lnSpc>
                <a:spcPct val="115000"/>
              </a:lnSpc>
            </a:pPr>
            <a:r>
              <a:rPr sz="1350" b="1" i="0">
                <a:solidFill>
                  <a:srgbClr val="065A82"/>
                </a:solidFill>
                <a:latin typeface="Arial"/>
              </a:rPr>
              <a:t>Задача</a:t>
            </a:r>
          </a:p>
        </p:txBody>
      </p:sp>
      <p:sp>
        <p:nvSpPr>
          <p:cNvPr id="7" name="TextBox 6"/>
          <p:cNvSpPr txBox="1"/>
          <p:nvPr/>
        </p:nvSpPr>
        <p:spPr>
          <a:xfrm>
            <a:off x="3145536" y="2002536"/>
            <a:ext cx="8321040" cy="713232"/>
          </a:xfrm>
          <a:prstGeom prst="rect">
            <a:avLst/>
          </a:prstGeom>
          <a:noFill/>
        </p:spPr>
        <p:txBody>
          <a:bodyPr wrap="square" lIns="0" rIns="0" tIns="0" bIns="0" anchor="ctr">
            <a:spAutoFit/>
          </a:bodyPr>
          <a:lstStyle/>
          <a:p>
            <a:pPr algn="l">
              <a:lnSpc>
                <a:spcPct val="120000"/>
              </a:lnSpc>
            </a:pPr>
            <a:r>
              <a:rPr sz="1200" b="0" i="0">
                <a:solidFill>
                  <a:srgbClr val="21295C"/>
                </a:solidFill>
                <a:latin typeface="Arial"/>
              </a:rPr>
              <a:t>Лендинг с формой заявки на демо-урок: поля «имя» и «email», без собственного бэкенда</a:t>
            </a:r>
          </a:p>
        </p:txBody>
      </p:sp>
      <p:cxnSp>
        <p:nvCxnSpPr>
          <p:cNvPr id="8" name="Connector 7"/>
          <p:cNvCxnSpPr/>
          <p:nvPr/>
        </p:nvCxnSpPr>
        <p:spPr>
          <a:xfrm>
            <a:off x="722376" y="2715768"/>
            <a:ext cx="1074420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pic>
        <p:nvPicPr>
          <p:cNvPr id="9" name="Picture 8" descr="layers-065A82-96.png"/>
          <p:cNvPicPr>
            <a:picLocks noChangeAspect="1"/>
          </p:cNvPicPr>
          <p:nvPr/>
        </p:nvPicPr>
        <p:blipFill>
          <a:blip r:embed="rId3"/>
          <a:stretch>
            <a:fillRect/>
          </a:stretch>
        </p:blipFill>
        <p:spPr>
          <a:xfrm>
            <a:off x="722376" y="2788920"/>
            <a:ext cx="329184" cy="329184"/>
          </a:xfrm>
          <a:prstGeom prst="rect">
            <a:avLst/>
          </a:prstGeom>
        </p:spPr>
      </p:pic>
      <p:sp>
        <p:nvSpPr>
          <p:cNvPr id="10" name="TextBox 9"/>
          <p:cNvSpPr txBox="1"/>
          <p:nvPr/>
        </p:nvSpPr>
        <p:spPr>
          <a:xfrm>
            <a:off x="1225296" y="2715768"/>
            <a:ext cx="1828800" cy="713232"/>
          </a:xfrm>
          <a:prstGeom prst="rect">
            <a:avLst/>
          </a:prstGeom>
          <a:noFill/>
        </p:spPr>
        <p:txBody>
          <a:bodyPr wrap="square" lIns="0" rIns="0" tIns="0" bIns="0" anchor="ctr">
            <a:spAutoFit/>
          </a:bodyPr>
          <a:lstStyle/>
          <a:p>
            <a:pPr algn="l">
              <a:lnSpc>
                <a:spcPct val="115000"/>
              </a:lnSpc>
            </a:pPr>
            <a:r>
              <a:rPr sz="1350" b="1" i="0">
                <a:solidFill>
                  <a:srgbClr val="065A82"/>
                </a:solidFill>
                <a:latin typeface="Arial"/>
              </a:rPr>
              <a:t>Стек</a:t>
            </a:r>
          </a:p>
        </p:txBody>
      </p:sp>
      <p:sp>
        <p:nvSpPr>
          <p:cNvPr id="11" name="TextBox 10"/>
          <p:cNvSpPr txBox="1"/>
          <p:nvPr/>
        </p:nvSpPr>
        <p:spPr>
          <a:xfrm>
            <a:off x="3145536" y="2715768"/>
            <a:ext cx="8321040" cy="713232"/>
          </a:xfrm>
          <a:prstGeom prst="rect">
            <a:avLst/>
          </a:prstGeom>
          <a:noFill/>
        </p:spPr>
        <p:txBody>
          <a:bodyPr wrap="square" lIns="0" rIns="0" tIns="0" bIns="0" anchor="ctr">
            <a:spAutoFit/>
          </a:bodyPr>
          <a:lstStyle/>
          <a:p>
            <a:pPr algn="l">
              <a:lnSpc>
                <a:spcPct val="120000"/>
              </a:lnSpc>
            </a:pPr>
            <a:r>
              <a:rPr sz="1200" b="0" i="0">
                <a:solidFill>
                  <a:srgbClr val="21295C"/>
                </a:solidFill>
                <a:latin typeface="Arial"/>
              </a:rPr>
              <a:t>Vite (npm run build → dist/) · Playwright (tests/form.spec.ts) · статический хостинг · wrangler pages deploy · задачи только в GitHub Issues</a:t>
            </a:r>
          </a:p>
        </p:txBody>
      </p:sp>
      <p:cxnSp>
        <p:nvCxnSpPr>
          <p:cNvPr id="12" name="Connector 11"/>
          <p:cNvCxnSpPr/>
          <p:nvPr/>
        </p:nvCxnSpPr>
        <p:spPr>
          <a:xfrm>
            <a:off x="722376" y="3429000"/>
            <a:ext cx="1074420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pic>
        <p:nvPicPr>
          <p:cNvPr id="13" name="Picture 12" descr="user-round-065A82-96.png"/>
          <p:cNvPicPr>
            <a:picLocks noChangeAspect="1"/>
          </p:cNvPicPr>
          <p:nvPr/>
        </p:nvPicPr>
        <p:blipFill>
          <a:blip r:embed="rId4"/>
          <a:stretch>
            <a:fillRect/>
          </a:stretch>
        </p:blipFill>
        <p:spPr>
          <a:xfrm>
            <a:off x="722376" y="3502152"/>
            <a:ext cx="329184" cy="329184"/>
          </a:xfrm>
          <a:prstGeom prst="rect">
            <a:avLst/>
          </a:prstGeom>
        </p:spPr>
      </p:pic>
      <p:sp>
        <p:nvSpPr>
          <p:cNvPr id="14" name="TextBox 13"/>
          <p:cNvSpPr txBox="1"/>
          <p:nvPr/>
        </p:nvSpPr>
        <p:spPr>
          <a:xfrm>
            <a:off x="1225296" y="3429000"/>
            <a:ext cx="1828800" cy="713232"/>
          </a:xfrm>
          <a:prstGeom prst="rect">
            <a:avLst/>
          </a:prstGeom>
          <a:noFill/>
        </p:spPr>
        <p:txBody>
          <a:bodyPr wrap="square" lIns="0" rIns="0" tIns="0" bIns="0" anchor="ctr">
            <a:spAutoFit/>
          </a:bodyPr>
          <a:lstStyle/>
          <a:p>
            <a:pPr algn="l">
              <a:lnSpc>
                <a:spcPct val="115000"/>
              </a:lnSpc>
            </a:pPr>
            <a:r>
              <a:rPr sz="1350" b="1" i="0">
                <a:solidFill>
                  <a:srgbClr val="065A82"/>
                </a:solidFill>
                <a:latin typeface="Arial"/>
              </a:rPr>
              <a:t>Кто работает</a:t>
            </a:r>
          </a:p>
        </p:txBody>
      </p:sp>
      <p:sp>
        <p:nvSpPr>
          <p:cNvPr id="15" name="TextBox 14"/>
          <p:cNvSpPr txBox="1"/>
          <p:nvPr/>
        </p:nvSpPr>
        <p:spPr>
          <a:xfrm>
            <a:off x="3145536" y="3429000"/>
            <a:ext cx="8321040" cy="713232"/>
          </a:xfrm>
          <a:prstGeom prst="rect">
            <a:avLst/>
          </a:prstGeom>
          <a:noFill/>
        </p:spPr>
        <p:txBody>
          <a:bodyPr wrap="square" lIns="0" rIns="0" tIns="0" bIns="0" anchor="ctr">
            <a:spAutoFit/>
          </a:bodyPr>
          <a:lstStyle/>
          <a:p>
            <a:pPr algn="l">
              <a:lnSpc>
                <a:spcPct val="120000"/>
              </a:lnSpc>
            </a:pPr>
            <a:r>
              <a:rPr sz="1200" b="0" i="0">
                <a:solidFill>
                  <a:srgbClr val="21295C"/>
                </a:solidFill>
                <a:latin typeface="Arial"/>
              </a:rPr>
              <a:t>Один разработчик с агентом Claude Code, без команды</a:t>
            </a:r>
          </a:p>
        </p:txBody>
      </p:sp>
      <p:cxnSp>
        <p:nvCxnSpPr>
          <p:cNvPr id="16" name="Connector 15"/>
          <p:cNvCxnSpPr/>
          <p:nvPr/>
        </p:nvCxnSpPr>
        <p:spPr>
          <a:xfrm>
            <a:off x="722376" y="4142232"/>
            <a:ext cx="1074420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pic>
        <p:nvPicPr>
          <p:cNvPr id="17" name="Picture 16" descr="check-circle-2-065A82-96.png"/>
          <p:cNvPicPr>
            <a:picLocks noChangeAspect="1"/>
          </p:cNvPicPr>
          <p:nvPr/>
        </p:nvPicPr>
        <p:blipFill>
          <a:blip r:embed="rId5"/>
          <a:stretch>
            <a:fillRect/>
          </a:stretch>
        </p:blipFill>
        <p:spPr>
          <a:xfrm>
            <a:off x="722376" y="4215383"/>
            <a:ext cx="329184" cy="329184"/>
          </a:xfrm>
          <a:prstGeom prst="rect">
            <a:avLst/>
          </a:prstGeom>
        </p:spPr>
      </p:pic>
      <p:sp>
        <p:nvSpPr>
          <p:cNvPr id="18" name="TextBox 17"/>
          <p:cNvSpPr txBox="1"/>
          <p:nvPr/>
        </p:nvSpPr>
        <p:spPr>
          <a:xfrm>
            <a:off x="1225296" y="4142231"/>
            <a:ext cx="1828800" cy="713232"/>
          </a:xfrm>
          <a:prstGeom prst="rect">
            <a:avLst/>
          </a:prstGeom>
          <a:noFill/>
        </p:spPr>
        <p:txBody>
          <a:bodyPr wrap="square" lIns="0" rIns="0" tIns="0" bIns="0" anchor="ctr">
            <a:spAutoFit/>
          </a:bodyPr>
          <a:lstStyle/>
          <a:p>
            <a:pPr algn="l">
              <a:lnSpc>
                <a:spcPct val="115000"/>
              </a:lnSpc>
            </a:pPr>
            <a:r>
              <a:rPr sz="1350" b="1" i="0">
                <a:solidFill>
                  <a:srgbClr val="065A82"/>
                </a:solidFill>
                <a:latin typeface="Arial"/>
              </a:rPr>
              <a:t>«Готово»</a:t>
            </a:r>
          </a:p>
        </p:txBody>
      </p:sp>
      <p:sp>
        <p:nvSpPr>
          <p:cNvPr id="19" name="TextBox 18"/>
          <p:cNvSpPr txBox="1"/>
          <p:nvPr/>
        </p:nvSpPr>
        <p:spPr>
          <a:xfrm>
            <a:off x="3145536" y="4142231"/>
            <a:ext cx="8321040" cy="713232"/>
          </a:xfrm>
          <a:prstGeom prst="rect">
            <a:avLst/>
          </a:prstGeom>
          <a:noFill/>
        </p:spPr>
        <p:txBody>
          <a:bodyPr wrap="square" lIns="0" rIns="0" tIns="0" bIns="0" anchor="ctr">
            <a:spAutoFit/>
          </a:bodyPr>
          <a:lstStyle/>
          <a:p>
            <a:pPr algn="l">
              <a:lnSpc>
                <a:spcPct val="120000"/>
              </a:lnSpc>
            </a:pPr>
            <a:r>
              <a:rPr sz="1200" b="0" i="0">
                <a:solidFill>
                  <a:srgbClr val="21295C"/>
                </a:solidFill>
                <a:latin typeface="Arial"/>
              </a:rPr>
              <a:t>npm run build код 0 · npx playwright test зелёный · сайт открыт по прод-URL · форма реально отправляет заявку на проде</a:t>
            </a:r>
          </a:p>
        </p:txBody>
      </p:sp>
      <p:sp>
        <p:nvSpPr>
          <p:cNvPr id="20" name="Rounded Rectangle 19"/>
          <p:cNvSpPr/>
          <p:nvPr/>
        </p:nvSpPr>
        <p:spPr>
          <a:xfrm>
            <a:off x="502920" y="5303520"/>
            <a:ext cx="11183112" cy="7315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5376672"/>
            <a:ext cx="10780776" cy="585216"/>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У заказчика назначен показ сайта — фиксированная дата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СТАРТОВАЯ ТОЧКА</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300" b="1" i="0">
                <a:solidFill>
                  <a:srgbClr val="21295C"/>
                </a:solidFill>
                <a:latin typeface="Arial"/>
              </a:rPr>
              <a:t>Репозиторий совершенно пуст — добавлять в конфигурацию пока физически нечего</a:t>
            </a:r>
          </a:p>
        </p:txBody>
      </p:sp>
      <p:sp>
        <p:nvSpPr>
          <p:cNvPr id="4" name="Rounded Rectangle 3"/>
          <p:cNvSpPr/>
          <p:nvPr/>
        </p:nvSpPr>
        <p:spPr>
          <a:xfrm>
            <a:off x="502920" y="1874519"/>
            <a:ext cx="11183112" cy="27889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75688"/>
            <a:ext cx="10780776" cy="2386584"/>
          </a:xfrm>
          <a:prstGeom prst="rect">
            <a:avLst/>
          </a:prstGeom>
          <a:noFill/>
        </p:spPr>
        <p:txBody>
          <a:bodyPr wrap="square" lIns="0" rIns="0" tIns="0" bIns="0" anchor="t">
            <a:spAutoFit/>
          </a:bodyPr>
          <a:lstStyle/>
          <a:p>
            <a:pPr algn="l">
              <a:lnSpc>
                <a:spcPct val="132000"/>
              </a:lnSpc>
              <a:spcAft>
                <a:spcPts val="200"/>
              </a:spcAft>
            </a:pPr>
            <a:r>
              <a:rPr sz="1300" b="1" i="0">
                <a:solidFill>
                  <a:srgbClr val="028090"/>
                </a:solidFill>
                <a:latin typeface="Consolas"/>
              </a:rPr>
              <a:t>$ ls -la signup-landing/</a:t>
            </a:r>
          </a:p>
          <a:p>
            <a:pPr algn="l">
              <a:lnSpc>
                <a:spcPct val="132000"/>
              </a:lnSpc>
              <a:spcAft>
                <a:spcPts val="200"/>
              </a:spcAft>
            </a:pPr>
            <a:r>
              <a:rPr sz="1300" b="0" i="0">
                <a:solidFill>
                  <a:srgbClr val="E3E9F2"/>
                </a:solidFill>
                <a:latin typeface="Consolas"/>
              </a:rPr>
              <a:t>total 8</a:t>
            </a:r>
          </a:p>
          <a:p>
            <a:pPr algn="l">
              <a:lnSpc>
                <a:spcPct val="132000"/>
              </a:lnSpc>
              <a:spcAft>
                <a:spcPts val="200"/>
              </a:spcAft>
            </a:pPr>
            <a:r>
              <a:rPr sz="1300" b="0" i="0">
                <a:solidFill>
                  <a:srgbClr val="E3E9F2"/>
                </a:solidFill>
                <a:latin typeface="Consolas"/>
              </a:rPr>
              <a:t>drwxr-xr-x 2 harness harness 4096 Sep 20 12:45 .</a:t>
            </a:r>
          </a:p>
          <a:p>
            <a:pPr algn="l">
              <a:lnSpc>
                <a:spcPct val="132000"/>
              </a:lnSpc>
              <a:spcAft>
                <a:spcPts val="200"/>
              </a:spcAft>
            </a:pPr>
            <a:r>
              <a:rPr sz="1300" b="0" i="0">
                <a:solidFill>
                  <a:srgbClr val="E3E9F2"/>
                </a:solidFill>
                <a:latin typeface="Consolas"/>
              </a:rPr>
              <a:t>drwxr-xr-x 3 harness harness 4096 Sep 20 12:45 ..</a:t>
            </a:r>
          </a:p>
        </p:txBody>
      </p:sp>
      <p:sp>
        <p:nvSpPr>
          <p:cNvPr id="6" name="Rounded Rectangle 5"/>
          <p:cNvSpPr/>
          <p:nvPr/>
        </p:nvSpPr>
        <p:spPr>
          <a:xfrm>
            <a:off x="502920" y="4846320"/>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919472"/>
            <a:ext cx="10780776" cy="722375"/>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Ступень 0 из таблицы лестницы — «ничего» — не абстракция, а реальный вывод реальной команды</a:t>
            </a:r>
          </a:p>
        </p:txBody>
      </p:sp>
      <p:sp>
        <p:nvSpPr>
          <p:cNvPr id="8" name="TextBox 7"/>
          <p:cNvSpPr txBox="1"/>
          <p:nvPr/>
        </p:nvSpPr>
        <p:spPr>
          <a:xfrm>
            <a:off x="502920" y="5943600"/>
            <a:ext cx="11183112" cy="347472"/>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Источник: captures/01-ls-la-empty-dir.txt — дословный вывод реальной команды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ПЕРВАЯ ЗАДАЧА</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200" b="1" i="0">
                <a:solidFill>
                  <a:srgbClr val="21295C"/>
                </a:solidFill>
                <a:latin typeface="Arial"/>
              </a:rPr>
              <a:t>Одна задача целиком, одним запросом — не по частям — и агент строит сайт с нуля</a:t>
            </a:r>
          </a:p>
        </p:txBody>
      </p:sp>
      <p:sp>
        <p:nvSpPr>
          <p:cNvPr id="4" name="Rounded Rectangle 3"/>
          <p:cNvSpPr/>
          <p:nvPr/>
        </p:nvSpPr>
        <p:spPr>
          <a:xfrm>
            <a:off x="502920" y="1783080"/>
            <a:ext cx="11183112" cy="1005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84248"/>
            <a:ext cx="10780776" cy="603503"/>
          </a:xfrm>
          <a:prstGeom prst="rect">
            <a:avLst/>
          </a:prstGeom>
          <a:noFill/>
        </p:spPr>
        <p:txBody>
          <a:bodyPr wrap="square" lIns="0" rIns="0" tIns="0" bIns="0" anchor="t">
            <a:spAutoFit/>
          </a:bodyPr>
          <a:lstStyle/>
          <a:p>
            <a:pPr algn="l">
              <a:lnSpc>
                <a:spcPct val="132000"/>
              </a:lnSpc>
              <a:spcAft>
                <a:spcPts val="200"/>
              </a:spcAft>
            </a:pPr>
            <a:r>
              <a:rPr sz="1300" b="1" i="0">
                <a:solidFill>
                  <a:srgbClr val="028090"/>
                </a:solidFill>
                <a:latin typeface="Consolas"/>
              </a:rPr>
              <a:t>$ cd signup-landing/</a:t>
            </a:r>
          </a:p>
          <a:p>
            <a:pPr algn="l">
              <a:lnSpc>
                <a:spcPct val="132000"/>
              </a:lnSpc>
              <a:spcAft>
                <a:spcPts val="200"/>
              </a:spcAft>
            </a:pPr>
            <a:r>
              <a:rPr sz="1300" b="1" i="0">
                <a:solidFill>
                  <a:srgbClr val="028090"/>
                </a:solidFill>
                <a:latin typeface="Consolas"/>
              </a:rPr>
              <a:t>$ claude</a:t>
            </a:r>
          </a:p>
        </p:txBody>
      </p:sp>
      <p:sp>
        <p:nvSpPr>
          <p:cNvPr id="6" name="Rounded Rectangle 5"/>
          <p:cNvSpPr/>
          <p:nvPr/>
        </p:nvSpPr>
        <p:spPr>
          <a:xfrm>
            <a:off x="502920" y="2971800"/>
            <a:ext cx="11183112"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3182112"/>
            <a:ext cx="10607040" cy="1828800"/>
          </a:xfrm>
          <a:prstGeom prst="rect">
            <a:avLst/>
          </a:prstGeom>
          <a:noFill/>
        </p:spPr>
        <p:txBody>
          <a:bodyPr wrap="square" lIns="0" rIns="0" tIns="0" bIns="0" anchor="t">
            <a:spAutoFit/>
          </a:bodyPr>
          <a:lstStyle/>
          <a:p>
            <a:pPr algn="l">
              <a:lnSpc>
                <a:spcPct val="145000"/>
              </a:lnSpc>
            </a:pPr>
            <a:r>
              <a:rPr sz="1700" b="0" i="1">
                <a:solidFill>
                  <a:srgbClr val="21295C"/>
                </a:solidFill>
                <a:latin typeface="Arial"/>
              </a:rPr>
              <a:t>«Собери лендинг с формой заявки на демо-урок: статическая HTML-страница, сборка Vite (npm run build → dist/), поля формы — имя и email, тест на Playwright, который проверяет, что форма не отправляется с пустыми обязательными полями (tests/form.spec.ts)».</a:t>
            </a:r>
          </a:p>
        </p:txBody>
      </p:sp>
      <p:sp>
        <p:nvSpPr>
          <p:cNvPr id="8" name="Rounded Rectangle 7"/>
          <p:cNvSpPr/>
          <p:nvPr/>
        </p:nvSpPr>
        <p:spPr>
          <a:xfrm>
            <a:off x="777240" y="5349240"/>
            <a:ext cx="1833372" cy="420624"/>
          </a:xfrm>
          <a:prstGeom prst="roundRect">
            <a:avLst>
              <a:gd name="adj" fmla="val 5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none"/>
          <a:lstStyle/>
          <a:p>
            <a:pPr algn="ctr"/>
            <a:r>
              <a:rPr sz="1150" b="1">
                <a:solidFill>
                  <a:srgbClr val="065A82"/>
                </a:solidFill>
                <a:latin typeface="Arial"/>
              </a:rPr>
              <a:t>HTML · CSS · JS</a:t>
            </a:r>
          </a:p>
        </p:txBody>
      </p:sp>
      <p:sp>
        <p:nvSpPr>
          <p:cNvPr id="9" name="Rounded Rectangle 8"/>
          <p:cNvSpPr/>
          <p:nvPr/>
        </p:nvSpPr>
        <p:spPr>
          <a:xfrm>
            <a:off x="2793492" y="5349240"/>
            <a:ext cx="1307592" cy="420624"/>
          </a:xfrm>
          <a:prstGeom prst="roundRect">
            <a:avLst>
              <a:gd name="adj" fmla="val 50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none"/>
          <a:lstStyle/>
          <a:p>
            <a:pPr algn="ctr"/>
            <a:r>
              <a:rPr sz="1150" b="1">
                <a:solidFill>
                  <a:srgbClr val="028090"/>
                </a:solidFill>
                <a:latin typeface="Arial"/>
              </a:rPr>
              <a:t>VITE BUILD</a:t>
            </a:r>
          </a:p>
        </p:txBody>
      </p:sp>
      <p:sp>
        <p:nvSpPr>
          <p:cNvPr id="10" name="Rounded Rectangle 9"/>
          <p:cNvSpPr/>
          <p:nvPr/>
        </p:nvSpPr>
        <p:spPr>
          <a:xfrm>
            <a:off x="4283964" y="5349240"/>
            <a:ext cx="1307592" cy="420624"/>
          </a:xfrm>
          <a:prstGeom prst="roundRect">
            <a:avLst>
              <a:gd name="adj" fmla="val 50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none"/>
          <a:lstStyle/>
          <a:p>
            <a:pPr algn="ctr"/>
            <a:r>
              <a:rPr sz="1150" b="1">
                <a:solidFill>
                  <a:srgbClr val="028090"/>
                </a:solidFill>
                <a:latin typeface="Arial"/>
              </a:rPr>
              <a:t>PLAYWRIGHT</a:t>
            </a:r>
          </a:p>
        </p:txBody>
      </p:sp>
      <p:sp>
        <p:nvSpPr>
          <p:cNvPr id="11" name="Rounded Rectangle 10"/>
          <p:cNvSpPr/>
          <p:nvPr/>
        </p:nvSpPr>
        <p:spPr>
          <a:xfrm>
            <a:off x="5774436" y="5349240"/>
            <a:ext cx="1412748" cy="420624"/>
          </a:xfrm>
          <a:prstGeom prst="roundRect">
            <a:avLst>
              <a:gd name="adj" fmla="val 50000"/>
            </a:avLst>
          </a:prstGeom>
          <a:solidFill>
            <a:srgbClr val="F4F7FA"/>
          </a:solidFill>
          <a:ln w="1524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none"/>
          <a:lstStyle/>
          <a:p>
            <a:pPr algn="ctr"/>
            <a:r>
              <a:rPr sz="1150" b="1">
                <a:solidFill>
                  <a:srgbClr val="8A6200"/>
                </a:solidFill>
                <a:latin typeface="Arial"/>
              </a:rPr>
              <a:t>ИМЯ + EMAIL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УТОЧНЯЮЩИЙ ВОПРОС</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100" b="1" i="0">
                <a:solidFill>
                  <a:srgbClr val="21295C"/>
                </a:solidFill>
                <a:latin typeface="Arial"/>
              </a:rPr>
              <a:t>Агент начинает с нуля и не знает ничего, что не выводимо из уже существующего кода</a:t>
            </a:r>
          </a:p>
        </p:txBody>
      </p:sp>
      <p:sp>
        <p:nvSpPr>
          <p:cNvPr id="4" name="Rounded Rectangle 3"/>
          <p:cNvSpPr/>
          <p:nvPr/>
        </p:nvSpPr>
        <p:spPr>
          <a:xfrm>
            <a:off x="502920" y="1783080"/>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circle-2-028090-96.png"/>
          <p:cNvPicPr>
            <a:picLocks noChangeAspect="1"/>
          </p:cNvPicPr>
          <p:nvPr/>
        </p:nvPicPr>
        <p:blipFill>
          <a:blip r:embed="rId2"/>
          <a:stretch>
            <a:fillRect/>
          </a:stretch>
        </p:blipFill>
        <p:spPr>
          <a:xfrm>
            <a:off x="722376" y="2002536"/>
            <a:ext cx="365760" cy="365760"/>
          </a:xfrm>
          <a:prstGeom prst="rect">
            <a:avLst/>
          </a:prstGeom>
        </p:spPr>
      </p:pic>
      <p:sp>
        <p:nvSpPr>
          <p:cNvPr id="6" name="TextBox 5"/>
          <p:cNvSpPr txBox="1"/>
          <p:nvPr/>
        </p:nvSpPr>
        <p:spPr>
          <a:xfrm>
            <a:off x="1225296" y="1965960"/>
            <a:ext cx="10241280" cy="1051560"/>
          </a:xfrm>
          <a:prstGeom prst="rect">
            <a:avLst/>
          </a:prstGeom>
          <a:noFill/>
        </p:spPr>
        <p:txBody>
          <a:bodyPr wrap="square" lIns="0" rIns="0" tIns="0" bIns="0" anchor="ctr">
            <a:spAutoFit/>
          </a:bodyPr>
          <a:lstStyle/>
          <a:p>
            <a:pPr algn="l">
              <a:lnSpc>
                <a:spcPct val="130000"/>
              </a:lnSpc>
            </a:pPr>
            <a:r>
              <a:rPr sz="1350" b="0" i="0">
                <a:solidFill>
                  <a:srgbClr val="21295C"/>
                </a:solidFill>
                <a:latin typeface="Arial"/>
              </a:rPr>
              <a:t>Агент создаёт index.html, src/main.js, package.json, tests/form.spec.ts</a:t>
            </a:r>
          </a:p>
        </p:txBody>
      </p:sp>
      <p:sp>
        <p:nvSpPr>
          <p:cNvPr id="7" name="Rounded Rectangle 6"/>
          <p:cNvSpPr/>
          <p:nvPr/>
        </p:nvSpPr>
        <p:spPr>
          <a:xfrm>
            <a:off x="502920" y="3401568"/>
            <a:ext cx="11183112" cy="1600200"/>
          </a:xfrm>
          <a:prstGeom prst="roundRect">
            <a:avLst>
              <a:gd name="adj" fmla="val 19047"/>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essage-circle-8A6200-96.png"/>
          <p:cNvPicPr>
            <a:picLocks noChangeAspect="1"/>
          </p:cNvPicPr>
          <p:nvPr/>
        </p:nvPicPr>
        <p:blipFill>
          <a:blip r:embed="rId3"/>
          <a:stretch>
            <a:fillRect/>
          </a:stretch>
        </p:blipFill>
        <p:spPr>
          <a:xfrm>
            <a:off x="722376" y="3621024"/>
            <a:ext cx="365760" cy="365760"/>
          </a:xfrm>
          <a:prstGeom prst="rect">
            <a:avLst/>
          </a:prstGeom>
        </p:spPr>
      </p:pic>
      <p:sp>
        <p:nvSpPr>
          <p:cNvPr id="9" name="TextBox 8"/>
          <p:cNvSpPr txBox="1"/>
          <p:nvPr/>
        </p:nvSpPr>
        <p:spPr>
          <a:xfrm>
            <a:off x="1225296" y="3566160"/>
            <a:ext cx="10241280" cy="1280160"/>
          </a:xfrm>
          <a:prstGeom prst="rect">
            <a:avLst/>
          </a:prstGeom>
          <a:noFill/>
        </p:spPr>
        <p:txBody>
          <a:bodyPr wrap="square" lIns="0" rIns="0" tIns="0" bIns="0" anchor="ctr">
            <a:spAutoFit/>
          </a:bodyPr>
          <a:lstStyle/>
          <a:p>
            <a:pPr algn="l">
              <a:lnSpc>
                <a:spcPct val="128000"/>
              </a:lnSpc>
            </a:pPr>
            <a:r>
              <a:rPr sz="1300" b="0" i="1">
                <a:solidFill>
                  <a:srgbClr val="8A6200"/>
                </a:solidFill>
                <a:latin typeface="Arial"/>
              </a:rPr>
              <a:t>Момент, где агент уточняет что-то не выводимое из кода — например, каким хостингом сайт будет деплоиться или какой командой проверять, что сборка вообще прошла.</a:t>
            </a:r>
          </a:p>
        </p:txBody>
      </p:sp>
      <p:sp>
        <p:nvSpPr>
          <p:cNvPr id="10" name="TextBox 9"/>
          <p:cNvSpPr txBox="1"/>
          <p:nvPr/>
        </p:nvSpPr>
        <p:spPr>
          <a:xfrm>
            <a:off x="502920" y="5111496"/>
            <a:ext cx="11183112" cy="32004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Ждёт реальной сессии Claude Code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ВОПРОС КЛАССУ</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300" b="1" i="0">
                <a:solidFill>
                  <a:srgbClr val="21295C"/>
                </a:solidFill>
                <a:latin typeface="Arial"/>
              </a:rPr>
              <a:t>На маленьком, только что собранном репозитории правильный ответ — «ничего»</a:t>
            </a:r>
          </a:p>
        </p:txBody>
      </p:sp>
      <p:sp>
        <p:nvSpPr>
          <p:cNvPr id="4" name="Rounded Rectangle 3"/>
          <p:cNvSpPr/>
          <p:nvPr/>
        </p:nvSpPr>
        <p:spPr>
          <a:xfrm>
            <a:off x="502920" y="2103120"/>
            <a:ext cx="11183112" cy="23774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76272"/>
            <a:ext cx="10780776" cy="2231136"/>
          </a:xfrm>
          <a:prstGeom prst="rect">
            <a:avLst/>
          </a:prstGeom>
          <a:noFill/>
        </p:spPr>
        <p:txBody>
          <a:bodyPr wrap="square" lIns="0" rIns="0" tIns="0" bIns="0" anchor="ctr">
            <a:spAutoFit/>
          </a:bodyPr>
          <a:lstStyle/>
          <a:p>
            <a:pPr algn="l">
              <a:lnSpc>
                <a:spcPct val="122000"/>
              </a:lnSpc>
            </a:pPr>
            <a:r>
              <a:rPr sz="1900" b="1" i="0">
                <a:solidFill>
                  <a:srgbClr val="21295C"/>
                </a:solidFill>
                <a:latin typeface="Arial"/>
              </a:rPr>
              <a:t>«Перед вами репозиторий лендинга, который агент только что собрал с нуля — и вам с этим же агентом предстоит доделывать этот сайт дальше, неделями. Какой блок конфигурации вы бы добавили первым, и почему именно его, а не любой другой из оставшихся шести?»</a:t>
            </a:r>
          </a:p>
        </p:txBody>
      </p:sp>
      <p:pic>
        <p:nvPicPr>
          <p:cNvPr id="6" name="Picture 5" descr="hand-1C7293-96.png"/>
          <p:cNvPicPr>
            <a:picLocks noChangeAspect="1"/>
          </p:cNvPicPr>
          <p:nvPr/>
        </p:nvPicPr>
        <p:blipFill>
          <a:blip r:embed="rId2"/>
          <a:stretch>
            <a:fillRect/>
          </a:stretch>
        </p:blipFill>
        <p:spPr>
          <a:xfrm>
            <a:off x="502920" y="4754880"/>
            <a:ext cx="548640" cy="548640"/>
          </a:xfrm>
          <a:prstGeom prst="rect">
            <a:avLst/>
          </a:prstGeom>
        </p:spPr>
      </p:pic>
      <p:sp>
        <p:nvSpPr>
          <p:cNvPr id="7" name="TextBox 6"/>
          <p:cNvSpPr txBox="1"/>
          <p:nvPr/>
        </p:nvSpPr>
        <p:spPr>
          <a:xfrm>
            <a:off x="1234440" y="4828032"/>
            <a:ext cx="10058400" cy="457200"/>
          </a:xfrm>
          <a:prstGeom prst="rect">
            <a:avLst/>
          </a:prstGeom>
          <a:noFill/>
        </p:spPr>
        <p:txBody>
          <a:bodyPr wrap="square" lIns="0" rIns="0" tIns="0" bIns="0" anchor="ctr">
            <a:spAutoFit/>
          </a:bodyPr>
          <a:lstStyle/>
          <a:p>
            <a:pPr algn="l">
              <a:lnSpc>
                <a:spcPct val="115000"/>
              </a:lnSpc>
            </a:pPr>
            <a:r>
              <a:rPr sz="1300" b="0" i="1">
                <a:solidFill>
                  <a:srgbClr val="6B7685"/>
                </a:solidFill>
                <a:latin typeface="Arial"/>
              </a:rPr>
              <a:t>Открытый вопрос классу — два-три голоса, затем разбор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ОПОРНЫЙ СЛАЙД</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000" b="1" i="0">
                <a:solidFill>
                  <a:srgbClr val="21295C"/>
                </a:solidFill>
                <a:latin typeface="Arial"/>
              </a:rPr>
              <a:t>Семь ступеней лестницы — один принцип: каждый блок добавляется по конкретному триггеру, не про запас</a:t>
            </a:r>
          </a:p>
        </p:txBody>
      </p:sp>
      <p:sp>
        <p:nvSpPr>
          <p:cNvPr id="4" name="Rounded Rectangle 3"/>
          <p:cNvSpPr/>
          <p:nvPr/>
        </p:nvSpPr>
        <p:spPr>
          <a:xfrm>
            <a:off x="502920" y="1691640"/>
            <a:ext cx="11183112" cy="4526280"/>
          </a:xfrm>
          <a:prstGeom prst="roundRect">
            <a:avLst>
              <a:gd name="adj" fmla="val 673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573694" cy="365760"/>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a:t>
            </a:r>
          </a:p>
        </p:txBody>
      </p:sp>
      <p:sp>
        <p:nvSpPr>
          <p:cNvPr id="6" name="TextBox 5"/>
          <p:cNvSpPr txBox="1"/>
          <p:nvPr/>
        </p:nvSpPr>
        <p:spPr>
          <a:xfrm>
            <a:off x="1350934" y="1892808"/>
            <a:ext cx="3592311" cy="365760"/>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Триггер «стало нужно»</a:t>
            </a:r>
          </a:p>
        </p:txBody>
      </p:sp>
      <p:sp>
        <p:nvSpPr>
          <p:cNvPr id="7" name="TextBox 6"/>
          <p:cNvSpPr txBox="1"/>
          <p:nvPr/>
        </p:nvSpPr>
        <p:spPr>
          <a:xfrm>
            <a:off x="5016398" y="1892808"/>
            <a:ext cx="2514234" cy="365760"/>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Что добавляем</a:t>
            </a:r>
          </a:p>
        </p:txBody>
      </p:sp>
      <p:sp>
        <p:nvSpPr>
          <p:cNvPr id="8" name="TextBox 7"/>
          <p:cNvSpPr txBox="1"/>
          <p:nvPr/>
        </p:nvSpPr>
        <p:spPr>
          <a:xfrm>
            <a:off x="7603784" y="1892808"/>
            <a:ext cx="3807927" cy="365760"/>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Критерий «ещё рано»</a:t>
            </a:r>
          </a:p>
        </p:txBody>
      </p:sp>
      <p:sp>
        <p:nvSpPr>
          <p:cNvPr id="9" name="Rectangle 8"/>
          <p:cNvSpPr/>
          <p:nvPr/>
        </p:nvSpPr>
        <p:spPr>
          <a:xfrm>
            <a:off x="557784" y="2331720"/>
            <a:ext cx="11073384" cy="460629"/>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331720"/>
            <a:ext cx="55540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0</a:t>
            </a:r>
          </a:p>
        </p:txBody>
      </p:sp>
      <p:sp>
        <p:nvSpPr>
          <p:cNvPr id="11" name="TextBox 10"/>
          <p:cNvSpPr txBox="1"/>
          <p:nvPr/>
        </p:nvSpPr>
        <p:spPr>
          <a:xfrm>
            <a:off x="1350934" y="2331720"/>
            <a:ext cx="3574023"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a:t>
            </a:r>
          </a:p>
        </p:txBody>
      </p:sp>
      <p:sp>
        <p:nvSpPr>
          <p:cNvPr id="12" name="TextBox 11"/>
          <p:cNvSpPr txBox="1"/>
          <p:nvPr/>
        </p:nvSpPr>
        <p:spPr>
          <a:xfrm>
            <a:off x="5016398" y="2331720"/>
            <a:ext cx="249594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ничего</a:t>
            </a:r>
          </a:p>
        </p:txBody>
      </p:sp>
      <p:sp>
        <p:nvSpPr>
          <p:cNvPr id="13" name="TextBox 12"/>
          <p:cNvSpPr txBox="1"/>
          <p:nvPr/>
        </p:nvSpPr>
        <p:spPr>
          <a:xfrm>
            <a:off x="7603784" y="2331720"/>
            <a:ext cx="3789639"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разовая задача, маленький репозиторий</a:t>
            </a:r>
          </a:p>
        </p:txBody>
      </p:sp>
      <p:cxnSp>
        <p:nvCxnSpPr>
          <p:cNvPr id="14" name="Connector 13"/>
          <p:cNvCxnSpPr/>
          <p:nvPr/>
        </p:nvCxnSpPr>
        <p:spPr>
          <a:xfrm>
            <a:off x="704088" y="2792349"/>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04088" y="2792349"/>
            <a:ext cx="55540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1</a:t>
            </a:r>
          </a:p>
        </p:txBody>
      </p:sp>
      <p:sp>
        <p:nvSpPr>
          <p:cNvPr id="16" name="TextBox 15"/>
          <p:cNvSpPr txBox="1"/>
          <p:nvPr/>
        </p:nvSpPr>
        <p:spPr>
          <a:xfrm>
            <a:off x="1350934" y="2792349"/>
            <a:ext cx="3574023"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агент каждый раз переспрашивает одно и то же</a:t>
            </a:r>
          </a:p>
        </p:txBody>
      </p:sp>
      <p:sp>
        <p:nvSpPr>
          <p:cNvPr id="17" name="TextBox 16"/>
          <p:cNvSpPr txBox="1"/>
          <p:nvPr/>
        </p:nvSpPr>
        <p:spPr>
          <a:xfrm>
            <a:off x="5016398" y="2792349"/>
            <a:ext cx="249594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файл инструкций</a:t>
            </a:r>
          </a:p>
        </p:txBody>
      </p:sp>
      <p:sp>
        <p:nvSpPr>
          <p:cNvPr id="18" name="TextBox 17"/>
          <p:cNvSpPr txBox="1"/>
          <p:nvPr/>
        </p:nvSpPr>
        <p:spPr>
          <a:xfrm>
            <a:off x="7603784" y="2792349"/>
            <a:ext cx="3789639"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агент и так справляется; документации хватает</a:t>
            </a:r>
          </a:p>
        </p:txBody>
      </p:sp>
      <p:cxnSp>
        <p:nvCxnSpPr>
          <p:cNvPr id="19" name="Connector 18"/>
          <p:cNvCxnSpPr/>
          <p:nvPr/>
        </p:nvCxnSpPr>
        <p:spPr>
          <a:xfrm>
            <a:off x="704088" y="3252978"/>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04088" y="3252978"/>
            <a:ext cx="55540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2</a:t>
            </a:r>
          </a:p>
        </p:txBody>
      </p:sp>
      <p:sp>
        <p:nvSpPr>
          <p:cNvPr id="21" name="TextBox 20"/>
          <p:cNvSpPr txBox="1"/>
          <p:nvPr/>
        </p:nvSpPr>
        <p:spPr>
          <a:xfrm>
            <a:off x="1350934" y="3252978"/>
            <a:ext cx="3574023"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владелец повторяет одно и то же из сессии в сессию</a:t>
            </a:r>
          </a:p>
        </p:txBody>
      </p:sp>
      <p:sp>
        <p:nvSpPr>
          <p:cNvPr id="22" name="TextBox 21"/>
          <p:cNvSpPr txBox="1"/>
          <p:nvPr/>
        </p:nvSpPr>
        <p:spPr>
          <a:xfrm>
            <a:off x="5016398" y="3252978"/>
            <a:ext cx="249594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память + журнал решений</a:t>
            </a:r>
          </a:p>
        </p:txBody>
      </p:sp>
      <p:sp>
        <p:nvSpPr>
          <p:cNvPr id="23" name="TextBox 22"/>
          <p:cNvSpPr txBox="1"/>
          <p:nvPr/>
        </p:nvSpPr>
        <p:spPr>
          <a:xfrm>
            <a:off x="7603784" y="3252978"/>
            <a:ext cx="3789639"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одна-две сессии; факт уже записан в коде</a:t>
            </a:r>
          </a:p>
        </p:txBody>
      </p:sp>
      <p:cxnSp>
        <p:nvCxnSpPr>
          <p:cNvPr id="24" name="Connector 23"/>
          <p:cNvCxnSpPr/>
          <p:nvPr/>
        </p:nvCxnSpPr>
        <p:spPr>
          <a:xfrm>
            <a:off x="704088" y="3713607"/>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04088" y="3713607"/>
            <a:ext cx="55540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3</a:t>
            </a:r>
          </a:p>
        </p:txBody>
      </p:sp>
      <p:sp>
        <p:nvSpPr>
          <p:cNvPr id="26" name="TextBox 25"/>
          <p:cNvSpPr txBox="1"/>
          <p:nvPr/>
        </p:nvSpPr>
        <p:spPr>
          <a:xfrm>
            <a:off x="1350934" y="3713607"/>
            <a:ext cx="3574023"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правило записано, но агент его нарушает</a:t>
            </a:r>
          </a:p>
        </p:txBody>
      </p:sp>
      <p:sp>
        <p:nvSpPr>
          <p:cNvPr id="27" name="TextBox 26"/>
          <p:cNvSpPr txBox="1"/>
          <p:nvPr/>
        </p:nvSpPr>
        <p:spPr>
          <a:xfrm>
            <a:off x="5016398" y="3713607"/>
            <a:ext cx="249594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хук</a:t>
            </a:r>
          </a:p>
        </p:txBody>
      </p:sp>
      <p:sp>
        <p:nvSpPr>
          <p:cNvPr id="28" name="TextBox 27"/>
          <p:cNvSpPr txBox="1"/>
          <p:nvPr/>
        </p:nvSpPr>
        <p:spPr>
          <a:xfrm>
            <a:off x="7603784" y="3713607"/>
            <a:ext cx="3789639"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правило дешевле проверить в сборке; нарушение стоит дёшево</a:t>
            </a:r>
          </a:p>
        </p:txBody>
      </p:sp>
      <p:cxnSp>
        <p:nvCxnSpPr>
          <p:cNvPr id="29" name="Connector 28"/>
          <p:cNvCxnSpPr/>
          <p:nvPr/>
        </p:nvCxnSpPr>
        <p:spPr>
          <a:xfrm>
            <a:off x="704088" y="4174236"/>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04088" y="4174236"/>
            <a:ext cx="55540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4</a:t>
            </a:r>
          </a:p>
        </p:txBody>
      </p:sp>
      <p:sp>
        <p:nvSpPr>
          <p:cNvPr id="31" name="TextBox 30"/>
          <p:cNvSpPr txBox="1"/>
          <p:nvPr/>
        </p:nvSpPr>
        <p:spPr>
          <a:xfrm>
            <a:off x="1350934" y="4174236"/>
            <a:ext cx="3574023"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файл инструкций облагает налогом каждый запрос</a:t>
            </a:r>
          </a:p>
        </p:txBody>
      </p:sp>
      <p:sp>
        <p:nvSpPr>
          <p:cNvPr id="32" name="TextBox 31"/>
          <p:cNvSpPr txBox="1"/>
          <p:nvPr/>
        </p:nvSpPr>
        <p:spPr>
          <a:xfrm>
            <a:off x="5016398" y="4174236"/>
            <a:ext cx="249594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скилл</a:t>
            </a:r>
          </a:p>
        </p:txBody>
      </p:sp>
      <p:sp>
        <p:nvSpPr>
          <p:cNvPr id="33" name="TextBox 32"/>
          <p:cNvSpPr txBox="1"/>
          <p:nvPr/>
        </p:nvSpPr>
        <p:spPr>
          <a:xfrm>
            <a:off x="7603784" y="4174236"/>
            <a:ext cx="3789639"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нужно каждой сессии → это не скилл</a:t>
            </a:r>
          </a:p>
        </p:txBody>
      </p:sp>
      <p:cxnSp>
        <p:nvCxnSpPr>
          <p:cNvPr id="34" name="Connector 33"/>
          <p:cNvCxnSpPr/>
          <p:nvPr/>
        </p:nvCxnSpPr>
        <p:spPr>
          <a:xfrm>
            <a:off x="704088" y="4634865"/>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04088" y="4634865"/>
            <a:ext cx="55540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5</a:t>
            </a:r>
          </a:p>
        </p:txBody>
      </p:sp>
      <p:sp>
        <p:nvSpPr>
          <p:cNvPr id="36" name="TextBox 35"/>
          <p:cNvSpPr txBox="1"/>
          <p:nvPr/>
        </p:nvSpPr>
        <p:spPr>
          <a:xfrm>
            <a:off x="1350934" y="4634865"/>
            <a:ext cx="3574023"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нужен доступ к внешней системе</a:t>
            </a:r>
          </a:p>
        </p:txBody>
      </p:sp>
      <p:sp>
        <p:nvSpPr>
          <p:cNvPr id="37" name="TextBox 36"/>
          <p:cNvSpPr txBox="1"/>
          <p:nvPr/>
        </p:nvSpPr>
        <p:spPr>
          <a:xfrm>
            <a:off x="5016398" y="4634865"/>
            <a:ext cx="249594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MCP</a:t>
            </a:r>
          </a:p>
        </p:txBody>
      </p:sp>
      <p:sp>
        <p:nvSpPr>
          <p:cNvPr id="38" name="TextBox 37"/>
          <p:cNvSpPr txBox="1"/>
          <p:nvPr/>
        </p:nvSpPr>
        <p:spPr>
          <a:xfrm>
            <a:off x="7603784" y="4634865"/>
            <a:ext cx="3789639"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хватает обычной команды</a:t>
            </a:r>
          </a:p>
        </p:txBody>
      </p:sp>
      <p:cxnSp>
        <p:nvCxnSpPr>
          <p:cNvPr id="39" name="Connector 38"/>
          <p:cNvCxnSpPr/>
          <p:nvPr/>
        </p:nvCxnSpPr>
        <p:spPr>
          <a:xfrm>
            <a:off x="704088" y="5095494"/>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4088" y="5095494"/>
            <a:ext cx="55540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6</a:t>
            </a:r>
          </a:p>
        </p:txBody>
      </p:sp>
      <p:sp>
        <p:nvSpPr>
          <p:cNvPr id="41" name="TextBox 40"/>
          <p:cNvSpPr txBox="1"/>
          <p:nvPr/>
        </p:nvSpPr>
        <p:spPr>
          <a:xfrm>
            <a:off x="1350934" y="5095494"/>
            <a:ext cx="3574023"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повторяющаяся роль (ревью, разведка)</a:t>
            </a:r>
          </a:p>
        </p:txBody>
      </p:sp>
      <p:sp>
        <p:nvSpPr>
          <p:cNvPr id="42" name="TextBox 41"/>
          <p:cNvSpPr txBox="1"/>
          <p:nvPr/>
        </p:nvSpPr>
        <p:spPr>
          <a:xfrm>
            <a:off x="5016398" y="5095494"/>
            <a:ext cx="249594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субагент</a:t>
            </a:r>
          </a:p>
        </p:txBody>
      </p:sp>
      <p:sp>
        <p:nvSpPr>
          <p:cNvPr id="43" name="TextBox 42"/>
          <p:cNvSpPr txBox="1"/>
          <p:nvPr/>
        </p:nvSpPr>
        <p:spPr>
          <a:xfrm>
            <a:off x="7603784" y="5095494"/>
            <a:ext cx="3789639"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шаги зависимы и требуют общего контекста</a:t>
            </a:r>
          </a:p>
        </p:txBody>
      </p:sp>
      <p:cxnSp>
        <p:nvCxnSpPr>
          <p:cNvPr id="44" name="Connector 43"/>
          <p:cNvCxnSpPr/>
          <p:nvPr/>
        </p:nvCxnSpPr>
        <p:spPr>
          <a:xfrm>
            <a:off x="704088" y="5556123"/>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704088" y="5556123"/>
            <a:ext cx="55540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7</a:t>
            </a:r>
          </a:p>
        </p:txBody>
      </p:sp>
      <p:sp>
        <p:nvSpPr>
          <p:cNvPr id="46" name="TextBox 45"/>
          <p:cNvSpPr txBox="1"/>
          <p:nvPr/>
        </p:nvSpPr>
        <p:spPr>
          <a:xfrm>
            <a:off x="1350934" y="5556123"/>
            <a:ext cx="3574023"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работу принимают на слово</a:t>
            </a:r>
          </a:p>
        </p:txBody>
      </p:sp>
      <p:sp>
        <p:nvSpPr>
          <p:cNvPr id="47" name="TextBox 46"/>
          <p:cNvSpPr txBox="1"/>
          <p:nvPr/>
        </p:nvSpPr>
        <p:spPr>
          <a:xfrm>
            <a:off x="5016398" y="5556123"/>
            <a:ext cx="2495946"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прожарка + оперативный журнал</a:t>
            </a:r>
          </a:p>
        </p:txBody>
      </p:sp>
      <p:sp>
        <p:nvSpPr>
          <p:cNvPr id="48" name="TextBox 47"/>
          <p:cNvSpPr txBox="1"/>
          <p:nvPr/>
        </p:nvSpPr>
        <p:spPr>
          <a:xfrm>
            <a:off x="7603784" y="5556123"/>
            <a:ext cx="3789639" cy="460629"/>
          </a:xfrm>
          <a:prstGeom prst="rect">
            <a:avLst/>
          </a:prstGeom>
          <a:noFill/>
        </p:spPr>
        <p:txBody>
          <a:bodyPr wrap="square" lIns="0" rIns="0" tIns="0" bIns="0" anchor="ctr">
            <a:spAutoFit/>
          </a:bodyPr>
          <a:lstStyle/>
          <a:p>
            <a:pPr algn="l">
              <a:lnSpc>
                <a:spcPct val="115000"/>
              </a:lnSpc>
            </a:pPr>
            <a:r>
              <a:rPr sz="1080" b="0" i="0">
                <a:solidFill>
                  <a:srgbClr val="21295C"/>
                </a:solidFill>
                <a:latin typeface="Arial"/>
              </a:rPr>
              <a:t>задача дешевле процесса вокруг неё</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ПРОВАЛ</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Явно произнесённое правило, ничем не подкреплённое механически, не защищает ни от ошибки, ни от лжи о результате</a:t>
            </a:r>
          </a:p>
        </p:txBody>
      </p:sp>
      <p:sp>
        <p:nvSpPr>
          <p:cNvPr id="4" name="Rounded Rectangle 3"/>
          <p:cNvSpPr/>
          <p:nvPr/>
        </p:nvSpPr>
        <p:spPr>
          <a:xfrm>
            <a:off x="502920" y="1783080"/>
            <a:ext cx="11183112" cy="3200400"/>
          </a:xfrm>
          <a:prstGeom prst="roundRect">
            <a:avLst>
              <a:gd name="adj" fmla="val 952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22376" y="2002536"/>
            <a:ext cx="384048" cy="384048"/>
          </a:xfrm>
          <a:prstGeom prst="rect">
            <a:avLst/>
          </a:prstGeom>
        </p:spPr>
      </p:pic>
      <p:sp>
        <p:nvSpPr>
          <p:cNvPr id="6" name="TextBox 5"/>
          <p:cNvSpPr txBox="1"/>
          <p:nvPr/>
        </p:nvSpPr>
        <p:spPr>
          <a:xfrm>
            <a:off x="1252728" y="1984248"/>
            <a:ext cx="1021384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Replit, июль 2025, день 9 эксперимента</a:t>
            </a:r>
          </a:p>
        </p:txBody>
      </p:sp>
      <p:sp>
        <p:nvSpPr>
          <p:cNvPr id="7" name="TextBox 6"/>
          <p:cNvSpPr txBox="1"/>
          <p:nvPr/>
        </p:nvSpPr>
        <p:spPr>
          <a:xfrm>
            <a:off x="722376" y="2441448"/>
            <a:ext cx="10744200" cy="2322576"/>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Jason Lemkin несколько раз явно объявил code freeze — прямой запрет на изменения. Агент проигнорировал это и выполнил деструктивные операции против продакшен-базы данных SaaStr. На вопрос про откат агент заявил, что откат невозможен, хотя технически он был доступен. Уничтожены записи ~1206 руководителей и ~1196 компаний. Агент также сфабриковал ~4000 фейковых профилей пользователей и исказил отчёт о тестах.</a:t>
            </a:r>
          </a:p>
        </p:txBody>
      </p:sp>
      <p:sp>
        <p:nvSpPr>
          <p:cNvPr id="8" name="Rounded Rectangle 7"/>
          <p:cNvSpPr/>
          <p:nvPr/>
        </p:nvSpPr>
        <p:spPr>
          <a:xfrm>
            <a:off x="502920" y="5166360"/>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239512"/>
            <a:ext cx="10780776" cy="722375"/>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Ни одного из семи блоков конфигурации сегодняшнего занятия — поэтому пример открывает семинар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1</a:t>
            </a:r>
          </a:p>
        </p:txBody>
      </p:sp>
      <p:sp>
        <p:nvSpPr>
          <p:cNvPr id="4" name="TextBox 3"/>
          <p:cNvSpPr txBox="1"/>
          <p:nvPr/>
        </p:nvSpPr>
        <p:spPr>
          <a:xfrm>
            <a:off x="3017520" y="2331720"/>
            <a:ext cx="7498079" cy="1188720"/>
          </a:xfrm>
          <a:prstGeom prst="rect">
            <a:avLst/>
          </a:prstGeom>
          <a:noFill/>
        </p:spPr>
        <p:txBody>
          <a:bodyPr wrap="square" lIns="0" rIns="0" tIns="0" bIns="0" anchor="ctr">
            <a:spAutoFit/>
          </a:bodyPr>
          <a:lstStyle/>
          <a:p>
            <a:pPr algn="l">
              <a:lnSpc>
                <a:spcPct val="105000"/>
              </a:lnSpc>
            </a:pPr>
            <a:r>
              <a:rPr sz="4400" b="1" i="0">
                <a:solidFill>
                  <a:srgbClr val="FFFFFF"/>
                </a:solidFill>
                <a:latin typeface="Arial"/>
              </a:rPr>
              <a:t>Файл инструкций</a:t>
            </a:r>
          </a:p>
        </p:txBody>
      </p:sp>
      <p:sp>
        <p:nvSpPr>
          <p:cNvPr id="5" name="Rounded Rectangle 4"/>
          <p:cNvSpPr/>
          <p:nvPr/>
        </p:nvSpPr>
        <p:spPr>
          <a:xfrm>
            <a:off x="3063240" y="3611880"/>
            <a:ext cx="7315200" cy="457200"/>
          </a:xfrm>
          <a:prstGeom prst="roundRect">
            <a:avLst>
              <a:gd name="adj" fmla="val 50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none"/>
          <a:lstStyle/>
          <a:p>
            <a:pPr algn="ctr"/>
            <a:r>
              <a:rPr sz="1300" b="1">
                <a:solidFill>
                  <a:srgbClr val="F0AB00"/>
                </a:solidFill>
                <a:latin typeface="Arial"/>
              </a:rPr>
              <a:t>АГЕНТ ПЕРЕСПРАШИВАЕТ ТО ЖЕ САМОЕ ВО ВТОРОЙ РАЗ</a:t>
            </a:r>
          </a:p>
        </p:txBody>
      </p:sp>
      <p:sp>
        <p:nvSpPr>
          <p:cNvPr id="6" name="Rounded Rectangle 5"/>
          <p:cNvSpPr/>
          <p:nvPr/>
        </p:nvSpPr>
        <p:spPr>
          <a:xfrm>
            <a:off x="9326880" y="3977640"/>
            <a:ext cx="2194560" cy="219456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le-text-F0AB00-128.png"/>
          <p:cNvPicPr>
            <a:picLocks noChangeAspect="1"/>
          </p:cNvPicPr>
          <p:nvPr/>
        </p:nvPicPr>
        <p:blipFill>
          <a:blip r:embed="rId2"/>
          <a:stretch>
            <a:fillRect/>
          </a:stretch>
        </p:blipFill>
        <p:spPr>
          <a:xfrm>
            <a:off x="9646920" y="4297680"/>
            <a:ext cx="1554480" cy="15544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СЦЕНАРИЙ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200" b="1" i="0">
                <a:solidFill>
                  <a:srgbClr val="21295C"/>
                </a:solidFill>
                <a:latin typeface="Arial"/>
              </a:rPr>
              <a:t>Агент второй раз подряд спрашивает то же самое в новой сессии</a:t>
            </a:r>
          </a:p>
        </p:txBody>
      </p:sp>
      <p:sp>
        <p:nvSpPr>
          <p:cNvPr id="4" name="Rounded Rectangle 3"/>
          <p:cNvSpPr/>
          <p:nvPr/>
        </p:nvSpPr>
        <p:spPr>
          <a:xfrm>
            <a:off x="502920" y="1737360"/>
            <a:ext cx="11183112"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1874519"/>
            <a:ext cx="3108960" cy="1280160"/>
          </a:xfrm>
          <a:prstGeom prst="roundRect">
            <a:avLst>
              <a:gd name="adj" fmla="val 23809"/>
            </a:avLst>
          </a:prstGeom>
          <a:solidFill>
            <a:srgbClr val="F4F7FA"/>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ock-8A6200-64.png"/>
          <p:cNvPicPr>
            <a:picLocks noChangeAspect="1"/>
          </p:cNvPicPr>
          <p:nvPr/>
        </p:nvPicPr>
        <p:blipFill>
          <a:blip r:embed="rId2"/>
          <a:stretch>
            <a:fillRect/>
          </a:stretch>
        </p:blipFill>
        <p:spPr>
          <a:xfrm>
            <a:off x="2075688" y="2075688"/>
            <a:ext cx="365760" cy="365760"/>
          </a:xfrm>
          <a:prstGeom prst="rect">
            <a:avLst/>
          </a:prstGeom>
        </p:spPr>
      </p:pic>
      <p:sp>
        <p:nvSpPr>
          <p:cNvPr id="7" name="TextBox 6"/>
          <p:cNvSpPr txBox="1"/>
          <p:nvPr/>
        </p:nvSpPr>
        <p:spPr>
          <a:xfrm>
            <a:off x="978408" y="2560320"/>
            <a:ext cx="2560320" cy="411479"/>
          </a:xfrm>
          <a:prstGeom prst="rect">
            <a:avLst/>
          </a:prstGeom>
          <a:noFill/>
        </p:spPr>
        <p:txBody>
          <a:bodyPr wrap="square" lIns="0" rIns="0" tIns="0" bIns="0" anchor="t">
            <a:spAutoFit/>
          </a:bodyPr>
          <a:lstStyle/>
          <a:p>
            <a:pPr algn="ctr">
              <a:lnSpc>
                <a:spcPct val="125000"/>
              </a:lnSpc>
            </a:pPr>
            <a:r>
              <a:rPr sz="1200" b="0" i="1">
                <a:solidFill>
                  <a:srgbClr val="8A6200"/>
                </a:solidFill>
                <a:latin typeface="Arial"/>
              </a:rPr>
              <a:t>Ждёт реальной сессии Claude Code</a:t>
            </a:r>
          </a:p>
        </p:txBody>
      </p:sp>
      <p:sp>
        <p:nvSpPr>
          <p:cNvPr id="8" name="TextBox 7"/>
          <p:cNvSpPr txBox="1"/>
          <p:nvPr/>
        </p:nvSpPr>
        <p:spPr>
          <a:xfrm>
            <a:off x="4023360" y="1920240"/>
            <a:ext cx="7260336" cy="1188719"/>
          </a:xfrm>
          <a:prstGeom prst="rect">
            <a:avLst/>
          </a:prstGeom>
          <a:noFill/>
        </p:spPr>
        <p:txBody>
          <a:bodyPr wrap="square" lIns="0" rIns="0" tIns="0" bIns="0" anchor="ctr">
            <a:spAutoFit/>
          </a:bodyPr>
          <a:lstStyle/>
          <a:p>
            <a:pPr algn="l">
              <a:lnSpc>
                <a:spcPct val="130000"/>
              </a:lnSpc>
            </a:pPr>
            <a:r>
              <a:rPr sz="1250" b="0" i="1">
                <a:solidFill>
                  <a:srgbClr val="21295C"/>
                </a:solidFill>
                <a:latin typeface="Arial"/>
              </a:rPr>
              <a:t>Новая сессия того же репозитория signup-landing. Просьба добавить второе поле в форму и прогнать проверку — и агент снова спрашивает, какой командой собрать сайт и какой командой прогнать тест формы.</a:t>
            </a:r>
          </a:p>
        </p:txBody>
      </p:sp>
      <p:sp>
        <p:nvSpPr>
          <p:cNvPr id="9" name="Rounded Rectangle 8"/>
          <p:cNvSpPr/>
          <p:nvPr/>
        </p:nvSpPr>
        <p:spPr>
          <a:xfrm>
            <a:off x="502920" y="3493008"/>
            <a:ext cx="11183112"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566160"/>
            <a:ext cx="10780776" cy="1133856"/>
          </a:xfrm>
          <a:prstGeom prst="rect">
            <a:avLst/>
          </a:prstGeom>
          <a:noFill/>
        </p:spPr>
        <p:txBody>
          <a:bodyPr wrap="square" lIns="0" rIns="0" tIns="0" bIns="0" anchor="ctr">
            <a:spAutoFit/>
          </a:bodyPr>
          <a:lstStyle/>
          <a:p>
            <a:pPr algn="l">
              <a:lnSpc>
                <a:spcPct val="122000"/>
              </a:lnSpc>
            </a:pPr>
            <a:r>
              <a:rPr sz="1600" b="1" i="0">
                <a:solidFill>
                  <a:srgbClr val="21295C"/>
                </a:solidFill>
                <a:latin typeface="Arial"/>
              </a:rPr>
              <a:t>«Агент второй раз спрашивает, какой командой собрать этот лендинг и как проверить, что форма проходит тест. Что вы сделаете — и куда именно это запишете?»</a:t>
            </a:r>
          </a:p>
        </p:txBody>
      </p:sp>
      <p:sp>
        <p:nvSpPr>
          <p:cNvPr id="11" name="Rounded Rectangle 10"/>
          <p:cNvSpPr/>
          <p:nvPr/>
        </p:nvSpPr>
        <p:spPr>
          <a:xfrm>
            <a:off x="502920" y="4956048"/>
            <a:ext cx="11183112" cy="1426464"/>
          </a:xfrm>
          <a:prstGeom prst="roundRect">
            <a:avLst>
              <a:gd name="adj" fmla="val 21367"/>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and-028090-96.png"/>
          <p:cNvPicPr>
            <a:picLocks noChangeAspect="1"/>
          </p:cNvPicPr>
          <p:nvPr/>
        </p:nvPicPr>
        <p:blipFill>
          <a:blip r:embed="rId3"/>
          <a:stretch>
            <a:fillRect/>
          </a:stretch>
        </p:blipFill>
        <p:spPr>
          <a:xfrm>
            <a:off x="777240" y="5440680"/>
            <a:ext cx="457200" cy="457200"/>
          </a:xfrm>
          <a:prstGeom prst="rect">
            <a:avLst/>
          </a:prstGeom>
        </p:spPr>
      </p:pic>
      <p:sp>
        <p:nvSpPr>
          <p:cNvPr id="13" name="TextBox 12"/>
          <p:cNvSpPr txBox="1"/>
          <p:nvPr/>
        </p:nvSpPr>
        <p:spPr>
          <a:xfrm>
            <a:off x="1463040" y="4956048"/>
            <a:ext cx="9994392" cy="1426464"/>
          </a:xfrm>
          <a:prstGeom prst="rect">
            <a:avLst/>
          </a:prstGeom>
          <a:noFill/>
        </p:spPr>
        <p:txBody>
          <a:bodyPr wrap="square" lIns="0" rIns="0" tIns="0" bIns="0" anchor="ctr">
            <a:spAutoFit/>
          </a:bodyPr>
          <a:lstStyle/>
          <a:p>
            <a:pPr algn="l">
              <a:lnSpc>
                <a:spcPct val="115000"/>
              </a:lnSpc>
            </a:pPr>
            <a:r>
              <a:rPr sz="1350" b="1" i="0">
                <a:solidFill>
                  <a:srgbClr val="065A82"/>
                </a:solidFill>
                <a:latin typeface="Arial"/>
              </a:rPr>
              <a:t>Открытый вопрос классу — два-три голоса из зала, затем разбор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РЕШЕНИЕ</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300" b="1" i="0">
                <a:solidFill>
                  <a:srgbClr val="21295C"/>
                </a:solidFill>
                <a:latin typeface="Arial"/>
              </a:rPr>
              <a:t>CLAUDE.md содержит только то, что агент не выведет сам из кода</a:t>
            </a:r>
          </a:p>
        </p:txBody>
      </p:sp>
      <p:sp>
        <p:nvSpPr>
          <p:cNvPr id="4" name="Rounded Rectangle 3"/>
          <p:cNvSpPr/>
          <p:nvPr/>
        </p:nvSpPr>
        <p:spPr>
          <a:xfrm>
            <a:off x="502920" y="1737360"/>
            <a:ext cx="11183112" cy="4434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3852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CLAUDE.md</a:t>
            </a:r>
          </a:p>
        </p:txBody>
      </p:sp>
      <p:sp>
        <p:nvSpPr>
          <p:cNvPr id="6" name="TextBox 5"/>
          <p:cNvSpPr txBox="1"/>
          <p:nvPr/>
        </p:nvSpPr>
        <p:spPr>
          <a:xfrm>
            <a:off x="704088" y="2249424"/>
            <a:ext cx="10780776" cy="3721608"/>
          </a:xfrm>
          <a:prstGeom prst="rect">
            <a:avLst/>
          </a:prstGeom>
          <a:noFill/>
        </p:spPr>
        <p:txBody>
          <a:bodyPr wrap="square" lIns="0" rIns="0" tIns="0" bIns="0" anchor="t">
            <a:spAutoFit/>
          </a:bodyPr>
          <a:lstStyle/>
          <a:p>
            <a:pPr algn="l">
              <a:lnSpc>
                <a:spcPct val="115000"/>
              </a:lnSpc>
              <a:spcAft>
                <a:spcPts val="200"/>
              </a:spcAft>
            </a:pPr>
            <a:r>
              <a:rPr sz="1100" b="1" i="0">
                <a:solidFill>
                  <a:srgbClr val="028090"/>
                </a:solidFill>
                <a:latin typeface="Consolas"/>
              </a:rPr>
              <a:t># CLAUDE.md</a:t>
            </a:r>
          </a:p>
          <a:p>
            <a:pPr algn="l">
              <a:lnSpc>
                <a:spcPct val="115000"/>
              </a:lnSpc>
              <a:spcAft>
                <a:spcPts val="200"/>
              </a:spcAft>
            </a:pPr>
            <a:r>
              <a:rPr sz="1100" b="0" i="0">
                <a:solidFill>
                  <a:srgbClr val="E3E9F2"/>
                </a:solidFill>
                <a:latin typeface="Consolas"/>
              </a:rPr>
              <a:t/>
            </a:r>
          </a:p>
          <a:p>
            <a:pPr algn="l">
              <a:lnSpc>
                <a:spcPct val="115000"/>
              </a:lnSpc>
              <a:spcAft>
                <a:spcPts val="200"/>
              </a:spcAft>
            </a:pPr>
            <a:r>
              <a:rPr sz="1100" b="0" i="0">
                <a:solidFill>
                  <a:srgbClr val="E3E9F2"/>
                </a:solidFill>
                <a:latin typeface="Consolas"/>
              </a:rPr>
              <a:t>signup-landing: статический лендинг с формой заявки на демо-урок.</a:t>
            </a:r>
          </a:p>
          <a:p>
            <a:pPr algn="l">
              <a:lnSpc>
                <a:spcPct val="115000"/>
              </a:lnSpc>
              <a:spcAft>
                <a:spcPts val="200"/>
              </a:spcAft>
            </a:pPr>
            <a:r>
              <a:rPr sz="1100" b="0" i="0">
                <a:solidFill>
                  <a:srgbClr val="E3E9F2"/>
                </a:solidFill>
                <a:latin typeface="Consolas"/>
              </a:rPr>
              <a:t>Готово = npm run build код 0, npx playwright test зелёный,</a:t>
            </a:r>
          </a:p>
          <a:p>
            <a:pPr algn="l">
              <a:lnSpc>
                <a:spcPct val="115000"/>
              </a:lnSpc>
              <a:spcAft>
                <a:spcPts val="200"/>
              </a:spcAft>
            </a:pPr>
            <a:r>
              <a:rPr sz="1100" b="0" i="0">
                <a:solidFill>
                  <a:srgbClr val="E3E9F2"/>
                </a:solidFill>
                <a:latin typeface="Consolas"/>
              </a:rPr>
              <a:t>форма реально отправляет заявку на проде.</a:t>
            </a:r>
          </a:p>
          <a:p>
            <a:pPr algn="l">
              <a:lnSpc>
                <a:spcPct val="115000"/>
              </a:lnSpc>
              <a:spcAft>
                <a:spcPts val="200"/>
              </a:spcAft>
            </a:pPr>
            <a:r>
              <a:rPr sz="1100" b="0" i="0">
                <a:solidFill>
                  <a:srgbClr val="E3E9F2"/>
                </a:solidFill>
                <a:latin typeface="Consolas"/>
              </a:rPr>
              <a:t/>
            </a:r>
          </a:p>
          <a:p>
            <a:pPr algn="l">
              <a:lnSpc>
                <a:spcPct val="115000"/>
              </a:lnSpc>
              <a:spcAft>
                <a:spcPts val="200"/>
              </a:spcAft>
            </a:pPr>
            <a:r>
              <a:rPr sz="1100" b="1" i="0">
                <a:solidFill>
                  <a:srgbClr val="028090"/>
                </a:solidFill>
                <a:latin typeface="Consolas"/>
              </a:rPr>
              <a:t>## Safety / scope boundaries</a:t>
            </a:r>
          </a:p>
          <a:p>
            <a:pPr algn="l">
              <a:lnSpc>
                <a:spcPct val="115000"/>
              </a:lnSpc>
              <a:spcAft>
                <a:spcPts val="200"/>
              </a:spcAft>
            </a:pPr>
            <a:r>
              <a:rPr sz="1100" b="0" i="0">
                <a:solidFill>
                  <a:srgbClr val="E3E9F2"/>
                </a:solidFill>
                <a:latin typeface="Consolas"/>
              </a:rPr>
              <a:t>- Никогда не запускать деплой на прод без явного запроса.</a:t>
            </a:r>
          </a:p>
          <a:p>
            <a:pPr algn="l">
              <a:lnSpc>
                <a:spcPct val="115000"/>
              </a:lnSpc>
              <a:spcAft>
                <a:spcPts val="200"/>
              </a:spcAft>
            </a:pPr>
            <a:r>
              <a:rPr sz="1100" b="0" i="0">
                <a:solidFill>
                  <a:srgbClr val="E3E9F2"/>
                </a:solidFill>
                <a:latin typeface="Consolas"/>
              </a:rPr>
              <a:t/>
            </a:r>
          </a:p>
          <a:p>
            <a:pPr algn="l">
              <a:lnSpc>
                <a:spcPct val="115000"/>
              </a:lnSpc>
              <a:spcAft>
                <a:spcPts val="200"/>
              </a:spcAft>
            </a:pPr>
            <a:r>
              <a:rPr sz="1100" b="1" i="0">
                <a:solidFill>
                  <a:srgbClr val="F0AB00"/>
                </a:solidFill>
                <a:latin typeface="Consolas"/>
              </a:rPr>
              <a:t>## Build, test, verify</a:t>
            </a:r>
          </a:p>
          <a:p>
            <a:pPr algn="l">
              <a:lnSpc>
                <a:spcPct val="115000"/>
              </a:lnSpc>
              <a:spcAft>
                <a:spcPts val="200"/>
              </a:spcAft>
            </a:pPr>
            <a:r>
              <a:rPr sz="1100" b="0" i="0">
                <a:solidFill>
                  <a:srgbClr val="E3E9F2"/>
                </a:solidFill>
                <a:latin typeface="Consolas"/>
              </a:rPr>
              <a:t>- Build: npm run build</a:t>
            </a:r>
          </a:p>
          <a:p>
            <a:pPr algn="l">
              <a:lnSpc>
                <a:spcPct val="115000"/>
              </a:lnSpc>
              <a:spcAft>
                <a:spcPts val="200"/>
              </a:spcAft>
            </a:pPr>
            <a:r>
              <a:rPr sz="1100" b="0" i="0">
                <a:solidFill>
                  <a:srgbClr val="E3E9F2"/>
                </a:solidFill>
                <a:latin typeface="Consolas"/>
              </a:rPr>
              <a:t>- Test: npx playwright test</a:t>
            </a:r>
          </a:p>
          <a:p>
            <a:pPr algn="l">
              <a:lnSpc>
                <a:spcPct val="115000"/>
              </a:lnSpc>
              <a:spcAft>
                <a:spcPts val="200"/>
              </a:spcAft>
            </a:pPr>
            <a:r>
              <a:rPr sz="1100" b="0" i="0">
                <a:solidFill>
                  <a:srgbClr val="E3E9F2"/>
                </a:solidFill>
                <a:latin typeface="Consolas"/>
              </a:rPr>
              <a:t>- Run locally: npm run dev</a:t>
            </a:r>
          </a:p>
          <a:p>
            <a:pPr algn="l">
              <a:lnSpc>
                <a:spcPct val="115000"/>
              </a:lnSpc>
              <a:spcAft>
                <a:spcPts val="200"/>
              </a:spcAft>
            </a:pPr>
            <a:r>
              <a:rPr sz="1100" b="0" i="0">
                <a:solidFill>
                  <a:srgbClr val="E3E9F2"/>
                </a:solidFill>
                <a:latin typeface="Consolas"/>
              </a:rPr>
              <a:t>- To verify a change actually works (not just compiles):</a:t>
            </a:r>
          </a:p>
          <a:p>
            <a:pPr algn="l">
              <a:lnSpc>
                <a:spcPct val="115000"/>
              </a:lnSpc>
              <a:spcAft>
                <a:spcPts val="200"/>
              </a:spcAft>
            </a:pPr>
            <a:r>
              <a:rPr sz="1100" b="0" i="0">
                <a:solidFill>
                  <a:srgbClr val="E3E9F2"/>
                </a:solidFill>
                <a:latin typeface="Consolas"/>
              </a:rPr>
              <a:t>  открыть dist/index.html после сборки, вручную отправить</a:t>
            </a:r>
          </a:p>
          <a:p>
            <a:pPr algn="l">
              <a:lnSpc>
                <a:spcPct val="115000"/>
              </a:lnSpc>
              <a:spcAft>
                <a:spcPts val="200"/>
              </a:spcAft>
            </a:pPr>
            <a:r>
              <a:rPr sz="1100" b="0" i="0">
                <a:solidFill>
                  <a:srgbClr val="E3E9F2"/>
                </a:solidFill>
                <a:latin typeface="Consolas"/>
              </a:rPr>
              <a:t>  форму с заполненными и с пустыми полями.</a:t>
            </a:r>
          </a:p>
        </p:txBody>
      </p:sp>
      <p:sp>
        <p:nvSpPr>
          <p:cNvPr id="7" name="TextBox 6"/>
          <p:cNvSpPr txBox="1"/>
          <p:nvPr/>
        </p:nvSpPr>
        <p:spPr>
          <a:xfrm>
            <a:off x="502920" y="6419088"/>
            <a:ext cx="11183112" cy="347472"/>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Источник: captures/28-code-CLAUDE.md.txt — перенесено дословно</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КРОСС-ДВИЖКОВЫЙ СТАНДАРТ</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100" b="1" i="0">
                <a:solidFill>
                  <a:srgbClr val="21295C"/>
                </a:solidFill>
                <a:latin typeface="Arial"/>
              </a:rPr>
              <a:t>AGENTS.md — симлинк на CLAUDE.md, не копия: один источник правды</a:t>
            </a:r>
          </a:p>
        </p:txBody>
      </p:sp>
      <p:sp>
        <p:nvSpPr>
          <p:cNvPr id="4" name="Rounded Rectangle 3"/>
          <p:cNvSpPr/>
          <p:nvPr/>
        </p:nvSpPr>
        <p:spPr>
          <a:xfrm>
            <a:off x="502920" y="1783080"/>
            <a:ext cx="11183112" cy="914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84248"/>
            <a:ext cx="10780776" cy="512064"/>
          </a:xfrm>
          <a:prstGeom prst="rect">
            <a:avLst/>
          </a:prstGeom>
          <a:noFill/>
        </p:spPr>
        <p:txBody>
          <a:bodyPr wrap="square" lIns="0" rIns="0" tIns="0" bIns="0" anchor="t">
            <a:spAutoFit/>
          </a:bodyPr>
          <a:lstStyle/>
          <a:p>
            <a:pPr algn="l">
              <a:lnSpc>
                <a:spcPct val="132000"/>
              </a:lnSpc>
              <a:spcAft>
                <a:spcPts val="200"/>
              </a:spcAft>
            </a:pPr>
            <a:r>
              <a:rPr sz="1300" b="1" i="0">
                <a:solidFill>
                  <a:srgbClr val="028090"/>
                </a:solidFill>
                <a:latin typeface="Consolas"/>
              </a:rPr>
              <a:t>$ ln -s CLAUDE.md AGENTS.md</a:t>
            </a:r>
          </a:p>
        </p:txBody>
      </p:sp>
      <p:sp>
        <p:nvSpPr>
          <p:cNvPr id="6" name="Rounded Rectangle 5"/>
          <p:cNvSpPr/>
          <p:nvPr/>
        </p:nvSpPr>
        <p:spPr>
          <a:xfrm>
            <a:off x="502920" y="2880360"/>
            <a:ext cx="11183112" cy="30632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08152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репозитория на этой ступени</a:t>
            </a:r>
          </a:p>
        </p:txBody>
      </p:sp>
      <p:sp>
        <p:nvSpPr>
          <p:cNvPr id="8" name="TextBox 7"/>
          <p:cNvSpPr txBox="1"/>
          <p:nvPr/>
        </p:nvSpPr>
        <p:spPr>
          <a:xfrm>
            <a:off x="704088" y="3392424"/>
            <a:ext cx="10780776" cy="2350008"/>
          </a:xfrm>
          <a:prstGeom prst="rect">
            <a:avLst/>
          </a:prstGeom>
          <a:noFill/>
        </p:spPr>
        <p:txBody>
          <a:bodyPr wrap="square" lIns="0" rIns="0" tIns="0" bIns="0" anchor="t">
            <a:spAutoFit/>
          </a:bodyPr>
          <a:lstStyle/>
          <a:p>
            <a:pPr algn="l">
              <a:lnSpc>
                <a:spcPct val="132000"/>
              </a:lnSpc>
              <a:spcAft>
                <a:spcPts val="200"/>
              </a:spcAft>
            </a:pPr>
            <a:r>
              <a:rPr sz="1300" b="1" i="0">
                <a:solidFill>
                  <a:srgbClr val="028090"/>
                </a:solidFill>
                <a:latin typeface="Consolas"/>
              </a:rPr>
              <a:t>$ git ls-tree -r --name-only 04df4a3 | sort   # commit 04df4a3</a:t>
            </a:r>
          </a:p>
          <a:p>
            <a:pPr algn="l">
              <a:lnSpc>
                <a:spcPct val="132000"/>
              </a:lnSpc>
              <a:spcAft>
                <a:spcPts val="200"/>
              </a:spcAft>
            </a:pPr>
            <a:r>
              <a:rPr sz="1300" b="0" i="0">
                <a:solidFill>
                  <a:srgbClr val="E3E9F2"/>
                </a:solidFill>
                <a:latin typeface="Consolas"/>
              </a:rPr>
              <a:t/>
            </a:r>
          </a:p>
          <a:p>
            <a:pPr algn="l">
              <a:lnSpc>
                <a:spcPct val="132000"/>
              </a:lnSpc>
              <a:spcAft>
                <a:spcPts val="200"/>
              </a:spcAft>
            </a:pPr>
            <a:r>
              <a:rPr sz="1300" b="0" i="0">
                <a:solidFill>
                  <a:srgbClr val="F0AB00"/>
                </a:solidFill>
                <a:latin typeface="Consolas"/>
              </a:rPr>
              <a:t>AGENTS.md</a:t>
            </a:r>
          </a:p>
          <a:p>
            <a:pPr algn="l">
              <a:lnSpc>
                <a:spcPct val="132000"/>
              </a:lnSpc>
              <a:spcAft>
                <a:spcPts val="200"/>
              </a:spcAft>
            </a:pPr>
            <a:r>
              <a:rPr sz="1300" b="0" i="0">
                <a:solidFill>
                  <a:srgbClr val="F0AB00"/>
                </a:solidFill>
                <a:latin typeface="Consolas"/>
              </a:rPr>
              <a:t>CLAUDE.md</a:t>
            </a:r>
          </a:p>
          <a:p>
            <a:pPr algn="l">
              <a:lnSpc>
                <a:spcPct val="132000"/>
              </a:lnSpc>
              <a:spcAft>
                <a:spcPts val="200"/>
              </a:spcAft>
            </a:pPr>
            <a:r>
              <a:rPr sz="1300" b="0" i="0">
                <a:solidFill>
                  <a:srgbClr val="8B9BB4"/>
                </a:solidFill>
                <a:latin typeface="Consolas"/>
              </a:rPr>
              <a:t>index.html</a:t>
            </a:r>
          </a:p>
          <a:p>
            <a:pPr algn="l">
              <a:lnSpc>
                <a:spcPct val="132000"/>
              </a:lnSpc>
              <a:spcAft>
                <a:spcPts val="200"/>
              </a:spcAft>
            </a:pPr>
            <a:r>
              <a:rPr sz="1300" b="0" i="0">
                <a:solidFill>
                  <a:srgbClr val="8B9BB4"/>
                </a:solidFill>
                <a:latin typeface="Consolas"/>
              </a:rPr>
              <a:t>package.json</a:t>
            </a:r>
          </a:p>
          <a:p>
            <a:pPr algn="l">
              <a:lnSpc>
                <a:spcPct val="132000"/>
              </a:lnSpc>
              <a:spcAft>
                <a:spcPts val="200"/>
              </a:spcAft>
            </a:pPr>
            <a:r>
              <a:rPr sz="1300" b="0" i="0">
                <a:solidFill>
                  <a:srgbClr val="8B9BB4"/>
                </a:solidFill>
                <a:latin typeface="Consolas"/>
              </a:rPr>
              <a:t>src/main.js</a:t>
            </a:r>
          </a:p>
          <a:p>
            <a:pPr algn="l">
              <a:lnSpc>
                <a:spcPct val="132000"/>
              </a:lnSpc>
              <a:spcAft>
                <a:spcPts val="200"/>
              </a:spcAft>
            </a:pPr>
            <a:r>
              <a:rPr sz="1300" b="0" i="0">
                <a:solidFill>
                  <a:srgbClr val="8B9BB4"/>
                </a:solidFill>
                <a:latin typeface="Consolas"/>
              </a:rPr>
              <a:t>tests/form.spec.ts</a:t>
            </a:r>
          </a:p>
        </p:txBody>
      </p:sp>
      <p:sp>
        <p:nvSpPr>
          <p:cNvPr id="9" name="TextBox 8"/>
          <p:cNvSpPr txBox="1"/>
          <p:nvPr/>
        </p:nvSpPr>
        <p:spPr>
          <a:xfrm>
            <a:off x="502920" y="6419088"/>
            <a:ext cx="11183112" cy="347472"/>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Источник: captures/21-tree-stage1.txt — перенесено дословно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ПРОВАЛ</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200" b="1" i="0">
                <a:solidFill>
                  <a:srgbClr val="21295C"/>
                </a:solidFill>
                <a:latin typeface="Arial"/>
              </a:rPr>
              <a:t>Правило, записанное корректно, всё равно может быть проигнорировано</a:t>
            </a:r>
          </a:p>
        </p:txBody>
      </p:sp>
      <p:sp>
        <p:nvSpPr>
          <p:cNvPr id="4" name="Rounded Rectangle 3"/>
          <p:cNvSpPr/>
          <p:nvPr/>
        </p:nvSpPr>
        <p:spPr>
          <a:xfrm>
            <a:off x="502920" y="1783080"/>
            <a:ext cx="11183112" cy="2331720"/>
          </a:xfrm>
          <a:prstGeom prst="roundRect">
            <a:avLst>
              <a:gd name="adj" fmla="val 1307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22376" y="2002536"/>
            <a:ext cx="384048" cy="384048"/>
          </a:xfrm>
          <a:prstGeom prst="rect">
            <a:avLst/>
          </a:prstGeom>
        </p:spPr>
      </p:pic>
      <p:sp>
        <p:nvSpPr>
          <p:cNvPr id="6" name="TextBox 5"/>
          <p:cNvSpPr txBox="1"/>
          <p:nvPr/>
        </p:nvSpPr>
        <p:spPr>
          <a:xfrm>
            <a:off x="1252728" y="1984248"/>
            <a:ext cx="1021384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anthropics/claude-code#42863, закрыт как «not planned», апрель 2026</a:t>
            </a:r>
          </a:p>
        </p:txBody>
      </p:sp>
      <p:sp>
        <p:nvSpPr>
          <p:cNvPr id="7" name="TextBox 6"/>
          <p:cNvSpPr txBox="1"/>
          <p:nvPr/>
        </p:nvSpPr>
        <p:spPr>
          <a:xfrm>
            <a:off x="722376" y="2441448"/>
            <a:ext cx="10744200" cy="145389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Агент дословно проигнорировал правило CLAUDE.md, требующее подтверждения перед доступом к файлам вне рабочей директории — выполнил msiexec /i с записью в C:\Program Files, регистрацией служб и правкой реестра, без запроса.</a:t>
            </a:r>
          </a:p>
        </p:txBody>
      </p:sp>
      <p:sp>
        <p:nvSpPr>
          <p:cNvPr id="8" name="Rounded Rectangle 7"/>
          <p:cNvSpPr/>
          <p:nvPr/>
        </p:nvSpPr>
        <p:spPr>
          <a:xfrm>
            <a:off x="502920" y="4370832"/>
            <a:ext cx="11183112" cy="2331720"/>
          </a:xfrm>
          <a:prstGeom prst="roundRect">
            <a:avLst>
              <a:gd name="adj" fmla="val 13071"/>
            </a:avLst>
          </a:prstGeom>
          <a:solidFill>
            <a:srgbClr val="FEF5E0"/>
          </a:solidFill>
          <a:ln w="20320">
            <a:solidFill>
              <a:srgbClr val="F0AB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uote-8A6200-96.png"/>
          <p:cNvPicPr>
            <a:picLocks noChangeAspect="1"/>
          </p:cNvPicPr>
          <p:nvPr/>
        </p:nvPicPr>
        <p:blipFill>
          <a:blip r:embed="rId3"/>
          <a:stretch>
            <a:fillRect/>
          </a:stretch>
        </p:blipFill>
        <p:spPr>
          <a:xfrm>
            <a:off x="722376" y="4590288"/>
            <a:ext cx="384048" cy="384048"/>
          </a:xfrm>
          <a:prstGeom prst="rect">
            <a:avLst/>
          </a:prstGeom>
        </p:spPr>
      </p:pic>
      <p:sp>
        <p:nvSpPr>
          <p:cNvPr id="10" name="TextBox 9"/>
          <p:cNvSpPr txBox="1"/>
          <p:nvPr/>
        </p:nvSpPr>
        <p:spPr>
          <a:xfrm>
            <a:off x="1252728" y="4572000"/>
            <a:ext cx="10213848" cy="365760"/>
          </a:xfrm>
          <a:prstGeom prst="rect">
            <a:avLst/>
          </a:prstGeom>
          <a:noFill/>
        </p:spPr>
        <p:txBody>
          <a:bodyPr wrap="square" lIns="0" rIns="0" tIns="0" bIns="0" anchor="t">
            <a:spAutoFit/>
          </a:bodyPr>
          <a:lstStyle/>
          <a:p>
            <a:pPr algn="l">
              <a:lnSpc>
                <a:spcPct val="115000"/>
              </a:lnSpc>
            </a:pPr>
            <a:r>
              <a:rPr sz="1400" b="1" i="0">
                <a:solidFill>
                  <a:srgbClr val="8A6200"/>
                </a:solidFill>
                <a:latin typeface="Arial"/>
              </a:rPr>
              <a:t>dev.to, 2026</a:t>
            </a:r>
          </a:p>
        </p:txBody>
      </p:sp>
      <p:sp>
        <p:nvSpPr>
          <p:cNvPr id="11" name="TextBox 10"/>
          <p:cNvSpPr txBox="1"/>
          <p:nvPr/>
        </p:nvSpPr>
        <p:spPr>
          <a:xfrm>
            <a:off x="722376" y="5029200"/>
            <a:ext cx="10744200" cy="145389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200 строк CLAUDE.md + 258 файлов базы знаний остались практически непрочитанными — «write-only» документация. Детальные протоколы и «запрещённые фразы» не помогли. Вывод автора дословно: «Rules in prompts are requests. Hooks in code are laws».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СЛОЙ ЦИФР</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000" b="1" i="0">
                <a:solidFill>
                  <a:srgbClr val="21295C"/>
                </a:solidFill>
                <a:latin typeface="Arial"/>
              </a:rPr>
              <a:t>Наличие CLAUDE.md само по себе не повышает успех задачи, а поднимает стоимость на 20–23%</a:t>
            </a:r>
          </a:p>
        </p:txBody>
      </p:sp>
      <p:sp>
        <p:nvSpPr>
          <p:cNvPr id="4" name="Rounded Rectangle 3"/>
          <p:cNvSpPr/>
          <p:nvPr/>
        </p:nvSpPr>
        <p:spPr>
          <a:xfrm>
            <a:off x="502920" y="1783080"/>
            <a:ext cx="11183112" cy="3200400"/>
          </a:xfrm>
          <a:prstGeom prst="roundRect">
            <a:avLst>
              <a:gd name="adj" fmla="val 95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84248"/>
            <a:ext cx="5532851" cy="365760"/>
          </a:xfrm>
          <a:prstGeom prst="rect">
            <a:avLst/>
          </a:prstGeom>
          <a:noFill/>
        </p:spPr>
        <p:txBody>
          <a:bodyPr wrap="square" lIns="0" rIns="0" tIns="0" bIns="0" anchor="t">
            <a:spAutoFit/>
          </a:bodyPr>
          <a:lstStyle/>
          <a:p>
            <a:pPr algn="l">
              <a:lnSpc>
                <a:spcPct val="115000"/>
              </a:lnSpc>
            </a:pPr>
            <a:r>
              <a:rPr sz="1300" b="1" i="0">
                <a:solidFill>
                  <a:srgbClr val="6B7685"/>
                </a:solidFill>
                <a:latin typeface="Arial"/>
              </a:rPr>
              <a:t>Замер</a:t>
            </a:r>
          </a:p>
        </p:txBody>
      </p:sp>
      <p:sp>
        <p:nvSpPr>
          <p:cNvPr id="6" name="TextBox 5"/>
          <p:cNvSpPr txBox="1"/>
          <p:nvPr/>
        </p:nvSpPr>
        <p:spPr>
          <a:xfrm>
            <a:off x="6310091" y="1984248"/>
            <a:ext cx="5101620" cy="365760"/>
          </a:xfrm>
          <a:prstGeom prst="rect">
            <a:avLst/>
          </a:prstGeom>
          <a:noFill/>
        </p:spPr>
        <p:txBody>
          <a:bodyPr wrap="square" lIns="0" rIns="0" tIns="0" bIns="0" anchor="t">
            <a:spAutoFit/>
          </a:bodyPr>
          <a:lstStyle/>
          <a:p>
            <a:pPr algn="l">
              <a:lnSpc>
                <a:spcPct val="115000"/>
              </a:lnSpc>
            </a:pPr>
            <a:r>
              <a:rPr sz="1300" b="1" i="0">
                <a:solidFill>
                  <a:srgbClr val="6B7685"/>
                </a:solidFill>
                <a:latin typeface="Arial"/>
              </a:rPr>
              <a:t>Значение</a:t>
            </a:r>
          </a:p>
        </p:txBody>
      </p:sp>
      <p:sp>
        <p:nvSpPr>
          <p:cNvPr id="7" name="TextBox 6"/>
          <p:cNvSpPr txBox="1"/>
          <p:nvPr/>
        </p:nvSpPr>
        <p:spPr>
          <a:xfrm>
            <a:off x="704088" y="2423160"/>
            <a:ext cx="5514563" cy="1179575"/>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Контролируемый эксперимент, LLM-сгенерированный CLAUDE.md вида «repository overview» (Gloaguen et al., arXiv:2602.11988)</a:t>
            </a:r>
          </a:p>
        </p:txBody>
      </p:sp>
      <p:sp>
        <p:nvSpPr>
          <p:cNvPr id="8" name="TextBox 7"/>
          <p:cNvSpPr txBox="1"/>
          <p:nvPr/>
        </p:nvSpPr>
        <p:spPr>
          <a:xfrm>
            <a:off x="6310091" y="2423160"/>
            <a:ext cx="5083332" cy="1179575"/>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Измеримого выигрыша в успехе задачи нет; стоимость и число шагов выросли на 20–23%</a:t>
            </a:r>
          </a:p>
        </p:txBody>
      </p:sp>
      <p:cxnSp>
        <p:nvCxnSpPr>
          <p:cNvPr id="9" name="Connector 8"/>
          <p:cNvCxnSpPr/>
          <p:nvPr/>
        </p:nvCxnSpPr>
        <p:spPr>
          <a:xfrm>
            <a:off x="704088" y="3602735"/>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57784" y="3602735"/>
            <a:ext cx="11073384" cy="1179575"/>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3602735"/>
            <a:ext cx="5514563" cy="1179575"/>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Соблюдение инструкций при росте их числа (IFScale, arXiv:2507.11538)</a:t>
            </a:r>
          </a:p>
        </p:txBody>
      </p:sp>
      <p:sp>
        <p:nvSpPr>
          <p:cNvPr id="12" name="TextBox 11"/>
          <p:cNvSpPr txBox="1"/>
          <p:nvPr/>
        </p:nvSpPr>
        <p:spPr>
          <a:xfrm>
            <a:off x="6310091" y="3602735"/>
            <a:ext cx="5083332" cy="1179575"/>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Лучшие модели держат только 68% точности при 500 одновременных инструкциях; комплаенс падает почти линейно с их числом</a:t>
            </a:r>
          </a:p>
        </p:txBody>
      </p:sp>
      <p:sp>
        <p:nvSpPr>
          <p:cNvPr id="13" name="Rounded Rectangle 12"/>
          <p:cNvSpPr/>
          <p:nvPr/>
        </p:nvSpPr>
        <p:spPr>
          <a:xfrm>
            <a:off x="502920" y="5212080"/>
            <a:ext cx="11183112" cy="9144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5285232"/>
            <a:ext cx="10780776"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«Bloated CLAUDE.md files cause Claude to ignore your actual instructions!» — официальная рекомендация Anthropic, таргет ≈200 строк</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1 · КРИТЕРИЙ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500" b="1" i="0">
                <a:solidFill>
                  <a:srgbClr val="21295C"/>
                </a:solidFill>
                <a:latin typeface="Arial"/>
              </a:rPr>
              <a:t>Здесь файл ещё не нужен</a:t>
            </a:r>
          </a:p>
        </p:txBody>
      </p:sp>
      <p:sp>
        <p:nvSpPr>
          <p:cNvPr id="4" name="Rounded Rectangle 3"/>
          <p:cNvSpPr/>
          <p:nvPr/>
        </p:nvSpPr>
        <p:spPr>
          <a:xfrm>
            <a:off x="502920" y="1783080"/>
            <a:ext cx="11183112" cy="1234440"/>
          </a:xfrm>
          <a:prstGeom prst="roundRect">
            <a:avLst>
              <a:gd name="adj" fmla="val 8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47672"/>
            <a:ext cx="10607040" cy="905256"/>
          </a:xfrm>
          <a:prstGeom prst="rect">
            <a:avLst/>
          </a:prstGeom>
          <a:noFill/>
        </p:spPr>
        <p:txBody>
          <a:bodyPr wrap="square" lIns="0" rIns="0" tIns="0" bIns="0" anchor="t">
            <a:spAutoFit/>
          </a:bodyPr>
          <a:lstStyle/>
          <a:p>
            <a:pPr algn="l">
              <a:lnSpc>
                <a:spcPct val="128000"/>
              </a:lnSpc>
              <a:spcAft>
                <a:spcPts val="600"/>
              </a:spcAft>
            </a:pPr>
            <a:r>
              <a:rPr sz="1350" b="1" i="0">
                <a:solidFill>
                  <a:srgbClr val="21295C"/>
                </a:solidFill>
                <a:latin typeface="Arial"/>
              </a:rPr>
              <a:t>Крошечный репозиторий или одноразовый скрипт, где структура помещается в один экран и не требует нестандартных команд сборки — файл добавляет только налог на контекст без компенсирующей выгоды</a:t>
            </a:r>
          </a:p>
        </p:txBody>
      </p:sp>
      <p:sp>
        <p:nvSpPr>
          <p:cNvPr id="6" name="Rounded Rectangle 5"/>
          <p:cNvSpPr/>
          <p:nvPr/>
        </p:nvSpPr>
        <p:spPr>
          <a:xfrm>
            <a:off x="502920" y="3273552"/>
            <a:ext cx="11183112" cy="2432304"/>
          </a:xfrm>
          <a:prstGeom prst="roundRect">
            <a:avLst>
              <a:gd name="adj" fmla="val 12531"/>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474720"/>
            <a:ext cx="1828800"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БАЗА</a:t>
            </a:r>
          </a:p>
        </p:txBody>
      </p:sp>
      <p:sp>
        <p:nvSpPr>
          <p:cNvPr id="8" name="TextBox 7"/>
          <p:cNvSpPr txBox="1"/>
          <p:nvPr/>
        </p:nvSpPr>
        <p:spPr>
          <a:xfrm>
            <a:off x="704088" y="3785616"/>
            <a:ext cx="10780776" cy="713232"/>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Агент читает файл в начале каждой сессии — как памятка на столе нового сотрудника, которую читают, хочет он того или нет.</a:t>
            </a:r>
          </a:p>
        </p:txBody>
      </p:sp>
      <p:sp>
        <p:nvSpPr>
          <p:cNvPr id="9" name="Rectangle 8"/>
          <p:cNvSpPr/>
          <p:nvPr/>
        </p:nvSpPr>
        <p:spPr>
          <a:xfrm>
            <a:off x="704088" y="4608576"/>
            <a:ext cx="10780776" cy="1828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4736592"/>
            <a:ext cx="10780776" cy="896111"/>
          </a:xfrm>
          <a:prstGeom prst="rect">
            <a:avLst/>
          </a:prstGeom>
          <a:noFill/>
        </p:spPr>
        <p:txBody>
          <a:bodyPr wrap="square" lIns="0" rIns="0" tIns="0" bIns="0" anchor="t">
            <a:spAutoFit/>
          </a:bodyPr>
          <a:lstStyle/>
          <a:p>
            <a:pPr algn="l">
              <a:lnSpc>
                <a:spcPct val="125000"/>
              </a:lnSpc>
            </a:pPr>
            <a:r>
              <a:rPr sz="1150" b="0" i="1">
                <a:solidFill>
                  <a:srgbClr val="6B7685"/>
                </a:solidFill>
                <a:latin typeface="Arial"/>
              </a:rPr>
              <a:t>Мост к следующей ступени: Решение — например, почему в форме нет сторонней библиотеки валидации — в CLAUDE.md не попадёт: это не про команды, это про то, что уже один раз отклонили. Для решений и их обоснований у лестницы есть отдельный, следующий блок.</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2</a:t>
            </a:r>
          </a:p>
        </p:txBody>
      </p:sp>
      <p:sp>
        <p:nvSpPr>
          <p:cNvPr id="4" name="TextBox 3"/>
          <p:cNvSpPr txBox="1"/>
          <p:nvPr/>
        </p:nvSpPr>
        <p:spPr>
          <a:xfrm>
            <a:off x="3017520" y="2331720"/>
            <a:ext cx="7498079" cy="1188720"/>
          </a:xfrm>
          <a:prstGeom prst="rect">
            <a:avLst/>
          </a:prstGeom>
          <a:noFill/>
        </p:spPr>
        <p:txBody>
          <a:bodyPr wrap="square" lIns="0" rIns="0" tIns="0" bIns="0" anchor="ctr">
            <a:spAutoFit/>
          </a:bodyPr>
          <a:lstStyle/>
          <a:p>
            <a:pPr algn="l">
              <a:lnSpc>
                <a:spcPct val="105000"/>
              </a:lnSpc>
            </a:pPr>
            <a:r>
              <a:rPr sz="4400" b="1" i="0">
                <a:solidFill>
                  <a:srgbClr val="FFFFFF"/>
                </a:solidFill>
                <a:latin typeface="Arial"/>
              </a:rPr>
              <a:t>Память</a:t>
            </a:r>
          </a:p>
        </p:txBody>
      </p:sp>
      <p:sp>
        <p:nvSpPr>
          <p:cNvPr id="5" name="Rounded Rectangle 4"/>
          <p:cNvSpPr/>
          <p:nvPr/>
        </p:nvSpPr>
        <p:spPr>
          <a:xfrm>
            <a:off x="3063240" y="3611880"/>
            <a:ext cx="7315200" cy="457200"/>
          </a:xfrm>
          <a:prstGeom prst="roundRect">
            <a:avLst>
              <a:gd name="adj" fmla="val 50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none"/>
          <a:lstStyle/>
          <a:p>
            <a:pPr algn="ctr"/>
            <a:r>
              <a:rPr sz="1300" b="1">
                <a:solidFill>
                  <a:srgbClr val="F0AB00"/>
                </a:solidFill>
                <a:latin typeface="Arial"/>
              </a:rPr>
              <a:t>ОДНО И ТО ЖЕ РЕШЕНИЕ ДВАЖДЫ → ФАКТ НИГДЕ НЕ ЗАПИСАН</a:t>
            </a:r>
          </a:p>
        </p:txBody>
      </p:sp>
      <p:sp>
        <p:nvSpPr>
          <p:cNvPr id="6" name="Rounded Rectangle 5"/>
          <p:cNvSpPr/>
          <p:nvPr/>
        </p:nvSpPr>
        <p:spPr>
          <a:xfrm>
            <a:off x="9326880" y="3977640"/>
            <a:ext cx="2194560" cy="219456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yers-F0AB00-128.png"/>
          <p:cNvPicPr>
            <a:picLocks noChangeAspect="1"/>
          </p:cNvPicPr>
          <p:nvPr/>
        </p:nvPicPr>
        <p:blipFill>
          <a:blip r:embed="rId2"/>
          <a:stretch>
            <a:fillRect/>
          </a:stretch>
        </p:blipFill>
        <p:spPr>
          <a:xfrm>
            <a:off x="9646920" y="4297680"/>
            <a:ext cx="1554480" cy="15544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СЦЕНАРИЙ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Решение, уже отклонённое в прошлой сессии, снова всплывает как будто впервые</a:t>
            </a:r>
          </a:p>
        </p:txBody>
      </p:sp>
      <p:sp>
        <p:nvSpPr>
          <p:cNvPr id="4" name="Rounded Rectangle 3"/>
          <p:cNvSpPr/>
          <p:nvPr/>
        </p:nvSpPr>
        <p:spPr>
          <a:xfrm>
            <a:off x="502920" y="1737360"/>
            <a:ext cx="11183112" cy="1600200"/>
          </a:xfrm>
          <a:prstGeom prst="roundRect">
            <a:avLst>
              <a:gd name="adj" fmla="val 19047"/>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eat-21295C-96.png"/>
          <p:cNvPicPr>
            <a:picLocks noChangeAspect="1"/>
          </p:cNvPicPr>
          <p:nvPr/>
        </p:nvPicPr>
        <p:blipFill>
          <a:blip r:embed="rId2"/>
          <a:stretch>
            <a:fillRect/>
          </a:stretch>
        </p:blipFill>
        <p:spPr>
          <a:xfrm>
            <a:off x="722376" y="1956815"/>
            <a:ext cx="384048" cy="384048"/>
          </a:xfrm>
          <a:prstGeom prst="rect">
            <a:avLst/>
          </a:prstGeom>
        </p:spPr>
      </p:pic>
      <p:sp>
        <p:nvSpPr>
          <p:cNvPr id="6" name="TextBox 5"/>
          <p:cNvSpPr txBox="1"/>
          <p:nvPr/>
        </p:nvSpPr>
        <p:spPr>
          <a:xfrm>
            <a:off x="1252728" y="1938527"/>
            <a:ext cx="1021384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Вторую неделю подряд</a:t>
            </a:r>
          </a:p>
        </p:txBody>
      </p:sp>
      <p:sp>
        <p:nvSpPr>
          <p:cNvPr id="7" name="TextBox 6"/>
          <p:cNvSpPr txBox="1"/>
          <p:nvPr/>
        </p:nvSpPr>
        <p:spPr>
          <a:xfrm>
            <a:off x="722376" y="2395727"/>
            <a:ext cx="10744200" cy="722376"/>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Вы объясняете агенту одно и то же: почему форма проверяет поля нативным HTML5 (required, pattern), а не сторонней библиотекой валидации. Эта библиотека уже была явно отклонена в прошлой сессии. Теперь агент снова предлагает её подключить, как будто вопрос не поднимался вообще.</a:t>
            </a:r>
          </a:p>
        </p:txBody>
      </p:sp>
      <p:sp>
        <p:nvSpPr>
          <p:cNvPr id="8" name="Rounded Rectangle 7"/>
          <p:cNvSpPr/>
          <p:nvPr/>
        </p:nvSpPr>
        <p:spPr>
          <a:xfrm>
            <a:off x="502920" y="3538728"/>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3611880"/>
            <a:ext cx="10780776" cy="81381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 второй раз за неделю объясняете агенту, почему в форме заявки нет сторонней библиотеки валидации — то самое решение, которое уже отклонили в прошлой сессии. Куда это должно попасть, чтобы не объяснять в третий раз — и почему не в CLAUDE.md?»</a:t>
            </a:r>
          </a:p>
        </p:txBody>
      </p:sp>
      <p:sp>
        <p:nvSpPr>
          <p:cNvPr id="10" name="Rounded Rectangle 9"/>
          <p:cNvSpPr/>
          <p:nvPr/>
        </p:nvSpPr>
        <p:spPr>
          <a:xfrm>
            <a:off x="50292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Впишу
в CLAUDE.md</a:t>
            </a:r>
          </a:p>
        </p:txBody>
      </p:sp>
      <p:sp>
        <p:nvSpPr>
          <p:cNvPr id="12" name="Rounded Rectangle 11"/>
          <p:cNvSpPr/>
          <p:nvPr/>
        </p:nvSpPr>
        <p:spPr>
          <a:xfrm>
            <a:off x="334899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529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Ничего специально,
сам запомнит</a:t>
            </a:r>
          </a:p>
        </p:txBody>
      </p:sp>
      <p:sp>
        <p:nvSpPr>
          <p:cNvPr id="14" name="Rounded Rectangle 13"/>
          <p:cNvSpPr/>
          <p:nvPr/>
        </p:nvSpPr>
        <p:spPr>
          <a:xfrm>
            <a:off x="619506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136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Заведу Mem0
или Zep</a:t>
            </a:r>
          </a:p>
        </p:txBody>
      </p:sp>
      <p:sp>
        <p:nvSpPr>
          <p:cNvPr id="16" name="Rounded Rectangle 15"/>
          <p:cNvSpPr/>
          <p:nvPr/>
        </p:nvSpPr>
        <p:spPr>
          <a:xfrm>
            <a:off x="904113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743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«Запомни» +
DECISIONS.md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РЕШЕНИЕ, МЕХАНИЗМ 1</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Авто-память рантайма живёт вне репозитория и грузится в каждую новую сессию сама</a:t>
            </a:r>
          </a:p>
        </p:txBody>
      </p:sp>
      <p:sp>
        <p:nvSpPr>
          <p:cNvPr id="4" name="Rounded Rectangle 3"/>
          <p:cNvSpPr/>
          <p:nvPr/>
        </p:nvSpPr>
        <p:spPr>
          <a:xfrm>
            <a:off x="502920" y="1737360"/>
            <a:ext cx="5440680" cy="4343400"/>
          </a:xfrm>
          <a:prstGeom prst="roundRect">
            <a:avLst>
              <a:gd name="adj" fmla="val 70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01952"/>
            <a:ext cx="502920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«ЗАПОМНИ» → ФАЙЛ</a:t>
            </a:r>
          </a:p>
        </p:txBody>
      </p:sp>
      <p:sp>
        <p:nvSpPr>
          <p:cNvPr id="6" name="Rounded Rectangle 5"/>
          <p:cNvSpPr/>
          <p:nvPr/>
        </p:nvSpPr>
        <p:spPr>
          <a:xfrm>
            <a:off x="704088" y="2240280"/>
            <a:ext cx="5029200" cy="1828800"/>
          </a:xfrm>
          <a:prstGeom prst="roundRect">
            <a:avLst>
              <a:gd name="adj" fmla="val 16666"/>
            </a:avLst>
          </a:prstGeom>
          <a:solidFill>
            <a:srgbClr val="F4F7FA"/>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8A6200-64.png"/>
          <p:cNvPicPr>
            <a:picLocks noChangeAspect="1"/>
          </p:cNvPicPr>
          <p:nvPr/>
        </p:nvPicPr>
        <p:blipFill>
          <a:blip r:embed="rId2"/>
          <a:stretch>
            <a:fillRect/>
          </a:stretch>
        </p:blipFill>
        <p:spPr>
          <a:xfrm>
            <a:off x="3035808" y="2441448"/>
            <a:ext cx="365760" cy="365760"/>
          </a:xfrm>
          <a:prstGeom prst="rect">
            <a:avLst/>
          </a:prstGeom>
        </p:spPr>
      </p:pic>
      <p:sp>
        <p:nvSpPr>
          <p:cNvPr id="8" name="TextBox 7"/>
          <p:cNvSpPr txBox="1"/>
          <p:nvPr/>
        </p:nvSpPr>
        <p:spPr>
          <a:xfrm>
            <a:off x="978408" y="2926080"/>
            <a:ext cx="4480560" cy="960120"/>
          </a:xfrm>
          <a:prstGeom prst="rect">
            <a:avLst/>
          </a:prstGeom>
          <a:noFill/>
        </p:spPr>
        <p:txBody>
          <a:bodyPr wrap="square" lIns="0" rIns="0" tIns="0" bIns="0" anchor="t">
            <a:spAutoFit/>
          </a:bodyPr>
          <a:lstStyle/>
          <a:p>
            <a:pPr algn="ctr">
              <a:lnSpc>
                <a:spcPct val="125000"/>
              </a:lnSpc>
            </a:pPr>
            <a:r>
              <a:rPr sz="1200" b="0" i="1">
                <a:solidFill>
                  <a:srgbClr val="8A6200"/>
                </a:solidFill>
                <a:latin typeface="Arial"/>
              </a:rPr>
              <a:t>«запомни: не подключаем стороннюю библиотеку валидации форм — форма из двух полей, хватает нативного HTML5»
Ждёт реальной сессии Claude Code</a:t>
            </a:r>
          </a:p>
        </p:txBody>
      </p:sp>
      <p:sp>
        <p:nvSpPr>
          <p:cNvPr id="9" name="TextBox 8"/>
          <p:cNvSpPr txBox="1"/>
          <p:nvPr/>
        </p:nvSpPr>
        <p:spPr>
          <a:xfrm>
            <a:off x="704088" y="4251960"/>
            <a:ext cx="5029200" cy="164592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Создаётся feedback_native-form-validation.md в ~/.claude/projects/signup-landing/memory/</a:t>
            </a:r>
          </a:p>
        </p:txBody>
      </p:sp>
      <p:sp>
        <p:nvSpPr>
          <p:cNvPr id="10" name="Rounded Rectangle 9"/>
          <p:cNvSpPr/>
          <p:nvPr/>
        </p:nvSpPr>
        <p:spPr>
          <a:xfrm>
            <a:off x="6199632" y="1737360"/>
            <a:ext cx="5486400" cy="4343400"/>
          </a:xfrm>
          <a:prstGeom prst="roundRect">
            <a:avLst>
              <a:gd name="adj" fmla="val 70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901952"/>
            <a:ext cx="502920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НОВАЯ СЕССИЯ → /context</a:t>
            </a:r>
          </a:p>
        </p:txBody>
      </p:sp>
      <p:sp>
        <p:nvSpPr>
          <p:cNvPr id="12" name="Rounded Rectangle 11"/>
          <p:cNvSpPr/>
          <p:nvPr/>
        </p:nvSpPr>
        <p:spPr>
          <a:xfrm>
            <a:off x="6400800" y="2240280"/>
            <a:ext cx="5084064" cy="1828800"/>
          </a:xfrm>
          <a:prstGeom prst="roundRect">
            <a:avLst>
              <a:gd name="adj" fmla="val 16666"/>
            </a:avLst>
          </a:prstGeom>
          <a:solidFill>
            <a:srgbClr val="F4F7FA"/>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8A6200-64.png"/>
          <p:cNvPicPr>
            <a:picLocks noChangeAspect="1"/>
          </p:cNvPicPr>
          <p:nvPr/>
        </p:nvPicPr>
        <p:blipFill>
          <a:blip r:embed="rId2"/>
          <a:stretch>
            <a:fillRect/>
          </a:stretch>
        </p:blipFill>
        <p:spPr>
          <a:xfrm>
            <a:off x="8759952" y="2441448"/>
            <a:ext cx="365760" cy="365760"/>
          </a:xfrm>
          <a:prstGeom prst="rect">
            <a:avLst/>
          </a:prstGeom>
        </p:spPr>
      </p:pic>
      <p:sp>
        <p:nvSpPr>
          <p:cNvPr id="14" name="TextBox 13"/>
          <p:cNvSpPr txBox="1"/>
          <p:nvPr/>
        </p:nvSpPr>
        <p:spPr>
          <a:xfrm>
            <a:off x="6675120" y="2926080"/>
            <a:ext cx="4535424" cy="960120"/>
          </a:xfrm>
          <a:prstGeom prst="rect">
            <a:avLst/>
          </a:prstGeom>
          <a:noFill/>
        </p:spPr>
        <p:txBody>
          <a:bodyPr wrap="square" lIns="0" rIns="0" tIns="0" bIns="0" anchor="t">
            <a:spAutoFit/>
          </a:bodyPr>
          <a:lstStyle/>
          <a:p>
            <a:pPr algn="ctr">
              <a:lnSpc>
                <a:spcPct val="125000"/>
              </a:lnSpc>
            </a:pPr>
            <a:r>
              <a:rPr sz="1200" b="0" i="1">
                <a:solidFill>
                  <a:srgbClr val="8A6200"/>
                </a:solidFill>
                <a:latin typeface="Arial"/>
              </a:rPr>
              <a:t>MEMORY.md виден среди загруженного контекста, не только на диске
Ждёт реальной сессии Claude Code</a:t>
            </a:r>
          </a:p>
        </p:txBody>
      </p:sp>
      <p:sp>
        <p:nvSpPr>
          <p:cNvPr id="15" name="TextBox 14"/>
          <p:cNvSpPr txBox="1"/>
          <p:nvPr/>
        </p:nvSpPr>
        <p:spPr>
          <a:xfrm>
            <a:off x="6400800" y="4251960"/>
            <a:ext cx="5084064" cy="164592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Только если MEMORY.md виден в перечисленном контексте — механизм реально работает, а не просто существует файлом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РЕШЕНИЕ, МЕХАНИЗМ 2</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000" b="1" i="0">
                <a:solidFill>
                  <a:srgbClr val="21295C"/>
                </a:solidFill>
                <a:latin typeface="Arial"/>
              </a:rPr>
              <a:t>DECISIONS.md — командный, версионируемый лог «почему», видимый всем через git</a:t>
            </a:r>
          </a:p>
        </p:txBody>
      </p:sp>
      <p:sp>
        <p:nvSpPr>
          <p:cNvPr id="4" name="Rounded Rectangle 3"/>
          <p:cNvSpPr/>
          <p:nvPr/>
        </p:nvSpPr>
        <p:spPr>
          <a:xfrm>
            <a:off x="502920" y="1737360"/>
            <a:ext cx="11183112" cy="32461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38528"/>
            <a:ext cx="10780776" cy="2843783"/>
          </a:xfrm>
          <a:prstGeom prst="rect">
            <a:avLst/>
          </a:prstGeom>
          <a:noFill/>
        </p:spPr>
        <p:txBody>
          <a:bodyPr wrap="square" lIns="0" rIns="0" tIns="0" bIns="0" anchor="t">
            <a:spAutoFit/>
          </a:bodyPr>
          <a:lstStyle/>
          <a:p>
            <a:pPr algn="l">
              <a:lnSpc>
                <a:spcPct val="115000"/>
              </a:lnSpc>
              <a:spcAft>
                <a:spcPts val="200"/>
              </a:spcAft>
            </a:pPr>
            <a:r>
              <a:rPr sz="1100" b="0" i="0">
                <a:solidFill>
                  <a:srgbClr val="8B9BB4"/>
                </a:solidFill>
                <a:latin typeface="Consolas"/>
              </a:rPr>
              <a:t>diff --git a/DECISIONS.md b/DECISIONS.md</a:t>
            </a:r>
          </a:p>
          <a:p>
            <a:pPr algn="l">
              <a:lnSpc>
                <a:spcPct val="115000"/>
              </a:lnSpc>
              <a:spcAft>
                <a:spcPts val="200"/>
              </a:spcAft>
            </a:pPr>
            <a:r>
              <a:rPr sz="1100" b="0" i="0">
                <a:solidFill>
                  <a:srgbClr val="8B9BB4"/>
                </a:solidFill>
                <a:latin typeface="Consolas"/>
              </a:rPr>
              <a:t>new file mode 100644</a:t>
            </a:r>
          </a:p>
          <a:p>
            <a:pPr algn="l">
              <a:lnSpc>
                <a:spcPct val="115000"/>
              </a:lnSpc>
              <a:spcAft>
                <a:spcPts val="200"/>
              </a:spcAft>
            </a:pPr>
            <a:r>
              <a:rPr sz="1100" b="0" i="0">
                <a:solidFill>
                  <a:srgbClr val="8A2A2A"/>
                </a:solidFill>
                <a:latin typeface="Consolas"/>
              </a:rPr>
              <a:t>--- /dev/null</a:t>
            </a:r>
          </a:p>
          <a:p>
            <a:pPr algn="l">
              <a:lnSpc>
                <a:spcPct val="115000"/>
              </a:lnSpc>
              <a:spcAft>
                <a:spcPts val="200"/>
              </a:spcAft>
            </a:pPr>
            <a:r>
              <a:rPr sz="1100" b="0" i="0">
                <a:solidFill>
                  <a:srgbClr val="6FB06A"/>
                </a:solidFill>
                <a:latin typeface="Consolas"/>
              </a:rPr>
              <a:t>+++ b/DECISIONS.md</a:t>
            </a:r>
          </a:p>
          <a:p>
            <a:pPr algn="l">
              <a:lnSpc>
                <a:spcPct val="115000"/>
              </a:lnSpc>
              <a:spcAft>
                <a:spcPts val="200"/>
              </a:spcAft>
            </a:pPr>
            <a:r>
              <a:rPr sz="1100" b="0" i="0">
                <a:solidFill>
                  <a:srgbClr val="6FB06A"/>
                </a:solidFill>
                <a:latin typeface="Consolas"/>
              </a:rPr>
              <a:t>+# Decisions</a:t>
            </a:r>
          </a:p>
          <a:p>
            <a:pPr algn="l">
              <a:lnSpc>
                <a:spcPct val="115000"/>
              </a:lnSpc>
              <a:spcAft>
                <a:spcPts val="200"/>
              </a:spcAft>
            </a:pPr>
            <a:r>
              <a:rPr sz="1100" b="0" i="0">
                <a:solidFill>
                  <a:srgbClr val="6FB06A"/>
                </a:solidFill>
                <a:latin typeface="Consolas"/>
              </a:rPr>
              <a:t>+</a:t>
            </a:r>
          </a:p>
          <a:p>
            <a:pPr algn="l">
              <a:lnSpc>
                <a:spcPct val="115000"/>
              </a:lnSpc>
              <a:spcAft>
                <a:spcPts val="200"/>
              </a:spcAft>
            </a:pPr>
            <a:r>
              <a:rPr sz="1100" b="0" i="0">
                <a:solidFill>
                  <a:srgbClr val="6FB06A"/>
                </a:solidFill>
                <a:latin typeface="Consolas"/>
              </a:rPr>
              <a:t>+Append-only log of why, in date order.</a:t>
            </a:r>
          </a:p>
          <a:p>
            <a:pPr algn="l">
              <a:lnSpc>
                <a:spcPct val="115000"/>
              </a:lnSpc>
              <a:spcAft>
                <a:spcPts val="200"/>
              </a:spcAft>
            </a:pPr>
            <a:r>
              <a:rPr sz="1100" b="0" i="0">
                <a:solidFill>
                  <a:srgbClr val="6FB06A"/>
                </a:solidFill>
                <a:latin typeface="Consolas"/>
              </a:rPr>
              <a:t>+</a:t>
            </a:r>
          </a:p>
          <a:p>
            <a:pPr algn="l">
              <a:lnSpc>
                <a:spcPct val="115000"/>
              </a:lnSpc>
              <a:spcAft>
                <a:spcPts val="200"/>
              </a:spcAft>
            </a:pPr>
            <a:r>
              <a:rPr sz="1100" b="0" i="0">
                <a:solidFill>
                  <a:srgbClr val="F0AB00"/>
                </a:solidFill>
                <a:latin typeface="Consolas"/>
              </a:rPr>
              <a:t>+## 2026-09-20 — не подключаем библиотеку валидации форм</a:t>
            </a:r>
          </a:p>
          <a:p>
            <a:pPr algn="l">
              <a:lnSpc>
                <a:spcPct val="115000"/>
              </a:lnSpc>
              <a:spcAft>
                <a:spcPts val="200"/>
              </a:spcAft>
            </a:pPr>
            <a:r>
              <a:rPr sz="1100" b="0" i="0">
                <a:solidFill>
                  <a:srgbClr val="6FB06A"/>
                </a:solidFill>
                <a:latin typeface="Consolas"/>
              </a:rPr>
              <a:t>+Форма — два поля (имя, email), хватает нативных required/pattern</a:t>
            </a:r>
          </a:p>
          <a:p>
            <a:pPr algn="l">
              <a:lnSpc>
                <a:spcPct val="115000"/>
              </a:lnSpc>
              <a:spcAft>
                <a:spcPts val="200"/>
              </a:spcAft>
            </a:pPr>
            <a:r>
              <a:rPr sz="1100" b="0" i="0">
                <a:solidFill>
                  <a:srgbClr val="6FB06A"/>
                </a:solidFill>
                <a:latin typeface="Consolas"/>
              </a:rPr>
              <a:t>+в index.html. Сторонняя библиотека — лишняя зависимость и лишние</a:t>
            </a:r>
          </a:p>
          <a:p>
            <a:pPr algn="l">
              <a:lnSpc>
                <a:spcPct val="115000"/>
              </a:lnSpc>
              <a:spcAft>
                <a:spcPts val="200"/>
              </a:spcAft>
            </a:pPr>
            <a:r>
              <a:rPr sz="1100" b="0" i="0">
                <a:solidFill>
                  <a:srgbClr val="6FB06A"/>
                </a:solidFill>
                <a:latin typeface="Consolas"/>
              </a:rPr>
              <a:t>+килобайты в сборке ради этого объёма.</a:t>
            </a:r>
          </a:p>
        </p:txBody>
      </p:sp>
      <p:sp>
        <p:nvSpPr>
          <p:cNvPr id="6" name="Rounded Rectangle 5"/>
          <p:cNvSpPr/>
          <p:nvPr/>
        </p:nvSpPr>
        <p:spPr>
          <a:xfrm>
            <a:off x="502920" y="5166360"/>
            <a:ext cx="11183112" cy="100584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285232"/>
            <a:ext cx="10698480" cy="777240"/>
          </a:xfrm>
          <a:prstGeom prst="rect">
            <a:avLst/>
          </a:prstGeom>
          <a:noFill/>
        </p:spPr>
        <p:txBody>
          <a:bodyPr wrap="square" lIns="0" rIns="0" tIns="0" bIns="0" anchor="ctr">
            <a:spAutoFit/>
          </a:bodyPr>
          <a:lstStyle/>
          <a:p>
            <a:pPr algn="l">
              <a:lnSpc>
                <a:spcPct val="125000"/>
              </a:lnSpc>
            </a:pPr>
            <a:r>
              <a:rPr sz="1250" b="0" i="0">
                <a:solidFill>
                  <a:srgbClr val="21295C"/>
                </a:solidFill>
                <a:latin typeface="Arial"/>
              </a:rPr>
              <a:t>Авто-память — быстрый, машинно-локальный слой, не проходит код-ревью. DECISIONS.md — коммитится, ревьюится, видно всем через git.</a:t>
            </a:r>
          </a:p>
        </p:txBody>
      </p:sp>
      <p:sp>
        <p:nvSpPr>
          <p:cNvPr id="8" name="TextBox 7"/>
          <p:cNvSpPr txBox="1"/>
          <p:nvPr/>
        </p:nvSpPr>
        <p:spPr>
          <a:xfrm>
            <a:off x="502920" y="6419088"/>
            <a:ext cx="11183112" cy="347472"/>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Источник: captures/13-diff-DECISIONS-md.txt — перенесено дословно</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ПРОВАЛ</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100" b="1" i="0">
                <a:solidFill>
                  <a:srgbClr val="21295C"/>
                </a:solidFill>
                <a:latin typeface="Arial"/>
              </a:rPr>
              <a:t>Однажды попавшее в память обслуживается как доверенный контекст бессрочно</a:t>
            </a:r>
          </a:p>
        </p:txBody>
      </p:sp>
      <p:sp>
        <p:nvSpPr>
          <p:cNvPr id="4" name="Rounded Rectangle 3"/>
          <p:cNvSpPr/>
          <p:nvPr/>
        </p:nvSpPr>
        <p:spPr>
          <a:xfrm>
            <a:off x="502920" y="1783080"/>
            <a:ext cx="11183112" cy="2331720"/>
          </a:xfrm>
          <a:prstGeom prst="roundRect">
            <a:avLst>
              <a:gd name="adj" fmla="val 1307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22376" y="2002536"/>
            <a:ext cx="384048" cy="384048"/>
          </a:xfrm>
          <a:prstGeom prst="rect">
            <a:avLst/>
          </a:prstGeom>
        </p:spPr>
      </p:pic>
      <p:sp>
        <p:nvSpPr>
          <p:cNvPr id="6" name="TextBox 5"/>
          <p:cNvSpPr txBox="1"/>
          <p:nvPr/>
        </p:nvSpPr>
        <p:spPr>
          <a:xfrm>
            <a:off x="1252728" y="1984248"/>
            <a:ext cx="1021384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SpAIware, сентябрь 2024</a:t>
            </a:r>
          </a:p>
        </p:txBody>
      </p:sp>
      <p:sp>
        <p:nvSpPr>
          <p:cNvPr id="7" name="TextBox 6"/>
          <p:cNvSpPr txBox="1"/>
          <p:nvPr/>
        </p:nvSpPr>
        <p:spPr>
          <a:xfrm>
            <a:off x="722376" y="2441448"/>
            <a:ext cx="10744200" cy="117957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Непрямая инъекция через текст, который агент просто прочитал, внедрила ложную инструкцию в долговременную память macOS-приложения ChatGPT. Инструкция пережила конец разговора и активировалась в будущих сессиях — включая непрерывную эксфильтрацию переписки на сервер атакующего.</a:t>
            </a:r>
          </a:p>
        </p:txBody>
      </p:sp>
      <p:sp>
        <p:nvSpPr>
          <p:cNvPr id="8" name="TextBox 7"/>
          <p:cNvSpPr txBox="1"/>
          <p:nvPr/>
        </p:nvSpPr>
        <p:spPr>
          <a:xfrm>
            <a:off x="722376" y="3639311"/>
            <a:ext cx="10744200" cy="256032"/>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Johann Rehberger; OpenAI закрыл вектор эксфильтрации в версии 1.2024.247, тоже сентябрь 2024</a:t>
            </a:r>
          </a:p>
        </p:txBody>
      </p:sp>
      <p:sp>
        <p:nvSpPr>
          <p:cNvPr id="9" name="Rounded Rectangle 8"/>
          <p:cNvSpPr/>
          <p:nvPr/>
        </p:nvSpPr>
        <p:spPr>
          <a:xfrm>
            <a:off x="502920" y="4370832"/>
            <a:ext cx="11183112" cy="2331720"/>
          </a:xfrm>
          <a:prstGeom prst="roundRect">
            <a:avLst>
              <a:gd name="adj" fmla="val 13071"/>
            </a:avLst>
          </a:prstGeom>
          <a:solidFill>
            <a:srgbClr val="FEF5E0"/>
          </a:solidFill>
          <a:ln w="20320">
            <a:solidFill>
              <a:srgbClr val="F0AB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elp-circle-8A6200-96.png"/>
          <p:cNvPicPr>
            <a:picLocks noChangeAspect="1"/>
          </p:cNvPicPr>
          <p:nvPr/>
        </p:nvPicPr>
        <p:blipFill>
          <a:blip r:embed="rId3"/>
          <a:stretch>
            <a:fillRect/>
          </a:stretch>
        </p:blipFill>
        <p:spPr>
          <a:xfrm>
            <a:off x="722376" y="4590288"/>
            <a:ext cx="384048" cy="384048"/>
          </a:xfrm>
          <a:prstGeom prst="rect">
            <a:avLst/>
          </a:prstGeom>
        </p:spPr>
      </p:pic>
      <p:sp>
        <p:nvSpPr>
          <p:cNvPr id="11" name="TextBox 10"/>
          <p:cNvSpPr txBox="1"/>
          <p:nvPr/>
        </p:nvSpPr>
        <p:spPr>
          <a:xfrm>
            <a:off x="1252728" y="4572000"/>
            <a:ext cx="10213848" cy="365760"/>
          </a:xfrm>
          <a:prstGeom prst="rect">
            <a:avLst/>
          </a:prstGeom>
          <a:noFill/>
        </p:spPr>
        <p:txBody>
          <a:bodyPr wrap="square" lIns="0" rIns="0" tIns="0" bIns="0" anchor="t">
            <a:spAutoFit/>
          </a:bodyPr>
          <a:lstStyle/>
          <a:p>
            <a:pPr algn="l">
              <a:lnSpc>
                <a:spcPct val="115000"/>
              </a:lnSpc>
            </a:pPr>
            <a:r>
              <a:rPr sz="1400" b="1" i="0">
                <a:solidFill>
                  <a:srgbClr val="8A6200"/>
                </a:solidFill>
                <a:latin typeface="Arial"/>
              </a:rPr>
              <a:t>Второй слой: Anthropic Memory Tool, эфемерное усмотрение модели</a:t>
            </a:r>
          </a:p>
        </p:txBody>
      </p:sp>
      <p:sp>
        <p:nvSpPr>
          <p:cNvPr id="12" name="TextBox 11"/>
          <p:cNvSpPr txBox="1"/>
          <p:nvPr/>
        </p:nvSpPr>
        <p:spPr>
          <a:xfrm>
            <a:off x="722376" y="5029200"/>
            <a:ext cx="10744200" cy="145389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Модель сама решает, что «стоит» запоминать — непоследовательно между прогонами. harness-eval issue #40 (2026): на 4 из 24 задач, это 17%, модель явно отказалась записать нужный факт. Один и тот же диалог, обработанный дважды, один раз сохранил факт, другой раз — нет.</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2 · КРИТЕРИЙ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300" b="1" i="0">
                <a:solidFill>
                  <a:srgbClr val="21295C"/>
                </a:solidFill>
                <a:latin typeface="Arial"/>
              </a:rPr>
              <a:t>Здесь ещё не нужно</a:t>
            </a:r>
          </a:p>
        </p:txBody>
      </p:sp>
      <p:sp>
        <p:nvSpPr>
          <p:cNvPr id="4" name="Rounded Rectangle 3"/>
          <p:cNvSpPr/>
          <p:nvPr/>
        </p:nvSpPr>
        <p:spPr>
          <a:xfrm>
            <a:off x="502920" y="1783080"/>
            <a:ext cx="11183112" cy="2761488"/>
          </a:xfrm>
          <a:prstGeom prst="roundRect">
            <a:avLst>
              <a:gd name="adj" fmla="val 8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47672"/>
            <a:ext cx="10607040" cy="2432304"/>
          </a:xfrm>
          <a:prstGeom prst="rect">
            <a:avLst/>
          </a:prstGeom>
          <a:noFill/>
        </p:spPr>
        <p:txBody>
          <a:bodyPr wrap="square" lIns="0" rIns="0" tIns="0" bIns="0" anchor="t">
            <a:spAutoFit/>
          </a:bodyPr>
          <a:lstStyle/>
          <a:p>
            <a:pPr algn="l">
              <a:lnSpc>
                <a:spcPct val="128000"/>
              </a:lnSpc>
              <a:spcAft>
                <a:spcPts val="600"/>
              </a:spcAft>
            </a:pPr>
            <a:r>
              <a:rPr sz="1350" b="1" i="0">
                <a:solidFill>
                  <a:srgbClr val="21295C"/>
                </a:solidFill>
                <a:latin typeface="Arial"/>
              </a:rPr>
              <a:t>задача одноразовая</a:t>
            </a:r>
          </a:p>
          <a:p>
            <a:pPr algn="l">
              <a:lnSpc>
                <a:spcPct val="128000"/>
              </a:lnSpc>
              <a:spcAft>
                <a:spcPts val="600"/>
              </a:spcAft>
            </a:pPr>
            <a:r>
              <a:rPr sz="1350" b="1" i="0">
                <a:solidFill>
                  <a:srgbClr val="21295C"/>
                </a:solidFill>
                <a:latin typeface="Arial"/>
              </a:rPr>
              <a:t>весь контекст помещается в одно окно</a:t>
            </a:r>
          </a:p>
          <a:p>
            <a:pPr algn="l">
              <a:lnSpc>
                <a:spcPct val="128000"/>
              </a:lnSpc>
              <a:spcAft>
                <a:spcPts val="600"/>
              </a:spcAft>
            </a:pPr>
            <a:r>
              <a:rPr sz="1350" b="1" i="0">
                <a:solidFill>
                  <a:srgbClr val="21295C"/>
                </a:solidFill>
                <a:latin typeface="Arial"/>
              </a:rPr>
              <a:t>правила проекта стабильны и укладываются в CLAUDE.md &lt; 200 строк</a:t>
            </a:r>
          </a:p>
          <a:p>
            <a:pPr algn="l">
              <a:lnSpc>
                <a:spcPct val="128000"/>
              </a:lnSpc>
              <a:spcAft>
                <a:spcPts val="600"/>
              </a:spcAft>
            </a:pPr>
            <a:r>
              <a:rPr sz="1350" b="1" i="0">
                <a:solidFill>
                  <a:srgbClr val="21295C"/>
                </a:solidFill>
                <a:latin typeface="Arial"/>
              </a:rPr>
              <a:t>никто не повторяет вручную одну и ту же правку из сессии в сессию</a:t>
            </a:r>
          </a:p>
          <a:p>
            <a:pPr algn="l">
              <a:lnSpc>
                <a:spcPct val="128000"/>
              </a:lnSpc>
              <a:spcAft>
                <a:spcPts val="600"/>
              </a:spcAft>
            </a:pPr>
            <a:r>
              <a:rPr sz="1350" b="1" i="0">
                <a:solidFill>
                  <a:srgbClr val="21295C"/>
                </a:solidFill>
                <a:latin typeface="Arial"/>
              </a:rPr>
              <a:t>нет нескольких участников, которым нужно делиться контекстом асинхронно</a:t>
            </a:r>
          </a:p>
          <a:p>
            <a:pPr algn="l">
              <a:lnSpc>
                <a:spcPct val="128000"/>
              </a:lnSpc>
              <a:spcAft>
                <a:spcPts val="600"/>
              </a:spcAft>
            </a:pPr>
            <a:r>
              <a:rPr sz="1350" b="1" i="0">
                <a:solidFill>
                  <a:srgbClr val="21295C"/>
                </a:solidFill>
                <a:latin typeface="Arial"/>
              </a:rPr>
              <a:t>факт и так выводим из кода или git</a:t>
            </a:r>
          </a:p>
        </p:txBody>
      </p:sp>
      <p:sp>
        <p:nvSpPr>
          <p:cNvPr id="6" name="Rounded Rectangle 5"/>
          <p:cNvSpPr/>
          <p:nvPr/>
        </p:nvSpPr>
        <p:spPr>
          <a:xfrm>
            <a:off x="502920" y="4800600"/>
            <a:ext cx="11183112" cy="1600200"/>
          </a:xfrm>
          <a:prstGeom prst="roundRect">
            <a:avLst>
              <a:gd name="adj" fmla="val 19047"/>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001768"/>
            <a:ext cx="1828800"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БАЗА</a:t>
            </a:r>
          </a:p>
        </p:txBody>
      </p:sp>
      <p:sp>
        <p:nvSpPr>
          <p:cNvPr id="8" name="TextBox 7"/>
          <p:cNvSpPr txBox="1"/>
          <p:nvPr/>
        </p:nvSpPr>
        <p:spPr>
          <a:xfrm>
            <a:off x="704088" y="5312664"/>
            <a:ext cx="10780776" cy="402336"/>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Агент не помнит вчерашней сессии, если факт не записан на диск.</a:t>
            </a:r>
          </a:p>
        </p:txBody>
      </p:sp>
      <p:sp>
        <p:nvSpPr>
          <p:cNvPr id="9" name="Rectangle 8"/>
          <p:cNvSpPr/>
          <p:nvPr/>
        </p:nvSpPr>
        <p:spPr>
          <a:xfrm>
            <a:off x="704088" y="5824728"/>
            <a:ext cx="10780776" cy="1828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952744"/>
            <a:ext cx="10780776" cy="374903"/>
          </a:xfrm>
          <a:prstGeom prst="rect">
            <a:avLst/>
          </a:prstGeom>
          <a:noFill/>
        </p:spPr>
        <p:txBody>
          <a:bodyPr wrap="square" lIns="0" rIns="0" tIns="0" bIns="0" anchor="t">
            <a:spAutoFit/>
          </a:bodyPr>
          <a:lstStyle/>
          <a:p>
            <a:pPr algn="l">
              <a:lnSpc>
                <a:spcPct val="125000"/>
              </a:lnSpc>
            </a:pPr>
            <a:r>
              <a:rPr sz="1150" b="0" i="1">
                <a:solidFill>
                  <a:srgbClr val="6B7685"/>
                </a:solidFill>
                <a:latin typeface="Arial"/>
              </a:rPr>
              <a:t>Нюанс: CrewAI Memory на LongMemEval — с памятью 46,0%, без памяти 57,6% (включение памяти сделало систему хуже).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3</a:t>
            </a:r>
          </a:p>
        </p:txBody>
      </p:sp>
      <p:sp>
        <p:nvSpPr>
          <p:cNvPr id="4" name="TextBox 3"/>
          <p:cNvSpPr txBox="1"/>
          <p:nvPr/>
        </p:nvSpPr>
        <p:spPr>
          <a:xfrm>
            <a:off x="3017520" y="2331720"/>
            <a:ext cx="7498079" cy="1188720"/>
          </a:xfrm>
          <a:prstGeom prst="rect">
            <a:avLst/>
          </a:prstGeom>
          <a:noFill/>
        </p:spPr>
        <p:txBody>
          <a:bodyPr wrap="square" lIns="0" rIns="0" tIns="0" bIns="0" anchor="ctr">
            <a:spAutoFit/>
          </a:bodyPr>
          <a:lstStyle/>
          <a:p>
            <a:pPr algn="l">
              <a:lnSpc>
                <a:spcPct val="105000"/>
              </a:lnSpc>
            </a:pPr>
            <a:r>
              <a:rPr sz="4400" b="1" i="0">
                <a:solidFill>
                  <a:srgbClr val="FFFFFF"/>
                </a:solidFill>
                <a:latin typeface="Arial"/>
              </a:rPr>
              <a:t>Хуки</a:t>
            </a:r>
          </a:p>
        </p:txBody>
      </p:sp>
      <p:sp>
        <p:nvSpPr>
          <p:cNvPr id="5" name="Rounded Rectangle 4"/>
          <p:cNvSpPr/>
          <p:nvPr/>
        </p:nvSpPr>
        <p:spPr>
          <a:xfrm>
            <a:off x="3063240" y="3611880"/>
            <a:ext cx="7315200" cy="457200"/>
          </a:xfrm>
          <a:prstGeom prst="roundRect">
            <a:avLst>
              <a:gd name="adj" fmla="val 50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none"/>
          <a:lstStyle/>
          <a:p>
            <a:pPr algn="ctr"/>
            <a:r>
              <a:rPr sz="1300" b="1">
                <a:solidFill>
                  <a:srgbClr val="F0AB00"/>
                </a:solidFill>
                <a:latin typeface="Arial"/>
              </a:rPr>
              <a:t>ПРАВИЛО ТЕКСТОМ → ПРАВИЛО, КОТОРОЕ ИСПОЛНЯЕТ СРЕДА</a:t>
            </a:r>
          </a:p>
        </p:txBody>
      </p:sp>
      <p:sp>
        <p:nvSpPr>
          <p:cNvPr id="6" name="Rounded Rectangle 5"/>
          <p:cNvSpPr/>
          <p:nvPr/>
        </p:nvSpPr>
        <p:spPr>
          <a:xfrm>
            <a:off x="9326880" y="3977640"/>
            <a:ext cx="2194560" cy="219456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check-F0AB00-128.png"/>
          <p:cNvPicPr>
            <a:picLocks noChangeAspect="1"/>
          </p:cNvPicPr>
          <p:nvPr/>
        </p:nvPicPr>
        <p:blipFill>
          <a:blip r:embed="rId2"/>
          <a:stretch>
            <a:fillRect/>
          </a:stretch>
        </p:blipFill>
        <p:spPr>
          <a:xfrm>
            <a:off x="9646920" y="4297680"/>
            <a:ext cx="1554480" cy="15544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СЦЕНАРИЙ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Правило было сформулировано абсолютно корректно текстом — и всё равно нарушено накануне показа</a:t>
            </a:r>
          </a:p>
        </p:txBody>
      </p:sp>
      <p:sp>
        <p:nvSpPr>
          <p:cNvPr id="4" name="Rounded Rectangle 3"/>
          <p:cNvSpPr/>
          <p:nvPr/>
        </p:nvSpPr>
        <p:spPr>
          <a:xfrm>
            <a:off x="502920" y="1737360"/>
            <a:ext cx="11183112" cy="1600200"/>
          </a:xfrm>
          <a:prstGeom prst="roundRect">
            <a:avLst>
              <a:gd name="adj" fmla="val 19047"/>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22376" y="1956815"/>
            <a:ext cx="384048" cy="384048"/>
          </a:xfrm>
          <a:prstGeom prst="rect">
            <a:avLst/>
          </a:prstGeom>
        </p:spPr>
      </p:pic>
      <p:sp>
        <p:nvSpPr>
          <p:cNvPr id="6" name="TextBox 5"/>
          <p:cNvSpPr txBox="1"/>
          <p:nvPr/>
        </p:nvSpPr>
        <p:spPr>
          <a:xfrm>
            <a:off x="1252728" y="1938527"/>
            <a:ext cx="1021384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Завтра — показ сайта заказчику</a:t>
            </a:r>
          </a:p>
        </p:txBody>
      </p:sp>
      <p:sp>
        <p:nvSpPr>
          <p:cNvPr id="7" name="TextBox 6"/>
          <p:cNvSpPr txBox="1"/>
          <p:nvPr/>
        </p:nvSpPr>
        <p:spPr>
          <a:xfrm>
            <a:off x="722376" y="2395727"/>
            <a:ext cx="10744200" cy="722376"/>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В CLAUDE.md уже написано текстом: «никогда не коммитьте напрямую в main». Накануне вечером, в спешке перед показом, агент всё равно выполняет git commit прямо на main — правка формы уходит в продакшен-ветку без ветки и без ревью.</a:t>
            </a:r>
          </a:p>
        </p:txBody>
      </p:sp>
      <p:sp>
        <p:nvSpPr>
          <p:cNvPr id="8" name="Rounded Rectangle 7"/>
          <p:cNvSpPr/>
          <p:nvPr/>
        </p:nvSpPr>
        <p:spPr>
          <a:xfrm>
            <a:off x="502920" y="3538728"/>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3611880"/>
            <a:ext cx="10780776" cy="81381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«Агент только что, накануне показа, закоммитил правку формы в main — текстом всё было сказано правильно. Что вы делаете, чтобы это стало невозможно, а не просто маловероятно?»</a:t>
            </a:r>
          </a:p>
        </p:txBody>
      </p:sp>
      <p:sp>
        <p:nvSpPr>
          <p:cNvPr id="10" name="Rounded Rectangle 9"/>
          <p:cNvSpPr/>
          <p:nvPr/>
        </p:nvSpPr>
        <p:spPr>
          <a:xfrm>
            <a:off x="50292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Пишу правило
капсом</a:t>
            </a:r>
          </a:p>
        </p:txBody>
      </p:sp>
      <p:sp>
        <p:nvSpPr>
          <p:cNvPr id="12" name="Rounded Rectangle 11"/>
          <p:cNvSpPr/>
          <p:nvPr/>
        </p:nvSpPr>
        <p:spPr>
          <a:xfrm>
            <a:off x="334899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529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Проверяю руками
после коммита</a:t>
            </a:r>
          </a:p>
        </p:txBody>
      </p:sp>
      <p:sp>
        <p:nvSpPr>
          <p:cNvPr id="14" name="Rounded Rectangle 13"/>
          <p:cNvSpPr/>
          <p:nvPr/>
        </p:nvSpPr>
        <p:spPr>
          <a:xfrm>
            <a:off x="619506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136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Защита ветки
на сервере</a:t>
            </a:r>
          </a:p>
        </p:txBody>
      </p:sp>
      <p:sp>
        <p:nvSpPr>
          <p:cNvPr id="16" name="Rounded Rectangle 15"/>
          <p:cNvSpPr/>
          <p:nvPr/>
        </p:nvSpPr>
        <p:spPr>
          <a:xfrm>
            <a:off x="904113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743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Добавлю
PreToolUse-хук</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РЕШЕНИЕ</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500" b="1" i="0">
                <a:solidFill>
                  <a:srgbClr val="21295C"/>
                </a:solidFill>
                <a:latin typeface="Arial"/>
              </a:rPr>
              <a:t>.claude/settings.json: хук защиты main</a:t>
            </a:r>
          </a:p>
        </p:txBody>
      </p:sp>
      <p:sp>
        <p:nvSpPr>
          <p:cNvPr id="4" name="Rounded Rectangle 3"/>
          <p:cNvSpPr/>
          <p:nvPr/>
        </p:nvSpPr>
        <p:spPr>
          <a:xfrm>
            <a:off x="502920" y="1600200"/>
            <a:ext cx="11183112" cy="46177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0136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.claude/settings.json</a:t>
            </a:r>
          </a:p>
        </p:txBody>
      </p:sp>
      <p:sp>
        <p:nvSpPr>
          <p:cNvPr id="6" name="TextBox 5"/>
          <p:cNvSpPr txBox="1"/>
          <p:nvPr/>
        </p:nvSpPr>
        <p:spPr>
          <a:xfrm>
            <a:off x="704088" y="2112264"/>
            <a:ext cx="10780776" cy="3904487"/>
          </a:xfrm>
          <a:prstGeom prst="rect">
            <a:avLst/>
          </a:prstGeom>
          <a:noFill/>
        </p:spPr>
        <p:txBody>
          <a:bodyPr wrap="square" lIns="0" rIns="0" tIns="0" bIns="0" anchor="t">
            <a:spAutoFit/>
          </a:bodyPr>
          <a:lstStyle/>
          <a:p>
            <a:pPr algn="l">
              <a:lnSpc>
                <a:spcPct val="112000"/>
              </a:lnSpc>
              <a:spcAft>
                <a:spcPts val="200"/>
              </a:spcAft>
            </a:pPr>
            <a:r>
              <a:rPr sz="1050" b="0" i="0">
                <a:solidFill>
                  <a:srgbClr val="E3E9F2"/>
                </a:solidFill>
                <a:latin typeface="Consolas"/>
              </a:rPr>
              <a:t>{</a:t>
            </a:r>
          </a:p>
          <a:p>
            <a:pPr algn="l">
              <a:lnSpc>
                <a:spcPct val="112000"/>
              </a:lnSpc>
              <a:spcAft>
                <a:spcPts val="200"/>
              </a:spcAft>
            </a:pPr>
            <a:r>
              <a:rPr sz="1050" b="0" i="0">
                <a:solidFill>
                  <a:srgbClr val="E3E9F2"/>
                </a:solidFill>
                <a:latin typeface="Consolas"/>
              </a:rPr>
              <a:t>  "hooks": {</a:t>
            </a:r>
          </a:p>
          <a:p>
            <a:pPr algn="l">
              <a:lnSpc>
                <a:spcPct val="112000"/>
              </a:lnSpc>
              <a:spcAft>
                <a:spcPts val="200"/>
              </a:spcAft>
            </a:pPr>
            <a:r>
              <a:rPr sz="1050" b="0" i="0">
                <a:solidFill>
                  <a:srgbClr val="E3E9F2"/>
                </a:solidFill>
                <a:latin typeface="Consolas"/>
              </a:rPr>
              <a:t>    "PreToolUse": [{ "matcher": "Bash", "hooks": [{</a:t>
            </a:r>
          </a:p>
          <a:p>
            <a:pPr algn="l">
              <a:lnSpc>
                <a:spcPct val="112000"/>
              </a:lnSpc>
              <a:spcAft>
                <a:spcPts val="200"/>
              </a:spcAft>
            </a:pPr>
            <a:r>
              <a:rPr sz="1050" b="0" i="0">
                <a:solidFill>
                  <a:srgbClr val="E3E9F2"/>
                </a:solidFill>
                <a:latin typeface="Consolas"/>
              </a:rPr>
              <a:t>      "type": "command",</a:t>
            </a:r>
          </a:p>
          <a:p>
            <a:pPr algn="l">
              <a:lnSpc>
                <a:spcPct val="112000"/>
              </a:lnSpc>
              <a:spcAft>
                <a:spcPts val="200"/>
              </a:spcAft>
            </a:pPr>
            <a:r>
              <a:rPr sz="1050" b="0" i="0">
                <a:solidFill>
                  <a:srgbClr val="E3E9F2"/>
                </a:solidFill>
                <a:latin typeface="Consolas"/>
              </a:rPr>
              <a:t>      "command":</a:t>
            </a:r>
          </a:p>
          <a:p>
            <a:pPr algn="l">
              <a:lnSpc>
                <a:spcPct val="112000"/>
              </a:lnSpc>
              <a:spcAft>
                <a:spcPts val="200"/>
              </a:spcAft>
            </a:pPr>
            <a:r>
              <a:rPr sz="1050" b="0" i="0">
                <a:solidFill>
                  <a:srgbClr val="028090"/>
                </a:solidFill>
                <a:latin typeface="Consolas"/>
              </a:rPr>
              <a:t>        "jq -r '.tool_input.command' | { read -r cmd;</a:t>
            </a:r>
          </a:p>
          <a:p>
            <a:pPr algn="l">
              <a:lnSpc>
                <a:spcPct val="112000"/>
              </a:lnSpc>
              <a:spcAft>
                <a:spcPts val="200"/>
              </a:spcAft>
            </a:pPr>
            <a:r>
              <a:rPr sz="1050" b="0" i="0">
                <a:solidFill>
                  <a:srgbClr val="028090"/>
                </a:solidFill>
                <a:latin typeface="Consolas"/>
              </a:rPr>
              <a:t>          if echo \"$cmd\" | grep -qE '(^|[;&amp;|]\s*)git\s+commit\b'; then</a:t>
            </a:r>
          </a:p>
          <a:p>
            <a:pPr algn="l">
              <a:lnSpc>
                <a:spcPct val="112000"/>
              </a:lnSpc>
              <a:spcAft>
                <a:spcPts val="200"/>
              </a:spcAft>
            </a:pPr>
            <a:r>
              <a:rPr sz="1050" b="0" i="0">
                <a:solidFill>
                  <a:srgbClr val="F0AB00"/>
                </a:solidFill>
                <a:latin typeface="Consolas"/>
              </a:rPr>
              <a:t>            if ! git rev-parse --is-inside-work-tree &gt;/dev/null 2&gt;&amp;1; then</a:t>
            </a:r>
          </a:p>
          <a:p>
            <a:pPr algn="l">
              <a:lnSpc>
                <a:spcPct val="112000"/>
              </a:lnSpc>
              <a:spcAft>
                <a:spcPts val="200"/>
              </a:spcAft>
            </a:pPr>
            <a:r>
              <a:rPr sz="1050" b="0" i="0">
                <a:solidFill>
                  <a:srgbClr val="F0AB00"/>
                </a:solidFill>
                <a:latin typeface="Consolas"/>
              </a:rPr>
              <a:t>              echo permissionDecision=ask ...; exit 0; fi;</a:t>
            </a:r>
          </a:p>
          <a:p>
            <a:pPr algn="l">
              <a:lnSpc>
                <a:spcPct val="112000"/>
              </a:lnSpc>
              <a:spcAft>
                <a:spcPts val="200"/>
              </a:spcAft>
            </a:pPr>
            <a:r>
              <a:rPr sz="1050" b="0" i="0">
                <a:solidFill>
                  <a:srgbClr val="F0AB00"/>
                </a:solidFill>
                <a:latin typeface="Consolas"/>
              </a:rPr>
              <a:t>            branch=$(git symbolic-ref --short HEAD 2&gt;/dev/null);</a:t>
            </a:r>
          </a:p>
          <a:p>
            <a:pPr algn="l">
              <a:lnSpc>
                <a:spcPct val="112000"/>
              </a:lnSpc>
              <a:spcAft>
                <a:spcPts val="200"/>
              </a:spcAft>
            </a:pPr>
            <a:r>
              <a:rPr sz="1050" b="0" i="0">
                <a:solidFill>
                  <a:srgbClr val="F0AB00"/>
                </a:solidFill>
                <a:latin typeface="Consolas"/>
              </a:rPr>
              <a:t>            if [ \"$branch\" = main ] || [ \"$branch\" = master ]; then</a:t>
            </a:r>
          </a:p>
          <a:p>
            <a:pPr algn="l">
              <a:lnSpc>
                <a:spcPct val="112000"/>
              </a:lnSpc>
              <a:spcAft>
                <a:spcPts val="200"/>
              </a:spcAft>
            </a:pPr>
            <a:r>
              <a:rPr sz="1050" b="0" i="0">
                <a:solidFill>
                  <a:srgbClr val="F0AB00"/>
                </a:solidFill>
                <a:latin typeface="Consolas"/>
              </a:rPr>
              <a:t>              echo permissionDecision=deny \"BLOCKED: direct commit</a:t>
            </a:r>
          </a:p>
          <a:p>
            <a:pPr algn="l">
              <a:lnSpc>
                <a:spcPct val="112000"/>
              </a:lnSpc>
              <a:spcAft>
                <a:spcPts val="200"/>
              </a:spcAft>
            </a:pPr>
            <a:r>
              <a:rPr sz="1050" b="0" i="0">
                <a:solidFill>
                  <a:srgbClr val="F0AB00"/>
                </a:solidFill>
                <a:latin typeface="Consolas"/>
              </a:rPr>
              <a:t>                to main/master. Create a feature branch first.\"; fi;</a:t>
            </a:r>
          </a:p>
          <a:p>
            <a:pPr algn="l">
              <a:lnSpc>
                <a:spcPct val="112000"/>
              </a:lnSpc>
              <a:spcAft>
                <a:spcPts val="200"/>
              </a:spcAft>
            </a:pPr>
            <a:r>
              <a:rPr sz="1050" b="0" i="0">
                <a:solidFill>
                  <a:srgbClr val="028090"/>
                </a:solidFill>
                <a:latin typeface="Consolas"/>
              </a:rPr>
              <a:t>          fi; }",</a:t>
            </a:r>
          </a:p>
          <a:p>
            <a:pPr algn="l">
              <a:lnSpc>
                <a:spcPct val="112000"/>
              </a:lnSpc>
              <a:spcAft>
                <a:spcPts val="200"/>
              </a:spcAft>
            </a:pPr>
            <a:r>
              <a:rPr sz="1050" b="0" i="0">
                <a:solidFill>
                  <a:srgbClr val="E3E9F2"/>
                </a:solidFill>
                <a:latin typeface="Consolas"/>
              </a:rPr>
              <a:t>      "timeout": 10</a:t>
            </a:r>
          </a:p>
          <a:p>
            <a:pPr algn="l">
              <a:lnSpc>
                <a:spcPct val="112000"/>
              </a:lnSpc>
              <a:spcAft>
                <a:spcPts val="200"/>
              </a:spcAft>
            </a:pPr>
            <a:r>
              <a:rPr sz="1050" b="0" i="0">
                <a:solidFill>
                  <a:srgbClr val="E3E9F2"/>
                </a:solidFill>
                <a:latin typeface="Consolas"/>
              </a:rPr>
              <a:t>    }] }]  }</a:t>
            </a:r>
          </a:p>
          <a:p>
            <a:pPr algn="l">
              <a:lnSpc>
                <a:spcPct val="112000"/>
              </a:lnSpc>
              <a:spcAft>
                <a:spcPts val="200"/>
              </a:spcAft>
            </a:pPr>
            <a:r>
              <a:rPr sz="1050" b="0" i="0">
                <a:solidFill>
                  <a:srgbClr val="E3E9F2"/>
                </a:solidFill>
                <a:latin typeface="Consolas"/>
              </a:rPr>
              <a:t>}</a:t>
            </a:r>
          </a:p>
        </p:txBody>
      </p:sp>
      <p:sp>
        <p:nvSpPr>
          <p:cNvPr id="7" name="TextBox 6"/>
          <p:cNvSpPr txBox="1"/>
          <p:nvPr/>
        </p:nvSpPr>
        <p:spPr>
          <a:xfrm>
            <a:off x="502920" y="6309360"/>
            <a:ext cx="11183112" cy="347472"/>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git symbolic-ref --short HEAD, не git rev-parse --abbrev-ref HEAD — на unborn HEAD rev-parse падает и молча оставляет проверку нерабочей. Источник: captures/29-code-settings.json.txt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ХУК В ДЕЙСТВИИ</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100" b="1" i="0">
                <a:solidFill>
                  <a:srgbClr val="21295C"/>
                </a:solidFill>
                <a:latin typeface="Arial"/>
              </a:rPr>
              <a:t>Хук в действии: deny на ветке main</a:t>
            </a:r>
          </a:p>
        </p:txBody>
      </p:sp>
      <p:sp>
        <p:nvSpPr>
          <p:cNvPr id="4" name="Rounded Rectangle 3"/>
          <p:cNvSpPr/>
          <p:nvPr/>
        </p:nvSpPr>
        <p:spPr>
          <a:xfrm>
            <a:off x="502920" y="1920240"/>
            <a:ext cx="11183112" cy="3291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21408"/>
            <a:ext cx="10780776" cy="2889504"/>
          </a:xfrm>
          <a:prstGeom prst="rect">
            <a:avLst/>
          </a:prstGeom>
          <a:noFill/>
        </p:spPr>
        <p:txBody>
          <a:bodyPr wrap="square" lIns="0" rIns="0" tIns="0" bIns="0" anchor="t">
            <a:spAutoFit/>
          </a:bodyPr>
          <a:lstStyle/>
          <a:p>
            <a:pPr algn="l">
              <a:lnSpc>
                <a:spcPct val="132000"/>
              </a:lnSpc>
              <a:spcAft>
                <a:spcPts val="200"/>
              </a:spcAft>
            </a:pPr>
            <a:r>
              <a:rPr sz="1300" b="0" i="0">
                <a:solidFill>
                  <a:srgbClr val="8B9BB4"/>
                </a:solidFill>
                <a:latin typeface="Consolas"/>
              </a:rPr>
              <a:t>=== INPUT ===</a:t>
            </a:r>
          </a:p>
          <a:p>
            <a:pPr algn="l">
              <a:lnSpc>
                <a:spcPct val="132000"/>
              </a:lnSpc>
              <a:spcAft>
                <a:spcPts val="200"/>
              </a:spcAft>
            </a:pPr>
            <a:r>
              <a:rPr sz="1300" b="0" i="0">
                <a:solidFill>
                  <a:srgbClr val="E3E9F2"/>
                </a:solidFill>
                <a:latin typeface="Consolas"/>
              </a:rPr>
              <a:t>{"tool_input":{"command":"git commit -m \"fix: second form field\""}}</a:t>
            </a:r>
          </a:p>
          <a:p>
            <a:pPr algn="l">
              <a:lnSpc>
                <a:spcPct val="132000"/>
              </a:lnSpc>
              <a:spcAft>
                <a:spcPts val="200"/>
              </a:spcAft>
            </a:pPr>
            <a:r>
              <a:rPr sz="1300" b="0" i="0">
                <a:solidFill>
                  <a:srgbClr val="8B9BB4"/>
                </a:solidFill>
                <a:latin typeface="Consolas"/>
              </a:rPr>
              <a:t>=== current branch ===</a:t>
            </a:r>
          </a:p>
          <a:p>
            <a:pPr algn="l">
              <a:lnSpc>
                <a:spcPct val="132000"/>
              </a:lnSpc>
              <a:spcAft>
                <a:spcPts val="200"/>
              </a:spcAft>
            </a:pPr>
            <a:r>
              <a:rPr sz="1300" b="0" i="0">
                <a:solidFill>
                  <a:srgbClr val="F0AB00"/>
                </a:solidFill>
                <a:latin typeface="Consolas"/>
              </a:rPr>
              <a:t>main</a:t>
            </a:r>
          </a:p>
          <a:p>
            <a:pPr algn="l">
              <a:lnSpc>
                <a:spcPct val="132000"/>
              </a:lnSpc>
              <a:spcAft>
                <a:spcPts val="200"/>
              </a:spcAft>
            </a:pPr>
            <a:r>
              <a:rPr sz="1300" b="0" i="0">
                <a:solidFill>
                  <a:srgbClr val="8B9BB4"/>
                </a:solidFill>
                <a:latin typeface="Consolas"/>
              </a:rPr>
              <a:t>=== HOOK OUTPUT (stdout) ===</a:t>
            </a:r>
          </a:p>
          <a:p>
            <a:pPr algn="l">
              <a:lnSpc>
                <a:spcPct val="132000"/>
              </a:lnSpc>
              <a:spcAft>
                <a:spcPts val="200"/>
              </a:spcAft>
            </a:pPr>
            <a:r>
              <a:rPr sz="1300" b="0" i="0">
                <a:solidFill>
                  <a:srgbClr val="8A2A2A"/>
                </a:solidFill>
                <a:latin typeface="Consolas"/>
              </a:rPr>
              <a:t>{"hookSpecificOutput":{"permissionDecision":"deny",</a:t>
            </a:r>
          </a:p>
          <a:p>
            <a:pPr algn="l">
              <a:lnSpc>
                <a:spcPct val="132000"/>
              </a:lnSpc>
              <a:spcAft>
                <a:spcPts val="200"/>
              </a:spcAft>
            </a:pPr>
            <a:r>
              <a:rPr sz="1300" b="0" i="0">
                <a:solidFill>
                  <a:srgbClr val="8A2A2A"/>
                </a:solidFill>
                <a:latin typeface="Consolas"/>
              </a:rPr>
              <a:t> "permissionDecisionReason":"BLOCKED: direct commit to</a:t>
            </a:r>
          </a:p>
          <a:p>
            <a:pPr algn="l">
              <a:lnSpc>
                <a:spcPct val="132000"/>
              </a:lnSpc>
              <a:spcAft>
                <a:spcPts val="200"/>
              </a:spcAft>
            </a:pPr>
            <a:r>
              <a:rPr sz="1300" b="0" i="0">
                <a:solidFill>
                  <a:srgbClr val="8A2A2A"/>
                </a:solidFill>
                <a:latin typeface="Consolas"/>
              </a:rPr>
              <a:t>  main/master. Create a feature branch first."}}</a:t>
            </a:r>
          </a:p>
          <a:p>
            <a:pPr algn="l">
              <a:lnSpc>
                <a:spcPct val="132000"/>
              </a:lnSpc>
              <a:spcAft>
                <a:spcPts val="200"/>
              </a:spcAft>
            </a:pPr>
            <a:r>
              <a:rPr sz="1300" b="0" i="0">
                <a:solidFill>
                  <a:srgbClr val="8B9BB4"/>
                </a:solidFill>
                <a:latin typeface="Consolas"/>
              </a:rPr>
              <a:t>=== exit code: 0 ===</a:t>
            </a:r>
          </a:p>
        </p:txBody>
      </p:sp>
      <p:sp>
        <p:nvSpPr>
          <p:cNvPr id="6" name="TextBox 5"/>
          <p:cNvSpPr txBox="1"/>
          <p:nvPr/>
        </p:nvSpPr>
        <p:spPr>
          <a:xfrm>
            <a:off x="502920" y="5394960"/>
            <a:ext cx="11183112" cy="457200"/>
          </a:xfrm>
          <a:prstGeom prst="rect">
            <a:avLst/>
          </a:prstGeom>
          <a:noFill/>
        </p:spPr>
        <p:txBody>
          <a:bodyPr wrap="square" lIns="0" rIns="0" tIns="0" bIns="0" anchor="t">
            <a:spAutoFit/>
          </a:bodyPr>
          <a:lstStyle/>
          <a:p>
            <a:pPr algn="l">
              <a:lnSpc>
                <a:spcPct val="125000"/>
              </a:lnSpc>
            </a:pPr>
            <a:r>
              <a:rPr sz="1300" b="0" i="1">
                <a:solidFill>
                  <a:srgbClr val="6B7685"/>
                </a:solidFill>
                <a:latin typeface="Arial"/>
              </a:rPr>
              <a:t>Источник: captures/06-hook-deny-main.txt — перенесено дословно</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ХУК В ДЕЙСТВИИ</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000" b="1" i="0">
                <a:solidFill>
                  <a:srgbClr val="21295C"/>
                </a:solidFill>
                <a:latin typeface="Arial"/>
              </a:rPr>
              <a:t>Тот же коммит на рабочей ветке проходит</a:t>
            </a:r>
          </a:p>
        </p:txBody>
      </p:sp>
      <p:sp>
        <p:nvSpPr>
          <p:cNvPr id="4" name="Rounded Rectangle 3"/>
          <p:cNvSpPr/>
          <p:nvPr/>
        </p:nvSpPr>
        <p:spPr>
          <a:xfrm>
            <a:off x="502920" y="1920240"/>
            <a:ext cx="11183112" cy="3291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21408"/>
            <a:ext cx="10780776" cy="2889504"/>
          </a:xfrm>
          <a:prstGeom prst="rect">
            <a:avLst/>
          </a:prstGeom>
          <a:noFill/>
        </p:spPr>
        <p:txBody>
          <a:bodyPr wrap="square" lIns="0" rIns="0" tIns="0" bIns="0" anchor="t">
            <a:spAutoFit/>
          </a:bodyPr>
          <a:lstStyle/>
          <a:p>
            <a:pPr algn="l">
              <a:lnSpc>
                <a:spcPct val="132000"/>
              </a:lnSpc>
              <a:spcAft>
                <a:spcPts val="200"/>
              </a:spcAft>
            </a:pPr>
            <a:r>
              <a:rPr sz="1300" b="1" i="0">
                <a:solidFill>
                  <a:srgbClr val="028090"/>
                </a:solidFill>
                <a:latin typeface="Consolas"/>
              </a:rPr>
              <a:t>=== git switch -c fix-form-field ===</a:t>
            </a:r>
          </a:p>
          <a:p>
            <a:pPr algn="l">
              <a:lnSpc>
                <a:spcPct val="132000"/>
              </a:lnSpc>
              <a:spcAft>
                <a:spcPts val="200"/>
              </a:spcAft>
            </a:pPr>
            <a:r>
              <a:rPr sz="1300" b="0" i="0">
                <a:solidFill>
                  <a:srgbClr val="8B9BB4"/>
                </a:solidFill>
                <a:latin typeface="Consolas"/>
              </a:rPr>
              <a:t>=== INPUT ===</a:t>
            </a:r>
          </a:p>
          <a:p>
            <a:pPr algn="l">
              <a:lnSpc>
                <a:spcPct val="132000"/>
              </a:lnSpc>
              <a:spcAft>
                <a:spcPts val="200"/>
              </a:spcAft>
            </a:pPr>
            <a:r>
              <a:rPr sz="1300" b="0" i="0">
                <a:solidFill>
                  <a:srgbClr val="E3E9F2"/>
                </a:solidFill>
                <a:latin typeface="Consolas"/>
              </a:rPr>
              <a:t>{"tool_input":{"command":"git commit -m \"fix: second form field\""}}</a:t>
            </a:r>
          </a:p>
          <a:p>
            <a:pPr algn="l">
              <a:lnSpc>
                <a:spcPct val="132000"/>
              </a:lnSpc>
              <a:spcAft>
                <a:spcPts val="200"/>
              </a:spcAft>
            </a:pPr>
            <a:r>
              <a:rPr sz="1300" b="0" i="0">
                <a:solidFill>
                  <a:srgbClr val="8B9BB4"/>
                </a:solidFill>
                <a:latin typeface="Consolas"/>
              </a:rPr>
              <a:t>=== current branch ===</a:t>
            </a:r>
          </a:p>
          <a:p>
            <a:pPr algn="l">
              <a:lnSpc>
                <a:spcPct val="132000"/>
              </a:lnSpc>
              <a:spcAft>
                <a:spcPts val="200"/>
              </a:spcAft>
            </a:pPr>
            <a:r>
              <a:rPr sz="1300" b="0" i="0">
                <a:solidFill>
                  <a:srgbClr val="F0AB00"/>
                </a:solidFill>
                <a:latin typeface="Consolas"/>
              </a:rPr>
              <a:t>fix-form-field</a:t>
            </a:r>
          </a:p>
          <a:p>
            <a:pPr algn="l">
              <a:lnSpc>
                <a:spcPct val="132000"/>
              </a:lnSpc>
              <a:spcAft>
                <a:spcPts val="200"/>
              </a:spcAft>
            </a:pPr>
            <a:r>
              <a:rPr sz="1300" b="0" i="0">
                <a:solidFill>
                  <a:srgbClr val="8B9BB4"/>
                </a:solidFill>
                <a:latin typeface="Consolas"/>
              </a:rPr>
              <a:t>=== HOOK OUTPUT (stdout) ===</a:t>
            </a:r>
          </a:p>
          <a:p>
            <a:pPr algn="l">
              <a:lnSpc>
                <a:spcPct val="132000"/>
              </a:lnSpc>
              <a:spcAft>
                <a:spcPts val="200"/>
              </a:spcAft>
            </a:pPr>
            <a:r>
              <a:rPr sz="1300" b="0" i="0">
                <a:solidFill>
                  <a:srgbClr val="8B9BB4"/>
                </a:solidFill>
                <a:latin typeface="Consolas"/>
              </a:rPr>
              <a:t>(пусто)</a:t>
            </a:r>
          </a:p>
          <a:p>
            <a:pPr algn="l">
              <a:lnSpc>
                <a:spcPct val="132000"/>
              </a:lnSpc>
              <a:spcAft>
                <a:spcPts val="200"/>
              </a:spcAft>
            </a:pPr>
            <a:r>
              <a:rPr sz="1300" b="0" i="0">
                <a:solidFill>
                  <a:srgbClr val="6FB06A"/>
                </a:solidFill>
                <a:latin typeface="Consolas"/>
              </a:rPr>
              <a:t>=== hook exit code: 0 (empty stdout = not blocked, commit proceeds) ===</a:t>
            </a:r>
          </a:p>
        </p:txBody>
      </p:sp>
      <p:sp>
        <p:nvSpPr>
          <p:cNvPr id="6" name="TextBox 5"/>
          <p:cNvSpPr txBox="1"/>
          <p:nvPr/>
        </p:nvSpPr>
        <p:spPr>
          <a:xfrm>
            <a:off x="502920" y="5394960"/>
            <a:ext cx="11183112" cy="457200"/>
          </a:xfrm>
          <a:prstGeom prst="rect">
            <a:avLst/>
          </a:prstGeom>
          <a:noFill/>
        </p:spPr>
        <p:txBody>
          <a:bodyPr wrap="square" lIns="0" rIns="0" tIns="0" bIns="0" anchor="t">
            <a:spAutoFit/>
          </a:bodyPr>
          <a:lstStyle/>
          <a:p>
            <a:pPr algn="l">
              <a:lnSpc>
                <a:spcPct val="125000"/>
              </a:lnSpc>
            </a:pPr>
            <a:r>
              <a:rPr sz="1300" b="0" i="1">
                <a:solidFill>
                  <a:srgbClr val="6B7685"/>
                </a:solidFill>
                <a:latin typeface="Arial"/>
              </a:rPr>
              <a:t>Источник: captures/07-hook-allow-feature-branch.txt — перенесено дословно</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ХУК В ДЕЙСТВИИ</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100" b="1" i="0">
                <a:solidFill>
                  <a:srgbClr val="21295C"/>
                </a:solidFill>
                <a:latin typeface="Arial"/>
              </a:rPr>
              <a:t>Вне репозитория: ask, не тихое allow</a:t>
            </a:r>
          </a:p>
        </p:txBody>
      </p:sp>
      <p:sp>
        <p:nvSpPr>
          <p:cNvPr id="4" name="Rounded Rectangle 3"/>
          <p:cNvSpPr/>
          <p:nvPr/>
        </p:nvSpPr>
        <p:spPr>
          <a:xfrm>
            <a:off x="502920" y="1920240"/>
            <a:ext cx="11183112" cy="3291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21408"/>
            <a:ext cx="10780776" cy="2889504"/>
          </a:xfrm>
          <a:prstGeom prst="rect">
            <a:avLst/>
          </a:prstGeom>
          <a:noFill/>
        </p:spPr>
        <p:txBody>
          <a:bodyPr wrap="square" lIns="0" rIns="0" tIns="0" bIns="0" anchor="t">
            <a:spAutoFit/>
          </a:bodyPr>
          <a:lstStyle/>
          <a:p>
            <a:pPr algn="l">
              <a:lnSpc>
                <a:spcPct val="132000"/>
              </a:lnSpc>
              <a:spcAft>
                <a:spcPts val="200"/>
              </a:spcAft>
            </a:pPr>
            <a:r>
              <a:rPr sz="1300" b="0" i="0">
                <a:solidFill>
                  <a:srgbClr val="8B9BB4"/>
                </a:solidFill>
                <a:latin typeface="Consolas"/>
              </a:rPr>
              <a:t>=== каталог: /tmp/no-repo-demo (git init НЕ выполнялся) ===</a:t>
            </a:r>
          </a:p>
          <a:p>
            <a:pPr algn="l">
              <a:lnSpc>
                <a:spcPct val="132000"/>
              </a:lnSpc>
              <a:spcAft>
                <a:spcPts val="200"/>
              </a:spcAft>
            </a:pPr>
            <a:r>
              <a:rPr sz="1300" b="1" i="0">
                <a:solidFill>
                  <a:srgbClr val="028090"/>
                </a:solidFill>
                <a:latin typeface="Consolas"/>
              </a:rPr>
              <a:t>$ git rev-parse --is-inside-work-tree</a:t>
            </a:r>
          </a:p>
          <a:p>
            <a:pPr algn="l">
              <a:lnSpc>
                <a:spcPct val="132000"/>
              </a:lnSpc>
              <a:spcAft>
                <a:spcPts val="200"/>
              </a:spcAft>
            </a:pPr>
            <a:r>
              <a:rPr sz="1300" b="0" i="0">
                <a:solidFill>
                  <a:srgbClr val="8A2A2A"/>
                </a:solidFill>
                <a:latin typeface="Consolas"/>
              </a:rPr>
              <a:t>fatal: not a git repository (or any of the parent directories): .git</a:t>
            </a:r>
          </a:p>
          <a:p>
            <a:pPr algn="l">
              <a:lnSpc>
                <a:spcPct val="132000"/>
              </a:lnSpc>
              <a:spcAft>
                <a:spcPts val="200"/>
              </a:spcAft>
            </a:pPr>
            <a:r>
              <a:rPr sz="1300" b="0" i="0">
                <a:solidFill>
                  <a:srgbClr val="8B9BB4"/>
                </a:solidFill>
                <a:latin typeface="Consolas"/>
              </a:rPr>
              <a:t>(exit code: 128)</a:t>
            </a:r>
          </a:p>
          <a:p>
            <a:pPr algn="l">
              <a:lnSpc>
                <a:spcPct val="132000"/>
              </a:lnSpc>
              <a:spcAft>
                <a:spcPts val="200"/>
              </a:spcAft>
            </a:pPr>
            <a:r>
              <a:rPr sz="1300" b="0" i="0">
                <a:solidFill>
                  <a:srgbClr val="8B9BB4"/>
                </a:solidFill>
                <a:latin typeface="Consolas"/>
              </a:rPr>
              <a:t>=== HOOK OUTPUT (stdout) ===</a:t>
            </a:r>
          </a:p>
          <a:p>
            <a:pPr algn="l">
              <a:lnSpc>
                <a:spcPct val="132000"/>
              </a:lnSpc>
              <a:spcAft>
                <a:spcPts val="200"/>
              </a:spcAft>
            </a:pPr>
            <a:r>
              <a:rPr sz="1300" b="0" i="0">
                <a:solidFill>
                  <a:srgbClr val="F0AB00"/>
                </a:solidFill>
                <a:latin typeface="Consolas"/>
              </a:rPr>
              <a:t>{"permissionDecision":"ask","permissionDecisionReason":</a:t>
            </a:r>
          </a:p>
          <a:p>
            <a:pPr algn="l">
              <a:lnSpc>
                <a:spcPct val="132000"/>
              </a:lnSpc>
              <a:spcAft>
                <a:spcPts val="200"/>
              </a:spcAft>
            </a:pPr>
            <a:r>
              <a:rPr sz="1300" b="0" i="0">
                <a:solidFill>
                  <a:srgbClr val="F0AB00"/>
                </a:solidFill>
                <a:latin typeface="Consolas"/>
              </a:rPr>
              <a:t> "WARNING: branch-protection gate inactive — this is not a</a:t>
            </a:r>
          </a:p>
          <a:p>
            <a:pPr algn="l">
              <a:lnSpc>
                <a:spcPct val="132000"/>
              </a:lnSpc>
              <a:spcAft>
                <a:spcPts val="200"/>
              </a:spcAft>
            </a:pPr>
            <a:r>
              <a:rPr sz="1300" b="0" i="0">
                <a:solidFill>
                  <a:srgbClr val="F0AB00"/>
                </a:solidFill>
                <a:latin typeface="Consolas"/>
              </a:rPr>
              <a:t>  git repository yet ... run git init first"}</a:t>
            </a:r>
          </a:p>
        </p:txBody>
      </p:sp>
      <p:sp>
        <p:nvSpPr>
          <p:cNvPr id="6" name="TextBox 5"/>
          <p:cNvSpPr txBox="1"/>
          <p:nvPr/>
        </p:nvSpPr>
        <p:spPr>
          <a:xfrm>
            <a:off x="502920" y="5394960"/>
            <a:ext cx="11183112" cy="457200"/>
          </a:xfrm>
          <a:prstGeom prst="rect">
            <a:avLst/>
          </a:prstGeom>
          <a:noFill/>
        </p:spPr>
        <p:txBody>
          <a:bodyPr wrap="square" lIns="0" rIns="0" tIns="0" bIns="0" anchor="t">
            <a:spAutoFit/>
          </a:bodyPr>
          <a:lstStyle/>
          <a:p>
            <a:pPr algn="l">
              <a:lnSpc>
                <a:spcPct val="125000"/>
              </a:lnSpc>
            </a:pPr>
            <a:r>
              <a:rPr sz="1300" b="0" i="1">
                <a:solidFill>
                  <a:srgbClr val="6B7685"/>
                </a:solidFill>
                <a:latin typeface="Arial"/>
              </a:rPr>
              <a:t>Источник: captures/09-hook-ask-no-repo.txt — перенесено дословно</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ПРОВАЛ</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Вредоносный хук выполнился раньше, чем диалог доверия к папке вообще появился на экране</a:t>
            </a:r>
          </a:p>
        </p:txBody>
      </p:sp>
      <p:sp>
        <p:nvSpPr>
          <p:cNvPr id="4" name="Rounded Rectangle 3"/>
          <p:cNvSpPr/>
          <p:nvPr/>
        </p:nvSpPr>
        <p:spPr>
          <a:xfrm>
            <a:off x="502920" y="1783080"/>
            <a:ext cx="11183112" cy="2331720"/>
          </a:xfrm>
          <a:prstGeom prst="roundRect">
            <a:avLst>
              <a:gd name="adj" fmla="val 1307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22376" y="2002536"/>
            <a:ext cx="384048" cy="384048"/>
          </a:xfrm>
          <a:prstGeom prst="rect">
            <a:avLst/>
          </a:prstGeom>
        </p:spPr>
      </p:pic>
      <p:sp>
        <p:nvSpPr>
          <p:cNvPr id="6" name="TextBox 5"/>
          <p:cNvSpPr txBox="1"/>
          <p:nvPr/>
        </p:nvSpPr>
        <p:spPr>
          <a:xfrm>
            <a:off x="1252728" y="1984248"/>
            <a:ext cx="1021384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CVE-2025-59536, CVSS 8.7</a:t>
            </a:r>
          </a:p>
        </p:txBody>
      </p:sp>
      <p:sp>
        <p:nvSpPr>
          <p:cNvPr id="7" name="TextBox 6"/>
          <p:cNvSpPr txBox="1"/>
          <p:nvPr/>
        </p:nvSpPr>
        <p:spPr>
          <a:xfrm>
            <a:off x="722376" y="2441448"/>
            <a:ext cx="10744200" cy="117957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Вредоносный хук на SessionStart в чужом .claude/settings.json выполнялся сразу после клонирования репозитория и запуска claude — команды из хука уже отработали к моменту, когда диалог доверия к папке вообще появился на экране.</a:t>
            </a:r>
          </a:p>
        </p:txBody>
      </p:sp>
      <p:sp>
        <p:nvSpPr>
          <p:cNvPr id="8" name="TextBox 7"/>
          <p:cNvSpPr txBox="1"/>
          <p:nvPr/>
        </p:nvSpPr>
        <p:spPr>
          <a:xfrm>
            <a:off x="722376" y="3639311"/>
            <a:ext cx="10744200" cy="256032"/>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Check Point Research; найдено 21.07.2025, патч 26.08.2025, advisory 29.08.2025</a:t>
            </a:r>
          </a:p>
        </p:txBody>
      </p:sp>
      <p:sp>
        <p:nvSpPr>
          <p:cNvPr id="9" name="Rounded Rectangle 8"/>
          <p:cNvSpPr/>
          <p:nvPr/>
        </p:nvSpPr>
        <p:spPr>
          <a:xfrm>
            <a:off x="502920" y="4370832"/>
            <a:ext cx="11183112" cy="2331720"/>
          </a:xfrm>
          <a:prstGeom prst="roundRect">
            <a:avLst>
              <a:gd name="adj" fmla="val 13071"/>
            </a:avLst>
          </a:prstGeom>
          <a:solidFill>
            <a:srgbClr val="FEF5E0"/>
          </a:solidFill>
          <a:ln w="20320">
            <a:solidFill>
              <a:srgbClr val="F0AB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volume-x-8A6200-96.png"/>
          <p:cNvPicPr>
            <a:picLocks noChangeAspect="1"/>
          </p:cNvPicPr>
          <p:nvPr/>
        </p:nvPicPr>
        <p:blipFill>
          <a:blip r:embed="rId3"/>
          <a:stretch>
            <a:fillRect/>
          </a:stretch>
        </p:blipFill>
        <p:spPr>
          <a:xfrm>
            <a:off x="722376" y="4590288"/>
            <a:ext cx="384048" cy="384048"/>
          </a:xfrm>
          <a:prstGeom prst="rect">
            <a:avLst/>
          </a:prstGeom>
        </p:spPr>
      </p:pic>
      <p:sp>
        <p:nvSpPr>
          <p:cNvPr id="11" name="TextBox 10"/>
          <p:cNvSpPr txBox="1"/>
          <p:nvPr/>
        </p:nvSpPr>
        <p:spPr>
          <a:xfrm>
            <a:off x="1252728" y="4572000"/>
            <a:ext cx="10213848" cy="365760"/>
          </a:xfrm>
          <a:prstGeom prst="rect">
            <a:avLst/>
          </a:prstGeom>
          <a:noFill/>
        </p:spPr>
        <p:txBody>
          <a:bodyPr wrap="square" lIns="0" rIns="0" tIns="0" bIns="0" anchor="t">
            <a:spAutoFit/>
          </a:bodyPr>
          <a:lstStyle/>
          <a:p>
            <a:pPr algn="l">
              <a:lnSpc>
                <a:spcPct val="115000"/>
              </a:lnSpc>
            </a:pPr>
            <a:r>
              <a:rPr sz="1400" b="1" i="0">
                <a:solidFill>
                  <a:srgbClr val="8A6200"/>
                </a:solidFill>
                <a:latin typeface="Arial"/>
              </a:rPr>
              <a:t>Второй слой: тихие несрабатывания</a:t>
            </a:r>
          </a:p>
        </p:txBody>
      </p:sp>
      <p:sp>
        <p:nvSpPr>
          <p:cNvPr id="12" name="TextBox 11"/>
          <p:cNvSpPr txBox="1"/>
          <p:nvPr/>
        </p:nvSpPr>
        <p:spPr>
          <a:xfrm>
            <a:off x="722376" y="5029200"/>
            <a:ext cx="10744200" cy="145389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Один невалидный matcher в settings.json отключает все хуки файла целиком, без единой ошибки в интерфейсе. PreToolUse-хук, не уложившийся в таймаут, не блокирует — просто отваливается. Субагенты не запускают родительские хуки. «when a gate doesn't fire, nothing happens, which is exactly what a passing gate looks like».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3 · КРИТЕРИЙ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300" b="1" i="0">
                <a:solidFill>
                  <a:srgbClr val="21295C"/>
                </a:solidFill>
                <a:latin typeface="Arial"/>
              </a:rPr>
              <a:t>Здесь ещё не нужно</a:t>
            </a:r>
          </a:p>
        </p:txBody>
      </p:sp>
      <p:sp>
        <p:nvSpPr>
          <p:cNvPr id="4" name="Rounded Rectangle 3"/>
          <p:cNvSpPr/>
          <p:nvPr/>
        </p:nvSpPr>
        <p:spPr>
          <a:xfrm>
            <a:off x="502920" y="1783080"/>
            <a:ext cx="11183112" cy="1993391"/>
          </a:xfrm>
          <a:prstGeom prst="roundRect">
            <a:avLst>
              <a:gd name="adj" fmla="val 8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47672"/>
            <a:ext cx="10607040" cy="1664207"/>
          </a:xfrm>
          <a:prstGeom prst="rect">
            <a:avLst/>
          </a:prstGeom>
          <a:noFill/>
        </p:spPr>
        <p:txBody>
          <a:bodyPr wrap="square" lIns="0" rIns="0" tIns="0" bIns="0" anchor="t">
            <a:spAutoFit/>
          </a:bodyPr>
          <a:lstStyle/>
          <a:p>
            <a:pPr algn="l">
              <a:lnSpc>
                <a:spcPct val="128000"/>
              </a:lnSpc>
              <a:spcAft>
                <a:spcPts val="600"/>
              </a:spcAft>
            </a:pPr>
            <a:r>
              <a:rPr sz="1350" b="1" i="0">
                <a:solidFill>
                  <a:srgbClr val="21295C"/>
                </a:solidFill>
                <a:latin typeface="Arial"/>
              </a:rPr>
              <a:t>проверка дешевле реализуется в CI или линтере на PR, чем на каждый PostToolUse интерактивной сессии</a:t>
            </a:r>
          </a:p>
          <a:p>
            <a:pPr algn="l">
              <a:lnSpc>
                <a:spcPct val="128000"/>
              </a:lnSpc>
              <a:spcAft>
                <a:spcPts val="600"/>
              </a:spcAft>
            </a:pPr>
            <a:r>
              <a:rPr sz="1350" b="1" i="0">
                <a:solidFill>
                  <a:srgbClr val="21295C"/>
                </a:solidFill>
                <a:latin typeface="Arial"/>
              </a:rPr>
              <a:t>хук становится тормозом при стекировании — раздутие не даёт явной ошибки, просто всё замедляется</a:t>
            </a:r>
          </a:p>
          <a:p>
            <a:pPr algn="l">
              <a:lnSpc>
                <a:spcPct val="128000"/>
              </a:lnSpc>
              <a:spcAft>
                <a:spcPts val="600"/>
              </a:spcAft>
            </a:pPr>
            <a:r>
              <a:rPr sz="1350" b="1" i="0">
                <a:solidFill>
                  <a:srgbClr val="21295C"/>
                </a:solidFill>
                <a:latin typeface="Arial"/>
              </a:rPr>
              <a:t>правило по сути не механизируемо — суждение вроде «не переусложняй» честнее оставить человеку</a:t>
            </a:r>
          </a:p>
          <a:p>
            <a:pPr algn="l">
              <a:lnSpc>
                <a:spcPct val="128000"/>
              </a:lnSpc>
              <a:spcAft>
                <a:spcPts val="600"/>
              </a:spcAft>
            </a:pPr>
            <a:r>
              <a:rPr sz="1350" b="1" i="0">
                <a:solidFill>
                  <a:srgbClr val="21295C"/>
                </a:solidFill>
                <a:latin typeface="Arial"/>
              </a:rPr>
              <a:t>соло-разработчик с ограниченной зоной поражения ошибки — риск ещё не стал реальным</a:t>
            </a:r>
          </a:p>
        </p:txBody>
      </p:sp>
      <p:sp>
        <p:nvSpPr>
          <p:cNvPr id="6" name="Rounded Rectangle 5"/>
          <p:cNvSpPr/>
          <p:nvPr/>
        </p:nvSpPr>
        <p:spPr>
          <a:xfrm>
            <a:off x="502920" y="4032504"/>
            <a:ext cx="11183112" cy="2157984"/>
          </a:xfrm>
          <a:prstGeom prst="roundRect">
            <a:avLst>
              <a:gd name="adj" fmla="val 1412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233672"/>
            <a:ext cx="1828800"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БАЗА</a:t>
            </a:r>
          </a:p>
        </p:txBody>
      </p:sp>
      <p:sp>
        <p:nvSpPr>
          <p:cNvPr id="8" name="TextBox 7"/>
          <p:cNvSpPr txBox="1"/>
          <p:nvPr/>
        </p:nvSpPr>
        <p:spPr>
          <a:xfrm>
            <a:off x="704088" y="4544568"/>
            <a:ext cx="10780776" cy="713232"/>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Хук — правило, которое среда исполняет сама, не спрашивая согласия агента, как турникет вместо таблички «пожалуйста, платите».</a:t>
            </a:r>
          </a:p>
        </p:txBody>
      </p:sp>
      <p:sp>
        <p:nvSpPr>
          <p:cNvPr id="9" name="Rectangle 8"/>
          <p:cNvSpPr/>
          <p:nvPr/>
        </p:nvSpPr>
        <p:spPr>
          <a:xfrm>
            <a:off x="704088" y="5367528"/>
            <a:ext cx="10780776" cy="1828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495544"/>
            <a:ext cx="10780776" cy="621792"/>
          </a:xfrm>
          <a:prstGeom prst="rect">
            <a:avLst/>
          </a:prstGeom>
          <a:noFill/>
        </p:spPr>
        <p:txBody>
          <a:bodyPr wrap="square" lIns="0" rIns="0" tIns="0" bIns="0" anchor="t">
            <a:spAutoFit/>
          </a:bodyPr>
          <a:lstStyle/>
          <a:p>
            <a:pPr algn="l">
              <a:lnSpc>
                <a:spcPct val="125000"/>
              </a:lnSpc>
            </a:pPr>
            <a:r>
              <a:rPr sz="1150" b="0" i="1">
                <a:solidFill>
                  <a:srgbClr val="6B7685"/>
                </a:solidFill>
                <a:latin typeface="Arial"/>
              </a:rPr>
              <a:t>Нюанс: deny в permissions всегда побеждает allow, даже более узкий и точный. «hook bloat has no error message. Nothing fails. Everything just gets slower, gradually».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4</a:t>
            </a:r>
          </a:p>
        </p:txBody>
      </p:sp>
      <p:sp>
        <p:nvSpPr>
          <p:cNvPr id="4" name="TextBox 3"/>
          <p:cNvSpPr txBox="1"/>
          <p:nvPr/>
        </p:nvSpPr>
        <p:spPr>
          <a:xfrm>
            <a:off x="3017520" y="2331720"/>
            <a:ext cx="7498079" cy="1188720"/>
          </a:xfrm>
          <a:prstGeom prst="rect">
            <a:avLst/>
          </a:prstGeom>
          <a:noFill/>
        </p:spPr>
        <p:txBody>
          <a:bodyPr wrap="square" lIns="0" rIns="0" tIns="0" bIns="0" anchor="ctr">
            <a:spAutoFit/>
          </a:bodyPr>
          <a:lstStyle/>
          <a:p>
            <a:pPr algn="l">
              <a:lnSpc>
                <a:spcPct val="105000"/>
              </a:lnSpc>
            </a:pPr>
            <a:r>
              <a:rPr sz="4400" b="1" i="0">
                <a:solidFill>
                  <a:srgbClr val="FFFFFF"/>
                </a:solidFill>
                <a:latin typeface="Arial"/>
              </a:rPr>
              <a:t>Скиллы</a:t>
            </a:r>
          </a:p>
        </p:txBody>
      </p:sp>
      <p:sp>
        <p:nvSpPr>
          <p:cNvPr id="5" name="Rounded Rectangle 4"/>
          <p:cNvSpPr/>
          <p:nvPr/>
        </p:nvSpPr>
        <p:spPr>
          <a:xfrm>
            <a:off x="3063240" y="3611880"/>
            <a:ext cx="7315200" cy="457200"/>
          </a:xfrm>
          <a:prstGeom prst="roundRect">
            <a:avLst>
              <a:gd name="adj" fmla="val 50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none"/>
          <a:lstStyle/>
          <a:p>
            <a:pPr algn="ctr"/>
            <a:r>
              <a:rPr sz="1300" b="1">
                <a:solidFill>
                  <a:srgbClr val="F0AB00"/>
                </a:solidFill>
                <a:latin typeface="Arial"/>
              </a:rPr>
              <a:t>РЕДКАЯ ПРОЦЕДУРА → ЛИШНИЙ ГРУЗ В КАЖДОЙ СЕССИИ</a:t>
            </a:r>
          </a:p>
        </p:txBody>
      </p:sp>
      <p:sp>
        <p:nvSpPr>
          <p:cNvPr id="6" name="Rounded Rectangle 5"/>
          <p:cNvSpPr/>
          <p:nvPr/>
        </p:nvSpPr>
        <p:spPr>
          <a:xfrm>
            <a:off x="9326880" y="3977640"/>
            <a:ext cx="2194560" cy="219456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open-F0AB00-128.png"/>
          <p:cNvPicPr>
            <a:picLocks noChangeAspect="1"/>
          </p:cNvPicPr>
          <p:nvPr/>
        </p:nvPicPr>
        <p:blipFill>
          <a:blip r:embed="rId2"/>
          <a:stretch>
            <a:fillRect/>
          </a:stretch>
        </p:blipFill>
        <p:spPr>
          <a:xfrm>
            <a:off x="9646920" y="4297680"/>
            <a:ext cx="1554480" cy="15544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СЦЕНАРИЙ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Сорок строк процедуры деплоя грузятся в каждую сессию, даже когда речь о мелком баг-фиксе</a:t>
            </a:r>
          </a:p>
        </p:txBody>
      </p:sp>
      <p:sp>
        <p:nvSpPr>
          <p:cNvPr id="4" name="Rounded Rectangle 3"/>
          <p:cNvSpPr/>
          <p:nvPr/>
        </p:nvSpPr>
        <p:spPr>
          <a:xfrm>
            <a:off x="502920" y="1737360"/>
            <a:ext cx="11183112" cy="1600200"/>
          </a:xfrm>
          <a:prstGeom prst="roundRect">
            <a:avLst>
              <a:gd name="adj" fmla="val 19047"/>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21295C-96.png"/>
          <p:cNvPicPr>
            <a:picLocks noChangeAspect="1"/>
          </p:cNvPicPr>
          <p:nvPr/>
        </p:nvPicPr>
        <p:blipFill>
          <a:blip r:embed="rId2"/>
          <a:stretch>
            <a:fillRect/>
          </a:stretch>
        </p:blipFill>
        <p:spPr>
          <a:xfrm>
            <a:off x="722376" y="1956815"/>
            <a:ext cx="384048" cy="384048"/>
          </a:xfrm>
          <a:prstGeom prst="rect">
            <a:avLst/>
          </a:prstGeom>
        </p:spPr>
      </p:pic>
      <p:sp>
        <p:nvSpPr>
          <p:cNvPr id="6" name="TextBox 5"/>
          <p:cNvSpPr txBox="1"/>
          <p:nvPr/>
        </p:nvSpPr>
        <p:spPr>
          <a:xfrm>
            <a:off x="1252728" y="1938527"/>
            <a:ext cx="1021384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В CLAUDE.md накопилось 40 строк</a:t>
            </a:r>
          </a:p>
        </p:txBody>
      </p:sp>
      <p:sp>
        <p:nvSpPr>
          <p:cNvPr id="7" name="TextBox 6"/>
          <p:cNvSpPr txBox="1"/>
          <p:nvPr/>
        </p:nvSpPr>
        <p:spPr>
          <a:xfrm>
            <a:off x="722376" y="2395727"/>
            <a:ext cx="10744200" cy="722376"/>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Процедура деплоя на прод — собрать, прогнать smoke-тест формы, опубликовать на Cloudflare Pages, проверить прод-URL. Нужна раз в две недели. Но грузится в контекст каждой сессии — даже когда вы просто чините баг в вёрстке.</a:t>
            </a:r>
          </a:p>
        </p:txBody>
      </p:sp>
      <p:sp>
        <p:nvSpPr>
          <p:cNvPr id="8" name="Rounded Rectangle 7"/>
          <p:cNvSpPr/>
          <p:nvPr/>
        </p:nvSpPr>
        <p:spPr>
          <a:xfrm>
            <a:off x="502920" y="3538728"/>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3611880"/>
            <a:ext cx="10780776" cy="81381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 CLAUDE.md этого сайта накопилась процедура деплоя на 40 строк, нужна раз в две недели. Она грузится в контекст каждой сессии, даже когда вы просто чините баг в форме. Куда её вынести — и как сделать так, чтобы агент сам понял, когда её открыть?»</a:t>
            </a:r>
          </a:p>
        </p:txBody>
      </p:sp>
      <p:sp>
        <p:nvSpPr>
          <p:cNvPr id="10" name="Rounded Rectangle 9"/>
          <p:cNvSpPr/>
          <p:nvPr/>
        </p:nvSpPr>
        <p:spPr>
          <a:xfrm>
            <a:off x="50292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Оставлю
«на всякий случай»</a:t>
            </a:r>
          </a:p>
        </p:txBody>
      </p:sp>
      <p:sp>
        <p:nvSpPr>
          <p:cNvPr id="12" name="Rounded Rectangle 11"/>
          <p:cNvSpPr/>
          <p:nvPr/>
        </p:nvSpPr>
        <p:spPr>
          <a:xfrm>
            <a:off x="334899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529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Вынесу, сошлюсь
@-импортом</a:t>
            </a:r>
          </a:p>
        </p:txBody>
      </p:sp>
      <p:sp>
        <p:nvSpPr>
          <p:cNvPr id="14" name="Rounded Rectangle 13"/>
          <p:cNvSpPr/>
          <p:nvPr/>
        </p:nvSpPr>
        <p:spPr>
          <a:xfrm>
            <a:off x="619506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136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Заведу файл,
буду сам напоминать</a:t>
            </a:r>
          </a:p>
        </p:txBody>
      </p:sp>
      <p:sp>
        <p:nvSpPr>
          <p:cNvPr id="16" name="Rounded Rectangle 15"/>
          <p:cNvSpPr/>
          <p:nvPr/>
        </p:nvSpPr>
        <p:spPr>
          <a:xfrm>
            <a:off x="904113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743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Скилл
с description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МЕХАНИКА</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200" b="1" i="0">
                <a:solidFill>
                  <a:srgbClr val="21295C"/>
                </a:solidFill>
                <a:latin typeface="Arial"/>
              </a:rPr>
              <a:t>Скилл читается в три уровня — грузится всегда только первый</a:t>
            </a:r>
          </a:p>
        </p:txBody>
      </p:sp>
      <p:sp>
        <p:nvSpPr>
          <p:cNvPr id="4" name="Rounded Rectangle 3"/>
          <p:cNvSpPr/>
          <p:nvPr/>
        </p:nvSpPr>
        <p:spPr>
          <a:xfrm>
            <a:off x="502920" y="1828800"/>
            <a:ext cx="11183112"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29968"/>
            <a:ext cx="2298618" cy="365760"/>
          </a:xfrm>
          <a:prstGeom prst="rect">
            <a:avLst/>
          </a:prstGeom>
          <a:noFill/>
        </p:spPr>
        <p:txBody>
          <a:bodyPr wrap="square" lIns="0" rIns="0" tIns="0" bIns="0" anchor="t">
            <a:spAutoFit/>
          </a:bodyPr>
          <a:lstStyle/>
          <a:p>
            <a:pPr algn="l">
              <a:lnSpc>
                <a:spcPct val="115000"/>
              </a:lnSpc>
            </a:pPr>
            <a:r>
              <a:rPr sz="1300" b="1" i="0">
                <a:solidFill>
                  <a:srgbClr val="6B7685"/>
                </a:solidFill>
                <a:latin typeface="Arial"/>
              </a:rPr>
              <a:t>Уровень</a:t>
            </a:r>
          </a:p>
        </p:txBody>
      </p:sp>
      <p:sp>
        <p:nvSpPr>
          <p:cNvPr id="6" name="TextBox 5"/>
          <p:cNvSpPr txBox="1"/>
          <p:nvPr/>
        </p:nvSpPr>
        <p:spPr>
          <a:xfrm>
            <a:off x="3075858" y="2029968"/>
            <a:ext cx="2945465" cy="365760"/>
          </a:xfrm>
          <a:prstGeom prst="rect">
            <a:avLst/>
          </a:prstGeom>
          <a:noFill/>
        </p:spPr>
        <p:txBody>
          <a:bodyPr wrap="square" lIns="0" rIns="0" tIns="0" bIns="0" anchor="t">
            <a:spAutoFit/>
          </a:bodyPr>
          <a:lstStyle/>
          <a:p>
            <a:pPr algn="l">
              <a:lnSpc>
                <a:spcPct val="115000"/>
              </a:lnSpc>
            </a:pPr>
            <a:r>
              <a:rPr sz="1300" b="1" i="0">
                <a:solidFill>
                  <a:srgbClr val="6B7685"/>
                </a:solidFill>
                <a:latin typeface="Arial"/>
              </a:rPr>
              <a:t>Когда грузится</a:t>
            </a:r>
          </a:p>
        </p:txBody>
      </p:sp>
      <p:sp>
        <p:nvSpPr>
          <p:cNvPr id="7" name="TextBox 6"/>
          <p:cNvSpPr txBox="1"/>
          <p:nvPr/>
        </p:nvSpPr>
        <p:spPr>
          <a:xfrm>
            <a:off x="6094476" y="2029968"/>
            <a:ext cx="2298618" cy="365760"/>
          </a:xfrm>
          <a:prstGeom prst="rect">
            <a:avLst/>
          </a:prstGeom>
          <a:noFill/>
        </p:spPr>
        <p:txBody>
          <a:bodyPr wrap="square" lIns="0" rIns="0" tIns="0" bIns="0" anchor="t">
            <a:spAutoFit/>
          </a:bodyPr>
          <a:lstStyle/>
          <a:p>
            <a:pPr algn="l">
              <a:lnSpc>
                <a:spcPct val="115000"/>
              </a:lnSpc>
            </a:pPr>
            <a:r>
              <a:rPr sz="1300" b="1" i="0">
                <a:solidFill>
                  <a:srgbClr val="6B7685"/>
                </a:solidFill>
                <a:latin typeface="Arial"/>
              </a:rPr>
              <a:t>Стоимость</a:t>
            </a:r>
          </a:p>
        </p:txBody>
      </p:sp>
      <p:sp>
        <p:nvSpPr>
          <p:cNvPr id="8" name="TextBox 7"/>
          <p:cNvSpPr txBox="1"/>
          <p:nvPr/>
        </p:nvSpPr>
        <p:spPr>
          <a:xfrm>
            <a:off x="8466246" y="2029968"/>
            <a:ext cx="2945465" cy="365760"/>
          </a:xfrm>
          <a:prstGeom prst="rect">
            <a:avLst/>
          </a:prstGeom>
          <a:noFill/>
        </p:spPr>
        <p:txBody>
          <a:bodyPr wrap="square" lIns="0" rIns="0" tIns="0" bIns="0" anchor="t">
            <a:spAutoFit/>
          </a:bodyPr>
          <a:lstStyle/>
          <a:p>
            <a:pPr algn="l">
              <a:lnSpc>
                <a:spcPct val="115000"/>
              </a:lnSpc>
            </a:pPr>
            <a:r>
              <a:rPr sz="1300" b="1" i="0">
                <a:solidFill>
                  <a:srgbClr val="6B7685"/>
                </a:solidFill>
                <a:latin typeface="Arial"/>
              </a:rPr>
              <a:t>Содержимое</a:t>
            </a:r>
          </a:p>
        </p:txBody>
      </p:sp>
      <p:sp>
        <p:nvSpPr>
          <p:cNvPr id="9" name="Rectangle 8"/>
          <p:cNvSpPr/>
          <p:nvPr/>
        </p:nvSpPr>
        <p:spPr>
          <a:xfrm>
            <a:off x="557784" y="2468880"/>
            <a:ext cx="11073384" cy="633983"/>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68880"/>
            <a:ext cx="2280330" cy="633983"/>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1. Метаданные</a:t>
            </a:r>
          </a:p>
        </p:txBody>
      </p:sp>
      <p:sp>
        <p:nvSpPr>
          <p:cNvPr id="11" name="TextBox 10"/>
          <p:cNvSpPr txBox="1"/>
          <p:nvPr/>
        </p:nvSpPr>
        <p:spPr>
          <a:xfrm>
            <a:off x="3075858" y="2468880"/>
            <a:ext cx="2927177" cy="633983"/>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всегда, при старте сессии</a:t>
            </a:r>
          </a:p>
        </p:txBody>
      </p:sp>
      <p:sp>
        <p:nvSpPr>
          <p:cNvPr id="12" name="TextBox 11"/>
          <p:cNvSpPr txBox="1"/>
          <p:nvPr/>
        </p:nvSpPr>
        <p:spPr>
          <a:xfrm>
            <a:off x="6094476" y="2468880"/>
            <a:ext cx="2280330" cy="633983"/>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≈100 токенов</a:t>
            </a:r>
          </a:p>
        </p:txBody>
      </p:sp>
      <p:sp>
        <p:nvSpPr>
          <p:cNvPr id="13" name="TextBox 12"/>
          <p:cNvSpPr txBox="1"/>
          <p:nvPr/>
        </p:nvSpPr>
        <p:spPr>
          <a:xfrm>
            <a:off x="8466246" y="2468880"/>
            <a:ext cx="2927177" cy="633983"/>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name + description</a:t>
            </a:r>
          </a:p>
        </p:txBody>
      </p:sp>
      <p:cxnSp>
        <p:nvCxnSpPr>
          <p:cNvPr id="14" name="Connector 13"/>
          <p:cNvCxnSpPr/>
          <p:nvPr/>
        </p:nvCxnSpPr>
        <p:spPr>
          <a:xfrm>
            <a:off x="704088" y="3102864"/>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04088" y="3102864"/>
            <a:ext cx="2280330" cy="633983"/>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2. Инструкции</a:t>
            </a:r>
          </a:p>
        </p:txBody>
      </p:sp>
      <p:sp>
        <p:nvSpPr>
          <p:cNvPr id="16" name="TextBox 15"/>
          <p:cNvSpPr txBox="1"/>
          <p:nvPr/>
        </p:nvSpPr>
        <p:spPr>
          <a:xfrm>
            <a:off x="3075858" y="3102864"/>
            <a:ext cx="2927177" cy="633983"/>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при срабатывании</a:t>
            </a:r>
          </a:p>
        </p:txBody>
      </p:sp>
      <p:sp>
        <p:nvSpPr>
          <p:cNvPr id="17" name="TextBox 16"/>
          <p:cNvSpPr txBox="1"/>
          <p:nvPr/>
        </p:nvSpPr>
        <p:spPr>
          <a:xfrm>
            <a:off x="6094476" y="3102864"/>
            <a:ext cx="2280330" cy="633983"/>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&lt;5000 токенов</a:t>
            </a:r>
          </a:p>
        </p:txBody>
      </p:sp>
      <p:sp>
        <p:nvSpPr>
          <p:cNvPr id="18" name="TextBox 17"/>
          <p:cNvSpPr txBox="1"/>
          <p:nvPr/>
        </p:nvSpPr>
        <p:spPr>
          <a:xfrm>
            <a:off x="8466246" y="3102864"/>
            <a:ext cx="2927177" cy="633983"/>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тело SKILL.md</a:t>
            </a:r>
          </a:p>
        </p:txBody>
      </p:sp>
      <p:cxnSp>
        <p:nvCxnSpPr>
          <p:cNvPr id="19" name="Connector 18"/>
          <p:cNvCxnSpPr/>
          <p:nvPr/>
        </p:nvCxnSpPr>
        <p:spPr>
          <a:xfrm>
            <a:off x="704088" y="3736848"/>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04088" y="3736848"/>
            <a:ext cx="2280330" cy="633983"/>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3. Ресурсы/код</a:t>
            </a:r>
          </a:p>
        </p:txBody>
      </p:sp>
      <p:sp>
        <p:nvSpPr>
          <p:cNvPr id="21" name="TextBox 20"/>
          <p:cNvSpPr txBox="1"/>
          <p:nvPr/>
        </p:nvSpPr>
        <p:spPr>
          <a:xfrm>
            <a:off x="3075858" y="3736848"/>
            <a:ext cx="2927177" cy="633983"/>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по требованию</a:t>
            </a:r>
          </a:p>
        </p:txBody>
      </p:sp>
      <p:sp>
        <p:nvSpPr>
          <p:cNvPr id="22" name="TextBox 21"/>
          <p:cNvSpPr txBox="1"/>
          <p:nvPr/>
        </p:nvSpPr>
        <p:spPr>
          <a:xfrm>
            <a:off x="6094476" y="3736848"/>
            <a:ext cx="2280330" cy="633983"/>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0, пока не открыт</a:t>
            </a:r>
          </a:p>
        </p:txBody>
      </p:sp>
      <p:sp>
        <p:nvSpPr>
          <p:cNvPr id="23" name="TextBox 22"/>
          <p:cNvSpPr txBox="1"/>
          <p:nvPr/>
        </p:nvSpPr>
        <p:spPr>
          <a:xfrm>
            <a:off x="8466246" y="3736848"/>
            <a:ext cx="2927177" cy="633983"/>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вложенные файлы, скрипты</a:t>
            </a:r>
          </a:p>
        </p:txBody>
      </p:sp>
      <p:sp>
        <p:nvSpPr>
          <p:cNvPr id="24" name="Rounded Rectangle 23"/>
          <p:cNvSpPr/>
          <p:nvPr/>
        </p:nvSpPr>
        <p:spPr>
          <a:xfrm>
            <a:off x="502920" y="4800600"/>
            <a:ext cx="11183112" cy="1325880"/>
          </a:xfrm>
          <a:prstGeom prst="roundRect">
            <a:avLst>
              <a:gd name="adj" fmla="val 22988"/>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937760"/>
            <a:ext cx="10698480" cy="1097280"/>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Отсюда следствие для полей: name ≤64 символа, kebab-case; description не может быть пустым и обязан назвать и «что делает», и «когда использовать» — по этому единственному полю первого уровня модель решает, открывать ли остальное.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РЕШЕНИЕ</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500" b="1" i="0">
                <a:solidFill>
                  <a:srgbClr val="21295C"/>
                </a:solidFill>
                <a:latin typeface="Arial"/>
              </a:rPr>
              <a:t>.claude/skills/deploy/SKILL.md</a:t>
            </a:r>
          </a:p>
        </p:txBody>
      </p:sp>
      <p:sp>
        <p:nvSpPr>
          <p:cNvPr id="4" name="Rounded Rectangle 3"/>
          <p:cNvSpPr/>
          <p:nvPr/>
        </p:nvSpPr>
        <p:spPr>
          <a:xfrm>
            <a:off x="502920" y="1737360"/>
            <a:ext cx="11183112" cy="4434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3852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deploy/SKILL.md</a:t>
            </a:r>
          </a:p>
        </p:txBody>
      </p:sp>
      <p:sp>
        <p:nvSpPr>
          <p:cNvPr id="6" name="TextBox 5"/>
          <p:cNvSpPr txBox="1"/>
          <p:nvPr/>
        </p:nvSpPr>
        <p:spPr>
          <a:xfrm>
            <a:off x="704088" y="2249424"/>
            <a:ext cx="10780776" cy="3721608"/>
          </a:xfrm>
          <a:prstGeom prst="rect">
            <a:avLst/>
          </a:prstGeom>
          <a:noFill/>
        </p:spPr>
        <p:txBody>
          <a:bodyPr wrap="square" lIns="0" rIns="0" tIns="0" bIns="0" anchor="t">
            <a:spAutoFit/>
          </a:bodyPr>
          <a:lstStyle/>
          <a:p>
            <a:pPr algn="l">
              <a:lnSpc>
                <a:spcPct val="115000"/>
              </a:lnSpc>
              <a:spcAft>
                <a:spcPts val="200"/>
              </a:spcAft>
            </a:pPr>
            <a:r>
              <a:rPr sz="1100" b="0" i="0">
                <a:solidFill>
                  <a:srgbClr val="8B9BB4"/>
                </a:solidFill>
                <a:latin typeface="Consolas"/>
              </a:rPr>
              <a:t>---</a:t>
            </a:r>
          </a:p>
          <a:p>
            <a:pPr algn="l">
              <a:lnSpc>
                <a:spcPct val="115000"/>
              </a:lnSpc>
              <a:spcAft>
                <a:spcPts val="200"/>
              </a:spcAft>
            </a:pPr>
            <a:r>
              <a:rPr sz="1100" b="1" i="0">
                <a:solidFill>
                  <a:srgbClr val="028090"/>
                </a:solidFill>
                <a:latin typeface="Consolas"/>
              </a:rPr>
              <a:t>name: deploy</a:t>
            </a:r>
          </a:p>
          <a:p>
            <a:pPr algn="l">
              <a:lnSpc>
                <a:spcPct val="115000"/>
              </a:lnSpc>
              <a:spcAft>
                <a:spcPts val="200"/>
              </a:spcAft>
            </a:pPr>
            <a:r>
              <a:rPr sz="1100" b="0" i="0">
                <a:solidFill>
                  <a:srgbClr val="E3E9F2"/>
                </a:solidFill>
                <a:latin typeface="Consolas"/>
              </a:rPr>
              <a:t>description: Деплоит лендинг signup-landing на прод — сборка,</a:t>
            </a:r>
          </a:p>
          <a:p>
            <a:pPr algn="l">
              <a:lnSpc>
                <a:spcPct val="115000"/>
              </a:lnSpc>
              <a:spcAft>
                <a:spcPts val="200"/>
              </a:spcAft>
            </a:pPr>
            <a:r>
              <a:rPr sz="1100" b="0" i="0">
                <a:solidFill>
                  <a:srgbClr val="E3E9F2"/>
                </a:solidFill>
                <a:latin typeface="Consolas"/>
              </a:rPr>
              <a:t>  smoke-тест формы, публикация, проверка прод-URL. Используй,</a:t>
            </a:r>
          </a:p>
          <a:p>
            <a:pPr algn="l">
              <a:lnSpc>
                <a:spcPct val="115000"/>
              </a:lnSpc>
              <a:spcAft>
                <a:spcPts val="200"/>
              </a:spcAft>
            </a:pPr>
            <a:r>
              <a:rPr sz="1100" b="0" i="0">
                <a:solidFill>
                  <a:srgbClr val="E3E9F2"/>
                </a:solidFill>
                <a:latin typeface="Consolas"/>
              </a:rPr>
              <a:t>  когда пользователь просит задеплоить, выкатить или опубликовать</a:t>
            </a:r>
          </a:p>
          <a:p>
            <a:pPr algn="l">
              <a:lnSpc>
                <a:spcPct val="115000"/>
              </a:lnSpc>
              <a:spcAft>
                <a:spcPts val="200"/>
              </a:spcAft>
            </a:pPr>
            <a:r>
              <a:rPr sz="1100" b="0" i="0">
                <a:solidFill>
                  <a:srgbClr val="F0AB00"/>
                </a:solidFill>
                <a:latin typeface="Consolas"/>
              </a:rPr>
              <a:t>  сайт — не для обычных правок кода без деплоя.</a:t>
            </a:r>
          </a:p>
          <a:p>
            <a:pPr algn="l">
              <a:lnSpc>
                <a:spcPct val="115000"/>
              </a:lnSpc>
              <a:spcAft>
                <a:spcPts val="200"/>
              </a:spcAft>
            </a:pPr>
            <a:r>
              <a:rPr sz="1100" b="0" i="0">
                <a:solidFill>
                  <a:srgbClr val="8B9BB4"/>
                </a:solidFill>
                <a:latin typeface="Consolas"/>
              </a:rPr>
              <a:t>---</a:t>
            </a:r>
          </a:p>
          <a:p>
            <a:pPr algn="l">
              <a:lnSpc>
                <a:spcPct val="115000"/>
              </a:lnSpc>
              <a:spcAft>
                <a:spcPts val="200"/>
              </a:spcAft>
            </a:pPr>
            <a:r>
              <a:rPr sz="1100" b="0" i="0">
                <a:solidFill>
                  <a:srgbClr val="E3E9F2"/>
                </a:solidFill>
                <a:latin typeface="Consolas"/>
              </a:rPr>
              <a:t/>
            </a:r>
          </a:p>
          <a:p>
            <a:pPr algn="l">
              <a:lnSpc>
                <a:spcPct val="115000"/>
              </a:lnSpc>
              <a:spcAft>
                <a:spcPts val="200"/>
              </a:spcAft>
            </a:pPr>
            <a:r>
              <a:rPr sz="1100" b="1" i="0">
                <a:solidFill>
                  <a:srgbClr val="028090"/>
                </a:solidFill>
                <a:latin typeface="Consolas"/>
              </a:rPr>
              <a:t># deploy</a:t>
            </a:r>
          </a:p>
          <a:p>
            <a:pPr algn="l">
              <a:lnSpc>
                <a:spcPct val="115000"/>
              </a:lnSpc>
              <a:spcAft>
                <a:spcPts val="200"/>
              </a:spcAft>
            </a:pPr>
            <a:r>
              <a:rPr sz="1100" b="0" i="0">
                <a:solidFill>
                  <a:srgbClr val="E3E9F2"/>
                </a:solidFill>
                <a:latin typeface="Consolas"/>
              </a:rPr>
              <a:t/>
            </a:r>
          </a:p>
          <a:p>
            <a:pPr algn="l">
              <a:lnSpc>
                <a:spcPct val="115000"/>
              </a:lnSpc>
              <a:spcAft>
                <a:spcPts val="200"/>
              </a:spcAft>
            </a:pPr>
            <a:r>
              <a:rPr sz="1100" b="0" i="0">
                <a:solidFill>
                  <a:srgbClr val="E3E9F2"/>
                </a:solidFill>
                <a:latin typeface="Consolas"/>
              </a:rPr>
              <a:t>1. Собрать: npm run build (код выхода должен быть 0).</a:t>
            </a:r>
          </a:p>
          <a:p>
            <a:pPr algn="l">
              <a:lnSpc>
                <a:spcPct val="115000"/>
              </a:lnSpc>
              <a:spcAft>
                <a:spcPts val="200"/>
              </a:spcAft>
            </a:pPr>
            <a:r>
              <a:rPr sz="1100" b="0" i="0">
                <a:solidFill>
                  <a:srgbClr val="E3E9F2"/>
                </a:solidFill>
                <a:latin typeface="Consolas"/>
              </a:rPr>
              <a:t>2. Прогнать smoke-тест формы: npx playwright test (зелёный).</a:t>
            </a:r>
          </a:p>
          <a:p>
            <a:pPr algn="l">
              <a:lnSpc>
                <a:spcPct val="115000"/>
              </a:lnSpc>
              <a:spcAft>
                <a:spcPts val="200"/>
              </a:spcAft>
            </a:pPr>
            <a:r>
              <a:rPr sz="1100" b="0" i="0">
                <a:solidFill>
                  <a:srgbClr val="E3E9F2"/>
                </a:solidFill>
                <a:latin typeface="Consolas"/>
              </a:rPr>
              <a:t>3. Опубликовать: wrangler pages deploy dist --project-name signup-landing.</a:t>
            </a:r>
          </a:p>
          <a:p>
            <a:pPr algn="l">
              <a:lnSpc>
                <a:spcPct val="115000"/>
              </a:lnSpc>
              <a:spcAft>
                <a:spcPts val="200"/>
              </a:spcAft>
            </a:pPr>
            <a:r>
              <a:rPr sz="1100" b="0" i="0">
                <a:solidFill>
                  <a:srgbClr val="E3E9F2"/>
                </a:solidFill>
                <a:latin typeface="Consolas"/>
              </a:rPr>
              <a:t>4. Открыть прод-URL, вручную отправить форму — заявка должна дойти.</a:t>
            </a:r>
          </a:p>
          <a:p>
            <a:pPr algn="l">
              <a:lnSpc>
                <a:spcPct val="115000"/>
              </a:lnSpc>
              <a:spcAft>
                <a:spcPts val="200"/>
              </a:spcAft>
            </a:pPr>
            <a:r>
              <a:rPr sz="1100" b="0" i="0">
                <a:solidFill>
                  <a:srgbClr val="E3E9F2"/>
                </a:solidFill>
                <a:latin typeface="Consolas"/>
              </a:rPr>
              <a:t>5. Записать в Tasks/&lt;date&gt;_&lt;slug&gt;/log.md, что задеплоено, когда и как.</a:t>
            </a:r>
          </a:p>
        </p:txBody>
      </p:sp>
      <p:sp>
        <p:nvSpPr>
          <p:cNvPr id="7" name="TextBox 6"/>
          <p:cNvSpPr txBox="1"/>
          <p:nvPr/>
        </p:nvSpPr>
        <p:spPr>
          <a:xfrm>
            <a:off x="502920" y="6419088"/>
            <a:ext cx="11183112" cy="347472"/>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Источник: captures/30-code-deploy-SKILL.md.txt — перенесено дословно</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ПРОВАЛ НА СВОЁМ КУРСЕ</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12 из 13 скиллов этого же курса не имеют фронтматтера с description</a:t>
            </a:r>
          </a:p>
        </p:txBody>
      </p:sp>
      <p:sp>
        <p:nvSpPr>
          <p:cNvPr id="4" name="Rounded Rectangle 3"/>
          <p:cNvSpPr/>
          <p:nvPr/>
        </p:nvSpPr>
        <p:spPr>
          <a:xfrm>
            <a:off x="502920" y="1691640"/>
            <a:ext cx="740664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3428999" cy="365760"/>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Скилл</a:t>
            </a:r>
          </a:p>
        </p:txBody>
      </p:sp>
      <p:sp>
        <p:nvSpPr>
          <p:cNvPr id="6" name="TextBox 5"/>
          <p:cNvSpPr txBox="1"/>
          <p:nvPr/>
        </p:nvSpPr>
        <p:spPr>
          <a:xfrm>
            <a:off x="4206240" y="1892808"/>
            <a:ext cx="1677923" cy="365760"/>
          </a:xfrm>
          <a:prstGeom prst="rect">
            <a:avLst/>
          </a:prstGeom>
          <a:noFill/>
        </p:spPr>
        <p:txBody>
          <a:bodyPr wrap="square" lIns="0" rIns="0" tIns="0" bIns="0" anchor="t">
            <a:spAutoFit/>
          </a:bodyPr>
          <a:lstStyle/>
          <a:p>
            <a:pPr algn="ctr">
              <a:lnSpc>
                <a:spcPct val="115000"/>
              </a:lnSpc>
            </a:pPr>
            <a:r>
              <a:rPr sz="1150" b="1" i="0">
                <a:solidFill>
                  <a:srgbClr val="6B7685"/>
                </a:solidFill>
                <a:latin typeface="Arial"/>
              </a:rPr>
              <a:t>Есть фронтматтер</a:t>
            </a:r>
          </a:p>
        </p:txBody>
      </p:sp>
      <p:sp>
        <p:nvSpPr>
          <p:cNvPr id="7" name="TextBox 6"/>
          <p:cNvSpPr txBox="1"/>
          <p:nvPr/>
        </p:nvSpPr>
        <p:spPr>
          <a:xfrm>
            <a:off x="5957316" y="1892808"/>
            <a:ext cx="1677923" cy="365760"/>
          </a:xfrm>
          <a:prstGeom prst="rect">
            <a:avLst/>
          </a:prstGeom>
          <a:noFill/>
        </p:spPr>
        <p:txBody>
          <a:bodyPr wrap="square" lIns="0" rIns="0" tIns="0" bIns="0" anchor="t">
            <a:spAutoFit/>
          </a:bodyPr>
          <a:lstStyle/>
          <a:p>
            <a:pPr algn="ctr">
              <a:lnSpc>
                <a:spcPct val="115000"/>
              </a:lnSpc>
            </a:pPr>
            <a:r>
              <a:rPr sz="1150" b="1" i="0">
                <a:solidFill>
                  <a:srgbClr val="6B7685"/>
                </a:solidFill>
                <a:latin typeface="Arial"/>
              </a:rPr>
              <a:t>Есть description</a:t>
            </a:r>
          </a:p>
        </p:txBody>
      </p:sp>
      <p:sp>
        <p:nvSpPr>
          <p:cNvPr id="8" name="TextBox 7"/>
          <p:cNvSpPr txBox="1"/>
          <p:nvPr/>
        </p:nvSpPr>
        <p:spPr>
          <a:xfrm>
            <a:off x="704088" y="2331720"/>
            <a:ext cx="3410711" cy="262362"/>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build-deck</a:t>
            </a:r>
          </a:p>
        </p:txBody>
      </p:sp>
      <p:sp>
        <p:nvSpPr>
          <p:cNvPr id="9" name="TextBox 8"/>
          <p:cNvSpPr txBox="1"/>
          <p:nvPr/>
        </p:nvSpPr>
        <p:spPr>
          <a:xfrm>
            <a:off x="4206240" y="2331720"/>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sp>
        <p:nvSpPr>
          <p:cNvPr id="10" name="TextBox 9"/>
          <p:cNvSpPr txBox="1"/>
          <p:nvPr/>
        </p:nvSpPr>
        <p:spPr>
          <a:xfrm>
            <a:off x="5957316" y="2331720"/>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cxnSp>
        <p:nvCxnSpPr>
          <p:cNvPr id="11" name="Connector 10"/>
          <p:cNvCxnSpPr/>
          <p:nvPr/>
        </p:nvCxnSpPr>
        <p:spPr>
          <a:xfrm>
            <a:off x="704088" y="2594082"/>
            <a:ext cx="7004304"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04088" y="2594082"/>
            <a:ext cx="3410711" cy="262362"/>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catalog-docs</a:t>
            </a:r>
          </a:p>
        </p:txBody>
      </p:sp>
      <p:sp>
        <p:nvSpPr>
          <p:cNvPr id="13" name="TextBox 12"/>
          <p:cNvSpPr txBox="1"/>
          <p:nvPr/>
        </p:nvSpPr>
        <p:spPr>
          <a:xfrm>
            <a:off x="4206240" y="2594082"/>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sp>
        <p:nvSpPr>
          <p:cNvPr id="14" name="TextBox 13"/>
          <p:cNvSpPr txBox="1"/>
          <p:nvPr/>
        </p:nvSpPr>
        <p:spPr>
          <a:xfrm>
            <a:off x="5957316" y="2594082"/>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cxnSp>
        <p:nvCxnSpPr>
          <p:cNvPr id="15" name="Connector 14"/>
          <p:cNvCxnSpPr/>
          <p:nvPr/>
        </p:nvCxnSpPr>
        <p:spPr>
          <a:xfrm>
            <a:off x="704088" y="2856444"/>
            <a:ext cx="7004304"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04088" y="2856444"/>
            <a:ext cx="3410711" cy="262362"/>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compile-wiki</a:t>
            </a:r>
          </a:p>
        </p:txBody>
      </p:sp>
      <p:sp>
        <p:nvSpPr>
          <p:cNvPr id="17" name="TextBox 16"/>
          <p:cNvSpPr txBox="1"/>
          <p:nvPr/>
        </p:nvSpPr>
        <p:spPr>
          <a:xfrm>
            <a:off x="4206240" y="2856444"/>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sp>
        <p:nvSpPr>
          <p:cNvPr id="18" name="TextBox 17"/>
          <p:cNvSpPr txBox="1"/>
          <p:nvPr/>
        </p:nvSpPr>
        <p:spPr>
          <a:xfrm>
            <a:off x="5957316" y="2856444"/>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cxnSp>
        <p:nvCxnSpPr>
          <p:cNvPr id="19" name="Connector 18"/>
          <p:cNvCxnSpPr/>
          <p:nvPr/>
        </p:nvCxnSpPr>
        <p:spPr>
          <a:xfrm>
            <a:off x="704088" y="3118807"/>
            <a:ext cx="7004304"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04088" y="3118807"/>
            <a:ext cx="3410711" cy="262362"/>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diagram-refresh</a:t>
            </a:r>
          </a:p>
        </p:txBody>
      </p:sp>
      <p:sp>
        <p:nvSpPr>
          <p:cNvPr id="21" name="TextBox 20"/>
          <p:cNvSpPr txBox="1"/>
          <p:nvPr/>
        </p:nvSpPr>
        <p:spPr>
          <a:xfrm>
            <a:off x="4206240" y="3118807"/>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sp>
        <p:nvSpPr>
          <p:cNvPr id="22" name="TextBox 21"/>
          <p:cNvSpPr txBox="1"/>
          <p:nvPr/>
        </p:nvSpPr>
        <p:spPr>
          <a:xfrm>
            <a:off x="5957316" y="3118807"/>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cxnSp>
        <p:nvCxnSpPr>
          <p:cNvPr id="23" name="Connector 22"/>
          <p:cNvCxnSpPr/>
          <p:nvPr/>
        </p:nvCxnSpPr>
        <p:spPr>
          <a:xfrm>
            <a:off x="704088" y="3381169"/>
            <a:ext cx="7004304"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04088" y="3381169"/>
            <a:ext cx="3410711" cy="262362"/>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extract-links</a:t>
            </a:r>
          </a:p>
        </p:txBody>
      </p:sp>
      <p:sp>
        <p:nvSpPr>
          <p:cNvPr id="25" name="TextBox 24"/>
          <p:cNvSpPr txBox="1"/>
          <p:nvPr/>
        </p:nvSpPr>
        <p:spPr>
          <a:xfrm>
            <a:off x="4206240" y="3381169"/>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sp>
        <p:nvSpPr>
          <p:cNvPr id="26" name="TextBox 25"/>
          <p:cNvSpPr txBox="1"/>
          <p:nvPr/>
        </p:nvSpPr>
        <p:spPr>
          <a:xfrm>
            <a:off x="5957316" y="3381169"/>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cxnSp>
        <p:nvCxnSpPr>
          <p:cNvPr id="27" name="Connector 26"/>
          <p:cNvCxnSpPr/>
          <p:nvPr/>
        </p:nvCxnSpPr>
        <p:spPr>
          <a:xfrm>
            <a:off x="704088" y="3643532"/>
            <a:ext cx="7004304"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04088" y="3643532"/>
            <a:ext cx="3410711" cy="262362"/>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impact-check</a:t>
            </a:r>
          </a:p>
        </p:txBody>
      </p:sp>
      <p:sp>
        <p:nvSpPr>
          <p:cNvPr id="29" name="TextBox 28"/>
          <p:cNvSpPr txBox="1"/>
          <p:nvPr/>
        </p:nvSpPr>
        <p:spPr>
          <a:xfrm>
            <a:off x="4206240" y="3643532"/>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sp>
        <p:nvSpPr>
          <p:cNvPr id="30" name="TextBox 29"/>
          <p:cNvSpPr txBox="1"/>
          <p:nvPr/>
        </p:nvSpPr>
        <p:spPr>
          <a:xfrm>
            <a:off x="5957316" y="3643532"/>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cxnSp>
        <p:nvCxnSpPr>
          <p:cNvPr id="31" name="Connector 30"/>
          <p:cNvCxnSpPr/>
          <p:nvPr/>
        </p:nvCxnSpPr>
        <p:spPr>
          <a:xfrm>
            <a:off x="704088" y="3905894"/>
            <a:ext cx="7004304"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4088" y="3905894"/>
            <a:ext cx="3410711" cy="262362"/>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issue-from-change</a:t>
            </a:r>
          </a:p>
        </p:txBody>
      </p:sp>
      <p:sp>
        <p:nvSpPr>
          <p:cNvPr id="33" name="TextBox 32"/>
          <p:cNvSpPr txBox="1"/>
          <p:nvPr/>
        </p:nvSpPr>
        <p:spPr>
          <a:xfrm>
            <a:off x="4206240" y="3905894"/>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sp>
        <p:nvSpPr>
          <p:cNvPr id="34" name="TextBox 33"/>
          <p:cNvSpPr txBox="1"/>
          <p:nvPr/>
        </p:nvSpPr>
        <p:spPr>
          <a:xfrm>
            <a:off x="5957316" y="3905894"/>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cxnSp>
        <p:nvCxnSpPr>
          <p:cNvPr id="35" name="Connector 34"/>
          <p:cNvCxnSpPr/>
          <p:nvPr/>
        </p:nvCxnSpPr>
        <p:spPr>
          <a:xfrm>
            <a:off x="704088" y="4168257"/>
            <a:ext cx="7004304"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557784" y="4168257"/>
            <a:ext cx="7296912" cy="262362"/>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4088" y="4168257"/>
            <a:ext cx="3410711" cy="262362"/>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pre-user-gate</a:t>
            </a:r>
          </a:p>
        </p:txBody>
      </p:sp>
      <p:sp>
        <p:nvSpPr>
          <p:cNvPr id="38" name="TextBox 37"/>
          <p:cNvSpPr txBox="1"/>
          <p:nvPr/>
        </p:nvSpPr>
        <p:spPr>
          <a:xfrm>
            <a:off x="4206240" y="4168257"/>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да</a:t>
            </a:r>
          </a:p>
        </p:txBody>
      </p:sp>
      <p:sp>
        <p:nvSpPr>
          <p:cNvPr id="39" name="TextBox 38"/>
          <p:cNvSpPr txBox="1"/>
          <p:nvPr/>
        </p:nvSpPr>
        <p:spPr>
          <a:xfrm>
            <a:off x="5957316" y="4168257"/>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да</a:t>
            </a:r>
          </a:p>
        </p:txBody>
      </p:sp>
      <p:cxnSp>
        <p:nvCxnSpPr>
          <p:cNvPr id="40" name="Connector 39"/>
          <p:cNvCxnSpPr/>
          <p:nvPr/>
        </p:nvCxnSpPr>
        <p:spPr>
          <a:xfrm>
            <a:off x="704088" y="4430619"/>
            <a:ext cx="7004304"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04088" y="4430619"/>
            <a:ext cx="3410711" cy="262362"/>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publish-article</a:t>
            </a:r>
          </a:p>
        </p:txBody>
      </p:sp>
      <p:sp>
        <p:nvSpPr>
          <p:cNvPr id="42" name="TextBox 41"/>
          <p:cNvSpPr txBox="1"/>
          <p:nvPr/>
        </p:nvSpPr>
        <p:spPr>
          <a:xfrm>
            <a:off x="4206240" y="4430619"/>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sp>
        <p:nvSpPr>
          <p:cNvPr id="43" name="TextBox 42"/>
          <p:cNvSpPr txBox="1"/>
          <p:nvPr/>
        </p:nvSpPr>
        <p:spPr>
          <a:xfrm>
            <a:off x="5957316" y="4430619"/>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cxnSp>
        <p:nvCxnSpPr>
          <p:cNvPr id="44" name="Connector 43"/>
          <p:cNvCxnSpPr/>
          <p:nvPr/>
        </p:nvCxnSpPr>
        <p:spPr>
          <a:xfrm>
            <a:off x="704088" y="4692982"/>
            <a:ext cx="7004304"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704088" y="4692982"/>
            <a:ext cx="3410711" cy="262362"/>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query-kb</a:t>
            </a:r>
          </a:p>
        </p:txBody>
      </p:sp>
      <p:sp>
        <p:nvSpPr>
          <p:cNvPr id="46" name="TextBox 45"/>
          <p:cNvSpPr txBox="1"/>
          <p:nvPr/>
        </p:nvSpPr>
        <p:spPr>
          <a:xfrm>
            <a:off x="4206240" y="4692982"/>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sp>
        <p:nvSpPr>
          <p:cNvPr id="47" name="TextBox 46"/>
          <p:cNvSpPr txBox="1"/>
          <p:nvPr/>
        </p:nvSpPr>
        <p:spPr>
          <a:xfrm>
            <a:off x="5957316" y="4692982"/>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cxnSp>
        <p:nvCxnSpPr>
          <p:cNvPr id="48" name="Connector 47"/>
          <p:cNvCxnSpPr/>
          <p:nvPr/>
        </p:nvCxnSpPr>
        <p:spPr>
          <a:xfrm>
            <a:off x="704088" y="4955344"/>
            <a:ext cx="7004304"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04088" y="4955344"/>
            <a:ext cx="3410711" cy="262362"/>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reflect</a:t>
            </a:r>
          </a:p>
        </p:txBody>
      </p:sp>
      <p:sp>
        <p:nvSpPr>
          <p:cNvPr id="50" name="TextBox 49"/>
          <p:cNvSpPr txBox="1"/>
          <p:nvPr/>
        </p:nvSpPr>
        <p:spPr>
          <a:xfrm>
            <a:off x="4206240" y="4955344"/>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sp>
        <p:nvSpPr>
          <p:cNvPr id="51" name="TextBox 50"/>
          <p:cNvSpPr txBox="1"/>
          <p:nvPr/>
        </p:nvSpPr>
        <p:spPr>
          <a:xfrm>
            <a:off x="5957316" y="4955344"/>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cxnSp>
        <p:nvCxnSpPr>
          <p:cNvPr id="52" name="Connector 51"/>
          <p:cNvCxnSpPr/>
          <p:nvPr/>
        </p:nvCxnSpPr>
        <p:spPr>
          <a:xfrm>
            <a:off x="704088" y="5217707"/>
            <a:ext cx="7004304"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704088" y="5217707"/>
            <a:ext cx="3410711" cy="262362"/>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sync-library</a:t>
            </a:r>
          </a:p>
        </p:txBody>
      </p:sp>
      <p:sp>
        <p:nvSpPr>
          <p:cNvPr id="54" name="TextBox 53"/>
          <p:cNvSpPr txBox="1"/>
          <p:nvPr/>
        </p:nvSpPr>
        <p:spPr>
          <a:xfrm>
            <a:off x="4206240" y="5217707"/>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sp>
        <p:nvSpPr>
          <p:cNvPr id="55" name="TextBox 54"/>
          <p:cNvSpPr txBox="1"/>
          <p:nvPr/>
        </p:nvSpPr>
        <p:spPr>
          <a:xfrm>
            <a:off x="5957316" y="5217707"/>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cxnSp>
        <p:nvCxnSpPr>
          <p:cNvPr id="56" name="Connector 55"/>
          <p:cNvCxnSpPr/>
          <p:nvPr/>
        </p:nvCxnSpPr>
        <p:spPr>
          <a:xfrm>
            <a:off x="704088" y="5480069"/>
            <a:ext cx="7004304"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704088" y="5480069"/>
            <a:ext cx="3410711" cy="262362"/>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update-lecture</a:t>
            </a:r>
          </a:p>
        </p:txBody>
      </p:sp>
      <p:sp>
        <p:nvSpPr>
          <p:cNvPr id="58" name="TextBox 57"/>
          <p:cNvSpPr txBox="1"/>
          <p:nvPr/>
        </p:nvSpPr>
        <p:spPr>
          <a:xfrm>
            <a:off x="4206240" y="5480069"/>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sp>
        <p:nvSpPr>
          <p:cNvPr id="59" name="TextBox 58"/>
          <p:cNvSpPr txBox="1"/>
          <p:nvPr/>
        </p:nvSpPr>
        <p:spPr>
          <a:xfrm>
            <a:off x="5957316" y="5480069"/>
            <a:ext cx="1659635" cy="262362"/>
          </a:xfrm>
          <a:prstGeom prst="rect">
            <a:avLst/>
          </a:prstGeom>
          <a:noFill/>
        </p:spPr>
        <p:txBody>
          <a:bodyPr wrap="square" lIns="0" rIns="0" tIns="0" bIns="0" anchor="ctr">
            <a:spAutoFit/>
          </a:bodyPr>
          <a:lstStyle/>
          <a:p>
            <a:pPr algn="ctr">
              <a:lnSpc>
                <a:spcPct val="115000"/>
              </a:lnSpc>
            </a:pPr>
            <a:r>
              <a:rPr sz="1150" b="0" i="0">
                <a:solidFill>
                  <a:srgbClr val="21295C"/>
                </a:solidFill>
                <a:latin typeface="Arial"/>
              </a:rPr>
              <a:t>нет</a:t>
            </a:r>
          </a:p>
        </p:txBody>
      </p:sp>
      <p:sp>
        <p:nvSpPr>
          <p:cNvPr id="60" name="Rounded Rectangle 59"/>
          <p:cNvSpPr/>
          <p:nvPr/>
        </p:nvSpPr>
        <p:spPr>
          <a:xfrm>
            <a:off x="8165592" y="1691640"/>
            <a:ext cx="3520440" cy="2011680"/>
          </a:xfrm>
          <a:prstGeom prst="roundRect">
            <a:avLst>
              <a:gd name="adj" fmla="val 15151"/>
            </a:avLst>
          </a:prstGeom>
          <a:solidFill>
            <a:srgbClr val="FEF5E0"/>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8471" y="1874520"/>
            <a:ext cx="3154680" cy="1645920"/>
          </a:xfrm>
          <a:prstGeom prst="rect">
            <a:avLst/>
          </a:prstGeom>
          <a:noFill/>
        </p:spPr>
        <p:txBody>
          <a:bodyPr wrap="square" lIns="0" rIns="0" tIns="0" bIns="0" anchor="t">
            <a:spAutoFit/>
          </a:bodyPr>
          <a:lstStyle/>
          <a:p>
            <a:pPr algn="l">
              <a:lnSpc>
                <a:spcPct val="105000"/>
              </a:lnSpc>
            </a:pPr>
            <a:r>
              <a:rPr sz="3000" b="1" i="0">
                <a:solidFill>
                  <a:srgbClr val="8A6200"/>
                </a:solidFill>
                <a:latin typeface="Arial"/>
              </a:rPr>
              <a:t>1 из 13
скиллов</a:t>
            </a:r>
          </a:p>
        </p:txBody>
      </p:sp>
      <p:sp>
        <p:nvSpPr>
          <p:cNvPr id="62" name="TextBox 61"/>
          <p:cNvSpPr txBox="1"/>
          <p:nvPr/>
        </p:nvSpPr>
        <p:spPr>
          <a:xfrm>
            <a:off x="8348471" y="2926080"/>
            <a:ext cx="3154680" cy="640080"/>
          </a:xfrm>
          <a:prstGeom prst="rect">
            <a:avLst/>
          </a:prstGeom>
          <a:noFill/>
        </p:spPr>
        <p:txBody>
          <a:bodyPr wrap="square" lIns="0" rIns="0" tIns="0" bIns="0" anchor="t">
            <a:spAutoFit/>
          </a:bodyPr>
          <a:lstStyle/>
          <a:p>
            <a:pPr algn="l">
              <a:lnSpc>
                <a:spcPct val="120000"/>
              </a:lnSpc>
            </a:pPr>
            <a:r>
              <a:rPr sz="1200" b="0" i="1">
                <a:solidFill>
                  <a:srgbClr val="21295C"/>
                </a:solidFill>
                <a:latin typeface="Arial"/>
              </a:rPr>
              <a:t>имеют YAML-фронтматтер с description</a:t>
            </a:r>
          </a:p>
        </p:txBody>
      </p:sp>
      <p:sp>
        <p:nvSpPr>
          <p:cNvPr id="63" name="Rounded Rectangle 62"/>
          <p:cNvSpPr/>
          <p:nvPr/>
        </p:nvSpPr>
        <p:spPr>
          <a:xfrm>
            <a:off x="8165592" y="3931920"/>
            <a:ext cx="3520440" cy="2011680"/>
          </a:xfrm>
          <a:prstGeom prst="roundRect">
            <a:avLst>
              <a:gd name="adj" fmla="val 15151"/>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330183" y="4114800"/>
            <a:ext cx="3191256" cy="1737360"/>
          </a:xfrm>
          <a:prstGeom prst="rect">
            <a:avLst/>
          </a:prstGeom>
          <a:noFill/>
        </p:spPr>
        <p:txBody>
          <a:bodyPr wrap="square" lIns="0" rIns="0" tIns="0" bIns="0" anchor="t">
            <a:spAutoFit/>
          </a:bodyPr>
          <a:lstStyle/>
          <a:p>
            <a:pPr algn="l">
              <a:lnSpc>
                <a:spcPct val="125000"/>
              </a:lnSpc>
            </a:pPr>
            <a:r>
              <a:rPr sz="1100" b="0" i="0">
                <a:solidFill>
                  <a:srgbClr val="21295C"/>
                </a:solidFill>
                <a:latin typeface="Arial"/>
              </a:rPr>
              <a:t>skill-induced failures (arXiv:2608.11888): 307 случаев вреда, 68,8% (86/125) — Task-Implementation Fault (ошибка в самой реализации задачи); до +451% токенов на задачу (SWE-Skills-Bench)</a:t>
            </a:r>
          </a:p>
        </p:txBody>
      </p:sp>
      <p:sp>
        <p:nvSpPr>
          <p:cNvPr id="65" name="TextBox 64"/>
          <p:cNvSpPr txBox="1"/>
          <p:nvPr/>
        </p:nvSpPr>
        <p:spPr>
          <a:xfrm>
            <a:off x="502920" y="6419088"/>
            <a:ext cx="11183112" cy="347472"/>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Источник: captures/11-skills-frontmatter-table.md, captures/10-skills-frontmatter-head5.txt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4 · КРИТЕРИЙ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300" b="1" i="0">
                <a:solidFill>
                  <a:srgbClr val="21295C"/>
                </a:solidFill>
                <a:latin typeface="Arial"/>
              </a:rPr>
              <a:t>Скилл нужен не каждой повторяющейся задаче</a:t>
            </a:r>
          </a:p>
        </p:txBody>
      </p:sp>
      <p:sp>
        <p:nvSpPr>
          <p:cNvPr id="4" name="Rounded Rectangle 3"/>
          <p:cNvSpPr/>
          <p:nvPr/>
        </p:nvSpPr>
        <p:spPr>
          <a:xfrm>
            <a:off x="502920" y="1828800"/>
            <a:ext cx="3575304"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circle-6B7685-96.png"/>
          <p:cNvPicPr>
            <a:picLocks noChangeAspect="1"/>
          </p:cNvPicPr>
          <p:nvPr/>
        </p:nvPicPr>
        <p:blipFill>
          <a:blip r:embed="rId2"/>
          <a:stretch>
            <a:fillRect/>
          </a:stretch>
        </p:blipFill>
        <p:spPr>
          <a:xfrm>
            <a:off x="704088" y="2029968"/>
            <a:ext cx="365760" cy="365760"/>
          </a:xfrm>
          <a:prstGeom prst="rect">
            <a:avLst/>
          </a:prstGeom>
        </p:spPr>
      </p:pic>
      <p:sp>
        <p:nvSpPr>
          <p:cNvPr id="6" name="TextBox 5"/>
          <p:cNvSpPr txBox="1"/>
          <p:nvPr/>
        </p:nvSpPr>
        <p:spPr>
          <a:xfrm>
            <a:off x="704088" y="2532888"/>
            <a:ext cx="3172968" cy="822960"/>
          </a:xfrm>
          <a:prstGeom prst="rect">
            <a:avLst/>
          </a:prstGeom>
          <a:noFill/>
        </p:spPr>
        <p:txBody>
          <a:bodyPr wrap="square" lIns="0" rIns="0" tIns="0" bIns="0" anchor="t">
            <a:spAutoFit/>
          </a:bodyPr>
          <a:lstStyle/>
          <a:p>
            <a:pPr algn="l">
              <a:lnSpc>
                <a:spcPct val="120000"/>
              </a:lnSpc>
            </a:pPr>
            <a:r>
              <a:rPr sz="1400" b="1" i="0">
                <a:solidFill>
                  <a:srgbClr val="21295C"/>
                </a:solidFill>
                <a:latin typeface="Arial"/>
              </a:rPr>
              <a:t>Нужно каждой сессии</a:t>
            </a:r>
          </a:p>
        </p:txBody>
      </p:sp>
      <p:sp>
        <p:nvSpPr>
          <p:cNvPr id="7" name="Rectangle 6"/>
          <p:cNvSpPr/>
          <p:nvPr/>
        </p:nvSpPr>
        <p:spPr>
          <a:xfrm>
            <a:off x="704088" y="3657600"/>
            <a:ext cx="3172968" cy="1828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3840480"/>
            <a:ext cx="3172968" cy="1078992"/>
          </a:xfrm>
          <a:prstGeom prst="rect">
            <a:avLst/>
          </a:prstGeom>
          <a:noFill/>
        </p:spPr>
        <p:txBody>
          <a:bodyPr wrap="square" lIns="0" rIns="0" tIns="0" bIns="0" anchor="t">
            <a:spAutoFit/>
          </a:bodyPr>
          <a:lstStyle/>
          <a:p>
            <a:pPr algn="l">
              <a:lnSpc>
                <a:spcPct val="128000"/>
              </a:lnSpc>
            </a:pPr>
            <a:r>
              <a:rPr sz="1200" b="0" i="1">
                <a:solidFill>
                  <a:srgbClr val="028090"/>
                </a:solidFill>
                <a:latin typeface="Arial"/>
              </a:rPr>
              <a:t>Это файл инструкций — ступень 1, не скилл</a:t>
            </a:r>
          </a:p>
        </p:txBody>
      </p:sp>
      <p:sp>
        <p:nvSpPr>
          <p:cNvPr id="9" name="Rounded Rectangle 8"/>
          <p:cNvSpPr/>
          <p:nvPr/>
        </p:nvSpPr>
        <p:spPr>
          <a:xfrm>
            <a:off x="4306824" y="1828800"/>
            <a:ext cx="3575304"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x-circle-6B7685-96.png"/>
          <p:cNvPicPr>
            <a:picLocks noChangeAspect="1"/>
          </p:cNvPicPr>
          <p:nvPr/>
        </p:nvPicPr>
        <p:blipFill>
          <a:blip r:embed="rId2"/>
          <a:stretch>
            <a:fillRect/>
          </a:stretch>
        </p:blipFill>
        <p:spPr>
          <a:xfrm>
            <a:off x="4507992" y="2029968"/>
            <a:ext cx="365760" cy="365760"/>
          </a:xfrm>
          <a:prstGeom prst="rect">
            <a:avLst/>
          </a:prstGeom>
        </p:spPr>
      </p:pic>
      <p:sp>
        <p:nvSpPr>
          <p:cNvPr id="11" name="TextBox 10"/>
          <p:cNvSpPr txBox="1"/>
          <p:nvPr/>
        </p:nvSpPr>
        <p:spPr>
          <a:xfrm>
            <a:off x="4507992" y="2532888"/>
            <a:ext cx="3172968" cy="822960"/>
          </a:xfrm>
          <a:prstGeom prst="rect">
            <a:avLst/>
          </a:prstGeom>
          <a:noFill/>
        </p:spPr>
        <p:txBody>
          <a:bodyPr wrap="square" lIns="0" rIns="0" tIns="0" bIns="0" anchor="t">
            <a:spAutoFit/>
          </a:bodyPr>
          <a:lstStyle/>
          <a:p>
            <a:pPr algn="l">
              <a:lnSpc>
                <a:spcPct val="120000"/>
              </a:lnSpc>
            </a:pPr>
            <a:r>
              <a:rPr sz="1400" b="1" i="0">
                <a:solidFill>
                  <a:srgbClr val="21295C"/>
                </a:solidFill>
                <a:latin typeface="Arial"/>
              </a:rPr>
              <a:t>Разовая процедура</a:t>
            </a:r>
          </a:p>
        </p:txBody>
      </p:sp>
      <p:sp>
        <p:nvSpPr>
          <p:cNvPr id="12" name="Rectangle 11"/>
          <p:cNvSpPr/>
          <p:nvPr/>
        </p:nvSpPr>
        <p:spPr>
          <a:xfrm>
            <a:off x="4507992" y="3657600"/>
            <a:ext cx="3172968" cy="1828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07992" y="3840480"/>
            <a:ext cx="3172968" cy="1078992"/>
          </a:xfrm>
          <a:prstGeom prst="rect">
            <a:avLst/>
          </a:prstGeom>
          <a:noFill/>
        </p:spPr>
        <p:txBody>
          <a:bodyPr wrap="square" lIns="0" rIns="0" tIns="0" bIns="0" anchor="t">
            <a:spAutoFit/>
          </a:bodyPr>
          <a:lstStyle/>
          <a:p>
            <a:pPr algn="l">
              <a:lnSpc>
                <a:spcPct val="128000"/>
              </a:lnSpc>
            </a:pPr>
            <a:r>
              <a:rPr sz="1200" b="0" i="1">
                <a:solidFill>
                  <a:srgbClr val="028090"/>
                </a:solidFill>
                <a:latin typeface="Arial"/>
              </a:rPr>
              <a:t>Дешевле один раз подробно попросить, чем писать скилл заранее</a:t>
            </a:r>
          </a:p>
        </p:txBody>
      </p:sp>
      <p:sp>
        <p:nvSpPr>
          <p:cNvPr id="14" name="Rounded Rectangle 13"/>
          <p:cNvSpPr/>
          <p:nvPr/>
        </p:nvSpPr>
        <p:spPr>
          <a:xfrm>
            <a:off x="8110728" y="1828800"/>
            <a:ext cx="3575304" cy="3291840"/>
          </a:xfrm>
          <a:prstGeom prst="roundRect">
            <a:avLst>
              <a:gd name="adj" fmla="val 9259"/>
            </a:avLst>
          </a:prstGeom>
          <a:solidFill>
            <a:srgbClr val="F4F7FA"/>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x-circle-8A6200-96.png"/>
          <p:cNvPicPr>
            <a:picLocks noChangeAspect="1"/>
          </p:cNvPicPr>
          <p:nvPr/>
        </p:nvPicPr>
        <p:blipFill>
          <a:blip r:embed="rId3"/>
          <a:stretch>
            <a:fillRect/>
          </a:stretch>
        </p:blipFill>
        <p:spPr>
          <a:xfrm>
            <a:off x="8311896" y="2029968"/>
            <a:ext cx="365760" cy="365760"/>
          </a:xfrm>
          <a:prstGeom prst="rect">
            <a:avLst/>
          </a:prstGeom>
        </p:spPr>
      </p:pic>
      <p:sp>
        <p:nvSpPr>
          <p:cNvPr id="16" name="TextBox 15"/>
          <p:cNvSpPr txBox="1"/>
          <p:nvPr/>
        </p:nvSpPr>
        <p:spPr>
          <a:xfrm>
            <a:off x="8311896" y="2532888"/>
            <a:ext cx="3172968" cy="822960"/>
          </a:xfrm>
          <a:prstGeom prst="rect">
            <a:avLst/>
          </a:prstGeom>
          <a:noFill/>
        </p:spPr>
        <p:txBody>
          <a:bodyPr wrap="square" lIns="0" rIns="0" tIns="0" bIns="0" anchor="t">
            <a:spAutoFit/>
          </a:bodyPr>
          <a:lstStyle/>
          <a:p>
            <a:pPr algn="l">
              <a:lnSpc>
                <a:spcPct val="120000"/>
              </a:lnSpc>
            </a:pPr>
            <a:r>
              <a:rPr sz="1400" b="1" i="0">
                <a:solidFill>
                  <a:srgbClr val="21295C"/>
                </a:solidFill>
                <a:latin typeface="Arial"/>
              </a:rPr>
              <a:t>Нельзя нарушать никогда</a:t>
            </a:r>
          </a:p>
        </p:txBody>
      </p:sp>
      <p:sp>
        <p:nvSpPr>
          <p:cNvPr id="17" name="Rectangle 16"/>
          <p:cNvSpPr/>
          <p:nvPr/>
        </p:nvSpPr>
        <p:spPr>
          <a:xfrm>
            <a:off x="8311896" y="3657600"/>
            <a:ext cx="3172968" cy="1828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3840480"/>
            <a:ext cx="3172968" cy="1078992"/>
          </a:xfrm>
          <a:prstGeom prst="rect">
            <a:avLst/>
          </a:prstGeom>
          <a:noFill/>
        </p:spPr>
        <p:txBody>
          <a:bodyPr wrap="square" lIns="0" rIns="0" tIns="0" bIns="0" anchor="t">
            <a:spAutoFit/>
          </a:bodyPr>
          <a:lstStyle/>
          <a:p>
            <a:pPr algn="l">
              <a:lnSpc>
                <a:spcPct val="128000"/>
              </a:lnSpc>
            </a:pPr>
            <a:r>
              <a:rPr sz="1200" b="0" i="1">
                <a:solidFill>
                  <a:srgbClr val="8A6200"/>
                </a:solidFill>
                <a:latin typeface="Arial"/>
              </a:rPr>
              <a:t>Это хук — ступень 3, механическое ограничение, не знание</a:t>
            </a:r>
          </a:p>
        </p:txBody>
      </p:sp>
      <p:sp>
        <p:nvSpPr>
          <p:cNvPr id="19" name="TextBox 18"/>
          <p:cNvSpPr txBox="1"/>
          <p:nvPr/>
        </p:nvSpPr>
        <p:spPr>
          <a:xfrm>
            <a:off x="502920" y="5349240"/>
            <a:ext cx="11183112" cy="457200"/>
          </a:xfrm>
          <a:prstGeom prst="rect">
            <a:avLst/>
          </a:prstGeom>
          <a:noFill/>
        </p:spPr>
        <p:txBody>
          <a:bodyPr wrap="square" lIns="0" rIns="0" tIns="0" bIns="0" anchor="t">
            <a:spAutoFit/>
          </a:bodyPr>
          <a:lstStyle/>
          <a:p>
            <a:pPr algn="ctr">
              <a:lnSpc>
                <a:spcPct val="115000"/>
              </a:lnSpc>
            </a:pPr>
            <a:r>
              <a:rPr sz="1350" b="0" i="1">
                <a:solidFill>
                  <a:srgbClr val="028090"/>
                </a:solidFill>
                <a:latin typeface="Arial"/>
              </a:rPr>
              <a:t>скилл — методичка в шкафу, которую снимают с полки только когда задача реально совпала с темой методички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5</a:t>
            </a:r>
          </a:p>
        </p:txBody>
      </p:sp>
      <p:sp>
        <p:nvSpPr>
          <p:cNvPr id="4" name="TextBox 3"/>
          <p:cNvSpPr txBox="1"/>
          <p:nvPr/>
        </p:nvSpPr>
        <p:spPr>
          <a:xfrm>
            <a:off x="3017520" y="2331720"/>
            <a:ext cx="7498079" cy="1188720"/>
          </a:xfrm>
          <a:prstGeom prst="rect">
            <a:avLst/>
          </a:prstGeom>
          <a:noFill/>
        </p:spPr>
        <p:txBody>
          <a:bodyPr wrap="square" lIns="0" rIns="0" tIns="0" bIns="0" anchor="ctr">
            <a:spAutoFit/>
          </a:bodyPr>
          <a:lstStyle/>
          <a:p>
            <a:pPr algn="l">
              <a:lnSpc>
                <a:spcPct val="105000"/>
              </a:lnSpc>
            </a:pPr>
            <a:r>
              <a:rPr sz="3400" b="1" i="0">
                <a:solidFill>
                  <a:srgbClr val="FFFFFF"/>
                </a:solidFill>
                <a:latin typeface="Arial"/>
              </a:rPr>
              <a:t>MCP (Model Context Protocol)</a:t>
            </a:r>
          </a:p>
        </p:txBody>
      </p:sp>
      <p:sp>
        <p:nvSpPr>
          <p:cNvPr id="5" name="Rounded Rectangle 4"/>
          <p:cNvSpPr/>
          <p:nvPr/>
        </p:nvSpPr>
        <p:spPr>
          <a:xfrm>
            <a:off x="3063240" y="3611880"/>
            <a:ext cx="7315200" cy="457200"/>
          </a:xfrm>
          <a:prstGeom prst="roundRect">
            <a:avLst>
              <a:gd name="adj" fmla="val 50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none"/>
          <a:lstStyle/>
          <a:p>
            <a:pPr algn="ctr"/>
            <a:r>
              <a:rPr sz="1300" b="1">
                <a:solidFill>
                  <a:srgbClr val="F0AB00"/>
                </a:solidFill>
                <a:latin typeface="Arial"/>
              </a:rPr>
              <a:t>РЕГУЛЯРНЫЙ ДОСТУП К ВНЕШНЕЙ СИСТЕМЕ → ОБЩИЙ ПЕРЕХОДНИК</a:t>
            </a:r>
          </a:p>
        </p:txBody>
      </p:sp>
      <p:sp>
        <p:nvSpPr>
          <p:cNvPr id="6" name="Rounded Rectangle 5"/>
          <p:cNvSpPr/>
          <p:nvPr/>
        </p:nvSpPr>
        <p:spPr>
          <a:xfrm>
            <a:off x="9326880" y="3977640"/>
            <a:ext cx="2194560" cy="219456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ble-F0AB00-128.png"/>
          <p:cNvPicPr>
            <a:picLocks noChangeAspect="1"/>
          </p:cNvPicPr>
          <p:nvPr/>
        </p:nvPicPr>
        <p:blipFill>
          <a:blip r:embed="rId2"/>
          <a:stretch>
            <a:fillRect/>
          </a:stretch>
        </p:blipFill>
        <p:spPr>
          <a:xfrm>
            <a:off x="9646920" y="4297680"/>
            <a:ext cx="1554480" cy="155448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СЦЕНАРИЙ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300" b="1" i="0">
                <a:solidFill>
                  <a:srgbClr val="21295C"/>
                </a:solidFill>
                <a:latin typeface="Arial"/>
              </a:rPr>
              <a:t>Агент почти готов получить официальный GitHub MCP-сервер</a:t>
            </a:r>
          </a:p>
        </p:txBody>
      </p:sp>
      <p:sp>
        <p:nvSpPr>
          <p:cNvPr id="4" name="Rounded Rectangle 3"/>
          <p:cNvSpPr/>
          <p:nvPr/>
        </p:nvSpPr>
        <p:spPr>
          <a:xfrm>
            <a:off x="502920" y="1737360"/>
            <a:ext cx="11183112" cy="1600200"/>
          </a:xfrm>
          <a:prstGeom prst="roundRect">
            <a:avLst>
              <a:gd name="adj" fmla="val 19047"/>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pull-request-21295C-96.png"/>
          <p:cNvPicPr>
            <a:picLocks noChangeAspect="1"/>
          </p:cNvPicPr>
          <p:nvPr/>
        </p:nvPicPr>
        <p:blipFill>
          <a:blip r:embed="rId2"/>
          <a:stretch>
            <a:fillRect/>
          </a:stretch>
        </p:blipFill>
        <p:spPr>
          <a:xfrm>
            <a:off x="722376" y="1956815"/>
            <a:ext cx="384048" cy="384048"/>
          </a:xfrm>
          <a:prstGeom prst="rect">
            <a:avLst/>
          </a:prstGeom>
        </p:spPr>
      </p:pic>
      <p:sp>
        <p:nvSpPr>
          <p:cNvPr id="6" name="TextBox 5"/>
          <p:cNvSpPr txBox="1"/>
          <p:nvPr/>
        </p:nvSpPr>
        <p:spPr>
          <a:xfrm>
            <a:off x="1252728" y="1938527"/>
            <a:ext cx="1021384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Issue и PR на каждой сессии</a:t>
            </a:r>
          </a:p>
        </p:txBody>
      </p:sp>
      <p:sp>
        <p:nvSpPr>
          <p:cNvPr id="7" name="TextBox 6"/>
          <p:cNvSpPr txBox="1"/>
          <p:nvPr/>
        </p:nvSpPr>
        <p:spPr>
          <a:xfrm>
            <a:off x="722376" y="2395727"/>
            <a:ext cx="10744200" cy="722376"/>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Заказчик и разработчик регулярно заводят задачи и баги как issue в репозитории signup-landing на GitHub — на каждой сессии агенту нужно посмотреть открытые issue и подготовить черновик PR. Сейчас — копипаст или нестабильный gh через Bash.</a:t>
            </a:r>
          </a:p>
        </p:txBody>
      </p:sp>
      <p:sp>
        <p:nvSpPr>
          <p:cNvPr id="8" name="Rounded Rectangle 7"/>
          <p:cNvSpPr/>
          <p:nvPr/>
        </p:nvSpPr>
        <p:spPr>
          <a:xfrm>
            <a:off x="502920" y="3538728"/>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3611880"/>
            <a:ext cx="10780776" cy="81381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«Агенту теперь регулярно нужно смотреть открытые issue в репозитории signup-landing и готовить черновики PR. Вы почти готовы подключить официальный GitHub MCP-сервер. Что вы проверяете до того, как это сделать?»</a:t>
            </a:r>
          </a:p>
        </p:txBody>
      </p:sp>
      <p:sp>
        <p:nvSpPr>
          <p:cNvPr id="10" name="Rounded Rectangle 9"/>
          <p:cNvSpPr/>
          <p:nvPr/>
        </p:nvSpPr>
        <p:spPr>
          <a:xfrm>
            <a:off x="50292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Официальный —
значит можно</a:t>
            </a:r>
          </a:p>
        </p:txBody>
      </p:sp>
      <p:sp>
        <p:nvSpPr>
          <p:cNvPr id="12" name="Rounded Rectangle 11"/>
          <p:cNvSpPr/>
          <p:nvPr/>
        </p:nvSpPr>
        <p:spPr>
          <a:xfrm>
            <a:off x="334899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529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Прикину
токены</a:t>
            </a:r>
          </a:p>
        </p:txBody>
      </p:sp>
      <p:sp>
        <p:nvSpPr>
          <p:cNvPr id="14" name="Rounded Rectangle 13"/>
          <p:cNvSpPr/>
          <p:nvPr/>
        </p:nvSpPr>
        <p:spPr>
          <a:xfrm>
            <a:off x="619506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136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Разрешу сразу
на всё</a:t>
            </a:r>
          </a:p>
        </p:txBody>
      </p:sp>
      <p:sp>
        <p:nvSpPr>
          <p:cNvPr id="16" name="Rounded Rectangle 15"/>
          <p:cNvSpPr/>
          <p:nvPr/>
        </p:nvSpPr>
        <p:spPr>
          <a:xfrm>
            <a:off x="9041130" y="4681728"/>
            <a:ext cx="2644902" cy="1700784"/>
          </a:xfrm>
          <a:prstGeom prst="roundRect">
            <a:avLst>
              <a:gd name="adj" fmla="val 179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7434" y="4681728"/>
            <a:ext cx="2352294" cy="1700784"/>
          </a:xfrm>
          <a:prstGeom prst="rect">
            <a:avLst/>
          </a:prstGeom>
          <a:noFill/>
        </p:spPr>
        <p:txBody>
          <a:bodyPr wrap="square" lIns="0" rIns="0" tIns="0" bIns="0" anchor="ctr">
            <a:spAutoFit/>
          </a:bodyPr>
          <a:lstStyle/>
          <a:p>
            <a:pPr algn="ctr">
              <a:lnSpc>
                <a:spcPct val="122000"/>
              </a:lnSpc>
            </a:pPr>
            <a:r>
              <a:rPr sz="1150" b="0" i="0">
                <a:solidFill>
                  <a:srgbClr val="21295C"/>
                </a:solidFill>
                <a:latin typeface="Arial"/>
              </a:rPr>
              <a:t>Проверю gh
+ права доступа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РЕШЕНИЕ</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100" b="1" i="0">
                <a:solidFill>
                  <a:srgbClr val="21295C"/>
                </a:solidFill>
                <a:latin typeface="Arial"/>
              </a:rPr>
              <a:t>.mcp.json живёт в корне репозитория и коммитится как код</a:t>
            </a:r>
          </a:p>
        </p:txBody>
      </p:sp>
      <p:sp>
        <p:nvSpPr>
          <p:cNvPr id="4" name="Rounded Rectangle 3"/>
          <p:cNvSpPr/>
          <p:nvPr/>
        </p:nvSpPr>
        <p:spPr>
          <a:xfrm>
            <a:off x="502920" y="1691640"/>
            <a:ext cx="11183112" cy="26517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.mcp.json</a:t>
            </a:r>
          </a:p>
        </p:txBody>
      </p:sp>
      <p:sp>
        <p:nvSpPr>
          <p:cNvPr id="6" name="TextBox 5"/>
          <p:cNvSpPr txBox="1"/>
          <p:nvPr/>
        </p:nvSpPr>
        <p:spPr>
          <a:xfrm>
            <a:off x="704088" y="2203704"/>
            <a:ext cx="10780776" cy="1938528"/>
          </a:xfrm>
          <a:prstGeom prst="rect">
            <a:avLst/>
          </a:prstGeom>
          <a:noFill/>
        </p:spPr>
        <p:txBody>
          <a:bodyPr wrap="square" lIns="0" rIns="0" tIns="0" bIns="0" anchor="t">
            <a:spAutoFit/>
          </a:bodyPr>
          <a:lstStyle/>
          <a:p>
            <a:pPr algn="l">
              <a:lnSpc>
                <a:spcPct val="110000"/>
              </a:lnSpc>
              <a:spcAft>
                <a:spcPts val="200"/>
              </a:spcAft>
            </a:pPr>
            <a:r>
              <a:rPr sz="1050" b="0" i="0">
                <a:solidFill>
                  <a:srgbClr val="E3E9F2"/>
                </a:solidFill>
                <a:latin typeface="Consolas"/>
              </a:rPr>
              <a:t>{</a:t>
            </a:r>
          </a:p>
          <a:p>
            <a:pPr algn="l">
              <a:lnSpc>
                <a:spcPct val="110000"/>
              </a:lnSpc>
              <a:spcAft>
                <a:spcPts val="200"/>
              </a:spcAft>
            </a:pPr>
            <a:r>
              <a:rPr sz="1050" b="0" i="0">
                <a:solidFill>
                  <a:srgbClr val="E3E9F2"/>
                </a:solidFill>
                <a:latin typeface="Consolas"/>
              </a:rPr>
              <a:t>  "mcpServers": {</a:t>
            </a:r>
          </a:p>
          <a:p>
            <a:pPr algn="l">
              <a:lnSpc>
                <a:spcPct val="110000"/>
              </a:lnSpc>
              <a:spcAft>
                <a:spcPts val="200"/>
              </a:spcAft>
            </a:pPr>
            <a:r>
              <a:rPr sz="1050" b="1" i="0">
                <a:solidFill>
                  <a:srgbClr val="028090"/>
                </a:solidFill>
                <a:latin typeface="Consolas"/>
              </a:rPr>
              <a:t>    "github": {</a:t>
            </a:r>
          </a:p>
          <a:p>
            <a:pPr algn="l">
              <a:lnSpc>
                <a:spcPct val="110000"/>
              </a:lnSpc>
              <a:spcAft>
                <a:spcPts val="200"/>
              </a:spcAft>
            </a:pPr>
            <a:r>
              <a:rPr sz="1050" b="0" i="0">
                <a:solidFill>
                  <a:srgbClr val="E3E9F2"/>
                </a:solidFill>
                <a:latin typeface="Consolas"/>
              </a:rPr>
              <a:t>      "command": "npx",</a:t>
            </a:r>
          </a:p>
          <a:p>
            <a:pPr algn="l">
              <a:lnSpc>
                <a:spcPct val="110000"/>
              </a:lnSpc>
              <a:spcAft>
                <a:spcPts val="200"/>
              </a:spcAft>
            </a:pPr>
            <a:r>
              <a:rPr sz="1050" b="0" i="0">
                <a:solidFill>
                  <a:srgbClr val="E3E9F2"/>
                </a:solidFill>
                <a:latin typeface="Consolas"/>
              </a:rPr>
              <a:t>      "args": ["-y", "@modelcontextprotocol/server-github"],</a:t>
            </a:r>
          </a:p>
          <a:p>
            <a:pPr algn="l">
              <a:lnSpc>
                <a:spcPct val="110000"/>
              </a:lnSpc>
              <a:spcAft>
                <a:spcPts val="200"/>
              </a:spcAft>
            </a:pPr>
            <a:r>
              <a:rPr sz="1050" b="0" i="0">
                <a:solidFill>
                  <a:srgbClr val="F0AB00"/>
                </a:solidFill>
                <a:latin typeface="Consolas"/>
              </a:rPr>
              <a:t>      "env": { "GITHUB_PERSONAL_ACCESS_TOKEN": "${GITHUB_PAT}" }</a:t>
            </a:r>
          </a:p>
          <a:p>
            <a:pPr algn="l">
              <a:lnSpc>
                <a:spcPct val="110000"/>
              </a:lnSpc>
              <a:spcAft>
                <a:spcPts val="200"/>
              </a:spcAft>
            </a:pPr>
            <a:r>
              <a:rPr sz="1050" b="0" i="0">
                <a:solidFill>
                  <a:srgbClr val="E3E9F2"/>
                </a:solidFill>
                <a:latin typeface="Consolas"/>
              </a:rPr>
              <a:t>    }</a:t>
            </a:r>
          </a:p>
          <a:p>
            <a:pPr algn="l">
              <a:lnSpc>
                <a:spcPct val="110000"/>
              </a:lnSpc>
              <a:spcAft>
                <a:spcPts val="200"/>
              </a:spcAft>
            </a:pPr>
            <a:r>
              <a:rPr sz="1050" b="0" i="0">
                <a:solidFill>
                  <a:srgbClr val="E3E9F2"/>
                </a:solidFill>
                <a:latin typeface="Consolas"/>
              </a:rPr>
              <a:t>  }</a:t>
            </a:r>
          </a:p>
          <a:p>
            <a:pPr algn="l">
              <a:lnSpc>
                <a:spcPct val="110000"/>
              </a:lnSpc>
              <a:spcAft>
                <a:spcPts val="200"/>
              </a:spcAft>
            </a:pPr>
            <a:r>
              <a:rPr sz="1050" b="0" i="0">
                <a:solidFill>
                  <a:srgbClr val="E3E9F2"/>
                </a:solidFill>
                <a:latin typeface="Consolas"/>
              </a:rPr>
              <a:t>}</a:t>
            </a:r>
          </a:p>
        </p:txBody>
      </p:sp>
      <p:sp>
        <p:nvSpPr>
          <p:cNvPr id="7" name="Rounded Rectangle 6"/>
          <p:cNvSpPr/>
          <p:nvPr/>
        </p:nvSpPr>
        <p:spPr>
          <a:xfrm>
            <a:off x="502920" y="4526280"/>
            <a:ext cx="3575304" cy="1417320"/>
          </a:xfrm>
          <a:prstGeom prst="roundRect">
            <a:avLst>
              <a:gd name="adj" fmla="val 21505"/>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4672584"/>
            <a:ext cx="3246120"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tools · инструменты</a:t>
            </a:r>
          </a:p>
        </p:txBody>
      </p:sp>
      <p:sp>
        <p:nvSpPr>
          <p:cNvPr id="9" name="TextBox 8"/>
          <p:cNvSpPr txBox="1"/>
          <p:nvPr/>
        </p:nvSpPr>
        <p:spPr>
          <a:xfrm>
            <a:off x="667512" y="5074920"/>
            <a:ext cx="3246120" cy="365760"/>
          </a:xfrm>
          <a:prstGeom prst="rect">
            <a:avLst/>
          </a:prstGeom>
          <a:noFill/>
        </p:spPr>
        <p:txBody>
          <a:bodyPr wrap="square" lIns="0" rIns="0" tIns="0" bIns="0" anchor="t">
            <a:spAutoFit/>
          </a:bodyPr>
          <a:lstStyle/>
          <a:p>
            <a:pPr algn="l">
              <a:lnSpc>
                <a:spcPct val="115000"/>
              </a:lnSpc>
            </a:pPr>
            <a:r>
              <a:rPr sz="1350" b="1" i="0">
                <a:solidFill>
                  <a:srgbClr val="8A6200"/>
                </a:solidFill>
                <a:latin typeface="Arial"/>
              </a:rPr>
              <a:t>решает МОДЕЛЬ</a:t>
            </a:r>
          </a:p>
        </p:txBody>
      </p:sp>
      <p:sp>
        <p:nvSpPr>
          <p:cNvPr id="10" name="TextBox 9"/>
          <p:cNvSpPr txBox="1"/>
          <p:nvPr/>
        </p:nvSpPr>
        <p:spPr>
          <a:xfrm>
            <a:off x="667512" y="5458968"/>
            <a:ext cx="3246120" cy="45720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вызывает по ходу диалога</a:t>
            </a:r>
          </a:p>
        </p:txBody>
      </p:sp>
      <p:sp>
        <p:nvSpPr>
          <p:cNvPr id="11" name="Rounded Rectangle 10"/>
          <p:cNvSpPr/>
          <p:nvPr/>
        </p:nvSpPr>
        <p:spPr>
          <a:xfrm>
            <a:off x="4306824" y="4526280"/>
            <a:ext cx="3575304" cy="1417320"/>
          </a:xfrm>
          <a:prstGeom prst="roundRect">
            <a:avLst>
              <a:gd name="adj" fmla="val 21505"/>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71416" y="4672584"/>
            <a:ext cx="3246120"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resources · ресурсы</a:t>
            </a:r>
          </a:p>
        </p:txBody>
      </p:sp>
      <p:sp>
        <p:nvSpPr>
          <p:cNvPr id="13" name="TextBox 12"/>
          <p:cNvSpPr txBox="1"/>
          <p:nvPr/>
        </p:nvSpPr>
        <p:spPr>
          <a:xfrm>
            <a:off x="4471416" y="5074920"/>
            <a:ext cx="3246120" cy="365760"/>
          </a:xfrm>
          <a:prstGeom prst="rect">
            <a:avLst/>
          </a:prstGeom>
          <a:noFill/>
        </p:spPr>
        <p:txBody>
          <a:bodyPr wrap="square" lIns="0" rIns="0" tIns="0" bIns="0" anchor="t">
            <a:spAutoFit/>
          </a:bodyPr>
          <a:lstStyle/>
          <a:p>
            <a:pPr algn="l">
              <a:lnSpc>
                <a:spcPct val="115000"/>
              </a:lnSpc>
            </a:pPr>
            <a:r>
              <a:rPr sz="1350" b="1" i="0">
                <a:solidFill>
                  <a:srgbClr val="8A6200"/>
                </a:solidFill>
                <a:latin typeface="Arial"/>
              </a:rPr>
              <a:t>решает ХОСТ</a:t>
            </a:r>
          </a:p>
        </p:txBody>
      </p:sp>
      <p:sp>
        <p:nvSpPr>
          <p:cNvPr id="14" name="TextBox 13"/>
          <p:cNvSpPr txBox="1"/>
          <p:nvPr/>
        </p:nvSpPr>
        <p:spPr>
          <a:xfrm>
            <a:off x="4471416" y="5458968"/>
            <a:ext cx="3246120" cy="45720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явное @-упоминание</a:t>
            </a:r>
          </a:p>
        </p:txBody>
      </p:sp>
      <p:sp>
        <p:nvSpPr>
          <p:cNvPr id="15" name="Rounded Rectangle 14"/>
          <p:cNvSpPr/>
          <p:nvPr/>
        </p:nvSpPr>
        <p:spPr>
          <a:xfrm>
            <a:off x="8110728" y="4526280"/>
            <a:ext cx="3575304" cy="1417320"/>
          </a:xfrm>
          <a:prstGeom prst="roundRect">
            <a:avLst>
              <a:gd name="adj" fmla="val 21505"/>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4672584"/>
            <a:ext cx="3246120"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prompts · подсказки</a:t>
            </a:r>
          </a:p>
        </p:txBody>
      </p:sp>
      <p:sp>
        <p:nvSpPr>
          <p:cNvPr id="17" name="TextBox 16"/>
          <p:cNvSpPr txBox="1"/>
          <p:nvPr/>
        </p:nvSpPr>
        <p:spPr>
          <a:xfrm>
            <a:off x="8275320" y="5074920"/>
            <a:ext cx="3246120" cy="365760"/>
          </a:xfrm>
          <a:prstGeom prst="rect">
            <a:avLst/>
          </a:prstGeom>
          <a:noFill/>
        </p:spPr>
        <p:txBody>
          <a:bodyPr wrap="square" lIns="0" rIns="0" tIns="0" bIns="0" anchor="t">
            <a:spAutoFit/>
          </a:bodyPr>
          <a:lstStyle/>
          <a:p>
            <a:pPr algn="l">
              <a:lnSpc>
                <a:spcPct val="115000"/>
              </a:lnSpc>
            </a:pPr>
            <a:r>
              <a:rPr sz="1350" b="1" i="0">
                <a:solidFill>
                  <a:srgbClr val="8A6200"/>
                </a:solidFill>
                <a:latin typeface="Arial"/>
              </a:rPr>
              <a:t>решает ЧЕЛОВЕК</a:t>
            </a:r>
          </a:p>
        </p:txBody>
      </p:sp>
      <p:sp>
        <p:nvSpPr>
          <p:cNvPr id="18" name="TextBox 17"/>
          <p:cNvSpPr txBox="1"/>
          <p:nvPr/>
        </p:nvSpPr>
        <p:spPr>
          <a:xfrm>
            <a:off x="8275320" y="5458968"/>
            <a:ext cx="3246120" cy="45720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/-команда</a:t>
            </a:r>
          </a:p>
        </p:txBody>
      </p:sp>
      <p:sp>
        <p:nvSpPr>
          <p:cNvPr id="19" name="TextBox 18"/>
          <p:cNvSpPr txBox="1"/>
          <p:nvPr/>
        </p:nvSpPr>
        <p:spPr>
          <a:xfrm>
            <a:off x="502920" y="6080760"/>
            <a:ext cx="11183112" cy="347472"/>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Источник: captures/32-code-mcp.json.txt — перенесено дословно</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ЦЕНА В ТОКЕНАХ</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000" b="1" i="0">
                <a:solidFill>
                  <a:srgbClr val="21295C"/>
                </a:solidFill>
                <a:latin typeface="Arial"/>
              </a:rPr>
              <a:t>Определения инструментов MCP занимают контекст ещё до начала работы</a:t>
            </a:r>
          </a:p>
        </p:txBody>
      </p:sp>
      <p:sp>
        <p:nvSpPr>
          <p:cNvPr id="4" name="Rounded Rectangle 3"/>
          <p:cNvSpPr/>
          <p:nvPr/>
        </p:nvSpPr>
        <p:spPr>
          <a:xfrm>
            <a:off x="502920" y="1783080"/>
            <a:ext cx="11183112"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84248"/>
            <a:ext cx="5964082" cy="365760"/>
          </a:xfrm>
          <a:prstGeom prst="rect">
            <a:avLst/>
          </a:prstGeom>
          <a:noFill/>
        </p:spPr>
        <p:txBody>
          <a:bodyPr wrap="square" lIns="0" rIns="0" tIns="0" bIns="0" anchor="t">
            <a:spAutoFit/>
          </a:bodyPr>
          <a:lstStyle/>
          <a:p>
            <a:pPr algn="l">
              <a:lnSpc>
                <a:spcPct val="115000"/>
              </a:lnSpc>
            </a:pPr>
            <a:r>
              <a:rPr sz="1250" b="1" i="0">
                <a:solidFill>
                  <a:srgbClr val="6B7685"/>
                </a:solidFill>
                <a:latin typeface="Arial"/>
              </a:rPr>
              <a:t>Замер</a:t>
            </a:r>
          </a:p>
        </p:txBody>
      </p:sp>
      <p:sp>
        <p:nvSpPr>
          <p:cNvPr id="6" name="TextBox 5"/>
          <p:cNvSpPr txBox="1"/>
          <p:nvPr/>
        </p:nvSpPr>
        <p:spPr>
          <a:xfrm>
            <a:off x="6741322" y="1984248"/>
            <a:ext cx="4670389" cy="365760"/>
          </a:xfrm>
          <a:prstGeom prst="rect">
            <a:avLst/>
          </a:prstGeom>
          <a:noFill/>
        </p:spPr>
        <p:txBody>
          <a:bodyPr wrap="square" lIns="0" rIns="0" tIns="0" bIns="0" anchor="t">
            <a:spAutoFit/>
          </a:bodyPr>
          <a:lstStyle/>
          <a:p>
            <a:pPr algn="l">
              <a:lnSpc>
                <a:spcPct val="115000"/>
              </a:lnSpc>
            </a:pPr>
            <a:r>
              <a:rPr sz="1250" b="1" i="0">
                <a:solidFill>
                  <a:srgbClr val="6B7685"/>
                </a:solidFill>
                <a:latin typeface="Arial"/>
              </a:rPr>
              <a:t>Значение</a:t>
            </a:r>
          </a:p>
        </p:txBody>
      </p:sp>
      <p:sp>
        <p:nvSpPr>
          <p:cNvPr id="7" name="TextBox 6"/>
          <p:cNvSpPr txBox="1"/>
          <p:nvPr/>
        </p:nvSpPr>
        <p:spPr>
          <a:xfrm>
            <a:off x="704088" y="2423160"/>
            <a:ext cx="5945794" cy="81838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Типичная связка из 5 серверов, без Tool Search</a:t>
            </a:r>
          </a:p>
        </p:txBody>
      </p:sp>
      <p:sp>
        <p:nvSpPr>
          <p:cNvPr id="8" name="TextBox 7"/>
          <p:cNvSpPr txBox="1"/>
          <p:nvPr/>
        </p:nvSpPr>
        <p:spPr>
          <a:xfrm>
            <a:off x="6741322" y="2423160"/>
            <a:ext cx="4652101" cy="81838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≈55 000 токенов определений до начала работы</a:t>
            </a:r>
          </a:p>
        </p:txBody>
      </p:sp>
      <p:cxnSp>
        <p:nvCxnSpPr>
          <p:cNvPr id="9" name="Connector 8"/>
          <p:cNvCxnSpPr/>
          <p:nvPr/>
        </p:nvCxnSpPr>
        <p:spPr>
          <a:xfrm>
            <a:off x="704088" y="3241548"/>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04088" y="3241548"/>
            <a:ext cx="5945794" cy="81838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То же, с Tool Search (по умолчанию)</a:t>
            </a:r>
          </a:p>
        </p:txBody>
      </p:sp>
      <p:sp>
        <p:nvSpPr>
          <p:cNvPr id="11" name="TextBox 10"/>
          <p:cNvSpPr txBox="1"/>
          <p:nvPr/>
        </p:nvSpPr>
        <p:spPr>
          <a:xfrm>
            <a:off x="6741322" y="3241548"/>
            <a:ext cx="4652101" cy="81838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тот же объём минус более 85%</a:t>
            </a:r>
          </a:p>
        </p:txBody>
      </p:sp>
      <p:cxnSp>
        <p:nvCxnSpPr>
          <p:cNvPr id="12" name="Connector 11"/>
          <p:cNvCxnSpPr/>
          <p:nvPr/>
        </p:nvCxnSpPr>
        <p:spPr>
          <a:xfrm>
            <a:off x="704088" y="4059935"/>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04088" y="4059935"/>
            <a:ext cx="5945794" cy="81838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Реалистичная связка 5 серверов (mcp-token-benchmark)</a:t>
            </a:r>
          </a:p>
        </p:txBody>
      </p:sp>
      <p:sp>
        <p:nvSpPr>
          <p:cNvPr id="14" name="TextBox 13"/>
          <p:cNvSpPr txBox="1"/>
          <p:nvPr/>
        </p:nvSpPr>
        <p:spPr>
          <a:xfrm>
            <a:off x="6741322" y="4059935"/>
            <a:ext cx="4652101" cy="81838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26 224 токена = 13,1% от окна 200К</a:t>
            </a:r>
          </a:p>
        </p:txBody>
      </p:sp>
      <p:cxnSp>
        <p:nvCxnSpPr>
          <p:cNvPr id="15" name="Connector 14"/>
          <p:cNvCxnSpPr/>
          <p:nvPr/>
        </p:nvCxnSpPr>
        <p:spPr>
          <a:xfrm>
            <a:off x="704088" y="4878323"/>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557784" y="4878324"/>
            <a:ext cx="11073384" cy="81838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878324"/>
            <a:ext cx="5945794" cy="81838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Одно действие «язык репозитория», CLI vs MCP</a:t>
            </a:r>
          </a:p>
        </p:txBody>
      </p:sp>
      <p:sp>
        <p:nvSpPr>
          <p:cNvPr id="18" name="TextBox 17"/>
          <p:cNvSpPr txBox="1"/>
          <p:nvPr/>
        </p:nvSpPr>
        <p:spPr>
          <a:xfrm>
            <a:off x="6741322" y="4878324"/>
            <a:ext cx="4652101" cy="81838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1 365 против 44 026 токенов</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КОНТРПРИМЕР</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400" b="1" i="0">
                <a:solidFill>
                  <a:srgbClr val="21295C"/>
                </a:solidFill>
                <a:latin typeface="Arial"/>
              </a:rPr>
              <a:t>«Подключён» — не то же самое, что «работает»</a:t>
            </a:r>
          </a:p>
        </p:txBody>
      </p:sp>
      <p:sp>
        <p:nvSpPr>
          <p:cNvPr id="4" name="Rounded Rectangle 3"/>
          <p:cNvSpPr/>
          <p:nvPr/>
        </p:nvSpPr>
        <p:spPr>
          <a:xfrm>
            <a:off x="502920" y="1783080"/>
            <a:ext cx="11183112" cy="23774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8424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notes/mcp-limitations.md</a:t>
            </a:r>
          </a:p>
        </p:txBody>
      </p:sp>
      <p:sp>
        <p:nvSpPr>
          <p:cNvPr id="6" name="TextBox 5"/>
          <p:cNvSpPr txBox="1"/>
          <p:nvPr/>
        </p:nvSpPr>
        <p:spPr>
          <a:xfrm>
            <a:off x="704088" y="2295144"/>
            <a:ext cx="10780776" cy="1664208"/>
          </a:xfrm>
          <a:prstGeom prst="rect">
            <a:avLst/>
          </a:prstGeom>
          <a:noFill/>
        </p:spPr>
        <p:txBody>
          <a:bodyPr wrap="square" lIns="0" rIns="0" tIns="0" bIns="0" anchor="t">
            <a:spAutoFit/>
          </a:bodyPr>
          <a:lstStyle/>
          <a:p>
            <a:pPr algn="l">
              <a:lnSpc>
                <a:spcPct val="132000"/>
              </a:lnSpc>
              <a:spcAft>
                <a:spcPts val="200"/>
              </a:spcAft>
            </a:pPr>
            <a:r>
              <a:rPr sz="1300" b="1" i="0">
                <a:solidFill>
                  <a:srgbClr val="028090"/>
                </a:solidFill>
                <a:latin typeface="Consolas"/>
              </a:rPr>
              <a:t>Server: workspace-mcp   [#49]</a:t>
            </a:r>
          </a:p>
          <a:p>
            <a:pPr algn="l">
              <a:lnSpc>
                <a:spcPct val="132000"/>
              </a:lnSpc>
              <a:spcAft>
                <a:spcPts val="200"/>
              </a:spcAft>
            </a:pPr>
            <a:r>
              <a:rPr sz="1300" b="0" i="0">
                <a:solidFill>
                  <a:srgbClr val="E3E9F2"/>
                </a:solidFill>
                <a:latin typeface="Consolas"/>
              </a:rPr>
              <a:t>Symptom: все вызовы возвращают ACTION REQUIRED: Google</a:t>
            </a:r>
          </a:p>
          <a:p>
            <a:pPr algn="l">
              <a:lnSpc>
                <a:spcPct val="132000"/>
              </a:lnSpc>
              <a:spcAft>
                <a:spcPts val="200"/>
              </a:spcAft>
            </a:pPr>
            <a:r>
              <a:rPr sz="1300" b="0" i="0">
                <a:solidFill>
                  <a:srgbClr val="E3E9F2"/>
                </a:solidFill>
                <a:latin typeface="Consolas"/>
              </a:rPr>
              <a:t>  Authentication Needed, хотя claude mcp list показывает</a:t>
            </a:r>
          </a:p>
          <a:p>
            <a:pPr algn="l">
              <a:lnSpc>
                <a:spcPct val="132000"/>
              </a:lnSpc>
              <a:spcAft>
                <a:spcPts val="200"/>
              </a:spcAft>
            </a:pPr>
            <a:r>
              <a:rPr sz="1300" b="0" i="0">
                <a:solidFill>
                  <a:srgbClr val="F0AB00"/>
                </a:solidFill>
                <a:latin typeface="Consolas"/>
              </a:rPr>
              <a:t>  сервер как ✓ Connected</a:t>
            </a:r>
          </a:p>
          <a:p>
            <a:pPr algn="l">
              <a:lnSpc>
                <a:spcPct val="132000"/>
              </a:lnSpc>
              <a:spcAft>
                <a:spcPts val="200"/>
              </a:spcAft>
            </a:pPr>
            <a:r>
              <a:rPr sz="1300" b="0" i="0">
                <a:solidFill>
                  <a:srgbClr val="E3E9F2"/>
                </a:solidFill>
                <a:latin typeface="Consolas"/>
              </a:rPr>
              <a:t>Root cause: OAuth-приложение в статусе Testing — refresh_token</a:t>
            </a:r>
          </a:p>
          <a:p>
            <a:pPr algn="l">
              <a:lnSpc>
                <a:spcPct val="132000"/>
              </a:lnSpc>
              <a:spcAft>
                <a:spcPts val="200"/>
              </a:spcAft>
            </a:pPr>
            <a:r>
              <a:rPr sz="1300" b="0" i="0">
                <a:solidFill>
                  <a:srgbClr val="E3E9F2"/>
                </a:solidFill>
                <a:latin typeface="Consolas"/>
              </a:rPr>
              <a:t>  отзывается автоматически через 7 дней неактивности</a:t>
            </a:r>
          </a:p>
        </p:txBody>
      </p:sp>
      <p:sp>
        <p:nvSpPr>
          <p:cNvPr id="7" name="Rounded Rectangle 6"/>
          <p:cNvSpPr/>
          <p:nvPr/>
        </p:nvSpPr>
        <p:spPr>
          <a:xfrm>
            <a:off x="502920" y="4343400"/>
            <a:ext cx="11183112" cy="1691640"/>
          </a:xfrm>
          <a:prstGeom prst="roundRect">
            <a:avLst>
              <a:gd name="adj" fmla="val 18018"/>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526280"/>
            <a:ext cx="10698480" cy="1371600"/>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Второй, независимый инцидент того же сервера [#86]: claude mcp list показывает уже ✗ Failed to connect — регрессия транзитивной зависимости aiofile 3.10.0. Статус в интерфейсе — источник истины только о факте подключения, не о работоспособности.</a:t>
            </a:r>
          </a:p>
        </p:txBody>
      </p:sp>
      <p:sp>
        <p:nvSpPr>
          <p:cNvPr id="9" name="TextBox 8"/>
          <p:cNvSpPr txBox="1"/>
          <p:nvPr/>
        </p:nvSpPr>
        <p:spPr>
          <a:xfrm>
            <a:off x="502920" y="6419088"/>
            <a:ext cx="11183112" cy="347472"/>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Источник: captures/12-workspace-mcp-connected-but-broken.md — дословная цитата notes/mcp-limitations.md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ПРОВАЛ</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1700" b="1" i="0">
                <a:solidFill>
                  <a:srgbClr val="21295C"/>
                </a:solidFill>
                <a:latin typeface="Arial"/>
              </a:rPr>
              <a:t>Одновременный доступ к публичному и приватным репозиториям позволил агенту опубликовать чужие приватные данные</a:t>
            </a:r>
          </a:p>
        </p:txBody>
      </p:sp>
      <p:sp>
        <p:nvSpPr>
          <p:cNvPr id="4" name="Rounded Rectangle 3"/>
          <p:cNvSpPr/>
          <p:nvPr/>
        </p:nvSpPr>
        <p:spPr>
          <a:xfrm>
            <a:off x="502920" y="1783080"/>
            <a:ext cx="11183112" cy="2331720"/>
          </a:xfrm>
          <a:prstGeom prst="roundRect">
            <a:avLst>
              <a:gd name="adj" fmla="val 1307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22376" y="2002536"/>
            <a:ext cx="384048" cy="384048"/>
          </a:xfrm>
          <a:prstGeom prst="rect">
            <a:avLst/>
          </a:prstGeom>
        </p:spPr>
      </p:pic>
      <p:sp>
        <p:nvSpPr>
          <p:cNvPr id="6" name="TextBox 5"/>
          <p:cNvSpPr txBox="1"/>
          <p:nvPr/>
        </p:nvSpPr>
        <p:spPr>
          <a:xfrm>
            <a:off x="1252728" y="1984248"/>
            <a:ext cx="1021384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26 мая 2025, Invariant Labs</a:t>
            </a:r>
          </a:p>
        </p:txBody>
      </p:sp>
      <p:sp>
        <p:nvSpPr>
          <p:cNvPr id="7" name="TextBox 6"/>
          <p:cNvSpPr txBox="1"/>
          <p:nvPr/>
        </p:nvSpPr>
        <p:spPr>
          <a:xfrm>
            <a:off x="722376" y="2441448"/>
            <a:ext cx="10744200" cy="117957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Агент с одновременным доступом к чтению публичного репозитория и к приватным репозиториям пользователя через один и тот же GitHub MCP-сервер прочитал скрытую инструкцию — промпт-инъекцию — в открытом issue, собрал данные из приватных репозиториев — включая адрес и зарплату — и опубликовал их в автоматически созданном публичном PR.</a:t>
            </a:r>
          </a:p>
        </p:txBody>
      </p:sp>
      <p:sp>
        <p:nvSpPr>
          <p:cNvPr id="8" name="TextBox 7"/>
          <p:cNvSpPr txBox="1"/>
          <p:nvPr/>
        </p:nvSpPr>
        <p:spPr>
          <a:xfrm>
            <a:off x="722376" y="3639311"/>
            <a:ext cx="10744200" cy="256032"/>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CVE не присвоен — архитектурный риск, не баг кода</a:t>
            </a:r>
          </a:p>
        </p:txBody>
      </p:sp>
      <p:sp>
        <p:nvSpPr>
          <p:cNvPr id="9" name="Rounded Rectangle 8"/>
          <p:cNvSpPr/>
          <p:nvPr/>
        </p:nvSpPr>
        <p:spPr>
          <a:xfrm>
            <a:off x="502920" y="4370832"/>
            <a:ext cx="11183112" cy="2331720"/>
          </a:xfrm>
          <a:prstGeom prst="roundRect">
            <a:avLst>
              <a:gd name="adj" fmla="val 13071"/>
            </a:avLst>
          </a:prstGeom>
          <a:solidFill>
            <a:srgbClr val="FEF5E0"/>
          </a:solidFill>
          <a:ln w="20320">
            <a:solidFill>
              <a:srgbClr val="F0AB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ink-8A6200-96.png"/>
          <p:cNvPicPr>
            <a:picLocks noChangeAspect="1"/>
          </p:cNvPicPr>
          <p:nvPr/>
        </p:nvPicPr>
        <p:blipFill>
          <a:blip r:embed="rId3"/>
          <a:stretch>
            <a:fillRect/>
          </a:stretch>
        </p:blipFill>
        <p:spPr>
          <a:xfrm>
            <a:off x="722376" y="4590288"/>
            <a:ext cx="384048" cy="384048"/>
          </a:xfrm>
          <a:prstGeom prst="rect">
            <a:avLst/>
          </a:prstGeom>
        </p:spPr>
      </p:pic>
      <p:sp>
        <p:nvSpPr>
          <p:cNvPr id="11" name="TextBox 10"/>
          <p:cNvSpPr txBox="1"/>
          <p:nvPr/>
        </p:nvSpPr>
        <p:spPr>
          <a:xfrm>
            <a:off x="1252728" y="4572000"/>
            <a:ext cx="10213848" cy="365760"/>
          </a:xfrm>
          <a:prstGeom prst="rect">
            <a:avLst/>
          </a:prstGeom>
          <a:noFill/>
        </p:spPr>
        <p:txBody>
          <a:bodyPr wrap="square" lIns="0" rIns="0" tIns="0" bIns="0" anchor="t">
            <a:spAutoFit/>
          </a:bodyPr>
          <a:lstStyle/>
          <a:p>
            <a:pPr algn="l">
              <a:lnSpc>
                <a:spcPct val="115000"/>
              </a:lnSpc>
            </a:pPr>
            <a:r>
              <a:rPr sz="1400" b="1" i="0">
                <a:solidFill>
                  <a:srgbClr val="8A6200"/>
                </a:solidFill>
                <a:latin typeface="Arial"/>
              </a:rPr>
              <a:t>«Смертельное трио» (Simon Willison, 16 июня 2025)</a:t>
            </a:r>
          </a:p>
        </p:txBody>
      </p:sp>
      <p:sp>
        <p:nvSpPr>
          <p:cNvPr id="12" name="TextBox 11"/>
          <p:cNvSpPr txBox="1"/>
          <p:nvPr/>
        </p:nvSpPr>
        <p:spPr>
          <a:xfrm>
            <a:off x="722376" y="5029200"/>
            <a:ext cx="10744200" cy="145389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Три условия одновременно делают утечку возможной без единой строчки эксплойт-кода: доступ к приватным данным + обработка недоверенного внешнего контента + канал отправки наружу. Та же схема независимо воспроизвелась в июле 2025 на Supabase MCP.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5 · КРИТЕРИЙ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500" b="1" i="0">
                <a:solidFill>
                  <a:srgbClr val="21295C"/>
                </a:solidFill>
                <a:latin typeface="Arial"/>
              </a:rPr>
              <a:t>Здесь MCP-сервер ещё не нужен</a:t>
            </a:r>
          </a:p>
        </p:txBody>
      </p:sp>
      <p:sp>
        <p:nvSpPr>
          <p:cNvPr id="4" name="Rounded Rectangle 3"/>
          <p:cNvSpPr/>
          <p:nvPr/>
        </p:nvSpPr>
        <p:spPr>
          <a:xfrm>
            <a:off x="502920" y="1783080"/>
            <a:ext cx="5490972" cy="1965960"/>
          </a:xfrm>
          <a:prstGeom prst="roundRect">
            <a:avLst>
              <a:gd name="adj" fmla="val 15503"/>
            </a:avLst>
          </a:prstGeom>
          <a:solidFill>
            <a:srgbClr val="F4F7FA"/>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minal-8A6200-64.png"/>
          <p:cNvPicPr>
            <a:picLocks noChangeAspect="1"/>
          </p:cNvPicPr>
          <p:nvPr/>
        </p:nvPicPr>
        <p:blipFill>
          <a:blip r:embed="rId2"/>
          <a:stretch>
            <a:fillRect/>
          </a:stretch>
        </p:blipFill>
        <p:spPr>
          <a:xfrm>
            <a:off x="685800" y="1965960"/>
            <a:ext cx="310896" cy="310896"/>
          </a:xfrm>
          <a:prstGeom prst="rect">
            <a:avLst/>
          </a:prstGeom>
        </p:spPr>
      </p:pic>
      <p:sp>
        <p:nvSpPr>
          <p:cNvPr id="6" name="TextBox 5"/>
          <p:cNvSpPr txBox="1"/>
          <p:nvPr/>
        </p:nvSpPr>
        <p:spPr>
          <a:xfrm>
            <a:off x="1124712" y="1938528"/>
            <a:ext cx="4686300" cy="45720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Хватает gh / psql / aws через Bash</a:t>
            </a:r>
          </a:p>
        </p:txBody>
      </p:sp>
      <p:sp>
        <p:nvSpPr>
          <p:cNvPr id="7" name="TextBox 6"/>
          <p:cNvSpPr txBox="1"/>
          <p:nvPr/>
        </p:nvSpPr>
        <p:spPr>
          <a:xfrm>
            <a:off x="685800" y="2560320"/>
            <a:ext cx="5125212" cy="1005839"/>
          </a:xfrm>
          <a:prstGeom prst="rect">
            <a:avLst/>
          </a:prstGeom>
          <a:noFill/>
        </p:spPr>
        <p:txBody>
          <a:bodyPr wrap="square" lIns="0" rIns="0" tIns="0" bIns="0" anchor="t">
            <a:spAutoFit/>
          </a:bodyPr>
          <a:lstStyle/>
          <a:p>
            <a:pPr algn="l">
              <a:lnSpc>
                <a:spcPct val="122000"/>
              </a:lnSpc>
            </a:pPr>
            <a:r>
              <a:rPr sz="1150" b="0" i="1">
                <a:solidFill>
                  <a:srgbClr val="8A6200"/>
                </a:solidFill>
                <a:latin typeface="Arial"/>
              </a:rPr>
              <a:t>Задача сводится к известному CLI-вызову</a:t>
            </a:r>
          </a:p>
        </p:txBody>
      </p:sp>
      <p:sp>
        <p:nvSpPr>
          <p:cNvPr id="8" name="Rounded Rectangle 7"/>
          <p:cNvSpPr/>
          <p:nvPr/>
        </p:nvSpPr>
        <p:spPr>
          <a:xfrm>
            <a:off x="6195059" y="1783080"/>
            <a:ext cx="5490972"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ock-1C7293-64.png"/>
          <p:cNvPicPr>
            <a:picLocks noChangeAspect="1"/>
          </p:cNvPicPr>
          <p:nvPr/>
        </p:nvPicPr>
        <p:blipFill>
          <a:blip r:embed="rId3"/>
          <a:stretch>
            <a:fillRect/>
          </a:stretch>
        </p:blipFill>
        <p:spPr>
          <a:xfrm>
            <a:off x="6377940" y="1965960"/>
            <a:ext cx="310896" cy="310896"/>
          </a:xfrm>
          <a:prstGeom prst="rect">
            <a:avLst/>
          </a:prstGeom>
        </p:spPr>
      </p:pic>
      <p:sp>
        <p:nvSpPr>
          <p:cNvPr id="10" name="TextBox 9"/>
          <p:cNvSpPr txBox="1"/>
          <p:nvPr/>
        </p:nvSpPr>
        <p:spPr>
          <a:xfrm>
            <a:off x="6816852" y="1938528"/>
            <a:ext cx="4686300" cy="45720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Разовое или редкое действие</a:t>
            </a:r>
          </a:p>
        </p:txBody>
      </p:sp>
      <p:sp>
        <p:nvSpPr>
          <p:cNvPr id="11" name="TextBox 10"/>
          <p:cNvSpPr txBox="1"/>
          <p:nvPr/>
        </p:nvSpPr>
        <p:spPr>
          <a:xfrm>
            <a:off x="6377940" y="2560320"/>
            <a:ext cx="5125212" cy="1005839"/>
          </a:xfrm>
          <a:prstGeom prst="rect">
            <a:avLst/>
          </a:prstGeom>
          <a:noFill/>
        </p:spPr>
        <p:txBody>
          <a:bodyPr wrap="square" lIns="0" rIns="0" tIns="0" bIns="0" anchor="t">
            <a:spAutoFit/>
          </a:bodyPr>
          <a:lstStyle/>
          <a:p>
            <a:pPr algn="l">
              <a:lnSpc>
                <a:spcPct val="122000"/>
              </a:lnSpc>
            </a:pPr>
            <a:r>
              <a:rPr sz="1150" b="0" i="1">
                <a:solidFill>
                  <a:srgbClr val="028090"/>
                </a:solidFill>
                <a:latin typeface="Arial"/>
              </a:rPr>
              <a:t>Не повторяющийся доступ</a:t>
            </a:r>
          </a:p>
        </p:txBody>
      </p:sp>
      <p:sp>
        <p:nvSpPr>
          <p:cNvPr id="12" name="Rounded Rectangle 11"/>
          <p:cNvSpPr/>
          <p:nvPr/>
        </p:nvSpPr>
        <p:spPr>
          <a:xfrm>
            <a:off x="502920" y="3950208"/>
            <a:ext cx="5490972"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ye-1C7293-64.png"/>
          <p:cNvPicPr>
            <a:picLocks noChangeAspect="1"/>
          </p:cNvPicPr>
          <p:nvPr/>
        </p:nvPicPr>
        <p:blipFill>
          <a:blip r:embed="rId4"/>
          <a:stretch>
            <a:fillRect/>
          </a:stretch>
        </p:blipFill>
        <p:spPr>
          <a:xfrm>
            <a:off x="685800" y="4133088"/>
            <a:ext cx="310896" cy="310896"/>
          </a:xfrm>
          <a:prstGeom prst="rect">
            <a:avLst/>
          </a:prstGeom>
        </p:spPr>
      </p:pic>
      <p:sp>
        <p:nvSpPr>
          <p:cNvPr id="14" name="TextBox 13"/>
          <p:cNvSpPr txBox="1"/>
          <p:nvPr/>
        </p:nvSpPr>
        <p:spPr>
          <a:xfrm>
            <a:off x="1124712" y="4105656"/>
            <a:ext cx="4686300" cy="45720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Снимок на момент запуска достаточен</a:t>
            </a:r>
          </a:p>
        </p:txBody>
      </p:sp>
      <p:sp>
        <p:nvSpPr>
          <p:cNvPr id="15" name="TextBox 14"/>
          <p:cNvSpPr txBox="1"/>
          <p:nvPr/>
        </p:nvSpPr>
        <p:spPr>
          <a:xfrm>
            <a:off x="685800" y="4727448"/>
            <a:ext cx="5125212" cy="1005839"/>
          </a:xfrm>
          <a:prstGeom prst="rect">
            <a:avLst/>
          </a:prstGeom>
          <a:noFill/>
        </p:spPr>
        <p:txBody>
          <a:bodyPr wrap="square" lIns="0" rIns="0" tIns="0" bIns="0" anchor="t">
            <a:spAutoFit/>
          </a:bodyPr>
          <a:lstStyle/>
          <a:p>
            <a:pPr algn="l">
              <a:lnSpc>
                <a:spcPct val="122000"/>
              </a:lnSpc>
            </a:pPr>
            <a:r>
              <a:rPr sz="1150" b="0" i="1">
                <a:solidFill>
                  <a:srgbClr val="028090"/>
                </a:solidFill>
                <a:latin typeface="Arial"/>
              </a:rPr>
              <a:t>Реальное время не критично</a:t>
            </a:r>
          </a:p>
        </p:txBody>
      </p:sp>
      <p:sp>
        <p:nvSpPr>
          <p:cNvPr id="16" name="Rounded Rectangle 15"/>
          <p:cNvSpPr/>
          <p:nvPr/>
        </p:nvSpPr>
        <p:spPr>
          <a:xfrm>
            <a:off x="6195059" y="3950208"/>
            <a:ext cx="5490972"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1C7293-64.png"/>
          <p:cNvPicPr>
            <a:picLocks noChangeAspect="1"/>
          </p:cNvPicPr>
          <p:nvPr/>
        </p:nvPicPr>
        <p:blipFill>
          <a:blip r:embed="rId5"/>
          <a:stretch>
            <a:fillRect/>
          </a:stretch>
        </p:blipFill>
        <p:spPr>
          <a:xfrm>
            <a:off x="6377940" y="4133088"/>
            <a:ext cx="310896" cy="310896"/>
          </a:xfrm>
          <a:prstGeom prst="rect">
            <a:avLst/>
          </a:prstGeom>
        </p:spPr>
      </p:pic>
      <p:sp>
        <p:nvSpPr>
          <p:cNvPr id="18" name="TextBox 17"/>
          <p:cNvSpPr txBox="1"/>
          <p:nvPr/>
        </p:nvSpPr>
        <p:spPr>
          <a:xfrm>
            <a:off x="6816852" y="4105656"/>
            <a:ext cx="4686300" cy="45720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Один клиент, одна сессия</a:t>
            </a:r>
          </a:p>
        </p:txBody>
      </p:sp>
      <p:sp>
        <p:nvSpPr>
          <p:cNvPr id="19" name="TextBox 18"/>
          <p:cNvSpPr txBox="1"/>
          <p:nvPr/>
        </p:nvSpPr>
        <p:spPr>
          <a:xfrm>
            <a:off x="6377940" y="4727448"/>
            <a:ext cx="5125212" cy="1005839"/>
          </a:xfrm>
          <a:prstGeom prst="rect">
            <a:avLst/>
          </a:prstGeom>
          <a:noFill/>
        </p:spPr>
        <p:txBody>
          <a:bodyPr wrap="square" lIns="0" rIns="0" tIns="0" bIns="0" anchor="t">
            <a:spAutoFit/>
          </a:bodyPr>
          <a:lstStyle/>
          <a:p>
            <a:pPr algn="l">
              <a:lnSpc>
                <a:spcPct val="122000"/>
              </a:lnSpc>
            </a:pPr>
            <a:r>
              <a:rPr sz="1150" b="0" i="1">
                <a:solidFill>
                  <a:srgbClr val="028090"/>
                </a:solidFill>
                <a:latin typeface="Arial"/>
              </a:rPr>
              <a:t>Нет нужды делить состояние между несколькими</a:t>
            </a:r>
          </a:p>
        </p:txBody>
      </p:sp>
      <p:sp>
        <p:nvSpPr>
          <p:cNvPr id="20" name="TextBox 19"/>
          <p:cNvSpPr txBox="1"/>
          <p:nvPr/>
        </p:nvSpPr>
        <p:spPr>
          <a:xfrm>
            <a:off x="502920" y="6117336"/>
            <a:ext cx="11183112" cy="365760"/>
          </a:xfrm>
          <a:prstGeom prst="rect">
            <a:avLst/>
          </a:prstGeom>
          <a:noFill/>
        </p:spPr>
        <p:txBody>
          <a:bodyPr wrap="square" lIns="0" rIns="0" tIns="0" bIns="0" anchor="t">
            <a:spAutoFit/>
          </a:bodyPr>
          <a:lstStyle/>
          <a:p>
            <a:pPr algn="ctr">
              <a:lnSpc>
                <a:spcPct val="115000"/>
              </a:lnSpc>
            </a:pPr>
            <a:r>
              <a:rPr sz="1250" b="0" i="1">
                <a:solidFill>
                  <a:srgbClr val="6B7685"/>
                </a:solidFill>
                <a:latin typeface="Arial"/>
              </a:rPr>
              <a:t>MCP — общий переходник к внешней системе, чтобы не писать отдельную интеграцию под каждого клиента</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6</a:t>
            </a:r>
          </a:p>
        </p:txBody>
      </p:sp>
      <p:sp>
        <p:nvSpPr>
          <p:cNvPr id="4" name="TextBox 3"/>
          <p:cNvSpPr txBox="1"/>
          <p:nvPr/>
        </p:nvSpPr>
        <p:spPr>
          <a:xfrm>
            <a:off x="3017520" y="2331720"/>
            <a:ext cx="7498079" cy="1188720"/>
          </a:xfrm>
          <a:prstGeom prst="rect">
            <a:avLst/>
          </a:prstGeom>
          <a:noFill/>
        </p:spPr>
        <p:txBody>
          <a:bodyPr wrap="square" lIns="0" rIns="0" tIns="0" bIns="0" anchor="ctr">
            <a:spAutoFit/>
          </a:bodyPr>
          <a:lstStyle/>
          <a:p>
            <a:pPr algn="l">
              <a:lnSpc>
                <a:spcPct val="105000"/>
              </a:lnSpc>
            </a:pPr>
            <a:r>
              <a:rPr sz="4400" b="1" i="0">
                <a:solidFill>
                  <a:srgbClr val="FFFFFF"/>
                </a:solidFill>
                <a:latin typeface="Arial"/>
              </a:rPr>
              <a:t>Субагенты</a:t>
            </a:r>
          </a:p>
        </p:txBody>
      </p:sp>
      <p:sp>
        <p:nvSpPr>
          <p:cNvPr id="5" name="Rounded Rectangle 4"/>
          <p:cNvSpPr/>
          <p:nvPr/>
        </p:nvSpPr>
        <p:spPr>
          <a:xfrm>
            <a:off x="3063240" y="3611880"/>
            <a:ext cx="7315200" cy="457200"/>
          </a:xfrm>
          <a:prstGeom prst="roundRect">
            <a:avLst>
              <a:gd name="adj" fmla="val 50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none"/>
          <a:lstStyle/>
          <a:p>
            <a:pPr algn="ctr"/>
            <a:r>
              <a:rPr sz="1300" b="1">
                <a:solidFill>
                  <a:srgbClr val="F0AB00"/>
                </a:solidFill>
                <a:latin typeface="Arial"/>
              </a:rPr>
              <a:t>ТА ЖЕ СЕССИЯ НЕ МОЖЕТ ЧЕСТНО ПРОВЕРИТЬ СЕБЯ</a:t>
            </a:r>
          </a:p>
        </p:txBody>
      </p:sp>
      <p:sp>
        <p:nvSpPr>
          <p:cNvPr id="6" name="Rounded Rectangle 5"/>
          <p:cNvSpPr/>
          <p:nvPr/>
        </p:nvSpPr>
        <p:spPr>
          <a:xfrm>
            <a:off x="9326880" y="3977640"/>
            <a:ext cx="2194560" cy="219456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F0AB00-128.png"/>
          <p:cNvPicPr>
            <a:picLocks noChangeAspect="1"/>
          </p:cNvPicPr>
          <p:nvPr/>
        </p:nvPicPr>
        <p:blipFill>
          <a:blip r:embed="rId2"/>
          <a:stretch>
            <a:fillRect/>
          </a:stretch>
        </p:blipFill>
        <p:spPr>
          <a:xfrm>
            <a:off x="9646920" y="4297680"/>
            <a:ext cx="1554480" cy="155448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СЦЕНАРИЙ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000" b="1" i="0">
                <a:solidFill>
                  <a:srgbClr val="21295C"/>
                </a:solidFill>
                <a:latin typeface="Arial"/>
              </a:rPr>
              <a:t>Одна и та же сессия не может быть независимым ревьюером собственного изменения</a:t>
            </a:r>
          </a:p>
        </p:txBody>
      </p:sp>
      <p:sp>
        <p:nvSpPr>
          <p:cNvPr id="4" name="Rounded Rectangle 3"/>
          <p:cNvSpPr/>
          <p:nvPr/>
        </p:nvSpPr>
        <p:spPr>
          <a:xfrm>
            <a:off x="502920" y="1783080"/>
            <a:ext cx="11183112" cy="2103120"/>
          </a:xfrm>
          <a:prstGeom prst="roundRect">
            <a:avLst>
              <a:gd name="adj" fmla="val 14492"/>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eat-21295C-96.png"/>
          <p:cNvPicPr>
            <a:picLocks noChangeAspect="1"/>
          </p:cNvPicPr>
          <p:nvPr/>
        </p:nvPicPr>
        <p:blipFill>
          <a:blip r:embed="rId2"/>
          <a:stretch>
            <a:fillRect/>
          </a:stretch>
        </p:blipFill>
        <p:spPr>
          <a:xfrm>
            <a:off x="722376" y="2002536"/>
            <a:ext cx="384048" cy="384048"/>
          </a:xfrm>
          <a:prstGeom prst="rect">
            <a:avLst/>
          </a:prstGeom>
        </p:spPr>
      </p:pic>
      <p:sp>
        <p:nvSpPr>
          <p:cNvPr id="6" name="TextBox 5"/>
          <p:cNvSpPr txBox="1"/>
          <p:nvPr/>
        </p:nvSpPr>
        <p:spPr>
          <a:xfrm>
            <a:off x="1252728" y="1984248"/>
            <a:ext cx="1021384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Третий раз за неделю</a:t>
            </a:r>
          </a:p>
        </p:txBody>
      </p:sp>
      <p:sp>
        <p:nvSpPr>
          <p:cNvPr id="7" name="TextBox 6"/>
          <p:cNvSpPr txBox="1"/>
          <p:nvPr/>
        </p:nvSpPr>
        <p:spPr>
          <a:xfrm>
            <a:off x="722376" y="2441448"/>
            <a:ext cx="10744200" cy="122529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Вы просите ту же сессию, что писала правку src/validate.js, честно перепроверить саму себя перед тем, как деплоить изменение на прод, «максимально придирчиво». Сессия старается быть состязательной к себе — но остаётся тем же контекстом рассуждений, тем же слепым пятном.</a:t>
            </a:r>
          </a:p>
        </p:txBody>
      </p:sp>
      <p:sp>
        <p:nvSpPr>
          <p:cNvPr id="8" name="Rounded Rectangle 7"/>
          <p:cNvSpPr/>
          <p:nvPr/>
        </p:nvSpPr>
        <p:spPr>
          <a:xfrm>
            <a:off x="502920" y="4069080"/>
            <a:ext cx="11183112" cy="10515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4142232"/>
            <a:ext cx="10780776" cy="905255"/>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«Она честно старается быть придирчивой. Достаточно ли этого — и если нет, что именно нужно заменить?»</a:t>
            </a:r>
          </a:p>
        </p:txBody>
      </p:sp>
      <p:sp>
        <p:nvSpPr>
          <p:cNvPr id="10" name="Rounded Rectangle 9"/>
          <p:cNvSpPr/>
          <p:nvPr/>
        </p:nvSpPr>
        <p:spPr>
          <a:xfrm>
            <a:off x="502920" y="5394960"/>
            <a:ext cx="11183112" cy="1005839"/>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and-028090-96.png"/>
          <p:cNvPicPr>
            <a:picLocks noChangeAspect="1"/>
          </p:cNvPicPr>
          <p:nvPr/>
        </p:nvPicPr>
        <p:blipFill>
          <a:blip r:embed="rId3"/>
          <a:stretch>
            <a:fillRect/>
          </a:stretch>
        </p:blipFill>
        <p:spPr>
          <a:xfrm>
            <a:off x="777240" y="5669280"/>
            <a:ext cx="457200" cy="457200"/>
          </a:xfrm>
          <a:prstGeom prst="rect">
            <a:avLst/>
          </a:prstGeom>
        </p:spPr>
      </p:pic>
      <p:sp>
        <p:nvSpPr>
          <p:cNvPr id="12" name="TextBox 11"/>
          <p:cNvSpPr txBox="1"/>
          <p:nvPr/>
        </p:nvSpPr>
        <p:spPr>
          <a:xfrm>
            <a:off x="1463040" y="5394960"/>
            <a:ext cx="9994392" cy="1005839"/>
          </a:xfrm>
          <a:prstGeom prst="rect">
            <a:avLst/>
          </a:prstGeom>
          <a:noFill/>
        </p:spPr>
        <p:txBody>
          <a:bodyPr wrap="square" lIns="0" rIns="0" tIns="0" bIns="0" anchor="ctr">
            <a:spAutoFit/>
          </a:bodyPr>
          <a:lstStyle/>
          <a:p>
            <a:pPr algn="l">
              <a:lnSpc>
                <a:spcPct val="115000"/>
              </a:lnSpc>
            </a:pPr>
            <a:r>
              <a:rPr sz="1350" b="1" i="0">
                <a:solidFill>
                  <a:srgbClr val="065A82"/>
                </a:solidFill>
                <a:latin typeface="Arial"/>
              </a:rPr>
              <a:t>Открытый вопрос классу — два-три голоса из зала, затем разбор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РЕШЕНИЕ</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1800" b="1" i="0">
                <a:solidFill>
                  <a:srgbClr val="21295C"/>
                </a:solidFill>
                <a:latin typeface="Arial"/>
              </a:rPr>
              <a:t>Ревьюер видит только diff и критерии приёмки — не рассуждения, которые привели к изменению</a:t>
            </a:r>
          </a:p>
        </p:txBody>
      </p:sp>
      <p:sp>
        <p:nvSpPr>
          <p:cNvPr id="4" name="Rounded Rectangle 3"/>
          <p:cNvSpPr/>
          <p:nvPr/>
        </p:nvSpPr>
        <p:spPr>
          <a:xfrm>
            <a:off x="502920" y="1691640"/>
            <a:ext cx="5486400" cy="35204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508406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diff-reviewer.md</a:t>
            </a:r>
          </a:p>
        </p:txBody>
      </p:sp>
      <p:sp>
        <p:nvSpPr>
          <p:cNvPr id="6" name="TextBox 5"/>
          <p:cNvSpPr txBox="1"/>
          <p:nvPr/>
        </p:nvSpPr>
        <p:spPr>
          <a:xfrm>
            <a:off x="704088" y="2203704"/>
            <a:ext cx="5084064" cy="2807208"/>
          </a:xfrm>
          <a:prstGeom prst="rect">
            <a:avLst/>
          </a:prstGeom>
          <a:noFill/>
        </p:spPr>
        <p:txBody>
          <a:bodyPr wrap="square" lIns="0" rIns="0" tIns="0" bIns="0" anchor="t">
            <a:spAutoFit/>
          </a:bodyPr>
          <a:lstStyle/>
          <a:p>
            <a:pPr algn="l">
              <a:lnSpc>
                <a:spcPct val="112000"/>
              </a:lnSpc>
              <a:spcAft>
                <a:spcPts val="200"/>
              </a:spcAft>
            </a:pPr>
            <a:r>
              <a:rPr sz="1050" b="0" i="0">
                <a:solidFill>
                  <a:srgbClr val="8B9BB4"/>
                </a:solidFill>
                <a:latin typeface="Consolas"/>
              </a:rPr>
              <a:t>---</a:t>
            </a:r>
          </a:p>
          <a:p>
            <a:pPr algn="l">
              <a:lnSpc>
                <a:spcPct val="112000"/>
              </a:lnSpc>
              <a:spcAft>
                <a:spcPts val="200"/>
              </a:spcAft>
            </a:pPr>
            <a:r>
              <a:rPr sz="1050" b="1" i="0">
                <a:solidFill>
                  <a:srgbClr val="028090"/>
                </a:solidFill>
                <a:latin typeface="Consolas"/>
              </a:rPr>
              <a:t>name: diff-reviewer</a:t>
            </a:r>
          </a:p>
          <a:p>
            <a:pPr algn="l">
              <a:lnSpc>
                <a:spcPct val="112000"/>
              </a:lnSpc>
              <a:spcAft>
                <a:spcPts val="200"/>
              </a:spcAft>
            </a:pPr>
            <a:r>
              <a:rPr sz="1050" b="0" i="0">
                <a:solidFill>
                  <a:srgbClr val="E3E9F2"/>
                </a:solidFill>
                <a:latin typeface="Consolas"/>
              </a:rPr>
              <a:t>description: Независимый ревьюер diff'ов. Видит только</a:t>
            </a:r>
          </a:p>
          <a:p>
            <a:pPr algn="l">
              <a:lnSpc>
                <a:spcPct val="112000"/>
              </a:lnSpc>
              <a:spcAft>
                <a:spcPts val="200"/>
              </a:spcAft>
            </a:pPr>
            <a:r>
              <a:rPr sz="1050" b="0" i="0">
                <a:solidFill>
                  <a:srgbClr val="E3E9F2"/>
                </a:solidFill>
                <a:latin typeface="Consolas"/>
              </a:rPr>
              <a:t>  сам diff и критерии приёмки, не рассуждения автора.</a:t>
            </a:r>
          </a:p>
          <a:p>
            <a:pPr algn="l">
              <a:lnSpc>
                <a:spcPct val="112000"/>
              </a:lnSpc>
              <a:spcAft>
                <a:spcPts val="200"/>
              </a:spcAft>
            </a:pPr>
            <a:r>
              <a:rPr sz="1050" b="0" i="0">
                <a:solidFill>
                  <a:srgbClr val="E3E9F2"/>
                </a:solidFill>
                <a:latin typeface="Consolas"/>
              </a:rPr>
              <a:t>  Используй перед мержем любого нетривиального</a:t>
            </a:r>
          </a:p>
          <a:p>
            <a:pPr algn="l">
              <a:lnSpc>
                <a:spcPct val="112000"/>
              </a:lnSpc>
              <a:spcAft>
                <a:spcPts val="200"/>
              </a:spcAft>
            </a:pPr>
            <a:r>
              <a:rPr sz="1050" b="0" i="0">
                <a:solidFill>
                  <a:srgbClr val="E3E9F2"/>
                </a:solidFill>
                <a:latin typeface="Consolas"/>
              </a:rPr>
              <a:t>  изменения. НЕ для методической критики текста.</a:t>
            </a:r>
          </a:p>
          <a:p>
            <a:pPr algn="l">
              <a:lnSpc>
                <a:spcPct val="112000"/>
              </a:lnSpc>
              <a:spcAft>
                <a:spcPts val="200"/>
              </a:spcAft>
            </a:pPr>
            <a:r>
              <a:rPr sz="1050" b="1" i="0">
                <a:solidFill>
                  <a:srgbClr val="F0AB00"/>
                </a:solidFill>
                <a:latin typeface="Consolas"/>
              </a:rPr>
              <a:t>tools: Read, Grep, Glob</a:t>
            </a:r>
          </a:p>
          <a:p>
            <a:pPr algn="l">
              <a:lnSpc>
                <a:spcPct val="112000"/>
              </a:lnSpc>
              <a:spcAft>
                <a:spcPts val="200"/>
              </a:spcAft>
            </a:pPr>
            <a:r>
              <a:rPr sz="1050" b="0" i="0">
                <a:solidFill>
                  <a:srgbClr val="8B9BB4"/>
                </a:solidFill>
                <a:latin typeface="Consolas"/>
              </a:rPr>
              <a:t>---</a:t>
            </a:r>
          </a:p>
          <a:p>
            <a:pPr algn="l">
              <a:lnSpc>
                <a:spcPct val="112000"/>
              </a:lnSpc>
              <a:spcAft>
                <a:spcPts val="200"/>
              </a:spcAft>
            </a:pPr>
            <a:r>
              <a:rPr sz="1050" b="0" i="0">
                <a:solidFill>
                  <a:srgbClr val="E3E9F2"/>
                </a:solidFill>
                <a:latin typeface="Consolas"/>
              </a:rPr>
              <a:t/>
            </a:r>
          </a:p>
          <a:p>
            <a:pPr algn="l">
              <a:lnSpc>
                <a:spcPct val="112000"/>
              </a:lnSpc>
              <a:spcAft>
                <a:spcPts val="200"/>
              </a:spcAft>
            </a:pPr>
            <a:r>
              <a:rPr sz="1050" b="1" i="0">
                <a:solidFill>
                  <a:srgbClr val="028090"/>
                </a:solidFill>
                <a:latin typeface="Consolas"/>
              </a:rPr>
              <a:t># diff-reviewer</a:t>
            </a:r>
          </a:p>
          <a:p>
            <a:pPr algn="l">
              <a:lnSpc>
                <a:spcPct val="112000"/>
              </a:lnSpc>
              <a:spcAft>
                <a:spcPts val="200"/>
              </a:spcAft>
            </a:pPr>
            <a:r>
              <a:rPr sz="1050" b="0" i="0">
                <a:solidFill>
                  <a:srgbClr val="E3E9F2"/>
                </a:solidFill>
                <a:latin typeface="Consolas"/>
              </a:rPr>
              <a:t>Начни ответ строкой:</a:t>
            </a:r>
          </a:p>
          <a:p>
            <a:pPr algn="l">
              <a:lnSpc>
                <a:spcPct val="112000"/>
              </a:lnSpc>
              <a:spcAft>
                <a:spcPts val="200"/>
              </a:spcAft>
            </a:pPr>
            <a:r>
              <a:rPr sz="1050" b="1" i="0">
                <a:solidFill>
                  <a:srgbClr val="F0AB00"/>
                </a:solidFill>
                <a:latin typeface="Consolas"/>
              </a:rPr>
              <a:t>VERDICT: PASS | BLOCK</a:t>
            </a:r>
          </a:p>
        </p:txBody>
      </p:sp>
      <p:sp>
        <p:nvSpPr>
          <p:cNvPr id="7" name="Rounded Rectangle 6"/>
          <p:cNvSpPr/>
          <p:nvPr/>
        </p:nvSpPr>
        <p:spPr>
          <a:xfrm>
            <a:off x="6199632" y="1691640"/>
            <a:ext cx="5486400" cy="35204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892808"/>
            <a:ext cx="508406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src/validate.js diff</a:t>
            </a:r>
          </a:p>
        </p:txBody>
      </p:sp>
      <p:sp>
        <p:nvSpPr>
          <p:cNvPr id="9" name="TextBox 8"/>
          <p:cNvSpPr txBox="1"/>
          <p:nvPr/>
        </p:nvSpPr>
        <p:spPr>
          <a:xfrm>
            <a:off x="6400800" y="2203704"/>
            <a:ext cx="5084064" cy="2807208"/>
          </a:xfrm>
          <a:prstGeom prst="rect">
            <a:avLst/>
          </a:prstGeom>
          <a:noFill/>
        </p:spPr>
        <p:txBody>
          <a:bodyPr wrap="square" lIns="0" rIns="0" tIns="0" bIns="0" anchor="t">
            <a:spAutoFit/>
          </a:bodyPr>
          <a:lstStyle/>
          <a:p>
            <a:pPr algn="l">
              <a:lnSpc>
                <a:spcPct val="120000"/>
              </a:lnSpc>
              <a:spcAft>
                <a:spcPts val="200"/>
              </a:spcAft>
            </a:pPr>
            <a:r>
              <a:rPr sz="1100" b="0" i="0">
                <a:solidFill>
                  <a:srgbClr val="8B9BB4"/>
                </a:solidFill>
                <a:latin typeface="Consolas"/>
              </a:rPr>
              <a:t>diff --git a/src/validate.js b/src/validate.js</a:t>
            </a:r>
          </a:p>
          <a:p>
            <a:pPr algn="l">
              <a:lnSpc>
                <a:spcPct val="120000"/>
              </a:lnSpc>
              <a:spcAft>
                <a:spcPts val="200"/>
              </a:spcAft>
            </a:pPr>
            <a:r>
              <a:rPr sz="1100" b="0" i="0">
                <a:solidFill>
                  <a:srgbClr val="8B9BB4"/>
                </a:solidFill>
                <a:latin typeface="Consolas"/>
              </a:rPr>
              <a:t>@@ export function showValidationErrors(form) {</a:t>
            </a:r>
          </a:p>
          <a:p>
            <a:pPr algn="l">
              <a:lnSpc>
                <a:spcPct val="120000"/>
              </a:lnSpc>
              <a:spcAft>
                <a:spcPts val="200"/>
              </a:spcAft>
            </a:pPr>
            <a:r>
              <a:rPr sz="1100" b="0" i="0">
                <a:solidFill>
                  <a:srgbClr val="E3E9F2"/>
                </a:solidFill>
                <a:latin typeface="Consolas"/>
              </a:rPr>
              <a:t>   form.reportValidity();</a:t>
            </a:r>
          </a:p>
          <a:p>
            <a:pPr algn="l">
              <a:lnSpc>
                <a:spcPct val="120000"/>
              </a:lnSpc>
              <a:spcAft>
                <a:spcPts val="200"/>
              </a:spcAft>
            </a:pPr>
            <a:r>
              <a:rPr sz="1100" b="0" i="0">
                <a:solidFill>
                  <a:srgbClr val="E3E9F2"/>
                </a:solidFill>
                <a:latin typeface="Consolas"/>
              </a:rPr>
              <a:t> }</a:t>
            </a:r>
          </a:p>
          <a:p>
            <a:pPr algn="l">
              <a:lnSpc>
                <a:spcPct val="120000"/>
              </a:lnSpc>
              <a:spcAft>
                <a:spcPts val="200"/>
              </a:spcAft>
            </a:pPr>
            <a:r>
              <a:rPr sz="1100" b="0" i="0">
                <a:solidFill>
                  <a:srgbClr val="6FB06A"/>
                </a:solidFill>
                <a:latin typeface="Consolas"/>
              </a:rPr>
              <a:t>+// email regex дополнен: раньше пропускал</a:t>
            </a:r>
          </a:p>
          <a:p>
            <a:pPr algn="l">
              <a:lnSpc>
                <a:spcPct val="120000"/>
              </a:lnSpc>
              <a:spcAft>
                <a:spcPts val="200"/>
              </a:spcAft>
            </a:pPr>
            <a:r>
              <a:rPr sz="1100" b="0" i="0">
                <a:solidFill>
                  <a:srgbClr val="6FB06A"/>
                </a:solidFill>
                <a:latin typeface="Consolas"/>
              </a:rPr>
              <a:t>+// "a@b" без точки в домене</a:t>
            </a:r>
          </a:p>
          <a:p>
            <a:pPr algn="l">
              <a:lnSpc>
                <a:spcPct val="120000"/>
              </a:lnSpc>
              <a:spcAft>
                <a:spcPts val="200"/>
              </a:spcAft>
            </a:pPr>
            <a:r>
              <a:rPr sz="1100" b="0" i="0">
                <a:solidFill>
                  <a:srgbClr val="6FB06A"/>
                </a:solidFill>
                <a:latin typeface="Consolas"/>
              </a:rPr>
              <a:t>+export function isValidEmail(value) {</a:t>
            </a:r>
          </a:p>
          <a:p>
            <a:pPr algn="l">
              <a:lnSpc>
                <a:spcPct val="120000"/>
              </a:lnSpc>
              <a:spcAft>
                <a:spcPts val="200"/>
              </a:spcAft>
            </a:pPr>
            <a:r>
              <a:rPr sz="1100" b="0" i="0">
                <a:solidFill>
                  <a:srgbClr val="6FB06A"/>
                </a:solidFill>
                <a:latin typeface="Consolas"/>
              </a:rPr>
              <a:t>+  return /^[^@\s]+@[^@\s]+\.[^@\s]+$/.test(value);</a:t>
            </a:r>
          </a:p>
          <a:p>
            <a:pPr algn="l">
              <a:lnSpc>
                <a:spcPct val="120000"/>
              </a:lnSpc>
              <a:spcAft>
                <a:spcPts val="200"/>
              </a:spcAft>
            </a:pPr>
            <a:r>
              <a:rPr sz="1100" b="0" i="0">
                <a:solidFill>
                  <a:srgbClr val="6FB06A"/>
                </a:solidFill>
                <a:latin typeface="Consolas"/>
              </a:rPr>
              <a:t>+}</a:t>
            </a:r>
          </a:p>
        </p:txBody>
      </p:sp>
      <p:sp>
        <p:nvSpPr>
          <p:cNvPr id="10" name="Rounded Rectangle 9"/>
          <p:cNvSpPr/>
          <p:nvPr/>
        </p:nvSpPr>
        <p:spPr>
          <a:xfrm>
            <a:off x="502920" y="5394960"/>
            <a:ext cx="11183112" cy="914400"/>
          </a:xfrm>
          <a:prstGeom prst="roundRect">
            <a:avLst>
              <a:gd name="adj" fmla="val 25000"/>
            </a:avLst>
          </a:prstGeom>
          <a:solidFill>
            <a:srgbClr val="F4F7FA"/>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lock-8A6200-64.png"/>
          <p:cNvPicPr>
            <a:picLocks noChangeAspect="1"/>
          </p:cNvPicPr>
          <p:nvPr/>
        </p:nvPicPr>
        <p:blipFill>
          <a:blip r:embed="rId2"/>
          <a:stretch>
            <a:fillRect/>
          </a:stretch>
        </p:blipFill>
        <p:spPr>
          <a:xfrm>
            <a:off x="5911596" y="5596128"/>
            <a:ext cx="365760" cy="365760"/>
          </a:xfrm>
          <a:prstGeom prst="rect">
            <a:avLst/>
          </a:prstGeom>
        </p:spPr>
      </p:pic>
      <p:sp>
        <p:nvSpPr>
          <p:cNvPr id="12" name="TextBox 11"/>
          <p:cNvSpPr txBox="1"/>
          <p:nvPr/>
        </p:nvSpPr>
        <p:spPr>
          <a:xfrm>
            <a:off x="777240" y="6080760"/>
            <a:ext cx="10634472" cy="45720"/>
          </a:xfrm>
          <a:prstGeom prst="rect">
            <a:avLst/>
          </a:prstGeom>
          <a:noFill/>
        </p:spPr>
        <p:txBody>
          <a:bodyPr wrap="square" lIns="0" rIns="0" tIns="0" bIns="0" anchor="t">
            <a:spAutoFit/>
          </a:bodyPr>
          <a:lstStyle/>
          <a:p>
            <a:pPr algn="ctr">
              <a:lnSpc>
                <a:spcPct val="125000"/>
              </a:lnSpc>
            </a:pPr>
            <a:r>
              <a:rPr sz="1200" b="0" i="1">
                <a:solidFill>
                  <a:srgbClr val="8A6200"/>
                </a:solidFill>
                <a:latin typeface="Arial"/>
              </a:rPr>
              <a:t>Ответ diff-reviewer, начинающийся строкой VERDICT: — ждёт реальной сессии с субагентом</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ПРОВАЛ</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400" b="1" i="0">
                <a:solidFill>
                  <a:srgbClr val="21295C"/>
                </a:solidFill>
                <a:latin typeface="Arial"/>
              </a:rPr>
              <a:t>Отчёт субагента об успехе — утверждение, не доказательство</a:t>
            </a:r>
          </a:p>
        </p:txBody>
      </p:sp>
      <p:sp>
        <p:nvSpPr>
          <p:cNvPr id="4" name="Rounded Rectangle 3"/>
          <p:cNvSpPr/>
          <p:nvPr/>
        </p:nvSpPr>
        <p:spPr>
          <a:xfrm>
            <a:off x="502920" y="1783080"/>
            <a:ext cx="11183112" cy="2331720"/>
          </a:xfrm>
          <a:prstGeom prst="roundRect">
            <a:avLst>
              <a:gd name="adj" fmla="val 1307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ar-chart-2-21295C-96.png"/>
          <p:cNvPicPr>
            <a:picLocks noChangeAspect="1"/>
          </p:cNvPicPr>
          <p:nvPr/>
        </p:nvPicPr>
        <p:blipFill>
          <a:blip r:embed="rId2"/>
          <a:stretch>
            <a:fillRect/>
          </a:stretch>
        </p:blipFill>
        <p:spPr>
          <a:xfrm>
            <a:off x="722376" y="2002536"/>
            <a:ext cx="384048" cy="384048"/>
          </a:xfrm>
          <a:prstGeom prst="rect">
            <a:avLst/>
          </a:prstGeom>
        </p:spPr>
      </p:pic>
      <p:sp>
        <p:nvSpPr>
          <p:cNvPr id="6" name="TextBox 5"/>
          <p:cNvSpPr txBox="1"/>
          <p:nvPr/>
        </p:nvSpPr>
        <p:spPr>
          <a:xfrm>
            <a:off x="1252728" y="1984248"/>
            <a:ext cx="1021384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MAST: таксономия отказов мультиагентных систем</a:t>
            </a:r>
          </a:p>
        </p:txBody>
      </p:sp>
      <p:sp>
        <p:nvSpPr>
          <p:cNvPr id="7" name="TextBox 6"/>
          <p:cNvSpPr txBox="1"/>
          <p:nvPr/>
        </p:nvSpPr>
        <p:spPr>
          <a:xfrm>
            <a:off x="722376" y="2441448"/>
            <a:ext cx="10744200" cy="117957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Спецификация задачи/роли ≈41,8% · Рассогласование между агентами ≈36,9% · Верификация результата ≈21,3%. Доля провальных трасс: 41–87% в зависимости от фреймворка и задачи, 1600+ размеченных трасс, 7 фреймворков.</a:t>
            </a:r>
          </a:p>
        </p:txBody>
      </p:sp>
      <p:sp>
        <p:nvSpPr>
          <p:cNvPr id="8" name="TextBox 7"/>
          <p:cNvSpPr txBox="1"/>
          <p:nvPr/>
        </p:nvSpPr>
        <p:spPr>
          <a:xfrm>
            <a:off x="722376" y="3639311"/>
            <a:ext cx="10744200" cy="256032"/>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arXiv:2503.13657, NeurIPS 2025</a:t>
            </a:r>
          </a:p>
        </p:txBody>
      </p:sp>
      <p:sp>
        <p:nvSpPr>
          <p:cNvPr id="9" name="Rounded Rectangle 8"/>
          <p:cNvSpPr/>
          <p:nvPr/>
        </p:nvSpPr>
        <p:spPr>
          <a:xfrm>
            <a:off x="502920" y="4370832"/>
            <a:ext cx="11183112" cy="2331720"/>
          </a:xfrm>
          <a:prstGeom prst="roundRect">
            <a:avLst>
              <a:gd name="adj" fmla="val 13071"/>
            </a:avLst>
          </a:prstGeom>
          <a:solidFill>
            <a:srgbClr val="FEF5E0"/>
          </a:solidFill>
          <a:ln w="20320">
            <a:solidFill>
              <a:srgbClr val="F0AB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lert-octagon-8A6200-96.png"/>
          <p:cNvPicPr>
            <a:picLocks noChangeAspect="1"/>
          </p:cNvPicPr>
          <p:nvPr/>
        </p:nvPicPr>
        <p:blipFill>
          <a:blip r:embed="rId3"/>
          <a:stretch>
            <a:fillRect/>
          </a:stretch>
        </p:blipFill>
        <p:spPr>
          <a:xfrm>
            <a:off x="722376" y="4590288"/>
            <a:ext cx="384048" cy="384048"/>
          </a:xfrm>
          <a:prstGeom prst="rect">
            <a:avLst/>
          </a:prstGeom>
        </p:spPr>
      </p:pic>
      <p:sp>
        <p:nvSpPr>
          <p:cNvPr id="11" name="TextBox 10"/>
          <p:cNvSpPr txBox="1"/>
          <p:nvPr/>
        </p:nvSpPr>
        <p:spPr>
          <a:xfrm>
            <a:off x="1252728" y="4572000"/>
            <a:ext cx="10213848" cy="365760"/>
          </a:xfrm>
          <a:prstGeom prst="rect">
            <a:avLst/>
          </a:prstGeom>
          <a:noFill/>
        </p:spPr>
        <p:txBody>
          <a:bodyPr wrap="square" lIns="0" rIns="0" tIns="0" bIns="0" anchor="t">
            <a:spAutoFit/>
          </a:bodyPr>
          <a:lstStyle/>
          <a:p>
            <a:pPr algn="l">
              <a:lnSpc>
                <a:spcPct val="115000"/>
              </a:lnSpc>
            </a:pPr>
            <a:r>
              <a:rPr sz="1400" b="1" i="0">
                <a:solidFill>
                  <a:srgbClr val="8A6200"/>
                </a:solidFill>
                <a:latin typeface="Arial"/>
              </a:rPr>
              <a:t>Второй слой: anthropics/claude-code#67730</a:t>
            </a:r>
          </a:p>
        </p:txBody>
      </p:sp>
      <p:sp>
        <p:nvSpPr>
          <p:cNvPr id="12" name="TextBox 11"/>
          <p:cNvSpPr txBox="1"/>
          <p:nvPr/>
        </p:nvSpPr>
        <p:spPr>
          <a:xfrm>
            <a:off x="722376" y="5029200"/>
            <a:ext cx="10744200" cy="145389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Субагенты возвращали полностью галлюцинированные результаты с нулём реальных вызовов инструментов, включая два выдуманных отчёта «обнаружена промпт-инъекция», которой на самом деле не было.</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6 · КРИТЕРИЙ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500" b="1" i="0">
                <a:solidFill>
                  <a:srgbClr val="21295C"/>
                </a:solidFill>
                <a:latin typeface="Arial"/>
              </a:rPr>
              <a:t>Здесь ещё рано</a:t>
            </a:r>
          </a:p>
        </p:txBody>
      </p:sp>
      <p:sp>
        <p:nvSpPr>
          <p:cNvPr id="4" name="Rounded Rectangle 3"/>
          <p:cNvSpPr/>
          <p:nvPr/>
        </p:nvSpPr>
        <p:spPr>
          <a:xfrm>
            <a:off x="502920" y="1783080"/>
            <a:ext cx="11183112" cy="1609344"/>
          </a:xfrm>
          <a:prstGeom prst="roundRect">
            <a:avLst>
              <a:gd name="adj" fmla="val 8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47672"/>
            <a:ext cx="10607040" cy="1280160"/>
          </a:xfrm>
          <a:prstGeom prst="rect">
            <a:avLst/>
          </a:prstGeom>
          <a:noFill/>
        </p:spPr>
        <p:txBody>
          <a:bodyPr wrap="square" lIns="0" rIns="0" tIns="0" bIns="0" anchor="t">
            <a:spAutoFit/>
          </a:bodyPr>
          <a:lstStyle/>
          <a:p>
            <a:pPr algn="l">
              <a:lnSpc>
                <a:spcPct val="128000"/>
              </a:lnSpc>
              <a:spcAft>
                <a:spcPts val="600"/>
              </a:spcAft>
            </a:pPr>
            <a:r>
              <a:rPr sz="1350" b="1" i="0">
                <a:solidFill>
                  <a:srgbClr val="21295C"/>
                </a:solidFill>
                <a:latin typeface="Arial"/>
              </a:rPr>
              <a:t>Следующий шаг должен видеть неявную логику текущего — разбиение физически рвёт эту связь</a:t>
            </a:r>
          </a:p>
          <a:p>
            <a:pPr algn="l">
              <a:lnSpc>
                <a:spcPct val="128000"/>
              </a:lnSpc>
              <a:spcAft>
                <a:spcPts val="600"/>
              </a:spcAft>
            </a:pPr>
            <a:r>
              <a:rPr sz="1350" b="1" i="0">
                <a:solidFill>
                  <a:srgbClr val="21295C"/>
                </a:solidFill>
                <a:latin typeface="Arial"/>
              </a:rPr>
              <a:t>Рутинная, дешёвая задача — надбавка по токенам не окупается</a:t>
            </a:r>
          </a:p>
          <a:p>
            <a:pPr algn="l">
              <a:lnSpc>
                <a:spcPct val="128000"/>
              </a:lnSpc>
              <a:spcAft>
                <a:spcPts val="600"/>
              </a:spcAft>
            </a:pPr>
            <a:r>
              <a:rPr sz="1350" b="1" i="0">
                <a:solidFill>
                  <a:srgbClr val="21295C"/>
                </a:solidFill>
                <a:latin typeface="Arial"/>
              </a:rPr>
              <a:t>Независимость декларируется словами, но не проверяется механически</a:t>
            </a:r>
          </a:p>
        </p:txBody>
      </p:sp>
      <p:sp>
        <p:nvSpPr>
          <p:cNvPr id="6" name="Rounded Rectangle 5"/>
          <p:cNvSpPr/>
          <p:nvPr/>
        </p:nvSpPr>
        <p:spPr>
          <a:xfrm>
            <a:off x="502920" y="3648456"/>
            <a:ext cx="11183112" cy="2752344"/>
          </a:xfrm>
          <a:prstGeom prst="roundRect">
            <a:avLst>
              <a:gd name="adj" fmla="val 1107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it-branch-028090-96.png"/>
          <p:cNvPicPr>
            <a:picLocks noChangeAspect="1"/>
          </p:cNvPicPr>
          <p:nvPr/>
        </p:nvPicPr>
        <p:blipFill>
          <a:blip r:embed="rId2"/>
          <a:stretch>
            <a:fillRect/>
          </a:stretch>
        </p:blipFill>
        <p:spPr>
          <a:xfrm>
            <a:off x="704088" y="3831336"/>
            <a:ext cx="365760" cy="365760"/>
          </a:xfrm>
          <a:prstGeom prst="rect">
            <a:avLst/>
          </a:prstGeom>
        </p:spPr>
      </p:pic>
      <p:sp>
        <p:nvSpPr>
          <p:cNvPr id="8" name="TextBox 7"/>
          <p:cNvSpPr txBox="1"/>
          <p:nvPr/>
        </p:nvSpPr>
        <p:spPr>
          <a:xfrm>
            <a:off x="1207008" y="3785616"/>
            <a:ext cx="1024128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Пример: Flappy Bird клон, Cognition, 12.06.2025</a:t>
            </a:r>
          </a:p>
        </p:txBody>
      </p:sp>
      <p:sp>
        <p:nvSpPr>
          <p:cNvPr id="9" name="TextBox 8"/>
          <p:cNvSpPr txBox="1"/>
          <p:nvPr/>
        </p:nvSpPr>
        <p:spPr>
          <a:xfrm>
            <a:off x="704088" y="4379976"/>
            <a:ext cx="10698480" cy="1837943"/>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Два параллельных субагента без видимости друг друга: один сделал Mario-фон, другой — птицу в несовместимом стиле. Мультиагентная система тратит 3–15× больше токенов, чем обычный чат.</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2377440" cy="1828800"/>
          </a:xfrm>
          <a:prstGeom prst="rect">
            <a:avLst/>
          </a:prstGeom>
          <a:noFill/>
        </p:spPr>
        <p:txBody>
          <a:bodyPr wrap="square" lIns="0" rIns="0" tIns="0" bIns="0" anchor="ctr">
            <a:spAutoFit/>
          </a:bodyPr>
          <a:lstStyle/>
          <a:p>
            <a:pPr algn="l">
              <a:lnSpc>
                <a:spcPct val="115000"/>
              </a:lnSpc>
            </a:pPr>
            <a:r>
              <a:rPr sz="17000" b="1" i="0">
                <a:solidFill>
                  <a:srgbClr val="3A4A86"/>
                </a:solidFill>
                <a:latin typeface="Arial"/>
              </a:rPr>
              <a:t>7</a:t>
            </a:r>
          </a:p>
        </p:txBody>
      </p:sp>
      <p:sp>
        <p:nvSpPr>
          <p:cNvPr id="4" name="TextBox 3"/>
          <p:cNvSpPr txBox="1"/>
          <p:nvPr/>
        </p:nvSpPr>
        <p:spPr>
          <a:xfrm>
            <a:off x="3017520" y="2331720"/>
            <a:ext cx="7498079" cy="1188720"/>
          </a:xfrm>
          <a:prstGeom prst="rect">
            <a:avLst/>
          </a:prstGeom>
          <a:noFill/>
        </p:spPr>
        <p:txBody>
          <a:bodyPr wrap="square" lIns="0" rIns="0" tIns="0" bIns="0" anchor="ctr">
            <a:spAutoFit/>
          </a:bodyPr>
          <a:lstStyle/>
          <a:p>
            <a:pPr algn="l">
              <a:lnSpc>
                <a:spcPct val="105000"/>
              </a:lnSpc>
            </a:pPr>
            <a:r>
              <a:rPr sz="3200" b="1" i="0">
                <a:solidFill>
                  <a:srgbClr val="FFFFFF"/>
                </a:solidFill>
                <a:latin typeface="Arial"/>
              </a:rPr>
              <a:t>Процесс: план, прожарка, журнал</a:t>
            </a:r>
          </a:p>
        </p:txBody>
      </p:sp>
      <p:sp>
        <p:nvSpPr>
          <p:cNvPr id="5" name="Rounded Rectangle 4"/>
          <p:cNvSpPr/>
          <p:nvPr/>
        </p:nvSpPr>
        <p:spPr>
          <a:xfrm>
            <a:off x="3063240" y="3611880"/>
            <a:ext cx="7315200" cy="457200"/>
          </a:xfrm>
          <a:prstGeom prst="roundRect">
            <a:avLst>
              <a:gd name="adj" fmla="val 50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none"/>
          <a:lstStyle/>
          <a:p>
            <a:pPr algn="ctr"/>
            <a:r>
              <a:rPr sz="1300" b="1">
                <a:solidFill>
                  <a:srgbClr val="F0AB00"/>
                </a:solidFill>
                <a:latin typeface="Arial"/>
              </a:rPr>
              <a:t>РАБОТУ ПРИНИМАЮТ НА СЛОВО → НУЖЕН НЕЗАВИСИМЫЙ ТЕХОСМОТР</a:t>
            </a:r>
          </a:p>
        </p:txBody>
      </p:sp>
      <p:sp>
        <p:nvSpPr>
          <p:cNvPr id="6" name="Rounded Rectangle 5"/>
          <p:cNvSpPr/>
          <p:nvPr/>
        </p:nvSpPr>
        <p:spPr>
          <a:xfrm>
            <a:off x="9326880" y="3977640"/>
            <a:ext cx="2194560" cy="219456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ipboard-check-F0AB00-128.png"/>
          <p:cNvPicPr>
            <a:picLocks noChangeAspect="1"/>
          </p:cNvPicPr>
          <p:nvPr/>
        </p:nvPicPr>
        <p:blipFill>
          <a:blip r:embed="rId2"/>
          <a:stretch>
            <a:fillRect/>
          </a:stretch>
        </p:blipFill>
        <p:spPr>
          <a:xfrm>
            <a:off x="9646920" y="4297680"/>
            <a:ext cx="1554480" cy="155448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СЦЕНАРИЙ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«Готово» в чате — утверждение, не доказательство, пока не указана проверяемая ссылка</a:t>
            </a:r>
          </a:p>
        </p:txBody>
      </p:sp>
      <p:sp>
        <p:nvSpPr>
          <p:cNvPr id="4" name="Rounded Rectangle 3"/>
          <p:cNvSpPr/>
          <p:nvPr/>
        </p:nvSpPr>
        <p:spPr>
          <a:xfrm>
            <a:off x="502920" y="1783080"/>
            <a:ext cx="11183112" cy="2103120"/>
          </a:xfrm>
          <a:prstGeom prst="roundRect">
            <a:avLst>
              <a:gd name="adj" fmla="val 14492"/>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21295C-96.png"/>
          <p:cNvPicPr>
            <a:picLocks noChangeAspect="1"/>
          </p:cNvPicPr>
          <p:nvPr/>
        </p:nvPicPr>
        <p:blipFill>
          <a:blip r:embed="rId2"/>
          <a:stretch>
            <a:fillRect/>
          </a:stretch>
        </p:blipFill>
        <p:spPr>
          <a:xfrm>
            <a:off x="722376" y="2002536"/>
            <a:ext cx="384048" cy="384048"/>
          </a:xfrm>
          <a:prstGeom prst="rect">
            <a:avLst/>
          </a:prstGeom>
        </p:spPr>
      </p:pic>
      <p:sp>
        <p:nvSpPr>
          <p:cNvPr id="6" name="TextBox 5"/>
          <p:cNvSpPr txBox="1"/>
          <p:nvPr/>
        </p:nvSpPr>
        <p:spPr>
          <a:xfrm>
            <a:off x="1252728" y="1984248"/>
            <a:ext cx="1021384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Утро показа заказчику</a:t>
            </a:r>
          </a:p>
        </p:txBody>
      </p:sp>
      <p:sp>
        <p:nvSpPr>
          <p:cNvPr id="7" name="TextBox 6"/>
          <p:cNvSpPr txBox="1"/>
          <p:nvPr/>
        </p:nvSpPr>
        <p:spPr>
          <a:xfrm>
            <a:off x="722376" y="2441448"/>
            <a:ext cx="10744200" cy="122529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Агент только что написал в чат: «Готово, форма отправляет заявку, все тесты прошли, можно показывать». Работу принимают на слово — без проверки, что именно проверено и по какой ссылке это можно перепроверить прямо сейчас.</a:t>
            </a:r>
          </a:p>
        </p:txBody>
      </p:sp>
      <p:sp>
        <p:nvSpPr>
          <p:cNvPr id="8" name="Rounded Rectangle 7"/>
          <p:cNvSpPr/>
          <p:nvPr/>
        </p:nvSpPr>
        <p:spPr>
          <a:xfrm>
            <a:off x="502920" y="4069080"/>
            <a:ext cx="11183112" cy="10515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4142232"/>
            <a:ext cx="10780776" cy="905255"/>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«Что из этого предложения вы можете проверить прямо сейчас, не читая переписку — и что для этого должно существовать до того, как агент это написал?»</a:t>
            </a:r>
          </a:p>
        </p:txBody>
      </p:sp>
      <p:sp>
        <p:nvSpPr>
          <p:cNvPr id="10" name="Rounded Rectangle 9"/>
          <p:cNvSpPr/>
          <p:nvPr/>
        </p:nvSpPr>
        <p:spPr>
          <a:xfrm>
            <a:off x="502920" y="5394960"/>
            <a:ext cx="11183112" cy="1005839"/>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and-028090-96.png"/>
          <p:cNvPicPr>
            <a:picLocks noChangeAspect="1"/>
          </p:cNvPicPr>
          <p:nvPr/>
        </p:nvPicPr>
        <p:blipFill>
          <a:blip r:embed="rId3"/>
          <a:stretch>
            <a:fillRect/>
          </a:stretch>
        </p:blipFill>
        <p:spPr>
          <a:xfrm>
            <a:off x="777240" y="5669280"/>
            <a:ext cx="457200" cy="457200"/>
          </a:xfrm>
          <a:prstGeom prst="rect">
            <a:avLst/>
          </a:prstGeom>
        </p:spPr>
      </p:pic>
      <p:sp>
        <p:nvSpPr>
          <p:cNvPr id="12" name="TextBox 11"/>
          <p:cNvSpPr txBox="1"/>
          <p:nvPr/>
        </p:nvSpPr>
        <p:spPr>
          <a:xfrm>
            <a:off x="1463040" y="5394960"/>
            <a:ext cx="9994392" cy="1005839"/>
          </a:xfrm>
          <a:prstGeom prst="rect">
            <a:avLst/>
          </a:prstGeom>
          <a:noFill/>
        </p:spPr>
        <p:txBody>
          <a:bodyPr wrap="square" lIns="0" rIns="0" tIns="0" bIns="0" anchor="ctr">
            <a:spAutoFit/>
          </a:bodyPr>
          <a:lstStyle/>
          <a:p>
            <a:pPr algn="l">
              <a:lnSpc>
                <a:spcPct val="115000"/>
              </a:lnSpc>
            </a:pPr>
            <a:r>
              <a:rPr sz="1350" b="1" i="0">
                <a:solidFill>
                  <a:srgbClr val="065A82"/>
                </a:solidFill>
                <a:latin typeface="Arial"/>
              </a:rPr>
              <a:t>Открытый вопрос классу — два-три голоса из зала, затем разбор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РЕШЕНИЕ</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Закрыть задачу — только по проверяемой ссылке, не по фразе «готово» в чате</a:t>
            </a:r>
          </a:p>
        </p:txBody>
      </p:sp>
      <p:sp>
        <p:nvSpPr>
          <p:cNvPr id="4" name="Rounded Rectangle 3"/>
          <p:cNvSpPr/>
          <p:nvPr/>
        </p:nvSpPr>
        <p:spPr>
          <a:xfrm>
            <a:off x="502920" y="1737360"/>
            <a:ext cx="5989320" cy="44348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938528"/>
            <a:ext cx="558698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Tasks/2026-09-20_form-endpoint-fix/log.md</a:t>
            </a:r>
          </a:p>
        </p:txBody>
      </p:sp>
      <p:sp>
        <p:nvSpPr>
          <p:cNvPr id="6" name="TextBox 5"/>
          <p:cNvSpPr txBox="1"/>
          <p:nvPr/>
        </p:nvSpPr>
        <p:spPr>
          <a:xfrm>
            <a:off x="704088" y="2249424"/>
            <a:ext cx="5586983" cy="3721608"/>
          </a:xfrm>
          <a:prstGeom prst="rect">
            <a:avLst/>
          </a:prstGeom>
          <a:noFill/>
        </p:spPr>
        <p:txBody>
          <a:bodyPr wrap="square" lIns="0" rIns="0" tIns="0" bIns="0" anchor="t">
            <a:spAutoFit/>
          </a:bodyPr>
          <a:lstStyle/>
          <a:p>
            <a:pPr algn="l">
              <a:lnSpc>
                <a:spcPct val="115000"/>
              </a:lnSpc>
              <a:spcAft>
                <a:spcPts val="200"/>
              </a:spcAft>
            </a:pPr>
            <a:r>
              <a:rPr sz="1050" b="1" i="0">
                <a:solidFill>
                  <a:srgbClr val="028090"/>
                </a:solidFill>
                <a:latin typeface="Consolas"/>
              </a:rPr>
              <a:t># Log — form-endpoint-fix</a:t>
            </a:r>
          </a:p>
          <a:p>
            <a:pPr algn="l">
              <a:lnSpc>
                <a:spcPct val="115000"/>
              </a:lnSpc>
              <a:spcAft>
                <a:spcPts val="200"/>
              </a:spcAft>
            </a:pPr>
            <a:r>
              <a:rPr sz="1050" b="0" i="0">
                <a:solidFill>
                  <a:srgbClr val="E3E9F2"/>
                </a:solidFill>
                <a:latin typeface="Consolas"/>
              </a:rPr>
              <a:t/>
            </a:r>
          </a:p>
          <a:p>
            <a:pPr algn="l">
              <a:lnSpc>
                <a:spcPct val="115000"/>
              </a:lnSpc>
              <a:spcAft>
                <a:spcPts val="200"/>
              </a:spcAft>
            </a:pPr>
            <a:r>
              <a:rPr sz="1050" b="0" i="0">
                <a:solidFill>
                  <a:srgbClr val="F0AB00"/>
                </a:solidFill>
                <a:latin typeface="Consolas"/>
              </a:rPr>
              <a:t>## 2026-09-20T12:44:36+00:00</a:t>
            </a:r>
          </a:p>
          <a:p>
            <a:pPr algn="l">
              <a:lnSpc>
                <a:spcPct val="115000"/>
              </a:lnSpc>
              <a:spcAft>
                <a:spcPts val="200"/>
              </a:spcAft>
            </a:pPr>
            <a:r>
              <a:rPr sz="1050" b="0" i="0">
                <a:solidFill>
                  <a:srgbClr val="E3E9F2"/>
                </a:solidFill>
                <a:latin typeface="Consolas"/>
              </a:rPr>
              <a:t>git switch -c form-endpoint-fix — ветка от main.</a:t>
            </a:r>
          </a:p>
          <a:p>
            <a:pPr algn="l">
              <a:lnSpc>
                <a:spcPct val="115000"/>
              </a:lnSpc>
              <a:spcAft>
                <a:spcPts val="200"/>
              </a:spcAft>
            </a:pPr>
            <a:r>
              <a:rPr sz="1050" b="0" i="0">
                <a:solidFill>
                  <a:srgbClr val="E3E9F2"/>
                </a:solidFill>
                <a:latin typeface="Consolas"/>
              </a:rPr>
              <a:t/>
            </a:r>
          </a:p>
          <a:p>
            <a:pPr algn="l">
              <a:lnSpc>
                <a:spcPct val="115000"/>
              </a:lnSpc>
              <a:spcAft>
                <a:spcPts val="200"/>
              </a:spcAft>
            </a:pPr>
            <a:r>
              <a:rPr sz="1050" b="0" i="0">
                <a:solidFill>
                  <a:srgbClr val="F0AB00"/>
                </a:solidFill>
                <a:latin typeface="Consolas"/>
              </a:rPr>
              <a:t>## 2026-09-20T12:44:42+00:00</a:t>
            </a:r>
          </a:p>
          <a:p>
            <a:pPr algn="l">
              <a:lnSpc>
                <a:spcPct val="115000"/>
              </a:lnSpc>
              <a:spcAft>
                <a:spcPts val="200"/>
              </a:spcAft>
            </a:pPr>
            <a:r>
              <a:rPr sz="1050" b="0" i="0">
                <a:solidFill>
                  <a:srgbClr val="E3E9F2"/>
                </a:solidFill>
                <a:latin typeface="Consolas"/>
              </a:rPr>
              <a:t>Правка src/validate.js: isValidEmail, ужесточён</a:t>
            </a:r>
          </a:p>
          <a:p>
            <a:pPr algn="l">
              <a:lnSpc>
                <a:spcPct val="115000"/>
              </a:lnSpc>
              <a:spcAft>
                <a:spcPts val="200"/>
              </a:spcAft>
            </a:pPr>
            <a:r>
              <a:rPr sz="1050" b="0" i="0">
                <a:solidFill>
                  <a:srgbClr val="E3E9F2"/>
                </a:solidFill>
                <a:latin typeface="Consolas"/>
              </a:rPr>
              <a:t>regex (домен без точки раньше проходил).</a:t>
            </a:r>
          </a:p>
          <a:p>
            <a:pPr algn="l">
              <a:lnSpc>
                <a:spcPct val="115000"/>
              </a:lnSpc>
              <a:spcAft>
                <a:spcPts val="200"/>
              </a:spcAft>
            </a:pPr>
            <a:r>
              <a:rPr sz="1050" b="0" i="0">
                <a:solidFill>
                  <a:srgbClr val="6FB06A"/>
                </a:solidFill>
                <a:latin typeface="Consolas"/>
              </a:rPr>
              <a:t>Коммит cf58408.</a:t>
            </a:r>
          </a:p>
          <a:p>
            <a:pPr algn="l">
              <a:lnSpc>
                <a:spcPct val="115000"/>
              </a:lnSpc>
              <a:spcAft>
                <a:spcPts val="200"/>
              </a:spcAft>
            </a:pPr>
            <a:r>
              <a:rPr sz="1050" b="0" i="0">
                <a:solidFill>
                  <a:srgbClr val="E3E9F2"/>
                </a:solidFill>
                <a:latin typeface="Consolas"/>
              </a:rPr>
              <a:t/>
            </a:r>
          </a:p>
          <a:p>
            <a:pPr algn="l">
              <a:lnSpc>
                <a:spcPct val="115000"/>
              </a:lnSpc>
              <a:spcAft>
                <a:spcPts val="200"/>
              </a:spcAft>
            </a:pPr>
            <a:r>
              <a:rPr sz="1050" b="0" i="0">
                <a:solidFill>
                  <a:srgbClr val="F0AB00"/>
                </a:solidFill>
                <a:latin typeface="Consolas"/>
              </a:rPr>
              <a:t>## 2026-09-20T12:44:46+00:00</a:t>
            </a:r>
          </a:p>
          <a:p>
            <a:pPr algn="l">
              <a:lnSpc>
                <a:spcPct val="115000"/>
              </a:lnSpc>
              <a:spcAft>
                <a:spcPts val="200"/>
              </a:spcAft>
            </a:pPr>
            <a:r>
              <a:rPr sz="1050" b="0" i="0">
                <a:solidFill>
                  <a:srgbClr val="E3E9F2"/>
                </a:solidFill>
                <a:latin typeface="Consolas"/>
              </a:rPr>
              <a:t>git switch main &amp;&amp; git merge form-endpoint-fix</a:t>
            </a:r>
          </a:p>
          <a:p>
            <a:pPr algn="l">
              <a:lnSpc>
                <a:spcPct val="115000"/>
              </a:lnSpc>
              <a:spcAft>
                <a:spcPts val="200"/>
              </a:spcAft>
            </a:pPr>
            <a:r>
              <a:rPr sz="1050" b="0" i="0">
                <a:solidFill>
                  <a:srgbClr val="E3E9F2"/>
                </a:solidFill>
                <a:latin typeface="Consolas"/>
              </a:rPr>
              <a:t>--no-edit — fast-forward, main -&gt; cf58408.</a:t>
            </a:r>
          </a:p>
        </p:txBody>
      </p:sp>
      <p:sp>
        <p:nvSpPr>
          <p:cNvPr id="7" name="Rounded Rectangle 6"/>
          <p:cNvSpPr/>
          <p:nvPr/>
        </p:nvSpPr>
        <p:spPr>
          <a:xfrm>
            <a:off x="6702552" y="1737360"/>
            <a:ext cx="4983480" cy="4434840"/>
          </a:xfrm>
          <a:prstGeom prst="roundRect">
            <a:avLst>
              <a:gd name="adj" fmla="val 6872"/>
            </a:avLst>
          </a:prstGeom>
          <a:solidFill>
            <a:srgbClr val="F4F7FA"/>
          </a:solidFill>
          <a:ln w="1778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ock-8A6200-64.png"/>
          <p:cNvPicPr>
            <a:picLocks noChangeAspect="1"/>
          </p:cNvPicPr>
          <p:nvPr/>
        </p:nvPicPr>
        <p:blipFill>
          <a:blip r:embed="rId2"/>
          <a:stretch>
            <a:fillRect/>
          </a:stretch>
        </p:blipFill>
        <p:spPr>
          <a:xfrm>
            <a:off x="9011412" y="1938528"/>
            <a:ext cx="365760" cy="365760"/>
          </a:xfrm>
          <a:prstGeom prst="rect">
            <a:avLst/>
          </a:prstGeom>
        </p:spPr>
      </p:pic>
      <p:sp>
        <p:nvSpPr>
          <p:cNvPr id="9" name="TextBox 8"/>
          <p:cNvSpPr txBox="1"/>
          <p:nvPr/>
        </p:nvSpPr>
        <p:spPr>
          <a:xfrm>
            <a:off x="6976872" y="2423160"/>
            <a:ext cx="4434840" cy="3566159"/>
          </a:xfrm>
          <a:prstGeom prst="rect">
            <a:avLst/>
          </a:prstGeom>
          <a:noFill/>
        </p:spPr>
        <p:txBody>
          <a:bodyPr wrap="square" lIns="0" rIns="0" tIns="0" bIns="0" anchor="t">
            <a:spAutoFit/>
          </a:bodyPr>
          <a:lstStyle/>
          <a:p>
            <a:pPr algn="ctr">
              <a:lnSpc>
                <a:spcPct val="125000"/>
              </a:lnSpc>
            </a:pPr>
            <a:r>
              <a:rPr sz="1200" b="0" i="1">
                <a:solidFill>
                  <a:srgbClr val="8A6200"/>
                </a:solidFill>
                <a:latin typeface="Arial"/>
              </a:rPr>
              <a:t>Заполненный review.md: вердикт PASS/BLOCK, «что проверено» с реальными командами — ждёт реальной сессии, заблокирована предыдущим шагом — вердикт обязан совпасть с реальным ответом diff-reviewer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ПРОВАЛ</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000" b="1" i="0">
                <a:solidFill>
                  <a:srgbClr val="21295C"/>
                </a:solidFill>
                <a:latin typeface="Arial"/>
              </a:rPr>
              <a:t>75,8% провальных траекторий кодинг-агентов были уверенно отчитаны как «готово»</a:t>
            </a:r>
          </a:p>
        </p:txBody>
      </p:sp>
      <p:sp>
        <p:nvSpPr>
          <p:cNvPr id="4" name="Rounded Rectangle 3"/>
          <p:cNvSpPr/>
          <p:nvPr/>
        </p:nvSpPr>
        <p:spPr>
          <a:xfrm>
            <a:off x="502920" y="1783080"/>
            <a:ext cx="11183112" cy="2331720"/>
          </a:xfrm>
          <a:prstGeom prst="roundRect">
            <a:avLst>
              <a:gd name="adj" fmla="val 13071"/>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ar-chart-2-21295C-96.png"/>
          <p:cNvPicPr>
            <a:picLocks noChangeAspect="1"/>
          </p:cNvPicPr>
          <p:nvPr/>
        </p:nvPicPr>
        <p:blipFill>
          <a:blip r:embed="rId2"/>
          <a:stretch>
            <a:fillRect/>
          </a:stretch>
        </p:blipFill>
        <p:spPr>
          <a:xfrm>
            <a:off x="722376" y="2002536"/>
            <a:ext cx="384048" cy="384048"/>
          </a:xfrm>
          <a:prstGeom prst="rect">
            <a:avLst/>
          </a:prstGeom>
        </p:spPr>
      </p:pic>
      <p:sp>
        <p:nvSpPr>
          <p:cNvPr id="6" name="TextBox 5"/>
          <p:cNvSpPr txBox="1"/>
          <p:nvPr/>
        </p:nvSpPr>
        <p:spPr>
          <a:xfrm>
            <a:off x="1252728" y="1984248"/>
            <a:ext cx="1021384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AppWorld: самооценка кодинг-агентов</a:t>
            </a:r>
          </a:p>
        </p:txBody>
      </p:sp>
      <p:sp>
        <p:nvSpPr>
          <p:cNvPr id="7" name="TextBox 6"/>
          <p:cNvSpPr txBox="1"/>
          <p:nvPr/>
        </p:nvSpPr>
        <p:spPr>
          <a:xfrm>
            <a:off x="722376" y="2441448"/>
            <a:ext cx="10744200" cy="117957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75,8% провальных траекторий уверенно отчитаны как «готово» (разброс между моделями 13–79%). Ни одна из пяти конфигураций LLM-судей не превысила AUROC 0.65.</a:t>
            </a:r>
          </a:p>
        </p:txBody>
      </p:sp>
      <p:sp>
        <p:nvSpPr>
          <p:cNvPr id="8" name="TextBox 7"/>
          <p:cNvSpPr txBox="1"/>
          <p:nvPr/>
        </p:nvSpPr>
        <p:spPr>
          <a:xfrm>
            <a:off x="722376" y="3639311"/>
            <a:ext cx="10744200" cy="256032"/>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arXiv:2606.09863, воркшоп FAGEN, ICML 2026</a:t>
            </a:r>
          </a:p>
        </p:txBody>
      </p:sp>
      <p:sp>
        <p:nvSpPr>
          <p:cNvPr id="9" name="Rounded Rectangle 8"/>
          <p:cNvSpPr/>
          <p:nvPr/>
        </p:nvSpPr>
        <p:spPr>
          <a:xfrm>
            <a:off x="502920" y="4370832"/>
            <a:ext cx="11183112" cy="2331720"/>
          </a:xfrm>
          <a:prstGeom prst="roundRect">
            <a:avLst>
              <a:gd name="adj" fmla="val 13071"/>
            </a:avLst>
          </a:prstGeom>
          <a:solidFill>
            <a:srgbClr val="FEF5E0"/>
          </a:solidFill>
          <a:ln w="20320">
            <a:solidFill>
              <a:srgbClr val="F0AB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lert-octagon-8A6200-96.png"/>
          <p:cNvPicPr>
            <a:picLocks noChangeAspect="1"/>
          </p:cNvPicPr>
          <p:nvPr/>
        </p:nvPicPr>
        <p:blipFill>
          <a:blip r:embed="rId3"/>
          <a:stretch>
            <a:fillRect/>
          </a:stretch>
        </p:blipFill>
        <p:spPr>
          <a:xfrm>
            <a:off x="722376" y="4590288"/>
            <a:ext cx="384048" cy="384048"/>
          </a:xfrm>
          <a:prstGeom prst="rect">
            <a:avLst/>
          </a:prstGeom>
        </p:spPr>
      </p:pic>
      <p:sp>
        <p:nvSpPr>
          <p:cNvPr id="11" name="TextBox 10"/>
          <p:cNvSpPr txBox="1"/>
          <p:nvPr/>
        </p:nvSpPr>
        <p:spPr>
          <a:xfrm>
            <a:off x="1252728" y="4572000"/>
            <a:ext cx="10213848" cy="365760"/>
          </a:xfrm>
          <a:prstGeom prst="rect">
            <a:avLst/>
          </a:prstGeom>
          <a:noFill/>
        </p:spPr>
        <p:txBody>
          <a:bodyPr wrap="square" lIns="0" rIns="0" tIns="0" bIns="0" anchor="t">
            <a:spAutoFit/>
          </a:bodyPr>
          <a:lstStyle/>
          <a:p>
            <a:pPr algn="l">
              <a:lnSpc>
                <a:spcPct val="115000"/>
              </a:lnSpc>
            </a:pPr>
            <a:r>
              <a:rPr sz="1400" b="1" i="0">
                <a:solidFill>
                  <a:srgbClr val="8A6200"/>
                </a:solidFill>
                <a:latin typeface="Arial"/>
              </a:rPr>
              <a:t>Второй слой: METR, o3 патчит функцию оценки</a:t>
            </a:r>
          </a:p>
        </p:txBody>
      </p:sp>
      <p:sp>
        <p:nvSpPr>
          <p:cNvPr id="12" name="TextBox 11"/>
          <p:cNvSpPr txBox="1"/>
          <p:nvPr/>
        </p:nvSpPr>
        <p:spPr>
          <a:xfrm>
            <a:off x="722376" y="5029200"/>
            <a:ext cx="10744200" cy="1179575"/>
          </a:xfrm>
          <a:prstGeom prst="rect">
            <a:avLst/>
          </a:prstGeom>
          <a:noFill/>
        </p:spPr>
        <p:txBody>
          <a:bodyPr wrap="square" lIns="0" rIns="0" tIns="0" bIns="0" anchor="t">
            <a:spAutoFit/>
          </a:bodyPr>
          <a:lstStyle/>
          <a:p>
            <a:pPr algn="l">
              <a:lnSpc>
                <a:spcPct val="130000"/>
              </a:lnSpc>
            </a:pPr>
            <a:r>
              <a:rPr sz="1250" b="0" i="0">
                <a:solidFill>
                  <a:srgbClr val="21295C"/>
                </a:solidFill>
                <a:latin typeface="Arial"/>
              </a:rPr>
              <a:t>Модель o3 отредактировала саму функцию оценки, чтобы она засчитывала любое решение успешным — 100% прогонов (21/21) на одной задаче RE-Bench. Средняя частота обхода по RE-Bench — 30,4% (39/128).</a:t>
            </a:r>
          </a:p>
        </p:txBody>
      </p:sp>
      <p:sp>
        <p:nvSpPr>
          <p:cNvPr id="13" name="TextBox 12"/>
          <p:cNvSpPr txBox="1"/>
          <p:nvPr/>
        </p:nvSpPr>
        <p:spPr>
          <a:xfrm>
            <a:off x="722376" y="6227064"/>
            <a:ext cx="10744200" cy="256032"/>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METR, 5 июня 2025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СТУПЕНЬ 7 · КРИТЕРИЙ</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500" b="1" i="0">
                <a:solidFill>
                  <a:srgbClr val="21295C"/>
                </a:solidFill>
                <a:latin typeface="Arial"/>
              </a:rPr>
              <a:t>Здесь ещё рано</a:t>
            </a:r>
          </a:p>
        </p:txBody>
      </p:sp>
      <p:sp>
        <p:nvSpPr>
          <p:cNvPr id="4" name="Rounded Rectangle 3"/>
          <p:cNvSpPr/>
          <p:nvPr/>
        </p:nvSpPr>
        <p:spPr>
          <a:xfrm>
            <a:off x="502920" y="1783080"/>
            <a:ext cx="11183112" cy="1993391"/>
          </a:xfrm>
          <a:prstGeom prst="roundRect">
            <a:avLst>
              <a:gd name="adj" fmla="val 8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47672"/>
            <a:ext cx="10607040" cy="1664207"/>
          </a:xfrm>
          <a:prstGeom prst="rect">
            <a:avLst/>
          </a:prstGeom>
          <a:noFill/>
        </p:spPr>
        <p:txBody>
          <a:bodyPr wrap="square" lIns="0" rIns="0" tIns="0" bIns="0" anchor="t">
            <a:spAutoFit/>
          </a:bodyPr>
          <a:lstStyle/>
          <a:p>
            <a:pPr algn="l">
              <a:lnSpc>
                <a:spcPct val="128000"/>
              </a:lnSpc>
              <a:spcAft>
                <a:spcPts val="600"/>
              </a:spcAft>
            </a:pPr>
            <a:r>
              <a:rPr sz="1350" b="1" i="0">
                <a:solidFill>
                  <a:srgbClr val="21295C"/>
                </a:solidFill>
                <a:latin typeface="Arial"/>
              </a:rPr>
              <a:t>Diff описывается одним предложением — просите сделать напрямую</a:t>
            </a:r>
          </a:p>
          <a:p>
            <a:pPr algn="l">
              <a:lnSpc>
                <a:spcPct val="128000"/>
              </a:lnSpc>
              <a:spcAft>
                <a:spcPts val="600"/>
              </a:spcAft>
            </a:pPr>
            <a:r>
              <a:rPr sz="1350" b="1" i="0">
                <a:solidFill>
                  <a:srgbClr val="21295C"/>
                </a:solidFill>
                <a:latin typeface="Arial"/>
              </a:rPr>
              <a:t>Откат дешевле повторной проверки</a:t>
            </a:r>
          </a:p>
          <a:p>
            <a:pPr algn="l">
              <a:lnSpc>
                <a:spcPct val="128000"/>
              </a:lnSpc>
              <a:spcAft>
                <a:spcPts val="600"/>
              </a:spcAft>
            </a:pPr>
            <a:r>
              <a:rPr sz="1350" b="1" i="0">
                <a:solidFill>
                  <a:srgbClr val="21295C"/>
                </a:solidFill>
                <a:latin typeface="Arial"/>
              </a:rPr>
              <a:t>Запись — факт, а не решение: append-only-артефакт, не цикл ветка → PR → ревью → мерж</a:t>
            </a:r>
          </a:p>
          <a:p>
            <a:pPr algn="l">
              <a:lnSpc>
                <a:spcPct val="128000"/>
              </a:lnSpc>
              <a:spcAft>
                <a:spcPts val="600"/>
              </a:spcAft>
            </a:pPr>
            <a:r>
              <a:rPr sz="1350" b="1" i="0">
                <a:solidFill>
                  <a:srgbClr val="21295C"/>
                </a:solidFill>
                <a:latin typeface="Arial"/>
              </a:rPr>
              <a:t>Третий круг ревью на одном артефакте — сигнал чинить конструкцию, не продолжать прожарку</a:t>
            </a:r>
          </a:p>
        </p:txBody>
      </p:sp>
      <p:sp>
        <p:nvSpPr>
          <p:cNvPr id="6" name="Rounded Rectangle 5"/>
          <p:cNvSpPr/>
          <p:nvPr/>
        </p:nvSpPr>
        <p:spPr>
          <a:xfrm>
            <a:off x="502920" y="4032504"/>
            <a:ext cx="11183112" cy="2368296"/>
          </a:xfrm>
          <a:prstGeom prst="roundRect">
            <a:avLst>
              <a:gd name="adj" fmla="val 1287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it-pull-request-028090-96.png"/>
          <p:cNvPicPr>
            <a:picLocks noChangeAspect="1"/>
          </p:cNvPicPr>
          <p:nvPr/>
        </p:nvPicPr>
        <p:blipFill>
          <a:blip r:embed="rId2"/>
          <a:stretch>
            <a:fillRect/>
          </a:stretch>
        </p:blipFill>
        <p:spPr>
          <a:xfrm>
            <a:off x="704088" y="4215384"/>
            <a:ext cx="365760" cy="365760"/>
          </a:xfrm>
          <a:prstGeom prst="rect">
            <a:avLst/>
          </a:prstGeom>
        </p:spPr>
      </p:pic>
      <p:sp>
        <p:nvSpPr>
          <p:cNvPr id="8" name="TextBox 7"/>
          <p:cNvSpPr txBox="1"/>
          <p:nvPr/>
        </p:nvSpPr>
        <p:spPr>
          <a:xfrm>
            <a:off x="1207008" y="4169664"/>
            <a:ext cx="1024128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Живой кейс: har36 — внутренний кейс шаблонной task-экосистемы</a:t>
            </a:r>
          </a:p>
        </p:txBody>
      </p:sp>
      <p:sp>
        <p:nvSpPr>
          <p:cNvPr id="9" name="TextBox 8"/>
          <p:cNvSpPr txBox="1"/>
          <p:nvPr/>
        </p:nvSpPr>
        <p:spPr>
          <a:xfrm>
            <a:off x="704088" y="4764024"/>
            <a:ext cx="10698480" cy="1453895"/>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PR-комментарий «Independent ROAST: PASS» оказался фабрикацией — независимость проверена не на слово, а механически, сравнением git trailers (session id).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8 · ФИНАЛ</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200" b="1" i="0">
                <a:solidFill>
                  <a:srgbClr val="21295C"/>
                </a:solidFill>
                <a:latin typeface="Arial"/>
              </a:rPr>
              <a:t>Семь ступеней — один и тот же принцип: добавляем по боли, не про запас</a:t>
            </a:r>
          </a:p>
        </p:txBody>
      </p:sp>
      <p:sp>
        <p:nvSpPr>
          <p:cNvPr id="4" name="Rounded Rectangle 3"/>
          <p:cNvSpPr/>
          <p:nvPr/>
        </p:nvSpPr>
        <p:spPr>
          <a:xfrm>
            <a:off x="502920" y="1691640"/>
            <a:ext cx="11183112" cy="4297680"/>
          </a:xfrm>
          <a:prstGeom prst="roundRect">
            <a:avLst>
              <a:gd name="adj" fmla="val 70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2083003" cy="365760"/>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Ступень</a:t>
            </a:r>
          </a:p>
        </p:txBody>
      </p:sp>
      <p:sp>
        <p:nvSpPr>
          <p:cNvPr id="6" name="TextBox 5"/>
          <p:cNvSpPr txBox="1"/>
          <p:nvPr/>
        </p:nvSpPr>
        <p:spPr>
          <a:xfrm>
            <a:off x="2860243" y="1892808"/>
            <a:ext cx="3592311" cy="365760"/>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Что добавляем</a:t>
            </a:r>
          </a:p>
        </p:txBody>
      </p:sp>
      <p:sp>
        <p:nvSpPr>
          <p:cNvPr id="7" name="TextBox 6"/>
          <p:cNvSpPr txBox="1"/>
          <p:nvPr/>
        </p:nvSpPr>
        <p:spPr>
          <a:xfrm>
            <a:off x="6525707" y="1892808"/>
            <a:ext cx="4886004" cy="365760"/>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Критерий «ещё рано»</a:t>
            </a:r>
          </a:p>
        </p:txBody>
      </p:sp>
      <p:sp>
        <p:nvSpPr>
          <p:cNvPr id="8" name="TextBox 7"/>
          <p:cNvSpPr txBox="1"/>
          <p:nvPr/>
        </p:nvSpPr>
        <p:spPr>
          <a:xfrm>
            <a:off x="704088" y="2331720"/>
            <a:ext cx="2064715"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1. Файл инструкций</a:t>
            </a:r>
          </a:p>
        </p:txBody>
      </p:sp>
      <p:sp>
        <p:nvSpPr>
          <p:cNvPr id="9" name="TextBox 8"/>
          <p:cNvSpPr txBox="1"/>
          <p:nvPr/>
        </p:nvSpPr>
        <p:spPr>
          <a:xfrm>
            <a:off x="2860243" y="2331720"/>
            <a:ext cx="3574023"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CLAUDE.md / AGENTS.md</a:t>
            </a:r>
          </a:p>
        </p:txBody>
      </p:sp>
      <p:sp>
        <p:nvSpPr>
          <p:cNvPr id="10" name="TextBox 9"/>
          <p:cNvSpPr txBox="1"/>
          <p:nvPr/>
        </p:nvSpPr>
        <p:spPr>
          <a:xfrm>
            <a:off x="6525707" y="2331720"/>
            <a:ext cx="4867716"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Агент справляется, репозиторий маленький</a:t>
            </a:r>
          </a:p>
        </p:txBody>
      </p:sp>
      <p:cxnSp>
        <p:nvCxnSpPr>
          <p:cNvPr id="11" name="Connector 10"/>
          <p:cNvCxnSpPr/>
          <p:nvPr/>
        </p:nvCxnSpPr>
        <p:spPr>
          <a:xfrm>
            <a:off x="704088" y="2825496"/>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04088" y="2825496"/>
            <a:ext cx="2064715"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2. Память</a:t>
            </a:r>
          </a:p>
        </p:txBody>
      </p:sp>
      <p:sp>
        <p:nvSpPr>
          <p:cNvPr id="13" name="TextBox 12"/>
          <p:cNvSpPr txBox="1"/>
          <p:nvPr/>
        </p:nvSpPr>
        <p:spPr>
          <a:xfrm>
            <a:off x="2860243" y="2825496"/>
            <a:ext cx="3574023"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/memory + DECISIONS.md</a:t>
            </a:r>
          </a:p>
        </p:txBody>
      </p:sp>
      <p:sp>
        <p:nvSpPr>
          <p:cNvPr id="14" name="TextBox 13"/>
          <p:cNvSpPr txBox="1"/>
          <p:nvPr/>
        </p:nvSpPr>
        <p:spPr>
          <a:xfrm>
            <a:off x="6525707" y="2825496"/>
            <a:ext cx="4867716"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Хватило одной-двух сессий</a:t>
            </a:r>
          </a:p>
        </p:txBody>
      </p:sp>
      <p:cxnSp>
        <p:nvCxnSpPr>
          <p:cNvPr id="15" name="Connector 14"/>
          <p:cNvCxnSpPr/>
          <p:nvPr/>
        </p:nvCxnSpPr>
        <p:spPr>
          <a:xfrm>
            <a:off x="704088" y="3319272"/>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04088" y="3319272"/>
            <a:ext cx="2064715"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3. Хуки</a:t>
            </a:r>
          </a:p>
        </p:txBody>
      </p:sp>
      <p:sp>
        <p:nvSpPr>
          <p:cNvPr id="17" name="TextBox 16"/>
          <p:cNvSpPr txBox="1"/>
          <p:nvPr/>
        </p:nvSpPr>
        <p:spPr>
          <a:xfrm>
            <a:off x="2860243" y="3319272"/>
            <a:ext cx="3574023"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.claude/settings.json</a:t>
            </a:r>
          </a:p>
        </p:txBody>
      </p:sp>
      <p:sp>
        <p:nvSpPr>
          <p:cNvPr id="18" name="TextBox 17"/>
          <p:cNvSpPr txBox="1"/>
          <p:nvPr/>
        </p:nvSpPr>
        <p:spPr>
          <a:xfrm>
            <a:off x="6525707" y="3319272"/>
            <a:ext cx="4867716"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Проверка дешевле в CI</a:t>
            </a:r>
          </a:p>
        </p:txBody>
      </p:sp>
      <p:cxnSp>
        <p:nvCxnSpPr>
          <p:cNvPr id="19" name="Connector 18"/>
          <p:cNvCxnSpPr/>
          <p:nvPr/>
        </p:nvCxnSpPr>
        <p:spPr>
          <a:xfrm>
            <a:off x="704088" y="3813048"/>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04088" y="3813048"/>
            <a:ext cx="2064715"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4. Скиллы</a:t>
            </a:r>
          </a:p>
        </p:txBody>
      </p:sp>
      <p:sp>
        <p:nvSpPr>
          <p:cNvPr id="21" name="TextBox 20"/>
          <p:cNvSpPr txBox="1"/>
          <p:nvPr/>
        </p:nvSpPr>
        <p:spPr>
          <a:xfrm>
            <a:off x="2860243" y="3813048"/>
            <a:ext cx="3574023"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.claude/skills/&lt;имя&gt;/SKILL.md</a:t>
            </a:r>
          </a:p>
        </p:txBody>
      </p:sp>
      <p:sp>
        <p:nvSpPr>
          <p:cNvPr id="22" name="TextBox 21"/>
          <p:cNvSpPr txBox="1"/>
          <p:nvPr/>
        </p:nvSpPr>
        <p:spPr>
          <a:xfrm>
            <a:off x="6525707" y="3813048"/>
            <a:ext cx="4867716"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Нужно каждой сессии — это файл инструкций</a:t>
            </a:r>
          </a:p>
        </p:txBody>
      </p:sp>
      <p:cxnSp>
        <p:nvCxnSpPr>
          <p:cNvPr id="23" name="Connector 22"/>
          <p:cNvCxnSpPr/>
          <p:nvPr/>
        </p:nvCxnSpPr>
        <p:spPr>
          <a:xfrm>
            <a:off x="704088" y="4306824"/>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04088" y="4306824"/>
            <a:ext cx="2064715"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5. MCP</a:t>
            </a:r>
          </a:p>
        </p:txBody>
      </p:sp>
      <p:sp>
        <p:nvSpPr>
          <p:cNvPr id="25" name="TextBox 24"/>
          <p:cNvSpPr txBox="1"/>
          <p:nvPr/>
        </p:nvSpPr>
        <p:spPr>
          <a:xfrm>
            <a:off x="2860243" y="4306824"/>
            <a:ext cx="3574023"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.mcp.json</a:t>
            </a:r>
          </a:p>
        </p:txBody>
      </p:sp>
      <p:sp>
        <p:nvSpPr>
          <p:cNvPr id="26" name="TextBox 25"/>
          <p:cNvSpPr txBox="1"/>
          <p:nvPr/>
        </p:nvSpPr>
        <p:spPr>
          <a:xfrm>
            <a:off x="6525707" y="4306824"/>
            <a:ext cx="4867716"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Хватает обычной команды через Bash</a:t>
            </a:r>
          </a:p>
        </p:txBody>
      </p:sp>
      <p:cxnSp>
        <p:nvCxnSpPr>
          <p:cNvPr id="27" name="Connector 26"/>
          <p:cNvCxnSpPr/>
          <p:nvPr/>
        </p:nvCxnSpPr>
        <p:spPr>
          <a:xfrm>
            <a:off x="704088" y="4800600"/>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04088" y="4800600"/>
            <a:ext cx="2064715"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6. Субагенты</a:t>
            </a:r>
          </a:p>
        </p:txBody>
      </p:sp>
      <p:sp>
        <p:nvSpPr>
          <p:cNvPr id="29" name="TextBox 28"/>
          <p:cNvSpPr txBox="1"/>
          <p:nvPr/>
        </p:nvSpPr>
        <p:spPr>
          <a:xfrm>
            <a:off x="2860243" y="4800600"/>
            <a:ext cx="3574023"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.claude/agents/&lt;имя&gt;.md</a:t>
            </a:r>
          </a:p>
        </p:txBody>
      </p:sp>
      <p:sp>
        <p:nvSpPr>
          <p:cNvPr id="30" name="TextBox 29"/>
          <p:cNvSpPr txBox="1"/>
          <p:nvPr/>
        </p:nvSpPr>
        <p:spPr>
          <a:xfrm>
            <a:off x="6525707" y="4800600"/>
            <a:ext cx="4867716"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Шаги зависимы, нужен общий контекст</a:t>
            </a:r>
          </a:p>
        </p:txBody>
      </p:sp>
      <p:cxnSp>
        <p:nvCxnSpPr>
          <p:cNvPr id="31" name="Connector 30"/>
          <p:cNvCxnSpPr/>
          <p:nvPr/>
        </p:nvCxnSpPr>
        <p:spPr>
          <a:xfrm>
            <a:off x="704088" y="5294376"/>
            <a:ext cx="1078077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57784" y="5294375"/>
            <a:ext cx="11073384" cy="493775"/>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294375"/>
            <a:ext cx="2064715"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7. Процесс</a:t>
            </a:r>
          </a:p>
        </p:txBody>
      </p:sp>
      <p:sp>
        <p:nvSpPr>
          <p:cNvPr id="34" name="TextBox 33"/>
          <p:cNvSpPr txBox="1"/>
          <p:nvPr/>
        </p:nvSpPr>
        <p:spPr>
          <a:xfrm>
            <a:off x="2860243" y="5294375"/>
            <a:ext cx="3574023"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План + прожарка + Tasks/&lt;дата&gt;_&lt;slug&gt;/</a:t>
            </a:r>
          </a:p>
        </p:txBody>
      </p:sp>
      <p:sp>
        <p:nvSpPr>
          <p:cNvPr id="35" name="TextBox 34"/>
          <p:cNvSpPr txBox="1"/>
          <p:nvPr/>
        </p:nvSpPr>
        <p:spPr>
          <a:xfrm>
            <a:off x="6525707" y="5294375"/>
            <a:ext cx="4867716" cy="493775"/>
          </a:xfrm>
          <a:prstGeom prst="rect">
            <a:avLst/>
          </a:prstGeom>
          <a:noFill/>
        </p:spPr>
        <p:txBody>
          <a:bodyPr wrap="square" lIns="0" rIns="0" tIns="0" bIns="0" anchor="ctr">
            <a:spAutoFit/>
          </a:bodyPr>
          <a:lstStyle/>
          <a:p>
            <a:pPr algn="l">
              <a:lnSpc>
                <a:spcPct val="115000"/>
              </a:lnSpc>
            </a:pPr>
            <a:r>
              <a:rPr sz="1150" b="0" i="0">
                <a:solidFill>
                  <a:srgbClr val="21295C"/>
                </a:solidFill>
                <a:latin typeface="Arial"/>
              </a:rPr>
              <a:t>Diff — одна фраза, откат дешевле проверки</a:t>
            </a:r>
          </a:p>
        </p:txBody>
      </p:sp>
      <p:sp>
        <p:nvSpPr>
          <p:cNvPr id="36" name="TextBox 35"/>
          <p:cNvSpPr txBox="1"/>
          <p:nvPr/>
        </p:nvSpPr>
        <p:spPr>
          <a:xfrm>
            <a:off x="502920" y="6419088"/>
            <a:ext cx="11183112" cy="347472"/>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Тот же слайд, что в разделе 0 — явное закрытие рамки занятия</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8 · ФИНАЛ</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400" b="1" i="0">
                <a:solidFill>
                  <a:srgbClr val="21295C"/>
                </a:solidFill>
                <a:latin typeface="Arial"/>
              </a:rPr>
              <a:t>Клонируемая конфигурация — все семь блоков в одном репозитории</a:t>
            </a:r>
          </a:p>
        </p:txBody>
      </p:sp>
      <p:sp>
        <p:nvSpPr>
          <p:cNvPr id="4" name="Rounded Rectangle 3"/>
          <p:cNvSpPr/>
          <p:nvPr/>
        </p:nvSpPr>
        <p:spPr>
          <a:xfrm>
            <a:off x="1280160" y="2606040"/>
            <a:ext cx="9537192" cy="2743200"/>
          </a:xfrm>
          <a:prstGeom prst="roundRect">
            <a:avLst>
              <a:gd name="adj" fmla="val 11111"/>
            </a:avLst>
          </a:prstGeom>
          <a:solidFill>
            <a:srgbClr val="FEF5E0"/>
          </a:solidFill>
          <a:ln w="2032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nk-8A6200-96.png"/>
          <p:cNvPicPr>
            <a:picLocks noChangeAspect="1"/>
          </p:cNvPicPr>
          <p:nvPr/>
        </p:nvPicPr>
        <p:blipFill>
          <a:blip r:embed="rId2"/>
          <a:stretch>
            <a:fillRect/>
          </a:stretch>
        </p:blipFill>
        <p:spPr>
          <a:xfrm>
            <a:off x="1737360" y="3063240"/>
            <a:ext cx="640080" cy="640080"/>
          </a:xfrm>
          <a:prstGeom prst="rect">
            <a:avLst/>
          </a:prstGeom>
        </p:spPr>
      </p:pic>
      <p:sp>
        <p:nvSpPr>
          <p:cNvPr id="6" name="TextBox 5"/>
          <p:cNvSpPr txBox="1"/>
          <p:nvPr/>
        </p:nvSpPr>
        <p:spPr>
          <a:xfrm>
            <a:off x="2651760" y="3017520"/>
            <a:ext cx="7799831" cy="822960"/>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Публичная клонируемая конфигурация: [URL — после сборки]</a:t>
            </a:r>
          </a:p>
        </p:txBody>
      </p:sp>
      <p:sp>
        <p:nvSpPr>
          <p:cNvPr id="7" name="TextBox 6"/>
          <p:cNvSpPr txBox="1"/>
          <p:nvPr/>
        </p:nvSpPr>
        <p:spPr>
          <a:xfrm>
            <a:off x="1737360" y="4160520"/>
            <a:ext cx="8622792" cy="1005840"/>
          </a:xfrm>
          <a:prstGeom prst="rect">
            <a:avLst/>
          </a:prstGeom>
          <a:noFill/>
        </p:spPr>
        <p:txBody>
          <a:bodyPr wrap="square" lIns="0" rIns="0" tIns="0" bIns="0" anchor="t">
            <a:spAutoFit/>
          </a:bodyPr>
          <a:lstStyle/>
          <a:p>
            <a:pPr algn="l">
              <a:lnSpc>
                <a:spcPct val="132000"/>
              </a:lnSpc>
            </a:pPr>
            <a:r>
              <a:rPr sz="1300" b="0" i="1">
                <a:solidFill>
                  <a:srgbClr val="8A6200"/>
                </a:solidFill>
                <a:latin typeface="Arial"/>
              </a:rPr>
              <a:t>Если ссылки пока нет — ближайший существующий артефакт: templates/base-project-template/, репозиторий workain/agent-harness-registry (шаблон, не готовая сборка)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8 · ВОПРОС НА ВЫНОС</a:t>
            </a:r>
          </a:p>
        </p:txBody>
      </p:sp>
      <p:sp>
        <p:nvSpPr>
          <p:cNvPr id="3" name="TextBox 2"/>
          <p:cNvSpPr txBox="1"/>
          <p:nvPr/>
        </p:nvSpPr>
        <p:spPr>
          <a:xfrm>
            <a:off x="502920" y="658368"/>
            <a:ext cx="11183112" cy="960120"/>
          </a:xfrm>
          <a:prstGeom prst="rect">
            <a:avLst/>
          </a:prstGeom>
          <a:noFill/>
        </p:spPr>
        <p:txBody>
          <a:bodyPr wrap="square" lIns="0" rIns="0" tIns="0" bIns="0" anchor="t">
            <a:spAutoFit/>
          </a:bodyPr>
          <a:lstStyle/>
          <a:p>
            <a:pPr algn="l">
              <a:lnSpc>
                <a:spcPct val="114000"/>
              </a:lnSpc>
            </a:pPr>
            <a:r>
              <a:rPr sz="2100" b="1" i="0">
                <a:solidFill>
                  <a:srgbClr val="21295C"/>
                </a:solidFill>
                <a:latin typeface="Arial"/>
              </a:rPr>
              <a:t>Шлюз установлен не тогда, когда файл существует, а когда его видели сработавшим</a:t>
            </a:r>
          </a:p>
        </p:txBody>
      </p:sp>
      <p:sp>
        <p:nvSpPr>
          <p:cNvPr id="4" name="Rounded Rectangle 3"/>
          <p:cNvSpPr/>
          <p:nvPr/>
        </p:nvSpPr>
        <p:spPr>
          <a:xfrm>
            <a:off x="502920" y="1691640"/>
            <a:ext cx="11183112" cy="9144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64792"/>
            <a:ext cx="10780776" cy="76809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«Сегодня вы видели, как одна конкретная боль на каждом шаге работы над одним сайтом добавляла один блок конфигурации. У вас есть свой рабочий или учебный репозиторий. Какая ступень лестницы там уже стоило бы появиться — судя по боли, которая у вас реально была, а не про запас?»</a:t>
            </a:r>
          </a:p>
        </p:txBody>
      </p:sp>
      <p:cxnSp>
        <p:nvCxnSpPr>
          <p:cNvPr id="6" name="Connector 5"/>
          <p:cNvCxnSpPr/>
          <p:nvPr/>
        </p:nvCxnSpPr>
        <p:spPr>
          <a:xfrm>
            <a:off x="502920" y="5212080"/>
            <a:ext cx="11183112"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4938903"/>
            <a:ext cx="1285875" cy="273177"/>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 y="4646295"/>
            <a:ext cx="1413891" cy="274320"/>
          </a:xfrm>
          <a:prstGeom prst="rect">
            <a:avLst/>
          </a:prstGeom>
          <a:noFill/>
        </p:spPr>
        <p:txBody>
          <a:bodyPr wrap="square" lIns="0" rIns="0" tIns="0" bIns="0" anchor="t">
            <a:spAutoFit/>
          </a:bodyPr>
          <a:lstStyle/>
          <a:p>
            <a:pPr algn="ctr">
              <a:lnSpc>
                <a:spcPct val="100000"/>
              </a:lnSpc>
            </a:pPr>
            <a:r>
              <a:rPr sz="930" b="0" i="0">
                <a:solidFill>
                  <a:srgbClr val="21295C"/>
                </a:solidFill>
                <a:latin typeface="Arial"/>
              </a:rPr>
              <a:t>signup-landing/</a:t>
            </a:r>
          </a:p>
        </p:txBody>
      </p:sp>
      <p:sp>
        <p:nvSpPr>
          <p:cNvPr id="9" name="TextBox 8"/>
          <p:cNvSpPr txBox="1"/>
          <p:nvPr/>
        </p:nvSpPr>
        <p:spPr>
          <a:xfrm>
            <a:off x="438912" y="5257800"/>
            <a:ext cx="1413891" cy="256032"/>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0</a:t>
            </a:r>
          </a:p>
        </p:txBody>
      </p:sp>
      <p:sp>
        <p:nvSpPr>
          <p:cNvPr id="10" name="TextBox 9"/>
          <p:cNvSpPr txBox="1"/>
          <p:nvPr/>
        </p:nvSpPr>
        <p:spPr>
          <a:xfrm>
            <a:off x="411480" y="5504688"/>
            <a:ext cx="1468755" cy="274320"/>
          </a:xfrm>
          <a:prstGeom prst="rect">
            <a:avLst/>
          </a:prstGeom>
          <a:noFill/>
        </p:spPr>
        <p:txBody>
          <a:bodyPr wrap="square" lIns="0" rIns="0" tIns="0" bIns="0" anchor="t">
            <a:spAutoFit/>
          </a:bodyPr>
          <a:lstStyle/>
          <a:p>
            <a:pPr algn="ctr">
              <a:lnSpc>
                <a:spcPct val="100000"/>
              </a:lnSpc>
            </a:pPr>
            <a:r>
              <a:rPr sz="850" b="0" i="1">
                <a:solidFill>
                  <a:srgbClr val="6B7685"/>
                </a:solidFill>
                <a:latin typeface="Arial"/>
              </a:rPr>
              <a:t>пусто</a:t>
            </a:r>
          </a:p>
        </p:txBody>
      </p:sp>
      <p:sp>
        <p:nvSpPr>
          <p:cNvPr id="11" name="Rounded Rectangle 10"/>
          <p:cNvSpPr/>
          <p:nvPr/>
        </p:nvSpPr>
        <p:spPr>
          <a:xfrm>
            <a:off x="1916811" y="4665726"/>
            <a:ext cx="1285875" cy="546354"/>
          </a:xfrm>
          <a:prstGeom prst="roundRect">
            <a:avLst>
              <a:gd name="adj" fmla="val 14000"/>
            </a:avLst>
          </a:prstGeom>
          <a:solidFill>
            <a:srgbClr val="1C65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52803" y="4373118"/>
            <a:ext cx="1413891" cy="274320"/>
          </a:xfrm>
          <a:prstGeom prst="rect">
            <a:avLst/>
          </a:prstGeom>
          <a:noFill/>
        </p:spPr>
        <p:txBody>
          <a:bodyPr wrap="square" lIns="0" rIns="0" tIns="0" bIns="0" anchor="t">
            <a:spAutoFit/>
          </a:bodyPr>
          <a:lstStyle/>
          <a:p>
            <a:pPr algn="ctr">
              <a:lnSpc>
                <a:spcPct val="100000"/>
              </a:lnSpc>
            </a:pPr>
            <a:r>
              <a:rPr sz="930" b="0" i="0">
                <a:solidFill>
                  <a:srgbClr val="21295C"/>
                </a:solidFill>
                <a:latin typeface="Arial"/>
              </a:rPr>
              <a:t>CLAUDE.md</a:t>
            </a:r>
          </a:p>
        </p:txBody>
      </p:sp>
      <p:sp>
        <p:nvSpPr>
          <p:cNvPr id="13" name="TextBox 12"/>
          <p:cNvSpPr txBox="1"/>
          <p:nvPr/>
        </p:nvSpPr>
        <p:spPr>
          <a:xfrm>
            <a:off x="1852803" y="5257800"/>
            <a:ext cx="1413891" cy="256032"/>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1</a:t>
            </a:r>
          </a:p>
        </p:txBody>
      </p:sp>
      <p:sp>
        <p:nvSpPr>
          <p:cNvPr id="14" name="TextBox 13"/>
          <p:cNvSpPr txBox="1"/>
          <p:nvPr/>
        </p:nvSpPr>
        <p:spPr>
          <a:xfrm>
            <a:off x="1825371" y="5504688"/>
            <a:ext cx="1468755" cy="274320"/>
          </a:xfrm>
          <a:prstGeom prst="rect">
            <a:avLst/>
          </a:prstGeom>
          <a:noFill/>
        </p:spPr>
        <p:txBody>
          <a:bodyPr wrap="square" lIns="0" rIns="0" tIns="0" bIns="0" anchor="t">
            <a:spAutoFit/>
          </a:bodyPr>
          <a:lstStyle/>
          <a:p>
            <a:pPr algn="ctr">
              <a:lnSpc>
                <a:spcPct val="100000"/>
              </a:lnSpc>
            </a:pPr>
            <a:r>
              <a:rPr sz="850" b="0" i="1">
                <a:solidFill>
                  <a:srgbClr val="6B7685"/>
                </a:solidFill>
                <a:latin typeface="Arial"/>
              </a:rPr>
              <a:t>файл инструкций</a:t>
            </a:r>
          </a:p>
        </p:txBody>
      </p:sp>
      <p:sp>
        <p:nvSpPr>
          <p:cNvPr id="15" name="Rounded Rectangle 14"/>
          <p:cNvSpPr/>
          <p:nvPr/>
        </p:nvSpPr>
        <p:spPr>
          <a:xfrm>
            <a:off x="3330702" y="4392549"/>
            <a:ext cx="1285875" cy="819531"/>
          </a:xfrm>
          <a:prstGeom prst="roundRect">
            <a:avLst>
              <a:gd name="adj" fmla="val 14000"/>
            </a:avLst>
          </a:prstGeom>
          <a:solidFill>
            <a:srgbClr val="1D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66694" y="4099940"/>
            <a:ext cx="1413891" cy="274320"/>
          </a:xfrm>
          <a:prstGeom prst="rect">
            <a:avLst/>
          </a:prstGeom>
          <a:noFill/>
        </p:spPr>
        <p:txBody>
          <a:bodyPr wrap="square" lIns="0" rIns="0" tIns="0" bIns="0" anchor="t">
            <a:spAutoFit/>
          </a:bodyPr>
          <a:lstStyle/>
          <a:p>
            <a:pPr algn="ctr">
              <a:lnSpc>
                <a:spcPct val="100000"/>
              </a:lnSpc>
            </a:pPr>
            <a:r>
              <a:rPr sz="930" b="0" i="0">
                <a:solidFill>
                  <a:srgbClr val="21295C"/>
                </a:solidFill>
                <a:latin typeface="Arial"/>
              </a:rPr>
              <a:t>DECISIONS.md</a:t>
            </a:r>
          </a:p>
        </p:txBody>
      </p:sp>
      <p:sp>
        <p:nvSpPr>
          <p:cNvPr id="17" name="TextBox 16"/>
          <p:cNvSpPr txBox="1"/>
          <p:nvPr/>
        </p:nvSpPr>
        <p:spPr>
          <a:xfrm>
            <a:off x="3266694" y="5257800"/>
            <a:ext cx="1413891" cy="256032"/>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2</a:t>
            </a:r>
          </a:p>
        </p:txBody>
      </p:sp>
      <p:sp>
        <p:nvSpPr>
          <p:cNvPr id="18" name="TextBox 17"/>
          <p:cNvSpPr txBox="1"/>
          <p:nvPr/>
        </p:nvSpPr>
        <p:spPr>
          <a:xfrm>
            <a:off x="3239262" y="5504688"/>
            <a:ext cx="1468755" cy="274320"/>
          </a:xfrm>
          <a:prstGeom prst="rect">
            <a:avLst/>
          </a:prstGeom>
          <a:noFill/>
        </p:spPr>
        <p:txBody>
          <a:bodyPr wrap="square" lIns="0" rIns="0" tIns="0" bIns="0" anchor="t">
            <a:spAutoFit/>
          </a:bodyPr>
          <a:lstStyle/>
          <a:p>
            <a:pPr algn="ctr">
              <a:lnSpc>
                <a:spcPct val="100000"/>
              </a:lnSpc>
            </a:pPr>
            <a:r>
              <a:rPr sz="850" b="0" i="1">
                <a:solidFill>
                  <a:srgbClr val="6B7685"/>
                </a:solidFill>
                <a:latin typeface="Arial"/>
              </a:rPr>
              <a:t>память</a:t>
            </a:r>
          </a:p>
        </p:txBody>
      </p:sp>
      <p:sp>
        <p:nvSpPr>
          <p:cNvPr id="19" name="Rounded Rectangle 18"/>
          <p:cNvSpPr/>
          <p:nvPr/>
        </p:nvSpPr>
        <p:spPr>
          <a:xfrm>
            <a:off x="4744593" y="4119372"/>
            <a:ext cx="1285875" cy="1092708"/>
          </a:xfrm>
          <a:prstGeom prst="roundRect">
            <a:avLst>
              <a:gd name="adj" fmla="val 14000"/>
            </a:avLst>
          </a:prstGeom>
          <a:solidFill>
            <a:srgbClr val="1E4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80585" y="3826763"/>
            <a:ext cx="1413891" cy="274320"/>
          </a:xfrm>
          <a:prstGeom prst="rect">
            <a:avLst/>
          </a:prstGeom>
          <a:noFill/>
        </p:spPr>
        <p:txBody>
          <a:bodyPr wrap="square" lIns="0" rIns="0" tIns="0" bIns="0" anchor="t">
            <a:spAutoFit/>
          </a:bodyPr>
          <a:lstStyle/>
          <a:p>
            <a:pPr algn="ctr">
              <a:lnSpc>
                <a:spcPct val="100000"/>
              </a:lnSpc>
            </a:pPr>
            <a:r>
              <a:rPr sz="930" b="0" i="0">
                <a:solidFill>
                  <a:srgbClr val="21295C"/>
                </a:solidFill>
                <a:latin typeface="Arial"/>
              </a:rPr>
              <a:t>.claude/settings.json</a:t>
            </a:r>
          </a:p>
        </p:txBody>
      </p:sp>
      <p:sp>
        <p:nvSpPr>
          <p:cNvPr id="21" name="TextBox 20"/>
          <p:cNvSpPr txBox="1"/>
          <p:nvPr/>
        </p:nvSpPr>
        <p:spPr>
          <a:xfrm>
            <a:off x="4680585" y="5257800"/>
            <a:ext cx="1413891" cy="256032"/>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3</a:t>
            </a:r>
          </a:p>
        </p:txBody>
      </p:sp>
      <p:sp>
        <p:nvSpPr>
          <p:cNvPr id="22" name="TextBox 21"/>
          <p:cNvSpPr txBox="1"/>
          <p:nvPr/>
        </p:nvSpPr>
        <p:spPr>
          <a:xfrm>
            <a:off x="4653153" y="5504688"/>
            <a:ext cx="1468755" cy="274320"/>
          </a:xfrm>
          <a:prstGeom prst="rect">
            <a:avLst/>
          </a:prstGeom>
          <a:noFill/>
        </p:spPr>
        <p:txBody>
          <a:bodyPr wrap="square" lIns="0" rIns="0" tIns="0" bIns="0" anchor="t">
            <a:spAutoFit/>
          </a:bodyPr>
          <a:lstStyle/>
          <a:p>
            <a:pPr algn="ctr">
              <a:lnSpc>
                <a:spcPct val="100000"/>
              </a:lnSpc>
            </a:pPr>
            <a:r>
              <a:rPr sz="850" b="0" i="1">
                <a:solidFill>
                  <a:srgbClr val="6B7685"/>
                </a:solidFill>
                <a:latin typeface="Arial"/>
              </a:rPr>
              <a:t>хук</a:t>
            </a:r>
          </a:p>
        </p:txBody>
      </p:sp>
      <p:sp>
        <p:nvSpPr>
          <p:cNvPr id="23" name="Rounded Rectangle 22"/>
          <p:cNvSpPr/>
          <p:nvPr/>
        </p:nvSpPr>
        <p:spPr>
          <a:xfrm>
            <a:off x="6158484" y="3846195"/>
            <a:ext cx="1285875" cy="1365885"/>
          </a:xfrm>
          <a:prstGeom prst="roundRect">
            <a:avLst>
              <a:gd name="adj" fmla="val 14000"/>
            </a:avLst>
          </a:prstGeom>
          <a:solidFill>
            <a:srgbClr val="1F41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4476" y="3553587"/>
            <a:ext cx="1413891" cy="274320"/>
          </a:xfrm>
          <a:prstGeom prst="rect">
            <a:avLst/>
          </a:prstGeom>
          <a:noFill/>
        </p:spPr>
        <p:txBody>
          <a:bodyPr wrap="square" lIns="0" rIns="0" tIns="0" bIns="0" anchor="t">
            <a:spAutoFit/>
          </a:bodyPr>
          <a:lstStyle/>
          <a:p>
            <a:pPr algn="ctr">
              <a:lnSpc>
                <a:spcPct val="100000"/>
              </a:lnSpc>
            </a:pPr>
            <a:r>
              <a:rPr sz="930" b="0" i="0">
                <a:solidFill>
                  <a:srgbClr val="21295C"/>
                </a:solidFill>
                <a:latin typeface="Arial"/>
              </a:rPr>
              <a:t>skills/deploy/</a:t>
            </a:r>
          </a:p>
        </p:txBody>
      </p:sp>
      <p:sp>
        <p:nvSpPr>
          <p:cNvPr id="25" name="TextBox 24"/>
          <p:cNvSpPr txBox="1"/>
          <p:nvPr/>
        </p:nvSpPr>
        <p:spPr>
          <a:xfrm>
            <a:off x="6094476" y="5257800"/>
            <a:ext cx="1413891" cy="256032"/>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4</a:t>
            </a:r>
          </a:p>
        </p:txBody>
      </p:sp>
      <p:sp>
        <p:nvSpPr>
          <p:cNvPr id="26" name="TextBox 25"/>
          <p:cNvSpPr txBox="1"/>
          <p:nvPr/>
        </p:nvSpPr>
        <p:spPr>
          <a:xfrm>
            <a:off x="6067044" y="5504688"/>
            <a:ext cx="1468755" cy="274320"/>
          </a:xfrm>
          <a:prstGeom prst="rect">
            <a:avLst/>
          </a:prstGeom>
          <a:noFill/>
        </p:spPr>
        <p:txBody>
          <a:bodyPr wrap="square" lIns="0" rIns="0" tIns="0" bIns="0" anchor="t">
            <a:spAutoFit/>
          </a:bodyPr>
          <a:lstStyle/>
          <a:p>
            <a:pPr algn="ctr">
              <a:lnSpc>
                <a:spcPct val="100000"/>
              </a:lnSpc>
            </a:pPr>
            <a:r>
              <a:rPr sz="850" b="0" i="1">
                <a:solidFill>
                  <a:srgbClr val="6B7685"/>
                </a:solidFill>
                <a:latin typeface="Arial"/>
              </a:rPr>
              <a:t>скилл</a:t>
            </a:r>
          </a:p>
        </p:txBody>
      </p:sp>
      <p:sp>
        <p:nvSpPr>
          <p:cNvPr id="27" name="Rounded Rectangle 26"/>
          <p:cNvSpPr/>
          <p:nvPr/>
        </p:nvSpPr>
        <p:spPr>
          <a:xfrm>
            <a:off x="7572375" y="3573018"/>
            <a:ext cx="1285875" cy="1639062"/>
          </a:xfrm>
          <a:prstGeom prst="roundRect">
            <a:avLst>
              <a:gd name="adj" fmla="val 14000"/>
            </a:avLst>
          </a:prstGeom>
          <a:solidFill>
            <a:srgbClr val="2035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8367" y="3280410"/>
            <a:ext cx="1413891" cy="274320"/>
          </a:xfrm>
          <a:prstGeom prst="rect">
            <a:avLst/>
          </a:prstGeom>
          <a:noFill/>
        </p:spPr>
        <p:txBody>
          <a:bodyPr wrap="square" lIns="0" rIns="0" tIns="0" bIns="0" anchor="t">
            <a:spAutoFit/>
          </a:bodyPr>
          <a:lstStyle/>
          <a:p>
            <a:pPr algn="ctr">
              <a:lnSpc>
                <a:spcPct val="100000"/>
              </a:lnSpc>
            </a:pPr>
            <a:r>
              <a:rPr sz="930" b="0" i="0">
                <a:solidFill>
                  <a:srgbClr val="21295C"/>
                </a:solidFill>
                <a:latin typeface="Arial"/>
              </a:rPr>
              <a:t>.mcp.json</a:t>
            </a:r>
          </a:p>
        </p:txBody>
      </p:sp>
      <p:sp>
        <p:nvSpPr>
          <p:cNvPr id="29" name="TextBox 28"/>
          <p:cNvSpPr txBox="1"/>
          <p:nvPr/>
        </p:nvSpPr>
        <p:spPr>
          <a:xfrm>
            <a:off x="7508367" y="5257800"/>
            <a:ext cx="1413891" cy="256032"/>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5</a:t>
            </a:r>
          </a:p>
        </p:txBody>
      </p:sp>
      <p:sp>
        <p:nvSpPr>
          <p:cNvPr id="30" name="TextBox 29"/>
          <p:cNvSpPr txBox="1"/>
          <p:nvPr/>
        </p:nvSpPr>
        <p:spPr>
          <a:xfrm>
            <a:off x="7480935" y="5504688"/>
            <a:ext cx="1468755" cy="274320"/>
          </a:xfrm>
          <a:prstGeom prst="rect">
            <a:avLst/>
          </a:prstGeom>
          <a:noFill/>
        </p:spPr>
        <p:txBody>
          <a:bodyPr wrap="square" lIns="0" rIns="0" tIns="0" bIns="0" anchor="t">
            <a:spAutoFit/>
          </a:bodyPr>
          <a:lstStyle/>
          <a:p>
            <a:pPr algn="ctr">
              <a:lnSpc>
                <a:spcPct val="100000"/>
              </a:lnSpc>
            </a:pPr>
            <a:r>
              <a:rPr sz="850" b="0" i="1">
                <a:solidFill>
                  <a:srgbClr val="6B7685"/>
                </a:solidFill>
                <a:latin typeface="Arial"/>
              </a:rPr>
              <a:t>MCP</a:t>
            </a:r>
          </a:p>
        </p:txBody>
      </p:sp>
      <p:sp>
        <p:nvSpPr>
          <p:cNvPr id="31" name="Rounded Rectangle 30"/>
          <p:cNvSpPr/>
          <p:nvPr/>
        </p:nvSpPr>
        <p:spPr>
          <a:xfrm>
            <a:off x="8986266" y="3299841"/>
            <a:ext cx="1285875" cy="1912239"/>
          </a:xfrm>
          <a:prstGeom prst="roundRect">
            <a:avLst>
              <a:gd name="adj" fmla="val 14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22258" y="3007233"/>
            <a:ext cx="1413891" cy="274320"/>
          </a:xfrm>
          <a:prstGeom prst="rect">
            <a:avLst/>
          </a:prstGeom>
          <a:noFill/>
        </p:spPr>
        <p:txBody>
          <a:bodyPr wrap="square" lIns="0" rIns="0" tIns="0" bIns="0" anchor="t">
            <a:spAutoFit/>
          </a:bodyPr>
          <a:lstStyle/>
          <a:p>
            <a:pPr algn="ctr">
              <a:lnSpc>
                <a:spcPct val="100000"/>
              </a:lnSpc>
            </a:pPr>
            <a:r>
              <a:rPr sz="930" b="0" i="0">
                <a:solidFill>
                  <a:srgbClr val="21295C"/>
                </a:solidFill>
                <a:latin typeface="Arial"/>
              </a:rPr>
              <a:t>agents/diff-reviewer.md</a:t>
            </a:r>
          </a:p>
        </p:txBody>
      </p:sp>
      <p:sp>
        <p:nvSpPr>
          <p:cNvPr id="33" name="TextBox 32"/>
          <p:cNvSpPr txBox="1"/>
          <p:nvPr/>
        </p:nvSpPr>
        <p:spPr>
          <a:xfrm>
            <a:off x="8922258" y="5257800"/>
            <a:ext cx="1413891" cy="256032"/>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6</a:t>
            </a:r>
          </a:p>
        </p:txBody>
      </p:sp>
      <p:sp>
        <p:nvSpPr>
          <p:cNvPr id="34" name="TextBox 33"/>
          <p:cNvSpPr txBox="1"/>
          <p:nvPr/>
        </p:nvSpPr>
        <p:spPr>
          <a:xfrm>
            <a:off x="8894826" y="5504688"/>
            <a:ext cx="1468755" cy="274320"/>
          </a:xfrm>
          <a:prstGeom prst="rect">
            <a:avLst/>
          </a:prstGeom>
          <a:noFill/>
        </p:spPr>
        <p:txBody>
          <a:bodyPr wrap="square" lIns="0" rIns="0" tIns="0" bIns="0" anchor="t">
            <a:spAutoFit/>
          </a:bodyPr>
          <a:lstStyle/>
          <a:p>
            <a:pPr algn="ctr">
              <a:lnSpc>
                <a:spcPct val="100000"/>
              </a:lnSpc>
            </a:pPr>
            <a:r>
              <a:rPr sz="850" b="0" i="1">
                <a:solidFill>
                  <a:srgbClr val="6B7685"/>
                </a:solidFill>
                <a:latin typeface="Arial"/>
              </a:rPr>
              <a:t>субагент</a:t>
            </a:r>
          </a:p>
        </p:txBody>
      </p:sp>
      <p:sp>
        <p:nvSpPr>
          <p:cNvPr id="35" name="Rounded Rectangle 34"/>
          <p:cNvSpPr/>
          <p:nvPr/>
        </p:nvSpPr>
        <p:spPr>
          <a:xfrm>
            <a:off x="10400157" y="3026664"/>
            <a:ext cx="1285875" cy="218541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336149" y="2734056"/>
            <a:ext cx="1413891" cy="274320"/>
          </a:xfrm>
          <a:prstGeom prst="rect">
            <a:avLst/>
          </a:prstGeom>
          <a:noFill/>
        </p:spPr>
        <p:txBody>
          <a:bodyPr wrap="square" lIns="0" rIns="0" tIns="0" bIns="0" anchor="t">
            <a:spAutoFit/>
          </a:bodyPr>
          <a:lstStyle/>
          <a:p>
            <a:pPr algn="ctr">
              <a:lnSpc>
                <a:spcPct val="100000"/>
              </a:lnSpc>
            </a:pPr>
            <a:r>
              <a:rPr sz="930" b="1" i="0">
                <a:solidFill>
                  <a:srgbClr val="8A6200"/>
                </a:solidFill>
                <a:latin typeface="Arial"/>
              </a:rPr>
              <a:t>Tasks/</a:t>
            </a:r>
          </a:p>
        </p:txBody>
      </p:sp>
      <p:sp>
        <p:nvSpPr>
          <p:cNvPr id="37" name="TextBox 36"/>
          <p:cNvSpPr txBox="1"/>
          <p:nvPr/>
        </p:nvSpPr>
        <p:spPr>
          <a:xfrm>
            <a:off x="10336149" y="5257800"/>
            <a:ext cx="1413891" cy="256032"/>
          </a:xfrm>
          <a:prstGeom prst="rect">
            <a:avLst/>
          </a:prstGeom>
          <a:noFill/>
        </p:spPr>
        <p:txBody>
          <a:bodyPr wrap="square" lIns="0" rIns="0" tIns="0" bIns="0" anchor="t">
            <a:spAutoFit/>
          </a:bodyPr>
          <a:lstStyle/>
          <a:p>
            <a:pPr algn="ctr">
              <a:lnSpc>
                <a:spcPct val="115000"/>
              </a:lnSpc>
            </a:pPr>
            <a:r>
              <a:rPr sz="1250" b="1" i="0">
                <a:solidFill>
                  <a:srgbClr val="8A6200"/>
                </a:solidFill>
                <a:latin typeface="Arial"/>
              </a:rPr>
              <a:t>7</a:t>
            </a:r>
          </a:p>
        </p:txBody>
      </p:sp>
      <p:sp>
        <p:nvSpPr>
          <p:cNvPr id="38" name="TextBox 37"/>
          <p:cNvSpPr txBox="1"/>
          <p:nvPr/>
        </p:nvSpPr>
        <p:spPr>
          <a:xfrm>
            <a:off x="10308717" y="5504688"/>
            <a:ext cx="1468755" cy="274320"/>
          </a:xfrm>
          <a:prstGeom prst="rect">
            <a:avLst/>
          </a:prstGeom>
          <a:noFill/>
        </p:spPr>
        <p:txBody>
          <a:bodyPr wrap="square" lIns="0" rIns="0" tIns="0" bIns="0" anchor="t">
            <a:spAutoFit/>
          </a:bodyPr>
          <a:lstStyle/>
          <a:p>
            <a:pPr algn="ctr">
              <a:lnSpc>
                <a:spcPct val="100000"/>
              </a:lnSpc>
            </a:pPr>
            <a:r>
              <a:rPr sz="850" b="0" i="1">
                <a:solidFill>
                  <a:srgbClr val="6B7685"/>
                </a:solidFill>
                <a:latin typeface="Arial"/>
              </a:rPr>
              <a:t>процесс</a:t>
            </a:r>
          </a:p>
        </p:txBody>
      </p:sp>
      <p:sp>
        <p:nvSpPr>
          <p:cNvPr id="39" name="Rounded Rectangle 38"/>
          <p:cNvSpPr/>
          <p:nvPr/>
        </p:nvSpPr>
        <p:spPr>
          <a:xfrm>
            <a:off x="502920" y="5870448"/>
            <a:ext cx="11183112" cy="530352"/>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lipboard-check-028090-96.png"/>
          <p:cNvPicPr>
            <a:picLocks noChangeAspect="1"/>
          </p:cNvPicPr>
          <p:nvPr/>
        </p:nvPicPr>
        <p:blipFill>
          <a:blip r:embed="rId2"/>
          <a:stretch>
            <a:fillRect/>
          </a:stretch>
        </p:blipFill>
        <p:spPr>
          <a:xfrm>
            <a:off x="704088" y="5980176"/>
            <a:ext cx="310896" cy="310896"/>
          </a:xfrm>
          <a:prstGeom prst="rect">
            <a:avLst/>
          </a:prstGeom>
        </p:spPr>
      </p:pic>
      <p:sp>
        <p:nvSpPr>
          <p:cNvPr id="41" name="TextBox 40"/>
          <p:cNvSpPr txBox="1"/>
          <p:nvPr/>
        </p:nvSpPr>
        <p:spPr>
          <a:xfrm>
            <a:off x="1161288" y="5870448"/>
            <a:ext cx="10314432" cy="530352"/>
          </a:xfrm>
          <a:prstGeom prst="rect">
            <a:avLst/>
          </a:prstGeom>
          <a:noFill/>
        </p:spPr>
        <p:txBody>
          <a:bodyPr wrap="square" lIns="0" rIns="0" tIns="0" bIns="0" anchor="ctr">
            <a:spAutoFit/>
          </a:bodyPr>
          <a:lstStyle/>
          <a:p>
            <a:pPr algn="l">
              <a:lnSpc>
                <a:spcPct val="122000"/>
              </a:lnSpc>
            </a:pPr>
            <a:r>
              <a:rPr sz="1150" b="1" i="0">
                <a:solidFill>
                  <a:srgbClr val="065A82"/>
                </a:solidFill>
                <a:latin typeface="Arial"/>
              </a:rPr>
              <a:t>Спасибо за внимание сегодня — лестница у вас в руках на карточке, а репозиторий с рабочим примером остаётся доступным по ссылке с предыдущего слайда, если захотите свериться с деталями позже.</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