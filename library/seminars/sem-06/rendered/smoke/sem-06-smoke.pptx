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техническая заметка смоук-слайда, а не речь лектора. Слайд проверяет работу конвейера сборки Семинара 6 — путь от markdown-файла через </a:t>
            </a:r>
            <a:r>
              <a:rPr>
                <a:latin typeface="Consolas"/>
              </a:rPr>
              <a:t>build_sem06.py</a:t>
            </a:r>
            <a:r>
              <a:t> до готового PPTX, PDF и PNG. Содержание слайда намеренно оставлено заглушкой: заголовок и смысловая строка прямо говорят, что это не материал занятия. Проверяется приём </a:t>
            </a:r>
            <a:r>
              <a:rPr>
                <a:latin typeface="Consolas"/>
              </a:rPr>
              <a:t>section_divider_macro</a:t>
            </a:r>
            <a:r>
              <a:t> — тот же, что используют шесть настоящих дивайдеров деки (развилки кейсов MCP и Субагента). Если этот слайд собирается, конвертируется в PDF и PNG и проходит сторожей без ложных срабатываний — значит путь для настоящих дивайдеров занятия исправен. Отдельно эта заметка проверяет контракт speaker notes: достаточную длину связного текста и отсутствие служебных маркеров вроде «Лектору» или тайминга на видимом слое.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техническая заметка смоук-слайда, а не речь лектора. Слайд проверяет приём </a:t>
            </a:r>
            <a:r>
              <a:rPr>
                <a:latin typeface="Consolas"/>
              </a:rPr>
              <a:t>answer_breakdown_table</a:t>
            </a:r>
            <a:r>
              <a:t> на таблице в три колонки — ровно ту форму, в которой на настоящей деке разбираются ответы на вопрос занятия минимум на шести слайдах (например, разбор пяти решений кейса MCP или разбор границы между ролью субагента и координатором). Три строки заглушки набраны заведомо неравномерно по длине ячеек внутри строки и между строками, чтобы проверить два разных механизма верстки одновременно: во-первых, что высота строки таблицы считается по самой длинной ячейке именно этой строки, а не усредняется и не берётся по первой колонке; во-вторых, что при недостатке места включается лестница подгонки кегля, а не молчаливое переполнение за рамку. Задача по заданию — проверить, что таблица такого устройства при ширине слайда около 1024 точек не переполняется и не обрезает текст, и ровно это здесь проверяется на синтетическом, заведомо избыточном по объёму тексте.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техническая заметка смоук-слайда, а не речь лектора. Слайд проверяет приём </a:t>
            </a:r>
            <a:r>
              <a:rPr>
                <a:latin typeface="Consolas"/>
              </a:rPr>
              <a:t>code_artifact</a:t>
            </a:r>
            <a:r>
              <a:t> — тёмную моноширинную карточку, в которую на настоящей деке попадают реальные артефакты занятия (например, файл </a:t>
            </a:r>
            <a:r>
              <a:rPr>
                <a:latin typeface="Consolas"/>
              </a:rPr>
              <a:t>.mcp.json</a:t>
            </a:r>
            <a:r>
              <a:t> или файл роли субагента </a:t>
            </a:r>
            <a:r>
              <a:rPr>
                <a:latin typeface="Consolas"/>
              </a:rPr>
              <a:t>diff-reviewer.md</a:t>
            </a:r>
            <a:r>
              <a:t>). Листинг заглушки набран с нарочно длинными строками и с обратными кавычками внутри, чтобы проверить два механизма одновременно: во-первых, что карточка вырастает по высоте под весь листинг и не теряет последнюю строку (известная ловушка верстки — недомерка межстрочного интервала на моноширинных карточках, зафиксированная в примечаниях к рендереру Семинара 5); во-вторых, что ограждение, помеченное языком </a:t>
            </a:r>
            <a:r>
              <a:rPr>
                <a:latin typeface="Consolas"/>
              </a:rPr>
              <a:t>markdown</a:t>
            </a:r>
            <a:r>
              <a:t>, превращает обратные кавычки внутри листинга в разметку (жирный прогон), а не печатает их на слайде буквально — в отличие от ограждения без языка или с </a:t>
            </a:r>
            <a:r>
              <a:rPr>
                <a:latin typeface="Consolas"/>
              </a:rPr>
              <a:t>bash</a:t>
            </a:r>
            <a:r>
              <a:t>/</a:t>
            </a:r>
            <a:r>
              <a:rPr>
                <a:latin typeface="Consolas"/>
              </a:rPr>
              <a:t>json</a:t>
            </a:r>
            <a:r>
              <a:t>, где обратные кавычки являются частью дословного содержимого и не должны вырезаться.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1295C"/>
              </a:gs>
              <a:gs pos="55000">
                <a:srgbClr val="065A82"/>
              </a:gs>
              <a:gs pos="100000">
                <a:srgbClr val="1C729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24144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36192" y="1953006"/>
            <a:ext cx="9144000" cy="906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7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ЗАГЛУШКА: проверка приёма section_divider_macro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70682"/>
            <a:ext cx="9509760" cy="1139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44"/>
              </a:lnSpc>
              <a:spcAft>
                <a:spcPts val="400"/>
              </a:spcAft>
            </a:pPr>
            <a:r>
              <a:rPr sz="1700" b="0" i="1">
                <a:solidFill>
                  <a:srgbClr val="D6E2EC"/>
                </a:solidFill>
                <a:latin typeface="Arial"/>
              </a:rPr>
              <a:t>Заглушка конвейера сборки. Текст ниже — не кейс Семинара 6, а проверка формы дивайдера: смысловая строка должна лечь под заголовком, тег — под ней, дорожная карта — внизу слайда.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584954"/>
            <a:ext cx="5669280" cy="502920"/>
          </a:xfrm>
          <a:prstGeom prst="roundRect">
            <a:avLst>
              <a:gd name="adj" fmla="val 28000"/>
            </a:avLst>
          </a:prstGeom>
          <a:solidFill>
            <a:srgbClr val="0B143A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4584954"/>
            <a:ext cx="51937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56"/>
              </a:lnSpc>
              <a:spcAft>
                <a:spcPts val="0"/>
              </a:spcAft>
            </a:pPr>
            <a:r>
              <a:rPr sz="1150" b="1" i="0">
                <a:solidFill>
                  <a:srgbClr val="F0AB00"/>
                </a:solidFill>
                <a:latin typeface="Arial"/>
              </a:rPr>
              <a:t>СМОУК-ТЕСТ · 1 ПРИЁМ · 0 СОДЕРЖАНИЯ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ЗАГЛУШКА: проверка таблицы в три колонки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52956"/>
            <a:ext cx="11183112" cy="4610290"/>
          </a:xfrm>
          <a:prstGeom prst="roundRect">
            <a:avLst>
              <a:gd name="adj" fmla="val 6611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35836"/>
            <a:ext cx="3310077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42181" y="1435836"/>
            <a:ext cx="4459606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ГДЕ ОНО РАБОТАЕТ — КОНКРЕТНЫЕ СЛУЧАИ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48091" y="1435836"/>
            <a:ext cx="2608756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ОГРАНИЧЕНИЯ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7903"/>
            <a:ext cx="3310077" cy="14425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заглушка-решение один — это не содержание занятия, а проверка ширины первой колонки на тексте среднего объёма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42181" y="1717903"/>
            <a:ext cx="4459606" cy="14425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заглушка показывает, как ведёт себя колонка при тексте в одну-две строки: граница между короткой и длинной записью видна по переносу слов, а не по выдумыванию кейса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48091" y="1717903"/>
            <a:ext cx="2608756" cy="14425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ограничение заглушки: она не измеряет вёрстку реальной формулировки, только проверяет, что столбец шириной около трети слайда не схлопывается в единый символ на строку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316043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3160433"/>
            <a:ext cx="3310077" cy="10774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заглушка-решение два — вторая строка держит тот же объём текста, чтобы проверить, что высота строки считается по самой длинной ячейке строки, а не по первой колонке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2181" y="3160433"/>
            <a:ext cx="4459606" cy="10774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вторая колонка второй строки умышленно короче первой колонки, чтобы проверить, что короткая ячейка не тянет высоту вниз за собой — высота строки задаётся максимумом по всем трём ячейкам одной строки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091" y="3160433"/>
            <a:ext cx="2608756" cy="10774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—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4237837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4237837"/>
            <a:ext cx="3310077" cy="14425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заглушка-решение три — третья строка проверяет сжатие кегля на максимально длинной ячейке среди всех трёх строк таблицы, нарочно набранной с запасом по знакам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2181" y="4237837"/>
            <a:ext cx="4459606" cy="14425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третья колонка короче, чтобы проверить несимметричное распределение длины текста между тремя ячейками одной строки — ровно тот случай, который ломает наивный расчёт высоты по одной ячейке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48091" y="4237837"/>
            <a:ext cx="2608756" cy="14425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ограничение: заглушка не проверяет жирную строку-целевой ответ (правило «вся строка жирным — золотая подсветка») — это отдельная, не связанная с шириной колонок проверка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ЗАГЛУШКА: проверка терминальной карточки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162048"/>
            <a:ext cx="11183112" cy="2337562"/>
          </a:xfrm>
          <a:prstGeom prst="roundRect">
            <a:avLst>
              <a:gd name="adj" fmla="val 8692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198624"/>
            <a:ext cx="50292" cy="226441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2344928"/>
            <a:ext cx="10744200" cy="19718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Consolas"/>
              </a:rPr>
              <a:t># ЗАГЛУШКА — не настоящий файл конфигурации</a:t>
            </a:r>
          </a:p>
          <a:p>
            <a:pPr algn="l">
              <a:lnSpc>
                <a:spcPts val="1495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Consolas"/>
              </a:rPr>
              <a:t># Проверяет: </a:t>
            </a:r>
            <a:r>
              <a:rPr sz="1150" b="1" i="0">
                <a:solidFill>
                  <a:srgbClr val="141B2E"/>
                </a:solidFill>
                <a:latin typeface="Consolas"/>
              </a:rPr>
              <a:t>code_artifact</a:t>
            </a:r>
            <a:r>
              <a:rPr sz="1150" b="0" i="0">
                <a:solidFill>
                  <a:srgbClr val="141B2E"/>
                </a:solidFill>
                <a:latin typeface="Consolas"/>
              </a:rPr>
              <a:t> растёт под листинг, ограждение </a:t>
            </a:r>
            <a:r>
              <a:rPr sz="1150" b="1" i="0">
                <a:solidFill>
                  <a:srgbClr val="141B2E"/>
                </a:solidFill>
                <a:latin typeface="Consolas"/>
              </a:rPr>
              <a:t>markdown</a:t>
            </a:r>
          </a:p>
          <a:p>
            <a:pPr algn="l">
              <a:lnSpc>
                <a:spcPts val="1495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Consolas"/>
              </a:rPr>
              <a:t># превращает обратные кавычки в жирный прогон, а не печатает их буквально.</a:t>
            </a:r>
          </a:p>
          <a:p>
            <a:pPr algn="l">
              <a:lnSpc>
                <a:spcPts val="1495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Consolas"/>
              </a:rPr>
              <a:t/>
            </a:r>
          </a:p>
          <a:p>
            <a:pPr algn="l">
              <a:lnSpc>
                <a:spcPts val="1495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Consolas"/>
              </a:rPr>
              <a:t>[servers.zaglushka]</a:t>
            </a:r>
          </a:p>
          <a:p>
            <a:pPr algn="l">
              <a:lnSpc>
                <a:spcPts val="1495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Consolas"/>
              </a:rPr>
              <a:t>command = "echo"</a:t>
            </a:r>
          </a:p>
          <a:p>
            <a:pPr algn="l">
              <a:lnSpc>
                <a:spcPts val="1495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Consolas"/>
              </a:rPr>
              <a:t>args = ["смоук-тест конвейера сборки Семинара 6"]</a:t>
            </a:r>
          </a:p>
          <a:p>
            <a:pPr algn="l">
              <a:lnSpc>
                <a:spcPts val="1495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Consolas"/>
              </a:rPr>
              <a:t># строка ниже — самая длинная в листинге, проверяет перенос и ширину карточки</a:t>
            </a:r>
          </a:p>
          <a:p>
            <a:pPr algn="l">
              <a:lnSpc>
                <a:spcPts val="1495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Consolas"/>
              </a:rPr>
              <a:t># она не должна вылезать за рамку и не должна резаться по середине слова</a:t>
            </a:r>
          </a:p>
          <a:p>
            <a:pPr algn="l">
              <a:lnSpc>
                <a:spcPts val="1495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Consolas"/>
              </a:rPr>
              <a:t>env = { ZAGLUSHKA = "true", NAZNACHENIE = "proverka-konveiera-sborki" 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