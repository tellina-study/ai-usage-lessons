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Две недели назад этот агент знал про проект всё: сорок строк инструкций, хук, скилл, файл решений и сам лендинг — он держал это целиком и почти не промахивался.</a:t>
            </a:r>
          </a:p>
          <a:p/>
          <a:p>
            <a:r>
              <a:t>В понедельник разработчик спросил его, что из просьб заказчика ещё не закрыто. Агент ответил уверенно — по тому, что лежит в репозитории. Двух просьб в его ответе не было вовсе: заказчик завёл их не в репозитории. Одну ждали к понедельнику.</a:t>
            </a:r>
          </a:p>
          <a:p/>
          <a:p>
            <a:r>
              <a:t>Цена — сорванный срок и разговор с заказчиком, которого могло не быть. Агент не поглупел.</a:t>
            </a:r>
          </a:p>
          <a:p/>
          <a:p>
            <a:r>
              <a:t>Внизу — четыре ступени: две закрыты в прошлый раз, две закрываем сегодня.</a:t>
            </a:r>
          </a:p>
          <a:p/>
          <a:p>
            <a:r>
              <a:t>---</a:t>
            </a:r>
          </a:p>
          <a:p/>
          <a:p>
            <a:r>
              <a:rPr b="1"/>
              <a:t>Справка.</a:t>
            </a:r>
          </a:p>
          <a:p/>
          <a:p>
            <a:r>
              <a:rPr i="1"/>
              <a:t>Почему на обложке нет вопроса занятия.</a:t>
            </a:r>
            <a:r>
              <a:t> Он стоит на четвёртом экране, после второго промаха. Вопрос, заданный раньше нехватки, звучит отвлечённо, и зал отвечает на него вежливо. Здесь вместо него загадка, на которую ближайшие три экрана и отвечают.</a:t>
            </a:r>
          </a:p>
          <a:p/>
          <a:p>
            <a:r>
              <a:rPr i="1"/>
              <a:t>Если спросят, где именно заказчик завёл эти просьбы.</a:t>
            </a:r>
            <a:r>
              <a:t> Отвечаю коротко: не в репозитории. Где именно и как с этим живут сейчас — сцена первого кейса, через несколько минут; забегать вперёд здесь нечего.</a:t>
            </a:r>
          </a:p>
          <a:p/>
          <a:p>
            <a:r>
              <a:rPr i="1"/>
              <a:t>Если спросят, не выдумка ли этот промах.</a:t>
            </a:r>
            <a:r>
              <a:t> Сцена учебная, как и все сцены занятия: проект настоящий, ситуация собрана из типовых. Проверяемые числа на занятии стоят отдельно и всегда с источником — это не они.</a:t>
            </a:r>
          </a:p>
          <a:p/>
          <a:p>
            <a:r>
              <a:rPr i="1"/>
              <a:t>Если прозвучит «а я не был на прошлом занятии».</a:t>
            </a:r>
            <a:r>
              <a:t> Знать прошлое занятие для участия не требуется: всё нужное печатается на следующих двух экранах — состояние репозитория и таблица оси.</a:t>
            </a:r>
          </a:p>
          <a:p/>
          <a:p>
            <a:r>
              <a:rPr i="1"/>
              <a:t>Про четыре сегмента внизу.</a:t>
            </a:r>
            <a:r>
              <a:t> Два серых — разобраны и замерены в прошлый раз, сегодня их формулировки не переписываются. Два золотых — сегодняшние.</a:t>
            </a:r>
          </a:p>
          <a:p/>
          <a:p>
            <a:r>
              <a:rPr i="1"/>
              <a:t>Если спросят, при чём тут вообще прошлое занятие.</a:t>
            </a:r>
            <a:r>
              <a:t> Там разбирали, что агенту можно и нельзя делать внутри репозитория. Сегодня край другой: часть работы вышла за его границу.</a:t>
            </a:r>
          </a:p>
          <a:p/>
          <a:p>
            <a:r>
              <a:rPr i="1"/>
              <a:t>Про объём речи.</a:t>
            </a:r>
            <a:r>
              <a:t> Слот — сорок пять секунд, и это весь бюджет слайда. Справка вслух не читается, она на случай вопроса из зала.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Вот почему две недели агент не промахивался. Четыре вещи, которые уже есть в репозитории.</a:t>
            </a:r>
          </a:p>
          <a:p/>
          <a:p>
            <a:r>
              <a:t>Хук — файл настроек и самотест — подтверждён коммитом, можно склонировать и проверить прямо сейчас. Скилл там же по плану, коммита у него нет. Файл инструкций вырос: было двадцать четыре строки и четыре раздела, стало сорок и пять. И файл решений стоит на месте, его прошлое занятие не трогало.</a:t>
            </a:r>
          </a:p>
          <a:p/>
          <a:p>
            <a:r>
              <a:t>Все четыре — внутри репозитория. Правило, процедура, проверка, запись решения: всё, что мы заводили два занятия подряд, агент открывает сам, в любой момент, без чьего-либо участия. Пока вся работа лежала здесь, он держал проект целиком и отвечал по делу.</a:t>
            </a:r>
          </a:p>
          <a:p/>
          <a:p>
            <a:r>
              <a:t>Прикиньте это на свой рабочий проект. Ваш агент держит его целиком — или вы уже ловите себя на том, что в каждой новой сессии объясняете ему одно и то же заново? Просто отметьте ответ для себя.</a:t>
            </a:r>
          </a:p>
          <a:p/>
          <a:p>
            <a:r>
              <a:t>---</a:t>
            </a:r>
          </a:p>
          <a:p/>
          <a:p>
            <a:r>
              <a:rPr b="1"/>
              <a:t>Справка.</a:t>
            </a:r>
          </a:p>
          <a:p/>
          <a:p>
            <a:r>
              <a:rPr i="1"/>
              <a:t>Что делают команды, которыми это проверяется.</a:t>
            </a:r>
            <a:r>
              <a:t> </a:t>
            </a:r>
            <a:r>
              <a:rPr>
                <a:latin typeface="Consolas"/>
              </a:rPr>
              <a:t>git clone</a:t>
            </a:r>
            <a:r>
              <a:t> забирает репозиторий целиком. </a:t>
            </a:r>
            <a:r>
              <a:rPr>
                <a:latin typeface="Consolas"/>
              </a:rPr>
              <a:t>git log -1</a:t>
            </a:r>
            <a:r>
              <a:t> на коммите хука показывает его номер — он должен совпасть с тем, что на слайде. </a:t>
            </a:r>
            <a:r>
              <a:rPr>
                <a:latin typeface="Consolas"/>
              </a:rPr>
              <a:t>wc -l CLAUDE.md</a:t>
            </a:r>
            <a:r>
              <a:t> считает строки файла инструкций: сорок.</a:t>
            </a:r>
          </a:p>
          <a:p/>
          <a:p>
            <a:r>
              <a:rPr i="1"/>
              <a:t>Если спросят про скилл без коммита.</a:t>
            </a:r>
            <a:r>
              <a:t> Файл написан в плане раздела, в репозиторий не внесён. Выдавать план за факт нет оснований — та же дисциплина, которой было посвящено прошлое занятие.</a:t>
            </a:r>
          </a:p>
          <a:p/>
          <a:p>
            <a:r>
              <a:rPr i="1"/>
              <a:t>Если спросят про документационный слой.</a:t>
            </a:r>
            <a:r>
              <a:t> </a:t>
            </a:r>
            <a:r>
              <a:rPr>
                <a:latin typeface="Consolas"/>
              </a:rPr>
              <a:t>DECISIONS.md</a:t>
            </a:r>
            <a:r>
              <a:t> — файл с решениями, которые принимались по ходу проекта; он в репозитории с самого начала, прошлое занятие его не меняло и этот слайд не выдаёт его за новую работу — просто напоминает, что он там есть.</a:t>
            </a:r>
          </a:p>
          <a:p/>
          <a:p>
            <a:r>
              <a:rPr i="1"/>
              <a:t>Если прозвучит «а я не был на прошлом занятии».</a:t>
            </a:r>
            <a:r>
              <a:t> Всё нужное для участия сегодня — на этом экране. Эта таблица и ось (следующий слайд) содержат всё, что для сегодняшних двух блоков требуется знать о предыдущих.</a:t>
            </a:r>
          </a:p>
          <a:p/>
          <a:p>
            <a:r>
              <a:rPr i="1"/>
              <a:t>Если на вопрос «к себе» ответят вслух.</a:t>
            </a:r>
            <a:r>
              <a:t> Принимаю любой ответ и не разбираю его сейчас: вопрос поставлен, чтобы зал дальше мерил материал своим проектом. Разбор того, чем мерить, идёт весь оставшийся час.</a:t>
            </a:r>
          </a:p>
          <a:p/>
          <a:p>
            <a:r>
              <a:rPr i="1"/>
              <a:t>Если спросят, почему промах с обложки случился именно теперь.</a:t>
            </a:r>
            <a:r>
              <a:t> Потому что часть работы перестала жить в репозитории: заказчик ведёт свои просьбы отдельно, а сам проект дорос до размера, при котором ответ на один вопрос собирается из десятков файлов. Оба случая разбираются сегодня.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Вот таблица, на которой остановилось прошлое занятие. Две строки заполнены — хук и скилл, и в каждой видно, что механизм делает и чего не делает. Формулировки те же, я их не переписываю заново.</a:t>
            </a:r>
          </a:p>
          <a:p/>
          <a:p>
            <a:r>
              <a:t>Хук отклоняет один способ записи в главную ветку из шести воспроизведённых — и не видит человека с открытым терминалом вовсе.</a:t>
            </a:r>
          </a:p>
          <a:p/>
          <a:p>
            <a:r>
              <a:t>Скилл загружается по точному совпадению описания — и не загрузится, если триггер не совпал: содержимого файла в контексте до срабатывания просто нет.</a:t>
            </a:r>
          </a:p>
          <a:p/>
          <a:p>
            <a:r>
              <a:t>А теперь посмотрите на эти две строки ещё раз, по другому признаку. Обе работают внутри репозитория: хук сторожит запись в его ветку, скилл подгружает его же файл. Всё, чем мы занимались два занятия подряд, лежало под рукой у агента.</a:t>
            </a:r>
          </a:p>
          <a:p/>
          <a:p>
            <a:r>
              <a:t>Две строки внизу пустые, и обе — про край. Одна про то, чего внутри нет вовсе. Другая про то, что внутрь не влезает. Сегодня закрываем обе.</a:t>
            </a:r>
          </a:p>
          <a:p/>
          <a:p>
            <a:r>
              <a:t>---</a:t>
            </a:r>
          </a:p>
          <a:p/>
          <a:p>
            <a:r>
              <a:rPr b="1"/>
              <a:t>Справка.</a:t>
            </a:r>
          </a:p>
          <a:p/>
          <a:p>
            <a:r>
              <a:rPr i="1"/>
              <a:t>Если спросят, почему хук и скилл не разбираются снова.</a:t>
            </a:r>
            <a:r>
              <a:t> Они уже разобраны и проверены — второй разбор был бы пересказом, не новой работой. Формулировки строк несут тот же факт, что таблица, которой кончилось прошлое занятие.</a:t>
            </a:r>
          </a:p>
          <a:p/>
          <a:p>
            <a:r>
              <a:rPr i="1"/>
              <a:t>Если спросят про колонку «что не делает / ограничение».</a:t>
            </a:r>
            <a:r>
              <a:t> Это не чья-то наивность и не брак механизма — это то, что проверка показала за рамкой того, для чего механизм заводили. Разница между этой колонкой и соседней — ровно то, ради чего мерили весь прошлый час, и ровно то, что сегодня повторится на двух новых строках.</a:t>
            </a:r>
          </a:p>
          <a:p/>
          <a:p>
            <a:r>
              <a:rPr i="1"/>
              <a:t>Порядок строк.</a:t>
            </a:r>
            <a:r>
              <a:t> Он тот же, что на вопросе следующего слайда и на карте занятия: хук, скилл, MCP, субагент. Менять его нельзя — на совпадении держится возврат в блоке 3.</a:t>
            </a:r>
          </a:p>
          <a:p/>
          <a:p>
            <a:r>
              <a:rPr i="1"/>
              <a:t>Если спросят, не натянут ли признак «внутри».</a:t>
            </a:r>
            <a:r>
              <a:t> Проверяется прямо по строкам: хук — файл в </a:t>
            </a:r>
            <a:r>
              <a:rPr>
                <a:latin typeface="Consolas"/>
              </a:rPr>
              <a:t>.claude/</a:t>
            </a:r>
            <a:r>
              <a:t>, который сторожит запись в ветку этого же репозитория; скилл — файл в этом же репозитории, который подгружается в контекст. Ни один из двух не обращается никуда за его пределы и ни один не выносит работу из окна агента. Обе сегодняшние строки делают ровно одно из этих двух.</a:t>
            </a:r>
          </a:p>
          <a:p/>
          <a:p>
            <a:r>
              <a:rPr i="1"/>
              <a:t>Если спросят, почему тогда их вообще сравнивают с сегодняшними.</a:t>
            </a:r>
            <a:r>
              <a:t> Потому что признак, по которому выбирают инструмент, у всех четырёх один: чего именно не хватает в работе. Ответ на этот вопрос и собирается сегодня.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Два промаха за одну неделю, и причины у них прямо противоположные.</a:t>
            </a:r>
          </a:p>
          <a:p/>
          <a:p>
            <a:r>
              <a:t>В понедельник агент ответил по репозиторию — двух просьб заказчика в ответе не оказалось. Внутри их нет вовсе, и размер окна тут ни при чём.</a:t>
            </a:r>
          </a:p>
          <a:p/>
          <a:p>
            <a:r>
              <a:t>В среду наоборот: всё нужное внутрь влезло. Агент прочитал всё, где мог встретиться этот текст, ответил верно — и начал переспрашивать то, что ему объясняли в начале сессии. Место, которое занимала сама задача, ушло под чтение. Сессию начали заново, час.</a:t>
            </a:r>
          </a:p>
          <a:p/>
          <a:p>
            <a:r>
              <a:t>Отсюда вопрос занятия. Он на экране, и сегодня я задам его второй раз, той же формулировкой. Ответ держите при себе.</a:t>
            </a:r>
          </a:p>
          <a:p/>
          <a:p>
            <a:r>
              <a:t>---</a:t>
            </a:r>
          </a:p>
          <a:p/>
          <a:p>
            <a:r>
              <a:rPr b="1"/>
              <a:t>Справка.</a:t>
            </a:r>
          </a:p>
          <a:p/>
          <a:p>
            <a:r>
              <a:rPr i="1"/>
              <a:t>Что зал может ответить сейчас, и что отвечать на каждое.</a:t>
            </a:r>
            <a:r>
              <a:t> «Смотря чего не хватает» — честный первый ответ, его и подтверждаю: вопрос именно про то, как отличить один случай от другого, а материал двух блоков даёт критерий. «Сначала данные — без них агент вообще не может решить задачу» — в верном направлении, обоснование в первом блоке. «Сначала отдельная роль — она экономит место» — тоже в направлении, обоснование во втором.</a:t>
            </a:r>
          </a:p>
          <a:p/>
          <a:p>
            <a:r>
              <a:rPr i="1"/>
              <a:t>Если прозвучит «а зачем выбирать, можно и то, и то».</a:t>
            </a:r>
            <a:r>
              <a:t> Отвечаю: можно — и у каждого расширения своя цена, об этом и будет материал: чужой код и место в контексте у одного, лишние права у другого. Вопрос про то, с чего начинают, когда ресурс один.</a:t>
            </a:r>
          </a:p>
          <a:p/>
          <a:p>
            <a:r>
              <a:rPr i="1"/>
              <a:t>Если прозвучит «во втором случае хватило бы окна побольше».</a:t>
            </a:r>
            <a:r>
              <a:t> Это и есть место, где интуиция подводит, и мы к нему вернёмся с измерением. Большое окно отодвигает границу, но сохраняет свойство: прочитанное остаётся в нём и делит место с работой.</a:t>
            </a:r>
          </a:p>
          <a:p/>
          <a:p>
            <a:r>
              <a:rPr i="1"/>
              <a:t>Чего здесь не делаю.</a:t>
            </a:r>
            <a:r>
              <a:t> Не называю MCP и субагента по имени — эти слова появятся на карте занятия следом и на базе каждого блока. Не оцениваю ответы и не свожу их к одному: правильного ответа сейчас нет, он собирается по ходу занятия.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Два блока, и это два ответа на один вопрос.</a:t>
            </a:r>
          </a:p>
          <a:p/>
          <a:p>
            <a:r>
              <a:t>Первый — принести внутрь то, чего внутри нет: агент получает способ сам спросить систему, которая живёт отдельно от проекта и меняется без нас. Так закрывается промах понедельника.</a:t>
            </a:r>
          </a:p>
          <a:p/>
          <a:p>
            <a:r>
              <a:t>Второй — вынести наружу то, что внутрь не помещается: чтение уходит отдельному исполнителю со своим окном и урезанными правами, а к нам возвращается только итог. Так закрывается промах среды.</a:t>
            </a:r>
          </a:p>
          <a:p/>
          <a:p>
            <a:r>
              <a:t>Ходы встречные, и порядок не случаен: сначала то, чего нет вовсе, потом то, что не влезает. У обоих своя цена, и мы её назовём прямо — в одном случае это чужой код и постоянное место в контексте, в другом лишние права и потерянная видимость того, что делалось.</a:t>
            </a:r>
          </a:p>
          <a:p/>
          <a:p>
            <a:r>
              <a:t>Внутри каждого блока три кейса, у каждого своя сцена, свой вопрос, свой разбор. Названия вы увидите на их собственных развилках, не здесь.</a:t>
            </a:r>
          </a:p>
          <a:p/>
          <a:p>
            <a:r>
              <a:t>---</a:t>
            </a:r>
          </a:p>
          <a:p/>
          <a:p>
            <a:r>
              <a:rPr b="1"/>
              <a:t>Справка.</a:t>
            </a:r>
          </a:p>
          <a:p/>
          <a:p>
            <a:r>
              <a:rPr i="1"/>
              <a:t>Если спросят, сколько кейсов в каждом блоке.</a:t>
            </a:r>
            <a:r>
              <a:t> Три — таков план на сегодня. Если материал не набирает трёх полноценных разворотов, лучше два завершённых, чем три, из которых один собран из обрезков; это решение принимается по ходу подготовки, не на самом занятии.</a:t>
            </a:r>
          </a:p>
          <a:p/>
          <a:p>
            <a:r>
              <a:rPr i="1"/>
              <a:t>Чего здесь не делаю.</a:t>
            </a:r>
            <a:r>
              <a:t> Не называю занятие по номеру и не обсуждаю расписание курса. Карта называет только то, что происходит сегодня.</a:t>
            </a:r>
          </a:p>
          <a:p/>
          <a:p>
            <a:r>
              <a:rPr i="1"/>
              <a:t>Если спросят, почему именно такой порядок блоков.</a:t>
            </a:r>
            <a:r>
              <a:t> Первый ход возвращает агенту то, чего у него не было никогда; второй разгружает то, что у него уже есть. Начинать с разгрузки окна, в котором всё равно не хватает нужного, смысла мало — поэтому сначала доступ, потом делегирование.</a:t>
            </a:r>
          </a:p>
          <a:p/>
          <a:p>
            <a:r>
              <a:rPr i="1"/>
              <a:t>Если спросят, обязательно ли выбирать между ними.</a:t>
            </a:r>
            <a:r>
              <a:t> Нет: в живом проекте работают оба. Вопрос занятия — про то, с чего начинают, когда ресурс и внимание одни, и про то, какую цену платят за каждый ход.</a:t>
            </a:r>
          </a:p>
          <a:p/>
          <a:p>
            <a:r>
              <a:rPr i="1"/>
              <a:t>Если спросят, будут ли эти шесть кейсов на их собственном проекте.</a:t>
            </a:r>
            <a:r>
              <a:t> Перенос на свой репозиторий — работа следующего занятия. Сегодня — приём и критерий, по которому его выбирают.</a:t>
            </a:r>
          </a:p>
          <a:p/>
          <a:p>
            <a:r>
              <a:rPr i="1"/>
              <a:t>Если спросят, почему кейсов именно три в каждом блоке.</a:t>
            </a:r>
            <a:r>
              <a:t> Столько набралось материала, у которого есть и рабочий ход, и проверенная граница. Там, где материал не набирает полного разворота, лучше два завершённых кейса, чем три из обрезков.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Фраза, с которой начинается этот блок, принадлежит заказчику. Задачи он ведёт в трекере — это отдельная система, снаружи репозитория, и она меняется каждый день без нашего участия. А у агента в чате лежит то, что ему скопировали руками сегодня утром. Через минуту я покажу среду, в которую эти два факта сошлись. Решаем, чем заменить перенос руками.</a:t>
            </a:r>
          </a:p>
          <a:p/>
          <a:p>
            <a:r>
              <a:t>Если спросят, при чём тут прошлое занятие: там мы учили агента, что ему можно и нельзя делать внутри своего же репозитория, и проверяли это файлами и командой. Здесь задача другая — агенту нужно дотянуться до системы, которая не является частью проекта и которую мы не контролируем напрямую. Разница здесь в том, где физически лежат данные.</a:t>
            </a:r>
          </a:p>
          <a:p/>
          <a:p>
            <a:r>
              <a:t>Если спросят, почему именно сейчас: дело в частоте. Разовое действие закрывает обычная команда в терминале; повторяющееся из сессии в сессию — нет, и мы увидим почему, когда будем считать цену.</a:t>
            </a:r>
          </a:p>
          <a:p/>
          <a:p>
            <a:r>
              <a:t>Если спросят, какой это по счёту инструмент на сегодня: четвёртый, и впервые — тот, который физически выходит за границы одного репозитория. Три предыдущих жили внутри дерева проекта и правились тем же коммитом, что и код; этот живёт снаружи и обновляется без нашего ведома.</a:t>
            </a:r>
          </a:p>
          <a:p/>
          <a:p>
            <a:r>
              <a:t>Если спросят, почему реплика принадлежит заказчику: потому что пропажу требования заметил именно он, и объяснять пришлось ему. Цена ошибки в этом кейсе ложится на обоих, предъявляет её тот, кто платит за работу, — и это ровно та цена, которую зал чувствует без перевода.</a:t>
            </a:r>
          </a:p>
          <a:p/>
          <a:p>
            <a:r>
              <a:t>Если спросят, что считается трекером: любая система, где заказчик или команда ведут список работ отдельно от кода — встроенный трекер репозитория, отдельный сервис задач, доска. Для этого кейса важно одно общее свойство: список живёт снаружи дерева проекта и меняется без участия того, кто пишет код.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Агент умеет работать с двумя источниками данных. Первый — файлы репозитория: он читает их напрямую, это материал прошлых занятий. Второй — файлы, которые ему дали явно: вставили текст в чат, приложили документ. Оба можно прочитать один раз и работать дальше.</a:t>
            </a:r>
          </a:p>
          <a:p/>
          <a:p>
            <a:r>
              <a:t>Список задач в трекере не ложится ни туда, ни туда. Трекер живёт в отдельной системе, и список меняется каждый день без нас: снимок на утро к обеду уже неточен. Агенту нужен способ самому спросить систему в момент работы. Такое обращение называется вызовом API — и здесь обычно думают, что за него придётся платить написанной интеграцией. Проверим это на пяти способах.</a:t>
            </a:r>
          </a:p>
          <a:p/>
          <a:p>
            <a:r>
              <a:t>Если спросят «а запросы — это куда отнести»: это и есть третий источник, и он отличается от первых двух по времени. У файла есть момент, когда его прочитали, и дальше он сам не меняется. У вызова такого момента нет — ответ зависит от того, в какую секунду спросили.</a:t>
            </a:r>
          </a:p>
          <a:p/>
          <a:p>
            <a:r>
              <a:t>Если спросят, почему не считать трекер просто ещё одним внешним файлом: потому что файл можно приложить один раз, а трекер придётся прикладывать заново перед каждым запросом. Именно эта частота и переводит задачу из «скопируй текст» в «дай доступ».</a:t>
            </a:r>
          </a:p>
          <a:p/>
          <a:p>
            <a:r>
              <a:t>Если спросят, почему снимок иногда всё-таки годится: когда список меняется реже, чем вы к нему обращаетесь. Разовая выгрузка открытых задач перед планированием спринта — рабочая практика; она ломается ровно тогда, когда правка уезжает заказчику раньше, чем вы перечитали задачу.</a:t>
            </a:r>
          </a:p>
          <a:p/>
          <a:p>
            <a:r>
              <a:t>Если спросят про третий источник в других курсах: там его часто называют интеграцией или коннектором. Слово разное, предмет один — обращение по сети за свежим ответом вместо чтения файла.</a:t>
            </a:r>
          </a:p>
          <a:p/>
          <a:p>
            <a:r>
              <a:t>Если спросят, почему первые два источника вообще перечислены, раз они знакомы: потому что выбор дальше идёт между пятью способами, и три из них стоят денег только потому, что третий источник устроен иначе, чем файл. Без этой границы пятёрка карточек читается как пять названий одного и того же, и выбрать можно только по узнаванию.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Вся конструкция сразу, шесть частей. К этому экрану я буду возвращаться весь блок.</a:t>
            </a:r>
          </a:p>
          <a:p/>
          <a:p>
            <a:r>
              <a:t>Сервер — отдельная программа, живущая вне Claude Code: либо локальный процесс, который Claude Code запускает у вас, либо удалённый сервис, который держит кто-то другой.</a:t>
            </a:r>
          </a:p>
          <a:p/>
          <a:p>
            <a:r>
              <a:t>Объявляется подключение в файле конфигурации. </a:t>
            </a:r>
            <a:r>
              <a:rPr>
                <a:latin typeface="Consolas"/>
              </a:rPr>
              <a:t>.mcp.json</a:t>
            </a:r>
            <a:r>
              <a:t> в корне репозитория — область </a:t>
            </a:r>
            <a:r>
              <a:rPr>
                <a:latin typeface="Consolas"/>
              </a:rPr>
              <a:t>project</a:t>
            </a:r>
            <a:r>
              <a:t>, её видят все, кто клонирует. </a:t>
            </a:r>
            <a:r>
              <a:rPr>
                <a:latin typeface="Consolas"/>
              </a:rPr>
              <a:t>~/.claude.json</a:t>
            </a:r>
            <a:r>
              <a:t> — области </a:t>
            </a:r>
            <a:r>
              <a:rPr>
                <a:latin typeface="Consolas"/>
              </a:rPr>
              <a:t>local</a:t>
            </a:r>
            <a:r>
              <a:t> и </a:t>
            </a:r>
            <a:r>
              <a:rPr>
                <a:latin typeface="Consolas"/>
              </a:rPr>
              <a:t>user</a:t>
            </a:r>
            <a:r>
              <a:t>. Какая для чего — на сборке; здесь место на карте.</a:t>
            </a:r>
          </a:p>
          <a:p/>
          <a:p>
            <a:r>
              <a:t>При подключении Claude Code сама, без участия модели, спрашивает у сервера список возможностей. Сервер отвечает именами и короткой инструкцией о себе, без полных схем.</a:t>
            </a:r>
          </a:p>
          <a:p/>
          <a:p>
            <a:r>
              <a:t>Вызов: агент зовёт инструмент как функцию — полное имя с префиксом сервера и собранные моделью аргументы.</a:t>
            </a:r>
          </a:p>
          <a:p/>
          <a:p>
            <a:r>
              <a:t>Контекст и цена — три отдельные статьи. Имя сервера и короткая инструкция висят в контексте всегда, с первой секунды. Полную схему инструмента модель подтягивает сама, когда он ей понадобился. У результата свой бюджет: предупреждение за десять тысяч токенов, обрезка за двадцать пять. Постоянная плата идёт за подключённый сервер; цена вызова — за каждый ответ. Сопоставление по способам доступа — в конце кейса.</a:t>
            </a:r>
          </a:p>
          <a:p/>
          <a:p>
            <a:r>
              <a:t>Отвечает сервер по отдельному каналу; вызов в выводе подписан именем сервера — видно, откуда ответ.</a:t>
            </a:r>
          </a:p>
          <a:p/>
          <a:p>
            <a:r>
              <a:t>Если спросят про формат имени инструмента подробнее: </a:t>
            </a:r>
            <a:r>
              <a:rPr>
                <a:latin typeface="Consolas"/>
              </a:rPr>
              <a:t>mcp__&lt;сервер&gt;__&lt;инструмент&gt;</a:t>
            </a:r>
            <a:r>
              <a:t>, где любой символ вне букв, цифр, подчёркивания и дефиса заменяется на подчёркивание. Это не косметика: именно полное имя пишут в правилах разрешений, списке инструментов субагента или матчере хука — короткое там не сработает.</a:t>
            </a:r>
          </a:p>
          <a:p/>
          <a:p>
            <a:r>
              <a:t>Если спросят, почему обнаружение возможностей не спрашивает модель: это разговор клиента с сервером на уровне протокола, до того как модель вообще увидела список, — та же механика, что и рукопожатие транспорта.</a:t>
            </a:r>
          </a:p>
          <a:p/>
          <a:p>
            <a:r>
              <a:t>Если спросят, почему </a:t>
            </a:r>
            <a:r>
              <a:rPr>
                <a:latin typeface="Consolas"/>
              </a:rPr>
              <a:t>local</a:t>
            </a:r>
            <a:r>
              <a:t> и </a:t>
            </a:r>
            <a:r>
              <a:rPr>
                <a:latin typeface="Consolas"/>
              </a:rPr>
              <a:t>user</a:t>
            </a:r>
            <a:r>
              <a:t> показаны с одним и тем же файлом </a:t>
            </a:r>
            <a:r>
              <a:rPr>
                <a:latin typeface="Consolas"/>
              </a:rPr>
              <a:t>~/.claude.json</a:t>
            </a:r>
            <a:r>
              <a:t>: это не опечатка на экране. Один физический файл, две разные записи внутри него: </a:t>
            </a:r>
            <a:r>
              <a:rPr>
                <a:latin typeface="Consolas"/>
              </a:rPr>
              <a:t>local</a:t>
            </a:r>
            <a:r>
              <a:t> живёт под записью конкретного проекта, </a:t>
            </a:r>
            <a:r>
              <a:rPr>
                <a:latin typeface="Consolas"/>
              </a:rPr>
              <a:t>user</a:t>
            </a:r>
            <a:r>
              <a:t> — под общим ключом </a:t>
            </a:r>
            <a:r>
              <a:rPr>
                <a:latin typeface="Consolas"/>
              </a:rPr>
              <a:t>mcpServers</a:t>
            </a:r>
            <a:r>
              <a:t>. Подробнее — на слайде со сборкой подключения.</a:t>
            </a:r>
          </a:p>
          <a:p/>
          <a:p>
            <a:r>
              <a:t>Если спросят, зачем вообще протокол, когда есть обычный вызов по сети: затем, что все серверы описывают свои возможности одинаково, и агент читает их описание одним способом. Это и покупают подключением — дальше в кейсе посчитаем, сколько это стоит.</a:t>
            </a:r>
          </a:p>
          <a:p/>
          <a:p>
            <a:r>
              <a:t>Если спросят, кем протокол управляется: с девятого декабря 2025 года — отдельным направленным фондом под Linux Foundation, тем же типом управления, что у Kubernetes. Открытость протокола и честность конкретного сервера внутри него — разные вещи; провалы в этом кейсе будут как раз про второе.</a:t>
            </a:r>
          </a:p>
          <a:p/>
          <a:p>
            <a:r>
              <a:t>Если что-то на этом экране непонятно — спрашивайте сейчас, дальше я буду на него ссылаться.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Сайт живёт третий месяц. Заказчик уже месяц ведёт задачи в трекере репозитория — это разработчик ему и предложил, чтобы правки не терялись в переписке. Перенос между трекером и чатом агента разработчик делает руками, несколько раз в неделю.</a:t>
            </a:r>
          </a:p>
          <a:p/>
          <a:p>
            <a:r>
              <a:t>Среда. Утром он открывает задачу «форма не отправляется с телефона», копирует текст в чат агенту и уходит делать правку. Днём заказчик дописывает в эту же задачу одну строку: «и с планшета тоже». Разработчик её не видит: у него в чате лежит утренний снимок задачи, и снимок обновиться сам не умеет. Вечером правка уезжает заказчику. Утром в задаче появляется вопрос: «а планшет?».</a:t>
            </a:r>
          </a:p>
          <a:p/>
          <a:p>
            <a:r>
              <a:t>Цена: час на вторую правку и письмо с объяснением, почему строка из задачи до работы не доехала. Час — меньшая часть. Большая в том, что заказчик теперь перепроверяет, дошло ли написанное им: привычка, которую он завёл ровно потому, что один раз не дошло.</a:t>
            </a:r>
          </a:p>
          <a:p/>
          <a:p>
            <a:r>
              <a:t>Ошибся здесь не агент. Ошибся перенос руками — он по устройству отдаёт агенту прошлое состояние задачи.</a:t>
            </a:r>
          </a:p>
          <a:p/>
          <a:p>
            <a:r>
              <a:t>Если спросят, почему не решить это дисциплиной — перечитывать задачу перед отправкой: это работает ровно до дня, когда задач три, а сессий пять. Цена растёт линейно с числом задач и сессий, и забытая строка из исключения становится нормой.</a:t>
            </a:r>
          </a:p>
          <a:p/>
          <a:p>
            <a:r>
              <a:t>Если спросят, почему нельзя попросить агента «следить» за трекером: агент работает в рамках одной сессии, между запросами он не продолжает действовать и своего способа дотянуться до внешней системы без выданного доступа не имеет.</a:t>
            </a:r>
          </a:p>
          <a:p/>
          <a:p>
            <a:r>
              <a:t>Если прозвучит «а что, если открыть трекер в браузере рядом»: это меняет форму переноса, оставляя сам перенос. Вставка остаётся вставкой, и утренний снимок остаётся утренним.</a:t>
            </a:r>
          </a:p>
          <a:p/>
          <a:p>
            <a:r>
              <a:t>Если спросят, бывает ли обратная ошибка: бывает, и она дороже. Разработчик вставляет в задачу ответ агента по другой задаче — заказчик читает чужое требование как своё и планирует работу, которой не просил.</a:t>
            </a:r>
          </a:p>
          <a:p/>
          <a:p>
            <a:r>
              <a:t>Если спросят, зачем сцена так подробна: потому что выбор, который зал будет делать на следующем экране, зависит от частоты и от живости источника. Разовый доступ и постоянный решаются разными способами, и именно эта среда показывает, какой из двух случаев перед нами.</a:t>
            </a:r>
          </a:p>
          <a:p/>
          <a:p>
            <a:r>
              <a:t>Если спросят, что считать «живым» источником: тот, у которого ответ зависит от времени запроса. Файл спецификации в репозитории живым в этом смысле не является — он меняется коммитом, который виден. Трекер меняется без коммита и без уведомления.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1295C"/>
              </a:gs>
              <a:gs pos="55000">
                <a:srgbClr val="065A82"/>
              </a:gs>
              <a:gs pos="100000">
                <a:srgbClr val="1C7293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0" y="54864"/>
            <a:ext cx="3566160" cy="1755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2979"/>
              </a:lnSpc>
              <a:spcAft>
                <a:spcPts val="0"/>
              </a:spcAft>
            </a:pPr>
            <a:r>
              <a:rPr sz="11000" b="1" i="0">
                <a:solidFill>
                  <a:srgbClr val="33427C"/>
                </a:solidFill>
                <a:latin typeface="Arial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0896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34"/>
              </a:lnSpc>
              <a:spcAft>
                <a:spcPts val="0"/>
              </a:spcAft>
            </a:pPr>
            <a:r>
              <a:rPr sz="1300" b="1" i="0">
                <a:solidFill>
                  <a:srgbClr val="F0AB00"/>
                </a:solidFill>
                <a:latin typeface="Arial"/>
              </a:rPr>
              <a:t>СЕМИНАР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58368"/>
            <a:ext cx="7315200" cy="10972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3564"/>
              </a:lnSpc>
              <a:spcAft>
                <a:spcPts val="0"/>
              </a:spcAft>
            </a:pPr>
            <a:r>
              <a:rPr sz="3300" b="1" i="0">
                <a:solidFill>
                  <a:srgbClr val="FFFFFF"/>
                </a:solidFill>
                <a:latin typeface="Arial"/>
              </a:rPr>
              <a:t>Доступ наружу и урезанная роль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847088"/>
            <a:ext cx="12191695" cy="64008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amka-n01-hero-sem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08478"/>
            <a:ext cx="12191695" cy="314952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2960" y="2176272"/>
            <a:ext cx="32004" cy="15163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39696"/>
            <a:ext cx="10241280" cy="224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70"/>
              </a:lnSpc>
              <a:spcAft>
                <a:spcPts val="400"/>
              </a:spcAft>
            </a:pPr>
            <a:r>
              <a:rPr sz="1500" b="0" i="0">
                <a:solidFill>
                  <a:srgbClr val="D6E2EC"/>
                </a:solidFill>
                <a:latin typeface="Arial"/>
              </a:rPr>
              <a:t>Две недели назад агент знал про этот проект всё. В понедельник он уверенно ответил мимо.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02230"/>
            <a:ext cx="10515600" cy="822960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6" y="2730246"/>
            <a:ext cx="9966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74"/>
              </a:lnSpc>
              <a:spcAft>
                <a:spcPts val="300"/>
              </a:spcAft>
            </a:pPr>
            <a:r>
              <a:rPr sz="1700" b="1" i="0">
                <a:solidFill>
                  <a:srgbClr val="141B2E"/>
                </a:solidFill>
                <a:latin typeface="Arial"/>
              </a:rPr>
              <a:t>«Агент не поглупел — так что же перестало помещаться?»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Где мы остановились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716786"/>
            <a:ext cx="11183112" cy="2036444"/>
          </a:xfrm>
          <a:prstGeom prst="roundRect">
            <a:avLst>
              <a:gd name="adj" fmla="val 14967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899666"/>
            <a:ext cx="1534156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СТУПЕНЬ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66260" y="1899666"/>
            <a:ext cx="6283063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ПУТЬ ИЛИ АРТЕФАКТ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95628" y="1899666"/>
            <a:ext cx="2561219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СТАТУС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81733"/>
            <a:ext cx="1534156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Хук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66260" y="2181733"/>
            <a:ext cx="6283063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Consolas"/>
              </a:rPr>
              <a:t>.claude/settings.json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+ </a:t>
            </a:r>
            <a:r>
              <a:rPr sz="1250" b="0" i="0">
                <a:solidFill>
                  <a:srgbClr val="141B2E"/>
                </a:solidFill>
                <a:latin typeface="Consolas"/>
              </a:rPr>
              <a:t>.claude/hooks/selftest-branch-guard.sh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95628" y="2181733"/>
            <a:ext cx="2561219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коммит есть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2528887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2528887"/>
            <a:ext cx="1534156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Скилл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66260" y="2528887"/>
            <a:ext cx="6283063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Consolas"/>
              </a:rPr>
              <a:t>.claude/skills/deploy/SKILL.md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95628" y="2528887"/>
            <a:ext cx="2561219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только план, коммита нет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2876042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5800" y="2876042"/>
            <a:ext cx="1534156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CLAUDE.md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66260" y="2876042"/>
            <a:ext cx="6283063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было 24 строки / 4 раздела → стало 40 строк / 5 разделов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95628" y="2876042"/>
            <a:ext cx="2561219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коммит есть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5800" y="3223196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85800" y="3223196"/>
            <a:ext cx="1534156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DECISIONS.md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66260" y="3223196"/>
            <a:ext cx="6283063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документационный слой репозитория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95628" y="3223196"/>
            <a:ext cx="2561219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без изменений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420742"/>
            <a:ext cx="82296" cy="74676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" y="4548758"/>
            <a:ext cx="10643616" cy="4907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6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«Четыре вещи, и все четыре — внутри репозитория. Пока работа была здесь, агент держал проект целиком.»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Две строки закрыты — обе про то, что внутри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519174"/>
            <a:ext cx="11183112" cy="2766695"/>
          </a:xfrm>
          <a:prstGeom prst="roundRect">
            <a:avLst>
              <a:gd name="adj" fmla="val 11016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702054"/>
            <a:ext cx="1259951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СТУПЕНЬ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92055" y="1702054"/>
            <a:ext cx="2774381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ПРЕДОТВРАЩАЕМ / РЕШАЕМ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12740" y="1702054"/>
            <a:ext cx="2774381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ЧТО ДЕЛАЕТ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33425" y="1702054"/>
            <a:ext cx="3423422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ЧТО НЕ ДЕЛАЕТ / ОГРАНИЧЕНИЕ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84121"/>
            <a:ext cx="1259951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Хук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92055" y="1984121"/>
            <a:ext cx="2774381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Решаем — правило уже нарушено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12740" y="1984121"/>
            <a:ext cx="2774381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Отклоняет один паттерн записи в </a:t>
            </a:r>
            <a:r>
              <a:rPr sz="1250" b="0" i="0">
                <a:solidFill>
                  <a:srgbClr val="141B2E"/>
                </a:solidFill>
                <a:latin typeface="Consolas"/>
              </a:rPr>
              <a:t>main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из шести способов коммита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33425" y="1984121"/>
            <a:ext cx="3423422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На остальных пяти молчит; человека с терминалом не видит вовсе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2696400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" y="2696400"/>
            <a:ext cx="1259951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Скилл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92055" y="2696400"/>
            <a:ext cx="2774381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Решаем — по сигналу перегрузки файла инструкций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2740" y="2696400"/>
            <a:ext cx="2774381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Загружает файл по точному совпадению описания-триггера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33425" y="2696400"/>
            <a:ext cx="3423422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Без точного триггера не сработает вообще — содержимого файла до срабатывания в контексте нет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5800" y="3408680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85800" y="3408680"/>
            <a:ext cx="1259951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MCP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10343" y="3481832"/>
            <a:ext cx="2737805" cy="200850"/>
          </a:xfrm>
          <a:prstGeom prst="roundRect">
            <a:avLst>
              <a:gd name="adj" fmla="val 16666"/>
            </a:avLst>
          </a:prstGeom>
          <a:solidFill>
            <a:srgbClr val="E4E9EF"/>
          </a:solidFill>
          <a:ln w="12700">
            <a:solidFill>
              <a:srgbClr val="E5EA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31028" y="3481832"/>
            <a:ext cx="2737805" cy="200850"/>
          </a:xfrm>
          <a:prstGeom prst="roundRect">
            <a:avLst>
              <a:gd name="adj" fmla="val 16666"/>
            </a:avLst>
          </a:prstGeom>
          <a:solidFill>
            <a:srgbClr val="E4E9EF"/>
          </a:solidFill>
          <a:ln w="12700">
            <a:solidFill>
              <a:srgbClr val="E5EA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1713" y="3481832"/>
            <a:ext cx="3386846" cy="200850"/>
          </a:xfrm>
          <a:prstGeom prst="roundRect">
            <a:avLst>
              <a:gd name="adj" fmla="val 16666"/>
            </a:avLst>
          </a:prstGeom>
          <a:solidFill>
            <a:srgbClr val="E4E9EF"/>
          </a:solidFill>
          <a:ln w="12700">
            <a:solidFill>
              <a:srgbClr val="E5EA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685800" y="3755834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85800" y="3755834"/>
            <a:ext cx="1259951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Субагент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10343" y="3828986"/>
            <a:ext cx="2737805" cy="200850"/>
          </a:xfrm>
          <a:prstGeom prst="roundRect">
            <a:avLst>
              <a:gd name="adj" fmla="val 16666"/>
            </a:avLst>
          </a:prstGeom>
          <a:solidFill>
            <a:srgbClr val="E4E9EF"/>
          </a:solidFill>
          <a:ln w="12700">
            <a:solidFill>
              <a:srgbClr val="E5EA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31028" y="3828986"/>
            <a:ext cx="2737805" cy="200850"/>
          </a:xfrm>
          <a:prstGeom prst="roundRect">
            <a:avLst>
              <a:gd name="adj" fmla="val 16666"/>
            </a:avLst>
          </a:prstGeom>
          <a:solidFill>
            <a:srgbClr val="E4E9EF"/>
          </a:solidFill>
          <a:ln w="12700">
            <a:solidFill>
              <a:srgbClr val="E5EA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951713" y="3828986"/>
            <a:ext cx="3386846" cy="200850"/>
          </a:xfrm>
          <a:prstGeom prst="roundRect">
            <a:avLst>
              <a:gd name="adj" fmla="val 16666"/>
            </a:avLst>
          </a:prstGeom>
          <a:solidFill>
            <a:srgbClr val="E4E9EF"/>
          </a:solidFill>
          <a:ln w="12700">
            <a:solidFill>
              <a:srgbClr val="E5EA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2920" y="4953381"/>
            <a:ext cx="82296" cy="51054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" y="5081397"/>
            <a:ext cx="10643616" cy="2545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6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Хук и скилл работают внутри репозитория. Обе сегодняшние строки — про его край.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Два промаха, причины противоположные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817979"/>
            <a:ext cx="11183112" cy="1707261"/>
          </a:xfrm>
          <a:prstGeom prst="roundRect">
            <a:avLst>
              <a:gd name="adj" fmla="val 17853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00859"/>
            <a:ext cx="6259283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КОГДА И ЧТО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91387" y="2000859"/>
            <a:ext cx="4265460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ПОЧЕМУ ТАК ВЫШЛО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82926"/>
            <a:ext cx="6259283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Понедельник. Ответил по репозиторию — двух просьб заказчика в ответе не оказалось. Сорванный срок.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91387" y="2282926"/>
            <a:ext cx="4265460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Внутри их нет вовсе. Окно хоть вдвое больше — там они всё равно не появятся.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2812643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5800" y="2812643"/>
            <a:ext cx="6259283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Среда. Прочитал всё, где мог встретиться этот текст, ответил верно — и начал переспрашивать то, что объясняли в начале сессии. Час.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91387" y="2812643"/>
            <a:ext cx="4265460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Всё нужное внутрь влезло — и вытеснило то, ради чего сессию открывали.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192752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" y="4320768"/>
            <a:ext cx="1063447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13"/>
              </a:lnSpc>
              <a:spcAft>
                <a:spcPts val="300"/>
              </a:spcAft>
            </a:pPr>
            <a:r>
              <a:rPr sz="1650" b="1" i="0">
                <a:solidFill>
                  <a:srgbClr val="141B2E"/>
                </a:solidFill>
                <a:latin typeface="Arial"/>
              </a:rPr>
              <a:t>«Работа вышла за контекст агента — что вы заводите первым: приносите внутрь то, чего внутри нет, или выносите наружу то, что внутрь не помещается?»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Два блока — два ответа на один вопрос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796897"/>
            <a:ext cx="11183112" cy="2072386"/>
          </a:xfrm>
          <a:prstGeom prst="roundRect">
            <a:avLst>
              <a:gd name="adj" fmla="val 14707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979777"/>
            <a:ext cx="2523546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БЛОК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55650" y="1979777"/>
            <a:ext cx="2561546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КЕЙС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63500" y="1979777"/>
            <a:ext cx="2436213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КЕЙС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6018" y="1979777"/>
            <a:ext cx="2710829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КЕЙС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61844"/>
            <a:ext cx="2523546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Принести внутрь то, чего внутри нет — MCP, доступ наружу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55650" y="2261844"/>
            <a:ext cx="2561546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Агенту регулярно нужны данные, которых нет в репозитории. Решаем.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63500" y="2261844"/>
            <a:ext cx="2436213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Сервер подключён, а агент через него не ходит. Решаем.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6018" y="2261844"/>
            <a:ext cx="2710829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Одобрение, выданное один раз, перестаёт быть окончательным. Решаем.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2974124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" y="2974124"/>
            <a:ext cx="2523546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Вынести наружу то, что внутрь не помещается — субагент, урезанная роль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650" y="2974124"/>
            <a:ext cx="2561546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Ответ на один вопрос требует прочитать сорок файлов. Решаем.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63500" y="2974124"/>
            <a:ext cx="2436213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Несколько независимых задач стоят в очереди друг за другом. Решаем.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6018" y="2974124"/>
            <a:ext cx="2710829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Одна и та же роль переизобретается заново каждую сессию. Решаем.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536795"/>
            <a:ext cx="82296" cy="51054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4664811"/>
            <a:ext cx="10643616" cy="2545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6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«Один и тот же предел. Два хода навстречу друг другу.»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1295C"/>
              </a:gs>
              <a:gs pos="55000">
                <a:srgbClr val="065A82"/>
              </a:gs>
              <a:gs pos="100000">
                <a:srgbClr val="1C7293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5111496" cy="237744"/>
          </a:xfrm>
          <a:prstGeom prst="roundRect">
            <a:avLst>
              <a:gd name="adj" fmla="val 4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24144" y="457200"/>
            <a:ext cx="5111496" cy="237744"/>
          </a:xfrm>
          <a:prstGeom prst="roundRect">
            <a:avLst>
              <a:gd name="adj" fmla="val 40000"/>
            </a:avLst>
          </a:prstGeom>
          <a:solidFill>
            <a:srgbClr val="3E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85216" y="2590038"/>
            <a:ext cx="694944" cy="694944"/>
          </a:xfrm>
          <a:prstGeom prst="ellipse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2590038"/>
            <a:ext cx="694944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950"/>
              </a:lnSpc>
              <a:spcAft>
                <a:spcPts val="0"/>
              </a:spcAft>
            </a:pPr>
            <a:r>
              <a:rPr sz="2500" b="1" i="0">
                <a:solidFill>
                  <a:srgbClr val="21295C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192" y="2710815"/>
            <a:ext cx="9144000" cy="453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7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«Я же дописал это в задаче»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75101"/>
            <a:ext cx="9509760" cy="854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44"/>
              </a:lnSpc>
              <a:spcAft>
                <a:spcPts val="400"/>
              </a:spcAft>
            </a:pPr>
            <a:r>
              <a:rPr sz="1700" b="0" i="1">
                <a:solidFill>
                  <a:srgbClr val="D6E2EC"/>
                </a:solidFill>
                <a:latin typeface="Arial"/>
              </a:rPr>
              <a:t>Задача живёт в трекере и меняется без нас. У агента в чате — снимок, снятый руками сегодня утром.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989320"/>
            <a:ext cx="5500116" cy="384048"/>
          </a:xfrm>
          <a:prstGeom prst="roundRect">
            <a:avLst>
              <a:gd name="adj" fmla="val 3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5989320"/>
            <a:ext cx="55001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75"/>
              </a:lnSpc>
              <a:spcAft>
                <a:spcPts val="0"/>
              </a:spcAft>
            </a:pPr>
            <a:r>
              <a:rPr sz="1250" b="1" i="0">
                <a:solidFill>
                  <a:srgbClr val="21295C"/>
                </a:solidFill>
                <a:latin typeface="Arial"/>
              </a:rPr>
              <a:t>MCP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5916" y="5989320"/>
            <a:ext cx="5500116" cy="384048"/>
          </a:xfrm>
          <a:prstGeom prst="roundRect">
            <a:avLst>
              <a:gd name="adj" fmla="val 30000"/>
            </a:avLst>
          </a:prstGeom>
          <a:solidFill>
            <a:srgbClr val="3E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85916" y="5989320"/>
            <a:ext cx="55001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75"/>
              </a:lnSpc>
              <a:spcAft>
                <a:spcPts val="0"/>
              </a:spcAft>
            </a:pPr>
            <a:r>
              <a:rPr sz="1250" b="0" i="0">
                <a:solidFill>
                  <a:srgbClr val="9FAEC4"/>
                </a:solidFill>
                <a:latin typeface="Arial"/>
              </a:rPr>
              <a:t>Субагент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Файлы внутри, файлы снаружи — а трекер задач?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589913"/>
            <a:ext cx="5381244" cy="457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304788" y="1589913"/>
            <a:ext cx="5381244" cy="45720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717929"/>
            <a:ext cx="53812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6"/>
              </a:lnSpc>
              <a:spcAft>
                <a:spcPts val="0"/>
              </a:spcAft>
            </a:pPr>
            <a:r>
              <a:rPr sz="1150" b="1" i="0">
                <a:solidFill>
                  <a:srgbClr val="065A82"/>
                </a:solidFill>
                <a:latin typeface="Arial"/>
              </a:rPr>
              <a:t>ЧЕМ АГЕНТ УЖЕ ПОЛЬЗУЕТСЯ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4788" y="1717929"/>
            <a:ext cx="53812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6"/>
              </a:lnSpc>
              <a:spcAft>
                <a:spcPts val="0"/>
              </a:spcAft>
            </a:pPr>
            <a:r>
              <a:rPr sz="1150" b="1" i="0">
                <a:solidFill>
                  <a:srgbClr val="8A6200"/>
                </a:solidFill>
                <a:latin typeface="Arial"/>
              </a:rPr>
              <a:t>А СПИСОК ЗАДАЧ В ТРЕКЕРЕ?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0818" y="1589913"/>
            <a:ext cx="7315" cy="2744724"/>
          </a:xfrm>
          <a:prstGeom prst="rect">
            <a:avLst/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48756" y="1589913"/>
            <a:ext cx="91440" cy="91440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101977"/>
            <a:ext cx="5381244" cy="1935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  <a:spcAft>
                <a:spcPts val="600"/>
              </a:spcAft>
            </a:pPr>
            <a:r>
              <a:rPr sz="1800" b="0" i="0">
                <a:solidFill>
                  <a:srgbClr val="141B2E"/>
                </a:solidFill>
                <a:latin typeface="Arial"/>
              </a:rPr>
              <a:t>Файлы репозитория — агент читает их напрямую, это материал прошлых занятий.</a:t>
            </a:r>
          </a:p>
          <a:p>
            <a:pPr algn="l">
              <a:lnSpc>
                <a:spcPts val="2340"/>
              </a:lnSpc>
              <a:spcAft>
                <a:spcPts val="600"/>
              </a:spcAft>
            </a:pPr>
            <a:r>
              <a:rPr sz="1800" b="0" i="0">
                <a:solidFill>
                  <a:srgbClr val="141B2E"/>
                </a:solidFill>
                <a:latin typeface="Arial"/>
              </a:rPr>
              <a:t>Файлы, которые дали явно: вставили текст в чат, приложили документ.</a:t>
            </a:r>
          </a:p>
          <a:p>
            <a:pPr algn="l">
              <a:lnSpc>
                <a:spcPts val="2340"/>
              </a:lnSpc>
              <a:spcAft>
                <a:spcPts val="600"/>
              </a:spcAft>
            </a:pPr>
            <a:r>
              <a:rPr sz="1800" b="0" i="0">
                <a:solidFill>
                  <a:srgbClr val="141B2E"/>
                </a:solidFill>
                <a:latin typeface="Arial"/>
              </a:rPr>
              <a:t>Оба источника — файлы. Прочитал и работай.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4788" y="2101977"/>
            <a:ext cx="5381244" cy="2232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  <a:spcAft>
                <a:spcPts val="600"/>
              </a:spcAft>
            </a:pPr>
            <a:r>
              <a:rPr sz="1800" b="0" i="0">
                <a:solidFill>
                  <a:srgbClr val="141B2E"/>
                </a:solidFill>
                <a:latin typeface="Arial"/>
              </a:rPr>
              <a:t>Заказчик ведёт его отдельно от проекта: в дереве репозитория такого файла нет.</a:t>
            </a:r>
          </a:p>
          <a:p>
            <a:pPr algn="l">
              <a:lnSpc>
                <a:spcPts val="2340"/>
              </a:lnSpc>
              <a:spcAft>
                <a:spcPts val="600"/>
              </a:spcAft>
            </a:pPr>
            <a:r>
              <a:rPr sz="1800" b="0" i="0">
                <a:solidFill>
                  <a:srgbClr val="141B2E"/>
                </a:solidFill>
                <a:latin typeface="Arial"/>
              </a:rPr>
              <a:t>Дать один раз и забыть не выйдет — список меняется без нас каждый день.</a:t>
            </a:r>
          </a:p>
          <a:p>
            <a:pPr algn="l">
              <a:lnSpc>
                <a:spcPts val="2340"/>
              </a:lnSpc>
              <a:spcAft>
                <a:spcPts val="600"/>
              </a:spcAft>
            </a:pPr>
            <a:r>
              <a:rPr sz="1800" b="0" i="0">
                <a:solidFill>
                  <a:srgbClr val="141B2E"/>
                </a:solidFill>
                <a:latin typeface="Arial"/>
              </a:rPr>
              <a:t>Снимок на сегодняшнее утро устареет к обеду. Нужен способ спросить систему в момент работы.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002149"/>
            <a:ext cx="11183112" cy="678942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1208" y="5057013"/>
            <a:ext cx="64008" cy="56921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5139309"/>
            <a:ext cx="10643616" cy="4046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300"/>
              </a:spcAft>
            </a:pPr>
            <a:r>
              <a:rPr sz="1350" b="0" i="0">
                <a:solidFill>
                  <a:srgbClr val="141B2E"/>
                </a:solidFill>
                <a:latin typeface="Arial"/>
              </a:rPr>
              <a:t>Такое обращение к системе называется вызовом API. Обычная догадка на этом месте: за него придётся платить написанной интеграцией. Проверим на пяти способах.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MCP и сервер, одним экраном</a:t>
            </a:r>
          </a:p>
        </p:txBody>
      </p:sp>
      <p:pic>
        <p:nvPicPr>
          <p:cNvPr id="3" name="Picture 2" descr="mcp-n08-mehaniz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72281"/>
            <a:ext cx="11183112" cy="531197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Среда, в которую перенос руками дал сбой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066596"/>
            <a:ext cx="82296" cy="98298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1194612"/>
            <a:ext cx="10643616" cy="7269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6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Сайт живёт третий месяц. Заказчик уже месяц ведёт задачи в трекере репозитория — разработчик сам это предложил, чтобы правки не терялись в мессенджере. Перенос между трекером и чатом агента разработчик делает руками, несколько раз в неделю.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522270"/>
            <a:ext cx="11183112" cy="2164842"/>
          </a:xfrm>
          <a:prstGeom prst="roundRect">
            <a:avLst>
              <a:gd name="adj" fmla="val 14079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6" y="2741726"/>
            <a:ext cx="329184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9"/>
              </a:lnSpc>
              <a:spcAft>
                <a:spcPts val="0"/>
              </a:spcAft>
            </a:pPr>
            <a:r>
              <a:rPr sz="1550" b="1" i="0">
                <a:solidFill>
                  <a:srgbClr val="028090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" y="2741726"/>
            <a:ext cx="10360152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0"/>
              </a:spcAft>
            </a:pPr>
            <a:r>
              <a:rPr sz="1350" b="0" i="0">
                <a:solidFill>
                  <a:srgbClr val="141B2E"/>
                </a:solidFill>
                <a:latin typeface="Arial"/>
              </a:rPr>
              <a:t>Утро среды: открыл задачу «форма не отправляется с телефона», скопировал текст в чат агенту, ушёл делать правку.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3274364"/>
            <a:ext cx="329184" cy="3303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9"/>
              </a:lnSpc>
              <a:spcAft>
                <a:spcPts val="0"/>
              </a:spcAft>
            </a:pPr>
            <a:r>
              <a:rPr sz="1550" b="1" i="0">
                <a:solidFill>
                  <a:srgbClr val="02809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" y="3274364"/>
            <a:ext cx="10360152" cy="3303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0"/>
              </a:spcAft>
            </a:pPr>
            <a:r>
              <a:rPr sz="1350" b="0" i="0">
                <a:solidFill>
                  <a:srgbClr val="141B2E"/>
                </a:solidFill>
                <a:latin typeface="Arial"/>
              </a:rPr>
              <a:t>Днём заказчик дописал в ту же задачу строку: «и с планшета тоже».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3604691"/>
            <a:ext cx="329184" cy="3303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9"/>
              </a:lnSpc>
              <a:spcAft>
                <a:spcPts val="0"/>
              </a:spcAft>
            </a:pPr>
            <a:r>
              <a:rPr sz="1550" b="1" i="0">
                <a:solidFill>
                  <a:srgbClr val="028090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" y="3604691"/>
            <a:ext cx="10360152" cy="3303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0"/>
              </a:spcAft>
            </a:pPr>
            <a:r>
              <a:rPr sz="1350" b="0" i="0">
                <a:solidFill>
                  <a:srgbClr val="141B2E"/>
                </a:solidFill>
                <a:latin typeface="Arial"/>
              </a:rPr>
              <a:t>Разработчик её не увидел — в чате у него лежал утренний снимок. Вечером правка уехала заказчику.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3935018"/>
            <a:ext cx="329184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9"/>
              </a:lnSpc>
              <a:spcAft>
                <a:spcPts val="0"/>
              </a:spcAft>
            </a:pPr>
            <a:r>
              <a:rPr sz="1550" b="1" i="0">
                <a:solidFill>
                  <a:srgbClr val="028090"/>
                </a:solidFill>
                <a:latin typeface="Arial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" y="3935018"/>
            <a:ext cx="10360152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0"/>
              </a:spcAft>
            </a:pPr>
            <a:r>
              <a:rPr sz="1350" b="0" i="0">
                <a:solidFill>
                  <a:srgbClr val="141B2E"/>
                </a:solidFill>
                <a:latin typeface="Arial"/>
              </a:rPr>
              <a:t>Утром в задаче: «а планшет?». Час на вторую правку и письмо с объяснением, почему требование из задачи до работы не доехало.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159806"/>
            <a:ext cx="82296" cy="98298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5287822"/>
            <a:ext cx="10643616" cy="7269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6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Потерянный час — меньшая часть цены. Большая в том, что заказчик теперь перепроверяет, дошло ли до работы написанное им. Трекер живёт в отдельной системе и меняется каждый день без разработчика: снимок, снятый утром, к вечеру уже неточен.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