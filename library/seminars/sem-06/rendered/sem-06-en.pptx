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 id="296" r:id="rId48"/>
    <p:sldId id="297" r:id="rId49"/>
    <p:sldId id="298" r:id="rId50"/>
    <p:sldId id="299" r:id="rId51"/>
    <p:sldId id="300" r:id="rId52"/>
    <p:sldId id="301" r:id="rId53"/>
    <p:sldId id="302" r:id="rId54"/>
    <p:sldId id="303" r:id="rId55"/>
    <p:sldId id="304" r:id="rId56"/>
    <p:sldId id="305" r:id="rId57"/>
    <p:sldId id="306" r:id="rId58"/>
    <p:sldId id="307" r:id="rId59"/>
    <p:sldId id="308" r:id="rId60"/>
    <p:sldId id="309" r:id="rId61"/>
    <p:sldId id="310" r:id="rId62"/>
    <p:sldId id="311" r:id="rId63"/>
    <p:sldId id="312" r:id="rId64"/>
    <p:sldId id="313" r:id="rId65"/>
    <p:sldId id="314" r:id="rId66"/>
    <p:sldId id="315" r:id="rId67"/>
    <p:sldId id="316" r:id="rId68"/>
    <p:sldId id="317" r:id="rId69"/>
    <p:sldId id="318" r:id="rId70"/>
    <p:sldId id="319" r:id="rId71"/>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 Id="rId47" Type="http://schemas.openxmlformats.org/officeDocument/2006/relationships/slide" Target="slides/slide40.xml"/><Relationship Id="rId48" Type="http://schemas.openxmlformats.org/officeDocument/2006/relationships/slide" Target="slides/slide41.xml"/><Relationship Id="rId49" Type="http://schemas.openxmlformats.org/officeDocument/2006/relationships/slide" Target="slides/slide42.xml"/><Relationship Id="rId50" Type="http://schemas.openxmlformats.org/officeDocument/2006/relationships/slide" Target="slides/slide43.xml"/><Relationship Id="rId51" Type="http://schemas.openxmlformats.org/officeDocument/2006/relationships/slide" Target="slides/slide44.xml"/><Relationship Id="rId52" Type="http://schemas.openxmlformats.org/officeDocument/2006/relationships/slide" Target="slides/slide45.xml"/><Relationship Id="rId53" Type="http://schemas.openxmlformats.org/officeDocument/2006/relationships/slide" Target="slides/slide46.xml"/><Relationship Id="rId54" Type="http://schemas.openxmlformats.org/officeDocument/2006/relationships/slide" Target="slides/slide47.xml"/><Relationship Id="rId55" Type="http://schemas.openxmlformats.org/officeDocument/2006/relationships/slide" Target="slides/slide48.xml"/><Relationship Id="rId56" Type="http://schemas.openxmlformats.org/officeDocument/2006/relationships/slide" Target="slides/slide49.xml"/><Relationship Id="rId57" Type="http://schemas.openxmlformats.org/officeDocument/2006/relationships/slide" Target="slides/slide50.xml"/><Relationship Id="rId58" Type="http://schemas.openxmlformats.org/officeDocument/2006/relationships/slide" Target="slides/slide51.xml"/><Relationship Id="rId59" Type="http://schemas.openxmlformats.org/officeDocument/2006/relationships/slide" Target="slides/slide52.xml"/><Relationship Id="rId60" Type="http://schemas.openxmlformats.org/officeDocument/2006/relationships/slide" Target="slides/slide53.xml"/><Relationship Id="rId61" Type="http://schemas.openxmlformats.org/officeDocument/2006/relationships/slide" Target="slides/slide54.xml"/><Relationship Id="rId62" Type="http://schemas.openxmlformats.org/officeDocument/2006/relationships/slide" Target="slides/slide55.xml"/><Relationship Id="rId63" Type="http://schemas.openxmlformats.org/officeDocument/2006/relationships/slide" Target="slides/slide56.xml"/><Relationship Id="rId64" Type="http://schemas.openxmlformats.org/officeDocument/2006/relationships/slide" Target="slides/slide57.xml"/><Relationship Id="rId65" Type="http://schemas.openxmlformats.org/officeDocument/2006/relationships/slide" Target="slides/slide58.xml"/><Relationship Id="rId66" Type="http://schemas.openxmlformats.org/officeDocument/2006/relationships/slide" Target="slides/slide59.xml"/><Relationship Id="rId67" Type="http://schemas.openxmlformats.org/officeDocument/2006/relationships/slide" Target="slides/slide60.xml"/><Relationship Id="rId68" Type="http://schemas.openxmlformats.org/officeDocument/2006/relationships/slide" Target="slides/slide61.xml"/><Relationship Id="rId69" Type="http://schemas.openxmlformats.org/officeDocument/2006/relationships/slide" Target="slides/slide62.xml"/><Relationship Id="rId70" Type="http://schemas.openxmlformats.org/officeDocument/2006/relationships/slide" Target="slides/slide63.xml"/><Relationship Id="rId71" Type="http://schemas.openxmlformats.org/officeDocument/2006/relationships/slide" Target="slides/slide6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8.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9.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0.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2.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3.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4.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5.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6.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7.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8.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9.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0.xml"/></Relationships>
</file>

<file path=ppt/notesSlides/_rels/notesSlide6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1.xml"/></Relationships>
</file>

<file path=ppt/notesSlides/_rels/notesSlide6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2.xml"/></Relationships>
</file>

<file path=ppt/notesSlides/_rels/notesSlide6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3.xml"/></Relationships>
</file>

<file path=ppt/notesSlides/_rels/notesSlide6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project the seminar stands on is the course's demonstration repository </a:t>
            </a:r>
            <a:r>
              <a:rPr>
                <a:latin typeface="Consolas"/>
              </a:rPr>
              <a:t>signup-landing-demo</a:t>
            </a:r>
            <a:r>
              <a:t>: a landing page in its third month, and a client who pays for the work. The person is the same developer who spent two classes in a row setting up the harness for an agent here. First the hook: a short script that the harness runs by itself on a particular event, and which here rejects a write to the main branch. Then the skill: a deployment procedure that lives in a file of its own and is pulled into the context by a trigger description. By the beginning of this week the agent knew everything about the project there was to know: forty lines of instructions in </a:t>
            </a:r>
            <a:r>
              <a:rPr>
                <a:latin typeface="Consolas"/>
              </a:rPr>
              <a:t>CLAUDE.md</a:t>
            </a:r>
            <a:r>
              <a:t>, the hook, the skill, the decision log, and the landing page's own code. It held all of that whole and almost never missed — and that matters for what came next: the miss the seminar opens with happened with a good agent and correct instructions.</a:t>
            </a:r>
          </a:p>
          <a:p/>
          <a:p>
            <a:r>
              <a:t>The diagram in the lower part of the cover shows what that "everything" is made of. The agent's context — the dashed card on the left — is made of two things: the repository's files, which the agent reads by itself, and the conversation with you, in which you explained something or attached something. Past that the agent sees nothing. That boundary is not configurable and does not widen under persuasion: it is that way by construction, and the two previous classes set the harness up precisely inside it. As long as all the work lay inside, the harness was enough.</a:t>
            </a:r>
          </a:p>
          <a:p/>
          <a:p>
            <a:r>
              <a:t>On Monday the developer asked it the thing people ask every week: which of the client's requests are still not closed. The agent answered confidently and to the point — by what lies in the repository: by the code, by the history of edits, by the decision log. Two of the requests were not in that answer at all. The client had not filed them in the repository: for a month now he has been keeping his tasks in a tracker — a separate system, which the developer himself invited him into so that edits would stop getting lost in a messenger. One of the two lost requests had been expected by Monday.</a:t>
            </a:r>
          </a:p>
          <a:p/>
          <a:p>
            <a:r>
              <a:t>The cost is named right away, because without it the story stays an anecdote. A missed deadline — and a conversation with the client in which you have to explain why what he wrote down before the work did not make it through. That conversation did not have to happen.</a:t>
            </a:r>
          </a:p>
          <a:p/>
          <a:p>
            <a:r>
              <a:t>The agent did not get dumber. It answered with exactly what it had, and inside its own boundaries it answered correctly. Something else changed: the work stopped fitting whole into what the agent sees. For two classes in a row everything it worked with lay inside the repository, and that was enough. On Monday part of the truth turned out to be outside, and a harness inside the repository does not reach that far — not the hook, not the skill, not any number of lines of instructions.</a:t>
            </a:r>
          </a:p>
          <a:p/>
          <a:p>
            <a:r>
              <a:t>Hence the riddle on the cover: if the agent did not get dumber, then what stopped fitting? The answer is assembled by the next three screens. First — what the project already has and why it was enough: all four things that were set up lie inside. Then the same thought on the seminar's axis: both closed rungs work inside the repository, both of today's are about its edge. And then the second miss of the same week, whose cause is the opposite: there everything needed did fit inside, and it crowded out the work that session — one run of the agent, the one you talk to by hand — was opened for. Two misses with opposite causes are what give the seminar its question, and the two moves that answer it.</a:t>
            </a:r>
          </a:p>
          <a:p/>
          <a:p>
            <a:r>
              <a:t>The row of four segments at the bottom of the cover is the ladder these classes climb: hook, skill, MCP, subagent. The first two were broken down and measured earlier, and their wording is not rewritten here. The two gold ones are closed today.</a:t>
            </a:r>
          </a:p>
          <a:p/>
          <a:p>
            <a:r>
              <a:t>About how trustworthy the scene is, it is worth being direct. The project is real, the situation is assembled out of typical ones: this is a teaching scene, like every scene in the seminar. Checkable numbers stand separately in the seminar and always with a source — the scenes do not belong to them. Where exactly the client keeps his requests, and how people live with that today, is what the first case of the MCP section breaks down; here only as much is said as is needed: inside the repository they are not there.</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table on the screen is the state of the project as we enter the seminar, and it is worth reading by two signs at once: what the project has, and what confirms it.</a:t>
            </a:r>
          </a:p>
          <a:p/>
          <a:p>
            <a:r>
              <a:t>The hook is the settings file </a:t>
            </a:r>
            <a:r>
              <a:rPr>
                <a:latin typeface="Consolas"/>
              </a:rPr>
              <a:t>.claude/settings.json</a:t>
            </a:r>
            <a:r>
              <a:t> and the self-test </a:t>
            </a:r>
            <a:r>
              <a:rPr>
                <a:latin typeface="Consolas"/>
              </a:rPr>
              <a:t>.claude/hooks/selftest-branch-guard.sh</a:t>
            </a:r>
            <a:r>
              <a:t>. It has a commit, </a:t>
            </a:r>
            <a:r>
              <a:rPr>
                <a:latin typeface="Consolas"/>
              </a:rPr>
              <a:t>9803643</a:t>
            </a:r>
            <a:r>
              <a:t>: the repository can be cloned with </a:t>
            </a:r>
            <a:r>
              <a:rPr>
                <a:latin typeface="Consolas"/>
              </a:rPr>
              <a:t>git clone</a:t>
            </a:r>
            <a:r>
              <a:t> and you can see for yourself that both files are in place, and </a:t>
            </a:r>
            <a:r>
              <a:rPr>
                <a:latin typeface="Consolas"/>
              </a:rPr>
              <a:t>git log -1</a:t>
            </a:r>
            <a:r>
              <a:t> on that commit will print the same number. The skill — </a:t>
            </a:r>
            <a:r>
              <a:rPr>
                <a:latin typeface="Consolas"/>
              </a:rPr>
              <a:t>.claude/skills/deploy/SKILL.md</a:t>
            </a:r>
            <a:r>
              <a:t> — was written in the breakdown of the previous class, but it has no commit, and the table carries the honest label "only a plan". There are no grounds here for passing a plan off as a fact: the previous class was devoted to that very discipline. The instruction file </a:t>
            </a:r>
            <a:r>
              <a:rPr>
                <a:latin typeface="Consolas"/>
              </a:rPr>
              <a:t>CLAUDE.md</a:t>
            </a:r>
            <a:r>
              <a:t> has grown: it was twenty-four lines and four sections, it is now forty and five — also confirmed by a commit, and </a:t>
            </a:r>
            <a:r>
              <a:rPr>
                <a:latin typeface="Consolas"/>
              </a:rPr>
              <a:t>wc -l CLAUDE.md</a:t>
            </a:r>
            <a:r>
              <a:t> prints forty. </a:t>
            </a:r>
            <a:r>
              <a:rPr>
                <a:latin typeface="Consolas"/>
              </a:rPr>
              <a:t>DECISIONS.md</a:t>
            </a:r>
            <a:r>
              <a:t> is the file with the decisions that were taken as the project went along. It has been in the repository since an earlier class, the previous one did not touch it, and here it is shown with no change: what is set up once is not lost between classes.</a:t>
            </a:r>
          </a:p>
          <a:p/>
          <a:p>
            <a:r>
              <a:t>Those four rows have something in common, and it explains Monday's miss. All four lie inside the repository. A rule, a procedure, a check, a recorded decision — everything that was set up across two classes in a row, the agent opens by itself, at any moment, with nobody's involvement: it is enough that these files are in the project's tree. As long as all the work lived here, the agent held the project whole and answered to the point. The miss happened on the day part of the work turned out to be beyond that boundary: none of the four rows reaches there, and the number of rows changes nothing about it.</a:t>
            </a:r>
          </a:p>
          <a:p/>
          <a:p>
            <a:r>
              <a:t>It is worth holding this same table up against your own working project. The question is simple: does your agent hold it whole — or do you explain the same things over again in every new session? The second case is ordinary, and it means exactly what this table means: part of what is needed lies beyond the boundary of what the agent sees by itself. What to do about that depends on which part went past the boundary. The seminar gives two answers to it, and a criterion for choosing between them.</a:t>
            </a:r>
          </a:p>
          <a:p/>
          <a:p>
            <a:r>
              <a:t>The line "has a commit" deserves a pause, because it is what separates what is set up from what is intended. A file that has a commit lies in the project's tree: anyone who has cloned the repository sees it, and the agent opens it by itself, without a reminder. A file that was broken down in a class and never entered into the repository does not exist for the agent at all. The difference between those two states was the content of the previous class, which is why every row of the table carries its own label: one common list of files cannot convey that difference. What the table does not show is where in the repository's history each row lies: for an engineer who has opened the project that is an internal detail, and the state of the project does not depend on it.</a:t>
            </a:r>
          </a:p>
          <a:p/>
          <a:p>
            <a:r>
              <a:t>Knowing the previous class in order to read on is not required. This table and the axis on the next screen are enough: they hold everything about the two earlier rungs that is needed today.</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table closed the previous class, and here it stands in the same form. Two rows are filled, each with three columns: whether we are settling something that has already arisen or preventing something in the future, what the mechanism does, and what it does not do.</a:t>
            </a:r>
          </a:p>
          <a:p/>
          <a:p>
            <a:r>
              <a:t>The hook rejects one pattern of writing into the main branch — out of six reproduced ways of making a commit. On the other five it stays silent, and a person sitting at a terminal themselves it does not see at all. The skill loads on an exact match of the trigger description; without a match it does not fire, and the contents of its file are simply not in the context before it fires.</a:t>
            </a:r>
          </a:p>
          <a:p/>
          <a:p>
            <a:r>
              <a:t>The short column on the left is the axis along which the course compares mechanisms with one another: does the mechanism prevent a problem that does not exist yet, or settle one that has already arisen. Both filled rows say "settle" here, and each names the signal on which the mechanism gets set up. A hook gets set up once the rule has already been broken: a write to the main branch happened once, and from then on it is rejected. A skill gets set up on a signal that the instruction file is overloaded: the instructions have grown, part of them is needed rarely, and the rare part is moved out into a separate file with a trigger description. Today's two rows will get such a label as well, and for one of them it will turn out to be mixed.</a:t>
            </a:r>
          </a:p>
          <a:p/>
          <a:p>
            <a:r>
              <a:t>The column "what it does not do" deserves a word of its own, because it is easy to read as a list of shortcomings. It is not a defect in the mechanism and not anybody's naivety: it is what the check showed beyond the frame of what the mechanism was set up for. The hook was set up against one specific way of breaking the rule — and against that one it works. The difference between this column and the one beside it is exactly what those two mechanisms were measured for, and exactly what will repeat today on two new rows.</a:t>
            </a:r>
          </a:p>
          <a:p/>
          <a:p>
            <a:r>
              <a:t>Now the sign by which these two rows are read on the way into today's class. Both work inside the repository, and that can be checked straight off them: the hook is a file in </a:t>
            </a:r>
            <a:r>
              <a:rPr>
                <a:latin typeface="Consolas"/>
              </a:rPr>
              <a:t>.claude/</a:t>
            </a:r>
            <a:r>
              <a:t> standing guard over a write to a branch of this same repository; the skill is a file in this same repository that gets pulled into the context. Neither of the two reaches out anywhere beyond the project, and neither of them carries work out of the agent's context. Everything the two classes in a row dealt with lay within the agent's reach.</a:t>
            </a:r>
          </a:p>
          <a:p/>
          <a:p>
            <a:r>
              <a:t>The two bottom rows are empty, and both are about the edge of that reach. One is about what is not inside at all: the data lives in someone else's system, and however much context the agent is given, it will not appear there. The other is about what does fit inside and crowds the work out: the reading fits whole and takes up the room the task was lying in. Both are closed today.</a:t>
            </a:r>
          </a:p>
          <a:p/>
          <a:p>
            <a:r>
              <a:t>The order of the rows — hook, skill, MCP, subagent — does not change from here on: the same on the seminar's question, on the map and in the closing. Comparing all four with one another makes sense because they are chosen by one sign: what exactly is missing from the work. That is the question the seminar assembles an answer to.</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Both of this week's misses are on the screen side by side, and the job of this screen is to show their causes together.</a:t>
            </a:r>
          </a:p>
          <a:p/>
          <a:p>
            <a:r>
              <a:t>Monday has already been described: the agent answered by the repository, and two of the client's requests were not in the answer. The cause is that they are not inside at all. Let the context be twice the size: those requests still will not appear in it, because they lie in another system.</a:t>
            </a:r>
          </a:p>
          <a:p/>
          <a:p>
            <a:r>
              <a:t>Wednesday is a different project belonging to the same person: a product he works in every day, plans, members, two years of migrations. The task of the day is an ordinary one — set up a "Team" plan, twenty members instead of five. In the morning he spends some fifteen minutes explaining the task to the agent: what the plan is called, who can get it, what to do with old accounts, which cases to check. The edit is going to be made right here, in this session. But first a list is needed of the places where the limit on members is checked: miss one, and the new plan will pass the config and run into a check nobody remembers any more. The agent finds four such places, and to find them it opens more than forty files, some twenty minutes of reading. The list is correct. And when it comes to the edit itself, the agent re-asks what it was told that morning: what the plan is called and how many members are in it. Half an hour went on saying what had already been said and getting back to where they had stopped.</a:t>
            </a:r>
          </a:p>
          <a:p/>
          <a:p>
            <a:r>
              <a:t>The causes are opposite. On Monday what was needed was not inside. On Wednesday everything needed did fit inside — and crowded out the very thing the session was opened for. "Does not fit" means two different states of affairs, and they are treated by moves that run toward each other: in one case you bring inside what is not there, in the other you carry outside what does not fit inside. The order of the whole class rests on that opposition.</a:t>
            </a:r>
          </a:p>
          <a:p/>
          <a:p>
            <a:r>
              <a:t>Hence the question: the work has run past the agent's context — which do you set up first, bringing inside what is not inside, or carrying outside what does not fit inside? There are usually three answers to it, and all three are honest. "Depends on what is missing" is a correct first move: the question is precisely about how to tell one state from the other, and the criterion for that is assembled further on. "Data first — without it the agent simply will not solve the task": the grounds for that lie in the first section. "A separate worker first — it saves room": the grounds for that are in the second.</a:t>
            </a:r>
          </a:p>
          <a:p/>
          <a:p>
            <a:r>
              <a:t>Choosing between the moves in a live project is not obligatory, both work. Each has its own cost: someone else's code and a permanent place in the context for the first, extra permissions and lost visibility of what was done for the second. The question is about which one you start with, when the resource and the attention are single.</a:t>
            </a:r>
          </a:p>
          <a:p/>
          <a:p>
            <a:r>
              <a:t>And separately — about the guess that comes up on this screen more often than any other: in the second case a bigger context would have been enough. A large context pushes the boundary back and preserves the property that caused the miss: what has been read stays inside and shares the room with the work. Forty files fit whole — and that is exactly why the task left. The seminar will come back to that guess with a measurement.</a:t>
            </a:r>
          </a:p>
          <a:p/>
          <a:p>
            <a:r>
              <a:t>The names of the two mechanisms are not needed here yet: they appear on the map next and are broken down each in its own section.</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seminar's map: two sections, and they are two answers to one question.</a:t>
            </a:r>
          </a:p>
          <a:p/>
          <a:p>
            <a:r>
              <a:t>The first move is to bring inside what is not inside. The agent gets a way to ask the system itself — the one that lives apart from the project and changes without us — instead of working off a snapshot taken by hand. That is how Monday's miss is closed. The mechanism is called MCP, and its two cases are named by observable problems: the agent regularly needs data that is not in the repository; connected servers take up context before the work begins. Inside the first case stands a separate screen on how you prove that the agent really does go through a connected server.</a:t>
            </a:r>
          </a:p>
          <a:p/>
          <a:p>
            <a:r>
              <a:t>The second move runs the other way — carry outside what does not fit inside. The reading goes to a separate worker with a context of its own and trimmed permissions, and only the result comes back into the session where the work lies. That is how Wednesday's miss is closed. In the documentation this worker is called a subagent; that is what it is called in the rest of the seminar too. Its three cases are also named as problems: the reading needed for one edit crowds the edit itself out of the context; the task arrived as a single sentence, and the deadline on it is two days off; there are several workers, and the working folder is one.</a:t>
            </a:r>
          </a:p>
          <a:p/>
          <a:p>
            <a:r>
              <a:t>The cards are named by the symptom you will notice in your own work; the name of the technique is not in the title, and that is done so that it is easier to recognize your own case in the card. There is no answer on the cards either: "connected servers take up context before the work begins" describes what is visible from outside and says nothing about what treats it. The answer lies in the case itself, together with the breakdown of the options and the cost.</a:t>
            </a:r>
          </a:p>
          <a:p/>
          <a:p>
            <a:r>
              <a:t>Every card is labeled "we settle it": not one of the problems named is hypothetical, each has already happened — in the scene its case begins with.</a:t>
            </a:r>
          </a:p>
          <a:p/>
          <a:p>
            <a:r>
              <a:t>The order of the sections is not accidental. The first move gives the agent back what it never had; the second unloads what it already has. There is little sense in starting by unloading a context that does not hold what is needed anyway — hence access first, then delegation.</a:t>
            </a:r>
          </a:p>
          <a:p/>
          <a:p>
            <a:r>
              <a:t>There is a connection between the two moves that the map does not show. Access to the outside increases what the agent is able to do by itself in one sitting, and along with the volume of work grows the volume of reading that the work pulls into the session's context. The moves run toward each other, and their limit is one and the same: the more the first move lets you do in one sitting, the sooner you run into the second.</a:t>
            </a:r>
          </a:p>
          <a:p/>
          <a:p>
            <a:r>
              <a:t>Both moves have a cost of their own, and the seminar names it outright: someone else's code in your work and a permanent place in the context for the first, extra permissions and lost visibility of what was done for the second. The five cases are built the same way: a scene in which something went wrong, a question, a breakdown of the options, mechanics or an assembled artifact, a documented failure, and the criterion by which you choose.</a:t>
            </a:r>
          </a:p>
          <a:p/>
          <a:p>
            <a:r>
              <a:t>Carrying all of this over to your own repository is the work of a separate class. Here — the techniques, and the criteria by which they are chosen.</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sentence this section opens with belongs to the client. He keeps his tasks in a tracker — a separate system outside the repository, which changes every day without the developer's involvement. And what the agent has in the chat is what was copied over for it by hand this morning. The section's scene is the Tuesday on which those two facts met; the whole section is taken up by one task — what to replace the transfer by hand with.</a:t>
            </a:r>
          </a:p>
          <a:p/>
          <a:p>
            <a:r>
              <a:t>A tracker here is any system where a client or a team keeps a list of work apart from the code: the repository's built-in tracker, a separate task service, a board with columns. They have one property in common, and the whole section rests on it: the list lives outside the project's tree and changes without the involvement of whoever writes the code. The moment that property disappears — the list has moved into a specification file and is edited by the same commit as the code — the case falls apart, and the correct answer inside it becomes a different one.</a:t>
            </a:r>
          </a:p>
          <a:p/>
          <a:p>
            <a:r>
              <a:t>The previous class stood on a different task. There the agent was being taught what it may and may not do inside its own repository, and that was checked with files and a command; everything that moved in the process lay in the project's tree. Here the agent needs to reach a system that is not part of the project and that we do not control directly. The difference is in where the data physically lies, and everything else follows from it: the permissions, the keys, the cost.</a:t>
            </a:r>
          </a:p>
          <a:p/>
          <a:p>
            <a:r>
              <a:t>Why this task arises precisely now, after three tools inside the repository, is a matter of frequency. A one-off action is closed by an ordinary command in the terminal: called once, answered once. Something that repeats from session to session is not closed as cheaply, and by the end of the case it will be visible why: permanent access has a standing cost that a one-off command does not.</a:t>
            </a:r>
          </a:p>
          <a:p/>
          <a:p>
            <a:r>
              <a:t>The tool of this section is the fourth in the course and the first that physically goes beyond the boundaries of one repository. The three before it lived inside the project's tree and were edited by the same commit as the code: they could be read, their versions compared, and rolled back. This one lives outside and is updated without our knowledge — and precisely for that reason it comes with a key and permissions that the previous three did not have.</a:t>
            </a:r>
          </a:p>
          <a:p/>
          <a:p>
            <a:r>
              <a:t>The line on the screen belongs to the client because he is the one who noticed the requirement had gone missing: the developer learned of it last, from the question "what about the tablet?" in the issue. The cost of the mistake falls on both of them, it is presented by the one who pays for the work, and a cost like that needs no explaining.</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By this point in the course the agent knows how to work with two sources of data, and both are files.</a:t>
            </a:r>
          </a:p>
          <a:p/>
          <a:p>
            <a:r>
              <a:t>The first is the repository's files. The agent reads them directly: it opens a path, it gets the contents. This is the material of previous classes: the instructions, the specification, the recorded decisions all stand on the repository's files — everything that lies in the project's tree and is edited by the same commit as the code.</a:t>
            </a:r>
          </a:p>
          <a:p/>
          <a:p>
            <a:r>
              <a:t>The second is files handed over explicitly: text pasted into the chat, a document attached. A different source, the same property: the contents got into the context once and do not change by themselves after that.</a:t>
            </a:r>
          </a:p>
          <a:p/>
          <a:p>
            <a:r>
              <a:t>The list of issues in the tracker fits into neither of the two. It is not a file of the repository — the client keeps it in a separate system, and there is no such file in the project's tree. It does not become an attached file either: attaching the list once and forgetting about it will not work, because it changes every day without us, and a snapshot taken in the morning is already inaccurate by lunchtime.</a:t>
            </a:r>
          </a:p>
          <a:p/>
          <a:p>
            <a:r>
              <a:t>What separates the first two sources from the third is time. A file has a moment at which it was read, and after that it stays as it was read: the answer to "what is written in it" does not depend on the second. Reaching a system has no such moment — the answer depends on the second in which you asked. Hence the requirement: the agent needs a way to ask the system at the moment of the work, because what was read in advance has time to go out of date by that moment.</a:t>
            </a:r>
          </a:p>
          <a:p/>
          <a:p>
            <a:r>
              <a:t>Reaching out over the network like that is called an API call: the agent sends a request and gets an answer immediately, with no file as an intermediary. In other courses the same subject is often called an integration or a connector — a different word, one subject.</a:t>
            </a:r>
          </a:p>
          <a:p/>
          <a:p>
            <a:r>
              <a:t>The temptation at this point is to treat the tracker as one more external file and attach it before every request. People really do that, and it is exactly what the developer in this case's scene does. The practice breaks on the day an edit goes out to the client before anyone has re-read the issue. As long as the list changes less often than it is consulted, a snapshot will do: a one-off export of the open issues before sprint planning is a working technique. Frequency is what moves the task from "copy the text" to "grant access".</a:t>
            </a:r>
          </a:p>
          <a:p/>
          <a:p>
            <a:r>
              <a:t>And the guess to walk into the case with — the one that comes to almost everyone at this point: you will have to pay for a call with an integration you write, that is, with code that knows the addresses, the format of the request and how to parse the answer. Keep it in mind: the breakdown of the five ways will begin with precisely that.</a:t>
            </a:r>
          </a:p>
          <a:p/>
          <a:p>
            <a:r>
              <a:t>The first two sources are listed here for the same reason. The choice ahead runs between five ways of getting access, and three of them take up context permanently precisely because the third source is built differently from a file. Without that boundary the five ways read as five names for one and the same thing, and the only basis for choosing is recognition.</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Before breaking the construction down piece by piece, it is worth looking at where everything stands. There is not a single new term on this diagram — only the placement of the figures in space; the mechanics come with the next screen.</a:t>
            </a:r>
          </a:p>
          <a:p/>
          <a:p>
            <a:r>
              <a:t>The point of reference is your machine, the solid frame on the left. The agent runs on it: the one you talk to in a session. Everything else on the diagram is positioned relative to that frame, and the first thing worth finding on it is yourself.</a:t>
            </a:r>
          </a:p>
          <a:p/>
          <a:p>
            <a:r>
              <a:rPr b="1"/>
              <a:t>A server is a separate program</a:t>
            </a:r>
            <a:r>
              <a:t> living outside the agent: somebody started it, it listens for what it is asked and it answers. It can be written in anything, it is installed like any other package, it crashes and restarts like any other program. One ability sets it apart — it talks MCP, that one shared conversation all of this was set up for.</a:t>
            </a:r>
          </a:p>
          <a:p/>
          <a:p>
            <a:r>
              <a:t>That program has two places, and the protocol's specification says so outright: a server is a program that serves data, regardless of where it runs; it can run locally or remotely.</a:t>
            </a:r>
          </a:p>
          <a:p/>
          <a:p>
            <a:r>
              <a:rPr b="1"/>
              <a:t>The first place is the same machine,</a:t>
            </a:r>
            <a:r>
              <a:t> next to the agent. Such a server is brought up by your environment at the start of a session: a command is written in the configuration, the command is executed, and the process lives as long as the session does. On the diagram it stands inside the solid frame, and the arrow to it does not cross that frame.</a:t>
            </a:r>
          </a:p>
          <a:p/>
          <a:p>
            <a:r>
              <a:rPr b="1"/>
              <a:t>The second place is somebody else's machine.</a:t>
            </a:r>
            <a:r>
              <a:t> The server there is already running, somebody else keeps it and updates it, and you connect to it over the network. On the diagram it is in a dashed frame, and the arrow to it does cross the boundary of your machine. Dashed against solid is the whole visible difference: solid is yours, dashed is somebody else's.</a:t>
            </a:r>
          </a:p>
          <a:p/>
          <a:p>
            <a:r>
              <a:t>The agent's conversation with the server is the same in both cases; the only thing that changes is the route to the server — a process next door or the network. The specification puts it this way: the transport layer hides the details of the connection from the protocol layer, and one and the same message format works across all means of delivery. That is why the numbers of the variants stand on the arrows on the diagram: a variant is a route, and in both variants the agent is the same and stands in the same place.</a:t>
            </a:r>
          </a:p>
          <a:p/>
          <a:p>
            <a:r>
              <a:t>On the right is the external system: the issue tracker, a database, a reporting mart, an internal service. It is the server that goes there. The key to the system is held by the server; it does not hand the key to the agent, and what the agent gets back is the text of the answer, never touching the system itself. That placement is easiest to see on a diagram and hardest to reconstruct from a configuration file — which is why the picture comes before the file.</a:t>
            </a:r>
          </a:p>
          <a:p/>
          <a:p>
            <a:r>
              <a:t>And now what the diagram was drawn for in the first place. Every system has its own way of being asked: the issue tracker over REST, the database in the SQL language, the reporting mart through GraphQL, the internal service over gRPC. The server is what talks in those ways. The systems existed before MCP and had had their own ways of being asked for a long time; the server is a wrapper on top of them: inward it accepts a call over MCP, outward it reaches out the way the system can manage. One server can go into several systems at once, into each in that system's own way. The agent does not know those ways, and it does not need to: with any server it has one conversation.</a:t>
            </a:r>
          </a:p>
          <a:p/>
          <a:p>
            <a:r>
              <a:t>The protocol does not describe what is behind the server at all — it describes only the agent's conversation with the server. Tools in the specification are defined as executable functions an application can invoke in order to do something: file operations, API calls, database queries. Hence the four marks on the right-hand side of the diagram; they stand there as the ways the systems themselves are asked.</a:t>
            </a:r>
          </a:p>
          <a:p/>
          <a:p>
            <a:r>
              <a:t>The server, meanwhile, is not obliged to go outside at all. A server for the file system or for a local database does not reach anywhere over the network — it simply gives the agent operations over what lies next door. The external system is on the diagram because our case is exactly that kind: the tracker lives apart from the project.</a:t>
            </a:r>
          </a:p>
          <a:p/>
          <a:p>
            <a:r>
              <a:t>One and the same server not infrequently exists in both places at once. The official GitHub server exists remotely — hosted by GitHub itself — and as an image that runs on your machine. The operations in them are the same, what differs is the place. Which of the two variants to take is not something the diagram decides: the case itself breaks the choice down, and the cost of each is counted there.</a:t>
            </a:r>
          </a:p>
          <a:p/>
          <a:p>
            <a:r>
              <a:t>By the conversation, the agent sees no difference between the variants. Where the server stands can only be seen from the record in the configuration — and for permissions and secrets that difference is a large one: in one case the key lies in the environment of a process on your machine, in the other you hand it to whoever keeps the service.</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whole construction at once, six parts. This is the section's anchor screen: every breakdown that follows comes back to it, and it is worth coming back to yourself when something further on turns out to be unclear.</a:t>
            </a:r>
          </a:p>
          <a:p/>
          <a:p>
            <a:r>
              <a:rPr b="1"/>
              <a:t>What a server is.</a:t>
            </a:r>
            <a:r>
              <a:t> A separate program living outside Claude Code. The two places where it runs are already familiar from the previous screen: a local process that Claude Code starts at your place, or a remote service that somebody else keeps. One thing is worth adding to the placement: the command written in the configuration is executed literally at the start of a session. Whatever is written there is what will start. This is an executable record, not a declaration, and the decision about the key will grow out of that fact later on.</a:t>
            </a:r>
          </a:p>
          <a:p/>
          <a:p>
            <a:r>
              <a:rPr b="1"/>
              <a:t>Where it is declared.</a:t>
            </a:r>
            <a:r>
              <a:t> In a configuration file. </a:t>
            </a:r>
            <a:r>
              <a:rPr>
                <a:latin typeface="Consolas"/>
              </a:rPr>
              <a:t>.mcp.json</a:t>
            </a:r>
            <a:r>
              <a:t> in the root of the repository is the </a:t>
            </a:r>
            <a:r>
              <a:rPr>
                <a:latin typeface="Consolas"/>
              </a:rPr>
              <a:t>project</a:t>
            </a:r>
            <a:r>
              <a:t> scope: everyone who clones the project sees it. </a:t>
            </a:r>
            <a:r>
              <a:rPr>
                <a:latin typeface="Consolas"/>
              </a:rPr>
              <a:t>~/.claude.json</a:t>
            </a:r>
            <a:r>
              <a:t> holds the two other scopes, </a:t>
            </a:r>
            <a:r>
              <a:rPr>
                <a:latin typeface="Consolas"/>
              </a:rPr>
              <a:t>local</a:t>
            </a:r>
            <a:r>
              <a:t> and </a:t>
            </a:r>
            <a:r>
              <a:rPr>
                <a:latin typeface="Consolas"/>
              </a:rPr>
              <a:t>user</a:t>
            </a:r>
            <a:r>
              <a:t>. Which of the three is for what is broken down when the connection is assembled; what matters here is the place on the map: a connection lives in a file, the file lies in one of three places, and who will see that connection depends on the choice of place.</a:t>
            </a:r>
          </a:p>
          <a:p/>
          <a:p>
            <a:r>
              <a:rPr b="1"/>
              <a:t>What happens on connection.</a:t>
            </a:r>
            <a:r>
              <a:t> Once the transport has come up, Claude Code asks the server for the list of its capabilities itself. The model takes no part in that conversation at all: it is a conversation between client and server at the level of the protocol, before the model has even seen the list — the same mechanics as the transport handshake. By default, what lands in the context out of that answer is only the tool names and the server's instructions about itself; there are no full schemas at start-up — the model pulls a particular tool's schema in later, once it has decided it will be needed. Two things cancel the deferral: the </a:t>
            </a:r>
            <a:r>
              <a:rPr>
                <a:latin typeface="Consolas"/>
              </a:rPr>
              <a:t>alwaysLoad</a:t>
            </a:r>
            <a:r>
              <a:t> field on an individual server loads all of its schemas at start-up regardless of the general mode, and </a:t>
            </a:r>
            <a:r>
              <a:rPr>
                <a:latin typeface="Consolas"/>
              </a:rPr>
              <a:t>ENABLE_TOOL_SEARCH=false</a:t>
            </a:r>
            <a:r>
              <a:t> removes the deferral across the whole environment. It is in precisely that mode that the worst-case figure the section will name further on adds up.</a:t>
            </a:r>
          </a:p>
          <a:p/>
          <a:p>
            <a:r>
              <a:rPr b="1"/>
              <a:t>The call.</a:t>
            </a:r>
            <a:r>
              <a:t> When the model decides a tool is needed, the agent calls it the same way it would call a function: the full name with the server's prefix, and the arguments the model assembled itself. The format of the full name is </a:t>
            </a:r>
            <a:r>
              <a:rPr>
                <a:latin typeface="Consolas"/>
              </a:rPr>
              <a:t>mcp__&lt;server&gt;__&lt;tool&gt;</a:t>
            </a:r>
            <a:r>
              <a:t>, where any character outside letters, digits, the underscore and the hyphen is replaced by an underscore. This is not cosmetic: it is precisely the full name that gets written in permission rules, in a subagent's tool list or in a hook's matcher — a short one will not work there, and a mistake in it looks from the outside like "the rule is somehow not being applied".</a:t>
            </a:r>
          </a:p>
          <a:p/>
          <a:p>
            <a:r>
              <a:rPr b="1"/>
              <a:t>Context and cost — three separate line items.</a:t>
            </a:r>
            <a:r>
              <a:t> The first: the names of all of the server's tools and its short instructions about itself hang in the context always, from the first second of the session, regardless of whether the agent ever uses it. The second: the full schema of a particular tool is pulled in by the model itself, once it decides it may be needed — that is deferred loading, the default behavior, and it is governed by the </a:t>
            </a:r>
            <a:r>
              <a:rPr>
                <a:latin typeface="Consolas"/>
              </a:rPr>
              <a:t>ENABLE_TOOL_SEARCH</a:t>
            </a:r>
            <a:r>
              <a:t> variable. The third, separate from the first two: the result of the call itself, which has a budget of its own — a warning when it goes past ten thousand tokens, truncation at twenty-five thousand by default (</a:t>
            </a:r>
            <a:r>
              <a:rPr>
                <a:latin typeface="Consolas"/>
              </a:rPr>
              <a:t>MAX_MCP_OUTPUT_TOKENS</a:t>
            </a:r>
            <a:r>
              <a:t>). Those three items are worth keeping apart from the very start: the standing cost is paid for the server being connected at all, the cost of a call is paid for each answer, and mixing them up produces strange numbers in both directions. The comparison across ways of getting access comes at the end of the case.</a:t>
            </a:r>
          </a:p>
          <a:p/>
          <a:p>
            <a:r>
              <a:rPr b="1"/>
              <a:t>What the server answers with.</a:t>
            </a:r>
            <a:r>
              <a:t> The result arrives over a separate channel, not the one the connection went over. In the output the call is signed with the server's name — it is visible that the answer came from there and not out of the model's general knowledge. For checking the work that is the one handle available: by the text of the answer you cannot tell "the server went and fetched it" from "the model wrote something that looks like it".</a:t>
            </a:r>
          </a:p>
          <a:p/>
          <a:p>
            <a:r>
              <a:t>Two small things people trip over more often than anything else. </a:t>
            </a:r>
            <a:r>
              <a:rPr>
                <a:latin typeface="Consolas"/>
              </a:rPr>
              <a:t>local</a:t>
            </a:r>
            <a:r>
              <a:t> and </a:t>
            </a:r>
            <a:r>
              <a:rPr>
                <a:latin typeface="Consolas"/>
              </a:rPr>
              <a:t>user</a:t>
            </a:r>
            <a:r>
              <a:t> are shown on the map with one and the same file </a:t>
            </a:r>
            <a:r>
              <a:rPr>
                <a:latin typeface="Consolas"/>
              </a:rPr>
              <a:t>~/.claude.json</a:t>
            </a:r>
            <a:r>
              <a:t> — that is not an error on the screen: one physical file, two different records inside it, </a:t>
            </a:r>
            <a:r>
              <a:rPr>
                <a:latin typeface="Consolas"/>
              </a:rPr>
              <a:t>local</a:t>
            </a:r>
            <a:r>
              <a:t> under the record for a specific project, </a:t>
            </a:r>
            <a:r>
              <a:rPr>
                <a:latin typeface="Consolas"/>
              </a:rPr>
              <a:t>user</a:t>
            </a:r>
            <a:r>
              <a:t> under the general </a:t>
            </a:r>
            <a:r>
              <a:rPr>
                <a:latin typeface="Consolas"/>
              </a:rPr>
              <a:t>mcpServers</a:t>
            </a:r>
            <a:r>
              <a:t> key. And the question "why have a protocol at all when there is an ordinary network call": because all servers describe their capabilities the same way, and the agent reads their description by one method. That is what you buy with a connection — and further on in the case it will be visible how much it costs.</a:t>
            </a:r>
          </a:p>
          <a:p/>
          <a:p>
            <a:r>
              <a:t>On the governance of the protocol: since the ninth of December 2025 MCP has been developed by a separate directed fund under the Linux Foundation, with the same type of governance as Kubernetes. The openness of a protocol and the honesty of a particular server inside it are different things, and this section's failures will be about the second.</a:t>
            </a:r>
          </a:p>
          <a:p/>
          <a:p>
            <a:r>
              <a:t>If something on this screen has remained unclear, it will not become clearer further on: the whole case refers back here.</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site is in its third month. For a month now the client has been keeping his tasks in a tracker — the developer is the one who suggested it to him, so that edits would stop getting lost in the correspondence. The transfer between the tracker and the agent's chat the developer does by hand, a few times a week: open the issue, copy the text, paste it into the chat, copy the finished answer back into the issue. That is where those two requests the agent did not find on Monday were lying.</a:t>
            </a:r>
          </a:p>
          <a:p/>
          <a:p>
            <a:r>
              <a:t>Tuesday of the same week. In the morning the developer opens the issue "the form does not submit from a phone", copies the text into the agent's chat and goes off to make the edit. In the afternoon the client adds one line to that same issue: "and from a tablet too". The developer does not see it: what he has in the chat is the morning's snapshot of the issue, and a snapshot does not know how to update itself. In the evening the edit goes out to the client. In the morning a question appears in the issue: "what about the tablet?".</a:t>
            </a:r>
          </a:p>
          <a:p/>
          <a:p>
            <a:r>
              <a:t>The cost is an hour on a second edit and an email explaining why a line from the issue did not make it through to the work. The hour is the smaller part here. The larger part is that the client now double-checks whether what he wrote arrived: a habit he picked up precisely because one time it did not. Getting that trust back costs more than redoing the form.</a:t>
            </a:r>
          </a:p>
          <a:p/>
          <a:p>
            <a:r>
              <a:t>It was not the agent that made the mistake here. The mistake was in the transfer by hand: by construction it hands the agent the issue's past state, and no amount of care changes that property.</a:t>
            </a:r>
          </a:p>
          <a:p/>
          <a:p>
            <a:r>
              <a:t>Discipline — re-reading the issue before you send — looks like a solution and works right up to the day there are three issues and five sessions. The cost of that discipline grows linearly with the number of issues and sessions, and a forgotten line goes from being an exception to being the norm. Asking the agent to "keep an eye" on the tracker will not work either: the agent works within one session, it does not carry on acting between requests, and it has no way of its own to reach an external system without access being granted. A tracker open next to you in a browser changes the form of the transfer while leaving the transfer itself: a paste stays a paste, and the morning's snapshot stays the morning's.</a:t>
            </a:r>
          </a:p>
          <a:p/>
          <a:p>
            <a:r>
              <a:t>It is worth noting what is not in this scene. There is no careless developer in it: he suggested the tracker himself, he carries issues over a few times a week, and that Tuesday he did everything he always did. Nor is there a broken tool in it: the tracker worked, the agent worked, the edit went out on time. What broke down was the link between them — the one place nobody designed and which therefore nobody is responsible for. Places exactly like that are what collect the cost: they have no owner, and people start fixing them after the first email of explanation.</a:t>
            </a:r>
          </a:p>
          <a:p/>
          <a:p>
            <a:r>
              <a:t>This mistake has a mirror image, and it is more expensive. The developer pastes the agent's answer about a different issue into an issue — the client reads somebody else's requirement as his own and plans work he never asked for.</a:t>
            </a:r>
          </a:p>
          <a:p/>
          <a:p>
            <a:r>
              <a:t>The detail of the scene is needed for the choice that is coming next: it depends on two of the scene's properties — the frequency of the transfer and the liveness of the source. A source is called live here if its answer depends on the time of the request. A specification file in the repository is not live in that sense: it changes by a commit, and the commit is visible. The tracker changes without a commit and without a notification — and it is this Tuesday that shows which of the two cases we are facing.</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It is worth starting from your own case. Who has already had an agent go outside — into a tracker, into a database, into documentation? What was it done with? Almost everyone who has worked with an assistant for more than a month has some access to the outside by this class, and your own way comes to mind faster than somebody else's gets chosen.</a:t>
            </a:r>
          </a:p>
          <a:p/>
          <a:p>
            <a:r>
              <a:t>Next, that way of your own has to be checked against the scene. So that that Tuesday does not happen again, the agent must look at the tracker's open issues itself at the moment of the work and prepare draft edits from them — that is, go there every day, not once. Pick your own way out of the five cards and say whether it stands up to that frequency; if it does not — which of the neighboring cards you would take now.</a:t>
            </a:r>
          </a:p>
          <a:p/>
          <a:p>
            <a:r>
              <a:t>Five ways: call the API directly; connect somebody else's server — remotely; connect somebody else's server — locally; write your own server; call the ready-made </a:t>
            </a:r>
            <a:r>
              <a:rPr>
                <a:latin typeface="Consolas"/>
              </a:rPr>
              <a:t>gh</a:t>
            </a:r>
            <a:r>
              <a:t> command every time. The choice here weighs less than the reason for it: naming a way is easy, saying what exactly it demands of you in advance and what it takes up permanently is harder.</a:t>
            </a:r>
          </a:p>
          <a:p/>
          <a:p>
            <a:r>
              <a:rPr>
                <a:latin typeface="Consolas"/>
              </a:rPr>
              <a:t>gh</a:t>
            </a:r>
            <a:r>
              <a:t> on this list is GitHub's official CLI tool. It is already installed for many developers and can read and write the tracker's issues without any MCP server at all, by an ordinary command call. The difference between "remotely" and "locally" is also worth saying out loud before the choice: in the first case the server is somebody else's process, which somebody else keeps on the network and maintains themselves; in the second the program runs at your place, and its start-up, its updates and its crashes are your concern.</a:t>
            </a:r>
          </a:p>
          <a:p/>
          <a:p>
            <a:r>
              <a:t>Four answers to this question come up more often than the rest, and with each of them the same piece of work is worth doing.</a:t>
            </a:r>
          </a:p>
          <a:p/>
          <a:p>
            <a:r>
              <a:t>"Write your own server." There is one checking question: what will be in your server that is not in the official one? Sometimes there is an answer — none of the ready-made providers really does have the set of operations needed — and then the choice is the right one. More often there is no answer, and then this is work that has already been done for you.</a:t>
            </a:r>
          </a:p>
          <a:p/>
          <a:p>
            <a:r>
              <a:t>"We will take the API, because that way it is more flexible." A legitimate choice, and the breakdown does not overturn it. One thing is worth clarifying: where the description of the endpoints you feed the agent is going to live, and who will update it when the service changes its version. That description is as much an artifact of the project as the configuration, and it must have a named owner.</a:t>
            </a:r>
          </a:p>
          <a:p/>
          <a:p>
            <a:r>
              <a:t>"What is the difference at all, if the result is the same?" The result really is the same: in all five cases the agent gets a fresh list of issues. The difference is in what each way demands of you in advance, and in what it takes up permanently. Both sides are broken down further on: the first in the breakdown of the five ways, the second on the screen with the cost.</a:t>
            </a:r>
          </a:p>
          <a:p/>
          <a:p>
            <a:r>
              <a:t>An answer that does not match any of the five. Almost always it fits into one of the five, just in different words: "we will write a script that pulls the tracker" is a direct API call, "we will ask them to connect a ready-made service" is somebody else's server remotely. Such an answer is worth bringing round to one of the five, and after that it is broken down along with the rest.</a:t>
            </a:r>
          </a:p>
          <a:p/>
          <a:p>
            <a:r>
              <a:t>Picking two is also allowed, and it is even more accurate: two of the five stay legitimate right to the end of the breakdown. In that case name both, and the condition under which you take the first.</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First, what the breakdown overturns. You will not have to write integration code in any of the five ways. The agent will assemble the request itself and parse the answer itself — that it can do, and it can do it identically in all five cases. The guess we walked into the case with turns out to be false, and the choice has to be made on a different basis.</a:t>
            </a:r>
          </a:p>
          <a:p/>
          <a:p>
            <a:r>
              <a:t>The basis is this: does the agent know in advance what the system can be asked. That is what the five ways get broken down by.</a:t>
            </a:r>
          </a:p>
          <a:p/>
          <a:p>
            <a:r>
              <a:rPr b="1"/>
              <a:t>A direct API call.</a:t>
            </a:r>
            <a:r>
              <a:t> The agent writes and sends the requests to the endpoints itself and parses the answer itself. The limit here lies somewhere else: the agent will not guess the service's specification — which points there are, what their parameters are, what their limits are. It has to be given: by documentation, by a Swagger description, by an example request. As long as the description is fresh, the way works, and it works flexibly — any of the service's points are available, including those that are in no ready-made server. The description goes out of date silently: the service changed its version, the description stayed as it was, and the agent confidently sends requests to the old addresses.</a:t>
            </a:r>
          </a:p>
          <a:p/>
          <a:p>
            <a:r>
              <a:rPr b="1"/>
              <a:t>Somebody else's server, remotely.</a:t>
            </a:r>
            <a:r>
              <a:t> A service somebody hosts and updates themselves; no separate process runs at your place, there is nothing to start and nothing to crash. The price for that is management: there is no seeing what the service does inside or when something in it changed. The ordinary security questions of a remote service belong here too: whom you trust the key to, and who else has access to it. What that ends in at worst is visible in the failure of the next case of the section: on one MCP server for databases, the "read only" flag did not make the connection genuinely restricted.</a:t>
            </a:r>
          </a:p>
          <a:p/>
          <a:p>
            <a:r>
              <a:rPr b="1"/>
              <a:t>Somebody else's server, locally.</a:t>
            </a:r>
            <a:r>
              <a:t> The package runs at your place, the configuration is a line in the repository, visible to the whole team in review. There is more control here than with a remote one: the version is pinned by you, and an update happens when you have made it happen. What remains is that this is a live process on your machine and somebody else's code — with all of its dependencies and its right to update itself.</a:t>
            </a:r>
          </a:p>
          <a:p/>
          <a:p>
            <a:r>
              <a:rPr b="1"/>
              <a:t>Your own server.</a:t>
            </a:r>
            <a:r>
              <a:t> Gives exactly the set of operations and permissions needed, with no outside code in the process. Writing a minimal server is quick these days — there is a ready-made plugin for it. What comes expensive is maintenance: updates to the protocol, outside users, the security of the transport. This is a separate project alongside the main one, and it is worth setting up when none of the ready-made providers has the set of operations you need.</a:t>
            </a:r>
          </a:p>
          <a:p/>
          <a:p>
            <a:r>
              <a:rPr b="1"/>
              <a:t>The `gh` command every time.</a:t>
            </a:r>
            <a:r>
              <a:t> GitHub's ready-made official CLI: it has already solved authorization and parsing the answer for you, no code needs writing. Every call, meanwhile, is a separate command with no shared list of capabilities. The agent does not see in advance what can be done at all; the call it needs has to be known in advance — and the one who knows it is the developer.</a:t>
            </a:r>
          </a:p>
          <a:p/>
          <a:p>
            <a:r>
              <a:t>The conclusion adds up out of the combination, in three moves.</a:t>
            </a:r>
          </a:p>
          <a:p/>
          <a:p>
            <a:r>
              <a:t>The first: your own server is excessive. An official server for the tracker already exists, and your own implementation would repeat its work, adding a second project to the project.</a:t>
            </a:r>
          </a:p>
          <a:p/>
          <a:p>
            <a:r>
              <a:t>The second: </a:t>
            </a:r>
            <a:r>
              <a:rPr>
                <a:latin typeface="Consolas"/>
              </a:rPr>
              <a:t>gh</a:t>
            </a:r>
            <a:r>
              <a:t> and a direct API call cover a call that is known in advance. That is their legitimate area, and it is a wide one. A growing list of operations they offload onto the developer's memory — and it is exactly there that the Tuesday from the scene happens again, only now with commands: the command needed exists, but nobody recalled it.</a:t>
            </a:r>
          </a:p>
          <a:p/>
          <a:p>
            <a:r>
              <a:t>The third: between "remotely" and "locally" there is no ready answer, both are legitimate. The latest official example of connecting to this same service is a remote http service; this case's decision is a local process, because the configuration then becomes code in the repository, visible in review to the whole team. The local way meanwhile stays officially supported, so the decision is not spoiled by the existence of the remote example. Something else is worth knowing: the official route of one and the same provider changes over time, and a reference to "the official way" in your own documentation has to be re-checked.</a:t>
            </a:r>
          </a:p>
          <a:p/>
          <a:p>
            <a:r>
              <a:t>How to apply this breakdown to your own system — four questions, in order. Is there a ready-made server for it: if there is, there is no point writing your own. How many operations are needed and is their number growing: one known operation is covered by a command or a direct call, a growing list requires that the agent see it itself. Are you prepared to keep one more live process with access to secrets: if not, a one-off call is more reliable than a process nobody services. And only after that — where the configuration should lie: in the repository if the connection concerns the whole team, at your own place if it is an experiment.</a:t>
            </a:r>
          </a:p>
          <a:p/>
          <a:p>
            <a:r>
              <a:t>What remains is the question the breakdown leaves open: what, then, do you pay for with a connection at all, if an ordinary command gives you access too? What you pay for is the list of capabilities that the agent reads itself. How much that costs in tokens is counted further on in the case, on the screen of the standing cost, and the figure there is unexpected.</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file gets written at the end of this conversation. Starting from the syntax would mean skipping past two decisions that weigh more than the syntax does: which operations to allow the agent, and which permissions to issue for them.</a:t>
            </a:r>
          </a:p>
          <a:p/>
          <a:p>
            <a:r>
              <a:t>The first move is a quick one: what specifically does the agent have to do? For our task the list is short — read the open issues, write a comment, prepare a draft edit. Three operations, nothing more. That list is drawn up for the task and is not taken from the server: the tracker's official server can do noticeably more than three things, and out of its full set you need to know your own. The operations set which permissions to ask for; the reverse order produces a key that is knowingly broader than the task it was issued for.</a:t>
            </a:r>
          </a:p>
          <a:p/>
          <a:p>
            <a:r>
              <a:t>The second move carries the main weight. A broad personal access token gives four things by default: all of the user's repositories, including the private ones; read and write; managing settings; deletion. For each line the same question is asked — does our list of three operations require this? All repositories, including the private ones: no, the work goes on in one. Read and write: reading is needed for the issues, writing is needed for the comment and the draft — the line stays. Managing settings: no. Deletion: no. The crossing-out goes line by line, and what is left is one repository and two operations.</a:t>
            </a:r>
          </a:p>
          <a:p/>
          <a:p>
            <a:r>
              <a:t>The order matters in itself: operations first, permissions after. The reverse order — take the token as it comes and see what turns out — leaves in the key precisely the line that will turn out to be decisive a few screens from now.</a:t>
            </a:r>
          </a:p>
          <a:p/>
          <a:p>
            <a:r>
              <a:t>A temptation worth taking apart in full: create the token with the default permissions and simply not use the surplus. That will not do, and the reason lies outside discipline. A token can be used by whoever gets hold of it, and then what decides matters is what the key as made physically permits, irrespective of your intention. The question "do I use this permission" is beside the point entirely; the question is exactly one — is that permission in the key or not.</a:t>
            </a:r>
          </a:p>
          <a:p/>
          <a:p>
            <a:r>
              <a:t>Surplus of this kind is the norm, not the exception. The same systematic sample shows that more permissions get issued than are needed, and that this concerns not only individual servers but the transport layer of the protocol's own official SDK.</a:t>
            </a:r>
          </a:p>
          <a:p/>
          <a:p>
            <a:r>
              <a:t>How long such a check takes — there are no direct measurements in any source, and that is an honest gap. What can be said is something else: the conversation broken down into moves here happens at the moment the token is created anyway, and it requires no separate time.</a:t>
            </a:r>
          </a:p>
          <a:p/>
          <a:p>
            <a:r>
              <a:t>This screen is worth remembering. A few screens from now there will be an incident that reproduces precisely when the top line has not been crossed out.</a:t>
            </a:r>
          </a:p>
          <a:p/>
          <a:p>
            <a:r>
              <a:t>And the last thing — what to do when a fourth operation turns out to be needed. Come back to this same conversation and issue the key anew. Adding a permission to an existing token is cheaper, and that is exactly why a permissions list spreads over time far beyond the task it was set up for.</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third move is about the key, and the answer to it is named almost at once: the key is kept in an environment variable, and the value is not written into the file.</a:t>
            </a:r>
          </a:p>
          <a:p/>
          <a:p>
            <a:r>
              <a:t>The reason for that is not a stylistic one. The mechanics of the configuration here are executable: the command that connects the server genuinely runs on the machine at the start of a session, it does not remain a mere description. A value written literally into the command would become part of what is physically executed — and would travel along with the file into the repository, into the commit history, into review, into any export of the project. The environment variable is a direct consequence of that fact.</a:t>
            </a:r>
          </a:p>
          <a:p/>
          <a:p>
            <a:r>
              <a:t>An honest caveat to the practice: moving a secret out into an environment variable does not guarantee it will not surface as text somewhere. The diagnostic command used to check the status of a connection can itself turn out to be one more leak channel for that same secret. That does not cancel the practice, but it takes away the false sense of complete protection: an environment variable removes the secret from the file and does not remove it from every possible place.</a:t>
            </a:r>
          </a:p>
          <a:p/>
          <a:p>
            <a:r>
              <a:t>The fourth move is the configuration's scope, and there are three variants: only on this machine of mine; into the repository, for everyone; globally across all my projects. A server that has been checked goes into the repository — the configuration then becomes code, and a change to it is visible in review on a par with code. A new server appears in the project together with a discussion, and it is visible before it starts working. An experiment that has not been checked stays only at your own place.</a:t>
            </a:r>
          </a:p>
          <a:p/>
          <a:p>
            <a:r>
              <a:t>And a fact about the default worth knowing before the first connection: by default the connect command puts the server into the personal configuration, not into the project. Not knowing that, it is easy to end up in the conversation "I connected it, everything works" — "well, not for me", in which both are right: the record exists, and one person sees it.</a:t>
            </a:r>
          </a:p>
          <a:p/>
          <a:p>
            <a:r>
              <a:t>An experiment that has taken root is moved from the personal scope into the project's one by the same conversation you use to bring any other edit into the repository. The key's permissions stay as they were in the move: they are changed on the service's side, where the key was created.</a:t>
            </a:r>
          </a:p>
          <a:p/>
          <a:p>
            <a:r>
              <a:t>The choice of scope is a decision about visibility, and it is worth measuring with one question: who is supposed to break if the connection disappears? If the team's work stops without that server, the record has to lie in the repository — then its disappearance is visible in review and is restored the same way as any other edit to a file. If the only thing that stops without the server is your personal experiment, then a record in the repository will get in everyone else's way: they clone the project and receive a process they did not ask for, along with a demand for a key they do not have.</a:t>
            </a:r>
          </a:p>
          <a:p/>
          <a:p>
            <a:r>
              <a:t>Separately — what happens when names coincide. If one and the same server name is declared in two scopes, the whole record of the higher-precedence scope wins in its entirety; fields from different sources are not merged together. The case people get caught by: the personal record has no key in it, the project's one does, the names coincided — in a conflict you get the personal record in its entirety, together with the missing key, and the server does not work for a reason that is not visible in the project file. The order of precedence: the personal scope is above the project's, the project's is above the general personal one, then comes a server from a plugin, then a connector, and above all of them the organization's policy, if there is one.</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key's permissions are asked about once — at the moment of issue. The service lists the actions and asks which of them you trust to this key. There will be no second such question, and that makes issuing a key one of those rare places where a decision is taken once and holds for a long time.</a:t>
            </a:r>
          </a:p>
          <a:p/>
          <a:p>
            <a:r>
              <a:t>The move most often made at that moment, the course's author describes about himself outright: every box there is gets clicked straight through, one after another. The motive for the move is understandable and almost excusable — what if something is needed later, surely you are not going to issue a new key then. It is worth admitting that this is exactly what should not be done, and worth admitting at the same time that knowing it does not get in the move's way. The breakdown of the permissions in the previous conversation took several minutes and produced a list of operations three lines long; one movement of the mouse at the moment of issue brings everything that was crossed out back in its entirety.</a:t>
            </a:r>
          </a:p>
          <a:p/>
          <a:p>
            <a:r>
              <a:t>The divergence here is worth naming precisely, because it is the content. Knowing which permissions are needed and issuing exactly those are two different pieces of work. The first is done with your head and once, the second is done with your hands and anew every time, on somebody else's screen, at the end of a long form, when what you want is to start working already.</a:t>
            </a:r>
          </a:p>
          <a:p/>
          <a:p>
            <a:r>
              <a:t>The second move of the same kind is to put the key where it is within reach: into a file next to the connection's configuration. The file then travels into the repository, into the commit history, into the review of edits, into any export of the project. An environment variable removes the key from the file; that was the subject of the previous screen. The key's home between runs is a secrets store: a named cell whose value is handed to the process and is shown neither in the file, nor in review, nor in the build log. The notion of a "secret" in that sense is worth knowing precisely this way: it is a value that has a name, and only the name is visible.</a:t>
            </a:r>
          </a:p>
          <a:p/>
          <a:p>
            <a:r>
              <a:t>How real a leak is can be checked more cheaply than it seems. The course's author recounts that out of curiosity he searched for model providers' keys in public repositories — and found working ones. There is no point quoting a count here: it is enough that the finds were not isolated.</a:t>
            </a:r>
          </a:p>
          <a:p/>
          <a:p>
            <a:r>
              <a:t>The providers know about this and watch over it themselves. By the account of students from a previous cohort, one of the model providers follows public repositories and blocks an exposed key within seconds. That sounds reassuring, and the boundary of such protection is worth naming right away. It covers one channel out of many — publication in an open repository, and only at the provider that does the watching. A private leak, a build log, a screenshot, a settings file forwarded to a colleague — a watchdog like that does not see at all. And that protection belongs to the provider: it blocks the key when it sees fit, without asking you.</a:t>
            </a:r>
          </a:p>
          <a:p/>
          <a:p>
            <a:r>
              <a:t>What of all this remains within your power after the key is issued turns out to be one line. The permissions issued to the key at the moment of creation. A narrow key that has leaked costs less than a broad one — because the cost of a leak is measured by what can be done with the leaked key. From the same thing follows a habit worth acquiring along with your first key: a separate key for each piece of work, with permissions for that piece of work, and reissuing rather than widening when the work changes.</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result of the conversation is a file with four lines of substance. Each answers a question of its own.</a:t>
            </a:r>
          </a:p>
          <a:p/>
          <a:p>
            <a:r>
              <a:rPr>
                <a:latin typeface="Consolas"/>
              </a:rPr>
              <a:t>mcpServers</a:t>
            </a:r>
            <a:r>
              <a:t> — the root: the list of all servers declared in this scope. One file can hold several servers, and each gets a record of its own.</a:t>
            </a:r>
          </a:p>
          <a:p/>
          <a:p>
            <a:r>
              <a:rPr>
                <a:latin typeface="Consolas"/>
              </a:rPr>
              <a:t>"github"</a:t>
            </a:r>
            <a:r>
              <a:t> — the server's name. It is under this name that the agent will call its tools: </a:t>
            </a:r>
            <a:r>
              <a:rPr>
                <a:latin typeface="Consolas"/>
              </a:rPr>
              <a:t>mcp__github__…</a:t>
            </a:r>
            <a:r>
              <a:t>. You choose the name, and it ends up in every place the server is referred to — in the permission rules, in tool lists, in the output of a call. Renaming it later means walking through all of those places.</a:t>
            </a:r>
          </a:p>
          <a:p/>
          <a:p>
            <a:r>
              <a:rPr>
                <a:latin typeface="Consolas"/>
              </a:rPr>
              <a:t>"command"</a:t>
            </a:r>
            <a:r>
              <a:t> — what starts it: the specific launcher program, here </a:t>
            </a:r>
            <a:r>
              <a:rPr>
                <a:latin typeface="Consolas"/>
              </a:rPr>
              <a:t>npx</a:t>
            </a:r>
            <a:r>
              <a:t>. </a:t>
            </a:r>
            <a:r>
              <a:rPr>
                <a:latin typeface="Consolas"/>
              </a:rPr>
              <a:t>"args"</a:t>
            </a:r>
            <a:r>
              <a:t> — what gets started: the server's own package. Together those two lines are that command which will be executed at the start of a session.</a:t>
            </a:r>
          </a:p>
          <a:p/>
          <a:p>
            <a:r>
              <a:rPr>
                <a:latin typeface="Consolas"/>
              </a:rPr>
              <a:t>"env"</a:t>
            </a:r>
            <a:r>
              <a:t> — the environment variables for the process. The value here is the substitution </a:t>
            </a:r>
            <a:r>
              <a:rPr>
                <a:latin typeface="Consolas"/>
              </a:rPr>
              <a:t>${GITHUB_PAT}</a:t>
            </a:r>
            <a:r>
              <a:t>; the secret itself does not lie in the file as text.</a:t>
            </a:r>
          </a:p>
          <a:p/>
          <a:p>
            <a:r>
              <a:t>This key's permissions do not enter the file at all, and that is worth keeping in mind while looking at the screen. One repository instead of the whole account is a decision taken on the service's side, where the token was created; it is not visible from the configuration and cannot be caught in review by this file. The file shows where the key comes from and says nothing about what can be done with that key.</a:t>
            </a:r>
          </a:p>
          <a:p/>
          <a:p>
            <a:r>
              <a:t>About the file itself: it lies in the root of the repository and is visible to everyone who clones the project. The personal and general personal scopes live in a separate file outside the repository — secrets do not get from there into the code simply because the file is physically not in the git tree.</a:t>
            </a:r>
          </a:p>
          <a:p/>
          <a:p>
            <a:r>
              <a:t>This command starts a live process on your machine. If it crashes in the middle of a session, it will not restart by itself — a new session is needed. What is visible from outside when it does, and why the green marker says nothing about it, is on the next screen.</a:t>
            </a:r>
          </a:p>
          <a:p/>
          <a:p>
            <a:r>
              <a:t>The precedence diagram under the file answers the question that arises when one and the same server name is declared twice. Six rungs, and the physical file is captioned on each. The </a:t>
            </a:r>
            <a:r>
              <a:rPr>
                <a:latin typeface="Consolas"/>
              </a:rPr>
              <a:t>local</a:t>
            </a:r>
            <a:r>
              <a:t> and </a:t>
            </a:r>
            <a:r>
              <a:rPr>
                <a:latin typeface="Consolas"/>
              </a:rPr>
              <a:t>user</a:t>
            </a:r>
            <a:r>
              <a:t> rungs are both captioned with the file </a:t>
            </a:r>
            <a:r>
              <a:rPr>
                <a:latin typeface="Consolas"/>
              </a:rPr>
              <a:t>~/.claude.json</a:t>
            </a:r>
            <a:r>
              <a:t> — the same construction and the same reason as on the MCP one-pager: one physical file, two records inside it. On a clash of names those are records of different weight, despite the shared file.</a:t>
            </a:r>
          </a:p>
          <a:p/>
          <a:p>
            <a:r>
              <a:t>There are exactly three scopes, and that number is not an arbitrary setting: three hard-coded places are exactly what the product can do. Changing the scope of a server that is already connected means rewriting the same record in another place; the token's permissions meanwhile stay as they were, and they are changed where the token was created.</a:t>
            </a:r>
          </a:p>
          <a:p/>
          <a:p>
            <a:r>
              <a:t>And the honest gap, which is worth naming outright. This file is the section's target decision, assembled from an earlier capture of the demonstration repository. There is no commit with it in the current branch, and there is no such file in the course's repository either. The breakdown rests on the evidence base of the research, with no live commit behind it; the same goes for the next two cases of this section — that gap is common to them. The screen shows the example being broken down and promises no "clone it and repeat".</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file is assembled, the marker is green. Precisely here begins the trap people fall into after a successful connection, and it costs more than the connection did.</a:t>
            </a:r>
          </a:p>
          <a:p/>
          <a:p>
            <a:r>
              <a:t>The green marker tells the truth — about the server's process having come up, answered the client's handshake and handed over the list of its tools. That is a fact about a program. Whether the agent went to that server while it was carrying out your task is a fact about a conversation, and it is not in the marker. The two facts stand side by side in the interface and read as two sides of one state; experience does not protect you from that confusion, and the number of connected servers does not change it — whoever has one connected gets the same trap in full.</a:t>
            </a:r>
          </a:p>
          <a:p/>
          <a:p>
            <a:r>
              <a:t>The answer to the second question comes from one place only — from the output of that same session. Hence the simple move: name the server in the request by name. "Using the tracker server, print the list of open issues, then prepare a draft for each one" instead of "have a look at what has piled up in the inbox". After the first wording there is something to check: the tool call in the output is either signed with the server's name or it is not, and how plausible the answer is has no bearing on that check. After the second there is nothing to check — the agent might have read the tracker, and it might have assembled an answer from the sense of the task, and both routes produce text of the same kind. The server's name is taken from the same status command; there is no need to guess it from the name of the service: a server for access to the tracker may be named after the package, after the service, or after the short name of whoever connected it.</a:t>
            </a:r>
          </a:p>
          <a:p/>
          <a:p>
            <a:r>
              <a:t>The move costs a few words in the request and one glance at the output, and it cannot be faked by plausibility: the signed line is either there or it is not. A confident, substantive answer in the absence of such a line is itself the signature of lost work: the answer was built without the server and looks better than the real one from the outside, because it arrives faster. If the server is named and there is no signature, you then look at the state of the process: the connection may have dropped, the authorization may have expired, the list of tools may not have arrived. The reverse move works too: if by its sense the task should not touch the server, say so outright — then the appearance of a signed line becomes a signal. Checkability works in both directions.</a:t>
            </a:r>
          </a:p>
          <a:p/>
          <a:p>
            <a:r>
              <a:t>Wider than this screen the rule goes like this, and it is not about MCP. Monitoring that waits for an error stays silent in two different cases: when everything is fine, and when no signals are arriving at all. They cannot be told apart by the absence of an error — only by the presence of a connection to the thing you are watching. One documented case from this course's own log is exactly that: a connected server silently lost access, the tools stopped working, and the status command went on showing "connected" — it was noticed because ordinary calls started demanding a repeat login, not from the status.</a:t>
            </a:r>
          </a:p>
          <a:p/>
          <a:p>
            <a:r>
              <a:t>The habit of naming the server by name costs a few words in the request. An investigation after the fact — "did the agent really look at the tracker yesterday" — costs an order of magnitude more.</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Now the figure that is often spoken of inaccurately. "A connection costs so many tokens" is a statement about the mode without deferred loading. By default, at the start of a session what gets into the context is the tool names and the server's short instructions, without the full schemas.</a:t>
            </a:r>
          </a:p>
          <a:p/>
          <a:p>
            <a:r>
              <a:t>The worst case has been measured: a bundle of five servers with no deferral — on the order of fifty-five thousand tokens, about twenty-one percent of a context of two hundred thousand. That is the upper bound. For comparison: one and the same action by an ordinary command in the terminal is one thousand three hundred and sixty-five tokens, by a server's tool it is forty-four thousand and twenty-six. A thirty-two-fold difference for one answer.</a:t>
            </a:r>
          </a:p>
          <a:p/>
          <a:p>
            <a:r>
              <a:t>What exactly that cost is paid for is worth taking apart piece by piece — otherwise the numbers look arbitrary.</a:t>
            </a:r>
          </a:p>
          <a:p/>
          <a:p>
            <a:r>
              <a:t>The standing cost is the names of all the tools of every connected server and the server's short instructions about itself: what, under deferred loading, lands in the context at start-up. They hang in the context the whole time, from the first second of the session, regardless of whether the agent uses the server or not. Two numbers set it: how many servers are connected and how many tools each one describes. That cost depends neither on the place where the server runs nor on who wrote it — your own, somebody else's, local, remote all pay identically. The transport has no effect on those two numbers: a remote server describes its tools with the same names and the same instructions as a local one, and the same description gets into the context. The authorship has no effect either: your own server written for three operations pays for three descriptions — exactly as much as somebody else's with three operations would pay. What you pay for is the list of capabilities, and the list does not know where it arrived from.</a:t>
            </a:r>
          </a:p>
          <a:p/>
          <a:p>
            <a:r>
              <a:t>The cost of a call is a separate line item: it is every answer the server returned. That is where the comparison of one thousand three hundred and sixty-five tokens against forty-four thousand belongs: one and the same action, the same result, a thirty-two-fold difference in how much room getting it took up.</a:t>
            </a:r>
          </a:p>
          <a:p/>
          <a:p>
            <a:r>
              <a:t>Free of the standing cost are a direct API call and a command like </a:t>
            </a:r>
            <a:r>
              <a:rPr>
                <a:latin typeface="Consolas"/>
              </a:rPr>
              <a:t>gh</a:t>
            </a:r>
            <a:r>
              <a:t>. They have no list of capabilities hanging in the context between calls: until a call is made, there is nothing about them in the context.</a:t>
            </a:r>
          </a:p>
          <a:p/>
          <a:p>
            <a:r>
              <a:t>Hence the question to your own project, worth asking yourself right now: how many servers do you have connected and how many tools do they describe? You pay that cost in every session — including the one in which the agent did not go to a single server all day.</a:t>
            </a:r>
          </a:p>
          <a:p/>
          <a:p>
            <a:r>
              <a:t>The mode can be checked at your own place by two actions: look at whether the variable </a:t>
            </a:r>
            <a:r>
              <a:rPr>
                <a:latin typeface="Consolas"/>
              </a:rPr>
              <a:t>ENABLE_TOOL_SEARCH=false</a:t>
            </a:r>
            <a:r>
              <a:t> is set, which turns deferred loading off, and look at what the card of a particular server actually shows in a session. That check does not go out of date, unlike the figure itself.</a:t>
            </a:r>
          </a:p>
          <a:p/>
          <a:p>
            <a:r>
              <a:t>Why the figure is named at all, then: it remains correct as the order of magnitude of the worst case — for platforms without deferred loading, or for a session that really did pull in almost all the definitions through the internal search. The same effect has been independently confirmed by another team of researchers, and in money: three dollars twenty cents against fifty-five dollars twenty cents for ten thousand operations of one kind a month, a seventeen-fold difference, a different method.</a:t>
            </a:r>
          </a:p>
          <a:p/>
          <a:p>
            <a:r>
              <a:t>The conclusion from this is not "connecting a server does not pay". What makes it pay is the thing the cost was paid for: the agent sees the list of operations itself and picks the one it needs. Where there is one operation and it is known in advance, there is no point paying for the list — and that is exactly the criterion the case closes with.</a:t>
            </a:r>
          </a:p>
          <a:p/>
          <a:p>
            <a:r>
              <a:t>What remains is to explain why the full schema is not pulled in straight away. There are many schemas, and only a handful of them will be needed. Deferred loading is the default behavior on current models; it is switched off by an environment variable, and it is sometimes found switched off in somebody else's ready-made settings.</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Let us go back to the co-building screen — the one that was worth remembering. May 2025, the analysis by Invariant Labs.</a:t>
            </a:r>
          </a:p>
          <a:p/>
          <a:p>
            <a:r>
              <a:t>A developer's agent goes into the tracker under a personal token with permissions for all repositories, including the private ones. The attacker sets up an ordinary-looking issue in a public repository: gather data about this user's other repositories and publish it here. The developer asks the agent to deal with the open issues — a completely routine request. The agent honestly reads the issues; the instruction built into the text gets into the context as a task, and for the model it is indistinguishable from yours. It then reads the private repositories and publishes their contents in an automatically created public draft edit.</a:t>
            </a:r>
          </a:p>
          <a:p/>
          <a:p>
            <a:r>
              <a:t>There is not a single line of exploit code in this story. There is no vulnerability number either, and that is not an omission: there is nothing to fix — this is an architectural class, the bundle of "broad permissions plus someone else's text", and it is not a hole in anybody's code.</a:t>
            </a:r>
          </a:p>
          <a:p/>
          <a:p>
            <a:r>
              <a:t>Now to our screen. The line "all of the user's repositories, including the private ones" we crossed out in the co-building. Without it the scenario does not go through at all: there is nothing to read, and the attack's first step runs into the key's permissions.</a:t>
            </a:r>
          </a:p>
          <a:p/>
          <a:p>
            <a:r>
              <a:t>The combination that makes a leak like that possible is called the lethal trifecta (Simon Willison, 16 June 2025): access to private data, the processing of untrusted external content, a channel to the outside. With all three present, it is enough for an attacker to write text that the agent will read in the course of ordinary work. Take away at least one leg — and an attack of this type is impossible in principle, not "unlikely".</a:t>
            </a:r>
          </a:p>
          <a:p/>
          <a:p>
            <a:r>
              <a:t>The generalization here weighs more than the example. GitHub stands in the example because our case assembles precisely that bundle — an issue tracker with a personal token. But the trifecta applies to any agent that has access to data, the processing of text and a channel to the outside, irrespective of the particular product. And the agent reads the same flow of someone else's text in which a line of a requirement got lost in the scene: the issues in a tracker are not written by your client alone.</a:t>
            </a:r>
          </a:p>
          <a:p/>
          <a:p>
            <a:r>
              <a:t>A second layer of the same construction does without a model entirely. A vulnerability in the transport was found in an MCP server for databases: CVE-2026-61742, the DBHub server, scored 9.3 out of 10. The HTTP transport by default listens without authentication, and the protection against cross-site requests is bypassed by DNS rebinding. Per a secondary technical analysis — two HTTP requests and zero credentials up to takeover; that figure is taken from the Strix.ai analysis, it is not in the primary record, and it is named with that caveat.</a:t>
            </a:r>
          </a:p>
          <a:p/>
          <a:p>
            <a:r>
              <a:t>DNS rebinding works like this. The DNS name of the attacker's domain first points to his own IP address — so as to pass the check on the request's origin — and then switches to the victim's address. After that the victim's browser considers the request "its own", and the local server executes it. An arbitrary site open in the browser pulls the server's tools directly.</a:t>
            </a:r>
          </a:p>
          <a:p/>
          <a:p>
            <a:r>
              <a:t>The trifecta is not the only route to a leak here: the server itself can turn out to be an unprotected network service, and this case is exactly that. The openness of the protocol does not protect against it — the openness of a protocol and the authentication of a particular server are different things, and that was already noted in the section's base.</a:t>
            </a:r>
          </a:p>
          <a:p/>
          <a:p>
            <a:r>
              <a:t>What follows from the two layers for the file we assembled. A key with permissions for one repository closes the first layer entirely. The second it does not close at all: there the matter is how the server listens to the network, and that is settled by the choice of transport — the very decision that was taken in the co-building.</a:t>
            </a:r>
          </a:p>
          <a:p/>
          <a:p>
            <a:r>
              <a:t>And the answer to the question of why the failure is shown after the decision has been assembled. An assembled decision is only checked by an attempt to break it. A line crossed out without such an attempt is crossed out out of habit — and on the day the habit does not fire, it will not be crossed out.</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conclusion of the case, outright: when MCP is needed and when it is not. Four rows on each side, and the rows are mirrored — one and the same quantity from both ends.</a:t>
            </a:r>
          </a:p>
          <a:p/>
          <a:p>
            <a:r>
              <a:t>Needed — when access is required regularly, from several sessions, and a snapshot as of this morning is already not enough. Needed — when you are prepared to maintain one more permanently running process with access to secrets. Needed — when there is more than one operation, the list of them is growing, and the agent itself decides which one to reach for in the moment: it is precisely for that list that the standing cost is paid, and a server is justified exactly when the list is worth its price. And needed — only if the connection does not complete the third element of the lethal trifecta.</a:t>
            </a:r>
          </a:p>
          <a:p/>
          <a:p>
            <a:r>
              <a:t>Not needed — in the mirror cases. Access is one-off or rare: a snapshot of the data is enough. There is no readiness to maintain a live process: a one-off call is more reliable than a process nobody services. The task comes down to one known CLI call: a list of capabilities is surplus here, and the thirty-two-fold difference in tokens is not going anywhere. And if the connection completes the trifecta — that is a stop criterion at once, with no deliberation.</a:t>
            </a:r>
          </a:p>
          <a:p/>
          <a:p>
            <a:r>
              <a:t>The columns are named outright, with the words "needed" and "not needed", and that was done deliberately. Formulations like "too early" or "not needed at all" invite you to guess which stage of the decision is being discussed, and they hide the answer behind a shade of meaning. There is one question here: is a server needed for this task or not.</a:t>
            </a:r>
          </a:p>
          <a:p/>
          <a:p>
            <a:r>
              <a:t>The right column refers to the task. There is no verdict on the mechanism itself in it: the same server is surplus for one piece of work and necessary for the next, and that is settled anew every time, by the four rows of the left column.</a:t>
            </a:r>
          </a:p>
          <a:p/>
          <a:p>
            <a:r>
              <a:t>The mirroring of the rows works here as a check: every right-hand row is obtained from the left-hand one by negating one quantity, and nothing else. The first pair measures frequency, the second readiness to keep a process, the third the number of operations, the fourth the composition of the trifecta. If your case does not fit either side of some pair, then the quantity has been named inaccurately, and it is the quantity you have to deal with, not the conclusion.</a:t>
            </a:r>
          </a:p>
          <a:p/>
          <a:p>
            <a:r>
              <a:t>How to apply the criterion to your own project today: take one action you repeat by hand every week and walk down the four rows of the left column. If even one of them does not hold, the connection can wait. The answer meanwhile changes over time, and more often towards "needed": a one-off action becomes a regular one imperceptibly — exactly as, in our scene, carrying an issue over from the tracker became a habit in a month.</a:t>
            </a:r>
          </a:p>
          <a:p/>
          <a:p>
            <a:r>
              <a:t>A separate case — the trifecta is complete and the access is needed anyway. Then you break the trifecta. Narrow the permissions down to one repository, remove the channel to the outside, move the reading of someone else's text into a separate session with no access to private data — any one of the three legs is enough, and you pick the one that comes cheaper for the work.</a:t>
            </a:r>
          </a:p>
          <a:p/>
          <a:p>
            <a:r>
              <a:t>And the discipline after connecting, without which the criterion runs out of breath in a month: re-read the configuration periodically and remove the servers that are not used. Every forgotten server is at once a tax on the context, an attack surface, and a holder of keys.</a:t>
            </a:r>
          </a:p>
          <a:p/>
          <a:p>
            <a:r>
              <a:t>There is access to the outside, and there is something with which to prove the agent uses it. The next question is what being connected costs in itself, while nobody has reached for the server at all.</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section's second case begins at a moment when nothing has happened yet. The session is open, not a single question has been asked of the agent — and part of the context is already taken.</a:t>
            </a:r>
          </a:p>
          <a:p/>
          <a:p>
            <a:r>
              <a:t>It is not taken up by the conversation: there is no conversation yet. Nor by the project's files, although they are lying there too. Four connected servers described themselves at start-up — that is how the connection we assembled in the section's first case is built. The client, on starting up, asks every server what it can do, and puts what it receives into the context, before a person's first question and independently of it.</a:t>
            </a:r>
          </a:p>
          <a:p/>
          <a:p>
            <a:r>
              <a:t>Over the whole task this person will reach for one server out of the four. The cost has been paid for all four.</a:t>
            </a:r>
          </a:p>
          <a:p/>
          <a:p>
            <a:r>
              <a:t>The turn of the case is worth naming right away, because it argues directly with a widespread intuition. The intuition says: "I pay for what I use; a server the agent never reached for costs me nothing." The check says the opposite: the cost is paid by being connected. A server that was not reached for even once in a session costs the same as a working one. And it is paid anew in every session — every morning, at every opening.</a:t>
            </a:r>
          </a:p>
          <a:p/>
          <a:p>
            <a:r>
              <a:t>The difference from the section's first case runs along what is being settled. The first settled what to connect, with what permissions, and what to prove with that the agent really does go through what is connected. This one is about the count: what the server's mere presence in the project costs while nobody is reaching for it, and what that cost is reduced with, without disconnecting what is needed.</a:t>
            </a:r>
          </a:p>
          <a:p/>
          <a:p>
            <a:r>
              <a:t>From the slide about the standing cost in the first case, this case differs in scale and in composition. There the cost is named and measured on one server — as the price of the decision to connect. Here there are several servers, half of them were added to the project by another person, and the question stands differently: what to do about it when you cannot disconnect them and when the choice was not yours.</a:t>
            </a:r>
          </a:p>
          <a:p/>
          <a:p>
            <a:r>
              <a:t>The objection "but the context is large" turns up here almost always and is dealt with concretely later in the case: how much exactly the definitions take up in the measured case, and at what moment a large context stops being enough.</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issue tracker in the project connection file is his own, from the section's first case. He assembled it: he listed the operations, crossed out the surplus permissions, hid the key in an environment variable, chose the project scope so that the connection would travel together with the repository to the whole team.</a:t>
            </a:r>
          </a:p>
          <a:p/>
          <a:p>
            <a:r>
              <a:t>Three more servers were added to the same file by a colleague, for his own work: a browser-control server, a server for access to a database, a documentation server. The scope is the project's — which means those three got connected at his place too, at the same moment he once again opened a session in his own repository. The property that had been paid for deliberately came back from its other side: a connection travels with the repository in both directions.</a:t>
            </a:r>
          </a:p>
          <a:p/>
          <a:p>
            <a:r>
              <a:t>What he noticed. On a long edit the agent compacted the conversation noticeably earlier than it had on the same kind of task a week before, and after the compaction it re-asked what they had agreed at the start. Compaction is a standard thing: when the context fills up, the conversation gets condensed, and some of the detail is replaced by a paraphrase of it. What was noticeable here was the shift in the moment: the condensing came earlier than usual.</a:t>
            </a:r>
          </a:p>
          <a:p/>
          <a:p>
            <a:r>
              <a:t>What it is made up of. He looked at what lies in the context before his first question: the system part from the client, the project's instruction files, the tool definitions of four servers. In the other person's lines of the connection file he found the field </a:t>
            </a:r>
            <a:r>
              <a:rPr>
                <a:latin typeface="Consolas"/>
              </a:rPr>
              <a:t>alwaysLoad: true</a:t>
            </a:r>
            <a:r>
              <a:t> on two servers. It cancels the deferred loading of definitions: all of those servers' tools are described at start-up in full. The colleague set the flag for an understandable reason — so that the tools would not get lost and would be available at once.</a:t>
            </a:r>
          </a:p>
          <a:p/>
          <a:p>
            <a:r>
              <a:t>The cost. An hour spent going over the decisions lost in the compaction again: what has already been agreed, what has been reversed, which of the two options was chosen. One edit had managed to go out into the branch on a decision he had already reversed by then — it had to be rolled back separately.</a:t>
            </a:r>
          </a:p>
          <a:p/>
          <a:p>
            <a:r>
              <a:t>The count. Over the whole task he reached for one server out of four. The cost was paid for four.</a:t>
            </a:r>
          </a:p>
          <a:p/>
          <a:p>
            <a:r>
              <a:t>The scene is a teaching one, like every scene in the seminar: the project is real, the situation is assembled out of typical ones. The shares of the context in it are deliberately not named — the measured numbers come later in the case and always with a source, because a teaching estimate passed off as a measurement would cost more than the absence of a number. The field </a:t>
            </a:r>
            <a:r>
              <a:rPr>
                <a:latin typeface="Consolas"/>
              </a:rPr>
              <a:t>alwaysLoad: true</a:t>
            </a:r>
            <a:r>
              <a:t>, meanwhile, was not invented for the scene: it is in the documentation, and the documentation names its cost outright — every tool described up front takes up room that would otherwise have gone to the conversation.</a:t>
            </a:r>
          </a:p>
          <a:p/>
          <a:p>
            <a:r>
              <a:t>Asserting that the compaction came precisely because of the servers is not possible from one observation, and the scene does not assert it. Compaction comes when the context is full; tool definitions are one of the items filling it, taken up before the work begins. The share of each item is different for everyone and is checked the same way he checked it.</a:t>
            </a:r>
          </a:p>
          <a:p/>
          <a:p>
            <a:r>
              <a:t>The colleague's right to add to that file raises no questions: the file is one, it lies in the repository under shared version control, and an edit to it is an ordinary commit. The project scope is the project's precisely for that. Choosing it in the first case meant buying exactly that property: the connection arrives together with the repository, and nobody has to assemble it again. Its side effect is visible here — everyone who opens a session pays with context, including those who do not need those servers in any task at all.</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starts with two numbers of your own. How many servers are connected in your working project — and how many of them did you reach for over the last working week? Both numbers can be found out in a minute: the list of connected servers opens with one command, and the calls made over a week a person remembers themselves. The difference between those numbers is that part of the count the whole case is about, only your own rather than out of the scene.</a:t>
            </a:r>
          </a:p>
          <a:p/>
          <a:p>
            <a:r>
              <a:t>The setting of the scene is presented in full on the two previous screens: four servers connected by the project file, two of them loading definitions forcibly, one of them needed over the task. The question introduces not one new circumstance and asks about two steps — what gets put first and what gets added to it next.</a:t>
            </a:r>
          </a:p>
          <a:p/>
          <a:p>
            <a:r>
              <a:t>Five cards: nothing — the context is large, it will do; disconnect the servers you do not use; leave them connected, but get the definitions on demand; keep a set of servers for the task, not a shared project one; compact the conversation more often.</a:t>
            </a:r>
          </a:p>
          <a:p/>
          <a:p>
            <a:r>
              <a:t>The two-step form of the question was chosen because the answer here is a sequence. The cards look like mutually exclusive options, and with a single choice the discussion degenerates into an argument about which of them is better.</a:t>
            </a:r>
          </a:p>
          <a:p/>
          <a:p>
            <a:r>
              <a:t>The answers distribute predictably, and every distribution means something of its own.</a:t>
            </a:r>
          </a:p>
          <a:p/>
          <a:p>
            <a:r>
              <a:t>More often than the rest people name "disconnect the surplus" and "get the definitions on demand" — roughly equally. That is a working division: both measures act, and they cost different amounts. One requires knowing in advance what will be needed in this session; the other requires nothing and is often already on by default. The breakdown shows that these are two steps of one sequence with different costs, and puts them in order.</a:t>
            </a:r>
          </a:p>
          <a:p/>
          <a:p>
            <a:r>
              <a:t>"Compact the conversation more often" comes up almost always and is mistaken about the mechanics. Compaction works on the history of the conversation; tool definitions arrive anew in every new context, separately from the history, and they do not go away with compaction.</a:t>
            </a:r>
          </a:p>
          <a:p/>
          <a:p>
            <a:r>
              <a:t>"Let the colleague remove his own servers" is a legitimate move and a fragile one. The colleague needs those servers exactly as much as the first person needs the tracker, and the project file is one for everybody. That move leads precisely to the fourth card: the set of servers gets divided up by scopes, and the argument about somebody else's lines becomes unnecessary.</a:t>
            </a:r>
          </a:p>
          <a:p/>
          <a:p>
            <a:r>
              <a:t>"Nothing — the context is large" is picked rarely, and it is worth saying out loud: "nothing" is exactly what happens by default for everyone who has never looked at what their session's context is made up of before the first question. The option nobody picks turns out to be the most widespread in practice.</a:t>
            </a:r>
          </a:p>
          <a:p/>
          <a:p>
            <a:r>
              <a:t>The count from the scene is useful to keep in mind throughout the breakdown: over the task the calls went to one server, and the cost was paid for four.</a:t>
            </a:r>
          </a:p>
          <a:p/>
          <a:p>
            <a:r>
              <a:t>If your own two numbers were not to hand, they are worth collecting before the breakdown: the list of connected servers opens with one command, and the calls over a week are counted from memory. Until that difference is named in whole numbers, the case reads as somebody else's.</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It is worth beginning the breakdown with the thought carried into the turn of the case three screens earlier: being connected is what pays. It applies to all five options at once, and that is why the question "who was using what" does not reduce the count — it only reduces the feeling of guilt over somebody else's lines.</a:t>
            </a:r>
          </a:p>
          <a:p/>
          <a:p>
            <a:r>
              <a:t>"Nothing — the context is large" is unnoticeable on a short task, and that is true: while the conversation is short, the reserve is enough. The cost meanwhile has already been paid and holds for the whole session. On a long task it turns into a shift in the moment of compaction: the conversation gets condensed earlier, and some of the decisions taken go into a paraphrase. What pays for that is the middle of the work, when going back to the beginning is most expensive.</a:t>
            </a:r>
          </a:p>
          <a:p/>
          <a:p>
            <a:r>
              <a:t>"Disconnect the servers you do not use" removes the cost entirely, and it is a strong move: a server that is not connected has neither tool names nor instructions about itself in the context. The price is that you need to know in advance what will be needed. A needed server that has been disconnected brings back that very work by hand the section's first case began with: open the tracker in a browser, copy, carry it over, retell it to the agent.</a:t>
            </a:r>
          </a:p>
          <a:p/>
          <a:p>
            <a:r>
              <a:t>"Get the definitions on demand" leaves the tool names and the server's short instructions about itself at start-up; the model pulls in a tool's full schema once it has decided the tool will be needed. This is the default behavior on current models — which means the action here is a checking one: you look at whether the deferral has been cancelled by a flag on an individual server or by an environment variable. The check costs a minute and breaks nothing.</a:t>
            </a:r>
          </a:p>
          <a:p/>
          <a:p>
            <a:r>
              <a:t>"Keep a set of servers for the task" works through the connection scopes: the personal scope gives a set for your own work, while the shared project file stays the team's. The price is a second record of what is connected: the divergence between the personal and the project set has to be kept in your head and remembered when working out somebody else's fault.</a:t>
            </a:r>
          </a:p>
          <a:p/>
          <a:p>
            <a:r>
              <a:t>"Compact the conversation more often" frees up the room taken by the history, and it does not apply to tool definitions at all: they arrive anew in every context, separately from the history. A useful measure, but it has no effect on this line item of the expenditure.</a:t>
            </a:r>
          </a:p>
          <a:p/>
          <a:p>
            <a:r>
              <a:t>Hence the order, and it matters more than the choice of a single card. First check the loading mode of the definitions: that costs nothing, requires no agreement with the team and does not require knowing what will be needed in the next task — and it closes half the count at once. Then work through the set of servers by scope: that is real work, it gets done once, and it requires both agreement and a notion of your own tasks.</a:t>
            </a:r>
          </a:p>
          <a:p/>
          <a:p>
            <a:r>
              <a:t>Cleaning somebody else's servers out of the project file is possible, and sometimes it is the right decision — but it is a team decision. The colleague needs them as much as the first person needs the tracker. The personal scope closes the same question without breaking anything for anybody, and so it comes earlier in the order of actions.</a:t>
            </a:r>
          </a:p>
          <a:p/>
          <a:p>
            <a:r>
              <a:t>Disconnecting everything altogether and connecting as needed is a working mode for solitary work and a bad one for shared work. A connection from the project file arrives together with the repository precisely so that nobody has to assemble their environment again and so that the composition of what is connected is the same for everyone working out one fault.</a:t>
            </a:r>
          </a:p>
          <a:p/>
          <a:p>
            <a:r>
              <a:t>It is worth noting that the two working measures act on different parts of the count and therefore add up. The check on the mode reduces how much every connected server's definitions take up. The work on the set reduces the number of connected servers. Done together they give a result that neither of them gives on its own: short definitions for a small number of servers that are needed.</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cause of the compaction is to be found before the conversation begins. Here is what is sitting in the context by the moment you have not yet asked anything, and where each line item arrives from.</a:t>
            </a:r>
          </a:p>
          <a:p/>
          <a:p>
            <a:r>
              <a:t>The system part — from the client. Its own instructions and the definitions of its own tools: reading files, editing, searching, running commands. That line item is always there and does not depend on the connected servers.</a:t>
            </a:r>
          </a:p>
          <a:p/>
          <a:p>
            <a:r>
              <a:t>The project's instruction files — from the repository. Their composition was assembled over the three previous classes, and there is no point breaking it down again; here they are needed as a neighboring line item of expenditure, one that takes up room in the same context.</a:t>
            </a:r>
          </a:p>
          <a:p/>
          <a:p>
            <a:r>
              <a:t>From every connected server two things arrive. The first is the names of all of its tools. The second is the server's instructions about itself: a short text that the server sends in full, one for the whole server. Both items arrive by the fact of connection, with no relation at all to whether anyone reached for the server or not. The length of both is limited: the client truncates both each tool's definition and each server's instructions at 2,048 characters, and the limit is changed by the variable </a:t>
            </a:r>
            <a:r>
              <a:rPr>
                <a:latin typeface="Consolas"/>
              </a:rPr>
              <a:t>CLAUDE_CODE_MAX_MCP_DESCRIPTION_LENGTH</a:t>
            </a:r>
            <a:r>
              <a:t>. The limit here is no accident: without it one talkative server would take up the context single-handed.</a:t>
            </a:r>
          </a:p>
          <a:p/>
          <a:p>
            <a:r>
              <a:t>Full tool schemas do not arrive at start-up. The documentation describes this outright: deferred loading keeps the spend on MCP low by deferring tool definitions until the moment they are needed; at the start of a session only tool names and server instructions are loaded. A particular tool's schema the model pulls in by a separate move, once it has decided the tool may be needed. This is the default behavior on current models, and it is exactly what makes a fourth connected server tolerable.</a:t>
            </a:r>
          </a:p>
          <a:p/>
          <a:p>
            <a:r>
              <a:t>Two mechanisms cancel the deferral, and both are worth knowing by name.</a:t>
            </a:r>
          </a:p>
          <a:p/>
          <a:p>
            <a:r>
              <a:t>The field </a:t>
            </a:r>
            <a:r>
              <a:rPr>
                <a:latin typeface="Consolas"/>
              </a:rPr>
              <a:t>alwaysLoad: true</a:t>
            </a:r>
            <a:r>
              <a:t> on an individual server in the connection file loads all of its schemas at once, regardless of the general mode. That is the very flag that was found in somebody else's lines. The documentation names its cost outright: every tool described up front takes up room that would otherwise have gone to the conversation.</a:t>
            </a:r>
          </a:p>
          <a:p/>
          <a:p>
            <a:r>
              <a:t>The environment variable </a:t>
            </a:r>
            <a:r>
              <a:rPr>
                <a:latin typeface="Consolas"/>
              </a:rPr>
              <a:t>ENABLE_TOOL_SEARCH</a:t>
            </a:r>
            <a:r>
              <a:t> governs the mode as a whole. Unset, it means deferral — the default behavior. The value </a:t>
            </a:r>
            <a:r>
              <a:rPr>
                <a:latin typeface="Consolas"/>
              </a:rPr>
              <a:t>false</a:t>
            </a:r>
            <a:r>
              <a:t> cancels the deferral completely: all definitions are loaded at once. The value </a:t>
            </a:r>
            <a:r>
              <a:rPr>
                <a:latin typeface="Consolas"/>
              </a:rPr>
              <a:t>auto</a:t>
            </a:r>
            <a:r>
              <a:t> turns on a threshold mode: definitions are loaded at once while they take up less than ten percent of the context, and are deferred once the threshold is reached; the form </a:t>
            </a:r>
            <a:r>
              <a:rPr>
                <a:latin typeface="Consolas"/>
              </a:rPr>
              <a:t>auto:N</a:t>
            </a:r>
            <a:r>
              <a:t> sets your own percentage instead of ten.</a:t>
            </a:r>
          </a:p>
          <a:p/>
          <a:p>
            <a:r>
              <a:t>When there is no deferral, the count runs on the full schemas, and the measured order of magnitude is known: 93 tool definitions come to between 42,000 and 55,000 tokens, about 21 percent of a context of 200,000 tokens. The same figure stands in the section's first case as the cost of a connection. Here it is visible in which mode it adds up, and that is an important caveat: 42–55 thousand is the upper bound for the mode without deferral. By default a session comes cheaper, and by how much exactly depends on how many tools were actually needed over that session.</a:t>
            </a:r>
          </a:p>
          <a:p/>
          <a:p>
            <a:r>
              <a:t>This can be checked at your own place with two looks. The list of connected servers and their state is given by the status command; a server's card inside a session shows what exactly it described about itself. The value of the variable is checked in the same place you look at the rest of the project's environment. An exact count of tokens per server those two looks do not give — the quantity has to be taken from an external measurement, and it is named above precisely as an order of magnitude.</a:t>
            </a:r>
          </a:p>
          <a:p/>
          <a:p>
            <a:r>
              <a:t>A separate axis of expenditure that it is useful not to confuse with this one: the size of a call's result. A tool's definition is the cost of being connected; a tool's answer is the cost of one call. Different line items, they grow independently, and the measures against them are different.</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Four lines of the decision, and the first two are a check; they change no settings.</a:t>
            </a:r>
          </a:p>
          <a:p/>
          <a:p>
            <a:r>
              <a:t>The first. In the connection file </a:t>
            </a:r>
            <a:r>
              <a:rPr>
                <a:latin typeface="Consolas"/>
              </a:rPr>
              <a:t>.mcp.json</a:t>
            </a:r>
            <a:r>
              <a:t>, </a:t>
            </a:r>
            <a:r>
              <a:rPr>
                <a:latin typeface="Consolas"/>
              </a:rPr>
              <a:t>alwaysLoad: true</a:t>
            </a:r>
            <a:r>
              <a:t> has been removed from two servers: the definitions of their tools arrive on demand again. The flag has a legitimate use, and banning it altogether would be unreasonable — a tool that is needed at literally every step is cheaper to describe once at start-up than to pull its schema in before every call. So the flag is left on one such tool, and next to it is written down which one and why. An exception with no reason written down is, a month later, indistinguishable from an accidental line, and the next person will either wipe it out blindly or be afraid to touch it.</a:t>
            </a:r>
          </a:p>
          <a:p/>
          <a:p>
            <a:r>
              <a:t>The second. In the project's environment, </a:t>
            </a:r>
            <a:r>
              <a:rPr>
                <a:latin typeface="Consolas"/>
              </a:rPr>
              <a:t>ENABLE_TOOL_SEARCH</a:t>
            </a:r>
            <a:r>
              <a:t> is not set to </a:t>
            </a:r>
            <a:r>
              <a:rPr>
                <a:latin typeface="Consolas"/>
              </a:rPr>
              <a:t>false</a:t>
            </a:r>
            <a:r>
              <a:t>. This is a check on one value, and it costs a minute. A threshold value of the form </a:t>
            </a:r>
            <a:r>
              <a:rPr>
                <a:latin typeface="Consolas"/>
              </a:rPr>
              <a:t>auto:10</a:t>
            </a:r>
            <a:r>
              <a:t> is a sensible compromise for those who care about the speed of the first call: while the definitions take up less than the named share of the context, they are loaded at once, and once the threshold is reached they go into deferral.</a:t>
            </a:r>
          </a:p>
          <a:p/>
          <a:p>
            <a:r>
              <a:t>The third line lives on the side of the server itself. In the start-up command, only the toolsets needed are passed: </a:t>
            </a:r>
            <a:r>
              <a:rPr>
                <a:latin typeface="Consolas"/>
              </a:rPr>
              <a:t>--toolsets repos,issues</a:t>
            </a:r>
            <a:r>
              <a:t> instead of the full set. GitHub's official server explains the purpose of that flag in its own words: enabling only the sets you need helps the model with tool choice and reduces the size of the context. A server that can hand over its tools in sets removes part of the cost before it reaches the client.</a:t>
            </a:r>
          </a:p>
          <a:p/>
          <a:p>
            <a:r>
              <a:t>Here too is the caveat about how fresh the flags are, and this is a verified case with the number of a change request and a date. That same GitHub server had a mode for issuing sets on demand: the flag </a:t>
            </a:r>
            <a:r>
              <a:rPr>
                <a:latin typeface="Consolas"/>
              </a:rPr>
              <a:t>--dynamic-toolsets</a:t>
            </a:r>
            <a:r>
              <a:t>, the environment variable </a:t>
            </a:r>
            <a:r>
              <a:rPr>
                <a:latin typeface="Consolas"/>
              </a:rPr>
              <a:t>GITHUB_DYNAMIC_TOOLSETS</a:t>
            </a:r>
            <a:r>
              <a:t> and three service tools for listing and enabling sets. In the description of version 1.0.0 the word </a:t>
            </a:r>
            <a:r>
              <a:rPr>
                <a:latin typeface="Consolas"/>
              </a:rPr>
              <a:t>dynamic</a:t>
            </a:r>
            <a:r>
              <a:t> occurs eleven times; starting with version 1.1.0 — not once, and it is not in the code either. The mode was deleted by a single change request in May 2026: twenty-four files, fifty-one lines added, nine hundred and forty-two removed. The reason named by the author is maintenance debt and the fact that the mode worked only locally — the remote server never offered it. There is no conclusion "the idea does not work" in the request, and it must not be imputed to it.</a:t>
            </a:r>
          </a:p>
          <a:p/>
          <a:p>
            <a:r>
              <a:t>The lesson from that caveat is a general one, and it is about the ordinary fate of a flag. A search still returns the page for the previous version, it reads as current instructions, and there is no way to tell it from current ones by its look. It is checked in one way: open the description of the server's current version and find the flag there.</a:t>
            </a:r>
          </a:p>
          <a:p/>
          <a:p>
            <a:r>
              <a:t>The fourth line is the only one that requires work. The servers for one's own personal work are moved into the personal connection scope: the same user settings file that was broken down when the choice was where to put the key. The project file stays the team's, and nobody throws the other person's servers out of it. Keeping everything in the project file is simpler while everybody's sets coincide; the moment the work diverges, the shared file charges each person for all the kinds of work at once — exactly what happened in the scene.</a:t>
            </a:r>
          </a:p>
          <a:p/>
          <a:p>
            <a:r>
              <a:t>In the scene everything was arranged the other way round: the flag was set, one person set it, and everyone who opened a session paid.</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Now the same thing beyond this project, with sources. Four cases, each read in the primary source.</a:t>
            </a:r>
          </a:p>
          <a:p/>
          <a:p>
            <a:r>
              <a:t>It is worth beginning with what is not in those sources.</a:t>
            </a:r>
          </a:p>
          <a:p/>
          <a:p>
            <a:r>
              <a:rPr b="1"/>
              <a:t>This story is often retold as companies abandoning MCP — sometimes with the names of large companies attached. In the primary sources that is not confirmed in a single case. What is confirmed is something else: tool definitions were taken off the start of the context, and the servers stayed.</a:t>
            </a:r>
            <a:r>
              <a:t> Not one of the teams that has a public primary source on this topic dropped the protocol or removed its servers; for the names that circulate in the retelling, no public statement on the topic was found at all — neither confirming nor refuting.</a:t>
            </a:r>
          </a:p>
          <a:p/>
          <a:p>
            <a:r>
              <a:t>In the protocol's own author it is said verbatim: the move in its place is to "present MCP servers as code APIs". The servers stay where they are, and what changes is the way their definitions reach the model. The refusal in all four cases below concerns exactly one practice — loading the definitions of all the tools into the context in advance.</a:t>
            </a:r>
          </a:p>
          <a:p/>
          <a:p>
            <a:r>
              <a:t>The first case: the problem was named by the protocol's own author. "Tool definitions overload the context window" — that is how his own analysis in the engineering blog opens, published on 4 November 2025. The move proposed in its place is this: present servers as a code interface that the agent reads on demand off the file system, instead of enumerating the tools directly. In the example analyzed in the article the spend falls from 150,000 tokens to 2,000. The example is a specific one — two named servers — and the method of measurement is not disclosed on the page, so as an order of magnitude it is useful, while as an industry norm it does not read. The servers stay where they are in that move: what changes is the way the definitions reach the model.</a:t>
            </a:r>
          </a:p>
          <a:p/>
          <a:p>
            <a:r>
              <a:t>The second case: the count on five servers, from the same vendor's documentation. A set of GitHub, Slack, Sentry, Grafana and Splunk takes up about 55,000 tokens of definitions before the work begins. Deferred loading removes more than 85 percent of that spend, pulling in the 3–5 tools a particular request needs. This is an independent confirmation of the figure that stands in the section's first case as the cost of a connection — now from a second source. The same page names a second boundary, a non-monetary one: the accuracy of tool choice drops once there are more than 30–50 available tools.</a:t>
            </a:r>
          </a:p>
          <a:p/>
          <a:p>
            <a:r>
              <a:t>The third case: a team cut its own set. There were 40 built-in tools, and 13 core ones were kept — and the result was measured on two sets of tasks with two models: the success rate grew by 2–5 percentage points. The same page states a hard limit on the platform: no more than 128 tools per single request, and past that the request is rejected. The publication is dated 19 November 2025.</a:t>
            </a:r>
          </a:p>
          <a:p/>
          <a:p>
            <a:r>
              <a:t>The fourth case is the opposite, and it stands last deliberately. Another team tried loading tools on demand and declined it. Two reasons are named. Tool definitions lie at the start of the context, so any change of the set in the middle of the work wipes the cache for everything that comes after. And the model gets confused when earlier steps refer to a tool that is no longer in the current set. The move in its place is to mask the surplus tools, leaving their definitions where they are.</a:t>
            </a:r>
          </a:p>
          <a:p/>
          <a:p>
            <a:r>
              <a:t>Hence the practical conclusion, and it is more modest than one would like. The industry has no identical answer: the fourth row is the direct opposite of the first three, and both positions are backed by practice that works. What remains to be done in a situation like that is to look at which mode the definitions are loaded in at your place, and to keep the set to the task. Those are the two actions that work under any of the four approaches.</a:t>
            </a:r>
          </a:p>
          <a:p/>
          <a:p>
            <a:r>
              <a:t>The boundary of "30–50 tools" deserves separate attention, because it is more expensive than the monetary one. An overflowing context costs tokens, and that is visible in the bill. A drop in the accuracy of choice means the agent takes an unsuitable tool — that is visible in the result of the work, while the bill stays silent. A mistake with no line in the bill takes the longest to find.</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direct answer to the question of how many servers to keep connected consists of three conditions and four prohibitions.</a:t>
            </a:r>
          </a:p>
          <a:p/>
          <a:p>
            <a:r>
              <a:t>Keeping a server connected in the project file is worth it when it is needed in most of this project's sessions and the team uses it. When the definitions of its tools arrive on demand, and this has been checked. And when it has as many toolsets as the task needs, while the rest the server keeps switched off.</a:t>
            </a:r>
          </a:p>
          <a:p/>
          <a:p>
            <a:r>
              <a:t>Four things are never worth doing.</a:t>
            </a:r>
          </a:p>
          <a:p/>
          <a:p>
            <a:r>
              <a:t>Keeping in the shared project file what one person needs. There is a personal connection scope for that, and it settles the same question without charging everybody else.</a:t>
            </a:r>
          </a:p>
          <a:p/>
          <a:p>
            <a:r>
              <a:t>Setting the flag that forces definitions to load without writing the reason down next to it. A month later it is somebody else's line with no explanation, and the next person will either wipe it out blindly or not touch it out of caution. Neither of the two is a solution.</a:t>
            </a:r>
          </a:p>
          <a:p/>
          <a:p>
            <a:r>
              <a:t>Relying on a flag found by a search. Flags appear and disappear; the page for the previous version reads as current instructions and is indistinguishable from them by its look. It is checked against the description of the server's current version.</a:t>
            </a:r>
          </a:p>
          <a:p/>
          <a:p>
            <a:r>
              <a:t>And the fourth, which is worth the rest put together: believing that a large context settles the question. The accuracy of tool choice drops once there are more than 30–50 available tools, and overflow has nothing to do with it. Overflow costs tokens and is visible in the bill; an unsuitable tool chosen is visible only in the result of the work, and the bill stays silent about it.</a:t>
            </a:r>
          </a:p>
          <a:p/>
          <a:p>
            <a:r>
              <a:t>The limit of 30–50 refers to tools, not to servers, and that divergence is worth keeping in mind. One server brings ten tools, and it brings forty. The count is therefore kept in tools while the decisions are taken in servers — connect, disconnect, move into the personal scope. In the gap between the two units of counting it is easy to come up short: four servers sounds modest, and there may be a hundred and fifty tools standing behind them.</a:t>
            </a:r>
          </a:p>
          <a:p/>
          <a:p>
            <a:r>
              <a:t>The set is worth reviewing on an event: when a new server is added and when the project's task changes. The same structural criterion worked in the section's first case. A server that is needed rarely but genuinely lives in the personal scope and is connected for the duration of the work with it: the cost is paid for being connected, so disconnected it costs nothing.</a:t>
            </a:r>
          </a:p>
          <a:p/>
          <a:p>
            <a:r>
              <a:t>How it ended for the developer from the scene: the two forced-loading flags were removed, he moved his own servers into the personal scope, and what stayed in the project file is what the whole team needs. The compaction on the next long task came later — the only thing he measured, and there will be no invented percentage here.</a:t>
            </a:r>
          </a:p>
          <a:p/>
          <a:p>
            <a:r>
              <a:t>There are five files in the project's configuration now: to the four the class began with, </a:t>
            </a:r>
            <a:r>
              <a:rPr>
                <a:latin typeface="Consolas"/>
              </a:rPr>
              <a:t>.mcp.json</a:t>
            </a:r>
            <a:r>
              <a:t> has been added. It gave the agent hands — under permissions we crossed out ourselves, with a check we know how to carry out, and at a cost we can now see. The agent's context meanwhile is one and finite, and tool definitions in it are one line item of the expenditure. The next question is what does not fit into that context anyway, once there is more work.</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agent already has access to the outside: a server hands it what was not in the repository. The second move runs the other way — part of the work goes to a separate worker with a context of its own, and that costs zero lines of configuration.</a:t>
            </a:r>
          </a:p>
          <a:p/>
          <a:p>
            <a:r>
              <a:t>The connection to the previous section is a direct one, although the moves point in different directions. Access to the outside increases what the agent is able to do by itself in one sitting: it looks at the open issues itself, reads the documentation itself, checks the state of the external system itself. Along with the volume of work grows the volume of reading that the work pulls into the session's context. The limit for the two moves is shared — the room in the context; and the first move spends it faster than an agent locked inside the repository would.</a:t>
            </a:r>
          </a:p>
          <a:p/>
          <a:p>
            <a:r>
              <a:t>The rung's first decision point is the cost of a search that is needed in order to carry on with the work right here. The proportion in the title describes it in full: forty files have to be opened, and four of them are the places that matter. The numbers are not fitted to the conclusion — they come from a working situation that is broken down three screens from now: an ordinary product in which one rule has spread across the codebase over two years, and a developer who, before making an edit, needs a list of the places where that rule is checked.</a:t>
            </a:r>
          </a:p>
          <a:p/>
          <a:p>
            <a:r>
              <a:t>The pair of numbers in the title measures one thing that is easy not to notice: the volume of reading has no relation to the size of the conclusion. The conclusion here is four addresses, and it can be written in one line; to obtain it, forty files have to be opened. That lack of relation is what makes the decision point a decision point: if the volume of reading were proportional to the size of the answer, the question "where to put all that reading" would not arise at all — you would have to read exactly as much as the result weighs. The track at the bottom of the screen shows that this is the first of the rung's three breakdowns; the two that follow stand on other reasons for setting up a subagent.</a:t>
            </a:r>
          </a:p>
          <a:p/>
          <a:p>
            <a:r>
              <a:t>And here too it is worth naming the guess that comes to almost everyone at this point: a separate worker will simply read those forty files faster. Remember it. The breakdown will check it with a count of files, and it will not be confirmed — this case's turn rests on precisely that guess, and it works only if the guess is spoken before the breakdown. A guess that has been suppressed comes back whole a week later, so it is worth saying out loud.</a:t>
            </a:r>
          </a:p>
          <a:p/>
          <a:p>
            <a:r>
              <a:t>The question "why" is asked before the question "what is it" deliberately: the construction of a subagent, read without a reason, is remembered as a description of a file format. The next two screens answer "what is it" — how an agent differs from a subagent, what each one's context is made of, and how a subagent is built piece by piece. The scene, the question and the breakdown come after them.</a:t>
            </a:r>
          </a:p>
          <a:p/>
          <a:p>
            <a:r>
              <a:t>About the cost of the move itself it is worth saying in advance, so that "zero lines of configuration" does not read as "zero cost". Setting up a subagent really does cost zero settings: one file in the repository, and it is already working. What you pay is scale — multi-agent work comes more expensive than an ordinary chat, and the figure for that stands as the sixth block on the subagent one-pager.</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Two words stand side by side from here on all the time, and they are worth separating right away. </a:t>
            </a:r>
            <a:r>
              <a:rPr b="1"/>
              <a:t>The agent</a:t>
            </a:r>
            <a:r>
              <a:t> is what works in your session and what you talk to. </a:t>
            </a:r>
            <a:r>
              <a:rPr b="1"/>
              <a:t>A subagent</a:t>
            </a:r>
            <a:r>
              <a:t> is a separate worker whom the agent calls for one task. The third word is </a:t>
            </a:r>
            <a:r>
              <a:rPr b="1"/>
              <a:t>context</a:t>
            </a:r>
            <a:r>
              <a:t>: what the agent or the subagent holds with it while it works.</a:t>
            </a:r>
          </a:p>
          <a:p/>
          <a:p>
            <a:r>
              <a:t>The upper tier of the diagram answers the question the whole count begins with: what gets into the context at start-up and from where. There are four sources.</a:t>
            </a:r>
          </a:p>
          <a:p/>
          <a:p>
            <a:r>
              <a:t>The first is brought by the harness — the environment the agent works in: the system part, which states what tools there are, how to answer and what is forbidden. The second is brought by the repository: the project's instruction files, </a:t>
            </a:r>
            <a:r>
              <a:rPr>
                <a:latin typeface="Consolas"/>
              </a:rPr>
              <a:t>CLAUDE.md</a:t>
            </a:r>
            <a:r>
              <a:t> and </a:t>
            </a:r>
            <a:r>
              <a:rPr>
                <a:latin typeface="Consolas"/>
              </a:rPr>
              <a:t>AGENTS.md</a:t>
            </a:r>
            <a:r>
              <a:t>, at every level — from the root down to the folder the work is going on in. The third is brought by the connected servers: the tool names and the server's instructions, across all the servers, before your first question. That is the very standing cost the seminar's previous section measured in tokens. The fourth source is the conversation: the task, the agent's answers, and the contents of every file it has read.</a:t>
            </a:r>
          </a:p>
          <a:p/>
          <a:p>
            <a:r>
              <a:t>Three of the four sources arrive before your first line. You did not write them and did not choose them; they have already taken up the room. Of the four only the last one grows — with every file the agent has opened. Hence a property that looks strange in the work: the context runs out earlier than the length of the conversation would suggest.</a:t>
            </a:r>
          </a:p>
          <a:p/>
          <a:p>
            <a:r>
              <a:t>The bars of the four sources are drawn the same width, and that is a decision, not styling. The seminar has no measured share for each: the standing cost of the connected servers is measured in tokens and as a share of the context, while the other three sources nobody has measured over a sample. A scale with proportions set by eye would read as a measurement that never happened.</a:t>
            </a:r>
          </a:p>
          <a:p/>
          <a:p>
            <a:r>
              <a:t>The lower tier is who holds that context. There are three boxes here, and the comparison between them carries the whole breakdown.</a:t>
            </a:r>
          </a:p>
          <a:p/>
          <a:p>
            <a:r>
              <a:t>On the left, the session the work sits in: that same agent you talk to, and its context — all four bars from above. The edit sits here, and the result of the reading is needed here too: otherwise there is nothing to carry the edit on with. Read forty files here, and the fourth bar will crowd out the task you explained to the agent.</a:t>
            </a:r>
          </a:p>
          <a:p/>
          <a:p>
            <a:r>
              <a:t>In the middle, the subagent the agent called. Its context is its own: the same three upper bars, and in place of the conversation, one task sent as text. Your correspondence is not there. The forty files land there and close along with the subagent, and only the result goes back — and it goes back without you being involved, into the same session the edit sits in. That is the solid gold arrow on the diagram.</a:t>
            </a:r>
          </a:p>
          <a:p/>
          <a:p>
            <a:r>
              <a:t>On the right, a second session, which you opened: its own agent, its own context. The forty files land there, and the working context stays clean — exactly the same thing a subagent gives. But the answer stays there: there is no channel into the working session. You carry it over yourself, by hand and in your own retelling, and the agent making the edit sees only that retelling. That is why the way back is drawn as a dashed line and leads through you. A second session frees up the context and stops at that: it does not carry the work on.</a:t>
            </a:r>
          </a:p>
          <a:p/>
          <a:p>
            <a:r>
              <a:t>Hence three differences between a subagent and a second session, and all three stand on the diagram. The result comes back by itself, into the context the work sits in. A subagent's behavior is set by a file, so the second call repeats the first. And a subagent's permissions can be trimmed down by a list — a second session has no permissions list at all.</a:t>
            </a:r>
          </a:p>
          <a:p/>
          <a:p>
            <a:r>
              <a:t>Several questions arise right here, and the answers to them are short. The agent calls as many subagents as are needed; it is itself single while doing so, and the limit on the number of subagents is broken down in the rung's second case. A subagent does not remember a previous call: every call raises its context from zero, and nothing is carried over between calls. That is the same property read from the other side: the context is single-use and therefore clean, and the rung's first case takes its benefit from precisely that. How to call a subagent — by name or by letting the model choose itself — takes up the whole of the next screen.</a:t>
            </a:r>
          </a:p>
          <a:p/>
          <a:p>
            <a:r>
              <a:t>The bottom line of the canvas is about the portability of the technique: a separate worker with a context of its own exists in several products for working with code, each one's notation is its own, and not one of them has a shared specification. What is portable is the skill, not the syntax.</a:t>
            </a:r>
          </a:p>
          <a:p/>
          <a:p>
            <a:r>
              <a:t>Out of the whole diagram, the count in the next breakdown rests on the gold arrow: the result comes back by itself, to the place the work sits in.</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six parts of a subagent in one screen. All three cases of the rung come back to this screen, so it is simpler to break it down in full once.</a:t>
            </a:r>
          </a:p>
          <a:p/>
          <a:p>
            <a:r>
              <a:rPr b="1"/>
              <a:t>Where it is declared.</a:t>
            </a:r>
            <a:r>
              <a:t> The file </a:t>
            </a:r>
            <a:r>
              <a:rPr>
                <a:latin typeface="Consolas"/>
              </a:rPr>
              <a:t>.claude/agents/&lt;name&gt;.md</a:t>
            </a:r>
            <a:r>
              <a:t> in the repository. On the light card stands an extract from a real subagent file: </a:t>
            </a:r>
            <a:r>
              <a:rPr>
                <a:latin typeface="Consolas"/>
              </a:rPr>
              <a:t>name: diff-reviewer</a:t>
            </a:r>
            <a:r>
              <a:t>, </a:t>
            </a:r>
            <a:r>
              <a:rPr>
                <a:latin typeface="Consolas"/>
              </a:rPr>
              <a:t>tools: Read, Grep, Glob</a:t>
            </a:r>
            <a:r>
              <a:t> — three tools instead of all the available ones. A subagent is called explicitly by the </a:t>
            </a:r>
            <a:r>
              <a:rPr>
                <a:latin typeface="Consolas"/>
              </a:rPr>
              <a:t>name</a:t>
            </a:r>
            <a:r>
              <a:t> field. </a:t>
            </a:r>
            <a:r>
              <a:rPr>
                <a:latin typeface="Consolas"/>
              </a:rPr>
              <a:t>description</a:t>
            </a:r>
            <a:r>
              <a:t> says when to call it and when not to — that is what auto-selection reads. </a:t>
            </a:r>
            <a:r>
              <a:rPr>
                <a:latin typeface="Consolas"/>
              </a:rPr>
              <a:t>tools</a:t>
            </a:r>
            <a:r>
              <a:t> is the permissions list, an optional field. The body of the file is the subagent's system prompt in full, that is, everything it knows about its own work.</a:t>
            </a:r>
          </a:p>
          <a:p/>
          <a:p>
            <a:r>
              <a:rPr b="1"/>
              <a:t>How to call it, and who actually got called.</a:t>
            </a:r>
            <a:r>
              <a:t> An explicit call is </a:t>
            </a:r>
            <a:r>
              <a:rPr>
                <a:latin typeface="Consolas"/>
              </a:rPr>
              <a:t>@agent-&lt;name&gt;</a:t>
            </a:r>
            <a:r>
              <a:t>: it guarantees that particular subagent. The second way is to write nothing, in which case the model chooses, by description. Who was called is visible from the line in the chat: the subagent's name and the task in brackets. If </a:t>
            </a:r>
            <a:r>
              <a:rPr>
                <a:latin typeface="Consolas"/>
              </a:rPr>
              <a:t>general-purpose</a:t>
            </a:r>
            <a:r>
              <a:t> stands there instead of a name, the subagent was not called at all — the choice never reached it.</a:t>
            </a:r>
          </a:p>
          <a:p/>
          <a:p>
            <a:r>
              <a:t>The routing is decided by the description, and that is worth reading literally: the model looks at </a:t>
            </a:r>
            <a:r>
              <a:rPr>
                <a:latin typeface="Consolas"/>
              </a:rPr>
              <a:t>description</a:t>
            </a:r>
            <a:r>
              <a:t> as the condition "when to call this subagent and when not to". It does not interpret the name, so the word "reviewer" inside a name means nothing to auto-selection. Hence the practical conclusion: a subagent's description is written as a list of occasions to call it. A job title does not work in it.</a:t>
            </a:r>
          </a:p>
          <a:p/>
          <a:p>
            <a:r>
              <a:t>The line in the chat proves exactly one thing: the harness decided to call this subagent. It does not confirm that its work was correct — that is a separate question, with a check of its own. What it does do is separate two cases that look identical from the outside: "the subagent worked wrongly" and "the subagent was never called". Without that line people confuse the two and fix the wrong thing.</a:t>
            </a:r>
          </a:p>
          <a:p/>
          <a:p>
            <a:r>
              <a:rPr b="1"/>
              <a:t>What arrives on the input.</a:t>
            </a:r>
            <a:r>
              <a:t> Four things. The subagent's system prompt — the body of its file, not the harness's prompt in full. The task, formulated by the calling session in its own words: your line does not get there verbatim. The hierarchy of instruction files — </a:t>
            </a:r>
            <a:r>
              <a:rPr>
                <a:latin typeface="Consolas"/>
              </a:rPr>
              <a:t>CLAUDE.md</a:t>
            </a:r>
            <a:r>
              <a:t> and </a:t>
            </a:r>
            <a:r>
              <a:rPr>
                <a:latin typeface="Consolas"/>
              </a:rPr>
              <a:t>AGENTS.md</a:t>
            </a:r>
            <a:r>
              <a:t> at every level. And a snapshot of the repository as of start-up.</a:t>
            </a:r>
          </a:p>
          <a:p/>
          <a:p>
            <a:r>
              <a:t>The correspondence of the session that called the subagent is not on the input. Neither are the files that session's agent has read, nor its auto-memory. A channel for them simply does not exist, and the discipline of whoever wrote the subagent has nothing to do with it — that is the construction. For the same reason the agent does not see the subagent's intermediate actions: the task is handed over once, the result comes back once, and there is no dialogue between those two events.</a:t>
            </a:r>
          </a:p>
          <a:p/>
          <a:p>
            <a:r>
              <a:rPr b="1"/>
              <a:t>What goes back.</a:t>
            </a:r>
            <a:r>
              <a:t> Only the result — the final text. Not one of the tool calls the subagent made along the way is visible to the calling session. The channel is one-way.</a:t>
            </a:r>
          </a:p>
          <a:p/>
          <a:p>
            <a:r>
              <a:rPr b="1"/>
              <a:t>The permissions — the three states of the `tools` entry.</a:t>
            </a:r>
            <a:r>
              <a:t> Intuition usually confuses these three outcomes, so they are worth keeping side by side. The field is absent entirely: the subagent gets all the tools available to subagents — the opposite of what an empty space suggests. The list is specified and empty: the subagent gets not one tool and yet stays alive — it starts, reads the task and answers with what it can do by itself. The entry does not resolve: the harness does not start the subagent at all. From the outside that looks like the absence of the subagent itself — and the permissions have nothing to do with it any more.</a:t>
            </a:r>
          </a:p>
          <a:p/>
          <a:p>
            <a:r>
              <a:t>Taking a permission away in part is not possible with this mechanism. "Read everything except one directory" cannot be written that way: the list works at the level of a whole tool, not of an individual action inside it. If you need exactly that boundary, it is held by a different mechanism.</a:t>
            </a:r>
          </a:p>
          <a:p/>
          <a:p>
            <a:r>
              <a:t>It is also worth knowing about the exception that is easy to confuse with an ordinary call. There is a mode that inherits everything in full — the same prompt, the same permissions, the whole history; in the documentation it is called a fork. It has no isolation of the context, so the saving a subagent is set up for does not arise in that mode at all. It is not used in this class.</a:t>
            </a:r>
          </a:p>
          <a:p/>
          <a:p>
            <a:r>
              <a:rPr b="1"/>
              <a:t>What it is paid for with.</a:t>
            </a:r>
            <a:r>
              <a:t> Multi-agent work comes about fifteen times more expensive than an ordinary chat — this is the harness provider's own estimate, and on the screen it stands with that attribution. There are no measurements over a sample behind it, so it is worth using as an order of magnitude: a subagent is a move that pays in tokens for a freed-up context.</a:t>
            </a:r>
          </a:p>
          <a:p/>
          <a:p>
            <a:r>
              <a:t>The permissions field itself is not assembled in this class: the rung's three breakdowns run along other decision points. Its real values are named where the declaration of a subagent was broken down; what each of the three states gives is named where the permissions themselves were.</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protagonist is the same one who set up the hook and the skill here over two classes in a row. The scene is a different one: the product he works in every day — plans, members, two years of migrations. The task of the day is an ordinary one: set up a "Team" plan, twenty members instead of five.</a:t>
            </a:r>
          </a:p>
          <a:p/>
          <a:p>
            <a:r>
              <a:t>In the morning he opens a session and spends some fifteen minutes explaining the task: what the plan is called, who can get it, what to do with old accounts, which cases to check. They are going to do the editing right here — the whole count that follows rests on that.</a:t>
            </a:r>
          </a:p>
          <a:p/>
          <a:p>
            <a:r>
              <a:t>Before editing, a list is needed: where the limit on members is checked at all. Miss one place, and the new plan will pass the config and run into a check nobody remembers any more.</a:t>
            </a:r>
          </a:p>
          <a:p/>
          <a:p>
            <a:r>
              <a:t>The agent searches and finds four places: the middleware when a member is added, the plans config, a separate migration for accounts created before the pricing tiers were changed, and a client-side component with the same check for the case where the server is unavailable. There are fifteen migrations over two years, and the limit changed in three — all fifteen have to be paged through. More than forty files opened, some twenty minutes of reading.</a:t>
            </a:r>
          </a:p>
          <a:p/>
          <a:p>
            <a:r>
              <a:t>He says: now edit it per this list. And the agent re-asks what it had been told that morning: what the plan is called and how many members are in it.</a:t>
            </a:r>
          </a:p>
          <a:p/>
          <a:p>
            <a:r>
              <a:t>It is worth examining what has been paid for here. The list is correct, the reading went quickly, and there was not one mistake. Forty files fit into the context whole and crowded out the task the session had been opened for. This is the second miss from the start of the class, presented in full: what was needed fit inside and crowded the work out.</a:t>
            </a:r>
          </a:p>
          <a:p/>
          <a:p>
            <a:r>
              <a:t>The cost is half an hour, although the reading was twenty minutes, and the difference between those numbers matters. Twenty minutes were spent on the work itself: the list was needed, and without it the edit comes out incomplete. Half an hour went on saying what had already been said again and getting back into interrupted work. That is the only part of the day that did not have to be spent.</a:t>
            </a:r>
          </a:p>
          <a:p/>
          <a:p>
            <a:r>
              <a:t>Next, the objection that comes up here first: why did he not open a second session and ask there? The answer rests on where the edit sits. The editing will be done by this session, and the list is needed by the agent that is doing the editing. A second session will give the answer and keep it to itself: it has no channel into the working session. You do the carrying over, in your own retelling, and the agent edits by that retelling. The condition about the old accounts is the first thing to fall out of a retelling — it is long, dull, and at the moment of carrying over it looks secondary. That option is broken down in full two screens from now, together with four others.</a:t>
            </a:r>
          </a:p>
          <a:p/>
          <a:p>
            <a:r>
              <a:t>The second objection: then move the whole of the work into a second session? That is the same count, paid in advance. The task was explained here — those very fifteen minutes; explaining it a second time in a new session means paying exactly the loss we are counting. Moving house does not save anything, it shifts the expenditure to the beginning.</a:t>
            </a:r>
          </a:p>
          <a:p/>
          <a:p>
            <a:r>
              <a:t>The third: could he not have known where to look straight away? In a product where a rule has been changed over years by small edits — he could not. Documentation that would hold all four points in one place has never existed here. Setting it up after the fact costs more than reading forty files once.</a:t>
            </a:r>
          </a:p>
          <a:p/>
          <a:p>
            <a:r>
              <a:t>What remains is to say why the scene does not run in the seminar's demo repository. It has fewer than ten files, and a forty-file scene there would have been fitted to the conclusion; it would not have made the conclusion any more correct. The protagonist is the same, the project is different, and that is said on the screen in the first line.</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It is worth starting with an edit of your own. Who, in the past month, had an edit where finding the places turned out to cost more than fixing them — and how many files did you have to open to find the ones you needed? Almost everyone who has worked in someone else's project has an edit like that, and the number of files named works better from then on than any example.</a:t>
            </a:r>
          </a:p>
          <a:p/>
          <a:p>
            <a:r>
              <a:t>The question of the case rests on exactly that: what to edit is known, where to edit sits in forty files, of which four are needed. There are five cards: read all forty files yourself, in this same session; open a second session, ask there and carry the list over by hand; call in a colleague who has worked with the pricing plans for a long time; hand it to a subagent — it reads in its own context and brings back the list of places; edit from memory, without searching.</a:t>
            </a:r>
          </a:p>
          <a:p/>
          <a:p>
            <a:r>
              <a:t>Picking a card is half the work. The other half is saying what it wins by against the other four. The grounds weigh more here than the choice: on the next screen the count of files tests precisely the reason the card was taken for.</a:t>
            </a:r>
          </a:p>
          <a:p/>
          <a:p>
            <a:r>
              <a:t>Not many answers get said to a question like this, and each one is worth going through.</a:t>
            </a:r>
          </a:p>
          <a:p/>
          <a:p>
            <a:r>
              <a:rPr b="1"/>
              <a:t>"A subagent — because it is faster."</a:t>
            </a:r>
            <a:r>
              <a:t> The usual first guess, and it comes to almost everyone. Say it to yourself in full — "a separate worker will read forty files faster than I will" — and keep it ready. The next screen tests it by counting, and it does not pass the test. The breakdown, read without the guess having been said, stays a report of a fact; with the guess, it changes the picture, and this case rests on exactly that.</a:t>
            </a:r>
          </a:p>
          <a:p/>
          <a:p>
            <a:r>
              <a:rPr b="1"/>
              <a:t>"A second session."</a:t>
            </a:r>
            <a:r>
              <a:t> The option that occurs first to anyone who works in two tabs; it is worth taking seriously. One thing has to be added to it: what happens after the answer has been received. The answer to that is almost always the same — "I'll carry it over." That word is what gets examined further on: carrying it over is done by a person, and it costs time and precision.</a:t>
            </a:r>
          </a:p>
          <a:p/>
          <a:p>
            <a:r>
              <a:rPr b="1"/>
              <a:t>"A colleague."</a:t>
            </a:r>
            <a:r>
              <a:t> The only option able to answer in a minute, if the colleague is fresh on the subject, and the only one that depends on somebody else's schedule. It is not in the list for completeness: in live work this is a frequent and frequently correct move.</a:t>
            </a:r>
          </a:p>
          <a:p/>
          <a:p>
            <a:r>
              <a:rPr b="1"/>
              <a:t>The answer that is not on the cards</a:t>
            </a:r>
            <a:r>
              <a:t> — "ask whoever wrote this", "look in the commit history", "write the question down as a skill for later". Such answers are legitimate: the cards set the field of choice, they are not its boundary. The commit history, for instance, will narrow the search if the rule changed through explicit edits with intelligible messages, and will not help if it crept outward through refactorings.</a:t>
            </a:r>
          </a:p>
          <a:p/>
          <a:p>
            <a:r>
              <a:t>Picking two cards is allowed too, and in live work that is what people do: first a subagent, then a short conversation with whoever wrote those migrations. In that case it is worth naming which of the two comes first and why — the order changes the cost here.</a:t>
            </a:r>
          </a:p>
          <a:p/>
          <a:p>
            <a:r>
              <a:t>If no edit of your own comes to mind, it is worth choosing from the scene on the previous screen — and then checking separately how much the choice depends on the edit and the search sitting in the same session.</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It is worth starting from what was said. "Faster" — that gets tested by counting, row by row.</a:t>
            </a:r>
          </a:p>
          <a:p/>
          <a:p>
            <a:r>
              <a:rPr b="1"/>
              <a:t>Read it yourself, in this same session.</a:t>
            </a:r>
            <a:r>
              <a:t> What it gives: full control over what gets read and in what order. What it costs: the session's context is taken up by the contents of forty files, of which four are needed for the edit; the other thirty-six sit in it as dead weight until the session ends.</a:t>
            </a:r>
          </a:p>
          <a:p/>
          <a:p>
            <a:r>
              <a:rPr b="1"/>
              <a:t>A second session.</a:t>
            </a:r>
            <a:r>
              <a:t> What it gives: the working context stays clean, the forty files land in somebody else's. What it costs: the list will have to be carried over by hand, and the agent will edit from your retelling. The condition about the old accounts is the first thing to fall out of a retelling.</a:t>
            </a:r>
          </a:p>
          <a:p/>
          <a:p>
            <a:r>
              <a:rPr b="1"/>
              <a:t>A colleague.</a:t>
            </a:r>
            <a:r>
              <a:t> What it gives: the only option that can answer in a minute, if the person is fresh on the subject. What it costs: the only option that depends on somebody else's schedule — it is decided by whether they are free right now.</a:t>
            </a:r>
          </a:p>
          <a:p/>
          <a:p>
            <a:r>
              <a:rPr b="1"/>
              <a:t>A subagent.</a:t>
            </a:r>
            <a:r>
              <a:t> What it gives: the forty files are opened and closed in a separate, single-use context, and the list comes back on its own, into the same session. What it costs: it does not get faster.</a:t>
            </a:r>
          </a:p>
          <a:p/>
          <a:p>
            <a:r>
              <a:rPr b="1"/>
              <a:t>Edit from memory.</a:t>
            </a:r>
            <a:r>
              <a:t> What it gives: instantly. What it costs: the fourth place, the client-side check, is not remembered by everyone who wrote it.</a:t>
            </a:r>
          </a:p>
          <a:p/>
          <a:p>
            <a:r>
              <a:t>Now about "faster" — here is the turn of the whole case. The subagent opens all forty files and reads them through. The twenty minutes of reading from the scene stay twenty minutes: not a single line is read faster because another process is reading it. Forty files are forty files, wherever they are read.</a:t>
            </a:r>
          </a:p>
          <a:p/>
          <a:p>
            <a:r>
              <a:t>Let us take this all the way, because this is where the guess breaks. While the subagent is reading forty files, you are waiting — the same twenty minutes you would have waited reading them in your own session. Delegation does not shorten the wait and never promised to shorten it: it changes the place the reading ends up in. That is exactly why the test of the guess is a count of files and not a measurement of speed: the reading speed is identical in both options by construction, and there is nothing to argue about there.</a:t>
            </a:r>
          </a:p>
          <a:p/>
          <a:p>
            <a:r>
              <a:t>The gain lies in two other places, and they are worth naming precisely. First: the reading stays in the subagent's context, and that context closes along with the subagent — in the working session nothing is left of the forty files but four addresses. Second: the list comes back to where the edit sits, on its own, without your retelling. A second session gives you the first of the two and leaves the second to you.</a:t>
            </a:r>
          </a:p>
          <a:p/>
          <a:p>
            <a:r>
              <a:t>From there comes the answer to "why set up a subagent at all, then, if the time is the same". For the sake of what stays available further on in this same session. The twenty minutes of reading went into the work — the list was needed. The half hour of explaining everything a second time did not have to be spent at all, and that is exactly what a subagent saves. The saving is counted in what is left in the context after the answer; the minutes of reading do not enter that count at all.</a:t>
            </a:r>
          </a:p>
          <a:p/>
          <a:p>
            <a:r>
              <a:t>The objection "retelling is nothing, I'll just copy the whole answer across" is settled by arithmetic. Copy it whole and the working context receives exactly what you were getting away from, plus your time spent on the transfer. The shorter what you carry over, the more of it is lost; the longer it is, the less point there was in taking the reading away. No middle ground is provided for in that count.</a:t>
            </a:r>
          </a:p>
          <a:p/>
          <a:p>
            <a:r>
              <a:t>The objection "and what if you launch several subagents at once, is it faster then?" — yes, and that is the second case of this rung in its entirety. What gets faster there is a queue of several independent tasks; the reading of one question stays the same. For a single search across forty files there is no gain in time at any number of subagents.</a:t>
            </a:r>
          </a:p>
          <a:p/>
          <a:p>
            <a:r>
              <a:t>And about the colleague, put in a row of their own even though they are not a tool. In real life they are the first candidate and often the right one, and the row is there so that this gets said directly: otherwise the option looks forgotten, and the choice between four machine methods starts to look complete.</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harness documentation on how context works gives its own example: the subagent read 6,100 tokens of files, you got a 420-token result — that is the context saving. An order of magnitude of difference, and the direction is the same one we arrived at by counting: the forty files stay in the subagent's context, only the result comes into the session.</a:t>
            </a:r>
          </a:p>
          <a:p/>
          <a:p>
            <a:r>
              <a:t>The nature of this number is worth naming directly. It is one illustrative scenario, invented by the author of the documentation in order to explain the mechanism. It is not a measurement over many runs, and there is no sample of real sessions behind it.</a:t>
            </a:r>
          </a:p>
          <a:p/>
          <a:p>
            <a:r>
              <a:t>Next to it stands an honest gap, and the seminar names it directly. How much context delegation really saves compared with the same work in the main session, measured over a sample of sessions, was not found in any source. The example does not close that gap — it illustrates it with a number.</a:t>
            </a:r>
          </a:p>
          <a:p/>
          <a:p>
            <a:r>
              <a:t>So why show an illustration at all. The direction and the order of magnitude are real and are held up by the mechanics of the previous screen: forty files stay where they were read, a short list goes back. What would be dishonest is to serve an illustration as a statistic silently; named for what it is, it works as a bearing. As a proof it does not work.</a:t>
            </a:r>
          </a:p>
          <a:p/>
          <a:p>
            <a:r>
              <a:t>In our scene the ratio is the same in meaning: forty files going in, four addresses coming out, and in the working session's context only the addresses remain. The documentation's numbers speak about the same arrangement, just on their own example.</a:t>
            </a:r>
          </a:p>
          <a:p/>
          <a:p>
            <a:r>
              <a:t>It is worth saying separately how a number like this goes on living. It is lifted out of the documentation into a retelling, in the retelling the caption "the author's example" is lost, and two steps later it sounds like a measured saving. If you meet "delegation saves an order of magnitude of context" with no indication of where that was measured, you are most likely holding a retelling of a retelling of exactly this example. The check is simple: a measurement has a sample, a method and a spread; an illustration has one number.</a:t>
            </a:r>
          </a:p>
          <a:p/>
          <a:p>
            <a:r>
              <a:t>What would count as an honest measurement is worth saying precisely — it is work any one of you could do on your own project. The same question, run in two modes over a sample of real sessions: reading in the working session against delegation, with the share of context taken up measured in both. No such work exists in open sources, and that is exactly the figure the course is missing.</a:t>
            </a:r>
          </a:p>
          <a:p/>
          <a:p>
            <a:r>
              <a:t>About the convenience of the numbers themselves. The ratio of 6,100 to 420 was picked by the author to suit the illustration, and the caption on screen says so. What is worth trusting is the order of magnitude — a difference of tens of times; the second significant digit means nothing here, and there is no point arguing about it.</a:t>
            </a:r>
          </a:p>
          <a:p/>
          <a:p>
            <a:r>
              <a:t>And the dependency that makes the number manageable. The saving depends directly on the size of the subagent's answer. A subagent asked to come back with a short conclusion comes back with hundreds of tokens; a subagent asked to retell what it read will come back with thousands, and the saving is eaten by the format of the answer. The same consideration is what the criterion closing this case grows out of: what you have to look at is what will be left in the context after the answer.</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subagent's context is cleaner than yours and at the same time it is not clean of everything. It does get its own prompt and a fresh start, and together with them, by default, the definitions of every connected server in full — including those its task does not need a single tool from. This is the third band on the base diagram: it gets inherited.</a:t>
            </a:r>
          </a:p>
          <a:p/>
          <a:p>
            <a:r>
              <a:t>Verbatim from the troubleshooting documentation: subagents inherit every MCP tool definition from the calling session, and that can fill their context before the first turn; disable the MCP servers you are not using before you spawn subagents.</a:t>
            </a:r>
          </a:p>
          <a:p/>
          <a:p>
            <a:r>
              <a:t>Let us apply that to the scene. The protagonist is looking for the places where the limit on members is checked — work entirely inside the repository, with not a single reach outside. If the issue tracker and the documentation server from the previous section of the seminar are connected in his session, the subagent will get their definitions for free: room in its context is taken before it has opened the first file.</a:t>
            </a:r>
          </a:p>
          <a:p/>
          <a:p>
            <a:r>
              <a:t>How much that costs the seminar has already measured: the standing cost of connected servers was named in tokens and as a share of the context in the previous section. What matters here is something else: that cost is paid once more, separately, into the context of every subagent set up. Five subagents — five times.</a:t>
            </a:r>
          </a:p>
          <a:p/>
          <a:p>
            <a:r>
              <a:t>There is no contradiction with the previous two screens; both statements are about one contract. The focus works for the contents of the repository: the forty files really do stay in the subagent's context and close along with it. This screen names what enters the contract in addition and by default, over and above the wishes of whoever wrote the subagent. The saving remains; it is counted with a caveat.</a:t>
            </a:r>
          </a:p>
          <a:p/>
          <a:p>
            <a:r>
              <a:t>What to do about it. Connected servers are watched by the same subagent tool list that stands as the fifth block on the one-pager: the subagent's permissions list also decides what will end up in its context. There is a reverse technique to the same mechanics as well: a subagent can declare the server it needs for itself — the server comes up when the subagent starts and is switched off when it finishes, and the calling session's context never sees its definitions at all. For a heavy server needed by one task, that is cheaper than keeping it connected for the whole session.</a:t>
            </a:r>
          </a:p>
          <a:p/>
          <a:p>
            <a:r>
              <a:t>Two moves of the seminar converge here, and they do not converge in favor of carelessness. Access to the outside widens what the agent can do; the cost of that widening is paid in every session and now in every subagent as well. The more servers are connected, the more expensive every delegation becomes — and it becomes more expensive silently, because this is visible on no screen of the work: the subagent simply starts with less room.</a:t>
            </a:r>
          </a:p>
          <a:p/>
          <a:p>
            <a:r>
              <a:t>The order of actions that comes out of this is short. Before setting up a subagent for a bulk read, it is worth looking at what is connected in the session and switching off whatever you are not using today: switching off applies to the session, and therefore to every subagent it will call.</a:t>
            </a:r>
          </a:p>
          <a:p/>
          <a:p>
            <a:r>
              <a:t>The mechanics of hooks and skills are their own thing here, and the seminar does not break them down. One thing is enough: switching off unneeded servers is a deliberate move before a subagent is set up. A single tidy-up at the start of the day does not replace it, because a session accumulates servers as the work goes on, and by midday more is usually connected than you remember.</a:t>
            </a:r>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Delegating the reading makes sense when what has to be brought out of dozens of files is a short conclusion: a fact, a yes or no, a list of places a few lines long that the work then proceeds from. Forty files of searching and four files of editing — exactly this case.</a:t>
            </a:r>
          </a:p>
          <a:p/>
          <a:p>
            <a:r>
              <a:t>If you are going to have to work with the whole volume you read — a refactoring that touches those same forty files — you will have to read them in any case, and doing that in your own context is then part of the work itself: it is you who will be working with those contents next.</a:t>
            </a:r>
          </a:p>
          <a:p/>
          <a:p>
            <a:r>
              <a:t>The boundary between the two situations runs along a single question: do you need the whole material further on, or the addresses inside it. The protagonist needed four places out of forty files, and the contents of the other thirty-six would never have been of use to him again. A refactoring of those same forty is a different matter: there the contents are the subject of the work, and no short conclusion comes out of them.</a:t>
            </a:r>
          </a:p>
          <a:p/>
          <a:p>
            <a:r>
              <a:t>The rule this folds into: what we set up for the sake of the context is decided by what will be left in the context after the answer. The number of files opened has no bearing on that decision.</a:t>
            </a:r>
          </a:p>
          <a:p/>
          <a:p>
            <a:r>
              <a:t>And the axis line the case stood for. Intuition said: a separate worker will read faster. The test showed: forty files stay forty files and the same length of time, and two things change — whose context holds them and where the result comes back to on its own.</a:t>
            </a:r>
          </a:p>
          <a:p/>
          <a:p>
            <a:r>
              <a:t>The question about yourself, and it is worth carrying out to the end. Name a place in your own project where, before an edit, you have to search across dozens of files and what you find is three or four lines. Named it — that is your first candidate for delegation. Now test it against the second point: are you going to be editing those same dozens of files, or the lines you found? If the first — the candidate drops out, and it drops out rightly.</a:t>
            </a:r>
          </a:p>
          <a:p/>
          <a:p>
            <a:r>
              <a:t>About the boundary from the previous screen: the same principle applies to it too. Connect unnecessary servers to a subagent and only the result will still come back, but the subagent's context will be taken up earlier and harder than it needs to be. The criterion stays in force; what this sharpens is the size of the saving itself.</a:t>
            </a:r>
          </a:p>
          <a:p/>
          <a:p>
            <a:r>
              <a:t>Separately — the format of the subagent's answer, which is easy to take for a presentational detail. Asking a subagent to come back with a retelling of what it read instead of a conclusion is technically possible, and that is where the saving ends: a subagent told to retell forty files will return those same forty files into your context, only in its own words. Exactly the same arithmetic as with a second session: the longer what comes back, the less point there was in taking the reading away. The format of the subagent's answer is part of the criterion.</a:t>
            </a:r>
          </a:p>
          <a:p/>
          <a:p>
            <a:r>
              <a:t>And the general shape of the rule beyond this case. A subagent is a means of managing what sits in the context; everything it gives and everything it costs is read off that one property. The next two cases of this rung will add two other reasons to set one up — work in several streams and dividing workers into zones of their own — and each of them is counted the same way: by what is left in the context once the subagent has closed.</a:t>
            </a:r>
          </a:p>
        </p:txBody>
      </p:sp>
      <p:sp>
        <p:nvSpPr>
          <p:cNvPr id="4" name="Slide Number Placeholder 3"/>
          <p:cNvSpPr>
            <a:spLocks noGrp="1"/>
          </p:cNvSpPr>
          <p:nvPr>
            <p:ph type="sldNum" idx="5" sz="quarter"/>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Next — a practical exercise. The task will be a real one, with one deadline and no clarifications, and laying it out will be up to you: first into pieces, then by the dependencies between them. The decision about what to speed it up with is also left to you — on the next two screens it gets taken, and only after that is it tested.</a:t>
            </a:r>
          </a:p>
          <a:p/>
          <a:p>
            <a:r>
              <a:t>The form the task is put in is ordinary to the point of dullness: one sentence and one deadline. No clarifications will follow, nobody attached a breakdown into stages or set priorities inside the task. That is the form in which work arrives most often, and laying it out falls to whoever is doing it: the person who set the task will not do that part for them.</a:t>
            </a:r>
          </a:p>
          <a:p/>
          <a:p>
            <a:r>
              <a:t>There is more than one means of speeding up a task like this. One of them is what this rung is about: a separate worker the agent calls in for a piece of the work. The other four are older than it and on many tasks cheaper. The whole case is about how a choice is made among five means, and the choice here is made by the task itself. Its choice can only be seen once it has been laid out.</a:t>
            </a:r>
          </a:p>
          <a:p/>
          <a:p>
            <a:r>
              <a:t>From that it is clear why the layout comes first — a question that occurs to everyone in a hurry to start. A task taken whole admits one order of work: from beginning to end, piece after piece, in whatever order they come to hand. Laid out, it admits several orders, and among them there are noticeably shorter ones. Until the pieces are named and the dependencies between them checked, the short order is not visible at all — there is nothing to see it with.</a:t>
            </a:r>
          </a:p>
          <a:p/>
          <a:p>
            <a:r>
              <a:t>The decision point is posed as a question deliberately. Almost everyone has an answer to it, and it is half-correct: speeding it up will work, and the means will come from a different direction than expected. A ready-made statement in this spot would take away from the exercise the work it exists for: once you have read the conclusion, you cannot lay the task out with your own hands any more — all that is left is to agree with somebody else's layout. So here there is a question, and the answer to it is assembled as we go.</a:t>
            </a:r>
          </a:p>
          <a:p/>
          <a:p>
            <a:r>
              <a:t>The previous case of this rung answered a different question: what to do when the reading needed for one answer is so much that it does not fit into the session's context. The answer there was a separate worker who reads in its own context and comes back with a short result. Here the question sounds different: there is one task, and its deadline is Monday. The two cases have one thing in common — a separate worker as one of the possible moves; the reasons for setting one up are different, and the boundaries of those reasons are different too. What rescues you on a long read starts getting in the way on short dependent work, and where exactly will become visible further on.</a:t>
            </a:r>
          </a:p>
          <a:p/>
          <a:p>
            <a:r>
              <a:t>The name of the means is not on the divider. A divider names the observable problem and leaves the decision to the case itself — the same convention holds for the seminar's other four dividers. If the word "subagent" came to mind before you reached the cards, there is nothing to correct: it is one card out of five, and we will get to it.</a:t>
            </a:r>
          </a:p>
        </p:txBody>
      </p:sp>
      <p:sp>
        <p:nvSpPr>
          <p:cNvPr id="4" name="Slide Number Placeholder 3"/>
          <p:cNvSpPr>
            <a:spLocks noGrp="1"/>
          </p:cNvSpPr>
          <p:nvPr>
            <p:ph type="sldNum" idx="5" sz="quarter"/>
          </p:nvPr>
        </p:nvSpPr>
        <p:spPr/>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Friday, twenty to six. One sentence appears in the chat: "The form has to be ready for the ad campaign by Monday." That is the whole setup. There will be no clarifications — the author of the sentence has left for the weekend, and until Monday morning there is nobody to ask.</a:t>
            </a:r>
          </a:p>
          <a:p/>
          <a:p>
            <a:r>
              <a:t>The form is the signup form on the landing page from the same project as the previous two classes: the field validation lives in </a:t>
            </a:r>
            <a:r>
              <a:rPr>
                <a:latin typeface="Consolas"/>
              </a:rPr>
              <a:t>src/validate.js</a:t>
            </a:r>
            <a:r>
              <a:t>, the function is called </a:t>
            </a:r>
            <a:r>
              <a:rPr>
                <a:latin typeface="Consolas"/>
              </a:rPr>
              <a:t>validateForm</a:t>
            </a:r>
            <a:r>
              <a:t>, the markup is in </a:t>
            </a:r>
            <a:r>
              <a:rPr>
                <a:latin typeface="Consolas"/>
              </a:rPr>
              <a:t>index.html</a:t>
            </a:r>
            <a:r>
              <a:t>. What exactly "ready for the ad campaign" means is not stated in the setup, and that is part of the task.</a:t>
            </a:r>
          </a:p>
          <a:p/>
          <a:p>
            <a:r>
              <a:t>Now it is worth stopping. The screen below holds the task already laid out, but the layout is the very work this case was assembled for, and reading the answer does not replace it. Take a sheet of paper or an empty file and make the two moves yourself — they pay off on the very next screen. Both moves and the third line that goes with them are written out on the screen itself: they are read and done, not paraphrased.</a:t>
            </a:r>
          </a:p>
          <a:p/>
          <a:p>
            <a:r>
              <a:rPr b="1"/>
              <a:t>Move one.</a:t>
            </a:r>
            <a:r>
              <a:t> What sits in this task? Write it out in pieces — pieces you could pick up and do. Stopping at three is premature: one sentence usually yields more of them than it seems.</a:t>
            </a:r>
          </a:p>
          <a:p/>
          <a:p>
            <a:r>
              <a:rPr b="1"/>
              <a:t>Move two, and it weighs more than the first.</a:t>
            </a:r>
            <a:r>
              <a:t> Against each piece answer three questions. Does it need another piece's result. Does it reach into the same file as its neighbor. Does it repeat after other pieces.</a:t>
            </a:r>
          </a:p>
          <a:p/>
          <a:p>
            <a:r>
              <a:rPr b="1"/>
              <a:t>And the third thing, in one line.</a:t>
            </a:r>
            <a:r>
              <a:t> Write a number: how many workers you would set up for these pieces. The first one that suggests itself, without deliberation. That number will be needed two screens from now, and written down it holds firmer than thought: what is merely thought, everybody corrects after the fact.</a:t>
            </a:r>
          </a:p>
          <a:p/>
          <a:p>
            <a:r>
              <a:t>Let us check against each other.</a:t>
            </a:r>
          </a:p>
          <a:p/>
          <a:p>
            <a:r>
              <a:t>Six pieces come out. The "phone" field with its format check depends on nothing: it is a new field in the markup and a new rule in </a:t>
            </a:r>
            <a:r>
              <a:rPr>
                <a:latin typeface="Consolas"/>
              </a:rPr>
              <a:t>validateForm</a:t>
            </a:r>
            <a:r>
              <a:t>. The error messages that have to be brought to one form live in the </a:t>
            </a:r>
            <a:r>
              <a:rPr>
                <a:latin typeface="Consolas"/>
              </a:rPr>
              <a:t>MESSAGES</a:t>
            </a:r>
            <a:r>
              <a:t> map in that same </a:t>
            </a:r>
            <a:r>
              <a:rPr>
                <a:latin typeface="Consolas"/>
              </a:rPr>
              <a:t>src/validate.js</a:t>
            </a:r>
            <a:r>
              <a:t>. They do not require another piece's result; the file they share is the field's. The text of the data-processing consent depends on nothing and does not touch the validation code at all. Checking the form on a narrow screen comes after the field: until the field exists there is nothing to check. The pre-release run — branch, tests, build — depends on nothing and repeats after every one of the other pieces. The confirmation email to the applicant depends on nothing and does not touch the form's code.</a:t>
            </a:r>
          </a:p>
          <a:p/>
          <a:p>
            <a:r>
              <a:t>Let us count the independent ones. Three out of six. One piece waits for the field to appear. One reaches into the same file as the field. One repeats after every one of the others — that is, it stands in the task five times over, and that distinction from its neighbors matters more than its size.</a:t>
            </a:r>
          </a:p>
          <a:p/>
          <a:p>
            <a:r>
              <a:t>If your list came out different — that is fine and even more useful. Everyone's layout is their own; it depends on how work is customarily cut up in this project, and arguing about its composition is more useful than arguing about the number of pieces. One thing has to hold: that for every piece named, the answer to move two's question gets said. The six rows on the screen stand there as a support; there is nothing to copy off them. If you have eight pieces and the dependencies among them have been checked, the layout is done.</a:t>
            </a:r>
          </a:p>
          <a:p/>
          <a:p>
            <a:r>
              <a:t>The pre-release run deserves a word of its own, because people often forget to count it as work. There is work in it: create the branch, run the tests, build, look at it with your own eyes. It takes time. What distinguishes it from its neighbors is repetition: the other five pieces are done once each, this one after every one of them. One of the five cards on the next screen rests on that distinction, and without it the card would look superfluous.</a:t>
            </a:r>
          </a:p>
          <a:p/>
          <a:p>
            <a:r>
              <a:t>If the list will not come, it is worth approaching from the other end: what has to be done by Monday for the ad campaign to be able to launch. Two of the six pieces get named straight away, the rest follow them, and along the way it turns out that the campaign needs nowhere near everything on the list.</a:t>
            </a:r>
          </a:p>
          <a:p/>
          <a:p>
            <a:r>
              <a:t>If a means got into the list instead of a piece — "I'll hand that to a subagent", "I'll start a second session" — write it down separately and go back to the move. The means is chosen on the next screen; here all that is being settled is what the task consists of. In the reverse order the means gets ahead of the layout, and it is the layout that decides it.</a:t>
            </a:r>
          </a:p>
          <a:p/>
          <a:p>
            <a:r>
              <a:t>Time figures stand against none of the pieces, and that is deliberate: no source of this rung measured how long each of these jobs takes, and a plausible-looking estimate would substitute a feeling for the layout. The independence of the pieces does not depend on duration — it is checked by files and by results, and for choosing a means that is enough.</a:t>
            </a:r>
          </a:p>
        </p:txBody>
      </p:sp>
      <p:sp>
        <p:nvSpPr>
          <p:cNvPr id="4" name="Slide Number Placeholder 3"/>
          <p:cNvSpPr>
            <a:spLocks noGrp="1"/>
          </p:cNvSpPr>
          <p:nvPr>
            <p:ph type="sldNum" idx="5" sz="quarter"/>
          </p:nvPr>
        </p:nvSpPr>
        <p:spPr/>
      </p:sp>
    </p:spTree>
  </p:cSld>
  <p:clrMapOvr>
    <a:masterClrMapping/>
  </p:clrMapOvr>
</p:notes>
</file>

<file path=ppt/notesSlides/notesSlide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It is worth starting from your own. Who has already driven a task through all at once rather than one piece at a time — and with what exactly: several sessions, subagents, a check that runs itself? Whatever means gets named is then tested on the task we laid out: with your own means you can see which piece it worked on, and which piece there was simply nowhere to apply it to.</a:t>
            </a:r>
          </a:p>
          <a:p/>
          <a:p>
            <a:r>
              <a:t>The task is laid out. What do we speed it up with?</a:t>
            </a:r>
          </a:p>
          <a:p/>
          <a:p>
            <a:r>
              <a:t>The choice works like this: one card — and the piece the chosen means works on. A card without a piece does not count, because the whole choice lies in exactly that pair. "Subagents" with no piece named means "subagents everywhere", and the layout screen has just shown that everywhere does not work out for any of the five means.</a:t>
            </a:r>
          </a:p>
          <a:p/>
          <a:p>
            <a:r>
              <a:t>Five means on the screen. The separate worker this rung is about is one of them, the third card from the left. The other four are older than it, and each is cheaper on one of the six pieces. Before reading on, it is worth picking a card and naming a piece, and naming a reason: what the chosen means wins by on that piece. The reason is half the value of the choice, because the mistake here almost always lies somewhere other than in the card, and it is visible only through the reason.</a:t>
            </a:r>
          </a:p>
          <a:p/>
          <a:p>
            <a:r>
              <a:t>Which answers get said to this question more often than others, and what to do with each of them.</a:t>
            </a:r>
          </a:p>
          <a:p/>
          <a:p>
            <a:r>
              <a:rPr b="1"/>
              <a:t>"Subagents, and on all the pieces at once."</a:t>
            </a:r>
            <a:r>
              <a:t> A strong and honest answer, and it is the one said most often. Arguing with it is premature: it is exactly what the breakdown will test. If it came to mind first, that is a good starting point, because the mistake in it does not lie where people usually look for it.</a:t>
            </a:r>
          </a:p>
          <a:p/>
          <a:p>
            <a:r>
              <a:rPr b="1"/>
              <a:t>"Narrow the task down."</a:t>
            </a:r>
            <a:r>
              <a:t> An underrated move, and the only one of the five that removes work altogether instead of speeding it up. It has a condition of its own: narrowing can be done by whoever is answerable for the deadline. In most cases that is not the person doing the work, and then the move turns into a conversation with whoever set the task. That conversation costs less than two working weekends, which is why the move deserves to stand first in the list.</a:t>
            </a:r>
          </a:p>
          <a:p/>
          <a:p>
            <a:r>
              <a:rPr b="1"/>
              <a:t>"Do the pieces one at a time."</a:t>
            </a:r>
            <a:r>
              <a:t> Defensible, and this answer has a real merit: the order is single and predictable, the pieces physically cannot collide with each other. It has one test question — at what number of pieces does it start to lose. The answer is in the arithmetic itself: the waits add up, and the more independent pieces there are in a task, the more expensive a queue turns out to be.</a:t>
            </a:r>
          </a:p>
          <a:p/>
          <a:p>
            <a:r>
              <a:rPr b="1"/>
              <a:t>"Run the pieces in several sessions."</a:t>
            </a:r>
            <a:r>
              <a:t> A working move, and it has a precise place where it stumbles: what happens when two sessions reach the field and the error messages. Both pieces live in one file. That is a separate decision point with its own cost and its own defensive techniques, and it is examined later in the seminar; here it is enough to notice that the overlap on the file exists and that it decides the choice between this card and its neighbor.</a:t>
            </a:r>
          </a:p>
          <a:p/>
          <a:p>
            <a:r>
              <a:rPr b="1"/>
              <a:t>"Move the repeating part into a check that runs itself."</a:t>
            </a:r>
            <a:r>
              <a:t> An answer that comes less often and lands precisely: the pre-release run stands in the task five times over, and there is nothing there for a human to do. The move has a condition too, and the breakdown will name it.</a:t>
            </a:r>
          </a:p>
          <a:p/>
          <a:p>
            <a:r>
              <a:t>Picking two cards is not allowed, and that restriction is deliberate. A card plus a piece is already a full answer, whereas two cards mean two pieces, that is, two layouts at once, and the choice stops meaning anything: with two moves in reserve there will always be some piece on which at least one of them worked.</a:t>
            </a:r>
          </a:p>
        </p:txBody>
      </p:sp>
      <p:sp>
        <p:nvSpPr>
          <p:cNvPr id="4" name="Slide Number Placeholder 3"/>
          <p:cNvSpPr>
            <a:spLocks noGrp="1"/>
          </p:cNvSpPr>
          <p:nvPr>
            <p:ph type="sldNum" idx="5" sz="quarter"/>
          </p:nvPr>
        </p:nvSpPr>
        <p:spPr/>
      </p:sp>
    </p:spTree>
  </p:cSld>
  <p:clrMapOvr>
    <a:masterClrMapping/>
  </p:clrMapOvr>
</p:notes>
</file>

<file path=ppt/notesSlides/notesSlide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Five means and six pieces. Let us go through each means: what it does and where it stops working.</a:t>
            </a:r>
          </a:p>
          <a:p/>
          <a:p>
            <a:r>
              <a:rPr b="1"/>
              <a:t>Do the pieces one at a time.</a:t>
            </a:r>
            <a:r>
              <a:t> The order is single and predictable, the pieces cannot collide. The cost — three independent pieces wait for each other for no reason at all, and the waits add up. On six pieces a queue costs more than any other order, and it is also the only one that never breaks.</a:t>
            </a:r>
          </a:p>
          <a:p/>
          <a:p>
            <a:r>
              <a:rPr b="1"/>
              <a:t>Run the pieces in several sessions.</a:t>
            </a:r>
            <a:r>
              <a:t> The pieces go at the same time, each session has its own context and its own conversation. The move stumbles at the same spot the layout found: the field and the error messages live in one file, </a:t>
            </a:r>
            <a:r>
              <a:rPr>
                <a:latin typeface="Consolas"/>
              </a:rPr>
              <a:t>src/validate.js</a:t>
            </a:r>
            <a:r>
              <a:t>, and two sessions in one folder will both reach it. What fixes that is a separate decision point later in the seminar; here what matters is the fact of the overlap itself, because it decides the choice between this card and its neighbor.</a:t>
            </a:r>
          </a:p>
          <a:p/>
          <a:p>
            <a:r>
              <a:rPr b="1"/>
              <a:t>Hand the pieces out to subagents and launch them at once.</a:t>
            </a:r>
            <a:r>
              <a:t> The concurrency is provided by the harness itself: there is nothing to configure, each subagent has its own context and a short result on the way out. This means works where the parallelism already exists in the task — on the three independent pieces. On the piece that reaches into somebody else's file, two subagents will see different versions of one </a:t>
            </a:r>
            <a:r>
              <a:rPr>
                <a:latin typeface="Consolas"/>
              </a:rPr>
              <a:t>src/validate.js</a:t>
            </a:r>
            <a:r>
              <a:t>; on the piece standing in a queue, the second worker will be waiting for the first and taking up room while it does.</a:t>
            </a:r>
          </a:p>
          <a:p/>
          <a:p>
            <a:r>
              <a:rPr b="1"/>
              <a:t>Move the repeating part into a check that runs itself.</a:t>
            </a:r>
            <a:r>
              <a:t> The pre-release run leaves the queue altogether: it is not a human doing it, and it repeats without the worker's participation as many times as you like. The move has a hard condition: a check like that has to be written in advance and once. On Friday, when the task has already arrived, it will only speed up the next task like it — writing it for this one is too late, and that is the honest price of the move existing at all.</a:t>
            </a:r>
          </a:p>
          <a:p/>
          <a:p>
            <a:r>
              <a:rPr b="1"/>
              <a:t>Narrow the task down.</a:t>
            </a:r>
            <a:r>
              <a:t> The campaign needs the field and the consent — two pieces out of six. The other four do not have to be done by Monday at all, and that is cheaper than any speeding-up. This is decided by whoever is answerable for the deadline, so the move requires a conversation with them.</a:t>
            </a:r>
          </a:p>
          <a:p/>
          <a:p>
            <a:r>
              <a:t>Now the turn the case was assembled for. Not one of the five means speeds up all six pieces. The parallelism lies in the task, and in this one there is exactly three pieces' worth of it: subagents take it where it exists and multiply the error where it does not — on the piece that reaches into somebody else's file, and on the piece standing in a queue behind another.</a:t>
            </a:r>
          </a:p>
          <a:p/>
          <a:p>
            <a:r>
              <a:t>This is where the number written down in the exercise comes in useful. Set it next to the three independent pieces. Most often the number written down is six — one worker per piece — and the discrepancy with three shows what people usually count from: the amount of work they would like to hand out. What has to be counted from is a property of the task.</a:t>
            </a:r>
          </a:p>
          <a:p/>
          <a:p>
            <a:r>
              <a:t>Independence can be checked cheaply and in an engineering way, with no theory at all. Two questions: do the pieces overlap on files, and does one need another's result. Different files and not a single shared dependency — the pieces are independent. The same file, a shared module, "first we rename, then we fix the calls" — dependent, and from then on they are worth reading as one job.</a:t>
            </a:r>
          </a:p>
          <a:p/>
          <a:p>
            <a:r>
              <a:t>The number of workers does not turn out to be beside the point — it stands second. It sets the ceiling of the gain, while the gain itself is given by the independent pieces. Where there is no independence, raising the number of workers changes sign and starts working against you: instead of one job there appear two plus the seam between them. The easiest way to hold it is in this order: first count the independent pieces in the task, then set up workers — exactly as many as the pieces you counted.</a:t>
            </a:r>
          </a:p>
          <a:p/>
          <a:p>
            <a:r>
              <a:t>Where "multiply the error" comes from — from a measurement, which comes later in the case together with its source and the conditions of the experiment. For now the direction is enough: dependent steps, divided between different workers, lose the connection the next step was supposed to see.</a:t>
            </a:r>
          </a:p>
        </p:txBody>
      </p:sp>
      <p:sp>
        <p:nvSpPr>
          <p:cNvPr id="4" name="Slide Number Placeholder 3"/>
          <p:cNvSpPr>
            <a:spLocks noGrp="1"/>
          </p:cNvSpPr>
          <p:nvPr>
            <p:ph type="sldNum" idx="5" sz="quarter"/>
          </p:nvPr>
        </p:nvSpPr>
        <p:spPr/>
      </p:sp>
    </p:spTree>
  </p:cSld>
  <p:clrMapOvr>
    <a:masterClrMapping/>
  </p:clrMapOvr>
</p:notes>
</file>

<file path=ppt/notesSlides/notesSlide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One clarification under the turn, and it changes how the cost of the decision reads.</a:t>
            </a:r>
          </a:p>
          <a:p/>
          <a:p>
            <a:r>
              <a:t>Three subagents on three independent pieces would go at the same time. This is a mechanic of the harness, and there is nothing to configure: from a certain version onward, parallel mode is on in an interactive session by default. The subagent goes into the background, the main session does not wait for it and carries on working. No queue, no flag, no separate setting in the configuration — that is the behavior out of the box.</a:t>
            </a:r>
          </a:p>
          <a:p/>
          <a:p>
            <a:r>
              <a:t>There is a cap, and it stands on concurrency. By default no more than twenty subagents can be running at once; an attempt to set up a twenty-first fails with a separate explicit error — </a:t>
            </a:r>
            <a:r>
              <a:rPr>
                <a:latin typeface="Consolas"/>
              </a:rPr>
              <a:t>Concurrent subagent limit reached</a:t>
            </a:r>
            <a:r>
              <a:t>. There is no overall cap on how many subagents can be called over a whole session at all: two hundred calls in a row, one subagent at a time, will run only into time and money.</a:t>
            </a:r>
          </a:p>
          <a:p/>
          <a:p>
            <a:r>
              <a:t>From this follows a conclusion worth holding on to for the whole rung: concurrency is free. The harness provides it itself, which means the whole cost of the decision falls on the layout. The only thing you can get wrong is how many independent pieces there are in the task — and if you do get it wrong, concurrency will diligently multiply that error, because there is nothing to hold it back.</a:t>
            </a:r>
          </a:p>
          <a:p/>
          <a:p>
            <a:r>
              <a:t>A twenty-first task at a cap of twenty will not get lost and will not wait its turn by itself. The harness refuses with an explicit error, and it will have to be launched by hand once room frees up. There is no silent queue here, and that is a fortunate arrangement: otherwise a twenty-first piece would sit quietly waiting its hour while being counted as checked.</a:t>
            </a:r>
          </a:p>
          <a:p/>
          <a:p>
            <a:r>
              <a:t>The version and the variable, if precision is needed. Parallel mode by default appeared in an interactive session starting from version 2.1.232; the cap is set by the environment variable </a:t>
            </a:r>
            <a:r>
              <a:rPr>
                <a:latin typeface="Consolas"/>
              </a:rPr>
              <a:t>CLAUDE_CODE_MAX_CONCURRENT_SUBAGENTS</a:t>
            </a:r>
            <a:r>
              <a:t>. The version number is deliberately not put on the screen — it goes out of date faster than the fact does, and by the time of reading it has most likely already changed.</a:t>
            </a:r>
          </a:p>
          <a:p/>
          <a:p>
            <a:r>
              <a:t>There is little point in raising the cap right after learning that it exists. Twenty subagents running at once are twenty contexts and twenty bills for tokens, and running into twenty on ordinary work is hard. If you have run into it, the first sensible action is to reread the layout and check whether there really are twenty independent pieces there. More often it turns out there are five, and the other fifteen are pieces cut along the lines of the task description that depend on each other.</a:t>
            </a:r>
          </a:p>
          <a:p/>
          <a:p>
            <a:r>
              <a:t>Visibility is worth mentioning separately, because it is the cost concurrency does take after all. You can see that a background subagent is working, and you can see its result. The course of the work — what it was busy with, what it read, where it hesitated — is not visible. That is the very lost visibility this rung calls the price of delegation. On three independent pieces it hardly gets in the way: each result is checked separately and on its own. On dependent ones it gets in the way badly — that is exactly where you would need to see what one subagent learned before the other, and exactly what cannot be seen.</a:t>
            </a:r>
          </a:p>
        </p:txBody>
      </p:sp>
      <p:sp>
        <p:nvSpPr>
          <p:cNvPr id="4" name="Slide Number Placeholder 3"/>
          <p:cNvSpPr>
            <a:spLocks noGrp="1"/>
          </p:cNvSpPr>
          <p:nvPr>
            <p:ph type="sldNum" idx="5" sz="quarter"/>
          </p:nvPr>
        </p:nvSpPr>
        <p:spPr/>
      </p:sp>
    </p:spTree>
  </p:cSld>
  <p:clrMapOvr>
    <a:masterClrMapping/>
  </p:clrMapOvr>
</p:notes>
</file>

<file path=ppt/notesSlides/notesSlide4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Alongside the two moves already examined stands a third, and up to now it has not appeared in the seminar's materials. The course author uses it constantly in his work: alongside the working session another one is brought up, which is called the orchestrator, and it launches child sessions. The child sessions are full-blown, with their own context and their own terminal; this is an ordinary run of the same tool the person works in.</a:t>
            </a:r>
          </a:p>
          <a:p/>
          <a:p>
            <a:r>
              <a:t>The request this move answers is the same as the subagent's: do the independent pieces at the same time. The two moves diverge on two properties, and both of them decide the choice.</a:t>
            </a:r>
          </a:p>
          <a:p/>
          <a:p>
            <a:r>
              <a:t>The first property is reachability by hand. You cannot walk into a subagent: only the calling session can talk to it, and the person sees the result once the subagent has finished. You can walk into a child session: open it, read what it has got through, add to the task, turn it around halfway. For a piece that gets discussed as the work goes on, that settles everything.</a:t>
            </a:r>
          </a:p>
          <a:p/>
          <a:p>
            <a:r>
              <a:t>The second property is depth. A child session launches subagents itself, because it is an ordinary session and can do exactly what yours can. There come to be three tiers: you, the orchestrator with its child sessions, and the subagents under each of them. Hence the point of the move — the work is taken on in bigger pieces than fit into one tier: the orchestrator is given a top-level task, it breaks that into child sessions, and each of those breaks its part into subagents.</a:t>
            </a:r>
          </a:p>
          <a:p/>
          <a:p>
            <a:r>
              <a:t>The cost of the move is named in three lines, and the first of them weighs more than the others. The orchestrator does not learn the result of a child session by itself — it learns it when it goes and checks. That inverts the order of work: instead of waiting for an answer, there appears a round of visits and polling. From this it also follows why an imitation via the issue tracker works badly: the orchestrator sees the child session's entry when it next looks into the tracker, and the speed is lost on the looking-in itself.</a:t>
            </a:r>
          </a:p>
          <a:p/>
          <a:p>
            <a:r>
              <a:t>The second line is the scaffolding. Sessions do not come up alongside, and do not get polled, by themselves: somebody has to set them up, give each one a task, be able to list them and walk into them. There are three ways of doing it. An off-the-shelf control layer that can do this out of the box. An imitation via the issue tracker — examined above and called weak. A terminal window manager: the sessions come up in its panes, the panes are listed and opened, and you can walk into each one by hand.</a:t>
            </a:r>
          </a:p>
          <a:p/>
          <a:p>
            <a:r>
              <a:t>The third line is the cost of an ordinary run. A child session's context is entirely its own, and it is paid for as in any session: a separate bill for tokens and separate machine memory. On one or two tiers that goes unnoticed; on a dozen sessions it becomes an expense you count in advance, and it is counted next.</a:t>
            </a:r>
          </a:p>
          <a:p/>
          <a:p>
            <a:r>
              <a:t>The criterion that comes out of this is simple, and the author named it with the same sentence at both classes: a small piece goes to a subagent, a large one to a child session. "Large" here has a checkable sign: it is a piece you will have to walk into by hand at least once. If the result is enough, a subagent is cheaper and does not multiply tiers. If, as the work goes on, you are going to need to look and add something, a subagent will not give you that, and the saving will turn into rework.</a:t>
            </a:r>
          </a:p>
        </p:txBody>
      </p:sp>
      <p:sp>
        <p:nvSpPr>
          <p:cNvPr id="4" name="Slide Number Placeholder 3"/>
          <p:cNvSpPr>
            <a:spLocks noGrp="1"/>
          </p:cNvSpPr>
          <p:nvPr>
            <p:ph type="sldNum" idx="5" sz="quarter"/>
          </p:nvPr>
        </p:nvSpPr>
        <p:spPr/>
      </p:sp>
    </p:spTree>
  </p:cSld>
  <p:clrMapOvr>
    <a:masterClrMapping/>
  </p:clrMapOvr>
</p:notes>
</file>

<file path=ppt/notesSlides/notesSlide4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previous move has a cost the machine shows, and the token bill does not. There is one measurement here and it belongs to the course author: a cloud VM with sixteen gigabytes of memory, ordinary sessions with no heavy runs inside them.</a:t>
            </a:r>
          </a:p>
          <a:p/>
          <a:p>
            <a:r>
              <a:t>The measurement looks like this. From twenty concurrent sessions on, the machine starts stumbling: responsiveness drops, launches take longer. At thirty to forty, depending on how much each session has managed to accumulate, it stops responding altogether. Hence the order of magnitude — from one to two gigabytes per session, and that is at rest: a session that has launched a build or a test run itself will eat noticeably more.</a:t>
            </a:r>
          </a:p>
          <a:p/>
          <a:p>
            <a:r>
              <a:t>The sixteen gigabytes are named here not for completeness: without a baseline the "1-2 GB" range means nothing. The division works out — sixteen over twenty gives about eight tenths of a gigabyte, which is to say the lower edge of the range is exactly the edge at which the machine starts stumbling. The counterfactual matters just as much: one session, two, three cost such a machine nothing noticeable. The expense appears at a dozen and becomes decisive closer to twenty.</a:t>
            </a:r>
          </a:p>
          <a:p/>
          <a:p>
            <a:r>
              <a:t>The surprise the author voiced at this point is worth repeating, because it throws many people off. By the look of it an agent session is a thin client: it shuttles text in both directions, and it is not the one doing the computing anyway. Yet it uses as much memory as a full-blown application, and it goes on holding its context, its open files and its child processes in memory. The conclusion the author drew from this was direct: it is too early to give up a machine with good memory.</a:t>
            </a:r>
          </a:p>
          <a:p/>
          <a:p>
            <a:r>
              <a:t>The difference made by the language the agent's client itself is written in becomes visible at this scale. A client built in Rust is noticeably lighter than its counterpart built in JavaScript. The multiple here was named by eye, the units were not recorded, and putting a number on it would be inventing precision. The observation has practical sense all the same: on one or two sessions the difference goes unnoticed, at twenty it decides whether the twenty-first will start.</a:t>
            </a:r>
          </a:p>
          <a:p/>
          <a:p>
            <a:r>
              <a:t>Two caps that are easy to fold into one are worth keeping apart, all the more so because both equal twenty. The cap of twenty concurrent subagents is the tool's cap, it stands inside one session, and it is changed by an environment variable. The cap of twenty sessions is the machine's memory cap, and no variable changes it: it is changed by buying memory. The coincidence of the numbers is accidental. You can run into either of the two, and confusing them is expensive: having raised the subagent cap, you will have learned nothing about whether the machine will take another five sessions.</a:t>
            </a:r>
          </a:p>
          <a:p/>
          <a:p>
            <a:r>
              <a:t>How to check this for yourself, if the move with child sessions looked useful. Look at the memory use of one session right after launch and again after an hour's work — those two numbers give you your range. Divide the free memory by the higher of them, subtract an allowance for what the sessions launch themselves, and you get your own number of concurrent sessions. It will be different for you: different memory, a different agent, different tasks inside. The course author's measurement gives an order of magnitude and a way of counting; checking it is worth doing on your own machine.</a:t>
            </a:r>
          </a:p>
        </p:txBody>
      </p:sp>
      <p:sp>
        <p:nvSpPr>
          <p:cNvPr id="4" name="Slide Number Placeholder 3"/>
          <p:cNvSpPr>
            <a:spLocks noGrp="1"/>
          </p:cNvSpPr>
          <p:nvPr>
            <p:ph type="sldNum" idx="5" sz="quarter"/>
          </p:nvPr>
        </p:nvSpPr>
        <p:spPr/>
      </p:sp>
    </p:spTree>
  </p:cSld>
  <p:clrMapOvr>
    <a:masterClrMapping/>
  </p:clrMapOvr>
</p:notes>
</file>

<file path=ppt/notesSlides/notesSlide4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Let us test the conclusion on a negative example. For that, let us take platform configuration: this miss shows up more cleanly there than in code.</a:t>
            </a:r>
          </a:p>
          <a:p/>
          <a:p>
            <a:r>
              <a:t>A configurable platform: lookup lists, forms, access permissions, scripts are set up by configuring rather than by programming. Parallelizing work like that is doubly tempting — every piece looks like a separate screen you can open and fill in without looking at anyone else. A week later the developer does exactly that: the lookup list goes to one subagent, the form that leans on that lookup list goes to a second, at the same time. He does not write a shared description of the task: the pieces are right there, what is there to describe.</a:t>
            </a:r>
          </a:p>
          <a:p/>
          <a:p>
            <a:r>
              <a:t>Both come back with the job done, and both are right. The lookup list is set up: the fields are named, the composition is assembled, the values are filled in. The form is configured: the fields are shown, required flags are set, validation is in place. There is no complaint against either of the two — each did exactly what they were given, and did it fast.</a:t>
            </a:r>
          </a:p>
          <a:p/>
          <a:p>
            <a:r>
              <a:t>Together they do not work. The lookup list's fields were named and composed according to one understanding of the task, the form expects another: some fields do not match by name, some by composition, somewhere a required flag has diverged. The result is two fast and entirely unconnected pieces of work, which then take a long time to reconcile by hand. The reconciling takes more time than the configuring did, and it eats exactly the parallelism the whole thing was started for.</a:t>
            </a:r>
          </a:p>
          <a:p/>
          <a:p>
            <a:r>
              <a:t>What has been repeated here is the number of workers. The condition under it was not there: the pieces are not independent, one leans on the other. The parallelism, meanwhile, was real, and the harness gave it for free; it is not what let them down. What let them down is that nobody knew the whole task: breaking it up narrowed each worker's context, and a shared description in which the composition of the fields is named once for both did not exist for either of them.</a:t>
            </a:r>
          </a:p>
          <a:p/>
          <a:p>
            <a:r>
              <a:t>The same miss looks different in code and is built the same way. Split a check into separate independent runs — each one green, and the problem you can only see on the task as a whole gets found by none of them: breaking up lowers quality exactly where it lowered the context. In our landing page a pair of the same kind sits right in the layout: the new field with its validation and the map of error messages live in one file, and the message keys are exactly the lookup list the form leans on.</a:t>
            </a:r>
          </a:p>
          <a:p/>
          <a:p>
            <a:r>
              <a:t>It is worth clearing the workers themselves of suspicion separately. Neither of the two made a mistake or was lazy: each read their own setup and honestly carried it out. Both reports are correct within their own bounds, and that is precisely why the divergence surfaces late — two green jobs add up to a picture of readiness that does not exist. The pair of checkers is built the same way, if one reads the code line by line and the second runs through scenarios: both report honestly, and neither names the case that fell between their zones.</a:t>
            </a:r>
          </a:p>
          <a:p/>
          <a:p>
            <a:r>
              <a:t>The link to Friday is direct here, and it is about one word. In the layout the condition was named out loud: which pieces are independent and why got said. Here nobody wrote it down.</a:t>
            </a:r>
          </a:p>
        </p:txBody>
      </p:sp>
      <p:sp>
        <p:nvSpPr>
          <p:cNvPr id="4" name="Slide Number Placeholder 3"/>
          <p:cNvSpPr>
            <a:spLocks noGrp="1"/>
          </p:cNvSpPr>
          <p:nvPr>
            <p:ph type="sldNum" idx="5" sz="quarter"/>
          </p:nvPr>
        </p:nvSpPr>
        <p:spPr/>
      </p:sp>
    </p:spTree>
  </p:cSld>
  <p:clrMapOvr>
    <a:masterClrMapping/>
  </p:clrMapOvr>
</p:notes>
</file>

<file path=ppt/notesSlides/notesSlide4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Four moves, and one works. Let us go through all four, because the three that do not work look convincing.</a:t>
            </a:r>
          </a:p>
          <a:p/>
          <a:p>
            <a:r>
              <a:rPr b="1"/>
              <a:t>Give both pieces to one subagent.</a:t>
            </a:r>
            <a:r>
              <a:t> An honest move: one worker sees both ends at once and keeps the composition of the fields consistent simply because it sets that composition up itself. The cost is named directly — the parallelism is given up, and given up where it was real and cost nothing. On two pieces that is bearable; on a task of fifteen pieces one worker becomes the bottleneck, and the whole layout loses its point.</a:t>
            </a:r>
          </a:p>
          <a:p/>
          <a:p>
            <a:r>
              <a:rPr b="1"/>
              <a:t>Give each of them broad access — let them work out the neighboring piece themselves.</a:t>
            </a:r>
            <a:r>
              <a:t> Sometimes it works: the worker opens the neighboring setting, sees the composition of the fields and adapts. The cost is hidden in the word "broad": broad access means a broad context and broad permissions — exactly what a trimmed tool list restricts. And the move has a second limit, less obvious: reading the neighboring piece does not yet mean understanding it the same way. Two workers reading one and the same thing diverge in interpretation about as easily as they diverged before reading it.</a:t>
            </a:r>
          </a:p>
          <a:p/>
          <a:p>
            <a:r>
              <a:rPr b="1"/>
              <a:t>A shared description of the task that both read before starting.</a:t>
            </a:r>
            <a:r>
              <a:t> This one works. The composition of what is shared — the names of the fields, their set, the required flags, what counts as done — is named once for both and sits apart from both pieces. A divergence becomes visible before the work: it is enough to check a configuration against the description rather than two configurations against each other. The move has one condition — the description is written before the pieces have diverged, and maintained for as long as they live. The cost is worth naming honestly, or the move looks free: there appear cycles of reading, editing and agreeing on the description itself, they take noticeable time, and they are paid every time the task changes.</a:t>
            </a:r>
          </a:p>
          <a:p/>
          <a:p>
            <a:r>
              <a:rPr b="1"/>
              <a:t>Set up a third subagent as a coordinator.</a:t>
            </a:r>
            <a:r>
              <a:t> It looks like a solution: it checks the two finished jobs against each other. The cost grows faster than the risk falls. On top of two jobs that have already diverged there is added a third worker with its own context and its own understanding of the task, and the divergence will have to be reconciled anyway — just by somebody else's hands and one step later. The move is tested by one question: what does the coordinator do that could not be written into a shared description before the work started. No answer — it is a patch.</a:t>
            </a:r>
          </a:p>
          <a:p/>
          <a:p>
            <a:r>
              <a:t>Now about what the third move works by — and here it converges with the layout. On Friday the condition was named out loud: which pieces are independent and why got said. Here nobody wrote it down, and there was nobody to work it out: breaking the work up narrowed each one's context, and neither of the two knew the whole task. The third move names the condition out loud before it is needed — by the same movement as the layout.</a:t>
            </a:r>
          </a:p>
          <a:p/>
          <a:p>
            <a:r>
              <a:t>"Write a shared description" looks more modest than it sounds: this is not project documentation but a few lines about what the pieces have in common — the names, the composition, the sign of being done. Writing it out in full in advance is pointless: a description that has grown into a tome stops being read, and it goes out of date faster than the task does. A sensible length is the one a worker reads through in full before working and does not skip.</a:t>
            </a:r>
          </a:p>
          <a:p/>
          <a:p>
            <a:r>
              <a:t>How exactly a description like that is written so that it covers both sides — on the next screen.</a:t>
            </a:r>
          </a:p>
        </p:txBody>
      </p:sp>
      <p:sp>
        <p:nvSpPr>
          <p:cNvPr id="4" name="Slide Number Placeholder 3"/>
          <p:cNvSpPr>
            <a:spLocks noGrp="1"/>
          </p:cNvSpPr>
          <p:nvPr>
            <p:ph type="sldNum" idx="5" sz="quarter"/>
          </p:nvPr>
        </p:nvSpPr>
        <p:spPr/>
      </p:sp>
    </p:spTree>
  </p:cSld>
  <p:clrMapOvr>
    <a:masterClrMapping/>
  </p:clrMapOvr>
</p:notes>
</file>

<file path=ppt/notesSlides/notesSlide4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two subagents from this story have no third one checking them against each other for consistency. The case looks particular — until you look at what a measurement at scale says about it.</a:t>
            </a:r>
          </a:p>
          <a:p/>
          <a:p>
            <a:r>
              <a:t>The first source is a taxonomy of failures in systems made of several agents, Cemri and others, the paper "MAST", arXiv:2503.13657, accepted at NeurIPS 2025 into the Datasets and Benchmarks track. More than 1600 traces were annotated by hand across seven different frameworks, with agreement between the annotators on the kappa scale at 0.88. Failing traces run from 41 to 87% depending on the framework. The causes fall into three categories: task and role specification accounts for about 42%, misalignment between agents for about 37%, verification of the result for about 21%. Misalignment between agents stands as the second cause by weight, almost level with the description of the task itself. That is the gap from our story, counted over a sample.</a:t>
            </a:r>
          </a:p>
          <a:p/>
          <a:p>
            <a:r>
              <a:t>The second source is a controlled experiment about the cost, Kim, Gu, Park and others, Google Research, arXiv:2512.08296. Two hundred and sixty configurations, six sets of tasks, five architectures. On a sequential task a scheme made of several subagents loses to a single-agent one on the same task by 39 to 70%, and the number of errors is amplified 17.2 times relative to a single-agent system at the input. With centralized checking the amplification falls to 4.4 — it falls, but it stays an amplification. There is the figure under the turn of this case: where the steps are dependent, splitting them into subagents costs more than everything the parallelism could have saved.</a:t>
            </a:r>
          </a:p>
          <a:p/>
          <a:p>
            <a:r>
              <a:t>About inter-rater agreement, it is worth saying why that figure is looked at at all. A kappa of 0.88 means high agreement: the categories were told apart by different people and they converged with each other. That is what makes the taxonomy fit to cite — the annotation here is not arbitrary.</a:t>
            </a:r>
          </a:p>
          <a:p/>
          <a:p>
            <a:r>
              <a:t>The second source does not publish an absolute number of errors, and it is honest to say so directly. Only the relative amplification is given — how many times more than for a single subagent on the same task. "Seventeen times more" with no base value speaks about direction and says nothing about size, and you cannot supply the base yourself.</a:t>
            </a:r>
          </a:p>
          <a:p/>
          <a:p>
            <a:r>
              <a:t>The spread "from 41 to 87%" looks so wide that one wants to discard it, and that is not worth doing. The spread runs across frameworks: different systems fail differently. One thing in it matters — nowhere did the share of failing traces turn out to be small.</a:t>
            </a:r>
          </a:p>
          <a:p/>
          <a:p>
            <a:r>
              <a:t>Separately, about the figure "79% of failures are a specification problem", which has gone around the internet and turns up in retellings of this work. It is the sum of MAST's first two categories, 42 and 37, retold as though it were a separate measurement. If you meet it, it is worth checking whether the same thing is being counted twice under different captions.</a:t>
            </a:r>
          </a:p>
          <a:p/>
          <a:p>
            <a:r>
              <a:t>Do these figures carry across to two subagents directly? No, and that has to be said before somebody arms themselves with a seventeen-fold amplification in a conversation about a pair of workers. Both studies measured systems made of many agents; the direction carries across, the order of magnitude does not. For two subagents it is more honest to speak of the risk of a gap, which is measured as the second cause of failure by weight.</a:t>
            </a:r>
          </a:p>
          <a:p/>
          <a:p>
            <a:r>
              <a:t>And the honest gap, because in class it is named directly. There is nothing with which to test the misalignment of two parallel subagents on the course repository or on your machine: none of this seminar's checkability supports demonstrates such a thing. The claim rests on research, not on a command you can type into a terminal. The seminar's other supports are checkable by hand; this one is not.</a:t>
            </a:r>
          </a:p>
        </p:txBody>
      </p:sp>
      <p:sp>
        <p:nvSpPr>
          <p:cNvPr id="4" name="Slide Number Placeholder 3"/>
          <p:cNvSpPr>
            <a:spLocks noGrp="1"/>
          </p:cNvSpPr>
          <p:nvPr>
            <p:ph type="sldNum" idx="5" sz="quarter"/>
          </p:nvPr>
        </p:nvSpPr>
        <p:spPr/>
      </p:sp>
    </p:spTree>
  </p:cSld>
  <p:clrMapOvr>
    <a:masterClrMapping/>
  </p:clrMapOvr>
</p:notes>
</file>

<file path=ppt/notesSlides/notesSlide4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divergence is closed by one means — an explicit boundary, written down in the shared description for each piece, both ways.</a:t>
            </a:r>
          </a:p>
          <a:p/>
          <a:p>
            <a:r>
              <a:t>It works simply. The lookup list acquires a line about where it ends: the names and the composition of the fields are set up here; how those fields are shown and checked on the form is not here. The form gets a symmetrical one: fields are shown by the names from the description, the form does not set up the composition of the fields. Two lines, and whoever reads the description sees not only what each piece does but also where it stops. What is outside has to be named concretely: the wording "everything else" does not read as anybody's zone and therefore falls to nobody.</a:t>
            </a:r>
          </a:p>
          <a:p/>
          <a:p>
            <a:r>
              <a:t>What such a line looks like when written down is easier to see on a familiar example. For a subagent that reads code line by line it sounds like this: "NOT for reviewing architectural decisions — that is separate work." Where the worker stops is named, and named concretely; the phrase "and the rest" does not work in that spot.</a:t>
            </a:r>
          </a:p>
          <a:p/>
          <a:p>
            <a:r>
              <a:t>Now, honestly, about the limit of the technique, because it can promise more than it does. A written-down boundary does not remove the seam between the pieces. It makes the divergence visible to whoever reads the description before starting work. Reading it before starting remains a human's job — exactly the job that did not have to be done on the three independent pieces: they lay apart by themselves, and no seams arose between them. The technique is honest exactly to the extent that it is modest.</a:t>
            </a:r>
          </a:p>
          <a:p/>
          <a:p>
            <a:r>
              <a:t>The diagram on the screen shows the whole arrangement. Two rectangles — the lookup list's zone and the form's zone, each with its own "NOT here" line at the bottom. Between the rectangles a band is highlighted, captioned "shared, written down by nobody": the names and the composition of the fields land exactly there. The caption under the diagram says the same thing that has been said above in words.</a:t>
            </a:r>
          </a:p>
          <a:p/>
          <a:p>
            <a:r>
              <a:t>Who writes both lines — whoever laid the task out, before the pieces went to the workers. Writing them separately, in the hope that the zones will match, is the same as not writing them: two authors independently will either describe one stretch twice or not describe it at all, and which of the two happens cannot be predicted.</a:t>
            </a:r>
          </a:p>
          <a:p/>
          <a:p>
            <a:r>
              <a:t>There is a temptation to go another way: give both workers broad access and close the question. That is the second move from the previous breakdown, and its cost has already been named — broad access brings back a broad context and broad permissions. The boundary comes cheaper: two lines against extended access. It can also be checked by eye in a minute, which cannot be said of broad access.</a:t>
            </a:r>
          </a:p>
          <a:p/>
          <a:p>
            <a:r>
              <a:t>It is worth noting that this technique requires no tools, no settings and no changes to the harness. It lies entirely in text, and that puts it in the same row as the rule line in the instruction file examined in the previous section of the seminar. Techniques of this kind are cheap and precisely for that reason easy to skip: they have no moment at which skipping them is noticeable. A line that is not there signals nothing about its own absence — its absence presents the bill later, when two finished jobs have to be reconciled by hand.</a:t>
            </a:r>
          </a:p>
        </p:txBody>
      </p:sp>
      <p:sp>
        <p:nvSpPr>
          <p:cNvPr id="4" name="Slide Number Placeholder 3"/>
          <p:cNvSpPr>
            <a:spLocks noGrp="1"/>
          </p:cNvSpPr>
          <p:nvPr>
            <p:ph type="sldNum" idx="5" sz="quarter"/>
          </p:nvPr>
        </p:nvSpPr>
        <p:spPr/>
      </p:sp>
    </p:spTree>
  </p:cSld>
  <p:clrMapOvr>
    <a:masterClrMapping/>
  </p:clrMapOvr>
</p:notes>
</file>

<file path=ppt/notesSlides/notesSlide4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Where is the line past which coordination itself becomes the cost. The marker of that line was planted by the industry, and planted twice in the same direction.</a:t>
            </a:r>
          </a:p>
          <a:p/>
          <a:p>
            <a:r>
              <a:t>A year ago one team rejected working with several agents outright, calling an unstructured "swarm" a distraction and explaining publicly why. Ten months later that same team came back to this work — to two narrow schemes. The first: a review chain where a separate subagent finds on average two bugs per edit, and about 58% of them are serious. The second: a pairing of two different strong models on complex scenarios. The boundless "swarm" this same team still calls a distraction. The reversal is valuable precisely because of who made it: people who paid for both positions in practice came back to two narrow schemes, leaving the general case rejected.</a:t>
            </a:r>
          </a:p>
          <a:p/>
          <a:p>
            <a:r>
              <a:t>The criterion that folds out of this is as follows. A subagent is justified when there are several pieces and they are independent — one's step does not need another's output. The lookup list and the form fall into this case when what is shared between them — the names, the composition and the required flags of the fields — has been written down before the work starts.</a:t>
            </a:r>
          </a:p>
          <a:p/>
          <a:p>
            <a:r>
              <a:t>Another means is cheaper in four situations, and every one of them turned up in the task we laid out. The steps are dependent: splitting multiplies the error — 17.2 times with no coordinator and 4.4 times even with centralized checking. Nobody wrote down what is shared between the pieces: two honest jobs add up to a readiness that does not exist. A piece repeats after every one of the others: its place is in a check that runs itself. A piece is not needed for the deadline at all: a piece like that gets narrowed away, and there is nothing in it to speed up.</a:t>
            </a:r>
          </a:p>
          <a:p/>
          <a:p>
            <a:r>
              <a:t>How it ended for the developer in this story. For a week after the divergence he did everything with one subagent, one piece at a time, including the pieces that divided quite happily. The reconciling of the diverged configurations itself cost longer than the configuring took. Trust in the technique cost a week of working one piece at a time, and that is the second cost, which here matters more than the first.</a:t>
            </a:r>
          </a:p>
          <a:p/>
          <a:p>
            <a:r>
              <a:t>The difference between those two failures is worth separating out. A failure of the technique is fixed by one line in the subagent's description. A failure of the count taken off the technique is fixed only by somebody naming the condition out loud again — and until that moment a working means lies idle. The developer remembered the count of workers; the condition under it he did not, and the week went on that.</a:t>
            </a:r>
          </a:p>
          <a:p/>
          <a:p>
            <a:r>
              <a:t>How he found the condition in the end: he sat down and wrote a shared description — the very one that should have been written before the start, with the names and the composition of the fields in one place. That is exactly the technique from the previous screen, applied a week late. On his task it is worth noting separately: configuring the lookup list and the form with two subagents was in fact fine, which is where the decision to keep both of them and add a shared description came from. The mistake was the silence about what they shared.</a:t>
            </a:r>
          </a:p>
          <a:p/>
          <a:p>
            <a:r>
              <a:t>Two reasons to set up a separate worker have been examined by this point: somebody else's context for a long read, and work at the same time on independent pieces. The third reason is about the subagent itself, and it comes next.</a:t>
            </a:r>
          </a:p>
        </p:txBody>
      </p:sp>
      <p:sp>
        <p:nvSpPr>
          <p:cNvPr id="4" name="Slide Number Placeholder 3"/>
          <p:cNvSpPr>
            <a:spLocks noGrp="1"/>
          </p:cNvSpPr>
          <p:nvPr>
            <p:ph type="sldNum" idx="5" sz="quarter"/>
          </p:nvPr>
        </p:nvSpPr>
        <p:spPr/>
      </p:sp>
    </p:spTree>
  </p:cSld>
  <p:clrMapOvr>
    <a:masterClrMapping/>
  </p:clrMapOvr>
</p:notes>
</file>

<file path=ppt/notesSlides/notesSlide5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seminar has already examined two reasons to set up a subagent: reading that does not fit into the context, and tasks standing in a queue for nothing. The third case is about what happens when there comes to be more than one worker and their file directory is shared.</a:t>
            </a:r>
          </a:p>
          <a:p/>
          <a:p>
            <a:r>
              <a:t>The previous two cases settled questions about the work: where to hand it, and how many such handings to run at once. Here what gets settled is the place. One directory for several workers — and the question of what exactly breaks in it.</a:t>
            </a:r>
          </a:p>
          <a:p/>
          <a:p>
            <a:r>
              <a:t>Anyone who works with an agent every day usually has more than one session: the first is busy, a second task arrives, a second session is opened. There is almost always more than one subagent in one folder, and that is the normal state of affairs. Subagents end up in the same folder by design: a subagent works where the calling session stands. The difference between a session and a subagent here is a single one, and the whole case rests on it: sessions are almost always given a separate copy of the repository, subagents almost never, and there is a named reason for that. That is where we are heading next.</a:t>
            </a:r>
          </a:p>
          <a:p/>
          <a:p>
            <a:r>
              <a:t>The mechanism that breaks is older than agents. A working copy of a repository stands on one branch for everyone working in it, and that was the case long before the first agent appeared in the directory. What changed is the frequency. Before, one person worked in the directory with their own hands and knew for themselves what was in the files. Now there are two sessions and a dozen subagents standing in it, and each has its own idea of the state of the files.</a:t>
            </a:r>
          </a:p>
          <a:p/>
          <a:p>
            <a:r>
              <a:t>You can check this for yourself from memory, without opening anything: how many sessions do you keep open on one repository, and how many times in the past month did you switch branches while somebody else's work was going on alongside? If the answer is "that never happened", then by the end of the case the sign by which a collision is recognized will be visible, and it is not that the work broke noticeably.</a:t>
            </a:r>
          </a:p>
          <a:p/>
          <a:p>
            <a:r>
              <a:t>The collision figures below are taken from this course's own log. The course is built the very way we are talking about — several sessions in one working copy — and it has caught exactly what is examined next three times.</a:t>
            </a:r>
          </a:p>
          <a:p/>
          <a:p>
            <a:r>
              <a:t>By the end of the case one thing gets settled: where to divide things with copies and where only with zones. The answer for a session and for a subagent will turn out to be different.</a:t>
            </a:r>
          </a:p>
        </p:txBody>
      </p:sp>
      <p:sp>
        <p:nvSpPr>
          <p:cNvPr id="4" name="Slide Number Placeholder 3"/>
          <p:cNvSpPr>
            <a:spLocks noGrp="1"/>
          </p:cNvSpPr>
          <p:nvPr>
            <p:ph type="sldNum" idx="5" sz="quarter"/>
          </p:nvPr>
        </p:nvSpPr>
        <p:spPr/>
      </p:sp>
    </p:spTree>
  </p:cSld>
  <p:clrMapOvr>
    <a:masterClrMapping/>
  </p:clrMapOvr>
</p:notes>
</file>

<file path=ppt/notesSlides/notesSlide5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address-validation edit is the one from after the bug in front of the client: the form accepted a space before the domain. On the branch </a:t>
            </a:r>
            <a:r>
              <a:rPr>
                <a:latin typeface="Consolas"/>
              </a:rPr>
              <a:t>fix/email-pattern</a:t>
            </a:r>
            <a:r>
              <a:t> the work is begun and not committed: the regular expression in </a:t>
            </a:r>
            <a:r>
              <a:rPr>
                <a:latin typeface="Consolas"/>
              </a:rPr>
              <a:t>index.html</a:t>
            </a:r>
            <a:r>
              <a:t> is fixed, the error message in </a:t>
            </a:r>
            <a:r>
              <a:rPr>
                <a:latin typeface="Consolas"/>
              </a:rPr>
              <a:t>src/validate.js</a:t>
            </a:r>
            <a:r>
              <a:t> is not yet.</a:t>
            </a:r>
          </a:p>
          <a:p/>
          <a:p>
            <a:r>
              <a:t>A second task arrives: bump a dependency that is making the build complain. It does not overlap with the address validation on a single file. There is nothing to wait for the first session for — the tasks are independent and the session is busy; that is exactly the ordinary reason to open a second. The developer opens it in the same directory, on the same repository.</a:t>
            </a:r>
          </a:p>
          <a:p/>
          <a:p>
            <a:r>
              <a:t>The second session starts with a branch of its own: </a:t>
            </a:r>
            <a:r>
              <a:rPr>
                <a:latin typeface="Consolas"/>
              </a:rPr>
              <a:t>git checkout -b chore/bump-deps</a:t>
            </a:r>
            <a:r>
              <a:t>. This is where everything is decided. The directory is one, the branch in it is one for everyone working in that directory, and the uncommitted address edit moves onto the new branch along with the files.</a:t>
            </a:r>
          </a:p>
          <a:p/>
          <a:p>
            <a:r>
              <a:t>Git did not stop this, and there was nothing to stop: a new branch is started from the current state of the directory and carries uncommitted edits with it. This is standard behavior, and it is what people count on when they discover they began work on the wrong branch. A refusal comes in a different case — when switching would touch the very lines you are editing. Here the files were different, and it all went through quietly.</a:t>
            </a:r>
          </a:p>
          <a:p/>
          <a:p>
            <a:r>
              <a:t>The second session finishes its own work and takes into its commit everything it sees in the directory: </a:t>
            </a:r>
            <a:r>
              <a:rPr>
                <a:latin typeface="Consolas"/>
              </a:rPr>
              <a:t>git add -A</a:t>
            </a:r>
            <a:r>
              <a:t> takes modified files whole, without sorting out whose they are. The half-done address validation is, for this session, part of the state of the files. You cannot tell "mine" from "somebody else's" by the state: the state does not record who made it.</a:t>
            </a:r>
          </a:p>
          <a:p/>
          <a:p>
            <a:r>
              <a:t>The first session carries on from what it read earlier: it finishes the error message, runs the tests, reports that the edit is ready. Its own branch is no longer under it — the directory stands on the dependencies branch.</a:t>
            </a:r>
          </a:p>
          <a:p/>
          <a:p>
            <a:r>
              <a:t>Both sessions reported success, and each was right taken separately. In the morning it turned out that the dependencies branch contains somebody else's unfinished edit, the address branch contains nothing, and half an hour went on the question of why the form tests are failing where nobody touched the form.</a:t>
            </a:r>
          </a:p>
          <a:p/>
          <a:p>
            <a:r>
              <a:t>This story has a property worth noticing separately: the tasks share not a single file. The address edit touches the markup and the validation script, the dependency bump touches the file with the list of packages. The answer "do not take overlapping tasks" does not work here, because they were not taken. What breaks things is the shared working copy itself, with any choice of work at all.</a:t>
            </a:r>
          </a:p>
          <a:p/>
          <a:p>
            <a:r>
              <a:t>What was happening could have been seen earlier too: the name of the current branch is the same for both sessions, and it is in plain view. Nobody goes and looks at that spot — each session has its own task, and both of them look as if they are going fine.</a:t>
            </a:r>
          </a:p>
          <a:p/>
          <a:p>
            <a:r>
              <a:t>The objection "my agent does not switch branches by itself" is worth checking before leaning on it: switching branches is the ordinary first step on a new task, and a project's instruction file demands it more often than it forbids it. A commit before launching the second session would have saved this story: there would have been something to come back to. It does not cancel one branch per directory, though, and the next pair of tasks will collide in the same place.</a:t>
            </a:r>
          </a:p>
        </p:txBody>
      </p:sp>
      <p:sp>
        <p:nvSpPr>
          <p:cNvPr id="4" name="Slide Number Placeholder 3"/>
          <p:cNvSpPr>
            <a:spLocks noGrp="1"/>
          </p:cNvSpPr>
          <p:nvPr>
            <p:ph type="sldNum" idx="5" sz="quarter"/>
          </p:nvPr>
        </p:nvSpPr>
        <p:spPr/>
      </p:sp>
    </p:spTree>
  </p:cSld>
  <p:clrMapOvr>
    <a:masterClrMapping/>
  </p:clrMapOvr>
</p:notes>
</file>

<file path=ppt/notesSlides/notesSlide5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It is worth starting from a case of your own, because almost everyone here has one. Have you had two runs fighting over one working folder: the branch turned out to be the wrong one, an edit got written over, the build was built from the wrong thing — and nobody was doing anything strange at the time? If you have, it is worth keeping in mind how it ended for you.</a:t>
            </a:r>
          </a:p>
          <a:p/>
          <a:p>
            <a:r>
              <a:t>The tasks do not depend on each other, both sessions are needed at once, their directory is one. Neither session in this story did anything strange: one started with a branch, the other carried on from what it had read. So the question worth asking is about the arrangement — what gets set up or changed here so that this does not happen again.</a:t>
            </a:r>
          </a:p>
          <a:p/>
          <a:p>
            <a:r>
              <a:t>Five moves: commit before every switch; work one at a time, in one session; subagents in the first session instead of a second session; a copy of the repository of its own for every session; divide by files and agree on it. It is worth choosing together with a justification against the other four: each of the five has a case where it works and a limit past which it stops working.</a:t>
            </a:r>
          </a:p>
          <a:p/>
          <a:p>
            <a:r>
              <a:t>There are five answers that get said to a question like this more often than others, and with each one it is useful to do one piece of work — ask what it does to the branch and what it does to the file.</a:t>
            </a:r>
          </a:p>
          <a:p/>
          <a:p>
            <a:r>
              <a:t>"Commit before switching." It is named first, and it is a working move. The test question: what does it do to branches? It does let you recover what was lost — there is something to come back to. It does not cancel one branch per directory, which means it makes a story like the one examined recoverable without preventing it.</a:t>
            </a:r>
          </a:p>
          <a:p/>
          <a:p>
            <a:r>
              <a:t>"One at a time." An honest answer, and it is worth defending directly: there will be no collisions at all — one job in the directory, one branch, one worker. The test question is about the cost: what happens when the second task cannot wait as long as the first one runs.</a:t>
            </a:r>
          </a:p>
          <a:p/>
          <a:p>
            <a:r>
              <a:t>"Subagents instead of a second session." A productive confusion, and it leads straight into the middle of the case. Subagents really do replace a second session: the task does not have to be explained from scratch, the result comes back to where the work sits. The test question: which directory do these subagents work in?</a:t>
            </a:r>
          </a:p>
          <a:p/>
          <a:p>
            <a:r>
              <a:t>"A copy of its own for every session." The test question, which rarely gets answered in full: what in that copy is its own and what is shared with the main one? The answer will be needed at the mechanics of the copy, and whether the copy pays off depends on it.</a:t>
            </a:r>
          </a:p>
          <a:p/>
          <a:p>
            <a:r>
              <a:t>"Divide by files and agree on it." The test question: where does that agreement rest on the arrangement and where only on the memory of the participants?</a:t>
            </a:r>
          </a:p>
          <a:p/>
          <a:p>
            <a:r>
              <a:t>The answer "let the workers sort it out themselves" is worth taking apart separately. They can sort it out by the state of the files, and the state does not record who made it — that much is already visible from the scene.</a:t>
            </a:r>
          </a:p>
          <a:p/>
          <a:p>
            <a:r>
              <a:t>A sixth move that is not on the cards gets brought up often, and more often than anything else it is a queue on the shared file or a designated owner of the directory. Both will come in useful at the end of the case: they answer the question the five cards do not close.</a:t>
            </a:r>
          </a:p>
          <a:p/>
          <a:p>
            <a:r>
              <a:t>And the last thing, if the answer seems the only one and self-evident. Check whether you have counted the working environment: what will have to be done before a build can be launched in the new copy. Confidence here usually rests on that part not having been counted.</a:t>
            </a:r>
          </a:p>
          <a:p/>
          <a:p>
            <a:r>
              <a:t>One more observation about the set of cards itself. Four moves out of five are about discipline: commit on time, work one at a time, divide up the files, come to an agreement. Discipline is cancelable by one forgetful morning. The fifth move is about the arrangement: it changes what two workers physically see. The breakdown will start from that distinction, because it sorts all five.</a:t>
            </a:r>
          </a:p>
        </p:txBody>
      </p:sp>
      <p:sp>
        <p:nvSpPr>
          <p:cNvPr id="4" name="Slide Number Placeholder 3"/>
          <p:cNvSpPr>
            <a:spLocks noGrp="1"/>
          </p:cNvSpPr>
          <p:nvPr>
            <p:ph type="sldNum" idx="5" sz="quarter"/>
          </p:nvPr>
        </p:nvSpPr>
        <p:spPr/>
      </p:sp>
    </p:spTree>
  </p:cSld>
  <p:clrMapOvr>
    <a:masterClrMapping/>
  </p:clrMapOvr>
</p:notes>
</file>

<file path=ppt/notesSlides/notesSlide5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breakdown goes through all five moves. For each one, what it does and where its limit is are named; out of the combination of the two columns the conclusion assembles itself.</a:t>
            </a:r>
          </a:p>
          <a:p/>
          <a:p>
            <a:r>
              <a:rPr b="1"/>
              <a:t>Commit before every switch.</a:t>
            </a:r>
            <a:r>
              <a:t> It gets back what was lost: there is something to come back to, and somebody else's commit is visible in the history. The branch in the directory meanwhile stays one for everyone, and you learn about a collision after it has happened. A legitimate choice where collisions are rare and recovery is cheap.</a:t>
            </a:r>
          </a:p>
          <a:p/>
          <a:p>
            <a:r>
              <a:t>In the repository history it looks like this: somebody else's commit sits there, inside it are files the author of the commit never touched, and working out what came from where has to be done by file names. Everything can be recovered; what has to be spent is the time of whoever does the working out.</a:t>
            </a:r>
          </a:p>
          <a:p/>
          <a:p>
            <a:r>
              <a:rPr b="1"/>
              <a:t>Work one at a time, in one session.</a:t>
            </a:r>
            <a:r>
              <a:t> It removes the collision entirely: one job in the directory, one branch, one worker. You pay in time — the second task stands waiting while the first runs, and that is the very queue the previous case was getting away from. A legitimate choice when the second task really can wait.</a:t>
            </a:r>
          </a:p>
          <a:p/>
          <a:p>
            <a:r>
              <a:rPr b="1"/>
              <a:t>Subagents in the first session instead of a second session.</a:t>
            </a:r>
            <a:r>
              <a:t> It removes the argument about the branch: subagents work in the same branch as the session, and the task does not have to be explained from scratch. Their directory is shared by design, so the argument about the file stays where it was. This is half an answer, and its mechanics are taken apart by the screen about subagents in one folder.</a:t>
            </a:r>
          </a:p>
          <a:p/>
          <a:p>
            <a:r>
              <a:rPr b="1"/>
              <a:t>A copy of the repository of its own for every session.</a:t>
            </a:r>
            <a:r>
              <a:t> It gives each one its own files and its own branch with a shared history: a branch switch by one under the hands of another changes nothing. The copy has to be brought up as a working environment — dependencies, files not under version control; the work still has to be brought together by a branch. Which is why the move "then always a copy of its own" has a cost: on a thirty-second typo fix, bringing a copy up costs more than the fix itself.</a:t>
            </a:r>
          </a:p>
          <a:p/>
          <a:p>
            <a:r>
              <a:rPr b="1"/>
              <a:t>Divide by files and agree on it.</a:t>
            </a:r>
            <a:r>
              <a:t> It works where there are no copies: inside one session, between its workers. It rests on the zones genuinely not overlapping, and one shared file cancels the agreement entirely. There is almost always such a file — in this case it will play its part on the failure screen.</a:t>
            </a:r>
          </a:p>
          <a:p/>
          <a:p>
            <a:r>
              <a:t>The conclusion assembles itself out of the fourth and fifth rows. A copy of the repository divides sessions: a folder of its own, a branch of its own, a shared history. Inside one session there is nothing to divide with — the workers share the directory by design, and the defense there rests on the zone layout. One word, "in parallel", two different answers, and the rest of the case covers both.</a:t>
            </a:r>
          </a:p>
          <a:p/>
          <a:p>
            <a:r>
              <a:t>The question that comes up here immediately: why do subagents not get a copy of their own, if sessions do. They can get one — with a single line in the subagent's description. It is done rarely, and the reason is examined at the end of the case, where the cost is visible. For now it is enough to know that there is no prohibition here.</a:t>
            </a:r>
          </a:p>
          <a:p/>
          <a:p>
            <a:r>
              <a:t>Two of the five moves do not cancel each other. A copy per session plus a zone layout inside each — that is how people most often work, because these moves answer different questions: the first about what two sessions see, the second about what the workers of one session see.</a:t>
            </a:r>
          </a:p>
          <a:p/>
          <a:p>
            <a:r>
              <a:t>The "one at a time" row does not contradict the previous case. There it turned out that the parallelism lies in the task itself: if the work divides, a queue is an expense with no gain. Here the cost of parallelism is named — what gets paid for it in space. Both lines describe one decision from different sides.</a:t>
            </a:r>
          </a:p>
          <a:p/>
          <a:p>
            <a:r>
              <a:t>The right-hand column of the table is the condition of use for each move. A move that has what it does not close named stays a working one: you simply know where it ends. A move with no such line looks like a promise of safety, and it is on promises exactly like that that parallel builds break — which is visible on the failure screen.</a:t>
            </a:r>
          </a:p>
        </p:txBody>
      </p:sp>
      <p:sp>
        <p:nvSpPr>
          <p:cNvPr id="4" name="Slide Number Placeholder 3"/>
          <p:cNvSpPr>
            <a:spLocks noGrp="1"/>
          </p:cNvSpPr>
          <p:nvPr>
            <p:ph type="sldNum" idx="5" sz="quarter"/>
          </p:nvPr>
        </p:nvSpPr>
        <p:spPr/>
      </p:sp>
    </p:spTree>
  </p:cSld>
  <p:clrMapOvr>
    <a:masterClrMapping/>
  </p:clrMapOvr>
</p:notes>
</file>

<file path=ppt/notesSlides/notesSlide5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separate working copy — a directory of files of its own and a branch of its own; the history and the remote repository are the same as the main copy's. In git this is called a worktree.</a:t>
            </a:r>
          </a:p>
          <a:p/>
          <a:p>
            <a:r>
              <a:t>It looks like a second directory next to the main one: inside it the same project tree, the same file paths, a different branch. Two directories, one repository.</a:t>
            </a:r>
          </a:p>
          <a:p/>
          <a:p>
            <a:r>
              <a:t>It is set up with one launch flag: </a:t>
            </a:r>
            <a:r>
              <a:rPr>
                <a:latin typeface="Consolas"/>
              </a:rPr>
              <a:t>--worktree</a:t>
            </a:r>
            <a:r>
              <a:t> with a name creates a copy under </a:t>
            </a:r>
            <a:r>
              <a:rPr>
                <a:latin typeface="Consolas"/>
              </a:rPr>
              <a:t>.claude/worktrees/&lt;name&gt;/</a:t>
            </a:r>
            <a:r>
              <a:t> on a new branch, </a:t>
            </a:r>
            <a:r>
              <a:rPr>
                <a:latin typeface="Consolas"/>
              </a:rPr>
              <a:t>worktree-&lt;name&gt;</a:t>
            </a:r>
            <a:r>
              <a:t>. The same launch with a different name in another terminal brings up a second isolated session — and that is the standard way of running two tasks at once. By hand the same thing is done by </a:t>
            </a:r>
            <a:r>
              <a:rPr>
                <a:latin typeface="Consolas"/>
              </a:rPr>
              <a:t>git worktree add ../project-fix -b fix</a:t>
            </a:r>
            <a:r>
              <a:t>.</a:t>
            </a:r>
          </a:p>
          <a:p/>
          <a:p>
            <a:r>
              <a:t>Three things are a copy's own. The files in the directory: a branch switch in one copy does not change the files in another, and that is exactly what broke in the scene. The branch and the uncommitted state. And the working environment: dependencies and everything not under version control are brought up in the copy separately.</a:t>
            </a:r>
          </a:p>
          <a:p/>
          <a:p>
            <a:r>
              <a:t>More is shared with the main copy than it seems, and the first shared thing settles all the rest — the repository's internal directory. Commands from a copy write into the shared history, so a commit made in a copy is visible from the main directory immediately, and work does not have to be carried anywhere out of a copy. Hence the difference from a second clone of the repository: a clone is a separate repository with a history of its own, and work is carried between repositories out of it; a copy shares the history, so a branch from a copy is taken by an ordinary merge. For parallel work on one project it is that property that settles things.</a:t>
            </a:r>
          </a:p>
          <a:p/>
          <a:p>
            <a:r>
              <a:t>The second shared thing is plugins installed at project level. The third is worth remembering separately: a permission granted once by answering "don't ask again" is saved into the main copy's settings and applies in all of them. The convenience is obvious — nobody wants to confirm the same thing in every new copy. The flip side: a permission granted inside a copy goes on applying after the copy itself has been removed.</a:t>
            </a:r>
          </a:p>
          <a:p/>
          <a:p>
            <a:r>
              <a:t>A fresh copy arrives without whatever is not under version control: dependencies are not installed in it, local settings files are not in it. That is the ordinary reason the first attempt to build the project in a new copy fails. Which of those files to carry over into every new copy is specified by a separate list — it lies in the repository and is read when the copy is created.</a:t>
            </a:r>
          </a:p>
          <a:p/>
          <a:p>
            <a:r>
              <a:t>On disk space: the project's files in every copy are its own, the internal directory is shared. For a source repository that is usually not much; for a repository with heavy binaries it is worth counting in advance — a copy takes a long time to bring up and takes up as much as a working tree.</a:t>
            </a:r>
          </a:p>
          <a:p/>
          <a:p>
            <a:r>
              <a:t>A copy is removed once the work has been merged; if anything uncommitted is left in it, you will be asked about that on the way out. Abandoned copies pile up on disk and in the branch list — that is ordinary tidying, which does not happen by itself.</a:t>
            </a:r>
          </a:p>
          <a:p/>
          <a:p>
            <a:r>
              <a:t>You can see what you have with one command: </a:t>
            </a:r>
            <a:r>
              <a:rPr>
                <a:latin typeface="Consolas"/>
              </a:rPr>
              <a:t>git worktree list</a:t>
            </a:r>
            <a:r>
              <a:t> prints the directory and the branch of every copy, including the main one. It is also the command to start a post-mortem with when it is unclear which directory the work is currently going on in.</a:t>
            </a:r>
          </a:p>
          <a:p/>
          <a:p>
            <a:r>
              <a:t>What a copy would have changed in the scene we examined. The second session, launched in a copy of its own, starts a branch in its own directory; the first one's files stay where they were, with the uncommitted edit on its branch. The second session's commit is visible from the main directory immediately, because the history is shared. Bringing two pieces of work together still has to be done by a branch — a copy neither cancels that nor promises to.</a:t>
            </a:r>
          </a:p>
        </p:txBody>
      </p:sp>
      <p:sp>
        <p:nvSpPr>
          <p:cNvPr id="4" name="Slide Number Placeholder 3"/>
          <p:cNvSpPr>
            <a:spLocks noGrp="1"/>
          </p:cNvSpPr>
          <p:nvPr>
            <p:ph type="sldNum" idx="5" sz="quarter"/>
          </p:nvPr>
        </p:nvSpPr>
        <p:spPr/>
      </p:sp>
    </p:spTree>
  </p:cSld>
  <p:clrMapOvr>
    <a:masterClrMapping/>
  </p:clrMapOvr>
</p:notes>
</file>

<file path=ppt/notesSlides/notesSlide5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move we examined — a working copy of its own for every task — lives as one line in the project's instruction file. That is the artifact of the case, and it takes the seminar back to the rung the project passed two classes earlier.</a:t>
            </a:r>
          </a:p>
          <a:p/>
          <a:p>
            <a:r>
              <a:t>That file already exists and already contains rules of the same kind: a section with the order of work in the repository, and in it a line saying that you do not commit straight into the default branch. The requirement to work in a branch, then, has been written down for a long time. Next to it two lines are added. The first: every task is run in a working copy of its own — by a flag at launch, or by a git command. The second: when you have finished the task, offer to merge the branch and clean the copy up, do not leave a copy unclosed.</a:t>
            </a:r>
          </a:p>
          <a:p/>
          <a:p>
            <a:r>
              <a:t>Why this gets written into a file rather than held in memory is explained by an arrangement the seminar has already examined. The instruction file is read at the start of every session, and the order of work with copies reaches every one of them alike — including the one brought up in a hurry on Friday evening. An agreement that lives in memory reaches the sessions somebody remembered about, and it is precisely the forgotten sessions that bring collisions.</a:t>
            </a:r>
          </a:p>
          <a:p/>
          <a:p>
            <a:r>
              <a:t>The form here is a rule written down in words, one that gets read and does not execute itself. In the same file, since the previous class, there also stands a rule of the second kind: a branch-guard hook, code that fires on an event. The order of work with copies is not made into a hook: the event "time to set up a separate copy" cannot be described in advance, it is recognized by a person or by a session from the sense of the task.</a:t>
            </a:r>
          </a:p>
          <a:p/>
          <a:p>
            <a:r>
              <a:t>The second end of the rule is worth noticing separately. The first end, setting a copy up, gets done willingly: without it you cannot start work. The second end, merging the branch and cleaning the copy up, gets done after the task has been solved, and for exactly that reason it drops out. The temptation looks harmless: the task turned out to be small, it was solved quickly in a separate session, the session was closed — and the branch was left lying separately, unmerged. There is no longer any reason to go back to it: the work is done, the result is in your head, and it is not in the default branch. A month later there are so many such branches that nobody will go through them.</a:t>
            </a:r>
          </a:p>
          <a:p/>
          <a:p>
            <a:r>
              <a:t>The cost of the second end is measured on the machine. On the course author's work computer more than a hundred old working copies turned up — it came to light when the disk ran out of space. Tidying does not happen by itself: a copy stays on disk and in the branch list until the moment somebody removes it by hand. A hundred copies of a repository are a hundred working trees, and for a project with heavy files the count runs into tens of gigabytes.</a:t>
            </a:r>
          </a:p>
          <a:p/>
          <a:p>
            <a:r>
              <a:t>The wording of the line is worth choosing with care. What works best is a wording that goes through the full cycle: how the task begins and how it finishes. A session told "set up a copy" sets up a copy. A session told "set up a copy, and at the end offer to merge and clean up" gets to the end of the cycle itself and asks whether to merge — and the decision stays with the person, while the reminder arrives at the moment when it is apt.</a:t>
            </a:r>
          </a:p>
          <a:p/>
          <a:p>
            <a:r>
              <a:t>The status of this artifact is the same as that of today's other two: planned, there is no commit and there will not be one. The demo repository is not built any further, and that is said directly.</a:t>
            </a:r>
          </a:p>
        </p:txBody>
      </p:sp>
      <p:sp>
        <p:nvSpPr>
          <p:cNvPr id="4" name="Slide Number Placeholder 3"/>
          <p:cNvSpPr>
            <a:spLocks noGrp="1"/>
          </p:cNvSpPr>
          <p:nvPr>
            <p:ph type="sldNum" idx="5" sz="quarter"/>
          </p:nvPr>
        </p:nvSpPr>
        <p:spPr/>
      </p:sp>
    </p:spTree>
  </p:cSld>
  <p:clrMapOvr>
    <a:masterClrMapping/>
  </p:clrMapOvr>
</p:notes>
</file>

<file path=ppt/notesSlides/notesSlide5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Now inside one session, where there are no copies.</a:t>
            </a:r>
          </a:p>
          <a:p/>
          <a:p>
            <a:r>
              <a:t>A subagent starts in the directory where the calling session stands, and it cannot leave: a change of directory inside a subagent does not survive the subagent's own calls — every next call begins where the first one began. A shared folder for subagents is the standard mode, the one they work in almost always.</a:t>
            </a:r>
          </a:p>
          <a:p/>
          <a:p>
            <a:r>
              <a:t>Three facts of the arrangement, and out of each one a breakage of its own.</a:t>
            </a:r>
          </a:p>
          <a:p/>
          <a:p>
            <a:r>
              <a:t>First: a subagent's directory is the same as the calling session's, and the edit tool belongs to every subagent that has not had it taken away by a line in its description. Hence an edit written over: two subagents edit the same files, and whichever wrote later writes over the first one's work. It writes it over entirely when it rewrites the file instead of editing a stretch — and then nothing is left of the first one's edit.</a:t>
            </a:r>
          </a:p>
          <a:p/>
          <a:p>
            <a:r>
              <a:t>The line in question is the tool list in the subagent's description: what is not in that list, the subagent does not do. Taking the edit tool away from a reading subagent costs nothing, and it is the first thing to check when several workers are working in a folder.</a:t>
            </a:r>
          </a:p>
          <a:p/>
          <a:p>
            <a:r>
              <a:t>Second: a subagent receives the state of the repository as a snapshot at the moment it starts, and the snapshot is not refreshed as the work goes on. You cannot choose who gets it: every subagent receives it except for two purely reading modes. Hence work done against a state that is no longer in the directory: a subagent creates afresh a file that "was not there", or edits a line that has already been rewritten alongside. The snapshot was made that way deliberately — a subagent has to understand what state the repository was in on the way in, and a refreshing snapshot would make its behavior depend on somebody else's pace of work. What we pay for that is that by the middle of the work the snapshot is stale.</a:t>
            </a:r>
          </a:p>
          <a:p/>
          <a:p>
            <a:r>
              <a:t>Two subagents launched at the same moment receive identical snapshots — and from then on each acts by that snapshot, knowing nothing about the other. That is what makes the breakage quiet: both are working against a state that is correct as far as they are concerned.</a:t>
            </a:r>
          </a:p>
          <a:p/>
          <a:p>
            <a:r>
              <a:t>Third: the calling session receives a subagent's result; the steps by which it was arrived at, it does not see. Hence two successful reports that show no collision at all — it shows up in the files themselves. What remains in the conversation is that the subagent worked and what it came back with; which writes it made along the way is reconstructed from the files and from the repository history.</a:t>
            </a:r>
          </a:p>
          <a:p/>
          <a:p>
            <a:r>
              <a:t>That is how it is built, and it is normal: a subagent works where the work lies, otherwise there would be nowhere to return the result to. So the first defense here is a zone layout.</a:t>
            </a:r>
          </a:p>
          <a:p/>
          <a:p>
            <a:r>
              <a:t>Forbidding a subagent to write is possible, and for reading subagents that is the answer: the tool list is the composition of the arsenal, and what is not in it the subagent physically cannot do. For writing ones, the layout remains.</a:t>
            </a:r>
          </a:p>
          <a:p/>
          <a:p>
            <a:r>
              <a:t>The move "let the subagents read the file right before writing" is the right one, it is examined on the next screen, and it has a limit: between the reading and the writing a gap remains, and it is not zero.</a:t>
            </a:r>
          </a:p>
          <a:p/>
          <a:p>
            <a:r>
              <a:t>How many subagents one folder can take is a question with two different answers. The arrangement allows twenty at once. How many the folder can take depends on how many non-overlapping zones you have managed to lay it out into, and that question is what the discussion at the end of the case closes.</a:t>
            </a:r>
          </a:p>
          <a:p/>
          <a:p>
            <a:r>
              <a:t>The position "it is better not to have writing subagents at all" is a workable one, and some teams live exactly that way: subagents read and report, the session writes. The cost is named honestly — everything written gets written at one pace, one thing after another.</a:t>
            </a:r>
          </a:p>
          <a:p/>
          <a:p>
            <a:r>
              <a:t>An edit written over is discovered by the same two signs that work throughout this case: reread the file after the work, and look at the time it was last edited. The subagent's conversation does not answer that question.</a:t>
            </a:r>
          </a:p>
        </p:txBody>
      </p:sp>
      <p:sp>
        <p:nvSpPr>
          <p:cNvPr id="4" name="Slide Number Placeholder 3"/>
          <p:cNvSpPr>
            <a:spLocks noGrp="1"/>
          </p:cNvSpPr>
          <p:nvPr>
            <p:ph type="sldNum" idx="5" sz="quarter"/>
          </p:nvPr>
        </p:nvSpPr>
        <p:spPr/>
      </p:sp>
    </p:spTree>
  </p:cSld>
  <p:clrMapOvr>
    <a:masterClrMapping/>
  </p:clrMapOvr>
</p:notes>
</file>

<file path=ppt/notesSlides/notesSlide5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Five techniques with which collisions in a shared folder are mitigated. Each has what it does not close named — which is why the list does not read as a promise of safety.</a:t>
            </a:r>
          </a:p>
          <a:p/>
          <a:p>
            <a:r>
              <a:rPr b="1"/>
              <a:t>Divide the zones up before launching: every worker gets a file set of its own.</a:t>
            </a:r>
            <a:r>
              <a:t> The harness documentation prescribes this in so many words exactly where copies are not given at all — to teammates in an agent team: the work is divided so that each one owns a file set of its own. What the technique does not close is a shared file needed by two of them: it stays a separate piece of work, and whose exactly is decided in advance.</a:t>
            </a:r>
          </a:p>
          <a:p/>
          <a:p>
            <a:r>
              <a:t>The zones are laid out by a person as the tasks are handed out: the zones are named in the setup itself, by file or directory names. Left to the workers' discretion, they drift apart, because each one sees its own task and does not see anybody else's files from inside it.</a:t>
            </a:r>
          </a:p>
          <a:p/>
          <a:p>
            <a:r>
              <a:t>In the setup that looks like one line: "your zone is these files; do not go into the neighboring ones; before editing anything shared, reread it". The line is short, and without it the worker touches everything it considers related to the task.</a:t>
            </a:r>
          </a:p>
          <a:p/>
          <a:p>
            <a:r>
              <a:rPr b="1"/>
              <a:t>Read the file right before writing, without relying on what was read at the start of the work.</a:t>
            </a:r>
            <a:r>
              <a:t> This is a direct consequence of the stale snapshot. What the technique does not close is the gap between the reading and the writing: it is short and not zero, and that is enough for somebody else's write to land between them. The technique lowers the frequency of collisions; promise anything it cannot.</a:t>
            </a:r>
          </a:p>
          <a:p/>
          <a:p>
            <a:r>
              <a:rPr b="1"/>
              <a:t>Edit a stretch, without rewriting the whole file.</a:t>
            </a:r>
            <a:r>
              <a:t> The difference is visible on any shared file: editing a stretch leaves the neighboring lines as somebody else's, and somebody else's work survives; rewriting brings in your own idea of the file whole. The second is more convenient and more expensive. What the technique does not close is a structural rework of a file — there the edit is "the whole thing", and two workers do not do work like that at once in a shared folder.</a:t>
            </a:r>
          </a:p>
          <a:p/>
          <a:p>
            <a:r>
              <a:rPr b="1"/>
              <a:t>Give non-overlapping tasks, and bring the results together in a separate pass.</a:t>
            </a:r>
            <a:r>
              <a:t> The technique works exactly up to the place where that pass is supposed to happen: it does not happen by itself, somebody does it, and it is visible work that has to be planned in.</a:t>
            </a:r>
          </a:p>
          <a:p/>
          <a:p>
            <a:r>
              <a:rPr b="1"/>
              <a:t>Take the sign of success from the file itself: reread the result, check the time of the edit.</a:t>
            </a:r>
            <a:r>
              <a:t> Calling an ordinary check a separate technique is necessary because in parallel work the familiar signs of success all converge at once, and each of them is telling the truth about something else. What that means in practice is shown by the next screen. In advance this technique closes nothing: it catches a collision that has already happened.</a:t>
            </a:r>
          </a:p>
          <a:p/>
          <a:p>
            <a:r>
              <a:t>The third and fifth techniques are a generalization of workarounds that had to be set up in this very repository; where they came from is visible on the next screen.</a:t>
            </a:r>
          </a:p>
          <a:p/>
          <a:p>
            <a:r>
              <a:t>Four techniques out of five are about the layout and the order of writing, the fifth catches what they let through. Not one requires a separate copy, and all five work where there is no copy to be had.</a:t>
            </a:r>
          </a:p>
          <a:p/>
          <a:p>
            <a:r>
              <a:t>Five are enough for what comes up most often. Not one of them promises that there will be no collision, and that is said at each of them. The question of who owns a shared file — a named owner, a queue, or a separate bringing-together pass — stays open and goes into the discussion.</a:t>
            </a:r>
          </a:p>
          <a:p/>
          <a:p>
            <a:r>
              <a:t>A sixth move that comes up by itself and is not a technique is the hope that the workers will happen not to meet in one file. With two workers that hope is borne out often; with six it stops being borne out: the more workers there are, the more likely it is that one of them needs a file somebody is already holding.</a:t>
            </a:r>
          </a:p>
        </p:txBody>
      </p:sp>
      <p:sp>
        <p:nvSpPr>
          <p:cNvPr id="4" name="Slide Number Placeholder 3"/>
          <p:cNvSpPr>
            <a:spLocks noGrp="1"/>
          </p:cNvSpPr>
          <p:nvPr>
            <p:ph type="sldNum" idx="5" sz="quarter"/>
          </p:nvPr>
        </p:nvSpPr>
        <p:spPr/>
      </p:sp>
    </p:spTree>
  </p:cSld>
  <p:clrMapOvr>
    <a:masterClrMapping/>
  </p:clrMapOvr>
</p:notes>
</file>

<file path=ppt/notesSlides/notesSlide5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course is built the same way — by several sessions at once, in one working copy. The three cases below are recorded in the log of the very repository that is open in front of you, and each of the three shows its own breakage from the ones we examined.</a:t>
            </a:r>
          </a:p>
          <a:p/>
          <a:p>
            <a:r>
              <a:rPr b="1"/>
              <a:t>Case one: an empty PDF with exit code zero.</a:t>
            </a:r>
            <a:r>
              <a:t> Six sessions were editing one deck in one directory. The build reads the presentation file and converts it into PDF; a neighboring session launched its own build and rewrote that input file at the moment the converter was reading it.</a:t>
            </a:r>
          </a:p>
          <a:p/>
          <a:p>
            <a:r>
              <a:t>Every sign of success lined up. Exit code zero. Printed line by line: "rendered slide 44", "rendered slide 45" and so on up to the fiftieth. Printed: "PDF copied". The page count in the resulting file was right — fifty-four. And all fifty-four pages out of fifty-four were blank.</a:t>
            </a:r>
          </a:p>
          <a:p/>
          <a:p>
            <a:r>
              <a:t>It is worth going through each sign separately, because the set is typical and comes up far beyond the building of slides.</a:t>
            </a:r>
          </a:p>
          <a:p/>
          <a:p>
            <a:r>
              <a:t>Exit code zero means the converter did not crash. It reports on its own execution and says nothing about the contents of the result: it read what it got from the file, carried the work to the end, and exited normally. A file being rewritten underneath a read does not make the read an error — it makes what was read something else.</a:t>
            </a:r>
          </a:p>
          <a:p/>
          <a:p>
            <a:r>
              <a:t>The line-by-line "rendered slide" with a number is printed by the builder itself as it goes through the pages. The line says that the step was launched and is silent about what ended up on the page.</a:t>
            </a:r>
          </a:p>
          <a:p/>
          <a:p>
            <a:r>
              <a:t>"PDF copied" is a report on copying a file. The file existed and it was copied. That check does not look into the contents at all.</a:t>
            </a:r>
          </a:p>
          <a:p/>
          <a:p>
            <a:r>
              <a:t>The right page count deceives more than the other signs, because it looks substantive: fifty-four expected, fifty-four received. The structure of the document survived — the pages were counted and laid out. There is no ink on them. A page count comes cheap and says nothing about contents.</a:t>
            </a:r>
          </a:p>
          <a:p/>
          <a:p>
            <a:r>
              <a:t>The only visible trace lay in the size: the file slimmed down from 6.67 to 2.69 MB. Nobody was looking at sizes, and that is understandable — there is no sign of its own in a size until you have something to compare it with.</a:t>
            </a:r>
          </a:p>
          <a:p/>
          <a:p>
            <a:r>
              <a:t>It was caught another way — by comparing timestamps. The input file turned out to have a later edit time than the output; which means the output was built from something else, and what was built cannot be trusted. That is the check that works here: compare the times of the input and the output, and reread the result itself. The question to put to a build is whether its output was built from that input; the fact that it went through does not answer that question.</a:t>
            </a:r>
          </a:p>
          <a:p/>
          <a:p>
            <a:r>
              <a:t>Why the blank pages were not found sooner: people were looking for the breakage in their own slides. The pages are white, so whoever edited last must have broken it, and each of them went off to check their own content. The sign by which this is recognized does not lie in the content at all: it lies in the edit time of the input file.</a:t>
            </a:r>
          </a:p>
          <a:p/>
          <a:p>
            <a:r>
              <a:rPr b="1"/>
              <a:t>Case two: an error that was not there.</a:t>
            </a:r>
            <a:r>
              <a:t> Two sessions were editing one build file, and a read of the file landed in the middle of somebody else's write. The build failed, complaining about a name that "does not exist" — the declaration line was in the file, visible to the naked eye. Half a minute later the same build went through without a single edit by anybody.</a:t>
            </a:r>
          </a:p>
          <a:p/>
          <a:p>
            <a:r>
              <a:t>In sign, this case is the inverse of the first: there, a successful report with a broken result; here, a refusal with an intact file. The cause for both is the same — they read a state somebody was changing at that moment. The sign is worth remembering: an error that disappears by itself, with no edits, is a sign of reading a state in flux. Looking for a defect in the code in a situation like that is pointless, because there is no defect there.</a:t>
            </a:r>
          </a:p>
          <a:p/>
          <a:p>
            <a:r>
              <a:rPr b="1"/>
              <a:t>Case three: two lectures in one copy.</a:t>
            </a:r>
            <a:r>
              <a:t> A lecture was being built in parallel with another in one working copy, and the branch was switched from both sessions. Each session saw its own branch in place — at the moment it was looking. The switches in one session came to more than seven, and about two hours went on recovering.</a:t>
            </a:r>
          </a:p>
          <a:p/>
          <a:p>
            <a:r>
              <a:t>Alongside this case stands its inverse, and it weighs more than the breakage itself. After the move to separate copies the same work went on being done in parallel further: first three lectures at once, then four — and there was not a single collision. Parallel work, then, stayed and expanded. What had to be forbidden was the shared directory underneath it.</a:t>
            </a:r>
          </a:p>
          <a:p/>
          <a:p>
            <a:r>
              <a:t>What follows from the three cases together. Every familiar sign of success lined up, and not one session, taken separately, did anything wrong: each did its own work and honestly reported on it. The truth was shown by two things — the result itself, reread after the build, and the edit time of the files. Hence the fifth technique from the previous screen, which without these three cases would look like a platitude.</a:t>
            </a:r>
          </a:p>
          <a:p/>
          <a:p>
            <a:r>
              <a:t>In the course's own rules this ended in two entries. A separate copy per session became mandatory, and the reason is written down next to the requirement. The second workaround is not to touch the shared build file at all: build your own set of pages in your own directory, and then somebody else's build cannot rewrite your input.</a:t>
            </a:r>
          </a:p>
          <a:p/>
          <a:p>
            <a:r>
              <a:t>In all three cases it was sessions that were working. For subagents there is one difference: they do not have a copy of their own by default, so the choice between a copy and zones does not arise there — zones are what is left. What breaks is the shared directory, and it is indifferent to who is working in it.</a:t>
            </a:r>
          </a:p>
          <a:p/>
          <a:p>
            <a:r>
              <a:t>A check on your own machine: </a:t>
            </a:r>
            <a:r>
              <a:rPr>
                <a:latin typeface="Consolas"/>
              </a:rPr>
              <a:t>git worktree list</a:t>
            </a:r>
            <a:r>
              <a:t> will show whether you have even one separate copy, and how many sessions are standing on one directory right now.</a:t>
            </a:r>
          </a:p>
        </p:txBody>
      </p:sp>
      <p:sp>
        <p:nvSpPr>
          <p:cNvPr id="4" name="Slide Number Placeholder 3"/>
          <p:cNvSpPr>
            <a:spLocks noGrp="1"/>
          </p:cNvSpPr>
          <p:nvPr>
            <p:ph type="sldNum" idx="5" sz="quarter"/>
          </p:nvPr>
        </p:nvSpPr>
        <p:spPr/>
      </p:sp>
    </p:spTree>
  </p:cSld>
  <p:clrMapOvr>
    <a:masterClrMapping/>
  </p:clrMapOvr>
</p:notes>
</file>

<file path=ppt/notesSlides/notesSlide5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copy can be given to a subagent, and it is worth starting with that so no wrong "it cannot be done" comes out of the case. One line in the subagent's description — </a:t>
            </a:r>
            <a:r>
              <a:rPr>
                <a:latin typeface="Consolas"/>
              </a:rPr>
              <a:t>isolation: worktree</a:t>
            </a:r>
            <a:r>
              <a:t> — and the subagent works in a temporary copy of the repository; the copy is cleaned up by itself if the subagent changed nothing. As a one-off, the same thing is asked for in words: use separate copies for the subagents. The field exists and is documented. It is switched on rarely, and that rarity is a decision assembled out of three costs.</a:t>
            </a:r>
          </a:p>
          <a:p/>
          <a:p>
            <a:r>
              <a:rPr b="1"/>
              <a:t>The first cost — the branch.</a:t>
            </a:r>
            <a:r>
              <a:t> A subagent's copy grows off the repository's default branch. It does not grow off the state your session is standing on, which means the work you began in your own directory an isolated subagent simply does not see: it gets a clean tree on the default branch and makes its edit on top of it. This can be switched — the base of the branch is set by a separate setting, and the documentation names outright the case the setting was made for: isolating a subagent that needs to work on something unfinished. Knowing about the setting is worth it, or the cost looks insurmountable. It is configurable, and reconfiguring it is a separate decision somebody takes deliberately.</a:t>
            </a:r>
          </a:p>
          <a:p/>
          <a:p>
            <a:r>
              <a:rPr b="1"/>
              <a:t>The second cost — the return journey.</a:t>
            </a:r>
            <a:r>
              <a:t> A subagent's channel back is a single one: the final text. File edits stay in its directory, on its branch, and bringing them into your work falls to you. In the ordinary mode there is no such step at all: the subagent edits where the work lies, and the edit is already in place. Isolation changes that into "the edit is ready and lying off to one side", and from there somebody brings it in by hand or takes it by merging a branch. The whole answer rests on this: the cost of isolating a subagent is the appearance of a step that did not exist before it.</a:t>
            </a:r>
          </a:p>
          <a:p/>
          <a:p>
            <a:r>
              <a:rPr b="1"/>
              <a:t>The third cost — the working environment.</a:t>
            </a:r>
            <a:r>
              <a:t> In a copy that is its own: dependencies and local files a subagent gets in whatever form they were put there. A subagent that needs to run tests will find nothing in an unprepared copy and will honestly report a refusal.</a:t>
            </a:r>
          </a:p>
          <a:p/>
          <a:p>
            <a:r>
              <a:t>The criterion from here runs along the subagent's work, not along their number.</a:t>
            </a:r>
          </a:p>
          <a:p/>
          <a:p>
            <a:r>
              <a:t>A copy is given when the subagent's work is a whole change that it is normal to accept as a branch: a mechanical pass across many files, one convention applied to the whole tree. It is given when there are many changes and it is more convenient to check them apart from your own edit. And there is an off-the-shelf technique that divides one large change among dozens of isolated subagents at once; it exists precisely because for work of that kind isolation pays off.</a:t>
            </a:r>
          </a:p>
          <a:p/>
          <a:p>
            <a:r>
              <a:t>A copy is not given when the subagent is editing what you began: a separate copy will cut it off from that work, and the subagent will come back with an edit to a clean tree. It is not given when the edit is short and needed right here — bringing up a copy's working environment costs more than the edit itself. And it is not given to a reading subagent: it has nothing to collide with, there is nothing to isolate.</a:t>
            </a:r>
          </a:p>
          <a:p/>
          <a:p>
            <a:r>
              <a:t>Teammates in an agent team are not given copies at all — teams like that work in one directory by design, and the prescription for them is the same: divide the work up by files. That is also the answer to the question of where the class of work suited to isolation ends. It ends where the workers are running one shared task and looking into the same files.</a:t>
            </a:r>
          </a:p>
          <a:p/>
          <a:p>
            <a:r>
              <a:t>What becomes of a subagent's copy once the subagent has finished. If it changed nothing, the copy is removed straight away — the arrangement does that itself, with nobody's discipline involved. If it changed something, the copy stays lying there until it is cleaned up along with the branch. Forgotten subagent copies accumulate the same way forgotten branches do, and clearing them does not happen by itself.</a:t>
            </a:r>
          </a:p>
          <a:p/>
          <a:p>
            <a:r>
              <a:t>A short takeaway to carry instead of "subagents are not given a copy": they are, for one class of work — the one where the subagent's edit is entirely its own and is accepted as a branch. In the other cases isolation cuts the subagent off from the work it was called in for.</a:t>
            </a:r>
          </a:p>
        </p:txBody>
      </p:sp>
      <p:sp>
        <p:nvSpPr>
          <p:cNvPr id="4" name="Slide Number Placeholder 3"/>
          <p:cNvSpPr>
            <a:spLocks noGrp="1"/>
          </p:cNvSpPr>
          <p:nvPr>
            <p:ph type="sldNum" idx="5" sz="quarter"/>
          </p:nvPr>
        </p:nvSpPr>
        <p:spPr/>
      </p:sp>
    </p:spTree>
  </p:cSld>
  <p:clrMapOvr>
    <a:masterClrMapping/>
  </p:clrMapOvr>
</p:notes>
</file>

<file path=ppt/notesSlides/notesSlide6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copy divides sessions, zones divide the workers inside a session. Where one ends and the other begins, each team decides for itself. The two questions below have no ready answer, and the reason for that can be named directly: the answer comes up against circumstances that differ from team to team — how expensive it is to bring up a copy's working environment, how often the shared file gets touched, who brings the results together and how much time they have for it. So the question is put together with a requirement to name the condition under which the answer changes: a named condition transfers to another tool, a habit does not.</a:t>
            </a:r>
          </a:p>
          <a:p/>
          <a:p>
            <a:r>
              <a:rPr b="1"/>
              <a:t>The first question: what has to be true about two pieces of work for you to agree to run them in one folder, and by what sign you set up a separate copy rather than working one at a time.</a:t>
            </a:r>
          </a:p>
          <a:p/>
          <a:p>
            <a:r>
              <a:t>It has two strong positions, and both are legitimate.</a:t>
            </a:r>
          </a:p>
          <a:p/>
          <a:p>
            <a:r>
              <a:t>"Always a separate copy, no exceptions." Collisions then become physically impossible: every piece of work has its own files and its own branch. The cost shows up in two cases. Fixing a typo in text takes thirty seconds, while bringing up a copy's working environment takes minutes, and on work like that a copy costs more than the fix itself. A repository with heavy files takes a long time to copy and takes up as much space as a working tree. To that are added abandoned copies, which accumulate, and a permission granted inside a copy that outlives it.</a:t>
            </a:r>
          </a:p>
          <a:p/>
          <a:p>
            <a:r>
              <a:t>"One at a time is more reliable." Also honest: one piece of work in the directory, one branch, one worker, nothing to collide with. The cost is time, and the position is tested by one question: what happens when the queue is longer than the working day. The previous case of the seminar showed that the parallelism lies in the task itself: if the work divides, a queue becomes a loss with no gain.</a:t>
            </a:r>
          </a:p>
          <a:p/>
          <a:p>
            <a:r>
              <a:t>Between these positions lies the way people most often work: a copy per session plus a zone layout inside each. The condition the choice depends on is then formulated around the shared file. If two pieces of work touch no shared file — one folder with a zone layout is enough. If they touch one rarely — a queue on that file will do. If they touch one constantly — either a copy is needed, or one worker on both pieces.</a:t>
            </a:r>
          </a:p>
          <a:p/>
          <a:p>
            <a:r>
              <a:t>The sign for "a copy rather than a queue" comes down to one question: can the second piece of work wait as long as the first one runs. If it can — a queue is cheaper, and there is nothing more to count. If it cannot — you pay for a copy, and bringing up the working environment is part of that bill.</a:t>
            </a:r>
          </a:p>
          <a:p/>
          <a:p>
            <a:r>
              <a:rPr b="1"/>
              <a:t>The second question: how many workers with the right to write you are prepared to keep in one folder at once. A number, and the sign by which you would stop.</a:t>
            </a:r>
          </a:p>
          <a:p/>
          <a:p>
            <a:r>
              <a:t>The arrangement allows twenty subagents at the same time, and it is usually not that cap people run into. What they run into is the person who reads the results: bringing together the work of ten workers is a separate piece of work, and the more workers there are the longer it takes. So a number above ten is worth testing with the question "who brings it together and how long does that take", and the tool's capabilities settle little here.</a:t>
            </a:r>
          </a:p>
          <a:p/>
          <a:p>
            <a:r>
              <a:t>The sign by which people stop is named through zones: how many non-overlapping file sets can you name in advance. Managed to name six — then six workers are what work. A seventh, which got no zone of its own, takes somebody else's, and the gain from it is eaten by the collision.</a:t>
            </a:r>
          </a:p>
          <a:p/>
          <a:p>
            <a:r>
              <a:t>The second sign is the shared file. If there is one file everybody needs, the ceiling for it is one writer, regardless of the total number of workers. Reading subagents do not enter that number at all: they have nothing to collide with, and the restriction applies to the right to write.</a:t>
            </a:r>
          </a:p>
          <a:p/>
          <a:p>
            <a:r>
              <a:rPr b="1"/>
              <a:t>A third question, if the first two closed quickly:</a:t>
            </a:r>
            <a:r>
              <a:t> who owns a file needed by two of them — a named owner, a queue, or a separate bringing-together pass. The answer depends on the frequency. A file touched once a week is closed by a queue. A file touched constantly asks for an owner. A file assembled out of pieces asks for a separate pass — and somebody does that pass, it does not happen by itself.</a:t>
            </a:r>
          </a:p>
        </p:txBody>
      </p:sp>
      <p:sp>
        <p:nvSpPr>
          <p:cNvPr id="4" name="Slide Number Placeholder 3"/>
          <p:cNvSpPr>
            <a:spLocks noGrp="1"/>
          </p:cNvSpPr>
          <p:nvPr>
            <p:ph type="sldNum" idx="5" sz="quarter"/>
          </p:nvPr>
        </p:nvSpPr>
        <p:spPr/>
      </p:sp>
    </p:spTree>
  </p:cSld>
  <p:clrMapOvr>
    <a:masterClrMapping/>
  </p:clrMapOvr>
</p:notes>
</file>

<file path=ppt/notesSlides/notesSlide6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close begins with the same person the seminar began with. On Monday the agent answered from the repository, and two of the client's requests were not in the answer: they were not inside at all. On Wednesday, already in a real product, it read everywhere the limit on members could be checked, assembled a correct list of four places — and asked again about what had been explained to it that morning: the reading had eaten the room the work itself was sitting in. The third and fourth rows of this table are exactly what has taken the place of those two misses.</a:t>
            </a:r>
          </a:p>
          <a:p/>
          <a:p>
            <a:r>
              <a:t>The third row, Monday. MCP gives the agent access to a system outside, and the permissions on that access are trimmed before connecting, not after. The order has a cost here, and it is documented: in the case examined in that section (Invariant Labs, May 2025) the agent was working with a token covering all of the user's repositories, including private ones; in a public repository there lay an ordinary-looking issue with an instruction to collect data about other repositories and publish it right there; the developer asked the agent to deal with the open issues, the agent honestly read them, the instruction landed in the context as a task, and the contents of the private repositories rode off into an automatically created public pull request. The line "all repositories, including private ones", struck out during the co-building, closes that scenario entirely: there is nothing to read. The "prevent or settle" column at this row is mixed — on the way in the section prevents, further on it settles what has already arisen: how to check what has been connected, and what to do with what has already been approved.</a:t>
            </a:r>
          </a:p>
          <a:p/>
          <a:p>
            <a:r>
              <a:t>The fourth row, Wednesday. Delegating a task to a separate worker can be done for free, without a single line of configuration: the reading goes off into the subagent's context, and a result comes back into the session. What this row does not do — it does not divide the working directory. A subagent works where the calling session stands, and several workers edit the very same files; collisions are removed by a zone layout, delegation by itself does not remove them.</a:t>
            </a:r>
          </a:p>
          <a:p/>
          <a:p>
            <a:r>
              <a:t>Why Monday is closed by MCP and Wednesday by the subagent follows from what was missing. On Monday what was needed was not inside at all, and a context of any size does not change that: what helps is access to a system that lives apart from the project. On Wednesday everything needed did fit inside and crowded the work out: what helps is somebody else's context, where the reading is done for us and a result comes back.</a:t>
            </a:r>
          </a:p>
          <a:p/>
          <a:p>
            <a:r>
              <a:t>The "what it does not do" column at the new rows is read by the same criterion as at the hook and the skill. That is how a mechanism is described before it has been measured; here what is shown is where what it actually does comes to an end. And by the same criterion both of today's rows stand next to the two earlier ones: the hook and the skill were carried over from the start of the seminar unchanged, the order of the rungs is the same — hook, skill, MCP, subagent. Four rows are filled in, and that is the whole axis of the seminar.</a:t>
            </a:r>
          </a:p>
          <a:p/>
          <a:p>
            <a:r>
              <a:t>The measurements the two new rows rest on lie in different places. For MCP — in the product documentation and in a particular server's card inside the session; they are not in the repository. For the subagent — with you yourselves: </a:t>
            </a:r>
            <a:r>
              <a:rPr>
                <a:latin typeface="Consolas"/>
              </a:rPr>
              <a:t>git worktree list</a:t>
            </a:r>
            <a:r>
              <a:t> prints whether there is even one separate copy of the repository and how many sessions are standing on one directory right now.</a:t>
            </a:r>
          </a:p>
        </p:txBody>
      </p:sp>
      <p:sp>
        <p:nvSpPr>
          <p:cNvPr id="4" name="Slide Number Placeholder 3"/>
          <p:cNvSpPr>
            <a:spLocks noGrp="1"/>
          </p:cNvSpPr>
          <p:nvPr>
            <p:ph type="sldNum" idx="5" sz="quarter"/>
          </p:nvPr>
        </p:nvSpPr>
        <p:spPr/>
      </p:sp>
    </p:spTree>
  </p:cSld>
  <p:clrMapOvr>
    <a:masterClrMapping/>
  </p:clrMapOvr>
</p:notes>
</file>

<file path=ppt/notesSlides/notesSlide6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marker "a diagram, not a snapshot" in the top line is part of the content. The seven rows below show what the project has and what confirms it, and the last three have no confirmation.</a:t>
            </a:r>
          </a:p>
          <a:p/>
          <a:p>
            <a:r>
              <a:t>The top four rows stand as they did at the start of the class: the hook with a commit, the skill planned, </a:t>
            </a:r>
            <a:r>
              <a:rPr>
                <a:latin typeface="Consolas"/>
              </a:rPr>
              <a:t>CLAUDE.md</a:t>
            </a:r>
            <a:r>
              <a:t> at forty lines and five sections, the documentation layer </a:t>
            </a:r>
            <a:r>
              <a:rPr>
                <a:latin typeface="Consolas"/>
              </a:rPr>
              <a:t>DECISIONS.md</a:t>
            </a:r>
            <a:r>
              <a:t> unchanged. Three new rows are today's, and two of them are new files. </a:t>
            </a:r>
            <a:r>
              <a:rPr>
                <a:latin typeface="Consolas"/>
              </a:rPr>
              <a:t>.mcp.json</a:t>
            </a:r>
            <a:r>
              <a:t>, the connection file, in which the permissions are struck out down to three operations: read open issues, write a comment, create a draft edit. And </a:t>
            </a:r>
            <a:r>
              <a:rPr>
                <a:latin typeface="Consolas"/>
              </a:rPr>
              <a:t>.claude/agents/diff-reviewer.md</a:t>
            </a:r>
            <a:r>
              <a:t>, the subagent's file, whose </a:t>
            </a:r>
            <a:r>
              <a:rPr>
                <a:latin typeface="Consolas"/>
              </a:rPr>
              <a:t>tools</a:t>
            </a:r>
            <a:r>
              <a:t> field holds three tools — </a:t>
            </a:r>
            <a:r>
              <a:rPr>
                <a:latin typeface="Consolas"/>
              </a:rPr>
              <a:t>Read</a:t>
            </a:r>
            <a:r>
              <a:t>, </a:t>
            </a:r>
            <a:r>
              <a:rPr>
                <a:latin typeface="Consolas"/>
              </a:rPr>
              <a:t>Grep</a:t>
            </a:r>
            <a:r>
              <a:t>, </a:t>
            </a:r>
            <a:r>
              <a:rPr>
                <a:latin typeface="Consolas"/>
              </a:rPr>
              <a:t>Glob</a:t>
            </a:r>
            <a:r>
              <a:t> — instead of all the available ones.</a:t>
            </a:r>
          </a:p>
          <a:p/>
          <a:p>
            <a:r>
              <a:t>The three operations in the connection file are what remained of the four permissions a broad personal access token grants by default. Access to all of the user's repositories, including private ones, is struck out: the list of operations does not need it. Managing settings is struck out, deleting is struck out. Of reading and writing, both remained — you cannot read issues and write a comment with a draft edit without them. What remained is one repository, reading issues and creating a draft; all the work of trimming the permissions was done before connecting.</a:t>
            </a:r>
          </a:p>
          <a:p/>
          <a:p>
            <a:r>
              <a:t>Both files carry the marker "planned, no commit and there will not be one". The demo repository is not built any further: that is a decision taken in advance and announced directly. Two classes with the material on access to the outside and on trimmed permissions worked through are worth more than one class with the demo repository built out to the end. This is said directly for the same reason the class spent the whole hour on the difference between what is written and what is already working: hiding that same difference in its own outcome would be strange.</a:t>
            </a:r>
          </a:p>
          <a:p/>
          <a:p>
            <a:r>
              <a:t>The file names were not invented to fit the diagram. Both were assembled in class line by line: the connection file in the first case of the MCP section, together with the order for resolving a name conflict between configuration scopes; the subagent's file on the rung's one-pager, where all six of its parts are taken apart. The paths are the same, with no discrepancies. For each of the two, which line is responsible for what is named on its own screen, and so is what is not in the file: for the connection file the key's permissions lie outside the file, in an environment variable, and are trimmed separately from it. The diagram here shows only the status of each row.</a:t>
            </a:r>
          </a:p>
          <a:p/>
          <a:p>
            <a:r>
              <a:t>It is worth noticing what these two rows are. One brings inside what is not inside. The other carries outside what does not fit inside. The two moves with which the class answered both misses look, on this project, like two files at known paths — written, taken apart line by line, and not committed.</a:t>
            </a:r>
          </a:p>
          <a:p/>
          <a:p>
            <a:r>
              <a:t>The seventh row stands apart from the previous two, and the difference is worth naming. The two files are new artifacts at new paths. The rule line about working copies is added into a file that already exists in the project and already contains rules of the same kind: the order of work in the repository, with the requirement not to commit straight into the main branch. The class adds two points there — a copy per task, and the merge with clean-up at the end. That is how an instruction file accumulates: a line per class, each one in the place of the case that called for it.</a:t>
            </a:r>
          </a:p>
          <a:p/>
          <a:p>
            <a:r>
              <a:t>The marker "planned, no commit" was put there by the previous class already, and for the same reason: the hook was set up and tested on a live repository, the skill was taken apart part by part but never got as far as a commit. Today three more of the same kind have been added to it. What the material taken apart is then checked by is taken apart by the last screen: part of today's material is checked by a command, part is not, and which is which is named.</a:t>
            </a:r>
          </a:p>
        </p:txBody>
      </p:sp>
      <p:sp>
        <p:nvSpPr>
          <p:cNvPr id="4" name="Slide Number Placeholder 3"/>
          <p:cNvSpPr>
            <a:spLocks noGrp="1"/>
          </p:cNvSpPr>
          <p:nvPr>
            <p:ph type="sldNum" idx="5" sz="quarter"/>
          </p:nvPr>
        </p:nvSpPr>
        <p:spPr/>
      </p:sp>
    </p:spTree>
  </p:cSld>
  <p:clrMapOvr>
    <a:masterClrMapping/>
  </p:clrMapOvr>
</p:notes>
</file>

<file path=ppt/notesSlides/notesSlide6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question on the screen is the same one that stood at the start of the class, character for character: the work has run past the agent's context — which do you set up first, bringing inside what is not inside, or carrying outside what does not fit inside?</a:t>
            </a:r>
          </a:p>
          <a:p/>
          <a:p>
            <a:r>
              <a:t>It has two legitimate answers, and that is a property of the question itself. "The work does not fit" describes two different states of affairs. In the first, what is needed is not inside at all: the data lives in a system that changes without you, and no size of context will bring it in there — you can only reach it with access. In the second, everything needed does go inside and takes up the room the work was sitting in: here what helps is somebody else's context, where the reading is done for you and a short result comes back. Which answer is right is determined by which of the two states you are in, and the criterion for that is what the class has been assembling for the whole hour.</a:t>
            </a:r>
          </a:p>
          <a:p/>
          <a:p>
            <a:r>
              <a:t>What usually changes in the answer over that time. The first movement is from "I take what is at hand" to a choice by a sign: the data is physically lacking, so access to the outside; the reading eats the room and repeats from session to session, so a separate worker. The second movement is toward the cost. Before the breakdown both moves look free: a connection is one command, a subagent is one file. The material we worked through sets each one's bill beside it. For access to the outside that is somebody else's code inside your work, permissions you have to trim by hand before connecting, and standing room in the context for every connected server — for the one you did not use once over the session you pay exactly as much as for a working one. For a separate worker that is the definitions of all the connected servers, which its context inherits in full, the gap between two subagents' zones, which neither of their reports shows, and the shared working directory in which the workers write over each other's edits.</a:t>
            </a:r>
          </a:p>
          <a:p/>
          <a:p>
            <a:r>
              <a:t>The answer "why choose at all, you can set up both" is worth taking apart separately. In a live project that is what happens, both work. The question is about the first move: the resources and the attention are single, and what gets set up first is what closes the shortage you already have. Setting up access to a system whose data you need once a month, and paying for it with standing room in the context of every session, is an ordinary mistake of order, and it costs exactly as much as the room taken up.</a:t>
            </a:r>
          </a:p>
          <a:p/>
          <a:p>
            <a:r>
              <a:t>It also happens that the answer does not change at all. That is an honest outcome: a person who was choosing by what is lacking even before the class was choosing correctly. What usually changes for them is something else — their idea of what each of the two moves costs.</a:t>
            </a:r>
          </a:p>
          <a:p/>
          <a:p>
            <a:r>
              <a:t>The question has no correct answer at the end either. It depends on what is lacking in the particular project: what is not inside at all, or the room taken up by reading. Over the class two criteria and two costs have appeared, named directly; the choice stays with whoever is looking at their own project.</a:t>
            </a:r>
          </a:p>
        </p:txBody>
      </p:sp>
      <p:sp>
        <p:nvSpPr>
          <p:cNvPr id="4" name="Slide Number Placeholder 3"/>
          <p:cNvSpPr>
            <a:spLocks noGrp="1"/>
          </p:cNvSpPr>
          <p:nvPr>
            <p:ph type="sldNum" idx="5" sz="quarter"/>
          </p:nvPr>
        </p:nvSpPr>
        <p:spPr/>
      </p:sp>
    </p:spTree>
  </p:cSld>
  <p:clrMapOvr>
    <a:masterClrMapping/>
  </p:clrMapOvr>
</p:notes>
</file>

<file path=ppt/notesSlides/notesSlide6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last screen of the class does two things: it honestly divides today's material by what it can be checked with, and it hands over the question with which you choose your move at home.</a:t>
            </a:r>
          </a:p>
          <a:p/>
          <a:p>
            <a:r>
              <a:t>Of the class's five cases, two carry a support.</a:t>
            </a:r>
          </a:p>
          <a:p/>
          <a:p>
            <a:r>
              <a:t>The server's status — the first case of the MCP section, its last screen. It is checked right on your own machine: </a:t>
            </a:r>
            <a:r>
              <a:rPr>
                <a:latin typeface="Consolas"/>
              </a:rPr>
              <a:t>claude mcp list</a:t>
            </a:r>
            <a:r>
              <a:t> prints the list of connected servers and their state, </a:t>
            </a:r>
            <a:r>
              <a:rPr>
                <a:latin typeface="Consolas"/>
              </a:rPr>
              <a:t>/mcp</a:t>
            </a:r>
            <a:r>
              <a:t> shows the same from inside the session, and there you can see that "connected" answers for a process being up and for nothing else. What remains as proof that a server is really working is an explicit named call, visible in the output; that too can be checked on your own machine in a minute. The assembled connection file is itself a target state: there is no commit behind it either in the demo repository or in the course repository, and the screen says so directly.</a:t>
            </a:r>
          </a:p>
          <a:p/>
          <a:p>
            <a:r>
              <a:t>Workers in one folder — the third case of the subagent section. </a:t>
            </a:r>
            <a:r>
              <a:rPr>
                <a:latin typeface="Consolas"/>
              </a:rPr>
              <a:t>git worktree list</a:t>
            </a:r>
            <a:r>
              <a:t> prints how many separate copies of the repository you have and which directory each one is standing on; from that you can see how many sessions are sharing one directory. On that same count the course caught itself: it is built by several sessions in one working copy, and three collisions are recorded in its log — an empty PDF with exit code zero, a build error from a read landing in the middle of somebody else's write, and about two hours spent recovering a branch. In all three, the familiar signs of success lined up. The log in which those cases are recorded is open.</a:t>
            </a:r>
          </a:p>
          <a:p/>
          <a:p>
            <a:r>
              <a:t>Under the other three there is no support in the form of a command you can run here and now, and that is said directly. The figures on context taken up come from the protocol's documentation and from engineering blogs — we do not take a measurement in class. The gain from delegated reading requires a prepared parallel run, which you cannot set up in a classroom. Misalignment between workers rests on a measurement over 1600+ traces of multi-agent systems, where it accounts for 37% of failures, and neither of the class's two supports demonstrates that. The checkability here is of a different kind: you read the primary source, you do not run a command. Three cells with no command are a difference in the nature of the material, and there is no oversight behind it.</a:t>
            </a:r>
          </a:p>
          <a:p/>
          <a:p>
            <a:r>
              <a:t>The result of the class is not measured by a number of files. The result is the question with which you choose a move, and the cost named at each of the two. Checkability is half of that result: about part of the material you can ask a question and get an answer by command, about the other part not yet, and an undeclared gap would cost more than a declared one.</a:t>
            </a:r>
          </a:p>
          <a:p/>
          <a:p>
            <a:r>
              <a:t>And the last thing, the thing it was all going for. Two mechanisms have been taken apart; what is worth carrying away is the question with which you choose between them. Tomorrow, when your work stops fitting the agent: what is it short of — what is not inside at all, or the room taken up by reading? The first you bring inside, the second you carry outside. The developer whose two misses the class began with tells those cases apart himself — and that is the whole answer to the question that was asked a second time a screen earlier.</a:t>
            </a:r>
          </a:p>
          <a:p/>
          <a:p>
            <a:r>
              <a:t>This is a question, and it does not become an assignment. Nobody needs to answer it, there is nowhere to send an answer, and it is not asked about in the next class: carrying it over to your own repository is the work of a class of its own, and beginning that with an unperformed assignment would be dishonest.</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png"/><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png"/><Relationship Id="rId3"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png"/><Relationship Id="rId3"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0.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1.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3.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4.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ln>
            <a:noFill/>
          </a:ln>
          <a:effectLst/>
          <a:gradFill rotWithShape="1">
            <a:gsLst>
              <a:gs pos="0">
                <a:srgbClr val="21295C"/>
              </a:gs>
              <a:gs pos="55000">
                <a:srgbClr val="065A82"/>
              </a:gs>
              <a:gs pos="100000">
                <a:srgbClr val="1C7293"/>
              </a:gs>
            </a:gsLst>
            <a:lin ang="2700000" scaled="1"/>
          </a:gra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274320"/>
            <a:ext cx="7315200" cy="1298448"/>
          </a:xfrm>
          <a:prstGeom prst="rect">
            <a:avLst/>
          </a:prstGeom>
          <a:noFill/>
        </p:spPr>
        <p:txBody>
          <a:bodyPr wrap="square" lIns="0" rIns="0" tIns="0" bIns="0" anchor="ctr">
            <a:spAutoFit/>
          </a:bodyPr>
          <a:lstStyle/>
          <a:p>
            <a:pPr algn="l">
              <a:lnSpc>
                <a:spcPts val="3564"/>
              </a:lnSpc>
              <a:spcAft>
                <a:spcPts val="0"/>
              </a:spcAft>
            </a:pPr>
            <a:r>
              <a:rPr sz="3300" b="1" i="0">
                <a:solidFill>
                  <a:srgbClr val="FFFFFF"/>
                </a:solidFill>
                <a:latin typeface="Arial"/>
              </a:rPr>
              <a:t>Access to the outside and trimmed permissions</a:t>
            </a:r>
          </a:p>
        </p:txBody>
      </p:sp>
      <p:sp>
        <p:nvSpPr>
          <p:cNvPr id="4" name="Rectangle 3"/>
          <p:cNvSpPr/>
          <p:nvPr/>
        </p:nvSpPr>
        <p:spPr>
          <a:xfrm>
            <a:off x="0" y="1847088"/>
            <a:ext cx="12191695" cy="64008"/>
          </a:xfrm>
          <a:prstGeom prst="rect">
            <a:avLst/>
          </a:prstGeom>
          <a:solidFill>
            <a:srgbClr val="F0AB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ramka-n01-hero-sem06-en.png"/>
          <p:cNvPicPr>
            <a:picLocks noChangeAspect="1"/>
          </p:cNvPicPr>
          <p:nvPr/>
        </p:nvPicPr>
        <p:blipFill>
          <a:blip r:embed="rId2"/>
          <a:stretch>
            <a:fillRect/>
          </a:stretch>
        </p:blipFill>
        <p:spPr>
          <a:xfrm>
            <a:off x="0" y="3708478"/>
            <a:ext cx="12191695" cy="3149521"/>
          </a:xfrm>
          <a:prstGeom prst="rect">
            <a:avLst/>
          </a:prstGeom>
        </p:spPr>
      </p:pic>
      <p:sp>
        <p:nvSpPr>
          <p:cNvPr id="6" name="Rectangle 5"/>
          <p:cNvSpPr/>
          <p:nvPr/>
        </p:nvSpPr>
        <p:spPr>
          <a:xfrm>
            <a:off x="822960" y="2176272"/>
            <a:ext cx="32004" cy="376427"/>
          </a:xfrm>
          <a:prstGeom prst="rect">
            <a:avLst/>
          </a:prstGeom>
          <a:solidFill>
            <a:srgbClr val="0280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97280" y="2139696"/>
            <a:ext cx="10241280" cy="449580"/>
          </a:xfrm>
          <a:prstGeom prst="rect">
            <a:avLst/>
          </a:prstGeom>
          <a:noFill/>
        </p:spPr>
        <p:txBody>
          <a:bodyPr wrap="square" lIns="0" rIns="0" tIns="0" bIns="0" anchor="t">
            <a:spAutoFit/>
          </a:bodyPr>
          <a:lstStyle/>
          <a:p>
            <a:pPr algn="l">
              <a:lnSpc>
                <a:spcPts val="1770"/>
              </a:lnSpc>
              <a:spcAft>
                <a:spcPts val="400"/>
              </a:spcAft>
            </a:pPr>
            <a:r>
              <a:rPr sz="1500" b="0" i="0">
                <a:solidFill>
                  <a:srgbClr val="D6E2EC"/>
                </a:solidFill>
                <a:latin typeface="Arial"/>
              </a:rPr>
              <a:t>Two weeks ago the agent knew everything about this project. On Monday it answered confidently and wide of the mark.</a:t>
            </a:r>
          </a:p>
        </p:txBody>
      </p:sp>
      <p:sp>
        <p:nvSpPr>
          <p:cNvPr id="8" name="Rounded Rectangle 7"/>
          <p:cNvSpPr/>
          <p:nvPr/>
        </p:nvSpPr>
        <p:spPr>
          <a:xfrm>
            <a:off x="822960" y="2827020"/>
            <a:ext cx="10515600" cy="698578"/>
          </a:xfrm>
          <a:prstGeom prst="roundRect">
            <a:avLst>
              <a:gd name="adj" fmla="val 10000"/>
            </a:avLst>
          </a:prstGeom>
          <a:solidFill>
            <a:srgbClr val="FEF5E0"/>
          </a:solidFill>
          <a:ln w="19050">
            <a:solidFill>
              <a:srgbClr val="F0AB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42416" y="2955036"/>
            <a:ext cx="9966960" cy="442546"/>
          </a:xfrm>
          <a:prstGeom prst="rect">
            <a:avLst/>
          </a:prstGeom>
          <a:noFill/>
        </p:spPr>
        <p:txBody>
          <a:bodyPr wrap="square" lIns="0" rIns="0" tIns="0" bIns="0" anchor="ctr">
            <a:spAutoFit/>
          </a:bodyPr>
          <a:lstStyle/>
          <a:p>
            <a:pPr algn="ctr">
              <a:lnSpc>
                <a:spcPts val="2074"/>
              </a:lnSpc>
              <a:spcAft>
                <a:spcPts val="300"/>
              </a:spcAft>
            </a:pPr>
            <a:r>
              <a:rPr sz="1700" b="1" i="0">
                <a:solidFill>
                  <a:srgbClr val="141B2E"/>
                </a:solidFill>
                <a:latin typeface="Arial"/>
              </a:rPr>
              <a:t>"The agent did not get dumber — so what stopped fitting?"</a:t>
            </a:r>
          </a:p>
        </p:txBody>
      </p:sp>
      <p:sp>
        <p:nvSpPr>
          <p:cNvPr id="10" name="TextBox 9"/>
          <p:cNvSpPr txBox="1"/>
          <p:nvPr/>
        </p:nvSpPr>
        <p:spPr>
          <a:xfrm>
            <a:off x="10957255" y="6437376"/>
            <a:ext cx="914400" cy="274320"/>
          </a:xfrm>
          <a:prstGeom prst="rect">
            <a:avLst/>
          </a:prstGeom>
          <a:noFill/>
        </p:spPr>
        <p:txBody>
          <a:bodyPr wrap="square" lIns="0" rIns="0" tIns="0" bIns="0" anchor="t">
            <a:spAutoFit/>
          </a:bodyPr>
          <a:lstStyle/>
          <a:p>
            <a:pPr algn="r">
              <a:lnSpc>
                <a:spcPts val="1238"/>
              </a:lnSpc>
              <a:spcAft>
                <a:spcPts val="0"/>
              </a:spcAft>
            </a:pPr>
            <a:r>
              <a:rPr sz="1050" b="0" i="0">
                <a:solidFill>
                  <a:srgbClr val="FFFFFF"/>
                </a:solidFill>
                <a:latin typeface="Arial"/>
              </a:rPr>
              <a:t>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02920" y="310896"/>
            <a:ext cx="11183112" cy="431291"/>
          </a:xfrm>
          <a:prstGeom prst="rect">
            <a:avLst/>
          </a:prstGeom>
          <a:noFill/>
        </p:spPr>
        <p:txBody>
          <a:bodyPr wrap="square" lIns="0" rIns="0" tIns="0" bIns="0" anchor="t">
            <a:spAutoFit/>
          </a:bodyPr>
          <a:lstStyle/>
          <a:p>
            <a:pPr algn="l">
              <a:lnSpc>
                <a:spcPts val="2963"/>
              </a:lnSpc>
              <a:spcAft>
                <a:spcPts val="0"/>
              </a:spcAft>
            </a:pPr>
            <a:r>
              <a:rPr sz="2600" b="1" i="0">
                <a:solidFill>
                  <a:srgbClr val="141B2E"/>
                </a:solidFill>
                <a:latin typeface="Arial"/>
              </a:rPr>
              <a:t>Where we left off</a:t>
            </a:r>
          </a:p>
        </p:txBody>
      </p:sp>
      <p:sp>
        <p:nvSpPr>
          <p:cNvPr id="3" name="Rounded Rectangle 2"/>
          <p:cNvSpPr/>
          <p:nvPr/>
        </p:nvSpPr>
        <p:spPr>
          <a:xfrm>
            <a:off x="502920" y="1716786"/>
            <a:ext cx="11183112" cy="2036444"/>
          </a:xfrm>
          <a:prstGeom prst="roundRect">
            <a:avLst>
              <a:gd name="adj" fmla="val 14967"/>
            </a:avLst>
          </a:prstGeom>
          <a:solidFill>
            <a:srgbClr val="FFFFFF"/>
          </a:solidFill>
          <a:ln w="1778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85800" y="1899666"/>
            <a:ext cx="1660594" cy="282067"/>
          </a:xfrm>
          <a:prstGeom prst="rect">
            <a:avLst/>
          </a:prstGeom>
          <a:noFill/>
        </p:spPr>
        <p:txBody>
          <a:bodyPr wrap="square" lIns="0" rIns="0" tIns="0" bIns="0" anchor="t">
            <a:spAutoFit/>
          </a:bodyPr>
          <a:lstStyle/>
          <a:p>
            <a:pPr algn="l">
              <a:lnSpc>
                <a:spcPts val="1265"/>
              </a:lnSpc>
              <a:spcAft>
                <a:spcPts val="0"/>
              </a:spcAft>
            </a:pPr>
            <a:r>
              <a:rPr sz="1150" b="1" i="0">
                <a:solidFill>
                  <a:srgbClr val="6B7685"/>
                </a:solidFill>
                <a:latin typeface="Arial"/>
              </a:rPr>
              <a:t>RUNG</a:t>
            </a:r>
          </a:p>
        </p:txBody>
      </p:sp>
      <p:sp>
        <p:nvSpPr>
          <p:cNvPr id="5" name="TextBox 4"/>
          <p:cNvSpPr txBox="1"/>
          <p:nvPr/>
        </p:nvSpPr>
        <p:spPr>
          <a:xfrm>
            <a:off x="2492698" y="1899666"/>
            <a:ext cx="6409501" cy="282067"/>
          </a:xfrm>
          <a:prstGeom prst="rect">
            <a:avLst/>
          </a:prstGeom>
          <a:noFill/>
        </p:spPr>
        <p:txBody>
          <a:bodyPr wrap="square" lIns="0" rIns="0" tIns="0" bIns="0" anchor="t">
            <a:spAutoFit/>
          </a:bodyPr>
          <a:lstStyle/>
          <a:p>
            <a:pPr algn="l">
              <a:lnSpc>
                <a:spcPts val="1265"/>
              </a:lnSpc>
              <a:spcAft>
                <a:spcPts val="0"/>
              </a:spcAft>
            </a:pPr>
            <a:r>
              <a:rPr sz="1150" b="1" i="0">
                <a:solidFill>
                  <a:srgbClr val="6B7685"/>
                </a:solidFill>
                <a:latin typeface="Arial"/>
              </a:rPr>
              <a:t>PATH OR ARTIFACT</a:t>
            </a:r>
          </a:p>
        </p:txBody>
      </p:sp>
      <p:sp>
        <p:nvSpPr>
          <p:cNvPr id="6" name="TextBox 5"/>
          <p:cNvSpPr txBox="1"/>
          <p:nvPr/>
        </p:nvSpPr>
        <p:spPr>
          <a:xfrm>
            <a:off x="9048503" y="1899666"/>
            <a:ext cx="2308344" cy="282067"/>
          </a:xfrm>
          <a:prstGeom prst="rect">
            <a:avLst/>
          </a:prstGeom>
          <a:noFill/>
        </p:spPr>
        <p:txBody>
          <a:bodyPr wrap="square" lIns="0" rIns="0" tIns="0" bIns="0" anchor="t">
            <a:spAutoFit/>
          </a:bodyPr>
          <a:lstStyle/>
          <a:p>
            <a:pPr algn="l">
              <a:lnSpc>
                <a:spcPts val="1265"/>
              </a:lnSpc>
              <a:spcAft>
                <a:spcPts val="0"/>
              </a:spcAft>
            </a:pPr>
            <a:r>
              <a:rPr sz="1150" b="1" i="0">
                <a:solidFill>
                  <a:srgbClr val="6B7685"/>
                </a:solidFill>
                <a:latin typeface="Arial"/>
              </a:rPr>
              <a:t>STATUS</a:t>
            </a:r>
          </a:p>
        </p:txBody>
      </p:sp>
      <p:sp>
        <p:nvSpPr>
          <p:cNvPr id="7" name="TextBox 6"/>
          <p:cNvSpPr txBox="1"/>
          <p:nvPr/>
        </p:nvSpPr>
        <p:spPr>
          <a:xfrm>
            <a:off x="685800" y="2181733"/>
            <a:ext cx="1660594" cy="347154"/>
          </a:xfrm>
          <a:prstGeom prst="rect">
            <a:avLst/>
          </a:prstGeom>
          <a:noFill/>
        </p:spPr>
        <p:txBody>
          <a:bodyPr wrap="square" lIns="0" rIns="0" tIns="0" bIns="0" anchor="ctr">
            <a:spAutoFit/>
          </a:bodyPr>
          <a:lstStyle/>
          <a:p>
            <a:pPr algn="l">
              <a:lnSpc>
                <a:spcPts val="1437"/>
              </a:lnSpc>
              <a:spcAft>
                <a:spcPts val="0"/>
              </a:spcAft>
            </a:pPr>
            <a:r>
              <a:rPr sz="1250" b="0" i="0">
                <a:solidFill>
                  <a:srgbClr val="141B2E"/>
                </a:solidFill>
                <a:latin typeface="Arial"/>
              </a:rPr>
              <a:t>Hook</a:t>
            </a:r>
          </a:p>
        </p:txBody>
      </p:sp>
      <p:sp>
        <p:nvSpPr>
          <p:cNvPr id="8" name="TextBox 7"/>
          <p:cNvSpPr txBox="1"/>
          <p:nvPr/>
        </p:nvSpPr>
        <p:spPr>
          <a:xfrm>
            <a:off x="2492698" y="2181733"/>
            <a:ext cx="6409501" cy="347154"/>
          </a:xfrm>
          <a:prstGeom prst="rect">
            <a:avLst/>
          </a:prstGeom>
          <a:noFill/>
        </p:spPr>
        <p:txBody>
          <a:bodyPr wrap="square" lIns="0" rIns="0" tIns="0" bIns="0" anchor="ctr">
            <a:spAutoFit/>
          </a:bodyPr>
          <a:lstStyle/>
          <a:p>
            <a:pPr algn="l">
              <a:lnSpc>
                <a:spcPts val="1437"/>
              </a:lnSpc>
              <a:spcAft>
                <a:spcPts val="0"/>
              </a:spcAft>
            </a:pPr>
            <a:r>
              <a:rPr sz="1250" b="0" i="0">
                <a:solidFill>
                  <a:srgbClr val="141B2E"/>
                </a:solidFill>
                <a:latin typeface="Consolas"/>
              </a:rPr>
              <a:t>.claude/settings.json</a:t>
            </a:r>
            <a:r>
              <a:rPr sz="1250" b="0" i="0">
                <a:solidFill>
                  <a:srgbClr val="141B2E"/>
                </a:solidFill>
                <a:latin typeface="Arial"/>
              </a:rPr>
              <a:t> + </a:t>
            </a:r>
            <a:r>
              <a:rPr sz="1250" b="0" i="0">
                <a:solidFill>
                  <a:srgbClr val="141B2E"/>
                </a:solidFill>
                <a:latin typeface="Consolas"/>
              </a:rPr>
              <a:t>.claude/hooks/selftest-branch-guard.sh</a:t>
            </a:r>
          </a:p>
        </p:txBody>
      </p:sp>
      <p:sp>
        <p:nvSpPr>
          <p:cNvPr id="9" name="TextBox 8"/>
          <p:cNvSpPr txBox="1"/>
          <p:nvPr/>
        </p:nvSpPr>
        <p:spPr>
          <a:xfrm>
            <a:off x="9048503" y="2181733"/>
            <a:ext cx="2308344" cy="347154"/>
          </a:xfrm>
          <a:prstGeom prst="rect">
            <a:avLst/>
          </a:prstGeom>
          <a:noFill/>
        </p:spPr>
        <p:txBody>
          <a:bodyPr wrap="square" lIns="0" rIns="0" tIns="0" bIns="0" anchor="ctr">
            <a:spAutoFit/>
          </a:bodyPr>
          <a:lstStyle/>
          <a:p>
            <a:pPr algn="l">
              <a:lnSpc>
                <a:spcPts val="1437"/>
              </a:lnSpc>
              <a:spcAft>
                <a:spcPts val="0"/>
              </a:spcAft>
            </a:pPr>
            <a:r>
              <a:rPr sz="1250" b="0" i="0">
                <a:solidFill>
                  <a:srgbClr val="141B2E"/>
                </a:solidFill>
                <a:latin typeface="Arial"/>
              </a:rPr>
              <a:t>has a commit</a:t>
            </a:r>
          </a:p>
        </p:txBody>
      </p:sp>
      <p:cxnSp>
        <p:nvCxnSpPr>
          <p:cNvPr id="10" name="Connector 9"/>
          <p:cNvCxnSpPr/>
          <p:nvPr/>
        </p:nvCxnSpPr>
        <p:spPr>
          <a:xfrm>
            <a:off x="685800" y="2528887"/>
            <a:ext cx="10817352" cy="0"/>
          </a:xfrm>
          <a:prstGeom prst="line">
            <a:avLst/>
          </a:prstGeom>
          <a:ln w="9525">
            <a:solidFill>
              <a:srgbClr val="E5EAF0"/>
            </a:solidFill>
          </a:ln>
        </p:spPr>
        <p:style>
          <a:lnRef idx="2">
            <a:schemeClr val="accent1"/>
          </a:lnRef>
          <a:fillRef idx="0">
            <a:schemeClr val="accent1"/>
          </a:fillRef>
          <a:effectRef idx="1">
            <a:schemeClr val="accent1"/>
          </a:effectRef>
          <a:fontRef idx="minor">
            <a:schemeClr val="tx1"/>
          </a:fontRef>
        </p:style>
      </p:cxnSp>
      <p:sp>
        <p:nvSpPr>
          <p:cNvPr id="11" name="TextBox 10"/>
          <p:cNvSpPr txBox="1"/>
          <p:nvPr/>
        </p:nvSpPr>
        <p:spPr>
          <a:xfrm>
            <a:off x="685800" y="2528887"/>
            <a:ext cx="1660594" cy="347154"/>
          </a:xfrm>
          <a:prstGeom prst="rect">
            <a:avLst/>
          </a:prstGeom>
          <a:noFill/>
        </p:spPr>
        <p:txBody>
          <a:bodyPr wrap="square" lIns="0" rIns="0" tIns="0" bIns="0" anchor="ctr">
            <a:spAutoFit/>
          </a:bodyPr>
          <a:lstStyle/>
          <a:p>
            <a:pPr algn="l">
              <a:lnSpc>
                <a:spcPts val="1437"/>
              </a:lnSpc>
              <a:spcAft>
                <a:spcPts val="0"/>
              </a:spcAft>
            </a:pPr>
            <a:r>
              <a:rPr sz="1250" b="0" i="0">
                <a:solidFill>
                  <a:srgbClr val="141B2E"/>
                </a:solidFill>
                <a:latin typeface="Arial"/>
              </a:rPr>
              <a:t>Skill</a:t>
            </a:r>
          </a:p>
        </p:txBody>
      </p:sp>
      <p:sp>
        <p:nvSpPr>
          <p:cNvPr id="12" name="TextBox 11"/>
          <p:cNvSpPr txBox="1"/>
          <p:nvPr/>
        </p:nvSpPr>
        <p:spPr>
          <a:xfrm>
            <a:off x="2492698" y="2528887"/>
            <a:ext cx="6409501" cy="347154"/>
          </a:xfrm>
          <a:prstGeom prst="rect">
            <a:avLst/>
          </a:prstGeom>
          <a:noFill/>
        </p:spPr>
        <p:txBody>
          <a:bodyPr wrap="square" lIns="0" rIns="0" tIns="0" bIns="0" anchor="ctr">
            <a:spAutoFit/>
          </a:bodyPr>
          <a:lstStyle/>
          <a:p>
            <a:pPr algn="l">
              <a:lnSpc>
                <a:spcPts val="1437"/>
              </a:lnSpc>
              <a:spcAft>
                <a:spcPts val="0"/>
              </a:spcAft>
            </a:pPr>
            <a:r>
              <a:rPr sz="1250" b="0" i="0">
                <a:solidFill>
                  <a:srgbClr val="141B2E"/>
                </a:solidFill>
                <a:latin typeface="Consolas"/>
              </a:rPr>
              <a:t>.claude/skills/deploy/SKILL.md</a:t>
            </a:r>
          </a:p>
        </p:txBody>
      </p:sp>
      <p:sp>
        <p:nvSpPr>
          <p:cNvPr id="13" name="TextBox 12"/>
          <p:cNvSpPr txBox="1"/>
          <p:nvPr/>
        </p:nvSpPr>
        <p:spPr>
          <a:xfrm>
            <a:off x="9048503" y="2528887"/>
            <a:ext cx="2308344" cy="347154"/>
          </a:xfrm>
          <a:prstGeom prst="rect">
            <a:avLst/>
          </a:prstGeom>
          <a:noFill/>
        </p:spPr>
        <p:txBody>
          <a:bodyPr wrap="square" lIns="0" rIns="0" tIns="0" bIns="0" anchor="ctr">
            <a:spAutoFit/>
          </a:bodyPr>
          <a:lstStyle/>
          <a:p>
            <a:pPr algn="l">
              <a:lnSpc>
                <a:spcPts val="1437"/>
              </a:lnSpc>
              <a:spcAft>
                <a:spcPts val="0"/>
              </a:spcAft>
            </a:pPr>
            <a:r>
              <a:rPr sz="1250" b="0" i="0">
                <a:solidFill>
                  <a:srgbClr val="141B2E"/>
                </a:solidFill>
                <a:latin typeface="Arial"/>
              </a:rPr>
              <a:t>only a plan, no commit</a:t>
            </a:r>
          </a:p>
        </p:txBody>
      </p:sp>
      <p:cxnSp>
        <p:nvCxnSpPr>
          <p:cNvPr id="14" name="Connector 13"/>
          <p:cNvCxnSpPr/>
          <p:nvPr/>
        </p:nvCxnSpPr>
        <p:spPr>
          <a:xfrm>
            <a:off x="685800" y="2876042"/>
            <a:ext cx="10817352" cy="0"/>
          </a:xfrm>
          <a:prstGeom prst="line">
            <a:avLst/>
          </a:prstGeom>
          <a:ln w="9525">
            <a:solidFill>
              <a:srgbClr val="E5EAF0"/>
            </a:solidFill>
          </a:ln>
        </p:spPr>
        <p:style>
          <a:lnRef idx="2">
            <a:schemeClr val="accent1"/>
          </a:lnRef>
          <a:fillRef idx="0">
            <a:schemeClr val="accent1"/>
          </a:fillRef>
          <a:effectRef idx="1">
            <a:schemeClr val="accent1"/>
          </a:effectRef>
          <a:fontRef idx="minor">
            <a:schemeClr val="tx1"/>
          </a:fontRef>
        </p:style>
      </p:cxnSp>
      <p:sp>
        <p:nvSpPr>
          <p:cNvPr id="15" name="TextBox 14"/>
          <p:cNvSpPr txBox="1"/>
          <p:nvPr/>
        </p:nvSpPr>
        <p:spPr>
          <a:xfrm>
            <a:off x="685800" y="2876042"/>
            <a:ext cx="1660594" cy="347154"/>
          </a:xfrm>
          <a:prstGeom prst="rect">
            <a:avLst/>
          </a:prstGeom>
          <a:noFill/>
        </p:spPr>
        <p:txBody>
          <a:bodyPr wrap="square" lIns="0" rIns="0" tIns="0" bIns="0" anchor="ctr">
            <a:spAutoFit/>
          </a:bodyPr>
          <a:lstStyle/>
          <a:p>
            <a:pPr algn="l">
              <a:lnSpc>
                <a:spcPts val="1437"/>
              </a:lnSpc>
              <a:spcAft>
                <a:spcPts val="0"/>
              </a:spcAft>
            </a:pPr>
            <a:r>
              <a:rPr sz="1250" b="0" i="0">
                <a:solidFill>
                  <a:srgbClr val="141B2E"/>
                </a:solidFill>
                <a:latin typeface="Arial"/>
              </a:rPr>
              <a:t>CLAUDE.md</a:t>
            </a:r>
          </a:p>
        </p:txBody>
      </p:sp>
      <p:sp>
        <p:nvSpPr>
          <p:cNvPr id="16" name="TextBox 15"/>
          <p:cNvSpPr txBox="1"/>
          <p:nvPr/>
        </p:nvSpPr>
        <p:spPr>
          <a:xfrm>
            <a:off x="2492698" y="2876042"/>
            <a:ext cx="6409501" cy="347154"/>
          </a:xfrm>
          <a:prstGeom prst="rect">
            <a:avLst/>
          </a:prstGeom>
          <a:noFill/>
        </p:spPr>
        <p:txBody>
          <a:bodyPr wrap="square" lIns="0" rIns="0" tIns="0" bIns="0" anchor="ctr">
            <a:spAutoFit/>
          </a:bodyPr>
          <a:lstStyle/>
          <a:p>
            <a:pPr algn="l">
              <a:lnSpc>
                <a:spcPts val="1437"/>
              </a:lnSpc>
              <a:spcAft>
                <a:spcPts val="0"/>
              </a:spcAft>
            </a:pPr>
            <a:r>
              <a:rPr sz="1250" b="0" i="0">
                <a:solidFill>
                  <a:srgbClr val="141B2E"/>
                </a:solidFill>
                <a:latin typeface="Arial"/>
              </a:rPr>
              <a:t>was 24 lines / 4 sections → now 40 lines / 5 sections</a:t>
            </a:r>
          </a:p>
        </p:txBody>
      </p:sp>
      <p:sp>
        <p:nvSpPr>
          <p:cNvPr id="17" name="TextBox 16"/>
          <p:cNvSpPr txBox="1"/>
          <p:nvPr/>
        </p:nvSpPr>
        <p:spPr>
          <a:xfrm>
            <a:off x="9048503" y="2876042"/>
            <a:ext cx="2308344" cy="347154"/>
          </a:xfrm>
          <a:prstGeom prst="rect">
            <a:avLst/>
          </a:prstGeom>
          <a:noFill/>
        </p:spPr>
        <p:txBody>
          <a:bodyPr wrap="square" lIns="0" rIns="0" tIns="0" bIns="0" anchor="ctr">
            <a:spAutoFit/>
          </a:bodyPr>
          <a:lstStyle/>
          <a:p>
            <a:pPr algn="l">
              <a:lnSpc>
                <a:spcPts val="1437"/>
              </a:lnSpc>
              <a:spcAft>
                <a:spcPts val="0"/>
              </a:spcAft>
            </a:pPr>
            <a:r>
              <a:rPr sz="1250" b="0" i="0">
                <a:solidFill>
                  <a:srgbClr val="141B2E"/>
                </a:solidFill>
                <a:latin typeface="Arial"/>
              </a:rPr>
              <a:t>has a commit</a:t>
            </a:r>
          </a:p>
        </p:txBody>
      </p:sp>
      <p:cxnSp>
        <p:nvCxnSpPr>
          <p:cNvPr id="18" name="Connector 17"/>
          <p:cNvCxnSpPr/>
          <p:nvPr/>
        </p:nvCxnSpPr>
        <p:spPr>
          <a:xfrm>
            <a:off x="685800" y="3223196"/>
            <a:ext cx="10817352" cy="0"/>
          </a:xfrm>
          <a:prstGeom prst="line">
            <a:avLst/>
          </a:prstGeom>
          <a:ln w="9525">
            <a:solidFill>
              <a:srgbClr val="E5EAF0"/>
            </a:solidFill>
          </a:ln>
        </p:spPr>
        <p:style>
          <a:lnRef idx="2">
            <a:schemeClr val="accent1"/>
          </a:lnRef>
          <a:fillRef idx="0">
            <a:schemeClr val="accent1"/>
          </a:fillRef>
          <a:effectRef idx="1">
            <a:schemeClr val="accent1"/>
          </a:effectRef>
          <a:fontRef idx="minor">
            <a:schemeClr val="tx1"/>
          </a:fontRef>
        </p:style>
      </p:cxnSp>
      <p:sp>
        <p:nvSpPr>
          <p:cNvPr id="19" name="TextBox 18"/>
          <p:cNvSpPr txBox="1"/>
          <p:nvPr/>
        </p:nvSpPr>
        <p:spPr>
          <a:xfrm>
            <a:off x="685800" y="3223196"/>
            <a:ext cx="1660594" cy="347154"/>
          </a:xfrm>
          <a:prstGeom prst="rect">
            <a:avLst/>
          </a:prstGeom>
          <a:noFill/>
        </p:spPr>
        <p:txBody>
          <a:bodyPr wrap="square" lIns="0" rIns="0" tIns="0" bIns="0" anchor="ctr">
            <a:spAutoFit/>
          </a:bodyPr>
          <a:lstStyle/>
          <a:p>
            <a:pPr algn="l">
              <a:lnSpc>
                <a:spcPts val="1437"/>
              </a:lnSpc>
              <a:spcAft>
                <a:spcPts val="0"/>
              </a:spcAft>
            </a:pPr>
            <a:r>
              <a:rPr sz="1250" b="0" i="0">
                <a:solidFill>
                  <a:srgbClr val="141B2E"/>
                </a:solidFill>
                <a:latin typeface="Arial"/>
              </a:rPr>
              <a:t>DECISIONS.md</a:t>
            </a:r>
          </a:p>
        </p:txBody>
      </p:sp>
      <p:sp>
        <p:nvSpPr>
          <p:cNvPr id="20" name="TextBox 19"/>
          <p:cNvSpPr txBox="1"/>
          <p:nvPr/>
        </p:nvSpPr>
        <p:spPr>
          <a:xfrm>
            <a:off x="2492698" y="3223196"/>
            <a:ext cx="6409501" cy="347154"/>
          </a:xfrm>
          <a:prstGeom prst="rect">
            <a:avLst/>
          </a:prstGeom>
          <a:noFill/>
        </p:spPr>
        <p:txBody>
          <a:bodyPr wrap="square" lIns="0" rIns="0" tIns="0" bIns="0" anchor="ctr">
            <a:spAutoFit/>
          </a:bodyPr>
          <a:lstStyle/>
          <a:p>
            <a:pPr algn="l">
              <a:lnSpc>
                <a:spcPts val="1437"/>
              </a:lnSpc>
              <a:spcAft>
                <a:spcPts val="0"/>
              </a:spcAft>
            </a:pPr>
            <a:r>
              <a:rPr sz="1250" b="0" i="0">
                <a:solidFill>
                  <a:srgbClr val="141B2E"/>
                </a:solidFill>
                <a:latin typeface="Arial"/>
              </a:rPr>
              <a:t>the repository's documentation layer</a:t>
            </a:r>
          </a:p>
        </p:txBody>
      </p:sp>
      <p:sp>
        <p:nvSpPr>
          <p:cNvPr id="21" name="TextBox 20"/>
          <p:cNvSpPr txBox="1"/>
          <p:nvPr/>
        </p:nvSpPr>
        <p:spPr>
          <a:xfrm>
            <a:off x="9048503" y="3223196"/>
            <a:ext cx="2308344" cy="347154"/>
          </a:xfrm>
          <a:prstGeom prst="rect">
            <a:avLst/>
          </a:prstGeom>
          <a:noFill/>
        </p:spPr>
        <p:txBody>
          <a:bodyPr wrap="square" lIns="0" rIns="0" tIns="0" bIns="0" anchor="ctr">
            <a:spAutoFit/>
          </a:bodyPr>
          <a:lstStyle/>
          <a:p>
            <a:pPr algn="l">
              <a:lnSpc>
                <a:spcPts val="1437"/>
              </a:lnSpc>
              <a:spcAft>
                <a:spcPts val="0"/>
              </a:spcAft>
            </a:pPr>
            <a:r>
              <a:rPr sz="1250" b="0" i="0">
                <a:solidFill>
                  <a:srgbClr val="141B2E"/>
                </a:solidFill>
                <a:latin typeface="Arial"/>
              </a:rPr>
              <a:t>no change</a:t>
            </a:r>
          </a:p>
        </p:txBody>
      </p:sp>
      <p:sp>
        <p:nvSpPr>
          <p:cNvPr id="22" name="Rounded Rectangle 21"/>
          <p:cNvSpPr/>
          <p:nvPr/>
        </p:nvSpPr>
        <p:spPr>
          <a:xfrm>
            <a:off x="502920" y="4420742"/>
            <a:ext cx="82296" cy="746760"/>
          </a:xfrm>
          <a:prstGeom prst="roundRect">
            <a:avLst>
              <a:gd name="adj" fmla="val 50000"/>
            </a:avLst>
          </a:prstGeom>
          <a:solidFill>
            <a:srgbClr val="F0AB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59536" y="4548758"/>
            <a:ext cx="10643616" cy="490727"/>
          </a:xfrm>
          <a:prstGeom prst="rect">
            <a:avLst/>
          </a:prstGeom>
          <a:noFill/>
        </p:spPr>
        <p:txBody>
          <a:bodyPr wrap="square" lIns="0" rIns="0" tIns="0" bIns="0" anchor="ctr">
            <a:spAutoFit/>
          </a:bodyPr>
          <a:lstStyle/>
          <a:p>
            <a:pPr algn="l">
              <a:lnSpc>
                <a:spcPts val="1860"/>
              </a:lnSpc>
              <a:spcAft>
                <a:spcPts val="300"/>
              </a:spcAft>
            </a:pPr>
            <a:r>
              <a:rPr sz="1500" b="1" i="0">
                <a:solidFill>
                  <a:srgbClr val="141B2E"/>
                </a:solidFill>
                <a:latin typeface="Arial"/>
              </a:rPr>
              <a:t>"Four things, and all four of them inside the repository. As long as the work was here, the agent held the project whole."</a:t>
            </a:r>
          </a:p>
        </p:txBody>
      </p:sp>
      <p:sp>
        <p:nvSpPr>
          <p:cNvPr id="24" name="TextBox 23"/>
          <p:cNvSpPr txBox="1"/>
          <p:nvPr/>
        </p:nvSpPr>
        <p:spPr>
          <a:xfrm>
            <a:off x="10957255" y="6437376"/>
            <a:ext cx="914400" cy="274320"/>
          </a:xfrm>
          <a:prstGeom prst="rect">
            <a:avLst/>
          </a:prstGeom>
          <a:noFill/>
        </p:spPr>
        <p:txBody>
          <a:bodyPr wrap="square" lIns="0" rIns="0" tIns="0" bIns="0" anchor="t">
            <a:spAutoFit/>
          </a:bodyPr>
          <a:lstStyle/>
          <a:p>
            <a:pPr algn="r">
              <a:lnSpc>
                <a:spcPts val="1238"/>
              </a:lnSpc>
              <a:spcAft>
                <a:spcPts val="0"/>
              </a:spcAft>
            </a:pPr>
            <a:r>
              <a:rPr sz="1050" b="0" i="0">
                <a:solidFill>
                  <a:srgbClr val="6B7685"/>
                </a:solidFill>
                <a:latin typeface="Arial"/>
              </a:rPr>
              <a:t>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02920" y="310896"/>
            <a:ext cx="11183112" cy="431291"/>
          </a:xfrm>
          <a:prstGeom prst="rect">
            <a:avLst/>
          </a:prstGeom>
          <a:noFill/>
        </p:spPr>
        <p:txBody>
          <a:bodyPr wrap="square" lIns="0" rIns="0" tIns="0" bIns="0" anchor="t">
            <a:spAutoFit/>
          </a:bodyPr>
          <a:lstStyle/>
          <a:p>
            <a:pPr algn="l">
              <a:lnSpc>
                <a:spcPts val="2963"/>
              </a:lnSpc>
              <a:spcAft>
                <a:spcPts val="0"/>
              </a:spcAft>
            </a:pPr>
            <a:r>
              <a:rPr sz="2600" b="1" i="0">
                <a:solidFill>
                  <a:srgbClr val="141B2E"/>
                </a:solidFill>
                <a:latin typeface="Arial"/>
              </a:rPr>
              <a:t>Two rows closed — both about what is inside</a:t>
            </a:r>
          </a:p>
        </p:txBody>
      </p:sp>
      <p:sp>
        <p:nvSpPr>
          <p:cNvPr id="3" name="Rounded Rectangle 2"/>
          <p:cNvSpPr/>
          <p:nvPr/>
        </p:nvSpPr>
        <p:spPr>
          <a:xfrm>
            <a:off x="502920" y="1519174"/>
            <a:ext cx="11183112" cy="2766695"/>
          </a:xfrm>
          <a:prstGeom prst="roundRect">
            <a:avLst>
              <a:gd name="adj" fmla="val 11016"/>
            </a:avLst>
          </a:prstGeom>
          <a:solidFill>
            <a:srgbClr val="FFFFFF"/>
          </a:solidFill>
          <a:ln w="1778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85800" y="1702054"/>
            <a:ext cx="1259951" cy="282067"/>
          </a:xfrm>
          <a:prstGeom prst="rect">
            <a:avLst/>
          </a:prstGeom>
          <a:noFill/>
        </p:spPr>
        <p:txBody>
          <a:bodyPr wrap="square" lIns="0" rIns="0" tIns="0" bIns="0" anchor="t">
            <a:spAutoFit/>
          </a:bodyPr>
          <a:lstStyle/>
          <a:p>
            <a:pPr algn="l">
              <a:lnSpc>
                <a:spcPts val="1265"/>
              </a:lnSpc>
              <a:spcAft>
                <a:spcPts val="0"/>
              </a:spcAft>
            </a:pPr>
            <a:r>
              <a:rPr sz="1150" b="1" i="0">
                <a:solidFill>
                  <a:srgbClr val="6B7685"/>
                </a:solidFill>
                <a:latin typeface="Arial"/>
              </a:rPr>
              <a:t>RUNG</a:t>
            </a:r>
          </a:p>
        </p:txBody>
      </p:sp>
      <p:sp>
        <p:nvSpPr>
          <p:cNvPr id="5" name="TextBox 4"/>
          <p:cNvSpPr txBox="1"/>
          <p:nvPr/>
        </p:nvSpPr>
        <p:spPr>
          <a:xfrm>
            <a:off x="2092055" y="1702054"/>
            <a:ext cx="2774381" cy="282067"/>
          </a:xfrm>
          <a:prstGeom prst="rect">
            <a:avLst/>
          </a:prstGeom>
          <a:noFill/>
        </p:spPr>
        <p:txBody>
          <a:bodyPr wrap="square" lIns="0" rIns="0" tIns="0" bIns="0" anchor="t">
            <a:spAutoFit/>
          </a:bodyPr>
          <a:lstStyle/>
          <a:p>
            <a:pPr algn="l">
              <a:lnSpc>
                <a:spcPts val="1265"/>
              </a:lnSpc>
              <a:spcAft>
                <a:spcPts val="0"/>
              </a:spcAft>
            </a:pPr>
            <a:r>
              <a:rPr sz="1150" b="1" i="0">
                <a:solidFill>
                  <a:srgbClr val="6B7685"/>
                </a:solidFill>
                <a:latin typeface="Arial"/>
              </a:rPr>
              <a:t>PREVENT / SETTLE</a:t>
            </a:r>
          </a:p>
        </p:txBody>
      </p:sp>
      <p:sp>
        <p:nvSpPr>
          <p:cNvPr id="6" name="TextBox 5"/>
          <p:cNvSpPr txBox="1"/>
          <p:nvPr/>
        </p:nvSpPr>
        <p:spPr>
          <a:xfrm>
            <a:off x="5012740" y="1702054"/>
            <a:ext cx="2774381" cy="282067"/>
          </a:xfrm>
          <a:prstGeom prst="rect">
            <a:avLst/>
          </a:prstGeom>
          <a:noFill/>
        </p:spPr>
        <p:txBody>
          <a:bodyPr wrap="square" lIns="0" rIns="0" tIns="0" bIns="0" anchor="t">
            <a:spAutoFit/>
          </a:bodyPr>
          <a:lstStyle/>
          <a:p>
            <a:pPr algn="l">
              <a:lnSpc>
                <a:spcPts val="1265"/>
              </a:lnSpc>
              <a:spcAft>
                <a:spcPts val="0"/>
              </a:spcAft>
            </a:pPr>
            <a:r>
              <a:rPr sz="1150" b="1" i="0">
                <a:solidFill>
                  <a:srgbClr val="6B7685"/>
                </a:solidFill>
                <a:latin typeface="Arial"/>
              </a:rPr>
              <a:t>WHAT IT DOES</a:t>
            </a:r>
          </a:p>
        </p:txBody>
      </p:sp>
      <p:sp>
        <p:nvSpPr>
          <p:cNvPr id="7" name="TextBox 6"/>
          <p:cNvSpPr txBox="1"/>
          <p:nvPr/>
        </p:nvSpPr>
        <p:spPr>
          <a:xfrm>
            <a:off x="7933425" y="1702054"/>
            <a:ext cx="3423422" cy="282067"/>
          </a:xfrm>
          <a:prstGeom prst="rect">
            <a:avLst/>
          </a:prstGeom>
          <a:noFill/>
        </p:spPr>
        <p:txBody>
          <a:bodyPr wrap="square" lIns="0" rIns="0" tIns="0" bIns="0" anchor="t">
            <a:spAutoFit/>
          </a:bodyPr>
          <a:lstStyle/>
          <a:p>
            <a:pPr algn="l">
              <a:lnSpc>
                <a:spcPts val="1265"/>
              </a:lnSpc>
              <a:spcAft>
                <a:spcPts val="0"/>
              </a:spcAft>
            </a:pPr>
            <a:r>
              <a:rPr sz="1150" b="1" i="0">
                <a:solidFill>
                  <a:srgbClr val="6B7685"/>
                </a:solidFill>
                <a:latin typeface="Arial"/>
              </a:rPr>
              <a:t>WHAT IT DOES NOT DO / THE LIMIT</a:t>
            </a:r>
          </a:p>
        </p:txBody>
      </p:sp>
      <p:sp>
        <p:nvSpPr>
          <p:cNvPr id="8" name="TextBox 7"/>
          <p:cNvSpPr txBox="1"/>
          <p:nvPr/>
        </p:nvSpPr>
        <p:spPr>
          <a:xfrm>
            <a:off x="685800" y="1984121"/>
            <a:ext cx="1259951" cy="712279"/>
          </a:xfrm>
          <a:prstGeom prst="rect">
            <a:avLst/>
          </a:prstGeom>
          <a:noFill/>
        </p:spPr>
        <p:txBody>
          <a:bodyPr wrap="square" lIns="0" rIns="0" tIns="0" bIns="0" anchor="ctr">
            <a:spAutoFit/>
          </a:bodyPr>
          <a:lstStyle/>
          <a:p>
            <a:pPr algn="l">
              <a:lnSpc>
                <a:spcPts val="1437"/>
              </a:lnSpc>
              <a:spcAft>
                <a:spcPts val="0"/>
              </a:spcAft>
            </a:pPr>
            <a:r>
              <a:rPr sz="1250" b="0" i="0">
                <a:solidFill>
                  <a:srgbClr val="141B2E"/>
                </a:solidFill>
                <a:latin typeface="Arial"/>
              </a:rPr>
              <a:t>Hook</a:t>
            </a:r>
          </a:p>
        </p:txBody>
      </p:sp>
      <p:sp>
        <p:nvSpPr>
          <p:cNvPr id="9" name="TextBox 8"/>
          <p:cNvSpPr txBox="1"/>
          <p:nvPr/>
        </p:nvSpPr>
        <p:spPr>
          <a:xfrm>
            <a:off x="2092055" y="1984121"/>
            <a:ext cx="2774381" cy="712279"/>
          </a:xfrm>
          <a:prstGeom prst="rect">
            <a:avLst/>
          </a:prstGeom>
          <a:noFill/>
        </p:spPr>
        <p:txBody>
          <a:bodyPr wrap="square" lIns="0" rIns="0" tIns="0" bIns="0" anchor="ctr">
            <a:spAutoFit/>
          </a:bodyPr>
          <a:lstStyle/>
          <a:p>
            <a:pPr algn="l">
              <a:lnSpc>
                <a:spcPts val="1437"/>
              </a:lnSpc>
              <a:spcAft>
                <a:spcPts val="0"/>
              </a:spcAft>
            </a:pPr>
            <a:r>
              <a:rPr sz="1250" b="0" i="0">
                <a:solidFill>
                  <a:srgbClr val="141B2E"/>
                </a:solidFill>
                <a:latin typeface="Arial"/>
              </a:rPr>
              <a:t>Settle — the rule has already been broken</a:t>
            </a:r>
          </a:p>
        </p:txBody>
      </p:sp>
      <p:sp>
        <p:nvSpPr>
          <p:cNvPr id="10" name="TextBox 9"/>
          <p:cNvSpPr txBox="1"/>
          <p:nvPr/>
        </p:nvSpPr>
        <p:spPr>
          <a:xfrm>
            <a:off x="5012740" y="1984121"/>
            <a:ext cx="2774381" cy="712279"/>
          </a:xfrm>
          <a:prstGeom prst="rect">
            <a:avLst/>
          </a:prstGeom>
          <a:noFill/>
        </p:spPr>
        <p:txBody>
          <a:bodyPr wrap="square" lIns="0" rIns="0" tIns="0" bIns="0" anchor="ctr">
            <a:spAutoFit/>
          </a:bodyPr>
          <a:lstStyle/>
          <a:p>
            <a:pPr algn="l">
              <a:lnSpc>
                <a:spcPts val="1437"/>
              </a:lnSpc>
              <a:spcAft>
                <a:spcPts val="0"/>
              </a:spcAft>
            </a:pPr>
            <a:r>
              <a:rPr sz="1250" b="0" i="0">
                <a:solidFill>
                  <a:srgbClr val="141B2E"/>
                </a:solidFill>
                <a:latin typeface="Arial"/>
              </a:rPr>
              <a:t>Rejects one pattern of writing into </a:t>
            </a:r>
            <a:r>
              <a:rPr sz="1250" b="0" i="0">
                <a:solidFill>
                  <a:srgbClr val="141B2E"/>
                </a:solidFill>
                <a:latin typeface="Consolas"/>
              </a:rPr>
              <a:t>main</a:t>
            </a:r>
            <a:r>
              <a:rPr sz="1250" b="0" i="0">
                <a:solidFill>
                  <a:srgbClr val="141B2E"/>
                </a:solidFill>
                <a:latin typeface="Arial"/>
              </a:rPr>
              <a:t> out of six ways of committing</a:t>
            </a:r>
          </a:p>
        </p:txBody>
      </p:sp>
      <p:sp>
        <p:nvSpPr>
          <p:cNvPr id="11" name="TextBox 10"/>
          <p:cNvSpPr txBox="1"/>
          <p:nvPr/>
        </p:nvSpPr>
        <p:spPr>
          <a:xfrm>
            <a:off x="7933425" y="1984121"/>
            <a:ext cx="3423422" cy="712279"/>
          </a:xfrm>
          <a:prstGeom prst="rect">
            <a:avLst/>
          </a:prstGeom>
          <a:noFill/>
        </p:spPr>
        <p:txBody>
          <a:bodyPr wrap="square" lIns="0" rIns="0" tIns="0" bIns="0" anchor="ctr">
            <a:spAutoFit/>
          </a:bodyPr>
          <a:lstStyle/>
          <a:p>
            <a:pPr algn="l">
              <a:lnSpc>
                <a:spcPts val="1437"/>
              </a:lnSpc>
              <a:spcAft>
                <a:spcPts val="0"/>
              </a:spcAft>
            </a:pPr>
            <a:r>
              <a:rPr sz="1250" b="0" i="0">
                <a:solidFill>
                  <a:srgbClr val="141B2E"/>
                </a:solidFill>
                <a:latin typeface="Arial"/>
              </a:rPr>
              <a:t>On the other five it is silent; a person with a terminal it does not see at all</a:t>
            </a:r>
          </a:p>
        </p:txBody>
      </p:sp>
      <p:cxnSp>
        <p:nvCxnSpPr>
          <p:cNvPr id="12" name="Connector 11"/>
          <p:cNvCxnSpPr/>
          <p:nvPr/>
        </p:nvCxnSpPr>
        <p:spPr>
          <a:xfrm>
            <a:off x="685800" y="2696400"/>
            <a:ext cx="10817352" cy="0"/>
          </a:xfrm>
          <a:prstGeom prst="line">
            <a:avLst/>
          </a:prstGeom>
          <a:ln w="9525">
            <a:solidFill>
              <a:srgbClr val="E5EAF0"/>
            </a:solidFill>
          </a:ln>
        </p:spPr>
        <p:style>
          <a:lnRef idx="2">
            <a:schemeClr val="accent1"/>
          </a:lnRef>
          <a:fillRef idx="0">
            <a:schemeClr val="accent1"/>
          </a:fillRef>
          <a:effectRef idx="1">
            <a:schemeClr val="accent1"/>
          </a:effectRef>
          <a:fontRef idx="minor">
            <a:schemeClr val="tx1"/>
          </a:fontRef>
        </p:style>
      </p:cxnSp>
      <p:sp>
        <p:nvSpPr>
          <p:cNvPr id="13" name="TextBox 12"/>
          <p:cNvSpPr txBox="1"/>
          <p:nvPr/>
        </p:nvSpPr>
        <p:spPr>
          <a:xfrm>
            <a:off x="685800" y="2696400"/>
            <a:ext cx="1259951" cy="712279"/>
          </a:xfrm>
          <a:prstGeom prst="rect">
            <a:avLst/>
          </a:prstGeom>
          <a:noFill/>
        </p:spPr>
        <p:txBody>
          <a:bodyPr wrap="square" lIns="0" rIns="0" tIns="0" bIns="0" anchor="ctr">
            <a:spAutoFit/>
          </a:bodyPr>
          <a:lstStyle/>
          <a:p>
            <a:pPr algn="l">
              <a:lnSpc>
                <a:spcPts val="1437"/>
              </a:lnSpc>
              <a:spcAft>
                <a:spcPts val="0"/>
              </a:spcAft>
            </a:pPr>
            <a:r>
              <a:rPr sz="1250" b="0" i="0">
                <a:solidFill>
                  <a:srgbClr val="141B2E"/>
                </a:solidFill>
                <a:latin typeface="Arial"/>
              </a:rPr>
              <a:t>Skill</a:t>
            </a:r>
          </a:p>
        </p:txBody>
      </p:sp>
      <p:sp>
        <p:nvSpPr>
          <p:cNvPr id="14" name="TextBox 13"/>
          <p:cNvSpPr txBox="1"/>
          <p:nvPr/>
        </p:nvSpPr>
        <p:spPr>
          <a:xfrm>
            <a:off x="2092055" y="2696400"/>
            <a:ext cx="2774381" cy="712279"/>
          </a:xfrm>
          <a:prstGeom prst="rect">
            <a:avLst/>
          </a:prstGeom>
          <a:noFill/>
        </p:spPr>
        <p:txBody>
          <a:bodyPr wrap="square" lIns="0" rIns="0" tIns="0" bIns="0" anchor="ctr">
            <a:spAutoFit/>
          </a:bodyPr>
          <a:lstStyle/>
          <a:p>
            <a:pPr algn="l">
              <a:lnSpc>
                <a:spcPts val="1437"/>
              </a:lnSpc>
              <a:spcAft>
                <a:spcPts val="0"/>
              </a:spcAft>
            </a:pPr>
            <a:r>
              <a:rPr sz="1250" b="0" i="0">
                <a:solidFill>
                  <a:srgbClr val="141B2E"/>
                </a:solidFill>
                <a:latin typeface="Arial"/>
              </a:rPr>
              <a:t>Settle — on a signal that the instruction file is overloaded</a:t>
            </a:r>
          </a:p>
        </p:txBody>
      </p:sp>
      <p:sp>
        <p:nvSpPr>
          <p:cNvPr id="15" name="TextBox 14"/>
          <p:cNvSpPr txBox="1"/>
          <p:nvPr/>
        </p:nvSpPr>
        <p:spPr>
          <a:xfrm>
            <a:off x="5012740" y="2696400"/>
            <a:ext cx="2774381" cy="712279"/>
          </a:xfrm>
          <a:prstGeom prst="rect">
            <a:avLst/>
          </a:prstGeom>
          <a:noFill/>
        </p:spPr>
        <p:txBody>
          <a:bodyPr wrap="square" lIns="0" rIns="0" tIns="0" bIns="0" anchor="ctr">
            <a:spAutoFit/>
          </a:bodyPr>
          <a:lstStyle/>
          <a:p>
            <a:pPr algn="l">
              <a:lnSpc>
                <a:spcPts val="1437"/>
              </a:lnSpc>
              <a:spcAft>
                <a:spcPts val="0"/>
              </a:spcAft>
            </a:pPr>
            <a:r>
              <a:rPr sz="1250" b="0" i="0">
                <a:solidFill>
                  <a:srgbClr val="141B2E"/>
                </a:solidFill>
                <a:latin typeface="Arial"/>
              </a:rPr>
              <a:t>Loads a file on an exact match of the trigger description</a:t>
            </a:r>
          </a:p>
        </p:txBody>
      </p:sp>
      <p:sp>
        <p:nvSpPr>
          <p:cNvPr id="16" name="TextBox 15"/>
          <p:cNvSpPr txBox="1"/>
          <p:nvPr/>
        </p:nvSpPr>
        <p:spPr>
          <a:xfrm>
            <a:off x="7933425" y="2696400"/>
            <a:ext cx="3423422" cy="712279"/>
          </a:xfrm>
          <a:prstGeom prst="rect">
            <a:avLst/>
          </a:prstGeom>
          <a:noFill/>
        </p:spPr>
        <p:txBody>
          <a:bodyPr wrap="square" lIns="0" rIns="0" tIns="0" bIns="0" anchor="ctr">
            <a:spAutoFit/>
          </a:bodyPr>
          <a:lstStyle/>
          <a:p>
            <a:pPr algn="l">
              <a:lnSpc>
                <a:spcPts val="1437"/>
              </a:lnSpc>
              <a:spcAft>
                <a:spcPts val="0"/>
              </a:spcAft>
            </a:pPr>
            <a:r>
              <a:rPr sz="1250" b="0" i="0">
                <a:solidFill>
                  <a:srgbClr val="141B2E"/>
                </a:solidFill>
                <a:latin typeface="Arial"/>
              </a:rPr>
              <a:t>Without an exact trigger it will not fire at all — the file's contents are not in the context until it fires</a:t>
            </a:r>
          </a:p>
        </p:txBody>
      </p:sp>
      <p:cxnSp>
        <p:nvCxnSpPr>
          <p:cNvPr id="17" name="Connector 16"/>
          <p:cNvCxnSpPr/>
          <p:nvPr/>
        </p:nvCxnSpPr>
        <p:spPr>
          <a:xfrm>
            <a:off x="685800" y="3408680"/>
            <a:ext cx="10817352" cy="0"/>
          </a:xfrm>
          <a:prstGeom prst="line">
            <a:avLst/>
          </a:prstGeom>
          <a:ln w="9525">
            <a:solidFill>
              <a:srgbClr val="E5EAF0"/>
            </a:solidFill>
          </a:ln>
        </p:spPr>
        <p:style>
          <a:lnRef idx="2">
            <a:schemeClr val="accent1"/>
          </a:lnRef>
          <a:fillRef idx="0">
            <a:schemeClr val="accent1"/>
          </a:fillRef>
          <a:effectRef idx="1">
            <a:schemeClr val="accent1"/>
          </a:effectRef>
          <a:fontRef idx="minor">
            <a:schemeClr val="tx1"/>
          </a:fontRef>
        </p:style>
      </p:cxnSp>
      <p:sp>
        <p:nvSpPr>
          <p:cNvPr id="18" name="TextBox 17"/>
          <p:cNvSpPr txBox="1"/>
          <p:nvPr/>
        </p:nvSpPr>
        <p:spPr>
          <a:xfrm>
            <a:off x="685800" y="3408680"/>
            <a:ext cx="1259951" cy="347154"/>
          </a:xfrm>
          <a:prstGeom prst="rect">
            <a:avLst/>
          </a:prstGeom>
          <a:noFill/>
        </p:spPr>
        <p:txBody>
          <a:bodyPr wrap="square" lIns="0" rIns="0" tIns="0" bIns="0" anchor="ctr">
            <a:spAutoFit/>
          </a:bodyPr>
          <a:lstStyle/>
          <a:p>
            <a:pPr algn="l">
              <a:lnSpc>
                <a:spcPts val="1437"/>
              </a:lnSpc>
              <a:spcAft>
                <a:spcPts val="0"/>
              </a:spcAft>
            </a:pPr>
            <a:r>
              <a:rPr sz="1250" b="0" i="0">
                <a:solidFill>
                  <a:srgbClr val="141B2E"/>
                </a:solidFill>
                <a:latin typeface="Arial"/>
              </a:rPr>
              <a:t>MCP</a:t>
            </a:r>
          </a:p>
        </p:txBody>
      </p:sp>
      <p:sp>
        <p:nvSpPr>
          <p:cNvPr id="19" name="Rounded Rectangle 18"/>
          <p:cNvSpPr/>
          <p:nvPr/>
        </p:nvSpPr>
        <p:spPr>
          <a:xfrm>
            <a:off x="2110343" y="3481832"/>
            <a:ext cx="2737805" cy="200850"/>
          </a:xfrm>
          <a:prstGeom prst="roundRect">
            <a:avLst>
              <a:gd name="adj" fmla="val 16666"/>
            </a:avLst>
          </a:prstGeom>
          <a:solidFill>
            <a:srgbClr val="E4E9EF"/>
          </a:solidFill>
          <a:ln w="12700">
            <a:solidFill>
              <a:srgbClr val="E5EAF0"/>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5031028" y="3481832"/>
            <a:ext cx="2737805" cy="200850"/>
          </a:xfrm>
          <a:prstGeom prst="roundRect">
            <a:avLst>
              <a:gd name="adj" fmla="val 16666"/>
            </a:avLst>
          </a:prstGeom>
          <a:solidFill>
            <a:srgbClr val="E4E9EF"/>
          </a:solidFill>
          <a:ln w="12700">
            <a:solidFill>
              <a:srgbClr val="E5EAF0"/>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ounded Rectangle 20"/>
          <p:cNvSpPr/>
          <p:nvPr/>
        </p:nvSpPr>
        <p:spPr>
          <a:xfrm>
            <a:off x="7951713" y="3481832"/>
            <a:ext cx="3386846" cy="200850"/>
          </a:xfrm>
          <a:prstGeom prst="roundRect">
            <a:avLst>
              <a:gd name="adj" fmla="val 16666"/>
            </a:avLst>
          </a:prstGeom>
          <a:solidFill>
            <a:srgbClr val="E4E9EF"/>
          </a:solidFill>
          <a:ln w="12700">
            <a:solidFill>
              <a:srgbClr val="E5EAF0"/>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22" name="Connector 21"/>
          <p:cNvCxnSpPr/>
          <p:nvPr/>
        </p:nvCxnSpPr>
        <p:spPr>
          <a:xfrm>
            <a:off x="685800" y="3755834"/>
            <a:ext cx="10817352" cy="0"/>
          </a:xfrm>
          <a:prstGeom prst="line">
            <a:avLst/>
          </a:prstGeom>
          <a:ln w="9525">
            <a:solidFill>
              <a:srgbClr val="E5EAF0"/>
            </a:solidFill>
          </a:ln>
        </p:spPr>
        <p:style>
          <a:lnRef idx="2">
            <a:schemeClr val="accent1"/>
          </a:lnRef>
          <a:fillRef idx="0">
            <a:schemeClr val="accent1"/>
          </a:fillRef>
          <a:effectRef idx="1">
            <a:schemeClr val="accent1"/>
          </a:effectRef>
          <a:fontRef idx="minor">
            <a:schemeClr val="tx1"/>
          </a:fontRef>
        </p:style>
      </p:cxnSp>
      <p:sp>
        <p:nvSpPr>
          <p:cNvPr id="23" name="TextBox 22"/>
          <p:cNvSpPr txBox="1"/>
          <p:nvPr/>
        </p:nvSpPr>
        <p:spPr>
          <a:xfrm>
            <a:off x="685800" y="3755834"/>
            <a:ext cx="1259951" cy="347154"/>
          </a:xfrm>
          <a:prstGeom prst="rect">
            <a:avLst/>
          </a:prstGeom>
          <a:noFill/>
        </p:spPr>
        <p:txBody>
          <a:bodyPr wrap="square" lIns="0" rIns="0" tIns="0" bIns="0" anchor="ctr">
            <a:spAutoFit/>
          </a:bodyPr>
          <a:lstStyle/>
          <a:p>
            <a:pPr algn="l">
              <a:lnSpc>
                <a:spcPts val="1437"/>
              </a:lnSpc>
              <a:spcAft>
                <a:spcPts val="0"/>
              </a:spcAft>
            </a:pPr>
            <a:r>
              <a:rPr sz="1250" b="0" i="0">
                <a:solidFill>
                  <a:srgbClr val="141B2E"/>
                </a:solidFill>
                <a:latin typeface="Arial"/>
              </a:rPr>
              <a:t>Subagent</a:t>
            </a:r>
          </a:p>
        </p:txBody>
      </p:sp>
      <p:sp>
        <p:nvSpPr>
          <p:cNvPr id="24" name="Rounded Rectangle 23"/>
          <p:cNvSpPr/>
          <p:nvPr/>
        </p:nvSpPr>
        <p:spPr>
          <a:xfrm>
            <a:off x="2110343" y="3828986"/>
            <a:ext cx="2737805" cy="200850"/>
          </a:xfrm>
          <a:prstGeom prst="roundRect">
            <a:avLst>
              <a:gd name="adj" fmla="val 16666"/>
            </a:avLst>
          </a:prstGeom>
          <a:solidFill>
            <a:srgbClr val="E4E9EF"/>
          </a:solidFill>
          <a:ln w="12700">
            <a:solidFill>
              <a:srgbClr val="E5EAF0"/>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ounded Rectangle 24"/>
          <p:cNvSpPr/>
          <p:nvPr/>
        </p:nvSpPr>
        <p:spPr>
          <a:xfrm>
            <a:off x="5031028" y="3828986"/>
            <a:ext cx="2737805" cy="200850"/>
          </a:xfrm>
          <a:prstGeom prst="roundRect">
            <a:avLst>
              <a:gd name="adj" fmla="val 16666"/>
            </a:avLst>
          </a:prstGeom>
          <a:solidFill>
            <a:srgbClr val="E4E9EF"/>
          </a:solidFill>
          <a:ln w="12700">
            <a:solidFill>
              <a:srgbClr val="E5EAF0"/>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ounded Rectangle 25"/>
          <p:cNvSpPr/>
          <p:nvPr/>
        </p:nvSpPr>
        <p:spPr>
          <a:xfrm>
            <a:off x="7951713" y="3828986"/>
            <a:ext cx="3386846" cy="200850"/>
          </a:xfrm>
          <a:prstGeom prst="roundRect">
            <a:avLst>
              <a:gd name="adj" fmla="val 16666"/>
            </a:avLst>
          </a:prstGeom>
          <a:solidFill>
            <a:srgbClr val="E4E9EF"/>
          </a:solidFill>
          <a:ln w="12700">
            <a:solidFill>
              <a:srgbClr val="E5EAF0"/>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ounded Rectangle 26"/>
          <p:cNvSpPr/>
          <p:nvPr/>
        </p:nvSpPr>
        <p:spPr>
          <a:xfrm>
            <a:off x="502920" y="4953381"/>
            <a:ext cx="82296" cy="510540"/>
          </a:xfrm>
          <a:prstGeom prst="roundRect">
            <a:avLst>
              <a:gd name="adj" fmla="val 50000"/>
            </a:avLst>
          </a:prstGeom>
          <a:solidFill>
            <a:srgbClr val="F0AB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859536" y="5081397"/>
            <a:ext cx="10643616" cy="254508"/>
          </a:xfrm>
          <a:prstGeom prst="rect">
            <a:avLst/>
          </a:prstGeom>
          <a:noFill/>
        </p:spPr>
        <p:txBody>
          <a:bodyPr wrap="square" lIns="0" rIns="0" tIns="0" bIns="0" anchor="ctr">
            <a:spAutoFit/>
          </a:bodyPr>
          <a:lstStyle/>
          <a:p>
            <a:pPr algn="l">
              <a:lnSpc>
                <a:spcPts val="1860"/>
              </a:lnSpc>
              <a:spcAft>
                <a:spcPts val="300"/>
              </a:spcAft>
            </a:pPr>
            <a:r>
              <a:rPr sz="1500" b="1" i="0">
                <a:solidFill>
                  <a:srgbClr val="141B2E"/>
                </a:solidFill>
                <a:latin typeface="Arial"/>
              </a:rPr>
              <a:t>Hooks and skills work inside the repository. Both of today's rows are about its edge.</a:t>
            </a:r>
          </a:p>
        </p:txBody>
      </p:sp>
      <p:sp>
        <p:nvSpPr>
          <p:cNvPr id="29" name="TextBox 28"/>
          <p:cNvSpPr txBox="1"/>
          <p:nvPr/>
        </p:nvSpPr>
        <p:spPr>
          <a:xfrm>
            <a:off x="10957255" y="6437376"/>
            <a:ext cx="914400" cy="274320"/>
          </a:xfrm>
          <a:prstGeom prst="rect">
            <a:avLst/>
          </a:prstGeom>
          <a:noFill/>
        </p:spPr>
        <p:txBody>
          <a:bodyPr wrap="square" lIns="0" rIns="0" tIns="0" bIns="0" anchor="t">
            <a:spAutoFit/>
          </a:bodyPr>
          <a:lstStyle/>
          <a:p>
            <a:pPr algn="r">
              <a:lnSpc>
                <a:spcPts val="1238"/>
              </a:lnSpc>
              <a:spcAft>
                <a:spcPts val="0"/>
              </a:spcAft>
            </a:pPr>
            <a:r>
              <a:rPr sz="1050" b="0" i="0">
                <a:solidFill>
                  <a:srgbClr val="6B7685"/>
                </a:solidFill>
                <a:latin typeface="Arial"/>
              </a:rPr>
              <a:t>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02920" y="310896"/>
            <a:ext cx="11183112" cy="431291"/>
          </a:xfrm>
          <a:prstGeom prst="rect">
            <a:avLst/>
          </a:prstGeom>
          <a:noFill/>
        </p:spPr>
        <p:txBody>
          <a:bodyPr wrap="square" lIns="0" rIns="0" tIns="0" bIns="0" anchor="t">
            <a:spAutoFit/>
          </a:bodyPr>
          <a:lstStyle/>
          <a:p>
            <a:pPr algn="l">
              <a:lnSpc>
                <a:spcPts val="2963"/>
              </a:lnSpc>
              <a:spcAft>
                <a:spcPts val="0"/>
              </a:spcAft>
            </a:pPr>
            <a:r>
              <a:rPr sz="2600" b="1" i="0">
                <a:solidFill>
                  <a:srgbClr val="141B2E"/>
                </a:solidFill>
                <a:latin typeface="Arial"/>
              </a:rPr>
              <a:t>Two misses, opposite causes</a:t>
            </a:r>
          </a:p>
        </p:txBody>
      </p:sp>
      <p:sp>
        <p:nvSpPr>
          <p:cNvPr id="3" name="Rounded Rectangle 2"/>
          <p:cNvSpPr/>
          <p:nvPr/>
        </p:nvSpPr>
        <p:spPr>
          <a:xfrm>
            <a:off x="502920" y="1744954"/>
            <a:ext cx="11183112" cy="1889823"/>
          </a:xfrm>
          <a:prstGeom prst="roundRect">
            <a:avLst>
              <a:gd name="adj" fmla="val 16128"/>
            </a:avLst>
          </a:prstGeom>
          <a:solidFill>
            <a:srgbClr val="FFFFFF"/>
          </a:solidFill>
          <a:ln w="1778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85800" y="1927834"/>
            <a:ext cx="6501486" cy="282067"/>
          </a:xfrm>
          <a:prstGeom prst="rect">
            <a:avLst/>
          </a:prstGeom>
          <a:noFill/>
        </p:spPr>
        <p:txBody>
          <a:bodyPr wrap="square" lIns="0" rIns="0" tIns="0" bIns="0" anchor="t">
            <a:spAutoFit/>
          </a:bodyPr>
          <a:lstStyle/>
          <a:p>
            <a:pPr algn="l">
              <a:lnSpc>
                <a:spcPts val="1265"/>
              </a:lnSpc>
              <a:spcAft>
                <a:spcPts val="0"/>
              </a:spcAft>
            </a:pPr>
            <a:r>
              <a:rPr sz="1150" b="1" i="0">
                <a:solidFill>
                  <a:srgbClr val="6B7685"/>
                </a:solidFill>
                <a:latin typeface="Arial"/>
              </a:rPr>
              <a:t>WHEN AND WHAT</a:t>
            </a:r>
          </a:p>
        </p:txBody>
      </p:sp>
      <p:sp>
        <p:nvSpPr>
          <p:cNvPr id="5" name="TextBox 4"/>
          <p:cNvSpPr txBox="1"/>
          <p:nvPr/>
        </p:nvSpPr>
        <p:spPr>
          <a:xfrm>
            <a:off x="7333590" y="1927834"/>
            <a:ext cx="4023257" cy="282067"/>
          </a:xfrm>
          <a:prstGeom prst="rect">
            <a:avLst/>
          </a:prstGeom>
          <a:noFill/>
        </p:spPr>
        <p:txBody>
          <a:bodyPr wrap="square" lIns="0" rIns="0" tIns="0" bIns="0" anchor="t">
            <a:spAutoFit/>
          </a:bodyPr>
          <a:lstStyle/>
          <a:p>
            <a:pPr algn="l">
              <a:lnSpc>
                <a:spcPts val="1265"/>
              </a:lnSpc>
              <a:spcAft>
                <a:spcPts val="0"/>
              </a:spcAft>
            </a:pPr>
            <a:r>
              <a:rPr sz="1150" b="1" i="0">
                <a:solidFill>
                  <a:srgbClr val="6B7685"/>
                </a:solidFill>
                <a:latin typeface="Arial"/>
              </a:rPr>
              <a:t>WHY IT CAME OUT THAT WAY</a:t>
            </a:r>
          </a:p>
        </p:txBody>
      </p:sp>
      <p:sp>
        <p:nvSpPr>
          <p:cNvPr id="6" name="TextBox 5"/>
          <p:cNvSpPr txBox="1"/>
          <p:nvPr/>
        </p:nvSpPr>
        <p:spPr>
          <a:xfrm>
            <a:off x="685800" y="2209901"/>
            <a:ext cx="6501486" cy="529717"/>
          </a:xfrm>
          <a:prstGeom prst="rect">
            <a:avLst/>
          </a:prstGeom>
          <a:noFill/>
        </p:spPr>
        <p:txBody>
          <a:bodyPr wrap="square" lIns="0" rIns="0" tIns="0" bIns="0" anchor="ctr">
            <a:spAutoFit/>
          </a:bodyPr>
          <a:lstStyle/>
          <a:p>
            <a:pPr algn="l">
              <a:lnSpc>
                <a:spcPts val="1437"/>
              </a:lnSpc>
              <a:spcAft>
                <a:spcPts val="0"/>
              </a:spcAft>
            </a:pPr>
            <a:r>
              <a:rPr sz="1250" b="0" i="0">
                <a:solidFill>
                  <a:srgbClr val="141B2E"/>
                </a:solidFill>
                <a:latin typeface="Arial"/>
              </a:rPr>
              <a:t>Monday. It answered by the repository — two of the client's requests were not in the answer. A missed deadline.</a:t>
            </a:r>
          </a:p>
        </p:txBody>
      </p:sp>
      <p:sp>
        <p:nvSpPr>
          <p:cNvPr id="7" name="TextBox 6"/>
          <p:cNvSpPr txBox="1"/>
          <p:nvPr/>
        </p:nvSpPr>
        <p:spPr>
          <a:xfrm>
            <a:off x="7333590" y="2209901"/>
            <a:ext cx="4023257" cy="529717"/>
          </a:xfrm>
          <a:prstGeom prst="rect">
            <a:avLst/>
          </a:prstGeom>
          <a:noFill/>
        </p:spPr>
        <p:txBody>
          <a:bodyPr wrap="square" lIns="0" rIns="0" tIns="0" bIns="0" anchor="ctr">
            <a:spAutoFit/>
          </a:bodyPr>
          <a:lstStyle/>
          <a:p>
            <a:pPr algn="l">
              <a:lnSpc>
                <a:spcPts val="1437"/>
              </a:lnSpc>
              <a:spcAft>
                <a:spcPts val="0"/>
              </a:spcAft>
            </a:pPr>
            <a:r>
              <a:rPr sz="1250" b="0" i="0">
                <a:solidFill>
                  <a:srgbClr val="141B2E"/>
                </a:solidFill>
                <a:latin typeface="Arial"/>
              </a:rPr>
              <a:t>They are not inside at all. Let the context be twice the size — they still will not appear in it.</a:t>
            </a:r>
          </a:p>
        </p:txBody>
      </p:sp>
      <p:cxnSp>
        <p:nvCxnSpPr>
          <p:cNvPr id="8" name="Connector 7"/>
          <p:cNvCxnSpPr/>
          <p:nvPr/>
        </p:nvCxnSpPr>
        <p:spPr>
          <a:xfrm>
            <a:off x="685800" y="2739618"/>
            <a:ext cx="10817352" cy="0"/>
          </a:xfrm>
          <a:prstGeom prst="line">
            <a:avLst/>
          </a:prstGeom>
          <a:ln w="9525">
            <a:solidFill>
              <a:srgbClr val="E5EAF0"/>
            </a:solidFill>
          </a:ln>
        </p:spPr>
        <p:style>
          <a:lnRef idx="2">
            <a:schemeClr val="accent1"/>
          </a:lnRef>
          <a:fillRef idx="0">
            <a:schemeClr val="accent1"/>
          </a:fillRef>
          <a:effectRef idx="1">
            <a:schemeClr val="accent1"/>
          </a:effectRef>
          <a:fontRef idx="minor">
            <a:schemeClr val="tx1"/>
          </a:fontRef>
        </p:style>
      </p:cxnSp>
      <p:sp>
        <p:nvSpPr>
          <p:cNvPr id="9" name="TextBox 8"/>
          <p:cNvSpPr txBox="1"/>
          <p:nvPr/>
        </p:nvSpPr>
        <p:spPr>
          <a:xfrm>
            <a:off x="685800" y="2739618"/>
            <a:ext cx="6501486" cy="712279"/>
          </a:xfrm>
          <a:prstGeom prst="rect">
            <a:avLst/>
          </a:prstGeom>
          <a:noFill/>
        </p:spPr>
        <p:txBody>
          <a:bodyPr wrap="square" lIns="0" rIns="0" tIns="0" bIns="0" anchor="ctr">
            <a:spAutoFit/>
          </a:bodyPr>
          <a:lstStyle/>
          <a:p>
            <a:pPr algn="l">
              <a:lnSpc>
                <a:spcPts val="1437"/>
              </a:lnSpc>
              <a:spcAft>
                <a:spcPts val="0"/>
              </a:spcAft>
            </a:pPr>
            <a:r>
              <a:rPr sz="1250" b="0" i="0">
                <a:solidFill>
                  <a:srgbClr val="141B2E"/>
                </a:solidFill>
                <a:latin typeface="Arial"/>
              </a:rPr>
              <a:t>Wednesday, a working product. It read everything where the rule might be checked, assembled a correct list — and then started re-asking what had been explained at the start of the session. Half an hour.</a:t>
            </a:r>
          </a:p>
        </p:txBody>
      </p:sp>
      <p:sp>
        <p:nvSpPr>
          <p:cNvPr id="10" name="TextBox 9"/>
          <p:cNvSpPr txBox="1"/>
          <p:nvPr/>
        </p:nvSpPr>
        <p:spPr>
          <a:xfrm>
            <a:off x="7333590" y="2739618"/>
            <a:ext cx="4023257" cy="712279"/>
          </a:xfrm>
          <a:prstGeom prst="rect">
            <a:avLst/>
          </a:prstGeom>
          <a:noFill/>
        </p:spPr>
        <p:txBody>
          <a:bodyPr wrap="square" lIns="0" rIns="0" tIns="0" bIns="0" anchor="ctr">
            <a:spAutoFit/>
          </a:bodyPr>
          <a:lstStyle/>
          <a:p>
            <a:pPr algn="l">
              <a:lnSpc>
                <a:spcPts val="1437"/>
              </a:lnSpc>
              <a:spcAft>
                <a:spcPts val="0"/>
              </a:spcAft>
            </a:pPr>
            <a:r>
              <a:rPr sz="1250" b="0" i="0">
                <a:solidFill>
                  <a:srgbClr val="141B2E"/>
                </a:solidFill>
                <a:latin typeface="Arial"/>
              </a:rPr>
              <a:t>Everything needed fit inside — and crowded out the very thing the session was opened for.</a:t>
            </a:r>
          </a:p>
        </p:txBody>
      </p:sp>
      <p:sp>
        <p:nvSpPr>
          <p:cNvPr id="11" name="Rounded Rectangle 10"/>
          <p:cNvSpPr/>
          <p:nvPr/>
        </p:nvSpPr>
        <p:spPr>
          <a:xfrm>
            <a:off x="502920" y="4302290"/>
            <a:ext cx="11183112" cy="822960"/>
          </a:xfrm>
          <a:prstGeom prst="roundRect">
            <a:avLst>
              <a:gd name="adj" fmla="val 10000"/>
            </a:avLst>
          </a:prstGeom>
          <a:solidFill>
            <a:srgbClr val="FEF5E0"/>
          </a:solidFill>
          <a:ln w="19050">
            <a:solidFill>
              <a:srgbClr val="F0AB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22376" y="4430306"/>
            <a:ext cx="10634472" cy="566928"/>
          </a:xfrm>
          <a:prstGeom prst="rect">
            <a:avLst/>
          </a:prstGeom>
          <a:noFill/>
        </p:spPr>
        <p:txBody>
          <a:bodyPr wrap="square" lIns="0" rIns="0" tIns="0" bIns="0" anchor="ctr">
            <a:spAutoFit/>
          </a:bodyPr>
          <a:lstStyle/>
          <a:p>
            <a:pPr algn="ctr">
              <a:lnSpc>
                <a:spcPts val="2013"/>
              </a:lnSpc>
              <a:spcAft>
                <a:spcPts val="300"/>
              </a:spcAft>
            </a:pPr>
            <a:r>
              <a:rPr sz="1650" b="1" i="0">
                <a:solidFill>
                  <a:srgbClr val="141B2E"/>
                </a:solidFill>
                <a:latin typeface="Arial"/>
              </a:rPr>
              <a:t>"The work has run past the agent's context — which do you set up first: bringing inside what is not inside, or carrying outside what does not fit inside?"</a:t>
            </a:r>
          </a:p>
        </p:txBody>
      </p:sp>
      <p:sp>
        <p:nvSpPr>
          <p:cNvPr id="13" name="TextBox 12"/>
          <p:cNvSpPr txBox="1"/>
          <p:nvPr/>
        </p:nvSpPr>
        <p:spPr>
          <a:xfrm>
            <a:off x="10957255" y="6437376"/>
            <a:ext cx="914400" cy="274320"/>
          </a:xfrm>
          <a:prstGeom prst="rect">
            <a:avLst/>
          </a:prstGeom>
          <a:noFill/>
        </p:spPr>
        <p:txBody>
          <a:bodyPr wrap="square" lIns="0" rIns="0" tIns="0" bIns="0" anchor="t">
            <a:spAutoFit/>
          </a:bodyPr>
          <a:lstStyle/>
          <a:p>
            <a:pPr algn="r">
              <a:lnSpc>
                <a:spcPts val="1238"/>
              </a:lnSpc>
              <a:spcAft>
                <a:spcPts val="0"/>
              </a:spcAft>
            </a:pPr>
            <a:r>
              <a:rPr sz="1050" b="0" i="0">
                <a:solidFill>
                  <a:srgbClr val="6B7685"/>
                </a:solidFill>
                <a:latin typeface="Arial"/>
              </a:rPr>
              <a:t>4</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02920" y="310896"/>
            <a:ext cx="11183112" cy="431291"/>
          </a:xfrm>
          <a:prstGeom prst="rect">
            <a:avLst/>
          </a:prstGeom>
          <a:noFill/>
        </p:spPr>
        <p:txBody>
          <a:bodyPr wrap="square" lIns="0" rIns="0" tIns="0" bIns="0" anchor="t">
            <a:spAutoFit/>
          </a:bodyPr>
          <a:lstStyle/>
          <a:p>
            <a:pPr algn="l">
              <a:lnSpc>
                <a:spcPts val="2963"/>
              </a:lnSpc>
              <a:spcAft>
                <a:spcPts val="0"/>
              </a:spcAft>
            </a:pPr>
            <a:r>
              <a:rPr sz="2600" b="1" i="0">
                <a:solidFill>
                  <a:srgbClr val="141B2E"/>
                </a:solidFill>
                <a:latin typeface="Arial"/>
              </a:rPr>
              <a:t>Two sections — two answers to one question</a:t>
            </a:r>
          </a:p>
        </p:txBody>
      </p:sp>
      <p:sp>
        <p:nvSpPr>
          <p:cNvPr id="3" name="Rounded Rectangle 2"/>
          <p:cNvSpPr/>
          <p:nvPr/>
        </p:nvSpPr>
        <p:spPr>
          <a:xfrm>
            <a:off x="502920" y="1577822"/>
            <a:ext cx="11183112" cy="2620073"/>
          </a:xfrm>
          <a:prstGeom prst="roundRect">
            <a:avLst>
              <a:gd name="adj" fmla="val 11633"/>
            </a:avLst>
          </a:prstGeom>
          <a:solidFill>
            <a:srgbClr val="FFFFFF"/>
          </a:solidFill>
          <a:ln w="1778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85800" y="1760702"/>
            <a:ext cx="2323076" cy="282067"/>
          </a:xfrm>
          <a:prstGeom prst="rect">
            <a:avLst/>
          </a:prstGeom>
          <a:noFill/>
        </p:spPr>
        <p:txBody>
          <a:bodyPr wrap="square" lIns="0" rIns="0" tIns="0" bIns="0" anchor="t">
            <a:spAutoFit/>
          </a:bodyPr>
          <a:lstStyle/>
          <a:p>
            <a:pPr algn="l">
              <a:lnSpc>
                <a:spcPts val="1265"/>
              </a:lnSpc>
              <a:spcAft>
                <a:spcPts val="0"/>
              </a:spcAft>
            </a:pPr>
            <a:r>
              <a:rPr sz="1150" b="1" i="0">
                <a:solidFill>
                  <a:srgbClr val="6B7685"/>
                </a:solidFill>
                <a:latin typeface="Arial"/>
              </a:rPr>
              <a:t>SECTION</a:t>
            </a:r>
          </a:p>
        </p:txBody>
      </p:sp>
      <p:sp>
        <p:nvSpPr>
          <p:cNvPr id="5" name="TextBox 4"/>
          <p:cNvSpPr txBox="1"/>
          <p:nvPr/>
        </p:nvSpPr>
        <p:spPr>
          <a:xfrm>
            <a:off x="3155180" y="1760702"/>
            <a:ext cx="3807779" cy="282067"/>
          </a:xfrm>
          <a:prstGeom prst="rect">
            <a:avLst/>
          </a:prstGeom>
          <a:noFill/>
        </p:spPr>
        <p:txBody>
          <a:bodyPr wrap="square" lIns="0" rIns="0" tIns="0" bIns="0" anchor="t">
            <a:spAutoFit/>
          </a:bodyPr>
          <a:lstStyle/>
          <a:p>
            <a:pPr algn="l">
              <a:lnSpc>
                <a:spcPts val="1265"/>
              </a:lnSpc>
              <a:spcAft>
                <a:spcPts val="0"/>
              </a:spcAft>
            </a:pPr>
            <a:r>
              <a:rPr sz="1150" b="1" i="0">
                <a:solidFill>
                  <a:srgbClr val="6B7685"/>
                </a:solidFill>
                <a:latin typeface="Arial"/>
              </a:rPr>
              <a:t>FIRST</a:t>
            </a:r>
          </a:p>
        </p:txBody>
      </p:sp>
      <p:sp>
        <p:nvSpPr>
          <p:cNvPr id="6" name="TextBox 5"/>
          <p:cNvSpPr txBox="1"/>
          <p:nvPr/>
        </p:nvSpPr>
        <p:spPr>
          <a:xfrm>
            <a:off x="7109263" y="1760702"/>
            <a:ext cx="2813324" cy="282067"/>
          </a:xfrm>
          <a:prstGeom prst="rect">
            <a:avLst/>
          </a:prstGeom>
          <a:noFill/>
        </p:spPr>
        <p:txBody>
          <a:bodyPr wrap="square" lIns="0" rIns="0" tIns="0" bIns="0" anchor="t">
            <a:spAutoFit/>
          </a:bodyPr>
          <a:lstStyle/>
          <a:p>
            <a:pPr algn="l">
              <a:lnSpc>
                <a:spcPts val="1265"/>
              </a:lnSpc>
              <a:spcAft>
                <a:spcPts val="0"/>
              </a:spcAft>
            </a:pPr>
            <a:r>
              <a:rPr sz="1150" b="1" i="0">
                <a:solidFill>
                  <a:srgbClr val="6B7685"/>
                </a:solidFill>
                <a:latin typeface="Arial"/>
              </a:rPr>
              <a:t>SECOND</a:t>
            </a:r>
          </a:p>
        </p:txBody>
      </p:sp>
      <p:sp>
        <p:nvSpPr>
          <p:cNvPr id="7" name="TextBox 6"/>
          <p:cNvSpPr txBox="1"/>
          <p:nvPr/>
        </p:nvSpPr>
        <p:spPr>
          <a:xfrm>
            <a:off x="10068891" y="1760702"/>
            <a:ext cx="1287956" cy="282067"/>
          </a:xfrm>
          <a:prstGeom prst="rect">
            <a:avLst/>
          </a:prstGeom>
          <a:noFill/>
        </p:spPr>
        <p:txBody>
          <a:bodyPr wrap="square" lIns="0" rIns="0" tIns="0" bIns="0" anchor="t">
            <a:spAutoFit/>
          </a:bodyPr>
          <a:lstStyle/>
          <a:p>
            <a:pPr algn="l">
              <a:lnSpc>
                <a:spcPts val="1265"/>
              </a:lnSpc>
              <a:spcAft>
                <a:spcPts val="0"/>
              </a:spcAft>
            </a:pPr>
            <a:r>
              <a:rPr sz="1150" b="1" i="0">
                <a:solidFill>
                  <a:srgbClr val="6B7685"/>
                </a:solidFill>
                <a:latin typeface="Arial"/>
              </a:rPr>
              <a:t>THIRD</a:t>
            </a:r>
          </a:p>
        </p:txBody>
      </p:sp>
      <p:sp>
        <p:nvSpPr>
          <p:cNvPr id="8" name="TextBox 7"/>
          <p:cNvSpPr txBox="1"/>
          <p:nvPr/>
        </p:nvSpPr>
        <p:spPr>
          <a:xfrm>
            <a:off x="685800" y="2042769"/>
            <a:ext cx="2323076" cy="712279"/>
          </a:xfrm>
          <a:prstGeom prst="rect">
            <a:avLst/>
          </a:prstGeom>
          <a:noFill/>
        </p:spPr>
        <p:txBody>
          <a:bodyPr wrap="square" lIns="0" rIns="0" tIns="0" bIns="0" anchor="ctr">
            <a:spAutoFit/>
          </a:bodyPr>
          <a:lstStyle/>
          <a:p>
            <a:pPr algn="l">
              <a:lnSpc>
                <a:spcPts val="1437"/>
              </a:lnSpc>
              <a:spcAft>
                <a:spcPts val="0"/>
              </a:spcAft>
            </a:pPr>
            <a:r>
              <a:rPr sz="1250" b="0" i="0">
                <a:solidFill>
                  <a:srgbClr val="141B2E"/>
                </a:solidFill>
                <a:latin typeface="Arial"/>
              </a:rPr>
              <a:t>Bring inside what is not inside — MCP, access to the outside</a:t>
            </a:r>
          </a:p>
        </p:txBody>
      </p:sp>
      <p:sp>
        <p:nvSpPr>
          <p:cNvPr id="9" name="TextBox 8"/>
          <p:cNvSpPr txBox="1"/>
          <p:nvPr/>
        </p:nvSpPr>
        <p:spPr>
          <a:xfrm>
            <a:off x="3155180" y="2042769"/>
            <a:ext cx="3807779" cy="712279"/>
          </a:xfrm>
          <a:prstGeom prst="rect">
            <a:avLst/>
          </a:prstGeom>
          <a:noFill/>
        </p:spPr>
        <p:txBody>
          <a:bodyPr wrap="square" lIns="0" rIns="0" tIns="0" bIns="0" anchor="ctr">
            <a:spAutoFit/>
          </a:bodyPr>
          <a:lstStyle/>
          <a:p>
            <a:pPr algn="l">
              <a:lnSpc>
                <a:spcPts val="1437"/>
              </a:lnSpc>
              <a:spcAft>
                <a:spcPts val="0"/>
              </a:spcAft>
            </a:pPr>
            <a:r>
              <a:rPr sz="1250" b="0" i="0">
                <a:solidFill>
                  <a:srgbClr val="141B2E"/>
                </a:solidFill>
                <a:latin typeface="Arial"/>
              </a:rPr>
              <a:t>The agent regularly needs data that is not in the repository. We settle it — and check that the agent really does go through the server.</a:t>
            </a:r>
          </a:p>
        </p:txBody>
      </p:sp>
      <p:sp>
        <p:nvSpPr>
          <p:cNvPr id="10" name="TextBox 9"/>
          <p:cNvSpPr txBox="1"/>
          <p:nvPr/>
        </p:nvSpPr>
        <p:spPr>
          <a:xfrm>
            <a:off x="7109263" y="2042769"/>
            <a:ext cx="2813324" cy="712279"/>
          </a:xfrm>
          <a:prstGeom prst="rect">
            <a:avLst/>
          </a:prstGeom>
          <a:noFill/>
        </p:spPr>
        <p:txBody>
          <a:bodyPr wrap="square" lIns="0" rIns="0" tIns="0" bIns="0" anchor="ctr">
            <a:spAutoFit/>
          </a:bodyPr>
          <a:lstStyle/>
          <a:p>
            <a:pPr algn="l">
              <a:lnSpc>
                <a:spcPts val="1437"/>
              </a:lnSpc>
              <a:spcAft>
                <a:spcPts val="0"/>
              </a:spcAft>
            </a:pPr>
            <a:r>
              <a:rPr sz="1250" b="0" i="0">
                <a:solidFill>
                  <a:srgbClr val="141B2E"/>
                </a:solidFill>
                <a:latin typeface="Arial"/>
              </a:rPr>
              <a:t>Connected servers take up context before the work begins. We settle it.</a:t>
            </a:r>
          </a:p>
        </p:txBody>
      </p:sp>
      <p:sp>
        <p:nvSpPr>
          <p:cNvPr id="11" name="TextBox 10"/>
          <p:cNvSpPr txBox="1"/>
          <p:nvPr/>
        </p:nvSpPr>
        <p:spPr>
          <a:xfrm>
            <a:off x="10068891" y="2042769"/>
            <a:ext cx="1287956" cy="712279"/>
          </a:xfrm>
          <a:prstGeom prst="rect">
            <a:avLst/>
          </a:prstGeom>
          <a:noFill/>
        </p:spPr>
        <p:txBody>
          <a:bodyPr wrap="square" lIns="0" rIns="0" tIns="0" bIns="0" anchor="ctr">
            <a:spAutoFit/>
          </a:bodyPr>
          <a:lstStyle/>
          <a:p>
            <a:pPr algn="l">
              <a:lnSpc>
                <a:spcPts val="1437"/>
              </a:lnSpc>
              <a:spcAft>
                <a:spcPts val="0"/>
              </a:spcAft>
            </a:pPr>
            <a:r>
              <a:rPr sz="1250" b="0" i="0">
                <a:solidFill>
                  <a:srgbClr val="141B2E"/>
                </a:solidFill>
                <a:latin typeface="Arial"/>
              </a:rPr>
              <a:t>—</a:t>
            </a:r>
          </a:p>
        </p:txBody>
      </p:sp>
      <p:cxnSp>
        <p:nvCxnSpPr>
          <p:cNvPr id="12" name="Connector 11"/>
          <p:cNvCxnSpPr/>
          <p:nvPr/>
        </p:nvCxnSpPr>
        <p:spPr>
          <a:xfrm>
            <a:off x="685800" y="2755049"/>
            <a:ext cx="10817352" cy="0"/>
          </a:xfrm>
          <a:prstGeom prst="line">
            <a:avLst/>
          </a:prstGeom>
          <a:ln w="9525">
            <a:solidFill>
              <a:srgbClr val="E5EAF0"/>
            </a:solidFill>
          </a:ln>
        </p:spPr>
        <p:style>
          <a:lnRef idx="2">
            <a:schemeClr val="accent1"/>
          </a:lnRef>
          <a:fillRef idx="0">
            <a:schemeClr val="accent1"/>
          </a:fillRef>
          <a:effectRef idx="1">
            <a:schemeClr val="accent1"/>
          </a:effectRef>
          <a:fontRef idx="minor">
            <a:schemeClr val="tx1"/>
          </a:fontRef>
        </p:style>
      </p:cxnSp>
      <p:sp>
        <p:nvSpPr>
          <p:cNvPr id="13" name="TextBox 12"/>
          <p:cNvSpPr txBox="1"/>
          <p:nvPr/>
        </p:nvSpPr>
        <p:spPr>
          <a:xfrm>
            <a:off x="685800" y="2755049"/>
            <a:ext cx="2323076" cy="1259966"/>
          </a:xfrm>
          <a:prstGeom prst="rect">
            <a:avLst/>
          </a:prstGeom>
          <a:noFill/>
        </p:spPr>
        <p:txBody>
          <a:bodyPr wrap="square" lIns="0" rIns="0" tIns="0" bIns="0" anchor="ctr">
            <a:spAutoFit/>
          </a:bodyPr>
          <a:lstStyle/>
          <a:p>
            <a:pPr algn="l">
              <a:lnSpc>
                <a:spcPts val="1437"/>
              </a:lnSpc>
              <a:spcAft>
                <a:spcPts val="0"/>
              </a:spcAft>
            </a:pPr>
            <a:r>
              <a:rPr sz="1250" b="0" i="0">
                <a:solidFill>
                  <a:srgbClr val="141B2E"/>
                </a:solidFill>
                <a:latin typeface="Arial"/>
              </a:rPr>
              <a:t>Carry outside what does not fit inside — subagent, trimmed permissions</a:t>
            </a:r>
          </a:p>
        </p:txBody>
      </p:sp>
      <p:sp>
        <p:nvSpPr>
          <p:cNvPr id="14" name="TextBox 13"/>
          <p:cNvSpPr txBox="1"/>
          <p:nvPr/>
        </p:nvSpPr>
        <p:spPr>
          <a:xfrm>
            <a:off x="3155180" y="2755049"/>
            <a:ext cx="3807779" cy="1259966"/>
          </a:xfrm>
          <a:prstGeom prst="rect">
            <a:avLst/>
          </a:prstGeom>
          <a:noFill/>
        </p:spPr>
        <p:txBody>
          <a:bodyPr wrap="square" lIns="0" rIns="0" tIns="0" bIns="0" anchor="ctr">
            <a:spAutoFit/>
          </a:bodyPr>
          <a:lstStyle/>
          <a:p>
            <a:pPr algn="l">
              <a:lnSpc>
                <a:spcPts val="1437"/>
              </a:lnSpc>
              <a:spcAft>
                <a:spcPts val="0"/>
              </a:spcAft>
            </a:pPr>
            <a:r>
              <a:rPr sz="1250" b="0" i="0">
                <a:solidFill>
                  <a:srgbClr val="141B2E"/>
                </a:solidFill>
                <a:latin typeface="Arial"/>
              </a:rPr>
              <a:t>The reading needed for one edit crowds the edit itself out of the context. We settle it.</a:t>
            </a:r>
          </a:p>
        </p:txBody>
      </p:sp>
      <p:sp>
        <p:nvSpPr>
          <p:cNvPr id="15" name="TextBox 14"/>
          <p:cNvSpPr txBox="1"/>
          <p:nvPr/>
        </p:nvSpPr>
        <p:spPr>
          <a:xfrm>
            <a:off x="7109263" y="2755049"/>
            <a:ext cx="2813324" cy="1259966"/>
          </a:xfrm>
          <a:prstGeom prst="rect">
            <a:avLst/>
          </a:prstGeom>
          <a:noFill/>
        </p:spPr>
        <p:txBody>
          <a:bodyPr wrap="square" lIns="0" rIns="0" tIns="0" bIns="0" anchor="ctr">
            <a:spAutoFit/>
          </a:bodyPr>
          <a:lstStyle/>
          <a:p>
            <a:pPr algn="l">
              <a:lnSpc>
                <a:spcPts val="1437"/>
              </a:lnSpc>
              <a:spcAft>
                <a:spcPts val="0"/>
              </a:spcAft>
            </a:pPr>
            <a:r>
              <a:rPr sz="1250" b="0" i="0">
                <a:solidFill>
                  <a:srgbClr val="141B2E"/>
                </a:solidFill>
                <a:latin typeface="Arial"/>
              </a:rPr>
              <a:t>The task arrived as a single sentence, and the deadline on it is two days off. We settle it.</a:t>
            </a:r>
          </a:p>
        </p:txBody>
      </p:sp>
      <p:sp>
        <p:nvSpPr>
          <p:cNvPr id="16" name="TextBox 15"/>
          <p:cNvSpPr txBox="1"/>
          <p:nvPr/>
        </p:nvSpPr>
        <p:spPr>
          <a:xfrm>
            <a:off x="10068891" y="2755049"/>
            <a:ext cx="1287956" cy="1259966"/>
          </a:xfrm>
          <a:prstGeom prst="rect">
            <a:avLst/>
          </a:prstGeom>
          <a:noFill/>
        </p:spPr>
        <p:txBody>
          <a:bodyPr wrap="square" lIns="0" rIns="0" tIns="0" bIns="0" anchor="ctr">
            <a:spAutoFit/>
          </a:bodyPr>
          <a:lstStyle/>
          <a:p>
            <a:pPr algn="l">
              <a:lnSpc>
                <a:spcPts val="1437"/>
              </a:lnSpc>
              <a:spcAft>
                <a:spcPts val="0"/>
              </a:spcAft>
            </a:pPr>
            <a:r>
              <a:rPr sz="1250" b="0" i="0">
                <a:solidFill>
                  <a:srgbClr val="141B2E"/>
                </a:solidFill>
                <a:latin typeface="Arial"/>
              </a:rPr>
              <a:t>There are several workers, and they have one working folder. We settle it.</a:t>
            </a:r>
          </a:p>
        </p:txBody>
      </p:sp>
      <p:sp>
        <p:nvSpPr>
          <p:cNvPr id="17" name="Rounded Rectangle 16"/>
          <p:cNvSpPr/>
          <p:nvPr/>
        </p:nvSpPr>
        <p:spPr>
          <a:xfrm>
            <a:off x="502920" y="4865408"/>
            <a:ext cx="82296" cy="510540"/>
          </a:xfrm>
          <a:prstGeom prst="roundRect">
            <a:avLst>
              <a:gd name="adj" fmla="val 50000"/>
            </a:avLst>
          </a:prstGeom>
          <a:solidFill>
            <a:srgbClr val="F0AB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59536" y="4993424"/>
            <a:ext cx="10643616" cy="254508"/>
          </a:xfrm>
          <a:prstGeom prst="rect">
            <a:avLst/>
          </a:prstGeom>
          <a:noFill/>
        </p:spPr>
        <p:txBody>
          <a:bodyPr wrap="square" lIns="0" rIns="0" tIns="0" bIns="0" anchor="ctr">
            <a:spAutoFit/>
          </a:bodyPr>
          <a:lstStyle/>
          <a:p>
            <a:pPr algn="l">
              <a:lnSpc>
                <a:spcPts val="1860"/>
              </a:lnSpc>
              <a:spcAft>
                <a:spcPts val="300"/>
              </a:spcAft>
            </a:pPr>
            <a:r>
              <a:rPr sz="1500" b="1" i="0">
                <a:solidFill>
                  <a:srgbClr val="141B2E"/>
                </a:solidFill>
                <a:latin typeface="Arial"/>
              </a:rPr>
              <a:t>"One and the same limit. Two moves running toward each other."</a:t>
            </a:r>
          </a:p>
        </p:txBody>
      </p:sp>
      <p:sp>
        <p:nvSpPr>
          <p:cNvPr id="19" name="TextBox 18"/>
          <p:cNvSpPr txBox="1"/>
          <p:nvPr/>
        </p:nvSpPr>
        <p:spPr>
          <a:xfrm>
            <a:off x="10957255" y="6437376"/>
            <a:ext cx="914400" cy="274320"/>
          </a:xfrm>
          <a:prstGeom prst="rect">
            <a:avLst/>
          </a:prstGeom>
          <a:noFill/>
        </p:spPr>
        <p:txBody>
          <a:bodyPr wrap="square" lIns="0" rIns="0" tIns="0" bIns="0" anchor="t">
            <a:spAutoFit/>
          </a:bodyPr>
          <a:lstStyle/>
          <a:p>
            <a:pPr algn="r">
              <a:lnSpc>
                <a:spcPts val="1238"/>
              </a:lnSpc>
              <a:spcAft>
                <a:spcPts val="0"/>
              </a:spcAft>
            </a:pPr>
            <a:r>
              <a:rPr sz="1050" b="0" i="0">
                <a:solidFill>
                  <a:srgbClr val="6B7685"/>
                </a:solidFill>
                <a:latin typeface="Arial"/>
              </a:rPr>
              <a:t>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ln>
            <a:noFill/>
          </a:ln>
          <a:effectLst/>
          <a:gradFill rotWithShape="1">
            <a:gsLst>
              <a:gs pos="0">
                <a:srgbClr val="21295C"/>
              </a:gs>
              <a:gs pos="55000">
                <a:srgbClr val="065A82"/>
              </a:gs>
              <a:gs pos="100000">
                <a:srgbClr val="1C7293"/>
              </a:gs>
            </a:gsLst>
            <a:lin ang="2700000" scaled="1"/>
          </a:gra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502920" y="457200"/>
            <a:ext cx="5111496" cy="237744"/>
          </a:xfrm>
          <a:prstGeom prst="roundRect">
            <a:avLst>
              <a:gd name="adj" fmla="val 40000"/>
            </a:avLst>
          </a:prstGeom>
          <a:solidFill>
            <a:srgbClr val="F0AB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5724144" y="457200"/>
            <a:ext cx="5111496" cy="237744"/>
          </a:xfrm>
          <a:prstGeom prst="roundRect">
            <a:avLst>
              <a:gd name="adj" fmla="val 40000"/>
            </a:avLst>
          </a:prstGeom>
          <a:solidFill>
            <a:srgbClr val="3E4C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585216" y="2590038"/>
            <a:ext cx="694944" cy="694944"/>
          </a:xfrm>
          <a:prstGeom prst="ellipse">
            <a:avLst/>
          </a:prstGeom>
          <a:solidFill>
            <a:srgbClr val="F0AB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85216" y="2590038"/>
            <a:ext cx="694944" cy="694944"/>
          </a:xfrm>
          <a:prstGeom prst="rect">
            <a:avLst/>
          </a:prstGeom>
          <a:noFill/>
        </p:spPr>
        <p:txBody>
          <a:bodyPr wrap="square" lIns="0" rIns="0" tIns="0" bIns="0" anchor="ctr">
            <a:spAutoFit/>
          </a:bodyPr>
          <a:lstStyle/>
          <a:p>
            <a:pPr algn="ctr">
              <a:lnSpc>
                <a:spcPts val="2950"/>
              </a:lnSpc>
              <a:spcAft>
                <a:spcPts val="0"/>
              </a:spcAft>
            </a:pPr>
            <a:r>
              <a:rPr sz="2500" b="1" i="0">
                <a:solidFill>
                  <a:srgbClr val="21295C"/>
                </a:solidFill>
                <a:latin typeface="Arial"/>
              </a:rPr>
              <a:t>1</a:t>
            </a:r>
          </a:p>
        </p:txBody>
      </p:sp>
      <p:sp>
        <p:nvSpPr>
          <p:cNvPr id="7" name="TextBox 6"/>
          <p:cNvSpPr txBox="1"/>
          <p:nvPr/>
        </p:nvSpPr>
        <p:spPr>
          <a:xfrm>
            <a:off x="1536192" y="2710815"/>
            <a:ext cx="9144000" cy="453390"/>
          </a:xfrm>
          <a:prstGeom prst="rect">
            <a:avLst/>
          </a:prstGeom>
          <a:noFill/>
        </p:spPr>
        <p:txBody>
          <a:bodyPr wrap="square" lIns="0" rIns="0" tIns="0" bIns="0" anchor="t">
            <a:spAutoFit/>
          </a:bodyPr>
          <a:lstStyle/>
          <a:p>
            <a:pPr algn="l">
              <a:lnSpc>
                <a:spcPts val="3570"/>
              </a:lnSpc>
              <a:spcAft>
                <a:spcPts val="0"/>
              </a:spcAft>
            </a:pPr>
            <a:r>
              <a:rPr sz="3400" b="1" i="0">
                <a:solidFill>
                  <a:srgbClr val="FFFFFF"/>
                </a:solidFill>
                <a:latin typeface="Arial"/>
              </a:rPr>
              <a:t>"But I did write that into the issue"</a:t>
            </a:r>
          </a:p>
        </p:txBody>
      </p:sp>
      <p:sp>
        <p:nvSpPr>
          <p:cNvPr id="8" name="TextBox 7"/>
          <p:cNvSpPr txBox="1"/>
          <p:nvPr/>
        </p:nvSpPr>
        <p:spPr>
          <a:xfrm>
            <a:off x="822960" y="3475101"/>
            <a:ext cx="9509760" cy="854964"/>
          </a:xfrm>
          <a:prstGeom prst="rect">
            <a:avLst/>
          </a:prstGeom>
          <a:noFill/>
        </p:spPr>
        <p:txBody>
          <a:bodyPr wrap="square" lIns="0" rIns="0" tIns="0" bIns="0" anchor="t">
            <a:spAutoFit/>
          </a:bodyPr>
          <a:lstStyle/>
          <a:p>
            <a:pPr algn="l">
              <a:lnSpc>
                <a:spcPts val="2244"/>
              </a:lnSpc>
              <a:spcAft>
                <a:spcPts val="400"/>
              </a:spcAft>
            </a:pPr>
            <a:r>
              <a:rPr sz="1700" b="0" i="1">
                <a:solidFill>
                  <a:srgbClr val="D6E2EC"/>
                </a:solidFill>
                <a:latin typeface="Arial"/>
              </a:rPr>
              <a:t>The task lives in the tracker and changes without us. What the agent has in the chat is a snapshot taken by hand this morning.</a:t>
            </a:r>
          </a:p>
        </p:txBody>
      </p:sp>
      <p:sp>
        <p:nvSpPr>
          <p:cNvPr id="9" name="Rounded Rectangle 8"/>
          <p:cNvSpPr/>
          <p:nvPr/>
        </p:nvSpPr>
        <p:spPr>
          <a:xfrm>
            <a:off x="502920" y="5989320"/>
            <a:ext cx="5500116" cy="384048"/>
          </a:xfrm>
          <a:prstGeom prst="roundRect">
            <a:avLst>
              <a:gd name="adj" fmla="val 30000"/>
            </a:avLst>
          </a:prstGeom>
          <a:solidFill>
            <a:srgbClr val="F0AB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02920" y="5989320"/>
            <a:ext cx="5500116" cy="384048"/>
          </a:xfrm>
          <a:prstGeom prst="rect">
            <a:avLst/>
          </a:prstGeom>
          <a:noFill/>
        </p:spPr>
        <p:txBody>
          <a:bodyPr wrap="square" lIns="0" rIns="0" tIns="0" bIns="0" anchor="ctr">
            <a:spAutoFit/>
          </a:bodyPr>
          <a:lstStyle/>
          <a:p>
            <a:pPr algn="ctr">
              <a:lnSpc>
                <a:spcPts val="1475"/>
              </a:lnSpc>
              <a:spcAft>
                <a:spcPts val="0"/>
              </a:spcAft>
            </a:pPr>
            <a:r>
              <a:rPr sz="1250" b="1" i="0">
                <a:solidFill>
                  <a:srgbClr val="21295C"/>
                </a:solidFill>
                <a:latin typeface="Arial"/>
              </a:rPr>
              <a:t>MCP</a:t>
            </a:r>
          </a:p>
        </p:txBody>
      </p:sp>
      <p:sp>
        <p:nvSpPr>
          <p:cNvPr id="11" name="Rounded Rectangle 10"/>
          <p:cNvSpPr/>
          <p:nvPr/>
        </p:nvSpPr>
        <p:spPr>
          <a:xfrm>
            <a:off x="6185916" y="5989320"/>
            <a:ext cx="5500116" cy="384048"/>
          </a:xfrm>
          <a:prstGeom prst="roundRect">
            <a:avLst>
              <a:gd name="adj" fmla="val 30000"/>
            </a:avLst>
          </a:prstGeom>
          <a:solidFill>
            <a:srgbClr val="3E4C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185916" y="5989320"/>
            <a:ext cx="5500116" cy="384048"/>
          </a:xfrm>
          <a:prstGeom prst="rect">
            <a:avLst/>
          </a:prstGeom>
          <a:noFill/>
        </p:spPr>
        <p:txBody>
          <a:bodyPr wrap="square" lIns="0" rIns="0" tIns="0" bIns="0" anchor="ctr">
            <a:spAutoFit/>
          </a:bodyPr>
          <a:lstStyle/>
          <a:p>
            <a:pPr algn="ctr">
              <a:lnSpc>
                <a:spcPts val="1475"/>
              </a:lnSpc>
              <a:spcAft>
                <a:spcPts val="0"/>
              </a:spcAft>
            </a:pPr>
            <a:r>
              <a:rPr sz="1250" b="0" i="0">
                <a:solidFill>
                  <a:srgbClr val="9FAEC4"/>
                </a:solidFill>
                <a:latin typeface="Arial"/>
              </a:rPr>
              <a:t>Subagent</a:t>
            </a:r>
          </a:p>
        </p:txBody>
      </p:sp>
      <p:sp>
        <p:nvSpPr>
          <p:cNvPr id="13" name="TextBox 12"/>
          <p:cNvSpPr txBox="1"/>
          <p:nvPr/>
        </p:nvSpPr>
        <p:spPr>
          <a:xfrm>
            <a:off x="10957255" y="6437376"/>
            <a:ext cx="914400" cy="274320"/>
          </a:xfrm>
          <a:prstGeom prst="rect">
            <a:avLst/>
          </a:prstGeom>
          <a:noFill/>
        </p:spPr>
        <p:txBody>
          <a:bodyPr wrap="square" lIns="0" rIns="0" tIns="0" bIns="0" anchor="t">
            <a:spAutoFit/>
          </a:bodyPr>
          <a:lstStyle/>
          <a:p>
            <a:pPr algn="r">
              <a:lnSpc>
                <a:spcPts val="1238"/>
              </a:lnSpc>
              <a:spcAft>
                <a:spcPts val="0"/>
              </a:spcAft>
            </a:pPr>
            <a:r>
              <a:rPr sz="1050" b="0" i="0">
                <a:solidFill>
                  <a:srgbClr val="FFFFFF"/>
                </a:solidFill>
                <a:latin typeface="Arial"/>
              </a:rPr>
              <a:t>6</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02920" y="310896"/>
            <a:ext cx="11183112" cy="431291"/>
          </a:xfrm>
          <a:prstGeom prst="rect">
            <a:avLst/>
          </a:prstGeom>
          <a:noFill/>
        </p:spPr>
        <p:txBody>
          <a:bodyPr wrap="square" lIns="0" rIns="0" tIns="0" bIns="0" anchor="t">
            <a:spAutoFit/>
          </a:bodyPr>
          <a:lstStyle/>
          <a:p>
            <a:pPr algn="l">
              <a:lnSpc>
                <a:spcPts val="2963"/>
              </a:lnSpc>
              <a:spcAft>
                <a:spcPts val="0"/>
              </a:spcAft>
            </a:pPr>
            <a:r>
              <a:rPr sz="2600" b="1" i="0">
                <a:solidFill>
                  <a:srgbClr val="141B2E"/>
                </a:solidFill>
                <a:latin typeface="Arial"/>
              </a:rPr>
              <a:t>Files inside, files outside — and the issue tracker?</a:t>
            </a:r>
          </a:p>
        </p:txBody>
      </p:sp>
      <p:sp>
        <p:nvSpPr>
          <p:cNvPr id="3" name="Rectangle 2"/>
          <p:cNvSpPr/>
          <p:nvPr/>
        </p:nvSpPr>
        <p:spPr>
          <a:xfrm>
            <a:off x="502920" y="1441323"/>
            <a:ext cx="5381244" cy="45720"/>
          </a:xfrm>
          <a:prstGeom prst="rect">
            <a:avLst/>
          </a:prstGeom>
          <a:solidFill>
            <a:srgbClr val="065A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6304788" y="1441323"/>
            <a:ext cx="5381244" cy="45720"/>
          </a:xfrm>
          <a:prstGeom prst="rect">
            <a:avLst/>
          </a:prstGeom>
          <a:solidFill>
            <a:srgbClr val="F0AB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2920" y="1569339"/>
            <a:ext cx="5381244" cy="256032"/>
          </a:xfrm>
          <a:prstGeom prst="rect">
            <a:avLst/>
          </a:prstGeom>
          <a:noFill/>
        </p:spPr>
        <p:txBody>
          <a:bodyPr wrap="square" lIns="0" rIns="0" tIns="0" bIns="0" anchor="t">
            <a:spAutoFit/>
          </a:bodyPr>
          <a:lstStyle/>
          <a:p>
            <a:pPr algn="l">
              <a:lnSpc>
                <a:spcPts val="1356"/>
              </a:lnSpc>
              <a:spcAft>
                <a:spcPts val="0"/>
              </a:spcAft>
            </a:pPr>
            <a:r>
              <a:rPr sz="1150" b="1" i="0">
                <a:solidFill>
                  <a:srgbClr val="065A82"/>
                </a:solidFill>
                <a:latin typeface="Arial"/>
              </a:rPr>
              <a:t>WHAT THE AGENT ALREADY USES</a:t>
            </a:r>
          </a:p>
        </p:txBody>
      </p:sp>
      <p:sp>
        <p:nvSpPr>
          <p:cNvPr id="6" name="TextBox 5"/>
          <p:cNvSpPr txBox="1"/>
          <p:nvPr/>
        </p:nvSpPr>
        <p:spPr>
          <a:xfrm>
            <a:off x="6304788" y="1569339"/>
            <a:ext cx="5381244" cy="256032"/>
          </a:xfrm>
          <a:prstGeom prst="rect">
            <a:avLst/>
          </a:prstGeom>
          <a:noFill/>
        </p:spPr>
        <p:txBody>
          <a:bodyPr wrap="square" lIns="0" rIns="0" tIns="0" bIns="0" anchor="t">
            <a:spAutoFit/>
          </a:bodyPr>
          <a:lstStyle/>
          <a:p>
            <a:pPr algn="l">
              <a:lnSpc>
                <a:spcPts val="1356"/>
              </a:lnSpc>
              <a:spcAft>
                <a:spcPts val="0"/>
              </a:spcAft>
            </a:pPr>
            <a:r>
              <a:rPr sz="1150" b="1" i="0">
                <a:solidFill>
                  <a:srgbClr val="8A6200"/>
                </a:solidFill>
                <a:latin typeface="Arial"/>
              </a:rPr>
              <a:t>AND THE LIST OF ISSUES IN THE TRACKER?</a:t>
            </a:r>
          </a:p>
        </p:txBody>
      </p:sp>
      <p:sp>
        <p:nvSpPr>
          <p:cNvPr id="7" name="Rectangle 6"/>
          <p:cNvSpPr/>
          <p:nvPr/>
        </p:nvSpPr>
        <p:spPr>
          <a:xfrm>
            <a:off x="6090818" y="1441323"/>
            <a:ext cx="7315" cy="3041904"/>
          </a:xfrm>
          <a:prstGeom prst="rect">
            <a:avLst/>
          </a:prstGeom>
          <a:solidFill>
            <a:srgbClr val="E5EA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048756" y="1441323"/>
            <a:ext cx="91440" cy="91440"/>
          </a:xfrm>
          <a:prstGeom prst="rect">
            <a:avLst/>
          </a:prstGeom>
          <a:solidFill>
            <a:srgbClr val="F0AB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02920" y="1953387"/>
            <a:ext cx="5381244" cy="1935480"/>
          </a:xfrm>
          <a:prstGeom prst="rect">
            <a:avLst/>
          </a:prstGeom>
          <a:noFill/>
        </p:spPr>
        <p:txBody>
          <a:bodyPr wrap="square" lIns="0" rIns="0" tIns="0" bIns="0" anchor="t">
            <a:spAutoFit/>
          </a:bodyPr>
          <a:lstStyle/>
          <a:p>
            <a:pPr algn="l">
              <a:lnSpc>
                <a:spcPts val="2340"/>
              </a:lnSpc>
              <a:spcAft>
                <a:spcPts val="600"/>
              </a:spcAft>
            </a:pPr>
            <a:r>
              <a:rPr sz="1800" b="0" i="0">
                <a:solidFill>
                  <a:srgbClr val="141B2E"/>
                </a:solidFill>
                <a:latin typeface="Arial"/>
              </a:rPr>
              <a:t>The repository's files — the agent reads them directly, this is the material of previous classes.</a:t>
            </a:r>
          </a:p>
          <a:p>
            <a:pPr algn="l">
              <a:lnSpc>
                <a:spcPts val="2340"/>
              </a:lnSpc>
              <a:spcAft>
                <a:spcPts val="600"/>
              </a:spcAft>
            </a:pPr>
            <a:r>
              <a:rPr sz="1800" b="0" i="0">
                <a:solidFill>
                  <a:srgbClr val="141B2E"/>
                </a:solidFill>
                <a:latin typeface="Arial"/>
              </a:rPr>
              <a:t>Files handed over explicitly: text pasted into the chat, a document attached.</a:t>
            </a:r>
          </a:p>
          <a:p>
            <a:pPr algn="l">
              <a:lnSpc>
                <a:spcPts val="2340"/>
              </a:lnSpc>
              <a:spcAft>
                <a:spcPts val="600"/>
              </a:spcAft>
            </a:pPr>
            <a:r>
              <a:rPr sz="1800" b="0" i="0">
                <a:solidFill>
                  <a:srgbClr val="141B2E"/>
                </a:solidFill>
                <a:latin typeface="Arial"/>
              </a:rPr>
              <a:t>Both sources are files. Read it and get to work.</a:t>
            </a:r>
          </a:p>
        </p:txBody>
      </p:sp>
      <p:sp>
        <p:nvSpPr>
          <p:cNvPr id="10" name="TextBox 9"/>
          <p:cNvSpPr txBox="1"/>
          <p:nvPr/>
        </p:nvSpPr>
        <p:spPr>
          <a:xfrm>
            <a:off x="6304788" y="1953387"/>
            <a:ext cx="5381244" cy="2529840"/>
          </a:xfrm>
          <a:prstGeom prst="rect">
            <a:avLst/>
          </a:prstGeom>
          <a:noFill/>
        </p:spPr>
        <p:txBody>
          <a:bodyPr wrap="square" lIns="0" rIns="0" tIns="0" bIns="0" anchor="t">
            <a:spAutoFit/>
          </a:bodyPr>
          <a:lstStyle/>
          <a:p>
            <a:pPr algn="l">
              <a:lnSpc>
                <a:spcPts val="2340"/>
              </a:lnSpc>
              <a:spcAft>
                <a:spcPts val="600"/>
              </a:spcAft>
            </a:pPr>
            <a:r>
              <a:rPr sz="1800" b="0" i="0">
                <a:solidFill>
                  <a:srgbClr val="141B2E"/>
                </a:solidFill>
                <a:latin typeface="Arial"/>
              </a:rPr>
              <a:t>The client keeps it apart from the project: there is no such file in the repository's tree.</a:t>
            </a:r>
          </a:p>
          <a:p>
            <a:pPr algn="l">
              <a:lnSpc>
                <a:spcPts val="2340"/>
              </a:lnSpc>
              <a:spcAft>
                <a:spcPts val="600"/>
              </a:spcAft>
            </a:pPr>
            <a:r>
              <a:rPr sz="1800" b="0" i="0">
                <a:solidFill>
                  <a:srgbClr val="141B2E"/>
                </a:solidFill>
                <a:latin typeface="Arial"/>
              </a:rPr>
              <a:t>Handing it over once and forgetting about it will not work — the list changes without us every day.</a:t>
            </a:r>
          </a:p>
          <a:p>
            <a:pPr algn="l">
              <a:lnSpc>
                <a:spcPts val="2340"/>
              </a:lnSpc>
              <a:spcAft>
                <a:spcPts val="600"/>
              </a:spcAft>
            </a:pPr>
            <a:r>
              <a:rPr sz="1800" b="0" i="0">
                <a:solidFill>
                  <a:srgbClr val="141B2E"/>
                </a:solidFill>
                <a:latin typeface="Arial"/>
              </a:rPr>
              <a:t>A snapshot as of this morning will be out of date by lunchtime. What is needed is a way to ask the system at the moment of the work.</a:t>
            </a:r>
          </a:p>
        </p:txBody>
      </p:sp>
      <p:sp>
        <p:nvSpPr>
          <p:cNvPr id="11" name="Rounded Rectangle 10"/>
          <p:cNvSpPr/>
          <p:nvPr/>
        </p:nvSpPr>
        <p:spPr>
          <a:xfrm>
            <a:off x="502920" y="5150739"/>
            <a:ext cx="11183112" cy="678942"/>
          </a:xfrm>
          <a:prstGeom prst="roundRect">
            <a:avLst>
              <a:gd name="adj" fmla="val 25000"/>
            </a:avLst>
          </a:prstGeom>
          <a:solidFill>
            <a:srgbClr val="E0F1F2"/>
          </a:solidFill>
          <a:ln w="13970">
            <a:solidFill>
              <a:srgbClr val="02809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521208" y="5205603"/>
            <a:ext cx="64008" cy="569214"/>
          </a:xfrm>
          <a:prstGeom prst="roundRect">
            <a:avLst>
              <a:gd name="adj" fmla="val 50000"/>
            </a:avLst>
          </a:prstGeom>
          <a:solidFill>
            <a:srgbClr val="0280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04672" y="5287899"/>
            <a:ext cx="10643616" cy="404621"/>
          </a:xfrm>
          <a:prstGeom prst="rect">
            <a:avLst/>
          </a:prstGeom>
          <a:noFill/>
        </p:spPr>
        <p:txBody>
          <a:bodyPr wrap="square" lIns="0" rIns="0" tIns="0" bIns="0" anchor="ctr">
            <a:spAutoFit/>
          </a:bodyPr>
          <a:lstStyle/>
          <a:p>
            <a:pPr algn="l">
              <a:lnSpc>
                <a:spcPts val="1593"/>
              </a:lnSpc>
              <a:spcAft>
                <a:spcPts val="300"/>
              </a:spcAft>
            </a:pPr>
            <a:r>
              <a:rPr sz="1350" b="0" i="0">
                <a:solidFill>
                  <a:srgbClr val="141B2E"/>
                </a:solidFill>
                <a:latin typeface="Arial"/>
              </a:rPr>
              <a:t>Reaching a system like that is called an API call. The usual guess at this point: you will have to pay for it with an integration you write. We will check that against five ways.</a:t>
            </a:r>
          </a:p>
        </p:txBody>
      </p:sp>
      <p:sp>
        <p:nvSpPr>
          <p:cNvPr id="14" name="TextBox 13"/>
          <p:cNvSpPr txBox="1"/>
          <p:nvPr/>
        </p:nvSpPr>
        <p:spPr>
          <a:xfrm>
            <a:off x="10957255" y="6437376"/>
            <a:ext cx="914400" cy="274320"/>
          </a:xfrm>
          <a:prstGeom prst="rect">
            <a:avLst/>
          </a:prstGeom>
          <a:noFill/>
        </p:spPr>
        <p:txBody>
          <a:bodyPr wrap="square" lIns="0" rIns="0" tIns="0" bIns="0" anchor="t">
            <a:spAutoFit/>
          </a:bodyPr>
          <a:lstStyle/>
          <a:p>
            <a:pPr algn="r">
              <a:lnSpc>
                <a:spcPts val="1238"/>
              </a:lnSpc>
              <a:spcAft>
                <a:spcPts val="0"/>
              </a:spcAft>
            </a:pPr>
            <a:r>
              <a:rPr sz="1050" b="0" i="0">
                <a:solidFill>
                  <a:srgbClr val="6B7685"/>
                </a:solidFill>
                <a:latin typeface="Arial"/>
              </a:rPr>
              <a:t>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02920" y="310896"/>
            <a:ext cx="11183112" cy="807720"/>
          </a:xfrm>
          <a:prstGeom prst="rect">
            <a:avLst/>
          </a:prstGeom>
          <a:noFill/>
        </p:spPr>
        <p:txBody>
          <a:bodyPr wrap="square" lIns="0" rIns="0" tIns="0" bIns="0" anchor="t">
            <a:spAutoFit/>
          </a:bodyPr>
          <a:lstStyle/>
          <a:p>
            <a:pPr algn="l">
              <a:lnSpc>
                <a:spcPts val="2963"/>
              </a:lnSpc>
              <a:spcAft>
                <a:spcPts val="0"/>
              </a:spcAft>
            </a:pPr>
            <a:r>
              <a:rPr sz="2600" b="1" i="0">
                <a:solidFill>
                  <a:srgbClr val="141B2E"/>
                </a:solidFill>
                <a:latin typeface="Arial"/>
              </a:rPr>
              <a:t>The server — at your place or outside, the conversation is the same</a:t>
            </a:r>
          </a:p>
        </p:txBody>
      </p:sp>
      <p:pic>
        <p:nvPicPr>
          <p:cNvPr id="3" name="Picture 2" descr="mcp-n08-gde-chto-stoit-en.png"/>
          <p:cNvPicPr>
            <a:picLocks noChangeAspect="1"/>
          </p:cNvPicPr>
          <p:nvPr/>
        </p:nvPicPr>
        <p:blipFill>
          <a:blip r:embed="rId2"/>
          <a:stretch>
            <a:fillRect/>
          </a:stretch>
        </p:blipFill>
        <p:spPr>
          <a:xfrm>
            <a:off x="823040" y="1319784"/>
            <a:ext cx="10542871" cy="5007864"/>
          </a:xfrm>
          <a:prstGeom prst="rect">
            <a:avLst/>
          </a:prstGeom>
        </p:spPr>
      </p:pic>
      <p:sp>
        <p:nvSpPr>
          <p:cNvPr id="4" name="TextBox 3"/>
          <p:cNvSpPr txBox="1"/>
          <p:nvPr/>
        </p:nvSpPr>
        <p:spPr>
          <a:xfrm>
            <a:off x="10957255" y="6437376"/>
            <a:ext cx="914400" cy="274320"/>
          </a:xfrm>
          <a:prstGeom prst="rect">
            <a:avLst/>
          </a:prstGeom>
          <a:noFill/>
        </p:spPr>
        <p:txBody>
          <a:bodyPr wrap="square" lIns="0" rIns="0" tIns="0" bIns="0" anchor="t">
            <a:spAutoFit/>
          </a:bodyPr>
          <a:lstStyle/>
          <a:p>
            <a:pPr algn="r">
              <a:lnSpc>
                <a:spcPts val="1238"/>
              </a:lnSpc>
              <a:spcAft>
                <a:spcPts val="0"/>
              </a:spcAft>
            </a:pPr>
            <a:r>
              <a:rPr sz="1050" b="0" i="0">
                <a:solidFill>
                  <a:srgbClr val="6B7685"/>
                </a:solidFill>
                <a:latin typeface="Arial"/>
              </a:rPr>
              <a:t>8</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02920" y="310896"/>
            <a:ext cx="11183112" cy="431291"/>
          </a:xfrm>
          <a:prstGeom prst="rect">
            <a:avLst/>
          </a:prstGeom>
          <a:noFill/>
        </p:spPr>
        <p:txBody>
          <a:bodyPr wrap="square" lIns="0" rIns="0" tIns="0" bIns="0" anchor="t">
            <a:spAutoFit/>
          </a:bodyPr>
          <a:lstStyle/>
          <a:p>
            <a:pPr algn="l">
              <a:lnSpc>
                <a:spcPts val="2963"/>
              </a:lnSpc>
              <a:spcAft>
                <a:spcPts val="0"/>
              </a:spcAft>
            </a:pPr>
            <a:r>
              <a:rPr sz="2600" b="1" i="0">
                <a:solidFill>
                  <a:srgbClr val="141B2E"/>
                </a:solidFill>
                <a:latin typeface="Arial"/>
              </a:rPr>
              <a:t>MCP and the server, in one screen</a:t>
            </a:r>
          </a:p>
        </p:txBody>
      </p:sp>
      <p:pic>
        <p:nvPicPr>
          <p:cNvPr id="3" name="Picture 2" descr="mcp-n09-mehanizm-en.png"/>
          <p:cNvPicPr>
            <a:picLocks noChangeAspect="1"/>
          </p:cNvPicPr>
          <p:nvPr/>
        </p:nvPicPr>
        <p:blipFill>
          <a:blip r:embed="rId2"/>
          <a:stretch>
            <a:fillRect/>
          </a:stretch>
        </p:blipFill>
        <p:spPr>
          <a:xfrm>
            <a:off x="502920" y="972281"/>
            <a:ext cx="11183112" cy="5311978"/>
          </a:xfrm>
          <a:prstGeom prst="rect">
            <a:avLst/>
          </a:prstGeom>
        </p:spPr>
      </p:pic>
      <p:sp>
        <p:nvSpPr>
          <p:cNvPr id="4" name="TextBox 3"/>
          <p:cNvSpPr txBox="1"/>
          <p:nvPr/>
        </p:nvSpPr>
        <p:spPr>
          <a:xfrm>
            <a:off x="10957255" y="6437376"/>
            <a:ext cx="914400" cy="274320"/>
          </a:xfrm>
          <a:prstGeom prst="rect">
            <a:avLst/>
          </a:prstGeom>
          <a:noFill/>
        </p:spPr>
        <p:txBody>
          <a:bodyPr wrap="square" lIns="0" rIns="0" tIns="0" bIns="0" anchor="t">
            <a:spAutoFit/>
          </a:bodyPr>
          <a:lstStyle/>
          <a:p>
            <a:pPr algn="r">
              <a:lnSpc>
                <a:spcPts val="1238"/>
              </a:lnSpc>
              <a:spcAft>
                <a:spcPts val="0"/>
              </a:spcAft>
            </a:pPr>
            <a:r>
              <a:rPr sz="1050" b="0" i="0">
                <a:solidFill>
                  <a:srgbClr val="6B7685"/>
                </a:solidFill>
                <a:latin typeface="Arial"/>
              </a:rPr>
              <a:t>9</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02920" y="310896"/>
            <a:ext cx="11183112" cy="431291"/>
          </a:xfrm>
          <a:prstGeom prst="rect">
            <a:avLst/>
          </a:prstGeom>
          <a:noFill/>
        </p:spPr>
        <p:txBody>
          <a:bodyPr wrap="square" lIns="0" rIns="0" tIns="0" bIns="0" anchor="t">
            <a:spAutoFit/>
          </a:bodyPr>
          <a:lstStyle/>
          <a:p>
            <a:pPr algn="l">
              <a:lnSpc>
                <a:spcPts val="2963"/>
              </a:lnSpc>
              <a:spcAft>
                <a:spcPts val="0"/>
              </a:spcAft>
            </a:pPr>
            <a:r>
              <a:rPr sz="2600" b="1" i="0">
                <a:solidFill>
                  <a:srgbClr val="141B2E"/>
                </a:solidFill>
                <a:latin typeface="Arial"/>
              </a:rPr>
              <a:t>The Tuesday the transfer by hand failed</a:t>
            </a:r>
          </a:p>
        </p:txBody>
      </p:sp>
      <p:sp>
        <p:nvSpPr>
          <p:cNvPr id="3" name="Rounded Rectangle 2"/>
          <p:cNvSpPr/>
          <p:nvPr/>
        </p:nvSpPr>
        <p:spPr>
          <a:xfrm>
            <a:off x="502920" y="1039622"/>
            <a:ext cx="82296" cy="982980"/>
          </a:xfrm>
          <a:prstGeom prst="roundRect">
            <a:avLst>
              <a:gd name="adj" fmla="val 50000"/>
            </a:avLst>
          </a:prstGeom>
          <a:solidFill>
            <a:srgbClr val="F0AB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59536" y="1167638"/>
            <a:ext cx="10643616" cy="726948"/>
          </a:xfrm>
          <a:prstGeom prst="rect">
            <a:avLst/>
          </a:prstGeom>
          <a:noFill/>
        </p:spPr>
        <p:txBody>
          <a:bodyPr wrap="square" lIns="0" rIns="0" tIns="0" bIns="0" anchor="ctr">
            <a:spAutoFit/>
          </a:bodyPr>
          <a:lstStyle/>
          <a:p>
            <a:pPr algn="l">
              <a:lnSpc>
                <a:spcPts val="1860"/>
              </a:lnSpc>
              <a:spcAft>
                <a:spcPts val="300"/>
              </a:spcAft>
            </a:pPr>
            <a:r>
              <a:rPr sz="1500" b="1" i="0">
                <a:solidFill>
                  <a:srgbClr val="141B2E"/>
                </a:solidFill>
                <a:latin typeface="Arial"/>
              </a:rPr>
              <a:t>The site is in its third month. For a month now the client has been keeping his tasks in a tracker — the developer suggested it himself, so that edits would stop getting lost in a messenger. The transfer between the tracker and the agent's chat the developer does by hand, a few times a week.</a:t>
            </a:r>
          </a:p>
        </p:txBody>
      </p:sp>
      <p:sp>
        <p:nvSpPr>
          <p:cNvPr id="5" name="Rounded Rectangle 4"/>
          <p:cNvSpPr/>
          <p:nvPr/>
        </p:nvSpPr>
        <p:spPr>
          <a:xfrm>
            <a:off x="502920" y="2427859"/>
            <a:ext cx="11183112" cy="2367153"/>
          </a:xfrm>
          <a:prstGeom prst="roundRect">
            <a:avLst>
              <a:gd name="adj" fmla="val 12876"/>
            </a:avLst>
          </a:prstGeom>
          <a:solidFill>
            <a:srgbClr val="F4F7FA"/>
          </a:solidFill>
          <a:ln w="15240">
            <a:solidFill>
              <a:srgbClr val="E5EA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22376" y="2647315"/>
            <a:ext cx="329184" cy="532638"/>
          </a:xfrm>
          <a:prstGeom prst="rect">
            <a:avLst/>
          </a:prstGeom>
          <a:noFill/>
        </p:spPr>
        <p:txBody>
          <a:bodyPr wrap="square" lIns="0" rIns="0" tIns="0" bIns="0" anchor="ctr">
            <a:spAutoFit/>
          </a:bodyPr>
          <a:lstStyle/>
          <a:p>
            <a:pPr algn="l">
              <a:lnSpc>
                <a:spcPts val="1829"/>
              </a:lnSpc>
              <a:spcAft>
                <a:spcPts val="0"/>
              </a:spcAft>
            </a:pPr>
            <a:r>
              <a:rPr sz="1550" b="1" i="0">
                <a:solidFill>
                  <a:srgbClr val="028090"/>
                </a:solidFill>
                <a:latin typeface="Arial"/>
              </a:rPr>
              <a:t>1</a:t>
            </a:r>
          </a:p>
        </p:txBody>
      </p:sp>
      <p:sp>
        <p:nvSpPr>
          <p:cNvPr id="7" name="TextBox 6"/>
          <p:cNvSpPr txBox="1"/>
          <p:nvPr/>
        </p:nvSpPr>
        <p:spPr>
          <a:xfrm>
            <a:off x="1106424" y="2647315"/>
            <a:ext cx="10360152" cy="532638"/>
          </a:xfrm>
          <a:prstGeom prst="rect">
            <a:avLst/>
          </a:prstGeom>
          <a:noFill/>
        </p:spPr>
        <p:txBody>
          <a:bodyPr wrap="square" lIns="0" rIns="0" tIns="0" bIns="0" anchor="ctr">
            <a:spAutoFit/>
          </a:bodyPr>
          <a:lstStyle/>
          <a:p>
            <a:pPr algn="l">
              <a:lnSpc>
                <a:spcPts val="1593"/>
              </a:lnSpc>
              <a:spcAft>
                <a:spcPts val="0"/>
              </a:spcAft>
            </a:pPr>
            <a:r>
              <a:rPr sz="1350" b="0" i="0">
                <a:solidFill>
                  <a:srgbClr val="141B2E"/>
                </a:solidFill>
                <a:latin typeface="Arial"/>
              </a:rPr>
              <a:t>Tuesday morning: opened the issue "the form does not submit from a phone", copied the text into the agent's chat, went off to make the edit.</a:t>
            </a:r>
          </a:p>
        </p:txBody>
      </p:sp>
      <p:sp>
        <p:nvSpPr>
          <p:cNvPr id="8" name="TextBox 7"/>
          <p:cNvSpPr txBox="1"/>
          <p:nvPr/>
        </p:nvSpPr>
        <p:spPr>
          <a:xfrm>
            <a:off x="722376" y="3179953"/>
            <a:ext cx="329184" cy="330327"/>
          </a:xfrm>
          <a:prstGeom prst="rect">
            <a:avLst/>
          </a:prstGeom>
          <a:noFill/>
        </p:spPr>
        <p:txBody>
          <a:bodyPr wrap="square" lIns="0" rIns="0" tIns="0" bIns="0" anchor="ctr">
            <a:spAutoFit/>
          </a:bodyPr>
          <a:lstStyle/>
          <a:p>
            <a:pPr algn="l">
              <a:lnSpc>
                <a:spcPts val="1829"/>
              </a:lnSpc>
              <a:spcAft>
                <a:spcPts val="0"/>
              </a:spcAft>
            </a:pPr>
            <a:r>
              <a:rPr sz="1550" b="1" i="0">
                <a:solidFill>
                  <a:srgbClr val="028090"/>
                </a:solidFill>
                <a:latin typeface="Arial"/>
              </a:rPr>
              <a:t>2</a:t>
            </a:r>
          </a:p>
        </p:txBody>
      </p:sp>
      <p:sp>
        <p:nvSpPr>
          <p:cNvPr id="9" name="TextBox 8"/>
          <p:cNvSpPr txBox="1"/>
          <p:nvPr/>
        </p:nvSpPr>
        <p:spPr>
          <a:xfrm>
            <a:off x="1106424" y="3179953"/>
            <a:ext cx="10360152" cy="330327"/>
          </a:xfrm>
          <a:prstGeom prst="rect">
            <a:avLst/>
          </a:prstGeom>
          <a:noFill/>
        </p:spPr>
        <p:txBody>
          <a:bodyPr wrap="square" lIns="0" rIns="0" tIns="0" bIns="0" anchor="ctr">
            <a:spAutoFit/>
          </a:bodyPr>
          <a:lstStyle/>
          <a:p>
            <a:pPr algn="l">
              <a:lnSpc>
                <a:spcPts val="1593"/>
              </a:lnSpc>
              <a:spcAft>
                <a:spcPts val="0"/>
              </a:spcAft>
            </a:pPr>
            <a:r>
              <a:rPr sz="1350" b="0" i="0">
                <a:solidFill>
                  <a:srgbClr val="141B2E"/>
                </a:solidFill>
                <a:latin typeface="Arial"/>
              </a:rPr>
              <a:t>In the afternoon the client added a line to that same issue: "and from a tablet too".</a:t>
            </a:r>
          </a:p>
        </p:txBody>
      </p:sp>
      <p:sp>
        <p:nvSpPr>
          <p:cNvPr id="10" name="TextBox 9"/>
          <p:cNvSpPr txBox="1"/>
          <p:nvPr/>
        </p:nvSpPr>
        <p:spPr>
          <a:xfrm>
            <a:off x="722376" y="3510280"/>
            <a:ext cx="329184" cy="532638"/>
          </a:xfrm>
          <a:prstGeom prst="rect">
            <a:avLst/>
          </a:prstGeom>
          <a:noFill/>
        </p:spPr>
        <p:txBody>
          <a:bodyPr wrap="square" lIns="0" rIns="0" tIns="0" bIns="0" anchor="ctr">
            <a:spAutoFit/>
          </a:bodyPr>
          <a:lstStyle/>
          <a:p>
            <a:pPr algn="l">
              <a:lnSpc>
                <a:spcPts val="1829"/>
              </a:lnSpc>
              <a:spcAft>
                <a:spcPts val="0"/>
              </a:spcAft>
            </a:pPr>
            <a:r>
              <a:rPr sz="1550" b="1" i="0">
                <a:solidFill>
                  <a:srgbClr val="028090"/>
                </a:solidFill>
                <a:latin typeface="Arial"/>
              </a:rPr>
              <a:t>3</a:t>
            </a:r>
          </a:p>
        </p:txBody>
      </p:sp>
      <p:sp>
        <p:nvSpPr>
          <p:cNvPr id="11" name="TextBox 10"/>
          <p:cNvSpPr txBox="1"/>
          <p:nvPr/>
        </p:nvSpPr>
        <p:spPr>
          <a:xfrm>
            <a:off x="1106424" y="3510280"/>
            <a:ext cx="10360152" cy="532638"/>
          </a:xfrm>
          <a:prstGeom prst="rect">
            <a:avLst/>
          </a:prstGeom>
          <a:noFill/>
        </p:spPr>
        <p:txBody>
          <a:bodyPr wrap="square" lIns="0" rIns="0" tIns="0" bIns="0" anchor="ctr">
            <a:spAutoFit/>
          </a:bodyPr>
          <a:lstStyle/>
          <a:p>
            <a:pPr algn="l">
              <a:lnSpc>
                <a:spcPts val="1593"/>
              </a:lnSpc>
              <a:spcAft>
                <a:spcPts val="0"/>
              </a:spcAft>
            </a:pPr>
            <a:r>
              <a:rPr sz="1350" b="0" i="0">
                <a:solidFill>
                  <a:srgbClr val="141B2E"/>
                </a:solidFill>
                <a:latin typeface="Arial"/>
              </a:rPr>
              <a:t>The developer did not see it — what he had in the chat was the morning's snapshot. In the evening the edit went out to the client.</a:t>
            </a:r>
          </a:p>
        </p:txBody>
      </p:sp>
      <p:sp>
        <p:nvSpPr>
          <p:cNvPr id="12" name="TextBox 11"/>
          <p:cNvSpPr txBox="1"/>
          <p:nvPr/>
        </p:nvSpPr>
        <p:spPr>
          <a:xfrm>
            <a:off x="722376" y="4042918"/>
            <a:ext cx="329184" cy="532638"/>
          </a:xfrm>
          <a:prstGeom prst="rect">
            <a:avLst/>
          </a:prstGeom>
          <a:noFill/>
        </p:spPr>
        <p:txBody>
          <a:bodyPr wrap="square" lIns="0" rIns="0" tIns="0" bIns="0" anchor="ctr">
            <a:spAutoFit/>
          </a:bodyPr>
          <a:lstStyle/>
          <a:p>
            <a:pPr algn="l">
              <a:lnSpc>
                <a:spcPts val="1829"/>
              </a:lnSpc>
              <a:spcAft>
                <a:spcPts val="0"/>
              </a:spcAft>
            </a:pPr>
            <a:r>
              <a:rPr sz="1550" b="1" i="0">
                <a:solidFill>
                  <a:srgbClr val="028090"/>
                </a:solidFill>
                <a:latin typeface="Arial"/>
              </a:rPr>
              <a:t>4</a:t>
            </a:r>
          </a:p>
        </p:txBody>
      </p:sp>
      <p:sp>
        <p:nvSpPr>
          <p:cNvPr id="13" name="TextBox 12"/>
          <p:cNvSpPr txBox="1"/>
          <p:nvPr/>
        </p:nvSpPr>
        <p:spPr>
          <a:xfrm>
            <a:off x="1106424" y="4042918"/>
            <a:ext cx="10360152" cy="532638"/>
          </a:xfrm>
          <a:prstGeom prst="rect">
            <a:avLst/>
          </a:prstGeom>
          <a:noFill/>
        </p:spPr>
        <p:txBody>
          <a:bodyPr wrap="square" lIns="0" rIns="0" tIns="0" bIns="0" anchor="ctr">
            <a:spAutoFit/>
          </a:bodyPr>
          <a:lstStyle/>
          <a:p>
            <a:pPr algn="l">
              <a:lnSpc>
                <a:spcPts val="1593"/>
              </a:lnSpc>
              <a:spcAft>
                <a:spcPts val="0"/>
              </a:spcAft>
            </a:pPr>
            <a:r>
              <a:rPr sz="1350" b="0" i="0">
                <a:solidFill>
                  <a:srgbClr val="141B2E"/>
                </a:solidFill>
                <a:latin typeface="Arial"/>
              </a:rPr>
              <a:t>In the morning, in the issue: "what about the tablet?". An hour on a second edit and an email explaining why a requirement from the issue did not make it through to the work.</a:t>
            </a:r>
          </a:p>
        </p:txBody>
      </p:sp>
      <p:sp>
        <p:nvSpPr>
          <p:cNvPr id="14" name="Rounded Rectangle 13"/>
          <p:cNvSpPr/>
          <p:nvPr/>
        </p:nvSpPr>
        <p:spPr>
          <a:xfrm>
            <a:off x="502920" y="5200269"/>
            <a:ext cx="82296" cy="982980"/>
          </a:xfrm>
          <a:prstGeom prst="roundRect">
            <a:avLst>
              <a:gd name="adj" fmla="val 50000"/>
            </a:avLst>
          </a:prstGeom>
          <a:solidFill>
            <a:srgbClr val="F0AB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59536" y="5328285"/>
            <a:ext cx="10643616" cy="726948"/>
          </a:xfrm>
          <a:prstGeom prst="rect">
            <a:avLst/>
          </a:prstGeom>
          <a:noFill/>
        </p:spPr>
        <p:txBody>
          <a:bodyPr wrap="square" lIns="0" rIns="0" tIns="0" bIns="0" anchor="ctr">
            <a:spAutoFit/>
          </a:bodyPr>
          <a:lstStyle/>
          <a:p>
            <a:pPr algn="l">
              <a:lnSpc>
                <a:spcPts val="1860"/>
              </a:lnSpc>
              <a:spcAft>
                <a:spcPts val="300"/>
              </a:spcAft>
            </a:pPr>
            <a:r>
              <a:rPr sz="1500" b="1" i="0">
                <a:solidFill>
                  <a:srgbClr val="141B2E"/>
                </a:solidFill>
                <a:latin typeface="Arial"/>
              </a:rPr>
              <a:t>The hour lost is the smaller part of the cost. The larger part is that the client now double-checks whether what he wrote reached the work. The tracker lives in a separate system and changes every day without the developer: a snapshot taken in the morning is already inaccurate by evening.</a:t>
            </a:r>
          </a:p>
        </p:txBody>
      </p:sp>
      <p:sp>
        <p:nvSpPr>
          <p:cNvPr id="16" name="TextBox 15"/>
          <p:cNvSpPr txBox="1"/>
          <p:nvPr/>
        </p:nvSpPr>
        <p:spPr>
          <a:xfrm>
            <a:off x="10957255" y="6437376"/>
            <a:ext cx="914400" cy="274320"/>
          </a:xfrm>
          <a:prstGeom prst="rect">
            <a:avLst/>
          </a:prstGeom>
          <a:noFill/>
        </p:spPr>
        <p:txBody>
          <a:bodyPr wrap="square" lIns="0" rIns="0" tIns="0" bIns="0" anchor="t">
            <a:spAutoFit/>
          </a:bodyPr>
          <a:lstStyle/>
          <a:p>
            <a:pPr algn="r">
              <a:lnSpc>
                <a:spcPts val="1238"/>
              </a:lnSpc>
              <a:spcAft>
                <a:spcPts val="0"/>
              </a:spcAft>
            </a:pPr>
            <a:r>
              <a:rPr sz="1050" b="0" i="0">
                <a:solidFill>
                  <a:srgbClr val="6B7685"/>
                </a:solidFill>
                <a:latin typeface="Arial"/>
              </a:rPr>
              <a:t>10</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02920" y="310896"/>
            <a:ext cx="11183112" cy="431291"/>
          </a:xfrm>
          <a:prstGeom prst="rect">
            <a:avLst/>
          </a:prstGeom>
          <a:noFill/>
        </p:spPr>
        <p:txBody>
          <a:bodyPr wrap="square" lIns="0" rIns="0" tIns="0" bIns="0" anchor="t">
            <a:spAutoFit/>
          </a:bodyPr>
          <a:lstStyle/>
          <a:p>
            <a:pPr algn="l">
              <a:lnSpc>
                <a:spcPts val="2963"/>
              </a:lnSpc>
              <a:spcAft>
                <a:spcPts val="0"/>
              </a:spcAft>
            </a:pPr>
            <a:r>
              <a:rPr sz="2600" b="1" i="0">
                <a:solidFill>
                  <a:srgbClr val="141B2E"/>
                </a:solidFill>
                <a:latin typeface="Arial"/>
              </a:rPr>
              <a:t>How do you give the agent access to the issue tracker?</a:t>
            </a:r>
          </a:p>
        </p:txBody>
      </p:sp>
      <p:sp>
        <p:nvSpPr>
          <p:cNvPr id="3" name="Rounded Rectangle 2"/>
          <p:cNvSpPr/>
          <p:nvPr/>
        </p:nvSpPr>
        <p:spPr>
          <a:xfrm>
            <a:off x="502920" y="1484071"/>
            <a:ext cx="11183112" cy="822960"/>
          </a:xfrm>
          <a:prstGeom prst="roundRect">
            <a:avLst>
              <a:gd name="adj" fmla="val 10000"/>
            </a:avLst>
          </a:prstGeom>
          <a:solidFill>
            <a:srgbClr val="FEF5E0"/>
          </a:solidFill>
          <a:ln w="19050">
            <a:solidFill>
              <a:srgbClr val="F0AB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22376" y="1612087"/>
            <a:ext cx="10634472" cy="566928"/>
          </a:xfrm>
          <a:prstGeom prst="rect">
            <a:avLst/>
          </a:prstGeom>
          <a:noFill/>
        </p:spPr>
        <p:txBody>
          <a:bodyPr wrap="square" lIns="0" rIns="0" tIns="0" bIns="0" anchor="ctr">
            <a:spAutoFit/>
          </a:bodyPr>
          <a:lstStyle/>
          <a:p>
            <a:pPr algn="ctr">
              <a:lnSpc>
                <a:spcPts val="2013"/>
              </a:lnSpc>
              <a:spcAft>
                <a:spcPts val="300"/>
              </a:spcAft>
            </a:pPr>
            <a:r>
              <a:rPr sz="1650" b="1" i="0">
                <a:solidFill>
                  <a:srgbClr val="141B2E"/>
                </a:solidFill>
                <a:latin typeface="Arial"/>
              </a:rPr>
              <a:t>Which of you has already had an agent go outside — into a tracker, into a database, into documentation? What did you give it access with back then?</a:t>
            </a:r>
          </a:p>
        </p:txBody>
      </p:sp>
      <p:sp>
        <p:nvSpPr>
          <p:cNvPr id="5" name="Rounded Rectangle 4"/>
          <p:cNvSpPr/>
          <p:nvPr/>
        </p:nvSpPr>
        <p:spPr>
          <a:xfrm>
            <a:off x="502920" y="2974543"/>
            <a:ext cx="11183112" cy="822960"/>
          </a:xfrm>
          <a:prstGeom prst="roundRect">
            <a:avLst>
              <a:gd name="adj" fmla="val 10000"/>
            </a:avLst>
          </a:prstGeom>
          <a:solidFill>
            <a:srgbClr val="FEF5E0"/>
          </a:solidFill>
          <a:ln w="19050">
            <a:solidFill>
              <a:srgbClr val="F0AB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22376" y="3102559"/>
            <a:ext cx="10634472" cy="566928"/>
          </a:xfrm>
          <a:prstGeom prst="rect">
            <a:avLst/>
          </a:prstGeom>
          <a:noFill/>
        </p:spPr>
        <p:txBody>
          <a:bodyPr wrap="square" lIns="0" rIns="0" tIns="0" bIns="0" anchor="ctr">
            <a:spAutoFit/>
          </a:bodyPr>
          <a:lstStyle/>
          <a:p>
            <a:pPr algn="ctr">
              <a:lnSpc>
                <a:spcPts val="2013"/>
              </a:lnSpc>
              <a:spcAft>
                <a:spcPts val="300"/>
              </a:spcAft>
            </a:pPr>
            <a:r>
              <a:rPr sz="1650" b="1" i="0">
                <a:solidFill>
                  <a:srgbClr val="141B2E"/>
                </a:solidFill>
                <a:latin typeface="Arial"/>
              </a:rPr>
              <a:t>Pick your own way out of the five — and say whether it stands up to regular access, or whether you would take the card next to it now.</a:t>
            </a:r>
          </a:p>
        </p:txBody>
      </p:sp>
      <p:sp>
        <p:nvSpPr>
          <p:cNvPr id="7" name="Rounded Rectangle 6"/>
          <p:cNvSpPr/>
          <p:nvPr/>
        </p:nvSpPr>
        <p:spPr>
          <a:xfrm>
            <a:off x="502920" y="4465015"/>
            <a:ext cx="2119579" cy="1051560"/>
          </a:xfrm>
          <a:prstGeom prst="roundRect">
            <a:avLst>
              <a:gd name="adj" fmla="val 25000"/>
            </a:avLst>
          </a:prstGeom>
          <a:solidFill>
            <a:srgbClr val="F4F7FA"/>
          </a:solidFill>
          <a:ln w="15240">
            <a:solidFill>
              <a:srgbClr val="E5EA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12648" y="4465015"/>
            <a:ext cx="1900123" cy="1051560"/>
          </a:xfrm>
          <a:prstGeom prst="rect">
            <a:avLst/>
          </a:prstGeom>
          <a:noFill/>
        </p:spPr>
        <p:txBody>
          <a:bodyPr wrap="square" lIns="0" rIns="0" tIns="0" bIns="0" anchor="ctr">
            <a:spAutoFit/>
          </a:bodyPr>
          <a:lstStyle/>
          <a:p>
            <a:pPr algn="ctr">
              <a:lnSpc>
                <a:spcPts val="1565"/>
              </a:lnSpc>
              <a:spcAft>
                <a:spcPts val="0"/>
              </a:spcAft>
            </a:pPr>
            <a:r>
              <a:rPr sz="1350" b="1" i="0">
                <a:solidFill>
                  <a:srgbClr val="141B2E"/>
                </a:solidFill>
                <a:latin typeface="Arial"/>
              </a:rPr>
              <a:t>call the API directly</a:t>
            </a:r>
          </a:p>
        </p:txBody>
      </p:sp>
      <p:sp>
        <p:nvSpPr>
          <p:cNvPr id="9" name="Rounded Rectangle 8"/>
          <p:cNvSpPr/>
          <p:nvPr/>
        </p:nvSpPr>
        <p:spPr>
          <a:xfrm>
            <a:off x="2768803" y="4465015"/>
            <a:ext cx="2119579" cy="1051560"/>
          </a:xfrm>
          <a:prstGeom prst="roundRect">
            <a:avLst>
              <a:gd name="adj" fmla="val 25000"/>
            </a:avLst>
          </a:prstGeom>
          <a:solidFill>
            <a:srgbClr val="F4F7FA"/>
          </a:solidFill>
          <a:ln w="15240">
            <a:solidFill>
              <a:srgbClr val="E5EA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878531" y="4465015"/>
            <a:ext cx="1900123" cy="1051560"/>
          </a:xfrm>
          <a:prstGeom prst="rect">
            <a:avLst/>
          </a:prstGeom>
          <a:noFill/>
        </p:spPr>
        <p:txBody>
          <a:bodyPr wrap="square" lIns="0" rIns="0" tIns="0" bIns="0" anchor="ctr">
            <a:spAutoFit/>
          </a:bodyPr>
          <a:lstStyle/>
          <a:p>
            <a:pPr algn="ctr">
              <a:lnSpc>
                <a:spcPts val="1565"/>
              </a:lnSpc>
              <a:spcAft>
                <a:spcPts val="0"/>
              </a:spcAft>
            </a:pPr>
            <a:r>
              <a:rPr sz="1350" b="1" i="0">
                <a:solidFill>
                  <a:srgbClr val="141B2E"/>
                </a:solidFill>
                <a:latin typeface="Arial"/>
              </a:rPr>
              <a:t>connect somebody else's server — remotely</a:t>
            </a:r>
          </a:p>
        </p:txBody>
      </p:sp>
      <p:sp>
        <p:nvSpPr>
          <p:cNvPr id="11" name="Rounded Rectangle 10"/>
          <p:cNvSpPr/>
          <p:nvPr/>
        </p:nvSpPr>
        <p:spPr>
          <a:xfrm>
            <a:off x="5034686" y="4465015"/>
            <a:ext cx="2119579" cy="1051560"/>
          </a:xfrm>
          <a:prstGeom prst="roundRect">
            <a:avLst>
              <a:gd name="adj" fmla="val 25000"/>
            </a:avLst>
          </a:prstGeom>
          <a:solidFill>
            <a:srgbClr val="F4F7FA"/>
          </a:solidFill>
          <a:ln w="15240">
            <a:solidFill>
              <a:srgbClr val="E5EA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144414" y="4465015"/>
            <a:ext cx="1900123" cy="1051560"/>
          </a:xfrm>
          <a:prstGeom prst="rect">
            <a:avLst/>
          </a:prstGeom>
          <a:noFill/>
        </p:spPr>
        <p:txBody>
          <a:bodyPr wrap="square" lIns="0" rIns="0" tIns="0" bIns="0" anchor="ctr">
            <a:spAutoFit/>
          </a:bodyPr>
          <a:lstStyle/>
          <a:p>
            <a:pPr algn="ctr">
              <a:lnSpc>
                <a:spcPts val="1565"/>
              </a:lnSpc>
              <a:spcAft>
                <a:spcPts val="0"/>
              </a:spcAft>
            </a:pPr>
            <a:r>
              <a:rPr sz="1350" b="1" i="0">
                <a:solidFill>
                  <a:srgbClr val="141B2E"/>
                </a:solidFill>
                <a:latin typeface="Arial"/>
              </a:rPr>
              <a:t>connect somebody else's server — locally</a:t>
            </a:r>
          </a:p>
        </p:txBody>
      </p:sp>
      <p:sp>
        <p:nvSpPr>
          <p:cNvPr id="13" name="Rounded Rectangle 12"/>
          <p:cNvSpPr/>
          <p:nvPr/>
        </p:nvSpPr>
        <p:spPr>
          <a:xfrm>
            <a:off x="7300569" y="4465015"/>
            <a:ext cx="2119579" cy="1051560"/>
          </a:xfrm>
          <a:prstGeom prst="roundRect">
            <a:avLst>
              <a:gd name="adj" fmla="val 25000"/>
            </a:avLst>
          </a:prstGeom>
          <a:solidFill>
            <a:srgbClr val="F4F7FA"/>
          </a:solidFill>
          <a:ln w="15240">
            <a:solidFill>
              <a:srgbClr val="E5EA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410297" y="4465015"/>
            <a:ext cx="1900123" cy="1051560"/>
          </a:xfrm>
          <a:prstGeom prst="rect">
            <a:avLst/>
          </a:prstGeom>
          <a:noFill/>
        </p:spPr>
        <p:txBody>
          <a:bodyPr wrap="square" lIns="0" rIns="0" tIns="0" bIns="0" anchor="ctr">
            <a:spAutoFit/>
          </a:bodyPr>
          <a:lstStyle/>
          <a:p>
            <a:pPr algn="ctr">
              <a:lnSpc>
                <a:spcPts val="1565"/>
              </a:lnSpc>
              <a:spcAft>
                <a:spcPts val="0"/>
              </a:spcAft>
            </a:pPr>
            <a:r>
              <a:rPr sz="1350" b="1" i="0">
                <a:solidFill>
                  <a:srgbClr val="141B2E"/>
                </a:solidFill>
                <a:latin typeface="Arial"/>
              </a:rPr>
              <a:t>write your own server</a:t>
            </a:r>
          </a:p>
        </p:txBody>
      </p:sp>
      <p:sp>
        <p:nvSpPr>
          <p:cNvPr id="15" name="Rounded Rectangle 14"/>
          <p:cNvSpPr/>
          <p:nvPr/>
        </p:nvSpPr>
        <p:spPr>
          <a:xfrm>
            <a:off x="9566452" y="4465015"/>
            <a:ext cx="2119579" cy="1051560"/>
          </a:xfrm>
          <a:prstGeom prst="roundRect">
            <a:avLst>
              <a:gd name="adj" fmla="val 25000"/>
            </a:avLst>
          </a:prstGeom>
          <a:solidFill>
            <a:srgbClr val="F4F7FA"/>
          </a:solidFill>
          <a:ln w="15240">
            <a:solidFill>
              <a:srgbClr val="E5EA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676180" y="4465015"/>
            <a:ext cx="1900123" cy="1051560"/>
          </a:xfrm>
          <a:prstGeom prst="rect">
            <a:avLst/>
          </a:prstGeom>
          <a:noFill/>
        </p:spPr>
        <p:txBody>
          <a:bodyPr wrap="square" lIns="0" rIns="0" tIns="0" bIns="0" anchor="ctr">
            <a:spAutoFit/>
          </a:bodyPr>
          <a:lstStyle/>
          <a:p>
            <a:pPr algn="ctr">
              <a:lnSpc>
                <a:spcPts val="1565"/>
              </a:lnSpc>
              <a:spcAft>
                <a:spcPts val="0"/>
              </a:spcAft>
            </a:pPr>
            <a:r>
              <a:rPr sz="1350" b="1" i="0">
                <a:solidFill>
                  <a:srgbClr val="141B2E"/>
                </a:solidFill>
                <a:latin typeface="Arial"/>
              </a:rPr>
              <a:t>call the ready-made gh command every time</a:t>
            </a:r>
          </a:p>
        </p:txBody>
      </p:sp>
      <p:sp>
        <p:nvSpPr>
          <p:cNvPr id="17" name="TextBox 16"/>
          <p:cNvSpPr txBox="1"/>
          <p:nvPr/>
        </p:nvSpPr>
        <p:spPr>
          <a:xfrm>
            <a:off x="10957255" y="6437376"/>
            <a:ext cx="914400" cy="274320"/>
          </a:xfrm>
          <a:prstGeom prst="rect">
            <a:avLst/>
          </a:prstGeom>
          <a:noFill/>
        </p:spPr>
        <p:txBody>
          <a:bodyPr wrap="square" lIns="0" rIns="0" tIns="0" bIns="0" anchor="t">
            <a:spAutoFit/>
          </a:bodyPr>
          <a:lstStyle/>
          <a:p>
            <a:pPr algn="r">
              <a:lnSpc>
                <a:spcPts val="1238"/>
              </a:lnSpc>
              <a:spcAft>
                <a:spcPts val="0"/>
              </a:spcAft>
            </a:pPr>
            <a:r>
              <a:rPr sz="1050" b="0" i="0">
                <a:solidFill>
                  <a:srgbClr val="6B7685"/>
                </a:solidFill>
                <a:latin typeface="Arial"/>
              </a:rPr>
              <a:t>11</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02920" y="310896"/>
            <a:ext cx="11183112" cy="431291"/>
          </a:xfrm>
          <a:prstGeom prst="rect">
            <a:avLst/>
          </a:prstGeom>
          <a:noFill/>
        </p:spPr>
        <p:txBody>
          <a:bodyPr wrap="square" lIns="0" rIns="0" tIns="0" bIns="0" anchor="t">
            <a:spAutoFit/>
          </a:bodyPr>
          <a:lstStyle/>
          <a:p>
            <a:pPr algn="l">
              <a:lnSpc>
                <a:spcPts val="2963"/>
              </a:lnSpc>
              <a:spcAft>
                <a:spcPts val="0"/>
              </a:spcAft>
            </a:pPr>
            <a:r>
              <a:rPr sz="2600" b="1" i="0">
                <a:solidFill>
                  <a:srgbClr val="141B2E"/>
                </a:solidFill>
                <a:latin typeface="Arial"/>
              </a:rPr>
              <a:t>Not one of the five writes integration code</a:t>
            </a:r>
          </a:p>
        </p:txBody>
      </p:sp>
      <p:sp>
        <p:nvSpPr>
          <p:cNvPr id="3" name="Rounded Rectangle 2"/>
          <p:cNvSpPr/>
          <p:nvPr/>
        </p:nvSpPr>
        <p:spPr>
          <a:xfrm>
            <a:off x="502920" y="943356"/>
            <a:ext cx="11183112" cy="3438715"/>
          </a:xfrm>
          <a:prstGeom prst="roundRect">
            <a:avLst>
              <a:gd name="adj" fmla="val 8863"/>
            </a:avLst>
          </a:prstGeom>
          <a:solidFill>
            <a:srgbClr val="FFFFFF"/>
          </a:solidFill>
          <a:ln w="1778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1098804"/>
            <a:ext cx="881218" cy="252095"/>
          </a:xfrm>
          <a:prstGeom prst="rect">
            <a:avLst/>
          </a:prstGeom>
          <a:noFill/>
        </p:spPr>
        <p:txBody>
          <a:bodyPr wrap="square" lIns="0" rIns="0" tIns="0" bIns="0" anchor="t">
            <a:spAutoFit/>
          </a:bodyPr>
          <a:lstStyle/>
          <a:p>
            <a:pPr algn="l">
              <a:lnSpc>
                <a:spcPts val="1045"/>
              </a:lnSpc>
              <a:spcAft>
                <a:spcPts val="0"/>
              </a:spcAft>
            </a:pPr>
            <a:r>
              <a:rPr sz="950" b="1" i="0">
                <a:solidFill>
                  <a:srgbClr val="6B7685"/>
                </a:solidFill>
                <a:latin typeface="Arial"/>
              </a:rPr>
              <a:t>WAY</a:t>
            </a:r>
          </a:p>
        </p:txBody>
      </p:sp>
      <p:sp>
        <p:nvSpPr>
          <p:cNvPr id="5" name="TextBox 4"/>
          <p:cNvSpPr txBox="1"/>
          <p:nvPr/>
        </p:nvSpPr>
        <p:spPr>
          <a:xfrm>
            <a:off x="1685890" y="1098804"/>
            <a:ext cx="3662449" cy="252095"/>
          </a:xfrm>
          <a:prstGeom prst="rect">
            <a:avLst/>
          </a:prstGeom>
          <a:noFill/>
        </p:spPr>
        <p:txBody>
          <a:bodyPr wrap="square" lIns="0" rIns="0" tIns="0" bIns="0" anchor="t">
            <a:spAutoFit/>
          </a:bodyPr>
          <a:lstStyle/>
          <a:p>
            <a:pPr algn="l">
              <a:lnSpc>
                <a:spcPts val="1045"/>
              </a:lnSpc>
              <a:spcAft>
                <a:spcPts val="0"/>
              </a:spcAft>
            </a:pPr>
            <a:r>
              <a:rPr sz="950" b="1" i="0">
                <a:solidFill>
                  <a:srgbClr val="6B7685"/>
                </a:solidFill>
                <a:latin typeface="Arial"/>
              </a:rPr>
              <a:t>WHAT IT DOES</a:t>
            </a:r>
          </a:p>
        </p:txBody>
      </p:sp>
      <p:sp>
        <p:nvSpPr>
          <p:cNvPr id="6" name="TextBox 5"/>
          <p:cNvSpPr txBox="1"/>
          <p:nvPr/>
        </p:nvSpPr>
        <p:spPr>
          <a:xfrm>
            <a:off x="5494644" y="1098804"/>
            <a:ext cx="5889635" cy="252095"/>
          </a:xfrm>
          <a:prstGeom prst="rect">
            <a:avLst/>
          </a:prstGeom>
          <a:noFill/>
        </p:spPr>
        <p:txBody>
          <a:bodyPr wrap="square" lIns="0" rIns="0" tIns="0" bIns="0" anchor="t">
            <a:spAutoFit/>
          </a:bodyPr>
          <a:lstStyle/>
          <a:p>
            <a:pPr algn="l">
              <a:lnSpc>
                <a:spcPts val="1045"/>
              </a:lnSpc>
              <a:spcAft>
                <a:spcPts val="0"/>
              </a:spcAft>
            </a:pPr>
            <a:r>
              <a:rPr sz="950" b="1" i="0">
                <a:solidFill>
                  <a:srgbClr val="6B7685"/>
                </a:solidFill>
                <a:latin typeface="Arial"/>
              </a:rPr>
              <a:t>WHAT IT DOES NOT DO / THE LIMIT</a:t>
            </a:r>
          </a:p>
        </p:txBody>
      </p:sp>
      <p:sp>
        <p:nvSpPr>
          <p:cNvPr id="7" name="TextBox 6"/>
          <p:cNvSpPr txBox="1"/>
          <p:nvPr/>
        </p:nvSpPr>
        <p:spPr>
          <a:xfrm>
            <a:off x="658368" y="1350899"/>
            <a:ext cx="881218" cy="522541"/>
          </a:xfrm>
          <a:prstGeom prst="rect">
            <a:avLst/>
          </a:prstGeom>
          <a:noFill/>
        </p:spPr>
        <p:txBody>
          <a:bodyPr wrap="square" lIns="0" rIns="0" tIns="0" bIns="0" anchor="ctr">
            <a:spAutoFit/>
          </a:bodyPr>
          <a:lstStyle/>
          <a:p>
            <a:pPr algn="l">
              <a:lnSpc>
                <a:spcPts val="1035"/>
              </a:lnSpc>
              <a:spcAft>
                <a:spcPts val="0"/>
              </a:spcAft>
            </a:pPr>
            <a:r>
              <a:rPr sz="950" b="0" i="0">
                <a:solidFill>
                  <a:srgbClr val="141B2E"/>
                </a:solidFill>
                <a:latin typeface="Arial"/>
              </a:rPr>
              <a:t>call the API directly</a:t>
            </a:r>
          </a:p>
        </p:txBody>
      </p:sp>
      <p:sp>
        <p:nvSpPr>
          <p:cNvPr id="8" name="TextBox 7"/>
          <p:cNvSpPr txBox="1"/>
          <p:nvPr/>
        </p:nvSpPr>
        <p:spPr>
          <a:xfrm>
            <a:off x="1685890" y="1350899"/>
            <a:ext cx="3662449" cy="522541"/>
          </a:xfrm>
          <a:prstGeom prst="rect">
            <a:avLst/>
          </a:prstGeom>
          <a:noFill/>
        </p:spPr>
        <p:txBody>
          <a:bodyPr wrap="square" lIns="0" rIns="0" tIns="0" bIns="0" anchor="ctr">
            <a:spAutoFit/>
          </a:bodyPr>
          <a:lstStyle/>
          <a:p>
            <a:pPr algn="l">
              <a:lnSpc>
                <a:spcPts val="1035"/>
              </a:lnSpc>
              <a:spcAft>
                <a:spcPts val="0"/>
              </a:spcAft>
            </a:pPr>
            <a:r>
              <a:rPr sz="950" b="0" i="0">
                <a:solidFill>
                  <a:srgbClr val="141B2E"/>
                </a:solidFill>
                <a:latin typeface="Arial"/>
              </a:rPr>
              <a:t>the agent writes and sends the requests to the endpoints itself and parses the answer itself — no separate integration code needs to be written</a:t>
            </a:r>
          </a:p>
        </p:txBody>
      </p:sp>
      <p:sp>
        <p:nvSpPr>
          <p:cNvPr id="9" name="TextBox 8"/>
          <p:cNvSpPr txBox="1"/>
          <p:nvPr/>
        </p:nvSpPr>
        <p:spPr>
          <a:xfrm>
            <a:off x="5494644" y="1350899"/>
            <a:ext cx="5889635" cy="522541"/>
          </a:xfrm>
          <a:prstGeom prst="rect">
            <a:avLst/>
          </a:prstGeom>
          <a:noFill/>
        </p:spPr>
        <p:txBody>
          <a:bodyPr wrap="square" lIns="0" rIns="0" tIns="0" bIns="0" anchor="ctr">
            <a:spAutoFit/>
          </a:bodyPr>
          <a:lstStyle/>
          <a:p>
            <a:pPr algn="l">
              <a:lnSpc>
                <a:spcPts val="1035"/>
              </a:lnSpc>
              <a:spcAft>
                <a:spcPts val="0"/>
              </a:spcAft>
            </a:pPr>
            <a:r>
              <a:rPr sz="950" b="0" i="0">
                <a:solidFill>
                  <a:srgbClr val="141B2E"/>
                </a:solidFill>
                <a:latin typeface="Arial"/>
              </a:rPr>
              <a:t>it does not know the service's specification in advance: which points there are, what their parameters and limits are — without documentation or a Swagger description the agent will not guess them</a:t>
            </a:r>
          </a:p>
        </p:txBody>
      </p:sp>
      <p:cxnSp>
        <p:nvCxnSpPr>
          <p:cNvPr id="10" name="Connector 9"/>
          <p:cNvCxnSpPr/>
          <p:nvPr/>
        </p:nvCxnSpPr>
        <p:spPr>
          <a:xfrm>
            <a:off x="658368" y="1873440"/>
            <a:ext cx="10872216" cy="0"/>
          </a:xfrm>
          <a:prstGeom prst="line">
            <a:avLst/>
          </a:prstGeom>
          <a:ln w="9525">
            <a:solidFill>
              <a:srgbClr val="E5EAF0"/>
            </a:solidFill>
          </a:ln>
        </p:spPr>
        <p:style>
          <a:lnRef idx="2">
            <a:schemeClr val="accent1"/>
          </a:lnRef>
          <a:fillRef idx="0">
            <a:schemeClr val="accent1"/>
          </a:fillRef>
          <a:effectRef idx="1">
            <a:schemeClr val="accent1"/>
          </a:effectRef>
          <a:fontRef idx="minor">
            <a:schemeClr val="tx1"/>
          </a:fontRef>
        </p:style>
      </p:cxnSp>
      <p:sp>
        <p:nvSpPr>
          <p:cNvPr id="11" name="TextBox 10"/>
          <p:cNvSpPr txBox="1"/>
          <p:nvPr/>
        </p:nvSpPr>
        <p:spPr>
          <a:xfrm>
            <a:off x="658368" y="1873440"/>
            <a:ext cx="881218" cy="654050"/>
          </a:xfrm>
          <a:prstGeom prst="rect">
            <a:avLst/>
          </a:prstGeom>
          <a:noFill/>
        </p:spPr>
        <p:txBody>
          <a:bodyPr wrap="square" lIns="0" rIns="0" tIns="0" bIns="0" anchor="ctr">
            <a:spAutoFit/>
          </a:bodyPr>
          <a:lstStyle/>
          <a:p>
            <a:pPr algn="l">
              <a:lnSpc>
                <a:spcPts val="1035"/>
              </a:lnSpc>
              <a:spcAft>
                <a:spcPts val="0"/>
              </a:spcAft>
            </a:pPr>
            <a:r>
              <a:rPr sz="950" b="0" i="0">
                <a:solidFill>
                  <a:srgbClr val="141B2E"/>
                </a:solidFill>
                <a:latin typeface="Arial"/>
              </a:rPr>
              <a:t>connect somebody else's server — remotely</a:t>
            </a:r>
          </a:p>
        </p:txBody>
      </p:sp>
      <p:sp>
        <p:nvSpPr>
          <p:cNvPr id="12" name="TextBox 11"/>
          <p:cNvSpPr txBox="1"/>
          <p:nvPr/>
        </p:nvSpPr>
        <p:spPr>
          <a:xfrm>
            <a:off x="1685890" y="1873440"/>
            <a:ext cx="3662449" cy="654050"/>
          </a:xfrm>
          <a:prstGeom prst="rect">
            <a:avLst/>
          </a:prstGeom>
          <a:noFill/>
        </p:spPr>
        <p:txBody>
          <a:bodyPr wrap="square" lIns="0" rIns="0" tIns="0" bIns="0" anchor="ctr">
            <a:spAutoFit/>
          </a:bodyPr>
          <a:lstStyle/>
          <a:p>
            <a:pPr algn="l">
              <a:lnSpc>
                <a:spcPts val="1035"/>
              </a:lnSpc>
              <a:spcAft>
                <a:spcPts val="0"/>
              </a:spcAft>
            </a:pPr>
            <a:r>
              <a:rPr sz="950" b="0" i="0">
                <a:solidFill>
                  <a:srgbClr val="141B2E"/>
                </a:solidFill>
                <a:latin typeface="Arial"/>
              </a:rPr>
              <a:t>a service somebody hosts and updates themselves; no separate process runs at your place</a:t>
            </a:r>
          </a:p>
        </p:txBody>
      </p:sp>
      <p:sp>
        <p:nvSpPr>
          <p:cNvPr id="13" name="TextBox 12"/>
          <p:cNvSpPr txBox="1"/>
          <p:nvPr/>
        </p:nvSpPr>
        <p:spPr>
          <a:xfrm>
            <a:off x="5494644" y="1873440"/>
            <a:ext cx="5889635" cy="654050"/>
          </a:xfrm>
          <a:prstGeom prst="rect">
            <a:avLst/>
          </a:prstGeom>
          <a:noFill/>
        </p:spPr>
        <p:txBody>
          <a:bodyPr wrap="square" lIns="0" rIns="0" tIns="0" bIns="0" anchor="ctr">
            <a:spAutoFit/>
          </a:bodyPr>
          <a:lstStyle/>
          <a:p>
            <a:pPr algn="l">
              <a:lnSpc>
                <a:spcPts val="1035"/>
              </a:lnSpc>
              <a:spcAft>
                <a:spcPts val="0"/>
              </a:spcAft>
            </a:pPr>
            <a:r>
              <a:rPr sz="950" b="0" i="0">
                <a:solidFill>
                  <a:srgbClr val="141B2E"/>
                </a:solidFill>
                <a:latin typeface="Arial"/>
              </a:rPr>
              <a:t>you are not the one managing it: there is no seeing what the service does inside or when something in it changes; plus the ordinary security questions of a remote service — whom you trust the key to, who else has access</a:t>
            </a:r>
          </a:p>
        </p:txBody>
      </p:sp>
      <p:cxnSp>
        <p:nvCxnSpPr>
          <p:cNvPr id="14" name="Connector 13"/>
          <p:cNvCxnSpPr/>
          <p:nvPr/>
        </p:nvCxnSpPr>
        <p:spPr>
          <a:xfrm>
            <a:off x="658368" y="2527490"/>
            <a:ext cx="10872216" cy="0"/>
          </a:xfrm>
          <a:prstGeom prst="line">
            <a:avLst/>
          </a:prstGeom>
          <a:ln w="9525">
            <a:solidFill>
              <a:srgbClr val="E5EAF0"/>
            </a:solidFill>
          </a:ln>
        </p:spPr>
        <p:style>
          <a:lnRef idx="2">
            <a:schemeClr val="accent1"/>
          </a:lnRef>
          <a:fillRef idx="0">
            <a:schemeClr val="accent1"/>
          </a:fillRef>
          <a:effectRef idx="1">
            <a:schemeClr val="accent1"/>
          </a:effectRef>
          <a:fontRef idx="minor">
            <a:schemeClr val="tx1"/>
          </a:fontRef>
        </p:style>
      </p:cxnSp>
      <p:sp>
        <p:nvSpPr>
          <p:cNvPr id="15" name="TextBox 14"/>
          <p:cNvSpPr txBox="1"/>
          <p:nvPr/>
        </p:nvSpPr>
        <p:spPr>
          <a:xfrm>
            <a:off x="658368" y="2527490"/>
            <a:ext cx="881218" cy="654050"/>
          </a:xfrm>
          <a:prstGeom prst="rect">
            <a:avLst/>
          </a:prstGeom>
          <a:noFill/>
        </p:spPr>
        <p:txBody>
          <a:bodyPr wrap="square" lIns="0" rIns="0" tIns="0" bIns="0" anchor="ctr">
            <a:spAutoFit/>
          </a:bodyPr>
          <a:lstStyle/>
          <a:p>
            <a:pPr algn="l">
              <a:lnSpc>
                <a:spcPts val="1035"/>
              </a:lnSpc>
              <a:spcAft>
                <a:spcPts val="0"/>
              </a:spcAft>
            </a:pPr>
            <a:r>
              <a:rPr sz="950" b="0" i="0">
                <a:solidFill>
                  <a:srgbClr val="141B2E"/>
                </a:solidFill>
                <a:latin typeface="Arial"/>
              </a:rPr>
              <a:t>connect somebody else's server — locally</a:t>
            </a:r>
          </a:p>
        </p:txBody>
      </p:sp>
      <p:sp>
        <p:nvSpPr>
          <p:cNvPr id="16" name="TextBox 15"/>
          <p:cNvSpPr txBox="1"/>
          <p:nvPr/>
        </p:nvSpPr>
        <p:spPr>
          <a:xfrm>
            <a:off x="1685890" y="2527490"/>
            <a:ext cx="3662449" cy="654050"/>
          </a:xfrm>
          <a:prstGeom prst="rect">
            <a:avLst/>
          </a:prstGeom>
          <a:noFill/>
        </p:spPr>
        <p:txBody>
          <a:bodyPr wrap="square" lIns="0" rIns="0" tIns="0" bIns="0" anchor="ctr">
            <a:spAutoFit/>
          </a:bodyPr>
          <a:lstStyle/>
          <a:p>
            <a:pPr algn="l">
              <a:lnSpc>
                <a:spcPts val="1035"/>
              </a:lnSpc>
              <a:spcAft>
                <a:spcPts val="0"/>
              </a:spcAft>
            </a:pPr>
            <a:r>
              <a:rPr sz="950" b="0" i="0">
                <a:solidFill>
                  <a:srgbClr val="141B2E"/>
                </a:solidFill>
                <a:latin typeface="Arial"/>
              </a:rPr>
              <a:t>the package runs at your place, the configuration is a line in the repository, visible to the whole team in review; more control than with a remote one</a:t>
            </a:r>
          </a:p>
        </p:txBody>
      </p:sp>
      <p:sp>
        <p:nvSpPr>
          <p:cNvPr id="17" name="TextBox 16"/>
          <p:cNvSpPr txBox="1"/>
          <p:nvPr/>
        </p:nvSpPr>
        <p:spPr>
          <a:xfrm>
            <a:off x="5494644" y="2527490"/>
            <a:ext cx="5889635" cy="654050"/>
          </a:xfrm>
          <a:prstGeom prst="rect">
            <a:avLst/>
          </a:prstGeom>
          <a:noFill/>
        </p:spPr>
        <p:txBody>
          <a:bodyPr wrap="square" lIns="0" rIns="0" tIns="0" bIns="0" anchor="ctr">
            <a:spAutoFit/>
          </a:bodyPr>
          <a:lstStyle/>
          <a:p>
            <a:pPr algn="l">
              <a:lnSpc>
                <a:spcPts val="1035"/>
              </a:lnSpc>
              <a:spcAft>
                <a:spcPts val="0"/>
              </a:spcAft>
            </a:pPr>
            <a:r>
              <a:rPr sz="950" b="0" i="0">
                <a:solidFill>
                  <a:srgbClr val="141B2E"/>
                </a:solidFill>
                <a:latin typeface="Arial"/>
              </a:rPr>
              <a:t>it is still a live process on your machine and somebody else's code — with all of its dependencies and its right to update itself</a:t>
            </a:r>
          </a:p>
        </p:txBody>
      </p:sp>
      <p:cxnSp>
        <p:nvCxnSpPr>
          <p:cNvPr id="18" name="Connector 17"/>
          <p:cNvCxnSpPr/>
          <p:nvPr/>
        </p:nvCxnSpPr>
        <p:spPr>
          <a:xfrm>
            <a:off x="658368" y="3181540"/>
            <a:ext cx="10872216" cy="0"/>
          </a:xfrm>
          <a:prstGeom prst="line">
            <a:avLst/>
          </a:prstGeom>
          <a:ln w="9525">
            <a:solidFill>
              <a:srgbClr val="E5EAF0"/>
            </a:solidFill>
          </a:ln>
        </p:spPr>
        <p:style>
          <a:lnRef idx="2">
            <a:schemeClr val="accent1"/>
          </a:lnRef>
          <a:fillRef idx="0">
            <a:schemeClr val="accent1"/>
          </a:fillRef>
          <a:effectRef idx="1">
            <a:schemeClr val="accent1"/>
          </a:effectRef>
          <a:fontRef idx="minor">
            <a:schemeClr val="tx1"/>
          </a:fontRef>
        </p:style>
      </p:cxnSp>
      <p:sp>
        <p:nvSpPr>
          <p:cNvPr id="19" name="TextBox 18"/>
          <p:cNvSpPr txBox="1"/>
          <p:nvPr/>
        </p:nvSpPr>
        <p:spPr>
          <a:xfrm>
            <a:off x="658368" y="3181540"/>
            <a:ext cx="881218" cy="522541"/>
          </a:xfrm>
          <a:prstGeom prst="rect">
            <a:avLst/>
          </a:prstGeom>
          <a:noFill/>
        </p:spPr>
        <p:txBody>
          <a:bodyPr wrap="square" lIns="0" rIns="0" tIns="0" bIns="0" anchor="ctr">
            <a:spAutoFit/>
          </a:bodyPr>
          <a:lstStyle/>
          <a:p>
            <a:pPr algn="l">
              <a:lnSpc>
                <a:spcPts val="1035"/>
              </a:lnSpc>
              <a:spcAft>
                <a:spcPts val="0"/>
              </a:spcAft>
            </a:pPr>
            <a:r>
              <a:rPr sz="950" b="0" i="0">
                <a:solidFill>
                  <a:srgbClr val="141B2E"/>
                </a:solidFill>
                <a:latin typeface="Arial"/>
              </a:rPr>
              <a:t>write your own server</a:t>
            </a:r>
          </a:p>
        </p:txBody>
      </p:sp>
      <p:sp>
        <p:nvSpPr>
          <p:cNvPr id="20" name="TextBox 19"/>
          <p:cNvSpPr txBox="1"/>
          <p:nvPr/>
        </p:nvSpPr>
        <p:spPr>
          <a:xfrm>
            <a:off x="1685890" y="3181540"/>
            <a:ext cx="3662449" cy="522541"/>
          </a:xfrm>
          <a:prstGeom prst="rect">
            <a:avLst/>
          </a:prstGeom>
          <a:noFill/>
        </p:spPr>
        <p:txBody>
          <a:bodyPr wrap="square" lIns="0" rIns="0" tIns="0" bIns="0" anchor="ctr">
            <a:spAutoFit/>
          </a:bodyPr>
          <a:lstStyle/>
          <a:p>
            <a:pPr algn="l">
              <a:lnSpc>
                <a:spcPts val="1035"/>
              </a:lnSpc>
              <a:spcAft>
                <a:spcPts val="0"/>
              </a:spcAft>
            </a:pPr>
            <a:r>
              <a:rPr sz="950" b="0" i="0">
                <a:solidFill>
                  <a:srgbClr val="141B2E"/>
                </a:solidFill>
                <a:latin typeface="Arial"/>
              </a:rPr>
              <a:t>gives exactly the set of operations and permissions needed, with no outside code in the process</a:t>
            </a:r>
          </a:p>
        </p:txBody>
      </p:sp>
      <p:sp>
        <p:nvSpPr>
          <p:cNvPr id="21" name="TextBox 20"/>
          <p:cNvSpPr txBox="1"/>
          <p:nvPr/>
        </p:nvSpPr>
        <p:spPr>
          <a:xfrm>
            <a:off x="5494644" y="3181540"/>
            <a:ext cx="5889635" cy="522541"/>
          </a:xfrm>
          <a:prstGeom prst="rect">
            <a:avLst/>
          </a:prstGeom>
          <a:noFill/>
        </p:spPr>
        <p:txBody>
          <a:bodyPr wrap="square" lIns="0" rIns="0" tIns="0" bIns="0" anchor="ctr">
            <a:spAutoFit/>
          </a:bodyPr>
          <a:lstStyle/>
          <a:p>
            <a:pPr algn="l">
              <a:lnSpc>
                <a:spcPts val="1035"/>
              </a:lnSpc>
              <a:spcAft>
                <a:spcPts val="0"/>
              </a:spcAft>
            </a:pPr>
            <a:r>
              <a:rPr sz="950" b="0" i="0">
                <a:solidFill>
                  <a:srgbClr val="141B2E"/>
                </a:solidFill>
                <a:latin typeface="Arial"/>
              </a:rPr>
              <a:t>writing a minimal server is quick these days — there is a ready-made plugin for it; what comes expensive is maintenance: the protocol, outside users, the security of the transport — a separate project alongside the main one</a:t>
            </a:r>
          </a:p>
        </p:txBody>
      </p:sp>
      <p:cxnSp>
        <p:nvCxnSpPr>
          <p:cNvPr id="22" name="Connector 21"/>
          <p:cNvCxnSpPr/>
          <p:nvPr/>
        </p:nvCxnSpPr>
        <p:spPr>
          <a:xfrm>
            <a:off x="658368" y="3704082"/>
            <a:ext cx="10872216" cy="0"/>
          </a:xfrm>
          <a:prstGeom prst="line">
            <a:avLst/>
          </a:prstGeom>
          <a:ln w="9525">
            <a:solidFill>
              <a:srgbClr val="E5EAF0"/>
            </a:solidFill>
          </a:ln>
        </p:spPr>
        <p:style>
          <a:lnRef idx="2">
            <a:schemeClr val="accent1"/>
          </a:lnRef>
          <a:fillRef idx="0">
            <a:schemeClr val="accent1"/>
          </a:fillRef>
          <a:effectRef idx="1">
            <a:schemeClr val="accent1"/>
          </a:effectRef>
          <a:fontRef idx="minor">
            <a:schemeClr val="tx1"/>
          </a:fontRef>
        </p:style>
      </p:cxnSp>
      <p:sp>
        <p:nvSpPr>
          <p:cNvPr id="23" name="TextBox 22"/>
          <p:cNvSpPr txBox="1"/>
          <p:nvPr/>
        </p:nvSpPr>
        <p:spPr>
          <a:xfrm>
            <a:off x="658368" y="3704082"/>
            <a:ext cx="881218" cy="522541"/>
          </a:xfrm>
          <a:prstGeom prst="rect">
            <a:avLst/>
          </a:prstGeom>
          <a:noFill/>
        </p:spPr>
        <p:txBody>
          <a:bodyPr wrap="square" lIns="0" rIns="0" tIns="0" bIns="0" anchor="ctr">
            <a:spAutoFit/>
          </a:bodyPr>
          <a:lstStyle/>
          <a:p>
            <a:pPr algn="l">
              <a:lnSpc>
                <a:spcPts val="1035"/>
              </a:lnSpc>
              <a:spcAft>
                <a:spcPts val="0"/>
              </a:spcAft>
            </a:pPr>
            <a:r>
              <a:rPr sz="950" b="0" i="0">
                <a:solidFill>
                  <a:srgbClr val="141B2E"/>
                </a:solidFill>
                <a:latin typeface="Arial"/>
              </a:rPr>
              <a:t>call the </a:t>
            </a:r>
            <a:r>
              <a:rPr sz="950" b="0" i="0">
                <a:solidFill>
                  <a:srgbClr val="141B2E"/>
                </a:solidFill>
                <a:latin typeface="Consolas"/>
              </a:rPr>
              <a:t>gh</a:t>
            </a:r>
            <a:r>
              <a:rPr sz="950" b="0" i="0">
                <a:solidFill>
                  <a:srgbClr val="141B2E"/>
                </a:solidFill>
                <a:latin typeface="Arial"/>
              </a:rPr>
              <a:t> command every time</a:t>
            </a:r>
          </a:p>
        </p:txBody>
      </p:sp>
      <p:sp>
        <p:nvSpPr>
          <p:cNvPr id="24" name="TextBox 23"/>
          <p:cNvSpPr txBox="1"/>
          <p:nvPr/>
        </p:nvSpPr>
        <p:spPr>
          <a:xfrm>
            <a:off x="1685890" y="3704082"/>
            <a:ext cx="3662449" cy="522541"/>
          </a:xfrm>
          <a:prstGeom prst="rect">
            <a:avLst/>
          </a:prstGeom>
          <a:noFill/>
        </p:spPr>
        <p:txBody>
          <a:bodyPr wrap="square" lIns="0" rIns="0" tIns="0" bIns="0" anchor="ctr">
            <a:spAutoFit/>
          </a:bodyPr>
          <a:lstStyle/>
          <a:p>
            <a:pPr algn="l">
              <a:lnSpc>
                <a:spcPts val="1035"/>
              </a:lnSpc>
              <a:spcAft>
                <a:spcPts val="0"/>
              </a:spcAft>
            </a:pPr>
            <a:r>
              <a:rPr sz="950" b="0" i="0">
                <a:solidFill>
                  <a:srgbClr val="141B2E"/>
                </a:solidFill>
                <a:latin typeface="Arial"/>
              </a:rPr>
              <a:t>GitHub's ready-made official CLI — it has already solved authorization and parsing the answer for you, no code needs writing</a:t>
            </a:r>
          </a:p>
        </p:txBody>
      </p:sp>
      <p:sp>
        <p:nvSpPr>
          <p:cNvPr id="25" name="TextBox 24"/>
          <p:cNvSpPr txBox="1"/>
          <p:nvPr/>
        </p:nvSpPr>
        <p:spPr>
          <a:xfrm>
            <a:off x="5494644" y="3704082"/>
            <a:ext cx="5889635" cy="522541"/>
          </a:xfrm>
          <a:prstGeom prst="rect">
            <a:avLst/>
          </a:prstGeom>
          <a:noFill/>
        </p:spPr>
        <p:txBody>
          <a:bodyPr wrap="square" lIns="0" rIns="0" tIns="0" bIns="0" anchor="ctr">
            <a:spAutoFit/>
          </a:bodyPr>
          <a:lstStyle/>
          <a:p>
            <a:pPr algn="l">
              <a:lnSpc>
                <a:spcPts val="1035"/>
              </a:lnSpc>
              <a:spcAft>
                <a:spcPts val="0"/>
              </a:spcAft>
            </a:pPr>
            <a:r>
              <a:rPr sz="950" b="0" i="0">
                <a:solidFill>
                  <a:srgbClr val="141B2E"/>
                </a:solidFill>
                <a:latin typeface="Arial"/>
              </a:rPr>
              <a:t>every call is a separate command with no shared list of capabilities: the agent does not see in advance what can be done at all, and the call it needs has to be known in advance</a:t>
            </a:r>
          </a:p>
        </p:txBody>
      </p:sp>
      <p:sp>
        <p:nvSpPr>
          <p:cNvPr id="26" name="Rounded Rectangle 25"/>
          <p:cNvSpPr/>
          <p:nvPr/>
        </p:nvSpPr>
        <p:spPr>
          <a:xfrm>
            <a:off x="502920" y="4546663"/>
            <a:ext cx="82296" cy="1531620"/>
          </a:xfrm>
          <a:prstGeom prst="roundRect">
            <a:avLst>
              <a:gd name="adj" fmla="val 50000"/>
            </a:avLst>
          </a:prstGeom>
          <a:solidFill>
            <a:srgbClr val="F0AB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859536" y="4674679"/>
            <a:ext cx="10643616" cy="1275588"/>
          </a:xfrm>
          <a:prstGeom prst="rect">
            <a:avLst/>
          </a:prstGeom>
          <a:noFill/>
        </p:spPr>
        <p:txBody>
          <a:bodyPr wrap="square" lIns="0" rIns="0" tIns="0" bIns="0" anchor="ctr">
            <a:spAutoFit/>
          </a:bodyPr>
          <a:lstStyle/>
          <a:p>
            <a:pPr algn="l">
              <a:lnSpc>
                <a:spcPts val="1550"/>
              </a:lnSpc>
              <a:spcAft>
                <a:spcPts val="300"/>
              </a:spcAft>
            </a:pPr>
            <a:r>
              <a:rPr sz="1250" b="1" i="0">
                <a:solidFill>
                  <a:srgbClr val="141B2E"/>
                </a:solidFill>
                <a:latin typeface="Arial"/>
              </a:rPr>
              <a:t>The turn.</a:t>
            </a:r>
            <a:r>
              <a:rPr sz="1250" b="1" i="0">
                <a:solidFill>
                  <a:srgbClr val="141B2E"/>
                </a:solidFill>
                <a:latin typeface="Arial"/>
              </a:rPr>
              <a:t> No integration gets written in any of the five ways: the agent sends the request itself and parses the answer itself. What separates the five is something else — whether the agent knows in advance what the system can be asked.</a:t>
            </a:r>
          </a:p>
          <a:p>
            <a:pPr algn="l">
              <a:lnSpc>
                <a:spcPts val="1550"/>
              </a:lnSpc>
              <a:spcAft>
                <a:spcPts val="300"/>
              </a:spcAft>
            </a:pPr>
            <a:r>
              <a:rPr sz="1250" b="1" i="0">
                <a:solidFill>
                  <a:srgbClr val="141B2E"/>
                </a:solidFill>
                <a:latin typeface="Arial"/>
              </a:rPr>
              <a:t>What that leaves.</a:t>
            </a:r>
            <a:r>
              <a:rPr sz="1250" b="1" i="0">
                <a:solidFill>
                  <a:srgbClr val="141B2E"/>
                </a:solidFill>
                <a:latin typeface="Arial"/>
              </a:rPr>
              <a:t> Your own server is excessive: an official one for the tracker already exists. </a:t>
            </a:r>
            <a:r>
              <a:rPr sz="1250" b="1" i="0">
                <a:solidFill>
                  <a:srgbClr val="141B2E"/>
                </a:solidFill>
                <a:latin typeface="Consolas"/>
              </a:rPr>
              <a:t>gh</a:t>
            </a:r>
            <a:r>
              <a:rPr sz="1250" b="1" i="0">
                <a:solidFill>
                  <a:srgbClr val="141B2E"/>
                </a:solidFill>
                <a:latin typeface="Arial"/>
              </a:rPr>
              <a:t> and a direct API call cover a call that is known in advance; a growing list of operations they offload onto the developer's memory.</a:t>
            </a:r>
          </a:p>
          <a:p>
            <a:pPr algn="l">
              <a:lnSpc>
                <a:spcPts val="1550"/>
              </a:lnSpc>
              <a:spcAft>
                <a:spcPts val="300"/>
              </a:spcAft>
            </a:pPr>
            <a:r>
              <a:rPr sz="1250" b="1" i="0">
                <a:solidFill>
                  <a:srgbClr val="141B2E"/>
                </a:solidFill>
                <a:latin typeface="Arial"/>
              </a:rPr>
              <a:t>Two legitimate variants.</a:t>
            </a:r>
            <a:r>
              <a:rPr sz="1250" b="1" i="0">
                <a:solidFill>
                  <a:srgbClr val="141B2E"/>
                </a:solidFill>
                <a:latin typeface="Arial"/>
              </a:rPr>
              <a:t> Between "remotely" and "locally" there is no ready answer: the latest official example connects remotely, and the seminar's decision is a local process, because the configuration then becomes code in the repository, visible in review.</a:t>
            </a:r>
          </a:p>
        </p:txBody>
      </p:sp>
      <p:sp>
        <p:nvSpPr>
          <p:cNvPr id="28" name="TextBox 27"/>
          <p:cNvSpPr txBox="1"/>
          <p:nvPr/>
        </p:nvSpPr>
        <p:spPr>
          <a:xfrm>
            <a:off x="10957255" y="6437376"/>
            <a:ext cx="914400" cy="274320"/>
          </a:xfrm>
          <a:prstGeom prst="rect">
            <a:avLst/>
          </a:prstGeom>
          <a:noFill/>
        </p:spPr>
        <p:txBody>
          <a:bodyPr wrap="square" lIns="0" rIns="0" tIns="0" bIns="0" anchor="t">
            <a:spAutoFit/>
          </a:bodyPr>
          <a:lstStyle/>
          <a:p>
            <a:pPr algn="r">
              <a:lnSpc>
                <a:spcPts val="1238"/>
              </a:lnSpc>
              <a:spcAft>
                <a:spcPts val="0"/>
              </a:spcAft>
            </a:pPr>
            <a:r>
              <a:rPr sz="1050" b="0" i="0">
                <a:solidFill>
                  <a:srgbClr val="6B7685"/>
                </a:solidFill>
                <a:latin typeface="Arial"/>
              </a:rPr>
              <a:t>12</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02920" y="310896"/>
            <a:ext cx="11183112" cy="807720"/>
          </a:xfrm>
          <a:prstGeom prst="rect">
            <a:avLst/>
          </a:prstGeom>
          <a:noFill/>
        </p:spPr>
        <p:txBody>
          <a:bodyPr wrap="square" lIns="0" rIns="0" tIns="0" bIns="0" anchor="t">
            <a:spAutoFit/>
          </a:bodyPr>
          <a:lstStyle/>
          <a:p>
            <a:pPr algn="l">
              <a:lnSpc>
                <a:spcPts val="2963"/>
              </a:lnSpc>
              <a:spcAft>
                <a:spcPts val="0"/>
              </a:spcAft>
            </a:pPr>
            <a:r>
              <a:rPr sz="2600" b="1" i="0">
                <a:solidFill>
                  <a:srgbClr val="141B2E"/>
                </a:solidFill>
                <a:latin typeface="Arial"/>
              </a:rPr>
              <a:t>We settle it: which operations to allow, then which permissions</a:t>
            </a:r>
          </a:p>
        </p:txBody>
      </p:sp>
      <p:sp>
        <p:nvSpPr>
          <p:cNvPr id="3" name="Rounded Rectangle 2"/>
          <p:cNvSpPr/>
          <p:nvPr/>
        </p:nvSpPr>
        <p:spPr>
          <a:xfrm>
            <a:off x="502920" y="1319784"/>
            <a:ext cx="11183112" cy="778949"/>
          </a:xfrm>
          <a:prstGeom prst="roundRect">
            <a:avLst>
              <a:gd name="adj" fmla="val 10000"/>
            </a:avLst>
          </a:prstGeom>
          <a:solidFill>
            <a:srgbClr val="FEF5E0"/>
          </a:solidFill>
          <a:ln w="19050">
            <a:solidFill>
              <a:srgbClr val="F0AB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22376" y="1447800"/>
            <a:ext cx="10634472" cy="522917"/>
          </a:xfrm>
          <a:prstGeom prst="rect">
            <a:avLst/>
          </a:prstGeom>
          <a:noFill/>
        </p:spPr>
        <p:txBody>
          <a:bodyPr wrap="square" lIns="0" rIns="0" tIns="0" bIns="0" anchor="ctr">
            <a:spAutoFit/>
          </a:bodyPr>
          <a:lstStyle/>
          <a:p>
            <a:pPr algn="ctr">
              <a:lnSpc>
                <a:spcPts val="2013"/>
              </a:lnSpc>
              <a:spcAft>
                <a:spcPts val="300"/>
              </a:spcAft>
            </a:pPr>
            <a:r>
              <a:rPr sz="1650" b="1" i="0">
                <a:solidFill>
                  <a:srgbClr val="141B2E"/>
                </a:solidFill>
                <a:latin typeface="Arial"/>
              </a:rPr>
              <a:t>Move 1 — what specifically does the agent have to do?</a:t>
            </a:r>
          </a:p>
        </p:txBody>
      </p:sp>
      <p:sp>
        <p:nvSpPr>
          <p:cNvPr id="5" name="Rounded Rectangle 4"/>
          <p:cNvSpPr/>
          <p:nvPr/>
        </p:nvSpPr>
        <p:spPr>
          <a:xfrm>
            <a:off x="2934676" y="2263325"/>
            <a:ext cx="1982295" cy="402336"/>
          </a:xfrm>
          <a:prstGeom prst="roundRect">
            <a:avLst>
              <a:gd name="adj" fmla="val 25000"/>
            </a:avLst>
          </a:prstGeom>
          <a:solidFill>
            <a:srgbClr val="E0F1F2"/>
          </a:solidFill>
          <a:ln w="15240">
            <a:solidFill>
              <a:srgbClr val="02809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2934676" y="2263325"/>
            <a:ext cx="1982295" cy="402336"/>
          </a:xfrm>
          <a:prstGeom prst="rect">
            <a:avLst/>
          </a:prstGeom>
          <a:noFill/>
        </p:spPr>
        <p:txBody>
          <a:bodyPr wrap="square" lIns="0" rIns="0" tIns="0" bIns="0" anchor="ctr">
            <a:spAutoFit/>
          </a:bodyPr>
          <a:lstStyle/>
          <a:p>
            <a:pPr algn="ctr">
              <a:lnSpc>
                <a:spcPts val="1534"/>
              </a:lnSpc>
              <a:spcAft>
                <a:spcPts val="0"/>
              </a:spcAft>
            </a:pPr>
            <a:r>
              <a:rPr sz="1300" b="1" i="0">
                <a:solidFill>
                  <a:srgbClr val="065A82"/>
                </a:solidFill>
                <a:latin typeface="Arial"/>
              </a:rPr>
              <a:t>read open issues</a:t>
            </a:r>
          </a:p>
        </p:txBody>
      </p:sp>
      <p:sp>
        <p:nvSpPr>
          <p:cNvPr id="7" name="Rounded Rectangle 6"/>
          <p:cNvSpPr/>
          <p:nvPr/>
        </p:nvSpPr>
        <p:spPr>
          <a:xfrm>
            <a:off x="5044987" y="2263325"/>
            <a:ext cx="1974010" cy="402336"/>
          </a:xfrm>
          <a:prstGeom prst="roundRect">
            <a:avLst>
              <a:gd name="adj" fmla="val 25000"/>
            </a:avLst>
          </a:prstGeom>
          <a:solidFill>
            <a:srgbClr val="E0F1F2"/>
          </a:solidFill>
          <a:ln w="15240">
            <a:solidFill>
              <a:srgbClr val="02809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044987" y="2263325"/>
            <a:ext cx="1974010" cy="402336"/>
          </a:xfrm>
          <a:prstGeom prst="rect">
            <a:avLst/>
          </a:prstGeom>
          <a:noFill/>
        </p:spPr>
        <p:txBody>
          <a:bodyPr wrap="square" lIns="0" rIns="0" tIns="0" bIns="0" anchor="ctr">
            <a:spAutoFit/>
          </a:bodyPr>
          <a:lstStyle/>
          <a:p>
            <a:pPr algn="ctr">
              <a:lnSpc>
                <a:spcPts val="1534"/>
              </a:lnSpc>
              <a:spcAft>
                <a:spcPts val="0"/>
              </a:spcAft>
            </a:pPr>
            <a:r>
              <a:rPr sz="1300" b="1" i="0">
                <a:solidFill>
                  <a:srgbClr val="065A82"/>
                </a:solidFill>
                <a:latin typeface="Arial"/>
              </a:rPr>
              <a:t>write a comment</a:t>
            </a:r>
          </a:p>
        </p:txBody>
      </p:sp>
      <p:sp>
        <p:nvSpPr>
          <p:cNvPr id="9" name="Rounded Rectangle 8"/>
          <p:cNvSpPr/>
          <p:nvPr/>
        </p:nvSpPr>
        <p:spPr>
          <a:xfrm>
            <a:off x="7147014" y="2263325"/>
            <a:ext cx="2107261" cy="402336"/>
          </a:xfrm>
          <a:prstGeom prst="roundRect">
            <a:avLst>
              <a:gd name="adj" fmla="val 25000"/>
            </a:avLst>
          </a:prstGeom>
          <a:solidFill>
            <a:srgbClr val="E0F1F2"/>
          </a:solidFill>
          <a:ln w="15240">
            <a:solidFill>
              <a:srgbClr val="02809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147014" y="2263325"/>
            <a:ext cx="2107261" cy="402336"/>
          </a:xfrm>
          <a:prstGeom prst="rect">
            <a:avLst/>
          </a:prstGeom>
          <a:noFill/>
        </p:spPr>
        <p:txBody>
          <a:bodyPr wrap="square" lIns="0" rIns="0" tIns="0" bIns="0" anchor="ctr">
            <a:spAutoFit/>
          </a:bodyPr>
          <a:lstStyle/>
          <a:p>
            <a:pPr algn="ctr">
              <a:lnSpc>
                <a:spcPts val="1534"/>
              </a:lnSpc>
              <a:spcAft>
                <a:spcPts val="0"/>
              </a:spcAft>
            </a:pPr>
            <a:r>
              <a:rPr sz="1300" b="1" i="0">
                <a:solidFill>
                  <a:srgbClr val="065A82"/>
                </a:solidFill>
                <a:latin typeface="Arial"/>
              </a:rPr>
              <a:t>create a draft edit</a:t>
            </a:r>
          </a:p>
        </p:txBody>
      </p:sp>
      <p:sp>
        <p:nvSpPr>
          <p:cNvPr id="11" name="Rounded Rectangle 10"/>
          <p:cNvSpPr/>
          <p:nvPr/>
        </p:nvSpPr>
        <p:spPr>
          <a:xfrm>
            <a:off x="502920" y="2830253"/>
            <a:ext cx="11183112" cy="778949"/>
          </a:xfrm>
          <a:prstGeom prst="roundRect">
            <a:avLst>
              <a:gd name="adj" fmla="val 10000"/>
            </a:avLst>
          </a:prstGeom>
          <a:solidFill>
            <a:srgbClr val="FEF5E0"/>
          </a:solidFill>
          <a:ln w="19050">
            <a:solidFill>
              <a:srgbClr val="F0AB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22376" y="2958269"/>
            <a:ext cx="10634472" cy="522917"/>
          </a:xfrm>
          <a:prstGeom prst="rect">
            <a:avLst/>
          </a:prstGeom>
          <a:noFill/>
        </p:spPr>
        <p:txBody>
          <a:bodyPr wrap="square" lIns="0" rIns="0" tIns="0" bIns="0" anchor="ctr">
            <a:spAutoFit/>
          </a:bodyPr>
          <a:lstStyle/>
          <a:p>
            <a:pPr algn="ctr">
              <a:lnSpc>
                <a:spcPts val="1891"/>
              </a:lnSpc>
              <a:spcAft>
                <a:spcPts val="300"/>
              </a:spcAft>
            </a:pPr>
            <a:r>
              <a:rPr sz="1550" b="1" i="0">
                <a:solidFill>
                  <a:srgbClr val="141B2E"/>
                </a:solidFill>
                <a:latin typeface="Arial"/>
              </a:rPr>
              <a:t>Move 2 — what does a broad personal access token give by default, and which of it is needed?</a:t>
            </a:r>
          </a:p>
        </p:txBody>
      </p:sp>
      <p:sp>
        <p:nvSpPr>
          <p:cNvPr id="13" name="Rounded Rectangle 12"/>
          <p:cNvSpPr/>
          <p:nvPr/>
        </p:nvSpPr>
        <p:spPr>
          <a:xfrm>
            <a:off x="502920" y="3773795"/>
            <a:ext cx="11183112" cy="1904619"/>
          </a:xfrm>
          <a:prstGeom prst="roundRect">
            <a:avLst>
              <a:gd name="adj" fmla="val 16003"/>
            </a:avLst>
          </a:prstGeom>
          <a:solidFill>
            <a:srgbClr val="FFFFFF"/>
          </a:solidFill>
          <a:ln w="1778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85800" y="3956675"/>
            <a:ext cx="4696428" cy="267081"/>
          </a:xfrm>
          <a:prstGeom prst="rect">
            <a:avLst/>
          </a:prstGeom>
          <a:noFill/>
        </p:spPr>
        <p:txBody>
          <a:bodyPr wrap="square" lIns="0" rIns="0" tIns="0" bIns="0" anchor="t">
            <a:spAutoFit/>
          </a:bodyPr>
          <a:lstStyle/>
          <a:p>
            <a:pPr algn="l">
              <a:lnSpc>
                <a:spcPts val="1155"/>
              </a:lnSpc>
              <a:spcAft>
                <a:spcPts val="0"/>
              </a:spcAft>
            </a:pPr>
            <a:r>
              <a:rPr sz="1050" b="1" i="0">
                <a:solidFill>
                  <a:srgbClr val="6B7685"/>
                </a:solidFill>
                <a:latin typeface="Arial"/>
              </a:rPr>
              <a:t>DEFAULT PERMISSION</a:t>
            </a:r>
          </a:p>
        </p:txBody>
      </p:sp>
      <p:sp>
        <p:nvSpPr>
          <p:cNvPr id="15" name="TextBox 14"/>
          <p:cNvSpPr txBox="1"/>
          <p:nvPr/>
        </p:nvSpPr>
        <p:spPr>
          <a:xfrm>
            <a:off x="5528532" y="3956675"/>
            <a:ext cx="5828315" cy="267081"/>
          </a:xfrm>
          <a:prstGeom prst="rect">
            <a:avLst/>
          </a:prstGeom>
          <a:noFill/>
        </p:spPr>
        <p:txBody>
          <a:bodyPr wrap="square" lIns="0" rIns="0" tIns="0" bIns="0" anchor="t">
            <a:spAutoFit/>
          </a:bodyPr>
          <a:lstStyle/>
          <a:p>
            <a:pPr algn="l">
              <a:lnSpc>
                <a:spcPts val="1155"/>
              </a:lnSpc>
              <a:spcAft>
                <a:spcPts val="0"/>
              </a:spcAft>
            </a:pPr>
            <a:r>
              <a:rPr sz="1050" b="1" i="0">
                <a:solidFill>
                  <a:srgbClr val="6B7685"/>
                </a:solidFill>
                <a:latin typeface="Arial"/>
              </a:rPr>
              <a:t>NEEDED FOR OUR LIST OF OPERATIONS?</a:t>
            </a:r>
          </a:p>
        </p:txBody>
      </p:sp>
      <p:sp>
        <p:nvSpPr>
          <p:cNvPr id="16" name="TextBox 15"/>
          <p:cNvSpPr txBox="1"/>
          <p:nvPr/>
        </p:nvSpPr>
        <p:spPr>
          <a:xfrm>
            <a:off x="685800" y="4223756"/>
            <a:ext cx="4696428" cy="317944"/>
          </a:xfrm>
          <a:prstGeom prst="rect">
            <a:avLst/>
          </a:prstGeom>
          <a:noFill/>
        </p:spPr>
        <p:txBody>
          <a:bodyPr wrap="square" lIns="0" rIns="0" tIns="0" bIns="0" anchor="ctr">
            <a:spAutoFit/>
          </a:bodyPr>
          <a:lstStyle/>
          <a:p>
            <a:pPr algn="l">
              <a:lnSpc>
                <a:spcPts val="1207"/>
              </a:lnSpc>
              <a:spcAft>
                <a:spcPts val="0"/>
              </a:spcAft>
            </a:pPr>
            <a:r>
              <a:rPr sz="1050" b="0" i="0">
                <a:solidFill>
                  <a:srgbClr val="141B2E"/>
                </a:solidFill>
                <a:latin typeface="Arial"/>
              </a:rPr>
              <a:t>all of the user's repositories, including the private ones</a:t>
            </a:r>
          </a:p>
        </p:txBody>
      </p:sp>
      <p:sp>
        <p:nvSpPr>
          <p:cNvPr id="17" name="TextBox 16"/>
          <p:cNvSpPr txBox="1"/>
          <p:nvPr/>
        </p:nvSpPr>
        <p:spPr>
          <a:xfrm>
            <a:off x="5528532" y="4223756"/>
            <a:ext cx="5828315" cy="317944"/>
          </a:xfrm>
          <a:prstGeom prst="rect">
            <a:avLst/>
          </a:prstGeom>
          <a:noFill/>
        </p:spPr>
        <p:txBody>
          <a:bodyPr wrap="square" lIns="0" rIns="0" tIns="0" bIns="0" anchor="ctr">
            <a:spAutoFit/>
          </a:bodyPr>
          <a:lstStyle/>
          <a:p>
            <a:pPr algn="l">
              <a:lnSpc>
                <a:spcPts val="1207"/>
              </a:lnSpc>
              <a:spcAft>
                <a:spcPts val="0"/>
              </a:spcAft>
            </a:pPr>
            <a:r>
              <a:rPr sz="1050" b="0" i="0">
                <a:solidFill>
                  <a:srgbClr val="141B2E"/>
                </a:solidFill>
                <a:latin typeface="Arial"/>
              </a:rPr>
              <a:t>no — cross it out</a:t>
            </a:r>
          </a:p>
        </p:txBody>
      </p:sp>
      <p:cxnSp>
        <p:nvCxnSpPr>
          <p:cNvPr id="18" name="Connector 17"/>
          <p:cNvCxnSpPr/>
          <p:nvPr/>
        </p:nvCxnSpPr>
        <p:spPr>
          <a:xfrm>
            <a:off x="685800" y="4541700"/>
            <a:ext cx="10817352" cy="0"/>
          </a:xfrm>
          <a:prstGeom prst="line">
            <a:avLst/>
          </a:prstGeom>
          <a:ln w="9525">
            <a:solidFill>
              <a:srgbClr val="E5EAF0"/>
            </a:solidFill>
          </a:ln>
        </p:spPr>
        <p:style>
          <a:lnRef idx="2">
            <a:schemeClr val="accent1"/>
          </a:lnRef>
          <a:fillRef idx="0">
            <a:schemeClr val="accent1"/>
          </a:fillRef>
          <a:effectRef idx="1">
            <a:schemeClr val="accent1"/>
          </a:effectRef>
          <a:fontRef idx="minor">
            <a:schemeClr val="tx1"/>
          </a:fontRef>
        </p:style>
      </p:cxnSp>
      <p:sp>
        <p:nvSpPr>
          <p:cNvPr id="19" name="TextBox 18"/>
          <p:cNvSpPr txBox="1"/>
          <p:nvPr/>
        </p:nvSpPr>
        <p:spPr>
          <a:xfrm>
            <a:off x="685800" y="4541700"/>
            <a:ext cx="4696428" cy="317944"/>
          </a:xfrm>
          <a:prstGeom prst="rect">
            <a:avLst/>
          </a:prstGeom>
          <a:noFill/>
        </p:spPr>
        <p:txBody>
          <a:bodyPr wrap="square" lIns="0" rIns="0" tIns="0" bIns="0" anchor="ctr">
            <a:spAutoFit/>
          </a:bodyPr>
          <a:lstStyle/>
          <a:p>
            <a:pPr algn="l">
              <a:lnSpc>
                <a:spcPts val="1207"/>
              </a:lnSpc>
              <a:spcAft>
                <a:spcPts val="0"/>
              </a:spcAft>
            </a:pPr>
            <a:r>
              <a:rPr sz="1050" b="0" i="0">
                <a:solidFill>
                  <a:srgbClr val="141B2E"/>
                </a:solidFill>
                <a:latin typeface="Arial"/>
              </a:rPr>
              <a:t>read and write</a:t>
            </a:r>
          </a:p>
        </p:txBody>
      </p:sp>
      <p:sp>
        <p:nvSpPr>
          <p:cNvPr id="20" name="TextBox 19"/>
          <p:cNvSpPr txBox="1"/>
          <p:nvPr/>
        </p:nvSpPr>
        <p:spPr>
          <a:xfrm>
            <a:off x="5528532" y="4541700"/>
            <a:ext cx="5828315" cy="317944"/>
          </a:xfrm>
          <a:prstGeom prst="rect">
            <a:avLst/>
          </a:prstGeom>
          <a:noFill/>
        </p:spPr>
        <p:txBody>
          <a:bodyPr wrap="square" lIns="0" rIns="0" tIns="0" bIns="0" anchor="ctr">
            <a:spAutoFit/>
          </a:bodyPr>
          <a:lstStyle/>
          <a:p>
            <a:pPr algn="l">
              <a:lnSpc>
                <a:spcPts val="1207"/>
              </a:lnSpc>
              <a:spcAft>
                <a:spcPts val="0"/>
              </a:spcAft>
            </a:pPr>
            <a:r>
              <a:rPr sz="1050" b="0" i="0">
                <a:solidFill>
                  <a:srgbClr val="141B2E"/>
                </a:solidFill>
                <a:latin typeface="Arial"/>
              </a:rPr>
              <a:t>in part — reading is needed, and writing (a comment, a draft) is needed</a:t>
            </a:r>
          </a:p>
        </p:txBody>
      </p:sp>
      <p:cxnSp>
        <p:nvCxnSpPr>
          <p:cNvPr id="21" name="Connector 20"/>
          <p:cNvCxnSpPr/>
          <p:nvPr/>
        </p:nvCxnSpPr>
        <p:spPr>
          <a:xfrm>
            <a:off x="685800" y="4859645"/>
            <a:ext cx="10817352" cy="0"/>
          </a:xfrm>
          <a:prstGeom prst="line">
            <a:avLst/>
          </a:prstGeom>
          <a:ln w="9525">
            <a:solidFill>
              <a:srgbClr val="E5EAF0"/>
            </a:solidFill>
          </a:ln>
        </p:spPr>
        <p:style>
          <a:lnRef idx="2">
            <a:schemeClr val="accent1"/>
          </a:lnRef>
          <a:fillRef idx="0">
            <a:schemeClr val="accent1"/>
          </a:fillRef>
          <a:effectRef idx="1">
            <a:schemeClr val="accent1"/>
          </a:effectRef>
          <a:fontRef idx="minor">
            <a:schemeClr val="tx1"/>
          </a:fontRef>
        </p:style>
      </p:cxnSp>
      <p:sp>
        <p:nvSpPr>
          <p:cNvPr id="22" name="TextBox 21"/>
          <p:cNvSpPr txBox="1"/>
          <p:nvPr/>
        </p:nvSpPr>
        <p:spPr>
          <a:xfrm>
            <a:off x="685800" y="4859645"/>
            <a:ext cx="4696428" cy="317944"/>
          </a:xfrm>
          <a:prstGeom prst="rect">
            <a:avLst/>
          </a:prstGeom>
          <a:noFill/>
        </p:spPr>
        <p:txBody>
          <a:bodyPr wrap="square" lIns="0" rIns="0" tIns="0" bIns="0" anchor="ctr">
            <a:spAutoFit/>
          </a:bodyPr>
          <a:lstStyle/>
          <a:p>
            <a:pPr algn="l">
              <a:lnSpc>
                <a:spcPts val="1207"/>
              </a:lnSpc>
              <a:spcAft>
                <a:spcPts val="0"/>
              </a:spcAft>
            </a:pPr>
            <a:r>
              <a:rPr sz="1050" b="0" i="0">
                <a:solidFill>
                  <a:srgbClr val="141B2E"/>
                </a:solidFill>
                <a:latin typeface="Arial"/>
              </a:rPr>
              <a:t>managing settings</a:t>
            </a:r>
          </a:p>
        </p:txBody>
      </p:sp>
      <p:sp>
        <p:nvSpPr>
          <p:cNvPr id="23" name="TextBox 22"/>
          <p:cNvSpPr txBox="1"/>
          <p:nvPr/>
        </p:nvSpPr>
        <p:spPr>
          <a:xfrm>
            <a:off x="5528532" y="4859645"/>
            <a:ext cx="5828315" cy="317944"/>
          </a:xfrm>
          <a:prstGeom prst="rect">
            <a:avLst/>
          </a:prstGeom>
          <a:noFill/>
        </p:spPr>
        <p:txBody>
          <a:bodyPr wrap="square" lIns="0" rIns="0" tIns="0" bIns="0" anchor="ctr">
            <a:spAutoFit/>
          </a:bodyPr>
          <a:lstStyle/>
          <a:p>
            <a:pPr algn="l">
              <a:lnSpc>
                <a:spcPts val="1207"/>
              </a:lnSpc>
              <a:spcAft>
                <a:spcPts val="0"/>
              </a:spcAft>
            </a:pPr>
            <a:r>
              <a:rPr sz="1050" b="0" i="0">
                <a:solidFill>
                  <a:srgbClr val="141B2E"/>
                </a:solidFill>
                <a:latin typeface="Arial"/>
              </a:rPr>
              <a:t>no — cross it out</a:t>
            </a:r>
          </a:p>
        </p:txBody>
      </p:sp>
      <p:cxnSp>
        <p:nvCxnSpPr>
          <p:cNvPr id="24" name="Connector 23"/>
          <p:cNvCxnSpPr/>
          <p:nvPr/>
        </p:nvCxnSpPr>
        <p:spPr>
          <a:xfrm>
            <a:off x="685800" y="5177589"/>
            <a:ext cx="10817352" cy="0"/>
          </a:xfrm>
          <a:prstGeom prst="line">
            <a:avLst/>
          </a:prstGeom>
          <a:ln w="9525">
            <a:solidFill>
              <a:srgbClr val="E5EAF0"/>
            </a:solidFill>
          </a:ln>
        </p:spPr>
        <p:style>
          <a:lnRef idx="2">
            <a:schemeClr val="accent1"/>
          </a:lnRef>
          <a:fillRef idx="0">
            <a:schemeClr val="accent1"/>
          </a:fillRef>
          <a:effectRef idx="1">
            <a:schemeClr val="accent1"/>
          </a:effectRef>
          <a:fontRef idx="minor">
            <a:schemeClr val="tx1"/>
          </a:fontRef>
        </p:style>
      </p:cxnSp>
      <p:sp>
        <p:nvSpPr>
          <p:cNvPr id="25" name="TextBox 24"/>
          <p:cNvSpPr txBox="1"/>
          <p:nvPr/>
        </p:nvSpPr>
        <p:spPr>
          <a:xfrm>
            <a:off x="685800" y="5177589"/>
            <a:ext cx="4696428" cy="317944"/>
          </a:xfrm>
          <a:prstGeom prst="rect">
            <a:avLst/>
          </a:prstGeom>
          <a:noFill/>
        </p:spPr>
        <p:txBody>
          <a:bodyPr wrap="square" lIns="0" rIns="0" tIns="0" bIns="0" anchor="ctr">
            <a:spAutoFit/>
          </a:bodyPr>
          <a:lstStyle/>
          <a:p>
            <a:pPr algn="l">
              <a:lnSpc>
                <a:spcPts val="1207"/>
              </a:lnSpc>
              <a:spcAft>
                <a:spcPts val="0"/>
              </a:spcAft>
            </a:pPr>
            <a:r>
              <a:rPr sz="1050" b="0" i="0">
                <a:solidFill>
                  <a:srgbClr val="141B2E"/>
                </a:solidFill>
                <a:latin typeface="Arial"/>
              </a:rPr>
              <a:t>deletion</a:t>
            </a:r>
          </a:p>
        </p:txBody>
      </p:sp>
      <p:sp>
        <p:nvSpPr>
          <p:cNvPr id="26" name="TextBox 25"/>
          <p:cNvSpPr txBox="1"/>
          <p:nvPr/>
        </p:nvSpPr>
        <p:spPr>
          <a:xfrm>
            <a:off x="5528532" y="5177589"/>
            <a:ext cx="5828315" cy="317944"/>
          </a:xfrm>
          <a:prstGeom prst="rect">
            <a:avLst/>
          </a:prstGeom>
          <a:noFill/>
        </p:spPr>
        <p:txBody>
          <a:bodyPr wrap="square" lIns="0" rIns="0" tIns="0" bIns="0" anchor="ctr">
            <a:spAutoFit/>
          </a:bodyPr>
          <a:lstStyle/>
          <a:p>
            <a:pPr algn="l">
              <a:lnSpc>
                <a:spcPts val="1207"/>
              </a:lnSpc>
              <a:spcAft>
                <a:spcPts val="0"/>
              </a:spcAft>
            </a:pPr>
            <a:r>
              <a:rPr sz="1050" b="0" i="0">
                <a:solidFill>
                  <a:srgbClr val="141B2E"/>
                </a:solidFill>
                <a:latin typeface="Arial"/>
              </a:rPr>
              <a:t>no — cross it out</a:t>
            </a:r>
          </a:p>
        </p:txBody>
      </p:sp>
      <p:sp>
        <p:nvSpPr>
          <p:cNvPr id="27" name="Rounded Rectangle 26"/>
          <p:cNvSpPr/>
          <p:nvPr/>
        </p:nvSpPr>
        <p:spPr>
          <a:xfrm>
            <a:off x="502920" y="5843006"/>
            <a:ext cx="82296" cy="479043"/>
          </a:xfrm>
          <a:prstGeom prst="roundRect">
            <a:avLst>
              <a:gd name="adj" fmla="val 50000"/>
            </a:avLst>
          </a:prstGeom>
          <a:solidFill>
            <a:srgbClr val="F0AB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859536" y="5971022"/>
            <a:ext cx="10643616" cy="223011"/>
          </a:xfrm>
          <a:prstGeom prst="rect">
            <a:avLst/>
          </a:prstGeom>
          <a:noFill/>
        </p:spPr>
        <p:txBody>
          <a:bodyPr wrap="square" lIns="0" rIns="0" tIns="0" bIns="0" anchor="ctr">
            <a:spAutoFit/>
          </a:bodyPr>
          <a:lstStyle/>
          <a:p>
            <a:pPr algn="l">
              <a:lnSpc>
                <a:spcPts val="1612"/>
              </a:lnSpc>
              <a:spcAft>
                <a:spcPts val="300"/>
              </a:spcAft>
            </a:pPr>
            <a:r>
              <a:rPr sz="1300" b="1" i="0">
                <a:solidFill>
                  <a:srgbClr val="141B2E"/>
                </a:solidFill>
                <a:latin typeface="Arial"/>
              </a:rPr>
              <a:t>What remains: one repository, reading issues, creating a draft edit.</a:t>
            </a:r>
          </a:p>
        </p:txBody>
      </p:sp>
      <p:sp>
        <p:nvSpPr>
          <p:cNvPr id="29" name="TextBox 28"/>
          <p:cNvSpPr txBox="1"/>
          <p:nvPr/>
        </p:nvSpPr>
        <p:spPr>
          <a:xfrm>
            <a:off x="10957255" y="6437376"/>
            <a:ext cx="914400" cy="274320"/>
          </a:xfrm>
          <a:prstGeom prst="rect">
            <a:avLst/>
          </a:prstGeom>
          <a:noFill/>
        </p:spPr>
        <p:txBody>
          <a:bodyPr wrap="square" lIns="0" rIns="0" tIns="0" bIns="0" anchor="t">
            <a:spAutoFit/>
          </a:bodyPr>
          <a:lstStyle/>
          <a:p>
            <a:pPr algn="r">
              <a:lnSpc>
                <a:spcPts val="1238"/>
              </a:lnSpc>
              <a:spcAft>
                <a:spcPts val="0"/>
              </a:spcAft>
            </a:pPr>
            <a:r>
              <a:rPr sz="1050" b="0" i="0">
                <a:solidFill>
                  <a:srgbClr val="6B7685"/>
                </a:solidFill>
                <a:latin typeface="Arial"/>
              </a:rPr>
              <a:t>13</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02920" y="310896"/>
            <a:ext cx="11183112" cy="807720"/>
          </a:xfrm>
          <a:prstGeom prst="rect">
            <a:avLst/>
          </a:prstGeom>
          <a:noFill/>
        </p:spPr>
        <p:txBody>
          <a:bodyPr wrap="square" lIns="0" rIns="0" tIns="0" bIns="0" anchor="t">
            <a:spAutoFit/>
          </a:bodyPr>
          <a:lstStyle/>
          <a:p>
            <a:pPr algn="l">
              <a:lnSpc>
                <a:spcPts val="2963"/>
              </a:lnSpc>
              <a:spcAft>
                <a:spcPts val="0"/>
              </a:spcAft>
            </a:pPr>
            <a:r>
              <a:rPr sz="2600" b="1" i="0">
                <a:solidFill>
                  <a:srgbClr val="141B2E"/>
                </a:solidFill>
                <a:latin typeface="Arial"/>
              </a:rPr>
              <a:t>We settle it: where to keep the key and which scope to put the file in</a:t>
            </a:r>
          </a:p>
        </p:txBody>
      </p:sp>
      <p:pic>
        <p:nvPicPr>
          <p:cNvPr id="3" name="Picture 2" descr="mcp-n14-oblasti-en.png"/>
          <p:cNvPicPr>
            <a:picLocks noChangeAspect="1"/>
          </p:cNvPicPr>
          <p:nvPr/>
        </p:nvPicPr>
        <p:blipFill>
          <a:blip r:embed="rId2"/>
          <a:stretch>
            <a:fillRect/>
          </a:stretch>
        </p:blipFill>
        <p:spPr>
          <a:xfrm>
            <a:off x="502920" y="1455349"/>
            <a:ext cx="11183112" cy="4668949"/>
          </a:xfrm>
          <a:prstGeom prst="rect">
            <a:avLst/>
          </a:prstGeom>
        </p:spPr>
      </p:pic>
      <p:sp>
        <p:nvSpPr>
          <p:cNvPr id="4" name="TextBox 3"/>
          <p:cNvSpPr txBox="1"/>
          <p:nvPr/>
        </p:nvSpPr>
        <p:spPr>
          <a:xfrm>
            <a:off x="10957255" y="6437376"/>
            <a:ext cx="914400" cy="274320"/>
          </a:xfrm>
          <a:prstGeom prst="rect">
            <a:avLst/>
          </a:prstGeom>
          <a:noFill/>
        </p:spPr>
        <p:txBody>
          <a:bodyPr wrap="square" lIns="0" rIns="0" tIns="0" bIns="0" anchor="t">
            <a:spAutoFit/>
          </a:bodyPr>
          <a:lstStyle/>
          <a:p>
            <a:pPr algn="r">
              <a:lnSpc>
                <a:spcPts val="1238"/>
              </a:lnSpc>
              <a:spcAft>
                <a:spcPts val="0"/>
              </a:spcAft>
            </a:pPr>
            <a:r>
              <a:rPr sz="1050" b="0" i="0">
                <a:solidFill>
                  <a:srgbClr val="6B7685"/>
                </a:solidFill>
                <a:latin typeface="Arial"/>
              </a:rPr>
              <a:t>14</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02920" y="310896"/>
            <a:ext cx="11183112" cy="807720"/>
          </a:xfrm>
          <a:prstGeom prst="rect">
            <a:avLst/>
          </a:prstGeom>
          <a:noFill/>
        </p:spPr>
        <p:txBody>
          <a:bodyPr wrap="square" lIns="0" rIns="0" tIns="0" bIns="0" anchor="t">
            <a:spAutoFit/>
          </a:bodyPr>
          <a:lstStyle/>
          <a:p>
            <a:pPr algn="l">
              <a:lnSpc>
                <a:spcPts val="2963"/>
              </a:lnSpc>
              <a:spcAft>
                <a:spcPts val="0"/>
              </a:spcAft>
            </a:pPr>
            <a:r>
              <a:rPr sz="2600" b="1" i="0">
                <a:solidFill>
                  <a:srgbClr val="141B2E"/>
                </a:solidFill>
                <a:latin typeface="Arial"/>
              </a:rPr>
              <a:t>Why the boxes get clicked straight through — and what comes next</a:t>
            </a:r>
          </a:p>
        </p:txBody>
      </p:sp>
      <p:sp>
        <p:nvSpPr>
          <p:cNvPr id="3" name="Rounded Rectangle 2"/>
          <p:cNvSpPr/>
          <p:nvPr/>
        </p:nvSpPr>
        <p:spPr>
          <a:xfrm>
            <a:off x="502920" y="1319784"/>
            <a:ext cx="82296" cy="683768"/>
          </a:xfrm>
          <a:prstGeom prst="roundRect">
            <a:avLst>
              <a:gd name="adj" fmla="val 50000"/>
            </a:avLst>
          </a:prstGeom>
          <a:solidFill>
            <a:srgbClr val="F0AB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59536" y="1447800"/>
            <a:ext cx="10643616" cy="427736"/>
          </a:xfrm>
          <a:prstGeom prst="rect">
            <a:avLst/>
          </a:prstGeom>
          <a:noFill/>
        </p:spPr>
        <p:txBody>
          <a:bodyPr wrap="square" lIns="0" rIns="0" tIns="0" bIns="0" anchor="ctr">
            <a:spAutoFit/>
          </a:bodyPr>
          <a:lstStyle/>
          <a:p>
            <a:pPr algn="l">
              <a:lnSpc>
                <a:spcPts val="1612"/>
              </a:lnSpc>
              <a:spcAft>
                <a:spcPts val="300"/>
              </a:spcAft>
            </a:pPr>
            <a:r>
              <a:rPr sz="1300" b="1" i="0">
                <a:solidFill>
                  <a:srgbClr val="141B2E"/>
                </a:solidFill>
                <a:latin typeface="Arial"/>
              </a:rPr>
              <a:t>A key's permissions are asked about one single time — at the moment of issue: the service lists the actions and asks which of them you trust to this key.</a:t>
            </a:r>
          </a:p>
        </p:txBody>
      </p:sp>
      <p:sp>
        <p:nvSpPr>
          <p:cNvPr id="5" name="Rounded Rectangle 4"/>
          <p:cNvSpPr/>
          <p:nvPr/>
        </p:nvSpPr>
        <p:spPr>
          <a:xfrm>
            <a:off x="502920" y="2168144"/>
            <a:ext cx="11183112" cy="2905252"/>
          </a:xfrm>
          <a:prstGeom prst="roundRect">
            <a:avLst>
              <a:gd name="adj" fmla="val 10491"/>
            </a:avLst>
          </a:prstGeom>
          <a:solidFill>
            <a:srgbClr val="FFFFFF"/>
          </a:solidFill>
          <a:ln w="1778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85800" y="2351024"/>
            <a:ext cx="3108580" cy="274574"/>
          </a:xfrm>
          <a:prstGeom prst="rect">
            <a:avLst/>
          </a:prstGeom>
          <a:noFill/>
        </p:spPr>
        <p:txBody>
          <a:bodyPr wrap="square" lIns="0" rIns="0" tIns="0" bIns="0" anchor="t">
            <a:spAutoFit/>
          </a:bodyPr>
          <a:lstStyle/>
          <a:p>
            <a:pPr algn="l">
              <a:lnSpc>
                <a:spcPts val="1210"/>
              </a:lnSpc>
              <a:spcAft>
                <a:spcPts val="0"/>
              </a:spcAft>
            </a:pPr>
            <a:r>
              <a:rPr sz="1100" b="1" i="0">
                <a:solidFill>
                  <a:srgbClr val="6B7685"/>
                </a:solidFill>
                <a:latin typeface="Arial"/>
              </a:rPr>
              <a:t>THE MOVE ALMOST EVERYONE MAKES</a:t>
            </a:r>
          </a:p>
        </p:txBody>
      </p:sp>
      <p:sp>
        <p:nvSpPr>
          <p:cNvPr id="7" name="TextBox 6"/>
          <p:cNvSpPr txBox="1"/>
          <p:nvPr/>
        </p:nvSpPr>
        <p:spPr>
          <a:xfrm>
            <a:off x="3940684" y="2351024"/>
            <a:ext cx="7416163" cy="274574"/>
          </a:xfrm>
          <a:prstGeom prst="rect">
            <a:avLst/>
          </a:prstGeom>
          <a:noFill/>
        </p:spPr>
        <p:txBody>
          <a:bodyPr wrap="square" lIns="0" rIns="0" tIns="0" bIns="0" anchor="t">
            <a:spAutoFit/>
          </a:bodyPr>
          <a:lstStyle/>
          <a:p>
            <a:pPr algn="l">
              <a:lnSpc>
                <a:spcPts val="1210"/>
              </a:lnSpc>
              <a:spcAft>
                <a:spcPts val="0"/>
              </a:spcAft>
            </a:pPr>
            <a:r>
              <a:rPr sz="1100" b="1" i="0">
                <a:solidFill>
                  <a:srgbClr val="6B7685"/>
                </a:solidFill>
                <a:latin typeface="Arial"/>
              </a:rPr>
              <a:t>WHAT IN IT COMES EXPENSIVE</a:t>
            </a:r>
          </a:p>
        </p:txBody>
      </p:sp>
      <p:sp>
        <p:nvSpPr>
          <p:cNvPr id="8" name="TextBox 7"/>
          <p:cNvSpPr txBox="1"/>
          <p:nvPr/>
        </p:nvSpPr>
        <p:spPr>
          <a:xfrm>
            <a:off x="685800" y="2625598"/>
            <a:ext cx="3108580" cy="646557"/>
          </a:xfrm>
          <a:prstGeom prst="rect">
            <a:avLst/>
          </a:prstGeom>
          <a:noFill/>
        </p:spPr>
        <p:txBody>
          <a:bodyPr wrap="square" lIns="0" rIns="0" tIns="0" bIns="0" anchor="ctr">
            <a:spAutoFit/>
          </a:bodyPr>
          <a:lstStyle/>
          <a:p>
            <a:pPr algn="l">
              <a:lnSpc>
                <a:spcPts val="1264"/>
              </a:lnSpc>
              <a:spcAft>
                <a:spcPts val="0"/>
              </a:spcAft>
            </a:pPr>
            <a:r>
              <a:rPr sz="1100" b="0" i="0">
                <a:solidFill>
                  <a:srgbClr val="141B2E"/>
                </a:solidFill>
                <a:latin typeface="Arial"/>
              </a:rPr>
              <a:t>tick every box in a row: "what if I need it later, surely I am not going to reissue the key"</a:t>
            </a:r>
          </a:p>
        </p:txBody>
      </p:sp>
      <p:sp>
        <p:nvSpPr>
          <p:cNvPr id="9" name="TextBox 8"/>
          <p:cNvSpPr txBox="1"/>
          <p:nvPr/>
        </p:nvSpPr>
        <p:spPr>
          <a:xfrm>
            <a:off x="3940684" y="2625598"/>
            <a:ext cx="7416163" cy="646557"/>
          </a:xfrm>
          <a:prstGeom prst="rect">
            <a:avLst/>
          </a:prstGeom>
          <a:noFill/>
        </p:spPr>
        <p:txBody>
          <a:bodyPr wrap="square" lIns="0" rIns="0" tIns="0" bIns="0" anchor="ctr">
            <a:spAutoFit/>
          </a:bodyPr>
          <a:lstStyle/>
          <a:p>
            <a:pPr algn="l">
              <a:lnSpc>
                <a:spcPts val="1264"/>
              </a:lnSpc>
              <a:spcAft>
                <a:spcPts val="0"/>
              </a:spcAft>
            </a:pPr>
            <a:r>
              <a:rPr sz="1100" b="0" i="0">
                <a:solidFill>
                  <a:srgbClr val="141B2E"/>
                </a:solidFill>
                <a:latin typeface="Arial"/>
              </a:rPr>
              <a:t>the agent's list of operations is three lines long, and the key was issued for all of them: what was crossed out in the breakdown came back in its entirety</a:t>
            </a:r>
          </a:p>
        </p:txBody>
      </p:sp>
      <p:cxnSp>
        <p:nvCxnSpPr>
          <p:cNvPr id="10" name="Connector 9"/>
          <p:cNvCxnSpPr/>
          <p:nvPr/>
        </p:nvCxnSpPr>
        <p:spPr>
          <a:xfrm>
            <a:off x="685800" y="3272155"/>
            <a:ext cx="10817352" cy="0"/>
          </a:xfrm>
          <a:prstGeom prst="line">
            <a:avLst/>
          </a:prstGeom>
          <a:ln w="9525">
            <a:solidFill>
              <a:srgbClr val="E5EAF0"/>
            </a:solidFill>
          </a:ln>
        </p:spPr>
        <p:style>
          <a:lnRef idx="2">
            <a:schemeClr val="accent1"/>
          </a:lnRef>
          <a:fillRef idx="0">
            <a:schemeClr val="accent1"/>
          </a:fillRef>
          <a:effectRef idx="1">
            <a:schemeClr val="accent1"/>
          </a:effectRef>
          <a:fontRef idx="minor">
            <a:schemeClr val="tx1"/>
          </a:fontRef>
        </p:style>
      </p:cxnSp>
      <p:sp>
        <p:nvSpPr>
          <p:cNvPr id="11" name="TextBox 10"/>
          <p:cNvSpPr txBox="1"/>
          <p:nvPr/>
        </p:nvSpPr>
        <p:spPr>
          <a:xfrm>
            <a:off x="685800" y="3272155"/>
            <a:ext cx="3108580" cy="485902"/>
          </a:xfrm>
          <a:prstGeom prst="rect">
            <a:avLst/>
          </a:prstGeom>
          <a:noFill/>
        </p:spPr>
        <p:txBody>
          <a:bodyPr wrap="square" lIns="0" rIns="0" tIns="0" bIns="0" anchor="ctr">
            <a:spAutoFit/>
          </a:bodyPr>
          <a:lstStyle/>
          <a:p>
            <a:pPr algn="l">
              <a:lnSpc>
                <a:spcPts val="1264"/>
              </a:lnSpc>
              <a:spcAft>
                <a:spcPts val="0"/>
              </a:spcAft>
            </a:pPr>
            <a:r>
              <a:rPr sz="1100" b="0" i="0">
                <a:solidFill>
                  <a:srgbClr val="141B2E"/>
                </a:solidFill>
                <a:latin typeface="Arial"/>
              </a:rPr>
              <a:t>put the key within reach — into a file next to the configuration</a:t>
            </a:r>
          </a:p>
        </p:txBody>
      </p:sp>
      <p:sp>
        <p:nvSpPr>
          <p:cNvPr id="12" name="TextBox 11"/>
          <p:cNvSpPr txBox="1"/>
          <p:nvPr/>
        </p:nvSpPr>
        <p:spPr>
          <a:xfrm>
            <a:off x="3940684" y="3272155"/>
            <a:ext cx="7416163" cy="485902"/>
          </a:xfrm>
          <a:prstGeom prst="rect">
            <a:avLst/>
          </a:prstGeom>
          <a:noFill/>
        </p:spPr>
        <p:txBody>
          <a:bodyPr wrap="square" lIns="0" rIns="0" tIns="0" bIns="0" anchor="ctr">
            <a:spAutoFit/>
          </a:bodyPr>
          <a:lstStyle/>
          <a:p>
            <a:pPr algn="l">
              <a:lnSpc>
                <a:spcPts val="1264"/>
              </a:lnSpc>
              <a:spcAft>
                <a:spcPts val="0"/>
              </a:spcAft>
            </a:pPr>
            <a:r>
              <a:rPr sz="1100" b="0" i="0">
                <a:solidFill>
                  <a:srgbClr val="141B2E"/>
                </a:solidFill>
                <a:latin typeface="Arial"/>
              </a:rPr>
              <a:t>the file travels into the repository, into the commit history and into the review of edits. The key's home between runs is a secrets store: the name is visible, the value is not</a:t>
            </a:r>
          </a:p>
        </p:txBody>
      </p:sp>
      <p:cxnSp>
        <p:nvCxnSpPr>
          <p:cNvPr id="13" name="Connector 12"/>
          <p:cNvCxnSpPr/>
          <p:nvPr/>
        </p:nvCxnSpPr>
        <p:spPr>
          <a:xfrm>
            <a:off x="685800" y="3758057"/>
            <a:ext cx="10817352" cy="0"/>
          </a:xfrm>
          <a:prstGeom prst="line">
            <a:avLst/>
          </a:prstGeom>
          <a:ln w="9525">
            <a:solidFill>
              <a:srgbClr val="E5EAF0"/>
            </a:solidFill>
          </a:ln>
        </p:spPr>
        <p:style>
          <a:lnRef idx="2">
            <a:schemeClr val="accent1"/>
          </a:lnRef>
          <a:fillRef idx="0">
            <a:schemeClr val="accent1"/>
          </a:fillRef>
          <a:effectRef idx="1">
            <a:schemeClr val="accent1"/>
          </a:effectRef>
          <a:fontRef idx="minor">
            <a:schemeClr val="tx1"/>
          </a:fontRef>
        </p:style>
      </p:cxnSp>
      <p:sp>
        <p:nvSpPr>
          <p:cNvPr id="14" name="TextBox 13"/>
          <p:cNvSpPr txBox="1"/>
          <p:nvPr/>
        </p:nvSpPr>
        <p:spPr>
          <a:xfrm>
            <a:off x="685800" y="3758057"/>
            <a:ext cx="3108580" cy="646557"/>
          </a:xfrm>
          <a:prstGeom prst="rect">
            <a:avLst/>
          </a:prstGeom>
          <a:noFill/>
        </p:spPr>
        <p:txBody>
          <a:bodyPr wrap="square" lIns="0" rIns="0" tIns="0" bIns="0" anchor="ctr">
            <a:spAutoFit/>
          </a:bodyPr>
          <a:lstStyle/>
          <a:p>
            <a:pPr algn="l">
              <a:lnSpc>
                <a:spcPts val="1264"/>
              </a:lnSpc>
              <a:spcAft>
                <a:spcPts val="0"/>
              </a:spcAft>
            </a:pPr>
            <a:r>
              <a:rPr sz="1100" b="0" i="0">
                <a:solidFill>
                  <a:srgbClr val="141B2E"/>
                </a:solidFill>
                <a:latin typeface="Arial"/>
              </a:rPr>
              <a:t>count on nobody looking for your key</a:t>
            </a:r>
          </a:p>
        </p:txBody>
      </p:sp>
      <p:sp>
        <p:nvSpPr>
          <p:cNvPr id="15" name="TextBox 14"/>
          <p:cNvSpPr txBox="1"/>
          <p:nvPr/>
        </p:nvSpPr>
        <p:spPr>
          <a:xfrm>
            <a:off x="3940684" y="3758057"/>
            <a:ext cx="7416163" cy="646557"/>
          </a:xfrm>
          <a:prstGeom prst="rect">
            <a:avLst/>
          </a:prstGeom>
          <a:noFill/>
        </p:spPr>
        <p:txBody>
          <a:bodyPr wrap="square" lIns="0" rIns="0" tIns="0" bIns="0" anchor="ctr">
            <a:spAutoFit/>
          </a:bodyPr>
          <a:lstStyle/>
          <a:p>
            <a:pPr algn="l">
              <a:lnSpc>
                <a:spcPts val="1264"/>
              </a:lnSpc>
              <a:spcAft>
                <a:spcPts val="0"/>
              </a:spcAft>
            </a:pPr>
            <a:r>
              <a:rPr sz="1100" b="0" i="0">
                <a:solidFill>
                  <a:srgbClr val="141B2E"/>
                </a:solidFill>
                <a:latin typeface="Arial"/>
              </a:rPr>
              <a:t>keys in public repositories do get searched for and do get found working; one of the model providers watches over its own and blocks an exposed one within seconds — by the account of students from a previous cohort</a:t>
            </a:r>
          </a:p>
        </p:txBody>
      </p:sp>
      <p:cxnSp>
        <p:nvCxnSpPr>
          <p:cNvPr id="16" name="Connector 15"/>
          <p:cNvCxnSpPr/>
          <p:nvPr/>
        </p:nvCxnSpPr>
        <p:spPr>
          <a:xfrm>
            <a:off x="685800" y="4404614"/>
            <a:ext cx="10817352" cy="0"/>
          </a:xfrm>
          <a:prstGeom prst="line">
            <a:avLst/>
          </a:prstGeom>
          <a:ln w="9525">
            <a:solidFill>
              <a:srgbClr val="E5EAF0"/>
            </a:solidFill>
          </a:ln>
        </p:spPr>
        <p:style>
          <a:lnRef idx="2">
            <a:schemeClr val="accent1"/>
          </a:lnRef>
          <a:fillRef idx="0">
            <a:schemeClr val="accent1"/>
          </a:fillRef>
          <a:effectRef idx="1">
            <a:schemeClr val="accent1"/>
          </a:effectRef>
          <a:fontRef idx="minor">
            <a:schemeClr val="tx1"/>
          </a:fontRef>
        </p:style>
      </p:cxnSp>
      <p:sp>
        <p:nvSpPr>
          <p:cNvPr id="17" name="TextBox 16"/>
          <p:cNvSpPr txBox="1"/>
          <p:nvPr/>
        </p:nvSpPr>
        <p:spPr>
          <a:xfrm>
            <a:off x="685800" y="4404614"/>
            <a:ext cx="3108580" cy="485902"/>
          </a:xfrm>
          <a:prstGeom prst="rect">
            <a:avLst/>
          </a:prstGeom>
          <a:noFill/>
        </p:spPr>
        <p:txBody>
          <a:bodyPr wrap="square" lIns="0" rIns="0" tIns="0" bIns="0" anchor="ctr">
            <a:spAutoFit/>
          </a:bodyPr>
          <a:lstStyle/>
          <a:p>
            <a:pPr algn="l">
              <a:lnSpc>
                <a:spcPts val="1264"/>
              </a:lnSpc>
              <a:spcAft>
                <a:spcPts val="0"/>
              </a:spcAft>
            </a:pPr>
            <a:r>
              <a:rPr sz="1100" b="0" i="0">
                <a:solidFill>
                  <a:srgbClr val="141B2E"/>
                </a:solidFill>
                <a:latin typeface="Arial"/>
              </a:rPr>
              <a:t>remember about permissions once the key has already surfaced somewhere</a:t>
            </a:r>
          </a:p>
        </p:txBody>
      </p:sp>
      <p:sp>
        <p:nvSpPr>
          <p:cNvPr id="18" name="TextBox 17"/>
          <p:cNvSpPr txBox="1"/>
          <p:nvPr/>
        </p:nvSpPr>
        <p:spPr>
          <a:xfrm>
            <a:off x="3940684" y="4404614"/>
            <a:ext cx="7416163" cy="485902"/>
          </a:xfrm>
          <a:prstGeom prst="rect">
            <a:avLst/>
          </a:prstGeom>
          <a:noFill/>
        </p:spPr>
        <p:txBody>
          <a:bodyPr wrap="square" lIns="0" rIns="0" tIns="0" bIns="0" anchor="ctr">
            <a:spAutoFit/>
          </a:bodyPr>
          <a:lstStyle/>
          <a:p>
            <a:pPr algn="l">
              <a:lnSpc>
                <a:spcPts val="1264"/>
              </a:lnSpc>
              <a:spcAft>
                <a:spcPts val="0"/>
              </a:spcAft>
            </a:pPr>
            <a:r>
              <a:rPr sz="1100" b="0" i="0">
                <a:solidFill>
                  <a:srgbClr val="141B2E"/>
                </a:solidFill>
                <a:latin typeface="Arial"/>
              </a:rPr>
              <a:t>permissions are changed on the service's side, and after the fact they cancel nothing: whatever the key managed, it managed</a:t>
            </a:r>
          </a:p>
        </p:txBody>
      </p:sp>
      <p:sp>
        <p:nvSpPr>
          <p:cNvPr id="19" name="Rounded Rectangle 18"/>
          <p:cNvSpPr/>
          <p:nvPr/>
        </p:nvSpPr>
        <p:spPr>
          <a:xfrm>
            <a:off x="502920" y="5237988"/>
            <a:ext cx="82296" cy="715263"/>
          </a:xfrm>
          <a:prstGeom prst="roundRect">
            <a:avLst>
              <a:gd name="adj" fmla="val 50000"/>
            </a:avLst>
          </a:prstGeom>
          <a:solidFill>
            <a:srgbClr val="F0AB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59536" y="5366004"/>
            <a:ext cx="10643616" cy="459231"/>
          </a:xfrm>
          <a:prstGeom prst="rect">
            <a:avLst/>
          </a:prstGeom>
          <a:noFill/>
        </p:spPr>
        <p:txBody>
          <a:bodyPr wrap="square" lIns="0" rIns="0" tIns="0" bIns="0" anchor="ctr">
            <a:spAutoFit/>
          </a:bodyPr>
          <a:lstStyle/>
          <a:p>
            <a:pPr algn="l">
              <a:lnSpc>
                <a:spcPts val="1736"/>
              </a:lnSpc>
              <a:spcAft>
                <a:spcPts val="300"/>
              </a:spcAft>
            </a:pPr>
            <a:r>
              <a:rPr sz="1400" b="1" i="0">
                <a:solidFill>
                  <a:srgbClr val="141B2E"/>
                </a:solidFill>
                <a:latin typeface="Arial"/>
              </a:rPr>
              <a:t>The provider's watchdog covers one channel out of many — a private leak, a build log and a screenshot it does not see. A narrow key that has leaked is all that remains within your power after it is issued.</a:t>
            </a:r>
          </a:p>
        </p:txBody>
      </p:sp>
      <p:sp>
        <p:nvSpPr>
          <p:cNvPr id="21" name="TextBox 20"/>
          <p:cNvSpPr txBox="1"/>
          <p:nvPr/>
        </p:nvSpPr>
        <p:spPr>
          <a:xfrm>
            <a:off x="10957255" y="6437376"/>
            <a:ext cx="914400" cy="274320"/>
          </a:xfrm>
          <a:prstGeom prst="rect">
            <a:avLst/>
          </a:prstGeom>
          <a:noFill/>
        </p:spPr>
        <p:txBody>
          <a:bodyPr wrap="square" lIns="0" rIns="0" tIns="0" bIns="0" anchor="t">
            <a:spAutoFit/>
          </a:bodyPr>
          <a:lstStyle/>
          <a:p>
            <a:pPr algn="r">
              <a:lnSpc>
                <a:spcPts val="1238"/>
              </a:lnSpc>
              <a:spcAft>
                <a:spcPts val="0"/>
              </a:spcAft>
            </a:pPr>
            <a:r>
              <a:rPr sz="1050" b="0" i="0">
                <a:solidFill>
                  <a:srgbClr val="6B7685"/>
                </a:solidFill>
                <a:latin typeface="Arial"/>
              </a:rPr>
              <a:t>15</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02920" y="310896"/>
            <a:ext cx="11183112" cy="431291"/>
          </a:xfrm>
          <a:prstGeom prst="rect">
            <a:avLst/>
          </a:prstGeom>
          <a:noFill/>
        </p:spPr>
        <p:txBody>
          <a:bodyPr wrap="square" lIns="0" rIns="0" tIns="0" bIns="0" anchor="t">
            <a:spAutoFit/>
          </a:bodyPr>
          <a:lstStyle/>
          <a:p>
            <a:pPr algn="l">
              <a:lnSpc>
                <a:spcPts val="2963"/>
              </a:lnSpc>
              <a:spcAft>
                <a:spcPts val="0"/>
              </a:spcAft>
            </a:pPr>
            <a:r>
              <a:rPr sz="2600" b="1" i="0">
                <a:solidFill>
                  <a:srgbClr val="141B2E"/>
                </a:solidFill>
                <a:latin typeface="Arial"/>
              </a:rPr>
              <a:t>The assembled file — and the order on a clash of names</a:t>
            </a:r>
          </a:p>
        </p:txBody>
      </p:sp>
      <p:sp>
        <p:nvSpPr>
          <p:cNvPr id="3" name="Rounded Rectangle 2"/>
          <p:cNvSpPr/>
          <p:nvPr/>
        </p:nvSpPr>
        <p:spPr>
          <a:xfrm>
            <a:off x="502920" y="943356"/>
            <a:ext cx="11183112" cy="1701927"/>
          </a:xfrm>
          <a:prstGeom prst="roundRect">
            <a:avLst>
              <a:gd name="adj" fmla="val 11939"/>
            </a:avLst>
          </a:prstGeom>
          <a:solidFill>
            <a:srgbClr val="FFFFFF"/>
          </a:solidFill>
          <a:ln w="12700">
            <a:solidFill>
              <a:srgbClr val="E5EA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502920" y="979932"/>
            <a:ext cx="50292" cy="1628775"/>
          </a:xfrm>
          <a:prstGeom prst="rect">
            <a:avLst/>
          </a:prstGeom>
          <a:solidFill>
            <a:srgbClr val="0280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22376" y="1126236"/>
            <a:ext cx="10744200" cy="1336167"/>
          </a:xfrm>
          <a:prstGeom prst="rect">
            <a:avLst/>
          </a:prstGeom>
          <a:noFill/>
        </p:spPr>
        <p:txBody>
          <a:bodyPr wrap="none" lIns="0" rIns="0" tIns="0" bIns="0" anchor="t">
            <a:spAutoFit/>
          </a:bodyPr>
          <a:lstStyle/>
          <a:p>
            <a:pPr algn="l">
              <a:lnSpc>
                <a:spcPts val="1105"/>
              </a:lnSpc>
              <a:spcAft>
                <a:spcPts val="0"/>
              </a:spcAft>
            </a:pPr>
            <a:r>
              <a:rPr sz="850" b="0" i="0">
                <a:solidFill>
                  <a:srgbClr val="141B2E"/>
                </a:solidFill>
                <a:latin typeface="Consolas"/>
              </a:rPr>
              <a:t>{</a:t>
            </a:r>
          </a:p>
          <a:p>
            <a:pPr algn="l">
              <a:lnSpc>
                <a:spcPts val="1105"/>
              </a:lnSpc>
              <a:spcAft>
                <a:spcPts val="0"/>
              </a:spcAft>
            </a:pPr>
            <a:r>
              <a:rPr sz="850" b="0" i="0">
                <a:solidFill>
                  <a:srgbClr val="141B2E"/>
                </a:solidFill>
                <a:latin typeface="Consolas"/>
              </a:rPr>
              <a:t>  "mcpServers": {</a:t>
            </a:r>
          </a:p>
          <a:p>
            <a:pPr algn="l">
              <a:lnSpc>
                <a:spcPts val="1105"/>
              </a:lnSpc>
              <a:spcAft>
                <a:spcPts val="0"/>
              </a:spcAft>
            </a:pPr>
            <a:r>
              <a:rPr sz="850" b="0" i="0">
                <a:solidFill>
                  <a:srgbClr val="141B2E"/>
                </a:solidFill>
                <a:latin typeface="Consolas"/>
              </a:rPr>
              <a:t>    "github": {</a:t>
            </a:r>
          </a:p>
          <a:p>
            <a:pPr algn="l">
              <a:lnSpc>
                <a:spcPts val="1105"/>
              </a:lnSpc>
              <a:spcAft>
                <a:spcPts val="0"/>
              </a:spcAft>
            </a:pPr>
            <a:r>
              <a:rPr sz="850" b="0" i="0">
                <a:solidFill>
                  <a:srgbClr val="141B2E"/>
                </a:solidFill>
                <a:latin typeface="Consolas"/>
              </a:rPr>
              <a:t>      "command": "npx",</a:t>
            </a:r>
          </a:p>
          <a:p>
            <a:pPr algn="l">
              <a:lnSpc>
                <a:spcPts val="1105"/>
              </a:lnSpc>
              <a:spcAft>
                <a:spcPts val="0"/>
              </a:spcAft>
            </a:pPr>
            <a:r>
              <a:rPr sz="850" b="0" i="0">
                <a:solidFill>
                  <a:srgbClr val="141B2E"/>
                </a:solidFill>
                <a:latin typeface="Consolas"/>
              </a:rPr>
              <a:t>      "args": ["-y", "@modelcontextprotocol/server-github"],</a:t>
            </a:r>
          </a:p>
          <a:p>
            <a:pPr algn="l">
              <a:lnSpc>
                <a:spcPts val="1105"/>
              </a:lnSpc>
              <a:spcAft>
                <a:spcPts val="0"/>
              </a:spcAft>
            </a:pPr>
            <a:r>
              <a:rPr sz="850" b="0" i="0">
                <a:solidFill>
                  <a:srgbClr val="141B2E"/>
                </a:solidFill>
                <a:latin typeface="Consolas"/>
              </a:rPr>
              <a:t>      "env": { "GITHUB_PERSONAL_ACCESS_TOKEN": "${GITHUB_PAT}" }</a:t>
            </a:r>
          </a:p>
          <a:p>
            <a:pPr algn="l">
              <a:lnSpc>
                <a:spcPts val="1105"/>
              </a:lnSpc>
              <a:spcAft>
                <a:spcPts val="0"/>
              </a:spcAft>
            </a:pPr>
            <a:r>
              <a:rPr sz="850" b="0" i="0">
                <a:solidFill>
                  <a:srgbClr val="141B2E"/>
                </a:solidFill>
                <a:latin typeface="Consolas"/>
              </a:rPr>
              <a:t>    }</a:t>
            </a:r>
          </a:p>
          <a:p>
            <a:pPr algn="l">
              <a:lnSpc>
                <a:spcPts val="1105"/>
              </a:lnSpc>
              <a:spcAft>
                <a:spcPts val="0"/>
              </a:spcAft>
            </a:pPr>
            <a:r>
              <a:rPr sz="850" b="0" i="0">
                <a:solidFill>
                  <a:srgbClr val="141B2E"/>
                </a:solidFill>
                <a:latin typeface="Consolas"/>
              </a:rPr>
              <a:t>  }</a:t>
            </a:r>
          </a:p>
          <a:p>
            <a:pPr algn="l">
              <a:lnSpc>
                <a:spcPts val="1105"/>
              </a:lnSpc>
              <a:spcAft>
                <a:spcPts val="0"/>
              </a:spcAft>
            </a:pPr>
            <a:r>
              <a:rPr sz="850" b="0" i="0">
                <a:solidFill>
                  <a:srgbClr val="141B2E"/>
                </a:solidFill>
                <a:latin typeface="Consolas"/>
              </a:rPr>
              <a:t>}</a:t>
            </a:r>
          </a:p>
        </p:txBody>
      </p:sp>
      <p:sp>
        <p:nvSpPr>
          <p:cNvPr id="6" name="Rounded Rectangle 5"/>
          <p:cNvSpPr/>
          <p:nvPr/>
        </p:nvSpPr>
        <p:spPr>
          <a:xfrm>
            <a:off x="502920" y="2809875"/>
            <a:ext cx="11183112" cy="1317498"/>
          </a:xfrm>
          <a:prstGeom prst="roundRect">
            <a:avLst>
              <a:gd name="adj" fmla="val 23134"/>
            </a:avLst>
          </a:prstGeom>
          <a:solidFill>
            <a:srgbClr val="F4F7FA"/>
          </a:solidFill>
          <a:ln w="15240">
            <a:solidFill>
              <a:srgbClr val="E5EA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58952" y="3125470"/>
            <a:ext cx="100584" cy="100584"/>
          </a:xfrm>
          <a:prstGeom prst="roundRect">
            <a:avLst>
              <a:gd name="adj" fmla="val 50000"/>
            </a:avLst>
          </a:prstGeom>
          <a:solidFill>
            <a:srgbClr val="0280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106424" y="3029331"/>
            <a:ext cx="10360152" cy="292862"/>
          </a:xfrm>
          <a:prstGeom prst="rect">
            <a:avLst/>
          </a:prstGeom>
          <a:noFill/>
        </p:spPr>
        <p:txBody>
          <a:bodyPr wrap="square" lIns="0" rIns="0" tIns="0" bIns="0" anchor="ctr">
            <a:spAutoFit/>
          </a:bodyPr>
          <a:lstStyle/>
          <a:p>
            <a:pPr algn="l">
              <a:lnSpc>
                <a:spcPts val="1297"/>
              </a:lnSpc>
              <a:spcAft>
                <a:spcPts val="0"/>
              </a:spcAft>
            </a:pPr>
            <a:r>
              <a:rPr sz="1100" b="0" i="0">
                <a:solidFill>
                  <a:srgbClr val="141B2E"/>
                </a:solidFill>
                <a:latin typeface="Consolas"/>
              </a:rPr>
              <a:t>mcpServers</a:t>
            </a:r>
            <a:r>
              <a:rPr sz="1100" b="0" i="0">
                <a:solidFill>
                  <a:srgbClr val="141B2E"/>
                </a:solidFill>
                <a:latin typeface="Arial"/>
              </a:rPr>
              <a:t> — the root: all the servers of this scope. </a:t>
            </a:r>
            <a:r>
              <a:rPr sz="1100" b="0" i="0">
                <a:solidFill>
                  <a:srgbClr val="141B2E"/>
                </a:solidFill>
                <a:latin typeface="Consolas"/>
              </a:rPr>
              <a:t>"github"</a:t>
            </a:r>
            <a:r>
              <a:rPr sz="1100" b="0" i="0">
                <a:solidFill>
                  <a:srgbClr val="141B2E"/>
                </a:solidFill>
                <a:latin typeface="Arial"/>
              </a:rPr>
              <a:t> — the server's name: it is the name the agent calls the tools under, </a:t>
            </a:r>
            <a:r>
              <a:rPr sz="1100" b="0" i="0">
                <a:solidFill>
                  <a:srgbClr val="141B2E"/>
                </a:solidFill>
                <a:latin typeface="Consolas"/>
              </a:rPr>
              <a:t>mcp__github__…</a:t>
            </a:r>
            <a:r>
              <a:rPr sz="1100" b="0" i="0">
                <a:solidFill>
                  <a:srgbClr val="141B2E"/>
                </a:solidFill>
                <a:latin typeface="Arial"/>
              </a:rPr>
              <a:t>.</a:t>
            </a:r>
          </a:p>
        </p:txBody>
      </p:sp>
      <p:sp>
        <p:nvSpPr>
          <p:cNvPr id="9" name="Rounded Rectangle 8"/>
          <p:cNvSpPr/>
          <p:nvPr/>
        </p:nvSpPr>
        <p:spPr>
          <a:xfrm>
            <a:off x="758952" y="3418332"/>
            <a:ext cx="100584" cy="100584"/>
          </a:xfrm>
          <a:prstGeom prst="roundRect">
            <a:avLst>
              <a:gd name="adj" fmla="val 50000"/>
            </a:avLst>
          </a:prstGeom>
          <a:solidFill>
            <a:srgbClr val="0280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106424" y="3322193"/>
            <a:ext cx="10360152" cy="292862"/>
          </a:xfrm>
          <a:prstGeom prst="rect">
            <a:avLst/>
          </a:prstGeom>
          <a:noFill/>
        </p:spPr>
        <p:txBody>
          <a:bodyPr wrap="square" lIns="0" rIns="0" tIns="0" bIns="0" anchor="ctr">
            <a:spAutoFit/>
          </a:bodyPr>
          <a:lstStyle/>
          <a:p>
            <a:pPr algn="l">
              <a:lnSpc>
                <a:spcPts val="1297"/>
              </a:lnSpc>
              <a:spcAft>
                <a:spcPts val="0"/>
              </a:spcAft>
            </a:pPr>
            <a:r>
              <a:rPr sz="1100" b="0" i="0">
                <a:solidFill>
                  <a:srgbClr val="141B2E"/>
                </a:solidFill>
                <a:latin typeface="Consolas"/>
              </a:rPr>
              <a:t>"command"</a:t>
            </a:r>
            <a:r>
              <a:rPr sz="1100" b="0" i="0">
                <a:solidFill>
                  <a:srgbClr val="141B2E"/>
                </a:solidFill>
                <a:latin typeface="Arial"/>
              </a:rPr>
              <a:t> and </a:t>
            </a:r>
            <a:r>
              <a:rPr sz="1100" b="0" i="0">
                <a:solidFill>
                  <a:srgbClr val="141B2E"/>
                </a:solidFill>
                <a:latin typeface="Consolas"/>
              </a:rPr>
              <a:t>"args"</a:t>
            </a:r>
            <a:r>
              <a:rPr sz="1100" b="0" i="0">
                <a:solidFill>
                  <a:srgbClr val="141B2E"/>
                </a:solidFill>
                <a:latin typeface="Arial"/>
              </a:rPr>
              <a:t> — what starts it and what exactly gets started: the server's own package.</a:t>
            </a:r>
          </a:p>
        </p:txBody>
      </p:sp>
      <p:sp>
        <p:nvSpPr>
          <p:cNvPr id="11" name="Rounded Rectangle 10"/>
          <p:cNvSpPr/>
          <p:nvPr/>
        </p:nvSpPr>
        <p:spPr>
          <a:xfrm>
            <a:off x="758952" y="3711194"/>
            <a:ext cx="100584" cy="100584"/>
          </a:xfrm>
          <a:prstGeom prst="roundRect">
            <a:avLst>
              <a:gd name="adj" fmla="val 50000"/>
            </a:avLst>
          </a:prstGeom>
          <a:solidFill>
            <a:srgbClr val="0280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106424" y="3615055"/>
            <a:ext cx="10360152" cy="292862"/>
          </a:xfrm>
          <a:prstGeom prst="rect">
            <a:avLst/>
          </a:prstGeom>
          <a:noFill/>
        </p:spPr>
        <p:txBody>
          <a:bodyPr wrap="square" lIns="0" rIns="0" tIns="0" bIns="0" anchor="ctr">
            <a:spAutoFit/>
          </a:bodyPr>
          <a:lstStyle/>
          <a:p>
            <a:pPr algn="l">
              <a:lnSpc>
                <a:spcPts val="1297"/>
              </a:lnSpc>
              <a:spcAft>
                <a:spcPts val="0"/>
              </a:spcAft>
            </a:pPr>
            <a:r>
              <a:rPr sz="1100" b="0" i="0">
                <a:solidFill>
                  <a:srgbClr val="141B2E"/>
                </a:solidFill>
                <a:latin typeface="Consolas"/>
              </a:rPr>
              <a:t>"env"</a:t>
            </a:r>
            <a:r>
              <a:rPr sz="1100" b="0" i="0">
                <a:solidFill>
                  <a:srgbClr val="141B2E"/>
                </a:solidFill>
                <a:latin typeface="Arial"/>
              </a:rPr>
              <a:t> — the process's environment; </a:t>
            </a:r>
            <a:r>
              <a:rPr sz="1100" b="0" i="0">
                <a:solidFill>
                  <a:srgbClr val="141B2E"/>
                </a:solidFill>
                <a:latin typeface="Consolas"/>
              </a:rPr>
              <a:t>${GITHUB_PAT}</a:t>
            </a:r>
            <a:r>
              <a:rPr sz="1100" b="0" i="0">
                <a:solidFill>
                  <a:srgbClr val="141B2E"/>
                </a:solidFill>
                <a:latin typeface="Arial"/>
              </a:rPr>
              <a:t> is a substitution, not the secret itself.</a:t>
            </a:r>
          </a:p>
        </p:txBody>
      </p:sp>
      <p:pic>
        <p:nvPicPr>
          <p:cNvPr id="13" name="Picture 12" descr="mcp-n16-prioritet-en.png"/>
          <p:cNvPicPr>
            <a:picLocks noChangeAspect="1"/>
          </p:cNvPicPr>
          <p:nvPr/>
        </p:nvPicPr>
        <p:blipFill>
          <a:blip r:embed="rId2"/>
          <a:stretch>
            <a:fillRect/>
          </a:stretch>
        </p:blipFill>
        <p:spPr>
          <a:xfrm>
            <a:off x="1554646" y="4291965"/>
            <a:ext cx="9079659" cy="1986175"/>
          </a:xfrm>
          <a:prstGeom prst="rect">
            <a:avLst/>
          </a:prstGeom>
        </p:spPr>
      </p:pic>
      <p:sp>
        <p:nvSpPr>
          <p:cNvPr id="14" name="TextBox 13"/>
          <p:cNvSpPr txBox="1"/>
          <p:nvPr/>
        </p:nvSpPr>
        <p:spPr>
          <a:xfrm>
            <a:off x="10957255" y="6437376"/>
            <a:ext cx="914400" cy="274320"/>
          </a:xfrm>
          <a:prstGeom prst="rect">
            <a:avLst/>
          </a:prstGeom>
          <a:noFill/>
        </p:spPr>
        <p:txBody>
          <a:bodyPr wrap="square" lIns="0" rIns="0" tIns="0" bIns="0" anchor="t">
            <a:spAutoFit/>
          </a:bodyPr>
          <a:lstStyle/>
          <a:p>
            <a:pPr algn="r">
              <a:lnSpc>
                <a:spcPts val="1238"/>
              </a:lnSpc>
              <a:spcAft>
                <a:spcPts val="0"/>
              </a:spcAft>
            </a:pPr>
            <a:r>
              <a:rPr sz="1050" b="0" i="0">
                <a:solidFill>
                  <a:srgbClr val="6B7685"/>
                </a:solidFill>
                <a:latin typeface="Arial"/>
              </a:rPr>
              <a:t>16</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02920" y="310896"/>
            <a:ext cx="11183112" cy="431291"/>
          </a:xfrm>
          <a:prstGeom prst="rect">
            <a:avLst/>
          </a:prstGeom>
          <a:noFill/>
        </p:spPr>
        <p:txBody>
          <a:bodyPr wrap="square" lIns="0" rIns="0" tIns="0" bIns="0" anchor="t">
            <a:spAutoFit/>
          </a:bodyPr>
          <a:lstStyle/>
          <a:p>
            <a:pPr algn="l">
              <a:lnSpc>
                <a:spcPts val="2963"/>
              </a:lnSpc>
              <a:spcAft>
                <a:spcPts val="0"/>
              </a:spcAft>
            </a:pPr>
            <a:r>
              <a:rPr sz="2600" b="1" i="0">
                <a:solidFill>
                  <a:srgbClr val="141B2E"/>
                </a:solidFill>
                <a:latin typeface="Arial"/>
              </a:rPr>
              <a:t>Connected does not mean the agent goes there</a:t>
            </a:r>
          </a:p>
        </p:txBody>
      </p:sp>
      <p:sp>
        <p:nvSpPr>
          <p:cNvPr id="3" name="Rectangle 2"/>
          <p:cNvSpPr/>
          <p:nvPr/>
        </p:nvSpPr>
        <p:spPr>
          <a:xfrm>
            <a:off x="502920" y="1446123"/>
            <a:ext cx="32004" cy="525780"/>
          </a:xfrm>
          <a:prstGeom prst="rect">
            <a:avLst/>
          </a:prstGeom>
          <a:solidFill>
            <a:srgbClr val="0280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2668" y="1500987"/>
            <a:ext cx="10730484" cy="416052"/>
          </a:xfrm>
          <a:prstGeom prst="rect">
            <a:avLst/>
          </a:prstGeom>
          <a:noFill/>
        </p:spPr>
        <p:txBody>
          <a:bodyPr wrap="square" lIns="0" rIns="0" tIns="0" bIns="0" anchor="ctr">
            <a:spAutoFit/>
          </a:bodyPr>
          <a:lstStyle/>
          <a:p>
            <a:pPr algn="l">
              <a:lnSpc>
                <a:spcPts val="1638"/>
              </a:lnSpc>
              <a:spcAft>
                <a:spcPts val="300"/>
              </a:spcAft>
            </a:pPr>
            <a:r>
              <a:rPr sz="1300" b="0" i="1">
                <a:solidFill>
                  <a:srgbClr val="6B7685"/>
                </a:solidFill>
                <a:latin typeface="Arial"/>
              </a:rPr>
              <a:t>"Connected" answers for the process: it came up, it answered the handshake, it handed over the list of its tools. About whether the agent went to it in your task, there is nothing in that marker.</a:t>
            </a:r>
          </a:p>
        </p:txBody>
      </p:sp>
      <p:sp>
        <p:nvSpPr>
          <p:cNvPr id="5" name="Rounded Rectangle 4"/>
          <p:cNvSpPr/>
          <p:nvPr/>
        </p:nvSpPr>
        <p:spPr>
          <a:xfrm>
            <a:off x="502920" y="2675991"/>
            <a:ext cx="11183112" cy="1301877"/>
          </a:xfrm>
          <a:prstGeom prst="roundRect">
            <a:avLst>
              <a:gd name="adj" fmla="val 23412"/>
            </a:avLst>
          </a:prstGeom>
          <a:solidFill>
            <a:srgbClr val="F4F7FA"/>
          </a:solidFill>
          <a:ln w="15240">
            <a:solidFill>
              <a:srgbClr val="E5EA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758952" y="3111474"/>
            <a:ext cx="100584" cy="100584"/>
          </a:xfrm>
          <a:prstGeom prst="roundRect">
            <a:avLst>
              <a:gd name="adj" fmla="val 50000"/>
            </a:avLst>
          </a:prstGeom>
          <a:solidFill>
            <a:srgbClr val="0280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106424" y="2895447"/>
            <a:ext cx="10360152" cy="532638"/>
          </a:xfrm>
          <a:prstGeom prst="rect">
            <a:avLst/>
          </a:prstGeom>
          <a:noFill/>
        </p:spPr>
        <p:txBody>
          <a:bodyPr wrap="square" lIns="0" rIns="0" tIns="0" bIns="0" anchor="ctr">
            <a:spAutoFit/>
          </a:bodyPr>
          <a:lstStyle/>
          <a:p>
            <a:pPr algn="l">
              <a:lnSpc>
                <a:spcPts val="1593"/>
              </a:lnSpc>
              <a:spcAft>
                <a:spcPts val="0"/>
              </a:spcAft>
            </a:pPr>
            <a:r>
              <a:rPr sz="1350" b="1" i="0">
                <a:solidFill>
                  <a:srgbClr val="141B2E"/>
                </a:solidFill>
                <a:latin typeface="Arial"/>
              </a:rPr>
              <a:t>The proof call.</a:t>
            </a:r>
            <a:r>
              <a:rPr sz="1350" b="0" i="0">
                <a:solidFill>
                  <a:srgbClr val="141B2E"/>
                </a:solidFill>
                <a:latin typeface="Arial"/>
              </a:rPr>
              <a:t> Name the server in the request by name: "using the tracker server, print the list of open issues, then prepare a draft for each one".</a:t>
            </a:r>
          </a:p>
        </p:txBody>
      </p:sp>
      <p:sp>
        <p:nvSpPr>
          <p:cNvPr id="8" name="Rounded Rectangle 7"/>
          <p:cNvSpPr/>
          <p:nvPr/>
        </p:nvSpPr>
        <p:spPr>
          <a:xfrm>
            <a:off x="758952" y="3542957"/>
            <a:ext cx="100584" cy="100584"/>
          </a:xfrm>
          <a:prstGeom prst="roundRect">
            <a:avLst>
              <a:gd name="adj" fmla="val 50000"/>
            </a:avLst>
          </a:prstGeom>
          <a:solidFill>
            <a:srgbClr val="0280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106424" y="3428085"/>
            <a:ext cx="10360152" cy="330327"/>
          </a:xfrm>
          <a:prstGeom prst="rect">
            <a:avLst/>
          </a:prstGeom>
          <a:noFill/>
        </p:spPr>
        <p:txBody>
          <a:bodyPr wrap="square" lIns="0" rIns="0" tIns="0" bIns="0" anchor="ctr">
            <a:spAutoFit/>
          </a:bodyPr>
          <a:lstStyle/>
          <a:p>
            <a:pPr algn="l">
              <a:lnSpc>
                <a:spcPts val="1593"/>
              </a:lnSpc>
              <a:spcAft>
                <a:spcPts val="0"/>
              </a:spcAft>
            </a:pPr>
            <a:r>
              <a:rPr sz="1350" b="1" i="0">
                <a:solidFill>
                  <a:srgbClr val="141B2E"/>
                </a:solidFill>
                <a:latin typeface="Arial"/>
              </a:rPr>
              <a:t>The sign in the output.</a:t>
            </a:r>
            <a:r>
              <a:rPr sz="1350" b="0" i="0">
                <a:solidFill>
                  <a:srgbClr val="141B2E"/>
                </a:solidFill>
                <a:latin typeface="Arial"/>
              </a:rPr>
              <a:t> The tool call is signed with the server's name.</a:t>
            </a:r>
          </a:p>
        </p:txBody>
      </p:sp>
      <p:sp>
        <p:nvSpPr>
          <p:cNvPr id="10" name="Rounded Rectangle 9"/>
          <p:cNvSpPr/>
          <p:nvPr/>
        </p:nvSpPr>
        <p:spPr>
          <a:xfrm>
            <a:off x="502920" y="4645380"/>
            <a:ext cx="82296" cy="982980"/>
          </a:xfrm>
          <a:prstGeom prst="roundRect">
            <a:avLst>
              <a:gd name="adj" fmla="val 50000"/>
            </a:avLst>
          </a:prstGeom>
          <a:solidFill>
            <a:srgbClr val="F0AB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59536" y="4773396"/>
            <a:ext cx="10643616" cy="726948"/>
          </a:xfrm>
          <a:prstGeom prst="rect">
            <a:avLst/>
          </a:prstGeom>
          <a:noFill/>
        </p:spPr>
        <p:txBody>
          <a:bodyPr wrap="square" lIns="0" rIns="0" tIns="0" bIns="0" anchor="ctr">
            <a:spAutoFit/>
          </a:bodyPr>
          <a:lstStyle/>
          <a:p>
            <a:pPr algn="l">
              <a:lnSpc>
                <a:spcPts val="1860"/>
              </a:lnSpc>
              <a:spcAft>
                <a:spcPts val="300"/>
              </a:spcAft>
            </a:pPr>
            <a:r>
              <a:rPr sz="1500" b="1" i="0">
                <a:solidFill>
                  <a:srgbClr val="141B2E"/>
                </a:solidFill>
                <a:latin typeface="Arial"/>
              </a:rPr>
              <a:t>The absence of errors is not enough. There will be no error when no signals are arriving at all either — you have to watch not only for whether there is a failure, but for whether there is a connection to the thing you are watching.</a:t>
            </a:r>
          </a:p>
        </p:txBody>
      </p:sp>
      <p:sp>
        <p:nvSpPr>
          <p:cNvPr id="12" name="TextBox 11"/>
          <p:cNvSpPr txBox="1"/>
          <p:nvPr/>
        </p:nvSpPr>
        <p:spPr>
          <a:xfrm>
            <a:off x="10957255" y="6437376"/>
            <a:ext cx="914400" cy="274320"/>
          </a:xfrm>
          <a:prstGeom prst="rect">
            <a:avLst/>
          </a:prstGeom>
          <a:noFill/>
        </p:spPr>
        <p:txBody>
          <a:bodyPr wrap="square" lIns="0" rIns="0" tIns="0" bIns="0" anchor="t">
            <a:spAutoFit/>
          </a:bodyPr>
          <a:lstStyle/>
          <a:p>
            <a:pPr algn="r">
              <a:lnSpc>
                <a:spcPts val="1238"/>
              </a:lnSpc>
              <a:spcAft>
                <a:spcPts val="0"/>
              </a:spcAft>
            </a:pPr>
            <a:r>
              <a:rPr sz="1050" b="0" i="0">
                <a:solidFill>
                  <a:srgbClr val="6B7685"/>
                </a:solidFill>
                <a:latin typeface="Arial"/>
              </a:rPr>
              <a:t>17</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02920" y="310896"/>
            <a:ext cx="11183112" cy="807720"/>
          </a:xfrm>
          <a:prstGeom prst="rect">
            <a:avLst/>
          </a:prstGeom>
          <a:noFill/>
        </p:spPr>
        <p:txBody>
          <a:bodyPr wrap="square" lIns="0" rIns="0" tIns="0" bIns="0" anchor="t">
            <a:spAutoFit/>
          </a:bodyPr>
          <a:lstStyle/>
          <a:p>
            <a:pPr algn="l">
              <a:lnSpc>
                <a:spcPts val="2963"/>
              </a:lnSpc>
              <a:spcAft>
                <a:spcPts val="0"/>
              </a:spcAft>
            </a:pPr>
            <a:r>
              <a:rPr sz="2600" b="1" i="0">
                <a:solidFill>
                  <a:srgbClr val="141B2E"/>
                </a:solidFill>
                <a:latin typeface="Arial"/>
              </a:rPr>
              <a:t>The standing cost is the same: your own, somebody else's, local, remote</a:t>
            </a:r>
          </a:p>
        </p:txBody>
      </p:sp>
      <p:pic>
        <p:nvPicPr>
          <p:cNvPr id="3" name="Picture 2" descr="mcp-n18-dolya-konteksta-en.png"/>
          <p:cNvPicPr>
            <a:picLocks noChangeAspect="1"/>
          </p:cNvPicPr>
          <p:nvPr/>
        </p:nvPicPr>
        <p:blipFill>
          <a:blip r:embed="rId2"/>
          <a:stretch>
            <a:fillRect/>
          </a:stretch>
        </p:blipFill>
        <p:spPr>
          <a:xfrm>
            <a:off x="1646623" y="1319784"/>
            <a:ext cx="8895704" cy="2168327"/>
          </a:xfrm>
          <a:prstGeom prst="rect">
            <a:avLst/>
          </a:prstGeom>
        </p:spPr>
      </p:pic>
      <p:sp>
        <p:nvSpPr>
          <p:cNvPr id="4" name="Rounded Rectangle 3"/>
          <p:cNvSpPr/>
          <p:nvPr/>
        </p:nvSpPr>
        <p:spPr>
          <a:xfrm>
            <a:off x="502920" y="3652703"/>
            <a:ext cx="82296" cy="817625"/>
          </a:xfrm>
          <a:prstGeom prst="roundRect">
            <a:avLst>
              <a:gd name="adj" fmla="val 50000"/>
            </a:avLst>
          </a:prstGeom>
          <a:solidFill>
            <a:srgbClr val="F0AB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59536" y="3780719"/>
            <a:ext cx="10643616" cy="561593"/>
          </a:xfrm>
          <a:prstGeom prst="rect">
            <a:avLst/>
          </a:prstGeom>
          <a:noFill/>
        </p:spPr>
        <p:txBody>
          <a:bodyPr wrap="square" lIns="0" rIns="0" tIns="0" bIns="0" anchor="ctr">
            <a:spAutoFit/>
          </a:bodyPr>
          <a:lstStyle/>
          <a:p>
            <a:pPr algn="l">
              <a:lnSpc>
                <a:spcPts val="1426"/>
              </a:lnSpc>
              <a:spcAft>
                <a:spcPts val="300"/>
              </a:spcAft>
            </a:pPr>
            <a:r>
              <a:rPr sz="1150" b="1" i="0">
                <a:solidFill>
                  <a:srgbClr val="141B2E"/>
                </a:solidFill>
                <a:latin typeface="Arial"/>
              </a:rPr>
              <a:t>The standing cost is set by the number of tools.</a:t>
            </a:r>
            <a:r>
              <a:rPr sz="1150" b="1" i="0">
                <a:solidFill>
                  <a:srgbClr val="141B2E"/>
                </a:solidFill>
                <a:latin typeface="Arial"/>
              </a:rPr>
              <a:t> The tool names of every server and the instructions about it hang in the context always. Your own server, somebody else's locally, somebody else's remotely all pay it identically: the transport and the authorship make no difference. Free of it are a direct API call and a command like </a:t>
            </a:r>
            <a:r>
              <a:rPr sz="1150" b="1" i="0">
                <a:solidFill>
                  <a:srgbClr val="141B2E"/>
                </a:solidFill>
                <a:latin typeface="Consolas"/>
              </a:rPr>
              <a:t>gh</a:t>
            </a:r>
            <a:r>
              <a:rPr sz="1150" b="1" i="0">
                <a:solidFill>
                  <a:srgbClr val="141B2E"/>
                </a:solidFill>
                <a:latin typeface="Arial"/>
              </a:rPr>
              <a:t> — they have no list of capabilities hanging in the context between calls.</a:t>
            </a:r>
          </a:p>
        </p:txBody>
      </p:sp>
      <p:sp>
        <p:nvSpPr>
          <p:cNvPr id="6" name="Rounded Rectangle 5"/>
          <p:cNvSpPr/>
          <p:nvPr/>
        </p:nvSpPr>
        <p:spPr>
          <a:xfrm>
            <a:off x="502920" y="4634921"/>
            <a:ext cx="82296" cy="731012"/>
          </a:xfrm>
          <a:prstGeom prst="roundRect">
            <a:avLst>
              <a:gd name="adj" fmla="val 50000"/>
            </a:avLst>
          </a:prstGeom>
          <a:solidFill>
            <a:srgbClr val="F0AB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59536" y="4762937"/>
            <a:ext cx="10643616" cy="474979"/>
          </a:xfrm>
          <a:prstGeom prst="rect">
            <a:avLst/>
          </a:prstGeom>
          <a:noFill/>
        </p:spPr>
        <p:txBody>
          <a:bodyPr wrap="square" lIns="0" rIns="0" tIns="0" bIns="0" anchor="ctr">
            <a:spAutoFit/>
          </a:bodyPr>
          <a:lstStyle/>
          <a:p>
            <a:pPr algn="l">
              <a:lnSpc>
                <a:spcPts val="1798"/>
              </a:lnSpc>
              <a:spcAft>
                <a:spcPts val="300"/>
              </a:spcAft>
            </a:pPr>
            <a:r>
              <a:rPr sz="1450" b="1" i="0">
                <a:solidFill>
                  <a:srgbClr val="141B2E"/>
                </a:solidFill>
                <a:latin typeface="Arial"/>
              </a:rPr>
              <a:t>To yourself.</a:t>
            </a:r>
            <a:r>
              <a:rPr sz="1450" b="1" i="0">
                <a:solidFill>
                  <a:srgbClr val="141B2E"/>
                </a:solidFill>
                <a:latin typeface="Arial"/>
              </a:rPr>
              <a:t> How many servers do you have connected right now and how many tools do they describe? You pay that cost in every session — including the one in which the agent did not go to a single one of them all day.</a:t>
            </a:r>
          </a:p>
        </p:txBody>
      </p:sp>
      <p:sp>
        <p:nvSpPr>
          <p:cNvPr id="8" name="Rounded Rectangle 7"/>
          <p:cNvSpPr/>
          <p:nvPr/>
        </p:nvSpPr>
        <p:spPr>
          <a:xfrm>
            <a:off x="502920" y="5530525"/>
            <a:ext cx="82296" cy="594016"/>
          </a:xfrm>
          <a:prstGeom prst="roundRect">
            <a:avLst>
              <a:gd name="adj" fmla="val 50000"/>
            </a:avLst>
          </a:prstGeom>
          <a:solidFill>
            <a:srgbClr val="F0AB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59536" y="5658541"/>
            <a:ext cx="10643616" cy="337984"/>
          </a:xfrm>
          <a:prstGeom prst="rect">
            <a:avLst/>
          </a:prstGeom>
          <a:noFill/>
        </p:spPr>
        <p:txBody>
          <a:bodyPr wrap="square" lIns="0" rIns="0" tIns="0" bIns="0" anchor="ctr">
            <a:spAutoFit/>
          </a:bodyPr>
          <a:lstStyle/>
          <a:p>
            <a:pPr algn="l">
              <a:lnSpc>
                <a:spcPts val="1364"/>
              </a:lnSpc>
              <a:spcAft>
                <a:spcPts val="300"/>
              </a:spcAft>
            </a:pPr>
            <a:r>
              <a:rPr sz="1100" b="1" i="0">
                <a:solidFill>
                  <a:srgbClr val="141B2E"/>
                </a:solidFill>
                <a:latin typeface="Arial"/>
              </a:rPr>
              <a:t>To check at your own place: whether </a:t>
            </a:r>
            <a:r>
              <a:rPr sz="1100" b="1" i="0">
                <a:solidFill>
                  <a:srgbClr val="141B2E"/>
                </a:solidFill>
                <a:latin typeface="Consolas"/>
              </a:rPr>
              <a:t>ENABLE_TOOL_SEARCH=false</a:t>
            </a:r>
            <a:r>
              <a:rPr sz="1100" b="1" i="0">
                <a:solidFill>
                  <a:srgbClr val="141B2E"/>
                </a:solidFill>
                <a:latin typeface="Arial"/>
              </a:rPr>
              <a:t> is set, and what the card of a particular server actually shows in a session — the command does not go out of date, unlike the figure itself.</a:t>
            </a:r>
          </a:p>
        </p:txBody>
      </p:sp>
      <p:sp>
        <p:nvSpPr>
          <p:cNvPr id="10" name="TextBox 9"/>
          <p:cNvSpPr txBox="1"/>
          <p:nvPr/>
        </p:nvSpPr>
        <p:spPr>
          <a:xfrm>
            <a:off x="10957255" y="6437376"/>
            <a:ext cx="914400" cy="274320"/>
          </a:xfrm>
          <a:prstGeom prst="rect">
            <a:avLst/>
          </a:prstGeom>
          <a:noFill/>
        </p:spPr>
        <p:txBody>
          <a:bodyPr wrap="square" lIns="0" rIns="0" tIns="0" bIns="0" anchor="t">
            <a:spAutoFit/>
          </a:bodyPr>
          <a:lstStyle/>
          <a:p>
            <a:pPr algn="r">
              <a:lnSpc>
                <a:spcPts val="1238"/>
              </a:lnSpc>
              <a:spcAft>
                <a:spcPts val="0"/>
              </a:spcAft>
            </a:pPr>
            <a:r>
              <a:rPr sz="1050" b="0" i="0">
                <a:solidFill>
                  <a:srgbClr val="6B7685"/>
                </a:solidFill>
                <a:latin typeface="Arial"/>
              </a:rPr>
              <a:t>18</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02920" y="310896"/>
            <a:ext cx="11183112" cy="807720"/>
          </a:xfrm>
          <a:prstGeom prst="rect">
            <a:avLst/>
          </a:prstGeom>
          <a:noFill/>
        </p:spPr>
        <p:txBody>
          <a:bodyPr wrap="square" lIns="0" rIns="0" tIns="0" bIns="0" anchor="t">
            <a:spAutoFit/>
          </a:bodyPr>
          <a:lstStyle/>
          <a:p>
            <a:pPr algn="l">
              <a:lnSpc>
                <a:spcPts val="2963"/>
              </a:lnSpc>
              <a:spcAft>
                <a:spcPts val="0"/>
              </a:spcAft>
            </a:pPr>
            <a:r>
              <a:rPr sz="2600" b="1" i="0">
                <a:solidFill>
                  <a:srgbClr val="141B2E"/>
                </a:solidFill>
                <a:latin typeface="Arial"/>
              </a:rPr>
              <a:t>Someone else's instruction in an issue made the agent publish private code</a:t>
            </a:r>
          </a:p>
        </p:txBody>
      </p:sp>
      <p:sp>
        <p:nvSpPr>
          <p:cNvPr id="3" name="Rounded Rectangle 2"/>
          <p:cNvSpPr/>
          <p:nvPr/>
        </p:nvSpPr>
        <p:spPr>
          <a:xfrm>
            <a:off x="502920" y="1319784"/>
            <a:ext cx="82296" cy="683768"/>
          </a:xfrm>
          <a:prstGeom prst="roundRect">
            <a:avLst>
              <a:gd name="adj" fmla="val 50000"/>
            </a:avLst>
          </a:prstGeom>
          <a:solidFill>
            <a:srgbClr val="F0AB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59536" y="1447800"/>
            <a:ext cx="10643616" cy="427736"/>
          </a:xfrm>
          <a:prstGeom prst="rect">
            <a:avLst/>
          </a:prstGeom>
          <a:noFill/>
        </p:spPr>
        <p:txBody>
          <a:bodyPr wrap="square" lIns="0" rIns="0" tIns="0" bIns="0" anchor="ctr">
            <a:spAutoFit/>
          </a:bodyPr>
          <a:lstStyle/>
          <a:p>
            <a:pPr algn="l">
              <a:lnSpc>
                <a:spcPts val="1612"/>
              </a:lnSpc>
              <a:spcAft>
                <a:spcPts val="300"/>
              </a:spcAft>
            </a:pPr>
            <a:r>
              <a:rPr sz="1300" b="1" i="0">
                <a:solidFill>
                  <a:srgbClr val="141B2E"/>
                </a:solidFill>
                <a:latin typeface="Arial"/>
              </a:rPr>
              <a:t>Let us go back to the co-building screen. We crossed out the line "all repositories, including the private ones" — this is exactly the case where that decided the matter.</a:t>
            </a:r>
          </a:p>
        </p:txBody>
      </p:sp>
      <p:sp>
        <p:nvSpPr>
          <p:cNvPr id="5" name="Rounded Rectangle 4"/>
          <p:cNvSpPr/>
          <p:nvPr/>
        </p:nvSpPr>
        <p:spPr>
          <a:xfrm>
            <a:off x="502920" y="2168144"/>
            <a:ext cx="82296" cy="888492"/>
          </a:xfrm>
          <a:prstGeom prst="roundRect">
            <a:avLst>
              <a:gd name="adj" fmla="val 50000"/>
            </a:avLst>
          </a:prstGeom>
          <a:solidFill>
            <a:srgbClr val="F0AB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59536" y="2296160"/>
            <a:ext cx="10643616" cy="632460"/>
          </a:xfrm>
          <a:prstGeom prst="rect">
            <a:avLst/>
          </a:prstGeom>
          <a:noFill/>
        </p:spPr>
        <p:txBody>
          <a:bodyPr wrap="square" lIns="0" rIns="0" tIns="0" bIns="0" anchor="ctr">
            <a:spAutoFit/>
          </a:bodyPr>
          <a:lstStyle/>
          <a:p>
            <a:pPr algn="l">
              <a:lnSpc>
                <a:spcPts val="1612"/>
              </a:lnSpc>
              <a:spcAft>
                <a:spcPts val="300"/>
              </a:spcAft>
            </a:pPr>
            <a:r>
              <a:rPr sz="1300" b="1" i="0">
                <a:solidFill>
                  <a:srgbClr val="141B2E"/>
                </a:solidFill>
                <a:latin typeface="Arial"/>
              </a:rPr>
              <a:t>The lethal trifecta</a:t>
            </a:r>
            <a:r>
              <a:rPr sz="1300" b="1" i="0">
                <a:solidFill>
                  <a:srgbClr val="141B2E"/>
                </a:solidFill>
                <a:latin typeface="Arial"/>
              </a:rPr>
              <a:t> (Simon Willison, 16.06.2025): access to private data + the processing of untrusted external content + a channel to the outside. With all three present, it is enough for an attacker to write text that the agent will read in the course of ordinary work.</a:t>
            </a:r>
          </a:p>
        </p:txBody>
      </p:sp>
      <p:sp>
        <p:nvSpPr>
          <p:cNvPr id="7" name="Rounded Rectangle 6"/>
          <p:cNvSpPr/>
          <p:nvPr/>
        </p:nvSpPr>
        <p:spPr>
          <a:xfrm>
            <a:off x="502920" y="3221228"/>
            <a:ext cx="11183112" cy="2992500"/>
          </a:xfrm>
          <a:prstGeom prst="roundRect">
            <a:avLst>
              <a:gd name="adj" fmla="val 10185"/>
            </a:avLst>
          </a:prstGeom>
          <a:solidFill>
            <a:srgbClr val="FFFFFF"/>
          </a:solidFill>
          <a:ln w="1778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85800" y="3404108"/>
            <a:ext cx="1375830" cy="282067"/>
          </a:xfrm>
          <a:prstGeom prst="rect">
            <a:avLst/>
          </a:prstGeom>
          <a:noFill/>
        </p:spPr>
        <p:txBody>
          <a:bodyPr wrap="square" lIns="0" rIns="0" tIns="0" bIns="0" anchor="t">
            <a:spAutoFit/>
          </a:bodyPr>
          <a:lstStyle/>
          <a:p>
            <a:pPr algn="l">
              <a:lnSpc>
                <a:spcPts val="1265"/>
              </a:lnSpc>
              <a:spcAft>
                <a:spcPts val="0"/>
              </a:spcAft>
            </a:pPr>
            <a:r>
              <a:rPr sz="1150" b="1" i="0">
                <a:solidFill>
                  <a:srgbClr val="6B7685"/>
                </a:solidFill>
                <a:latin typeface="Arial"/>
              </a:rPr>
              <a:t>LAYER</a:t>
            </a:r>
          </a:p>
        </p:txBody>
      </p:sp>
      <p:sp>
        <p:nvSpPr>
          <p:cNvPr id="9" name="TextBox 8"/>
          <p:cNvSpPr txBox="1"/>
          <p:nvPr/>
        </p:nvSpPr>
        <p:spPr>
          <a:xfrm>
            <a:off x="2207934" y="3404108"/>
            <a:ext cx="4986053" cy="282067"/>
          </a:xfrm>
          <a:prstGeom prst="rect">
            <a:avLst/>
          </a:prstGeom>
          <a:noFill/>
        </p:spPr>
        <p:txBody>
          <a:bodyPr wrap="square" lIns="0" rIns="0" tIns="0" bIns="0" anchor="t">
            <a:spAutoFit/>
          </a:bodyPr>
          <a:lstStyle/>
          <a:p>
            <a:pPr algn="l">
              <a:lnSpc>
                <a:spcPts val="1265"/>
              </a:lnSpc>
              <a:spcAft>
                <a:spcPts val="0"/>
              </a:spcAft>
            </a:pPr>
            <a:r>
              <a:rPr sz="1150" b="1" i="0">
                <a:solidFill>
                  <a:srgbClr val="6B7685"/>
                </a:solidFill>
                <a:latin typeface="Arial"/>
              </a:rPr>
              <a:t>WHAT HAPPENED</a:t>
            </a:r>
          </a:p>
        </p:txBody>
      </p:sp>
      <p:sp>
        <p:nvSpPr>
          <p:cNvPr id="10" name="TextBox 9"/>
          <p:cNvSpPr txBox="1"/>
          <p:nvPr/>
        </p:nvSpPr>
        <p:spPr>
          <a:xfrm>
            <a:off x="7340292" y="3404108"/>
            <a:ext cx="4016555" cy="282067"/>
          </a:xfrm>
          <a:prstGeom prst="rect">
            <a:avLst/>
          </a:prstGeom>
          <a:noFill/>
        </p:spPr>
        <p:txBody>
          <a:bodyPr wrap="square" lIns="0" rIns="0" tIns="0" bIns="0" anchor="t">
            <a:spAutoFit/>
          </a:bodyPr>
          <a:lstStyle/>
          <a:p>
            <a:pPr algn="l">
              <a:lnSpc>
                <a:spcPts val="1265"/>
              </a:lnSpc>
              <a:spcAft>
                <a:spcPts val="0"/>
              </a:spcAft>
            </a:pPr>
            <a:r>
              <a:rPr sz="1150" b="1" i="0">
                <a:solidFill>
                  <a:srgbClr val="6B7685"/>
                </a:solidFill>
                <a:latin typeface="Arial"/>
              </a:rPr>
              <a:t>THE BASIS FOR COMPARISON</a:t>
            </a:r>
          </a:p>
        </p:txBody>
      </p:sp>
      <p:sp>
        <p:nvSpPr>
          <p:cNvPr id="11" name="TextBox 10"/>
          <p:cNvSpPr txBox="1"/>
          <p:nvPr/>
        </p:nvSpPr>
        <p:spPr>
          <a:xfrm>
            <a:off x="685800" y="3686175"/>
            <a:ext cx="1375830" cy="1340294"/>
          </a:xfrm>
          <a:prstGeom prst="rect">
            <a:avLst/>
          </a:prstGeom>
          <a:noFill/>
        </p:spPr>
        <p:txBody>
          <a:bodyPr wrap="square" lIns="0" rIns="0" tIns="0" bIns="0" anchor="ctr">
            <a:spAutoFit/>
          </a:bodyPr>
          <a:lstStyle/>
          <a:p>
            <a:pPr algn="l">
              <a:lnSpc>
                <a:spcPts val="1322"/>
              </a:lnSpc>
              <a:spcAft>
                <a:spcPts val="0"/>
              </a:spcAft>
            </a:pPr>
            <a:r>
              <a:rPr sz="1150" b="0" i="0">
                <a:solidFill>
                  <a:srgbClr val="141B2E"/>
                </a:solidFill>
                <a:latin typeface="Arial"/>
              </a:rPr>
              <a:t>1 · exfiltration through the bundle (Invariant Labs, May 2025)</a:t>
            </a:r>
          </a:p>
        </p:txBody>
      </p:sp>
      <p:sp>
        <p:nvSpPr>
          <p:cNvPr id="12" name="TextBox 11"/>
          <p:cNvSpPr txBox="1"/>
          <p:nvPr/>
        </p:nvSpPr>
        <p:spPr>
          <a:xfrm>
            <a:off x="2207934" y="3686175"/>
            <a:ext cx="4986053" cy="1340294"/>
          </a:xfrm>
          <a:prstGeom prst="rect">
            <a:avLst/>
          </a:prstGeom>
          <a:noFill/>
        </p:spPr>
        <p:txBody>
          <a:bodyPr wrap="square" lIns="0" rIns="0" tIns="0" bIns="0" anchor="ctr">
            <a:spAutoFit/>
          </a:bodyPr>
          <a:lstStyle/>
          <a:p>
            <a:pPr algn="l">
              <a:lnSpc>
                <a:spcPts val="1322"/>
              </a:lnSpc>
              <a:spcAft>
                <a:spcPts val="0"/>
              </a:spcAft>
            </a:pPr>
            <a:r>
              <a:rPr sz="1150" b="0" i="0">
                <a:solidFill>
                  <a:srgbClr val="141B2E"/>
                </a:solidFill>
                <a:latin typeface="Arial"/>
              </a:rPr>
              <a:t>An agent with a token for all of the user's repositories, including the private ones. The attacker creates an issue in a public repository with the instruction to gather data about other repositories and publish it here. The developer asks the agent to deal with the open issues — the agent honestly reads them, the instruction gets into the context as a task, it reads the private repositories and publishes their contents in an automatically created public PR</a:t>
            </a:r>
          </a:p>
        </p:txBody>
      </p:sp>
      <p:sp>
        <p:nvSpPr>
          <p:cNvPr id="13" name="TextBox 12"/>
          <p:cNvSpPr txBox="1"/>
          <p:nvPr/>
        </p:nvSpPr>
        <p:spPr>
          <a:xfrm>
            <a:off x="7340292" y="3686175"/>
            <a:ext cx="4016555" cy="1340294"/>
          </a:xfrm>
          <a:prstGeom prst="rect">
            <a:avLst/>
          </a:prstGeom>
          <a:noFill/>
        </p:spPr>
        <p:txBody>
          <a:bodyPr wrap="square" lIns="0" rIns="0" tIns="0" bIns="0" anchor="ctr">
            <a:spAutoFit/>
          </a:bodyPr>
          <a:lstStyle/>
          <a:p>
            <a:pPr algn="l">
              <a:lnSpc>
                <a:spcPts val="1322"/>
              </a:lnSpc>
              <a:spcAft>
                <a:spcPts val="0"/>
              </a:spcAft>
            </a:pPr>
            <a:r>
              <a:rPr sz="1150" b="0" i="0">
                <a:solidFill>
                  <a:srgbClr val="141B2E"/>
                </a:solidFill>
                <a:latin typeface="Arial"/>
              </a:rPr>
              <a:t>the vulnerability has no number assigned — it is an architectural class of a bundle of permissions, not a hole in code. Remove the line "all repositories, including the private ones" — there is nothing to read, and the scenario does not go through at all</a:t>
            </a:r>
          </a:p>
        </p:txBody>
      </p:sp>
      <p:cxnSp>
        <p:nvCxnSpPr>
          <p:cNvPr id="14" name="Connector 13"/>
          <p:cNvCxnSpPr/>
          <p:nvPr/>
        </p:nvCxnSpPr>
        <p:spPr>
          <a:xfrm>
            <a:off x="685800" y="5026469"/>
            <a:ext cx="10817352" cy="0"/>
          </a:xfrm>
          <a:prstGeom prst="line">
            <a:avLst/>
          </a:prstGeom>
          <a:ln w="9525">
            <a:solidFill>
              <a:srgbClr val="E5EAF0"/>
            </a:solidFill>
          </a:ln>
        </p:spPr>
        <p:style>
          <a:lnRef idx="2">
            <a:schemeClr val="accent1"/>
          </a:lnRef>
          <a:fillRef idx="0">
            <a:schemeClr val="accent1"/>
          </a:fillRef>
          <a:effectRef idx="1">
            <a:schemeClr val="accent1"/>
          </a:effectRef>
          <a:fontRef idx="minor">
            <a:schemeClr val="tx1"/>
          </a:fontRef>
        </p:style>
      </p:cxnSp>
      <p:sp>
        <p:nvSpPr>
          <p:cNvPr id="15" name="TextBox 14"/>
          <p:cNvSpPr txBox="1"/>
          <p:nvPr/>
        </p:nvSpPr>
        <p:spPr>
          <a:xfrm>
            <a:off x="685800" y="5026469"/>
            <a:ext cx="1375830" cy="1004379"/>
          </a:xfrm>
          <a:prstGeom prst="rect">
            <a:avLst/>
          </a:prstGeom>
          <a:noFill/>
        </p:spPr>
        <p:txBody>
          <a:bodyPr wrap="square" lIns="0" rIns="0" tIns="0" bIns="0" anchor="ctr">
            <a:spAutoFit/>
          </a:bodyPr>
          <a:lstStyle/>
          <a:p>
            <a:pPr algn="l">
              <a:lnSpc>
                <a:spcPts val="1322"/>
              </a:lnSpc>
              <a:spcAft>
                <a:spcPts val="0"/>
              </a:spcAft>
            </a:pPr>
            <a:r>
              <a:rPr sz="1150" b="0" i="0">
                <a:solidFill>
                  <a:srgbClr val="141B2E"/>
                </a:solidFill>
                <a:latin typeface="Arial"/>
              </a:rPr>
              <a:t>2 · without a model at all (CVE-2026-61742, DBHub, CVSS 9.3 out of 10)</a:t>
            </a:r>
          </a:p>
        </p:txBody>
      </p:sp>
      <p:sp>
        <p:nvSpPr>
          <p:cNvPr id="16" name="TextBox 15"/>
          <p:cNvSpPr txBox="1"/>
          <p:nvPr/>
        </p:nvSpPr>
        <p:spPr>
          <a:xfrm>
            <a:off x="2207934" y="5026469"/>
            <a:ext cx="4986053" cy="1004379"/>
          </a:xfrm>
          <a:prstGeom prst="rect">
            <a:avLst/>
          </a:prstGeom>
          <a:noFill/>
        </p:spPr>
        <p:txBody>
          <a:bodyPr wrap="square" lIns="0" rIns="0" tIns="0" bIns="0" anchor="ctr">
            <a:spAutoFit/>
          </a:bodyPr>
          <a:lstStyle/>
          <a:p>
            <a:pPr algn="l">
              <a:lnSpc>
                <a:spcPts val="1322"/>
              </a:lnSpc>
              <a:spcAft>
                <a:spcPts val="0"/>
              </a:spcAft>
            </a:pPr>
            <a:r>
              <a:rPr sz="1150" b="0" i="0">
                <a:solidFill>
                  <a:srgbClr val="141B2E"/>
                </a:solidFill>
                <a:latin typeface="Arial"/>
              </a:rPr>
              <a:t>The HTTP transport by default listens without authentication, and the protection against cross-site requests is bypassed by DNS rebinding</a:t>
            </a:r>
          </a:p>
        </p:txBody>
      </p:sp>
      <p:sp>
        <p:nvSpPr>
          <p:cNvPr id="17" name="TextBox 16"/>
          <p:cNvSpPr txBox="1"/>
          <p:nvPr/>
        </p:nvSpPr>
        <p:spPr>
          <a:xfrm>
            <a:off x="7340292" y="5026469"/>
            <a:ext cx="4016555" cy="1004379"/>
          </a:xfrm>
          <a:prstGeom prst="rect">
            <a:avLst/>
          </a:prstGeom>
          <a:noFill/>
        </p:spPr>
        <p:txBody>
          <a:bodyPr wrap="square" lIns="0" rIns="0" tIns="0" bIns="0" anchor="ctr">
            <a:spAutoFit/>
          </a:bodyPr>
          <a:lstStyle/>
          <a:p>
            <a:pPr algn="l">
              <a:lnSpc>
                <a:spcPts val="1322"/>
              </a:lnSpc>
              <a:spcAft>
                <a:spcPts val="0"/>
              </a:spcAft>
            </a:pPr>
            <a:r>
              <a:rPr sz="1150" b="0" i="0">
                <a:solidFill>
                  <a:srgbClr val="141B2E"/>
                </a:solidFill>
                <a:latin typeface="Arial"/>
              </a:rPr>
              <a:t>per a secondary technical analysis (Strix.ai) — two HTTP requests and zero credentials up to takeover; the same trifecta is not the only route to a leak here — the server itself can be an unprotected network service</a:t>
            </a:r>
          </a:p>
        </p:txBody>
      </p:sp>
      <p:sp>
        <p:nvSpPr>
          <p:cNvPr id="18" name="TextBox 17"/>
          <p:cNvSpPr txBox="1"/>
          <p:nvPr/>
        </p:nvSpPr>
        <p:spPr>
          <a:xfrm>
            <a:off x="10957255" y="6437376"/>
            <a:ext cx="914400" cy="274320"/>
          </a:xfrm>
          <a:prstGeom prst="rect">
            <a:avLst/>
          </a:prstGeom>
          <a:noFill/>
        </p:spPr>
        <p:txBody>
          <a:bodyPr wrap="square" lIns="0" rIns="0" tIns="0" bIns="0" anchor="t">
            <a:spAutoFit/>
          </a:bodyPr>
          <a:lstStyle/>
          <a:p>
            <a:pPr algn="r">
              <a:lnSpc>
                <a:spcPts val="1238"/>
              </a:lnSpc>
              <a:spcAft>
                <a:spcPts val="0"/>
              </a:spcAft>
            </a:pPr>
            <a:r>
              <a:rPr sz="1050" b="0" i="0">
                <a:solidFill>
                  <a:srgbClr val="6B7685"/>
                </a:solidFill>
                <a:latin typeface="Arial"/>
              </a:rPr>
              <a:t>19</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02920" y="310896"/>
            <a:ext cx="11183112" cy="431291"/>
          </a:xfrm>
          <a:prstGeom prst="rect">
            <a:avLst/>
          </a:prstGeom>
          <a:noFill/>
        </p:spPr>
        <p:txBody>
          <a:bodyPr wrap="square" lIns="0" rIns="0" tIns="0" bIns="0" anchor="t">
            <a:spAutoFit/>
          </a:bodyPr>
          <a:lstStyle/>
          <a:p>
            <a:pPr algn="l">
              <a:lnSpc>
                <a:spcPts val="2963"/>
              </a:lnSpc>
              <a:spcAft>
                <a:spcPts val="0"/>
              </a:spcAft>
            </a:pPr>
            <a:r>
              <a:rPr sz="2600" b="1" i="0">
                <a:solidFill>
                  <a:srgbClr val="141B2E"/>
                </a:solidFill>
                <a:latin typeface="Arial"/>
              </a:rPr>
              <a:t>When MCP is needed, and when it is not</a:t>
            </a:r>
          </a:p>
        </p:txBody>
      </p:sp>
      <p:sp>
        <p:nvSpPr>
          <p:cNvPr id="3" name="Rounded Rectangle 2"/>
          <p:cNvSpPr/>
          <p:nvPr/>
        </p:nvSpPr>
        <p:spPr>
          <a:xfrm>
            <a:off x="502920" y="1312214"/>
            <a:ext cx="82296" cy="746760"/>
          </a:xfrm>
          <a:prstGeom prst="roundRect">
            <a:avLst>
              <a:gd name="adj" fmla="val 50000"/>
            </a:avLst>
          </a:prstGeom>
          <a:solidFill>
            <a:srgbClr val="F0AB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59536" y="1440230"/>
            <a:ext cx="10643616" cy="490727"/>
          </a:xfrm>
          <a:prstGeom prst="rect">
            <a:avLst/>
          </a:prstGeom>
          <a:noFill/>
        </p:spPr>
        <p:txBody>
          <a:bodyPr wrap="square" lIns="0" rIns="0" tIns="0" bIns="0" anchor="ctr">
            <a:spAutoFit/>
          </a:bodyPr>
          <a:lstStyle/>
          <a:p>
            <a:pPr algn="l">
              <a:lnSpc>
                <a:spcPts val="1860"/>
              </a:lnSpc>
              <a:spcAft>
                <a:spcPts val="300"/>
              </a:spcAft>
            </a:pPr>
            <a:r>
              <a:rPr sz="1500" b="1" i="0">
                <a:solidFill>
                  <a:srgbClr val="141B2E"/>
                </a:solidFill>
                <a:latin typeface="Arial"/>
              </a:rPr>
              <a:t>There is access to the outside, and there is something with which to prove the agent uses it. The next question is what being connected costs in itself, while nobody has reached for the server at all.</a:t>
            </a:r>
          </a:p>
        </p:txBody>
      </p:sp>
      <p:sp>
        <p:nvSpPr>
          <p:cNvPr id="5" name="Rounded Rectangle 4"/>
          <p:cNvSpPr/>
          <p:nvPr/>
        </p:nvSpPr>
        <p:spPr>
          <a:xfrm>
            <a:off x="502920" y="2726486"/>
            <a:ext cx="5454396" cy="3047873"/>
          </a:xfrm>
          <a:prstGeom prst="roundRect">
            <a:avLst>
              <a:gd name="adj" fmla="val 10000"/>
            </a:avLst>
          </a:prstGeom>
          <a:solidFill>
            <a:srgbClr val="F4F7FA"/>
          </a:solidFill>
          <a:ln w="15240">
            <a:solidFill>
              <a:srgbClr val="E5EA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85800" y="2836214"/>
            <a:ext cx="5088636" cy="274320"/>
          </a:xfrm>
          <a:prstGeom prst="rect">
            <a:avLst/>
          </a:prstGeom>
          <a:noFill/>
        </p:spPr>
        <p:txBody>
          <a:bodyPr wrap="square" lIns="0" rIns="0" tIns="0" bIns="0" anchor="t">
            <a:spAutoFit/>
          </a:bodyPr>
          <a:lstStyle/>
          <a:p>
            <a:pPr algn="l">
              <a:lnSpc>
                <a:spcPts val="1297"/>
              </a:lnSpc>
              <a:spcAft>
                <a:spcPts val="0"/>
              </a:spcAft>
            </a:pPr>
            <a:r>
              <a:rPr sz="1100" b="1" i="0">
                <a:solidFill>
                  <a:srgbClr val="6B7685"/>
                </a:solidFill>
                <a:latin typeface="Arial"/>
              </a:rPr>
              <a:t>MCP IS NEEDED WHEN</a:t>
            </a:r>
          </a:p>
        </p:txBody>
      </p:sp>
      <p:sp>
        <p:nvSpPr>
          <p:cNvPr id="7" name="TextBox 6"/>
          <p:cNvSpPr txBox="1"/>
          <p:nvPr/>
        </p:nvSpPr>
        <p:spPr>
          <a:xfrm>
            <a:off x="685800" y="3110534"/>
            <a:ext cx="5088636" cy="490982"/>
          </a:xfrm>
          <a:prstGeom prst="rect">
            <a:avLst/>
          </a:prstGeom>
          <a:noFill/>
        </p:spPr>
        <p:txBody>
          <a:bodyPr wrap="square" lIns="0" rIns="0" tIns="0" bIns="0" anchor="ctr">
            <a:spAutoFit/>
          </a:bodyPr>
          <a:lstStyle/>
          <a:p>
            <a:pPr algn="l">
              <a:lnSpc>
                <a:spcPts val="1356"/>
              </a:lnSpc>
              <a:spcAft>
                <a:spcPts val="0"/>
              </a:spcAft>
            </a:pPr>
            <a:r>
              <a:rPr sz="1150" b="0" i="0">
                <a:solidFill>
                  <a:srgbClr val="141B2E"/>
                </a:solidFill>
                <a:latin typeface="Arial"/>
              </a:rPr>
              <a:t>access is needed regularly, from several sessions — a one-off snapshot of the data is not enough</a:t>
            </a:r>
          </a:p>
        </p:txBody>
      </p:sp>
      <p:cxnSp>
        <p:nvCxnSpPr>
          <p:cNvPr id="8" name="Connector 7"/>
          <p:cNvCxnSpPr/>
          <p:nvPr/>
        </p:nvCxnSpPr>
        <p:spPr>
          <a:xfrm>
            <a:off x="685800" y="3601516"/>
            <a:ext cx="5088636" cy="0"/>
          </a:xfrm>
          <a:prstGeom prst="line">
            <a:avLst/>
          </a:prstGeom>
          <a:ln w="9525">
            <a:solidFill>
              <a:srgbClr val="E5EAF0"/>
            </a:solidFill>
          </a:ln>
        </p:spPr>
        <p:style>
          <a:lnRef idx="2">
            <a:schemeClr val="accent1"/>
          </a:lnRef>
          <a:fillRef idx="0">
            <a:schemeClr val="accent1"/>
          </a:fillRef>
          <a:effectRef idx="1">
            <a:schemeClr val="accent1"/>
          </a:effectRef>
          <a:fontRef idx="minor">
            <a:schemeClr val="tx1"/>
          </a:fontRef>
        </p:style>
      </p:cxnSp>
      <p:sp>
        <p:nvSpPr>
          <p:cNvPr id="9" name="TextBox 8"/>
          <p:cNvSpPr txBox="1"/>
          <p:nvPr/>
        </p:nvSpPr>
        <p:spPr>
          <a:xfrm>
            <a:off x="685800" y="3601516"/>
            <a:ext cx="5088636" cy="490982"/>
          </a:xfrm>
          <a:prstGeom prst="rect">
            <a:avLst/>
          </a:prstGeom>
          <a:noFill/>
        </p:spPr>
        <p:txBody>
          <a:bodyPr wrap="square" lIns="0" rIns="0" tIns="0" bIns="0" anchor="ctr">
            <a:spAutoFit/>
          </a:bodyPr>
          <a:lstStyle/>
          <a:p>
            <a:pPr algn="l">
              <a:lnSpc>
                <a:spcPts val="1356"/>
              </a:lnSpc>
              <a:spcAft>
                <a:spcPts val="0"/>
              </a:spcAft>
            </a:pPr>
            <a:r>
              <a:rPr sz="1150" b="0" i="0">
                <a:solidFill>
                  <a:srgbClr val="141B2E"/>
                </a:solidFill>
                <a:latin typeface="Arial"/>
              </a:rPr>
              <a:t>you are prepared to maintain one more permanently running process with access to secrets</a:t>
            </a:r>
          </a:p>
        </p:txBody>
      </p:sp>
      <p:cxnSp>
        <p:nvCxnSpPr>
          <p:cNvPr id="10" name="Connector 9"/>
          <p:cNvCxnSpPr/>
          <p:nvPr/>
        </p:nvCxnSpPr>
        <p:spPr>
          <a:xfrm>
            <a:off x="685800" y="4092498"/>
            <a:ext cx="5088636" cy="0"/>
          </a:xfrm>
          <a:prstGeom prst="line">
            <a:avLst/>
          </a:prstGeom>
          <a:ln w="9525">
            <a:solidFill>
              <a:srgbClr val="E5EAF0"/>
            </a:solidFill>
          </a:ln>
        </p:spPr>
        <p:style>
          <a:lnRef idx="2">
            <a:schemeClr val="accent1"/>
          </a:lnRef>
          <a:fillRef idx="0">
            <a:schemeClr val="accent1"/>
          </a:fillRef>
          <a:effectRef idx="1">
            <a:schemeClr val="accent1"/>
          </a:effectRef>
          <a:fontRef idx="minor">
            <a:schemeClr val="tx1"/>
          </a:fontRef>
        </p:style>
      </p:cxnSp>
      <p:sp>
        <p:nvSpPr>
          <p:cNvPr id="11" name="TextBox 10"/>
          <p:cNvSpPr txBox="1"/>
          <p:nvPr/>
        </p:nvSpPr>
        <p:spPr>
          <a:xfrm>
            <a:off x="685800" y="4092498"/>
            <a:ext cx="5088636" cy="663321"/>
          </a:xfrm>
          <a:prstGeom prst="rect">
            <a:avLst/>
          </a:prstGeom>
          <a:noFill/>
        </p:spPr>
        <p:txBody>
          <a:bodyPr wrap="square" lIns="0" rIns="0" tIns="0" bIns="0" anchor="ctr">
            <a:spAutoFit/>
          </a:bodyPr>
          <a:lstStyle/>
          <a:p>
            <a:pPr algn="l">
              <a:lnSpc>
                <a:spcPts val="1356"/>
              </a:lnSpc>
              <a:spcAft>
                <a:spcPts val="0"/>
              </a:spcAft>
            </a:pPr>
            <a:r>
              <a:rPr sz="1150" b="0" i="0">
                <a:solidFill>
                  <a:srgbClr val="141B2E"/>
                </a:solidFill>
                <a:latin typeface="Arial"/>
              </a:rPr>
              <a:t>there is more than one operation, the list of operations is growing, and the agent itself decides which one to reach for — it is for that list that the standing cost is paid</a:t>
            </a:r>
          </a:p>
        </p:txBody>
      </p:sp>
      <p:cxnSp>
        <p:nvCxnSpPr>
          <p:cNvPr id="12" name="Connector 11"/>
          <p:cNvCxnSpPr/>
          <p:nvPr/>
        </p:nvCxnSpPr>
        <p:spPr>
          <a:xfrm>
            <a:off x="685800" y="4755819"/>
            <a:ext cx="5088636" cy="0"/>
          </a:xfrm>
          <a:prstGeom prst="line">
            <a:avLst/>
          </a:prstGeom>
          <a:ln w="9525">
            <a:solidFill>
              <a:srgbClr val="E5EAF0"/>
            </a:solidFill>
          </a:ln>
        </p:spPr>
        <p:style>
          <a:lnRef idx="2">
            <a:schemeClr val="accent1"/>
          </a:lnRef>
          <a:fillRef idx="0">
            <a:schemeClr val="accent1"/>
          </a:fillRef>
          <a:effectRef idx="1">
            <a:schemeClr val="accent1"/>
          </a:effectRef>
          <a:fontRef idx="minor">
            <a:schemeClr val="tx1"/>
          </a:fontRef>
        </p:style>
      </p:cxnSp>
      <p:sp>
        <p:nvSpPr>
          <p:cNvPr id="13" name="TextBox 12"/>
          <p:cNvSpPr txBox="1"/>
          <p:nvPr/>
        </p:nvSpPr>
        <p:spPr>
          <a:xfrm>
            <a:off x="685800" y="4755819"/>
            <a:ext cx="5088636" cy="490982"/>
          </a:xfrm>
          <a:prstGeom prst="rect">
            <a:avLst/>
          </a:prstGeom>
          <a:noFill/>
        </p:spPr>
        <p:txBody>
          <a:bodyPr wrap="square" lIns="0" rIns="0" tIns="0" bIns="0" anchor="ctr">
            <a:spAutoFit/>
          </a:bodyPr>
          <a:lstStyle/>
          <a:p>
            <a:pPr algn="l">
              <a:lnSpc>
                <a:spcPts val="1356"/>
              </a:lnSpc>
              <a:spcAft>
                <a:spcPts val="0"/>
              </a:spcAft>
            </a:pPr>
            <a:r>
              <a:rPr sz="1150" b="0" i="0">
                <a:solidFill>
                  <a:srgbClr val="141B2E"/>
                </a:solidFill>
                <a:latin typeface="Arial"/>
              </a:rPr>
              <a:t>the connection does not complete the third element of the lethal trifecta</a:t>
            </a:r>
          </a:p>
        </p:txBody>
      </p:sp>
      <p:sp>
        <p:nvSpPr>
          <p:cNvPr id="14" name="Rounded Rectangle 13"/>
          <p:cNvSpPr/>
          <p:nvPr/>
        </p:nvSpPr>
        <p:spPr>
          <a:xfrm>
            <a:off x="6231636" y="2726486"/>
            <a:ext cx="5454396" cy="3047873"/>
          </a:xfrm>
          <a:prstGeom prst="roundRect">
            <a:avLst>
              <a:gd name="adj" fmla="val 10000"/>
            </a:avLst>
          </a:prstGeom>
          <a:solidFill>
            <a:srgbClr val="F4F7FA"/>
          </a:solidFill>
          <a:ln w="15240">
            <a:solidFill>
              <a:srgbClr val="E5EA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14516" y="2836214"/>
            <a:ext cx="5088636" cy="274320"/>
          </a:xfrm>
          <a:prstGeom prst="rect">
            <a:avLst/>
          </a:prstGeom>
          <a:noFill/>
        </p:spPr>
        <p:txBody>
          <a:bodyPr wrap="square" lIns="0" rIns="0" tIns="0" bIns="0" anchor="t">
            <a:spAutoFit/>
          </a:bodyPr>
          <a:lstStyle/>
          <a:p>
            <a:pPr algn="l">
              <a:lnSpc>
                <a:spcPts val="1297"/>
              </a:lnSpc>
              <a:spcAft>
                <a:spcPts val="0"/>
              </a:spcAft>
            </a:pPr>
            <a:r>
              <a:rPr sz="1100" b="1" i="0">
                <a:solidFill>
                  <a:srgbClr val="8A6200"/>
                </a:solidFill>
                <a:latin typeface="Arial"/>
              </a:rPr>
              <a:t>MCP IS NOT NEEDED WHEN</a:t>
            </a:r>
          </a:p>
        </p:txBody>
      </p:sp>
      <p:sp>
        <p:nvSpPr>
          <p:cNvPr id="16" name="TextBox 15"/>
          <p:cNvSpPr txBox="1"/>
          <p:nvPr/>
        </p:nvSpPr>
        <p:spPr>
          <a:xfrm>
            <a:off x="6414516" y="3110534"/>
            <a:ext cx="5088636" cy="490982"/>
          </a:xfrm>
          <a:prstGeom prst="rect">
            <a:avLst/>
          </a:prstGeom>
          <a:noFill/>
        </p:spPr>
        <p:txBody>
          <a:bodyPr wrap="square" lIns="0" rIns="0" tIns="0" bIns="0" anchor="ctr">
            <a:spAutoFit/>
          </a:bodyPr>
          <a:lstStyle/>
          <a:p>
            <a:pPr algn="l">
              <a:lnSpc>
                <a:spcPts val="1356"/>
              </a:lnSpc>
              <a:spcAft>
                <a:spcPts val="0"/>
              </a:spcAft>
            </a:pPr>
            <a:r>
              <a:rPr sz="1150" b="0" i="0">
                <a:solidFill>
                  <a:srgbClr val="141B2E"/>
                </a:solidFill>
                <a:latin typeface="Arial"/>
              </a:rPr>
              <a:t>access is one-off or rare, and a snapshot of the data as of today is enough</a:t>
            </a:r>
          </a:p>
        </p:txBody>
      </p:sp>
      <p:cxnSp>
        <p:nvCxnSpPr>
          <p:cNvPr id="17" name="Connector 16"/>
          <p:cNvCxnSpPr/>
          <p:nvPr/>
        </p:nvCxnSpPr>
        <p:spPr>
          <a:xfrm>
            <a:off x="6414516" y="3601516"/>
            <a:ext cx="5088636" cy="0"/>
          </a:xfrm>
          <a:prstGeom prst="line">
            <a:avLst/>
          </a:prstGeom>
          <a:ln w="9525">
            <a:solidFill>
              <a:srgbClr val="E5EAF0"/>
            </a:solidFill>
          </a:ln>
        </p:spPr>
        <p:style>
          <a:lnRef idx="2">
            <a:schemeClr val="accent1"/>
          </a:lnRef>
          <a:fillRef idx="0">
            <a:schemeClr val="accent1"/>
          </a:fillRef>
          <a:effectRef idx="1">
            <a:schemeClr val="accent1"/>
          </a:effectRef>
          <a:fontRef idx="minor">
            <a:schemeClr val="tx1"/>
          </a:fontRef>
        </p:style>
      </p:cxnSp>
      <p:sp>
        <p:nvSpPr>
          <p:cNvPr id="18" name="TextBox 17"/>
          <p:cNvSpPr txBox="1"/>
          <p:nvPr/>
        </p:nvSpPr>
        <p:spPr>
          <a:xfrm>
            <a:off x="6414516" y="3601516"/>
            <a:ext cx="5088636" cy="490982"/>
          </a:xfrm>
          <a:prstGeom prst="rect">
            <a:avLst/>
          </a:prstGeom>
          <a:noFill/>
        </p:spPr>
        <p:txBody>
          <a:bodyPr wrap="square" lIns="0" rIns="0" tIns="0" bIns="0" anchor="ctr">
            <a:spAutoFit/>
          </a:bodyPr>
          <a:lstStyle/>
          <a:p>
            <a:pPr algn="l">
              <a:lnSpc>
                <a:spcPts val="1356"/>
              </a:lnSpc>
              <a:spcAft>
                <a:spcPts val="0"/>
              </a:spcAft>
            </a:pPr>
            <a:r>
              <a:rPr sz="1150" b="0" i="0">
                <a:solidFill>
                  <a:srgbClr val="141B2E"/>
                </a:solidFill>
                <a:latin typeface="Arial"/>
              </a:rPr>
              <a:t>there is no such readiness — then a one-off call is more reliable than a process nobody services</a:t>
            </a:r>
          </a:p>
        </p:txBody>
      </p:sp>
      <p:cxnSp>
        <p:nvCxnSpPr>
          <p:cNvPr id="19" name="Connector 18"/>
          <p:cNvCxnSpPr/>
          <p:nvPr/>
        </p:nvCxnSpPr>
        <p:spPr>
          <a:xfrm>
            <a:off x="6414516" y="4092498"/>
            <a:ext cx="5088636" cy="0"/>
          </a:xfrm>
          <a:prstGeom prst="line">
            <a:avLst/>
          </a:prstGeom>
          <a:ln w="9525">
            <a:solidFill>
              <a:srgbClr val="E5EAF0"/>
            </a:solidFill>
          </a:ln>
        </p:spPr>
        <p:style>
          <a:lnRef idx="2">
            <a:schemeClr val="accent1"/>
          </a:lnRef>
          <a:fillRef idx="0">
            <a:schemeClr val="accent1"/>
          </a:fillRef>
          <a:effectRef idx="1">
            <a:schemeClr val="accent1"/>
          </a:effectRef>
          <a:fontRef idx="minor">
            <a:schemeClr val="tx1"/>
          </a:fontRef>
        </p:style>
      </p:cxnSp>
      <p:sp>
        <p:nvSpPr>
          <p:cNvPr id="20" name="TextBox 19"/>
          <p:cNvSpPr txBox="1"/>
          <p:nvPr/>
        </p:nvSpPr>
        <p:spPr>
          <a:xfrm>
            <a:off x="6414516" y="4092498"/>
            <a:ext cx="5088636" cy="663321"/>
          </a:xfrm>
          <a:prstGeom prst="rect">
            <a:avLst/>
          </a:prstGeom>
          <a:noFill/>
        </p:spPr>
        <p:txBody>
          <a:bodyPr wrap="square" lIns="0" rIns="0" tIns="0" bIns="0" anchor="ctr">
            <a:spAutoFit/>
          </a:bodyPr>
          <a:lstStyle/>
          <a:p>
            <a:pPr algn="l">
              <a:lnSpc>
                <a:spcPts val="1356"/>
              </a:lnSpc>
              <a:spcAft>
                <a:spcPts val="0"/>
              </a:spcAft>
            </a:pPr>
            <a:r>
              <a:rPr sz="1150" b="0" i="0">
                <a:solidFill>
                  <a:srgbClr val="141B2E"/>
                </a:solidFill>
                <a:latin typeface="Arial"/>
              </a:rPr>
              <a:t>the task comes down to one known CLI call: a list of capabilities is surplus here, and the thirty-two-fold difference in tokens is not going anywhere</a:t>
            </a:r>
          </a:p>
        </p:txBody>
      </p:sp>
      <p:cxnSp>
        <p:nvCxnSpPr>
          <p:cNvPr id="21" name="Connector 20"/>
          <p:cNvCxnSpPr/>
          <p:nvPr/>
        </p:nvCxnSpPr>
        <p:spPr>
          <a:xfrm>
            <a:off x="6414516" y="4755819"/>
            <a:ext cx="5088636" cy="0"/>
          </a:xfrm>
          <a:prstGeom prst="line">
            <a:avLst/>
          </a:prstGeom>
          <a:ln w="9525">
            <a:solidFill>
              <a:srgbClr val="E5EAF0"/>
            </a:solidFill>
          </a:ln>
        </p:spPr>
        <p:style>
          <a:lnRef idx="2">
            <a:schemeClr val="accent1"/>
          </a:lnRef>
          <a:fillRef idx="0">
            <a:schemeClr val="accent1"/>
          </a:fillRef>
          <a:effectRef idx="1">
            <a:schemeClr val="accent1"/>
          </a:effectRef>
          <a:fontRef idx="minor">
            <a:schemeClr val="tx1"/>
          </a:fontRef>
        </p:style>
      </p:cxnSp>
      <p:sp>
        <p:nvSpPr>
          <p:cNvPr id="22" name="TextBox 21"/>
          <p:cNvSpPr txBox="1"/>
          <p:nvPr/>
        </p:nvSpPr>
        <p:spPr>
          <a:xfrm>
            <a:off x="6414516" y="4755819"/>
            <a:ext cx="5088636" cy="835660"/>
          </a:xfrm>
          <a:prstGeom prst="rect">
            <a:avLst/>
          </a:prstGeom>
          <a:noFill/>
        </p:spPr>
        <p:txBody>
          <a:bodyPr wrap="square" lIns="0" rIns="0" tIns="0" bIns="0" anchor="ctr">
            <a:spAutoFit/>
          </a:bodyPr>
          <a:lstStyle/>
          <a:p>
            <a:pPr algn="l">
              <a:lnSpc>
                <a:spcPts val="1356"/>
              </a:lnSpc>
              <a:spcAft>
                <a:spcPts val="0"/>
              </a:spcAft>
            </a:pPr>
            <a:r>
              <a:rPr sz="1150" b="0" i="0">
                <a:solidFill>
                  <a:srgbClr val="141B2E"/>
                </a:solidFill>
                <a:latin typeface="Arial"/>
              </a:rPr>
              <a:t>the connection does complete the third element of the lethal trifecta — access to private data and the processing of someone else's text are already there, and what remains is a channel to the outside; this is a stop criterion</a:t>
            </a:r>
          </a:p>
        </p:txBody>
      </p:sp>
      <p:sp>
        <p:nvSpPr>
          <p:cNvPr id="23" name="TextBox 22"/>
          <p:cNvSpPr txBox="1"/>
          <p:nvPr/>
        </p:nvSpPr>
        <p:spPr>
          <a:xfrm>
            <a:off x="10957255" y="6437376"/>
            <a:ext cx="914400" cy="274320"/>
          </a:xfrm>
          <a:prstGeom prst="rect">
            <a:avLst/>
          </a:prstGeom>
          <a:noFill/>
        </p:spPr>
        <p:txBody>
          <a:bodyPr wrap="square" lIns="0" rIns="0" tIns="0" bIns="0" anchor="t">
            <a:spAutoFit/>
          </a:bodyPr>
          <a:lstStyle/>
          <a:p>
            <a:pPr algn="r">
              <a:lnSpc>
                <a:spcPts val="1238"/>
              </a:lnSpc>
              <a:spcAft>
                <a:spcPts val="0"/>
              </a:spcAft>
            </a:pPr>
            <a:r>
              <a:rPr sz="1050" b="0" i="0">
                <a:solidFill>
                  <a:srgbClr val="6B7685"/>
                </a:solidFill>
                <a:latin typeface="Arial"/>
              </a:rPr>
              <a:t>20</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ln>
            <a:noFill/>
          </a:ln>
          <a:effectLst/>
          <a:gradFill rotWithShape="1">
            <a:gsLst>
              <a:gs pos="0">
                <a:srgbClr val="21295C"/>
              </a:gs>
              <a:gs pos="55000">
                <a:srgbClr val="065A82"/>
              </a:gs>
              <a:gs pos="100000">
                <a:srgbClr val="1C7293"/>
              </a:gs>
            </a:gsLst>
            <a:lin ang="2700000" scaled="1"/>
          </a:gra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502920" y="457200"/>
            <a:ext cx="5111496" cy="237744"/>
          </a:xfrm>
          <a:prstGeom prst="roundRect">
            <a:avLst>
              <a:gd name="adj" fmla="val 40000"/>
            </a:avLst>
          </a:prstGeom>
          <a:solidFill>
            <a:srgbClr val="F0AB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5724144" y="457200"/>
            <a:ext cx="5111496" cy="237744"/>
          </a:xfrm>
          <a:prstGeom prst="roundRect">
            <a:avLst>
              <a:gd name="adj" fmla="val 40000"/>
            </a:avLst>
          </a:prstGeom>
          <a:solidFill>
            <a:srgbClr val="3E4C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585216" y="2447544"/>
            <a:ext cx="694944" cy="694944"/>
          </a:xfrm>
          <a:prstGeom prst="ellipse">
            <a:avLst/>
          </a:prstGeom>
          <a:solidFill>
            <a:srgbClr val="F0AB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85216" y="2447544"/>
            <a:ext cx="694944" cy="694944"/>
          </a:xfrm>
          <a:prstGeom prst="rect">
            <a:avLst/>
          </a:prstGeom>
          <a:noFill/>
        </p:spPr>
        <p:txBody>
          <a:bodyPr wrap="square" lIns="0" rIns="0" tIns="0" bIns="0" anchor="ctr">
            <a:spAutoFit/>
          </a:bodyPr>
          <a:lstStyle/>
          <a:p>
            <a:pPr algn="ctr">
              <a:lnSpc>
                <a:spcPts val="2950"/>
              </a:lnSpc>
              <a:spcAft>
                <a:spcPts val="0"/>
              </a:spcAft>
            </a:pPr>
            <a:r>
              <a:rPr sz="2500" b="1" i="0">
                <a:solidFill>
                  <a:srgbClr val="21295C"/>
                </a:solidFill>
                <a:latin typeface="Arial"/>
              </a:rPr>
              <a:t>2</a:t>
            </a:r>
          </a:p>
        </p:txBody>
      </p:sp>
      <p:sp>
        <p:nvSpPr>
          <p:cNvPr id="7" name="TextBox 6"/>
          <p:cNvSpPr txBox="1"/>
          <p:nvPr/>
        </p:nvSpPr>
        <p:spPr>
          <a:xfrm>
            <a:off x="1536192" y="2114931"/>
            <a:ext cx="9144000" cy="1360170"/>
          </a:xfrm>
          <a:prstGeom prst="rect">
            <a:avLst/>
          </a:prstGeom>
          <a:noFill/>
        </p:spPr>
        <p:txBody>
          <a:bodyPr wrap="square" lIns="0" rIns="0" tIns="0" bIns="0" anchor="t">
            <a:spAutoFit/>
          </a:bodyPr>
          <a:lstStyle/>
          <a:p>
            <a:pPr algn="l">
              <a:lnSpc>
                <a:spcPts val="3570"/>
              </a:lnSpc>
              <a:spcAft>
                <a:spcPts val="0"/>
              </a:spcAft>
            </a:pPr>
            <a:r>
              <a:rPr sz="3400" b="1" i="0">
                <a:solidFill>
                  <a:srgbClr val="FFFFFF"/>
                </a:solidFill>
                <a:latin typeface="Arial"/>
              </a:rPr>
              <a:t>He opened a session in his own repository and has not asked anything yet</a:t>
            </a:r>
          </a:p>
        </p:txBody>
      </p:sp>
      <p:sp>
        <p:nvSpPr>
          <p:cNvPr id="8" name="TextBox 7"/>
          <p:cNvSpPr txBox="1"/>
          <p:nvPr/>
        </p:nvSpPr>
        <p:spPr>
          <a:xfrm>
            <a:off x="822960" y="3785997"/>
            <a:ext cx="9509760" cy="1139952"/>
          </a:xfrm>
          <a:prstGeom prst="rect">
            <a:avLst/>
          </a:prstGeom>
          <a:noFill/>
        </p:spPr>
        <p:txBody>
          <a:bodyPr wrap="square" lIns="0" rIns="0" tIns="0" bIns="0" anchor="t">
            <a:spAutoFit/>
          </a:bodyPr>
          <a:lstStyle/>
          <a:p>
            <a:pPr algn="l">
              <a:lnSpc>
                <a:spcPts val="2244"/>
              </a:lnSpc>
              <a:spcAft>
                <a:spcPts val="400"/>
              </a:spcAft>
            </a:pPr>
            <a:r>
              <a:rPr sz="1700" b="0" i="1">
                <a:solidFill>
                  <a:srgbClr val="D6E2EC"/>
                </a:solidFill>
                <a:latin typeface="Arial"/>
              </a:rPr>
              <a:t>The session is open, and he has not yet asked the agent a single question. Part of the context is already taken: four servers from the project file described themselves at start-up, and over the whole task one of them will be needed.</a:t>
            </a:r>
          </a:p>
        </p:txBody>
      </p:sp>
      <p:sp>
        <p:nvSpPr>
          <p:cNvPr id="9" name="Rounded Rectangle 8"/>
          <p:cNvSpPr/>
          <p:nvPr/>
        </p:nvSpPr>
        <p:spPr>
          <a:xfrm>
            <a:off x="502920" y="5989320"/>
            <a:ext cx="5500116" cy="384048"/>
          </a:xfrm>
          <a:prstGeom prst="roundRect">
            <a:avLst>
              <a:gd name="adj" fmla="val 30000"/>
            </a:avLst>
          </a:prstGeom>
          <a:solidFill>
            <a:srgbClr val="F0AB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02920" y="5989320"/>
            <a:ext cx="5500116" cy="384048"/>
          </a:xfrm>
          <a:prstGeom prst="rect">
            <a:avLst/>
          </a:prstGeom>
          <a:noFill/>
        </p:spPr>
        <p:txBody>
          <a:bodyPr wrap="square" lIns="0" rIns="0" tIns="0" bIns="0" anchor="ctr">
            <a:spAutoFit/>
          </a:bodyPr>
          <a:lstStyle/>
          <a:p>
            <a:pPr algn="ctr">
              <a:lnSpc>
                <a:spcPts val="1475"/>
              </a:lnSpc>
              <a:spcAft>
                <a:spcPts val="0"/>
              </a:spcAft>
            </a:pPr>
            <a:r>
              <a:rPr sz="1250" b="1" i="0">
                <a:solidFill>
                  <a:srgbClr val="21295C"/>
                </a:solidFill>
                <a:latin typeface="Arial"/>
              </a:rPr>
              <a:t>MCP</a:t>
            </a:r>
          </a:p>
        </p:txBody>
      </p:sp>
      <p:sp>
        <p:nvSpPr>
          <p:cNvPr id="11" name="Rounded Rectangle 10"/>
          <p:cNvSpPr/>
          <p:nvPr/>
        </p:nvSpPr>
        <p:spPr>
          <a:xfrm>
            <a:off x="6185916" y="5989320"/>
            <a:ext cx="5500116" cy="384048"/>
          </a:xfrm>
          <a:prstGeom prst="roundRect">
            <a:avLst>
              <a:gd name="adj" fmla="val 30000"/>
            </a:avLst>
          </a:prstGeom>
          <a:solidFill>
            <a:srgbClr val="3E4C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185916" y="5989320"/>
            <a:ext cx="5500116" cy="384048"/>
          </a:xfrm>
          <a:prstGeom prst="rect">
            <a:avLst/>
          </a:prstGeom>
          <a:noFill/>
        </p:spPr>
        <p:txBody>
          <a:bodyPr wrap="square" lIns="0" rIns="0" tIns="0" bIns="0" anchor="ctr">
            <a:spAutoFit/>
          </a:bodyPr>
          <a:lstStyle/>
          <a:p>
            <a:pPr algn="ctr">
              <a:lnSpc>
                <a:spcPts val="1475"/>
              </a:lnSpc>
              <a:spcAft>
                <a:spcPts val="0"/>
              </a:spcAft>
            </a:pPr>
            <a:r>
              <a:rPr sz="1250" b="0" i="0">
                <a:solidFill>
                  <a:srgbClr val="9FAEC4"/>
                </a:solidFill>
                <a:latin typeface="Arial"/>
              </a:rPr>
              <a:t>Subagent</a:t>
            </a:r>
          </a:p>
        </p:txBody>
      </p:sp>
      <p:sp>
        <p:nvSpPr>
          <p:cNvPr id="13" name="TextBox 12"/>
          <p:cNvSpPr txBox="1"/>
          <p:nvPr/>
        </p:nvSpPr>
        <p:spPr>
          <a:xfrm>
            <a:off x="10957255" y="6437376"/>
            <a:ext cx="914400" cy="274320"/>
          </a:xfrm>
          <a:prstGeom prst="rect">
            <a:avLst/>
          </a:prstGeom>
          <a:noFill/>
        </p:spPr>
        <p:txBody>
          <a:bodyPr wrap="square" lIns="0" rIns="0" tIns="0" bIns="0" anchor="t">
            <a:spAutoFit/>
          </a:bodyPr>
          <a:lstStyle/>
          <a:p>
            <a:pPr algn="r">
              <a:lnSpc>
                <a:spcPts val="1238"/>
              </a:lnSpc>
              <a:spcAft>
                <a:spcPts val="0"/>
              </a:spcAft>
            </a:pPr>
            <a:r>
              <a:rPr sz="1050" b="0" i="0">
                <a:solidFill>
                  <a:srgbClr val="FFFFFF"/>
                </a:solidFill>
                <a:latin typeface="Arial"/>
              </a:rPr>
              <a:t>21</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02920" y="310896"/>
            <a:ext cx="11183112" cy="431291"/>
          </a:xfrm>
          <a:prstGeom prst="rect">
            <a:avLst/>
          </a:prstGeom>
          <a:noFill/>
        </p:spPr>
        <p:txBody>
          <a:bodyPr wrap="square" lIns="0" rIns="0" tIns="0" bIns="0" anchor="t">
            <a:spAutoFit/>
          </a:bodyPr>
          <a:lstStyle/>
          <a:p>
            <a:pPr algn="l">
              <a:lnSpc>
                <a:spcPts val="2963"/>
              </a:lnSpc>
              <a:spcAft>
                <a:spcPts val="0"/>
              </a:spcAft>
            </a:pPr>
            <a:r>
              <a:rPr sz="2600" b="1" i="0">
                <a:solidFill>
                  <a:srgbClr val="141B2E"/>
                </a:solidFill>
                <a:latin typeface="Arial"/>
              </a:rPr>
              <a:t>One server is his. A colleague added three more</a:t>
            </a:r>
          </a:p>
        </p:txBody>
      </p:sp>
      <p:sp>
        <p:nvSpPr>
          <p:cNvPr id="3" name="Rounded Rectangle 2"/>
          <p:cNvSpPr/>
          <p:nvPr/>
        </p:nvSpPr>
        <p:spPr>
          <a:xfrm>
            <a:off x="502920" y="1048664"/>
            <a:ext cx="82296" cy="982980"/>
          </a:xfrm>
          <a:prstGeom prst="roundRect">
            <a:avLst>
              <a:gd name="adj" fmla="val 50000"/>
            </a:avLst>
          </a:prstGeom>
          <a:solidFill>
            <a:srgbClr val="F0AB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59536" y="1176680"/>
            <a:ext cx="10643616" cy="726948"/>
          </a:xfrm>
          <a:prstGeom prst="rect">
            <a:avLst/>
          </a:prstGeom>
          <a:noFill/>
        </p:spPr>
        <p:txBody>
          <a:bodyPr wrap="square" lIns="0" rIns="0" tIns="0" bIns="0" anchor="ctr">
            <a:spAutoFit/>
          </a:bodyPr>
          <a:lstStyle/>
          <a:p>
            <a:pPr algn="l">
              <a:lnSpc>
                <a:spcPts val="1860"/>
              </a:lnSpc>
              <a:spcAft>
                <a:spcPts val="300"/>
              </a:spcAft>
            </a:pPr>
            <a:r>
              <a:rPr sz="1500" b="1" i="0">
                <a:solidFill>
                  <a:srgbClr val="141B2E"/>
                </a:solidFill>
                <a:latin typeface="Arial"/>
              </a:rPr>
              <a:t>The project connection file: the issue tracker is his own; the browser, the database, the documentation server are a colleague's, for his own work. The scope is the project's, and everyone who works with the repository sees it.</a:t>
            </a:r>
          </a:p>
        </p:txBody>
      </p:sp>
      <p:sp>
        <p:nvSpPr>
          <p:cNvPr id="5" name="Rounded Rectangle 4"/>
          <p:cNvSpPr/>
          <p:nvPr/>
        </p:nvSpPr>
        <p:spPr>
          <a:xfrm>
            <a:off x="502920" y="2459507"/>
            <a:ext cx="11183112" cy="2771775"/>
          </a:xfrm>
          <a:prstGeom prst="roundRect">
            <a:avLst>
              <a:gd name="adj" fmla="val 10996"/>
            </a:avLst>
          </a:prstGeom>
          <a:solidFill>
            <a:srgbClr val="F4F7FA"/>
          </a:solidFill>
          <a:ln w="15240">
            <a:solidFill>
              <a:srgbClr val="E5EA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758952" y="2894990"/>
            <a:ext cx="100584" cy="100584"/>
          </a:xfrm>
          <a:prstGeom prst="roundRect">
            <a:avLst>
              <a:gd name="adj" fmla="val 50000"/>
            </a:avLst>
          </a:prstGeom>
          <a:solidFill>
            <a:srgbClr val="0280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106424" y="2678963"/>
            <a:ext cx="10360152" cy="532638"/>
          </a:xfrm>
          <a:prstGeom prst="rect">
            <a:avLst/>
          </a:prstGeom>
          <a:noFill/>
        </p:spPr>
        <p:txBody>
          <a:bodyPr wrap="square" lIns="0" rIns="0" tIns="0" bIns="0" anchor="ctr">
            <a:spAutoFit/>
          </a:bodyPr>
          <a:lstStyle/>
          <a:p>
            <a:pPr algn="l">
              <a:lnSpc>
                <a:spcPts val="1593"/>
              </a:lnSpc>
              <a:spcAft>
                <a:spcPts val="0"/>
              </a:spcAft>
            </a:pPr>
            <a:r>
              <a:rPr sz="1350" b="1" i="0">
                <a:solidFill>
                  <a:srgbClr val="141B2E"/>
                </a:solidFill>
                <a:latin typeface="Arial"/>
              </a:rPr>
              <a:t>What he noticed.</a:t>
            </a:r>
            <a:r>
              <a:rPr sz="1350" b="0" i="0">
                <a:solidFill>
                  <a:srgbClr val="141B2E"/>
                </a:solidFill>
                <a:latin typeface="Arial"/>
              </a:rPr>
              <a:t> On a long edit the agent compacted the conversation noticeably earlier than usual and re-asked what they had agreed at the start.</a:t>
            </a:r>
          </a:p>
        </p:txBody>
      </p:sp>
      <p:sp>
        <p:nvSpPr>
          <p:cNvPr id="8" name="Rounded Rectangle 7"/>
          <p:cNvSpPr/>
          <p:nvPr/>
        </p:nvSpPr>
        <p:spPr>
          <a:xfrm>
            <a:off x="758952" y="3427628"/>
            <a:ext cx="100584" cy="100584"/>
          </a:xfrm>
          <a:prstGeom prst="roundRect">
            <a:avLst>
              <a:gd name="adj" fmla="val 50000"/>
            </a:avLst>
          </a:prstGeom>
          <a:solidFill>
            <a:srgbClr val="0280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106424" y="3211601"/>
            <a:ext cx="10360152" cy="532638"/>
          </a:xfrm>
          <a:prstGeom prst="rect">
            <a:avLst/>
          </a:prstGeom>
          <a:noFill/>
        </p:spPr>
        <p:txBody>
          <a:bodyPr wrap="square" lIns="0" rIns="0" tIns="0" bIns="0" anchor="ctr">
            <a:spAutoFit/>
          </a:bodyPr>
          <a:lstStyle/>
          <a:p>
            <a:pPr algn="l">
              <a:lnSpc>
                <a:spcPts val="1593"/>
              </a:lnSpc>
              <a:spcAft>
                <a:spcPts val="0"/>
              </a:spcAft>
            </a:pPr>
            <a:r>
              <a:rPr sz="1350" b="1" i="0">
                <a:solidFill>
                  <a:srgbClr val="141B2E"/>
                </a:solidFill>
                <a:latin typeface="Arial"/>
              </a:rPr>
              <a:t>What it is made up of.</a:t>
            </a:r>
            <a:r>
              <a:rPr sz="1350" b="0" i="0">
                <a:solidFill>
                  <a:srgbClr val="141B2E"/>
                </a:solidFill>
                <a:latin typeface="Arial"/>
              </a:rPr>
              <a:t> He looked at what lies in the context before his first question: the system part, the project's instruction files, the tool definitions of four servers.</a:t>
            </a:r>
          </a:p>
        </p:txBody>
      </p:sp>
      <p:sp>
        <p:nvSpPr>
          <p:cNvPr id="10" name="Rounded Rectangle 9"/>
          <p:cNvSpPr/>
          <p:nvPr/>
        </p:nvSpPr>
        <p:spPr>
          <a:xfrm>
            <a:off x="758952" y="4061421"/>
            <a:ext cx="100584" cy="100584"/>
          </a:xfrm>
          <a:prstGeom prst="roundRect">
            <a:avLst>
              <a:gd name="adj" fmla="val 50000"/>
            </a:avLst>
          </a:prstGeom>
          <a:solidFill>
            <a:srgbClr val="0280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106424" y="3744239"/>
            <a:ext cx="10360152" cy="734949"/>
          </a:xfrm>
          <a:prstGeom prst="rect">
            <a:avLst/>
          </a:prstGeom>
          <a:noFill/>
        </p:spPr>
        <p:txBody>
          <a:bodyPr wrap="square" lIns="0" rIns="0" tIns="0" bIns="0" anchor="ctr">
            <a:spAutoFit/>
          </a:bodyPr>
          <a:lstStyle/>
          <a:p>
            <a:pPr algn="l">
              <a:lnSpc>
                <a:spcPts val="1593"/>
              </a:lnSpc>
              <a:spcAft>
                <a:spcPts val="0"/>
              </a:spcAft>
            </a:pPr>
            <a:r>
              <a:rPr sz="1350" b="1" i="0">
                <a:solidFill>
                  <a:srgbClr val="141B2E"/>
                </a:solidFill>
                <a:latin typeface="Arial"/>
              </a:rPr>
              <a:t>What he found in the other person's lines.</a:t>
            </a:r>
            <a:r>
              <a:rPr sz="1350" b="0" i="0">
                <a:solidFill>
                  <a:srgbClr val="141B2E"/>
                </a:solidFill>
                <a:latin typeface="Arial"/>
              </a:rPr>
              <a:t> Two of the servers have </a:t>
            </a:r>
            <a:r>
              <a:rPr sz="1350" b="0" i="0">
                <a:solidFill>
                  <a:srgbClr val="141B2E"/>
                </a:solidFill>
                <a:latin typeface="Consolas"/>
              </a:rPr>
              <a:t>alwaysLoad:</a:t>
            </a:r>
            <a:r>
              <a:rPr sz="1350" b="0" i="0">
                <a:solidFill>
                  <a:srgbClr val="141B2E"/>
                </a:solidFill>
                <a:latin typeface="Arial"/>
              </a:rPr>
              <a:t> </a:t>
            </a:r>
            <a:r>
              <a:rPr sz="1350" b="0" i="0">
                <a:solidFill>
                  <a:srgbClr val="141B2E"/>
                </a:solidFill>
                <a:latin typeface="Consolas"/>
              </a:rPr>
              <a:t>true</a:t>
            </a:r>
            <a:r>
              <a:rPr sz="1350" b="0" i="0">
                <a:solidFill>
                  <a:srgbClr val="141B2E"/>
                </a:solidFill>
                <a:latin typeface="Arial"/>
              </a:rPr>
              <a:t> set — the deferred loading of definitions is cancelled for them, and all of their tools are described at start-up. The colleague set the flag so the tools "would not get lost".</a:t>
            </a:r>
          </a:p>
        </p:txBody>
      </p:sp>
      <p:sp>
        <p:nvSpPr>
          <p:cNvPr id="12" name="Rounded Rectangle 11"/>
          <p:cNvSpPr/>
          <p:nvPr/>
        </p:nvSpPr>
        <p:spPr>
          <a:xfrm>
            <a:off x="758952" y="4695215"/>
            <a:ext cx="100584" cy="100584"/>
          </a:xfrm>
          <a:prstGeom prst="roundRect">
            <a:avLst>
              <a:gd name="adj" fmla="val 50000"/>
            </a:avLst>
          </a:prstGeom>
          <a:solidFill>
            <a:srgbClr val="0280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106424" y="4479188"/>
            <a:ext cx="10360152" cy="532638"/>
          </a:xfrm>
          <a:prstGeom prst="rect">
            <a:avLst/>
          </a:prstGeom>
          <a:noFill/>
        </p:spPr>
        <p:txBody>
          <a:bodyPr wrap="square" lIns="0" rIns="0" tIns="0" bIns="0" anchor="ctr">
            <a:spAutoFit/>
          </a:bodyPr>
          <a:lstStyle/>
          <a:p>
            <a:pPr algn="l">
              <a:lnSpc>
                <a:spcPts val="1593"/>
              </a:lnSpc>
              <a:spcAft>
                <a:spcPts val="0"/>
              </a:spcAft>
            </a:pPr>
            <a:r>
              <a:rPr sz="1350" b="1" i="0">
                <a:solidFill>
                  <a:srgbClr val="141B2E"/>
                </a:solidFill>
                <a:latin typeface="Arial"/>
              </a:rPr>
              <a:t>The cost.</a:t>
            </a:r>
            <a:r>
              <a:rPr sz="1350" b="0" i="0">
                <a:solidFill>
                  <a:srgbClr val="141B2E"/>
                </a:solidFill>
                <a:latin typeface="Arial"/>
              </a:rPr>
              <a:t> An hour spent going over the decisions lost in the compaction again. One edit had managed to go out into the branch on a decision he had already reversed by then.</a:t>
            </a:r>
          </a:p>
        </p:txBody>
      </p:sp>
      <p:sp>
        <p:nvSpPr>
          <p:cNvPr id="14" name="Rounded Rectangle 13"/>
          <p:cNvSpPr/>
          <p:nvPr/>
        </p:nvSpPr>
        <p:spPr>
          <a:xfrm>
            <a:off x="502920" y="5659145"/>
            <a:ext cx="82296" cy="510540"/>
          </a:xfrm>
          <a:prstGeom prst="roundRect">
            <a:avLst>
              <a:gd name="adj" fmla="val 50000"/>
            </a:avLst>
          </a:prstGeom>
          <a:solidFill>
            <a:srgbClr val="F0AB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59536" y="5787161"/>
            <a:ext cx="10643616" cy="254508"/>
          </a:xfrm>
          <a:prstGeom prst="rect">
            <a:avLst/>
          </a:prstGeom>
          <a:noFill/>
        </p:spPr>
        <p:txBody>
          <a:bodyPr wrap="square" lIns="0" rIns="0" tIns="0" bIns="0" anchor="ctr">
            <a:spAutoFit/>
          </a:bodyPr>
          <a:lstStyle/>
          <a:p>
            <a:pPr algn="l">
              <a:lnSpc>
                <a:spcPts val="1860"/>
              </a:lnSpc>
              <a:spcAft>
                <a:spcPts val="300"/>
              </a:spcAft>
            </a:pPr>
            <a:r>
              <a:rPr sz="1500" b="1" i="0">
                <a:solidFill>
                  <a:srgbClr val="141B2E"/>
                </a:solidFill>
                <a:latin typeface="Arial"/>
              </a:rPr>
              <a:t>Over the whole task he reached for one server out of four. The cost was paid for four.</a:t>
            </a:r>
          </a:p>
        </p:txBody>
      </p:sp>
      <p:sp>
        <p:nvSpPr>
          <p:cNvPr id="16" name="TextBox 15"/>
          <p:cNvSpPr txBox="1"/>
          <p:nvPr/>
        </p:nvSpPr>
        <p:spPr>
          <a:xfrm>
            <a:off x="10957255" y="6437376"/>
            <a:ext cx="914400" cy="274320"/>
          </a:xfrm>
          <a:prstGeom prst="rect">
            <a:avLst/>
          </a:prstGeom>
          <a:noFill/>
        </p:spPr>
        <p:txBody>
          <a:bodyPr wrap="square" lIns="0" rIns="0" tIns="0" bIns="0" anchor="t">
            <a:spAutoFit/>
          </a:bodyPr>
          <a:lstStyle/>
          <a:p>
            <a:pPr algn="r">
              <a:lnSpc>
                <a:spcPts val="1238"/>
              </a:lnSpc>
              <a:spcAft>
                <a:spcPts val="0"/>
              </a:spcAft>
            </a:pPr>
            <a:r>
              <a:rPr sz="1050" b="0" i="0">
                <a:solidFill>
                  <a:srgbClr val="6B7685"/>
                </a:solidFill>
                <a:latin typeface="Arial"/>
              </a:rPr>
              <a:t>22</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02920" y="310896"/>
            <a:ext cx="11183112" cy="431291"/>
          </a:xfrm>
          <a:prstGeom prst="rect">
            <a:avLst/>
          </a:prstGeom>
          <a:noFill/>
        </p:spPr>
        <p:txBody>
          <a:bodyPr wrap="square" lIns="0" rIns="0" tIns="0" bIns="0" anchor="t">
            <a:spAutoFit/>
          </a:bodyPr>
          <a:lstStyle/>
          <a:p>
            <a:pPr algn="l">
              <a:lnSpc>
                <a:spcPts val="2963"/>
              </a:lnSpc>
              <a:spcAft>
                <a:spcPts val="0"/>
              </a:spcAft>
            </a:pPr>
            <a:r>
              <a:rPr sz="2600" b="1" i="0">
                <a:solidFill>
                  <a:srgbClr val="141B2E"/>
                </a:solidFill>
                <a:latin typeface="Arial"/>
              </a:rPr>
              <a:t>Four servers, one was needed. What do we change?</a:t>
            </a:r>
          </a:p>
        </p:txBody>
      </p:sp>
      <p:sp>
        <p:nvSpPr>
          <p:cNvPr id="3" name="Rounded Rectangle 2"/>
          <p:cNvSpPr/>
          <p:nvPr/>
        </p:nvSpPr>
        <p:spPr>
          <a:xfrm>
            <a:off x="502920" y="1462125"/>
            <a:ext cx="11183112" cy="822960"/>
          </a:xfrm>
          <a:prstGeom prst="roundRect">
            <a:avLst>
              <a:gd name="adj" fmla="val 10000"/>
            </a:avLst>
          </a:prstGeom>
          <a:solidFill>
            <a:srgbClr val="FEF5E0"/>
          </a:solidFill>
          <a:ln w="19050">
            <a:solidFill>
              <a:srgbClr val="F0AB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22376" y="1590141"/>
            <a:ext cx="10634472" cy="566928"/>
          </a:xfrm>
          <a:prstGeom prst="rect">
            <a:avLst/>
          </a:prstGeom>
          <a:noFill/>
        </p:spPr>
        <p:txBody>
          <a:bodyPr wrap="square" lIns="0" rIns="0" tIns="0" bIns="0" anchor="ctr">
            <a:spAutoFit/>
          </a:bodyPr>
          <a:lstStyle/>
          <a:p>
            <a:pPr algn="ctr">
              <a:lnSpc>
                <a:spcPts val="2013"/>
              </a:lnSpc>
              <a:spcAft>
                <a:spcPts val="300"/>
              </a:spcAft>
            </a:pPr>
            <a:r>
              <a:rPr sz="1650" b="1" i="0">
                <a:solidFill>
                  <a:srgbClr val="141B2E"/>
                </a:solidFill>
                <a:latin typeface="Arial"/>
              </a:rPr>
              <a:t>Who has more than three servers connected in their working project? And how many did you reach for over the last working week?</a:t>
            </a:r>
          </a:p>
        </p:txBody>
      </p:sp>
      <p:sp>
        <p:nvSpPr>
          <p:cNvPr id="5" name="Rounded Rectangle 4"/>
          <p:cNvSpPr/>
          <p:nvPr/>
        </p:nvSpPr>
        <p:spPr>
          <a:xfrm>
            <a:off x="502920" y="2952597"/>
            <a:ext cx="11183112" cy="822960"/>
          </a:xfrm>
          <a:prstGeom prst="roundRect">
            <a:avLst>
              <a:gd name="adj" fmla="val 10000"/>
            </a:avLst>
          </a:prstGeom>
          <a:solidFill>
            <a:srgbClr val="FEF5E0"/>
          </a:solidFill>
          <a:ln w="19050">
            <a:solidFill>
              <a:srgbClr val="F0AB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22376" y="3080613"/>
            <a:ext cx="10634472" cy="566928"/>
          </a:xfrm>
          <a:prstGeom prst="rect">
            <a:avLst/>
          </a:prstGeom>
          <a:noFill/>
        </p:spPr>
        <p:txBody>
          <a:bodyPr wrap="square" lIns="0" rIns="0" tIns="0" bIns="0" anchor="ctr">
            <a:spAutoFit/>
          </a:bodyPr>
          <a:lstStyle/>
          <a:p>
            <a:pPr algn="ctr">
              <a:lnSpc>
                <a:spcPts val="2013"/>
              </a:lnSpc>
              <a:spcAft>
                <a:spcPts val="300"/>
              </a:spcAft>
            </a:pPr>
            <a:r>
              <a:rPr sz="1650" b="1" i="0">
                <a:solidFill>
                  <a:srgbClr val="141B2E"/>
                </a:solidFill>
                <a:latin typeface="Arial"/>
              </a:rPr>
              <a:t>Name both numbers — and say what you put as the first step and what you add to it next.</a:t>
            </a:r>
          </a:p>
        </p:txBody>
      </p:sp>
      <p:sp>
        <p:nvSpPr>
          <p:cNvPr id="7" name="Rounded Rectangle 6"/>
          <p:cNvSpPr/>
          <p:nvPr/>
        </p:nvSpPr>
        <p:spPr>
          <a:xfrm>
            <a:off x="502920" y="4443069"/>
            <a:ext cx="2119579" cy="1106424"/>
          </a:xfrm>
          <a:prstGeom prst="roundRect">
            <a:avLst>
              <a:gd name="adj" fmla="val 25000"/>
            </a:avLst>
          </a:prstGeom>
          <a:solidFill>
            <a:srgbClr val="F4F7FA"/>
          </a:solidFill>
          <a:ln w="15240">
            <a:solidFill>
              <a:srgbClr val="E5EA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12648" y="4443069"/>
            <a:ext cx="1900123" cy="1106424"/>
          </a:xfrm>
          <a:prstGeom prst="rect">
            <a:avLst/>
          </a:prstGeom>
          <a:noFill/>
        </p:spPr>
        <p:txBody>
          <a:bodyPr wrap="square" lIns="0" rIns="0" tIns="0" bIns="0" anchor="ctr">
            <a:spAutoFit/>
          </a:bodyPr>
          <a:lstStyle/>
          <a:p>
            <a:pPr algn="ctr">
              <a:lnSpc>
                <a:spcPts val="1565"/>
              </a:lnSpc>
              <a:spcAft>
                <a:spcPts val="0"/>
              </a:spcAft>
            </a:pPr>
            <a:r>
              <a:rPr sz="1350" b="1" i="0">
                <a:solidFill>
                  <a:srgbClr val="141B2E"/>
                </a:solidFill>
                <a:latin typeface="Arial"/>
              </a:rPr>
              <a:t>nothing — the context is large, it will do</a:t>
            </a:r>
          </a:p>
        </p:txBody>
      </p:sp>
      <p:sp>
        <p:nvSpPr>
          <p:cNvPr id="9" name="Rounded Rectangle 8"/>
          <p:cNvSpPr/>
          <p:nvPr/>
        </p:nvSpPr>
        <p:spPr>
          <a:xfrm>
            <a:off x="2768803" y="4443069"/>
            <a:ext cx="2119579" cy="1106424"/>
          </a:xfrm>
          <a:prstGeom prst="roundRect">
            <a:avLst>
              <a:gd name="adj" fmla="val 25000"/>
            </a:avLst>
          </a:prstGeom>
          <a:solidFill>
            <a:srgbClr val="F4F7FA"/>
          </a:solidFill>
          <a:ln w="15240">
            <a:solidFill>
              <a:srgbClr val="E5EA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878531" y="4443069"/>
            <a:ext cx="1900123" cy="1106424"/>
          </a:xfrm>
          <a:prstGeom prst="rect">
            <a:avLst/>
          </a:prstGeom>
          <a:noFill/>
        </p:spPr>
        <p:txBody>
          <a:bodyPr wrap="square" lIns="0" rIns="0" tIns="0" bIns="0" anchor="ctr">
            <a:spAutoFit/>
          </a:bodyPr>
          <a:lstStyle/>
          <a:p>
            <a:pPr algn="ctr">
              <a:lnSpc>
                <a:spcPts val="1565"/>
              </a:lnSpc>
              <a:spcAft>
                <a:spcPts val="0"/>
              </a:spcAft>
            </a:pPr>
            <a:r>
              <a:rPr sz="1350" b="1" i="0">
                <a:solidFill>
                  <a:srgbClr val="141B2E"/>
                </a:solidFill>
                <a:latin typeface="Arial"/>
              </a:rPr>
              <a:t>disconnect the servers you do not use</a:t>
            </a:r>
          </a:p>
        </p:txBody>
      </p:sp>
      <p:sp>
        <p:nvSpPr>
          <p:cNvPr id="11" name="Rounded Rectangle 10"/>
          <p:cNvSpPr/>
          <p:nvPr/>
        </p:nvSpPr>
        <p:spPr>
          <a:xfrm>
            <a:off x="5034686" y="4443069"/>
            <a:ext cx="2119579" cy="1106424"/>
          </a:xfrm>
          <a:prstGeom prst="roundRect">
            <a:avLst>
              <a:gd name="adj" fmla="val 25000"/>
            </a:avLst>
          </a:prstGeom>
          <a:solidFill>
            <a:srgbClr val="F4F7FA"/>
          </a:solidFill>
          <a:ln w="15240">
            <a:solidFill>
              <a:srgbClr val="E5EA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144414" y="4443069"/>
            <a:ext cx="1900123" cy="1106424"/>
          </a:xfrm>
          <a:prstGeom prst="rect">
            <a:avLst/>
          </a:prstGeom>
          <a:noFill/>
        </p:spPr>
        <p:txBody>
          <a:bodyPr wrap="square" lIns="0" rIns="0" tIns="0" bIns="0" anchor="ctr">
            <a:spAutoFit/>
          </a:bodyPr>
          <a:lstStyle/>
          <a:p>
            <a:pPr algn="ctr">
              <a:lnSpc>
                <a:spcPts val="1565"/>
              </a:lnSpc>
              <a:spcAft>
                <a:spcPts val="0"/>
              </a:spcAft>
            </a:pPr>
            <a:r>
              <a:rPr sz="1350" b="1" i="0">
                <a:solidFill>
                  <a:srgbClr val="141B2E"/>
                </a:solidFill>
                <a:latin typeface="Arial"/>
              </a:rPr>
              <a:t>leave them connected, but get the definitions on demand</a:t>
            </a:r>
          </a:p>
        </p:txBody>
      </p:sp>
      <p:sp>
        <p:nvSpPr>
          <p:cNvPr id="13" name="Rounded Rectangle 12"/>
          <p:cNvSpPr/>
          <p:nvPr/>
        </p:nvSpPr>
        <p:spPr>
          <a:xfrm>
            <a:off x="7300569" y="4443069"/>
            <a:ext cx="2119579" cy="1106424"/>
          </a:xfrm>
          <a:prstGeom prst="roundRect">
            <a:avLst>
              <a:gd name="adj" fmla="val 25000"/>
            </a:avLst>
          </a:prstGeom>
          <a:solidFill>
            <a:srgbClr val="F4F7FA"/>
          </a:solidFill>
          <a:ln w="15240">
            <a:solidFill>
              <a:srgbClr val="E5EA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410297" y="4443069"/>
            <a:ext cx="1900123" cy="1106424"/>
          </a:xfrm>
          <a:prstGeom prst="rect">
            <a:avLst/>
          </a:prstGeom>
          <a:noFill/>
        </p:spPr>
        <p:txBody>
          <a:bodyPr wrap="square" lIns="0" rIns="0" tIns="0" bIns="0" anchor="ctr">
            <a:spAutoFit/>
          </a:bodyPr>
          <a:lstStyle/>
          <a:p>
            <a:pPr algn="ctr">
              <a:lnSpc>
                <a:spcPts val="1565"/>
              </a:lnSpc>
              <a:spcAft>
                <a:spcPts val="0"/>
              </a:spcAft>
            </a:pPr>
            <a:r>
              <a:rPr sz="1350" b="1" i="0">
                <a:solidFill>
                  <a:srgbClr val="141B2E"/>
                </a:solidFill>
                <a:latin typeface="Arial"/>
              </a:rPr>
              <a:t>keep a set of servers for the task, not a shared project one</a:t>
            </a:r>
          </a:p>
        </p:txBody>
      </p:sp>
      <p:sp>
        <p:nvSpPr>
          <p:cNvPr id="15" name="Rounded Rectangle 14"/>
          <p:cNvSpPr/>
          <p:nvPr/>
        </p:nvSpPr>
        <p:spPr>
          <a:xfrm>
            <a:off x="9566452" y="4443069"/>
            <a:ext cx="2119579" cy="1106424"/>
          </a:xfrm>
          <a:prstGeom prst="roundRect">
            <a:avLst>
              <a:gd name="adj" fmla="val 25000"/>
            </a:avLst>
          </a:prstGeom>
          <a:solidFill>
            <a:srgbClr val="F4F7FA"/>
          </a:solidFill>
          <a:ln w="15240">
            <a:solidFill>
              <a:srgbClr val="E5EA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676180" y="4443069"/>
            <a:ext cx="1900123" cy="1106424"/>
          </a:xfrm>
          <a:prstGeom prst="rect">
            <a:avLst/>
          </a:prstGeom>
          <a:noFill/>
        </p:spPr>
        <p:txBody>
          <a:bodyPr wrap="square" lIns="0" rIns="0" tIns="0" bIns="0" anchor="ctr">
            <a:spAutoFit/>
          </a:bodyPr>
          <a:lstStyle/>
          <a:p>
            <a:pPr algn="ctr">
              <a:lnSpc>
                <a:spcPts val="1565"/>
              </a:lnSpc>
              <a:spcAft>
                <a:spcPts val="0"/>
              </a:spcAft>
            </a:pPr>
            <a:r>
              <a:rPr sz="1350" b="1" i="0">
                <a:solidFill>
                  <a:srgbClr val="141B2E"/>
                </a:solidFill>
                <a:latin typeface="Arial"/>
              </a:rPr>
              <a:t>compact the conversation more often</a:t>
            </a:r>
          </a:p>
        </p:txBody>
      </p:sp>
      <p:sp>
        <p:nvSpPr>
          <p:cNvPr id="17" name="TextBox 16"/>
          <p:cNvSpPr txBox="1"/>
          <p:nvPr/>
        </p:nvSpPr>
        <p:spPr>
          <a:xfrm>
            <a:off x="10957255" y="6437376"/>
            <a:ext cx="914400" cy="274320"/>
          </a:xfrm>
          <a:prstGeom prst="rect">
            <a:avLst/>
          </a:prstGeom>
          <a:noFill/>
        </p:spPr>
        <p:txBody>
          <a:bodyPr wrap="square" lIns="0" rIns="0" tIns="0" bIns="0" anchor="t">
            <a:spAutoFit/>
          </a:bodyPr>
          <a:lstStyle/>
          <a:p>
            <a:pPr algn="r">
              <a:lnSpc>
                <a:spcPts val="1238"/>
              </a:lnSpc>
              <a:spcAft>
                <a:spcPts val="0"/>
              </a:spcAft>
            </a:pPr>
            <a:r>
              <a:rPr sz="1050" b="0" i="0">
                <a:solidFill>
                  <a:srgbClr val="6B7685"/>
                </a:solidFill>
                <a:latin typeface="Arial"/>
              </a:rPr>
              <a:t>23</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02920" y="310896"/>
            <a:ext cx="11183112" cy="431291"/>
          </a:xfrm>
          <a:prstGeom prst="rect">
            <a:avLst/>
          </a:prstGeom>
          <a:noFill/>
        </p:spPr>
        <p:txBody>
          <a:bodyPr wrap="square" lIns="0" rIns="0" tIns="0" bIns="0" anchor="t">
            <a:spAutoFit/>
          </a:bodyPr>
          <a:lstStyle/>
          <a:p>
            <a:pPr algn="l">
              <a:lnSpc>
                <a:spcPts val="2963"/>
              </a:lnSpc>
              <a:spcAft>
                <a:spcPts val="0"/>
              </a:spcAft>
            </a:pPr>
            <a:r>
              <a:rPr sz="2600" b="1" i="0">
                <a:solidFill>
                  <a:srgbClr val="141B2E"/>
                </a:solidFill>
                <a:latin typeface="Arial"/>
              </a:rPr>
              <a:t>A server you did not use costs the same</a:t>
            </a:r>
          </a:p>
        </p:txBody>
      </p:sp>
      <p:sp>
        <p:nvSpPr>
          <p:cNvPr id="3" name="Rounded Rectangle 2"/>
          <p:cNvSpPr/>
          <p:nvPr/>
        </p:nvSpPr>
        <p:spPr>
          <a:xfrm>
            <a:off x="502920" y="943356"/>
            <a:ext cx="11183112" cy="3990149"/>
          </a:xfrm>
          <a:prstGeom prst="roundRect">
            <a:avLst>
              <a:gd name="adj" fmla="val 7638"/>
            </a:avLst>
          </a:prstGeom>
          <a:solidFill>
            <a:srgbClr val="FFFFFF"/>
          </a:solidFill>
          <a:ln w="1778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85800" y="1126236"/>
            <a:ext cx="1199042" cy="282067"/>
          </a:xfrm>
          <a:prstGeom prst="rect">
            <a:avLst/>
          </a:prstGeom>
          <a:noFill/>
        </p:spPr>
        <p:txBody>
          <a:bodyPr wrap="square" lIns="0" rIns="0" tIns="0" bIns="0" anchor="t">
            <a:spAutoFit/>
          </a:bodyPr>
          <a:lstStyle/>
          <a:p>
            <a:pPr algn="l">
              <a:lnSpc>
                <a:spcPts val="1265"/>
              </a:lnSpc>
              <a:spcAft>
                <a:spcPts val="0"/>
              </a:spcAft>
            </a:pPr>
            <a:r>
              <a:rPr sz="1150" b="1" i="0">
                <a:solidFill>
                  <a:srgbClr val="6B7685"/>
                </a:solidFill>
                <a:latin typeface="Arial"/>
              </a:rPr>
              <a:t>OPTION</a:t>
            </a:r>
          </a:p>
        </p:txBody>
      </p:sp>
      <p:sp>
        <p:nvSpPr>
          <p:cNvPr id="5" name="TextBox 4"/>
          <p:cNvSpPr txBox="1"/>
          <p:nvPr/>
        </p:nvSpPr>
        <p:spPr>
          <a:xfrm>
            <a:off x="2031146" y="1126236"/>
            <a:ext cx="3582618" cy="282067"/>
          </a:xfrm>
          <a:prstGeom prst="rect">
            <a:avLst/>
          </a:prstGeom>
          <a:noFill/>
        </p:spPr>
        <p:txBody>
          <a:bodyPr wrap="square" lIns="0" rIns="0" tIns="0" bIns="0" anchor="t">
            <a:spAutoFit/>
          </a:bodyPr>
          <a:lstStyle/>
          <a:p>
            <a:pPr algn="l">
              <a:lnSpc>
                <a:spcPts val="1265"/>
              </a:lnSpc>
              <a:spcAft>
                <a:spcPts val="0"/>
              </a:spcAft>
            </a:pPr>
            <a:r>
              <a:rPr sz="1150" b="1" i="0">
                <a:solidFill>
                  <a:srgbClr val="6B7685"/>
                </a:solidFill>
                <a:latin typeface="Arial"/>
              </a:rPr>
              <a:t>WHAT IT DOES</a:t>
            </a:r>
          </a:p>
        </p:txBody>
      </p:sp>
      <p:sp>
        <p:nvSpPr>
          <p:cNvPr id="6" name="TextBox 5"/>
          <p:cNvSpPr txBox="1"/>
          <p:nvPr/>
        </p:nvSpPr>
        <p:spPr>
          <a:xfrm>
            <a:off x="5760069" y="1126236"/>
            <a:ext cx="5596778" cy="282067"/>
          </a:xfrm>
          <a:prstGeom prst="rect">
            <a:avLst/>
          </a:prstGeom>
          <a:noFill/>
        </p:spPr>
        <p:txBody>
          <a:bodyPr wrap="square" lIns="0" rIns="0" tIns="0" bIns="0" anchor="t">
            <a:spAutoFit/>
          </a:bodyPr>
          <a:lstStyle/>
          <a:p>
            <a:pPr algn="l">
              <a:lnSpc>
                <a:spcPts val="1265"/>
              </a:lnSpc>
              <a:spcAft>
                <a:spcPts val="0"/>
              </a:spcAft>
            </a:pPr>
            <a:r>
              <a:rPr sz="1150" b="1" i="0">
                <a:solidFill>
                  <a:srgbClr val="6B7685"/>
                </a:solidFill>
                <a:latin typeface="Arial"/>
              </a:rPr>
              <a:t>WHAT IT DOES NOT DO / THE LIMIT</a:t>
            </a:r>
          </a:p>
        </p:txBody>
      </p:sp>
      <p:sp>
        <p:nvSpPr>
          <p:cNvPr id="7" name="TextBox 6"/>
          <p:cNvSpPr txBox="1"/>
          <p:nvPr/>
        </p:nvSpPr>
        <p:spPr>
          <a:xfrm>
            <a:off x="685800" y="1408303"/>
            <a:ext cx="1199042" cy="668464"/>
          </a:xfrm>
          <a:prstGeom prst="rect">
            <a:avLst/>
          </a:prstGeom>
          <a:noFill/>
        </p:spPr>
        <p:txBody>
          <a:bodyPr wrap="square" lIns="0" rIns="0" tIns="0" bIns="0" anchor="ctr">
            <a:spAutoFit/>
          </a:bodyPr>
          <a:lstStyle/>
          <a:p>
            <a:pPr algn="l">
              <a:lnSpc>
                <a:spcPts val="1322"/>
              </a:lnSpc>
              <a:spcAft>
                <a:spcPts val="0"/>
              </a:spcAft>
            </a:pPr>
            <a:r>
              <a:rPr sz="1150" b="0" i="0">
                <a:solidFill>
                  <a:srgbClr val="141B2E"/>
                </a:solidFill>
                <a:latin typeface="Arial"/>
              </a:rPr>
              <a:t>nothing — the context is large</a:t>
            </a:r>
          </a:p>
        </p:txBody>
      </p:sp>
      <p:sp>
        <p:nvSpPr>
          <p:cNvPr id="8" name="TextBox 7"/>
          <p:cNvSpPr txBox="1"/>
          <p:nvPr/>
        </p:nvSpPr>
        <p:spPr>
          <a:xfrm>
            <a:off x="2031146" y="1408303"/>
            <a:ext cx="3582618" cy="668464"/>
          </a:xfrm>
          <a:prstGeom prst="rect">
            <a:avLst/>
          </a:prstGeom>
          <a:noFill/>
        </p:spPr>
        <p:txBody>
          <a:bodyPr wrap="square" lIns="0" rIns="0" tIns="0" bIns="0" anchor="ctr">
            <a:spAutoFit/>
          </a:bodyPr>
          <a:lstStyle/>
          <a:p>
            <a:pPr algn="l">
              <a:lnSpc>
                <a:spcPts val="1322"/>
              </a:lnSpc>
              <a:spcAft>
                <a:spcPts val="0"/>
              </a:spcAft>
            </a:pPr>
            <a:r>
              <a:rPr sz="1150" b="0" i="0">
                <a:solidFill>
                  <a:srgbClr val="141B2E"/>
                </a:solidFill>
                <a:latin typeface="Arial"/>
              </a:rPr>
              <a:t>leaves everything as it is: on a short task it is not even noticeable</a:t>
            </a:r>
          </a:p>
        </p:txBody>
      </p:sp>
      <p:sp>
        <p:nvSpPr>
          <p:cNvPr id="9" name="TextBox 8"/>
          <p:cNvSpPr txBox="1"/>
          <p:nvPr/>
        </p:nvSpPr>
        <p:spPr>
          <a:xfrm>
            <a:off x="5760069" y="1408303"/>
            <a:ext cx="5596778" cy="668464"/>
          </a:xfrm>
          <a:prstGeom prst="rect">
            <a:avLst/>
          </a:prstGeom>
          <a:noFill/>
        </p:spPr>
        <p:txBody>
          <a:bodyPr wrap="square" lIns="0" rIns="0" tIns="0" bIns="0" anchor="ctr">
            <a:spAutoFit/>
          </a:bodyPr>
          <a:lstStyle/>
          <a:p>
            <a:pPr algn="l">
              <a:lnSpc>
                <a:spcPts val="1322"/>
              </a:lnSpc>
              <a:spcAft>
                <a:spcPts val="0"/>
              </a:spcAft>
            </a:pPr>
            <a:r>
              <a:rPr sz="1150" b="0" i="0">
                <a:solidFill>
                  <a:srgbClr val="141B2E"/>
                </a:solidFill>
                <a:latin typeface="Arial"/>
              </a:rPr>
              <a:t>you have already paid the cost, and it holds for the whole session: on a long task the compaction comes earlier, and some of the decisions taken go into a paraphrase</a:t>
            </a:r>
          </a:p>
        </p:txBody>
      </p:sp>
      <p:cxnSp>
        <p:nvCxnSpPr>
          <p:cNvPr id="10" name="Connector 9"/>
          <p:cNvCxnSpPr/>
          <p:nvPr/>
        </p:nvCxnSpPr>
        <p:spPr>
          <a:xfrm>
            <a:off x="685800" y="2076767"/>
            <a:ext cx="10817352" cy="0"/>
          </a:xfrm>
          <a:prstGeom prst="line">
            <a:avLst/>
          </a:prstGeom>
          <a:ln w="9525">
            <a:solidFill>
              <a:srgbClr val="E5EAF0"/>
            </a:solidFill>
          </a:ln>
        </p:spPr>
        <p:style>
          <a:lnRef idx="2">
            <a:schemeClr val="accent1"/>
          </a:lnRef>
          <a:fillRef idx="0">
            <a:schemeClr val="accent1"/>
          </a:fillRef>
          <a:effectRef idx="1">
            <a:schemeClr val="accent1"/>
          </a:effectRef>
          <a:fontRef idx="minor">
            <a:schemeClr val="tx1"/>
          </a:fontRef>
        </p:style>
      </p:cxnSp>
      <p:sp>
        <p:nvSpPr>
          <p:cNvPr id="11" name="TextBox 10"/>
          <p:cNvSpPr txBox="1"/>
          <p:nvPr/>
        </p:nvSpPr>
        <p:spPr>
          <a:xfrm>
            <a:off x="685800" y="2076767"/>
            <a:ext cx="1199042" cy="668464"/>
          </a:xfrm>
          <a:prstGeom prst="rect">
            <a:avLst/>
          </a:prstGeom>
          <a:noFill/>
        </p:spPr>
        <p:txBody>
          <a:bodyPr wrap="square" lIns="0" rIns="0" tIns="0" bIns="0" anchor="ctr">
            <a:spAutoFit/>
          </a:bodyPr>
          <a:lstStyle/>
          <a:p>
            <a:pPr algn="l">
              <a:lnSpc>
                <a:spcPts val="1322"/>
              </a:lnSpc>
              <a:spcAft>
                <a:spcPts val="0"/>
              </a:spcAft>
            </a:pPr>
            <a:r>
              <a:rPr sz="1150" b="0" i="0">
                <a:solidFill>
                  <a:srgbClr val="141B2E"/>
                </a:solidFill>
                <a:latin typeface="Arial"/>
              </a:rPr>
              <a:t>disconnect the servers you do not use</a:t>
            </a:r>
          </a:p>
        </p:txBody>
      </p:sp>
      <p:sp>
        <p:nvSpPr>
          <p:cNvPr id="12" name="TextBox 11"/>
          <p:cNvSpPr txBox="1"/>
          <p:nvPr/>
        </p:nvSpPr>
        <p:spPr>
          <a:xfrm>
            <a:off x="2031146" y="2076767"/>
            <a:ext cx="3582618" cy="668464"/>
          </a:xfrm>
          <a:prstGeom prst="rect">
            <a:avLst/>
          </a:prstGeom>
          <a:noFill/>
        </p:spPr>
        <p:txBody>
          <a:bodyPr wrap="square" lIns="0" rIns="0" tIns="0" bIns="0" anchor="ctr">
            <a:spAutoFit/>
          </a:bodyPr>
          <a:lstStyle/>
          <a:p>
            <a:pPr algn="l">
              <a:lnSpc>
                <a:spcPts val="1322"/>
              </a:lnSpc>
              <a:spcAft>
                <a:spcPts val="0"/>
              </a:spcAft>
            </a:pPr>
            <a:r>
              <a:rPr sz="1150" b="0" i="0">
                <a:solidFill>
                  <a:srgbClr val="141B2E"/>
                </a:solidFill>
                <a:latin typeface="Arial"/>
              </a:rPr>
              <a:t>removes the cost entirely: a server that is not connected has neither names nor instructions about itself in the context</a:t>
            </a:r>
          </a:p>
        </p:txBody>
      </p:sp>
      <p:sp>
        <p:nvSpPr>
          <p:cNvPr id="13" name="TextBox 12"/>
          <p:cNvSpPr txBox="1"/>
          <p:nvPr/>
        </p:nvSpPr>
        <p:spPr>
          <a:xfrm>
            <a:off x="5760069" y="2076767"/>
            <a:ext cx="5596778" cy="668464"/>
          </a:xfrm>
          <a:prstGeom prst="rect">
            <a:avLst/>
          </a:prstGeom>
          <a:noFill/>
        </p:spPr>
        <p:txBody>
          <a:bodyPr wrap="square" lIns="0" rIns="0" tIns="0" bIns="0" anchor="ctr">
            <a:spAutoFit/>
          </a:bodyPr>
          <a:lstStyle/>
          <a:p>
            <a:pPr algn="l">
              <a:lnSpc>
                <a:spcPts val="1322"/>
              </a:lnSpc>
              <a:spcAft>
                <a:spcPts val="0"/>
              </a:spcAft>
            </a:pPr>
            <a:r>
              <a:rPr sz="1150" b="0" i="0">
                <a:solidFill>
                  <a:srgbClr val="141B2E"/>
                </a:solidFill>
                <a:latin typeface="Arial"/>
              </a:rPr>
              <a:t>it requires knowing in advance what will be needed; a needed server that has been disconnected brings back the work by hand that the section's first case began with</a:t>
            </a:r>
          </a:p>
        </p:txBody>
      </p:sp>
      <p:cxnSp>
        <p:nvCxnSpPr>
          <p:cNvPr id="14" name="Connector 13"/>
          <p:cNvCxnSpPr/>
          <p:nvPr/>
        </p:nvCxnSpPr>
        <p:spPr>
          <a:xfrm>
            <a:off x="685800" y="2745232"/>
            <a:ext cx="10817352" cy="0"/>
          </a:xfrm>
          <a:prstGeom prst="line">
            <a:avLst/>
          </a:prstGeom>
          <a:ln w="9525">
            <a:solidFill>
              <a:srgbClr val="E5EAF0"/>
            </a:solidFill>
          </a:ln>
        </p:spPr>
        <p:style>
          <a:lnRef idx="2">
            <a:schemeClr val="accent1"/>
          </a:lnRef>
          <a:fillRef idx="0">
            <a:schemeClr val="accent1"/>
          </a:fillRef>
          <a:effectRef idx="1">
            <a:schemeClr val="accent1"/>
          </a:effectRef>
          <a:fontRef idx="minor">
            <a:schemeClr val="tx1"/>
          </a:fontRef>
        </p:style>
      </p:cxnSp>
      <p:sp>
        <p:nvSpPr>
          <p:cNvPr id="15" name="TextBox 14"/>
          <p:cNvSpPr txBox="1"/>
          <p:nvPr/>
        </p:nvSpPr>
        <p:spPr>
          <a:xfrm>
            <a:off x="685800" y="2745232"/>
            <a:ext cx="1199042" cy="668464"/>
          </a:xfrm>
          <a:prstGeom prst="rect">
            <a:avLst/>
          </a:prstGeom>
          <a:noFill/>
        </p:spPr>
        <p:txBody>
          <a:bodyPr wrap="square" lIns="0" rIns="0" tIns="0" bIns="0" anchor="ctr">
            <a:spAutoFit/>
          </a:bodyPr>
          <a:lstStyle/>
          <a:p>
            <a:pPr algn="l">
              <a:lnSpc>
                <a:spcPts val="1322"/>
              </a:lnSpc>
              <a:spcAft>
                <a:spcPts val="0"/>
              </a:spcAft>
            </a:pPr>
            <a:r>
              <a:rPr sz="1150" b="0" i="0">
                <a:solidFill>
                  <a:srgbClr val="141B2E"/>
                </a:solidFill>
                <a:latin typeface="Arial"/>
              </a:rPr>
              <a:t>get the definitions on demand</a:t>
            </a:r>
          </a:p>
        </p:txBody>
      </p:sp>
      <p:sp>
        <p:nvSpPr>
          <p:cNvPr id="16" name="TextBox 15"/>
          <p:cNvSpPr txBox="1"/>
          <p:nvPr/>
        </p:nvSpPr>
        <p:spPr>
          <a:xfrm>
            <a:off x="2031146" y="2745232"/>
            <a:ext cx="3582618" cy="668464"/>
          </a:xfrm>
          <a:prstGeom prst="rect">
            <a:avLst/>
          </a:prstGeom>
          <a:noFill/>
        </p:spPr>
        <p:txBody>
          <a:bodyPr wrap="square" lIns="0" rIns="0" tIns="0" bIns="0" anchor="ctr">
            <a:spAutoFit/>
          </a:bodyPr>
          <a:lstStyle/>
          <a:p>
            <a:pPr algn="l">
              <a:lnSpc>
                <a:spcPts val="1322"/>
              </a:lnSpc>
              <a:spcAft>
                <a:spcPts val="0"/>
              </a:spcAft>
            </a:pPr>
            <a:r>
              <a:rPr sz="1150" b="0" i="0">
                <a:solidFill>
                  <a:srgbClr val="141B2E"/>
                </a:solidFill>
                <a:latin typeface="Arial"/>
              </a:rPr>
              <a:t>leaves the tool names and the server's instructions at start-up; the model pulls in the full schema once it has needed the tool</a:t>
            </a:r>
          </a:p>
        </p:txBody>
      </p:sp>
      <p:sp>
        <p:nvSpPr>
          <p:cNvPr id="17" name="TextBox 16"/>
          <p:cNvSpPr txBox="1"/>
          <p:nvPr/>
        </p:nvSpPr>
        <p:spPr>
          <a:xfrm>
            <a:off x="5760069" y="2745232"/>
            <a:ext cx="5596778" cy="668464"/>
          </a:xfrm>
          <a:prstGeom prst="rect">
            <a:avLst/>
          </a:prstGeom>
          <a:noFill/>
        </p:spPr>
        <p:txBody>
          <a:bodyPr wrap="square" lIns="0" rIns="0" tIns="0" bIns="0" anchor="ctr">
            <a:spAutoFit/>
          </a:bodyPr>
          <a:lstStyle/>
          <a:p>
            <a:pPr algn="l">
              <a:lnSpc>
                <a:spcPts val="1322"/>
              </a:lnSpc>
              <a:spcAft>
                <a:spcPts val="0"/>
              </a:spcAft>
            </a:pPr>
            <a:r>
              <a:rPr sz="1150" b="0" i="0">
                <a:solidFill>
                  <a:srgbClr val="141B2E"/>
                </a:solidFill>
                <a:latin typeface="Arial"/>
              </a:rPr>
              <a:t>this is the default behavior — which means your action here is a checking one: has a flag on a server or an environment variable cancelled it</a:t>
            </a:r>
          </a:p>
        </p:txBody>
      </p:sp>
      <p:cxnSp>
        <p:nvCxnSpPr>
          <p:cNvPr id="18" name="Connector 17"/>
          <p:cNvCxnSpPr/>
          <p:nvPr/>
        </p:nvCxnSpPr>
        <p:spPr>
          <a:xfrm>
            <a:off x="685800" y="3413696"/>
            <a:ext cx="10817352" cy="0"/>
          </a:xfrm>
          <a:prstGeom prst="line">
            <a:avLst/>
          </a:prstGeom>
          <a:ln w="9525">
            <a:solidFill>
              <a:srgbClr val="E5EAF0"/>
            </a:solidFill>
          </a:ln>
        </p:spPr>
        <p:style>
          <a:lnRef idx="2">
            <a:schemeClr val="accent1"/>
          </a:lnRef>
          <a:fillRef idx="0">
            <a:schemeClr val="accent1"/>
          </a:fillRef>
          <a:effectRef idx="1">
            <a:schemeClr val="accent1"/>
          </a:effectRef>
          <a:fontRef idx="minor">
            <a:schemeClr val="tx1"/>
          </a:fontRef>
        </p:style>
      </p:cxnSp>
      <p:sp>
        <p:nvSpPr>
          <p:cNvPr id="19" name="TextBox 18"/>
          <p:cNvSpPr txBox="1"/>
          <p:nvPr/>
        </p:nvSpPr>
        <p:spPr>
          <a:xfrm>
            <a:off x="685800" y="3413696"/>
            <a:ext cx="1199042" cy="668464"/>
          </a:xfrm>
          <a:prstGeom prst="rect">
            <a:avLst/>
          </a:prstGeom>
          <a:noFill/>
        </p:spPr>
        <p:txBody>
          <a:bodyPr wrap="square" lIns="0" rIns="0" tIns="0" bIns="0" anchor="ctr">
            <a:spAutoFit/>
          </a:bodyPr>
          <a:lstStyle/>
          <a:p>
            <a:pPr algn="l">
              <a:lnSpc>
                <a:spcPts val="1322"/>
              </a:lnSpc>
              <a:spcAft>
                <a:spcPts val="0"/>
              </a:spcAft>
            </a:pPr>
            <a:r>
              <a:rPr sz="1150" b="0" i="0">
                <a:solidFill>
                  <a:srgbClr val="141B2E"/>
                </a:solidFill>
                <a:latin typeface="Arial"/>
              </a:rPr>
              <a:t>keep a set of servers for the task</a:t>
            </a:r>
          </a:p>
        </p:txBody>
      </p:sp>
      <p:sp>
        <p:nvSpPr>
          <p:cNvPr id="20" name="TextBox 19"/>
          <p:cNvSpPr txBox="1"/>
          <p:nvPr/>
        </p:nvSpPr>
        <p:spPr>
          <a:xfrm>
            <a:off x="2031146" y="3413696"/>
            <a:ext cx="3582618" cy="668464"/>
          </a:xfrm>
          <a:prstGeom prst="rect">
            <a:avLst/>
          </a:prstGeom>
          <a:noFill/>
        </p:spPr>
        <p:txBody>
          <a:bodyPr wrap="square" lIns="0" rIns="0" tIns="0" bIns="0" anchor="ctr">
            <a:spAutoFit/>
          </a:bodyPr>
          <a:lstStyle/>
          <a:p>
            <a:pPr algn="l">
              <a:lnSpc>
                <a:spcPts val="1322"/>
              </a:lnSpc>
              <a:spcAft>
                <a:spcPts val="0"/>
              </a:spcAft>
            </a:pPr>
            <a:r>
              <a:rPr sz="1150" b="0" i="0">
                <a:solidFill>
                  <a:srgbClr val="141B2E"/>
                </a:solidFill>
                <a:latin typeface="Arial"/>
              </a:rPr>
              <a:t>the personal connection scope gives a set for your own work, while the shared project file stays the team's</a:t>
            </a:r>
          </a:p>
        </p:txBody>
      </p:sp>
      <p:sp>
        <p:nvSpPr>
          <p:cNvPr id="21" name="TextBox 20"/>
          <p:cNvSpPr txBox="1"/>
          <p:nvPr/>
        </p:nvSpPr>
        <p:spPr>
          <a:xfrm>
            <a:off x="5760069" y="3413696"/>
            <a:ext cx="5596778" cy="668464"/>
          </a:xfrm>
          <a:prstGeom prst="rect">
            <a:avLst/>
          </a:prstGeom>
          <a:noFill/>
        </p:spPr>
        <p:txBody>
          <a:bodyPr wrap="square" lIns="0" rIns="0" tIns="0" bIns="0" anchor="ctr">
            <a:spAutoFit/>
          </a:bodyPr>
          <a:lstStyle/>
          <a:p>
            <a:pPr algn="l">
              <a:lnSpc>
                <a:spcPts val="1322"/>
              </a:lnSpc>
              <a:spcAft>
                <a:spcPts val="0"/>
              </a:spcAft>
            </a:pPr>
            <a:r>
              <a:rPr sz="1150" b="0" i="0">
                <a:solidFill>
                  <a:srgbClr val="141B2E"/>
                </a:solidFill>
                <a:latin typeface="Arial"/>
              </a:rPr>
              <a:t>it sets up a second record of what is connected: the divergence between the personal and the project set has to be kept in your head</a:t>
            </a:r>
          </a:p>
        </p:txBody>
      </p:sp>
      <p:cxnSp>
        <p:nvCxnSpPr>
          <p:cNvPr id="22" name="Connector 21"/>
          <p:cNvCxnSpPr/>
          <p:nvPr/>
        </p:nvCxnSpPr>
        <p:spPr>
          <a:xfrm>
            <a:off x="685800" y="4082160"/>
            <a:ext cx="10817352" cy="0"/>
          </a:xfrm>
          <a:prstGeom prst="line">
            <a:avLst/>
          </a:prstGeom>
          <a:ln w="9525">
            <a:solidFill>
              <a:srgbClr val="E5EAF0"/>
            </a:solidFill>
          </a:ln>
        </p:spPr>
        <p:style>
          <a:lnRef idx="2">
            <a:schemeClr val="accent1"/>
          </a:lnRef>
          <a:fillRef idx="0">
            <a:schemeClr val="accent1"/>
          </a:fillRef>
          <a:effectRef idx="1">
            <a:schemeClr val="accent1"/>
          </a:effectRef>
          <a:fontRef idx="minor">
            <a:schemeClr val="tx1"/>
          </a:fontRef>
        </p:style>
      </p:cxnSp>
      <p:sp>
        <p:nvSpPr>
          <p:cNvPr id="23" name="TextBox 22"/>
          <p:cNvSpPr txBox="1"/>
          <p:nvPr/>
        </p:nvSpPr>
        <p:spPr>
          <a:xfrm>
            <a:off x="685800" y="4082160"/>
            <a:ext cx="1199042" cy="668464"/>
          </a:xfrm>
          <a:prstGeom prst="rect">
            <a:avLst/>
          </a:prstGeom>
          <a:noFill/>
        </p:spPr>
        <p:txBody>
          <a:bodyPr wrap="square" lIns="0" rIns="0" tIns="0" bIns="0" anchor="ctr">
            <a:spAutoFit/>
          </a:bodyPr>
          <a:lstStyle/>
          <a:p>
            <a:pPr algn="l">
              <a:lnSpc>
                <a:spcPts val="1322"/>
              </a:lnSpc>
              <a:spcAft>
                <a:spcPts val="0"/>
              </a:spcAft>
            </a:pPr>
            <a:r>
              <a:rPr sz="1150" b="0" i="0">
                <a:solidFill>
                  <a:srgbClr val="141B2E"/>
                </a:solidFill>
                <a:latin typeface="Arial"/>
              </a:rPr>
              <a:t>compact the conversation more often</a:t>
            </a:r>
          </a:p>
        </p:txBody>
      </p:sp>
      <p:sp>
        <p:nvSpPr>
          <p:cNvPr id="24" name="TextBox 23"/>
          <p:cNvSpPr txBox="1"/>
          <p:nvPr/>
        </p:nvSpPr>
        <p:spPr>
          <a:xfrm>
            <a:off x="2031146" y="4082160"/>
            <a:ext cx="3582618" cy="668464"/>
          </a:xfrm>
          <a:prstGeom prst="rect">
            <a:avLst/>
          </a:prstGeom>
          <a:noFill/>
        </p:spPr>
        <p:txBody>
          <a:bodyPr wrap="square" lIns="0" rIns="0" tIns="0" bIns="0" anchor="ctr">
            <a:spAutoFit/>
          </a:bodyPr>
          <a:lstStyle/>
          <a:p>
            <a:pPr algn="l">
              <a:lnSpc>
                <a:spcPts val="1322"/>
              </a:lnSpc>
              <a:spcAft>
                <a:spcPts val="0"/>
              </a:spcAft>
            </a:pPr>
            <a:r>
              <a:rPr sz="1150" b="0" i="0">
                <a:solidFill>
                  <a:srgbClr val="141B2E"/>
                </a:solidFill>
                <a:latin typeface="Arial"/>
              </a:rPr>
              <a:t>frees up the room taken by the history of the conversation</a:t>
            </a:r>
          </a:p>
        </p:txBody>
      </p:sp>
      <p:sp>
        <p:nvSpPr>
          <p:cNvPr id="25" name="TextBox 24"/>
          <p:cNvSpPr txBox="1"/>
          <p:nvPr/>
        </p:nvSpPr>
        <p:spPr>
          <a:xfrm>
            <a:off x="5760069" y="4082160"/>
            <a:ext cx="5596778" cy="668464"/>
          </a:xfrm>
          <a:prstGeom prst="rect">
            <a:avLst/>
          </a:prstGeom>
          <a:noFill/>
        </p:spPr>
        <p:txBody>
          <a:bodyPr wrap="square" lIns="0" rIns="0" tIns="0" bIns="0" anchor="ctr">
            <a:spAutoFit/>
          </a:bodyPr>
          <a:lstStyle/>
          <a:p>
            <a:pPr algn="l">
              <a:lnSpc>
                <a:spcPts val="1322"/>
              </a:lnSpc>
              <a:spcAft>
                <a:spcPts val="0"/>
              </a:spcAft>
            </a:pPr>
            <a:r>
              <a:rPr sz="1150" b="0" i="0">
                <a:solidFill>
                  <a:srgbClr val="141B2E"/>
                </a:solidFill>
                <a:latin typeface="Arial"/>
              </a:rPr>
              <a:t>tool definitions do not go away with compaction: they arrive anew in every context, separately from the history</a:t>
            </a:r>
          </a:p>
        </p:txBody>
      </p:sp>
      <p:sp>
        <p:nvSpPr>
          <p:cNvPr id="26" name="Rounded Rectangle 25"/>
          <p:cNvSpPr/>
          <p:nvPr/>
        </p:nvSpPr>
        <p:spPr>
          <a:xfrm>
            <a:off x="502920" y="5098097"/>
            <a:ext cx="82296" cy="1156208"/>
          </a:xfrm>
          <a:prstGeom prst="roundRect">
            <a:avLst>
              <a:gd name="adj" fmla="val 50000"/>
            </a:avLst>
          </a:prstGeom>
          <a:solidFill>
            <a:srgbClr val="F0AB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859536" y="5226113"/>
            <a:ext cx="10643616" cy="900176"/>
          </a:xfrm>
          <a:prstGeom prst="rect">
            <a:avLst/>
          </a:prstGeom>
          <a:noFill/>
        </p:spPr>
        <p:txBody>
          <a:bodyPr wrap="square" lIns="0" rIns="0" tIns="0" bIns="0" anchor="ctr">
            <a:spAutoFit/>
          </a:bodyPr>
          <a:lstStyle/>
          <a:p>
            <a:pPr algn="l">
              <a:lnSpc>
                <a:spcPts val="1736"/>
              </a:lnSpc>
              <a:spcAft>
                <a:spcPts val="300"/>
              </a:spcAft>
            </a:pPr>
            <a:r>
              <a:rPr sz="1400" b="1" i="0">
                <a:solidFill>
                  <a:srgbClr val="141B2E"/>
                </a:solidFill>
                <a:latin typeface="Arial"/>
              </a:rPr>
              <a:t>Out of the combination of the columns:</a:t>
            </a:r>
            <a:r>
              <a:rPr sz="1400" b="1" i="0">
                <a:solidFill>
                  <a:srgbClr val="141B2E"/>
                </a:solidFill>
                <a:latin typeface="Arial"/>
              </a:rPr>
              <a:t> the cost is paid for being connected — a server that was not reached for even once in a session costs the same as a working one. Which is why two measures work, and in this order: first check that the definitions arrive on demand — that costs nothing and is often already on; then work through the set of servers for the task — that is work, and it gets done once.</a:t>
            </a:r>
          </a:p>
        </p:txBody>
      </p:sp>
      <p:sp>
        <p:nvSpPr>
          <p:cNvPr id="28" name="TextBox 27"/>
          <p:cNvSpPr txBox="1"/>
          <p:nvPr/>
        </p:nvSpPr>
        <p:spPr>
          <a:xfrm>
            <a:off x="10957255" y="6437376"/>
            <a:ext cx="914400" cy="274320"/>
          </a:xfrm>
          <a:prstGeom prst="rect">
            <a:avLst/>
          </a:prstGeom>
          <a:noFill/>
        </p:spPr>
        <p:txBody>
          <a:bodyPr wrap="square" lIns="0" rIns="0" tIns="0" bIns="0" anchor="t">
            <a:spAutoFit/>
          </a:bodyPr>
          <a:lstStyle/>
          <a:p>
            <a:pPr algn="r">
              <a:lnSpc>
                <a:spcPts val="1238"/>
              </a:lnSpc>
              <a:spcAft>
                <a:spcPts val="0"/>
              </a:spcAft>
            </a:pPr>
            <a:r>
              <a:rPr sz="1050" b="0" i="0">
                <a:solidFill>
                  <a:srgbClr val="6B7685"/>
                </a:solidFill>
                <a:latin typeface="Arial"/>
              </a:rPr>
              <a:t>24</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02920" y="310896"/>
            <a:ext cx="11183112" cy="431291"/>
          </a:xfrm>
          <a:prstGeom prst="rect">
            <a:avLst/>
          </a:prstGeom>
          <a:noFill/>
        </p:spPr>
        <p:txBody>
          <a:bodyPr wrap="square" lIns="0" rIns="0" tIns="0" bIns="0" anchor="t">
            <a:spAutoFit/>
          </a:bodyPr>
          <a:lstStyle/>
          <a:p>
            <a:pPr algn="l">
              <a:lnSpc>
                <a:spcPts val="2963"/>
              </a:lnSpc>
              <a:spcAft>
                <a:spcPts val="0"/>
              </a:spcAft>
            </a:pPr>
            <a:r>
              <a:rPr sz="2600" b="1" i="0">
                <a:solidFill>
                  <a:srgbClr val="141B2E"/>
                </a:solidFill>
                <a:latin typeface="Arial"/>
              </a:rPr>
              <a:t>What is sitting in the context before your first question</a:t>
            </a:r>
          </a:p>
        </p:txBody>
      </p:sp>
      <p:pic>
        <p:nvPicPr>
          <p:cNvPr id="3" name="Picture 2" descr="mcp-n25-chto-v-kontekste-en.png"/>
          <p:cNvPicPr>
            <a:picLocks noChangeAspect="1"/>
          </p:cNvPicPr>
          <p:nvPr/>
        </p:nvPicPr>
        <p:blipFill>
          <a:blip r:embed="rId2"/>
          <a:stretch>
            <a:fillRect/>
          </a:stretch>
        </p:blipFill>
        <p:spPr>
          <a:xfrm>
            <a:off x="502920" y="966689"/>
            <a:ext cx="11183112" cy="5325957"/>
          </a:xfrm>
          <a:prstGeom prst="rect">
            <a:avLst/>
          </a:prstGeom>
        </p:spPr>
      </p:pic>
      <p:sp>
        <p:nvSpPr>
          <p:cNvPr id="4" name="TextBox 3"/>
          <p:cNvSpPr txBox="1"/>
          <p:nvPr/>
        </p:nvSpPr>
        <p:spPr>
          <a:xfrm>
            <a:off x="10957255" y="6437376"/>
            <a:ext cx="914400" cy="274320"/>
          </a:xfrm>
          <a:prstGeom prst="rect">
            <a:avLst/>
          </a:prstGeom>
          <a:noFill/>
        </p:spPr>
        <p:txBody>
          <a:bodyPr wrap="square" lIns="0" rIns="0" tIns="0" bIns="0" anchor="t">
            <a:spAutoFit/>
          </a:bodyPr>
          <a:lstStyle/>
          <a:p>
            <a:pPr algn="r">
              <a:lnSpc>
                <a:spcPts val="1238"/>
              </a:lnSpc>
              <a:spcAft>
                <a:spcPts val="0"/>
              </a:spcAft>
            </a:pPr>
            <a:r>
              <a:rPr sz="1050" b="0" i="0">
                <a:solidFill>
                  <a:srgbClr val="6B7685"/>
                </a:solidFill>
                <a:latin typeface="Arial"/>
              </a:rPr>
              <a:t>25</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02920" y="310896"/>
            <a:ext cx="11183112" cy="431291"/>
          </a:xfrm>
          <a:prstGeom prst="rect">
            <a:avLst/>
          </a:prstGeom>
          <a:noFill/>
        </p:spPr>
        <p:txBody>
          <a:bodyPr wrap="square" lIns="0" rIns="0" tIns="0" bIns="0" anchor="t">
            <a:spAutoFit/>
          </a:bodyPr>
          <a:lstStyle/>
          <a:p>
            <a:pPr algn="l">
              <a:lnSpc>
                <a:spcPts val="2963"/>
              </a:lnSpc>
              <a:spcAft>
                <a:spcPts val="0"/>
              </a:spcAft>
            </a:pPr>
            <a:r>
              <a:rPr sz="2600" b="1" i="0">
                <a:solidFill>
                  <a:srgbClr val="141B2E"/>
                </a:solidFill>
                <a:latin typeface="Arial"/>
              </a:rPr>
              <a:t>Definitions — on demand. The set — for the task</a:t>
            </a:r>
          </a:p>
        </p:txBody>
      </p:sp>
      <p:sp>
        <p:nvSpPr>
          <p:cNvPr id="3" name="Rounded Rectangle 2"/>
          <p:cNvSpPr/>
          <p:nvPr/>
        </p:nvSpPr>
        <p:spPr>
          <a:xfrm>
            <a:off x="502920" y="1422654"/>
            <a:ext cx="11183112" cy="2771775"/>
          </a:xfrm>
          <a:prstGeom prst="roundRect">
            <a:avLst>
              <a:gd name="adj" fmla="val 10996"/>
            </a:avLst>
          </a:prstGeom>
          <a:solidFill>
            <a:srgbClr val="F4F7FA"/>
          </a:solidFill>
          <a:ln w="15240">
            <a:solidFill>
              <a:srgbClr val="E5EA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58952" y="1858137"/>
            <a:ext cx="100584" cy="100584"/>
          </a:xfrm>
          <a:prstGeom prst="roundRect">
            <a:avLst>
              <a:gd name="adj" fmla="val 50000"/>
            </a:avLst>
          </a:prstGeom>
          <a:solidFill>
            <a:srgbClr val="0280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06424" y="1642110"/>
            <a:ext cx="10360152" cy="532638"/>
          </a:xfrm>
          <a:prstGeom prst="rect">
            <a:avLst/>
          </a:prstGeom>
          <a:noFill/>
        </p:spPr>
        <p:txBody>
          <a:bodyPr wrap="square" lIns="0" rIns="0" tIns="0" bIns="0" anchor="ctr">
            <a:spAutoFit/>
          </a:bodyPr>
          <a:lstStyle/>
          <a:p>
            <a:pPr algn="l">
              <a:lnSpc>
                <a:spcPts val="1593"/>
              </a:lnSpc>
              <a:spcAft>
                <a:spcPts val="0"/>
              </a:spcAft>
            </a:pPr>
            <a:r>
              <a:rPr sz="1350" b="0" i="0">
                <a:solidFill>
                  <a:srgbClr val="141B2E"/>
                </a:solidFill>
                <a:latin typeface="Consolas"/>
              </a:rPr>
              <a:t>.mcp.json</a:t>
            </a:r>
            <a:r>
              <a:rPr sz="1350" b="0" i="0">
                <a:solidFill>
                  <a:srgbClr val="141B2E"/>
                </a:solidFill>
                <a:latin typeface="Arial"/>
              </a:rPr>
              <a:t>: </a:t>
            </a:r>
            <a:r>
              <a:rPr sz="1350" b="0" i="0">
                <a:solidFill>
                  <a:srgbClr val="141B2E"/>
                </a:solidFill>
                <a:latin typeface="Consolas"/>
              </a:rPr>
              <a:t>alwaysLoad:</a:t>
            </a:r>
            <a:r>
              <a:rPr sz="1350" b="0" i="0">
                <a:solidFill>
                  <a:srgbClr val="141B2E"/>
                </a:solidFill>
                <a:latin typeface="Arial"/>
              </a:rPr>
              <a:t> </a:t>
            </a:r>
            <a:r>
              <a:rPr sz="1350" b="0" i="0">
                <a:solidFill>
                  <a:srgbClr val="141B2E"/>
                </a:solidFill>
                <a:latin typeface="Consolas"/>
              </a:rPr>
              <a:t>true</a:t>
            </a:r>
            <a:r>
              <a:rPr sz="1350" b="0" i="0">
                <a:solidFill>
                  <a:srgbClr val="141B2E"/>
                </a:solidFill>
                <a:latin typeface="Arial"/>
              </a:rPr>
              <a:t> has been removed from the server — the definitions of its tools arrive on demand. The flag is left on one tool that is needed at every step, and the reason why is written down next to it.</a:t>
            </a:r>
          </a:p>
        </p:txBody>
      </p:sp>
      <p:sp>
        <p:nvSpPr>
          <p:cNvPr id="6" name="Rounded Rectangle 5"/>
          <p:cNvSpPr/>
          <p:nvPr/>
        </p:nvSpPr>
        <p:spPr>
          <a:xfrm>
            <a:off x="758952" y="2390775"/>
            <a:ext cx="100584" cy="100584"/>
          </a:xfrm>
          <a:prstGeom prst="roundRect">
            <a:avLst>
              <a:gd name="adj" fmla="val 50000"/>
            </a:avLst>
          </a:prstGeom>
          <a:solidFill>
            <a:srgbClr val="0280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106424" y="2174748"/>
            <a:ext cx="10360152" cy="532638"/>
          </a:xfrm>
          <a:prstGeom prst="rect">
            <a:avLst/>
          </a:prstGeom>
          <a:noFill/>
        </p:spPr>
        <p:txBody>
          <a:bodyPr wrap="square" lIns="0" rIns="0" tIns="0" bIns="0" anchor="ctr">
            <a:spAutoFit/>
          </a:bodyPr>
          <a:lstStyle/>
          <a:p>
            <a:pPr algn="l">
              <a:lnSpc>
                <a:spcPts val="1593"/>
              </a:lnSpc>
              <a:spcAft>
                <a:spcPts val="0"/>
              </a:spcAft>
            </a:pPr>
            <a:r>
              <a:rPr sz="1350" b="0" i="0">
                <a:solidFill>
                  <a:srgbClr val="141B2E"/>
                </a:solidFill>
                <a:latin typeface="Arial"/>
              </a:rPr>
              <a:t>The project's environment: </a:t>
            </a:r>
            <a:r>
              <a:rPr sz="1350" b="0" i="0">
                <a:solidFill>
                  <a:srgbClr val="141B2E"/>
                </a:solidFill>
                <a:latin typeface="Consolas"/>
              </a:rPr>
              <a:t>ENABLE_TOOL_SEARCH</a:t>
            </a:r>
            <a:r>
              <a:rPr sz="1350" b="0" i="0">
                <a:solidFill>
                  <a:srgbClr val="141B2E"/>
                </a:solidFill>
                <a:latin typeface="Arial"/>
              </a:rPr>
              <a:t> is not set to </a:t>
            </a:r>
            <a:r>
              <a:rPr sz="1350" b="0" i="0">
                <a:solidFill>
                  <a:srgbClr val="141B2E"/>
                </a:solidFill>
                <a:latin typeface="Consolas"/>
              </a:rPr>
              <a:t>false</a:t>
            </a:r>
            <a:r>
              <a:rPr sz="1350" b="0" i="0">
                <a:solidFill>
                  <a:srgbClr val="141B2E"/>
                </a:solidFill>
                <a:latin typeface="Arial"/>
              </a:rPr>
              <a:t>. A threshold value of the form </a:t>
            </a:r>
            <a:r>
              <a:rPr sz="1350" b="0" i="0">
                <a:solidFill>
                  <a:srgbClr val="141B2E"/>
                </a:solidFill>
                <a:latin typeface="Consolas"/>
              </a:rPr>
              <a:t>auto:10</a:t>
            </a:r>
            <a:r>
              <a:rPr sz="1350" b="0" i="0">
                <a:solidFill>
                  <a:srgbClr val="141B2E"/>
                </a:solidFill>
                <a:latin typeface="Arial"/>
              </a:rPr>
              <a:t> is a compromise: while the definitions take up less than the named share of the context, they are loaded at once.</a:t>
            </a:r>
          </a:p>
        </p:txBody>
      </p:sp>
      <p:sp>
        <p:nvSpPr>
          <p:cNvPr id="8" name="Rounded Rectangle 7"/>
          <p:cNvSpPr/>
          <p:nvPr/>
        </p:nvSpPr>
        <p:spPr>
          <a:xfrm>
            <a:off x="758952" y="3024568"/>
            <a:ext cx="100584" cy="100584"/>
          </a:xfrm>
          <a:prstGeom prst="roundRect">
            <a:avLst>
              <a:gd name="adj" fmla="val 50000"/>
            </a:avLst>
          </a:prstGeom>
          <a:solidFill>
            <a:srgbClr val="0280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106424" y="2707386"/>
            <a:ext cx="10360152" cy="734949"/>
          </a:xfrm>
          <a:prstGeom prst="rect">
            <a:avLst/>
          </a:prstGeom>
          <a:noFill/>
        </p:spPr>
        <p:txBody>
          <a:bodyPr wrap="square" lIns="0" rIns="0" tIns="0" bIns="0" anchor="ctr">
            <a:spAutoFit/>
          </a:bodyPr>
          <a:lstStyle/>
          <a:p>
            <a:pPr algn="l">
              <a:lnSpc>
                <a:spcPts val="1593"/>
              </a:lnSpc>
              <a:spcAft>
                <a:spcPts val="0"/>
              </a:spcAft>
            </a:pPr>
            <a:r>
              <a:rPr sz="1350" b="0" i="0">
                <a:solidFill>
                  <a:srgbClr val="141B2E"/>
                </a:solidFill>
                <a:latin typeface="Arial"/>
              </a:rPr>
              <a:t>The server's start-up command: only the toolsets needed — </a:t>
            </a:r>
            <a:r>
              <a:rPr sz="1350" b="0" i="0">
                <a:solidFill>
                  <a:srgbClr val="141B2E"/>
                </a:solidFill>
                <a:latin typeface="Arial"/>
              </a:rPr>
              <a:t>--toolsets</a:t>
            </a:r>
            <a:r>
              <a:rPr sz="1350" b="0" i="0">
                <a:solidFill>
                  <a:srgbClr val="141B2E"/>
                </a:solidFill>
                <a:latin typeface="Arial"/>
              </a:rPr>
              <a:t> </a:t>
            </a:r>
            <a:r>
              <a:rPr sz="1350" b="0" i="0">
                <a:solidFill>
                  <a:srgbClr val="141B2E"/>
                </a:solidFill>
                <a:latin typeface="Consolas"/>
              </a:rPr>
              <a:t>repos,issues</a:t>
            </a:r>
            <a:r>
              <a:rPr sz="1350" b="0" i="0">
                <a:solidFill>
                  <a:srgbClr val="141B2E"/>
                </a:solidFill>
                <a:latin typeface="Arial"/>
              </a:rPr>
              <a:t> instead of the full set. Check the flags against the server's current version: GitHub's official server had a mode for issuing sets on demand and it was removed in May 2026.</a:t>
            </a:r>
          </a:p>
        </p:txBody>
      </p:sp>
      <p:sp>
        <p:nvSpPr>
          <p:cNvPr id="10" name="Rounded Rectangle 9"/>
          <p:cNvSpPr/>
          <p:nvPr/>
        </p:nvSpPr>
        <p:spPr>
          <a:xfrm>
            <a:off x="758952" y="3658362"/>
            <a:ext cx="100584" cy="100584"/>
          </a:xfrm>
          <a:prstGeom prst="roundRect">
            <a:avLst>
              <a:gd name="adj" fmla="val 50000"/>
            </a:avLst>
          </a:prstGeom>
          <a:solidFill>
            <a:srgbClr val="0280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106424" y="3442335"/>
            <a:ext cx="10360152" cy="532638"/>
          </a:xfrm>
          <a:prstGeom prst="rect">
            <a:avLst/>
          </a:prstGeom>
          <a:noFill/>
        </p:spPr>
        <p:txBody>
          <a:bodyPr wrap="square" lIns="0" rIns="0" tIns="0" bIns="0" anchor="ctr">
            <a:spAutoFit/>
          </a:bodyPr>
          <a:lstStyle/>
          <a:p>
            <a:pPr algn="l">
              <a:lnSpc>
                <a:spcPts val="1593"/>
              </a:lnSpc>
              <a:spcAft>
                <a:spcPts val="0"/>
              </a:spcAft>
            </a:pPr>
            <a:r>
              <a:rPr sz="1350" b="0" i="0">
                <a:solidFill>
                  <a:srgbClr val="141B2E"/>
                </a:solidFill>
                <a:latin typeface="Arial"/>
              </a:rPr>
              <a:t>The personal connection scope: servers for your own work go there. The shared project file stays the team's, and nobody throws the other person's three servers out of it.</a:t>
            </a:r>
          </a:p>
        </p:txBody>
      </p:sp>
      <p:sp>
        <p:nvSpPr>
          <p:cNvPr id="12" name="Rounded Rectangle 11"/>
          <p:cNvSpPr/>
          <p:nvPr/>
        </p:nvSpPr>
        <p:spPr>
          <a:xfrm>
            <a:off x="502920" y="4861941"/>
            <a:ext cx="82296" cy="746760"/>
          </a:xfrm>
          <a:prstGeom prst="roundRect">
            <a:avLst>
              <a:gd name="adj" fmla="val 50000"/>
            </a:avLst>
          </a:prstGeom>
          <a:solidFill>
            <a:srgbClr val="F0AB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59536" y="4989957"/>
            <a:ext cx="10643616" cy="490727"/>
          </a:xfrm>
          <a:prstGeom prst="rect">
            <a:avLst/>
          </a:prstGeom>
          <a:noFill/>
        </p:spPr>
        <p:txBody>
          <a:bodyPr wrap="square" lIns="0" rIns="0" tIns="0" bIns="0" anchor="ctr">
            <a:spAutoFit/>
          </a:bodyPr>
          <a:lstStyle/>
          <a:p>
            <a:pPr algn="l">
              <a:lnSpc>
                <a:spcPts val="1860"/>
              </a:lnSpc>
              <a:spcAft>
                <a:spcPts val="300"/>
              </a:spcAft>
            </a:pPr>
            <a:r>
              <a:rPr sz="1500" b="1" i="0">
                <a:solidFill>
                  <a:srgbClr val="141B2E"/>
                </a:solidFill>
                <a:latin typeface="Arial"/>
              </a:rPr>
              <a:t>The project file says what is connected for everybody. The personal scope says what is connected for you. The loading mode of the definitions settles what that costs before the first question.</a:t>
            </a:r>
          </a:p>
        </p:txBody>
      </p:sp>
      <p:sp>
        <p:nvSpPr>
          <p:cNvPr id="14" name="TextBox 13"/>
          <p:cNvSpPr txBox="1"/>
          <p:nvPr/>
        </p:nvSpPr>
        <p:spPr>
          <a:xfrm>
            <a:off x="10957255" y="6437376"/>
            <a:ext cx="914400" cy="274320"/>
          </a:xfrm>
          <a:prstGeom prst="rect">
            <a:avLst/>
          </a:prstGeom>
          <a:noFill/>
        </p:spPr>
        <p:txBody>
          <a:bodyPr wrap="square" lIns="0" rIns="0" tIns="0" bIns="0" anchor="t">
            <a:spAutoFit/>
          </a:bodyPr>
          <a:lstStyle/>
          <a:p>
            <a:pPr algn="r">
              <a:lnSpc>
                <a:spcPts val="1238"/>
              </a:lnSpc>
              <a:spcAft>
                <a:spcPts val="0"/>
              </a:spcAft>
            </a:pPr>
            <a:r>
              <a:rPr sz="1050" b="0" i="0">
                <a:solidFill>
                  <a:srgbClr val="6B7685"/>
                </a:solidFill>
                <a:latin typeface="Arial"/>
              </a:rPr>
              <a:t>26</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02920" y="310896"/>
            <a:ext cx="11183112" cy="431291"/>
          </a:xfrm>
          <a:prstGeom prst="rect">
            <a:avLst/>
          </a:prstGeom>
          <a:noFill/>
        </p:spPr>
        <p:txBody>
          <a:bodyPr wrap="square" lIns="0" rIns="0" tIns="0" bIns="0" anchor="t">
            <a:spAutoFit/>
          </a:bodyPr>
          <a:lstStyle/>
          <a:p>
            <a:pPr algn="l">
              <a:lnSpc>
                <a:spcPts val="2963"/>
              </a:lnSpc>
              <a:spcAft>
                <a:spcPts val="0"/>
              </a:spcAft>
            </a:pPr>
            <a:r>
              <a:rPr sz="2600" b="1" i="0">
                <a:solidFill>
                  <a:srgbClr val="141B2E"/>
                </a:solidFill>
                <a:latin typeface="Arial"/>
              </a:rPr>
              <a:t>The definitions were taken off start-up. The servers stayed</a:t>
            </a:r>
          </a:p>
        </p:txBody>
      </p:sp>
      <p:sp>
        <p:nvSpPr>
          <p:cNvPr id="3" name="Rounded Rectangle 2"/>
          <p:cNvSpPr/>
          <p:nvPr/>
        </p:nvSpPr>
        <p:spPr>
          <a:xfrm>
            <a:off x="502920" y="1081278"/>
            <a:ext cx="11183112" cy="3783329"/>
          </a:xfrm>
          <a:prstGeom prst="roundRect">
            <a:avLst>
              <a:gd name="adj" fmla="val 8056"/>
            </a:avLst>
          </a:prstGeom>
          <a:solidFill>
            <a:srgbClr val="F4F7FA"/>
          </a:solidFill>
          <a:ln w="15240">
            <a:solidFill>
              <a:srgbClr val="E5EA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22376" y="1300734"/>
            <a:ext cx="329184" cy="937259"/>
          </a:xfrm>
          <a:prstGeom prst="rect">
            <a:avLst/>
          </a:prstGeom>
          <a:noFill/>
        </p:spPr>
        <p:txBody>
          <a:bodyPr wrap="square" lIns="0" rIns="0" tIns="0" bIns="0" anchor="ctr">
            <a:spAutoFit/>
          </a:bodyPr>
          <a:lstStyle/>
          <a:p>
            <a:pPr algn="l">
              <a:lnSpc>
                <a:spcPts val="1829"/>
              </a:lnSpc>
              <a:spcAft>
                <a:spcPts val="0"/>
              </a:spcAft>
            </a:pPr>
            <a:r>
              <a:rPr sz="1550" b="1" i="0">
                <a:solidFill>
                  <a:srgbClr val="028090"/>
                </a:solidFill>
                <a:latin typeface="Arial"/>
              </a:rPr>
              <a:t>1</a:t>
            </a:r>
          </a:p>
        </p:txBody>
      </p:sp>
      <p:sp>
        <p:nvSpPr>
          <p:cNvPr id="5" name="TextBox 4"/>
          <p:cNvSpPr txBox="1"/>
          <p:nvPr/>
        </p:nvSpPr>
        <p:spPr>
          <a:xfrm>
            <a:off x="1106424" y="1300734"/>
            <a:ext cx="10360152" cy="937259"/>
          </a:xfrm>
          <a:prstGeom prst="rect">
            <a:avLst/>
          </a:prstGeom>
          <a:noFill/>
        </p:spPr>
        <p:txBody>
          <a:bodyPr wrap="square" lIns="0" rIns="0" tIns="0" bIns="0" anchor="ctr">
            <a:spAutoFit/>
          </a:bodyPr>
          <a:lstStyle/>
          <a:p>
            <a:pPr algn="l">
              <a:lnSpc>
                <a:spcPts val="1593"/>
              </a:lnSpc>
              <a:spcAft>
                <a:spcPts val="0"/>
              </a:spcAft>
            </a:pPr>
            <a:r>
              <a:rPr sz="1350" b="1" i="0">
                <a:solidFill>
                  <a:srgbClr val="141B2E"/>
                </a:solidFill>
                <a:latin typeface="Arial"/>
              </a:rPr>
              <a:t>The protocol's author called this a problem.</a:t>
            </a:r>
            <a:r>
              <a:rPr sz="1350" b="0" i="0">
                <a:solidFill>
                  <a:srgbClr val="141B2E"/>
                </a:solidFill>
                <a:latin typeface="Arial"/>
              </a:rPr>
              <a:t> "Tool definitions overload the context window" — that is how his own analysis opens. The move in its place: present servers as a code interface that the agent reads on demand; in the example analyzed in the article — 150,000 tokens against 2,000. The servers stayed where they were (Anthropic, engineering blog, 04.11.2025).</a:t>
            </a:r>
          </a:p>
        </p:txBody>
      </p:sp>
      <p:sp>
        <p:nvSpPr>
          <p:cNvPr id="6" name="TextBox 5"/>
          <p:cNvSpPr txBox="1"/>
          <p:nvPr/>
        </p:nvSpPr>
        <p:spPr>
          <a:xfrm>
            <a:off x="722376" y="2237994"/>
            <a:ext cx="329184" cy="937259"/>
          </a:xfrm>
          <a:prstGeom prst="rect">
            <a:avLst/>
          </a:prstGeom>
          <a:noFill/>
        </p:spPr>
        <p:txBody>
          <a:bodyPr wrap="square" lIns="0" rIns="0" tIns="0" bIns="0" anchor="ctr">
            <a:spAutoFit/>
          </a:bodyPr>
          <a:lstStyle/>
          <a:p>
            <a:pPr algn="l">
              <a:lnSpc>
                <a:spcPts val="1829"/>
              </a:lnSpc>
              <a:spcAft>
                <a:spcPts val="0"/>
              </a:spcAft>
            </a:pPr>
            <a:r>
              <a:rPr sz="1550" b="1" i="0">
                <a:solidFill>
                  <a:srgbClr val="028090"/>
                </a:solidFill>
                <a:latin typeface="Arial"/>
              </a:rPr>
              <a:t>2</a:t>
            </a:r>
          </a:p>
        </p:txBody>
      </p:sp>
      <p:sp>
        <p:nvSpPr>
          <p:cNvPr id="7" name="TextBox 6"/>
          <p:cNvSpPr txBox="1"/>
          <p:nvPr/>
        </p:nvSpPr>
        <p:spPr>
          <a:xfrm>
            <a:off x="1106424" y="2237994"/>
            <a:ext cx="10360152" cy="937259"/>
          </a:xfrm>
          <a:prstGeom prst="rect">
            <a:avLst/>
          </a:prstGeom>
          <a:noFill/>
        </p:spPr>
        <p:txBody>
          <a:bodyPr wrap="square" lIns="0" rIns="0" tIns="0" bIns="0" anchor="ctr">
            <a:spAutoFit/>
          </a:bodyPr>
          <a:lstStyle/>
          <a:p>
            <a:pPr algn="l">
              <a:lnSpc>
                <a:spcPts val="1593"/>
              </a:lnSpc>
              <a:spcAft>
                <a:spcPts val="0"/>
              </a:spcAft>
            </a:pPr>
            <a:r>
              <a:rPr sz="1350" b="1" i="0">
                <a:solidFill>
                  <a:srgbClr val="141B2E"/>
                </a:solidFill>
                <a:latin typeface="Arial"/>
              </a:rPr>
              <a:t>The count on five servers.</a:t>
            </a:r>
            <a:r>
              <a:rPr sz="1350" b="0" i="0">
                <a:solidFill>
                  <a:srgbClr val="141B2E"/>
                </a:solidFill>
                <a:latin typeface="Arial"/>
              </a:rPr>
              <a:t> The set GitHub, Slack, Sentry, Grafana, Splunk takes up about 55,000 tokens of definitions before the work begins; loading on demand removes more than 85% of that, pulling in the 3–5 tools that are needed. From the same page: the accuracy of choice drops once there are more than 30–50 available tools (documentation from the same vendor, accessed 07.10.2026).</a:t>
            </a:r>
          </a:p>
        </p:txBody>
      </p:sp>
      <p:sp>
        <p:nvSpPr>
          <p:cNvPr id="8" name="TextBox 7"/>
          <p:cNvSpPr txBox="1"/>
          <p:nvPr/>
        </p:nvSpPr>
        <p:spPr>
          <a:xfrm>
            <a:off x="722376" y="3175254"/>
            <a:ext cx="329184" cy="734949"/>
          </a:xfrm>
          <a:prstGeom prst="rect">
            <a:avLst/>
          </a:prstGeom>
          <a:noFill/>
        </p:spPr>
        <p:txBody>
          <a:bodyPr wrap="square" lIns="0" rIns="0" tIns="0" bIns="0" anchor="ctr">
            <a:spAutoFit/>
          </a:bodyPr>
          <a:lstStyle/>
          <a:p>
            <a:pPr algn="l">
              <a:lnSpc>
                <a:spcPts val="1829"/>
              </a:lnSpc>
              <a:spcAft>
                <a:spcPts val="0"/>
              </a:spcAft>
            </a:pPr>
            <a:r>
              <a:rPr sz="1550" b="1" i="0">
                <a:solidFill>
                  <a:srgbClr val="028090"/>
                </a:solidFill>
                <a:latin typeface="Arial"/>
              </a:rPr>
              <a:t>3</a:t>
            </a:r>
          </a:p>
        </p:txBody>
      </p:sp>
      <p:sp>
        <p:nvSpPr>
          <p:cNvPr id="9" name="TextBox 8"/>
          <p:cNvSpPr txBox="1"/>
          <p:nvPr/>
        </p:nvSpPr>
        <p:spPr>
          <a:xfrm>
            <a:off x="1106424" y="3175254"/>
            <a:ext cx="10360152" cy="734949"/>
          </a:xfrm>
          <a:prstGeom prst="rect">
            <a:avLst/>
          </a:prstGeom>
          <a:noFill/>
        </p:spPr>
        <p:txBody>
          <a:bodyPr wrap="square" lIns="0" rIns="0" tIns="0" bIns="0" anchor="ctr">
            <a:spAutoFit/>
          </a:bodyPr>
          <a:lstStyle/>
          <a:p>
            <a:pPr algn="l">
              <a:lnSpc>
                <a:spcPts val="1593"/>
              </a:lnSpc>
              <a:spcAft>
                <a:spcPts val="0"/>
              </a:spcAft>
            </a:pPr>
            <a:r>
              <a:rPr sz="1350" b="1" i="0">
                <a:solidFill>
                  <a:srgbClr val="141B2E"/>
                </a:solidFill>
                <a:latin typeface="Arial"/>
              </a:rPr>
              <a:t>They cut their own set.</a:t>
            </a:r>
            <a:r>
              <a:rPr sz="1350" b="0" i="0">
                <a:solidFill>
                  <a:srgbClr val="141B2E"/>
                </a:solidFill>
                <a:latin typeface="Arial"/>
              </a:rPr>
              <a:t> There were 40 built-in tools, and 13 core ones were kept — and it was measured: the success rate on two sets of tasks grew by 2–5 percentage points. The platform's limit is 128 tools per request (GitHub, engineering blog, 19.11.2025).</a:t>
            </a:r>
          </a:p>
        </p:txBody>
      </p:sp>
      <p:sp>
        <p:nvSpPr>
          <p:cNvPr id="10" name="TextBox 9"/>
          <p:cNvSpPr txBox="1"/>
          <p:nvPr/>
        </p:nvSpPr>
        <p:spPr>
          <a:xfrm>
            <a:off x="722376" y="3910203"/>
            <a:ext cx="329184" cy="734949"/>
          </a:xfrm>
          <a:prstGeom prst="rect">
            <a:avLst/>
          </a:prstGeom>
          <a:noFill/>
        </p:spPr>
        <p:txBody>
          <a:bodyPr wrap="square" lIns="0" rIns="0" tIns="0" bIns="0" anchor="ctr">
            <a:spAutoFit/>
          </a:bodyPr>
          <a:lstStyle/>
          <a:p>
            <a:pPr algn="l">
              <a:lnSpc>
                <a:spcPts val="1829"/>
              </a:lnSpc>
              <a:spcAft>
                <a:spcPts val="0"/>
              </a:spcAft>
            </a:pPr>
            <a:r>
              <a:rPr sz="1550" b="1" i="0">
                <a:solidFill>
                  <a:srgbClr val="028090"/>
                </a:solidFill>
                <a:latin typeface="Arial"/>
              </a:rPr>
              <a:t>4</a:t>
            </a:r>
          </a:p>
        </p:txBody>
      </p:sp>
      <p:sp>
        <p:nvSpPr>
          <p:cNvPr id="11" name="TextBox 10"/>
          <p:cNvSpPr txBox="1"/>
          <p:nvPr/>
        </p:nvSpPr>
        <p:spPr>
          <a:xfrm>
            <a:off x="1106424" y="3910203"/>
            <a:ext cx="10360152" cy="734949"/>
          </a:xfrm>
          <a:prstGeom prst="rect">
            <a:avLst/>
          </a:prstGeom>
          <a:noFill/>
        </p:spPr>
        <p:txBody>
          <a:bodyPr wrap="square" lIns="0" rIns="0" tIns="0" bIns="0" anchor="ctr">
            <a:spAutoFit/>
          </a:bodyPr>
          <a:lstStyle/>
          <a:p>
            <a:pPr algn="l">
              <a:lnSpc>
                <a:spcPts val="1593"/>
              </a:lnSpc>
              <a:spcAft>
                <a:spcPts val="0"/>
              </a:spcAft>
            </a:pPr>
            <a:r>
              <a:rPr sz="1350" b="1" i="0">
                <a:solidFill>
                  <a:srgbClr val="141B2E"/>
                </a:solidFill>
                <a:latin typeface="Arial"/>
              </a:rPr>
              <a:t>They tried it and declined.</a:t>
            </a:r>
            <a:r>
              <a:rPr sz="1350" b="0" i="0">
                <a:solidFill>
                  <a:srgbClr val="141B2E"/>
                </a:solidFill>
                <a:latin typeface="Arial"/>
              </a:rPr>
              <a:t> Loading tools on demand was tried and declined: changing the set in the middle of the work wipes the cache and confuses the model about earlier steps. The move in its place — mask the surplus ones, leaving the definitions where they are (Manus, 18.07.2025).</a:t>
            </a:r>
          </a:p>
        </p:txBody>
      </p:sp>
      <p:sp>
        <p:nvSpPr>
          <p:cNvPr id="12" name="Rounded Rectangle 11"/>
          <p:cNvSpPr/>
          <p:nvPr/>
        </p:nvSpPr>
        <p:spPr>
          <a:xfrm>
            <a:off x="502920" y="5374005"/>
            <a:ext cx="82296" cy="746760"/>
          </a:xfrm>
          <a:prstGeom prst="roundRect">
            <a:avLst>
              <a:gd name="adj" fmla="val 50000"/>
            </a:avLst>
          </a:prstGeom>
          <a:solidFill>
            <a:srgbClr val="F0AB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59536" y="5502021"/>
            <a:ext cx="10643616" cy="490727"/>
          </a:xfrm>
          <a:prstGeom prst="rect">
            <a:avLst/>
          </a:prstGeom>
          <a:noFill/>
        </p:spPr>
        <p:txBody>
          <a:bodyPr wrap="square" lIns="0" rIns="0" tIns="0" bIns="0" anchor="ctr">
            <a:spAutoFit/>
          </a:bodyPr>
          <a:lstStyle/>
          <a:p>
            <a:pPr algn="l">
              <a:lnSpc>
                <a:spcPts val="1860"/>
              </a:lnSpc>
              <a:spcAft>
                <a:spcPts val="300"/>
              </a:spcAft>
            </a:pPr>
            <a:r>
              <a:rPr sz="1500" b="1" i="0">
                <a:solidFill>
                  <a:srgbClr val="141B2E"/>
                </a:solidFill>
                <a:latin typeface="Arial"/>
              </a:rPr>
              <a:t>Look at which mode the definitions are loaded in at your place, and keep the set to the task. The industry has no identical answer: the last row is the direct opposite of the three before it.</a:t>
            </a:r>
          </a:p>
        </p:txBody>
      </p:sp>
      <p:sp>
        <p:nvSpPr>
          <p:cNvPr id="14" name="TextBox 13"/>
          <p:cNvSpPr txBox="1"/>
          <p:nvPr/>
        </p:nvSpPr>
        <p:spPr>
          <a:xfrm>
            <a:off x="10957255" y="6437376"/>
            <a:ext cx="914400" cy="274320"/>
          </a:xfrm>
          <a:prstGeom prst="rect">
            <a:avLst/>
          </a:prstGeom>
          <a:noFill/>
        </p:spPr>
        <p:txBody>
          <a:bodyPr wrap="square" lIns="0" rIns="0" tIns="0" bIns="0" anchor="t">
            <a:spAutoFit/>
          </a:bodyPr>
          <a:lstStyle/>
          <a:p>
            <a:pPr algn="r">
              <a:lnSpc>
                <a:spcPts val="1238"/>
              </a:lnSpc>
              <a:spcAft>
                <a:spcPts val="0"/>
              </a:spcAft>
            </a:pPr>
            <a:r>
              <a:rPr sz="1050" b="0" i="0">
                <a:solidFill>
                  <a:srgbClr val="6B7685"/>
                </a:solidFill>
                <a:latin typeface="Arial"/>
              </a:rPr>
              <a:t>27</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02920" y="310896"/>
            <a:ext cx="11183112" cy="431291"/>
          </a:xfrm>
          <a:prstGeom prst="rect">
            <a:avLst/>
          </a:prstGeom>
          <a:noFill/>
        </p:spPr>
        <p:txBody>
          <a:bodyPr wrap="square" lIns="0" rIns="0" tIns="0" bIns="0" anchor="t">
            <a:spAutoFit/>
          </a:bodyPr>
          <a:lstStyle/>
          <a:p>
            <a:pPr algn="l">
              <a:lnSpc>
                <a:spcPts val="2963"/>
              </a:lnSpc>
              <a:spcAft>
                <a:spcPts val="0"/>
              </a:spcAft>
            </a:pPr>
            <a:r>
              <a:rPr sz="2600" b="1" i="0">
                <a:solidFill>
                  <a:srgbClr val="141B2E"/>
                </a:solidFill>
                <a:latin typeface="Arial"/>
              </a:rPr>
              <a:t>How many servers to keep connected</a:t>
            </a:r>
          </a:p>
        </p:txBody>
      </p:sp>
      <p:sp>
        <p:nvSpPr>
          <p:cNvPr id="3" name="Rounded Rectangle 2"/>
          <p:cNvSpPr/>
          <p:nvPr/>
        </p:nvSpPr>
        <p:spPr>
          <a:xfrm>
            <a:off x="502920" y="1133881"/>
            <a:ext cx="82296" cy="1219200"/>
          </a:xfrm>
          <a:prstGeom prst="roundRect">
            <a:avLst>
              <a:gd name="adj" fmla="val 50000"/>
            </a:avLst>
          </a:prstGeom>
          <a:solidFill>
            <a:srgbClr val="F0AB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59536" y="1261897"/>
            <a:ext cx="10643616" cy="963168"/>
          </a:xfrm>
          <a:prstGeom prst="rect">
            <a:avLst/>
          </a:prstGeom>
          <a:noFill/>
        </p:spPr>
        <p:txBody>
          <a:bodyPr wrap="square" lIns="0" rIns="0" tIns="0" bIns="0" anchor="ctr">
            <a:spAutoFit/>
          </a:bodyPr>
          <a:lstStyle/>
          <a:p>
            <a:pPr algn="l">
              <a:lnSpc>
                <a:spcPts val="1860"/>
              </a:lnSpc>
              <a:spcAft>
                <a:spcPts val="300"/>
              </a:spcAft>
            </a:pPr>
            <a:r>
              <a:rPr sz="1500" b="1" i="0">
                <a:solidFill>
                  <a:srgbClr val="141B2E"/>
                </a:solidFill>
                <a:latin typeface="Arial"/>
              </a:rPr>
              <a:t>There are five files in the configuration now: to the four we started the class with, </a:t>
            </a:r>
            <a:r>
              <a:rPr sz="1500" b="1" i="0">
                <a:solidFill>
                  <a:srgbClr val="141B2E"/>
                </a:solidFill>
                <a:latin typeface="Consolas"/>
              </a:rPr>
              <a:t>.mcp.json</a:t>
            </a:r>
            <a:r>
              <a:rPr sz="1500" b="1" i="0">
                <a:solidFill>
                  <a:srgbClr val="141B2E"/>
                </a:solidFill>
                <a:latin typeface="Arial"/>
              </a:rPr>
              <a:t> has been added. It gave the agent hands — under permissions we crossed out ourselves, with a check we know how to carry out, and at a cost we can now see. The agent's context meanwhile is one and finite, and tool definitions in it are one line item. The next question is what does not fit into that context anyway, once there is more work.</a:t>
            </a:r>
          </a:p>
        </p:txBody>
      </p:sp>
      <p:sp>
        <p:nvSpPr>
          <p:cNvPr id="5" name="Rounded Rectangle 4"/>
          <p:cNvSpPr/>
          <p:nvPr/>
        </p:nvSpPr>
        <p:spPr>
          <a:xfrm>
            <a:off x="502920" y="2993986"/>
            <a:ext cx="5454396" cy="3047873"/>
          </a:xfrm>
          <a:prstGeom prst="roundRect">
            <a:avLst>
              <a:gd name="adj" fmla="val 10000"/>
            </a:avLst>
          </a:prstGeom>
          <a:solidFill>
            <a:srgbClr val="F4F7FA"/>
          </a:solidFill>
          <a:ln w="15240">
            <a:solidFill>
              <a:srgbClr val="E5EA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85800" y="3103714"/>
            <a:ext cx="5088636" cy="274320"/>
          </a:xfrm>
          <a:prstGeom prst="rect">
            <a:avLst/>
          </a:prstGeom>
          <a:noFill/>
        </p:spPr>
        <p:txBody>
          <a:bodyPr wrap="square" lIns="0" rIns="0" tIns="0" bIns="0" anchor="t">
            <a:spAutoFit/>
          </a:bodyPr>
          <a:lstStyle/>
          <a:p>
            <a:pPr algn="l">
              <a:lnSpc>
                <a:spcPts val="1297"/>
              </a:lnSpc>
              <a:spcAft>
                <a:spcPts val="0"/>
              </a:spcAft>
            </a:pPr>
            <a:r>
              <a:rPr sz="1100" b="1" i="0">
                <a:solidFill>
                  <a:srgbClr val="6B7685"/>
                </a:solidFill>
                <a:latin typeface="Arial"/>
              </a:rPr>
              <a:t>KEEP IT CONNECTED IN THE PROJECT FILE</a:t>
            </a:r>
          </a:p>
        </p:txBody>
      </p:sp>
      <p:sp>
        <p:nvSpPr>
          <p:cNvPr id="7" name="TextBox 6"/>
          <p:cNvSpPr txBox="1"/>
          <p:nvPr/>
        </p:nvSpPr>
        <p:spPr>
          <a:xfrm>
            <a:off x="685800" y="3378034"/>
            <a:ext cx="5088636" cy="490982"/>
          </a:xfrm>
          <a:prstGeom prst="rect">
            <a:avLst/>
          </a:prstGeom>
          <a:noFill/>
        </p:spPr>
        <p:txBody>
          <a:bodyPr wrap="square" lIns="0" rIns="0" tIns="0" bIns="0" anchor="ctr">
            <a:spAutoFit/>
          </a:bodyPr>
          <a:lstStyle/>
          <a:p>
            <a:pPr algn="l">
              <a:lnSpc>
                <a:spcPts val="1356"/>
              </a:lnSpc>
              <a:spcAft>
                <a:spcPts val="0"/>
              </a:spcAft>
            </a:pPr>
            <a:r>
              <a:rPr sz="1150" b="0" i="0">
                <a:solidFill>
                  <a:srgbClr val="141B2E"/>
                </a:solidFill>
                <a:latin typeface="Arial"/>
              </a:rPr>
              <a:t>the server is needed in most of this project's sessions: the team uses it</a:t>
            </a:r>
          </a:p>
        </p:txBody>
      </p:sp>
      <p:cxnSp>
        <p:nvCxnSpPr>
          <p:cNvPr id="8" name="Connector 7"/>
          <p:cNvCxnSpPr/>
          <p:nvPr/>
        </p:nvCxnSpPr>
        <p:spPr>
          <a:xfrm>
            <a:off x="685800" y="3869016"/>
            <a:ext cx="5088636" cy="0"/>
          </a:xfrm>
          <a:prstGeom prst="line">
            <a:avLst/>
          </a:prstGeom>
          <a:ln w="9525">
            <a:solidFill>
              <a:srgbClr val="E5EAF0"/>
            </a:solidFill>
          </a:ln>
        </p:spPr>
        <p:style>
          <a:lnRef idx="2">
            <a:schemeClr val="accent1"/>
          </a:lnRef>
          <a:fillRef idx="0">
            <a:schemeClr val="accent1"/>
          </a:fillRef>
          <a:effectRef idx="1">
            <a:schemeClr val="accent1"/>
          </a:effectRef>
          <a:fontRef idx="minor">
            <a:schemeClr val="tx1"/>
          </a:fontRef>
        </p:style>
      </p:cxnSp>
      <p:sp>
        <p:nvSpPr>
          <p:cNvPr id="9" name="TextBox 8"/>
          <p:cNvSpPr txBox="1"/>
          <p:nvPr/>
        </p:nvSpPr>
        <p:spPr>
          <a:xfrm>
            <a:off x="685800" y="3869016"/>
            <a:ext cx="5088636" cy="490982"/>
          </a:xfrm>
          <a:prstGeom prst="rect">
            <a:avLst/>
          </a:prstGeom>
          <a:noFill/>
        </p:spPr>
        <p:txBody>
          <a:bodyPr wrap="square" lIns="0" rIns="0" tIns="0" bIns="0" anchor="ctr">
            <a:spAutoFit/>
          </a:bodyPr>
          <a:lstStyle/>
          <a:p>
            <a:pPr algn="l">
              <a:lnSpc>
                <a:spcPts val="1356"/>
              </a:lnSpc>
              <a:spcAft>
                <a:spcPts val="0"/>
              </a:spcAft>
            </a:pPr>
            <a:r>
              <a:rPr sz="1150" b="0" i="0">
                <a:solidFill>
                  <a:srgbClr val="141B2E"/>
                </a:solidFill>
                <a:latin typeface="Arial"/>
              </a:rPr>
              <a:t>the definitions of its tools arrive on demand, and this has been checked</a:t>
            </a:r>
          </a:p>
        </p:txBody>
      </p:sp>
      <p:cxnSp>
        <p:nvCxnSpPr>
          <p:cNvPr id="10" name="Connector 9"/>
          <p:cNvCxnSpPr/>
          <p:nvPr/>
        </p:nvCxnSpPr>
        <p:spPr>
          <a:xfrm>
            <a:off x="685800" y="4359998"/>
            <a:ext cx="5088636" cy="0"/>
          </a:xfrm>
          <a:prstGeom prst="line">
            <a:avLst/>
          </a:prstGeom>
          <a:ln w="9525">
            <a:solidFill>
              <a:srgbClr val="E5EAF0"/>
            </a:solidFill>
          </a:ln>
        </p:spPr>
        <p:style>
          <a:lnRef idx="2">
            <a:schemeClr val="accent1"/>
          </a:lnRef>
          <a:fillRef idx="0">
            <a:schemeClr val="accent1"/>
          </a:fillRef>
          <a:effectRef idx="1">
            <a:schemeClr val="accent1"/>
          </a:effectRef>
          <a:fontRef idx="minor">
            <a:schemeClr val="tx1"/>
          </a:fontRef>
        </p:style>
      </p:cxnSp>
      <p:sp>
        <p:nvSpPr>
          <p:cNvPr id="11" name="TextBox 10"/>
          <p:cNvSpPr txBox="1"/>
          <p:nvPr/>
        </p:nvSpPr>
        <p:spPr>
          <a:xfrm>
            <a:off x="685800" y="4359998"/>
            <a:ext cx="5088636" cy="490982"/>
          </a:xfrm>
          <a:prstGeom prst="rect">
            <a:avLst/>
          </a:prstGeom>
          <a:noFill/>
        </p:spPr>
        <p:txBody>
          <a:bodyPr wrap="square" lIns="0" rIns="0" tIns="0" bIns="0" anchor="ctr">
            <a:spAutoFit/>
          </a:bodyPr>
          <a:lstStyle/>
          <a:p>
            <a:pPr algn="l">
              <a:lnSpc>
                <a:spcPts val="1356"/>
              </a:lnSpc>
              <a:spcAft>
                <a:spcPts val="0"/>
              </a:spcAft>
            </a:pPr>
            <a:r>
              <a:rPr sz="1150" b="0" i="0">
                <a:solidFill>
                  <a:srgbClr val="141B2E"/>
                </a:solidFill>
                <a:latin typeface="Arial"/>
              </a:rPr>
              <a:t>it has as many toolsets as the task needs; the rest the server keeps switched off</a:t>
            </a:r>
          </a:p>
        </p:txBody>
      </p:sp>
      <p:sp>
        <p:nvSpPr>
          <p:cNvPr id="12" name="Rounded Rectangle 11"/>
          <p:cNvSpPr/>
          <p:nvPr/>
        </p:nvSpPr>
        <p:spPr>
          <a:xfrm>
            <a:off x="6231636" y="2993986"/>
            <a:ext cx="5454396" cy="3047873"/>
          </a:xfrm>
          <a:prstGeom prst="roundRect">
            <a:avLst>
              <a:gd name="adj" fmla="val 10000"/>
            </a:avLst>
          </a:prstGeom>
          <a:solidFill>
            <a:srgbClr val="F4F7FA"/>
          </a:solidFill>
          <a:ln w="15240">
            <a:solidFill>
              <a:srgbClr val="E5EA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14516" y="3103714"/>
            <a:ext cx="5088636" cy="274320"/>
          </a:xfrm>
          <a:prstGeom prst="rect">
            <a:avLst/>
          </a:prstGeom>
          <a:noFill/>
        </p:spPr>
        <p:txBody>
          <a:bodyPr wrap="square" lIns="0" rIns="0" tIns="0" bIns="0" anchor="t">
            <a:spAutoFit/>
          </a:bodyPr>
          <a:lstStyle/>
          <a:p>
            <a:pPr algn="l">
              <a:lnSpc>
                <a:spcPts val="1297"/>
              </a:lnSpc>
              <a:spcAft>
                <a:spcPts val="0"/>
              </a:spcAft>
            </a:pPr>
            <a:r>
              <a:rPr sz="1100" b="1" i="0">
                <a:solidFill>
                  <a:srgbClr val="8A6200"/>
                </a:solidFill>
                <a:latin typeface="Arial"/>
              </a:rPr>
              <a:t>NEVER NEEDED</a:t>
            </a:r>
          </a:p>
        </p:txBody>
      </p:sp>
      <p:sp>
        <p:nvSpPr>
          <p:cNvPr id="14" name="TextBox 13"/>
          <p:cNvSpPr txBox="1"/>
          <p:nvPr/>
        </p:nvSpPr>
        <p:spPr>
          <a:xfrm>
            <a:off x="6414516" y="3378034"/>
            <a:ext cx="5088636" cy="490982"/>
          </a:xfrm>
          <a:prstGeom prst="rect">
            <a:avLst/>
          </a:prstGeom>
          <a:noFill/>
        </p:spPr>
        <p:txBody>
          <a:bodyPr wrap="square" lIns="0" rIns="0" tIns="0" bIns="0" anchor="ctr">
            <a:spAutoFit/>
          </a:bodyPr>
          <a:lstStyle/>
          <a:p>
            <a:pPr algn="l">
              <a:lnSpc>
                <a:spcPts val="1356"/>
              </a:lnSpc>
              <a:spcAft>
                <a:spcPts val="0"/>
              </a:spcAft>
            </a:pPr>
            <a:r>
              <a:rPr sz="1150" b="0" i="0">
                <a:solidFill>
                  <a:srgbClr val="141B2E"/>
                </a:solidFill>
                <a:latin typeface="Arial"/>
              </a:rPr>
              <a:t>keeping in the shared project file what one person needs: there is a personal scope for that</a:t>
            </a:r>
          </a:p>
        </p:txBody>
      </p:sp>
      <p:cxnSp>
        <p:nvCxnSpPr>
          <p:cNvPr id="15" name="Connector 14"/>
          <p:cNvCxnSpPr/>
          <p:nvPr/>
        </p:nvCxnSpPr>
        <p:spPr>
          <a:xfrm>
            <a:off x="6414516" y="3869016"/>
            <a:ext cx="5088636" cy="0"/>
          </a:xfrm>
          <a:prstGeom prst="line">
            <a:avLst/>
          </a:prstGeom>
          <a:ln w="9525">
            <a:solidFill>
              <a:srgbClr val="E5EAF0"/>
            </a:solidFill>
          </a:ln>
        </p:spPr>
        <p:style>
          <a:lnRef idx="2">
            <a:schemeClr val="accent1"/>
          </a:lnRef>
          <a:fillRef idx="0">
            <a:schemeClr val="accent1"/>
          </a:fillRef>
          <a:effectRef idx="1">
            <a:schemeClr val="accent1"/>
          </a:effectRef>
          <a:fontRef idx="minor">
            <a:schemeClr val="tx1"/>
          </a:fontRef>
        </p:style>
      </p:cxnSp>
      <p:sp>
        <p:nvSpPr>
          <p:cNvPr id="16" name="TextBox 15"/>
          <p:cNvSpPr txBox="1"/>
          <p:nvPr/>
        </p:nvSpPr>
        <p:spPr>
          <a:xfrm>
            <a:off x="6414516" y="3869016"/>
            <a:ext cx="5088636" cy="663321"/>
          </a:xfrm>
          <a:prstGeom prst="rect">
            <a:avLst/>
          </a:prstGeom>
          <a:noFill/>
        </p:spPr>
        <p:txBody>
          <a:bodyPr wrap="square" lIns="0" rIns="0" tIns="0" bIns="0" anchor="ctr">
            <a:spAutoFit/>
          </a:bodyPr>
          <a:lstStyle/>
          <a:p>
            <a:pPr algn="l">
              <a:lnSpc>
                <a:spcPts val="1356"/>
              </a:lnSpc>
              <a:spcAft>
                <a:spcPts val="0"/>
              </a:spcAft>
            </a:pPr>
            <a:r>
              <a:rPr sz="1150" b="0" i="0">
                <a:solidFill>
                  <a:srgbClr val="141B2E"/>
                </a:solidFill>
                <a:latin typeface="Arial"/>
              </a:rPr>
              <a:t>setting the flag that forces definitions to load without writing the reason down next to it: a month later it is somebody else's line with no explanation</a:t>
            </a:r>
          </a:p>
        </p:txBody>
      </p:sp>
      <p:cxnSp>
        <p:nvCxnSpPr>
          <p:cNvPr id="17" name="Connector 16"/>
          <p:cNvCxnSpPr/>
          <p:nvPr/>
        </p:nvCxnSpPr>
        <p:spPr>
          <a:xfrm>
            <a:off x="6414516" y="4532337"/>
            <a:ext cx="5088636" cy="0"/>
          </a:xfrm>
          <a:prstGeom prst="line">
            <a:avLst/>
          </a:prstGeom>
          <a:ln w="9525">
            <a:solidFill>
              <a:srgbClr val="E5EAF0"/>
            </a:solidFill>
          </a:ln>
        </p:spPr>
        <p:style>
          <a:lnRef idx="2">
            <a:schemeClr val="accent1"/>
          </a:lnRef>
          <a:fillRef idx="0">
            <a:schemeClr val="accent1"/>
          </a:fillRef>
          <a:effectRef idx="1">
            <a:schemeClr val="accent1"/>
          </a:effectRef>
          <a:fontRef idx="minor">
            <a:schemeClr val="tx1"/>
          </a:fontRef>
        </p:style>
      </p:cxnSp>
      <p:sp>
        <p:nvSpPr>
          <p:cNvPr id="18" name="TextBox 17"/>
          <p:cNvSpPr txBox="1"/>
          <p:nvPr/>
        </p:nvSpPr>
        <p:spPr>
          <a:xfrm>
            <a:off x="6414516" y="4532337"/>
            <a:ext cx="5088636" cy="663321"/>
          </a:xfrm>
          <a:prstGeom prst="rect">
            <a:avLst/>
          </a:prstGeom>
          <a:noFill/>
        </p:spPr>
        <p:txBody>
          <a:bodyPr wrap="square" lIns="0" rIns="0" tIns="0" bIns="0" anchor="ctr">
            <a:spAutoFit/>
          </a:bodyPr>
          <a:lstStyle/>
          <a:p>
            <a:pPr algn="l">
              <a:lnSpc>
                <a:spcPts val="1356"/>
              </a:lnSpc>
              <a:spcAft>
                <a:spcPts val="0"/>
              </a:spcAft>
            </a:pPr>
            <a:r>
              <a:rPr sz="1150" b="0" i="0">
                <a:solidFill>
                  <a:srgbClr val="141B2E"/>
                </a:solidFill>
                <a:latin typeface="Arial"/>
              </a:rPr>
              <a:t>believing that a large context settles the question: the accuracy of tool choice drops past 30–50 available tools, and it is visible in the result — the bill stays silent</a:t>
            </a:r>
          </a:p>
        </p:txBody>
      </p:sp>
      <p:cxnSp>
        <p:nvCxnSpPr>
          <p:cNvPr id="19" name="Connector 18"/>
          <p:cNvCxnSpPr/>
          <p:nvPr/>
        </p:nvCxnSpPr>
        <p:spPr>
          <a:xfrm>
            <a:off x="6414516" y="5195658"/>
            <a:ext cx="5088636" cy="0"/>
          </a:xfrm>
          <a:prstGeom prst="line">
            <a:avLst/>
          </a:prstGeom>
          <a:ln w="9525">
            <a:solidFill>
              <a:srgbClr val="E5EAF0"/>
            </a:solidFill>
          </a:ln>
        </p:spPr>
        <p:style>
          <a:lnRef idx="2">
            <a:schemeClr val="accent1"/>
          </a:lnRef>
          <a:fillRef idx="0">
            <a:schemeClr val="accent1"/>
          </a:fillRef>
          <a:effectRef idx="1">
            <a:schemeClr val="accent1"/>
          </a:effectRef>
          <a:fontRef idx="minor">
            <a:schemeClr val="tx1"/>
          </a:fontRef>
        </p:style>
      </p:cxnSp>
      <p:sp>
        <p:nvSpPr>
          <p:cNvPr id="20" name="TextBox 19"/>
          <p:cNvSpPr txBox="1"/>
          <p:nvPr/>
        </p:nvSpPr>
        <p:spPr>
          <a:xfrm>
            <a:off x="6414516" y="5195658"/>
            <a:ext cx="5088636" cy="663321"/>
          </a:xfrm>
          <a:prstGeom prst="rect">
            <a:avLst/>
          </a:prstGeom>
          <a:noFill/>
        </p:spPr>
        <p:txBody>
          <a:bodyPr wrap="square" lIns="0" rIns="0" tIns="0" bIns="0" anchor="ctr">
            <a:spAutoFit/>
          </a:bodyPr>
          <a:lstStyle/>
          <a:p>
            <a:pPr algn="l">
              <a:lnSpc>
                <a:spcPts val="1356"/>
              </a:lnSpc>
              <a:spcAft>
                <a:spcPts val="0"/>
              </a:spcAft>
            </a:pPr>
            <a:r>
              <a:rPr sz="1150" b="0" i="0">
                <a:solidFill>
                  <a:srgbClr val="141B2E"/>
                </a:solidFill>
                <a:latin typeface="Arial"/>
              </a:rPr>
              <a:t>relying on a flag found by a search: the server may have had it removed — it is checked against the description of the current version</a:t>
            </a:r>
          </a:p>
        </p:txBody>
      </p:sp>
      <p:sp>
        <p:nvSpPr>
          <p:cNvPr id="21" name="TextBox 20"/>
          <p:cNvSpPr txBox="1"/>
          <p:nvPr/>
        </p:nvSpPr>
        <p:spPr>
          <a:xfrm>
            <a:off x="10957255" y="6437376"/>
            <a:ext cx="914400" cy="274320"/>
          </a:xfrm>
          <a:prstGeom prst="rect">
            <a:avLst/>
          </a:prstGeom>
          <a:noFill/>
        </p:spPr>
        <p:txBody>
          <a:bodyPr wrap="square" lIns="0" rIns="0" tIns="0" bIns="0" anchor="t">
            <a:spAutoFit/>
          </a:bodyPr>
          <a:lstStyle/>
          <a:p>
            <a:pPr algn="r">
              <a:lnSpc>
                <a:spcPts val="1238"/>
              </a:lnSpc>
              <a:spcAft>
                <a:spcPts val="0"/>
              </a:spcAft>
            </a:pPr>
            <a:r>
              <a:rPr sz="1050" b="0" i="0">
                <a:solidFill>
                  <a:srgbClr val="6B7685"/>
                </a:solidFill>
                <a:latin typeface="Arial"/>
              </a:rPr>
              <a:t>28</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ln>
            <a:noFill/>
          </a:ln>
          <a:effectLst/>
          <a:gradFill rotWithShape="1">
            <a:gsLst>
              <a:gs pos="0">
                <a:srgbClr val="21295C"/>
              </a:gs>
              <a:gs pos="55000">
                <a:srgbClr val="065A82"/>
              </a:gs>
              <a:gs pos="100000">
                <a:srgbClr val="1C7293"/>
              </a:gs>
            </a:gsLst>
            <a:lin ang="2700000" scaled="1"/>
          </a:gra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502920" y="457200"/>
            <a:ext cx="5111496" cy="237744"/>
          </a:xfrm>
          <a:prstGeom prst="roundRect">
            <a:avLst>
              <a:gd name="adj" fmla="val 40000"/>
            </a:avLst>
          </a:prstGeom>
          <a:solidFill>
            <a:srgbClr val="3E4C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5724144" y="457200"/>
            <a:ext cx="5111496" cy="237744"/>
          </a:xfrm>
          <a:prstGeom prst="roundRect">
            <a:avLst>
              <a:gd name="adj" fmla="val 40000"/>
            </a:avLst>
          </a:prstGeom>
          <a:solidFill>
            <a:srgbClr val="F0AB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585216" y="2590038"/>
            <a:ext cx="694944" cy="694944"/>
          </a:xfrm>
          <a:prstGeom prst="ellipse">
            <a:avLst/>
          </a:prstGeom>
          <a:solidFill>
            <a:srgbClr val="F0AB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85216" y="2590038"/>
            <a:ext cx="694944" cy="694944"/>
          </a:xfrm>
          <a:prstGeom prst="rect">
            <a:avLst/>
          </a:prstGeom>
          <a:noFill/>
        </p:spPr>
        <p:txBody>
          <a:bodyPr wrap="square" lIns="0" rIns="0" tIns="0" bIns="0" anchor="ctr">
            <a:spAutoFit/>
          </a:bodyPr>
          <a:lstStyle/>
          <a:p>
            <a:pPr algn="ctr">
              <a:lnSpc>
                <a:spcPts val="2950"/>
              </a:lnSpc>
              <a:spcAft>
                <a:spcPts val="0"/>
              </a:spcAft>
            </a:pPr>
            <a:r>
              <a:rPr sz="2500" b="1" i="0">
                <a:solidFill>
                  <a:srgbClr val="21295C"/>
                </a:solidFill>
                <a:latin typeface="Arial"/>
              </a:rPr>
              <a:t>3</a:t>
            </a:r>
          </a:p>
        </p:txBody>
      </p:sp>
      <p:sp>
        <p:nvSpPr>
          <p:cNvPr id="7" name="TextBox 6"/>
          <p:cNvSpPr txBox="1"/>
          <p:nvPr/>
        </p:nvSpPr>
        <p:spPr>
          <a:xfrm>
            <a:off x="1536192" y="2484120"/>
            <a:ext cx="9144000" cy="906780"/>
          </a:xfrm>
          <a:prstGeom prst="rect">
            <a:avLst/>
          </a:prstGeom>
          <a:noFill/>
        </p:spPr>
        <p:txBody>
          <a:bodyPr wrap="square" lIns="0" rIns="0" tIns="0" bIns="0" anchor="t">
            <a:spAutoFit/>
          </a:bodyPr>
          <a:lstStyle/>
          <a:p>
            <a:pPr algn="l">
              <a:lnSpc>
                <a:spcPts val="3570"/>
              </a:lnSpc>
              <a:spcAft>
                <a:spcPts val="0"/>
              </a:spcAft>
            </a:pPr>
            <a:r>
              <a:rPr sz="3400" b="1" i="0">
                <a:solidFill>
                  <a:srgbClr val="FFFFFF"/>
                </a:solidFill>
                <a:latin typeface="Arial"/>
              </a:rPr>
              <a:t>Forty files for the sake of four places that are needed</a:t>
            </a:r>
          </a:p>
        </p:txBody>
      </p:sp>
      <p:sp>
        <p:nvSpPr>
          <p:cNvPr id="8" name="TextBox 7"/>
          <p:cNvSpPr txBox="1"/>
          <p:nvPr/>
        </p:nvSpPr>
        <p:spPr>
          <a:xfrm>
            <a:off x="822960" y="3701796"/>
            <a:ext cx="9509760" cy="854964"/>
          </a:xfrm>
          <a:prstGeom prst="rect">
            <a:avLst/>
          </a:prstGeom>
          <a:noFill/>
        </p:spPr>
        <p:txBody>
          <a:bodyPr wrap="square" lIns="0" rIns="0" tIns="0" bIns="0" anchor="t">
            <a:spAutoFit/>
          </a:bodyPr>
          <a:lstStyle/>
          <a:p>
            <a:pPr algn="l">
              <a:lnSpc>
                <a:spcPts val="2244"/>
              </a:lnSpc>
              <a:spcAft>
                <a:spcPts val="400"/>
              </a:spcAft>
            </a:pPr>
            <a:r>
              <a:rPr sz="1700" b="0" i="1">
                <a:solidFill>
                  <a:srgbClr val="D6E2EC"/>
                </a:solidFill>
                <a:latin typeface="Arial"/>
              </a:rPr>
              <a:t>What to edit is known. Where to edit lies in forty files, and they have to be read into the same place that edit has already been explained in.</a:t>
            </a:r>
          </a:p>
        </p:txBody>
      </p:sp>
      <p:sp>
        <p:nvSpPr>
          <p:cNvPr id="9" name="Rounded Rectangle 8"/>
          <p:cNvSpPr/>
          <p:nvPr/>
        </p:nvSpPr>
        <p:spPr>
          <a:xfrm>
            <a:off x="502920" y="5989320"/>
            <a:ext cx="5500116" cy="384048"/>
          </a:xfrm>
          <a:prstGeom prst="roundRect">
            <a:avLst>
              <a:gd name="adj" fmla="val 30000"/>
            </a:avLst>
          </a:prstGeom>
          <a:solidFill>
            <a:srgbClr val="0280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02920" y="5989320"/>
            <a:ext cx="5500116" cy="384048"/>
          </a:xfrm>
          <a:prstGeom prst="rect">
            <a:avLst/>
          </a:prstGeom>
          <a:noFill/>
        </p:spPr>
        <p:txBody>
          <a:bodyPr wrap="square" lIns="0" rIns="0" tIns="0" bIns="0" anchor="ctr">
            <a:spAutoFit/>
          </a:bodyPr>
          <a:lstStyle/>
          <a:p>
            <a:pPr algn="ctr">
              <a:lnSpc>
                <a:spcPts val="1475"/>
              </a:lnSpc>
              <a:spcAft>
                <a:spcPts val="0"/>
              </a:spcAft>
            </a:pPr>
            <a:r>
              <a:rPr sz="1250" b="0" i="0">
                <a:solidFill>
                  <a:srgbClr val="FFFFFF"/>
                </a:solidFill>
                <a:latin typeface="Arial"/>
              </a:rPr>
              <a:t>MCP</a:t>
            </a:r>
          </a:p>
        </p:txBody>
      </p:sp>
      <p:sp>
        <p:nvSpPr>
          <p:cNvPr id="11" name="Rounded Rectangle 10"/>
          <p:cNvSpPr/>
          <p:nvPr/>
        </p:nvSpPr>
        <p:spPr>
          <a:xfrm>
            <a:off x="6185916" y="5989320"/>
            <a:ext cx="5500116" cy="384048"/>
          </a:xfrm>
          <a:prstGeom prst="roundRect">
            <a:avLst>
              <a:gd name="adj" fmla="val 30000"/>
            </a:avLst>
          </a:prstGeom>
          <a:solidFill>
            <a:srgbClr val="F0AB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185916" y="5989320"/>
            <a:ext cx="5500116" cy="384048"/>
          </a:xfrm>
          <a:prstGeom prst="rect">
            <a:avLst/>
          </a:prstGeom>
          <a:noFill/>
        </p:spPr>
        <p:txBody>
          <a:bodyPr wrap="square" lIns="0" rIns="0" tIns="0" bIns="0" anchor="ctr">
            <a:spAutoFit/>
          </a:bodyPr>
          <a:lstStyle/>
          <a:p>
            <a:pPr algn="ctr">
              <a:lnSpc>
                <a:spcPts val="1475"/>
              </a:lnSpc>
              <a:spcAft>
                <a:spcPts val="0"/>
              </a:spcAft>
            </a:pPr>
            <a:r>
              <a:rPr sz="1250" b="1" i="0">
                <a:solidFill>
                  <a:srgbClr val="21295C"/>
                </a:solidFill>
                <a:latin typeface="Arial"/>
              </a:rPr>
              <a:t>Subagent</a:t>
            </a:r>
          </a:p>
        </p:txBody>
      </p:sp>
      <p:sp>
        <p:nvSpPr>
          <p:cNvPr id="13" name="TextBox 12"/>
          <p:cNvSpPr txBox="1"/>
          <p:nvPr/>
        </p:nvSpPr>
        <p:spPr>
          <a:xfrm>
            <a:off x="10957255" y="6437376"/>
            <a:ext cx="914400" cy="274320"/>
          </a:xfrm>
          <a:prstGeom prst="rect">
            <a:avLst/>
          </a:prstGeom>
          <a:noFill/>
        </p:spPr>
        <p:txBody>
          <a:bodyPr wrap="square" lIns="0" rIns="0" tIns="0" bIns="0" anchor="t">
            <a:spAutoFit/>
          </a:bodyPr>
          <a:lstStyle/>
          <a:p>
            <a:pPr algn="r">
              <a:lnSpc>
                <a:spcPts val="1238"/>
              </a:lnSpc>
              <a:spcAft>
                <a:spcPts val="0"/>
              </a:spcAft>
            </a:pPr>
            <a:r>
              <a:rPr sz="1050" b="0" i="0">
                <a:solidFill>
                  <a:srgbClr val="FFFFFF"/>
                </a:solidFill>
                <a:latin typeface="Arial"/>
              </a:rPr>
              <a:t>29</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02920" y="310896"/>
            <a:ext cx="11183112" cy="431291"/>
          </a:xfrm>
          <a:prstGeom prst="rect">
            <a:avLst/>
          </a:prstGeom>
          <a:noFill/>
        </p:spPr>
        <p:txBody>
          <a:bodyPr wrap="square" lIns="0" rIns="0" tIns="0" bIns="0" anchor="t">
            <a:spAutoFit/>
          </a:bodyPr>
          <a:lstStyle/>
          <a:p>
            <a:pPr algn="l">
              <a:lnSpc>
                <a:spcPts val="2963"/>
              </a:lnSpc>
              <a:spcAft>
                <a:spcPts val="0"/>
              </a:spcAft>
            </a:pPr>
            <a:r>
              <a:rPr sz="2600" b="1" i="0">
                <a:solidFill>
                  <a:srgbClr val="141B2E"/>
                </a:solidFill>
                <a:latin typeface="Arial"/>
              </a:rPr>
              <a:t>The agent, the subagent and the context of each</a:t>
            </a:r>
          </a:p>
        </p:txBody>
      </p:sp>
      <p:pic>
        <p:nvPicPr>
          <p:cNvPr id="3" name="Picture 2" descr="subagent-n30-kontekst-i-subagenty-en.png"/>
          <p:cNvPicPr>
            <a:picLocks noChangeAspect="1"/>
          </p:cNvPicPr>
          <p:nvPr/>
        </p:nvPicPr>
        <p:blipFill>
          <a:blip r:embed="rId2"/>
          <a:stretch>
            <a:fillRect/>
          </a:stretch>
        </p:blipFill>
        <p:spPr>
          <a:xfrm>
            <a:off x="572125" y="943356"/>
            <a:ext cx="11044701" cy="5384292"/>
          </a:xfrm>
          <a:prstGeom prst="rect">
            <a:avLst/>
          </a:prstGeom>
        </p:spPr>
      </p:pic>
      <p:sp>
        <p:nvSpPr>
          <p:cNvPr id="4" name="TextBox 3"/>
          <p:cNvSpPr txBox="1"/>
          <p:nvPr/>
        </p:nvSpPr>
        <p:spPr>
          <a:xfrm>
            <a:off x="10957255" y="6437376"/>
            <a:ext cx="914400" cy="274320"/>
          </a:xfrm>
          <a:prstGeom prst="rect">
            <a:avLst/>
          </a:prstGeom>
          <a:noFill/>
        </p:spPr>
        <p:txBody>
          <a:bodyPr wrap="square" lIns="0" rIns="0" tIns="0" bIns="0" anchor="t">
            <a:spAutoFit/>
          </a:bodyPr>
          <a:lstStyle/>
          <a:p>
            <a:pPr algn="r">
              <a:lnSpc>
                <a:spcPts val="1238"/>
              </a:lnSpc>
              <a:spcAft>
                <a:spcPts val="0"/>
              </a:spcAft>
            </a:pPr>
            <a:r>
              <a:rPr sz="1050" b="0" i="0">
                <a:solidFill>
                  <a:srgbClr val="6B7685"/>
                </a:solidFill>
                <a:latin typeface="Arial"/>
              </a:rPr>
              <a:t>30</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02920" y="310896"/>
            <a:ext cx="11183112" cy="431291"/>
          </a:xfrm>
          <a:prstGeom prst="rect">
            <a:avLst/>
          </a:prstGeom>
          <a:noFill/>
        </p:spPr>
        <p:txBody>
          <a:bodyPr wrap="square" lIns="0" rIns="0" tIns="0" bIns="0" anchor="t">
            <a:spAutoFit/>
          </a:bodyPr>
          <a:lstStyle/>
          <a:p>
            <a:pPr algn="l">
              <a:lnSpc>
                <a:spcPts val="2963"/>
              </a:lnSpc>
              <a:spcAft>
                <a:spcPts val="0"/>
              </a:spcAft>
            </a:pPr>
            <a:r>
              <a:rPr sz="2600" b="1" i="0">
                <a:solidFill>
                  <a:srgbClr val="141B2E"/>
                </a:solidFill>
                <a:latin typeface="Arial"/>
              </a:rPr>
              <a:t>The subagent in full, in one screen</a:t>
            </a:r>
          </a:p>
        </p:txBody>
      </p:sp>
      <p:pic>
        <p:nvPicPr>
          <p:cNvPr id="3" name="Picture 2" descr="subagent-n31-subagent-tselikom-en.png"/>
          <p:cNvPicPr>
            <a:picLocks noChangeAspect="1"/>
          </p:cNvPicPr>
          <p:nvPr/>
        </p:nvPicPr>
        <p:blipFill>
          <a:blip r:embed="rId2"/>
          <a:stretch>
            <a:fillRect/>
          </a:stretch>
        </p:blipFill>
        <p:spPr>
          <a:xfrm>
            <a:off x="502920" y="972281"/>
            <a:ext cx="11183112" cy="5311978"/>
          </a:xfrm>
          <a:prstGeom prst="rect">
            <a:avLst/>
          </a:prstGeom>
        </p:spPr>
      </p:pic>
      <p:sp>
        <p:nvSpPr>
          <p:cNvPr id="4" name="TextBox 3"/>
          <p:cNvSpPr txBox="1"/>
          <p:nvPr/>
        </p:nvSpPr>
        <p:spPr>
          <a:xfrm>
            <a:off x="10957255" y="6437376"/>
            <a:ext cx="914400" cy="274320"/>
          </a:xfrm>
          <a:prstGeom prst="rect">
            <a:avLst/>
          </a:prstGeom>
          <a:noFill/>
        </p:spPr>
        <p:txBody>
          <a:bodyPr wrap="square" lIns="0" rIns="0" tIns="0" bIns="0" anchor="t">
            <a:spAutoFit/>
          </a:bodyPr>
          <a:lstStyle/>
          <a:p>
            <a:pPr algn="r">
              <a:lnSpc>
                <a:spcPts val="1238"/>
              </a:lnSpc>
              <a:spcAft>
                <a:spcPts val="0"/>
              </a:spcAft>
            </a:pPr>
            <a:r>
              <a:rPr sz="1050" b="0" i="0">
                <a:solidFill>
                  <a:srgbClr val="6B7685"/>
                </a:solidFill>
                <a:latin typeface="Arial"/>
              </a:rPr>
              <a:t>31</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02920" y="310896"/>
            <a:ext cx="11183112" cy="431291"/>
          </a:xfrm>
          <a:prstGeom prst="rect">
            <a:avLst/>
          </a:prstGeom>
          <a:noFill/>
        </p:spPr>
        <p:txBody>
          <a:bodyPr wrap="square" lIns="0" rIns="0" tIns="0" bIns="0" anchor="t">
            <a:spAutoFit/>
          </a:bodyPr>
          <a:lstStyle/>
          <a:p>
            <a:pPr algn="l">
              <a:lnSpc>
                <a:spcPts val="2963"/>
              </a:lnSpc>
              <a:spcAft>
                <a:spcPts val="0"/>
              </a:spcAft>
            </a:pPr>
            <a:r>
              <a:rPr sz="2600" b="1" i="0">
                <a:solidFill>
                  <a:srgbClr val="141B2E"/>
                </a:solidFill>
                <a:latin typeface="Arial"/>
              </a:rPr>
              <a:t>Found all four places. Started the edit over</a:t>
            </a:r>
          </a:p>
        </p:txBody>
      </p:sp>
      <p:sp>
        <p:nvSpPr>
          <p:cNvPr id="3" name="Rounded Rectangle 2"/>
          <p:cNvSpPr/>
          <p:nvPr/>
        </p:nvSpPr>
        <p:spPr>
          <a:xfrm>
            <a:off x="502920" y="1001649"/>
            <a:ext cx="11183112" cy="3709035"/>
          </a:xfrm>
          <a:prstGeom prst="roundRect">
            <a:avLst>
              <a:gd name="adj" fmla="val 8217"/>
            </a:avLst>
          </a:prstGeom>
          <a:solidFill>
            <a:srgbClr val="F4F7FA"/>
          </a:solidFill>
          <a:ln w="15240">
            <a:solidFill>
              <a:srgbClr val="E5EA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22376" y="1221105"/>
            <a:ext cx="329184" cy="734949"/>
          </a:xfrm>
          <a:prstGeom prst="rect">
            <a:avLst/>
          </a:prstGeom>
          <a:noFill/>
        </p:spPr>
        <p:txBody>
          <a:bodyPr wrap="square" lIns="0" rIns="0" tIns="0" bIns="0" anchor="ctr">
            <a:spAutoFit/>
          </a:bodyPr>
          <a:lstStyle/>
          <a:p>
            <a:pPr algn="l">
              <a:lnSpc>
                <a:spcPts val="1829"/>
              </a:lnSpc>
              <a:spcAft>
                <a:spcPts val="0"/>
              </a:spcAft>
            </a:pPr>
            <a:r>
              <a:rPr sz="1550" b="1" i="0">
                <a:solidFill>
                  <a:srgbClr val="028090"/>
                </a:solidFill>
                <a:latin typeface="Arial"/>
              </a:rPr>
              <a:t>1</a:t>
            </a:r>
          </a:p>
        </p:txBody>
      </p:sp>
      <p:sp>
        <p:nvSpPr>
          <p:cNvPr id="5" name="TextBox 4"/>
          <p:cNvSpPr txBox="1"/>
          <p:nvPr/>
        </p:nvSpPr>
        <p:spPr>
          <a:xfrm>
            <a:off x="1106424" y="1221105"/>
            <a:ext cx="10360152" cy="734949"/>
          </a:xfrm>
          <a:prstGeom prst="rect">
            <a:avLst/>
          </a:prstGeom>
          <a:noFill/>
        </p:spPr>
        <p:txBody>
          <a:bodyPr wrap="square" lIns="0" rIns="0" tIns="0" bIns="0" anchor="ctr">
            <a:spAutoFit/>
          </a:bodyPr>
          <a:lstStyle/>
          <a:p>
            <a:pPr algn="l">
              <a:lnSpc>
                <a:spcPts val="1593"/>
              </a:lnSpc>
              <a:spcAft>
                <a:spcPts val="0"/>
              </a:spcAft>
            </a:pPr>
            <a:r>
              <a:rPr sz="1350" b="0" i="0">
                <a:solidFill>
                  <a:srgbClr val="141B2E"/>
                </a:solidFill>
                <a:latin typeface="Arial"/>
              </a:rPr>
              <a:t>The same developer who set up the hook and the skill here. A different scene: the product he works in every day — plans, members, two years of migrations. The task of the day is to set up a "Team" plan: twenty members instead of five.</a:t>
            </a:r>
          </a:p>
        </p:txBody>
      </p:sp>
      <p:sp>
        <p:nvSpPr>
          <p:cNvPr id="6" name="TextBox 5"/>
          <p:cNvSpPr txBox="1"/>
          <p:nvPr/>
        </p:nvSpPr>
        <p:spPr>
          <a:xfrm>
            <a:off x="722376" y="1956054"/>
            <a:ext cx="329184" cy="532638"/>
          </a:xfrm>
          <a:prstGeom prst="rect">
            <a:avLst/>
          </a:prstGeom>
          <a:noFill/>
        </p:spPr>
        <p:txBody>
          <a:bodyPr wrap="square" lIns="0" rIns="0" tIns="0" bIns="0" anchor="ctr">
            <a:spAutoFit/>
          </a:bodyPr>
          <a:lstStyle/>
          <a:p>
            <a:pPr algn="l">
              <a:lnSpc>
                <a:spcPts val="1829"/>
              </a:lnSpc>
              <a:spcAft>
                <a:spcPts val="0"/>
              </a:spcAft>
            </a:pPr>
            <a:r>
              <a:rPr sz="1550" b="1" i="0">
                <a:solidFill>
                  <a:srgbClr val="028090"/>
                </a:solidFill>
                <a:latin typeface="Arial"/>
              </a:rPr>
              <a:t>2</a:t>
            </a:r>
          </a:p>
        </p:txBody>
      </p:sp>
      <p:sp>
        <p:nvSpPr>
          <p:cNvPr id="7" name="TextBox 6"/>
          <p:cNvSpPr txBox="1"/>
          <p:nvPr/>
        </p:nvSpPr>
        <p:spPr>
          <a:xfrm>
            <a:off x="1106424" y="1956054"/>
            <a:ext cx="10360152" cy="532638"/>
          </a:xfrm>
          <a:prstGeom prst="rect">
            <a:avLst/>
          </a:prstGeom>
          <a:noFill/>
        </p:spPr>
        <p:txBody>
          <a:bodyPr wrap="square" lIns="0" rIns="0" tIns="0" bIns="0" anchor="ctr">
            <a:spAutoFit/>
          </a:bodyPr>
          <a:lstStyle/>
          <a:p>
            <a:pPr algn="l">
              <a:lnSpc>
                <a:spcPts val="1593"/>
              </a:lnSpc>
              <a:spcAft>
                <a:spcPts val="0"/>
              </a:spcAft>
            </a:pPr>
            <a:r>
              <a:rPr sz="1350" b="0" i="0">
                <a:solidFill>
                  <a:srgbClr val="141B2E"/>
                </a:solidFill>
                <a:latin typeface="Arial"/>
              </a:rPr>
              <a:t>The session has been open since the morning. For some fifteen minutes he explains the task to the agent: what the plan is called, who can get it, what to do with old accounts, which cases to check. They are making the edit right here.</a:t>
            </a:r>
          </a:p>
        </p:txBody>
      </p:sp>
      <p:sp>
        <p:nvSpPr>
          <p:cNvPr id="8" name="TextBox 7"/>
          <p:cNvSpPr txBox="1"/>
          <p:nvPr/>
        </p:nvSpPr>
        <p:spPr>
          <a:xfrm>
            <a:off x="722376" y="2488692"/>
            <a:ext cx="329184" cy="532638"/>
          </a:xfrm>
          <a:prstGeom prst="rect">
            <a:avLst/>
          </a:prstGeom>
          <a:noFill/>
        </p:spPr>
        <p:txBody>
          <a:bodyPr wrap="square" lIns="0" rIns="0" tIns="0" bIns="0" anchor="ctr">
            <a:spAutoFit/>
          </a:bodyPr>
          <a:lstStyle/>
          <a:p>
            <a:pPr algn="l">
              <a:lnSpc>
                <a:spcPts val="1829"/>
              </a:lnSpc>
              <a:spcAft>
                <a:spcPts val="0"/>
              </a:spcAft>
            </a:pPr>
            <a:r>
              <a:rPr sz="1550" b="1" i="0">
                <a:solidFill>
                  <a:srgbClr val="028090"/>
                </a:solidFill>
                <a:latin typeface="Arial"/>
              </a:rPr>
              <a:t>3</a:t>
            </a:r>
          </a:p>
        </p:txBody>
      </p:sp>
      <p:sp>
        <p:nvSpPr>
          <p:cNvPr id="9" name="TextBox 8"/>
          <p:cNvSpPr txBox="1"/>
          <p:nvPr/>
        </p:nvSpPr>
        <p:spPr>
          <a:xfrm>
            <a:off x="1106424" y="2488692"/>
            <a:ext cx="10360152" cy="532638"/>
          </a:xfrm>
          <a:prstGeom prst="rect">
            <a:avLst/>
          </a:prstGeom>
          <a:noFill/>
        </p:spPr>
        <p:txBody>
          <a:bodyPr wrap="square" lIns="0" rIns="0" tIns="0" bIns="0" anchor="ctr">
            <a:spAutoFit/>
          </a:bodyPr>
          <a:lstStyle/>
          <a:p>
            <a:pPr algn="l">
              <a:lnSpc>
                <a:spcPts val="1593"/>
              </a:lnSpc>
              <a:spcAft>
                <a:spcPts val="0"/>
              </a:spcAft>
            </a:pPr>
            <a:r>
              <a:rPr sz="1350" b="0" i="0">
                <a:solidFill>
                  <a:srgbClr val="141B2E"/>
                </a:solidFill>
                <a:latin typeface="Arial"/>
              </a:rPr>
              <a:t>Before editing, a list is needed of the places where the limit on members is checked at all. Miss one, and the new plan will pass the config and run into a check nobody remembers any more.</a:t>
            </a:r>
          </a:p>
        </p:txBody>
      </p:sp>
      <p:sp>
        <p:nvSpPr>
          <p:cNvPr id="10" name="TextBox 9"/>
          <p:cNvSpPr txBox="1"/>
          <p:nvPr/>
        </p:nvSpPr>
        <p:spPr>
          <a:xfrm>
            <a:off x="722376" y="3021330"/>
            <a:ext cx="329184" cy="937259"/>
          </a:xfrm>
          <a:prstGeom prst="rect">
            <a:avLst/>
          </a:prstGeom>
          <a:noFill/>
        </p:spPr>
        <p:txBody>
          <a:bodyPr wrap="square" lIns="0" rIns="0" tIns="0" bIns="0" anchor="ctr">
            <a:spAutoFit/>
          </a:bodyPr>
          <a:lstStyle/>
          <a:p>
            <a:pPr algn="l">
              <a:lnSpc>
                <a:spcPts val="1829"/>
              </a:lnSpc>
              <a:spcAft>
                <a:spcPts val="0"/>
              </a:spcAft>
            </a:pPr>
            <a:r>
              <a:rPr sz="1550" b="1" i="0">
                <a:solidFill>
                  <a:srgbClr val="028090"/>
                </a:solidFill>
                <a:latin typeface="Arial"/>
              </a:rPr>
              <a:t>4</a:t>
            </a:r>
          </a:p>
        </p:txBody>
      </p:sp>
      <p:sp>
        <p:nvSpPr>
          <p:cNvPr id="11" name="TextBox 10"/>
          <p:cNvSpPr txBox="1"/>
          <p:nvPr/>
        </p:nvSpPr>
        <p:spPr>
          <a:xfrm>
            <a:off x="1106424" y="3021330"/>
            <a:ext cx="10360152" cy="937259"/>
          </a:xfrm>
          <a:prstGeom prst="rect">
            <a:avLst/>
          </a:prstGeom>
          <a:noFill/>
        </p:spPr>
        <p:txBody>
          <a:bodyPr wrap="square" lIns="0" rIns="0" tIns="0" bIns="0" anchor="ctr">
            <a:spAutoFit/>
          </a:bodyPr>
          <a:lstStyle/>
          <a:p>
            <a:pPr algn="l">
              <a:lnSpc>
                <a:spcPts val="1593"/>
              </a:lnSpc>
              <a:spcAft>
                <a:spcPts val="0"/>
              </a:spcAft>
            </a:pPr>
            <a:r>
              <a:rPr sz="1350" b="0" i="0">
                <a:solidFill>
                  <a:srgbClr val="141B2E"/>
                </a:solidFill>
                <a:latin typeface="Arial"/>
              </a:rPr>
              <a:t>The agent searches and finds four: the middleware when a member is added, the plans config, a separate migration for accounts created before the pricing tiers were changed, and a client-side component with the same check for the case where the server is unavailable. There are fifteen migrations over two years, and the limit changed in three — all of them have to be paged through. More than forty files opened, some twenty minutes of reading.</a:t>
            </a:r>
          </a:p>
        </p:txBody>
      </p:sp>
      <p:sp>
        <p:nvSpPr>
          <p:cNvPr id="12" name="TextBox 11"/>
          <p:cNvSpPr txBox="1"/>
          <p:nvPr/>
        </p:nvSpPr>
        <p:spPr>
          <a:xfrm>
            <a:off x="722376" y="3958590"/>
            <a:ext cx="329184" cy="532638"/>
          </a:xfrm>
          <a:prstGeom prst="rect">
            <a:avLst/>
          </a:prstGeom>
          <a:noFill/>
        </p:spPr>
        <p:txBody>
          <a:bodyPr wrap="square" lIns="0" rIns="0" tIns="0" bIns="0" anchor="ctr">
            <a:spAutoFit/>
          </a:bodyPr>
          <a:lstStyle/>
          <a:p>
            <a:pPr algn="l">
              <a:lnSpc>
                <a:spcPts val="1829"/>
              </a:lnSpc>
              <a:spcAft>
                <a:spcPts val="0"/>
              </a:spcAft>
            </a:pPr>
            <a:r>
              <a:rPr sz="1550" b="1" i="0">
                <a:solidFill>
                  <a:srgbClr val="028090"/>
                </a:solidFill>
                <a:latin typeface="Arial"/>
              </a:rPr>
              <a:t>5</a:t>
            </a:r>
          </a:p>
        </p:txBody>
      </p:sp>
      <p:sp>
        <p:nvSpPr>
          <p:cNvPr id="13" name="TextBox 12"/>
          <p:cNvSpPr txBox="1"/>
          <p:nvPr/>
        </p:nvSpPr>
        <p:spPr>
          <a:xfrm>
            <a:off x="1106424" y="3958590"/>
            <a:ext cx="10360152" cy="532638"/>
          </a:xfrm>
          <a:prstGeom prst="rect">
            <a:avLst/>
          </a:prstGeom>
          <a:noFill/>
        </p:spPr>
        <p:txBody>
          <a:bodyPr wrap="square" lIns="0" rIns="0" tIns="0" bIns="0" anchor="ctr">
            <a:spAutoFit/>
          </a:bodyPr>
          <a:lstStyle/>
          <a:p>
            <a:pPr algn="l">
              <a:lnSpc>
                <a:spcPts val="1593"/>
              </a:lnSpc>
              <a:spcAft>
                <a:spcPts val="0"/>
              </a:spcAft>
            </a:pPr>
            <a:r>
              <a:rPr sz="1350" b="0" i="0">
                <a:solidFill>
                  <a:srgbClr val="141B2E"/>
                </a:solidFill>
                <a:latin typeface="Arial"/>
              </a:rPr>
              <a:t>"Now edit it per this list" — and the agent re-asks what it had been told that morning: what the plan is called and how many members are in it. The explaining has to be done a second time.</a:t>
            </a:r>
          </a:p>
        </p:txBody>
      </p:sp>
      <p:sp>
        <p:nvSpPr>
          <p:cNvPr id="14" name="Rounded Rectangle 13"/>
          <p:cNvSpPr/>
          <p:nvPr/>
        </p:nvSpPr>
        <p:spPr>
          <a:xfrm>
            <a:off x="502920" y="5021008"/>
            <a:ext cx="82296" cy="1219200"/>
          </a:xfrm>
          <a:prstGeom prst="roundRect">
            <a:avLst>
              <a:gd name="adj" fmla="val 50000"/>
            </a:avLst>
          </a:prstGeom>
          <a:solidFill>
            <a:srgbClr val="F0AB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59536" y="5149024"/>
            <a:ext cx="10643616" cy="963168"/>
          </a:xfrm>
          <a:prstGeom prst="rect">
            <a:avLst/>
          </a:prstGeom>
          <a:noFill/>
        </p:spPr>
        <p:txBody>
          <a:bodyPr wrap="square" lIns="0" rIns="0" tIns="0" bIns="0" anchor="ctr">
            <a:spAutoFit/>
          </a:bodyPr>
          <a:lstStyle/>
          <a:p>
            <a:pPr algn="l">
              <a:lnSpc>
                <a:spcPts val="1860"/>
              </a:lnSpc>
              <a:spcAft>
                <a:spcPts val="300"/>
              </a:spcAft>
            </a:pPr>
            <a:r>
              <a:rPr sz="1500" b="1" i="0">
                <a:solidFill>
                  <a:srgbClr val="141B2E"/>
                </a:solidFill>
                <a:latin typeface="Arial"/>
              </a:rPr>
              <a:t>Half an hour went on saying what had already been said and getting back to where he had stopped. The list, meanwhile, is correct, and the reading went quickly: what was needed fit into the context whole and crowded out the work the session had been opened for. This is the second miss from the start of the class, presented in full.</a:t>
            </a:r>
          </a:p>
        </p:txBody>
      </p:sp>
      <p:sp>
        <p:nvSpPr>
          <p:cNvPr id="16" name="TextBox 15"/>
          <p:cNvSpPr txBox="1"/>
          <p:nvPr/>
        </p:nvSpPr>
        <p:spPr>
          <a:xfrm>
            <a:off x="10957255" y="6437376"/>
            <a:ext cx="914400" cy="274320"/>
          </a:xfrm>
          <a:prstGeom prst="rect">
            <a:avLst/>
          </a:prstGeom>
          <a:noFill/>
        </p:spPr>
        <p:txBody>
          <a:bodyPr wrap="square" lIns="0" rIns="0" tIns="0" bIns="0" anchor="t">
            <a:spAutoFit/>
          </a:bodyPr>
          <a:lstStyle/>
          <a:p>
            <a:pPr algn="r">
              <a:lnSpc>
                <a:spcPts val="1238"/>
              </a:lnSpc>
              <a:spcAft>
                <a:spcPts val="0"/>
              </a:spcAft>
            </a:pPr>
            <a:r>
              <a:rPr sz="1050" b="0" i="0">
                <a:solidFill>
                  <a:srgbClr val="6B7685"/>
                </a:solidFill>
                <a:latin typeface="Arial"/>
              </a:rPr>
              <a:t>32</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02920" y="310896"/>
            <a:ext cx="11183112" cy="431291"/>
          </a:xfrm>
          <a:prstGeom prst="rect">
            <a:avLst/>
          </a:prstGeom>
          <a:noFill/>
        </p:spPr>
        <p:txBody>
          <a:bodyPr wrap="square" lIns="0" rIns="0" tIns="0" bIns="0" anchor="t">
            <a:spAutoFit/>
          </a:bodyPr>
          <a:lstStyle/>
          <a:p>
            <a:pPr algn="l">
              <a:lnSpc>
                <a:spcPts val="2963"/>
              </a:lnSpc>
              <a:spcAft>
                <a:spcPts val="0"/>
              </a:spcAft>
            </a:pPr>
            <a:r>
              <a:rPr sz="2600" b="1" i="0">
                <a:solidFill>
                  <a:srgbClr val="141B2E"/>
                </a:solidFill>
                <a:latin typeface="Arial"/>
              </a:rPr>
              <a:t>What to do with all that reading</a:t>
            </a:r>
          </a:p>
        </p:txBody>
      </p:sp>
      <p:sp>
        <p:nvSpPr>
          <p:cNvPr id="3" name="Rounded Rectangle 2"/>
          <p:cNvSpPr/>
          <p:nvPr/>
        </p:nvSpPr>
        <p:spPr>
          <a:xfrm>
            <a:off x="502920" y="1098194"/>
            <a:ext cx="11183112" cy="822960"/>
          </a:xfrm>
          <a:prstGeom prst="roundRect">
            <a:avLst>
              <a:gd name="adj" fmla="val 10000"/>
            </a:avLst>
          </a:prstGeom>
          <a:solidFill>
            <a:srgbClr val="FEF5E0"/>
          </a:solidFill>
          <a:ln w="19050">
            <a:solidFill>
              <a:srgbClr val="F0AB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22376" y="1226210"/>
            <a:ext cx="10634472" cy="566928"/>
          </a:xfrm>
          <a:prstGeom prst="rect">
            <a:avLst/>
          </a:prstGeom>
          <a:noFill/>
        </p:spPr>
        <p:txBody>
          <a:bodyPr wrap="square" lIns="0" rIns="0" tIns="0" bIns="0" anchor="ctr">
            <a:spAutoFit/>
          </a:bodyPr>
          <a:lstStyle/>
          <a:p>
            <a:pPr algn="ctr">
              <a:lnSpc>
                <a:spcPts val="2013"/>
              </a:lnSpc>
              <a:spcAft>
                <a:spcPts val="300"/>
              </a:spcAft>
            </a:pPr>
            <a:r>
              <a:rPr sz="1650" b="1" i="0">
                <a:solidFill>
                  <a:srgbClr val="141B2E"/>
                </a:solidFill>
                <a:latin typeface="Arial"/>
              </a:rPr>
              <a:t>Who here had an edit where finding the places cost more than fixing them? How many files did you have to open?</a:t>
            </a:r>
          </a:p>
        </p:txBody>
      </p:sp>
      <p:sp>
        <p:nvSpPr>
          <p:cNvPr id="5" name="Rectangle 4"/>
          <p:cNvSpPr/>
          <p:nvPr/>
        </p:nvSpPr>
        <p:spPr>
          <a:xfrm>
            <a:off x="502920" y="2509418"/>
            <a:ext cx="32004" cy="317754"/>
          </a:xfrm>
          <a:prstGeom prst="rect">
            <a:avLst/>
          </a:prstGeom>
          <a:solidFill>
            <a:srgbClr val="0280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72668" y="2564282"/>
            <a:ext cx="10730484" cy="208025"/>
          </a:xfrm>
          <a:prstGeom prst="rect">
            <a:avLst/>
          </a:prstGeom>
          <a:noFill/>
        </p:spPr>
        <p:txBody>
          <a:bodyPr wrap="square" lIns="0" rIns="0" tIns="0" bIns="0" anchor="ctr">
            <a:spAutoFit/>
          </a:bodyPr>
          <a:lstStyle/>
          <a:p>
            <a:pPr algn="l">
              <a:lnSpc>
                <a:spcPts val="1638"/>
              </a:lnSpc>
              <a:spcAft>
                <a:spcPts val="300"/>
              </a:spcAft>
            </a:pPr>
            <a:r>
              <a:rPr sz="1300" b="1" i="1">
                <a:solidFill>
                  <a:srgbClr val="6B7685"/>
                </a:solidFill>
                <a:latin typeface="Arial"/>
              </a:rPr>
              <a:t>Here there are four places and forty files.</a:t>
            </a:r>
          </a:p>
        </p:txBody>
      </p:sp>
      <p:sp>
        <p:nvSpPr>
          <p:cNvPr id="7" name="Rounded Rectangle 6"/>
          <p:cNvSpPr/>
          <p:nvPr/>
        </p:nvSpPr>
        <p:spPr>
          <a:xfrm>
            <a:off x="502920" y="3415436"/>
            <a:ext cx="11183112" cy="822960"/>
          </a:xfrm>
          <a:prstGeom prst="roundRect">
            <a:avLst>
              <a:gd name="adj" fmla="val 10000"/>
            </a:avLst>
          </a:prstGeom>
          <a:solidFill>
            <a:srgbClr val="FEF5E0"/>
          </a:solidFill>
          <a:ln w="19050">
            <a:solidFill>
              <a:srgbClr val="F0AB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22376" y="3543452"/>
            <a:ext cx="10634472" cy="566928"/>
          </a:xfrm>
          <a:prstGeom prst="rect">
            <a:avLst/>
          </a:prstGeom>
          <a:noFill/>
        </p:spPr>
        <p:txBody>
          <a:bodyPr wrap="square" lIns="0" rIns="0" tIns="0" bIns="0" anchor="ctr">
            <a:spAutoFit/>
          </a:bodyPr>
          <a:lstStyle/>
          <a:p>
            <a:pPr algn="ctr">
              <a:lnSpc>
                <a:spcPts val="2013"/>
              </a:lnSpc>
              <a:spcAft>
                <a:spcPts val="300"/>
              </a:spcAft>
            </a:pPr>
            <a:r>
              <a:rPr sz="1650" b="1" i="0">
                <a:solidFill>
                  <a:srgbClr val="141B2E"/>
                </a:solidFill>
                <a:latin typeface="Arial"/>
              </a:rPr>
              <a:t>Pick a card — and say out loud what it wins by.</a:t>
            </a:r>
          </a:p>
        </p:txBody>
      </p:sp>
      <p:sp>
        <p:nvSpPr>
          <p:cNvPr id="9" name="Rounded Rectangle 8"/>
          <p:cNvSpPr/>
          <p:nvPr/>
        </p:nvSpPr>
        <p:spPr>
          <a:xfrm>
            <a:off x="502920" y="4790084"/>
            <a:ext cx="2119579" cy="1305306"/>
          </a:xfrm>
          <a:prstGeom prst="roundRect">
            <a:avLst>
              <a:gd name="adj" fmla="val 23350"/>
            </a:avLst>
          </a:prstGeom>
          <a:solidFill>
            <a:srgbClr val="F4F7FA"/>
          </a:solidFill>
          <a:ln w="15240">
            <a:solidFill>
              <a:srgbClr val="E5EA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12648" y="4790084"/>
            <a:ext cx="1900123" cy="1305306"/>
          </a:xfrm>
          <a:prstGeom prst="rect">
            <a:avLst/>
          </a:prstGeom>
          <a:noFill/>
        </p:spPr>
        <p:txBody>
          <a:bodyPr wrap="square" lIns="0" rIns="0" tIns="0" bIns="0" anchor="ctr">
            <a:spAutoFit/>
          </a:bodyPr>
          <a:lstStyle/>
          <a:p>
            <a:pPr algn="ctr">
              <a:lnSpc>
                <a:spcPts val="1565"/>
              </a:lnSpc>
              <a:spcAft>
                <a:spcPts val="0"/>
              </a:spcAft>
            </a:pPr>
            <a:r>
              <a:rPr sz="1350" b="1" i="0">
                <a:solidFill>
                  <a:srgbClr val="141B2E"/>
                </a:solidFill>
                <a:latin typeface="Arial"/>
              </a:rPr>
              <a:t>read all forty files yourself, in this same session</a:t>
            </a:r>
          </a:p>
        </p:txBody>
      </p:sp>
      <p:sp>
        <p:nvSpPr>
          <p:cNvPr id="11" name="Rounded Rectangle 10"/>
          <p:cNvSpPr/>
          <p:nvPr/>
        </p:nvSpPr>
        <p:spPr>
          <a:xfrm>
            <a:off x="2768803" y="4790084"/>
            <a:ext cx="2119579" cy="1305306"/>
          </a:xfrm>
          <a:prstGeom prst="roundRect">
            <a:avLst>
              <a:gd name="adj" fmla="val 23350"/>
            </a:avLst>
          </a:prstGeom>
          <a:solidFill>
            <a:srgbClr val="F4F7FA"/>
          </a:solidFill>
          <a:ln w="15240">
            <a:solidFill>
              <a:srgbClr val="E5EA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878531" y="4790084"/>
            <a:ext cx="1900123" cy="1305306"/>
          </a:xfrm>
          <a:prstGeom prst="rect">
            <a:avLst/>
          </a:prstGeom>
          <a:noFill/>
        </p:spPr>
        <p:txBody>
          <a:bodyPr wrap="square" lIns="0" rIns="0" tIns="0" bIns="0" anchor="ctr">
            <a:spAutoFit/>
          </a:bodyPr>
          <a:lstStyle/>
          <a:p>
            <a:pPr algn="ctr">
              <a:lnSpc>
                <a:spcPts val="1565"/>
              </a:lnSpc>
              <a:spcAft>
                <a:spcPts val="0"/>
              </a:spcAft>
            </a:pPr>
            <a:r>
              <a:rPr sz="1350" b="1" i="0">
                <a:solidFill>
                  <a:srgbClr val="141B2E"/>
                </a:solidFill>
                <a:latin typeface="Arial"/>
              </a:rPr>
              <a:t>open a second session, ask there and carry the list over by hand</a:t>
            </a:r>
          </a:p>
        </p:txBody>
      </p:sp>
      <p:sp>
        <p:nvSpPr>
          <p:cNvPr id="13" name="Rounded Rectangle 12"/>
          <p:cNvSpPr/>
          <p:nvPr/>
        </p:nvSpPr>
        <p:spPr>
          <a:xfrm>
            <a:off x="5034686" y="4790084"/>
            <a:ext cx="2119579" cy="1305306"/>
          </a:xfrm>
          <a:prstGeom prst="roundRect">
            <a:avLst>
              <a:gd name="adj" fmla="val 23350"/>
            </a:avLst>
          </a:prstGeom>
          <a:solidFill>
            <a:srgbClr val="F4F7FA"/>
          </a:solidFill>
          <a:ln w="15240">
            <a:solidFill>
              <a:srgbClr val="E5EA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144414" y="4790084"/>
            <a:ext cx="1900123" cy="1305306"/>
          </a:xfrm>
          <a:prstGeom prst="rect">
            <a:avLst/>
          </a:prstGeom>
          <a:noFill/>
        </p:spPr>
        <p:txBody>
          <a:bodyPr wrap="square" lIns="0" rIns="0" tIns="0" bIns="0" anchor="ctr">
            <a:spAutoFit/>
          </a:bodyPr>
          <a:lstStyle/>
          <a:p>
            <a:pPr algn="ctr">
              <a:lnSpc>
                <a:spcPts val="1565"/>
              </a:lnSpc>
              <a:spcAft>
                <a:spcPts val="0"/>
              </a:spcAft>
            </a:pPr>
            <a:r>
              <a:rPr sz="1350" b="1" i="0">
                <a:solidFill>
                  <a:srgbClr val="141B2E"/>
                </a:solidFill>
                <a:latin typeface="Arial"/>
              </a:rPr>
              <a:t>call in a colleague who has worked with the pricing plans for a long time</a:t>
            </a:r>
          </a:p>
        </p:txBody>
      </p:sp>
      <p:sp>
        <p:nvSpPr>
          <p:cNvPr id="15" name="Rounded Rectangle 14"/>
          <p:cNvSpPr/>
          <p:nvPr/>
        </p:nvSpPr>
        <p:spPr>
          <a:xfrm>
            <a:off x="7300569" y="4790084"/>
            <a:ext cx="2119579" cy="1305306"/>
          </a:xfrm>
          <a:prstGeom prst="roundRect">
            <a:avLst>
              <a:gd name="adj" fmla="val 23350"/>
            </a:avLst>
          </a:prstGeom>
          <a:solidFill>
            <a:srgbClr val="F4F7FA"/>
          </a:solidFill>
          <a:ln w="15240">
            <a:solidFill>
              <a:srgbClr val="E5EA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410297" y="4790084"/>
            <a:ext cx="1900123" cy="1305306"/>
          </a:xfrm>
          <a:prstGeom prst="rect">
            <a:avLst/>
          </a:prstGeom>
          <a:noFill/>
        </p:spPr>
        <p:txBody>
          <a:bodyPr wrap="square" lIns="0" rIns="0" tIns="0" bIns="0" anchor="ctr">
            <a:spAutoFit/>
          </a:bodyPr>
          <a:lstStyle/>
          <a:p>
            <a:pPr algn="ctr">
              <a:lnSpc>
                <a:spcPts val="1565"/>
              </a:lnSpc>
              <a:spcAft>
                <a:spcPts val="0"/>
              </a:spcAft>
            </a:pPr>
            <a:r>
              <a:rPr sz="1350" b="1" i="0">
                <a:solidFill>
                  <a:srgbClr val="141B2E"/>
                </a:solidFill>
                <a:latin typeface="Arial"/>
              </a:rPr>
              <a:t>hand it to a subagent: it reads in its own context and brings back the list of places</a:t>
            </a:r>
          </a:p>
        </p:txBody>
      </p:sp>
      <p:sp>
        <p:nvSpPr>
          <p:cNvPr id="17" name="Rounded Rectangle 16"/>
          <p:cNvSpPr/>
          <p:nvPr/>
        </p:nvSpPr>
        <p:spPr>
          <a:xfrm>
            <a:off x="9566452" y="4790084"/>
            <a:ext cx="2119579" cy="1305306"/>
          </a:xfrm>
          <a:prstGeom prst="roundRect">
            <a:avLst>
              <a:gd name="adj" fmla="val 23350"/>
            </a:avLst>
          </a:prstGeom>
          <a:solidFill>
            <a:srgbClr val="F4F7FA"/>
          </a:solidFill>
          <a:ln w="15240">
            <a:solidFill>
              <a:srgbClr val="E5EA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9676180" y="4790084"/>
            <a:ext cx="1900123" cy="1305306"/>
          </a:xfrm>
          <a:prstGeom prst="rect">
            <a:avLst/>
          </a:prstGeom>
          <a:noFill/>
        </p:spPr>
        <p:txBody>
          <a:bodyPr wrap="square" lIns="0" rIns="0" tIns="0" bIns="0" anchor="ctr">
            <a:spAutoFit/>
          </a:bodyPr>
          <a:lstStyle/>
          <a:p>
            <a:pPr algn="ctr">
              <a:lnSpc>
                <a:spcPts val="1565"/>
              </a:lnSpc>
              <a:spcAft>
                <a:spcPts val="0"/>
              </a:spcAft>
            </a:pPr>
            <a:r>
              <a:rPr sz="1350" b="1" i="0">
                <a:solidFill>
                  <a:srgbClr val="141B2E"/>
                </a:solidFill>
                <a:latin typeface="Arial"/>
              </a:rPr>
              <a:t>edit from memory, without searching</a:t>
            </a:r>
          </a:p>
        </p:txBody>
      </p:sp>
      <p:sp>
        <p:nvSpPr>
          <p:cNvPr id="19" name="TextBox 18"/>
          <p:cNvSpPr txBox="1"/>
          <p:nvPr/>
        </p:nvSpPr>
        <p:spPr>
          <a:xfrm>
            <a:off x="10957255" y="6437376"/>
            <a:ext cx="914400" cy="274320"/>
          </a:xfrm>
          <a:prstGeom prst="rect">
            <a:avLst/>
          </a:prstGeom>
          <a:noFill/>
        </p:spPr>
        <p:txBody>
          <a:bodyPr wrap="square" lIns="0" rIns="0" tIns="0" bIns="0" anchor="t">
            <a:spAutoFit/>
          </a:bodyPr>
          <a:lstStyle/>
          <a:p>
            <a:pPr algn="r">
              <a:lnSpc>
                <a:spcPts val="1238"/>
              </a:lnSpc>
              <a:spcAft>
                <a:spcPts val="0"/>
              </a:spcAft>
            </a:pPr>
            <a:r>
              <a:rPr sz="1050" b="0" i="0">
                <a:solidFill>
                  <a:srgbClr val="6B7685"/>
                </a:solidFill>
                <a:latin typeface="Arial"/>
              </a:rPr>
              <a:t>33</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02920" y="310896"/>
            <a:ext cx="11183112" cy="431291"/>
          </a:xfrm>
          <a:prstGeom prst="rect">
            <a:avLst/>
          </a:prstGeom>
          <a:noFill/>
        </p:spPr>
        <p:txBody>
          <a:bodyPr wrap="square" lIns="0" rIns="0" tIns="0" bIns="0" anchor="t">
            <a:spAutoFit/>
          </a:bodyPr>
          <a:lstStyle/>
          <a:p>
            <a:pPr algn="l">
              <a:lnSpc>
                <a:spcPts val="2963"/>
              </a:lnSpc>
              <a:spcAft>
                <a:spcPts val="0"/>
              </a:spcAft>
            </a:pPr>
            <a:r>
              <a:rPr sz="2600" b="1" i="0">
                <a:solidFill>
                  <a:srgbClr val="141B2E"/>
                </a:solidFill>
                <a:latin typeface="Arial"/>
              </a:rPr>
              <a:t>No faster — the same forty files</a:t>
            </a:r>
          </a:p>
        </p:txBody>
      </p:sp>
      <p:sp>
        <p:nvSpPr>
          <p:cNvPr id="3" name="Rounded Rectangle 2"/>
          <p:cNvSpPr/>
          <p:nvPr/>
        </p:nvSpPr>
        <p:spPr>
          <a:xfrm>
            <a:off x="502920" y="943356"/>
            <a:ext cx="11183112" cy="3924427"/>
          </a:xfrm>
          <a:prstGeom prst="roundRect">
            <a:avLst>
              <a:gd name="adj" fmla="val 7766"/>
            </a:avLst>
          </a:prstGeom>
          <a:solidFill>
            <a:srgbClr val="FFFFFF"/>
          </a:solidFill>
          <a:ln w="1778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85800" y="1126236"/>
            <a:ext cx="1053149" cy="282067"/>
          </a:xfrm>
          <a:prstGeom prst="rect">
            <a:avLst/>
          </a:prstGeom>
          <a:noFill/>
        </p:spPr>
        <p:txBody>
          <a:bodyPr wrap="square" lIns="0" rIns="0" tIns="0" bIns="0" anchor="t">
            <a:spAutoFit/>
          </a:bodyPr>
          <a:lstStyle/>
          <a:p>
            <a:pPr algn="l">
              <a:lnSpc>
                <a:spcPts val="1265"/>
              </a:lnSpc>
              <a:spcAft>
                <a:spcPts val="0"/>
              </a:spcAft>
            </a:pPr>
            <a:r>
              <a:rPr sz="1150" b="1" i="0">
                <a:solidFill>
                  <a:srgbClr val="6B7685"/>
                </a:solidFill>
                <a:latin typeface="Arial"/>
              </a:rPr>
              <a:t>OPTION</a:t>
            </a:r>
          </a:p>
        </p:txBody>
      </p:sp>
      <p:sp>
        <p:nvSpPr>
          <p:cNvPr id="5" name="TextBox 4"/>
          <p:cNvSpPr txBox="1"/>
          <p:nvPr/>
        </p:nvSpPr>
        <p:spPr>
          <a:xfrm>
            <a:off x="1885253" y="1126236"/>
            <a:ext cx="3433915" cy="282067"/>
          </a:xfrm>
          <a:prstGeom prst="rect">
            <a:avLst/>
          </a:prstGeom>
          <a:noFill/>
        </p:spPr>
        <p:txBody>
          <a:bodyPr wrap="square" lIns="0" rIns="0" tIns="0" bIns="0" anchor="t">
            <a:spAutoFit/>
          </a:bodyPr>
          <a:lstStyle/>
          <a:p>
            <a:pPr algn="l">
              <a:lnSpc>
                <a:spcPts val="1265"/>
              </a:lnSpc>
              <a:spcAft>
                <a:spcPts val="0"/>
              </a:spcAft>
            </a:pPr>
            <a:r>
              <a:rPr sz="1150" b="1" i="0">
                <a:solidFill>
                  <a:srgbClr val="6B7685"/>
                </a:solidFill>
                <a:latin typeface="Arial"/>
              </a:rPr>
              <a:t>WHAT IT DOES</a:t>
            </a:r>
          </a:p>
        </p:txBody>
      </p:sp>
      <p:sp>
        <p:nvSpPr>
          <p:cNvPr id="6" name="TextBox 5"/>
          <p:cNvSpPr txBox="1"/>
          <p:nvPr/>
        </p:nvSpPr>
        <p:spPr>
          <a:xfrm>
            <a:off x="5465472" y="1126236"/>
            <a:ext cx="5891375" cy="282067"/>
          </a:xfrm>
          <a:prstGeom prst="rect">
            <a:avLst/>
          </a:prstGeom>
          <a:noFill/>
        </p:spPr>
        <p:txBody>
          <a:bodyPr wrap="square" lIns="0" rIns="0" tIns="0" bIns="0" anchor="t">
            <a:spAutoFit/>
          </a:bodyPr>
          <a:lstStyle/>
          <a:p>
            <a:pPr algn="l">
              <a:lnSpc>
                <a:spcPts val="1265"/>
              </a:lnSpc>
              <a:spcAft>
                <a:spcPts val="0"/>
              </a:spcAft>
            </a:pPr>
            <a:r>
              <a:rPr sz="1150" b="1" i="0">
                <a:solidFill>
                  <a:srgbClr val="6B7685"/>
                </a:solidFill>
                <a:latin typeface="Arial"/>
              </a:rPr>
              <a:t>WHAT IT DOES NOT DO / THE LIMIT</a:t>
            </a:r>
          </a:p>
        </p:txBody>
      </p:sp>
      <p:sp>
        <p:nvSpPr>
          <p:cNvPr id="7" name="TextBox 6"/>
          <p:cNvSpPr txBox="1"/>
          <p:nvPr/>
        </p:nvSpPr>
        <p:spPr>
          <a:xfrm>
            <a:off x="685800" y="1408303"/>
            <a:ext cx="1053149" cy="865631"/>
          </a:xfrm>
          <a:prstGeom prst="rect">
            <a:avLst/>
          </a:prstGeom>
          <a:noFill/>
        </p:spPr>
        <p:txBody>
          <a:bodyPr wrap="square" lIns="0" rIns="0" tIns="0" bIns="0" anchor="ctr">
            <a:spAutoFit/>
          </a:bodyPr>
          <a:lstStyle/>
          <a:p>
            <a:pPr algn="l">
              <a:lnSpc>
                <a:spcPts val="1380"/>
              </a:lnSpc>
              <a:spcAft>
                <a:spcPts val="0"/>
              </a:spcAft>
            </a:pPr>
            <a:r>
              <a:rPr sz="1200" b="0" i="0">
                <a:solidFill>
                  <a:srgbClr val="141B2E"/>
                </a:solidFill>
                <a:latin typeface="Arial"/>
              </a:rPr>
              <a:t>read it yourself, in this same session</a:t>
            </a:r>
          </a:p>
        </p:txBody>
      </p:sp>
      <p:sp>
        <p:nvSpPr>
          <p:cNvPr id="8" name="TextBox 7"/>
          <p:cNvSpPr txBox="1"/>
          <p:nvPr/>
        </p:nvSpPr>
        <p:spPr>
          <a:xfrm>
            <a:off x="1885253" y="1408303"/>
            <a:ext cx="3433915" cy="865631"/>
          </a:xfrm>
          <a:prstGeom prst="rect">
            <a:avLst/>
          </a:prstGeom>
          <a:noFill/>
        </p:spPr>
        <p:txBody>
          <a:bodyPr wrap="square" lIns="0" rIns="0" tIns="0" bIns="0" anchor="ctr">
            <a:spAutoFit/>
          </a:bodyPr>
          <a:lstStyle/>
          <a:p>
            <a:pPr algn="l">
              <a:lnSpc>
                <a:spcPts val="1380"/>
              </a:lnSpc>
              <a:spcAft>
                <a:spcPts val="0"/>
              </a:spcAft>
            </a:pPr>
            <a:r>
              <a:rPr sz="1200" b="0" i="0">
                <a:solidFill>
                  <a:srgbClr val="141B2E"/>
                </a:solidFill>
                <a:latin typeface="Arial"/>
              </a:rPr>
              <a:t>full control over what gets read and in what order</a:t>
            </a:r>
          </a:p>
        </p:txBody>
      </p:sp>
      <p:sp>
        <p:nvSpPr>
          <p:cNvPr id="9" name="TextBox 8"/>
          <p:cNvSpPr txBox="1"/>
          <p:nvPr/>
        </p:nvSpPr>
        <p:spPr>
          <a:xfrm>
            <a:off x="5465472" y="1408303"/>
            <a:ext cx="5891375" cy="865631"/>
          </a:xfrm>
          <a:prstGeom prst="rect">
            <a:avLst/>
          </a:prstGeom>
          <a:noFill/>
        </p:spPr>
        <p:txBody>
          <a:bodyPr wrap="square" lIns="0" rIns="0" tIns="0" bIns="0" anchor="ctr">
            <a:spAutoFit/>
          </a:bodyPr>
          <a:lstStyle/>
          <a:p>
            <a:pPr algn="l">
              <a:lnSpc>
                <a:spcPts val="1380"/>
              </a:lnSpc>
              <a:spcAft>
                <a:spcPts val="0"/>
              </a:spcAft>
            </a:pPr>
            <a:r>
              <a:rPr sz="1200" b="0" i="0">
                <a:solidFill>
                  <a:srgbClr val="141B2E"/>
                </a:solidFill>
                <a:latin typeface="Arial"/>
              </a:rPr>
              <a:t>the session's context is taken up by the contents of forty files, of which four are needed for the edit</a:t>
            </a:r>
          </a:p>
        </p:txBody>
      </p:sp>
      <p:cxnSp>
        <p:nvCxnSpPr>
          <p:cNvPr id="10" name="Connector 9"/>
          <p:cNvCxnSpPr/>
          <p:nvPr/>
        </p:nvCxnSpPr>
        <p:spPr>
          <a:xfrm>
            <a:off x="685800" y="2273935"/>
            <a:ext cx="10817352" cy="0"/>
          </a:xfrm>
          <a:prstGeom prst="line">
            <a:avLst/>
          </a:prstGeom>
          <a:ln w="9525">
            <a:solidFill>
              <a:srgbClr val="E5EAF0"/>
            </a:solidFill>
          </a:ln>
        </p:spPr>
        <p:style>
          <a:lnRef idx="2">
            <a:schemeClr val="accent1"/>
          </a:lnRef>
          <a:fillRef idx="0">
            <a:schemeClr val="accent1"/>
          </a:fillRef>
          <a:effectRef idx="1">
            <a:schemeClr val="accent1"/>
          </a:effectRef>
          <a:fontRef idx="minor">
            <a:schemeClr val="tx1"/>
          </a:fontRef>
        </p:style>
      </p:cxnSp>
      <p:sp>
        <p:nvSpPr>
          <p:cNvPr id="11" name="TextBox 10"/>
          <p:cNvSpPr txBox="1"/>
          <p:nvPr/>
        </p:nvSpPr>
        <p:spPr>
          <a:xfrm>
            <a:off x="685800" y="2273935"/>
            <a:ext cx="1053149" cy="690371"/>
          </a:xfrm>
          <a:prstGeom prst="rect">
            <a:avLst/>
          </a:prstGeom>
          <a:noFill/>
        </p:spPr>
        <p:txBody>
          <a:bodyPr wrap="square" lIns="0" rIns="0" tIns="0" bIns="0" anchor="ctr">
            <a:spAutoFit/>
          </a:bodyPr>
          <a:lstStyle/>
          <a:p>
            <a:pPr algn="l">
              <a:lnSpc>
                <a:spcPts val="1380"/>
              </a:lnSpc>
              <a:spcAft>
                <a:spcPts val="0"/>
              </a:spcAft>
            </a:pPr>
            <a:r>
              <a:rPr sz="1200" b="0" i="0">
                <a:solidFill>
                  <a:srgbClr val="141B2E"/>
                </a:solidFill>
                <a:latin typeface="Arial"/>
              </a:rPr>
              <a:t>a second session</a:t>
            </a:r>
          </a:p>
        </p:txBody>
      </p:sp>
      <p:sp>
        <p:nvSpPr>
          <p:cNvPr id="12" name="TextBox 11"/>
          <p:cNvSpPr txBox="1"/>
          <p:nvPr/>
        </p:nvSpPr>
        <p:spPr>
          <a:xfrm>
            <a:off x="1885253" y="2273935"/>
            <a:ext cx="3433915" cy="690371"/>
          </a:xfrm>
          <a:prstGeom prst="rect">
            <a:avLst/>
          </a:prstGeom>
          <a:noFill/>
        </p:spPr>
        <p:txBody>
          <a:bodyPr wrap="square" lIns="0" rIns="0" tIns="0" bIns="0" anchor="ctr">
            <a:spAutoFit/>
          </a:bodyPr>
          <a:lstStyle/>
          <a:p>
            <a:pPr algn="l">
              <a:lnSpc>
                <a:spcPts val="1380"/>
              </a:lnSpc>
              <a:spcAft>
                <a:spcPts val="0"/>
              </a:spcAft>
            </a:pPr>
            <a:r>
              <a:rPr sz="1200" b="0" i="0">
                <a:solidFill>
                  <a:srgbClr val="141B2E"/>
                </a:solidFill>
                <a:latin typeface="Arial"/>
              </a:rPr>
              <a:t>the working context stays clean: the forty files land in somebody else's</a:t>
            </a:r>
          </a:p>
        </p:txBody>
      </p:sp>
      <p:sp>
        <p:nvSpPr>
          <p:cNvPr id="13" name="TextBox 12"/>
          <p:cNvSpPr txBox="1"/>
          <p:nvPr/>
        </p:nvSpPr>
        <p:spPr>
          <a:xfrm>
            <a:off x="5465472" y="2273935"/>
            <a:ext cx="5891375" cy="690371"/>
          </a:xfrm>
          <a:prstGeom prst="rect">
            <a:avLst/>
          </a:prstGeom>
          <a:noFill/>
        </p:spPr>
        <p:txBody>
          <a:bodyPr wrap="square" lIns="0" rIns="0" tIns="0" bIns="0" anchor="ctr">
            <a:spAutoFit/>
          </a:bodyPr>
          <a:lstStyle/>
          <a:p>
            <a:pPr algn="l">
              <a:lnSpc>
                <a:spcPts val="1380"/>
              </a:lnSpc>
              <a:spcAft>
                <a:spcPts val="0"/>
              </a:spcAft>
            </a:pPr>
            <a:r>
              <a:rPr sz="1200" b="0" i="0">
                <a:solidFill>
                  <a:srgbClr val="141B2E"/>
                </a:solidFill>
                <a:latin typeface="Arial"/>
              </a:rPr>
              <a:t>the list will have to be carried over by hand, and the agent will edit from your retelling — the condition about the old accounts is the first thing to fall out of a retelling</a:t>
            </a:r>
          </a:p>
        </p:txBody>
      </p:sp>
      <p:cxnSp>
        <p:nvCxnSpPr>
          <p:cNvPr id="14" name="Connector 13"/>
          <p:cNvCxnSpPr/>
          <p:nvPr/>
        </p:nvCxnSpPr>
        <p:spPr>
          <a:xfrm>
            <a:off x="685800" y="2964307"/>
            <a:ext cx="10817352" cy="0"/>
          </a:xfrm>
          <a:prstGeom prst="line">
            <a:avLst/>
          </a:prstGeom>
          <a:ln w="9525">
            <a:solidFill>
              <a:srgbClr val="E5EAF0"/>
            </a:solidFill>
          </a:ln>
        </p:spPr>
        <p:style>
          <a:lnRef idx="2">
            <a:schemeClr val="accent1"/>
          </a:lnRef>
          <a:fillRef idx="0">
            <a:schemeClr val="accent1"/>
          </a:fillRef>
          <a:effectRef idx="1">
            <a:schemeClr val="accent1"/>
          </a:effectRef>
          <a:fontRef idx="minor">
            <a:schemeClr val="tx1"/>
          </a:fontRef>
        </p:style>
      </p:cxnSp>
      <p:sp>
        <p:nvSpPr>
          <p:cNvPr id="15" name="TextBox 14"/>
          <p:cNvSpPr txBox="1"/>
          <p:nvPr/>
        </p:nvSpPr>
        <p:spPr>
          <a:xfrm>
            <a:off x="685800" y="2964307"/>
            <a:ext cx="1053149" cy="515111"/>
          </a:xfrm>
          <a:prstGeom prst="rect">
            <a:avLst/>
          </a:prstGeom>
          <a:noFill/>
        </p:spPr>
        <p:txBody>
          <a:bodyPr wrap="square" lIns="0" rIns="0" tIns="0" bIns="0" anchor="ctr">
            <a:spAutoFit/>
          </a:bodyPr>
          <a:lstStyle/>
          <a:p>
            <a:pPr algn="l">
              <a:lnSpc>
                <a:spcPts val="1380"/>
              </a:lnSpc>
              <a:spcAft>
                <a:spcPts val="0"/>
              </a:spcAft>
            </a:pPr>
            <a:r>
              <a:rPr sz="1200" b="0" i="0">
                <a:solidFill>
                  <a:srgbClr val="141B2E"/>
                </a:solidFill>
                <a:latin typeface="Arial"/>
              </a:rPr>
              <a:t>call in a colleague</a:t>
            </a:r>
          </a:p>
        </p:txBody>
      </p:sp>
      <p:sp>
        <p:nvSpPr>
          <p:cNvPr id="16" name="TextBox 15"/>
          <p:cNvSpPr txBox="1"/>
          <p:nvPr/>
        </p:nvSpPr>
        <p:spPr>
          <a:xfrm>
            <a:off x="1885253" y="2964307"/>
            <a:ext cx="3433915" cy="515111"/>
          </a:xfrm>
          <a:prstGeom prst="rect">
            <a:avLst/>
          </a:prstGeom>
          <a:noFill/>
        </p:spPr>
        <p:txBody>
          <a:bodyPr wrap="square" lIns="0" rIns="0" tIns="0" bIns="0" anchor="ctr">
            <a:spAutoFit/>
          </a:bodyPr>
          <a:lstStyle/>
          <a:p>
            <a:pPr algn="l">
              <a:lnSpc>
                <a:spcPts val="1380"/>
              </a:lnSpc>
              <a:spcAft>
                <a:spcPts val="0"/>
              </a:spcAft>
            </a:pPr>
            <a:r>
              <a:rPr sz="1200" b="0" i="0">
                <a:solidFill>
                  <a:srgbClr val="141B2E"/>
                </a:solidFill>
                <a:latin typeface="Arial"/>
              </a:rPr>
              <a:t>the only option that can answer in a minute — if the colleague is fresh on the subject</a:t>
            </a:r>
          </a:p>
        </p:txBody>
      </p:sp>
      <p:sp>
        <p:nvSpPr>
          <p:cNvPr id="17" name="TextBox 16"/>
          <p:cNvSpPr txBox="1"/>
          <p:nvPr/>
        </p:nvSpPr>
        <p:spPr>
          <a:xfrm>
            <a:off x="5465472" y="2964307"/>
            <a:ext cx="5891375" cy="515111"/>
          </a:xfrm>
          <a:prstGeom prst="rect">
            <a:avLst/>
          </a:prstGeom>
          <a:noFill/>
        </p:spPr>
        <p:txBody>
          <a:bodyPr wrap="square" lIns="0" rIns="0" tIns="0" bIns="0" anchor="ctr">
            <a:spAutoFit/>
          </a:bodyPr>
          <a:lstStyle/>
          <a:p>
            <a:pPr algn="l">
              <a:lnSpc>
                <a:spcPts val="1380"/>
              </a:lnSpc>
              <a:spcAft>
                <a:spcPts val="0"/>
              </a:spcAft>
            </a:pPr>
            <a:r>
              <a:rPr sz="1200" b="0" i="0">
                <a:solidFill>
                  <a:srgbClr val="141B2E"/>
                </a:solidFill>
                <a:latin typeface="Arial"/>
              </a:rPr>
              <a:t>the only option that depends on somebody else's schedule: it is decided by whether the person is free right now</a:t>
            </a:r>
          </a:p>
        </p:txBody>
      </p:sp>
      <p:cxnSp>
        <p:nvCxnSpPr>
          <p:cNvPr id="18" name="Connector 17"/>
          <p:cNvCxnSpPr/>
          <p:nvPr/>
        </p:nvCxnSpPr>
        <p:spPr>
          <a:xfrm>
            <a:off x="685800" y="3479419"/>
            <a:ext cx="10817352" cy="0"/>
          </a:xfrm>
          <a:prstGeom prst="line">
            <a:avLst/>
          </a:prstGeom>
          <a:ln w="9525">
            <a:solidFill>
              <a:srgbClr val="E5EAF0"/>
            </a:solidFill>
          </a:ln>
        </p:spPr>
        <p:style>
          <a:lnRef idx="2">
            <a:schemeClr val="accent1"/>
          </a:lnRef>
          <a:fillRef idx="0">
            <a:schemeClr val="accent1"/>
          </a:fillRef>
          <a:effectRef idx="1">
            <a:schemeClr val="accent1"/>
          </a:effectRef>
          <a:fontRef idx="minor">
            <a:schemeClr val="tx1"/>
          </a:fontRef>
        </p:style>
      </p:cxnSp>
      <p:sp>
        <p:nvSpPr>
          <p:cNvPr id="19" name="TextBox 18"/>
          <p:cNvSpPr txBox="1"/>
          <p:nvPr/>
        </p:nvSpPr>
        <p:spPr>
          <a:xfrm>
            <a:off x="685800" y="3479419"/>
            <a:ext cx="1053149" cy="690371"/>
          </a:xfrm>
          <a:prstGeom prst="rect">
            <a:avLst/>
          </a:prstGeom>
          <a:noFill/>
        </p:spPr>
        <p:txBody>
          <a:bodyPr wrap="square" lIns="0" rIns="0" tIns="0" bIns="0" anchor="ctr">
            <a:spAutoFit/>
          </a:bodyPr>
          <a:lstStyle/>
          <a:p>
            <a:pPr algn="l">
              <a:lnSpc>
                <a:spcPts val="1380"/>
              </a:lnSpc>
              <a:spcAft>
                <a:spcPts val="0"/>
              </a:spcAft>
            </a:pPr>
            <a:r>
              <a:rPr sz="1200" b="0" i="0">
                <a:solidFill>
                  <a:srgbClr val="141B2E"/>
                </a:solidFill>
                <a:latin typeface="Arial"/>
              </a:rPr>
              <a:t>hand it to a subagent</a:t>
            </a:r>
          </a:p>
        </p:txBody>
      </p:sp>
      <p:sp>
        <p:nvSpPr>
          <p:cNvPr id="20" name="TextBox 19"/>
          <p:cNvSpPr txBox="1"/>
          <p:nvPr/>
        </p:nvSpPr>
        <p:spPr>
          <a:xfrm>
            <a:off x="1885253" y="3479419"/>
            <a:ext cx="3433915" cy="690371"/>
          </a:xfrm>
          <a:prstGeom prst="rect">
            <a:avLst/>
          </a:prstGeom>
          <a:noFill/>
        </p:spPr>
        <p:txBody>
          <a:bodyPr wrap="square" lIns="0" rIns="0" tIns="0" bIns="0" anchor="ctr">
            <a:spAutoFit/>
          </a:bodyPr>
          <a:lstStyle/>
          <a:p>
            <a:pPr algn="l">
              <a:lnSpc>
                <a:spcPts val="1380"/>
              </a:lnSpc>
              <a:spcAft>
                <a:spcPts val="0"/>
              </a:spcAft>
            </a:pPr>
            <a:r>
              <a:rPr sz="1200" b="0" i="0">
                <a:solidFill>
                  <a:srgbClr val="141B2E"/>
                </a:solidFill>
                <a:latin typeface="Arial"/>
              </a:rPr>
              <a:t>the forty files are opened and closed in a separate, single-use context; the list comes back on its own, into the same session</a:t>
            </a:r>
          </a:p>
        </p:txBody>
      </p:sp>
      <p:sp>
        <p:nvSpPr>
          <p:cNvPr id="21" name="TextBox 20"/>
          <p:cNvSpPr txBox="1"/>
          <p:nvPr/>
        </p:nvSpPr>
        <p:spPr>
          <a:xfrm>
            <a:off x="5465472" y="3479419"/>
            <a:ext cx="5891375" cy="690371"/>
          </a:xfrm>
          <a:prstGeom prst="rect">
            <a:avLst/>
          </a:prstGeom>
          <a:noFill/>
        </p:spPr>
        <p:txBody>
          <a:bodyPr wrap="square" lIns="0" rIns="0" tIns="0" bIns="0" anchor="ctr">
            <a:spAutoFit/>
          </a:bodyPr>
          <a:lstStyle/>
          <a:p>
            <a:pPr algn="l">
              <a:lnSpc>
                <a:spcPts val="1380"/>
              </a:lnSpc>
              <a:spcAft>
                <a:spcPts val="0"/>
              </a:spcAft>
            </a:pPr>
            <a:r>
              <a:rPr sz="1200" b="0" i="0">
                <a:solidFill>
                  <a:srgbClr val="141B2E"/>
                </a:solidFill>
                <a:latin typeface="Arial"/>
              </a:rPr>
              <a:t>it does not get faster: the subagent opens and reads all forty files, the reading time is the same</a:t>
            </a:r>
          </a:p>
        </p:txBody>
      </p:sp>
      <p:cxnSp>
        <p:nvCxnSpPr>
          <p:cNvPr id="22" name="Connector 21"/>
          <p:cNvCxnSpPr/>
          <p:nvPr/>
        </p:nvCxnSpPr>
        <p:spPr>
          <a:xfrm>
            <a:off x="685800" y="4169791"/>
            <a:ext cx="10817352" cy="0"/>
          </a:xfrm>
          <a:prstGeom prst="line">
            <a:avLst/>
          </a:prstGeom>
          <a:ln w="9525">
            <a:solidFill>
              <a:srgbClr val="E5EAF0"/>
            </a:solidFill>
          </a:ln>
        </p:spPr>
        <p:style>
          <a:lnRef idx="2">
            <a:schemeClr val="accent1"/>
          </a:lnRef>
          <a:fillRef idx="0">
            <a:schemeClr val="accent1"/>
          </a:fillRef>
          <a:effectRef idx="1">
            <a:schemeClr val="accent1"/>
          </a:effectRef>
          <a:fontRef idx="minor">
            <a:schemeClr val="tx1"/>
          </a:fontRef>
        </p:style>
      </p:cxnSp>
      <p:sp>
        <p:nvSpPr>
          <p:cNvPr id="23" name="TextBox 22"/>
          <p:cNvSpPr txBox="1"/>
          <p:nvPr/>
        </p:nvSpPr>
        <p:spPr>
          <a:xfrm>
            <a:off x="685800" y="4169791"/>
            <a:ext cx="1053149" cy="515111"/>
          </a:xfrm>
          <a:prstGeom prst="rect">
            <a:avLst/>
          </a:prstGeom>
          <a:noFill/>
        </p:spPr>
        <p:txBody>
          <a:bodyPr wrap="square" lIns="0" rIns="0" tIns="0" bIns="0" anchor="ctr">
            <a:spAutoFit/>
          </a:bodyPr>
          <a:lstStyle/>
          <a:p>
            <a:pPr algn="l">
              <a:lnSpc>
                <a:spcPts val="1380"/>
              </a:lnSpc>
              <a:spcAft>
                <a:spcPts val="0"/>
              </a:spcAft>
            </a:pPr>
            <a:r>
              <a:rPr sz="1200" b="0" i="0">
                <a:solidFill>
                  <a:srgbClr val="141B2E"/>
                </a:solidFill>
                <a:latin typeface="Arial"/>
              </a:rPr>
              <a:t>edit from memory</a:t>
            </a:r>
          </a:p>
        </p:txBody>
      </p:sp>
      <p:sp>
        <p:nvSpPr>
          <p:cNvPr id="24" name="TextBox 23"/>
          <p:cNvSpPr txBox="1"/>
          <p:nvPr/>
        </p:nvSpPr>
        <p:spPr>
          <a:xfrm>
            <a:off x="1885253" y="4169791"/>
            <a:ext cx="3433915" cy="515111"/>
          </a:xfrm>
          <a:prstGeom prst="rect">
            <a:avLst/>
          </a:prstGeom>
          <a:noFill/>
        </p:spPr>
        <p:txBody>
          <a:bodyPr wrap="square" lIns="0" rIns="0" tIns="0" bIns="0" anchor="ctr">
            <a:spAutoFit/>
          </a:bodyPr>
          <a:lstStyle/>
          <a:p>
            <a:pPr algn="l">
              <a:lnSpc>
                <a:spcPts val="1380"/>
              </a:lnSpc>
              <a:spcAft>
                <a:spcPts val="0"/>
              </a:spcAft>
            </a:pPr>
            <a:r>
              <a:rPr sz="1200" b="0" i="0">
                <a:solidFill>
                  <a:srgbClr val="141B2E"/>
                </a:solidFill>
                <a:latin typeface="Arial"/>
              </a:rPr>
              <a:t>instantly</a:t>
            </a:r>
          </a:p>
        </p:txBody>
      </p:sp>
      <p:sp>
        <p:nvSpPr>
          <p:cNvPr id="25" name="TextBox 24"/>
          <p:cNvSpPr txBox="1"/>
          <p:nvPr/>
        </p:nvSpPr>
        <p:spPr>
          <a:xfrm>
            <a:off x="5465472" y="4169791"/>
            <a:ext cx="5891375" cy="515111"/>
          </a:xfrm>
          <a:prstGeom prst="rect">
            <a:avLst/>
          </a:prstGeom>
          <a:noFill/>
        </p:spPr>
        <p:txBody>
          <a:bodyPr wrap="square" lIns="0" rIns="0" tIns="0" bIns="0" anchor="ctr">
            <a:spAutoFit/>
          </a:bodyPr>
          <a:lstStyle/>
          <a:p>
            <a:pPr algn="l">
              <a:lnSpc>
                <a:spcPts val="1380"/>
              </a:lnSpc>
              <a:spcAft>
                <a:spcPts val="0"/>
              </a:spcAft>
            </a:pPr>
            <a:r>
              <a:rPr sz="1200" b="0" i="0">
                <a:solidFill>
                  <a:srgbClr val="141B2E"/>
                </a:solidFill>
                <a:latin typeface="Arial"/>
              </a:rPr>
              <a:t>the fourth place — the client-side check — is not remembered by everyone who wrote it</a:t>
            </a:r>
          </a:p>
        </p:txBody>
      </p:sp>
      <p:sp>
        <p:nvSpPr>
          <p:cNvPr id="26" name="Rounded Rectangle 25"/>
          <p:cNvSpPr/>
          <p:nvPr/>
        </p:nvSpPr>
        <p:spPr>
          <a:xfrm>
            <a:off x="502920" y="5032374"/>
            <a:ext cx="82296" cy="1124712"/>
          </a:xfrm>
          <a:prstGeom prst="roundRect">
            <a:avLst>
              <a:gd name="adj" fmla="val 50000"/>
            </a:avLst>
          </a:prstGeom>
          <a:solidFill>
            <a:srgbClr val="F0AB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859536" y="5160390"/>
            <a:ext cx="10643616" cy="868680"/>
          </a:xfrm>
          <a:prstGeom prst="rect">
            <a:avLst/>
          </a:prstGeom>
          <a:noFill/>
        </p:spPr>
        <p:txBody>
          <a:bodyPr wrap="square" lIns="0" rIns="0" tIns="0" bIns="0" anchor="ctr">
            <a:spAutoFit/>
          </a:bodyPr>
          <a:lstStyle/>
          <a:p>
            <a:pPr algn="l">
              <a:lnSpc>
                <a:spcPts val="1673"/>
              </a:lnSpc>
              <a:spcAft>
                <a:spcPts val="300"/>
              </a:spcAft>
            </a:pPr>
            <a:r>
              <a:rPr sz="1350" b="1" i="0">
                <a:solidFill>
                  <a:srgbClr val="141B2E"/>
                </a:solidFill>
                <a:latin typeface="Arial"/>
              </a:rPr>
              <a:t>Conclusion.</a:t>
            </a:r>
            <a:r>
              <a:rPr sz="1350" b="1" i="0">
                <a:solidFill>
                  <a:srgbClr val="141B2E"/>
                </a:solidFill>
                <a:latin typeface="Arial"/>
              </a:rPr>
              <a:t> The twenty minutes of reading from the scene stay twenty minutes: forty files are forty files, wherever they are read. Two things change. First, whose context holds them: the subagent's context closes along with the subagent. Second, where the list comes back to: from a subagent it arrives on its own, into the session the edit sits in; out of a second session you carry it over yourself.</a:t>
            </a:r>
          </a:p>
        </p:txBody>
      </p:sp>
      <p:sp>
        <p:nvSpPr>
          <p:cNvPr id="28" name="TextBox 27"/>
          <p:cNvSpPr txBox="1"/>
          <p:nvPr/>
        </p:nvSpPr>
        <p:spPr>
          <a:xfrm>
            <a:off x="10957255" y="6437376"/>
            <a:ext cx="914400" cy="274320"/>
          </a:xfrm>
          <a:prstGeom prst="rect">
            <a:avLst/>
          </a:prstGeom>
          <a:noFill/>
        </p:spPr>
        <p:txBody>
          <a:bodyPr wrap="square" lIns="0" rIns="0" tIns="0" bIns="0" anchor="t">
            <a:spAutoFit/>
          </a:bodyPr>
          <a:lstStyle/>
          <a:p>
            <a:pPr algn="r">
              <a:lnSpc>
                <a:spcPts val="1238"/>
              </a:lnSpc>
              <a:spcAft>
                <a:spcPts val="0"/>
              </a:spcAft>
            </a:pPr>
            <a:r>
              <a:rPr sz="1050" b="0" i="0">
                <a:solidFill>
                  <a:srgbClr val="6B7685"/>
                </a:solidFill>
                <a:latin typeface="Arial"/>
              </a:rPr>
              <a:t>34</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02920" y="310896"/>
            <a:ext cx="11183112" cy="431291"/>
          </a:xfrm>
          <a:prstGeom prst="rect">
            <a:avLst/>
          </a:prstGeom>
          <a:noFill/>
        </p:spPr>
        <p:txBody>
          <a:bodyPr wrap="square" lIns="0" rIns="0" tIns="0" bIns="0" anchor="t">
            <a:spAutoFit/>
          </a:bodyPr>
          <a:lstStyle/>
          <a:p>
            <a:pPr algn="l">
              <a:lnSpc>
                <a:spcPts val="2963"/>
              </a:lnSpc>
              <a:spcAft>
                <a:spcPts val="0"/>
              </a:spcAft>
            </a:pPr>
            <a:r>
              <a:rPr sz="2600" b="1" i="0">
                <a:solidFill>
                  <a:srgbClr val="141B2E"/>
                </a:solidFill>
                <a:latin typeface="Arial"/>
              </a:rPr>
              <a:t>An example, yes; a measurement over a sample, no</a:t>
            </a:r>
          </a:p>
        </p:txBody>
      </p:sp>
      <p:sp>
        <p:nvSpPr>
          <p:cNvPr id="3" name="Rectangle 2"/>
          <p:cNvSpPr/>
          <p:nvPr/>
        </p:nvSpPr>
        <p:spPr>
          <a:xfrm>
            <a:off x="502920" y="1801774"/>
            <a:ext cx="32004" cy="525780"/>
          </a:xfrm>
          <a:prstGeom prst="rect">
            <a:avLst/>
          </a:prstGeom>
          <a:solidFill>
            <a:srgbClr val="0280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2668" y="1856638"/>
            <a:ext cx="10730484" cy="416052"/>
          </a:xfrm>
          <a:prstGeom prst="rect">
            <a:avLst/>
          </a:prstGeom>
          <a:noFill/>
        </p:spPr>
        <p:txBody>
          <a:bodyPr wrap="square" lIns="0" rIns="0" tIns="0" bIns="0" anchor="ctr">
            <a:spAutoFit/>
          </a:bodyPr>
          <a:lstStyle/>
          <a:p>
            <a:pPr algn="l">
              <a:lnSpc>
                <a:spcPts val="1638"/>
              </a:lnSpc>
              <a:spcAft>
                <a:spcPts val="300"/>
              </a:spcAft>
            </a:pPr>
            <a:r>
              <a:rPr sz="1300" b="1" i="1">
                <a:solidFill>
                  <a:srgbClr val="6B7685"/>
                </a:solidFill>
                <a:latin typeface="Arial"/>
              </a:rPr>
              <a:t>"The subagent read 6,100 tokens of files. You got a 420-token result. That's the context savings."</a:t>
            </a:r>
            <a:r>
              <a:rPr sz="1300" b="0" i="1">
                <a:solidFill>
                  <a:srgbClr val="6B7685"/>
                </a:solidFill>
                <a:latin typeface="Arial"/>
              </a:rPr>
              <a:t> — the harness documentation on how context works, one illustrative scenario.</a:t>
            </a:r>
          </a:p>
        </p:txBody>
      </p:sp>
      <p:sp>
        <p:nvSpPr>
          <p:cNvPr id="5" name="Rounded Rectangle 4"/>
          <p:cNvSpPr/>
          <p:nvPr/>
        </p:nvSpPr>
        <p:spPr>
          <a:xfrm>
            <a:off x="502920" y="3031642"/>
            <a:ext cx="82296" cy="746760"/>
          </a:xfrm>
          <a:prstGeom prst="roundRect">
            <a:avLst>
              <a:gd name="adj" fmla="val 50000"/>
            </a:avLst>
          </a:prstGeom>
          <a:solidFill>
            <a:srgbClr val="F0AB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59536" y="3159658"/>
            <a:ext cx="10643616" cy="490727"/>
          </a:xfrm>
          <a:prstGeom prst="rect">
            <a:avLst/>
          </a:prstGeom>
          <a:noFill/>
        </p:spPr>
        <p:txBody>
          <a:bodyPr wrap="square" lIns="0" rIns="0" tIns="0" bIns="0" anchor="ctr">
            <a:spAutoFit/>
          </a:bodyPr>
          <a:lstStyle/>
          <a:p>
            <a:pPr algn="l">
              <a:lnSpc>
                <a:spcPts val="1860"/>
              </a:lnSpc>
              <a:spcAft>
                <a:spcPts val="300"/>
              </a:spcAft>
            </a:pPr>
            <a:r>
              <a:rPr sz="1500" b="1" i="0">
                <a:solidFill>
                  <a:srgbClr val="141B2E"/>
                </a:solidFill>
                <a:latin typeface="Arial"/>
              </a:rPr>
              <a:t>An order of magnitude of difference — but this is one invented example by the author of the documentation, not a statistic over many real runs.</a:t>
            </a:r>
          </a:p>
        </p:txBody>
      </p:sp>
      <p:sp>
        <p:nvSpPr>
          <p:cNvPr id="7" name="Rounded Rectangle 6"/>
          <p:cNvSpPr/>
          <p:nvPr/>
        </p:nvSpPr>
        <p:spPr>
          <a:xfrm>
            <a:off x="502920" y="4445914"/>
            <a:ext cx="11183112" cy="648969"/>
          </a:xfrm>
          <a:prstGeom prst="roundRect">
            <a:avLst>
              <a:gd name="adj" fmla="val 25000"/>
            </a:avLst>
          </a:prstGeom>
          <a:solidFill>
            <a:srgbClr val="E4E9EF"/>
          </a:solidFill>
          <a:ln w="15240">
            <a:solidFill>
              <a:srgbClr val="6B7685"/>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40664" y="4583074"/>
            <a:ext cx="10707624" cy="374649"/>
          </a:xfrm>
          <a:prstGeom prst="rect">
            <a:avLst/>
          </a:prstGeom>
          <a:noFill/>
        </p:spPr>
        <p:txBody>
          <a:bodyPr wrap="square" lIns="0" rIns="0" tIns="0" bIns="0" anchor="ctr">
            <a:spAutoFit/>
          </a:bodyPr>
          <a:lstStyle/>
          <a:p>
            <a:pPr algn="l">
              <a:lnSpc>
                <a:spcPts val="1475"/>
              </a:lnSpc>
              <a:spcAft>
                <a:spcPts val="300"/>
              </a:spcAft>
            </a:pPr>
            <a:r>
              <a:rPr sz="1250" b="1" i="1">
                <a:solidFill>
                  <a:srgbClr val="6B7685"/>
                </a:solidFill>
                <a:latin typeface="Arial"/>
              </a:rPr>
              <a:t>An honest gap.</a:t>
            </a:r>
            <a:r>
              <a:rPr sz="1250" b="0" i="1">
                <a:solidFill>
                  <a:srgbClr val="6B7685"/>
                </a:solidFill>
                <a:latin typeface="Arial"/>
              </a:rPr>
              <a:t> How much context delegation really saves compared with the same volume of work in the main session, measured over a sample of sessions, was not found in any source. This number fills the gap with a teaching example, not with a statistic.</a:t>
            </a:r>
          </a:p>
        </p:txBody>
      </p:sp>
      <p:sp>
        <p:nvSpPr>
          <p:cNvPr id="9" name="TextBox 8"/>
          <p:cNvSpPr txBox="1"/>
          <p:nvPr/>
        </p:nvSpPr>
        <p:spPr>
          <a:xfrm>
            <a:off x="10957255" y="6437376"/>
            <a:ext cx="914400" cy="274320"/>
          </a:xfrm>
          <a:prstGeom prst="rect">
            <a:avLst/>
          </a:prstGeom>
          <a:noFill/>
        </p:spPr>
        <p:txBody>
          <a:bodyPr wrap="square" lIns="0" rIns="0" tIns="0" bIns="0" anchor="t">
            <a:spAutoFit/>
          </a:bodyPr>
          <a:lstStyle/>
          <a:p>
            <a:pPr algn="r">
              <a:lnSpc>
                <a:spcPts val="1238"/>
              </a:lnSpc>
              <a:spcAft>
                <a:spcPts val="0"/>
              </a:spcAft>
            </a:pPr>
            <a:r>
              <a:rPr sz="1050" b="0" i="0">
                <a:solidFill>
                  <a:srgbClr val="6B7685"/>
                </a:solidFill>
                <a:latin typeface="Arial"/>
              </a:rPr>
              <a:t>35</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02920" y="310896"/>
            <a:ext cx="11183112" cy="431291"/>
          </a:xfrm>
          <a:prstGeom prst="rect">
            <a:avLst/>
          </a:prstGeom>
          <a:noFill/>
        </p:spPr>
        <p:txBody>
          <a:bodyPr wrap="square" lIns="0" rIns="0" tIns="0" bIns="0" anchor="t">
            <a:spAutoFit/>
          </a:bodyPr>
          <a:lstStyle/>
          <a:p>
            <a:pPr algn="l">
              <a:lnSpc>
                <a:spcPts val="2963"/>
              </a:lnSpc>
              <a:spcAft>
                <a:spcPts val="0"/>
              </a:spcAft>
            </a:pPr>
            <a:r>
              <a:rPr sz="2600" b="1" i="0">
                <a:solidFill>
                  <a:srgbClr val="141B2E"/>
                </a:solidFill>
                <a:latin typeface="Arial"/>
              </a:rPr>
              <a:t>A clean context — but not clean of everything</a:t>
            </a:r>
          </a:p>
        </p:txBody>
      </p:sp>
      <p:sp>
        <p:nvSpPr>
          <p:cNvPr id="3" name="Rectangle 2"/>
          <p:cNvSpPr/>
          <p:nvPr/>
        </p:nvSpPr>
        <p:spPr>
          <a:xfrm>
            <a:off x="502920" y="1395984"/>
            <a:ext cx="32004" cy="733805"/>
          </a:xfrm>
          <a:prstGeom prst="rect">
            <a:avLst/>
          </a:prstGeom>
          <a:solidFill>
            <a:srgbClr val="0280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2668" y="1450848"/>
            <a:ext cx="10730484" cy="624077"/>
          </a:xfrm>
          <a:prstGeom prst="rect">
            <a:avLst/>
          </a:prstGeom>
          <a:noFill/>
        </p:spPr>
        <p:txBody>
          <a:bodyPr wrap="square" lIns="0" rIns="0" tIns="0" bIns="0" anchor="ctr">
            <a:spAutoFit/>
          </a:bodyPr>
          <a:lstStyle/>
          <a:p>
            <a:pPr algn="l">
              <a:lnSpc>
                <a:spcPts val="1638"/>
              </a:lnSpc>
              <a:spcAft>
                <a:spcPts val="300"/>
              </a:spcAft>
            </a:pPr>
            <a:r>
              <a:rPr sz="1300" b="1" i="1">
                <a:solidFill>
                  <a:srgbClr val="6B7685"/>
                </a:solidFill>
                <a:latin typeface="Arial"/>
              </a:rPr>
              <a:t>"Subagents inherit every MCP tool definition from the parent session, which can fill their context window before the first turn. Disable MCP servers you are not using before spawning subagents."</a:t>
            </a:r>
            <a:r>
              <a:rPr sz="1300" b="0" i="1">
                <a:solidFill>
                  <a:srgbClr val="6B7685"/>
                </a:solidFill>
                <a:latin typeface="Arial"/>
              </a:rPr>
              <a:t> — the harness documentation on troubleshooting errors.</a:t>
            </a:r>
          </a:p>
        </p:txBody>
      </p:sp>
      <p:sp>
        <p:nvSpPr>
          <p:cNvPr id="5" name="Rounded Rectangle 4"/>
          <p:cNvSpPr/>
          <p:nvPr/>
        </p:nvSpPr>
        <p:spPr>
          <a:xfrm>
            <a:off x="502920" y="2833878"/>
            <a:ext cx="82296" cy="1219200"/>
          </a:xfrm>
          <a:prstGeom prst="roundRect">
            <a:avLst>
              <a:gd name="adj" fmla="val 50000"/>
            </a:avLst>
          </a:prstGeom>
          <a:solidFill>
            <a:srgbClr val="F0AB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59536" y="2961894"/>
            <a:ext cx="10643616" cy="963168"/>
          </a:xfrm>
          <a:prstGeom prst="rect">
            <a:avLst/>
          </a:prstGeom>
          <a:noFill/>
        </p:spPr>
        <p:txBody>
          <a:bodyPr wrap="square" lIns="0" rIns="0" tIns="0" bIns="0" anchor="ctr">
            <a:spAutoFit/>
          </a:bodyPr>
          <a:lstStyle/>
          <a:p>
            <a:pPr algn="l">
              <a:lnSpc>
                <a:spcPts val="1860"/>
              </a:lnSpc>
              <a:spcAft>
                <a:spcPts val="300"/>
              </a:spcAft>
            </a:pPr>
            <a:r>
              <a:rPr sz="1500" b="1" i="0">
                <a:solidFill>
                  <a:srgbClr val="141B2E"/>
                </a:solidFill>
                <a:latin typeface="Arial"/>
              </a:rPr>
              <a:t>This is the third band on the base diagram — "the definitions of connected servers". It moves into the subagent's context in full. For our search over the limit on members: if the issue tracker and the documentation server from the previous section of the seminar are connected in the session, a subagent that needs to read forty files of code gets their definitions for free.</a:t>
            </a:r>
          </a:p>
        </p:txBody>
      </p:sp>
      <p:sp>
        <p:nvSpPr>
          <p:cNvPr id="7" name="Rounded Rectangle 6"/>
          <p:cNvSpPr/>
          <p:nvPr/>
        </p:nvSpPr>
        <p:spPr>
          <a:xfrm>
            <a:off x="502920" y="4720590"/>
            <a:ext cx="82296" cy="982980"/>
          </a:xfrm>
          <a:prstGeom prst="roundRect">
            <a:avLst>
              <a:gd name="adj" fmla="val 50000"/>
            </a:avLst>
          </a:prstGeom>
          <a:solidFill>
            <a:srgbClr val="F0AB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59536" y="4848605"/>
            <a:ext cx="10643616" cy="726948"/>
          </a:xfrm>
          <a:prstGeom prst="rect">
            <a:avLst/>
          </a:prstGeom>
          <a:noFill/>
        </p:spPr>
        <p:txBody>
          <a:bodyPr wrap="square" lIns="0" rIns="0" tIns="0" bIns="0" anchor="ctr">
            <a:spAutoFit/>
          </a:bodyPr>
          <a:lstStyle/>
          <a:p>
            <a:pPr algn="l">
              <a:lnSpc>
                <a:spcPts val="1860"/>
              </a:lnSpc>
              <a:spcAft>
                <a:spcPts val="300"/>
              </a:spcAft>
            </a:pPr>
            <a:r>
              <a:rPr sz="1500" b="1" i="0">
                <a:solidFill>
                  <a:srgbClr val="141B2E"/>
                </a:solidFill>
                <a:latin typeface="Arial"/>
              </a:rPr>
              <a:t>The focus from the previous two slides is about the contents of the repository. What is brought in by servers is watched separately: by the same subagent tool list that stands as the fifth block on the rung's one-pager.</a:t>
            </a:r>
          </a:p>
        </p:txBody>
      </p:sp>
      <p:sp>
        <p:nvSpPr>
          <p:cNvPr id="9" name="TextBox 8"/>
          <p:cNvSpPr txBox="1"/>
          <p:nvPr/>
        </p:nvSpPr>
        <p:spPr>
          <a:xfrm>
            <a:off x="10957255" y="6437376"/>
            <a:ext cx="914400" cy="274320"/>
          </a:xfrm>
          <a:prstGeom prst="rect">
            <a:avLst/>
          </a:prstGeom>
          <a:noFill/>
        </p:spPr>
        <p:txBody>
          <a:bodyPr wrap="square" lIns="0" rIns="0" tIns="0" bIns="0" anchor="t">
            <a:spAutoFit/>
          </a:bodyPr>
          <a:lstStyle/>
          <a:p>
            <a:pPr algn="r">
              <a:lnSpc>
                <a:spcPts val="1238"/>
              </a:lnSpc>
              <a:spcAft>
                <a:spcPts val="0"/>
              </a:spcAft>
            </a:pPr>
            <a:r>
              <a:rPr sz="1050" b="0" i="0">
                <a:solidFill>
                  <a:srgbClr val="6B7685"/>
                </a:solidFill>
                <a:latin typeface="Arial"/>
              </a:rPr>
              <a:t>36</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02920" y="310896"/>
            <a:ext cx="11183112" cy="431291"/>
          </a:xfrm>
          <a:prstGeom prst="rect">
            <a:avLst/>
          </a:prstGeom>
          <a:noFill/>
        </p:spPr>
        <p:txBody>
          <a:bodyPr wrap="square" lIns="0" rIns="0" tIns="0" bIns="0" anchor="t">
            <a:spAutoFit/>
          </a:bodyPr>
          <a:lstStyle/>
          <a:p>
            <a:pPr algn="l">
              <a:lnSpc>
                <a:spcPts val="2963"/>
              </a:lnSpc>
              <a:spcAft>
                <a:spcPts val="0"/>
              </a:spcAft>
            </a:pPr>
            <a:r>
              <a:rPr sz="2600" b="1" i="0">
                <a:solidFill>
                  <a:srgbClr val="141B2E"/>
                </a:solidFill>
                <a:latin typeface="Arial"/>
              </a:rPr>
              <a:t>What stays in the context after the answer</a:t>
            </a:r>
          </a:p>
        </p:txBody>
      </p:sp>
      <p:sp>
        <p:nvSpPr>
          <p:cNvPr id="3" name="Rounded Rectangle 2"/>
          <p:cNvSpPr/>
          <p:nvPr/>
        </p:nvSpPr>
        <p:spPr>
          <a:xfrm>
            <a:off x="502920" y="1069238"/>
            <a:ext cx="82296" cy="1219200"/>
          </a:xfrm>
          <a:prstGeom prst="roundRect">
            <a:avLst>
              <a:gd name="adj" fmla="val 50000"/>
            </a:avLst>
          </a:prstGeom>
          <a:solidFill>
            <a:srgbClr val="F0AB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59536" y="1197254"/>
            <a:ext cx="10643616" cy="963168"/>
          </a:xfrm>
          <a:prstGeom prst="rect">
            <a:avLst/>
          </a:prstGeom>
          <a:noFill/>
        </p:spPr>
        <p:txBody>
          <a:bodyPr wrap="square" lIns="0" rIns="0" tIns="0" bIns="0" anchor="ctr">
            <a:spAutoFit/>
          </a:bodyPr>
          <a:lstStyle/>
          <a:p>
            <a:pPr algn="l">
              <a:lnSpc>
                <a:spcPts val="1860"/>
              </a:lnSpc>
              <a:spcAft>
                <a:spcPts val="300"/>
              </a:spcAft>
            </a:pPr>
            <a:r>
              <a:rPr sz="1500" b="1" i="0">
                <a:solidFill>
                  <a:srgbClr val="141B2E"/>
                </a:solidFill>
                <a:latin typeface="Arial"/>
              </a:rPr>
              <a:t>What we set up for the sake of the context is decided by what will be left in the context after the answer, and not by how many files had to be opened. Intuition said: a separate worker will read faster. The test showed: forty files stay forty files and the same length of time, and two things change — whose context holds them and where the result comes back to on its own.</a:t>
            </a:r>
          </a:p>
        </p:txBody>
      </p:sp>
      <p:sp>
        <p:nvSpPr>
          <p:cNvPr id="5" name="Rounded Rectangle 4"/>
          <p:cNvSpPr/>
          <p:nvPr/>
        </p:nvSpPr>
        <p:spPr>
          <a:xfrm>
            <a:off x="502920" y="2767736"/>
            <a:ext cx="11183112" cy="1908810"/>
          </a:xfrm>
          <a:prstGeom prst="roundRect">
            <a:avLst>
              <a:gd name="adj" fmla="val 15968"/>
            </a:avLst>
          </a:prstGeom>
          <a:solidFill>
            <a:srgbClr val="F4F7FA"/>
          </a:solidFill>
          <a:ln w="15240">
            <a:solidFill>
              <a:srgbClr val="E5EA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758952" y="3304374"/>
            <a:ext cx="100584" cy="100584"/>
          </a:xfrm>
          <a:prstGeom prst="roundRect">
            <a:avLst>
              <a:gd name="adj" fmla="val 50000"/>
            </a:avLst>
          </a:prstGeom>
          <a:solidFill>
            <a:srgbClr val="0280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106424" y="2987192"/>
            <a:ext cx="10360152" cy="734949"/>
          </a:xfrm>
          <a:prstGeom prst="rect">
            <a:avLst/>
          </a:prstGeom>
          <a:noFill/>
        </p:spPr>
        <p:txBody>
          <a:bodyPr wrap="square" lIns="0" rIns="0" tIns="0" bIns="0" anchor="ctr">
            <a:spAutoFit/>
          </a:bodyPr>
          <a:lstStyle/>
          <a:p>
            <a:pPr algn="l">
              <a:lnSpc>
                <a:spcPts val="1593"/>
              </a:lnSpc>
              <a:spcAft>
                <a:spcPts val="0"/>
              </a:spcAft>
            </a:pPr>
            <a:r>
              <a:rPr sz="1350" b="0" i="0">
                <a:solidFill>
                  <a:srgbClr val="141B2E"/>
                </a:solidFill>
                <a:latin typeface="Arial"/>
              </a:rPr>
              <a:t>Delegating the reading makes sense when what has to be brought out of dozens of files is a short conclusion: a fact, a yes/no, a list of places a few lines long that the work then proceeds from. Forty files of searching, four files of editing — exactly this case.</a:t>
            </a:r>
          </a:p>
        </p:txBody>
      </p:sp>
      <p:sp>
        <p:nvSpPr>
          <p:cNvPr id="8" name="Rounded Rectangle 7"/>
          <p:cNvSpPr/>
          <p:nvPr/>
        </p:nvSpPr>
        <p:spPr>
          <a:xfrm>
            <a:off x="758952" y="4039323"/>
            <a:ext cx="100584" cy="100584"/>
          </a:xfrm>
          <a:prstGeom prst="roundRect">
            <a:avLst>
              <a:gd name="adj" fmla="val 50000"/>
            </a:avLst>
          </a:prstGeom>
          <a:solidFill>
            <a:srgbClr val="0280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106424" y="3722141"/>
            <a:ext cx="10360152" cy="734949"/>
          </a:xfrm>
          <a:prstGeom prst="rect">
            <a:avLst/>
          </a:prstGeom>
          <a:noFill/>
        </p:spPr>
        <p:txBody>
          <a:bodyPr wrap="square" lIns="0" rIns="0" tIns="0" bIns="0" anchor="ctr">
            <a:spAutoFit/>
          </a:bodyPr>
          <a:lstStyle/>
          <a:p>
            <a:pPr algn="l">
              <a:lnSpc>
                <a:spcPts val="1593"/>
              </a:lnSpc>
              <a:spcAft>
                <a:spcPts val="0"/>
              </a:spcAft>
            </a:pPr>
            <a:r>
              <a:rPr sz="1350" b="0" i="0">
                <a:solidFill>
                  <a:srgbClr val="141B2E"/>
                </a:solidFill>
                <a:latin typeface="Arial"/>
              </a:rPr>
              <a:t>If you are going to have to work with the whole volume you read — a refactoring of those same forty files — you will have to read them in any case; doing that in your own context is then part of the work itself, because it is you who will be working with those contents next.</a:t>
            </a:r>
          </a:p>
        </p:txBody>
      </p:sp>
      <p:sp>
        <p:nvSpPr>
          <p:cNvPr id="10" name="Rounded Rectangle 9"/>
          <p:cNvSpPr/>
          <p:nvPr/>
        </p:nvSpPr>
        <p:spPr>
          <a:xfrm>
            <a:off x="502920" y="5155844"/>
            <a:ext cx="82296" cy="982980"/>
          </a:xfrm>
          <a:prstGeom prst="roundRect">
            <a:avLst>
              <a:gd name="adj" fmla="val 50000"/>
            </a:avLst>
          </a:prstGeom>
          <a:solidFill>
            <a:srgbClr val="F0AB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59536" y="5283860"/>
            <a:ext cx="10643616" cy="726948"/>
          </a:xfrm>
          <a:prstGeom prst="rect">
            <a:avLst/>
          </a:prstGeom>
          <a:noFill/>
        </p:spPr>
        <p:txBody>
          <a:bodyPr wrap="square" lIns="0" rIns="0" tIns="0" bIns="0" anchor="ctr">
            <a:spAutoFit/>
          </a:bodyPr>
          <a:lstStyle/>
          <a:p>
            <a:pPr algn="l">
              <a:lnSpc>
                <a:spcPts val="1860"/>
              </a:lnSpc>
              <a:spcAft>
                <a:spcPts val="300"/>
              </a:spcAft>
            </a:pPr>
            <a:r>
              <a:rPr sz="1500" b="1" i="0">
                <a:solidFill>
                  <a:srgbClr val="141B2E"/>
                </a:solidFill>
                <a:latin typeface="Arial"/>
              </a:rPr>
              <a:t>About yourself.</a:t>
            </a:r>
            <a:r>
              <a:rPr sz="1500" b="1" i="0">
                <a:solidFill>
                  <a:srgbClr val="141B2E"/>
                </a:solidFill>
                <a:latin typeface="Arial"/>
              </a:rPr>
              <a:t> Name to yourself a place in your own project where, before an edit, you have to search across dozens of files and what you find is three or four lines. Named it — there is your first candidate for delegation. If you are going to be editing all those same dozens of files, that is not the candidate.</a:t>
            </a:r>
          </a:p>
        </p:txBody>
      </p:sp>
      <p:sp>
        <p:nvSpPr>
          <p:cNvPr id="12" name="TextBox 11"/>
          <p:cNvSpPr txBox="1"/>
          <p:nvPr/>
        </p:nvSpPr>
        <p:spPr>
          <a:xfrm>
            <a:off x="10957255" y="6437376"/>
            <a:ext cx="914400" cy="274320"/>
          </a:xfrm>
          <a:prstGeom prst="rect">
            <a:avLst/>
          </a:prstGeom>
          <a:noFill/>
        </p:spPr>
        <p:txBody>
          <a:bodyPr wrap="square" lIns="0" rIns="0" tIns="0" bIns="0" anchor="t">
            <a:spAutoFit/>
          </a:bodyPr>
          <a:lstStyle/>
          <a:p>
            <a:pPr algn="r">
              <a:lnSpc>
                <a:spcPts val="1238"/>
              </a:lnSpc>
              <a:spcAft>
                <a:spcPts val="0"/>
              </a:spcAft>
            </a:pPr>
            <a:r>
              <a:rPr sz="1050" b="0" i="0">
                <a:solidFill>
                  <a:srgbClr val="6B7685"/>
                </a:solidFill>
                <a:latin typeface="Arial"/>
              </a:rPr>
              <a:t>37</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ln>
            <a:noFill/>
          </a:ln>
          <a:effectLst/>
          <a:gradFill rotWithShape="1">
            <a:gsLst>
              <a:gs pos="0">
                <a:srgbClr val="21295C"/>
              </a:gs>
              <a:gs pos="55000">
                <a:srgbClr val="065A82"/>
              </a:gs>
              <a:gs pos="100000">
                <a:srgbClr val="1C7293"/>
              </a:gs>
            </a:gsLst>
            <a:lin ang="2700000" scaled="1"/>
          </a:gra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502920" y="457200"/>
            <a:ext cx="5111496" cy="237744"/>
          </a:xfrm>
          <a:prstGeom prst="roundRect">
            <a:avLst>
              <a:gd name="adj" fmla="val 40000"/>
            </a:avLst>
          </a:prstGeom>
          <a:solidFill>
            <a:srgbClr val="3E4C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5724144" y="457200"/>
            <a:ext cx="5111496" cy="237744"/>
          </a:xfrm>
          <a:prstGeom prst="roundRect">
            <a:avLst>
              <a:gd name="adj" fmla="val 40000"/>
            </a:avLst>
          </a:prstGeom>
          <a:solidFill>
            <a:srgbClr val="F0AB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585216" y="2590038"/>
            <a:ext cx="694944" cy="694944"/>
          </a:xfrm>
          <a:prstGeom prst="ellipse">
            <a:avLst/>
          </a:prstGeom>
          <a:solidFill>
            <a:srgbClr val="F0AB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85216" y="2590038"/>
            <a:ext cx="694944" cy="694944"/>
          </a:xfrm>
          <a:prstGeom prst="rect">
            <a:avLst/>
          </a:prstGeom>
          <a:noFill/>
        </p:spPr>
        <p:txBody>
          <a:bodyPr wrap="square" lIns="0" rIns="0" tIns="0" bIns="0" anchor="ctr">
            <a:spAutoFit/>
          </a:bodyPr>
          <a:lstStyle/>
          <a:p>
            <a:pPr algn="ctr">
              <a:lnSpc>
                <a:spcPts val="2950"/>
              </a:lnSpc>
              <a:spcAft>
                <a:spcPts val="0"/>
              </a:spcAft>
            </a:pPr>
            <a:r>
              <a:rPr sz="2500" b="1" i="0">
                <a:solidFill>
                  <a:srgbClr val="21295C"/>
                </a:solidFill>
                <a:latin typeface="Arial"/>
              </a:rPr>
              <a:t>4</a:t>
            </a:r>
          </a:p>
        </p:txBody>
      </p:sp>
      <p:sp>
        <p:nvSpPr>
          <p:cNvPr id="7" name="TextBox 6"/>
          <p:cNvSpPr txBox="1"/>
          <p:nvPr/>
        </p:nvSpPr>
        <p:spPr>
          <a:xfrm>
            <a:off x="1536192" y="2484120"/>
            <a:ext cx="9144000" cy="906780"/>
          </a:xfrm>
          <a:prstGeom prst="rect">
            <a:avLst/>
          </a:prstGeom>
          <a:noFill/>
        </p:spPr>
        <p:txBody>
          <a:bodyPr wrap="square" lIns="0" rIns="0" tIns="0" bIns="0" anchor="t">
            <a:spAutoFit/>
          </a:bodyPr>
          <a:lstStyle/>
          <a:p>
            <a:pPr algn="l">
              <a:lnSpc>
                <a:spcPts val="3570"/>
              </a:lnSpc>
              <a:spcAft>
                <a:spcPts val="0"/>
              </a:spcAft>
            </a:pPr>
            <a:r>
              <a:rPr sz="3400" b="1" i="0">
                <a:solidFill>
                  <a:srgbClr val="FFFFFF"/>
                </a:solidFill>
                <a:latin typeface="Arial"/>
              </a:rPr>
              <a:t>The task arrived as one sentence. What do we speed it up with?</a:t>
            </a:r>
          </a:p>
        </p:txBody>
      </p:sp>
      <p:sp>
        <p:nvSpPr>
          <p:cNvPr id="8" name="TextBox 7"/>
          <p:cNvSpPr txBox="1"/>
          <p:nvPr/>
        </p:nvSpPr>
        <p:spPr>
          <a:xfrm>
            <a:off x="822960" y="3701796"/>
            <a:ext cx="9509760" cy="854964"/>
          </a:xfrm>
          <a:prstGeom prst="rect">
            <a:avLst/>
          </a:prstGeom>
          <a:noFill/>
        </p:spPr>
        <p:txBody>
          <a:bodyPr wrap="square" lIns="0" rIns="0" tIns="0" bIns="0" anchor="t">
            <a:spAutoFit/>
          </a:bodyPr>
          <a:lstStyle/>
          <a:p>
            <a:pPr algn="l">
              <a:lnSpc>
                <a:spcPts val="2244"/>
              </a:lnSpc>
              <a:spcAft>
                <a:spcPts val="400"/>
              </a:spcAft>
            </a:pPr>
            <a:r>
              <a:rPr sz="1700" b="0" i="1">
                <a:solidFill>
                  <a:srgbClr val="D6E2EC"/>
                </a:solidFill>
                <a:latin typeface="Arial"/>
              </a:rPr>
              <a:t>One sentence, one deadline. There is more than one means of speeding it up, and the choice between them is made by the task itself.</a:t>
            </a:r>
          </a:p>
        </p:txBody>
      </p:sp>
      <p:sp>
        <p:nvSpPr>
          <p:cNvPr id="9" name="Rounded Rectangle 8"/>
          <p:cNvSpPr/>
          <p:nvPr/>
        </p:nvSpPr>
        <p:spPr>
          <a:xfrm>
            <a:off x="502920" y="5989320"/>
            <a:ext cx="5500116" cy="384048"/>
          </a:xfrm>
          <a:prstGeom prst="roundRect">
            <a:avLst>
              <a:gd name="adj" fmla="val 30000"/>
            </a:avLst>
          </a:prstGeom>
          <a:solidFill>
            <a:srgbClr val="0280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02920" y="5989320"/>
            <a:ext cx="5500116" cy="384048"/>
          </a:xfrm>
          <a:prstGeom prst="rect">
            <a:avLst/>
          </a:prstGeom>
          <a:noFill/>
        </p:spPr>
        <p:txBody>
          <a:bodyPr wrap="square" lIns="0" rIns="0" tIns="0" bIns="0" anchor="ctr">
            <a:spAutoFit/>
          </a:bodyPr>
          <a:lstStyle/>
          <a:p>
            <a:pPr algn="ctr">
              <a:lnSpc>
                <a:spcPts val="1475"/>
              </a:lnSpc>
              <a:spcAft>
                <a:spcPts val="0"/>
              </a:spcAft>
            </a:pPr>
            <a:r>
              <a:rPr sz="1250" b="0" i="0">
                <a:solidFill>
                  <a:srgbClr val="FFFFFF"/>
                </a:solidFill>
                <a:latin typeface="Arial"/>
              </a:rPr>
              <a:t>MCP</a:t>
            </a:r>
          </a:p>
        </p:txBody>
      </p:sp>
      <p:sp>
        <p:nvSpPr>
          <p:cNvPr id="11" name="Rounded Rectangle 10"/>
          <p:cNvSpPr/>
          <p:nvPr/>
        </p:nvSpPr>
        <p:spPr>
          <a:xfrm>
            <a:off x="6185916" y="5989320"/>
            <a:ext cx="5500116" cy="384048"/>
          </a:xfrm>
          <a:prstGeom prst="roundRect">
            <a:avLst>
              <a:gd name="adj" fmla="val 30000"/>
            </a:avLst>
          </a:prstGeom>
          <a:solidFill>
            <a:srgbClr val="F0AB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185916" y="5989320"/>
            <a:ext cx="5500116" cy="384048"/>
          </a:xfrm>
          <a:prstGeom prst="rect">
            <a:avLst/>
          </a:prstGeom>
          <a:noFill/>
        </p:spPr>
        <p:txBody>
          <a:bodyPr wrap="square" lIns="0" rIns="0" tIns="0" bIns="0" anchor="ctr">
            <a:spAutoFit/>
          </a:bodyPr>
          <a:lstStyle/>
          <a:p>
            <a:pPr algn="ctr">
              <a:lnSpc>
                <a:spcPts val="1475"/>
              </a:lnSpc>
              <a:spcAft>
                <a:spcPts val="0"/>
              </a:spcAft>
            </a:pPr>
            <a:r>
              <a:rPr sz="1250" b="1" i="0">
                <a:solidFill>
                  <a:srgbClr val="21295C"/>
                </a:solidFill>
                <a:latin typeface="Arial"/>
              </a:rPr>
              <a:t>Subagent</a:t>
            </a:r>
          </a:p>
        </p:txBody>
      </p:sp>
      <p:sp>
        <p:nvSpPr>
          <p:cNvPr id="13" name="TextBox 12"/>
          <p:cNvSpPr txBox="1"/>
          <p:nvPr/>
        </p:nvSpPr>
        <p:spPr>
          <a:xfrm>
            <a:off x="10957255" y="6437376"/>
            <a:ext cx="914400" cy="274320"/>
          </a:xfrm>
          <a:prstGeom prst="rect">
            <a:avLst/>
          </a:prstGeom>
          <a:noFill/>
        </p:spPr>
        <p:txBody>
          <a:bodyPr wrap="square" lIns="0" rIns="0" tIns="0" bIns="0" anchor="t">
            <a:spAutoFit/>
          </a:bodyPr>
          <a:lstStyle/>
          <a:p>
            <a:pPr algn="r">
              <a:lnSpc>
                <a:spcPts val="1238"/>
              </a:lnSpc>
              <a:spcAft>
                <a:spcPts val="0"/>
              </a:spcAft>
            </a:pPr>
            <a:r>
              <a:rPr sz="1050" b="0" i="0">
                <a:solidFill>
                  <a:srgbClr val="FFFFFF"/>
                </a:solidFill>
                <a:latin typeface="Arial"/>
              </a:rPr>
              <a:t>38</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02920" y="310896"/>
            <a:ext cx="11183112" cy="431291"/>
          </a:xfrm>
          <a:prstGeom prst="rect">
            <a:avLst/>
          </a:prstGeom>
          <a:noFill/>
        </p:spPr>
        <p:txBody>
          <a:bodyPr wrap="square" lIns="0" rIns="0" tIns="0" bIns="0" anchor="t">
            <a:spAutoFit/>
          </a:bodyPr>
          <a:lstStyle/>
          <a:p>
            <a:pPr algn="l">
              <a:lnSpc>
                <a:spcPts val="2963"/>
              </a:lnSpc>
              <a:spcAft>
                <a:spcPts val="0"/>
              </a:spcAft>
            </a:pPr>
            <a:r>
              <a:rPr sz="2600" b="1" i="0">
                <a:solidFill>
                  <a:srgbClr val="141B2E"/>
                </a:solidFill>
                <a:latin typeface="Arial"/>
              </a:rPr>
              <a:t>The task is due Monday. Let us lay it out together</a:t>
            </a:r>
          </a:p>
        </p:txBody>
      </p:sp>
      <p:sp>
        <p:nvSpPr>
          <p:cNvPr id="3" name="Rectangle 2"/>
          <p:cNvSpPr/>
          <p:nvPr/>
        </p:nvSpPr>
        <p:spPr>
          <a:xfrm>
            <a:off x="502920" y="979932"/>
            <a:ext cx="32004" cy="317754"/>
          </a:xfrm>
          <a:prstGeom prst="rect">
            <a:avLst/>
          </a:prstGeom>
          <a:solidFill>
            <a:srgbClr val="0280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2668" y="1034796"/>
            <a:ext cx="10730484" cy="208025"/>
          </a:xfrm>
          <a:prstGeom prst="rect">
            <a:avLst/>
          </a:prstGeom>
          <a:noFill/>
        </p:spPr>
        <p:txBody>
          <a:bodyPr wrap="square" lIns="0" rIns="0" tIns="0" bIns="0" anchor="ctr">
            <a:spAutoFit/>
          </a:bodyPr>
          <a:lstStyle/>
          <a:p>
            <a:pPr algn="l">
              <a:lnSpc>
                <a:spcPts val="1638"/>
              </a:lnSpc>
              <a:spcAft>
                <a:spcPts val="300"/>
              </a:spcAft>
            </a:pPr>
            <a:r>
              <a:rPr sz="1300" b="0" i="1">
                <a:solidFill>
                  <a:srgbClr val="6B7685"/>
                </a:solidFill>
                <a:latin typeface="Arial"/>
              </a:rPr>
              <a:t>"The form has to be ready for the ad campaign by Monday."</a:t>
            </a:r>
          </a:p>
        </p:txBody>
      </p:sp>
      <p:sp>
        <p:nvSpPr>
          <p:cNvPr id="5" name="Rounded Rectangle 4"/>
          <p:cNvSpPr/>
          <p:nvPr/>
        </p:nvSpPr>
        <p:spPr>
          <a:xfrm>
            <a:off x="502920" y="1498854"/>
            <a:ext cx="82296" cy="564897"/>
          </a:xfrm>
          <a:prstGeom prst="roundRect">
            <a:avLst>
              <a:gd name="adj" fmla="val 50000"/>
            </a:avLst>
          </a:prstGeom>
          <a:solidFill>
            <a:srgbClr val="F0AB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59536" y="1626870"/>
            <a:ext cx="10643616" cy="308865"/>
          </a:xfrm>
          <a:prstGeom prst="rect">
            <a:avLst/>
          </a:prstGeom>
          <a:noFill/>
        </p:spPr>
        <p:txBody>
          <a:bodyPr wrap="square" lIns="0" rIns="0" tIns="0" bIns="0" anchor="ctr">
            <a:spAutoFit/>
          </a:bodyPr>
          <a:lstStyle/>
          <a:p>
            <a:pPr algn="l">
              <a:lnSpc>
                <a:spcPts val="1364"/>
              </a:lnSpc>
              <a:spcAft>
                <a:spcPts val="300"/>
              </a:spcAft>
            </a:pPr>
            <a:r>
              <a:rPr sz="1100" b="1" i="0">
                <a:solidFill>
                  <a:srgbClr val="141B2E"/>
                </a:solidFill>
                <a:latin typeface="Arial"/>
              </a:rPr>
              <a:t>Friday, evening, and that is the whole setup. The signup form on the landing page from the previous classes: the markup is </a:t>
            </a:r>
            <a:r>
              <a:rPr sz="1100" b="1" i="0">
                <a:solidFill>
                  <a:srgbClr val="141B2E"/>
                </a:solidFill>
                <a:latin typeface="Consolas"/>
              </a:rPr>
              <a:t>index.html</a:t>
            </a:r>
            <a:r>
              <a:rPr sz="1100" b="1" i="0">
                <a:solidFill>
                  <a:srgbClr val="141B2E"/>
                </a:solidFill>
                <a:latin typeface="Arial"/>
              </a:rPr>
              <a:t>, the validation is </a:t>
            </a:r>
            <a:r>
              <a:rPr sz="1100" b="1" i="0">
                <a:solidFill>
                  <a:srgbClr val="141B2E"/>
                </a:solidFill>
                <a:latin typeface="Consolas"/>
              </a:rPr>
              <a:t>src/validate.js</a:t>
            </a:r>
            <a:r>
              <a:rPr sz="1100" b="1" i="0">
                <a:solidFill>
                  <a:srgbClr val="141B2E"/>
                </a:solidFill>
                <a:latin typeface="Arial"/>
              </a:rPr>
              <a:t>. There is nobody to ask.</a:t>
            </a:r>
          </a:p>
        </p:txBody>
      </p:sp>
      <p:sp>
        <p:nvSpPr>
          <p:cNvPr id="7" name="Rounded Rectangle 6"/>
          <p:cNvSpPr/>
          <p:nvPr/>
        </p:nvSpPr>
        <p:spPr>
          <a:xfrm>
            <a:off x="502920" y="2228343"/>
            <a:ext cx="11183112" cy="1250061"/>
          </a:xfrm>
          <a:prstGeom prst="roundRect">
            <a:avLst>
              <a:gd name="adj" fmla="val 24382"/>
            </a:avLst>
          </a:prstGeom>
          <a:solidFill>
            <a:srgbClr val="F4F7FA"/>
          </a:solidFill>
          <a:ln w="15240">
            <a:solidFill>
              <a:srgbClr val="E5EA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758952" y="2532698"/>
            <a:ext cx="100584" cy="100584"/>
          </a:xfrm>
          <a:prstGeom prst="roundRect">
            <a:avLst>
              <a:gd name="adj" fmla="val 50000"/>
            </a:avLst>
          </a:prstGeom>
          <a:solidFill>
            <a:srgbClr val="0280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106424" y="2447799"/>
            <a:ext cx="10360152" cy="270383"/>
          </a:xfrm>
          <a:prstGeom prst="rect">
            <a:avLst/>
          </a:prstGeom>
          <a:noFill/>
        </p:spPr>
        <p:txBody>
          <a:bodyPr wrap="square" lIns="0" rIns="0" tIns="0" bIns="0" anchor="ctr">
            <a:spAutoFit/>
          </a:bodyPr>
          <a:lstStyle/>
          <a:p>
            <a:pPr algn="l">
              <a:lnSpc>
                <a:spcPts val="1121"/>
              </a:lnSpc>
              <a:spcAft>
                <a:spcPts val="0"/>
              </a:spcAft>
            </a:pPr>
            <a:r>
              <a:rPr sz="950" b="1" i="0">
                <a:solidFill>
                  <a:srgbClr val="141B2E"/>
                </a:solidFill>
                <a:latin typeface="Arial"/>
              </a:rPr>
              <a:t>Move 1.</a:t>
            </a:r>
            <a:r>
              <a:rPr sz="950" b="0" i="0">
                <a:solidFill>
                  <a:srgbClr val="141B2E"/>
                </a:solidFill>
                <a:latin typeface="Arial"/>
              </a:rPr>
              <a:t> Write out what pieces this task consists of.</a:t>
            </a:r>
          </a:p>
        </p:txBody>
      </p:sp>
      <p:sp>
        <p:nvSpPr>
          <p:cNvPr id="10" name="Rounded Rectangle 9"/>
          <p:cNvSpPr/>
          <p:nvPr/>
        </p:nvSpPr>
        <p:spPr>
          <a:xfrm>
            <a:off x="758952" y="2803081"/>
            <a:ext cx="100584" cy="100584"/>
          </a:xfrm>
          <a:prstGeom prst="roundRect">
            <a:avLst>
              <a:gd name="adj" fmla="val 50000"/>
            </a:avLst>
          </a:prstGeom>
          <a:solidFill>
            <a:srgbClr val="0280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106424" y="2718182"/>
            <a:ext cx="10360152" cy="270383"/>
          </a:xfrm>
          <a:prstGeom prst="rect">
            <a:avLst/>
          </a:prstGeom>
          <a:noFill/>
        </p:spPr>
        <p:txBody>
          <a:bodyPr wrap="square" lIns="0" rIns="0" tIns="0" bIns="0" anchor="ctr">
            <a:spAutoFit/>
          </a:bodyPr>
          <a:lstStyle/>
          <a:p>
            <a:pPr algn="l">
              <a:lnSpc>
                <a:spcPts val="1121"/>
              </a:lnSpc>
              <a:spcAft>
                <a:spcPts val="0"/>
              </a:spcAft>
            </a:pPr>
            <a:r>
              <a:rPr sz="950" b="1" i="0">
                <a:solidFill>
                  <a:srgbClr val="141B2E"/>
                </a:solidFill>
                <a:latin typeface="Arial"/>
              </a:rPr>
              <a:t>Move 2.</a:t>
            </a:r>
            <a:r>
              <a:rPr sz="950" b="0" i="0">
                <a:solidFill>
                  <a:srgbClr val="141B2E"/>
                </a:solidFill>
                <a:latin typeface="Arial"/>
              </a:rPr>
              <a:t> For each one answer: does it need another one's result, does it reach into the same file, does it repeat after all the others.</a:t>
            </a:r>
          </a:p>
        </p:txBody>
      </p:sp>
      <p:sp>
        <p:nvSpPr>
          <p:cNvPr id="12" name="Rounded Rectangle 11"/>
          <p:cNvSpPr/>
          <p:nvPr/>
        </p:nvSpPr>
        <p:spPr>
          <a:xfrm>
            <a:off x="758952" y="3073464"/>
            <a:ext cx="100584" cy="100584"/>
          </a:xfrm>
          <a:prstGeom prst="roundRect">
            <a:avLst>
              <a:gd name="adj" fmla="val 50000"/>
            </a:avLst>
          </a:prstGeom>
          <a:solidFill>
            <a:srgbClr val="0280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106424" y="2988565"/>
            <a:ext cx="10360152" cy="270383"/>
          </a:xfrm>
          <a:prstGeom prst="rect">
            <a:avLst/>
          </a:prstGeom>
          <a:noFill/>
        </p:spPr>
        <p:txBody>
          <a:bodyPr wrap="square" lIns="0" rIns="0" tIns="0" bIns="0" anchor="ctr">
            <a:spAutoFit/>
          </a:bodyPr>
          <a:lstStyle/>
          <a:p>
            <a:pPr algn="l">
              <a:lnSpc>
                <a:spcPts val="1121"/>
              </a:lnSpc>
              <a:spcAft>
                <a:spcPts val="0"/>
              </a:spcAft>
            </a:pPr>
            <a:r>
              <a:rPr sz="950" b="1" i="0">
                <a:solidFill>
                  <a:srgbClr val="141B2E"/>
                </a:solidFill>
                <a:latin typeface="Arial"/>
              </a:rPr>
              <a:t>And in one line</a:t>
            </a:r>
            <a:r>
              <a:rPr sz="950" b="0" i="0">
                <a:solidFill>
                  <a:srgbClr val="141B2E"/>
                </a:solidFill>
                <a:latin typeface="Arial"/>
              </a:rPr>
              <a:t> — how many workers you would set up for these pieces.</a:t>
            </a:r>
          </a:p>
        </p:txBody>
      </p:sp>
      <p:sp>
        <p:nvSpPr>
          <p:cNvPr id="14" name="Rounded Rectangle 13"/>
          <p:cNvSpPr/>
          <p:nvPr/>
        </p:nvSpPr>
        <p:spPr>
          <a:xfrm>
            <a:off x="502920" y="3642996"/>
            <a:ext cx="11183112" cy="2052955"/>
          </a:xfrm>
          <a:prstGeom prst="roundRect">
            <a:avLst>
              <a:gd name="adj" fmla="val 14846"/>
            </a:avLst>
          </a:prstGeom>
          <a:solidFill>
            <a:srgbClr val="FFFFFF"/>
          </a:solidFill>
          <a:ln w="1778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30936" y="3771012"/>
            <a:ext cx="4683451" cy="282067"/>
          </a:xfrm>
          <a:prstGeom prst="rect">
            <a:avLst/>
          </a:prstGeom>
          <a:noFill/>
        </p:spPr>
        <p:txBody>
          <a:bodyPr wrap="square" lIns="0" rIns="0" tIns="0" bIns="0" anchor="t">
            <a:spAutoFit/>
          </a:bodyPr>
          <a:lstStyle/>
          <a:p>
            <a:pPr algn="l">
              <a:lnSpc>
                <a:spcPts val="1265"/>
              </a:lnSpc>
              <a:spcAft>
                <a:spcPts val="0"/>
              </a:spcAft>
            </a:pPr>
            <a:r>
              <a:rPr sz="1150" b="1" i="0">
                <a:solidFill>
                  <a:srgbClr val="6B7685"/>
                </a:solidFill>
                <a:latin typeface="Arial"/>
              </a:rPr>
              <a:t>MOVE 1 · WHAT SITS IN THE TASK</a:t>
            </a:r>
          </a:p>
        </p:txBody>
      </p:sp>
      <p:sp>
        <p:nvSpPr>
          <p:cNvPr id="16" name="TextBox 15"/>
          <p:cNvSpPr txBox="1"/>
          <p:nvPr/>
        </p:nvSpPr>
        <p:spPr>
          <a:xfrm>
            <a:off x="5460691" y="3771012"/>
            <a:ext cx="5951020" cy="282067"/>
          </a:xfrm>
          <a:prstGeom prst="rect">
            <a:avLst/>
          </a:prstGeom>
          <a:noFill/>
        </p:spPr>
        <p:txBody>
          <a:bodyPr wrap="square" lIns="0" rIns="0" tIns="0" bIns="0" anchor="t">
            <a:spAutoFit/>
          </a:bodyPr>
          <a:lstStyle/>
          <a:p>
            <a:pPr algn="l">
              <a:lnSpc>
                <a:spcPts val="1265"/>
              </a:lnSpc>
              <a:spcAft>
                <a:spcPts val="0"/>
              </a:spcAft>
            </a:pPr>
            <a:r>
              <a:rPr sz="1150" b="1" i="0">
                <a:solidFill>
                  <a:srgbClr val="6B7685"/>
                </a:solidFill>
                <a:latin typeface="Arial"/>
              </a:rPr>
              <a:t>MOVE 2 · WHAT IT DEPENDS ON</a:t>
            </a:r>
          </a:p>
        </p:txBody>
      </p:sp>
      <p:sp>
        <p:nvSpPr>
          <p:cNvPr id="17" name="TextBox 16"/>
          <p:cNvSpPr txBox="1"/>
          <p:nvPr/>
        </p:nvSpPr>
        <p:spPr>
          <a:xfrm>
            <a:off x="630936" y="4053079"/>
            <a:ext cx="4683451" cy="252476"/>
          </a:xfrm>
          <a:prstGeom prst="rect">
            <a:avLst/>
          </a:prstGeom>
          <a:noFill/>
        </p:spPr>
        <p:txBody>
          <a:bodyPr wrap="square" lIns="0" rIns="0" tIns="0" bIns="0" anchor="ctr">
            <a:spAutoFit/>
          </a:bodyPr>
          <a:lstStyle/>
          <a:p>
            <a:pPr algn="l">
              <a:lnSpc>
                <a:spcPts val="1196"/>
              </a:lnSpc>
              <a:spcAft>
                <a:spcPts val="0"/>
              </a:spcAft>
            </a:pPr>
            <a:r>
              <a:rPr sz="1150" b="0" i="0">
                <a:solidFill>
                  <a:srgbClr val="141B2E"/>
                </a:solidFill>
                <a:latin typeface="Arial"/>
              </a:rPr>
              <a:t>the "phone" field and its format check</a:t>
            </a:r>
          </a:p>
        </p:txBody>
      </p:sp>
      <p:sp>
        <p:nvSpPr>
          <p:cNvPr id="18" name="TextBox 17"/>
          <p:cNvSpPr txBox="1"/>
          <p:nvPr/>
        </p:nvSpPr>
        <p:spPr>
          <a:xfrm>
            <a:off x="5460691" y="4053079"/>
            <a:ext cx="5951020" cy="252476"/>
          </a:xfrm>
          <a:prstGeom prst="rect">
            <a:avLst/>
          </a:prstGeom>
          <a:noFill/>
        </p:spPr>
        <p:txBody>
          <a:bodyPr wrap="square" lIns="0" rIns="0" tIns="0" bIns="0" anchor="ctr">
            <a:spAutoFit/>
          </a:bodyPr>
          <a:lstStyle/>
          <a:p>
            <a:pPr algn="l">
              <a:lnSpc>
                <a:spcPts val="1196"/>
              </a:lnSpc>
              <a:spcAft>
                <a:spcPts val="0"/>
              </a:spcAft>
            </a:pPr>
            <a:r>
              <a:rPr sz="1150" b="0" i="0">
                <a:solidFill>
                  <a:srgbClr val="141B2E"/>
                </a:solidFill>
                <a:latin typeface="Arial"/>
              </a:rPr>
              <a:t>on nothing</a:t>
            </a:r>
          </a:p>
        </p:txBody>
      </p:sp>
      <p:cxnSp>
        <p:nvCxnSpPr>
          <p:cNvPr id="19" name="Connector 18"/>
          <p:cNvCxnSpPr/>
          <p:nvPr/>
        </p:nvCxnSpPr>
        <p:spPr>
          <a:xfrm>
            <a:off x="630936" y="4305555"/>
            <a:ext cx="10927080" cy="0"/>
          </a:xfrm>
          <a:prstGeom prst="line">
            <a:avLst/>
          </a:prstGeom>
          <a:ln w="9525">
            <a:solidFill>
              <a:srgbClr val="E5EAF0"/>
            </a:solidFill>
          </a:ln>
        </p:spPr>
        <p:style>
          <a:lnRef idx="2">
            <a:schemeClr val="accent1"/>
          </a:lnRef>
          <a:fillRef idx="0">
            <a:schemeClr val="accent1"/>
          </a:fillRef>
          <a:effectRef idx="1">
            <a:schemeClr val="accent1"/>
          </a:effectRef>
          <a:fontRef idx="minor">
            <a:schemeClr val="tx1"/>
          </a:fontRef>
        </p:style>
      </p:cxnSp>
      <p:sp>
        <p:nvSpPr>
          <p:cNvPr id="20" name="TextBox 19"/>
          <p:cNvSpPr txBox="1"/>
          <p:nvPr/>
        </p:nvSpPr>
        <p:spPr>
          <a:xfrm>
            <a:off x="630936" y="4305555"/>
            <a:ext cx="4683451" cy="252476"/>
          </a:xfrm>
          <a:prstGeom prst="rect">
            <a:avLst/>
          </a:prstGeom>
          <a:noFill/>
        </p:spPr>
        <p:txBody>
          <a:bodyPr wrap="square" lIns="0" rIns="0" tIns="0" bIns="0" anchor="ctr">
            <a:spAutoFit/>
          </a:bodyPr>
          <a:lstStyle/>
          <a:p>
            <a:pPr algn="l">
              <a:lnSpc>
                <a:spcPts val="1196"/>
              </a:lnSpc>
              <a:spcAft>
                <a:spcPts val="0"/>
              </a:spcAft>
            </a:pPr>
            <a:r>
              <a:rPr sz="1150" b="0" i="0">
                <a:solidFill>
                  <a:srgbClr val="141B2E"/>
                </a:solidFill>
                <a:latin typeface="Arial"/>
              </a:rPr>
              <a:t>the error messages — brought to one form</a:t>
            </a:r>
          </a:p>
        </p:txBody>
      </p:sp>
      <p:sp>
        <p:nvSpPr>
          <p:cNvPr id="21" name="TextBox 20"/>
          <p:cNvSpPr txBox="1"/>
          <p:nvPr/>
        </p:nvSpPr>
        <p:spPr>
          <a:xfrm>
            <a:off x="5460691" y="4305555"/>
            <a:ext cx="5951020" cy="252476"/>
          </a:xfrm>
          <a:prstGeom prst="rect">
            <a:avLst/>
          </a:prstGeom>
          <a:noFill/>
        </p:spPr>
        <p:txBody>
          <a:bodyPr wrap="square" lIns="0" rIns="0" tIns="0" bIns="0" anchor="ctr">
            <a:spAutoFit/>
          </a:bodyPr>
          <a:lstStyle/>
          <a:p>
            <a:pPr algn="l">
              <a:lnSpc>
                <a:spcPts val="1196"/>
              </a:lnSpc>
              <a:spcAft>
                <a:spcPts val="0"/>
              </a:spcAft>
            </a:pPr>
            <a:r>
              <a:rPr sz="1150" b="0" i="0">
                <a:solidFill>
                  <a:srgbClr val="141B2E"/>
                </a:solidFill>
                <a:latin typeface="Arial"/>
              </a:rPr>
              <a:t>the same file as the field: </a:t>
            </a:r>
            <a:r>
              <a:rPr sz="1150" b="0" i="0">
                <a:solidFill>
                  <a:srgbClr val="141B2E"/>
                </a:solidFill>
                <a:latin typeface="Consolas"/>
              </a:rPr>
              <a:t>src/validate.js</a:t>
            </a:r>
          </a:p>
        </p:txBody>
      </p:sp>
      <p:cxnSp>
        <p:nvCxnSpPr>
          <p:cNvPr id="22" name="Connector 21"/>
          <p:cNvCxnSpPr/>
          <p:nvPr/>
        </p:nvCxnSpPr>
        <p:spPr>
          <a:xfrm>
            <a:off x="630936" y="4558031"/>
            <a:ext cx="10927080" cy="0"/>
          </a:xfrm>
          <a:prstGeom prst="line">
            <a:avLst/>
          </a:prstGeom>
          <a:ln w="9525">
            <a:solidFill>
              <a:srgbClr val="E5EAF0"/>
            </a:solidFill>
          </a:ln>
        </p:spPr>
        <p:style>
          <a:lnRef idx="2">
            <a:schemeClr val="accent1"/>
          </a:lnRef>
          <a:fillRef idx="0">
            <a:schemeClr val="accent1"/>
          </a:fillRef>
          <a:effectRef idx="1">
            <a:schemeClr val="accent1"/>
          </a:effectRef>
          <a:fontRef idx="minor">
            <a:schemeClr val="tx1"/>
          </a:fontRef>
        </p:style>
      </p:cxnSp>
      <p:sp>
        <p:nvSpPr>
          <p:cNvPr id="23" name="TextBox 22"/>
          <p:cNvSpPr txBox="1"/>
          <p:nvPr/>
        </p:nvSpPr>
        <p:spPr>
          <a:xfrm>
            <a:off x="630936" y="4558031"/>
            <a:ext cx="4683451" cy="252476"/>
          </a:xfrm>
          <a:prstGeom prst="rect">
            <a:avLst/>
          </a:prstGeom>
          <a:noFill/>
        </p:spPr>
        <p:txBody>
          <a:bodyPr wrap="square" lIns="0" rIns="0" tIns="0" bIns="0" anchor="ctr">
            <a:spAutoFit/>
          </a:bodyPr>
          <a:lstStyle/>
          <a:p>
            <a:pPr algn="l">
              <a:lnSpc>
                <a:spcPts val="1196"/>
              </a:lnSpc>
              <a:spcAft>
                <a:spcPts val="0"/>
              </a:spcAft>
            </a:pPr>
            <a:r>
              <a:rPr sz="1150" b="0" i="0">
                <a:solidFill>
                  <a:srgbClr val="141B2E"/>
                </a:solidFill>
                <a:latin typeface="Arial"/>
              </a:rPr>
              <a:t>the text of the data-processing consent</a:t>
            </a:r>
          </a:p>
        </p:txBody>
      </p:sp>
      <p:sp>
        <p:nvSpPr>
          <p:cNvPr id="24" name="TextBox 23"/>
          <p:cNvSpPr txBox="1"/>
          <p:nvPr/>
        </p:nvSpPr>
        <p:spPr>
          <a:xfrm>
            <a:off x="5460691" y="4558031"/>
            <a:ext cx="5951020" cy="252476"/>
          </a:xfrm>
          <a:prstGeom prst="rect">
            <a:avLst/>
          </a:prstGeom>
          <a:noFill/>
        </p:spPr>
        <p:txBody>
          <a:bodyPr wrap="square" lIns="0" rIns="0" tIns="0" bIns="0" anchor="ctr">
            <a:spAutoFit/>
          </a:bodyPr>
          <a:lstStyle/>
          <a:p>
            <a:pPr algn="l">
              <a:lnSpc>
                <a:spcPts val="1196"/>
              </a:lnSpc>
              <a:spcAft>
                <a:spcPts val="0"/>
              </a:spcAft>
            </a:pPr>
            <a:r>
              <a:rPr sz="1150" b="0" i="0">
                <a:solidFill>
                  <a:srgbClr val="141B2E"/>
                </a:solidFill>
                <a:latin typeface="Arial"/>
              </a:rPr>
              <a:t>on nothing</a:t>
            </a:r>
          </a:p>
        </p:txBody>
      </p:sp>
      <p:cxnSp>
        <p:nvCxnSpPr>
          <p:cNvPr id="25" name="Connector 24"/>
          <p:cNvCxnSpPr/>
          <p:nvPr/>
        </p:nvCxnSpPr>
        <p:spPr>
          <a:xfrm>
            <a:off x="630936" y="4810507"/>
            <a:ext cx="10927080" cy="0"/>
          </a:xfrm>
          <a:prstGeom prst="line">
            <a:avLst/>
          </a:prstGeom>
          <a:ln w="9525">
            <a:solidFill>
              <a:srgbClr val="E5EAF0"/>
            </a:solidFill>
          </a:ln>
        </p:spPr>
        <p:style>
          <a:lnRef idx="2">
            <a:schemeClr val="accent1"/>
          </a:lnRef>
          <a:fillRef idx="0">
            <a:schemeClr val="accent1"/>
          </a:fillRef>
          <a:effectRef idx="1">
            <a:schemeClr val="accent1"/>
          </a:effectRef>
          <a:fontRef idx="minor">
            <a:schemeClr val="tx1"/>
          </a:fontRef>
        </p:style>
      </p:cxnSp>
      <p:sp>
        <p:nvSpPr>
          <p:cNvPr id="26" name="TextBox 25"/>
          <p:cNvSpPr txBox="1"/>
          <p:nvPr/>
        </p:nvSpPr>
        <p:spPr>
          <a:xfrm>
            <a:off x="630936" y="4810507"/>
            <a:ext cx="4683451" cy="252476"/>
          </a:xfrm>
          <a:prstGeom prst="rect">
            <a:avLst/>
          </a:prstGeom>
          <a:noFill/>
        </p:spPr>
        <p:txBody>
          <a:bodyPr wrap="square" lIns="0" rIns="0" tIns="0" bIns="0" anchor="ctr">
            <a:spAutoFit/>
          </a:bodyPr>
          <a:lstStyle/>
          <a:p>
            <a:pPr algn="l">
              <a:lnSpc>
                <a:spcPts val="1196"/>
              </a:lnSpc>
              <a:spcAft>
                <a:spcPts val="0"/>
              </a:spcAft>
            </a:pPr>
            <a:r>
              <a:rPr sz="1150" b="0" i="0">
                <a:solidFill>
                  <a:srgbClr val="141B2E"/>
                </a:solidFill>
                <a:latin typeface="Arial"/>
              </a:rPr>
              <a:t>checking the form on a narrow screen</a:t>
            </a:r>
          </a:p>
        </p:txBody>
      </p:sp>
      <p:sp>
        <p:nvSpPr>
          <p:cNvPr id="27" name="TextBox 26"/>
          <p:cNvSpPr txBox="1"/>
          <p:nvPr/>
        </p:nvSpPr>
        <p:spPr>
          <a:xfrm>
            <a:off x="5460691" y="4810507"/>
            <a:ext cx="5951020" cy="252476"/>
          </a:xfrm>
          <a:prstGeom prst="rect">
            <a:avLst/>
          </a:prstGeom>
          <a:noFill/>
        </p:spPr>
        <p:txBody>
          <a:bodyPr wrap="square" lIns="0" rIns="0" tIns="0" bIns="0" anchor="ctr">
            <a:spAutoFit/>
          </a:bodyPr>
          <a:lstStyle/>
          <a:p>
            <a:pPr algn="l">
              <a:lnSpc>
                <a:spcPts val="1196"/>
              </a:lnSpc>
              <a:spcAft>
                <a:spcPts val="0"/>
              </a:spcAft>
            </a:pPr>
            <a:r>
              <a:rPr sz="1150" b="0" i="0">
                <a:solidFill>
                  <a:srgbClr val="141B2E"/>
                </a:solidFill>
                <a:latin typeface="Arial"/>
              </a:rPr>
              <a:t>after the field: until the field exists there is nothing to check</a:t>
            </a:r>
          </a:p>
        </p:txBody>
      </p:sp>
      <p:cxnSp>
        <p:nvCxnSpPr>
          <p:cNvPr id="28" name="Connector 27"/>
          <p:cNvCxnSpPr/>
          <p:nvPr/>
        </p:nvCxnSpPr>
        <p:spPr>
          <a:xfrm>
            <a:off x="630936" y="5062983"/>
            <a:ext cx="10927080" cy="0"/>
          </a:xfrm>
          <a:prstGeom prst="line">
            <a:avLst/>
          </a:prstGeom>
          <a:ln w="9525">
            <a:solidFill>
              <a:srgbClr val="E5EAF0"/>
            </a:solidFill>
          </a:ln>
        </p:spPr>
        <p:style>
          <a:lnRef idx="2">
            <a:schemeClr val="accent1"/>
          </a:lnRef>
          <a:fillRef idx="0">
            <a:schemeClr val="accent1"/>
          </a:fillRef>
          <a:effectRef idx="1">
            <a:schemeClr val="accent1"/>
          </a:effectRef>
          <a:fontRef idx="minor">
            <a:schemeClr val="tx1"/>
          </a:fontRef>
        </p:style>
      </p:cxnSp>
      <p:sp>
        <p:nvSpPr>
          <p:cNvPr id="29" name="TextBox 28"/>
          <p:cNvSpPr txBox="1"/>
          <p:nvPr/>
        </p:nvSpPr>
        <p:spPr>
          <a:xfrm>
            <a:off x="630936" y="5062983"/>
            <a:ext cx="4683451" cy="252476"/>
          </a:xfrm>
          <a:prstGeom prst="rect">
            <a:avLst/>
          </a:prstGeom>
          <a:noFill/>
        </p:spPr>
        <p:txBody>
          <a:bodyPr wrap="square" lIns="0" rIns="0" tIns="0" bIns="0" anchor="ctr">
            <a:spAutoFit/>
          </a:bodyPr>
          <a:lstStyle/>
          <a:p>
            <a:pPr algn="l">
              <a:lnSpc>
                <a:spcPts val="1196"/>
              </a:lnSpc>
              <a:spcAft>
                <a:spcPts val="0"/>
              </a:spcAft>
            </a:pPr>
            <a:r>
              <a:rPr sz="1150" b="0" i="0">
                <a:solidFill>
                  <a:srgbClr val="141B2E"/>
                </a:solidFill>
                <a:latin typeface="Arial"/>
              </a:rPr>
              <a:t>the pre-release run: branch, tests, build</a:t>
            </a:r>
          </a:p>
        </p:txBody>
      </p:sp>
      <p:sp>
        <p:nvSpPr>
          <p:cNvPr id="30" name="TextBox 29"/>
          <p:cNvSpPr txBox="1"/>
          <p:nvPr/>
        </p:nvSpPr>
        <p:spPr>
          <a:xfrm>
            <a:off x="5460691" y="5062983"/>
            <a:ext cx="5951020" cy="252476"/>
          </a:xfrm>
          <a:prstGeom prst="rect">
            <a:avLst/>
          </a:prstGeom>
          <a:noFill/>
        </p:spPr>
        <p:txBody>
          <a:bodyPr wrap="square" lIns="0" rIns="0" tIns="0" bIns="0" anchor="ctr">
            <a:spAutoFit/>
          </a:bodyPr>
          <a:lstStyle/>
          <a:p>
            <a:pPr algn="l">
              <a:lnSpc>
                <a:spcPts val="1196"/>
              </a:lnSpc>
              <a:spcAft>
                <a:spcPts val="0"/>
              </a:spcAft>
            </a:pPr>
            <a:r>
              <a:rPr sz="1150" b="0" i="0">
                <a:solidFill>
                  <a:srgbClr val="141B2E"/>
                </a:solidFill>
                <a:latin typeface="Arial"/>
              </a:rPr>
              <a:t>on nothing, and it repeats after every one of the others</a:t>
            </a:r>
          </a:p>
        </p:txBody>
      </p:sp>
      <p:cxnSp>
        <p:nvCxnSpPr>
          <p:cNvPr id="31" name="Connector 30"/>
          <p:cNvCxnSpPr/>
          <p:nvPr/>
        </p:nvCxnSpPr>
        <p:spPr>
          <a:xfrm>
            <a:off x="630936" y="5315459"/>
            <a:ext cx="10927080" cy="0"/>
          </a:xfrm>
          <a:prstGeom prst="line">
            <a:avLst/>
          </a:prstGeom>
          <a:ln w="9525">
            <a:solidFill>
              <a:srgbClr val="E5EAF0"/>
            </a:solidFill>
          </a:ln>
        </p:spPr>
        <p:style>
          <a:lnRef idx="2">
            <a:schemeClr val="accent1"/>
          </a:lnRef>
          <a:fillRef idx="0">
            <a:schemeClr val="accent1"/>
          </a:fillRef>
          <a:effectRef idx="1">
            <a:schemeClr val="accent1"/>
          </a:effectRef>
          <a:fontRef idx="minor">
            <a:schemeClr val="tx1"/>
          </a:fontRef>
        </p:style>
      </p:cxnSp>
      <p:sp>
        <p:nvSpPr>
          <p:cNvPr id="32" name="TextBox 31"/>
          <p:cNvSpPr txBox="1"/>
          <p:nvPr/>
        </p:nvSpPr>
        <p:spPr>
          <a:xfrm>
            <a:off x="630936" y="5315459"/>
            <a:ext cx="4683451" cy="252476"/>
          </a:xfrm>
          <a:prstGeom prst="rect">
            <a:avLst/>
          </a:prstGeom>
          <a:noFill/>
        </p:spPr>
        <p:txBody>
          <a:bodyPr wrap="square" lIns="0" rIns="0" tIns="0" bIns="0" anchor="ctr">
            <a:spAutoFit/>
          </a:bodyPr>
          <a:lstStyle/>
          <a:p>
            <a:pPr algn="l">
              <a:lnSpc>
                <a:spcPts val="1196"/>
              </a:lnSpc>
              <a:spcAft>
                <a:spcPts val="0"/>
              </a:spcAft>
            </a:pPr>
            <a:r>
              <a:rPr sz="1150" b="0" i="0">
                <a:solidFill>
                  <a:srgbClr val="141B2E"/>
                </a:solidFill>
                <a:latin typeface="Arial"/>
              </a:rPr>
              <a:t>the confirmation email to the applicant</a:t>
            </a:r>
          </a:p>
        </p:txBody>
      </p:sp>
      <p:sp>
        <p:nvSpPr>
          <p:cNvPr id="33" name="TextBox 32"/>
          <p:cNvSpPr txBox="1"/>
          <p:nvPr/>
        </p:nvSpPr>
        <p:spPr>
          <a:xfrm>
            <a:off x="5460691" y="5315459"/>
            <a:ext cx="5951020" cy="252476"/>
          </a:xfrm>
          <a:prstGeom prst="rect">
            <a:avLst/>
          </a:prstGeom>
          <a:noFill/>
        </p:spPr>
        <p:txBody>
          <a:bodyPr wrap="square" lIns="0" rIns="0" tIns="0" bIns="0" anchor="ctr">
            <a:spAutoFit/>
          </a:bodyPr>
          <a:lstStyle/>
          <a:p>
            <a:pPr algn="l">
              <a:lnSpc>
                <a:spcPts val="1196"/>
              </a:lnSpc>
              <a:spcAft>
                <a:spcPts val="0"/>
              </a:spcAft>
            </a:pPr>
            <a:r>
              <a:rPr sz="1150" b="0" i="0">
                <a:solidFill>
                  <a:srgbClr val="141B2E"/>
                </a:solidFill>
                <a:latin typeface="Arial"/>
              </a:rPr>
              <a:t>on nothing, and it does not touch the code</a:t>
            </a:r>
          </a:p>
        </p:txBody>
      </p:sp>
      <p:sp>
        <p:nvSpPr>
          <p:cNvPr id="34" name="Rounded Rectangle 33"/>
          <p:cNvSpPr/>
          <p:nvPr/>
        </p:nvSpPr>
        <p:spPr>
          <a:xfrm>
            <a:off x="502920" y="5860543"/>
            <a:ext cx="82296" cy="455422"/>
          </a:xfrm>
          <a:prstGeom prst="roundRect">
            <a:avLst>
              <a:gd name="adj" fmla="val 50000"/>
            </a:avLst>
          </a:prstGeom>
          <a:solidFill>
            <a:srgbClr val="F0AB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859536" y="5988559"/>
            <a:ext cx="10643616" cy="199389"/>
          </a:xfrm>
          <a:prstGeom prst="rect">
            <a:avLst/>
          </a:prstGeom>
          <a:noFill/>
        </p:spPr>
        <p:txBody>
          <a:bodyPr wrap="square" lIns="0" rIns="0" tIns="0" bIns="0" anchor="ctr">
            <a:spAutoFit/>
          </a:bodyPr>
          <a:lstStyle/>
          <a:p>
            <a:pPr algn="l">
              <a:lnSpc>
                <a:spcPts val="1426"/>
              </a:lnSpc>
              <a:spcAft>
                <a:spcPts val="300"/>
              </a:spcAft>
            </a:pPr>
            <a:r>
              <a:rPr sz="1150" b="1" i="0">
                <a:solidFill>
                  <a:srgbClr val="141B2E"/>
                </a:solidFill>
                <a:latin typeface="Arial"/>
              </a:rPr>
              <a:t>Independent pieces — three out of six.</a:t>
            </a:r>
            <a:r>
              <a:rPr sz="1150" b="1" i="0">
                <a:solidFill>
                  <a:srgbClr val="141B2E"/>
                </a:solidFill>
                <a:latin typeface="Arial"/>
              </a:rPr>
              <a:t> One waits for the field. One reaches into the same file. One repeats after every one of the others.</a:t>
            </a:r>
          </a:p>
        </p:txBody>
      </p:sp>
      <p:sp>
        <p:nvSpPr>
          <p:cNvPr id="36" name="TextBox 35"/>
          <p:cNvSpPr txBox="1"/>
          <p:nvPr/>
        </p:nvSpPr>
        <p:spPr>
          <a:xfrm>
            <a:off x="10957255" y="6437376"/>
            <a:ext cx="914400" cy="274320"/>
          </a:xfrm>
          <a:prstGeom prst="rect">
            <a:avLst/>
          </a:prstGeom>
          <a:noFill/>
        </p:spPr>
        <p:txBody>
          <a:bodyPr wrap="square" lIns="0" rIns="0" tIns="0" bIns="0" anchor="t">
            <a:spAutoFit/>
          </a:bodyPr>
          <a:lstStyle/>
          <a:p>
            <a:pPr algn="r">
              <a:lnSpc>
                <a:spcPts val="1238"/>
              </a:lnSpc>
              <a:spcAft>
                <a:spcPts val="0"/>
              </a:spcAft>
            </a:pPr>
            <a:r>
              <a:rPr sz="1050" b="0" i="0">
                <a:solidFill>
                  <a:srgbClr val="6B7685"/>
                </a:solidFill>
                <a:latin typeface="Arial"/>
              </a:rPr>
              <a:t>39</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02920" y="310896"/>
            <a:ext cx="11183112" cy="431291"/>
          </a:xfrm>
          <a:prstGeom prst="rect">
            <a:avLst/>
          </a:prstGeom>
          <a:noFill/>
        </p:spPr>
        <p:txBody>
          <a:bodyPr wrap="square" lIns="0" rIns="0" tIns="0" bIns="0" anchor="t">
            <a:spAutoFit/>
          </a:bodyPr>
          <a:lstStyle/>
          <a:p>
            <a:pPr algn="l">
              <a:lnSpc>
                <a:spcPts val="2963"/>
              </a:lnSpc>
              <a:spcAft>
                <a:spcPts val="0"/>
              </a:spcAft>
            </a:pPr>
            <a:r>
              <a:rPr sz="2600" b="1" i="0">
                <a:solidFill>
                  <a:srgbClr val="141B2E"/>
                </a:solidFill>
                <a:latin typeface="Arial"/>
              </a:rPr>
              <a:t>What do we speed it up with?</a:t>
            </a:r>
          </a:p>
        </p:txBody>
      </p:sp>
      <p:sp>
        <p:nvSpPr>
          <p:cNvPr id="3" name="Rounded Rectangle 2"/>
          <p:cNvSpPr/>
          <p:nvPr/>
        </p:nvSpPr>
        <p:spPr>
          <a:xfrm>
            <a:off x="502920" y="1484071"/>
            <a:ext cx="11183112" cy="822960"/>
          </a:xfrm>
          <a:prstGeom prst="roundRect">
            <a:avLst>
              <a:gd name="adj" fmla="val 10000"/>
            </a:avLst>
          </a:prstGeom>
          <a:solidFill>
            <a:srgbClr val="FEF5E0"/>
          </a:solidFill>
          <a:ln w="19050">
            <a:solidFill>
              <a:srgbClr val="F0AB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22376" y="1612087"/>
            <a:ext cx="10634472" cy="566928"/>
          </a:xfrm>
          <a:prstGeom prst="rect">
            <a:avLst/>
          </a:prstGeom>
          <a:noFill/>
        </p:spPr>
        <p:txBody>
          <a:bodyPr wrap="square" lIns="0" rIns="0" tIns="0" bIns="0" anchor="ctr">
            <a:spAutoFit/>
          </a:bodyPr>
          <a:lstStyle/>
          <a:p>
            <a:pPr algn="ctr">
              <a:lnSpc>
                <a:spcPts val="2013"/>
              </a:lnSpc>
              <a:spcAft>
                <a:spcPts val="300"/>
              </a:spcAft>
            </a:pPr>
            <a:r>
              <a:rPr sz="1650" b="1" i="0">
                <a:solidFill>
                  <a:srgbClr val="141B2E"/>
                </a:solidFill>
                <a:latin typeface="Arial"/>
              </a:rPr>
              <a:t>Who here has already driven a task through all at once rather than one piece at a time? With what exactly — several sessions, subagents, a check that runs itself?</a:t>
            </a:r>
          </a:p>
        </p:txBody>
      </p:sp>
      <p:sp>
        <p:nvSpPr>
          <p:cNvPr id="5" name="Rounded Rectangle 4"/>
          <p:cNvSpPr/>
          <p:nvPr/>
        </p:nvSpPr>
        <p:spPr>
          <a:xfrm>
            <a:off x="502920" y="2974543"/>
            <a:ext cx="11183112" cy="822960"/>
          </a:xfrm>
          <a:prstGeom prst="roundRect">
            <a:avLst>
              <a:gd name="adj" fmla="val 10000"/>
            </a:avLst>
          </a:prstGeom>
          <a:solidFill>
            <a:srgbClr val="FEF5E0"/>
          </a:solidFill>
          <a:ln w="19050">
            <a:solidFill>
              <a:srgbClr val="F0AB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22376" y="3102559"/>
            <a:ext cx="10634472" cy="566928"/>
          </a:xfrm>
          <a:prstGeom prst="rect">
            <a:avLst/>
          </a:prstGeom>
          <a:noFill/>
        </p:spPr>
        <p:txBody>
          <a:bodyPr wrap="square" lIns="0" rIns="0" tIns="0" bIns="0" anchor="ctr">
            <a:spAutoFit/>
          </a:bodyPr>
          <a:lstStyle/>
          <a:p>
            <a:pPr algn="ctr">
              <a:lnSpc>
                <a:spcPts val="2013"/>
              </a:lnSpc>
              <a:spcAft>
                <a:spcPts val="300"/>
              </a:spcAft>
            </a:pPr>
            <a:r>
              <a:rPr sz="1650" b="1" i="0">
                <a:solidFill>
                  <a:srgbClr val="141B2E"/>
                </a:solidFill>
                <a:latin typeface="Arial"/>
              </a:rPr>
              <a:t>Now the same on this task: pick a card — and name the piece your means works on.</a:t>
            </a:r>
          </a:p>
        </p:txBody>
      </p:sp>
      <p:sp>
        <p:nvSpPr>
          <p:cNvPr id="7" name="Rounded Rectangle 6"/>
          <p:cNvSpPr/>
          <p:nvPr/>
        </p:nvSpPr>
        <p:spPr>
          <a:xfrm>
            <a:off x="502920" y="4465015"/>
            <a:ext cx="2119579" cy="1051560"/>
          </a:xfrm>
          <a:prstGeom prst="roundRect">
            <a:avLst>
              <a:gd name="adj" fmla="val 25000"/>
            </a:avLst>
          </a:prstGeom>
          <a:solidFill>
            <a:srgbClr val="F4F7FA"/>
          </a:solidFill>
          <a:ln w="15240">
            <a:solidFill>
              <a:srgbClr val="E5EA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12648" y="4465015"/>
            <a:ext cx="1900123" cy="1051560"/>
          </a:xfrm>
          <a:prstGeom prst="rect">
            <a:avLst/>
          </a:prstGeom>
          <a:noFill/>
        </p:spPr>
        <p:txBody>
          <a:bodyPr wrap="square" lIns="0" rIns="0" tIns="0" bIns="0" anchor="ctr">
            <a:spAutoFit/>
          </a:bodyPr>
          <a:lstStyle/>
          <a:p>
            <a:pPr algn="ctr">
              <a:lnSpc>
                <a:spcPts val="1565"/>
              </a:lnSpc>
              <a:spcAft>
                <a:spcPts val="0"/>
              </a:spcAft>
            </a:pPr>
            <a:r>
              <a:rPr sz="1350" b="1" i="0">
                <a:solidFill>
                  <a:srgbClr val="141B2E"/>
                </a:solidFill>
                <a:latin typeface="Arial"/>
              </a:rPr>
              <a:t>lay it out and do the pieces one at a time</a:t>
            </a:r>
          </a:p>
        </p:txBody>
      </p:sp>
      <p:sp>
        <p:nvSpPr>
          <p:cNvPr id="9" name="Rounded Rectangle 8"/>
          <p:cNvSpPr/>
          <p:nvPr/>
        </p:nvSpPr>
        <p:spPr>
          <a:xfrm>
            <a:off x="2768803" y="4465015"/>
            <a:ext cx="2119579" cy="1051560"/>
          </a:xfrm>
          <a:prstGeom prst="roundRect">
            <a:avLst>
              <a:gd name="adj" fmla="val 25000"/>
            </a:avLst>
          </a:prstGeom>
          <a:solidFill>
            <a:srgbClr val="F4F7FA"/>
          </a:solidFill>
          <a:ln w="15240">
            <a:solidFill>
              <a:srgbClr val="E5EA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878531" y="4465015"/>
            <a:ext cx="1900123" cy="1051560"/>
          </a:xfrm>
          <a:prstGeom prst="rect">
            <a:avLst/>
          </a:prstGeom>
          <a:noFill/>
        </p:spPr>
        <p:txBody>
          <a:bodyPr wrap="square" lIns="0" rIns="0" tIns="0" bIns="0" anchor="ctr">
            <a:spAutoFit/>
          </a:bodyPr>
          <a:lstStyle/>
          <a:p>
            <a:pPr algn="ctr">
              <a:lnSpc>
                <a:spcPts val="1565"/>
              </a:lnSpc>
              <a:spcAft>
                <a:spcPts val="0"/>
              </a:spcAft>
            </a:pPr>
            <a:r>
              <a:rPr sz="1350" b="1" i="0">
                <a:solidFill>
                  <a:srgbClr val="141B2E"/>
                </a:solidFill>
                <a:latin typeface="Arial"/>
              </a:rPr>
              <a:t>run the pieces in several sessions</a:t>
            </a:r>
          </a:p>
        </p:txBody>
      </p:sp>
      <p:sp>
        <p:nvSpPr>
          <p:cNvPr id="11" name="Rounded Rectangle 10"/>
          <p:cNvSpPr/>
          <p:nvPr/>
        </p:nvSpPr>
        <p:spPr>
          <a:xfrm>
            <a:off x="5034686" y="4465015"/>
            <a:ext cx="2119579" cy="1051560"/>
          </a:xfrm>
          <a:prstGeom prst="roundRect">
            <a:avLst>
              <a:gd name="adj" fmla="val 25000"/>
            </a:avLst>
          </a:prstGeom>
          <a:solidFill>
            <a:srgbClr val="F4F7FA"/>
          </a:solidFill>
          <a:ln w="15240">
            <a:solidFill>
              <a:srgbClr val="E5EA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144414" y="4465015"/>
            <a:ext cx="1900123" cy="1051560"/>
          </a:xfrm>
          <a:prstGeom prst="rect">
            <a:avLst/>
          </a:prstGeom>
          <a:noFill/>
        </p:spPr>
        <p:txBody>
          <a:bodyPr wrap="square" lIns="0" rIns="0" tIns="0" bIns="0" anchor="ctr">
            <a:spAutoFit/>
          </a:bodyPr>
          <a:lstStyle/>
          <a:p>
            <a:pPr algn="ctr">
              <a:lnSpc>
                <a:spcPts val="1565"/>
              </a:lnSpc>
              <a:spcAft>
                <a:spcPts val="0"/>
              </a:spcAft>
            </a:pPr>
            <a:r>
              <a:rPr sz="1350" b="1" i="0">
                <a:solidFill>
                  <a:srgbClr val="141B2E"/>
                </a:solidFill>
                <a:latin typeface="Arial"/>
              </a:rPr>
              <a:t>hand the pieces out to subagents and launch them at once</a:t>
            </a:r>
          </a:p>
        </p:txBody>
      </p:sp>
      <p:sp>
        <p:nvSpPr>
          <p:cNvPr id="13" name="Rounded Rectangle 12"/>
          <p:cNvSpPr/>
          <p:nvPr/>
        </p:nvSpPr>
        <p:spPr>
          <a:xfrm>
            <a:off x="7300569" y="4465015"/>
            <a:ext cx="2119579" cy="1051560"/>
          </a:xfrm>
          <a:prstGeom prst="roundRect">
            <a:avLst>
              <a:gd name="adj" fmla="val 25000"/>
            </a:avLst>
          </a:prstGeom>
          <a:solidFill>
            <a:srgbClr val="F4F7FA"/>
          </a:solidFill>
          <a:ln w="15240">
            <a:solidFill>
              <a:srgbClr val="E5EA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410297" y="4465015"/>
            <a:ext cx="1900123" cy="1051560"/>
          </a:xfrm>
          <a:prstGeom prst="rect">
            <a:avLst/>
          </a:prstGeom>
          <a:noFill/>
        </p:spPr>
        <p:txBody>
          <a:bodyPr wrap="square" lIns="0" rIns="0" tIns="0" bIns="0" anchor="ctr">
            <a:spAutoFit/>
          </a:bodyPr>
          <a:lstStyle/>
          <a:p>
            <a:pPr algn="ctr">
              <a:lnSpc>
                <a:spcPts val="1565"/>
              </a:lnSpc>
              <a:spcAft>
                <a:spcPts val="0"/>
              </a:spcAft>
            </a:pPr>
            <a:r>
              <a:rPr sz="1350" b="1" i="0">
                <a:solidFill>
                  <a:srgbClr val="141B2E"/>
                </a:solidFill>
                <a:latin typeface="Arial"/>
              </a:rPr>
              <a:t>move the repeating part into a check that runs itself</a:t>
            </a:r>
          </a:p>
        </p:txBody>
      </p:sp>
      <p:sp>
        <p:nvSpPr>
          <p:cNvPr id="15" name="Rounded Rectangle 14"/>
          <p:cNvSpPr/>
          <p:nvPr/>
        </p:nvSpPr>
        <p:spPr>
          <a:xfrm>
            <a:off x="9566452" y="4465015"/>
            <a:ext cx="2119579" cy="1051560"/>
          </a:xfrm>
          <a:prstGeom prst="roundRect">
            <a:avLst>
              <a:gd name="adj" fmla="val 25000"/>
            </a:avLst>
          </a:prstGeom>
          <a:solidFill>
            <a:srgbClr val="F4F7FA"/>
          </a:solidFill>
          <a:ln w="15240">
            <a:solidFill>
              <a:srgbClr val="E5EA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676180" y="4465015"/>
            <a:ext cx="1900123" cy="1051560"/>
          </a:xfrm>
          <a:prstGeom prst="rect">
            <a:avLst/>
          </a:prstGeom>
          <a:noFill/>
        </p:spPr>
        <p:txBody>
          <a:bodyPr wrap="square" lIns="0" rIns="0" tIns="0" bIns="0" anchor="ctr">
            <a:spAutoFit/>
          </a:bodyPr>
          <a:lstStyle/>
          <a:p>
            <a:pPr algn="ctr">
              <a:lnSpc>
                <a:spcPts val="1565"/>
              </a:lnSpc>
              <a:spcAft>
                <a:spcPts val="0"/>
              </a:spcAft>
            </a:pPr>
            <a:r>
              <a:rPr sz="1350" b="1" i="0">
                <a:solidFill>
                  <a:srgbClr val="141B2E"/>
                </a:solidFill>
                <a:latin typeface="Arial"/>
              </a:rPr>
              <a:t>narrow the task down — not all of it is needed by Monday</a:t>
            </a:r>
          </a:p>
        </p:txBody>
      </p:sp>
      <p:sp>
        <p:nvSpPr>
          <p:cNvPr id="17" name="TextBox 16"/>
          <p:cNvSpPr txBox="1"/>
          <p:nvPr/>
        </p:nvSpPr>
        <p:spPr>
          <a:xfrm>
            <a:off x="10957255" y="6437376"/>
            <a:ext cx="914400" cy="274320"/>
          </a:xfrm>
          <a:prstGeom prst="rect">
            <a:avLst/>
          </a:prstGeom>
          <a:noFill/>
        </p:spPr>
        <p:txBody>
          <a:bodyPr wrap="square" lIns="0" rIns="0" tIns="0" bIns="0" anchor="t">
            <a:spAutoFit/>
          </a:bodyPr>
          <a:lstStyle/>
          <a:p>
            <a:pPr algn="r">
              <a:lnSpc>
                <a:spcPts val="1238"/>
              </a:lnSpc>
              <a:spcAft>
                <a:spcPts val="0"/>
              </a:spcAft>
            </a:pPr>
            <a:r>
              <a:rPr sz="1050" b="0" i="0">
                <a:solidFill>
                  <a:srgbClr val="6B7685"/>
                </a:solidFill>
                <a:latin typeface="Arial"/>
              </a:rPr>
              <a:t>40</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02920" y="310896"/>
            <a:ext cx="11183112" cy="431291"/>
          </a:xfrm>
          <a:prstGeom prst="rect">
            <a:avLst/>
          </a:prstGeom>
          <a:noFill/>
        </p:spPr>
        <p:txBody>
          <a:bodyPr wrap="square" lIns="0" rIns="0" tIns="0" bIns="0" anchor="t">
            <a:spAutoFit/>
          </a:bodyPr>
          <a:lstStyle/>
          <a:p>
            <a:pPr algn="l">
              <a:lnSpc>
                <a:spcPts val="2963"/>
              </a:lnSpc>
              <a:spcAft>
                <a:spcPts val="0"/>
              </a:spcAft>
            </a:pPr>
            <a:r>
              <a:rPr sz="2600" b="1" i="0">
                <a:solidFill>
                  <a:srgbClr val="141B2E"/>
                </a:solidFill>
                <a:latin typeface="Arial"/>
              </a:rPr>
              <a:t>The parallelism lies in the task</a:t>
            </a:r>
          </a:p>
        </p:txBody>
      </p:sp>
      <p:sp>
        <p:nvSpPr>
          <p:cNvPr id="3" name="Rounded Rectangle 2"/>
          <p:cNvSpPr/>
          <p:nvPr/>
        </p:nvSpPr>
        <p:spPr>
          <a:xfrm>
            <a:off x="502920" y="943356"/>
            <a:ext cx="11183112" cy="3749166"/>
          </a:xfrm>
          <a:prstGeom prst="roundRect">
            <a:avLst>
              <a:gd name="adj" fmla="val 8129"/>
            </a:avLst>
          </a:prstGeom>
          <a:solidFill>
            <a:srgbClr val="FFFFFF"/>
          </a:solidFill>
          <a:ln w="1778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85800" y="1126236"/>
            <a:ext cx="1713111" cy="282067"/>
          </a:xfrm>
          <a:prstGeom prst="rect">
            <a:avLst/>
          </a:prstGeom>
          <a:noFill/>
        </p:spPr>
        <p:txBody>
          <a:bodyPr wrap="square" lIns="0" rIns="0" tIns="0" bIns="0" anchor="t">
            <a:spAutoFit/>
          </a:bodyPr>
          <a:lstStyle/>
          <a:p>
            <a:pPr algn="l">
              <a:lnSpc>
                <a:spcPts val="1265"/>
              </a:lnSpc>
              <a:spcAft>
                <a:spcPts val="0"/>
              </a:spcAft>
            </a:pPr>
            <a:r>
              <a:rPr sz="1150" b="1" i="0">
                <a:solidFill>
                  <a:srgbClr val="6B7685"/>
                </a:solidFill>
                <a:latin typeface="Arial"/>
              </a:rPr>
              <a:t>MEANS</a:t>
            </a:r>
          </a:p>
        </p:txBody>
      </p:sp>
      <p:sp>
        <p:nvSpPr>
          <p:cNvPr id="5" name="TextBox 4"/>
          <p:cNvSpPr txBox="1"/>
          <p:nvPr/>
        </p:nvSpPr>
        <p:spPr>
          <a:xfrm>
            <a:off x="2545215" y="1126236"/>
            <a:ext cx="3354067" cy="282067"/>
          </a:xfrm>
          <a:prstGeom prst="rect">
            <a:avLst/>
          </a:prstGeom>
          <a:noFill/>
        </p:spPr>
        <p:txBody>
          <a:bodyPr wrap="square" lIns="0" rIns="0" tIns="0" bIns="0" anchor="t">
            <a:spAutoFit/>
          </a:bodyPr>
          <a:lstStyle/>
          <a:p>
            <a:pPr algn="l">
              <a:lnSpc>
                <a:spcPts val="1265"/>
              </a:lnSpc>
              <a:spcAft>
                <a:spcPts val="0"/>
              </a:spcAft>
            </a:pPr>
            <a:r>
              <a:rPr sz="1150" b="1" i="0">
                <a:solidFill>
                  <a:srgbClr val="6B7685"/>
                </a:solidFill>
                <a:latin typeface="Arial"/>
              </a:rPr>
              <a:t>WHAT IT DOES</a:t>
            </a:r>
          </a:p>
        </p:txBody>
      </p:sp>
      <p:sp>
        <p:nvSpPr>
          <p:cNvPr id="6" name="TextBox 5"/>
          <p:cNvSpPr txBox="1"/>
          <p:nvPr/>
        </p:nvSpPr>
        <p:spPr>
          <a:xfrm>
            <a:off x="6045587" y="1126236"/>
            <a:ext cx="5311260" cy="282067"/>
          </a:xfrm>
          <a:prstGeom prst="rect">
            <a:avLst/>
          </a:prstGeom>
          <a:noFill/>
        </p:spPr>
        <p:txBody>
          <a:bodyPr wrap="square" lIns="0" rIns="0" tIns="0" bIns="0" anchor="t">
            <a:spAutoFit/>
          </a:bodyPr>
          <a:lstStyle/>
          <a:p>
            <a:pPr algn="l">
              <a:lnSpc>
                <a:spcPts val="1265"/>
              </a:lnSpc>
              <a:spcAft>
                <a:spcPts val="0"/>
              </a:spcAft>
            </a:pPr>
            <a:r>
              <a:rPr sz="1150" b="1" i="0">
                <a:solidFill>
                  <a:srgbClr val="6B7685"/>
                </a:solidFill>
                <a:latin typeface="Arial"/>
              </a:rPr>
              <a:t>WHAT IT DOES NOT DO / THE LIMIT</a:t>
            </a:r>
          </a:p>
        </p:txBody>
      </p:sp>
      <p:sp>
        <p:nvSpPr>
          <p:cNvPr id="7" name="TextBox 6"/>
          <p:cNvSpPr txBox="1"/>
          <p:nvPr/>
        </p:nvSpPr>
        <p:spPr>
          <a:xfrm>
            <a:off x="685800" y="1408303"/>
            <a:ext cx="1713111" cy="515111"/>
          </a:xfrm>
          <a:prstGeom prst="rect">
            <a:avLst/>
          </a:prstGeom>
          <a:noFill/>
        </p:spPr>
        <p:txBody>
          <a:bodyPr wrap="square" lIns="0" rIns="0" tIns="0" bIns="0" anchor="ctr">
            <a:spAutoFit/>
          </a:bodyPr>
          <a:lstStyle/>
          <a:p>
            <a:pPr algn="l">
              <a:lnSpc>
                <a:spcPts val="1380"/>
              </a:lnSpc>
              <a:spcAft>
                <a:spcPts val="0"/>
              </a:spcAft>
            </a:pPr>
            <a:r>
              <a:rPr sz="1200" b="0" i="0">
                <a:solidFill>
                  <a:srgbClr val="141B2E"/>
                </a:solidFill>
                <a:latin typeface="Arial"/>
              </a:rPr>
              <a:t>lay it out and do the pieces one at a time</a:t>
            </a:r>
          </a:p>
        </p:txBody>
      </p:sp>
      <p:sp>
        <p:nvSpPr>
          <p:cNvPr id="8" name="TextBox 7"/>
          <p:cNvSpPr txBox="1"/>
          <p:nvPr/>
        </p:nvSpPr>
        <p:spPr>
          <a:xfrm>
            <a:off x="2545215" y="1408303"/>
            <a:ext cx="3354067" cy="515111"/>
          </a:xfrm>
          <a:prstGeom prst="rect">
            <a:avLst/>
          </a:prstGeom>
          <a:noFill/>
        </p:spPr>
        <p:txBody>
          <a:bodyPr wrap="square" lIns="0" rIns="0" tIns="0" bIns="0" anchor="ctr">
            <a:spAutoFit/>
          </a:bodyPr>
          <a:lstStyle/>
          <a:p>
            <a:pPr algn="l">
              <a:lnSpc>
                <a:spcPts val="1380"/>
              </a:lnSpc>
              <a:spcAft>
                <a:spcPts val="0"/>
              </a:spcAft>
            </a:pPr>
            <a:r>
              <a:rPr sz="1200" b="0" i="0">
                <a:solidFill>
                  <a:srgbClr val="141B2E"/>
                </a:solidFill>
                <a:latin typeface="Arial"/>
              </a:rPr>
              <a:t>one predictable order, nothing collides with anything</a:t>
            </a:r>
          </a:p>
        </p:txBody>
      </p:sp>
      <p:sp>
        <p:nvSpPr>
          <p:cNvPr id="9" name="TextBox 8"/>
          <p:cNvSpPr txBox="1"/>
          <p:nvPr/>
        </p:nvSpPr>
        <p:spPr>
          <a:xfrm>
            <a:off x="6045587" y="1408303"/>
            <a:ext cx="5311260" cy="515111"/>
          </a:xfrm>
          <a:prstGeom prst="rect">
            <a:avLst/>
          </a:prstGeom>
          <a:noFill/>
        </p:spPr>
        <p:txBody>
          <a:bodyPr wrap="square" lIns="0" rIns="0" tIns="0" bIns="0" anchor="ctr">
            <a:spAutoFit/>
          </a:bodyPr>
          <a:lstStyle/>
          <a:p>
            <a:pPr algn="l">
              <a:lnSpc>
                <a:spcPts val="1380"/>
              </a:lnSpc>
              <a:spcAft>
                <a:spcPts val="0"/>
              </a:spcAft>
            </a:pPr>
            <a:r>
              <a:rPr sz="1200" b="0" i="0">
                <a:solidFill>
                  <a:srgbClr val="141B2E"/>
                </a:solidFill>
                <a:latin typeface="Arial"/>
              </a:rPr>
              <a:t>three independent pieces wait for each other for no reason: the waits add up</a:t>
            </a:r>
          </a:p>
        </p:txBody>
      </p:sp>
      <p:cxnSp>
        <p:nvCxnSpPr>
          <p:cNvPr id="10" name="Connector 9"/>
          <p:cNvCxnSpPr/>
          <p:nvPr/>
        </p:nvCxnSpPr>
        <p:spPr>
          <a:xfrm>
            <a:off x="685800" y="1923414"/>
            <a:ext cx="10817352" cy="0"/>
          </a:xfrm>
          <a:prstGeom prst="line">
            <a:avLst/>
          </a:prstGeom>
          <a:ln w="9525">
            <a:solidFill>
              <a:srgbClr val="E5EAF0"/>
            </a:solidFill>
          </a:ln>
        </p:spPr>
        <p:style>
          <a:lnRef idx="2">
            <a:schemeClr val="accent1"/>
          </a:lnRef>
          <a:fillRef idx="0">
            <a:schemeClr val="accent1"/>
          </a:fillRef>
          <a:effectRef idx="1">
            <a:schemeClr val="accent1"/>
          </a:effectRef>
          <a:fontRef idx="minor">
            <a:schemeClr val="tx1"/>
          </a:fontRef>
        </p:style>
      </p:cxnSp>
      <p:sp>
        <p:nvSpPr>
          <p:cNvPr id="11" name="TextBox 10"/>
          <p:cNvSpPr txBox="1"/>
          <p:nvPr/>
        </p:nvSpPr>
        <p:spPr>
          <a:xfrm>
            <a:off x="685800" y="1923414"/>
            <a:ext cx="1713111" cy="515111"/>
          </a:xfrm>
          <a:prstGeom prst="rect">
            <a:avLst/>
          </a:prstGeom>
          <a:noFill/>
        </p:spPr>
        <p:txBody>
          <a:bodyPr wrap="square" lIns="0" rIns="0" tIns="0" bIns="0" anchor="ctr">
            <a:spAutoFit/>
          </a:bodyPr>
          <a:lstStyle/>
          <a:p>
            <a:pPr algn="l">
              <a:lnSpc>
                <a:spcPts val="1380"/>
              </a:lnSpc>
              <a:spcAft>
                <a:spcPts val="0"/>
              </a:spcAft>
            </a:pPr>
            <a:r>
              <a:rPr sz="1200" b="0" i="0">
                <a:solidFill>
                  <a:srgbClr val="141B2E"/>
                </a:solidFill>
                <a:latin typeface="Arial"/>
              </a:rPr>
              <a:t>run the pieces in several sessions</a:t>
            </a:r>
          </a:p>
        </p:txBody>
      </p:sp>
      <p:sp>
        <p:nvSpPr>
          <p:cNvPr id="12" name="TextBox 11"/>
          <p:cNvSpPr txBox="1"/>
          <p:nvPr/>
        </p:nvSpPr>
        <p:spPr>
          <a:xfrm>
            <a:off x="2545215" y="1923414"/>
            <a:ext cx="3354067" cy="515111"/>
          </a:xfrm>
          <a:prstGeom prst="rect">
            <a:avLst/>
          </a:prstGeom>
          <a:noFill/>
        </p:spPr>
        <p:txBody>
          <a:bodyPr wrap="square" lIns="0" rIns="0" tIns="0" bIns="0" anchor="ctr">
            <a:spAutoFit/>
          </a:bodyPr>
          <a:lstStyle/>
          <a:p>
            <a:pPr algn="l">
              <a:lnSpc>
                <a:spcPts val="1380"/>
              </a:lnSpc>
              <a:spcAft>
                <a:spcPts val="0"/>
              </a:spcAft>
            </a:pPr>
            <a:r>
              <a:rPr sz="1200" b="0" i="0">
                <a:solidFill>
                  <a:srgbClr val="141B2E"/>
                </a:solidFill>
                <a:latin typeface="Arial"/>
              </a:rPr>
              <a:t>the pieces go at the same time, each session has a context of its own</a:t>
            </a:r>
          </a:p>
        </p:txBody>
      </p:sp>
      <p:sp>
        <p:nvSpPr>
          <p:cNvPr id="13" name="TextBox 12"/>
          <p:cNvSpPr txBox="1"/>
          <p:nvPr/>
        </p:nvSpPr>
        <p:spPr>
          <a:xfrm>
            <a:off x="6045587" y="1923414"/>
            <a:ext cx="5311260" cy="515111"/>
          </a:xfrm>
          <a:prstGeom prst="rect">
            <a:avLst/>
          </a:prstGeom>
          <a:noFill/>
        </p:spPr>
        <p:txBody>
          <a:bodyPr wrap="square" lIns="0" rIns="0" tIns="0" bIns="0" anchor="ctr">
            <a:spAutoFit/>
          </a:bodyPr>
          <a:lstStyle/>
          <a:p>
            <a:pPr algn="l">
              <a:lnSpc>
                <a:spcPts val="1380"/>
              </a:lnSpc>
              <a:spcAft>
                <a:spcPts val="0"/>
              </a:spcAft>
            </a:pPr>
            <a:r>
              <a:rPr sz="1200" b="0" i="0">
                <a:solidFill>
                  <a:srgbClr val="141B2E"/>
                </a:solidFill>
                <a:latin typeface="Arial"/>
              </a:rPr>
              <a:t>two sessions in one folder edit the very same files — for us that is the field and the error messages, one </a:t>
            </a:r>
            <a:r>
              <a:rPr sz="1200" b="0" i="0">
                <a:solidFill>
                  <a:srgbClr val="141B2E"/>
                </a:solidFill>
                <a:latin typeface="Consolas"/>
              </a:rPr>
              <a:t>src/validate.js</a:t>
            </a:r>
          </a:p>
        </p:txBody>
      </p:sp>
      <p:cxnSp>
        <p:nvCxnSpPr>
          <p:cNvPr id="14" name="Connector 13"/>
          <p:cNvCxnSpPr/>
          <p:nvPr/>
        </p:nvCxnSpPr>
        <p:spPr>
          <a:xfrm>
            <a:off x="685800" y="2438527"/>
            <a:ext cx="10817352" cy="0"/>
          </a:xfrm>
          <a:prstGeom prst="line">
            <a:avLst/>
          </a:prstGeom>
          <a:ln w="9525">
            <a:solidFill>
              <a:srgbClr val="E5EAF0"/>
            </a:solidFill>
          </a:ln>
        </p:spPr>
        <p:style>
          <a:lnRef idx="2">
            <a:schemeClr val="accent1"/>
          </a:lnRef>
          <a:fillRef idx="0">
            <a:schemeClr val="accent1"/>
          </a:fillRef>
          <a:effectRef idx="1">
            <a:schemeClr val="accent1"/>
          </a:effectRef>
          <a:fontRef idx="minor">
            <a:schemeClr val="tx1"/>
          </a:fontRef>
        </p:style>
      </p:cxnSp>
      <p:sp>
        <p:nvSpPr>
          <p:cNvPr id="15" name="TextBox 14"/>
          <p:cNvSpPr txBox="1"/>
          <p:nvPr/>
        </p:nvSpPr>
        <p:spPr>
          <a:xfrm>
            <a:off x="685800" y="2438527"/>
            <a:ext cx="1713111" cy="865631"/>
          </a:xfrm>
          <a:prstGeom prst="rect">
            <a:avLst/>
          </a:prstGeom>
          <a:noFill/>
        </p:spPr>
        <p:txBody>
          <a:bodyPr wrap="square" lIns="0" rIns="0" tIns="0" bIns="0" anchor="ctr">
            <a:spAutoFit/>
          </a:bodyPr>
          <a:lstStyle/>
          <a:p>
            <a:pPr algn="l">
              <a:lnSpc>
                <a:spcPts val="1380"/>
              </a:lnSpc>
              <a:spcAft>
                <a:spcPts val="0"/>
              </a:spcAft>
            </a:pPr>
            <a:r>
              <a:rPr sz="1200" b="0" i="0">
                <a:solidFill>
                  <a:srgbClr val="141B2E"/>
                </a:solidFill>
                <a:latin typeface="Arial"/>
              </a:rPr>
              <a:t>hand the pieces out to subagents and launch them at once</a:t>
            </a:r>
          </a:p>
        </p:txBody>
      </p:sp>
      <p:sp>
        <p:nvSpPr>
          <p:cNvPr id="16" name="TextBox 15"/>
          <p:cNvSpPr txBox="1"/>
          <p:nvPr/>
        </p:nvSpPr>
        <p:spPr>
          <a:xfrm>
            <a:off x="2545215" y="2438527"/>
            <a:ext cx="3354067" cy="865631"/>
          </a:xfrm>
          <a:prstGeom prst="rect">
            <a:avLst/>
          </a:prstGeom>
          <a:noFill/>
        </p:spPr>
        <p:txBody>
          <a:bodyPr wrap="square" lIns="0" rIns="0" tIns="0" bIns="0" anchor="ctr">
            <a:spAutoFit/>
          </a:bodyPr>
          <a:lstStyle/>
          <a:p>
            <a:pPr algn="l">
              <a:lnSpc>
                <a:spcPts val="1380"/>
              </a:lnSpc>
              <a:spcAft>
                <a:spcPts val="0"/>
              </a:spcAft>
            </a:pPr>
            <a:r>
              <a:rPr sz="1200" b="0" i="0">
                <a:solidFill>
                  <a:srgbClr val="141B2E"/>
                </a:solidFill>
                <a:latin typeface="Arial"/>
              </a:rPr>
              <a:t>the harness provides the concurrency, there is nothing to configure; each subagent has its own context and a short result</a:t>
            </a:r>
          </a:p>
        </p:txBody>
      </p:sp>
      <p:sp>
        <p:nvSpPr>
          <p:cNvPr id="17" name="TextBox 16"/>
          <p:cNvSpPr txBox="1"/>
          <p:nvPr/>
        </p:nvSpPr>
        <p:spPr>
          <a:xfrm>
            <a:off x="6045587" y="2438527"/>
            <a:ext cx="5311260" cy="865631"/>
          </a:xfrm>
          <a:prstGeom prst="rect">
            <a:avLst/>
          </a:prstGeom>
          <a:noFill/>
        </p:spPr>
        <p:txBody>
          <a:bodyPr wrap="square" lIns="0" rIns="0" tIns="0" bIns="0" anchor="ctr">
            <a:spAutoFit/>
          </a:bodyPr>
          <a:lstStyle/>
          <a:p>
            <a:pPr algn="l">
              <a:lnSpc>
                <a:spcPts val="1380"/>
              </a:lnSpc>
              <a:spcAft>
                <a:spcPts val="0"/>
              </a:spcAft>
            </a:pPr>
            <a:r>
              <a:rPr sz="1200" b="0" i="0">
                <a:solidFill>
                  <a:srgbClr val="141B2E"/>
                </a:solidFill>
                <a:latin typeface="Arial"/>
              </a:rPr>
              <a:t>it takes the parallelism where it exists: on the field and the messages, two subagents will see different versions of one file</a:t>
            </a:r>
          </a:p>
        </p:txBody>
      </p:sp>
      <p:cxnSp>
        <p:nvCxnSpPr>
          <p:cNvPr id="18" name="Connector 17"/>
          <p:cNvCxnSpPr/>
          <p:nvPr/>
        </p:nvCxnSpPr>
        <p:spPr>
          <a:xfrm>
            <a:off x="685800" y="3304158"/>
            <a:ext cx="10817352" cy="0"/>
          </a:xfrm>
          <a:prstGeom prst="line">
            <a:avLst/>
          </a:prstGeom>
          <a:ln w="9525">
            <a:solidFill>
              <a:srgbClr val="E5EAF0"/>
            </a:solidFill>
          </a:ln>
        </p:spPr>
        <p:style>
          <a:lnRef idx="2">
            <a:schemeClr val="accent1"/>
          </a:lnRef>
          <a:fillRef idx="0">
            <a:schemeClr val="accent1"/>
          </a:fillRef>
          <a:effectRef idx="1">
            <a:schemeClr val="accent1"/>
          </a:effectRef>
          <a:fontRef idx="minor">
            <a:schemeClr val="tx1"/>
          </a:fontRef>
        </p:style>
      </p:cxnSp>
      <p:sp>
        <p:nvSpPr>
          <p:cNvPr id="19" name="TextBox 18"/>
          <p:cNvSpPr txBox="1"/>
          <p:nvPr/>
        </p:nvSpPr>
        <p:spPr>
          <a:xfrm>
            <a:off x="685800" y="3304158"/>
            <a:ext cx="1713111" cy="690371"/>
          </a:xfrm>
          <a:prstGeom prst="rect">
            <a:avLst/>
          </a:prstGeom>
          <a:noFill/>
        </p:spPr>
        <p:txBody>
          <a:bodyPr wrap="square" lIns="0" rIns="0" tIns="0" bIns="0" anchor="ctr">
            <a:spAutoFit/>
          </a:bodyPr>
          <a:lstStyle/>
          <a:p>
            <a:pPr algn="l">
              <a:lnSpc>
                <a:spcPts val="1380"/>
              </a:lnSpc>
              <a:spcAft>
                <a:spcPts val="0"/>
              </a:spcAft>
            </a:pPr>
            <a:r>
              <a:rPr sz="1200" b="0" i="0">
                <a:solidFill>
                  <a:srgbClr val="141B2E"/>
                </a:solidFill>
                <a:latin typeface="Arial"/>
              </a:rPr>
              <a:t>move the repeating part into a check that runs itself</a:t>
            </a:r>
          </a:p>
        </p:txBody>
      </p:sp>
      <p:sp>
        <p:nvSpPr>
          <p:cNvPr id="20" name="TextBox 19"/>
          <p:cNvSpPr txBox="1"/>
          <p:nvPr/>
        </p:nvSpPr>
        <p:spPr>
          <a:xfrm>
            <a:off x="2545215" y="3304158"/>
            <a:ext cx="3354067" cy="690371"/>
          </a:xfrm>
          <a:prstGeom prst="rect">
            <a:avLst/>
          </a:prstGeom>
          <a:noFill/>
        </p:spPr>
        <p:txBody>
          <a:bodyPr wrap="square" lIns="0" rIns="0" tIns="0" bIns="0" anchor="ctr">
            <a:spAutoFit/>
          </a:bodyPr>
          <a:lstStyle/>
          <a:p>
            <a:pPr algn="l">
              <a:lnSpc>
                <a:spcPts val="1380"/>
              </a:lnSpc>
              <a:spcAft>
                <a:spcPts val="0"/>
              </a:spcAft>
            </a:pPr>
            <a:r>
              <a:rPr sz="1200" b="0" i="0">
                <a:solidFill>
                  <a:srgbClr val="141B2E"/>
                </a:solidFill>
                <a:latin typeface="Arial"/>
              </a:rPr>
              <a:t>the pre-release run leaves the queue altogether — it is not a human doing it</a:t>
            </a:r>
          </a:p>
        </p:txBody>
      </p:sp>
      <p:sp>
        <p:nvSpPr>
          <p:cNvPr id="21" name="TextBox 20"/>
          <p:cNvSpPr txBox="1"/>
          <p:nvPr/>
        </p:nvSpPr>
        <p:spPr>
          <a:xfrm>
            <a:off x="6045587" y="3304158"/>
            <a:ext cx="5311260" cy="690371"/>
          </a:xfrm>
          <a:prstGeom prst="rect">
            <a:avLst/>
          </a:prstGeom>
          <a:noFill/>
        </p:spPr>
        <p:txBody>
          <a:bodyPr wrap="square" lIns="0" rIns="0" tIns="0" bIns="0" anchor="ctr">
            <a:spAutoFit/>
          </a:bodyPr>
          <a:lstStyle/>
          <a:p>
            <a:pPr algn="l">
              <a:lnSpc>
                <a:spcPts val="1380"/>
              </a:lnSpc>
              <a:spcAft>
                <a:spcPts val="0"/>
              </a:spcAft>
            </a:pPr>
            <a:r>
              <a:rPr sz="1200" b="0" i="0">
                <a:solidFill>
                  <a:srgbClr val="141B2E"/>
                </a:solidFill>
                <a:latin typeface="Arial"/>
              </a:rPr>
              <a:t>the check has to be written in advance and once; on Friday, when the task has already arrived, it will only speed up the next task like it</a:t>
            </a:r>
          </a:p>
        </p:txBody>
      </p:sp>
      <p:cxnSp>
        <p:nvCxnSpPr>
          <p:cNvPr id="22" name="Connector 21"/>
          <p:cNvCxnSpPr/>
          <p:nvPr/>
        </p:nvCxnSpPr>
        <p:spPr>
          <a:xfrm>
            <a:off x="685800" y="3994530"/>
            <a:ext cx="10817352" cy="0"/>
          </a:xfrm>
          <a:prstGeom prst="line">
            <a:avLst/>
          </a:prstGeom>
          <a:ln w="9525">
            <a:solidFill>
              <a:srgbClr val="E5EAF0"/>
            </a:solidFill>
          </a:ln>
        </p:spPr>
        <p:style>
          <a:lnRef idx="2">
            <a:schemeClr val="accent1"/>
          </a:lnRef>
          <a:fillRef idx="0">
            <a:schemeClr val="accent1"/>
          </a:fillRef>
          <a:effectRef idx="1">
            <a:schemeClr val="accent1"/>
          </a:effectRef>
          <a:fontRef idx="minor">
            <a:schemeClr val="tx1"/>
          </a:fontRef>
        </p:style>
      </p:cxnSp>
      <p:sp>
        <p:nvSpPr>
          <p:cNvPr id="23" name="TextBox 22"/>
          <p:cNvSpPr txBox="1"/>
          <p:nvPr/>
        </p:nvSpPr>
        <p:spPr>
          <a:xfrm>
            <a:off x="685800" y="3994530"/>
            <a:ext cx="1713111" cy="515111"/>
          </a:xfrm>
          <a:prstGeom prst="rect">
            <a:avLst/>
          </a:prstGeom>
          <a:noFill/>
        </p:spPr>
        <p:txBody>
          <a:bodyPr wrap="square" lIns="0" rIns="0" tIns="0" bIns="0" anchor="ctr">
            <a:spAutoFit/>
          </a:bodyPr>
          <a:lstStyle/>
          <a:p>
            <a:pPr algn="l">
              <a:lnSpc>
                <a:spcPts val="1380"/>
              </a:lnSpc>
              <a:spcAft>
                <a:spcPts val="0"/>
              </a:spcAft>
            </a:pPr>
            <a:r>
              <a:rPr sz="1200" b="0" i="0">
                <a:solidFill>
                  <a:srgbClr val="141B2E"/>
                </a:solidFill>
                <a:latin typeface="Arial"/>
              </a:rPr>
              <a:t>narrow the task down</a:t>
            </a:r>
          </a:p>
        </p:txBody>
      </p:sp>
      <p:sp>
        <p:nvSpPr>
          <p:cNvPr id="24" name="TextBox 23"/>
          <p:cNvSpPr txBox="1"/>
          <p:nvPr/>
        </p:nvSpPr>
        <p:spPr>
          <a:xfrm>
            <a:off x="2545215" y="3994530"/>
            <a:ext cx="3354067" cy="515111"/>
          </a:xfrm>
          <a:prstGeom prst="rect">
            <a:avLst/>
          </a:prstGeom>
          <a:noFill/>
        </p:spPr>
        <p:txBody>
          <a:bodyPr wrap="square" lIns="0" rIns="0" tIns="0" bIns="0" anchor="ctr">
            <a:spAutoFit/>
          </a:bodyPr>
          <a:lstStyle/>
          <a:p>
            <a:pPr algn="l">
              <a:lnSpc>
                <a:spcPts val="1380"/>
              </a:lnSpc>
              <a:spcAft>
                <a:spcPts val="0"/>
              </a:spcAft>
            </a:pPr>
            <a:r>
              <a:rPr sz="1200" b="0" i="0">
                <a:solidFill>
                  <a:srgbClr val="141B2E"/>
                </a:solidFill>
                <a:latin typeface="Arial"/>
              </a:rPr>
              <a:t>the campaign needs the field and the consent — two pieces out of six</a:t>
            </a:r>
          </a:p>
        </p:txBody>
      </p:sp>
      <p:sp>
        <p:nvSpPr>
          <p:cNvPr id="25" name="TextBox 24"/>
          <p:cNvSpPr txBox="1"/>
          <p:nvPr/>
        </p:nvSpPr>
        <p:spPr>
          <a:xfrm>
            <a:off x="6045587" y="3994530"/>
            <a:ext cx="5311260" cy="515111"/>
          </a:xfrm>
          <a:prstGeom prst="rect">
            <a:avLst/>
          </a:prstGeom>
          <a:noFill/>
        </p:spPr>
        <p:txBody>
          <a:bodyPr wrap="square" lIns="0" rIns="0" tIns="0" bIns="0" anchor="ctr">
            <a:spAutoFit/>
          </a:bodyPr>
          <a:lstStyle/>
          <a:p>
            <a:pPr algn="l">
              <a:lnSpc>
                <a:spcPts val="1380"/>
              </a:lnSpc>
              <a:spcAft>
                <a:spcPts val="0"/>
              </a:spcAft>
            </a:pPr>
            <a:r>
              <a:rPr sz="1200" b="0" i="0">
                <a:solidFill>
                  <a:srgbClr val="141B2E"/>
                </a:solidFill>
                <a:latin typeface="Arial"/>
              </a:rPr>
              <a:t>that is not decided by the person doing the work: narrowing can be done by whoever is answerable for the deadline</a:t>
            </a:r>
          </a:p>
        </p:txBody>
      </p:sp>
      <p:sp>
        <p:nvSpPr>
          <p:cNvPr id="26" name="Rounded Rectangle 25"/>
          <p:cNvSpPr/>
          <p:nvPr/>
        </p:nvSpPr>
        <p:spPr>
          <a:xfrm>
            <a:off x="502920" y="4857114"/>
            <a:ext cx="82296" cy="1187704"/>
          </a:xfrm>
          <a:prstGeom prst="roundRect">
            <a:avLst>
              <a:gd name="adj" fmla="val 50000"/>
            </a:avLst>
          </a:prstGeom>
          <a:solidFill>
            <a:srgbClr val="F0AB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859536" y="4985130"/>
            <a:ext cx="10643616" cy="931672"/>
          </a:xfrm>
          <a:prstGeom prst="rect">
            <a:avLst/>
          </a:prstGeom>
          <a:noFill/>
        </p:spPr>
        <p:txBody>
          <a:bodyPr wrap="square" lIns="0" rIns="0" tIns="0" bIns="0" anchor="ctr">
            <a:spAutoFit/>
          </a:bodyPr>
          <a:lstStyle/>
          <a:p>
            <a:pPr algn="l">
              <a:lnSpc>
                <a:spcPts val="1798"/>
              </a:lnSpc>
              <a:spcAft>
                <a:spcPts val="300"/>
              </a:spcAft>
            </a:pPr>
            <a:r>
              <a:rPr sz="1450" b="1" i="0">
                <a:solidFill>
                  <a:srgbClr val="141B2E"/>
                </a:solidFill>
                <a:latin typeface="Arial"/>
              </a:rPr>
              <a:t>The turn.</a:t>
            </a:r>
            <a:r>
              <a:rPr sz="1450" b="1" i="0">
                <a:solidFill>
                  <a:srgbClr val="141B2E"/>
                </a:solidFill>
                <a:latin typeface="Arial"/>
              </a:rPr>
              <a:t> Not one of the five means speeds up all six pieces. The parallelism lies in the task, and in this one there is exactly three pieces' worth of it: subagents take it where it exists and multiply the error where it does not — on the piece that reaches into somebody else's file, and on the piece standing in a queue. Set two numbers side by side: the number of workers you said out loud, and the number of independent pieces the layout produced.</a:t>
            </a:r>
          </a:p>
        </p:txBody>
      </p:sp>
      <p:sp>
        <p:nvSpPr>
          <p:cNvPr id="28" name="TextBox 27"/>
          <p:cNvSpPr txBox="1"/>
          <p:nvPr/>
        </p:nvSpPr>
        <p:spPr>
          <a:xfrm>
            <a:off x="10957255" y="6437376"/>
            <a:ext cx="914400" cy="274320"/>
          </a:xfrm>
          <a:prstGeom prst="rect">
            <a:avLst/>
          </a:prstGeom>
          <a:noFill/>
        </p:spPr>
        <p:txBody>
          <a:bodyPr wrap="square" lIns="0" rIns="0" tIns="0" bIns="0" anchor="t">
            <a:spAutoFit/>
          </a:bodyPr>
          <a:lstStyle/>
          <a:p>
            <a:pPr algn="r">
              <a:lnSpc>
                <a:spcPts val="1238"/>
              </a:lnSpc>
              <a:spcAft>
                <a:spcPts val="0"/>
              </a:spcAft>
            </a:pPr>
            <a:r>
              <a:rPr sz="1050" b="0" i="0">
                <a:solidFill>
                  <a:srgbClr val="6B7685"/>
                </a:solidFill>
                <a:latin typeface="Arial"/>
              </a:rPr>
              <a:t>41</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02920" y="310896"/>
            <a:ext cx="11183112" cy="431291"/>
          </a:xfrm>
          <a:prstGeom prst="rect">
            <a:avLst/>
          </a:prstGeom>
          <a:noFill/>
        </p:spPr>
        <p:txBody>
          <a:bodyPr wrap="square" lIns="0" rIns="0" tIns="0" bIns="0" anchor="t">
            <a:spAutoFit/>
          </a:bodyPr>
          <a:lstStyle/>
          <a:p>
            <a:pPr algn="l">
              <a:lnSpc>
                <a:spcPts val="2963"/>
              </a:lnSpc>
              <a:spcAft>
                <a:spcPts val="0"/>
              </a:spcAft>
            </a:pPr>
            <a:r>
              <a:rPr sz="2600" b="1" i="0">
                <a:solidFill>
                  <a:srgbClr val="141B2E"/>
                </a:solidFill>
                <a:latin typeface="Arial"/>
              </a:rPr>
              <a:t>Background, not a queue — and a cap of twenty at once</a:t>
            </a:r>
          </a:p>
        </p:txBody>
      </p:sp>
      <p:sp>
        <p:nvSpPr>
          <p:cNvPr id="3" name="Rounded Rectangle 2"/>
          <p:cNvSpPr/>
          <p:nvPr/>
        </p:nvSpPr>
        <p:spPr>
          <a:xfrm>
            <a:off x="502920" y="2024176"/>
            <a:ext cx="11183112" cy="1504188"/>
          </a:xfrm>
          <a:prstGeom prst="roundRect">
            <a:avLst>
              <a:gd name="adj" fmla="val 20263"/>
            </a:avLst>
          </a:prstGeom>
          <a:solidFill>
            <a:srgbClr val="F4F7FA"/>
          </a:solidFill>
          <a:ln w="15240">
            <a:solidFill>
              <a:srgbClr val="E5EA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58952" y="2459659"/>
            <a:ext cx="100584" cy="100584"/>
          </a:xfrm>
          <a:prstGeom prst="roundRect">
            <a:avLst>
              <a:gd name="adj" fmla="val 50000"/>
            </a:avLst>
          </a:prstGeom>
          <a:solidFill>
            <a:srgbClr val="0280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06424" y="2243632"/>
            <a:ext cx="10360152" cy="532638"/>
          </a:xfrm>
          <a:prstGeom prst="rect">
            <a:avLst/>
          </a:prstGeom>
          <a:noFill/>
        </p:spPr>
        <p:txBody>
          <a:bodyPr wrap="square" lIns="0" rIns="0" tIns="0" bIns="0" anchor="ctr">
            <a:spAutoFit/>
          </a:bodyPr>
          <a:lstStyle/>
          <a:p>
            <a:pPr algn="l">
              <a:lnSpc>
                <a:spcPts val="1593"/>
              </a:lnSpc>
              <a:spcAft>
                <a:spcPts val="0"/>
              </a:spcAft>
            </a:pPr>
            <a:r>
              <a:rPr sz="1350" b="1" i="0">
                <a:solidFill>
                  <a:srgbClr val="141B2E"/>
                </a:solidFill>
                <a:latin typeface="Arial"/>
              </a:rPr>
              <a:t>Background, not a queue.</a:t>
            </a:r>
            <a:r>
              <a:rPr sz="1350" b="0" i="0">
                <a:solidFill>
                  <a:srgbClr val="141B2E"/>
                </a:solidFill>
                <a:latin typeface="Arial"/>
              </a:rPr>
              <a:t> From a certain version of the harness onward, parallel mode is on by default in an interactive session: the subagent goes into the background, and the main session does not wait for it before carrying on.</a:t>
            </a:r>
          </a:p>
        </p:txBody>
      </p:sp>
      <p:sp>
        <p:nvSpPr>
          <p:cNvPr id="6" name="Rounded Rectangle 5"/>
          <p:cNvSpPr/>
          <p:nvPr/>
        </p:nvSpPr>
        <p:spPr>
          <a:xfrm>
            <a:off x="758952" y="2992297"/>
            <a:ext cx="100584" cy="100584"/>
          </a:xfrm>
          <a:prstGeom prst="roundRect">
            <a:avLst>
              <a:gd name="adj" fmla="val 50000"/>
            </a:avLst>
          </a:prstGeom>
          <a:solidFill>
            <a:srgbClr val="0280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106424" y="2776270"/>
            <a:ext cx="10360152" cy="532638"/>
          </a:xfrm>
          <a:prstGeom prst="rect">
            <a:avLst/>
          </a:prstGeom>
          <a:noFill/>
        </p:spPr>
        <p:txBody>
          <a:bodyPr wrap="square" lIns="0" rIns="0" tIns="0" bIns="0" anchor="ctr">
            <a:spAutoFit/>
          </a:bodyPr>
          <a:lstStyle/>
          <a:p>
            <a:pPr algn="l">
              <a:lnSpc>
                <a:spcPts val="1593"/>
              </a:lnSpc>
              <a:spcAft>
                <a:spcPts val="0"/>
              </a:spcAft>
            </a:pPr>
            <a:r>
              <a:rPr sz="1350" b="1" i="0">
                <a:solidFill>
                  <a:srgbClr val="141B2E"/>
                </a:solidFill>
                <a:latin typeface="Arial"/>
              </a:rPr>
              <a:t>The cap is on concurrency.</a:t>
            </a:r>
            <a:r>
              <a:rPr sz="1350" b="0" i="0">
                <a:solidFill>
                  <a:srgbClr val="141B2E"/>
                </a:solidFill>
                <a:latin typeface="Arial"/>
              </a:rPr>
              <a:t> By default no more than twenty subagents can be running at once; an attempt to set up a twenty-first fails with a separate, explicit error. The number is changed by an environment variable.</a:t>
            </a:r>
          </a:p>
        </p:txBody>
      </p:sp>
      <p:sp>
        <p:nvSpPr>
          <p:cNvPr id="8" name="Rounded Rectangle 7"/>
          <p:cNvSpPr/>
          <p:nvPr/>
        </p:nvSpPr>
        <p:spPr>
          <a:xfrm>
            <a:off x="502920" y="4195876"/>
            <a:ext cx="82296" cy="510540"/>
          </a:xfrm>
          <a:prstGeom prst="roundRect">
            <a:avLst>
              <a:gd name="adj" fmla="val 50000"/>
            </a:avLst>
          </a:prstGeom>
          <a:solidFill>
            <a:srgbClr val="F0AB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59536" y="4323892"/>
            <a:ext cx="10643616" cy="254508"/>
          </a:xfrm>
          <a:prstGeom prst="rect">
            <a:avLst/>
          </a:prstGeom>
          <a:noFill/>
        </p:spPr>
        <p:txBody>
          <a:bodyPr wrap="square" lIns="0" rIns="0" tIns="0" bIns="0" anchor="ctr">
            <a:spAutoFit/>
          </a:bodyPr>
          <a:lstStyle/>
          <a:p>
            <a:pPr algn="l">
              <a:lnSpc>
                <a:spcPts val="1860"/>
              </a:lnSpc>
              <a:spcAft>
                <a:spcPts val="300"/>
              </a:spcAft>
            </a:pPr>
            <a:r>
              <a:rPr sz="1500" b="1" i="0">
                <a:solidFill>
                  <a:srgbClr val="141B2E"/>
                </a:solidFill>
                <a:latin typeface="Arial"/>
              </a:rPr>
              <a:t>There is no overall cap on how many subagents can be called over a whole session.</a:t>
            </a:r>
          </a:p>
        </p:txBody>
      </p:sp>
      <p:sp>
        <p:nvSpPr>
          <p:cNvPr id="10" name="TextBox 9"/>
          <p:cNvSpPr txBox="1"/>
          <p:nvPr/>
        </p:nvSpPr>
        <p:spPr>
          <a:xfrm>
            <a:off x="10957255" y="6437376"/>
            <a:ext cx="914400" cy="274320"/>
          </a:xfrm>
          <a:prstGeom prst="rect">
            <a:avLst/>
          </a:prstGeom>
          <a:noFill/>
        </p:spPr>
        <p:txBody>
          <a:bodyPr wrap="square" lIns="0" rIns="0" tIns="0" bIns="0" anchor="t">
            <a:spAutoFit/>
          </a:bodyPr>
          <a:lstStyle/>
          <a:p>
            <a:pPr algn="r">
              <a:lnSpc>
                <a:spcPts val="1238"/>
              </a:lnSpc>
              <a:spcAft>
                <a:spcPts val="0"/>
              </a:spcAft>
            </a:pPr>
            <a:r>
              <a:rPr sz="1050" b="0" i="0">
                <a:solidFill>
                  <a:srgbClr val="6B7685"/>
                </a:solidFill>
                <a:latin typeface="Arial"/>
              </a:rPr>
              <a:t>42</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02920" y="310896"/>
            <a:ext cx="11183112" cy="431291"/>
          </a:xfrm>
          <a:prstGeom prst="rect">
            <a:avLst/>
          </a:prstGeom>
          <a:noFill/>
        </p:spPr>
        <p:txBody>
          <a:bodyPr wrap="square" lIns="0" rIns="0" tIns="0" bIns="0" anchor="t">
            <a:spAutoFit/>
          </a:bodyPr>
          <a:lstStyle/>
          <a:p>
            <a:pPr algn="l">
              <a:lnSpc>
                <a:spcPts val="2963"/>
              </a:lnSpc>
              <a:spcAft>
                <a:spcPts val="0"/>
              </a:spcAft>
            </a:pPr>
            <a:r>
              <a:rPr sz="2600" b="1" i="0">
                <a:solidFill>
                  <a:srgbClr val="141B2E"/>
                </a:solidFill>
                <a:latin typeface="Arial"/>
              </a:rPr>
              <a:t>The orchestrator and child sessions</a:t>
            </a:r>
          </a:p>
        </p:txBody>
      </p:sp>
      <p:pic>
        <p:nvPicPr>
          <p:cNvPr id="3" name="Picture 2" descr="subagent-n43-tri-yarusa-en.png"/>
          <p:cNvPicPr>
            <a:picLocks noChangeAspect="1"/>
          </p:cNvPicPr>
          <p:nvPr/>
        </p:nvPicPr>
        <p:blipFill>
          <a:blip r:embed="rId2"/>
          <a:stretch>
            <a:fillRect/>
          </a:stretch>
        </p:blipFill>
        <p:spPr>
          <a:xfrm>
            <a:off x="530944" y="943356"/>
            <a:ext cx="11127062" cy="2086324"/>
          </a:xfrm>
          <a:prstGeom prst="rect">
            <a:avLst/>
          </a:prstGeom>
        </p:spPr>
      </p:pic>
      <p:sp>
        <p:nvSpPr>
          <p:cNvPr id="4" name="Rounded Rectangle 3"/>
          <p:cNvSpPr/>
          <p:nvPr/>
        </p:nvSpPr>
        <p:spPr>
          <a:xfrm>
            <a:off x="502920" y="3194272"/>
            <a:ext cx="11183112" cy="2193162"/>
          </a:xfrm>
          <a:prstGeom prst="roundRect">
            <a:avLst>
              <a:gd name="adj" fmla="val 13897"/>
            </a:avLst>
          </a:prstGeom>
          <a:solidFill>
            <a:srgbClr val="FFFFFF"/>
          </a:solidFill>
          <a:ln w="1778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85800" y="3377152"/>
            <a:ext cx="5294405" cy="282067"/>
          </a:xfrm>
          <a:prstGeom prst="rect">
            <a:avLst/>
          </a:prstGeom>
          <a:noFill/>
        </p:spPr>
        <p:txBody>
          <a:bodyPr wrap="square" lIns="0" rIns="0" tIns="0" bIns="0" anchor="t">
            <a:spAutoFit/>
          </a:bodyPr>
          <a:lstStyle/>
          <a:p>
            <a:pPr algn="l">
              <a:lnSpc>
                <a:spcPts val="1265"/>
              </a:lnSpc>
              <a:spcAft>
                <a:spcPts val="0"/>
              </a:spcAft>
            </a:pPr>
            <a:r>
              <a:rPr sz="1150" b="1" i="0">
                <a:solidFill>
                  <a:srgbClr val="6B7685"/>
                </a:solidFill>
                <a:latin typeface="Arial"/>
              </a:rPr>
              <a:t>WHAT A CHILD SESSION GIVES</a:t>
            </a:r>
          </a:p>
        </p:txBody>
      </p:sp>
      <p:sp>
        <p:nvSpPr>
          <p:cNvPr id="6" name="TextBox 5"/>
          <p:cNvSpPr txBox="1"/>
          <p:nvPr/>
        </p:nvSpPr>
        <p:spPr>
          <a:xfrm>
            <a:off x="6126509" y="3377152"/>
            <a:ext cx="5230338" cy="282067"/>
          </a:xfrm>
          <a:prstGeom prst="rect">
            <a:avLst/>
          </a:prstGeom>
          <a:noFill/>
        </p:spPr>
        <p:txBody>
          <a:bodyPr wrap="square" lIns="0" rIns="0" tIns="0" bIns="0" anchor="t">
            <a:spAutoFit/>
          </a:bodyPr>
          <a:lstStyle/>
          <a:p>
            <a:pPr algn="l">
              <a:lnSpc>
                <a:spcPts val="1265"/>
              </a:lnSpc>
              <a:spcAft>
                <a:spcPts val="0"/>
              </a:spcAft>
            </a:pPr>
            <a:r>
              <a:rPr sz="1150" b="1" i="0">
                <a:solidFill>
                  <a:srgbClr val="6B7685"/>
                </a:solidFill>
                <a:latin typeface="Arial"/>
              </a:rPr>
              <a:t>WHAT IT COSTS</a:t>
            </a:r>
          </a:p>
        </p:txBody>
      </p:sp>
      <p:sp>
        <p:nvSpPr>
          <p:cNvPr id="7" name="TextBox 6"/>
          <p:cNvSpPr txBox="1"/>
          <p:nvPr/>
        </p:nvSpPr>
        <p:spPr>
          <a:xfrm>
            <a:off x="685800" y="3659219"/>
            <a:ext cx="5294405" cy="515111"/>
          </a:xfrm>
          <a:prstGeom prst="rect">
            <a:avLst/>
          </a:prstGeom>
          <a:noFill/>
        </p:spPr>
        <p:txBody>
          <a:bodyPr wrap="square" lIns="0" rIns="0" tIns="0" bIns="0" anchor="ctr">
            <a:spAutoFit/>
          </a:bodyPr>
          <a:lstStyle/>
          <a:p>
            <a:pPr algn="l">
              <a:lnSpc>
                <a:spcPts val="1380"/>
              </a:lnSpc>
              <a:spcAft>
                <a:spcPts val="0"/>
              </a:spcAft>
            </a:pPr>
            <a:r>
              <a:rPr sz="1200" b="0" i="0">
                <a:solidFill>
                  <a:srgbClr val="141B2E"/>
                </a:solidFill>
                <a:latin typeface="Arial"/>
              </a:rPr>
              <a:t>you can walk into it by hand: see what it has got through, add to the task, correct the direction</a:t>
            </a:r>
          </a:p>
        </p:txBody>
      </p:sp>
      <p:sp>
        <p:nvSpPr>
          <p:cNvPr id="8" name="TextBox 7"/>
          <p:cNvSpPr txBox="1"/>
          <p:nvPr/>
        </p:nvSpPr>
        <p:spPr>
          <a:xfrm>
            <a:off x="6126509" y="3659219"/>
            <a:ext cx="5230338" cy="515111"/>
          </a:xfrm>
          <a:prstGeom prst="rect">
            <a:avLst/>
          </a:prstGeom>
          <a:noFill/>
        </p:spPr>
        <p:txBody>
          <a:bodyPr wrap="square" lIns="0" rIns="0" tIns="0" bIns="0" anchor="ctr">
            <a:spAutoFit/>
          </a:bodyPr>
          <a:lstStyle/>
          <a:p>
            <a:pPr algn="l">
              <a:lnSpc>
                <a:spcPts val="1380"/>
              </a:lnSpc>
              <a:spcAft>
                <a:spcPts val="0"/>
              </a:spcAft>
            </a:pPr>
            <a:r>
              <a:rPr sz="1200" b="0" i="0">
                <a:solidFill>
                  <a:srgbClr val="141B2E"/>
                </a:solidFill>
                <a:latin typeface="Arial"/>
              </a:rPr>
              <a:t>the orchestrator does not learn the result by itself — it learns it when it goes and checks</a:t>
            </a:r>
          </a:p>
        </p:txBody>
      </p:sp>
      <p:cxnSp>
        <p:nvCxnSpPr>
          <p:cNvPr id="9" name="Connector 8"/>
          <p:cNvCxnSpPr/>
          <p:nvPr/>
        </p:nvCxnSpPr>
        <p:spPr>
          <a:xfrm>
            <a:off x="685800" y="4174331"/>
            <a:ext cx="10817352" cy="0"/>
          </a:xfrm>
          <a:prstGeom prst="line">
            <a:avLst/>
          </a:prstGeom>
          <a:ln w="9525">
            <a:solidFill>
              <a:srgbClr val="E5EAF0"/>
            </a:solidFill>
          </a:ln>
        </p:spPr>
        <p:style>
          <a:lnRef idx="2">
            <a:schemeClr val="accent1"/>
          </a:lnRef>
          <a:fillRef idx="0">
            <a:schemeClr val="accent1"/>
          </a:fillRef>
          <a:effectRef idx="1">
            <a:schemeClr val="accent1"/>
          </a:effectRef>
          <a:fontRef idx="minor">
            <a:schemeClr val="tx1"/>
          </a:fontRef>
        </p:style>
      </p:cxnSp>
      <p:sp>
        <p:nvSpPr>
          <p:cNvPr id="10" name="TextBox 9"/>
          <p:cNvSpPr txBox="1"/>
          <p:nvPr/>
        </p:nvSpPr>
        <p:spPr>
          <a:xfrm>
            <a:off x="685800" y="4174331"/>
            <a:ext cx="5294405" cy="515111"/>
          </a:xfrm>
          <a:prstGeom prst="rect">
            <a:avLst/>
          </a:prstGeom>
          <a:noFill/>
        </p:spPr>
        <p:txBody>
          <a:bodyPr wrap="square" lIns="0" rIns="0" tIns="0" bIns="0" anchor="ctr">
            <a:spAutoFit/>
          </a:bodyPr>
          <a:lstStyle/>
          <a:p>
            <a:pPr algn="l">
              <a:lnSpc>
                <a:spcPts val="1380"/>
              </a:lnSpc>
              <a:spcAft>
                <a:spcPts val="0"/>
              </a:spcAft>
            </a:pPr>
            <a:r>
              <a:rPr sz="1200" b="0" i="0">
                <a:solidFill>
                  <a:srgbClr val="141B2E"/>
                </a:solidFill>
                <a:latin typeface="Arial"/>
              </a:rPr>
              <a:t>it launches subagents of its own: there come to be three tiers, and the work can be taken on in bigger pieces</a:t>
            </a:r>
          </a:p>
        </p:txBody>
      </p:sp>
      <p:sp>
        <p:nvSpPr>
          <p:cNvPr id="11" name="TextBox 10"/>
          <p:cNvSpPr txBox="1"/>
          <p:nvPr/>
        </p:nvSpPr>
        <p:spPr>
          <a:xfrm>
            <a:off x="6126509" y="4174331"/>
            <a:ext cx="5230338" cy="515111"/>
          </a:xfrm>
          <a:prstGeom prst="rect">
            <a:avLst/>
          </a:prstGeom>
          <a:noFill/>
        </p:spPr>
        <p:txBody>
          <a:bodyPr wrap="square" lIns="0" rIns="0" tIns="0" bIns="0" anchor="ctr">
            <a:spAutoFit/>
          </a:bodyPr>
          <a:lstStyle/>
          <a:p>
            <a:pPr algn="l">
              <a:lnSpc>
                <a:spcPts val="1380"/>
              </a:lnSpc>
              <a:spcAft>
                <a:spcPts val="0"/>
              </a:spcAft>
            </a:pPr>
            <a:r>
              <a:rPr sz="1200" b="0" i="0">
                <a:solidFill>
                  <a:srgbClr val="141B2E"/>
                </a:solidFill>
                <a:latin typeface="Arial"/>
              </a:rPr>
              <a:t>scaffolding is needed: sessions do not come up alongside, and do not get polled, by themselves</a:t>
            </a:r>
          </a:p>
        </p:txBody>
      </p:sp>
      <p:cxnSp>
        <p:nvCxnSpPr>
          <p:cNvPr id="12" name="Connector 11"/>
          <p:cNvCxnSpPr/>
          <p:nvPr/>
        </p:nvCxnSpPr>
        <p:spPr>
          <a:xfrm>
            <a:off x="685800" y="4689443"/>
            <a:ext cx="10817352" cy="0"/>
          </a:xfrm>
          <a:prstGeom prst="line">
            <a:avLst/>
          </a:prstGeom>
          <a:ln w="9525">
            <a:solidFill>
              <a:srgbClr val="E5EAF0"/>
            </a:solidFill>
          </a:ln>
        </p:spPr>
        <p:style>
          <a:lnRef idx="2">
            <a:schemeClr val="accent1"/>
          </a:lnRef>
          <a:fillRef idx="0">
            <a:schemeClr val="accent1"/>
          </a:fillRef>
          <a:effectRef idx="1">
            <a:schemeClr val="accent1"/>
          </a:effectRef>
          <a:fontRef idx="minor">
            <a:schemeClr val="tx1"/>
          </a:fontRef>
        </p:style>
      </p:cxnSp>
      <p:sp>
        <p:nvSpPr>
          <p:cNvPr id="13" name="TextBox 12"/>
          <p:cNvSpPr txBox="1"/>
          <p:nvPr/>
        </p:nvSpPr>
        <p:spPr>
          <a:xfrm>
            <a:off x="685800" y="4689443"/>
            <a:ext cx="5294405" cy="515111"/>
          </a:xfrm>
          <a:prstGeom prst="rect">
            <a:avLst/>
          </a:prstGeom>
          <a:noFill/>
        </p:spPr>
        <p:txBody>
          <a:bodyPr wrap="square" lIns="0" rIns="0" tIns="0" bIns="0" anchor="ctr">
            <a:spAutoFit/>
          </a:bodyPr>
          <a:lstStyle/>
          <a:p>
            <a:pPr algn="l">
              <a:lnSpc>
                <a:spcPts val="1380"/>
              </a:lnSpc>
              <a:spcAft>
                <a:spcPts val="0"/>
              </a:spcAft>
            </a:pPr>
            <a:r>
              <a:rPr sz="1200" b="0" i="0">
                <a:solidFill>
                  <a:srgbClr val="141B2E"/>
                </a:solidFill>
                <a:latin typeface="Arial"/>
              </a:rPr>
              <a:t>its context is entirely its own, as in any ordinary run</a:t>
            </a:r>
          </a:p>
        </p:txBody>
      </p:sp>
      <p:sp>
        <p:nvSpPr>
          <p:cNvPr id="14" name="TextBox 13"/>
          <p:cNvSpPr txBox="1"/>
          <p:nvPr/>
        </p:nvSpPr>
        <p:spPr>
          <a:xfrm>
            <a:off x="6126509" y="4689443"/>
            <a:ext cx="5230338" cy="515111"/>
          </a:xfrm>
          <a:prstGeom prst="rect">
            <a:avLst/>
          </a:prstGeom>
          <a:noFill/>
        </p:spPr>
        <p:txBody>
          <a:bodyPr wrap="square" lIns="0" rIns="0" tIns="0" bIns="0" anchor="ctr">
            <a:spAutoFit/>
          </a:bodyPr>
          <a:lstStyle/>
          <a:p>
            <a:pPr algn="l">
              <a:lnSpc>
                <a:spcPts val="1380"/>
              </a:lnSpc>
              <a:spcAft>
                <a:spcPts val="0"/>
              </a:spcAft>
            </a:pPr>
            <a:r>
              <a:rPr sz="1200" b="0" i="0">
                <a:solidFill>
                  <a:srgbClr val="141B2E"/>
                </a:solidFill>
                <a:latin typeface="Arial"/>
              </a:rPr>
              <a:t>and it costs what an ordinary run costs — in the token bill and in machine memory</a:t>
            </a:r>
          </a:p>
        </p:txBody>
      </p:sp>
      <p:sp>
        <p:nvSpPr>
          <p:cNvPr id="15" name="Rounded Rectangle 14"/>
          <p:cNvSpPr/>
          <p:nvPr/>
        </p:nvSpPr>
        <p:spPr>
          <a:xfrm>
            <a:off x="502920" y="5552027"/>
            <a:ext cx="82296" cy="502666"/>
          </a:xfrm>
          <a:prstGeom prst="roundRect">
            <a:avLst>
              <a:gd name="adj" fmla="val 50000"/>
            </a:avLst>
          </a:prstGeom>
          <a:solidFill>
            <a:srgbClr val="F0AB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59536" y="5680043"/>
            <a:ext cx="10643616" cy="246633"/>
          </a:xfrm>
          <a:prstGeom prst="rect">
            <a:avLst/>
          </a:prstGeom>
          <a:noFill/>
        </p:spPr>
        <p:txBody>
          <a:bodyPr wrap="square" lIns="0" rIns="0" tIns="0" bIns="0" anchor="ctr">
            <a:spAutoFit/>
          </a:bodyPr>
          <a:lstStyle/>
          <a:p>
            <a:pPr algn="l">
              <a:lnSpc>
                <a:spcPts val="1798"/>
              </a:lnSpc>
              <a:spcAft>
                <a:spcPts val="300"/>
              </a:spcAft>
            </a:pPr>
            <a:r>
              <a:rPr sz="1450" b="1" i="0">
                <a:solidFill>
                  <a:srgbClr val="141B2E"/>
                </a:solidFill>
                <a:latin typeface="Arial"/>
              </a:rPr>
              <a:t>A small piece to a subagent. A large piece, one you will have to walk into by hand, to a child session.</a:t>
            </a:r>
          </a:p>
        </p:txBody>
      </p:sp>
      <p:sp>
        <p:nvSpPr>
          <p:cNvPr id="17" name="TextBox 16"/>
          <p:cNvSpPr txBox="1"/>
          <p:nvPr/>
        </p:nvSpPr>
        <p:spPr>
          <a:xfrm>
            <a:off x="10957255" y="6437376"/>
            <a:ext cx="914400" cy="274320"/>
          </a:xfrm>
          <a:prstGeom prst="rect">
            <a:avLst/>
          </a:prstGeom>
          <a:noFill/>
        </p:spPr>
        <p:txBody>
          <a:bodyPr wrap="square" lIns="0" rIns="0" tIns="0" bIns="0" anchor="t">
            <a:spAutoFit/>
          </a:bodyPr>
          <a:lstStyle/>
          <a:p>
            <a:pPr algn="r">
              <a:lnSpc>
                <a:spcPts val="1238"/>
              </a:lnSpc>
              <a:spcAft>
                <a:spcPts val="0"/>
              </a:spcAft>
            </a:pPr>
            <a:r>
              <a:rPr sz="1050" b="0" i="0">
                <a:solidFill>
                  <a:srgbClr val="6B7685"/>
                </a:solidFill>
                <a:latin typeface="Arial"/>
              </a:rPr>
              <a:t>43</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02920" y="310896"/>
            <a:ext cx="11183112" cy="431291"/>
          </a:xfrm>
          <a:prstGeom prst="rect">
            <a:avLst/>
          </a:prstGeom>
          <a:noFill/>
        </p:spPr>
        <p:txBody>
          <a:bodyPr wrap="square" lIns="0" rIns="0" tIns="0" bIns="0" anchor="t">
            <a:spAutoFit/>
          </a:bodyPr>
          <a:lstStyle/>
          <a:p>
            <a:pPr algn="l">
              <a:lnSpc>
                <a:spcPts val="2963"/>
              </a:lnSpc>
              <a:spcAft>
                <a:spcPts val="0"/>
              </a:spcAft>
            </a:pPr>
            <a:r>
              <a:rPr sz="2600" b="1" i="0">
                <a:solidFill>
                  <a:srgbClr val="141B2E"/>
                </a:solidFill>
                <a:latin typeface="Arial"/>
              </a:rPr>
              <a:t>Sessions cost machine memory</a:t>
            </a:r>
          </a:p>
        </p:txBody>
      </p:sp>
      <p:sp>
        <p:nvSpPr>
          <p:cNvPr id="3" name="Rounded Rectangle 2"/>
          <p:cNvSpPr/>
          <p:nvPr/>
        </p:nvSpPr>
        <p:spPr>
          <a:xfrm>
            <a:off x="502920" y="961059"/>
            <a:ext cx="82296" cy="746760"/>
          </a:xfrm>
          <a:prstGeom prst="roundRect">
            <a:avLst>
              <a:gd name="adj" fmla="val 50000"/>
            </a:avLst>
          </a:prstGeom>
          <a:solidFill>
            <a:srgbClr val="F0AB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59536" y="1089075"/>
            <a:ext cx="10643616" cy="490727"/>
          </a:xfrm>
          <a:prstGeom prst="rect">
            <a:avLst/>
          </a:prstGeom>
          <a:noFill/>
        </p:spPr>
        <p:txBody>
          <a:bodyPr wrap="square" lIns="0" rIns="0" tIns="0" bIns="0" anchor="ctr">
            <a:spAutoFit/>
          </a:bodyPr>
          <a:lstStyle/>
          <a:p>
            <a:pPr algn="l">
              <a:lnSpc>
                <a:spcPts val="1860"/>
              </a:lnSpc>
              <a:spcAft>
                <a:spcPts val="300"/>
              </a:spcAft>
            </a:pPr>
            <a:r>
              <a:rPr sz="1500" b="1" i="0">
                <a:solidFill>
                  <a:srgbClr val="141B2E"/>
                </a:solidFill>
                <a:latin typeface="Arial"/>
              </a:rPr>
              <a:t>The course author's measurement on his own machine: a cloud VM, 16 GB of memory, ordinary sessions with no heavy runs inside them.</a:t>
            </a:r>
          </a:p>
        </p:txBody>
      </p:sp>
      <p:sp>
        <p:nvSpPr>
          <p:cNvPr id="5" name="Rounded Rectangle 4"/>
          <p:cNvSpPr/>
          <p:nvPr/>
        </p:nvSpPr>
        <p:spPr>
          <a:xfrm>
            <a:off x="502920" y="1916671"/>
            <a:ext cx="11183112" cy="2236977"/>
          </a:xfrm>
          <a:prstGeom prst="roundRect">
            <a:avLst>
              <a:gd name="adj" fmla="val 13625"/>
            </a:avLst>
          </a:prstGeom>
          <a:solidFill>
            <a:srgbClr val="FFFFFF"/>
          </a:solidFill>
          <a:ln w="1778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85800" y="2099551"/>
            <a:ext cx="3804844" cy="282067"/>
          </a:xfrm>
          <a:prstGeom prst="rect">
            <a:avLst/>
          </a:prstGeom>
          <a:noFill/>
        </p:spPr>
        <p:txBody>
          <a:bodyPr wrap="square" lIns="0" rIns="0" tIns="0" bIns="0" anchor="t">
            <a:spAutoFit/>
          </a:bodyPr>
          <a:lstStyle/>
          <a:p>
            <a:pPr algn="l">
              <a:lnSpc>
                <a:spcPts val="1265"/>
              </a:lnSpc>
              <a:spcAft>
                <a:spcPts val="0"/>
              </a:spcAft>
            </a:pPr>
            <a:r>
              <a:rPr sz="1150" b="1" i="0">
                <a:solidFill>
                  <a:srgbClr val="6B7685"/>
                </a:solidFill>
                <a:latin typeface="Arial"/>
              </a:rPr>
              <a:t>WHAT WAS MEASURED</a:t>
            </a:r>
          </a:p>
        </p:txBody>
      </p:sp>
      <p:sp>
        <p:nvSpPr>
          <p:cNvPr id="7" name="TextBox 6"/>
          <p:cNvSpPr txBox="1"/>
          <p:nvPr/>
        </p:nvSpPr>
        <p:spPr>
          <a:xfrm>
            <a:off x="4636948" y="2099551"/>
            <a:ext cx="6719899" cy="282067"/>
          </a:xfrm>
          <a:prstGeom prst="rect">
            <a:avLst/>
          </a:prstGeom>
          <a:noFill/>
        </p:spPr>
        <p:txBody>
          <a:bodyPr wrap="square" lIns="0" rIns="0" tIns="0" bIns="0" anchor="t">
            <a:spAutoFit/>
          </a:bodyPr>
          <a:lstStyle/>
          <a:p>
            <a:pPr algn="l">
              <a:lnSpc>
                <a:spcPts val="1265"/>
              </a:lnSpc>
              <a:spcAft>
                <a:spcPts val="0"/>
              </a:spcAft>
            </a:pPr>
            <a:r>
              <a:rPr sz="1150" b="1" i="0">
                <a:solidFill>
                  <a:srgbClr val="6B7685"/>
                </a:solidFill>
                <a:latin typeface="Arial"/>
              </a:rPr>
              <a:t>WHAT FOLLOWS FROM IT</a:t>
            </a:r>
          </a:p>
        </p:txBody>
      </p:sp>
      <p:sp>
        <p:nvSpPr>
          <p:cNvPr id="8" name="TextBox 7"/>
          <p:cNvSpPr txBox="1"/>
          <p:nvPr/>
        </p:nvSpPr>
        <p:spPr>
          <a:xfrm>
            <a:off x="685800" y="2381618"/>
            <a:ext cx="3804844" cy="529717"/>
          </a:xfrm>
          <a:prstGeom prst="rect">
            <a:avLst/>
          </a:prstGeom>
          <a:noFill/>
        </p:spPr>
        <p:txBody>
          <a:bodyPr wrap="square" lIns="0" rIns="0" tIns="0" bIns="0" anchor="ctr">
            <a:spAutoFit/>
          </a:bodyPr>
          <a:lstStyle/>
          <a:p>
            <a:pPr algn="l">
              <a:lnSpc>
                <a:spcPts val="1437"/>
              </a:lnSpc>
              <a:spcAft>
                <a:spcPts val="0"/>
              </a:spcAft>
            </a:pPr>
            <a:r>
              <a:rPr sz="1250" b="0" i="0">
                <a:solidFill>
                  <a:srgbClr val="141B2E"/>
                </a:solidFill>
                <a:latin typeface="Arial"/>
              </a:rPr>
              <a:t>from twenty concurrent sessions on, the machine starts stumbling</a:t>
            </a:r>
          </a:p>
        </p:txBody>
      </p:sp>
      <p:sp>
        <p:nvSpPr>
          <p:cNvPr id="9" name="TextBox 8"/>
          <p:cNvSpPr txBox="1"/>
          <p:nvPr/>
        </p:nvSpPr>
        <p:spPr>
          <a:xfrm>
            <a:off x="4636948" y="2381618"/>
            <a:ext cx="6719899" cy="529717"/>
          </a:xfrm>
          <a:prstGeom prst="rect">
            <a:avLst/>
          </a:prstGeom>
          <a:noFill/>
        </p:spPr>
        <p:txBody>
          <a:bodyPr wrap="square" lIns="0" rIns="0" tIns="0" bIns="0" anchor="ctr">
            <a:spAutoFit/>
          </a:bodyPr>
          <a:lstStyle/>
          <a:p>
            <a:pPr algn="l">
              <a:lnSpc>
                <a:spcPts val="1437"/>
              </a:lnSpc>
              <a:spcAft>
                <a:spcPts val="0"/>
              </a:spcAft>
            </a:pPr>
            <a:r>
              <a:rPr sz="1250" b="0" i="0">
                <a:solidFill>
                  <a:srgbClr val="141B2E"/>
                </a:solidFill>
                <a:latin typeface="Arial"/>
              </a:rPr>
              <a:t>the order of magnitude is 1-2 GB per session, and that is at rest, without what a session will launch itself</a:t>
            </a:r>
          </a:p>
        </p:txBody>
      </p:sp>
      <p:cxnSp>
        <p:nvCxnSpPr>
          <p:cNvPr id="10" name="Connector 9"/>
          <p:cNvCxnSpPr/>
          <p:nvPr/>
        </p:nvCxnSpPr>
        <p:spPr>
          <a:xfrm>
            <a:off x="685800" y="2911335"/>
            <a:ext cx="10817352" cy="0"/>
          </a:xfrm>
          <a:prstGeom prst="line">
            <a:avLst/>
          </a:prstGeom>
          <a:ln w="9525">
            <a:solidFill>
              <a:srgbClr val="E5EAF0"/>
            </a:solidFill>
          </a:ln>
        </p:spPr>
        <p:style>
          <a:lnRef idx="2">
            <a:schemeClr val="accent1"/>
          </a:lnRef>
          <a:fillRef idx="0">
            <a:schemeClr val="accent1"/>
          </a:fillRef>
          <a:effectRef idx="1">
            <a:schemeClr val="accent1"/>
          </a:effectRef>
          <a:fontRef idx="minor">
            <a:schemeClr val="tx1"/>
          </a:fontRef>
        </p:style>
      </p:cxnSp>
      <p:sp>
        <p:nvSpPr>
          <p:cNvPr id="11" name="TextBox 10"/>
          <p:cNvSpPr txBox="1"/>
          <p:nvPr/>
        </p:nvSpPr>
        <p:spPr>
          <a:xfrm>
            <a:off x="685800" y="2911335"/>
            <a:ext cx="3804844" cy="529717"/>
          </a:xfrm>
          <a:prstGeom prst="rect">
            <a:avLst/>
          </a:prstGeom>
          <a:noFill/>
        </p:spPr>
        <p:txBody>
          <a:bodyPr wrap="square" lIns="0" rIns="0" tIns="0" bIns="0" anchor="ctr">
            <a:spAutoFit/>
          </a:bodyPr>
          <a:lstStyle/>
          <a:p>
            <a:pPr algn="l">
              <a:lnSpc>
                <a:spcPts val="1437"/>
              </a:lnSpc>
              <a:spcAft>
                <a:spcPts val="0"/>
              </a:spcAft>
            </a:pPr>
            <a:r>
              <a:rPr sz="1250" b="0" i="0">
                <a:solidFill>
                  <a:srgbClr val="141B2E"/>
                </a:solidFill>
                <a:latin typeface="Arial"/>
              </a:rPr>
              <a:t>at thirty to forty, depending on their size, it stops responding</a:t>
            </a:r>
          </a:p>
        </p:txBody>
      </p:sp>
      <p:sp>
        <p:nvSpPr>
          <p:cNvPr id="12" name="TextBox 11"/>
          <p:cNvSpPr txBox="1"/>
          <p:nvPr/>
        </p:nvSpPr>
        <p:spPr>
          <a:xfrm>
            <a:off x="4636948" y="2911335"/>
            <a:ext cx="6719899" cy="529717"/>
          </a:xfrm>
          <a:prstGeom prst="rect">
            <a:avLst/>
          </a:prstGeom>
          <a:noFill/>
        </p:spPr>
        <p:txBody>
          <a:bodyPr wrap="square" lIns="0" rIns="0" tIns="0" bIns="0" anchor="ctr">
            <a:spAutoFit/>
          </a:bodyPr>
          <a:lstStyle/>
          <a:p>
            <a:pPr algn="l">
              <a:lnSpc>
                <a:spcPts val="1437"/>
              </a:lnSpc>
              <a:spcAft>
                <a:spcPts val="0"/>
              </a:spcAft>
            </a:pPr>
            <a:r>
              <a:rPr sz="1250" b="0" i="0">
                <a:solidFill>
                  <a:srgbClr val="141B2E"/>
                </a:solidFill>
                <a:latin typeface="Arial"/>
              </a:rPr>
              <a:t>a dozen sessions on a machine like that is the working limit, and it is counted before launching</a:t>
            </a:r>
          </a:p>
        </p:txBody>
      </p:sp>
      <p:cxnSp>
        <p:nvCxnSpPr>
          <p:cNvPr id="13" name="Connector 12"/>
          <p:cNvCxnSpPr/>
          <p:nvPr/>
        </p:nvCxnSpPr>
        <p:spPr>
          <a:xfrm>
            <a:off x="685800" y="3441052"/>
            <a:ext cx="10817352" cy="0"/>
          </a:xfrm>
          <a:prstGeom prst="line">
            <a:avLst/>
          </a:prstGeom>
          <a:ln w="9525">
            <a:solidFill>
              <a:srgbClr val="E5EAF0"/>
            </a:solidFill>
          </a:ln>
        </p:spPr>
        <p:style>
          <a:lnRef idx="2">
            <a:schemeClr val="accent1"/>
          </a:lnRef>
          <a:fillRef idx="0">
            <a:schemeClr val="accent1"/>
          </a:fillRef>
          <a:effectRef idx="1">
            <a:schemeClr val="accent1"/>
          </a:effectRef>
          <a:fontRef idx="minor">
            <a:schemeClr val="tx1"/>
          </a:fontRef>
        </p:style>
      </p:cxnSp>
      <p:sp>
        <p:nvSpPr>
          <p:cNvPr id="14" name="TextBox 13"/>
          <p:cNvSpPr txBox="1"/>
          <p:nvPr/>
        </p:nvSpPr>
        <p:spPr>
          <a:xfrm>
            <a:off x="685800" y="3441052"/>
            <a:ext cx="3804844" cy="529717"/>
          </a:xfrm>
          <a:prstGeom prst="rect">
            <a:avLst/>
          </a:prstGeom>
          <a:noFill/>
        </p:spPr>
        <p:txBody>
          <a:bodyPr wrap="square" lIns="0" rIns="0" tIns="0" bIns="0" anchor="ctr">
            <a:spAutoFit/>
          </a:bodyPr>
          <a:lstStyle/>
          <a:p>
            <a:pPr algn="l">
              <a:lnSpc>
                <a:spcPts val="1437"/>
              </a:lnSpc>
              <a:spcAft>
                <a:spcPts val="0"/>
              </a:spcAft>
            </a:pPr>
            <a:r>
              <a:rPr sz="1250" b="0" i="0">
                <a:solidFill>
                  <a:srgbClr val="141B2E"/>
                </a:solidFill>
                <a:latin typeface="Arial"/>
              </a:rPr>
              <a:t>bringing up one more session costs the same as bringing up the first</a:t>
            </a:r>
          </a:p>
        </p:txBody>
      </p:sp>
      <p:sp>
        <p:nvSpPr>
          <p:cNvPr id="15" name="TextBox 14"/>
          <p:cNvSpPr txBox="1"/>
          <p:nvPr/>
        </p:nvSpPr>
        <p:spPr>
          <a:xfrm>
            <a:off x="4636948" y="3441052"/>
            <a:ext cx="6719899" cy="529717"/>
          </a:xfrm>
          <a:prstGeom prst="rect">
            <a:avLst/>
          </a:prstGeom>
          <a:noFill/>
        </p:spPr>
        <p:txBody>
          <a:bodyPr wrap="square" lIns="0" rIns="0" tIns="0" bIns="0" anchor="ctr">
            <a:spAutoFit/>
          </a:bodyPr>
          <a:lstStyle/>
          <a:p>
            <a:pPr algn="l">
              <a:lnSpc>
                <a:spcPts val="1437"/>
              </a:lnSpc>
              <a:spcAft>
                <a:spcPts val="0"/>
              </a:spcAft>
            </a:pPr>
            <a:r>
              <a:rPr sz="1250" b="0" i="0">
                <a:solidFill>
                  <a:srgbClr val="141B2E"/>
                </a:solidFill>
                <a:latin typeface="Arial"/>
              </a:rPr>
              <a:t>the tool's cap is twenty subagents at once inside one session; machine memory is counted by the number of sessions themselves and may run out sooner</a:t>
            </a:r>
          </a:p>
        </p:txBody>
      </p:sp>
      <p:sp>
        <p:nvSpPr>
          <p:cNvPr id="16" name="Rounded Rectangle 15"/>
          <p:cNvSpPr/>
          <p:nvPr/>
        </p:nvSpPr>
        <p:spPr>
          <a:xfrm>
            <a:off x="502920" y="4362500"/>
            <a:ext cx="82296" cy="746760"/>
          </a:xfrm>
          <a:prstGeom prst="roundRect">
            <a:avLst>
              <a:gd name="adj" fmla="val 50000"/>
            </a:avLst>
          </a:prstGeom>
          <a:solidFill>
            <a:srgbClr val="F0AB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59536" y="4490516"/>
            <a:ext cx="10643616" cy="490727"/>
          </a:xfrm>
          <a:prstGeom prst="rect">
            <a:avLst/>
          </a:prstGeom>
          <a:noFill/>
        </p:spPr>
        <p:txBody>
          <a:bodyPr wrap="square" lIns="0" rIns="0" tIns="0" bIns="0" anchor="ctr">
            <a:spAutoFit/>
          </a:bodyPr>
          <a:lstStyle/>
          <a:p>
            <a:pPr algn="l">
              <a:lnSpc>
                <a:spcPts val="1860"/>
              </a:lnSpc>
              <a:spcAft>
                <a:spcPts val="300"/>
              </a:spcAft>
            </a:pPr>
            <a:r>
              <a:rPr sz="1500" b="1" i="0">
                <a:solidFill>
                  <a:srgbClr val="141B2E"/>
                </a:solidFill>
                <a:latin typeface="Arial"/>
              </a:rPr>
              <a:t>The language the agent itself is written in shows here: a client built in Rust is noticeably lighter than its counterpart in JavaScript. The author estimated the multiple by eye.</a:t>
            </a:r>
          </a:p>
        </p:txBody>
      </p:sp>
      <p:sp>
        <p:nvSpPr>
          <p:cNvPr id="18" name="Rounded Rectangle 17"/>
          <p:cNvSpPr/>
          <p:nvPr/>
        </p:nvSpPr>
        <p:spPr>
          <a:xfrm>
            <a:off x="502920" y="5318112"/>
            <a:ext cx="82296" cy="982980"/>
          </a:xfrm>
          <a:prstGeom prst="roundRect">
            <a:avLst>
              <a:gd name="adj" fmla="val 50000"/>
            </a:avLst>
          </a:prstGeom>
          <a:solidFill>
            <a:srgbClr val="F0AB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59536" y="5446128"/>
            <a:ext cx="10643616" cy="726948"/>
          </a:xfrm>
          <a:prstGeom prst="rect">
            <a:avLst/>
          </a:prstGeom>
          <a:noFill/>
        </p:spPr>
        <p:txBody>
          <a:bodyPr wrap="square" lIns="0" rIns="0" tIns="0" bIns="0" anchor="ctr">
            <a:spAutoFit/>
          </a:bodyPr>
          <a:lstStyle/>
          <a:p>
            <a:pPr algn="l">
              <a:lnSpc>
                <a:spcPts val="1860"/>
              </a:lnSpc>
              <a:spcAft>
                <a:spcPts val="300"/>
              </a:spcAft>
            </a:pPr>
            <a:r>
              <a:rPr sz="1500" b="1" i="0">
                <a:solidFill>
                  <a:srgbClr val="141B2E"/>
                </a:solidFill>
                <a:latin typeface="Arial"/>
              </a:rPr>
              <a:t>This is one person's measurement on one configuration. The order of magnitude is worth re-measuring for yourself — on your own memory, your own number of sessions and your own agent.</a:t>
            </a:r>
          </a:p>
        </p:txBody>
      </p:sp>
      <p:sp>
        <p:nvSpPr>
          <p:cNvPr id="20" name="TextBox 19"/>
          <p:cNvSpPr txBox="1"/>
          <p:nvPr/>
        </p:nvSpPr>
        <p:spPr>
          <a:xfrm>
            <a:off x="10957255" y="6437376"/>
            <a:ext cx="914400" cy="274320"/>
          </a:xfrm>
          <a:prstGeom prst="rect">
            <a:avLst/>
          </a:prstGeom>
          <a:noFill/>
        </p:spPr>
        <p:txBody>
          <a:bodyPr wrap="square" lIns="0" rIns="0" tIns="0" bIns="0" anchor="t">
            <a:spAutoFit/>
          </a:bodyPr>
          <a:lstStyle/>
          <a:p>
            <a:pPr algn="r">
              <a:lnSpc>
                <a:spcPts val="1238"/>
              </a:lnSpc>
              <a:spcAft>
                <a:spcPts val="0"/>
              </a:spcAft>
            </a:pPr>
            <a:r>
              <a:rPr sz="1050" b="0" i="0">
                <a:solidFill>
                  <a:srgbClr val="6B7685"/>
                </a:solidFill>
                <a:latin typeface="Arial"/>
              </a:rPr>
              <a:t>44</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02920" y="310896"/>
            <a:ext cx="11183112" cy="807720"/>
          </a:xfrm>
          <a:prstGeom prst="rect">
            <a:avLst/>
          </a:prstGeom>
          <a:noFill/>
        </p:spPr>
        <p:txBody>
          <a:bodyPr wrap="square" lIns="0" rIns="0" tIns="0" bIns="0" anchor="t">
            <a:spAutoFit/>
          </a:bodyPr>
          <a:lstStyle/>
          <a:p>
            <a:pPr algn="l">
              <a:lnSpc>
                <a:spcPts val="2963"/>
              </a:lnSpc>
              <a:spcAft>
                <a:spcPts val="0"/>
              </a:spcAft>
            </a:pPr>
            <a:r>
              <a:rPr sz="2600" b="1" i="0">
                <a:solidFill>
                  <a:srgbClr val="141B2E"/>
                </a:solidFill>
                <a:latin typeface="Arial"/>
              </a:rPr>
              <a:t>A week later: the lookup list and the form, configured separately</a:t>
            </a:r>
          </a:p>
        </p:txBody>
      </p:sp>
      <p:sp>
        <p:nvSpPr>
          <p:cNvPr id="3" name="Rounded Rectangle 2"/>
          <p:cNvSpPr/>
          <p:nvPr/>
        </p:nvSpPr>
        <p:spPr>
          <a:xfrm>
            <a:off x="502920" y="1899208"/>
            <a:ext cx="11183112" cy="1908810"/>
          </a:xfrm>
          <a:prstGeom prst="roundRect">
            <a:avLst>
              <a:gd name="adj" fmla="val 15968"/>
            </a:avLst>
          </a:prstGeom>
          <a:solidFill>
            <a:srgbClr val="F4F7FA"/>
          </a:solidFill>
          <a:ln w="15240">
            <a:solidFill>
              <a:srgbClr val="E5EA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58952" y="2435847"/>
            <a:ext cx="100584" cy="100584"/>
          </a:xfrm>
          <a:prstGeom prst="roundRect">
            <a:avLst>
              <a:gd name="adj" fmla="val 50000"/>
            </a:avLst>
          </a:prstGeom>
          <a:solidFill>
            <a:srgbClr val="0280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06424" y="2118664"/>
            <a:ext cx="10360152" cy="734949"/>
          </a:xfrm>
          <a:prstGeom prst="rect">
            <a:avLst/>
          </a:prstGeom>
          <a:noFill/>
        </p:spPr>
        <p:txBody>
          <a:bodyPr wrap="square" lIns="0" rIns="0" tIns="0" bIns="0" anchor="ctr">
            <a:spAutoFit/>
          </a:bodyPr>
          <a:lstStyle/>
          <a:p>
            <a:pPr algn="l">
              <a:lnSpc>
                <a:spcPts val="1593"/>
              </a:lnSpc>
              <a:spcAft>
                <a:spcPts val="0"/>
              </a:spcAft>
            </a:pPr>
            <a:r>
              <a:rPr sz="1350" b="0" i="0">
                <a:solidFill>
                  <a:srgbClr val="141B2E"/>
                </a:solidFill>
                <a:latin typeface="Arial"/>
              </a:rPr>
              <a:t>A week later — different work: a configurable platform, the kind where lookup lists, forms, access permissions and scripts are set up by configuring. Parallelizing is especially tempting there, because every piece looks like a self-contained screen.</a:t>
            </a:r>
          </a:p>
        </p:txBody>
      </p:sp>
      <p:sp>
        <p:nvSpPr>
          <p:cNvPr id="6" name="Rounded Rectangle 5"/>
          <p:cNvSpPr/>
          <p:nvPr/>
        </p:nvSpPr>
        <p:spPr>
          <a:xfrm>
            <a:off x="758952" y="3170796"/>
            <a:ext cx="100584" cy="100584"/>
          </a:xfrm>
          <a:prstGeom prst="roundRect">
            <a:avLst>
              <a:gd name="adj" fmla="val 50000"/>
            </a:avLst>
          </a:prstGeom>
          <a:solidFill>
            <a:srgbClr val="0280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106424" y="2853613"/>
            <a:ext cx="10360152" cy="734949"/>
          </a:xfrm>
          <a:prstGeom prst="rect">
            <a:avLst/>
          </a:prstGeom>
          <a:noFill/>
        </p:spPr>
        <p:txBody>
          <a:bodyPr wrap="square" lIns="0" rIns="0" tIns="0" bIns="0" anchor="ctr">
            <a:spAutoFit/>
          </a:bodyPr>
          <a:lstStyle/>
          <a:p>
            <a:pPr algn="l">
              <a:lnSpc>
                <a:spcPts val="1593"/>
              </a:lnSpc>
              <a:spcAft>
                <a:spcPts val="0"/>
              </a:spcAft>
            </a:pPr>
            <a:r>
              <a:rPr sz="1350" b="0" i="0">
                <a:solidFill>
                  <a:srgbClr val="141B2E"/>
                </a:solidFill>
                <a:latin typeface="Arial"/>
              </a:rPr>
              <a:t>Two pieces go to two subagents at the same time: one sets up the lookup list, the second configures the form that shows and checks that lookup list. Nobody writes a shared description of the task — it seems superfluous, since the pieces are right there on the screen.</a:t>
            </a:r>
          </a:p>
        </p:txBody>
      </p:sp>
      <p:sp>
        <p:nvSpPr>
          <p:cNvPr id="8" name="Rounded Rectangle 7"/>
          <p:cNvSpPr/>
          <p:nvPr/>
        </p:nvSpPr>
        <p:spPr>
          <a:xfrm>
            <a:off x="502920" y="4475530"/>
            <a:ext cx="82296" cy="982980"/>
          </a:xfrm>
          <a:prstGeom prst="roundRect">
            <a:avLst>
              <a:gd name="adj" fmla="val 50000"/>
            </a:avLst>
          </a:prstGeom>
          <a:solidFill>
            <a:srgbClr val="F0AB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59536" y="4603546"/>
            <a:ext cx="10643616" cy="726948"/>
          </a:xfrm>
          <a:prstGeom prst="rect">
            <a:avLst/>
          </a:prstGeom>
          <a:noFill/>
        </p:spPr>
        <p:txBody>
          <a:bodyPr wrap="square" lIns="0" rIns="0" tIns="0" bIns="0" anchor="ctr">
            <a:spAutoFit/>
          </a:bodyPr>
          <a:lstStyle/>
          <a:p>
            <a:pPr algn="l">
              <a:lnSpc>
                <a:spcPts val="1860"/>
              </a:lnSpc>
              <a:spcAft>
                <a:spcPts val="300"/>
              </a:spcAft>
            </a:pPr>
            <a:r>
              <a:rPr sz="1500" b="1" i="0">
                <a:solidFill>
                  <a:srgbClr val="141B2E"/>
                </a:solidFill>
                <a:latin typeface="Arial"/>
              </a:rPr>
              <a:t>Both come back with the job done, and both are right: the lookup list is set up, the form is configured. Together they do not work — the fields in the lookup list were named and composed by one of them, the form expects something else. This has to be reconciled by hand, and reconciling takes longer than the configuring itself did.</a:t>
            </a:r>
          </a:p>
        </p:txBody>
      </p:sp>
      <p:sp>
        <p:nvSpPr>
          <p:cNvPr id="10" name="TextBox 9"/>
          <p:cNvSpPr txBox="1"/>
          <p:nvPr/>
        </p:nvSpPr>
        <p:spPr>
          <a:xfrm>
            <a:off x="10957255" y="6437376"/>
            <a:ext cx="914400" cy="274320"/>
          </a:xfrm>
          <a:prstGeom prst="rect">
            <a:avLst/>
          </a:prstGeom>
          <a:noFill/>
        </p:spPr>
        <p:txBody>
          <a:bodyPr wrap="square" lIns="0" rIns="0" tIns="0" bIns="0" anchor="t">
            <a:spAutoFit/>
          </a:bodyPr>
          <a:lstStyle/>
          <a:p>
            <a:pPr algn="r">
              <a:lnSpc>
                <a:spcPts val="1238"/>
              </a:lnSpc>
              <a:spcAft>
                <a:spcPts val="0"/>
              </a:spcAft>
            </a:pPr>
            <a:r>
              <a:rPr sz="1050" b="0" i="0">
                <a:solidFill>
                  <a:srgbClr val="6B7685"/>
                </a:solidFill>
                <a:latin typeface="Arial"/>
              </a:rPr>
              <a:t>45</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02920" y="310896"/>
            <a:ext cx="11183112" cy="431291"/>
          </a:xfrm>
          <a:prstGeom prst="rect">
            <a:avLst/>
          </a:prstGeom>
          <a:noFill/>
        </p:spPr>
        <p:txBody>
          <a:bodyPr wrap="square" lIns="0" rIns="0" tIns="0" bIns="0" anchor="t">
            <a:spAutoFit/>
          </a:bodyPr>
          <a:lstStyle/>
          <a:p>
            <a:pPr algn="l">
              <a:lnSpc>
                <a:spcPts val="2963"/>
              </a:lnSpc>
              <a:spcAft>
                <a:spcPts val="0"/>
              </a:spcAft>
            </a:pPr>
            <a:r>
              <a:rPr sz="2600" b="1" i="0">
                <a:solidFill>
                  <a:srgbClr val="141B2E"/>
                </a:solidFill>
                <a:latin typeface="Arial"/>
              </a:rPr>
              <a:t>The condition nobody wrote down</a:t>
            </a:r>
          </a:p>
        </p:txBody>
      </p:sp>
      <p:sp>
        <p:nvSpPr>
          <p:cNvPr id="3" name="Rounded Rectangle 2"/>
          <p:cNvSpPr/>
          <p:nvPr/>
        </p:nvSpPr>
        <p:spPr>
          <a:xfrm>
            <a:off x="502920" y="1054798"/>
            <a:ext cx="11183112" cy="3679507"/>
          </a:xfrm>
          <a:prstGeom prst="roundRect">
            <a:avLst>
              <a:gd name="adj" fmla="val 8283"/>
            </a:avLst>
          </a:prstGeom>
          <a:solidFill>
            <a:srgbClr val="FFFFFF"/>
          </a:solidFill>
          <a:ln w="1778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85800" y="1237678"/>
            <a:ext cx="2102414" cy="282067"/>
          </a:xfrm>
          <a:prstGeom prst="rect">
            <a:avLst/>
          </a:prstGeom>
          <a:noFill/>
        </p:spPr>
        <p:txBody>
          <a:bodyPr wrap="square" lIns="0" rIns="0" tIns="0" bIns="0" anchor="t">
            <a:spAutoFit/>
          </a:bodyPr>
          <a:lstStyle/>
          <a:p>
            <a:pPr algn="l">
              <a:lnSpc>
                <a:spcPts val="1265"/>
              </a:lnSpc>
              <a:spcAft>
                <a:spcPts val="0"/>
              </a:spcAft>
            </a:pPr>
            <a:r>
              <a:rPr sz="1150" b="1" i="0">
                <a:solidFill>
                  <a:srgbClr val="6B7685"/>
                </a:solidFill>
                <a:latin typeface="Arial"/>
              </a:rPr>
              <a:t>MOVE</a:t>
            </a:r>
          </a:p>
        </p:txBody>
      </p:sp>
      <p:sp>
        <p:nvSpPr>
          <p:cNvPr id="5" name="TextBox 4"/>
          <p:cNvSpPr txBox="1"/>
          <p:nvPr/>
        </p:nvSpPr>
        <p:spPr>
          <a:xfrm>
            <a:off x="2934518" y="1237678"/>
            <a:ext cx="3003514" cy="282067"/>
          </a:xfrm>
          <a:prstGeom prst="rect">
            <a:avLst/>
          </a:prstGeom>
          <a:noFill/>
        </p:spPr>
        <p:txBody>
          <a:bodyPr wrap="square" lIns="0" rIns="0" tIns="0" bIns="0" anchor="t">
            <a:spAutoFit/>
          </a:bodyPr>
          <a:lstStyle/>
          <a:p>
            <a:pPr algn="l">
              <a:lnSpc>
                <a:spcPts val="1265"/>
              </a:lnSpc>
              <a:spcAft>
                <a:spcPts val="0"/>
              </a:spcAft>
            </a:pPr>
            <a:r>
              <a:rPr sz="1150" b="1" i="0">
                <a:solidFill>
                  <a:srgbClr val="6B7685"/>
                </a:solidFill>
                <a:latin typeface="Arial"/>
              </a:rPr>
              <a:t>WHAT IT DOES</a:t>
            </a:r>
          </a:p>
        </p:txBody>
      </p:sp>
      <p:sp>
        <p:nvSpPr>
          <p:cNvPr id="6" name="TextBox 5"/>
          <p:cNvSpPr txBox="1"/>
          <p:nvPr/>
        </p:nvSpPr>
        <p:spPr>
          <a:xfrm>
            <a:off x="6084336" y="1237678"/>
            <a:ext cx="5272511" cy="282067"/>
          </a:xfrm>
          <a:prstGeom prst="rect">
            <a:avLst/>
          </a:prstGeom>
          <a:noFill/>
        </p:spPr>
        <p:txBody>
          <a:bodyPr wrap="square" lIns="0" rIns="0" tIns="0" bIns="0" anchor="t">
            <a:spAutoFit/>
          </a:bodyPr>
          <a:lstStyle/>
          <a:p>
            <a:pPr algn="l">
              <a:lnSpc>
                <a:spcPts val="1265"/>
              </a:lnSpc>
              <a:spcAft>
                <a:spcPts val="0"/>
              </a:spcAft>
            </a:pPr>
            <a:r>
              <a:rPr sz="1150" b="1" i="0">
                <a:solidFill>
                  <a:srgbClr val="6B7685"/>
                </a:solidFill>
                <a:latin typeface="Arial"/>
              </a:rPr>
              <a:t>WHAT IT DOES NOT DO / THE LIMIT</a:t>
            </a:r>
          </a:p>
        </p:txBody>
      </p:sp>
      <p:sp>
        <p:nvSpPr>
          <p:cNvPr id="7" name="TextBox 6"/>
          <p:cNvSpPr txBox="1"/>
          <p:nvPr/>
        </p:nvSpPr>
        <p:spPr>
          <a:xfrm>
            <a:off x="685800" y="1519745"/>
            <a:ext cx="2102414" cy="712279"/>
          </a:xfrm>
          <a:prstGeom prst="rect">
            <a:avLst/>
          </a:prstGeom>
          <a:noFill/>
        </p:spPr>
        <p:txBody>
          <a:bodyPr wrap="square" lIns="0" rIns="0" tIns="0" bIns="0" anchor="ctr">
            <a:spAutoFit/>
          </a:bodyPr>
          <a:lstStyle/>
          <a:p>
            <a:pPr algn="l">
              <a:lnSpc>
                <a:spcPts val="1437"/>
              </a:lnSpc>
              <a:spcAft>
                <a:spcPts val="0"/>
              </a:spcAft>
            </a:pPr>
            <a:r>
              <a:rPr sz="1250" b="0" i="0">
                <a:solidFill>
                  <a:srgbClr val="141B2E"/>
                </a:solidFill>
                <a:latin typeface="Arial"/>
              </a:rPr>
              <a:t>give both pieces to one subagent</a:t>
            </a:r>
          </a:p>
        </p:txBody>
      </p:sp>
      <p:sp>
        <p:nvSpPr>
          <p:cNvPr id="8" name="TextBox 7"/>
          <p:cNvSpPr txBox="1"/>
          <p:nvPr/>
        </p:nvSpPr>
        <p:spPr>
          <a:xfrm>
            <a:off x="2934518" y="1519745"/>
            <a:ext cx="3003514" cy="712279"/>
          </a:xfrm>
          <a:prstGeom prst="rect">
            <a:avLst/>
          </a:prstGeom>
          <a:noFill/>
        </p:spPr>
        <p:txBody>
          <a:bodyPr wrap="square" lIns="0" rIns="0" tIns="0" bIns="0" anchor="ctr">
            <a:spAutoFit/>
          </a:bodyPr>
          <a:lstStyle/>
          <a:p>
            <a:pPr algn="l">
              <a:lnSpc>
                <a:spcPts val="1437"/>
              </a:lnSpc>
              <a:spcAft>
                <a:spcPts val="0"/>
              </a:spcAft>
            </a:pPr>
            <a:r>
              <a:rPr sz="1250" b="0" i="0">
                <a:solidFill>
                  <a:srgbClr val="141B2E"/>
                </a:solidFill>
                <a:latin typeface="Arial"/>
              </a:rPr>
              <a:t>one worker sees both ends and keeps the composition of the fields consistent by itself</a:t>
            </a:r>
          </a:p>
        </p:txBody>
      </p:sp>
      <p:sp>
        <p:nvSpPr>
          <p:cNvPr id="9" name="TextBox 8"/>
          <p:cNvSpPr txBox="1"/>
          <p:nvPr/>
        </p:nvSpPr>
        <p:spPr>
          <a:xfrm>
            <a:off x="6084336" y="1519745"/>
            <a:ext cx="5272511" cy="712279"/>
          </a:xfrm>
          <a:prstGeom prst="rect">
            <a:avLst/>
          </a:prstGeom>
          <a:noFill/>
        </p:spPr>
        <p:txBody>
          <a:bodyPr wrap="square" lIns="0" rIns="0" tIns="0" bIns="0" anchor="ctr">
            <a:spAutoFit/>
          </a:bodyPr>
          <a:lstStyle/>
          <a:p>
            <a:pPr algn="l">
              <a:lnSpc>
                <a:spcPts val="1437"/>
              </a:lnSpc>
              <a:spcAft>
                <a:spcPts val="0"/>
              </a:spcAft>
            </a:pPr>
            <a:r>
              <a:rPr sz="1250" b="0" i="0">
                <a:solidFill>
                  <a:srgbClr val="141B2E"/>
                </a:solidFill>
                <a:latin typeface="Arial"/>
              </a:rPr>
              <a:t>gives up the parallelism where it was real and free; on a large task one worker becomes the bottleneck</a:t>
            </a:r>
          </a:p>
        </p:txBody>
      </p:sp>
      <p:cxnSp>
        <p:nvCxnSpPr>
          <p:cNvPr id="10" name="Connector 9"/>
          <p:cNvCxnSpPr/>
          <p:nvPr/>
        </p:nvCxnSpPr>
        <p:spPr>
          <a:xfrm>
            <a:off x="685800" y="2232025"/>
            <a:ext cx="10817352" cy="0"/>
          </a:xfrm>
          <a:prstGeom prst="line">
            <a:avLst/>
          </a:prstGeom>
          <a:ln w="9525">
            <a:solidFill>
              <a:srgbClr val="E5EAF0"/>
            </a:solidFill>
          </a:ln>
        </p:spPr>
        <p:style>
          <a:lnRef idx="2">
            <a:schemeClr val="accent1"/>
          </a:lnRef>
          <a:fillRef idx="0">
            <a:schemeClr val="accent1"/>
          </a:fillRef>
          <a:effectRef idx="1">
            <a:schemeClr val="accent1"/>
          </a:effectRef>
          <a:fontRef idx="minor">
            <a:schemeClr val="tx1"/>
          </a:fontRef>
        </p:style>
      </p:cxnSp>
      <p:sp>
        <p:nvSpPr>
          <p:cNvPr id="11" name="TextBox 10"/>
          <p:cNvSpPr txBox="1"/>
          <p:nvPr/>
        </p:nvSpPr>
        <p:spPr>
          <a:xfrm>
            <a:off x="685800" y="2232025"/>
            <a:ext cx="2102414" cy="894842"/>
          </a:xfrm>
          <a:prstGeom prst="rect">
            <a:avLst/>
          </a:prstGeom>
          <a:noFill/>
        </p:spPr>
        <p:txBody>
          <a:bodyPr wrap="square" lIns="0" rIns="0" tIns="0" bIns="0" anchor="ctr">
            <a:spAutoFit/>
          </a:bodyPr>
          <a:lstStyle/>
          <a:p>
            <a:pPr algn="l">
              <a:lnSpc>
                <a:spcPts val="1437"/>
              </a:lnSpc>
              <a:spcAft>
                <a:spcPts val="0"/>
              </a:spcAft>
            </a:pPr>
            <a:r>
              <a:rPr sz="1250" b="0" i="0">
                <a:solidFill>
                  <a:srgbClr val="141B2E"/>
                </a:solidFill>
                <a:latin typeface="Arial"/>
              </a:rPr>
              <a:t>give each of them broad access — let them work out the neighboring piece themselves</a:t>
            </a:r>
          </a:p>
        </p:txBody>
      </p:sp>
      <p:sp>
        <p:nvSpPr>
          <p:cNvPr id="12" name="TextBox 11"/>
          <p:cNvSpPr txBox="1"/>
          <p:nvPr/>
        </p:nvSpPr>
        <p:spPr>
          <a:xfrm>
            <a:off x="2934518" y="2232025"/>
            <a:ext cx="3003514" cy="894842"/>
          </a:xfrm>
          <a:prstGeom prst="rect">
            <a:avLst/>
          </a:prstGeom>
          <a:noFill/>
        </p:spPr>
        <p:txBody>
          <a:bodyPr wrap="square" lIns="0" rIns="0" tIns="0" bIns="0" anchor="ctr">
            <a:spAutoFit/>
          </a:bodyPr>
          <a:lstStyle/>
          <a:p>
            <a:pPr algn="l">
              <a:lnSpc>
                <a:spcPts val="1437"/>
              </a:lnSpc>
              <a:spcAft>
                <a:spcPts val="0"/>
              </a:spcAft>
            </a:pPr>
            <a:r>
              <a:rPr sz="1250" b="0" i="0">
                <a:solidFill>
                  <a:srgbClr val="141B2E"/>
                </a:solidFill>
                <a:latin typeface="Arial"/>
              </a:rPr>
              <a:t>sometimes it works: a worker finds the neighboring setting and adapts</a:t>
            </a:r>
          </a:p>
        </p:txBody>
      </p:sp>
      <p:sp>
        <p:nvSpPr>
          <p:cNvPr id="13" name="TextBox 12"/>
          <p:cNvSpPr txBox="1"/>
          <p:nvPr/>
        </p:nvSpPr>
        <p:spPr>
          <a:xfrm>
            <a:off x="6084336" y="2232025"/>
            <a:ext cx="5272511" cy="894842"/>
          </a:xfrm>
          <a:prstGeom prst="rect">
            <a:avLst/>
          </a:prstGeom>
          <a:noFill/>
        </p:spPr>
        <p:txBody>
          <a:bodyPr wrap="square" lIns="0" rIns="0" tIns="0" bIns="0" anchor="ctr">
            <a:spAutoFit/>
          </a:bodyPr>
          <a:lstStyle/>
          <a:p>
            <a:pPr algn="l">
              <a:lnSpc>
                <a:spcPts val="1437"/>
              </a:lnSpc>
              <a:spcAft>
                <a:spcPts val="0"/>
              </a:spcAft>
            </a:pPr>
            <a:r>
              <a:rPr sz="1250" b="0" i="0">
                <a:solidFill>
                  <a:srgbClr val="141B2E"/>
                </a:solidFill>
                <a:latin typeface="Arial"/>
              </a:rPr>
              <a:t>broad access means a broad context and broad permissions; reading the neighboring piece does not yet mean understanding it the same way</a:t>
            </a:r>
          </a:p>
        </p:txBody>
      </p:sp>
      <p:cxnSp>
        <p:nvCxnSpPr>
          <p:cNvPr id="14" name="Connector 13"/>
          <p:cNvCxnSpPr/>
          <p:nvPr/>
        </p:nvCxnSpPr>
        <p:spPr>
          <a:xfrm>
            <a:off x="685800" y="3126867"/>
            <a:ext cx="10817352" cy="0"/>
          </a:xfrm>
          <a:prstGeom prst="line">
            <a:avLst/>
          </a:prstGeom>
          <a:ln w="9525">
            <a:solidFill>
              <a:srgbClr val="E5EAF0"/>
            </a:solidFill>
          </a:ln>
        </p:spPr>
        <p:style>
          <a:lnRef idx="2">
            <a:schemeClr val="accent1"/>
          </a:lnRef>
          <a:fillRef idx="0">
            <a:schemeClr val="accent1"/>
          </a:fillRef>
          <a:effectRef idx="1">
            <a:schemeClr val="accent1"/>
          </a:effectRef>
          <a:fontRef idx="minor">
            <a:schemeClr val="tx1"/>
          </a:fontRef>
        </p:style>
      </p:cxnSp>
      <p:sp>
        <p:nvSpPr>
          <p:cNvPr id="15" name="TextBox 14"/>
          <p:cNvSpPr txBox="1"/>
          <p:nvPr/>
        </p:nvSpPr>
        <p:spPr>
          <a:xfrm>
            <a:off x="685800" y="3126867"/>
            <a:ext cx="2102414" cy="712279"/>
          </a:xfrm>
          <a:prstGeom prst="rect">
            <a:avLst/>
          </a:prstGeom>
          <a:noFill/>
        </p:spPr>
        <p:txBody>
          <a:bodyPr wrap="square" lIns="0" rIns="0" tIns="0" bIns="0" anchor="ctr">
            <a:spAutoFit/>
          </a:bodyPr>
          <a:lstStyle/>
          <a:p>
            <a:pPr algn="l">
              <a:lnSpc>
                <a:spcPts val="1437"/>
              </a:lnSpc>
              <a:spcAft>
                <a:spcPts val="0"/>
              </a:spcAft>
            </a:pPr>
            <a:r>
              <a:rPr sz="1250" b="0" i="0">
                <a:solidFill>
                  <a:srgbClr val="141B2E"/>
                </a:solidFill>
                <a:latin typeface="Arial"/>
              </a:rPr>
              <a:t>a shared description of the task that both read before starting</a:t>
            </a:r>
          </a:p>
        </p:txBody>
      </p:sp>
      <p:sp>
        <p:nvSpPr>
          <p:cNvPr id="16" name="TextBox 15"/>
          <p:cNvSpPr txBox="1"/>
          <p:nvPr/>
        </p:nvSpPr>
        <p:spPr>
          <a:xfrm>
            <a:off x="2934518" y="3126867"/>
            <a:ext cx="3003514" cy="712279"/>
          </a:xfrm>
          <a:prstGeom prst="rect">
            <a:avLst/>
          </a:prstGeom>
          <a:noFill/>
        </p:spPr>
        <p:txBody>
          <a:bodyPr wrap="square" lIns="0" rIns="0" tIns="0" bIns="0" anchor="ctr">
            <a:spAutoFit/>
          </a:bodyPr>
          <a:lstStyle/>
          <a:p>
            <a:pPr algn="l">
              <a:lnSpc>
                <a:spcPts val="1437"/>
              </a:lnSpc>
              <a:spcAft>
                <a:spcPts val="0"/>
              </a:spcAft>
            </a:pPr>
            <a:r>
              <a:rPr sz="1250" b="0" i="0">
                <a:solidFill>
                  <a:srgbClr val="141B2E"/>
                </a:solidFill>
                <a:latin typeface="Arial"/>
              </a:rPr>
              <a:t>the composition of what is shared is named once for both, and a divergence is visible before the work</a:t>
            </a:r>
          </a:p>
        </p:txBody>
      </p:sp>
      <p:sp>
        <p:nvSpPr>
          <p:cNvPr id="17" name="TextBox 16"/>
          <p:cNvSpPr txBox="1"/>
          <p:nvPr/>
        </p:nvSpPr>
        <p:spPr>
          <a:xfrm>
            <a:off x="6084336" y="3126867"/>
            <a:ext cx="5272511" cy="712279"/>
          </a:xfrm>
          <a:prstGeom prst="rect">
            <a:avLst/>
          </a:prstGeom>
          <a:noFill/>
        </p:spPr>
        <p:txBody>
          <a:bodyPr wrap="square" lIns="0" rIns="0" tIns="0" bIns="0" anchor="ctr">
            <a:spAutoFit/>
          </a:bodyPr>
          <a:lstStyle/>
          <a:p>
            <a:pPr algn="l">
              <a:lnSpc>
                <a:spcPts val="1437"/>
              </a:lnSpc>
              <a:spcAft>
                <a:spcPts val="0"/>
              </a:spcAft>
            </a:pPr>
            <a:r>
              <a:rPr sz="1250" b="0" i="0">
                <a:solidFill>
                  <a:srgbClr val="141B2E"/>
                </a:solidFill>
                <a:latin typeface="Arial"/>
              </a:rPr>
              <a:t>the description has to be written and maintained: there appear cycles of reading, editing and agreeing, and that is a real cost</a:t>
            </a:r>
          </a:p>
        </p:txBody>
      </p:sp>
      <p:cxnSp>
        <p:nvCxnSpPr>
          <p:cNvPr id="18" name="Connector 17"/>
          <p:cNvCxnSpPr/>
          <p:nvPr/>
        </p:nvCxnSpPr>
        <p:spPr>
          <a:xfrm>
            <a:off x="685800" y="3839146"/>
            <a:ext cx="10817352" cy="0"/>
          </a:xfrm>
          <a:prstGeom prst="line">
            <a:avLst/>
          </a:prstGeom>
          <a:ln w="9525">
            <a:solidFill>
              <a:srgbClr val="E5EAF0"/>
            </a:solidFill>
          </a:ln>
        </p:spPr>
        <p:style>
          <a:lnRef idx="2">
            <a:schemeClr val="accent1"/>
          </a:lnRef>
          <a:fillRef idx="0">
            <a:schemeClr val="accent1"/>
          </a:fillRef>
          <a:effectRef idx="1">
            <a:schemeClr val="accent1"/>
          </a:effectRef>
          <a:fontRef idx="minor">
            <a:schemeClr val="tx1"/>
          </a:fontRef>
        </p:style>
      </p:cxnSp>
      <p:sp>
        <p:nvSpPr>
          <p:cNvPr id="19" name="TextBox 18"/>
          <p:cNvSpPr txBox="1"/>
          <p:nvPr/>
        </p:nvSpPr>
        <p:spPr>
          <a:xfrm>
            <a:off x="685800" y="3839146"/>
            <a:ext cx="2102414" cy="712279"/>
          </a:xfrm>
          <a:prstGeom prst="rect">
            <a:avLst/>
          </a:prstGeom>
          <a:noFill/>
        </p:spPr>
        <p:txBody>
          <a:bodyPr wrap="square" lIns="0" rIns="0" tIns="0" bIns="0" anchor="ctr">
            <a:spAutoFit/>
          </a:bodyPr>
          <a:lstStyle/>
          <a:p>
            <a:pPr algn="l">
              <a:lnSpc>
                <a:spcPts val="1437"/>
              </a:lnSpc>
              <a:spcAft>
                <a:spcPts val="0"/>
              </a:spcAft>
            </a:pPr>
            <a:r>
              <a:rPr sz="1250" b="0" i="0">
                <a:solidFill>
                  <a:srgbClr val="141B2E"/>
                </a:solidFill>
                <a:latin typeface="Arial"/>
              </a:rPr>
              <a:t>set up a third subagent as a coordinator</a:t>
            </a:r>
          </a:p>
        </p:txBody>
      </p:sp>
      <p:sp>
        <p:nvSpPr>
          <p:cNvPr id="20" name="TextBox 19"/>
          <p:cNvSpPr txBox="1"/>
          <p:nvPr/>
        </p:nvSpPr>
        <p:spPr>
          <a:xfrm>
            <a:off x="2934518" y="3839146"/>
            <a:ext cx="3003514" cy="712279"/>
          </a:xfrm>
          <a:prstGeom prst="rect">
            <a:avLst/>
          </a:prstGeom>
          <a:noFill/>
        </p:spPr>
        <p:txBody>
          <a:bodyPr wrap="square" lIns="0" rIns="0" tIns="0" bIns="0" anchor="ctr">
            <a:spAutoFit/>
          </a:bodyPr>
          <a:lstStyle/>
          <a:p>
            <a:pPr algn="l">
              <a:lnSpc>
                <a:spcPts val="1437"/>
              </a:lnSpc>
              <a:spcAft>
                <a:spcPts val="0"/>
              </a:spcAft>
            </a:pPr>
            <a:r>
              <a:rPr sz="1250" b="0" i="0">
                <a:solidFill>
                  <a:srgbClr val="141B2E"/>
                </a:solidFill>
                <a:latin typeface="Arial"/>
              </a:rPr>
              <a:t>checks the two finished jobs against each other</a:t>
            </a:r>
          </a:p>
        </p:txBody>
      </p:sp>
      <p:sp>
        <p:nvSpPr>
          <p:cNvPr id="21" name="TextBox 20"/>
          <p:cNvSpPr txBox="1"/>
          <p:nvPr/>
        </p:nvSpPr>
        <p:spPr>
          <a:xfrm>
            <a:off x="6084336" y="3839146"/>
            <a:ext cx="5272511" cy="712279"/>
          </a:xfrm>
          <a:prstGeom prst="rect">
            <a:avLst/>
          </a:prstGeom>
          <a:noFill/>
        </p:spPr>
        <p:txBody>
          <a:bodyPr wrap="square" lIns="0" rIns="0" tIns="0" bIns="0" anchor="ctr">
            <a:spAutoFit/>
          </a:bodyPr>
          <a:lstStyle/>
          <a:p>
            <a:pPr algn="l">
              <a:lnSpc>
                <a:spcPts val="1437"/>
              </a:lnSpc>
              <a:spcAft>
                <a:spcPts val="0"/>
              </a:spcAft>
            </a:pPr>
            <a:r>
              <a:rPr sz="1250" b="0" i="0">
                <a:solidFill>
                  <a:srgbClr val="141B2E"/>
                </a:solidFill>
                <a:latin typeface="Arial"/>
              </a:rPr>
              <a:t>adds a layer of coordination on top of two that have already diverged; the reconciling will have to be done anyway, just by somebody else's hands</a:t>
            </a:r>
          </a:p>
        </p:txBody>
      </p:sp>
      <p:sp>
        <p:nvSpPr>
          <p:cNvPr id="22" name="Rounded Rectangle 21"/>
          <p:cNvSpPr/>
          <p:nvPr/>
        </p:nvSpPr>
        <p:spPr>
          <a:xfrm>
            <a:off x="502920" y="5177504"/>
            <a:ext cx="82296" cy="982980"/>
          </a:xfrm>
          <a:prstGeom prst="roundRect">
            <a:avLst>
              <a:gd name="adj" fmla="val 50000"/>
            </a:avLst>
          </a:prstGeom>
          <a:solidFill>
            <a:srgbClr val="F0AB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59536" y="5305520"/>
            <a:ext cx="10643616" cy="726948"/>
          </a:xfrm>
          <a:prstGeom prst="rect">
            <a:avLst/>
          </a:prstGeom>
          <a:noFill/>
        </p:spPr>
        <p:txBody>
          <a:bodyPr wrap="square" lIns="0" rIns="0" tIns="0" bIns="0" anchor="ctr">
            <a:spAutoFit/>
          </a:bodyPr>
          <a:lstStyle/>
          <a:p>
            <a:pPr algn="l">
              <a:lnSpc>
                <a:spcPts val="1860"/>
              </a:lnSpc>
              <a:spcAft>
                <a:spcPts val="300"/>
              </a:spcAft>
            </a:pPr>
            <a:r>
              <a:rPr sz="1500" b="1" i="0">
                <a:solidFill>
                  <a:srgbClr val="141B2E"/>
                </a:solidFill>
                <a:latin typeface="Arial"/>
              </a:rPr>
              <a:t>Conclusion.</a:t>
            </a:r>
            <a:r>
              <a:rPr sz="1500" b="1" i="0">
                <a:solidFill>
                  <a:srgbClr val="141B2E"/>
                </a:solidFill>
                <a:latin typeface="Arial"/>
              </a:rPr>
              <a:t> In the layout the condition was named out loud: which pieces are independent and why got said. Here nobody wrote the shared description down, and neither of the two could have worked it out — nobody knew the whole task. The third move works, and it works by the same thing the layout worked by.</a:t>
            </a:r>
          </a:p>
        </p:txBody>
      </p:sp>
      <p:sp>
        <p:nvSpPr>
          <p:cNvPr id="24" name="TextBox 23"/>
          <p:cNvSpPr txBox="1"/>
          <p:nvPr/>
        </p:nvSpPr>
        <p:spPr>
          <a:xfrm>
            <a:off x="10957255" y="6437376"/>
            <a:ext cx="914400" cy="274320"/>
          </a:xfrm>
          <a:prstGeom prst="rect">
            <a:avLst/>
          </a:prstGeom>
          <a:noFill/>
        </p:spPr>
        <p:txBody>
          <a:bodyPr wrap="square" lIns="0" rIns="0" tIns="0" bIns="0" anchor="t">
            <a:spAutoFit/>
          </a:bodyPr>
          <a:lstStyle/>
          <a:p>
            <a:pPr algn="r">
              <a:lnSpc>
                <a:spcPts val="1238"/>
              </a:lnSpc>
              <a:spcAft>
                <a:spcPts val="0"/>
              </a:spcAft>
            </a:pPr>
            <a:r>
              <a:rPr sz="1050" b="0" i="0">
                <a:solidFill>
                  <a:srgbClr val="6B7685"/>
                </a:solidFill>
                <a:latin typeface="Arial"/>
              </a:rPr>
              <a:t>46</a:t>
            </a: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02920" y="310896"/>
            <a:ext cx="11183112" cy="431291"/>
          </a:xfrm>
          <a:prstGeom prst="rect">
            <a:avLst/>
          </a:prstGeom>
          <a:noFill/>
        </p:spPr>
        <p:txBody>
          <a:bodyPr wrap="square" lIns="0" rIns="0" tIns="0" bIns="0" anchor="t">
            <a:spAutoFit/>
          </a:bodyPr>
          <a:lstStyle/>
          <a:p>
            <a:pPr algn="l">
              <a:lnSpc>
                <a:spcPts val="2963"/>
              </a:lnSpc>
              <a:spcAft>
                <a:spcPts val="0"/>
              </a:spcAft>
            </a:pPr>
            <a:r>
              <a:rPr sz="2600" b="1" i="0">
                <a:solidFill>
                  <a:srgbClr val="141B2E"/>
                </a:solidFill>
                <a:latin typeface="Arial"/>
              </a:rPr>
              <a:t>Scale, not a single case</a:t>
            </a:r>
          </a:p>
        </p:txBody>
      </p:sp>
      <p:sp>
        <p:nvSpPr>
          <p:cNvPr id="3" name="Rounded Rectangle 2"/>
          <p:cNvSpPr/>
          <p:nvPr/>
        </p:nvSpPr>
        <p:spPr>
          <a:xfrm>
            <a:off x="502920" y="1025457"/>
            <a:ext cx="82296" cy="982980"/>
          </a:xfrm>
          <a:prstGeom prst="roundRect">
            <a:avLst>
              <a:gd name="adj" fmla="val 50000"/>
            </a:avLst>
          </a:prstGeom>
          <a:solidFill>
            <a:srgbClr val="F0AB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59536" y="1153473"/>
            <a:ext cx="10643616" cy="726948"/>
          </a:xfrm>
          <a:prstGeom prst="rect">
            <a:avLst/>
          </a:prstGeom>
          <a:noFill/>
        </p:spPr>
        <p:txBody>
          <a:bodyPr wrap="square" lIns="0" rIns="0" tIns="0" bIns="0" anchor="ctr">
            <a:spAutoFit/>
          </a:bodyPr>
          <a:lstStyle/>
          <a:p>
            <a:pPr algn="l">
              <a:lnSpc>
                <a:spcPts val="1860"/>
              </a:lnSpc>
              <a:spcAft>
                <a:spcPts val="300"/>
              </a:spcAft>
            </a:pPr>
            <a:r>
              <a:rPr sz="1500" b="1" i="0">
                <a:solidFill>
                  <a:srgbClr val="141B2E"/>
                </a:solidFill>
                <a:latin typeface="Arial"/>
              </a:rPr>
              <a:t>For our two subagents.</a:t>
            </a:r>
            <a:r>
              <a:rPr sz="1500" b="1" i="0">
                <a:solidFill>
                  <a:srgbClr val="141B2E"/>
                </a:solidFill>
                <a:latin typeface="Arial"/>
              </a:rPr>
              <a:t> The one that set up the lookup list and the one that configured the form are working with no third subagent checking them for consistency. Here is what a measurement at scale, rather than on a single case, says about that.</a:t>
            </a:r>
          </a:p>
        </p:txBody>
      </p:sp>
      <p:sp>
        <p:nvSpPr>
          <p:cNvPr id="5" name="Rounded Rectangle 4"/>
          <p:cNvSpPr/>
          <p:nvPr/>
        </p:nvSpPr>
        <p:spPr>
          <a:xfrm>
            <a:off x="502920" y="2378282"/>
            <a:ext cx="11183112" cy="2620073"/>
          </a:xfrm>
          <a:prstGeom prst="roundRect">
            <a:avLst>
              <a:gd name="adj" fmla="val 11633"/>
            </a:avLst>
          </a:prstGeom>
          <a:solidFill>
            <a:srgbClr val="FFFFFF"/>
          </a:solidFill>
          <a:ln w="17780">
            <a:solidFill>
              <a:srgbClr val="065A8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21208" y="2469722"/>
            <a:ext cx="68580" cy="2437193"/>
          </a:xfrm>
          <a:prstGeom prst="roundRect">
            <a:avLst>
              <a:gd name="adj" fmla="val 50000"/>
            </a:avLst>
          </a:prstGeom>
          <a:solidFill>
            <a:srgbClr val="065A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85800" y="2561162"/>
            <a:ext cx="1587893" cy="282067"/>
          </a:xfrm>
          <a:prstGeom prst="rect">
            <a:avLst/>
          </a:prstGeom>
          <a:noFill/>
        </p:spPr>
        <p:txBody>
          <a:bodyPr wrap="square" lIns="0" rIns="0" tIns="0" bIns="0" anchor="t">
            <a:spAutoFit/>
          </a:bodyPr>
          <a:lstStyle/>
          <a:p>
            <a:pPr algn="l">
              <a:lnSpc>
                <a:spcPts val="1265"/>
              </a:lnSpc>
              <a:spcAft>
                <a:spcPts val="0"/>
              </a:spcAft>
            </a:pPr>
            <a:r>
              <a:rPr sz="1150" b="1" i="0">
                <a:solidFill>
                  <a:srgbClr val="065A82"/>
                </a:solidFill>
                <a:latin typeface="Arial"/>
              </a:rPr>
              <a:t>SOURCE</a:t>
            </a:r>
          </a:p>
        </p:txBody>
      </p:sp>
      <p:sp>
        <p:nvSpPr>
          <p:cNvPr id="8" name="TextBox 7"/>
          <p:cNvSpPr txBox="1"/>
          <p:nvPr/>
        </p:nvSpPr>
        <p:spPr>
          <a:xfrm>
            <a:off x="2419997" y="2561162"/>
            <a:ext cx="6136175" cy="282067"/>
          </a:xfrm>
          <a:prstGeom prst="rect">
            <a:avLst/>
          </a:prstGeom>
          <a:noFill/>
        </p:spPr>
        <p:txBody>
          <a:bodyPr wrap="square" lIns="0" rIns="0" tIns="0" bIns="0" anchor="t">
            <a:spAutoFit/>
          </a:bodyPr>
          <a:lstStyle/>
          <a:p>
            <a:pPr algn="l">
              <a:lnSpc>
                <a:spcPts val="1265"/>
              </a:lnSpc>
              <a:spcAft>
                <a:spcPts val="0"/>
              </a:spcAft>
            </a:pPr>
            <a:r>
              <a:rPr sz="1150" b="1" i="0">
                <a:solidFill>
                  <a:srgbClr val="065A82"/>
                </a:solidFill>
                <a:latin typeface="Arial"/>
              </a:rPr>
              <a:t>CLAIM</a:t>
            </a:r>
          </a:p>
        </p:txBody>
      </p:sp>
      <p:sp>
        <p:nvSpPr>
          <p:cNvPr id="9" name="TextBox 8"/>
          <p:cNvSpPr txBox="1"/>
          <p:nvPr/>
        </p:nvSpPr>
        <p:spPr>
          <a:xfrm>
            <a:off x="8702477" y="2561162"/>
            <a:ext cx="2654370" cy="282067"/>
          </a:xfrm>
          <a:prstGeom prst="rect">
            <a:avLst/>
          </a:prstGeom>
          <a:noFill/>
        </p:spPr>
        <p:txBody>
          <a:bodyPr wrap="square" lIns="0" rIns="0" tIns="0" bIns="0" anchor="t">
            <a:spAutoFit/>
          </a:bodyPr>
          <a:lstStyle/>
          <a:p>
            <a:pPr algn="l">
              <a:lnSpc>
                <a:spcPts val="1265"/>
              </a:lnSpc>
              <a:spcAft>
                <a:spcPts val="0"/>
              </a:spcAft>
            </a:pPr>
            <a:r>
              <a:rPr sz="1150" b="1" i="0">
                <a:solidFill>
                  <a:srgbClr val="065A82"/>
                </a:solidFill>
                <a:latin typeface="Arial"/>
              </a:rPr>
              <a:t>STRENGTH OF EVIDENCE</a:t>
            </a:r>
          </a:p>
        </p:txBody>
      </p:sp>
      <p:sp>
        <p:nvSpPr>
          <p:cNvPr id="10" name="TextBox 9"/>
          <p:cNvSpPr txBox="1"/>
          <p:nvPr/>
        </p:nvSpPr>
        <p:spPr>
          <a:xfrm>
            <a:off x="685800" y="2843229"/>
            <a:ext cx="1587893" cy="1077404"/>
          </a:xfrm>
          <a:prstGeom prst="rect">
            <a:avLst/>
          </a:prstGeom>
          <a:noFill/>
        </p:spPr>
        <p:txBody>
          <a:bodyPr wrap="square" lIns="0" rIns="0" tIns="0" bIns="0" anchor="ctr">
            <a:spAutoFit/>
          </a:bodyPr>
          <a:lstStyle/>
          <a:p>
            <a:pPr algn="l">
              <a:lnSpc>
                <a:spcPts val="1437"/>
              </a:lnSpc>
              <a:spcAft>
                <a:spcPts val="0"/>
              </a:spcAft>
            </a:pPr>
            <a:r>
              <a:rPr sz="1250" b="0" i="0">
                <a:solidFill>
                  <a:srgbClr val="141B2E"/>
                </a:solidFill>
                <a:latin typeface="Arial"/>
              </a:rPr>
              <a:t>Cemri et al., "MAST", arXiv:2503.13657 (NeurIPS 2025 D&amp;B)</a:t>
            </a:r>
          </a:p>
        </p:txBody>
      </p:sp>
      <p:sp>
        <p:nvSpPr>
          <p:cNvPr id="11" name="TextBox 10"/>
          <p:cNvSpPr txBox="1"/>
          <p:nvPr/>
        </p:nvSpPr>
        <p:spPr>
          <a:xfrm>
            <a:off x="2419997" y="2843229"/>
            <a:ext cx="6136175" cy="1077404"/>
          </a:xfrm>
          <a:prstGeom prst="rect">
            <a:avLst/>
          </a:prstGeom>
          <a:noFill/>
        </p:spPr>
        <p:txBody>
          <a:bodyPr wrap="square" lIns="0" rIns="0" tIns="0" bIns="0" anchor="ctr">
            <a:spAutoFit/>
          </a:bodyPr>
          <a:lstStyle/>
          <a:p>
            <a:pPr algn="l">
              <a:lnSpc>
                <a:spcPts val="1437"/>
              </a:lnSpc>
              <a:spcAft>
                <a:spcPts val="0"/>
              </a:spcAft>
            </a:pPr>
            <a:r>
              <a:rPr sz="1250" b="0" i="0">
                <a:solidFill>
                  <a:srgbClr val="141B2E"/>
                </a:solidFill>
                <a:latin typeface="Arial"/>
              </a:rPr>
              <a:t>From 41 to 87% of annotated traces (depending on the framework) are failures; three categories of cause: task and role specification ≈42%, misalignment between agents ≈37%, verification of the result ≈21%</a:t>
            </a:r>
          </a:p>
        </p:txBody>
      </p:sp>
      <p:sp>
        <p:nvSpPr>
          <p:cNvPr id="12" name="TextBox 11"/>
          <p:cNvSpPr txBox="1"/>
          <p:nvPr/>
        </p:nvSpPr>
        <p:spPr>
          <a:xfrm>
            <a:off x="8702477" y="2843229"/>
            <a:ext cx="2654370" cy="1077404"/>
          </a:xfrm>
          <a:prstGeom prst="rect">
            <a:avLst/>
          </a:prstGeom>
          <a:noFill/>
        </p:spPr>
        <p:txBody>
          <a:bodyPr wrap="square" lIns="0" rIns="0" tIns="0" bIns="0" anchor="ctr">
            <a:spAutoFit/>
          </a:bodyPr>
          <a:lstStyle/>
          <a:p>
            <a:pPr algn="l">
              <a:lnSpc>
                <a:spcPts val="1437"/>
              </a:lnSpc>
              <a:spcAft>
                <a:spcPts val="0"/>
              </a:spcAft>
            </a:pPr>
            <a:r>
              <a:rPr sz="1250" b="0" i="0">
                <a:solidFill>
                  <a:srgbClr val="141B2E"/>
                </a:solidFill>
                <a:latin typeface="Arial"/>
              </a:rPr>
              <a:t>strong: manual annotation of 1600+ traces across 7 frameworks, inter-rater agreement κ=0.88</a:t>
            </a:r>
          </a:p>
        </p:txBody>
      </p:sp>
      <p:cxnSp>
        <p:nvCxnSpPr>
          <p:cNvPr id="13" name="Connector 12"/>
          <p:cNvCxnSpPr/>
          <p:nvPr/>
        </p:nvCxnSpPr>
        <p:spPr>
          <a:xfrm>
            <a:off x="685800" y="3920633"/>
            <a:ext cx="10817352" cy="0"/>
          </a:xfrm>
          <a:prstGeom prst="line">
            <a:avLst/>
          </a:prstGeom>
          <a:ln w="9525">
            <a:solidFill>
              <a:srgbClr val="E5EAF0"/>
            </a:solidFill>
          </a:ln>
        </p:spPr>
        <p:style>
          <a:lnRef idx="2">
            <a:schemeClr val="accent1"/>
          </a:lnRef>
          <a:fillRef idx="0">
            <a:schemeClr val="accent1"/>
          </a:fillRef>
          <a:effectRef idx="1">
            <a:schemeClr val="accent1"/>
          </a:effectRef>
          <a:fontRef idx="minor">
            <a:schemeClr val="tx1"/>
          </a:fontRef>
        </p:style>
      </p:cxnSp>
      <p:sp>
        <p:nvSpPr>
          <p:cNvPr id="14" name="TextBox 13"/>
          <p:cNvSpPr txBox="1"/>
          <p:nvPr/>
        </p:nvSpPr>
        <p:spPr>
          <a:xfrm>
            <a:off x="685800" y="3920633"/>
            <a:ext cx="1587893" cy="894842"/>
          </a:xfrm>
          <a:prstGeom prst="rect">
            <a:avLst/>
          </a:prstGeom>
          <a:noFill/>
        </p:spPr>
        <p:txBody>
          <a:bodyPr wrap="square" lIns="0" rIns="0" tIns="0" bIns="0" anchor="ctr">
            <a:spAutoFit/>
          </a:bodyPr>
          <a:lstStyle/>
          <a:p>
            <a:pPr algn="l">
              <a:lnSpc>
                <a:spcPts val="1437"/>
              </a:lnSpc>
              <a:spcAft>
                <a:spcPts val="0"/>
              </a:spcAft>
            </a:pPr>
            <a:r>
              <a:rPr sz="1250" b="0" i="0">
                <a:solidFill>
                  <a:srgbClr val="141B2E"/>
                </a:solidFill>
                <a:latin typeface="Arial"/>
              </a:rPr>
              <a:t>Kim, Gu, Park et al. (Google Research), arXiv:2512.08296</a:t>
            </a:r>
          </a:p>
        </p:txBody>
      </p:sp>
      <p:sp>
        <p:nvSpPr>
          <p:cNvPr id="15" name="TextBox 14"/>
          <p:cNvSpPr txBox="1"/>
          <p:nvPr/>
        </p:nvSpPr>
        <p:spPr>
          <a:xfrm>
            <a:off x="2419997" y="3920633"/>
            <a:ext cx="6136175" cy="894842"/>
          </a:xfrm>
          <a:prstGeom prst="rect">
            <a:avLst/>
          </a:prstGeom>
          <a:noFill/>
        </p:spPr>
        <p:txBody>
          <a:bodyPr wrap="square" lIns="0" rIns="0" tIns="0" bIns="0" anchor="ctr">
            <a:spAutoFit/>
          </a:bodyPr>
          <a:lstStyle/>
          <a:p>
            <a:pPr algn="l">
              <a:lnSpc>
                <a:spcPts val="1437"/>
              </a:lnSpc>
              <a:spcAft>
                <a:spcPts val="0"/>
              </a:spcAft>
            </a:pPr>
            <a:r>
              <a:rPr sz="1250" b="0" i="0">
                <a:solidFill>
                  <a:srgbClr val="141B2E"/>
                </a:solidFill>
                <a:latin typeface="Arial"/>
              </a:rPr>
              <a:t>On a sequential task the scheme loses to the single-agent version of the same task by 39-70%; with no coordinator the number of errors is amplified 17.2× relative to a single-agent system at the input, with centralized checking — 4.4×</a:t>
            </a:r>
          </a:p>
        </p:txBody>
      </p:sp>
      <p:sp>
        <p:nvSpPr>
          <p:cNvPr id="16" name="TextBox 15"/>
          <p:cNvSpPr txBox="1"/>
          <p:nvPr/>
        </p:nvSpPr>
        <p:spPr>
          <a:xfrm>
            <a:off x="8702477" y="3920633"/>
            <a:ext cx="2654370" cy="894842"/>
          </a:xfrm>
          <a:prstGeom prst="rect">
            <a:avLst/>
          </a:prstGeom>
          <a:noFill/>
        </p:spPr>
        <p:txBody>
          <a:bodyPr wrap="square" lIns="0" rIns="0" tIns="0" bIns="0" anchor="ctr">
            <a:spAutoFit/>
          </a:bodyPr>
          <a:lstStyle/>
          <a:p>
            <a:pPr algn="l">
              <a:lnSpc>
                <a:spcPts val="1437"/>
              </a:lnSpc>
              <a:spcAft>
                <a:spcPts val="0"/>
              </a:spcAft>
            </a:pPr>
            <a:r>
              <a:rPr sz="1250" b="0" i="0">
                <a:solidFill>
                  <a:srgbClr val="141B2E"/>
                </a:solidFill>
                <a:latin typeface="Arial"/>
              </a:rPr>
              <a:t>strong: a controlled experiment, 260 configurations, 6 benchmarks, 5 architectures</a:t>
            </a:r>
          </a:p>
        </p:txBody>
      </p:sp>
      <p:sp>
        <p:nvSpPr>
          <p:cNvPr id="17" name="Rounded Rectangle 16"/>
          <p:cNvSpPr/>
          <p:nvPr/>
        </p:nvSpPr>
        <p:spPr>
          <a:xfrm>
            <a:off x="502920" y="5368201"/>
            <a:ext cx="11183112" cy="836295"/>
          </a:xfrm>
          <a:prstGeom prst="roundRect">
            <a:avLst>
              <a:gd name="adj" fmla="val 25000"/>
            </a:avLst>
          </a:prstGeom>
          <a:solidFill>
            <a:srgbClr val="E4E9EF"/>
          </a:solidFill>
          <a:ln w="15240">
            <a:solidFill>
              <a:srgbClr val="6B7685"/>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40664" y="5505361"/>
            <a:ext cx="10707624" cy="561974"/>
          </a:xfrm>
          <a:prstGeom prst="rect">
            <a:avLst/>
          </a:prstGeom>
          <a:noFill/>
        </p:spPr>
        <p:txBody>
          <a:bodyPr wrap="square" lIns="0" rIns="0" tIns="0" bIns="0" anchor="ctr">
            <a:spAutoFit/>
          </a:bodyPr>
          <a:lstStyle/>
          <a:p>
            <a:pPr algn="l">
              <a:lnSpc>
                <a:spcPts val="1475"/>
              </a:lnSpc>
              <a:spcAft>
                <a:spcPts val="300"/>
              </a:spcAft>
            </a:pPr>
            <a:r>
              <a:rPr sz="1250" b="1" i="1">
                <a:solidFill>
                  <a:srgbClr val="6B7685"/>
                </a:solidFill>
                <a:latin typeface="Arial"/>
              </a:rPr>
              <a:t>An honest gap.</a:t>
            </a:r>
            <a:r>
              <a:rPr sz="1250" b="0" i="1">
                <a:solidFill>
                  <a:srgbClr val="6B7685"/>
                </a:solidFill>
                <a:latin typeface="Arial"/>
              </a:rPr>
              <a:t> There is nothing with which to test the misalignment of two parallel subagents on the course repository or on a student's machine — none of the seminar's checkability supports demonstrates this. The claim is backed by research, not by a command run in class.</a:t>
            </a:r>
          </a:p>
        </p:txBody>
      </p:sp>
      <p:sp>
        <p:nvSpPr>
          <p:cNvPr id="19" name="TextBox 18"/>
          <p:cNvSpPr txBox="1"/>
          <p:nvPr/>
        </p:nvSpPr>
        <p:spPr>
          <a:xfrm>
            <a:off x="10957255" y="6437376"/>
            <a:ext cx="914400" cy="274320"/>
          </a:xfrm>
          <a:prstGeom prst="rect">
            <a:avLst/>
          </a:prstGeom>
          <a:noFill/>
        </p:spPr>
        <p:txBody>
          <a:bodyPr wrap="square" lIns="0" rIns="0" tIns="0" bIns="0" anchor="t">
            <a:spAutoFit/>
          </a:bodyPr>
          <a:lstStyle/>
          <a:p>
            <a:pPr algn="r">
              <a:lnSpc>
                <a:spcPts val="1238"/>
              </a:lnSpc>
              <a:spcAft>
                <a:spcPts val="0"/>
              </a:spcAft>
            </a:pPr>
            <a:r>
              <a:rPr sz="1050" b="0" i="0">
                <a:solidFill>
                  <a:srgbClr val="6B7685"/>
                </a:solidFill>
                <a:latin typeface="Arial"/>
              </a:rPr>
              <a:t>47</a:t>
            </a:r>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02920" y="310896"/>
            <a:ext cx="11183112" cy="807720"/>
          </a:xfrm>
          <a:prstGeom prst="rect">
            <a:avLst/>
          </a:prstGeom>
          <a:noFill/>
        </p:spPr>
        <p:txBody>
          <a:bodyPr wrap="square" lIns="0" rIns="0" tIns="0" bIns="0" anchor="t">
            <a:spAutoFit/>
          </a:bodyPr>
          <a:lstStyle/>
          <a:p>
            <a:pPr algn="l">
              <a:lnSpc>
                <a:spcPts val="2963"/>
              </a:lnSpc>
              <a:spcAft>
                <a:spcPts val="0"/>
              </a:spcAft>
            </a:pPr>
            <a:r>
              <a:rPr sz="2600" b="1" i="0">
                <a:solidFill>
                  <a:srgbClr val="141B2E"/>
                </a:solidFill>
                <a:latin typeface="Arial"/>
              </a:rPr>
              <a:t>What goes into the shared description: a boundary both ways</a:t>
            </a:r>
          </a:p>
        </p:txBody>
      </p:sp>
      <p:pic>
        <p:nvPicPr>
          <p:cNvPr id="3" name="Picture 2" descr="subagent-n48-granitsa-dvukh-zon-en.png"/>
          <p:cNvPicPr>
            <a:picLocks noChangeAspect="1"/>
          </p:cNvPicPr>
          <p:nvPr/>
        </p:nvPicPr>
        <p:blipFill>
          <a:blip r:embed="rId2"/>
          <a:stretch>
            <a:fillRect/>
          </a:stretch>
        </p:blipFill>
        <p:spPr>
          <a:xfrm>
            <a:off x="949386" y="1319784"/>
            <a:ext cx="10290179" cy="3087053"/>
          </a:xfrm>
          <a:prstGeom prst="rect">
            <a:avLst/>
          </a:prstGeom>
        </p:spPr>
      </p:pic>
      <p:sp>
        <p:nvSpPr>
          <p:cNvPr id="4" name="Rounded Rectangle 3"/>
          <p:cNvSpPr/>
          <p:nvPr/>
        </p:nvSpPr>
        <p:spPr>
          <a:xfrm>
            <a:off x="502920" y="4571429"/>
            <a:ext cx="82296" cy="888492"/>
          </a:xfrm>
          <a:prstGeom prst="roundRect">
            <a:avLst>
              <a:gd name="adj" fmla="val 50000"/>
            </a:avLst>
          </a:prstGeom>
          <a:solidFill>
            <a:srgbClr val="F0AB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59536" y="4699445"/>
            <a:ext cx="10643616" cy="632460"/>
          </a:xfrm>
          <a:prstGeom prst="rect">
            <a:avLst/>
          </a:prstGeom>
          <a:noFill/>
        </p:spPr>
        <p:txBody>
          <a:bodyPr wrap="square" lIns="0" rIns="0" tIns="0" bIns="0" anchor="ctr">
            <a:spAutoFit/>
          </a:bodyPr>
          <a:lstStyle/>
          <a:p>
            <a:pPr algn="l">
              <a:lnSpc>
                <a:spcPts val="1612"/>
              </a:lnSpc>
              <a:spcAft>
                <a:spcPts val="300"/>
              </a:spcAft>
            </a:pPr>
            <a:r>
              <a:rPr sz="1300" b="1" i="0">
                <a:solidFill>
                  <a:srgbClr val="141B2E"/>
                </a:solidFill>
                <a:latin typeface="Arial"/>
              </a:rPr>
              <a:t>The lookup list needs a line about where it ends: "the names and the composition of the fields — here; how they are shown and checked on the form — not here". The form needs a symmetrical one: "I show fields by the names from the description; I do not set up the composition of the fields".</a:t>
            </a:r>
          </a:p>
        </p:txBody>
      </p:sp>
      <p:sp>
        <p:nvSpPr>
          <p:cNvPr id="6" name="Rounded Rectangle 5"/>
          <p:cNvSpPr/>
          <p:nvPr/>
        </p:nvSpPr>
        <p:spPr>
          <a:xfrm>
            <a:off x="502920" y="5624513"/>
            <a:ext cx="82296" cy="683768"/>
          </a:xfrm>
          <a:prstGeom prst="roundRect">
            <a:avLst>
              <a:gd name="adj" fmla="val 50000"/>
            </a:avLst>
          </a:prstGeom>
          <a:solidFill>
            <a:srgbClr val="F0AB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59536" y="5752529"/>
            <a:ext cx="10643616" cy="427736"/>
          </a:xfrm>
          <a:prstGeom prst="rect">
            <a:avLst/>
          </a:prstGeom>
          <a:noFill/>
        </p:spPr>
        <p:txBody>
          <a:bodyPr wrap="square" lIns="0" rIns="0" tIns="0" bIns="0" anchor="ctr">
            <a:spAutoFit/>
          </a:bodyPr>
          <a:lstStyle/>
          <a:p>
            <a:pPr algn="l">
              <a:lnSpc>
                <a:spcPts val="1612"/>
              </a:lnSpc>
              <a:spcAft>
                <a:spcPts val="300"/>
              </a:spcAft>
            </a:pPr>
            <a:r>
              <a:rPr sz="1300" b="1" i="0">
                <a:solidFill>
                  <a:srgbClr val="141B2E"/>
                </a:solidFill>
                <a:latin typeface="Arial"/>
              </a:rPr>
              <a:t>While the divergence is visible before the work, it costs two lines. Reading the description before starting remains a human's decision.</a:t>
            </a:r>
          </a:p>
        </p:txBody>
      </p:sp>
      <p:sp>
        <p:nvSpPr>
          <p:cNvPr id="8" name="TextBox 7"/>
          <p:cNvSpPr txBox="1"/>
          <p:nvPr/>
        </p:nvSpPr>
        <p:spPr>
          <a:xfrm>
            <a:off x="10957255" y="6437376"/>
            <a:ext cx="914400" cy="274320"/>
          </a:xfrm>
          <a:prstGeom prst="rect">
            <a:avLst/>
          </a:prstGeom>
          <a:noFill/>
        </p:spPr>
        <p:txBody>
          <a:bodyPr wrap="square" lIns="0" rIns="0" tIns="0" bIns="0" anchor="t">
            <a:spAutoFit/>
          </a:bodyPr>
          <a:lstStyle/>
          <a:p>
            <a:pPr algn="r">
              <a:lnSpc>
                <a:spcPts val="1238"/>
              </a:lnSpc>
              <a:spcAft>
                <a:spcPts val="0"/>
              </a:spcAft>
            </a:pPr>
            <a:r>
              <a:rPr sz="1050" b="0" i="0">
                <a:solidFill>
                  <a:srgbClr val="6B7685"/>
                </a:solidFill>
                <a:latin typeface="Arial"/>
              </a:rPr>
              <a:t>48</a:t>
            </a:r>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02920" y="310896"/>
            <a:ext cx="11183112" cy="431291"/>
          </a:xfrm>
          <a:prstGeom prst="rect">
            <a:avLst/>
          </a:prstGeom>
          <a:noFill/>
        </p:spPr>
        <p:txBody>
          <a:bodyPr wrap="square" lIns="0" rIns="0" tIns="0" bIns="0" anchor="t">
            <a:spAutoFit/>
          </a:bodyPr>
          <a:lstStyle/>
          <a:p>
            <a:pPr algn="l">
              <a:lnSpc>
                <a:spcPts val="2963"/>
              </a:lnSpc>
              <a:spcAft>
                <a:spcPts val="0"/>
              </a:spcAft>
            </a:pPr>
            <a:r>
              <a:rPr sz="2600" b="1" i="0">
                <a:solidFill>
                  <a:srgbClr val="141B2E"/>
                </a:solidFill>
                <a:latin typeface="Arial"/>
              </a:rPr>
              <a:t>A subagent is one means out of five. Where it is justified</a:t>
            </a:r>
          </a:p>
        </p:txBody>
      </p:sp>
      <p:sp>
        <p:nvSpPr>
          <p:cNvPr id="3" name="Rounded Rectangle 2"/>
          <p:cNvSpPr/>
          <p:nvPr/>
        </p:nvSpPr>
        <p:spPr>
          <a:xfrm>
            <a:off x="502920" y="943356"/>
            <a:ext cx="82296" cy="1156208"/>
          </a:xfrm>
          <a:prstGeom prst="roundRect">
            <a:avLst>
              <a:gd name="adj" fmla="val 50000"/>
            </a:avLst>
          </a:prstGeom>
          <a:solidFill>
            <a:srgbClr val="F0AB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59536" y="1071372"/>
            <a:ext cx="10643616" cy="900176"/>
          </a:xfrm>
          <a:prstGeom prst="rect">
            <a:avLst/>
          </a:prstGeom>
          <a:noFill/>
        </p:spPr>
        <p:txBody>
          <a:bodyPr wrap="square" lIns="0" rIns="0" tIns="0" bIns="0" anchor="ctr">
            <a:spAutoFit/>
          </a:bodyPr>
          <a:lstStyle/>
          <a:p>
            <a:pPr algn="l">
              <a:lnSpc>
                <a:spcPts val="1736"/>
              </a:lnSpc>
              <a:spcAft>
                <a:spcPts val="300"/>
              </a:spcAft>
            </a:pPr>
            <a:r>
              <a:rPr sz="1400" b="1" i="0">
                <a:solidFill>
                  <a:srgbClr val="141B2E"/>
                </a:solidFill>
                <a:latin typeface="Arial"/>
              </a:rPr>
              <a:t>The industry's reversal, as a marker of the boundary.</a:t>
            </a:r>
            <a:r>
              <a:rPr sz="1400" b="1" i="0">
                <a:solidFill>
                  <a:srgbClr val="141B2E"/>
                </a:solidFill>
                <a:latin typeface="Arial"/>
              </a:rPr>
              <a:t> A year ago one team rejected multi-agent work outright, calling an unstructured "swarm" a distraction. Ten months later that same team came back to two narrow patterns — a review chain (a separate subagent finds on average two bugs per edit, of which about 58% are serious) and a pairing of two different top models on complex scenarios. The boundless "swarm" it still calls a distraction.</a:t>
            </a:r>
          </a:p>
        </p:txBody>
      </p:sp>
      <p:sp>
        <p:nvSpPr>
          <p:cNvPr id="5" name="Rounded Rectangle 4"/>
          <p:cNvSpPr/>
          <p:nvPr/>
        </p:nvSpPr>
        <p:spPr>
          <a:xfrm>
            <a:off x="502920" y="2264156"/>
            <a:ext cx="82296" cy="1187704"/>
          </a:xfrm>
          <a:prstGeom prst="roundRect">
            <a:avLst>
              <a:gd name="adj" fmla="val 50000"/>
            </a:avLst>
          </a:prstGeom>
          <a:solidFill>
            <a:srgbClr val="F0AB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59536" y="2392172"/>
            <a:ext cx="10643616" cy="931672"/>
          </a:xfrm>
          <a:prstGeom prst="rect">
            <a:avLst/>
          </a:prstGeom>
          <a:noFill/>
        </p:spPr>
        <p:txBody>
          <a:bodyPr wrap="square" lIns="0" rIns="0" tIns="0" bIns="0" anchor="ctr">
            <a:spAutoFit/>
          </a:bodyPr>
          <a:lstStyle/>
          <a:p>
            <a:pPr algn="l">
              <a:lnSpc>
                <a:spcPts val="1798"/>
              </a:lnSpc>
              <a:spcAft>
                <a:spcPts val="300"/>
              </a:spcAft>
            </a:pPr>
            <a:r>
              <a:rPr sz="1450" b="1" i="0">
                <a:solidFill>
                  <a:srgbClr val="141B2E"/>
                </a:solidFill>
                <a:latin typeface="Arial"/>
              </a:rPr>
              <a:t>The parallelism lies in the task.</a:t>
            </a:r>
            <a:r>
              <a:rPr sz="1450" b="1" i="0">
                <a:solidFill>
                  <a:srgbClr val="141B2E"/>
                </a:solidFill>
                <a:latin typeface="Arial"/>
              </a:rPr>
              <a:t> The guess counted workers: six pieces, six workers. The layout named the condition: three pieces are independent, and each of the rest needs a means of its own. Getting the count wrong cost our developer a week of working one piece at a time — including the pieces that divided quite happily. Reconciling the diverged configurations cost longer than the configuring itself; trust in the technique cost a week.</a:t>
            </a:r>
          </a:p>
        </p:txBody>
      </p:sp>
      <p:sp>
        <p:nvSpPr>
          <p:cNvPr id="7" name="Rounded Rectangle 6"/>
          <p:cNvSpPr/>
          <p:nvPr/>
        </p:nvSpPr>
        <p:spPr>
          <a:xfrm>
            <a:off x="502920" y="3616452"/>
            <a:ext cx="5454396" cy="2351024"/>
          </a:xfrm>
          <a:prstGeom prst="roundRect">
            <a:avLst>
              <a:gd name="adj" fmla="val 12964"/>
            </a:avLst>
          </a:prstGeom>
          <a:solidFill>
            <a:srgbClr val="F4F7FA"/>
          </a:solidFill>
          <a:ln w="15240">
            <a:solidFill>
              <a:srgbClr val="E5EA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85800" y="3726180"/>
            <a:ext cx="5088636" cy="274320"/>
          </a:xfrm>
          <a:prstGeom prst="rect">
            <a:avLst/>
          </a:prstGeom>
          <a:noFill/>
        </p:spPr>
        <p:txBody>
          <a:bodyPr wrap="square" lIns="0" rIns="0" tIns="0" bIns="0" anchor="t">
            <a:spAutoFit/>
          </a:bodyPr>
          <a:lstStyle/>
          <a:p>
            <a:pPr algn="l">
              <a:lnSpc>
                <a:spcPts val="1297"/>
              </a:lnSpc>
              <a:spcAft>
                <a:spcPts val="0"/>
              </a:spcAft>
            </a:pPr>
            <a:r>
              <a:rPr sz="1100" b="1" i="0">
                <a:solidFill>
                  <a:srgbClr val="6B7685"/>
                </a:solidFill>
                <a:latin typeface="Arial"/>
              </a:rPr>
              <a:t>A SUBAGENT IS JUSTIFIED WHEN</a:t>
            </a:r>
          </a:p>
        </p:txBody>
      </p:sp>
      <p:sp>
        <p:nvSpPr>
          <p:cNvPr id="9" name="TextBox 8"/>
          <p:cNvSpPr txBox="1"/>
          <p:nvPr/>
        </p:nvSpPr>
        <p:spPr>
          <a:xfrm>
            <a:off x="685800" y="4000500"/>
            <a:ext cx="5088636" cy="490982"/>
          </a:xfrm>
          <a:prstGeom prst="rect">
            <a:avLst/>
          </a:prstGeom>
          <a:noFill/>
        </p:spPr>
        <p:txBody>
          <a:bodyPr wrap="square" lIns="0" rIns="0" tIns="0" bIns="0" anchor="ctr">
            <a:spAutoFit/>
          </a:bodyPr>
          <a:lstStyle/>
          <a:p>
            <a:pPr algn="l">
              <a:lnSpc>
                <a:spcPts val="1356"/>
              </a:lnSpc>
              <a:spcAft>
                <a:spcPts val="0"/>
              </a:spcAft>
            </a:pPr>
            <a:r>
              <a:rPr sz="1150" b="0" i="0">
                <a:solidFill>
                  <a:srgbClr val="141B2E"/>
                </a:solidFill>
                <a:latin typeface="Arial"/>
              </a:rPr>
              <a:t>there are several pieces and they are independent — one's step does not need another's output</a:t>
            </a:r>
          </a:p>
        </p:txBody>
      </p:sp>
      <p:cxnSp>
        <p:nvCxnSpPr>
          <p:cNvPr id="10" name="Connector 9"/>
          <p:cNvCxnSpPr/>
          <p:nvPr/>
        </p:nvCxnSpPr>
        <p:spPr>
          <a:xfrm>
            <a:off x="685800" y="4491482"/>
            <a:ext cx="5088636" cy="0"/>
          </a:xfrm>
          <a:prstGeom prst="line">
            <a:avLst/>
          </a:prstGeom>
          <a:ln w="9525">
            <a:solidFill>
              <a:srgbClr val="E5EAF0"/>
            </a:solidFill>
          </a:ln>
        </p:spPr>
        <p:style>
          <a:lnRef idx="2">
            <a:schemeClr val="accent1"/>
          </a:lnRef>
          <a:fillRef idx="0">
            <a:schemeClr val="accent1"/>
          </a:fillRef>
          <a:effectRef idx="1">
            <a:schemeClr val="accent1"/>
          </a:effectRef>
          <a:fontRef idx="minor">
            <a:schemeClr val="tx1"/>
          </a:fontRef>
        </p:style>
      </p:cxnSp>
      <p:sp>
        <p:nvSpPr>
          <p:cNvPr id="11" name="TextBox 10"/>
          <p:cNvSpPr txBox="1"/>
          <p:nvPr/>
        </p:nvSpPr>
        <p:spPr>
          <a:xfrm>
            <a:off x="685800" y="4491482"/>
            <a:ext cx="5088636" cy="663321"/>
          </a:xfrm>
          <a:prstGeom prst="rect">
            <a:avLst/>
          </a:prstGeom>
          <a:noFill/>
        </p:spPr>
        <p:txBody>
          <a:bodyPr wrap="square" lIns="0" rIns="0" tIns="0" bIns="0" anchor="ctr">
            <a:spAutoFit/>
          </a:bodyPr>
          <a:lstStyle/>
          <a:p>
            <a:pPr algn="l">
              <a:lnSpc>
                <a:spcPts val="1356"/>
              </a:lnSpc>
              <a:spcAft>
                <a:spcPts val="0"/>
              </a:spcAft>
            </a:pPr>
            <a:r>
              <a:rPr sz="1150" b="0" i="0">
                <a:solidFill>
                  <a:srgbClr val="141B2E"/>
                </a:solidFill>
                <a:latin typeface="Arial"/>
              </a:rPr>
              <a:t>each piece has its own narrow zone and a short result — the lookup list and the form are exactly this case, once what is shared between them has been written down before the start</a:t>
            </a:r>
          </a:p>
        </p:txBody>
      </p:sp>
      <p:sp>
        <p:nvSpPr>
          <p:cNvPr id="12" name="Rounded Rectangle 11"/>
          <p:cNvSpPr/>
          <p:nvPr/>
        </p:nvSpPr>
        <p:spPr>
          <a:xfrm>
            <a:off x="6231636" y="3616452"/>
            <a:ext cx="5454396" cy="2351024"/>
          </a:xfrm>
          <a:prstGeom prst="roundRect">
            <a:avLst>
              <a:gd name="adj" fmla="val 12964"/>
            </a:avLst>
          </a:prstGeom>
          <a:solidFill>
            <a:srgbClr val="F4F7FA"/>
          </a:solidFill>
          <a:ln w="15240">
            <a:solidFill>
              <a:srgbClr val="E5EA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14516" y="3726180"/>
            <a:ext cx="5088636" cy="274320"/>
          </a:xfrm>
          <a:prstGeom prst="rect">
            <a:avLst/>
          </a:prstGeom>
          <a:noFill/>
        </p:spPr>
        <p:txBody>
          <a:bodyPr wrap="square" lIns="0" rIns="0" tIns="0" bIns="0" anchor="t">
            <a:spAutoFit/>
          </a:bodyPr>
          <a:lstStyle/>
          <a:p>
            <a:pPr algn="l">
              <a:lnSpc>
                <a:spcPts val="1297"/>
              </a:lnSpc>
              <a:spcAft>
                <a:spcPts val="0"/>
              </a:spcAft>
            </a:pPr>
            <a:r>
              <a:rPr sz="1100" b="1" i="0">
                <a:solidFill>
                  <a:srgbClr val="8A6200"/>
                </a:solidFill>
                <a:latin typeface="Arial"/>
              </a:rPr>
              <a:t>ANOTHER MEANS IS CHEAPER WHEN</a:t>
            </a:r>
          </a:p>
        </p:txBody>
      </p:sp>
      <p:sp>
        <p:nvSpPr>
          <p:cNvPr id="14" name="TextBox 13"/>
          <p:cNvSpPr txBox="1"/>
          <p:nvPr/>
        </p:nvSpPr>
        <p:spPr>
          <a:xfrm>
            <a:off x="6414516" y="4000500"/>
            <a:ext cx="5088636" cy="446024"/>
          </a:xfrm>
          <a:prstGeom prst="rect">
            <a:avLst/>
          </a:prstGeom>
          <a:noFill/>
        </p:spPr>
        <p:txBody>
          <a:bodyPr wrap="square" lIns="0" rIns="0" tIns="0" bIns="0" anchor="ctr">
            <a:spAutoFit/>
          </a:bodyPr>
          <a:lstStyle/>
          <a:p>
            <a:pPr algn="l">
              <a:lnSpc>
                <a:spcPts val="1180"/>
              </a:lnSpc>
              <a:spcAft>
                <a:spcPts val="0"/>
              </a:spcAft>
            </a:pPr>
            <a:r>
              <a:rPr sz="1000" b="0" i="0">
                <a:solidFill>
                  <a:srgbClr val="141B2E"/>
                </a:solidFill>
                <a:latin typeface="Arial"/>
              </a:rPr>
              <a:t>the steps are dependent: splitting multiplies the error — 17.2× with no coordinator, 4.4× even with centralized checking</a:t>
            </a:r>
          </a:p>
        </p:txBody>
      </p:sp>
      <p:cxnSp>
        <p:nvCxnSpPr>
          <p:cNvPr id="15" name="Connector 14"/>
          <p:cNvCxnSpPr/>
          <p:nvPr/>
        </p:nvCxnSpPr>
        <p:spPr>
          <a:xfrm>
            <a:off x="6414516" y="4446524"/>
            <a:ext cx="5088636" cy="0"/>
          </a:xfrm>
          <a:prstGeom prst="line">
            <a:avLst/>
          </a:prstGeom>
          <a:ln w="9525">
            <a:solidFill>
              <a:srgbClr val="E5EAF0"/>
            </a:solidFill>
          </a:ln>
        </p:spPr>
        <p:style>
          <a:lnRef idx="2">
            <a:schemeClr val="accent1"/>
          </a:lnRef>
          <a:fillRef idx="0">
            <a:schemeClr val="accent1"/>
          </a:fillRef>
          <a:effectRef idx="1">
            <a:schemeClr val="accent1"/>
          </a:effectRef>
          <a:fontRef idx="minor">
            <a:schemeClr val="tx1"/>
          </a:fontRef>
        </p:style>
      </p:cxnSp>
      <p:sp>
        <p:nvSpPr>
          <p:cNvPr id="16" name="TextBox 15"/>
          <p:cNvSpPr txBox="1"/>
          <p:nvPr/>
        </p:nvSpPr>
        <p:spPr>
          <a:xfrm>
            <a:off x="6414516" y="4446524"/>
            <a:ext cx="5088636" cy="446024"/>
          </a:xfrm>
          <a:prstGeom prst="rect">
            <a:avLst/>
          </a:prstGeom>
          <a:noFill/>
        </p:spPr>
        <p:txBody>
          <a:bodyPr wrap="square" lIns="0" rIns="0" tIns="0" bIns="0" anchor="ctr">
            <a:spAutoFit/>
          </a:bodyPr>
          <a:lstStyle/>
          <a:p>
            <a:pPr algn="l">
              <a:lnSpc>
                <a:spcPts val="1180"/>
              </a:lnSpc>
              <a:spcAft>
                <a:spcPts val="0"/>
              </a:spcAft>
            </a:pPr>
            <a:r>
              <a:rPr sz="1000" b="0" i="0">
                <a:solidFill>
                  <a:srgbClr val="141B2E"/>
                </a:solidFill>
                <a:latin typeface="Arial"/>
              </a:rPr>
              <a:t>nobody wrote down what is shared between the pieces: two honest jobs add up to a readiness that does not exist</a:t>
            </a:r>
          </a:p>
        </p:txBody>
      </p:sp>
      <p:cxnSp>
        <p:nvCxnSpPr>
          <p:cNvPr id="17" name="Connector 16"/>
          <p:cNvCxnSpPr/>
          <p:nvPr/>
        </p:nvCxnSpPr>
        <p:spPr>
          <a:xfrm>
            <a:off x="6414516" y="4892548"/>
            <a:ext cx="5088636" cy="0"/>
          </a:xfrm>
          <a:prstGeom prst="line">
            <a:avLst/>
          </a:prstGeom>
          <a:ln w="9525">
            <a:solidFill>
              <a:srgbClr val="E5EAF0"/>
            </a:solidFill>
          </a:ln>
        </p:spPr>
        <p:style>
          <a:lnRef idx="2">
            <a:schemeClr val="accent1"/>
          </a:lnRef>
          <a:fillRef idx="0">
            <a:schemeClr val="accent1"/>
          </a:fillRef>
          <a:effectRef idx="1">
            <a:schemeClr val="accent1"/>
          </a:effectRef>
          <a:fontRef idx="minor">
            <a:schemeClr val="tx1"/>
          </a:fontRef>
        </p:style>
      </p:cxnSp>
      <p:sp>
        <p:nvSpPr>
          <p:cNvPr id="18" name="TextBox 17"/>
          <p:cNvSpPr txBox="1"/>
          <p:nvPr/>
        </p:nvSpPr>
        <p:spPr>
          <a:xfrm>
            <a:off x="6414516" y="4892548"/>
            <a:ext cx="5088636" cy="446024"/>
          </a:xfrm>
          <a:prstGeom prst="rect">
            <a:avLst/>
          </a:prstGeom>
          <a:noFill/>
        </p:spPr>
        <p:txBody>
          <a:bodyPr wrap="square" lIns="0" rIns="0" tIns="0" bIns="0" anchor="ctr">
            <a:spAutoFit/>
          </a:bodyPr>
          <a:lstStyle/>
          <a:p>
            <a:pPr algn="l">
              <a:lnSpc>
                <a:spcPts val="1180"/>
              </a:lnSpc>
              <a:spcAft>
                <a:spcPts val="0"/>
              </a:spcAft>
            </a:pPr>
            <a:r>
              <a:rPr sz="1000" b="0" i="0">
                <a:solidFill>
                  <a:srgbClr val="141B2E"/>
                </a:solidFill>
                <a:latin typeface="Arial"/>
              </a:rPr>
              <a:t>a piece repeats after every one of the others: its place is in a check that runs itself</a:t>
            </a:r>
          </a:p>
        </p:txBody>
      </p:sp>
      <p:cxnSp>
        <p:nvCxnSpPr>
          <p:cNvPr id="19" name="Connector 18"/>
          <p:cNvCxnSpPr/>
          <p:nvPr/>
        </p:nvCxnSpPr>
        <p:spPr>
          <a:xfrm>
            <a:off x="6414516" y="5338572"/>
            <a:ext cx="5088636" cy="0"/>
          </a:xfrm>
          <a:prstGeom prst="line">
            <a:avLst/>
          </a:prstGeom>
          <a:ln w="9525">
            <a:solidFill>
              <a:srgbClr val="E5EAF0"/>
            </a:solidFill>
          </a:ln>
        </p:spPr>
        <p:style>
          <a:lnRef idx="2">
            <a:schemeClr val="accent1"/>
          </a:lnRef>
          <a:fillRef idx="0">
            <a:schemeClr val="accent1"/>
          </a:fillRef>
          <a:effectRef idx="1">
            <a:schemeClr val="accent1"/>
          </a:effectRef>
          <a:fontRef idx="minor">
            <a:schemeClr val="tx1"/>
          </a:fontRef>
        </p:style>
      </p:cxnSp>
      <p:sp>
        <p:nvSpPr>
          <p:cNvPr id="20" name="TextBox 19"/>
          <p:cNvSpPr txBox="1"/>
          <p:nvPr/>
        </p:nvSpPr>
        <p:spPr>
          <a:xfrm>
            <a:off x="6414516" y="5338572"/>
            <a:ext cx="5088636" cy="446024"/>
          </a:xfrm>
          <a:prstGeom prst="rect">
            <a:avLst/>
          </a:prstGeom>
          <a:noFill/>
        </p:spPr>
        <p:txBody>
          <a:bodyPr wrap="square" lIns="0" rIns="0" tIns="0" bIns="0" anchor="ctr">
            <a:spAutoFit/>
          </a:bodyPr>
          <a:lstStyle/>
          <a:p>
            <a:pPr algn="l">
              <a:lnSpc>
                <a:spcPts val="1180"/>
              </a:lnSpc>
              <a:spcAft>
                <a:spcPts val="0"/>
              </a:spcAft>
            </a:pPr>
            <a:r>
              <a:rPr sz="1000" b="0" i="0">
                <a:solidFill>
                  <a:srgbClr val="141B2E"/>
                </a:solidFill>
                <a:latin typeface="Arial"/>
              </a:rPr>
              <a:t>a piece is not needed for the deadline at all: a piece like that gets narrowed away, and there is nothing in it to speed up</a:t>
            </a:r>
          </a:p>
        </p:txBody>
      </p:sp>
      <p:sp>
        <p:nvSpPr>
          <p:cNvPr id="21" name="TextBox 20"/>
          <p:cNvSpPr txBox="1"/>
          <p:nvPr/>
        </p:nvSpPr>
        <p:spPr>
          <a:xfrm>
            <a:off x="10957255" y="6437376"/>
            <a:ext cx="914400" cy="274320"/>
          </a:xfrm>
          <a:prstGeom prst="rect">
            <a:avLst/>
          </a:prstGeom>
          <a:noFill/>
        </p:spPr>
        <p:txBody>
          <a:bodyPr wrap="square" lIns="0" rIns="0" tIns="0" bIns="0" anchor="t">
            <a:spAutoFit/>
          </a:bodyPr>
          <a:lstStyle/>
          <a:p>
            <a:pPr algn="r">
              <a:lnSpc>
                <a:spcPts val="1238"/>
              </a:lnSpc>
              <a:spcAft>
                <a:spcPts val="0"/>
              </a:spcAft>
            </a:pPr>
            <a:r>
              <a:rPr sz="1050" b="0" i="0">
                <a:solidFill>
                  <a:srgbClr val="6B7685"/>
                </a:solidFill>
                <a:latin typeface="Arial"/>
              </a:rPr>
              <a:t>49</a:t>
            </a:r>
          </a:p>
        </p:txBody>
      </p:sp>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ln>
            <a:noFill/>
          </a:ln>
          <a:effectLst/>
          <a:gradFill rotWithShape="1">
            <a:gsLst>
              <a:gs pos="0">
                <a:srgbClr val="21295C"/>
              </a:gs>
              <a:gs pos="55000">
                <a:srgbClr val="065A82"/>
              </a:gs>
              <a:gs pos="100000">
                <a:srgbClr val="1C7293"/>
              </a:gs>
            </a:gsLst>
            <a:lin ang="2700000" scaled="1"/>
          </a:gra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502920" y="457200"/>
            <a:ext cx="5111496" cy="237744"/>
          </a:xfrm>
          <a:prstGeom prst="roundRect">
            <a:avLst>
              <a:gd name="adj" fmla="val 40000"/>
            </a:avLst>
          </a:prstGeom>
          <a:solidFill>
            <a:srgbClr val="3E4C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5724144" y="457200"/>
            <a:ext cx="5111496" cy="237744"/>
          </a:xfrm>
          <a:prstGeom prst="roundRect">
            <a:avLst>
              <a:gd name="adj" fmla="val 40000"/>
            </a:avLst>
          </a:prstGeom>
          <a:solidFill>
            <a:srgbClr val="F0AB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585216" y="2162556"/>
            <a:ext cx="694944" cy="694944"/>
          </a:xfrm>
          <a:prstGeom prst="ellipse">
            <a:avLst/>
          </a:prstGeom>
          <a:solidFill>
            <a:srgbClr val="F0AB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85216" y="2162556"/>
            <a:ext cx="694944" cy="694944"/>
          </a:xfrm>
          <a:prstGeom prst="rect">
            <a:avLst/>
          </a:prstGeom>
          <a:noFill/>
        </p:spPr>
        <p:txBody>
          <a:bodyPr wrap="square" lIns="0" rIns="0" tIns="0" bIns="0" anchor="ctr">
            <a:spAutoFit/>
          </a:bodyPr>
          <a:lstStyle/>
          <a:p>
            <a:pPr algn="ctr">
              <a:lnSpc>
                <a:spcPts val="2950"/>
              </a:lnSpc>
              <a:spcAft>
                <a:spcPts val="0"/>
              </a:spcAft>
            </a:pPr>
            <a:r>
              <a:rPr sz="2500" b="1" i="0">
                <a:solidFill>
                  <a:srgbClr val="21295C"/>
                </a:solidFill>
                <a:latin typeface="Arial"/>
              </a:rPr>
              <a:t>5</a:t>
            </a:r>
          </a:p>
        </p:txBody>
      </p:sp>
      <p:sp>
        <p:nvSpPr>
          <p:cNvPr id="7" name="TextBox 6"/>
          <p:cNvSpPr txBox="1"/>
          <p:nvPr/>
        </p:nvSpPr>
        <p:spPr>
          <a:xfrm>
            <a:off x="1536192" y="2056637"/>
            <a:ext cx="9144000" cy="906780"/>
          </a:xfrm>
          <a:prstGeom prst="rect">
            <a:avLst/>
          </a:prstGeom>
          <a:noFill/>
        </p:spPr>
        <p:txBody>
          <a:bodyPr wrap="square" lIns="0" rIns="0" tIns="0" bIns="0" anchor="t">
            <a:spAutoFit/>
          </a:bodyPr>
          <a:lstStyle/>
          <a:p>
            <a:pPr algn="l">
              <a:lnSpc>
                <a:spcPts val="3570"/>
              </a:lnSpc>
              <a:spcAft>
                <a:spcPts val="0"/>
              </a:spcAft>
            </a:pPr>
            <a:r>
              <a:rPr sz="3400" b="1" i="0">
                <a:solidFill>
                  <a:srgbClr val="FFFFFF"/>
                </a:solidFill>
                <a:latin typeface="Arial"/>
              </a:rPr>
              <a:t>Two sessions in one folder. Both reported success</a:t>
            </a:r>
          </a:p>
        </p:txBody>
      </p:sp>
      <p:sp>
        <p:nvSpPr>
          <p:cNvPr id="8" name="TextBox 7"/>
          <p:cNvSpPr txBox="1"/>
          <p:nvPr/>
        </p:nvSpPr>
        <p:spPr>
          <a:xfrm>
            <a:off x="822960" y="3274314"/>
            <a:ext cx="9509760" cy="1709928"/>
          </a:xfrm>
          <a:prstGeom prst="rect">
            <a:avLst/>
          </a:prstGeom>
          <a:noFill/>
        </p:spPr>
        <p:txBody>
          <a:bodyPr wrap="square" lIns="0" rIns="0" tIns="0" bIns="0" anchor="t">
            <a:spAutoFit/>
          </a:bodyPr>
          <a:lstStyle/>
          <a:p>
            <a:pPr algn="l">
              <a:lnSpc>
                <a:spcPts val="2244"/>
              </a:lnSpc>
              <a:spcAft>
                <a:spcPts val="400"/>
              </a:spcAft>
            </a:pPr>
            <a:r>
              <a:rPr sz="1700" b="0" i="1">
                <a:solidFill>
                  <a:srgbClr val="D6E2EC"/>
                </a:solidFill>
                <a:latin typeface="Arial"/>
              </a:rPr>
              <a:t>You already have several sessions, and there is almost always more than one worker in one folder — and that is normal. You will give a session a separate copy of the repository straight away, and you will want to give one to a subagent. The isolation field exists for a subagent, it is switched on rarely, and that is a decision. We settle where to divide things with copies and where only with zones.</a:t>
            </a:r>
          </a:p>
        </p:txBody>
      </p:sp>
      <p:sp>
        <p:nvSpPr>
          <p:cNvPr id="9" name="Rounded Rectangle 8"/>
          <p:cNvSpPr/>
          <p:nvPr/>
        </p:nvSpPr>
        <p:spPr>
          <a:xfrm>
            <a:off x="502920" y="5989320"/>
            <a:ext cx="5500116" cy="384048"/>
          </a:xfrm>
          <a:prstGeom prst="roundRect">
            <a:avLst>
              <a:gd name="adj" fmla="val 30000"/>
            </a:avLst>
          </a:prstGeom>
          <a:solidFill>
            <a:srgbClr val="0280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02920" y="5989320"/>
            <a:ext cx="5500116" cy="384048"/>
          </a:xfrm>
          <a:prstGeom prst="rect">
            <a:avLst/>
          </a:prstGeom>
          <a:noFill/>
        </p:spPr>
        <p:txBody>
          <a:bodyPr wrap="square" lIns="0" rIns="0" tIns="0" bIns="0" anchor="ctr">
            <a:spAutoFit/>
          </a:bodyPr>
          <a:lstStyle/>
          <a:p>
            <a:pPr algn="ctr">
              <a:lnSpc>
                <a:spcPts val="1475"/>
              </a:lnSpc>
              <a:spcAft>
                <a:spcPts val="0"/>
              </a:spcAft>
            </a:pPr>
            <a:r>
              <a:rPr sz="1250" b="0" i="0">
                <a:solidFill>
                  <a:srgbClr val="FFFFFF"/>
                </a:solidFill>
                <a:latin typeface="Arial"/>
              </a:rPr>
              <a:t>MCP</a:t>
            </a:r>
          </a:p>
        </p:txBody>
      </p:sp>
      <p:sp>
        <p:nvSpPr>
          <p:cNvPr id="11" name="Rounded Rectangle 10"/>
          <p:cNvSpPr/>
          <p:nvPr/>
        </p:nvSpPr>
        <p:spPr>
          <a:xfrm>
            <a:off x="6185916" y="5989320"/>
            <a:ext cx="5500116" cy="384048"/>
          </a:xfrm>
          <a:prstGeom prst="roundRect">
            <a:avLst>
              <a:gd name="adj" fmla="val 30000"/>
            </a:avLst>
          </a:prstGeom>
          <a:solidFill>
            <a:srgbClr val="F0AB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185916" y="5989320"/>
            <a:ext cx="5500116" cy="384048"/>
          </a:xfrm>
          <a:prstGeom prst="rect">
            <a:avLst/>
          </a:prstGeom>
          <a:noFill/>
        </p:spPr>
        <p:txBody>
          <a:bodyPr wrap="square" lIns="0" rIns="0" tIns="0" bIns="0" anchor="ctr">
            <a:spAutoFit/>
          </a:bodyPr>
          <a:lstStyle/>
          <a:p>
            <a:pPr algn="ctr">
              <a:lnSpc>
                <a:spcPts val="1475"/>
              </a:lnSpc>
              <a:spcAft>
                <a:spcPts val="0"/>
              </a:spcAft>
            </a:pPr>
            <a:r>
              <a:rPr sz="1250" b="1" i="0">
                <a:solidFill>
                  <a:srgbClr val="21295C"/>
                </a:solidFill>
                <a:latin typeface="Arial"/>
              </a:rPr>
              <a:t>Subagent</a:t>
            </a:r>
          </a:p>
        </p:txBody>
      </p:sp>
      <p:sp>
        <p:nvSpPr>
          <p:cNvPr id="13" name="TextBox 12"/>
          <p:cNvSpPr txBox="1"/>
          <p:nvPr/>
        </p:nvSpPr>
        <p:spPr>
          <a:xfrm>
            <a:off x="10957255" y="6437376"/>
            <a:ext cx="914400" cy="274320"/>
          </a:xfrm>
          <a:prstGeom prst="rect">
            <a:avLst/>
          </a:prstGeom>
          <a:noFill/>
        </p:spPr>
        <p:txBody>
          <a:bodyPr wrap="square" lIns="0" rIns="0" tIns="0" bIns="0" anchor="t">
            <a:spAutoFit/>
          </a:bodyPr>
          <a:lstStyle/>
          <a:p>
            <a:pPr algn="r">
              <a:lnSpc>
                <a:spcPts val="1238"/>
              </a:lnSpc>
              <a:spcAft>
                <a:spcPts val="0"/>
              </a:spcAft>
            </a:pPr>
            <a:r>
              <a:rPr sz="1050" b="0" i="0">
                <a:solidFill>
                  <a:srgbClr val="FFFFFF"/>
                </a:solidFill>
                <a:latin typeface="Arial"/>
              </a:rPr>
              <a:t>50</a:t>
            </a:r>
          </a:p>
        </p:txBody>
      </p:sp>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02920" y="310896"/>
            <a:ext cx="11183112" cy="807720"/>
          </a:xfrm>
          <a:prstGeom prst="rect">
            <a:avLst/>
          </a:prstGeom>
          <a:noFill/>
        </p:spPr>
        <p:txBody>
          <a:bodyPr wrap="square" lIns="0" rIns="0" tIns="0" bIns="0" anchor="t">
            <a:spAutoFit/>
          </a:bodyPr>
          <a:lstStyle/>
          <a:p>
            <a:pPr algn="l">
              <a:lnSpc>
                <a:spcPts val="2963"/>
              </a:lnSpc>
              <a:spcAft>
                <a:spcPts val="0"/>
              </a:spcAft>
            </a:pPr>
            <a:r>
              <a:rPr sz="2600" b="1" i="0">
                <a:solidFill>
                  <a:srgbClr val="141B2E"/>
                </a:solidFill>
                <a:latin typeface="Arial"/>
              </a:rPr>
              <a:t>The second session started a branch. The first did not notice</a:t>
            </a:r>
          </a:p>
        </p:txBody>
      </p:sp>
      <p:sp>
        <p:nvSpPr>
          <p:cNvPr id="3" name="Rounded Rectangle 2"/>
          <p:cNvSpPr/>
          <p:nvPr/>
        </p:nvSpPr>
        <p:spPr>
          <a:xfrm>
            <a:off x="502920" y="1319784"/>
            <a:ext cx="82296" cy="731012"/>
          </a:xfrm>
          <a:prstGeom prst="roundRect">
            <a:avLst>
              <a:gd name="adj" fmla="val 50000"/>
            </a:avLst>
          </a:prstGeom>
          <a:solidFill>
            <a:srgbClr val="F0AB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59536" y="1447800"/>
            <a:ext cx="10643616" cy="474979"/>
          </a:xfrm>
          <a:prstGeom prst="rect">
            <a:avLst/>
          </a:prstGeom>
          <a:noFill/>
        </p:spPr>
        <p:txBody>
          <a:bodyPr wrap="square" lIns="0" rIns="0" tIns="0" bIns="0" anchor="ctr">
            <a:spAutoFit/>
          </a:bodyPr>
          <a:lstStyle/>
          <a:p>
            <a:pPr algn="l">
              <a:lnSpc>
                <a:spcPts val="1798"/>
              </a:lnSpc>
              <a:spcAft>
                <a:spcPts val="300"/>
              </a:spcAft>
            </a:pPr>
            <a:r>
              <a:rPr sz="1450" b="1" i="0">
                <a:solidFill>
                  <a:srgbClr val="141B2E"/>
                </a:solidFill>
                <a:latin typeface="Arial"/>
              </a:rPr>
              <a:t>On the branch </a:t>
            </a:r>
            <a:r>
              <a:rPr sz="1450" b="1" i="0">
                <a:solidFill>
                  <a:srgbClr val="141B2E"/>
                </a:solidFill>
                <a:latin typeface="Consolas"/>
              </a:rPr>
              <a:t>fix/email-pattern</a:t>
            </a:r>
            <a:r>
              <a:rPr sz="1450" b="1" i="0">
                <a:solidFill>
                  <a:srgbClr val="141B2E"/>
                </a:solidFill>
                <a:latin typeface="Arial"/>
              </a:rPr>
              <a:t> there is an edit under way: the address regular expression in </a:t>
            </a:r>
            <a:r>
              <a:rPr sz="1450" b="1" i="0">
                <a:solidFill>
                  <a:srgbClr val="141B2E"/>
                </a:solidFill>
                <a:latin typeface="Consolas"/>
              </a:rPr>
              <a:t>index.html</a:t>
            </a:r>
            <a:r>
              <a:rPr sz="1450" b="1" i="0">
                <a:solidFill>
                  <a:srgbClr val="141B2E"/>
                </a:solidFill>
                <a:latin typeface="Arial"/>
              </a:rPr>
              <a:t> has been fixed, the message in </a:t>
            </a:r>
            <a:r>
              <a:rPr sz="1450" b="1" i="0">
                <a:solidFill>
                  <a:srgbClr val="141B2E"/>
                </a:solidFill>
                <a:latin typeface="Consolas"/>
              </a:rPr>
              <a:t>src/validate.js</a:t>
            </a:r>
            <a:r>
              <a:rPr sz="1450" b="1" i="0">
                <a:solidFill>
                  <a:srgbClr val="141B2E"/>
                </a:solidFill>
                <a:latin typeface="Arial"/>
              </a:rPr>
              <a:t> has not yet. There is no commit so far.</a:t>
            </a:r>
          </a:p>
        </p:txBody>
      </p:sp>
      <p:sp>
        <p:nvSpPr>
          <p:cNvPr id="5" name="Rounded Rectangle 4"/>
          <p:cNvSpPr/>
          <p:nvPr/>
        </p:nvSpPr>
        <p:spPr>
          <a:xfrm>
            <a:off x="502920" y="2215388"/>
            <a:ext cx="11183112" cy="2704338"/>
          </a:xfrm>
          <a:prstGeom prst="roundRect">
            <a:avLst>
              <a:gd name="adj" fmla="val 11270"/>
            </a:avLst>
          </a:prstGeom>
          <a:solidFill>
            <a:srgbClr val="F4F7FA"/>
          </a:solidFill>
          <a:ln w="15240">
            <a:solidFill>
              <a:srgbClr val="E5EA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22376" y="2434843"/>
            <a:ext cx="329184" cy="712470"/>
          </a:xfrm>
          <a:prstGeom prst="rect">
            <a:avLst/>
          </a:prstGeom>
          <a:noFill/>
        </p:spPr>
        <p:txBody>
          <a:bodyPr wrap="square" lIns="0" rIns="0" tIns="0" bIns="0" anchor="ctr">
            <a:spAutoFit/>
          </a:bodyPr>
          <a:lstStyle/>
          <a:p>
            <a:pPr algn="l">
              <a:lnSpc>
                <a:spcPts val="1770"/>
              </a:lnSpc>
              <a:spcAft>
                <a:spcPts val="0"/>
              </a:spcAft>
            </a:pPr>
            <a:r>
              <a:rPr sz="1500" b="1" i="0">
                <a:solidFill>
                  <a:srgbClr val="028090"/>
                </a:solidFill>
                <a:latin typeface="Arial"/>
              </a:rPr>
              <a:t>1</a:t>
            </a:r>
          </a:p>
        </p:txBody>
      </p:sp>
      <p:sp>
        <p:nvSpPr>
          <p:cNvPr id="7" name="TextBox 6"/>
          <p:cNvSpPr txBox="1"/>
          <p:nvPr/>
        </p:nvSpPr>
        <p:spPr>
          <a:xfrm>
            <a:off x="1106424" y="2434843"/>
            <a:ext cx="10360152" cy="712470"/>
          </a:xfrm>
          <a:prstGeom prst="rect">
            <a:avLst/>
          </a:prstGeom>
          <a:noFill/>
        </p:spPr>
        <p:txBody>
          <a:bodyPr wrap="square" lIns="0" rIns="0" tIns="0" bIns="0" anchor="ctr">
            <a:spAutoFit/>
          </a:bodyPr>
          <a:lstStyle/>
          <a:p>
            <a:pPr algn="l">
              <a:lnSpc>
                <a:spcPts val="1534"/>
              </a:lnSpc>
              <a:spcAft>
                <a:spcPts val="0"/>
              </a:spcAft>
            </a:pPr>
            <a:r>
              <a:rPr sz="1300" b="0" i="0">
                <a:solidFill>
                  <a:srgbClr val="141B2E"/>
                </a:solidFill>
                <a:latin typeface="Arial"/>
              </a:rPr>
              <a:t>A second task arrives: bump a dependency that is making the build complain. It does not overlap with the address validation on a single file. There is no reason to wait for the first session, and the developer opens a second — in the same directory, on the same repository.</a:t>
            </a:r>
          </a:p>
        </p:txBody>
      </p:sp>
      <p:sp>
        <p:nvSpPr>
          <p:cNvPr id="8" name="TextBox 7"/>
          <p:cNvSpPr txBox="1"/>
          <p:nvPr/>
        </p:nvSpPr>
        <p:spPr>
          <a:xfrm>
            <a:off x="722376" y="3147314"/>
            <a:ext cx="329184" cy="517652"/>
          </a:xfrm>
          <a:prstGeom prst="rect">
            <a:avLst/>
          </a:prstGeom>
          <a:noFill/>
        </p:spPr>
        <p:txBody>
          <a:bodyPr wrap="square" lIns="0" rIns="0" tIns="0" bIns="0" anchor="ctr">
            <a:spAutoFit/>
          </a:bodyPr>
          <a:lstStyle/>
          <a:p>
            <a:pPr algn="l">
              <a:lnSpc>
                <a:spcPts val="1770"/>
              </a:lnSpc>
              <a:spcAft>
                <a:spcPts val="0"/>
              </a:spcAft>
            </a:pPr>
            <a:r>
              <a:rPr sz="1500" b="1" i="0">
                <a:solidFill>
                  <a:srgbClr val="028090"/>
                </a:solidFill>
                <a:latin typeface="Arial"/>
              </a:rPr>
              <a:t>2</a:t>
            </a:r>
          </a:p>
        </p:txBody>
      </p:sp>
      <p:sp>
        <p:nvSpPr>
          <p:cNvPr id="9" name="TextBox 8"/>
          <p:cNvSpPr txBox="1"/>
          <p:nvPr/>
        </p:nvSpPr>
        <p:spPr>
          <a:xfrm>
            <a:off x="1106424" y="3147314"/>
            <a:ext cx="10360152" cy="517652"/>
          </a:xfrm>
          <a:prstGeom prst="rect">
            <a:avLst/>
          </a:prstGeom>
          <a:noFill/>
        </p:spPr>
        <p:txBody>
          <a:bodyPr wrap="square" lIns="0" rIns="0" tIns="0" bIns="0" anchor="ctr">
            <a:spAutoFit/>
          </a:bodyPr>
          <a:lstStyle/>
          <a:p>
            <a:pPr algn="l">
              <a:lnSpc>
                <a:spcPts val="1534"/>
              </a:lnSpc>
              <a:spcAft>
                <a:spcPts val="0"/>
              </a:spcAft>
            </a:pPr>
            <a:r>
              <a:rPr sz="1300" b="0" i="0">
                <a:solidFill>
                  <a:srgbClr val="141B2E"/>
                </a:solidFill>
                <a:latin typeface="Arial"/>
              </a:rPr>
              <a:t>The second session starts with a branch of its own: </a:t>
            </a:r>
            <a:r>
              <a:rPr sz="1300" b="0" i="0">
                <a:solidFill>
                  <a:srgbClr val="141B2E"/>
                </a:solidFill>
                <a:latin typeface="Consolas"/>
              </a:rPr>
              <a:t>git</a:t>
            </a:r>
            <a:r>
              <a:rPr sz="1300" b="0" i="0">
                <a:solidFill>
                  <a:srgbClr val="141B2E"/>
                </a:solidFill>
                <a:latin typeface="Arial"/>
              </a:rPr>
              <a:t> </a:t>
            </a:r>
            <a:r>
              <a:rPr sz="1300" b="0" i="0">
                <a:solidFill>
                  <a:srgbClr val="141B2E"/>
                </a:solidFill>
                <a:latin typeface="Consolas"/>
              </a:rPr>
              <a:t>checkout</a:t>
            </a:r>
            <a:r>
              <a:rPr sz="1300" b="0" i="0">
                <a:solidFill>
                  <a:srgbClr val="141B2E"/>
                </a:solidFill>
                <a:latin typeface="Arial"/>
              </a:rPr>
              <a:t> </a:t>
            </a:r>
            <a:r>
              <a:rPr sz="1300" b="0" i="0">
                <a:solidFill>
                  <a:srgbClr val="141B2E"/>
                </a:solidFill>
                <a:latin typeface="Arial"/>
              </a:rPr>
              <a:t>-b</a:t>
            </a:r>
            <a:r>
              <a:rPr sz="1300" b="0" i="0">
                <a:solidFill>
                  <a:srgbClr val="141B2E"/>
                </a:solidFill>
                <a:latin typeface="Arial"/>
              </a:rPr>
              <a:t> </a:t>
            </a:r>
            <a:r>
              <a:rPr sz="1300" b="0" i="0">
                <a:solidFill>
                  <a:srgbClr val="141B2E"/>
                </a:solidFill>
                <a:latin typeface="Consolas"/>
              </a:rPr>
              <a:t>chore/bump-deps</a:t>
            </a:r>
            <a:r>
              <a:rPr sz="1300" b="0" i="0">
                <a:solidFill>
                  <a:srgbClr val="141B2E"/>
                </a:solidFill>
                <a:latin typeface="Arial"/>
              </a:rPr>
              <a:t>. The directory is one, the branch in it is one for everyone — and the uncommitted address edit moves onto the new branch along with the directory.</a:t>
            </a:r>
          </a:p>
        </p:txBody>
      </p:sp>
      <p:sp>
        <p:nvSpPr>
          <p:cNvPr id="10" name="TextBox 9"/>
          <p:cNvSpPr txBox="1"/>
          <p:nvPr/>
        </p:nvSpPr>
        <p:spPr>
          <a:xfrm>
            <a:off x="722376" y="3664965"/>
            <a:ext cx="329184" cy="517652"/>
          </a:xfrm>
          <a:prstGeom prst="rect">
            <a:avLst/>
          </a:prstGeom>
          <a:noFill/>
        </p:spPr>
        <p:txBody>
          <a:bodyPr wrap="square" lIns="0" rIns="0" tIns="0" bIns="0" anchor="ctr">
            <a:spAutoFit/>
          </a:bodyPr>
          <a:lstStyle/>
          <a:p>
            <a:pPr algn="l">
              <a:lnSpc>
                <a:spcPts val="1770"/>
              </a:lnSpc>
              <a:spcAft>
                <a:spcPts val="0"/>
              </a:spcAft>
            </a:pPr>
            <a:r>
              <a:rPr sz="1500" b="1" i="0">
                <a:solidFill>
                  <a:srgbClr val="028090"/>
                </a:solidFill>
                <a:latin typeface="Arial"/>
              </a:rPr>
              <a:t>3</a:t>
            </a:r>
          </a:p>
        </p:txBody>
      </p:sp>
      <p:sp>
        <p:nvSpPr>
          <p:cNvPr id="11" name="TextBox 10"/>
          <p:cNvSpPr txBox="1"/>
          <p:nvPr/>
        </p:nvSpPr>
        <p:spPr>
          <a:xfrm>
            <a:off x="1106424" y="3664965"/>
            <a:ext cx="10360152" cy="517652"/>
          </a:xfrm>
          <a:prstGeom prst="rect">
            <a:avLst/>
          </a:prstGeom>
          <a:noFill/>
        </p:spPr>
        <p:txBody>
          <a:bodyPr wrap="square" lIns="0" rIns="0" tIns="0" bIns="0" anchor="ctr">
            <a:spAutoFit/>
          </a:bodyPr>
          <a:lstStyle/>
          <a:p>
            <a:pPr algn="l">
              <a:lnSpc>
                <a:spcPts val="1534"/>
              </a:lnSpc>
              <a:spcAft>
                <a:spcPts val="0"/>
              </a:spcAft>
            </a:pPr>
            <a:r>
              <a:rPr sz="1300" b="0" i="0">
                <a:solidFill>
                  <a:srgbClr val="141B2E"/>
                </a:solidFill>
                <a:latin typeface="Arial"/>
              </a:rPr>
              <a:t>The second session finishes its work and takes into its commit everything it sees in the directory. Into the commit with the dependency goes the half-done address validation — for this session it is simply part of the state of the files.</a:t>
            </a:r>
          </a:p>
        </p:txBody>
      </p:sp>
      <p:sp>
        <p:nvSpPr>
          <p:cNvPr id="12" name="TextBox 11"/>
          <p:cNvSpPr txBox="1"/>
          <p:nvPr/>
        </p:nvSpPr>
        <p:spPr>
          <a:xfrm>
            <a:off x="722376" y="4182617"/>
            <a:ext cx="329184" cy="517652"/>
          </a:xfrm>
          <a:prstGeom prst="rect">
            <a:avLst/>
          </a:prstGeom>
          <a:noFill/>
        </p:spPr>
        <p:txBody>
          <a:bodyPr wrap="square" lIns="0" rIns="0" tIns="0" bIns="0" anchor="ctr">
            <a:spAutoFit/>
          </a:bodyPr>
          <a:lstStyle/>
          <a:p>
            <a:pPr algn="l">
              <a:lnSpc>
                <a:spcPts val="1770"/>
              </a:lnSpc>
              <a:spcAft>
                <a:spcPts val="0"/>
              </a:spcAft>
            </a:pPr>
            <a:r>
              <a:rPr sz="1500" b="1" i="0">
                <a:solidFill>
                  <a:srgbClr val="028090"/>
                </a:solidFill>
                <a:latin typeface="Arial"/>
              </a:rPr>
              <a:t>4</a:t>
            </a:r>
          </a:p>
        </p:txBody>
      </p:sp>
      <p:sp>
        <p:nvSpPr>
          <p:cNvPr id="13" name="TextBox 12"/>
          <p:cNvSpPr txBox="1"/>
          <p:nvPr/>
        </p:nvSpPr>
        <p:spPr>
          <a:xfrm>
            <a:off x="1106424" y="4182617"/>
            <a:ext cx="10360152" cy="517652"/>
          </a:xfrm>
          <a:prstGeom prst="rect">
            <a:avLst/>
          </a:prstGeom>
          <a:noFill/>
        </p:spPr>
        <p:txBody>
          <a:bodyPr wrap="square" lIns="0" rIns="0" tIns="0" bIns="0" anchor="ctr">
            <a:spAutoFit/>
          </a:bodyPr>
          <a:lstStyle/>
          <a:p>
            <a:pPr algn="l">
              <a:lnSpc>
                <a:spcPts val="1534"/>
              </a:lnSpc>
              <a:spcAft>
                <a:spcPts val="0"/>
              </a:spcAft>
            </a:pPr>
            <a:r>
              <a:rPr sz="1300" b="0" i="0">
                <a:solidFill>
                  <a:srgbClr val="141B2E"/>
                </a:solidFill>
                <a:latin typeface="Arial"/>
              </a:rPr>
              <a:t>The first session carries on from what it read earlier: it finishes the message, runs the tests, reports that the edit is ready. Its branch is no longer under it — the directory stands on the dependencies branch.</a:t>
            </a:r>
          </a:p>
        </p:txBody>
      </p:sp>
      <p:sp>
        <p:nvSpPr>
          <p:cNvPr id="14" name="Rounded Rectangle 13"/>
          <p:cNvSpPr/>
          <p:nvPr/>
        </p:nvSpPr>
        <p:spPr>
          <a:xfrm>
            <a:off x="502920" y="5084318"/>
            <a:ext cx="82296" cy="1187704"/>
          </a:xfrm>
          <a:prstGeom prst="roundRect">
            <a:avLst>
              <a:gd name="adj" fmla="val 50000"/>
            </a:avLst>
          </a:prstGeom>
          <a:solidFill>
            <a:srgbClr val="F0AB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59536" y="5212333"/>
            <a:ext cx="10643616" cy="931672"/>
          </a:xfrm>
          <a:prstGeom prst="rect">
            <a:avLst/>
          </a:prstGeom>
          <a:noFill/>
        </p:spPr>
        <p:txBody>
          <a:bodyPr wrap="square" lIns="0" rIns="0" tIns="0" bIns="0" anchor="ctr">
            <a:spAutoFit/>
          </a:bodyPr>
          <a:lstStyle/>
          <a:p>
            <a:pPr algn="l">
              <a:lnSpc>
                <a:spcPts val="1798"/>
              </a:lnSpc>
              <a:spcAft>
                <a:spcPts val="300"/>
              </a:spcAft>
            </a:pPr>
            <a:r>
              <a:rPr sz="1450" b="1" i="0">
                <a:solidFill>
                  <a:srgbClr val="141B2E"/>
                </a:solidFill>
                <a:latin typeface="Arial"/>
              </a:rPr>
              <a:t>Both sessions reported success, and both were right taken separately. In the morning it turned out that the dependencies branch contains somebody else's unfinished edit, the address branch contains nothing, and half an hour went on the question of why the form tests are failing where nobody touched the form.</a:t>
            </a:r>
          </a:p>
        </p:txBody>
      </p:sp>
      <p:sp>
        <p:nvSpPr>
          <p:cNvPr id="16" name="TextBox 15"/>
          <p:cNvSpPr txBox="1"/>
          <p:nvPr/>
        </p:nvSpPr>
        <p:spPr>
          <a:xfrm>
            <a:off x="10957255" y="6437376"/>
            <a:ext cx="914400" cy="274320"/>
          </a:xfrm>
          <a:prstGeom prst="rect">
            <a:avLst/>
          </a:prstGeom>
          <a:noFill/>
        </p:spPr>
        <p:txBody>
          <a:bodyPr wrap="square" lIns="0" rIns="0" tIns="0" bIns="0" anchor="t">
            <a:spAutoFit/>
          </a:bodyPr>
          <a:lstStyle/>
          <a:p>
            <a:pPr algn="r">
              <a:lnSpc>
                <a:spcPts val="1238"/>
              </a:lnSpc>
              <a:spcAft>
                <a:spcPts val="0"/>
              </a:spcAft>
            </a:pPr>
            <a:r>
              <a:rPr sz="1050" b="0" i="0">
                <a:solidFill>
                  <a:srgbClr val="6B7685"/>
                </a:solidFill>
                <a:latin typeface="Arial"/>
              </a:rPr>
              <a:t>51</a:t>
            </a:r>
          </a:p>
        </p:txBody>
      </p:sp>
    </p:spTree>
  </p:cSld>
  <p:clrMapOvr>
    <a:masterClrMapping/>
  </p:clrMapOvr>
</p:sld>
</file>

<file path=ppt/slides/slide5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02920" y="310896"/>
            <a:ext cx="11183112" cy="431291"/>
          </a:xfrm>
          <a:prstGeom prst="rect">
            <a:avLst/>
          </a:prstGeom>
          <a:noFill/>
        </p:spPr>
        <p:txBody>
          <a:bodyPr wrap="square" lIns="0" rIns="0" tIns="0" bIns="0" anchor="t">
            <a:spAutoFit/>
          </a:bodyPr>
          <a:lstStyle/>
          <a:p>
            <a:pPr algn="l">
              <a:lnSpc>
                <a:spcPts val="2963"/>
              </a:lnSpc>
              <a:spcAft>
                <a:spcPts val="0"/>
              </a:spcAft>
            </a:pPr>
            <a:r>
              <a:rPr sz="2600" b="1" i="0">
                <a:solidFill>
                  <a:srgbClr val="141B2E"/>
                </a:solidFill>
                <a:latin typeface="Arial"/>
              </a:rPr>
              <a:t>Both tasks are needed. What gets changed here?</a:t>
            </a:r>
          </a:p>
        </p:txBody>
      </p:sp>
      <p:sp>
        <p:nvSpPr>
          <p:cNvPr id="3" name="Rounded Rectangle 2"/>
          <p:cNvSpPr/>
          <p:nvPr/>
        </p:nvSpPr>
        <p:spPr>
          <a:xfrm>
            <a:off x="502920" y="1123568"/>
            <a:ext cx="11183112" cy="822960"/>
          </a:xfrm>
          <a:prstGeom prst="roundRect">
            <a:avLst>
              <a:gd name="adj" fmla="val 10000"/>
            </a:avLst>
          </a:prstGeom>
          <a:solidFill>
            <a:srgbClr val="FEF5E0"/>
          </a:solidFill>
          <a:ln w="19050">
            <a:solidFill>
              <a:srgbClr val="F0AB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22376" y="1251585"/>
            <a:ext cx="10634472" cy="566928"/>
          </a:xfrm>
          <a:prstGeom prst="rect">
            <a:avLst/>
          </a:prstGeom>
          <a:noFill/>
        </p:spPr>
        <p:txBody>
          <a:bodyPr wrap="square" lIns="0" rIns="0" tIns="0" bIns="0" anchor="ctr">
            <a:spAutoFit/>
          </a:bodyPr>
          <a:lstStyle/>
          <a:p>
            <a:pPr algn="ctr">
              <a:lnSpc>
                <a:spcPts val="2013"/>
              </a:lnSpc>
              <a:spcAft>
                <a:spcPts val="300"/>
              </a:spcAft>
            </a:pPr>
            <a:r>
              <a:rPr sz="1650" b="1" i="0">
                <a:solidFill>
                  <a:srgbClr val="141B2E"/>
                </a:solidFill>
                <a:latin typeface="Arial"/>
              </a:rPr>
              <a:t>Has anyone had two runs fighting over one folder — the wrong branch, an edit written over, and nobody doing anything strange?</a:t>
            </a:r>
          </a:p>
        </p:txBody>
      </p:sp>
      <p:sp>
        <p:nvSpPr>
          <p:cNvPr id="5" name="Rectangle 4"/>
          <p:cNvSpPr/>
          <p:nvPr/>
        </p:nvSpPr>
        <p:spPr>
          <a:xfrm>
            <a:off x="502920" y="2598229"/>
            <a:ext cx="32004" cy="317754"/>
          </a:xfrm>
          <a:prstGeom prst="rect">
            <a:avLst/>
          </a:prstGeom>
          <a:solidFill>
            <a:srgbClr val="0280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72668" y="2653093"/>
            <a:ext cx="10730484" cy="208025"/>
          </a:xfrm>
          <a:prstGeom prst="rect">
            <a:avLst/>
          </a:prstGeom>
          <a:noFill/>
        </p:spPr>
        <p:txBody>
          <a:bodyPr wrap="square" lIns="0" rIns="0" tIns="0" bIns="0" anchor="ctr">
            <a:spAutoFit/>
          </a:bodyPr>
          <a:lstStyle/>
          <a:p>
            <a:pPr algn="l">
              <a:lnSpc>
                <a:spcPts val="1638"/>
              </a:lnSpc>
              <a:spcAft>
                <a:spcPts val="300"/>
              </a:spcAft>
            </a:pPr>
            <a:r>
              <a:rPr sz="1300" b="1" i="1">
                <a:solidFill>
                  <a:srgbClr val="6B7685"/>
                </a:solidFill>
                <a:latin typeface="Arial"/>
              </a:rPr>
              <a:t>The tasks are independent, both sessions are needed at once, the directory is one.</a:t>
            </a:r>
          </a:p>
        </p:txBody>
      </p:sp>
      <p:sp>
        <p:nvSpPr>
          <p:cNvPr id="7" name="Rounded Rectangle 6"/>
          <p:cNvSpPr/>
          <p:nvPr/>
        </p:nvSpPr>
        <p:spPr>
          <a:xfrm>
            <a:off x="502920" y="3567683"/>
            <a:ext cx="11183112" cy="822960"/>
          </a:xfrm>
          <a:prstGeom prst="roundRect">
            <a:avLst>
              <a:gd name="adj" fmla="val 10000"/>
            </a:avLst>
          </a:prstGeom>
          <a:solidFill>
            <a:srgbClr val="FEF5E0"/>
          </a:solidFill>
          <a:ln w="19050">
            <a:solidFill>
              <a:srgbClr val="F0AB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22376" y="3695699"/>
            <a:ext cx="10634472" cy="566928"/>
          </a:xfrm>
          <a:prstGeom prst="rect">
            <a:avLst/>
          </a:prstGeom>
          <a:noFill/>
        </p:spPr>
        <p:txBody>
          <a:bodyPr wrap="square" lIns="0" rIns="0" tIns="0" bIns="0" anchor="ctr">
            <a:spAutoFit/>
          </a:bodyPr>
          <a:lstStyle/>
          <a:p>
            <a:pPr algn="ctr">
              <a:lnSpc>
                <a:spcPts val="2013"/>
              </a:lnSpc>
              <a:spcAft>
                <a:spcPts val="300"/>
              </a:spcAft>
            </a:pPr>
            <a:r>
              <a:rPr sz="1650" b="1" i="0">
                <a:solidFill>
                  <a:srgbClr val="141B2E"/>
                </a:solidFill>
                <a:latin typeface="Arial"/>
              </a:rPr>
              <a:t>Pick a card — and justify it against the other four.</a:t>
            </a:r>
          </a:p>
        </p:txBody>
      </p:sp>
      <p:sp>
        <p:nvSpPr>
          <p:cNvPr id="9" name="Rounded Rectangle 8"/>
          <p:cNvSpPr/>
          <p:nvPr/>
        </p:nvSpPr>
        <p:spPr>
          <a:xfrm>
            <a:off x="502920" y="5005768"/>
            <a:ext cx="2119579" cy="1051560"/>
          </a:xfrm>
          <a:prstGeom prst="roundRect">
            <a:avLst>
              <a:gd name="adj" fmla="val 25000"/>
            </a:avLst>
          </a:prstGeom>
          <a:solidFill>
            <a:srgbClr val="F4F7FA"/>
          </a:solidFill>
          <a:ln w="15240">
            <a:solidFill>
              <a:srgbClr val="E5EA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12648" y="5005768"/>
            <a:ext cx="1900123" cy="1051560"/>
          </a:xfrm>
          <a:prstGeom prst="rect">
            <a:avLst/>
          </a:prstGeom>
          <a:noFill/>
        </p:spPr>
        <p:txBody>
          <a:bodyPr wrap="square" lIns="0" rIns="0" tIns="0" bIns="0" anchor="ctr">
            <a:spAutoFit/>
          </a:bodyPr>
          <a:lstStyle/>
          <a:p>
            <a:pPr algn="ctr">
              <a:lnSpc>
                <a:spcPts val="1565"/>
              </a:lnSpc>
              <a:spcAft>
                <a:spcPts val="0"/>
              </a:spcAft>
            </a:pPr>
            <a:r>
              <a:rPr sz="1350" b="1" i="0">
                <a:solidFill>
                  <a:srgbClr val="141B2E"/>
                </a:solidFill>
                <a:latin typeface="Arial"/>
              </a:rPr>
              <a:t>commit before every switch</a:t>
            </a:r>
          </a:p>
        </p:txBody>
      </p:sp>
      <p:sp>
        <p:nvSpPr>
          <p:cNvPr id="11" name="Rounded Rectangle 10"/>
          <p:cNvSpPr/>
          <p:nvPr/>
        </p:nvSpPr>
        <p:spPr>
          <a:xfrm>
            <a:off x="2768803" y="5005768"/>
            <a:ext cx="2119579" cy="1051560"/>
          </a:xfrm>
          <a:prstGeom prst="roundRect">
            <a:avLst>
              <a:gd name="adj" fmla="val 25000"/>
            </a:avLst>
          </a:prstGeom>
          <a:solidFill>
            <a:srgbClr val="F4F7FA"/>
          </a:solidFill>
          <a:ln w="15240">
            <a:solidFill>
              <a:srgbClr val="E5EA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878531" y="5005768"/>
            <a:ext cx="1900123" cy="1051560"/>
          </a:xfrm>
          <a:prstGeom prst="rect">
            <a:avLst/>
          </a:prstGeom>
          <a:noFill/>
        </p:spPr>
        <p:txBody>
          <a:bodyPr wrap="square" lIns="0" rIns="0" tIns="0" bIns="0" anchor="ctr">
            <a:spAutoFit/>
          </a:bodyPr>
          <a:lstStyle/>
          <a:p>
            <a:pPr algn="ctr">
              <a:lnSpc>
                <a:spcPts val="1565"/>
              </a:lnSpc>
              <a:spcAft>
                <a:spcPts val="0"/>
              </a:spcAft>
            </a:pPr>
            <a:r>
              <a:rPr sz="1350" b="1" i="0">
                <a:solidFill>
                  <a:srgbClr val="141B2E"/>
                </a:solidFill>
                <a:latin typeface="Arial"/>
              </a:rPr>
              <a:t>work one at a time, in one session</a:t>
            </a:r>
          </a:p>
        </p:txBody>
      </p:sp>
      <p:sp>
        <p:nvSpPr>
          <p:cNvPr id="13" name="Rounded Rectangle 12"/>
          <p:cNvSpPr/>
          <p:nvPr/>
        </p:nvSpPr>
        <p:spPr>
          <a:xfrm>
            <a:off x="5034686" y="5005768"/>
            <a:ext cx="2119579" cy="1051560"/>
          </a:xfrm>
          <a:prstGeom prst="roundRect">
            <a:avLst>
              <a:gd name="adj" fmla="val 25000"/>
            </a:avLst>
          </a:prstGeom>
          <a:solidFill>
            <a:srgbClr val="F4F7FA"/>
          </a:solidFill>
          <a:ln w="15240">
            <a:solidFill>
              <a:srgbClr val="E5EA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144414" y="5005768"/>
            <a:ext cx="1900123" cy="1051560"/>
          </a:xfrm>
          <a:prstGeom prst="rect">
            <a:avLst/>
          </a:prstGeom>
          <a:noFill/>
        </p:spPr>
        <p:txBody>
          <a:bodyPr wrap="square" lIns="0" rIns="0" tIns="0" bIns="0" anchor="ctr">
            <a:spAutoFit/>
          </a:bodyPr>
          <a:lstStyle/>
          <a:p>
            <a:pPr algn="ctr">
              <a:lnSpc>
                <a:spcPts val="1565"/>
              </a:lnSpc>
              <a:spcAft>
                <a:spcPts val="0"/>
              </a:spcAft>
            </a:pPr>
            <a:r>
              <a:rPr sz="1350" b="1" i="0">
                <a:solidFill>
                  <a:srgbClr val="141B2E"/>
                </a:solidFill>
                <a:latin typeface="Arial"/>
              </a:rPr>
              <a:t>subagents in the first session instead of a second session</a:t>
            </a:r>
          </a:p>
        </p:txBody>
      </p:sp>
      <p:sp>
        <p:nvSpPr>
          <p:cNvPr id="15" name="Rounded Rectangle 14"/>
          <p:cNvSpPr/>
          <p:nvPr/>
        </p:nvSpPr>
        <p:spPr>
          <a:xfrm>
            <a:off x="7300569" y="5005768"/>
            <a:ext cx="2119579" cy="1051560"/>
          </a:xfrm>
          <a:prstGeom prst="roundRect">
            <a:avLst>
              <a:gd name="adj" fmla="val 25000"/>
            </a:avLst>
          </a:prstGeom>
          <a:solidFill>
            <a:srgbClr val="F4F7FA"/>
          </a:solidFill>
          <a:ln w="15240">
            <a:solidFill>
              <a:srgbClr val="E5EA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410297" y="5005768"/>
            <a:ext cx="1900123" cy="1051560"/>
          </a:xfrm>
          <a:prstGeom prst="rect">
            <a:avLst/>
          </a:prstGeom>
          <a:noFill/>
        </p:spPr>
        <p:txBody>
          <a:bodyPr wrap="square" lIns="0" rIns="0" tIns="0" bIns="0" anchor="ctr">
            <a:spAutoFit/>
          </a:bodyPr>
          <a:lstStyle/>
          <a:p>
            <a:pPr algn="ctr">
              <a:lnSpc>
                <a:spcPts val="1565"/>
              </a:lnSpc>
              <a:spcAft>
                <a:spcPts val="0"/>
              </a:spcAft>
            </a:pPr>
            <a:r>
              <a:rPr sz="1350" b="1" i="0">
                <a:solidFill>
                  <a:srgbClr val="141B2E"/>
                </a:solidFill>
                <a:latin typeface="Arial"/>
              </a:rPr>
              <a:t>a copy of the repository of its own for every session</a:t>
            </a:r>
          </a:p>
        </p:txBody>
      </p:sp>
      <p:sp>
        <p:nvSpPr>
          <p:cNvPr id="17" name="Rounded Rectangle 16"/>
          <p:cNvSpPr/>
          <p:nvPr/>
        </p:nvSpPr>
        <p:spPr>
          <a:xfrm>
            <a:off x="9566452" y="5005768"/>
            <a:ext cx="2119579" cy="1051560"/>
          </a:xfrm>
          <a:prstGeom prst="roundRect">
            <a:avLst>
              <a:gd name="adj" fmla="val 25000"/>
            </a:avLst>
          </a:prstGeom>
          <a:solidFill>
            <a:srgbClr val="F4F7FA"/>
          </a:solidFill>
          <a:ln w="15240">
            <a:solidFill>
              <a:srgbClr val="E5EA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9676180" y="5005768"/>
            <a:ext cx="1900123" cy="1051560"/>
          </a:xfrm>
          <a:prstGeom prst="rect">
            <a:avLst/>
          </a:prstGeom>
          <a:noFill/>
        </p:spPr>
        <p:txBody>
          <a:bodyPr wrap="square" lIns="0" rIns="0" tIns="0" bIns="0" anchor="ctr">
            <a:spAutoFit/>
          </a:bodyPr>
          <a:lstStyle/>
          <a:p>
            <a:pPr algn="ctr">
              <a:lnSpc>
                <a:spcPts val="1565"/>
              </a:lnSpc>
              <a:spcAft>
                <a:spcPts val="0"/>
              </a:spcAft>
            </a:pPr>
            <a:r>
              <a:rPr sz="1350" b="1" i="0">
                <a:solidFill>
                  <a:srgbClr val="141B2E"/>
                </a:solidFill>
                <a:latin typeface="Arial"/>
              </a:rPr>
              <a:t>divide by files and agree on it</a:t>
            </a:r>
          </a:p>
        </p:txBody>
      </p:sp>
      <p:sp>
        <p:nvSpPr>
          <p:cNvPr id="19" name="TextBox 18"/>
          <p:cNvSpPr txBox="1"/>
          <p:nvPr/>
        </p:nvSpPr>
        <p:spPr>
          <a:xfrm>
            <a:off x="10957255" y="6437376"/>
            <a:ext cx="914400" cy="274320"/>
          </a:xfrm>
          <a:prstGeom prst="rect">
            <a:avLst/>
          </a:prstGeom>
          <a:noFill/>
        </p:spPr>
        <p:txBody>
          <a:bodyPr wrap="square" lIns="0" rIns="0" tIns="0" bIns="0" anchor="t">
            <a:spAutoFit/>
          </a:bodyPr>
          <a:lstStyle/>
          <a:p>
            <a:pPr algn="r">
              <a:lnSpc>
                <a:spcPts val="1238"/>
              </a:lnSpc>
              <a:spcAft>
                <a:spcPts val="0"/>
              </a:spcAft>
            </a:pPr>
            <a:r>
              <a:rPr sz="1050" b="0" i="0">
                <a:solidFill>
                  <a:srgbClr val="6B7685"/>
                </a:solidFill>
                <a:latin typeface="Arial"/>
              </a:rPr>
              <a:t>52</a:t>
            </a:r>
          </a:p>
        </p:txBody>
      </p:sp>
    </p:spTree>
  </p:cSld>
  <p:clrMapOvr>
    <a:masterClrMapping/>
  </p:clrMapOvr>
</p:sld>
</file>

<file path=ppt/slides/slide5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02920" y="310896"/>
            <a:ext cx="11183112" cy="431291"/>
          </a:xfrm>
          <a:prstGeom prst="rect">
            <a:avLst/>
          </a:prstGeom>
          <a:noFill/>
        </p:spPr>
        <p:txBody>
          <a:bodyPr wrap="square" lIns="0" rIns="0" tIns="0" bIns="0" anchor="t">
            <a:spAutoFit/>
          </a:bodyPr>
          <a:lstStyle/>
          <a:p>
            <a:pPr algn="l">
              <a:lnSpc>
                <a:spcPts val="2963"/>
              </a:lnSpc>
              <a:spcAft>
                <a:spcPts val="0"/>
              </a:spcAft>
            </a:pPr>
            <a:r>
              <a:rPr sz="2600" b="1" i="0">
                <a:solidFill>
                  <a:srgbClr val="141B2E"/>
                </a:solidFill>
                <a:latin typeface="Arial"/>
              </a:rPr>
              <a:t>A copy divides sessions. Inside a session you divide zones</a:t>
            </a:r>
          </a:p>
        </p:txBody>
      </p:sp>
      <p:sp>
        <p:nvSpPr>
          <p:cNvPr id="3" name="Rounded Rectangle 2"/>
          <p:cNvSpPr/>
          <p:nvPr/>
        </p:nvSpPr>
        <p:spPr>
          <a:xfrm>
            <a:off x="502920" y="943356"/>
            <a:ext cx="11183112" cy="3749166"/>
          </a:xfrm>
          <a:prstGeom prst="roundRect">
            <a:avLst>
              <a:gd name="adj" fmla="val 8129"/>
            </a:avLst>
          </a:prstGeom>
          <a:solidFill>
            <a:srgbClr val="FFFFFF"/>
          </a:solidFill>
          <a:ln w="1778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85800" y="1126236"/>
            <a:ext cx="1567654" cy="282067"/>
          </a:xfrm>
          <a:prstGeom prst="rect">
            <a:avLst/>
          </a:prstGeom>
          <a:noFill/>
        </p:spPr>
        <p:txBody>
          <a:bodyPr wrap="square" lIns="0" rIns="0" tIns="0" bIns="0" anchor="t">
            <a:spAutoFit/>
          </a:bodyPr>
          <a:lstStyle/>
          <a:p>
            <a:pPr algn="l">
              <a:lnSpc>
                <a:spcPts val="1265"/>
              </a:lnSpc>
              <a:spcAft>
                <a:spcPts val="0"/>
              </a:spcAft>
            </a:pPr>
            <a:r>
              <a:rPr sz="1150" b="1" i="0">
                <a:solidFill>
                  <a:srgbClr val="6B7685"/>
                </a:solidFill>
                <a:latin typeface="Arial"/>
              </a:rPr>
              <a:t>MOVE</a:t>
            </a:r>
          </a:p>
        </p:txBody>
      </p:sp>
      <p:sp>
        <p:nvSpPr>
          <p:cNvPr id="5" name="TextBox 4"/>
          <p:cNvSpPr txBox="1"/>
          <p:nvPr/>
        </p:nvSpPr>
        <p:spPr>
          <a:xfrm>
            <a:off x="2399758" y="1126236"/>
            <a:ext cx="4394573" cy="282067"/>
          </a:xfrm>
          <a:prstGeom prst="rect">
            <a:avLst/>
          </a:prstGeom>
          <a:noFill/>
        </p:spPr>
        <p:txBody>
          <a:bodyPr wrap="square" lIns="0" rIns="0" tIns="0" bIns="0" anchor="t">
            <a:spAutoFit/>
          </a:bodyPr>
          <a:lstStyle/>
          <a:p>
            <a:pPr algn="l">
              <a:lnSpc>
                <a:spcPts val="1265"/>
              </a:lnSpc>
              <a:spcAft>
                <a:spcPts val="0"/>
              </a:spcAft>
            </a:pPr>
            <a:r>
              <a:rPr sz="1150" b="1" i="0">
                <a:solidFill>
                  <a:srgbClr val="6B7685"/>
                </a:solidFill>
                <a:latin typeface="Arial"/>
              </a:rPr>
              <a:t>WHAT IT DOES</a:t>
            </a:r>
          </a:p>
        </p:txBody>
      </p:sp>
      <p:sp>
        <p:nvSpPr>
          <p:cNvPr id="6" name="TextBox 5"/>
          <p:cNvSpPr txBox="1"/>
          <p:nvPr/>
        </p:nvSpPr>
        <p:spPr>
          <a:xfrm>
            <a:off x="6940635" y="1126236"/>
            <a:ext cx="4416212" cy="282067"/>
          </a:xfrm>
          <a:prstGeom prst="rect">
            <a:avLst/>
          </a:prstGeom>
          <a:noFill/>
        </p:spPr>
        <p:txBody>
          <a:bodyPr wrap="square" lIns="0" rIns="0" tIns="0" bIns="0" anchor="t">
            <a:spAutoFit/>
          </a:bodyPr>
          <a:lstStyle/>
          <a:p>
            <a:pPr algn="l">
              <a:lnSpc>
                <a:spcPts val="1265"/>
              </a:lnSpc>
              <a:spcAft>
                <a:spcPts val="0"/>
              </a:spcAft>
            </a:pPr>
            <a:r>
              <a:rPr sz="1150" b="1" i="0">
                <a:solidFill>
                  <a:srgbClr val="6B7685"/>
                </a:solidFill>
                <a:latin typeface="Arial"/>
              </a:rPr>
              <a:t>WHAT IT DOES NOT DO / THE LIMIT</a:t>
            </a:r>
          </a:p>
        </p:txBody>
      </p:sp>
      <p:sp>
        <p:nvSpPr>
          <p:cNvPr id="7" name="TextBox 6"/>
          <p:cNvSpPr txBox="1"/>
          <p:nvPr/>
        </p:nvSpPr>
        <p:spPr>
          <a:xfrm>
            <a:off x="685800" y="1408303"/>
            <a:ext cx="1567654" cy="690371"/>
          </a:xfrm>
          <a:prstGeom prst="rect">
            <a:avLst/>
          </a:prstGeom>
          <a:noFill/>
        </p:spPr>
        <p:txBody>
          <a:bodyPr wrap="square" lIns="0" rIns="0" tIns="0" bIns="0" anchor="ctr">
            <a:spAutoFit/>
          </a:bodyPr>
          <a:lstStyle/>
          <a:p>
            <a:pPr algn="l">
              <a:lnSpc>
                <a:spcPts val="1380"/>
              </a:lnSpc>
              <a:spcAft>
                <a:spcPts val="0"/>
              </a:spcAft>
            </a:pPr>
            <a:r>
              <a:rPr sz="1200" b="0" i="0">
                <a:solidFill>
                  <a:srgbClr val="141B2E"/>
                </a:solidFill>
                <a:latin typeface="Arial"/>
              </a:rPr>
              <a:t>commit before every switch</a:t>
            </a:r>
          </a:p>
        </p:txBody>
      </p:sp>
      <p:sp>
        <p:nvSpPr>
          <p:cNvPr id="8" name="TextBox 7"/>
          <p:cNvSpPr txBox="1"/>
          <p:nvPr/>
        </p:nvSpPr>
        <p:spPr>
          <a:xfrm>
            <a:off x="2399758" y="1408303"/>
            <a:ext cx="4394573" cy="690371"/>
          </a:xfrm>
          <a:prstGeom prst="rect">
            <a:avLst/>
          </a:prstGeom>
          <a:noFill/>
        </p:spPr>
        <p:txBody>
          <a:bodyPr wrap="square" lIns="0" rIns="0" tIns="0" bIns="0" anchor="ctr">
            <a:spAutoFit/>
          </a:bodyPr>
          <a:lstStyle/>
          <a:p>
            <a:pPr algn="l">
              <a:lnSpc>
                <a:spcPts val="1380"/>
              </a:lnSpc>
              <a:spcAft>
                <a:spcPts val="0"/>
              </a:spcAft>
            </a:pPr>
            <a:r>
              <a:rPr sz="1200" b="0" i="0">
                <a:solidFill>
                  <a:srgbClr val="141B2E"/>
                </a:solidFill>
                <a:latin typeface="Arial"/>
              </a:rPr>
              <a:t>gets back what was lost: there is something to come back to, and somebody else's commit is visible in the history</a:t>
            </a:r>
          </a:p>
        </p:txBody>
      </p:sp>
      <p:sp>
        <p:nvSpPr>
          <p:cNvPr id="9" name="TextBox 8"/>
          <p:cNvSpPr txBox="1"/>
          <p:nvPr/>
        </p:nvSpPr>
        <p:spPr>
          <a:xfrm>
            <a:off x="6940635" y="1408303"/>
            <a:ext cx="4416212" cy="690371"/>
          </a:xfrm>
          <a:prstGeom prst="rect">
            <a:avLst/>
          </a:prstGeom>
          <a:noFill/>
        </p:spPr>
        <p:txBody>
          <a:bodyPr wrap="square" lIns="0" rIns="0" tIns="0" bIns="0" anchor="ctr">
            <a:spAutoFit/>
          </a:bodyPr>
          <a:lstStyle/>
          <a:p>
            <a:pPr algn="l">
              <a:lnSpc>
                <a:spcPts val="1380"/>
              </a:lnSpc>
              <a:spcAft>
                <a:spcPts val="0"/>
              </a:spcAft>
            </a:pPr>
            <a:r>
              <a:rPr sz="1200" b="0" i="0">
                <a:solidFill>
                  <a:srgbClr val="141B2E"/>
                </a:solidFill>
                <a:latin typeface="Arial"/>
              </a:rPr>
              <a:t>the branch in the directory stays one for everyone; you learn about a collision after it</a:t>
            </a:r>
          </a:p>
        </p:txBody>
      </p:sp>
      <p:cxnSp>
        <p:nvCxnSpPr>
          <p:cNvPr id="10" name="Connector 9"/>
          <p:cNvCxnSpPr/>
          <p:nvPr/>
        </p:nvCxnSpPr>
        <p:spPr>
          <a:xfrm>
            <a:off x="685800" y="2098675"/>
            <a:ext cx="10817352" cy="0"/>
          </a:xfrm>
          <a:prstGeom prst="line">
            <a:avLst/>
          </a:prstGeom>
          <a:ln w="9525">
            <a:solidFill>
              <a:srgbClr val="E5EAF0"/>
            </a:solidFill>
          </a:ln>
        </p:spPr>
        <p:style>
          <a:lnRef idx="2">
            <a:schemeClr val="accent1"/>
          </a:lnRef>
          <a:fillRef idx="0">
            <a:schemeClr val="accent1"/>
          </a:fillRef>
          <a:effectRef idx="1">
            <a:schemeClr val="accent1"/>
          </a:effectRef>
          <a:fontRef idx="minor">
            <a:schemeClr val="tx1"/>
          </a:fontRef>
        </p:style>
      </p:cxnSp>
      <p:sp>
        <p:nvSpPr>
          <p:cNvPr id="11" name="TextBox 10"/>
          <p:cNvSpPr txBox="1"/>
          <p:nvPr/>
        </p:nvSpPr>
        <p:spPr>
          <a:xfrm>
            <a:off x="685800" y="2098675"/>
            <a:ext cx="1567654" cy="515111"/>
          </a:xfrm>
          <a:prstGeom prst="rect">
            <a:avLst/>
          </a:prstGeom>
          <a:noFill/>
        </p:spPr>
        <p:txBody>
          <a:bodyPr wrap="square" lIns="0" rIns="0" tIns="0" bIns="0" anchor="ctr">
            <a:spAutoFit/>
          </a:bodyPr>
          <a:lstStyle/>
          <a:p>
            <a:pPr algn="l">
              <a:lnSpc>
                <a:spcPts val="1380"/>
              </a:lnSpc>
              <a:spcAft>
                <a:spcPts val="0"/>
              </a:spcAft>
            </a:pPr>
            <a:r>
              <a:rPr sz="1200" b="0" i="0">
                <a:solidFill>
                  <a:srgbClr val="141B2E"/>
                </a:solidFill>
                <a:latin typeface="Arial"/>
              </a:rPr>
              <a:t>work one at a time, in one session</a:t>
            </a:r>
          </a:p>
        </p:txBody>
      </p:sp>
      <p:sp>
        <p:nvSpPr>
          <p:cNvPr id="12" name="TextBox 11"/>
          <p:cNvSpPr txBox="1"/>
          <p:nvPr/>
        </p:nvSpPr>
        <p:spPr>
          <a:xfrm>
            <a:off x="2399758" y="2098675"/>
            <a:ext cx="4394573" cy="515111"/>
          </a:xfrm>
          <a:prstGeom prst="rect">
            <a:avLst/>
          </a:prstGeom>
          <a:noFill/>
        </p:spPr>
        <p:txBody>
          <a:bodyPr wrap="square" lIns="0" rIns="0" tIns="0" bIns="0" anchor="ctr">
            <a:spAutoFit/>
          </a:bodyPr>
          <a:lstStyle/>
          <a:p>
            <a:pPr algn="l">
              <a:lnSpc>
                <a:spcPts val="1380"/>
              </a:lnSpc>
              <a:spcAft>
                <a:spcPts val="0"/>
              </a:spcAft>
            </a:pPr>
            <a:r>
              <a:rPr sz="1200" b="0" i="0">
                <a:solidFill>
                  <a:srgbClr val="141B2E"/>
                </a:solidFill>
                <a:latin typeface="Arial"/>
              </a:rPr>
              <a:t>removes the collision entirely: one job in the directory, one branch, one worker</a:t>
            </a:r>
          </a:p>
        </p:txBody>
      </p:sp>
      <p:sp>
        <p:nvSpPr>
          <p:cNvPr id="13" name="TextBox 12"/>
          <p:cNvSpPr txBox="1"/>
          <p:nvPr/>
        </p:nvSpPr>
        <p:spPr>
          <a:xfrm>
            <a:off x="6940635" y="2098675"/>
            <a:ext cx="4416212" cy="515111"/>
          </a:xfrm>
          <a:prstGeom prst="rect">
            <a:avLst/>
          </a:prstGeom>
          <a:noFill/>
        </p:spPr>
        <p:txBody>
          <a:bodyPr wrap="square" lIns="0" rIns="0" tIns="0" bIns="0" anchor="ctr">
            <a:spAutoFit/>
          </a:bodyPr>
          <a:lstStyle/>
          <a:p>
            <a:pPr algn="l">
              <a:lnSpc>
                <a:spcPts val="1380"/>
              </a:lnSpc>
              <a:spcAft>
                <a:spcPts val="0"/>
              </a:spcAft>
            </a:pPr>
            <a:r>
              <a:rPr sz="1200" b="0" i="0">
                <a:solidFill>
                  <a:srgbClr val="141B2E"/>
                </a:solidFill>
                <a:latin typeface="Arial"/>
              </a:rPr>
              <a:t>the second task stands waiting while the first runs — the very queue the previous case got away from</a:t>
            </a:r>
          </a:p>
        </p:txBody>
      </p:sp>
      <p:cxnSp>
        <p:nvCxnSpPr>
          <p:cNvPr id="14" name="Connector 13"/>
          <p:cNvCxnSpPr/>
          <p:nvPr/>
        </p:nvCxnSpPr>
        <p:spPr>
          <a:xfrm>
            <a:off x="685800" y="2613786"/>
            <a:ext cx="10817352" cy="0"/>
          </a:xfrm>
          <a:prstGeom prst="line">
            <a:avLst/>
          </a:prstGeom>
          <a:ln w="9525">
            <a:solidFill>
              <a:srgbClr val="E5EAF0"/>
            </a:solidFill>
          </a:ln>
        </p:spPr>
        <p:style>
          <a:lnRef idx="2">
            <a:schemeClr val="accent1"/>
          </a:lnRef>
          <a:fillRef idx="0">
            <a:schemeClr val="accent1"/>
          </a:fillRef>
          <a:effectRef idx="1">
            <a:schemeClr val="accent1"/>
          </a:effectRef>
          <a:fontRef idx="minor">
            <a:schemeClr val="tx1"/>
          </a:fontRef>
        </p:style>
      </p:cxnSp>
      <p:sp>
        <p:nvSpPr>
          <p:cNvPr id="15" name="TextBox 14"/>
          <p:cNvSpPr txBox="1"/>
          <p:nvPr/>
        </p:nvSpPr>
        <p:spPr>
          <a:xfrm>
            <a:off x="685800" y="2613786"/>
            <a:ext cx="1567654" cy="690371"/>
          </a:xfrm>
          <a:prstGeom prst="rect">
            <a:avLst/>
          </a:prstGeom>
          <a:noFill/>
        </p:spPr>
        <p:txBody>
          <a:bodyPr wrap="square" lIns="0" rIns="0" tIns="0" bIns="0" anchor="ctr">
            <a:spAutoFit/>
          </a:bodyPr>
          <a:lstStyle/>
          <a:p>
            <a:pPr algn="l">
              <a:lnSpc>
                <a:spcPts val="1380"/>
              </a:lnSpc>
              <a:spcAft>
                <a:spcPts val="0"/>
              </a:spcAft>
            </a:pPr>
            <a:r>
              <a:rPr sz="1200" b="0" i="0">
                <a:solidFill>
                  <a:srgbClr val="141B2E"/>
                </a:solidFill>
                <a:latin typeface="Arial"/>
              </a:rPr>
              <a:t>subagents in the first session instead of a second session</a:t>
            </a:r>
          </a:p>
        </p:txBody>
      </p:sp>
      <p:sp>
        <p:nvSpPr>
          <p:cNvPr id="16" name="TextBox 15"/>
          <p:cNvSpPr txBox="1"/>
          <p:nvPr/>
        </p:nvSpPr>
        <p:spPr>
          <a:xfrm>
            <a:off x="2399758" y="2613786"/>
            <a:ext cx="4394573" cy="690371"/>
          </a:xfrm>
          <a:prstGeom prst="rect">
            <a:avLst/>
          </a:prstGeom>
          <a:noFill/>
        </p:spPr>
        <p:txBody>
          <a:bodyPr wrap="square" lIns="0" rIns="0" tIns="0" bIns="0" anchor="ctr">
            <a:spAutoFit/>
          </a:bodyPr>
          <a:lstStyle/>
          <a:p>
            <a:pPr algn="l">
              <a:lnSpc>
                <a:spcPts val="1380"/>
              </a:lnSpc>
              <a:spcAft>
                <a:spcPts val="0"/>
              </a:spcAft>
            </a:pPr>
            <a:r>
              <a:rPr sz="1200" b="0" i="0">
                <a:solidFill>
                  <a:srgbClr val="141B2E"/>
                </a:solidFill>
                <a:latin typeface="Arial"/>
              </a:rPr>
              <a:t>removes the argument about the branch: subagents work in the same branch, and the task does not have to be explained from scratch</a:t>
            </a:r>
          </a:p>
        </p:txBody>
      </p:sp>
      <p:sp>
        <p:nvSpPr>
          <p:cNvPr id="17" name="TextBox 16"/>
          <p:cNvSpPr txBox="1"/>
          <p:nvPr/>
        </p:nvSpPr>
        <p:spPr>
          <a:xfrm>
            <a:off x="6940635" y="2613786"/>
            <a:ext cx="4416212" cy="690371"/>
          </a:xfrm>
          <a:prstGeom prst="rect">
            <a:avLst/>
          </a:prstGeom>
          <a:noFill/>
        </p:spPr>
        <p:txBody>
          <a:bodyPr wrap="square" lIns="0" rIns="0" tIns="0" bIns="0" anchor="ctr">
            <a:spAutoFit/>
          </a:bodyPr>
          <a:lstStyle/>
          <a:p>
            <a:pPr algn="l">
              <a:lnSpc>
                <a:spcPts val="1380"/>
              </a:lnSpc>
              <a:spcAft>
                <a:spcPts val="0"/>
              </a:spcAft>
            </a:pPr>
            <a:r>
              <a:rPr sz="1200" b="0" i="0">
                <a:solidFill>
                  <a:srgbClr val="141B2E"/>
                </a:solidFill>
                <a:latin typeface="Arial"/>
              </a:rPr>
              <a:t>their directory is shared by design, so the argument about the file stays where it was</a:t>
            </a:r>
          </a:p>
        </p:txBody>
      </p:sp>
      <p:cxnSp>
        <p:nvCxnSpPr>
          <p:cNvPr id="18" name="Connector 17"/>
          <p:cNvCxnSpPr/>
          <p:nvPr/>
        </p:nvCxnSpPr>
        <p:spPr>
          <a:xfrm>
            <a:off x="685800" y="3304158"/>
            <a:ext cx="10817352" cy="0"/>
          </a:xfrm>
          <a:prstGeom prst="line">
            <a:avLst/>
          </a:prstGeom>
          <a:ln w="9525">
            <a:solidFill>
              <a:srgbClr val="E5EAF0"/>
            </a:solidFill>
          </a:ln>
        </p:spPr>
        <p:style>
          <a:lnRef idx="2">
            <a:schemeClr val="accent1"/>
          </a:lnRef>
          <a:fillRef idx="0">
            <a:schemeClr val="accent1"/>
          </a:fillRef>
          <a:effectRef idx="1">
            <a:schemeClr val="accent1"/>
          </a:effectRef>
          <a:fontRef idx="minor">
            <a:schemeClr val="tx1"/>
          </a:fontRef>
        </p:style>
      </p:cxnSp>
      <p:sp>
        <p:nvSpPr>
          <p:cNvPr id="19" name="TextBox 18"/>
          <p:cNvSpPr txBox="1"/>
          <p:nvPr/>
        </p:nvSpPr>
        <p:spPr>
          <a:xfrm>
            <a:off x="685800" y="3304158"/>
            <a:ext cx="1567654" cy="690371"/>
          </a:xfrm>
          <a:prstGeom prst="rect">
            <a:avLst/>
          </a:prstGeom>
          <a:noFill/>
        </p:spPr>
        <p:txBody>
          <a:bodyPr wrap="square" lIns="0" rIns="0" tIns="0" bIns="0" anchor="ctr">
            <a:spAutoFit/>
          </a:bodyPr>
          <a:lstStyle/>
          <a:p>
            <a:pPr algn="l">
              <a:lnSpc>
                <a:spcPts val="1380"/>
              </a:lnSpc>
              <a:spcAft>
                <a:spcPts val="0"/>
              </a:spcAft>
            </a:pPr>
            <a:r>
              <a:rPr sz="1200" b="0" i="0">
                <a:solidFill>
                  <a:srgbClr val="141B2E"/>
                </a:solidFill>
                <a:latin typeface="Arial"/>
              </a:rPr>
              <a:t>a copy of the repository of its own for every session</a:t>
            </a:r>
          </a:p>
        </p:txBody>
      </p:sp>
      <p:sp>
        <p:nvSpPr>
          <p:cNvPr id="20" name="TextBox 19"/>
          <p:cNvSpPr txBox="1"/>
          <p:nvPr/>
        </p:nvSpPr>
        <p:spPr>
          <a:xfrm>
            <a:off x="2399758" y="3304158"/>
            <a:ext cx="4394573" cy="690371"/>
          </a:xfrm>
          <a:prstGeom prst="rect">
            <a:avLst/>
          </a:prstGeom>
          <a:noFill/>
        </p:spPr>
        <p:txBody>
          <a:bodyPr wrap="square" lIns="0" rIns="0" tIns="0" bIns="0" anchor="ctr">
            <a:spAutoFit/>
          </a:bodyPr>
          <a:lstStyle/>
          <a:p>
            <a:pPr algn="l">
              <a:lnSpc>
                <a:spcPts val="1380"/>
              </a:lnSpc>
              <a:spcAft>
                <a:spcPts val="0"/>
              </a:spcAft>
            </a:pPr>
            <a:r>
              <a:rPr sz="1200" b="0" i="0">
                <a:solidFill>
                  <a:srgbClr val="141B2E"/>
                </a:solidFill>
                <a:latin typeface="Arial"/>
              </a:rPr>
              <a:t>gives each one its own files and its own branch with a shared history: a switch by one under the hands of another changes nothing</a:t>
            </a:r>
          </a:p>
        </p:txBody>
      </p:sp>
      <p:sp>
        <p:nvSpPr>
          <p:cNvPr id="21" name="TextBox 20"/>
          <p:cNvSpPr txBox="1"/>
          <p:nvPr/>
        </p:nvSpPr>
        <p:spPr>
          <a:xfrm>
            <a:off x="6940635" y="3304158"/>
            <a:ext cx="4416212" cy="690371"/>
          </a:xfrm>
          <a:prstGeom prst="rect">
            <a:avLst/>
          </a:prstGeom>
          <a:noFill/>
        </p:spPr>
        <p:txBody>
          <a:bodyPr wrap="square" lIns="0" rIns="0" tIns="0" bIns="0" anchor="ctr">
            <a:spAutoFit/>
          </a:bodyPr>
          <a:lstStyle/>
          <a:p>
            <a:pPr algn="l">
              <a:lnSpc>
                <a:spcPts val="1380"/>
              </a:lnSpc>
              <a:spcAft>
                <a:spcPts val="0"/>
              </a:spcAft>
            </a:pPr>
            <a:r>
              <a:rPr sz="1200" b="0" i="0">
                <a:solidFill>
                  <a:srgbClr val="141B2E"/>
                </a:solidFill>
                <a:latin typeface="Arial"/>
              </a:rPr>
              <a:t>the copy has to be brought up as a working environment — dependencies, files outside version control; the work still has to be brought together by a branch</a:t>
            </a:r>
          </a:p>
        </p:txBody>
      </p:sp>
      <p:cxnSp>
        <p:nvCxnSpPr>
          <p:cNvPr id="22" name="Connector 21"/>
          <p:cNvCxnSpPr/>
          <p:nvPr/>
        </p:nvCxnSpPr>
        <p:spPr>
          <a:xfrm>
            <a:off x="685800" y="3994530"/>
            <a:ext cx="10817352" cy="0"/>
          </a:xfrm>
          <a:prstGeom prst="line">
            <a:avLst/>
          </a:prstGeom>
          <a:ln w="9525">
            <a:solidFill>
              <a:srgbClr val="E5EAF0"/>
            </a:solidFill>
          </a:ln>
        </p:spPr>
        <p:style>
          <a:lnRef idx="2">
            <a:schemeClr val="accent1"/>
          </a:lnRef>
          <a:fillRef idx="0">
            <a:schemeClr val="accent1"/>
          </a:fillRef>
          <a:effectRef idx="1">
            <a:schemeClr val="accent1"/>
          </a:effectRef>
          <a:fontRef idx="minor">
            <a:schemeClr val="tx1"/>
          </a:fontRef>
        </p:style>
      </p:cxnSp>
      <p:sp>
        <p:nvSpPr>
          <p:cNvPr id="23" name="TextBox 22"/>
          <p:cNvSpPr txBox="1"/>
          <p:nvPr/>
        </p:nvSpPr>
        <p:spPr>
          <a:xfrm>
            <a:off x="685800" y="3994530"/>
            <a:ext cx="1567654" cy="515111"/>
          </a:xfrm>
          <a:prstGeom prst="rect">
            <a:avLst/>
          </a:prstGeom>
          <a:noFill/>
        </p:spPr>
        <p:txBody>
          <a:bodyPr wrap="square" lIns="0" rIns="0" tIns="0" bIns="0" anchor="ctr">
            <a:spAutoFit/>
          </a:bodyPr>
          <a:lstStyle/>
          <a:p>
            <a:pPr algn="l">
              <a:lnSpc>
                <a:spcPts val="1380"/>
              </a:lnSpc>
              <a:spcAft>
                <a:spcPts val="0"/>
              </a:spcAft>
            </a:pPr>
            <a:r>
              <a:rPr sz="1200" b="0" i="0">
                <a:solidFill>
                  <a:srgbClr val="141B2E"/>
                </a:solidFill>
                <a:latin typeface="Arial"/>
              </a:rPr>
              <a:t>divide by files and agree on it</a:t>
            </a:r>
          </a:p>
        </p:txBody>
      </p:sp>
      <p:sp>
        <p:nvSpPr>
          <p:cNvPr id="24" name="TextBox 23"/>
          <p:cNvSpPr txBox="1"/>
          <p:nvPr/>
        </p:nvSpPr>
        <p:spPr>
          <a:xfrm>
            <a:off x="2399758" y="3994530"/>
            <a:ext cx="4394573" cy="515111"/>
          </a:xfrm>
          <a:prstGeom prst="rect">
            <a:avLst/>
          </a:prstGeom>
          <a:noFill/>
        </p:spPr>
        <p:txBody>
          <a:bodyPr wrap="square" lIns="0" rIns="0" tIns="0" bIns="0" anchor="ctr">
            <a:spAutoFit/>
          </a:bodyPr>
          <a:lstStyle/>
          <a:p>
            <a:pPr algn="l">
              <a:lnSpc>
                <a:spcPts val="1380"/>
              </a:lnSpc>
              <a:spcAft>
                <a:spcPts val="0"/>
              </a:spcAft>
            </a:pPr>
            <a:r>
              <a:rPr sz="1200" b="0" i="0">
                <a:solidFill>
                  <a:srgbClr val="141B2E"/>
                </a:solidFill>
                <a:latin typeface="Arial"/>
              </a:rPr>
              <a:t>works where there are no copies: inside one session, between its workers</a:t>
            </a:r>
          </a:p>
        </p:txBody>
      </p:sp>
      <p:sp>
        <p:nvSpPr>
          <p:cNvPr id="25" name="TextBox 24"/>
          <p:cNvSpPr txBox="1"/>
          <p:nvPr/>
        </p:nvSpPr>
        <p:spPr>
          <a:xfrm>
            <a:off x="6940635" y="3994530"/>
            <a:ext cx="4416212" cy="515111"/>
          </a:xfrm>
          <a:prstGeom prst="rect">
            <a:avLst/>
          </a:prstGeom>
          <a:noFill/>
        </p:spPr>
        <p:txBody>
          <a:bodyPr wrap="square" lIns="0" rIns="0" tIns="0" bIns="0" anchor="ctr">
            <a:spAutoFit/>
          </a:bodyPr>
          <a:lstStyle/>
          <a:p>
            <a:pPr algn="l">
              <a:lnSpc>
                <a:spcPts val="1380"/>
              </a:lnSpc>
              <a:spcAft>
                <a:spcPts val="0"/>
              </a:spcAft>
            </a:pPr>
            <a:r>
              <a:rPr sz="1200" b="0" i="0">
                <a:solidFill>
                  <a:srgbClr val="141B2E"/>
                </a:solidFill>
                <a:latin typeface="Arial"/>
              </a:rPr>
              <a:t>rests on the zones genuinely not overlapping — one shared file cancels the agreement</a:t>
            </a:r>
          </a:p>
        </p:txBody>
      </p:sp>
      <p:sp>
        <p:nvSpPr>
          <p:cNvPr id="26" name="Rounded Rectangle 25"/>
          <p:cNvSpPr/>
          <p:nvPr/>
        </p:nvSpPr>
        <p:spPr>
          <a:xfrm>
            <a:off x="502920" y="4857114"/>
            <a:ext cx="82296" cy="959358"/>
          </a:xfrm>
          <a:prstGeom prst="roundRect">
            <a:avLst>
              <a:gd name="adj" fmla="val 50000"/>
            </a:avLst>
          </a:prstGeom>
          <a:solidFill>
            <a:srgbClr val="F0AB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859536" y="4985130"/>
            <a:ext cx="10643616" cy="703326"/>
          </a:xfrm>
          <a:prstGeom prst="rect">
            <a:avLst/>
          </a:prstGeom>
          <a:noFill/>
        </p:spPr>
        <p:txBody>
          <a:bodyPr wrap="square" lIns="0" rIns="0" tIns="0" bIns="0" anchor="ctr">
            <a:spAutoFit/>
          </a:bodyPr>
          <a:lstStyle/>
          <a:p>
            <a:pPr algn="l">
              <a:lnSpc>
                <a:spcPts val="1798"/>
              </a:lnSpc>
              <a:spcAft>
                <a:spcPts val="300"/>
              </a:spcAft>
            </a:pPr>
            <a:r>
              <a:rPr sz="1450" b="1" i="0">
                <a:solidFill>
                  <a:srgbClr val="141B2E"/>
                </a:solidFill>
                <a:latin typeface="Arial"/>
              </a:rPr>
              <a:t>Conclusion.</a:t>
            </a:r>
            <a:r>
              <a:rPr sz="1450" b="1" i="0">
                <a:solidFill>
                  <a:srgbClr val="141B2E"/>
                </a:solidFill>
                <a:latin typeface="Arial"/>
              </a:rPr>
              <a:t> A copy of the repository divides sessions: a folder of its own, a branch of its own, a shared history. Inside one session there is nothing to divide with — the workers share the directory by design, and the defense there rests on the zone layout. One word, "in parallel", two different answers, and the rest of the case covers both.</a:t>
            </a:r>
          </a:p>
        </p:txBody>
      </p:sp>
      <p:sp>
        <p:nvSpPr>
          <p:cNvPr id="28" name="TextBox 27"/>
          <p:cNvSpPr txBox="1"/>
          <p:nvPr/>
        </p:nvSpPr>
        <p:spPr>
          <a:xfrm>
            <a:off x="10957255" y="6437376"/>
            <a:ext cx="914400" cy="274320"/>
          </a:xfrm>
          <a:prstGeom prst="rect">
            <a:avLst/>
          </a:prstGeom>
          <a:noFill/>
        </p:spPr>
        <p:txBody>
          <a:bodyPr wrap="square" lIns="0" rIns="0" tIns="0" bIns="0" anchor="t">
            <a:spAutoFit/>
          </a:bodyPr>
          <a:lstStyle/>
          <a:p>
            <a:pPr algn="r">
              <a:lnSpc>
                <a:spcPts val="1238"/>
              </a:lnSpc>
              <a:spcAft>
                <a:spcPts val="0"/>
              </a:spcAft>
            </a:pPr>
            <a:r>
              <a:rPr sz="1050" b="0" i="0">
                <a:solidFill>
                  <a:srgbClr val="6B7685"/>
                </a:solidFill>
                <a:latin typeface="Arial"/>
              </a:rPr>
              <a:t>53</a:t>
            </a:r>
          </a:p>
        </p:txBody>
      </p:sp>
    </p:spTree>
  </p:cSld>
  <p:clrMapOvr>
    <a:masterClrMapping/>
  </p:clrMapOvr>
</p:sld>
</file>

<file path=ppt/slides/slide5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02920" y="310896"/>
            <a:ext cx="11183112" cy="431291"/>
          </a:xfrm>
          <a:prstGeom prst="rect">
            <a:avLst/>
          </a:prstGeom>
          <a:noFill/>
        </p:spPr>
        <p:txBody>
          <a:bodyPr wrap="square" lIns="0" rIns="0" tIns="0" bIns="0" anchor="t">
            <a:spAutoFit/>
          </a:bodyPr>
          <a:lstStyle/>
          <a:p>
            <a:pPr algn="l">
              <a:lnSpc>
                <a:spcPts val="2963"/>
              </a:lnSpc>
              <a:spcAft>
                <a:spcPts val="0"/>
              </a:spcAft>
            </a:pPr>
            <a:r>
              <a:rPr sz="2600" b="1" i="0">
                <a:solidFill>
                  <a:srgbClr val="141B2E"/>
                </a:solidFill>
                <a:latin typeface="Arial"/>
              </a:rPr>
              <a:t>A copy of your own: what in it is its own and what is shared</a:t>
            </a:r>
          </a:p>
        </p:txBody>
      </p:sp>
      <p:sp>
        <p:nvSpPr>
          <p:cNvPr id="3" name="Rounded Rectangle 2"/>
          <p:cNvSpPr/>
          <p:nvPr/>
        </p:nvSpPr>
        <p:spPr>
          <a:xfrm>
            <a:off x="502920" y="1001141"/>
            <a:ext cx="82296" cy="1455420"/>
          </a:xfrm>
          <a:prstGeom prst="roundRect">
            <a:avLst>
              <a:gd name="adj" fmla="val 50000"/>
            </a:avLst>
          </a:prstGeom>
          <a:solidFill>
            <a:srgbClr val="F0AB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59536" y="1129157"/>
            <a:ext cx="10643616" cy="1199388"/>
          </a:xfrm>
          <a:prstGeom prst="rect">
            <a:avLst/>
          </a:prstGeom>
          <a:noFill/>
        </p:spPr>
        <p:txBody>
          <a:bodyPr wrap="square" lIns="0" rIns="0" tIns="0" bIns="0" anchor="ctr">
            <a:spAutoFit/>
          </a:bodyPr>
          <a:lstStyle/>
          <a:p>
            <a:pPr algn="l">
              <a:lnSpc>
                <a:spcPts val="1860"/>
              </a:lnSpc>
              <a:spcAft>
                <a:spcPts val="300"/>
              </a:spcAft>
            </a:pPr>
            <a:r>
              <a:rPr sz="1500" b="1" i="0">
                <a:solidFill>
                  <a:srgbClr val="141B2E"/>
                </a:solidFill>
                <a:latin typeface="Arial"/>
              </a:rPr>
              <a:t>A separate working copy — a directory of files of its own and a branch of its own; the history and the remote repository are the same as the main copy's. In git this is a </a:t>
            </a:r>
            <a:r>
              <a:rPr sz="1500" b="1" i="0">
                <a:solidFill>
                  <a:srgbClr val="141B2E"/>
                </a:solidFill>
                <a:latin typeface="Consolas"/>
              </a:rPr>
              <a:t>worktree</a:t>
            </a:r>
            <a:r>
              <a:rPr sz="1500" b="1" i="0">
                <a:solidFill>
                  <a:srgbClr val="141B2E"/>
                </a:solidFill>
                <a:latin typeface="Arial"/>
              </a:rPr>
              <a:t>. A launch with the </a:t>
            </a:r>
            <a:r>
              <a:rPr sz="1500" b="1" i="0">
                <a:solidFill>
                  <a:srgbClr val="141B2E"/>
                </a:solidFill>
                <a:latin typeface="Arial"/>
              </a:rPr>
              <a:t>--worktree</a:t>
            </a:r>
            <a:r>
              <a:rPr sz="1500" b="1" i="0">
                <a:solidFill>
                  <a:srgbClr val="141B2E"/>
                </a:solidFill>
                <a:latin typeface="Arial"/>
              </a:rPr>
              <a:t> flag and a name creates it under </a:t>
            </a:r>
            <a:r>
              <a:rPr sz="1500" b="1" i="0">
                <a:solidFill>
                  <a:srgbClr val="141B2E"/>
                </a:solidFill>
                <a:latin typeface="Consolas"/>
              </a:rPr>
              <a:t>.claude/worktrees/&lt;name&gt;/</a:t>
            </a:r>
            <a:r>
              <a:rPr sz="1500" b="1" i="0">
                <a:solidFill>
                  <a:srgbClr val="141B2E"/>
                </a:solidFill>
                <a:latin typeface="Arial"/>
              </a:rPr>
              <a:t> on the branch </a:t>
            </a:r>
            <a:r>
              <a:rPr sz="1500" b="1" i="0">
                <a:solidFill>
                  <a:srgbClr val="141B2E"/>
                </a:solidFill>
                <a:latin typeface="Consolas"/>
              </a:rPr>
              <a:t>worktree-&lt;name&gt;</a:t>
            </a:r>
            <a:r>
              <a:rPr sz="1500" b="1" i="0">
                <a:solidFill>
                  <a:srgbClr val="141B2E"/>
                </a:solidFill>
                <a:latin typeface="Arial"/>
              </a:rPr>
              <a:t>; the same launch with a different name in another terminal brings up a second isolated session. By hand the same thing is done by </a:t>
            </a:r>
            <a:r>
              <a:rPr sz="1500" b="1" i="0">
                <a:solidFill>
                  <a:srgbClr val="141B2E"/>
                </a:solidFill>
                <a:latin typeface="Consolas"/>
              </a:rPr>
              <a:t>git</a:t>
            </a:r>
            <a:r>
              <a:rPr sz="1500" b="1" i="0">
                <a:solidFill>
                  <a:srgbClr val="141B2E"/>
                </a:solidFill>
                <a:latin typeface="Arial"/>
              </a:rPr>
              <a:t> </a:t>
            </a:r>
            <a:r>
              <a:rPr sz="1500" b="1" i="0">
                <a:solidFill>
                  <a:srgbClr val="141B2E"/>
                </a:solidFill>
                <a:latin typeface="Consolas"/>
              </a:rPr>
              <a:t>worktree</a:t>
            </a:r>
            <a:r>
              <a:rPr sz="1500" b="1" i="0">
                <a:solidFill>
                  <a:srgbClr val="141B2E"/>
                </a:solidFill>
                <a:latin typeface="Arial"/>
              </a:rPr>
              <a:t> </a:t>
            </a:r>
            <a:r>
              <a:rPr sz="1500" b="1" i="0">
                <a:solidFill>
                  <a:srgbClr val="141B2E"/>
                </a:solidFill>
                <a:latin typeface="Consolas"/>
              </a:rPr>
              <a:t>add</a:t>
            </a:r>
            <a:r>
              <a:rPr sz="1500" b="1" i="0">
                <a:solidFill>
                  <a:srgbClr val="141B2E"/>
                </a:solidFill>
                <a:latin typeface="Arial"/>
              </a:rPr>
              <a:t> </a:t>
            </a:r>
            <a:r>
              <a:rPr sz="1500" b="1" i="0">
                <a:solidFill>
                  <a:srgbClr val="141B2E"/>
                </a:solidFill>
                <a:latin typeface="Consolas"/>
              </a:rPr>
              <a:t>../project-fix</a:t>
            </a:r>
            <a:r>
              <a:rPr sz="1500" b="1" i="0">
                <a:solidFill>
                  <a:srgbClr val="141B2E"/>
                </a:solidFill>
                <a:latin typeface="Arial"/>
              </a:rPr>
              <a:t> </a:t>
            </a:r>
            <a:r>
              <a:rPr sz="1500" b="1" i="0">
                <a:solidFill>
                  <a:srgbClr val="141B2E"/>
                </a:solidFill>
                <a:latin typeface="Arial"/>
              </a:rPr>
              <a:t>-b</a:t>
            </a:r>
            <a:r>
              <a:rPr sz="1500" b="1" i="0">
                <a:solidFill>
                  <a:srgbClr val="141B2E"/>
                </a:solidFill>
                <a:latin typeface="Arial"/>
              </a:rPr>
              <a:t> </a:t>
            </a:r>
            <a:r>
              <a:rPr sz="1500" b="1" i="0">
                <a:solidFill>
                  <a:srgbClr val="141B2E"/>
                </a:solidFill>
                <a:latin typeface="Consolas"/>
              </a:rPr>
              <a:t>fix</a:t>
            </a:r>
            <a:r>
              <a:rPr sz="1500" b="1" i="0">
                <a:solidFill>
                  <a:srgbClr val="141B2E"/>
                </a:solidFill>
                <a:latin typeface="Arial"/>
              </a:rPr>
              <a:t>.</a:t>
            </a:r>
          </a:p>
        </p:txBody>
      </p:sp>
      <p:sp>
        <p:nvSpPr>
          <p:cNvPr id="5" name="Rounded Rectangle 4"/>
          <p:cNvSpPr/>
          <p:nvPr/>
        </p:nvSpPr>
        <p:spPr>
          <a:xfrm>
            <a:off x="502920" y="2765615"/>
            <a:ext cx="11183112" cy="2419540"/>
          </a:xfrm>
          <a:prstGeom prst="roundRect">
            <a:avLst>
              <a:gd name="adj" fmla="val 12597"/>
            </a:avLst>
          </a:prstGeom>
          <a:solidFill>
            <a:srgbClr val="FFFFFF"/>
          </a:solidFill>
          <a:ln w="1778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85800" y="2948495"/>
            <a:ext cx="4586765" cy="282067"/>
          </a:xfrm>
          <a:prstGeom prst="rect">
            <a:avLst/>
          </a:prstGeom>
          <a:noFill/>
        </p:spPr>
        <p:txBody>
          <a:bodyPr wrap="square" lIns="0" rIns="0" tIns="0" bIns="0" anchor="t">
            <a:spAutoFit/>
          </a:bodyPr>
          <a:lstStyle/>
          <a:p>
            <a:pPr algn="l">
              <a:lnSpc>
                <a:spcPts val="1265"/>
              </a:lnSpc>
              <a:spcAft>
                <a:spcPts val="0"/>
              </a:spcAft>
            </a:pPr>
            <a:r>
              <a:rPr sz="1150" b="1" i="0">
                <a:solidFill>
                  <a:srgbClr val="6B7685"/>
                </a:solidFill>
                <a:latin typeface="Arial"/>
              </a:rPr>
              <a:t>ITS OWN IN EVERY COPY</a:t>
            </a:r>
          </a:p>
        </p:txBody>
      </p:sp>
      <p:sp>
        <p:nvSpPr>
          <p:cNvPr id="7" name="TextBox 6"/>
          <p:cNvSpPr txBox="1"/>
          <p:nvPr/>
        </p:nvSpPr>
        <p:spPr>
          <a:xfrm>
            <a:off x="5418869" y="2948495"/>
            <a:ext cx="5937978" cy="282067"/>
          </a:xfrm>
          <a:prstGeom prst="rect">
            <a:avLst/>
          </a:prstGeom>
          <a:noFill/>
        </p:spPr>
        <p:txBody>
          <a:bodyPr wrap="square" lIns="0" rIns="0" tIns="0" bIns="0" anchor="t">
            <a:spAutoFit/>
          </a:bodyPr>
          <a:lstStyle/>
          <a:p>
            <a:pPr algn="l">
              <a:lnSpc>
                <a:spcPts val="1265"/>
              </a:lnSpc>
              <a:spcAft>
                <a:spcPts val="0"/>
              </a:spcAft>
            </a:pPr>
            <a:r>
              <a:rPr sz="1150" b="1" i="0">
                <a:solidFill>
                  <a:srgbClr val="6B7685"/>
                </a:solidFill>
                <a:latin typeface="Arial"/>
              </a:rPr>
              <a:t>SHARED WITH THE MAIN COPY</a:t>
            </a:r>
          </a:p>
        </p:txBody>
      </p:sp>
      <p:sp>
        <p:nvSpPr>
          <p:cNvPr id="8" name="TextBox 7"/>
          <p:cNvSpPr txBox="1"/>
          <p:nvPr/>
        </p:nvSpPr>
        <p:spPr>
          <a:xfrm>
            <a:off x="685800" y="3230562"/>
            <a:ext cx="4586765" cy="712279"/>
          </a:xfrm>
          <a:prstGeom prst="rect">
            <a:avLst/>
          </a:prstGeom>
          <a:noFill/>
        </p:spPr>
        <p:txBody>
          <a:bodyPr wrap="square" lIns="0" rIns="0" tIns="0" bIns="0" anchor="ctr">
            <a:spAutoFit/>
          </a:bodyPr>
          <a:lstStyle/>
          <a:p>
            <a:pPr algn="l">
              <a:lnSpc>
                <a:spcPts val="1437"/>
              </a:lnSpc>
              <a:spcAft>
                <a:spcPts val="0"/>
              </a:spcAft>
            </a:pPr>
            <a:r>
              <a:rPr sz="1250" b="0" i="0">
                <a:solidFill>
                  <a:srgbClr val="141B2E"/>
                </a:solidFill>
                <a:latin typeface="Arial"/>
              </a:rPr>
              <a:t>the files in the directory — a branch switch in one copy does not change the files in another</a:t>
            </a:r>
          </a:p>
        </p:txBody>
      </p:sp>
      <p:sp>
        <p:nvSpPr>
          <p:cNvPr id="9" name="TextBox 8"/>
          <p:cNvSpPr txBox="1"/>
          <p:nvPr/>
        </p:nvSpPr>
        <p:spPr>
          <a:xfrm>
            <a:off x="5418869" y="3230562"/>
            <a:ext cx="5937978" cy="712279"/>
          </a:xfrm>
          <a:prstGeom prst="rect">
            <a:avLst/>
          </a:prstGeom>
          <a:noFill/>
        </p:spPr>
        <p:txBody>
          <a:bodyPr wrap="square" lIns="0" rIns="0" tIns="0" bIns="0" anchor="ctr">
            <a:spAutoFit/>
          </a:bodyPr>
          <a:lstStyle/>
          <a:p>
            <a:pPr algn="l">
              <a:lnSpc>
                <a:spcPts val="1437"/>
              </a:lnSpc>
              <a:spcAft>
                <a:spcPts val="0"/>
              </a:spcAft>
            </a:pPr>
            <a:r>
              <a:rPr sz="1250" b="0" i="0">
                <a:solidFill>
                  <a:srgbClr val="141B2E"/>
                </a:solidFill>
                <a:latin typeface="Arial"/>
              </a:rPr>
              <a:t>the repository's internal directory: commands from a copy write into the shared history, so a commit from a copy is visible everywhere and the work does not have to be carried anywhere</a:t>
            </a:r>
          </a:p>
        </p:txBody>
      </p:sp>
      <p:cxnSp>
        <p:nvCxnSpPr>
          <p:cNvPr id="10" name="Connector 9"/>
          <p:cNvCxnSpPr/>
          <p:nvPr/>
        </p:nvCxnSpPr>
        <p:spPr>
          <a:xfrm>
            <a:off x="685800" y="3942842"/>
            <a:ext cx="10817352" cy="0"/>
          </a:xfrm>
          <a:prstGeom prst="line">
            <a:avLst/>
          </a:prstGeom>
          <a:ln w="9525">
            <a:solidFill>
              <a:srgbClr val="E5EAF0"/>
            </a:solidFill>
          </a:ln>
        </p:spPr>
        <p:style>
          <a:lnRef idx="2">
            <a:schemeClr val="accent1"/>
          </a:lnRef>
          <a:fillRef idx="0">
            <a:schemeClr val="accent1"/>
          </a:fillRef>
          <a:effectRef idx="1">
            <a:schemeClr val="accent1"/>
          </a:effectRef>
          <a:fontRef idx="minor">
            <a:schemeClr val="tx1"/>
          </a:fontRef>
        </p:style>
      </p:cxnSp>
      <p:sp>
        <p:nvSpPr>
          <p:cNvPr id="11" name="TextBox 10"/>
          <p:cNvSpPr txBox="1"/>
          <p:nvPr/>
        </p:nvSpPr>
        <p:spPr>
          <a:xfrm>
            <a:off x="685800" y="3942842"/>
            <a:ext cx="4586765" cy="347154"/>
          </a:xfrm>
          <a:prstGeom prst="rect">
            <a:avLst/>
          </a:prstGeom>
          <a:noFill/>
        </p:spPr>
        <p:txBody>
          <a:bodyPr wrap="square" lIns="0" rIns="0" tIns="0" bIns="0" anchor="ctr">
            <a:spAutoFit/>
          </a:bodyPr>
          <a:lstStyle/>
          <a:p>
            <a:pPr algn="l">
              <a:lnSpc>
                <a:spcPts val="1437"/>
              </a:lnSpc>
              <a:spcAft>
                <a:spcPts val="0"/>
              </a:spcAft>
            </a:pPr>
            <a:r>
              <a:rPr sz="1250" b="0" i="0">
                <a:solidFill>
                  <a:srgbClr val="141B2E"/>
                </a:solidFill>
                <a:latin typeface="Arial"/>
              </a:rPr>
              <a:t>the branch and the uncommitted state</a:t>
            </a:r>
          </a:p>
        </p:txBody>
      </p:sp>
      <p:sp>
        <p:nvSpPr>
          <p:cNvPr id="12" name="TextBox 11"/>
          <p:cNvSpPr txBox="1"/>
          <p:nvPr/>
        </p:nvSpPr>
        <p:spPr>
          <a:xfrm>
            <a:off x="5418869" y="3942842"/>
            <a:ext cx="5937978" cy="347154"/>
          </a:xfrm>
          <a:prstGeom prst="rect">
            <a:avLst/>
          </a:prstGeom>
          <a:noFill/>
        </p:spPr>
        <p:txBody>
          <a:bodyPr wrap="square" lIns="0" rIns="0" tIns="0" bIns="0" anchor="ctr">
            <a:spAutoFit/>
          </a:bodyPr>
          <a:lstStyle/>
          <a:p>
            <a:pPr algn="l">
              <a:lnSpc>
                <a:spcPts val="1437"/>
              </a:lnSpc>
              <a:spcAft>
                <a:spcPts val="0"/>
              </a:spcAft>
            </a:pPr>
            <a:r>
              <a:rPr sz="1250" b="0" i="0">
                <a:solidFill>
                  <a:srgbClr val="141B2E"/>
                </a:solidFill>
                <a:latin typeface="Arial"/>
              </a:rPr>
              <a:t>plugins installed at project level</a:t>
            </a:r>
          </a:p>
        </p:txBody>
      </p:sp>
      <p:cxnSp>
        <p:nvCxnSpPr>
          <p:cNvPr id="13" name="Connector 12"/>
          <p:cNvCxnSpPr/>
          <p:nvPr/>
        </p:nvCxnSpPr>
        <p:spPr>
          <a:xfrm>
            <a:off x="685800" y="4289996"/>
            <a:ext cx="10817352" cy="0"/>
          </a:xfrm>
          <a:prstGeom prst="line">
            <a:avLst/>
          </a:prstGeom>
          <a:ln w="9525">
            <a:solidFill>
              <a:srgbClr val="E5EAF0"/>
            </a:solidFill>
          </a:ln>
        </p:spPr>
        <p:style>
          <a:lnRef idx="2">
            <a:schemeClr val="accent1"/>
          </a:lnRef>
          <a:fillRef idx="0">
            <a:schemeClr val="accent1"/>
          </a:fillRef>
          <a:effectRef idx="1">
            <a:schemeClr val="accent1"/>
          </a:effectRef>
          <a:fontRef idx="minor">
            <a:schemeClr val="tx1"/>
          </a:fontRef>
        </p:style>
      </p:cxnSp>
      <p:sp>
        <p:nvSpPr>
          <p:cNvPr id="14" name="TextBox 13"/>
          <p:cNvSpPr txBox="1"/>
          <p:nvPr/>
        </p:nvSpPr>
        <p:spPr>
          <a:xfrm>
            <a:off x="685800" y="4289996"/>
            <a:ext cx="4586765" cy="712279"/>
          </a:xfrm>
          <a:prstGeom prst="rect">
            <a:avLst/>
          </a:prstGeom>
          <a:noFill/>
        </p:spPr>
        <p:txBody>
          <a:bodyPr wrap="square" lIns="0" rIns="0" tIns="0" bIns="0" anchor="ctr">
            <a:spAutoFit/>
          </a:bodyPr>
          <a:lstStyle/>
          <a:p>
            <a:pPr algn="l">
              <a:lnSpc>
                <a:spcPts val="1437"/>
              </a:lnSpc>
              <a:spcAft>
                <a:spcPts val="0"/>
              </a:spcAft>
            </a:pPr>
            <a:r>
              <a:rPr sz="1250" b="0" i="0">
                <a:solidFill>
                  <a:srgbClr val="141B2E"/>
                </a:solidFill>
                <a:latin typeface="Arial"/>
              </a:rPr>
              <a:t>a working environment of its own: dependencies and everything not under version control are brought up in the copy separately</a:t>
            </a:r>
          </a:p>
        </p:txBody>
      </p:sp>
      <p:sp>
        <p:nvSpPr>
          <p:cNvPr id="15" name="TextBox 14"/>
          <p:cNvSpPr txBox="1"/>
          <p:nvPr/>
        </p:nvSpPr>
        <p:spPr>
          <a:xfrm>
            <a:off x="5418869" y="4289996"/>
            <a:ext cx="5937978" cy="712279"/>
          </a:xfrm>
          <a:prstGeom prst="rect">
            <a:avLst/>
          </a:prstGeom>
          <a:noFill/>
        </p:spPr>
        <p:txBody>
          <a:bodyPr wrap="square" lIns="0" rIns="0" tIns="0" bIns="0" anchor="ctr">
            <a:spAutoFit/>
          </a:bodyPr>
          <a:lstStyle/>
          <a:p>
            <a:pPr algn="l">
              <a:lnSpc>
                <a:spcPts val="1437"/>
              </a:lnSpc>
              <a:spcAft>
                <a:spcPts val="0"/>
              </a:spcAft>
            </a:pPr>
            <a:r>
              <a:rPr sz="1250" b="0" i="0">
                <a:solidFill>
                  <a:srgbClr val="141B2E"/>
                </a:solidFill>
                <a:latin typeface="Arial"/>
              </a:rPr>
              <a:t>a permission granted once by answering "don't ask again": it is saved into the main copy and applies in all of them</a:t>
            </a:r>
          </a:p>
        </p:txBody>
      </p:sp>
      <p:sp>
        <p:nvSpPr>
          <p:cNvPr id="16" name="Rounded Rectangle 15"/>
          <p:cNvSpPr/>
          <p:nvPr/>
        </p:nvSpPr>
        <p:spPr>
          <a:xfrm>
            <a:off x="502920" y="5494210"/>
            <a:ext cx="82296" cy="746760"/>
          </a:xfrm>
          <a:prstGeom prst="roundRect">
            <a:avLst>
              <a:gd name="adj" fmla="val 50000"/>
            </a:avLst>
          </a:prstGeom>
          <a:solidFill>
            <a:srgbClr val="F0AB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59536" y="5622226"/>
            <a:ext cx="10643616" cy="490727"/>
          </a:xfrm>
          <a:prstGeom prst="rect">
            <a:avLst/>
          </a:prstGeom>
          <a:noFill/>
        </p:spPr>
        <p:txBody>
          <a:bodyPr wrap="square" lIns="0" rIns="0" tIns="0" bIns="0" anchor="ctr">
            <a:spAutoFit/>
          </a:bodyPr>
          <a:lstStyle/>
          <a:p>
            <a:pPr algn="l">
              <a:lnSpc>
                <a:spcPts val="1860"/>
              </a:lnSpc>
              <a:spcAft>
                <a:spcPts val="300"/>
              </a:spcAft>
            </a:pPr>
            <a:r>
              <a:rPr sz="1500" b="1" i="0">
                <a:solidFill>
                  <a:srgbClr val="141B2E"/>
                </a:solidFill>
                <a:latin typeface="Arial"/>
              </a:rPr>
              <a:t>A fresh copy arrives without whatever is not under version control: dependencies are not installed in it, local settings files are not in it. Which of those to carry over into every new copy is specified by a separate list.</a:t>
            </a:r>
          </a:p>
        </p:txBody>
      </p:sp>
      <p:sp>
        <p:nvSpPr>
          <p:cNvPr id="18" name="TextBox 17"/>
          <p:cNvSpPr txBox="1"/>
          <p:nvPr/>
        </p:nvSpPr>
        <p:spPr>
          <a:xfrm>
            <a:off x="10957255" y="6437376"/>
            <a:ext cx="914400" cy="274320"/>
          </a:xfrm>
          <a:prstGeom prst="rect">
            <a:avLst/>
          </a:prstGeom>
          <a:noFill/>
        </p:spPr>
        <p:txBody>
          <a:bodyPr wrap="square" lIns="0" rIns="0" tIns="0" bIns="0" anchor="t">
            <a:spAutoFit/>
          </a:bodyPr>
          <a:lstStyle/>
          <a:p>
            <a:pPr algn="r">
              <a:lnSpc>
                <a:spcPts val="1238"/>
              </a:lnSpc>
              <a:spcAft>
                <a:spcPts val="0"/>
              </a:spcAft>
            </a:pPr>
            <a:r>
              <a:rPr sz="1050" b="0" i="0">
                <a:solidFill>
                  <a:srgbClr val="6B7685"/>
                </a:solidFill>
                <a:latin typeface="Arial"/>
              </a:rPr>
              <a:t>54</a:t>
            </a:r>
          </a:p>
        </p:txBody>
      </p:sp>
    </p:spTree>
  </p:cSld>
  <p:clrMapOvr>
    <a:masterClrMapping/>
  </p:clrMapOvr>
</p:sld>
</file>

<file path=ppt/slides/slide5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02920" y="310896"/>
            <a:ext cx="11183112" cy="807720"/>
          </a:xfrm>
          <a:prstGeom prst="rect">
            <a:avLst/>
          </a:prstGeom>
          <a:noFill/>
        </p:spPr>
        <p:txBody>
          <a:bodyPr wrap="square" lIns="0" rIns="0" tIns="0" bIns="0" anchor="t">
            <a:spAutoFit/>
          </a:bodyPr>
          <a:lstStyle/>
          <a:p>
            <a:pPr algn="l">
              <a:lnSpc>
                <a:spcPts val="2963"/>
              </a:lnSpc>
              <a:spcAft>
                <a:spcPts val="0"/>
              </a:spcAft>
            </a:pPr>
            <a:r>
              <a:rPr sz="2600" b="1" i="0">
                <a:solidFill>
                  <a:srgbClr val="141B2E"/>
                </a:solidFill>
                <a:latin typeface="Arial"/>
              </a:rPr>
              <a:t>The order of work with copies — as a line in the project's instructions</a:t>
            </a:r>
          </a:p>
        </p:txBody>
      </p:sp>
      <p:sp>
        <p:nvSpPr>
          <p:cNvPr id="3" name="Rounded Rectangle 2"/>
          <p:cNvSpPr/>
          <p:nvPr/>
        </p:nvSpPr>
        <p:spPr>
          <a:xfrm>
            <a:off x="502920" y="1405382"/>
            <a:ext cx="11183112" cy="1834515"/>
          </a:xfrm>
          <a:prstGeom prst="roundRect">
            <a:avLst>
              <a:gd name="adj" fmla="val 16614"/>
            </a:avLst>
          </a:prstGeom>
          <a:solidFill>
            <a:srgbClr val="F4F7FA"/>
          </a:solidFill>
          <a:ln w="15240">
            <a:solidFill>
              <a:srgbClr val="E5EA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58952" y="1840864"/>
            <a:ext cx="100584" cy="100584"/>
          </a:xfrm>
          <a:prstGeom prst="roundRect">
            <a:avLst>
              <a:gd name="adj" fmla="val 50000"/>
            </a:avLst>
          </a:prstGeom>
          <a:solidFill>
            <a:srgbClr val="0280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06424" y="1624838"/>
            <a:ext cx="10360152" cy="532638"/>
          </a:xfrm>
          <a:prstGeom prst="rect">
            <a:avLst/>
          </a:prstGeom>
          <a:noFill/>
        </p:spPr>
        <p:txBody>
          <a:bodyPr wrap="square" lIns="0" rIns="0" tIns="0" bIns="0" anchor="ctr">
            <a:spAutoFit/>
          </a:bodyPr>
          <a:lstStyle/>
          <a:p>
            <a:pPr algn="l">
              <a:lnSpc>
                <a:spcPts val="1593"/>
              </a:lnSpc>
              <a:spcAft>
                <a:spcPts val="0"/>
              </a:spcAft>
            </a:pPr>
            <a:r>
              <a:rPr sz="1350" b="0" i="0">
                <a:solidFill>
                  <a:srgbClr val="141B2E"/>
                </a:solidFill>
                <a:latin typeface="Consolas"/>
              </a:rPr>
              <a:t>CLAUDE.md</a:t>
            </a:r>
            <a:r>
              <a:rPr sz="1350" b="0" i="0">
                <a:solidFill>
                  <a:srgbClr val="141B2E"/>
                </a:solidFill>
                <a:latin typeface="Arial"/>
              </a:rPr>
              <a:t>, the </a:t>
            </a:r>
            <a:r>
              <a:rPr sz="1350" b="0" i="0">
                <a:solidFill>
                  <a:srgbClr val="141B2E"/>
                </a:solidFill>
                <a:latin typeface="Consolas"/>
              </a:rPr>
              <a:t>Repository</a:t>
            </a:r>
            <a:r>
              <a:rPr sz="1350" b="0" i="0">
                <a:solidFill>
                  <a:srgbClr val="141B2E"/>
                </a:solidFill>
                <a:latin typeface="Arial"/>
              </a:rPr>
              <a:t> </a:t>
            </a:r>
            <a:r>
              <a:rPr sz="1350" b="0" i="0">
                <a:solidFill>
                  <a:srgbClr val="141B2E"/>
                </a:solidFill>
                <a:latin typeface="Consolas"/>
              </a:rPr>
              <a:t>etiquette</a:t>
            </a:r>
            <a:r>
              <a:rPr sz="1350" b="0" i="0">
                <a:solidFill>
                  <a:srgbClr val="141B2E"/>
                </a:solidFill>
                <a:latin typeface="Arial"/>
              </a:rPr>
              <a:t> section — next to the line already standing there, "We don't commit straight into </a:t>
            </a:r>
            <a:r>
              <a:rPr sz="1350" b="0" i="0">
                <a:solidFill>
                  <a:srgbClr val="141B2E"/>
                </a:solidFill>
                <a:latin typeface="Consolas"/>
              </a:rPr>
              <a:t>main</a:t>
            </a:r>
            <a:r>
              <a:rPr sz="1350" b="0" i="0">
                <a:solidFill>
                  <a:srgbClr val="141B2E"/>
                </a:solidFill>
                <a:latin typeface="Arial"/>
              </a:rPr>
              <a:t>", two more are added.</a:t>
            </a:r>
          </a:p>
        </p:txBody>
      </p:sp>
      <p:sp>
        <p:nvSpPr>
          <p:cNvPr id="6" name="Rounded Rectangle 5"/>
          <p:cNvSpPr/>
          <p:nvPr/>
        </p:nvSpPr>
        <p:spPr>
          <a:xfrm>
            <a:off x="758952" y="2373503"/>
            <a:ext cx="100584" cy="100584"/>
          </a:xfrm>
          <a:prstGeom prst="roundRect">
            <a:avLst>
              <a:gd name="adj" fmla="val 50000"/>
            </a:avLst>
          </a:prstGeom>
          <a:solidFill>
            <a:srgbClr val="0280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106424" y="2157476"/>
            <a:ext cx="10360152" cy="532638"/>
          </a:xfrm>
          <a:prstGeom prst="rect">
            <a:avLst/>
          </a:prstGeom>
          <a:noFill/>
        </p:spPr>
        <p:txBody>
          <a:bodyPr wrap="square" lIns="0" rIns="0" tIns="0" bIns="0" anchor="ctr">
            <a:spAutoFit/>
          </a:bodyPr>
          <a:lstStyle/>
          <a:p>
            <a:pPr algn="l">
              <a:lnSpc>
                <a:spcPts val="1593"/>
              </a:lnSpc>
              <a:spcAft>
                <a:spcPts val="0"/>
              </a:spcAft>
            </a:pPr>
            <a:r>
              <a:rPr sz="1350" b="0" i="0">
                <a:solidFill>
                  <a:srgbClr val="141B2E"/>
                </a:solidFill>
                <a:latin typeface="Arial"/>
              </a:rPr>
              <a:t>"Every task is run in a working copy of its own: </a:t>
            </a:r>
            <a:r>
              <a:rPr sz="1350" b="0" i="0">
                <a:solidFill>
                  <a:srgbClr val="141B2E"/>
                </a:solidFill>
                <a:latin typeface="Arial"/>
              </a:rPr>
              <a:t>--worktree</a:t>
            </a:r>
            <a:r>
              <a:rPr sz="1350" b="0" i="0">
                <a:solidFill>
                  <a:srgbClr val="141B2E"/>
                </a:solidFill>
                <a:latin typeface="Arial"/>
              </a:rPr>
              <a:t> </a:t>
            </a:r>
            <a:r>
              <a:rPr sz="1350" b="0" i="0">
                <a:solidFill>
                  <a:srgbClr val="141B2E"/>
                </a:solidFill>
                <a:latin typeface="Consolas"/>
              </a:rPr>
              <a:t>&lt;name&gt;</a:t>
            </a:r>
            <a:r>
              <a:rPr sz="1350" b="0" i="0">
                <a:solidFill>
                  <a:srgbClr val="141B2E"/>
                </a:solidFill>
                <a:latin typeface="Arial"/>
              </a:rPr>
              <a:t> at launch, or </a:t>
            </a:r>
            <a:r>
              <a:rPr sz="1350" b="0" i="0">
                <a:solidFill>
                  <a:srgbClr val="141B2E"/>
                </a:solidFill>
                <a:latin typeface="Consolas"/>
              </a:rPr>
              <a:t>git</a:t>
            </a:r>
            <a:r>
              <a:rPr sz="1350" b="0" i="0">
                <a:solidFill>
                  <a:srgbClr val="141B2E"/>
                </a:solidFill>
                <a:latin typeface="Arial"/>
              </a:rPr>
              <a:t> </a:t>
            </a:r>
            <a:r>
              <a:rPr sz="1350" b="0" i="0">
                <a:solidFill>
                  <a:srgbClr val="141B2E"/>
                </a:solidFill>
                <a:latin typeface="Consolas"/>
              </a:rPr>
              <a:t>worktree</a:t>
            </a:r>
            <a:r>
              <a:rPr sz="1350" b="0" i="0">
                <a:solidFill>
                  <a:srgbClr val="141B2E"/>
                </a:solidFill>
                <a:latin typeface="Arial"/>
              </a:rPr>
              <a:t> </a:t>
            </a:r>
            <a:r>
              <a:rPr sz="1350" b="0" i="0">
                <a:solidFill>
                  <a:srgbClr val="141B2E"/>
                </a:solidFill>
                <a:latin typeface="Consolas"/>
              </a:rPr>
              <a:t>add</a:t>
            </a:r>
            <a:r>
              <a:rPr sz="1350" b="0" i="0">
                <a:solidFill>
                  <a:srgbClr val="141B2E"/>
                </a:solidFill>
                <a:latin typeface="Arial"/>
              </a:rPr>
              <a:t>." · "When you have finished the task, offer to merge the branch and clean the copy up; do not leave a copy unclosed."</a:t>
            </a:r>
          </a:p>
        </p:txBody>
      </p:sp>
      <p:sp>
        <p:nvSpPr>
          <p:cNvPr id="8" name="Rounded Rectangle 7"/>
          <p:cNvSpPr/>
          <p:nvPr/>
        </p:nvSpPr>
        <p:spPr>
          <a:xfrm>
            <a:off x="758952" y="2804985"/>
            <a:ext cx="100584" cy="100584"/>
          </a:xfrm>
          <a:prstGeom prst="roundRect">
            <a:avLst>
              <a:gd name="adj" fmla="val 50000"/>
            </a:avLst>
          </a:prstGeom>
          <a:solidFill>
            <a:srgbClr val="0280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106424" y="2690114"/>
            <a:ext cx="10360152" cy="330327"/>
          </a:xfrm>
          <a:prstGeom prst="rect">
            <a:avLst/>
          </a:prstGeom>
          <a:noFill/>
        </p:spPr>
        <p:txBody>
          <a:bodyPr wrap="square" lIns="0" rIns="0" tIns="0" bIns="0" anchor="ctr">
            <a:spAutoFit/>
          </a:bodyPr>
          <a:lstStyle/>
          <a:p>
            <a:pPr algn="l">
              <a:lnSpc>
                <a:spcPts val="1593"/>
              </a:lnSpc>
              <a:spcAft>
                <a:spcPts val="0"/>
              </a:spcAft>
            </a:pPr>
            <a:r>
              <a:rPr sz="1350" b="0" i="0">
                <a:solidFill>
                  <a:srgbClr val="141B2E"/>
                </a:solidFill>
                <a:latin typeface="Arial"/>
              </a:rPr>
              <a:t>The status is the same as that of today's other two artifacts: planned, there is no commit and there will not be one.</a:t>
            </a:r>
          </a:p>
        </p:txBody>
      </p:sp>
      <p:sp>
        <p:nvSpPr>
          <p:cNvPr id="10" name="Rounded Rectangle 9"/>
          <p:cNvSpPr/>
          <p:nvPr/>
        </p:nvSpPr>
        <p:spPr>
          <a:xfrm>
            <a:off x="502920" y="3618484"/>
            <a:ext cx="82296" cy="982980"/>
          </a:xfrm>
          <a:prstGeom prst="roundRect">
            <a:avLst>
              <a:gd name="adj" fmla="val 50000"/>
            </a:avLst>
          </a:prstGeom>
          <a:solidFill>
            <a:srgbClr val="F0AB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59536" y="3746500"/>
            <a:ext cx="10643616" cy="726948"/>
          </a:xfrm>
          <a:prstGeom prst="rect">
            <a:avLst/>
          </a:prstGeom>
          <a:noFill/>
        </p:spPr>
        <p:txBody>
          <a:bodyPr wrap="square" lIns="0" rIns="0" tIns="0" bIns="0" anchor="ctr">
            <a:spAutoFit/>
          </a:bodyPr>
          <a:lstStyle/>
          <a:p>
            <a:pPr algn="l">
              <a:lnSpc>
                <a:spcPts val="1860"/>
              </a:lnSpc>
              <a:spcAft>
                <a:spcPts val="300"/>
              </a:spcAft>
            </a:pPr>
            <a:r>
              <a:rPr sz="1500" b="1" i="0">
                <a:solidFill>
                  <a:srgbClr val="141B2E"/>
                </a:solidFill>
                <a:latin typeface="Arial"/>
              </a:rPr>
              <a:t>Why into the file.</a:t>
            </a:r>
            <a:r>
              <a:rPr sz="1500" b="1" i="0">
                <a:solidFill>
                  <a:srgbClr val="141B2E"/>
                </a:solidFill>
                <a:latin typeface="Arial"/>
              </a:rPr>
              <a:t> The project's instructions are read at the start of every session, and the order of work with copies reaches every one of them alike. An agreement that lives in memory reaches the sessions somebody remembered about.</a:t>
            </a:r>
          </a:p>
        </p:txBody>
      </p:sp>
      <p:sp>
        <p:nvSpPr>
          <p:cNvPr id="12" name="Rounded Rectangle 11"/>
          <p:cNvSpPr/>
          <p:nvPr/>
        </p:nvSpPr>
        <p:spPr>
          <a:xfrm>
            <a:off x="502920" y="4980051"/>
            <a:ext cx="82296" cy="1219200"/>
          </a:xfrm>
          <a:prstGeom prst="roundRect">
            <a:avLst>
              <a:gd name="adj" fmla="val 50000"/>
            </a:avLst>
          </a:prstGeom>
          <a:solidFill>
            <a:srgbClr val="F0AB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59536" y="5108067"/>
            <a:ext cx="10643616" cy="963168"/>
          </a:xfrm>
          <a:prstGeom prst="rect">
            <a:avLst/>
          </a:prstGeom>
          <a:noFill/>
        </p:spPr>
        <p:txBody>
          <a:bodyPr wrap="square" lIns="0" rIns="0" tIns="0" bIns="0" anchor="ctr">
            <a:spAutoFit/>
          </a:bodyPr>
          <a:lstStyle/>
          <a:p>
            <a:pPr algn="l">
              <a:lnSpc>
                <a:spcPts val="1860"/>
              </a:lnSpc>
              <a:spcAft>
                <a:spcPts val="300"/>
              </a:spcAft>
            </a:pPr>
            <a:r>
              <a:rPr sz="1500" b="1" i="0">
                <a:solidFill>
                  <a:srgbClr val="141B2E"/>
                </a:solidFill>
                <a:latin typeface="Arial"/>
              </a:rPr>
              <a:t>Why at both ends.</a:t>
            </a:r>
            <a:r>
              <a:rPr sz="1500" b="1" i="0">
                <a:solidFill>
                  <a:srgbClr val="141B2E"/>
                </a:solidFill>
                <a:latin typeface="Arial"/>
              </a:rPr>
              <a:t> Setting a copy up gets done willingly: without it you cannot start. Merging the branch and cleaning the copy up gets done after the task has been solved, and for that reason it gets forgotten. On the course author's work machine more than a hundred old copies turned up; it came to light when the disk ran out of space.</a:t>
            </a:r>
          </a:p>
        </p:txBody>
      </p:sp>
      <p:sp>
        <p:nvSpPr>
          <p:cNvPr id="14" name="TextBox 13"/>
          <p:cNvSpPr txBox="1"/>
          <p:nvPr/>
        </p:nvSpPr>
        <p:spPr>
          <a:xfrm>
            <a:off x="10957255" y="6437376"/>
            <a:ext cx="914400" cy="274320"/>
          </a:xfrm>
          <a:prstGeom prst="rect">
            <a:avLst/>
          </a:prstGeom>
          <a:noFill/>
        </p:spPr>
        <p:txBody>
          <a:bodyPr wrap="square" lIns="0" rIns="0" tIns="0" bIns="0" anchor="t">
            <a:spAutoFit/>
          </a:bodyPr>
          <a:lstStyle/>
          <a:p>
            <a:pPr algn="r">
              <a:lnSpc>
                <a:spcPts val="1238"/>
              </a:lnSpc>
              <a:spcAft>
                <a:spcPts val="0"/>
              </a:spcAft>
            </a:pPr>
            <a:r>
              <a:rPr sz="1050" b="0" i="0">
                <a:solidFill>
                  <a:srgbClr val="6B7685"/>
                </a:solidFill>
                <a:latin typeface="Arial"/>
              </a:rPr>
              <a:t>55</a:t>
            </a:r>
          </a:p>
        </p:txBody>
      </p:sp>
    </p:spTree>
  </p:cSld>
  <p:clrMapOvr>
    <a:masterClrMapping/>
  </p:clrMapOvr>
</p:sld>
</file>

<file path=ppt/slides/slide5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02920" y="310896"/>
            <a:ext cx="11183112" cy="431291"/>
          </a:xfrm>
          <a:prstGeom prst="rect">
            <a:avLst/>
          </a:prstGeom>
          <a:noFill/>
        </p:spPr>
        <p:txBody>
          <a:bodyPr wrap="square" lIns="0" rIns="0" tIns="0" bIns="0" anchor="t">
            <a:spAutoFit/>
          </a:bodyPr>
          <a:lstStyle/>
          <a:p>
            <a:pPr algn="l">
              <a:lnSpc>
                <a:spcPts val="2963"/>
              </a:lnSpc>
              <a:spcAft>
                <a:spcPts val="0"/>
              </a:spcAft>
            </a:pPr>
            <a:r>
              <a:rPr sz="2600" b="1" i="0">
                <a:solidFill>
                  <a:srgbClr val="141B2E"/>
                </a:solidFill>
                <a:latin typeface="Arial"/>
              </a:rPr>
              <a:t>Subagents in one folder: what breaks here</a:t>
            </a:r>
          </a:p>
        </p:txBody>
      </p:sp>
      <p:sp>
        <p:nvSpPr>
          <p:cNvPr id="3" name="Rounded Rectangle 2"/>
          <p:cNvSpPr/>
          <p:nvPr/>
        </p:nvSpPr>
        <p:spPr>
          <a:xfrm>
            <a:off x="502920" y="1008295"/>
            <a:ext cx="82296" cy="982980"/>
          </a:xfrm>
          <a:prstGeom prst="roundRect">
            <a:avLst>
              <a:gd name="adj" fmla="val 50000"/>
            </a:avLst>
          </a:prstGeom>
          <a:solidFill>
            <a:srgbClr val="F0AB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59536" y="1136311"/>
            <a:ext cx="10643616" cy="726948"/>
          </a:xfrm>
          <a:prstGeom prst="rect">
            <a:avLst/>
          </a:prstGeom>
          <a:noFill/>
        </p:spPr>
        <p:txBody>
          <a:bodyPr wrap="square" lIns="0" rIns="0" tIns="0" bIns="0" anchor="ctr">
            <a:spAutoFit/>
          </a:bodyPr>
          <a:lstStyle/>
          <a:p>
            <a:pPr algn="l">
              <a:lnSpc>
                <a:spcPts val="1860"/>
              </a:lnSpc>
              <a:spcAft>
                <a:spcPts val="300"/>
              </a:spcAft>
            </a:pPr>
            <a:r>
              <a:rPr sz="1500" b="1" i="0">
                <a:solidFill>
                  <a:srgbClr val="141B2E"/>
                </a:solidFill>
                <a:latin typeface="Arial"/>
              </a:rPr>
              <a:t>A subagent starts in the directory where the calling session stands, and it cannot leave: a change of directory inside a subagent does not survive the subagent's own calls. A shared folder for subagents is the standard mode, the one they work in almost always.</a:t>
            </a:r>
          </a:p>
        </p:txBody>
      </p:sp>
      <p:sp>
        <p:nvSpPr>
          <p:cNvPr id="5" name="Rounded Rectangle 4"/>
          <p:cNvSpPr/>
          <p:nvPr/>
        </p:nvSpPr>
        <p:spPr>
          <a:xfrm>
            <a:off x="502920" y="2318215"/>
            <a:ext cx="11183112" cy="2602102"/>
          </a:xfrm>
          <a:prstGeom prst="roundRect">
            <a:avLst>
              <a:gd name="adj" fmla="val 11713"/>
            </a:avLst>
          </a:prstGeom>
          <a:solidFill>
            <a:srgbClr val="FFFFFF"/>
          </a:solidFill>
          <a:ln w="1778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85800" y="2501095"/>
            <a:ext cx="4814072" cy="282067"/>
          </a:xfrm>
          <a:prstGeom prst="rect">
            <a:avLst/>
          </a:prstGeom>
          <a:noFill/>
        </p:spPr>
        <p:txBody>
          <a:bodyPr wrap="square" lIns="0" rIns="0" tIns="0" bIns="0" anchor="t">
            <a:spAutoFit/>
          </a:bodyPr>
          <a:lstStyle/>
          <a:p>
            <a:pPr algn="l">
              <a:lnSpc>
                <a:spcPts val="1265"/>
              </a:lnSpc>
              <a:spcAft>
                <a:spcPts val="0"/>
              </a:spcAft>
            </a:pPr>
            <a:r>
              <a:rPr sz="1150" b="1" i="0">
                <a:solidFill>
                  <a:srgbClr val="6B7685"/>
                </a:solidFill>
                <a:latin typeface="Arial"/>
              </a:rPr>
              <a:t>HOW IT IS BUILT</a:t>
            </a:r>
          </a:p>
        </p:txBody>
      </p:sp>
      <p:sp>
        <p:nvSpPr>
          <p:cNvPr id="7" name="TextBox 6"/>
          <p:cNvSpPr txBox="1"/>
          <p:nvPr/>
        </p:nvSpPr>
        <p:spPr>
          <a:xfrm>
            <a:off x="5646176" y="2501095"/>
            <a:ext cx="5710671" cy="282067"/>
          </a:xfrm>
          <a:prstGeom prst="rect">
            <a:avLst/>
          </a:prstGeom>
          <a:noFill/>
        </p:spPr>
        <p:txBody>
          <a:bodyPr wrap="square" lIns="0" rIns="0" tIns="0" bIns="0" anchor="t">
            <a:spAutoFit/>
          </a:bodyPr>
          <a:lstStyle/>
          <a:p>
            <a:pPr algn="l">
              <a:lnSpc>
                <a:spcPts val="1265"/>
              </a:lnSpc>
              <a:spcAft>
                <a:spcPts val="0"/>
              </a:spcAft>
            </a:pPr>
            <a:r>
              <a:rPr sz="1150" b="1" i="0">
                <a:solidFill>
                  <a:srgbClr val="6B7685"/>
                </a:solidFill>
                <a:latin typeface="Arial"/>
              </a:rPr>
              <a:t>WHAT BREAKS BECAUSE OF IT</a:t>
            </a:r>
          </a:p>
        </p:txBody>
      </p:sp>
      <p:sp>
        <p:nvSpPr>
          <p:cNvPr id="8" name="TextBox 7"/>
          <p:cNvSpPr txBox="1"/>
          <p:nvPr/>
        </p:nvSpPr>
        <p:spPr>
          <a:xfrm>
            <a:off x="685800" y="2783162"/>
            <a:ext cx="4814072" cy="712279"/>
          </a:xfrm>
          <a:prstGeom prst="rect">
            <a:avLst/>
          </a:prstGeom>
          <a:noFill/>
        </p:spPr>
        <p:txBody>
          <a:bodyPr wrap="square" lIns="0" rIns="0" tIns="0" bIns="0" anchor="ctr">
            <a:spAutoFit/>
          </a:bodyPr>
          <a:lstStyle/>
          <a:p>
            <a:pPr algn="l">
              <a:lnSpc>
                <a:spcPts val="1437"/>
              </a:lnSpc>
              <a:spcAft>
                <a:spcPts val="0"/>
              </a:spcAft>
            </a:pPr>
            <a:r>
              <a:rPr sz="1250" b="0" i="0">
                <a:solidFill>
                  <a:srgbClr val="141B2E"/>
                </a:solidFill>
                <a:latin typeface="Arial"/>
              </a:rPr>
              <a:t>a subagent's directory is the same as the calling session's; the edit tool belongs to every subagent that has not had it taken away by a line</a:t>
            </a:r>
          </a:p>
        </p:txBody>
      </p:sp>
      <p:sp>
        <p:nvSpPr>
          <p:cNvPr id="9" name="TextBox 8"/>
          <p:cNvSpPr txBox="1"/>
          <p:nvPr/>
        </p:nvSpPr>
        <p:spPr>
          <a:xfrm>
            <a:off x="5646176" y="2783162"/>
            <a:ext cx="5710671" cy="712279"/>
          </a:xfrm>
          <a:prstGeom prst="rect">
            <a:avLst/>
          </a:prstGeom>
          <a:noFill/>
        </p:spPr>
        <p:txBody>
          <a:bodyPr wrap="square" lIns="0" rIns="0" tIns="0" bIns="0" anchor="ctr">
            <a:spAutoFit/>
          </a:bodyPr>
          <a:lstStyle/>
          <a:p>
            <a:pPr algn="l">
              <a:lnSpc>
                <a:spcPts val="1437"/>
              </a:lnSpc>
              <a:spcAft>
                <a:spcPts val="0"/>
              </a:spcAft>
            </a:pPr>
            <a:r>
              <a:rPr sz="1250" b="0" i="0">
                <a:solidFill>
                  <a:srgbClr val="141B2E"/>
                </a:solidFill>
                <a:latin typeface="Arial"/>
              </a:rPr>
              <a:t>two subagents edit the same files; whichever wrote later writes over the first one's work — and writes it over entirely when it rewrites the file instead of editing a stretch</a:t>
            </a:r>
          </a:p>
        </p:txBody>
      </p:sp>
      <p:cxnSp>
        <p:nvCxnSpPr>
          <p:cNvPr id="10" name="Connector 9"/>
          <p:cNvCxnSpPr/>
          <p:nvPr/>
        </p:nvCxnSpPr>
        <p:spPr>
          <a:xfrm>
            <a:off x="685800" y="3495442"/>
            <a:ext cx="10817352" cy="0"/>
          </a:xfrm>
          <a:prstGeom prst="line">
            <a:avLst/>
          </a:prstGeom>
          <a:ln w="9525">
            <a:solidFill>
              <a:srgbClr val="E5EAF0"/>
            </a:solidFill>
          </a:ln>
        </p:spPr>
        <p:style>
          <a:lnRef idx="2">
            <a:schemeClr val="accent1"/>
          </a:lnRef>
          <a:fillRef idx="0">
            <a:schemeClr val="accent1"/>
          </a:fillRef>
          <a:effectRef idx="1">
            <a:schemeClr val="accent1"/>
          </a:effectRef>
          <a:fontRef idx="minor">
            <a:schemeClr val="tx1"/>
          </a:fontRef>
        </p:style>
      </p:cxnSp>
      <p:sp>
        <p:nvSpPr>
          <p:cNvPr id="11" name="TextBox 10"/>
          <p:cNvSpPr txBox="1"/>
          <p:nvPr/>
        </p:nvSpPr>
        <p:spPr>
          <a:xfrm>
            <a:off x="685800" y="3495442"/>
            <a:ext cx="4814072" cy="712279"/>
          </a:xfrm>
          <a:prstGeom prst="rect">
            <a:avLst/>
          </a:prstGeom>
          <a:noFill/>
        </p:spPr>
        <p:txBody>
          <a:bodyPr wrap="square" lIns="0" rIns="0" tIns="0" bIns="0" anchor="ctr">
            <a:spAutoFit/>
          </a:bodyPr>
          <a:lstStyle/>
          <a:p>
            <a:pPr algn="l">
              <a:lnSpc>
                <a:spcPts val="1437"/>
              </a:lnSpc>
              <a:spcAft>
                <a:spcPts val="0"/>
              </a:spcAft>
            </a:pPr>
            <a:r>
              <a:rPr sz="1250" b="0" i="0">
                <a:solidFill>
                  <a:srgbClr val="141B2E"/>
                </a:solidFill>
                <a:latin typeface="Arial"/>
              </a:rPr>
              <a:t>a subagent receives the state of the repository as a snapshot at the moment it starts, and the snapshot is not refreshed as the work goes on</a:t>
            </a:r>
          </a:p>
        </p:txBody>
      </p:sp>
      <p:sp>
        <p:nvSpPr>
          <p:cNvPr id="12" name="TextBox 11"/>
          <p:cNvSpPr txBox="1"/>
          <p:nvPr/>
        </p:nvSpPr>
        <p:spPr>
          <a:xfrm>
            <a:off x="5646176" y="3495442"/>
            <a:ext cx="5710671" cy="712279"/>
          </a:xfrm>
          <a:prstGeom prst="rect">
            <a:avLst/>
          </a:prstGeom>
          <a:noFill/>
        </p:spPr>
        <p:txBody>
          <a:bodyPr wrap="square" lIns="0" rIns="0" tIns="0" bIns="0" anchor="ctr">
            <a:spAutoFit/>
          </a:bodyPr>
          <a:lstStyle/>
          <a:p>
            <a:pPr algn="l">
              <a:lnSpc>
                <a:spcPts val="1437"/>
              </a:lnSpc>
              <a:spcAft>
                <a:spcPts val="0"/>
              </a:spcAft>
            </a:pPr>
            <a:r>
              <a:rPr sz="1250" b="0" i="0">
                <a:solidFill>
                  <a:srgbClr val="141B2E"/>
                </a:solidFill>
                <a:latin typeface="Arial"/>
              </a:rPr>
              <a:t>the subagent writes against a state that is no longer in the directory: it creates afresh a file that "was not there", or edits a line that has already been rewritten alongside</a:t>
            </a:r>
          </a:p>
        </p:txBody>
      </p:sp>
      <p:cxnSp>
        <p:nvCxnSpPr>
          <p:cNvPr id="13" name="Connector 12"/>
          <p:cNvCxnSpPr/>
          <p:nvPr/>
        </p:nvCxnSpPr>
        <p:spPr>
          <a:xfrm>
            <a:off x="685800" y="4207721"/>
            <a:ext cx="10817352" cy="0"/>
          </a:xfrm>
          <a:prstGeom prst="line">
            <a:avLst/>
          </a:prstGeom>
          <a:ln w="9525">
            <a:solidFill>
              <a:srgbClr val="E5EAF0"/>
            </a:solidFill>
          </a:ln>
        </p:spPr>
        <p:style>
          <a:lnRef idx="2">
            <a:schemeClr val="accent1"/>
          </a:lnRef>
          <a:fillRef idx="0">
            <a:schemeClr val="accent1"/>
          </a:fillRef>
          <a:effectRef idx="1">
            <a:schemeClr val="accent1"/>
          </a:effectRef>
          <a:fontRef idx="minor">
            <a:schemeClr val="tx1"/>
          </a:fontRef>
        </p:style>
      </p:cxnSp>
      <p:sp>
        <p:nvSpPr>
          <p:cNvPr id="14" name="TextBox 13"/>
          <p:cNvSpPr txBox="1"/>
          <p:nvPr/>
        </p:nvSpPr>
        <p:spPr>
          <a:xfrm>
            <a:off x="685800" y="4207721"/>
            <a:ext cx="4814072" cy="529717"/>
          </a:xfrm>
          <a:prstGeom prst="rect">
            <a:avLst/>
          </a:prstGeom>
          <a:noFill/>
        </p:spPr>
        <p:txBody>
          <a:bodyPr wrap="square" lIns="0" rIns="0" tIns="0" bIns="0" anchor="ctr">
            <a:spAutoFit/>
          </a:bodyPr>
          <a:lstStyle/>
          <a:p>
            <a:pPr algn="l">
              <a:lnSpc>
                <a:spcPts val="1437"/>
              </a:lnSpc>
              <a:spcAft>
                <a:spcPts val="0"/>
              </a:spcAft>
            </a:pPr>
            <a:r>
              <a:rPr sz="1250" b="0" i="0">
                <a:solidFill>
                  <a:srgbClr val="141B2E"/>
                </a:solidFill>
                <a:latin typeface="Arial"/>
              </a:rPr>
              <a:t>the calling session receives a subagent's result; the steps by which it was arrived at, it does not see</a:t>
            </a:r>
          </a:p>
        </p:txBody>
      </p:sp>
      <p:sp>
        <p:nvSpPr>
          <p:cNvPr id="15" name="TextBox 14"/>
          <p:cNvSpPr txBox="1"/>
          <p:nvPr/>
        </p:nvSpPr>
        <p:spPr>
          <a:xfrm>
            <a:off x="5646176" y="4207721"/>
            <a:ext cx="5710671" cy="529717"/>
          </a:xfrm>
          <a:prstGeom prst="rect">
            <a:avLst/>
          </a:prstGeom>
          <a:noFill/>
        </p:spPr>
        <p:txBody>
          <a:bodyPr wrap="square" lIns="0" rIns="0" tIns="0" bIns="0" anchor="ctr">
            <a:spAutoFit/>
          </a:bodyPr>
          <a:lstStyle/>
          <a:p>
            <a:pPr algn="l">
              <a:lnSpc>
                <a:spcPts val="1437"/>
              </a:lnSpc>
              <a:spcAft>
                <a:spcPts val="0"/>
              </a:spcAft>
            </a:pPr>
            <a:r>
              <a:rPr sz="1250" b="0" i="0">
                <a:solidFill>
                  <a:srgbClr val="141B2E"/>
                </a:solidFill>
                <a:latin typeface="Arial"/>
              </a:rPr>
              <a:t>both results come back successful, and they show no collision — it shows up in the files themselves</a:t>
            </a:r>
          </a:p>
        </p:txBody>
      </p:sp>
      <p:sp>
        <p:nvSpPr>
          <p:cNvPr id="16" name="Rounded Rectangle 15"/>
          <p:cNvSpPr/>
          <p:nvPr/>
        </p:nvSpPr>
        <p:spPr>
          <a:xfrm>
            <a:off x="502920" y="5247259"/>
            <a:ext cx="82296" cy="982980"/>
          </a:xfrm>
          <a:prstGeom prst="roundRect">
            <a:avLst>
              <a:gd name="adj" fmla="val 50000"/>
            </a:avLst>
          </a:prstGeom>
          <a:solidFill>
            <a:srgbClr val="F0AB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59536" y="5375275"/>
            <a:ext cx="10643616" cy="726948"/>
          </a:xfrm>
          <a:prstGeom prst="rect">
            <a:avLst/>
          </a:prstGeom>
          <a:noFill/>
        </p:spPr>
        <p:txBody>
          <a:bodyPr wrap="square" lIns="0" rIns="0" tIns="0" bIns="0" anchor="ctr">
            <a:spAutoFit/>
          </a:bodyPr>
          <a:lstStyle/>
          <a:p>
            <a:pPr algn="l">
              <a:lnSpc>
                <a:spcPts val="1860"/>
              </a:lnSpc>
              <a:spcAft>
                <a:spcPts val="300"/>
              </a:spcAft>
            </a:pPr>
            <a:r>
              <a:rPr sz="1500" b="1" i="0">
                <a:solidFill>
                  <a:srgbClr val="141B2E"/>
                </a:solidFill>
                <a:latin typeface="Arial"/>
              </a:rPr>
              <a:t>That is how it is built, and it is normal: a subagent works where the work lies, otherwise there would be nowhere to return the result to. So the first defense here is a zone layout. Isolation for a subagent exists too, and its cost is examined later in the case.</a:t>
            </a:r>
          </a:p>
        </p:txBody>
      </p:sp>
      <p:sp>
        <p:nvSpPr>
          <p:cNvPr id="18" name="TextBox 17"/>
          <p:cNvSpPr txBox="1"/>
          <p:nvPr/>
        </p:nvSpPr>
        <p:spPr>
          <a:xfrm>
            <a:off x="10957255" y="6437376"/>
            <a:ext cx="914400" cy="274320"/>
          </a:xfrm>
          <a:prstGeom prst="rect">
            <a:avLst/>
          </a:prstGeom>
          <a:noFill/>
        </p:spPr>
        <p:txBody>
          <a:bodyPr wrap="square" lIns="0" rIns="0" tIns="0" bIns="0" anchor="t">
            <a:spAutoFit/>
          </a:bodyPr>
          <a:lstStyle/>
          <a:p>
            <a:pPr algn="r">
              <a:lnSpc>
                <a:spcPts val="1238"/>
              </a:lnSpc>
              <a:spcAft>
                <a:spcPts val="0"/>
              </a:spcAft>
            </a:pPr>
            <a:r>
              <a:rPr sz="1050" b="0" i="0">
                <a:solidFill>
                  <a:srgbClr val="6B7685"/>
                </a:solidFill>
                <a:latin typeface="Arial"/>
              </a:rPr>
              <a:t>56</a:t>
            </a:r>
          </a:p>
        </p:txBody>
      </p:sp>
    </p:spTree>
  </p:cSld>
  <p:clrMapOvr>
    <a:masterClrMapping/>
  </p:clrMapOvr>
</p:sld>
</file>

<file path=ppt/slides/slide5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02920" y="310896"/>
            <a:ext cx="11183112" cy="431291"/>
          </a:xfrm>
          <a:prstGeom prst="rect">
            <a:avLst/>
          </a:prstGeom>
          <a:noFill/>
        </p:spPr>
        <p:txBody>
          <a:bodyPr wrap="square" lIns="0" rIns="0" tIns="0" bIns="0" anchor="t">
            <a:spAutoFit/>
          </a:bodyPr>
          <a:lstStyle/>
          <a:p>
            <a:pPr algn="l">
              <a:lnSpc>
                <a:spcPts val="2963"/>
              </a:lnSpc>
              <a:spcAft>
                <a:spcPts val="0"/>
              </a:spcAft>
            </a:pPr>
            <a:r>
              <a:rPr sz="2600" b="1" i="0">
                <a:solidFill>
                  <a:srgbClr val="141B2E"/>
                </a:solidFill>
                <a:latin typeface="Arial"/>
              </a:rPr>
              <a:t>What this is mitigated with</a:t>
            </a:r>
          </a:p>
        </p:txBody>
      </p:sp>
      <p:sp>
        <p:nvSpPr>
          <p:cNvPr id="3" name="Rounded Rectangle 2"/>
          <p:cNvSpPr/>
          <p:nvPr/>
        </p:nvSpPr>
        <p:spPr>
          <a:xfrm>
            <a:off x="502920" y="1297076"/>
            <a:ext cx="82296" cy="982980"/>
          </a:xfrm>
          <a:prstGeom prst="roundRect">
            <a:avLst>
              <a:gd name="adj" fmla="val 50000"/>
            </a:avLst>
          </a:prstGeom>
          <a:solidFill>
            <a:srgbClr val="F0AB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59536" y="1425092"/>
            <a:ext cx="10643616" cy="726948"/>
          </a:xfrm>
          <a:prstGeom prst="rect">
            <a:avLst/>
          </a:prstGeom>
          <a:noFill/>
        </p:spPr>
        <p:txBody>
          <a:bodyPr wrap="square" lIns="0" rIns="0" tIns="0" bIns="0" anchor="ctr">
            <a:spAutoFit/>
          </a:bodyPr>
          <a:lstStyle/>
          <a:p>
            <a:pPr algn="l">
              <a:lnSpc>
                <a:spcPts val="1860"/>
              </a:lnSpc>
              <a:spcAft>
                <a:spcPts val="300"/>
              </a:spcAft>
            </a:pPr>
            <a:r>
              <a:rPr sz="1500" b="1" i="0">
                <a:solidFill>
                  <a:srgbClr val="141B2E"/>
                </a:solidFill>
                <a:latin typeface="Arial"/>
              </a:rPr>
              <a:t>Four techniques out of five are about the layout and the order of writing, the fifth catches what they let through. Not one requires a separate copy, and all five work where there is no copy to be had.</a:t>
            </a:r>
          </a:p>
        </p:txBody>
      </p:sp>
      <p:sp>
        <p:nvSpPr>
          <p:cNvPr id="5" name="Rounded Rectangle 4"/>
          <p:cNvSpPr/>
          <p:nvPr/>
        </p:nvSpPr>
        <p:spPr>
          <a:xfrm>
            <a:off x="502920" y="2947568"/>
            <a:ext cx="5454396" cy="2849499"/>
          </a:xfrm>
          <a:prstGeom prst="roundRect">
            <a:avLst>
              <a:gd name="adj" fmla="val 10696"/>
            </a:avLst>
          </a:prstGeom>
          <a:solidFill>
            <a:srgbClr val="F4F7FA"/>
          </a:solidFill>
          <a:ln w="15240">
            <a:solidFill>
              <a:srgbClr val="E5EA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85800" y="3057296"/>
            <a:ext cx="5088636" cy="274320"/>
          </a:xfrm>
          <a:prstGeom prst="rect">
            <a:avLst/>
          </a:prstGeom>
          <a:noFill/>
        </p:spPr>
        <p:txBody>
          <a:bodyPr wrap="square" lIns="0" rIns="0" tIns="0" bIns="0" anchor="t">
            <a:spAutoFit/>
          </a:bodyPr>
          <a:lstStyle/>
          <a:p>
            <a:pPr algn="l">
              <a:lnSpc>
                <a:spcPts val="1297"/>
              </a:lnSpc>
              <a:spcAft>
                <a:spcPts val="0"/>
              </a:spcAft>
            </a:pPr>
            <a:r>
              <a:rPr sz="1100" b="1" i="0">
                <a:solidFill>
                  <a:srgbClr val="6B7685"/>
                </a:solidFill>
                <a:latin typeface="Arial"/>
              </a:rPr>
              <a:t>TECHNIQUE</a:t>
            </a:r>
          </a:p>
        </p:txBody>
      </p:sp>
      <p:sp>
        <p:nvSpPr>
          <p:cNvPr id="7" name="TextBox 6"/>
          <p:cNvSpPr txBox="1"/>
          <p:nvPr/>
        </p:nvSpPr>
        <p:spPr>
          <a:xfrm>
            <a:off x="685800" y="3331616"/>
            <a:ext cx="5088636" cy="490982"/>
          </a:xfrm>
          <a:prstGeom prst="rect">
            <a:avLst/>
          </a:prstGeom>
          <a:noFill/>
        </p:spPr>
        <p:txBody>
          <a:bodyPr wrap="square" lIns="0" rIns="0" tIns="0" bIns="0" anchor="ctr">
            <a:spAutoFit/>
          </a:bodyPr>
          <a:lstStyle/>
          <a:p>
            <a:pPr algn="l">
              <a:lnSpc>
                <a:spcPts val="1356"/>
              </a:lnSpc>
              <a:spcAft>
                <a:spcPts val="0"/>
              </a:spcAft>
            </a:pPr>
            <a:r>
              <a:rPr sz="1150" b="0" i="0">
                <a:solidFill>
                  <a:srgbClr val="141B2E"/>
                </a:solidFill>
                <a:latin typeface="Arial"/>
              </a:rPr>
              <a:t>divide the zones up before launching: every worker gets a file set of its own</a:t>
            </a:r>
          </a:p>
        </p:txBody>
      </p:sp>
      <p:cxnSp>
        <p:nvCxnSpPr>
          <p:cNvPr id="8" name="Connector 7"/>
          <p:cNvCxnSpPr/>
          <p:nvPr/>
        </p:nvCxnSpPr>
        <p:spPr>
          <a:xfrm>
            <a:off x="685800" y="3822598"/>
            <a:ext cx="5088636" cy="0"/>
          </a:xfrm>
          <a:prstGeom prst="line">
            <a:avLst/>
          </a:prstGeom>
          <a:ln w="9525">
            <a:solidFill>
              <a:srgbClr val="E5EAF0"/>
            </a:solidFill>
          </a:ln>
        </p:spPr>
        <p:style>
          <a:lnRef idx="2">
            <a:schemeClr val="accent1"/>
          </a:lnRef>
          <a:fillRef idx="0">
            <a:schemeClr val="accent1"/>
          </a:fillRef>
          <a:effectRef idx="1">
            <a:schemeClr val="accent1"/>
          </a:effectRef>
          <a:fontRef idx="minor">
            <a:schemeClr val="tx1"/>
          </a:fontRef>
        </p:style>
      </p:cxnSp>
      <p:sp>
        <p:nvSpPr>
          <p:cNvPr id="9" name="TextBox 8"/>
          <p:cNvSpPr txBox="1"/>
          <p:nvPr/>
        </p:nvSpPr>
        <p:spPr>
          <a:xfrm>
            <a:off x="685800" y="3822598"/>
            <a:ext cx="5088636" cy="490982"/>
          </a:xfrm>
          <a:prstGeom prst="rect">
            <a:avLst/>
          </a:prstGeom>
          <a:noFill/>
        </p:spPr>
        <p:txBody>
          <a:bodyPr wrap="square" lIns="0" rIns="0" tIns="0" bIns="0" anchor="ctr">
            <a:spAutoFit/>
          </a:bodyPr>
          <a:lstStyle/>
          <a:p>
            <a:pPr algn="l">
              <a:lnSpc>
                <a:spcPts val="1356"/>
              </a:lnSpc>
              <a:spcAft>
                <a:spcPts val="0"/>
              </a:spcAft>
            </a:pPr>
            <a:r>
              <a:rPr sz="1150" b="0" i="0">
                <a:solidFill>
                  <a:srgbClr val="141B2E"/>
                </a:solidFill>
                <a:latin typeface="Arial"/>
              </a:rPr>
              <a:t>read the file right before writing, do not rely on what was read at the start of the work</a:t>
            </a:r>
          </a:p>
        </p:txBody>
      </p:sp>
      <p:cxnSp>
        <p:nvCxnSpPr>
          <p:cNvPr id="10" name="Connector 9"/>
          <p:cNvCxnSpPr/>
          <p:nvPr/>
        </p:nvCxnSpPr>
        <p:spPr>
          <a:xfrm>
            <a:off x="685800" y="4313580"/>
            <a:ext cx="5088636" cy="0"/>
          </a:xfrm>
          <a:prstGeom prst="line">
            <a:avLst/>
          </a:prstGeom>
          <a:ln w="9525">
            <a:solidFill>
              <a:srgbClr val="E5EAF0"/>
            </a:solidFill>
          </a:ln>
        </p:spPr>
        <p:style>
          <a:lnRef idx="2">
            <a:schemeClr val="accent1"/>
          </a:lnRef>
          <a:fillRef idx="0">
            <a:schemeClr val="accent1"/>
          </a:fillRef>
          <a:effectRef idx="1">
            <a:schemeClr val="accent1"/>
          </a:effectRef>
          <a:fontRef idx="minor">
            <a:schemeClr val="tx1"/>
          </a:fontRef>
        </p:style>
      </p:cxnSp>
      <p:sp>
        <p:nvSpPr>
          <p:cNvPr id="11" name="TextBox 10"/>
          <p:cNvSpPr txBox="1"/>
          <p:nvPr/>
        </p:nvSpPr>
        <p:spPr>
          <a:xfrm>
            <a:off x="685800" y="4313580"/>
            <a:ext cx="5088636" cy="318642"/>
          </a:xfrm>
          <a:prstGeom prst="rect">
            <a:avLst/>
          </a:prstGeom>
          <a:noFill/>
        </p:spPr>
        <p:txBody>
          <a:bodyPr wrap="square" lIns="0" rIns="0" tIns="0" bIns="0" anchor="ctr">
            <a:spAutoFit/>
          </a:bodyPr>
          <a:lstStyle/>
          <a:p>
            <a:pPr algn="l">
              <a:lnSpc>
                <a:spcPts val="1356"/>
              </a:lnSpc>
              <a:spcAft>
                <a:spcPts val="0"/>
              </a:spcAft>
            </a:pPr>
            <a:r>
              <a:rPr sz="1150" b="0" i="0">
                <a:solidFill>
                  <a:srgbClr val="141B2E"/>
                </a:solidFill>
                <a:latin typeface="Arial"/>
              </a:rPr>
              <a:t>edit a stretch, do not rewrite the whole file</a:t>
            </a:r>
          </a:p>
        </p:txBody>
      </p:sp>
      <p:cxnSp>
        <p:nvCxnSpPr>
          <p:cNvPr id="12" name="Connector 11"/>
          <p:cNvCxnSpPr/>
          <p:nvPr/>
        </p:nvCxnSpPr>
        <p:spPr>
          <a:xfrm>
            <a:off x="685800" y="4632223"/>
            <a:ext cx="5088636" cy="0"/>
          </a:xfrm>
          <a:prstGeom prst="line">
            <a:avLst/>
          </a:prstGeom>
          <a:ln w="9525">
            <a:solidFill>
              <a:srgbClr val="E5EAF0"/>
            </a:solidFill>
          </a:ln>
        </p:spPr>
        <p:style>
          <a:lnRef idx="2">
            <a:schemeClr val="accent1"/>
          </a:lnRef>
          <a:fillRef idx="0">
            <a:schemeClr val="accent1"/>
          </a:fillRef>
          <a:effectRef idx="1">
            <a:schemeClr val="accent1"/>
          </a:effectRef>
          <a:fontRef idx="minor">
            <a:schemeClr val="tx1"/>
          </a:fontRef>
        </p:style>
      </p:cxnSp>
      <p:sp>
        <p:nvSpPr>
          <p:cNvPr id="13" name="TextBox 12"/>
          <p:cNvSpPr txBox="1"/>
          <p:nvPr/>
        </p:nvSpPr>
        <p:spPr>
          <a:xfrm>
            <a:off x="685800" y="4632223"/>
            <a:ext cx="5088636" cy="490982"/>
          </a:xfrm>
          <a:prstGeom prst="rect">
            <a:avLst/>
          </a:prstGeom>
          <a:noFill/>
        </p:spPr>
        <p:txBody>
          <a:bodyPr wrap="square" lIns="0" rIns="0" tIns="0" bIns="0" anchor="ctr">
            <a:spAutoFit/>
          </a:bodyPr>
          <a:lstStyle/>
          <a:p>
            <a:pPr algn="l">
              <a:lnSpc>
                <a:spcPts val="1356"/>
              </a:lnSpc>
              <a:spcAft>
                <a:spcPts val="0"/>
              </a:spcAft>
            </a:pPr>
            <a:r>
              <a:rPr sz="1150" b="0" i="0">
                <a:solidFill>
                  <a:srgbClr val="141B2E"/>
                </a:solidFill>
                <a:latin typeface="Arial"/>
              </a:rPr>
              <a:t>give non-overlapping tasks, and bring the results together in a separate pass</a:t>
            </a:r>
          </a:p>
        </p:txBody>
      </p:sp>
      <p:cxnSp>
        <p:nvCxnSpPr>
          <p:cNvPr id="14" name="Connector 13"/>
          <p:cNvCxnSpPr/>
          <p:nvPr/>
        </p:nvCxnSpPr>
        <p:spPr>
          <a:xfrm>
            <a:off x="685800" y="5123205"/>
            <a:ext cx="5088636" cy="0"/>
          </a:xfrm>
          <a:prstGeom prst="line">
            <a:avLst/>
          </a:prstGeom>
          <a:ln w="9525">
            <a:solidFill>
              <a:srgbClr val="E5EAF0"/>
            </a:solidFill>
          </a:ln>
        </p:spPr>
        <p:style>
          <a:lnRef idx="2">
            <a:schemeClr val="accent1"/>
          </a:lnRef>
          <a:fillRef idx="0">
            <a:schemeClr val="accent1"/>
          </a:fillRef>
          <a:effectRef idx="1">
            <a:schemeClr val="accent1"/>
          </a:effectRef>
          <a:fontRef idx="minor">
            <a:schemeClr val="tx1"/>
          </a:fontRef>
        </p:style>
      </p:cxnSp>
      <p:sp>
        <p:nvSpPr>
          <p:cNvPr id="15" name="TextBox 14"/>
          <p:cNvSpPr txBox="1"/>
          <p:nvPr/>
        </p:nvSpPr>
        <p:spPr>
          <a:xfrm>
            <a:off x="685800" y="5123205"/>
            <a:ext cx="5088636" cy="490982"/>
          </a:xfrm>
          <a:prstGeom prst="rect">
            <a:avLst/>
          </a:prstGeom>
          <a:noFill/>
        </p:spPr>
        <p:txBody>
          <a:bodyPr wrap="square" lIns="0" rIns="0" tIns="0" bIns="0" anchor="ctr">
            <a:spAutoFit/>
          </a:bodyPr>
          <a:lstStyle/>
          <a:p>
            <a:pPr algn="l">
              <a:lnSpc>
                <a:spcPts val="1356"/>
              </a:lnSpc>
              <a:spcAft>
                <a:spcPts val="0"/>
              </a:spcAft>
            </a:pPr>
            <a:r>
              <a:rPr sz="1150" b="0" i="0">
                <a:solidFill>
                  <a:srgbClr val="141B2E"/>
                </a:solidFill>
                <a:latin typeface="Arial"/>
              </a:rPr>
              <a:t>take the sign of success from the file itself: reread the result, check the time of the edit</a:t>
            </a:r>
          </a:p>
        </p:txBody>
      </p:sp>
      <p:sp>
        <p:nvSpPr>
          <p:cNvPr id="16" name="Rounded Rectangle 15"/>
          <p:cNvSpPr/>
          <p:nvPr/>
        </p:nvSpPr>
        <p:spPr>
          <a:xfrm>
            <a:off x="6231636" y="2947568"/>
            <a:ext cx="5454396" cy="2849499"/>
          </a:xfrm>
          <a:prstGeom prst="roundRect">
            <a:avLst>
              <a:gd name="adj" fmla="val 10696"/>
            </a:avLst>
          </a:prstGeom>
          <a:solidFill>
            <a:srgbClr val="F4F7FA"/>
          </a:solidFill>
          <a:ln w="15240">
            <a:solidFill>
              <a:srgbClr val="E5EA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414516" y="3057296"/>
            <a:ext cx="5088636" cy="274320"/>
          </a:xfrm>
          <a:prstGeom prst="rect">
            <a:avLst/>
          </a:prstGeom>
          <a:noFill/>
        </p:spPr>
        <p:txBody>
          <a:bodyPr wrap="square" lIns="0" rIns="0" tIns="0" bIns="0" anchor="t">
            <a:spAutoFit/>
          </a:bodyPr>
          <a:lstStyle/>
          <a:p>
            <a:pPr algn="l">
              <a:lnSpc>
                <a:spcPts val="1297"/>
              </a:lnSpc>
              <a:spcAft>
                <a:spcPts val="0"/>
              </a:spcAft>
            </a:pPr>
            <a:r>
              <a:rPr sz="1100" b="1" i="0">
                <a:solidFill>
                  <a:srgbClr val="8A6200"/>
                </a:solidFill>
                <a:latin typeface="Arial"/>
              </a:rPr>
              <a:t>WHAT IT DOES NOT CLOSE</a:t>
            </a:r>
          </a:p>
        </p:txBody>
      </p:sp>
      <p:sp>
        <p:nvSpPr>
          <p:cNvPr id="18" name="TextBox 17"/>
          <p:cNvSpPr txBox="1"/>
          <p:nvPr/>
        </p:nvSpPr>
        <p:spPr>
          <a:xfrm>
            <a:off x="6414516" y="3331616"/>
            <a:ext cx="5088636" cy="490982"/>
          </a:xfrm>
          <a:prstGeom prst="rect">
            <a:avLst/>
          </a:prstGeom>
          <a:noFill/>
        </p:spPr>
        <p:txBody>
          <a:bodyPr wrap="square" lIns="0" rIns="0" tIns="0" bIns="0" anchor="ctr">
            <a:spAutoFit/>
          </a:bodyPr>
          <a:lstStyle/>
          <a:p>
            <a:pPr algn="l">
              <a:lnSpc>
                <a:spcPts val="1356"/>
              </a:lnSpc>
              <a:spcAft>
                <a:spcPts val="0"/>
              </a:spcAft>
            </a:pPr>
            <a:r>
              <a:rPr sz="1150" b="0" i="0">
                <a:solidFill>
                  <a:srgbClr val="141B2E"/>
                </a:solidFill>
                <a:latin typeface="Arial"/>
              </a:rPr>
              <a:t>a shared file needed by two of them; it stays a separate piece of work, and whose exactly is decided in advance</a:t>
            </a:r>
          </a:p>
        </p:txBody>
      </p:sp>
      <p:cxnSp>
        <p:nvCxnSpPr>
          <p:cNvPr id="19" name="Connector 18"/>
          <p:cNvCxnSpPr/>
          <p:nvPr/>
        </p:nvCxnSpPr>
        <p:spPr>
          <a:xfrm>
            <a:off x="6414516" y="3822598"/>
            <a:ext cx="5088636" cy="0"/>
          </a:xfrm>
          <a:prstGeom prst="line">
            <a:avLst/>
          </a:prstGeom>
          <a:ln w="9525">
            <a:solidFill>
              <a:srgbClr val="E5EAF0"/>
            </a:solidFill>
          </a:ln>
        </p:spPr>
        <p:style>
          <a:lnRef idx="2">
            <a:schemeClr val="accent1"/>
          </a:lnRef>
          <a:fillRef idx="0">
            <a:schemeClr val="accent1"/>
          </a:fillRef>
          <a:effectRef idx="1">
            <a:schemeClr val="accent1"/>
          </a:effectRef>
          <a:fontRef idx="minor">
            <a:schemeClr val="tx1"/>
          </a:fontRef>
        </p:style>
      </p:cxnSp>
      <p:sp>
        <p:nvSpPr>
          <p:cNvPr id="20" name="TextBox 19"/>
          <p:cNvSpPr txBox="1"/>
          <p:nvPr/>
        </p:nvSpPr>
        <p:spPr>
          <a:xfrm>
            <a:off x="6414516" y="3822598"/>
            <a:ext cx="5088636" cy="318642"/>
          </a:xfrm>
          <a:prstGeom prst="rect">
            <a:avLst/>
          </a:prstGeom>
          <a:noFill/>
        </p:spPr>
        <p:txBody>
          <a:bodyPr wrap="square" lIns="0" rIns="0" tIns="0" bIns="0" anchor="ctr">
            <a:spAutoFit/>
          </a:bodyPr>
          <a:lstStyle/>
          <a:p>
            <a:pPr algn="l">
              <a:lnSpc>
                <a:spcPts val="1356"/>
              </a:lnSpc>
              <a:spcAft>
                <a:spcPts val="0"/>
              </a:spcAft>
            </a:pPr>
            <a:r>
              <a:rPr sz="1150" b="0" i="0">
                <a:solidFill>
                  <a:srgbClr val="141B2E"/>
                </a:solidFill>
                <a:latin typeface="Arial"/>
              </a:rPr>
              <a:t>the gap between reading and writing remains, and it is not zero</a:t>
            </a:r>
          </a:p>
        </p:txBody>
      </p:sp>
      <p:cxnSp>
        <p:nvCxnSpPr>
          <p:cNvPr id="21" name="Connector 20"/>
          <p:cNvCxnSpPr/>
          <p:nvPr/>
        </p:nvCxnSpPr>
        <p:spPr>
          <a:xfrm>
            <a:off x="6414516" y="4141241"/>
            <a:ext cx="5088636" cy="0"/>
          </a:xfrm>
          <a:prstGeom prst="line">
            <a:avLst/>
          </a:prstGeom>
          <a:ln w="9525">
            <a:solidFill>
              <a:srgbClr val="E5EAF0"/>
            </a:solidFill>
          </a:ln>
        </p:spPr>
        <p:style>
          <a:lnRef idx="2">
            <a:schemeClr val="accent1"/>
          </a:lnRef>
          <a:fillRef idx="0">
            <a:schemeClr val="accent1"/>
          </a:fillRef>
          <a:effectRef idx="1">
            <a:schemeClr val="accent1"/>
          </a:effectRef>
          <a:fontRef idx="minor">
            <a:schemeClr val="tx1"/>
          </a:fontRef>
        </p:style>
      </p:cxnSp>
      <p:sp>
        <p:nvSpPr>
          <p:cNvPr id="22" name="TextBox 21"/>
          <p:cNvSpPr txBox="1"/>
          <p:nvPr/>
        </p:nvSpPr>
        <p:spPr>
          <a:xfrm>
            <a:off x="6414516" y="4141241"/>
            <a:ext cx="5088636" cy="490982"/>
          </a:xfrm>
          <a:prstGeom prst="rect">
            <a:avLst/>
          </a:prstGeom>
          <a:noFill/>
        </p:spPr>
        <p:txBody>
          <a:bodyPr wrap="square" lIns="0" rIns="0" tIns="0" bIns="0" anchor="ctr">
            <a:spAutoFit/>
          </a:bodyPr>
          <a:lstStyle/>
          <a:p>
            <a:pPr algn="l">
              <a:lnSpc>
                <a:spcPts val="1356"/>
              </a:lnSpc>
              <a:spcAft>
                <a:spcPts val="0"/>
              </a:spcAft>
            </a:pPr>
            <a:r>
              <a:rPr sz="1150" b="0" i="0">
                <a:solidFill>
                  <a:srgbClr val="141B2E"/>
                </a:solidFill>
                <a:latin typeface="Arial"/>
              </a:rPr>
              <a:t>a structural rework of a file cannot be done that way — there the edit is "the whole thing"</a:t>
            </a:r>
          </a:p>
        </p:txBody>
      </p:sp>
      <p:cxnSp>
        <p:nvCxnSpPr>
          <p:cNvPr id="23" name="Connector 22"/>
          <p:cNvCxnSpPr/>
          <p:nvPr/>
        </p:nvCxnSpPr>
        <p:spPr>
          <a:xfrm>
            <a:off x="6414516" y="4632223"/>
            <a:ext cx="5088636" cy="0"/>
          </a:xfrm>
          <a:prstGeom prst="line">
            <a:avLst/>
          </a:prstGeom>
          <a:ln w="9525">
            <a:solidFill>
              <a:srgbClr val="E5EAF0"/>
            </a:solidFill>
          </a:ln>
        </p:spPr>
        <p:style>
          <a:lnRef idx="2">
            <a:schemeClr val="accent1"/>
          </a:lnRef>
          <a:fillRef idx="0">
            <a:schemeClr val="accent1"/>
          </a:fillRef>
          <a:effectRef idx="1">
            <a:schemeClr val="accent1"/>
          </a:effectRef>
          <a:fontRef idx="minor">
            <a:schemeClr val="tx1"/>
          </a:fontRef>
        </p:style>
      </p:cxnSp>
      <p:sp>
        <p:nvSpPr>
          <p:cNvPr id="24" name="TextBox 23"/>
          <p:cNvSpPr txBox="1"/>
          <p:nvPr/>
        </p:nvSpPr>
        <p:spPr>
          <a:xfrm>
            <a:off x="6414516" y="4632223"/>
            <a:ext cx="5088636" cy="490982"/>
          </a:xfrm>
          <a:prstGeom prst="rect">
            <a:avLst/>
          </a:prstGeom>
          <a:noFill/>
        </p:spPr>
        <p:txBody>
          <a:bodyPr wrap="square" lIns="0" rIns="0" tIns="0" bIns="0" anchor="ctr">
            <a:spAutoFit/>
          </a:bodyPr>
          <a:lstStyle/>
          <a:p>
            <a:pPr algn="l">
              <a:lnSpc>
                <a:spcPts val="1356"/>
              </a:lnSpc>
              <a:spcAft>
                <a:spcPts val="0"/>
              </a:spcAft>
            </a:pPr>
            <a:r>
              <a:rPr sz="1150" b="0" i="0">
                <a:solidFill>
                  <a:srgbClr val="141B2E"/>
                </a:solidFill>
                <a:latin typeface="Arial"/>
              </a:rPr>
              <a:t>that pass itself does not happen: somebody does it, and it is visible work</a:t>
            </a:r>
          </a:p>
        </p:txBody>
      </p:sp>
      <p:cxnSp>
        <p:nvCxnSpPr>
          <p:cNvPr id="25" name="Connector 24"/>
          <p:cNvCxnSpPr/>
          <p:nvPr/>
        </p:nvCxnSpPr>
        <p:spPr>
          <a:xfrm>
            <a:off x="6414516" y="5123205"/>
            <a:ext cx="5088636" cy="0"/>
          </a:xfrm>
          <a:prstGeom prst="line">
            <a:avLst/>
          </a:prstGeom>
          <a:ln w="9525">
            <a:solidFill>
              <a:srgbClr val="E5EAF0"/>
            </a:solidFill>
          </a:ln>
        </p:spPr>
        <p:style>
          <a:lnRef idx="2">
            <a:schemeClr val="accent1"/>
          </a:lnRef>
          <a:fillRef idx="0">
            <a:schemeClr val="accent1"/>
          </a:fillRef>
          <a:effectRef idx="1">
            <a:schemeClr val="accent1"/>
          </a:effectRef>
          <a:fontRef idx="minor">
            <a:schemeClr val="tx1"/>
          </a:fontRef>
        </p:style>
      </p:cxnSp>
      <p:sp>
        <p:nvSpPr>
          <p:cNvPr id="26" name="TextBox 25"/>
          <p:cNvSpPr txBox="1"/>
          <p:nvPr/>
        </p:nvSpPr>
        <p:spPr>
          <a:xfrm>
            <a:off x="6414516" y="5123205"/>
            <a:ext cx="5088636" cy="318642"/>
          </a:xfrm>
          <a:prstGeom prst="rect">
            <a:avLst/>
          </a:prstGeom>
          <a:noFill/>
        </p:spPr>
        <p:txBody>
          <a:bodyPr wrap="square" lIns="0" rIns="0" tIns="0" bIns="0" anchor="ctr">
            <a:spAutoFit/>
          </a:bodyPr>
          <a:lstStyle/>
          <a:p>
            <a:pPr algn="l">
              <a:lnSpc>
                <a:spcPts val="1356"/>
              </a:lnSpc>
              <a:spcAft>
                <a:spcPts val="0"/>
              </a:spcAft>
            </a:pPr>
            <a:r>
              <a:rPr sz="1150" b="0" i="0">
                <a:solidFill>
                  <a:srgbClr val="141B2E"/>
                </a:solidFill>
                <a:latin typeface="Arial"/>
              </a:rPr>
              <a:t>catches a collision that has already happened, and prevents nothing</a:t>
            </a:r>
          </a:p>
        </p:txBody>
      </p:sp>
      <p:sp>
        <p:nvSpPr>
          <p:cNvPr id="27" name="TextBox 26"/>
          <p:cNvSpPr txBox="1"/>
          <p:nvPr/>
        </p:nvSpPr>
        <p:spPr>
          <a:xfrm>
            <a:off x="10957255" y="6437376"/>
            <a:ext cx="914400" cy="274320"/>
          </a:xfrm>
          <a:prstGeom prst="rect">
            <a:avLst/>
          </a:prstGeom>
          <a:noFill/>
        </p:spPr>
        <p:txBody>
          <a:bodyPr wrap="square" lIns="0" rIns="0" tIns="0" bIns="0" anchor="t">
            <a:spAutoFit/>
          </a:bodyPr>
          <a:lstStyle/>
          <a:p>
            <a:pPr algn="r">
              <a:lnSpc>
                <a:spcPts val="1238"/>
              </a:lnSpc>
              <a:spcAft>
                <a:spcPts val="0"/>
              </a:spcAft>
            </a:pPr>
            <a:r>
              <a:rPr sz="1050" b="0" i="0">
                <a:solidFill>
                  <a:srgbClr val="6B7685"/>
                </a:solidFill>
                <a:latin typeface="Arial"/>
              </a:rPr>
              <a:t>57</a:t>
            </a:r>
          </a:p>
        </p:txBody>
      </p:sp>
    </p:spTree>
  </p:cSld>
  <p:clrMapOvr>
    <a:masterClrMapping/>
  </p:clrMapOvr>
</p:sld>
</file>

<file path=ppt/slides/slide5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02920" y="310896"/>
            <a:ext cx="11183112" cy="431291"/>
          </a:xfrm>
          <a:prstGeom prst="rect">
            <a:avLst/>
          </a:prstGeom>
          <a:noFill/>
        </p:spPr>
        <p:txBody>
          <a:bodyPr wrap="square" lIns="0" rIns="0" tIns="0" bIns="0" anchor="t">
            <a:spAutoFit/>
          </a:bodyPr>
          <a:lstStyle/>
          <a:p>
            <a:pPr algn="l">
              <a:lnSpc>
                <a:spcPts val="2963"/>
              </a:lnSpc>
              <a:spcAft>
                <a:spcPts val="0"/>
              </a:spcAft>
            </a:pPr>
            <a:r>
              <a:rPr sz="2600" b="1" i="0">
                <a:solidFill>
                  <a:srgbClr val="141B2E"/>
                </a:solidFill>
                <a:latin typeface="Arial"/>
              </a:rPr>
              <a:t>Every sign of success lined up</a:t>
            </a:r>
          </a:p>
        </p:txBody>
      </p:sp>
      <p:sp>
        <p:nvSpPr>
          <p:cNvPr id="3" name="Rounded Rectangle 2"/>
          <p:cNvSpPr/>
          <p:nvPr/>
        </p:nvSpPr>
        <p:spPr>
          <a:xfrm>
            <a:off x="502920" y="943356"/>
            <a:ext cx="82296" cy="636524"/>
          </a:xfrm>
          <a:prstGeom prst="roundRect">
            <a:avLst>
              <a:gd name="adj" fmla="val 50000"/>
            </a:avLst>
          </a:prstGeom>
          <a:solidFill>
            <a:srgbClr val="F0AB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59536" y="1071372"/>
            <a:ext cx="10643616" cy="380492"/>
          </a:xfrm>
          <a:prstGeom prst="rect">
            <a:avLst/>
          </a:prstGeom>
          <a:noFill/>
        </p:spPr>
        <p:txBody>
          <a:bodyPr wrap="square" lIns="0" rIns="0" tIns="0" bIns="0" anchor="ctr">
            <a:spAutoFit/>
          </a:bodyPr>
          <a:lstStyle/>
          <a:p>
            <a:pPr algn="l">
              <a:lnSpc>
                <a:spcPts val="1426"/>
              </a:lnSpc>
              <a:spcAft>
                <a:spcPts val="300"/>
              </a:spcAft>
            </a:pPr>
            <a:r>
              <a:rPr sz="1150" b="1" i="0">
                <a:solidFill>
                  <a:srgbClr val="141B2E"/>
                </a:solidFill>
                <a:latin typeface="Arial"/>
              </a:rPr>
              <a:t>This course is built the same way — by several sessions at once, in one working copy. Three cases from its own log, all three recorded in the repository that is open in front of you.</a:t>
            </a:r>
          </a:p>
        </p:txBody>
      </p:sp>
      <p:sp>
        <p:nvSpPr>
          <p:cNvPr id="5" name="Rounded Rectangle 4"/>
          <p:cNvSpPr/>
          <p:nvPr/>
        </p:nvSpPr>
        <p:spPr>
          <a:xfrm>
            <a:off x="502920" y="1744472"/>
            <a:ext cx="11183112" cy="2653220"/>
          </a:xfrm>
          <a:prstGeom prst="roundRect">
            <a:avLst>
              <a:gd name="adj" fmla="val 11487"/>
            </a:avLst>
          </a:prstGeom>
          <a:solidFill>
            <a:srgbClr val="FFFFFF"/>
          </a:solidFill>
          <a:ln w="1778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85800" y="1927352"/>
            <a:ext cx="3343435" cy="282067"/>
          </a:xfrm>
          <a:prstGeom prst="rect">
            <a:avLst/>
          </a:prstGeom>
          <a:noFill/>
        </p:spPr>
        <p:txBody>
          <a:bodyPr wrap="square" lIns="0" rIns="0" tIns="0" bIns="0" anchor="t">
            <a:spAutoFit/>
          </a:bodyPr>
          <a:lstStyle/>
          <a:p>
            <a:pPr algn="l">
              <a:lnSpc>
                <a:spcPts val="1265"/>
              </a:lnSpc>
              <a:spcAft>
                <a:spcPts val="0"/>
              </a:spcAft>
            </a:pPr>
            <a:r>
              <a:rPr sz="1150" b="1" i="0">
                <a:solidFill>
                  <a:srgbClr val="6B7685"/>
                </a:solidFill>
                <a:latin typeface="Arial"/>
              </a:rPr>
              <a:t>CASE</a:t>
            </a:r>
          </a:p>
        </p:txBody>
      </p:sp>
      <p:sp>
        <p:nvSpPr>
          <p:cNvPr id="7" name="TextBox 6"/>
          <p:cNvSpPr txBox="1"/>
          <p:nvPr/>
        </p:nvSpPr>
        <p:spPr>
          <a:xfrm>
            <a:off x="4175539" y="1927352"/>
            <a:ext cx="2337662" cy="282067"/>
          </a:xfrm>
          <a:prstGeom prst="rect">
            <a:avLst/>
          </a:prstGeom>
          <a:noFill/>
        </p:spPr>
        <p:txBody>
          <a:bodyPr wrap="square" lIns="0" rIns="0" tIns="0" bIns="0" anchor="t">
            <a:spAutoFit/>
          </a:bodyPr>
          <a:lstStyle/>
          <a:p>
            <a:pPr algn="l">
              <a:lnSpc>
                <a:spcPts val="1265"/>
              </a:lnSpc>
              <a:spcAft>
                <a:spcPts val="0"/>
              </a:spcAft>
            </a:pPr>
            <a:r>
              <a:rPr sz="1150" b="1" i="0">
                <a:solidFill>
                  <a:srgbClr val="6B7685"/>
                </a:solidFill>
                <a:latin typeface="Arial"/>
              </a:rPr>
              <a:t>SIGNS OF SUCCESS</a:t>
            </a:r>
          </a:p>
        </p:txBody>
      </p:sp>
      <p:sp>
        <p:nvSpPr>
          <p:cNvPr id="8" name="TextBox 7"/>
          <p:cNvSpPr txBox="1"/>
          <p:nvPr/>
        </p:nvSpPr>
        <p:spPr>
          <a:xfrm>
            <a:off x="6659505" y="1927352"/>
            <a:ext cx="4697342" cy="282067"/>
          </a:xfrm>
          <a:prstGeom prst="rect">
            <a:avLst/>
          </a:prstGeom>
          <a:noFill/>
        </p:spPr>
        <p:txBody>
          <a:bodyPr wrap="square" lIns="0" rIns="0" tIns="0" bIns="0" anchor="t">
            <a:spAutoFit/>
          </a:bodyPr>
          <a:lstStyle/>
          <a:p>
            <a:pPr algn="l">
              <a:lnSpc>
                <a:spcPts val="1265"/>
              </a:lnSpc>
              <a:spcAft>
                <a:spcPts val="0"/>
              </a:spcAft>
            </a:pPr>
            <a:r>
              <a:rPr sz="1150" b="1" i="0">
                <a:solidFill>
                  <a:srgbClr val="6B7685"/>
                </a:solidFill>
                <a:latin typeface="Arial"/>
              </a:rPr>
              <a:t>WHAT WAS ACTUALLY THE CASE</a:t>
            </a:r>
          </a:p>
        </p:txBody>
      </p:sp>
      <p:sp>
        <p:nvSpPr>
          <p:cNvPr id="9" name="TextBox 8"/>
          <p:cNvSpPr txBox="1"/>
          <p:nvPr/>
        </p:nvSpPr>
        <p:spPr>
          <a:xfrm>
            <a:off x="685800" y="2209419"/>
            <a:ext cx="3343435" cy="668464"/>
          </a:xfrm>
          <a:prstGeom prst="rect">
            <a:avLst/>
          </a:prstGeom>
          <a:noFill/>
        </p:spPr>
        <p:txBody>
          <a:bodyPr wrap="square" lIns="0" rIns="0" tIns="0" bIns="0" anchor="ctr">
            <a:spAutoFit/>
          </a:bodyPr>
          <a:lstStyle/>
          <a:p>
            <a:pPr algn="l">
              <a:lnSpc>
                <a:spcPts val="1322"/>
              </a:lnSpc>
              <a:spcAft>
                <a:spcPts val="0"/>
              </a:spcAft>
            </a:pPr>
            <a:r>
              <a:rPr sz="1150" b="0" i="0">
                <a:solidFill>
                  <a:srgbClr val="141B2E"/>
                </a:solidFill>
                <a:latin typeface="Arial"/>
              </a:rPr>
              <a:t>six sessions were editing one deck in one directory; a neighboring build rewrote the input file while the converter was reading it</a:t>
            </a:r>
          </a:p>
        </p:txBody>
      </p:sp>
      <p:sp>
        <p:nvSpPr>
          <p:cNvPr id="10" name="TextBox 9"/>
          <p:cNvSpPr txBox="1"/>
          <p:nvPr/>
        </p:nvSpPr>
        <p:spPr>
          <a:xfrm>
            <a:off x="4175539" y="2209419"/>
            <a:ext cx="2337662" cy="668464"/>
          </a:xfrm>
          <a:prstGeom prst="rect">
            <a:avLst/>
          </a:prstGeom>
          <a:noFill/>
        </p:spPr>
        <p:txBody>
          <a:bodyPr wrap="square" lIns="0" rIns="0" tIns="0" bIns="0" anchor="ctr">
            <a:spAutoFit/>
          </a:bodyPr>
          <a:lstStyle/>
          <a:p>
            <a:pPr algn="l">
              <a:lnSpc>
                <a:spcPts val="1322"/>
              </a:lnSpc>
              <a:spcAft>
                <a:spcPts val="0"/>
              </a:spcAft>
            </a:pPr>
            <a:r>
              <a:rPr sz="1150" b="0" i="0">
                <a:solidFill>
                  <a:srgbClr val="141B2E"/>
                </a:solidFill>
                <a:latin typeface="Arial"/>
              </a:rPr>
              <a:t>exit code zero, "rendered slide 44 … 50" line by line, "PDF copied", the right page count</a:t>
            </a:r>
          </a:p>
        </p:txBody>
      </p:sp>
      <p:sp>
        <p:nvSpPr>
          <p:cNvPr id="11" name="TextBox 10"/>
          <p:cNvSpPr txBox="1"/>
          <p:nvPr/>
        </p:nvSpPr>
        <p:spPr>
          <a:xfrm>
            <a:off x="6659505" y="2209419"/>
            <a:ext cx="4697342" cy="668464"/>
          </a:xfrm>
          <a:prstGeom prst="rect">
            <a:avLst/>
          </a:prstGeom>
          <a:noFill/>
        </p:spPr>
        <p:txBody>
          <a:bodyPr wrap="square" lIns="0" rIns="0" tIns="0" bIns="0" anchor="ctr">
            <a:spAutoFit/>
          </a:bodyPr>
          <a:lstStyle/>
          <a:p>
            <a:pPr algn="l">
              <a:lnSpc>
                <a:spcPts val="1322"/>
              </a:lnSpc>
              <a:spcAft>
                <a:spcPts val="0"/>
              </a:spcAft>
            </a:pPr>
            <a:r>
              <a:rPr sz="1150" b="0" i="0">
                <a:solidFill>
                  <a:srgbClr val="141B2E"/>
                </a:solidFill>
                <a:latin typeface="Arial"/>
              </a:rPr>
              <a:t>all 54 pages out of 54 blank, the file slimmed down from 6.67 to 2.69 MB. Caught by comparing timestamps: the input turned out to be newer than the output</a:t>
            </a:r>
          </a:p>
        </p:txBody>
      </p:sp>
      <p:cxnSp>
        <p:nvCxnSpPr>
          <p:cNvPr id="12" name="Connector 11"/>
          <p:cNvCxnSpPr/>
          <p:nvPr/>
        </p:nvCxnSpPr>
        <p:spPr>
          <a:xfrm>
            <a:off x="685800" y="2877883"/>
            <a:ext cx="10817352" cy="0"/>
          </a:xfrm>
          <a:prstGeom prst="line">
            <a:avLst/>
          </a:prstGeom>
          <a:ln w="9525">
            <a:solidFill>
              <a:srgbClr val="E5EAF0"/>
            </a:solidFill>
          </a:ln>
        </p:spPr>
        <p:style>
          <a:lnRef idx="2">
            <a:schemeClr val="accent1"/>
          </a:lnRef>
          <a:fillRef idx="0">
            <a:schemeClr val="accent1"/>
          </a:fillRef>
          <a:effectRef idx="1">
            <a:schemeClr val="accent1"/>
          </a:effectRef>
          <a:fontRef idx="minor">
            <a:schemeClr val="tx1"/>
          </a:fontRef>
        </p:style>
      </p:cxnSp>
      <p:sp>
        <p:nvSpPr>
          <p:cNvPr id="13" name="TextBox 12"/>
          <p:cNvSpPr txBox="1"/>
          <p:nvPr/>
        </p:nvSpPr>
        <p:spPr>
          <a:xfrm>
            <a:off x="685800" y="2877883"/>
            <a:ext cx="3343435" cy="668464"/>
          </a:xfrm>
          <a:prstGeom prst="rect">
            <a:avLst/>
          </a:prstGeom>
          <a:noFill/>
        </p:spPr>
        <p:txBody>
          <a:bodyPr wrap="square" lIns="0" rIns="0" tIns="0" bIns="0" anchor="ctr">
            <a:spAutoFit/>
          </a:bodyPr>
          <a:lstStyle/>
          <a:p>
            <a:pPr algn="l">
              <a:lnSpc>
                <a:spcPts val="1322"/>
              </a:lnSpc>
              <a:spcAft>
                <a:spcPts val="0"/>
              </a:spcAft>
            </a:pPr>
            <a:r>
              <a:rPr sz="1150" b="0" i="0">
                <a:solidFill>
                  <a:srgbClr val="141B2E"/>
                </a:solidFill>
                <a:latin typeface="Arial"/>
              </a:rPr>
              <a:t>two sessions were editing one build file; a read of the file landed in the middle of somebody else's write</a:t>
            </a:r>
          </a:p>
        </p:txBody>
      </p:sp>
      <p:sp>
        <p:nvSpPr>
          <p:cNvPr id="14" name="TextBox 13"/>
          <p:cNvSpPr txBox="1"/>
          <p:nvPr/>
        </p:nvSpPr>
        <p:spPr>
          <a:xfrm>
            <a:off x="4175539" y="2877883"/>
            <a:ext cx="2337662" cy="668464"/>
          </a:xfrm>
          <a:prstGeom prst="rect">
            <a:avLst/>
          </a:prstGeom>
          <a:noFill/>
        </p:spPr>
        <p:txBody>
          <a:bodyPr wrap="square" lIns="0" rIns="0" tIns="0" bIns="0" anchor="ctr">
            <a:spAutoFit/>
          </a:bodyPr>
          <a:lstStyle/>
          <a:p>
            <a:pPr algn="l">
              <a:lnSpc>
                <a:spcPts val="1322"/>
              </a:lnSpc>
              <a:spcAft>
                <a:spcPts val="0"/>
              </a:spcAft>
            </a:pPr>
            <a:r>
              <a:rPr sz="1150" b="0" i="0">
                <a:solidFill>
                  <a:srgbClr val="141B2E"/>
                </a:solidFill>
                <a:latin typeface="Arial"/>
              </a:rPr>
              <a:t>the build failed, and the error pointed to a name that "does not exist"</a:t>
            </a:r>
          </a:p>
        </p:txBody>
      </p:sp>
      <p:sp>
        <p:nvSpPr>
          <p:cNvPr id="15" name="TextBox 14"/>
          <p:cNvSpPr txBox="1"/>
          <p:nvPr/>
        </p:nvSpPr>
        <p:spPr>
          <a:xfrm>
            <a:off x="6659505" y="2877883"/>
            <a:ext cx="4697342" cy="668464"/>
          </a:xfrm>
          <a:prstGeom prst="rect">
            <a:avLst/>
          </a:prstGeom>
          <a:noFill/>
        </p:spPr>
        <p:txBody>
          <a:bodyPr wrap="square" lIns="0" rIns="0" tIns="0" bIns="0" anchor="ctr">
            <a:spAutoFit/>
          </a:bodyPr>
          <a:lstStyle/>
          <a:p>
            <a:pPr algn="l">
              <a:lnSpc>
                <a:spcPts val="1322"/>
              </a:lnSpc>
              <a:spcAft>
                <a:spcPts val="0"/>
              </a:spcAft>
            </a:pPr>
            <a:r>
              <a:rPr sz="1150" b="0" i="0">
                <a:solidFill>
                  <a:srgbClr val="141B2E"/>
                </a:solidFill>
                <a:latin typeface="Arial"/>
              </a:rPr>
              <a:t>the declaration line was in the file; half a minute later the same build went through without a single edit by anybody</a:t>
            </a:r>
          </a:p>
        </p:txBody>
      </p:sp>
      <p:cxnSp>
        <p:nvCxnSpPr>
          <p:cNvPr id="16" name="Connector 15"/>
          <p:cNvCxnSpPr/>
          <p:nvPr/>
        </p:nvCxnSpPr>
        <p:spPr>
          <a:xfrm>
            <a:off x="685800" y="3546347"/>
            <a:ext cx="10817352" cy="0"/>
          </a:xfrm>
          <a:prstGeom prst="line">
            <a:avLst/>
          </a:prstGeom>
          <a:ln w="9525">
            <a:solidFill>
              <a:srgbClr val="E5EAF0"/>
            </a:solidFill>
          </a:ln>
        </p:spPr>
        <p:style>
          <a:lnRef idx="2">
            <a:schemeClr val="accent1"/>
          </a:lnRef>
          <a:fillRef idx="0">
            <a:schemeClr val="accent1"/>
          </a:fillRef>
          <a:effectRef idx="1">
            <a:schemeClr val="accent1"/>
          </a:effectRef>
          <a:fontRef idx="minor">
            <a:schemeClr val="tx1"/>
          </a:fontRef>
        </p:style>
      </p:cxnSp>
      <p:sp>
        <p:nvSpPr>
          <p:cNvPr id="17" name="TextBox 16"/>
          <p:cNvSpPr txBox="1"/>
          <p:nvPr/>
        </p:nvSpPr>
        <p:spPr>
          <a:xfrm>
            <a:off x="685800" y="3546347"/>
            <a:ext cx="3343435" cy="668464"/>
          </a:xfrm>
          <a:prstGeom prst="rect">
            <a:avLst/>
          </a:prstGeom>
          <a:noFill/>
        </p:spPr>
        <p:txBody>
          <a:bodyPr wrap="square" lIns="0" rIns="0" tIns="0" bIns="0" anchor="ctr">
            <a:spAutoFit/>
          </a:bodyPr>
          <a:lstStyle/>
          <a:p>
            <a:pPr algn="l">
              <a:lnSpc>
                <a:spcPts val="1322"/>
              </a:lnSpc>
              <a:spcAft>
                <a:spcPts val="0"/>
              </a:spcAft>
            </a:pPr>
            <a:r>
              <a:rPr sz="1150" b="0" i="0">
                <a:solidFill>
                  <a:srgbClr val="141B2E"/>
                </a:solidFill>
                <a:latin typeface="Arial"/>
              </a:rPr>
              <a:t>a lecture was being built in parallel with another in one working copy, with the branch switched from both sessions</a:t>
            </a:r>
          </a:p>
        </p:txBody>
      </p:sp>
      <p:sp>
        <p:nvSpPr>
          <p:cNvPr id="18" name="TextBox 17"/>
          <p:cNvSpPr txBox="1"/>
          <p:nvPr/>
        </p:nvSpPr>
        <p:spPr>
          <a:xfrm>
            <a:off x="4175539" y="3546347"/>
            <a:ext cx="2337662" cy="668464"/>
          </a:xfrm>
          <a:prstGeom prst="rect">
            <a:avLst/>
          </a:prstGeom>
          <a:noFill/>
        </p:spPr>
        <p:txBody>
          <a:bodyPr wrap="square" lIns="0" rIns="0" tIns="0" bIns="0" anchor="ctr">
            <a:spAutoFit/>
          </a:bodyPr>
          <a:lstStyle/>
          <a:p>
            <a:pPr algn="l">
              <a:lnSpc>
                <a:spcPts val="1322"/>
              </a:lnSpc>
              <a:spcAft>
                <a:spcPts val="0"/>
              </a:spcAft>
            </a:pPr>
            <a:r>
              <a:rPr sz="1150" b="0" i="0">
                <a:solidFill>
                  <a:srgbClr val="141B2E"/>
                </a:solidFill>
                <a:latin typeface="Arial"/>
              </a:rPr>
              <a:t>each session saw its own branch in place — at the moment it was looking</a:t>
            </a:r>
          </a:p>
        </p:txBody>
      </p:sp>
      <p:sp>
        <p:nvSpPr>
          <p:cNvPr id="19" name="TextBox 18"/>
          <p:cNvSpPr txBox="1"/>
          <p:nvPr/>
        </p:nvSpPr>
        <p:spPr>
          <a:xfrm>
            <a:off x="6659505" y="3546347"/>
            <a:ext cx="4697342" cy="668464"/>
          </a:xfrm>
          <a:prstGeom prst="rect">
            <a:avLst/>
          </a:prstGeom>
          <a:noFill/>
        </p:spPr>
        <p:txBody>
          <a:bodyPr wrap="square" lIns="0" rIns="0" tIns="0" bIns="0" anchor="ctr">
            <a:spAutoFit/>
          </a:bodyPr>
          <a:lstStyle/>
          <a:p>
            <a:pPr algn="l">
              <a:lnSpc>
                <a:spcPts val="1322"/>
              </a:lnSpc>
              <a:spcAft>
                <a:spcPts val="0"/>
              </a:spcAft>
            </a:pPr>
            <a:r>
              <a:rPr sz="1150" b="0" i="0">
                <a:solidFill>
                  <a:srgbClr val="141B2E"/>
                </a:solidFill>
                <a:latin typeface="Arial"/>
              </a:rPr>
              <a:t>more than seven branch switches in one session and about two hours spent recovering. After the move to separate copies — three, then four parallel builds without a single collision</a:t>
            </a:r>
          </a:p>
        </p:txBody>
      </p:sp>
      <p:sp>
        <p:nvSpPr>
          <p:cNvPr id="20" name="Rounded Rectangle 19"/>
          <p:cNvSpPr/>
          <p:nvPr/>
        </p:nvSpPr>
        <p:spPr>
          <a:xfrm>
            <a:off x="502920" y="4562284"/>
            <a:ext cx="82296" cy="668020"/>
          </a:xfrm>
          <a:prstGeom prst="roundRect">
            <a:avLst>
              <a:gd name="adj" fmla="val 50000"/>
            </a:avLst>
          </a:prstGeom>
          <a:solidFill>
            <a:srgbClr val="F0AB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59536" y="4690300"/>
            <a:ext cx="10643616" cy="411988"/>
          </a:xfrm>
          <a:prstGeom prst="rect">
            <a:avLst/>
          </a:prstGeom>
          <a:noFill/>
        </p:spPr>
        <p:txBody>
          <a:bodyPr wrap="square" lIns="0" rIns="0" tIns="0" bIns="0" anchor="ctr">
            <a:spAutoFit/>
          </a:bodyPr>
          <a:lstStyle/>
          <a:p>
            <a:pPr algn="l">
              <a:lnSpc>
                <a:spcPts val="1550"/>
              </a:lnSpc>
              <a:spcAft>
                <a:spcPts val="300"/>
              </a:spcAft>
            </a:pPr>
            <a:r>
              <a:rPr sz="1250" b="1" i="0">
                <a:solidFill>
                  <a:srgbClr val="141B2E"/>
                </a:solidFill>
                <a:latin typeface="Arial"/>
              </a:rPr>
              <a:t>The exit code, the page count, the freshness of the files — every familiar sign lined up, and not one session, taken separately, did anything wrong. The only thing that showed the truth was the result itself and the time of the edit.</a:t>
            </a:r>
          </a:p>
        </p:txBody>
      </p:sp>
      <p:sp>
        <p:nvSpPr>
          <p:cNvPr id="22" name="Rounded Rectangle 21"/>
          <p:cNvSpPr/>
          <p:nvPr/>
        </p:nvSpPr>
        <p:spPr>
          <a:xfrm>
            <a:off x="502920" y="5394896"/>
            <a:ext cx="11183112" cy="705779"/>
          </a:xfrm>
          <a:prstGeom prst="roundRect">
            <a:avLst>
              <a:gd name="adj" fmla="val 10000"/>
            </a:avLst>
          </a:prstGeom>
          <a:solidFill>
            <a:srgbClr val="FEF5E0"/>
          </a:solidFill>
          <a:ln w="19050">
            <a:solidFill>
              <a:srgbClr val="F0AB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22376" y="5522912"/>
            <a:ext cx="10634472" cy="449747"/>
          </a:xfrm>
          <a:prstGeom prst="rect">
            <a:avLst/>
          </a:prstGeom>
          <a:noFill/>
        </p:spPr>
        <p:txBody>
          <a:bodyPr wrap="square" lIns="0" rIns="0" tIns="0" bIns="0" anchor="ctr">
            <a:spAutoFit/>
          </a:bodyPr>
          <a:lstStyle/>
          <a:p>
            <a:pPr algn="ctr">
              <a:lnSpc>
                <a:spcPts val="1586"/>
              </a:lnSpc>
              <a:spcAft>
                <a:spcPts val="300"/>
              </a:spcAft>
            </a:pPr>
            <a:r>
              <a:rPr sz="1300" b="1" i="0">
                <a:solidFill>
                  <a:srgbClr val="141B2E"/>
                </a:solidFill>
                <a:latin typeface="Consolas"/>
              </a:rPr>
              <a:t>git</a:t>
            </a:r>
            <a:r>
              <a:rPr sz="1300" b="1" i="0">
                <a:solidFill>
                  <a:srgbClr val="141B2E"/>
                </a:solidFill>
                <a:latin typeface="Arial"/>
              </a:rPr>
              <a:t> </a:t>
            </a:r>
            <a:r>
              <a:rPr sz="1300" b="1" i="0">
                <a:solidFill>
                  <a:srgbClr val="141B2E"/>
                </a:solidFill>
                <a:latin typeface="Consolas"/>
              </a:rPr>
              <a:t>worktree</a:t>
            </a:r>
            <a:r>
              <a:rPr sz="1300" b="1" i="0">
                <a:solidFill>
                  <a:srgbClr val="141B2E"/>
                </a:solidFill>
                <a:latin typeface="Arial"/>
              </a:rPr>
              <a:t> </a:t>
            </a:r>
            <a:r>
              <a:rPr sz="1300" b="1" i="0">
                <a:solidFill>
                  <a:srgbClr val="141B2E"/>
                </a:solidFill>
                <a:latin typeface="Consolas"/>
              </a:rPr>
              <a:t>list</a:t>
            </a:r>
            <a:r>
              <a:rPr sz="1300" b="1" i="0">
                <a:solidFill>
                  <a:srgbClr val="141B2E"/>
                </a:solidFill>
                <a:latin typeface="Arial"/>
              </a:rPr>
              <a:t> — on your own machine: do you have even one separate copy, and how many sessions are standing on one directory right now?</a:t>
            </a:r>
          </a:p>
        </p:txBody>
      </p:sp>
      <p:sp>
        <p:nvSpPr>
          <p:cNvPr id="24" name="TextBox 23"/>
          <p:cNvSpPr txBox="1"/>
          <p:nvPr/>
        </p:nvSpPr>
        <p:spPr>
          <a:xfrm>
            <a:off x="10957255" y="6437376"/>
            <a:ext cx="914400" cy="274320"/>
          </a:xfrm>
          <a:prstGeom prst="rect">
            <a:avLst/>
          </a:prstGeom>
          <a:noFill/>
        </p:spPr>
        <p:txBody>
          <a:bodyPr wrap="square" lIns="0" rIns="0" tIns="0" bIns="0" anchor="t">
            <a:spAutoFit/>
          </a:bodyPr>
          <a:lstStyle/>
          <a:p>
            <a:pPr algn="r">
              <a:lnSpc>
                <a:spcPts val="1238"/>
              </a:lnSpc>
              <a:spcAft>
                <a:spcPts val="0"/>
              </a:spcAft>
            </a:pPr>
            <a:r>
              <a:rPr sz="1050" b="0" i="0">
                <a:solidFill>
                  <a:srgbClr val="6B7685"/>
                </a:solidFill>
                <a:latin typeface="Arial"/>
              </a:rPr>
              <a:t>58</a:t>
            </a:r>
          </a:p>
        </p:txBody>
      </p:sp>
    </p:spTree>
  </p:cSld>
  <p:clrMapOvr>
    <a:masterClrMapping/>
  </p:clrMapOvr>
</p:sld>
</file>

<file path=ppt/slides/slide5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02920" y="310896"/>
            <a:ext cx="11183112" cy="431291"/>
          </a:xfrm>
          <a:prstGeom prst="rect">
            <a:avLst/>
          </a:prstGeom>
          <a:noFill/>
        </p:spPr>
        <p:txBody>
          <a:bodyPr wrap="square" lIns="0" rIns="0" tIns="0" bIns="0" anchor="t">
            <a:spAutoFit/>
          </a:bodyPr>
          <a:lstStyle/>
          <a:p>
            <a:pPr algn="l">
              <a:lnSpc>
                <a:spcPts val="2963"/>
              </a:lnSpc>
              <a:spcAft>
                <a:spcPts val="0"/>
              </a:spcAft>
            </a:pPr>
            <a:r>
              <a:rPr sz="2600" b="1" i="0">
                <a:solidFill>
                  <a:srgbClr val="141B2E"/>
                </a:solidFill>
                <a:latin typeface="Arial"/>
              </a:rPr>
              <a:t>Why a copy is given to a subagent rarely</a:t>
            </a:r>
          </a:p>
        </p:txBody>
      </p:sp>
      <p:sp>
        <p:nvSpPr>
          <p:cNvPr id="3" name="Rounded Rectangle 2"/>
          <p:cNvSpPr/>
          <p:nvPr/>
        </p:nvSpPr>
        <p:spPr>
          <a:xfrm>
            <a:off x="502920" y="943356"/>
            <a:ext cx="82296" cy="731012"/>
          </a:xfrm>
          <a:prstGeom prst="roundRect">
            <a:avLst>
              <a:gd name="adj" fmla="val 50000"/>
            </a:avLst>
          </a:prstGeom>
          <a:solidFill>
            <a:srgbClr val="F0AB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59536" y="1071372"/>
            <a:ext cx="10643616" cy="474979"/>
          </a:xfrm>
          <a:prstGeom prst="rect">
            <a:avLst/>
          </a:prstGeom>
          <a:noFill/>
        </p:spPr>
        <p:txBody>
          <a:bodyPr wrap="square" lIns="0" rIns="0" tIns="0" bIns="0" anchor="ctr">
            <a:spAutoFit/>
          </a:bodyPr>
          <a:lstStyle/>
          <a:p>
            <a:pPr algn="l">
              <a:lnSpc>
                <a:spcPts val="1798"/>
              </a:lnSpc>
              <a:spcAft>
                <a:spcPts val="300"/>
              </a:spcAft>
            </a:pPr>
            <a:r>
              <a:rPr sz="1450" b="1" i="0">
                <a:solidFill>
                  <a:srgbClr val="141B2E"/>
                </a:solidFill>
                <a:latin typeface="Arial"/>
              </a:rPr>
              <a:t>A copy can be given to a subagent: one line in its description — and the subagent works in a temporary copy of the repository; it is cleaned up by itself if the subagent changed nothing. The field exists; it is switched on rarely.</a:t>
            </a:r>
          </a:p>
        </p:txBody>
      </p:sp>
      <p:sp>
        <p:nvSpPr>
          <p:cNvPr id="5" name="Rounded Rectangle 4"/>
          <p:cNvSpPr/>
          <p:nvPr/>
        </p:nvSpPr>
        <p:spPr>
          <a:xfrm>
            <a:off x="502920" y="1838960"/>
            <a:ext cx="82296" cy="888492"/>
          </a:xfrm>
          <a:prstGeom prst="roundRect">
            <a:avLst>
              <a:gd name="adj" fmla="val 50000"/>
            </a:avLst>
          </a:prstGeom>
          <a:solidFill>
            <a:srgbClr val="F0AB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59536" y="1966976"/>
            <a:ext cx="10643616" cy="632460"/>
          </a:xfrm>
          <a:prstGeom prst="rect">
            <a:avLst/>
          </a:prstGeom>
          <a:noFill/>
        </p:spPr>
        <p:txBody>
          <a:bodyPr wrap="square" lIns="0" rIns="0" tIns="0" bIns="0" anchor="ctr">
            <a:spAutoFit/>
          </a:bodyPr>
          <a:lstStyle/>
          <a:p>
            <a:pPr algn="l">
              <a:lnSpc>
                <a:spcPts val="1612"/>
              </a:lnSpc>
              <a:spcAft>
                <a:spcPts val="300"/>
              </a:spcAft>
            </a:pPr>
            <a:r>
              <a:rPr sz="1300" b="1" i="0">
                <a:solidFill>
                  <a:srgbClr val="141B2E"/>
                </a:solidFill>
                <a:latin typeface="Arial"/>
              </a:rPr>
              <a:t>Isolating a subagent is a choice made to fit the work. Where its edit is normal to accept as a branch, a copy pays off; where the subagent is editing what you began, a copy cuts the subagent off from the work. Teammates in an agent team are not given copies at all, and the prescription for them is the same: divide the work up by files.</a:t>
            </a:r>
          </a:p>
        </p:txBody>
      </p:sp>
      <p:sp>
        <p:nvSpPr>
          <p:cNvPr id="7" name="Rounded Rectangle 6"/>
          <p:cNvSpPr/>
          <p:nvPr/>
        </p:nvSpPr>
        <p:spPr>
          <a:xfrm>
            <a:off x="502920" y="2892043"/>
            <a:ext cx="5454396" cy="1642744"/>
          </a:xfrm>
          <a:prstGeom prst="roundRect">
            <a:avLst>
              <a:gd name="adj" fmla="val 18554"/>
            </a:avLst>
          </a:prstGeom>
          <a:solidFill>
            <a:srgbClr val="F4F7FA"/>
          </a:solidFill>
          <a:ln w="15240">
            <a:solidFill>
              <a:srgbClr val="E5EA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85800" y="3001772"/>
            <a:ext cx="5088636" cy="274320"/>
          </a:xfrm>
          <a:prstGeom prst="rect">
            <a:avLst/>
          </a:prstGeom>
          <a:noFill/>
        </p:spPr>
        <p:txBody>
          <a:bodyPr wrap="square" lIns="0" rIns="0" tIns="0" bIns="0" anchor="t">
            <a:spAutoFit/>
          </a:bodyPr>
          <a:lstStyle/>
          <a:p>
            <a:pPr algn="l">
              <a:lnSpc>
                <a:spcPts val="1297"/>
              </a:lnSpc>
              <a:spcAft>
                <a:spcPts val="0"/>
              </a:spcAft>
            </a:pPr>
            <a:r>
              <a:rPr sz="1100" b="1" i="0">
                <a:solidFill>
                  <a:srgbClr val="6B7685"/>
                </a:solidFill>
                <a:latin typeface="Arial"/>
              </a:rPr>
              <a:t>A COPY IS GIVEN TO A SUBAGENT</a:t>
            </a:r>
          </a:p>
        </p:txBody>
      </p:sp>
      <p:sp>
        <p:nvSpPr>
          <p:cNvPr id="9" name="TextBox 8"/>
          <p:cNvSpPr txBox="1"/>
          <p:nvPr/>
        </p:nvSpPr>
        <p:spPr>
          <a:xfrm>
            <a:off x="685800" y="3276091"/>
            <a:ext cx="5088636" cy="401065"/>
          </a:xfrm>
          <a:prstGeom prst="rect">
            <a:avLst/>
          </a:prstGeom>
          <a:noFill/>
        </p:spPr>
        <p:txBody>
          <a:bodyPr wrap="square" lIns="0" rIns="0" tIns="0" bIns="0" anchor="ctr">
            <a:spAutoFit/>
          </a:bodyPr>
          <a:lstStyle/>
          <a:p>
            <a:pPr algn="l">
              <a:lnSpc>
                <a:spcPts val="1002"/>
              </a:lnSpc>
              <a:spcAft>
                <a:spcPts val="0"/>
              </a:spcAft>
            </a:pPr>
            <a:r>
              <a:rPr sz="850" b="0" i="0">
                <a:solidFill>
                  <a:srgbClr val="141B2E"/>
                </a:solidFill>
                <a:latin typeface="Arial"/>
              </a:rPr>
              <a:t>the subagent's work is a whole change that it is normal to accept as a branch: a mechanical pass across many files</a:t>
            </a:r>
          </a:p>
        </p:txBody>
      </p:sp>
      <p:cxnSp>
        <p:nvCxnSpPr>
          <p:cNvPr id="10" name="Connector 9"/>
          <p:cNvCxnSpPr/>
          <p:nvPr/>
        </p:nvCxnSpPr>
        <p:spPr>
          <a:xfrm>
            <a:off x="685800" y="3677158"/>
            <a:ext cx="5088636" cy="0"/>
          </a:xfrm>
          <a:prstGeom prst="line">
            <a:avLst/>
          </a:prstGeom>
          <a:ln w="9525">
            <a:solidFill>
              <a:srgbClr val="E5EAF0"/>
            </a:solidFill>
          </a:ln>
        </p:spPr>
        <p:style>
          <a:lnRef idx="2">
            <a:schemeClr val="accent1"/>
          </a:lnRef>
          <a:fillRef idx="0">
            <a:schemeClr val="accent1"/>
          </a:fillRef>
          <a:effectRef idx="1">
            <a:schemeClr val="accent1"/>
          </a:effectRef>
          <a:fontRef idx="minor">
            <a:schemeClr val="tx1"/>
          </a:fontRef>
        </p:style>
      </p:cxnSp>
      <p:sp>
        <p:nvSpPr>
          <p:cNvPr id="11" name="TextBox 10"/>
          <p:cNvSpPr txBox="1"/>
          <p:nvPr/>
        </p:nvSpPr>
        <p:spPr>
          <a:xfrm>
            <a:off x="685800" y="3677158"/>
            <a:ext cx="5088636" cy="273685"/>
          </a:xfrm>
          <a:prstGeom prst="rect">
            <a:avLst/>
          </a:prstGeom>
          <a:noFill/>
        </p:spPr>
        <p:txBody>
          <a:bodyPr wrap="square" lIns="0" rIns="0" tIns="0" bIns="0" anchor="ctr">
            <a:spAutoFit/>
          </a:bodyPr>
          <a:lstStyle/>
          <a:p>
            <a:pPr algn="l">
              <a:lnSpc>
                <a:spcPts val="1002"/>
              </a:lnSpc>
              <a:spcAft>
                <a:spcPts val="0"/>
              </a:spcAft>
            </a:pPr>
            <a:r>
              <a:rPr sz="850" b="0" i="0">
                <a:solidFill>
                  <a:srgbClr val="141B2E"/>
                </a:solidFill>
                <a:latin typeface="Arial"/>
              </a:rPr>
              <a:t>there are many changes, and it is more convenient to check them apart from your own edit</a:t>
            </a:r>
          </a:p>
        </p:txBody>
      </p:sp>
      <p:cxnSp>
        <p:nvCxnSpPr>
          <p:cNvPr id="12" name="Connector 11"/>
          <p:cNvCxnSpPr/>
          <p:nvPr/>
        </p:nvCxnSpPr>
        <p:spPr>
          <a:xfrm>
            <a:off x="685800" y="3950843"/>
            <a:ext cx="5088636" cy="0"/>
          </a:xfrm>
          <a:prstGeom prst="line">
            <a:avLst/>
          </a:prstGeom>
          <a:ln w="9525">
            <a:solidFill>
              <a:srgbClr val="E5EAF0"/>
            </a:solidFill>
          </a:ln>
        </p:spPr>
        <p:style>
          <a:lnRef idx="2">
            <a:schemeClr val="accent1"/>
          </a:lnRef>
          <a:fillRef idx="0">
            <a:schemeClr val="accent1"/>
          </a:fillRef>
          <a:effectRef idx="1">
            <a:schemeClr val="accent1"/>
          </a:effectRef>
          <a:fontRef idx="minor">
            <a:schemeClr val="tx1"/>
          </a:fontRef>
        </p:style>
      </p:cxnSp>
      <p:sp>
        <p:nvSpPr>
          <p:cNvPr id="13" name="TextBox 12"/>
          <p:cNvSpPr txBox="1"/>
          <p:nvPr/>
        </p:nvSpPr>
        <p:spPr>
          <a:xfrm>
            <a:off x="685800" y="3950843"/>
            <a:ext cx="5088636" cy="401065"/>
          </a:xfrm>
          <a:prstGeom prst="rect">
            <a:avLst/>
          </a:prstGeom>
          <a:noFill/>
        </p:spPr>
        <p:txBody>
          <a:bodyPr wrap="square" lIns="0" rIns="0" tIns="0" bIns="0" anchor="ctr">
            <a:spAutoFit/>
          </a:bodyPr>
          <a:lstStyle/>
          <a:p>
            <a:pPr algn="l">
              <a:lnSpc>
                <a:spcPts val="1002"/>
              </a:lnSpc>
              <a:spcAft>
                <a:spcPts val="0"/>
              </a:spcAft>
            </a:pPr>
            <a:r>
              <a:rPr sz="850" b="0" i="0">
                <a:solidFill>
                  <a:srgbClr val="141B2E"/>
                </a:solidFill>
                <a:latin typeface="Arial"/>
              </a:rPr>
              <a:t>an off-the-shelf technique divides one large change among dozens of isolated subagents at once</a:t>
            </a:r>
          </a:p>
        </p:txBody>
      </p:sp>
      <p:sp>
        <p:nvSpPr>
          <p:cNvPr id="14" name="Rounded Rectangle 13"/>
          <p:cNvSpPr/>
          <p:nvPr/>
        </p:nvSpPr>
        <p:spPr>
          <a:xfrm>
            <a:off x="6231636" y="2892043"/>
            <a:ext cx="5454396" cy="1642744"/>
          </a:xfrm>
          <a:prstGeom prst="roundRect">
            <a:avLst>
              <a:gd name="adj" fmla="val 18554"/>
            </a:avLst>
          </a:prstGeom>
          <a:solidFill>
            <a:srgbClr val="F4F7FA"/>
          </a:solidFill>
          <a:ln w="15240">
            <a:solidFill>
              <a:srgbClr val="E5EA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14516" y="3001772"/>
            <a:ext cx="5088636" cy="274320"/>
          </a:xfrm>
          <a:prstGeom prst="rect">
            <a:avLst/>
          </a:prstGeom>
          <a:noFill/>
        </p:spPr>
        <p:txBody>
          <a:bodyPr wrap="square" lIns="0" rIns="0" tIns="0" bIns="0" anchor="t">
            <a:spAutoFit/>
          </a:bodyPr>
          <a:lstStyle/>
          <a:p>
            <a:pPr algn="l">
              <a:lnSpc>
                <a:spcPts val="1297"/>
              </a:lnSpc>
              <a:spcAft>
                <a:spcPts val="0"/>
              </a:spcAft>
            </a:pPr>
            <a:r>
              <a:rPr sz="1100" b="1" i="0">
                <a:solidFill>
                  <a:srgbClr val="8A6200"/>
                </a:solidFill>
                <a:latin typeface="Arial"/>
              </a:rPr>
              <a:t>A COPY IS NOT GIVEN TO A SUBAGENT</a:t>
            </a:r>
          </a:p>
        </p:txBody>
      </p:sp>
      <p:sp>
        <p:nvSpPr>
          <p:cNvPr id="16" name="TextBox 15"/>
          <p:cNvSpPr txBox="1"/>
          <p:nvPr/>
        </p:nvSpPr>
        <p:spPr>
          <a:xfrm>
            <a:off x="6414516" y="3276091"/>
            <a:ext cx="5088636" cy="401065"/>
          </a:xfrm>
          <a:prstGeom prst="rect">
            <a:avLst/>
          </a:prstGeom>
          <a:noFill/>
        </p:spPr>
        <p:txBody>
          <a:bodyPr wrap="square" lIns="0" rIns="0" tIns="0" bIns="0" anchor="ctr">
            <a:spAutoFit/>
          </a:bodyPr>
          <a:lstStyle/>
          <a:p>
            <a:pPr algn="l">
              <a:lnSpc>
                <a:spcPts val="1002"/>
              </a:lnSpc>
              <a:spcAft>
                <a:spcPts val="0"/>
              </a:spcAft>
            </a:pPr>
            <a:r>
              <a:rPr sz="850" b="0" i="0">
                <a:solidFill>
                  <a:srgbClr val="141B2E"/>
                </a:solidFill>
                <a:latin typeface="Arial"/>
              </a:rPr>
              <a:t>the subagent is working on what you began in your own directory: a separate copy will cut it off from that work</a:t>
            </a:r>
          </a:p>
        </p:txBody>
      </p:sp>
      <p:cxnSp>
        <p:nvCxnSpPr>
          <p:cNvPr id="17" name="Connector 16"/>
          <p:cNvCxnSpPr/>
          <p:nvPr/>
        </p:nvCxnSpPr>
        <p:spPr>
          <a:xfrm>
            <a:off x="6414516" y="3677158"/>
            <a:ext cx="5088636" cy="0"/>
          </a:xfrm>
          <a:prstGeom prst="line">
            <a:avLst/>
          </a:prstGeom>
          <a:ln w="9525">
            <a:solidFill>
              <a:srgbClr val="E5EAF0"/>
            </a:solidFill>
          </a:ln>
        </p:spPr>
        <p:style>
          <a:lnRef idx="2">
            <a:schemeClr val="accent1"/>
          </a:lnRef>
          <a:fillRef idx="0">
            <a:schemeClr val="accent1"/>
          </a:fillRef>
          <a:effectRef idx="1">
            <a:schemeClr val="accent1"/>
          </a:effectRef>
          <a:fontRef idx="minor">
            <a:schemeClr val="tx1"/>
          </a:fontRef>
        </p:style>
      </p:cxnSp>
      <p:sp>
        <p:nvSpPr>
          <p:cNvPr id="18" name="TextBox 17"/>
          <p:cNvSpPr txBox="1"/>
          <p:nvPr/>
        </p:nvSpPr>
        <p:spPr>
          <a:xfrm>
            <a:off x="6414516" y="3677158"/>
            <a:ext cx="5088636" cy="401065"/>
          </a:xfrm>
          <a:prstGeom prst="rect">
            <a:avLst/>
          </a:prstGeom>
          <a:noFill/>
        </p:spPr>
        <p:txBody>
          <a:bodyPr wrap="square" lIns="0" rIns="0" tIns="0" bIns="0" anchor="ctr">
            <a:spAutoFit/>
          </a:bodyPr>
          <a:lstStyle/>
          <a:p>
            <a:pPr algn="l">
              <a:lnSpc>
                <a:spcPts val="1002"/>
              </a:lnSpc>
              <a:spcAft>
                <a:spcPts val="0"/>
              </a:spcAft>
            </a:pPr>
            <a:r>
              <a:rPr sz="850" b="0" i="0">
                <a:solidFill>
                  <a:srgbClr val="141B2E"/>
                </a:solidFill>
                <a:latin typeface="Arial"/>
              </a:rPr>
              <a:t>the edit is short and needed right here — bringing up a copy's working environment costs more than the edit itself</a:t>
            </a:r>
          </a:p>
        </p:txBody>
      </p:sp>
      <p:cxnSp>
        <p:nvCxnSpPr>
          <p:cNvPr id="19" name="Connector 18"/>
          <p:cNvCxnSpPr/>
          <p:nvPr/>
        </p:nvCxnSpPr>
        <p:spPr>
          <a:xfrm>
            <a:off x="6414516" y="4078224"/>
            <a:ext cx="5088636" cy="0"/>
          </a:xfrm>
          <a:prstGeom prst="line">
            <a:avLst/>
          </a:prstGeom>
          <a:ln w="9525">
            <a:solidFill>
              <a:srgbClr val="E5EAF0"/>
            </a:solidFill>
          </a:ln>
        </p:spPr>
        <p:style>
          <a:lnRef idx="2">
            <a:schemeClr val="accent1"/>
          </a:lnRef>
          <a:fillRef idx="0">
            <a:schemeClr val="accent1"/>
          </a:fillRef>
          <a:effectRef idx="1">
            <a:schemeClr val="accent1"/>
          </a:effectRef>
          <a:fontRef idx="minor">
            <a:schemeClr val="tx1"/>
          </a:fontRef>
        </p:style>
      </p:cxnSp>
      <p:sp>
        <p:nvSpPr>
          <p:cNvPr id="20" name="TextBox 19"/>
          <p:cNvSpPr txBox="1"/>
          <p:nvPr/>
        </p:nvSpPr>
        <p:spPr>
          <a:xfrm>
            <a:off x="6414516" y="4078224"/>
            <a:ext cx="5088636" cy="273685"/>
          </a:xfrm>
          <a:prstGeom prst="rect">
            <a:avLst/>
          </a:prstGeom>
          <a:noFill/>
        </p:spPr>
        <p:txBody>
          <a:bodyPr wrap="square" lIns="0" rIns="0" tIns="0" bIns="0" anchor="ctr">
            <a:spAutoFit/>
          </a:bodyPr>
          <a:lstStyle/>
          <a:p>
            <a:pPr algn="l">
              <a:lnSpc>
                <a:spcPts val="1002"/>
              </a:lnSpc>
              <a:spcAft>
                <a:spcPts val="0"/>
              </a:spcAft>
            </a:pPr>
            <a:r>
              <a:rPr sz="850" b="0" i="0">
                <a:solidFill>
                  <a:srgbClr val="141B2E"/>
                </a:solidFill>
                <a:latin typeface="Arial"/>
              </a:rPr>
              <a:t>the subagent reads and comes back with a result: it has nothing to collide with</a:t>
            </a:r>
          </a:p>
        </p:txBody>
      </p:sp>
      <p:sp>
        <p:nvSpPr>
          <p:cNvPr id="21" name="Rounded Rectangle 20"/>
          <p:cNvSpPr/>
          <p:nvPr/>
        </p:nvSpPr>
        <p:spPr>
          <a:xfrm>
            <a:off x="502920" y="4699380"/>
            <a:ext cx="11183112" cy="1572260"/>
          </a:xfrm>
          <a:prstGeom prst="roundRect">
            <a:avLst>
              <a:gd name="adj" fmla="val 19386"/>
            </a:avLst>
          </a:prstGeom>
          <a:solidFill>
            <a:srgbClr val="F4F7FA"/>
          </a:solidFill>
          <a:ln w="15240">
            <a:solidFill>
              <a:srgbClr val="E5EA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ounded Rectangle 21"/>
          <p:cNvSpPr/>
          <p:nvPr/>
        </p:nvSpPr>
        <p:spPr>
          <a:xfrm>
            <a:off x="758952" y="5082413"/>
            <a:ext cx="100584" cy="100584"/>
          </a:xfrm>
          <a:prstGeom prst="roundRect">
            <a:avLst>
              <a:gd name="adj" fmla="val 50000"/>
            </a:avLst>
          </a:prstGeom>
          <a:solidFill>
            <a:srgbClr val="0280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1106424" y="4918836"/>
            <a:ext cx="10360152" cy="427735"/>
          </a:xfrm>
          <a:prstGeom prst="rect">
            <a:avLst/>
          </a:prstGeom>
          <a:noFill/>
        </p:spPr>
        <p:txBody>
          <a:bodyPr wrap="square" lIns="0" rIns="0" tIns="0" bIns="0" anchor="ctr">
            <a:spAutoFit/>
          </a:bodyPr>
          <a:lstStyle/>
          <a:p>
            <a:pPr algn="l">
              <a:lnSpc>
                <a:spcPts val="1180"/>
              </a:lnSpc>
              <a:spcAft>
                <a:spcPts val="0"/>
              </a:spcAft>
            </a:pPr>
            <a:r>
              <a:rPr sz="1000" b="1" i="0">
                <a:solidFill>
                  <a:srgbClr val="141B2E"/>
                </a:solidFill>
                <a:latin typeface="Arial"/>
              </a:rPr>
              <a:t>The first cost — the branch.</a:t>
            </a:r>
            <a:r>
              <a:rPr sz="1000" b="0" i="0">
                <a:solidFill>
                  <a:srgbClr val="141B2E"/>
                </a:solidFill>
                <a:latin typeface="Arial"/>
              </a:rPr>
              <a:t> A subagent's copy grows off the repository's default branch, until a separate setting is changed. The work you began in your own directory, an isolated subagent simply does not see.</a:t>
            </a:r>
          </a:p>
        </p:txBody>
      </p:sp>
      <p:sp>
        <p:nvSpPr>
          <p:cNvPr id="24" name="Rounded Rectangle 23"/>
          <p:cNvSpPr/>
          <p:nvPr/>
        </p:nvSpPr>
        <p:spPr>
          <a:xfrm>
            <a:off x="758952" y="5510149"/>
            <a:ext cx="100584" cy="100584"/>
          </a:xfrm>
          <a:prstGeom prst="roundRect">
            <a:avLst>
              <a:gd name="adj" fmla="val 50000"/>
            </a:avLst>
          </a:prstGeom>
          <a:solidFill>
            <a:srgbClr val="0280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1106424" y="5346573"/>
            <a:ext cx="10360152" cy="427735"/>
          </a:xfrm>
          <a:prstGeom prst="rect">
            <a:avLst/>
          </a:prstGeom>
          <a:noFill/>
        </p:spPr>
        <p:txBody>
          <a:bodyPr wrap="square" lIns="0" rIns="0" tIns="0" bIns="0" anchor="ctr">
            <a:spAutoFit/>
          </a:bodyPr>
          <a:lstStyle/>
          <a:p>
            <a:pPr algn="l">
              <a:lnSpc>
                <a:spcPts val="1180"/>
              </a:lnSpc>
              <a:spcAft>
                <a:spcPts val="0"/>
              </a:spcAft>
            </a:pPr>
            <a:r>
              <a:rPr sz="1000" b="1" i="0">
                <a:solidFill>
                  <a:srgbClr val="141B2E"/>
                </a:solidFill>
                <a:latin typeface="Arial"/>
              </a:rPr>
              <a:t>The second cost — the return journey.</a:t>
            </a:r>
            <a:r>
              <a:rPr sz="1000" b="0" i="0">
                <a:solidFill>
                  <a:srgbClr val="141B2E"/>
                </a:solidFill>
                <a:latin typeface="Arial"/>
              </a:rPr>
              <a:t> A subagent's channel back is a single one: the final text. File edits stay in its directory, on its branch, and bringing them into your work falls to you.</a:t>
            </a:r>
          </a:p>
        </p:txBody>
      </p:sp>
      <p:sp>
        <p:nvSpPr>
          <p:cNvPr id="26" name="Rounded Rectangle 25"/>
          <p:cNvSpPr/>
          <p:nvPr/>
        </p:nvSpPr>
        <p:spPr>
          <a:xfrm>
            <a:off x="758952" y="5862955"/>
            <a:ext cx="100584" cy="100584"/>
          </a:xfrm>
          <a:prstGeom prst="roundRect">
            <a:avLst>
              <a:gd name="adj" fmla="val 50000"/>
            </a:avLst>
          </a:prstGeom>
          <a:solidFill>
            <a:srgbClr val="0280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1106424" y="5774309"/>
            <a:ext cx="10360152" cy="277876"/>
          </a:xfrm>
          <a:prstGeom prst="rect">
            <a:avLst/>
          </a:prstGeom>
          <a:noFill/>
        </p:spPr>
        <p:txBody>
          <a:bodyPr wrap="square" lIns="0" rIns="0" tIns="0" bIns="0" anchor="ctr">
            <a:spAutoFit/>
          </a:bodyPr>
          <a:lstStyle/>
          <a:p>
            <a:pPr algn="l">
              <a:lnSpc>
                <a:spcPts val="1180"/>
              </a:lnSpc>
              <a:spcAft>
                <a:spcPts val="0"/>
              </a:spcAft>
            </a:pPr>
            <a:r>
              <a:rPr sz="1000" b="1" i="0">
                <a:solidFill>
                  <a:srgbClr val="141B2E"/>
                </a:solidFill>
                <a:latin typeface="Arial"/>
              </a:rPr>
              <a:t>The third cost — the working environment.</a:t>
            </a:r>
            <a:r>
              <a:rPr sz="1000" b="0" i="0">
                <a:solidFill>
                  <a:srgbClr val="141B2E"/>
                </a:solidFill>
                <a:latin typeface="Arial"/>
              </a:rPr>
              <a:t> In a copy that too is its own: dependencies and local files a subagent gets in whatever form they were put there.</a:t>
            </a:r>
          </a:p>
        </p:txBody>
      </p:sp>
      <p:sp>
        <p:nvSpPr>
          <p:cNvPr id="28" name="TextBox 27"/>
          <p:cNvSpPr txBox="1"/>
          <p:nvPr/>
        </p:nvSpPr>
        <p:spPr>
          <a:xfrm>
            <a:off x="10957255" y="6437376"/>
            <a:ext cx="914400" cy="274320"/>
          </a:xfrm>
          <a:prstGeom prst="rect">
            <a:avLst/>
          </a:prstGeom>
          <a:noFill/>
        </p:spPr>
        <p:txBody>
          <a:bodyPr wrap="square" lIns="0" rIns="0" tIns="0" bIns="0" anchor="t">
            <a:spAutoFit/>
          </a:bodyPr>
          <a:lstStyle/>
          <a:p>
            <a:pPr algn="r">
              <a:lnSpc>
                <a:spcPts val="1238"/>
              </a:lnSpc>
              <a:spcAft>
                <a:spcPts val="0"/>
              </a:spcAft>
            </a:pPr>
            <a:r>
              <a:rPr sz="1050" b="0" i="0">
                <a:solidFill>
                  <a:srgbClr val="6B7685"/>
                </a:solidFill>
                <a:latin typeface="Arial"/>
              </a:rPr>
              <a:t>59</a:t>
            </a:r>
          </a:p>
        </p:txBody>
      </p:sp>
    </p:spTree>
  </p:cSld>
  <p:clrMapOvr>
    <a:masterClrMapping/>
  </p:clrMapOvr>
</p:sld>
</file>

<file path=ppt/slides/slide6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02920" y="310896"/>
            <a:ext cx="11183112" cy="431291"/>
          </a:xfrm>
          <a:prstGeom prst="rect">
            <a:avLst/>
          </a:prstGeom>
          <a:noFill/>
        </p:spPr>
        <p:txBody>
          <a:bodyPr wrap="square" lIns="0" rIns="0" tIns="0" bIns="0" anchor="t">
            <a:spAutoFit/>
          </a:bodyPr>
          <a:lstStyle/>
          <a:p>
            <a:pPr algn="l">
              <a:lnSpc>
                <a:spcPts val="2963"/>
              </a:lnSpc>
              <a:spcAft>
                <a:spcPts val="0"/>
              </a:spcAft>
            </a:pPr>
            <a:r>
              <a:rPr sz="2600" b="1" i="0">
                <a:solidFill>
                  <a:srgbClr val="141B2E"/>
                </a:solidFill>
                <a:latin typeface="Arial"/>
              </a:rPr>
              <a:t>Where the boundary runs for you</a:t>
            </a:r>
          </a:p>
        </p:txBody>
      </p:sp>
      <p:sp>
        <p:nvSpPr>
          <p:cNvPr id="3" name="Rounded Rectangle 2"/>
          <p:cNvSpPr/>
          <p:nvPr/>
        </p:nvSpPr>
        <p:spPr>
          <a:xfrm>
            <a:off x="502920" y="1092708"/>
            <a:ext cx="11183112" cy="678942"/>
          </a:xfrm>
          <a:prstGeom prst="roundRect">
            <a:avLst>
              <a:gd name="adj" fmla="val 25000"/>
            </a:avLst>
          </a:prstGeom>
          <a:solidFill>
            <a:srgbClr val="E0F1F2"/>
          </a:solidFill>
          <a:ln w="13970">
            <a:solidFill>
              <a:srgbClr val="02809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521208" y="1147572"/>
            <a:ext cx="64008" cy="569214"/>
          </a:xfrm>
          <a:prstGeom prst="roundRect">
            <a:avLst>
              <a:gd name="adj" fmla="val 50000"/>
            </a:avLst>
          </a:prstGeom>
          <a:solidFill>
            <a:srgbClr val="0280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04672" y="1229868"/>
            <a:ext cx="10643616" cy="404621"/>
          </a:xfrm>
          <a:prstGeom prst="rect">
            <a:avLst/>
          </a:prstGeom>
          <a:noFill/>
        </p:spPr>
        <p:txBody>
          <a:bodyPr wrap="square" lIns="0" rIns="0" tIns="0" bIns="0" anchor="ctr">
            <a:spAutoFit/>
          </a:bodyPr>
          <a:lstStyle/>
          <a:p>
            <a:pPr algn="l">
              <a:lnSpc>
                <a:spcPts val="1593"/>
              </a:lnSpc>
              <a:spcAft>
                <a:spcPts val="300"/>
              </a:spcAft>
            </a:pPr>
            <a:r>
              <a:rPr sz="1350" b="0" i="0">
                <a:solidFill>
                  <a:srgbClr val="141B2E"/>
                </a:solidFill>
                <a:latin typeface="Arial"/>
              </a:rPr>
              <a:t>A copy divides sessions, zones divide the workers inside a session. Where one ends and the other begins is a matter for each team.</a:t>
            </a:r>
          </a:p>
        </p:txBody>
      </p:sp>
      <p:sp>
        <p:nvSpPr>
          <p:cNvPr id="6" name="Rectangle 5"/>
          <p:cNvSpPr/>
          <p:nvPr/>
        </p:nvSpPr>
        <p:spPr>
          <a:xfrm>
            <a:off x="502920" y="2346198"/>
            <a:ext cx="32004" cy="317754"/>
          </a:xfrm>
          <a:prstGeom prst="rect">
            <a:avLst/>
          </a:prstGeom>
          <a:solidFill>
            <a:srgbClr val="0280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2668" y="2401062"/>
            <a:ext cx="10730484" cy="208025"/>
          </a:xfrm>
          <a:prstGeom prst="rect">
            <a:avLst/>
          </a:prstGeom>
          <a:noFill/>
        </p:spPr>
        <p:txBody>
          <a:bodyPr wrap="square" lIns="0" rIns="0" tIns="0" bIns="0" anchor="ctr">
            <a:spAutoFit/>
          </a:bodyPr>
          <a:lstStyle/>
          <a:p>
            <a:pPr algn="l">
              <a:lnSpc>
                <a:spcPts val="1638"/>
              </a:lnSpc>
              <a:spcAft>
                <a:spcPts val="300"/>
              </a:spcAft>
            </a:pPr>
            <a:r>
              <a:rPr sz="1300" b="1" i="1">
                <a:solidFill>
                  <a:srgbClr val="6B7685"/>
                </a:solidFill>
                <a:latin typeface="Arial"/>
              </a:rPr>
              <a:t>Two questions, and they have no ready answer.</a:t>
            </a:r>
          </a:p>
        </p:txBody>
      </p:sp>
      <p:sp>
        <p:nvSpPr>
          <p:cNvPr id="8" name="Rounded Rectangle 7"/>
          <p:cNvSpPr/>
          <p:nvPr/>
        </p:nvSpPr>
        <p:spPr>
          <a:xfrm>
            <a:off x="502920" y="3238500"/>
            <a:ext cx="11183112" cy="822960"/>
          </a:xfrm>
          <a:prstGeom prst="roundRect">
            <a:avLst>
              <a:gd name="adj" fmla="val 10000"/>
            </a:avLst>
          </a:prstGeom>
          <a:solidFill>
            <a:srgbClr val="FEF5E0"/>
          </a:solidFill>
          <a:ln w="19050">
            <a:solidFill>
              <a:srgbClr val="F0AB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22376" y="3366516"/>
            <a:ext cx="10634472" cy="566928"/>
          </a:xfrm>
          <a:prstGeom prst="rect">
            <a:avLst/>
          </a:prstGeom>
          <a:noFill/>
        </p:spPr>
        <p:txBody>
          <a:bodyPr wrap="square" lIns="0" rIns="0" tIns="0" bIns="0" anchor="ctr">
            <a:spAutoFit/>
          </a:bodyPr>
          <a:lstStyle/>
          <a:p>
            <a:pPr algn="ctr">
              <a:lnSpc>
                <a:spcPts val="2013"/>
              </a:lnSpc>
              <a:spcAft>
                <a:spcPts val="300"/>
              </a:spcAft>
            </a:pPr>
            <a:r>
              <a:rPr sz="1650" b="1" i="0">
                <a:solidFill>
                  <a:srgbClr val="141B2E"/>
                </a:solidFill>
                <a:latin typeface="Arial"/>
              </a:rPr>
              <a:t>Name yours — and name the condition under which it changes.</a:t>
            </a:r>
          </a:p>
        </p:txBody>
      </p:sp>
      <p:sp>
        <p:nvSpPr>
          <p:cNvPr id="10" name="Rounded Rectangle 9"/>
          <p:cNvSpPr/>
          <p:nvPr/>
        </p:nvSpPr>
        <p:spPr>
          <a:xfrm>
            <a:off x="502920" y="4599432"/>
            <a:ext cx="11183112" cy="1504188"/>
          </a:xfrm>
          <a:prstGeom prst="roundRect">
            <a:avLst>
              <a:gd name="adj" fmla="val 20263"/>
            </a:avLst>
          </a:prstGeom>
          <a:solidFill>
            <a:srgbClr val="F4F7FA"/>
          </a:solidFill>
          <a:ln w="15240">
            <a:solidFill>
              <a:srgbClr val="E5EA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22376" y="4818888"/>
            <a:ext cx="329184" cy="532638"/>
          </a:xfrm>
          <a:prstGeom prst="rect">
            <a:avLst/>
          </a:prstGeom>
          <a:noFill/>
        </p:spPr>
        <p:txBody>
          <a:bodyPr wrap="square" lIns="0" rIns="0" tIns="0" bIns="0" anchor="ctr">
            <a:spAutoFit/>
          </a:bodyPr>
          <a:lstStyle/>
          <a:p>
            <a:pPr algn="l">
              <a:lnSpc>
                <a:spcPts val="1829"/>
              </a:lnSpc>
              <a:spcAft>
                <a:spcPts val="0"/>
              </a:spcAft>
            </a:pPr>
            <a:r>
              <a:rPr sz="1550" b="1" i="0">
                <a:solidFill>
                  <a:srgbClr val="028090"/>
                </a:solidFill>
                <a:latin typeface="Arial"/>
              </a:rPr>
              <a:t>1</a:t>
            </a:r>
          </a:p>
        </p:txBody>
      </p:sp>
      <p:sp>
        <p:nvSpPr>
          <p:cNvPr id="12" name="TextBox 11"/>
          <p:cNvSpPr txBox="1"/>
          <p:nvPr/>
        </p:nvSpPr>
        <p:spPr>
          <a:xfrm>
            <a:off x="1106424" y="4818888"/>
            <a:ext cx="10360152" cy="532638"/>
          </a:xfrm>
          <a:prstGeom prst="rect">
            <a:avLst/>
          </a:prstGeom>
          <a:noFill/>
        </p:spPr>
        <p:txBody>
          <a:bodyPr wrap="square" lIns="0" rIns="0" tIns="0" bIns="0" anchor="ctr">
            <a:spAutoFit/>
          </a:bodyPr>
          <a:lstStyle/>
          <a:p>
            <a:pPr algn="l">
              <a:lnSpc>
                <a:spcPts val="1593"/>
              </a:lnSpc>
              <a:spcAft>
                <a:spcPts val="0"/>
              </a:spcAft>
            </a:pPr>
            <a:r>
              <a:rPr sz="1350" b="0" i="0">
                <a:solidFill>
                  <a:srgbClr val="141B2E"/>
                </a:solidFill>
                <a:latin typeface="Arial"/>
              </a:rPr>
              <a:t>What has to be true about two pieces of work for you to agree to run them in one folder? And by what sign do you set up a separate copy rather than work one at a time?</a:t>
            </a:r>
          </a:p>
        </p:txBody>
      </p:sp>
      <p:sp>
        <p:nvSpPr>
          <p:cNvPr id="13" name="TextBox 12"/>
          <p:cNvSpPr txBox="1"/>
          <p:nvPr/>
        </p:nvSpPr>
        <p:spPr>
          <a:xfrm>
            <a:off x="722376" y="5351526"/>
            <a:ext cx="329184" cy="532638"/>
          </a:xfrm>
          <a:prstGeom prst="rect">
            <a:avLst/>
          </a:prstGeom>
          <a:noFill/>
        </p:spPr>
        <p:txBody>
          <a:bodyPr wrap="square" lIns="0" rIns="0" tIns="0" bIns="0" anchor="ctr">
            <a:spAutoFit/>
          </a:bodyPr>
          <a:lstStyle/>
          <a:p>
            <a:pPr algn="l">
              <a:lnSpc>
                <a:spcPts val="1829"/>
              </a:lnSpc>
              <a:spcAft>
                <a:spcPts val="0"/>
              </a:spcAft>
            </a:pPr>
            <a:r>
              <a:rPr sz="1550" b="1" i="0">
                <a:solidFill>
                  <a:srgbClr val="028090"/>
                </a:solidFill>
                <a:latin typeface="Arial"/>
              </a:rPr>
              <a:t>2</a:t>
            </a:r>
          </a:p>
        </p:txBody>
      </p:sp>
      <p:sp>
        <p:nvSpPr>
          <p:cNvPr id="14" name="TextBox 13"/>
          <p:cNvSpPr txBox="1"/>
          <p:nvPr/>
        </p:nvSpPr>
        <p:spPr>
          <a:xfrm>
            <a:off x="1106424" y="5351526"/>
            <a:ext cx="10360152" cy="532638"/>
          </a:xfrm>
          <a:prstGeom prst="rect">
            <a:avLst/>
          </a:prstGeom>
          <a:noFill/>
        </p:spPr>
        <p:txBody>
          <a:bodyPr wrap="square" lIns="0" rIns="0" tIns="0" bIns="0" anchor="ctr">
            <a:spAutoFit/>
          </a:bodyPr>
          <a:lstStyle/>
          <a:p>
            <a:pPr algn="l">
              <a:lnSpc>
                <a:spcPts val="1593"/>
              </a:lnSpc>
              <a:spcAft>
                <a:spcPts val="0"/>
              </a:spcAft>
            </a:pPr>
            <a:r>
              <a:rPr sz="1350" b="0" i="0">
                <a:solidFill>
                  <a:srgbClr val="141B2E"/>
                </a:solidFill>
                <a:latin typeface="Arial"/>
              </a:rPr>
              <a:t>How many workers with the right to write are you prepared to keep in one folder at once? Name a number and the sign by which you would stop.</a:t>
            </a:r>
          </a:p>
        </p:txBody>
      </p:sp>
      <p:sp>
        <p:nvSpPr>
          <p:cNvPr id="15" name="TextBox 14"/>
          <p:cNvSpPr txBox="1"/>
          <p:nvPr/>
        </p:nvSpPr>
        <p:spPr>
          <a:xfrm>
            <a:off x="10957255" y="6437376"/>
            <a:ext cx="914400" cy="274320"/>
          </a:xfrm>
          <a:prstGeom prst="rect">
            <a:avLst/>
          </a:prstGeom>
          <a:noFill/>
        </p:spPr>
        <p:txBody>
          <a:bodyPr wrap="square" lIns="0" rIns="0" tIns="0" bIns="0" anchor="t">
            <a:spAutoFit/>
          </a:bodyPr>
          <a:lstStyle/>
          <a:p>
            <a:pPr algn="r">
              <a:lnSpc>
                <a:spcPts val="1238"/>
              </a:lnSpc>
              <a:spcAft>
                <a:spcPts val="0"/>
              </a:spcAft>
            </a:pPr>
            <a:r>
              <a:rPr sz="1050" b="0" i="0">
                <a:solidFill>
                  <a:srgbClr val="6B7685"/>
                </a:solidFill>
                <a:latin typeface="Arial"/>
              </a:rPr>
              <a:t>60</a:t>
            </a:r>
          </a:p>
        </p:txBody>
      </p:sp>
    </p:spTree>
  </p:cSld>
  <p:clrMapOvr>
    <a:masterClrMapping/>
  </p:clrMapOvr>
</p:sld>
</file>

<file path=ppt/slides/slide6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02920" y="310896"/>
            <a:ext cx="11183112" cy="431291"/>
          </a:xfrm>
          <a:prstGeom prst="rect">
            <a:avLst/>
          </a:prstGeom>
          <a:noFill/>
        </p:spPr>
        <p:txBody>
          <a:bodyPr wrap="square" lIns="0" rIns="0" tIns="0" bIns="0" anchor="t">
            <a:spAutoFit/>
          </a:bodyPr>
          <a:lstStyle/>
          <a:p>
            <a:pPr algn="l">
              <a:lnSpc>
                <a:spcPts val="2963"/>
              </a:lnSpc>
              <a:spcAft>
                <a:spcPts val="0"/>
              </a:spcAft>
            </a:pPr>
            <a:r>
              <a:rPr sz="2600" b="1" i="0">
                <a:solidFill>
                  <a:srgbClr val="141B2E"/>
                </a:solidFill>
                <a:latin typeface="Arial"/>
              </a:rPr>
              <a:t>What has taken the place of the two misses</a:t>
            </a:r>
          </a:p>
        </p:txBody>
      </p:sp>
      <p:sp>
        <p:nvSpPr>
          <p:cNvPr id="3" name="Rounded Rectangle 2"/>
          <p:cNvSpPr/>
          <p:nvPr/>
        </p:nvSpPr>
        <p:spPr>
          <a:xfrm>
            <a:off x="502920" y="1029017"/>
            <a:ext cx="11183112" cy="4044632"/>
          </a:xfrm>
          <a:prstGeom prst="roundRect">
            <a:avLst>
              <a:gd name="adj" fmla="val 7535"/>
            </a:avLst>
          </a:prstGeom>
          <a:solidFill>
            <a:srgbClr val="FFFFFF"/>
          </a:solidFill>
          <a:ln w="1778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85800" y="1211897"/>
            <a:ext cx="1259951" cy="282067"/>
          </a:xfrm>
          <a:prstGeom prst="rect">
            <a:avLst/>
          </a:prstGeom>
          <a:noFill/>
        </p:spPr>
        <p:txBody>
          <a:bodyPr wrap="square" lIns="0" rIns="0" tIns="0" bIns="0" anchor="t">
            <a:spAutoFit/>
          </a:bodyPr>
          <a:lstStyle/>
          <a:p>
            <a:pPr algn="l">
              <a:lnSpc>
                <a:spcPts val="1265"/>
              </a:lnSpc>
              <a:spcAft>
                <a:spcPts val="0"/>
              </a:spcAft>
            </a:pPr>
            <a:r>
              <a:rPr sz="1150" b="1" i="0">
                <a:solidFill>
                  <a:srgbClr val="6B7685"/>
                </a:solidFill>
                <a:latin typeface="Arial"/>
              </a:rPr>
              <a:t>RUNG</a:t>
            </a:r>
          </a:p>
        </p:txBody>
      </p:sp>
      <p:sp>
        <p:nvSpPr>
          <p:cNvPr id="5" name="TextBox 4"/>
          <p:cNvSpPr txBox="1"/>
          <p:nvPr/>
        </p:nvSpPr>
        <p:spPr>
          <a:xfrm>
            <a:off x="2092055" y="1211897"/>
            <a:ext cx="2774381" cy="282067"/>
          </a:xfrm>
          <a:prstGeom prst="rect">
            <a:avLst/>
          </a:prstGeom>
          <a:noFill/>
        </p:spPr>
        <p:txBody>
          <a:bodyPr wrap="square" lIns="0" rIns="0" tIns="0" bIns="0" anchor="t">
            <a:spAutoFit/>
          </a:bodyPr>
          <a:lstStyle/>
          <a:p>
            <a:pPr algn="l">
              <a:lnSpc>
                <a:spcPts val="1265"/>
              </a:lnSpc>
              <a:spcAft>
                <a:spcPts val="0"/>
              </a:spcAft>
            </a:pPr>
            <a:r>
              <a:rPr sz="1150" b="1" i="0">
                <a:solidFill>
                  <a:srgbClr val="6B7685"/>
                </a:solidFill>
                <a:latin typeface="Arial"/>
              </a:rPr>
              <a:t>PREVENT / SETTLE</a:t>
            </a:r>
          </a:p>
        </p:txBody>
      </p:sp>
      <p:sp>
        <p:nvSpPr>
          <p:cNvPr id="6" name="TextBox 5"/>
          <p:cNvSpPr txBox="1"/>
          <p:nvPr/>
        </p:nvSpPr>
        <p:spPr>
          <a:xfrm>
            <a:off x="5012740" y="1211897"/>
            <a:ext cx="2774381" cy="282067"/>
          </a:xfrm>
          <a:prstGeom prst="rect">
            <a:avLst/>
          </a:prstGeom>
          <a:noFill/>
        </p:spPr>
        <p:txBody>
          <a:bodyPr wrap="square" lIns="0" rIns="0" tIns="0" bIns="0" anchor="t">
            <a:spAutoFit/>
          </a:bodyPr>
          <a:lstStyle/>
          <a:p>
            <a:pPr algn="l">
              <a:lnSpc>
                <a:spcPts val="1265"/>
              </a:lnSpc>
              <a:spcAft>
                <a:spcPts val="0"/>
              </a:spcAft>
            </a:pPr>
            <a:r>
              <a:rPr sz="1150" b="1" i="0">
                <a:solidFill>
                  <a:srgbClr val="6B7685"/>
                </a:solidFill>
                <a:latin typeface="Arial"/>
              </a:rPr>
              <a:t>WHAT IT DOES</a:t>
            </a:r>
          </a:p>
        </p:txBody>
      </p:sp>
      <p:sp>
        <p:nvSpPr>
          <p:cNvPr id="7" name="TextBox 6"/>
          <p:cNvSpPr txBox="1"/>
          <p:nvPr/>
        </p:nvSpPr>
        <p:spPr>
          <a:xfrm>
            <a:off x="7933425" y="1211897"/>
            <a:ext cx="3423422" cy="282067"/>
          </a:xfrm>
          <a:prstGeom prst="rect">
            <a:avLst/>
          </a:prstGeom>
          <a:noFill/>
        </p:spPr>
        <p:txBody>
          <a:bodyPr wrap="square" lIns="0" rIns="0" tIns="0" bIns="0" anchor="t">
            <a:spAutoFit/>
          </a:bodyPr>
          <a:lstStyle/>
          <a:p>
            <a:pPr algn="l">
              <a:lnSpc>
                <a:spcPts val="1265"/>
              </a:lnSpc>
              <a:spcAft>
                <a:spcPts val="0"/>
              </a:spcAft>
            </a:pPr>
            <a:r>
              <a:rPr sz="1150" b="1" i="0">
                <a:solidFill>
                  <a:srgbClr val="6B7685"/>
                </a:solidFill>
                <a:latin typeface="Arial"/>
              </a:rPr>
              <a:t>WHAT IT DOES NOT DO / THE LIMIT</a:t>
            </a:r>
          </a:p>
        </p:txBody>
      </p:sp>
      <p:sp>
        <p:nvSpPr>
          <p:cNvPr id="8" name="TextBox 7"/>
          <p:cNvSpPr txBox="1"/>
          <p:nvPr/>
        </p:nvSpPr>
        <p:spPr>
          <a:xfrm>
            <a:off x="685800" y="1493964"/>
            <a:ext cx="1259951" cy="712279"/>
          </a:xfrm>
          <a:prstGeom prst="rect">
            <a:avLst/>
          </a:prstGeom>
          <a:noFill/>
        </p:spPr>
        <p:txBody>
          <a:bodyPr wrap="square" lIns="0" rIns="0" tIns="0" bIns="0" anchor="ctr">
            <a:spAutoFit/>
          </a:bodyPr>
          <a:lstStyle/>
          <a:p>
            <a:pPr algn="l">
              <a:lnSpc>
                <a:spcPts val="1437"/>
              </a:lnSpc>
              <a:spcAft>
                <a:spcPts val="0"/>
              </a:spcAft>
            </a:pPr>
            <a:r>
              <a:rPr sz="1250" b="0" i="0">
                <a:solidFill>
                  <a:srgbClr val="141B2E"/>
                </a:solidFill>
                <a:latin typeface="Arial"/>
              </a:rPr>
              <a:t>Hook</a:t>
            </a:r>
          </a:p>
        </p:txBody>
      </p:sp>
      <p:sp>
        <p:nvSpPr>
          <p:cNvPr id="9" name="TextBox 8"/>
          <p:cNvSpPr txBox="1"/>
          <p:nvPr/>
        </p:nvSpPr>
        <p:spPr>
          <a:xfrm>
            <a:off x="2092055" y="1493964"/>
            <a:ext cx="2774381" cy="712279"/>
          </a:xfrm>
          <a:prstGeom prst="rect">
            <a:avLst/>
          </a:prstGeom>
          <a:noFill/>
        </p:spPr>
        <p:txBody>
          <a:bodyPr wrap="square" lIns="0" rIns="0" tIns="0" bIns="0" anchor="ctr">
            <a:spAutoFit/>
          </a:bodyPr>
          <a:lstStyle/>
          <a:p>
            <a:pPr algn="l">
              <a:lnSpc>
                <a:spcPts val="1437"/>
              </a:lnSpc>
              <a:spcAft>
                <a:spcPts val="0"/>
              </a:spcAft>
            </a:pPr>
            <a:r>
              <a:rPr sz="1250" b="0" i="0">
                <a:solidFill>
                  <a:srgbClr val="141B2E"/>
                </a:solidFill>
                <a:latin typeface="Arial"/>
              </a:rPr>
              <a:t>Settle — the rule has already been broken</a:t>
            </a:r>
          </a:p>
        </p:txBody>
      </p:sp>
      <p:sp>
        <p:nvSpPr>
          <p:cNvPr id="10" name="TextBox 9"/>
          <p:cNvSpPr txBox="1"/>
          <p:nvPr/>
        </p:nvSpPr>
        <p:spPr>
          <a:xfrm>
            <a:off x="5012740" y="1493964"/>
            <a:ext cx="2774381" cy="712279"/>
          </a:xfrm>
          <a:prstGeom prst="rect">
            <a:avLst/>
          </a:prstGeom>
          <a:noFill/>
        </p:spPr>
        <p:txBody>
          <a:bodyPr wrap="square" lIns="0" rIns="0" tIns="0" bIns="0" anchor="ctr">
            <a:spAutoFit/>
          </a:bodyPr>
          <a:lstStyle/>
          <a:p>
            <a:pPr algn="l">
              <a:lnSpc>
                <a:spcPts val="1437"/>
              </a:lnSpc>
              <a:spcAft>
                <a:spcPts val="0"/>
              </a:spcAft>
            </a:pPr>
            <a:r>
              <a:rPr sz="1250" b="0" i="0">
                <a:solidFill>
                  <a:srgbClr val="141B2E"/>
                </a:solidFill>
                <a:latin typeface="Arial"/>
              </a:rPr>
              <a:t>Rejects one pattern of writing into </a:t>
            </a:r>
            <a:r>
              <a:rPr sz="1250" b="0" i="0">
                <a:solidFill>
                  <a:srgbClr val="141B2E"/>
                </a:solidFill>
                <a:latin typeface="Consolas"/>
              </a:rPr>
              <a:t>main</a:t>
            </a:r>
            <a:r>
              <a:rPr sz="1250" b="0" i="0">
                <a:solidFill>
                  <a:srgbClr val="141B2E"/>
                </a:solidFill>
                <a:latin typeface="Arial"/>
              </a:rPr>
              <a:t> out of six ways of committing</a:t>
            </a:r>
          </a:p>
        </p:txBody>
      </p:sp>
      <p:sp>
        <p:nvSpPr>
          <p:cNvPr id="11" name="TextBox 10"/>
          <p:cNvSpPr txBox="1"/>
          <p:nvPr/>
        </p:nvSpPr>
        <p:spPr>
          <a:xfrm>
            <a:off x="7933425" y="1493964"/>
            <a:ext cx="3423422" cy="712279"/>
          </a:xfrm>
          <a:prstGeom prst="rect">
            <a:avLst/>
          </a:prstGeom>
          <a:noFill/>
        </p:spPr>
        <p:txBody>
          <a:bodyPr wrap="square" lIns="0" rIns="0" tIns="0" bIns="0" anchor="ctr">
            <a:spAutoFit/>
          </a:bodyPr>
          <a:lstStyle/>
          <a:p>
            <a:pPr algn="l">
              <a:lnSpc>
                <a:spcPts val="1437"/>
              </a:lnSpc>
              <a:spcAft>
                <a:spcPts val="0"/>
              </a:spcAft>
            </a:pPr>
            <a:r>
              <a:rPr sz="1250" b="0" i="0">
                <a:solidFill>
                  <a:srgbClr val="141B2E"/>
                </a:solidFill>
                <a:latin typeface="Arial"/>
              </a:rPr>
              <a:t>On the other five it is silent; a person with a terminal it does not see at all</a:t>
            </a:r>
          </a:p>
        </p:txBody>
      </p:sp>
      <p:cxnSp>
        <p:nvCxnSpPr>
          <p:cNvPr id="12" name="Connector 11"/>
          <p:cNvCxnSpPr/>
          <p:nvPr/>
        </p:nvCxnSpPr>
        <p:spPr>
          <a:xfrm>
            <a:off x="685800" y="2206244"/>
            <a:ext cx="10817352" cy="0"/>
          </a:xfrm>
          <a:prstGeom prst="line">
            <a:avLst/>
          </a:prstGeom>
          <a:ln w="9525">
            <a:solidFill>
              <a:srgbClr val="E5EAF0"/>
            </a:solidFill>
          </a:ln>
        </p:spPr>
        <p:style>
          <a:lnRef idx="2">
            <a:schemeClr val="accent1"/>
          </a:lnRef>
          <a:fillRef idx="0">
            <a:schemeClr val="accent1"/>
          </a:fillRef>
          <a:effectRef idx="1">
            <a:schemeClr val="accent1"/>
          </a:effectRef>
          <a:fontRef idx="minor">
            <a:schemeClr val="tx1"/>
          </a:fontRef>
        </p:style>
      </p:cxnSp>
      <p:sp>
        <p:nvSpPr>
          <p:cNvPr id="13" name="TextBox 12"/>
          <p:cNvSpPr txBox="1"/>
          <p:nvPr/>
        </p:nvSpPr>
        <p:spPr>
          <a:xfrm>
            <a:off x="685800" y="2206244"/>
            <a:ext cx="1259951" cy="712279"/>
          </a:xfrm>
          <a:prstGeom prst="rect">
            <a:avLst/>
          </a:prstGeom>
          <a:noFill/>
        </p:spPr>
        <p:txBody>
          <a:bodyPr wrap="square" lIns="0" rIns="0" tIns="0" bIns="0" anchor="ctr">
            <a:spAutoFit/>
          </a:bodyPr>
          <a:lstStyle/>
          <a:p>
            <a:pPr algn="l">
              <a:lnSpc>
                <a:spcPts val="1437"/>
              </a:lnSpc>
              <a:spcAft>
                <a:spcPts val="0"/>
              </a:spcAft>
            </a:pPr>
            <a:r>
              <a:rPr sz="1250" b="0" i="0">
                <a:solidFill>
                  <a:srgbClr val="141B2E"/>
                </a:solidFill>
                <a:latin typeface="Arial"/>
              </a:rPr>
              <a:t>Skill</a:t>
            </a:r>
          </a:p>
        </p:txBody>
      </p:sp>
      <p:sp>
        <p:nvSpPr>
          <p:cNvPr id="14" name="TextBox 13"/>
          <p:cNvSpPr txBox="1"/>
          <p:nvPr/>
        </p:nvSpPr>
        <p:spPr>
          <a:xfrm>
            <a:off x="2092055" y="2206244"/>
            <a:ext cx="2774381" cy="712279"/>
          </a:xfrm>
          <a:prstGeom prst="rect">
            <a:avLst/>
          </a:prstGeom>
          <a:noFill/>
        </p:spPr>
        <p:txBody>
          <a:bodyPr wrap="square" lIns="0" rIns="0" tIns="0" bIns="0" anchor="ctr">
            <a:spAutoFit/>
          </a:bodyPr>
          <a:lstStyle/>
          <a:p>
            <a:pPr algn="l">
              <a:lnSpc>
                <a:spcPts val="1437"/>
              </a:lnSpc>
              <a:spcAft>
                <a:spcPts val="0"/>
              </a:spcAft>
            </a:pPr>
            <a:r>
              <a:rPr sz="1250" b="0" i="0">
                <a:solidFill>
                  <a:srgbClr val="141B2E"/>
                </a:solidFill>
                <a:latin typeface="Arial"/>
              </a:rPr>
              <a:t>Settle — on a signal that the instruction file is overloaded</a:t>
            </a:r>
          </a:p>
        </p:txBody>
      </p:sp>
      <p:sp>
        <p:nvSpPr>
          <p:cNvPr id="15" name="TextBox 14"/>
          <p:cNvSpPr txBox="1"/>
          <p:nvPr/>
        </p:nvSpPr>
        <p:spPr>
          <a:xfrm>
            <a:off x="5012740" y="2206244"/>
            <a:ext cx="2774381" cy="712279"/>
          </a:xfrm>
          <a:prstGeom prst="rect">
            <a:avLst/>
          </a:prstGeom>
          <a:noFill/>
        </p:spPr>
        <p:txBody>
          <a:bodyPr wrap="square" lIns="0" rIns="0" tIns="0" bIns="0" anchor="ctr">
            <a:spAutoFit/>
          </a:bodyPr>
          <a:lstStyle/>
          <a:p>
            <a:pPr algn="l">
              <a:lnSpc>
                <a:spcPts val="1437"/>
              </a:lnSpc>
              <a:spcAft>
                <a:spcPts val="0"/>
              </a:spcAft>
            </a:pPr>
            <a:r>
              <a:rPr sz="1250" b="0" i="0">
                <a:solidFill>
                  <a:srgbClr val="141B2E"/>
                </a:solidFill>
                <a:latin typeface="Arial"/>
              </a:rPr>
              <a:t>Loads a file on an exact match of the trigger description</a:t>
            </a:r>
          </a:p>
        </p:txBody>
      </p:sp>
      <p:sp>
        <p:nvSpPr>
          <p:cNvPr id="16" name="TextBox 15"/>
          <p:cNvSpPr txBox="1"/>
          <p:nvPr/>
        </p:nvSpPr>
        <p:spPr>
          <a:xfrm>
            <a:off x="7933425" y="2206244"/>
            <a:ext cx="3423422" cy="712279"/>
          </a:xfrm>
          <a:prstGeom prst="rect">
            <a:avLst/>
          </a:prstGeom>
          <a:noFill/>
        </p:spPr>
        <p:txBody>
          <a:bodyPr wrap="square" lIns="0" rIns="0" tIns="0" bIns="0" anchor="ctr">
            <a:spAutoFit/>
          </a:bodyPr>
          <a:lstStyle/>
          <a:p>
            <a:pPr algn="l">
              <a:lnSpc>
                <a:spcPts val="1437"/>
              </a:lnSpc>
              <a:spcAft>
                <a:spcPts val="0"/>
              </a:spcAft>
            </a:pPr>
            <a:r>
              <a:rPr sz="1250" b="0" i="0">
                <a:solidFill>
                  <a:srgbClr val="141B2E"/>
                </a:solidFill>
                <a:latin typeface="Arial"/>
              </a:rPr>
              <a:t>Without an exact trigger it will not fire at all — the file's contents are not in the context until it fires</a:t>
            </a:r>
          </a:p>
        </p:txBody>
      </p:sp>
      <p:cxnSp>
        <p:nvCxnSpPr>
          <p:cNvPr id="17" name="Connector 16"/>
          <p:cNvCxnSpPr/>
          <p:nvPr/>
        </p:nvCxnSpPr>
        <p:spPr>
          <a:xfrm>
            <a:off x="685800" y="2918523"/>
            <a:ext cx="10817352" cy="0"/>
          </a:xfrm>
          <a:prstGeom prst="line">
            <a:avLst/>
          </a:prstGeom>
          <a:ln w="9525">
            <a:solidFill>
              <a:srgbClr val="E5EAF0"/>
            </a:solidFill>
          </a:ln>
        </p:spPr>
        <p:style>
          <a:lnRef idx="2">
            <a:schemeClr val="accent1"/>
          </a:lnRef>
          <a:fillRef idx="0">
            <a:schemeClr val="accent1"/>
          </a:fillRef>
          <a:effectRef idx="1">
            <a:schemeClr val="accent1"/>
          </a:effectRef>
          <a:fontRef idx="minor">
            <a:schemeClr val="tx1"/>
          </a:fontRef>
        </p:style>
      </p:cxnSp>
      <p:sp>
        <p:nvSpPr>
          <p:cNvPr id="18" name="TextBox 17"/>
          <p:cNvSpPr txBox="1"/>
          <p:nvPr/>
        </p:nvSpPr>
        <p:spPr>
          <a:xfrm>
            <a:off x="685800" y="2918523"/>
            <a:ext cx="1259951" cy="894842"/>
          </a:xfrm>
          <a:prstGeom prst="rect">
            <a:avLst/>
          </a:prstGeom>
          <a:noFill/>
        </p:spPr>
        <p:txBody>
          <a:bodyPr wrap="square" lIns="0" rIns="0" tIns="0" bIns="0" anchor="ctr">
            <a:spAutoFit/>
          </a:bodyPr>
          <a:lstStyle/>
          <a:p>
            <a:pPr algn="l">
              <a:lnSpc>
                <a:spcPts val="1437"/>
              </a:lnSpc>
              <a:spcAft>
                <a:spcPts val="0"/>
              </a:spcAft>
            </a:pPr>
            <a:r>
              <a:rPr sz="1250" b="0" i="0">
                <a:solidFill>
                  <a:srgbClr val="141B2E"/>
                </a:solidFill>
                <a:latin typeface="Arial"/>
              </a:rPr>
              <a:t>MCP</a:t>
            </a:r>
          </a:p>
        </p:txBody>
      </p:sp>
      <p:sp>
        <p:nvSpPr>
          <p:cNvPr id="19" name="TextBox 18"/>
          <p:cNvSpPr txBox="1"/>
          <p:nvPr/>
        </p:nvSpPr>
        <p:spPr>
          <a:xfrm>
            <a:off x="2092055" y="2918523"/>
            <a:ext cx="2774381" cy="894842"/>
          </a:xfrm>
          <a:prstGeom prst="rect">
            <a:avLst/>
          </a:prstGeom>
          <a:noFill/>
        </p:spPr>
        <p:txBody>
          <a:bodyPr wrap="square" lIns="0" rIns="0" tIns="0" bIns="0" anchor="ctr">
            <a:spAutoFit/>
          </a:bodyPr>
          <a:lstStyle/>
          <a:p>
            <a:pPr algn="l">
              <a:lnSpc>
                <a:spcPts val="1437"/>
              </a:lnSpc>
              <a:spcAft>
                <a:spcPts val="0"/>
              </a:spcAft>
            </a:pPr>
            <a:r>
              <a:rPr sz="1250" b="0" i="0">
                <a:solidFill>
                  <a:srgbClr val="141B2E"/>
                </a:solidFill>
                <a:latin typeface="Arial"/>
              </a:rPr>
              <a:t>Prevent on the way in, settle afterwards</a:t>
            </a:r>
          </a:p>
        </p:txBody>
      </p:sp>
      <p:sp>
        <p:nvSpPr>
          <p:cNvPr id="20" name="TextBox 19"/>
          <p:cNvSpPr txBox="1"/>
          <p:nvPr/>
        </p:nvSpPr>
        <p:spPr>
          <a:xfrm>
            <a:off x="5012740" y="2918523"/>
            <a:ext cx="2774381" cy="894842"/>
          </a:xfrm>
          <a:prstGeom prst="rect">
            <a:avLst/>
          </a:prstGeom>
          <a:noFill/>
        </p:spPr>
        <p:txBody>
          <a:bodyPr wrap="square" lIns="0" rIns="0" tIns="0" bIns="0" anchor="ctr">
            <a:spAutoFit/>
          </a:bodyPr>
          <a:lstStyle/>
          <a:p>
            <a:pPr algn="l">
              <a:lnSpc>
                <a:spcPts val="1437"/>
              </a:lnSpc>
              <a:spcAft>
                <a:spcPts val="0"/>
              </a:spcAft>
            </a:pPr>
            <a:r>
              <a:rPr sz="1250" b="0" i="0">
                <a:solidFill>
                  <a:srgbClr val="141B2E"/>
                </a:solidFill>
                <a:latin typeface="Arial"/>
              </a:rPr>
              <a:t>Trims the permissions before connecting, not after</a:t>
            </a:r>
          </a:p>
        </p:txBody>
      </p:sp>
      <p:sp>
        <p:nvSpPr>
          <p:cNvPr id="21" name="TextBox 20"/>
          <p:cNvSpPr txBox="1"/>
          <p:nvPr/>
        </p:nvSpPr>
        <p:spPr>
          <a:xfrm>
            <a:off x="7933425" y="2918523"/>
            <a:ext cx="3423422" cy="894842"/>
          </a:xfrm>
          <a:prstGeom prst="rect">
            <a:avLst/>
          </a:prstGeom>
          <a:noFill/>
        </p:spPr>
        <p:txBody>
          <a:bodyPr wrap="square" lIns="0" rIns="0" tIns="0" bIns="0" anchor="ctr">
            <a:spAutoFit/>
          </a:bodyPr>
          <a:lstStyle/>
          <a:p>
            <a:pPr algn="l">
              <a:lnSpc>
                <a:spcPts val="1437"/>
              </a:lnSpc>
              <a:spcAft>
                <a:spcPts val="0"/>
              </a:spcAft>
            </a:pPr>
            <a:r>
              <a:rPr sz="1250" b="0" i="0">
                <a:solidFill>
                  <a:srgbClr val="141B2E"/>
                </a:solidFill>
                <a:latin typeface="Arial"/>
              </a:rPr>
              <a:t>Without the struck-out line "all repositories, including private ones", a documented exfiltration is reproduced (Invariant Labs, May 2025)</a:t>
            </a:r>
          </a:p>
        </p:txBody>
      </p:sp>
      <p:cxnSp>
        <p:nvCxnSpPr>
          <p:cNvPr id="22" name="Connector 21"/>
          <p:cNvCxnSpPr/>
          <p:nvPr/>
        </p:nvCxnSpPr>
        <p:spPr>
          <a:xfrm>
            <a:off x="685800" y="3813365"/>
            <a:ext cx="10817352" cy="0"/>
          </a:xfrm>
          <a:prstGeom prst="line">
            <a:avLst/>
          </a:prstGeom>
          <a:ln w="9525">
            <a:solidFill>
              <a:srgbClr val="E5EAF0"/>
            </a:solidFill>
          </a:ln>
        </p:spPr>
        <p:style>
          <a:lnRef idx="2">
            <a:schemeClr val="accent1"/>
          </a:lnRef>
          <a:fillRef idx="0">
            <a:schemeClr val="accent1"/>
          </a:fillRef>
          <a:effectRef idx="1">
            <a:schemeClr val="accent1"/>
          </a:effectRef>
          <a:fontRef idx="minor">
            <a:schemeClr val="tx1"/>
          </a:fontRef>
        </p:style>
      </p:cxnSp>
      <p:sp>
        <p:nvSpPr>
          <p:cNvPr id="23" name="TextBox 22"/>
          <p:cNvSpPr txBox="1"/>
          <p:nvPr/>
        </p:nvSpPr>
        <p:spPr>
          <a:xfrm>
            <a:off x="685800" y="3813365"/>
            <a:ext cx="1259951" cy="1077404"/>
          </a:xfrm>
          <a:prstGeom prst="rect">
            <a:avLst/>
          </a:prstGeom>
          <a:noFill/>
        </p:spPr>
        <p:txBody>
          <a:bodyPr wrap="square" lIns="0" rIns="0" tIns="0" bIns="0" anchor="ctr">
            <a:spAutoFit/>
          </a:bodyPr>
          <a:lstStyle/>
          <a:p>
            <a:pPr algn="l">
              <a:lnSpc>
                <a:spcPts val="1437"/>
              </a:lnSpc>
              <a:spcAft>
                <a:spcPts val="0"/>
              </a:spcAft>
            </a:pPr>
            <a:r>
              <a:rPr sz="1250" b="0" i="0">
                <a:solidFill>
                  <a:srgbClr val="141B2E"/>
                </a:solidFill>
                <a:latin typeface="Arial"/>
              </a:rPr>
              <a:t>Subagent</a:t>
            </a:r>
          </a:p>
        </p:txBody>
      </p:sp>
      <p:sp>
        <p:nvSpPr>
          <p:cNvPr id="24" name="TextBox 23"/>
          <p:cNvSpPr txBox="1"/>
          <p:nvPr/>
        </p:nvSpPr>
        <p:spPr>
          <a:xfrm>
            <a:off x="2092055" y="3813365"/>
            <a:ext cx="2774381" cy="1077404"/>
          </a:xfrm>
          <a:prstGeom prst="rect">
            <a:avLst/>
          </a:prstGeom>
          <a:noFill/>
        </p:spPr>
        <p:txBody>
          <a:bodyPr wrap="square" lIns="0" rIns="0" tIns="0" bIns="0" anchor="ctr">
            <a:spAutoFit/>
          </a:bodyPr>
          <a:lstStyle/>
          <a:p>
            <a:pPr algn="l">
              <a:lnSpc>
                <a:spcPts val="1437"/>
              </a:lnSpc>
              <a:spcAft>
                <a:spcPts val="0"/>
              </a:spcAft>
            </a:pPr>
            <a:r>
              <a:rPr sz="1250" b="0" i="0">
                <a:solidFill>
                  <a:srgbClr val="141B2E"/>
                </a:solidFill>
                <a:latin typeface="Arial"/>
              </a:rPr>
              <a:t>Settle — on a signal that reading has crowded the work out</a:t>
            </a:r>
          </a:p>
        </p:txBody>
      </p:sp>
      <p:sp>
        <p:nvSpPr>
          <p:cNvPr id="25" name="TextBox 24"/>
          <p:cNvSpPr txBox="1"/>
          <p:nvPr/>
        </p:nvSpPr>
        <p:spPr>
          <a:xfrm>
            <a:off x="5012740" y="3813365"/>
            <a:ext cx="2774381" cy="1077404"/>
          </a:xfrm>
          <a:prstGeom prst="rect">
            <a:avLst/>
          </a:prstGeom>
          <a:noFill/>
        </p:spPr>
        <p:txBody>
          <a:bodyPr wrap="square" lIns="0" rIns="0" tIns="0" bIns="0" anchor="ctr">
            <a:spAutoFit/>
          </a:bodyPr>
          <a:lstStyle/>
          <a:p>
            <a:pPr algn="l">
              <a:lnSpc>
                <a:spcPts val="1437"/>
              </a:lnSpc>
              <a:spcAft>
                <a:spcPts val="0"/>
              </a:spcAft>
            </a:pPr>
            <a:r>
              <a:rPr sz="1250" b="0" i="0">
                <a:solidFill>
                  <a:srgbClr val="141B2E"/>
                </a:solidFill>
                <a:latin typeface="Arial"/>
              </a:rPr>
              <a:t>Delegates a task for free, without a single line of configuration; the reading goes off into the subagent's context, and a result comes back</a:t>
            </a:r>
          </a:p>
        </p:txBody>
      </p:sp>
      <p:sp>
        <p:nvSpPr>
          <p:cNvPr id="26" name="TextBox 25"/>
          <p:cNvSpPr txBox="1"/>
          <p:nvPr/>
        </p:nvSpPr>
        <p:spPr>
          <a:xfrm>
            <a:off x="7933425" y="3813365"/>
            <a:ext cx="3423422" cy="1077404"/>
          </a:xfrm>
          <a:prstGeom prst="rect">
            <a:avLst/>
          </a:prstGeom>
          <a:noFill/>
        </p:spPr>
        <p:txBody>
          <a:bodyPr wrap="square" lIns="0" rIns="0" tIns="0" bIns="0" anchor="ctr">
            <a:spAutoFit/>
          </a:bodyPr>
          <a:lstStyle/>
          <a:p>
            <a:pPr algn="l">
              <a:lnSpc>
                <a:spcPts val="1437"/>
              </a:lnSpc>
              <a:spcAft>
                <a:spcPts val="0"/>
              </a:spcAft>
            </a:pPr>
            <a:r>
              <a:rPr sz="1250" b="0" i="0">
                <a:solidFill>
                  <a:srgbClr val="141B2E"/>
                </a:solidFill>
                <a:latin typeface="Arial"/>
              </a:rPr>
              <a:t>It does not divide the working directory: the workers edit where the work lies, and collisions are removed by a zone layout</a:t>
            </a:r>
          </a:p>
        </p:txBody>
      </p:sp>
      <p:sp>
        <p:nvSpPr>
          <p:cNvPr id="27" name="Rounded Rectangle 26"/>
          <p:cNvSpPr/>
          <p:nvPr/>
        </p:nvSpPr>
        <p:spPr>
          <a:xfrm>
            <a:off x="502920" y="5452395"/>
            <a:ext cx="82296" cy="746760"/>
          </a:xfrm>
          <a:prstGeom prst="roundRect">
            <a:avLst>
              <a:gd name="adj" fmla="val 50000"/>
            </a:avLst>
          </a:prstGeom>
          <a:solidFill>
            <a:srgbClr val="F0AB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859536" y="5580411"/>
            <a:ext cx="10643616" cy="490727"/>
          </a:xfrm>
          <a:prstGeom prst="rect">
            <a:avLst/>
          </a:prstGeom>
          <a:noFill/>
        </p:spPr>
        <p:txBody>
          <a:bodyPr wrap="square" lIns="0" rIns="0" tIns="0" bIns="0" anchor="ctr">
            <a:spAutoFit/>
          </a:bodyPr>
          <a:lstStyle/>
          <a:p>
            <a:pPr algn="l">
              <a:lnSpc>
                <a:spcPts val="1860"/>
              </a:lnSpc>
              <a:spcAft>
                <a:spcPts val="300"/>
              </a:spcAft>
            </a:pPr>
            <a:r>
              <a:rPr sz="1500" b="1" i="0">
                <a:solidFill>
                  <a:srgbClr val="141B2E"/>
                </a:solidFill>
                <a:latin typeface="Arial"/>
              </a:rPr>
              <a:t>"Monday is closed by the third row, Wednesday by the fourth. Four rows are filled in, the seminar's axis is closed."</a:t>
            </a:r>
          </a:p>
        </p:txBody>
      </p:sp>
      <p:sp>
        <p:nvSpPr>
          <p:cNvPr id="29" name="TextBox 28"/>
          <p:cNvSpPr txBox="1"/>
          <p:nvPr/>
        </p:nvSpPr>
        <p:spPr>
          <a:xfrm>
            <a:off x="10957255" y="6437376"/>
            <a:ext cx="914400" cy="274320"/>
          </a:xfrm>
          <a:prstGeom prst="rect">
            <a:avLst/>
          </a:prstGeom>
          <a:noFill/>
        </p:spPr>
        <p:txBody>
          <a:bodyPr wrap="square" lIns="0" rIns="0" tIns="0" bIns="0" anchor="t">
            <a:spAutoFit/>
          </a:bodyPr>
          <a:lstStyle/>
          <a:p>
            <a:pPr algn="r">
              <a:lnSpc>
                <a:spcPts val="1238"/>
              </a:lnSpc>
              <a:spcAft>
                <a:spcPts val="0"/>
              </a:spcAft>
            </a:pPr>
            <a:r>
              <a:rPr sz="1050" b="0" i="0">
                <a:solidFill>
                  <a:srgbClr val="6B7685"/>
                </a:solidFill>
                <a:latin typeface="Arial"/>
              </a:rPr>
              <a:t>61</a:t>
            </a:r>
          </a:p>
        </p:txBody>
      </p:sp>
    </p:spTree>
  </p:cSld>
  <p:clrMapOvr>
    <a:masterClrMapping/>
  </p:clrMapOvr>
</p:sld>
</file>

<file path=ppt/slides/slide6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02920" y="310896"/>
            <a:ext cx="11183112" cy="431291"/>
          </a:xfrm>
          <a:prstGeom prst="rect">
            <a:avLst/>
          </a:prstGeom>
          <a:noFill/>
        </p:spPr>
        <p:txBody>
          <a:bodyPr wrap="square" lIns="0" rIns="0" tIns="0" bIns="0" anchor="t">
            <a:spAutoFit/>
          </a:bodyPr>
          <a:lstStyle/>
          <a:p>
            <a:pPr algn="l">
              <a:lnSpc>
                <a:spcPts val="2963"/>
              </a:lnSpc>
              <a:spcAft>
                <a:spcPts val="0"/>
              </a:spcAft>
            </a:pPr>
            <a:r>
              <a:rPr sz="2600" b="1" i="0">
                <a:solidFill>
                  <a:srgbClr val="141B2E"/>
                </a:solidFill>
                <a:latin typeface="Arial"/>
              </a:rPr>
              <a:t>What appeared in the repository</a:t>
            </a:r>
          </a:p>
        </p:txBody>
      </p:sp>
      <p:sp>
        <p:nvSpPr>
          <p:cNvPr id="3" name="Rounded Rectangle 2"/>
          <p:cNvSpPr/>
          <p:nvPr/>
        </p:nvSpPr>
        <p:spPr>
          <a:xfrm>
            <a:off x="502920" y="966317"/>
            <a:ext cx="82296" cy="510540"/>
          </a:xfrm>
          <a:prstGeom prst="roundRect">
            <a:avLst>
              <a:gd name="adj" fmla="val 50000"/>
            </a:avLst>
          </a:prstGeom>
          <a:solidFill>
            <a:srgbClr val="F0AB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59536" y="1094333"/>
            <a:ext cx="10643616" cy="254508"/>
          </a:xfrm>
          <a:prstGeom prst="rect">
            <a:avLst/>
          </a:prstGeom>
          <a:noFill/>
        </p:spPr>
        <p:txBody>
          <a:bodyPr wrap="square" lIns="0" rIns="0" tIns="0" bIns="0" anchor="ctr">
            <a:spAutoFit/>
          </a:bodyPr>
          <a:lstStyle/>
          <a:p>
            <a:pPr algn="l">
              <a:lnSpc>
                <a:spcPts val="1860"/>
              </a:lnSpc>
              <a:spcAft>
                <a:spcPts val="300"/>
              </a:spcAft>
            </a:pPr>
            <a:r>
              <a:rPr sz="1500" b="1" i="0">
                <a:solidFill>
                  <a:srgbClr val="141B2E"/>
                </a:solidFill>
                <a:latin typeface="Arial"/>
              </a:rPr>
              <a:t>A DIAGRAM, NOT A SNAPSHOT</a:t>
            </a:r>
          </a:p>
        </p:txBody>
      </p:sp>
      <p:sp>
        <p:nvSpPr>
          <p:cNvPr id="5" name="Rounded Rectangle 4"/>
          <p:cNvSpPr/>
          <p:nvPr/>
        </p:nvSpPr>
        <p:spPr>
          <a:xfrm>
            <a:off x="502920" y="1698853"/>
            <a:ext cx="11183112" cy="3625596"/>
          </a:xfrm>
          <a:prstGeom prst="roundRect">
            <a:avLst>
              <a:gd name="adj" fmla="val 8406"/>
            </a:avLst>
          </a:prstGeom>
          <a:solidFill>
            <a:srgbClr val="FFFFFF"/>
          </a:solidFill>
          <a:ln w="1778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85800" y="1881733"/>
            <a:ext cx="1214699" cy="282067"/>
          </a:xfrm>
          <a:prstGeom prst="rect">
            <a:avLst/>
          </a:prstGeom>
          <a:noFill/>
        </p:spPr>
        <p:txBody>
          <a:bodyPr wrap="square" lIns="0" rIns="0" tIns="0" bIns="0" anchor="t">
            <a:spAutoFit/>
          </a:bodyPr>
          <a:lstStyle/>
          <a:p>
            <a:pPr algn="l">
              <a:lnSpc>
                <a:spcPts val="1265"/>
              </a:lnSpc>
              <a:spcAft>
                <a:spcPts val="0"/>
              </a:spcAft>
            </a:pPr>
            <a:r>
              <a:rPr sz="1150" b="1" i="0">
                <a:solidFill>
                  <a:srgbClr val="6B7685"/>
                </a:solidFill>
                <a:latin typeface="Arial"/>
              </a:rPr>
              <a:t>RUNG</a:t>
            </a:r>
          </a:p>
        </p:txBody>
      </p:sp>
      <p:sp>
        <p:nvSpPr>
          <p:cNvPr id="7" name="TextBox 6"/>
          <p:cNvSpPr txBox="1"/>
          <p:nvPr/>
        </p:nvSpPr>
        <p:spPr>
          <a:xfrm>
            <a:off x="2046803" y="1881733"/>
            <a:ext cx="6280025" cy="282067"/>
          </a:xfrm>
          <a:prstGeom prst="rect">
            <a:avLst/>
          </a:prstGeom>
          <a:noFill/>
        </p:spPr>
        <p:txBody>
          <a:bodyPr wrap="square" lIns="0" rIns="0" tIns="0" bIns="0" anchor="t">
            <a:spAutoFit/>
          </a:bodyPr>
          <a:lstStyle/>
          <a:p>
            <a:pPr algn="l">
              <a:lnSpc>
                <a:spcPts val="1265"/>
              </a:lnSpc>
              <a:spcAft>
                <a:spcPts val="0"/>
              </a:spcAft>
            </a:pPr>
            <a:r>
              <a:rPr sz="1150" b="1" i="0">
                <a:solidFill>
                  <a:srgbClr val="6B7685"/>
                </a:solidFill>
                <a:latin typeface="Arial"/>
              </a:rPr>
              <a:t>PATH OR ARTIFACT</a:t>
            </a:r>
          </a:p>
        </p:txBody>
      </p:sp>
      <p:sp>
        <p:nvSpPr>
          <p:cNvPr id="8" name="TextBox 7"/>
          <p:cNvSpPr txBox="1"/>
          <p:nvPr/>
        </p:nvSpPr>
        <p:spPr>
          <a:xfrm>
            <a:off x="8473133" y="1881733"/>
            <a:ext cx="2883714" cy="282067"/>
          </a:xfrm>
          <a:prstGeom prst="rect">
            <a:avLst/>
          </a:prstGeom>
          <a:noFill/>
        </p:spPr>
        <p:txBody>
          <a:bodyPr wrap="square" lIns="0" rIns="0" tIns="0" bIns="0" anchor="t">
            <a:spAutoFit/>
          </a:bodyPr>
          <a:lstStyle/>
          <a:p>
            <a:pPr algn="l">
              <a:lnSpc>
                <a:spcPts val="1265"/>
              </a:lnSpc>
              <a:spcAft>
                <a:spcPts val="0"/>
              </a:spcAft>
            </a:pPr>
            <a:r>
              <a:rPr sz="1150" b="1" i="0">
                <a:solidFill>
                  <a:srgbClr val="6B7685"/>
                </a:solidFill>
                <a:latin typeface="Arial"/>
              </a:rPr>
              <a:t>STATUS</a:t>
            </a:r>
          </a:p>
        </p:txBody>
      </p:sp>
      <p:sp>
        <p:nvSpPr>
          <p:cNvPr id="9" name="TextBox 8"/>
          <p:cNvSpPr txBox="1"/>
          <p:nvPr/>
        </p:nvSpPr>
        <p:spPr>
          <a:xfrm>
            <a:off x="685800" y="2163800"/>
            <a:ext cx="1214699" cy="347154"/>
          </a:xfrm>
          <a:prstGeom prst="rect">
            <a:avLst/>
          </a:prstGeom>
          <a:noFill/>
        </p:spPr>
        <p:txBody>
          <a:bodyPr wrap="square" lIns="0" rIns="0" tIns="0" bIns="0" anchor="ctr">
            <a:spAutoFit/>
          </a:bodyPr>
          <a:lstStyle/>
          <a:p>
            <a:pPr algn="l">
              <a:lnSpc>
                <a:spcPts val="1437"/>
              </a:lnSpc>
              <a:spcAft>
                <a:spcPts val="0"/>
              </a:spcAft>
            </a:pPr>
            <a:r>
              <a:rPr sz="1250" b="0" i="0">
                <a:solidFill>
                  <a:srgbClr val="141B2E"/>
                </a:solidFill>
                <a:latin typeface="Arial"/>
              </a:rPr>
              <a:t>Hook</a:t>
            </a:r>
          </a:p>
        </p:txBody>
      </p:sp>
      <p:sp>
        <p:nvSpPr>
          <p:cNvPr id="10" name="TextBox 9"/>
          <p:cNvSpPr txBox="1"/>
          <p:nvPr/>
        </p:nvSpPr>
        <p:spPr>
          <a:xfrm>
            <a:off x="2046803" y="2163800"/>
            <a:ext cx="6280025" cy="347154"/>
          </a:xfrm>
          <a:prstGeom prst="rect">
            <a:avLst/>
          </a:prstGeom>
          <a:noFill/>
        </p:spPr>
        <p:txBody>
          <a:bodyPr wrap="square" lIns="0" rIns="0" tIns="0" bIns="0" anchor="ctr">
            <a:spAutoFit/>
          </a:bodyPr>
          <a:lstStyle/>
          <a:p>
            <a:pPr algn="l">
              <a:lnSpc>
                <a:spcPts val="1437"/>
              </a:lnSpc>
              <a:spcAft>
                <a:spcPts val="0"/>
              </a:spcAft>
            </a:pPr>
            <a:r>
              <a:rPr sz="1250" b="0" i="0">
                <a:solidFill>
                  <a:srgbClr val="141B2E"/>
                </a:solidFill>
                <a:latin typeface="Consolas"/>
              </a:rPr>
              <a:t>.claude/settings.json</a:t>
            </a:r>
            <a:r>
              <a:rPr sz="1250" b="0" i="0">
                <a:solidFill>
                  <a:srgbClr val="141B2E"/>
                </a:solidFill>
                <a:latin typeface="Arial"/>
              </a:rPr>
              <a:t> + </a:t>
            </a:r>
            <a:r>
              <a:rPr sz="1250" b="0" i="0">
                <a:solidFill>
                  <a:srgbClr val="141B2E"/>
                </a:solidFill>
                <a:latin typeface="Consolas"/>
              </a:rPr>
              <a:t>.claude/hooks/selftest-branch-guard.sh</a:t>
            </a:r>
          </a:p>
        </p:txBody>
      </p:sp>
      <p:sp>
        <p:nvSpPr>
          <p:cNvPr id="11" name="TextBox 10"/>
          <p:cNvSpPr txBox="1"/>
          <p:nvPr/>
        </p:nvSpPr>
        <p:spPr>
          <a:xfrm>
            <a:off x="8473133" y="2163800"/>
            <a:ext cx="2883714" cy="347154"/>
          </a:xfrm>
          <a:prstGeom prst="rect">
            <a:avLst/>
          </a:prstGeom>
          <a:noFill/>
        </p:spPr>
        <p:txBody>
          <a:bodyPr wrap="square" lIns="0" rIns="0" tIns="0" bIns="0" anchor="ctr">
            <a:spAutoFit/>
          </a:bodyPr>
          <a:lstStyle/>
          <a:p>
            <a:pPr algn="l">
              <a:lnSpc>
                <a:spcPts val="1437"/>
              </a:lnSpc>
              <a:spcAft>
                <a:spcPts val="0"/>
              </a:spcAft>
            </a:pPr>
            <a:r>
              <a:rPr sz="1250" b="0" i="0">
                <a:solidFill>
                  <a:srgbClr val="141B2E"/>
                </a:solidFill>
                <a:latin typeface="Arial"/>
              </a:rPr>
              <a:t>there is a commit</a:t>
            </a:r>
          </a:p>
        </p:txBody>
      </p:sp>
      <p:cxnSp>
        <p:nvCxnSpPr>
          <p:cNvPr id="12" name="Connector 11"/>
          <p:cNvCxnSpPr/>
          <p:nvPr/>
        </p:nvCxnSpPr>
        <p:spPr>
          <a:xfrm>
            <a:off x="685800" y="2510955"/>
            <a:ext cx="10817352" cy="0"/>
          </a:xfrm>
          <a:prstGeom prst="line">
            <a:avLst/>
          </a:prstGeom>
          <a:ln w="9525">
            <a:solidFill>
              <a:srgbClr val="E5EAF0"/>
            </a:solidFill>
          </a:ln>
        </p:spPr>
        <p:style>
          <a:lnRef idx="2">
            <a:schemeClr val="accent1"/>
          </a:lnRef>
          <a:fillRef idx="0">
            <a:schemeClr val="accent1"/>
          </a:fillRef>
          <a:effectRef idx="1">
            <a:schemeClr val="accent1"/>
          </a:effectRef>
          <a:fontRef idx="minor">
            <a:schemeClr val="tx1"/>
          </a:fontRef>
        </p:style>
      </p:cxnSp>
      <p:sp>
        <p:nvSpPr>
          <p:cNvPr id="13" name="TextBox 12"/>
          <p:cNvSpPr txBox="1"/>
          <p:nvPr/>
        </p:nvSpPr>
        <p:spPr>
          <a:xfrm>
            <a:off x="685800" y="2510955"/>
            <a:ext cx="1214699" cy="347154"/>
          </a:xfrm>
          <a:prstGeom prst="rect">
            <a:avLst/>
          </a:prstGeom>
          <a:noFill/>
        </p:spPr>
        <p:txBody>
          <a:bodyPr wrap="square" lIns="0" rIns="0" tIns="0" bIns="0" anchor="ctr">
            <a:spAutoFit/>
          </a:bodyPr>
          <a:lstStyle/>
          <a:p>
            <a:pPr algn="l">
              <a:lnSpc>
                <a:spcPts val="1437"/>
              </a:lnSpc>
              <a:spcAft>
                <a:spcPts val="0"/>
              </a:spcAft>
            </a:pPr>
            <a:r>
              <a:rPr sz="1250" b="0" i="0">
                <a:solidFill>
                  <a:srgbClr val="141B2E"/>
                </a:solidFill>
                <a:latin typeface="Arial"/>
              </a:rPr>
              <a:t>Skill</a:t>
            </a:r>
          </a:p>
        </p:txBody>
      </p:sp>
      <p:sp>
        <p:nvSpPr>
          <p:cNvPr id="14" name="TextBox 13"/>
          <p:cNvSpPr txBox="1"/>
          <p:nvPr/>
        </p:nvSpPr>
        <p:spPr>
          <a:xfrm>
            <a:off x="2046803" y="2510955"/>
            <a:ext cx="6280025" cy="347154"/>
          </a:xfrm>
          <a:prstGeom prst="rect">
            <a:avLst/>
          </a:prstGeom>
          <a:noFill/>
        </p:spPr>
        <p:txBody>
          <a:bodyPr wrap="square" lIns="0" rIns="0" tIns="0" bIns="0" anchor="ctr">
            <a:spAutoFit/>
          </a:bodyPr>
          <a:lstStyle/>
          <a:p>
            <a:pPr algn="l">
              <a:lnSpc>
                <a:spcPts val="1437"/>
              </a:lnSpc>
              <a:spcAft>
                <a:spcPts val="0"/>
              </a:spcAft>
            </a:pPr>
            <a:r>
              <a:rPr sz="1250" b="0" i="0">
                <a:solidFill>
                  <a:srgbClr val="141B2E"/>
                </a:solidFill>
                <a:latin typeface="Consolas"/>
              </a:rPr>
              <a:t>.claude/skills/deploy/SKILL.md</a:t>
            </a:r>
          </a:p>
        </p:txBody>
      </p:sp>
      <p:sp>
        <p:nvSpPr>
          <p:cNvPr id="15" name="TextBox 14"/>
          <p:cNvSpPr txBox="1"/>
          <p:nvPr/>
        </p:nvSpPr>
        <p:spPr>
          <a:xfrm>
            <a:off x="8473133" y="2510955"/>
            <a:ext cx="2883714" cy="347154"/>
          </a:xfrm>
          <a:prstGeom prst="rect">
            <a:avLst/>
          </a:prstGeom>
          <a:noFill/>
        </p:spPr>
        <p:txBody>
          <a:bodyPr wrap="square" lIns="0" rIns="0" tIns="0" bIns="0" anchor="ctr">
            <a:spAutoFit/>
          </a:bodyPr>
          <a:lstStyle/>
          <a:p>
            <a:pPr algn="l">
              <a:lnSpc>
                <a:spcPts val="1437"/>
              </a:lnSpc>
              <a:spcAft>
                <a:spcPts val="0"/>
              </a:spcAft>
            </a:pPr>
            <a:r>
              <a:rPr sz="1250" b="0" i="0">
                <a:solidFill>
                  <a:srgbClr val="141B2E"/>
                </a:solidFill>
                <a:latin typeface="Arial"/>
              </a:rPr>
              <a:t>planned, no commit</a:t>
            </a:r>
          </a:p>
        </p:txBody>
      </p:sp>
      <p:cxnSp>
        <p:nvCxnSpPr>
          <p:cNvPr id="16" name="Connector 15"/>
          <p:cNvCxnSpPr/>
          <p:nvPr/>
        </p:nvCxnSpPr>
        <p:spPr>
          <a:xfrm>
            <a:off x="685800" y="2858109"/>
            <a:ext cx="10817352" cy="0"/>
          </a:xfrm>
          <a:prstGeom prst="line">
            <a:avLst/>
          </a:prstGeom>
          <a:ln w="9525">
            <a:solidFill>
              <a:srgbClr val="E5EAF0"/>
            </a:solidFill>
          </a:ln>
        </p:spPr>
        <p:style>
          <a:lnRef idx="2">
            <a:schemeClr val="accent1"/>
          </a:lnRef>
          <a:fillRef idx="0">
            <a:schemeClr val="accent1"/>
          </a:fillRef>
          <a:effectRef idx="1">
            <a:schemeClr val="accent1"/>
          </a:effectRef>
          <a:fontRef idx="minor">
            <a:schemeClr val="tx1"/>
          </a:fontRef>
        </p:style>
      </p:cxnSp>
      <p:sp>
        <p:nvSpPr>
          <p:cNvPr id="17" name="TextBox 16"/>
          <p:cNvSpPr txBox="1"/>
          <p:nvPr/>
        </p:nvSpPr>
        <p:spPr>
          <a:xfrm>
            <a:off x="685800" y="2858109"/>
            <a:ext cx="1214699" cy="347154"/>
          </a:xfrm>
          <a:prstGeom prst="rect">
            <a:avLst/>
          </a:prstGeom>
          <a:noFill/>
        </p:spPr>
        <p:txBody>
          <a:bodyPr wrap="square" lIns="0" rIns="0" tIns="0" bIns="0" anchor="ctr">
            <a:spAutoFit/>
          </a:bodyPr>
          <a:lstStyle/>
          <a:p>
            <a:pPr algn="l">
              <a:lnSpc>
                <a:spcPts val="1437"/>
              </a:lnSpc>
              <a:spcAft>
                <a:spcPts val="0"/>
              </a:spcAft>
            </a:pPr>
            <a:r>
              <a:rPr sz="1250" b="0" i="0">
                <a:solidFill>
                  <a:srgbClr val="141B2E"/>
                </a:solidFill>
                <a:latin typeface="Arial"/>
              </a:rPr>
              <a:t>CLAUDE.md</a:t>
            </a:r>
          </a:p>
        </p:txBody>
      </p:sp>
      <p:sp>
        <p:nvSpPr>
          <p:cNvPr id="18" name="TextBox 17"/>
          <p:cNvSpPr txBox="1"/>
          <p:nvPr/>
        </p:nvSpPr>
        <p:spPr>
          <a:xfrm>
            <a:off x="2046803" y="2858109"/>
            <a:ext cx="6280025" cy="347154"/>
          </a:xfrm>
          <a:prstGeom prst="rect">
            <a:avLst/>
          </a:prstGeom>
          <a:noFill/>
        </p:spPr>
        <p:txBody>
          <a:bodyPr wrap="square" lIns="0" rIns="0" tIns="0" bIns="0" anchor="ctr">
            <a:spAutoFit/>
          </a:bodyPr>
          <a:lstStyle/>
          <a:p>
            <a:pPr algn="l">
              <a:lnSpc>
                <a:spcPts val="1437"/>
              </a:lnSpc>
              <a:spcAft>
                <a:spcPts val="0"/>
              </a:spcAft>
            </a:pPr>
            <a:r>
              <a:rPr sz="1250" b="0" i="0">
                <a:solidFill>
                  <a:srgbClr val="141B2E"/>
                </a:solidFill>
                <a:latin typeface="Arial"/>
              </a:rPr>
              <a:t>40 lines / 5 sections</a:t>
            </a:r>
          </a:p>
        </p:txBody>
      </p:sp>
      <p:sp>
        <p:nvSpPr>
          <p:cNvPr id="19" name="TextBox 18"/>
          <p:cNvSpPr txBox="1"/>
          <p:nvPr/>
        </p:nvSpPr>
        <p:spPr>
          <a:xfrm>
            <a:off x="8473133" y="2858109"/>
            <a:ext cx="2883714" cy="347154"/>
          </a:xfrm>
          <a:prstGeom prst="rect">
            <a:avLst/>
          </a:prstGeom>
          <a:noFill/>
        </p:spPr>
        <p:txBody>
          <a:bodyPr wrap="square" lIns="0" rIns="0" tIns="0" bIns="0" anchor="ctr">
            <a:spAutoFit/>
          </a:bodyPr>
          <a:lstStyle/>
          <a:p>
            <a:pPr algn="l">
              <a:lnSpc>
                <a:spcPts val="1437"/>
              </a:lnSpc>
              <a:spcAft>
                <a:spcPts val="0"/>
              </a:spcAft>
            </a:pPr>
            <a:r>
              <a:rPr sz="1250" b="0" i="0">
                <a:solidFill>
                  <a:srgbClr val="141B2E"/>
                </a:solidFill>
                <a:latin typeface="Arial"/>
              </a:rPr>
              <a:t>there is a commit</a:t>
            </a:r>
          </a:p>
        </p:txBody>
      </p:sp>
      <p:cxnSp>
        <p:nvCxnSpPr>
          <p:cNvPr id="20" name="Connector 19"/>
          <p:cNvCxnSpPr/>
          <p:nvPr/>
        </p:nvCxnSpPr>
        <p:spPr>
          <a:xfrm>
            <a:off x="685800" y="3205264"/>
            <a:ext cx="10817352" cy="0"/>
          </a:xfrm>
          <a:prstGeom prst="line">
            <a:avLst/>
          </a:prstGeom>
          <a:ln w="9525">
            <a:solidFill>
              <a:srgbClr val="E5EAF0"/>
            </a:solidFill>
          </a:ln>
        </p:spPr>
        <p:style>
          <a:lnRef idx="2">
            <a:schemeClr val="accent1"/>
          </a:lnRef>
          <a:fillRef idx="0">
            <a:schemeClr val="accent1"/>
          </a:fillRef>
          <a:effectRef idx="1">
            <a:schemeClr val="accent1"/>
          </a:effectRef>
          <a:fontRef idx="minor">
            <a:schemeClr val="tx1"/>
          </a:fontRef>
        </p:style>
      </p:cxnSp>
      <p:sp>
        <p:nvSpPr>
          <p:cNvPr id="21" name="TextBox 20"/>
          <p:cNvSpPr txBox="1"/>
          <p:nvPr/>
        </p:nvSpPr>
        <p:spPr>
          <a:xfrm>
            <a:off x="685800" y="3205264"/>
            <a:ext cx="1214699" cy="347154"/>
          </a:xfrm>
          <a:prstGeom prst="rect">
            <a:avLst/>
          </a:prstGeom>
          <a:noFill/>
        </p:spPr>
        <p:txBody>
          <a:bodyPr wrap="square" lIns="0" rIns="0" tIns="0" bIns="0" anchor="ctr">
            <a:spAutoFit/>
          </a:bodyPr>
          <a:lstStyle/>
          <a:p>
            <a:pPr algn="l">
              <a:lnSpc>
                <a:spcPts val="1437"/>
              </a:lnSpc>
              <a:spcAft>
                <a:spcPts val="0"/>
              </a:spcAft>
            </a:pPr>
            <a:r>
              <a:rPr sz="1250" b="0" i="0">
                <a:solidFill>
                  <a:srgbClr val="141B2E"/>
                </a:solidFill>
                <a:latin typeface="Arial"/>
              </a:rPr>
              <a:t>DECISIONS.md</a:t>
            </a:r>
          </a:p>
        </p:txBody>
      </p:sp>
      <p:sp>
        <p:nvSpPr>
          <p:cNvPr id="22" name="TextBox 21"/>
          <p:cNvSpPr txBox="1"/>
          <p:nvPr/>
        </p:nvSpPr>
        <p:spPr>
          <a:xfrm>
            <a:off x="2046803" y="3205264"/>
            <a:ext cx="6280025" cy="347154"/>
          </a:xfrm>
          <a:prstGeom prst="rect">
            <a:avLst/>
          </a:prstGeom>
          <a:noFill/>
        </p:spPr>
        <p:txBody>
          <a:bodyPr wrap="square" lIns="0" rIns="0" tIns="0" bIns="0" anchor="ctr">
            <a:spAutoFit/>
          </a:bodyPr>
          <a:lstStyle/>
          <a:p>
            <a:pPr algn="l">
              <a:lnSpc>
                <a:spcPts val="1437"/>
              </a:lnSpc>
              <a:spcAft>
                <a:spcPts val="0"/>
              </a:spcAft>
            </a:pPr>
            <a:r>
              <a:rPr sz="1250" b="0" i="0">
                <a:solidFill>
                  <a:srgbClr val="141B2E"/>
                </a:solidFill>
                <a:latin typeface="Arial"/>
              </a:rPr>
              <a:t>the repository's documentation layer</a:t>
            </a:r>
          </a:p>
        </p:txBody>
      </p:sp>
      <p:sp>
        <p:nvSpPr>
          <p:cNvPr id="23" name="TextBox 22"/>
          <p:cNvSpPr txBox="1"/>
          <p:nvPr/>
        </p:nvSpPr>
        <p:spPr>
          <a:xfrm>
            <a:off x="8473133" y="3205264"/>
            <a:ext cx="2883714" cy="347154"/>
          </a:xfrm>
          <a:prstGeom prst="rect">
            <a:avLst/>
          </a:prstGeom>
          <a:noFill/>
        </p:spPr>
        <p:txBody>
          <a:bodyPr wrap="square" lIns="0" rIns="0" tIns="0" bIns="0" anchor="ctr">
            <a:spAutoFit/>
          </a:bodyPr>
          <a:lstStyle/>
          <a:p>
            <a:pPr algn="l">
              <a:lnSpc>
                <a:spcPts val="1437"/>
              </a:lnSpc>
              <a:spcAft>
                <a:spcPts val="0"/>
              </a:spcAft>
            </a:pPr>
            <a:r>
              <a:rPr sz="1250" b="0" i="0">
                <a:solidFill>
                  <a:srgbClr val="141B2E"/>
                </a:solidFill>
                <a:latin typeface="Arial"/>
              </a:rPr>
              <a:t>unchanged</a:t>
            </a:r>
          </a:p>
        </p:txBody>
      </p:sp>
      <p:cxnSp>
        <p:nvCxnSpPr>
          <p:cNvPr id="24" name="Connector 23"/>
          <p:cNvCxnSpPr/>
          <p:nvPr/>
        </p:nvCxnSpPr>
        <p:spPr>
          <a:xfrm>
            <a:off x="685800" y="3552418"/>
            <a:ext cx="10817352" cy="0"/>
          </a:xfrm>
          <a:prstGeom prst="line">
            <a:avLst/>
          </a:prstGeom>
          <a:ln w="9525">
            <a:solidFill>
              <a:srgbClr val="E5EAF0"/>
            </a:solidFill>
          </a:ln>
        </p:spPr>
        <p:style>
          <a:lnRef idx="2">
            <a:schemeClr val="accent1"/>
          </a:lnRef>
          <a:fillRef idx="0">
            <a:schemeClr val="accent1"/>
          </a:fillRef>
          <a:effectRef idx="1">
            <a:schemeClr val="accent1"/>
          </a:effectRef>
          <a:fontRef idx="minor">
            <a:schemeClr val="tx1"/>
          </a:fontRef>
        </p:style>
      </p:cxnSp>
      <p:sp>
        <p:nvSpPr>
          <p:cNvPr id="25" name="TextBox 24"/>
          <p:cNvSpPr txBox="1"/>
          <p:nvPr/>
        </p:nvSpPr>
        <p:spPr>
          <a:xfrm>
            <a:off x="685800" y="3552418"/>
            <a:ext cx="1214699" cy="529717"/>
          </a:xfrm>
          <a:prstGeom prst="rect">
            <a:avLst/>
          </a:prstGeom>
          <a:noFill/>
        </p:spPr>
        <p:txBody>
          <a:bodyPr wrap="square" lIns="0" rIns="0" tIns="0" bIns="0" anchor="ctr">
            <a:spAutoFit/>
          </a:bodyPr>
          <a:lstStyle/>
          <a:p>
            <a:pPr algn="l">
              <a:lnSpc>
                <a:spcPts val="1437"/>
              </a:lnSpc>
              <a:spcAft>
                <a:spcPts val="0"/>
              </a:spcAft>
            </a:pPr>
            <a:r>
              <a:rPr sz="1250" b="0" i="0">
                <a:solidFill>
                  <a:srgbClr val="141B2E"/>
                </a:solidFill>
                <a:latin typeface="Arial"/>
              </a:rPr>
              <a:t>MCP</a:t>
            </a:r>
          </a:p>
        </p:txBody>
      </p:sp>
      <p:sp>
        <p:nvSpPr>
          <p:cNvPr id="26" name="TextBox 25"/>
          <p:cNvSpPr txBox="1"/>
          <p:nvPr/>
        </p:nvSpPr>
        <p:spPr>
          <a:xfrm>
            <a:off x="2046803" y="3552418"/>
            <a:ext cx="6280025" cy="529717"/>
          </a:xfrm>
          <a:prstGeom prst="rect">
            <a:avLst/>
          </a:prstGeom>
          <a:noFill/>
        </p:spPr>
        <p:txBody>
          <a:bodyPr wrap="square" lIns="0" rIns="0" tIns="0" bIns="0" anchor="ctr">
            <a:spAutoFit/>
          </a:bodyPr>
          <a:lstStyle/>
          <a:p>
            <a:pPr algn="l">
              <a:lnSpc>
                <a:spcPts val="1437"/>
              </a:lnSpc>
              <a:spcAft>
                <a:spcPts val="0"/>
              </a:spcAft>
            </a:pPr>
            <a:r>
              <a:rPr sz="1250" b="0" i="0">
                <a:solidFill>
                  <a:srgbClr val="141B2E"/>
                </a:solidFill>
                <a:latin typeface="Consolas"/>
              </a:rPr>
              <a:t>.mcp.json</a:t>
            </a:r>
            <a:r>
              <a:rPr sz="1250" b="0" i="0">
                <a:solidFill>
                  <a:srgbClr val="141B2E"/>
                </a:solidFill>
                <a:latin typeface="Arial"/>
              </a:rPr>
              <a:t>, permissions struck out down to three operations</a:t>
            </a:r>
          </a:p>
        </p:txBody>
      </p:sp>
      <p:sp>
        <p:nvSpPr>
          <p:cNvPr id="27" name="TextBox 26"/>
          <p:cNvSpPr txBox="1"/>
          <p:nvPr/>
        </p:nvSpPr>
        <p:spPr>
          <a:xfrm>
            <a:off x="8473133" y="3552418"/>
            <a:ext cx="2883714" cy="529717"/>
          </a:xfrm>
          <a:prstGeom prst="rect">
            <a:avLst/>
          </a:prstGeom>
          <a:noFill/>
        </p:spPr>
        <p:txBody>
          <a:bodyPr wrap="square" lIns="0" rIns="0" tIns="0" bIns="0" anchor="ctr">
            <a:spAutoFit/>
          </a:bodyPr>
          <a:lstStyle/>
          <a:p>
            <a:pPr algn="l">
              <a:lnSpc>
                <a:spcPts val="1437"/>
              </a:lnSpc>
              <a:spcAft>
                <a:spcPts val="0"/>
              </a:spcAft>
            </a:pPr>
            <a:r>
              <a:rPr sz="1250" b="0" i="0">
                <a:solidFill>
                  <a:srgbClr val="141B2E"/>
                </a:solidFill>
                <a:latin typeface="Arial"/>
              </a:rPr>
              <a:t>planned, no commit and there will not be one</a:t>
            </a:r>
          </a:p>
        </p:txBody>
      </p:sp>
      <p:cxnSp>
        <p:nvCxnSpPr>
          <p:cNvPr id="28" name="Connector 27"/>
          <p:cNvCxnSpPr/>
          <p:nvPr/>
        </p:nvCxnSpPr>
        <p:spPr>
          <a:xfrm>
            <a:off x="685800" y="4082135"/>
            <a:ext cx="10817352" cy="0"/>
          </a:xfrm>
          <a:prstGeom prst="line">
            <a:avLst/>
          </a:prstGeom>
          <a:ln w="9525">
            <a:solidFill>
              <a:srgbClr val="E5EAF0"/>
            </a:solidFill>
          </a:ln>
        </p:spPr>
        <p:style>
          <a:lnRef idx="2">
            <a:schemeClr val="accent1"/>
          </a:lnRef>
          <a:fillRef idx="0">
            <a:schemeClr val="accent1"/>
          </a:fillRef>
          <a:effectRef idx="1">
            <a:schemeClr val="accent1"/>
          </a:effectRef>
          <a:fontRef idx="minor">
            <a:schemeClr val="tx1"/>
          </a:fontRef>
        </p:style>
      </p:cxnSp>
      <p:sp>
        <p:nvSpPr>
          <p:cNvPr id="29" name="TextBox 28"/>
          <p:cNvSpPr txBox="1"/>
          <p:nvPr/>
        </p:nvSpPr>
        <p:spPr>
          <a:xfrm>
            <a:off x="685800" y="4082135"/>
            <a:ext cx="1214699" cy="529717"/>
          </a:xfrm>
          <a:prstGeom prst="rect">
            <a:avLst/>
          </a:prstGeom>
          <a:noFill/>
        </p:spPr>
        <p:txBody>
          <a:bodyPr wrap="square" lIns="0" rIns="0" tIns="0" bIns="0" anchor="ctr">
            <a:spAutoFit/>
          </a:bodyPr>
          <a:lstStyle/>
          <a:p>
            <a:pPr algn="l">
              <a:lnSpc>
                <a:spcPts val="1437"/>
              </a:lnSpc>
              <a:spcAft>
                <a:spcPts val="0"/>
              </a:spcAft>
            </a:pPr>
            <a:r>
              <a:rPr sz="1250" b="0" i="0">
                <a:solidFill>
                  <a:srgbClr val="141B2E"/>
                </a:solidFill>
                <a:latin typeface="Arial"/>
              </a:rPr>
              <a:t>Subagent</a:t>
            </a:r>
          </a:p>
        </p:txBody>
      </p:sp>
      <p:sp>
        <p:nvSpPr>
          <p:cNvPr id="30" name="TextBox 29"/>
          <p:cNvSpPr txBox="1"/>
          <p:nvPr/>
        </p:nvSpPr>
        <p:spPr>
          <a:xfrm>
            <a:off x="2046803" y="4082135"/>
            <a:ext cx="6280025" cy="529717"/>
          </a:xfrm>
          <a:prstGeom prst="rect">
            <a:avLst/>
          </a:prstGeom>
          <a:noFill/>
        </p:spPr>
        <p:txBody>
          <a:bodyPr wrap="square" lIns="0" rIns="0" tIns="0" bIns="0" anchor="ctr">
            <a:spAutoFit/>
          </a:bodyPr>
          <a:lstStyle/>
          <a:p>
            <a:pPr algn="l">
              <a:lnSpc>
                <a:spcPts val="1437"/>
              </a:lnSpc>
              <a:spcAft>
                <a:spcPts val="0"/>
              </a:spcAft>
            </a:pPr>
            <a:r>
              <a:rPr sz="1250" b="0" i="0">
                <a:solidFill>
                  <a:srgbClr val="141B2E"/>
                </a:solidFill>
                <a:latin typeface="Consolas"/>
              </a:rPr>
              <a:t>.claude/agents/diff-reviewer.md</a:t>
            </a:r>
            <a:r>
              <a:rPr sz="1250" b="0" i="0">
                <a:solidFill>
                  <a:srgbClr val="141B2E"/>
                </a:solidFill>
                <a:latin typeface="Arial"/>
              </a:rPr>
              <a:t>, </a:t>
            </a:r>
            <a:r>
              <a:rPr sz="1250" b="0" i="0">
                <a:solidFill>
                  <a:srgbClr val="141B2E"/>
                </a:solidFill>
                <a:latin typeface="Consolas"/>
              </a:rPr>
              <a:t>tools:</a:t>
            </a:r>
            <a:r>
              <a:rPr sz="1250" b="0" i="0">
                <a:solidFill>
                  <a:srgbClr val="141B2E"/>
                </a:solidFill>
                <a:latin typeface="Arial"/>
              </a:rPr>
              <a:t> </a:t>
            </a:r>
            <a:r>
              <a:rPr sz="1250" b="0" i="0">
                <a:solidFill>
                  <a:srgbClr val="141B2E"/>
                </a:solidFill>
                <a:latin typeface="Consolas"/>
              </a:rPr>
              <a:t>Read,</a:t>
            </a:r>
            <a:r>
              <a:rPr sz="1250" b="0" i="0">
                <a:solidFill>
                  <a:srgbClr val="141B2E"/>
                </a:solidFill>
                <a:latin typeface="Arial"/>
              </a:rPr>
              <a:t> </a:t>
            </a:r>
            <a:r>
              <a:rPr sz="1250" b="0" i="0">
                <a:solidFill>
                  <a:srgbClr val="141B2E"/>
                </a:solidFill>
                <a:latin typeface="Consolas"/>
              </a:rPr>
              <a:t>Grep,</a:t>
            </a:r>
            <a:r>
              <a:rPr sz="1250" b="0" i="0">
                <a:solidFill>
                  <a:srgbClr val="141B2E"/>
                </a:solidFill>
                <a:latin typeface="Arial"/>
              </a:rPr>
              <a:t> </a:t>
            </a:r>
            <a:r>
              <a:rPr sz="1250" b="0" i="0">
                <a:solidFill>
                  <a:srgbClr val="141B2E"/>
                </a:solidFill>
                <a:latin typeface="Consolas"/>
              </a:rPr>
              <a:t>Glob</a:t>
            </a:r>
          </a:p>
        </p:txBody>
      </p:sp>
      <p:sp>
        <p:nvSpPr>
          <p:cNvPr id="31" name="TextBox 30"/>
          <p:cNvSpPr txBox="1"/>
          <p:nvPr/>
        </p:nvSpPr>
        <p:spPr>
          <a:xfrm>
            <a:off x="8473133" y="4082135"/>
            <a:ext cx="2883714" cy="529717"/>
          </a:xfrm>
          <a:prstGeom prst="rect">
            <a:avLst/>
          </a:prstGeom>
          <a:noFill/>
        </p:spPr>
        <p:txBody>
          <a:bodyPr wrap="square" lIns="0" rIns="0" tIns="0" bIns="0" anchor="ctr">
            <a:spAutoFit/>
          </a:bodyPr>
          <a:lstStyle/>
          <a:p>
            <a:pPr algn="l">
              <a:lnSpc>
                <a:spcPts val="1437"/>
              </a:lnSpc>
              <a:spcAft>
                <a:spcPts val="0"/>
              </a:spcAft>
            </a:pPr>
            <a:r>
              <a:rPr sz="1250" b="0" i="0">
                <a:solidFill>
                  <a:srgbClr val="141B2E"/>
                </a:solidFill>
                <a:latin typeface="Arial"/>
              </a:rPr>
              <a:t>planned, no commit and there will not be one</a:t>
            </a:r>
          </a:p>
        </p:txBody>
      </p:sp>
      <p:cxnSp>
        <p:nvCxnSpPr>
          <p:cNvPr id="32" name="Connector 31"/>
          <p:cNvCxnSpPr/>
          <p:nvPr/>
        </p:nvCxnSpPr>
        <p:spPr>
          <a:xfrm>
            <a:off x="685800" y="4611852"/>
            <a:ext cx="10817352" cy="0"/>
          </a:xfrm>
          <a:prstGeom prst="line">
            <a:avLst/>
          </a:prstGeom>
          <a:ln w="9525">
            <a:solidFill>
              <a:srgbClr val="E5EAF0"/>
            </a:solidFill>
          </a:ln>
        </p:spPr>
        <p:style>
          <a:lnRef idx="2">
            <a:schemeClr val="accent1"/>
          </a:lnRef>
          <a:fillRef idx="0">
            <a:schemeClr val="accent1"/>
          </a:fillRef>
          <a:effectRef idx="1">
            <a:schemeClr val="accent1"/>
          </a:effectRef>
          <a:fontRef idx="minor">
            <a:schemeClr val="tx1"/>
          </a:fontRef>
        </p:style>
      </p:cxnSp>
      <p:sp>
        <p:nvSpPr>
          <p:cNvPr id="33" name="TextBox 32"/>
          <p:cNvSpPr txBox="1"/>
          <p:nvPr/>
        </p:nvSpPr>
        <p:spPr>
          <a:xfrm>
            <a:off x="685800" y="4611852"/>
            <a:ext cx="1214699" cy="529717"/>
          </a:xfrm>
          <a:prstGeom prst="rect">
            <a:avLst/>
          </a:prstGeom>
          <a:noFill/>
        </p:spPr>
        <p:txBody>
          <a:bodyPr wrap="square" lIns="0" rIns="0" tIns="0" bIns="0" anchor="ctr">
            <a:spAutoFit/>
          </a:bodyPr>
          <a:lstStyle/>
          <a:p>
            <a:pPr algn="l">
              <a:lnSpc>
                <a:spcPts val="1437"/>
              </a:lnSpc>
              <a:spcAft>
                <a:spcPts val="0"/>
              </a:spcAft>
            </a:pPr>
            <a:r>
              <a:rPr sz="1250" b="0" i="0">
                <a:solidFill>
                  <a:srgbClr val="141B2E"/>
                </a:solidFill>
                <a:latin typeface="Arial"/>
              </a:rPr>
              <a:t>Working copies</a:t>
            </a:r>
          </a:p>
        </p:txBody>
      </p:sp>
      <p:sp>
        <p:nvSpPr>
          <p:cNvPr id="34" name="TextBox 33"/>
          <p:cNvSpPr txBox="1"/>
          <p:nvPr/>
        </p:nvSpPr>
        <p:spPr>
          <a:xfrm>
            <a:off x="2046803" y="4611852"/>
            <a:ext cx="6280025" cy="529717"/>
          </a:xfrm>
          <a:prstGeom prst="rect">
            <a:avLst/>
          </a:prstGeom>
          <a:noFill/>
        </p:spPr>
        <p:txBody>
          <a:bodyPr wrap="square" lIns="0" rIns="0" tIns="0" bIns="0" anchor="ctr">
            <a:spAutoFit/>
          </a:bodyPr>
          <a:lstStyle/>
          <a:p>
            <a:pPr algn="l">
              <a:lnSpc>
                <a:spcPts val="1437"/>
              </a:lnSpc>
              <a:spcAft>
                <a:spcPts val="0"/>
              </a:spcAft>
            </a:pPr>
            <a:r>
              <a:rPr sz="1250" b="0" i="0">
                <a:solidFill>
                  <a:srgbClr val="141B2E"/>
                </a:solidFill>
                <a:latin typeface="Consolas"/>
              </a:rPr>
              <a:t>CLAUDE.md</a:t>
            </a:r>
            <a:r>
              <a:rPr sz="1250" b="0" i="0">
                <a:solidFill>
                  <a:srgbClr val="141B2E"/>
                </a:solidFill>
                <a:latin typeface="Arial"/>
              </a:rPr>
              <a:t>, the </a:t>
            </a:r>
            <a:r>
              <a:rPr sz="1250" b="0" i="0">
                <a:solidFill>
                  <a:srgbClr val="141B2E"/>
                </a:solidFill>
                <a:latin typeface="Consolas"/>
              </a:rPr>
              <a:t>Repository</a:t>
            </a:r>
            <a:r>
              <a:rPr sz="1250" b="0" i="0">
                <a:solidFill>
                  <a:srgbClr val="141B2E"/>
                </a:solidFill>
                <a:latin typeface="Arial"/>
              </a:rPr>
              <a:t> </a:t>
            </a:r>
            <a:r>
              <a:rPr sz="1250" b="0" i="0">
                <a:solidFill>
                  <a:srgbClr val="141B2E"/>
                </a:solidFill>
                <a:latin typeface="Consolas"/>
              </a:rPr>
              <a:t>etiquette</a:t>
            </a:r>
            <a:r>
              <a:rPr sz="1250" b="0" i="0">
                <a:solidFill>
                  <a:srgbClr val="141B2E"/>
                </a:solidFill>
                <a:latin typeface="Arial"/>
              </a:rPr>
              <a:t> section — two lines: a copy per task, merge and clean-up at the end</a:t>
            </a:r>
          </a:p>
        </p:txBody>
      </p:sp>
      <p:sp>
        <p:nvSpPr>
          <p:cNvPr id="35" name="TextBox 34"/>
          <p:cNvSpPr txBox="1"/>
          <p:nvPr/>
        </p:nvSpPr>
        <p:spPr>
          <a:xfrm>
            <a:off x="8473133" y="4611852"/>
            <a:ext cx="2883714" cy="529717"/>
          </a:xfrm>
          <a:prstGeom prst="rect">
            <a:avLst/>
          </a:prstGeom>
          <a:noFill/>
        </p:spPr>
        <p:txBody>
          <a:bodyPr wrap="square" lIns="0" rIns="0" tIns="0" bIns="0" anchor="ctr">
            <a:spAutoFit/>
          </a:bodyPr>
          <a:lstStyle/>
          <a:p>
            <a:pPr algn="l">
              <a:lnSpc>
                <a:spcPts val="1437"/>
              </a:lnSpc>
              <a:spcAft>
                <a:spcPts val="0"/>
              </a:spcAft>
            </a:pPr>
            <a:r>
              <a:rPr sz="1250" b="0" i="0">
                <a:solidFill>
                  <a:srgbClr val="141B2E"/>
                </a:solidFill>
                <a:latin typeface="Arial"/>
              </a:rPr>
              <a:t>planned, no commit and there will not be one</a:t>
            </a:r>
          </a:p>
        </p:txBody>
      </p:sp>
      <p:sp>
        <p:nvSpPr>
          <p:cNvPr id="36" name="Rounded Rectangle 35"/>
          <p:cNvSpPr/>
          <p:nvPr/>
        </p:nvSpPr>
        <p:spPr>
          <a:xfrm>
            <a:off x="502920" y="5546445"/>
            <a:ext cx="82296" cy="746760"/>
          </a:xfrm>
          <a:prstGeom prst="roundRect">
            <a:avLst>
              <a:gd name="adj" fmla="val 50000"/>
            </a:avLst>
          </a:prstGeom>
          <a:solidFill>
            <a:srgbClr val="F0AB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859536" y="5674461"/>
            <a:ext cx="10643616" cy="490727"/>
          </a:xfrm>
          <a:prstGeom prst="rect">
            <a:avLst/>
          </a:prstGeom>
          <a:noFill/>
        </p:spPr>
        <p:txBody>
          <a:bodyPr wrap="square" lIns="0" rIns="0" tIns="0" bIns="0" anchor="ctr">
            <a:spAutoFit/>
          </a:bodyPr>
          <a:lstStyle/>
          <a:p>
            <a:pPr algn="l">
              <a:lnSpc>
                <a:spcPts val="1860"/>
              </a:lnSpc>
              <a:spcAft>
                <a:spcPts val="300"/>
              </a:spcAft>
            </a:pPr>
            <a:r>
              <a:rPr sz="1500" b="1" i="0">
                <a:solidFill>
                  <a:srgbClr val="141B2E"/>
                </a:solidFill>
                <a:latin typeface="Arial"/>
              </a:rPr>
              <a:t>"Two files from this class and the rule line will stay nothing but a plan. They will not be in the public repository — and that is said directly, not hidden."</a:t>
            </a:r>
          </a:p>
        </p:txBody>
      </p:sp>
      <p:sp>
        <p:nvSpPr>
          <p:cNvPr id="38" name="TextBox 37"/>
          <p:cNvSpPr txBox="1"/>
          <p:nvPr/>
        </p:nvSpPr>
        <p:spPr>
          <a:xfrm>
            <a:off x="10957255" y="6437376"/>
            <a:ext cx="914400" cy="274320"/>
          </a:xfrm>
          <a:prstGeom prst="rect">
            <a:avLst/>
          </a:prstGeom>
          <a:noFill/>
        </p:spPr>
        <p:txBody>
          <a:bodyPr wrap="square" lIns="0" rIns="0" tIns="0" bIns="0" anchor="t">
            <a:spAutoFit/>
          </a:bodyPr>
          <a:lstStyle/>
          <a:p>
            <a:pPr algn="r">
              <a:lnSpc>
                <a:spcPts val="1238"/>
              </a:lnSpc>
              <a:spcAft>
                <a:spcPts val="0"/>
              </a:spcAft>
            </a:pPr>
            <a:r>
              <a:rPr sz="1050" b="0" i="0">
                <a:solidFill>
                  <a:srgbClr val="6B7685"/>
                </a:solidFill>
                <a:latin typeface="Arial"/>
              </a:rPr>
              <a:t>62</a:t>
            </a:r>
          </a:p>
        </p:txBody>
      </p:sp>
    </p:spTree>
  </p:cSld>
  <p:clrMapOvr>
    <a:masterClrMapping/>
  </p:clrMapOvr>
</p:sld>
</file>

<file path=ppt/slides/slide6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02920" y="310896"/>
            <a:ext cx="11183112" cy="431291"/>
          </a:xfrm>
          <a:prstGeom prst="rect">
            <a:avLst/>
          </a:prstGeom>
          <a:noFill/>
        </p:spPr>
        <p:txBody>
          <a:bodyPr wrap="square" lIns="0" rIns="0" tIns="0" bIns="0" anchor="t">
            <a:spAutoFit/>
          </a:bodyPr>
          <a:lstStyle/>
          <a:p>
            <a:pPr algn="l">
              <a:lnSpc>
                <a:spcPts val="2963"/>
              </a:lnSpc>
              <a:spcAft>
                <a:spcPts val="0"/>
              </a:spcAft>
            </a:pPr>
            <a:r>
              <a:rPr sz="2600" b="1" i="0">
                <a:solidFill>
                  <a:srgbClr val="141B2E"/>
                </a:solidFill>
                <a:latin typeface="Arial"/>
              </a:rPr>
              <a:t>This question has already been asked</a:t>
            </a:r>
          </a:p>
        </p:txBody>
      </p:sp>
      <p:sp>
        <p:nvSpPr>
          <p:cNvPr id="3" name="Rectangle 2"/>
          <p:cNvSpPr/>
          <p:nvPr/>
        </p:nvSpPr>
        <p:spPr>
          <a:xfrm>
            <a:off x="502920" y="2297887"/>
            <a:ext cx="32004" cy="525780"/>
          </a:xfrm>
          <a:prstGeom prst="rect">
            <a:avLst/>
          </a:prstGeom>
          <a:solidFill>
            <a:srgbClr val="0280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2668" y="2352751"/>
            <a:ext cx="10730484" cy="416052"/>
          </a:xfrm>
          <a:prstGeom prst="rect">
            <a:avLst/>
          </a:prstGeom>
          <a:noFill/>
        </p:spPr>
        <p:txBody>
          <a:bodyPr wrap="square" lIns="0" rIns="0" tIns="0" bIns="0" anchor="ctr">
            <a:spAutoFit/>
          </a:bodyPr>
          <a:lstStyle/>
          <a:p>
            <a:pPr algn="l">
              <a:lnSpc>
                <a:spcPts val="1638"/>
              </a:lnSpc>
              <a:spcAft>
                <a:spcPts val="300"/>
              </a:spcAft>
            </a:pPr>
            <a:r>
              <a:rPr sz="1300" b="0" i="1">
                <a:solidFill>
                  <a:srgbClr val="6B7685"/>
                </a:solidFill>
                <a:latin typeface="Arial"/>
              </a:rPr>
              <a:t>"At the start of the class you kept your answer to it to yourself. Now out loud: whose answer has changed and what exactly changed it."</a:t>
            </a:r>
          </a:p>
        </p:txBody>
      </p:sp>
      <p:sp>
        <p:nvSpPr>
          <p:cNvPr id="5" name="Rounded Rectangle 4"/>
          <p:cNvSpPr/>
          <p:nvPr/>
        </p:nvSpPr>
        <p:spPr>
          <a:xfrm>
            <a:off x="502920" y="3527755"/>
            <a:ext cx="11183112" cy="822960"/>
          </a:xfrm>
          <a:prstGeom prst="roundRect">
            <a:avLst>
              <a:gd name="adj" fmla="val 10000"/>
            </a:avLst>
          </a:prstGeom>
          <a:solidFill>
            <a:srgbClr val="FEF5E0"/>
          </a:solidFill>
          <a:ln w="19050">
            <a:solidFill>
              <a:srgbClr val="F0AB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22376" y="3655771"/>
            <a:ext cx="10634472" cy="566928"/>
          </a:xfrm>
          <a:prstGeom prst="rect">
            <a:avLst/>
          </a:prstGeom>
          <a:noFill/>
        </p:spPr>
        <p:txBody>
          <a:bodyPr wrap="square" lIns="0" rIns="0" tIns="0" bIns="0" anchor="ctr">
            <a:spAutoFit/>
          </a:bodyPr>
          <a:lstStyle/>
          <a:p>
            <a:pPr algn="ctr">
              <a:lnSpc>
                <a:spcPts val="2013"/>
              </a:lnSpc>
              <a:spcAft>
                <a:spcPts val="300"/>
              </a:spcAft>
            </a:pPr>
            <a:r>
              <a:rPr sz="1650" b="1" i="0">
                <a:solidFill>
                  <a:srgbClr val="141B2E"/>
                </a:solidFill>
                <a:latin typeface="Arial"/>
              </a:rPr>
              <a:t>"The work has run past the agent's context — which do you set up first: bringing inside what is not inside, or carrying outside what does not fit inside?"</a:t>
            </a:r>
          </a:p>
        </p:txBody>
      </p:sp>
      <p:sp>
        <p:nvSpPr>
          <p:cNvPr id="7" name="TextBox 6"/>
          <p:cNvSpPr txBox="1"/>
          <p:nvPr/>
        </p:nvSpPr>
        <p:spPr>
          <a:xfrm>
            <a:off x="10957255" y="6437376"/>
            <a:ext cx="914400" cy="274320"/>
          </a:xfrm>
          <a:prstGeom prst="rect">
            <a:avLst/>
          </a:prstGeom>
          <a:noFill/>
        </p:spPr>
        <p:txBody>
          <a:bodyPr wrap="square" lIns="0" rIns="0" tIns="0" bIns="0" anchor="t">
            <a:spAutoFit/>
          </a:bodyPr>
          <a:lstStyle/>
          <a:p>
            <a:pPr algn="r">
              <a:lnSpc>
                <a:spcPts val="1238"/>
              </a:lnSpc>
              <a:spcAft>
                <a:spcPts val="0"/>
              </a:spcAft>
            </a:pPr>
            <a:r>
              <a:rPr sz="1050" b="0" i="0">
                <a:solidFill>
                  <a:srgbClr val="6B7685"/>
                </a:solidFill>
                <a:latin typeface="Arial"/>
              </a:rPr>
              <a:t>63</a:t>
            </a:r>
          </a:p>
        </p:txBody>
      </p:sp>
    </p:spTree>
  </p:cSld>
  <p:clrMapOvr>
    <a:masterClrMapping/>
  </p:clrMapOvr>
</p:sld>
</file>

<file path=ppt/slides/slide6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02920" y="310896"/>
            <a:ext cx="11183112" cy="431291"/>
          </a:xfrm>
          <a:prstGeom prst="rect">
            <a:avLst/>
          </a:prstGeom>
          <a:noFill/>
        </p:spPr>
        <p:txBody>
          <a:bodyPr wrap="square" lIns="0" rIns="0" tIns="0" bIns="0" anchor="t">
            <a:spAutoFit/>
          </a:bodyPr>
          <a:lstStyle/>
          <a:p>
            <a:pPr algn="l">
              <a:lnSpc>
                <a:spcPts val="2963"/>
              </a:lnSpc>
              <a:spcAft>
                <a:spcPts val="0"/>
              </a:spcAft>
            </a:pPr>
            <a:r>
              <a:rPr sz="2600" b="1" i="0">
                <a:solidFill>
                  <a:srgbClr val="141B2E"/>
                </a:solidFill>
                <a:latin typeface="Arial"/>
              </a:rPr>
              <a:t>How the class ends</a:t>
            </a:r>
          </a:p>
        </p:txBody>
      </p:sp>
      <p:sp>
        <p:nvSpPr>
          <p:cNvPr id="3" name="Rounded Rectangle 2"/>
          <p:cNvSpPr/>
          <p:nvPr/>
        </p:nvSpPr>
        <p:spPr>
          <a:xfrm>
            <a:off x="502920" y="998423"/>
            <a:ext cx="11183112" cy="3296411"/>
          </a:xfrm>
          <a:prstGeom prst="roundRect">
            <a:avLst>
              <a:gd name="adj" fmla="val 9246"/>
            </a:avLst>
          </a:prstGeom>
          <a:solidFill>
            <a:srgbClr val="FFFFFF"/>
          </a:solidFill>
          <a:ln w="1778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85800" y="1181303"/>
            <a:ext cx="2541417" cy="282067"/>
          </a:xfrm>
          <a:prstGeom prst="rect">
            <a:avLst/>
          </a:prstGeom>
          <a:noFill/>
        </p:spPr>
        <p:txBody>
          <a:bodyPr wrap="square" lIns="0" rIns="0" tIns="0" bIns="0" anchor="t">
            <a:spAutoFit/>
          </a:bodyPr>
          <a:lstStyle/>
          <a:p>
            <a:pPr algn="l">
              <a:lnSpc>
                <a:spcPts val="1265"/>
              </a:lnSpc>
              <a:spcAft>
                <a:spcPts val="0"/>
              </a:spcAft>
            </a:pPr>
            <a:r>
              <a:rPr sz="1150" b="1" i="0">
                <a:solidFill>
                  <a:srgbClr val="6B7685"/>
                </a:solidFill>
                <a:latin typeface="Arial"/>
              </a:rPr>
              <a:t>CASE</a:t>
            </a:r>
          </a:p>
        </p:txBody>
      </p:sp>
      <p:sp>
        <p:nvSpPr>
          <p:cNvPr id="5" name="TextBox 4"/>
          <p:cNvSpPr txBox="1"/>
          <p:nvPr/>
        </p:nvSpPr>
        <p:spPr>
          <a:xfrm>
            <a:off x="3373521" y="1181303"/>
            <a:ext cx="707344" cy="282067"/>
          </a:xfrm>
          <a:prstGeom prst="rect">
            <a:avLst/>
          </a:prstGeom>
          <a:noFill/>
        </p:spPr>
        <p:txBody>
          <a:bodyPr wrap="square" lIns="0" rIns="0" tIns="0" bIns="0" anchor="t">
            <a:spAutoFit/>
          </a:bodyPr>
          <a:lstStyle/>
          <a:p>
            <a:pPr algn="l">
              <a:lnSpc>
                <a:spcPts val="1265"/>
              </a:lnSpc>
              <a:spcAft>
                <a:spcPts val="0"/>
              </a:spcAft>
            </a:pPr>
            <a:r>
              <a:rPr sz="1150" b="1" i="0">
                <a:solidFill>
                  <a:srgbClr val="6B7685"/>
                </a:solidFill>
                <a:latin typeface="Arial"/>
              </a:rPr>
              <a:t>SUPPORT</a:t>
            </a:r>
          </a:p>
        </p:txBody>
      </p:sp>
      <p:sp>
        <p:nvSpPr>
          <p:cNvPr id="6" name="TextBox 5"/>
          <p:cNvSpPr txBox="1"/>
          <p:nvPr/>
        </p:nvSpPr>
        <p:spPr>
          <a:xfrm>
            <a:off x="4227169" y="1181303"/>
            <a:ext cx="7129678" cy="282067"/>
          </a:xfrm>
          <a:prstGeom prst="rect">
            <a:avLst/>
          </a:prstGeom>
          <a:noFill/>
        </p:spPr>
        <p:txBody>
          <a:bodyPr wrap="square" lIns="0" rIns="0" tIns="0" bIns="0" anchor="t">
            <a:spAutoFit/>
          </a:bodyPr>
          <a:lstStyle/>
          <a:p>
            <a:pPr algn="l">
              <a:lnSpc>
                <a:spcPts val="1265"/>
              </a:lnSpc>
              <a:spcAft>
                <a:spcPts val="0"/>
              </a:spcAft>
            </a:pPr>
            <a:r>
              <a:rPr sz="1150" b="1" i="0">
                <a:solidFill>
                  <a:srgbClr val="6B7685"/>
                </a:solidFill>
                <a:latin typeface="Arial"/>
              </a:rPr>
              <a:t>CHECKED BY WHAT</a:t>
            </a:r>
          </a:p>
        </p:txBody>
      </p:sp>
      <p:sp>
        <p:nvSpPr>
          <p:cNvPr id="7" name="TextBox 6"/>
          <p:cNvSpPr txBox="1"/>
          <p:nvPr/>
        </p:nvSpPr>
        <p:spPr>
          <a:xfrm>
            <a:off x="685800" y="1463370"/>
            <a:ext cx="2541417" cy="529717"/>
          </a:xfrm>
          <a:prstGeom prst="rect">
            <a:avLst/>
          </a:prstGeom>
          <a:noFill/>
        </p:spPr>
        <p:txBody>
          <a:bodyPr wrap="square" lIns="0" rIns="0" tIns="0" bIns="0" anchor="ctr">
            <a:spAutoFit/>
          </a:bodyPr>
          <a:lstStyle/>
          <a:p>
            <a:pPr algn="l">
              <a:lnSpc>
                <a:spcPts val="1437"/>
              </a:lnSpc>
              <a:spcAft>
                <a:spcPts val="0"/>
              </a:spcAft>
            </a:pPr>
            <a:r>
              <a:rPr sz="1250" b="0" i="0">
                <a:solidFill>
                  <a:srgbClr val="141B2E"/>
                </a:solidFill>
                <a:latin typeface="Arial"/>
              </a:rPr>
              <a:t>MCP — the data is not in the repository</a:t>
            </a:r>
          </a:p>
        </p:txBody>
      </p:sp>
      <p:sp>
        <p:nvSpPr>
          <p:cNvPr id="8" name="TextBox 7"/>
          <p:cNvSpPr txBox="1"/>
          <p:nvPr/>
        </p:nvSpPr>
        <p:spPr>
          <a:xfrm>
            <a:off x="3373521" y="1463370"/>
            <a:ext cx="707344" cy="529717"/>
          </a:xfrm>
          <a:prstGeom prst="rect">
            <a:avLst/>
          </a:prstGeom>
          <a:noFill/>
        </p:spPr>
        <p:txBody>
          <a:bodyPr wrap="square" lIns="0" rIns="0" tIns="0" bIns="0" anchor="ctr">
            <a:spAutoFit/>
          </a:bodyPr>
          <a:lstStyle/>
          <a:p>
            <a:pPr algn="l">
              <a:lnSpc>
                <a:spcPts val="1437"/>
              </a:lnSpc>
              <a:spcAft>
                <a:spcPts val="0"/>
              </a:spcAft>
            </a:pPr>
            <a:r>
              <a:rPr sz="1250" b="0" i="0">
                <a:solidFill>
                  <a:srgbClr val="141B2E"/>
                </a:solidFill>
                <a:latin typeface="Arial"/>
              </a:rPr>
              <a:t>yes</a:t>
            </a:r>
          </a:p>
        </p:txBody>
      </p:sp>
      <p:sp>
        <p:nvSpPr>
          <p:cNvPr id="9" name="TextBox 8"/>
          <p:cNvSpPr txBox="1"/>
          <p:nvPr/>
        </p:nvSpPr>
        <p:spPr>
          <a:xfrm>
            <a:off x="4227169" y="1463370"/>
            <a:ext cx="7129678" cy="529717"/>
          </a:xfrm>
          <a:prstGeom prst="rect">
            <a:avLst/>
          </a:prstGeom>
          <a:noFill/>
        </p:spPr>
        <p:txBody>
          <a:bodyPr wrap="square" lIns="0" rIns="0" tIns="0" bIns="0" anchor="ctr">
            <a:spAutoFit/>
          </a:bodyPr>
          <a:lstStyle/>
          <a:p>
            <a:pPr algn="l">
              <a:lnSpc>
                <a:spcPts val="1437"/>
              </a:lnSpc>
              <a:spcAft>
                <a:spcPts val="0"/>
              </a:spcAft>
            </a:pPr>
            <a:r>
              <a:rPr sz="1250" b="0" i="0">
                <a:solidFill>
                  <a:srgbClr val="141B2E"/>
                </a:solidFill>
                <a:latin typeface="Consolas"/>
              </a:rPr>
              <a:t>claude</a:t>
            </a:r>
            <a:r>
              <a:rPr sz="1250" b="0" i="0">
                <a:solidFill>
                  <a:srgbClr val="141B2E"/>
                </a:solidFill>
                <a:latin typeface="Arial"/>
              </a:rPr>
              <a:t> </a:t>
            </a:r>
            <a:r>
              <a:rPr sz="1250" b="0" i="0">
                <a:solidFill>
                  <a:srgbClr val="141B2E"/>
                </a:solidFill>
                <a:latin typeface="Consolas"/>
              </a:rPr>
              <a:t>mcp</a:t>
            </a:r>
            <a:r>
              <a:rPr sz="1250" b="0" i="0">
                <a:solidFill>
                  <a:srgbClr val="141B2E"/>
                </a:solidFill>
                <a:latin typeface="Arial"/>
              </a:rPr>
              <a:t> </a:t>
            </a:r>
            <a:r>
              <a:rPr sz="1250" b="0" i="0">
                <a:solidFill>
                  <a:srgbClr val="141B2E"/>
                </a:solidFill>
                <a:latin typeface="Consolas"/>
              </a:rPr>
              <a:t>list</a:t>
            </a:r>
            <a:r>
              <a:rPr sz="1250" b="0" i="0">
                <a:solidFill>
                  <a:srgbClr val="141B2E"/>
                </a:solidFill>
                <a:latin typeface="Arial"/>
              </a:rPr>
              <a:t> / </a:t>
            </a:r>
            <a:r>
              <a:rPr sz="1250" b="0" i="0">
                <a:solidFill>
                  <a:srgbClr val="141B2E"/>
                </a:solidFill>
                <a:latin typeface="Consolas"/>
              </a:rPr>
              <a:t>/mcp</a:t>
            </a:r>
            <a:r>
              <a:rPr sz="1250" b="0" i="0">
                <a:solidFill>
                  <a:srgbClr val="141B2E"/>
                </a:solidFill>
                <a:latin typeface="Arial"/>
              </a:rPr>
              <a:t> and a call signed with the server's name — on your own machine in a minute; the assembled file itself is a target state, with no commit behind it</a:t>
            </a:r>
          </a:p>
        </p:txBody>
      </p:sp>
      <p:cxnSp>
        <p:nvCxnSpPr>
          <p:cNvPr id="10" name="Connector 9"/>
          <p:cNvCxnSpPr/>
          <p:nvPr/>
        </p:nvCxnSpPr>
        <p:spPr>
          <a:xfrm>
            <a:off x="685800" y="1993087"/>
            <a:ext cx="10817352" cy="0"/>
          </a:xfrm>
          <a:prstGeom prst="line">
            <a:avLst/>
          </a:prstGeom>
          <a:ln w="9525">
            <a:solidFill>
              <a:srgbClr val="E5EAF0"/>
            </a:solidFill>
          </a:ln>
        </p:spPr>
        <p:style>
          <a:lnRef idx="2">
            <a:schemeClr val="accent1"/>
          </a:lnRef>
          <a:fillRef idx="0">
            <a:schemeClr val="accent1"/>
          </a:fillRef>
          <a:effectRef idx="1">
            <a:schemeClr val="accent1"/>
          </a:effectRef>
          <a:fontRef idx="minor">
            <a:schemeClr val="tx1"/>
          </a:fontRef>
        </p:style>
      </p:cxnSp>
      <p:sp>
        <p:nvSpPr>
          <p:cNvPr id="11" name="TextBox 10"/>
          <p:cNvSpPr txBox="1"/>
          <p:nvPr/>
        </p:nvSpPr>
        <p:spPr>
          <a:xfrm>
            <a:off x="685800" y="1993087"/>
            <a:ext cx="2541417" cy="529717"/>
          </a:xfrm>
          <a:prstGeom prst="rect">
            <a:avLst/>
          </a:prstGeom>
          <a:noFill/>
        </p:spPr>
        <p:txBody>
          <a:bodyPr wrap="square" lIns="0" rIns="0" tIns="0" bIns="0" anchor="ctr">
            <a:spAutoFit/>
          </a:bodyPr>
          <a:lstStyle/>
          <a:p>
            <a:pPr algn="l">
              <a:lnSpc>
                <a:spcPts val="1437"/>
              </a:lnSpc>
              <a:spcAft>
                <a:spcPts val="0"/>
              </a:spcAft>
            </a:pPr>
            <a:r>
              <a:rPr sz="1250" b="0" i="0">
                <a:solidFill>
                  <a:srgbClr val="141B2E"/>
                </a:solidFill>
                <a:latin typeface="Arial"/>
              </a:rPr>
              <a:t>MCP — tool definitions take up context</a:t>
            </a:r>
          </a:p>
        </p:txBody>
      </p:sp>
      <p:sp>
        <p:nvSpPr>
          <p:cNvPr id="12" name="TextBox 11"/>
          <p:cNvSpPr txBox="1"/>
          <p:nvPr/>
        </p:nvSpPr>
        <p:spPr>
          <a:xfrm>
            <a:off x="3373521" y="1993087"/>
            <a:ext cx="707344" cy="529717"/>
          </a:xfrm>
          <a:prstGeom prst="rect">
            <a:avLst/>
          </a:prstGeom>
          <a:noFill/>
        </p:spPr>
        <p:txBody>
          <a:bodyPr wrap="square" lIns="0" rIns="0" tIns="0" bIns="0" anchor="ctr">
            <a:spAutoFit/>
          </a:bodyPr>
          <a:lstStyle/>
          <a:p>
            <a:pPr algn="l">
              <a:lnSpc>
                <a:spcPts val="1437"/>
              </a:lnSpc>
              <a:spcAft>
                <a:spcPts val="0"/>
              </a:spcAft>
            </a:pPr>
            <a:r>
              <a:rPr sz="1250" b="0" i="0">
                <a:solidFill>
                  <a:srgbClr val="141B2E"/>
                </a:solidFill>
                <a:latin typeface="Arial"/>
              </a:rPr>
              <a:t>no</a:t>
            </a:r>
          </a:p>
        </p:txBody>
      </p:sp>
      <p:sp>
        <p:nvSpPr>
          <p:cNvPr id="13" name="TextBox 12"/>
          <p:cNvSpPr txBox="1"/>
          <p:nvPr/>
        </p:nvSpPr>
        <p:spPr>
          <a:xfrm>
            <a:off x="4227169" y="1993087"/>
            <a:ext cx="7129678" cy="529717"/>
          </a:xfrm>
          <a:prstGeom prst="rect">
            <a:avLst/>
          </a:prstGeom>
          <a:noFill/>
        </p:spPr>
        <p:txBody>
          <a:bodyPr wrap="square" lIns="0" rIns="0" tIns="0" bIns="0" anchor="ctr">
            <a:spAutoFit/>
          </a:bodyPr>
          <a:lstStyle/>
          <a:p>
            <a:pPr algn="l">
              <a:lnSpc>
                <a:spcPts val="1437"/>
              </a:lnSpc>
              <a:spcAft>
                <a:spcPts val="0"/>
              </a:spcAft>
            </a:pPr>
            <a:r>
              <a:rPr sz="1250" b="0" i="0">
                <a:solidFill>
                  <a:srgbClr val="141B2E"/>
                </a:solidFill>
                <a:latin typeface="Arial"/>
              </a:rPr>
              <a:t>figures from documentation and engineering blogs; we do not take a measurement in class</a:t>
            </a:r>
          </a:p>
        </p:txBody>
      </p:sp>
      <p:cxnSp>
        <p:nvCxnSpPr>
          <p:cNvPr id="14" name="Connector 13"/>
          <p:cNvCxnSpPr/>
          <p:nvPr/>
        </p:nvCxnSpPr>
        <p:spPr>
          <a:xfrm>
            <a:off x="685800" y="2522804"/>
            <a:ext cx="10817352" cy="0"/>
          </a:xfrm>
          <a:prstGeom prst="line">
            <a:avLst/>
          </a:prstGeom>
          <a:ln w="9525">
            <a:solidFill>
              <a:srgbClr val="E5EAF0"/>
            </a:solidFill>
          </a:ln>
        </p:spPr>
        <p:style>
          <a:lnRef idx="2">
            <a:schemeClr val="accent1"/>
          </a:lnRef>
          <a:fillRef idx="0">
            <a:schemeClr val="accent1"/>
          </a:fillRef>
          <a:effectRef idx="1">
            <a:schemeClr val="accent1"/>
          </a:effectRef>
          <a:fontRef idx="minor">
            <a:schemeClr val="tx1"/>
          </a:fontRef>
        </p:style>
      </p:cxnSp>
      <p:sp>
        <p:nvSpPr>
          <p:cNvPr id="15" name="TextBox 14"/>
          <p:cNvSpPr txBox="1"/>
          <p:nvPr/>
        </p:nvSpPr>
        <p:spPr>
          <a:xfrm>
            <a:off x="685800" y="2522804"/>
            <a:ext cx="2541417" cy="529717"/>
          </a:xfrm>
          <a:prstGeom prst="rect">
            <a:avLst/>
          </a:prstGeom>
          <a:noFill/>
        </p:spPr>
        <p:txBody>
          <a:bodyPr wrap="square" lIns="0" rIns="0" tIns="0" bIns="0" anchor="ctr">
            <a:spAutoFit/>
          </a:bodyPr>
          <a:lstStyle/>
          <a:p>
            <a:pPr algn="l">
              <a:lnSpc>
                <a:spcPts val="1437"/>
              </a:lnSpc>
              <a:spcAft>
                <a:spcPts val="0"/>
              </a:spcAft>
            </a:pPr>
            <a:r>
              <a:rPr sz="1250" b="0" i="0">
                <a:solidFill>
                  <a:srgbClr val="141B2E"/>
                </a:solidFill>
                <a:latin typeface="Arial"/>
              </a:rPr>
              <a:t>Subagent — the reading goes off into the worker's context</a:t>
            </a:r>
          </a:p>
        </p:txBody>
      </p:sp>
      <p:sp>
        <p:nvSpPr>
          <p:cNvPr id="16" name="TextBox 15"/>
          <p:cNvSpPr txBox="1"/>
          <p:nvPr/>
        </p:nvSpPr>
        <p:spPr>
          <a:xfrm>
            <a:off x="3373521" y="2522804"/>
            <a:ext cx="707344" cy="529717"/>
          </a:xfrm>
          <a:prstGeom prst="rect">
            <a:avLst/>
          </a:prstGeom>
          <a:noFill/>
        </p:spPr>
        <p:txBody>
          <a:bodyPr wrap="square" lIns="0" rIns="0" tIns="0" bIns="0" anchor="ctr">
            <a:spAutoFit/>
          </a:bodyPr>
          <a:lstStyle/>
          <a:p>
            <a:pPr algn="l">
              <a:lnSpc>
                <a:spcPts val="1437"/>
              </a:lnSpc>
              <a:spcAft>
                <a:spcPts val="0"/>
              </a:spcAft>
            </a:pPr>
            <a:r>
              <a:rPr sz="1250" b="0" i="0">
                <a:solidFill>
                  <a:srgbClr val="141B2E"/>
                </a:solidFill>
                <a:latin typeface="Arial"/>
              </a:rPr>
              <a:t>no</a:t>
            </a:r>
          </a:p>
        </p:txBody>
      </p:sp>
      <p:sp>
        <p:nvSpPr>
          <p:cNvPr id="17" name="TextBox 16"/>
          <p:cNvSpPr txBox="1"/>
          <p:nvPr/>
        </p:nvSpPr>
        <p:spPr>
          <a:xfrm>
            <a:off x="4227169" y="2522804"/>
            <a:ext cx="7129678" cy="529717"/>
          </a:xfrm>
          <a:prstGeom prst="rect">
            <a:avLst/>
          </a:prstGeom>
          <a:noFill/>
        </p:spPr>
        <p:txBody>
          <a:bodyPr wrap="square" lIns="0" rIns="0" tIns="0" bIns="0" anchor="ctr">
            <a:spAutoFit/>
          </a:bodyPr>
          <a:lstStyle/>
          <a:p>
            <a:pPr algn="l">
              <a:lnSpc>
                <a:spcPts val="1437"/>
              </a:lnSpc>
              <a:spcAft>
                <a:spcPts val="0"/>
              </a:spcAft>
            </a:pPr>
            <a:r>
              <a:rPr sz="1250" b="0" i="0">
                <a:solidFill>
                  <a:srgbClr val="141B2E"/>
                </a:solidFill>
                <a:latin typeface="Arial"/>
              </a:rPr>
              <a:t>requires a prepared parallel run, not reproducible in class</a:t>
            </a:r>
          </a:p>
        </p:txBody>
      </p:sp>
      <p:cxnSp>
        <p:nvCxnSpPr>
          <p:cNvPr id="18" name="Connector 17"/>
          <p:cNvCxnSpPr/>
          <p:nvPr/>
        </p:nvCxnSpPr>
        <p:spPr>
          <a:xfrm>
            <a:off x="685800" y="3052521"/>
            <a:ext cx="10817352" cy="0"/>
          </a:xfrm>
          <a:prstGeom prst="line">
            <a:avLst/>
          </a:prstGeom>
          <a:ln w="9525">
            <a:solidFill>
              <a:srgbClr val="E5EAF0"/>
            </a:solidFill>
          </a:ln>
        </p:spPr>
        <p:style>
          <a:lnRef idx="2">
            <a:schemeClr val="accent1"/>
          </a:lnRef>
          <a:fillRef idx="0">
            <a:schemeClr val="accent1"/>
          </a:fillRef>
          <a:effectRef idx="1">
            <a:schemeClr val="accent1"/>
          </a:effectRef>
          <a:fontRef idx="minor">
            <a:schemeClr val="tx1"/>
          </a:fontRef>
        </p:style>
      </p:cxnSp>
      <p:sp>
        <p:nvSpPr>
          <p:cNvPr id="19" name="TextBox 18"/>
          <p:cNvSpPr txBox="1"/>
          <p:nvPr/>
        </p:nvSpPr>
        <p:spPr>
          <a:xfrm>
            <a:off x="685800" y="3052521"/>
            <a:ext cx="2541417" cy="529717"/>
          </a:xfrm>
          <a:prstGeom prst="rect">
            <a:avLst/>
          </a:prstGeom>
          <a:noFill/>
        </p:spPr>
        <p:txBody>
          <a:bodyPr wrap="square" lIns="0" rIns="0" tIns="0" bIns="0" anchor="ctr">
            <a:spAutoFit/>
          </a:bodyPr>
          <a:lstStyle/>
          <a:p>
            <a:pPr algn="l">
              <a:lnSpc>
                <a:spcPts val="1437"/>
              </a:lnSpc>
              <a:spcAft>
                <a:spcPts val="0"/>
              </a:spcAft>
            </a:pPr>
            <a:r>
              <a:rPr sz="1250" b="0" i="0">
                <a:solidFill>
                  <a:srgbClr val="141B2E"/>
                </a:solidFill>
                <a:latin typeface="Arial"/>
              </a:rPr>
              <a:t>Subagent — a second worker, the gap</a:t>
            </a:r>
          </a:p>
        </p:txBody>
      </p:sp>
      <p:sp>
        <p:nvSpPr>
          <p:cNvPr id="20" name="TextBox 19"/>
          <p:cNvSpPr txBox="1"/>
          <p:nvPr/>
        </p:nvSpPr>
        <p:spPr>
          <a:xfrm>
            <a:off x="3373521" y="3052521"/>
            <a:ext cx="707344" cy="529717"/>
          </a:xfrm>
          <a:prstGeom prst="rect">
            <a:avLst/>
          </a:prstGeom>
          <a:noFill/>
        </p:spPr>
        <p:txBody>
          <a:bodyPr wrap="square" lIns="0" rIns="0" tIns="0" bIns="0" anchor="ctr">
            <a:spAutoFit/>
          </a:bodyPr>
          <a:lstStyle/>
          <a:p>
            <a:pPr algn="l">
              <a:lnSpc>
                <a:spcPts val="1437"/>
              </a:lnSpc>
              <a:spcAft>
                <a:spcPts val="0"/>
              </a:spcAft>
            </a:pPr>
            <a:r>
              <a:rPr sz="1250" b="0" i="0">
                <a:solidFill>
                  <a:srgbClr val="141B2E"/>
                </a:solidFill>
                <a:latin typeface="Arial"/>
              </a:rPr>
              <a:t>no</a:t>
            </a:r>
          </a:p>
        </p:txBody>
      </p:sp>
      <p:sp>
        <p:nvSpPr>
          <p:cNvPr id="21" name="TextBox 20"/>
          <p:cNvSpPr txBox="1"/>
          <p:nvPr/>
        </p:nvSpPr>
        <p:spPr>
          <a:xfrm>
            <a:off x="4227169" y="3052521"/>
            <a:ext cx="7129678" cy="529717"/>
          </a:xfrm>
          <a:prstGeom prst="rect">
            <a:avLst/>
          </a:prstGeom>
          <a:noFill/>
        </p:spPr>
        <p:txBody>
          <a:bodyPr wrap="square" lIns="0" rIns="0" tIns="0" bIns="0" anchor="ctr">
            <a:spAutoFit/>
          </a:bodyPr>
          <a:lstStyle/>
          <a:p>
            <a:pPr algn="l">
              <a:lnSpc>
                <a:spcPts val="1437"/>
              </a:lnSpc>
              <a:spcAft>
                <a:spcPts val="0"/>
              </a:spcAft>
            </a:pPr>
            <a:r>
              <a:rPr sz="1250" b="0" i="0">
                <a:solidFill>
                  <a:srgbClr val="141B2E"/>
                </a:solidFill>
                <a:latin typeface="Arial"/>
              </a:rPr>
              <a:t>a claim from research (MAST); neither of the class's two supports demonstrates it</a:t>
            </a:r>
          </a:p>
        </p:txBody>
      </p:sp>
      <p:cxnSp>
        <p:nvCxnSpPr>
          <p:cNvPr id="22" name="Connector 21"/>
          <p:cNvCxnSpPr/>
          <p:nvPr/>
        </p:nvCxnSpPr>
        <p:spPr>
          <a:xfrm>
            <a:off x="685800" y="3582238"/>
            <a:ext cx="10817352" cy="0"/>
          </a:xfrm>
          <a:prstGeom prst="line">
            <a:avLst/>
          </a:prstGeom>
          <a:ln w="9525">
            <a:solidFill>
              <a:srgbClr val="E5EAF0"/>
            </a:solidFill>
          </a:ln>
        </p:spPr>
        <p:style>
          <a:lnRef idx="2">
            <a:schemeClr val="accent1"/>
          </a:lnRef>
          <a:fillRef idx="0">
            <a:schemeClr val="accent1"/>
          </a:fillRef>
          <a:effectRef idx="1">
            <a:schemeClr val="accent1"/>
          </a:effectRef>
          <a:fontRef idx="minor">
            <a:schemeClr val="tx1"/>
          </a:fontRef>
        </p:style>
      </p:cxnSp>
      <p:sp>
        <p:nvSpPr>
          <p:cNvPr id="23" name="TextBox 22"/>
          <p:cNvSpPr txBox="1"/>
          <p:nvPr/>
        </p:nvSpPr>
        <p:spPr>
          <a:xfrm>
            <a:off x="685800" y="3582238"/>
            <a:ext cx="2541417" cy="529717"/>
          </a:xfrm>
          <a:prstGeom prst="rect">
            <a:avLst/>
          </a:prstGeom>
          <a:noFill/>
        </p:spPr>
        <p:txBody>
          <a:bodyPr wrap="square" lIns="0" rIns="0" tIns="0" bIns="0" anchor="ctr">
            <a:spAutoFit/>
          </a:bodyPr>
          <a:lstStyle/>
          <a:p>
            <a:pPr algn="l">
              <a:lnSpc>
                <a:spcPts val="1437"/>
              </a:lnSpc>
              <a:spcAft>
                <a:spcPts val="0"/>
              </a:spcAft>
            </a:pPr>
            <a:r>
              <a:rPr sz="1250" b="0" i="0">
                <a:solidFill>
                  <a:srgbClr val="141B2E"/>
                </a:solidFill>
                <a:latin typeface="Arial"/>
              </a:rPr>
              <a:t>Subagent — workers in one folder</a:t>
            </a:r>
          </a:p>
        </p:txBody>
      </p:sp>
      <p:sp>
        <p:nvSpPr>
          <p:cNvPr id="24" name="TextBox 23"/>
          <p:cNvSpPr txBox="1"/>
          <p:nvPr/>
        </p:nvSpPr>
        <p:spPr>
          <a:xfrm>
            <a:off x="3373521" y="3582238"/>
            <a:ext cx="707344" cy="529717"/>
          </a:xfrm>
          <a:prstGeom prst="rect">
            <a:avLst/>
          </a:prstGeom>
          <a:noFill/>
        </p:spPr>
        <p:txBody>
          <a:bodyPr wrap="square" lIns="0" rIns="0" tIns="0" bIns="0" anchor="ctr">
            <a:spAutoFit/>
          </a:bodyPr>
          <a:lstStyle/>
          <a:p>
            <a:pPr algn="l">
              <a:lnSpc>
                <a:spcPts val="1437"/>
              </a:lnSpc>
              <a:spcAft>
                <a:spcPts val="0"/>
              </a:spcAft>
            </a:pPr>
            <a:r>
              <a:rPr sz="1250" b="0" i="0">
                <a:solidFill>
                  <a:srgbClr val="141B2E"/>
                </a:solidFill>
                <a:latin typeface="Arial"/>
              </a:rPr>
              <a:t>yes</a:t>
            </a:r>
          </a:p>
        </p:txBody>
      </p:sp>
      <p:sp>
        <p:nvSpPr>
          <p:cNvPr id="25" name="TextBox 24"/>
          <p:cNvSpPr txBox="1"/>
          <p:nvPr/>
        </p:nvSpPr>
        <p:spPr>
          <a:xfrm>
            <a:off x="4227169" y="3582238"/>
            <a:ext cx="7129678" cy="529717"/>
          </a:xfrm>
          <a:prstGeom prst="rect">
            <a:avLst/>
          </a:prstGeom>
          <a:noFill/>
        </p:spPr>
        <p:txBody>
          <a:bodyPr wrap="square" lIns="0" rIns="0" tIns="0" bIns="0" anchor="ctr">
            <a:spAutoFit/>
          </a:bodyPr>
          <a:lstStyle/>
          <a:p>
            <a:pPr algn="l">
              <a:lnSpc>
                <a:spcPts val="1437"/>
              </a:lnSpc>
              <a:spcAft>
                <a:spcPts val="0"/>
              </a:spcAft>
            </a:pPr>
            <a:r>
              <a:rPr sz="1250" b="0" i="0">
                <a:solidFill>
                  <a:srgbClr val="141B2E"/>
                </a:solidFill>
                <a:latin typeface="Consolas"/>
              </a:rPr>
              <a:t>git</a:t>
            </a:r>
            <a:r>
              <a:rPr sz="1250" b="0" i="0">
                <a:solidFill>
                  <a:srgbClr val="141B2E"/>
                </a:solidFill>
                <a:latin typeface="Arial"/>
              </a:rPr>
              <a:t> </a:t>
            </a:r>
            <a:r>
              <a:rPr sz="1250" b="0" i="0">
                <a:solidFill>
                  <a:srgbClr val="141B2E"/>
                </a:solidFill>
                <a:latin typeface="Consolas"/>
              </a:rPr>
              <a:t>worktree</a:t>
            </a:r>
            <a:r>
              <a:rPr sz="1250" b="0" i="0">
                <a:solidFill>
                  <a:srgbClr val="141B2E"/>
                </a:solidFill>
                <a:latin typeface="Arial"/>
              </a:rPr>
              <a:t> </a:t>
            </a:r>
            <a:r>
              <a:rPr sz="1250" b="0" i="0">
                <a:solidFill>
                  <a:srgbClr val="141B2E"/>
                </a:solidFill>
                <a:latin typeface="Consolas"/>
              </a:rPr>
              <a:t>list</a:t>
            </a:r>
            <a:r>
              <a:rPr sz="1250" b="0" i="0">
                <a:solidFill>
                  <a:srgbClr val="141B2E"/>
                </a:solidFill>
                <a:latin typeface="Arial"/>
              </a:rPr>
              <a:t> — on your own machine; and three collisions in the log of the repository opened in class</a:t>
            </a:r>
          </a:p>
        </p:txBody>
      </p:sp>
      <p:sp>
        <p:nvSpPr>
          <p:cNvPr id="26" name="Rectangle 25"/>
          <p:cNvSpPr/>
          <p:nvPr/>
        </p:nvSpPr>
        <p:spPr>
          <a:xfrm>
            <a:off x="502920" y="4633671"/>
            <a:ext cx="32004" cy="525780"/>
          </a:xfrm>
          <a:prstGeom prst="rect">
            <a:avLst/>
          </a:prstGeom>
          <a:solidFill>
            <a:srgbClr val="0280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772668" y="4688535"/>
            <a:ext cx="10730484" cy="416052"/>
          </a:xfrm>
          <a:prstGeom prst="rect">
            <a:avLst/>
          </a:prstGeom>
          <a:noFill/>
        </p:spPr>
        <p:txBody>
          <a:bodyPr wrap="square" lIns="0" rIns="0" tIns="0" bIns="0" anchor="ctr">
            <a:spAutoFit/>
          </a:bodyPr>
          <a:lstStyle/>
          <a:p>
            <a:pPr algn="l">
              <a:lnSpc>
                <a:spcPts val="1638"/>
              </a:lnSpc>
              <a:spcAft>
                <a:spcPts val="300"/>
              </a:spcAft>
            </a:pPr>
            <a:r>
              <a:rPr sz="1300" b="0" i="1">
                <a:solidFill>
                  <a:srgbClr val="6B7685"/>
                </a:solidFill>
                <a:latin typeface="Arial"/>
              </a:rPr>
              <a:t>"Under some of today's cards there lies a command you can run and get an answer from. Under others there is none, and that is said directly: an undeclared gap would cost more than a declared one."</a:t>
            </a:r>
          </a:p>
        </p:txBody>
      </p:sp>
      <p:sp>
        <p:nvSpPr>
          <p:cNvPr id="28" name="Rounded Rectangle 27"/>
          <p:cNvSpPr/>
          <p:nvPr/>
        </p:nvSpPr>
        <p:spPr>
          <a:xfrm>
            <a:off x="502920" y="5498287"/>
            <a:ext cx="82296" cy="746760"/>
          </a:xfrm>
          <a:prstGeom prst="roundRect">
            <a:avLst>
              <a:gd name="adj" fmla="val 50000"/>
            </a:avLst>
          </a:prstGeom>
          <a:solidFill>
            <a:srgbClr val="F0AB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859536" y="5626303"/>
            <a:ext cx="10643616" cy="490727"/>
          </a:xfrm>
          <a:prstGeom prst="rect">
            <a:avLst/>
          </a:prstGeom>
          <a:noFill/>
        </p:spPr>
        <p:txBody>
          <a:bodyPr wrap="square" lIns="0" rIns="0" tIns="0" bIns="0" anchor="ctr">
            <a:spAutoFit/>
          </a:bodyPr>
          <a:lstStyle/>
          <a:p>
            <a:pPr algn="l">
              <a:lnSpc>
                <a:spcPts val="1860"/>
              </a:lnSpc>
              <a:spcAft>
                <a:spcPts val="300"/>
              </a:spcAft>
            </a:pPr>
            <a:r>
              <a:rPr sz="1500" b="1" i="0">
                <a:solidFill>
                  <a:srgbClr val="141B2E"/>
                </a:solidFill>
                <a:latin typeface="Arial"/>
              </a:rPr>
              <a:t>"From here you carry away one question to put to your own work: what is it short of — what is not inside at all, or the room taken up by reading? The first you bring inside, the second you carry outside."</a:t>
            </a:r>
          </a:p>
        </p:txBody>
      </p:sp>
      <p:sp>
        <p:nvSpPr>
          <p:cNvPr id="30" name="TextBox 29"/>
          <p:cNvSpPr txBox="1"/>
          <p:nvPr/>
        </p:nvSpPr>
        <p:spPr>
          <a:xfrm>
            <a:off x="10957255" y="6437376"/>
            <a:ext cx="914400" cy="274320"/>
          </a:xfrm>
          <a:prstGeom prst="rect">
            <a:avLst/>
          </a:prstGeom>
          <a:noFill/>
        </p:spPr>
        <p:txBody>
          <a:bodyPr wrap="square" lIns="0" rIns="0" tIns="0" bIns="0" anchor="t">
            <a:spAutoFit/>
          </a:bodyPr>
          <a:lstStyle/>
          <a:p>
            <a:pPr algn="r">
              <a:lnSpc>
                <a:spcPts val="1238"/>
              </a:lnSpc>
              <a:spcAft>
                <a:spcPts val="0"/>
              </a:spcAft>
            </a:pPr>
            <a:r>
              <a:rPr sz="1050" b="0" i="0">
                <a:solidFill>
                  <a:srgbClr val="6B7685"/>
                </a:solidFill>
                <a:latin typeface="Arial"/>
              </a:rPr>
              <a:t>64</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