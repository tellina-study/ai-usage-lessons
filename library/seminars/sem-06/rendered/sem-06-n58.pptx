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Что это за штука. Отдельная рабочая копия — свой каталог файлов и своя ветка, а история и удалённый репозиторий те же. В git она называется worktree. Запуск с флагом </a:t>
            </a:r>
            <a:r>
              <a:rPr>
                <a:latin typeface="Consolas"/>
              </a:rPr>
              <a:t>--worktree</a:t>
            </a:r>
            <a:r>
              <a:t> и именем создаёт её сам; тот же запуск с другим именем в другом терминале поднимает вторую изолированную сессию.</a:t>
            </a:r>
          </a:p>
          <a:p/>
          <a:p>
            <a:r>
              <a:t>Своё у копии — файлы, ветка, незакоммиченное состояние. Общий — служебный каталог репозитория: команды из копии пишут в общую историю. Отсюда главное удобство: работу из копии не нужно никуда переносить, она уже в том же репозитории.</a:t>
            </a:r>
          </a:p>
          <a:p/>
          <a:p>
            <a:r>
              <a:t>И общее не кончается историей: плагины проекта и однажды выданные разрешения тоже общие.</a:t>
            </a:r>
          </a:p>
          <a:p/>
          <a:p>
            <a:r>
              <a:t>---</a:t>
            </a:r>
          </a:p>
          <a:p/>
          <a:p>
            <a:r>
              <a:rPr b="1"/>
              <a:t>Справка.</a:t>
            </a:r>
          </a:p>
          <a:p/>
          <a:p>
            <a:r>
              <a:rPr i="1"/>
              <a:t>Если спросят, чем это отличается от второго клона репозитория.</a:t>
            </a:r>
            <a:r>
              <a:t> Клон — отдельный репозиторий со своей историей, и работу из него переносят между репозиториями. Копия делит историю с основной, поэтому ветка из копии видна основной сразу, без переноса. Для параллельной работы над одним проектом это и есть разница, которая решает.</a:t>
            </a:r>
          </a:p>
          <a:p/>
          <a:p>
            <a:r>
              <a:rPr i="1"/>
              <a:t>Если спросят, куда девается копия потом.</a:t>
            </a:r>
            <a:r>
              <a:t> Её убирают, когда работа слита; если в ней осталось незакоммиченное, об этом спросят при выходе. Брошенные копии копятся на диске и в списке веток — это обычная уборка, не фоновая магия.</a:t>
            </a:r>
          </a:p>
          <a:p/>
          <a:p>
            <a:r>
              <a:rPr i="1"/>
              <a:t>Если спросят, не дороже ли это по месту.</a:t>
            </a:r>
            <a:r>
              <a:t> Файлы проекта в каждой копии свои, служебный каталог общий. Для репозитория исходников это обычно немного; для репозитория с тяжёлыми бинарниками стоит посчитать заранее.</a:t>
            </a:r>
          </a:p>
          <a:p/>
          <a:p>
            <a:r>
              <a:rPr i="1"/>
              <a:t>Если прозвучит «а разрешения-то почему общие».</a:t>
            </a:r>
            <a:r>
              <a:t> Разрешения живут в настройках основной копии, и это удобно: подтверждать одно и то же в каждой новой копии никто не хочет. Обратная сторона — выданное в копии разрешение продолжает действовать после того, как сама копия убрана.</a:t>
            </a:r>
          </a:p>
          <a:p/>
          <a:p>
            <a:r>
              <a:rPr i="1"/>
              <a:t>Если спросят, как работу из копии забирают обратно.</a:t>
            </a:r>
            <a:r>
              <a:t> Ветка из копии видна основной сразу, история общая. Поэтому забирают обычным слиянием ветки, и отдельного переноса файлов здесь нет вовсе — это и есть то, за что копию выбирают вместо второго клона.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63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Своя копия: что в ней своё и что общее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993986"/>
            <a:ext cx="82296" cy="1455420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9536" y="1122002"/>
            <a:ext cx="10643616" cy="11993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60"/>
              </a:lnSpc>
              <a:spcAft>
                <a:spcPts val="300"/>
              </a:spcAft>
            </a:pPr>
            <a:r>
              <a:rPr sz="1500" b="1" i="0">
                <a:solidFill>
                  <a:srgbClr val="141B2E"/>
                </a:solidFill>
                <a:latin typeface="Arial"/>
              </a:rPr>
              <a:t>Отдельная рабочая копия — свой каталог файлов и своя ветка; история и удалённый репозиторий те же, что у основной копии. В git это </a:t>
            </a:r>
            <a:r>
              <a:rPr sz="1500" b="1" i="0">
                <a:solidFill>
                  <a:srgbClr val="141B2E"/>
                </a:solidFill>
                <a:latin typeface="Consolas"/>
              </a:rPr>
              <a:t>worktree</a:t>
            </a:r>
            <a:r>
              <a:rPr sz="1500" b="1" i="0">
                <a:solidFill>
                  <a:srgbClr val="141B2E"/>
                </a:solidFill>
                <a:latin typeface="Arial"/>
              </a:rPr>
              <a:t>. Запуск с флагом </a:t>
            </a:r>
            <a:r>
              <a:rPr sz="1500" b="1" i="0">
                <a:solidFill>
                  <a:srgbClr val="141B2E"/>
                </a:solidFill>
                <a:latin typeface="Arial"/>
              </a:rPr>
              <a:t>--worktree</a:t>
            </a:r>
            <a:r>
              <a:rPr sz="1500" b="1" i="0">
                <a:solidFill>
                  <a:srgbClr val="141B2E"/>
                </a:solidFill>
                <a:latin typeface="Arial"/>
              </a:rPr>
              <a:t> и именем создаёт её под </a:t>
            </a:r>
            <a:r>
              <a:rPr sz="1500" b="1" i="0">
                <a:solidFill>
                  <a:srgbClr val="141B2E"/>
                </a:solidFill>
                <a:latin typeface="Consolas"/>
              </a:rPr>
              <a:t>.claude/worktrees/имя/</a:t>
            </a:r>
            <a:r>
              <a:rPr sz="1500" b="1" i="0">
                <a:solidFill>
                  <a:srgbClr val="141B2E"/>
                </a:solidFill>
                <a:latin typeface="Arial"/>
              </a:rPr>
              <a:t> на ветке </a:t>
            </a:r>
            <a:r>
              <a:rPr sz="1500" b="1" i="0">
                <a:solidFill>
                  <a:srgbClr val="141B2E"/>
                </a:solidFill>
                <a:latin typeface="Consolas"/>
              </a:rPr>
              <a:t>worktree-имя</a:t>
            </a:r>
            <a:r>
              <a:rPr sz="1500" b="1" i="0">
                <a:solidFill>
                  <a:srgbClr val="141B2E"/>
                </a:solidFill>
                <a:latin typeface="Arial"/>
              </a:rPr>
              <a:t>; тот же запуск с другим именем в другом терминале поднимает вторую изолированную сессию. Руками то же делает </a:t>
            </a:r>
            <a:r>
              <a:rPr sz="1500" b="1" i="0">
                <a:solidFill>
                  <a:srgbClr val="141B2E"/>
                </a:solidFill>
                <a:latin typeface="Consolas"/>
              </a:rPr>
              <a:t>git</a:t>
            </a:r>
            <a:r>
              <a:rPr sz="1500" b="1" i="0">
                <a:solidFill>
                  <a:srgbClr val="141B2E"/>
                </a:solidFill>
                <a:latin typeface="Arial"/>
              </a:rPr>
              <a:t> </a:t>
            </a:r>
            <a:r>
              <a:rPr sz="1500" b="1" i="0">
                <a:solidFill>
                  <a:srgbClr val="141B2E"/>
                </a:solidFill>
                <a:latin typeface="Consolas"/>
              </a:rPr>
              <a:t>worktree</a:t>
            </a:r>
            <a:r>
              <a:rPr sz="1500" b="1" i="0">
                <a:solidFill>
                  <a:srgbClr val="141B2E"/>
                </a:solidFill>
                <a:latin typeface="Arial"/>
              </a:rPr>
              <a:t> </a:t>
            </a:r>
            <a:r>
              <a:rPr sz="1500" b="1" i="0">
                <a:solidFill>
                  <a:srgbClr val="141B2E"/>
                </a:solidFill>
                <a:latin typeface="Consolas"/>
              </a:rPr>
              <a:t>add</a:t>
            </a:r>
            <a:r>
              <a:rPr sz="1500" b="1" i="0">
                <a:solidFill>
                  <a:srgbClr val="141B2E"/>
                </a:solidFill>
                <a:latin typeface="Arial"/>
              </a:rPr>
              <a:t> </a:t>
            </a:r>
            <a:r>
              <a:rPr sz="1500" b="1" i="0">
                <a:solidFill>
                  <a:srgbClr val="141B2E"/>
                </a:solidFill>
                <a:latin typeface="Consolas"/>
              </a:rPr>
              <a:t>../проект-правка</a:t>
            </a:r>
            <a:r>
              <a:rPr sz="1500" b="1" i="0">
                <a:solidFill>
                  <a:srgbClr val="141B2E"/>
                </a:solidFill>
                <a:latin typeface="Arial"/>
              </a:rPr>
              <a:t> </a:t>
            </a:r>
            <a:r>
              <a:rPr sz="1500" b="1" i="0">
                <a:solidFill>
                  <a:srgbClr val="141B2E"/>
                </a:solidFill>
                <a:latin typeface="Arial"/>
              </a:rPr>
              <a:t>-b</a:t>
            </a:r>
            <a:r>
              <a:rPr sz="1500" b="1" i="0">
                <a:solidFill>
                  <a:srgbClr val="141B2E"/>
                </a:solidFill>
                <a:latin typeface="Arial"/>
              </a:rPr>
              <a:t> </a:t>
            </a:r>
            <a:r>
              <a:rPr sz="1500" b="1" i="0">
                <a:solidFill>
                  <a:srgbClr val="141B2E"/>
                </a:solidFill>
                <a:latin typeface="Consolas"/>
              </a:rPr>
              <a:t>правка</a:t>
            </a:r>
            <a:r>
              <a:rPr sz="1500" b="1" i="0">
                <a:solidFill>
                  <a:srgbClr val="141B2E"/>
                </a:solidFill>
                <a:latin typeface="Arial"/>
              </a:rPr>
              <a:t>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740575"/>
            <a:ext cx="11183112" cy="2236977"/>
          </a:xfrm>
          <a:prstGeom prst="roundRect">
            <a:avLst>
              <a:gd name="adj" fmla="val 13625"/>
            </a:avLst>
          </a:prstGeom>
          <a:solidFill>
            <a:srgbClr val="FFFFFF"/>
          </a:solidFill>
          <a:ln w="1778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923455"/>
            <a:ext cx="4156503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5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СВОЁ У КАЖДОЙ КОПИИ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88607" y="2923455"/>
            <a:ext cx="6368240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5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ОБЩЕЕ С ОСНОВНОЙ КОПИЕЙ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205522"/>
            <a:ext cx="4156503" cy="7122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файлы в каталоге — переключение ветки в одной копии не меняет файлы в другой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88607" y="3205522"/>
            <a:ext cx="6368240" cy="7122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служебный каталог репозитория: команды из копии пишут в общую историю, поэтому коммит из копии виден везде и переносить работу никуда не нужно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85800" y="3917801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85800" y="3917801"/>
            <a:ext cx="4156503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ветка и незакоммиченное состояние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88607" y="3917801"/>
            <a:ext cx="6368240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плагины, установленные на уровне проекта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85800" y="4264956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85800" y="4264956"/>
            <a:ext cx="4156503" cy="5297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своё рабочее место: зависимости и всё, чего нет в версиях, в копии поднимают отдельно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88607" y="4264956"/>
            <a:ext cx="6368240" cy="5297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разрешение, выданное один раз ответом «больше не спрашивать»: оно сохраняется в основную копию и действует во всех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5268721"/>
            <a:ext cx="82296" cy="982980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" y="5396737"/>
            <a:ext cx="10643616" cy="7269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60"/>
              </a:lnSpc>
              <a:spcAft>
                <a:spcPts val="300"/>
              </a:spcAft>
            </a:pPr>
            <a:r>
              <a:rPr sz="1500" b="1" i="0">
                <a:solidFill>
                  <a:srgbClr val="141B2E"/>
                </a:solidFill>
                <a:latin typeface="Arial"/>
              </a:rPr>
              <a:t>Свежая копия приходит без того, чего нет в версиях: зависимости в ней не установлены, локальных файлов настроек в ней нет. Какие из них переносить в каждую новую копию, задают отдельным списком.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38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58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