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Этот курс собирают так же — несколькими сессиями разом, в одной рабочей копии. Три случая из его журнала.</a:t>
            </a:r>
          </a:p>
          <a:p/>
          <a:p>
            <a:r>
              <a:t>Первый. Шесть сессий правили одну деку в одном каталоге. Соседняя сборка переписала входной файл в тот момент, когда его читал конвертер. Код возврата ноль, построчно «отрисован слайд сорок четыре … пятьдесят», «PDF скопирован», число страниц верное — и все пятьдесят четыре страницы из пятидесяти четырёх пустые, файл похудел с шести с лишним до двух с половиной мегабайт. Поймали сравнением времён: вход оказался новее выхода.</a:t>
            </a:r>
          </a:p>
          <a:p/>
          <a:p>
            <a:r>
              <a:t>Второй. Две сессии правили один файл сборки, и чтение попало в середину чужой записи. Сборка упала с жалобой на имя, которого «нет», — строка объявления в файле была. Через полминуты та же сборка прошла без правок.</a:t>
            </a:r>
          </a:p>
          <a:p/>
          <a:p>
            <a:r>
              <a:t>Третий. Лекцию собирали параллельно с другой в одном каталоге, и ветку переключали из обеих сессий: больше семи переключений за сессию, около двух часов на восстановление. После перехода на отдельные копии — три, затем четыре параллельные сборки без единого столкновения.</a:t>
            </a:r>
          </a:p>
          <a:p/>
          <a:p>
            <a:r>
              <a:t>Все привычные признаки успеха сошлись. Правду показал только сам результат.</a:t>
            </a:r>
          </a:p>
          <a:p/>
          <a:p>
            <a:r>
              <a:t>---</a:t>
            </a:r>
          </a:p>
          <a:p/>
          <a:p>
            <a:r>
              <a:rPr b="1"/>
              <a:t>Справка.</a:t>
            </a:r>
          </a:p>
          <a:p/>
          <a:p>
            <a:r>
              <a:rPr i="1"/>
              <a:t>Если спросят, чем это кончилось в правилах курса.</a:t>
            </a:r>
            <a:r>
              <a:t> Отдельная копия на сессию стала обязательной, и это записано в инструкции репозитория вместе с причиной. Отсюда же взялся второй обход — не трогать общий файл вовсе: собирать свой набор страниц в своём каталоге, и тогда чужая сборка ваш вход переписать не может.</a:t>
            </a:r>
          </a:p>
          <a:p/>
          <a:p>
            <a:r>
              <a:rPr i="1"/>
              <a:t>Если спросят, почему пустой PDF не поймали раньше.</a:t>
            </a:r>
            <a:r>
              <a:t> Потому что искали поломку в своих слайдах: страницы белые, значит сломал тот, кто правил последним. Признак, по которому это опознаётся, вообще не в содержимом — он во времени правки входного файла.</a:t>
            </a:r>
          </a:p>
          <a:p/>
          <a:p>
            <a:r>
              <a:rPr i="1"/>
              <a:t>Если спросят, при чём здесь роли, если во всех трёх случаях сессии.</a:t>
            </a:r>
            <a:r>
              <a:t> Ломается общий каталог, и ему безразлично, кто в нём работает. Для ролей разница одна: своей копии у них по умолчанию нет вовсе, поэтому выбора между копией и зонами там не возникает.</a:t>
            </a:r>
          </a:p>
          <a:p/>
          <a:p>
            <a:r>
              <a:rPr i="1"/>
              <a:t>Если прозвучит «значит, параллельно работать нельзя».</a:t>
            </a:r>
            <a:r>
              <a:t> Параллельно работали и продолжают: четыре сборки разом на отдельных копиях прошли без столкновений. Запретить пришлось общий каталог под ней.</a:t>
            </a:r>
          </a:p>
          <a:p/>
          <a:p>
            <a:r>
              <a:rPr i="1"/>
              <a:t>Если спросят, как вообще заметили второй случай.</a:t>
            </a:r>
            <a:r>
              <a:t> Случайно: та же сборка через полминуты прошла без правок. Ошибка, исчезающая сама, — признак того, что читали состояние, которое кто-то в этот момент менял.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Все признаки успеха сошлись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43356"/>
            <a:ext cx="82296" cy="636524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1071372"/>
            <a:ext cx="10643616" cy="3804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26"/>
              </a:lnSpc>
              <a:spcAft>
                <a:spcPts val="300"/>
              </a:spcAft>
            </a:pPr>
            <a:r>
              <a:rPr sz="1150" b="1" i="0">
                <a:solidFill>
                  <a:srgbClr val="141B2E"/>
                </a:solidFill>
                <a:latin typeface="Arial"/>
              </a:rPr>
              <a:t>Этот курс собирают так же — несколькими сессиями разом, в одной рабочей копии. Три случая из его собственного журнала, все три записаны в репозитории, открытом перед вами.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744472"/>
            <a:ext cx="11183112" cy="2287524"/>
          </a:xfrm>
          <a:prstGeom prst="roundRect">
            <a:avLst>
              <a:gd name="adj" fmla="val 13324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27352"/>
            <a:ext cx="3203731" cy="259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0"/>
              </a:lnSpc>
              <a:spcAft>
                <a:spcPts val="0"/>
              </a:spcAft>
            </a:pPr>
            <a:r>
              <a:rPr sz="1000" b="1" i="0">
                <a:solidFill>
                  <a:srgbClr val="6B7685"/>
                </a:solidFill>
                <a:latin typeface="Arial"/>
              </a:rPr>
              <a:t>СЛУЧАЙ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35835" y="1927352"/>
            <a:ext cx="2515275" cy="259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0"/>
              </a:lnSpc>
              <a:spcAft>
                <a:spcPts val="0"/>
              </a:spcAft>
            </a:pPr>
            <a:r>
              <a:rPr sz="1000" b="1" i="0">
                <a:solidFill>
                  <a:srgbClr val="6B7685"/>
                </a:solidFill>
                <a:latin typeface="Arial"/>
              </a:rPr>
              <a:t>ПРИЗНАКИ УСПЕХА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97414" y="1927352"/>
            <a:ext cx="4659433" cy="259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0"/>
              </a:lnSpc>
              <a:spcAft>
                <a:spcPts val="0"/>
              </a:spcAft>
            </a:pPr>
            <a:r>
              <a:rPr sz="1000" b="1" i="0">
                <a:solidFill>
                  <a:srgbClr val="6B7685"/>
                </a:solidFill>
                <a:latin typeface="Arial"/>
              </a:rPr>
              <a:t>ЧТО БЫЛО НА САМОМ ДЕЛЕ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86940"/>
            <a:ext cx="3203731" cy="6027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шесть сессий правили одну деку в одном каталоге; соседняя сборка переписала входной файл, пока его читал конвертер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35835" y="2186940"/>
            <a:ext cx="2515275" cy="6027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код возврата ноль, построчно «отрисован слайд 44 … 50», «PDF скопирован», верное число страниц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97414" y="2186940"/>
            <a:ext cx="4659433" cy="6027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все 54 страницы из 54 пустые, файл похудел с 6,67 до 2,69 МБ. Поймано сравнением времён: вход оказался новее выхода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2789682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85800" y="2789682"/>
            <a:ext cx="3203731" cy="4566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две сессии правили один файл сборки; чтение файла попало в середину чужой записи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35835" y="2789682"/>
            <a:ext cx="2515275" cy="4566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сборка упала, и ошибка указывала на имя, которого «нет»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97414" y="2789682"/>
            <a:ext cx="4659433" cy="4566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строка объявления в файле была; через полминуты та же сборка прошла без единой правки с чьей-либо стороны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" y="3246374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85800" y="3246374"/>
            <a:ext cx="3203731" cy="6027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лекцию собирали параллельно с другой в одной рабочей копии, ветку переключали из обеих сессий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35835" y="3246374"/>
            <a:ext cx="2515275" cy="6027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каждая сессия видела свою ветку на месте — в тот момент, когда смотрела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97414" y="3246374"/>
            <a:ext cx="4659433" cy="6027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больше семи переключений ветки за одну сессию и около двух часов на восстановление. С переходом на отдельные копии — три, затем четыре параллельные сборки без единого столкновения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196588"/>
            <a:ext cx="82296" cy="66802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4324603"/>
            <a:ext cx="10643616" cy="4119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50"/>
              </a:lnSpc>
              <a:spcAft>
                <a:spcPts val="30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Код возврата, число страниц, свежесть файлов — все привычные признаки сошлись, и ни одна сессия по отдельности не сделала ничего неверного. Единственное, что показало правду, — сам результат и время правки.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029200"/>
            <a:ext cx="11183112" cy="705779"/>
          </a:xfrm>
          <a:prstGeom prst="roundRect">
            <a:avLst>
              <a:gd name="adj" fmla="val 10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" y="5157216"/>
            <a:ext cx="10634472" cy="4497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86"/>
              </a:lnSpc>
              <a:spcAft>
                <a:spcPts val="300"/>
              </a:spcAft>
            </a:pPr>
            <a:r>
              <a:rPr sz="1300" b="1" i="0">
                <a:solidFill>
                  <a:srgbClr val="141B2E"/>
                </a:solidFill>
                <a:latin typeface="Consolas"/>
              </a:rPr>
              <a:t>git</a:t>
            </a:r>
            <a:r>
              <a:rPr sz="1300" b="1" i="0">
                <a:solidFill>
                  <a:srgbClr val="141B2E"/>
                </a:solidFill>
                <a:latin typeface="Arial"/>
              </a:rPr>
              <a:t> </a:t>
            </a:r>
            <a:r>
              <a:rPr sz="1300" b="1" i="0">
                <a:solidFill>
                  <a:srgbClr val="141B2E"/>
                </a:solidFill>
                <a:latin typeface="Consolas"/>
              </a:rPr>
              <a:t>worktree</a:t>
            </a:r>
            <a:r>
              <a:rPr sz="1300" b="1" i="0">
                <a:solidFill>
                  <a:srgbClr val="141B2E"/>
                </a:solidFill>
                <a:latin typeface="Arial"/>
              </a:rPr>
              <a:t> </a:t>
            </a:r>
            <a:r>
              <a:rPr sz="1300" b="1" i="0">
                <a:solidFill>
                  <a:srgbClr val="141B2E"/>
                </a:solidFill>
                <a:latin typeface="Consolas"/>
              </a:rPr>
              <a:t>list</a:t>
            </a:r>
            <a:r>
              <a:rPr sz="1300" b="1" i="0">
                <a:solidFill>
                  <a:srgbClr val="141B2E"/>
                </a:solidFill>
                <a:latin typeface="Arial"/>
              </a:rPr>
              <a:t> — у себя: есть ли у вас хоть одна отдельная копия и сколько сессий сейчас стоят на одном каталоге?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