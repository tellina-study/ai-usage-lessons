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файл роли целиком, который мы только что собрали. Это файл для разбора — что в нём написано и почему, — не артефакт, который можно сейчас склонировать себе: он снят с версии демо-репозитория, которой больше не существует за пределами временной директории, где её собирали.</a:t>
            </a:r>
          </a:p>
          <a:p/>
          <a:p>
            <a:r>
              <a:t>Держите глазами строку </a:t>
            </a:r>
            <a:r>
              <a:rPr>
                <a:latin typeface="Consolas"/>
              </a:rPr>
              <a:t>tools: Read, Grep, Glob</a:t>
            </a:r>
            <a:r>
              <a:t>. Она короче всего остального файла и делает больше всего: без </a:t>
            </a:r>
            <a:r>
              <a:rPr>
                <a:latin typeface="Consolas"/>
              </a:rPr>
              <a:t>Write</a:t>
            </a:r>
            <a:r>
              <a:t> и </a:t>
            </a:r>
            <a:r>
              <a:rPr>
                <a:latin typeface="Consolas"/>
              </a:rPr>
              <a:t>Edit</a:t>
            </a:r>
            <a:r>
              <a:t> в списке инструмент правки у роли отсутствует физически. Три имени в строке, и ни одного лишнего. Вот так выглядит отнятое право, когда его отняли правильно и оно сработало.</a:t>
            </a:r>
          </a:p>
          <a:p/>
          <a:p>
            <a:r>
              <a:t>Если спросят про границу «НЕ для ревью архитектурных решений»: она здесь — в предметной области проекта, не курса; граница «чем роль не является» нужна всегда, когда рядом может появиться вторая роль, и во втором кейсе ступени это сыграло буквально — именно эта строка диф-ревьюера закрывала там свою половину промежутка.</a:t>
            </a:r>
          </a:p>
          <a:p/>
          <a:p>
            <a:r>
              <a:t>Если спросят, почему именно эти три инструмента оставлены: прочитать файл, поискать по содержимому, найти файлы по шаблону — ровно то, что зал назвал сам, ни одним инструментом больше.</a:t>
            </a:r>
          </a:p>
          <a:p/>
          <a:p>
            <a:r>
              <a:t>Если спросят, обязательно ли писать тело роли так подробно: тело задаёт поведение, список инструментов задаёт возможности. Короткое тело при верном списке работает; длинное тело при полном списке оставляет роли всё, что она умеет по умолчанию.</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месяца назад в каталог ролей этого курса добавили роль литературного редактора. Автор решил сделать ровно то, что мы собрали руками экраном раньше: отнять у роли ненужные права. В файле появилась строка </a:t>
            </a:r>
            <a:r>
              <a:rPr>
                <a:latin typeface="Consolas"/>
              </a:rPr>
              <a:t>tools: All tools</a:t>
            </a:r>
            <a:r>
              <a:t> — по смыслу «оставь всё», обычная фраза на естественном языке.</a:t>
            </a:r>
          </a:p>
          <a:p/>
          <a:p>
            <a:r>
              <a:t>Смотрите на две строки рядом. Верхняя — наша: три имени, каждое совпадает с реальным инструментом, роль живёт и править файлы не может. Нижняя — настоящая: «All tools» разбирается как два отдельных имени, ни одно ни с чем не совпадает, список резолвится в пустое множество.</a:t>
            </a:r>
          </a:p>
          <a:p/>
          <a:p>
            <a:r>
              <a:t>Роль не запустилась ни разу. Три попытки параллельного запуска — три одинаковых отказа, вот он: «Agent 'literary-editor' would be spawned with zero tools — refusing. Its tools list resolved to nothing: unrecognized [All, tools].»</a:t>
            </a:r>
          </a:p>
          <a:p/>
          <a:p>
            <a:r>
              <a:t>При пустом списке, записанном явно, роль стартовала бы без единого инструмента — слабая, но живая. Здесь харнесс делает другое: отказывается запускать её вовсе. Строка, которая должна была урезать права, их не ослабила — она не позволила роли появиться.</a:t>
            </a:r>
          </a:p>
          <a:p/>
          <a:p>
            <a:r>
              <a:t>И теперь к себе. Та же команда на вашем каталоге ролей: у скольких из них это поле вообще задано? Что выходит на материале всего курса — дальше.</a:t>
            </a:r>
          </a:p>
          <a:p/>
          <a:p>
            <a:r>
              <a:t>Если спросят, починили ли это: на момент подготовки занятия — нет, строка на месте; проверить можно прямо на занятии той же командой.</a:t>
            </a:r>
          </a:p>
          <a:p/>
          <a:p>
            <a:r>
              <a:t>Если спросят, почему харнесс не предупредил заранее, при сохранении файла: ошибка такого рода не видна ни при чтении файла, ни в списке доступных ролей — только при реальном запуске. Заводя роль с урезанными правами, стоит сделать один пробный запуск сразу, не в тот момент, когда роль понадобилась в работе.</a:t>
            </a:r>
          </a:p>
          <a:p/>
          <a:p>
            <a:r>
              <a:t>Если спросят, почему это смешнее, чем просто забытое поле: потому что здесь не забыли отнять права — попытались, искренне, и синтаксис не простил.</a:t>
            </a:r>
          </a:p>
          <a:p/>
          <a:p>
            <a:r>
              <a:t>Если спросят, чем это отличается от провалов предыдущих кейсов: те случались у третьих лиц и проверяются чтением первоисточника. Этот проверяется командой, выполненной здесь, на репозитории, который открыт перед залом.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Когда роль ещё не нужна. Разовая проверка — делегируйте встроенным агентом, файл не нужен. Задача формулируется заново каждый раз без устойчивой формы — роли ещё нет, есть обычная работа. «Независимость» объявлена, но не проверена — если ревьюер видит рассуждения автора, объявления недостаточно.</a:t>
            </a:r>
          </a:p>
          <a:p/>
          <a:p>
            <a:r>
              <a:t>Когда роль не нужна вовсе. Критерий кодируется детерминированно — линтером, тестом, скриптом: не нужен ни субагент, ни модель. Место такой проверки — хук или прогон в CI.</a:t>
            </a:r>
          </a:p>
          <a:p/>
          <a:p>
            <a:r>
              <a:t>Теперь обещанное. В каталоге ролей этого курса четырнадцать файлов. Тринадцать не задают поле со списком инструментов вовсе и потому имеют все инструменты, включая правку. Четырнадцатая — единственная, кто попытался, — не запускается. Работающих урезаний ноль из четырнадцати — в репозитории, по которому собрано это занятие. И среди этих тринадцати есть роли, чья работа — только оценивать материал.</a:t>
            </a:r>
          </a:p>
          <a:p/>
          <a:p>
            <a:r>
              <a:t>Кастомная роль — решаем, по сигналу повторения. Интуиция говорила: чтобы поручить проверку отдельному агенту, нужно завести файл и настроить его. Проверка показала: делегировать можно без единой строки конфигурации, это уже бесплатно; заводить стоило роль с урезанным списком инструментов, само делегирование заводить не требовалось — и даже это урезание держится на синтаксисе настолько буквально, что одна неверная строка не ослабляет права — не даёт роли запуститься вовсе.</a:t>
            </a:r>
          </a:p>
          <a:p/>
          <a:p>
            <a:r>
              <a:t>Если спросят, почему курс сам этого не делает: прямого ответа у меня нет — честный пробел называется вслух, не объясняется в оправдание. Открытый вопрос курса об этом зарегистрирован отдельно; если он закрыт до занятия, у этого места есть более сильная версия — различие между «было» и «стало» в одном и том же репозитории.</a:t>
            </a:r>
          </a:p>
          <a:p/>
          <a:p>
            <a:r>
              <a:t>Если спросят, насколько это серьёзно: зависит от того, что именно критикующая роль делает с файлом, который пришла оценивать — технически возможность есть, использование не задокументировано ни в одну сторону.</a:t>
            </a:r>
          </a:p>
          <a:p/>
          <a:p>
            <a:r>
              <a:t>Если спросят про цифры точнее: четырнадцать файлов всего, тринадцать совсем без поля, один — с полем, которое не работает; проверить обеими командами можно прямо на занятии.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Третья граница, и она о другом: роль нужна, права у неё урезаны правильным по форме способом, и урезаны не на то.</a:t>
            </a:r>
          </a:p>
          <a:p/>
          <a:p>
            <a:r>
              <a:t>Документация харнесса показывает это двумя примерами. </a:t>
            </a:r>
            <a:r>
              <a:rPr>
                <a:latin typeface="Consolas"/>
              </a:rPr>
              <a:t>code-reviewer</a:t>
            </a:r>
            <a:r>
              <a:t> читает и ищет, набор без </a:t>
            </a:r>
            <a:r>
              <a:rPr>
                <a:latin typeface="Consolas"/>
              </a:rPr>
              <a:t>Edit</a:t>
            </a:r>
            <a:r>
              <a:t> и </a:t>
            </a:r>
            <a:r>
              <a:rPr>
                <a:latin typeface="Consolas"/>
              </a:rPr>
              <a:t>Write</a:t>
            </a:r>
            <a:r>
              <a:t> — верно, ревью не чинит код за автора. </a:t>
            </a:r>
            <a:r>
              <a:rPr>
                <a:latin typeface="Consolas"/>
              </a:rPr>
              <a:t>debugger</a:t>
            </a:r>
            <a:r>
              <a:t> — та же база плюс </a:t>
            </a:r>
            <a:r>
              <a:rPr>
                <a:latin typeface="Consolas"/>
              </a:rPr>
              <a:t>Edit</a:t>
            </a:r>
            <a:r>
              <a:t>, возвращённый обратно, дословно «потому что починка бага требует правки кода». Одна логика урезания, две работы, два разных правильных ответа.</a:t>
            </a:r>
          </a:p>
          <a:p/>
          <a:p>
            <a:r>
              <a:t>Мост к кейсу. Список </a:t>
            </a:r>
            <a:r>
              <a:rPr>
                <a:latin typeface="Consolas"/>
              </a:rPr>
              <a:t>Read, Grep, Glob</a:t>
            </a:r>
            <a:r>
              <a:t>, который мы собрали для диф-ревьюера, был верным ровно потому, что его работа — находить проблему. Скопируйте тот же список роли, чья работа эту проблему чинить, и получите </a:t>
            </a:r>
            <a:r>
              <a:rPr>
                <a:latin typeface="Consolas"/>
              </a:rPr>
              <a:t>debugger</a:t>
            </a:r>
            <a:r>
              <a:t> без </a:t>
            </a:r>
            <a:r>
              <a:rPr>
                <a:latin typeface="Consolas"/>
              </a:rPr>
              <a:t>Edit</a:t>
            </a:r>
            <a:r>
              <a:t>: она физически не сделает того, ради чего её завели.</a:t>
            </a:r>
          </a:p>
          <a:p/>
          <a:p>
            <a:r>
              <a:t>Этим ступень закрывается. Весь путь работы целиком — от задачи до показа заказчику — остаётся на отдельный разговор.</a:t>
            </a:r>
          </a:p>
          <a:p/>
          <a:p>
            <a:r>
              <a:t>Если спросят, как узнать заранее, в какую границу попадает новая роль: спросите так — «что этой роли физически придётся сделать, чтобы выполнить свою работу»; если ответ требует инструмента, которого нет в списке, граница урезания проведена не там.</a:t>
            </a:r>
          </a:p>
          <a:p/>
          <a:p>
            <a:r>
              <a:t>Если спросят, не противоречит ли это тому, что мы собрали в этом же кейсе: нет — там урезание было верным, роль именно находит проблему. Здесь показан случай, где тот же приём, скопированный без проверки задачи, ломает другую роль.</a:t>
            </a:r>
          </a:p>
          <a:p/>
          <a:p>
            <a:r>
              <a:t>Если спросят, как это сочетается со счётом «ноль из четырнадцати»: счёт говорит, что урезание почти никто не делает; эта граница говорит, что сделанное не глядя тоже ломается. Обе половины указывают в одно место — права урезают от задачи роли, по одной штуке, с проверкой запуском.</a:t>
            </a:r>
          </a:p>
          <a:p/>
          <a:p>
            <a:r>
              <a:t>Если спросят про </a:t>
            </a:r>
            <a:r>
              <a:rPr>
                <a:latin typeface="Consolas"/>
              </a:rPr>
              <a:t>Bash</a:t>
            </a:r>
            <a:r>
              <a:t> у </a:t>
            </a:r>
            <a:r>
              <a:rPr>
                <a:latin typeface="Consolas"/>
              </a:rPr>
              <a:t>code-reviewer</a:t>
            </a:r>
            <a:r>
              <a:t>: он там есть и в примере документации, и это не противоречие — запустить тест и прочитать вывод ревьюер может, переписать файл чужими руками </a:t>
            </a:r>
            <a:r>
              <a:rPr>
                <a:latin typeface="Consolas"/>
              </a:rPr>
              <a:t>Bash</a:t>
            </a:r>
            <a:r>
              <a:t> ему не даёт по той же логике списка.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Тот же человек, тот же проект. В понедельник агент ответил по репозиторию, и двух просьб заказчика в ответе не оказалось: внутри их не было вовсе. В среду он прочитал всё, где этот текст мог встретиться, ответил верно — и переспросил то, что ему объясняли в начале сессии: чтение съело место, в котором лежала сама работа.</a:t>
            </a:r>
          </a:p>
          <a:p/>
          <a:p>
            <a:r>
              <a:t>Вот что стоит на месте обоих промахов. Третья строка, понедельник: права урезаются до подключения, не после, и без вычеркнутой строки «все репозитории, включая приватные» воспроизводится документированная утечка. Четвёртая строка, среда: делегировать можно бесплатно, без единой строки конфигурации, а список инструментов урезается синтаксисом так буквально, что одна неверная строка не ослабляет права роли — она останавливает её запуск вовсе.</a:t>
            </a:r>
          </a:p>
          <a:p/>
          <a:p>
            <a:r>
              <a:t>Хук и скилл — те же формулировки, что в начале занятия, заново я их не читаю. Четыре строки заполнены.</a:t>
            </a:r>
          </a:p>
          <a:p/>
          <a:p>
            <a:r>
              <a:t>---</a:t>
            </a:r>
          </a:p>
          <a:p/>
          <a:p>
            <a:r>
              <a:rPr b="1"/>
              <a:t>Справка.</a:t>
            </a:r>
          </a:p>
          <a:p/>
          <a:p>
            <a:r>
              <a:rPr i="1"/>
              <a:t>Если спросят, почему понедельник закрывает именно MCP, а среда — субагент.</a:t>
            </a:r>
            <a:r>
              <a:t> По тому, чего не хватало. В понедельник нужного не было внутри вовсе, и окно любого размера этого не меняет — помогает только доступ к системе, которая живёт отдельно. В среду всё нужное внутрь влезло и вытеснило работу — помогает чужое окно, которое читает за нас и возвращает итог.</a:t>
            </a:r>
          </a:p>
          <a:p/>
          <a:p>
            <a:r>
              <a:rPr i="1"/>
              <a:t>Если спросят, где посмотреть замеры по MCP и субагенту.</a:t>
            </a:r>
            <a:r>
              <a:t> По MCP — замер токенов и статусов живёт в документации продукта и в карточке конкретного сервера в сессии, не в репозитории. По субагенту — тот же приём у себя: </a:t>
            </a:r>
            <a:r>
              <a:rPr>
                <a:latin typeface="Consolas"/>
              </a:rPr>
              <a:t>grep "^tools:" .claude/agents/*.md</a:t>
            </a:r>
            <a:r>
              <a:t> на своих собственных ролях показывает, у скольких из них поле вообще задано.</a:t>
            </a:r>
          </a:p>
          <a:p/>
          <a:p>
            <a:r>
              <a:rPr i="1"/>
              <a:t>Если спросят про колонку «что не делает / ограничение» у новых строк.</a:t>
            </a:r>
            <a:r>
              <a:t> Тот же критерий, что у хука и скилла: это не чья-то наивность. Так механизм описан до того, как его замерили, а здесь показано, где заканчивается то, что он реально делает.</a:t>
            </a:r>
          </a:p>
          <a:p/>
          <a:p>
            <a:r>
              <a:rPr i="1"/>
              <a:t>Порядок строк.</a:t>
            </a:r>
            <a:r>
              <a:t> Тот же, что на вопросе занятия и на карте: хук, скилл, MCP, субагент. Не меняется — на этом совпадении держится весь возврат вопроса.</a:t>
            </a:r>
          </a:p>
          <a:p/>
          <a:p>
            <a:r>
              <a:rPr i="1"/>
              <a:t>Если прозвучит «а эти два промаха были настоящие».</a:t>
            </a:r>
            <a:r>
              <a:t> Сцены учебные, собранные из типовых ситуаций на настоящем проекте, — так и было сказано на обложке. Проверяемые числа занятия стоят отдельно и всегда с источником.</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что сегодня произошло с репозиторием. Смотрите на метку в каждой строке — она здесь важнее самой схемы.</a:t>
            </a:r>
          </a:p>
          <a:p/>
          <a:p>
            <a:r>
              <a:t>Хук, скилл, CLAUDE.md и документационный слой стоят так же, как в начале занятия. Это с мостика не изменилось.</a:t>
            </a:r>
          </a:p>
          <a:p/>
          <a:p>
            <a:r>
              <a:t>Два новых файла — </a:t>
            </a:r>
            <a:r>
              <a:rPr>
                <a:latin typeface="Consolas"/>
              </a:rPr>
              <a:t>.mcp.json</a:t>
            </a:r>
            <a:r>
              <a:t> и файл роли субагента — на этой схеме есть, но коммита у них нет и не будет. Демо-репозиторий дальше не строится: это решение, не забытая работа. Называю это прямо, потому что занятие всё время было про разницу между тем, что написано и что уже работает, и прятать эту же разницу в собственном итоге было бы странно.</a:t>
            </a:r>
          </a:p>
          <a:p/>
          <a:p>
            <a:r>
              <a:t>Обратите внимание, что это за две строки. Одна приносит внутрь то, чего внутри нет, вторая выносит наружу то, что внутрь не помещается. Два хода, которыми занятие отвечало на оба промаха, на этом проекте выглядят как два файла по известным путям — написанных, разобранных построчно и не закоммиченных.</a:t>
            </a:r>
          </a:p>
          <a:p/>
          <a:p>
            <a:r>
              <a:t>---</a:t>
            </a:r>
          </a:p>
          <a:p/>
          <a:p>
            <a:r>
              <a:rPr b="1"/>
              <a:t>Справка.</a:t>
            </a:r>
          </a:p>
          <a:p/>
          <a:p>
            <a:r>
              <a:rPr i="1"/>
              <a:t>Если спросят, почему демо-репозиторий не достроили.</a:t>
            </a:r>
            <a:r>
              <a:t> Решение принято заранее и объявлено вслух, недосмотром оно не является: два занятия с материалом MCP и субагента дороже, чем занятие с демо-репозиторием, достроенным до конца.</a:t>
            </a:r>
          </a:p>
          <a:p/>
          <a:p>
            <a:r>
              <a:rPr i="1"/>
              <a:t>Если спросят, как тогда проверить то, что сегодня разобрано.</a:t>
            </a:r>
            <a:r>
              <a:t> Следующий слайд отвечает на это прямо: часть сегодняшнего материала проверяется, часть — нет, и названо, что именно.</a:t>
            </a:r>
          </a:p>
          <a:p/>
          <a:p>
            <a:r>
              <a:rPr i="1"/>
              <a:t>Если спросят про имена файлов.</a:t>
            </a:r>
            <a:r>
              <a:t> </a:t>
            </a:r>
            <a:r>
              <a:rPr>
                <a:latin typeface="Consolas"/>
              </a:rPr>
              <a:t>.mcp.json</a:t>
            </a:r>
            <a:r>
              <a:t> и </a:t>
            </a:r>
            <a:r>
              <a:rPr>
                <a:latin typeface="Consolas"/>
              </a:rPr>
              <a:t>diff-reviewer.md</a:t>
            </a:r>
            <a:r>
              <a:t> — не придуманные имена, это артефакты из разобранных сегодня кейсов, ровно по этим путям, без расхождений.</a:t>
            </a:r>
          </a:p>
          <a:p/>
          <a:p>
            <a:r>
              <a:rPr i="1"/>
              <a:t>Если спросят, где посмотреть эти файлы целиком.</a:t>
            </a:r>
            <a:r>
              <a:t> Оба разбирались построчно сегодня, каждый на своём экране: собранный </a:t>
            </a:r>
            <a:r>
              <a:rPr>
                <a:latin typeface="Consolas"/>
              </a:rPr>
              <a:t>.mcp.json</a:t>
            </a:r>
            <a:r>
              <a:t> с порядком при конфликте имён и файл роли с тремя инструментами вместо всех. Там же названо, какая строка за что отвечает; схема здесь показывает только статус.</a:t>
            </a:r>
          </a:p>
          <a:p/>
          <a:p>
            <a:r>
              <a:rPr i="1"/>
              <a:t>Если спросят, почему у хука коммит есть, а у скилла нет.</a:t>
            </a:r>
            <a:r>
              <a:t> Эту метку поставило прошлое занятие и по той же причине: хук был заведён и проверен на живом репозитории, скилл разобран по частям, но до коммита не дошёл. С тех пор метка не менялась, и сегодня к ней добавились ещё две того же рода.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вопрос уже звучал в начале занятия, после двух промахов, и свой ответ вы держали при себе. Формулировка та же, знак в знак: работа вышла за контекст агента — что вы заводите первым: приносите внутрь то, чего внутри нет, или выносите наружу то, что внутрь не помещается?</a:t>
            </a:r>
          </a:p>
          <a:p/>
          <a:p>
            <a:r>
              <a:t>Сначала руки: у кого ответ изменился за сегодня. Потом два-три голоса — что именно его изменило. Свой ответ не называю, чужие не оцениваю.</a:t>
            </a:r>
          </a:p>
          <a:p/>
          <a:p>
            <a:r>
              <a:t>---</a:t>
            </a:r>
          </a:p>
          <a:p/>
          <a:p>
            <a:r>
              <a:rPr b="1"/>
              <a:t>Справка.</a:t>
            </a:r>
          </a:p>
          <a:p/>
          <a:p>
            <a:r>
              <a:rPr i="1"/>
              <a:t>Что обычно меняет ответ, и что на каждое отвечать.</a:t>
            </a:r>
            <a:r>
              <a:t> Ожидаемое движение: от «беру то, что под рукой, без разбора» к выбору по критерию — данных не хватает физически, значит доступ наружу; чтение съедает место и повторяется из сессии в сессию, значит отдельный исполнитель. Второе движение: от недооценки цены к прямому её учёту — чужой код и место в контексте у одного расширения, лишние права у другого. Оба движения подтверждаю как честные: это и есть материал, который сегодня проверяли.</a:t>
            </a:r>
          </a:p>
          <a:p/>
          <a:p>
            <a:r>
              <a:rPr i="1"/>
              <a:t>Если зал молчит.</a:t>
            </a:r>
            <a:r>
              <a:t> Напоминаю, что появилось за занятие: критерий для доступа наружу и критерий для урезанной роли, оба с ценой, названной прямо. Больше не подсказываю — здесь работает пауза.</a:t>
            </a:r>
          </a:p>
          <a:p/>
          <a:p>
            <a:r>
              <a:rPr i="1"/>
              <a:t>Если прозвучит «а какой ответ правильный».</a:t>
            </a:r>
            <a:r>
              <a:t> Правильного нет и сегодня: выбор зависит от того, чего в конкретном проекте не хватает — того, чего внутри нет вовсе, или места, которое съедает чтение.</a:t>
            </a:r>
          </a:p>
          <a:p/>
          <a:p>
            <a:r>
              <a:rPr i="1"/>
              <a:t>Если ответ не изменился ни у кого.</a:t>
            </a:r>
            <a:r>
              <a:t> Это честный исход, и спорить с ним нечем: спрашиваю тогда про цену: изменилось ли представление о том, чего стоит каждый из двух ходов. Обычно меняется именно она.</a:t>
            </a:r>
          </a:p>
          <a:p/>
          <a:p>
            <a:r>
              <a:rPr i="1"/>
              <a:t>Чего здесь не делаю.</a:t>
            </a:r>
            <a:r>
              <a:t> Итог не подвожу — он идёт отдельно, последним. Ничего сделать после занятия не прошу.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Посмотрите, где сегодня появилась команда, которую можно выполнить и получить ответ, а где её нет.</a:t>
            </a:r>
          </a:p>
          <a:p/>
          <a:p>
            <a:r>
              <a:t>Из шести сегодняшних карточек опору несут две. Статус сервера подтверждается прямо на вашей машине: </a:t>
            </a:r>
            <a:r>
              <a:rPr>
                <a:latin typeface="Consolas"/>
              </a:rPr>
              <a:t>claude mcp list</a:t>
            </a:r>
            <a:r>
              <a:t> и явный именованный вызов. Урезанные права роли — тем же приёмом на своих собственных ролях: </a:t>
            </a:r>
            <a:r>
              <a:rPr>
                <a:latin typeface="Consolas"/>
              </a:rPr>
              <a:t>grep "^tools:" .claude/agents/*.md</a:t>
            </a:r>
            <a:r>
              <a:t> показывает, у скольких из них поле вообще задано; на этом приёме курс поймал сам себя — единственный файл, где поле стоит, резолвится в ноль инструментов. Остальные четыре карточки опираются на документированное исследование: CVE, контролируемый эксперимент, сотни размеченных трасс. Команды, которую можно выполнить здесь и сейчас, под ними нет, и это названо прямо.</a:t>
            </a:r>
          </a:p>
          <a:p/>
          <a:p>
            <a:r>
              <a:t>И последнее — то, ради чего всё шло. Два механизма вы сегодня видели; с собой вы уносите вопрос, которым между ними выбирают. Завтра, когда ваша работа перестанет помещаться агенту: чего ей не хватает — того, чего внутри нет вовсе, или места, занятого чтением? Первый случай приносят внутрь, второй выносят наружу. Разработчик, с чьих двух промахов занятие начиналось, теперь различает эти случаи сам — и это весь ответ на вопрос, который вы только что слышали второй раз.</a:t>
            </a:r>
          </a:p>
          <a:p/>
          <a:p>
            <a:r>
              <a:t>---</a:t>
            </a:r>
          </a:p>
          <a:p/>
          <a:p>
            <a:r>
              <a:rPr b="1"/>
              <a:t>Справка.</a:t>
            </a:r>
          </a:p>
          <a:p/>
          <a:p>
            <a:r>
              <a:rPr i="1"/>
              <a:t>Что делают команды, которыми проверяется сегодняшний материал.</a:t>
            </a:r>
            <a:r>
              <a:t> </a:t>
            </a:r>
            <a:r>
              <a:rPr>
                <a:latin typeface="Consolas"/>
              </a:rPr>
              <a:t>claude mcp list</a:t>
            </a:r>
            <a:r>
              <a:t> и </a:t>
            </a:r>
            <a:r>
              <a:rPr>
                <a:latin typeface="Consolas"/>
              </a:rPr>
              <a:t>/mcp</a:t>
            </a:r>
            <a:r>
              <a:t> печатают статус подключения и, при явном именованном вызове, доказывают реальную работу сервера. </a:t>
            </a:r>
            <a:r>
              <a:rPr>
                <a:latin typeface="Consolas"/>
              </a:rPr>
              <a:t>grep "^tools:" .claude/agents/*.md</a:t>
            </a:r>
            <a:r>
              <a:t> на любом каталоге ролей печатает, у кого поле </a:t>
            </a:r>
            <a:r>
              <a:rPr>
                <a:latin typeface="Consolas"/>
              </a:rPr>
              <a:t>tools:</a:t>
            </a:r>
            <a:r>
              <a:t> задано явно, а у кого нет вовсе — тот же приём, которым курс поймал сам себя: единственная строка со значением «All tools», которое не распознаётся как ограничение.</a:t>
            </a:r>
          </a:p>
          <a:p/>
          <a:p>
            <a:r>
              <a:rPr i="1"/>
              <a:t>Если спросят, почему опора есть не у всех шести кейсов.</a:t>
            </a:r>
            <a:r>
              <a:t> У двух кейсов доказательная база — документированные случаи и спецификации: сервера, где случился инцидент, давно нет, а чужую роль в чужом репозитории на своей машине не запустишь. Проверяемость здесь другого рода — читается первоисточник, команда не выполняется. Это разница в природе материала, не недосмотр.</a:t>
            </a:r>
          </a:p>
          <a:p/>
          <a:p>
            <a:r>
              <a:rPr i="1"/>
              <a:t>Если спросят, что считать результатом занятия.</a:t>
            </a:r>
            <a:r>
              <a:t> Не количество файлов. Результат — вопрос, которым выбирают ход, и цена, названная у каждого из двух. Проверяемость — половина этого результата: про часть сегодняшнего материала можно задать вопрос и получить ответ командой, про другую часть пока нет, и это сказано прямо.</a:t>
            </a:r>
          </a:p>
          <a:p/>
          <a:p>
            <a:r>
              <a:rPr i="1"/>
              <a:t>Если спросят, что делать с последним вопросом.</a:t>
            </a:r>
            <a:r>
              <a:t> Ответить себе, и всё. Домашней работы из него не делаю, присылать ответ не нужно, на следующем занятии его не спрашиваю: перенос на свой репозиторий — работа отдельного занятия, и начинать её с невыполненного задания было бы нечестно.</a:t>
            </a:r>
          </a:p>
          <a:p/>
          <a:p>
            <a:r>
              <a:rPr i="1"/>
              <a:t>Остаток себе.</a:t>
            </a:r>
            <a:r>
              <a:t> Призыва что-либо сделать не даю. Пустые клетки сетки не комментирую дольше одной фразы.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Файл роли: три инструмента вместо всех</a:t>
            </a:r>
          </a:p>
        </p:txBody>
      </p:sp>
      <p:sp>
        <p:nvSpPr>
          <p:cNvPr id="3" name="Rounded Rectangle 2"/>
          <p:cNvSpPr/>
          <p:nvPr/>
        </p:nvSpPr>
        <p:spPr>
          <a:xfrm>
            <a:off x="502920" y="1409090"/>
            <a:ext cx="11183112" cy="2569464"/>
          </a:xfrm>
          <a:prstGeom prst="roundRect">
            <a:avLst>
              <a:gd name="adj" fmla="val 1186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743417"/>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1628546"/>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name:</a:t>
            </a:r>
            <a:r>
              <a:rPr sz="1350" b="0" i="0">
                <a:solidFill>
                  <a:srgbClr val="141B2E"/>
                </a:solidFill>
                <a:latin typeface="Arial"/>
              </a:rPr>
              <a:t> </a:t>
            </a:r>
            <a:r>
              <a:rPr sz="1350" b="0" i="0">
                <a:solidFill>
                  <a:srgbClr val="141B2E"/>
                </a:solidFill>
                <a:latin typeface="Consolas"/>
              </a:rPr>
              <a:t>diff-reviewer</a:t>
            </a:r>
            <a:r>
              <a:rPr sz="1350" b="0" i="0">
                <a:solidFill>
                  <a:srgbClr val="141B2E"/>
                </a:solidFill>
                <a:latin typeface="Arial"/>
              </a:rPr>
              <a:t> — имя, по которому роль вызывают явно</a:t>
            </a:r>
          </a:p>
        </p:txBody>
      </p:sp>
      <p:sp>
        <p:nvSpPr>
          <p:cNvPr id="6" name="Rounded Rectangle 5"/>
          <p:cNvSpPr/>
          <p:nvPr/>
        </p:nvSpPr>
        <p:spPr>
          <a:xfrm>
            <a:off x="758952" y="2276055"/>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1958873"/>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description:</a:t>
            </a:r>
            <a:r>
              <a:rPr sz="1350" b="0" i="0">
                <a:solidFill>
                  <a:srgbClr val="141B2E"/>
                </a:solidFill>
                <a:latin typeface="Arial"/>
              </a:rPr>
              <a:t> Независимый ревьюер diff'ов. Видит только сам diff и критерии приёмки, не рассуждения автора. Используй перед мержем любого нетривиального изменения. НЕ для ревью архитектурных решений (</a:t>
            </a:r>
            <a:r>
              <a:rPr sz="1350" b="0" i="0">
                <a:solidFill>
                  <a:srgbClr val="141B2E"/>
                </a:solidFill>
                <a:latin typeface="Consolas"/>
              </a:rPr>
              <a:t>doc/adr/</a:t>
            </a:r>
            <a:r>
              <a:rPr sz="1350" b="0" i="0">
                <a:solidFill>
                  <a:srgbClr val="141B2E"/>
                </a:solidFill>
                <a:latin typeface="Arial"/>
              </a:rPr>
              <a:t>) — это отдельная роль.</a:t>
            </a:r>
          </a:p>
        </p:txBody>
      </p:sp>
      <p:sp>
        <p:nvSpPr>
          <p:cNvPr id="8" name="Rounded Rectangle 7"/>
          <p:cNvSpPr/>
          <p:nvPr/>
        </p:nvSpPr>
        <p:spPr>
          <a:xfrm>
            <a:off x="758952" y="2808693"/>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693822"/>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tools:</a:t>
            </a:r>
            <a:r>
              <a:rPr sz="1350" b="0" i="0">
                <a:solidFill>
                  <a:srgbClr val="141B2E"/>
                </a:solidFill>
                <a:latin typeface="Arial"/>
              </a:rPr>
              <a:t> </a:t>
            </a:r>
            <a:r>
              <a:rPr sz="1350" b="0" i="0">
                <a:solidFill>
                  <a:srgbClr val="141B2E"/>
                </a:solidFill>
                <a:latin typeface="Consolas"/>
              </a:rPr>
              <a:t>Read,</a:t>
            </a:r>
            <a:r>
              <a:rPr sz="1350" b="0" i="0">
                <a:solidFill>
                  <a:srgbClr val="141B2E"/>
                </a:solidFill>
                <a:latin typeface="Arial"/>
              </a:rPr>
              <a:t> </a:t>
            </a:r>
            <a:r>
              <a:rPr sz="1350" b="0" i="0">
                <a:solidFill>
                  <a:srgbClr val="141B2E"/>
                </a:solidFill>
                <a:latin typeface="Consolas"/>
              </a:rPr>
              <a:t>Grep,</a:t>
            </a:r>
            <a:r>
              <a:rPr sz="1350" b="0" i="0">
                <a:solidFill>
                  <a:srgbClr val="141B2E"/>
                </a:solidFill>
                <a:latin typeface="Arial"/>
              </a:rPr>
              <a:t> </a:t>
            </a:r>
            <a:r>
              <a:rPr sz="1350" b="0" i="0">
                <a:solidFill>
                  <a:srgbClr val="141B2E"/>
                </a:solidFill>
                <a:latin typeface="Consolas"/>
              </a:rPr>
              <a:t>Glob</a:t>
            </a:r>
            <a:r>
              <a:rPr sz="1350" b="0" i="0">
                <a:solidFill>
                  <a:srgbClr val="141B2E"/>
                </a:solidFill>
                <a:latin typeface="Arial"/>
              </a:rPr>
              <a:t> — без </a:t>
            </a:r>
            <a:r>
              <a:rPr sz="1350" b="0" i="0">
                <a:solidFill>
                  <a:srgbClr val="141B2E"/>
                </a:solidFill>
                <a:latin typeface="Consolas"/>
              </a:rPr>
              <a:t>Write</a:t>
            </a:r>
            <a:r>
              <a:rPr sz="1350" b="0" i="0">
                <a:solidFill>
                  <a:srgbClr val="141B2E"/>
                </a:solidFill>
                <a:latin typeface="Arial"/>
              </a:rPr>
              <a:t> и </a:t>
            </a:r>
            <a:r>
              <a:rPr sz="1350" b="0" i="0">
                <a:solidFill>
                  <a:srgbClr val="141B2E"/>
                </a:solidFill>
                <a:latin typeface="Consolas"/>
              </a:rPr>
              <a:t>Edit</a:t>
            </a:r>
          </a:p>
        </p:txBody>
      </p:sp>
      <p:sp>
        <p:nvSpPr>
          <p:cNvPr id="10" name="Rounded Rectangle 9"/>
          <p:cNvSpPr/>
          <p:nvPr/>
        </p:nvSpPr>
        <p:spPr>
          <a:xfrm>
            <a:off x="758952" y="3341331"/>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024149"/>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Тело роли (системный промпт): «Ты не правишь код сам — только находишь проблемы. Начни ответ строкой </a:t>
            </a:r>
            <a:r>
              <a:rPr sz="1350" b="0" i="0">
                <a:solidFill>
                  <a:srgbClr val="141B2E"/>
                </a:solidFill>
                <a:latin typeface="Consolas"/>
              </a:rPr>
              <a:t>VERDICT:</a:t>
            </a:r>
            <a:r>
              <a:rPr sz="1350" b="0" i="0">
                <a:solidFill>
                  <a:srgbClr val="141B2E"/>
                </a:solidFill>
                <a:latin typeface="Arial"/>
              </a:rPr>
              <a:t> </a:t>
            </a:r>
            <a:r>
              <a:rPr sz="1350" b="0" i="0">
                <a:solidFill>
                  <a:srgbClr val="141B2E"/>
                </a:solidFill>
                <a:latin typeface="Consolas"/>
              </a:rPr>
              <a:t>PASS</a:t>
            </a:r>
            <a:r>
              <a:rPr sz="1350" b="0" i="0">
                <a:solidFill>
                  <a:srgbClr val="141B2E"/>
                </a:solidFill>
                <a:latin typeface="Arial"/>
              </a:rPr>
              <a:t> </a:t>
            </a:r>
            <a:r>
              <a:rPr sz="1350" b="0" i="0">
                <a:solidFill>
                  <a:srgbClr val="141B2E"/>
                </a:solidFill>
                <a:latin typeface="Consolas"/>
              </a:rPr>
              <a:t>|</a:t>
            </a:r>
            <a:r>
              <a:rPr sz="1350" b="0" i="0">
                <a:solidFill>
                  <a:srgbClr val="141B2E"/>
                </a:solidFill>
                <a:latin typeface="Arial"/>
              </a:rPr>
              <a:t> </a:t>
            </a:r>
            <a:r>
              <a:rPr sz="1350" b="0" i="0">
                <a:solidFill>
                  <a:srgbClr val="141B2E"/>
                </a:solidFill>
                <a:latin typeface="Consolas"/>
              </a:rPr>
              <a:t>BLOCK</a:t>
            </a:r>
            <a:r>
              <a:rPr sz="1350" b="0" i="0">
                <a:solidFill>
                  <a:srgbClr val="141B2E"/>
                </a:solidFill>
                <a:latin typeface="Arial"/>
              </a:rPr>
              <a:t>. Затем: что проверено — конкретно, какие файлы прочитаны, — и находки: что не так, где, почему важно. Пустой список находок — валидный PASS.»</a:t>
            </a:r>
          </a:p>
        </p:txBody>
      </p:sp>
      <p:sp>
        <p:nvSpPr>
          <p:cNvPr id="12" name="Rounded Rectangle 11"/>
          <p:cNvSpPr/>
          <p:nvPr/>
        </p:nvSpPr>
        <p:spPr>
          <a:xfrm>
            <a:off x="502920" y="464606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7408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Файл для разбора — что в нём написано и почему, — не артефакт, который можно сейчас склонировать себе: он снят с версии демо-репозитория, которой больше не существует за пределами временной директории, где её собирали.</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Та же строка, написанная словами. Роль не запустилась ни разу</a:t>
            </a:r>
          </a:p>
        </p:txBody>
      </p:sp>
      <p:sp>
        <p:nvSpPr>
          <p:cNvPr id="3" name="Rounded Rectangle 2"/>
          <p:cNvSpPr/>
          <p:nvPr/>
        </p:nvSpPr>
        <p:spPr>
          <a:xfrm>
            <a:off x="502920" y="1319784"/>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Три месяца назад в каталоге ролей этого курса — том самом, что вы сейчас видите как учебный материал, — завели роль литературного редактора и попытались сузить ей права тем же способом, каким мы это сделали экраном раньше.</a:t>
            </a:r>
          </a:p>
        </p:txBody>
      </p:sp>
      <p:sp>
        <p:nvSpPr>
          <p:cNvPr id="5" name="Rounded Rectangle 4"/>
          <p:cNvSpPr/>
          <p:nvPr/>
        </p:nvSpPr>
        <p:spPr>
          <a:xfrm>
            <a:off x="502920" y="2168144"/>
            <a:ext cx="11183112" cy="1345057"/>
          </a:xfrm>
          <a:prstGeom prst="roundRect">
            <a:avLst>
              <a:gd name="adj" fmla="val 2266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3592"/>
            <a:ext cx="3531813"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ЗАПИСАНО</a:t>
            </a:r>
          </a:p>
        </p:txBody>
      </p:sp>
      <p:sp>
        <p:nvSpPr>
          <p:cNvPr id="7" name="TextBox 6"/>
          <p:cNvSpPr txBox="1"/>
          <p:nvPr/>
        </p:nvSpPr>
        <p:spPr>
          <a:xfrm>
            <a:off x="4336485" y="2323592"/>
            <a:ext cx="2750045"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ХАРНЕСС ВИДИТ</a:t>
            </a:r>
          </a:p>
        </p:txBody>
      </p:sp>
      <p:sp>
        <p:nvSpPr>
          <p:cNvPr id="8" name="TextBox 7"/>
          <p:cNvSpPr txBox="1"/>
          <p:nvPr/>
        </p:nvSpPr>
        <p:spPr>
          <a:xfrm>
            <a:off x="7232834" y="2323592"/>
            <a:ext cx="4151445"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ИТОГ</a:t>
            </a:r>
          </a:p>
        </p:txBody>
      </p:sp>
      <p:sp>
        <p:nvSpPr>
          <p:cNvPr id="9" name="TextBox 8"/>
          <p:cNvSpPr txBox="1"/>
          <p:nvPr/>
        </p:nvSpPr>
        <p:spPr>
          <a:xfrm>
            <a:off x="658368" y="2575687"/>
            <a:ext cx="3531813"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Consolas"/>
              </a:rPr>
              <a:t>tools:</a:t>
            </a:r>
            <a:r>
              <a:rPr sz="950" b="0" i="0">
                <a:solidFill>
                  <a:srgbClr val="141B2E"/>
                </a:solidFill>
                <a:latin typeface="Arial"/>
              </a:rPr>
              <a:t> </a:t>
            </a:r>
            <a:r>
              <a:rPr sz="950" b="0" i="0">
                <a:solidFill>
                  <a:srgbClr val="141B2E"/>
                </a:solidFill>
                <a:latin typeface="Consolas"/>
              </a:rPr>
              <a:t>Read,</a:t>
            </a:r>
            <a:r>
              <a:rPr sz="950" b="0" i="0">
                <a:solidFill>
                  <a:srgbClr val="141B2E"/>
                </a:solidFill>
                <a:latin typeface="Arial"/>
              </a:rPr>
              <a:t> </a:t>
            </a:r>
            <a:r>
              <a:rPr sz="950" b="0" i="0">
                <a:solidFill>
                  <a:srgbClr val="141B2E"/>
                </a:solidFill>
                <a:latin typeface="Consolas"/>
              </a:rPr>
              <a:t>Grep,</a:t>
            </a:r>
            <a:r>
              <a:rPr sz="950" b="0" i="0">
                <a:solidFill>
                  <a:srgbClr val="141B2E"/>
                </a:solidFill>
                <a:latin typeface="Arial"/>
              </a:rPr>
              <a:t> </a:t>
            </a:r>
            <a:r>
              <a:rPr sz="950" b="0" i="0">
                <a:solidFill>
                  <a:srgbClr val="141B2E"/>
                </a:solidFill>
                <a:latin typeface="Consolas"/>
              </a:rPr>
              <a:t>Glob</a:t>
            </a:r>
            <a:r>
              <a:rPr sz="950" b="0" i="0">
                <a:solidFill>
                  <a:srgbClr val="141B2E"/>
                </a:solidFill>
                <a:latin typeface="Arial"/>
              </a:rPr>
              <a:t> — файл, собранный нами экраном раньше</a:t>
            </a:r>
          </a:p>
        </p:txBody>
      </p:sp>
      <p:sp>
        <p:nvSpPr>
          <p:cNvPr id="10" name="TextBox 9"/>
          <p:cNvSpPr txBox="1"/>
          <p:nvPr/>
        </p:nvSpPr>
        <p:spPr>
          <a:xfrm>
            <a:off x="4336485" y="2575687"/>
            <a:ext cx="27500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три имени, каждое совпадает с реальным инструментом</a:t>
            </a:r>
          </a:p>
        </p:txBody>
      </p:sp>
      <p:sp>
        <p:nvSpPr>
          <p:cNvPr id="11" name="TextBox 10"/>
          <p:cNvSpPr txBox="1"/>
          <p:nvPr/>
        </p:nvSpPr>
        <p:spPr>
          <a:xfrm>
            <a:off x="7232834" y="2575687"/>
            <a:ext cx="41514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роль запускается и физически не может править файлы</a:t>
            </a:r>
          </a:p>
        </p:txBody>
      </p:sp>
      <p:cxnSp>
        <p:nvCxnSpPr>
          <p:cNvPr id="12" name="Connector 11"/>
          <p:cNvCxnSpPr/>
          <p:nvPr/>
        </p:nvCxnSpPr>
        <p:spPr>
          <a:xfrm>
            <a:off x="658368" y="2966720"/>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2966720"/>
            <a:ext cx="3531813"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Consolas"/>
              </a:rPr>
              <a:t>tools:</a:t>
            </a:r>
            <a:r>
              <a:rPr sz="950" b="0" i="0">
                <a:solidFill>
                  <a:srgbClr val="141B2E"/>
                </a:solidFill>
                <a:latin typeface="Arial"/>
              </a:rPr>
              <a:t> </a:t>
            </a:r>
            <a:r>
              <a:rPr sz="950" b="0" i="0">
                <a:solidFill>
                  <a:srgbClr val="141B2E"/>
                </a:solidFill>
                <a:latin typeface="Consolas"/>
              </a:rPr>
              <a:t>All</a:t>
            </a:r>
            <a:r>
              <a:rPr sz="950" b="0" i="0">
                <a:solidFill>
                  <a:srgbClr val="141B2E"/>
                </a:solidFill>
                <a:latin typeface="Arial"/>
              </a:rPr>
              <a:t> </a:t>
            </a:r>
            <a:r>
              <a:rPr sz="950" b="0" i="0">
                <a:solidFill>
                  <a:srgbClr val="141B2E"/>
                </a:solidFill>
                <a:latin typeface="Consolas"/>
              </a:rPr>
              <a:t>tools</a:t>
            </a:r>
            <a:r>
              <a:rPr sz="950" b="0" i="0">
                <a:solidFill>
                  <a:srgbClr val="141B2E"/>
                </a:solidFill>
                <a:latin typeface="Arial"/>
              </a:rPr>
              <a:t> — файл в каталоге ролей этого курса</a:t>
            </a:r>
          </a:p>
        </p:txBody>
      </p:sp>
      <p:sp>
        <p:nvSpPr>
          <p:cNvPr id="14" name="TextBox 13"/>
          <p:cNvSpPr txBox="1"/>
          <p:nvPr/>
        </p:nvSpPr>
        <p:spPr>
          <a:xfrm>
            <a:off x="4336485" y="2966720"/>
            <a:ext cx="27500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два отдельных имени, </a:t>
            </a:r>
            <a:r>
              <a:rPr sz="950" b="0" i="0">
                <a:solidFill>
                  <a:srgbClr val="141B2E"/>
                </a:solidFill>
                <a:latin typeface="Consolas"/>
              </a:rPr>
              <a:t>All</a:t>
            </a:r>
            <a:r>
              <a:rPr sz="950" b="0" i="0">
                <a:solidFill>
                  <a:srgbClr val="141B2E"/>
                </a:solidFill>
                <a:latin typeface="Arial"/>
              </a:rPr>
              <a:t> и </a:t>
            </a:r>
            <a:r>
              <a:rPr sz="950" b="0" i="0">
                <a:solidFill>
                  <a:srgbClr val="141B2E"/>
                </a:solidFill>
                <a:latin typeface="Consolas"/>
              </a:rPr>
              <a:t>tools</a:t>
            </a:r>
          </a:p>
        </p:txBody>
      </p:sp>
      <p:sp>
        <p:nvSpPr>
          <p:cNvPr id="15" name="TextBox 14"/>
          <p:cNvSpPr txBox="1"/>
          <p:nvPr/>
        </p:nvSpPr>
        <p:spPr>
          <a:xfrm>
            <a:off x="7232834" y="2966720"/>
            <a:ext cx="41514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ни одно не совпадает ни с чем — список резолвится в пустое множество нераспознанных записей</a:t>
            </a:r>
          </a:p>
        </p:txBody>
      </p:sp>
      <p:sp>
        <p:nvSpPr>
          <p:cNvPr id="16" name="Rectangle 15"/>
          <p:cNvSpPr/>
          <p:nvPr/>
        </p:nvSpPr>
        <p:spPr>
          <a:xfrm>
            <a:off x="502920" y="3714369"/>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8" y="3769233"/>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«Agent 'literary-editor' would be spawned with zero tools — refusing. Its tools list resolved to nothing: unrecognized [All, tools].»</a:t>
            </a:r>
          </a:p>
        </p:txBody>
      </p:sp>
      <p:sp>
        <p:nvSpPr>
          <p:cNvPr id="18" name="Rounded Rectangle 17"/>
          <p:cNvSpPr/>
          <p:nvPr/>
        </p:nvSpPr>
        <p:spPr>
          <a:xfrm>
            <a:off x="502920" y="4233291"/>
            <a:ext cx="82296" cy="69951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361307"/>
            <a:ext cx="10643616" cy="443483"/>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Три попытки параллельного запуска — три одинаковых отказа. Явно пустой список (</a:t>
            </a:r>
            <a:r>
              <a:rPr sz="1350" b="1" i="0">
                <a:solidFill>
                  <a:srgbClr val="141B2E"/>
                </a:solidFill>
                <a:latin typeface="Consolas"/>
              </a:rPr>
              <a:t>tools:</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дал бы роль без единого инструмента, но живую. Здесь харнесс сделал другое: отказался запускать роль вовсе.</a:t>
            </a:r>
          </a:p>
        </p:txBody>
      </p:sp>
      <p:sp>
        <p:nvSpPr>
          <p:cNvPr id="20" name="Rounded Rectangle 19"/>
          <p:cNvSpPr/>
          <p:nvPr/>
        </p:nvSpPr>
        <p:spPr>
          <a:xfrm>
            <a:off x="502920" y="5097399"/>
            <a:ext cx="82296" cy="47904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225414"/>
            <a:ext cx="10643616" cy="223011"/>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Строка, которая должна была урезать права, их не ослабила — она не позволила роли появиться вообще.</a:t>
            </a:r>
          </a:p>
        </p:txBody>
      </p:sp>
      <p:sp>
        <p:nvSpPr>
          <p:cNvPr id="22" name="Rounded Rectangle 21"/>
          <p:cNvSpPr/>
          <p:nvPr/>
        </p:nvSpPr>
        <p:spPr>
          <a:xfrm>
            <a:off x="502920" y="5741035"/>
            <a:ext cx="11183112" cy="59211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5869050"/>
            <a:ext cx="10634472" cy="336087"/>
          </a:xfrm>
          <a:prstGeom prst="rect">
            <a:avLst/>
          </a:prstGeom>
          <a:noFill/>
        </p:spPr>
        <p:txBody>
          <a:bodyPr wrap="square" lIns="0" rIns="0" tIns="0" bIns="0" anchor="ctr">
            <a:spAutoFit/>
          </a:bodyPr>
          <a:lstStyle/>
          <a:p>
            <a:pPr algn="ctr">
              <a:lnSpc>
                <a:spcPts val="1525"/>
              </a:lnSpc>
              <a:spcAft>
                <a:spcPts val="300"/>
              </a:spcAft>
            </a:pPr>
            <a:r>
              <a:rPr sz="1250" b="1" i="0">
                <a:solidFill>
                  <a:srgbClr val="141B2E"/>
                </a:solidFill>
                <a:latin typeface="Consolas"/>
              </a:rPr>
              <a:t>grep</a:t>
            </a:r>
            <a:r>
              <a:rPr sz="1250" b="1" i="0">
                <a:solidFill>
                  <a:srgbClr val="141B2E"/>
                </a:solidFill>
                <a:latin typeface="Arial"/>
              </a:rPr>
              <a:t> </a:t>
            </a:r>
            <a:r>
              <a:rPr sz="1250" b="1" i="0">
                <a:solidFill>
                  <a:srgbClr val="141B2E"/>
                </a:solidFill>
                <a:latin typeface="Consolas"/>
              </a:rPr>
              <a:t>"^tools:"</a:t>
            </a:r>
            <a:r>
              <a:rPr sz="1250" b="1" i="0">
                <a:solidFill>
                  <a:srgbClr val="141B2E"/>
                </a:solidFill>
                <a:latin typeface="Arial"/>
              </a:rPr>
              <a:t> </a:t>
            </a:r>
            <a:r>
              <a:rPr sz="1250" b="1" i="0">
                <a:solidFill>
                  <a:srgbClr val="141B2E"/>
                </a:solidFill>
                <a:latin typeface="Consolas"/>
              </a:rPr>
              <a:t>.claude/agents/*.md</a:t>
            </a:r>
            <a:r>
              <a:rPr sz="1250" b="1" i="0">
                <a:solidFill>
                  <a:srgbClr val="141B2E"/>
                </a:solidFill>
                <a:latin typeface="Arial"/>
              </a:rPr>
              <a:t> — у себя, на своих собственных ролях: у скольких из них это поле вообще задано?</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роли ещё нет, а когда она не нужна вовсе</a:t>
            </a:r>
          </a:p>
        </p:txBody>
      </p:sp>
      <p:sp>
        <p:nvSpPr>
          <p:cNvPr id="3" name="Rounded Rectangle 2"/>
          <p:cNvSpPr/>
          <p:nvPr/>
        </p:nvSpPr>
        <p:spPr>
          <a:xfrm>
            <a:off x="502920" y="957275"/>
            <a:ext cx="82296" cy="16916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85291"/>
            <a:ext cx="10643616" cy="14356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Кастомная роль — решаем, по сигналу повторения. Интуиция говорила: чтобы поручить проверку отдельному агенту, нужно завести файл и настроить его. Проверка показала: делегировать можно без единой строки конфигурации, это уже бесплатно; заводить стоило роль с урезанным списком инструментов, само делегирование заводить не требовалось — и даже это урезание держится на синтаксисе настолько буквально, что одна неверная строка не ослабляет права — не даёт роли запуститься вовсе.</a:t>
            </a:r>
          </a:p>
        </p:txBody>
      </p:sp>
      <p:sp>
        <p:nvSpPr>
          <p:cNvPr id="5" name="Rounded Rectangle 4"/>
          <p:cNvSpPr/>
          <p:nvPr/>
        </p:nvSpPr>
        <p:spPr>
          <a:xfrm>
            <a:off x="502920" y="2848305"/>
            <a:ext cx="5454396" cy="2039874"/>
          </a:xfrm>
          <a:prstGeom prst="roundRect">
            <a:avLst>
              <a:gd name="adj" fmla="val 149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95803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РОЛИ ЕЩЁ НЕТ</a:t>
            </a:r>
          </a:p>
        </p:txBody>
      </p:sp>
      <p:sp>
        <p:nvSpPr>
          <p:cNvPr id="7" name="TextBox 6"/>
          <p:cNvSpPr txBox="1"/>
          <p:nvPr/>
        </p:nvSpPr>
        <p:spPr>
          <a:xfrm>
            <a:off x="685800" y="323235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разовая проверка — делегируйте встроенным субагентом, файл не нужен</a:t>
            </a:r>
          </a:p>
        </p:txBody>
      </p:sp>
      <p:cxnSp>
        <p:nvCxnSpPr>
          <p:cNvPr id="8" name="Connector 7"/>
          <p:cNvCxnSpPr/>
          <p:nvPr/>
        </p:nvCxnSpPr>
        <p:spPr>
          <a:xfrm>
            <a:off x="685800" y="372333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72333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задача формулируется заново каждый раз без устойчивой формы — роли ещё нет, есть обычная работа</a:t>
            </a:r>
          </a:p>
        </p:txBody>
      </p:sp>
      <p:cxnSp>
        <p:nvCxnSpPr>
          <p:cNvPr id="10" name="Connector 9"/>
          <p:cNvCxnSpPr/>
          <p:nvPr/>
        </p:nvCxnSpPr>
        <p:spPr>
          <a:xfrm>
            <a:off x="685800" y="421431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214317"/>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«независимость» объявлена, но не проверена — если ревьюер на деле видит рассуждения автора, объявления недостаточно</a:t>
            </a:r>
          </a:p>
        </p:txBody>
      </p:sp>
      <p:sp>
        <p:nvSpPr>
          <p:cNvPr id="12" name="Rounded Rectangle 11"/>
          <p:cNvSpPr/>
          <p:nvPr/>
        </p:nvSpPr>
        <p:spPr>
          <a:xfrm>
            <a:off x="6231636" y="2848305"/>
            <a:ext cx="5454396" cy="2039874"/>
          </a:xfrm>
          <a:prstGeom prst="roundRect">
            <a:avLst>
              <a:gd name="adj" fmla="val 149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295803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РОЛЬ НЕ НУЖНА ВОВСЕ</a:t>
            </a:r>
          </a:p>
        </p:txBody>
      </p:sp>
      <p:sp>
        <p:nvSpPr>
          <p:cNvPr id="14" name="TextBox 13"/>
          <p:cNvSpPr txBox="1"/>
          <p:nvPr/>
        </p:nvSpPr>
        <p:spPr>
          <a:xfrm>
            <a:off x="6414516" y="323235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критерий кодируется детерминированно (линтер, тест, скрипт) — не нужен ни субагент, ни модель вообще</a:t>
            </a:r>
          </a:p>
        </p:txBody>
      </p:sp>
      <p:cxnSp>
        <p:nvCxnSpPr>
          <p:cNvPr id="15" name="Connector 14"/>
          <p:cNvCxnSpPr/>
          <p:nvPr/>
        </p:nvCxnSpPr>
        <p:spPr>
          <a:xfrm>
            <a:off x="6414516" y="372333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3723335"/>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естественное место для такой проверки — хук на входе или прогон в CI, не роль, которую нужно формулировать словами и потом поддерживать</a:t>
            </a:r>
          </a:p>
        </p:txBody>
      </p:sp>
      <p:sp>
        <p:nvSpPr>
          <p:cNvPr id="17" name="Rounded Rectangle 16"/>
          <p:cNvSpPr/>
          <p:nvPr/>
        </p:nvSpPr>
        <p:spPr>
          <a:xfrm>
            <a:off x="502920" y="5087569"/>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5215585"/>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Обещанная проверка, на материале самого курса. </a:t>
            </a:r>
            <a:r>
              <a:rPr sz="1500" b="1" i="0">
                <a:solidFill>
                  <a:srgbClr val="141B2E"/>
                </a:solidFill>
                <a:latin typeface="Arial"/>
              </a:rPr>
              <a:t>14</a:t>
            </a:r>
            <a:r>
              <a:rPr sz="1500" b="1" i="0">
                <a:solidFill>
                  <a:srgbClr val="141B2E"/>
                </a:solidFill>
                <a:latin typeface="Arial"/>
              </a:rPr>
              <a:t> ролей в каталоге </a:t>
            </a:r>
            <a:r>
              <a:rPr sz="1500" b="1" i="0">
                <a:solidFill>
                  <a:srgbClr val="141B2E"/>
                </a:solidFill>
                <a:latin typeface="Consolas"/>
              </a:rPr>
              <a:t>.claude/agents/</a:t>
            </a:r>
            <a:r>
              <a:rPr sz="1500" b="1" i="0">
                <a:solidFill>
                  <a:srgbClr val="141B2E"/>
                </a:solidFill>
                <a:latin typeface="Arial"/>
              </a:rPr>
              <a:t> · </a:t>
            </a:r>
            <a:r>
              <a:rPr sz="1500" b="1" i="0">
                <a:solidFill>
                  <a:srgbClr val="141B2E"/>
                </a:solidFill>
                <a:latin typeface="Arial"/>
              </a:rPr>
              <a:t>13</a:t>
            </a:r>
            <a:r>
              <a:rPr sz="1500" b="1" i="0">
                <a:solidFill>
                  <a:srgbClr val="141B2E"/>
                </a:solidFill>
                <a:latin typeface="Arial"/>
              </a:rPr>
              <a:t> не объявляют прав вовсе и потому имеют все · </a:t>
            </a:r>
            <a:r>
              <a:rPr sz="1500" b="1" i="0">
                <a:solidFill>
                  <a:srgbClr val="141B2E"/>
                </a:solidFill>
                <a:latin typeface="Arial"/>
              </a:rPr>
              <a:t>1</a:t>
            </a:r>
            <a:r>
              <a:rPr sz="1500" b="1" i="0">
                <a:solidFill>
                  <a:srgbClr val="141B2E"/>
                </a:solidFill>
                <a:latin typeface="Arial"/>
              </a:rPr>
              <a:t> объявила и не запустилась · работающих урезаний — </a:t>
            </a:r>
            <a:r>
              <a:rPr sz="1500" b="1" i="0">
                <a:solidFill>
                  <a:srgbClr val="141B2E"/>
                </a:solidFill>
                <a:latin typeface="Arial"/>
              </a:rPr>
              <a:t>0 из 14</a:t>
            </a:r>
            <a:r>
              <a:rPr sz="1500" b="1" i="0">
                <a:solidFill>
                  <a:srgbClr val="141B2E"/>
                </a:solidFill>
                <a:latin typeface="Arial"/>
              </a:rPr>
              <a:t>. Среди тринадцати есть роли, чья работа — только оценивать материал: право его править у них тоже есть.</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Где урезание начинает мешать работе роли</a:t>
            </a:r>
          </a:p>
        </p:txBody>
      </p:sp>
      <p:sp>
        <p:nvSpPr>
          <p:cNvPr id="3" name="Rounded Rectangle 2"/>
          <p:cNvSpPr/>
          <p:nvPr/>
        </p:nvSpPr>
        <p:spPr>
          <a:xfrm>
            <a:off x="502920" y="1753971"/>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881987"/>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Узкий список инструментов диф-ревьюера из этого кейса был верным выбором для роли, которая только находит проблему. Тем же списком — без </a:t>
            </a:r>
            <a:r>
              <a:rPr sz="1500" b="1" i="0">
                <a:solidFill>
                  <a:srgbClr val="141B2E"/>
                </a:solidFill>
                <a:latin typeface="Consolas"/>
              </a:rPr>
              <a:t>Edit</a:t>
            </a:r>
            <a:r>
              <a:rPr sz="1500" b="1" i="0">
                <a:solidFill>
                  <a:srgbClr val="141B2E"/>
                </a:solidFill>
                <a:latin typeface="Arial"/>
              </a:rPr>
              <a:t> — не хватит роли, чья работа эту проблему чинить.</a:t>
            </a:r>
          </a:p>
        </p:txBody>
      </p:sp>
      <p:sp>
        <p:nvSpPr>
          <p:cNvPr id="5" name="Rounded Rectangle 4"/>
          <p:cNvSpPr/>
          <p:nvPr/>
        </p:nvSpPr>
        <p:spPr>
          <a:xfrm>
            <a:off x="502920" y="3404463"/>
            <a:ext cx="11183112" cy="1707261"/>
          </a:xfrm>
          <a:prstGeom prst="roundRect">
            <a:avLst>
              <a:gd name="adj" fmla="val 1785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587343"/>
            <a:ext cx="278244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РОЛЬ</a:t>
            </a:r>
          </a:p>
        </p:txBody>
      </p:sp>
      <p:sp>
        <p:nvSpPr>
          <p:cNvPr id="7" name="TextBox 6"/>
          <p:cNvSpPr txBox="1"/>
          <p:nvPr/>
        </p:nvSpPr>
        <p:spPr>
          <a:xfrm>
            <a:off x="3614548" y="3587343"/>
            <a:ext cx="497386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НУЖНО ПО РАБОТЕ → ПРАВА</a:t>
            </a:r>
          </a:p>
        </p:txBody>
      </p:sp>
      <p:sp>
        <p:nvSpPr>
          <p:cNvPr id="8" name="TextBox 7"/>
          <p:cNvSpPr txBox="1"/>
          <p:nvPr/>
        </p:nvSpPr>
        <p:spPr>
          <a:xfrm>
            <a:off x="8734721" y="3587343"/>
            <a:ext cx="262212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РЕЗУЛЬТАТ</a:t>
            </a:r>
          </a:p>
        </p:txBody>
      </p:sp>
      <p:sp>
        <p:nvSpPr>
          <p:cNvPr id="9" name="TextBox 8"/>
          <p:cNvSpPr txBox="1"/>
          <p:nvPr/>
        </p:nvSpPr>
        <p:spPr>
          <a:xfrm>
            <a:off x="685800" y="3869410"/>
            <a:ext cx="27824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code-reviewer</a:t>
            </a:r>
            <a:r>
              <a:rPr sz="1250" b="0" i="0">
                <a:solidFill>
                  <a:srgbClr val="141B2E"/>
                </a:solidFill>
                <a:latin typeface="Arial"/>
              </a:rPr>
              <a:t> (официальный пример документации)</a:t>
            </a:r>
          </a:p>
        </p:txBody>
      </p:sp>
      <p:sp>
        <p:nvSpPr>
          <p:cNvPr id="10" name="TextBox 9"/>
          <p:cNvSpPr txBox="1"/>
          <p:nvPr/>
        </p:nvSpPr>
        <p:spPr>
          <a:xfrm>
            <a:off x="3614548" y="3869410"/>
            <a:ext cx="497386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читать и искать, не менять → </a:t>
            </a:r>
            <a:r>
              <a:rPr sz="1250" b="0" i="0">
                <a:solidFill>
                  <a:srgbClr val="141B2E"/>
                </a:solidFill>
                <a:latin typeface="Consolas"/>
              </a:rPr>
              <a:t>Read,</a:t>
            </a:r>
            <a:r>
              <a:rPr sz="1250" b="0" i="0">
                <a:solidFill>
                  <a:srgbClr val="141B2E"/>
                </a:solidFill>
                <a:latin typeface="Arial"/>
              </a:rPr>
              <a:t> </a:t>
            </a:r>
            <a:r>
              <a:rPr sz="1250" b="0" i="0">
                <a:solidFill>
                  <a:srgbClr val="141B2E"/>
                </a:solidFill>
                <a:latin typeface="Consolas"/>
              </a:rPr>
              <a:t>Grep,</a:t>
            </a:r>
            <a:r>
              <a:rPr sz="1250" b="0" i="0">
                <a:solidFill>
                  <a:srgbClr val="141B2E"/>
                </a:solidFill>
                <a:latin typeface="Arial"/>
              </a:rPr>
              <a:t> </a:t>
            </a:r>
            <a:r>
              <a:rPr sz="1250" b="0" i="0">
                <a:solidFill>
                  <a:srgbClr val="141B2E"/>
                </a:solidFill>
                <a:latin typeface="Consolas"/>
              </a:rPr>
              <a:t>Glob,</a:t>
            </a:r>
            <a:r>
              <a:rPr sz="1250" b="0" i="0">
                <a:solidFill>
                  <a:srgbClr val="141B2E"/>
                </a:solidFill>
                <a:latin typeface="Arial"/>
              </a:rPr>
              <a:t> </a:t>
            </a:r>
            <a:r>
              <a:rPr sz="1250" b="0" i="0">
                <a:solidFill>
                  <a:srgbClr val="141B2E"/>
                </a:solidFill>
                <a:latin typeface="Consolas"/>
              </a:rPr>
              <a:t>Bash</a:t>
            </a:r>
            <a:r>
              <a:rPr sz="1250" b="0" i="0">
                <a:solidFill>
                  <a:srgbClr val="141B2E"/>
                </a:solidFill>
                <a:latin typeface="Arial"/>
              </a:rPr>
              <a:t>, без </a:t>
            </a:r>
            <a:r>
              <a:rPr sz="1250" b="0" i="0">
                <a:solidFill>
                  <a:srgbClr val="141B2E"/>
                </a:solidFill>
                <a:latin typeface="Consolas"/>
              </a:rPr>
              <a:t>Edit</a:t>
            </a:r>
            <a:r>
              <a:rPr sz="1250" b="0" i="0">
                <a:solidFill>
                  <a:srgbClr val="141B2E"/>
                </a:solidFill>
                <a:latin typeface="Arial"/>
              </a:rPr>
              <a:t>/</a:t>
            </a:r>
            <a:r>
              <a:rPr sz="1250" b="0" i="0">
                <a:solidFill>
                  <a:srgbClr val="141B2E"/>
                </a:solidFill>
                <a:latin typeface="Consolas"/>
              </a:rPr>
              <a:t>Write</a:t>
            </a:r>
          </a:p>
        </p:txBody>
      </p:sp>
      <p:sp>
        <p:nvSpPr>
          <p:cNvPr id="11" name="TextBox 10"/>
          <p:cNvSpPr txBox="1"/>
          <p:nvPr/>
        </p:nvSpPr>
        <p:spPr>
          <a:xfrm>
            <a:off x="8734721" y="3869410"/>
            <a:ext cx="26221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верно — ревью не чинит код само</a:t>
            </a:r>
          </a:p>
        </p:txBody>
      </p:sp>
      <p:cxnSp>
        <p:nvCxnSpPr>
          <p:cNvPr id="12" name="Connector 11"/>
          <p:cNvCxnSpPr/>
          <p:nvPr/>
        </p:nvCxnSpPr>
        <p:spPr>
          <a:xfrm>
            <a:off x="685800" y="439912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399127"/>
            <a:ext cx="27824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debugger</a:t>
            </a:r>
            <a:r>
              <a:rPr sz="1250" b="0" i="0">
                <a:solidFill>
                  <a:srgbClr val="141B2E"/>
                </a:solidFill>
                <a:latin typeface="Arial"/>
              </a:rPr>
              <a:t> (официальный пример документации)</a:t>
            </a:r>
          </a:p>
        </p:txBody>
      </p:sp>
      <p:sp>
        <p:nvSpPr>
          <p:cNvPr id="14" name="TextBox 13"/>
          <p:cNvSpPr txBox="1"/>
          <p:nvPr/>
        </p:nvSpPr>
        <p:spPr>
          <a:xfrm>
            <a:off x="3614548" y="4399127"/>
            <a:ext cx="497386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чинить баг, то есть менять код → тот же набор плюс </a:t>
            </a:r>
            <a:r>
              <a:rPr sz="1250" b="0" i="0">
                <a:solidFill>
                  <a:srgbClr val="141B2E"/>
                </a:solidFill>
                <a:latin typeface="Consolas"/>
              </a:rPr>
              <a:t>Edit</a:t>
            </a:r>
            <a:r>
              <a:rPr sz="1250" b="0" i="0">
                <a:solidFill>
                  <a:srgbClr val="141B2E"/>
                </a:solidFill>
                <a:latin typeface="Arial"/>
              </a:rPr>
              <a:t> возвращён обратно</a:t>
            </a:r>
          </a:p>
        </p:txBody>
      </p:sp>
      <p:sp>
        <p:nvSpPr>
          <p:cNvPr id="15" name="TextBox 14"/>
          <p:cNvSpPr txBox="1"/>
          <p:nvPr/>
        </p:nvSpPr>
        <p:spPr>
          <a:xfrm>
            <a:off x="8734721" y="4399127"/>
            <a:ext cx="26221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a:t>
            </a:r>
            <a:r>
              <a:rPr sz="1250" b="0" i="0">
                <a:solidFill>
                  <a:srgbClr val="141B2E"/>
                </a:solidFill>
                <a:latin typeface="Consolas"/>
              </a:rPr>
              <a:t>Edit</a:t>
            </a:r>
            <a:r>
              <a:rPr sz="1250" b="0" i="0">
                <a:solidFill>
                  <a:srgbClr val="141B2E"/>
                </a:solidFill>
                <a:latin typeface="Arial"/>
              </a:rPr>
              <a:t> не может сделать то, ради чего её завели</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встало на место двух промахов</a:t>
            </a:r>
          </a:p>
        </p:txBody>
      </p:sp>
      <p:sp>
        <p:nvSpPr>
          <p:cNvPr id="3" name="Rounded Rectangle 2"/>
          <p:cNvSpPr/>
          <p:nvPr/>
        </p:nvSpPr>
        <p:spPr>
          <a:xfrm>
            <a:off x="502920" y="992505"/>
            <a:ext cx="11183112" cy="4227194"/>
          </a:xfrm>
          <a:prstGeom prst="roundRect">
            <a:avLst>
              <a:gd name="adj" fmla="val 721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75385"/>
            <a:ext cx="12599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СТУПЕНЬ</a:t>
            </a:r>
          </a:p>
        </p:txBody>
      </p:sp>
      <p:sp>
        <p:nvSpPr>
          <p:cNvPr id="5" name="TextBox 4"/>
          <p:cNvSpPr txBox="1"/>
          <p:nvPr/>
        </p:nvSpPr>
        <p:spPr>
          <a:xfrm>
            <a:off x="2092055" y="1175385"/>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ПРЕДОТВРАЩАЕМ / РЕШАЕМ</a:t>
            </a:r>
          </a:p>
        </p:txBody>
      </p:sp>
      <p:sp>
        <p:nvSpPr>
          <p:cNvPr id="6" name="TextBox 5"/>
          <p:cNvSpPr txBox="1"/>
          <p:nvPr/>
        </p:nvSpPr>
        <p:spPr>
          <a:xfrm>
            <a:off x="5012740" y="1175385"/>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7" name="TextBox 6"/>
          <p:cNvSpPr txBox="1"/>
          <p:nvPr/>
        </p:nvSpPr>
        <p:spPr>
          <a:xfrm>
            <a:off x="7933425" y="1175385"/>
            <a:ext cx="342342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8" name="TextBox 7"/>
          <p:cNvSpPr txBox="1"/>
          <p:nvPr/>
        </p:nvSpPr>
        <p:spPr>
          <a:xfrm>
            <a:off x="685800" y="1457452"/>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Хук</a:t>
            </a:r>
          </a:p>
        </p:txBody>
      </p:sp>
      <p:sp>
        <p:nvSpPr>
          <p:cNvPr id="9" name="TextBox 8"/>
          <p:cNvSpPr txBox="1"/>
          <p:nvPr/>
        </p:nvSpPr>
        <p:spPr>
          <a:xfrm>
            <a:off x="2092055" y="1457452"/>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правило уже нарушено</a:t>
            </a:r>
          </a:p>
        </p:txBody>
      </p:sp>
      <p:sp>
        <p:nvSpPr>
          <p:cNvPr id="10" name="TextBox 9"/>
          <p:cNvSpPr txBox="1"/>
          <p:nvPr/>
        </p:nvSpPr>
        <p:spPr>
          <a:xfrm>
            <a:off x="5012740" y="1457452"/>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Отклоняет один паттерн записи в </a:t>
            </a:r>
            <a:r>
              <a:rPr sz="1250" b="0" i="0">
                <a:solidFill>
                  <a:srgbClr val="141B2E"/>
                </a:solidFill>
                <a:latin typeface="Consolas"/>
              </a:rPr>
              <a:t>main</a:t>
            </a:r>
            <a:r>
              <a:rPr sz="1250" b="0" i="0">
                <a:solidFill>
                  <a:srgbClr val="141B2E"/>
                </a:solidFill>
                <a:latin typeface="Arial"/>
              </a:rPr>
              <a:t> из шести способов коммита</a:t>
            </a:r>
          </a:p>
        </p:txBody>
      </p:sp>
      <p:sp>
        <p:nvSpPr>
          <p:cNvPr id="11" name="TextBox 10"/>
          <p:cNvSpPr txBox="1"/>
          <p:nvPr/>
        </p:nvSpPr>
        <p:spPr>
          <a:xfrm>
            <a:off x="7933425" y="1457452"/>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 остальных пяти молчит; человека с терминалом не видит вовсе</a:t>
            </a:r>
          </a:p>
        </p:txBody>
      </p:sp>
      <p:cxnSp>
        <p:nvCxnSpPr>
          <p:cNvPr id="12" name="Connector 11"/>
          <p:cNvCxnSpPr/>
          <p:nvPr/>
        </p:nvCxnSpPr>
        <p:spPr>
          <a:xfrm>
            <a:off x="685800" y="21697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169731"/>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Скилл</a:t>
            </a:r>
          </a:p>
        </p:txBody>
      </p:sp>
      <p:sp>
        <p:nvSpPr>
          <p:cNvPr id="14" name="TextBox 13"/>
          <p:cNvSpPr txBox="1"/>
          <p:nvPr/>
        </p:nvSpPr>
        <p:spPr>
          <a:xfrm>
            <a:off x="2092055" y="216973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по сигналу перегрузки файла инструкций</a:t>
            </a:r>
          </a:p>
        </p:txBody>
      </p:sp>
      <p:sp>
        <p:nvSpPr>
          <p:cNvPr id="15" name="TextBox 14"/>
          <p:cNvSpPr txBox="1"/>
          <p:nvPr/>
        </p:nvSpPr>
        <p:spPr>
          <a:xfrm>
            <a:off x="5012740" y="216973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Загружает файл по точному совпадению описания-триггера</a:t>
            </a:r>
          </a:p>
        </p:txBody>
      </p:sp>
      <p:sp>
        <p:nvSpPr>
          <p:cNvPr id="16" name="TextBox 15"/>
          <p:cNvSpPr txBox="1"/>
          <p:nvPr/>
        </p:nvSpPr>
        <p:spPr>
          <a:xfrm>
            <a:off x="7933425" y="2169731"/>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точного триггера не сработает вообще — содержимого файла до срабатывания в контексте нет</a:t>
            </a:r>
          </a:p>
        </p:txBody>
      </p:sp>
      <p:cxnSp>
        <p:nvCxnSpPr>
          <p:cNvPr id="17" name="Connector 16"/>
          <p:cNvCxnSpPr/>
          <p:nvPr/>
        </p:nvCxnSpPr>
        <p:spPr>
          <a:xfrm>
            <a:off x="685800" y="288201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882011"/>
            <a:ext cx="125995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19" name="TextBox 18"/>
          <p:cNvSpPr txBox="1"/>
          <p:nvPr/>
        </p:nvSpPr>
        <p:spPr>
          <a:xfrm>
            <a:off x="2092055" y="2882011"/>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Предотвращаем на входе, решаем после</a:t>
            </a:r>
          </a:p>
        </p:txBody>
      </p:sp>
      <p:sp>
        <p:nvSpPr>
          <p:cNvPr id="20" name="TextBox 19"/>
          <p:cNvSpPr txBox="1"/>
          <p:nvPr/>
        </p:nvSpPr>
        <p:spPr>
          <a:xfrm>
            <a:off x="5012740" y="2882011"/>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Урезает права до подключения, не после</a:t>
            </a:r>
          </a:p>
        </p:txBody>
      </p:sp>
      <p:sp>
        <p:nvSpPr>
          <p:cNvPr id="21" name="TextBox 20"/>
          <p:cNvSpPr txBox="1"/>
          <p:nvPr/>
        </p:nvSpPr>
        <p:spPr>
          <a:xfrm>
            <a:off x="7933425" y="2882011"/>
            <a:ext cx="342342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вычеркнутой строки «все репозитории, включая приватные» воспроизводится документированная эксфильтрация (Invariant Labs, май 2025)</a:t>
            </a:r>
          </a:p>
        </p:txBody>
      </p:sp>
      <p:cxnSp>
        <p:nvCxnSpPr>
          <p:cNvPr id="22" name="Connector 21"/>
          <p:cNvCxnSpPr/>
          <p:nvPr/>
        </p:nvCxnSpPr>
        <p:spPr>
          <a:xfrm>
            <a:off x="685800" y="395941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59415"/>
            <a:ext cx="125995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a:t>
            </a:r>
          </a:p>
        </p:txBody>
      </p:sp>
      <p:sp>
        <p:nvSpPr>
          <p:cNvPr id="24" name="TextBox 23"/>
          <p:cNvSpPr txBox="1"/>
          <p:nvPr/>
        </p:nvSpPr>
        <p:spPr>
          <a:xfrm>
            <a:off x="2092055" y="3959415"/>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по сигналу повторения</a:t>
            </a:r>
          </a:p>
        </p:txBody>
      </p:sp>
      <p:sp>
        <p:nvSpPr>
          <p:cNvPr id="25" name="TextBox 24"/>
          <p:cNvSpPr txBox="1"/>
          <p:nvPr/>
        </p:nvSpPr>
        <p:spPr>
          <a:xfrm>
            <a:off x="5012740" y="3959415"/>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Делегирует задачу бесплатно, без единой строки конфигурации; список инструментов урезается синтаксисом</a:t>
            </a:r>
          </a:p>
        </p:txBody>
      </p:sp>
      <p:sp>
        <p:nvSpPr>
          <p:cNvPr id="26" name="TextBox 25"/>
          <p:cNvSpPr txBox="1"/>
          <p:nvPr/>
        </p:nvSpPr>
        <p:spPr>
          <a:xfrm>
            <a:off x="7933425" y="3959415"/>
            <a:ext cx="342342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Урезание держится настолько буквально, что одна неверная строка не ослабляет права роли — она останавливает её запуск вовсе</a:t>
            </a:r>
          </a:p>
        </p:txBody>
      </p:sp>
      <p:sp>
        <p:nvSpPr>
          <p:cNvPr id="27" name="Rounded Rectangle 26"/>
          <p:cNvSpPr/>
          <p:nvPr/>
        </p:nvSpPr>
        <p:spPr>
          <a:xfrm>
            <a:off x="502920" y="550716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635180"/>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«Понедельник закрывает третья строка, среду — четвёртая. Четыре строки заполнены, ось занятия закрыта.»</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появилось в репозитории</a:t>
            </a:r>
          </a:p>
        </p:txBody>
      </p:sp>
      <p:sp>
        <p:nvSpPr>
          <p:cNvPr id="3" name="Rounded Rectangle 2"/>
          <p:cNvSpPr/>
          <p:nvPr/>
        </p:nvSpPr>
        <p:spPr>
          <a:xfrm>
            <a:off x="502920" y="1085629"/>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13645"/>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СХЕМА, НЕ СНИМОК</a:t>
            </a:r>
          </a:p>
        </p:txBody>
      </p:sp>
      <p:sp>
        <p:nvSpPr>
          <p:cNvPr id="5" name="Rounded Rectangle 4"/>
          <p:cNvSpPr/>
          <p:nvPr/>
        </p:nvSpPr>
        <p:spPr>
          <a:xfrm>
            <a:off x="502920" y="2116446"/>
            <a:ext cx="11183112" cy="2730753"/>
          </a:xfrm>
          <a:prstGeom prst="roundRect">
            <a:avLst>
              <a:gd name="adj" fmla="val 1116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299326"/>
            <a:ext cx="131248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СТУПЕНЬ</a:t>
            </a:r>
          </a:p>
        </p:txBody>
      </p:sp>
      <p:sp>
        <p:nvSpPr>
          <p:cNvPr id="7" name="TextBox 6"/>
          <p:cNvSpPr txBox="1"/>
          <p:nvPr/>
        </p:nvSpPr>
        <p:spPr>
          <a:xfrm>
            <a:off x="2144589" y="2299326"/>
            <a:ext cx="606139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ПУТЬ ИЛИ АРТЕФАКТ</a:t>
            </a:r>
          </a:p>
        </p:txBody>
      </p:sp>
      <p:sp>
        <p:nvSpPr>
          <p:cNvPr id="8" name="TextBox 7"/>
          <p:cNvSpPr txBox="1"/>
          <p:nvPr/>
        </p:nvSpPr>
        <p:spPr>
          <a:xfrm>
            <a:off x="8352285" y="2299326"/>
            <a:ext cx="300456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СТАТУС</a:t>
            </a:r>
          </a:p>
        </p:txBody>
      </p:sp>
      <p:sp>
        <p:nvSpPr>
          <p:cNvPr id="9" name="TextBox 8"/>
          <p:cNvSpPr txBox="1"/>
          <p:nvPr/>
        </p:nvSpPr>
        <p:spPr>
          <a:xfrm>
            <a:off x="685800" y="2581393"/>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Хук</a:t>
            </a:r>
          </a:p>
        </p:txBody>
      </p:sp>
      <p:sp>
        <p:nvSpPr>
          <p:cNvPr id="10" name="TextBox 9"/>
          <p:cNvSpPr txBox="1"/>
          <p:nvPr/>
        </p:nvSpPr>
        <p:spPr>
          <a:xfrm>
            <a:off x="2144589" y="2581393"/>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.claude/settings.json</a:t>
            </a:r>
            <a:r>
              <a:rPr sz="1250" b="0" i="0">
                <a:solidFill>
                  <a:srgbClr val="141B2E"/>
                </a:solidFill>
                <a:latin typeface="Arial"/>
              </a:rPr>
              <a:t> + </a:t>
            </a:r>
            <a:r>
              <a:rPr sz="1250" b="0" i="0">
                <a:solidFill>
                  <a:srgbClr val="141B2E"/>
                </a:solidFill>
                <a:latin typeface="Consolas"/>
              </a:rPr>
              <a:t>.claude/hooks/selftest-branch-guard.sh</a:t>
            </a:r>
          </a:p>
        </p:txBody>
      </p:sp>
      <p:sp>
        <p:nvSpPr>
          <p:cNvPr id="11" name="TextBox 10"/>
          <p:cNvSpPr txBox="1"/>
          <p:nvPr/>
        </p:nvSpPr>
        <p:spPr>
          <a:xfrm>
            <a:off x="8352285" y="2581393"/>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коммит есть</a:t>
            </a:r>
          </a:p>
        </p:txBody>
      </p:sp>
      <p:cxnSp>
        <p:nvCxnSpPr>
          <p:cNvPr id="12" name="Connector 11"/>
          <p:cNvCxnSpPr/>
          <p:nvPr/>
        </p:nvCxnSpPr>
        <p:spPr>
          <a:xfrm>
            <a:off x="685800" y="292854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928548"/>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Скилл</a:t>
            </a:r>
          </a:p>
        </p:txBody>
      </p:sp>
      <p:sp>
        <p:nvSpPr>
          <p:cNvPr id="14" name="TextBox 13"/>
          <p:cNvSpPr txBox="1"/>
          <p:nvPr/>
        </p:nvSpPr>
        <p:spPr>
          <a:xfrm>
            <a:off x="2144589" y="2928548"/>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.claude/skills/deploy/SKILL.md</a:t>
            </a:r>
          </a:p>
        </p:txBody>
      </p:sp>
      <p:sp>
        <p:nvSpPr>
          <p:cNvPr id="15" name="TextBox 14"/>
          <p:cNvSpPr txBox="1"/>
          <p:nvPr/>
        </p:nvSpPr>
        <p:spPr>
          <a:xfrm>
            <a:off x="8352285" y="2928548"/>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плану, коммита нет</a:t>
            </a:r>
          </a:p>
        </p:txBody>
      </p:sp>
      <p:cxnSp>
        <p:nvCxnSpPr>
          <p:cNvPr id="16" name="Connector 15"/>
          <p:cNvCxnSpPr/>
          <p:nvPr/>
        </p:nvCxnSpPr>
        <p:spPr>
          <a:xfrm>
            <a:off x="685800" y="327570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275702"/>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CLAUDE.md</a:t>
            </a:r>
          </a:p>
        </p:txBody>
      </p:sp>
      <p:sp>
        <p:nvSpPr>
          <p:cNvPr id="18" name="TextBox 17"/>
          <p:cNvSpPr txBox="1"/>
          <p:nvPr/>
        </p:nvSpPr>
        <p:spPr>
          <a:xfrm>
            <a:off x="2144589" y="3275702"/>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40 строк / 5 разделов</a:t>
            </a:r>
          </a:p>
        </p:txBody>
      </p:sp>
      <p:sp>
        <p:nvSpPr>
          <p:cNvPr id="19" name="TextBox 18"/>
          <p:cNvSpPr txBox="1"/>
          <p:nvPr/>
        </p:nvSpPr>
        <p:spPr>
          <a:xfrm>
            <a:off x="8352285" y="3275702"/>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коммит есть</a:t>
            </a:r>
          </a:p>
        </p:txBody>
      </p:sp>
      <p:cxnSp>
        <p:nvCxnSpPr>
          <p:cNvPr id="20" name="Connector 19"/>
          <p:cNvCxnSpPr/>
          <p:nvPr/>
        </p:nvCxnSpPr>
        <p:spPr>
          <a:xfrm>
            <a:off x="685800" y="362285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622857"/>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DECISIONS.md</a:t>
            </a:r>
          </a:p>
        </p:txBody>
      </p:sp>
      <p:sp>
        <p:nvSpPr>
          <p:cNvPr id="22" name="TextBox 21"/>
          <p:cNvSpPr txBox="1"/>
          <p:nvPr/>
        </p:nvSpPr>
        <p:spPr>
          <a:xfrm>
            <a:off x="2144589" y="3622857"/>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документационный слой репозитория</a:t>
            </a:r>
          </a:p>
        </p:txBody>
      </p:sp>
      <p:sp>
        <p:nvSpPr>
          <p:cNvPr id="23" name="TextBox 22"/>
          <p:cNvSpPr txBox="1"/>
          <p:nvPr/>
        </p:nvSpPr>
        <p:spPr>
          <a:xfrm>
            <a:off x="8352285" y="3622857"/>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изменений</a:t>
            </a:r>
          </a:p>
        </p:txBody>
      </p:sp>
      <p:cxnSp>
        <p:nvCxnSpPr>
          <p:cNvPr id="24" name="Connector 23"/>
          <p:cNvCxnSpPr/>
          <p:nvPr/>
        </p:nvCxnSpPr>
        <p:spPr>
          <a:xfrm>
            <a:off x="685800" y="397001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3970011"/>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26" name="TextBox 25"/>
          <p:cNvSpPr txBox="1"/>
          <p:nvPr/>
        </p:nvSpPr>
        <p:spPr>
          <a:xfrm>
            <a:off x="2144589" y="3970011"/>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.mcp.json</a:t>
            </a:r>
            <a:r>
              <a:rPr sz="1250" b="0" i="0">
                <a:solidFill>
                  <a:srgbClr val="141B2E"/>
                </a:solidFill>
                <a:latin typeface="Arial"/>
              </a:rPr>
              <a:t>, права вычеркнуты до трёх операций</a:t>
            </a:r>
          </a:p>
        </p:txBody>
      </p:sp>
      <p:sp>
        <p:nvSpPr>
          <p:cNvPr id="27" name="TextBox 26"/>
          <p:cNvSpPr txBox="1"/>
          <p:nvPr/>
        </p:nvSpPr>
        <p:spPr>
          <a:xfrm>
            <a:off x="8352285" y="3970011"/>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плану, коммита нет и не будет</a:t>
            </a:r>
          </a:p>
        </p:txBody>
      </p:sp>
      <p:cxnSp>
        <p:nvCxnSpPr>
          <p:cNvPr id="28" name="Connector 27"/>
          <p:cNvCxnSpPr/>
          <p:nvPr/>
        </p:nvCxnSpPr>
        <p:spPr>
          <a:xfrm>
            <a:off x="685800" y="431716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4317166"/>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a:t>
            </a:r>
          </a:p>
        </p:txBody>
      </p:sp>
      <p:sp>
        <p:nvSpPr>
          <p:cNvPr id="30" name="TextBox 29"/>
          <p:cNvSpPr txBox="1"/>
          <p:nvPr/>
        </p:nvSpPr>
        <p:spPr>
          <a:xfrm>
            <a:off x="2144589" y="4317166"/>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.claude/agents/diff-reviewer.md</a:t>
            </a:r>
            <a:r>
              <a:rPr sz="1250" b="0" i="0">
                <a:solidFill>
                  <a:srgbClr val="141B2E"/>
                </a:solidFill>
                <a:latin typeface="Arial"/>
              </a:rPr>
              <a:t>, </a:t>
            </a:r>
            <a:r>
              <a:rPr sz="1250" b="0" i="0">
                <a:solidFill>
                  <a:srgbClr val="141B2E"/>
                </a:solidFill>
                <a:latin typeface="Consolas"/>
              </a:rPr>
              <a:t>tools:</a:t>
            </a:r>
            <a:r>
              <a:rPr sz="1250" b="0" i="0">
                <a:solidFill>
                  <a:srgbClr val="141B2E"/>
                </a:solidFill>
                <a:latin typeface="Arial"/>
              </a:rPr>
              <a:t> </a:t>
            </a:r>
            <a:r>
              <a:rPr sz="1250" b="0" i="0">
                <a:solidFill>
                  <a:srgbClr val="141B2E"/>
                </a:solidFill>
                <a:latin typeface="Consolas"/>
              </a:rPr>
              <a:t>Read,</a:t>
            </a:r>
            <a:r>
              <a:rPr sz="1250" b="0" i="0">
                <a:solidFill>
                  <a:srgbClr val="141B2E"/>
                </a:solidFill>
                <a:latin typeface="Arial"/>
              </a:rPr>
              <a:t> </a:t>
            </a:r>
            <a:r>
              <a:rPr sz="1250" b="0" i="0">
                <a:solidFill>
                  <a:srgbClr val="141B2E"/>
                </a:solidFill>
                <a:latin typeface="Consolas"/>
              </a:rPr>
              <a:t>Grep,</a:t>
            </a:r>
            <a:r>
              <a:rPr sz="1250" b="0" i="0">
                <a:solidFill>
                  <a:srgbClr val="141B2E"/>
                </a:solidFill>
                <a:latin typeface="Arial"/>
              </a:rPr>
              <a:t> </a:t>
            </a:r>
            <a:r>
              <a:rPr sz="1250" b="0" i="0">
                <a:solidFill>
                  <a:srgbClr val="141B2E"/>
                </a:solidFill>
                <a:latin typeface="Consolas"/>
              </a:rPr>
              <a:t>Glob</a:t>
            </a:r>
          </a:p>
        </p:txBody>
      </p:sp>
      <p:sp>
        <p:nvSpPr>
          <p:cNvPr id="31" name="TextBox 30"/>
          <p:cNvSpPr txBox="1"/>
          <p:nvPr/>
        </p:nvSpPr>
        <p:spPr>
          <a:xfrm>
            <a:off x="8352285" y="4317166"/>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плану, коммита нет и не будет</a:t>
            </a:r>
          </a:p>
        </p:txBody>
      </p:sp>
      <p:sp>
        <p:nvSpPr>
          <p:cNvPr id="32" name="Rounded Rectangle 31"/>
          <p:cNvSpPr/>
          <p:nvPr/>
        </p:nvSpPr>
        <p:spPr>
          <a:xfrm>
            <a:off x="502920" y="536747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549549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«Два файла этого занятия останутся только планом. В публичном репозитории их не будет — и это сказано прямо, не спрятано.»</a:t>
            </a:r>
          </a:p>
        </p:txBody>
      </p:sp>
      <p:sp>
        <p:nvSpPr>
          <p:cNvPr id="34" name="TextBox 3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Этот вопрос уже звучал</a:t>
            </a:r>
          </a:p>
        </p:txBody>
      </p:sp>
      <p:sp>
        <p:nvSpPr>
          <p:cNvPr id="3" name="Rectangle 2"/>
          <p:cNvSpPr/>
          <p:nvPr/>
        </p:nvSpPr>
        <p:spPr>
          <a:xfrm>
            <a:off x="502920" y="2297887"/>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2352751"/>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«Этот вопрос уже звучал в начале занятия, и ответ вы держали при себе. Сейчас вслух: у кого он изменился и что именно его изменило.»</a:t>
            </a:r>
          </a:p>
        </p:txBody>
      </p:sp>
      <p:sp>
        <p:nvSpPr>
          <p:cNvPr id="5" name="Rounded Rectangle 4"/>
          <p:cNvSpPr/>
          <p:nvPr/>
        </p:nvSpPr>
        <p:spPr>
          <a:xfrm>
            <a:off x="502920" y="352775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365577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«Работа вышла за контекст агента — что вы заводите первым: приносите внутрь то, чего внутри нет, или выносите наружу то, что внутрь не помещается?»</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Чем занятие кончается</a:t>
            </a:r>
          </a:p>
        </p:txBody>
      </p:sp>
      <p:sp>
        <p:nvSpPr>
          <p:cNvPr id="3" name="Rounded Rectangle 2"/>
          <p:cNvSpPr/>
          <p:nvPr/>
        </p:nvSpPr>
        <p:spPr>
          <a:xfrm>
            <a:off x="502920" y="976477"/>
            <a:ext cx="11183112" cy="3461004"/>
          </a:xfrm>
          <a:prstGeom prst="roundRect">
            <a:avLst>
              <a:gd name="adj" fmla="val 880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59357"/>
            <a:ext cx="295202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КЕЙС</a:t>
            </a:r>
          </a:p>
        </p:txBody>
      </p:sp>
      <p:sp>
        <p:nvSpPr>
          <p:cNvPr id="5" name="TextBox 4"/>
          <p:cNvSpPr txBox="1"/>
          <p:nvPr/>
        </p:nvSpPr>
        <p:spPr>
          <a:xfrm>
            <a:off x="3784130" y="1159357"/>
            <a:ext cx="6109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ОПОРА</a:t>
            </a:r>
          </a:p>
        </p:txBody>
      </p:sp>
      <p:sp>
        <p:nvSpPr>
          <p:cNvPr id="6" name="TextBox 5"/>
          <p:cNvSpPr txBox="1"/>
          <p:nvPr/>
        </p:nvSpPr>
        <p:spPr>
          <a:xfrm>
            <a:off x="4541345" y="1159357"/>
            <a:ext cx="681550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ПРОВЕРЯЕТСЯ ЧЕМ</a:t>
            </a:r>
          </a:p>
        </p:txBody>
      </p:sp>
      <p:sp>
        <p:nvSpPr>
          <p:cNvPr id="7" name="TextBox 6"/>
          <p:cNvSpPr txBox="1"/>
          <p:nvPr/>
        </p:nvSpPr>
        <p:spPr>
          <a:xfrm>
            <a:off x="685800" y="1441424"/>
            <a:ext cx="295202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данных нет в репозитории</a:t>
            </a:r>
          </a:p>
        </p:txBody>
      </p:sp>
      <p:sp>
        <p:nvSpPr>
          <p:cNvPr id="8" name="TextBox 7"/>
          <p:cNvSpPr txBox="1"/>
          <p:nvPr/>
        </p:nvSpPr>
        <p:spPr>
          <a:xfrm>
            <a:off x="3784130" y="1441424"/>
            <a:ext cx="6109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9" name="TextBox 8"/>
          <p:cNvSpPr txBox="1"/>
          <p:nvPr/>
        </p:nvSpPr>
        <p:spPr>
          <a:xfrm>
            <a:off x="4541345" y="1441424"/>
            <a:ext cx="681550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целевое решение, коммита нет ни в демо-репозитории, ни в репозитории курса</a:t>
            </a:r>
          </a:p>
        </p:txBody>
      </p:sp>
      <p:cxnSp>
        <p:nvCxnSpPr>
          <p:cNvPr id="10" name="Connector 9"/>
          <p:cNvCxnSpPr/>
          <p:nvPr/>
        </p:nvCxnSpPr>
        <p:spPr>
          <a:xfrm>
            <a:off x="685800" y="17885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788579"/>
            <a:ext cx="295202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подключён, агент не ходит</a:t>
            </a:r>
          </a:p>
        </p:txBody>
      </p:sp>
      <p:sp>
        <p:nvSpPr>
          <p:cNvPr id="12" name="TextBox 11"/>
          <p:cNvSpPr txBox="1"/>
          <p:nvPr/>
        </p:nvSpPr>
        <p:spPr>
          <a:xfrm>
            <a:off x="3784130" y="1788579"/>
            <a:ext cx="6109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есть</a:t>
            </a:r>
          </a:p>
        </p:txBody>
      </p:sp>
      <p:sp>
        <p:nvSpPr>
          <p:cNvPr id="13" name="TextBox 12"/>
          <p:cNvSpPr txBox="1"/>
          <p:nvPr/>
        </p:nvSpPr>
        <p:spPr>
          <a:xfrm>
            <a:off x="4541345" y="1788579"/>
            <a:ext cx="681550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a:t>
            </a:r>
            <a:r>
              <a:rPr sz="1250" b="0" i="0">
                <a:solidFill>
                  <a:srgbClr val="141B2E"/>
                </a:solidFill>
                <a:latin typeface="Arial"/>
              </a:rPr>
              <a:t> </a:t>
            </a:r>
            <a:r>
              <a:rPr sz="1250" b="0" i="0">
                <a:solidFill>
                  <a:srgbClr val="141B2E"/>
                </a:solidFill>
                <a:latin typeface="Consolas"/>
              </a:rPr>
              <a:t>mcp</a:t>
            </a:r>
            <a:r>
              <a:rPr sz="1250" b="0" i="0">
                <a:solidFill>
                  <a:srgbClr val="141B2E"/>
                </a:solidFill>
                <a:latin typeface="Arial"/>
              </a:rPr>
              <a:t> </a:t>
            </a:r>
            <a:r>
              <a:rPr sz="1250" b="0" i="0">
                <a:solidFill>
                  <a:srgbClr val="141B2E"/>
                </a:solidFill>
                <a:latin typeface="Consolas"/>
              </a:rPr>
              <a:t>list</a:t>
            </a:r>
            <a:r>
              <a:rPr sz="1250" b="0" i="0">
                <a:solidFill>
                  <a:srgbClr val="141B2E"/>
                </a:solidFill>
                <a:latin typeface="Arial"/>
              </a:rPr>
              <a:t> / </a:t>
            </a:r>
            <a:r>
              <a:rPr sz="1250" b="0" i="0">
                <a:solidFill>
                  <a:srgbClr val="141B2E"/>
                </a:solidFill>
                <a:latin typeface="Consolas"/>
              </a:rPr>
              <a:t>/mcp</a:t>
            </a:r>
            <a:r>
              <a:rPr sz="1250" b="0" i="0">
                <a:solidFill>
                  <a:srgbClr val="141B2E"/>
                </a:solidFill>
                <a:latin typeface="Arial"/>
              </a:rPr>
              <a:t> — статусы, два тайм-аута, вживую на занятии</a:t>
            </a:r>
          </a:p>
        </p:txBody>
      </p:sp>
      <p:cxnSp>
        <p:nvCxnSpPr>
          <p:cNvPr id="14" name="Connector 13"/>
          <p:cNvCxnSpPr/>
          <p:nvPr/>
        </p:nvCxnSpPr>
        <p:spPr>
          <a:xfrm>
            <a:off x="685800" y="213573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135733"/>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одобрение не окончательно</a:t>
            </a:r>
          </a:p>
        </p:txBody>
      </p:sp>
      <p:sp>
        <p:nvSpPr>
          <p:cNvPr id="16" name="TextBox 15"/>
          <p:cNvSpPr txBox="1"/>
          <p:nvPr/>
        </p:nvSpPr>
        <p:spPr>
          <a:xfrm>
            <a:off x="3784130" y="2135733"/>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17" name="TextBox 16"/>
          <p:cNvSpPr txBox="1"/>
          <p:nvPr/>
        </p:nvSpPr>
        <p:spPr>
          <a:xfrm>
            <a:off x="4541345" y="2135733"/>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требует специально подготовленного вредоносного сервера</a:t>
            </a:r>
          </a:p>
        </p:txBody>
      </p:sp>
      <p:cxnSp>
        <p:nvCxnSpPr>
          <p:cNvPr id="18" name="Connector 17"/>
          <p:cNvCxnSpPr/>
          <p:nvPr/>
        </p:nvCxnSpPr>
        <p:spPr>
          <a:xfrm>
            <a:off x="685800" y="266545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2665450"/>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 — роль переизобретается</a:t>
            </a:r>
          </a:p>
        </p:txBody>
      </p:sp>
      <p:sp>
        <p:nvSpPr>
          <p:cNvPr id="20" name="TextBox 19"/>
          <p:cNvSpPr txBox="1"/>
          <p:nvPr/>
        </p:nvSpPr>
        <p:spPr>
          <a:xfrm>
            <a:off x="3784130" y="2665450"/>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есть</a:t>
            </a:r>
          </a:p>
        </p:txBody>
      </p:sp>
      <p:sp>
        <p:nvSpPr>
          <p:cNvPr id="21" name="TextBox 20"/>
          <p:cNvSpPr txBox="1"/>
          <p:nvPr/>
        </p:nvSpPr>
        <p:spPr>
          <a:xfrm>
            <a:off x="4541345" y="2665450"/>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grep</a:t>
            </a:r>
            <a:r>
              <a:rPr sz="1250" b="0" i="0">
                <a:solidFill>
                  <a:srgbClr val="141B2E"/>
                </a:solidFill>
                <a:latin typeface="Arial"/>
              </a:rPr>
              <a:t> </a:t>
            </a:r>
            <a:r>
              <a:rPr sz="1250" b="0" i="0">
                <a:solidFill>
                  <a:srgbClr val="141B2E"/>
                </a:solidFill>
                <a:latin typeface="Consolas"/>
              </a:rPr>
              <a:t>"^tools:"</a:t>
            </a:r>
            <a:r>
              <a:rPr sz="1250" b="0" i="0">
                <a:solidFill>
                  <a:srgbClr val="141B2E"/>
                </a:solidFill>
                <a:latin typeface="Arial"/>
              </a:rPr>
              <a:t> </a:t>
            </a:r>
            <a:r>
              <a:rPr sz="1250" b="0" i="0">
                <a:solidFill>
                  <a:srgbClr val="141B2E"/>
                </a:solidFill>
                <a:latin typeface="Consolas"/>
              </a:rPr>
              <a:t>.claude/agents/*.md</a:t>
            </a:r>
            <a:r>
              <a:rPr sz="1250" b="0" i="0">
                <a:solidFill>
                  <a:srgbClr val="141B2E"/>
                </a:solidFill>
                <a:latin typeface="Arial"/>
              </a:rPr>
              <a:t>; </a:t>
            </a:r>
            <a:r>
              <a:rPr sz="1250" b="0" i="0">
                <a:solidFill>
                  <a:srgbClr val="141B2E"/>
                </a:solidFill>
                <a:latin typeface="Consolas"/>
              </a:rPr>
              <a:t>ls</a:t>
            </a:r>
            <a:r>
              <a:rPr sz="1250" b="0" i="0">
                <a:solidFill>
                  <a:srgbClr val="141B2E"/>
                </a:solidFill>
                <a:latin typeface="Arial"/>
              </a:rPr>
              <a:t> </a:t>
            </a:r>
            <a:r>
              <a:rPr sz="1250" b="0" i="0">
                <a:solidFill>
                  <a:srgbClr val="141B2E"/>
                </a:solidFill>
                <a:latin typeface="Consolas"/>
              </a:rPr>
              <a:t>.claude/agents/*.md</a:t>
            </a:r>
            <a:r>
              <a:rPr sz="1250" b="0" i="0">
                <a:solidFill>
                  <a:srgbClr val="141B2E"/>
                </a:solidFill>
                <a:latin typeface="Arial"/>
              </a:rPr>
              <a:t> </a:t>
            </a:r>
            <a:r>
              <a:rPr sz="1250" b="0" i="0">
                <a:solidFill>
                  <a:srgbClr val="141B2E"/>
                </a:solidFill>
                <a:latin typeface="Consolas"/>
              </a:rPr>
              <a:t>|</a:t>
            </a:r>
            <a:r>
              <a:rPr sz="1250" b="0" i="0">
                <a:solidFill>
                  <a:srgbClr val="141B2E"/>
                </a:solidFill>
                <a:latin typeface="Arial"/>
              </a:rPr>
              <a:t> </a:t>
            </a:r>
            <a:r>
              <a:rPr sz="1250" b="0" i="0">
                <a:solidFill>
                  <a:srgbClr val="141B2E"/>
                </a:solidFill>
                <a:latin typeface="Consolas"/>
              </a:rPr>
              <a:t>wc</a:t>
            </a:r>
            <a:r>
              <a:rPr sz="1250" b="0" i="0">
                <a:solidFill>
                  <a:srgbClr val="141B2E"/>
                </a:solidFill>
                <a:latin typeface="Arial"/>
              </a:rPr>
              <a:t> </a:t>
            </a:r>
            <a:r>
              <a:rPr sz="1250" b="0" i="0">
                <a:solidFill>
                  <a:srgbClr val="141B2E"/>
                </a:solidFill>
                <a:latin typeface="Arial"/>
              </a:rPr>
              <a:t>-l</a:t>
            </a:r>
            <a:r>
              <a:rPr sz="1250" b="0" i="0">
                <a:solidFill>
                  <a:srgbClr val="141B2E"/>
                </a:solidFill>
                <a:latin typeface="Arial"/>
              </a:rPr>
              <a:t> — в своём проекте</a:t>
            </a:r>
          </a:p>
        </p:txBody>
      </p:sp>
      <p:cxnSp>
        <p:nvCxnSpPr>
          <p:cNvPr id="22" name="Connector 21"/>
          <p:cNvCxnSpPr/>
          <p:nvPr/>
        </p:nvCxnSpPr>
        <p:spPr>
          <a:xfrm>
            <a:off x="685800" y="319516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195167"/>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 — родитель видит только итог</a:t>
            </a:r>
          </a:p>
        </p:txBody>
      </p:sp>
      <p:sp>
        <p:nvSpPr>
          <p:cNvPr id="24" name="TextBox 23"/>
          <p:cNvSpPr txBox="1"/>
          <p:nvPr/>
        </p:nvSpPr>
        <p:spPr>
          <a:xfrm>
            <a:off x="3784130" y="3195167"/>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25" name="TextBox 24"/>
          <p:cNvSpPr txBox="1"/>
          <p:nvPr/>
        </p:nvSpPr>
        <p:spPr>
          <a:xfrm>
            <a:off x="4541345" y="3195167"/>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требует подготовленного параллельного прогона, не воспроизводится на занятии</a:t>
            </a:r>
          </a:p>
        </p:txBody>
      </p:sp>
      <p:cxnSp>
        <p:nvCxnSpPr>
          <p:cNvPr id="26" name="Connector 25"/>
          <p:cNvCxnSpPr/>
          <p:nvPr/>
        </p:nvCxnSpPr>
        <p:spPr>
          <a:xfrm>
            <a:off x="685800" y="372488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3724884"/>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 — вторая роль, промежуток</a:t>
            </a:r>
          </a:p>
        </p:txBody>
      </p:sp>
      <p:sp>
        <p:nvSpPr>
          <p:cNvPr id="28" name="TextBox 27"/>
          <p:cNvSpPr txBox="1"/>
          <p:nvPr/>
        </p:nvSpPr>
        <p:spPr>
          <a:xfrm>
            <a:off x="3784130" y="3724884"/>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29" name="TextBox 28"/>
          <p:cNvSpPr txBox="1"/>
          <p:nvPr/>
        </p:nvSpPr>
        <p:spPr>
          <a:xfrm>
            <a:off x="4541345" y="3724884"/>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утверждение исследования (MAST); ни одна из двух опор занятия его не демонстрирует</a:t>
            </a:r>
          </a:p>
        </p:txBody>
      </p:sp>
      <p:sp>
        <p:nvSpPr>
          <p:cNvPr id="30" name="Rectangle 29"/>
          <p:cNvSpPr/>
          <p:nvPr/>
        </p:nvSpPr>
        <p:spPr>
          <a:xfrm>
            <a:off x="502920" y="4721453"/>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2668" y="4776317"/>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«Под частью сегодняшних карточек лежит команда, которую можно выполнить и получить ответ. Под другой частью — нет, и это названо прямо: необъявленный пробел стоил бы дороже объявленного.»</a:t>
            </a:r>
          </a:p>
        </p:txBody>
      </p:sp>
      <p:sp>
        <p:nvSpPr>
          <p:cNvPr id="32" name="Rounded Rectangle 31"/>
          <p:cNvSpPr/>
          <p:nvPr/>
        </p:nvSpPr>
        <p:spPr>
          <a:xfrm>
            <a:off x="502920" y="553120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565922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«Отсюда вы уносите один вопрос к своей работе: чего ей не хватает — того, чего внутри нет вовсе, или места, занятого чтением? Первое приносят внутрь, второе выносят наружу.»</a:t>
            </a:r>
          </a:p>
        </p:txBody>
      </p:sp>
      <p:sp>
        <p:nvSpPr>
          <p:cNvPr id="34" name="TextBox 3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